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3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4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5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00"/>
  </p:notesMasterIdLst>
  <p:sldIdLst>
    <p:sldId id="348" r:id="rId2"/>
    <p:sldId id="341" r:id="rId3"/>
    <p:sldId id="342" r:id="rId4"/>
    <p:sldId id="343" r:id="rId5"/>
    <p:sldId id="344" r:id="rId6"/>
    <p:sldId id="345" r:id="rId7"/>
    <p:sldId id="346" r:id="rId8"/>
    <p:sldId id="334" r:id="rId9"/>
    <p:sldId id="335" r:id="rId10"/>
    <p:sldId id="340" r:id="rId11"/>
    <p:sldId id="336" r:id="rId12"/>
    <p:sldId id="337" r:id="rId13"/>
    <p:sldId id="359" r:id="rId14"/>
    <p:sldId id="360" r:id="rId15"/>
    <p:sldId id="357" r:id="rId16"/>
    <p:sldId id="358" r:id="rId17"/>
    <p:sldId id="361" r:id="rId18"/>
    <p:sldId id="375" r:id="rId19"/>
    <p:sldId id="459" r:id="rId20"/>
    <p:sldId id="460" r:id="rId21"/>
    <p:sldId id="461" r:id="rId22"/>
    <p:sldId id="462" r:id="rId23"/>
    <p:sldId id="437" r:id="rId24"/>
    <p:sldId id="438" r:id="rId25"/>
    <p:sldId id="439" r:id="rId26"/>
    <p:sldId id="440" r:id="rId27"/>
    <p:sldId id="463" r:id="rId28"/>
    <p:sldId id="464" r:id="rId29"/>
    <p:sldId id="373" r:id="rId30"/>
    <p:sldId id="374" r:id="rId31"/>
    <p:sldId id="365" r:id="rId32"/>
    <p:sldId id="366" r:id="rId33"/>
    <p:sldId id="367" r:id="rId34"/>
    <p:sldId id="368" r:id="rId35"/>
    <p:sldId id="369" r:id="rId36"/>
    <p:sldId id="370" r:id="rId37"/>
    <p:sldId id="465" r:id="rId38"/>
    <p:sldId id="371" r:id="rId39"/>
    <p:sldId id="384" r:id="rId40"/>
    <p:sldId id="385" r:id="rId41"/>
    <p:sldId id="386" r:id="rId42"/>
    <p:sldId id="387" r:id="rId43"/>
    <p:sldId id="388" r:id="rId44"/>
    <p:sldId id="392" r:id="rId45"/>
    <p:sldId id="393" r:id="rId46"/>
    <p:sldId id="394" r:id="rId47"/>
    <p:sldId id="397" r:id="rId48"/>
    <p:sldId id="398" r:id="rId49"/>
    <p:sldId id="451" r:id="rId50"/>
    <p:sldId id="417" r:id="rId51"/>
    <p:sldId id="441" r:id="rId52"/>
    <p:sldId id="442" r:id="rId53"/>
    <p:sldId id="443" r:id="rId54"/>
    <p:sldId id="444" r:id="rId55"/>
    <p:sldId id="445" r:id="rId56"/>
    <p:sldId id="446" r:id="rId57"/>
    <p:sldId id="447" r:id="rId58"/>
    <p:sldId id="448" r:id="rId59"/>
    <p:sldId id="449" r:id="rId60"/>
    <p:sldId id="455" r:id="rId61"/>
    <p:sldId id="456" r:id="rId62"/>
    <p:sldId id="458" r:id="rId63"/>
    <p:sldId id="457" r:id="rId64"/>
    <p:sldId id="450" r:id="rId65"/>
    <p:sldId id="452" r:id="rId66"/>
    <p:sldId id="453" r:id="rId67"/>
    <p:sldId id="454" r:id="rId68"/>
    <p:sldId id="401" r:id="rId69"/>
    <p:sldId id="402" r:id="rId70"/>
    <p:sldId id="403" r:id="rId71"/>
    <p:sldId id="404" r:id="rId72"/>
    <p:sldId id="466" r:id="rId73"/>
    <p:sldId id="405" r:id="rId74"/>
    <p:sldId id="406" r:id="rId75"/>
    <p:sldId id="407" r:id="rId76"/>
    <p:sldId id="409" r:id="rId77"/>
    <p:sldId id="410" r:id="rId78"/>
    <p:sldId id="411" r:id="rId79"/>
    <p:sldId id="412" r:id="rId80"/>
    <p:sldId id="413" r:id="rId81"/>
    <p:sldId id="414" r:id="rId82"/>
    <p:sldId id="415" r:id="rId83"/>
    <p:sldId id="416" r:id="rId84"/>
    <p:sldId id="423" r:id="rId85"/>
    <p:sldId id="424" r:id="rId86"/>
    <p:sldId id="425" r:id="rId87"/>
    <p:sldId id="426" r:id="rId88"/>
    <p:sldId id="427" r:id="rId89"/>
    <p:sldId id="428" r:id="rId90"/>
    <p:sldId id="429" r:id="rId91"/>
    <p:sldId id="430" r:id="rId92"/>
    <p:sldId id="431" r:id="rId93"/>
    <p:sldId id="432" r:id="rId94"/>
    <p:sldId id="433" r:id="rId95"/>
    <p:sldId id="434" r:id="rId96"/>
    <p:sldId id="435" r:id="rId97"/>
    <p:sldId id="436" r:id="rId98"/>
    <p:sldId id="329" r:id="rId99"/>
  </p:sldIdLst>
  <p:sldSz cx="12192000" cy="6858000"/>
  <p:notesSz cx="6858000" cy="9144000"/>
  <p:embeddedFontLst>
    <p:embeddedFont>
      <p:font typeface="Calibri" panose="020F0502020204030204" pitchFamily="34" charset="0"/>
      <p:regular r:id="rId101"/>
      <p:bold r:id="rId102"/>
      <p:italic r:id="rId103"/>
      <p:boldItalic r:id="rId104"/>
    </p:embeddedFont>
    <p:embeddedFont>
      <p:font typeface="Roboto Condensed" panose="020B0604020202020204" charset="0"/>
      <p:regular r:id="rId105"/>
      <p:bold r:id="rId106"/>
      <p:italic r:id="rId107"/>
      <p:boldItalic r:id="rId108"/>
    </p:embeddedFont>
    <p:embeddedFont>
      <p:font typeface="Segoe UI Black" panose="020B0A02040204020203" pitchFamily="34" charset="0"/>
      <p:bold r:id="rId109"/>
      <p:boldItalic r:id="rId110"/>
    </p:embeddedFont>
    <p:embeddedFont>
      <p:font typeface="Roboto Condensed Light" panose="020B0604020202020204" charset="0"/>
      <p:regular r:id="rId111"/>
      <p:bold r:id="rId112"/>
      <p:italic r:id="rId113"/>
      <p:boldItalic r:id="rId114"/>
    </p:embeddedFont>
    <p:embeddedFont>
      <p:font typeface="Wingdings 3" panose="05040102010807070707" pitchFamily="18" charset="2"/>
      <p:regular r:id="rId115"/>
    </p:embeddedFont>
    <p:embeddedFont>
      <p:font typeface="Wingdings 2" panose="05020102010507070707" pitchFamily="18" charset="2"/>
      <p:regular r:id="rId1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524F"/>
    <a:srgbClr val="301B92"/>
    <a:srgbClr val="562C32"/>
    <a:srgbClr val="7B3E47"/>
    <a:srgbClr val="D10233"/>
    <a:srgbClr val="B71B1C"/>
    <a:srgbClr val="5E3037"/>
    <a:srgbClr val="673BB7"/>
    <a:srgbClr val="607D8B"/>
    <a:srgbClr val="F543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92" autoAdjust="0"/>
    <p:restoredTop sz="83727" autoAdjust="0"/>
  </p:normalViewPr>
  <p:slideViewPr>
    <p:cSldViewPr snapToGrid="0">
      <p:cViewPr varScale="1">
        <p:scale>
          <a:sx n="68" d="100"/>
          <a:sy n="68" d="100"/>
        </p:scale>
        <p:origin x="124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font" Target="fonts/font12.fntdata"/><Relationship Id="rId16" Type="http://schemas.openxmlformats.org/officeDocument/2006/relationships/slide" Target="slides/slide15.xml"/><Relationship Id="rId107" Type="http://schemas.openxmlformats.org/officeDocument/2006/relationships/font" Target="fonts/font7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2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font" Target="fonts/font13.fntdata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3.fntdata"/><Relationship Id="rId108" Type="http://schemas.openxmlformats.org/officeDocument/2006/relationships/font" Target="fonts/font8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14.fntdata"/><Relationship Id="rId119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9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font" Target="fonts/font4.fntdata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10.fntdata"/><Relationship Id="rId115" Type="http://schemas.openxmlformats.org/officeDocument/2006/relationships/font" Target="fonts/font15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105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11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font" Target="fonts/font6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U\Subjects\Banking%20-%20BBA%203\Extra\New%20Microsoft%20Excel%20Workshe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/>
              <a:t>Net Profit (₹ Crore) FY 2024-25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Sheet1!$C$2</c:f>
              <c:strCache>
                <c:ptCount val="1"/>
                <c:pt idx="0">
                  <c:v>Net Profit (₹ Crore)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FB7-4495-A731-54F5553E91B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FB7-4495-A731-54F5553E91B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FB7-4495-A731-54F5553E91B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FB7-4495-A731-54F5553E91B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FB7-4495-A731-54F5553E91BF}"/>
              </c:ext>
            </c:extLst>
          </c:dPt>
          <c:dLbls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EFB7-4495-A731-54F5553E91B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multiLvlStrRef>
              <c:f>Sheet1!$A$3:$B$7</c:f>
              <c:multiLvlStrCache>
                <c:ptCount val="5"/>
                <c:lvl>
                  <c:pt idx="0">
                    <c:v>State Bank of India (SBI)</c:v>
                  </c:pt>
                  <c:pt idx="1">
                    <c:v>HDFC Bank</c:v>
                  </c:pt>
                  <c:pt idx="2">
                    <c:v>ICICI Bank</c:v>
                  </c:pt>
                  <c:pt idx="3">
                    <c:v>Axis Bank</c:v>
                  </c:pt>
                  <c:pt idx="4">
                    <c:v>Bank of Baroda</c:v>
                  </c:pt>
                </c:lvl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Sheet1!$C$3:$C$7</c:f>
              <c:numCache>
                <c:formatCode>#,##0</c:formatCode>
                <c:ptCount val="5"/>
                <c:pt idx="0">
                  <c:v>70901</c:v>
                </c:pt>
                <c:pt idx="1">
                  <c:v>67347</c:v>
                </c:pt>
                <c:pt idx="2">
                  <c:v>47227</c:v>
                </c:pt>
                <c:pt idx="3">
                  <c:v>26373</c:v>
                </c:pt>
                <c:pt idx="4">
                  <c:v>19581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FB7-4495-A731-54F5553E91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image" Target="../media/image26.jpe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image" Target="../media/image26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38CB0A-1D07-440B-ABAF-B58B796056D7}" type="doc">
      <dgm:prSet loTypeId="urn:microsoft.com/office/officeart/2008/layout/CircleAccentTimeline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BB2BAA04-69AB-4164-AA67-27AD624BC4FC}">
      <dgm:prSet phldrT="[Text]"/>
      <dgm:spPr/>
      <dgm:t>
        <a:bodyPr/>
        <a:lstStyle/>
        <a:p>
          <a:r>
            <a:rPr lang="en-US" dirty="0" smtClean="0"/>
            <a:t>12 Public Sector Banks</a:t>
          </a:r>
          <a:endParaRPr lang="en-US" dirty="0"/>
        </a:p>
      </dgm:t>
    </dgm:pt>
    <dgm:pt modelId="{B7F70201-5C6A-4DEA-B375-D8979BE67F5A}" type="parTrans" cxnId="{2DDA0696-A021-44AC-B1CD-C1C187C420E8}">
      <dgm:prSet/>
      <dgm:spPr/>
      <dgm:t>
        <a:bodyPr/>
        <a:lstStyle/>
        <a:p>
          <a:endParaRPr lang="en-US"/>
        </a:p>
      </dgm:t>
    </dgm:pt>
    <dgm:pt modelId="{2593C019-7311-4146-996F-F7E364AD0CD8}" type="sibTrans" cxnId="{2DDA0696-A021-44AC-B1CD-C1C187C420E8}">
      <dgm:prSet/>
      <dgm:spPr/>
      <dgm:t>
        <a:bodyPr/>
        <a:lstStyle/>
        <a:p>
          <a:endParaRPr lang="en-US"/>
        </a:p>
      </dgm:t>
    </dgm:pt>
    <dgm:pt modelId="{6D998BE7-2765-436C-B968-14F685819FA9}">
      <dgm:prSet phldrT="[Text]"/>
      <dgm:spPr/>
      <dgm:t>
        <a:bodyPr/>
        <a:lstStyle/>
        <a:p>
          <a:r>
            <a:rPr lang="en-US" dirty="0" smtClean="0"/>
            <a:t>21 Private Sector Banks</a:t>
          </a:r>
          <a:endParaRPr lang="en-US" dirty="0"/>
        </a:p>
      </dgm:t>
    </dgm:pt>
    <dgm:pt modelId="{2A20BF23-5A5F-42FD-B8DB-33BB2B1BD945}" type="parTrans" cxnId="{2A1B5E79-D2D1-4812-9FC7-5620CA324D04}">
      <dgm:prSet/>
      <dgm:spPr/>
      <dgm:t>
        <a:bodyPr/>
        <a:lstStyle/>
        <a:p>
          <a:endParaRPr lang="en-US"/>
        </a:p>
      </dgm:t>
    </dgm:pt>
    <dgm:pt modelId="{568302F1-FE71-42AB-BEF9-E004A54A9740}" type="sibTrans" cxnId="{2A1B5E79-D2D1-4812-9FC7-5620CA324D04}">
      <dgm:prSet/>
      <dgm:spPr/>
      <dgm:t>
        <a:bodyPr/>
        <a:lstStyle/>
        <a:p>
          <a:endParaRPr lang="en-US"/>
        </a:p>
      </dgm:t>
    </dgm:pt>
    <dgm:pt modelId="{F8ED9084-13CD-47C8-9678-08255743980A}">
      <dgm:prSet phldrT="[Text]"/>
      <dgm:spPr/>
      <dgm:t>
        <a:bodyPr/>
        <a:lstStyle/>
        <a:p>
          <a:r>
            <a:rPr lang="en-US" dirty="0" smtClean="0"/>
            <a:t>43 RRBs</a:t>
          </a:r>
          <a:endParaRPr lang="en-US" dirty="0"/>
        </a:p>
      </dgm:t>
    </dgm:pt>
    <dgm:pt modelId="{4256E751-5978-4D7D-9F46-1D55106F3FC9}" type="parTrans" cxnId="{3C02E4A9-5A70-473B-8669-A750A68B1A0F}">
      <dgm:prSet/>
      <dgm:spPr/>
      <dgm:t>
        <a:bodyPr/>
        <a:lstStyle/>
        <a:p>
          <a:endParaRPr lang="en-US"/>
        </a:p>
      </dgm:t>
    </dgm:pt>
    <dgm:pt modelId="{B3F518C5-FEFB-44A9-A132-1F464AA97A7C}" type="sibTrans" cxnId="{3C02E4A9-5A70-473B-8669-A750A68B1A0F}">
      <dgm:prSet/>
      <dgm:spPr/>
      <dgm:t>
        <a:bodyPr/>
        <a:lstStyle/>
        <a:p>
          <a:endParaRPr lang="en-US"/>
        </a:p>
      </dgm:t>
    </dgm:pt>
    <dgm:pt modelId="{13B86FB3-AEAE-441E-B4A3-8FC511445CDA}">
      <dgm:prSet phldrT="[Text]"/>
      <dgm:spPr/>
      <dgm:t>
        <a:bodyPr/>
        <a:lstStyle/>
        <a:p>
          <a:r>
            <a:rPr lang="en-US" dirty="0" smtClean="0"/>
            <a:t>44 Foreign Banks</a:t>
          </a:r>
          <a:endParaRPr lang="en-US" dirty="0"/>
        </a:p>
      </dgm:t>
    </dgm:pt>
    <dgm:pt modelId="{403D3D6C-4C4D-4F67-9451-C4497ACE4DD4}" type="parTrans" cxnId="{BBD0A179-9880-497B-95EF-30B8EF18B47E}">
      <dgm:prSet/>
      <dgm:spPr/>
      <dgm:t>
        <a:bodyPr/>
        <a:lstStyle/>
        <a:p>
          <a:endParaRPr lang="en-US"/>
        </a:p>
      </dgm:t>
    </dgm:pt>
    <dgm:pt modelId="{1E1340F3-D27D-439C-8210-B0EF5D61D2CB}" type="sibTrans" cxnId="{BBD0A179-9880-497B-95EF-30B8EF18B47E}">
      <dgm:prSet/>
      <dgm:spPr/>
      <dgm:t>
        <a:bodyPr/>
        <a:lstStyle/>
        <a:p>
          <a:endParaRPr lang="en-US"/>
        </a:p>
      </dgm:t>
    </dgm:pt>
    <dgm:pt modelId="{528B88BE-79E4-404B-BE5E-636E52463E57}">
      <dgm:prSet phldrT="[Text]"/>
      <dgm:spPr/>
      <dgm:t>
        <a:bodyPr/>
        <a:lstStyle/>
        <a:p>
          <a:r>
            <a:rPr lang="en-US" dirty="0" smtClean="0"/>
            <a:t>11 Small Finance Banks</a:t>
          </a:r>
          <a:endParaRPr lang="en-US" dirty="0"/>
        </a:p>
      </dgm:t>
    </dgm:pt>
    <dgm:pt modelId="{8EE0220D-1D86-45F5-A377-191C09313568}" type="parTrans" cxnId="{1CCEDA98-ADC6-4A96-8A17-70429C2592F5}">
      <dgm:prSet/>
      <dgm:spPr/>
      <dgm:t>
        <a:bodyPr/>
        <a:lstStyle/>
        <a:p>
          <a:endParaRPr lang="en-US"/>
        </a:p>
      </dgm:t>
    </dgm:pt>
    <dgm:pt modelId="{687C915C-9D78-4EBC-91BD-7AFE00836ABC}" type="sibTrans" cxnId="{1CCEDA98-ADC6-4A96-8A17-70429C2592F5}">
      <dgm:prSet/>
      <dgm:spPr/>
      <dgm:t>
        <a:bodyPr/>
        <a:lstStyle/>
        <a:p>
          <a:endParaRPr lang="en-US"/>
        </a:p>
      </dgm:t>
    </dgm:pt>
    <dgm:pt modelId="{CFA9C5FB-3BE3-4410-9CCC-17B6841CF7EA}">
      <dgm:prSet phldrT="[Text]"/>
      <dgm:spPr/>
      <dgm:t>
        <a:bodyPr/>
        <a:lstStyle/>
        <a:p>
          <a:r>
            <a:rPr lang="en-US" dirty="0" smtClean="0"/>
            <a:t>6 Payment Banks</a:t>
          </a:r>
          <a:endParaRPr lang="en-US" dirty="0"/>
        </a:p>
      </dgm:t>
    </dgm:pt>
    <dgm:pt modelId="{5E162214-397D-4BC8-91EF-0F3E53071002}" type="parTrans" cxnId="{0D93EDDB-EEA3-4544-9DD8-87D741C71FC3}">
      <dgm:prSet/>
      <dgm:spPr/>
      <dgm:t>
        <a:bodyPr/>
        <a:lstStyle/>
        <a:p>
          <a:endParaRPr lang="en-US"/>
        </a:p>
      </dgm:t>
    </dgm:pt>
    <dgm:pt modelId="{7CA3F05D-D9AE-416E-956B-820E526A1200}" type="sibTrans" cxnId="{0D93EDDB-EEA3-4544-9DD8-87D741C71FC3}">
      <dgm:prSet/>
      <dgm:spPr/>
      <dgm:t>
        <a:bodyPr/>
        <a:lstStyle/>
        <a:p>
          <a:endParaRPr lang="en-US"/>
        </a:p>
      </dgm:t>
    </dgm:pt>
    <dgm:pt modelId="{6A9C18F5-13BA-43AE-8218-1EA6F57EE75C}" type="pres">
      <dgm:prSet presAssocID="{EA38CB0A-1D07-440B-ABAF-B58B796056D7}" presName="Name0" presStyleCnt="0">
        <dgm:presLayoutVars>
          <dgm:dir/>
        </dgm:presLayoutVars>
      </dgm:prSet>
      <dgm:spPr/>
      <dgm:t>
        <a:bodyPr/>
        <a:lstStyle/>
        <a:p>
          <a:endParaRPr lang="en-US"/>
        </a:p>
      </dgm:t>
    </dgm:pt>
    <dgm:pt modelId="{CA976A44-80CF-4699-8285-F8F45BB1A9B2}" type="pres">
      <dgm:prSet presAssocID="{BB2BAA04-69AB-4164-AA67-27AD624BC4FC}" presName="parComposite" presStyleCnt="0"/>
      <dgm:spPr/>
    </dgm:pt>
    <dgm:pt modelId="{D4941E52-E64F-465D-B741-7A520BCB468F}" type="pres">
      <dgm:prSet presAssocID="{BB2BAA04-69AB-4164-AA67-27AD624BC4FC}" presName="parBigCircle" presStyleLbl="node0" presStyleIdx="0" presStyleCnt="6" custScaleX="63185" custScaleY="61771"/>
      <dgm:spPr/>
    </dgm:pt>
    <dgm:pt modelId="{AE1F8B41-D32D-4826-A1CF-9B01EA209FEB}" type="pres">
      <dgm:prSet presAssocID="{BB2BAA04-69AB-4164-AA67-27AD624BC4FC}" presName="parTx" presStyleLbl="revTx" presStyleIdx="0" presStyleCnt="6" custLinFactNeighborY="16385"/>
      <dgm:spPr/>
      <dgm:t>
        <a:bodyPr/>
        <a:lstStyle/>
        <a:p>
          <a:endParaRPr lang="en-US"/>
        </a:p>
      </dgm:t>
    </dgm:pt>
    <dgm:pt modelId="{505256CB-0614-410E-A198-D9E57C8DF177}" type="pres">
      <dgm:prSet presAssocID="{BB2BAA04-69AB-4164-AA67-27AD624BC4FC}" presName="bSpace" presStyleCnt="0"/>
      <dgm:spPr/>
    </dgm:pt>
    <dgm:pt modelId="{12CFE6BB-CA0E-4540-A9D4-78CED67DC54B}" type="pres">
      <dgm:prSet presAssocID="{BB2BAA04-69AB-4164-AA67-27AD624BC4FC}" presName="parBackupNorm" presStyleCnt="0"/>
      <dgm:spPr/>
    </dgm:pt>
    <dgm:pt modelId="{57F2E185-B72B-4AEB-8F98-6E09189606EA}" type="pres">
      <dgm:prSet presAssocID="{2593C019-7311-4146-996F-F7E364AD0CD8}" presName="parSpace" presStyleCnt="0"/>
      <dgm:spPr/>
    </dgm:pt>
    <dgm:pt modelId="{A1ED83C9-9BEE-4D61-B5DB-3C42E3164C8F}" type="pres">
      <dgm:prSet presAssocID="{6D998BE7-2765-436C-B968-14F685819FA9}" presName="parComposite" presStyleCnt="0"/>
      <dgm:spPr/>
    </dgm:pt>
    <dgm:pt modelId="{EE081B40-A6BF-4201-B8FA-D80AFA15E718}" type="pres">
      <dgm:prSet presAssocID="{6D998BE7-2765-436C-B968-14F685819FA9}" presName="parBigCircle" presStyleLbl="node0" presStyleIdx="1" presStyleCnt="6" custScaleX="63185" custScaleY="61771"/>
      <dgm:spPr>
        <a:solidFill>
          <a:schemeClr val="accent6"/>
        </a:solidFill>
      </dgm:spPr>
    </dgm:pt>
    <dgm:pt modelId="{4717153B-4AE1-42CC-81ED-59CE5BA77F5E}" type="pres">
      <dgm:prSet presAssocID="{6D998BE7-2765-436C-B968-14F685819FA9}" presName="parTx" presStyleLbl="revTx" presStyleIdx="1" presStyleCnt="6" custLinFactNeighborY="16385"/>
      <dgm:spPr/>
      <dgm:t>
        <a:bodyPr/>
        <a:lstStyle/>
        <a:p>
          <a:endParaRPr lang="en-US"/>
        </a:p>
      </dgm:t>
    </dgm:pt>
    <dgm:pt modelId="{412DAA44-57AC-433C-BE5F-1DCBA8DA23BA}" type="pres">
      <dgm:prSet presAssocID="{6D998BE7-2765-436C-B968-14F685819FA9}" presName="bSpace" presStyleCnt="0"/>
      <dgm:spPr/>
    </dgm:pt>
    <dgm:pt modelId="{D87CC722-554C-4E39-AFB8-FE5D32F12C0D}" type="pres">
      <dgm:prSet presAssocID="{6D998BE7-2765-436C-B968-14F685819FA9}" presName="parBackupNorm" presStyleCnt="0"/>
      <dgm:spPr/>
    </dgm:pt>
    <dgm:pt modelId="{56A4B989-8EFF-4936-BCFE-68D70828D373}" type="pres">
      <dgm:prSet presAssocID="{568302F1-FE71-42AB-BEF9-E004A54A9740}" presName="parSpace" presStyleCnt="0"/>
      <dgm:spPr/>
    </dgm:pt>
    <dgm:pt modelId="{8B11143D-6518-423A-A7E6-4252AE1FF860}" type="pres">
      <dgm:prSet presAssocID="{F8ED9084-13CD-47C8-9678-08255743980A}" presName="parComposite" presStyleCnt="0"/>
      <dgm:spPr/>
    </dgm:pt>
    <dgm:pt modelId="{B6DCE7AA-A63F-4ADB-A53D-461306326332}" type="pres">
      <dgm:prSet presAssocID="{F8ED9084-13CD-47C8-9678-08255743980A}" presName="parBigCircle" presStyleLbl="node0" presStyleIdx="2" presStyleCnt="6" custScaleX="63185" custScaleY="61771"/>
      <dgm:spPr>
        <a:solidFill>
          <a:schemeClr val="accent5"/>
        </a:solidFill>
      </dgm:spPr>
    </dgm:pt>
    <dgm:pt modelId="{3AC47E1A-07D8-4455-B0E7-8BE5E3736BD8}" type="pres">
      <dgm:prSet presAssocID="{F8ED9084-13CD-47C8-9678-08255743980A}" presName="parTx" presStyleLbl="revTx" presStyleIdx="2" presStyleCnt="6" custLinFactNeighborY="16385"/>
      <dgm:spPr/>
      <dgm:t>
        <a:bodyPr/>
        <a:lstStyle/>
        <a:p>
          <a:endParaRPr lang="en-US"/>
        </a:p>
      </dgm:t>
    </dgm:pt>
    <dgm:pt modelId="{69781DDF-C155-472A-BB6D-AFF9CE71043B}" type="pres">
      <dgm:prSet presAssocID="{F8ED9084-13CD-47C8-9678-08255743980A}" presName="bSpace" presStyleCnt="0"/>
      <dgm:spPr/>
    </dgm:pt>
    <dgm:pt modelId="{FA95E385-011B-4DCB-9A66-C328DC78B69D}" type="pres">
      <dgm:prSet presAssocID="{F8ED9084-13CD-47C8-9678-08255743980A}" presName="parBackupNorm" presStyleCnt="0"/>
      <dgm:spPr/>
    </dgm:pt>
    <dgm:pt modelId="{232D0D57-1C06-4076-9FDD-661F0CBF4D5B}" type="pres">
      <dgm:prSet presAssocID="{B3F518C5-FEFB-44A9-A132-1F464AA97A7C}" presName="parSpace" presStyleCnt="0"/>
      <dgm:spPr/>
    </dgm:pt>
    <dgm:pt modelId="{5004F1BE-148E-4FA1-AE46-C929AD49B4DB}" type="pres">
      <dgm:prSet presAssocID="{13B86FB3-AEAE-441E-B4A3-8FC511445CDA}" presName="parComposite" presStyleCnt="0"/>
      <dgm:spPr/>
    </dgm:pt>
    <dgm:pt modelId="{8B8370F7-D4D3-442D-9AD7-B4006663A932}" type="pres">
      <dgm:prSet presAssocID="{13B86FB3-AEAE-441E-B4A3-8FC511445CDA}" presName="parBigCircle" presStyleLbl="node0" presStyleIdx="3" presStyleCnt="6" custScaleX="63185" custScaleY="61771"/>
      <dgm:spPr>
        <a:solidFill>
          <a:schemeClr val="accent4"/>
        </a:solidFill>
      </dgm:spPr>
    </dgm:pt>
    <dgm:pt modelId="{517F9FAE-1D8B-421C-8ECF-8F0B6607D031}" type="pres">
      <dgm:prSet presAssocID="{13B86FB3-AEAE-441E-B4A3-8FC511445CDA}" presName="parTx" presStyleLbl="revTx" presStyleIdx="3" presStyleCnt="6" custLinFactNeighborY="16385"/>
      <dgm:spPr/>
      <dgm:t>
        <a:bodyPr/>
        <a:lstStyle/>
        <a:p>
          <a:endParaRPr lang="en-US"/>
        </a:p>
      </dgm:t>
    </dgm:pt>
    <dgm:pt modelId="{2DD32D6D-CB70-4F4B-AA44-31DCA0D830C2}" type="pres">
      <dgm:prSet presAssocID="{13B86FB3-AEAE-441E-B4A3-8FC511445CDA}" presName="bSpace" presStyleCnt="0"/>
      <dgm:spPr/>
    </dgm:pt>
    <dgm:pt modelId="{BB95AAE8-CCB8-4382-90FE-69CCB7B2A4A4}" type="pres">
      <dgm:prSet presAssocID="{13B86FB3-AEAE-441E-B4A3-8FC511445CDA}" presName="parBackupNorm" presStyleCnt="0"/>
      <dgm:spPr/>
    </dgm:pt>
    <dgm:pt modelId="{EFDA0B81-0061-4D0A-B8CF-C1B1F883FB30}" type="pres">
      <dgm:prSet presAssocID="{1E1340F3-D27D-439C-8210-B0EF5D61D2CB}" presName="parSpace" presStyleCnt="0"/>
      <dgm:spPr/>
    </dgm:pt>
    <dgm:pt modelId="{15A58D3C-DECB-4C11-8AF3-BD3EBC55C9ED}" type="pres">
      <dgm:prSet presAssocID="{528B88BE-79E4-404B-BE5E-636E52463E57}" presName="parComposite" presStyleCnt="0"/>
      <dgm:spPr/>
    </dgm:pt>
    <dgm:pt modelId="{8C23FB2D-D315-4DCA-80A6-AC624C1BE979}" type="pres">
      <dgm:prSet presAssocID="{528B88BE-79E4-404B-BE5E-636E52463E57}" presName="parBigCircle" presStyleLbl="node0" presStyleIdx="4" presStyleCnt="6" custScaleX="63185" custScaleY="61771"/>
      <dgm:spPr>
        <a:solidFill>
          <a:schemeClr val="tx2"/>
        </a:solidFill>
      </dgm:spPr>
    </dgm:pt>
    <dgm:pt modelId="{AC04D90F-65F3-41D1-A43E-4DA0F1918E46}" type="pres">
      <dgm:prSet presAssocID="{528B88BE-79E4-404B-BE5E-636E52463E57}" presName="parTx" presStyleLbl="revTx" presStyleIdx="4" presStyleCnt="6" custLinFactNeighborY="16385"/>
      <dgm:spPr/>
      <dgm:t>
        <a:bodyPr/>
        <a:lstStyle/>
        <a:p>
          <a:endParaRPr lang="en-US"/>
        </a:p>
      </dgm:t>
    </dgm:pt>
    <dgm:pt modelId="{091032B3-A889-4961-9A6E-209355260AEF}" type="pres">
      <dgm:prSet presAssocID="{528B88BE-79E4-404B-BE5E-636E52463E57}" presName="bSpace" presStyleCnt="0"/>
      <dgm:spPr/>
    </dgm:pt>
    <dgm:pt modelId="{88370A8E-DCA2-41CB-828C-D21A30D3F9F1}" type="pres">
      <dgm:prSet presAssocID="{528B88BE-79E4-404B-BE5E-636E52463E57}" presName="parBackupNorm" presStyleCnt="0"/>
      <dgm:spPr/>
    </dgm:pt>
    <dgm:pt modelId="{C140117B-E016-4E33-9358-F605E79444E1}" type="pres">
      <dgm:prSet presAssocID="{687C915C-9D78-4EBC-91BD-7AFE00836ABC}" presName="parSpace" presStyleCnt="0"/>
      <dgm:spPr/>
    </dgm:pt>
    <dgm:pt modelId="{922629B7-FF2B-4A79-82B8-49D9E69799EC}" type="pres">
      <dgm:prSet presAssocID="{CFA9C5FB-3BE3-4410-9CCC-17B6841CF7EA}" presName="parComposite" presStyleCnt="0"/>
      <dgm:spPr/>
    </dgm:pt>
    <dgm:pt modelId="{AB236403-9B38-4F5B-8DA0-E2ECB36E78DB}" type="pres">
      <dgm:prSet presAssocID="{CFA9C5FB-3BE3-4410-9CCC-17B6841CF7EA}" presName="parBigCircle" presStyleLbl="node0" presStyleIdx="5" presStyleCnt="6" custScaleX="63185" custScaleY="61771"/>
      <dgm:spPr>
        <a:solidFill>
          <a:schemeClr val="accent3"/>
        </a:solidFill>
      </dgm:spPr>
    </dgm:pt>
    <dgm:pt modelId="{9511E383-A9B5-4BBC-AA6C-99FC6C520E28}" type="pres">
      <dgm:prSet presAssocID="{CFA9C5FB-3BE3-4410-9CCC-17B6841CF7EA}" presName="parTx" presStyleLbl="revTx" presStyleIdx="5" presStyleCnt="6" custLinFactNeighborY="16385"/>
      <dgm:spPr/>
      <dgm:t>
        <a:bodyPr/>
        <a:lstStyle/>
        <a:p>
          <a:endParaRPr lang="en-US"/>
        </a:p>
      </dgm:t>
    </dgm:pt>
    <dgm:pt modelId="{05DADE9A-E51F-4565-8D94-9627525659EC}" type="pres">
      <dgm:prSet presAssocID="{CFA9C5FB-3BE3-4410-9CCC-17B6841CF7EA}" presName="bSpace" presStyleCnt="0"/>
      <dgm:spPr/>
    </dgm:pt>
    <dgm:pt modelId="{E1EE8905-6844-4B32-8B07-5B0F025E1642}" type="pres">
      <dgm:prSet presAssocID="{CFA9C5FB-3BE3-4410-9CCC-17B6841CF7EA}" presName="parBackupNorm" presStyleCnt="0"/>
      <dgm:spPr/>
    </dgm:pt>
    <dgm:pt modelId="{92ADB641-80CE-4DA4-80B3-D1FDEB7D58B5}" type="pres">
      <dgm:prSet presAssocID="{7CA3F05D-D9AE-416E-956B-820E526A1200}" presName="parSpace" presStyleCnt="0"/>
      <dgm:spPr/>
    </dgm:pt>
  </dgm:ptLst>
  <dgm:cxnLst>
    <dgm:cxn modelId="{C71A2D32-D523-4FBF-9252-398134592658}" type="presOf" srcId="{528B88BE-79E4-404B-BE5E-636E52463E57}" destId="{AC04D90F-65F3-41D1-A43E-4DA0F1918E46}" srcOrd="0" destOrd="0" presId="urn:microsoft.com/office/officeart/2008/layout/CircleAccentTimeline"/>
    <dgm:cxn modelId="{2A1B5E79-D2D1-4812-9FC7-5620CA324D04}" srcId="{EA38CB0A-1D07-440B-ABAF-B58B796056D7}" destId="{6D998BE7-2765-436C-B968-14F685819FA9}" srcOrd="1" destOrd="0" parTransId="{2A20BF23-5A5F-42FD-B8DB-33BB2B1BD945}" sibTransId="{568302F1-FE71-42AB-BEF9-E004A54A9740}"/>
    <dgm:cxn modelId="{0D93EDDB-EEA3-4544-9DD8-87D741C71FC3}" srcId="{EA38CB0A-1D07-440B-ABAF-B58B796056D7}" destId="{CFA9C5FB-3BE3-4410-9CCC-17B6841CF7EA}" srcOrd="5" destOrd="0" parTransId="{5E162214-397D-4BC8-91EF-0F3E53071002}" sibTransId="{7CA3F05D-D9AE-416E-956B-820E526A1200}"/>
    <dgm:cxn modelId="{43E6A3ED-65C8-4C14-8335-BD4A27FFD919}" type="presOf" srcId="{13B86FB3-AEAE-441E-B4A3-8FC511445CDA}" destId="{517F9FAE-1D8B-421C-8ECF-8F0B6607D031}" srcOrd="0" destOrd="0" presId="urn:microsoft.com/office/officeart/2008/layout/CircleAccentTimeline"/>
    <dgm:cxn modelId="{51A10F73-317C-475E-AB87-AE4DD48D3CD5}" type="presOf" srcId="{6D998BE7-2765-436C-B968-14F685819FA9}" destId="{4717153B-4AE1-42CC-81ED-59CE5BA77F5E}" srcOrd="0" destOrd="0" presId="urn:microsoft.com/office/officeart/2008/layout/CircleAccentTimeline"/>
    <dgm:cxn modelId="{14DDD408-EF75-4534-951C-9D8049D912E3}" type="presOf" srcId="{BB2BAA04-69AB-4164-AA67-27AD624BC4FC}" destId="{AE1F8B41-D32D-4826-A1CF-9B01EA209FEB}" srcOrd="0" destOrd="0" presId="urn:microsoft.com/office/officeart/2008/layout/CircleAccentTimeline"/>
    <dgm:cxn modelId="{3C02E4A9-5A70-473B-8669-A750A68B1A0F}" srcId="{EA38CB0A-1D07-440B-ABAF-B58B796056D7}" destId="{F8ED9084-13CD-47C8-9678-08255743980A}" srcOrd="2" destOrd="0" parTransId="{4256E751-5978-4D7D-9F46-1D55106F3FC9}" sibTransId="{B3F518C5-FEFB-44A9-A132-1F464AA97A7C}"/>
    <dgm:cxn modelId="{E42ED25F-781A-4760-94AE-2D4AA1DEF734}" type="presOf" srcId="{F8ED9084-13CD-47C8-9678-08255743980A}" destId="{3AC47E1A-07D8-4455-B0E7-8BE5E3736BD8}" srcOrd="0" destOrd="0" presId="urn:microsoft.com/office/officeart/2008/layout/CircleAccentTimeline"/>
    <dgm:cxn modelId="{2DDA0696-A021-44AC-B1CD-C1C187C420E8}" srcId="{EA38CB0A-1D07-440B-ABAF-B58B796056D7}" destId="{BB2BAA04-69AB-4164-AA67-27AD624BC4FC}" srcOrd="0" destOrd="0" parTransId="{B7F70201-5C6A-4DEA-B375-D8979BE67F5A}" sibTransId="{2593C019-7311-4146-996F-F7E364AD0CD8}"/>
    <dgm:cxn modelId="{42006BC6-C19D-4D14-ABA3-FF0C9A4C34D9}" type="presOf" srcId="{EA38CB0A-1D07-440B-ABAF-B58B796056D7}" destId="{6A9C18F5-13BA-43AE-8218-1EA6F57EE75C}" srcOrd="0" destOrd="0" presId="urn:microsoft.com/office/officeart/2008/layout/CircleAccentTimeline"/>
    <dgm:cxn modelId="{BBD0A179-9880-497B-95EF-30B8EF18B47E}" srcId="{EA38CB0A-1D07-440B-ABAF-B58B796056D7}" destId="{13B86FB3-AEAE-441E-B4A3-8FC511445CDA}" srcOrd="3" destOrd="0" parTransId="{403D3D6C-4C4D-4F67-9451-C4497ACE4DD4}" sibTransId="{1E1340F3-D27D-439C-8210-B0EF5D61D2CB}"/>
    <dgm:cxn modelId="{1CCEDA98-ADC6-4A96-8A17-70429C2592F5}" srcId="{EA38CB0A-1D07-440B-ABAF-B58B796056D7}" destId="{528B88BE-79E4-404B-BE5E-636E52463E57}" srcOrd="4" destOrd="0" parTransId="{8EE0220D-1D86-45F5-A377-191C09313568}" sibTransId="{687C915C-9D78-4EBC-91BD-7AFE00836ABC}"/>
    <dgm:cxn modelId="{CFE911D1-D4F6-4AAD-A2AF-D8DFBC11CBF8}" type="presOf" srcId="{CFA9C5FB-3BE3-4410-9CCC-17B6841CF7EA}" destId="{9511E383-A9B5-4BBC-AA6C-99FC6C520E28}" srcOrd="0" destOrd="0" presId="urn:microsoft.com/office/officeart/2008/layout/CircleAccentTimeline"/>
    <dgm:cxn modelId="{FA69FCAC-4C06-462E-900D-F2543FC86B53}" type="presParOf" srcId="{6A9C18F5-13BA-43AE-8218-1EA6F57EE75C}" destId="{CA976A44-80CF-4699-8285-F8F45BB1A9B2}" srcOrd="0" destOrd="0" presId="urn:microsoft.com/office/officeart/2008/layout/CircleAccentTimeline"/>
    <dgm:cxn modelId="{123F8560-6BB7-430F-9A95-BEF24F301C15}" type="presParOf" srcId="{CA976A44-80CF-4699-8285-F8F45BB1A9B2}" destId="{D4941E52-E64F-465D-B741-7A520BCB468F}" srcOrd="0" destOrd="0" presId="urn:microsoft.com/office/officeart/2008/layout/CircleAccentTimeline"/>
    <dgm:cxn modelId="{FCC304B2-40AD-4A21-8510-04EE67AB05BC}" type="presParOf" srcId="{CA976A44-80CF-4699-8285-F8F45BB1A9B2}" destId="{AE1F8B41-D32D-4826-A1CF-9B01EA209FEB}" srcOrd="1" destOrd="0" presId="urn:microsoft.com/office/officeart/2008/layout/CircleAccentTimeline"/>
    <dgm:cxn modelId="{15D780DF-CA6C-4C1C-852C-F5BEAD55EE4E}" type="presParOf" srcId="{CA976A44-80CF-4699-8285-F8F45BB1A9B2}" destId="{505256CB-0614-410E-A198-D9E57C8DF177}" srcOrd="2" destOrd="0" presId="urn:microsoft.com/office/officeart/2008/layout/CircleAccentTimeline"/>
    <dgm:cxn modelId="{1B520EE0-F32A-4D05-9FC0-9D69C98B78C2}" type="presParOf" srcId="{6A9C18F5-13BA-43AE-8218-1EA6F57EE75C}" destId="{12CFE6BB-CA0E-4540-A9D4-78CED67DC54B}" srcOrd="1" destOrd="0" presId="urn:microsoft.com/office/officeart/2008/layout/CircleAccentTimeline"/>
    <dgm:cxn modelId="{ABBF14CD-9DC3-4EC2-927A-A0EA17F1D8AD}" type="presParOf" srcId="{6A9C18F5-13BA-43AE-8218-1EA6F57EE75C}" destId="{57F2E185-B72B-4AEB-8F98-6E09189606EA}" srcOrd="2" destOrd="0" presId="urn:microsoft.com/office/officeart/2008/layout/CircleAccentTimeline"/>
    <dgm:cxn modelId="{ACA19B73-9CE0-4614-8742-96EFBC6A4BC0}" type="presParOf" srcId="{6A9C18F5-13BA-43AE-8218-1EA6F57EE75C}" destId="{A1ED83C9-9BEE-4D61-B5DB-3C42E3164C8F}" srcOrd="3" destOrd="0" presId="urn:microsoft.com/office/officeart/2008/layout/CircleAccentTimeline"/>
    <dgm:cxn modelId="{9400CD0B-778C-46EB-82DC-1FAE7B5D797E}" type="presParOf" srcId="{A1ED83C9-9BEE-4D61-B5DB-3C42E3164C8F}" destId="{EE081B40-A6BF-4201-B8FA-D80AFA15E718}" srcOrd="0" destOrd="0" presId="urn:microsoft.com/office/officeart/2008/layout/CircleAccentTimeline"/>
    <dgm:cxn modelId="{16EA0C75-36A2-4495-AA0F-B73CED3B5E8D}" type="presParOf" srcId="{A1ED83C9-9BEE-4D61-B5DB-3C42E3164C8F}" destId="{4717153B-4AE1-42CC-81ED-59CE5BA77F5E}" srcOrd="1" destOrd="0" presId="urn:microsoft.com/office/officeart/2008/layout/CircleAccentTimeline"/>
    <dgm:cxn modelId="{3FDE491A-DF7D-4369-BFFF-8E428D57F418}" type="presParOf" srcId="{A1ED83C9-9BEE-4D61-B5DB-3C42E3164C8F}" destId="{412DAA44-57AC-433C-BE5F-1DCBA8DA23BA}" srcOrd="2" destOrd="0" presId="urn:microsoft.com/office/officeart/2008/layout/CircleAccentTimeline"/>
    <dgm:cxn modelId="{C4BD39AD-993F-43F8-9CCF-AC2533393316}" type="presParOf" srcId="{6A9C18F5-13BA-43AE-8218-1EA6F57EE75C}" destId="{D87CC722-554C-4E39-AFB8-FE5D32F12C0D}" srcOrd="4" destOrd="0" presId="urn:microsoft.com/office/officeart/2008/layout/CircleAccentTimeline"/>
    <dgm:cxn modelId="{28AEC31C-FF86-4B69-A35D-B6982482A032}" type="presParOf" srcId="{6A9C18F5-13BA-43AE-8218-1EA6F57EE75C}" destId="{56A4B989-8EFF-4936-BCFE-68D70828D373}" srcOrd="5" destOrd="0" presId="urn:microsoft.com/office/officeart/2008/layout/CircleAccentTimeline"/>
    <dgm:cxn modelId="{5CCF08A8-5DA7-4328-9FBA-A381DFAF49F1}" type="presParOf" srcId="{6A9C18F5-13BA-43AE-8218-1EA6F57EE75C}" destId="{8B11143D-6518-423A-A7E6-4252AE1FF860}" srcOrd="6" destOrd="0" presId="urn:microsoft.com/office/officeart/2008/layout/CircleAccentTimeline"/>
    <dgm:cxn modelId="{D5DBC80A-FD59-41E6-98DC-50EBB87272BF}" type="presParOf" srcId="{8B11143D-6518-423A-A7E6-4252AE1FF860}" destId="{B6DCE7AA-A63F-4ADB-A53D-461306326332}" srcOrd="0" destOrd="0" presId="urn:microsoft.com/office/officeart/2008/layout/CircleAccentTimeline"/>
    <dgm:cxn modelId="{938B9EC6-75AE-479A-BF28-DC4B3A60C795}" type="presParOf" srcId="{8B11143D-6518-423A-A7E6-4252AE1FF860}" destId="{3AC47E1A-07D8-4455-B0E7-8BE5E3736BD8}" srcOrd="1" destOrd="0" presId="urn:microsoft.com/office/officeart/2008/layout/CircleAccentTimeline"/>
    <dgm:cxn modelId="{0D7DB018-6127-4F0A-A50C-8648A41BC1DE}" type="presParOf" srcId="{8B11143D-6518-423A-A7E6-4252AE1FF860}" destId="{69781DDF-C155-472A-BB6D-AFF9CE71043B}" srcOrd="2" destOrd="0" presId="urn:microsoft.com/office/officeart/2008/layout/CircleAccentTimeline"/>
    <dgm:cxn modelId="{C0189718-2BC8-4BBD-8B32-EF804DE6D981}" type="presParOf" srcId="{6A9C18F5-13BA-43AE-8218-1EA6F57EE75C}" destId="{FA95E385-011B-4DCB-9A66-C328DC78B69D}" srcOrd="7" destOrd="0" presId="urn:microsoft.com/office/officeart/2008/layout/CircleAccentTimeline"/>
    <dgm:cxn modelId="{5DEB9EEA-0B35-4150-AC77-0F43CE3FFBE5}" type="presParOf" srcId="{6A9C18F5-13BA-43AE-8218-1EA6F57EE75C}" destId="{232D0D57-1C06-4076-9FDD-661F0CBF4D5B}" srcOrd="8" destOrd="0" presId="urn:microsoft.com/office/officeart/2008/layout/CircleAccentTimeline"/>
    <dgm:cxn modelId="{7A4ECFF1-47C0-41A6-81F5-CD23CFC83BB1}" type="presParOf" srcId="{6A9C18F5-13BA-43AE-8218-1EA6F57EE75C}" destId="{5004F1BE-148E-4FA1-AE46-C929AD49B4DB}" srcOrd="9" destOrd="0" presId="urn:microsoft.com/office/officeart/2008/layout/CircleAccentTimeline"/>
    <dgm:cxn modelId="{FE252158-36CF-4207-B171-7D6B039F29CD}" type="presParOf" srcId="{5004F1BE-148E-4FA1-AE46-C929AD49B4DB}" destId="{8B8370F7-D4D3-442D-9AD7-B4006663A932}" srcOrd="0" destOrd="0" presId="urn:microsoft.com/office/officeart/2008/layout/CircleAccentTimeline"/>
    <dgm:cxn modelId="{355CB656-5939-425F-B3AE-81C7C3356585}" type="presParOf" srcId="{5004F1BE-148E-4FA1-AE46-C929AD49B4DB}" destId="{517F9FAE-1D8B-421C-8ECF-8F0B6607D031}" srcOrd="1" destOrd="0" presId="urn:microsoft.com/office/officeart/2008/layout/CircleAccentTimeline"/>
    <dgm:cxn modelId="{2AA57E98-8B54-4C02-ADDC-EDBA43B8A79A}" type="presParOf" srcId="{5004F1BE-148E-4FA1-AE46-C929AD49B4DB}" destId="{2DD32D6D-CB70-4F4B-AA44-31DCA0D830C2}" srcOrd="2" destOrd="0" presId="urn:microsoft.com/office/officeart/2008/layout/CircleAccentTimeline"/>
    <dgm:cxn modelId="{BB2A6754-6B12-42DA-B57F-F67D55DF64EF}" type="presParOf" srcId="{6A9C18F5-13BA-43AE-8218-1EA6F57EE75C}" destId="{BB95AAE8-CCB8-4382-90FE-69CCB7B2A4A4}" srcOrd="10" destOrd="0" presId="urn:microsoft.com/office/officeart/2008/layout/CircleAccentTimeline"/>
    <dgm:cxn modelId="{5A8B3B02-8821-493F-8F3C-2577203403B0}" type="presParOf" srcId="{6A9C18F5-13BA-43AE-8218-1EA6F57EE75C}" destId="{EFDA0B81-0061-4D0A-B8CF-C1B1F883FB30}" srcOrd="11" destOrd="0" presId="urn:microsoft.com/office/officeart/2008/layout/CircleAccentTimeline"/>
    <dgm:cxn modelId="{D93926A5-4BD5-4DA4-9FF9-E64193B63C07}" type="presParOf" srcId="{6A9C18F5-13BA-43AE-8218-1EA6F57EE75C}" destId="{15A58D3C-DECB-4C11-8AF3-BD3EBC55C9ED}" srcOrd="12" destOrd="0" presId="urn:microsoft.com/office/officeart/2008/layout/CircleAccentTimeline"/>
    <dgm:cxn modelId="{BE09F698-355D-46ED-9F35-445F1534C016}" type="presParOf" srcId="{15A58D3C-DECB-4C11-8AF3-BD3EBC55C9ED}" destId="{8C23FB2D-D315-4DCA-80A6-AC624C1BE979}" srcOrd="0" destOrd="0" presId="urn:microsoft.com/office/officeart/2008/layout/CircleAccentTimeline"/>
    <dgm:cxn modelId="{75B882D2-D106-4BC5-B701-04B031396F1B}" type="presParOf" srcId="{15A58D3C-DECB-4C11-8AF3-BD3EBC55C9ED}" destId="{AC04D90F-65F3-41D1-A43E-4DA0F1918E46}" srcOrd="1" destOrd="0" presId="urn:microsoft.com/office/officeart/2008/layout/CircleAccentTimeline"/>
    <dgm:cxn modelId="{0BBFEC44-8BDC-476B-844D-CD6F05E60B35}" type="presParOf" srcId="{15A58D3C-DECB-4C11-8AF3-BD3EBC55C9ED}" destId="{091032B3-A889-4961-9A6E-209355260AEF}" srcOrd="2" destOrd="0" presId="urn:microsoft.com/office/officeart/2008/layout/CircleAccentTimeline"/>
    <dgm:cxn modelId="{6D176E57-027F-4216-9B9E-88E6779537B0}" type="presParOf" srcId="{6A9C18F5-13BA-43AE-8218-1EA6F57EE75C}" destId="{88370A8E-DCA2-41CB-828C-D21A30D3F9F1}" srcOrd="13" destOrd="0" presId="urn:microsoft.com/office/officeart/2008/layout/CircleAccentTimeline"/>
    <dgm:cxn modelId="{A11D20C7-47E1-4A31-A250-C24F292F0A6E}" type="presParOf" srcId="{6A9C18F5-13BA-43AE-8218-1EA6F57EE75C}" destId="{C140117B-E016-4E33-9358-F605E79444E1}" srcOrd="14" destOrd="0" presId="urn:microsoft.com/office/officeart/2008/layout/CircleAccentTimeline"/>
    <dgm:cxn modelId="{4F5E6ACE-B14E-4BDB-B738-C30DF4893F83}" type="presParOf" srcId="{6A9C18F5-13BA-43AE-8218-1EA6F57EE75C}" destId="{922629B7-FF2B-4A79-82B8-49D9E69799EC}" srcOrd="15" destOrd="0" presId="urn:microsoft.com/office/officeart/2008/layout/CircleAccentTimeline"/>
    <dgm:cxn modelId="{884A69C6-B03D-4822-B299-A9744EA7DAFC}" type="presParOf" srcId="{922629B7-FF2B-4A79-82B8-49D9E69799EC}" destId="{AB236403-9B38-4F5B-8DA0-E2ECB36E78DB}" srcOrd="0" destOrd="0" presId="urn:microsoft.com/office/officeart/2008/layout/CircleAccentTimeline"/>
    <dgm:cxn modelId="{E5DC7D65-F2BE-4B96-A165-9771B4F94500}" type="presParOf" srcId="{922629B7-FF2B-4A79-82B8-49D9E69799EC}" destId="{9511E383-A9B5-4BBC-AA6C-99FC6C520E28}" srcOrd="1" destOrd="0" presId="urn:microsoft.com/office/officeart/2008/layout/CircleAccentTimeline"/>
    <dgm:cxn modelId="{E4CAD865-D3A8-4A27-BBEB-4745F4E32C5C}" type="presParOf" srcId="{922629B7-FF2B-4A79-82B8-49D9E69799EC}" destId="{05DADE9A-E51F-4565-8D94-9627525659EC}" srcOrd="2" destOrd="0" presId="urn:microsoft.com/office/officeart/2008/layout/CircleAccentTimeline"/>
    <dgm:cxn modelId="{5A81B9DD-412C-4AA0-8CB6-60C413D39988}" type="presParOf" srcId="{6A9C18F5-13BA-43AE-8218-1EA6F57EE75C}" destId="{E1EE8905-6844-4B32-8B07-5B0F025E1642}" srcOrd="16" destOrd="0" presId="urn:microsoft.com/office/officeart/2008/layout/CircleAccentTimeline"/>
    <dgm:cxn modelId="{DD861FB8-0A7D-41D5-98B9-47D5DA27BCBE}" type="presParOf" srcId="{6A9C18F5-13BA-43AE-8218-1EA6F57EE75C}" destId="{92ADB641-80CE-4DA4-80B3-D1FDEB7D58B5}" srcOrd="17" destOrd="0" presId="urn:microsoft.com/office/officeart/2008/layout/CircleAccent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9CAE29-56F4-418D-9837-A24021629680}" type="doc">
      <dgm:prSet loTypeId="urn:microsoft.com/office/officeart/2005/8/layout/vList3" loCatId="list" qsTypeId="urn:microsoft.com/office/officeart/2005/8/quickstyle/simple1" qsCatId="simple" csTypeId="urn:microsoft.com/office/officeart/2005/8/colors/colorful5" csCatId="colorful" phldr="1"/>
      <dgm:spPr/>
    </dgm:pt>
    <dgm:pt modelId="{8D21F444-4CD1-4567-A94C-8B8660DA2999}">
      <dgm:prSet phldrT="[Text]"/>
      <dgm:spPr/>
      <dgm:t>
        <a:bodyPr/>
        <a:lstStyle/>
        <a:p>
          <a:r>
            <a:rPr lang="en-US" dirty="0" smtClean="0"/>
            <a:t>Deposits in Banks</a:t>
          </a:r>
          <a:endParaRPr lang="en-US" dirty="0"/>
        </a:p>
      </dgm:t>
    </dgm:pt>
    <dgm:pt modelId="{7BEC4BCE-E7D8-429E-AA6F-777D8FF111DC}" type="parTrans" cxnId="{5DCB393A-C216-468E-ACB3-D698ED653432}">
      <dgm:prSet/>
      <dgm:spPr/>
      <dgm:t>
        <a:bodyPr/>
        <a:lstStyle/>
        <a:p>
          <a:endParaRPr lang="en-US"/>
        </a:p>
      </dgm:t>
    </dgm:pt>
    <dgm:pt modelId="{526BB492-0303-46D7-BEA6-B5D17AEECE02}" type="sibTrans" cxnId="{5DCB393A-C216-468E-ACB3-D698ED653432}">
      <dgm:prSet/>
      <dgm:spPr/>
      <dgm:t>
        <a:bodyPr/>
        <a:lstStyle/>
        <a:p>
          <a:endParaRPr lang="en-US"/>
        </a:p>
      </dgm:t>
    </dgm:pt>
    <dgm:pt modelId="{EE4C50DE-08D2-4D2E-A3D9-B13C66C762C7}">
      <dgm:prSet/>
      <dgm:spPr/>
      <dgm:t>
        <a:bodyPr/>
        <a:lstStyle/>
        <a:p>
          <a:r>
            <a:rPr lang="en-US" smtClean="0"/>
            <a:t>As on Jan 10, 2025, ₹178.01 trillion.</a:t>
          </a:r>
          <a:endParaRPr lang="en-US" dirty="0"/>
        </a:p>
      </dgm:t>
    </dgm:pt>
    <dgm:pt modelId="{DAC711A0-BF7B-4F1F-A7BB-A135C6DDEB77}" type="parTrans" cxnId="{5F655B6E-62E5-4126-A641-DC687CC2C709}">
      <dgm:prSet/>
      <dgm:spPr/>
      <dgm:t>
        <a:bodyPr/>
        <a:lstStyle/>
        <a:p>
          <a:endParaRPr lang="en-US"/>
        </a:p>
      </dgm:t>
    </dgm:pt>
    <dgm:pt modelId="{D7781A0D-828D-46D1-9BEB-14329FD721F3}" type="sibTrans" cxnId="{5F655B6E-62E5-4126-A641-DC687CC2C709}">
      <dgm:prSet/>
      <dgm:spPr/>
      <dgm:t>
        <a:bodyPr/>
        <a:lstStyle/>
        <a:p>
          <a:endParaRPr lang="en-US"/>
        </a:p>
      </dgm:t>
    </dgm:pt>
    <dgm:pt modelId="{89560202-18DB-4F11-9D97-1FF933EFB5A3}">
      <dgm:prSet/>
      <dgm:spPr/>
      <dgm:t>
        <a:bodyPr/>
        <a:lstStyle/>
        <a:p>
          <a:r>
            <a:rPr lang="en-US" dirty="0" smtClean="0"/>
            <a:t>Growth: 11.47% Year on Year.</a:t>
          </a:r>
          <a:endParaRPr lang="en-US" dirty="0"/>
        </a:p>
      </dgm:t>
    </dgm:pt>
    <dgm:pt modelId="{DA075199-514D-4896-8272-CF9707729019}" type="parTrans" cxnId="{83B1E244-27C1-43FA-85E1-F5EDD15B18C6}">
      <dgm:prSet/>
      <dgm:spPr/>
      <dgm:t>
        <a:bodyPr/>
        <a:lstStyle/>
        <a:p>
          <a:endParaRPr lang="en-US"/>
        </a:p>
      </dgm:t>
    </dgm:pt>
    <dgm:pt modelId="{84DFC6CD-972B-404E-BE13-8891EED3FA61}" type="sibTrans" cxnId="{83B1E244-27C1-43FA-85E1-F5EDD15B18C6}">
      <dgm:prSet/>
      <dgm:spPr/>
      <dgm:t>
        <a:bodyPr/>
        <a:lstStyle/>
        <a:p>
          <a:endParaRPr lang="en-US"/>
        </a:p>
      </dgm:t>
    </dgm:pt>
    <dgm:pt modelId="{B133B6CC-8731-4A1D-AB07-94715330B9A0}">
      <dgm:prSet phldrT="[Text]"/>
      <dgm:spPr/>
      <dgm:t>
        <a:bodyPr/>
        <a:lstStyle/>
        <a:p>
          <a:r>
            <a:rPr lang="en-US" smtClean="0"/>
            <a:t>As on Jan 10, 2025, ₹221.50 trillion.</a:t>
          </a:r>
          <a:endParaRPr lang="en-US" dirty="0" smtClean="0"/>
        </a:p>
      </dgm:t>
    </dgm:pt>
    <dgm:pt modelId="{4F41FFA1-AE63-4F40-907C-2631AC81C041}" type="parTrans" cxnId="{B5A43AFA-CA32-4E25-9025-B273E899F27D}">
      <dgm:prSet/>
      <dgm:spPr/>
      <dgm:t>
        <a:bodyPr/>
        <a:lstStyle/>
        <a:p>
          <a:endParaRPr lang="en-US"/>
        </a:p>
      </dgm:t>
    </dgm:pt>
    <dgm:pt modelId="{8FEA64F0-C295-40BA-9E7C-9C0C98832008}" type="sibTrans" cxnId="{B5A43AFA-CA32-4E25-9025-B273E899F27D}">
      <dgm:prSet/>
      <dgm:spPr/>
      <dgm:t>
        <a:bodyPr/>
        <a:lstStyle/>
        <a:p>
          <a:endParaRPr lang="en-US"/>
        </a:p>
      </dgm:t>
    </dgm:pt>
    <dgm:pt modelId="{D8AD41C7-6042-4E2E-ADFC-128DDAD7341B}">
      <dgm:prSet phldrT="[Text]"/>
      <dgm:spPr/>
      <dgm:t>
        <a:bodyPr/>
        <a:lstStyle/>
        <a:p>
          <a:r>
            <a:rPr lang="en-US" dirty="0" smtClean="0"/>
            <a:t>Growth: 10.83% Year on Year</a:t>
          </a:r>
        </a:p>
      </dgm:t>
    </dgm:pt>
    <dgm:pt modelId="{93D49B76-E464-4676-B4B8-517A760826CB}" type="parTrans" cxnId="{656BD43E-9A42-4CF5-A46D-F24D0FE8DC8B}">
      <dgm:prSet/>
      <dgm:spPr/>
      <dgm:t>
        <a:bodyPr/>
        <a:lstStyle/>
        <a:p>
          <a:endParaRPr lang="en-US"/>
        </a:p>
      </dgm:t>
    </dgm:pt>
    <dgm:pt modelId="{D0F5C709-641B-4A15-85C9-A34A21DD4DFA}" type="sibTrans" cxnId="{656BD43E-9A42-4CF5-A46D-F24D0FE8DC8B}">
      <dgm:prSet/>
      <dgm:spPr/>
      <dgm:t>
        <a:bodyPr/>
        <a:lstStyle/>
        <a:p>
          <a:endParaRPr lang="en-US"/>
        </a:p>
      </dgm:t>
    </dgm:pt>
    <dgm:pt modelId="{3B34A6F8-4C04-430F-AA5C-CE92EAFE5E60}">
      <dgm:prSet phldrT="[Text]"/>
      <dgm:spPr/>
      <dgm:t>
        <a:bodyPr/>
        <a:lstStyle/>
        <a:p>
          <a:r>
            <a:rPr lang="en-US" smtClean="0"/>
            <a:t>Bank </a:t>
          </a:r>
          <a:r>
            <a:rPr lang="en-US" dirty="0" smtClean="0"/>
            <a:t>Credit</a:t>
          </a:r>
          <a:endParaRPr lang="en-US"/>
        </a:p>
      </dgm:t>
    </dgm:pt>
    <dgm:pt modelId="{01807615-1380-4EC5-B117-95EF3A8491C9}" type="parTrans" cxnId="{C3E08719-1F76-48C5-AAAC-6F263FCBA2FF}">
      <dgm:prSet/>
      <dgm:spPr/>
      <dgm:t>
        <a:bodyPr/>
        <a:lstStyle/>
        <a:p>
          <a:endParaRPr lang="en-US"/>
        </a:p>
      </dgm:t>
    </dgm:pt>
    <dgm:pt modelId="{C4D1B1E4-D94F-423F-8DC4-01795C6F113A}" type="sibTrans" cxnId="{C3E08719-1F76-48C5-AAAC-6F263FCBA2FF}">
      <dgm:prSet/>
      <dgm:spPr/>
      <dgm:t>
        <a:bodyPr/>
        <a:lstStyle/>
        <a:p>
          <a:endParaRPr lang="en-US"/>
        </a:p>
      </dgm:t>
    </dgm:pt>
    <dgm:pt modelId="{358A43AD-1070-427D-9C44-12F6EF426E19}" type="pres">
      <dgm:prSet presAssocID="{C99CAE29-56F4-418D-9837-A24021629680}" presName="linearFlow" presStyleCnt="0">
        <dgm:presLayoutVars>
          <dgm:dir/>
          <dgm:resizeHandles val="exact"/>
        </dgm:presLayoutVars>
      </dgm:prSet>
      <dgm:spPr/>
    </dgm:pt>
    <dgm:pt modelId="{9003A0BB-06B0-4AF0-9C74-0384BCFF8F6E}" type="pres">
      <dgm:prSet presAssocID="{8D21F444-4CD1-4567-A94C-8B8660DA2999}" presName="composite" presStyleCnt="0"/>
      <dgm:spPr/>
    </dgm:pt>
    <dgm:pt modelId="{F58C864D-21DD-475E-AEF3-264081646B6D}" type="pres">
      <dgm:prSet presAssocID="{8D21F444-4CD1-4567-A94C-8B8660DA2999}" presName="imgShp" presStyleLbl="fgImgPlac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2000" r="-22000"/>
          </a:stretch>
        </a:blipFill>
      </dgm:spPr>
    </dgm:pt>
    <dgm:pt modelId="{484D490B-A2F4-43B6-82E5-0521C8328F47}" type="pres">
      <dgm:prSet presAssocID="{8D21F444-4CD1-4567-A94C-8B8660DA2999}" presName="tx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359B2D-DB66-4F39-B866-A536A97F2C92}" type="pres">
      <dgm:prSet presAssocID="{526BB492-0303-46D7-BEA6-B5D17AEECE02}" presName="spacing" presStyleCnt="0"/>
      <dgm:spPr/>
    </dgm:pt>
    <dgm:pt modelId="{B0FC8AEE-060D-4813-96D0-710E44D0AFCF}" type="pres">
      <dgm:prSet presAssocID="{3B34A6F8-4C04-430F-AA5C-CE92EAFE5E60}" presName="composite" presStyleCnt="0"/>
      <dgm:spPr/>
    </dgm:pt>
    <dgm:pt modelId="{7BA42FFC-815F-4C44-BBE7-BA52EDB9D6B9}" type="pres">
      <dgm:prSet presAssocID="{3B34A6F8-4C04-430F-AA5C-CE92EAFE5E60}" presName="imgShp" presStyleLbl="fgImgPlace1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17CD6A0B-3C62-472E-9B4E-7DF2093A50FC}" type="pres">
      <dgm:prSet presAssocID="{3B34A6F8-4C04-430F-AA5C-CE92EAFE5E60}" presName="tx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5C0E024-A99A-47D2-9C58-4F5ECC71EBAB}" type="presOf" srcId="{D8AD41C7-6042-4E2E-ADFC-128DDAD7341B}" destId="{484D490B-A2F4-43B6-82E5-0521C8328F47}" srcOrd="0" destOrd="2" presId="urn:microsoft.com/office/officeart/2005/8/layout/vList3"/>
    <dgm:cxn modelId="{A3AA6E3C-9563-4DA1-AD9D-9E1CE67D2519}" type="presOf" srcId="{C99CAE29-56F4-418D-9837-A24021629680}" destId="{358A43AD-1070-427D-9C44-12F6EF426E19}" srcOrd="0" destOrd="0" presId="urn:microsoft.com/office/officeart/2005/8/layout/vList3"/>
    <dgm:cxn modelId="{349DE393-D300-467F-A02F-4070D8BCD48A}" type="presOf" srcId="{3B34A6F8-4C04-430F-AA5C-CE92EAFE5E60}" destId="{17CD6A0B-3C62-472E-9B4E-7DF2093A50FC}" srcOrd="0" destOrd="0" presId="urn:microsoft.com/office/officeart/2005/8/layout/vList3"/>
    <dgm:cxn modelId="{C3E08719-1F76-48C5-AAAC-6F263FCBA2FF}" srcId="{C99CAE29-56F4-418D-9837-A24021629680}" destId="{3B34A6F8-4C04-430F-AA5C-CE92EAFE5E60}" srcOrd="1" destOrd="0" parTransId="{01807615-1380-4EC5-B117-95EF3A8491C9}" sibTransId="{C4D1B1E4-D94F-423F-8DC4-01795C6F113A}"/>
    <dgm:cxn modelId="{5DCB393A-C216-468E-ACB3-D698ED653432}" srcId="{C99CAE29-56F4-418D-9837-A24021629680}" destId="{8D21F444-4CD1-4567-A94C-8B8660DA2999}" srcOrd="0" destOrd="0" parTransId="{7BEC4BCE-E7D8-429E-AA6F-777D8FF111DC}" sibTransId="{526BB492-0303-46D7-BEA6-B5D17AEECE02}"/>
    <dgm:cxn modelId="{490C0E75-CC09-4B4E-9AB0-3D4FC79C88A0}" type="presOf" srcId="{89560202-18DB-4F11-9D97-1FF933EFB5A3}" destId="{17CD6A0B-3C62-472E-9B4E-7DF2093A50FC}" srcOrd="0" destOrd="2" presId="urn:microsoft.com/office/officeart/2005/8/layout/vList3"/>
    <dgm:cxn modelId="{83B1E244-27C1-43FA-85E1-F5EDD15B18C6}" srcId="{3B34A6F8-4C04-430F-AA5C-CE92EAFE5E60}" destId="{89560202-18DB-4F11-9D97-1FF933EFB5A3}" srcOrd="1" destOrd="0" parTransId="{DA075199-514D-4896-8272-CF9707729019}" sibTransId="{84DFC6CD-972B-404E-BE13-8891EED3FA61}"/>
    <dgm:cxn modelId="{ADA0513C-36E2-42D3-95D8-4F0887D58F2C}" type="presOf" srcId="{8D21F444-4CD1-4567-A94C-8B8660DA2999}" destId="{484D490B-A2F4-43B6-82E5-0521C8328F47}" srcOrd="0" destOrd="0" presId="urn:microsoft.com/office/officeart/2005/8/layout/vList3"/>
    <dgm:cxn modelId="{5C090B75-4AE4-45F1-91DA-106599557AA0}" type="presOf" srcId="{B133B6CC-8731-4A1D-AB07-94715330B9A0}" destId="{484D490B-A2F4-43B6-82E5-0521C8328F47}" srcOrd="0" destOrd="1" presId="urn:microsoft.com/office/officeart/2005/8/layout/vList3"/>
    <dgm:cxn modelId="{656BD43E-9A42-4CF5-A46D-F24D0FE8DC8B}" srcId="{8D21F444-4CD1-4567-A94C-8B8660DA2999}" destId="{D8AD41C7-6042-4E2E-ADFC-128DDAD7341B}" srcOrd="1" destOrd="0" parTransId="{93D49B76-E464-4676-B4B8-517A760826CB}" sibTransId="{D0F5C709-641B-4A15-85C9-A34A21DD4DFA}"/>
    <dgm:cxn modelId="{5F655B6E-62E5-4126-A641-DC687CC2C709}" srcId="{3B34A6F8-4C04-430F-AA5C-CE92EAFE5E60}" destId="{EE4C50DE-08D2-4D2E-A3D9-B13C66C762C7}" srcOrd="0" destOrd="0" parTransId="{DAC711A0-BF7B-4F1F-A7BB-A135C6DDEB77}" sibTransId="{D7781A0D-828D-46D1-9BEB-14329FD721F3}"/>
    <dgm:cxn modelId="{C2281DD9-011E-454C-BDDD-F0091CBD6616}" type="presOf" srcId="{EE4C50DE-08D2-4D2E-A3D9-B13C66C762C7}" destId="{17CD6A0B-3C62-472E-9B4E-7DF2093A50FC}" srcOrd="0" destOrd="1" presId="urn:microsoft.com/office/officeart/2005/8/layout/vList3"/>
    <dgm:cxn modelId="{B5A43AFA-CA32-4E25-9025-B273E899F27D}" srcId="{8D21F444-4CD1-4567-A94C-8B8660DA2999}" destId="{B133B6CC-8731-4A1D-AB07-94715330B9A0}" srcOrd="0" destOrd="0" parTransId="{4F41FFA1-AE63-4F40-907C-2631AC81C041}" sibTransId="{8FEA64F0-C295-40BA-9E7C-9C0C98832008}"/>
    <dgm:cxn modelId="{9AD7FC80-105A-4A81-965D-A41FD9BC2A8C}" type="presParOf" srcId="{358A43AD-1070-427D-9C44-12F6EF426E19}" destId="{9003A0BB-06B0-4AF0-9C74-0384BCFF8F6E}" srcOrd="0" destOrd="0" presId="urn:microsoft.com/office/officeart/2005/8/layout/vList3"/>
    <dgm:cxn modelId="{6918B5C6-646A-4F6F-8669-41FFEC6F15BC}" type="presParOf" srcId="{9003A0BB-06B0-4AF0-9C74-0384BCFF8F6E}" destId="{F58C864D-21DD-475E-AEF3-264081646B6D}" srcOrd="0" destOrd="0" presId="urn:microsoft.com/office/officeart/2005/8/layout/vList3"/>
    <dgm:cxn modelId="{9220003F-78CC-48C3-A0A4-4ACECFFCA034}" type="presParOf" srcId="{9003A0BB-06B0-4AF0-9C74-0384BCFF8F6E}" destId="{484D490B-A2F4-43B6-82E5-0521C8328F47}" srcOrd="1" destOrd="0" presId="urn:microsoft.com/office/officeart/2005/8/layout/vList3"/>
    <dgm:cxn modelId="{2E829C46-E2B4-48AC-9783-95AA8652C123}" type="presParOf" srcId="{358A43AD-1070-427D-9C44-12F6EF426E19}" destId="{14359B2D-DB66-4F39-B866-A536A97F2C92}" srcOrd="1" destOrd="0" presId="urn:microsoft.com/office/officeart/2005/8/layout/vList3"/>
    <dgm:cxn modelId="{A0E16DAC-0033-48CB-9185-11A294A5FC29}" type="presParOf" srcId="{358A43AD-1070-427D-9C44-12F6EF426E19}" destId="{B0FC8AEE-060D-4813-96D0-710E44D0AFCF}" srcOrd="2" destOrd="0" presId="urn:microsoft.com/office/officeart/2005/8/layout/vList3"/>
    <dgm:cxn modelId="{3AD37835-A88C-4513-AE6D-2B93DBBA6DCE}" type="presParOf" srcId="{B0FC8AEE-060D-4813-96D0-710E44D0AFCF}" destId="{7BA42FFC-815F-4C44-BBE7-BA52EDB9D6B9}" srcOrd="0" destOrd="0" presId="urn:microsoft.com/office/officeart/2005/8/layout/vList3"/>
    <dgm:cxn modelId="{DB3E74BE-52EB-4E47-A8E7-D6DF6C8FC96C}" type="presParOf" srcId="{B0FC8AEE-060D-4813-96D0-710E44D0AFCF}" destId="{17CD6A0B-3C62-472E-9B4E-7DF2093A50F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1824D59-98B7-4EC9-B71F-365B5E327FFF}" type="doc">
      <dgm:prSet loTypeId="urn:microsoft.com/office/officeart/2005/8/layout/hierarchy1" loCatId="hierarchy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3FB32F2-A33F-42B0-9A0E-12F8DDBA82CF}">
      <dgm:prSet phldrT="[Text]" custT="1"/>
      <dgm:spPr/>
      <dgm:t>
        <a:bodyPr/>
        <a:lstStyle/>
        <a:p>
          <a:r>
            <a:rPr lang="en-US" sz="2000" b="1" dirty="0"/>
            <a:t>RBI</a:t>
          </a:r>
        </a:p>
      </dgm:t>
    </dgm:pt>
    <dgm:pt modelId="{0D3A0A24-3BCB-4F83-A987-B51FBC8D0487}" type="parTrans" cxnId="{17DF7418-8248-4C8F-8D86-647BC285C3AC}">
      <dgm:prSet/>
      <dgm:spPr/>
      <dgm:t>
        <a:bodyPr/>
        <a:lstStyle/>
        <a:p>
          <a:endParaRPr lang="en-US" sz="3200" b="1"/>
        </a:p>
      </dgm:t>
    </dgm:pt>
    <dgm:pt modelId="{5F4D250D-F071-434C-BF05-2AE607BACB4A}" type="sibTrans" cxnId="{17DF7418-8248-4C8F-8D86-647BC285C3AC}">
      <dgm:prSet/>
      <dgm:spPr/>
      <dgm:t>
        <a:bodyPr/>
        <a:lstStyle/>
        <a:p>
          <a:endParaRPr lang="en-US" sz="3200" b="1"/>
        </a:p>
      </dgm:t>
    </dgm:pt>
    <dgm:pt modelId="{88A0B7C1-838F-4784-BE93-8D1C30F90E4E}">
      <dgm:prSet phldrT="[Text]" custT="1"/>
      <dgm:spPr/>
      <dgm:t>
        <a:bodyPr/>
        <a:lstStyle/>
        <a:p>
          <a:r>
            <a:rPr lang="en-US" sz="2000" b="1" dirty="0"/>
            <a:t>Scheduled Banks</a:t>
          </a:r>
        </a:p>
      </dgm:t>
    </dgm:pt>
    <dgm:pt modelId="{EDF638B8-EC2A-437B-A2DC-A6B348BD8693}" type="parTrans" cxnId="{D12F6F5B-AED9-4534-997E-9C0B28470957}">
      <dgm:prSet/>
      <dgm:spPr/>
      <dgm:t>
        <a:bodyPr/>
        <a:lstStyle/>
        <a:p>
          <a:endParaRPr lang="en-US" sz="3200" b="1"/>
        </a:p>
      </dgm:t>
    </dgm:pt>
    <dgm:pt modelId="{F3B8570C-0065-472F-907A-E9FE32BC6B15}" type="sibTrans" cxnId="{D12F6F5B-AED9-4534-997E-9C0B28470957}">
      <dgm:prSet/>
      <dgm:spPr/>
      <dgm:t>
        <a:bodyPr/>
        <a:lstStyle/>
        <a:p>
          <a:endParaRPr lang="en-US" sz="3200" b="1"/>
        </a:p>
      </dgm:t>
    </dgm:pt>
    <dgm:pt modelId="{497EE28E-AA52-4D9A-B44C-73CA0D899452}">
      <dgm:prSet phldrT="[Text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8BC14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b="1" kern="1200" dirty="0">
              <a:solidFill>
                <a:srgbClr val="212121">
                  <a:hueOff val="0"/>
                  <a:satOff val="0"/>
                  <a:lumOff val="0"/>
                  <a:alphaOff val="0"/>
                </a:srgbClr>
              </a:solidFill>
              <a:latin typeface="Roboto Condensed"/>
              <a:ea typeface="+mn-ea"/>
              <a:cs typeface="+mn-cs"/>
            </a:rPr>
            <a:t>Non-Scheduled</a:t>
          </a:r>
          <a:r>
            <a:rPr lang="en-US" sz="2000" b="1" kern="1200" dirty="0"/>
            <a:t> Banks</a:t>
          </a:r>
        </a:p>
      </dgm:t>
    </dgm:pt>
    <dgm:pt modelId="{096539CE-778C-4D4B-BAF3-672B48C04D10}" type="parTrans" cxnId="{49BDB9B6-B0DC-4BF8-9866-AD07CCB21200}">
      <dgm:prSet/>
      <dgm:spPr/>
      <dgm:t>
        <a:bodyPr/>
        <a:lstStyle/>
        <a:p>
          <a:endParaRPr lang="en-US" sz="3200" b="1"/>
        </a:p>
      </dgm:t>
    </dgm:pt>
    <dgm:pt modelId="{633F0DAF-5946-446F-9C99-EE2D872636E8}" type="sibTrans" cxnId="{49BDB9B6-B0DC-4BF8-9866-AD07CCB21200}">
      <dgm:prSet/>
      <dgm:spPr/>
      <dgm:t>
        <a:bodyPr/>
        <a:lstStyle/>
        <a:p>
          <a:endParaRPr lang="en-US" sz="3200" b="1"/>
        </a:p>
      </dgm:t>
    </dgm:pt>
    <dgm:pt modelId="{ABE9C7E5-51B1-4235-AE12-7838319BEA48}">
      <dgm:prSet phldrT="[Text]" custT="1"/>
      <dgm:spPr/>
      <dgm:t>
        <a:bodyPr/>
        <a:lstStyle/>
        <a:p>
          <a:r>
            <a:rPr lang="en-US" sz="2000" b="1" dirty="0"/>
            <a:t>Development Banks</a:t>
          </a:r>
        </a:p>
      </dgm:t>
    </dgm:pt>
    <dgm:pt modelId="{59FFA4B5-60EA-46D7-97A8-3A8C2310EDE2}" type="parTrans" cxnId="{E47E21CC-4FD0-48FA-B02B-6F22C18505E5}">
      <dgm:prSet/>
      <dgm:spPr/>
      <dgm:t>
        <a:bodyPr/>
        <a:lstStyle/>
        <a:p>
          <a:endParaRPr lang="en-US" sz="3200" b="1"/>
        </a:p>
      </dgm:t>
    </dgm:pt>
    <dgm:pt modelId="{57D3787B-8C07-4031-96A5-ED1143193F50}" type="sibTrans" cxnId="{E47E21CC-4FD0-48FA-B02B-6F22C18505E5}">
      <dgm:prSet/>
      <dgm:spPr/>
      <dgm:t>
        <a:bodyPr/>
        <a:lstStyle/>
        <a:p>
          <a:endParaRPr lang="en-US" sz="3200" b="1"/>
        </a:p>
      </dgm:t>
    </dgm:pt>
    <dgm:pt modelId="{2694E195-EEAD-4AC2-8FAB-C54147D27E51}">
      <dgm:prSet phldrT="[Text]" custT="1"/>
      <dgm:spPr/>
      <dgm:t>
        <a:bodyPr/>
        <a:lstStyle/>
        <a:p>
          <a:r>
            <a:rPr lang="en-US" sz="2000" b="1" dirty="0"/>
            <a:t>NBFCs</a:t>
          </a:r>
        </a:p>
      </dgm:t>
    </dgm:pt>
    <dgm:pt modelId="{1F5461CF-9AF5-4B6D-AC50-314769382615}" type="parTrans" cxnId="{47DB008A-D6AD-4E76-89A0-6367B99FB434}">
      <dgm:prSet/>
      <dgm:spPr/>
      <dgm:t>
        <a:bodyPr/>
        <a:lstStyle/>
        <a:p>
          <a:endParaRPr lang="en-US" sz="3200" b="1"/>
        </a:p>
      </dgm:t>
    </dgm:pt>
    <dgm:pt modelId="{BC026213-E4B1-43BF-BE97-31AE337E7B5A}" type="sibTrans" cxnId="{47DB008A-D6AD-4E76-89A0-6367B99FB434}">
      <dgm:prSet/>
      <dgm:spPr/>
      <dgm:t>
        <a:bodyPr/>
        <a:lstStyle/>
        <a:p>
          <a:endParaRPr lang="en-US" sz="3200" b="1"/>
        </a:p>
      </dgm:t>
    </dgm:pt>
    <dgm:pt modelId="{152BF109-AE07-4E32-A87B-E7D043E581F9}">
      <dgm:prSet phldrT="[Text]" custT="1"/>
      <dgm:spPr/>
      <dgm:t>
        <a:bodyPr/>
        <a:lstStyle/>
        <a:p>
          <a:r>
            <a:rPr lang="en-US" sz="2000" b="1" dirty="0"/>
            <a:t>Commercial Banks</a:t>
          </a:r>
        </a:p>
      </dgm:t>
    </dgm:pt>
    <dgm:pt modelId="{9606DAB1-CF15-44CE-8933-9445F82E41FC}" type="parTrans" cxnId="{29A3DD7B-8D48-4A22-BE7C-F42BE8E3E1A4}">
      <dgm:prSet/>
      <dgm:spPr/>
      <dgm:t>
        <a:bodyPr/>
        <a:lstStyle/>
        <a:p>
          <a:endParaRPr lang="en-US" sz="3200" b="1"/>
        </a:p>
      </dgm:t>
    </dgm:pt>
    <dgm:pt modelId="{4717AE62-8C3A-44DE-9AD1-ADEA1E86C272}" type="sibTrans" cxnId="{29A3DD7B-8D48-4A22-BE7C-F42BE8E3E1A4}">
      <dgm:prSet/>
      <dgm:spPr/>
      <dgm:t>
        <a:bodyPr/>
        <a:lstStyle/>
        <a:p>
          <a:endParaRPr lang="en-US" sz="3200" b="1"/>
        </a:p>
      </dgm:t>
    </dgm:pt>
    <dgm:pt modelId="{4F1D1207-B347-45A6-B2FF-623ED6832316}">
      <dgm:prSet custT="1"/>
      <dgm:spPr/>
      <dgm:t>
        <a:bodyPr/>
        <a:lstStyle/>
        <a:p>
          <a:r>
            <a:rPr lang="en-US" sz="2000" b="1" dirty="0"/>
            <a:t>Co-operative Banks</a:t>
          </a:r>
        </a:p>
      </dgm:t>
    </dgm:pt>
    <dgm:pt modelId="{6A6BE533-E9A2-4AE8-BADC-B963F01CE4D8}" type="parTrans" cxnId="{C1E4533B-EDB0-4057-A4DD-D475056E8A0C}">
      <dgm:prSet/>
      <dgm:spPr/>
      <dgm:t>
        <a:bodyPr/>
        <a:lstStyle/>
        <a:p>
          <a:endParaRPr lang="en-US" sz="3200" b="1"/>
        </a:p>
      </dgm:t>
    </dgm:pt>
    <dgm:pt modelId="{450D2BB9-9B15-405B-84D8-6DC51A3FD87D}" type="sibTrans" cxnId="{C1E4533B-EDB0-4057-A4DD-D475056E8A0C}">
      <dgm:prSet/>
      <dgm:spPr/>
      <dgm:t>
        <a:bodyPr/>
        <a:lstStyle/>
        <a:p>
          <a:endParaRPr lang="en-US" sz="3200" b="1"/>
        </a:p>
      </dgm:t>
    </dgm:pt>
    <dgm:pt modelId="{91F748D5-5ECA-4BBA-BDD0-5FA64D3A4F8E}">
      <dgm:prSet phldrT="[Text]" custT="1"/>
      <dgm:spPr/>
      <dgm:t>
        <a:bodyPr/>
        <a:lstStyle/>
        <a:p>
          <a:r>
            <a:rPr lang="en-US" sz="2000" b="1" dirty="0"/>
            <a:t>Public Sector Banks</a:t>
          </a:r>
        </a:p>
      </dgm:t>
    </dgm:pt>
    <dgm:pt modelId="{2C14950D-48CC-4689-B7F7-547F7CED3699}" type="parTrans" cxnId="{13BBB38C-DCCC-4DDC-A22B-3777CC21FC90}">
      <dgm:prSet/>
      <dgm:spPr/>
      <dgm:t>
        <a:bodyPr/>
        <a:lstStyle/>
        <a:p>
          <a:endParaRPr lang="en-US" sz="3200" b="1"/>
        </a:p>
      </dgm:t>
    </dgm:pt>
    <dgm:pt modelId="{C1F871BD-6321-4C49-BD77-8B1AEB4C666C}" type="sibTrans" cxnId="{13BBB38C-DCCC-4DDC-A22B-3777CC21FC90}">
      <dgm:prSet/>
      <dgm:spPr/>
      <dgm:t>
        <a:bodyPr/>
        <a:lstStyle/>
        <a:p>
          <a:endParaRPr lang="en-US" sz="3200" b="1"/>
        </a:p>
      </dgm:t>
    </dgm:pt>
    <dgm:pt modelId="{112244CD-780C-469D-B6AB-4C46EBCAE494}">
      <dgm:prSet phldrT="[Text]" custT="1"/>
      <dgm:spPr/>
      <dgm:t>
        <a:bodyPr/>
        <a:lstStyle/>
        <a:p>
          <a:r>
            <a:rPr lang="en-US" sz="2000" b="1" dirty="0"/>
            <a:t>Private Sector Banks</a:t>
          </a:r>
        </a:p>
      </dgm:t>
    </dgm:pt>
    <dgm:pt modelId="{0AF51E36-8561-4825-A944-A387EF66104D}" type="parTrans" cxnId="{EE637349-457B-45E3-8E45-3D861A15E95A}">
      <dgm:prSet/>
      <dgm:spPr/>
      <dgm:t>
        <a:bodyPr/>
        <a:lstStyle/>
        <a:p>
          <a:endParaRPr lang="en-US" sz="3200" b="1"/>
        </a:p>
      </dgm:t>
    </dgm:pt>
    <dgm:pt modelId="{D8410774-FEA5-470C-95B4-7EBEF8225CF6}" type="sibTrans" cxnId="{EE637349-457B-45E3-8E45-3D861A15E95A}">
      <dgm:prSet/>
      <dgm:spPr/>
      <dgm:t>
        <a:bodyPr/>
        <a:lstStyle/>
        <a:p>
          <a:endParaRPr lang="en-US" sz="3200" b="1"/>
        </a:p>
      </dgm:t>
    </dgm:pt>
    <dgm:pt modelId="{42564AA5-AE96-420C-B2A1-D3C89F08053B}">
      <dgm:prSet phldrT="[Text]" custT="1"/>
      <dgm:spPr/>
      <dgm:t>
        <a:bodyPr/>
        <a:lstStyle/>
        <a:p>
          <a:r>
            <a:rPr lang="en-US" sz="2000" b="1" dirty="0"/>
            <a:t>Regional Rural Banks</a:t>
          </a:r>
        </a:p>
      </dgm:t>
    </dgm:pt>
    <dgm:pt modelId="{1985D0EE-C158-48C6-8402-285E111D7542}" type="parTrans" cxnId="{94416161-9967-42CB-828B-87B8AB126335}">
      <dgm:prSet/>
      <dgm:spPr/>
      <dgm:t>
        <a:bodyPr/>
        <a:lstStyle/>
        <a:p>
          <a:endParaRPr lang="en-US" sz="3200" b="1"/>
        </a:p>
      </dgm:t>
    </dgm:pt>
    <dgm:pt modelId="{13EF90DF-3CAE-493B-A1CF-173ABBCEC600}" type="sibTrans" cxnId="{94416161-9967-42CB-828B-87B8AB126335}">
      <dgm:prSet/>
      <dgm:spPr/>
      <dgm:t>
        <a:bodyPr/>
        <a:lstStyle/>
        <a:p>
          <a:endParaRPr lang="en-US" sz="3200" b="1"/>
        </a:p>
      </dgm:t>
    </dgm:pt>
    <dgm:pt modelId="{B2B51D17-CD66-4977-9705-1A079265D4DF}">
      <dgm:prSet phldrT="[Text]" custT="1"/>
      <dgm:spPr/>
      <dgm:t>
        <a:bodyPr/>
        <a:lstStyle/>
        <a:p>
          <a:r>
            <a:rPr lang="en-US" sz="2000" b="1" dirty="0"/>
            <a:t>Foreign Banks</a:t>
          </a:r>
        </a:p>
      </dgm:t>
    </dgm:pt>
    <dgm:pt modelId="{1864A25E-5BF5-45E3-9EF3-991DCF9E0521}" type="parTrans" cxnId="{3A6A1E02-7EA6-40A9-9ADC-9ED787809D9D}">
      <dgm:prSet/>
      <dgm:spPr/>
      <dgm:t>
        <a:bodyPr/>
        <a:lstStyle/>
        <a:p>
          <a:endParaRPr lang="en-US" sz="3200" b="1"/>
        </a:p>
      </dgm:t>
    </dgm:pt>
    <dgm:pt modelId="{42CA34F4-01A0-42D9-8C31-FB8CC2A1377C}" type="sibTrans" cxnId="{3A6A1E02-7EA6-40A9-9ADC-9ED787809D9D}">
      <dgm:prSet/>
      <dgm:spPr/>
      <dgm:t>
        <a:bodyPr/>
        <a:lstStyle/>
        <a:p>
          <a:endParaRPr lang="en-US" sz="3200" b="1"/>
        </a:p>
      </dgm:t>
    </dgm:pt>
    <dgm:pt modelId="{5179C1E8-7611-4CDA-999B-857C7A3DE1FD}">
      <dgm:prSet custT="1"/>
      <dgm:spPr/>
      <dgm:t>
        <a:bodyPr/>
        <a:lstStyle/>
        <a:p>
          <a:r>
            <a:rPr lang="en-US" sz="2000" b="1" dirty="0"/>
            <a:t>Urban Co-operative Banks</a:t>
          </a:r>
        </a:p>
      </dgm:t>
    </dgm:pt>
    <dgm:pt modelId="{D818E4DB-399C-4682-B2F8-9BA374EE63E9}" type="parTrans" cxnId="{65F439D4-1CEE-43F8-9CB7-003586C2B65F}">
      <dgm:prSet/>
      <dgm:spPr/>
      <dgm:t>
        <a:bodyPr/>
        <a:lstStyle/>
        <a:p>
          <a:endParaRPr lang="en-US" sz="3200" b="1"/>
        </a:p>
      </dgm:t>
    </dgm:pt>
    <dgm:pt modelId="{48134677-8DA1-4CE7-BBEF-6B20C6E1B83A}" type="sibTrans" cxnId="{65F439D4-1CEE-43F8-9CB7-003586C2B65F}">
      <dgm:prSet/>
      <dgm:spPr/>
      <dgm:t>
        <a:bodyPr/>
        <a:lstStyle/>
        <a:p>
          <a:endParaRPr lang="en-US" sz="3200" b="1"/>
        </a:p>
      </dgm:t>
    </dgm:pt>
    <dgm:pt modelId="{75EC71D1-65CE-430C-9D13-58ECD1108219}">
      <dgm:prSet custT="1"/>
      <dgm:spPr/>
      <dgm:t>
        <a:bodyPr/>
        <a:lstStyle/>
        <a:p>
          <a:r>
            <a:rPr lang="en-US" sz="2000" b="1" dirty="0"/>
            <a:t>Rural Co-operative Banks</a:t>
          </a:r>
        </a:p>
      </dgm:t>
    </dgm:pt>
    <dgm:pt modelId="{C92A9B66-7ADF-40EC-AD11-FDA02CF6DD54}" type="parTrans" cxnId="{6907487E-825C-44DC-8547-4EC0DDBA69A1}">
      <dgm:prSet/>
      <dgm:spPr/>
      <dgm:t>
        <a:bodyPr/>
        <a:lstStyle/>
        <a:p>
          <a:endParaRPr lang="en-US" sz="3200" b="1"/>
        </a:p>
      </dgm:t>
    </dgm:pt>
    <dgm:pt modelId="{5A335E01-817F-4207-9EDF-3B6620DC67C1}" type="sibTrans" cxnId="{6907487E-825C-44DC-8547-4EC0DDBA69A1}">
      <dgm:prSet/>
      <dgm:spPr/>
      <dgm:t>
        <a:bodyPr/>
        <a:lstStyle/>
        <a:p>
          <a:endParaRPr lang="en-US" sz="3200" b="1"/>
        </a:p>
      </dgm:t>
    </dgm:pt>
    <dgm:pt modelId="{13B6B054-C49D-4C53-B3C3-914BE4C23B72}">
      <dgm:prSet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F19D19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b="1" kern="1200" dirty="0">
              <a:solidFill>
                <a:srgbClr val="212121">
                  <a:hueOff val="0"/>
                  <a:satOff val="0"/>
                  <a:lumOff val="0"/>
                  <a:alphaOff val="0"/>
                </a:srgbClr>
              </a:solidFill>
              <a:latin typeface="Roboto Condensed"/>
              <a:ea typeface="+mn-ea"/>
              <a:cs typeface="+mn-cs"/>
            </a:rPr>
            <a:t>Payment</a:t>
          </a:r>
          <a:r>
            <a:rPr lang="en-US" sz="1900" kern="1200" dirty="0"/>
            <a:t> </a:t>
          </a:r>
          <a:r>
            <a:rPr lang="en-US" sz="1900" b="1" kern="1200" dirty="0"/>
            <a:t>Banks</a:t>
          </a:r>
          <a:endParaRPr lang="en-IN" sz="1900" b="1" kern="1200" dirty="0"/>
        </a:p>
      </dgm:t>
    </dgm:pt>
    <dgm:pt modelId="{F8490947-3648-4765-BE37-2C5017CF6657}" type="parTrans" cxnId="{0F65DBA6-B21D-4C50-890A-47758CE22A94}">
      <dgm:prSet/>
      <dgm:spPr/>
      <dgm:t>
        <a:bodyPr/>
        <a:lstStyle/>
        <a:p>
          <a:endParaRPr lang="en-IN"/>
        </a:p>
      </dgm:t>
    </dgm:pt>
    <dgm:pt modelId="{BC3BA6C3-E19E-4350-8B0B-321071229401}" type="sibTrans" cxnId="{0F65DBA6-B21D-4C50-890A-47758CE22A94}">
      <dgm:prSet/>
      <dgm:spPr/>
      <dgm:t>
        <a:bodyPr/>
        <a:lstStyle/>
        <a:p>
          <a:endParaRPr lang="en-IN"/>
        </a:p>
      </dgm:t>
    </dgm:pt>
    <dgm:pt modelId="{740DFA4C-DD01-4BB0-9318-B8831BB7C83F}">
      <dgm:prSet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F19D19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212121">
                  <a:hueOff val="0"/>
                  <a:satOff val="0"/>
                  <a:lumOff val="0"/>
                  <a:alphaOff val="0"/>
                </a:srgbClr>
              </a:solidFill>
              <a:latin typeface="Roboto Condensed"/>
              <a:ea typeface="+mn-ea"/>
              <a:cs typeface="+mn-cs"/>
            </a:rPr>
            <a:t>Small Finance Banks</a:t>
          </a:r>
          <a:endParaRPr lang="en-IN" sz="2000" b="1" kern="1200" dirty="0">
            <a:solidFill>
              <a:srgbClr val="212121">
                <a:hueOff val="0"/>
                <a:satOff val="0"/>
                <a:lumOff val="0"/>
                <a:alphaOff val="0"/>
              </a:srgbClr>
            </a:solidFill>
            <a:latin typeface="Roboto Condensed"/>
            <a:ea typeface="+mn-ea"/>
            <a:cs typeface="+mn-cs"/>
          </a:endParaRPr>
        </a:p>
      </dgm:t>
    </dgm:pt>
    <dgm:pt modelId="{270A03A5-E89A-499F-9F47-F4AD94D3906B}" type="parTrans" cxnId="{B38DE519-7393-40EC-A347-9EF27D0AAF53}">
      <dgm:prSet/>
      <dgm:spPr/>
      <dgm:t>
        <a:bodyPr/>
        <a:lstStyle/>
        <a:p>
          <a:endParaRPr lang="en-IN"/>
        </a:p>
      </dgm:t>
    </dgm:pt>
    <dgm:pt modelId="{C084316A-DA3C-45C3-AD85-406836CF2936}" type="sibTrans" cxnId="{B38DE519-7393-40EC-A347-9EF27D0AAF53}">
      <dgm:prSet/>
      <dgm:spPr/>
      <dgm:t>
        <a:bodyPr/>
        <a:lstStyle/>
        <a:p>
          <a:endParaRPr lang="en-IN"/>
        </a:p>
      </dgm:t>
    </dgm:pt>
    <dgm:pt modelId="{AB26F67E-706B-4967-9388-062116FE8601}" type="pres">
      <dgm:prSet presAssocID="{41824D59-98B7-4EC9-B71F-365B5E327FF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DF90F940-AEAB-464C-8045-7B60F5F0C03E}" type="pres">
      <dgm:prSet presAssocID="{E3FB32F2-A33F-42B0-9A0E-12F8DDBA82CF}" presName="hierRoot1" presStyleCnt="0"/>
      <dgm:spPr/>
    </dgm:pt>
    <dgm:pt modelId="{8F5F8D0D-C928-40E3-922B-C51DE7C9CFF7}" type="pres">
      <dgm:prSet presAssocID="{E3FB32F2-A33F-42B0-9A0E-12F8DDBA82CF}" presName="composite" presStyleCnt="0"/>
      <dgm:spPr/>
    </dgm:pt>
    <dgm:pt modelId="{57E343A1-ECC0-4DD3-90EB-5C15C37C3A25}" type="pres">
      <dgm:prSet presAssocID="{E3FB32F2-A33F-42B0-9A0E-12F8DDBA82CF}" presName="background" presStyleLbl="node0" presStyleIdx="0" presStyleCnt="1"/>
      <dgm:spPr/>
    </dgm:pt>
    <dgm:pt modelId="{6CE112DD-4EF1-434B-8544-1057E38A994B}" type="pres">
      <dgm:prSet presAssocID="{E3FB32F2-A33F-42B0-9A0E-12F8DDBA82CF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9106503-1226-44AF-9EF7-52557AE4B812}" type="pres">
      <dgm:prSet presAssocID="{E3FB32F2-A33F-42B0-9A0E-12F8DDBA82CF}" presName="hierChild2" presStyleCnt="0"/>
      <dgm:spPr/>
    </dgm:pt>
    <dgm:pt modelId="{3F8277CB-C94D-48B3-9CEF-6F340B71234D}" type="pres">
      <dgm:prSet presAssocID="{EDF638B8-EC2A-437B-A2DC-A6B348BD8693}" presName="Name10" presStyleLbl="parChTrans1D2" presStyleIdx="0" presStyleCnt="4"/>
      <dgm:spPr/>
      <dgm:t>
        <a:bodyPr/>
        <a:lstStyle/>
        <a:p>
          <a:endParaRPr lang="en-US"/>
        </a:p>
      </dgm:t>
    </dgm:pt>
    <dgm:pt modelId="{6937A29A-2226-4AE6-B870-94FFBB78FA0E}" type="pres">
      <dgm:prSet presAssocID="{88A0B7C1-838F-4784-BE93-8D1C30F90E4E}" presName="hierRoot2" presStyleCnt="0"/>
      <dgm:spPr/>
    </dgm:pt>
    <dgm:pt modelId="{A5CB2DD5-6C91-468C-998E-CE55C6435927}" type="pres">
      <dgm:prSet presAssocID="{88A0B7C1-838F-4784-BE93-8D1C30F90E4E}" presName="composite2" presStyleCnt="0"/>
      <dgm:spPr/>
    </dgm:pt>
    <dgm:pt modelId="{70B1E89D-4002-42C4-82AD-2B8B08E9318B}" type="pres">
      <dgm:prSet presAssocID="{88A0B7C1-838F-4784-BE93-8D1C30F90E4E}" presName="background2" presStyleLbl="node2" presStyleIdx="0" presStyleCnt="4"/>
      <dgm:spPr/>
    </dgm:pt>
    <dgm:pt modelId="{8A7565B0-6007-41F6-BE07-FF64E2A3AFB7}" type="pres">
      <dgm:prSet presAssocID="{88A0B7C1-838F-4784-BE93-8D1C30F90E4E}" presName="text2" presStyleLbl="fgAcc2" presStyleIdx="0" presStyleCnt="4" custScaleX="137310" custScaleY="11689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794EDAA-4387-435F-859D-CC173FD2F70D}" type="pres">
      <dgm:prSet presAssocID="{88A0B7C1-838F-4784-BE93-8D1C30F90E4E}" presName="hierChild3" presStyleCnt="0"/>
      <dgm:spPr/>
    </dgm:pt>
    <dgm:pt modelId="{5490DAE6-CC64-4D99-92F9-841B490ED3CF}" type="pres">
      <dgm:prSet presAssocID="{9606DAB1-CF15-44CE-8933-9445F82E41FC}" presName="Name17" presStyleLbl="parChTrans1D3" presStyleIdx="0" presStyleCnt="2"/>
      <dgm:spPr/>
      <dgm:t>
        <a:bodyPr/>
        <a:lstStyle/>
        <a:p>
          <a:endParaRPr lang="en-US"/>
        </a:p>
      </dgm:t>
    </dgm:pt>
    <dgm:pt modelId="{DBCEAB1A-3368-48F0-93D7-5DE536F7CD0D}" type="pres">
      <dgm:prSet presAssocID="{152BF109-AE07-4E32-A87B-E7D043E581F9}" presName="hierRoot3" presStyleCnt="0"/>
      <dgm:spPr/>
    </dgm:pt>
    <dgm:pt modelId="{11F16289-0459-438F-BBD2-0ACF0F769B00}" type="pres">
      <dgm:prSet presAssocID="{152BF109-AE07-4E32-A87B-E7D043E581F9}" presName="composite3" presStyleCnt="0"/>
      <dgm:spPr/>
    </dgm:pt>
    <dgm:pt modelId="{831B3E6E-2988-4756-B3B8-8A575AC18DAF}" type="pres">
      <dgm:prSet presAssocID="{152BF109-AE07-4E32-A87B-E7D043E581F9}" presName="background3" presStyleLbl="node3" presStyleIdx="0" presStyleCnt="2"/>
      <dgm:spPr/>
    </dgm:pt>
    <dgm:pt modelId="{8E0E742A-FCD0-4687-AB27-802D253160DB}" type="pres">
      <dgm:prSet presAssocID="{152BF109-AE07-4E32-A87B-E7D043E581F9}" presName="text3" presStyleLbl="fgAcc3" presStyleIdx="0" presStyleCnt="2" custScaleX="144321" custScaleY="10755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FC2F4E0-92F8-4307-B28B-3D508E2BE6E3}" type="pres">
      <dgm:prSet presAssocID="{152BF109-AE07-4E32-A87B-E7D043E581F9}" presName="hierChild4" presStyleCnt="0"/>
      <dgm:spPr/>
    </dgm:pt>
    <dgm:pt modelId="{74F5BD44-E4FF-4C34-9F06-59C1CAB8F656}" type="pres">
      <dgm:prSet presAssocID="{2C14950D-48CC-4689-B7F7-547F7CED3699}" presName="Name23" presStyleLbl="parChTrans1D4" presStyleIdx="0" presStyleCnt="8"/>
      <dgm:spPr/>
      <dgm:t>
        <a:bodyPr/>
        <a:lstStyle/>
        <a:p>
          <a:endParaRPr lang="en-US"/>
        </a:p>
      </dgm:t>
    </dgm:pt>
    <dgm:pt modelId="{5CF9550B-67D9-4654-9ED0-482F8BE6F317}" type="pres">
      <dgm:prSet presAssocID="{91F748D5-5ECA-4BBA-BDD0-5FA64D3A4F8E}" presName="hierRoot4" presStyleCnt="0"/>
      <dgm:spPr/>
    </dgm:pt>
    <dgm:pt modelId="{14EC7192-4688-4B6C-BA64-97DEA3571D9D}" type="pres">
      <dgm:prSet presAssocID="{91F748D5-5ECA-4BBA-BDD0-5FA64D3A4F8E}" presName="composite4" presStyleCnt="0"/>
      <dgm:spPr/>
    </dgm:pt>
    <dgm:pt modelId="{E941C6B2-A95E-4873-ACC7-B686312ECB2B}" type="pres">
      <dgm:prSet presAssocID="{91F748D5-5ECA-4BBA-BDD0-5FA64D3A4F8E}" presName="background4" presStyleLbl="node4" presStyleIdx="0" presStyleCnt="8"/>
      <dgm:spPr/>
    </dgm:pt>
    <dgm:pt modelId="{64461C01-4490-4F77-A558-BFD4658A9AE1}" type="pres">
      <dgm:prSet presAssocID="{91F748D5-5ECA-4BBA-BDD0-5FA64D3A4F8E}" presName="text4" presStyleLbl="fgAcc4" presStyleIdx="0" presStyleCnt="8" custScaleX="112559" custScaleY="13711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243D570-9E39-4EBC-BCB1-3F5FE79FC479}" type="pres">
      <dgm:prSet presAssocID="{91F748D5-5ECA-4BBA-BDD0-5FA64D3A4F8E}" presName="hierChild5" presStyleCnt="0"/>
      <dgm:spPr/>
    </dgm:pt>
    <dgm:pt modelId="{5843E4C6-1CA5-4EC4-92E1-4A747E4E09CE}" type="pres">
      <dgm:prSet presAssocID="{0AF51E36-8561-4825-A944-A387EF66104D}" presName="Name23" presStyleLbl="parChTrans1D4" presStyleIdx="1" presStyleCnt="8"/>
      <dgm:spPr/>
      <dgm:t>
        <a:bodyPr/>
        <a:lstStyle/>
        <a:p>
          <a:endParaRPr lang="en-US"/>
        </a:p>
      </dgm:t>
    </dgm:pt>
    <dgm:pt modelId="{ED6E5BDB-B842-431D-A3E9-9E0AE94C64FA}" type="pres">
      <dgm:prSet presAssocID="{112244CD-780C-469D-B6AB-4C46EBCAE494}" presName="hierRoot4" presStyleCnt="0"/>
      <dgm:spPr/>
    </dgm:pt>
    <dgm:pt modelId="{56F6B324-F6D7-4C94-BA6D-56F8E8B93A27}" type="pres">
      <dgm:prSet presAssocID="{112244CD-780C-469D-B6AB-4C46EBCAE494}" presName="composite4" presStyleCnt="0"/>
      <dgm:spPr/>
    </dgm:pt>
    <dgm:pt modelId="{54B42F7D-739D-440D-B356-945CA6564C57}" type="pres">
      <dgm:prSet presAssocID="{112244CD-780C-469D-B6AB-4C46EBCAE494}" presName="background4" presStyleLbl="node4" presStyleIdx="1" presStyleCnt="8"/>
      <dgm:spPr/>
    </dgm:pt>
    <dgm:pt modelId="{6FF63002-D2FA-40A0-845B-5E75555871AC}" type="pres">
      <dgm:prSet presAssocID="{112244CD-780C-469D-B6AB-4C46EBCAE494}" presName="text4" presStyleLbl="fgAcc4" presStyleIdx="1" presStyleCnt="8" custScaleX="105326" custScaleY="13466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7513BE5-69F9-4B41-A940-85F06F4F4293}" type="pres">
      <dgm:prSet presAssocID="{112244CD-780C-469D-B6AB-4C46EBCAE494}" presName="hierChild5" presStyleCnt="0"/>
      <dgm:spPr/>
    </dgm:pt>
    <dgm:pt modelId="{643F3DD2-C3E7-4280-BE43-6AF90C84FEEB}" type="pres">
      <dgm:prSet presAssocID="{1985D0EE-C158-48C6-8402-285E111D7542}" presName="Name23" presStyleLbl="parChTrans1D4" presStyleIdx="2" presStyleCnt="8"/>
      <dgm:spPr/>
      <dgm:t>
        <a:bodyPr/>
        <a:lstStyle/>
        <a:p>
          <a:endParaRPr lang="en-US"/>
        </a:p>
      </dgm:t>
    </dgm:pt>
    <dgm:pt modelId="{01B2EB65-EA20-4FC4-A132-E6274384A3D4}" type="pres">
      <dgm:prSet presAssocID="{42564AA5-AE96-420C-B2A1-D3C89F08053B}" presName="hierRoot4" presStyleCnt="0"/>
      <dgm:spPr/>
    </dgm:pt>
    <dgm:pt modelId="{8A2A7CB4-212C-42D7-A4A1-D807CE7FDB6B}" type="pres">
      <dgm:prSet presAssocID="{42564AA5-AE96-420C-B2A1-D3C89F08053B}" presName="composite4" presStyleCnt="0"/>
      <dgm:spPr/>
    </dgm:pt>
    <dgm:pt modelId="{DC690ED2-3B0A-40BD-8DD0-F4825D0C239A}" type="pres">
      <dgm:prSet presAssocID="{42564AA5-AE96-420C-B2A1-D3C89F08053B}" presName="background4" presStyleLbl="node4" presStyleIdx="2" presStyleCnt="8"/>
      <dgm:spPr/>
    </dgm:pt>
    <dgm:pt modelId="{5BE6FB09-8319-422A-A345-F3043485EB04}" type="pres">
      <dgm:prSet presAssocID="{42564AA5-AE96-420C-B2A1-D3C89F08053B}" presName="text4" presStyleLbl="fgAcc4" presStyleIdx="2" presStyleCnt="8" custScaleX="112119" custScaleY="13476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0480147-BAB7-46BA-985A-006DFDFBAC05}" type="pres">
      <dgm:prSet presAssocID="{42564AA5-AE96-420C-B2A1-D3C89F08053B}" presName="hierChild5" presStyleCnt="0"/>
      <dgm:spPr/>
    </dgm:pt>
    <dgm:pt modelId="{1520E28F-C472-4614-9DC2-247990C1F0CB}" type="pres">
      <dgm:prSet presAssocID="{1864A25E-5BF5-45E3-9EF3-991DCF9E0521}" presName="Name23" presStyleLbl="parChTrans1D4" presStyleIdx="3" presStyleCnt="8"/>
      <dgm:spPr/>
      <dgm:t>
        <a:bodyPr/>
        <a:lstStyle/>
        <a:p>
          <a:endParaRPr lang="en-US"/>
        </a:p>
      </dgm:t>
    </dgm:pt>
    <dgm:pt modelId="{16A29430-31DF-41B8-B5D8-31B4EB337A4D}" type="pres">
      <dgm:prSet presAssocID="{B2B51D17-CD66-4977-9705-1A079265D4DF}" presName="hierRoot4" presStyleCnt="0"/>
      <dgm:spPr/>
    </dgm:pt>
    <dgm:pt modelId="{5D6BE7E8-C21F-44D2-A540-1DAB6A1DA0C7}" type="pres">
      <dgm:prSet presAssocID="{B2B51D17-CD66-4977-9705-1A079265D4DF}" presName="composite4" presStyleCnt="0"/>
      <dgm:spPr/>
    </dgm:pt>
    <dgm:pt modelId="{E90AAC47-202E-4E5A-9818-EF368F9F2DD1}" type="pres">
      <dgm:prSet presAssocID="{B2B51D17-CD66-4977-9705-1A079265D4DF}" presName="background4" presStyleLbl="node4" presStyleIdx="3" presStyleCnt="8"/>
      <dgm:spPr/>
    </dgm:pt>
    <dgm:pt modelId="{8AC82886-3F12-42B3-8763-5A49193FDDED}" type="pres">
      <dgm:prSet presAssocID="{B2B51D17-CD66-4977-9705-1A079265D4DF}" presName="text4" presStyleLbl="fgAcc4" presStyleIdx="3" presStyleCnt="8" custScaleX="108650" custScaleY="13695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DF3D670-F3A0-4BED-842E-E599391676AF}" type="pres">
      <dgm:prSet presAssocID="{B2B51D17-CD66-4977-9705-1A079265D4DF}" presName="hierChild5" presStyleCnt="0"/>
      <dgm:spPr/>
    </dgm:pt>
    <dgm:pt modelId="{132F47E2-AB96-4CED-8F1D-E5E29DA6F9FE}" type="pres">
      <dgm:prSet presAssocID="{270A03A5-E89A-499F-9F47-F4AD94D3906B}" presName="Name23" presStyleLbl="parChTrans1D4" presStyleIdx="4" presStyleCnt="8"/>
      <dgm:spPr/>
      <dgm:t>
        <a:bodyPr/>
        <a:lstStyle/>
        <a:p>
          <a:endParaRPr lang="en-US"/>
        </a:p>
      </dgm:t>
    </dgm:pt>
    <dgm:pt modelId="{AD7F49C5-D95F-4B13-8BDB-F2CEC22E996D}" type="pres">
      <dgm:prSet presAssocID="{740DFA4C-DD01-4BB0-9318-B8831BB7C83F}" presName="hierRoot4" presStyleCnt="0"/>
      <dgm:spPr/>
    </dgm:pt>
    <dgm:pt modelId="{2913107E-3691-46D7-8D3B-09CDB045DAF7}" type="pres">
      <dgm:prSet presAssocID="{740DFA4C-DD01-4BB0-9318-B8831BB7C83F}" presName="composite4" presStyleCnt="0"/>
      <dgm:spPr/>
    </dgm:pt>
    <dgm:pt modelId="{84C50D94-79A2-4CBB-B2BE-D678DFE8BE59}" type="pres">
      <dgm:prSet presAssocID="{740DFA4C-DD01-4BB0-9318-B8831BB7C83F}" presName="background4" presStyleLbl="node4" presStyleIdx="4" presStyleCnt="8"/>
      <dgm:spPr/>
    </dgm:pt>
    <dgm:pt modelId="{99023944-12F7-4D5F-82E9-B0E4CAD50D75}" type="pres">
      <dgm:prSet presAssocID="{740DFA4C-DD01-4BB0-9318-B8831BB7C83F}" presName="text4" presStyleLbl="fgAcc4" presStyleIdx="4" presStyleCnt="8" custScaleX="104691" custScaleY="138986">
        <dgm:presLayoutVars>
          <dgm:chPref val="3"/>
        </dgm:presLayoutVars>
      </dgm:prSet>
      <dgm:spPr>
        <a:xfrm>
          <a:off x="5482227" y="4445785"/>
          <a:ext cx="1064177" cy="897117"/>
        </a:xfrm>
        <a:prstGeom prst="roundRect">
          <a:avLst>
            <a:gd name="adj" fmla="val 10000"/>
          </a:avLst>
        </a:prstGeom>
      </dgm:spPr>
      <dgm:t>
        <a:bodyPr/>
        <a:lstStyle/>
        <a:p>
          <a:endParaRPr lang="en-US"/>
        </a:p>
      </dgm:t>
    </dgm:pt>
    <dgm:pt modelId="{1496ED4E-A370-479B-BB94-55AB08D490ED}" type="pres">
      <dgm:prSet presAssocID="{740DFA4C-DD01-4BB0-9318-B8831BB7C83F}" presName="hierChild5" presStyleCnt="0"/>
      <dgm:spPr/>
    </dgm:pt>
    <dgm:pt modelId="{D2C3BAC0-6679-4846-A9BC-2099A335B091}" type="pres">
      <dgm:prSet presAssocID="{F8490947-3648-4765-BE37-2C5017CF6657}" presName="Name23" presStyleLbl="parChTrans1D4" presStyleIdx="5" presStyleCnt="8"/>
      <dgm:spPr/>
      <dgm:t>
        <a:bodyPr/>
        <a:lstStyle/>
        <a:p>
          <a:endParaRPr lang="en-US"/>
        </a:p>
      </dgm:t>
    </dgm:pt>
    <dgm:pt modelId="{05E53E77-9AE3-48F9-B36D-F005BCC361FE}" type="pres">
      <dgm:prSet presAssocID="{13B6B054-C49D-4C53-B3C3-914BE4C23B72}" presName="hierRoot4" presStyleCnt="0"/>
      <dgm:spPr/>
    </dgm:pt>
    <dgm:pt modelId="{FDE2FA43-36A1-416E-8090-7E6C7E7524E3}" type="pres">
      <dgm:prSet presAssocID="{13B6B054-C49D-4C53-B3C3-914BE4C23B72}" presName="composite4" presStyleCnt="0"/>
      <dgm:spPr/>
    </dgm:pt>
    <dgm:pt modelId="{33D32D85-3396-4966-92BC-4309C399680A}" type="pres">
      <dgm:prSet presAssocID="{13B6B054-C49D-4C53-B3C3-914BE4C23B72}" presName="background4" presStyleLbl="node4" presStyleIdx="5" presStyleCnt="8"/>
      <dgm:spPr/>
    </dgm:pt>
    <dgm:pt modelId="{A67998CD-D9CF-4D55-8208-CDF2FCCE6CED}" type="pres">
      <dgm:prSet presAssocID="{13B6B054-C49D-4C53-B3C3-914BE4C23B72}" presName="text4" presStyleLbl="fgAcc4" presStyleIdx="5" presStyleCnt="8" custScaleX="110219" custScaleY="135958">
        <dgm:presLayoutVars>
          <dgm:chPref val="3"/>
        </dgm:presLayoutVars>
      </dgm:prSet>
      <dgm:spPr>
        <a:xfrm>
          <a:off x="6772292" y="4445785"/>
          <a:ext cx="1049194" cy="877572"/>
        </a:xfrm>
        <a:prstGeom prst="roundRect">
          <a:avLst>
            <a:gd name="adj" fmla="val 10000"/>
          </a:avLst>
        </a:prstGeom>
      </dgm:spPr>
      <dgm:t>
        <a:bodyPr/>
        <a:lstStyle/>
        <a:p>
          <a:endParaRPr lang="en-US"/>
        </a:p>
      </dgm:t>
    </dgm:pt>
    <dgm:pt modelId="{15DA0AC9-8D59-4C60-AA91-D9FE72C5833F}" type="pres">
      <dgm:prSet presAssocID="{13B6B054-C49D-4C53-B3C3-914BE4C23B72}" presName="hierChild5" presStyleCnt="0"/>
      <dgm:spPr/>
    </dgm:pt>
    <dgm:pt modelId="{2ABA19E2-E735-423F-93C4-D70C6A01A3EA}" type="pres">
      <dgm:prSet presAssocID="{6A6BE533-E9A2-4AE8-BADC-B963F01CE4D8}" presName="Name17" presStyleLbl="parChTrans1D3" presStyleIdx="1" presStyleCnt="2"/>
      <dgm:spPr/>
      <dgm:t>
        <a:bodyPr/>
        <a:lstStyle/>
        <a:p>
          <a:endParaRPr lang="en-US"/>
        </a:p>
      </dgm:t>
    </dgm:pt>
    <dgm:pt modelId="{91E3B441-840F-4615-8D77-2CDDFF3DB452}" type="pres">
      <dgm:prSet presAssocID="{4F1D1207-B347-45A6-B2FF-623ED6832316}" presName="hierRoot3" presStyleCnt="0"/>
      <dgm:spPr/>
    </dgm:pt>
    <dgm:pt modelId="{2C33F6A7-28F5-4C0D-B710-2E6B73B9AC19}" type="pres">
      <dgm:prSet presAssocID="{4F1D1207-B347-45A6-B2FF-623ED6832316}" presName="composite3" presStyleCnt="0"/>
      <dgm:spPr/>
    </dgm:pt>
    <dgm:pt modelId="{654B4425-B0ED-43F5-B778-EA8C71D0C343}" type="pres">
      <dgm:prSet presAssocID="{4F1D1207-B347-45A6-B2FF-623ED6832316}" presName="background3" presStyleLbl="node3" presStyleIdx="1" presStyleCnt="2"/>
      <dgm:spPr/>
    </dgm:pt>
    <dgm:pt modelId="{27663A7E-231B-4AAF-A523-04D8BCE8290C}" type="pres">
      <dgm:prSet presAssocID="{4F1D1207-B347-45A6-B2FF-623ED6832316}" presName="text3" presStyleLbl="fgAcc3" presStyleIdx="1" presStyleCnt="2" custScaleX="1586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EDDD479-23D3-40AD-954C-04732256B314}" type="pres">
      <dgm:prSet presAssocID="{4F1D1207-B347-45A6-B2FF-623ED6832316}" presName="hierChild4" presStyleCnt="0"/>
      <dgm:spPr/>
    </dgm:pt>
    <dgm:pt modelId="{C485710A-D795-4A5A-B1B2-AB636ABBF22B}" type="pres">
      <dgm:prSet presAssocID="{D818E4DB-399C-4682-B2F8-9BA374EE63E9}" presName="Name23" presStyleLbl="parChTrans1D4" presStyleIdx="6" presStyleCnt="8"/>
      <dgm:spPr/>
      <dgm:t>
        <a:bodyPr/>
        <a:lstStyle/>
        <a:p>
          <a:endParaRPr lang="en-US"/>
        </a:p>
      </dgm:t>
    </dgm:pt>
    <dgm:pt modelId="{5E1BBA05-9308-458B-B88D-EA0274F68028}" type="pres">
      <dgm:prSet presAssocID="{5179C1E8-7611-4CDA-999B-857C7A3DE1FD}" presName="hierRoot4" presStyleCnt="0"/>
      <dgm:spPr/>
    </dgm:pt>
    <dgm:pt modelId="{AA51F3D0-57E9-484A-8D91-15EE9D0AA841}" type="pres">
      <dgm:prSet presAssocID="{5179C1E8-7611-4CDA-999B-857C7A3DE1FD}" presName="composite4" presStyleCnt="0"/>
      <dgm:spPr/>
    </dgm:pt>
    <dgm:pt modelId="{8545E689-5778-4E33-9C40-5A8CE5AF095E}" type="pres">
      <dgm:prSet presAssocID="{5179C1E8-7611-4CDA-999B-857C7A3DE1FD}" presName="background4" presStyleLbl="node4" presStyleIdx="6" presStyleCnt="8"/>
      <dgm:spPr/>
    </dgm:pt>
    <dgm:pt modelId="{0C571628-E48E-491D-8C56-9C3968FF7E74}" type="pres">
      <dgm:prSet presAssocID="{5179C1E8-7611-4CDA-999B-857C7A3DE1FD}" presName="text4" presStyleLbl="fgAcc4" presStyleIdx="6" presStyleCnt="8" custScaleX="125132" custScaleY="15583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E564469-FF04-4796-8D21-B7A4394476B8}" type="pres">
      <dgm:prSet presAssocID="{5179C1E8-7611-4CDA-999B-857C7A3DE1FD}" presName="hierChild5" presStyleCnt="0"/>
      <dgm:spPr/>
    </dgm:pt>
    <dgm:pt modelId="{26C6B536-5A1C-444F-BEB6-F6C31F67F987}" type="pres">
      <dgm:prSet presAssocID="{C92A9B66-7ADF-40EC-AD11-FDA02CF6DD54}" presName="Name23" presStyleLbl="parChTrans1D4" presStyleIdx="7" presStyleCnt="8"/>
      <dgm:spPr/>
      <dgm:t>
        <a:bodyPr/>
        <a:lstStyle/>
        <a:p>
          <a:endParaRPr lang="en-US"/>
        </a:p>
      </dgm:t>
    </dgm:pt>
    <dgm:pt modelId="{EFD091F2-7EE9-42EE-B2A2-C9BAC67CB4E8}" type="pres">
      <dgm:prSet presAssocID="{75EC71D1-65CE-430C-9D13-58ECD1108219}" presName="hierRoot4" presStyleCnt="0"/>
      <dgm:spPr/>
    </dgm:pt>
    <dgm:pt modelId="{7D5FBA53-6EC2-414A-AFDD-3ABD31CB79F0}" type="pres">
      <dgm:prSet presAssocID="{75EC71D1-65CE-430C-9D13-58ECD1108219}" presName="composite4" presStyleCnt="0"/>
      <dgm:spPr/>
    </dgm:pt>
    <dgm:pt modelId="{74868ED4-D2BB-45B5-AE86-FD32A4C11D4B}" type="pres">
      <dgm:prSet presAssocID="{75EC71D1-65CE-430C-9D13-58ECD1108219}" presName="background4" presStyleLbl="node4" presStyleIdx="7" presStyleCnt="8"/>
      <dgm:spPr/>
    </dgm:pt>
    <dgm:pt modelId="{C97CD5D8-BA61-4A9B-BEE0-00AF96576B2B}" type="pres">
      <dgm:prSet presAssocID="{75EC71D1-65CE-430C-9D13-58ECD1108219}" presName="text4" presStyleLbl="fgAcc4" presStyleIdx="7" presStyleCnt="8" custScaleX="136173" custScaleY="15083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19CE921-EEDC-40E8-B672-F7B263D03DE5}" type="pres">
      <dgm:prSet presAssocID="{75EC71D1-65CE-430C-9D13-58ECD1108219}" presName="hierChild5" presStyleCnt="0"/>
      <dgm:spPr/>
    </dgm:pt>
    <dgm:pt modelId="{0616D85A-4DBA-4ECD-B0C8-BBCD2B2EB60E}" type="pres">
      <dgm:prSet presAssocID="{096539CE-778C-4D4B-BAF3-672B48C04D10}" presName="Name10" presStyleLbl="parChTrans1D2" presStyleIdx="1" presStyleCnt="4"/>
      <dgm:spPr/>
      <dgm:t>
        <a:bodyPr/>
        <a:lstStyle/>
        <a:p>
          <a:endParaRPr lang="en-US"/>
        </a:p>
      </dgm:t>
    </dgm:pt>
    <dgm:pt modelId="{6CC09CBE-6772-43FF-A5FB-8760199DC864}" type="pres">
      <dgm:prSet presAssocID="{497EE28E-AA52-4D9A-B44C-73CA0D899452}" presName="hierRoot2" presStyleCnt="0"/>
      <dgm:spPr/>
    </dgm:pt>
    <dgm:pt modelId="{614B432E-BD94-4D2E-A0BD-C90E811F74FF}" type="pres">
      <dgm:prSet presAssocID="{497EE28E-AA52-4D9A-B44C-73CA0D899452}" presName="composite2" presStyleCnt="0"/>
      <dgm:spPr/>
    </dgm:pt>
    <dgm:pt modelId="{BDAF3C53-3C2E-4E4A-B70D-8D2300FB835A}" type="pres">
      <dgm:prSet presAssocID="{497EE28E-AA52-4D9A-B44C-73CA0D899452}" presName="background2" presStyleLbl="node2" presStyleIdx="1" presStyleCnt="4"/>
      <dgm:spPr/>
    </dgm:pt>
    <dgm:pt modelId="{C7976DF0-733A-4F51-88E9-DFBC1E022584}" type="pres">
      <dgm:prSet presAssocID="{497EE28E-AA52-4D9A-B44C-73CA0D899452}" presName="text2" presStyleLbl="fgAcc2" presStyleIdx="1" presStyleCnt="4" custScaleX="148288" custScaleY="125150" custLinFactNeighborX="3745" custLinFactNeighborY="-4194">
        <dgm:presLayoutVars>
          <dgm:chPref val="3"/>
        </dgm:presLayoutVars>
      </dgm:prSet>
      <dgm:spPr>
        <a:xfrm>
          <a:off x="7641801" y="2466893"/>
          <a:ext cx="1404773" cy="770731"/>
        </a:xfrm>
        <a:prstGeom prst="roundRect">
          <a:avLst>
            <a:gd name="adj" fmla="val 10000"/>
          </a:avLst>
        </a:prstGeom>
      </dgm:spPr>
      <dgm:t>
        <a:bodyPr/>
        <a:lstStyle/>
        <a:p>
          <a:endParaRPr lang="en-US"/>
        </a:p>
      </dgm:t>
    </dgm:pt>
    <dgm:pt modelId="{31E92C2E-FEBB-4E65-949D-DB0CE8A3764E}" type="pres">
      <dgm:prSet presAssocID="{497EE28E-AA52-4D9A-B44C-73CA0D899452}" presName="hierChild3" presStyleCnt="0"/>
      <dgm:spPr/>
    </dgm:pt>
    <dgm:pt modelId="{B0B4EF77-6A16-4AE0-88B3-819F7656374F}" type="pres">
      <dgm:prSet presAssocID="{59FFA4B5-60EA-46D7-97A8-3A8C2310EDE2}" presName="Name10" presStyleLbl="parChTrans1D2" presStyleIdx="2" presStyleCnt="4"/>
      <dgm:spPr/>
      <dgm:t>
        <a:bodyPr/>
        <a:lstStyle/>
        <a:p>
          <a:endParaRPr lang="en-US"/>
        </a:p>
      </dgm:t>
    </dgm:pt>
    <dgm:pt modelId="{85E8DD84-29FC-43E5-B521-87851F93B4EC}" type="pres">
      <dgm:prSet presAssocID="{ABE9C7E5-51B1-4235-AE12-7838319BEA48}" presName="hierRoot2" presStyleCnt="0"/>
      <dgm:spPr/>
    </dgm:pt>
    <dgm:pt modelId="{4FA42B57-F82F-45D7-A83B-7472CDB05123}" type="pres">
      <dgm:prSet presAssocID="{ABE9C7E5-51B1-4235-AE12-7838319BEA48}" presName="composite2" presStyleCnt="0"/>
      <dgm:spPr/>
    </dgm:pt>
    <dgm:pt modelId="{25EC1C09-3745-4EE6-B915-247635F8CBD2}" type="pres">
      <dgm:prSet presAssocID="{ABE9C7E5-51B1-4235-AE12-7838319BEA48}" presName="background2" presStyleLbl="node2" presStyleIdx="2" presStyleCnt="4"/>
      <dgm:spPr/>
    </dgm:pt>
    <dgm:pt modelId="{6EAE43C3-0FBE-48FB-9AA9-D104F2A32242}" type="pres">
      <dgm:prSet presAssocID="{ABE9C7E5-51B1-4235-AE12-7838319BEA48}" presName="text2" presStyleLbl="fgAcc2" presStyleIdx="2" presStyleCnt="4" custScaleX="157139" custScaleY="11626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6E06F5E-D87E-408E-977C-A79D57308016}" type="pres">
      <dgm:prSet presAssocID="{ABE9C7E5-51B1-4235-AE12-7838319BEA48}" presName="hierChild3" presStyleCnt="0"/>
      <dgm:spPr/>
    </dgm:pt>
    <dgm:pt modelId="{84884820-AE92-4C89-AC9D-F522DFE4694B}" type="pres">
      <dgm:prSet presAssocID="{1F5461CF-9AF5-4B6D-AC50-314769382615}" presName="Name10" presStyleLbl="parChTrans1D2" presStyleIdx="3" presStyleCnt="4"/>
      <dgm:spPr/>
      <dgm:t>
        <a:bodyPr/>
        <a:lstStyle/>
        <a:p>
          <a:endParaRPr lang="en-US"/>
        </a:p>
      </dgm:t>
    </dgm:pt>
    <dgm:pt modelId="{9B18FB68-7833-4BCB-B509-663E82EAD08B}" type="pres">
      <dgm:prSet presAssocID="{2694E195-EEAD-4AC2-8FAB-C54147D27E51}" presName="hierRoot2" presStyleCnt="0"/>
      <dgm:spPr/>
    </dgm:pt>
    <dgm:pt modelId="{F14720A0-570D-443C-BC4F-652E6B9F07C4}" type="pres">
      <dgm:prSet presAssocID="{2694E195-EEAD-4AC2-8FAB-C54147D27E51}" presName="composite2" presStyleCnt="0"/>
      <dgm:spPr/>
    </dgm:pt>
    <dgm:pt modelId="{77987726-1818-42DC-B45A-CAFA3938016B}" type="pres">
      <dgm:prSet presAssocID="{2694E195-EEAD-4AC2-8FAB-C54147D27E51}" presName="background2" presStyleLbl="node2" presStyleIdx="3" presStyleCnt="4"/>
      <dgm:spPr/>
    </dgm:pt>
    <dgm:pt modelId="{5CCB79FC-4F8E-4783-B3EB-F43D11816867}" type="pres">
      <dgm:prSet presAssocID="{2694E195-EEAD-4AC2-8FAB-C54147D27E51}" presName="text2" presStyleLbl="fgAcc2" presStyleIdx="3" presStyleCnt="4" custScaleY="11626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D325A3A-6E3B-4061-B369-3950FFA91206}" type="pres">
      <dgm:prSet presAssocID="{2694E195-EEAD-4AC2-8FAB-C54147D27E51}" presName="hierChild3" presStyleCnt="0"/>
      <dgm:spPr/>
    </dgm:pt>
  </dgm:ptLst>
  <dgm:cxnLst>
    <dgm:cxn modelId="{6907487E-825C-44DC-8547-4EC0DDBA69A1}" srcId="{4F1D1207-B347-45A6-B2FF-623ED6832316}" destId="{75EC71D1-65CE-430C-9D13-58ECD1108219}" srcOrd="1" destOrd="0" parTransId="{C92A9B66-7ADF-40EC-AD11-FDA02CF6DD54}" sibTransId="{5A335E01-817F-4207-9EDF-3B6620DC67C1}"/>
    <dgm:cxn modelId="{E47E21CC-4FD0-48FA-B02B-6F22C18505E5}" srcId="{E3FB32F2-A33F-42B0-9A0E-12F8DDBA82CF}" destId="{ABE9C7E5-51B1-4235-AE12-7838319BEA48}" srcOrd="2" destOrd="0" parTransId="{59FFA4B5-60EA-46D7-97A8-3A8C2310EDE2}" sibTransId="{57D3787B-8C07-4031-96A5-ED1143193F50}"/>
    <dgm:cxn modelId="{D12F6F5B-AED9-4534-997E-9C0B28470957}" srcId="{E3FB32F2-A33F-42B0-9A0E-12F8DDBA82CF}" destId="{88A0B7C1-838F-4784-BE93-8D1C30F90E4E}" srcOrd="0" destOrd="0" parTransId="{EDF638B8-EC2A-437B-A2DC-A6B348BD8693}" sibTransId="{F3B8570C-0065-472F-907A-E9FE32BC6B15}"/>
    <dgm:cxn modelId="{B41D7921-1792-42EB-A15A-966600F63136}" type="presOf" srcId="{4F1D1207-B347-45A6-B2FF-623ED6832316}" destId="{27663A7E-231B-4AAF-A523-04D8BCE8290C}" srcOrd="0" destOrd="0" presId="urn:microsoft.com/office/officeart/2005/8/layout/hierarchy1"/>
    <dgm:cxn modelId="{7B1C5AA2-24E7-46B1-A12E-B997F3D237F1}" type="presOf" srcId="{2C14950D-48CC-4689-B7F7-547F7CED3699}" destId="{74F5BD44-E4FF-4C34-9F06-59C1CAB8F656}" srcOrd="0" destOrd="0" presId="urn:microsoft.com/office/officeart/2005/8/layout/hierarchy1"/>
    <dgm:cxn modelId="{A0A166EB-64EA-4B3B-B3F1-D818DADF2C84}" type="presOf" srcId="{1864A25E-5BF5-45E3-9EF3-991DCF9E0521}" destId="{1520E28F-C472-4614-9DC2-247990C1F0CB}" srcOrd="0" destOrd="0" presId="urn:microsoft.com/office/officeart/2005/8/layout/hierarchy1"/>
    <dgm:cxn modelId="{937EFC82-40DC-4F28-95E6-AF0778902F92}" type="presOf" srcId="{1985D0EE-C158-48C6-8402-285E111D7542}" destId="{643F3DD2-C3E7-4280-BE43-6AF90C84FEEB}" srcOrd="0" destOrd="0" presId="urn:microsoft.com/office/officeart/2005/8/layout/hierarchy1"/>
    <dgm:cxn modelId="{CCA9CB0F-F0AF-4CCF-860B-D4F8103F3F3E}" type="presOf" srcId="{152BF109-AE07-4E32-A87B-E7D043E581F9}" destId="{8E0E742A-FCD0-4687-AB27-802D253160DB}" srcOrd="0" destOrd="0" presId="urn:microsoft.com/office/officeart/2005/8/layout/hierarchy1"/>
    <dgm:cxn modelId="{B38DE519-7393-40EC-A347-9EF27D0AAF53}" srcId="{152BF109-AE07-4E32-A87B-E7D043E581F9}" destId="{740DFA4C-DD01-4BB0-9318-B8831BB7C83F}" srcOrd="4" destOrd="0" parTransId="{270A03A5-E89A-499F-9F47-F4AD94D3906B}" sibTransId="{C084316A-DA3C-45C3-AD85-406836CF2936}"/>
    <dgm:cxn modelId="{49DA391B-414D-4D49-BB9E-3B02664B5DC7}" type="presOf" srcId="{5179C1E8-7611-4CDA-999B-857C7A3DE1FD}" destId="{0C571628-E48E-491D-8C56-9C3968FF7E74}" srcOrd="0" destOrd="0" presId="urn:microsoft.com/office/officeart/2005/8/layout/hierarchy1"/>
    <dgm:cxn modelId="{06A8DD04-2732-4085-889D-BEABF3E3695B}" type="presOf" srcId="{D818E4DB-399C-4682-B2F8-9BA374EE63E9}" destId="{C485710A-D795-4A5A-B1B2-AB636ABBF22B}" srcOrd="0" destOrd="0" presId="urn:microsoft.com/office/officeart/2005/8/layout/hierarchy1"/>
    <dgm:cxn modelId="{69FFEE3B-C259-4E03-BFE5-9F16BDFB03E7}" type="presOf" srcId="{B2B51D17-CD66-4977-9705-1A079265D4DF}" destId="{8AC82886-3F12-42B3-8763-5A49193FDDED}" srcOrd="0" destOrd="0" presId="urn:microsoft.com/office/officeart/2005/8/layout/hierarchy1"/>
    <dgm:cxn modelId="{13BBB38C-DCCC-4DDC-A22B-3777CC21FC90}" srcId="{152BF109-AE07-4E32-A87B-E7D043E581F9}" destId="{91F748D5-5ECA-4BBA-BDD0-5FA64D3A4F8E}" srcOrd="0" destOrd="0" parTransId="{2C14950D-48CC-4689-B7F7-547F7CED3699}" sibTransId="{C1F871BD-6321-4C49-BD77-8B1AEB4C666C}"/>
    <dgm:cxn modelId="{49C65639-1F9B-4253-A08B-940C4FDB82AF}" type="presOf" srcId="{740DFA4C-DD01-4BB0-9318-B8831BB7C83F}" destId="{99023944-12F7-4D5F-82E9-B0E4CAD50D75}" srcOrd="0" destOrd="0" presId="urn:microsoft.com/office/officeart/2005/8/layout/hierarchy1"/>
    <dgm:cxn modelId="{26B261FF-E93C-4A76-A712-F0FCFA22D7B3}" type="presOf" srcId="{13B6B054-C49D-4C53-B3C3-914BE4C23B72}" destId="{A67998CD-D9CF-4D55-8208-CDF2FCCE6CED}" srcOrd="0" destOrd="0" presId="urn:microsoft.com/office/officeart/2005/8/layout/hierarchy1"/>
    <dgm:cxn modelId="{EE190428-C3E8-4DEF-AC8E-B93F3CBED600}" type="presOf" srcId="{59FFA4B5-60EA-46D7-97A8-3A8C2310EDE2}" destId="{B0B4EF77-6A16-4AE0-88B3-819F7656374F}" srcOrd="0" destOrd="0" presId="urn:microsoft.com/office/officeart/2005/8/layout/hierarchy1"/>
    <dgm:cxn modelId="{27B4ECF9-0016-4B01-B367-8A53207BC130}" type="presOf" srcId="{C92A9B66-7ADF-40EC-AD11-FDA02CF6DD54}" destId="{26C6B536-5A1C-444F-BEB6-F6C31F67F987}" srcOrd="0" destOrd="0" presId="urn:microsoft.com/office/officeart/2005/8/layout/hierarchy1"/>
    <dgm:cxn modelId="{CFF9DF29-561A-4620-B815-B154DFFC9242}" type="presOf" srcId="{EDF638B8-EC2A-437B-A2DC-A6B348BD8693}" destId="{3F8277CB-C94D-48B3-9CEF-6F340B71234D}" srcOrd="0" destOrd="0" presId="urn:microsoft.com/office/officeart/2005/8/layout/hierarchy1"/>
    <dgm:cxn modelId="{83B8416A-4506-4013-9849-103F3F51357A}" type="presOf" srcId="{6A6BE533-E9A2-4AE8-BADC-B963F01CE4D8}" destId="{2ABA19E2-E735-423F-93C4-D70C6A01A3EA}" srcOrd="0" destOrd="0" presId="urn:microsoft.com/office/officeart/2005/8/layout/hierarchy1"/>
    <dgm:cxn modelId="{C1E4533B-EDB0-4057-A4DD-D475056E8A0C}" srcId="{88A0B7C1-838F-4784-BE93-8D1C30F90E4E}" destId="{4F1D1207-B347-45A6-B2FF-623ED6832316}" srcOrd="1" destOrd="0" parTransId="{6A6BE533-E9A2-4AE8-BADC-B963F01CE4D8}" sibTransId="{450D2BB9-9B15-405B-84D8-6DC51A3FD87D}"/>
    <dgm:cxn modelId="{47DB008A-D6AD-4E76-89A0-6367B99FB434}" srcId="{E3FB32F2-A33F-42B0-9A0E-12F8DDBA82CF}" destId="{2694E195-EEAD-4AC2-8FAB-C54147D27E51}" srcOrd="3" destOrd="0" parTransId="{1F5461CF-9AF5-4B6D-AC50-314769382615}" sibTransId="{BC026213-E4B1-43BF-BE97-31AE337E7B5A}"/>
    <dgm:cxn modelId="{0F65DBA6-B21D-4C50-890A-47758CE22A94}" srcId="{152BF109-AE07-4E32-A87B-E7D043E581F9}" destId="{13B6B054-C49D-4C53-B3C3-914BE4C23B72}" srcOrd="5" destOrd="0" parTransId="{F8490947-3648-4765-BE37-2C5017CF6657}" sibTransId="{BC3BA6C3-E19E-4350-8B0B-321071229401}"/>
    <dgm:cxn modelId="{7B303CB9-290B-4296-89CE-1476D1B0A79B}" type="presOf" srcId="{096539CE-778C-4D4B-BAF3-672B48C04D10}" destId="{0616D85A-4DBA-4ECD-B0C8-BBCD2B2EB60E}" srcOrd="0" destOrd="0" presId="urn:microsoft.com/office/officeart/2005/8/layout/hierarchy1"/>
    <dgm:cxn modelId="{647EF4BA-2442-491D-8A71-6F9C4F9C91A8}" type="presOf" srcId="{42564AA5-AE96-420C-B2A1-D3C89F08053B}" destId="{5BE6FB09-8319-422A-A345-F3043485EB04}" srcOrd="0" destOrd="0" presId="urn:microsoft.com/office/officeart/2005/8/layout/hierarchy1"/>
    <dgm:cxn modelId="{8B5EBB0A-7313-49B9-8E78-6EA4580B315A}" type="presOf" srcId="{91F748D5-5ECA-4BBA-BDD0-5FA64D3A4F8E}" destId="{64461C01-4490-4F77-A558-BFD4658A9AE1}" srcOrd="0" destOrd="0" presId="urn:microsoft.com/office/officeart/2005/8/layout/hierarchy1"/>
    <dgm:cxn modelId="{09814253-0969-49B2-A3C7-EF1497D9763C}" type="presOf" srcId="{ABE9C7E5-51B1-4235-AE12-7838319BEA48}" destId="{6EAE43C3-0FBE-48FB-9AA9-D104F2A32242}" srcOrd="0" destOrd="0" presId="urn:microsoft.com/office/officeart/2005/8/layout/hierarchy1"/>
    <dgm:cxn modelId="{29A3DD7B-8D48-4A22-BE7C-F42BE8E3E1A4}" srcId="{88A0B7C1-838F-4784-BE93-8D1C30F90E4E}" destId="{152BF109-AE07-4E32-A87B-E7D043E581F9}" srcOrd="0" destOrd="0" parTransId="{9606DAB1-CF15-44CE-8933-9445F82E41FC}" sibTransId="{4717AE62-8C3A-44DE-9AD1-ADEA1E86C272}"/>
    <dgm:cxn modelId="{167F1C8E-5576-445C-9517-E4E535A0D513}" type="presOf" srcId="{270A03A5-E89A-499F-9F47-F4AD94D3906B}" destId="{132F47E2-AB96-4CED-8F1D-E5E29DA6F9FE}" srcOrd="0" destOrd="0" presId="urn:microsoft.com/office/officeart/2005/8/layout/hierarchy1"/>
    <dgm:cxn modelId="{4F67EDFB-8405-4FB7-8030-48ABD0B07D1F}" type="presOf" srcId="{2694E195-EEAD-4AC2-8FAB-C54147D27E51}" destId="{5CCB79FC-4F8E-4783-B3EB-F43D11816867}" srcOrd="0" destOrd="0" presId="urn:microsoft.com/office/officeart/2005/8/layout/hierarchy1"/>
    <dgm:cxn modelId="{A294BB3F-B6E0-47EF-82B2-1A6833E3AF58}" type="presOf" srcId="{497EE28E-AA52-4D9A-B44C-73CA0D899452}" destId="{C7976DF0-733A-4F51-88E9-DFBC1E022584}" srcOrd="0" destOrd="0" presId="urn:microsoft.com/office/officeart/2005/8/layout/hierarchy1"/>
    <dgm:cxn modelId="{65F439D4-1CEE-43F8-9CB7-003586C2B65F}" srcId="{4F1D1207-B347-45A6-B2FF-623ED6832316}" destId="{5179C1E8-7611-4CDA-999B-857C7A3DE1FD}" srcOrd="0" destOrd="0" parTransId="{D818E4DB-399C-4682-B2F8-9BA374EE63E9}" sibTransId="{48134677-8DA1-4CE7-BBEF-6B20C6E1B83A}"/>
    <dgm:cxn modelId="{2A41CC5C-88D7-4D72-B3EC-B0DC4BA81403}" type="presOf" srcId="{75EC71D1-65CE-430C-9D13-58ECD1108219}" destId="{C97CD5D8-BA61-4A9B-BEE0-00AF96576B2B}" srcOrd="0" destOrd="0" presId="urn:microsoft.com/office/officeart/2005/8/layout/hierarchy1"/>
    <dgm:cxn modelId="{4BC8E554-61F8-4475-9DDD-0A60C4A6D439}" type="presOf" srcId="{E3FB32F2-A33F-42B0-9A0E-12F8DDBA82CF}" destId="{6CE112DD-4EF1-434B-8544-1057E38A994B}" srcOrd="0" destOrd="0" presId="urn:microsoft.com/office/officeart/2005/8/layout/hierarchy1"/>
    <dgm:cxn modelId="{EE637349-457B-45E3-8E45-3D861A15E95A}" srcId="{152BF109-AE07-4E32-A87B-E7D043E581F9}" destId="{112244CD-780C-469D-B6AB-4C46EBCAE494}" srcOrd="1" destOrd="0" parTransId="{0AF51E36-8561-4825-A944-A387EF66104D}" sibTransId="{D8410774-FEA5-470C-95B4-7EBEF8225CF6}"/>
    <dgm:cxn modelId="{17DF7418-8248-4C8F-8D86-647BC285C3AC}" srcId="{41824D59-98B7-4EC9-B71F-365B5E327FFF}" destId="{E3FB32F2-A33F-42B0-9A0E-12F8DDBA82CF}" srcOrd="0" destOrd="0" parTransId="{0D3A0A24-3BCB-4F83-A987-B51FBC8D0487}" sibTransId="{5F4D250D-F071-434C-BF05-2AE607BACB4A}"/>
    <dgm:cxn modelId="{E2CD2C19-A380-43F1-96C6-19956D81C8BA}" type="presOf" srcId="{9606DAB1-CF15-44CE-8933-9445F82E41FC}" destId="{5490DAE6-CC64-4D99-92F9-841B490ED3CF}" srcOrd="0" destOrd="0" presId="urn:microsoft.com/office/officeart/2005/8/layout/hierarchy1"/>
    <dgm:cxn modelId="{94416161-9967-42CB-828B-87B8AB126335}" srcId="{152BF109-AE07-4E32-A87B-E7D043E581F9}" destId="{42564AA5-AE96-420C-B2A1-D3C89F08053B}" srcOrd="2" destOrd="0" parTransId="{1985D0EE-C158-48C6-8402-285E111D7542}" sibTransId="{13EF90DF-3CAE-493B-A1CF-173ABBCEC600}"/>
    <dgm:cxn modelId="{0F4F6308-CB9D-424A-9798-319284352711}" type="presOf" srcId="{F8490947-3648-4765-BE37-2C5017CF6657}" destId="{D2C3BAC0-6679-4846-A9BC-2099A335B091}" srcOrd="0" destOrd="0" presId="urn:microsoft.com/office/officeart/2005/8/layout/hierarchy1"/>
    <dgm:cxn modelId="{E1E146BE-F232-4D29-A3B5-090060372721}" type="presOf" srcId="{41824D59-98B7-4EC9-B71F-365B5E327FFF}" destId="{AB26F67E-706B-4967-9388-062116FE8601}" srcOrd="0" destOrd="0" presId="urn:microsoft.com/office/officeart/2005/8/layout/hierarchy1"/>
    <dgm:cxn modelId="{1E901D0B-3D33-4F78-8995-2744E174ED75}" type="presOf" srcId="{112244CD-780C-469D-B6AB-4C46EBCAE494}" destId="{6FF63002-D2FA-40A0-845B-5E75555871AC}" srcOrd="0" destOrd="0" presId="urn:microsoft.com/office/officeart/2005/8/layout/hierarchy1"/>
    <dgm:cxn modelId="{49BDB9B6-B0DC-4BF8-9866-AD07CCB21200}" srcId="{E3FB32F2-A33F-42B0-9A0E-12F8DDBA82CF}" destId="{497EE28E-AA52-4D9A-B44C-73CA0D899452}" srcOrd="1" destOrd="0" parTransId="{096539CE-778C-4D4B-BAF3-672B48C04D10}" sibTransId="{633F0DAF-5946-446F-9C99-EE2D872636E8}"/>
    <dgm:cxn modelId="{56B09408-217F-4239-9EC6-8357650121AC}" type="presOf" srcId="{1F5461CF-9AF5-4B6D-AC50-314769382615}" destId="{84884820-AE92-4C89-AC9D-F522DFE4694B}" srcOrd="0" destOrd="0" presId="urn:microsoft.com/office/officeart/2005/8/layout/hierarchy1"/>
    <dgm:cxn modelId="{3A6A1E02-7EA6-40A9-9ADC-9ED787809D9D}" srcId="{152BF109-AE07-4E32-A87B-E7D043E581F9}" destId="{B2B51D17-CD66-4977-9705-1A079265D4DF}" srcOrd="3" destOrd="0" parTransId="{1864A25E-5BF5-45E3-9EF3-991DCF9E0521}" sibTransId="{42CA34F4-01A0-42D9-8C31-FB8CC2A1377C}"/>
    <dgm:cxn modelId="{3C3A6F57-A3A8-4FB9-9C18-BE675201BEB9}" type="presOf" srcId="{0AF51E36-8561-4825-A944-A387EF66104D}" destId="{5843E4C6-1CA5-4EC4-92E1-4A747E4E09CE}" srcOrd="0" destOrd="0" presId="urn:microsoft.com/office/officeart/2005/8/layout/hierarchy1"/>
    <dgm:cxn modelId="{1A3F74C9-DC06-48B3-B7C8-1CADBAEC9B2C}" type="presOf" srcId="{88A0B7C1-838F-4784-BE93-8D1C30F90E4E}" destId="{8A7565B0-6007-41F6-BE07-FF64E2A3AFB7}" srcOrd="0" destOrd="0" presId="urn:microsoft.com/office/officeart/2005/8/layout/hierarchy1"/>
    <dgm:cxn modelId="{544D4E7A-4787-4229-8413-CAC382FFE0D0}" type="presParOf" srcId="{AB26F67E-706B-4967-9388-062116FE8601}" destId="{DF90F940-AEAB-464C-8045-7B60F5F0C03E}" srcOrd="0" destOrd="0" presId="urn:microsoft.com/office/officeart/2005/8/layout/hierarchy1"/>
    <dgm:cxn modelId="{C7CEDA7E-8318-419B-A43F-63EE77578AD0}" type="presParOf" srcId="{DF90F940-AEAB-464C-8045-7B60F5F0C03E}" destId="{8F5F8D0D-C928-40E3-922B-C51DE7C9CFF7}" srcOrd="0" destOrd="0" presId="urn:microsoft.com/office/officeart/2005/8/layout/hierarchy1"/>
    <dgm:cxn modelId="{0CC9D4D9-32E6-4632-8EBD-A47946EE5905}" type="presParOf" srcId="{8F5F8D0D-C928-40E3-922B-C51DE7C9CFF7}" destId="{57E343A1-ECC0-4DD3-90EB-5C15C37C3A25}" srcOrd="0" destOrd="0" presId="urn:microsoft.com/office/officeart/2005/8/layout/hierarchy1"/>
    <dgm:cxn modelId="{A287E66C-C5EB-41C5-815F-670D1A913E67}" type="presParOf" srcId="{8F5F8D0D-C928-40E3-922B-C51DE7C9CFF7}" destId="{6CE112DD-4EF1-434B-8544-1057E38A994B}" srcOrd="1" destOrd="0" presId="urn:microsoft.com/office/officeart/2005/8/layout/hierarchy1"/>
    <dgm:cxn modelId="{DABA7EDE-52A3-4AF5-A154-6E38B236029F}" type="presParOf" srcId="{DF90F940-AEAB-464C-8045-7B60F5F0C03E}" destId="{69106503-1226-44AF-9EF7-52557AE4B812}" srcOrd="1" destOrd="0" presId="urn:microsoft.com/office/officeart/2005/8/layout/hierarchy1"/>
    <dgm:cxn modelId="{8A9A2750-8E74-4E43-98F8-A5267F588E9B}" type="presParOf" srcId="{69106503-1226-44AF-9EF7-52557AE4B812}" destId="{3F8277CB-C94D-48B3-9CEF-6F340B71234D}" srcOrd="0" destOrd="0" presId="urn:microsoft.com/office/officeart/2005/8/layout/hierarchy1"/>
    <dgm:cxn modelId="{3B3B95AE-C57C-43A8-BA53-6E1E7B484194}" type="presParOf" srcId="{69106503-1226-44AF-9EF7-52557AE4B812}" destId="{6937A29A-2226-4AE6-B870-94FFBB78FA0E}" srcOrd="1" destOrd="0" presId="urn:microsoft.com/office/officeart/2005/8/layout/hierarchy1"/>
    <dgm:cxn modelId="{F545D317-B512-4C6A-808F-AC6C9E2DF5F0}" type="presParOf" srcId="{6937A29A-2226-4AE6-B870-94FFBB78FA0E}" destId="{A5CB2DD5-6C91-468C-998E-CE55C6435927}" srcOrd="0" destOrd="0" presId="urn:microsoft.com/office/officeart/2005/8/layout/hierarchy1"/>
    <dgm:cxn modelId="{6CC4E8C5-B899-4445-8386-43175FD6ECB9}" type="presParOf" srcId="{A5CB2DD5-6C91-468C-998E-CE55C6435927}" destId="{70B1E89D-4002-42C4-82AD-2B8B08E9318B}" srcOrd="0" destOrd="0" presId="urn:microsoft.com/office/officeart/2005/8/layout/hierarchy1"/>
    <dgm:cxn modelId="{3A62B222-84AF-4E8B-898B-53AEDDBE3ADE}" type="presParOf" srcId="{A5CB2DD5-6C91-468C-998E-CE55C6435927}" destId="{8A7565B0-6007-41F6-BE07-FF64E2A3AFB7}" srcOrd="1" destOrd="0" presId="urn:microsoft.com/office/officeart/2005/8/layout/hierarchy1"/>
    <dgm:cxn modelId="{6DEC3506-F0A2-4307-890A-AC0354EC02DD}" type="presParOf" srcId="{6937A29A-2226-4AE6-B870-94FFBB78FA0E}" destId="{4794EDAA-4387-435F-859D-CC173FD2F70D}" srcOrd="1" destOrd="0" presId="urn:microsoft.com/office/officeart/2005/8/layout/hierarchy1"/>
    <dgm:cxn modelId="{3158A15D-E81A-4AEE-A355-B3160CD327FA}" type="presParOf" srcId="{4794EDAA-4387-435F-859D-CC173FD2F70D}" destId="{5490DAE6-CC64-4D99-92F9-841B490ED3CF}" srcOrd="0" destOrd="0" presId="urn:microsoft.com/office/officeart/2005/8/layout/hierarchy1"/>
    <dgm:cxn modelId="{F219F592-5FAF-41D0-ABC1-AEF4B4CAC261}" type="presParOf" srcId="{4794EDAA-4387-435F-859D-CC173FD2F70D}" destId="{DBCEAB1A-3368-48F0-93D7-5DE536F7CD0D}" srcOrd="1" destOrd="0" presId="urn:microsoft.com/office/officeart/2005/8/layout/hierarchy1"/>
    <dgm:cxn modelId="{77519EFA-F470-41EE-9910-E3477F996638}" type="presParOf" srcId="{DBCEAB1A-3368-48F0-93D7-5DE536F7CD0D}" destId="{11F16289-0459-438F-BBD2-0ACF0F769B00}" srcOrd="0" destOrd="0" presId="urn:microsoft.com/office/officeart/2005/8/layout/hierarchy1"/>
    <dgm:cxn modelId="{22C69BBF-12DC-405C-8DCE-E92327D451C4}" type="presParOf" srcId="{11F16289-0459-438F-BBD2-0ACF0F769B00}" destId="{831B3E6E-2988-4756-B3B8-8A575AC18DAF}" srcOrd="0" destOrd="0" presId="urn:microsoft.com/office/officeart/2005/8/layout/hierarchy1"/>
    <dgm:cxn modelId="{EAB33548-52CE-43D0-9255-29DC64D0BBF4}" type="presParOf" srcId="{11F16289-0459-438F-BBD2-0ACF0F769B00}" destId="{8E0E742A-FCD0-4687-AB27-802D253160DB}" srcOrd="1" destOrd="0" presId="urn:microsoft.com/office/officeart/2005/8/layout/hierarchy1"/>
    <dgm:cxn modelId="{BA945D85-F79B-4AAB-8767-F2981EB05261}" type="presParOf" srcId="{DBCEAB1A-3368-48F0-93D7-5DE536F7CD0D}" destId="{CFC2F4E0-92F8-4307-B28B-3D508E2BE6E3}" srcOrd="1" destOrd="0" presId="urn:microsoft.com/office/officeart/2005/8/layout/hierarchy1"/>
    <dgm:cxn modelId="{031C3159-7363-4698-B9F2-10D3E17565DC}" type="presParOf" srcId="{CFC2F4E0-92F8-4307-B28B-3D508E2BE6E3}" destId="{74F5BD44-E4FF-4C34-9F06-59C1CAB8F656}" srcOrd="0" destOrd="0" presId="urn:microsoft.com/office/officeart/2005/8/layout/hierarchy1"/>
    <dgm:cxn modelId="{7FF351A2-0164-4E76-80D9-ADE02C4B1BBC}" type="presParOf" srcId="{CFC2F4E0-92F8-4307-B28B-3D508E2BE6E3}" destId="{5CF9550B-67D9-4654-9ED0-482F8BE6F317}" srcOrd="1" destOrd="0" presId="urn:microsoft.com/office/officeart/2005/8/layout/hierarchy1"/>
    <dgm:cxn modelId="{6A5AFF48-9742-4EFF-B55F-39ADA85603E4}" type="presParOf" srcId="{5CF9550B-67D9-4654-9ED0-482F8BE6F317}" destId="{14EC7192-4688-4B6C-BA64-97DEA3571D9D}" srcOrd="0" destOrd="0" presId="urn:microsoft.com/office/officeart/2005/8/layout/hierarchy1"/>
    <dgm:cxn modelId="{3EBD00BE-FBAF-4992-B203-AE3494701CFB}" type="presParOf" srcId="{14EC7192-4688-4B6C-BA64-97DEA3571D9D}" destId="{E941C6B2-A95E-4873-ACC7-B686312ECB2B}" srcOrd="0" destOrd="0" presId="urn:microsoft.com/office/officeart/2005/8/layout/hierarchy1"/>
    <dgm:cxn modelId="{C0D38A5C-CE21-4A73-912F-52FBB1D900A3}" type="presParOf" srcId="{14EC7192-4688-4B6C-BA64-97DEA3571D9D}" destId="{64461C01-4490-4F77-A558-BFD4658A9AE1}" srcOrd="1" destOrd="0" presId="urn:microsoft.com/office/officeart/2005/8/layout/hierarchy1"/>
    <dgm:cxn modelId="{D4C6322C-D065-48A9-854E-C88CD2827219}" type="presParOf" srcId="{5CF9550B-67D9-4654-9ED0-482F8BE6F317}" destId="{6243D570-9E39-4EBC-BCB1-3F5FE79FC479}" srcOrd="1" destOrd="0" presId="urn:microsoft.com/office/officeart/2005/8/layout/hierarchy1"/>
    <dgm:cxn modelId="{E143D95E-0F14-479F-8FD4-0AFDBF616CB6}" type="presParOf" srcId="{CFC2F4E0-92F8-4307-B28B-3D508E2BE6E3}" destId="{5843E4C6-1CA5-4EC4-92E1-4A747E4E09CE}" srcOrd="2" destOrd="0" presId="urn:microsoft.com/office/officeart/2005/8/layout/hierarchy1"/>
    <dgm:cxn modelId="{2DF68729-5DD2-42F1-86AA-AF228285C39E}" type="presParOf" srcId="{CFC2F4E0-92F8-4307-B28B-3D508E2BE6E3}" destId="{ED6E5BDB-B842-431D-A3E9-9E0AE94C64FA}" srcOrd="3" destOrd="0" presId="urn:microsoft.com/office/officeart/2005/8/layout/hierarchy1"/>
    <dgm:cxn modelId="{4046F90F-2ED4-44D9-9709-9AFD2C47F570}" type="presParOf" srcId="{ED6E5BDB-B842-431D-A3E9-9E0AE94C64FA}" destId="{56F6B324-F6D7-4C94-BA6D-56F8E8B93A27}" srcOrd="0" destOrd="0" presId="urn:microsoft.com/office/officeart/2005/8/layout/hierarchy1"/>
    <dgm:cxn modelId="{16FA26C8-94C9-4D5F-BCBE-E28F12E5243B}" type="presParOf" srcId="{56F6B324-F6D7-4C94-BA6D-56F8E8B93A27}" destId="{54B42F7D-739D-440D-B356-945CA6564C57}" srcOrd="0" destOrd="0" presId="urn:microsoft.com/office/officeart/2005/8/layout/hierarchy1"/>
    <dgm:cxn modelId="{DF42B11D-98F2-4B51-852C-2C7C8A959F9A}" type="presParOf" srcId="{56F6B324-F6D7-4C94-BA6D-56F8E8B93A27}" destId="{6FF63002-D2FA-40A0-845B-5E75555871AC}" srcOrd="1" destOrd="0" presId="urn:microsoft.com/office/officeart/2005/8/layout/hierarchy1"/>
    <dgm:cxn modelId="{553D21E8-4189-4013-97D1-17C189DEF17D}" type="presParOf" srcId="{ED6E5BDB-B842-431D-A3E9-9E0AE94C64FA}" destId="{F7513BE5-69F9-4B41-A940-85F06F4F4293}" srcOrd="1" destOrd="0" presId="urn:microsoft.com/office/officeart/2005/8/layout/hierarchy1"/>
    <dgm:cxn modelId="{9D0BA0FD-0ED9-4A9D-BADE-ACD4646557A2}" type="presParOf" srcId="{CFC2F4E0-92F8-4307-B28B-3D508E2BE6E3}" destId="{643F3DD2-C3E7-4280-BE43-6AF90C84FEEB}" srcOrd="4" destOrd="0" presId="urn:microsoft.com/office/officeart/2005/8/layout/hierarchy1"/>
    <dgm:cxn modelId="{C8FAF35A-3F18-4B29-8F2F-E3DADF78DAC0}" type="presParOf" srcId="{CFC2F4E0-92F8-4307-B28B-3D508E2BE6E3}" destId="{01B2EB65-EA20-4FC4-A132-E6274384A3D4}" srcOrd="5" destOrd="0" presId="urn:microsoft.com/office/officeart/2005/8/layout/hierarchy1"/>
    <dgm:cxn modelId="{5F0E9147-0D1F-41A9-BF48-42331EC02D9C}" type="presParOf" srcId="{01B2EB65-EA20-4FC4-A132-E6274384A3D4}" destId="{8A2A7CB4-212C-42D7-A4A1-D807CE7FDB6B}" srcOrd="0" destOrd="0" presId="urn:microsoft.com/office/officeart/2005/8/layout/hierarchy1"/>
    <dgm:cxn modelId="{565C35BA-B30E-4FED-9659-640C32839170}" type="presParOf" srcId="{8A2A7CB4-212C-42D7-A4A1-D807CE7FDB6B}" destId="{DC690ED2-3B0A-40BD-8DD0-F4825D0C239A}" srcOrd="0" destOrd="0" presId="urn:microsoft.com/office/officeart/2005/8/layout/hierarchy1"/>
    <dgm:cxn modelId="{279B52A4-84D1-4496-8427-F6B149300008}" type="presParOf" srcId="{8A2A7CB4-212C-42D7-A4A1-D807CE7FDB6B}" destId="{5BE6FB09-8319-422A-A345-F3043485EB04}" srcOrd="1" destOrd="0" presId="urn:microsoft.com/office/officeart/2005/8/layout/hierarchy1"/>
    <dgm:cxn modelId="{4C22DE95-F1F2-4423-8292-D12E6CBCBB91}" type="presParOf" srcId="{01B2EB65-EA20-4FC4-A132-E6274384A3D4}" destId="{D0480147-BAB7-46BA-985A-006DFDFBAC05}" srcOrd="1" destOrd="0" presId="urn:microsoft.com/office/officeart/2005/8/layout/hierarchy1"/>
    <dgm:cxn modelId="{78037A8B-9789-4716-9D9D-C7BE600261AE}" type="presParOf" srcId="{CFC2F4E0-92F8-4307-B28B-3D508E2BE6E3}" destId="{1520E28F-C472-4614-9DC2-247990C1F0CB}" srcOrd="6" destOrd="0" presId="urn:microsoft.com/office/officeart/2005/8/layout/hierarchy1"/>
    <dgm:cxn modelId="{FE72588C-8883-4D5D-A526-0D0A0D215A6D}" type="presParOf" srcId="{CFC2F4E0-92F8-4307-B28B-3D508E2BE6E3}" destId="{16A29430-31DF-41B8-B5D8-31B4EB337A4D}" srcOrd="7" destOrd="0" presId="urn:microsoft.com/office/officeart/2005/8/layout/hierarchy1"/>
    <dgm:cxn modelId="{4BF37B55-E864-425D-9CAF-C3D580FD7C5C}" type="presParOf" srcId="{16A29430-31DF-41B8-B5D8-31B4EB337A4D}" destId="{5D6BE7E8-C21F-44D2-A540-1DAB6A1DA0C7}" srcOrd="0" destOrd="0" presId="urn:microsoft.com/office/officeart/2005/8/layout/hierarchy1"/>
    <dgm:cxn modelId="{F9571D6F-489B-49CD-BB78-494B303CA620}" type="presParOf" srcId="{5D6BE7E8-C21F-44D2-A540-1DAB6A1DA0C7}" destId="{E90AAC47-202E-4E5A-9818-EF368F9F2DD1}" srcOrd="0" destOrd="0" presId="urn:microsoft.com/office/officeart/2005/8/layout/hierarchy1"/>
    <dgm:cxn modelId="{29B368E2-1786-4B8F-984E-732D2303E175}" type="presParOf" srcId="{5D6BE7E8-C21F-44D2-A540-1DAB6A1DA0C7}" destId="{8AC82886-3F12-42B3-8763-5A49193FDDED}" srcOrd="1" destOrd="0" presId="urn:microsoft.com/office/officeart/2005/8/layout/hierarchy1"/>
    <dgm:cxn modelId="{18DDBD6E-BF71-4112-A986-0585D4950C66}" type="presParOf" srcId="{16A29430-31DF-41B8-B5D8-31B4EB337A4D}" destId="{FDF3D670-F3A0-4BED-842E-E599391676AF}" srcOrd="1" destOrd="0" presId="urn:microsoft.com/office/officeart/2005/8/layout/hierarchy1"/>
    <dgm:cxn modelId="{03729D31-0A08-4D94-84EF-95779A047E0E}" type="presParOf" srcId="{CFC2F4E0-92F8-4307-B28B-3D508E2BE6E3}" destId="{132F47E2-AB96-4CED-8F1D-E5E29DA6F9FE}" srcOrd="8" destOrd="0" presId="urn:microsoft.com/office/officeart/2005/8/layout/hierarchy1"/>
    <dgm:cxn modelId="{4BB7357E-BA03-4C1D-82E9-C9F101E2EDB4}" type="presParOf" srcId="{CFC2F4E0-92F8-4307-B28B-3D508E2BE6E3}" destId="{AD7F49C5-D95F-4B13-8BDB-F2CEC22E996D}" srcOrd="9" destOrd="0" presId="urn:microsoft.com/office/officeart/2005/8/layout/hierarchy1"/>
    <dgm:cxn modelId="{A4BC7F7B-3C24-446E-A9FF-830AE99F2557}" type="presParOf" srcId="{AD7F49C5-D95F-4B13-8BDB-F2CEC22E996D}" destId="{2913107E-3691-46D7-8D3B-09CDB045DAF7}" srcOrd="0" destOrd="0" presId="urn:microsoft.com/office/officeart/2005/8/layout/hierarchy1"/>
    <dgm:cxn modelId="{FF2CD91B-3DC8-48E7-8D5D-62EF5C153016}" type="presParOf" srcId="{2913107E-3691-46D7-8D3B-09CDB045DAF7}" destId="{84C50D94-79A2-4CBB-B2BE-D678DFE8BE59}" srcOrd="0" destOrd="0" presId="urn:microsoft.com/office/officeart/2005/8/layout/hierarchy1"/>
    <dgm:cxn modelId="{B8B4B9FC-28AD-424B-82FC-32C4E83742AB}" type="presParOf" srcId="{2913107E-3691-46D7-8D3B-09CDB045DAF7}" destId="{99023944-12F7-4D5F-82E9-B0E4CAD50D75}" srcOrd="1" destOrd="0" presId="urn:microsoft.com/office/officeart/2005/8/layout/hierarchy1"/>
    <dgm:cxn modelId="{8D9A1A6C-72F9-4D64-8DCB-75FE4DC6A487}" type="presParOf" srcId="{AD7F49C5-D95F-4B13-8BDB-F2CEC22E996D}" destId="{1496ED4E-A370-479B-BB94-55AB08D490ED}" srcOrd="1" destOrd="0" presId="urn:microsoft.com/office/officeart/2005/8/layout/hierarchy1"/>
    <dgm:cxn modelId="{822F99EE-7AF4-48E2-86AD-466A66DC6190}" type="presParOf" srcId="{CFC2F4E0-92F8-4307-B28B-3D508E2BE6E3}" destId="{D2C3BAC0-6679-4846-A9BC-2099A335B091}" srcOrd="10" destOrd="0" presId="urn:microsoft.com/office/officeart/2005/8/layout/hierarchy1"/>
    <dgm:cxn modelId="{DA16A24F-6169-44FC-BDFB-D32679A968A4}" type="presParOf" srcId="{CFC2F4E0-92F8-4307-B28B-3D508E2BE6E3}" destId="{05E53E77-9AE3-48F9-B36D-F005BCC361FE}" srcOrd="11" destOrd="0" presId="urn:microsoft.com/office/officeart/2005/8/layout/hierarchy1"/>
    <dgm:cxn modelId="{C1182B8E-6B64-445D-A9EC-FC4477FF69CF}" type="presParOf" srcId="{05E53E77-9AE3-48F9-B36D-F005BCC361FE}" destId="{FDE2FA43-36A1-416E-8090-7E6C7E7524E3}" srcOrd="0" destOrd="0" presId="urn:microsoft.com/office/officeart/2005/8/layout/hierarchy1"/>
    <dgm:cxn modelId="{57545179-6BCA-4B28-9F2B-A0DF78FF805A}" type="presParOf" srcId="{FDE2FA43-36A1-416E-8090-7E6C7E7524E3}" destId="{33D32D85-3396-4966-92BC-4309C399680A}" srcOrd="0" destOrd="0" presId="urn:microsoft.com/office/officeart/2005/8/layout/hierarchy1"/>
    <dgm:cxn modelId="{7305E87C-D37E-4D25-96D2-5C8876B8A35D}" type="presParOf" srcId="{FDE2FA43-36A1-416E-8090-7E6C7E7524E3}" destId="{A67998CD-D9CF-4D55-8208-CDF2FCCE6CED}" srcOrd="1" destOrd="0" presId="urn:microsoft.com/office/officeart/2005/8/layout/hierarchy1"/>
    <dgm:cxn modelId="{1E99ACAF-9248-4FE6-A93C-02B33C86F7DD}" type="presParOf" srcId="{05E53E77-9AE3-48F9-B36D-F005BCC361FE}" destId="{15DA0AC9-8D59-4C60-AA91-D9FE72C5833F}" srcOrd="1" destOrd="0" presId="urn:microsoft.com/office/officeart/2005/8/layout/hierarchy1"/>
    <dgm:cxn modelId="{E9BA4BFC-38CB-4389-A6BC-8CD603107D43}" type="presParOf" srcId="{4794EDAA-4387-435F-859D-CC173FD2F70D}" destId="{2ABA19E2-E735-423F-93C4-D70C6A01A3EA}" srcOrd="2" destOrd="0" presId="urn:microsoft.com/office/officeart/2005/8/layout/hierarchy1"/>
    <dgm:cxn modelId="{797DC93A-B566-4391-B01A-76DB93DDA7A8}" type="presParOf" srcId="{4794EDAA-4387-435F-859D-CC173FD2F70D}" destId="{91E3B441-840F-4615-8D77-2CDDFF3DB452}" srcOrd="3" destOrd="0" presId="urn:microsoft.com/office/officeart/2005/8/layout/hierarchy1"/>
    <dgm:cxn modelId="{E8551319-D7FF-4D60-BAD4-019311C8D314}" type="presParOf" srcId="{91E3B441-840F-4615-8D77-2CDDFF3DB452}" destId="{2C33F6A7-28F5-4C0D-B710-2E6B73B9AC19}" srcOrd="0" destOrd="0" presId="urn:microsoft.com/office/officeart/2005/8/layout/hierarchy1"/>
    <dgm:cxn modelId="{8B085165-5740-40BD-A7DE-E1B75687C071}" type="presParOf" srcId="{2C33F6A7-28F5-4C0D-B710-2E6B73B9AC19}" destId="{654B4425-B0ED-43F5-B778-EA8C71D0C343}" srcOrd="0" destOrd="0" presId="urn:microsoft.com/office/officeart/2005/8/layout/hierarchy1"/>
    <dgm:cxn modelId="{A5A2A274-A554-419E-8073-B87172C3BB20}" type="presParOf" srcId="{2C33F6A7-28F5-4C0D-B710-2E6B73B9AC19}" destId="{27663A7E-231B-4AAF-A523-04D8BCE8290C}" srcOrd="1" destOrd="0" presId="urn:microsoft.com/office/officeart/2005/8/layout/hierarchy1"/>
    <dgm:cxn modelId="{9D23775C-5849-42EC-ACD4-73AB12562527}" type="presParOf" srcId="{91E3B441-840F-4615-8D77-2CDDFF3DB452}" destId="{BEDDD479-23D3-40AD-954C-04732256B314}" srcOrd="1" destOrd="0" presId="urn:microsoft.com/office/officeart/2005/8/layout/hierarchy1"/>
    <dgm:cxn modelId="{A1C35F20-EED2-418D-8284-02205FE58342}" type="presParOf" srcId="{BEDDD479-23D3-40AD-954C-04732256B314}" destId="{C485710A-D795-4A5A-B1B2-AB636ABBF22B}" srcOrd="0" destOrd="0" presId="urn:microsoft.com/office/officeart/2005/8/layout/hierarchy1"/>
    <dgm:cxn modelId="{193F13A8-33E1-4361-AA52-B89C6E21D2B0}" type="presParOf" srcId="{BEDDD479-23D3-40AD-954C-04732256B314}" destId="{5E1BBA05-9308-458B-B88D-EA0274F68028}" srcOrd="1" destOrd="0" presId="urn:microsoft.com/office/officeart/2005/8/layout/hierarchy1"/>
    <dgm:cxn modelId="{F0C56CD8-4F86-4F7B-A598-4D80A6BEAE4D}" type="presParOf" srcId="{5E1BBA05-9308-458B-B88D-EA0274F68028}" destId="{AA51F3D0-57E9-484A-8D91-15EE9D0AA841}" srcOrd="0" destOrd="0" presId="urn:microsoft.com/office/officeart/2005/8/layout/hierarchy1"/>
    <dgm:cxn modelId="{E2783408-2F90-482D-AD65-9ED8BC9D8334}" type="presParOf" srcId="{AA51F3D0-57E9-484A-8D91-15EE9D0AA841}" destId="{8545E689-5778-4E33-9C40-5A8CE5AF095E}" srcOrd="0" destOrd="0" presId="urn:microsoft.com/office/officeart/2005/8/layout/hierarchy1"/>
    <dgm:cxn modelId="{0A2190CB-CF93-4D72-9F8A-642BDE643C57}" type="presParOf" srcId="{AA51F3D0-57E9-484A-8D91-15EE9D0AA841}" destId="{0C571628-E48E-491D-8C56-9C3968FF7E74}" srcOrd="1" destOrd="0" presId="urn:microsoft.com/office/officeart/2005/8/layout/hierarchy1"/>
    <dgm:cxn modelId="{265272DC-D224-4E51-9E11-AE098636EAF1}" type="presParOf" srcId="{5E1BBA05-9308-458B-B88D-EA0274F68028}" destId="{3E564469-FF04-4796-8D21-B7A4394476B8}" srcOrd="1" destOrd="0" presId="urn:microsoft.com/office/officeart/2005/8/layout/hierarchy1"/>
    <dgm:cxn modelId="{CE081D57-2A99-4F79-ADA5-20FACD6BA0BD}" type="presParOf" srcId="{BEDDD479-23D3-40AD-954C-04732256B314}" destId="{26C6B536-5A1C-444F-BEB6-F6C31F67F987}" srcOrd="2" destOrd="0" presId="urn:microsoft.com/office/officeart/2005/8/layout/hierarchy1"/>
    <dgm:cxn modelId="{91D68ADD-5C7E-4DEA-8ED8-F1DFF430DE16}" type="presParOf" srcId="{BEDDD479-23D3-40AD-954C-04732256B314}" destId="{EFD091F2-7EE9-42EE-B2A2-C9BAC67CB4E8}" srcOrd="3" destOrd="0" presId="urn:microsoft.com/office/officeart/2005/8/layout/hierarchy1"/>
    <dgm:cxn modelId="{FB2233E2-FE93-4B81-AD30-A545CBD6D5BB}" type="presParOf" srcId="{EFD091F2-7EE9-42EE-B2A2-C9BAC67CB4E8}" destId="{7D5FBA53-6EC2-414A-AFDD-3ABD31CB79F0}" srcOrd="0" destOrd="0" presId="urn:microsoft.com/office/officeart/2005/8/layout/hierarchy1"/>
    <dgm:cxn modelId="{BE52A534-1856-4112-AAD8-9A94BFA192DB}" type="presParOf" srcId="{7D5FBA53-6EC2-414A-AFDD-3ABD31CB79F0}" destId="{74868ED4-D2BB-45B5-AE86-FD32A4C11D4B}" srcOrd="0" destOrd="0" presId="urn:microsoft.com/office/officeart/2005/8/layout/hierarchy1"/>
    <dgm:cxn modelId="{A41415A4-155F-4515-864D-DDB4E2B0E0B3}" type="presParOf" srcId="{7D5FBA53-6EC2-414A-AFDD-3ABD31CB79F0}" destId="{C97CD5D8-BA61-4A9B-BEE0-00AF96576B2B}" srcOrd="1" destOrd="0" presId="urn:microsoft.com/office/officeart/2005/8/layout/hierarchy1"/>
    <dgm:cxn modelId="{7815ACE5-15BA-48D3-BA64-823A3B945234}" type="presParOf" srcId="{EFD091F2-7EE9-42EE-B2A2-C9BAC67CB4E8}" destId="{919CE921-EEDC-40E8-B672-F7B263D03DE5}" srcOrd="1" destOrd="0" presId="urn:microsoft.com/office/officeart/2005/8/layout/hierarchy1"/>
    <dgm:cxn modelId="{BA4A6FEF-F90E-41D4-9F90-87EBE19A06CB}" type="presParOf" srcId="{69106503-1226-44AF-9EF7-52557AE4B812}" destId="{0616D85A-4DBA-4ECD-B0C8-BBCD2B2EB60E}" srcOrd="2" destOrd="0" presId="urn:microsoft.com/office/officeart/2005/8/layout/hierarchy1"/>
    <dgm:cxn modelId="{84B1E318-4331-4D52-8A0A-E2183E18CA17}" type="presParOf" srcId="{69106503-1226-44AF-9EF7-52557AE4B812}" destId="{6CC09CBE-6772-43FF-A5FB-8760199DC864}" srcOrd="3" destOrd="0" presId="urn:microsoft.com/office/officeart/2005/8/layout/hierarchy1"/>
    <dgm:cxn modelId="{1D87957B-20F2-4BFE-B4C5-5A2A3AE9D1ED}" type="presParOf" srcId="{6CC09CBE-6772-43FF-A5FB-8760199DC864}" destId="{614B432E-BD94-4D2E-A0BD-C90E811F74FF}" srcOrd="0" destOrd="0" presId="urn:microsoft.com/office/officeart/2005/8/layout/hierarchy1"/>
    <dgm:cxn modelId="{3A128513-E307-4BBD-9F9D-A7AF8921109A}" type="presParOf" srcId="{614B432E-BD94-4D2E-A0BD-C90E811F74FF}" destId="{BDAF3C53-3C2E-4E4A-B70D-8D2300FB835A}" srcOrd="0" destOrd="0" presId="urn:microsoft.com/office/officeart/2005/8/layout/hierarchy1"/>
    <dgm:cxn modelId="{87963B49-2C8A-48E7-B594-4F7F83015822}" type="presParOf" srcId="{614B432E-BD94-4D2E-A0BD-C90E811F74FF}" destId="{C7976DF0-733A-4F51-88E9-DFBC1E022584}" srcOrd="1" destOrd="0" presId="urn:microsoft.com/office/officeart/2005/8/layout/hierarchy1"/>
    <dgm:cxn modelId="{57C9D4A3-D6E2-4BBC-8C56-C54F4C6213E1}" type="presParOf" srcId="{6CC09CBE-6772-43FF-A5FB-8760199DC864}" destId="{31E92C2E-FEBB-4E65-949D-DB0CE8A3764E}" srcOrd="1" destOrd="0" presId="urn:microsoft.com/office/officeart/2005/8/layout/hierarchy1"/>
    <dgm:cxn modelId="{E984ED5D-13DB-4642-8BB9-E0FD7E5F2343}" type="presParOf" srcId="{69106503-1226-44AF-9EF7-52557AE4B812}" destId="{B0B4EF77-6A16-4AE0-88B3-819F7656374F}" srcOrd="4" destOrd="0" presId="urn:microsoft.com/office/officeart/2005/8/layout/hierarchy1"/>
    <dgm:cxn modelId="{C084682E-26C1-4CC5-ABBB-7ADCAB97F0A3}" type="presParOf" srcId="{69106503-1226-44AF-9EF7-52557AE4B812}" destId="{85E8DD84-29FC-43E5-B521-87851F93B4EC}" srcOrd="5" destOrd="0" presId="urn:microsoft.com/office/officeart/2005/8/layout/hierarchy1"/>
    <dgm:cxn modelId="{72D2DDE3-4A97-407E-BABD-E629563562A7}" type="presParOf" srcId="{85E8DD84-29FC-43E5-B521-87851F93B4EC}" destId="{4FA42B57-F82F-45D7-A83B-7472CDB05123}" srcOrd="0" destOrd="0" presId="urn:microsoft.com/office/officeart/2005/8/layout/hierarchy1"/>
    <dgm:cxn modelId="{44664F72-429E-4895-ACCA-DBACFFF0EF13}" type="presParOf" srcId="{4FA42B57-F82F-45D7-A83B-7472CDB05123}" destId="{25EC1C09-3745-4EE6-B915-247635F8CBD2}" srcOrd="0" destOrd="0" presId="urn:microsoft.com/office/officeart/2005/8/layout/hierarchy1"/>
    <dgm:cxn modelId="{EF9B76CE-51F6-43D8-B134-9CE67FE6CB92}" type="presParOf" srcId="{4FA42B57-F82F-45D7-A83B-7472CDB05123}" destId="{6EAE43C3-0FBE-48FB-9AA9-D104F2A32242}" srcOrd="1" destOrd="0" presId="urn:microsoft.com/office/officeart/2005/8/layout/hierarchy1"/>
    <dgm:cxn modelId="{840E5204-59BB-4A2A-B942-40ED9E641C7D}" type="presParOf" srcId="{85E8DD84-29FC-43E5-B521-87851F93B4EC}" destId="{36E06F5E-D87E-408E-977C-A79D57308016}" srcOrd="1" destOrd="0" presId="urn:microsoft.com/office/officeart/2005/8/layout/hierarchy1"/>
    <dgm:cxn modelId="{D161A057-C5AF-4F63-BFB2-93441F8C8D6A}" type="presParOf" srcId="{69106503-1226-44AF-9EF7-52557AE4B812}" destId="{84884820-AE92-4C89-AC9D-F522DFE4694B}" srcOrd="6" destOrd="0" presId="urn:microsoft.com/office/officeart/2005/8/layout/hierarchy1"/>
    <dgm:cxn modelId="{068469E6-2977-4583-8378-4B05A0E25998}" type="presParOf" srcId="{69106503-1226-44AF-9EF7-52557AE4B812}" destId="{9B18FB68-7833-4BCB-B509-663E82EAD08B}" srcOrd="7" destOrd="0" presId="urn:microsoft.com/office/officeart/2005/8/layout/hierarchy1"/>
    <dgm:cxn modelId="{A49879B5-02C4-4CF8-9B58-B9386D2A026F}" type="presParOf" srcId="{9B18FB68-7833-4BCB-B509-663E82EAD08B}" destId="{F14720A0-570D-443C-BC4F-652E6B9F07C4}" srcOrd="0" destOrd="0" presId="urn:microsoft.com/office/officeart/2005/8/layout/hierarchy1"/>
    <dgm:cxn modelId="{B40D97D5-44C9-4E4E-9937-D1B9E960D08E}" type="presParOf" srcId="{F14720A0-570D-443C-BC4F-652E6B9F07C4}" destId="{77987726-1818-42DC-B45A-CAFA3938016B}" srcOrd="0" destOrd="0" presId="urn:microsoft.com/office/officeart/2005/8/layout/hierarchy1"/>
    <dgm:cxn modelId="{72D7F87F-EEF5-4C12-8262-9097DF22636A}" type="presParOf" srcId="{F14720A0-570D-443C-BC4F-652E6B9F07C4}" destId="{5CCB79FC-4F8E-4783-B3EB-F43D11816867}" srcOrd="1" destOrd="0" presId="urn:microsoft.com/office/officeart/2005/8/layout/hierarchy1"/>
    <dgm:cxn modelId="{5A5DE93A-FA8B-44BC-B6C4-E42DD30E0F46}" type="presParOf" srcId="{9B18FB68-7833-4BCB-B509-663E82EAD08B}" destId="{4D325A3A-6E3B-4061-B369-3950FFA9120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792F995-399A-4910-94E4-5ED99A2E1788}" type="doc">
      <dgm:prSet loTypeId="urn:microsoft.com/office/officeart/2005/8/layout/hierarchy3" loCatId="list" qsTypeId="urn:microsoft.com/office/officeart/2005/8/quickstyle/3d2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80882A69-0C50-410D-A81F-BEBD515F0DFC}">
      <dgm:prSet phldrT="[Text]"/>
      <dgm:spPr/>
      <dgm:t>
        <a:bodyPr/>
        <a:lstStyle/>
        <a:p>
          <a:r>
            <a:rPr lang="en-IN" dirty="0"/>
            <a:t>Types of Commercial Banks</a:t>
          </a:r>
        </a:p>
      </dgm:t>
    </dgm:pt>
    <dgm:pt modelId="{218BD658-1180-41D4-8C02-9C26DFC01BE4}" type="parTrans" cxnId="{792A2EEA-261A-4544-9E53-B684B4952DB0}">
      <dgm:prSet/>
      <dgm:spPr/>
      <dgm:t>
        <a:bodyPr/>
        <a:lstStyle/>
        <a:p>
          <a:endParaRPr lang="en-IN"/>
        </a:p>
      </dgm:t>
    </dgm:pt>
    <dgm:pt modelId="{577A70D3-3D84-4543-90D7-A05549115A59}" type="sibTrans" cxnId="{792A2EEA-261A-4544-9E53-B684B4952DB0}">
      <dgm:prSet/>
      <dgm:spPr/>
      <dgm:t>
        <a:bodyPr/>
        <a:lstStyle/>
        <a:p>
          <a:endParaRPr lang="en-IN"/>
        </a:p>
      </dgm:t>
    </dgm:pt>
    <dgm:pt modelId="{DBBA0968-507A-46B1-A1C5-34471C209937}">
      <dgm:prSet/>
      <dgm:spPr/>
      <dgm:t>
        <a:bodyPr/>
        <a:lstStyle/>
        <a:p>
          <a:r>
            <a:rPr lang="en-IN" dirty="0"/>
            <a:t>(</a:t>
          </a:r>
          <a:r>
            <a:rPr lang="en-IN" dirty="0" err="1"/>
            <a:t>i</a:t>
          </a:r>
          <a:r>
            <a:rPr lang="en-IN" dirty="0"/>
            <a:t>) Public Sector Banks</a:t>
          </a:r>
        </a:p>
      </dgm:t>
    </dgm:pt>
    <dgm:pt modelId="{77095264-C82C-4B1A-BAF2-6158DE8850B4}" type="parTrans" cxnId="{76A9DEF6-9D39-4034-B507-AB360382F40A}">
      <dgm:prSet/>
      <dgm:spPr/>
      <dgm:t>
        <a:bodyPr/>
        <a:lstStyle/>
        <a:p>
          <a:endParaRPr lang="en-IN"/>
        </a:p>
      </dgm:t>
    </dgm:pt>
    <dgm:pt modelId="{22236BB2-B6C2-4E0C-91D4-14DB7B251224}" type="sibTrans" cxnId="{76A9DEF6-9D39-4034-B507-AB360382F40A}">
      <dgm:prSet/>
      <dgm:spPr/>
      <dgm:t>
        <a:bodyPr/>
        <a:lstStyle/>
        <a:p>
          <a:endParaRPr lang="en-IN"/>
        </a:p>
      </dgm:t>
    </dgm:pt>
    <dgm:pt modelId="{ADCA6443-639D-4F95-A411-2D5586B8FF54}">
      <dgm:prSet/>
      <dgm:spPr/>
      <dgm:t>
        <a:bodyPr/>
        <a:lstStyle/>
        <a:p>
          <a:r>
            <a:rPr lang="en-IN" dirty="0"/>
            <a:t>(ii) Private Sector Banks</a:t>
          </a:r>
        </a:p>
      </dgm:t>
    </dgm:pt>
    <dgm:pt modelId="{F4AA09DF-DDFB-422B-B248-9C0DDA320578}" type="parTrans" cxnId="{25CE0249-296C-4D89-92C1-8B915EAA15DE}">
      <dgm:prSet/>
      <dgm:spPr/>
      <dgm:t>
        <a:bodyPr/>
        <a:lstStyle/>
        <a:p>
          <a:endParaRPr lang="en-IN"/>
        </a:p>
      </dgm:t>
    </dgm:pt>
    <dgm:pt modelId="{0B5DA6F4-F5EB-440B-A398-E7D09077D0AD}" type="sibTrans" cxnId="{25CE0249-296C-4D89-92C1-8B915EAA15DE}">
      <dgm:prSet/>
      <dgm:spPr/>
      <dgm:t>
        <a:bodyPr/>
        <a:lstStyle/>
        <a:p>
          <a:endParaRPr lang="en-IN"/>
        </a:p>
      </dgm:t>
    </dgm:pt>
    <dgm:pt modelId="{1A9CB748-8313-4E4A-8389-D80C2A0F5D3F}">
      <dgm:prSet/>
      <dgm:spPr/>
      <dgm:t>
        <a:bodyPr/>
        <a:lstStyle/>
        <a:p>
          <a:r>
            <a:rPr lang="en-IN" dirty="0"/>
            <a:t>(iii) Foreign Banks</a:t>
          </a:r>
        </a:p>
      </dgm:t>
    </dgm:pt>
    <dgm:pt modelId="{0B53A618-5630-42C4-8E78-6E816487479F}" type="parTrans" cxnId="{43473497-6DA3-4676-98CB-4033C1B0A5D6}">
      <dgm:prSet/>
      <dgm:spPr/>
      <dgm:t>
        <a:bodyPr/>
        <a:lstStyle/>
        <a:p>
          <a:endParaRPr lang="en-IN"/>
        </a:p>
      </dgm:t>
    </dgm:pt>
    <dgm:pt modelId="{95A9C7A2-F03F-47B8-B96C-39681C59EE86}" type="sibTrans" cxnId="{43473497-6DA3-4676-98CB-4033C1B0A5D6}">
      <dgm:prSet/>
      <dgm:spPr/>
      <dgm:t>
        <a:bodyPr/>
        <a:lstStyle/>
        <a:p>
          <a:endParaRPr lang="en-IN"/>
        </a:p>
      </dgm:t>
    </dgm:pt>
    <dgm:pt modelId="{4AF7D887-8702-4507-907F-5623A0976E74}">
      <dgm:prSet/>
      <dgm:spPr/>
      <dgm:t>
        <a:bodyPr/>
        <a:lstStyle/>
        <a:p>
          <a:r>
            <a:rPr lang="en-US" dirty="0"/>
            <a:t>(iv) R</a:t>
          </a:r>
          <a:r>
            <a:rPr lang="en-IN" dirty="0" err="1"/>
            <a:t>egional</a:t>
          </a:r>
          <a:r>
            <a:rPr lang="en-IN" dirty="0"/>
            <a:t> rural banks</a:t>
          </a:r>
        </a:p>
      </dgm:t>
    </dgm:pt>
    <dgm:pt modelId="{E484794E-29DC-4284-AD3F-0AC365E13B55}" type="parTrans" cxnId="{DE9742F2-6DAD-40F0-8064-54739277D722}">
      <dgm:prSet/>
      <dgm:spPr/>
      <dgm:t>
        <a:bodyPr/>
        <a:lstStyle/>
        <a:p>
          <a:endParaRPr lang="en-IN"/>
        </a:p>
      </dgm:t>
    </dgm:pt>
    <dgm:pt modelId="{DBC703DF-35DC-4D3C-800A-8BA147DEFBD2}" type="sibTrans" cxnId="{DE9742F2-6DAD-40F0-8064-54739277D722}">
      <dgm:prSet/>
      <dgm:spPr/>
      <dgm:t>
        <a:bodyPr/>
        <a:lstStyle/>
        <a:p>
          <a:endParaRPr lang="en-IN"/>
        </a:p>
      </dgm:t>
    </dgm:pt>
    <dgm:pt modelId="{2084FEA3-0C4E-4DA7-8482-BB78AFA0C708}">
      <dgm:prSet/>
      <dgm:spPr/>
      <dgm:t>
        <a:bodyPr/>
        <a:lstStyle/>
        <a:p>
          <a:r>
            <a:rPr lang="en-US" dirty="0"/>
            <a:t>(v) Small Finance Bank</a:t>
          </a:r>
          <a:endParaRPr lang="en-IN" dirty="0"/>
        </a:p>
      </dgm:t>
    </dgm:pt>
    <dgm:pt modelId="{4000FAA4-22B5-44B6-AC85-01421BCB764D}" type="parTrans" cxnId="{12DDDC09-2011-4E71-A5A8-8BCD6B3E99B6}">
      <dgm:prSet/>
      <dgm:spPr/>
      <dgm:t>
        <a:bodyPr/>
        <a:lstStyle/>
        <a:p>
          <a:endParaRPr lang="en-IN"/>
        </a:p>
      </dgm:t>
    </dgm:pt>
    <dgm:pt modelId="{F76723E1-0666-4DB8-9869-A7AAD136DEBD}" type="sibTrans" cxnId="{12DDDC09-2011-4E71-A5A8-8BCD6B3E99B6}">
      <dgm:prSet/>
      <dgm:spPr/>
      <dgm:t>
        <a:bodyPr/>
        <a:lstStyle/>
        <a:p>
          <a:endParaRPr lang="en-IN"/>
        </a:p>
      </dgm:t>
    </dgm:pt>
    <dgm:pt modelId="{6FA9A6A5-9F67-4F77-87CC-0C95B86A3178}">
      <dgm:prSet/>
      <dgm:spPr/>
      <dgm:t>
        <a:bodyPr/>
        <a:lstStyle/>
        <a:p>
          <a:r>
            <a:rPr lang="en-US" dirty="0"/>
            <a:t>(vi) Payment Banks</a:t>
          </a:r>
          <a:endParaRPr lang="en-IN" dirty="0"/>
        </a:p>
      </dgm:t>
    </dgm:pt>
    <dgm:pt modelId="{5E42995C-43F8-4A2D-A823-24B8807EF4A7}" type="parTrans" cxnId="{A1D51DE9-1B9E-4648-95D6-5A3F2269DCE1}">
      <dgm:prSet/>
      <dgm:spPr/>
      <dgm:t>
        <a:bodyPr/>
        <a:lstStyle/>
        <a:p>
          <a:endParaRPr lang="en-IN"/>
        </a:p>
      </dgm:t>
    </dgm:pt>
    <dgm:pt modelId="{37DE5908-3FCD-4BDA-A69D-C6F75921F566}" type="sibTrans" cxnId="{A1D51DE9-1B9E-4648-95D6-5A3F2269DCE1}">
      <dgm:prSet/>
      <dgm:spPr/>
      <dgm:t>
        <a:bodyPr/>
        <a:lstStyle/>
        <a:p>
          <a:endParaRPr lang="en-IN"/>
        </a:p>
      </dgm:t>
    </dgm:pt>
    <dgm:pt modelId="{38800DCD-C6D2-4416-A9FE-CF4AFEA791DD}" type="pres">
      <dgm:prSet presAssocID="{8792F995-399A-4910-94E4-5ED99A2E1788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7E053898-ADA3-4BCB-A298-40D65367E773}" type="pres">
      <dgm:prSet presAssocID="{80882A69-0C50-410D-A81F-BEBD515F0DFC}" presName="root" presStyleCnt="0"/>
      <dgm:spPr/>
    </dgm:pt>
    <dgm:pt modelId="{2E2CE258-11BD-4359-933B-76B7DC990D7D}" type="pres">
      <dgm:prSet presAssocID="{80882A69-0C50-410D-A81F-BEBD515F0DFC}" presName="rootComposite" presStyleCnt="0"/>
      <dgm:spPr/>
    </dgm:pt>
    <dgm:pt modelId="{6047BFD2-47B6-43CC-9FDC-97D35D59349E}" type="pres">
      <dgm:prSet presAssocID="{80882A69-0C50-410D-A81F-BEBD515F0DFC}" presName="rootText" presStyleLbl="node1" presStyleIdx="0" presStyleCnt="1" custScaleX="170992"/>
      <dgm:spPr/>
      <dgm:t>
        <a:bodyPr/>
        <a:lstStyle/>
        <a:p>
          <a:endParaRPr lang="en-US"/>
        </a:p>
      </dgm:t>
    </dgm:pt>
    <dgm:pt modelId="{ACDF0FD9-02CD-4ABC-B890-72A148B7CD0F}" type="pres">
      <dgm:prSet presAssocID="{80882A69-0C50-410D-A81F-BEBD515F0DFC}" presName="rootConnector" presStyleLbl="node1" presStyleIdx="0" presStyleCnt="1"/>
      <dgm:spPr/>
      <dgm:t>
        <a:bodyPr/>
        <a:lstStyle/>
        <a:p>
          <a:endParaRPr lang="en-US"/>
        </a:p>
      </dgm:t>
    </dgm:pt>
    <dgm:pt modelId="{A53CAC92-204E-4E85-B0B9-7D20B72DCE4B}" type="pres">
      <dgm:prSet presAssocID="{80882A69-0C50-410D-A81F-BEBD515F0DFC}" presName="childShape" presStyleCnt="0"/>
      <dgm:spPr/>
    </dgm:pt>
    <dgm:pt modelId="{DF7F71E1-4B3B-4326-B672-D1B569B6126F}" type="pres">
      <dgm:prSet presAssocID="{77095264-C82C-4B1A-BAF2-6158DE8850B4}" presName="Name13" presStyleLbl="parChTrans1D2" presStyleIdx="0" presStyleCnt="6"/>
      <dgm:spPr/>
      <dgm:t>
        <a:bodyPr/>
        <a:lstStyle/>
        <a:p>
          <a:endParaRPr lang="en-US"/>
        </a:p>
      </dgm:t>
    </dgm:pt>
    <dgm:pt modelId="{66892563-564F-44E4-A266-1EC2734095C0}" type="pres">
      <dgm:prSet presAssocID="{DBBA0968-507A-46B1-A1C5-34471C209937}" presName="childText" presStyleLbl="bgAcc1" presStyleIdx="0" presStyleCnt="6" custScaleX="17298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2C2306-075C-4CF8-9C3B-AAEB1F842B4B}" type="pres">
      <dgm:prSet presAssocID="{F4AA09DF-DDFB-422B-B248-9C0DDA320578}" presName="Name13" presStyleLbl="parChTrans1D2" presStyleIdx="1" presStyleCnt="6"/>
      <dgm:spPr/>
      <dgm:t>
        <a:bodyPr/>
        <a:lstStyle/>
        <a:p>
          <a:endParaRPr lang="en-US"/>
        </a:p>
      </dgm:t>
    </dgm:pt>
    <dgm:pt modelId="{39696B3C-F933-4E40-AA14-50A853FF287D}" type="pres">
      <dgm:prSet presAssocID="{ADCA6443-639D-4F95-A411-2D5586B8FF54}" presName="childText" presStyleLbl="bgAcc1" presStyleIdx="1" presStyleCnt="6" custScaleX="1728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0249C4-53CF-4F76-BDA1-54723AE2A72B}" type="pres">
      <dgm:prSet presAssocID="{0B53A618-5630-42C4-8E78-6E816487479F}" presName="Name13" presStyleLbl="parChTrans1D2" presStyleIdx="2" presStyleCnt="6"/>
      <dgm:spPr/>
      <dgm:t>
        <a:bodyPr/>
        <a:lstStyle/>
        <a:p>
          <a:endParaRPr lang="en-US"/>
        </a:p>
      </dgm:t>
    </dgm:pt>
    <dgm:pt modelId="{3D00F93F-71F5-42E0-AC07-FD3043F8DC72}" type="pres">
      <dgm:prSet presAssocID="{1A9CB748-8313-4E4A-8389-D80C2A0F5D3F}" presName="childText" presStyleLbl="bgAcc1" presStyleIdx="2" presStyleCnt="6" custScaleX="17298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7A50C7-E73C-4EC2-9DDE-0EEDC8EA4FBC}" type="pres">
      <dgm:prSet presAssocID="{E484794E-29DC-4284-AD3F-0AC365E13B55}" presName="Name13" presStyleLbl="parChTrans1D2" presStyleIdx="3" presStyleCnt="6"/>
      <dgm:spPr/>
      <dgm:t>
        <a:bodyPr/>
        <a:lstStyle/>
        <a:p>
          <a:endParaRPr lang="en-US"/>
        </a:p>
      </dgm:t>
    </dgm:pt>
    <dgm:pt modelId="{9457F0C9-AAF1-4503-8BED-DB207A908C6E}" type="pres">
      <dgm:prSet presAssocID="{4AF7D887-8702-4507-907F-5623A0976E74}" presName="childText" presStyleLbl="bgAcc1" presStyleIdx="3" presStyleCnt="6" custScaleX="17298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825F2C-596F-4D26-8FE7-DD209EFF73E3}" type="pres">
      <dgm:prSet presAssocID="{4000FAA4-22B5-44B6-AC85-01421BCB764D}" presName="Name13" presStyleLbl="parChTrans1D2" presStyleIdx="4" presStyleCnt="6"/>
      <dgm:spPr/>
      <dgm:t>
        <a:bodyPr/>
        <a:lstStyle/>
        <a:p>
          <a:endParaRPr lang="en-US"/>
        </a:p>
      </dgm:t>
    </dgm:pt>
    <dgm:pt modelId="{D693C482-3020-4DB5-8788-9B15AF130F6F}" type="pres">
      <dgm:prSet presAssocID="{2084FEA3-0C4E-4DA7-8482-BB78AFA0C708}" presName="childText" presStyleLbl="bgAcc1" presStyleIdx="4" presStyleCnt="6" custScaleX="17298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F10C3D-AE92-4296-8EAF-9ADD2C36FD9A}" type="pres">
      <dgm:prSet presAssocID="{5E42995C-43F8-4A2D-A823-24B8807EF4A7}" presName="Name13" presStyleLbl="parChTrans1D2" presStyleIdx="5" presStyleCnt="6"/>
      <dgm:spPr/>
      <dgm:t>
        <a:bodyPr/>
        <a:lstStyle/>
        <a:p>
          <a:endParaRPr lang="en-US"/>
        </a:p>
      </dgm:t>
    </dgm:pt>
    <dgm:pt modelId="{98B19569-0273-4D8B-BDEA-5B339038098A}" type="pres">
      <dgm:prSet presAssocID="{6FA9A6A5-9F67-4F77-87CC-0C95B86A3178}" presName="childText" presStyleLbl="bgAcc1" presStyleIdx="5" presStyleCnt="6" custScaleX="17298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6A9DEF6-9D39-4034-B507-AB360382F40A}" srcId="{80882A69-0C50-410D-A81F-BEBD515F0DFC}" destId="{DBBA0968-507A-46B1-A1C5-34471C209937}" srcOrd="0" destOrd="0" parTransId="{77095264-C82C-4B1A-BAF2-6158DE8850B4}" sibTransId="{22236BB2-B6C2-4E0C-91D4-14DB7B251224}"/>
    <dgm:cxn modelId="{7790F02E-484E-4898-8553-687BD35AE22F}" type="presOf" srcId="{1A9CB748-8313-4E4A-8389-D80C2A0F5D3F}" destId="{3D00F93F-71F5-42E0-AC07-FD3043F8DC72}" srcOrd="0" destOrd="0" presId="urn:microsoft.com/office/officeart/2005/8/layout/hierarchy3"/>
    <dgm:cxn modelId="{12DDDC09-2011-4E71-A5A8-8BCD6B3E99B6}" srcId="{80882A69-0C50-410D-A81F-BEBD515F0DFC}" destId="{2084FEA3-0C4E-4DA7-8482-BB78AFA0C708}" srcOrd="4" destOrd="0" parTransId="{4000FAA4-22B5-44B6-AC85-01421BCB764D}" sibTransId="{F76723E1-0666-4DB8-9869-A7AAD136DEBD}"/>
    <dgm:cxn modelId="{43473497-6DA3-4676-98CB-4033C1B0A5D6}" srcId="{80882A69-0C50-410D-A81F-BEBD515F0DFC}" destId="{1A9CB748-8313-4E4A-8389-D80C2A0F5D3F}" srcOrd="2" destOrd="0" parTransId="{0B53A618-5630-42C4-8E78-6E816487479F}" sibTransId="{95A9C7A2-F03F-47B8-B96C-39681C59EE86}"/>
    <dgm:cxn modelId="{D0698464-9333-46A5-A1D5-6C2FBB92CDE6}" type="presOf" srcId="{ADCA6443-639D-4F95-A411-2D5586B8FF54}" destId="{39696B3C-F933-4E40-AA14-50A853FF287D}" srcOrd="0" destOrd="0" presId="urn:microsoft.com/office/officeart/2005/8/layout/hierarchy3"/>
    <dgm:cxn modelId="{DE9742F2-6DAD-40F0-8064-54739277D722}" srcId="{80882A69-0C50-410D-A81F-BEBD515F0DFC}" destId="{4AF7D887-8702-4507-907F-5623A0976E74}" srcOrd="3" destOrd="0" parTransId="{E484794E-29DC-4284-AD3F-0AC365E13B55}" sibTransId="{DBC703DF-35DC-4D3C-800A-8BA147DEFBD2}"/>
    <dgm:cxn modelId="{2539CC69-E7D3-45CA-B70A-4594590ADA7F}" type="presOf" srcId="{77095264-C82C-4B1A-BAF2-6158DE8850B4}" destId="{DF7F71E1-4B3B-4326-B672-D1B569B6126F}" srcOrd="0" destOrd="0" presId="urn:microsoft.com/office/officeart/2005/8/layout/hierarchy3"/>
    <dgm:cxn modelId="{3C25E474-AD77-4C3B-A850-CDD0D1B15CED}" type="presOf" srcId="{4AF7D887-8702-4507-907F-5623A0976E74}" destId="{9457F0C9-AAF1-4503-8BED-DB207A908C6E}" srcOrd="0" destOrd="0" presId="urn:microsoft.com/office/officeart/2005/8/layout/hierarchy3"/>
    <dgm:cxn modelId="{7313E345-617F-45A8-89DF-8104842DA3FE}" type="presOf" srcId="{DBBA0968-507A-46B1-A1C5-34471C209937}" destId="{66892563-564F-44E4-A266-1EC2734095C0}" srcOrd="0" destOrd="0" presId="urn:microsoft.com/office/officeart/2005/8/layout/hierarchy3"/>
    <dgm:cxn modelId="{194D1701-EF62-4273-A1D9-F5F1D201D077}" type="presOf" srcId="{0B53A618-5630-42C4-8E78-6E816487479F}" destId="{CF0249C4-53CF-4F76-BDA1-54723AE2A72B}" srcOrd="0" destOrd="0" presId="urn:microsoft.com/office/officeart/2005/8/layout/hierarchy3"/>
    <dgm:cxn modelId="{99746377-6068-4A52-ABEC-27FAF716DBB6}" type="presOf" srcId="{2084FEA3-0C4E-4DA7-8482-BB78AFA0C708}" destId="{D693C482-3020-4DB5-8788-9B15AF130F6F}" srcOrd="0" destOrd="0" presId="urn:microsoft.com/office/officeart/2005/8/layout/hierarchy3"/>
    <dgm:cxn modelId="{4B2ACE05-A53F-48CB-B98F-27FF8A057416}" type="presOf" srcId="{E484794E-29DC-4284-AD3F-0AC365E13B55}" destId="{B77A50C7-E73C-4EC2-9DDE-0EEDC8EA4FBC}" srcOrd="0" destOrd="0" presId="urn:microsoft.com/office/officeart/2005/8/layout/hierarchy3"/>
    <dgm:cxn modelId="{EB9F3F3C-B76A-4C52-97A8-F3ACFE35D35F}" type="presOf" srcId="{6FA9A6A5-9F67-4F77-87CC-0C95B86A3178}" destId="{98B19569-0273-4D8B-BDEA-5B339038098A}" srcOrd="0" destOrd="0" presId="urn:microsoft.com/office/officeart/2005/8/layout/hierarchy3"/>
    <dgm:cxn modelId="{3EFD8BB0-0563-464E-BBCE-D3B070C67C67}" type="presOf" srcId="{80882A69-0C50-410D-A81F-BEBD515F0DFC}" destId="{6047BFD2-47B6-43CC-9FDC-97D35D59349E}" srcOrd="0" destOrd="0" presId="urn:microsoft.com/office/officeart/2005/8/layout/hierarchy3"/>
    <dgm:cxn modelId="{027D6607-2ABF-46C1-9B31-D79F76A05042}" type="presOf" srcId="{4000FAA4-22B5-44B6-AC85-01421BCB764D}" destId="{9F825F2C-596F-4D26-8FE7-DD209EFF73E3}" srcOrd="0" destOrd="0" presId="urn:microsoft.com/office/officeart/2005/8/layout/hierarchy3"/>
    <dgm:cxn modelId="{792A2EEA-261A-4544-9E53-B684B4952DB0}" srcId="{8792F995-399A-4910-94E4-5ED99A2E1788}" destId="{80882A69-0C50-410D-A81F-BEBD515F0DFC}" srcOrd="0" destOrd="0" parTransId="{218BD658-1180-41D4-8C02-9C26DFC01BE4}" sibTransId="{577A70D3-3D84-4543-90D7-A05549115A59}"/>
    <dgm:cxn modelId="{E38272E4-7EFE-4ABC-93A6-6D508277642E}" type="presOf" srcId="{F4AA09DF-DDFB-422B-B248-9C0DDA320578}" destId="{952C2306-075C-4CF8-9C3B-AAEB1F842B4B}" srcOrd="0" destOrd="0" presId="urn:microsoft.com/office/officeart/2005/8/layout/hierarchy3"/>
    <dgm:cxn modelId="{25CE0249-296C-4D89-92C1-8B915EAA15DE}" srcId="{80882A69-0C50-410D-A81F-BEBD515F0DFC}" destId="{ADCA6443-639D-4F95-A411-2D5586B8FF54}" srcOrd="1" destOrd="0" parTransId="{F4AA09DF-DDFB-422B-B248-9C0DDA320578}" sibTransId="{0B5DA6F4-F5EB-440B-A398-E7D09077D0AD}"/>
    <dgm:cxn modelId="{6A183EB8-BCAF-4BFD-A935-2F94B4B70DB8}" type="presOf" srcId="{5E42995C-43F8-4A2D-A823-24B8807EF4A7}" destId="{16F10C3D-AE92-4296-8EAF-9ADD2C36FD9A}" srcOrd="0" destOrd="0" presId="urn:microsoft.com/office/officeart/2005/8/layout/hierarchy3"/>
    <dgm:cxn modelId="{FDA62913-C9F8-4E14-AA3C-FFA5959348AF}" type="presOf" srcId="{8792F995-399A-4910-94E4-5ED99A2E1788}" destId="{38800DCD-C6D2-4416-A9FE-CF4AFEA791DD}" srcOrd="0" destOrd="0" presId="urn:microsoft.com/office/officeart/2005/8/layout/hierarchy3"/>
    <dgm:cxn modelId="{A1D51DE9-1B9E-4648-95D6-5A3F2269DCE1}" srcId="{80882A69-0C50-410D-A81F-BEBD515F0DFC}" destId="{6FA9A6A5-9F67-4F77-87CC-0C95B86A3178}" srcOrd="5" destOrd="0" parTransId="{5E42995C-43F8-4A2D-A823-24B8807EF4A7}" sibTransId="{37DE5908-3FCD-4BDA-A69D-C6F75921F566}"/>
    <dgm:cxn modelId="{D4291748-8E9E-43CC-97E7-92E533014108}" type="presOf" srcId="{80882A69-0C50-410D-A81F-BEBD515F0DFC}" destId="{ACDF0FD9-02CD-4ABC-B890-72A148B7CD0F}" srcOrd="1" destOrd="0" presId="urn:microsoft.com/office/officeart/2005/8/layout/hierarchy3"/>
    <dgm:cxn modelId="{E3DA65AF-2BED-47BC-8988-567160A7681E}" type="presParOf" srcId="{38800DCD-C6D2-4416-A9FE-CF4AFEA791DD}" destId="{7E053898-ADA3-4BCB-A298-40D65367E773}" srcOrd="0" destOrd="0" presId="urn:microsoft.com/office/officeart/2005/8/layout/hierarchy3"/>
    <dgm:cxn modelId="{88617474-6B88-4328-BE08-110E3270D1D1}" type="presParOf" srcId="{7E053898-ADA3-4BCB-A298-40D65367E773}" destId="{2E2CE258-11BD-4359-933B-76B7DC990D7D}" srcOrd="0" destOrd="0" presId="urn:microsoft.com/office/officeart/2005/8/layout/hierarchy3"/>
    <dgm:cxn modelId="{C9818207-5F90-4D85-AE21-92719C46B4DC}" type="presParOf" srcId="{2E2CE258-11BD-4359-933B-76B7DC990D7D}" destId="{6047BFD2-47B6-43CC-9FDC-97D35D59349E}" srcOrd="0" destOrd="0" presId="urn:microsoft.com/office/officeart/2005/8/layout/hierarchy3"/>
    <dgm:cxn modelId="{1AF9BBF8-B120-4D52-8744-06758A2E98C7}" type="presParOf" srcId="{2E2CE258-11BD-4359-933B-76B7DC990D7D}" destId="{ACDF0FD9-02CD-4ABC-B890-72A148B7CD0F}" srcOrd="1" destOrd="0" presId="urn:microsoft.com/office/officeart/2005/8/layout/hierarchy3"/>
    <dgm:cxn modelId="{F7478A57-A3B7-400F-B67E-ED83D186E748}" type="presParOf" srcId="{7E053898-ADA3-4BCB-A298-40D65367E773}" destId="{A53CAC92-204E-4E85-B0B9-7D20B72DCE4B}" srcOrd="1" destOrd="0" presId="urn:microsoft.com/office/officeart/2005/8/layout/hierarchy3"/>
    <dgm:cxn modelId="{E130B280-B16B-4F0B-AA48-DC3C55704222}" type="presParOf" srcId="{A53CAC92-204E-4E85-B0B9-7D20B72DCE4B}" destId="{DF7F71E1-4B3B-4326-B672-D1B569B6126F}" srcOrd="0" destOrd="0" presId="urn:microsoft.com/office/officeart/2005/8/layout/hierarchy3"/>
    <dgm:cxn modelId="{5E254CD5-6B6A-4315-8621-EF7D25BDE9C5}" type="presParOf" srcId="{A53CAC92-204E-4E85-B0B9-7D20B72DCE4B}" destId="{66892563-564F-44E4-A266-1EC2734095C0}" srcOrd="1" destOrd="0" presId="urn:microsoft.com/office/officeart/2005/8/layout/hierarchy3"/>
    <dgm:cxn modelId="{32F35137-926F-4355-A837-597B3F4CCFA9}" type="presParOf" srcId="{A53CAC92-204E-4E85-B0B9-7D20B72DCE4B}" destId="{952C2306-075C-4CF8-9C3B-AAEB1F842B4B}" srcOrd="2" destOrd="0" presId="urn:microsoft.com/office/officeart/2005/8/layout/hierarchy3"/>
    <dgm:cxn modelId="{BDDD5FF0-1B13-4788-BF9A-90FC4A9E4C06}" type="presParOf" srcId="{A53CAC92-204E-4E85-B0B9-7D20B72DCE4B}" destId="{39696B3C-F933-4E40-AA14-50A853FF287D}" srcOrd="3" destOrd="0" presId="urn:microsoft.com/office/officeart/2005/8/layout/hierarchy3"/>
    <dgm:cxn modelId="{9C4F374F-8EE4-4EBF-BA57-ADD6C6A0E6F1}" type="presParOf" srcId="{A53CAC92-204E-4E85-B0B9-7D20B72DCE4B}" destId="{CF0249C4-53CF-4F76-BDA1-54723AE2A72B}" srcOrd="4" destOrd="0" presId="urn:microsoft.com/office/officeart/2005/8/layout/hierarchy3"/>
    <dgm:cxn modelId="{06627F60-23F2-4B0D-8713-41CFC63D1A03}" type="presParOf" srcId="{A53CAC92-204E-4E85-B0B9-7D20B72DCE4B}" destId="{3D00F93F-71F5-42E0-AC07-FD3043F8DC72}" srcOrd="5" destOrd="0" presId="urn:microsoft.com/office/officeart/2005/8/layout/hierarchy3"/>
    <dgm:cxn modelId="{B1105238-691C-4218-ACCA-E1C1037F1BC3}" type="presParOf" srcId="{A53CAC92-204E-4E85-B0B9-7D20B72DCE4B}" destId="{B77A50C7-E73C-4EC2-9DDE-0EEDC8EA4FBC}" srcOrd="6" destOrd="0" presId="urn:microsoft.com/office/officeart/2005/8/layout/hierarchy3"/>
    <dgm:cxn modelId="{6471D9B4-ADA8-491D-B1D9-8A282EEEA628}" type="presParOf" srcId="{A53CAC92-204E-4E85-B0B9-7D20B72DCE4B}" destId="{9457F0C9-AAF1-4503-8BED-DB207A908C6E}" srcOrd="7" destOrd="0" presId="urn:microsoft.com/office/officeart/2005/8/layout/hierarchy3"/>
    <dgm:cxn modelId="{21525887-4D48-42EB-94BC-B605CB1FF27A}" type="presParOf" srcId="{A53CAC92-204E-4E85-B0B9-7D20B72DCE4B}" destId="{9F825F2C-596F-4D26-8FE7-DD209EFF73E3}" srcOrd="8" destOrd="0" presId="urn:microsoft.com/office/officeart/2005/8/layout/hierarchy3"/>
    <dgm:cxn modelId="{402D02C2-122E-408F-872F-2BAB4EF9B268}" type="presParOf" srcId="{A53CAC92-204E-4E85-B0B9-7D20B72DCE4B}" destId="{D693C482-3020-4DB5-8788-9B15AF130F6F}" srcOrd="9" destOrd="0" presId="urn:microsoft.com/office/officeart/2005/8/layout/hierarchy3"/>
    <dgm:cxn modelId="{D596C26C-E27F-4B1A-844D-61DB6D7B2083}" type="presParOf" srcId="{A53CAC92-204E-4E85-B0B9-7D20B72DCE4B}" destId="{16F10C3D-AE92-4296-8EAF-9ADD2C36FD9A}" srcOrd="10" destOrd="0" presId="urn:microsoft.com/office/officeart/2005/8/layout/hierarchy3"/>
    <dgm:cxn modelId="{50254A63-E9BE-4459-A309-2D288AB01AFC}" type="presParOf" srcId="{A53CAC92-204E-4E85-B0B9-7D20B72DCE4B}" destId="{98B19569-0273-4D8B-BDEA-5B339038098A}" srcOrd="1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585B13D-08BF-4436-8A02-21EB2D54EFA3}" type="doc">
      <dgm:prSet loTypeId="urn:microsoft.com/office/officeart/2005/8/layout/orgChart1" loCatId="hierarchy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96073D3-406C-49BC-8125-B8F535F6DB1C}">
      <dgm:prSet phldrT="[Text]"/>
      <dgm:spPr>
        <a:solidFill>
          <a:schemeClr val="accent4"/>
        </a:solidFill>
      </dgm:spPr>
      <dgm:t>
        <a:bodyPr/>
        <a:lstStyle/>
        <a:p>
          <a:r>
            <a:rPr lang="en-US" b="1" dirty="0"/>
            <a:t>Co-operative Bank</a:t>
          </a:r>
          <a:endParaRPr lang="en-IN" b="1" dirty="0"/>
        </a:p>
      </dgm:t>
    </dgm:pt>
    <dgm:pt modelId="{0BD630C6-7BB1-445B-9F7D-1391C2D5BF2A}" type="parTrans" cxnId="{7F329BC7-7716-4BC4-BEC5-DC9FB411ACB5}">
      <dgm:prSet/>
      <dgm:spPr/>
      <dgm:t>
        <a:bodyPr/>
        <a:lstStyle/>
        <a:p>
          <a:endParaRPr lang="en-IN"/>
        </a:p>
      </dgm:t>
    </dgm:pt>
    <dgm:pt modelId="{348DEB66-2C58-4C4A-BA72-F643C7634AEA}" type="sibTrans" cxnId="{7F329BC7-7716-4BC4-BEC5-DC9FB411ACB5}">
      <dgm:prSet/>
      <dgm:spPr/>
      <dgm:t>
        <a:bodyPr/>
        <a:lstStyle/>
        <a:p>
          <a:endParaRPr lang="en-IN"/>
        </a:p>
      </dgm:t>
    </dgm:pt>
    <dgm:pt modelId="{669C5C8F-6223-48B0-A770-5237F97DB6C5}">
      <dgm:prSet phldrT="[Text]"/>
      <dgm:spPr>
        <a:solidFill>
          <a:srgbClr val="FFC000"/>
        </a:solidFill>
      </dgm:spPr>
      <dgm:t>
        <a:bodyPr/>
        <a:lstStyle/>
        <a:p>
          <a:r>
            <a:rPr lang="en-US" b="1" dirty="0">
              <a:solidFill>
                <a:schemeClr val="tx1"/>
              </a:solidFill>
            </a:rPr>
            <a:t>Urban Co-operative banks</a:t>
          </a:r>
          <a:endParaRPr lang="en-IN" b="1" dirty="0">
            <a:solidFill>
              <a:schemeClr val="tx1"/>
            </a:solidFill>
          </a:endParaRPr>
        </a:p>
      </dgm:t>
    </dgm:pt>
    <dgm:pt modelId="{B3CBB82D-BAEC-4235-9F85-3053F60860F8}" type="parTrans" cxnId="{9C6B4D22-0636-4A5B-ADBB-DE7301EDE73F}">
      <dgm:prSet/>
      <dgm:spPr>
        <a:ln w="57150"/>
      </dgm:spPr>
      <dgm:t>
        <a:bodyPr/>
        <a:lstStyle/>
        <a:p>
          <a:endParaRPr lang="en-IN"/>
        </a:p>
      </dgm:t>
    </dgm:pt>
    <dgm:pt modelId="{14CF6A6B-822C-4BA4-90EC-E2DECC5A96E8}" type="sibTrans" cxnId="{9C6B4D22-0636-4A5B-ADBB-DE7301EDE73F}">
      <dgm:prSet/>
      <dgm:spPr/>
      <dgm:t>
        <a:bodyPr/>
        <a:lstStyle/>
        <a:p>
          <a:endParaRPr lang="en-IN"/>
        </a:p>
      </dgm:t>
    </dgm:pt>
    <dgm:pt modelId="{AF52C030-E6BC-4766-975B-B7CC1B6EB1FC}">
      <dgm:prSet phldrT="[Text]"/>
      <dgm:spPr>
        <a:solidFill>
          <a:srgbClr val="FFC000"/>
        </a:solidFill>
      </dgm:spPr>
      <dgm:t>
        <a:bodyPr/>
        <a:lstStyle/>
        <a:p>
          <a:r>
            <a:rPr lang="en-US" b="1" dirty="0">
              <a:solidFill>
                <a:schemeClr val="tx1"/>
              </a:solidFill>
            </a:rPr>
            <a:t>Rural Co-operative Banks</a:t>
          </a:r>
          <a:endParaRPr lang="en-IN" b="1" dirty="0">
            <a:solidFill>
              <a:schemeClr val="tx1"/>
            </a:solidFill>
          </a:endParaRPr>
        </a:p>
      </dgm:t>
    </dgm:pt>
    <dgm:pt modelId="{BBDF3CA0-04F9-429F-8552-C9356AF4C300}" type="parTrans" cxnId="{9D00EC30-D883-48FC-9B96-F179290E8B91}">
      <dgm:prSet/>
      <dgm:spPr>
        <a:ln w="57150"/>
      </dgm:spPr>
      <dgm:t>
        <a:bodyPr/>
        <a:lstStyle/>
        <a:p>
          <a:endParaRPr lang="en-IN"/>
        </a:p>
      </dgm:t>
    </dgm:pt>
    <dgm:pt modelId="{BE94DC66-ED1E-4C11-8045-92009AF913D3}" type="sibTrans" cxnId="{9D00EC30-D883-48FC-9B96-F179290E8B91}">
      <dgm:prSet/>
      <dgm:spPr/>
      <dgm:t>
        <a:bodyPr/>
        <a:lstStyle/>
        <a:p>
          <a:endParaRPr lang="en-IN"/>
        </a:p>
      </dgm:t>
    </dgm:pt>
    <dgm:pt modelId="{1FD43F19-74D2-4A5A-A571-EA68155CC56F}" type="pres">
      <dgm:prSet presAssocID="{C585B13D-08BF-4436-8A02-21EB2D54EFA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FFAD6B21-7A8D-45F8-BC50-A14D8C4E0E72}" type="pres">
      <dgm:prSet presAssocID="{F96073D3-406C-49BC-8125-B8F535F6DB1C}" presName="hierRoot1" presStyleCnt="0">
        <dgm:presLayoutVars>
          <dgm:hierBranch val="init"/>
        </dgm:presLayoutVars>
      </dgm:prSet>
      <dgm:spPr/>
    </dgm:pt>
    <dgm:pt modelId="{A8ED86F2-E68B-4266-844D-8A99A85762AE}" type="pres">
      <dgm:prSet presAssocID="{F96073D3-406C-49BC-8125-B8F535F6DB1C}" presName="rootComposite1" presStyleCnt="0"/>
      <dgm:spPr/>
    </dgm:pt>
    <dgm:pt modelId="{5ECAB3C5-8D38-493C-B0B3-67FDE3A4DEA9}" type="pres">
      <dgm:prSet presAssocID="{F96073D3-406C-49BC-8125-B8F535F6DB1C}" presName="rootText1" presStyleLbl="node0" presStyleIdx="0" presStyleCnt="1" custScaleX="78405" custScaleY="1784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D5F19F2-EC4B-49AB-B1DF-A5297FB07C14}" type="pres">
      <dgm:prSet presAssocID="{F96073D3-406C-49BC-8125-B8F535F6DB1C}" presName="rootConnector1" presStyleLbl="node1" presStyleIdx="0" presStyleCnt="0"/>
      <dgm:spPr/>
      <dgm:t>
        <a:bodyPr/>
        <a:lstStyle/>
        <a:p>
          <a:endParaRPr lang="en-US"/>
        </a:p>
      </dgm:t>
    </dgm:pt>
    <dgm:pt modelId="{162879F3-0D21-4B10-8068-8271FF92205D}" type="pres">
      <dgm:prSet presAssocID="{F96073D3-406C-49BC-8125-B8F535F6DB1C}" presName="hierChild2" presStyleCnt="0"/>
      <dgm:spPr/>
    </dgm:pt>
    <dgm:pt modelId="{81BB6CBD-DCA9-4852-83B6-F9E5A09157DD}" type="pres">
      <dgm:prSet presAssocID="{B3CBB82D-BAEC-4235-9F85-3053F60860F8}" presName="Name37" presStyleLbl="parChTrans1D2" presStyleIdx="0" presStyleCnt="2"/>
      <dgm:spPr/>
      <dgm:t>
        <a:bodyPr/>
        <a:lstStyle/>
        <a:p>
          <a:endParaRPr lang="en-US"/>
        </a:p>
      </dgm:t>
    </dgm:pt>
    <dgm:pt modelId="{92072A94-788C-437D-A410-3F8689CE2949}" type="pres">
      <dgm:prSet presAssocID="{669C5C8F-6223-48B0-A770-5237F97DB6C5}" presName="hierRoot2" presStyleCnt="0">
        <dgm:presLayoutVars>
          <dgm:hierBranch val="init"/>
        </dgm:presLayoutVars>
      </dgm:prSet>
      <dgm:spPr/>
    </dgm:pt>
    <dgm:pt modelId="{BC5F4F61-1135-491B-B0E7-68151A805750}" type="pres">
      <dgm:prSet presAssocID="{669C5C8F-6223-48B0-A770-5237F97DB6C5}" presName="rootComposite" presStyleCnt="0"/>
      <dgm:spPr/>
    </dgm:pt>
    <dgm:pt modelId="{50F08139-308D-486D-B3BC-7DADD927C83C}" type="pres">
      <dgm:prSet presAssocID="{669C5C8F-6223-48B0-A770-5237F97DB6C5}" presName="rootText" presStyleLbl="node2" presStyleIdx="0" presStyleCnt="2" custScaleX="77401" custScaleY="1641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C275FB7-0295-4A32-85AB-94761C58D488}" type="pres">
      <dgm:prSet presAssocID="{669C5C8F-6223-48B0-A770-5237F97DB6C5}" presName="rootConnector" presStyleLbl="node2" presStyleIdx="0" presStyleCnt="2"/>
      <dgm:spPr/>
      <dgm:t>
        <a:bodyPr/>
        <a:lstStyle/>
        <a:p>
          <a:endParaRPr lang="en-US"/>
        </a:p>
      </dgm:t>
    </dgm:pt>
    <dgm:pt modelId="{54BBD7ED-9A7E-4F7D-8EAE-93FA673C280D}" type="pres">
      <dgm:prSet presAssocID="{669C5C8F-6223-48B0-A770-5237F97DB6C5}" presName="hierChild4" presStyleCnt="0"/>
      <dgm:spPr/>
    </dgm:pt>
    <dgm:pt modelId="{2B84B1E9-283E-464B-B199-5EEE83367F09}" type="pres">
      <dgm:prSet presAssocID="{669C5C8F-6223-48B0-A770-5237F97DB6C5}" presName="hierChild5" presStyleCnt="0"/>
      <dgm:spPr/>
    </dgm:pt>
    <dgm:pt modelId="{667CEBD0-5738-48E8-8EC1-E4DC63265A23}" type="pres">
      <dgm:prSet presAssocID="{BBDF3CA0-04F9-429F-8552-C9356AF4C300}" presName="Name37" presStyleLbl="parChTrans1D2" presStyleIdx="1" presStyleCnt="2"/>
      <dgm:spPr/>
      <dgm:t>
        <a:bodyPr/>
        <a:lstStyle/>
        <a:p>
          <a:endParaRPr lang="en-US"/>
        </a:p>
      </dgm:t>
    </dgm:pt>
    <dgm:pt modelId="{A8444332-7D6D-4C64-8E83-AE4C750C5593}" type="pres">
      <dgm:prSet presAssocID="{AF52C030-E6BC-4766-975B-B7CC1B6EB1FC}" presName="hierRoot2" presStyleCnt="0">
        <dgm:presLayoutVars>
          <dgm:hierBranch val="init"/>
        </dgm:presLayoutVars>
      </dgm:prSet>
      <dgm:spPr/>
    </dgm:pt>
    <dgm:pt modelId="{ACA35744-96BA-46CF-889C-ABCDD732A494}" type="pres">
      <dgm:prSet presAssocID="{AF52C030-E6BC-4766-975B-B7CC1B6EB1FC}" presName="rootComposite" presStyleCnt="0"/>
      <dgm:spPr/>
    </dgm:pt>
    <dgm:pt modelId="{009ECB25-D3E0-49C6-8716-E543B6FD0205}" type="pres">
      <dgm:prSet presAssocID="{AF52C030-E6BC-4766-975B-B7CC1B6EB1FC}" presName="rootText" presStyleLbl="node2" presStyleIdx="1" presStyleCnt="2" custScaleX="77440" custScaleY="1627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E233BA3-D440-4C97-A31B-BCFB41B5993A}" type="pres">
      <dgm:prSet presAssocID="{AF52C030-E6BC-4766-975B-B7CC1B6EB1FC}" presName="rootConnector" presStyleLbl="node2" presStyleIdx="1" presStyleCnt="2"/>
      <dgm:spPr/>
      <dgm:t>
        <a:bodyPr/>
        <a:lstStyle/>
        <a:p>
          <a:endParaRPr lang="en-US"/>
        </a:p>
      </dgm:t>
    </dgm:pt>
    <dgm:pt modelId="{6BC09687-00AE-4BD5-983B-304862516CA4}" type="pres">
      <dgm:prSet presAssocID="{AF52C030-E6BC-4766-975B-B7CC1B6EB1FC}" presName="hierChild4" presStyleCnt="0"/>
      <dgm:spPr/>
    </dgm:pt>
    <dgm:pt modelId="{2BB82378-6058-4E6F-8738-2442A2ED66CC}" type="pres">
      <dgm:prSet presAssocID="{AF52C030-E6BC-4766-975B-B7CC1B6EB1FC}" presName="hierChild5" presStyleCnt="0"/>
      <dgm:spPr/>
    </dgm:pt>
    <dgm:pt modelId="{50905094-D20D-49BA-991E-1EA6C9AE5BA9}" type="pres">
      <dgm:prSet presAssocID="{F96073D3-406C-49BC-8125-B8F535F6DB1C}" presName="hierChild3" presStyleCnt="0"/>
      <dgm:spPr/>
    </dgm:pt>
  </dgm:ptLst>
  <dgm:cxnLst>
    <dgm:cxn modelId="{9C6B4D22-0636-4A5B-ADBB-DE7301EDE73F}" srcId="{F96073D3-406C-49BC-8125-B8F535F6DB1C}" destId="{669C5C8F-6223-48B0-A770-5237F97DB6C5}" srcOrd="0" destOrd="0" parTransId="{B3CBB82D-BAEC-4235-9F85-3053F60860F8}" sibTransId="{14CF6A6B-822C-4BA4-90EC-E2DECC5A96E8}"/>
    <dgm:cxn modelId="{CD9DE71E-576A-466C-8F12-D9033838C247}" type="presOf" srcId="{AF52C030-E6BC-4766-975B-B7CC1B6EB1FC}" destId="{009ECB25-D3E0-49C6-8716-E543B6FD0205}" srcOrd="0" destOrd="0" presId="urn:microsoft.com/office/officeart/2005/8/layout/orgChart1"/>
    <dgm:cxn modelId="{7F329BC7-7716-4BC4-BEC5-DC9FB411ACB5}" srcId="{C585B13D-08BF-4436-8A02-21EB2D54EFA3}" destId="{F96073D3-406C-49BC-8125-B8F535F6DB1C}" srcOrd="0" destOrd="0" parTransId="{0BD630C6-7BB1-445B-9F7D-1391C2D5BF2A}" sibTransId="{348DEB66-2C58-4C4A-BA72-F643C7634AEA}"/>
    <dgm:cxn modelId="{6EBEA7AC-5079-4AEB-BB71-A11E675DB2A9}" type="presOf" srcId="{669C5C8F-6223-48B0-A770-5237F97DB6C5}" destId="{50F08139-308D-486D-B3BC-7DADD927C83C}" srcOrd="0" destOrd="0" presId="urn:microsoft.com/office/officeart/2005/8/layout/orgChart1"/>
    <dgm:cxn modelId="{635CF3C8-65F9-4F1E-81F3-AF8DA4318058}" type="presOf" srcId="{AF52C030-E6BC-4766-975B-B7CC1B6EB1FC}" destId="{6E233BA3-D440-4C97-A31B-BCFB41B5993A}" srcOrd="1" destOrd="0" presId="urn:microsoft.com/office/officeart/2005/8/layout/orgChart1"/>
    <dgm:cxn modelId="{12B65B89-ABA8-42C0-9A0C-5468A7513253}" type="presOf" srcId="{C585B13D-08BF-4436-8A02-21EB2D54EFA3}" destId="{1FD43F19-74D2-4A5A-A571-EA68155CC56F}" srcOrd="0" destOrd="0" presId="urn:microsoft.com/office/officeart/2005/8/layout/orgChart1"/>
    <dgm:cxn modelId="{0B807737-D16E-4413-B323-7E3C82600A36}" type="presOf" srcId="{F96073D3-406C-49BC-8125-B8F535F6DB1C}" destId="{5ECAB3C5-8D38-493C-B0B3-67FDE3A4DEA9}" srcOrd="0" destOrd="0" presId="urn:microsoft.com/office/officeart/2005/8/layout/orgChart1"/>
    <dgm:cxn modelId="{11C3C9D7-8EBB-4080-A6F5-63348764617D}" type="presOf" srcId="{669C5C8F-6223-48B0-A770-5237F97DB6C5}" destId="{BC275FB7-0295-4A32-85AB-94761C58D488}" srcOrd="1" destOrd="0" presId="urn:microsoft.com/office/officeart/2005/8/layout/orgChart1"/>
    <dgm:cxn modelId="{4045965B-85A4-4CC9-8C5E-E1E678796D8E}" type="presOf" srcId="{F96073D3-406C-49BC-8125-B8F535F6DB1C}" destId="{ED5F19F2-EC4B-49AB-B1DF-A5297FB07C14}" srcOrd="1" destOrd="0" presId="urn:microsoft.com/office/officeart/2005/8/layout/orgChart1"/>
    <dgm:cxn modelId="{72D0D66D-EA1F-4F0A-8FE0-6B5A977A2049}" type="presOf" srcId="{BBDF3CA0-04F9-429F-8552-C9356AF4C300}" destId="{667CEBD0-5738-48E8-8EC1-E4DC63265A23}" srcOrd="0" destOrd="0" presId="urn:microsoft.com/office/officeart/2005/8/layout/orgChart1"/>
    <dgm:cxn modelId="{1E25C809-AB81-49B5-AEE2-E02FCA94F0C2}" type="presOf" srcId="{B3CBB82D-BAEC-4235-9F85-3053F60860F8}" destId="{81BB6CBD-DCA9-4852-83B6-F9E5A09157DD}" srcOrd="0" destOrd="0" presId="urn:microsoft.com/office/officeart/2005/8/layout/orgChart1"/>
    <dgm:cxn modelId="{9D00EC30-D883-48FC-9B96-F179290E8B91}" srcId="{F96073D3-406C-49BC-8125-B8F535F6DB1C}" destId="{AF52C030-E6BC-4766-975B-B7CC1B6EB1FC}" srcOrd="1" destOrd="0" parTransId="{BBDF3CA0-04F9-429F-8552-C9356AF4C300}" sibTransId="{BE94DC66-ED1E-4C11-8045-92009AF913D3}"/>
    <dgm:cxn modelId="{A0C175F8-4EA8-477B-8519-687530F8040F}" type="presParOf" srcId="{1FD43F19-74D2-4A5A-A571-EA68155CC56F}" destId="{FFAD6B21-7A8D-45F8-BC50-A14D8C4E0E72}" srcOrd="0" destOrd="0" presId="urn:microsoft.com/office/officeart/2005/8/layout/orgChart1"/>
    <dgm:cxn modelId="{E5C9DB45-DE7E-461D-BDA0-937E9562E5AE}" type="presParOf" srcId="{FFAD6B21-7A8D-45F8-BC50-A14D8C4E0E72}" destId="{A8ED86F2-E68B-4266-844D-8A99A85762AE}" srcOrd="0" destOrd="0" presId="urn:microsoft.com/office/officeart/2005/8/layout/orgChart1"/>
    <dgm:cxn modelId="{5C5B002F-BBF8-4A22-B8E5-F9F127FED02B}" type="presParOf" srcId="{A8ED86F2-E68B-4266-844D-8A99A85762AE}" destId="{5ECAB3C5-8D38-493C-B0B3-67FDE3A4DEA9}" srcOrd="0" destOrd="0" presId="urn:microsoft.com/office/officeart/2005/8/layout/orgChart1"/>
    <dgm:cxn modelId="{49481523-0F43-46C4-BACC-064A4312F2FA}" type="presParOf" srcId="{A8ED86F2-E68B-4266-844D-8A99A85762AE}" destId="{ED5F19F2-EC4B-49AB-B1DF-A5297FB07C14}" srcOrd="1" destOrd="0" presId="urn:microsoft.com/office/officeart/2005/8/layout/orgChart1"/>
    <dgm:cxn modelId="{541CC61C-8C24-4B82-A8D4-51D27CF762B0}" type="presParOf" srcId="{FFAD6B21-7A8D-45F8-BC50-A14D8C4E0E72}" destId="{162879F3-0D21-4B10-8068-8271FF92205D}" srcOrd="1" destOrd="0" presId="urn:microsoft.com/office/officeart/2005/8/layout/orgChart1"/>
    <dgm:cxn modelId="{EC97554A-05FF-4166-B6F0-8D40280C644F}" type="presParOf" srcId="{162879F3-0D21-4B10-8068-8271FF92205D}" destId="{81BB6CBD-DCA9-4852-83B6-F9E5A09157DD}" srcOrd="0" destOrd="0" presId="urn:microsoft.com/office/officeart/2005/8/layout/orgChart1"/>
    <dgm:cxn modelId="{C0245886-7039-4D4E-BB19-7EAA24EB7D8B}" type="presParOf" srcId="{162879F3-0D21-4B10-8068-8271FF92205D}" destId="{92072A94-788C-437D-A410-3F8689CE2949}" srcOrd="1" destOrd="0" presId="urn:microsoft.com/office/officeart/2005/8/layout/orgChart1"/>
    <dgm:cxn modelId="{3420005C-56BE-43AB-B5B0-E061B59CC73B}" type="presParOf" srcId="{92072A94-788C-437D-A410-3F8689CE2949}" destId="{BC5F4F61-1135-491B-B0E7-68151A805750}" srcOrd="0" destOrd="0" presId="urn:microsoft.com/office/officeart/2005/8/layout/orgChart1"/>
    <dgm:cxn modelId="{2D4DB65A-58B2-41CA-AD61-3E4D1CD9C8CE}" type="presParOf" srcId="{BC5F4F61-1135-491B-B0E7-68151A805750}" destId="{50F08139-308D-486D-B3BC-7DADD927C83C}" srcOrd="0" destOrd="0" presId="urn:microsoft.com/office/officeart/2005/8/layout/orgChart1"/>
    <dgm:cxn modelId="{EE587F2F-C6A8-47D9-AF3F-CFCCF5CAC909}" type="presParOf" srcId="{BC5F4F61-1135-491B-B0E7-68151A805750}" destId="{BC275FB7-0295-4A32-85AB-94761C58D488}" srcOrd="1" destOrd="0" presId="urn:microsoft.com/office/officeart/2005/8/layout/orgChart1"/>
    <dgm:cxn modelId="{2A950587-A40C-4EC5-870F-D5ACAA3F0734}" type="presParOf" srcId="{92072A94-788C-437D-A410-3F8689CE2949}" destId="{54BBD7ED-9A7E-4F7D-8EAE-93FA673C280D}" srcOrd="1" destOrd="0" presId="urn:microsoft.com/office/officeart/2005/8/layout/orgChart1"/>
    <dgm:cxn modelId="{5C99B129-B82F-4BCA-93D4-A02D5FEB104A}" type="presParOf" srcId="{92072A94-788C-437D-A410-3F8689CE2949}" destId="{2B84B1E9-283E-464B-B199-5EEE83367F09}" srcOrd="2" destOrd="0" presId="urn:microsoft.com/office/officeart/2005/8/layout/orgChart1"/>
    <dgm:cxn modelId="{317D13A9-991B-45A1-9FB9-BB1652F97D25}" type="presParOf" srcId="{162879F3-0D21-4B10-8068-8271FF92205D}" destId="{667CEBD0-5738-48E8-8EC1-E4DC63265A23}" srcOrd="2" destOrd="0" presId="urn:microsoft.com/office/officeart/2005/8/layout/orgChart1"/>
    <dgm:cxn modelId="{8D18BBF1-8B55-45DF-973F-F51CF6718E9D}" type="presParOf" srcId="{162879F3-0D21-4B10-8068-8271FF92205D}" destId="{A8444332-7D6D-4C64-8E83-AE4C750C5593}" srcOrd="3" destOrd="0" presId="urn:microsoft.com/office/officeart/2005/8/layout/orgChart1"/>
    <dgm:cxn modelId="{D7547F1B-BDFD-4E92-A68B-F1D48ED97B38}" type="presParOf" srcId="{A8444332-7D6D-4C64-8E83-AE4C750C5593}" destId="{ACA35744-96BA-46CF-889C-ABCDD732A494}" srcOrd="0" destOrd="0" presId="urn:microsoft.com/office/officeart/2005/8/layout/orgChart1"/>
    <dgm:cxn modelId="{8BA34BD0-7DA0-4721-BBE6-465E47E99E19}" type="presParOf" srcId="{ACA35744-96BA-46CF-889C-ABCDD732A494}" destId="{009ECB25-D3E0-49C6-8716-E543B6FD0205}" srcOrd="0" destOrd="0" presId="urn:microsoft.com/office/officeart/2005/8/layout/orgChart1"/>
    <dgm:cxn modelId="{4987A7FA-0F5C-49FA-A09B-5133D6C16262}" type="presParOf" srcId="{ACA35744-96BA-46CF-889C-ABCDD732A494}" destId="{6E233BA3-D440-4C97-A31B-BCFB41B5993A}" srcOrd="1" destOrd="0" presId="urn:microsoft.com/office/officeart/2005/8/layout/orgChart1"/>
    <dgm:cxn modelId="{80CE3E5E-062E-4946-B73D-5EC46D76559B}" type="presParOf" srcId="{A8444332-7D6D-4C64-8E83-AE4C750C5593}" destId="{6BC09687-00AE-4BD5-983B-304862516CA4}" srcOrd="1" destOrd="0" presId="urn:microsoft.com/office/officeart/2005/8/layout/orgChart1"/>
    <dgm:cxn modelId="{8C8A35E5-716B-4F99-A87D-D9D952F4746B}" type="presParOf" srcId="{A8444332-7D6D-4C64-8E83-AE4C750C5593}" destId="{2BB82378-6058-4E6F-8738-2442A2ED66CC}" srcOrd="2" destOrd="0" presId="urn:microsoft.com/office/officeart/2005/8/layout/orgChart1"/>
    <dgm:cxn modelId="{071784C5-9AC2-40FD-8959-CA7FBDFED2B6}" type="presParOf" srcId="{FFAD6B21-7A8D-45F8-BC50-A14D8C4E0E72}" destId="{50905094-D20D-49BA-991E-1EA6C9AE5BA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DA12981-AE88-4C7C-89EF-0826C705E3E6}" type="doc">
      <dgm:prSet loTypeId="urn:microsoft.com/office/officeart/2005/8/layout/hierarchy1" loCatId="hierarchy" qsTypeId="urn:microsoft.com/office/officeart/2005/8/quickstyle/3d2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8FD94CD7-B698-4E9F-90BD-5C96CA67FFD6}">
      <dgm:prSet phldrT="[Text]" custT="1"/>
      <dgm:spPr/>
      <dgm:t>
        <a:bodyPr/>
        <a:lstStyle/>
        <a:p>
          <a:r>
            <a:rPr lang="en-US" sz="2000" dirty="0" smtClean="0"/>
            <a:t>Development Financial Institutions</a:t>
          </a:r>
          <a:endParaRPr lang="en-US" sz="2000" dirty="0"/>
        </a:p>
      </dgm:t>
    </dgm:pt>
    <dgm:pt modelId="{ADA3B61C-41CE-40E5-AE22-4D5F45A6621C}" type="parTrans" cxnId="{662208E0-4C13-411B-8B41-E4A08507C744}">
      <dgm:prSet/>
      <dgm:spPr/>
      <dgm:t>
        <a:bodyPr/>
        <a:lstStyle/>
        <a:p>
          <a:endParaRPr lang="en-US" sz="3200"/>
        </a:p>
      </dgm:t>
    </dgm:pt>
    <dgm:pt modelId="{D7F8EF6A-1A64-4F40-9739-D240E66C1FE6}" type="sibTrans" cxnId="{662208E0-4C13-411B-8B41-E4A08507C744}">
      <dgm:prSet/>
      <dgm:spPr/>
      <dgm:t>
        <a:bodyPr/>
        <a:lstStyle/>
        <a:p>
          <a:endParaRPr lang="en-US" sz="3200"/>
        </a:p>
      </dgm:t>
    </dgm:pt>
    <dgm:pt modelId="{772D725A-F560-41CC-B368-DDB4CDD6CA04}">
      <dgm:prSet phldrT="[Text]" custT="1"/>
      <dgm:spPr/>
      <dgm:t>
        <a:bodyPr/>
        <a:lstStyle/>
        <a:p>
          <a:r>
            <a:rPr lang="en-US" sz="2000" dirty="0"/>
            <a:t>Industrial</a:t>
          </a:r>
          <a:r>
            <a:rPr lang="en-US" sz="2000" baseline="0" dirty="0"/>
            <a:t> Development Banks</a:t>
          </a:r>
          <a:endParaRPr lang="en-US" sz="2000" dirty="0"/>
        </a:p>
      </dgm:t>
    </dgm:pt>
    <dgm:pt modelId="{380397C8-943B-454F-82CF-F27D1E74ACEA}" type="parTrans" cxnId="{D78E1FE8-BAA6-42B2-9AFD-C045E3733920}">
      <dgm:prSet/>
      <dgm:spPr/>
      <dgm:t>
        <a:bodyPr/>
        <a:lstStyle/>
        <a:p>
          <a:endParaRPr lang="en-US" sz="3200"/>
        </a:p>
      </dgm:t>
    </dgm:pt>
    <dgm:pt modelId="{E4C650D2-8228-4F8D-9E02-85BECC19FB0F}" type="sibTrans" cxnId="{D78E1FE8-BAA6-42B2-9AFD-C045E3733920}">
      <dgm:prSet/>
      <dgm:spPr/>
      <dgm:t>
        <a:bodyPr/>
        <a:lstStyle/>
        <a:p>
          <a:endParaRPr lang="en-US" sz="3200"/>
        </a:p>
      </dgm:t>
    </dgm:pt>
    <dgm:pt modelId="{FE766F3A-98BD-44AB-BFBE-1589B52225E7}">
      <dgm:prSet phldrT="[Text]" custT="1"/>
      <dgm:spPr/>
      <dgm:t>
        <a:bodyPr/>
        <a:lstStyle/>
        <a:p>
          <a:r>
            <a:rPr lang="en-US" sz="2000" dirty="0"/>
            <a:t>Agricultural Development Banks</a:t>
          </a:r>
        </a:p>
      </dgm:t>
    </dgm:pt>
    <dgm:pt modelId="{0A6B1B52-A1F0-4C27-99DD-4CEA32D7CBE1}" type="parTrans" cxnId="{D345AF82-947E-48A0-909C-C5C6DE24D662}">
      <dgm:prSet/>
      <dgm:spPr/>
      <dgm:t>
        <a:bodyPr/>
        <a:lstStyle/>
        <a:p>
          <a:endParaRPr lang="en-US" sz="3200"/>
        </a:p>
      </dgm:t>
    </dgm:pt>
    <dgm:pt modelId="{FC890287-DF6C-4A38-8126-CAD1C8406E27}" type="sibTrans" cxnId="{D345AF82-947E-48A0-909C-C5C6DE24D662}">
      <dgm:prSet/>
      <dgm:spPr/>
      <dgm:t>
        <a:bodyPr/>
        <a:lstStyle/>
        <a:p>
          <a:endParaRPr lang="en-US" sz="3200"/>
        </a:p>
      </dgm:t>
    </dgm:pt>
    <dgm:pt modelId="{708A0F06-6168-42E5-9F11-08E3DFFC0E93}">
      <dgm:prSet/>
      <dgm:spPr/>
      <dgm:t>
        <a:bodyPr/>
        <a:lstStyle/>
        <a:p>
          <a:r>
            <a:rPr lang="en-US" dirty="0"/>
            <a:t>Export Import Development Banks</a:t>
          </a:r>
          <a:endParaRPr lang="en-IN" dirty="0"/>
        </a:p>
      </dgm:t>
    </dgm:pt>
    <dgm:pt modelId="{D5E64B73-7D8A-450F-8F54-F345FFAA13B1}" type="parTrans" cxnId="{0CA825E7-2FF9-440D-B1AE-5BEA124270AE}">
      <dgm:prSet/>
      <dgm:spPr/>
      <dgm:t>
        <a:bodyPr/>
        <a:lstStyle/>
        <a:p>
          <a:endParaRPr lang="en-IN"/>
        </a:p>
      </dgm:t>
    </dgm:pt>
    <dgm:pt modelId="{6C56AACF-62B7-4A7B-8C0C-E989C8780446}" type="sibTrans" cxnId="{0CA825E7-2FF9-440D-B1AE-5BEA124270AE}">
      <dgm:prSet/>
      <dgm:spPr/>
      <dgm:t>
        <a:bodyPr/>
        <a:lstStyle/>
        <a:p>
          <a:endParaRPr lang="en-IN"/>
        </a:p>
      </dgm:t>
    </dgm:pt>
    <dgm:pt modelId="{85A233ED-14E5-472B-AD25-44D8FE1C68D1}">
      <dgm:prSet/>
      <dgm:spPr/>
      <dgm:t>
        <a:bodyPr/>
        <a:lstStyle/>
        <a:p>
          <a:r>
            <a:rPr lang="en-US" dirty="0"/>
            <a:t>Infrastructure Development Banks</a:t>
          </a:r>
          <a:endParaRPr lang="en-IN" dirty="0"/>
        </a:p>
      </dgm:t>
    </dgm:pt>
    <dgm:pt modelId="{61A44873-8EE3-4C1E-B25A-34B6CBCC4BC0}" type="parTrans" cxnId="{1A1A5E8F-F903-4194-BB07-CACC9DFCCC04}">
      <dgm:prSet/>
      <dgm:spPr/>
      <dgm:t>
        <a:bodyPr/>
        <a:lstStyle/>
        <a:p>
          <a:endParaRPr lang="en-IN"/>
        </a:p>
      </dgm:t>
    </dgm:pt>
    <dgm:pt modelId="{73F18E46-3C6A-414A-ACEE-2F2DB5E7C3F6}" type="sibTrans" cxnId="{1A1A5E8F-F903-4194-BB07-CACC9DFCCC04}">
      <dgm:prSet/>
      <dgm:spPr/>
      <dgm:t>
        <a:bodyPr/>
        <a:lstStyle/>
        <a:p>
          <a:endParaRPr lang="en-IN"/>
        </a:p>
      </dgm:t>
    </dgm:pt>
    <dgm:pt modelId="{5C2D4E9A-3A53-495E-A7AE-011E74A3714E}" type="pres">
      <dgm:prSet presAssocID="{0DA12981-AE88-4C7C-89EF-0826C705E3E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5A15403C-C29A-4AFD-A23B-2F264C4AE2E8}" type="pres">
      <dgm:prSet presAssocID="{8FD94CD7-B698-4E9F-90BD-5C96CA67FFD6}" presName="hierRoot1" presStyleCnt="0"/>
      <dgm:spPr/>
    </dgm:pt>
    <dgm:pt modelId="{39874CEF-9A24-4B74-8945-F7029DC40849}" type="pres">
      <dgm:prSet presAssocID="{8FD94CD7-B698-4E9F-90BD-5C96CA67FFD6}" presName="composite" presStyleCnt="0"/>
      <dgm:spPr/>
    </dgm:pt>
    <dgm:pt modelId="{5B56E14E-9766-4D70-B15F-AB61EC8C0554}" type="pres">
      <dgm:prSet presAssocID="{8FD94CD7-B698-4E9F-90BD-5C96CA67FFD6}" presName="background" presStyleLbl="node0" presStyleIdx="0" presStyleCnt="1"/>
      <dgm:spPr/>
    </dgm:pt>
    <dgm:pt modelId="{72A31547-3080-409F-90AE-23A358E66FAE}" type="pres">
      <dgm:prSet presAssocID="{8FD94CD7-B698-4E9F-90BD-5C96CA67FFD6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19B74C5-90F1-44FD-A9CE-1B9503874B55}" type="pres">
      <dgm:prSet presAssocID="{8FD94CD7-B698-4E9F-90BD-5C96CA67FFD6}" presName="hierChild2" presStyleCnt="0"/>
      <dgm:spPr/>
    </dgm:pt>
    <dgm:pt modelId="{000858F0-F835-4D75-8DBC-9E26988ADF23}" type="pres">
      <dgm:prSet presAssocID="{380397C8-943B-454F-82CF-F27D1E74ACEA}" presName="Name10" presStyleLbl="parChTrans1D2" presStyleIdx="0" presStyleCnt="4"/>
      <dgm:spPr/>
      <dgm:t>
        <a:bodyPr/>
        <a:lstStyle/>
        <a:p>
          <a:endParaRPr lang="en-US"/>
        </a:p>
      </dgm:t>
    </dgm:pt>
    <dgm:pt modelId="{04EF25C0-B04A-4687-9E8C-BEFB026463D0}" type="pres">
      <dgm:prSet presAssocID="{772D725A-F560-41CC-B368-DDB4CDD6CA04}" presName="hierRoot2" presStyleCnt="0"/>
      <dgm:spPr/>
    </dgm:pt>
    <dgm:pt modelId="{D714FD6E-A3BA-4313-BF5C-B47EDDF9A40C}" type="pres">
      <dgm:prSet presAssocID="{772D725A-F560-41CC-B368-DDB4CDD6CA04}" presName="composite2" presStyleCnt="0"/>
      <dgm:spPr/>
    </dgm:pt>
    <dgm:pt modelId="{9467613C-3B3B-4298-9B25-89870E027C7E}" type="pres">
      <dgm:prSet presAssocID="{772D725A-F560-41CC-B368-DDB4CDD6CA04}" presName="background2" presStyleLbl="node2" presStyleIdx="0" presStyleCnt="4"/>
      <dgm:spPr/>
    </dgm:pt>
    <dgm:pt modelId="{9518FD3E-2025-4FDF-B32F-39C29A311B8F}" type="pres">
      <dgm:prSet presAssocID="{772D725A-F560-41CC-B368-DDB4CDD6CA04}" presName="text2" presStyleLbl="fgAcc2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7238286-D3D2-4EB4-BF84-79A1DF091EC5}" type="pres">
      <dgm:prSet presAssocID="{772D725A-F560-41CC-B368-DDB4CDD6CA04}" presName="hierChild3" presStyleCnt="0"/>
      <dgm:spPr/>
    </dgm:pt>
    <dgm:pt modelId="{BA5B1DB2-4F5D-4152-9E1B-2BEFAAB16A5A}" type="pres">
      <dgm:prSet presAssocID="{0A6B1B52-A1F0-4C27-99DD-4CEA32D7CBE1}" presName="Name10" presStyleLbl="parChTrans1D2" presStyleIdx="1" presStyleCnt="4"/>
      <dgm:spPr/>
      <dgm:t>
        <a:bodyPr/>
        <a:lstStyle/>
        <a:p>
          <a:endParaRPr lang="en-US"/>
        </a:p>
      </dgm:t>
    </dgm:pt>
    <dgm:pt modelId="{0DF9FE0C-6CDD-469E-AEBF-7DC4CD13CF60}" type="pres">
      <dgm:prSet presAssocID="{FE766F3A-98BD-44AB-BFBE-1589B52225E7}" presName="hierRoot2" presStyleCnt="0"/>
      <dgm:spPr/>
    </dgm:pt>
    <dgm:pt modelId="{2ECE9B31-BCA7-437D-B2A2-225166D72EF1}" type="pres">
      <dgm:prSet presAssocID="{FE766F3A-98BD-44AB-BFBE-1589B52225E7}" presName="composite2" presStyleCnt="0"/>
      <dgm:spPr/>
    </dgm:pt>
    <dgm:pt modelId="{D0722775-25C9-4188-891C-2A6B501202E0}" type="pres">
      <dgm:prSet presAssocID="{FE766F3A-98BD-44AB-BFBE-1589B52225E7}" presName="background2" presStyleLbl="node2" presStyleIdx="1" presStyleCnt="4"/>
      <dgm:spPr/>
    </dgm:pt>
    <dgm:pt modelId="{5288724F-9449-4380-A196-47F29BDA2D5D}" type="pres">
      <dgm:prSet presAssocID="{FE766F3A-98BD-44AB-BFBE-1589B52225E7}" presName="text2" presStyleLbl="fgAcc2" presStyleIdx="1" presStyleCnt="4" custScaleX="12056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DBF6F50-6EBE-4EA1-A4F9-4D8B923D5A77}" type="pres">
      <dgm:prSet presAssocID="{FE766F3A-98BD-44AB-BFBE-1589B52225E7}" presName="hierChild3" presStyleCnt="0"/>
      <dgm:spPr/>
    </dgm:pt>
    <dgm:pt modelId="{C438B405-09B6-45A1-9EDC-F7F53A9101C9}" type="pres">
      <dgm:prSet presAssocID="{D5E64B73-7D8A-450F-8F54-F345FFAA13B1}" presName="Name10" presStyleLbl="parChTrans1D2" presStyleIdx="2" presStyleCnt="4"/>
      <dgm:spPr/>
      <dgm:t>
        <a:bodyPr/>
        <a:lstStyle/>
        <a:p>
          <a:endParaRPr lang="en-US"/>
        </a:p>
      </dgm:t>
    </dgm:pt>
    <dgm:pt modelId="{35EAE04F-B306-4867-93A2-0E8C7CDF6A94}" type="pres">
      <dgm:prSet presAssocID="{708A0F06-6168-42E5-9F11-08E3DFFC0E93}" presName="hierRoot2" presStyleCnt="0"/>
      <dgm:spPr/>
    </dgm:pt>
    <dgm:pt modelId="{BCCEFD2F-6EB2-4818-96B4-BC83B6D46148}" type="pres">
      <dgm:prSet presAssocID="{708A0F06-6168-42E5-9F11-08E3DFFC0E93}" presName="composite2" presStyleCnt="0"/>
      <dgm:spPr/>
    </dgm:pt>
    <dgm:pt modelId="{58D9A256-7A26-4FCB-A502-F7EC0620C537}" type="pres">
      <dgm:prSet presAssocID="{708A0F06-6168-42E5-9F11-08E3DFFC0E93}" presName="background2" presStyleLbl="node2" presStyleIdx="2" presStyleCnt="4"/>
      <dgm:spPr/>
    </dgm:pt>
    <dgm:pt modelId="{ADCE1AF2-41F8-4DA1-A9B4-1DE8EBB3E27C}" type="pres">
      <dgm:prSet presAssocID="{708A0F06-6168-42E5-9F11-08E3DFFC0E93}" presName="text2" presStyleLbl="fgAcc2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20C9327-E2EC-4515-A953-959F1CB51509}" type="pres">
      <dgm:prSet presAssocID="{708A0F06-6168-42E5-9F11-08E3DFFC0E93}" presName="hierChild3" presStyleCnt="0"/>
      <dgm:spPr/>
    </dgm:pt>
    <dgm:pt modelId="{587E3301-007A-4ADF-A6CC-571C4B2D8E53}" type="pres">
      <dgm:prSet presAssocID="{61A44873-8EE3-4C1E-B25A-34B6CBCC4BC0}" presName="Name10" presStyleLbl="parChTrans1D2" presStyleIdx="3" presStyleCnt="4"/>
      <dgm:spPr/>
      <dgm:t>
        <a:bodyPr/>
        <a:lstStyle/>
        <a:p>
          <a:endParaRPr lang="en-US"/>
        </a:p>
      </dgm:t>
    </dgm:pt>
    <dgm:pt modelId="{565DE6DB-4C1C-4965-9F87-0884C0403CB9}" type="pres">
      <dgm:prSet presAssocID="{85A233ED-14E5-472B-AD25-44D8FE1C68D1}" presName="hierRoot2" presStyleCnt="0"/>
      <dgm:spPr/>
    </dgm:pt>
    <dgm:pt modelId="{237FF08D-E06E-4E23-A38C-8CA83953CDE3}" type="pres">
      <dgm:prSet presAssocID="{85A233ED-14E5-472B-AD25-44D8FE1C68D1}" presName="composite2" presStyleCnt="0"/>
      <dgm:spPr/>
    </dgm:pt>
    <dgm:pt modelId="{83343A24-2A5B-4CCD-9C8E-0EB912E1DB07}" type="pres">
      <dgm:prSet presAssocID="{85A233ED-14E5-472B-AD25-44D8FE1C68D1}" presName="background2" presStyleLbl="node2" presStyleIdx="3" presStyleCnt="4"/>
      <dgm:spPr/>
    </dgm:pt>
    <dgm:pt modelId="{91DB2F96-73DC-4AA5-928E-B2C387C49BFC}" type="pres">
      <dgm:prSet presAssocID="{85A233ED-14E5-472B-AD25-44D8FE1C68D1}" presName="text2" presStyleLbl="fgAcc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B597B16-2FDC-45FC-8731-1C955D0C1EAB}" type="pres">
      <dgm:prSet presAssocID="{85A233ED-14E5-472B-AD25-44D8FE1C68D1}" presName="hierChild3" presStyleCnt="0"/>
      <dgm:spPr/>
    </dgm:pt>
  </dgm:ptLst>
  <dgm:cxnLst>
    <dgm:cxn modelId="{D345AF82-947E-48A0-909C-C5C6DE24D662}" srcId="{8FD94CD7-B698-4E9F-90BD-5C96CA67FFD6}" destId="{FE766F3A-98BD-44AB-BFBE-1589B52225E7}" srcOrd="1" destOrd="0" parTransId="{0A6B1B52-A1F0-4C27-99DD-4CEA32D7CBE1}" sibTransId="{FC890287-DF6C-4A38-8126-CAD1C8406E27}"/>
    <dgm:cxn modelId="{C164D93B-9C35-43F9-B852-8F5F2B2F501C}" type="presOf" srcId="{85A233ED-14E5-472B-AD25-44D8FE1C68D1}" destId="{91DB2F96-73DC-4AA5-928E-B2C387C49BFC}" srcOrd="0" destOrd="0" presId="urn:microsoft.com/office/officeart/2005/8/layout/hierarchy1"/>
    <dgm:cxn modelId="{116EFEC7-268A-4B96-8365-8CFB65E60BB4}" type="presOf" srcId="{61A44873-8EE3-4C1E-B25A-34B6CBCC4BC0}" destId="{587E3301-007A-4ADF-A6CC-571C4B2D8E53}" srcOrd="0" destOrd="0" presId="urn:microsoft.com/office/officeart/2005/8/layout/hierarchy1"/>
    <dgm:cxn modelId="{25E9ADEE-A22A-4C37-9839-4A5D2166F3A6}" type="presOf" srcId="{380397C8-943B-454F-82CF-F27D1E74ACEA}" destId="{000858F0-F835-4D75-8DBC-9E26988ADF23}" srcOrd="0" destOrd="0" presId="urn:microsoft.com/office/officeart/2005/8/layout/hierarchy1"/>
    <dgm:cxn modelId="{0A3171B7-2A1E-4F77-8AB1-DDF8DDD1C363}" type="presOf" srcId="{0DA12981-AE88-4C7C-89EF-0826C705E3E6}" destId="{5C2D4E9A-3A53-495E-A7AE-011E74A3714E}" srcOrd="0" destOrd="0" presId="urn:microsoft.com/office/officeart/2005/8/layout/hierarchy1"/>
    <dgm:cxn modelId="{1A1A5E8F-F903-4194-BB07-CACC9DFCCC04}" srcId="{8FD94CD7-B698-4E9F-90BD-5C96CA67FFD6}" destId="{85A233ED-14E5-472B-AD25-44D8FE1C68D1}" srcOrd="3" destOrd="0" parTransId="{61A44873-8EE3-4C1E-B25A-34B6CBCC4BC0}" sibTransId="{73F18E46-3C6A-414A-ACEE-2F2DB5E7C3F6}"/>
    <dgm:cxn modelId="{6EE98125-EFB5-4720-9250-75082FC29B68}" type="presOf" srcId="{8FD94CD7-B698-4E9F-90BD-5C96CA67FFD6}" destId="{72A31547-3080-409F-90AE-23A358E66FAE}" srcOrd="0" destOrd="0" presId="urn:microsoft.com/office/officeart/2005/8/layout/hierarchy1"/>
    <dgm:cxn modelId="{7520F1FC-7A7A-4897-B771-71D76E0B7ADC}" type="presOf" srcId="{FE766F3A-98BD-44AB-BFBE-1589B52225E7}" destId="{5288724F-9449-4380-A196-47F29BDA2D5D}" srcOrd="0" destOrd="0" presId="urn:microsoft.com/office/officeart/2005/8/layout/hierarchy1"/>
    <dgm:cxn modelId="{0CA825E7-2FF9-440D-B1AE-5BEA124270AE}" srcId="{8FD94CD7-B698-4E9F-90BD-5C96CA67FFD6}" destId="{708A0F06-6168-42E5-9F11-08E3DFFC0E93}" srcOrd="2" destOrd="0" parTransId="{D5E64B73-7D8A-450F-8F54-F345FFAA13B1}" sibTransId="{6C56AACF-62B7-4A7B-8C0C-E989C8780446}"/>
    <dgm:cxn modelId="{9CC0B3BC-A1CB-4FE2-A1F2-01AA97F300D7}" type="presOf" srcId="{0A6B1B52-A1F0-4C27-99DD-4CEA32D7CBE1}" destId="{BA5B1DB2-4F5D-4152-9E1B-2BEFAAB16A5A}" srcOrd="0" destOrd="0" presId="urn:microsoft.com/office/officeart/2005/8/layout/hierarchy1"/>
    <dgm:cxn modelId="{36C501B9-0D89-40E3-A309-7DB475E04FE8}" type="presOf" srcId="{772D725A-F560-41CC-B368-DDB4CDD6CA04}" destId="{9518FD3E-2025-4FDF-B32F-39C29A311B8F}" srcOrd="0" destOrd="0" presId="urn:microsoft.com/office/officeart/2005/8/layout/hierarchy1"/>
    <dgm:cxn modelId="{C6FC6B69-90CB-47F2-A4B7-22F9B723E338}" type="presOf" srcId="{708A0F06-6168-42E5-9F11-08E3DFFC0E93}" destId="{ADCE1AF2-41F8-4DA1-A9B4-1DE8EBB3E27C}" srcOrd="0" destOrd="0" presId="urn:microsoft.com/office/officeart/2005/8/layout/hierarchy1"/>
    <dgm:cxn modelId="{D78E1FE8-BAA6-42B2-9AFD-C045E3733920}" srcId="{8FD94CD7-B698-4E9F-90BD-5C96CA67FFD6}" destId="{772D725A-F560-41CC-B368-DDB4CDD6CA04}" srcOrd="0" destOrd="0" parTransId="{380397C8-943B-454F-82CF-F27D1E74ACEA}" sibTransId="{E4C650D2-8228-4F8D-9E02-85BECC19FB0F}"/>
    <dgm:cxn modelId="{662208E0-4C13-411B-8B41-E4A08507C744}" srcId="{0DA12981-AE88-4C7C-89EF-0826C705E3E6}" destId="{8FD94CD7-B698-4E9F-90BD-5C96CA67FFD6}" srcOrd="0" destOrd="0" parTransId="{ADA3B61C-41CE-40E5-AE22-4D5F45A6621C}" sibTransId="{D7F8EF6A-1A64-4F40-9739-D240E66C1FE6}"/>
    <dgm:cxn modelId="{B662619E-A649-4A18-BDEA-140C86BBAC78}" type="presOf" srcId="{D5E64B73-7D8A-450F-8F54-F345FFAA13B1}" destId="{C438B405-09B6-45A1-9EDC-F7F53A9101C9}" srcOrd="0" destOrd="0" presId="urn:microsoft.com/office/officeart/2005/8/layout/hierarchy1"/>
    <dgm:cxn modelId="{1276B400-D510-4127-A30E-BF1530FE82E5}" type="presParOf" srcId="{5C2D4E9A-3A53-495E-A7AE-011E74A3714E}" destId="{5A15403C-C29A-4AFD-A23B-2F264C4AE2E8}" srcOrd="0" destOrd="0" presId="urn:microsoft.com/office/officeart/2005/8/layout/hierarchy1"/>
    <dgm:cxn modelId="{50BBB919-ABC8-448F-B20C-683D1C84894F}" type="presParOf" srcId="{5A15403C-C29A-4AFD-A23B-2F264C4AE2E8}" destId="{39874CEF-9A24-4B74-8945-F7029DC40849}" srcOrd="0" destOrd="0" presId="urn:microsoft.com/office/officeart/2005/8/layout/hierarchy1"/>
    <dgm:cxn modelId="{F5B768E0-62FC-4232-8AA1-899123566529}" type="presParOf" srcId="{39874CEF-9A24-4B74-8945-F7029DC40849}" destId="{5B56E14E-9766-4D70-B15F-AB61EC8C0554}" srcOrd="0" destOrd="0" presId="urn:microsoft.com/office/officeart/2005/8/layout/hierarchy1"/>
    <dgm:cxn modelId="{9D200244-B170-4197-8A77-FB88EE6CE56F}" type="presParOf" srcId="{39874CEF-9A24-4B74-8945-F7029DC40849}" destId="{72A31547-3080-409F-90AE-23A358E66FAE}" srcOrd="1" destOrd="0" presId="urn:microsoft.com/office/officeart/2005/8/layout/hierarchy1"/>
    <dgm:cxn modelId="{164D8502-5A28-4C3F-A730-74B83B225DEF}" type="presParOf" srcId="{5A15403C-C29A-4AFD-A23B-2F264C4AE2E8}" destId="{319B74C5-90F1-44FD-A9CE-1B9503874B55}" srcOrd="1" destOrd="0" presId="urn:microsoft.com/office/officeart/2005/8/layout/hierarchy1"/>
    <dgm:cxn modelId="{AAC90BCF-2A63-4B79-A425-F6A310DE2403}" type="presParOf" srcId="{319B74C5-90F1-44FD-A9CE-1B9503874B55}" destId="{000858F0-F835-4D75-8DBC-9E26988ADF23}" srcOrd="0" destOrd="0" presId="urn:microsoft.com/office/officeart/2005/8/layout/hierarchy1"/>
    <dgm:cxn modelId="{231A6710-A34C-4C3B-9776-4CDCCE0DE2CB}" type="presParOf" srcId="{319B74C5-90F1-44FD-A9CE-1B9503874B55}" destId="{04EF25C0-B04A-4687-9E8C-BEFB026463D0}" srcOrd="1" destOrd="0" presId="urn:microsoft.com/office/officeart/2005/8/layout/hierarchy1"/>
    <dgm:cxn modelId="{6007994C-94B6-4BA3-AD1F-B8B0898C47B4}" type="presParOf" srcId="{04EF25C0-B04A-4687-9E8C-BEFB026463D0}" destId="{D714FD6E-A3BA-4313-BF5C-B47EDDF9A40C}" srcOrd="0" destOrd="0" presId="urn:microsoft.com/office/officeart/2005/8/layout/hierarchy1"/>
    <dgm:cxn modelId="{6825080D-D5D5-464A-9096-64D01E04B8A4}" type="presParOf" srcId="{D714FD6E-A3BA-4313-BF5C-B47EDDF9A40C}" destId="{9467613C-3B3B-4298-9B25-89870E027C7E}" srcOrd="0" destOrd="0" presId="urn:microsoft.com/office/officeart/2005/8/layout/hierarchy1"/>
    <dgm:cxn modelId="{58934B85-0FB6-4572-9B1F-A2DCEED0557B}" type="presParOf" srcId="{D714FD6E-A3BA-4313-BF5C-B47EDDF9A40C}" destId="{9518FD3E-2025-4FDF-B32F-39C29A311B8F}" srcOrd="1" destOrd="0" presId="urn:microsoft.com/office/officeart/2005/8/layout/hierarchy1"/>
    <dgm:cxn modelId="{09368FB4-227C-45D8-A6C6-5CDFA7C363CA}" type="presParOf" srcId="{04EF25C0-B04A-4687-9E8C-BEFB026463D0}" destId="{97238286-D3D2-4EB4-BF84-79A1DF091EC5}" srcOrd="1" destOrd="0" presId="urn:microsoft.com/office/officeart/2005/8/layout/hierarchy1"/>
    <dgm:cxn modelId="{2D526969-CD8E-4C76-9C68-D4D4A821CAFE}" type="presParOf" srcId="{319B74C5-90F1-44FD-A9CE-1B9503874B55}" destId="{BA5B1DB2-4F5D-4152-9E1B-2BEFAAB16A5A}" srcOrd="2" destOrd="0" presId="urn:microsoft.com/office/officeart/2005/8/layout/hierarchy1"/>
    <dgm:cxn modelId="{6E92D7AB-B37F-46DB-93AF-83CEC9BD4DE0}" type="presParOf" srcId="{319B74C5-90F1-44FD-A9CE-1B9503874B55}" destId="{0DF9FE0C-6CDD-469E-AEBF-7DC4CD13CF60}" srcOrd="3" destOrd="0" presId="urn:microsoft.com/office/officeart/2005/8/layout/hierarchy1"/>
    <dgm:cxn modelId="{1D0DAC68-A797-4A33-922E-04A66C8C49C7}" type="presParOf" srcId="{0DF9FE0C-6CDD-469E-AEBF-7DC4CD13CF60}" destId="{2ECE9B31-BCA7-437D-B2A2-225166D72EF1}" srcOrd="0" destOrd="0" presId="urn:microsoft.com/office/officeart/2005/8/layout/hierarchy1"/>
    <dgm:cxn modelId="{0B214DDE-609D-4351-B8A3-9AC7076443C8}" type="presParOf" srcId="{2ECE9B31-BCA7-437D-B2A2-225166D72EF1}" destId="{D0722775-25C9-4188-891C-2A6B501202E0}" srcOrd="0" destOrd="0" presId="urn:microsoft.com/office/officeart/2005/8/layout/hierarchy1"/>
    <dgm:cxn modelId="{C3F284F1-4AF2-4C90-B0BB-32BCC199AF53}" type="presParOf" srcId="{2ECE9B31-BCA7-437D-B2A2-225166D72EF1}" destId="{5288724F-9449-4380-A196-47F29BDA2D5D}" srcOrd="1" destOrd="0" presId="urn:microsoft.com/office/officeart/2005/8/layout/hierarchy1"/>
    <dgm:cxn modelId="{5917823C-5E9E-4B32-A6C1-02D56E8939B4}" type="presParOf" srcId="{0DF9FE0C-6CDD-469E-AEBF-7DC4CD13CF60}" destId="{2DBF6F50-6EBE-4EA1-A4F9-4D8B923D5A77}" srcOrd="1" destOrd="0" presId="urn:microsoft.com/office/officeart/2005/8/layout/hierarchy1"/>
    <dgm:cxn modelId="{CDA68455-C711-4CD3-8366-24D095C9A862}" type="presParOf" srcId="{319B74C5-90F1-44FD-A9CE-1B9503874B55}" destId="{C438B405-09B6-45A1-9EDC-F7F53A9101C9}" srcOrd="4" destOrd="0" presId="urn:microsoft.com/office/officeart/2005/8/layout/hierarchy1"/>
    <dgm:cxn modelId="{77DFC9B4-C2C3-4C43-BBB7-69543EDE2A0D}" type="presParOf" srcId="{319B74C5-90F1-44FD-A9CE-1B9503874B55}" destId="{35EAE04F-B306-4867-93A2-0E8C7CDF6A94}" srcOrd="5" destOrd="0" presId="urn:microsoft.com/office/officeart/2005/8/layout/hierarchy1"/>
    <dgm:cxn modelId="{1B5FC5CE-4F8B-49F4-9481-23A017F3F7B8}" type="presParOf" srcId="{35EAE04F-B306-4867-93A2-0E8C7CDF6A94}" destId="{BCCEFD2F-6EB2-4818-96B4-BC83B6D46148}" srcOrd="0" destOrd="0" presId="urn:microsoft.com/office/officeart/2005/8/layout/hierarchy1"/>
    <dgm:cxn modelId="{8FDCD5D8-FF7E-4CDC-96B5-51C76A507F91}" type="presParOf" srcId="{BCCEFD2F-6EB2-4818-96B4-BC83B6D46148}" destId="{58D9A256-7A26-4FCB-A502-F7EC0620C537}" srcOrd="0" destOrd="0" presId="urn:microsoft.com/office/officeart/2005/8/layout/hierarchy1"/>
    <dgm:cxn modelId="{2641F96D-E21A-427D-B6A1-88634EA6C1E1}" type="presParOf" srcId="{BCCEFD2F-6EB2-4818-96B4-BC83B6D46148}" destId="{ADCE1AF2-41F8-4DA1-A9B4-1DE8EBB3E27C}" srcOrd="1" destOrd="0" presId="urn:microsoft.com/office/officeart/2005/8/layout/hierarchy1"/>
    <dgm:cxn modelId="{3130FB13-9CB9-40CE-AB70-60FF64DEF275}" type="presParOf" srcId="{35EAE04F-B306-4867-93A2-0E8C7CDF6A94}" destId="{220C9327-E2EC-4515-A953-959F1CB51509}" srcOrd="1" destOrd="0" presId="urn:microsoft.com/office/officeart/2005/8/layout/hierarchy1"/>
    <dgm:cxn modelId="{34A83EFB-E234-4073-BB89-F66E9B6EB2BF}" type="presParOf" srcId="{319B74C5-90F1-44FD-A9CE-1B9503874B55}" destId="{587E3301-007A-4ADF-A6CC-571C4B2D8E53}" srcOrd="6" destOrd="0" presId="urn:microsoft.com/office/officeart/2005/8/layout/hierarchy1"/>
    <dgm:cxn modelId="{14B1E4D5-3DCE-4BFE-9DDE-124F2D516575}" type="presParOf" srcId="{319B74C5-90F1-44FD-A9CE-1B9503874B55}" destId="{565DE6DB-4C1C-4965-9F87-0884C0403CB9}" srcOrd="7" destOrd="0" presId="urn:microsoft.com/office/officeart/2005/8/layout/hierarchy1"/>
    <dgm:cxn modelId="{46EB8A4F-631A-413F-A8B7-E3C0E06A8885}" type="presParOf" srcId="{565DE6DB-4C1C-4965-9F87-0884C0403CB9}" destId="{237FF08D-E06E-4E23-A38C-8CA83953CDE3}" srcOrd="0" destOrd="0" presId="urn:microsoft.com/office/officeart/2005/8/layout/hierarchy1"/>
    <dgm:cxn modelId="{EAAA919D-F613-413C-9140-C352D564816E}" type="presParOf" srcId="{237FF08D-E06E-4E23-A38C-8CA83953CDE3}" destId="{83343A24-2A5B-4CCD-9C8E-0EB912E1DB07}" srcOrd="0" destOrd="0" presId="urn:microsoft.com/office/officeart/2005/8/layout/hierarchy1"/>
    <dgm:cxn modelId="{D11F057F-CA80-44F7-BC2D-8A053ABCDE1C}" type="presParOf" srcId="{237FF08D-E06E-4E23-A38C-8CA83953CDE3}" destId="{91DB2F96-73DC-4AA5-928E-B2C387C49BFC}" srcOrd="1" destOrd="0" presId="urn:microsoft.com/office/officeart/2005/8/layout/hierarchy1"/>
    <dgm:cxn modelId="{8E7FCDA5-172F-4EC6-9DB0-E735E22BB724}" type="presParOf" srcId="{565DE6DB-4C1C-4965-9F87-0884C0403CB9}" destId="{1B597B16-2FDC-45FC-8731-1C955D0C1EA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314A81B-0706-4049-814C-33AA82FB6570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BC2F7CCE-B40A-4EFB-A080-609BA0DA1F5D}">
      <dgm:prSet phldrT="[Text]"/>
      <dgm:spPr/>
      <dgm:t>
        <a:bodyPr/>
        <a:lstStyle/>
        <a:p>
          <a:r>
            <a:rPr lang="en-US" dirty="0"/>
            <a:t>Functions of Bank</a:t>
          </a:r>
          <a:endParaRPr lang="en-IN" dirty="0"/>
        </a:p>
      </dgm:t>
    </dgm:pt>
    <dgm:pt modelId="{169FF320-5E2A-46C1-A757-1250821BE160}" type="parTrans" cxnId="{EEF98EDB-2213-4077-9366-D7ABCD4E35A9}">
      <dgm:prSet/>
      <dgm:spPr/>
      <dgm:t>
        <a:bodyPr/>
        <a:lstStyle/>
        <a:p>
          <a:endParaRPr lang="en-IN"/>
        </a:p>
      </dgm:t>
    </dgm:pt>
    <dgm:pt modelId="{44A9F171-F023-44DF-8795-ABF58A5D6E25}" type="sibTrans" cxnId="{EEF98EDB-2213-4077-9366-D7ABCD4E35A9}">
      <dgm:prSet/>
      <dgm:spPr/>
      <dgm:t>
        <a:bodyPr/>
        <a:lstStyle/>
        <a:p>
          <a:endParaRPr lang="en-IN"/>
        </a:p>
      </dgm:t>
    </dgm:pt>
    <dgm:pt modelId="{E5569BC7-7C41-4B06-8693-115A33BC9001}">
      <dgm:prSet phldrT="[Text]"/>
      <dgm:spPr/>
      <dgm:t>
        <a:bodyPr/>
        <a:lstStyle/>
        <a:p>
          <a:r>
            <a:rPr lang="en-US" dirty="0"/>
            <a:t>Primary Functions</a:t>
          </a:r>
          <a:endParaRPr lang="en-IN" dirty="0"/>
        </a:p>
      </dgm:t>
    </dgm:pt>
    <dgm:pt modelId="{C25C3B87-377D-4561-8847-0E57F811FB49}" type="parTrans" cxnId="{6D449AE2-8BB8-4E9B-B289-F0558CA58C29}">
      <dgm:prSet/>
      <dgm:spPr/>
      <dgm:t>
        <a:bodyPr/>
        <a:lstStyle/>
        <a:p>
          <a:endParaRPr lang="en-IN" dirty="0"/>
        </a:p>
      </dgm:t>
    </dgm:pt>
    <dgm:pt modelId="{D0007984-4B26-4524-B89B-01F9259C4576}" type="sibTrans" cxnId="{6D449AE2-8BB8-4E9B-B289-F0558CA58C29}">
      <dgm:prSet/>
      <dgm:spPr/>
      <dgm:t>
        <a:bodyPr/>
        <a:lstStyle/>
        <a:p>
          <a:endParaRPr lang="en-IN"/>
        </a:p>
      </dgm:t>
    </dgm:pt>
    <dgm:pt modelId="{E92BB774-DE03-4245-AE6C-AC7E864E8DA9}">
      <dgm:prSet phldrT="[Text]"/>
      <dgm:spPr/>
      <dgm:t>
        <a:bodyPr/>
        <a:lstStyle/>
        <a:p>
          <a:r>
            <a:rPr lang="en-US" dirty="0"/>
            <a:t>Secondary Functions</a:t>
          </a:r>
          <a:endParaRPr lang="en-IN" dirty="0"/>
        </a:p>
      </dgm:t>
    </dgm:pt>
    <dgm:pt modelId="{43E01B4F-026E-4B03-BB86-BCB2A01D8C5A}" type="parTrans" cxnId="{6F677839-D168-4465-9B90-6571D7DC1388}">
      <dgm:prSet/>
      <dgm:spPr/>
      <dgm:t>
        <a:bodyPr/>
        <a:lstStyle/>
        <a:p>
          <a:endParaRPr lang="en-IN" dirty="0"/>
        </a:p>
      </dgm:t>
    </dgm:pt>
    <dgm:pt modelId="{90728677-2B30-46B4-B657-A7E8C931DD9B}" type="sibTrans" cxnId="{6F677839-D168-4465-9B90-6571D7DC1388}">
      <dgm:prSet/>
      <dgm:spPr/>
      <dgm:t>
        <a:bodyPr/>
        <a:lstStyle/>
        <a:p>
          <a:endParaRPr lang="en-IN"/>
        </a:p>
      </dgm:t>
    </dgm:pt>
    <dgm:pt modelId="{62242896-BE75-4005-84D8-2399FE567FB6}">
      <dgm:prSet phldrT="[Text]"/>
      <dgm:spPr/>
      <dgm:t>
        <a:bodyPr/>
        <a:lstStyle/>
        <a:p>
          <a:r>
            <a:rPr lang="en-US" dirty="0" smtClean="0"/>
            <a:t>Grant of Loans and Advances</a:t>
          </a:r>
          <a:endParaRPr lang="en-IN" dirty="0"/>
        </a:p>
      </dgm:t>
    </dgm:pt>
    <dgm:pt modelId="{03444D42-806E-4D09-A5B2-A21F3BB8C230}" type="parTrans" cxnId="{FE689959-2D8D-41A2-A537-3540D944640B}">
      <dgm:prSet/>
      <dgm:spPr/>
      <dgm:t>
        <a:bodyPr/>
        <a:lstStyle/>
        <a:p>
          <a:endParaRPr lang="en-IN" dirty="0"/>
        </a:p>
      </dgm:t>
    </dgm:pt>
    <dgm:pt modelId="{F35F9404-B06E-49E5-AD71-F5A082086CB8}" type="sibTrans" cxnId="{FE689959-2D8D-41A2-A537-3540D944640B}">
      <dgm:prSet/>
      <dgm:spPr/>
      <dgm:t>
        <a:bodyPr/>
        <a:lstStyle/>
        <a:p>
          <a:endParaRPr lang="en-IN"/>
        </a:p>
      </dgm:t>
    </dgm:pt>
    <dgm:pt modelId="{63CD114A-EE20-4875-92D7-B704AF854237}">
      <dgm:prSet phldrT="[Text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IN" b="1" dirty="0" smtClean="0"/>
            <a:t>Accepting </a:t>
          </a:r>
          <a:r>
            <a:rPr lang="en-IN" b="1" dirty="0"/>
            <a:t>Deposits</a:t>
          </a:r>
        </a:p>
      </dgm:t>
    </dgm:pt>
    <dgm:pt modelId="{06DE8C27-6EFA-4ED1-BED6-ACA68DFCD2DE}" type="parTrans" cxnId="{F40CCDF3-048A-4B05-AA81-6C66DFD83B0F}">
      <dgm:prSet/>
      <dgm:spPr/>
      <dgm:t>
        <a:bodyPr/>
        <a:lstStyle/>
        <a:p>
          <a:endParaRPr lang="en-IN" dirty="0"/>
        </a:p>
      </dgm:t>
    </dgm:pt>
    <dgm:pt modelId="{E8FD8D74-C4DD-46BD-998F-9B8D17E1375F}" type="sibTrans" cxnId="{F40CCDF3-048A-4B05-AA81-6C66DFD83B0F}">
      <dgm:prSet/>
      <dgm:spPr/>
      <dgm:t>
        <a:bodyPr/>
        <a:lstStyle/>
        <a:p>
          <a:endParaRPr lang="en-IN"/>
        </a:p>
      </dgm:t>
    </dgm:pt>
    <dgm:pt modelId="{67879402-FFF6-4804-8DC5-B1943EDE2D6C}" type="pres">
      <dgm:prSet presAssocID="{A314A81B-0706-4049-814C-33AA82FB6570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6228905-2A80-49F9-9582-36CF9BC3FA3C}" type="pres">
      <dgm:prSet presAssocID="{BC2F7CCE-B40A-4EFB-A080-609BA0DA1F5D}" presName="root1" presStyleCnt="0"/>
      <dgm:spPr/>
    </dgm:pt>
    <dgm:pt modelId="{D00C5881-0530-4041-8049-9949D65D4EE8}" type="pres">
      <dgm:prSet presAssocID="{BC2F7CCE-B40A-4EFB-A080-609BA0DA1F5D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D2F590B-B60A-4A33-AD02-C741E53CD19A}" type="pres">
      <dgm:prSet presAssocID="{BC2F7CCE-B40A-4EFB-A080-609BA0DA1F5D}" presName="level2hierChild" presStyleCnt="0"/>
      <dgm:spPr/>
    </dgm:pt>
    <dgm:pt modelId="{F090C7ED-FF6D-44A7-96AE-1125F1930C22}" type="pres">
      <dgm:prSet presAssocID="{C25C3B87-377D-4561-8847-0E57F811FB49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E07A4A59-F09D-447F-B219-A11B2AB9E7F5}" type="pres">
      <dgm:prSet presAssocID="{C25C3B87-377D-4561-8847-0E57F811FB49}" presName="connTx" presStyleLbl="parChTrans1D2" presStyleIdx="0" presStyleCnt="2"/>
      <dgm:spPr/>
      <dgm:t>
        <a:bodyPr/>
        <a:lstStyle/>
        <a:p>
          <a:endParaRPr lang="en-US"/>
        </a:p>
      </dgm:t>
    </dgm:pt>
    <dgm:pt modelId="{97CD951A-90C7-4386-8771-A09805834F2B}" type="pres">
      <dgm:prSet presAssocID="{E5569BC7-7C41-4B06-8693-115A33BC9001}" presName="root2" presStyleCnt="0"/>
      <dgm:spPr/>
    </dgm:pt>
    <dgm:pt modelId="{C0075F0F-82F5-47E4-93A3-AB8579E5F08D}" type="pres">
      <dgm:prSet presAssocID="{E5569BC7-7C41-4B06-8693-115A33BC9001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C9E3195-C679-496D-84C0-4CBEB58DCF1B}" type="pres">
      <dgm:prSet presAssocID="{E5569BC7-7C41-4B06-8693-115A33BC9001}" presName="level3hierChild" presStyleCnt="0"/>
      <dgm:spPr/>
    </dgm:pt>
    <dgm:pt modelId="{E2A994A0-CB69-42CC-86BB-E67C2688CF94}" type="pres">
      <dgm:prSet presAssocID="{06DE8C27-6EFA-4ED1-BED6-ACA68DFCD2DE}" presName="conn2-1" presStyleLbl="parChTrans1D3" presStyleIdx="0" presStyleCnt="2"/>
      <dgm:spPr/>
      <dgm:t>
        <a:bodyPr/>
        <a:lstStyle/>
        <a:p>
          <a:endParaRPr lang="en-US"/>
        </a:p>
      </dgm:t>
    </dgm:pt>
    <dgm:pt modelId="{C8C0FB24-6CD0-4581-93C5-4F1193C2DEB3}" type="pres">
      <dgm:prSet presAssocID="{06DE8C27-6EFA-4ED1-BED6-ACA68DFCD2DE}" presName="connTx" presStyleLbl="parChTrans1D3" presStyleIdx="0" presStyleCnt="2"/>
      <dgm:spPr/>
      <dgm:t>
        <a:bodyPr/>
        <a:lstStyle/>
        <a:p>
          <a:endParaRPr lang="en-US"/>
        </a:p>
      </dgm:t>
    </dgm:pt>
    <dgm:pt modelId="{9983DB79-9EA5-4876-B19B-C28DFD8FD8E9}" type="pres">
      <dgm:prSet presAssocID="{63CD114A-EE20-4875-92D7-B704AF854237}" presName="root2" presStyleCnt="0"/>
      <dgm:spPr/>
    </dgm:pt>
    <dgm:pt modelId="{8AE7FAFA-D21A-41E7-9ECD-86CDC4BC3130}" type="pres">
      <dgm:prSet presAssocID="{63CD114A-EE20-4875-92D7-B704AF854237}" presName="LevelTwoTextNode" presStyleLbl="node3" presStyleIdx="0" presStyleCnt="2" custScaleY="19805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D9870C9-D3A5-4D42-A04E-B72EC8245E66}" type="pres">
      <dgm:prSet presAssocID="{63CD114A-EE20-4875-92D7-B704AF854237}" presName="level3hierChild" presStyleCnt="0"/>
      <dgm:spPr/>
    </dgm:pt>
    <dgm:pt modelId="{FAE838E4-0417-4BAF-8D21-5B11DC0CB238}" type="pres">
      <dgm:prSet presAssocID="{03444D42-806E-4D09-A5B2-A21F3BB8C230}" presName="conn2-1" presStyleLbl="parChTrans1D3" presStyleIdx="1" presStyleCnt="2"/>
      <dgm:spPr/>
      <dgm:t>
        <a:bodyPr/>
        <a:lstStyle/>
        <a:p>
          <a:endParaRPr lang="en-US"/>
        </a:p>
      </dgm:t>
    </dgm:pt>
    <dgm:pt modelId="{A946B4B7-B012-4B1D-A343-F7546044358A}" type="pres">
      <dgm:prSet presAssocID="{03444D42-806E-4D09-A5B2-A21F3BB8C230}" presName="connTx" presStyleLbl="parChTrans1D3" presStyleIdx="1" presStyleCnt="2"/>
      <dgm:spPr/>
      <dgm:t>
        <a:bodyPr/>
        <a:lstStyle/>
        <a:p>
          <a:endParaRPr lang="en-US"/>
        </a:p>
      </dgm:t>
    </dgm:pt>
    <dgm:pt modelId="{ED075D79-0C34-45A4-BB44-71BEA81A0E67}" type="pres">
      <dgm:prSet presAssocID="{62242896-BE75-4005-84D8-2399FE567FB6}" presName="root2" presStyleCnt="0"/>
      <dgm:spPr/>
    </dgm:pt>
    <dgm:pt modelId="{AA5AF5DC-A5ED-453C-BDA6-E85F0793A842}" type="pres">
      <dgm:prSet presAssocID="{62242896-BE75-4005-84D8-2399FE567FB6}" presName="LevelTwoTextNode" presStyleLbl="node3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053B05B-8CCB-4C6A-AF10-B992C21A59C3}" type="pres">
      <dgm:prSet presAssocID="{62242896-BE75-4005-84D8-2399FE567FB6}" presName="level3hierChild" presStyleCnt="0"/>
      <dgm:spPr/>
    </dgm:pt>
    <dgm:pt modelId="{F9B24914-0D08-4005-B092-4EC2410E7ACF}" type="pres">
      <dgm:prSet presAssocID="{43E01B4F-026E-4B03-BB86-BCB2A01D8C5A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73C23B51-10C8-42C0-81B3-7E9CA6B8BBD5}" type="pres">
      <dgm:prSet presAssocID="{43E01B4F-026E-4B03-BB86-BCB2A01D8C5A}" presName="connTx" presStyleLbl="parChTrans1D2" presStyleIdx="1" presStyleCnt="2"/>
      <dgm:spPr/>
      <dgm:t>
        <a:bodyPr/>
        <a:lstStyle/>
        <a:p>
          <a:endParaRPr lang="en-US"/>
        </a:p>
      </dgm:t>
    </dgm:pt>
    <dgm:pt modelId="{F13D1939-AB12-428D-A50C-CAD62A6B598D}" type="pres">
      <dgm:prSet presAssocID="{E92BB774-DE03-4245-AE6C-AC7E864E8DA9}" presName="root2" presStyleCnt="0"/>
      <dgm:spPr/>
    </dgm:pt>
    <dgm:pt modelId="{AFFD1705-B221-41D0-AF57-AEF004C444AB}" type="pres">
      <dgm:prSet presAssocID="{E92BB774-DE03-4245-AE6C-AC7E864E8DA9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BBEE36B-B730-4BB3-949A-1F78F3C3F308}" type="pres">
      <dgm:prSet presAssocID="{E92BB774-DE03-4245-AE6C-AC7E864E8DA9}" presName="level3hierChild" presStyleCnt="0"/>
      <dgm:spPr/>
    </dgm:pt>
  </dgm:ptLst>
  <dgm:cxnLst>
    <dgm:cxn modelId="{EEF98EDB-2213-4077-9366-D7ABCD4E35A9}" srcId="{A314A81B-0706-4049-814C-33AA82FB6570}" destId="{BC2F7CCE-B40A-4EFB-A080-609BA0DA1F5D}" srcOrd="0" destOrd="0" parTransId="{169FF320-5E2A-46C1-A757-1250821BE160}" sibTransId="{44A9F171-F023-44DF-8795-ABF58A5D6E25}"/>
    <dgm:cxn modelId="{ADA10B59-3672-476D-81D8-7DCC178D761C}" type="presOf" srcId="{E5569BC7-7C41-4B06-8693-115A33BC9001}" destId="{C0075F0F-82F5-47E4-93A3-AB8579E5F08D}" srcOrd="0" destOrd="0" presId="urn:microsoft.com/office/officeart/2008/layout/HorizontalMultiLevelHierarchy"/>
    <dgm:cxn modelId="{7083DD0D-410E-4EBD-8981-65E1668AA8B9}" type="presOf" srcId="{A314A81B-0706-4049-814C-33AA82FB6570}" destId="{67879402-FFF6-4804-8DC5-B1943EDE2D6C}" srcOrd="0" destOrd="0" presId="urn:microsoft.com/office/officeart/2008/layout/HorizontalMultiLevelHierarchy"/>
    <dgm:cxn modelId="{91516E2C-8A1A-4036-A7CB-1956E2C4ADE7}" type="presOf" srcId="{62242896-BE75-4005-84D8-2399FE567FB6}" destId="{AA5AF5DC-A5ED-453C-BDA6-E85F0793A842}" srcOrd="0" destOrd="0" presId="urn:microsoft.com/office/officeart/2008/layout/HorizontalMultiLevelHierarchy"/>
    <dgm:cxn modelId="{5BB11761-2947-4F20-AB8B-435D99E81583}" type="presOf" srcId="{06DE8C27-6EFA-4ED1-BED6-ACA68DFCD2DE}" destId="{C8C0FB24-6CD0-4581-93C5-4F1193C2DEB3}" srcOrd="1" destOrd="0" presId="urn:microsoft.com/office/officeart/2008/layout/HorizontalMultiLevelHierarchy"/>
    <dgm:cxn modelId="{92476416-C401-4700-A8E6-94829B30C5C4}" type="presOf" srcId="{C25C3B87-377D-4561-8847-0E57F811FB49}" destId="{E07A4A59-F09D-447F-B219-A11B2AB9E7F5}" srcOrd="1" destOrd="0" presId="urn:microsoft.com/office/officeart/2008/layout/HorizontalMultiLevelHierarchy"/>
    <dgm:cxn modelId="{B0E2B43D-8970-41DC-8505-1FDA852DFD85}" type="presOf" srcId="{C25C3B87-377D-4561-8847-0E57F811FB49}" destId="{F090C7ED-FF6D-44A7-96AE-1125F1930C22}" srcOrd="0" destOrd="0" presId="urn:microsoft.com/office/officeart/2008/layout/HorizontalMultiLevelHierarchy"/>
    <dgm:cxn modelId="{6B13EC98-B391-4C54-B74C-D7D222C8E5A9}" type="presOf" srcId="{43E01B4F-026E-4B03-BB86-BCB2A01D8C5A}" destId="{73C23B51-10C8-42C0-81B3-7E9CA6B8BBD5}" srcOrd="1" destOrd="0" presId="urn:microsoft.com/office/officeart/2008/layout/HorizontalMultiLevelHierarchy"/>
    <dgm:cxn modelId="{1FC8B045-EC56-491B-95C0-1E0096011EEC}" type="presOf" srcId="{03444D42-806E-4D09-A5B2-A21F3BB8C230}" destId="{FAE838E4-0417-4BAF-8D21-5B11DC0CB238}" srcOrd="0" destOrd="0" presId="urn:microsoft.com/office/officeart/2008/layout/HorizontalMultiLevelHierarchy"/>
    <dgm:cxn modelId="{6D449AE2-8BB8-4E9B-B289-F0558CA58C29}" srcId="{BC2F7CCE-B40A-4EFB-A080-609BA0DA1F5D}" destId="{E5569BC7-7C41-4B06-8693-115A33BC9001}" srcOrd="0" destOrd="0" parTransId="{C25C3B87-377D-4561-8847-0E57F811FB49}" sibTransId="{D0007984-4B26-4524-B89B-01F9259C4576}"/>
    <dgm:cxn modelId="{97EC31A9-8587-4EA5-B0A0-8D834F1D76B7}" type="presOf" srcId="{03444D42-806E-4D09-A5B2-A21F3BB8C230}" destId="{A946B4B7-B012-4B1D-A343-F7546044358A}" srcOrd="1" destOrd="0" presId="urn:microsoft.com/office/officeart/2008/layout/HorizontalMultiLevelHierarchy"/>
    <dgm:cxn modelId="{F40CCDF3-048A-4B05-AA81-6C66DFD83B0F}" srcId="{E5569BC7-7C41-4B06-8693-115A33BC9001}" destId="{63CD114A-EE20-4875-92D7-B704AF854237}" srcOrd="0" destOrd="0" parTransId="{06DE8C27-6EFA-4ED1-BED6-ACA68DFCD2DE}" sibTransId="{E8FD8D74-C4DD-46BD-998F-9B8D17E1375F}"/>
    <dgm:cxn modelId="{80EFA46B-F89D-4BE8-AE03-D88AC0DC8F75}" type="presOf" srcId="{06DE8C27-6EFA-4ED1-BED6-ACA68DFCD2DE}" destId="{E2A994A0-CB69-42CC-86BB-E67C2688CF94}" srcOrd="0" destOrd="0" presId="urn:microsoft.com/office/officeart/2008/layout/HorizontalMultiLevelHierarchy"/>
    <dgm:cxn modelId="{6F677839-D168-4465-9B90-6571D7DC1388}" srcId="{BC2F7CCE-B40A-4EFB-A080-609BA0DA1F5D}" destId="{E92BB774-DE03-4245-AE6C-AC7E864E8DA9}" srcOrd="1" destOrd="0" parTransId="{43E01B4F-026E-4B03-BB86-BCB2A01D8C5A}" sibTransId="{90728677-2B30-46B4-B657-A7E8C931DD9B}"/>
    <dgm:cxn modelId="{43C3BC81-184F-41FA-A4F4-9E4C04E9485E}" type="presOf" srcId="{E92BB774-DE03-4245-AE6C-AC7E864E8DA9}" destId="{AFFD1705-B221-41D0-AF57-AEF004C444AB}" srcOrd="0" destOrd="0" presId="urn:microsoft.com/office/officeart/2008/layout/HorizontalMultiLevelHierarchy"/>
    <dgm:cxn modelId="{4814252F-48D6-4FA9-9463-C5AEE2966F32}" type="presOf" srcId="{63CD114A-EE20-4875-92D7-B704AF854237}" destId="{8AE7FAFA-D21A-41E7-9ECD-86CDC4BC3130}" srcOrd="0" destOrd="0" presId="urn:microsoft.com/office/officeart/2008/layout/HorizontalMultiLevelHierarchy"/>
    <dgm:cxn modelId="{FE689959-2D8D-41A2-A537-3540D944640B}" srcId="{E5569BC7-7C41-4B06-8693-115A33BC9001}" destId="{62242896-BE75-4005-84D8-2399FE567FB6}" srcOrd="1" destOrd="0" parTransId="{03444D42-806E-4D09-A5B2-A21F3BB8C230}" sibTransId="{F35F9404-B06E-49E5-AD71-F5A082086CB8}"/>
    <dgm:cxn modelId="{2A161C30-B690-43AA-B056-8E597806182A}" type="presOf" srcId="{BC2F7CCE-B40A-4EFB-A080-609BA0DA1F5D}" destId="{D00C5881-0530-4041-8049-9949D65D4EE8}" srcOrd="0" destOrd="0" presId="urn:microsoft.com/office/officeart/2008/layout/HorizontalMultiLevelHierarchy"/>
    <dgm:cxn modelId="{9264BCBA-091E-4CC8-8322-32C00DF4AAA4}" type="presOf" srcId="{43E01B4F-026E-4B03-BB86-BCB2A01D8C5A}" destId="{F9B24914-0D08-4005-B092-4EC2410E7ACF}" srcOrd="0" destOrd="0" presId="urn:microsoft.com/office/officeart/2008/layout/HorizontalMultiLevelHierarchy"/>
    <dgm:cxn modelId="{B293B8D0-732B-49B5-AFD2-CB0F005D5C24}" type="presParOf" srcId="{67879402-FFF6-4804-8DC5-B1943EDE2D6C}" destId="{66228905-2A80-49F9-9582-36CF9BC3FA3C}" srcOrd="0" destOrd="0" presId="urn:microsoft.com/office/officeart/2008/layout/HorizontalMultiLevelHierarchy"/>
    <dgm:cxn modelId="{E1A756DE-9B4B-4CC1-8F9C-9A92FE381D1C}" type="presParOf" srcId="{66228905-2A80-49F9-9582-36CF9BC3FA3C}" destId="{D00C5881-0530-4041-8049-9949D65D4EE8}" srcOrd="0" destOrd="0" presId="urn:microsoft.com/office/officeart/2008/layout/HorizontalMultiLevelHierarchy"/>
    <dgm:cxn modelId="{350AB937-F83D-451F-BA6E-DD046CE3E7C7}" type="presParOf" srcId="{66228905-2A80-49F9-9582-36CF9BC3FA3C}" destId="{6D2F590B-B60A-4A33-AD02-C741E53CD19A}" srcOrd="1" destOrd="0" presId="urn:microsoft.com/office/officeart/2008/layout/HorizontalMultiLevelHierarchy"/>
    <dgm:cxn modelId="{1906D4B0-EF2A-487E-B2DF-6326E26FA68C}" type="presParOf" srcId="{6D2F590B-B60A-4A33-AD02-C741E53CD19A}" destId="{F090C7ED-FF6D-44A7-96AE-1125F1930C22}" srcOrd="0" destOrd="0" presId="urn:microsoft.com/office/officeart/2008/layout/HorizontalMultiLevelHierarchy"/>
    <dgm:cxn modelId="{58739663-B9C7-49DB-A690-FA7306463551}" type="presParOf" srcId="{F090C7ED-FF6D-44A7-96AE-1125F1930C22}" destId="{E07A4A59-F09D-447F-B219-A11B2AB9E7F5}" srcOrd="0" destOrd="0" presId="urn:microsoft.com/office/officeart/2008/layout/HorizontalMultiLevelHierarchy"/>
    <dgm:cxn modelId="{338CB672-ED02-4138-B1A0-757699627B49}" type="presParOf" srcId="{6D2F590B-B60A-4A33-AD02-C741E53CD19A}" destId="{97CD951A-90C7-4386-8771-A09805834F2B}" srcOrd="1" destOrd="0" presId="urn:microsoft.com/office/officeart/2008/layout/HorizontalMultiLevelHierarchy"/>
    <dgm:cxn modelId="{54511B72-B9D8-452E-AF6D-9C891C648A79}" type="presParOf" srcId="{97CD951A-90C7-4386-8771-A09805834F2B}" destId="{C0075F0F-82F5-47E4-93A3-AB8579E5F08D}" srcOrd="0" destOrd="0" presId="urn:microsoft.com/office/officeart/2008/layout/HorizontalMultiLevelHierarchy"/>
    <dgm:cxn modelId="{753E2F58-7C97-421F-B8B4-DD29973C7BD6}" type="presParOf" srcId="{97CD951A-90C7-4386-8771-A09805834F2B}" destId="{3C9E3195-C679-496D-84C0-4CBEB58DCF1B}" srcOrd="1" destOrd="0" presId="urn:microsoft.com/office/officeart/2008/layout/HorizontalMultiLevelHierarchy"/>
    <dgm:cxn modelId="{576F5BB9-1900-4E66-A609-2D75282681DE}" type="presParOf" srcId="{3C9E3195-C679-496D-84C0-4CBEB58DCF1B}" destId="{E2A994A0-CB69-42CC-86BB-E67C2688CF94}" srcOrd="0" destOrd="0" presId="urn:microsoft.com/office/officeart/2008/layout/HorizontalMultiLevelHierarchy"/>
    <dgm:cxn modelId="{2CEBB407-E48C-4AEF-84F2-D1B38294EE12}" type="presParOf" srcId="{E2A994A0-CB69-42CC-86BB-E67C2688CF94}" destId="{C8C0FB24-6CD0-4581-93C5-4F1193C2DEB3}" srcOrd="0" destOrd="0" presId="urn:microsoft.com/office/officeart/2008/layout/HorizontalMultiLevelHierarchy"/>
    <dgm:cxn modelId="{4A8BD5D3-E0D9-4B4A-854D-6330752EEE2C}" type="presParOf" srcId="{3C9E3195-C679-496D-84C0-4CBEB58DCF1B}" destId="{9983DB79-9EA5-4876-B19B-C28DFD8FD8E9}" srcOrd="1" destOrd="0" presId="urn:microsoft.com/office/officeart/2008/layout/HorizontalMultiLevelHierarchy"/>
    <dgm:cxn modelId="{CC0E7039-EBD8-4776-BF15-B7BCA732FD9E}" type="presParOf" srcId="{9983DB79-9EA5-4876-B19B-C28DFD8FD8E9}" destId="{8AE7FAFA-D21A-41E7-9ECD-86CDC4BC3130}" srcOrd="0" destOrd="0" presId="urn:microsoft.com/office/officeart/2008/layout/HorizontalMultiLevelHierarchy"/>
    <dgm:cxn modelId="{CAB78642-4481-476C-9881-F9D9A0DC9B18}" type="presParOf" srcId="{9983DB79-9EA5-4876-B19B-C28DFD8FD8E9}" destId="{CD9870C9-D3A5-4D42-A04E-B72EC8245E66}" srcOrd="1" destOrd="0" presId="urn:microsoft.com/office/officeart/2008/layout/HorizontalMultiLevelHierarchy"/>
    <dgm:cxn modelId="{409C2AEB-A14E-4217-A067-2819DD1E821D}" type="presParOf" srcId="{3C9E3195-C679-496D-84C0-4CBEB58DCF1B}" destId="{FAE838E4-0417-4BAF-8D21-5B11DC0CB238}" srcOrd="2" destOrd="0" presId="urn:microsoft.com/office/officeart/2008/layout/HorizontalMultiLevelHierarchy"/>
    <dgm:cxn modelId="{AEFA538E-AC55-4680-B319-3A44F746A124}" type="presParOf" srcId="{FAE838E4-0417-4BAF-8D21-5B11DC0CB238}" destId="{A946B4B7-B012-4B1D-A343-F7546044358A}" srcOrd="0" destOrd="0" presId="urn:microsoft.com/office/officeart/2008/layout/HorizontalMultiLevelHierarchy"/>
    <dgm:cxn modelId="{2FFA08FF-6252-4A12-B469-8C0F5739F6F5}" type="presParOf" srcId="{3C9E3195-C679-496D-84C0-4CBEB58DCF1B}" destId="{ED075D79-0C34-45A4-BB44-71BEA81A0E67}" srcOrd="3" destOrd="0" presId="urn:microsoft.com/office/officeart/2008/layout/HorizontalMultiLevelHierarchy"/>
    <dgm:cxn modelId="{18F9C286-6B27-41FC-9554-6351A32D3C65}" type="presParOf" srcId="{ED075D79-0C34-45A4-BB44-71BEA81A0E67}" destId="{AA5AF5DC-A5ED-453C-BDA6-E85F0793A842}" srcOrd="0" destOrd="0" presId="urn:microsoft.com/office/officeart/2008/layout/HorizontalMultiLevelHierarchy"/>
    <dgm:cxn modelId="{900FE8AB-6247-44D5-B8D8-92F3BF52A1A0}" type="presParOf" srcId="{ED075D79-0C34-45A4-BB44-71BEA81A0E67}" destId="{A053B05B-8CCB-4C6A-AF10-B992C21A59C3}" srcOrd="1" destOrd="0" presId="urn:microsoft.com/office/officeart/2008/layout/HorizontalMultiLevelHierarchy"/>
    <dgm:cxn modelId="{71C917FC-DAC0-4705-BD9D-80262AE7CF70}" type="presParOf" srcId="{6D2F590B-B60A-4A33-AD02-C741E53CD19A}" destId="{F9B24914-0D08-4005-B092-4EC2410E7ACF}" srcOrd="2" destOrd="0" presId="urn:microsoft.com/office/officeart/2008/layout/HorizontalMultiLevelHierarchy"/>
    <dgm:cxn modelId="{C3454C0D-4114-41B4-8A5F-AFCC2CA9BFE5}" type="presParOf" srcId="{F9B24914-0D08-4005-B092-4EC2410E7ACF}" destId="{73C23B51-10C8-42C0-81B3-7E9CA6B8BBD5}" srcOrd="0" destOrd="0" presId="urn:microsoft.com/office/officeart/2008/layout/HorizontalMultiLevelHierarchy"/>
    <dgm:cxn modelId="{A0AF161E-3FB5-49FE-9D08-5E808D0DCE51}" type="presParOf" srcId="{6D2F590B-B60A-4A33-AD02-C741E53CD19A}" destId="{F13D1939-AB12-428D-A50C-CAD62A6B598D}" srcOrd="3" destOrd="0" presId="urn:microsoft.com/office/officeart/2008/layout/HorizontalMultiLevelHierarchy"/>
    <dgm:cxn modelId="{FCB87D6C-BF0D-4498-9BE6-5FDA952BA3A3}" type="presParOf" srcId="{F13D1939-AB12-428D-A50C-CAD62A6B598D}" destId="{AFFD1705-B221-41D0-AF57-AEF004C444AB}" srcOrd="0" destOrd="0" presId="urn:microsoft.com/office/officeart/2008/layout/HorizontalMultiLevelHierarchy"/>
    <dgm:cxn modelId="{4E50E4C0-74E0-40C5-948D-60DD8EEA5527}" type="presParOf" srcId="{F13D1939-AB12-428D-A50C-CAD62A6B598D}" destId="{FBBEE36B-B730-4BB3-949A-1F78F3C3F30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314A81B-0706-4049-814C-33AA82FB6570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BC2F7CCE-B40A-4EFB-A080-609BA0DA1F5D}">
      <dgm:prSet phldrT="[Text]"/>
      <dgm:spPr/>
      <dgm:t>
        <a:bodyPr/>
        <a:lstStyle/>
        <a:p>
          <a:r>
            <a:rPr lang="en-US" dirty="0"/>
            <a:t>Functions of Bank</a:t>
          </a:r>
          <a:endParaRPr lang="en-IN" dirty="0"/>
        </a:p>
      </dgm:t>
    </dgm:pt>
    <dgm:pt modelId="{169FF320-5E2A-46C1-A757-1250821BE160}" type="parTrans" cxnId="{EEF98EDB-2213-4077-9366-D7ABCD4E35A9}">
      <dgm:prSet/>
      <dgm:spPr/>
      <dgm:t>
        <a:bodyPr/>
        <a:lstStyle/>
        <a:p>
          <a:endParaRPr lang="en-IN"/>
        </a:p>
      </dgm:t>
    </dgm:pt>
    <dgm:pt modelId="{44A9F171-F023-44DF-8795-ABF58A5D6E25}" type="sibTrans" cxnId="{EEF98EDB-2213-4077-9366-D7ABCD4E35A9}">
      <dgm:prSet/>
      <dgm:spPr/>
      <dgm:t>
        <a:bodyPr/>
        <a:lstStyle/>
        <a:p>
          <a:endParaRPr lang="en-IN"/>
        </a:p>
      </dgm:t>
    </dgm:pt>
    <dgm:pt modelId="{E5569BC7-7C41-4B06-8693-115A33BC9001}">
      <dgm:prSet phldrT="[Text]"/>
      <dgm:spPr/>
      <dgm:t>
        <a:bodyPr/>
        <a:lstStyle/>
        <a:p>
          <a:r>
            <a:rPr lang="en-US" dirty="0"/>
            <a:t>Primary Functions</a:t>
          </a:r>
          <a:endParaRPr lang="en-IN" dirty="0"/>
        </a:p>
      </dgm:t>
    </dgm:pt>
    <dgm:pt modelId="{C25C3B87-377D-4561-8847-0E57F811FB49}" type="parTrans" cxnId="{6D449AE2-8BB8-4E9B-B289-F0558CA58C29}">
      <dgm:prSet/>
      <dgm:spPr/>
      <dgm:t>
        <a:bodyPr/>
        <a:lstStyle/>
        <a:p>
          <a:endParaRPr lang="en-IN" dirty="0"/>
        </a:p>
      </dgm:t>
    </dgm:pt>
    <dgm:pt modelId="{D0007984-4B26-4524-B89B-01F9259C4576}" type="sibTrans" cxnId="{6D449AE2-8BB8-4E9B-B289-F0558CA58C29}">
      <dgm:prSet/>
      <dgm:spPr/>
      <dgm:t>
        <a:bodyPr/>
        <a:lstStyle/>
        <a:p>
          <a:endParaRPr lang="en-IN"/>
        </a:p>
      </dgm:t>
    </dgm:pt>
    <dgm:pt modelId="{E92BB774-DE03-4245-AE6C-AC7E864E8DA9}">
      <dgm:prSet phldrT="[Text]"/>
      <dgm:spPr/>
      <dgm:t>
        <a:bodyPr/>
        <a:lstStyle/>
        <a:p>
          <a:r>
            <a:rPr lang="en-US" dirty="0"/>
            <a:t>Secondary Functions</a:t>
          </a:r>
          <a:endParaRPr lang="en-IN" dirty="0"/>
        </a:p>
      </dgm:t>
    </dgm:pt>
    <dgm:pt modelId="{43E01B4F-026E-4B03-BB86-BCB2A01D8C5A}" type="parTrans" cxnId="{6F677839-D168-4465-9B90-6571D7DC1388}">
      <dgm:prSet/>
      <dgm:spPr/>
      <dgm:t>
        <a:bodyPr/>
        <a:lstStyle/>
        <a:p>
          <a:endParaRPr lang="en-IN" dirty="0"/>
        </a:p>
      </dgm:t>
    </dgm:pt>
    <dgm:pt modelId="{90728677-2B30-46B4-B657-A7E8C931DD9B}" type="sibTrans" cxnId="{6F677839-D168-4465-9B90-6571D7DC1388}">
      <dgm:prSet/>
      <dgm:spPr/>
      <dgm:t>
        <a:bodyPr/>
        <a:lstStyle/>
        <a:p>
          <a:endParaRPr lang="en-IN"/>
        </a:p>
      </dgm:t>
    </dgm:pt>
    <dgm:pt modelId="{62242896-BE75-4005-84D8-2399FE567FB6}">
      <dgm:prSet phldrT="[Text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 dirty="0" smtClean="0"/>
            <a:t>Grant of Loans and Advances</a:t>
          </a:r>
          <a:endParaRPr lang="en-IN" b="1" dirty="0"/>
        </a:p>
      </dgm:t>
    </dgm:pt>
    <dgm:pt modelId="{03444D42-806E-4D09-A5B2-A21F3BB8C230}" type="parTrans" cxnId="{FE689959-2D8D-41A2-A537-3540D944640B}">
      <dgm:prSet/>
      <dgm:spPr/>
      <dgm:t>
        <a:bodyPr/>
        <a:lstStyle/>
        <a:p>
          <a:endParaRPr lang="en-IN" dirty="0"/>
        </a:p>
      </dgm:t>
    </dgm:pt>
    <dgm:pt modelId="{F35F9404-B06E-49E5-AD71-F5A082086CB8}" type="sibTrans" cxnId="{FE689959-2D8D-41A2-A537-3540D944640B}">
      <dgm:prSet/>
      <dgm:spPr/>
      <dgm:t>
        <a:bodyPr/>
        <a:lstStyle/>
        <a:p>
          <a:endParaRPr lang="en-IN"/>
        </a:p>
      </dgm:t>
    </dgm:pt>
    <dgm:pt modelId="{63CD114A-EE20-4875-92D7-B704AF854237}">
      <dgm:prSet phldrT="[Text]"/>
      <dgm:spPr/>
      <dgm:t>
        <a:bodyPr/>
        <a:lstStyle/>
        <a:p>
          <a:r>
            <a:rPr lang="en-IN" dirty="0" smtClean="0"/>
            <a:t>Accepting </a:t>
          </a:r>
          <a:r>
            <a:rPr lang="en-IN" dirty="0"/>
            <a:t>Deposits</a:t>
          </a:r>
        </a:p>
      </dgm:t>
    </dgm:pt>
    <dgm:pt modelId="{06DE8C27-6EFA-4ED1-BED6-ACA68DFCD2DE}" type="parTrans" cxnId="{F40CCDF3-048A-4B05-AA81-6C66DFD83B0F}">
      <dgm:prSet/>
      <dgm:spPr/>
      <dgm:t>
        <a:bodyPr/>
        <a:lstStyle/>
        <a:p>
          <a:endParaRPr lang="en-IN" dirty="0"/>
        </a:p>
      </dgm:t>
    </dgm:pt>
    <dgm:pt modelId="{E8FD8D74-C4DD-46BD-998F-9B8D17E1375F}" type="sibTrans" cxnId="{F40CCDF3-048A-4B05-AA81-6C66DFD83B0F}">
      <dgm:prSet/>
      <dgm:spPr/>
      <dgm:t>
        <a:bodyPr/>
        <a:lstStyle/>
        <a:p>
          <a:endParaRPr lang="en-IN"/>
        </a:p>
      </dgm:t>
    </dgm:pt>
    <dgm:pt modelId="{67879402-FFF6-4804-8DC5-B1943EDE2D6C}" type="pres">
      <dgm:prSet presAssocID="{A314A81B-0706-4049-814C-33AA82FB6570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6228905-2A80-49F9-9582-36CF9BC3FA3C}" type="pres">
      <dgm:prSet presAssocID="{BC2F7CCE-B40A-4EFB-A080-609BA0DA1F5D}" presName="root1" presStyleCnt="0"/>
      <dgm:spPr/>
    </dgm:pt>
    <dgm:pt modelId="{D00C5881-0530-4041-8049-9949D65D4EE8}" type="pres">
      <dgm:prSet presAssocID="{BC2F7CCE-B40A-4EFB-A080-609BA0DA1F5D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D2F590B-B60A-4A33-AD02-C741E53CD19A}" type="pres">
      <dgm:prSet presAssocID="{BC2F7CCE-B40A-4EFB-A080-609BA0DA1F5D}" presName="level2hierChild" presStyleCnt="0"/>
      <dgm:spPr/>
    </dgm:pt>
    <dgm:pt modelId="{F090C7ED-FF6D-44A7-96AE-1125F1930C22}" type="pres">
      <dgm:prSet presAssocID="{C25C3B87-377D-4561-8847-0E57F811FB49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E07A4A59-F09D-447F-B219-A11B2AB9E7F5}" type="pres">
      <dgm:prSet presAssocID="{C25C3B87-377D-4561-8847-0E57F811FB49}" presName="connTx" presStyleLbl="parChTrans1D2" presStyleIdx="0" presStyleCnt="2"/>
      <dgm:spPr/>
      <dgm:t>
        <a:bodyPr/>
        <a:lstStyle/>
        <a:p>
          <a:endParaRPr lang="en-US"/>
        </a:p>
      </dgm:t>
    </dgm:pt>
    <dgm:pt modelId="{97CD951A-90C7-4386-8771-A09805834F2B}" type="pres">
      <dgm:prSet presAssocID="{E5569BC7-7C41-4B06-8693-115A33BC9001}" presName="root2" presStyleCnt="0"/>
      <dgm:spPr/>
    </dgm:pt>
    <dgm:pt modelId="{C0075F0F-82F5-47E4-93A3-AB8579E5F08D}" type="pres">
      <dgm:prSet presAssocID="{E5569BC7-7C41-4B06-8693-115A33BC9001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C9E3195-C679-496D-84C0-4CBEB58DCF1B}" type="pres">
      <dgm:prSet presAssocID="{E5569BC7-7C41-4B06-8693-115A33BC9001}" presName="level3hierChild" presStyleCnt="0"/>
      <dgm:spPr/>
    </dgm:pt>
    <dgm:pt modelId="{E2A994A0-CB69-42CC-86BB-E67C2688CF94}" type="pres">
      <dgm:prSet presAssocID="{06DE8C27-6EFA-4ED1-BED6-ACA68DFCD2DE}" presName="conn2-1" presStyleLbl="parChTrans1D3" presStyleIdx="0" presStyleCnt="2"/>
      <dgm:spPr/>
      <dgm:t>
        <a:bodyPr/>
        <a:lstStyle/>
        <a:p>
          <a:endParaRPr lang="en-US"/>
        </a:p>
      </dgm:t>
    </dgm:pt>
    <dgm:pt modelId="{C8C0FB24-6CD0-4581-93C5-4F1193C2DEB3}" type="pres">
      <dgm:prSet presAssocID="{06DE8C27-6EFA-4ED1-BED6-ACA68DFCD2DE}" presName="connTx" presStyleLbl="parChTrans1D3" presStyleIdx="0" presStyleCnt="2"/>
      <dgm:spPr/>
      <dgm:t>
        <a:bodyPr/>
        <a:lstStyle/>
        <a:p>
          <a:endParaRPr lang="en-US"/>
        </a:p>
      </dgm:t>
    </dgm:pt>
    <dgm:pt modelId="{9983DB79-9EA5-4876-B19B-C28DFD8FD8E9}" type="pres">
      <dgm:prSet presAssocID="{63CD114A-EE20-4875-92D7-B704AF854237}" presName="root2" presStyleCnt="0"/>
      <dgm:spPr/>
    </dgm:pt>
    <dgm:pt modelId="{8AE7FAFA-D21A-41E7-9ECD-86CDC4BC3130}" type="pres">
      <dgm:prSet presAssocID="{63CD114A-EE20-4875-92D7-B704AF854237}" presName="LevelTwoTextNode" presStyleLbl="node3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D9870C9-D3A5-4D42-A04E-B72EC8245E66}" type="pres">
      <dgm:prSet presAssocID="{63CD114A-EE20-4875-92D7-B704AF854237}" presName="level3hierChild" presStyleCnt="0"/>
      <dgm:spPr/>
    </dgm:pt>
    <dgm:pt modelId="{FAE838E4-0417-4BAF-8D21-5B11DC0CB238}" type="pres">
      <dgm:prSet presAssocID="{03444D42-806E-4D09-A5B2-A21F3BB8C230}" presName="conn2-1" presStyleLbl="parChTrans1D3" presStyleIdx="1" presStyleCnt="2"/>
      <dgm:spPr/>
      <dgm:t>
        <a:bodyPr/>
        <a:lstStyle/>
        <a:p>
          <a:endParaRPr lang="en-US"/>
        </a:p>
      </dgm:t>
    </dgm:pt>
    <dgm:pt modelId="{A946B4B7-B012-4B1D-A343-F7546044358A}" type="pres">
      <dgm:prSet presAssocID="{03444D42-806E-4D09-A5B2-A21F3BB8C230}" presName="connTx" presStyleLbl="parChTrans1D3" presStyleIdx="1" presStyleCnt="2"/>
      <dgm:spPr/>
      <dgm:t>
        <a:bodyPr/>
        <a:lstStyle/>
        <a:p>
          <a:endParaRPr lang="en-US"/>
        </a:p>
      </dgm:t>
    </dgm:pt>
    <dgm:pt modelId="{ED075D79-0C34-45A4-BB44-71BEA81A0E67}" type="pres">
      <dgm:prSet presAssocID="{62242896-BE75-4005-84D8-2399FE567FB6}" presName="root2" presStyleCnt="0"/>
      <dgm:spPr/>
    </dgm:pt>
    <dgm:pt modelId="{AA5AF5DC-A5ED-453C-BDA6-E85F0793A842}" type="pres">
      <dgm:prSet presAssocID="{62242896-BE75-4005-84D8-2399FE567FB6}" presName="LevelTwoTextNode" presStyleLbl="node3" presStyleIdx="1" presStyleCnt="2" custScaleY="19055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053B05B-8CCB-4C6A-AF10-B992C21A59C3}" type="pres">
      <dgm:prSet presAssocID="{62242896-BE75-4005-84D8-2399FE567FB6}" presName="level3hierChild" presStyleCnt="0"/>
      <dgm:spPr/>
    </dgm:pt>
    <dgm:pt modelId="{F9B24914-0D08-4005-B092-4EC2410E7ACF}" type="pres">
      <dgm:prSet presAssocID="{43E01B4F-026E-4B03-BB86-BCB2A01D8C5A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73C23B51-10C8-42C0-81B3-7E9CA6B8BBD5}" type="pres">
      <dgm:prSet presAssocID="{43E01B4F-026E-4B03-BB86-BCB2A01D8C5A}" presName="connTx" presStyleLbl="parChTrans1D2" presStyleIdx="1" presStyleCnt="2"/>
      <dgm:spPr/>
      <dgm:t>
        <a:bodyPr/>
        <a:lstStyle/>
        <a:p>
          <a:endParaRPr lang="en-US"/>
        </a:p>
      </dgm:t>
    </dgm:pt>
    <dgm:pt modelId="{F13D1939-AB12-428D-A50C-CAD62A6B598D}" type="pres">
      <dgm:prSet presAssocID="{E92BB774-DE03-4245-AE6C-AC7E864E8DA9}" presName="root2" presStyleCnt="0"/>
      <dgm:spPr/>
    </dgm:pt>
    <dgm:pt modelId="{AFFD1705-B221-41D0-AF57-AEF004C444AB}" type="pres">
      <dgm:prSet presAssocID="{E92BB774-DE03-4245-AE6C-AC7E864E8DA9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BBEE36B-B730-4BB3-949A-1F78F3C3F308}" type="pres">
      <dgm:prSet presAssocID="{E92BB774-DE03-4245-AE6C-AC7E864E8DA9}" presName="level3hierChild" presStyleCnt="0"/>
      <dgm:spPr/>
    </dgm:pt>
  </dgm:ptLst>
  <dgm:cxnLst>
    <dgm:cxn modelId="{EEF98EDB-2213-4077-9366-D7ABCD4E35A9}" srcId="{A314A81B-0706-4049-814C-33AA82FB6570}" destId="{BC2F7CCE-B40A-4EFB-A080-609BA0DA1F5D}" srcOrd="0" destOrd="0" parTransId="{169FF320-5E2A-46C1-A757-1250821BE160}" sibTransId="{44A9F171-F023-44DF-8795-ABF58A5D6E25}"/>
    <dgm:cxn modelId="{ADA10B59-3672-476D-81D8-7DCC178D761C}" type="presOf" srcId="{E5569BC7-7C41-4B06-8693-115A33BC9001}" destId="{C0075F0F-82F5-47E4-93A3-AB8579E5F08D}" srcOrd="0" destOrd="0" presId="urn:microsoft.com/office/officeart/2008/layout/HorizontalMultiLevelHierarchy"/>
    <dgm:cxn modelId="{7083DD0D-410E-4EBD-8981-65E1668AA8B9}" type="presOf" srcId="{A314A81B-0706-4049-814C-33AA82FB6570}" destId="{67879402-FFF6-4804-8DC5-B1943EDE2D6C}" srcOrd="0" destOrd="0" presId="urn:microsoft.com/office/officeart/2008/layout/HorizontalMultiLevelHierarchy"/>
    <dgm:cxn modelId="{91516E2C-8A1A-4036-A7CB-1956E2C4ADE7}" type="presOf" srcId="{62242896-BE75-4005-84D8-2399FE567FB6}" destId="{AA5AF5DC-A5ED-453C-BDA6-E85F0793A842}" srcOrd="0" destOrd="0" presId="urn:microsoft.com/office/officeart/2008/layout/HorizontalMultiLevelHierarchy"/>
    <dgm:cxn modelId="{5BB11761-2947-4F20-AB8B-435D99E81583}" type="presOf" srcId="{06DE8C27-6EFA-4ED1-BED6-ACA68DFCD2DE}" destId="{C8C0FB24-6CD0-4581-93C5-4F1193C2DEB3}" srcOrd="1" destOrd="0" presId="urn:microsoft.com/office/officeart/2008/layout/HorizontalMultiLevelHierarchy"/>
    <dgm:cxn modelId="{92476416-C401-4700-A8E6-94829B30C5C4}" type="presOf" srcId="{C25C3B87-377D-4561-8847-0E57F811FB49}" destId="{E07A4A59-F09D-447F-B219-A11B2AB9E7F5}" srcOrd="1" destOrd="0" presId="urn:microsoft.com/office/officeart/2008/layout/HorizontalMultiLevelHierarchy"/>
    <dgm:cxn modelId="{B0E2B43D-8970-41DC-8505-1FDA852DFD85}" type="presOf" srcId="{C25C3B87-377D-4561-8847-0E57F811FB49}" destId="{F090C7ED-FF6D-44A7-96AE-1125F1930C22}" srcOrd="0" destOrd="0" presId="urn:microsoft.com/office/officeart/2008/layout/HorizontalMultiLevelHierarchy"/>
    <dgm:cxn modelId="{6B13EC98-B391-4C54-B74C-D7D222C8E5A9}" type="presOf" srcId="{43E01B4F-026E-4B03-BB86-BCB2A01D8C5A}" destId="{73C23B51-10C8-42C0-81B3-7E9CA6B8BBD5}" srcOrd="1" destOrd="0" presId="urn:microsoft.com/office/officeart/2008/layout/HorizontalMultiLevelHierarchy"/>
    <dgm:cxn modelId="{1FC8B045-EC56-491B-95C0-1E0096011EEC}" type="presOf" srcId="{03444D42-806E-4D09-A5B2-A21F3BB8C230}" destId="{FAE838E4-0417-4BAF-8D21-5B11DC0CB238}" srcOrd="0" destOrd="0" presId="urn:microsoft.com/office/officeart/2008/layout/HorizontalMultiLevelHierarchy"/>
    <dgm:cxn modelId="{6D449AE2-8BB8-4E9B-B289-F0558CA58C29}" srcId="{BC2F7CCE-B40A-4EFB-A080-609BA0DA1F5D}" destId="{E5569BC7-7C41-4B06-8693-115A33BC9001}" srcOrd="0" destOrd="0" parTransId="{C25C3B87-377D-4561-8847-0E57F811FB49}" sibTransId="{D0007984-4B26-4524-B89B-01F9259C4576}"/>
    <dgm:cxn modelId="{97EC31A9-8587-4EA5-B0A0-8D834F1D76B7}" type="presOf" srcId="{03444D42-806E-4D09-A5B2-A21F3BB8C230}" destId="{A946B4B7-B012-4B1D-A343-F7546044358A}" srcOrd="1" destOrd="0" presId="urn:microsoft.com/office/officeart/2008/layout/HorizontalMultiLevelHierarchy"/>
    <dgm:cxn modelId="{F40CCDF3-048A-4B05-AA81-6C66DFD83B0F}" srcId="{E5569BC7-7C41-4B06-8693-115A33BC9001}" destId="{63CD114A-EE20-4875-92D7-B704AF854237}" srcOrd="0" destOrd="0" parTransId="{06DE8C27-6EFA-4ED1-BED6-ACA68DFCD2DE}" sibTransId="{E8FD8D74-C4DD-46BD-998F-9B8D17E1375F}"/>
    <dgm:cxn modelId="{80EFA46B-F89D-4BE8-AE03-D88AC0DC8F75}" type="presOf" srcId="{06DE8C27-6EFA-4ED1-BED6-ACA68DFCD2DE}" destId="{E2A994A0-CB69-42CC-86BB-E67C2688CF94}" srcOrd="0" destOrd="0" presId="urn:microsoft.com/office/officeart/2008/layout/HorizontalMultiLevelHierarchy"/>
    <dgm:cxn modelId="{6F677839-D168-4465-9B90-6571D7DC1388}" srcId="{BC2F7CCE-B40A-4EFB-A080-609BA0DA1F5D}" destId="{E92BB774-DE03-4245-AE6C-AC7E864E8DA9}" srcOrd="1" destOrd="0" parTransId="{43E01B4F-026E-4B03-BB86-BCB2A01D8C5A}" sibTransId="{90728677-2B30-46B4-B657-A7E8C931DD9B}"/>
    <dgm:cxn modelId="{43C3BC81-184F-41FA-A4F4-9E4C04E9485E}" type="presOf" srcId="{E92BB774-DE03-4245-AE6C-AC7E864E8DA9}" destId="{AFFD1705-B221-41D0-AF57-AEF004C444AB}" srcOrd="0" destOrd="0" presId="urn:microsoft.com/office/officeart/2008/layout/HorizontalMultiLevelHierarchy"/>
    <dgm:cxn modelId="{4814252F-48D6-4FA9-9463-C5AEE2966F32}" type="presOf" srcId="{63CD114A-EE20-4875-92D7-B704AF854237}" destId="{8AE7FAFA-D21A-41E7-9ECD-86CDC4BC3130}" srcOrd="0" destOrd="0" presId="urn:microsoft.com/office/officeart/2008/layout/HorizontalMultiLevelHierarchy"/>
    <dgm:cxn modelId="{FE689959-2D8D-41A2-A537-3540D944640B}" srcId="{E5569BC7-7C41-4B06-8693-115A33BC9001}" destId="{62242896-BE75-4005-84D8-2399FE567FB6}" srcOrd="1" destOrd="0" parTransId="{03444D42-806E-4D09-A5B2-A21F3BB8C230}" sibTransId="{F35F9404-B06E-49E5-AD71-F5A082086CB8}"/>
    <dgm:cxn modelId="{2A161C30-B690-43AA-B056-8E597806182A}" type="presOf" srcId="{BC2F7CCE-B40A-4EFB-A080-609BA0DA1F5D}" destId="{D00C5881-0530-4041-8049-9949D65D4EE8}" srcOrd="0" destOrd="0" presId="urn:microsoft.com/office/officeart/2008/layout/HorizontalMultiLevelHierarchy"/>
    <dgm:cxn modelId="{9264BCBA-091E-4CC8-8322-32C00DF4AAA4}" type="presOf" srcId="{43E01B4F-026E-4B03-BB86-BCB2A01D8C5A}" destId="{F9B24914-0D08-4005-B092-4EC2410E7ACF}" srcOrd="0" destOrd="0" presId="urn:microsoft.com/office/officeart/2008/layout/HorizontalMultiLevelHierarchy"/>
    <dgm:cxn modelId="{B293B8D0-732B-49B5-AFD2-CB0F005D5C24}" type="presParOf" srcId="{67879402-FFF6-4804-8DC5-B1943EDE2D6C}" destId="{66228905-2A80-49F9-9582-36CF9BC3FA3C}" srcOrd="0" destOrd="0" presId="urn:microsoft.com/office/officeart/2008/layout/HorizontalMultiLevelHierarchy"/>
    <dgm:cxn modelId="{E1A756DE-9B4B-4CC1-8F9C-9A92FE381D1C}" type="presParOf" srcId="{66228905-2A80-49F9-9582-36CF9BC3FA3C}" destId="{D00C5881-0530-4041-8049-9949D65D4EE8}" srcOrd="0" destOrd="0" presId="urn:microsoft.com/office/officeart/2008/layout/HorizontalMultiLevelHierarchy"/>
    <dgm:cxn modelId="{350AB937-F83D-451F-BA6E-DD046CE3E7C7}" type="presParOf" srcId="{66228905-2A80-49F9-9582-36CF9BC3FA3C}" destId="{6D2F590B-B60A-4A33-AD02-C741E53CD19A}" srcOrd="1" destOrd="0" presId="urn:microsoft.com/office/officeart/2008/layout/HorizontalMultiLevelHierarchy"/>
    <dgm:cxn modelId="{1906D4B0-EF2A-487E-B2DF-6326E26FA68C}" type="presParOf" srcId="{6D2F590B-B60A-4A33-AD02-C741E53CD19A}" destId="{F090C7ED-FF6D-44A7-96AE-1125F1930C22}" srcOrd="0" destOrd="0" presId="urn:microsoft.com/office/officeart/2008/layout/HorizontalMultiLevelHierarchy"/>
    <dgm:cxn modelId="{58739663-B9C7-49DB-A690-FA7306463551}" type="presParOf" srcId="{F090C7ED-FF6D-44A7-96AE-1125F1930C22}" destId="{E07A4A59-F09D-447F-B219-A11B2AB9E7F5}" srcOrd="0" destOrd="0" presId="urn:microsoft.com/office/officeart/2008/layout/HorizontalMultiLevelHierarchy"/>
    <dgm:cxn modelId="{338CB672-ED02-4138-B1A0-757699627B49}" type="presParOf" srcId="{6D2F590B-B60A-4A33-AD02-C741E53CD19A}" destId="{97CD951A-90C7-4386-8771-A09805834F2B}" srcOrd="1" destOrd="0" presId="urn:microsoft.com/office/officeart/2008/layout/HorizontalMultiLevelHierarchy"/>
    <dgm:cxn modelId="{54511B72-B9D8-452E-AF6D-9C891C648A79}" type="presParOf" srcId="{97CD951A-90C7-4386-8771-A09805834F2B}" destId="{C0075F0F-82F5-47E4-93A3-AB8579E5F08D}" srcOrd="0" destOrd="0" presId="urn:microsoft.com/office/officeart/2008/layout/HorizontalMultiLevelHierarchy"/>
    <dgm:cxn modelId="{753E2F58-7C97-421F-B8B4-DD29973C7BD6}" type="presParOf" srcId="{97CD951A-90C7-4386-8771-A09805834F2B}" destId="{3C9E3195-C679-496D-84C0-4CBEB58DCF1B}" srcOrd="1" destOrd="0" presId="urn:microsoft.com/office/officeart/2008/layout/HorizontalMultiLevelHierarchy"/>
    <dgm:cxn modelId="{576F5BB9-1900-4E66-A609-2D75282681DE}" type="presParOf" srcId="{3C9E3195-C679-496D-84C0-4CBEB58DCF1B}" destId="{E2A994A0-CB69-42CC-86BB-E67C2688CF94}" srcOrd="0" destOrd="0" presId="urn:microsoft.com/office/officeart/2008/layout/HorizontalMultiLevelHierarchy"/>
    <dgm:cxn modelId="{2CEBB407-E48C-4AEF-84F2-D1B38294EE12}" type="presParOf" srcId="{E2A994A0-CB69-42CC-86BB-E67C2688CF94}" destId="{C8C0FB24-6CD0-4581-93C5-4F1193C2DEB3}" srcOrd="0" destOrd="0" presId="urn:microsoft.com/office/officeart/2008/layout/HorizontalMultiLevelHierarchy"/>
    <dgm:cxn modelId="{4A8BD5D3-E0D9-4B4A-854D-6330752EEE2C}" type="presParOf" srcId="{3C9E3195-C679-496D-84C0-4CBEB58DCF1B}" destId="{9983DB79-9EA5-4876-B19B-C28DFD8FD8E9}" srcOrd="1" destOrd="0" presId="urn:microsoft.com/office/officeart/2008/layout/HorizontalMultiLevelHierarchy"/>
    <dgm:cxn modelId="{CC0E7039-EBD8-4776-BF15-B7BCA732FD9E}" type="presParOf" srcId="{9983DB79-9EA5-4876-B19B-C28DFD8FD8E9}" destId="{8AE7FAFA-D21A-41E7-9ECD-86CDC4BC3130}" srcOrd="0" destOrd="0" presId="urn:microsoft.com/office/officeart/2008/layout/HorizontalMultiLevelHierarchy"/>
    <dgm:cxn modelId="{CAB78642-4481-476C-9881-F9D9A0DC9B18}" type="presParOf" srcId="{9983DB79-9EA5-4876-B19B-C28DFD8FD8E9}" destId="{CD9870C9-D3A5-4D42-A04E-B72EC8245E66}" srcOrd="1" destOrd="0" presId="urn:microsoft.com/office/officeart/2008/layout/HorizontalMultiLevelHierarchy"/>
    <dgm:cxn modelId="{409C2AEB-A14E-4217-A067-2819DD1E821D}" type="presParOf" srcId="{3C9E3195-C679-496D-84C0-4CBEB58DCF1B}" destId="{FAE838E4-0417-4BAF-8D21-5B11DC0CB238}" srcOrd="2" destOrd="0" presId="urn:microsoft.com/office/officeart/2008/layout/HorizontalMultiLevelHierarchy"/>
    <dgm:cxn modelId="{AEFA538E-AC55-4680-B319-3A44F746A124}" type="presParOf" srcId="{FAE838E4-0417-4BAF-8D21-5B11DC0CB238}" destId="{A946B4B7-B012-4B1D-A343-F7546044358A}" srcOrd="0" destOrd="0" presId="urn:microsoft.com/office/officeart/2008/layout/HorizontalMultiLevelHierarchy"/>
    <dgm:cxn modelId="{2FFA08FF-6252-4A12-B469-8C0F5739F6F5}" type="presParOf" srcId="{3C9E3195-C679-496D-84C0-4CBEB58DCF1B}" destId="{ED075D79-0C34-45A4-BB44-71BEA81A0E67}" srcOrd="3" destOrd="0" presId="urn:microsoft.com/office/officeart/2008/layout/HorizontalMultiLevelHierarchy"/>
    <dgm:cxn modelId="{18F9C286-6B27-41FC-9554-6351A32D3C65}" type="presParOf" srcId="{ED075D79-0C34-45A4-BB44-71BEA81A0E67}" destId="{AA5AF5DC-A5ED-453C-BDA6-E85F0793A842}" srcOrd="0" destOrd="0" presId="urn:microsoft.com/office/officeart/2008/layout/HorizontalMultiLevelHierarchy"/>
    <dgm:cxn modelId="{900FE8AB-6247-44D5-B8D8-92F3BF52A1A0}" type="presParOf" srcId="{ED075D79-0C34-45A4-BB44-71BEA81A0E67}" destId="{A053B05B-8CCB-4C6A-AF10-B992C21A59C3}" srcOrd="1" destOrd="0" presId="urn:microsoft.com/office/officeart/2008/layout/HorizontalMultiLevelHierarchy"/>
    <dgm:cxn modelId="{71C917FC-DAC0-4705-BD9D-80262AE7CF70}" type="presParOf" srcId="{6D2F590B-B60A-4A33-AD02-C741E53CD19A}" destId="{F9B24914-0D08-4005-B092-4EC2410E7ACF}" srcOrd="2" destOrd="0" presId="urn:microsoft.com/office/officeart/2008/layout/HorizontalMultiLevelHierarchy"/>
    <dgm:cxn modelId="{C3454C0D-4114-41B4-8A5F-AFCC2CA9BFE5}" type="presParOf" srcId="{F9B24914-0D08-4005-B092-4EC2410E7ACF}" destId="{73C23B51-10C8-42C0-81B3-7E9CA6B8BBD5}" srcOrd="0" destOrd="0" presId="urn:microsoft.com/office/officeart/2008/layout/HorizontalMultiLevelHierarchy"/>
    <dgm:cxn modelId="{A0AF161E-3FB5-49FE-9D08-5E808D0DCE51}" type="presParOf" srcId="{6D2F590B-B60A-4A33-AD02-C741E53CD19A}" destId="{F13D1939-AB12-428D-A50C-CAD62A6B598D}" srcOrd="3" destOrd="0" presId="urn:microsoft.com/office/officeart/2008/layout/HorizontalMultiLevelHierarchy"/>
    <dgm:cxn modelId="{FCB87D6C-BF0D-4498-9BE6-5FDA952BA3A3}" type="presParOf" srcId="{F13D1939-AB12-428D-A50C-CAD62A6B598D}" destId="{AFFD1705-B221-41D0-AF57-AEF004C444AB}" srcOrd="0" destOrd="0" presId="urn:microsoft.com/office/officeart/2008/layout/HorizontalMultiLevelHierarchy"/>
    <dgm:cxn modelId="{4E50E4C0-74E0-40C5-948D-60DD8EEA5527}" type="presParOf" srcId="{F13D1939-AB12-428D-A50C-CAD62A6B598D}" destId="{FBBEE36B-B730-4BB3-949A-1F78F3C3F30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314A81B-0706-4049-814C-33AA82FB6570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BC2F7CCE-B40A-4EFB-A080-609BA0DA1F5D}">
      <dgm:prSet phldrT="[Text]"/>
      <dgm:spPr/>
      <dgm:t>
        <a:bodyPr/>
        <a:lstStyle/>
        <a:p>
          <a:r>
            <a:rPr lang="en-US" dirty="0"/>
            <a:t>Functions of Bank</a:t>
          </a:r>
          <a:endParaRPr lang="en-IN" dirty="0"/>
        </a:p>
      </dgm:t>
    </dgm:pt>
    <dgm:pt modelId="{169FF320-5E2A-46C1-A757-1250821BE160}" type="parTrans" cxnId="{EEF98EDB-2213-4077-9366-D7ABCD4E35A9}">
      <dgm:prSet/>
      <dgm:spPr/>
      <dgm:t>
        <a:bodyPr/>
        <a:lstStyle/>
        <a:p>
          <a:endParaRPr lang="en-IN"/>
        </a:p>
      </dgm:t>
    </dgm:pt>
    <dgm:pt modelId="{44A9F171-F023-44DF-8795-ABF58A5D6E25}" type="sibTrans" cxnId="{EEF98EDB-2213-4077-9366-D7ABCD4E35A9}">
      <dgm:prSet/>
      <dgm:spPr/>
      <dgm:t>
        <a:bodyPr/>
        <a:lstStyle/>
        <a:p>
          <a:endParaRPr lang="en-IN"/>
        </a:p>
      </dgm:t>
    </dgm:pt>
    <dgm:pt modelId="{E5569BC7-7C41-4B06-8693-115A33BC9001}">
      <dgm:prSet phldrT="[Text]"/>
      <dgm:spPr/>
      <dgm:t>
        <a:bodyPr/>
        <a:lstStyle/>
        <a:p>
          <a:r>
            <a:rPr lang="en-US" dirty="0"/>
            <a:t>Primary Functions</a:t>
          </a:r>
          <a:endParaRPr lang="en-IN" dirty="0"/>
        </a:p>
      </dgm:t>
    </dgm:pt>
    <dgm:pt modelId="{C25C3B87-377D-4561-8847-0E57F811FB49}" type="parTrans" cxnId="{6D449AE2-8BB8-4E9B-B289-F0558CA58C29}">
      <dgm:prSet/>
      <dgm:spPr/>
      <dgm:t>
        <a:bodyPr/>
        <a:lstStyle/>
        <a:p>
          <a:endParaRPr lang="en-IN" dirty="0"/>
        </a:p>
      </dgm:t>
    </dgm:pt>
    <dgm:pt modelId="{D0007984-4B26-4524-B89B-01F9259C4576}" type="sibTrans" cxnId="{6D449AE2-8BB8-4E9B-B289-F0558CA58C29}">
      <dgm:prSet/>
      <dgm:spPr/>
      <dgm:t>
        <a:bodyPr/>
        <a:lstStyle/>
        <a:p>
          <a:endParaRPr lang="en-IN"/>
        </a:p>
      </dgm:t>
    </dgm:pt>
    <dgm:pt modelId="{E92BB774-DE03-4245-AE6C-AC7E864E8DA9}">
      <dgm:prSet phldrT="[Text]"/>
      <dgm:spPr/>
      <dgm:t>
        <a:bodyPr/>
        <a:lstStyle/>
        <a:p>
          <a:r>
            <a:rPr lang="en-US" dirty="0"/>
            <a:t>Secondary Functions</a:t>
          </a:r>
          <a:endParaRPr lang="en-IN" dirty="0"/>
        </a:p>
      </dgm:t>
    </dgm:pt>
    <dgm:pt modelId="{43E01B4F-026E-4B03-BB86-BCB2A01D8C5A}" type="parTrans" cxnId="{6F677839-D168-4465-9B90-6571D7DC1388}">
      <dgm:prSet/>
      <dgm:spPr/>
      <dgm:t>
        <a:bodyPr/>
        <a:lstStyle/>
        <a:p>
          <a:endParaRPr lang="en-IN" dirty="0"/>
        </a:p>
      </dgm:t>
    </dgm:pt>
    <dgm:pt modelId="{90728677-2B30-46B4-B657-A7E8C931DD9B}" type="sibTrans" cxnId="{6F677839-D168-4465-9B90-6571D7DC1388}">
      <dgm:prSet/>
      <dgm:spPr/>
      <dgm:t>
        <a:bodyPr/>
        <a:lstStyle/>
        <a:p>
          <a:endParaRPr lang="en-IN"/>
        </a:p>
      </dgm:t>
    </dgm:pt>
    <dgm:pt modelId="{62242896-BE75-4005-84D8-2399FE567FB6}">
      <dgm:prSet phldrT="[Text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 dirty="0" smtClean="0"/>
            <a:t>Grant of Loans and Advances</a:t>
          </a:r>
          <a:endParaRPr lang="en-IN" b="1" dirty="0"/>
        </a:p>
      </dgm:t>
    </dgm:pt>
    <dgm:pt modelId="{03444D42-806E-4D09-A5B2-A21F3BB8C230}" type="parTrans" cxnId="{FE689959-2D8D-41A2-A537-3540D944640B}">
      <dgm:prSet/>
      <dgm:spPr/>
      <dgm:t>
        <a:bodyPr/>
        <a:lstStyle/>
        <a:p>
          <a:endParaRPr lang="en-IN" dirty="0"/>
        </a:p>
      </dgm:t>
    </dgm:pt>
    <dgm:pt modelId="{F35F9404-B06E-49E5-AD71-F5A082086CB8}" type="sibTrans" cxnId="{FE689959-2D8D-41A2-A537-3540D944640B}">
      <dgm:prSet/>
      <dgm:spPr/>
      <dgm:t>
        <a:bodyPr/>
        <a:lstStyle/>
        <a:p>
          <a:endParaRPr lang="en-IN"/>
        </a:p>
      </dgm:t>
    </dgm:pt>
    <dgm:pt modelId="{63CD114A-EE20-4875-92D7-B704AF854237}">
      <dgm:prSet phldrT="[Text]"/>
      <dgm:spPr/>
      <dgm:t>
        <a:bodyPr/>
        <a:lstStyle/>
        <a:p>
          <a:r>
            <a:rPr lang="en-IN" dirty="0" smtClean="0"/>
            <a:t>Accepting </a:t>
          </a:r>
          <a:r>
            <a:rPr lang="en-IN" dirty="0"/>
            <a:t>Deposits</a:t>
          </a:r>
        </a:p>
      </dgm:t>
    </dgm:pt>
    <dgm:pt modelId="{06DE8C27-6EFA-4ED1-BED6-ACA68DFCD2DE}" type="parTrans" cxnId="{F40CCDF3-048A-4B05-AA81-6C66DFD83B0F}">
      <dgm:prSet/>
      <dgm:spPr/>
      <dgm:t>
        <a:bodyPr/>
        <a:lstStyle/>
        <a:p>
          <a:endParaRPr lang="en-IN" dirty="0"/>
        </a:p>
      </dgm:t>
    </dgm:pt>
    <dgm:pt modelId="{E8FD8D74-C4DD-46BD-998F-9B8D17E1375F}" type="sibTrans" cxnId="{F40CCDF3-048A-4B05-AA81-6C66DFD83B0F}">
      <dgm:prSet/>
      <dgm:spPr/>
      <dgm:t>
        <a:bodyPr/>
        <a:lstStyle/>
        <a:p>
          <a:endParaRPr lang="en-IN"/>
        </a:p>
      </dgm:t>
    </dgm:pt>
    <dgm:pt modelId="{67879402-FFF6-4804-8DC5-B1943EDE2D6C}" type="pres">
      <dgm:prSet presAssocID="{A314A81B-0706-4049-814C-33AA82FB6570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6228905-2A80-49F9-9582-36CF9BC3FA3C}" type="pres">
      <dgm:prSet presAssocID="{BC2F7CCE-B40A-4EFB-A080-609BA0DA1F5D}" presName="root1" presStyleCnt="0"/>
      <dgm:spPr/>
    </dgm:pt>
    <dgm:pt modelId="{D00C5881-0530-4041-8049-9949D65D4EE8}" type="pres">
      <dgm:prSet presAssocID="{BC2F7CCE-B40A-4EFB-A080-609BA0DA1F5D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D2F590B-B60A-4A33-AD02-C741E53CD19A}" type="pres">
      <dgm:prSet presAssocID="{BC2F7CCE-B40A-4EFB-A080-609BA0DA1F5D}" presName="level2hierChild" presStyleCnt="0"/>
      <dgm:spPr/>
    </dgm:pt>
    <dgm:pt modelId="{F090C7ED-FF6D-44A7-96AE-1125F1930C22}" type="pres">
      <dgm:prSet presAssocID="{C25C3B87-377D-4561-8847-0E57F811FB49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E07A4A59-F09D-447F-B219-A11B2AB9E7F5}" type="pres">
      <dgm:prSet presAssocID="{C25C3B87-377D-4561-8847-0E57F811FB49}" presName="connTx" presStyleLbl="parChTrans1D2" presStyleIdx="0" presStyleCnt="2"/>
      <dgm:spPr/>
      <dgm:t>
        <a:bodyPr/>
        <a:lstStyle/>
        <a:p>
          <a:endParaRPr lang="en-US"/>
        </a:p>
      </dgm:t>
    </dgm:pt>
    <dgm:pt modelId="{97CD951A-90C7-4386-8771-A09805834F2B}" type="pres">
      <dgm:prSet presAssocID="{E5569BC7-7C41-4B06-8693-115A33BC9001}" presName="root2" presStyleCnt="0"/>
      <dgm:spPr/>
    </dgm:pt>
    <dgm:pt modelId="{C0075F0F-82F5-47E4-93A3-AB8579E5F08D}" type="pres">
      <dgm:prSet presAssocID="{E5569BC7-7C41-4B06-8693-115A33BC9001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C9E3195-C679-496D-84C0-4CBEB58DCF1B}" type="pres">
      <dgm:prSet presAssocID="{E5569BC7-7C41-4B06-8693-115A33BC9001}" presName="level3hierChild" presStyleCnt="0"/>
      <dgm:spPr/>
    </dgm:pt>
    <dgm:pt modelId="{E2A994A0-CB69-42CC-86BB-E67C2688CF94}" type="pres">
      <dgm:prSet presAssocID="{06DE8C27-6EFA-4ED1-BED6-ACA68DFCD2DE}" presName="conn2-1" presStyleLbl="parChTrans1D3" presStyleIdx="0" presStyleCnt="2"/>
      <dgm:spPr/>
      <dgm:t>
        <a:bodyPr/>
        <a:lstStyle/>
        <a:p>
          <a:endParaRPr lang="en-US"/>
        </a:p>
      </dgm:t>
    </dgm:pt>
    <dgm:pt modelId="{C8C0FB24-6CD0-4581-93C5-4F1193C2DEB3}" type="pres">
      <dgm:prSet presAssocID="{06DE8C27-6EFA-4ED1-BED6-ACA68DFCD2DE}" presName="connTx" presStyleLbl="parChTrans1D3" presStyleIdx="0" presStyleCnt="2"/>
      <dgm:spPr/>
      <dgm:t>
        <a:bodyPr/>
        <a:lstStyle/>
        <a:p>
          <a:endParaRPr lang="en-US"/>
        </a:p>
      </dgm:t>
    </dgm:pt>
    <dgm:pt modelId="{9983DB79-9EA5-4876-B19B-C28DFD8FD8E9}" type="pres">
      <dgm:prSet presAssocID="{63CD114A-EE20-4875-92D7-B704AF854237}" presName="root2" presStyleCnt="0"/>
      <dgm:spPr/>
    </dgm:pt>
    <dgm:pt modelId="{8AE7FAFA-D21A-41E7-9ECD-86CDC4BC3130}" type="pres">
      <dgm:prSet presAssocID="{63CD114A-EE20-4875-92D7-B704AF854237}" presName="LevelTwoTextNode" presStyleLbl="node3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D9870C9-D3A5-4D42-A04E-B72EC8245E66}" type="pres">
      <dgm:prSet presAssocID="{63CD114A-EE20-4875-92D7-B704AF854237}" presName="level3hierChild" presStyleCnt="0"/>
      <dgm:spPr/>
    </dgm:pt>
    <dgm:pt modelId="{FAE838E4-0417-4BAF-8D21-5B11DC0CB238}" type="pres">
      <dgm:prSet presAssocID="{03444D42-806E-4D09-A5B2-A21F3BB8C230}" presName="conn2-1" presStyleLbl="parChTrans1D3" presStyleIdx="1" presStyleCnt="2"/>
      <dgm:spPr/>
      <dgm:t>
        <a:bodyPr/>
        <a:lstStyle/>
        <a:p>
          <a:endParaRPr lang="en-US"/>
        </a:p>
      </dgm:t>
    </dgm:pt>
    <dgm:pt modelId="{A946B4B7-B012-4B1D-A343-F7546044358A}" type="pres">
      <dgm:prSet presAssocID="{03444D42-806E-4D09-A5B2-A21F3BB8C230}" presName="connTx" presStyleLbl="parChTrans1D3" presStyleIdx="1" presStyleCnt="2"/>
      <dgm:spPr/>
      <dgm:t>
        <a:bodyPr/>
        <a:lstStyle/>
        <a:p>
          <a:endParaRPr lang="en-US"/>
        </a:p>
      </dgm:t>
    </dgm:pt>
    <dgm:pt modelId="{ED075D79-0C34-45A4-BB44-71BEA81A0E67}" type="pres">
      <dgm:prSet presAssocID="{62242896-BE75-4005-84D8-2399FE567FB6}" presName="root2" presStyleCnt="0"/>
      <dgm:spPr/>
    </dgm:pt>
    <dgm:pt modelId="{AA5AF5DC-A5ED-453C-BDA6-E85F0793A842}" type="pres">
      <dgm:prSet presAssocID="{62242896-BE75-4005-84D8-2399FE567FB6}" presName="LevelTwoTextNode" presStyleLbl="node3" presStyleIdx="1" presStyleCnt="2" custScaleY="19055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053B05B-8CCB-4C6A-AF10-B992C21A59C3}" type="pres">
      <dgm:prSet presAssocID="{62242896-BE75-4005-84D8-2399FE567FB6}" presName="level3hierChild" presStyleCnt="0"/>
      <dgm:spPr/>
    </dgm:pt>
    <dgm:pt modelId="{F9B24914-0D08-4005-B092-4EC2410E7ACF}" type="pres">
      <dgm:prSet presAssocID="{43E01B4F-026E-4B03-BB86-BCB2A01D8C5A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73C23B51-10C8-42C0-81B3-7E9CA6B8BBD5}" type="pres">
      <dgm:prSet presAssocID="{43E01B4F-026E-4B03-BB86-BCB2A01D8C5A}" presName="connTx" presStyleLbl="parChTrans1D2" presStyleIdx="1" presStyleCnt="2"/>
      <dgm:spPr/>
      <dgm:t>
        <a:bodyPr/>
        <a:lstStyle/>
        <a:p>
          <a:endParaRPr lang="en-US"/>
        </a:p>
      </dgm:t>
    </dgm:pt>
    <dgm:pt modelId="{F13D1939-AB12-428D-A50C-CAD62A6B598D}" type="pres">
      <dgm:prSet presAssocID="{E92BB774-DE03-4245-AE6C-AC7E864E8DA9}" presName="root2" presStyleCnt="0"/>
      <dgm:spPr/>
    </dgm:pt>
    <dgm:pt modelId="{AFFD1705-B221-41D0-AF57-AEF004C444AB}" type="pres">
      <dgm:prSet presAssocID="{E92BB774-DE03-4245-AE6C-AC7E864E8DA9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BBEE36B-B730-4BB3-949A-1F78F3C3F308}" type="pres">
      <dgm:prSet presAssocID="{E92BB774-DE03-4245-AE6C-AC7E864E8DA9}" presName="level3hierChild" presStyleCnt="0"/>
      <dgm:spPr/>
    </dgm:pt>
  </dgm:ptLst>
  <dgm:cxnLst>
    <dgm:cxn modelId="{EEF98EDB-2213-4077-9366-D7ABCD4E35A9}" srcId="{A314A81B-0706-4049-814C-33AA82FB6570}" destId="{BC2F7CCE-B40A-4EFB-A080-609BA0DA1F5D}" srcOrd="0" destOrd="0" parTransId="{169FF320-5E2A-46C1-A757-1250821BE160}" sibTransId="{44A9F171-F023-44DF-8795-ABF58A5D6E25}"/>
    <dgm:cxn modelId="{ADA10B59-3672-476D-81D8-7DCC178D761C}" type="presOf" srcId="{E5569BC7-7C41-4B06-8693-115A33BC9001}" destId="{C0075F0F-82F5-47E4-93A3-AB8579E5F08D}" srcOrd="0" destOrd="0" presId="urn:microsoft.com/office/officeart/2008/layout/HorizontalMultiLevelHierarchy"/>
    <dgm:cxn modelId="{7083DD0D-410E-4EBD-8981-65E1668AA8B9}" type="presOf" srcId="{A314A81B-0706-4049-814C-33AA82FB6570}" destId="{67879402-FFF6-4804-8DC5-B1943EDE2D6C}" srcOrd="0" destOrd="0" presId="urn:microsoft.com/office/officeart/2008/layout/HorizontalMultiLevelHierarchy"/>
    <dgm:cxn modelId="{91516E2C-8A1A-4036-A7CB-1956E2C4ADE7}" type="presOf" srcId="{62242896-BE75-4005-84D8-2399FE567FB6}" destId="{AA5AF5DC-A5ED-453C-BDA6-E85F0793A842}" srcOrd="0" destOrd="0" presId="urn:microsoft.com/office/officeart/2008/layout/HorizontalMultiLevelHierarchy"/>
    <dgm:cxn modelId="{5BB11761-2947-4F20-AB8B-435D99E81583}" type="presOf" srcId="{06DE8C27-6EFA-4ED1-BED6-ACA68DFCD2DE}" destId="{C8C0FB24-6CD0-4581-93C5-4F1193C2DEB3}" srcOrd="1" destOrd="0" presId="urn:microsoft.com/office/officeart/2008/layout/HorizontalMultiLevelHierarchy"/>
    <dgm:cxn modelId="{92476416-C401-4700-A8E6-94829B30C5C4}" type="presOf" srcId="{C25C3B87-377D-4561-8847-0E57F811FB49}" destId="{E07A4A59-F09D-447F-B219-A11B2AB9E7F5}" srcOrd="1" destOrd="0" presId="urn:microsoft.com/office/officeart/2008/layout/HorizontalMultiLevelHierarchy"/>
    <dgm:cxn modelId="{B0E2B43D-8970-41DC-8505-1FDA852DFD85}" type="presOf" srcId="{C25C3B87-377D-4561-8847-0E57F811FB49}" destId="{F090C7ED-FF6D-44A7-96AE-1125F1930C22}" srcOrd="0" destOrd="0" presId="urn:microsoft.com/office/officeart/2008/layout/HorizontalMultiLevelHierarchy"/>
    <dgm:cxn modelId="{6B13EC98-B391-4C54-B74C-D7D222C8E5A9}" type="presOf" srcId="{43E01B4F-026E-4B03-BB86-BCB2A01D8C5A}" destId="{73C23B51-10C8-42C0-81B3-7E9CA6B8BBD5}" srcOrd="1" destOrd="0" presId="urn:microsoft.com/office/officeart/2008/layout/HorizontalMultiLevelHierarchy"/>
    <dgm:cxn modelId="{1FC8B045-EC56-491B-95C0-1E0096011EEC}" type="presOf" srcId="{03444D42-806E-4D09-A5B2-A21F3BB8C230}" destId="{FAE838E4-0417-4BAF-8D21-5B11DC0CB238}" srcOrd="0" destOrd="0" presId="urn:microsoft.com/office/officeart/2008/layout/HorizontalMultiLevelHierarchy"/>
    <dgm:cxn modelId="{6D449AE2-8BB8-4E9B-B289-F0558CA58C29}" srcId="{BC2F7CCE-B40A-4EFB-A080-609BA0DA1F5D}" destId="{E5569BC7-7C41-4B06-8693-115A33BC9001}" srcOrd="0" destOrd="0" parTransId="{C25C3B87-377D-4561-8847-0E57F811FB49}" sibTransId="{D0007984-4B26-4524-B89B-01F9259C4576}"/>
    <dgm:cxn modelId="{97EC31A9-8587-4EA5-B0A0-8D834F1D76B7}" type="presOf" srcId="{03444D42-806E-4D09-A5B2-A21F3BB8C230}" destId="{A946B4B7-B012-4B1D-A343-F7546044358A}" srcOrd="1" destOrd="0" presId="urn:microsoft.com/office/officeart/2008/layout/HorizontalMultiLevelHierarchy"/>
    <dgm:cxn modelId="{F40CCDF3-048A-4B05-AA81-6C66DFD83B0F}" srcId="{E5569BC7-7C41-4B06-8693-115A33BC9001}" destId="{63CD114A-EE20-4875-92D7-B704AF854237}" srcOrd="0" destOrd="0" parTransId="{06DE8C27-6EFA-4ED1-BED6-ACA68DFCD2DE}" sibTransId="{E8FD8D74-C4DD-46BD-998F-9B8D17E1375F}"/>
    <dgm:cxn modelId="{80EFA46B-F89D-4BE8-AE03-D88AC0DC8F75}" type="presOf" srcId="{06DE8C27-6EFA-4ED1-BED6-ACA68DFCD2DE}" destId="{E2A994A0-CB69-42CC-86BB-E67C2688CF94}" srcOrd="0" destOrd="0" presId="urn:microsoft.com/office/officeart/2008/layout/HorizontalMultiLevelHierarchy"/>
    <dgm:cxn modelId="{6F677839-D168-4465-9B90-6571D7DC1388}" srcId="{BC2F7CCE-B40A-4EFB-A080-609BA0DA1F5D}" destId="{E92BB774-DE03-4245-AE6C-AC7E864E8DA9}" srcOrd="1" destOrd="0" parTransId="{43E01B4F-026E-4B03-BB86-BCB2A01D8C5A}" sibTransId="{90728677-2B30-46B4-B657-A7E8C931DD9B}"/>
    <dgm:cxn modelId="{43C3BC81-184F-41FA-A4F4-9E4C04E9485E}" type="presOf" srcId="{E92BB774-DE03-4245-AE6C-AC7E864E8DA9}" destId="{AFFD1705-B221-41D0-AF57-AEF004C444AB}" srcOrd="0" destOrd="0" presId="urn:microsoft.com/office/officeart/2008/layout/HorizontalMultiLevelHierarchy"/>
    <dgm:cxn modelId="{4814252F-48D6-4FA9-9463-C5AEE2966F32}" type="presOf" srcId="{63CD114A-EE20-4875-92D7-B704AF854237}" destId="{8AE7FAFA-D21A-41E7-9ECD-86CDC4BC3130}" srcOrd="0" destOrd="0" presId="urn:microsoft.com/office/officeart/2008/layout/HorizontalMultiLevelHierarchy"/>
    <dgm:cxn modelId="{FE689959-2D8D-41A2-A537-3540D944640B}" srcId="{E5569BC7-7C41-4B06-8693-115A33BC9001}" destId="{62242896-BE75-4005-84D8-2399FE567FB6}" srcOrd="1" destOrd="0" parTransId="{03444D42-806E-4D09-A5B2-A21F3BB8C230}" sibTransId="{F35F9404-B06E-49E5-AD71-F5A082086CB8}"/>
    <dgm:cxn modelId="{2A161C30-B690-43AA-B056-8E597806182A}" type="presOf" srcId="{BC2F7CCE-B40A-4EFB-A080-609BA0DA1F5D}" destId="{D00C5881-0530-4041-8049-9949D65D4EE8}" srcOrd="0" destOrd="0" presId="urn:microsoft.com/office/officeart/2008/layout/HorizontalMultiLevelHierarchy"/>
    <dgm:cxn modelId="{9264BCBA-091E-4CC8-8322-32C00DF4AAA4}" type="presOf" srcId="{43E01B4F-026E-4B03-BB86-BCB2A01D8C5A}" destId="{F9B24914-0D08-4005-B092-4EC2410E7ACF}" srcOrd="0" destOrd="0" presId="urn:microsoft.com/office/officeart/2008/layout/HorizontalMultiLevelHierarchy"/>
    <dgm:cxn modelId="{B293B8D0-732B-49B5-AFD2-CB0F005D5C24}" type="presParOf" srcId="{67879402-FFF6-4804-8DC5-B1943EDE2D6C}" destId="{66228905-2A80-49F9-9582-36CF9BC3FA3C}" srcOrd="0" destOrd="0" presId="urn:microsoft.com/office/officeart/2008/layout/HorizontalMultiLevelHierarchy"/>
    <dgm:cxn modelId="{E1A756DE-9B4B-4CC1-8F9C-9A92FE381D1C}" type="presParOf" srcId="{66228905-2A80-49F9-9582-36CF9BC3FA3C}" destId="{D00C5881-0530-4041-8049-9949D65D4EE8}" srcOrd="0" destOrd="0" presId="urn:microsoft.com/office/officeart/2008/layout/HorizontalMultiLevelHierarchy"/>
    <dgm:cxn modelId="{350AB937-F83D-451F-BA6E-DD046CE3E7C7}" type="presParOf" srcId="{66228905-2A80-49F9-9582-36CF9BC3FA3C}" destId="{6D2F590B-B60A-4A33-AD02-C741E53CD19A}" srcOrd="1" destOrd="0" presId="urn:microsoft.com/office/officeart/2008/layout/HorizontalMultiLevelHierarchy"/>
    <dgm:cxn modelId="{1906D4B0-EF2A-487E-B2DF-6326E26FA68C}" type="presParOf" srcId="{6D2F590B-B60A-4A33-AD02-C741E53CD19A}" destId="{F090C7ED-FF6D-44A7-96AE-1125F1930C22}" srcOrd="0" destOrd="0" presId="urn:microsoft.com/office/officeart/2008/layout/HorizontalMultiLevelHierarchy"/>
    <dgm:cxn modelId="{58739663-B9C7-49DB-A690-FA7306463551}" type="presParOf" srcId="{F090C7ED-FF6D-44A7-96AE-1125F1930C22}" destId="{E07A4A59-F09D-447F-B219-A11B2AB9E7F5}" srcOrd="0" destOrd="0" presId="urn:microsoft.com/office/officeart/2008/layout/HorizontalMultiLevelHierarchy"/>
    <dgm:cxn modelId="{338CB672-ED02-4138-B1A0-757699627B49}" type="presParOf" srcId="{6D2F590B-B60A-4A33-AD02-C741E53CD19A}" destId="{97CD951A-90C7-4386-8771-A09805834F2B}" srcOrd="1" destOrd="0" presId="urn:microsoft.com/office/officeart/2008/layout/HorizontalMultiLevelHierarchy"/>
    <dgm:cxn modelId="{54511B72-B9D8-452E-AF6D-9C891C648A79}" type="presParOf" srcId="{97CD951A-90C7-4386-8771-A09805834F2B}" destId="{C0075F0F-82F5-47E4-93A3-AB8579E5F08D}" srcOrd="0" destOrd="0" presId="urn:microsoft.com/office/officeart/2008/layout/HorizontalMultiLevelHierarchy"/>
    <dgm:cxn modelId="{753E2F58-7C97-421F-B8B4-DD29973C7BD6}" type="presParOf" srcId="{97CD951A-90C7-4386-8771-A09805834F2B}" destId="{3C9E3195-C679-496D-84C0-4CBEB58DCF1B}" srcOrd="1" destOrd="0" presId="urn:microsoft.com/office/officeart/2008/layout/HorizontalMultiLevelHierarchy"/>
    <dgm:cxn modelId="{576F5BB9-1900-4E66-A609-2D75282681DE}" type="presParOf" srcId="{3C9E3195-C679-496D-84C0-4CBEB58DCF1B}" destId="{E2A994A0-CB69-42CC-86BB-E67C2688CF94}" srcOrd="0" destOrd="0" presId="urn:microsoft.com/office/officeart/2008/layout/HorizontalMultiLevelHierarchy"/>
    <dgm:cxn modelId="{2CEBB407-E48C-4AEF-84F2-D1B38294EE12}" type="presParOf" srcId="{E2A994A0-CB69-42CC-86BB-E67C2688CF94}" destId="{C8C0FB24-6CD0-4581-93C5-4F1193C2DEB3}" srcOrd="0" destOrd="0" presId="urn:microsoft.com/office/officeart/2008/layout/HorizontalMultiLevelHierarchy"/>
    <dgm:cxn modelId="{4A8BD5D3-E0D9-4B4A-854D-6330752EEE2C}" type="presParOf" srcId="{3C9E3195-C679-496D-84C0-4CBEB58DCF1B}" destId="{9983DB79-9EA5-4876-B19B-C28DFD8FD8E9}" srcOrd="1" destOrd="0" presId="urn:microsoft.com/office/officeart/2008/layout/HorizontalMultiLevelHierarchy"/>
    <dgm:cxn modelId="{CC0E7039-EBD8-4776-BF15-B7BCA732FD9E}" type="presParOf" srcId="{9983DB79-9EA5-4876-B19B-C28DFD8FD8E9}" destId="{8AE7FAFA-D21A-41E7-9ECD-86CDC4BC3130}" srcOrd="0" destOrd="0" presId="urn:microsoft.com/office/officeart/2008/layout/HorizontalMultiLevelHierarchy"/>
    <dgm:cxn modelId="{CAB78642-4481-476C-9881-F9D9A0DC9B18}" type="presParOf" srcId="{9983DB79-9EA5-4876-B19B-C28DFD8FD8E9}" destId="{CD9870C9-D3A5-4D42-A04E-B72EC8245E66}" srcOrd="1" destOrd="0" presId="urn:microsoft.com/office/officeart/2008/layout/HorizontalMultiLevelHierarchy"/>
    <dgm:cxn modelId="{409C2AEB-A14E-4217-A067-2819DD1E821D}" type="presParOf" srcId="{3C9E3195-C679-496D-84C0-4CBEB58DCF1B}" destId="{FAE838E4-0417-4BAF-8D21-5B11DC0CB238}" srcOrd="2" destOrd="0" presId="urn:microsoft.com/office/officeart/2008/layout/HorizontalMultiLevelHierarchy"/>
    <dgm:cxn modelId="{AEFA538E-AC55-4680-B319-3A44F746A124}" type="presParOf" srcId="{FAE838E4-0417-4BAF-8D21-5B11DC0CB238}" destId="{A946B4B7-B012-4B1D-A343-F7546044358A}" srcOrd="0" destOrd="0" presId="urn:microsoft.com/office/officeart/2008/layout/HorizontalMultiLevelHierarchy"/>
    <dgm:cxn modelId="{2FFA08FF-6252-4A12-B469-8C0F5739F6F5}" type="presParOf" srcId="{3C9E3195-C679-496D-84C0-4CBEB58DCF1B}" destId="{ED075D79-0C34-45A4-BB44-71BEA81A0E67}" srcOrd="3" destOrd="0" presId="urn:microsoft.com/office/officeart/2008/layout/HorizontalMultiLevelHierarchy"/>
    <dgm:cxn modelId="{18F9C286-6B27-41FC-9554-6351A32D3C65}" type="presParOf" srcId="{ED075D79-0C34-45A4-BB44-71BEA81A0E67}" destId="{AA5AF5DC-A5ED-453C-BDA6-E85F0793A842}" srcOrd="0" destOrd="0" presId="urn:microsoft.com/office/officeart/2008/layout/HorizontalMultiLevelHierarchy"/>
    <dgm:cxn modelId="{900FE8AB-6247-44D5-B8D8-92F3BF52A1A0}" type="presParOf" srcId="{ED075D79-0C34-45A4-BB44-71BEA81A0E67}" destId="{A053B05B-8CCB-4C6A-AF10-B992C21A59C3}" srcOrd="1" destOrd="0" presId="urn:microsoft.com/office/officeart/2008/layout/HorizontalMultiLevelHierarchy"/>
    <dgm:cxn modelId="{71C917FC-DAC0-4705-BD9D-80262AE7CF70}" type="presParOf" srcId="{6D2F590B-B60A-4A33-AD02-C741E53CD19A}" destId="{F9B24914-0D08-4005-B092-4EC2410E7ACF}" srcOrd="2" destOrd="0" presId="urn:microsoft.com/office/officeart/2008/layout/HorizontalMultiLevelHierarchy"/>
    <dgm:cxn modelId="{C3454C0D-4114-41B4-8A5F-AFCC2CA9BFE5}" type="presParOf" srcId="{F9B24914-0D08-4005-B092-4EC2410E7ACF}" destId="{73C23B51-10C8-42C0-81B3-7E9CA6B8BBD5}" srcOrd="0" destOrd="0" presId="urn:microsoft.com/office/officeart/2008/layout/HorizontalMultiLevelHierarchy"/>
    <dgm:cxn modelId="{A0AF161E-3FB5-49FE-9D08-5E808D0DCE51}" type="presParOf" srcId="{6D2F590B-B60A-4A33-AD02-C741E53CD19A}" destId="{F13D1939-AB12-428D-A50C-CAD62A6B598D}" srcOrd="3" destOrd="0" presId="urn:microsoft.com/office/officeart/2008/layout/HorizontalMultiLevelHierarchy"/>
    <dgm:cxn modelId="{FCB87D6C-BF0D-4498-9BE6-5FDA952BA3A3}" type="presParOf" srcId="{F13D1939-AB12-428D-A50C-CAD62A6B598D}" destId="{AFFD1705-B221-41D0-AF57-AEF004C444AB}" srcOrd="0" destOrd="0" presId="urn:microsoft.com/office/officeart/2008/layout/HorizontalMultiLevelHierarchy"/>
    <dgm:cxn modelId="{4E50E4C0-74E0-40C5-948D-60DD8EEA5527}" type="presParOf" srcId="{F13D1939-AB12-428D-A50C-CAD62A6B598D}" destId="{FBBEE36B-B730-4BB3-949A-1F78F3C3F30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314A81B-0706-4049-814C-33AA82FB6570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BC2F7CCE-B40A-4EFB-A080-609BA0DA1F5D}">
      <dgm:prSet phldrT="[Text]"/>
      <dgm:spPr/>
      <dgm:t>
        <a:bodyPr/>
        <a:lstStyle/>
        <a:p>
          <a:r>
            <a:rPr lang="en-US" dirty="0"/>
            <a:t>Functions of Bank</a:t>
          </a:r>
          <a:endParaRPr lang="en-IN" dirty="0"/>
        </a:p>
      </dgm:t>
    </dgm:pt>
    <dgm:pt modelId="{169FF320-5E2A-46C1-A757-1250821BE160}" type="parTrans" cxnId="{EEF98EDB-2213-4077-9366-D7ABCD4E35A9}">
      <dgm:prSet/>
      <dgm:spPr/>
      <dgm:t>
        <a:bodyPr/>
        <a:lstStyle/>
        <a:p>
          <a:endParaRPr lang="en-IN"/>
        </a:p>
      </dgm:t>
    </dgm:pt>
    <dgm:pt modelId="{44A9F171-F023-44DF-8795-ABF58A5D6E25}" type="sibTrans" cxnId="{EEF98EDB-2213-4077-9366-D7ABCD4E35A9}">
      <dgm:prSet/>
      <dgm:spPr/>
      <dgm:t>
        <a:bodyPr/>
        <a:lstStyle/>
        <a:p>
          <a:endParaRPr lang="en-IN"/>
        </a:p>
      </dgm:t>
    </dgm:pt>
    <dgm:pt modelId="{E5569BC7-7C41-4B06-8693-115A33BC9001}">
      <dgm:prSet phldrT="[Text]"/>
      <dgm:spPr/>
      <dgm:t>
        <a:bodyPr/>
        <a:lstStyle/>
        <a:p>
          <a:r>
            <a:rPr lang="en-US" dirty="0"/>
            <a:t>Primary Functions</a:t>
          </a:r>
          <a:endParaRPr lang="en-IN" dirty="0"/>
        </a:p>
      </dgm:t>
    </dgm:pt>
    <dgm:pt modelId="{C25C3B87-377D-4561-8847-0E57F811FB49}" type="parTrans" cxnId="{6D449AE2-8BB8-4E9B-B289-F0558CA58C29}">
      <dgm:prSet/>
      <dgm:spPr/>
      <dgm:t>
        <a:bodyPr/>
        <a:lstStyle/>
        <a:p>
          <a:endParaRPr lang="en-IN"/>
        </a:p>
      </dgm:t>
    </dgm:pt>
    <dgm:pt modelId="{D0007984-4B26-4524-B89B-01F9259C4576}" type="sibTrans" cxnId="{6D449AE2-8BB8-4E9B-B289-F0558CA58C29}">
      <dgm:prSet/>
      <dgm:spPr/>
      <dgm:t>
        <a:bodyPr/>
        <a:lstStyle/>
        <a:p>
          <a:endParaRPr lang="en-IN"/>
        </a:p>
      </dgm:t>
    </dgm:pt>
    <dgm:pt modelId="{E92BB774-DE03-4245-AE6C-AC7E864E8DA9}">
      <dgm:prSet phldrT="[Text]"/>
      <dgm:spPr/>
      <dgm:t>
        <a:bodyPr/>
        <a:lstStyle/>
        <a:p>
          <a:r>
            <a:rPr lang="en-US" dirty="0"/>
            <a:t>Secondary Functions</a:t>
          </a:r>
          <a:endParaRPr lang="en-IN" dirty="0"/>
        </a:p>
      </dgm:t>
    </dgm:pt>
    <dgm:pt modelId="{43E01B4F-026E-4B03-BB86-BCB2A01D8C5A}" type="parTrans" cxnId="{6F677839-D168-4465-9B90-6571D7DC1388}">
      <dgm:prSet/>
      <dgm:spPr/>
      <dgm:t>
        <a:bodyPr/>
        <a:lstStyle/>
        <a:p>
          <a:endParaRPr lang="en-IN"/>
        </a:p>
      </dgm:t>
    </dgm:pt>
    <dgm:pt modelId="{90728677-2B30-46B4-B657-A7E8C931DD9B}" type="sibTrans" cxnId="{6F677839-D168-4465-9B90-6571D7DC1388}">
      <dgm:prSet/>
      <dgm:spPr/>
      <dgm:t>
        <a:bodyPr/>
        <a:lstStyle/>
        <a:p>
          <a:endParaRPr lang="en-IN"/>
        </a:p>
      </dgm:t>
    </dgm:pt>
    <dgm:pt modelId="{62242896-BE75-4005-84D8-2399FE567FB6}">
      <dgm:prSet phldrT="[Text]"/>
      <dgm:spPr/>
      <dgm:t>
        <a:bodyPr/>
        <a:lstStyle/>
        <a:p>
          <a:r>
            <a:rPr lang="en-US" dirty="0" smtClean="0"/>
            <a:t>Grant of Loans and Advances</a:t>
          </a:r>
          <a:endParaRPr lang="en-IN" dirty="0"/>
        </a:p>
      </dgm:t>
    </dgm:pt>
    <dgm:pt modelId="{03444D42-806E-4D09-A5B2-A21F3BB8C230}" type="parTrans" cxnId="{FE689959-2D8D-41A2-A537-3540D944640B}">
      <dgm:prSet/>
      <dgm:spPr/>
      <dgm:t>
        <a:bodyPr/>
        <a:lstStyle/>
        <a:p>
          <a:endParaRPr lang="en-IN"/>
        </a:p>
      </dgm:t>
    </dgm:pt>
    <dgm:pt modelId="{F35F9404-B06E-49E5-AD71-F5A082086CB8}" type="sibTrans" cxnId="{FE689959-2D8D-41A2-A537-3540D944640B}">
      <dgm:prSet/>
      <dgm:spPr/>
      <dgm:t>
        <a:bodyPr/>
        <a:lstStyle/>
        <a:p>
          <a:endParaRPr lang="en-IN"/>
        </a:p>
      </dgm:t>
    </dgm:pt>
    <dgm:pt modelId="{63CD114A-EE20-4875-92D7-B704AF854237}">
      <dgm:prSet phldrT="[Text]"/>
      <dgm:spPr/>
      <dgm:t>
        <a:bodyPr/>
        <a:lstStyle/>
        <a:p>
          <a:r>
            <a:rPr lang="en-IN" dirty="0" smtClean="0"/>
            <a:t>Accepting </a:t>
          </a:r>
          <a:r>
            <a:rPr lang="en-IN" dirty="0"/>
            <a:t>Deposits</a:t>
          </a:r>
        </a:p>
      </dgm:t>
    </dgm:pt>
    <dgm:pt modelId="{06DE8C27-6EFA-4ED1-BED6-ACA68DFCD2DE}" type="parTrans" cxnId="{F40CCDF3-048A-4B05-AA81-6C66DFD83B0F}">
      <dgm:prSet/>
      <dgm:spPr/>
      <dgm:t>
        <a:bodyPr/>
        <a:lstStyle/>
        <a:p>
          <a:endParaRPr lang="en-IN"/>
        </a:p>
      </dgm:t>
    </dgm:pt>
    <dgm:pt modelId="{E8FD8D74-C4DD-46BD-998F-9B8D17E1375F}" type="sibTrans" cxnId="{F40CCDF3-048A-4B05-AA81-6C66DFD83B0F}">
      <dgm:prSet/>
      <dgm:spPr/>
      <dgm:t>
        <a:bodyPr/>
        <a:lstStyle/>
        <a:p>
          <a:endParaRPr lang="en-IN"/>
        </a:p>
      </dgm:t>
    </dgm:pt>
    <dgm:pt modelId="{4CEBF018-1754-4230-B018-E3735F92CF85}">
      <dgm:prSet phldrT="[Text]"/>
      <dgm:spPr>
        <a:solidFill>
          <a:schemeClr val="accent5">
            <a:lumMod val="75000"/>
          </a:schemeClr>
        </a:solidFill>
      </dgm:spPr>
      <dgm:t>
        <a:bodyPr/>
        <a:lstStyle/>
        <a:p>
          <a:pPr algn="ctr"/>
          <a:r>
            <a:rPr lang="en-IN" b="1" dirty="0" smtClean="0"/>
            <a:t>Agency </a:t>
          </a:r>
          <a:r>
            <a:rPr lang="en-IN" b="1" dirty="0"/>
            <a:t>Functions</a:t>
          </a:r>
        </a:p>
      </dgm:t>
    </dgm:pt>
    <dgm:pt modelId="{0E091FCD-F2C7-4D6C-9FC6-B3C20E5B657B}" type="parTrans" cxnId="{7D02BDA8-C445-4B7C-BF17-03BA61EB7321}">
      <dgm:prSet/>
      <dgm:spPr/>
      <dgm:t>
        <a:bodyPr/>
        <a:lstStyle/>
        <a:p>
          <a:endParaRPr lang="en-IN"/>
        </a:p>
      </dgm:t>
    </dgm:pt>
    <dgm:pt modelId="{5537604D-6E10-4D46-9813-D1FE4F091E70}" type="sibTrans" cxnId="{7D02BDA8-C445-4B7C-BF17-03BA61EB7321}">
      <dgm:prSet/>
      <dgm:spPr/>
      <dgm:t>
        <a:bodyPr/>
        <a:lstStyle/>
        <a:p>
          <a:endParaRPr lang="en-IN"/>
        </a:p>
      </dgm:t>
    </dgm:pt>
    <dgm:pt modelId="{9673E259-2C92-4255-ABED-10AFC4CD25C2}">
      <dgm:prSet phldrT="[Text]"/>
      <dgm:spPr/>
      <dgm:t>
        <a:bodyPr/>
        <a:lstStyle/>
        <a:p>
          <a:pPr algn="ctr"/>
          <a:r>
            <a:rPr lang="en-IN" dirty="0" smtClean="0"/>
            <a:t>General </a:t>
          </a:r>
          <a:r>
            <a:rPr lang="en-IN" dirty="0"/>
            <a:t>Utility Functions</a:t>
          </a:r>
        </a:p>
      </dgm:t>
    </dgm:pt>
    <dgm:pt modelId="{962D89EF-DD9E-4D9E-A506-341C60CD2C02}" type="parTrans" cxnId="{89117527-7A5E-42EE-9C41-D1E7412E5015}">
      <dgm:prSet/>
      <dgm:spPr/>
      <dgm:t>
        <a:bodyPr/>
        <a:lstStyle/>
        <a:p>
          <a:endParaRPr lang="en-IN"/>
        </a:p>
      </dgm:t>
    </dgm:pt>
    <dgm:pt modelId="{D19325D9-04DF-4E0B-B5DF-7BF68BA03307}" type="sibTrans" cxnId="{89117527-7A5E-42EE-9C41-D1E7412E5015}">
      <dgm:prSet/>
      <dgm:spPr/>
      <dgm:t>
        <a:bodyPr/>
        <a:lstStyle/>
        <a:p>
          <a:endParaRPr lang="en-IN"/>
        </a:p>
      </dgm:t>
    </dgm:pt>
    <dgm:pt modelId="{67879402-FFF6-4804-8DC5-B1943EDE2D6C}" type="pres">
      <dgm:prSet presAssocID="{A314A81B-0706-4049-814C-33AA82FB6570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6228905-2A80-49F9-9582-36CF9BC3FA3C}" type="pres">
      <dgm:prSet presAssocID="{BC2F7CCE-B40A-4EFB-A080-609BA0DA1F5D}" presName="root1" presStyleCnt="0"/>
      <dgm:spPr/>
    </dgm:pt>
    <dgm:pt modelId="{D00C5881-0530-4041-8049-9949D65D4EE8}" type="pres">
      <dgm:prSet presAssocID="{BC2F7CCE-B40A-4EFB-A080-609BA0DA1F5D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D2F590B-B60A-4A33-AD02-C741E53CD19A}" type="pres">
      <dgm:prSet presAssocID="{BC2F7CCE-B40A-4EFB-A080-609BA0DA1F5D}" presName="level2hierChild" presStyleCnt="0"/>
      <dgm:spPr/>
    </dgm:pt>
    <dgm:pt modelId="{F090C7ED-FF6D-44A7-96AE-1125F1930C22}" type="pres">
      <dgm:prSet presAssocID="{C25C3B87-377D-4561-8847-0E57F811FB49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E07A4A59-F09D-447F-B219-A11B2AB9E7F5}" type="pres">
      <dgm:prSet presAssocID="{C25C3B87-377D-4561-8847-0E57F811FB49}" presName="connTx" presStyleLbl="parChTrans1D2" presStyleIdx="0" presStyleCnt="2"/>
      <dgm:spPr/>
      <dgm:t>
        <a:bodyPr/>
        <a:lstStyle/>
        <a:p>
          <a:endParaRPr lang="en-US"/>
        </a:p>
      </dgm:t>
    </dgm:pt>
    <dgm:pt modelId="{97CD951A-90C7-4386-8771-A09805834F2B}" type="pres">
      <dgm:prSet presAssocID="{E5569BC7-7C41-4B06-8693-115A33BC9001}" presName="root2" presStyleCnt="0"/>
      <dgm:spPr/>
    </dgm:pt>
    <dgm:pt modelId="{C0075F0F-82F5-47E4-93A3-AB8579E5F08D}" type="pres">
      <dgm:prSet presAssocID="{E5569BC7-7C41-4B06-8693-115A33BC9001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C9E3195-C679-496D-84C0-4CBEB58DCF1B}" type="pres">
      <dgm:prSet presAssocID="{E5569BC7-7C41-4B06-8693-115A33BC9001}" presName="level3hierChild" presStyleCnt="0"/>
      <dgm:spPr/>
    </dgm:pt>
    <dgm:pt modelId="{E2A994A0-CB69-42CC-86BB-E67C2688CF94}" type="pres">
      <dgm:prSet presAssocID="{06DE8C27-6EFA-4ED1-BED6-ACA68DFCD2DE}" presName="conn2-1" presStyleLbl="parChTrans1D3" presStyleIdx="0" presStyleCnt="4"/>
      <dgm:spPr/>
      <dgm:t>
        <a:bodyPr/>
        <a:lstStyle/>
        <a:p>
          <a:endParaRPr lang="en-US"/>
        </a:p>
      </dgm:t>
    </dgm:pt>
    <dgm:pt modelId="{C8C0FB24-6CD0-4581-93C5-4F1193C2DEB3}" type="pres">
      <dgm:prSet presAssocID="{06DE8C27-6EFA-4ED1-BED6-ACA68DFCD2DE}" presName="connTx" presStyleLbl="parChTrans1D3" presStyleIdx="0" presStyleCnt="4"/>
      <dgm:spPr/>
      <dgm:t>
        <a:bodyPr/>
        <a:lstStyle/>
        <a:p>
          <a:endParaRPr lang="en-US"/>
        </a:p>
      </dgm:t>
    </dgm:pt>
    <dgm:pt modelId="{9983DB79-9EA5-4876-B19B-C28DFD8FD8E9}" type="pres">
      <dgm:prSet presAssocID="{63CD114A-EE20-4875-92D7-B704AF854237}" presName="root2" presStyleCnt="0"/>
      <dgm:spPr/>
    </dgm:pt>
    <dgm:pt modelId="{8AE7FAFA-D21A-41E7-9ECD-86CDC4BC3130}" type="pres">
      <dgm:prSet presAssocID="{63CD114A-EE20-4875-92D7-B704AF854237}" presName="LevelTwoTextNode" presStyleLbl="node3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D9870C9-D3A5-4D42-A04E-B72EC8245E66}" type="pres">
      <dgm:prSet presAssocID="{63CD114A-EE20-4875-92D7-B704AF854237}" presName="level3hierChild" presStyleCnt="0"/>
      <dgm:spPr/>
    </dgm:pt>
    <dgm:pt modelId="{FAE838E4-0417-4BAF-8D21-5B11DC0CB238}" type="pres">
      <dgm:prSet presAssocID="{03444D42-806E-4D09-A5B2-A21F3BB8C230}" presName="conn2-1" presStyleLbl="parChTrans1D3" presStyleIdx="1" presStyleCnt="4"/>
      <dgm:spPr/>
      <dgm:t>
        <a:bodyPr/>
        <a:lstStyle/>
        <a:p>
          <a:endParaRPr lang="en-US"/>
        </a:p>
      </dgm:t>
    </dgm:pt>
    <dgm:pt modelId="{A946B4B7-B012-4B1D-A343-F7546044358A}" type="pres">
      <dgm:prSet presAssocID="{03444D42-806E-4D09-A5B2-A21F3BB8C230}" presName="connTx" presStyleLbl="parChTrans1D3" presStyleIdx="1" presStyleCnt="4"/>
      <dgm:spPr/>
      <dgm:t>
        <a:bodyPr/>
        <a:lstStyle/>
        <a:p>
          <a:endParaRPr lang="en-US"/>
        </a:p>
      </dgm:t>
    </dgm:pt>
    <dgm:pt modelId="{ED075D79-0C34-45A4-BB44-71BEA81A0E67}" type="pres">
      <dgm:prSet presAssocID="{62242896-BE75-4005-84D8-2399FE567FB6}" presName="root2" presStyleCnt="0"/>
      <dgm:spPr/>
    </dgm:pt>
    <dgm:pt modelId="{AA5AF5DC-A5ED-453C-BDA6-E85F0793A842}" type="pres">
      <dgm:prSet presAssocID="{62242896-BE75-4005-84D8-2399FE567FB6}" presName="LevelTwoTextNode" presStyleLbl="node3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053B05B-8CCB-4C6A-AF10-B992C21A59C3}" type="pres">
      <dgm:prSet presAssocID="{62242896-BE75-4005-84D8-2399FE567FB6}" presName="level3hierChild" presStyleCnt="0"/>
      <dgm:spPr/>
    </dgm:pt>
    <dgm:pt modelId="{F9B24914-0D08-4005-B092-4EC2410E7ACF}" type="pres">
      <dgm:prSet presAssocID="{43E01B4F-026E-4B03-BB86-BCB2A01D8C5A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73C23B51-10C8-42C0-81B3-7E9CA6B8BBD5}" type="pres">
      <dgm:prSet presAssocID="{43E01B4F-026E-4B03-BB86-BCB2A01D8C5A}" presName="connTx" presStyleLbl="parChTrans1D2" presStyleIdx="1" presStyleCnt="2"/>
      <dgm:spPr/>
      <dgm:t>
        <a:bodyPr/>
        <a:lstStyle/>
        <a:p>
          <a:endParaRPr lang="en-US"/>
        </a:p>
      </dgm:t>
    </dgm:pt>
    <dgm:pt modelId="{F13D1939-AB12-428D-A50C-CAD62A6B598D}" type="pres">
      <dgm:prSet presAssocID="{E92BB774-DE03-4245-AE6C-AC7E864E8DA9}" presName="root2" presStyleCnt="0"/>
      <dgm:spPr/>
    </dgm:pt>
    <dgm:pt modelId="{AFFD1705-B221-41D0-AF57-AEF004C444AB}" type="pres">
      <dgm:prSet presAssocID="{E92BB774-DE03-4245-AE6C-AC7E864E8DA9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BBEE36B-B730-4BB3-949A-1F78F3C3F308}" type="pres">
      <dgm:prSet presAssocID="{E92BB774-DE03-4245-AE6C-AC7E864E8DA9}" presName="level3hierChild" presStyleCnt="0"/>
      <dgm:spPr/>
    </dgm:pt>
    <dgm:pt modelId="{F81C79C1-5562-4E7C-8F2E-823364FF7379}" type="pres">
      <dgm:prSet presAssocID="{0E091FCD-F2C7-4D6C-9FC6-B3C20E5B657B}" presName="conn2-1" presStyleLbl="parChTrans1D3" presStyleIdx="2" presStyleCnt="4"/>
      <dgm:spPr/>
      <dgm:t>
        <a:bodyPr/>
        <a:lstStyle/>
        <a:p>
          <a:endParaRPr lang="en-US"/>
        </a:p>
      </dgm:t>
    </dgm:pt>
    <dgm:pt modelId="{10228B8B-9504-45DC-B55E-2EFFA73C0CC2}" type="pres">
      <dgm:prSet presAssocID="{0E091FCD-F2C7-4D6C-9FC6-B3C20E5B657B}" presName="connTx" presStyleLbl="parChTrans1D3" presStyleIdx="2" presStyleCnt="4"/>
      <dgm:spPr/>
      <dgm:t>
        <a:bodyPr/>
        <a:lstStyle/>
        <a:p>
          <a:endParaRPr lang="en-US"/>
        </a:p>
      </dgm:t>
    </dgm:pt>
    <dgm:pt modelId="{EF2C76CE-46A0-4153-80C1-63925D776E2F}" type="pres">
      <dgm:prSet presAssocID="{4CEBF018-1754-4230-B018-E3735F92CF85}" presName="root2" presStyleCnt="0"/>
      <dgm:spPr/>
    </dgm:pt>
    <dgm:pt modelId="{387FC131-BA0C-495C-BF4B-D486025861A0}" type="pres">
      <dgm:prSet presAssocID="{4CEBF018-1754-4230-B018-E3735F92CF85}" presName="LevelTwoTextNode" presStyleLbl="node3" presStyleIdx="2" presStyleCnt="4" custScaleY="1993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21D0498-895A-4E7C-9D8B-08E6973BE0E6}" type="pres">
      <dgm:prSet presAssocID="{4CEBF018-1754-4230-B018-E3735F92CF85}" presName="level3hierChild" presStyleCnt="0"/>
      <dgm:spPr/>
    </dgm:pt>
    <dgm:pt modelId="{78F0E319-5D56-4DE1-945B-49EF44F29885}" type="pres">
      <dgm:prSet presAssocID="{962D89EF-DD9E-4D9E-A506-341C60CD2C02}" presName="conn2-1" presStyleLbl="parChTrans1D3" presStyleIdx="3" presStyleCnt="4"/>
      <dgm:spPr/>
      <dgm:t>
        <a:bodyPr/>
        <a:lstStyle/>
        <a:p>
          <a:endParaRPr lang="en-US"/>
        </a:p>
      </dgm:t>
    </dgm:pt>
    <dgm:pt modelId="{45B5DB19-C21A-45E7-B8DA-F1FD08BAB65D}" type="pres">
      <dgm:prSet presAssocID="{962D89EF-DD9E-4D9E-A506-341C60CD2C02}" presName="connTx" presStyleLbl="parChTrans1D3" presStyleIdx="3" presStyleCnt="4"/>
      <dgm:spPr/>
      <dgm:t>
        <a:bodyPr/>
        <a:lstStyle/>
        <a:p>
          <a:endParaRPr lang="en-US"/>
        </a:p>
      </dgm:t>
    </dgm:pt>
    <dgm:pt modelId="{FA75BA73-CCC3-44A4-AA0B-3889F9629ABF}" type="pres">
      <dgm:prSet presAssocID="{9673E259-2C92-4255-ABED-10AFC4CD25C2}" presName="root2" presStyleCnt="0"/>
      <dgm:spPr/>
    </dgm:pt>
    <dgm:pt modelId="{47957337-1CA5-4F88-9BE1-B4FFAFB9E110}" type="pres">
      <dgm:prSet presAssocID="{9673E259-2C92-4255-ABED-10AFC4CD25C2}" presName="LevelTwoTextNode" presStyleLbl="node3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2BE2E68-0D83-43E3-AFCA-4D049189CF47}" type="pres">
      <dgm:prSet presAssocID="{9673E259-2C92-4255-ABED-10AFC4CD25C2}" presName="level3hierChild" presStyleCnt="0"/>
      <dgm:spPr/>
    </dgm:pt>
  </dgm:ptLst>
  <dgm:cxnLst>
    <dgm:cxn modelId="{7D02BDA8-C445-4B7C-BF17-03BA61EB7321}" srcId="{E92BB774-DE03-4245-AE6C-AC7E864E8DA9}" destId="{4CEBF018-1754-4230-B018-E3735F92CF85}" srcOrd="0" destOrd="0" parTransId="{0E091FCD-F2C7-4D6C-9FC6-B3C20E5B657B}" sibTransId="{5537604D-6E10-4D46-9813-D1FE4F091E70}"/>
    <dgm:cxn modelId="{EEF98EDB-2213-4077-9366-D7ABCD4E35A9}" srcId="{A314A81B-0706-4049-814C-33AA82FB6570}" destId="{BC2F7CCE-B40A-4EFB-A080-609BA0DA1F5D}" srcOrd="0" destOrd="0" parTransId="{169FF320-5E2A-46C1-A757-1250821BE160}" sibTransId="{44A9F171-F023-44DF-8795-ABF58A5D6E25}"/>
    <dgm:cxn modelId="{ADA10B59-3672-476D-81D8-7DCC178D761C}" type="presOf" srcId="{E5569BC7-7C41-4B06-8693-115A33BC9001}" destId="{C0075F0F-82F5-47E4-93A3-AB8579E5F08D}" srcOrd="0" destOrd="0" presId="urn:microsoft.com/office/officeart/2008/layout/HorizontalMultiLevelHierarchy"/>
    <dgm:cxn modelId="{89117527-7A5E-42EE-9C41-D1E7412E5015}" srcId="{E92BB774-DE03-4245-AE6C-AC7E864E8DA9}" destId="{9673E259-2C92-4255-ABED-10AFC4CD25C2}" srcOrd="1" destOrd="0" parTransId="{962D89EF-DD9E-4D9E-A506-341C60CD2C02}" sibTransId="{D19325D9-04DF-4E0B-B5DF-7BF68BA03307}"/>
    <dgm:cxn modelId="{7083DD0D-410E-4EBD-8981-65E1668AA8B9}" type="presOf" srcId="{A314A81B-0706-4049-814C-33AA82FB6570}" destId="{67879402-FFF6-4804-8DC5-B1943EDE2D6C}" srcOrd="0" destOrd="0" presId="urn:microsoft.com/office/officeart/2008/layout/HorizontalMultiLevelHierarchy"/>
    <dgm:cxn modelId="{91516E2C-8A1A-4036-A7CB-1956E2C4ADE7}" type="presOf" srcId="{62242896-BE75-4005-84D8-2399FE567FB6}" destId="{AA5AF5DC-A5ED-453C-BDA6-E85F0793A842}" srcOrd="0" destOrd="0" presId="urn:microsoft.com/office/officeart/2008/layout/HorizontalMultiLevelHierarchy"/>
    <dgm:cxn modelId="{5BB11761-2947-4F20-AB8B-435D99E81583}" type="presOf" srcId="{06DE8C27-6EFA-4ED1-BED6-ACA68DFCD2DE}" destId="{C8C0FB24-6CD0-4581-93C5-4F1193C2DEB3}" srcOrd="1" destOrd="0" presId="urn:microsoft.com/office/officeart/2008/layout/HorizontalMultiLevelHierarchy"/>
    <dgm:cxn modelId="{A4E4BD4B-B457-425A-B8CA-A237BA8DCDD0}" type="presOf" srcId="{0E091FCD-F2C7-4D6C-9FC6-B3C20E5B657B}" destId="{10228B8B-9504-45DC-B55E-2EFFA73C0CC2}" srcOrd="1" destOrd="0" presId="urn:microsoft.com/office/officeart/2008/layout/HorizontalMultiLevelHierarchy"/>
    <dgm:cxn modelId="{92476416-C401-4700-A8E6-94829B30C5C4}" type="presOf" srcId="{C25C3B87-377D-4561-8847-0E57F811FB49}" destId="{E07A4A59-F09D-447F-B219-A11B2AB9E7F5}" srcOrd="1" destOrd="0" presId="urn:microsoft.com/office/officeart/2008/layout/HorizontalMultiLevelHierarchy"/>
    <dgm:cxn modelId="{B0E2B43D-8970-41DC-8505-1FDA852DFD85}" type="presOf" srcId="{C25C3B87-377D-4561-8847-0E57F811FB49}" destId="{F090C7ED-FF6D-44A7-96AE-1125F1930C22}" srcOrd="0" destOrd="0" presId="urn:microsoft.com/office/officeart/2008/layout/HorizontalMultiLevelHierarchy"/>
    <dgm:cxn modelId="{F4E3E692-14DA-40C4-873A-5499CDE01C31}" type="presOf" srcId="{4CEBF018-1754-4230-B018-E3735F92CF85}" destId="{387FC131-BA0C-495C-BF4B-D486025861A0}" srcOrd="0" destOrd="0" presId="urn:microsoft.com/office/officeart/2008/layout/HorizontalMultiLevelHierarchy"/>
    <dgm:cxn modelId="{6B13EC98-B391-4C54-B74C-D7D222C8E5A9}" type="presOf" srcId="{43E01B4F-026E-4B03-BB86-BCB2A01D8C5A}" destId="{73C23B51-10C8-42C0-81B3-7E9CA6B8BBD5}" srcOrd="1" destOrd="0" presId="urn:microsoft.com/office/officeart/2008/layout/HorizontalMultiLevelHierarchy"/>
    <dgm:cxn modelId="{1FC8B045-EC56-491B-95C0-1E0096011EEC}" type="presOf" srcId="{03444D42-806E-4D09-A5B2-A21F3BB8C230}" destId="{FAE838E4-0417-4BAF-8D21-5B11DC0CB238}" srcOrd="0" destOrd="0" presId="urn:microsoft.com/office/officeart/2008/layout/HorizontalMultiLevelHierarchy"/>
    <dgm:cxn modelId="{6D449AE2-8BB8-4E9B-B289-F0558CA58C29}" srcId="{BC2F7CCE-B40A-4EFB-A080-609BA0DA1F5D}" destId="{E5569BC7-7C41-4B06-8693-115A33BC9001}" srcOrd="0" destOrd="0" parTransId="{C25C3B87-377D-4561-8847-0E57F811FB49}" sibTransId="{D0007984-4B26-4524-B89B-01F9259C4576}"/>
    <dgm:cxn modelId="{97EC31A9-8587-4EA5-B0A0-8D834F1D76B7}" type="presOf" srcId="{03444D42-806E-4D09-A5B2-A21F3BB8C230}" destId="{A946B4B7-B012-4B1D-A343-F7546044358A}" srcOrd="1" destOrd="0" presId="urn:microsoft.com/office/officeart/2008/layout/HorizontalMultiLevelHierarchy"/>
    <dgm:cxn modelId="{F40CCDF3-048A-4B05-AA81-6C66DFD83B0F}" srcId="{E5569BC7-7C41-4B06-8693-115A33BC9001}" destId="{63CD114A-EE20-4875-92D7-B704AF854237}" srcOrd="0" destOrd="0" parTransId="{06DE8C27-6EFA-4ED1-BED6-ACA68DFCD2DE}" sibTransId="{E8FD8D74-C4DD-46BD-998F-9B8D17E1375F}"/>
    <dgm:cxn modelId="{80EFA46B-F89D-4BE8-AE03-D88AC0DC8F75}" type="presOf" srcId="{06DE8C27-6EFA-4ED1-BED6-ACA68DFCD2DE}" destId="{E2A994A0-CB69-42CC-86BB-E67C2688CF94}" srcOrd="0" destOrd="0" presId="urn:microsoft.com/office/officeart/2008/layout/HorizontalMultiLevelHierarchy"/>
    <dgm:cxn modelId="{6F677839-D168-4465-9B90-6571D7DC1388}" srcId="{BC2F7CCE-B40A-4EFB-A080-609BA0DA1F5D}" destId="{E92BB774-DE03-4245-AE6C-AC7E864E8DA9}" srcOrd="1" destOrd="0" parTransId="{43E01B4F-026E-4B03-BB86-BCB2A01D8C5A}" sibTransId="{90728677-2B30-46B4-B657-A7E8C931DD9B}"/>
    <dgm:cxn modelId="{42E6532E-716C-46AF-BD94-2F9110CF63E2}" type="presOf" srcId="{962D89EF-DD9E-4D9E-A506-341C60CD2C02}" destId="{45B5DB19-C21A-45E7-B8DA-F1FD08BAB65D}" srcOrd="1" destOrd="0" presId="urn:microsoft.com/office/officeart/2008/layout/HorizontalMultiLevelHierarchy"/>
    <dgm:cxn modelId="{228E248D-9911-4F74-A01D-5FF13868B18F}" type="presOf" srcId="{962D89EF-DD9E-4D9E-A506-341C60CD2C02}" destId="{78F0E319-5D56-4DE1-945B-49EF44F29885}" srcOrd="0" destOrd="0" presId="urn:microsoft.com/office/officeart/2008/layout/HorizontalMultiLevelHierarchy"/>
    <dgm:cxn modelId="{86B3134A-0147-45D1-B42C-69603FAE9B6F}" type="presOf" srcId="{9673E259-2C92-4255-ABED-10AFC4CD25C2}" destId="{47957337-1CA5-4F88-9BE1-B4FFAFB9E110}" srcOrd="0" destOrd="0" presId="urn:microsoft.com/office/officeart/2008/layout/HorizontalMultiLevelHierarchy"/>
    <dgm:cxn modelId="{B798859A-8EE1-46B0-BF71-5C55D7AF13C5}" type="presOf" srcId="{0E091FCD-F2C7-4D6C-9FC6-B3C20E5B657B}" destId="{F81C79C1-5562-4E7C-8F2E-823364FF7379}" srcOrd="0" destOrd="0" presId="urn:microsoft.com/office/officeart/2008/layout/HorizontalMultiLevelHierarchy"/>
    <dgm:cxn modelId="{43C3BC81-184F-41FA-A4F4-9E4C04E9485E}" type="presOf" srcId="{E92BB774-DE03-4245-AE6C-AC7E864E8DA9}" destId="{AFFD1705-B221-41D0-AF57-AEF004C444AB}" srcOrd="0" destOrd="0" presId="urn:microsoft.com/office/officeart/2008/layout/HorizontalMultiLevelHierarchy"/>
    <dgm:cxn modelId="{4814252F-48D6-4FA9-9463-C5AEE2966F32}" type="presOf" srcId="{63CD114A-EE20-4875-92D7-B704AF854237}" destId="{8AE7FAFA-D21A-41E7-9ECD-86CDC4BC3130}" srcOrd="0" destOrd="0" presId="urn:microsoft.com/office/officeart/2008/layout/HorizontalMultiLevelHierarchy"/>
    <dgm:cxn modelId="{FE689959-2D8D-41A2-A537-3540D944640B}" srcId="{E5569BC7-7C41-4B06-8693-115A33BC9001}" destId="{62242896-BE75-4005-84D8-2399FE567FB6}" srcOrd="1" destOrd="0" parTransId="{03444D42-806E-4D09-A5B2-A21F3BB8C230}" sibTransId="{F35F9404-B06E-49E5-AD71-F5A082086CB8}"/>
    <dgm:cxn modelId="{2A161C30-B690-43AA-B056-8E597806182A}" type="presOf" srcId="{BC2F7CCE-B40A-4EFB-A080-609BA0DA1F5D}" destId="{D00C5881-0530-4041-8049-9949D65D4EE8}" srcOrd="0" destOrd="0" presId="urn:microsoft.com/office/officeart/2008/layout/HorizontalMultiLevelHierarchy"/>
    <dgm:cxn modelId="{9264BCBA-091E-4CC8-8322-32C00DF4AAA4}" type="presOf" srcId="{43E01B4F-026E-4B03-BB86-BCB2A01D8C5A}" destId="{F9B24914-0D08-4005-B092-4EC2410E7ACF}" srcOrd="0" destOrd="0" presId="urn:microsoft.com/office/officeart/2008/layout/HorizontalMultiLevelHierarchy"/>
    <dgm:cxn modelId="{B293B8D0-732B-49B5-AFD2-CB0F005D5C24}" type="presParOf" srcId="{67879402-FFF6-4804-8DC5-B1943EDE2D6C}" destId="{66228905-2A80-49F9-9582-36CF9BC3FA3C}" srcOrd="0" destOrd="0" presId="urn:microsoft.com/office/officeart/2008/layout/HorizontalMultiLevelHierarchy"/>
    <dgm:cxn modelId="{E1A756DE-9B4B-4CC1-8F9C-9A92FE381D1C}" type="presParOf" srcId="{66228905-2A80-49F9-9582-36CF9BC3FA3C}" destId="{D00C5881-0530-4041-8049-9949D65D4EE8}" srcOrd="0" destOrd="0" presId="urn:microsoft.com/office/officeart/2008/layout/HorizontalMultiLevelHierarchy"/>
    <dgm:cxn modelId="{350AB937-F83D-451F-BA6E-DD046CE3E7C7}" type="presParOf" srcId="{66228905-2A80-49F9-9582-36CF9BC3FA3C}" destId="{6D2F590B-B60A-4A33-AD02-C741E53CD19A}" srcOrd="1" destOrd="0" presId="urn:microsoft.com/office/officeart/2008/layout/HorizontalMultiLevelHierarchy"/>
    <dgm:cxn modelId="{1906D4B0-EF2A-487E-B2DF-6326E26FA68C}" type="presParOf" srcId="{6D2F590B-B60A-4A33-AD02-C741E53CD19A}" destId="{F090C7ED-FF6D-44A7-96AE-1125F1930C22}" srcOrd="0" destOrd="0" presId="urn:microsoft.com/office/officeart/2008/layout/HorizontalMultiLevelHierarchy"/>
    <dgm:cxn modelId="{58739663-B9C7-49DB-A690-FA7306463551}" type="presParOf" srcId="{F090C7ED-FF6D-44A7-96AE-1125F1930C22}" destId="{E07A4A59-F09D-447F-B219-A11B2AB9E7F5}" srcOrd="0" destOrd="0" presId="urn:microsoft.com/office/officeart/2008/layout/HorizontalMultiLevelHierarchy"/>
    <dgm:cxn modelId="{338CB672-ED02-4138-B1A0-757699627B49}" type="presParOf" srcId="{6D2F590B-B60A-4A33-AD02-C741E53CD19A}" destId="{97CD951A-90C7-4386-8771-A09805834F2B}" srcOrd="1" destOrd="0" presId="urn:microsoft.com/office/officeart/2008/layout/HorizontalMultiLevelHierarchy"/>
    <dgm:cxn modelId="{54511B72-B9D8-452E-AF6D-9C891C648A79}" type="presParOf" srcId="{97CD951A-90C7-4386-8771-A09805834F2B}" destId="{C0075F0F-82F5-47E4-93A3-AB8579E5F08D}" srcOrd="0" destOrd="0" presId="urn:microsoft.com/office/officeart/2008/layout/HorizontalMultiLevelHierarchy"/>
    <dgm:cxn modelId="{753E2F58-7C97-421F-B8B4-DD29973C7BD6}" type="presParOf" srcId="{97CD951A-90C7-4386-8771-A09805834F2B}" destId="{3C9E3195-C679-496D-84C0-4CBEB58DCF1B}" srcOrd="1" destOrd="0" presId="urn:microsoft.com/office/officeart/2008/layout/HorizontalMultiLevelHierarchy"/>
    <dgm:cxn modelId="{576F5BB9-1900-4E66-A609-2D75282681DE}" type="presParOf" srcId="{3C9E3195-C679-496D-84C0-4CBEB58DCF1B}" destId="{E2A994A0-CB69-42CC-86BB-E67C2688CF94}" srcOrd="0" destOrd="0" presId="urn:microsoft.com/office/officeart/2008/layout/HorizontalMultiLevelHierarchy"/>
    <dgm:cxn modelId="{2CEBB407-E48C-4AEF-84F2-D1B38294EE12}" type="presParOf" srcId="{E2A994A0-CB69-42CC-86BB-E67C2688CF94}" destId="{C8C0FB24-6CD0-4581-93C5-4F1193C2DEB3}" srcOrd="0" destOrd="0" presId="urn:microsoft.com/office/officeart/2008/layout/HorizontalMultiLevelHierarchy"/>
    <dgm:cxn modelId="{4A8BD5D3-E0D9-4B4A-854D-6330752EEE2C}" type="presParOf" srcId="{3C9E3195-C679-496D-84C0-4CBEB58DCF1B}" destId="{9983DB79-9EA5-4876-B19B-C28DFD8FD8E9}" srcOrd="1" destOrd="0" presId="urn:microsoft.com/office/officeart/2008/layout/HorizontalMultiLevelHierarchy"/>
    <dgm:cxn modelId="{CC0E7039-EBD8-4776-BF15-B7BCA732FD9E}" type="presParOf" srcId="{9983DB79-9EA5-4876-B19B-C28DFD8FD8E9}" destId="{8AE7FAFA-D21A-41E7-9ECD-86CDC4BC3130}" srcOrd="0" destOrd="0" presId="urn:microsoft.com/office/officeart/2008/layout/HorizontalMultiLevelHierarchy"/>
    <dgm:cxn modelId="{CAB78642-4481-476C-9881-F9D9A0DC9B18}" type="presParOf" srcId="{9983DB79-9EA5-4876-B19B-C28DFD8FD8E9}" destId="{CD9870C9-D3A5-4D42-A04E-B72EC8245E66}" srcOrd="1" destOrd="0" presId="urn:microsoft.com/office/officeart/2008/layout/HorizontalMultiLevelHierarchy"/>
    <dgm:cxn modelId="{409C2AEB-A14E-4217-A067-2819DD1E821D}" type="presParOf" srcId="{3C9E3195-C679-496D-84C0-4CBEB58DCF1B}" destId="{FAE838E4-0417-4BAF-8D21-5B11DC0CB238}" srcOrd="2" destOrd="0" presId="urn:microsoft.com/office/officeart/2008/layout/HorizontalMultiLevelHierarchy"/>
    <dgm:cxn modelId="{AEFA538E-AC55-4680-B319-3A44F746A124}" type="presParOf" srcId="{FAE838E4-0417-4BAF-8D21-5B11DC0CB238}" destId="{A946B4B7-B012-4B1D-A343-F7546044358A}" srcOrd="0" destOrd="0" presId="urn:microsoft.com/office/officeart/2008/layout/HorizontalMultiLevelHierarchy"/>
    <dgm:cxn modelId="{2FFA08FF-6252-4A12-B469-8C0F5739F6F5}" type="presParOf" srcId="{3C9E3195-C679-496D-84C0-4CBEB58DCF1B}" destId="{ED075D79-0C34-45A4-BB44-71BEA81A0E67}" srcOrd="3" destOrd="0" presId="urn:microsoft.com/office/officeart/2008/layout/HorizontalMultiLevelHierarchy"/>
    <dgm:cxn modelId="{18F9C286-6B27-41FC-9554-6351A32D3C65}" type="presParOf" srcId="{ED075D79-0C34-45A4-BB44-71BEA81A0E67}" destId="{AA5AF5DC-A5ED-453C-BDA6-E85F0793A842}" srcOrd="0" destOrd="0" presId="urn:microsoft.com/office/officeart/2008/layout/HorizontalMultiLevelHierarchy"/>
    <dgm:cxn modelId="{900FE8AB-6247-44D5-B8D8-92F3BF52A1A0}" type="presParOf" srcId="{ED075D79-0C34-45A4-BB44-71BEA81A0E67}" destId="{A053B05B-8CCB-4C6A-AF10-B992C21A59C3}" srcOrd="1" destOrd="0" presId="urn:microsoft.com/office/officeart/2008/layout/HorizontalMultiLevelHierarchy"/>
    <dgm:cxn modelId="{71C917FC-DAC0-4705-BD9D-80262AE7CF70}" type="presParOf" srcId="{6D2F590B-B60A-4A33-AD02-C741E53CD19A}" destId="{F9B24914-0D08-4005-B092-4EC2410E7ACF}" srcOrd="2" destOrd="0" presId="urn:microsoft.com/office/officeart/2008/layout/HorizontalMultiLevelHierarchy"/>
    <dgm:cxn modelId="{C3454C0D-4114-41B4-8A5F-AFCC2CA9BFE5}" type="presParOf" srcId="{F9B24914-0D08-4005-B092-4EC2410E7ACF}" destId="{73C23B51-10C8-42C0-81B3-7E9CA6B8BBD5}" srcOrd="0" destOrd="0" presId="urn:microsoft.com/office/officeart/2008/layout/HorizontalMultiLevelHierarchy"/>
    <dgm:cxn modelId="{A0AF161E-3FB5-49FE-9D08-5E808D0DCE51}" type="presParOf" srcId="{6D2F590B-B60A-4A33-AD02-C741E53CD19A}" destId="{F13D1939-AB12-428D-A50C-CAD62A6B598D}" srcOrd="3" destOrd="0" presId="urn:microsoft.com/office/officeart/2008/layout/HorizontalMultiLevelHierarchy"/>
    <dgm:cxn modelId="{FCB87D6C-BF0D-4498-9BE6-5FDA952BA3A3}" type="presParOf" srcId="{F13D1939-AB12-428D-A50C-CAD62A6B598D}" destId="{AFFD1705-B221-41D0-AF57-AEF004C444AB}" srcOrd="0" destOrd="0" presId="urn:microsoft.com/office/officeart/2008/layout/HorizontalMultiLevelHierarchy"/>
    <dgm:cxn modelId="{4E50E4C0-74E0-40C5-948D-60DD8EEA5527}" type="presParOf" srcId="{F13D1939-AB12-428D-A50C-CAD62A6B598D}" destId="{FBBEE36B-B730-4BB3-949A-1F78F3C3F308}" srcOrd="1" destOrd="0" presId="urn:microsoft.com/office/officeart/2008/layout/HorizontalMultiLevelHierarchy"/>
    <dgm:cxn modelId="{9F594775-7517-459F-8187-845DDAAE6981}" type="presParOf" srcId="{FBBEE36B-B730-4BB3-949A-1F78F3C3F308}" destId="{F81C79C1-5562-4E7C-8F2E-823364FF7379}" srcOrd="0" destOrd="0" presId="urn:microsoft.com/office/officeart/2008/layout/HorizontalMultiLevelHierarchy"/>
    <dgm:cxn modelId="{CC24232A-AFF9-42C2-8755-5AC0BDC392A7}" type="presParOf" srcId="{F81C79C1-5562-4E7C-8F2E-823364FF7379}" destId="{10228B8B-9504-45DC-B55E-2EFFA73C0CC2}" srcOrd="0" destOrd="0" presId="urn:microsoft.com/office/officeart/2008/layout/HorizontalMultiLevelHierarchy"/>
    <dgm:cxn modelId="{49F474A2-1C5A-40BF-A75A-372A454C3F4A}" type="presParOf" srcId="{FBBEE36B-B730-4BB3-949A-1F78F3C3F308}" destId="{EF2C76CE-46A0-4153-80C1-63925D776E2F}" srcOrd="1" destOrd="0" presId="urn:microsoft.com/office/officeart/2008/layout/HorizontalMultiLevelHierarchy"/>
    <dgm:cxn modelId="{8FDD1C13-67B0-4C54-AB0B-88C63FCEA3F1}" type="presParOf" srcId="{EF2C76CE-46A0-4153-80C1-63925D776E2F}" destId="{387FC131-BA0C-495C-BF4B-D486025861A0}" srcOrd="0" destOrd="0" presId="urn:microsoft.com/office/officeart/2008/layout/HorizontalMultiLevelHierarchy"/>
    <dgm:cxn modelId="{64C00D21-1104-4294-ACF2-F2F95A5769DE}" type="presParOf" srcId="{EF2C76CE-46A0-4153-80C1-63925D776E2F}" destId="{121D0498-895A-4E7C-9D8B-08E6973BE0E6}" srcOrd="1" destOrd="0" presId="urn:microsoft.com/office/officeart/2008/layout/HorizontalMultiLevelHierarchy"/>
    <dgm:cxn modelId="{42420BC8-35A1-48EC-8D37-D4BA74D49CF1}" type="presParOf" srcId="{FBBEE36B-B730-4BB3-949A-1F78F3C3F308}" destId="{78F0E319-5D56-4DE1-945B-49EF44F29885}" srcOrd="2" destOrd="0" presId="urn:microsoft.com/office/officeart/2008/layout/HorizontalMultiLevelHierarchy"/>
    <dgm:cxn modelId="{82B1D00A-F089-4849-9664-18373E73C18B}" type="presParOf" srcId="{78F0E319-5D56-4DE1-945B-49EF44F29885}" destId="{45B5DB19-C21A-45E7-B8DA-F1FD08BAB65D}" srcOrd="0" destOrd="0" presId="urn:microsoft.com/office/officeart/2008/layout/HorizontalMultiLevelHierarchy"/>
    <dgm:cxn modelId="{B71748EE-6B79-4AEB-9D76-80378F74E942}" type="presParOf" srcId="{FBBEE36B-B730-4BB3-949A-1F78F3C3F308}" destId="{FA75BA73-CCC3-44A4-AA0B-3889F9629ABF}" srcOrd="3" destOrd="0" presId="urn:microsoft.com/office/officeart/2008/layout/HorizontalMultiLevelHierarchy"/>
    <dgm:cxn modelId="{ECE7691E-D453-4AA8-8C02-D3AFFFF6B180}" type="presParOf" srcId="{FA75BA73-CCC3-44A4-AA0B-3889F9629ABF}" destId="{47957337-1CA5-4F88-9BE1-B4FFAFB9E110}" srcOrd="0" destOrd="0" presId="urn:microsoft.com/office/officeart/2008/layout/HorizontalMultiLevelHierarchy"/>
    <dgm:cxn modelId="{5DF393C9-7092-4EC9-8C27-7D6C144DD7EA}" type="presParOf" srcId="{FA75BA73-CCC3-44A4-AA0B-3889F9629ABF}" destId="{F2BE2E68-0D83-43E3-AFCA-4D049189CF47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314A81B-0706-4049-814C-33AA82FB6570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BC2F7CCE-B40A-4EFB-A080-609BA0DA1F5D}">
      <dgm:prSet phldrT="[Text]"/>
      <dgm:spPr/>
      <dgm:t>
        <a:bodyPr/>
        <a:lstStyle/>
        <a:p>
          <a:r>
            <a:rPr lang="en-US" dirty="0"/>
            <a:t>Functions of Bank</a:t>
          </a:r>
          <a:endParaRPr lang="en-IN" dirty="0"/>
        </a:p>
      </dgm:t>
    </dgm:pt>
    <dgm:pt modelId="{169FF320-5E2A-46C1-A757-1250821BE160}" type="parTrans" cxnId="{EEF98EDB-2213-4077-9366-D7ABCD4E35A9}">
      <dgm:prSet/>
      <dgm:spPr/>
      <dgm:t>
        <a:bodyPr/>
        <a:lstStyle/>
        <a:p>
          <a:endParaRPr lang="en-IN"/>
        </a:p>
      </dgm:t>
    </dgm:pt>
    <dgm:pt modelId="{44A9F171-F023-44DF-8795-ABF58A5D6E25}" type="sibTrans" cxnId="{EEF98EDB-2213-4077-9366-D7ABCD4E35A9}">
      <dgm:prSet/>
      <dgm:spPr/>
      <dgm:t>
        <a:bodyPr/>
        <a:lstStyle/>
        <a:p>
          <a:endParaRPr lang="en-IN"/>
        </a:p>
      </dgm:t>
    </dgm:pt>
    <dgm:pt modelId="{E5569BC7-7C41-4B06-8693-115A33BC9001}">
      <dgm:prSet phldrT="[Text]"/>
      <dgm:spPr/>
      <dgm:t>
        <a:bodyPr/>
        <a:lstStyle/>
        <a:p>
          <a:r>
            <a:rPr lang="en-US" dirty="0"/>
            <a:t>Primary Functions</a:t>
          </a:r>
          <a:endParaRPr lang="en-IN" dirty="0"/>
        </a:p>
      </dgm:t>
    </dgm:pt>
    <dgm:pt modelId="{C25C3B87-377D-4561-8847-0E57F811FB49}" type="parTrans" cxnId="{6D449AE2-8BB8-4E9B-B289-F0558CA58C29}">
      <dgm:prSet/>
      <dgm:spPr/>
      <dgm:t>
        <a:bodyPr/>
        <a:lstStyle/>
        <a:p>
          <a:endParaRPr lang="en-IN"/>
        </a:p>
      </dgm:t>
    </dgm:pt>
    <dgm:pt modelId="{D0007984-4B26-4524-B89B-01F9259C4576}" type="sibTrans" cxnId="{6D449AE2-8BB8-4E9B-B289-F0558CA58C29}">
      <dgm:prSet/>
      <dgm:spPr/>
      <dgm:t>
        <a:bodyPr/>
        <a:lstStyle/>
        <a:p>
          <a:endParaRPr lang="en-IN"/>
        </a:p>
      </dgm:t>
    </dgm:pt>
    <dgm:pt modelId="{E92BB774-DE03-4245-AE6C-AC7E864E8DA9}">
      <dgm:prSet phldrT="[Text]"/>
      <dgm:spPr/>
      <dgm:t>
        <a:bodyPr/>
        <a:lstStyle/>
        <a:p>
          <a:r>
            <a:rPr lang="en-US" dirty="0"/>
            <a:t>Secondary Functions</a:t>
          </a:r>
          <a:endParaRPr lang="en-IN" dirty="0"/>
        </a:p>
      </dgm:t>
    </dgm:pt>
    <dgm:pt modelId="{43E01B4F-026E-4B03-BB86-BCB2A01D8C5A}" type="parTrans" cxnId="{6F677839-D168-4465-9B90-6571D7DC1388}">
      <dgm:prSet/>
      <dgm:spPr/>
      <dgm:t>
        <a:bodyPr/>
        <a:lstStyle/>
        <a:p>
          <a:endParaRPr lang="en-IN"/>
        </a:p>
      </dgm:t>
    </dgm:pt>
    <dgm:pt modelId="{90728677-2B30-46B4-B657-A7E8C931DD9B}" type="sibTrans" cxnId="{6F677839-D168-4465-9B90-6571D7DC1388}">
      <dgm:prSet/>
      <dgm:spPr/>
      <dgm:t>
        <a:bodyPr/>
        <a:lstStyle/>
        <a:p>
          <a:endParaRPr lang="en-IN"/>
        </a:p>
      </dgm:t>
    </dgm:pt>
    <dgm:pt modelId="{62242896-BE75-4005-84D8-2399FE567FB6}">
      <dgm:prSet phldrT="[Text]"/>
      <dgm:spPr/>
      <dgm:t>
        <a:bodyPr/>
        <a:lstStyle/>
        <a:p>
          <a:r>
            <a:rPr lang="en-US" dirty="0" smtClean="0"/>
            <a:t>Grant of Loans and Advances</a:t>
          </a:r>
          <a:endParaRPr lang="en-IN" dirty="0"/>
        </a:p>
      </dgm:t>
    </dgm:pt>
    <dgm:pt modelId="{03444D42-806E-4D09-A5B2-A21F3BB8C230}" type="parTrans" cxnId="{FE689959-2D8D-41A2-A537-3540D944640B}">
      <dgm:prSet/>
      <dgm:spPr/>
      <dgm:t>
        <a:bodyPr/>
        <a:lstStyle/>
        <a:p>
          <a:endParaRPr lang="en-IN"/>
        </a:p>
      </dgm:t>
    </dgm:pt>
    <dgm:pt modelId="{F35F9404-B06E-49E5-AD71-F5A082086CB8}" type="sibTrans" cxnId="{FE689959-2D8D-41A2-A537-3540D944640B}">
      <dgm:prSet/>
      <dgm:spPr/>
      <dgm:t>
        <a:bodyPr/>
        <a:lstStyle/>
        <a:p>
          <a:endParaRPr lang="en-IN"/>
        </a:p>
      </dgm:t>
    </dgm:pt>
    <dgm:pt modelId="{63CD114A-EE20-4875-92D7-B704AF854237}">
      <dgm:prSet phldrT="[Text]"/>
      <dgm:spPr/>
      <dgm:t>
        <a:bodyPr/>
        <a:lstStyle/>
        <a:p>
          <a:r>
            <a:rPr lang="en-IN" dirty="0" smtClean="0"/>
            <a:t>Accepting </a:t>
          </a:r>
          <a:r>
            <a:rPr lang="en-IN" dirty="0"/>
            <a:t>Deposits</a:t>
          </a:r>
        </a:p>
      </dgm:t>
    </dgm:pt>
    <dgm:pt modelId="{06DE8C27-6EFA-4ED1-BED6-ACA68DFCD2DE}" type="parTrans" cxnId="{F40CCDF3-048A-4B05-AA81-6C66DFD83B0F}">
      <dgm:prSet/>
      <dgm:spPr/>
      <dgm:t>
        <a:bodyPr/>
        <a:lstStyle/>
        <a:p>
          <a:endParaRPr lang="en-IN"/>
        </a:p>
      </dgm:t>
    </dgm:pt>
    <dgm:pt modelId="{E8FD8D74-C4DD-46BD-998F-9B8D17E1375F}" type="sibTrans" cxnId="{F40CCDF3-048A-4B05-AA81-6C66DFD83B0F}">
      <dgm:prSet/>
      <dgm:spPr/>
      <dgm:t>
        <a:bodyPr/>
        <a:lstStyle/>
        <a:p>
          <a:endParaRPr lang="en-IN"/>
        </a:p>
      </dgm:t>
    </dgm:pt>
    <dgm:pt modelId="{4CEBF018-1754-4230-B018-E3735F92CF85}">
      <dgm:prSet phldrT="[Text]"/>
      <dgm:spPr>
        <a:solidFill>
          <a:schemeClr val="accent5">
            <a:lumMod val="75000"/>
          </a:schemeClr>
        </a:solidFill>
      </dgm:spPr>
      <dgm:t>
        <a:bodyPr/>
        <a:lstStyle/>
        <a:p>
          <a:pPr algn="ctr"/>
          <a:r>
            <a:rPr lang="en-IN" b="1" dirty="0" smtClean="0"/>
            <a:t>Agency </a:t>
          </a:r>
          <a:r>
            <a:rPr lang="en-IN" b="1" dirty="0"/>
            <a:t>Functions</a:t>
          </a:r>
        </a:p>
      </dgm:t>
    </dgm:pt>
    <dgm:pt modelId="{0E091FCD-F2C7-4D6C-9FC6-B3C20E5B657B}" type="parTrans" cxnId="{7D02BDA8-C445-4B7C-BF17-03BA61EB7321}">
      <dgm:prSet/>
      <dgm:spPr/>
      <dgm:t>
        <a:bodyPr/>
        <a:lstStyle/>
        <a:p>
          <a:endParaRPr lang="en-IN"/>
        </a:p>
      </dgm:t>
    </dgm:pt>
    <dgm:pt modelId="{5537604D-6E10-4D46-9813-D1FE4F091E70}" type="sibTrans" cxnId="{7D02BDA8-C445-4B7C-BF17-03BA61EB7321}">
      <dgm:prSet/>
      <dgm:spPr/>
      <dgm:t>
        <a:bodyPr/>
        <a:lstStyle/>
        <a:p>
          <a:endParaRPr lang="en-IN"/>
        </a:p>
      </dgm:t>
    </dgm:pt>
    <dgm:pt modelId="{9673E259-2C92-4255-ABED-10AFC4CD25C2}">
      <dgm:prSet phldrT="[Text]"/>
      <dgm:spPr/>
      <dgm:t>
        <a:bodyPr/>
        <a:lstStyle/>
        <a:p>
          <a:pPr algn="ctr"/>
          <a:r>
            <a:rPr lang="en-IN" dirty="0" smtClean="0"/>
            <a:t>General </a:t>
          </a:r>
          <a:r>
            <a:rPr lang="en-IN" dirty="0"/>
            <a:t>Utility Functions</a:t>
          </a:r>
        </a:p>
      </dgm:t>
    </dgm:pt>
    <dgm:pt modelId="{962D89EF-DD9E-4D9E-A506-341C60CD2C02}" type="parTrans" cxnId="{89117527-7A5E-42EE-9C41-D1E7412E5015}">
      <dgm:prSet/>
      <dgm:spPr/>
      <dgm:t>
        <a:bodyPr/>
        <a:lstStyle/>
        <a:p>
          <a:endParaRPr lang="en-IN"/>
        </a:p>
      </dgm:t>
    </dgm:pt>
    <dgm:pt modelId="{D19325D9-04DF-4E0B-B5DF-7BF68BA03307}" type="sibTrans" cxnId="{89117527-7A5E-42EE-9C41-D1E7412E5015}">
      <dgm:prSet/>
      <dgm:spPr/>
      <dgm:t>
        <a:bodyPr/>
        <a:lstStyle/>
        <a:p>
          <a:endParaRPr lang="en-IN"/>
        </a:p>
      </dgm:t>
    </dgm:pt>
    <dgm:pt modelId="{67879402-FFF6-4804-8DC5-B1943EDE2D6C}" type="pres">
      <dgm:prSet presAssocID="{A314A81B-0706-4049-814C-33AA82FB6570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6228905-2A80-49F9-9582-36CF9BC3FA3C}" type="pres">
      <dgm:prSet presAssocID="{BC2F7CCE-B40A-4EFB-A080-609BA0DA1F5D}" presName="root1" presStyleCnt="0"/>
      <dgm:spPr/>
    </dgm:pt>
    <dgm:pt modelId="{D00C5881-0530-4041-8049-9949D65D4EE8}" type="pres">
      <dgm:prSet presAssocID="{BC2F7CCE-B40A-4EFB-A080-609BA0DA1F5D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D2F590B-B60A-4A33-AD02-C741E53CD19A}" type="pres">
      <dgm:prSet presAssocID="{BC2F7CCE-B40A-4EFB-A080-609BA0DA1F5D}" presName="level2hierChild" presStyleCnt="0"/>
      <dgm:spPr/>
    </dgm:pt>
    <dgm:pt modelId="{F090C7ED-FF6D-44A7-96AE-1125F1930C22}" type="pres">
      <dgm:prSet presAssocID="{C25C3B87-377D-4561-8847-0E57F811FB49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E07A4A59-F09D-447F-B219-A11B2AB9E7F5}" type="pres">
      <dgm:prSet presAssocID="{C25C3B87-377D-4561-8847-0E57F811FB49}" presName="connTx" presStyleLbl="parChTrans1D2" presStyleIdx="0" presStyleCnt="2"/>
      <dgm:spPr/>
      <dgm:t>
        <a:bodyPr/>
        <a:lstStyle/>
        <a:p>
          <a:endParaRPr lang="en-US"/>
        </a:p>
      </dgm:t>
    </dgm:pt>
    <dgm:pt modelId="{97CD951A-90C7-4386-8771-A09805834F2B}" type="pres">
      <dgm:prSet presAssocID="{E5569BC7-7C41-4B06-8693-115A33BC9001}" presName="root2" presStyleCnt="0"/>
      <dgm:spPr/>
    </dgm:pt>
    <dgm:pt modelId="{C0075F0F-82F5-47E4-93A3-AB8579E5F08D}" type="pres">
      <dgm:prSet presAssocID="{E5569BC7-7C41-4B06-8693-115A33BC9001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C9E3195-C679-496D-84C0-4CBEB58DCF1B}" type="pres">
      <dgm:prSet presAssocID="{E5569BC7-7C41-4B06-8693-115A33BC9001}" presName="level3hierChild" presStyleCnt="0"/>
      <dgm:spPr/>
    </dgm:pt>
    <dgm:pt modelId="{E2A994A0-CB69-42CC-86BB-E67C2688CF94}" type="pres">
      <dgm:prSet presAssocID="{06DE8C27-6EFA-4ED1-BED6-ACA68DFCD2DE}" presName="conn2-1" presStyleLbl="parChTrans1D3" presStyleIdx="0" presStyleCnt="4"/>
      <dgm:spPr/>
      <dgm:t>
        <a:bodyPr/>
        <a:lstStyle/>
        <a:p>
          <a:endParaRPr lang="en-US"/>
        </a:p>
      </dgm:t>
    </dgm:pt>
    <dgm:pt modelId="{C8C0FB24-6CD0-4581-93C5-4F1193C2DEB3}" type="pres">
      <dgm:prSet presAssocID="{06DE8C27-6EFA-4ED1-BED6-ACA68DFCD2DE}" presName="connTx" presStyleLbl="parChTrans1D3" presStyleIdx="0" presStyleCnt="4"/>
      <dgm:spPr/>
      <dgm:t>
        <a:bodyPr/>
        <a:lstStyle/>
        <a:p>
          <a:endParaRPr lang="en-US"/>
        </a:p>
      </dgm:t>
    </dgm:pt>
    <dgm:pt modelId="{9983DB79-9EA5-4876-B19B-C28DFD8FD8E9}" type="pres">
      <dgm:prSet presAssocID="{63CD114A-EE20-4875-92D7-B704AF854237}" presName="root2" presStyleCnt="0"/>
      <dgm:spPr/>
    </dgm:pt>
    <dgm:pt modelId="{8AE7FAFA-D21A-41E7-9ECD-86CDC4BC3130}" type="pres">
      <dgm:prSet presAssocID="{63CD114A-EE20-4875-92D7-B704AF854237}" presName="LevelTwoTextNode" presStyleLbl="node3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D9870C9-D3A5-4D42-A04E-B72EC8245E66}" type="pres">
      <dgm:prSet presAssocID="{63CD114A-EE20-4875-92D7-B704AF854237}" presName="level3hierChild" presStyleCnt="0"/>
      <dgm:spPr/>
    </dgm:pt>
    <dgm:pt modelId="{FAE838E4-0417-4BAF-8D21-5B11DC0CB238}" type="pres">
      <dgm:prSet presAssocID="{03444D42-806E-4D09-A5B2-A21F3BB8C230}" presName="conn2-1" presStyleLbl="parChTrans1D3" presStyleIdx="1" presStyleCnt="4"/>
      <dgm:spPr/>
      <dgm:t>
        <a:bodyPr/>
        <a:lstStyle/>
        <a:p>
          <a:endParaRPr lang="en-US"/>
        </a:p>
      </dgm:t>
    </dgm:pt>
    <dgm:pt modelId="{A946B4B7-B012-4B1D-A343-F7546044358A}" type="pres">
      <dgm:prSet presAssocID="{03444D42-806E-4D09-A5B2-A21F3BB8C230}" presName="connTx" presStyleLbl="parChTrans1D3" presStyleIdx="1" presStyleCnt="4"/>
      <dgm:spPr/>
      <dgm:t>
        <a:bodyPr/>
        <a:lstStyle/>
        <a:p>
          <a:endParaRPr lang="en-US"/>
        </a:p>
      </dgm:t>
    </dgm:pt>
    <dgm:pt modelId="{ED075D79-0C34-45A4-BB44-71BEA81A0E67}" type="pres">
      <dgm:prSet presAssocID="{62242896-BE75-4005-84D8-2399FE567FB6}" presName="root2" presStyleCnt="0"/>
      <dgm:spPr/>
    </dgm:pt>
    <dgm:pt modelId="{AA5AF5DC-A5ED-453C-BDA6-E85F0793A842}" type="pres">
      <dgm:prSet presAssocID="{62242896-BE75-4005-84D8-2399FE567FB6}" presName="LevelTwoTextNode" presStyleLbl="node3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053B05B-8CCB-4C6A-AF10-B992C21A59C3}" type="pres">
      <dgm:prSet presAssocID="{62242896-BE75-4005-84D8-2399FE567FB6}" presName="level3hierChild" presStyleCnt="0"/>
      <dgm:spPr/>
    </dgm:pt>
    <dgm:pt modelId="{F9B24914-0D08-4005-B092-4EC2410E7ACF}" type="pres">
      <dgm:prSet presAssocID="{43E01B4F-026E-4B03-BB86-BCB2A01D8C5A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73C23B51-10C8-42C0-81B3-7E9CA6B8BBD5}" type="pres">
      <dgm:prSet presAssocID="{43E01B4F-026E-4B03-BB86-BCB2A01D8C5A}" presName="connTx" presStyleLbl="parChTrans1D2" presStyleIdx="1" presStyleCnt="2"/>
      <dgm:spPr/>
      <dgm:t>
        <a:bodyPr/>
        <a:lstStyle/>
        <a:p>
          <a:endParaRPr lang="en-US"/>
        </a:p>
      </dgm:t>
    </dgm:pt>
    <dgm:pt modelId="{F13D1939-AB12-428D-A50C-CAD62A6B598D}" type="pres">
      <dgm:prSet presAssocID="{E92BB774-DE03-4245-AE6C-AC7E864E8DA9}" presName="root2" presStyleCnt="0"/>
      <dgm:spPr/>
    </dgm:pt>
    <dgm:pt modelId="{AFFD1705-B221-41D0-AF57-AEF004C444AB}" type="pres">
      <dgm:prSet presAssocID="{E92BB774-DE03-4245-AE6C-AC7E864E8DA9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BBEE36B-B730-4BB3-949A-1F78F3C3F308}" type="pres">
      <dgm:prSet presAssocID="{E92BB774-DE03-4245-AE6C-AC7E864E8DA9}" presName="level3hierChild" presStyleCnt="0"/>
      <dgm:spPr/>
    </dgm:pt>
    <dgm:pt modelId="{F81C79C1-5562-4E7C-8F2E-823364FF7379}" type="pres">
      <dgm:prSet presAssocID="{0E091FCD-F2C7-4D6C-9FC6-B3C20E5B657B}" presName="conn2-1" presStyleLbl="parChTrans1D3" presStyleIdx="2" presStyleCnt="4"/>
      <dgm:spPr/>
      <dgm:t>
        <a:bodyPr/>
        <a:lstStyle/>
        <a:p>
          <a:endParaRPr lang="en-US"/>
        </a:p>
      </dgm:t>
    </dgm:pt>
    <dgm:pt modelId="{10228B8B-9504-45DC-B55E-2EFFA73C0CC2}" type="pres">
      <dgm:prSet presAssocID="{0E091FCD-F2C7-4D6C-9FC6-B3C20E5B657B}" presName="connTx" presStyleLbl="parChTrans1D3" presStyleIdx="2" presStyleCnt="4"/>
      <dgm:spPr/>
      <dgm:t>
        <a:bodyPr/>
        <a:lstStyle/>
        <a:p>
          <a:endParaRPr lang="en-US"/>
        </a:p>
      </dgm:t>
    </dgm:pt>
    <dgm:pt modelId="{EF2C76CE-46A0-4153-80C1-63925D776E2F}" type="pres">
      <dgm:prSet presAssocID="{4CEBF018-1754-4230-B018-E3735F92CF85}" presName="root2" presStyleCnt="0"/>
      <dgm:spPr/>
    </dgm:pt>
    <dgm:pt modelId="{387FC131-BA0C-495C-BF4B-D486025861A0}" type="pres">
      <dgm:prSet presAssocID="{4CEBF018-1754-4230-B018-E3735F92CF85}" presName="LevelTwoTextNode" presStyleLbl="node3" presStyleIdx="2" presStyleCnt="4" custScaleY="1993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21D0498-895A-4E7C-9D8B-08E6973BE0E6}" type="pres">
      <dgm:prSet presAssocID="{4CEBF018-1754-4230-B018-E3735F92CF85}" presName="level3hierChild" presStyleCnt="0"/>
      <dgm:spPr/>
    </dgm:pt>
    <dgm:pt modelId="{78F0E319-5D56-4DE1-945B-49EF44F29885}" type="pres">
      <dgm:prSet presAssocID="{962D89EF-DD9E-4D9E-A506-341C60CD2C02}" presName="conn2-1" presStyleLbl="parChTrans1D3" presStyleIdx="3" presStyleCnt="4"/>
      <dgm:spPr/>
      <dgm:t>
        <a:bodyPr/>
        <a:lstStyle/>
        <a:p>
          <a:endParaRPr lang="en-US"/>
        </a:p>
      </dgm:t>
    </dgm:pt>
    <dgm:pt modelId="{45B5DB19-C21A-45E7-B8DA-F1FD08BAB65D}" type="pres">
      <dgm:prSet presAssocID="{962D89EF-DD9E-4D9E-A506-341C60CD2C02}" presName="connTx" presStyleLbl="parChTrans1D3" presStyleIdx="3" presStyleCnt="4"/>
      <dgm:spPr/>
      <dgm:t>
        <a:bodyPr/>
        <a:lstStyle/>
        <a:p>
          <a:endParaRPr lang="en-US"/>
        </a:p>
      </dgm:t>
    </dgm:pt>
    <dgm:pt modelId="{FA75BA73-CCC3-44A4-AA0B-3889F9629ABF}" type="pres">
      <dgm:prSet presAssocID="{9673E259-2C92-4255-ABED-10AFC4CD25C2}" presName="root2" presStyleCnt="0"/>
      <dgm:spPr/>
    </dgm:pt>
    <dgm:pt modelId="{47957337-1CA5-4F88-9BE1-B4FFAFB9E110}" type="pres">
      <dgm:prSet presAssocID="{9673E259-2C92-4255-ABED-10AFC4CD25C2}" presName="LevelTwoTextNode" presStyleLbl="node3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2BE2E68-0D83-43E3-AFCA-4D049189CF47}" type="pres">
      <dgm:prSet presAssocID="{9673E259-2C92-4255-ABED-10AFC4CD25C2}" presName="level3hierChild" presStyleCnt="0"/>
      <dgm:spPr/>
    </dgm:pt>
  </dgm:ptLst>
  <dgm:cxnLst>
    <dgm:cxn modelId="{7D02BDA8-C445-4B7C-BF17-03BA61EB7321}" srcId="{E92BB774-DE03-4245-AE6C-AC7E864E8DA9}" destId="{4CEBF018-1754-4230-B018-E3735F92CF85}" srcOrd="0" destOrd="0" parTransId="{0E091FCD-F2C7-4D6C-9FC6-B3C20E5B657B}" sibTransId="{5537604D-6E10-4D46-9813-D1FE4F091E70}"/>
    <dgm:cxn modelId="{EEF98EDB-2213-4077-9366-D7ABCD4E35A9}" srcId="{A314A81B-0706-4049-814C-33AA82FB6570}" destId="{BC2F7CCE-B40A-4EFB-A080-609BA0DA1F5D}" srcOrd="0" destOrd="0" parTransId="{169FF320-5E2A-46C1-A757-1250821BE160}" sibTransId="{44A9F171-F023-44DF-8795-ABF58A5D6E25}"/>
    <dgm:cxn modelId="{ADA10B59-3672-476D-81D8-7DCC178D761C}" type="presOf" srcId="{E5569BC7-7C41-4B06-8693-115A33BC9001}" destId="{C0075F0F-82F5-47E4-93A3-AB8579E5F08D}" srcOrd="0" destOrd="0" presId="urn:microsoft.com/office/officeart/2008/layout/HorizontalMultiLevelHierarchy"/>
    <dgm:cxn modelId="{89117527-7A5E-42EE-9C41-D1E7412E5015}" srcId="{E92BB774-DE03-4245-AE6C-AC7E864E8DA9}" destId="{9673E259-2C92-4255-ABED-10AFC4CD25C2}" srcOrd="1" destOrd="0" parTransId="{962D89EF-DD9E-4D9E-A506-341C60CD2C02}" sibTransId="{D19325D9-04DF-4E0B-B5DF-7BF68BA03307}"/>
    <dgm:cxn modelId="{7083DD0D-410E-4EBD-8981-65E1668AA8B9}" type="presOf" srcId="{A314A81B-0706-4049-814C-33AA82FB6570}" destId="{67879402-FFF6-4804-8DC5-B1943EDE2D6C}" srcOrd="0" destOrd="0" presId="urn:microsoft.com/office/officeart/2008/layout/HorizontalMultiLevelHierarchy"/>
    <dgm:cxn modelId="{91516E2C-8A1A-4036-A7CB-1956E2C4ADE7}" type="presOf" srcId="{62242896-BE75-4005-84D8-2399FE567FB6}" destId="{AA5AF5DC-A5ED-453C-BDA6-E85F0793A842}" srcOrd="0" destOrd="0" presId="urn:microsoft.com/office/officeart/2008/layout/HorizontalMultiLevelHierarchy"/>
    <dgm:cxn modelId="{5BB11761-2947-4F20-AB8B-435D99E81583}" type="presOf" srcId="{06DE8C27-6EFA-4ED1-BED6-ACA68DFCD2DE}" destId="{C8C0FB24-6CD0-4581-93C5-4F1193C2DEB3}" srcOrd="1" destOrd="0" presId="urn:microsoft.com/office/officeart/2008/layout/HorizontalMultiLevelHierarchy"/>
    <dgm:cxn modelId="{A4E4BD4B-B457-425A-B8CA-A237BA8DCDD0}" type="presOf" srcId="{0E091FCD-F2C7-4D6C-9FC6-B3C20E5B657B}" destId="{10228B8B-9504-45DC-B55E-2EFFA73C0CC2}" srcOrd="1" destOrd="0" presId="urn:microsoft.com/office/officeart/2008/layout/HorizontalMultiLevelHierarchy"/>
    <dgm:cxn modelId="{92476416-C401-4700-A8E6-94829B30C5C4}" type="presOf" srcId="{C25C3B87-377D-4561-8847-0E57F811FB49}" destId="{E07A4A59-F09D-447F-B219-A11B2AB9E7F5}" srcOrd="1" destOrd="0" presId="urn:microsoft.com/office/officeart/2008/layout/HorizontalMultiLevelHierarchy"/>
    <dgm:cxn modelId="{B0E2B43D-8970-41DC-8505-1FDA852DFD85}" type="presOf" srcId="{C25C3B87-377D-4561-8847-0E57F811FB49}" destId="{F090C7ED-FF6D-44A7-96AE-1125F1930C22}" srcOrd="0" destOrd="0" presId="urn:microsoft.com/office/officeart/2008/layout/HorizontalMultiLevelHierarchy"/>
    <dgm:cxn modelId="{F4E3E692-14DA-40C4-873A-5499CDE01C31}" type="presOf" srcId="{4CEBF018-1754-4230-B018-E3735F92CF85}" destId="{387FC131-BA0C-495C-BF4B-D486025861A0}" srcOrd="0" destOrd="0" presId="urn:microsoft.com/office/officeart/2008/layout/HorizontalMultiLevelHierarchy"/>
    <dgm:cxn modelId="{6B13EC98-B391-4C54-B74C-D7D222C8E5A9}" type="presOf" srcId="{43E01B4F-026E-4B03-BB86-BCB2A01D8C5A}" destId="{73C23B51-10C8-42C0-81B3-7E9CA6B8BBD5}" srcOrd="1" destOrd="0" presId="urn:microsoft.com/office/officeart/2008/layout/HorizontalMultiLevelHierarchy"/>
    <dgm:cxn modelId="{1FC8B045-EC56-491B-95C0-1E0096011EEC}" type="presOf" srcId="{03444D42-806E-4D09-A5B2-A21F3BB8C230}" destId="{FAE838E4-0417-4BAF-8D21-5B11DC0CB238}" srcOrd="0" destOrd="0" presId="urn:microsoft.com/office/officeart/2008/layout/HorizontalMultiLevelHierarchy"/>
    <dgm:cxn modelId="{6D449AE2-8BB8-4E9B-B289-F0558CA58C29}" srcId="{BC2F7CCE-B40A-4EFB-A080-609BA0DA1F5D}" destId="{E5569BC7-7C41-4B06-8693-115A33BC9001}" srcOrd="0" destOrd="0" parTransId="{C25C3B87-377D-4561-8847-0E57F811FB49}" sibTransId="{D0007984-4B26-4524-B89B-01F9259C4576}"/>
    <dgm:cxn modelId="{97EC31A9-8587-4EA5-B0A0-8D834F1D76B7}" type="presOf" srcId="{03444D42-806E-4D09-A5B2-A21F3BB8C230}" destId="{A946B4B7-B012-4B1D-A343-F7546044358A}" srcOrd="1" destOrd="0" presId="urn:microsoft.com/office/officeart/2008/layout/HorizontalMultiLevelHierarchy"/>
    <dgm:cxn modelId="{F40CCDF3-048A-4B05-AA81-6C66DFD83B0F}" srcId="{E5569BC7-7C41-4B06-8693-115A33BC9001}" destId="{63CD114A-EE20-4875-92D7-B704AF854237}" srcOrd="0" destOrd="0" parTransId="{06DE8C27-6EFA-4ED1-BED6-ACA68DFCD2DE}" sibTransId="{E8FD8D74-C4DD-46BD-998F-9B8D17E1375F}"/>
    <dgm:cxn modelId="{80EFA46B-F89D-4BE8-AE03-D88AC0DC8F75}" type="presOf" srcId="{06DE8C27-6EFA-4ED1-BED6-ACA68DFCD2DE}" destId="{E2A994A0-CB69-42CC-86BB-E67C2688CF94}" srcOrd="0" destOrd="0" presId="urn:microsoft.com/office/officeart/2008/layout/HorizontalMultiLevelHierarchy"/>
    <dgm:cxn modelId="{6F677839-D168-4465-9B90-6571D7DC1388}" srcId="{BC2F7CCE-B40A-4EFB-A080-609BA0DA1F5D}" destId="{E92BB774-DE03-4245-AE6C-AC7E864E8DA9}" srcOrd="1" destOrd="0" parTransId="{43E01B4F-026E-4B03-BB86-BCB2A01D8C5A}" sibTransId="{90728677-2B30-46B4-B657-A7E8C931DD9B}"/>
    <dgm:cxn modelId="{42E6532E-716C-46AF-BD94-2F9110CF63E2}" type="presOf" srcId="{962D89EF-DD9E-4D9E-A506-341C60CD2C02}" destId="{45B5DB19-C21A-45E7-B8DA-F1FD08BAB65D}" srcOrd="1" destOrd="0" presId="urn:microsoft.com/office/officeart/2008/layout/HorizontalMultiLevelHierarchy"/>
    <dgm:cxn modelId="{228E248D-9911-4F74-A01D-5FF13868B18F}" type="presOf" srcId="{962D89EF-DD9E-4D9E-A506-341C60CD2C02}" destId="{78F0E319-5D56-4DE1-945B-49EF44F29885}" srcOrd="0" destOrd="0" presId="urn:microsoft.com/office/officeart/2008/layout/HorizontalMultiLevelHierarchy"/>
    <dgm:cxn modelId="{86B3134A-0147-45D1-B42C-69603FAE9B6F}" type="presOf" srcId="{9673E259-2C92-4255-ABED-10AFC4CD25C2}" destId="{47957337-1CA5-4F88-9BE1-B4FFAFB9E110}" srcOrd="0" destOrd="0" presId="urn:microsoft.com/office/officeart/2008/layout/HorizontalMultiLevelHierarchy"/>
    <dgm:cxn modelId="{B798859A-8EE1-46B0-BF71-5C55D7AF13C5}" type="presOf" srcId="{0E091FCD-F2C7-4D6C-9FC6-B3C20E5B657B}" destId="{F81C79C1-5562-4E7C-8F2E-823364FF7379}" srcOrd="0" destOrd="0" presId="urn:microsoft.com/office/officeart/2008/layout/HorizontalMultiLevelHierarchy"/>
    <dgm:cxn modelId="{43C3BC81-184F-41FA-A4F4-9E4C04E9485E}" type="presOf" srcId="{E92BB774-DE03-4245-AE6C-AC7E864E8DA9}" destId="{AFFD1705-B221-41D0-AF57-AEF004C444AB}" srcOrd="0" destOrd="0" presId="urn:microsoft.com/office/officeart/2008/layout/HorizontalMultiLevelHierarchy"/>
    <dgm:cxn modelId="{4814252F-48D6-4FA9-9463-C5AEE2966F32}" type="presOf" srcId="{63CD114A-EE20-4875-92D7-B704AF854237}" destId="{8AE7FAFA-D21A-41E7-9ECD-86CDC4BC3130}" srcOrd="0" destOrd="0" presId="urn:microsoft.com/office/officeart/2008/layout/HorizontalMultiLevelHierarchy"/>
    <dgm:cxn modelId="{FE689959-2D8D-41A2-A537-3540D944640B}" srcId="{E5569BC7-7C41-4B06-8693-115A33BC9001}" destId="{62242896-BE75-4005-84D8-2399FE567FB6}" srcOrd="1" destOrd="0" parTransId="{03444D42-806E-4D09-A5B2-A21F3BB8C230}" sibTransId="{F35F9404-B06E-49E5-AD71-F5A082086CB8}"/>
    <dgm:cxn modelId="{2A161C30-B690-43AA-B056-8E597806182A}" type="presOf" srcId="{BC2F7CCE-B40A-4EFB-A080-609BA0DA1F5D}" destId="{D00C5881-0530-4041-8049-9949D65D4EE8}" srcOrd="0" destOrd="0" presId="urn:microsoft.com/office/officeart/2008/layout/HorizontalMultiLevelHierarchy"/>
    <dgm:cxn modelId="{9264BCBA-091E-4CC8-8322-32C00DF4AAA4}" type="presOf" srcId="{43E01B4F-026E-4B03-BB86-BCB2A01D8C5A}" destId="{F9B24914-0D08-4005-B092-4EC2410E7ACF}" srcOrd="0" destOrd="0" presId="urn:microsoft.com/office/officeart/2008/layout/HorizontalMultiLevelHierarchy"/>
    <dgm:cxn modelId="{B293B8D0-732B-49B5-AFD2-CB0F005D5C24}" type="presParOf" srcId="{67879402-FFF6-4804-8DC5-B1943EDE2D6C}" destId="{66228905-2A80-49F9-9582-36CF9BC3FA3C}" srcOrd="0" destOrd="0" presId="urn:microsoft.com/office/officeart/2008/layout/HorizontalMultiLevelHierarchy"/>
    <dgm:cxn modelId="{E1A756DE-9B4B-4CC1-8F9C-9A92FE381D1C}" type="presParOf" srcId="{66228905-2A80-49F9-9582-36CF9BC3FA3C}" destId="{D00C5881-0530-4041-8049-9949D65D4EE8}" srcOrd="0" destOrd="0" presId="urn:microsoft.com/office/officeart/2008/layout/HorizontalMultiLevelHierarchy"/>
    <dgm:cxn modelId="{350AB937-F83D-451F-BA6E-DD046CE3E7C7}" type="presParOf" srcId="{66228905-2A80-49F9-9582-36CF9BC3FA3C}" destId="{6D2F590B-B60A-4A33-AD02-C741E53CD19A}" srcOrd="1" destOrd="0" presId="urn:microsoft.com/office/officeart/2008/layout/HorizontalMultiLevelHierarchy"/>
    <dgm:cxn modelId="{1906D4B0-EF2A-487E-B2DF-6326E26FA68C}" type="presParOf" srcId="{6D2F590B-B60A-4A33-AD02-C741E53CD19A}" destId="{F090C7ED-FF6D-44A7-96AE-1125F1930C22}" srcOrd="0" destOrd="0" presId="urn:microsoft.com/office/officeart/2008/layout/HorizontalMultiLevelHierarchy"/>
    <dgm:cxn modelId="{58739663-B9C7-49DB-A690-FA7306463551}" type="presParOf" srcId="{F090C7ED-FF6D-44A7-96AE-1125F1930C22}" destId="{E07A4A59-F09D-447F-B219-A11B2AB9E7F5}" srcOrd="0" destOrd="0" presId="urn:microsoft.com/office/officeart/2008/layout/HorizontalMultiLevelHierarchy"/>
    <dgm:cxn modelId="{338CB672-ED02-4138-B1A0-757699627B49}" type="presParOf" srcId="{6D2F590B-B60A-4A33-AD02-C741E53CD19A}" destId="{97CD951A-90C7-4386-8771-A09805834F2B}" srcOrd="1" destOrd="0" presId="urn:microsoft.com/office/officeart/2008/layout/HorizontalMultiLevelHierarchy"/>
    <dgm:cxn modelId="{54511B72-B9D8-452E-AF6D-9C891C648A79}" type="presParOf" srcId="{97CD951A-90C7-4386-8771-A09805834F2B}" destId="{C0075F0F-82F5-47E4-93A3-AB8579E5F08D}" srcOrd="0" destOrd="0" presId="urn:microsoft.com/office/officeart/2008/layout/HorizontalMultiLevelHierarchy"/>
    <dgm:cxn modelId="{753E2F58-7C97-421F-B8B4-DD29973C7BD6}" type="presParOf" srcId="{97CD951A-90C7-4386-8771-A09805834F2B}" destId="{3C9E3195-C679-496D-84C0-4CBEB58DCF1B}" srcOrd="1" destOrd="0" presId="urn:microsoft.com/office/officeart/2008/layout/HorizontalMultiLevelHierarchy"/>
    <dgm:cxn modelId="{576F5BB9-1900-4E66-A609-2D75282681DE}" type="presParOf" srcId="{3C9E3195-C679-496D-84C0-4CBEB58DCF1B}" destId="{E2A994A0-CB69-42CC-86BB-E67C2688CF94}" srcOrd="0" destOrd="0" presId="urn:microsoft.com/office/officeart/2008/layout/HorizontalMultiLevelHierarchy"/>
    <dgm:cxn modelId="{2CEBB407-E48C-4AEF-84F2-D1B38294EE12}" type="presParOf" srcId="{E2A994A0-CB69-42CC-86BB-E67C2688CF94}" destId="{C8C0FB24-6CD0-4581-93C5-4F1193C2DEB3}" srcOrd="0" destOrd="0" presId="urn:microsoft.com/office/officeart/2008/layout/HorizontalMultiLevelHierarchy"/>
    <dgm:cxn modelId="{4A8BD5D3-E0D9-4B4A-854D-6330752EEE2C}" type="presParOf" srcId="{3C9E3195-C679-496D-84C0-4CBEB58DCF1B}" destId="{9983DB79-9EA5-4876-B19B-C28DFD8FD8E9}" srcOrd="1" destOrd="0" presId="urn:microsoft.com/office/officeart/2008/layout/HorizontalMultiLevelHierarchy"/>
    <dgm:cxn modelId="{CC0E7039-EBD8-4776-BF15-B7BCA732FD9E}" type="presParOf" srcId="{9983DB79-9EA5-4876-B19B-C28DFD8FD8E9}" destId="{8AE7FAFA-D21A-41E7-9ECD-86CDC4BC3130}" srcOrd="0" destOrd="0" presId="urn:microsoft.com/office/officeart/2008/layout/HorizontalMultiLevelHierarchy"/>
    <dgm:cxn modelId="{CAB78642-4481-476C-9881-F9D9A0DC9B18}" type="presParOf" srcId="{9983DB79-9EA5-4876-B19B-C28DFD8FD8E9}" destId="{CD9870C9-D3A5-4D42-A04E-B72EC8245E66}" srcOrd="1" destOrd="0" presId="urn:microsoft.com/office/officeart/2008/layout/HorizontalMultiLevelHierarchy"/>
    <dgm:cxn modelId="{409C2AEB-A14E-4217-A067-2819DD1E821D}" type="presParOf" srcId="{3C9E3195-C679-496D-84C0-4CBEB58DCF1B}" destId="{FAE838E4-0417-4BAF-8D21-5B11DC0CB238}" srcOrd="2" destOrd="0" presId="urn:microsoft.com/office/officeart/2008/layout/HorizontalMultiLevelHierarchy"/>
    <dgm:cxn modelId="{AEFA538E-AC55-4680-B319-3A44F746A124}" type="presParOf" srcId="{FAE838E4-0417-4BAF-8D21-5B11DC0CB238}" destId="{A946B4B7-B012-4B1D-A343-F7546044358A}" srcOrd="0" destOrd="0" presId="urn:microsoft.com/office/officeart/2008/layout/HorizontalMultiLevelHierarchy"/>
    <dgm:cxn modelId="{2FFA08FF-6252-4A12-B469-8C0F5739F6F5}" type="presParOf" srcId="{3C9E3195-C679-496D-84C0-4CBEB58DCF1B}" destId="{ED075D79-0C34-45A4-BB44-71BEA81A0E67}" srcOrd="3" destOrd="0" presId="urn:microsoft.com/office/officeart/2008/layout/HorizontalMultiLevelHierarchy"/>
    <dgm:cxn modelId="{18F9C286-6B27-41FC-9554-6351A32D3C65}" type="presParOf" srcId="{ED075D79-0C34-45A4-BB44-71BEA81A0E67}" destId="{AA5AF5DC-A5ED-453C-BDA6-E85F0793A842}" srcOrd="0" destOrd="0" presId="urn:microsoft.com/office/officeart/2008/layout/HorizontalMultiLevelHierarchy"/>
    <dgm:cxn modelId="{900FE8AB-6247-44D5-B8D8-92F3BF52A1A0}" type="presParOf" srcId="{ED075D79-0C34-45A4-BB44-71BEA81A0E67}" destId="{A053B05B-8CCB-4C6A-AF10-B992C21A59C3}" srcOrd="1" destOrd="0" presId="urn:microsoft.com/office/officeart/2008/layout/HorizontalMultiLevelHierarchy"/>
    <dgm:cxn modelId="{71C917FC-DAC0-4705-BD9D-80262AE7CF70}" type="presParOf" srcId="{6D2F590B-B60A-4A33-AD02-C741E53CD19A}" destId="{F9B24914-0D08-4005-B092-4EC2410E7ACF}" srcOrd="2" destOrd="0" presId="urn:microsoft.com/office/officeart/2008/layout/HorizontalMultiLevelHierarchy"/>
    <dgm:cxn modelId="{C3454C0D-4114-41B4-8A5F-AFCC2CA9BFE5}" type="presParOf" srcId="{F9B24914-0D08-4005-B092-4EC2410E7ACF}" destId="{73C23B51-10C8-42C0-81B3-7E9CA6B8BBD5}" srcOrd="0" destOrd="0" presId="urn:microsoft.com/office/officeart/2008/layout/HorizontalMultiLevelHierarchy"/>
    <dgm:cxn modelId="{A0AF161E-3FB5-49FE-9D08-5E808D0DCE51}" type="presParOf" srcId="{6D2F590B-B60A-4A33-AD02-C741E53CD19A}" destId="{F13D1939-AB12-428D-A50C-CAD62A6B598D}" srcOrd="3" destOrd="0" presId="urn:microsoft.com/office/officeart/2008/layout/HorizontalMultiLevelHierarchy"/>
    <dgm:cxn modelId="{FCB87D6C-BF0D-4498-9BE6-5FDA952BA3A3}" type="presParOf" srcId="{F13D1939-AB12-428D-A50C-CAD62A6B598D}" destId="{AFFD1705-B221-41D0-AF57-AEF004C444AB}" srcOrd="0" destOrd="0" presId="urn:microsoft.com/office/officeart/2008/layout/HorizontalMultiLevelHierarchy"/>
    <dgm:cxn modelId="{4E50E4C0-74E0-40C5-948D-60DD8EEA5527}" type="presParOf" srcId="{F13D1939-AB12-428D-A50C-CAD62A6B598D}" destId="{FBBEE36B-B730-4BB3-949A-1F78F3C3F308}" srcOrd="1" destOrd="0" presId="urn:microsoft.com/office/officeart/2008/layout/HorizontalMultiLevelHierarchy"/>
    <dgm:cxn modelId="{9F594775-7517-459F-8187-845DDAAE6981}" type="presParOf" srcId="{FBBEE36B-B730-4BB3-949A-1F78F3C3F308}" destId="{F81C79C1-5562-4E7C-8F2E-823364FF7379}" srcOrd="0" destOrd="0" presId="urn:microsoft.com/office/officeart/2008/layout/HorizontalMultiLevelHierarchy"/>
    <dgm:cxn modelId="{CC24232A-AFF9-42C2-8755-5AC0BDC392A7}" type="presParOf" srcId="{F81C79C1-5562-4E7C-8F2E-823364FF7379}" destId="{10228B8B-9504-45DC-B55E-2EFFA73C0CC2}" srcOrd="0" destOrd="0" presId="urn:microsoft.com/office/officeart/2008/layout/HorizontalMultiLevelHierarchy"/>
    <dgm:cxn modelId="{49F474A2-1C5A-40BF-A75A-372A454C3F4A}" type="presParOf" srcId="{FBBEE36B-B730-4BB3-949A-1F78F3C3F308}" destId="{EF2C76CE-46A0-4153-80C1-63925D776E2F}" srcOrd="1" destOrd="0" presId="urn:microsoft.com/office/officeart/2008/layout/HorizontalMultiLevelHierarchy"/>
    <dgm:cxn modelId="{8FDD1C13-67B0-4C54-AB0B-88C63FCEA3F1}" type="presParOf" srcId="{EF2C76CE-46A0-4153-80C1-63925D776E2F}" destId="{387FC131-BA0C-495C-BF4B-D486025861A0}" srcOrd="0" destOrd="0" presId="urn:microsoft.com/office/officeart/2008/layout/HorizontalMultiLevelHierarchy"/>
    <dgm:cxn modelId="{64C00D21-1104-4294-ACF2-F2F95A5769DE}" type="presParOf" srcId="{EF2C76CE-46A0-4153-80C1-63925D776E2F}" destId="{121D0498-895A-4E7C-9D8B-08E6973BE0E6}" srcOrd="1" destOrd="0" presId="urn:microsoft.com/office/officeart/2008/layout/HorizontalMultiLevelHierarchy"/>
    <dgm:cxn modelId="{42420BC8-35A1-48EC-8D37-D4BA74D49CF1}" type="presParOf" srcId="{FBBEE36B-B730-4BB3-949A-1F78F3C3F308}" destId="{78F0E319-5D56-4DE1-945B-49EF44F29885}" srcOrd="2" destOrd="0" presId="urn:microsoft.com/office/officeart/2008/layout/HorizontalMultiLevelHierarchy"/>
    <dgm:cxn modelId="{82B1D00A-F089-4849-9664-18373E73C18B}" type="presParOf" srcId="{78F0E319-5D56-4DE1-945B-49EF44F29885}" destId="{45B5DB19-C21A-45E7-B8DA-F1FD08BAB65D}" srcOrd="0" destOrd="0" presId="urn:microsoft.com/office/officeart/2008/layout/HorizontalMultiLevelHierarchy"/>
    <dgm:cxn modelId="{B71748EE-6B79-4AEB-9D76-80378F74E942}" type="presParOf" srcId="{FBBEE36B-B730-4BB3-949A-1F78F3C3F308}" destId="{FA75BA73-CCC3-44A4-AA0B-3889F9629ABF}" srcOrd="3" destOrd="0" presId="urn:microsoft.com/office/officeart/2008/layout/HorizontalMultiLevelHierarchy"/>
    <dgm:cxn modelId="{ECE7691E-D453-4AA8-8C02-D3AFFFF6B180}" type="presParOf" srcId="{FA75BA73-CCC3-44A4-AA0B-3889F9629ABF}" destId="{47957337-1CA5-4F88-9BE1-B4FFAFB9E110}" srcOrd="0" destOrd="0" presId="urn:microsoft.com/office/officeart/2008/layout/HorizontalMultiLevelHierarchy"/>
    <dgm:cxn modelId="{5DF393C9-7092-4EC9-8C27-7D6C144DD7EA}" type="presParOf" srcId="{FA75BA73-CCC3-44A4-AA0B-3889F9629ABF}" destId="{F2BE2E68-0D83-43E3-AFCA-4D049189CF47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314A81B-0706-4049-814C-33AA82FB6570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BC2F7CCE-B40A-4EFB-A080-609BA0DA1F5D}">
      <dgm:prSet phldrT="[Text]"/>
      <dgm:spPr/>
      <dgm:t>
        <a:bodyPr/>
        <a:lstStyle/>
        <a:p>
          <a:r>
            <a:rPr lang="en-US" dirty="0"/>
            <a:t>Functions of Bank</a:t>
          </a:r>
          <a:endParaRPr lang="en-IN" dirty="0"/>
        </a:p>
      </dgm:t>
    </dgm:pt>
    <dgm:pt modelId="{169FF320-5E2A-46C1-A757-1250821BE160}" type="parTrans" cxnId="{EEF98EDB-2213-4077-9366-D7ABCD4E35A9}">
      <dgm:prSet/>
      <dgm:spPr/>
      <dgm:t>
        <a:bodyPr/>
        <a:lstStyle/>
        <a:p>
          <a:endParaRPr lang="en-IN"/>
        </a:p>
      </dgm:t>
    </dgm:pt>
    <dgm:pt modelId="{44A9F171-F023-44DF-8795-ABF58A5D6E25}" type="sibTrans" cxnId="{EEF98EDB-2213-4077-9366-D7ABCD4E35A9}">
      <dgm:prSet/>
      <dgm:spPr/>
      <dgm:t>
        <a:bodyPr/>
        <a:lstStyle/>
        <a:p>
          <a:endParaRPr lang="en-IN"/>
        </a:p>
      </dgm:t>
    </dgm:pt>
    <dgm:pt modelId="{E5569BC7-7C41-4B06-8693-115A33BC9001}">
      <dgm:prSet phldrT="[Text]"/>
      <dgm:spPr/>
      <dgm:t>
        <a:bodyPr/>
        <a:lstStyle/>
        <a:p>
          <a:r>
            <a:rPr lang="en-US" dirty="0"/>
            <a:t>Primary Functions</a:t>
          </a:r>
          <a:endParaRPr lang="en-IN" dirty="0"/>
        </a:p>
      </dgm:t>
    </dgm:pt>
    <dgm:pt modelId="{C25C3B87-377D-4561-8847-0E57F811FB49}" type="parTrans" cxnId="{6D449AE2-8BB8-4E9B-B289-F0558CA58C29}">
      <dgm:prSet/>
      <dgm:spPr/>
      <dgm:t>
        <a:bodyPr/>
        <a:lstStyle/>
        <a:p>
          <a:endParaRPr lang="en-IN"/>
        </a:p>
      </dgm:t>
    </dgm:pt>
    <dgm:pt modelId="{D0007984-4B26-4524-B89B-01F9259C4576}" type="sibTrans" cxnId="{6D449AE2-8BB8-4E9B-B289-F0558CA58C29}">
      <dgm:prSet/>
      <dgm:spPr/>
      <dgm:t>
        <a:bodyPr/>
        <a:lstStyle/>
        <a:p>
          <a:endParaRPr lang="en-IN"/>
        </a:p>
      </dgm:t>
    </dgm:pt>
    <dgm:pt modelId="{E92BB774-DE03-4245-AE6C-AC7E864E8DA9}">
      <dgm:prSet phldrT="[Text]"/>
      <dgm:spPr/>
      <dgm:t>
        <a:bodyPr/>
        <a:lstStyle/>
        <a:p>
          <a:r>
            <a:rPr lang="en-US" dirty="0"/>
            <a:t>Secondary Functions</a:t>
          </a:r>
          <a:endParaRPr lang="en-IN" dirty="0"/>
        </a:p>
      </dgm:t>
    </dgm:pt>
    <dgm:pt modelId="{43E01B4F-026E-4B03-BB86-BCB2A01D8C5A}" type="parTrans" cxnId="{6F677839-D168-4465-9B90-6571D7DC1388}">
      <dgm:prSet/>
      <dgm:spPr/>
      <dgm:t>
        <a:bodyPr/>
        <a:lstStyle/>
        <a:p>
          <a:endParaRPr lang="en-IN"/>
        </a:p>
      </dgm:t>
    </dgm:pt>
    <dgm:pt modelId="{90728677-2B30-46B4-B657-A7E8C931DD9B}" type="sibTrans" cxnId="{6F677839-D168-4465-9B90-6571D7DC1388}">
      <dgm:prSet/>
      <dgm:spPr/>
      <dgm:t>
        <a:bodyPr/>
        <a:lstStyle/>
        <a:p>
          <a:endParaRPr lang="en-IN"/>
        </a:p>
      </dgm:t>
    </dgm:pt>
    <dgm:pt modelId="{62242896-BE75-4005-84D8-2399FE567FB6}">
      <dgm:prSet phldrT="[Text]"/>
      <dgm:spPr/>
      <dgm:t>
        <a:bodyPr/>
        <a:lstStyle/>
        <a:p>
          <a:r>
            <a:rPr lang="en-US" dirty="0" smtClean="0"/>
            <a:t>Grant of Loans and Advances</a:t>
          </a:r>
          <a:endParaRPr lang="en-IN" dirty="0"/>
        </a:p>
      </dgm:t>
    </dgm:pt>
    <dgm:pt modelId="{03444D42-806E-4D09-A5B2-A21F3BB8C230}" type="parTrans" cxnId="{FE689959-2D8D-41A2-A537-3540D944640B}">
      <dgm:prSet/>
      <dgm:spPr/>
      <dgm:t>
        <a:bodyPr/>
        <a:lstStyle/>
        <a:p>
          <a:endParaRPr lang="en-IN"/>
        </a:p>
      </dgm:t>
    </dgm:pt>
    <dgm:pt modelId="{F35F9404-B06E-49E5-AD71-F5A082086CB8}" type="sibTrans" cxnId="{FE689959-2D8D-41A2-A537-3540D944640B}">
      <dgm:prSet/>
      <dgm:spPr/>
      <dgm:t>
        <a:bodyPr/>
        <a:lstStyle/>
        <a:p>
          <a:endParaRPr lang="en-IN"/>
        </a:p>
      </dgm:t>
    </dgm:pt>
    <dgm:pt modelId="{63CD114A-EE20-4875-92D7-B704AF854237}">
      <dgm:prSet phldrT="[Text]"/>
      <dgm:spPr/>
      <dgm:t>
        <a:bodyPr/>
        <a:lstStyle/>
        <a:p>
          <a:r>
            <a:rPr lang="en-IN" dirty="0" smtClean="0"/>
            <a:t>Accepting </a:t>
          </a:r>
          <a:r>
            <a:rPr lang="en-IN" dirty="0"/>
            <a:t>Deposits</a:t>
          </a:r>
        </a:p>
      </dgm:t>
    </dgm:pt>
    <dgm:pt modelId="{06DE8C27-6EFA-4ED1-BED6-ACA68DFCD2DE}" type="parTrans" cxnId="{F40CCDF3-048A-4B05-AA81-6C66DFD83B0F}">
      <dgm:prSet/>
      <dgm:spPr/>
      <dgm:t>
        <a:bodyPr/>
        <a:lstStyle/>
        <a:p>
          <a:endParaRPr lang="en-IN"/>
        </a:p>
      </dgm:t>
    </dgm:pt>
    <dgm:pt modelId="{E8FD8D74-C4DD-46BD-998F-9B8D17E1375F}" type="sibTrans" cxnId="{F40CCDF3-048A-4B05-AA81-6C66DFD83B0F}">
      <dgm:prSet/>
      <dgm:spPr/>
      <dgm:t>
        <a:bodyPr/>
        <a:lstStyle/>
        <a:p>
          <a:endParaRPr lang="en-IN"/>
        </a:p>
      </dgm:t>
    </dgm:pt>
    <dgm:pt modelId="{4CEBF018-1754-4230-B018-E3735F92CF85}">
      <dgm:prSet phldrT="[Text]"/>
      <dgm:spPr>
        <a:solidFill>
          <a:schemeClr val="accent5">
            <a:lumMod val="75000"/>
          </a:schemeClr>
        </a:solidFill>
      </dgm:spPr>
      <dgm:t>
        <a:bodyPr/>
        <a:lstStyle/>
        <a:p>
          <a:pPr algn="ctr"/>
          <a:r>
            <a:rPr lang="en-IN" b="1" dirty="0" smtClean="0"/>
            <a:t>Agency </a:t>
          </a:r>
          <a:r>
            <a:rPr lang="en-IN" b="1" dirty="0"/>
            <a:t>Functions</a:t>
          </a:r>
        </a:p>
      </dgm:t>
    </dgm:pt>
    <dgm:pt modelId="{0E091FCD-F2C7-4D6C-9FC6-B3C20E5B657B}" type="parTrans" cxnId="{7D02BDA8-C445-4B7C-BF17-03BA61EB7321}">
      <dgm:prSet/>
      <dgm:spPr/>
      <dgm:t>
        <a:bodyPr/>
        <a:lstStyle/>
        <a:p>
          <a:endParaRPr lang="en-IN"/>
        </a:p>
      </dgm:t>
    </dgm:pt>
    <dgm:pt modelId="{5537604D-6E10-4D46-9813-D1FE4F091E70}" type="sibTrans" cxnId="{7D02BDA8-C445-4B7C-BF17-03BA61EB7321}">
      <dgm:prSet/>
      <dgm:spPr/>
      <dgm:t>
        <a:bodyPr/>
        <a:lstStyle/>
        <a:p>
          <a:endParaRPr lang="en-IN"/>
        </a:p>
      </dgm:t>
    </dgm:pt>
    <dgm:pt modelId="{9673E259-2C92-4255-ABED-10AFC4CD25C2}">
      <dgm:prSet phldrT="[Text]"/>
      <dgm:spPr/>
      <dgm:t>
        <a:bodyPr/>
        <a:lstStyle/>
        <a:p>
          <a:pPr algn="ctr"/>
          <a:r>
            <a:rPr lang="en-IN" dirty="0" smtClean="0"/>
            <a:t>General </a:t>
          </a:r>
          <a:r>
            <a:rPr lang="en-IN" dirty="0"/>
            <a:t>Utility Functions</a:t>
          </a:r>
        </a:p>
      </dgm:t>
    </dgm:pt>
    <dgm:pt modelId="{962D89EF-DD9E-4D9E-A506-341C60CD2C02}" type="parTrans" cxnId="{89117527-7A5E-42EE-9C41-D1E7412E5015}">
      <dgm:prSet/>
      <dgm:spPr/>
      <dgm:t>
        <a:bodyPr/>
        <a:lstStyle/>
        <a:p>
          <a:endParaRPr lang="en-IN"/>
        </a:p>
      </dgm:t>
    </dgm:pt>
    <dgm:pt modelId="{D19325D9-04DF-4E0B-B5DF-7BF68BA03307}" type="sibTrans" cxnId="{89117527-7A5E-42EE-9C41-D1E7412E5015}">
      <dgm:prSet/>
      <dgm:spPr/>
      <dgm:t>
        <a:bodyPr/>
        <a:lstStyle/>
        <a:p>
          <a:endParaRPr lang="en-IN"/>
        </a:p>
      </dgm:t>
    </dgm:pt>
    <dgm:pt modelId="{67879402-FFF6-4804-8DC5-B1943EDE2D6C}" type="pres">
      <dgm:prSet presAssocID="{A314A81B-0706-4049-814C-33AA82FB6570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6228905-2A80-49F9-9582-36CF9BC3FA3C}" type="pres">
      <dgm:prSet presAssocID="{BC2F7CCE-B40A-4EFB-A080-609BA0DA1F5D}" presName="root1" presStyleCnt="0"/>
      <dgm:spPr/>
    </dgm:pt>
    <dgm:pt modelId="{D00C5881-0530-4041-8049-9949D65D4EE8}" type="pres">
      <dgm:prSet presAssocID="{BC2F7CCE-B40A-4EFB-A080-609BA0DA1F5D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D2F590B-B60A-4A33-AD02-C741E53CD19A}" type="pres">
      <dgm:prSet presAssocID="{BC2F7CCE-B40A-4EFB-A080-609BA0DA1F5D}" presName="level2hierChild" presStyleCnt="0"/>
      <dgm:spPr/>
    </dgm:pt>
    <dgm:pt modelId="{F090C7ED-FF6D-44A7-96AE-1125F1930C22}" type="pres">
      <dgm:prSet presAssocID="{C25C3B87-377D-4561-8847-0E57F811FB49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E07A4A59-F09D-447F-B219-A11B2AB9E7F5}" type="pres">
      <dgm:prSet presAssocID="{C25C3B87-377D-4561-8847-0E57F811FB49}" presName="connTx" presStyleLbl="parChTrans1D2" presStyleIdx="0" presStyleCnt="2"/>
      <dgm:spPr/>
      <dgm:t>
        <a:bodyPr/>
        <a:lstStyle/>
        <a:p>
          <a:endParaRPr lang="en-US"/>
        </a:p>
      </dgm:t>
    </dgm:pt>
    <dgm:pt modelId="{97CD951A-90C7-4386-8771-A09805834F2B}" type="pres">
      <dgm:prSet presAssocID="{E5569BC7-7C41-4B06-8693-115A33BC9001}" presName="root2" presStyleCnt="0"/>
      <dgm:spPr/>
    </dgm:pt>
    <dgm:pt modelId="{C0075F0F-82F5-47E4-93A3-AB8579E5F08D}" type="pres">
      <dgm:prSet presAssocID="{E5569BC7-7C41-4B06-8693-115A33BC9001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C9E3195-C679-496D-84C0-4CBEB58DCF1B}" type="pres">
      <dgm:prSet presAssocID="{E5569BC7-7C41-4B06-8693-115A33BC9001}" presName="level3hierChild" presStyleCnt="0"/>
      <dgm:spPr/>
    </dgm:pt>
    <dgm:pt modelId="{E2A994A0-CB69-42CC-86BB-E67C2688CF94}" type="pres">
      <dgm:prSet presAssocID="{06DE8C27-6EFA-4ED1-BED6-ACA68DFCD2DE}" presName="conn2-1" presStyleLbl="parChTrans1D3" presStyleIdx="0" presStyleCnt="4"/>
      <dgm:spPr/>
      <dgm:t>
        <a:bodyPr/>
        <a:lstStyle/>
        <a:p>
          <a:endParaRPr lang="en-US"/>
        </a:p>
      </dgm:t>
    </dgm:pt>
    <dgm:pt modelId="{C8C0FB24-6CD0-4581-93C5-4F1193C2DEB3}" type="pres">
      <dgm:prSet presAssocID="{06DE8C27-6EFA-4ED1-BED6-ACA68DFCD2DE}" presName="connTx" presStyleLbl="parChTrans1D3" presStyleIdx="0" presStyleCnt="4"/>
      <dgm:spPr/>
      <dgm:t>
        <a:bodyPr/>
        <a:lstStyle/>
        <a:p>
          <a:endParaRPr lang="en-US"/>
        </a:p>
      </dgm:t>
    </dgm:pt>
    <dgm:pt modelId="{9983DB79-9EA5-4876-B19B-C28DFD8FD8E9}" type="pres">
      <dgm:prSet presAssocID="{63CD114A-EE20-4875-92D7-B704AF854237}" presName="root2" presStyleCnt="0"/>
      <dgm:spPr/>
    </dgm:pt>
    <dgm:pt modelId="{8AE7FAFA-D21A-41E7-9ECD-86CDC4BC3130}" type="pres">
      <dgm:prSet presAssocID="{63CD114A-EE20-4875-92D7-B704AF854237}" presName="LevelTwoTextNode" presStyleLbl="node3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D9870C9-D3A5-4D42-A04E-B72EC8245E66}" type="pres">
      <dgm:prSet presAssocID="{63CD114A-EE20-4875-92D7-B704AF854237}" presName="level3hierChild" presStyleCnt="0"/>
      <dgm:spPr/>
    </dgm:pt>
    <dgm:pt modelId="{FAE838E4-0417-4BAF-8D21-5B11DC0CB238}" type="pres">
      <dgm:prSet presAssocID="{03444D42-806E-4D09-A5B2-A21F3BB8C230}" presName="conn2-1" presStyleLbl="parChTrans1D3" presStyleIdx="1" presStyleCnt="4"/>
      <dgm:spPr/>
      <dgm:t>
        <a:bodyPr/>
        <a:lstStyle/>
        <a:p>
          <a:endParaRPr lang="en-US"/>
        </a:p>
      </dgm:t>
    </dgm:pt>
    <dgm:pt modelId="{A946B4B7-B012-4B1D-A343-F7546044358A}" type="pres">
      <dgm:prSet presAssocID="{03444D42-806E-4D09-A5B2-A21F3BB8C230}" presName="connTx" presStyleLbl="parChTrans1D3" presStyleIdx="1" presStyleCnt="4"/>
      <dgm:spPr/>
      <dgm:t>
        <a:bodyPr/>
        <a:lstStyle/>
        <a:p>
          <a:endParaRPr lang="en-US"/>
        </a:p>
      </dgm:t>
    </dgm:pt>
    <dgm:pt modelId="{ED075D79-0C34-45A4-BB44-71BEA81A0E67}" type="pres">
      <dgm:prSet presAssocID="{62242896-BE75-4005-84D8-2399FE567FB6}" presName="root2" presStyleCnt="0"/>
      <dgm:spPr/>
    </dgm:pt>
    <dgm:pt modelId="{AA5AF5DC-A5ED-453C-BDA6-E85F0793A842}" type="pres">
      <dgm:prSet presAssocID="{62242896-BE75-4005-84D8-2399FE567FB6}" presName="LevelTwoTextNode" presStyleLbl="node3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053B05B-8CCB-4C6A-AF10-B992C21A59C3}" type="pres">
      <dgm:prSet presAssocID="{62242896-BE75-4005-84D8-2399FE567FB6}" presName="level3hierChild" presStyleCnt="0"/>
      <dgm:spPr/>
    </dgm:pt>
    <dgm:pt modelId="{F9B24914-0D08-4005-B092-4EC2410E7ACF}" type="pres">
      <dgm:prSet presAssocID="{43E01B4F-026E-4B03-BB86-BCB2A01D8C5A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73C23B51-10C8-42C0-81B3-7E9CA6B8BBD5}" type="pres">
      <dgm:prSet presAssocID="{43E01B4F-026E-4B03-BB86-BCB2A01D8C5A}" presName="connTx" presStyleLbl="parChTrans1D2" presStyleIdx="1" presStyleCnt="2"/>
      <dgm:spPr/>
      <dgm:t>
        <a:bodyPr/>
        <a:lstStyle/>
        <a:p>
          <a:endParaRPr lang="en-US"/>
        </a:p>
      </dgm:t>
    </dgm:pt>
    <dgm:pt modelId="{F13D1939-AB12-428D-A50C-CAD62A6B598D}" type="pres">
      <dgm:prSet presAssocID="{E92BB774-DE03-4245-AE6C-AC7E864E8DA9}" presName="root2" presStyleCnt="0"/>
      <dgm:spPr/>
    </dgm:pt>
    <dgm:pt modelId="{AFFD1705-B221-41D0-AF57-AEF004C444AB}" type="pres">
      <dgm:prSet presAssocID="{E92BB774-DE03-4245-AE6C-AC7E864E8DA9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BBEE36B-B730-4BB3-949A-1F78F3C3F308}" type="pres">
      <dgm:prSet presAssocID="{E92BB774-DE03-4245-AE6C-AC7E864E8DA9}" presName="level3hierChild" presStyleCnt="0"/>
      <dgm:spPr/>
    </dgm:pt>
    <dgm:pt modelId="{F81C79C1-5562-4E7C-8F2E-823364FF7379}" type="pres">
      <dgm:prSet presAssocID="{0E091FCD-F2C7-4D6C-9FC6-B3C20E5B657B}" presName="conn2-1" presStyleLbl="parChTrans1D3" presStyleIdx="2" presStyleCnt="4"/>
      <dgm:spPr/>
      <dgm:t>
        <a:bodyPr/>
        <a:lstStyle/>
        <a:p>
          <a:endParaRPr lang="en-US"/>
        </a:p>
      </dgm:t>
    </dgm:pt>
    <dgm:pt modelId="{10228B8B-9504-45DC-B55E-2EFFA73C0CC2}" type="pres">
      <dgm:prSet presAssocID="{0E091FCD-F2C7-4D6C-9FC6-B3C20E5B657B}" presName="connTx" presStyleLbl="parChTrans1D3" presStyleIdx="2" presStyleCnt="4"/>
      <dgm:spPr/>
      <dgm:t>
        <a:bodyPr/>
        <a:lstStyle/>
        <a:p>
          <a:endParaRPr lang="en-US"/>
        </a:p>
      </dgm:t>
    </dgm:pt>
    <dgm:pt modelId="{EF2C76CE-46A0-4153-80C1-63925D776E2F}" type="pres">
      <dgm:prSet presAssocID="{4CEBF018-1754-4230-B018-E3735F92CF85}" presName="root2" presStyleCnt="0"/>
      <dgm:spPr/>
    </dgm:pt>
    <dgm:pt modelId="{387FC131-BA0C-495C-BF4B-D486025861A0}" type="pres">
      <dgm:prSet presAssocID="{4CEBF018-1754-4230-B018-E3735F92CF85}" presName="LevelTwoTextNode" presStyleLbl="node3" presStyleIdx="2" presStyleCnt="4" custScaleY="1993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21D0498-895A-4E7C-9D8B-08E6973BE0E6}" type="pres">
      <dgm:prSet presAssocID="{4CEBF018-1754-4230-B018-E3735F92CF85}" presName="level3hierChild" presStyleCnt="0"/>
      <dgm:spPr/>
    </dgm:pt>
    <dgm:pt modelId="{78F0E319-5D56-4DE1-945B-49EF44F29885}" type="pres">
      <dgm:prSet presAssocID="{962D89EF-DD9E-4D9E-A506-341C60CD2C02}" presName="conn2-1" presStyleLbl="parChTrans1D3" presStyleIdx="3" presStyleCnt="4"/>
      <dgm:spPr/>
      <dgm:t>
        <a:bodyPr/>
        <a:lstStyle/>
        <a:p>
          <a:endParaRPr lang="en-US"/>
        </a:p>
      </dgm:t>
    </dgm:pt>
    <dgm:pt modelId="{45B5DB19-C21A-45E7-B8DA-F1FD08BAB65D}" type="pres">
      <dgm:prSet presAssocID="{962D89EF-DD9E-4D9E-A506-341C60CD2C02}" presName="connTx" presStyleLbl="parChTrans1D3" presStyleIdx="3" presStyleCnt="4"/>
      <dgm:spPr/>
      <dgm:t>
        <a:bodyPr/>
        <a:lstStyle/>
        <a:p>
          <a:endParaRPr lang="en-US"/>
        </a:p>
      </dgm:t>
    </dgm:pt>
    <dgm:pt modelId="{FA75BA73-CCC3-44A4-AA0B-3889F9629ABF}" type="pres">
      <dgm:prSet presAssocID="{9673E259-2C92-4255-ABED-10AFC4CD25C2}" presName="root2" presStyleCnt="0"/>
      <dgm:spPr/>
    </dgm:pt>
    <dgm:pt modelId="{47957337-1CA5-4F88-9BE1-B4FFAFB9E110}" type="pres">
      <dgm:prSet presAssocID="{9673E259-2C92-4255-ABED-10AFC4CD25C2}" presName="LevelTwoTextNode" presStyleLbl="node3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2BE2E68-0D83-43E3-AFCA-4D049189CF47}" type="pres">
      <dgm:prSet presAssocID="{9673E259-2C92-4255-ABED-10AFC4CD25C2}" presName="level3hierChild" presStyleCnt="0"/>
      <dgm:spPr/>
    </dgm:pt>
  </dgm:ptLst>
  <dgm:cxnLst>
    <dgm:cxn modelId="{7D02BDA8-C445-4B7C-BF17-03BA61EB7321}" srcId="{E92BB774-DE03-4245-AE6C-AC7E864E8DA9}" destId="{4CEBF018-1754-4230-B018-E3735F92CF85}" srcOrd="0" destOrd="0" parTransId="{0E091FCD-F2C7-4D6C-9FC6-B3C20E5B657B}" sibTransId="{5537604D-6E10-4D46-9813-D1FE4F091E70}"/>
    <dgm:cxn modelId="{EEF98EDB-2213-4077-9366-D7ABCD4E35A9}" srcId="{A314A81B-0706-4049-814C-33AA82FB6570}" destId="{BC2F7CCE-B40A-4EFB-A080-609BA0DA1F5D}" srcOrd="0" destOrd="0" parTransId="{169FF320-5E2A-46C1-A757-1250821BE160}" sibTransId="{44A9F171-F023-44DF-8795-ABF58A5D6E25}"/>
    <dgm:cxn modelId="{ADA10B59-3672-476D-81D8-7DCC178D761C}" type="presOf" srcId="{E5569BC7-7C41-4B06-8693-115A33BC9001}" destId="{C0075F0F-82F5-47E4-93A3-AB8579E5F08D}" srcOrd="0" destOrd="0" presId="urn:microsoft.com/office/officeart/2008/layout/HorizontalMultiLevelHierarchy"/>
    <dgm:cxn modelId="{89117527-7A5E-42EE-9C41-D1E7412E5015}" srcId="{E92BB774-DE03-4245-AE6C-AC7E864E8DA9}" destId="{9673E259-2C92-4255-ABED-10AFC4CD25C2}" srcOrd="1" destOrd="0" parTransId="{962D89EF-DD9E-4D9E-A506-341C60CD2C02}" sibTransId="{D19325D9-04DF-4E0B-B5DF-7BF68BA03307}"/>
    <dgm:cxn modelId="{7083DD0D-410E-4EBD-8981-65E1668AA8B9}" type="presOf" srcId="{A314A81B-0706-4049-814C-33AA82FB6570}" destId="{67879402-FFF6-4804-8DC5-B1943EDE2D6C}" srcOrd="0" destOrd="0" presId="urn:microsoft.com/office/officeart/2008/layout/HorizontalMultiLevelHierarchy"/>
    <dgm:cxn modelId="{91516E2C-8A1A-4036-A7CB-1956E2C4ADE7}" type="presOf" srcId="{62242896-BE75-4005-84D8-2399FE567FB6}" destId="{AA5AF5DC-A5ED-453C-BDA6-E85F0793A842}" srcOrd="0" destOrd="0" presId="urn:microsoft.com/office/officeart/2008/layout/HorizontalMultiLevelHierarchy"/>
    <dgm:cxn modelId="{5BB11761-2947-4F20-AB8B-435D99E81583}" type="presOf" srcId="{06DE8C27-6EFA-4ED1-BED6-ACA68DFCD2DE}" destId="{C8C0FB24-6CD0-4581-93C5-4F1193C2DEB3}" srcOrd="1" destOrd="0" presId="urn:microsoft.com/office/officeart/2008/layout/HorizontalMultiLevelHierarchy"/>
    <dgm:cxn modelId="{A4E4BD4B-B457-425A-B8CA-A237BA8DCDD0}" type="presOf" srcId="{0E091FCD-F2C7-4D6C-9FC6-B3C20E5B657B}" destId="{10228B8B-9504-45DC-B55E-2EFFA73C0CC2}" srcOrd="1" destOrd="0" presId="urn:microsoft.com/office/officeart/2008/layout/HorizontalMultiLevelHierarchy"/>
    <dgm:cxn modelId="{92476416-C401-4700-A8E6-94829B30C5C4}" type="presOf" srcId="{C25C3B87-377D-4561-8847-0E57F811FB49}" destId="{E07A4A59-F09D-447F-B219-A11B2AB9E7F5}" srcOrd="1" destOrd="0" presId="urn:microsoft.com/office/officeart/2008/layout/HorizontalMultiLevelHierarchy"/>
    <dgm:cxn modelId="{B0E2B43D-8970-41DC-8505-1FDA852DFD85}" type="presOf" srcId="{C25C3B87-377D-4561-8847-0E57F811FB49}" destId="{F090C7ED-FF6D-44A7-96AE-1125F1930C22}" srcOrd="0" destOrd="0" presId="urn:microsoft.com/office/officeart/2008/layout/HorizontalMultiLevelHierarchy"/>
    <dgm:cxn modelId="{F4E3E692-14DA-40C4-873A-5499CDE01C31}" type="presOf" srcId="{4CEBF018-1754-4230-B018-E3735F92CF85}" destId="{387FC131-BA0C-495C-BF4B-D486025861A0}" srcOrd="0" destOrd="0" presId="urn:microsoft.com/office/officeart/2008/layout/HorizontalMultiLevelHierarchy"/>
    <dgm:cxn modelId="{6B13EC98-B391-4C54-B74C-D7D222C8E5A9}" type="presOf" srcId="{43E01B4F-026E-4B03-BB86-BCB2A01D8C5A}" destId="{73C23B51-10C8-42C0-81B3-7E9CA6B8BBD5}" srcOrd="1" destOrd="0" presId="urn:microsoft.com/office/officeart/2008/layout/HorizontalMultiLevelHierarchy"/>
    <dgm:cxn modelId="{1FC8B045-EC56-491B-95C0-1E0096011EEC}" type="presOf" srcId="{03444D42-806E-4D09-A5B2-A21F3BB8C230}" destId="{FAE838E4-0417-4BAF-8D21-5B11DC0CB238}" srcOrd="0" destOrd="0" presId="urn:microsoft.com/office/officeart/2008/layout/HorizontalMultiLevelHierarchy"/>
    <dgm:cxn modelId="{6D449AE2-8BB8-4E9B-B289-F0558CA58C29}" srcId="{BC2F7CCE-B40A-4EFB-A080-609BA0DA1F5D}" destId="{E5569BC7-7C41-4B06-8693-115A33BC9001}" srcOrd="0" destOrd="0" parTransId="{C25C3B87-377D-4561-8847-0E57F811FB49}" sibTransId="{D0007984-4B26-4524-B89B-01F9259C4576}"/>
    <dgm:cxn modelId="{97EC31A9-8587-4EA5-B0A0-8D834F1D76B7}" type="presOf" srcId="{03444D42-806E-4D09-A5B2-A21F3BB8C230}" destId="{A946B4B7-B012-4B1D-A343-F7546044358A}" srcOrd="1" destOrd="0" presId="urn:microsoft.com/office/officeart/2008/layout/HorizontalMultiLevelHierarchy"/>
    <dgm:cxn modelId="{F40CCDF3-048A-4B05-AA81-6C66DFD83B0F}" srcId="{E5569BC7-7C41-4B06-8693-115A33BC9001}" destId="{63CD114A-EE20-4875-92D7-B704AF854237}" srcOrd="0" destOrd="0" parTransId="{06DE8C27-6EFA-4ED1-BED6-ACA68DFCD2DE}" sibTransId="{E8FD8D74-C4DD-46BD-998F-9B8D17E1375F}"/>
    <dgm:cxn modelId="{80EFA46B-F89D-4BE8-AE03-D88AC0DC8F75}" type="presOf" srcId="{06DE8C27-6EFA-4ED1-BED6-ACA68DFCD2DE}" destId="{E2A994A0-CB69-42CC-86BB-E67C2688CF94}" srcOrd="0" destOrd="0" presId="urn:microsoft.com/office/officeart/2008/layout/HorizontalMultiLevelHierarchy"/>
    <dgm:cxn modelId="{6F677839-D168-4465-9B90-6571D7DC1388}" srcId="{BC2F7CCE-B40A-4EFB-A080-609BA0DA1F5D}" destId="{E92BB774-DE03-4245-AE6C-AC7E864E8DA9}" srcOrd="1" destOrd="0" parTransId="{43E01B4F-026E-4B03-BB86-BCB2A01D8C5A}" sibTransId="{90728677-2B30-46B4-B657-A7E8C931DD9B}"/>
    <dgm:cxn modelId="{42E6532E-716C-46AF-BD94-2F9110CF63E2}" type="presOf" srcId="{962D89EF-DD9E-4D9E-A506-341C60CD2C02}" destId="{45B5DB19-C21A-45E7-B8DA-F1FD08BAB65D}" srcOrd="1" destOrd="0" presId="urn:microsoft.com/office/officeart/2008/layout/HorizontalMultiLevelHierarchy"/>
    <dgm:cxn modelId="{228E248D-9911-4F74-A01D-5FF13868B18F}" type="presOf" srcId="{962D89EF-DD9E-4D9E-A506-341C60CD2C02}" destId="{78F0E319-5D56-4DE1-945B-49EF44F29885}" srcOrd="0" destOrd="0" presId="urn:microsoft.com/office/officeart/2008/layout/HorizontalMultiLevelHierarchy"/>
    <dgm:cxn modelId="{86B3134A-0147-45D1-B42C-69603FAE9B6F}" type="presOf" srcId="{9673E259-2C92-4255-ABED-10AFC4CD25C2}" destId="{47957337-1CA5-4F88-9BE1-B4FFAFB9E110}" srcOrd="0" destOrd="0" presId="urn:microsoft.com/office/officeart/2008/layout/HorizontalMultiLevelHierarchy"/>
    <dgm:cxn modelId="{B798859A-8EE1-46B0-BF71-5C55D7AF13C5}" type="presOf" srcId="{0E091FCD-F2C7-4D6C-9FC6-B3C20E5B657B}" destId="{F81C79C1-5562-4E7C-8F2E-823364FF7379}" srcOrd="0" destOrd="0" presId="urn:microsoft.com/office/officeart/2008/layout/HorizontalMultiLevelHierarchy"/>
    <dgm:cxn modelId="{43C3BC81-184F-41FA-A4F4-9E4C04E9485E}" type="presOf" srcId="{E92BB774-DE03-4245-AE6C-AC7E864E8DA9}" destId="{AFFD1705-B221-41D0-AF57-AEF004C444AB}" srcOrd="0" destOrd="0" presId="urn:microsoft.com/office/officeart/2008/layout/HorizontalMultiLevelHierarchy"/>
    <dgm:cxn modelId="{4814252F-48D6-4FA9-9463-C5AEE2966F32}" type="presOf" srcId="{63CD114A-EE20-4875-92D7-B704AF854237}" destId="{8AE7FAFA-D21A-41E7-9ECD-86CDC4BC3130}" srcOrd="0" destOrd="0" presId="urn:microsoft.com/office/officeart/2008/layout/HorizontalMultiLevelHierarchy"/>
    <dgm:cxn modelId="{FE689959-2D8D-41A2-A537-3540D944640B}" srcId="{E5569BC7-7C41-4B06-8693-115A33BC9001}" destId="{62242896-BE75-4005-84D8-2399FE567FB6}" srcOrd="1" destOrd="0" parTransId="{03444D42-806E-4D09-A5B2-A21F3BB8C230}" sibTransId="{F35F9404-B06E-49E5-AD71-F5A082086CB8}"/>
    <dgm:cxn modelId="{2A161C30-B690-43AA-B056-8E597806182A}" type="presOf" srcId="{BC2F7CCE-B40A-4EFB-A080-609BA0DA1F5D}" destId="{D00C5881-0530-4041-8049-9949D65D4EE8}" srcOrd="0" destOrd="0" presId="urn:microsoft.com/office/officeart/2008/layout/HorizontalMultiLevelHierarchy"/>
    <dgm:cxn modelId="{9264BCBA-091E-4CC8-8322-32C00DF4AAA4}" type="presOf" srcId="{43E01B4F-026E-4B03-BB86-BCB2A01D8C5A}" destId="{F9B24914-0D08-4005-B092-4EC2410E7ACF}" srcOrd="0" destOrd="0" presId="urn:microsoft.com/office/officeart/2008/layout/HorizontalMultiLevelHierarchy"/>
    <dgm:cxn modelId="{B293B8D0-732B-49B5-AFD2-CB0F005D5C24}" type="presParOf" srcId="{67879402-FFF6-4804-8DC5-B1943EDE2D6C}" destId="{66228905-2A80-49F9-9582-36CF9BC3FA3C}" srcOrd="0" destOrd="0" presId="urn:microsoft.com/office/officeart/2008/layout/HorizontalMultiLevelHierarchy"/>
    <dgm:cxn modelId="{E1A756DE-9B4B-4CC1-8F9C-9A92FE381D1C}" type="presParOf" srcId="{66228905-2A80-49F9-9582-36CF9BC3FA3C}" destId="{D00C5881-0530-4041-8049-9949D65D4EE8}" srcOrd="0" destOrd="0" presId="urn:microsoft.com/office/officeart/2008/layout/HorizontalMultiLevelHierarchy"/>
    <dgm:cxn modelId="{350AB937-F83D-451F-BA6E-DD046CE3E7C7}" type="presParOf" srcId="{66228905-2A80-49F9-9582-36CF9BC3FA3C}" destId="{6D2F590B-B60A-4A33-AD02-C741E53CD19A}" srcOrd="1" destOrd="0" presId="urn:microsoft.com/office/officeart/2008/layout/HorizontalMultiLevelHierarchy"/>
    <dgm:cxn modelId="{1906D4B0-EF2A-487E-B2DF-6326E26FA68C}" type="presParOf" srcId="{6D2F590B-B60A-4A33-AD02-C741E53CD19A}" destId="{F090C7ED-FF6D-44A7-96AE-1125F1930C22}" srcOrd="0" destOrd="0" presId="urn:microsoft.com/office/officeart/2008/layout/HorizontalMultiLevelHierarchy"/>
    <dgm:cxn modelId="{58739663-B9C7-49DB-A690-FA7306463551}" type="presParOf" srcId="{F090C7ED-FF6D-44A7-96AE-1125F1930C22}" destId="{E07A4A59-F09D-447F-B219-A11B2AB9E7F5}" srcOrd="0" destOrd="0" presId="urn:microsoft.com/office/officeart/2008/layout/HorizontalMultiLevelHierarchy"/>
    <dgm:cxn modelId="{338CB672-ED02-4138-B1A0-757699627B49}" type="presParOf" srcId="{6D2F590B-B60A-4A33-AD02-C741E53CD19A}" destId="{97CD951A-90C7-4386-8771-A09805834F2B}" srcOrd="1" destOrd="0" presId="urn:microsoft.com/office/officeart/2008/layout/HorizontalMultiLevelHierarchy"/>
    <dgm:cxn modelId="{54511B72-B9D8-452E-AF6D-9C891C648A79}" type="presParOf" srcId="{97CD951A-90C7-4386-8771-A09805834F2B}" destId="{C0075F0F-82F5-47E4-93A3-AB8579E5F08D}" srcOrd="0" destOrd="0" presId="urn:microsoft.com/office/officeart/2008/layout/HorizontalMultiLevelHierarchy"/>
    <dgm:cxn modelId="{753E2F58-7C97-421F-B8B4-DD29973C7BD6}" type="presParOf" srcId="{97CD951A-90C7-4386-8771-A09805834F2B}" destId="{3C9E3195-C679-496D-84C0-4CBEB58DCF1B}" srcOrd="1" destOrd="0" presId="urn:microsoft.com/office/officeart/2008/layout/HorizontalMultiLevelHierarchy"/>
    <dgm:cxn modelId="{576F5BB9-1900-4E66-A609-2D75282681DE}" type="presParOf" srcId="{3C9E3195-C679-496D-84C0-4CBEB58DCF1B}" destId="{E2A994A0-CB69-42CC-86BB-E67C2688CF94}" srcOrd="0" destOrd="0" presId="urn:microsoft.com/office/officeart/2008/layout/HorizontalMultiLevelHierarchy"/>
    <dgm:cxn modelId="{2CEBB407-E48C-4AEF-84F2-D1B38294EE12}" type="presParOf" srcId="{E2A994A0-CB69-42CC-86BB-E67C2688CF94}" destId="{C8C0FB24-6CD0-4581-93C5-4F1193C2DEB3}" srcOrd="0" destOrd="0" presId="urn:microsoft.com/office/officeart/2008/layout/HorizontalMultiLevelHierarchy"/>
    <dgm:cxn modelId="{4A8BD5D3-E0D9-4B4A-854D-6330752EEE2C}" type="presParOf" srcId="{3C9E3195-C679-496D-84C0-4CBEB58DCF1B}" destId="{9983DB79-9EA5-4876-B19B-C28DFD8FD8E9}" srcOrd="1" destOrd="0" presId="urn:microsoft.com/office/officeart/2008/layout/HorizontalMultiLevelHierarchy"/>
    <dgm:cxn modelId="{CC0E7039-EBD8-4776-BF15-B7BCA732FD9E}" type="presParOf" srcId="{9983DB79-9EA5-4876-B19B-C28DFD8FD8E9}" destId="{8AE7FAFA-D21A-41E7-9ECD-86CDC4BC3130}" srcOrd="0" destOrd="0" presId="urn:microsoft.com/office/officeart/2008/layout/HorizontalMultiLevelHierarchy"/>
    <dgm:cxn modelId="{CAB78642-4481-476C-9881-F9D9A0DC9B18}" type="presParOf" srcId="{9983DB79-9EA5-4876-B19B-C28DFD8FD8E9}" destId="{CD9870C9-D3A5-4D42-A04E-B72EC8245E66}" srcOrd="1" destOrd="0" presId="urn:microsoft.com/office/officeart/2008/layout/HorizontalMultiLevelHierarchy"/>
    <dgm:cxn modelId="{409C2AEB-A14E-4217-A067-2819DD1E821D}" type="presParOf" srcId="{3C9E3195-C679-496D-84C0-4CBEB58DCF1B}" destId="{FAE838E4-0417-4BAF-8D21-5B11DC0CB238}" srcOrd="2" destOrd="0" presId="urn:microsoft.com/office/officeart/2008/layout/HorizontalMultiLevelHierarchy"/>
    <dgm:cxn modelId="{AEFA538E-AC55-4680-B319-3A44F746A124}" type="presParOf" srcId="{FAE838E4-0417-4BAF-8D21-5B11DC0CB238}" destId="{A946B4B7-B012-4B1D-A343-F7546044358A}" srcOrd="0" destOrd="0" presId="urn:microsoft.com/office/officeart/2008/layout/HorizontalMultiLevelHierarchy"/>
    <dgm:cxn modelId="{2FFA08FF-6252-4A12-B469-8C0F5739F6F5}" type="presParOf" srcId="{3C9E3195-C679-496D-84C0-4CBEB58DCF1B}" destId="{ED075D79-0C34-45A4-BB44-71BEA81A0E67}" srcOrd="3" destOrd="0" presId="urn:microsoft.com/office/officeart/2008/layout/HorizontalMultiLevelHierarchy"/>
    <dgm:cxn modelId="{18F9C286-6B27-41FC-9554-6351A32D3C65}" type="presParOf" srcId="{ED075D79-0C34-45A4-BB44-71BEA81A0E67}" destId="{AA5AF5DC-A5ED-453C-BDA6-E85F0793A842}" srcOrd="0" destOrd="0" presId="urn:microsoft.com/office/officeart/2008/layout/HorizontalMultiLevelHierarchy"/>
    <dgm:cxn modelId="{900FE8AB-6247-44D5-B8D8-92F3BF52A1A0}" type="presParOf" srcId="{ED075D79-0C34-45A4-BB44-71BEA81A0E67}" destId="{A053B05B-8CCB-4C6A-AF10-B992C21A59C3}" srcOrd="1" destOrd="0" presId="urn:microsoft.com/office/officeart/2008/layout/HorizontalMultiLevelHierarchy"/>
    <dgm:cxn modelId="{71C917FC-DAC0-4705-BD9D-80262AE7CF70}" type="presParOf" srcId="{6D2F590B-B60A-4A33-AD02-C741E53CD19A}" destId="{F9B24914-0D08-4005-B092-4EC2410E7ACF}" srcOrd="2" destOrd="0" presId="urn:microsoft.com/office/officeart/2008/layout/HorizontalMultiLevelHierarchy"/>
    <dgm:cxn modelId="{C3454C0D-4114-41B4-8A5F-AFCC2CA9BFE5}" type="presParOf" srcId="{F9B24914-0D08-4005-B092-4EC2410E7ACF}" destId="{73C23B51-10C8-42C0-81B3-7E9CA6B8BBD5}" srcOrd="0" destOrd="0" presId="urn:microsoft.com/office/officeart/2008/layout/HorizontalMultiLevelHierarchy"/>
    <dgm:cxn modelId="{A0AF161E-3FB5-49FE-9D08-5E808D0DCE51}" type="presParOf" srcId="{6D2F590B-B60A-4A33-AD02-C741E53CD19A}" destId="{F13D1939-AB12-428D-A50C-CAD62A6B598D}" srcOrd="3" destOrd="0" presId="urn:microsoft.com/office/officeart/2008/layout/HorizontalMultiLevelHierarchy"/>
    <dgm:cxn modelId="{FCB87D6C-BF0D-4498-9BE6-5FDA952BA3A3}" type="presParOf" srcId="{F13D1939-AB12-428D-A50C-CAD62A6B598D}" destId="{AFFD1705-B221-41D0-AF57-AEF004C444AB}" srcOrd="0" destOrd="0" presId="urn:microsoft.com/office/officeart/2008/layout/HorizontalMultiLevelHierarchy"/>
    <dgm:cxn modelId="{4E50E4C0-74E0-40C5-948D-60DD8EEA5527}" type="presParOf" srcId="{F13D1939-AB12-428D-A50C-CAD62A6B598D}" destId="{FBBEE36B-B730-4BB3-949A-1F78F3C3F308}" srcOrd="1" destOrd="0" presId="urn:microsoft.com/office/officeart/2008/layout/HorizontalMultiLevelHierarchy"/>
    <dgm:cxn modelId="{9F594775-7517-459F-8187-845DDAAE6981}" type="presParOf" srcId="{FBBEE36B-B730-4BB3-949A-1F78F3C3F308}" destId="{F81C79C1-5562-4E7C-8F2E-823364FF7379}" srcOrd="0" destOrd="0" presId="urn:microsoft.com/office/officeart/2008/layout/HorizontalMultiLevelHierarchy"/>
    <dgm:cxn modelId="{CC24232A-AFF9-42C2-8755-5AC0BDC392A7}" type="presParOf" srcId="{F81C79C1-5562-4E7C-8F2E-823364FF7379}" destId="{10228B8B-9504-45DC-B55E-2EFFA73C0CC2}" srcOrd="0" destOrd="0" presId="urn:microsoft.com/office/officeart/2008/layout/HorizontalMultiLevelHierarchy"/>
    <dgm:cxn modelId="{49F474A2-1C5A-40BF-A75A-372A454C3F4A}" type="presParOf" srcId="{FBBEE36B-B730-4BB3-949A-1F78F3C3F308}" destId="{EF2C76CE-46A0-4153-80C1-63925D776E2F}" srcOrd="1" destOrd="0" presId="urn:microsoft.com/office/officeart/2008/layout/HorizontalMultiLevelHierarchy"/>
    <dgm:cxn modelId="{8FDD1C13-67B0-4C54-AB0B-88C63FCEA3F1}" type="presParOf" srcId="{EF2C76CE-46A0-4153-80C1-63925D776E2F}" destId="{387FC131-BA0C-495C-BF4B-D486025861A0}" srcOrd="0" destOrd="0" presId="urn:microsoft.com/office/officeart/2008/layout/HorizontalMultiLevelHierarchy"/>
    <dgm:cxn modelId="{64C00D21-1104-4294-ACF2-F2F95A5769DE}" type="presParOf" srcId="{EF2C76CE-46A0-4153-80C1-63925D776E2F}" destId="{121D0498-895A-4E7C-9D8B-08E6973BE0E6}" srcOrd="1" destOrd="0" presId="urn:microsoft.com/office/officeart/2008/layout/HorizontalMultiLevelHierarchy"/>
    <dgm:cxn modelId="{42420BC8-35A1-48EC-8D37-D4BA74D49CF1}" type="presParOf" srcId="{FBBEE36B-B730-4BB3-949A-1F78F3C3F308}" destId="{78F0E319-5D56-4DE1-945B-49EF44F29885}" srcOrd="2" destOrd="0" presId="urn:microsoft.com/office/officeart/2008/layout/HorizontalMultiLevelHierarchy"/>
    <dgm:cxn modelId="{82B1D00A-F089-4849-9664-18373E73C18B}" type="presParOf" srcId="{78F0E319-5D56-4DE1-945B-49EF44F29885}" destId="{45B5DB19-C21A-45E7-B8DA-F1FD08BAB65D}" srcOrd="0" destOrd="0" presId="urn:microsoft.com/office/officeart/2008/layout/HorizontalMultiLevelHierarchy"/>
    <dgm:cxn modelId="{B71748EE-6B79-4AEB-9D76-80378F74E942}" type="presParOf" srcId="{FBBEE36B-B730-4BB3-949A-1F78F3C3F308}" destId="{FA75BA73-CCC3-44A4-AA0B-3889F9629ABF}" srcOrd="3" destOrd="0" presId="urn:microsoft.com/office/officeart/2008/layout/HorizontalMultiLevelHierarchy"/>
    <dgm:cxn modelId="{ECE7691E-D453-4AA8-8C02-D3AFFFF6B180}" type="presParOf" srcId="{FA75BA73-CCC3-44A4-AA0B-3889F9629ABF}" destId="{47957337-1CA5-4F88-9BE1-B4FFAFB9E110}" srcOrd="0" destOrd="0" presId="urn:microsoft.com/office/officeart/2008/layout/HorizontalMultiLevelHierarchy"/>
    <dgm:cxn modelId="{5DF393C9-7092-4EC9-8C27-7D6C144DD7EA}" type="presParOf" srcId="{FA75BA73-CCC3-44A4-AA0B-3889F9629ABF}" destId="{F2BE2E68-0D83-43E3-AFCA-4D049189CF47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314A81B-0706-4049-814C-33AA82FB6570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BC2F7CCE-B40A-4EFB-A080-609BA0DA1F5D}">
      <dgm:prSet phldrT="[Text]"/>
      <dgm:spPr/>
      <dgm:t>
        <a:bodyPr/>
        <a:lstStyle/>
        <a:p>
          <a:r>
            <a:rPr lang="en-US" dirty="0"/>
            <a:t>Functions of Bank</a:t>
          </a:r>
          <a:endParaRPr lang="en-IN" dirty="0"/>
        </a:p>
      </dgm:t>
    </dgm:pt>
    <dgm:pt modelId="{169FF320-5E2A-46C1-A757-1250821BE160}" type="parTrans" cxnId="{EEF98EDB-2213-4077-9366-D7ABCD4E35A9}">
      <dgm:prSet/>
      <dgm:spPr/>
      <dgm:t>
        <a:bodyPr/>
        <a:lstStyle/>
        <a:p>
          <a:endParaRPr lang="en-IN"/>
        </a:p>
      </dgm:t>
    </dgm:pt>
    <dgm:pt modelId="{44A9F171-F023-44DF-8795-ABF58A5D6E25}" type="sibTrans" cxnId="{EEF98EDB-2213-4077-9366-D7ABCD4E35A9}">
      <dgm:prSet/>
      <dgm:spPr/>
      <dgm:t>
        <a:bodyPr/>
        <a:lstStyle/>
        <a:p>
          <a:endParaRPr lang="en-IN"/>
        </a:p>
      </dgm:t>
    </dgm:pt>
    <dgm:pt modelId="{E5569BC7-7C41-4B06-8693-115A33BC9001}">
      <dgm:prSet phldrT="[Text]"/>
      <dgm:spPr/>
      <dgm:t>
        <a:bodyPr/>
        <a:lstStyle/>
        <a:p>
          <a:r>
            <a:rPr lang="en-US" dirty="0"/>
            <a:t>Primary Functions</a:t>
          </a:r>
          <a:endParaRPr lang="en-IN" dirty="0"/>
        </a:p>
      </dgm:t>
    </dgm:pt>
    <dgm:pt modelId="{C25C3B87-377D-4561-8847-0E57F811FB49}" type="parTrans" cxnId="{6D449AE2-8BB8-4E9B-B289-F0558CA58C29}">
      <dgm:prSet/>
      <dgm:spPr/>
      <dgm:t>
        <a:bodyPr/>
        <a:lstStyle/>
        <a:p>
          <a:endParaRPr lang="en-IN"/>
        </a:p>
      </dgm:t>
    </dgm:pt>
    <dgm:pt modelId="{D0007984-4B26-4524-B89B-01F9259C4576}" type="sibTrans" cxnId="{6D449AE2-8BB8-4E9B-B289-F0558CA58C29}">
      <dgm:prSet/>
      <dgm:spPr/>
      <dgm:t>
        <a:bodyPr/>
        <a:lstStyle/>
        <a:p>
          <a:endParaRPr lang="en-IN"/>
        </a:p>
      </dgm:t>
    </dgm:pt>
    <dgm:pt modelId="{E92BB774-DE03-4245-AE6C-AC7E864E8DA9}">
      <dgm:prSet phldrT="[Text]"/>
      <dgm:spPr/>
      <dgm:t>
        <a:bodyPr/>
        <a:lstStyle/>
        <a:p>
          <a:r>
            <a:rPr lang="en-US" dirty="0"/>
            <a:t>Secondary Functions</a:t>
          </a:r>
          <a:endParaRPr lang="en-IN" dirty="0"/>
        </a:p>
      </dgm:t>
    </dgm:pt>
    <dgm:pt modelId="{43E01B4F-026E-4B03-BB86-BCB2A01D8C5A}" type="parTrans" cxnId="{6F677839-D168-4465-9B90-6571D7DC1388}">
      <dgm:prSet/>
      <dgm:spPr/>
      <dgm:t>
        <a:bodyPr/>
        <a:lstStyle/>
        <a:p>
          <a:endParaRPr lang="en-IN"/>
        </a:p>
      </dgm:t>
    </dgm:pt>
    <dgm:pt modelId="{90728677-2B30-46B4-B657-A7E8C931DD9B}" type="sibTrans" cxnId="{6F677839-D168-4465-9B90-6571D7DC1388}">
      <dgm:prSet/>
      <dgm:spPr/>
      <dgm:t>
        <a:bodyPr/>
        <a:lstStyle/>
        <a:p>
          <a:endParaRPr lang="en-IN"/>
        </a:p>
      </dgm:t>
    </dgm:pt>
    <dgm:pt modelId="{62242896-BE75-4005-84D8-2399FE567FB6}">
      <dgm:prSet phldrT="[Text]"/>
      <dgm:spPr/>
      <dgm:t>
        <a:bodyPr/>
        <a:lstStyle/>
        <a:p>
          <a:r>
            <a:rPr lang="en-US" dirty="0" smtClean="0"/>
            <a:t>Grant of Loans and Advances</a:t>
          </a:r>
          <a:endParaRPr lang="en-IN" dirty="0"/>
        </a:p>
      </dgm:t>
    </dgm:pt>
    <dgm:pt modelId="{03444D42-806E-4D09-A5B2-A21F3BB8C230}" type="parTrans" cxnId="{FE689959-2D8D-41A2-A537-3540D944640B}">
      <dgm:prSet/>
      <dgm:spPr/>
      <dgm:t>
        <a:bodyPr/>
        <a:lstStyle/>
        <a:p>
          <a:endParaRPr lang="en-IN"/>
        </a:p>
      </dgm:t>
    </dgm:pt>
    <dgm:pt modelId="{F35F9404-B06E-49E5-AD71-F5A082086CB8}" type="sibTrans" cxnId="{FE689959-2D8D-41A2-A537-3540D944640B}">
      <dgm:prSet/>
      <dgm:spPr/>
      <dgm:t>
        <a:bodyPr/>
        <a:lstStyle/>
        <a:p>
          <a:endParaRPr lang="en-IN"/>
        </a:p>
      </dgm:t>
    </dgm:pt>
    <dgm:pt modelId="{63CD114A-EE20-4875-92D7-B704AF854237}">
      <dgm:prSet phldrT="[Text]"/>
      <dgm:spPr/>
      <dgm:t>
        <a:bodyPr/>
        <a:lstStyle/>
        <a:p>
          <a:r>
            <a:rPr lang="en-IN" dirty="0" smtClean="0"/>
            <a:t>Accepting </a:t>
          </a:r>
          <a:r>
            <a:rPr lang="en-IN" dirty="0"/>
            <a:t>Deposits</a:t>
          </a:r>
        </a:p>
      </dgm:t>
    </dgm:pt>
    <dgm:pt modelId="{06DE8C27-6EFA-4ED1-BED6-ACA68DFCD2DE}" type="parTrans" cxnId="{F40CCDF3-048A-4B05-AA81-6C66DFD83B0F}">
      <dgm:prSet/>
      <dgm:spPr/>
      <dgm:t>
        <a:bodyPr/>
        <a:lstStyle/>
        <a:p>
          <a:endParaRPr lang="en-IN"/>
        </a:p>
      </dgm:t>
    </dgm:pt>
    <dgm:pt modelId="{E8FD8D74-C4DD-46BD-998F-9B8D17E1375F}" type="sibTrans" cxnId="{F40CCDF3-048A-4B05-AA81-6C66DFD83B0F}">
      <dgm:prSet/>
      <dgm:spPr/>
      <dgm:t>
        <a:bodyPr/>
        <a:lstStyle/>
        <a:p>
          <a:endParaRPr lang="en-IN"/>
        </a:p>
      </dgm:t>
    </dgm:pt>
    <dgm:pt modelId="{4CEBF018-1754-4230-B018-E3735F92CF85}">
      <dgm:prSet phldrT="[Text]"/>
      <dgm:spPr/>
      <dgm:t>
        <a:bodyPr/>
        <a:lstStyle/>
        <a:p>
          <a:pPr algn="ctr"/>
          <a:r>
            <a:rPr lang="en-IN" dirty="0" smtClean="0"/>
            <a:t>Agency </a:t>
          </a:r>
          <a:r>
            <a:rPr lang="en-IN" dirty="0"/>
            <a:t>Functions</a:t>
          </a:r>
        </a:p>
      </dgm:t>
    </dgm:pt>
    <dgm:pt modelId="{0E091FCD-F2C7-4D6C-9FC6-B3C20E5B657B}" type="parTrans" cxnId="{7D02BDA8-C445-4B7C-BF17-03BA61EB7321}">
      <dgm:prSet/>
      <dgm:spPr/>
      <dgm:t>
        <a:bodyPr/>
        <a:lstStyle/>
        <a:p>
          <a:endParaRPr lang="en-IN"/>
        </a:p>
      </dgm:t>
    </dgm:pt>
    <dgm:pt modelId="{5537604D-6E10-4D46-9813-D1FE4F091E70}" type="sibTrans" cxnId="{7D02BDA8-C445-4B7C-BF17-03BA61EB7321}">
      <dgm:prSet/>
      <dgm:spPr/>
      <dgm:t>
        <a:bodyPr/>
        <a:lstStyle/>
        <a:p>
          <a:endParaRPr lang="en-IN"/>
        </a:p>
      </dgm:t>
    </dgm:pt>
    <dgm:pt modelId="{9673E259-2C92-4255-ABED-10AFC4CD25C2}">
      <dgm:prSet phldrT="[Text]"/>
      <dgm:spPr>
        <a:solidFill>
          <a:schemeClr val="accent5">
            <a:lumMod val="75000"/>
          </a:schemeClr>
        </a:solidFill>
      </dgm:spPr>
      <dgm:t>
        <a:bodyPr/>
        <a:lstStyle/>
        <a:p>
          <a:pPr algn="ctr"/>
          <a:r>
            <a:rPr lang="en-IN" b="1" dirty="0" smtClean="0"/>
            <a:t>General </a:t>
          </a:r>
          <a:r>
            <a:rPr lang="en-IN" b="1" dirty="0"/>
            <a:t>Utility Functions</a:t>
          </a:r>
        </a:p>
      </dgm:t>
    </dgm:pt>
    <dgm:pt modelId="{962D89EF-DD9E-4D9E-A506-341C60CD2C02}" type="parTrans" cxnId="{89117527-7A5E-42EE-9C41-D1E7412E5015}">
      <dgm:prSet/>
      <dgm:spPr/>
      <dgm:t>
        <a:bodyPr/>
        <a:lstStyle/>
        <a:p>
          <a:endParaRPr lang="en-IN"/>
        </a:p>
      </dgm:t>
    </dgm:pt>
    <dgm:pt modelId="{D19325D9-04DF-4E0B-B5DF-7BF68BA03307}" type="sibTrans" cxnId="{89117527-7A5E-42EE-9C41-D1E7412E5015}">
      <dgm:prSet/>
      <dgm:spPr/>
      <dgm:t>
        <a:bodyPr/>
        <a:lstStyle/>
        <a:p>
          <a:endParaRPr lang="en-IN"/>
        </a:p>
      </dgm:t>
    </dgm:pt>
    <dgm:pt modelId="{67879402-FFF6-4804-8DC5-B1943EDE2D6C}" type="pres">
      <dgm:prSet presAssocID="{A314A81B-0706-4049-814C-33AA82FB6570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6228905-2A80-49F9-9582-36CF9BC3FA3C}" type="pres">
      <dgm:prSet presAssocID="{BC2F7CCE-B40A-4EFB-A080-609BA0DA1F5D}" presName="root1" presStyleCnt="0"/>
      <dgm:spPr/>
    </dgm:pt>
    <dgm:pt modelId="{D00C5881-0530-4041-8049-9949D65D4EE8}" type="pres">
      <dgm:prSet presAssocID="{BC2F7CCE-B40A-4EFB-A080-609BA0DA1F5D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D2F590B-B60A-4A33-AD02-C741E53CD19A}" type="pres">
      <dgm:prSet presAssocID="{BC2F7CCE-B40A-4EFB-A080-609BA0DA1F5D}" presName="level2hierChild" presStyleCnt="0"/>
      <dgm:spPr/>
    </dgm:pt>
    <dgm:pt modelId="{F090C7ED-FF6D-44A7-96AE-1125F1930C22}" type="pres">
      <dgm:prSet presAssocID="{C25C3B87-377D-4561-8847-0E57F811FB49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E07A4A59-F09D-447F-B219-A11B2AB9E7F5}" type="pres">
      <dgm:prSet presAssocID="{C25C3B87-377D-4561-8847-0E57F811FB49}" presName="connTx" presStyleLbl="parChTrans1D2" presStyleIdx="0" presStyleCnt="2"/>
      <dgm:spPr/>
      <dgm:t>
        <a:bodyPr/>
        <a:lstStyle/>
        <a:p>
          <a:endParaRPr lang="en-US"/>
        </a:p>
      </dgm:t>
    </dgm:pt>
    <dgm:pt modelId="{97CD951A-90C7-4386-8771-A09805834F2B}" type="pres">
      <dgm:prSet presAssocID="{E5569BC7-7C41-4B06-8693-115A33BC9001}" presName="root2" presStyleCnt="0"/>
      <dgm:spPr/>
    </dgm:pt>
    <dgm:pt modelId="{C0075F0F-82F5-47E4-93A3-AB8579E5F08D}" type="pres">
      <dgm:prSet presAssocID="{E5569BC7-7C41-4B06-8693-115A33BC9001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C9E3195-C679-496D-84C0-4CBEB58DCF1B}" type="pres">
      <dgm:prSet presAssocID="{E5569BC7-7C41-4B06-8693-115A33BC9001}" presName="level3hierChild" presStyleCnt="0"/>
      <dgm:spPr/>
    </dgm:pt>
    <dgm:pt modelId="{E2A994A0-CB69-42CC-86BB-E67C2688CF94}" type="pres">
      <dgm:prSet presAssocID="{06DE8C27-6EFA-4ED1-BED6-ACA68DFCD2DE}" presName="conn2-1" presStyleLbl="parChTrans1D3" presStyleIdx="0" presStyleCnt="4"/>
      <dgm:spPr/>
      <dgm:t>
        <a:bodyPr/>
        <a:lstStyle/>
        <a:p>
          <a:endParaRPr lang="en-US"/>
        </a:p>
      </dgm:t>
    </dgm:pt>
    <dgm:pt modelId="{C8C0FB24-6CD0-4581-93C5-4F1193C2DEB3}" type="pres">
      <dgm:prSet presAssocID="{06DE8C27-6EFA-4ED1-BED6-ACA68DFCD2DE}" presName="connTx" presStyleLbl="parChTrans1D3" presStyleIdx="0" presStyleCnt="4"/>
      <dgm:spPr/>
      <dgm:t>
        <a:bodyPr/>
        <a:lstStyle/>
        <a:p>
          <a:endParaRPr lang="en-US"/>
        </a:p>
      </dgm:t>
    </dgm:pt>
    <dgm:pt modelId="{9983DB79-9EA5-4876-B19B-C28DFD8FD8E9}" type="pres">
      <dgm:prSet presAssocID="{63CD114A-EE20-4875-92D7-B704AF854237}" presName="root2" presStyleCnt="0"/>
      <dgm:spPr/>
    </dgm:pt>
    <dgm:pt modelId="{8AE7FAFA-D21A-41E7-9ECD-86CDC4BC3130}" type="pres">
      <dgm:prSet presAssocID="{63CD114A-EE20-4875-92D7-B704AF854237}" presName="LevelTwoTextNode" presStyleLbl="node3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D9870C9-D3A5-4D42-A04E-B72EC8245E66}" type="pres">
      <dgm:prSet presAssocID="{63CD114A-EE20-4875-92D7-B704AF854237}" presName="level3hierChild" presStyleCnt="0"/>
      <dgm:spPr/>
    </dgm:pt>
    <dgm:pt modelId="{FAE838E4-0417-4BAF-8D21-5B11DC0CB238}" type="pres">
      <dgm:prSet presAssocID="{03444D42-806E-4D09-A5B2-A21F3BB8C230}" presName="conn2-1" presStyleLbl="parChTrans1D3" presStyleIdx="1" presStyleCnt="4"/>
      <dgm:spPr/>
      <dgm:t>
        <a:bodyPr/>
        <a:lstStyle/>
        <a:p>
          <a:endParaRPr lang="en-US"/>
        </a:p>
      </dgm:t>
    </dgm:pt>
    <dgm:pt modelId="{A946B4B7-B012-4B1D-A343-F7546044358A}" type="pres">
      <dgm:prSet presAssocID="{03444D42-806E-4D09-A5B2-A21F3BB8C230}" presName="connTx" presStyleLbl="parChTrans1D3" presStyleIdx="1" presStyleCnt="4"/>
      <dgm:spPr/>
      <dgm:t>
        <a:bodyPr/>
        <a:lstStyle/>
        <a:p>
          <a:endParaRPr lang="en-US"/>
        </a:p>
      </dgm:t>
    </dgm:pt>
    <dgm:pt modelId="{ED075D79-0C34-45A4-BB44-71BEA81A0E67}" type="pres">
      <dgm:prSet presAssocID="{62242896-BE75-4005-84D8-2399FE567FB6}" presName="root2" presStyleCnt="0"/>
      <dgm:spPr/>
    </dgm:pt>
    <dgm:pt modelId="{AA5AF5DC-A5ED-453C-BDA6-E85F0793A842}" type="pres">
      <dgm:prSet presAssocID="{62242896-BE75-4005-84D8-2399FE567FB6}" presName="LevelTwoTextNode" presStyleLbl="node3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053B05B-8CCB-4C6A-AF10-B992C21A59C3}" type="pres">
      <dgm:prSet presAssocID="{62242896-BE75-4005-84D8-2399FE567FB6}" presName="level3hierChild" presStyleCnt="0"/>
      <dgm:spPr/>
    </dgm:pt>
    <dgm:pt modelId="{F9B24914-0D08-4005-B092-4EC2410E7ACF}" type="pres">
      <dgm:prSet presAssocID="{43E01B4F-026E-4B03-BB86-BCB2A01D8C5A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73C23B51-10C8-42C0-81B3-7E9CA6B8BBD5}" type="pres">
      <dgm:prSet presAssocID="{43E01B4F-026E-4B03-BB86-BCB2A01D8C5A}" presName="connTx" presStyleLbl="parChTrans1D2" presStyleIdx="1" presStyleCnt="2"/>
      <dgm:spPr/>
      <dgm:t>
        <a:bodyPr/>
        <a:lstStyle/>
        <a:p>
          <a:endParaRPr lang="en-US"/>
        </a:p>
      </dgm:t>
    </dgm:pt>
    <dgm:pt modelId="{F13D1939-AB12-428D-A50C-CAD62A6B598D}" type="pres">
      <dgm:prSet presAssocID="{E92BB774-DE03-4245-AE6C-AC7E864E8DA9}" presName="root2" presStyleCnt="0"/>
      <dgm:spPr/>
    </dgm:pt>
    <dgm:pt modelId="{AFFD1705-B221-41D0-AF57-AEF004C444AB}" type="pres">
      <dgm:prSet presAssocID="{E92BB774-DE03-4245-AE6C-AC7E864E8DA9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BBEE36B-B730-4BB3-949A-1F78F3C3F308}" type="pres">
      <dgm:prSet presAssocID="{E92BB774-DE03-4245-AE6C-AC7E864E8DA9}" presName="level3hierChild" presStyleCnt="0"/>
      <dgm:spPr/>
    </dgm:pt>
    <dgm:pt modelId="{F81C79C1-5562-4E7C-8F2E-823364FF7379}" type="pres">
      <dgm:prSet presAssocID="{0E091FCD-F2C7-4D6C-9FC6-B3C20E5B657B}" presName="conn2-1" presStyleLbl="parChTrans1D3" presStyleIdx="2" presStyleCnt="4"/>
      <dgm:spPr/>
      <dgm:t>
        <a:bodyPr/>
        <a:lstStyle/>
        <a:p>
          <a:endParaRPr lang="en-US"/>
        </a:p>
      </dgm:t>
    </dgm:pt>
    <dgm:pt modelId="{10228B8B-9504-45DC-B55E-2EFFA73C0CC2}" type="pres">
      <dgm:prSet presAssocID="{0E091FCD-F2C7-4D6C-9FC6-B3C20E5B657B}" presName="connTx" presStyleLbl="parChTrans1D3" presStyleIdx="2" presStyleCnt="4"/>
      <dgm:spPr/>
      <dgm:t>
        <a:bodyPr/>
        <a:lstStyle/>
        <a:p>
          <a:endParaRPr lang="en-US"/>
        </a:p>
      </dgm:t>
    </dgm:pt>
    <dgm:pt modelId="{EF2C76CE-46A0-4153-80C1-63925D776E2F}" type="pres">
      <dgm:prSet presAssocID="{4CEBF018-1754-4230-B018-E3735F92CF85}" presName="root2" presStyleCnt="0"/>
      <dgm:spPr/>
    </dgm:pt>
    <dgm:pt modelId="{387FC131-BA0C-495C-BF4B-D486025861A0}" type="pres">
      <dgm:prSet presAssocID="{4CEBF018-1754-4230-B018-E3735F92CF85}" presName="LevelTwoTextNode" presStyleLbl="node3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21D0498-895A-4E7C-9D8B-08E6973BE0E6}" type="pres">
      <dgm:prSet presAssocID="{4CEBF018-1754-4230-B018-E3735F92CF85}" presName="level3hierChild" presStyleCnt="0"/>
      <dgm:spPr/>
    </dgm:pt>
    <dgm:pt modelId="{78F0E319-5D56-4DE1-945B-49EF44F29885}" type="pres">
      <dgm:prSet presAssocID="{962D89EF-DD9E-4D9E-A506-341C60CD2C02}" presName="conn2-1" presStyleLbl="parChTrans1D3" presStyleIdx="3" presStyleCnt="4"/>
      <dgm:spPr/>
      <dgm:t>
        <a:bodyPr/>
        <a:lstStyle/>
        <a:p>
          <a:endParaRPr lang="en-US"/>
        </a:p>
      </dgm:t>
    </dgm:pt>
    <dgm:pt modelId="{45B5DB19-C21A-45E7-B8DA-F1FD08BAB65D}" type="pres">
      <dgm:prSet presAssocID="{962D89EF-DD9E-4D9E-A506-341C60CD2C02}" presName="connTx" presStyleLbl="parChTrans1D3" presStyleIdx="3" presStyleCnt="4"/>
      <dgm:spPr/>
      <dgm:t>
        <a:bodyPr/>
        <a:lstStyle/>
        <a:p>
          <a:endParaRPr lang="en-US"/>
        </a:p>
      </dgm:t>
    </dgm:pt>
    <dgm:pt modelId="{FA75BA73-CCC3-44A4-AA0B-3889F9629ABF}" type="pres">
      <dgm:prSet presAssocID="{9673E259-2C92-4255-ABED-10AFC4CD25C2}" presName="root2" presStyleCnt="0"/>
      <dgm:spPr/>
    </dgm:pt>
    <dgm:pt modelId="{47957337-1CA5-4F88-9BE1-B4FFAFB9E110}" type="pres">
      <dgm:prSet presAssocID="{9673E259-2C92-4255-ABED-10AFC4CD25C2}" presName="LevelTwoTextNode" presStyleLbl="node3" presStyleIdx="3" presStyleCnt="4" custScaleY="25812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2BE2E68-0D83-43E3-AFCA-4D049189CF47}" type="pres">
      <dgm:prSet presAssocID="{9673E259-2C92-4255-ABED-10AFC4CD25C2}" presName="level3hierChild" presStyleCnt="0"/>
      <dgm:spPr/>
    </dgm:pt>
  </dgm:ptLst>
  <dgm:cxnLst>
    <dgm:cxn modelId="{7D02BDA8-C445-4B7C-BF17-03BA61EB7321}" srcId="{E92BB774-DE03-4245-AE6C-AC7E864E8DA9}" destId="{4CEBF018-1754-4230-B018-E3735F92CF85}" srcOrd="0" destOrd="0" parTransId="{0E091FCD-F2C7-4D6C-9FC6-B3C20E5B657B}" sibTransId="{5537604D-6E10-4D46-9813-D1FE4F091E70}"/>
    <dgm:cxn modelId="{EEF98EDB-2213-4077-9366-D7ABCD4E35A9}" srcId="{A314A81B-0706-4049-814C-33AA82FB6570}" destId="{BC2F7CCE-B40A-4EFB-A080-609BA0DA1F5D}" srcOrd="0" destOrd="0" parTransId="{169FF320-5E2A-46C1-A757-1250821BE160}" sibTransId="{44A9F171-F023-44DF-8795-ABF58A5D6E25}"/>
    <dgm:cxn modelId="{ADA10B59-3672-476D-81D8-7DCC178D761C}" type="presOf" srcId="{E5569BC7-7C41-4B06-8693-115A33BC9001}" destId="{C0075F0F-82F5-47E4-93A3-AB8579E5F08D}" srcOrd="0" destOrd="0" presId="urn:microsoft.com/office/officeart/2008/layout/HorizontalMultiLevelHierarchy"/>
    <dgm:cxn modelId="{89117527-7A5E-42EE-9C41-D1E7412E5015}" srcId="{E92BB774-DE03-4245-AE6C-AC7E864E8DA9}" destId="{9673E259-2C92-4255-ABED-10AFC4CD25C2}" srcOrd="1" destOrd="0" parTransId="{962D89EF-DD9E-4D9E-A506-341C60CD2C02}" sibTransId="{D19325D9-04DF-4E0B-B5DF-7BF68BA03307}"/>
    <dgm:cxn modelId="{7083DD0D-410E-4EBD-8981-65E1668AA8B9}" type="presOf" srcId="{A314A81B-0706-4049-814C-33AA82FB6570}" destId="{67879402-FFF6-4804-8DC5-B1943EDE2D6C}" srcOrd="0" destOrd="0" presId="urn:microsoft.com/office/officeart/2008/layout/HorizontalMultiLevelHierarchy"/>
    <dgm:cxn modelId="{91516E2C-8A1A-4036-A7CB-1956E2C4ADE7}" type="presOf" srcId="{62242896-BE75-4005-84D8-2399FE567FB6}" destId="{AA5AF5DC-A5ED-453C-BDA6-E85F0793A842}" srcOrd="0" destOrd="0" presId="urn:microsoft.com/office/officeart/2008/layout/HorizontalMultiLevelHierarchy"/>
    <dgm:cxn modelId="{5BB11761-2947-4F20-AB8B-435D99E81583}" type="presOf" srcId="{06DE8C27-6EFA-4ED1-BED6-ACA68DFCD2DE}" destId="{C8C0FB24-6CD0-4581-93C5-4F1193C2DEB3}" srcOrd="1" destOrd="0" presId="urn:microsoft.com/office/officeart/2008/layout/HorizontalMultiLevelHierarchy"/>
    <dgm:cxn modelId="{A4E4BD4B-B457-425A-B8CA-A237BA8DCDD0}" type="presOf" srcId="{0E091FCD-F2C7-4D6C-9FC6-B3C20E5B657B}" destId="{10228B8B-9504-45DC-B55E-2EFFA73C0CC2}" srcOrd="1" destOrd="0" presId="urn:microsoft.com/office/officeart/2008/layout/HorizontalMultiLevelHierarchy"/>
    <dgm:cxn modelId="{92476416-C401-4700-A8E6-94829B30C5C4}" type="presOf" srcId="{C25C3B87-377D-4561-8847-0E57F811FB49}" destId="{E07A4A59-F09D-447F-B219-A11B2AB9E7F5}" srcOrd="1" destOrd="0" presId="urn:microsoft.com/office/officeart/2008/layout/HorizontalMultiLevelHierarchy"/>
    <dgm:cxn modelId="{B0E2B43D-8970-41DC-8505-1FDA852DFD85}" type="presOf" srcId="{C25C3B87-377D-4561-8847-0E57F811FB49}" destId="{F090C7ED-FF6D-44A7-96AE-1125F1930C22}" srcOrd="0" destOrd="0" presId="urn:microsoft.com/office/officeart/2008/layout/HorizontalMultiLevelHierarchy"/>
    <dgm:cxn modelId="{F4E3E692-14DA-40C4-873A-5499CDE01C31}" type="presOf" srcId="{4CEBF018-1754-4230-B018-E3735F92CF85}" destId="{387FC131-BA0C-495C-BF4B-D486025861A0}" srcOrd="0" destOrd="0" presId="urn:microsoft.com/office/officeart/2008/layout/HorizontalMultiLevelHierarchy"/>
    <dgm:cxn modelId="{6B13EC98-B391-4C54-B74C-D7D222C8E5A9}" type="presOf" srcId="{43E01B4F-026E-4B03-BB86-BCB2A01D8C5A}" destId="{73C23B51-10C8-42C0-81B3-7E9CA6B8BBD5}" srcOrd="1" destOrd="0" presId="urn:microsoft.com/office/officeart/2008/layout/HorizontalMultiLevelHierarchy"/>
    <dgm:cxn modelId="{1FC8B045-EC56-491B-95C0-1E0096011EEC}" type="presOf" srcId="{03444D42-806E-4D09-A5B2-A21F3BB8C230}" destId="{FAE838E4-0417-4BAF-8D21-5B11DC0CB238}" srcOrd="0" destOrd="0" presId="urn:microsoft.com/office/officeart/2008/layout/HorizontalMultiLevelHierarchy"/>
    <dgm:cxn modelId="{6D449AE2-8BB8-4E9B-B289-F0558CA58C29}" srcId="{BC2F7CCE-B40A-4EFB-A080-609BA0DA1F5D}" destId="{E5569BC7-7C41-4B06-8693-115A33BC9001}" srcOrd="0" destOrd="0" parTransId="{C25C3B87-377D-4561-8847-0E57F811FB49}" sibTransId="{D0007984-4B26-4524-B89B-01F9259C4576}"/>
    <dgm:cxn modelId="{97EC31A9-8587-4EA5-B0A0-8D834F1D76B7}" type="presOf" srcId="{03444D42-806E-4D09-A5B2-A21F3BB8C230}" destId="{A946B4B7-B012-4B1D-A343-F7546044358A}" srcOrd="1" destOrd="0" presId="urn:microsoft.com/office/officeart/2008/layout/HorizontalMultiLevelHierarchy"/>
    <dgm:cxn modelId="{F40CCDF3-048A-4B05-AA81-6C66DFD83B0F}" srcId="{E5569BC7-7C41-4B06-8693-115A33BC9001}" destId="{63CD114A-EE20-4875-92D7-B704AF854237}" srcOrd="0" destOrd="0" parTransId="{06DE8C27-6EFA-4ED1-BED6-ACA68DFCD2DE}" sibTransId="{E8FD8D74-C4DD-46BD-998F-9B8D17E1375F}"/>
    <dgm:cxn modelId="{80EFA46B-F89D-4BE8-AE03-D88AC0DC8F75}" type="presOf" srcId="{06DE8C27-6EFA-4ED1-BED6-ACA68DFCD2DE}" destId="{E2A994A0-CB69-42CC-86BB-E67C2688CF94}" srcOrd="0" destOrd="0" presId="urn:microsoft.com/office/officeart/2008/layout/HorizontalMultiLevelHierarchy"/>
    <dgm:cxn modelId="{6F677839-D168-4465-9B90-6571D7DC1388}" srcId="{BC2F7CCE-B40A-4EFB-A080-609BA0DA1F5D}" destId="{E92BB774-DE03-4245-AE6C-AC7E864E8DA9}" srcOrd="1" destOrd="0" parTransId="{43E01B4F-026E-4B03-BB86-BCB2A01D8C5A}" sibTransId="{90728677-2B30-46B4-B657-A7E8C931DD9B}"/>
    <dgm:cxn modelId="{42E6532E-716C-46AF-BD94-2F9110CF63E2}" type="presOf" srcId="{962D89EF-DD9E-4D9E-A506-341C60CD2C02}" destId="{45B5DB19-C21A-45E7-B8DA-F1FD08BAB65D}" srcOrd="1" destOrd="0" presId="urn:microsoft.com/office/officeart/2008/layout/HorizontalMultiLevelHierarchy"/>
    <dgm:cxn modelId="{228E248D-9911-4F74-A01D-5FF13868B18F}" type="presOf" srcId="{962D89EF-DD9E-4D9E-A506-341C60CD2C02}" destId="{78F0E319-5D56-4DE1-945B-49EF44F29885}" srcOrd="0" destOrd="0" presId="urn:microsoft.com/office/officeart/2008/layout/HorizontalMultiLevelHierarchy"/>
    <dgm:cxn modelId="{86B3134A-0147-45D1-B42C-69603FAE9B6F}" type="presOf" srcId="{9673E259-2C92-4255-ABED-10AFC4CD25C2}" destId="{47957337-1CA5-4F88-9BE1-B4FFAFB9E110}" srcOrd="0" destOrd="0" presId="urn:microsoft.com/office/officeart/2008/layout/HorizontalMultiLevelHierarchy"/>
    <dgm:cxn modelId="{B798859A-8EE1-46B0-BF71-5C55D7AF13C5}" type="presOf" srcId="{0E091FCD-F2C7-4D6C-9FC6-B3C20E5B657B}" destId="{F81C79C1-5562-4E7C-8F2E-823364FF7379}" srcOrd="0" destOrd="0" presId="urn:microsoft.com/office/officeart/2008/layout/HorizontalMultiLevelHierarchy"/>
    <dgm:cxn modelId="{43C3BC81-184F-41FA-A4F4-9E4C04E9485E}" type="presOf" srcId="{E92BB774-DE03-4245-AE6C-AC7E864E8DA9}" destId="{AFFD1705-B221-41D0-AF57-AEF004C444AB}" srcOrd="0" destOrd="0" presId="urn:microsoft.com/office/officeart/2008/layout/HorizontalMultiLevelHierarchy"/>
    <dgm:cxn modelId="{4814252F-48D6-4FA9-9463-C5AEE2966F32}" type="presOf" srcId="{63CD114A-EE20-4875-92D7-B704AF854237}" destId="{8AE7FAFA-D21A-41E7-9ECD-86CDC4BC3130}" srcOrd="0" destOrd="0" presId="urn:microsoft.com/office/officeart/2008/layout/HorizontalMultiLevelHierarchy"/>
    <dgm:cxn modelId="{FE689959-2D8D-41A2-A537-3540D944640B}" srcId="{E5569BC7-7C41-4B06-8693-115A33BC9001}" destId="{62242896-BE75-4005-84D8-2399FE567FB6}" srcOrd="1" destOrd="0" parTransId="{03444D42-806E-4D09-A5B2-A21F3BB8C230}" sibTransId="{F35F9404-B06E-49E5-AD71-F5A082086CB8}"/>
    <dgm:cxn modelId="{2A161C30-B690-43AA-B056-8E597806182A}" type="presOf" srcId="{BC2F7CCE-B40A-4EFB-A080-609BA0DA1F5D}" destId="{D00C5881-0530-4041-8049-9949D65D4EE8}" srcOrd="0" destOrd="0" presId="urn:microsoft.com/office/officeart/2008/layout/HorizontalMultiLevelHierarchy"/>
    <dgm:cxn modelId="{9264BCBA-091E-4CC8-8322-32C00DF4AAA4}" type="presOf" srcId="{43E01B4F-026E-4B03-BB86-BCB2A01D8C5A}" destId="{F9B24914-0D08-4005-B092-4EC2410E7ACF}" srcOrd="0" destOrd="0" presId="urn:microsoft.com/office/officeart/2008/layout/HorizontalMultiLevelHierarchy"/>
    <dgm:cxn modelId="{B293B8D0-732B-49B5-AFD2-CB0F005D5C24}" type="presParOf" srcId="{67879402-FFF6-4804-8DC5-B1943EDE2D6C}" destId="{66228905-2A80-49F9-9582-36CF9BC3FA3C}" srcOrd="0" destOrd="0" presId="urn:microsoft.com/office/officeart/2008/layout/HorizontalMultiLevelHierarchy"/>
    <dgm:cxn modelId="{E1A756DE-9B4B-4CC1-8F9C-9A92FE381D1C}" type="presParOf" srcId="{66228905-2A80-49F9-9582-36CF9BC3FA3C}" destId="{D00C5881-0530-4041-8049-9949D65D4EE8}" srcOrd="0" destOrd="0" presId="urn:microsoft.com/office/officeart/2008/layout/HorizontalMultiLevelHierarchy"/>
    <dgm:cxn modelId="{350AB937-F83D-451F-BA6E-DD046CE3E7C7}" type="presParOf" srcId="{66228905-2A80-49F9-9582-36CF9BC3FA3C}" destId="{6D2F590B-B60A-4A33-AD02-C741E53CD19A}" srcOrd="1" destOrd="0" presId="urn:microsoft.com/office/officeart/2008/layout/HorizontalMultiLevelHierarchy"/>
    <dgm:cxn modelId="{1906D4B0-EF2A-487E-B2DF-6326E26FA68C}" type="presParOf" srcId="{6D2F590B-B60A-4A33-AD02-C741E53CD19A}" destId="{F090C7ED-FF6D-44A7-96AE-1125F1930C22}" srcOrd="0" destOrd="0" presId="urn:microsoft.com/office/officeart/2008/layout/HorizontalMultiLevelHierarchy"/>
    <dgm:cxn modelId="{58739663-B9C7-49DB-A690-FA7306463551}" type="presParOf" srcId="{F090C7ED-FF6D-44A7-96AE-1125F1930C22}" destId="{E07A4A59-F09D-447F-B219-A11B2AB9E7F5}" srcOrd="0" destOrd="0" presId="urn:microsoft.com/office/officeart/2008/layout/HorizontalMultiLevelHierarchy"/>
    <dgm:cxn modelId="{338CB672-ED02-4138-B1A0-757699627B49}" type="presParOf" srcId="{6D2F590B-B60A-4A33-AD02-C741E53CD19A}" destId="{97CD951A-90C7-4386-8771-A09805834F2B}" srcOrd="1" destOrd="0" presId="urn:microsoft.com/office/officeart/2008/layout/HorizontalMultiLevelHierarchy"/>
    <dgm:cxn modelId="{54511B72-B9D8-452E-AF6D-9C891C648A79}" type="presParOf" srcId="{97CD951A-90C7-4386-8771-A09805834F2B}" destId="{C0075F0F-82F5-47E4-93A3-AB8579E5F08D}" srcOrd="0" destOrd="0" presId="urn:microsoft.com/office/officeart/2008/layout/HorizontalMultiLevelHierarchy"/>
    <dgm:cxn modelId="{753E2F58-7C97-421F-B8B4-DD29973C7BD6}" type="presParOf" srcId="{97CD951A-90C7-4386-8771-A09805834F2B}" destId="{3C9E3195-C679-496D-84C0-4CBEB58DCF1B}" srcOrd="1" destOrd="0" presId="urn:microsoft.com/office/officeart/2008/layout/HorizontalMultiLevelHierarchy"/>
    <dgm:cxn modelId="{576F5BB9-1900-4E66-A609-2D75282681DE}" type="presParOf" srcId="{3C9E3195-C679-496D-84C0-4CBEB58DCF1B}" destId="{E2A994A0-CB69-42CC-86BB-E67C2688CF94}" srcOrd="0" destOrd="0" presId="urn:microsoft.com/office/officeart/2008/layout/HorizontalMultiLevelHierarchy"/>
    <dgm:cxn modelId="{2CEBB407-E48C-4AEF-84F2-D1B38294EE12}" type="presParOf" srcId="{E2A994A0-CB69-42CC-86BB-E67C2688CF94}" destId="{C8C0FB24-6CD0-4581-93C5-4F1193C2DEB3}" srcOrd="0" destOrd="0" presId="urn:microsoft.com/office/officeart/2008/layout/HorizontalMultiLevelHierarchy"/>
    <dgm:cxn modelId="{4A8BD5D3-E0D9-4B4A-854D-6330752EEE2C}" type="presParOf" srcId="{3C9E3195-C679-496D-84C0-4CBEB58DCF1B}" destId="{9983DB79-9EA5-4876-B19B-C28DFD8FD8E9}" srcOrd="1" destOrd="0" presId="urn:microsoft.com/office/officeart/2008/layout/HorizontalMultiLevelHierarchy"/>
    <dgm:cxn modelId="{CC0E7039-EBD8-4776-BF15-B7BCA732FD9E}" type="presParOf" srcId="{9983DB79-9EA5-4876-B19B-C28DFD8FD8E9}" destId="{8AE7FAFA-D21A-41E7-9ECD-86CDC4BC3130}" srcOrd="0" destOrd="0" presId="urn:microsoft.com/office/officeart/2008/layout/HorizontalMultiLevelHierarchy"/>
    <dgm:cxn modelId="{CAB78642-4481-476C-9881-F9D9A0DC9B18}" type="presParOf" srcId="{9983DB79-9EA5-4876-B19B-C28DFD8FD8E9}" destId="{CD9870C9-D3A5-4D42-A04E-B72EC8245E66}" srcOrd="1" destOrd="0" presId="urn:microsoft.com/office/officeart/2008/layout/HorizontalMultiLevelHierarchy"/>
    <dgm:cxn modelId="{409C2AEB-A14E-4217-A067-2819DD1E821D}" type="presParOf" srcId="{3C9E3195-C679-496D-84C0-4CBEB58DCF1B}" destId="{FAE838E4-0417-4BAF-8D21-5B11DC0CB238}" srcOrd="2" destOrd="0" presId="urn:microsoft.com/office/officeart/2008/layout/HorizontalMultiLevelHierarchy"/>
    <dgm:cxn modelId="{AEFA538E-AC55-4680-B319-3A44F746A124}" type="presParOf" srcId="{FAE838E4-0417-4BAF-8D21-5B11DC0CB238}" destId="{A946B4B7-B012-4B1D-A343-F7546044358A}" srcOrd="0" destOrd="0" presId="urn:microsoft.com/office/officeart/2008/layout/HorizontalMultiLevelHierarchy"/>
    <dgm:cxn modelId="{2FFA08FF-6252-4A12-B469-8C0F5739F6F5}" type="presParOf" srcId="{3C9E3195-C679-496D-84C0-4CBEB58DCF1B}" destId="{ED075D79-0C34-45A4-BB44-71BEA81A0E67}" srcOrd="3" destOrd="0" presId="urn:microsoft.com/office/officeart/2008/layout/HorizontalMultiLevelHierarchy"/>
    <dgm:cxn modelId="{18F9C286-6B27-41FC-9554-6351A32D3C65}" type="presParOf" srcId="{ED075D79-0C34-45A4-BB44-71BEA81A0E67}" destId="{AA5AF5DC-A5ED-453C-BDA6-E85F0793A842}" srcOrd="0" destOrd="0" presId="urn:microsoft.com/office/officeart/2008/layout/HorizontalMultiLevelHierarchy"/>
    <dgm:cxn modelId="{900FE8AB-6247-44D5-B8D8-92F3BF52A1A0}" type="presParOf" srcId="{ED075D79-0C34-45A4-BB44-71BEA81A0E67}" destId="{A053B05B-8CCB-4C6A-AF10-B992C21A59C3}" srcOrd="1" destOrd="0" presId="urn:microsoft.com/office/officeart/2008/layout/HorizontalMultiLevelHierarchy"/>
    <dgm:cxn modelId="{71C917FC-DAC0-4705-BD9D-80262AE7CF70}" type="presParOf" srcId="{6D2F590B-B60A-4A33-AD02-C741E53CD19A}" destId="{F9B24914-0D08-4005-B092-4EC2410E7ACF}" srcOrd="2" destOrd="0" presId="urn:microsoft.com/office/officeart/2008/layout/HorizontalMultiLevelHierarchy"/>
    <dgm:cxn modelId="{C3454C0D-4114-41B4-8A5F-AFCC2CA9BFE5}" type="presParOf" srcId="{F9B24914-0D08-4005-B092-4EC2410E7ACF}" destId="{73C23B51-10C8-42C0-81B3-7E9CA6B8BBD5}" srcOrd="0" destOrd="0" presId="urn:microsoft.com/office/officeart/2008/layout/HorizontalMultiLevelHierarchy"/>
    <dgm:cxn modelId="{A0AF161E-3FB5-49FE-9D08-5E808D0DCE51}" type="presParOf" srcId="{6D2F590B-B60A-4A33-AD02-C741E53CD19A}" destId="{F13D1939-AB12-428D-A50C-CAD62A6B598D}" srcOrd="3" destOrd="0" presId="urn:microsoft.com/office/officeart/2008/layout/HorizontalMultiLevelHierarchy"/>
    <dgm:cxn modelId="{FCB87D6C-BF0D-4498-9BE6-5FDA952BA3A3}" type="presParOf" srcId="{F13D1939-AB12-428D-A50C-CAD62A6B598D}" destId="{AFFD1705-B221-41D0-AF57-AEF004C444AB}" srcOrd="0" destOrd="0" presId="urn:microsoft.com/office/officeart/2008/layout/HorizontalMultiLevelHierarchy"/>
    <dgm:cxn modelId="{4E50E4C0-74E0-40C5-948D-60DD8EEA5527}" type="presParOf" srcId="{F13D1939-AB12-428D-A50C-CAD62A6B598D}" destId="{FBBEE36B-B730-4BB3-949A-1F78F3C3F308}" srcOrd="1" destOrd="0" presId="urn:microsoft.com/office/officeart/2008/layout/HorizontalMultiLevelHierarchy"/>
    <dgm:cxn modelId="{9F594775-7517-459F-8187-845DDAAE6981}" type="presParOf" srcId="{FBBEE36B-B730-4BB3-949A-1F78F3C3F308}" destId="{F81C79C1-5562-4E7C-8F2E-823364FF7379}" srcOrd="0" destOrd="0" presId="urn:microsoft.com/office/officeart/2008/layout/HorizontalMultiLevelHierarchy"/>
    <dgm:cxn modelId="{CC24232A-AFF9-42C2-8755-5AC0BDC392A7}" type="presParOf" srcId="{F81C79C1-5562-4E7C-8F2E-823364FF7379}" destId="{10228B8B-9504-45DC-B55E-2EFFA73C0CC2}" srcOrd="0" destOrd="0" presId="urn:microsoft.com/office/officeart/2008/layout/HorizontalMultiLevelHierarchy"/>
    <dgm:cxn modelId="{49F474A2-1C5A-40BF-A75A-372A454C3F4A}" type="presParOf" srcId="{FBBEE36B-B730-4BB3-949A-1F78F3C3F308}" destId="{EF2C76CE-46A0-4153-80C1-63925D776E2F}" srcOrd="1" destOrd="0" presId="urn:microsoft.com/office/officeart/2008/layout/HorizontalMultiLevelHierarchy"/>
    <dgm:cxn modelId="{8FDD1C13-67B0-4C54-AB0B-88C63FCEA3F1}" type="presParOf" srcId="{EF2C76CE-46A0-4153-80C1-63925D776E2F}" destId="{387FC131-BA0C-495C-BF4B-D486025861A0}" srcOrd="0" destOrd="0" presId="urn:microsoft.com/office/officeart/2008/layout/HorizontalMultiLevelHierarchy"/>
    <dgm:cxn modelId="{64C00D21-1104-4294-ACF2-F2F95A5769DE}" type="presParOf" srcId="{EF2C76CE-46A0-4153-80C1-63925D776E2F}" destId="{121D0498-895A-4E7C-9D8B-08E6973BE0E6}" srcOrd="1" destOrd="0" presId="urn:microsoft.com/office/officeart/2008/layout/HorizontalMultiLevelHierarchy"/>
    <dgm:cxn modelId="{42420BC8-35A1-48EC-8D37-D4BA74D49CF1}" type="presParOf" srcId="{FBBEE36B-B730-4BB3-949A-1F78F3C3F308}" destId="{78F0E319-5D56-4DE1-945B-49EF44F29885}" srcOrd="2" destOrd="0" presId="urn:microsoft.com/office/officeart/2008/layout/HorizontalMultiLevelHierarchy"/>
    <dgm:cxn modelId="{82B1D00A-F089-4849-9664-18373E73C18B}" type="presParOf" srcId="{78F0E319-5D56-4DE1-945B-49EF44F29885}" destId="{45B5DB19-C21A-45E7-B8DA-F1FD08BAB65D}" srcOrd="0" destOrd="0" presId="urn:microsoft.com/office/officeart/2008/layout/HorizontalMultiLevelHierarchy"/>
    <dgm:cxn modelId="{B71748EE-6B79-4AEB-9D76-80378F74E942}" type="presParOf" srcId="{FBBEE36B-B730-4BB3-949A-1F78F3C3F308}" destId="{FA75BA73-CCC3-44A4-AA0B-3889F9629ABF}" srcOrd="3" destOrd="0" presId="urn:microsoft.com/office/officeart/2008/layout/HorizontalMultiLevelHierarchy"/>
    <dgm:cxn modelId="{ECE7691E-D453-4AA8-8C02-D3AFFFF6B180}" type="presParOf" srcId="{FA75BA73-CCC3-44A4-AA0B-3889F9629ABF}" destId="{47957337-1CA5-4F88-9BE1-B4FFAFB9E110}" srcOrd="0" destOrd="0" presId="urn:microsoft.com/office/officeart/2008/layout/HorizontalMultiLevelHierarchy"/>
    <dgm:cxn modelId="{5DF393C9-7092-4EC9-8C27-7D6C144DD7EA}" type="presParOf" srcId="{FA75BA73-CCC3-44A4-AA0B-3889F9629ABF}" destId="{F2BE2E68-0D83-43E3-AFCA-4D049189CF47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5F82EAD-8636-4967-9F8D-7821DA48DC0E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BBB5D77-CA78-4E15-B64A-4FF58BA1CAD0}">
      <dgm:prSet phldrT="[Text]" custT="1"/>
      <dgm:spPr/>
      <dgm:t>
        <a:bodyPr/>
        <a:lstStyle/>
        <a:p>
          <a:r>
            <a:rPr lang="en-US" sz="2800" b="1" dirty="0" smtClean="0"/>
            <a:t>Bearer </a:t>
          </a:r>
          <a:r>
            <a:rPr lang="en-US" sz="2800" b="1" dirty="0" err="1" smtClean="0"/>
            <a:t>Cheque</a:t>
          </a:r>
          <a:endParaRPr lang="en-US" sz="2800" b="1" dirty="0"/>
        </a:p>
      </dgm:t>
    </dgm:pt>
    <dgm:pt modelId="{5CAC48B3-314A-4554-A12E-58319EEDEC53}" type="parTrans" cxnId="{34BAEE69-EE76-4C19-A883-34C3CC8B8124}">
      <dgm:prSet/>
      <dgm:spPr/>
      <dgm:t>
        <a:bodyPr/>
        <a:lstStyle/>
        <a:p>
          <a:endParaRPr lang="en-US"/>
        </a:p>
      </dgm:t>
    </dgm:pt>
    <dgm:pt modelId="{396978FE-D438-467E-BDAC-5D4D96D39223}" type="sibTrans" cxnId="{34BAEE69-EE76-4C19-A883-34C3CC8B8124}">
      <dgm:prSet/>
      <dgm:spPr/>
      <dgm:t>
        <a:bodyPr/>
        <a:lstStyle/>
        <a:p>
          <a:endParaRPr lang="en-US"/>
        </a:p>
      </dgm:t>
    </dgm:pt>
    <dgm:pt modelId="{89F2405D-1019-4BE9-8860-B1F7B306F8BF}">
      <dgm:prSet phldrT="[Text]" custT="1"/>
      <dgm:spPr/>
      <dgm:t>
        <a:bodyPr/>
        <a:lstStyle/>
        <a:p>
          <a:r>
            <a:rPr lang="en-US" sz="2800" dirty="0" smtClean="0"/>
            <a:t>Payment is made to the person bearing or carrying the </a:t>
          </a:r>
          <a:r>
            <a:rPr lang="en-US" sz="2800" dirty="0" err="1" smtClean="0"/>
            <a:t>cheque</a:t>
          </a:r>
          <a:r>
            <a:rPr lang="en-US" sz="2800" dirty="0" smtClean="0"/>
            <a:t>.</a:t>
          </a:r>
          <a:endParaRPr lang="en-US" sz="2800" dirty="0"/>
        </a:p>
      </dgm:t>
    </dgm:pt>
    <dgm:pt modelId="{42D33FD2-BE64-47FD-BC63-61EE7E6AF72A}" type="parTrans" cxnId="{D0019D45-77CC-4654-8A74-5DD92DBF1E17}">
      <dgm:prSet/>
      <dgm:spPr/>
      <dgm:t>
        <a:bodyPr/>
        <a:lstStyle/>
        <a:p>
          <a:endParaRPr lang="en-US"/>
        </a:p>
      </dgm:t>
    </dgm:pt>
    <dgm:pt modelId="{DA9D5CEC-F7BD-4460-AD32-9E80004ED2EF}" type="sibTrans" cxnId="{D0019D45-77CC-4654-8A74-5DD92DBF1E17}">
      <dgm:prSet/>
      <dgm:spPr/>
      <dgm:t>
        <a:bodyPr/>
        <a:lstStyle/>
        <a:p>
          <a:endParaRPr lang="en-US"/>
        </a:p>
      </dgm:t>
    </dgm:pt>
    <dgm:pt modelId="{07727CFB-E43A-4C64-A69B-791948A27F8E}">
      <dgm:prSet phldrT="[Text]" custT="1"/>
      <dgm:spPr/>
      <dgm:t>
        <a:bodyPr/>
        <a:lstStyle/>
        <a:p>
          <a:r>
            <a:rPr lang="en-US" sz="2800" b="1" dirty="0" smtClean="0"/>
            <a:t>Order </a:t>
          </a:r>
          <a:r>
            <a:rPr lang="en-US" sz="2800" b="1" dirty="0" err="1" smtClean="0"/>
            <a:t>Cheque</a:t>
          </a:r>
          <a:endParaRPr lang="en-US" sz="2800" b="1" dirty="0"/>
        </a:p>
      </dgm:t>
    </dgm:pt>
    <dgm:pt modelId="{EF2587FA-0BC9-4D8D-A15E-5D131D06276D}" type="parTrans" cxnId="{D5374380-C9BC-46B2-B95C-B2526C69BFBF}">
      <dgm:prSet/>
      <dgm:spPr/>
      <dgm:t>
        <a:bodyPr/>
        <a:lstStyle/>
        <a:p>
          <a:endParaRPr lang="en-US"/>
        </a:p>
      </dgm:t>
    </dgm:pt>
    <dgm:pt modelId="{FCC124AA-230A-461B-917E-61949A653826}" type="sibTrans" cxnId="{D5374380-C9BC-46B2-B95C-B2526C69BFBF}">
      <dgm:prSet/>
      <dgm:spPr/>
      <dgm:t>
        <a:bodyPr/>
        <a:lstStyle/>
        <a:p>
          <a:endParaRPr lang="en-US"/>
        </a:p>
      </dgm:t>
    </dgm:pt>
    <dgm:pt modelId="{426128BC-6CE2-4BDC-9938-A19373D8942E}">
      <dgm:prSet phldrT="[Text]" custT="1"/>
      <dgm:spPr/>
      <dgm:t>
        <a:bodyPr/>
        <a:lstStyle/>
        <a:p>
          <a:r>
            <a:rPr lang="en-US" sz="2800" dirty="0" smtClean="0"/>
            <a:t>Payment to the person </a:t>
          </a:r>
          <a:r>
            <a:rPr lang="en-US" sz="2800" dirty="0" err="1" smtClean="0"/>
            <a:t>whoes</a:t>
          </a:r>
          <a:r>
            <a:rPr lang="en-US" sz="2800" dirty="0" smtClean="0"/>
            <a:t> name is mentioned.</a:t>
          </a:r>
          <a:endParaRPr lang="en-US" sz="2800" dirty="0"/>
        </a:p>
      </dgm:t>
    </dgm:pt>
    <dgm:pt modelId="{FC24C7EE-0740-48E9-8132-8B043CC908D5}" type="parTrans" cxnId="{8CDDC09B-9AA2-4FB2-B191-D64086AC7574}">
      <dgm:prSet/>
      <dgm:spPr/>
      <dgm:t>
        <a:bodyPr/>
        <a:lstStyle/>
        <a:p>
          <a:endParaRPr lang="en-US"/>
        </a:p>
      </dgm:t>
    </dgm:pt>
    <dgm:pt modelId="{1A183D5E-71FD-42EA-8DD4-9F2F0BE13FD8}" type="sibTrans" cxnId="{8CDDC09B-9AA2-4FB2-B191-D64086AC7574}">
      <dgm:prSet/>
      <dgm:spPr/>
      <dgm:t>
        <a:bodyPr/>
        <a:lstStyle/>
        <a:p>
          <a:endParaRPr lang="en-US"/>
        </a:p>
      </dgm:t>
    </dgm:pt>
    <dgm:pt modelId="{32DD7BD6-1A81-41ED-9C48-28E6F66FF895}">
      <dgm:prSet phldrT="[Text]" custT="1"/>
      <dgm:spPr/>
      <dgm:t>
        <a:bodyPr/>
        <a:lstStyle/>
        <a:p>
          <a:r>
            <a:rPr lang="en-US" sz="2800" dirty="0" smtClean="0"/>
            <a:t>Bank will do background check to authenticate the identity.</a:t>
          </a:r>
          <a:endParaRPr lang="en-US" sz="2800" dirty="0"/>
        </a:p>
      </dgm:t>
    </dgm:pt>
    <dgm:pt modelId="{F3E071E6-5C3E-4E3F-925D-09208AF7A77F}" type="parTrans" cxnId="{623E0B0B-8CBE-4055-B3D6-9EB0D255403E}">
      <dgm:prSet/>
      <dgm:spPr/>
      <dgm:t>
        <a:bodyPr/>
        <a:lstStyle/>
        <a:p>
          <a:endParaRPr lang="en-US"/>
        </a:p>
      </dgm:t>
    </dgm:pt>
    <dgm:pt modelId="{4E63C4E0-7CB0-4F75-8074-64B07B819A07}" type="sibTrans" cxnId="{623E0B0B-8CBE-4055-B3D6-9EB0D255403E}">
      <dgm:prSet/>
      <dgm:spPr/>
      <dgm:t>
        <a:bodyPr/>
        <a:lstStyle/>
        <a:p>
          <a:endParaRPr lang="en-US"/>
        </a:p>
      </dgm:t>
    </dgm:pt>
    <dgm:pt modelId="{CB3A0450-34B8-426A-81EE-7C7D6FD4162B}">
      <dgm:prSet phldrT="[Text]" custT="1"/>
      <dgm:spPr/>
      <dgm:t>
        <a:bodyPr/>
        <a:lstStyle/>
        <a:p>
          <a:r>
            <a:rPr lang="en-US" sz="2800" dirty="0" smtClean="0"/>
            <a:t>Does not require the payee’s name to be written on it.</a:t>
          </a:r>
          <a:endParaRPr lang="en-US" sz="2800" dirty="0"/>
        </a:p>
      </dgm:t>
    </dgm:pt>
    <dgm:pt modelId="{9F7B6BD6-3DD6-440E-BD06-14448E9DC9FE}" type="parTrans" cxnId="{BDDD1981-08DE-4FB1-91D2-EA8C50E2D7BB}">
      <dgm:prSet/>
      <dgm:spPr/>
      <dgm:t>
        <a:bodyPr/>
        <a:lstStyle/>
        <a:p>
          <a:endParaRPr lang="en-US"/>
        </a:p>
      </dgm:t>
    </dgm:pt>
    <dgm:pt modelId="{2095D052-6EC3-414D-AA77-A41E01C984A9}" type="sibTrans" cxnId="{BDDD1981-08DE-4FB1-91D2-EA8C50E2D7BB}">
      <dgm:prSet/>
      <dgm:spPr/>
      <dgm:t>
        <a:bodyPr/>
        <a:lstStyle/>
        <a:p>
          <a:endParaRPr lang="en-US"/>
        </a:p>
      </dgm:t>
    </dgm:pt>
    <dgm:pt modelId="{BF64973E-4480-412F-BB81-D7501D544838}">
      <dgm:prSet phldrT="[Text]" custT="1"/>
      <dgm:spPr/>
      <dgm:t>
        <a:bodyPr/>
        <a:lstStyle/>
        <a:p>
          <a:r>
            <a:rPr lang="en-US" sz="2800" dirty="0" smtClean="0"/>
            <a:t>Payment in the form of cash.</a:t>
          </a:r>
          <a:endParaRPr lang="en-US" sz="2800" dirty="0"/>
        </a:p>
      </dgm:t>
    </dgm:pt>
    <dgm:pt modelId="{4F33C51B-9506-4ADE-8281-7A93A3677939}" type="parTrans" cxnId="{C2217314-254A-46A9-A60C-31289A3462ED}">
      <dgm:prSet/>
      <dgm:spPr/>
      <dgm:t>
        <a:bodyPr/>
        <a:lstStyle/>
        <a:p>
          <a:endParaRPr lang="en-US"/>
        </a:p>
      </dgm:t>
    </dgm:pt>
    <dgm:pt modelId="{1B96B44D-F5AA-4D2E-A84A-297A4A7827D1}" type="sibTrans" cxnId="{C2217314-254A-46A9-A60C-31289A3462ED}">
      <dgm:prSet/>
      <dgm:spPr/>
      <dgm:t>
        <a:bodyPr/>
        <a:lstStyle/>
        <a:p>
          <a:endParaRPr lang="en-US"/>
        </a:p>
      </dgm:t>
    </dgm:pt>
    <dgm:pt modelId="{09F0497B-7E78-4A06-AE6A-7155A99A02E8}">
      <dgm:prSet phldrT="[Text]" custT="1"/>
      <dgm:spPr/>
      <dgm:t>
        <a:bodyPr/>
        <a:lstStyle/>
        <a:p>
          <a:r>
            <a:rPr lang="en-US" sz="2800" dirty="0" smtClean="0"/>
            <a:t>Payment in the form of cash or account transfer.</a:t>
          </a:r>
          <a:endParaRPr lang="en-US" sz="2800" dirty="0"/>
        </a:p>
      </dgm:t>
    </dgm:pt>
    <dgm:pt modelId="{FDA3C832-AC40-40EB-B82B-7712D76683A2}" type="parTrans" cxnId="{C7F23660-A810-4F9A-A2A7-68A8F0B75EC1}">
      <dgm:prSet/>
      <dgm:spPr/>
      <dgm:t>
        <a:bodyPr/>
        <a:lstStyle/>
        <a:p>
          <a:endParaRPr lang="en-US"/>
        </a:p>
      </dgm:t>
    </dgm:pt>
    <dgm:pt modelId="{37E64216-5AF8-47BE-81B9-68531E26D151}" type="sibTrans" cxnId="{C7F23660-A810-4F9A-A2A7-68A8F0B75EC1}">
      <dgm:prSet/>
      <dgm:spPr/>
      <dgm:t>
        <a:bodyPr/>
        <a:lstStyle/>
        <a:p>
          <a:endParaRPr lang="en-US"/>
        </a:p>
      </dgm:t>
    </dgm:pt>
    <dgm:pt modelId="{49EBC293-72BF-4F1D-A924-4A519497A04E}">
      <dgm:prSet phldrT="[Text]" custT="1"/>
      <dgm:spPr/>
      <dgm:t>
        <a:bodyPr/>
        <a:lstStyle/>
        <a:p>
          <a:r>
            <a:rPr lang="en-US" sz="2800" b="1" dirty="0" smtClean="0"/>
            <a:t>Crossed </a:t>
          </a:r>
          <a:r>
            <a:rPr lang="en-US" sz="2800" b="1" dirty="0" err="1" smtClean="0"/>
            <a:t>Cheque</a:t>
          </a:r>
          <a:endParaRPr lang="en-US" sz="2800" b="1" dirty="0"/>
        </a:p>
      </dgm:t>
    </dgm:pt>
    <dgm:pt modelId="{899AEFD0-FD0E-4BF5-9353-789A2DC88CFA}" type="parTrans" cxnId="{2B0CD343-84B4-4051-ABB2-2587FA604A5D}">
      <dgm:prSet/>
      <dgm:spPr/>
      <dgm:t>
        <a:bodyPr/>
        <a:lstStyle/>
        <a:p>
          <a:endParaRPr lang="en-US"/>
        </a:p>
      </dgm:t>
    </dgm:pt>
    <dgm:pt modelId="{577D12E2-1C83-40F2-AF35-280EA86AD4D8}" type="sibTrans" cxnId="{2B0CD343-84B4-4051-ABB2-2587FA604A5D}">
      <dgm:prSet/>
      <dgm:spPr/>
      <dgm:t>
        <a:bodyPr/>
        <a:lstStyle/>
        <a:p>
          <a:endParaRPr lang="en-US"/>
        </a:p>
      </dgm:t>
    </dgm:pt>
    <dgm:pt modelId="{A8FFDC39-1801-4057-8885-3F67646903E0}">
      <dgm:prSet phldrT="[Text]" custT="1"/>
      <dgm:spPr/>
      <dgm:t>
        <a:bodyPr/>
        <a:lstStyle/>
        <a:p>
          <a:r>
            <a:rPr lang="en-US" sz="2800" dirty="0" smtClean="0"/>
            <a:t>Two parallel lines on the top left corner.</a:t>
          </a:r>
          <a:endParaRPr lang="en-US" sz="2800" dirty="0"/>
        </a:p>
      </dgm:t>
    </dgm:pt>
    <dgm:pt modelId="{F9F39C4F-1DCD-4E89-A12B-515D40E5A389}" type="parTrans" cxnId="{0893635C-F380-49D8-A2AC-F4AE98688FA8}">
      <dgm:prSet/>
      <dgm:spPr/>
      <dgm:t>
        <a:bodyPr/>
        <a:lstStyle/>
        <a:p>
          <a:endParaRPr lang="en-US"/>
        </a:p>
      </dgm:t>
    </dgm:pt>
    <dgm:pt modelId="{47477670-624B-4148-8AE5-7CF43CE3B997}" type="sibTrans" cxnId="{0893635C-F380-49D8-A2AC-F4AE98688FA8}">
      <dgm:prSet/>
      <dgm:spPr/>
      <dgm:t>
        <a:bodyPr/>
        <a:lstStyle/>
        <a:p>
          <a:endParaRPr lang="en-US"/>
        </a:p>
      </dgm:t>
    </dgm:pt>
    <dgm:pt modelId="{9BF93E43-C111-41CF-B46F-D7DD3E8A506B}">
      <dgm:prSet phldrT="[Text]" custT="1"/>
      <dgm:spPr/>
      <dgm:t>
        <a:bodyPr/>
        <a:lstStyle/>
        <a:p>
          <a:r>
            <a:rPr lang="en-US" sz="2800" dirty="0" smtClean="0"/>
            <a:t>It can only be deposited directly in to bank account.</a:t>
          </a:r>
          <a:endParaRPr lang="en-US" sz="2800" dirty="0"/>
        </a:p>
      </dgm:t>
    </dgm:pt>
    <dgm:pt modelId="{84D20248-4038-4DD5-9CFB-1AE589328211}" type="parTrans" cxnId="{ED3A4498-1CA5-409E-99E9-1BA7AD16C7BC}">
      <dgm:prSet/>
      <dgm:spPr/>
      <dgm:t>
        <a:bodyPr/>
        <a:lstStyle/>
        <a:p>
          <a:endParaRPr lang="en-US"/>
        </a:p>
      </dgm:t>
    </dgm:pt>
    <dgm:pt modelId="{6554D6C1-BB15-42CC-A6A0-A67CD0D60E5A}" type="sibTrans" cxnId="{ED3A4498-1CA5-409E-99E9-1BA7AD16C7BC}">
      <dgm:prSet/>
      <dgm:spPr/>
      <dgm:t>
        <a:bodyPr/>
        <a:lstStyle/>
        <a:p>
          <a:endParaRPr lang="en-US"/>
        </a:p>
      </dgm:t>
    </dgm:pt>
    <dgm:pt modelId="{7CE563AF-CDF1-4E9D-8B5F-4F054948F53B}" type="pres">
      <dgm:prSet presAssocID="{55F82EAD-8636-4967-9F8D-7821DA48DC0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60D80C8-8850-4FAE-B63B-D5964DD3695E}" type="pres">
      <dgm:prSet presAssocID="{0BBB5D77-CA78-4E15-B64A-4FF58BA1CAD0}" presName="linNode" presStyleCnt="0"/>
      <dgm:spPr/>
    </dgm:pt>
    <dgm:pt modelId="{D462FB03-E15D-4A9B-B0D8-C19CA7918D43}" type="pres">
      <dgm:prSet presAssocID="{0BBB5D77-CA78-4E15-B64A-4FF58BA1CAD0}" presName="parentText" presStyleLbl="node1" presStyleIdx="0" presStyleCnt="3" custScaleX="5358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229DF9-6C5F-458B-AEBC-3B6AA09B7B7B}" type="pres">
      <dgm:prSet presAssocID="{0BBB5D77-CA78-4E15-B64A-4FF58BA1CAD0}" presName="descendantText" presStyleLbl="alignAccFollowNode1" presStyleIdx="0" presStyleCnt="3" custScaleX="15784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872501-ED07-4F8F-95B4-DFBEDC4028E2}" type="pres">
      <dgm:prSet presAssocID="{396978FE-D438-467E-BDAC-5D4D96D39223}" presName="sp" presStyleCnt="0"/>
      <dgm:spPr/>
    </dgm:pt>
    <dgm:pt modelId="{6A2A7A94-A524-432F-8E51-9D534FF0D619}" type="pres">
      <dgm:prSet presAssocID="{07727CFB-E43A-4C64-A69B-791948A27F8E}" presName="linNode" presStyleCnt="0"/>
      <dgm:spPr/>
    </dgm:pt>
    <dgm:pt modelId="{B055BBDF-CD66-4860-809F-C555B45AFD69}" type="pres">
      <dgm:prSet presAssocID="{07727CFB-E43A-4C64-A69B-791948A27F8E}" presName="parentText" presStyleLbl="node1" presStyleIdx="1" presStyleCnt="3" custScaleX="5358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1AFD3B-16F4-4FFC-8DF9-F7692054684E}" type="pres">
      <dgm:prSet presAssocID="{07727CFB-E43A-4C64-A69B-791948A27F8E}" presName="descendantText" presStyleLbl="alignAccFollowNode1" presStyleIdx="1" presStyleCnt="3" custScaleX="15784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D8426A-3015-4FC6-A3CC-53328E9B427C}" type="pres">
      <dgm:prSet presAssocID="{FCC124AA-230A-461B-917E-61949A653826}" presName="sp" presStyleCnt="0"/>
      <dgm:spPr/>
    </dgm:pt>
    <dgm:pt modelId="{C321E5E9-259F-4766-B890-A26A0EA6213D}" type="pres">
      <dgm:prSet presAssocID="{49EBC293-72BF-4F1D-A924-4A519497A04E}" presName="linNode" presStyleCnt="0"/>
      <dgm:spPr/>
    </dgm:pt>
    <dgm:pt modelId="{4EA86636-5CE1-471E-98B5-A8FD7E0FC176}" type="pres">
      <dgm:prSet presAssocID="{49EBC293-72BF-4F1D-A924-4A519497A04E}" presName="parentText" presStyleLbl="node1" presStyleIdx="2" presStyleCnt="3" custScaleX="5358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0C9E11-AC89-43A5-9B62-6C2D69BEBF5F}" type="pres">
      <dgm:prSet presAssocID="{49EBC293-72BF-4F1D-A924-4A519497A04E}" presName="descendantText" presStyleLbl="alignAccFollowNode1" presStyleIdx="2" presStyleCnt="3" custScaleX="15784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4BAEE69-EE76-4C19-A883-34C3CC8B8124}" srcId="{55F82EAD-8636-4967-9F8D-7821DA48DC0E}" destId="{0BBB5D77-CA78-4E15-B64A-4FF58BA1CAD0}" srcOrd="0" destOrd="0" parTransId="{5CAC48B3-314A-4554-A12E-58319EEDEC53}" sibTransId="{396978FE-D438-467E-BDAC-5D4D96D39223}"/>
    <dgm:cxn modelId="{C2217314-254A-46A9-A60C-31289A3462ED}" srcId="{0BBB5D77-CA78-4E15-B64A-4FF58BA1CAD0}" destId="{BF64973E-4480-412F-BB81-D7501D544838}" srcOrd="2" destOrd="0" parTransId="{4F33C51B-9506-4ADE-8281-7A93A3677939}" sibTransId="{1B96B44D-F5AA-4D2E-A84A-297A4A7827D1}"/>
    <dgm:cxn modelId="{8E2858D2-9C87-48F1-AE9E-9C53084C1520}" type="presOf" srcId="{A8FFDC39-1801-4057-8885-3F67646903E0}" destId="{120C9E11-AC89-43A5-9B62-6C2D69BEBF5F}" srcOrd="0" destOrd="0" presId="urn:microsoft.com/office/officeart/2005/8/layout/vList5"/>
    <dgm:cxn modelId="{03A039BF-4E76-4A42-8A21-C12635C53EC5}" type="presOf" srcId="{9BF93E43-C111-41CF-B46F-D7DD3E8A506B}" destId="{120C9E11-AC89-43A5-9B62-6C2D69BEBF5F}" srcOrd="0" destOrd="1" presId="urn:microsoft.com/office/officeart/2005/8/layout/vList5"/>
    <dgm:cxn modelId="{8CDDC09B-9AA2-4FB2-B191-D64086AC7574}" srcId="{07727CFB-E43A-4C64-A69B-791948A27F8E}" destId="{426128BC-6CE2-4BDC-9938-A19373D8942E}" srcOrd="0" destOrd="0" parTransId="{FC24C7EE-0740-48E9-8132-8B043CC908D5}" sibTransId="{1A183D5E-71FD-42EA-8DD4-9F2F0BE13FD8}"/>
    <dgm:cxn modelId="{C7F23660-A810-4F9A-A2A7-68A8F0B75EC1}" srcId="{07727CFB-E43A-4C64-A69B-791948A27F8E}" destId="{09F0497B-7E78-4A06-AE6A-7155A99A02E8}" srcOrd="2" destOrd="0" parTransId="{FDA3C832-AC40-40EB-B82B-7712D76683A2}" sibTransId="{37E64216-5AF8-47BE-81B9-68531E26D151}"/>
    <dgm:cxn modelId="{BDDD1981-08DE-4FB1-91D2-EA8C50E2D7BB}" srcId="{0BBB5D77-CA78-4E15-B64A-4FF58BA1CAD0}" destId="{CB3A0450-34B8-426A-81EE-7C7D6FD4162B}" srcOrd="1" destOrd="0" parTransId="{9F7B6BD6-3DD6-440E-BD06-14448E9DC9FE}" sibTransId="{2095D052-6EC3-414D-AA77-A41E01C984A9}"/>
    <dgm:cxn modelId="{623E0B0B-8CBE-4055-B3D6-9EB0D255403E}" srcId="{07727CFB-E43A-4C64-A69B-791948A27F8E}" destId="{32DD7BD6-1A81-41ED-9C48-28E6F66FF895}" srcOrd="1" destOrd="0" parTransId="{F3E071E6-5C3E-4E3F-925D-09208AF7A77F}" sibTransId="{4E63C4E0-7CB0-4F75-8074-64B07B819A07}"/>
    <dgm:cxn modelId="{968EC3B0-E876-4621-8E66-411DC0BDC2F3}" type="presOf" srcId="{89F2405D-1019-4BE9-8860-B1F7B306F8BF}" destId="{97229DF9-6C5F-458B-AEBC-3B6AA09B7B7B}" srcOrd="0" destOrd="0" presId="urn:microsoft.com/office/officeart/2005/8/layout/vList5"/>
    <dgm:cxn modelId="{D5374380-C9BC-46B2-B95C-B2526C69BFBF}" srcId="{55F82EAD-8636-4967-9F8D-7821DA48DC0E}" destId="{07727CFB-E43A-4C64-A69B-791948A27F8E}" srcOrd="1" destOrd="0" parTransId="{EF2587FA-0BC9-4D8D-A15E-5D131D06276D}" sibTransId="{FCC124AA-230A-461B-917E-61949A653826}"/>
    <dgm:cxn modelId="{20EB6736-8957-4FFE-BFDE-4B9C98EEAF43}" type="presOf" srcId="{CB3A0450-34B8-426A-81EE-7C7D6FD4162B}" destId="{97229DF9-6C5F-458B-AEBC-3B6AA09B7B7B}" srcOrd="0" destOrd="1" presId="urn:microsoft.com/office/officeart/2005/8/layout/vList5"/>
    <dgm:cxn modelId="{5A1C2CF2-0E55-48EC-B27F-76F42F4C3D20}" type="presOf" srcId="{07727CFB-E43A-4C64-A69B-791948A27F8E}" destId="{B055BBDF-CD66-4860-809F-C555B45AFD69}" srcOrd="0" destOrd="0" presId="urn:microsoft.com/office/officeart/2005/8/layout/vList5"/>
    <dgm:cxn modelId="{17D44158-07DD-4A7D-AA38-AD29B4132ECE}" type="presOf" srcId="{32DD7BD6-1A81-41ED-9C48-28E6F66FF895}" destId="{A01AFD3B-16F4-4FFC-8DF9-F7692054684E}" srcOrd="0" destOrd="1" presId="urn:microsoft.com/office/officeart/2005/8/layout/vList5"/>
    <dgm:cxn modelId="{0AD39BFE-7E21-4CE5-B426-380F941D09E8}" type="presOf" srcId="{BF64973E-4480-412F-BB81-D7501D544838}" destId="{97229DF9-6C5F-458B-AEBC-3B6AA09B7B7B}" srcOrd="0" destOrd="2" presId="urn:microsoft.com/office/officeart/2005/8/layout/vList5"/>
    <dgm:cxn modelId="{ED3A4498-1CA5-409E-99E9-1BA7AD16C7BC}" srcId="{49EBC293-72BF-4F1D-A924-4A519497A04E}" destId="{9BF93E43-C111-41CF-B46F-D7DD3E8A506B}" srcOrd="1" destOrd="0" parTransId="{84D20248-4038-4DD5-9CFB-1AE589328211}" sibTransId="{6554D6C1-BB15-42CC-A6A0-A67CD0D60E5A}"/>
    <dgm:cxn modelId="{D0019D45-77CC-4654-8A74-5DD92DBF1E17}" srcId="{0BBB5D77-CA78-4E15-B64A-4FF58BA1CAD0}" destId="{89F2405D-1019-4BE9-8860-B1F7B306F8BF}" srcOrd="0" destOrd="0" parTransId="{42D33FD2-BE64-47FD-BC63-61EE7E6AF72A}" sibTransId="{DA9D5CEC-F7BD-4460-AD32-9E80004ED2EF}"/>
    <dgm:cxn modelId="{A8ED57AB-843F-45B7-8549-9938206F4B3D}" type="presOf" srcId="{55F82EAD-8636-4967-9F8D-7821DA48DC0E}" destId="{7CE563AF-CDF1-4E9D-8B5F-4F054948F53B}" srcOrd="0" destOrd="0" presId="urn:microsoft.com/office/officeart/2005/8/layout/vList5"/>
    <dgm:cxn modelId="{0893635C-F380-49D8-A2AC-F4AE98688FA8}" srcId="{49EBC293-72BF-4F1D-A924-4A519497A04E}" destId="{A8FFDC39-1801-4057-8885-3F67646903E0}" srcOrd="0" destOrd="0" parTransId="{F9F39C4F-1DCD-4E89-A12B-515D40E5A389}" sibTransId="{47477670-624B-4148-8AE5-7CF43CE3B997}"/>
    <dgm:cxn modelId="{F78C6A1A-F51A-4EEE-9F45-CD794128BE8C}" type="presOf" srcId="{49EBC293-72BF-4F1D-A924-4A519497A04E}" destId="{4EA86636-5CE1-471E-98B5-A8FD7E0FC176}" srcOrd="0" destOrd="0" presId="urn:microsoft.com/office/officeart/2005/8/layout/vList5"/>
    <dgm:cxn modelId="{2B0CD343-84B4-4051-ABB2-2587FA604A5D}" srcId="{55F82EAD-8636-4967-9F8D-7821DA48DC0E}" destId="{49EBC293-72BF-4F1D-A924-4A519497A04E}" srcOrd="2" destOrd="0" parTransId="{899AEFD0-FD0E-4BF5-9353-789A2DC88CFA}" sibTransId="{577D12E2-1C83-40F2-AF35-280EA86AD4D8}"/>
    <dgm:cxn modelId="{C356351D-04BD-4908-A5D0-AE6EBA9747A2}" type="presOf" srcId="{09F0497B-7E78-4A06-AE6A-7155A99A02E8}" destId="{A01AFD3B-16F4-4FFC-8DF9-F7692054684E}" srcOrd="0" destOrd="2" presId="urn:microsoft.com/office/officeart/2005/8/layout/vList5"/>
    <dgm:cxn modelId="{151EE6A2-6061-4596-8915-52E49DC96D25}" type="presOf" srcId="{426128BC-6CE2-4BDC-9938-A19373D8942E}" destId="{A01AFD3B-16F4-4FFC-8DF9-F7692054684E}" srcOrd="0" destOrd="0" presId="urn:microsoft.com/office/officeart/2005/8/layout/vList5"/>
    <dgm:cxn modelId="{F5B0BFD9-E7BE-4EFB-87C0-80506F3F042B}" type="presOf" srcId="{0BBB5D77-CA78-4E15-B64A-4FF58BA1CAD0}" destId="{D462FB03-E15D-4A9B-B0D8-C19CA7918D43}" srcOrd="0" destOrd="0" presId="urn:microsoft.com/office/officeart/2005/8/layout/vList5"/>
    <dgm:cxn modelId="{D8980C9F-7BFF-4A83-8770-6AD9F6A55233}" type="presParOf" srcId="{7CE563AF-CDF1-4E9D-8B5F-4F054948F53B}" destId="{960D80C8-8850-4FAE-B63B-D5964DD3695E}" srcOrd="0" destOrd="0" presId="urn:microsoft.com/office/officeart/2005/8/layout/vList5"/>
    <dgm:cxn modelId="{568A7973-18AA-4BDB-940F-879C372FFCDD}" type="presParOf" srcId="{960D80C8-8850-4FAE-B63B-D5964DD3695E}" destId="{D462FB03-E15D-4A9B-B0D8-C19CA7918D43}" srcOrd="0" destOrd="0" presId="urn:microsoft.com/office/officeart/2005/8/layout/vList5"/>
    <dgm:cxn modelId="{18D5B5B2-5916-49E5-8A87-25C980A99E96}" type="presParOf" srcId="{960D80C8-8850-4FAE-B63B-D5964DD3695E}" destId="{97229DF9-6C5F-458B-AEBC-3B6AA09B7B7B}" srcOrd="1" destOrd="0" presId="urn:microsoft.com/office/officeart/2005/8/layout/vList5"/>
    <dgm:cxn modelId="{44425A01-52B7-47CB-A2CB-EF82BEE444E1}" type="presParOf" srcId="{7CE563AF-CDF1-4E9D-8B5F-4F054948F53B}" destId="{E0872501-ED07-4F8F-95B4-DFBEDC4028E2}" srcOrd="1" destOrd="0" presId="urn:microsoft.com/office/officeart/2005/8/layout/vList5"/>
    <dgm:cxn modelId="{4864BE4A-FFD8-4321-9333-A86539C4A6CA}" type="presParOf" srcId="{7CE563AF-CDF1-4E9D-8B5F-4F054948F53B}" destId="{6A2A7A94-A524-432F-8E51-9D534FF0D619}" srcOrd="2" destOrd="0" presId="urn:microsoft.com/office/officeart/2005/8/layout/vList5"/>
    <dgm:cxn modelId="{A103E1AA-0D48-4DAA-838D-BEC734E3E54F}" type="presParOf" srcId="{6A2A7A94-A524-432F-8E51-9D534FF0D619}" destId="{B055BBDF-CD66-4860-809F-C555B45AFD69}" srcOrd="0" destOrd="0" presId="urn:microsoft.com/office/officeart/2005/8/layout/vList5"/>
    <dgm:cxn modelId="{C60EAB26-5AA3-49E5-BBBF-C47289EE4026}" type="presParOf" srcId="{6A2A7A94-A524-432F-8E51-9D534FF0D619}" destId="{A01AFD3B-16F4-4FFC-8DF9-F7692054684E}" srcOrd="1" destOrd="0" presId="urn:microsoft.com/office/officeart/2005/8/layout/vList5"/>
    <dgm:cxn modelId="{450125B3-3261-4D95-8426-9E5CF864E489}" type="presParOf" srcId="{7CE563AF-CDF1-4E9D-8B5F-4F054948F53B}" destId="{F4D8426A-3015-4FC6-A3CC-53328E9B427C}" srcOrd="3" destOrd="0" presId="urn:microsoft.com/office/officeart/2005/8/layout/vList5"/>
    <dgm:cxn modelId="{E612E874-6D48-4655-8320-9E6B284D5441}" type="presParOf" srcId="{7CE563AF-CDF1-4E9D-8B5F-4F054948F53B}" destId="{C321E5E9-259F-4766-B890-A26A0EA6213D}" srcOrd="4" destOrd="0" presId="urn:microsoft.com/office/officeart/2005/8/layout/vList5"/>
    <dgm:cxn modelId="{E8EF5112-3B9F-40B1-AEDB-E4C4908F5CB8}" type="presParOf" srcId="{C321E5E9-259F-4766-B890-A26A0EA6213D}" destId="{4EA86636-5CE1-471E-98B5-A8FD7E0FC176}" srcOrd="0" destOrd="0" presId="urn:microsoft.com/office/officeart/2005/8/layout/vList5"/>
    <dgm:cxn modelId="{9CB74ECC-74CB-43B7-A2CF-04961A9C9582}" type="presParOf" srcId="{C321E5E9-259F-4766-B890-A26A0EA6213D}" destId="{120C9E11-AC89-43A5-9B62-6C2D69BEBF5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5F82EAD-8636-4967-9F8D-7821DA48DC0E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BBB5D77-CA78-4E15-B64A-4FF58BA1CAD0}">
      <dgm:prSet phldrT="[Text]" custT="1"/>
      <dgm:spPr/>
      <dgm:t>
        <a:bodyPr/>
        <a:lstStyle/>
        <a:p>
          <a:r>
            <a:rPr lang="en-US" sz="2800" b="1" dirty="0" smtClean="0"/>
            <a:t>Open </a:t>
          </a:r>
          <a:r>
            <a:rPr lang="en-US" sz="2800" b="1" dirty="0" err="1" smtClean="0"/>
            <a:t>Cheque</a:t>
          </a:r>
          <a:endParaRPr lang="en-US" sz="2800" b="1" dirty="0"/>
        </a:p>
      </dgm:t>
    </dgm:pt>
    <dgm:pt modelId="{5CAC48B3-314A-4554-A12E-58319EEDEC53}" type="parTrans" cxnId="{34BAEE69-EE76-4C19-A883-34C3CC8B8124}">
      <dgm:prSet/>
      <dgm:spPr/>
      <dgm:t>
        <a:bodyPr/>
        <a:lstStyle/>
        <a:p>
          <a:endParaRPr lang="en-US"/>
        </a:p>
      </dgm:t>
    </dgm:pt>
    <dgm:pt modelId="{396978FE-D438-467E-BDAC-5D4D96D39223}" type="sibTrans" cxnId="{34BAEE69-EE76-4C19-A883-34C3CC8B8124}">
      <dgm:prSet/>
      <dgm:spPr/>
      <dgm:t>
        <a:bodyPr/>
        <a:lstStyle/>
        <a:p>
          <a:endParaRPr lang="en-US"/>
        </a:p>
      </dgm:t>
    </dgm:pt>
    <dgm:pt modelId="{89F2405D-1019-4BE9-8860-B1F7B306F8BF}">
      <dgm:prSet phldrT="[Text]" custT="1"/>
      <dgm:spPr/>
      <dgm:t>
        <a:bodyPr/>
        <a:lstStyle/>
        <a:p>
          <a:r>
            <a:rPr lang="en-US" sz="2800" dirty="0" smtClean="0"/>
            <a:t>Not Crossed.</a:t>
          </a:r>
          <a:endParaRPr lang="en-US" sz="2800" dirty="0"/>
        </a:p>
      </dgm:t>
    </dgm:pt>
    <dgm:pt modelId="{42D33FD2-BE64-47FD-BC63-61EE7E6AF72A}" type="parTrans" cxnId="{D0019D45-77CC-4654-8A74-5DD92DBF1E17}">
      <dgm:prSet/>
      <dgm:spPr/>
      <dgm:t>
        <a:bodyPr/>
        <a:lstStyle/>
        <a:p>
          <a:endParaRPr lang="en-US"/>
        </a:p>
      </dgm:t>
    </dgm:pt>
    <dgm:pt modelId="{DA9D5CEC-F7BD-4460-AD32-9E80004ED2EF}" type="sibTrans" cxnId="{D0019D45-77CC-4654-8A74-5DD92DBF1E17}">
      <dgm:prSet/>
      <dgm:spPr/>
      <dgm:t>
        <a:bodyPr/>
        <a:lstStyle/>
        <a:p>
          <a:endParaRPr lang="en-US"/>
        </a:p>
      </dgm:t>
    </dgm:pt>
    <dgm:pt modelId="{07727CFB-E43A-4C64-A69B-791948A27F8E}">
      <dgm:prSet phldrT="[Text]" custT="1"/>
      <dgm:spPr/>
      <dgm:t>
        <a:bodyPr/>
        <a:lstStyle/>
        <a:p>
          <a:r>
            <a:rPr lang="en-US" sz="2800" b="1" dirty="0" smtClean="0"/>
            <a:t>Post dated </a:t>
          </a:r>
          <a:r>
            <a:rPr lang="en-US" sz="2800" b="1" dirty="0" err="1" smtClean="0"/>
            <a:t>Cheque</a:t>
          </a:r>
          <a:endParaRPr lang="en-US" sz="2800" b="1" dirty="0"/>
        </a:p>
      </dgm:t>
    </dgm:pt>
    <dgm:pt modelId="{EF2587FA-0BC9-4D8D-A15E-5D131D06276D}" type="parTrans" cxnId="{D5374380-C9BC-46B2-B95C-B2526C69BFBF}">
      <dgm:prSet/>
      <dgm:spPr/>
      <dgm:t>
        <a:bodyPr/>
        <a:lstStyle/>
        <a:p>
          <a:endParaRPr lang="en-US"/>
        </a:p>
      </dgm:t>
    </dgm:pt>
    <dgm:pt modelId="{FCC124AA-230A-461B-917E-61949A653826}" type="sibTrans" cxnId="{D5374380-C9BC-46B2-B95C-B2526C69BFBF}">
      <dgm:prSet/>
      <dgm:spPr/>
      <dgm:t>
        <a:bodyPr/>
        <a:lstStyle/>
        <a:p>
          <a:endParaRPr lang="en-US"/>
        </a:p>
      </dgm:t>
    </dgm:pt>
    <dgm:pt modelId="{426128BC-6CE2-4BDC-9938-A19373D8942E}">
      <dgm:prSet phldrT="[Text]" custT="1"/>
      <dgm:spPr/>
      <dgm:t>
        <a:bodyPr/>
        <a:lstStyle/>
        <a:p>
          <a:r>
            <a:rPr lang="en-US" sz="2800" dirty="0" smtClean="0"/>
            <a:t>Future dated </a:t>
          </a:r>
          <a:r>
            <a:rPr lang="en-US" sz="2800" dirty="0" err="1" smtClean="0"/>
            <a:t>cheque</a:t>
          </a:r>
          <a:r>
            <a:rPr lang="en-US" sz="2800" dirty="0" smtClean="0"/>
            <a:t>.</a:t>
          </a:r>
          <a:endParaRPr lang="en-US" sz="2800" dirty="0"/>
        </a:p>
      </dgm:t>
    </dgm:pt>
    <dgm:pt modelId="{FC24C7EE-0740-48E9-8132-8B043CC908D5}" type="parTrans" cxnId="{8CDDC09B-9AA2-4FB2-B191-D64086AC7574}">
      <dgm:prSet/>
      <dgm:spPr/>
      <dgm:t>
        <a:bodyPr/>
        <a:lstStyle/>
        <a:p>
          <a:endParaRPr lang="en-US"/>
        </a:p>
      </dgm:t>
    </dgm:pt>
    <dgm:pt modelId="{1A183D5E-71FD-42EA-8DD4-9F2F0BE13FD8}" type="sibTrans" cxnId="{8CDDC09B-9AA2-4FB2-B191-D64086AC7574}">
      <dgm:prSet/>
      <dgm:spPr/>
      <dgm:t>
        <a:bodyPr/>
        <a:lstStyle/>
        <a:p>
          <a:endParaRPr lang="en-US"/>
        </a:p>
      </dgm:t>
    </dgm:pt>
    <dgm:pt modelId="{49EBC293-72BF-4F1D-A924-4A519497A04E}">
      <dgm:prSet phldrT="[Text]" custT="1"/>
      <dgm:spPr/>
      <dgm:t>
        <a:bodyPr/>
        <a:lstStyle/>
        <a:p>
          <a:r>
            <a:rPr lang="en-US" sz="2800" b="1" dirty="0" smtClean="0"/>
            <a:t>Stale </a:t>
          </a:r>
          <a:r>
            <a:rPr lang="en-US" sz="2800" b="1" dirty="0" err="1" smtClean="0"/>
            <a:t>Cheque</a:t>
          </a:r>
          <a:endParaRPr lang="en-US" sz="2800" b="1" dirty="0"/>
        </a:p>
      </dgm:t>
    </dgm:pt>
    <dgm:pt modelId="{899AEFD0-FD0E-4BF5-9353-789A2DC88CFA}" type="parTrans" cxnId="{2B0CD343-84B4-4051-ABB2-2587FA604A5D}">
      <dgm:prSet/>
      <dgm:spPr/>
      <dgm:t>
        <a:bodyPr/>
        <a:lstStyle/>
        <a:p>
          <a:endParaRPr lang="en-US"/>
        </a:p>
      </dgm:t>
    </dgm:pt>
    <dgm:pt modelId="{577D12E2-1C83-40F2-AF35-280EA86AD4D8}" type="sibTrans" cxnId="{2B0CD343-84B4-4051-ABB2-2587FA604A5D}">
      <dgm:prSet/>
      <dgm:spPr/>
      <dgm:t>
        <a:bodyPr/>
        <a:lstStyle/>
        <a:p>
          <a:endParaRPr lang="en-US"/>
        </a:p>
      </dgm:t>
    </dgm:pt>
    <dgm:pt modelId="{A8FFDC39-1801-4057-8885-3F67646903E0}">
      <dgm:prSet phldrT="[Text]" custT="1"/>
      <dgm:spPr/>
      <dgm:t>
        <a:bodyPr/>
        <a:lstStyle/>
        <a:p>
          <a:r>
            <a:rPr lang="en-US" sz="2800" dirty="0" smtClean="0"/>
            <a:t>More than 3 months old </a:t>
          </a:r>
          <a:r>
            <a:rPr lang="en-US" sz="2800" dirty="0" err="1" smtClean="0"/>
            <a:t>cheque</a:t>
          </a:r>
          <a:r>
            <a:rPr lang="en-US" sz="2800" dirty="0" smtClean="0"/>
            <a:t>.</a:t>
          </a:r>
          <a:endParaRPr lang="en-US" sz="2800" dirty="0"/>
        </a:p>
      </dgm:t>
    </dgm:pt>
    <dgm:pt modelId="{F9F39C4F-1DCD-4E89-A12B-515D40E5A389}" type="parTrans" cxnId="{0893635C-F380-49D8-A2AC-F4AE98688FA8}">
      <dgm:prSet/>
      <dgm:spPr/>
      <dgm:t>
        <a:bodyPr/>
        <a:lstStyle/>
        <a:p>
          <a:endParaRPr lang="en-US"/>
        </a:p>
      </dgm:t>
    </dgm:pt>
    <dgm:pt modelId="{47477670-624B-4148-8AE5-7CF43CE3B997}" type="sibTrans" cxnId="{0893635C-F380-49D8-A2AC-F4AE98688FA8}">
      <dgm:prSet/>
      <dgm:spPr/>
      <dgm:t>
        <a:bodyPr/>
        <a:lstStyle/>
        <a:p>
          <a:endParaRPr lang="en-US"/>
        </a:p>
      </dgm:t>
    </dgm:pt>
    <dgm:pt modelId="{665CB4D6-F297-4CDA-9615-87C304B16B24}">
      <dgm:prSet phldrT="[Text]" custT="1"/>
      <dgm:spPr/>
      <dgm:t>
        <a:bodyPr/>
        <a:lstStyle/>
        <a:p>
          <a:r>
            <a:rPr lang="en-US" sz="2800" dirty="0" smtClean="0"/>
            <a:t>Can be encased at any bank.</a:t>
          </a:r>
          <a:endParaRPr lang="en-US" sz="2800" dirty="0"/>
        </a:p>
      </dgm:t>
    </dgm:pt>
    <dgm:pt modelId="{A15CD725-ADCD-4745-AC85-DC001871D0AD}" type="parTrans" cxnId="{08A50A78-A66F-4BA1-AE21-73B07C1193FD}">
      <dgm:prSet/>
      <dgm:spPr/>
      <dgm:t>
        <a:bodyPr/>
        <a:lstStyle/>
        <a:p>
          <a:endParaRPr lang="en-US"/>
        </a:p>
      </dgm:t>
    </dgm:pt>
    <dgm:pt modelId="{16BDBB70-CF17-4808-94A5-FE89CA0CDB54}" type="sibTrans" cxnId="{08A50A78-A66F-4BA1-AE21-73B07C1193FD}">
      <dgm:prSet/>
      <dgm:spPr/>
      <dgm:t>
        <a:bodyPr/>
        <a:lstStyle/>
        <a:p>
          <a:endParaRPr lang="en-US"/>
        </a:p>
      </dgm:t>
    </dgm:pt>
    <dgm:pt modelId="{4ED079EC-E04A-469A-959A-F76DCEE274E0}">
      <dgm:prSet phldrT="[Text]" custT="1"/>
      <dgm:spPr/>
      <dgm:t>
        <a:bodyPr/>
        <a:lstStyle/>
        <a:p>
          <a:r>
            <a:rPr lang="en-US" sz="2800" dirty="0" smtClean="0"/>
            <a:t>Can not be cashed or deposited until the date mentioned.</a:t>
          </a:r>
          <a:endParaRPr lang="en-US" sz="2800" dirty="0"/>
        </a:p>
      </dgm:t>
    </dgm:pt>
    <dgm:pt modelId="{6477A6B3-E20B-49CF-9E01-4F7A5DBEB9BD}" type="parTrans" cxnId="{D7B489C2-5B3A-4A44-9B6D-8106742A9E5D}">
      <dgm:prSet/>
      <dgm:spPr/>
      <dgm:t>
        <a:bodyPr/>
        <a:lstStyle/>
        <a:p>
          <a:endParaRPr lang="en-US"/>
        </a:p>
      </dgm:t>
    </dgm:pt>
    <dgm:pt modelId="{71F68CD4-E132-41A0-A1D8-9785DC4C8474}" type="sibTrans" cxnId="{D7B489C2-5B3A-4A44-9B6D-8106742A9E5D}">
      <dgm:prSet/>
      <dgm:spPr/>
      <dgm:t>
        <a:bodyPr/>
        <a:lstStyle/>
        <a:p>
          <a:endParaRPr lang="en-US"/>
        </a:p>
      </dgm:t>
    </dgm:pt>
    <dgm:pt modelId="{2C24000D-8E73-456D-B204-5438AC3BA911}">
      <dgm:prSet phldrT="[Text]" custT="1"/>
      <dgm:spPr/>
      <dgm:t>
        <a:bodyPr/>
        <a:lstStyle/>
        <a:p>
          <a:r>
            <a:rPr lang="en-US" sz="2800" dirty="0" smtClean="0"/>
            <a:t>Invalid </a:t>
          </a:r>
          <a:r>
            <a:rPr lang="en-US" sz="2800" dirty="0" err="1" smtClean="0"/>
            <a:t>cheque</a:t>
          </a:r>
          <a:r>
            <a:rPr lang="en-US" sz="2800" dirty="0" smtClean="0"/>
            <a:t>.</a:t>
          </a:r>
          <a:endParaRPr lang="en-US" sz="2800" dirty="0"/>
        </a:p>
      </dgm:t>
    </dgm:pt>
    <dgm:pt modelId="{AD3B798A-74B0-413F-8C31-1E8F46C7F1A1}" type="parTrans" cxnId="{79219CDF-FEDD-46D7-AFF7-930F5C50AB27}">
      <dgm:prSet/>
      <dgm:spPr/>
      <dgm:t>
        <a:bodyPr/>
        <a:lstStyle/>
        <a:p>
          <a:endParaRPr lang="en-US"/>
        </a:p>
      </dgm:t>
    </dgm:pt>
    <dgm:pt modelId="{40E068E1-D730-4B89-B0D3-BA007AC6AAA8}" type="sibTrans" cxnId="{79219CDF-FEDD-46D7-AFF7-930F5C50AB27}">
      <dgm:prSet/>
      <dgm:spPr/>
      <dgm:t>
        <a:bodyPr/>
        <a:lstStyle/>
        <a:p>
          <a:endParaRPr lang="en-US"/>
        </a:p>
      </dgm:t>
    </dgm:pt>
    <dgm:pt modelId="{7CE563AF-CDF1-4E9D-8B5F-4F054948F53B}" type="pres">
      <dgm:prSet presAssocID="{55F82EAD-8636-4967-9F8D-7821DA48DC0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60D80C8-8850-4FAE-B63B-D5964DD3695E}" type="pres">
      <dgm:prSet presAssocID="{0BBB5D77-CA78-4E15-B64A-4FF58BA1CAD0}" presName="linNode" presStyleCnt="0"/>
      <dgm:spPr/>
    </dgm:pt>
    <dgm:pt modelId="{D462FB03-E15D-4A9B-B0D8-C19CA7918D43}" type="pres">
      <dgm:prSet presAssocID="{0BBB5D77-CA78-4E15-B64A-4FF58BA1CAD0}" presName="parentText" presStyleLbl="node1" presStyleIdx="0" presStyleCnt="3" custScaleX="5358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229DF9-6C5F-458B-AEBC-3B6AA09B7B7B}" type="pres">
      <dgm:prSet presAssocID="{0BBB5D77-CA78-4E15-B64A-4FF58BA1CAD0}" presName="descendantText" presStyleLbl="alignAccFollowNode1" presStyleIdx="0" presStyleCnt="3" custScaleX="15784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872501-ED07-4F8F-95B4-DFBEDC4028E2}" type="pres">
      <dgm:prSet presAssocID="{396978FE-D438-467E-BDAC-5D4D96D39223}" presName="sp" presStyleCnt="0"/>
      <dgm:spPr/>
    </dgm:pt>
    <dgm:pt modelId="{6A2A7A94-A524-432F-8E51-9D534FF0D619}" type="pres">
      <dgm:prSet presAssocID="{07727CFB-E43A-4C64-A69B-791948A27F8E}" presName="linNode" presStyleCnt="0"/>
      <dgm:spPr/>
    </dgm:pt>
    <dgm:pt modelId="{B055BBDF-CD66-4860-809F-C555B45AFD69}" type="pres">
      <dgm:prSet presAssocID="{07727CFB-E43A-4C64-A69B-791948A27F8E}" presName="parentText" presStyleLbl="node1" presStyleIdx="1" presStyleCnt="3" custScaleX="5358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1AFD3B-16F4-4FFC-8DF9-F7692054684E}" type="pres">
      <dgm:prSet presAssocID="{07727CFB-E43A-4C64-A69B-791948A27F8E}" presName="descendantText" presStyleLbl="alignAccFollowNode1" presStyleIdx="1" presStyleCnt="3" custScaleX="15784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D8426A-3015-4FC6-A3CC-53328E9B427C}" type="pres">
      <dgm:prSet presAssocID="{FCC124AA-230A-461B-917E-61949A653826}" presName="sp" presStyleCnt="0"/>
      <dgm:spPr/>
    </dgm:pt>
    <dgm:pt modelId="{C321E5E9-259F-4766-B890-A26A0EA6213D}" type="pres">
      <dgm:prSet presAssocID="{49EBC293-72BF-4F1D-A924-4A519497A04E}" presName="linNode" presStyleCnt="0"/>
      <dgm:spPr/>
    </dgm:pt>
    <dgm:pt modelId="{4EA86636-5CE1-471E-98B5-A8FD7E0FC176}" type="pres">
      <dgm:prSet presAssocID="{49EBC293-72BF-4F1D-A924-4A519497A04E}" presName="parentText" presStyleLbl="node1" presStyleIdx="2" presStyleCnt="3" custScaleX="5358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0C9E11-AC89-43A5-9B62-6C2D69BEBF5F}" type="pres">
      <dgm:prSet presAssocID="{49EBC293-72BF-4F1D-A924-4A519497A04E}" presName="descendantText" presStyleLbl="alignAccFollowNode1" presStyleIdx="2" presStyleCnt="3" custScaleX="15784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4BAEE69-EE76-4C19-A883-34C3CC8B8124}" srcId="{55F82EAD-8636-4967-9F8D-7821DA48DC0E}" destId="{0BBB5D77-CA78-4E15-B64A-4FF58BA1CAD0}" srcOrd="0" destOrd="0" parTransId="{5CAC48B3-314A-4554-A12E-58319EEDEC53}" sibTransId="{396978FE-D438-467E-BDAC-5D4D96D39223}"/>
    <dgm:cxn modelId="{8E2858D2-9C87-48F1-AE9E-9C53084C1520}" type="presOf" srcId="{A8FFDC39-1801-4057-8885-3F67646903E0}" destId="{120C9E11-AC89-43A5-9B62-6C2D69BEBF5F}" srcOrd="0" destOrd="0" presId="urn:microsoft.com/office/officeart/2005/8/layout/vList5"/>
    <dgm:cxn modelId="{B60FF682-3AB4-4F91-9D33-B23CF877641D}" type="presOf" srcId="{2C24000D-8E73-456D-B204-5438AC3BA911}" destId="{120C9E11-AC89-43A5-9B62-6C2D69BEBF5F}" srcOrd="0" destOrd="1" presId="urn:microsoft.com/office/officeart/2005/8/layout/vList5"/>
    <dgm:cxn modelId="{08A50A78-A66F-4BA1-AE21-73B07C1193FD}" srcId="{0BBB5D77-CA78-4E15-B64A-4FF58BA1CAD0}" destId="{665CB4D6-F297-4CDA-9615-87C304B16B24}" srcOrd="1" destOrd="0" parTransId="{A15CD725-ADCD-4745-AC85-DC001871D0AD}" sibTransId="{16BDBB70-CF17-4808-94A5-FE89CA0CDB54}"/>
    <dgm:cxn modelId="{8CDDC09B-9AA2-4FB2-B191-D64086AC7574}" srcId="{07727CFB-E43A-4C64-A69B-791948A27F8E}" destId="{426128BC-6CE2-4BDC-9938-A19373D8942E}" srcOrd="0" destOrd="0" parTransId="{FC24C7EE-0740-48E9-8132-8B043CC908D5}" sibTransId="{1A183D5E-71FD-42EA-8DD4-9F2F0BE13FD8}"/>
    <dgm:cxn modelId="{968EC3B0-E876-4621-8E66-411DC0BDC2F3}" type="presOf" srcId="{89F2405D-1019-4BE9-8860-B1F7B306F8BF}" destId="{97229DF9-6C5F-458B-AEBC-3B6AA09B7B7B}" srcOrd="0" destOrd="0" presId="urn:microsoft.com/office/officeart/2005/8/layout/vList5"/>
    <dgm:cxn modelId="{D5374380-C9BC-46B2-B95C-B2526C69BFBF}" srcId="{55F82EAD-8636-4967-9F8D-7821DA48DC0E}" destId="{07727CFB-E43A-4C64-A69B-791948A27F8E}" srcOrd="1" destOrd="0" parTransId="{EF2587FA-0BC9-4D8D-A15E-5D131D06276D}" sibTransId="{FCC124AA-230A-461B-917E-61949A653826}"/>
    <dgm:cxn modelId="{5A1C2CF2-0E55-48EC-B27F-76F42F4C3D20}" type="presOf" srcId="{07727CFB-E43A-4C64-A69B-791948A27F8E}" destId="{B055BBDF-CD66-4860-809F-C555B45AFD69}" srcOrd="0" destOrd="0" presId="urn:microsoft.com/office/officeart/2005/8/layout/vList5"/>
    <dgm:cxn modelId="{69364054-2672-424F-9E32-747A9130A829}" type="presOf" srcId="{4ED079EC-E04A-469A-959A-F76DCEE274E0}" destId="{A01AFD3B-16F4-4FFC-8DF9-F7692054684E}" srcOrd="0" destOrd="1" presId="urn:microsoft.com/office/officeart/2005/8/layout/vList5"/>
    <dgm:cxn modelId="{79219CDF-FEDD-46D7-AFF7-930F5C50AB27}" srcId="{49EBC293-72BF-4F1D-A924-4A519497A04E}" destId="{2C24000D-8E73-456D-B204-5438AC3BA911}" srcOrd="1" destOrd="0" parTransId="{AD3B798A-74B0-413F-8C31-1E8F46C7F1A1}" sibTransId="{40E068E1-D730-4B89-B0D3-BA007AC6AAA8}"/>
    <dgm:cxn modelId="{D0019D45-77CC-4654-8A74-5DD92DBF1E17}" srcId="{0BBB5D77-CA78-4E15-B64A-4FF58BA1CAD0}" destId="{89F2405D-1019-4BE9-8860-B1F7B306F8BF}" srcOrd="0" destOrd="0" parTransId="{42D33FD2-BE64-47FD-BC63-61EE7E6AF72A}" sibTransId="{DA9D5CEC-F7BD-4460-AD32-9E80004ED2EF}"/>
    <dgm:cxn modelId="{A8ED57AB-843F-45B7-8549-9938206F4B3D}" type="presOf" srcId="{55F82EAD-8636-4967-9F8D-7821DA48DC0E}" destId="{7CE563AF-CDF1-4E9D-8B5F-4F054948F53B}" srcOrd="0" destOrd="0" presId="urn:microsoft.com/office/officeart/2005/8/layout/vList5"/>
    <dgm:cxn modelId="{0893635C-F380-49D8-A2AC-F4AE98688FA8}" srcId="{49EBC293-72BF-4F1D-A924-4A519497A04E}" destId="{A8FFDC39-1801-4057-8885-3F67646903E0}" srcOrd="0" destOrd="0" parTransId="{F9F39C4F-1DCD-4E89-A12B-515D40E5A389}" sibTransId="{47477670-624B-4148-8AE5-7CF43CE3B997}"/>
    <dgm:cxn modelId="{F78C6A1A-F51A-4EEE-9F45-CD794128BE8C}" type="presOf" srcId="{49EBC293-72BF-4F1D-A924-4A519497A04E}" destId="{4EA86636-5CE1-471E-98B5-A8FD7E0FC176}" srcOrd="0" destOrd="0" presId="urn:microsoft.com/office/officeart/2005/8/layout/vList5"/>
    <dgm:cxn modelId="{9D7CF8D7-37FF-4C36-ACD7-A825DA245F15}" type="presOf" srcId="{665CB4D6-F297-4CDA-9615-87C304B16B24}" destId="{97229DF9-6C5F-458B-AEBC-3B6AA09B7B7B}" srcOrd="0" destOrd="1" presId="urn:microsoft.com/office/officeart/2005/8/layout/vList5"/>
    <dgm:cxn modelId="{2B0CD343-84B4-4051-ABB2-2587FA604A5D}" srcId="{55F82EAD-8636-4967-9F8D-7821DA48DC0E}" destId="{49EBC293-72BF-4F1D-A924-4A519497A04E}" srcOrd="2" destOrd="0" parTransId="{899AEFD0-FD0E-4BF5-9353-789A2DC88CFA}" sibTransId="{577D12E2-1C83-40F2-AF35-280EA86AD4D8}"/>
    <dgm:cxn modelId="{D7B489C2-5B3A-4A44-9B6D-8106742A9E5D}" srcId="{07727CFB-E43A-4C64-A69B-791948A27F8E}" destId="{4ED079EC-E04A-469A-959A-F76DCEE274E0}" srcOrd="1" destOrd="0" parTransId="{6477A6B3-E20B-49CF-9E01-4F7A5DBEB9BD}" sibTransId="{71F68CD4-E132-41A0-A1D8-9785DC4C8474}"/>
    <dgm:cxn modelId="{151EE6A2-6061-4596-8915-52E49DC96D25}" type="presOf" srcId="{426128BC-6CE2-4BDC-9938-A19373D8942E}" destId="{A01AFD3B-16F4-4FFC-8DF9-F7692054684E}" srcOrd="0" destOrd="0" presId="urn:microsoft.com/office/officeart/2005/8/layout/vList5"/>
    <dgm:cxn modelId="{F5B0BFD9-E7BE-4EFB-87C0-80506F3F042B}" type="presOf" srcId="{0BBB5D77-CA78-4E15-B64A-4FF58BA1CAD0}" destId="{D462FB03-E15D-4A9B-B0D8-C19CA7918D43}" srcOrd="0" destOrd="0" presId="urn:microsoft.com/office/officeart/2005/8/layout/vList5"/>
    <dgm:cxn modelId="{D8980C9F-7BFF-4A83-8770-6AD9F6A55233}" type="presParOf" srcId="{7CE563AF-CDF1-4E9D-8B5F-4F054948F53B}" destId="{960D80C8-8850-4FAE-B63B-D5964DD3695E}" srcOrd="0" destOrd="0" presId="urn:microsoft.com/office/officeart/2005/8/layout/vList5"/>
    <dgm:cxn modelId="{568A7973-18AA-4BDB-940F-879C372FFCDD}" type="presParOf" srcId="{960D80C8-8850-4FAE-B63B-D5964DD3695E}" destId="{D462FB03-E15D-4A9B-B0D8-C19CA7918D43}" srcOrd="0" destOrd="0" presId="urn:microsoft.com/office/officeart/2005/8/layout/vList5"/>
    <dgm:cxn modelId="{18D5B5B2-5916-49E5-8A87-25C980A99E96}" type="presParOf" srcId="{960D80C8-8850-4FAE-B63B-D5964DD3695E}" destId="{97229DF9-6C5F-458B-AEBC-3B6AA09B7B7B}" srcOrd="1" destOrd="0" presId="urn:microsoft.com/office/officeart/2005/8/layout/vList5"/>
    <dgm:cxn modelId="{44425A01-52B7-47CB-A2CB-EF82BEE444E1}" type="presParOf" srcId="{7CE563AF-CDF1-4E9D-8B5F-4F054948F53B}" destId="{E0872501-ED07-4F8F-95B4-DFBEDC4028E2}" srcOrd="1" destOrd="0" presId="urn:microsoft.com/office/officeart/2005/8/layout/vList5"/>
    <dgm:cxn modelId="{4864BE4A-FFD8-4321-9333-A86539C4A6CA}" type="presParOf" srcId="{7CE563AF-CDF1-4E9D-8B5F-4F054948F53B}" destId="{6A2A7A94-A524-432F-8E51-9D534FF0D619}" srcOrd="2" destOrd="0" presId="urn:microsoft.com/office/officeart/2005/8/layout/vList5"/>
    <dgm:cxn modelId="{A103E1AA-0D48-4DAA-838D-BEC734E3E54F}" type="presParOf" srcId="{6A2A7A94-A524-432F-8E51-9D534FF0D619}" destId="{B055BBDF-CD66-4860-809F-C555B45AFD69}" srcOrd="0" destOrd="0" presId="urn:microsoft.com/office/officeart/2005/8/layout/vList5"/>
    <dgm:cxn modelId="{C60EAB26-5AA3-49E5-BBBF-C47289EE4026}" type="presParOf" srcId="{6A2A7A94-A524-432F-8E51-9D534FF0D619}" destId="{A01AFD3B-16F4-4FFC-8DF9-F7692054684E}" srcOrd="1" destOrd="0" presId="urn:microsoft.com/office/officeart/2005/8/layout/vList5"/>
    <dgm:cxn modelId="{450125B3-3261-4D95-8426-9E5CF864E489}" type="presParOf" srcId="{7CE563AF-CDF1-4E9D-8B5F-4F054948F53B}" destId="{F4D8426A-3015-4FC6-A3CC-53328E9B427C}" srcOrd="3" destOrd="0" presId="urn:microsoft.com/office/officeart/2005/8/layout/vList5"/>
    <dgm:cxn modelId="{E612E874-6D48-4655-8320-9E6B284D5441}" type="presParOf" srcId="{7CE563AF-CDF1-4E9D-8B5F-4F054948F53B}" destId="{C321E5E9-259F-4766-B890-A26A0EA6213D}" srcOrd="4" destOrd="0" presId="urn:microsoft.com/office/officeart/2005/8/layout/vList5"/>
    <dgm:cxn modelId="{E8EF5112-3B9F-40B1-AEDB-E4C4908F5CB8}" type="presParOf" srcId="{C321E5E9-259F-4766-B890-A26A0EA6213D}" destId="{4EA86636-5CE1-471E-98B5-A8FD7E0FC176}" srcOrd="0" destOrd="0" presId="urn:microsoft.com/office/officeart/2005/8/layout/vList5"/>
    <dgm:cxn modelId="{9CB74ECC-74CB-43B7-A2CF-04961A9C9582}" type="presParOf" srcId="{C321E5E9-259F-4766-B890-A26A0EA6213D}" destId="{120C9E11-AC89-43A5-9B62-6C2D69BEBF5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55F82EAD-8636-4967-9F8D-7821DA48DC0E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0BBB5D77-CA78-4E15-B64A-4FF58BA1CAD0}">
      <dgm:prSet phldrT="[Text]" custT="1"/>
      <dgm:spPr/>
      <dgm:t>
        <a:bodyPr/>
        <a:lstStyle/>
        <a:p>
          <a:r>
            <a:rPr lang="en-US" sz="2800" b="1" dirty="0" smtClean="0"/>
            <a:t>Self </a:t>
          </a:r>
          <a:r>
            <a:rPr lang="en-US" sz="2800" b="1" dirty="0" err="1" smtClean="0"/>
            <a:t>Cheque</a:t>
          </a:r>
          <a:endParaRPr lang="en-US" sz="2800" b="1" dirty="0"/>
        </a:p>
      </dgm:t>
    </dgm:pt>
    <dgm:pt modelId="{5CAC48B3-314A-4554-A12E-58319EEDEC53}" type="parTrans" cxnId="{34BAEE69-EE76-4C19-A883-34C3CC8B8124}">
      <dgm:prSet/>
      <dgm:spPr/>
      <dgm:t>
        <a:bodyPr/>
        <a:lstStyle/>
        <a:p>
          <a:endParaRPr lang="en-US"/>
        </a:p>
      </dgm:t>
    </dgm:pt>
    <dgm:pt modelId="{396978FE-D438-467E-BDAC-5D4D96D39223}" type="sibTrans" cxnId="{34BAEE69-EE76-4C19-A883-34C3CC8B8124}">
      <dgm:prSet/>
      <dgm:spPr/>
      <dgm:t>
        <a:bodyPr/>
        <a:lstStyle/>
        <a:p>
          <a:endParaRPr lang="en-US"/>
        </a:p>
      </dgm:t>
    </dgm:pt>
    <dgm:pt modelId="{89F2405D-1019-4BE9-8860-B1F7B306F8BF}">
      <dgm:prSet phldrT="[Text]" custT="1"/>
      <dgm:spPr/>
      <dgm:t>
        <a:bodyPr/>
        <a:lstStyle/>
        <a:p>
          <a:r>
            <a:rPr lang="en-US" sz="2800" dirty="0" smtClean="0"/>
            <a:t>‘self’ written in payee column.</a:t>
          </a:r>
          <a:endParaRPr lang="en-US" sz="2800" dirty="0"/>
        </a:p>
      </dgm:t>
    </dgm:pt>
    <dgm:pt modelId="{42D33FD2-BE64-47FD-BC63-61EE7E6AF72A}" type="parTrans" cxnId="{D0019D45-77CC-4654-8A74-5DD92DBF1E17}">
      <dgm:prSet/>
      <dgm:spPr/>
      <dgm:t>
        <a:bodyPr/>
        <a:lstStyle/>
        <a:p>
          <a:endParaRPr lang="en-US"/>
        </a:p>
      </dgm:t>
    </dgm:pt>
    <dgm:pt modelId="{DA9D5CEC-F7BD-4460-AD32-9E80004ED2EF}" type="sibTrans" cxnId="{D0019D45-77CC-4654-8A74-5DD92DBF1E17}">
      <dgm:prSet/>
      <dgm:spPr/>
      <dgm:t>
        <a:bodyPr/>
        <a:lstStyle/>
        <a:p>
          <a:endParaRPr lang="en-US"/>
        </a:p>
      </dgm:t>
    </dgm:pt>
    <dgm:pt modelId="{07727CFB-E43A-4C64-A69B-791948A27F8E}">
      <dgm:prSet phldrT="[Text]" custT="1"/>
      <dgm:spPr/>
      <dgm:t>
        <a:bodyPr/>
        <a:lstStyle/>
        <a:p>
          <a:r>
            <a:rPr lang="en-US" sz="2800" b="1" dirty="0" smtClean="0"/>
            <a:t>Cancel </a:t>
          </a:r>
          <a:r>
            <a:rPr lang="en-US" sz="2800" b="1" dirty="0" err="1" smtClean="0"/>
            <a:t>Cheque</a:t>
          </a:r>
          <a:endParaRPr lang="en-US" sz="2800" b="1" dirty="0"/>
        </a:p>
      </dgm:t>
    </dgm:pt>
    <dgm:pt modelId="{EF2587FA-0BC9-4D8D-A15E-5D131D06276D}" type="parTrans" cxnId="{D5374380-C9BC-46B2-B95C-B2526C69BFBF}">
      <dgm:prSet/>
      <dgm:spPr/>
      <dgm:t>
        <a:bodyPr/>
        <a:lstStyle/>
        <a:p>
          <a:endParaRPr lang="en-US"/>
        </a:p>
      </dgm:t>
    </dgm:pt>
    <dgm:pt modelId="{FCC124AA-230A-461B-917E-61949A653826}" type="sibTrans" cxnId="{D5374380-C9BC-46B2-B95C-B2526C69BFBF}">
      <dgm:prSet/>
      <dgm:spPr/>
      <dgm:t>
        <a:bodyPr/>
        <a:lstStyle/>
        <a:p>
          <a:endParaRPr lang="en-US"/>
        </a:p>
      </dgm:t>
    </dgm:pt>
    <dgm:pt modelId="{426128BC-6CE2-4BDC-9938-A19373D8942E}">
      <dgm:prSet phldrT="[Text]" custT="1"/>
      <dgm:spPr/>
      <dgm:t>
        <a:bodyPr/>
        <a:lstStyle/>
        <a:p>
          <a:r>
            <a:rPr lang="en-US" sz="2800" dirty="0" smtClean="0"/>
            <a:t>Two parallel lines across the </a:t>
          </a:r>
          <a:r>
            <a:rPr lang="en-US" sz="2800" dirty="0" err="1" smtClean="0"/>
            <a:t>cheque</a:t>
          </a:r>
          <a:r>
            <a:rPr lang="en-US" sz="2800" dirty="0" smtClean="0"/>
            <a:t> and written ‘CANCELLED’ between them.</a:t>
          </a:r>
          <a:endParaRPr lang="en-US" sz="2800" dirty="0"/>
        </a:p>
      </dgm:t>
    </dgm:pt>
    <dgm:pt modelId="{FC24C7EE-0740-48E9-8132-8B043CC908D5}" type="parTrans" cxnId="{8CDDC09B-9AA2-4FB2-B191-D64086AC7574}">
      <dgm:prSet/>
      <dgm:spPr/>
      <dgm:t>
        <a:bodyPr/>
        <a:lstStyle/>
        <a:p>
          <a:endParaRPr lang="en-US"/>
        </a:p>
      </dgm:t>
    </dgm:pt>
    <dgm:pt modelId="{1A183D5E-71FD-42EA-8DD4-9F2F0BE13FD8}" type="sibTrans" cxnId="{8CDDC09B-9AA2-4FB2-B191-D64086AC7574}">
      <dgm:prSet/>
      <dgm:spPr/>
      <dgm:t>
        <a:bodyPr/>
        <a:lstStyle/>
        <a:p>
          <a:endParaRPr lang="en-US"/>
        </a:p>
      </dgm:t>
    </dgm:pt>
    <dgm:pt modelId="{49EBC293-72BF-4F1D-A924-4A519497A04E}">
      <dgm:prSet phldrT="[Text]" custT="1"/>
      <dgm:spPr/>
      <dgm:t>
        <a:bodyPr/>
        <a:lstStyle/>
        <a:p>
          <a:r>
            <a:rPr lang="en-US" sz="2800" b="1" dirty="0" smtClean="0"/>
            <a:t>Banker’s </a:t>
          </a:r>
          <a:r>
            <a:rPr lang="en-US" sz="2800" b="1" dirty="0" err="1" smtClean="0"/>
            <a:t>Cheque</a:t>
          </a:r>
          <a:endParaRPr lang="en-US" sz="2800" b="1" dirty="0"/>
        </a:p>
      </dgm:t>
    </dgm:pt>
    <dgm:pt modelId="{899AEFD0-FD0E-4BF5-9353-789A2DC88CFA}" type="parTrans" cxnId="{2B0CD343-84B4-4051-ABB2-2587FA604A5D}">
      <dgm:prSet/>
      <dgm:spPr/>
      <dgm:t>
        <a:bodyPr/>
        <a:lstStyle/>
        <a:p>
          <a:endParaRPr lang="en-US"/>
        </a:p>
      </dgm:t>
    </dgm:pt>
    <dgm:pt modelId="{577D12E2-1C83-40F2-AF35-280EA86AD4D8}" type="sibTrans" cxnId="{2B0CD343-84B4-4051-ABB2-2587FA604A5D}">
      <dgm:prSet/>
      <dgm:spPr/>
      <dgm:t>
        <a:bodyPr/>
        <a:lstStyle/>
        <a:p>
          <a:endParaRPr lang="en-US"/>
        </a:p>
      </dgm:t>
    </dgm:pt>
    <dgm:pt modelId="{A8FFDC39-1801-4057-8885-3F67646903E0}">
      <dgm:prSet phldrT="[Text]" custT="1"/>
      <dgm:spPr/>
      <dgm:t>
        <a:bodyPr/>
        <a:lstStyle/>
        <a:p>
          <a:r>
            <a:rPr lang="en-US" sz="2800" dirty="0" smtClean="0"/>
            <a:t>Issued by the bank itself.</a:t>
          </a:r>
          <a:endParaRPr lang="en-US" sz="2800" dirty="0"/>
        </a:p>
      </dgm:t>
    </dgm:pt>
    <dgm:pt modelId="{F9F39C4F-1DCD-4E89-A12B-515D40E5A389}" type="parTrans" cxnId="{0893635C-F380-49D8-A2AC-F4AE98688FA8}">
      <dgm:prSet/>
      <dgm:spPr/>
      <dgm:t>
        <a:bodyPr/>
        <a:lstStyle/>
        <a:p>
          <a:endParaRPr lang="en-US"/>
        </a:p>
      </dgm:t>
    </dgm:pt>
    <dgm:pt modelId="{47477670-624B-4148-8AE5-7CF43CE3B997}" type="sibTrans" cxnId="{0893635C-F380-49D8-A2AC-F4AE98688FA8}">
      <dgm:prSet/>
      <dgm:spPr/>
      <dgm:t>
        <a:bodyPr/>
        <a:lstStyle/>
        <a:p>
          <a:endParaRPr lang="en-US"/>
        </a:p>
      </dgm:t>
    </dgm:pt>
    <dgm:pt modelId="{906D800B-FE10-45FB-B235-F59EFA7A6D58}">
      <dgm:prSet phldrT="[Text]" custT="1"/>
      <dgm:spPr/>
      <dgm:t>
        <a:bodyPr/>
        <a:lstStyle/>
        <a:p>
          <a:r>
            <a:rPr lang="en-US" sz="2800" dirty="0" smtClean="0"/>
            <a:t>To withdraw money from your own account.</a:t>
          </a:r>
          <a:endParaRPr lang="en-US" sz="2800" dirty="0"/>
        </a:p>
      </dgm:t>
    </dgm:pt>
    <dgm:pt modelId="{2569E40A-6CA0-4C7B-BCAC-64CEE6F40B4D}" type="parTrans" cxnId="{6B1BF614-F205-4E82-BA06-8D6803536036}">
      <dgm:prSet/>
      <dgm:spPr/>
      <dgm:t>
        <a:bodyPr/>
        <a:lstStyle/>
        <a:p>
          <a:endParaRPr lang="en-US"/>
        </a:p>
      </dgm:t>
    </dgm:pt>
    <dgm:pt modelId="{B6D38462-5ABD-4B13-9406-5B1AD81E128B}" type="sibTrans" cxnId="{6B1BF614-F205-4E82-BA06-8D6803536036}">
      <dgm:prSet/>
      <dgm:spPr/>
      <dgm:t>
        <a:bodyPr/>
        <a:lstStyle/>
        <a:p>
          <a:endParaRPr lang="en-US"/>
        </a:p>
      </dgm:t>
    </dgm:pt>
    <dgm:pt modelId="{E4267527-401E-4332-B397-7432BB633A32}">
      <dgm:prSet phldrT="[Text]" custT="1"/>
      <dgm:spPr/>
      <dgm:t>
        <a:bodyPr/>
        <a:lstStyle/>
        <a:p>
          <a:r>
            <a:rPr lang="en-US" sz="2800" dirty="0" smtClean="0"/>
            <a:t>Not used for financial transaction.</a:t>
          </a:r>
          <a:endParaRPr lang="en-US" sz="2800" dirty="0"/>
        </a:p>
      </dgm:t>
    </dgm:pt>
    <dgm:pt modelId="{75177457-66B5-4856-9C8E-20E0293BA0B9}" type="parTrans" cxnId="{1D7A16A0-E04E-4658-8925-D470B2899AC7}">
      <dgm:prSet/>
      <dgm:spPr/>
      <dgm:t>
        <a:bodyPr/>
        <a:lstStyle/>
        <a:p>
          <a:endParaRPr lang="en-US"/>
        </a:p>
      </dgm:t>
    </dgm:pt>
    <dgm:pt modelId="{83CF5BEC-EE36-462A-A2CD-19DB23D7956E}" type="sibTrans" cxnId="{1D7A16A0-E04E-4658-8925-D470B2899AC7}">
      <dgm:prSet/>
      <dgm:spPr/>
      <dgm:t>
        <a:bodyPr/>
        <a:lstStyle/>
        <a:p>
          <a:endParaRPr lang="en-US"/>
        </a:p>
      </dgm:t>
    </dgm:pt>
    <dgm:pt modelId="{AAFC1CFE-E998-4A09-BE8F-91B010996DFB}">
      <dgm:prSet phldrT="[Text]" custT="1"/>
      <dgm:spPr/>
      <dgm:t>
        <a:bodyPr/>
        <a:lstStyle/>
        <a:p>
          <a:r>
            <a:rPr lang="en-US" sz="2800" dirty="0" smtClean="0"/>
            <a:t>Typically used for high-value transaction.</a:t>
          </a:r>
          <a:endParaRPr lang="en-US" sz="2800" dirty="0"/>
        </a:p>
      </dgm:t>
    </dgm:pt>
    <dgm:pt modelId="{E9658EA1-C46B-4B54-889E-4261AFDB54A3}" type="parTrans" cxnId="{E85B90D4-FA5C-413B-AC8E-6476518023CF}">
      <dgm:prSet/>
      <dgm:spPr/>
      <dgm:t>
        <a:bodyPr/>
        <a:lstStyle/>
        <a:p>
          <a:endParaRPr lang="en-US"/>
        </a:p>
      </dgm:t>
    </dgm:pt>
    <dgm:pt modelId="{F6A11099-FD3F-4C29-BB4F-971B16657EB7}" type="sibTrans" cxnId="{E85B90D4-FA5C-413B-AC8E-6476518023CF}">
      <dgm:prSet/>
      <dgm:spPr/>
      <dgm:t>
        <a:bodyPr/>
        <a:lstStyle/>
        <a:p>
          <a:endParaRPr lang="en-US"/>
        </a:p>
      </dgm:t>
    </dgm:pt>
    <dgm:pt modelId="{E4B61BD6-7A0D-443B-B30B-6BEACE10576A}">
      <dgm:prSet phldrT="[Text]" custT="1"/>
      <dgm:spPr/>
      <dgm:t>
        <a:bodyPr/>
        <a:lstStyle/>
        <a:p>
          <a:r>
            <a:rPr lang="en-US" sz="2800" dirty="0" smtClean="0"/>
            <a:t>Amount is debited &amp; then </a:t>
          </a:r>
          <a:r>
            <a:rPr lang="en-US" sz="2800" dirty="0" err="1" smtClean="0"/>
            <a:t>cheque</a:t>
          </a:r>
          <a:r>
            <a:rPr lang="en-US" sz="2800" dirty="0" smtClean="0"/>
            <a:t> is issued by the bank.</a:t>
          </a:r>
          <a:endParaRPr lang="en-US" sz="2800" dirty="0"/>
        </a:p>
      </dgm:t>
    </dgm:pt>
    <dgm:pt modelId="{AEAD0939-CFB5-4FAE-AACF-1AB4250955E7}" type="parTrans" cxnId="{E8C5472E-38F6-45D2-9362-88CA94287156}">
      <dgm:prSet/>
      <dgm:spPr/>
      <dgm:t>
        <a:bodyPr/>
        <a:lstStyle/>
        <a:p>
          <a:endParaRPr lang="en-US"/>
        </a:p>
      </dgm:t>
    </dgm:pt>
    <dgm:pt modelId="{C16F2827-6424-45F4-A9FC-B88BA4C1A831}" type="sibTrans" cxnId="{E8C5472E-38F6-45D2-9362-88CA94287156}">
      <dgm:prSet/>
      <dgm:spPr/>
      <dgm:t>
        <a:bodyPr/>
        <a:lstStyle/>
        <a:p>
          <a:endParaRPr lang="en-US"/>
        </a:p>
      </dgm:t>
    </dgm:pt>
    <dgm:pt modelId="{7CE563AF-CDF1-4E9D-8B5F-4F054948F53B}" type="pres">
      <dgm:prSet presAssocID="{55F82EAD-8636-4967-9F8D-7821DA48DC0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60D80C8-8850-4FAE-B63B-D5964DD3695E}" type="pres">
      <dgm:prSet presAssocID="{0BBB5D77-CA78-4E15-B64A-4FF58BA1CAD0}" presName="linNode" presStyleCnt="0"/>
      <dgm:spPr/>
    </dgm:pt>
    <dgm:pt modelId="{D462FB03-E15D-4A9B-B0D8-C19CA7918D43}" type="pres">
      <dgm:prSet presAssocID="{0BBB5D77-CA78-4E15-B64A-4FF58BA1CAD0}" presName="parentText" presStyleLbl="node1" presStyleIdx="0" presStyleCnt="3" custScaleX="5358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229DF9-6C5F-458B-AEBC-3B6AA09B7B7B}" type="pres">
      <dgm:prSet presAssocID="{0BBB5D77-CA78-4E15-B64A-4FF58BA1CAD0}" presName="descendantText" presStyleLbl="alignAccFollowNode1" presStyleIdx="0" presStyleCnt="3" custScaleX="15784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872501-ED07-4F8F-95B4-DFBEDC4028E2}" type="pres">
      <dgm:prSet presAssocID="{396978FE-D438-467E-BDAC-5D4D96D39223}" presName="sp" presStyleCnt="0"/>
      <dgm:spPr/>
    </dgm:pt>
    <dgm:pt modelId="{6A2A7A94-A524-432F-8E51-9D534FF0D619}" type="pres">
      <dgm:prSet presAssocID="{07727CFB-E43A-4C64-A69B-791948A27F8E}" presName="linNode" presStyleCnt="0"/>
      <dgm:spPr/>
    </dgm:pt>
    <dgm:pt modelId="{B055BBDF-CD66-4860-809F-C555B45AFD69}" type="pres">
      <dgm:prSet presAssocID="{07727CFB-E43A-4C64-A69B-791948A27F8E}" presName="parentText" presStyleLbl="node1" presStyleIdx="1" presStyleCnt="3" custScaleX="5358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1AFD3B-16F4-4FFC-8DF9-F7692054684E}" type="pres">
      <dgm:prSet presAssocID="{07727CFB-E43A-4C64-A69B-791948A27F8E}" presName="descendantText" presStyleLbl="alignAccFollowNode1" presStyleIdx="1" presStyleCnt="3" custScaleX="15784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D8426A-3015-4FC6-A3CC-53328E9B427C}" type="pres">
      <dgm:prSet presAssocID="{FCC124AA-230A-461B-917E-61949A653826}" presName="sp" presStyleCnt="0"/>
      <dgm:spPr/>
    </dgm:pt>
    <dgm:pt modelId="{C321E5E9-259F-4766-B890-A26A0EA6213D}" type="pres">
      <dgm:prSet presAssocID="{49EBC293-72BF-4F1D-A924-4A519497A04E}" presName="linNode" presStyleCnt="0"/>
      <dgm:spPr/>
    </dgm:pt>
    <dgm:pt modelId="{4EA86636-5CE1-471E-98B5-A8FD7E0FC176}" type="pres">
      <dgm:prSet presAssocID="{49EBC293-72BF-4F1D-A924-4A519497A04E}" presName="parentText" presStyleLbl="node1" presStyleIdx="2" presStyleCnt="3" custScaleX="5358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0C9E11-AC89-43A5-9B62-6C2D69BEBF5F}" type="pres">
      <dgm:prSet presAssocID="{49EBC293-72BF-4F1D-A924-4A519497A04E}" presName="descendantText" presStyleLbl="alignAccFollowNode1" presStyleIdx="2" presStyleCnt="3" custScaleX="15784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4BAEE69-EE76-4C19-A883-34C3CC8B8124}" srcId="{55F82EAD-8636-4967-9F8D-7821DA48DC0E}" destId="{0BBB5D77-CA78-4E15-B64A-4FF58BA1CAD0}" srcOrd="0" destOrd="0" parTransId="{5CAC48B3-314A-4554-A12E-58319EEDEC53}" sibTransId="{396978FE-D438-467E-BDAC-5D4D96D39223}"/>
    <dgm:cxn modelId="{8E2858D2-9C87-48F1-AE9E-9C53084C1520}" type="presOf" srcId="{A8FFDC39-1801-4057-8885-3F67646903E0}" destId="{120C9E11-AC89-43A5-9B62-6C2D69BEBF5F}" srcOrd="0" destOrd="0" presId="urn:microsoft.com/office/officeart/2005/8/layout/vList5"/>
    <dgm:cxn modelId="{B83F74D4-1846-4E57-BE89-754A87316859}" type="presOf" srcId="{AAFC1CFE-E998-4A09-BE8F-91B010996DFB}" destId="{120C9E11-AC89-43A5-9B62-6C2D69BEBF5F}" srcOrd="0" destOrd="1" presId="urn:microsoft.com/office/officeart/2005/8/layout/vList5"/>
    <dgm:cxn modelId="{8CDDC09B-9AA2-4FB2-B191-D64086AC7574}" srcId="{07727CFB-E43A-4C64-A69B-791948A27F8E}" destId="{426128BC-6CE2-4BDC-9938-A19373D8942E}" srcOrd="0" destOrd="0" parTransId="{FC24C7EE-0740-48E9-8132-8B043CC908D5}" sibTransId="{1A183D5E-71FD-42EA-8DD4-9F2F0BE13FD8}"/>
    <dgm:cxn modelId="{968EC3B0-E876-4621-8E66-411DC0BDC2F3}" type="presOf" srcId="{89F2405D-1019-4BE9-8860-B1F7B306F8BF}" destId="{97229DF9-6C5F-458B-AEBC-3B6AA09B7B7B}" srcOrd="0" destOrd="0" presId="urn:microsoft.com/office/officeart/2005/8/layout/vList5"/>
    <dgm:cxn modelId="{D5374380-C9BC-46B2-B95C-B2526C69BFBF}" srcId="{55F82EAD-8636-4967-9F8D-7821DA48DC0E}" destId="{07727CFB-E43A-4C64-A69B-791948A27F8E}" srcOrd="1" destOrd="0" parTransId="{EF2587FA-0BC9-4D8D-A15E-5D131D06276D}" sibTransId="{FCC124AA-230A-461B-917E-61949A653826}"/>
    <dgm:cxn modelId="{5A1C2CF2-0E55-48EC-B27F-76F42F4C3D20}" type="presOf" srcId="{07727CFB-E43A-4C64-A69B-791948A27F8E}" destId="{B055BBDF-CD66-4860-809F-C555B45AFD69}" srcOrd="0" destOrd="0" presId="urn:microsoft.com/office/officeart/2005/8/layout/vList5"/>
    <dgm:cxn modelId="{E85B90D4-FA5C-413B-AC8E-6476518023CF}" srcId="{49EBC293-72BF-4F1D-A924-4A519497A04E}" destId="{AAFC1CFE-E998-4A09-BE8F-91B010996DFB}" srcOrd="1" destOrd="0" parTransId="{E9658EA1-C46B-4B54-889E-4261AFDB54A3}" sibTransId="{F6A11099-FD3F-4C29-BB4F-971B16657EB7}"/>
    <dgm:cxn modelId="{E46FDED8-50F2-46E9-93A8-BE14BC632F82}" type="presOf" srcId="{E4B61BD6-7A0D-443B-B30B-6BEACE10576A}" destId="{120C9E11-AC89-43A5-9B62-6C2D69BEBF5F}" srcOrd="0" destOrd="2" presId="urn:microsoft.com/office/officeart/2005/8/layout/vList5"/>
    <dgm:cxn modelId="{6B1BF614-F205-4E82-BA06-8D6803536036}" srcId="{0BBB5D77-CA78-4E15-B64A-4FF58BA1CAD0}" destId="{906D800B-FE10-45FB-B235-F59EFA7A6D58}" srcOrd="1" destOrd="0" parTransId="{2569E40A-6CA0-4C7B-BCAC-64CEE6F40B4D}" sibTransId="{B6D38462-5ABD-4B13-9406-5B1AD81E128B}"/>
    <dgm:cxn modelId="{1D7A16A0-E04E-4658-8925-D470B2899AC7}" srcId="{07727CFB-E43A-4C64-A69B-791948A27F8E}" destId="{E4267527-401E-4332-B397-7432BB633A32}" srcOrd="1" destOrd="0" parTransId="{75177457-66B5-4856-9C8E-20E0293BA0B9}" sibTransId="{83CF5BEC-EE36-462A-A2CD-19DB23D7956E}"/>
    <dgm:cxn modelId="{D0019D45-77CC-4654-8A74-5DD92DBF1E17}" srcId="{0BBB5D77-CA78-4E15-B64A-4FF58BA1CAD0}" destId="{89F2405D-1019-4BE9-8860-B1F7B306F8BF}" srcOrd="0" destOrd="0" parTransId="{42D33FD2-BE64-47FD-BC63-61EE7E6AF72A}" sibTransId="{DA9D5CEC-F7BD-4460-AD32-9E80004ED2EF}"/>
    <dgm:cxn modelId="{A8ED57AB-843F-45B7-8549-9938206F4B3D}" type="presOf" srcId="{55F82EAD-8636-4967-9F8D-7821DA48DC0E}" destId="{7CE563AF-CDF1-4E9D-8B5F-4F054948F53B}" srcOrd="0" destOrd="0" presId="urn:microsoft.com/office/officeart/2005/8/layout/vList5"/>
    <dgm:cxn modelId="{0893635C-F380-49D8-A2AC-F4AE98688FA8}" srcId="{49EBC293-72BF-4F1D-A924-4A519497A04E}" destId="{A8FFDC39-1801-4057-8885-3F67646903E0}" srcOrd="0" destOrd="0" parTransId="{F9F39C4F-1DCD-4E89-A12B-515D40E5A389}" sibTransId="{47477670-624B-4148-8AE5-7CF43CE3B997}"/>
    <dgm:cxn modelId="{F78C6A1A-F51A-4EEE-9F45-CD794128BE8C}" type="presOf" srcId="{49EBC293-72BF-4F1D-A924-4A519497A04E}" destId="{4EA86636-5CE1-471E-98B5-A8FD7E0FC176}" srcOrd="0" destOrd="0" presId="urn:microsoft.com/office/officeart/2005/8/layout/vList5"/>
    <dgm:cxn modelId="{EBF09D41-9562-4D75-9FC5-3E431EA1BAC7}" type="presOf" srcId="{E4267527-401E-4332-B397-7432BB633A32}" destId="{A01AFD3B-16F4-4FFC-8DF9-F7692054684E}" srcOrd="0" destOrd="1" presId="urn:microsoft.com/office/officeart/2005/8/layout/vList5"/>
    <dgm:cxn modelId="{2659194C-FD00-4C6F-8745-F8E2E7EAC27C}" type="presOf" srcId="{906D800B-FE10-45FB-B235-F59EFA7A6D58}" destId="{97229DF9-6C5F-458B-AEBC-3B6AA09B7B7B}" srcOrd="0" destOrd="1" presId="urn:microsoft.com/office/officeart/2005/8/layout/vList5"/>
    <dgm:cxn modelId="{2B0CD343-84B4-4051-ABB2-2587FA604A5D}" srcId="{55F82EAD-8636-4967-9F8D-7821DA48DC0E}" destId="{49EBC293-72BF-4F1D-A924-4A519497A04E}" srcOrd="2" destOrd="0" parTransId="{899AEFD0-FD0E-4BF5-9353-789A2DC88CFA}" sibTransId="{577D12E2-1C83-40F2-AF35-280EA86AD4D8}"/>
    <dgm:cxn modelId="{E8C5472E-38F6-45D2-9362-88CA94287156}" srcId="{49EBC293-72BF-4F1D-A924-4A519497A04E}" destId="{E4B61BD6-7A0D-443B-B30B-6BEACE10576A}" srcOrd="2" destOrd="0" parTransId="{AEAD0939-CFB5-4FAE-AACF-1AB4250955E7}" sibTransId="{C16F2827-6424-45F4-A9FC-B88BA4C1A831}"/>
    <dgm:cxn modelId="{151EE6A2-6061-4596-8915-52E49DC96D25}" type="presOf" srcId="{426128BC-6CE2-4BDC-9938-A19373D8942E}" destId="{A01AFD3B-16F4-4FFC-8DF9-F7692054684E}" srcOrd="0" destOrd="0" presId="urn:microsoft.com/office/officeart/2005/8/layout/vList5"/>
    <dgm:cxn modelId="{F5B0BFD9-E7BE-4EFB-87C0-80506F3F042B}" type="presOf" srcId="{0BBB5D77-CA78-4E15-B64A-4FF58BA1CAD0}" destId="{D462FB03-E15D-4A9B-B0D8-C19CA7918D43}" srcOrd="0" destOrd="0" presId="urn:microsoft.com/office/officeart/2005/8/layout/vList5"/>
    <dgm:cxn modelId="{D8980C9F-7BFF-4A83-8770-6AD9F6A55233}" type="presParOf" srcId="{7CE563AF-CDF1-4E9D-8B5F-4F054948F53B}" destId="{960D80C8-8850-4FAE-B63B-D5964DD3695E}" srcOrd="0" destOrd="0" presId="urn:microsoft.com/office/officeart/2005/8/layout/vList5"/>
    <dgm:cxn modelId="{568A7973-18AA-4BDB-940F-879C372FFCDD}" type="presParOf" srcId="{960D80C8-8850-4FAE-B63B-D5964DD3695E}" destId="{D462FB03-E15D-4A9B-B0D8-C19CA7918D43}" srcOrd="0" destOrd="0" presId="urn:microsoft.com/office/officeart/2005/8/layout/vList5"/>
    <dgm:cxn modelId="{18D5B5B2-5916-49E5-8A87-25C980A99E96}" type="presParOf" srcId="{960D80C8-8850-4FAE-B63B-D5964DD3695E}" destId="{97229DF9-6C5F-458B-AEBC-3B6AA09B7B7B}" srcOrd="1" destOrd="0" presId="urn:microsoft.com/office/officeart/2005/8/layout/vList5"/>
    <dgm:cxn modelId="{44425A01-52B7-47CB-A2CB-EF82BEE444E1}" type="presParOf" srcId="{7CE563AF-CDF1-4E9D-8B5F-4F054948F53B}" destId="{E0872501-ED07-4F8F-95B4-DFBEDC4028E2}" srcOrd="1" destOrd="0" presId="urn:microsoft.com/office/officeart/2005/8/layout/vList5"/>
    <dgm:cxn modelId="{4864BE4A-FFD8-4321-9333-A86539C4A6CA}" type="presParOf" srcId="{7CE563AF-CDF1-4E9D-8B5F-4F054948F53B}" destId="{6A2A7A94-A524-432F-8E51-9D534FF0D619}" srcOrd="2" destOrd="0" presId="urn:microsoft.com/office/officeart/2005/8/layout/vList5"/>
    <dgm:cxn modelId="{A103E1AA-0D48-4DAA-838D-BEC734E3E54F}" type="presParOf" srcId="{6A2A7A94-A524-432F-8E51-9D534FF0D619}" destId="{B055BBDF-CD66-4860-809F-C555B45AFD69}" srcOrd="0" destOrd="0" presId="urn:microsoft.com/office/officeart/2005/8/layout/vList5"/>
    <dgm:cxn modelId="{C60EAB26-5AA3-49E5-BBBF-C47289EE4026}" type="presParOf" srcId="{6A2A7A94-A524-432F-8E51-9D534FF0D619}" destId="{A01AFD3B-16F4-4FFC-8DF9-F7692054684E}" srcOrd="1" destOrd="0" presId="urn:microsoft.com/office/officeart/2005/8/layout/vList5"/>
    <dgm:cxn modelId="{450125B3-3261-4D95-8426-9E5CF864E489}" type="presParOf" srcId="{7CE563AF-CDF1-4E9D-8B5F-4F054948F53B}" destId="{F4D8426A-3015-4FC6-A3CC-53328E9B427C}" srcOrd="3" destOrd="0" presId="urn:microsoft.com/office/officeart/2005/8/layout/vList5"/>
    <dgm:cxn modelId="{E612E874-6D48-4655-8320-9E6B284D5441}" type="presParOf" srcId="{7CE563AF-CDF1-4E9D-8B5F-4F054948F53B}" destId="{C321E5E9-259F-4766-B890-A26A0EA6213D}" srcOrd="4" destOrd="0" presId="urn:microsoft.com/office/officeart/2005/8/layout/vList5"/>
    <dgm:cxn modelId="{E8EF5112-3B9F-40B1-AEDB-E4C4908F5CB8}" type="presParOf" srcId="{C321E5E9-259F-4766-B890-A26A0EA6213D}" destId="{4EA86636-5CE1-471E-98B5-A8FD7E0FC176}" srcOrd="0" destOrd="0" presId="urn:microsoft.com/office/officeart/2005/8/layout/vList5"/>
    <dgm:cxn modelId="{9CB74ECC-74CB-43B7-A2CF-04961A9C9582}" type="presParOf" srcId="{C321E5E9-259F-4766-B890-A26A0EA6213D}" destId="{120C9E11-AC89-43A5-9B62-6C2D69BEBF5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5F82EAD-8636-4967-9F8D-7821DA48DC0E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BBB5D77-CA78-4E15-B64A-4FF58BA1CAD0}">
      <dgm:prSet phldrT="[Text]" custT="1"/>
      <dgm:spPr/>
      <dgm:t>
        <a:bodyPr/>
        <a:lstStyle/>
        <a:p>
          <a:r>
            <a:rPr lang="en-US" sz="2800" b="1" dirty="0" err="1" smtClean="0"/>
            <a:t>Traveller’s</a:t>
          </a:r>
          <a:r>
            <a:rPr lang="en-US" sz="2800" b="1" dirty="0" smtClean="0"/>
            <a:t> </a:t>
          </a:r>
          <a:r>
            <a:rPr lang="en-US" sz="2800" b="1" dirty="0" err="1" smtClean="0"/>
            <a:t>Cheque</a:t>
          </a:r>
          <a:endParaRPr lang="en-US" sz="2800" b="1" dirty="0"/>
        </a:p>
      </dgm:t>
    </dgm:pt>
    <dgm:pt modelId="{5CAC48B3-314A-4554-A12E-58319EEDEC53}" type="parTrans" cxnId="{34BAEE69-EE76-4C19-A883-34C3CC8B8124}">
      <dgm:prSet/>
      <dgm:spPr/>
      <dgm:t>
        <a:bodyPr/>
        <a:lstStyle/>
        <a:p>
          <a:endParaRPr lang="en-US"/>
        </a:p>
      </dgm:t>
    </dgm:pt>
    <dgm:pt modelId="{396978FE-D438-467E-BDAC-5D4D96D39223}" type="sibTrans" cxnId="{34BAEE69-EE76-4C19-A883-34C3CC8B8124}">
      <dgm:prSet/>
      <dgm:spPr/>
      <dgm:t>
        <a:bodyPr/>
        <a:lstStyle/>
        <a:p>
          <a:endParaRPr lang="en-US"/>
        </a:p>
      </dgm:t>
    </dgm:pt>
    <dgm:pt modelId="{89F2405D-1019-4BE9-8860-B1F7B306F8BF}">
      <dgm:prSet phldrT="[Text]" custT="1"/>
      <dgm:spPr/>
      <dgm:t>
        <a:bodyPr/>
        <a:lstStyle/>
        <a:p>
          <a:r>
            <a:rPr lang="en-US" sz="2800" dirty="0" smtClean="0"/>
            <a:t>Pre-printed, fixed amount </a:t>
          </a:r>
          <a:r>
            <a:rPr lang="en-US" sz="2800" dirty="0" err="1" smtClean="0"/>
            <a:t>cheque</a:t>
          </a:r>
          <a:r>
            <a:rPr lang="en-US" sz="2800" dirty="0" smtClean="0"/>
            <a:t>.</a:t>
          </a:r>
          <a:endParaRPr lang="en-US" sz="2800" dirty="0"/>
        </a:p>
      </dgm:t>
    </dgm:pt>
    <dgm:pt modelId="{42D33FD2-BE64-47FD-BC63-61EE7E6AF72A}" type="parTrans" cxnId="{D0019D45-77CC-4654-8A74-5DD92DBF1E17}">
      <dgm:prSet/>
      <dgm:spPr/>
      <dgm:t>
        <a:bodyPr/>
        <a:lstStyle/>
        <a:p>
          <a:endParaRPr lang="en-US"/>
        </a:p>
      </dgm:t>
    </dgm:pt>
    <dgm:pt modelId="{DA9D5CEC-F7BD-4460-AD32-9E80004ED2EF}" type="sibTrans" cxnId="{D0019D45-77CC-4654-8A74-5DD92DBF1E17}">
      <dgm:prSet/>
      <dgm:spPr/>
      <dgm:t>
        <a:bodyPr/>
        <a:lstStyle/>
        <a:p>
          <a:endParaRPr lang="en-US"/>
        </a:p>
      </dgm:t>
    </dgm:pt>
    <dgm:pt modelId="{4514B484-BE7E-4E4A-BE83-87EFEA5B796F}">
      <dgm:prSet phldrT="[Text]" custT="1"/>
      <dgm:spPr/>
      <dgm:t>
        <a:bodyPr/>
        <a:lstStyle/>
        <a:p>
          <a:r>
            <a:rPr lang="en-US" sz="2800" dirty="0" smtClean="0"/>
            <a:t>Designed for travelers to exchange for local currency.</a:t>
          </a:r>
          <a:endParaRPr lang="en-US" sz="2800" dirty="0"/>
        </a:p>
      </dgm:t>
    </dgm:pt>
    <dgm:pt modelId="{4A5C4598-E282-4A39-8ECC-1BA12DD039F8}" type="parTrans" cxnId="{0538A892-0145-4353-83B5-70414923C800}">
      <dgm:prSet/>
      <dgm:spPr/>
      <dgm:t>
        <a:bodyPr/>
        <a:lstStyle/>
        <a:p>
          <a:endParaRPr lang="en-US"/>
        </a:p>
      </dgm:t>
    </dgm:pt>
    <dgm:pt modelId="{272B3F82-2118-464A-95E7-370BCF243A83}" type="sibTrans" cxnId="{0538A892-0145-4353-83B5-70414923C800}">
      <dgm:prSet/>
      <dgm:spPr/>
      <dgm:t>
        <a:bodyPr/>
        <a:lstStyle/>
        <a:p>
          <a:endParaRPr lang="en-US"/>
        </a:p>
      </dgm:t>
    </dgm:pt>
    <dgm:pt modelId="{30131AED-1A5F-4CA0-9545-7C041061CF9B}">
      <dgm:prSet phldrT="[Text]" custT="1"/>
      <dgm:spPr/>
      <dgm:t>
        <a:bodyPr/>
        <a:lstStyle/>
        <a:p>
          <a:r>
            <a:rPr lang="en-US" sz="2800" smtClean="0"/>
            <a:t>Traveller’s cheque do not expire and can be used for future trip</a:t>
          </a:r>
          <a:endParaRPr lang="en-US" sz="2800" dirty="0"/>
        </a:p>
      </dgm:t>
    </dgm:pt>
    <dgm:pt modelId="{BD7E43D8-103F-4BE1-8413-DD3C537D0168}" type="parTrans" cxnId="{4CDBF43F-824A-4C09-B6D7-0131D53B873F}">
      <dgm:prSet/>
      <dgm:spPr/>
      <dgm:t>
        <a:bodyPr/>
        <a:lstStyle/>
        <a:p>
          <a:endParaRPr lang="en-US"/>
        </a:p>
      </dgm:t>
    </dgm:pt>
    <dgm:pt modelId="{4B64B291-E61D-4DEC-9484-B61647921287}" type="sibTrans" cxnId="{4CDBF43F-824A-4C09-B6D7-0131D53B873F}">
      <dgm:prSet/>
      <dgm:spPr/>
      <dgm:t>
        <a:bodyPr/>
        <a:lstStyle/>
        <a:p>
          <a:endParaRPr lang="en-US"/>
        </a:p>
      </dgm:t>
    </dgm:pt>
    <dgm:pt modelId="{7CE563AF-CDF1-4E9D-8B5F-4F054948F53B}" type="pres">
      <dgm:prSet presAssocID="{55F82EAD-8636-4967-9F8D-7821DA48DC0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60D80C8-8850-4FAE-B63B-D5964DD3695E}" type="pres">
      <dgm:prSet presAssocID="{0BBB5D77-CA78-4E15-B64A-4FF58BA1CAD0}" presName="linNode" presStyleCnt="0"/>
      <dgm:spPr/>
    </dgm:pt>
    <dgm:pt modelId="{D462FB03-E15D-4A9B-B0D8-C19CA7918D43}" type="pres">
      <dgm:prSet presAssocID="{0BBB5D77-CA78-4E15-B64A-4FF58BA1CAD0}" presName="parentText" presStyleLbl="node1" presStyleIdx="0" presStyleCnt="1" custScaleX="5358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229DF9-6C5F-458B-AEBC-3B6AA09B7B7B}" type="pres">
      <dgm:prSet presAssocID="{0BBB5D77-CA78-4E15-B64A-4FF58BA1CAD0}" presName="descendantText" presStyleLbl="alignAccFollowNode1" presStyleIdx="0" presStyleCnt="1" custScaleX="15784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8ED57AB-843F-45B7-8549-9938206F4B3D}" type="presOf" srcId="{55F82EAD-8636-4967-9F8D-7821DA48DC0E}" destId="{7CE563AF-CDF1-4E9D-8B5F-4F054948F53B}" srcOrd="0" destOrd="0" presId="urn:microsoft.com/office/officeart/2005/8/layout/vList5"/>
    <dgm:cxn modelId="{F5B0BFD9-E7BE-4EFB-87C0-80506F3F042B}" type="presOf" srcId="{0BBB5D77-CA78-4E15-B64A-4FF58BA1CAD0}" destId="{D462FB03-E15D-4A9B-B0D8-C19CA7918D43}" srcOrd="0" destOrd="0" presId="urn:microsoft.com/office/officeart/2005/8/layout/vList5"/>
    <dgm:cxn modelId="{968EC3B0-E876-4621-8E66-411DC0BDC2F3}" type="presOf" srcId="{89F2405D-1019-4BE9-8860-B1F7B306F8BF}" destId="{97229DF9-6C5F-458B-AEBC-3B6AA09B7B7B}" srcOrd="0" destOrd="0" presId="urn:microsoft.com/office/officeart/2005/8/layout/vList5"/>
    <dgm:cxn modelId="{4CDBF43F-824A-4C09-B6D7-0131D53B873F}" srcId="{0BBB5D77-CA78-4E15-B64A-4FF58BA1CAD0}" destId="{30131AED-1A5F-4CA0-9545-7C041061CF9B}" srcOrd="2" destOrd="0" parTransId="{BD7E43D8-103F-4BE1-8413-DD3C537D0168}" sibTransId="{4B64B291-E61D-4DEC-9484-B61647921287}"/>
    <dgm:cxn modelId="{6CD3FEC7-90D7-417A-AD0A-D3F258974A73}" type="presOf" srcId="{4514B484-BE7E-4E4A-BE83-87EFEA5B796F}" destId="{97229DF9-6C5F-458B-AEBC-3B6AA09B7B7B}" srcOrd="0" destOrd="1" presId="urn:microsoft.com/office/officeart/2005/8/layout/vList5"/>
    <dgm:cxn modelId="{D0019D45-77CC-4654-8A74-5DD92DBF1E17}" srcId="{0BBB5D77-CA78-4E15-B64A-4FF58BA1CAD0}" destId="{89F2405D-1019-4BE9-8860-B1F7B306F8BF}" srcOrd="0" destOrd="0" parTransId="{42D33FD2-BE64-47FD-BC63-61EE7E6AF72A}" sibTransId="{DA9D5CEC-F7BD-4460-AD32-9E80004ED2EF}"/>
    <dgm:cxn modelId="{4D0D5C7E-7F98-4DAF-91C8-B94FECA36B8E}" type="presOf" srcId="{30131AED-1A5F-4CA0-9545-7C041061CF9B}" destId="{97229DF9-6C5F-458B-AEBC-3B6AA09B7B7B}" srcOrd="0" destOrd="2" presId="urn:microsoft.com/office/officeart/2005/8/layout/vList5"/>
    <dgm:cxn modelId="{34BAEE69-EE76-4C19-A883-34C3CC8B8124}" srcId="{55F82EAD-8636-4967-9F8D-7821DA48DC0E}" destId="{0BBB5D77-CA78-4E15-B64A-4FF58BA1CAD0}" srcOrd="0" destOrd="0" parTransId="{5CAC48B3-314A-4554-A12E-58319EEDEC53}" sibTransId="{396978FE-D438-467E-BDAC-5D4D96D39223}"/>
    <dgm:cxn modelId="{0538A892-0145-4353-83B5-70414923C800}" srcId="{0BBB5D77-CA78-4E15-B64A-4FF58BA1CAD0}" destId="{4514B484-BE7E-4E4A-BE83-87EFEA5B796F}" srcOrd="1" destOrd="0" parTransId="{4A5C4598-E282-4A39-8ECC-1BA12DD039F8}" sibTransId="{272B3F82-2118-464A-95E7-370BCF243A83}"/>
    <dgm:cxn modelId="{D8980C9F-7BFF-4A83-8770-6AD9F6A55233}" type="presParOf" srcId="{7CE563AF-CDF1-4E9D-8B5F-4F054948F53B}" destId="{960D80C8-8850-4FAE-B63B-D5964DD3695E}" srcOrd="0" destOrd="0" presId="urn:microsoft.com/office/officeart/2005/8/layout/vList5"/>
    <dgm:cxn modelId="{568A7973-18AA-4BDB-940F-879C372FFCDD}" type="presParOf" srcId="{960D80C8-8850-4FAE-B63B-D5964DD3695E}" destId="{D462FB03-E15D-4A9B-B0D8-C19CA7918D43}" srcOrd="0" destOrd="0" presId="urn:microsoft.com/office/officeart/2005/8/layout/vList5"/>
    <dgm:cxn modelId="{18D5B5B2-5916-49E5-8A87-25C980A99E96}" type="presParOf" srcId="{960D80C8-8850-4FAE-B63B-D5964DD3695E}" destId="{97229DF9-6C5F-458B-AEBC-3B6AA09B7B7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4B8DFA30-3259-46A0-94C6-970A7387E1CB}" type="doc">
      <dgm:prSet loTypeId="urn:microsoft.com/office/officeart/2008/layout/HorizontalMultiLevelHierarchy" loCatId="hierarchy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0193DFE7-EFD8-4B36-9603-F01C1C5A7F5F}">
      <dgm:prSet phldrT="[Text]" custT="1"/>
      <dgm:spPr/>
      <dgm:t>
        <a:bodyPr/>
        <a:lstStyle/>
        <a:p>
          <a:r>
            <a:rPr lang="en-US" sz="5000" b="1" dirty="0"/>
            <a:t>Types of Loans</a:t>
          </a:r>
          <a:endParaRPr lang="en-IN" sz="5000" b="1" dirty="0"/>
        </a:p>
      </dgm:t>
    </dgm:pt>
    <dgm:pt modelId="{39031152-6098-47CB-92B2-F78E1D25DCEB}" type="parTrans" cxnId="{B0761F87-334D-45B2-BB9B-56BE6A92BF1C}">
      <dgm:prSet/>
      <dgm:spPr/>
      <dgm:t>
        <a:bodyPr/>
        <a:lstStyle/>
        <a:p>
          <a:endParaRPr lang="en-IN"/>
        </a:p>
      </dgm:t>
    </dgm:pt>
    <dgm:pt modelId="{20F3A4E4-2ED1-4C79-AFB1-9DD20D2154CD}" type="sibTrans" cxnId="{B0761F87-334D-45B2-BB9B-56BE6A92BF1C}">
      <dgm:prSet/>
      <dgm:spPr/>
      <dgm:t>
        <a:bodyPr/>
        <a:lstStyle/>
        <a:p>
          <a:endParaRPr lang="en-IN"/>
        </a:p>
      </dgm:t>
    </dgm:pt>
    <dgm:pt modelId="{FBC04226-702A-46C8-BC9F-25AA4A246359}">
      <dgm:prSet phldrT="[Text]"/>
      <dgm:spPr/>
      <dgm:t>
        <a:bodyPr/>
        <a:lstStyle/>
        <a:p>
          <a:r>
            <a:rPr lang="en-IN" b="1" i="0" dirty="0"/>
            <a:t>Secured Loans</a:t>
          </a:r>
          <a:endParaRPr lang="en-IN" dirty="0"/>
        </a:p>
      </dgm:t>
    </dgm:pt>
    <dgm:pt modelId="{57A488A5-9413-4846-A1AB-649C6B3780BD}" type="parTrans" cxnId="{6A0DE27D-243D-4519-B260-49076236BE69}">
      <dgm:prSet/>
      <dgm:spPr/>
      <dgm:t>
        <a:bodyPr/>
        <a:lstStyle/>
        <a:p>
          <a:endParaRPr lang="en-IN"/>
        </a:p>
      </dgm:t>
    </dgm:pt>
    <dgm:pt modelId="{2F40AF07-7713-4D6A-8155-CF75A7760B0E}" type="sibTrans" cxnId="{6A0DE27D-243D-4519-B260-49076236BE69}">
      <dgm:prSet/>
      <dgm:spPr/>
      <dgm:t>
        <a:bodyPr/>
        <a:lstStyle/>
        <a:p>
          <a:endParaRPr lang="en-IN"/>
        </a:p>
      </dgm:t>
    </dgm:pt>
    <dgm:pt modelId="{C545ACDC-23C8-4178-9BF9-3AB503736431}">
      <dgm:prSet phldrT="[Text]"/>
      <dgm:spPr/>
      <dgm:t>
        <a:bodyPr/>
        <a:lstStyle/>
        <a:p>
          <a:r>
            <a:rPr lang="en-IN" b="1" i="0" dirty="0"/>
            <a:t>Unsecured Loans</a:t>
          </a:r>
          <a:endParaRPr lang="en-IN" dirty="0"/>
        </a:p>
      </dgm:t>
    </dgm:pt>
    <dgm:pt modelId="{42E32D64-C274-41FE-B8C8-58D4846F2E90}" type="parTrans" cxnId="{1F9F5D7F-5A78-4374-B56C-64CCE1DA0069}">
      <dgm:prSet/>
      <dgm:spPr/>
      <dgm:t>
        <a:bodyPr/>
        <a:lstStyle/>
        <a:p>
          <a:endParaRPr lang="en-IN"/>
        </a:p>
      </dgm:t>
    </dgm:pt>
    <dgm:pt modelId="{394CF81A-5613-470F-A505-672B07E75A0F}" type="sibTrans" cxnId="{1F9F5D7F-5A78-4374-B56C-64CCE1DA0069}">
      <dgm:prSet/>
      <dgm:spPr/>
      <dgm:t>
        <a:bodyPr/>
        <a:lstStyle/>
        <a:p>
          <a:endParaRPr lang="en-IN"/>
        </a:p>
      </dgm:t>
    </dgm:pt>
    <dgm:pt modelId="{DB231FA2-DDEB-403F-BC76-7EC2516CA9E6}" type="pres">
      <dgm:prSet presAssocID="{4B8DFA30-3259-46A0-94C6-970A7387E1CB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D4C361F-2710-46ED-B472-D6C4B52BEDEA}" type="pres">
      <dgm:prSet presAssocID="{0193DFE7-EFD8-4B36-9603-F01C1C5A7F5F}" presName="root1" presStyleCnt="0"/>
      <dgm:spPr/>
      <dgm:t>
        <a:bodyPr/>
        <a:lstStyle/>
        <a:p>
          <a:endParaRPr lang="en-US"/>
        </a:p>
      </dgm:t>
    </dgm:pt>
    <dgm:pt modelId="{D415AA1C-0DB8-458C-B28A-06CD9DF57E25}" type="pres">
      <dgm:prSet presAssocID="{0193DFE7-EFD8-4B36-9603-F01C1C5A7F5F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515DE50-4737-4846-98D1-6ADA15328740}" type="pres">
      <dgm:prSet presAssocID="{0193DFE7-EFD8-4B36-9603-F01C1C5A7F5F}" presName="level2hierChild" presStyleCnt="0"/>
      <dgm:spPr/>
      <dgm:t>
        <a:bodyPr/>
        <a:lstStyle/>
        <a:p>
          <a:endParaRPr lang="en-US"/>
        </a:p>
      </dgm:t>
    </dgm:pt>
    <dgm:pt modelId="{6A52717E-C80F-4B30-A590-4FB7249FCA8D}" type="pres">
      <dgm:prSet presAssocID="{57A488A5-9413-4846-A1AB-649C6B3780BD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0A456959-54BE-44B9-83BB-D2CBD8032A6A}" type="pres">
      <dgm:prSet presAssocID="{57A488A5-9413-4846-A1AB-649C6B3780BD}" presName="connTx" presStyleLbl="parChTrans1D2" presStyleIdx="0" presStyleCnt="2"/>
      <dgm:spPr/>
      <dgm:t>
        <a:bodyPr/>
        <a:lstStyle/>
        <a:p>
          <a:endParaRPr lang="en-US"/>
        </a:p>
      </dgm:t>
    </dgm:pt>
    <dgm:pt modelId="{4F08060E-AE4B-4775-9A26-6C1E82225905}" type="pres">
      <dgm:prSet presAssocID="{FBC04226-702A-46C8-BC9F-25AA4A246359}" presName="root2" presStyleCnt="0"/>
      <dgm:spPr/>
      <dgm:t>
        <a:bodyPr/>
        <a:lstStyle/>
        <a:p>
          <a:endParaRPr lang="en-US"/>
        </a:p>
      </dgm:t>
    </dgm:pt>
    <dgm:pt modelId="{7EB9A1DF-F18A-4294-A1FF-2985FA3C88F6}" type="pres">
      <dgm:prSet presAssocID="{FBC04226-702A-46C8-BC9F-25AA4A246359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B26C3A5-EABF-42D4-88CC-80A7DD7C68A9}" type="pres">
      <dgm:prSet presAssocID="{FBC04226-702A-46C8-BC9F-25AA4A246359}" presName="level3hierChild" presStyleCnt="0"/>
      <dgm:spPr/>
      <dgm:t>
        <a:bodyPr/>
        <a:lstStyle/>
        <a:p>
          <a:endParaRPr lang="en-US"/>
        </a:p>
      </dgm:t>
    </dgm:pt>
    <dgm:pt modelId="{34ADF544-0917-4C57-A945-3B75314647E6}" type="pres">
      <dgm:prSet presAssocID="{42E32D64-C274-41FE-B8C8-58D4846F2E90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5CA7F110-D11B-4E59-B615-3B7029CAC4B1}" type="pres">
      <dgm:prSet presAssocID="{42E32D64-C274-41FE-B8C8-58D4846F2E90}" presName="connTx" presStyleLbl="parChTrans1D2" presStyleIdx="1" presStyleCnt="2"/>
      <dgm:spPr/>
      <dgm:t>
        <a:bodyPr/>
        <a:lstStyle/>
        <a:p>
          <a:endParaRPr lang="en-US"/>
        </a:p>
      </dgm:t>
    </dgm:pt>
    <dgm:pt modelId="{69EF00BA-513E-42A4-B396-BA7B20CBF7F3}" type="pres">
      <dgm:prSet presAssocID="{C545ACDC-23C8-4178-9BF9-3AB503736431}" presName="root2" presStyleCnt="0"/>
      <dgm:spPr/>
      <dgm:t>
        <a:bodyPr/>
        <a:lstStyle/>
        <a:p>
          <a:endParaRPr lang="en-US"/>
        </a:p>
      </dgm:t>
    </dgm:pt>
    <dgm:pt modelId="{4076950C-B835-42DD-90A5-7434565D4FD0}" type="pres">
      <dgm:prSet presAssocID="{C545ACDC-23C8-4178-9BF9-3AB503736431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2F06F41-0CCD-43ED-B8F6-4FEFA3BA7F6D}" type="pres">
      <dgm:prSet presAssocID="{C545ACDC-23C8-4178-9BF9-3AB503736431}" presName="level3hierChild" presStyleCnt="0"/>
      <dgm:spPr/>
      <dgm:t>
        <a:bodyPr/>
        <a:lstStyle/>
        <a:p>
          <a:endParaRPr lang="en-US"/>
        </a:p>
      </dgm:t>
    </dgm:pt>
  </dgm:ptLst>
  <dgm:cxnLst>
    <dgm:cxn modelId="{E99CFAF3-27C5-49EA-80F0-ED4FD46C429E}" type="presOf" srcId="{4B8DFA30-3259-46A0-94C6-970A7387E1CB}" destId="{DB231FA2-DDEB-403F-BC76-7EC2516CA9E6}" srcOrd="0" destOrd="0" presId="urn:microsoft.com/office/officeart/2008/layout/HorizontalMultiLevelHierarchy"/>
    <dgm:cxn modelId="{3D0151B7-F395-48B3-9E80-C7127EC974AB}" type="presOf" srcId="{0193DFE7-EFD8-4B36-9603-F01C1C5A7F5F}" destId="{D415AA1C-0DB8-458C-B28A-06CD9DF57E25}" srcOrd="0" destOrd="0" presId="urn:microsoft.com/office/officeart/2008/layout/HorizontalMultiLevelHierarchy"/>
    <dgm:cxn modelId="{AD7A9D97-CC21-423E-809D-E472079C5687}" type="presOf" srcId="{42E32D64-C274-41FE-B8C8-58D4846F2E90}" destId="{5CA7F110-D11B-4E59-B615-3B7029CAC4B1}" srcOrd="1" destOrd="0" presId="urn:microsoft.com/office/officeart/2008/layout/HorizontalMultiLevelHierarchy"/>
    <dgm:cxn modelId="{BB9D5BA6-E7D9-4636-9FA1-57D4FE24AAF6}" type="presOf" srcId="{42E32D64-C274-41FE-B8C8-58D4846F2E90}" destId="{34ADF544-0917-4C57-A945-3B75314647E6}" srcOrd="0" destOrd="0" presId="urn:microsoft.com/office/officeart/2008/layout/HorizontalMultiLevelHierarchy"/>
    <dgm:cxn modelId="{9CD3E79E-E081-4A85-A684-2B693FE386F5}" type="presOf" srcId="{57A488A5-9413-4846-A1AB-649C6B3780BD}" destId="{0A456959-54BE-44B9-83BB-D2CBD8032A6A}" srcOrd="1" destOrd="0" presId="urn:microsoft.com/office/officeart/2008/layout/HorizontalMultiLevelHierarchy"/>
    <dgm:cxn modelId="{316FFEB3-F04C-4B69-BFF5-A6BDD1C62D9C}" type="presOf" srcId="{FBC04226-702A-46C8-BC9F-25AA4A246359}" destId="{7EB9A1DF-F18A-4294-A1FF-2985FA3C88F6}" srcOrd="0" destOrd="0" presId="urn:microsoft.com/office/officeart/2008/layout/HorizontalMultiLevelHierarchy"/>
    <dgm:cxn modelId="{7948E400-30A1-4E57-A2AA-F7C85FA503AE}" type="presOf" srcId="{57A488A5-9413-4846-A1AB-649C6B3780BD}" destId="{6A52717E-C80F-4B30-A590-4FB7249FCA8D}" srcOrd="0" destOrd="0" presId="urn:microsoft.com/office/officeart/2008/layout/HorizontalMultiLevelHierarchy"/>
    <dgm:cxn modelId="{1F9F5D7F-5A78-4374-B56C-64CCE1DA0069}" srcId="{0193DFE7-EFD8-4B36-9603-F01C1C5A7F5F}" destId="{C545ACDC-23C8-4178-9BF9-3AB503736431}" srcOrd="1" destOrd="0" parTransId="{42E32D64-C274-41FE-B8C8-58D4846F2E90}" sibTransId="{394CF81A-5613-470F-A505-672B07E75A0F}"/>
    <dgm:cxn modelId="{11ABBC49-C565-4B65-802D-D7AC96B74A62}" type="presOf" srcId="{C545ACDC-23C8-4178-9BF9-3AB503736431}" destId="{4076950C-B835-42DD-90A5-7434565D4FD0}" srcOrd="0" destOrd="0" presId="urn:microsoft.com/office/officeart/2008/layout/HorizontalMultiLevelHierarchy"/>
    <dgm:cxn modelId="{6A0DE27D-243D-4519-B260-49076236BE69}" srcId="{0193DFE7-EFD8-4B36-9603-F01C1C5A7F5F}" destId="{FBC04226-702A-46C8-BC9F-25AA4A246359}" srcOrd="0" destOrd="0" parTransId="{57A488A5-9413-4846-A1AB-649C6B3780BD}" sibTransId="{2F40AF07-7713-4D6A-8155-CF75A7760B0E}"/>
    <dgm:cxn modelId="{B0761F87-334D-45B2-BB9B-56BE6A92BF1C}" srcId="{4B8DFA30-3259-46A0-94C6-970A7387E1CB}" destId="{0193DFE7-EFD8-4B36-9603-F01C1C5A7F5F}" srcOrd="0" destOrd="0" parTransId="{39031152-6098-47CB-92B2-F78E1D25DCEB}" sibTransId="{20F3A4E4-2ED1-4C79-AFB1-9DD20D2154CD}"/>
    <dgm:cxn modelId="{39AECE03-E36A-4FF7-B214-2085ADB2223C}" type="presParOf" srcId="{DB231FA2-DDEB-403F-BC76-7EC2516CA9E6}" destId="{2D4C361F-2710-46ED-B472-D6C4B52BEDEA}" srcOrd="0" destOrd="0" presId="urn:microsoft.com/office/officeart/2008/layout/HorizontalMultiLevelHierarchy"/>
    <dgm:cxn modelId="{F2E48D90-9F21-4C39-885B-5661AF0C23D2}" type="presParOf" srcId="{2D4C361F-2710-46ED-B472-D6C4B52BEDEA}" destId="{D415AA1C-0DB8-458C-B28A-06CD9DF57E25}" srcOrd="0" destOrd="0" presId="urn:microsoft.com/office/officeart/2008/layout/HorizontalMultiLevelHierarchy"/>
    <dgm:cxn modelId="{D6303672-2EFE-466F-BE49-72349DF7A031}" type="presParOf" srcId="{2D4C361F-2710-46ED-B472-D6C4B52BEDEA}" destId="{B515DE50-4737-4846-98D1-6ADA15328740}" srcOrd="1" destOrd="0" presId="urn:microsoft.com/office/officeart/2008/layout/HorizontalMultiLevelHierarchy"/>
    <dgm:cxn modelId="{4E54E5D2-8B58-411D-87B9-C7398683CE95}" type="presParOf" srcId="{B515DE50-4737-4846-98D1-6ADA15328740}" destId="{6A52717E-C80F-4B30-A590-4FB7249FCA8D}" srcOrd="0" destOrd="0" presId="urn:microsoft.com/office/officeart/2008/layout/HorizontalMultiLevelHierarchy"/>
    <dgm:cxn modelId="{AFCA3C64-6BC6-4BCE-9F10-8FF8BABBC2E3}" type="presParOf" srcId="{6A52717E-C80F-4B30-A590-4FB7249FCA8D}" destId="{0A456959-54BE-44B9-83BB-D2CBD8032A6A}" srcOrd="0" destOrd="0" presId="urn:microsoft.com/office/officeart/2008/layout/HorizontalMultiLevelHierarchy"/>
    <dgm:cxn modelId="{CFA1B6F3-6844-4058-8A85-E9CF63847F26}" type="presParOf" srcId="{B515DE50-4737-4846-98D1-6ADA15328740}" destId="{4F08060E-AE4B-4775-9A26-6C1E82225905}" srcOrd="1" destOrd="0" presId="urn:microsoft.com/office/officeart/2008/layout/HorizontalMultiLevelHierarchy"/>
    <dgm:cxn modelId="{7728A27D-FD4B-4C20-9BA8-15A128D9F0F1}" type="presParOf" srcId="{4F08060E-AE4B-4775-9A26-6C1E82225905}" destId="{7EB9A1DF-F18A-4294-A1FF-2985FA3C88F6}" srcOrd="0" destOrd="0" presId="urn:microsoft.com/office/officeart/2008/layout/HorizontalMultiLevelHierarchy"/>
    <dgm:cxn modelId="{B61A0F1A-E7E5-4455-AFDD-810585759F1B}" type="presParOf" srcId="{4F08060E-AE4B-4775-9A26-6C1E82225905}" destId="{5B26C3A5-EABF-42D4-88CC-80A7DD7C68A9}" srcOrd="1" destOrd="0" presId="urn:microsoft.com/office/officeart/2008/layout/HorizontalMultiLevelHierarchy"/>
    <dgm:cxn modelId="{4955EC5F-9E65-4DD9-ADD3-A8E1EA3AF2BF}" type="presParOf" srcId="{B515DE50-4737-4846-98D1-6ADA15328740}" destId="{34ADF544-0917-4C57-A945-3B75314647E6}" srcOrd="2" destOrd="0" presId="urn:microsoft.com/office/officeart/2008/layout/HorizontalMultiLevelHierarchy"/>
    <dgm:cxn modelId="{044BDD47-AB41-4EDB-9759-EFF6E78FCE6F}" type="presParOf" srcId="{34ADF544-0917-4C57-A945-3B75314647E6}" destId="{5CA7F110-D11B-4E59-B615-3B7029CAC4B1}" srcOrd="0" destOrd="0" presId="urn:microsoft.com/office/officeart/2008/layout/HorizontalMultiLevelHierarchy"/>
    <dgm:cxn modelId="{E003C751-AA51-4C18-9A1C-5B0DD6AA1C6E}" type="presParOf" srcId="{B515DE50-4737-4846-98D1-6ADA15328740}" destId="{69EF00BA-513E-42A4-B396-BA7B20CBF7F3}" srcOrd="3" destOrd="0" presId="urn:microsoft.com/office/officeart/2008/layout/HorizontalMultiLevelHierarchy"/>
    <dgm:cxn modelId="{0E63661C-0E57-44E4-8801-24D6DAC02953}" type="presParOf" srcId="{69EF00BA-513E-42A4-B396-BA7B20CBF7F3}" destId="{4076950C-B835-42DD-90A5-7434565D4FD0}" srcOrd="0" destOrd="0" presId="urn:microsoft.com/office/officeart/2008/layout/HorizontalMultiLevelHierarchy"/>
    <dgm:cxn modelId="{6919E1EB-D3B7-487A-8B75-E5281D564C2C}" type="presParOf" srcId="{69EF00BA-513E-42A4-B396-BA7B20CBF7F3}" destId="{22F06F41-0CCD-43ED-B8F6-4FEFA3BA7F6D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4B8DFA30-3259-46A0-94C6-970A7387E1CB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0193DFE7-EFD8-4B36-9603-F01C1C5A7F5F}">
      <dgm:prSet phldrT="[Text]" custT="1"/>
      <dgm:spPr/>
      <dgm:t>
        <a:bodyPr/>
        <a:lstStyle/>
        <a:p>
          <a:r>
            <a:rPr lang="en-IN" sz="5000" b="1" i="0" dirty="0" smtClean="0"/>
            <a:t>Secured </a:t>
          </a:r>
          <a:r>
            <a:rPr lang="en-IN" sz="5000" b="1" i="0" dirty="0"/>
            <a:t>Loans</a:t>
          </a:r>
          <a:endParaRPr lang="en-IN" sz="5000" b="1" dirty="0"/>
        </a:p>
      </dgm:t>
    </dgm:pt>
    <dgm:pt modelId="{39031152-6098-47CB-92B2-F78E1D25DCEB}" type="parTrans" cxnId="{B0761F87-334D-45B2-BB9B-56BE6A92BF1C}">
      <dgm:prSet/>
      <dgm:spPr/>
      <dgm:t>
        <a:bodyPr/>
        <a:lstStyle/>
        <a:p>
          <a:endParaRPr lang="en-IN"/>
        </a:p>
      </dgm:t>
    </dgm:pt>
    <dgm:pt modelId="{20F3A4E4-2ED1-4C79-AFB1-9DD20D2154CD}" type="sibTrans" cxnId="{B0761F87-334D-45B2-BB9B-56BE6A92BF1C}">
      <dgm:prSet/>
      <dgm:spPr/>
      <dgm:t>
        <a:bodyPr/>
        <a:lstStyle/>
        <a:p>
          <a:endParaRPr lang="en-IN"/>
        </a:p>
      </dgm:t>
    </dgm:pt>
    <dgm:pt modelId="{FBC04226-702A-46C8-BC9F-25AA4A246359}">
      <dgm:prSet phldrT="[Text]" custT="1"/>
      <dgm:spPr/>
      <dgm:t>
        <a:bodyPr/>
        <a:lstStyle/>
        <a:p>
          <a:r>
            <a:rPr lang="en-IN" sz="2400" b="1" i="0" dirty="0"/>
            <a:t>Home Loans</a:t>
          </a:r>
          <a:endParaRPr lang="en-IN" sz="2400" dirty="0"/>
        </a:p>
      </dgm:t>
    </dgm:pt>
    <dgm:pt modelId="{57A488A5-9413-4846-A1AB-649C6B3780BD}" type="parTrans" cxnId="{6A0DE27D-243D-4519-B260-49076236BE69}">
      <dgm:prSet/>
      <dgm:spPr/>
      <dgm:t>
        <a:bodyPr/>
        <a:lstStyle/>
        <a:p>
          <a:endParaRPr lang="en-IN"/>
        </a:p>
      </dgm:t>
    </dgm:pt>
    <dgm:pt modelId="{2F40AF07-7713-4D6A-8155-CF75A7760B0E}" type="sibTrans" cxnId="{6A0DE27D-243D-4519-B260-49076236BE69}">
      <dgm:prSet/>
      <dgm:spPr/>
      <dgm:t>
        <a:bodyPr/>
        <a:lstStyle/>
        <a:p>
          <a:endParaRPr lang="en-IN"/>
        </a:p>
      </dgm:t>
    </dgm:pt>
    <dgm:pt modelId="{C545ACDC-23C8-4178-9BF9-3AB503736431}">
      <dgm:prSet phldrT="[Text]" custT="1"/>
      <dgm:spPr/>
      <dgm:t>
        <a:bodyPr/>
        <a:lstStyle/>
        <a:p>
          <a:r>
            <a:rPr lang="en-IN" sz="2400" b="1" i="0" dirty="0"/>
            <a:t>Loans Against Property</a:t>
          </a:r>
          <a:endParaRPr lang="en-IN" sz="2400" dirty="0"/>
        </a:p>
      </dgm:t>
    </dgm:pt>
    <dgm:pt modelId="{42E32D64-C274-41FE-B8C8-58D4846F2E90}" type="parTrans" cxnId="{1F9F5D7F-5A78-4374-B56C-64CCE1DA0069}">
      <dgm:prSet/>
      <dgm:spPr/>
      <dgm:t>
        <a:bodyPr/>
        <a:lstStyle/>
        <a:p>
          <a:endParaRPr lang="en-IN"/>
        </a:p>
      </dgm:t>
    </dgm:pt>
    <dgm:pt modelId="{394CF81A-5613-470F-A505-672B07E75A0F}" type="sibTrans" cxnId="{1F9F5D7F-5A78-4374-B56C-64CCE1DA0069}">
      <dgm:prSet/>
      <dgm:spPr/>
      <dgm:t>
        <a:bodyPr/>
        <a:lstStyle/>
        <a:p>
          <a:endParaRPr lang="en-IN"/>
        </a:p>
      </dgm:t>
    </dgm:pt>
    <dgm:pt modelId="{91D56915-B817-40A2-927E-5C822C6C2AF6}">
      <dgm:prSet custT="1"/>
      <dgm:spPr/>
      <dgm:t>
        <a:bodyPr/>
        <a:lstStyle/>
        <a:p>
          <a:r>
            <a:rPr lang="en-IN" sz="2400" b="1" i="0" dirty="0"/>
            <a:t>Loans Against Insurance Policies</a:t>
          </a:r>
        </a:p>
      </dgm:t>
    </dgm:pt>
    <dgm:pt modelId="{AEEDF4B3-1E6A-4973-98BE-522C7BE7AD99}" type="parTrans" cxnId="{2329732B-1FFB-4619-8084-4C1EC03D4B97}">
      <dgm:prSet/>
      <dgm:spPr/>
      <dgm:t>
        <a:bodyPr/>
        <a:lstStyle/>
        <a:p>
          <a:endParaRPr lang="en-IN"/>
        </a:p>
      </dgm:t>
    </dgm:pt>
    <dgm:pt modelId="{93F94494-39B1-413B-AC73-6BE02D409D3F}" type="sibTrans" cxnId="{2329732B-1FFB-4619-8084-4C1EC03D4B97}">
      <dgm:prSet/>
      <dgm:spPr/>
      <dgm:t>
        <a:bodyPr/>
        <a:lstStyle/>
        <a:p>
          <a:endParaRPr lang="en-IN"/>
        </a:p>
      </dgm:t>
    </dgm:pt>
    <dgm:pt modelId="{70C8CB67-DFEC-45F9-9A49-DB3BE9BCDA8A}">
      <dgm:prSet custT="1"/>
      <dgm:spPr/>
      <dgm:t>
        <a:bodyPr/>
        <a:lstStyle/>
        <a:p>
          <a:r>
            <a:rPr lang="en-IN" sz="2400" b="1" i="0" dirty="0"/>
            <a:t>Gold Loans</a:t>
          </a:r>
        </a:p>
      </dgm:t>
    </dgm:pt>
    <dgm:pt modelId="{0654A803-E6D3-4DDC-9546-CBF7D33E97AF}" type="parTrans" cxnId="{DF27CB90-770A-4529-90AA-FA3DF2F188C8}">
      <dgm:prSet/>
      <dgm:spPr/>
      <dgm:t>
        <a:bodyPr/>
        <a:lstStyle/>
        <a:p>
          <a:endParaRPr lang="en-IN"/>
        </a:p>
      </dgm:t>
    </dgm:pt>
    <dgm:pt modelId="{F88A30C7-E06D-449A-AA81-31C28B880B7E}" type="sibTrans" cxnId="{DF27CB90-770A-4529-90AA-FA3DF2F188C8}">
      <dgm:prSet/>
      <dgm:spPr/>
      <dgm:t>
        <a:bodyPr/>
        <a:lstStyle/>
        <a:p>
          <a:endParaRPr lang="en-IN"/>
        </a:p>
      </dgm:t>
    </dgm:pt>
    <dgm:pt modelId="{7BAECAAB-49CE-43C6-B5B9-14831EEE6613}">
      <dgm:prSet custT="1"/>
      <dgm:spPr/>
      <dgm:t>
        <a:bodyPr/>
        <a:lstStyle/>
        <a:p>
          <a:r>
            <a:rPr lang="en-IN" sz="2400" b="1" i="0" dirty="0"/>
            <a:t>Loans Against Mutual Funds</a:t>
          </a:r>
        </a:p>
      </dgm:t>
    </dgm:pt>
    <dgm:pt modelId="{7747C6CC-5994-4B64-8DF3-2813D966CF1C}" type="parTrans" cxnId="{A5498D52-32FF-4709-AFA8-2D13C0263159}">
      <dgm:prSet/>
      <dgm:spPr/>
      <dgm:t>
        <a:bodyPr/>
        <a:lstStyle/>
        <a:p>
          <a:endParaRPr lang="en-IN"/>
        </a:p>
      </dgm:t>
    </dgm:pt>
    <dgm:pt modelId="{D04C9626-C768-45AA-A34D-A82952B43BD4}" type="sibTrans" cxnId="{A5498D52-32FF-4709-AFA8-2D13C0263159}">
      <dgm:prSet/>
      <dgm:spPr/>
      <dgm:t>
        <a:bodyPr/>
        <a:lstStyle/>
        <a:p>
          <a:endParaRPr lang="en-IN"/>
        </a:p>
      </dgm:t>
    </dgm:pt>
    <dgm:pt modelId="{4D735E39-7547-46F8-8A39-D7181A2CCB94}">
      <dgm:prSet custT="1"/>
      <dgm:spPr/>
      <dgm:t>
        <a:bodyPr/>
        <a:lstStyle/>
        <a:p>
          <a:r>
            <a:rPr lang="en-IN" sz="2400" b="1" i="0"/>
            <a:t>Loans Against Fixed Deposits</a:t>
          </a:r>
        </a:p>
      </dgm:t>
    </dgm:pt>
    <dgm:pt modelId="{054CCB24-C63F-451B-86FA-87E678310078}" type="parTrans" cxnId="{5B6D86E3-12C2-4BFA-BE6A-06071A8651EA}">
      <dgm:prSet/>
      <dgm:spPr/>
      <dgm:t>
        <a:bodyPr/>
        <a:lstStyle/>
        <a:p>
          <a:endParaRPr lang="en-IN"/>
        </a:p>
      </dgm:t>
    </dgm:pt>
    <dgm:pt modelId="{174E6A45-64F2-492D-BE56-B9E4B81418BB}" type="sibTrans" cxnId="{5B6D86E3-12C2-4BFA-BE6A-06071A8651EA}">
      <dgm:prSet/>
      <dgm:spPr/>
      <dgm:t>
        <a:bodyPr/>
        <a:lstStyle/>
        <a:p>
          <a:endParaRPr lang="en-IN"/>
        </a:p>
      </dgm:t>
    </dgm:pt>
    <dgm:pt modelId="{631514E3-C80A-4F9B-AAD5-9DAF5165DE9A}">
      <dgm:prSet phldrT="[Text]" custT="1"/>
      <dgm:spPr/>
      <dgm:t>
        <a:bodyPr/>
        <a:lstStyle/>
        <a:p>
          <a:r>
            <a:rPr lang="en-US" sz="2400" b="1" dirty="0" smtClean="0"/>
            <a:t>Vehicle loan</a:t>
          </a:r>
          <a:endParaRPr lang="en-IN" sz="2400" b="1" dirty="0"/>
        </a:p>
      </dgm:t>
    </dgm:pt>
    <dgm:pt modelId="{325D3855-A937-4192-BA06-070AF4F47C23}" type="parTrans" cxnId="{FA4BCC2B-7F85-479D-ABAA-F7907ABD63FF}">
      <dgm:prSet/>
      <dgm:spPr/>
      <dgm:t>
        <a:bodyPr/>
        <a:lstStyle/>
        <a:p>
          <a:endParaRPr lang="en-US"/>
        </a:p>
      </dgm:t>
    </dgm:pt>
    <dgm:pt modelId="{78364D18-B40B-471A-9232-E0F499210E47}" type="sibTrans" cxnId="{FA4BCC2B-7F85-479D-ABAA-F7907ABD63FF}">
      <dgm:prSet/>
      <dgm:spPr/>
      <dgm:t>
        <a:bodyPr/>
        <a:lstStyle/>
        <a:p>
          <a:endParaRPr lang="en-US"/>
        </a:p>
      </dgm:t>
    </dgm:pt>
    <dgm:pt modelId="{DB231FA2-DDEB-403F-BC76-7EC2516CA9E6}" type="pres">
      <dgm:prSet presAssocID="{4B8DFA30-3259-46A0-94C6-970A7387E1CB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D4C361F-2710-46ED-B472-D6C4B52BEDEA}" type="pres">
      <dgm:prSet presAssocID="{0193DFE7-EFD8-4B36-9603-F01C1C5A7F5F}" presName="root1" presStyleCnt="0"/>
      <dgm:spPr/>
    </dgm:pt>
    <dgm:pt modelId="{D415AA1C-0DB8-458C-B28A-06CD9DF57E25}" type="pres">
      <dgm:prSet presAssocID="{0193DFE7-EFD8-4B36-9603-F01C1C5A7F5F}" presName="LevelOneTextNode" presStyleLbl="node0" presStyleIdx="0" presStyleCnt="1" custScaleY="13497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515DE50-4737-4846-98D1-6ADA15328740}" type="pres">
      <dgm:prSet presAssocID="{0193DFE7-EFD8-4B36-9603-F01C1C5A7F5F}" presName="level2hierChild" presStyleCnt="0"/>
      <dgm:spPr/>
    </dgm:pt>
    <dgm:pt modelId="{6A52717E-C80F-4B30-A590-4FB7249FCA8D}" type="pres">
      <dgm:prSet presAssocID="{57A488A5-9413-4846-A1AB-649C6B3780BD}" presName="conn2-1" presStyleLbl="parChTrans1D2" presStyleIdx="0" presStyleCnt="7"/>
      <dgm:spPr/>
      <dgm:t>
        <a:bodyPr/>
        <a:lstStyle/>
        <a:p>
          <a:endParaRPr lang="en-US"/>
        </a:p>
      </dgm:t>
    </dgm:pt>
    <dgm:pt modelId="{0A456959-54BE-44B9-83BB-D2CBD8032A6A}" type="pres">
      <dgm:prSet presAssocID="{57A488A5-9413-4846-A1AB-649C6B3780BD}" presName="connTx" presStyleLbl="parChTrans1D2" presStyleIdx="0" presStyleCnt="7"/>
      <dgm:spPr/>
      <dgm:t>
        <a:bodyPr/>
        <a:lstStyle/>
        <a:p>
          <a:endParaRPr lang="en-US"/>
        </a:p>
      </dgm:t>
    </dgm:pt>
    <dgm:pt modelId="{4F08060E-AE4B-4775-9A26-6C1E82225905}" type="pres">
      <dgm:prSet presAssocID="{FBC04226-702A-46C8-BC9F-25AA4A246359}" presName="root2" presStyleCnt="0"/>
      <dgm:spPr/>
    </dgm:pt>
    <dgm:pt modelId="{7EB9A1DF-F18A-4294-A1FF-2985FA3C88F6}" type="pres">
      <dgm:prSet presAssocID="{FBC04226-702A-46C8-BC9F-25AA4A246359}" presName="LevelTwoTextNode" presStyleLbl="node2" presStyleIdx="0" presStyleCnt="7" custScaleX="11895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B26C3A5-EABF-42D4-88CC-80A7DD7C68A9}" type="pres">
      <dgm:prSet presAssocID="{FBC04226-702A-46C8-BC9F-25AA4A246359}" presName="level3hierChild" presStyleCnt="0"/>
      <dgm:spPr/>
    </dgm:pt>
    <dgm:pt modelId="{08A68575-FA94-4272-8D9D-BF4CAC0B2B24}" type="pres">
      <dgm:prSet presAssocID="{AEEDF4B3-1E6A-4973-98BE-522C7BE7AD99}" presName="conn2-1" presStyleLbl="parChTrans1D2" presStyleIdx="1" presStyleCnt="7"/>
      <dgm:spPr/>
      <dgm:t>
        <a:bodyPr/>
        <a:lstStyle/>
        <a:p>
          <a:endParaRPr lang="en-US"/>
        </a:p>
      </dgm:t>
    </dgm:pt>
    <dgm:pt modelId="{9F65A1C7-2DA8-40E2-B916-6E764AA035F3}" type="pres">
      <dgm:prSet presAssocID="{AEEDF4B3-1E6A-4973-98BE-522C7BE7AD99}" presName="connTx" presStyleLbl="parChTrans1D2" presStyleIdx="1" presStyleCnt="7"/>
      <dgm:spPr/>
      <dgm:t>
        <a:bodyPr/>
        <a:lstStyle/>
        <a:p>
          <a:endParaRPr lang="en-US"/>
        </a:p>
      </dgm:t>
    </dgm:pt>
    <dgm:pt modelId="{82A032FB-75FA-4BF6-A437-5694DCEA7D5A}" type="pres">
      <dgm:prSet presAssocID="{91D56915-B817-40A2-927E-5C822C6C2AF6}" presName="root2" presStyleCnt="0"/>
      <dgm:spPr/>
    </dgm:pt>
    <dgm:pt modelId="{AE06E48F-7BF9-4001-AD7E-93B45013A007}" type="pres">
      <dgm:prSet presAssocID="{91D56915-B817-40A2-927E-5C822C6C2AF6}" presName="LevelTwoTextNode" presStyleLbl="node2" presStyleIdx="1" presStyleCnt="7" custScaleX="11895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54AED21-2B48-4C18-9C62-EF8CABCB7B28}" type="pres">
      <dgm:prSet presAssocID="{91D56915-B817-40A2-927E-5C822C6C2AF6}" presName="level3hierChild" presStyleCnt="0"/>
      <dgm:spPr/>
    </dgm:pt>
    <dgm:pt modelId="{6ED48EE5-2790-4792-8EEB-6FD8B0BEA56E}" type="pres">
      <dgm:prSet presAssocID="{7747C6CC-5994-4B64-8DF3-2813D966CF1C}" presName="conn2-1" presStyleLbl="parChTrans1D2" presStyleIdx="2" presStyleCnt="7"/>
      <dgm:spPr/>
      <dgm:t>
        <a:bodyPr/>
        <a:lstStyle/>
        <a:p>
          <a:endParaRPr lang="en-US"/>
        </a:p>
      </dgm:t>
    </dgm:pt>
    <dgm:pt modelId="{4CDD762A-8CC2-47A8-BF32-363B8B8B87C8}" type="pres">
      <dgm:prSet presAssocID="{7747C6CC-5994-4B64-8DF3-2813D966CF1C}" presName="connTx" presStyleLbl="parChTrans1D2" presStyleIdx="2" presStyleCnt="7"/>
      <dgm:spPr/>
      <dgm:t>
        <a:bodyPr/>
        <a:lstStyle/>
        <a:p>
          <a:endParaRPr lang="en-US"/>
        </a:p>
      </dgm:t>
    </dgm:pt>
    <dgm:pt modelId="{40614FBA-F02B-4D63-8BED-2B161F57EDCF}" type="pres">
      <dgm:prSet presAssocID="{7BAECAAB-49CE-43C6-B5B9-14831EEE6613}" presName="root2" presStyleCnt="0"/>
      <dgm:spPr/>
    </dgm:pt>
    <dgm:pt modelId="{E965A69F-D13C-407B-A241-5FDB358B4292}" type="pres">
      <dgm:prSet presAssocID="{7BAECAAB-49CE-43C6-B5B9-14831EEE6613}" presName="LevelTwoTextNode" presStyleLbl="node2" presStyleIdx="2" presStyleCnt="7" custScaleX="11895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7BD8540-5876-4897-9A81-F0A610B467AE}" type="pres">
      <dgm:prSet presAssocID="{7BAECAAB-49CE-43C6-B5B9-14831EEE6613}" presName="level3hierChild" presStyleCnt="0"/>
      <dgm:spPr/>
    </dgm:pt>
    <dgm:pt modelId="{A22C3758-F6B5-4C56-B7AA-F6101789D24C}" type="pres">
      <dgm:prSet presAssocID="{054CCB24-C63F-451B-86FA-87E678310078}" presName="conn2-1" presStyleLbl="parChTrans1D2" presStyleIdx="3" presStyleCnt="7"/>
      <dgm:spPr/>
      <dgm:t>
        <a:bodyPr/>
        <a:lstStyle/>
        <a:p>
          <a:endParaRPr lang="en-US"/>
        </a:p>
      </dgm:t>
    </dgm:pt>
    <dgm:pt modelId="{3892B925-5701-4E8F-976E-19D0C74C18EC}" type="pres">
      <dgm:prSet presAssocID="{054CCB24-C63F-451B-86FA-87E678310078}" presName="connTx" presStyleLbl="parChTrans1D2" presStyleIdx="3" presStyleCnt="7"/>
      <dgm:spPr/>
      <dgm:t>
        <a:bodyPr/>
        <a:lstStyle/>
        <a:p>
          <a:endParaRPr lang="en-US"/>
        </a:p>
      </dgm:t>
    </dgm:pt>
    <dgm:pt modelId="{1971046F-AF0B-4D25-98A5-6DA6249CA0E0}" type="pres">
      <dgm:prSet presAssocID="{4D735E39-7547-46F8-8A39-D7181A2CCB94}" presName="root2" presStyleCnt="0"/>
      <dgm:spPr/>
    </dgm:pt>
    <dgm:pt modelId="{1F209913-FEDF-4D23-A36D-9BBE7CE4CFBE}" type="pres">
      <dgm:prSet presAssocID="{4D735E39-7547-46F8-8A39-D7181A2CCB94}" presName="LevelTwoTextNode" presStyleLbl="node2" presStyleIdx="3" presStyleCnt="7" custScaleX="11895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273F0E5-EC1F-4959-8D31-871B6BAAE5B6}" type="pres">
      <dgm:prSet presAssocID="{4D735E39-7547-46F8-8A39-D7181A2CCB94}" presName="level3hierChild" presStyleCnt="0"/>
      <dgm:spPr/>
    </dgm:pt>
    <dgm:pt modelId="{3CD97F39-7ED3-41BC-8EEF-FEEC422902BA}" type="pres">
      <dgm:prSet presAssocID="{0654A803-E6D3-4DDC-9546-CBF7D33E97AF}" presName="conn2-1" presStyleLbl="parChTrans1D2" presStyleIdx="4" presStyleCnt="7"/>
      <dgm:spPr/>
      <dgm:t>
        <a:bodyPr/>
        <a:lstStyle/>
        <a:p>
          <a:endParaRPr lang="en-US"/>
        </a:p>
      </dgm:t>
    </dgm:pt>
    <dgm:pt modelId="{996F6A9E-8790-42CD-8754-204729345FED}" type="pres">
      <dgm:prSet presAssocID="{0654A803-E6D3-4DDC-9546-CBF7D33E97AF}" presName="connTx" presStyleLbl="parChTrans1D2" presStyleIdx="4" presStyleCnt="7"/>
      <dgm:spPr/>
      <dgm:t>
        <a:bodyPr/>
        <a:lstStyle/>
        <a:p>
          <a:endParaRPr lang="en-US"/>
        </a:p>
      </dgm:t>
    </dgm:pt>
    <dgm:pt modelId="{BCB6417B-95F6-46F9-8A79-14B223DC677F}" type="pres">
      <dgm:prSet presAssocID="{70C8CB67-DFEC-45F9-9A49-DB3BE9BCDA8A}" presName="root2" presStyleCnt="0"/>
      <dgm:spPr/>
    </dgm:pt>
    <dgm:pt modelId="{C920BEB0-1F05-495B-8301-35EEC9B5EAAC}" type="pres">
      <dgm:prSet presAssocID="{70C8CB67-DFEC-45F9-9A49-DB3BE9BCDA8A}" presName="LevelTwoTextNode" presStyleLbl="node2" presStyleIdx="4" presStyleCnt="7" custScaleX="11895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DD1D89E-0789-4749-B57F-552D680E2F9E}" type="pres">
      <dgm:prSet presAssocID="{70C8CB67-DFEC-45F9-9A49-DB3BE9BCDA8A}" presName="level3hierChild" presStyleCnt="0"/>
      <dgm:spPr/>
    </dgm:pt>
    <dgm:pt modelId="{34ADF544-0917-4C57-A945-3B75314647E6}" type="pres">
      <dgm:prSet presAssocID="{42E32D64-C274-41FE-B8C8-58D4846F2E90}" presName="conn2-1" presStyleLbl="parChTrans1D2" presStyleIdx="5" presStyleCnt="7"/>
      <dgm:spPr/>
      <dgm:t>
        <a:bodyPr/>
        <a:lstStyle/>
        <a:p>
          <a:endParaRPr lang="en-US"/>
        </a:p>
      </dgm:t>
    </dgm:pt>
    <dgm:pt modelId="{5CA7F110-D11B-4E59-B615-3B7029CAC4B1}" type="pres">
      <dgm:prSet presAssocID="{42E32D64-C274-41FE-B8C8-58D4846F2E90}" presName="connTx" presStyleLbl="parChTrans1D2" presStyleIdx="5" presStyleCnt="7"/>
      <dgm:spPr/>
      <dgm:t>
        <a:bodyPr/>
        <a:lstStyle/>
        <a:p>
          <a:endParaRPr lang="en-US"/>
        </a:p>
      </dgm:t>
    </dgm:pt>
    <dgm:pt modelId="{69EF00BA-513E-42A4-B396-BA7B20CBF7F3}" type="pres">
      <dgm:prSet presAssocID="{C545ACDC-23C8-4178-9BF9-3AB503736431}" presName="root2" presStyleCnt="0"/>
      <dgm:spPr/>
    </dgm:pt>
    <dgm:pt modelId="{4076950C-B835-42DD-90A5-7434565D4FD0}" type="pres">
      <dgm:prSet presAssocID="{C545ACDC-23C8-4178-9BF9-3AB503736431}" presName="LevelTwoTextNode" presStyleLbl="node2" presStyleIdx="5" presStyleCnt="7" custScaleX="11895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2F06F41-0CCD-43ED-B8F6-4FEFA3BA7F6D}" type="pres">
      <dgm:prSet presAssocID="{C545ACDC-23C8-4178-9BF9-3AB503736431}" presName="level3hierChild" presStyleCnt="0"/>
      <dgm:spPr/>
    </dgm:pt>
    <dgm:pt modelId="{E63491E1-8997-4292-97E3-D108799D8DE5}" type="pres">
      <dgm:prSet presAssocID="{325D3855-A937-4192-BA06-070AF4F47C23}" presName="conn2-1" presStyleLbl="parChTrans1D2" presStyleIdx="6" presStyleCnt="7"/>
      <dgm:spPr/>
      <dgm:t>
        <a:bodyPr/>
        <a:lstStyle/>
        <a:p>
          <a:endParaRPr lang="en-US"/>
        </a:p>
      </dgm:t>
    </dgm:pt>
    <dgm:pt modelId="{624B1C9F-7DB7-469E-98B5-4C5D13D329D5}" type="pres">
      <dgm:prSet presAssocID="{325D3855-A937-4192-BA06-070AF4F47C23}" presName="connTx" presStyleLbl="parChTrans1D2" presStyleIdx="6" presStyleCnt="7"/>
      <dgm:spPr/>
      <dgm:t>
        <a:bodyPr/>
        <a:lstStyle/>
        <a:p>
          <a:endParaRPr lang="en-US"/>
        </a:p>
      </dgm:t>
    </dgm:pt>
    <dgm:pt modelId="{DB8203CA-9185-4291-8161-2C3E9762A30C}" type="pres">
      <dgm:prSet presAssocID="{631514E3-C80A-4F9B-AAD5-9DAF5165DE9A}" presName="root2" presStyleCnt="0"/>
      <dgm:spPr/>
    </dgm:pt>
    <dgm:pt modelId="{145D2D3F-34E2-45ED-890A-303EFD921068}" type="pres">
      <dgm:prSet presAssocID="{631514E3-C80A-4F9B-AAD5-9DAF5165DE9A}" presName="LevelTwoTextNode" presStyleLbl="node2" presStyleIdx="6" presStyleCnt="7" custScaleX="11895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5F2E96E-89C3-4EF4-B4C3-5856AA444B18}" type="pres">
      <dgm:prSet presAssocID="{631514E3-C80A-4F9B-AAD5-9DAF5165DE9A}" presName="level3hierChild" presStyleCnt="0"/>
      <dgm:spPr/>
    </dgm:pt>
  </dgm:ptLst>
  <dgm:cxnLst>
    <dgm:cxn modelId="{CC888746-4726-4E1F-AB88-19772309B2D0}" type="presOf" srcId="{0654A803-E6D3-4DDC-9546-CBF7D33E97AF}" destId="{3CD97F39-7ED3-41BC-8EEF-FEEC422902BA}" srcOrd="0" destOrd="0" presId="urn:microsoft.com/office/officeart/2008/layout/HorizontalMultiLevelHierarchy"/>
    <dgm:cxn modelId="{84CC1088-BE25-4A95-8900-4A23F639FF2A}" type="presOf" srcId="{7747C6CC-5994-4B64-8DF3-2813D966CF1C}" destId="{6ED48EE5-2790-4792-8EEB-6FD8B0BEA56E}" srcOrd="0" destOrd="0" presId="urn:microsoft.com/office/officeart/2008/layout/HorizontalMultiLevelHierarchy"/>
    <dgm:cxn modelId="{316FFEB3-F04C-4B69-BFF5-A6BDD1C62D9C}" type="presOf" srcId="{FBC04226-702A-46C8-BC9F-25AA4A246359}" destId="{7EB9A1DF-F18A-4294-A1FF-2985FA3C88F6}" srcOrd="0" destOrd="0" presId="urn:microsoft.com/office/officeart/2008/layout/HorizontalMultiLevelHierarchy"/>
    <dgm:cxn modelId="{6A0DE27D-243D-4519-B260-49076236BE69}" srcId="{0193DFE7-EFD8-4B36-9603-F01C1C5A7F5F}" destId="{FBC04226-702A-46C8-BC9F-25AA4A246359}" srcOrd="0" destOrd="0" parTransId="{57A488A5-9413-4846-A1AB-649C6B3780BD}" sibTransId="{2F40AF07-7713-4D6A-8155-CF75A7760B0E}"/>
    <dgm:cxn modelId="{5B6D86E3-12C2-4BFA-BE6A-06071A8651EA}" srcId="{0193DFE7-EFD8-4B36-9603-F01C1C5A7F5F}" destId="{4D735E39-7547-46F8-8A39-D7181A2CCB94}" srcOrd="3" destOrd="0" parTransId="{054CCB24-C63F-451B-86FA-87E678310078}" sibTransId="{174E6A45-64F2-492D-BE56-B9E4B81418BB}"/>
    <dgm:cxn modelId="{C9A0EC45-B850-4A63-AB7F-EF94BC20B39C}" type="presOf" srcId="{AEEDF4B3-1E6A-4973-98BE-522C7BE7AD99}" destId="{08A68575-FA94-4272-8D9D-BF4CAC0B2B24}" srcOrd="0" destOrd="0" presId="urn:microsoft.com/office/officeart/2008/layout/HorizontalMultiLevelHierarchy"/>
    <dgm:cxn modelId="{DEE34F77-246A-4D1B-B476-A61AC4E9B956}" type="presOf" srcId="{054CCB24-C63F-451B-86FA-87E678310078}" destId="{A22C3758-F6B5-4C56-B7AA-F6101789D24C}" srcOrd="0" destOrd="0" presId="urn:microsoft.com/office/officeart/2008/layout/HorizontalMultiLevelHierarchy"/>
    <dgm:cxn modelId="{1F9F5D7F-5A78-4374-B56C-64CCE1DA0069}" srcId="{0193DFE7-EFD8-4B36-9603-F01C1C5A7F5F}" destId="{C545ACDC-23C8-4178-9BF9-3AB503736431}" srcOrd="5" destOrd="0" parTransId="{42E32D64-C274-41FE-B8C8-58D4846F2E90}" sibTransId="{394CF81A-5613-470F-A505-672B07E75A0F}"/>
    <dgm:cxn modelId="{16F2AAE9-76D7-47A0-97AD-3922983E01F0}" type="presOf" srcId="{054CCB24-C63F-451B-86FA-87E678310078}" destId="{3892B925-5701-4E8F-976E-19D0C74C18EC}" srcOrd="1" destOrd="0" presId="urn:microsoft.com/office/officeart/2008/layout/HorizontalMultiLevelHierarchy"/>
    <dgm:cxn modelId="{2329732B-1FFB-4619-8084-4C1EC03D4B97}" srcId="{0193DFE7-EFD8-4B36-9603-F01C1C5A7F5F}" destId="{91D56915-B817-40A2-927E-5C822C6C2AF6}" srcOrd="1" destOrd="0" parTransId="{AEEDF4B3-1E6A-4973-98BE-522C7BE7AD99}" sibTransId="{93F94494-39B1-413B-AC73-6BE02D409D3F}"/>
    <dgm:cxn modelId="{3D0151B7-F395-48B3-9E80-C7127EC974AB}" type="presOf" srcId="{0193DFE7-EFD8-4B36-9603-F01C1C5A7F5F}" destId="{D415AA1C-0DB8-458C-B28A-06CD9DF57E25}" srcOrd="0" destOrd="0" presId="urn:microsoft.com/office/officeart/2008/layout/HorizontalMultiLevelHierarchy"/>
    <dgm:cxn modelId="{B0761F87-334D-45B2-BB9B-56BE6A92BF1C}" srcId="{4B8DFA30-3259-46A0-94C6-970A7387E1CB}" destId="{0193DFE7-EFD8-4B36-9603-F01C1C5A7F5F}" srcOrd="0" destOrd="0" parTransId="{39031152-6098-47CB-92B2-F78E1D25DCEB}" sibTransId="{20F3A4E4-2ED1-4C79-AFB1-9DD20D2154CD}"/>
    <dgm:cxn modelId="{80F8F501-09CE-440F-A2DC-49EB8FF26533}" type="presOf" srcId="{7BAECAAB-49CE-43C6-B5B9-14831EEE6613}" destId="{E965A69F-D13C-407B-A241-5FDB358B4292}" srcOrd="0" destOrd="0" presId="urn:microsoft.com/office/officeart/2008/layout/HorizontalMultiLevelHierarchy"/>
    <dgm:cxn modelId="{82086FFA-602E-4A1C-84D7-3A46BFB4A5FB}" type="presOf" srcId="{631514E3-C80A-4F9B-AAD5-9DAF5165DE9A}" destId="{145D2D3F-34E2-45ED-890A-303EFD921068}" srcOrd="0" destOrd="0" presId="urn:microsoft.com/office/officeart/2008/layout/HorizontalMultiLevelHierarchy"/>
    <dgm:cxn modelId="{A5498D52-32FF-4709-AFA8-2D13C0263159}" srcId="{0193DFE7-EFD8-4B36-9603-F01C1C5A7F5F}" destId="{7BAECAAB-49CE-43C6-B5B9-14831EEE6613}" srcOrd="2" destOrd="0" parTransId="{7747C6CC-5994-4B64-8DF3-2813D966CF1C}" sibTransId="{D04C9626-C768-45AA-A34D-A82952B43BD4}"/>
    <dgm:cxn modelId="{FA4BCC2B-7F85-479D-ABAA-F7907ABD63FF}" srcId="{0193DFE7-EFD8-4B36-9603-F01C1C5A7F5F}" destId="{631514E3-C80A-4F9B-AAD5-9DAF5165DE9A}" srcOrd="6" destOrd="0" parTransId="{325D3855-A937-4192-BA06-070AF4F47C23}" sibTransId="{78364D18-B40B-471A-9232-E0F499210E47}"/>
    <dgm:cxn modelId="{11ABBC49-C565-4B65-802D-D7AC96B74A62}" type="presOf" srcId="{C545ACDC-23C8-4178-9BF9-3AB503736431}" destId="{4076950C-B835-42DD-90A5-7434565D4FD0}" srcOrd="0" destOrd="0" presId="urn:microsoft.com/office/officeart/2008/layout/HorizontalMultiLevelHierarchy"/>
    <dgm:cxn modelId="{BB9D5BA6-E7D9-4636-9FA1-57D4FE24AAF6}" type="presOf" srcId="{42E32D64-C274-41FE-B8C8-58D4846F2E90}" destId="{34ADF544-0917-4C57-A945-3B75314647E6}" srcOrd="0" destOrd="0" presId="urn:microsoft.com/office/officeart/2008/layout/HorizontalMultiLevelHierarchy"/>
    <dgm:cxn modelId="{7948E400-30A1-4E57-A2AA-F7C85FA503AE}" type="presOf" srcId="{57A488A5-9413-4846-A1AB-649C6B3780BD}" destId="{6A52717E-C80F-4B30-A590-4FB7249FCA8D}" srcOrd="0" destOrd="0" presId="urn:microsoft.com/office/officeart/2008/layout/HorizontalMultiLevelHierarchy"/>
    <dgm:cxn modelId="{6E33929A-216B-46CC-960C-9D05DFB84B1E}" type="presOf" srcId="{0654A803-E6D3-4DDC-9546-CBF7D33E97AF}" destId="{996F6A9E-8790-42CD-8754-204729345FED}" srcOrd="1" destOrd="0" presId="urn:microsoft.com/office/officeart/2008/layout/HorizontalMultiLevelHierarchy"/>
    <dgm:cxn modelId="{E0F4A2E4-7FDF-48BC-8CF1-CF5176C95544}" type="presOf" srcId="{91D56915-B817-40A2-927E-5C822C6C2AF6}" destId="{AE06E48F-7BF9-4001-AD7E-93B45013A007}" srcOrd="0" destOrd="0" presId="urn:microsoft.com/office/officeart/2008/layout/HorizontalMultiLevelHierarchy"/>
    <dgm:cxn modelId="{42A0F7C5-966B-4BE5-94D0-15D657905526}" type="presOf" srcId="{325D3855-A937-4192-BA06-070AF4F47C23}" destId="{E63491E1-8997-4292-97E3-D108799D8DE5}" srcOrd="0" destOrd="0" presId="urn:microsoft.com/office/officeart/2008/layout/HorizontalMultiLevelHierarchy"/>
    <dgm:cxn modelId="{E99CFAF3-27C5-49EA-80F0-ED4FD46C429E}" type="presOf" srcId="{4B8DFA30-3259-46A0-94C6-970A7387E1CB}" destId="{DB231FA2-DDEB-403F-BC76-7EC2516CA9E6}" srcOrd="0" destOrd="0" presId="urn:microsoft.com/office/officeart/2008/layout/HorizontalMultiLevelHierarchy"/>
    <dgm:cxn modelId="{2958F26E-FE03-4EFA-8B89-CB283CF2E878}" type="presOf" srcId="{4D735E39-7547-46F8-8A39-D7181A2CCB94}" destId="{1F209913-FEDF-4D23-A36D-9BBE7CE4CFBE}" srcOrd="0" destOrd="0" presId="urn:microsoft.com/office/officeart/2008/layout/HorizontalMultiLevelHierarchy"/>
    <dgm:cxn modelId="{9CD3E79E-E081-4A85-A684-2B693FE386F5}" type="presOf" srcId="{57A488A5-9413-4846-A1AB-649C6B3780BD}" destId="{0A456959-54BE-44B9-83BB-D2CBD8032A6A}" srcOrd="1" destOrd="0" presId="urn:microsoft.com/office/officeart/2008/layout/HorizontalMultiLevelHierarchy"/>
    <dgm:cxn modelId="{68ABB350-D2F2-4B0C-9FF5-7E1884BBB185}" type="presOf" srcId="{AEEDF4B3-1E6A-4973-98BE-522C7BE7AD99}" destId="{9F65A1C7-2DA8-40E2-B916-6E764AA035F3}" srcOrd="1" destOrd="0" presId="urn:microsoft.com/office/officeart/2008/layout/HorizontalMultiLevelHierarchy"/>
    <dgm:cxn modelId="{C2C9B0F7-6D0C-499B-8239-63DFFB0761AF}" type="presOf" srcId="{325D3855-A937-4192-BA06-070AF4F47C23}" destId="{624B1C9F-7DB7-469E-98B5-4C5D13D329D5}" srcOrd="1" destOrd="0" presId="urn:microsoft.com/office/officeart/2008/layout/HorizontalMultiLevelHierarchy"/>
    <dgm:cxn modelId="{29F316F5-48AA-46EA-AE50-E23376CD8CDE}" type="presOf" srcId="{70C8CB67-DFEC-45F9-9A49-DB3BE9BCDA8A}" destId="{C920BEB0-1F05-495B-8301-35EEC9B5EAAC}" srcOrd="0" destOrd="0" presId="urn:microsoft.com/office/officeart/2008/layout/HorizontalMultiLevelHierarchy"/>
    <dgm:cxn modelId="{98BF1E84-6653-4981-A18D-7A47A6BE4406}" type="presOf" srcId="{7747C6CC-5994-4B64-8DF3-2813D966CF1C}" destId="{4CDD762A-8CC2-47A8-BF32-363B8B8B87C8}" srcOrd="1" destOrd="0" presId="urn:microsoft.com/office/officeart/2008/layout/HorizontalMultiLevelHierarchy"/>
    <dgm:cxn modelId="{DF27CB90-770A-4529-90AA-FA3DF2F188C8}" srcId="{0193DFE7-EFD8-4B36-9603-F01C1C5A7F5F}" destId="{70C8CB67-DFEC-45F9-9A49-DB3BE9BCDA8A}" srcOrd="4" destOrd="0" parTransId="{0654A803-E6D3-4DDC-9546-CBF7D33E97AF}" sibTransId="{F88A30C7-E06D-449A-AA81-31C28B880B7E}"/>
    <dgm:cxn modelId="{AD7A9D97-CC21-423E-809D-E472079C5687}" type="presOf" srcId="{42E32D64-C274-41FE-B8C8-58D4846F2E90}" destId="{5CA7F110-D11B-4E59-B615-3B7029CAC4B1}" srcOrd="1" destOrd="0" presId="urn:microsoft.com/office/officeart/2008/layout/HorizontalMultiLevelHierarchy"/>
    <dgm:cxn modelId="{39AECE03-E36A-4FF7-B214-2085ADB2223C}" type="presParOf" srcId="{DB231FA2-DDEB-403F-BC76-7EC2516CA9E6}" destId="{2D4C361F-2710-46ED-B472-D6C4B52BEDEA}" srcOrd="0" destOrd="0" presId="urn:microsoft.com/office/officeart/2008/layout/HorizontalMultiLevelHierarchy"/>
    <dgm:cxn modelId="{F2E48D90-9F21-4C39-885B-5661AF0C23D2}" type="presParOf" srcId="{2D4C361F-2710-46ED-B472-D6C4B52BEDEA}" destId="{D415AA1C-0DB8-458C-B28A-06CD9DF57E25}" srcOrd="0" destOrd="0" presId="urn:microsoft.com/office/officeart/2008/layout/HorizontalMultiLevelHierarchy"/>
    <dgm:cxn modelId="{D6303672-2EFE-466F-BE49-72349DF7A031}" type="presParOf" srcId="{2D4C361F-2710-46ED-B472-D6C4B52BEDEA}" destId="{B515DE50-4737-4846-98D1-6ADA15328740}" srcOrd="1" destOrd="0" presId="urn:microsoft.com/office/officeart/2008/layout/HorizontalMultiLevelHierarchy"/>
    <dgm:cxn modelId="{4E54E5D2-8B58-411D-87B9-C7398683CE95}" type="presParOf" srcId="{B515DE50-4737-4846-98D1-6ADA15328740}" destId="{6A52717E-C80F-4B30-A590-4FB7249FCA8D}" srcOrd="0" destOrd="0" presId="urn:microsoft.com/office/officeart/2008/layout/HorizontalMultiLevelHierarchy"/>
    <dgm:cxn modelId="{AFCA3C64-6BC6-4BCE-9F10-8FF8BABBC2E3}" type="presParOf" srcId="{6A52717E-C80F-4B30-A590-4FB7249FCA8D}" destId="{0A456959-54BE-44B9-83BB-D2CBD8032A6A}" srcOrd="0" destOrd="0" presId="urn:microsoft.com/office/officeart/2008/layout/HorizontalMultiLevelHierarchy"/>
    <dgm:cxn modelId="{CFA1B6F3-6844-4058-8A85-E9CF63847F26}" type="presParOf" srcId="{B515DE50-4737-4846-98D1-6ADA15328740}" destId="{4F08060E-AE4B-4775-9A26-6C1E82225905}" srcOrd="1" destOrd="0" presId="urn:microsoft.com/office/officeart/2008/layout/HorizontalMultiLevelHierarchy"/>
    <dgm:cxn modelId="{7728A27D-FD4B-4C20-9BA8-15A128D9F0F1}" type="presParOf" srcId="{4F08060E-AE4B-4775-9A26-6C1E82225905}" destId="{7EB9A1DF-F18A-4294-A1FF-2985FA3C88F6}" srcOrd="0" destOrd="0" presId="urn:microsoft.com/office/officeart/2008/layout/HorizontalMultiLevelHierarchy"/>
    <dgm:cxn modelId="{B61A0F1A-E7E5-4455-AFDD-810585759F1B}" type="presParOf" srcId="{4F08060E-AE4B-4775-9A26-6C1E82225905}" destId="{5B26C3A5-EABF-42D4-88CC-80A7DD7C68A9}" srcOrd="1" destOrd="0" presId="urn:microsoft.com/office/officeart/2008/layout/HorizontalMultiLevelHierarchy"/>
    <dgm:cxn modelId="{14F7D7D2-52B6-4058-B756-CF92FF7D7625}" type="presParOf" srcId="{B515DE50-4737-4846-98D1-6ADA15328740}" destId="{08A68575-FA94-4272-8D9D-BF4CAC0B2B24}" srcOrd="2" destOrd="0" presId="urn:microsoft.com/office/officeart/2008/layout/HorizontalMultiLevelHierarchy"/>
    <dgm:cxn modelId="{068DC7BD-BE39-458C-9DCA-CB2CA90663C7}" type="presParOf" srcId="{08A68575-FA94-4272-8D9D-BF4CAC0B2B24}" destId="{9F65A1C7-2DA8-40E2-B916-6E764AA035F3}" srcOrd="0" destOrd="0" presId="urn:microsoft.com/office/officeart/2008/layout/HorizontalMultiLevelHierarchy"/>
    <dgm:cxn modelId="{E04DEB70-DE48-43A8-A602-C3522A2F6029}" type="presParOf" srcId="{B515DE50-4737-4846-98D1-6ADA15328740}" destId="{82A032FB-75FA-4BF6-A437-5694DCEA7D5A}" srcOrd="3" destOrd="0" presId="urn:microsoft.com/office/officeart/2008/layout/HorizontalMultiLevelHierarchy"/>
    <dgm:cxn modelId="{071D0125-27C1-49FC-96BE-9660D9198328}" type="presParOf" srcId="{82A032FB-75FA-4BF6-A437-5694DCEA7D5A}" destId="{AE06E48F-7BF9-4001-AD7E-93B45013A007}" srcOrd="0" destOrd="0" presId="urn:microsoft.com/office/officeart/2008/layout/HorizontalMultiLevelHierarchy"/>
    <dgm:cxn modelId="{6A5E79E5-8602-4D6B-AAC9-2AD4D0B046AB}" type="presParOf" srcId="{82A032FB-75FA-4BF6-A437-5694DCEA7D5A}" destId="{054AED21-2B48-4C18-9C62-EF8CABCB7B28}" srcOrd="1" destOrd="0" presId="urn:microsoft.com/office/officeart/2008/layout/HorizontalMultiLevelHierarchy"/>
    <dgm:cxn modelId="{1DD46CE3-E68F-401D-9D81-EF0A5E86FEC8}" type="presParOf" srcId="{B515DE50-4737-4846-98D1-6ADA15328740}" destId="{6ED48EE5-2790-4792-8EEB-6FD8B0BEA56E}" srcOrd="4" destOrd="0" presId="urn:microsoft.com/office/officeart/2008/layout/HorizontalMultiLevelHierarchy"/>
    <dgm:cxn modelId="{11BBDB26-3333-42CA-985C-F18F0EF345B9}" type="presParOf" srcId="{6ED48EE5-2790-4792-8EEB-6FD8B0BEA56E}" destId="{4CDD762A-8CC2-47A8-BF32-363B8B8B87C8}" srcOrd="0" destOrd="0" presId="urn:microsoft.com/office/officeart/2008/layout/HorizontalMultiLevelHierarchy"/>
    <dgm:cxn modelId="{328A95D4-CDE3-4712-A45A-FC54FF92D6CC}" type="presParOf" srcId="{B515DE50-4737-4846-98D1-6ADA15328740}" destId="{40614FBA-F02B-4D63-8BED-2B161F57EDCF}" srcOrd="5" destOrd="0" presId="urn:microsoft.com/office/officeart/2008/layout/HorizontalMultiLevelHierarchy"/>
    <dgm:cxn modelId="{A48608AF-534B-4037-8A23-7C56A35DF8A7}" type="presParOf" srcId="{40614FBA-F02B-4D63-8BED-2B161F57EDCF}" destId="{E965A69F-D13C-407B-A241-5FDB358B4292}" srcOrd="0" destOrd="0" presId="urn:microsoft.com/office/officeart/2008/layout/HorizontalMultiLevelHierarchy"/>
    <dgm:cxn modelId="{F9485465-03B7-46EC-B8D8-AFAEFBB6BF88}" type="presParOf" srcId="{40614FBA-F02B-4D63-8BED-2B161F57EDCF}" destId="{27BD8540-5876-4897-9A81-F0A610B467AE}" srcOrd="1" destOrd="0" presId="urn:microsoft.com/office/officeart/2008/layout/HorizontalMultiLevelHierarchy"/>
    <dgm:cxn modelId="{32BCB811-634A-4A90-9CF7-5D8A5F1DB337}" type="presParOf" srcId="{B515DE50-4737-4846-98D1-6ADA15328740}" destId="{A22C3758-F6B5-4C56-B7AA-F6101789D24C}" srcOrd="6" destOrd="0" presId="urn:microsoft.com/office/officeart/2008/layout/HorizontalMultiLevelHierarchy"/>
    <dgm:cxn modelId="{B0D63466-1B8C-4F7F-9D59-C675DB28E7C0}" type="presParOf" srcId="{A22C3758-F6B5-4C56-B7AA-F6101789D24C}" destId="{3892B925-5701-4E8F-976E-19D0C74C18EC}" srcOrd="0" destOrd="0" presId="urn:microsoft.com/office/officeart/2008/layout/HorizontalMultiLevelHierarchy"/>
    <dgm:cxn modelId="{86A15C4F-09E9-4598-B396-4BA14AABB896}" type="presParOf" srcId="{B515DE50-4737-4846-98D1-6ADA15328740}" destId="{1971046F-AF0B-4D25-98A5-6DA6249CA0E0}" srcOrd="7" destOrd="0" presId="urn:microsoft.com/office/officeart/2008/layout/HorizontalMultiLevelHierarchy"/>
    <dgm:cxn modelId="{4BC1AA66-4F1C-4E3B-9782-7CAF8935309B}" type="presParOf" srcId="{1971046F-AF0B-4D25-98A5-6DA6249CA0E0}" destId="{1F209913-FEDF-4D23-A36D-9BBE7CE4CFBE}" srcOrd="0" destOrd="0" presId="urn:microsoft.com/office/officeart/2008/layout/HorizontalMultiLevelHierarchy"/>
    <dgm:cxn modelId="{8E4D041D-0BC3-498B-AE0D-AD3B826D30D6}" type="presParOf" srcId="{1971046F-AF0B-4D25-98A5-6DA6249CA0E0}" destId="{0273F0E5-EC1F-4959-8D31-871B6BAAE5B6}" srcOrd="1" destOrd="0" presId="urn:microsoft.com/office/officeart/2008/layout/HorizontalMultiLevelHierarchy"/>
    <dgm:cxn modelId="{890E6939-AA19-49FB-B5C9-C2DA26C9A143}" type="presParOf" srcId="{B515DE50-4737-4846-98D1-6ADA15328740}" destId="{3CD97F39-7ED3-41BC-8EEF-FEEC422902BA}" srcOrd="8" destOrd="0" presId="urn:microsoft.com/office/officeart/2008/layout/HorizontalMultiLevelHierarchy"/>
    <dgm:cxn modelId="{FDA67143-59D2-45F4-89FF-B76A55C8D634}" type="presParOf" srcId="{3CD97F39-7ED3-41BC-8EEF-FEEC422902BA}" destId="{996F6A9E-8790-42CD-8754-204729345FED}" srcOrd="0" destOrd="0" presId="urn:microsoft.com/office/officeart/2008/layout/HorizontalMultiLevelHierarchy"/>
    <dgm:cxn modelId="{D7F01929-BE1A-4243-B96E-8FAC08BBAED5}" type="presParOf" srcId="{B515DE50-4737-4846-98D1-6ADA15328740}" destId="{BCB6417B-95F6-46F9-8A79-14B223DC677F}" srcOrd="9" destOrd="0" presId="urn:microsoft.com/office/officeart/2008/layout/HorizontalMultiLevelHierarchy"/>
    <dgm:cxn modelId="{AE998316-1FAF-4E06-95CB-83DE0600D43D}" type="presParOf" srcId="{BCB6417B-95F6-46F9-8A79-14B223DC677F}" destId="{C920BEB0-1F05-495B-8301-35EEC9B5EAAC}" srcOrd="0" destOrd="0" presId="urn:microsoft.com/office/officeart/2008/layout/HorizontalMultiLevelHierarchy"/>
    <dgm:cxn modelId="{C55B10DA-C283-42C9-9D36-82954A050106}" type="presParOf" srcId="{BCB6417B-95F6-46F9-8A79-14B223DC677F}" destId="{1DD1D89E-0789-4749-B57F-552D680E2F9E}" srcOrd="1" destOrd="0" presId="urn:microsoft.com/office/officeart/2008/layout/HorizontalMultiLevelHierarchy"/>
    <dgm:cxn modelId="{4955EC5F-9E65-4DD9-ADD3-A8E1EA3AF2BF}" type="presParOf" srcId="{B515DE50-4737-4846-98D1-6ADA15328740}" destId="{34ADF544-0917-4C57-A945-3B75314647E6}" srcOrd="10" destOrd="0" presId="urn:microsoft.com/office/officeart/2008/layout/HorizontalMultiLevelHierarchy"/>
    <dgm:cxn modelId="{044BDD47-AB41-4EDB-9759-EFF6E78FCE6F}" type="presParOf" srcId="{34ADF544-0917-4C57-A945-3B75314647E6}" destId="{5CA7F110-D11B-4E59-B615-3B7029CAC4B1}" srcOrd="0" destOrd="0" presId="urn:microsoft.com/office/officeart/2008/layout/HorizontalMultiLevelHierarchy"/>
    <dgm:cxn modelId="{E003C751-AA51-4C18-9A1C-5B0DD6AA1C6E}" type="presParOf" srcId="{B515DE50-4737-4846-98D1-6ADA15328740}" destId="{69EF00BA-513E-42A4-B396-BA7B20CBF7F3}" srcOrd="11" destOrd="0" presId="urn:microsoft.com/office/officeart/2008/layout/HorizontalMultiLevelHierarchy"/>
    <dgm:cxn modelId="{0E63661C-0E57-44E4-8801-24D6DAC02953}" type="presParOf" srcId="{69EF00BA-513E-42A4-B396-BA7B20CBF7F3}" destId="{4076950C-B835-42DD-90A5-7434565D4FD0}" srcOrd="0" destOrd="0" presId="urn:microsoft.com/office/officeart/2008/layout/HorizontalMultiLevelHierarchy"/>
    <dgm:cxn modelId="{6919E1EB-D3B7-487A-8B75-E5281D564C2C}" type="presParOf" srcId="{69EF00BA-513E-42A4-B396-BA7B20CBF7F3}" destId="{22F06F41-0CCD-43ED-B8F6-4FEFA3BA7F6D}" srcOrd="1" destOrd="0" presId="urn:microsoft.com/office/officeart/2008/layout/HorizontalMultiLevelHierarchy"/>
    <dgm:cxn modelId="{38B53F28-6008-440E-B1A4-33933727C132}" type="presParOf" srcId="{B515DE50-4737-4846-98D1-6ADA15328740}" destId="{E63491E1-8997-4292-97E3-D108799D8DE5}" srcOrd="12" destOrd="0" presId="urn:microsoft.com/office/officeart/2008/layout/HorizontalMultiLevelHierarchy"/>
    <dgm:cxn modelId="{D7A19D1F-F1D6-49FD-BE0A-719917032F7D}" type="presParOf" srcId="{E63491E1-8997-4292-97E3-D108799D8DE5}" destId="{624B1C9F-7DB7-469E-98B5-4C5D13D329D5}" srcOrd="0" destOrd="0" presId="urn:microsoft.com/office/officeart/2008/layout/HorizontalMultiLevelHierarchy"/>
    <dgm:cxn modelId="{C16C6529-8D0D-4C38-948A-3F43C9E209A1}" type="presParOf" srcId="{B515DE50-4737-4846-98D1-6ADA15328740}" destId="{DB8203CA-9185-4291-8161-2C3E9762A30C}" srcOrd="13" destOrd="0" presId="urn:microsoft.com/office/officeart/2008/layout/HorizontalMultiLevelHierarchy"/>
    <dgm:cxn modelId="{250CC80F-F999-4A0D-A6F2-A13836ED3360}" type="presParOf" srcId="{DB8203CA-9185-4291-8161-2C3E9762A30C}" destId="{145D2D3F-34E2-45ED-890A-303EFD921068}" srcOrd="0" destOrd="0" presId="urn:microsoft.com/office/officeart/2008/layout/HorizontalMultiLevelHierarchy"/>
    <dgm:cxn modelId="{2B94AA79-2D61-43AD-897F-B8D7A8AB9257}" type="presParOf" srcId="{DB8203CA-9185-4291-8161-2C3E9762A30C}" destId="{55F2E96E-89C3-4EF4-B4C3-5856AA444B1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4B8DFA30-3259-46A0-94C6-970A7387E1CB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0193DFE7-EFD8-4B36-9603-F01C1C5A7F5F}">
      <dgm:prSet phldrT="[Text]"/>
      <dgm:spPr/>
      <dgm:t>
        <a:bodyPr/>
        <a:lstStyle/>
        <a:p>
          <a:r>
            <a:rPr lang="en-IN" b="1" i="0" dirty="0"/>
            <a:t>Unsecured Loans</a:t>
          </a:r>
          <a:endParaRPr lang="en-IN" b="1" dirty="0"/>
        </a:p>
      </dgm:t>
    </dgm:pt>
    <dgm:pt modelId="{39031152-6098-47CB-92B2-F78E1D25DCEB}" type="parTrans" cxnId="{B0761F87-334D-45B2-BB9B-56BE6A92BF1C}">
      <dgm:prSet/>
      <dgm:spPr/>
      <dgm:t>
        <a:bodyPr/>
        <a:lstStyle/>
        <a:p>
          <a:endParaRPr lang="en-IN"/>
        </a:p>
      </dgm:t>
    </dgm:pt>
    <dgm:pt modelId="{20F3A4E4-2ED1-4C79-AFB1-9DD20D2154CD}" type="sibTrans" cxnId="{B0761F87-334D-45B2-BB9B-56BE6A92BF1C}">
      <dgm:prSet/>
      <dgm:spPr/>
      <dgm:t>
        <a:bodyPr/>
        <a:lstStyle/>
        <a:p>
          <a:endParaRPr lang="en-IN"/>
        </a:p>
      </dgm:t>
    </dgm:pt>
    <dgm:pt modelId="{FBC04226-702A-46C8-BC9F-25AA4A246359}">
      <dgm:prSet phldrT="[Text]" custT="1"/>
      <dgm:spPr/>
      <dgm:t>
        <a:bodyPr/>
        <a:lstStyle/>
        <a:p>
          <a:r>
            <a:rPr lang="en-IN" sz="2400" b="1" i="0" dirty="0"/>
            <a:t>Personal Loans</a:t>
          </a:r>
          <a:endParaRPr lang="en-IN" sz="2400" dirty="0"/>
        </a:p>
      </dgm:t>
    </dgm:pt>
    <dgm:pt modelId="{57A488A5-9413-4846-A1AB-649C6B3780BD}" type="parTrans" cxnId="{6A0DE27D-243D-4519-B260-49076236BE69}">
      <dgm:prSet/>
      <dgm:spPr/>
      <dgm:t>
        <a:bodyPr/>
        <a:lstStyle/>
        <a:p>
          <a:endParaRPr lang="en-IN"/>
        </a:p>
      </dgm:t>
    </dgm:pt>
    <dgm:pt modelId="{2F40AF07-7713-4D6A-8155-CF75A7760B0E}" type="sibTrans" cxnId="{6A0DE27D-243D-4519-B260-49076236BE69}">
      <dgm:prSet/>
      <dgm:spPr/>
      <dgm:t>
        <a:bodyPr/>
        <a:lstStyle/>
        <a:p>
          <a:endParaRPr lang="en-IN"/>
        </a:p>
      </dgm:t>
    </dgm:pt>
    <dgm:pt modelId="{C545ACDC-23C8-4178-9BF9-3AB503736431}">
      <dgm:prSet phldrT="[Text]" custT="1"/>
      <dgm:spPr/>
      <dgm:t>
        <a:bodyPr/>
        <a:lstStyle/>
        <a:p>
          <a:r>
            <a:rPr lang="en-IN" sz="2400" b="1" i="0" dirty="0"/>
            <a:t>Credit Card Loans</a:t>
          </a:r>
          <a:endParaRPr lang="en-IN" sz="2400" dirty="0"/>
        </a:p>
      </dgm:t>
    </dgm:pt>
    <dgm:pt modelId="{42E32D64-C274-41FE-B8C8-58D4846F2E90}" type="parTrans" cxnId="{1F9F5D7F-5A78-4374-B56C-64CCE1DA0069}">
      <dgm:prSet/>
      <dgm:spPr/>
      <dgm:t>
        <a:bodyPr/>
        <a:lstStyle/>
        <a:p>
          <a:endParaRPr lang="en-IN"/>
        </a:p>
      </dgm:t>
    </dgm:pt>
    <dgm:pt modelId="{394CF81A-5613-470F-A505-672B07E75A0F}" type="sibTrans" cxnId="{1F9F5D7F-5A78-4374-B56C-64CCE1DA0069}">
      <dgm:prSet/>
      <dgm:spPr/>
      <dgm:t>
        <a:bodyPr/>
        <a:lstStyle/>
        <a:p>
          <a:endParaRPr lang="en-IN"/>
        </a:p>
      </dgm:t>
    </dgm:pt>
    <dgm:pt modelId="{91D56915-B817-40A2-927E-5C822C6C2AF6}">
      <dgm:prSet custT="1"/>
      <dgm:spPr/>
      <dgm:t>
        <a:bodyPr/>
        <a:lstStyle/>
        <a:p>
          <a:r>
            <a:rPr lang="en-IN" sz="2400" b="1" i="0" dirty="0"/>
            <a:t>Short-term Business Loans</a:t>
          </a:r>
        </a:p>
      </dgm:t>
    </dgm:pt>
    <dgm:pt modelId="{AEEDF4B3-1E6A-4973-98BE-522C7BE7AD99}" type="parTrans" cxnId="{2329732B-1FFB-4619-8084-4C1EC03D4B97}">
      <dgm:prSet/>
      <dgm:spPr/>
      <dgm:t>
        <a:bodyPr/>
        <a:lstStyle/>
        <a:p>
          <a:endParaRPr lang="en-IN"/>
        </a:p>
      </dgm:t>
    </dgm:pt>
    <dgm:pt modelId="{93F94494-39B1-413B-AC73-6BE02D409D3F}" type="sibTrans" cxnId="{2329732B-1FFB-4619-8084-4C1EC03D4B97}">
      <dgm:prSet/>
      <dgm:spPr/>
      <dgm:t>
        <a:bodyPr/>
        <a:lstStyle/>
        <a:p>
          <a:endParaRPr lang="en-IN"/>
        </a:p>
      </dgm:t>
    </dgm:pt>
    <dgm:pt modelId="{7BAECAAB-49CE-43C6-B5B9-14831EEE6613}">
      <dgm:prSet custT="1"/>
      <dgm:spPr/>
      <dgm:t>
        <a:bodyPr/>
        <a:lstStyle/>
        <a:p>
          <a:r>
            <a:rPr lang="en-IN" sz="2400" b="1" i="0" dirty="0"/>
            <a:t>Flexi Loans</a:t>
          </a:r>
        </a:p>
      </dgm:t>
    </dgm:pt>
    <dgm:pt modelId="{7747C6CC-5994-4B64-8DF3-2813D966CF1C}" type="parTrans" cxnId="{A5498D52-32FF-4709-AFA8-2D13C0263159}">
      <dgm:prSet/>
      <dgm:spPr/>
      <dgm:t>
        <a:bodyPr/>
        <a:lstStyle/>
        <a:p>
          <a:endParaRPr lang="en-IN"/>
        </a:p>
      </dgm:t>
    </dgm:pt>
    <dgm:pt modelId="{D04C9626-C768-45AA-A34D-A82952B43BD4}" type="sibTrans" cxnId="{A5498D52-32FF-4709-AFA8-2D13C0263159}">
      <dgm:prSet/>
      <dgm:spPr/>
      <dgm:t>
        <a:bodyPr/>
        <a:lstStyle/>
        <a:p>
          <a:endParaRPr lang="en-IN"/>
        </a:p>
      </dgm:t>
    </dgm:pt>
    <dgm:pt modelId="{4D735E39-7547-46F8-8A39-D7181A2CCB94}">
      <dgm:prSet custT="1"/>
      <dgm:spPr/>
      <dgm:t>
        <a:bodyPr/>
        <a:lstStyle/>
        <a:p>
          <a:r>
            <a:rPr lang="en-IN" sz="2400" b="1" i="0" dirty="0"/>
            <a:t>Education Loans</a:t>
          </a:r>
        </a:p>
      </dgm:t>
    </dgm:pt>
    <dgm:pt modelId="{054CCB24-C63F-451B-86FA-87E678310078}" type="parTrans" cxnId="{5B6D86E3-12C2-4BFA-BE6A-06071A8651EA}">
      <dgm:prSet/>
      <dgm:spPr/>
      <dgm:t>
        <a:bodyPr/>
        <a:lstStyle/>
        <a:p>
          <a:endParaRPr lang="en-IN"/>
        </a:p>
      </dgm:t>
    </dgm:pt>
    <dgm:pt modelId="{174E6A45-64F2-492D-BE56-B9E4B81418BB}" type="sibTrans" cxnId="{5B6D86E3-12C2-4BFA-BE6A-06071A8651EA}">
      <dgm:prSet/>
      <dgm:spPr/>
      <dgm:t>
        <a:bodyPr/>
        <a:lstStyle/>
        <a:p>
          <a:endParaRPr lang="en-IN"/>
        </a:p>
      </dgm:t>
    </dgm:pt>
    <dgm:pt modelId="{96AE5339-DDFC-4FE1-904D-40E03DACF4A1}">
      <dgm:prSet custT="1"/>
      <dgm:spPr/>
      <dgm:t>
        <a:bodyPr/>
        <a:lstStyle/>
        <a:p>
          <a:r>
            <a:rPr lang="en-IN" sz="2400" b="1" i="0" dirty="0"/>
            <a:t>Consumer Durable Loans</a:t>
          </a:r>
        </a:p>
      </dgm:t>
    </dgm:pt>
    <dgm:pt modelId="{C2FD638B-6E77-46CD-9F93-8B11CC56ADBE}" type="parTrans" cxnId="{0B110E21-4B21-4983-AE43-9413C1B1C62C}">
      <dgm:prSet/>
      <dgm:spPr/>
      <dgm:t>
        <a:bodyPr/>
        <a:lstStyle/>
        <a:p>
          <a:endParaRPr lang="en-IN"/>
        </a:p>
      </dgm:t>
    </dgm:pt>
    <dgm:pt modelId="{ED75F328-D79E-4354-933D-B6A3683C8EA6}" type="sibTrans" cxnId="{0B110E21-4B21-4983-AE43-9413C1B1C62C}">
      <dgm:prSet/>
      <dgm:spPr/>
      <dgm:t>
        <a:bodyPr/>
        <a:lstStyle/>
        <a:p>
          <a:endParaRPr lang="en-IN"/>
        </a:p>
      </dgm:t>
    </dgm:pt>
    <dgm:pt modelId="{DB231FA2-DDEB-403F-BC76-7EC2516CA9E6}" type="pres">
      <dgm:prSet presAssocID="{4B8DFA30-3259-46A0-94C6-970A7387E1CB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D4C361F-2710-46ED-B472-D6C4B52BEDEA}" type="pres">
      <dgm:prSet presAssocID="{0193DFE7-EFD8-4B36-9603-F01C1C5A7F5F}" presName="root1" presStyleCnt="0"/>
      <dgm:spPr/>
    </dgm:pt>
    <dgm:pt modelId="{D415AA1C-0DB8-458C-B28A-06CD9DF57E25}" type="pres">
      <dgm:prSet presAssocID="{0193DFE7-EFD8-4B36-9603-F01C1C5A7F5F}" presName="LevelOneTextNode" presStyleLbl="node0" presStyleIdx="0" presStyleCnt="1" custScaleY="13594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515DE50-4737-4846-98D1-6ADA15328740}" type="pres">
      <dgm:prSet presAssocID="{0193DFE7-EFD8-4B36-9603-F01C1C5A7F5F}" presName="level2hierChild" presStyleCnt="0"/>
      <dgm:spPr/>
    </dgm:pt>
    <dgm:pt modelId="{6A52717E-C80F-4B30-A590-4FB7249FCA8D}" type="pres">
      <dgm:prSet presAssocID="{57A488A5-9413-4846-A1AB-649C6B3780BD}" presName="conn2-1" presStyleLbl="parChTrans1D2" presStyleIdx="0" presStyleCnt="6"/>
      <dgm:spPr/>
      <dgm:t>
        <a:bodyPr/>
        <a:lstStyle/>
        <a:p>
          <a:endParaRPr lang="en-US"/>
        </a:p>
      </dgm:t>
    </dgm:pt>
    <dgm:pt modelId="{0A456959-54BE-44B9-83BB-D2CBD8032A6A}" type="pres">
      <dgm:prSet presAssocID="{57A488A5-9413-4846-A1AB-649C6B3780BD}" presName="connTx" presStyleLbl="parChTrans1D2" presStyleIdx="0" presStyleCnt="6"/>
      <dgm:spPr/>
      <dgm:t>
        <a:bodyPr/>
        <a:lstStyle/>
        <a:p>
          <a:endParaRPr lang="en-US"/>
        </a:p>
      </dgm:t>
    </dgm:pt>
    <dgm:pt modelId="{4F08060E-AE4B-4775-9A26-6C1E82225905}" type="pres">
      <dgm:prSet presAssocID="{FBC04226-702A-46C8-BC9F-25AA4A246359}" presName="root2" presStyleCnt="0"/>
      <dgm:spPr/>
    </dgm:pt>
    <dgm:pt modelId="{7EB9A1DF-F18A-4294-A1FF-2985FA3C88F6}" type="pres">
      <dgm:prSet presAssocID="{FBC04226-702A-46C8-BC9F-25AA4A246359}" presName="LevelTwoTextNode" presStyleLbl="node2" presStyleIdx="0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B26C3A5-EABF-42D4-88CC-80A7DD7C68A9}" type="pres">
      <dgm:prSet presAssocID="{FBC04226-702A-46C8-BC9F-25AA4A246359}" presName="level3hierChild" presStyleCnt="0"/>
      <dgm:spPr/>
    </dgm:pt>
    <dgm:pt modelId="{08A68575-FA94-4272-8D9D-BF4CAC0B2B24}" type="pres">
      <dgm:prSet presAssocID="{AEEDF4B3-1E6A-4973-98BE-522C7BE7AD99}" presName="conn2-1" presStyleLbl="parChTrans1D2" presStyleIdx="1" presStyleCnt="6"/>
      <dgm:spPr/>
      <dgm:t>
        <a:bodyPr/>
        <a:lstStyle/>
        <a:p>
          <a:endParaRPr lang="en-US"/>
        </a:p>
      </dgm:t>
    </dgm:pt>
    <dgm:pt modelId="{9F65A1C7-2DA8-40E2-B916-6E764AA035F3}" type="pres">
      <dgm:prSet presAssocID="{AEEDF4B3-1E6A-4973-98BE-522C7BE7AD99}" presName="connTx" presStyleLbl="parChTrans1D2" presStyleIdx="1" presStyleCnt="6"/>
      <dgm:spPr/>
      <dgm:t>
        <a:bodyPr/>
        <a:lstStyle/>
        <a:p>
          <a:endParaRPr lang="en-US"/>
        </a:p>
      </dgm:t>
    </dgm:pt>
    <dgm:pt modelId="{82A032FB-75FA-4BF6-A437-5694DCEA7D5A}" type="pres">
      <dgm:prSet presAssocID="{91D56915-B817-40A2-927E-5C822C6C2AF6}" presName="root2" presStyleCnt="0"/>
      <dgm:spPr/>
    </dgm:pt>
    <dgm:pt modelId="{AE06E48F-7BF9-4001-AD7E-93B45013A007}" type="pres">
      <dgm:prSet presAssocID="{91D56915-B817-40A2-927E-5C822C6C2AF6}" presName="LevelTwoTextNode" presStyleLbl="node2" presStyleIdx="1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54AED21-2B48-4C18-9C62-EF8CABCB7B28}" type="pres">
      <dgm:prSet presAssocID="{91D56915-B817-40A2-927E-5C822C6C2AF6}" presName="level3hierChild" presStyleCnt="0"/>
      <dgm:spPr/>
    </dgm:pt>
    <dgm:pt modelId="{6ED48EE5-2790-4792-8EEB-6FD8B0BEA56E}" type="pres">
      <dgm:prSet presAssocID="{7747C6CC-5994-4B64-8DF3-2813D966CF1C}" presName="conn2-1" presStyleLbl="parChTrans1D2" presStyleIdx="2" presStyleCnt="6"/>
      <dgm:spPr/>
      <dgm:t>
        <a:bodyPr/>
        <a:lstStyle/>
        <a:p>
          <a:endParaRPr lang="en-US"/>
        </a:p>
      </dgm:t>
    </dgm:pt>
    <dgm:pt modelId="{4CDD762A-8CC2-47A8-BF32-363B8B8B87C8}" type="pres">
      <dgm:prSet presAssocID="{7747C6CC-5994-4B64-8DF3-2813D966CF1C}" presName="connTx" presStyleLbl="parChTrans1D2" presStyleIdx="2" presStyleCnt="6"/>
      <dgm:spPr/>
      <dgm:t>
        <a:bodyPr/>
        <a:lstStyle/>
        <a:p>
          <a:endParaRPr lang="en-US"/>
        </a:p>
      </dgm:t>
    </dgm:pt>
    <dgm:pt modelId="{40614FBA-F02B-4D63-8BED-2B161F57EDCF}" type="pres">
      <dgm:prSet presAssocID="{7BAECAAB-49CE-43C6-B5B9-14831EEE6613}" presName="root2" presStyleCnt="0"/>
      <dgm:spPr/>
    </dgm:pt>
    <dgm:pt modelId="{E965A69F-D13C-407B-A241-5FDB358B4292}" type="pres">
      <dgm:prSet presAssocID="{7BAECAAB-49CE-43C6-B5B9-14831EEE6613}" presName="LevelTwoTextNode" presStyleLbl="node2" presStyleIdx="2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7BD8540-5876-4897-9A81-F0A610B467AE}" type="pres">
      <dgm:prSet presAssocID="{7BAECAAB-49CE-43C6-B5B9-14831EEE6613}" presName="level3hierChild" presStyleCnt="0"/>
      <dgm:spPr/>
    </dgm:pt>
    <dgm:pt modelId="{A22C3758-F6B5-4C56-B7AA-F6101789D24C}" type="pres">
      <dgm:prSet presAssocID="{054CCB24-C63F-451B-86FA-87E678310078}" presName="conn2-1" presStyleLbl="parChTrans1D2" presStyleIdx="3" presStyleCnt="6"/>
      <dgm:spPr/>
      <dgm:t>
        <a:bodyPr/>
        <a:lstStyle/>
        <a:p>
          <a:endParaRPr lang="en-US"/>
        </a:p>
      </dgm:t>
    </dgm:pt>
    <dgm:pt modelId="{3892B925-5701-4E8F-976E-19D0C74C18EC}" type="pres">
      <dgm:prSet presAssocID="{054CCB24-C63F-451B-86FA-87E678310078}" presName="connTx" presStyleLbl="parChTrans1D2" presStyleIdx="3" presStyleCnt="6"/>
      <dgm:spPr/>
      <dgm:t>
        <a:bodyPr/>
        <a:lstStyle/>
        <a:p>
          <a:endParaRPr lang="en-US"/>
        </a:p>
      </dgm:t>
    </dgm:pt>
    <dgm:pt modelId="{1971046F-AF0B-4D25-98A5-6DA6249CA0E0}" type="pres">
      <dgm:prSet presAssocID="{4D735E39-7547-46F8-8A39-D7181A2CCB94}" presName="root2" presStyleCnt="0"/>
      <dgm:spPr/>
    </dgm:pt>
    <dgm:pt modelId="{1F209913-FEDF-4D23-A36D-9BBE7CE4CFBE}" type="pres">
      <dgm:prSet presAssocID="{4D735E39-7547-46F8-8A39-D7181A2CCB94}" presName="LevelTwoTextNode" presStyleLbl="node2" presStyleIdx="3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273F0E5-EC1F-4959-8D31-871B6BAAE5B6}" type="pres">
      <dgm:prSet presAssocID="{4D735E39-7547-46F8-8A39-D7181A2CCB94}" presName="level3hierChild" presStyleCnt="0"/>
      <dgm:spPr/>
    </dgm:pt>
    <dgm:pt modelId="{A1966EFE-8B0C-46BD-925D-D61839E10843}" type="pres">
      <dgm:prSet presAssocID="{C2FD638B-6E77-46CD-9F93-8B11CC56ADBE}" presName="conn2-1" presStyleLbl="parChTrans1D2" presStyleIdx="4" presStyleCnt="6"/>
      <dgm:spPr/>
      <dgm:t>
        <a:bodyPr/>
        <a:lstStyle/>
        <a:p>
          <a:endParaRPr lang="en-US"/>
        </a:p>
      </dgm:t>
    </dgm:pt>
    <dgm:pt modelId="{46A27019-6A78-44A9-8809-A8BBFEAB3A9F}" type="pres">
      <dgm:prSet presAssocID="{C2FD638B-6E77-46CD-9F93-8B11CC56ADBE}" presName="connTx" presStyleLbl="parChTrans1D2" presStyleIdx="4" presStyleCnt="6"/>
      <dgm:spPr/>
      <dgm:t>
        <a:bodyPr/>
        <a:lstStyle/>
        <a:p>
          <a:endParaRPr lang="en-US"/>
        </a:p>
      </dgm:t>
    </dgm:pt>
    <dgm:pt modelId="{00E7D8D9-207E-4ED8-A46C-AC8E51A1FE1C}" type="pres">
      <dgm:prSet presAssocID="{96AE5339-DDFC-4FE1-904D-40E03DACF4A1}" presName="root2" presStyleCnt="0"/>
      <dgm:spPr/>
    </dgm:pt>
    <dgm:pt modelId="{409B4978-D6C2-4D48-AE5C-B69C97A9C578}" type="pres">
      <dgm:prSet presAssocID="{96AE5339-DDFC-4FE1-904D-40E03DACF4A1}" presName="LevelTwoTextNode" presStyleLbl="node2" presStyleIdx="4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B427222-4BD5-4939-A8D4-588522C1DE83}" type="pres">
      <dgm:prSet presAssocID="{96AE5339-DDFC-4FE1-904D-40E03DACF4A1}" presName="level3hierChild" presStyleCnt="0"/>
      <dgm:spPr/>
    </dgm:pt>
    <dgm:pt modelId="{34ADF544-0917-4C57-A945-3B75314647E6}" type="pres">
      <dgm:prSet presAssocID="{42E32D64-C274-41FE-B8C8-58D4846F2E90}" presName="conn2-1" presStyleLbl="parChTrans1D2" presStyleIdx="5" presStyleCnt="6"/>
      <dgm:spPr/>
      <dgm:t>
        <a:bodyPr/>
        <a:lstStyle/>
        <a:p>
          <a:endParaRPr lang="en-US"/>
        </a:p>
      </dgm:t>
    </dgm:pt>
    <dgm:pt modelId="{5CA7F110-D11B-4E59-B615-3B7029CAC4B1}" type="pres">
      <dgm:prSet presAssocID="{42E32D64-C274-41FE-B8C8-58D4846F2E90}" presName="connTx" presStyleLbl="parChTrans1D2" presStyleIdx="5" presStyleCnt="6"/>
      <dgm:spPr/>
      <dgm:t>
        <a:bodyPr/>
        <a:lstStyle/>
        <a:p>
          <a:endParaRPr lang="en-US"/>
        </a:p>
      </dgm:t>
    </dgm:pt>
    <dgm:pt modelId="{69EF00BA-513E-42A4-B396-BA7B20CBF7F3}" type="pres">
      <dgm:prSet presAssocID="{C545ACDC-23C8-4178-9BF9-3AB503736431}" presName="root2" presStyleCnt="0"/>
      <dgm:spPr/>
    </dgm:pt>
    <dgm:pt modelId="{4076950C-B835-42DD-90A5-7434565D4FD0}" type="pres">
      <dgm:prSet presAssocID="{C545ACDC-23C8-4178-9BF9-3AB503736431}" presName="LevelTwoTextNode" presStyleLbl="node2" presStyleIdx="5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2F06F41-0CCD-43ED-B8F6-4FEFA3BA7F6D}" type="pres">
      <dgm:prSet presAssocID="{C545ACDC-23C8-4178-9BF9-3AB503736431}" presName="level3hierChild" presStyleCnt="0"/>
      <dgm:spPr/>
    </dgm:pt>
  </dgm:ptLst>
  <dgm:cxnLst>
    <dgm:cxn modelId="{11ABBC49-C565-4B65-802D-D7AC96B74A62}" type="presOf" srcId="{C545ACDC-23C8-4178-9BF9-3AB503736431}" destId="{4076950C-B835-42DD-90A5-7434565D4FD0}" srcOrd="0" destOrd="0" presId="urn:microsoft.com/office/officeart/2008/layout/HorizontalMultiLevelHierarchy"/>
    <dgm:cxn modelId="{84CC1088-BE25-4A95-8900-4A23F639FF2A}" type="presOf" srcId="{7747C6CC-5994-4B64-8DF3-2813D966CF1C}" destId="{6ED48EE5-2790-4792-8EEB-6FD8B0BEA56E}" srcOrd="0" destOrd="0" presId="urn:microsoft.com/office/officeart/2008/layout/HorizontalMultiLevelHierarchy"/>
    <dgm:cxn modelId="{316FFEB3-F04C-4B69-BFF5-A6BDD1C62D9C}" type="presOf" srcId="{FBC04226-702A-46C8-BC9F-25AA4A246359}" destId="{7EB9A1DF-F18A-4294-A1FF-2985FA3C88F6}" srcOrd="0" destOrd="0" presId="urn:microsoft.com/office/officeart/2008/layout/HorizontalMultiLevelHierarchy"/>
    <dgm:cxn modelId="{1F9F5D7F-5A78-4374-B56C-64CCE1DA0069}" srcId="{0193DFE7-EFD8-4B36-9603-F01C1C5A7F5F}" destId="{C545ACDC-23C8-4178-9BF9-3AB503736431}" srcOrd="5" destOrd="0" parTransId="{42E32D64-C274-41FE-B8C8-58D4846F2E90}" sibTransId="{394CF81A-5613-470F-A505-672B07E75A0F}"/>
    <dgm:cxn modelId="{98BF1E84-6653-4981-A18D-7A47A6BE4406}" type="presOf" srcId="{7747C6CC-5994-4B64-8DF3-2813D966CF1C}" destId="{4CDD762A-8CC2-47A8-BF32-363B8B8B87C8}" srcOrd="1" destOrd="0" presId="urn:microsoft.com/office/officeart/2008/layout/HorizontalMultiLevelHierarchy"/>
    <dgm:cxn modelId="{5B6D86E3-12C2-4BFA-BE6A-06071A8651EA}" srcId="{0193DFE7-EFD8-4B36-9603-F01C1C5A7F5F}" destId="{4D735E39-7547-46F8-8A39-D7181A2CCB94}" srcOrd="3" destOrd="0" parTransId="{054CCB24-C63F-451B-86FA-87E678310078}" sibTransId="{174E6A45-64F2-492D-BE56-B9E4B81418BB}"/>
    <dgm:cxn modelId="{2958F26E-FE03-4EFA-8B89-CB283CF2E878}" type="presOf" srcId="{4D735E39-7547-46F8-8A39-D7181A2CCB94}" destId="{1F209913-FEDF-4D23-A36D-9BBE7CE4CFBE}" srcOrd="0" destOrd="0" presId="urn:microsoft.com/office/officeart/2008/layout/HorizontalMultiLevelHierarchy"/>
    <dgm:cxn modelId="{A5498D52-32FF-4709-AFA8-2D13C0263159}" srcId="{0193DFE7-EFD8-4B36-9603-F01C1C5A7F5F}" destId="{7BAECAAB-49CE-43C6-B5B9-14831EEE6613}" srcOrd="2" destOrd="0" parTransId="{7747C6CC-5994-4B64-8DF3-2813D966CF1C}" sibTransId="{D04C9626-C768-45AA-A34D-A82952B43BD4}"/>
    <dgm:cxn modelId="{80F8F501-09CE-440F-A2DC-49EB8FF26533}" type="presOf" srcId="{7BAECAAB-49CE-43C6-B5B9-14831EEE6613}" destId="{E965A69F-D13C-407B-A241-5FDB358B4292}" srcOrd="0" destOrd="0" presId="urn:microsoft.com/office/officeart/2008/layout/HorizontalMultiLevelHierarchy"/>
    <dgm:cxn modelId="{16F2AAE9-76D7-47A0-97AD-3922983E01F0}" type="presOf" srcId="{054CCB24-C63F-451B-86FA-87E678310078}" destId="{3892B925-5701-4E8F-976E-19D0C74C18EC}" srcOrd="1" destOrd="0" presId="urn:microsoft.com/office/officeart/2008/layout/HorizontalMultiLevelHierarchy"/>
    <dgm:cxn modelId="{B0761F87-334D-45B2-BB9B-56BE6A92BF1C}" srcId="{4B8DFA30-3259-46A0-94C6-970A7387E1CB}" destId="{0193DFE7-EFD8-4B36-9603-F01C1C5A7F5F}" srcOrd="0" destOrd="0" parTransId="{39031152-6098-47CB-92B2-F78E1D25DCEB}" sibTransId="{20F3A4E4-2ED1-4C79-AFB1-9DD20D2154CD}"/>
    <dgm:cxn modelId="{DEE34F77-246A-4D1B-B476-A61AC4E9B956}" type="presOf" srcId="{054CCB24-C63F-451B-86FA-87E678310078}" destId="{A22C3758-F6B5-4C56-B7AA-F6101789D24C}" srcOrd="0" destOrd="0" presId="urn:microsoft.com/office/officeart/2008/layout/HorizontalMultiLevelHierarchy"/>
    <dgm:cxn modelId="{B740118D-E792-4D2F-A2F9-5F02BE9E5D2A}" type="presOf" srcId="{96AE5339-DDFC-4FE1-904D-40E03DACF4A1}" destId="{409B4978-D6C2-4D48-AE5C-B69C97A9C578}" srcOrd="0" destOrd="0" presId="urn:microsoft.com/office/officeart/2008/layout/HorizontalMultiLevelHierarchy"/>
    <dgm:cxn modelId="{9CD3E79E-E081-4A85-A684-2B693FE386F5}" type="presOf" srcId="{57A488A5-9413-4846-A1AB-649C6B3780BD}" destId="{0A456959-54BE-44B9-83BB-D2CBD8032A6A}" srcOrd="1" destOrd="0" presId="urn:microsoft.com/office/officeart/2008/layout/HorizontalMultiLevelHierarchy"/>
    <dgm:cxn modelId="{3D0151B7-F395-48B3-9E80-C7127EC974AB}" type="presOf" srcId="{0193DFE7-EFD8-4B36-9603-F01C1C5A7F5F}" destId="{D415AA1C-0DB8-458C-B28A-06CD9DF57E25}" srcOrd="0" destOrd="0" presId="urn:microsoft.com/office/officeart/2008/layout/HorizontalMultiLevelHierarchy"/>
    <dgm:cxn modelId="{2329732B-1FFB-4619-8084-4C1EC03D4B97}" srcId="{0193DFE7-EFD8-4B36-9603-F01C1C5A7F5F}" destId="{91D56915-B817-40A2-927E-5C822C6C2AF6}" srcOrd="1" destOrd="0" parTransId="{AEEDF4B3-1E6A-4973-98BE-522C7BE7AD99}" sibTransId="{93F94494-39B1-413B-AC73-6BE02D409D3F}"/>
    <dgm:cxn modelId="{E0F4A2E4-7FDF-48BC-8CF1-CF5176C95544}" type="presOf" srcId="{91D56915-B817-40A2-927E-5C822C6C2AF6}" destId="{AE06E48F-7BF9-4001-AD7E-93B45013A007}" srcOrd="0" destOrd="0" presId="urn:microsoft.com/office/officeart/2008/layout/HorizontalMultiLevelHierarchy"/>
    <dgm:cxn modelId="{0B110E21-4B21-4983-AE43-9413C1B1C62C}" srcId="{0193DFE7-EFD8-4B36-9603-F01C1C5A7F5F}" destId="{96AE5339-DDFC-4FE1-904D-40E03DACF4A1}" srcOrd="4" destOrd="0" parTransId="{C2FD638B-6E77-46CD-9F93-8B11CC56ADBE}" sibTransId="{ED75F328-D79E-4354-933D-B6A3683C8EA6}"/>
    <dgm:cxn modelId="{AD7A9D97-CC21-423E-809D-E472079C5687}" type="presOf" srcId="{42E32D64-C274-41FE-B8C8-58D4846F2E90}" destId="{5CA7F110-D11B-4E59-B615-3B7029CAC4B1}" srcOrd="1" destOrd="0" presId="urn:microsoft.com/office/officeart/2008/layout/HorizontalMultiLevelHierarchy"/>
    <dgm:cxn modelId="{68ABB350-D2F2-4B0C-9FF5-7E1884BBB185}" type="presOf" srcId="{AEEDF4B3-1E6A-4973-98BE-522C7BE7AD99}" destId="{9F65A1C7-2DA8-40E2-B916-6E764AA035F3}" srcOrd="1" destOrd="0" presId="urn:microsoft.com/office/officeart/2008/layout/HorizontalMultiLevelHierarchy"/>
    <dgm:cxn modelId="{E99CFAF3-27C5-49EA-80F0-ED4FD46C429E}" type="presOf" srcId="{4B8DFA30-3259-46A0-94C6-970A7387E1CB}" destId="{DB231FA2-DDEB-403F-BC76-7EC2516CA9E6}" srcOrd="0" destOrd="0" presId="urn:microsoft.com/office/officeart/2008/layout/HorizontalMultiLevelHierarchy"/>
    <dgm:cxn modelId="{6A0DE27D-243D-4519-B260-49076236BE69}" srcId="{0193DFE7-EFD8-4B36-9603-F01C1C5A7F5F}" destId="{FBC04226-702A-46C8-BC9F-25AA4A246359}" srcOrd="0" destOrd="0" parTransId="{57A488A5-9413-4846-A1AB-649C6B3780BD}" sibTransId="{2F40AF07-7713-4D6A-8155-CF75A7760B0E}"/>
    <dgm:cxn modelId="{BB9D5BA6-E7D9-4636-9FA1-57D4FE24AAF6}" type="presOf" srcId="{42E32D64-C274-41FE-B8C8-58D4846F2E90}" destId="{34ADF544-0917-4C57-A945-3B75314647E6}" srcOrd="0" destOrd="0" presId="urn:microsoft.com/office/officeart/2008/layout/HorizontalMultiLevelHierarchy"/>
    <dgm:cxn modelId="{C9A0EC45-B850-4A63-AB7F-EF94BC20B39C}" type="presOf" srcId="{AEEDF4B3-1E6A-4973-98BE-522C7BE7AD99}" destId="{08A68575-FA94-4272-8D9D-BF4CAC0B2B24}" srcOrd="0" destOrd="0" presId="urn:microsoft.com/office/officeart/2008/layout/HorizontalMultiLevelHierarchy"/>
    <dgm:cxn modelId="{30D9EDD3-2D1C-4592-97E7-C34AEE1372B1}" type="presOf" srcId="{C2FD638B-6E77-46CD-9F93-8B11CC56ADBE}" destId="{46A27019-6A78-44A9-8809-A8BBFEAB3A9F}" srcOrd="1" destOrd="0" presId="urn:microsoft.com/office/officeart/2008/layout/HorizontalMultiLevelHierarchy"/>
    <dgm:cxn modelId="{817D84EC-69B2-4994-B536-A333D63C30AD}" type="presOf" srcId="{C2FD638B-6E77-46CD-9F93-8B11CC56ADBE}" destId="{A1966EFE-8B0C-46BD-925D-D61839E10843}" srcOrd="0" destOrd="0" presId="urn:microsoft.com/office/officeart/2008/layout/HorizontalMultiLevelHierarchy"/>
    <dgm:cxn modelId="{7948E400-30A1-4E57-A2AA-F7C85FA503AE}" type="presOf" srcId="{57A488A5-9413-4846-A1AB-649C6B3780BD}" destId="{6A52717E-C80F-4B30-A590-4FB7249FCA8D}" srcOrd="0" destOrd="0" presId="urn:microsoft.com/office/officeart/2008/layout/HorizontalMultiLevelHierarchy"/>
    <dgm:cxn modelId="{39AECE03-E36A-4FF7-B214-2085ADB2223C}" type="presParOf" srcId="{DB231FA2-DDEB-403F-BC76-7EC2516CA9E6}" destId="{2D4C361F-2710-46ED-B472-D6C4B52BEDEA}" srcOrd="0" destOrd="0" presId="urn:microsoft.com/office/officeart/2008/layout/HorizontalMultiLevelHierarchy"/>
    <dgm:cxn modelId="{F2E48D90-9F21-4C39-885B-5661AF0C23D2}" type="presParOf" srcId="{2D4C361F-2710-46ED-B472-D6C4B52BEDEA}" destId="{D415AA1C-0DB8-458C-B28A-06CD9DF57E25}" srcOrd="0" destOrd="0" presId="urn:microsoft.com/office/officeart/2008/layout/HorizontalMultiLevelHierarchy"/>
    <dgm:cxn modelId="{D6303672-2EFE-466F-BE49-72349DF7A031}" type="presParOf" srcId="{2D4C361F-2710-46ED-B472-D6C4B52BEDEA}" destId="{B515DE50-4737-4846-98D1-6ADA15328740}" srcOrd="1" destOrd="0" presId="urn:microsoft.com/office/officeart/2008/layout/HorizontalMultiLevelHierarchy"/>
    <dgm:cxn modelId="{4E54E5D2-8B58-411D-87B9-C7398683CE95}" type="presParOf" srcId="{B515DE50-4737-4846-98D1-6ADA15328740}" destId="{6A52717E-C80F-4B30-A590-4FB7249FCA8D}" srcOrd="0" destOrd="0" presId="urn:microsoft.com/office/officeart/2008/layout/HorizontalMultiLevelHierarchy"/>
    <dgm:cxn modelId="{AFCA3C64-6BC6-4BCE-9F10-8FF8BABBC2E3}" type="presParOf" srcId="{6A52717E-C80F-4B30-A590-4FB7249FCA8D}" destId="{0A456959-54BE-44B9-83BB-D2CBD8032A6A}" srcOrd="0" destOrd="0" presId="urn:microsoft.com/office/officeart/2008/layout/HorizontalMultiLevelHierarchy"/>
    <dgm:cxn modelId="{CFA1B6F3-6844-4058-8A85-E9CF63847F26}" type="presParOf" srcId="{B515DE50-4737-4846-98D1-6ADA15328740}" destId="{4F08060E-AE4B-4775-9A26-6C1E82225905}" srcOrd="1" destOrd="0" presId="urn:microsoft.com/office/officeart/2008/layout/HorizontalMultiLevelHierarchy"/>
    <dgm:cxn modelId="{7728A27D-FD4B-4C20-9BA8-15A128D9F0F1}" type="presParOf" srcId="{4F08060E-AE4B-4775-9A26-6C1E82225905}" destId="{7EB9A1DF-F18A-4294-A1FF-2985FA3C88F6}" srcOrd="0" destOrd="0" presId="urn:microsoft.com/office/officeart/2008/layout/HorizontalMultiLevelHierarchy"/>
    <dgm:cxn modelId="{B61A0F1A-E7E5-4455-AFDD-810585759F1B}" type="presParOf" srcId="{4F08060E-AE4B-4775-9A26-6C1E82225905}" destId="{5B26C3A5-EABF-42D4-88CC-80A7DD7C68A9}" srcOrd="1" destOrd="0" presId="urn:microsoft.com/office/officeart/2008/layout/HorizontalMultiLevelHierarchy"/>
    <dgm:cxn modelId="{14F7D7D2-52B6-4058-B756-CF92FF7D7625}" type="presParOf" srcId="{B515DE50-4737-4846-98D1-6ADA15328740}" destId="{08A68575-FA94-4272-8D9D-BF4CAC0B2B24}" srcOrd="2" destOrd="0" presId="urn:microsoft.com/office/officeart/2008/layout/HorizontalMultiLevelHierarchy"/>
    <dgm:cxn modelId="{068DC7BD-BE39-458C-9DCA-CB2CA90663C7}" type="presParOf" srcId="{08A68575-FA94-4272-8D9D-BF4CAC0B2B24}" destId="{9F65A1C7-2DA8-40E2-B916-6E764AA035F3}" srcOrd="0" destOrd="0" presId="urn:microsoft.com/office/officeart/2008/layout/HorizontalMultiLevelHierarchy"/>
    <dgm:cxn modelId="{E04DEB70-DE48-43A8-A602-C3522A2F6029}" type="presParOf" srcId="{B515DE50-4737-4846-98D1-6ADA15328740}" destId="{82A032FB-75FA-4BF6-A437-5694DCEA7D5A}" srcOrd="3" destOrd="0" presId="urn:microsoft.com/office/officeart/2008/layout/HorizontalMultiLevelHierarchy"/>
    <dgm:cxn modelId="{071D0125-27C1-49FC-96BE-9660D9198328}" type="presParOf" srcId="{82A032FB-75FA-4BF6-A437-5694DCEA7D5A}" destId="{AE06E48F-7BF9-4001-AD7E-93B45013A007}" srcOrd="0" destOrd="0" presId="urn:microsoft.com/office/officeart/2008/layout/HorizontalMultiLevelHierarchy"/>
    <dgm:cxn modelId="{6A5E79E5-8602-4D6B-AAC9-2AD4D0B046AB}" type="presParOf" srcId="{82A032FB-75FA-4BF6-A437-5694DCEA7D5A}" destId="{054AED21-2B48-4C18-9C62-EF8CABCB7B28}" srcOrd="1" destOrd="0" presId="urn:microsoft.com/office/officeart/2008/layout/HorizontalMultiLevelHierarchy"/>
    <dgm:cxn modelId="{1DD46CE3-E68F-401D-9D81-EF0A5E86FEC8}" type="presParOf" srcId="{B515DE50-4737-4846-98D1-6ADA15328740}" destId="{6ED48EE5-2790-4792-8EEB-6FD8B0BEA56E}" srcOrd="4" destOrd="0" presId="urn:microsoft.com/office/officeart/2008/layout/HorizontalMultiLevelHierarchy"/>
    <dgm:cxn modelId="{11BBDB26-3333-42CA-985C-F18F0EF345B9}" type="presParOf" srcId="{6ED48EE5-2790-4792-8EEB-6FD8B0BEA56E}" destId="{4CDD762A-8CC2-47A8-BF32-363B8B8B87C8}" srcOrd="0" destOrd="0" presId="urn:microsoft.com/office/officeart/2008/layout/HorizontalMultiLevelHierarchy"/>
    <dgm:cxn modelId="{328A95D4-CDE3-4712-A45A-FC54FF92D6CC}" type="presParOf" srcId="{B515DE50-4737-4846-98D1-6ADA15328740}" destId="{40614FBA-F02B-4D63-8BED-2B161F57EDCF}" srcOrd="5" destOrd="0" presId="urn:microsoft.com/office/officeart/2008/layout/HorizontalMultiLevelHierarchy"/>
    <dgm:cxn modelId="{A48608AF-534B-4037-8A23-7C56A35DF8A7}" type="presParOf" srcId="{40614FBA-F02B-4D63-8BED-2B161F57EDCF}" destId="{E965A69F-D13C-407B-A241-5FDB358B4292}" srcOrd="0" destOrd="0" presId="urn:microsoft.com/office/officeart/2008/layout/HorizontalMultiLevelHierarchy"/>
    <dgm:cxn modelId="{F9485465-03B7-46EC-B8D8-AFAEFBB6BF88}" type="presParOf" srcId="{40614FBA-F02B-4D63-8BED-2B161F57EDCF}" destId="{27BD8540-5876-4897-9A81-F0A610B467AE}" srcOrd="1" destOrd="0" presId="urn:microsoft.com/office/officeart/2008/layout/HorizontalMultiLevelHierarchy"/>
    <dgm:cxn modelId="{32BCB811-634A-4A90-9CF7-5D8A5F1DB337}" type="presParOf" srcId="{B515DE50-4737-4846-98D1-6ADA15328740}" destId="{A22C3758-F6B5-4C56-B7AA-F6101789D24C}" srcOrd="6" destOrd="0" presId="urn:microsoft.com/office/officeart/2008/layout/HorizontalMultiLevelHierarchy"/>
    <dgm:cxn modelId="{B0D63466-1B8C-4F7F-9D59-C675DB28E7C0}" type="presParOf" srcId="{A22C3758-F6B5-4C56-B7AA-F6101789D24C}" destId="{3892B925-5701-4E8F-976E-19D0C74C18EC}" srcOrd="0" destOrd="0" presId="urn:microsoft.com/office/officeart/2008/layout/HorizontalMultiLevelHierarchy"/>
    <dgm:cxn modelId="{86A15C4F-09E9-4598-B396-4BA14AABB896}" type="presParOf" srcId="{B515DE50-4737-4846-98D1-6ADA15328740}" destId="{1971046F-AF0B-4D25-98A5-6DA6249CA0E0}" srcOrd="7" destOrd="0" presId="urn:microsoft.com/office/officeart/2008/layout/HorizontalMultiLevelHierarchy"/>
    <dgm:cxn modelId="{4BC1AA66-4F1C-4E3B-9782-7CAF8935309B}" type="presParOf" srcId="{1971046F-AF0B-4D25-98A5-6DA6249CA0E0}" destId="{1F209913-FEDF-4D23-A36D-9BBE7CE4CFBE}" srcOrd="0" destOrd="0" presId="urn:microsoft.com/office/officeart/2008/layout/HorizontalMultiLevelHierarchy"/>
    <dgm:cxn modelId="{8E4D041D-0BC3-498B-AE0D-AD3B826D30D6}" type="presParOf" srcId="{1971046F-AF0B-4D25-98A5-6DA6249CA0E0}" destId="{0273F0E5-EC1F-4959-8D31-871B6BAAE5B6}" srcOrd="1" destOrd="0" presId="urn:microsoft.com/office/officeart/2008/layout/HorizontalMultiLevelHierarchy"/>
    <dgm:cxn modelId="{1AB6A45C-39F9-46D9-BBC9-368EE5FBDE56}" type="presParOf" srcId="{B515DE50-4737-4846-98D1-6ADA15328740}" destId="{A1966EFE-8B0C-46BD-925D-D61839E10843}" srcOrd="8" destOrd="0" presId="urn:microsoft.com/office/officeart/2008/layout/HorizontalMultiLevelHierarchy"/>
    <dgm:cxn modelId="{54272074-E7C5-4107-8DDA-3CB4391AE21F}" type="presParOf" srcId="{A1966EFE-8B0C-46BD-925D-D61839E10843}" destId="{46A27019-6A78-44A9-8809-A8BBFEAB3A9F}" srcOrd="0" destOrd="0" presId="urn:microsoft.com/office/officeart/2008/layout/HorizontalMultiLevelHierarchy"/>
    <dgm:cxn modelId="{B69A4988-3DB3-432A-99A3-0061771A0CE9}" type="presParOf" srcId="{B515DE50-4737-4846-98D1-6ADA15328740}" destId="{00E7D8D9-207E-4ED8-A46C-AC8E51A1FE1C}" srcOrd="9" destOrd="0" presId="urn:microsoft.com/office/officeart/2008/layout/HorizontalMultiLevelHierarchy"/>
    <dgm:cxn modelId="{A6031B8D-4381-4122-8E81-ABD9354EA8E9}" type="presParOf" srcId="{00E7D8D9-207E-4ED8-A46C-AC8E51A1FE1C}" destId="{409B4978-D6C2-4D48-AE5C-B69C97A9C578}" srcOrd="0" destOrd="0" presId="urn:microsoft.com/office/officeart/2008/layout/HorizontalMultiLevelHierarchy"/>
    <dgm:cxn modelId="{4CE5B9B8-BF9E-465F-9E3C-6E95457565EA}" type="presParOf" srcId="{00E7D8D9-207E-4ED8-A46C-AC8E51A1FE1C}" destId="{FB427222-4BD5-4939-A8D4-588522C1DE83}" srcOrd="1" destOrd="0" presId="urn:microsoft.com/office/officeart/2008/layout/HorizontalMultiLevelHierarchy"/>
    <dgm:cxn modelId="{4955EC5F-9E65-4DD9-ADD3-A8E1EA3AF2BF}" type="presParOf" srcId="{B515DE50-4737-4846-98D1-6ADA15328740}" destId="{34ADF544-0917-4C57-A945-3B75314647E6}" srcOrd="10" destOrd="0" presId="urn:microsoft.com/office/officeart/2008/layout/HorizontalMultiLevelHierarchy"/>
    <dgm:cxn modelId="{044BDD47-AB41-4EDB-9759-EFF6E78FCE6F}" type="presParOf" srcId="{34ADF544-0917-4C57-A945-3B75314647E6}" destId="{5CA7F110-D11B-4E59-B615-3B7029CAC4B1}" srcOrd="0" destOrd="0" presId="urn:microsoft.com/office/officeart/2008/layout/HorizontalMultiLevelHierarchy"/>
    <dgm:cxn modelId="{E003C751-AA51-4C18-9A1C-5B0DD6AA1C6E}" type="presParOf" srcId="{B515DE50-4737-4846-98D1-6ADA15328740}" destId="{69EF00BA-513E-42A4-B396-BA7B20CBF7F3}" srcOrd="11" destOrd="0" presId="urn:microsoft.com/office/officeart/2008/layout/HorizontalMultiLevelHierarchy"/>
    <dgm:cxn modelId="{0E63661C-0E57-44E4-8801-24D6DAC02953}" type="presParOf" srcId="{69EF00BA-513E-42A4-B396-BA7B20CBF7F3}" destId="{4076950C-B835-42DD-90A5-7434565D4FD0}" srcOrd="0" destOrd="0" presId="urn:microsoft.com/office/officeart/2008/layout/HorizontalMultiLevelHierarchy"/>
    <dgm:cxn modelId="{6919E1EB-D3B7-487A-8B75-E5281D564C2C}" type="presParOf" srcId="{69EF00BA-513E-42A4-B396-BA7B20CBF7F3}" destId="{22F06F41-0CCD-43ED-B8F6-4FEFA3BA7F6D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B34C5E9F-FD25-42ED-A31A-F83F9E7D9EBF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IN"/>
        </a:p>
      </dgm:t>
    </dgm:pt>
    <dgm:pt modelId="{05BF5743-90ED-4E73-A402-2068F42026E7}">
      <dgm:prSet/>
      <dgm:spPr/>
      <dgm:t>
        <a:bodyPr/>
        <a:lstStyle/>
        <a:p>
          <a:r>
            <a:rPr lang="en-US"/>
            <a:t>1. Standard Assets</a:t>
          </a:r>
          <a:endParaRPr lang="en-IN"/>
        </a:p>
      </dgm:t>
    </dgm:pt>
    <dgm:pt modelId="{3E5BD2D7-54F0-48CF-9C5B-BEA8EFF609F0}" type="parTrans" cxnId="{080C03B8-9765-4D0D-909C-D474FD122681}">
      <dgm:prSet/>
      <dgm:spPr/>
      <dgm:t>
        <a:bodyPr/>
        <a:lstStyle/>
        <a:p>
          <a:endParaRPr lang="en-IN"/>
        </a:p>
      </dgm:t>
    </dgm:pt>
    <dgm:pt modelId="{012F3270-902E-4E8E-90DB-F5F8149B3F90}" type="sibTrans" cxnId="{080C03B8-9765-4D0D-909C-D474FD122681}">
      <dgm:prSet/>
      <dgm:spPr/>
      <dgm:t>
        <a:bodyPr/>
        <a:lstStyle/>
        <a:p>
          <a:endParaRPr lang="en-IN"/>
        </a:p>
      </dgm:t>
    </dgm:pt>
    <dgm:pt modelId="{82A5C096-C6AA-4417-A0FB-2AF0B92710D6}">
      <dgm:prSet/>
      <dgm:spPr/>
      <dgm:t>
        <a:bodyPr/>
        <a:lstStyle/>
        <a:p>
          <a:r>
            <a:rPr lang="en-US"/>
            <a:t>2. Sub-Standard Assets</a:t>
          </a:r>
          <a:endParaRPr lang="en-IN"/>
        </a:p>
      </dgm:t>
    </dgm:pt>
    <dgm:pt modelId="{F2C0B272-162B-4414-9395-C7FB7FD8BF98}" type="parTrans" cxnId="{9766E442-6039-416D-968D-A3191687B30E}">
      <dgm:prSet/>
      <dgm:spPr/>
      <dgm:t>
        <a:bodyPr/>
        <a:lstStyle/>
        <a:p>
          <a:endParaRPr lang="en-IN"/>
        </a:p>
      </dgm:t>
    </dgm:pt>
    <dgm:pt modelId="{A8BDC26D-8732-4923-9CCF-F3E5EF0DBB4E}" type="sibTrans" cxnId="{9766E442-6039-416D-968D-A3191687B30E}">
      <dgm:prSet/>
      <dgm:spPr/>
      <dgm:t>
        <a:bodyPr/>
        <a:lstStyle/>
        <a:p>
          <a:endParaRPr lang="en-IN"/>
        </a:p>
      </dgm:t>
    </dgm:pt>
    <dgm:pt modelId="{FB7E0627-09F0-42A1-9CDB-6C225873D435}">
      <dgm:prSet/>
      <dgm:spPr/>
      <dgm:t>
        <a:bodyPr/>
        <a:lstStyle/>
        <a:p>
          <a:r>
            <a:rPr lang="en-US"/>
            <a:t>3. Doubtful Debts</a:t>
          </a:r>
          <a:endParaRPr lang="en-IN"/>
        </a:p>
      </dgm:t>
    </dgm:pt>
    <dgm:pt modelId="{4CA218CF-6287-4CF4-92CF-47F8EC44F94D}" type="parTrans" cxnId="{B08298F9-B773-49AA-9246-D751B12FDEAA}">
      <dgm:prSet/>
      <dgm:spPr/>
      <dgm:t>
        <a:bodyPr/>
        <a:lstStyle/>
        <a:p>
          <a:endParaRPr lang="en-IN"/>
        </a:p>
      </dgm:t>
    </dgm:pt>
    <dgm:pt modelId="{EDA46736-5C0E-4268-8306-BA1D399013A6}" type="sibTrans" cxnId="{B08298F9-B773-49AA-9246-D751B12FDEAA}">
      <dgm:prSet/>
      <dgm:spPr/>
      <dgm:t>
        <a:bodyPr/>
        <a:lstStyle/>
        <a:p>
          <a:endParaRPr lang="en-IN"/>
        </a:p>
      </dgm:t>
    </dgm:pt>
    <dgm:pt modelId="{F76ADB27-2665-4799-875C-AD9C2DB480DF}">
      <dgm:prSet/>
      <dgm:spPr/>
      <dgm:t>
        <a:bodyPr/>
        <a:lstStyle/>
        <a:p>
          <a:r>
            <a:rPr lang="en-US"/>
            <a:t>4. Loss Assets</a:t>
          </a:r>
          <a:endParaRPr lang="en-IN"/>
        </a:p>
      </dgm:t>
    </dgm:pt>
    <dgm:pt modelId="{A713FA35-2AEF-4F89-B975-F9F5F20FFB22}" type="parTrans" cxnId="{D6443CA3-9671-4919-884B-FB19E4F2AB58}">
      <dgm:prSet/>
      <dgm:spPr/>
      <dgm:t>
        <a:bodyPr/>
        <a:lstStyle/>
        <a:p>
          <a:endParaRPr lang="en-IN"/>
        </a:p>
      </dgm:t>
    </dgm:pt>
    <dgm:pt modelId="{5AF0F4AD-E1C3-4706-BF7D-0E672232D5AD}" type="sibTrans" cxnId="{D6443CA3-9671-4919-884B-FB19E4F2AB58}">
      <dgm:prSet/>
      <dgm:spPr/>
      <dgm:t>
        <a:bodyPr/>
        <a:lstStyle/>
        <a:p>
          <a:endParaRPr lang="en-IN"/>
        </a:p>
      </dgm:t>
    </dgm:pt>
    <dgm:pt modelId="{83393C23-2923-4399-A4C6-5D13135FBF2A}" type="pres">
      <dgm:prSet presAssocID="{B34C5E9F-FD25-42ED-A31A-F83F9E7D9EBF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BE431A21-F478-471E-A7C5-2C50DB4ED151}" type="pres">
      <dgm:prSet presAssocID="{B34C5E9F-FD25-42ED-A31A-F83F9E7D9EBF}" presName="Name1" presStyleCnt="0"/>
      <dgm:spPr/>
      <dgm:t>
        <a:bodyPr/>
        <a:lstStyle/>
        <a:p>
          <a:endParaRPr lang="en-US"/>
        </a:p>
      </dgm:t>
    </dgm:pt>
    <dgm:pt modelId="{0B622C4E-BF90-46DC-BA0B-C52C2CBA3F0E}" type="pres">
      <dgm:prSet presAssocID="{B34C5E9F-FD25-42ED-A31A-F83F9E7D9EBF}" presName="cycle" presStyleCnt="0"/>
      <dgm:spPr/>
      <dgm:t>
        <a:bodyPr/>
        <a:lstStyle/>
        <a:p>
          <a:endParaRPr lang="en-US"/>
        </a:p>
      </dgm:t>
    </dgm:pt>
    <dgm:pt modelId="{EFE7ED8B-54C9-4942-88A9-1A1F247780A6}" type="pres">
      <dgm:prSet presAssocID="{B34C5E9F-FD25-42ED-A31A-F83F9E7D9EBF}" presName="srcNode" presStyleLbl="node1" presStyleIdx="0" presStyleCnt="4"/>
      <dgm:spPr/>
      <dgm:t>
        <a:bodyPr/>
        <a:lstStyle/>
        <a:p>
          <a:endParaRPr lang="en-US"/>
        </a:p>
      </dgm:t>
    </dgm:pt>
    <dgm:pt modelId="{2F4982E9-FF37-4030-8C14-123B439EB3CD}" type="pres">
      <dgm:prSet presAssocID="{B34C5E9F-FD25-42ED-A31A-F83F9E7D9EBF}" presName="conn" presStyleLbl="parChTrans1D2" presStyleIdx="0" presStyleCnt="1"/>
      <dgm:spPr/>
      <dgm:t>
        <a:bodyPr/>
        <a:lstStyle/>
        <a:p>
          <a:endParaRPr lang="en-US"/>
        </a:p>
      </dgm:t>
    </dgm:pt>
    <dgm:pt modelId="{57553FF5-904E-42B3-A973-200F2364425D}" type="pres">
      <dgm:prSet presAssocID="{B34C5E9F-FD25-42ED-A31A-F83F9E7D9EBF}" presName="extraNode" presStyleLbl="node1" presStyleIdx="0" presStyleCnt="4"/>
      <dgm:spPr/>
      <dgm:t>
        <a:bodyPr/>
        <a:lstStyle/>
        <a:p>
          <a:endParaRPr lang="en-US"/>
        </a:p>
      </dgm:t>
    </dgm:pt>
    <dgm:pt modelId="{0B416832-3BB9-4DBC-8CF4-B030366A6009}" type="pres">
      <dgm:prSet presAssocID="{B34C5E9F-FD25-42ED-A31A-F83F9E7D9EBF}" presName="dstNode" presStyleLbl="node1" presStyleIdx="0" presStyleCnt="4"/>
      <dgm:spPr/>
      <dgm:t>
        <a:bodyPr/>
        <a:lstStyle/>
        <a:p>
          <a:endParaRPr lang="en-US"/>
        </a:p>
      </dgm:t>
    </dgm:pt>
    <dgm:pt modelId="{464578E5-1959-4BF3-9CC5-1A65315DFEDC}" type="pres">
      <dgm:prSet presAssocID="{05BF5743-90ED-4E73-A402-2068F42026E7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621B87-5E94-45F6-9565-7FA1B4303D39}" type="pres">
      <dgm:prSet presAssocID="{05BF5743-90ED-4E73-A402-2068F42026E7}" presName="accent_1" presStyleCnt="0"/>
      <dgm:spPr/>
      <dgm:t>
        <a:bodyPr/>
        <a:lstStyle/>
        <a:p>
          <a:endParaRPr lang="en-US"/>
        </a:p>
      </dgm:t>
    </dgm:pt>
    <dgm:pt modelId="{108CF32A-E650-4CC0-BFF1-F5DDCF9374A4}" type="pres">
      <dgm:prSet presAssocID="{05BF5743-90ED-4E73-A402-2068F42026E7}" presName="accentRepeatNode" presStyleLbl="solidFgAcc1" presStyleIdx="0" presStyleCnt="4"/>
      <dgm:spPr/>
      <dgm:t>
        <a:bodyPr/>
        <a:lstStyle/>
        <a:p>
          <a:endParaRPr lang="en-US"/>
        </a:p>
      </dgm:t>
    </dgm:pt>
    <dgm:pt modelId="{DB05FDAB-4CE8-4F34-916E-BC5980026392}" type="pres">
      <dgm:prSet presAssocID="{82A5C096-C6AA-4417-A0FB-2AF0B92710D6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193C94-C4BF-4BA2-B821-AFB3FB927808}" type="pres">
      <dgm:prSet presAssocID="{82A5C096-C6AA-4417-A0FB-2AF0B92710D6}" presName="accent_2" presStyleCnt="0"/>
      <dgm:spPr/>
      <dgm:t>
        <a:bodyPr/>
        <a:lstStyle/>
        <a:p>
          <a:endParaRPr lang="en-US"/>
        </a:p>
      </dgm:t>
    </dgm:pt>
    <dgm:pt modelId="{1974D602-FCF8-4961-9445-7FF0ADB65584}" type="pres">
      <dgm:prSet presAssocID="{82A5C096-C6AA-4417-A0FB-2AF0B92710D6}" presName="accentRepeatNode" presStyleLbl="solidFgAcc1" presStyleIdx="1" presStyleCnt="4"/>
      <dgm:spPr/>
      <dgm:t>
        <a:bodyPr/>
        <a:lstStyle/>
        <a:p>
          <a:endParaRPr lang="en-US"/>
        </a:p>
      </dgm:t>
    </dgm:pt>
    <dgm:pt modelId="{EBA15712-30D0-42BE-8260-C579C864FB89}" type="pres">
      <dgm:prSet presAssocID="{FB7E0627-09F0-42A1-9CDB-6C225873D435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6D668A-F1FB-45F1-89BA-DF6DF486A991}" type="pres">
      <dgm:prSet presAssocID="{FB7E0627-09F0-42A1-9CDB-6C225873D435}" presName="accent_3" presStyleCnt="0"/>
      <dgm:spPr/>
      <dgm:t>
        <a:bodyPr/>
        <a:lstStyle/>
        <a:p>
          <a:endParaRPr lang="en-US"/>
        </a:p>
      </dgm:t>
    </dgm:pt>
    <dgm:pt modelId="{4D6049C5-1FA0-406D-B134-3D23B45DDFF5}" type="pres">
      <dgm:prSet presAssocID="{FB7E0627-09F0-42A1-9CDB-6C225873D435}" presName="accentRepeatNode" presStyleLbl="solidFgAcc1" presStyleIdx="2" presStyleCnt="4"/>
      <dgm:spPr/>
      <dgm:t>
        <a:bodyPr/>
        <a:lstStyle/>
        <a:p>
          <a:endParaRPr lang="en-US"/>
        </a:p>
      </dgm:t>
    </dgm:pt>
    <dgm:pt modelId="{E8A8892E-0D1D-4A8F-B129-B2CEBD93C64C}" type="pres">
      <dgm:prSet presAssocID="{F76ADB27-2665-4799-875C-AD9C2DB480DF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1FDD65-1BAF-42C3-A035-CC6B5F88E0A8}" type="pres">
      <dgm:prSet presAssocID="{F76ADB27-2665-4799-875C-AD9C2DB480DF}" presName="accent_4" presStyleCnt="0"/>
      <dgm:spPr/>
      <dgm:t>
        <a:bodyPr/>
        <a:lstStyle/>
        <a:p>
          <a:endParaRPr lang="en-US"/>
        </a:p>
      </dgm:t>
    </dgm:pt>
    <dgm:pt modelId="{E8176402-91A3-4FBE-83D5-8C062C844D16}" type="pres">
      <dgm:prSet presAssocID="{F76ADB27-2665-4799-875C-AD9C2DB480DF}" presName="accentRepeatNode" presStyleLbl="solidFgAcc1" presStyleIdx="3" presStyleCnt="4"/>
      <dgm:spPr/>
      <dgm:t>
        <a:bodyPr/>
        <a:lstStyle/>
        <a:p>
          <a:endParaRPr lang="en-US"/>
        </a:p>
      </dgm:t>
    </dgm:pt>
  </dgm:ptLst>
  <dgm:cxnLst>
    <dgm:cxn modelId="{24C8FACC-A53E-415F-8ED6-3681D2F9A4A9}" type="presOf" srcId="{012F3270-902E-4E8E-90DB-F5F8149B3F90}" destId="{2F4982E9-FF37-4030-8C14-123B439EB3CD}" srcOrd="0" destOrd="0" presId="urn:microsoft.com/office/officeart/2008/layout/VerticalCurvedList"/>
    <dgm:cxn modelId="{B08298F9-B773-49AA-9246-D751B12FDEAA}" srcId="{B34C5E9F-FD25-42ED-A31A-F83F9E7D9EBF}" destId="{FB7E0627-09F0-42A1-9CDB-6C225873D435}" srcOrd="2" destOrd="0" parTransId="{4CA218CF-6287-4CF4-92CF-47F8EC44F94D}" sibTransId="{EDA46736-5C0E-4268-8306-BA1D399013A6}"/>
    <dgm:cxn modelId="{3D16A057-6AB3-4946-9565-A1F1D4A67D76}" type="presOf" srcId="{B34C5E9F-FD25-42ED-A31A-F83F9E7D9EBF}" destId="{83393C23-2923-4399-A4C6-5D13135FBF2A}" srcOrd="0" destOrd="0" presId="urn:microsoft.com/office/officeart/2008/layout/VerticalCurvedList"/>
    <dgm:cxn modelId="{A5D573C3-22BD-4310-9D89-50346CEEDF17}" type="presOf" srcId="{FB7E0627-09F0-42A1-9CDB-6C225873D435}" destId="{EBA15712-30D0-42BE-8260-C579C864FB89}" srcOrd="0" destOrd="0" presId="urn:microsoft.com/office/officeart/2008/layout/VerticalCurvedList"/>
    <dgm:cxn modelId="{9766E442-6039-416D-968D-A3191687B30E}" srcId="{B34C5E9F-FD25-42ED-A31A-F83F9E7D9EBF}" destId="{82A5C096-C6AA-4417-A0FB-2AF0B92710D6}" srcOrd="1" destOrd="0" parTransId="{F2C0B272-162B-4414-9395-C7FB7FD8BF98}" sibTransId="{A8BDC26D-8732-4923-9CCF-F3E5EF0DBB4E}"/>
    <dgm:cxn modelId="{C8ECEA43-F958-4068-985A-B81A727AFC4E}" type="presOf" srcId="{F76ADB27-2665-4799-875C-AD9C2DB480DF}" destId="{E8A8892E-0D1D-4A8F-B129-B2CEBD93C64C}" srcOrd="0" destOrd="0" presId="urn:microsoft.com/office/officeart/2008/layout/VerticalCurvedList"/>
    <dgm:cxn modelId="{D6443CA3-9671-4919-884B-FB19E4F2AB58}" srcId="{B34C5E9F-FD25-42ED-A31A-F83F9E7D9EBF}" destId="{F76ADB27-2665-4799-875C-AD9C2DB480DF}" srcOrd="3" destOrd="0" parTransId="{A713FA35-2AEF-4F89-B975-F9F5F20FFB22}" sibTransId="{5AF0F4AD-E1C3-4706-BF7D-0E672232D5AD}"/>
    <dgm:cxn modelId="{46E05B02-6A35-4586-B406-744FDD61A572}" type="presOf" srcId="{82A5C096-C6AA-4417-A0FB-2AF0B92710D6}" destId="{DB05FDAB-4CE8-4F34-916E-BC5980026392}" srcOrd="0" destOrd="0" presId="urn:microsoft.com/office/officeart/2008/layout/VerticalCurvedList"/>
    <dgm:cxn modelId="{080C03B8-9765-4D0D-909C-D474FD122681}" srcId="{B34C5E9F-FD25-42ED-A31A-F83F9E7D9EBF}" destId="{05BF5743-90ED-4E73-A402-2068F42026E7}" srcOrd="0" destOrd="0" parTransId="{3E5BD2D7-54F0-48CF-9C5B-BEA8EFF609F0}" sibTransId="{012F3270-902E-4E8E-90DB-F5F8149B3F90}"/>
    <dgm:cxn modelId="{DE04ED7E-2762-4B0A-979F-85E7A53F723E}" type="presOf" srcId="{05BF5743-90ED-4E73-A402-2068F42026E7}" destId="{464578E5-1959-4BF3-9CC5-1A65315DFEDC}" srcOrd="0" destOrd="0" presId="urn:microsoft.com/office/officeart/2008/layout/VerticalCurvedList"/>
    <dgm:cxn modelId="{1111B503-6839-4A74-8B77-489DAE2D02FE}" type="presParOf" srcId="{83393C23-2923-4399-A4C6-5D13135FBF2A}" destId="{BE431A21-F478-471E-A7C5-2C50DB4ED151}" srcOrd="0" destOrd="0" presId="urn:microsoft.com/office/officeart/2008/layout/VerticalCurvedList"/>
    <dgm:cxn modelId="{FF825489-701A-4A49-8872-24F0CA7950B6}" type="presParOf" srcId="{BE431A21-F478-471E-A7C5-2C50DB4ED151}" destId="{0B622C4E-BF90-46DC-BA0B-C52C2CBA3F0E}" srcOrd="0" destOrd="0" presId="urn:microsoft.com/office/officeart/2008/layout/VerticalCurvedList"/>
    <dgm:cxn modelId="{40EA9ABA-DA77-4745-B4A3-05C522E49BFB}" type="presParOf" srcId="{0B622C4E-BF90-46DC-BA0B-C52C2CBA3F0E}" destId="{EFE7ED8B-54C9-4942-88A9-1A1F247780A6}" srcOrd="0" destOrd="0" presId="urn:microsoft.com/office/officeart/2008/layout/VerticalCurvedList"/>
    <dgm:cxn modelId="{AACD9B1A-3209-4E47-A116-121D6C33DBBA}" type="presParOf" srcId="{0B622C4E-BF90-46DC-BA0B-C52C2CBA3F0E}" destId="{2F4982E9-FF37-4030-8C14-123B439EB3CD}" srcOrd="1" destOrd="0" presId="urn:microsoft.com/office/officeart/2008/layout/VerticalCurvedList"/>
    <dgm:cxn modelId="{C717DF70-407B-44BA-A6C5-30C5C44DC29F}" type="presParOf" srcId="{0B622C4E-BF90-46DC-BA0B-C52C2CBA3F0E}" destId="{57553FF5-904E-42B3-A973-200F2364425D}" srcOrd="2" destOrd="0" presId="urn:microsoft.com/office/officeart/2008/layout/VerticalCurvedList"/>
    <dgm:cxn modelId="{162EC8E6-064D-4FB6-87A0-213DEB47194C}" type="presParOf" srcId="{0B622C4E-BF90-46DC-BA0B-C52C2CBA3F0E}" destId="{0B416832-3BB9-4DBC-8CF4-B030366A6009}" srcOrd="3" destOrd="0" presId="urn:microsoft.com/office/officeart/2008/layout/VerticalCurvedList"/>
    <dgm:cxn modelId="{35D9F5AC-30FE-4767-9B58-A147BE2F94EE}" type="presParOf" srcId="{BE431A21-F478-471E-A7C5-2C50DB4ED151}" destId="{464578E5-1959-4BF3-9CC5-1A65315DFEDC}" srcOrd="1" destOrd="0" presId="urn:microsoft.com/office/officeart/2008/layout/VerticalCurvedList"/>
    <dgm:cxn modelId="{A163EF58-CBF9-4816-8E50-7EAB1E9CAC43}" type="presParOf" srcId="{BE431A21-F478-471E-A7C5-2C50DB4ED151}" destId="{09621B87-5E94-45F6-9565-7FA1B4303D39}" srcOrd="2" destOrd="0" presId="urn:microsoft.com/office/officeart/2008/layout/VerticalCurvedList"/>
    <dgm:cxn modelId="{890531CF-B6BE-43B0-A140-31F6D52294D3}" type="presParOf" srcId="{09621B87-5E94-45F6-9565-7FA1B4303D39}" destId="{108CF32A-E650-4CC0-BFF1-F5DDCF9374A4}" srcOrd="0" destOrd="0" presId="urn:microsoft.com/office/officeart/2008/layout/VerticalCurvedList"/>
    <dgm:cxn modelId="{A69B9C84-2CE6-4EE2-A8CB-09038293C333}" type="presParOf" srcId="{BE431A21-F478-471E-A7C5-2C50DB4ED151}" destId="{DB05FDAB-4CE8-4F34-916E-BC5980026392}" srcOrd="3" destOrd="0" presId="urn:microsoft.com/office/officeart/2008/layout/VerticalCurvedList"/>
    <dgm:cxn modelId="{A4917ACC-B8F5-4AD3-AC07-D386E44BDAFF}" type="presParOf" srcId="{BE431A21-F478-471E-A7C5-2C50DB4ED151}" destId="{A8193C94-C4BF-4BA2-B821-AFB3FB927808}" srcOrd="4" destOrd="0" presId="urn:microsoft.com/office/officeart/2008/layout/VerticalCurvedList"/>
    <dgm:cxn modelId="{00CB25C4-2499-47EB-81A0-EBFDA6AF58B0}" type="presParOf" srcId="{A8193C94-C4BF-4BA2-B821-AFB3FB927808}" destId="{1974D602-FCF8-4961-9445-7FF0ADB65584}" srcOrd="0" destOrd="0" presId="urn:microsoft.com/office/officeart/2008/layout/VerticalCurvedList"/>
    <dgm:cxn modelId="{6CC6842D-B6C5-48D2-B862-72669E002E10}" type="presParOf" srcId="{BE431A21-F478-471E-A7C5-2C50DB4ED151}" destId="{EBA15712-30D0-42BE-8260-C579C864FB89}" srcOrd="5" destOrd="0" presId="urn:microsoft.com/office/officeart/2008/layout/VerticalCurvedList"/>
    <dgm:cxn modelId="{D421D213-7ED9-419B-9ECB-75D9A6C2BF05}" type="presParOf" srcId="{BE431A21-F478-471E-A7C5-2C50DB4ED151}" destId="{6B6D668A-F1FB-45F1-89BA-DF6DF486A991}" srcOrd="6" destOrd="0" presId="urn:microsoft.com/office/officeart/2008/layout/VerticalCurvedList"/>
    <dgm:cxn modelId="{E23BC0AA-D4CD-4CCA-B627-DD1D9117DFFD}" type="presParOf" srcId="{6B6D668A-F1FB-45F1-89BA-DF6DF486A991}" destId="{4D6049C5-1FA0-406D-B134-3D23B45DDFF5}" srcOrd="0" destOrd="0" presId="urn:microsoft.com/office/officeart/2008/layout/VerticalCurvedList"/>
    <dgm:cxn modelId="{52585E09-A227-4DB2-9649-39C5810733D0}" type="presParOf" srcId="{BE431A21-F478-471E-A7C5-2C50DB4ED151}" destId="{E8A8892E-0D1D-4A8F-B129-B2CEBD93C64C}" srcOrd="7" destOrd="0" presId="urn:microsoft.com/office/officeart/2008/layout/VerticalCurvedList"/>
    <dgm:cxn modelId="{92D0CE34-B40B-4640-884D-CCA7765F0252}" type="presParOf" srcId="{BE431A21-F478-471E-A7C5-2C50DB4ED151}" destId="{711FDD65-1BAF-42C3-A035-CC6B5F88E0A8}" srcOrd="8" destOrd="0" presId="urn:microsoft.com/office/officeart/2008/layout/VerticalCurvedList"/>
    <dgm:cxn modelId="{F5F089DD-6A25-4E8F-A47F-B35A2FA665B8}" type="presParOf" srcId="{711FDD65-1BAF-42C3-A035-CC6B5F88E0A8}" destId="{E8176402-91A3-4FBE-83D5-8C062C844D1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1C6209EF-07B2-4DC8-B112-42DA8F03F762}" type="doc">
      <dgm:prSet loTypeId="urn:microsoft.com/office/officeart/2009/3/layout/HorizontalOrganizationChart" loCatId="hierarchy" qsTypeId="urn:microsoft.com/office/officeart/2005/8/quickstyle/3d2" qsCatId="3D" csTypeId="urn:microsoft.com/office/officeart/2005/8/colors/colorful1" csCatId="colorful"/>
      <dgm:spPr/>
      <dgm:t>
        <a:bodyPr/>
        <a:lstStyle/>
        <a:p>
          <a:endParaRPr lang="en-IN"/>
        </a:p>
      </dgm:t>
    </dgm:pt>
    <dgm:pt modelId="{332395A3-C129-44E6-8D13-2ADBA0532ADB}">
      <dgm:prSet/>
      <dgm:spPr/>
      <dgm:t>
        <a:bodyPr/>
        <a:lstStyle/>
        <a:p>
          <a:r>
            <a:rPr lang="en-US" dirty="0"/>
            <a:t>Causes </a:t>
          </a:r>
          <a:endParaRPr lang="en-IN" dirty="0"/>
        </a:p>
      </dgm:t>
    </dgm:pt>
    <dgm:pt modelId="{7AC29414-E852-44D2-9227-4538C7C1972E}" type="parTrans" cxnId="{F3C2260D-5932-400F-A856-7B7814530F96}">
      <dgm:prSet/>
      <dgm:spPr/>
      <dgm:t>
        <a:bodyPr/>
        <a:lstStyle/>
        <a:p>
          <a:endParaRPr lang="en-IN"/>
        </a:p>
      </dgm:t>
    </dgm:pt>
    <dgm:pt modelId="{9001D2F7-8D5F-406F-8798-52FF53381899}" type="sibTrans" cxnId="{F3C2260D-5932-400F-A856-7B7814530F96}">
      <dgm:prSet/>
      <dgm:spPr/>
      <dgm:t>
        <a:bodyPr/>
        <a:lstStyle/>
        <a:p>
          <a:endParaRPr lang="en-IN"/>
        </a:p>
      </dgm:t>
    </dgm:pt>
    <dgm:pt modelId="{AC8F2D1F-8782-4272-B397-DF6656D916CF}">
      <dgm:prSet/>
      <dgm:spPr/>
      <dgm:t>
        <a:bodyPr/>
        <a:lstStyle/>
        <a:p>
          <a:r>
            <a:rPr lang="en-IN" dirty="0"/>
            <a:t>External Factors</a:t>
          </a:r>
        </a:p>
      </dgm:t>
    </dgm:pt>
    <dgm:pt modelId="{8C19997B-6709-4D32-8268-6D5E3AEA34B2}" type="parTrans" cxnId="{E513D625-76CB-4087-B70E-F9C2890AE4A3}">
      <dgm:prSet/>
      <dgm:spPr/>
      <dgm:t>
        <a:bodyPr/>
        <a:lstStyle/>
        <a:p>
          <a:endParaRPr lang="en-IN"/>
        </a:p>
      </dgm:t>
    </dgm:pt>
    <dgm:pt modelId="{8F7169E0-8C15-4CC2-B0D5-58590B05F63E}" type="sibTrans" cxnId="{E513D625-76CB-4087-B70E-F9C2890AE4A3}">
      <dgm:prSet/>
      <dgm:spPr/>
      <dgm:t>
        <a:bodyPr/>
        <a:lstStyle/>
        <a:p>
          <a:endParaRPr lang="en-IN"/>
        </a:p>
      </dgm:t>
    </dgm:pt>
    <dgm:pt modelId="{9DD17345-5578-404F-A79D-3013EEF691DA}">
      <dgm:prSet/>
      <dgm:spPr/>
      <dgm:t>
        <a:bodyPr/>
        <a:lstStyle/>
        <a:p>
          <a:r>
            <a:rPr lang="en-IN"/>
            <a:t>Internal Factors</a:t>
          </a:r>
        </a:p>
      </dgm:t>
    </dgm:pt>
    <dgm:pt modelId="{8E15DA24-66C2-4065-8156-085D5023DF86}" type="parTrans" cxnId="{744E384B-E3C2-497C-987A-5ADFF7651845}">
      <dgm:prSet/>
      <dgm:spPr/>
      <dgm:t>
        <a:bodyPr/>
        <a:lstStyle/>
        <a:p>
          <a:endParaRPr lang="en-IN"/>
        </a:p>
      </dgm:t>
    </dgm:pt>
    <dgm:pt modelId="{64DC3633-606C-4DDC-BC44-F3088439F0BF}" type="sibTrans" cxnId="{744E384B-E3C2-497C-987A-5ADFF7651845}">
      <dgm:prSet/>
      <dgm:spPr/>
      <dgm:t>
        <a:bodyPr/>
        <a:lstStyle/>
        <a:p>
          <a:endParaRPr lang="en-IN"/>
        </a:p>
      </dgm:t>
    </dgm:pt>
    <dgm:pt modelId="{0D9C9D9A-36C6-47DB-BCD5-8396D4F3F8DF}" type="pres">
      <dgm:prSet presAssocID="{1C6209EF-07B2-4DC8-B112-42DA8F03F76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1D61A4FC-E113-473F-9E25-717244E6657C}" type="pres">
      <dgm:prSet presAssocID="{332395A3-C129-44E6-8D13-2ADBA0532ADB}" presName="hierRoot1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4070F421-5253-4853-B1C2-D48715E3B7AD}" type="pres">
      <dgm:prSet presAssocID="{332395A3-C129-44E6-8D13-2ADBA0532ADB}" presName="rootComposite1" presStyleCnt="0"/>
      <dgm:spPr/>
      <dgm:t>
        <a:bodyPr/>
        <a:lstStyle/>
        <a:p>
          <a:endParaRPr lang="en-US"/>
        </a:p>
      </dgm:t>
    </dgm:pt>
    <dgm:pt modelId="{D9A903A5-3B72-468C-94B7-071EACAAC051}" type="pres">
      <dgm:prSet presAssocID="{332395A3-C129-44E6-8D13-2ADBA0532ADB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1928E99-3E2B-4072-A0F7-0CB3028D1C61}" type="pres">
      <dgm:prSet presAssocID="{332395A3-C129-44E6-8D13-2ADBA0532ADB}" presName="rootConnector1" presStyleLbl="node1" presStyleIdx="0" presStyleCnt="0"/>
      <dgm:spPr/>
      <dgm:t>
        <a:bodyPr/>
        <a:lstStyle/>
        <a:p>
          <a:endParaRPr lang="en-US"/>
        </a:p>
      </dgm:t>
    </dgm:pt>
    <dgm:pt modelId="{A9CBB0C8-CE0E-4779-A3C6-61198EB5BB0F}" type="pres">
      <dgm:prSet presAssocID="{332395A3-C129-44E6-8D13-2ADBA0532ADB}" presName="hierChild2" presStyleCnt="0"/>
      <dgm:spPr/>
      <dgm:t>
        <a:bodyPr/>
        <a:lstStyle/>
        <a:p>
          <a:endParaRPr lang="en-US"/>
        </a:p>
      </dgm:t>
    </dgm:pt>
    <dgm:pt modelId="{CBE9EB09-49E2-410A-8C29-C1FA40C6111E}" type="pres">
      <dgm:prSet presAssocID="{8C19997B-6709-4D32-8268-6D5E3AEA34B2}" presName="Name64" presStyleLbl="parChTrans1D2" presStyleIdx="0" presStyleCnt="2"/>
      <dgm:spPr/>
      <dgm:t>
        <a:bodyPr/>
        <a:lstStyle/>
        <a:p>
          <a:endParaRPr lang="en-US"/>
        </a:p>
      </dgm:t>
    </dgm:pt>
    <dgm:pt modelId="{D4FB817E-7B8E-4C62-8EFE-B9E4B758A79C}" type="pres">
      <dgm:prSet presAssocID="{AC8F2D1F-8782-4272-B397-DF6656D916CF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E8BFCDD0-56E3-48CB-B619-88436F580B63}" type="pres">
      <dgm:prSet presAssocID="{AC8F2D1F-8782-4272-B397-DF6656D916CF}" presName="rootComposite" presStyleCnt="0"/>
      <dgm:spPr/>
      <dgm:t>
        <a:bodyPr/>
        <a:lstStyle/>
        <a:p>
          <a:endParaRPr lang="en-US"/>
        </a:p>
      </dgm:t>
    </dgm:pt>
    <dgm:pt modelId="{FBD27BA2-482A-4768-8B2A-FAAC09C7D9D0}" type="pres">
      <dgm:prSet presAssocID="{AC8F2D1F-8782-4272-B397-DF6656D916CF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5160D96-F046-4CB0-862E-E470B52EE716}" type="pres">
      <dgm:prSet presAssocID="{AC8F2D1F-8782-4272-B397-DF6656D916CF}" presName="rootConnector" presStyleLbl="node2" presStyleIdx="0" presStyleCnt="2"/>
      <dgm:spPr/>
      <dgm:t>
        <a:bodyPr/>
        <a:lstStyle/>
        <a:p>
          <a:endParaRPr lang="en-US"/>
        </a:p>
      </dgm:t>
    </dgm:pt>
    <dgm:pt modelId="{BDF6A9AD-AEFC-42AD-B208-C3CE31144360}" type="pres">
      <dgm:prSet presAssocID="{AC8F2D1F-8782-4272-B397-DF6656D916CF}" presName="hierChild4" presStyleCnt="0"/>
      <dgm:spPr/>
      <dgm:t>
        <a:bodyPr/>
        <a:lstStyle/>
        <a:p>
          <a:endParaRPr lang="en-US"/>
        </a:p>
      </dgm:t>
    </dgm:pt>
    <dgm:pt modelId="{DBDFBB82-D1BB-4357-8ABE-137A6B6FE6CD}" type="pres">
      <dgm:prSet presAssocID="{AC8F2D1F-8782-4272-B397-DF6656D916CF}" presName="hierChild5" presStyleCnt="0"/>
      <dgm:spPr/>
      <dgm:t>
        <a:bodyPr/>
        <a:lstStyle/>
        <a:p>
          <a:endParaRPr lang="en-US"/>
        </a:p>
      </dgm:t>
    </dgm:pt>
    <dgm:pt modelId="{53907439-3800-45C2-AF28-44822477EDFE}" type="pres">
      <dgm:prSet presAssocID="{8E15DA24-66C2-4065-8156-085D5023DF86}" presName="Name64" presStyleLbl="parChTrans1D2" presStyleIdx="1" presStyleCnt="2"/>
      <dgm:spPr/>
      <dgm:t>
        <a:bodyPr/>
        <a:lstStyle/>
        <a:p>
          <a:endParaRPr lang="en-US"/>
        </a:p>
      </dgm:t>
    </dgm:pt>
    <dgm:pt modelId="{B0CBAE0F-7064-40E1-A06C-6AF8144601B5}" type="pres">
      <dgm:prSet presAssocID="{9DD17345-5578-404F-A79D-3013EEF691DA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5AEA66D0-AB71-45BB-87DB-5FC787C0CD51}" type="pres">
      <dgm:prSet presAssocID="{9DD17345-5578-404F-A79D-3013EEF691DA}" presName="rootComposite" presStyleCnt="0"/>
      <dgm:spPr/>
      <dgm:t>
        <a:bodyPr/>
        <a:lstStyle/>
        <a:p>
          <a:endParaRPr lang="en-US"/>
        </a:p>
      </dgm:t>
    </dgm:pt>
    <dgm:pt modelId="{C56699FC-5A20-4DAD-B620-8A6ECFEDB268}" type="pres">
      <dgm:prSet presAssocID="{9DD17345-5578-404F-A79D-3013EEF691DA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5774347-C53A-406C-BC14-977A829BD3AA}" type="pres">
      <dgm:prSet presAssocID="{9DD17345-5578-404F-A79D-3013EEF691DA}" presName="rootConnector" presStyleLbl="node2" presStyleIdx="1" presStyleCnt="2"/>
      <dgm:spPr/>
      <dgm:t>
        <a:bodyPr/>
        <a:lstStyle/>
        <a:p>
          <a:endParaRPr lang="en-US"/>
        </a:p>
      </dgm:t>
    </dgm:pt>
    <dgm:pt modelId="{F2065BF5-46AA-4B20-8A3C-F5276153193F}" type="pres">
      <dgm:prSet presAssocID="{9DD17345-5578-404F-A79D-3013EEF691DA}" presName="hierChild4" presStyleCnt="0"/>
      <dgm:spPr/>
      <dgm:t>
        <a:bodyPr/>
        <a:lstStyle/>
        <a:p>
          <a:endParaRPr lang="en-US"/>
        </a:p>
      </dgm:t>
    </dgm:pt>
    <dgm:pt modelId="{78F86402-49C0-4C6D-B835-535029D8C9A2}" type="pres">
      <dgm:prSet presAssocID="{9DD17345-5578-404F-A79D-3013EEF691DA}" presName="hierChild5" presStyleCnt="0"/>
      <dgm:spPr/>
      <dgm:t>
        <a:bodyPr/>
        <a:lstStyle/>
        <a:p>
          <a:endParaRPr lang="en-US"/>
        </a:p>
      </dgm:t>
    </dgm:pt>
    <dgm:pt modelId="{94C9A2F7-DDFF-45F8-9977-9D940C3D5E95}" type="pres">
      <dgm:prSet presAssocID="{332395A3-C129-44E6-8D13-2ADBA0532ADB}" presName="hierChild3" presStyleCnt="0"/>
      <dgm:spPr/>
      <dgm:t>
        <a:bodyPr/>
        <a:lstStyle/>
        <a:p>
          <a:endParaRPr lang="en-US"/>
        </a:p>
      </dgm:t>
    </dgm:pt>
  </dgm:ptLst>
  <dgm:cxnLst>
    <dgm:cxn modelId="{E513D625-76CB-4087-B70E-F9C2890AE4A3}" srcId="{332395A3-C129-44E6-8D13-2ADBA0532ADB}" destId="{AC8F2D1F-8782-4272-B397-DF6656D916CF}" srcOrd="0" destOrd="0" parTransId="{8C19997B-6709-4D32-8268-6D5E3AEA34B2}" sibTransId="{8F7169E0-8C15-4CC2-B0D5-58590B05F63E}"/>
    <dgm:cxn modelId="{B522EF4B-DD71-445F-8A83-B0EE9F86FAB1}" type="presOf" srcId="{332395A3-C129-44E6-8D13-2ADBA0532ADB}" destId="{61928E99-3E2B-4072-A0F7-0CB3028D1C61}" srcOrd="1" destOrd="0" presId="urn:microsoft.com/office/officeart/2009/3/layout/HorizontalOrganizationChart"/>
    <dgm:cxn modelId="{288CCCB0-FE5F-45C3-A990-856C01CA91FE}" type="presOf" srcId="{8C19997B-6709-4D32-8268-6D5E3AEA34B2}" destId="{CBE9EB09-49E2-410A-8C29-C1FA40C6111E}" srcOrd="0" destOrd="0" presId="urn:microsoft.com/office/officeart/2009/3/layout/HorizontalOrganizationChart"/>
    <dgm:cxn modelId="{12E0CF69-6410-47EA-88C2-04D7C20F18A3}" type="presOf" srcId="{AC8F2D1F-8782-4272-B397-DF6656D916CF}" destId="{FBD27BA2-482A-4768-8B2A-FAAC09C7D9D0}" srcOrd="0" destOrd="0" presId="urn:microsoft.com/office/officeart/2009/3/layout/HorizontalOrganizationChart"/>
    <dgm:cxn modelId="{0484D676-F9C1-4EC5-B66B-DD6A2E0B4B1B}" type="presOf" srcId="{332395A3-C129-44E6-8D13-2ADBA0532ADB}" destId="{D9A903A5-3B72-468C-94B7-071EACAAC051}" srcOrd="0" destOrd="0" presId="urn:microsoft.com/office/officeart/2009/3/layout/HorizontalOrganizationChart"/>
    <dgm:cxn modelId="{F3C2260D-5932-400F-A856-7B7814530F96}" srcId="{1C6209EF-07B2-4DC8-B112-42DA8F03F762}" destId="{332395A3-C129-44E6-8D13-2ADBA0532ADB}" srcOrd="0" destOrd="0" parTransId="{7AC29414-E852-44D2-9227-4538C7C1972E}" sibTransId="{9001D2F7-8D5F-406F-8798-52FF53381899}"/>
    <dgm:cxn modelId="{86756D4C-55D3-4CCD-88CD-0A0CA129E1DA}" type="presOf" srcId="{AC8F2D1F-8782-4272-B397-DF6656D916CF}" destId="{85160D96-F046-4CB0-862E-E470B52EE716}" srcOrd="1" destOrd="0" presId="urn:microsoft.com/office/officeart/2009/3/layout/HorizontalOrganizationChart"/>
    <dgm:cxn modelId="{4A1BDB85-5133-4E45-9575-3C1C5AD90BA0}" type="presOf" srcId="{9DD17345-5578-404F-A79D-3013EEF691DA}" destId="{C56699FC-5A20-4DAD-B620-8A6ECFEDB268}" srcOrd="0" destOrd="0" presId="urn:microsoft.com/office/officeart/2009/3/layout/HorizontalOrganizationChart"/>
    <dgm:cxn modelId="{C27EF89A-EB45-4E41-B787-21AA6E678B53}" type="presOf" srcId="{9DD17345-5578-404F-A79D-3013EEF691DA}" destId="{B5774347-C53A-406C-BC14-977A829BD3AA}" srcOrd="1" destOrd="0" presId="urn:microsoft.com/office/officeart/2009/3/layout/HorizontalOrganizationChart"/>
    <dgm:cxn modelId="{744E384B-E3C2-497C-987A-5ADFF7651845}" srcId="{332395A3-C129-44E6-8D13-2ADBA0532ADB}" destId="{9DD17345-5578-404F-A79D-3013EEF691DA}" srcOrd="1" destOrd="0" parTransId="{8E15DA24-66C2-4065-8156-085D5023DF86}" sibTransId="{64DC3633-606C-4DDC-BC44-F3088439F0BF}"/>
    <dgm:cxn modelId="{63250BBF-5081-46FC-93D2-0E8B0B257E73}" type="presOf" srcId="{8E15DA24-66C2-4065-8156-085D5023DF86}" destId="{53907439-3800-45C2-AF28-44822477EDFE}" srcOrd="0" destOrd="0" presId="urn:microsoft.com/office/officeart/2009/3/layout/HorizontalOrganizationChart"/>
    <dgm:cxn modelId="{B49A57DF-656B-4283-8B04-9C1C25B04FE2}" type="presOf" srcId="{1C6209EF-07B2-4DC8-B112-42DA8F03F762}" destId="{0D9C9D9A-36C6-47DB-BCD5-8396D4F3F8DF}" srcOrd="0" destOrd="0" presId="urn:microsoft.com/office/officeart/2009/3/layout/HorizontalOrganizationChart"/>
    <dgm:cxn modelId="{648E347D-799F-4730-BB65-410AB8ADFE4C}" type="presParOf" srcId="{0D9C9D9A-36C6-47DB-BCD5-8396D4F3F8DF}" destId="{1D61A4FC-E113-473F-9E25-717244E6657C}" srcOrd="0" destOrd="0" presId="urn:microsoft.com/office/officeart/2009/3/layout/HorizontalOrganizationChart"/>
    <dgm:cxn modelId="{E17D26A9-A770-4EB9-A520-D1AE6682D60F}" type="presParOf" srcId="{1D61A4FC-E113-473F-9E25-717244E6657C}" destId="{4070F421-5253-4853-B1C2-D48715E3B7AD}" srcOrd="0" destOrd="0" presId="urn:microsoft.com/office/officeart/2009/3/layout/HorizontalOrganizationChart"/>
    <dgm:cxn modelId="{A700993B-E3F8-4209-B0B3-62E2939BA51D}" type="presParOf" srcId="{4070F421-5253-4853-B1C2-D48715E3B7AD}" destId="{D9A903A5-3B72-468C-94B7-071EACAAC051}" srcOrd="0" destOrd="0" presId="urn:microsoft.com/office/officeart/2009/3/layout/HorizontalOrganizationChart"/>
    <dgm:cxn modelId="{7310BB03-06B1-410C-A694-F89C5A9A840A}" type="presParOf" srcId="{4070F421-5253-4853-B1C2-D48715E3B7AD}" destId="{61928E99-3E2B-4072-A0F7-0CB3028D1C61}" srcOrd="1" destOrd="0" presId="urn:microsoft.com/office/officeart/2009/3/layout/HorizontalOrganizationChart"/>
    <dgm:cxn modelId="{1068E958-2DBF-41DC-BC8A-A7A100379E83}" type="presParOf" srcId="{1D61A4FC-E113-473F-9E25-717244E6657C}" destId="{A9CBB0C8-CE0E-4779-A3C6-61198EB5BB0F}" srcOrd="1" destOrd="0" presId="urn:microsoft.com/office/officeart/2009/3/layout/HorizontalOrganizationChart"/>
    <dgm:cxn modelId="{2D0D0AD3-7268-4EE0-8CD8-86800787165E}" type="presParOf" srcId="{A9CBB0C8-CE0E-4779-A3C6-61198EB5BB0F}" destId="{CBE9EB09-49E2-410A-8C29-C1FA40C6111E}" srcOrd="0" destOrd="0" presId="urn:microsoft.com/office/officeart/2009/3/layout/HorizontalOrganizationChart"/>
    <dgm:cxn modelId="{AA6E358D-5F19-442A-9812-4CE6A4B80987}" type="presParOf" srcId="{A9CBB0C8-CE0E-4779-A3C6-61198EB5BB0F}" destId="{D4FB817E-7B8E-4C62-8EFE-B9E4B758A79C}" srcOrd="1" destOrd="0" presId="urn:microsoft.com/office/officeart/2009/3/layout/HorizontalOrganizationChart"/>
    <dgm:cxn modelId="{DBDE36DC-E696-464A-A93C-1A936FD1BF25}" type="presParOf" srcId="{D4FB817E-7B8E-4C62-8EFE-B9E4B758A79C}" destId="{E8BFCDD0-56E3-48CB-B619-88436F580B63}" srcOrd="0" destOrd="0" presId="urn:microsoft.com/office/officeart/2009/3/layout/HorizontalOrganizationChart"/>
    <dgm:cxn modelId="{57F2A3DF-0D42-4354-8619-294DBC8895CF}" type="presParOf" srcId="{E8BFCDD0-56E3-48CB-B619-88436F580B63}" destId="{FBD27BA2-482A-4768-8B2A-FAAC09C7D9D0}" srcOrd="0" destOrd="0" presId="urn:microsoft.com/office/officeart/2009/3/layout/HorizontalOrganizationChart"/>
    <dgm:cxn modelId="{431E2BF8-7832-41FD-B36F-6193A0A5533D}" type="presParOf" srcId="{E8BFCDD0-56E3-48CB-B619-88436F580B63}" destId="{85160D96-F046-4CB0-862E-E470B52EE716}" srcOrd="1" destOrd="0" presId="urn:microsoft.com/office/officeart/2009/3/layout/HorizontalOrganizationChart"/>
    <dgm:cxn modelId="{E7ABD2C4-22E3-4F02-A39D-CB55085B9613}" type="presParOf" srcId="{D4FB817E-7B8E-4C62-8EFE-B9E4B758A79C}" destId="{BDF6A9AD-AEFC-42AD-B208-C3CE31144360}" srcOrd="1" destOrd="0" presId="urn:microsoft.com/office/officeart/2009/3/layout/HorizontalOrganizationChart"/>
    <dgm:cxn modelId="{1EE89DE3-BBC5-41D1-8C77-D9CC3FCE6688}" type="presParOf" srcId="{D4FB817E-7B8E-4C62-8EFE-B9E4B758A79C}" destId="{DBDFBB82-D1BB-4357-8ABE-137A6B6FE6CD}" srcOrd="2" destOrd="0" presId="urn:microsoft.com/office/officeart/2009/3/layout/HorizontalOrganizationChart"/>
    <dgm:cxn modelId="{79B40B22-53B1-44A8-902A-3525EBF6E3F8}" type="presParOf" srcId="{A9CBB0C8-CE0E-4779-A3C6-61198EB5BB0F}" destId="{53907439-3800-45C2-AF28-44822477EDFE}" srcOrd="2" destOrd="0" presId="urn:microsoft.com/office/officeart/2009/3/layout/HorizontalOrganizationChart"/>
    <dgm:cxn modelId="{E2CE1F37-53E3-4238-B465-017F20C6C392}" type="presParOf" srcId="{A9CBB0C8-CE0E-4779-A3C6-61198EB5BB0F}" destId="{B0CBAE0F-7064-40E1-A06C-6AF8144601B5}" srcOrd="3" destOrd="0" presId="urn:microsoft.com/office/officeart/2009/3/layout/HorizontalOrganizationChart"/>
    <dgm:cxn modelId="{22B6FD45-3161-4F3A-882F-64629BB83158}" type="presParOf" srcId="{B0CBAE0F-7064-40E1-A06C-6AF8144601B5}" destId="{5AEA66D0-AB71-45BB-87DB-5FC787C0CD51}" srcOrd="0" destOrd="0" presId="urn:microsoft.com/office/officeart/2009/3/layout/HorizontalOrganizationChart"/>
    <dgm:cxn modelId="{BA14FE72-750C-4971-8865-8A67786FD4A7}" type="presParOf" srcId="{5AEA66D0-AB71-45BB-87DB-5FC787C0CD51}" destId="{C56699FC-5A20-4DAD-B620-8A6ECFEDB268}" srcOrd="0" destOrd="0" presId="urn:microsoft.com/office/officeart/2009/3/layout/HorizontalOrganizationChart"/>
    <dgm:cxn modelId="{15917975-AE71-4794-9CE7-53C06CAE4F93}" type="presParOf" srcId="{5AEA66D0-AB71-45BB-87DB-5FC787C0CD51}" destId="{B5774347-C53A-406C-BC14-977A829BD3AA}" srcOrd="1" destOrd="0" presId="urn:microsoft.com/office/officeart/2009/3/layout/HorizontalOrganizationChart"/>
    <dgm:cxn modelId="{5F5BA8B7-7B09-435D-AA83-C6F02AC499A8}" type="presParOf" srcId="{B0CBAE0F-7064-40E1-A06C-6AF8144601B5}" destId="{F2065BF5-46AA-4B20-8A3C-F5276153193F}" srcOrd="1" destOrd="0" presId="urn:microsoft.com/office/officeart/2009/3/layout/HorizontalOrganizationChart"/>
    <dgm:cxn modelId="{342D888E-B72D-4C52-B60D-D25DECF3127A}" type="presParOf" srcId="{B0CBAE0F-7064-40E1-A06C-6AF8144601B5}" destId="{78F86402-49C0-4C6D-B835-535029D8C9A2}" srcOrd="2" destOrd="0" presId="urn:microsoft.com/office/officeart/2009/3/layout/HorizontalOrganizationChart"/>
    <dgm:cxn modelId="{A7C2C509-CE4E-4CF5-9187-02301DEC2EFA}" type="presParOf" srcId="{1D61A4FC-E113-473F-9E25-717244E6657C}" destId="{94C9A2F7-DDFF-45F8-9977-9D940C3D5E95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2EE1E1CC-2669-4E29-9F8B-F3A89B75CBCD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6C2E84B-CB2E-43C6-9409-235B49402BE5}">
      <dgm:prSet phldrT="[Text]"/>
      <dgm:spPr/>
      <dgm:t>
        <a:bodyPr/>
        <a:lstStyle/>
        <a:p>
          <a:r>
            <a:rPr lang="en-US" dirty="0" smtClean="0"/>
            <a:t>Always pay your dues on time</a:t>
          </a:r>
          <a:endParaRPr lang="en-US" dirty="0"/>
        </a:p>
      </dgm:t>
    </dgm:pt>
    <dgm:pt modelId="{3706BE74-6812-43B0-9D0D-6EC07C612DF3}" type="parTrans" cxnId="{51B6DE90-5F59-4FC3-8F6D-25408124F0F4}">
      <dgm:prSet/>
      <dgm:spPr/>
      <dgm:t>
        <a:bodyPr/>
        <a:lstStyle/>
        <a:p>
          <a:endParaRPr lang="en-US"/>
        </a:p>
      </dgm:t>
    </dgm:pt>
    <dgm:pt modelId="{281F851B-7A0B-4E66-B9AA-47B4FFADF3CD}" type="sibTrans" cxnId="{51B6DE90-5F59-4FC3-8F6D-25408124F0F4}">
      <dgm:prSet/>
      <dgm:spPr/>
      <dgm:t>
        <a:bodyPr/>
        <a:lstStyle/>
        <a:p>
          <a:endParaRPr lang="en-US"/>
        </a:p>
      </dgm:t>
    </dgm:pt>
    <dgm:pt modelId="{1DCE94F2-A621-429A-BEB4-7545E85991F9}">
      <dgm:prSet phldrT="[Text]" custT="1"/>
      <dgm:spPr/>
      <dgm:t>
        <a:bodyPr/>
        <a:lstStyle/>
        <a:p>
          <a:r>
            <a:rPr lang="en-US" sz="2600" dirty="0" smtClean="0"/>
            <a:t>Late payments are viewed negatively by lenders.</a:t>
          </a:r>
          <a:endParaRPr lang="en-US" sz="2600" dirty="0"/>
        </a:p>
      </dgm:t>
    </dgm:pt>
    <dgm:pt modelId="{74C8CC70-83F3-48E1-B9AB-81996023D368}" type="parTrans" cxnId="{8E6282AD-CFB0-4C45-B19D-5ED9F3BFA13C}">
      <dgm:prSet/>
      <dgm:spPr/>
      <dgm:t>
        <a:bodyPr/>
        <a:lstStyle/>
        <a:p>
          <a:endParaRPr lang="en-US"/>
        </a:p>
      </dgm:t>
    </dgm:pt>
    <dgm:pt modelId="{D9DCA70B-BB7E-45E6-9188-D3A30C602CAF}" type="sibTrans" cxnId="{8E6282AD-CFB0-4C45-B19D-5ED9F3BFA13C}">
      <dgm:prSet/>
      <dgm:spPr/>
      <dgm:t>
        <a:bodyPr/>
        <a:lstStyle/>
        <a:p>
          <a:endParaRPr lang="en-US"/>
        </a:p>
      </dgm:t>
    </dgm:pt>
    <dgm:pt modelId="{4A7C2810-F302-4CBB-B7C0-6BD304DC25CF}">
      <dgm:prSet phldrT="[Text]"/>
      <dgm:spPr/>
      <dgm:t>
        <a:bodyPr/>
        <a:lstStyle/>
        <a:p>
          <a:r>
            <a:rPr lang="en-US" dirty="0" smtClean="0"/>
            <a:t>Keep your balances low</a:t>
          </a:r>
          <a:endParaRPr lang="en-US" dirty="0"/>
        </a:p>
      </dgm:t>
    </dgm:pt>
    <dgm:pt modelId="{D7B30A95-54FC-4D2A-85C3-6608C4B90619}" type="parTrans" cxnId="{8DA57D1A-3F52-4CC8-B926-F8B5B1D5C2A1}">
      <dgm:prSet/>
      <dgm:spPr/>
      <dgm:t>
        <a:bodyPr/>
        <a:lstStyle/>
        <a:p>
          <a:endParaRPr lang="en-US"/>
        </a:p>
      </dgm:t>
    </dgm:pt>
    <dgm:pt modelId="{6D35E835-A3A8-44C5-813E-3BD8EC9F0881}" type="sibTrans" cxnId="{8DA57D1A-3F52-4CC8-B926-F8B5B1D5C2A1}">
      <dgm:prSet/>
      <dgm:spPr/>
      <dgm:t>
        <a:bodyPr/>
        <a:lstStyle/>
        <a:p>
          <a:endParaRPr lang="en-US"/>
        </a:p>
      </dgm:t>
    </dgm:pt>
    <dgm:pt modelId="{6C3D51C0-1C47-40BC-A6AC-FF442FEBA253}">
      <dgm:prSet phldrT="[Text]" custT="1"/>
      <dgm:spPr/>
      <dgm:t>
        <a:bodyPr/>
        <a:lstStyle/>
        <a:p>
          <a:r>
            <a:rPr lang="en-US" sz="2600" dirty="0" smtClean="0"/>
            <a:t>Always be prudent to not use too much credit, control your utilization.</a:t>
          </a:r>
          <a:endParaRPr lang="en-US" sz="2600" dirty="0"/>
        </a:p>
      </dgm:t>
    </dgm:pt>
    <dgm:pt modelId="{9AC18BBD-0CEC-499D-9058-7B1C62B1C394}" type="parTrans" cxnId="{AB35734A-4ACD-43B4-81E8-235FB32D3B38}">
      <dgm:prSet/>
      <dgm:spPr/>
      <dgm:t>
        <a:bodyPr/>
        <a:lstStyle/>
        <a:p>
          <a:endParaRPr lang="en-US"/>
        </a:p>
      </dgm:t>
    </dgm:pt>
    <dgm:pt modelId="{24FF2A78-825A-447F-B5FD-CF612DE799EA}" type="sibTrans" cxnId="{AB35734A-4ACD-43B4-81E8-235FB32D3B38}">
      <dgm:prSet/>
      <dgm:spPr/>
      <dgm:t>
        <a:bodyPr/>
        <a:lstStyle/>
        <a:p>
          <a:endParaRPr lang="en-US"/>
        </a:p>
      </dgm:t>
    </dgm:pt>
    <dgm:pt modelId="{12B11AA9-C480-4CA4-AE20-CE8DFC542516}">
      <dgm:prSet phldrT="[Text]"/>
      <dgm:spPr/>
      <dgm:t>
        <a:bodyPr/>
        <a:lstStyle/>
        <a:p>
          <a:r>
            <a:rPr lang="en-US" dirty="0" smtClean="0"/>
            <a:t>Apply for new credit in moderation</a:t>
          </a:r>
          <a:endParaRPr lang="en-US" dirty="0"/>
        </a:p>
      </dgm:t>
    </dgm:pt>
    <dgm:pt modelId="{119FE628-7B6E-444D-9A2E-BB36A330D508}" type="parTrans" cxnId="{BD5CAFBD-AA4C-4392-86AD-1F0FCCDC1488}">
      <dgm:prSet/>
      <dgm:spPr/>
      <dgm:t>
        <a:bodyPr/>
        <a:lstStyle/>
        <a:p>
          <a:endParaRPr lang="en-US"/>
        </a:p>
      </dgm:t>
    </dgm:pt>
    <dgm:pt modelId="{F03CCB3F-9938-464C-9A1A-1E4264DEA908}" type="sibTrans" cxnId="{BD5CAFBD-AA4C-4392-86AD-1F0FCCDC1488}">
      <dgm:prSet/>
      <dgm:spPr/>
      <dgm:t>
        <a:bodyPr/>
        <a:lstStyle/>
        <a:p>
          <a:endParaRPr lang="en-US"/>
        </a:p>
      </dgm:t>
    </dgm:pt>
    <dgm:pt modelId="{376ED9FC-D55E-4F3C-84B0-438CA36B5DE1}">
      <dgm:prSet phldrT="[Text]" custT="1"/>
      <dgm:spPr/>
      <dgm:t>
        <a:bodyPr/>
        <a:lstStyle/>
        <a:p>
          <a:r>
            <a:rPr lang="en-US" sz="2600" dirty="0" smtClean="0"/>
            <a:t>You don’t want to reflect that you are continuously seeking excessive credit; apply for new credit cautiously.</a:t>
          </a:r>
          <a:endParaRPr lang="en-US" sz="2600" dirty="0"/>
        </a:p>
      </dgm:t>
    </dgm:pt>
    <dgm:pt modelId="{717A14A6-62F1-4194-8534-81A129792BD7}" type="parTrans" cxnId="{DFCCCA65-04E3-4EDE-9DFE-8D7A4F1D41CC}">
      <dgm:prSet/>
      <dgm:spPr/>
      <dgm:t>
        <a:bodyPr/>
        <a:lstStyle/>
        <a:p>
          <a:endParaRPr lang="en-US"/>
        </a:p>
      </dgm:t>
    </dgm:pt>
    <dgm:pt modelId="{5B85DB4F-6B81-4698-A32F-2328C3D2156C}" type="sibTrans" cxnId="{DFCCCA65-04E3-4EDE-9DFE-8D7A4F1D41CC}">
      <dgm:prSet/>
      <dgm:spPr/>
      <dgm:t>
        <a:bodyPr/>
        <a:lstStyle/>
        <a:p>
          <a:endParaRPr lang="en-US"/>
        </a:p>
      </dgm:t>
    </dgm:pt>
    <dgm:pt modelId="{70593C17-658D-4DE9-8B8A-84295174BFA8}" type="pres">
      <dgm:prSet presAssocID="{2EE1E1CC-2669-4E29-9F8B-F3A89B75CBC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2DF2BE7-27C1-4991-9E81-09CD8223F0E1}" type="pres">
      <dgm:prSet presAssocID="{96C2E84B-CB2E-43C6-9409-235B49402BE5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6FCC49-16C7-4960-86C5-394E51A49AFE}" type="pres">
      <dgm:prSet presAssocID="{96C2E84B-CB2E-43C6-9409-235B49402BE5}" presName="childText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0C342D-57A0-4964-A4FE-1EB6E0121CD1}" type="pres">
      <dgm:prSet presAssocID="{4A7C2810-F302-4CBB-B7C0-6BD304DC25CF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F5F57D-26F8-4894-9B88-7CC244503B86}" type="pres">
      <dgm:prSet presAssocID="{4A7C2810-F302-4CBB-B7C0-6BD304DC25CF}" presName="childText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73DAA4-09BB-40FC-8B92-E540CFCD2489}" type="pres">
      <dgm:prSet presAssocID="{12B11AA9-C480-4CA4-AE20-CE8DFC542516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C89D64F-4A9F-4636-84DB-8F066F07EE02}" type="pres">
      <dgm:prSet presAssocID="{12B11AA9-C480-4CA4-AE20-CE8DFC542516}" presName="childText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1D888E7-1884-4149-AC0B-DC407A0BCA58}" type="presOf" srcId="{376ED9FC-D55E-4F3C-84B0-438CA36B5DE1}" destId="{9C89D64F-4A9F-4636-84DB-8F066F07EE02}" srcOrd="0" destOrd="0" presId="urn:microsoft.com/office/officeart/2005/8/layout/vList2"/>
    <dgm:cxn modelId="{3B7C620C-DC2C-445F-AB01-F93504B63925}" type="presOf" srcId="{96C2E84B-CB2E-43C6-9409-235B49402BE5}" destId="{22DF2BE7-27C1-4991-9E81-09CD8223F0E1}" srcOrd="0" destOrd="0" presId="urn:microsoft.com/office/officeart/2005/8/layout/vList2"/>
    <dgm:cxn modelId="{2F91A182-12AD-45E9-AD1A-E91CC605EA5F}" type="presOf" srcId="{4A7C2810-F302-4CBB-B7C0-6BD304DC25CF}" destId="{6A0C342D-57A0-4964-A4FE-1EB6E0121CD1}" srcOrd="0" destOrd="0" presId="urn:microsoft.com/office/officeart/2005/8/layout/vList2"/>
    <dgm:cxn modelId="{DFCCCA65-04E3-4EDE-9DFE-8D7A4F1D41CC}" srcId="{12B11AA9-C480-4CA4-AE20-CE8DFC542516}" destId="{376ED9FC-D55E-4F3C-84B0-438CA36B5DE1}" srcOrd="0" destOrd="0" parTransId="{717A14A6-62F1-4194-8534-81A129792BD7}" sibTransId="{5B85DB4F-6B81-4698-A32F-2328C3D2156C}"/>
    <dgm:cxn modelId="{BE51BD59-6B60-47D8-BA04-B21C4EEDA26A}" type="presOf" srcId="{6C3D51C0-1C47-40BC-A6AC-FF442FEBA253}" destId="{F2F5F57D-26F8-4894-9B88-7CC244503B86}" srcOrd="0" destOrd="0" presId="urn:microsoft.com/office/officeart/2005/8/layout/vList2"/>
    <dgm:cxn modelId="{AB35734A-4ACD-43B4-81E8-235FB32D3B38}" srcId="{4A7C2810-F302-4CBB-B7C0-6BD304DC25CF}" destId="{6C3D51C0-1C47-40BC-A6AC-FF442FEBA253}" srcOrd="0" destOrd="0" parTransId="{9AC18BBD-0CEC-499D-9058-7B1C62B1C394}" sibTransId="{24FF2A78-825A-447F-B5FD-CF612DE799EA}"/>
    <dgm:cxn modelId="{BA9E1DF8-8BA3-4426-B172-A734961B80BB}" type="presOf" srcId="{2EE1E1CC-2669-4E29-9F8B-F3A89B75CBCD}" destId="{70593C17-658D-4DE9-8B8A-84295174BFA8}" srcOrd="0" destOrd="0" presId="urn:microsoft.com/office/officeart/2005/8/layout/vList2"/>
    <dgm:cxn modelId="{BD5CAFBD-AA4C-4392-86AD-1F0FCCDC1488}" srcId="{2EE1E1CC-2669-4E29-9F8B-F3A89B75CBCD}" destId="{12B11AA9-C480-4CA4-AE20-CE8DFC542516}" srcOrd="2" destOrd="0" parTransId="{119FE628-7B6E-444D-9A2E-BB36A330D508}" sibTransId="{F03CCB3F-9938-464C-9A1A-1E4264DEA908}"/>
    <dgm:cxn modelId="{3632BE51-E9A0-45F8-91BA-087951874CC5}" type="presOf" srcId="{1DCE94F2-A621-429A-BEB4-7545E85991F9}" destId="{BA6FCC49-16C7-4960-86C5-394E51A49AFE}" srcOrd="0" destOrd="0" presId="urn:microsoft.com/office/officeart/2005/8/layout/vList2"/>
    <dgm:cxn modelId="{8E6282AD-CFB0-4C45-B19D-5ED9F3BFA13C}" srcId="{96C2E84B-CB2E-43C6-9409-235B49402BE5}" destId="{1DCE94F2-A621-429A-BEB4-7545E85991F9}" srcOrd="0" destOrd="0" parTransId="{74C8CC70-83F3-48E1-B9AB-81996023D368}" sibTransId="{D9DCA70B-BB7E-45E6-9188-D3A30C602CAF}"/>
    <dgm:cxn modelId="{CB7761AE-B2CA-491A-BE20-B572E8DB9FCA}" type="presOf" srcId="{12B11AA9-C480-4CA4-AE20-CE8DFC542516}" destId="{3B73DAA4-09BB-40FC-8B92-E540CFCD2489}" srcOrd="0" destOrd="0" presId="urn:microsoft.com/office/officeart/2005/8/layout/vList2"/>
    <dgm:cxn modelId="{51B6DE90-5F59-4FC3-8F6D-25408124F0F4}" srcId="{2EE1E1CC-2669-4E29-9F8B-F3A89B75CBCD}" destId="{96C2E84B-CB2E-43C6-9409-235B49402BE5}" srcOrd="0" destOrd="0" parTransId="{3706BE74-6812-43B0-9D0D-6EC07C612DF3}" sibTransId="{281F851B-7A0B-4E66-B9AA-47B4FFADF3CD}"/>
    <dgm:cxn modelId="{8DA57D1A-3F52-4CC8-B926-F8B5B1D5C2A1}" srcId="{2EE1E1CC-2669-4E29-9F8B-F3A89B75CBCD}" destId="{4A7C2810-F302-4CBB-B7C0-6BD304DC25CF}" srcOrd="1" destOrd="0" parTransId="{D7B30A95-54FC-4D2A-85C3-6608C4B90619}" sibTransId="{6D35E835-A3A8-44C5-813E-3BD8EC9F0881}"/>
    <dgm:cxn modelId="{2D8C5DCB-6F42-4B71-AD95-8B59DB3DBF3A}" type="presParOf" srcId="{70593C17-658D-4DE9-8B8A-84295174BFA8}" destId="{22DF2BE7-27C1-4991-9E81-09CD8223F0E1}" srcOrd="0" destOrd="0" presId="urn:microsoft.com/office/officeart/2005/8/layout/vList2"/>
    <dgm:cxn modelId="{5B831024-DA3F-40E6-BA57-6CAEA3E0A7F0}" type="presParOf" srcId="{70593C17-658D-4DE9-8B8A-84295174BFA8}" destId="{BA6FCC49-16C7-4960-86C5-394E51A49AFE}" srcOrd="1" destOrd="0" presId="urn:microsoft.com/office/officeart/2005/8/layout/vList2"/>
    <dgm:cxn modelId="{1F1E4B9C-F81F-4F08-B367-EAC13C6549F6}" type="presParOf" srcId="{70593C17-658D-4DE9-8B8A-84295174BFA8}" destId="{6A0C342D-57A0-4964-A4FE-1EB6E0121CD1}" srcOrd="2" destOrd="0" presId="urn:microsoft.com/office/officeart/2005/8/layout/vList2"/>
    <dgm:cxn modelId="{DFBE5288-EBB9-44DD-9410-7D1AE673F10F}" type="presParOf" srcId="{70593C17-658D-4DE9-8B8A-84295174BFA8}" destId="{F2F5F57D-26F8-4894-9B88-7CC244503B86}" srcOrd="3" destOrd="0" presId="urn:microsoft.com/office/officeart/2005/8/layout/vList2"/>
    <dgm:cxn modelId="{6A3CFFE2-6D33-4E36-8ED3-6812434CA269}" type="presParOf" srcId="{70593C17-658D-4DE9-8B8A-84295174BFA8}" destId="{3B73DAA4-09BB-40FC-8B92-E540CFCD2489}" srcOrd="4" destOrd="0" presId="urn:microsoft.com/office/officeart/2005/8/layout/vList2"/>
    <dgm:cxn modelId="{5C6AB657-9841-44A1-9CEB-A2DE5D152693}" type="presParOf" srcId="{70593C17-658D-4DE9-8B8A-84295174BFA8}" destId="{9C89D64F-4A9F-4636-84DB-8F066F07EE0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2EE1E1CC-2669-4E29-9F8B-F3A89B75CBC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6C2E84B-CB2E-43C6-9409-235B49402BE5}">
      <dgm:prSet phldrT="[Text]" custT="1"/>
      <dgm:spPr/>
      <dgm:t>
        <a:bodyPr/>
        <a:lstStyle/>
        <a:p>
          <a:pPr algn="just"/>
          <a:r>
            <a:rPr lang="en-US" sz="3000" dirty="0" smtClean="0"/>
            <a:t>Maintain a healthy mix of credit</a:t>
          </a:r>
          <a:endParaRPr lang="en-US" sz="3000" dirty="0"/>
        </a:p>
      </dgm:t>
    </dgm:pt>
    <dgm:pt modelId="{3706BE74-6812-43B0-9D0D-6EC07C612DF3}" type="parTrans" cxnId="{51B6DE90-5F59-4FC3-8F6D-25408124F0F4}">
      <dgm:prSet/>
      <dgm:spPr/>
      <dgm:t>
        <a:bodyPr/>
        <a:lstStyle/>
        <a:p>
          <a:pPr algn="just"/>
          <a:endParaRPr lang="en-US"/>
        </a:p>
      </dgm:t>
    </dgm:pt>
    <dgm:pt modelId="{281F851B-7A0B-4E66-B9AA-47B4FFADF3CD}" type="sibTrans" cxnId="{51B6DE90-5F59-4FC3-8F6D-25408124F0F4}">
      <dgm:prSet/>
      <dgm:spPr/>
      <dgm:t>
        <a:bodyPr/>
        <a:lstStyle/>
        <a:p>
          <a:pPr algn="just"/>
          <a:endParaRPr lang="en-US"/>
        </a:p>
      </dgm:t>
    </dgm:pt>
    <dgm:pt modelId="{1DCE94F2-A621-429A-BEB4-7545E85991F9}">
      <dgm:prSet phldrT="[Text]" custT="1"/>
      <dgm:spPr/>
      <dgm:t>
        <a:bodyPr/>
        <a:lstStyle/>
        <a:p>
          <a:pPr algn="just"/>
          <a:r>
            <a:rPr lang="en-US" sz="2600" dirty="0" smtClean="0"/>
            <a:t>It is better to have a healthy mix of secured (such as home loan, auto loan)and unsecured loans (such as Personal loan, Credit Card ). </a:t>
          </a:r>
          <a:endParaRPr lang="en-US" sz="2600" dirty="0"/>
        </a:p>
      </dgm:t>
    </dgm:pt>
    <dgm:pt modelId="{74C8CC70-83F3-48E1-B9AB-81996023D368}" type="parTrans" cxnId="{8E6282AD-CFB0-4C45-B19D-5ED9F3BFA13C}">
      <dgm:prSet/>
      <dgm:spPr/>
      <dgm:t>
        <a:bodyPr/>
        <a:lstStyle/>
        <a:p>
          <a:pPr algn="just"/>
          <a:endParaRPr lang="en-US"/>
        </a:p>
      </dgm:t>
    </dgm:pt>
    <dgm:pt modelId="{D9DCA70B-BB7E-45E6-9188-D3A30C602CAF}" type="sibTrans" cxnId="{8E6282AD-CFB0-4C45-B19D-5ED9F3BFA13C}">
      <dgm:prSet/>
      <dgm:spPr/>
      <dgm:t>
        <a:bodyPr/>
        <a:lstStyle/>
        <a:p>
          <a:pPr algn="just"/>
          <a:endParaRPr lang="en-US"/>
        </a:p>
      </dgm:t>
    </dgm:pt>
    <dgm:pt modelId="{4A7C2810-F302-4CBB-B7C0-6BD304DC25CF}">
      <dgm:prSet phldrT="[Text]" custT="1"/>
      <dgm:spPr/>
      <dgm:t>
        <a:bodyPr/>
        <a:lstStyle/>
        <a:p>
          <a:pPr algn="just"/>
          <a:r>
            <a:rPr lang="en-US" sz="3000" dirty="0" smtClean="0"/>
            <a:t>Monitor your co-signed, guaranteed and joint accounts monthly</a:t>
          </a:r>
          <a:endParaRPr lang="en-US" sz="3000" dirty="0"/>
        </a:p>
      </dgm:t>
    </dgm:pt>
    <dgm:pt modelId="{D7B30A95-54FC-4D2A-85C3-6608C4B90619}" type="parTrans" cxnId="{8DA57D1A-3F52-4CC8-B926-F8B5B1D5C2A1}">
      <dgm:prSet/>
      <dgm:spPr/>
      <dgm:t>
        <a:bodyPr/>
        <a:lstStyle/>
        <a:p>
          <a:pPr algn="just"/>
          <a:endParaRPr lang="en-US"/>
        </a:p>
      </dgm:t>
    </dgm:pt>
    <dgm:pt modelId="{6D35E835-A3A8-44C5-813E-3BD8EC9F0881}" type="sibTrans" cxnId="{8DA57D1A-3F52-4CC8-B926-F8B5B1D5C2A1}">
      <dgm:prSet/>
      <dgm:spPr/>
      <dgm:t>
        <a:bodyPr/>
        <a:lstStyle/>
        <a:p>
          <a:pPr algn="just"/>
          <a:endParaRPr lang="en-US"/>
        </a:p>
      </dgm:t>
    </dgm:pt>
    <dgm:pt modelId="{6C3D51C0-1C47-40BC-A6AC-FF442FEBA253}">
      <dgm:prSet phldrT="[Text]" custT="1"/>
      <dgm:spPr/>
      <dgm:t>
        <a:bodyPr/>
        <a:lstStyle/>
        <a:p>
          <a:pPr algn="just"/>
          <a:r>
            <a:rPr lang="en-US" sz="2600" dirty="0" smtClean="0"/>
            <a:t>In co-signed, guaranteed or jointly held accounts, you are held equally liable for missed payments. </a:t>
          </a:r>
          <a:endParaRPr lang="en-US" sz="2600" dirty="0"/>
        </a:p>
      </dgm:t>
    </dgm:pt>
    <dgm:pt modelId="{9AC18BBD-0CEC-499D-9058-7B1C62B1C394}" type="parTrans" cxnId="{AB35734A-4ACD-43B4-81E8-235FB32D3B38}">
      <dgm:prSet/>
      <dgm:spPr/>
      <dgm:t>
        <a:bodyPr/>
        <a:lstStyle/>
        <a:p>
          <a:pPr algn="just"/>
          <a:endParaRPr lang="en-US"/>
        </a:p>
      </dgm:t>
    </dgm:pt>
    <dgm:pt modelId="{24FF2A78-825A-447F-B5FD-CF612DE799EA}" type="sibTrans" cxnId="{AB35734A-4ACD-43B4-81E8-235FB32D3B38}">
      <dgm:prSet/>
      <dgm:spPr/>
      <dgm:t>
        <a:bodyPr/>
        <a:lstStyle/>
        <a:p>
          <a:pPr algn="just"/>
          <a:endParaRPr lang="en-US"/>
        </a:p>
      </dgm:t>
    </dgm:pt>
    <dgm:pt modelId="{12B11AA9-C480-4CA4-AE20-CE8DFC542516}">
      <dgm:prSet phldrT="[Text]" custT="1"/>
      <dgm:spPr/>
      <dgm:t>
        <a:bodyPr/>
        <a:lstStyle/>
        <a:p>
          <a:pPr algn="just"/>
          <a:r>
            <a:rPr lang="en-US" sz="3000" dirty="0" smtClean="0"/>
            <a:t>Review your credit history frequently throughout the year</a:t>
          </a:r>
          <a:endParaRPr lang="en-US" sz="3000" dirty="0"/>
        </a:p>
      </dgm:t>
    </dgm:pt>
    <dgm:pt modelId="{119FE628-7B6E-444D-9A2E-BB36A330D508}" type="parTrans" cxnId="{BD5CAFBD-AA4C-4392-86AD-1F0FCCDC1488}">
      <dgm:prSet/>
      <dgm:spPr/>
      <dgm:t>
        <a:bodyPr/>
        <a:lstStyle/>
        <a:p>
          <a:pPr algn="just"/>
          <a:endParaRPr lang="en-US"/>
        </a:p>
      </dgm:t>
    </dgm:pt>
    <dgm:pt modelId="{F03CCB3F-9938-464C-9A1A-1E4264DEA908}" type="sibTrans" cxnId="{BD5CAFBD-AA4C-4392-86AD-1F0FCCDC1488}">
      <dgm:prSet/>
      <dgm:spPr/>
      <dgm:t>
        <a:bodyPr/>
        <a:lstStyle/>
        <a:p>
          <a:pPr algn="just"/>
          <a:endParaRPr lang="en-US"/>
        </a:p>
      </dgm:t>
    </dgm:pt>
    <dgm:pt modelId="{376ED9FC-D55E-4F3C-84B0-438CA36B5DE1}">
      <dgm:prSet phldrT="[Text]" custT="1"/>
      <dgm:spPr/>
      <dgm:t>
        <a:bodyPr/>
        <a:lstStyle/>
        <a:p>
          <a:pPr algn="just"/>
          <a:r>
            <a:rPr lang="en-US" sz="2600" dirty="0" smtClean="0"/>
            <a:t>You don’t want to reflect that you are continuously seeking excessive credit; apply for new credit cautiously.</a:t>
          </a:r>
          <a:endParaRPr lang="en-US" sz="2600" dirty="0"/>
        </a:p>
      </dgm:t>
    </dgm:pt>
    <dgm:pt modelId="{717A14A6-62F1-4194-8534-81A129792BD7}" type="parTrans" cxnId="{DFCCCA65-04E3-4EDE-9DFE-8D7A4F1D41CC}">
      <dgm:prSet/>
      <dgm:spPr/>
      <dgm:t>
        <a:bodyPr/>
        <a:lstStyle/>
        <a:p>
          <a:pPr algn="just"/>
          <a:endParaRPr lang="en-US"/>
        </a:p>
      </dgm:t>
    </dgm:pt>
    <dgm:pt modelId="{5B85DB4F-6B81-4698-A32F-2328C3D2156C}" type="sibTrans" cxnId="{DFCCCA65-04E3-4EDE-9DFE-8D7A4F1D41CC}">
      <dgm:prSet/>
      <dgm:spPr/>
      <dgm:t>
        <a:bodyPr/>
        <a:lstStyle/>
        <a:p>
          <a:pPr algn="just"/>
          <a:endParaRPr lang="en-US"/>
        </a:p>
      </dgm:t>
    </dgm:pt>
    <dgm:pt modelId="{DA5B7530-5415-458E-B41F-B67A6E7EA1F7}">
      <dgm:prSet phldrT="[Text]" custT="1"/>
      <dgm:spPr/>
      <dgm:t>
        <a:bodyPr/>
        <a:lstStyle/>
        <a:p>
          <a:pPr algn="just"/>
          <a:r>
            <a:rPr lang="en-US" sz="2600" dirty="0" smtClean="0"/>
            <a:t>Too many unsecured loans may be viewed negatively.</a:t>
          </a:r>
          <a:endParaRPr lang="en-US" sz="2600" dirty="0"/>
        </a:p>
      </dgm:t>
    </dgm:pt>
    <dgm:pt modelId="{2FB255FB-1113-4439-9964-25BBEA4ABA46}" type="parTrans" cxnId="{BCD89BC0-3253-4566-B160-0E505D15930E}">
      <dgm:prSet/>
      <dgm:spPr/>
      <dgm:t>
        <a:bodyPr/>
        <a:lstStyle/>
        <a:p>
          <a:pPr algn="just"/>
          <a:endParaRPr lang="en-US"/>
        </a:p>
      </dgm:t>
    </dgm:pt>
    <dgm:pt modelId="{34AE3FFB-6C0D-4332-BDA9-849D6B4A0620}" type="sibTrans" cxnId="{BCD89BC0-3253-4566-B160-0E505D15930E}">
      <dgm:prSet/>
      <dgm:spPr/>
      <dgm:t>
        <a:bodyPr/>
        <a:lstStyle/>
        <a:p>
          <a:pPr algn="just"/>
          <a:endParaRPr lang="en-US"/>
        </a:p>
      </dgm:t>
    </dgm:pt>
    <dgm:pt modelId="{7CD1CC4C-C6B1-4485-B584-18386D8915B5}">
      <dgm:prSet phldrT="[Text]" custT="1"/>
      <dgm:spPr/>
      <dgm:t>
        <a:bodyPr/>
        <a:lstStyle/>
        <a:p>
          <a:pPr algn="just"/>
          <a:r>
            <a:rPr lang="en-US" sz="2600" dirty="0" smtClean="0"/>
            <a:t>Your joint holder’s (or the guaranteed individual) negligence could affect your ability to access credit when you need it.</a:t>
          </a:r>
          <a:endParaRPr lang="en-US" sz="2600" dirty="0"/>
        </a:p>
      </dgm:t>
    </dgm:pt>
    <dgm:pt modelId="{8500C579-F1F3-45FB-8587-CC800462C1D7}" type="parTrans" cxnId="{0D8F0D5F-88B0-4B1D-9AA1-17BD0B2AD525}">
      <dgm:prSet/>
      <dgm:spPr/>
      <dgm:t>
        <a:bodyPr/>
        <a:lstStyle/>
        <a:p>
          <a:endParaRPr lang="en-US"/>
        </a:p>
      </dgm:t>
    </dgm:pt>
    <dgm:pt modelId="{7A440A41-361F-4A89-AF93-A8070854676F}" type="sibTrans" cxnId="{0D8F0D5F-88B0-4B1D-9AA1-17BD0B2AD525}">
      <dgm:prSet/>
      <dgm:spPr/>
      <dgm:t>
        <a:bodyPr/>
        <a:lstStyle/>
        <a:p>
          <a:endParaRPr lang="en-US"/>
        </a:p>
      </dgm:t>
    </dgm:pt>
    <dgm:pt modelId="{70593C17-658D-4DE9-8B8A-84295174BFA8}" type="pres">
      <dgm:prSet presAssocID="{2EE1E1CC-2669-4E29-9F8B-F3A89B75CBC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2DF2BE7-27C1-4991-9E81-09CD8223F0E1}" type="pres">
      <dgm:prSet presAssocID="{96C2E84B-CB2E-43C6-9409-235B49402BE5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6FCC49-16C7-4960-86C5-394E51A49AFE}" type="pres">
      <dgm:prSet presAssocID="{96C2E84B-CB2E-43C6-9409-235B49402BE5}" presName="childText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0C342D-57A0-4964-A4FE-1EB6E0121CD1}" type="pres">
      <dgm:prSet presAssocID="{4A7C2810-F302-4CBB-B7C0-6BD304DC25CF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F5F57D-26F8-4894-9B88-7CC244503B86}" type="pres">
      <dgm:prSet presAssocID="{4A7C2810-F302-4CBB-B7C0-6BD304DC25CF}" presName="childText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73DAA4-09BB-40FC-8B92-E540CFCD2489}" type="pres">
      <dgm:prSet presAssocID="{12B11AA9-C480-4CA4-AE20-CE8DFC542516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C89D64F-4A9F-4636-84DB-8F066F07EE02}" type="pres">
      <dgm:prSet presAssocID="{12B11AA9-C480-4CA4-AE20-CE8DFC542516}" presName="childText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227C3C9-CB45-46A9-84EA-9357652AC24B}" type="presOf" srcId="{7CD1CC4C-C6B1-4485-B584-18386D8915B5}" destId="{F2F5F57D-26F8-4894-9B88-7CC244503B86}" srcOrd="0" destOrd="1" presId="urn:microsoft.com/office/officeart/2005/8/layout/vList2"/>
    <dgm:cxn modelId="{C1D888E7-1884-4149-AC0B-DC407A0BCA58}" type="presOf" srcId="{376ED9FC-D55E-4F3C-84B0-438CA36B5DE1}" destId="{9C89D64F-4A9F-4636-84DB-8F066F07EE02}" srcOrd="0" destOrd="0" presId="urn:microsoft.com/office/officeart/2005/8/layout/vList2"/>
    <dgm:cxn modelId="{3B7C620C-DC2C-445F-AB01-F93504B63925}" type="presOf" srcId="{96C2E84B-CB2E-43C6-9409-235B49402BE5}" destId="{22DF2BE7-27C1-4991-9E81-09CD8223F0E1}" srcOrd="0" destOrd="0" presId="urn:microsoft.com/office/officeart/2005/8/layout/vList2"/>
    <dgm:cxn modelId="{2F91A182-12AD-45E9-AD1A-E91CC605EA5F}" type="presOf" srcId="{4A7C2810-F302-4CBB-B7C0-6BD304DC25CF}" destId="{6A0C342D-57A0-4964-A4FE-1EB6E0121CD1}" srcOrd="0" destOrd="0" presId="urn:microsoft.com/office/officeart/2005/8/layout/vList2"/>
    <dgm:cxn modelId="{BCD89BC0-3253-4566-B160-0E505D15930E}" srcId="{96C2E84B-CB2E-43C6-9409-235B49402BE5}" destId="{DA5B7530-5415-458E-B41F-B67A6E7EA1F7}" srcOrd="1" destOrd="0" parTransId="{2FB255FB-1113-4439-9964-25BBEA4ABA46}" sibTransId="{34AE3FFB-6C0D-4332-BDA9-849D6B4A0620}"/>
    <dgm:cxn modelId="{DFCCCA65-04E3-4EDE-9DFE-8D7A4F1D41CC}" srcId="{12B11AA9-C480-4CA4-AE20-CE8DFC542516}" destId="{376ED9FC-D55E-4F3C-84B0-438CA36B5DE1}" srcOrd="0" destOrd="0" parTransId="{717A14A6-62F1-4194-8534-81A129792BD7}" sibTransId="{5B85DB4F-6B81-4698-A32F-2328C3D2156C}"/>
    <dgm:cxn modelId="{BE51BD59-6B60-47D8-BA04-B21C4EEDA26A}" type="presOf" srcId="{6C3D51C0-1C47-40BC-A6AC-FF442FEBA253}" destId="{F2F5F57D-26F8-4894-9B88-7CC244503B86}" srcOrd="0" destOrd="0" presId="urn:microsoft.com/office/officeart/2005/8/layout/vList2"/>
    <dgm:cxn modelId="{0D8F0D5F-88B0-4B1D-9AA1-17BD0B2AD525}" srcId="{4A7C2810-F302-4CBB-B7C0-6BD304DC25CF}" destId="{7CD1CC4C-C6B1-4485-B584-18386D8915B5}" srcOrd="1" destOrd="0" parTransId="{8500C579-F1F3-45FB-8587-CC800462C1D7}" sibTransId="{7A440A41-361F-4A89-AF93-A8070854676F}"/>
    <dgm:cxn modelId="{AB35734A-4ACD-43B4-81E8-235FB32D3B38}" srcId="{4A7C2810-F302-4CBB-B7C0-6BD304DC25CF}" destId="{6C3D51C0-1C47-40BC-A6AC-FF442FEBA253}" srcOrd="0" destOrd="0" parTransId="{9AC18BBD-0CEC-499D-9058-7B1C62B1C394}" sibTransId="{24FF2A78-825A-447F-B5FD-CF612DE799EA}"/>
    <dgm:cxn modelId="{BA9E1DF8-8BA3-4426-B172-A734961B80BB}" type="presOf" srcId="{2EE1E1CC-2669-4E29-9F8B-F3A89B75CBCD}" destId="{70593C17-658D-4DE9-8B8A-84295174BFA8}" srcOrd="0" destOrd="0" presId="urn:microsoft.com/office/officeart/2005/8/layout/vList2"/>
    <dgm:cxn modelId="{DA43F8BC-5CB4-4CD3-932B-3A9ED924899B}" type="presOf" srcId="{DA5B7530-5415-458E-B41F-B67A6E7EA1F7}" destId="{BA6FCC49-16C7-4960-86C5-394E51A49AFE}" srcOrd="0" destOrd="1" presId="urn:microsoft.com/office/officeart/2005/8/layout/vList2"/>
    <dgm:cxn modelId="{BD5CAFBD-AA4C-4392-86AD-1F0FCCDC1488}" srcId="{2EE1E1CC-2669-4E29-9F8B-F3A89B75CBCD}" destId="{12B11AA9-C480-4CA4-AE20-CE8DFC542516}" srcOrd="2" destOrd="0" parTransId="{119FE628-7B6E-444D-9A2E-BB36A330D508}" sibTransId="{F03CCB3F-9938-464C-9A1A-1E4264DEA908}"/>
    <dgm:cxn modelId="{3632BE51-E9A0-45F8-91BA-087951874CC5}" type="presOf" srcId="{1DCE94F2-A621-429A-BEB4-7545E85991F9}" destId="{BA6FCC49-16C7-4960-86C5-394E51A49AFE}" srcOrd="0" destOrd="0" presId="urn:microsoft.com/office/officeart/2005/8/layout/vList2"/>
    <dgm:cxn modelId="{8E6282AD-CFB0-4C45-B19D-5ED9F3BFA13C}" srcId="{96C2E84B-CB2E-43C6-9409-235B49402BE5}" destId="{1DCE94F2-A621-429A-BEB4-7545E85991F9}" srcOrd="0" destOrd="0" parTransId="{74C8CC70-83F3-48E1-B9AB-81996023D368}" sibTransId="{D9DCA70B-BB7E-45E6-9188-D3A30C602CAF}"/>
    <dgm:cxn modelId="{CB7761AE-B2CA-491A-BE20-B572E8DB9FCA}" type="presOf" srcId="{12B11AA9-C480-4CA4-AE20-CE8DFC542516}" destId="{3B73DAA4-09BB-40FC-8B92-E540CFCD2489}" srcOrd="0" destOrd="0" presId="urn:microsoft.com/office/officeart/2005/8/layout/vList2"/>
    <dgm:cxn modelId="{51B6DE90-5F59-4FC3-8F6D-25408124F0F4}" srcId="{2EE1E1CC-2669-4E29-9F8B-F3A89B75CBCD}" destId="{96C2E84B-CB2E-43C6-9409-235B49402BE5}" srcOrd="0" destOrd="0" parTransId="{3706BE74-6812-43B0-9D0D-6EC07C612DF3}" sibTransId="{281F851B-7A0B-4E66-B9AA-47B4FFADF3CD}"/>
    <dgm:cxn modelId="{8DA57D1A-3F52-4CC8-B926-F8B5B1D5C2A1}" srcId="{2EE1E1CC-2669-4E29-9F8B-F3A89B75CBCD}" destId="{4A7C2810-F302-4CBB-B7C0-6BD304DC25CF}" srcOrd="1" destOrd="0" parTransId="{D7B30A95-54FC-4D2A-85C3-6608C4B90619}" sibTransId="{6D35E835-A3A8-44C5-813E-3BD8EC9F0881}"/>
    <dgm:cxn modelId="{2D8C5DCB-6F42-4B71-AD95-8B59DB3DBF3A}" type="presParOf" srcId="{70593C17-658D-4DE9-8B8A-84295174BFA8}" destId="{22DF2BE7-27C1-4991-9E81-09CD8223F0E1}" srcOrd="0" destOrd="0" presId="urn:microsoft.com/office/officeart/2005/8/layout/vList2"/>
    <dgm:cxn modelId="{5B831024-DA3F-40E6-BA57-6CAEA3E0A7F0}" type="presParOf" srcId="{70593C17-658D-4DE9-8B8A-84295174BFA8}" destId="{BA6FCC49-16C7-4960-86C5-394E51A49AFE}" srcOrd="1" destOrd="0" presId="urn:microsoft.com/office/officeart/2005/8/layout/vList2"/>
    <dgm:cxn modelId="{1F1E4B9C-F81F-4F08-B367-EAC13C6549F6}" type="presParOf" srcId="{70593C17-658D-4DE9-8B8A-84295174BFA8}" destId="{6A0C342D-57A0-4964-A4FE-1EB6E0121CD1}" srcOrd="2" destOrd="0" presId="urn:microsoft.com/office/officeart/2005/8/layout/vList2"/>
    <dgm:cxn modelId="{DFBE5288-EBB9-44DD-9410-7D1AE673F10F}" type="presParOf" srcId="{70593C17-658D-4DE9-8B8A-84295174BFA8}" destId="{F2F5F57D-26F8-4894-9B88-7CC244503B86}" srcOrd="3" destOrd="0" presId="urn:microsoft.com/office/officeart/2005/8/layout/vList2"/>
    <dgm:cxn modelId="{6A3CFFE2-6D33-4E36-8ED3-6812434CA269}" type="presParOf" srcId="{70593C17-658D-4DE9-8B8A-84295174BFA8}" destId="{3B73DAA4-09BB-40FC-8B92-E540CFCD2489}" srcOrd="4" destOrd="0" presId="urn:microsoft.com/office/officeart/2005/8/layout/vList2"/>
    <dgm:cxn modelId="{5C6AB657-9841-44A1-9CEB-A2DE5D152693}" type="presParOf" srcId="{70593C17-658D-4DE9-8B8A-84295174BFA8}" destId="{9C89D64F-4A9F-4636-84DB-8F066F07EE0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941E52-E64F-465D-B741-7A520BCB468F}">
      <dsp:nvSpPr>
        <dsp:cNvPr id="0" name=""/>
        <dsp:cNvSpPr/>
      </dsp:nvSpPr>
      <dsp:spPr>
        <a:xfrm>
          <a:off x="751408" y="2234443"/>
          <a:ext cx="1010820" cy="988199"/>
        </a:xfrm>
        <a:prstGeom prst="donut">
          <a:avLst>
            <a:gd name="adj" fmla="val 2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1F8B41-D32D-4826-A1CF-9B01EA209FEB}">
      <dsp:nvSpPr>
        <dsp:cNvPr id="0" name=""/>
        <dsp:cNvSpPr/>
      </dsp:nvSpPr>
      <dsp:spPr>
        <a:xfrm rot="17700000">
          <a:off x="1020618" y="986192"/>
          <a:ext cx="1988703" cy="958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0" rIns="0" bIns="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12 Public Sector Banks</a:t>
          </a:r>
          <a:endParaRPr lang="en-US" sz="2600" kern="1200" dirty="0"/>
        </a:p>
      </dsp:txBody>
      <dsp:txXfrm>
        <a:off x="1020618" y="986192"/>
        <a:ext cx="1988703" cy="958401"/>
      </dsp:txXfrm>
    </dsp:sp>
    <dsp:sp modelId="{EE081B40-A6BF-4201-B8FA-D80AFA15E718}">
      <dsp:nvSpPr>
        <dsp:cNvPr id="0" name=""/>
        <dsp:cNvSpPr/>
      </dsp:nvSpPr>
      <dsp:spPr>
        <a:xfrm>
          <a:off x="2471816" y="2234443"/>
          <a:ext cx="1010820" cy="988199"/>
        </a:xfrm>
        <a:prstGeom prst="donut">
          <a:avLst>
            <a:gd name="adj" fmla="val 2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17153B-4AE1-42CC-81ED-59CE5BA77F5E}">
      <dsp:nvSpPr>
        <dsp:cNvPr id="0" name=""/>
        <dsp:cNvSpPr/>
      </dsp:nvSpPr>
      <dsp:spPr>
        <a:xfrm rot="17700000">
          <a:off x="2741027" y="986192"/>
          <a:ext cx="1988703" cy="958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0" rIns="0" bIns="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21 Private Sector Banks</a:t>
          </a:r>
          <a:endParaRPr lang="en-US" sz="2600" kern="1200" dirty="0"/>
        </a:p>
      </dsp:txBody>
      <dsp:txXfrm>
        <a:off x="2741027" y="986192"/>
        <a:ext cx="1988703" cy="958401"/>
      </dsp:txXfrm>
    </dsp:sp>
    <dsp:sp modelId="{B6DCE7AA-A63F-4ADB-A53D-461306326332}">
      <dsp:nvSpPr>
        <dsp:cNvPr id="0" name=""/>
        <dsp:cNvSpPr/>
      </dsp:nvSpPr>
      <dsp:spPr>
        <a:xfrm>
          <a:off x="4192224" y="2234443"/>
          <a:ext cx="1010820" cy="988199"/>
        </a:xfrm>
        <a:prstGeom prst="donut">
          <a:avLst>
            <a:gd name="adj" fmla="val 2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C47E1A-07D8-4455-B0E7-8BE5E3736BD8}">
      <dsp:nvSpPr>
        <dsp:cNvPr id="0" name=""/>
        <dsp:cNvSpPr/>
      </dsp:nvSpPr>
      <dsp:spPr>
        <a:xfrm rot="17700000">
          <a:off x="4461435" y="986192"/>
          <a:ext cx="1988703" cy="958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0" rIns="0" bIns="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43 RRBs</a:t>
          </a:r>
          <a:endParaRPr lang="en-US" sz="2600" kern="1200" dirty="0"/>
        </a:p>
      </dsp:txBody>
      <dsp:txXfrm>
        <a:off x="4461435" y="986192"/>
        <a:ext cx="1988703" cy="958401"/>
      </dsp:txXfrm>
    </dsp:sp>
    <dsp:sp modelId="{8B8370F7-D4D3-442D-9AD7-B4006663A932}">
      <dsp:nvSpPr>
        <dsp:cNvPr id="0" name=""/>
        <dsp:cNvSpPr/>
      </dsp:nvSpPr>
      <dsp:spPr>
        <a:xfrm>
          <a:off x="5912632" y="2234443"/>
          <a:ext cx="1010820" cy="988199"/>
        </a:xfrm>
        <a:prstGeom prst="donut">
          <a:avLst>
            <a:gd name="adj" fmla="val 20000"/>
          </a:avLst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7F9FAE-1D8B-421C-8ECF-8F0B6607D031}">
      <dsp:nvSpPr>
        <dsp:cNvPr id="0" name=""/>
        <dsp:cNvSpPr/>
      </dsp:nvSpPr>
      <dsp:spPr>
        <a:xfrm rot="17700000">
          <a:off x="6181843" y="986192"/>
          <a:ext cx="1988703" cy="958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0" rIns="0" bIns="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44 Foreign Banks</a:t>
          </a:r>
          <a:endParaRPr lang="en-US" sz="2600" kern="1200" dirty="0"/>
        </a:p>
      </dsp:txBody>
      <dsp:txXfrm>
        <a:off x="6181843" y="986192"/>
        <a:ext cx="1988703" cy="958401"/>
      </dsp:txXfrm>
    </dsp:sp>
    <dsp:sp modelId="{8C23FB2D-D315-4DCA-80A6-AC624C1BE979}">
      <dsp:nvSpPr>
        <dsp:cNvPr id="0" name=""/>
        <dsp:cNvSpPr/>
      </dsp:nvSpPr>
      <dsp:spPr>
        <a:xfrm>
          <a:off x="7633040" y="2234443"/>
          <a:ext cx="1010820" cy="988199"/>
        </a:xfrm>
        <a:prstGeom prst="donut">
          <a:avLst>
            <a:gd name="adj" fmla="val 20000"/>
          </a:avLst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04D90F-65F3-41D1-A43E-4DA0F1918E46}">
      <dsp:nvSpPr>
        <dsp:cNvPr id="0" name=""/>
        <dsp:cNvSpPr/>
      </dsp:nvSpPr>
      <dsp:spPr>
        <a:xfrm rot="17700000">
          <a:off x="7902251" y="986192"/>
          <a:ext cx="1988703" cy="958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0" rIns="0" bIns="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11 Small Finance Banks</a:t>
          </a:r>
          <a:endParaRPr lang="en-US" sz="2600" kern="1200" dirty="0"/>
        </a:p>
      </dsp:txBody>
      <dsp:txXfrm>
        <a:off x="7902251" y="986192"/>
        <a:ext cx="1988703" cy="958401"/>
      </dsp:txXfrm>
    </dsp:sp>
    <dsp:sp modelId="{AB236403-9B38-4F5B-8DA0-E2ECB36E78DB}">
      <dsp:nvSpPr>
        <dsp:cNvPr id="0" name=""/>
        <dsp:cNvSpPr/>
      </dsp:nvSpPr>
      <dsp:spPr>
        <a:xfrm>
          <a:off x="9353449" y="2234443"/>
          <a:ext cx="1010820" cy="988199"/>
        </a:xfrm>
        <a:prstGeom prst="donut">
          <a:avLst>
            <a:gd name="adj" fmla="val 20000"/>
          </a:avLst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11E383-A9B5-4BBC-AA6C-99FC6C520E28}">
      <dsp:nvSpPr>
        <dsp:cNvPr id="0" name=""/>
        <dsp:cNvSpPr/>
      </dsp:nvSpPr>
      <dsp:spPr>
        <a:xfrm rot="17700000">
          <a:off x="9622659" y="986192"/>
          <a:ext cx="1988703" cy="958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0" rIns="0" bIns="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6 Payment Banks</a:t>
          </a:r>
          <a:endParaRPr lang="en-US" sz="2600" kern="1200" dirty="0"/>
        </a:p>
      </dsp:txBody>
      <dsp:txXfrm>
        <a:off x="9622659" y="986192"/>
        <a:ext cx="1988703" cy="9584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4D490B-A2F4-43B6-82E5-0521C8328F47}">
      <dsp:nvSpPr>
        <dsp:cNvPr id="0" name=""/>
        <dsp:cNvSpPr/>
      </dsp:nvSpPr>
      <dsp:spPr>
        <a:xfrm rot="10800000">
          <a:off x="2529944" y="407"/>
          <a:ext cx="8040116" cy="2019208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0415" tIns="152400" rIns="284480" bIns="152400" numCol="1" spcCol="1270" anchor="t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Deposits in Banks</a:t>
          </a:r>
          <a:endParaRPr lang="en-US" sz="40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100" kern="1200" smtClean="0"/>
            <a:t>As on Jan 10, 2025, ₹221.50 trillion.</a:t>
          </a:r>
          <a:endParaRPr lang="en-US" sz="3100" kern="1200" dirty="0" smtClean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100" kern="1200" dirty="0" smtClean="0"/>
            <a:t>Growth: 10.83% Year on Year</a:t>
          </a:r>
        </a:p>
      </dsp:txBody>
      <dsp:txXfrm rot="10800000">
        <a:off x="3034746" y="407"/>
        <a:ext cx="7535314" cy="2019208"/>
      </dsp:txXfrm>
    </dsp:sp>
    <dsp:sp modelId="{F58C864D-21DD-475E-AEF3-264081646B6D}">
      <dsp:nvSpPr>
        <dsp:cNvPr id="0" name=""/>
        <dsp:cNvSpPr/>
      </dsp:nvSpPr>
      <dsp:spPr>
        <a:xfrm>
          <a:off x="1520339" y="407"/>
          <a:ext cx="2019208" cy="201920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2000" r="-2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CD6A0B-3C62-472E-9B4E-7DF2093A50FC}">
      <dsp:nvSpPr>
        <dsp:cNvPr id="0" name=""/>
        <dsp:cNvSpPr/>
      </dsp:nvSpPr>
      <dsp:spPr>
        <a:xfrm rot="10800000">
          <a:off x="2529944" y="2594717"/>
          <a:ext cx="8040116" cy="2019208"/>
        </a:xfrm>
        <a:prstGeom prst="homePlate">
          <a:avLst/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0415" tIns="152400" rIns="284480" bIns="152400" numCol="1" spcCol="1270" anchor="t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smtClean="0"/>
            <a:t>Bank </a:t>
          </a:r>
          <a:r>
            <a:rPr lang="en-US" sz="4000" kern="1200" dirty="0" smtClean="0"/>
            <a:t>Credit</a:t>
          </a:r>
          <a:endParaRPr lang="en-US" sz="4000" kern="120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100" kern="1200" smtClean="0"/>
            <a:t>As on Jan 10, 2025, ₹178.01 trillion.</a:t>
          </a:r>
          <a:endParaRPr lang="en-US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100" kern="1200" dirty="0" smtClean="0"/>
            <a:t>Growth: 11.47% Year on Year.</a:t>
          </a:r>
          <a:endParaRPr lang="en-US" sz="3100" kern="1200" dirty="0"/>
        </a:p>
      </dsp:txBody>
      <dsp:txXfrm rot="10800000">
        <a:off x="3034746" y="2594717"/>
        <a:ext cx="7535314" cy="2019208"/>
      </dsp:txXfrm>
    </dsp:sp>
    <dsp:sp modelId="{7BA42FFC-815F-4C44-BBE7-BA52EDB9D6B9}">
      <dsp:nvSpPr>
        <dsp:cNvPr id="0" name=""/>
        <dsp:cNvSpPr/>
      </dsp:nvSpPr>
      <dsp:spPr>
        <a:xfrm>
          <a:off x="1520339" y="2594717"/>
          <a:ext cx="2019208" cy="2019208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84820-AE92-4C89-AC9D-F522DFE4694B}">
      <dsp:nvSpPr>
        <dsp:cNvPr id="0" name=""/>
        <dsp:cNvSpPr/>
      </dsp:nvSpPr>
      <dsp:spPr>
        <a:xfrm>
          <a:off x="8926046" y="2133111"/>
          <a:ext cx="2538329" cy="2898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7518"/>
              </a:lnTo>
              <a:lnTo>
                <a:pt x="2538329" y="197518"/>
              </a:lnTo>
              <a:lnTo>
                <a:pt x="2538329" y="28984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B4EF77-6A16-4AE0-88B3-819F7656374F}">
      <dsp:nvSpPr>
        <dsp:cNvPr id="0" name=""/>
        <dsp:cNvSpPr/>
      </dsp:nvSpPr>
      <dsp:spPr>
        <a:xfrm>
          <a:off x="8926046" y="2133111"/>
          <a:ext cx="1035556" cy="2898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7518"/>
              </a:lnTo>
              <a:lnTo>
                <a:pt x="1035556" y="197518"/>
              </a:lnTo>
              <a:lnTo>
                <a:pt x="1035556" y="28984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16D85A-4DBA-4ECD-B0C8-BBCD2B2EB60E}">
      <dsp:nvSpPr>
        <dsp:cNvPr id="0" name=""/>
        <dsp:cNvSpPr/>
      </dsp:nvSpPr>
      <dsp:spPr>
        <a:xfrm>
          <a:off x="8255535" y="2133111"/>
          <a:ext cx="670510" cy="263300"/>
        </a:xfrm>
        <a:custGeom>
          <a:avLst/>
          <a:gdLst/>
          <a:ahLst/>
          <a:cxnLst/>
          <a:rect l="0" t="0" r="0" b="0"/>
          <a:pathLst>
            <a:path>
              <a:moveTo>
                <a:pt x="670510" y="0"/>
              </a:moveTo>
              <a:lnTo>
                <a:pt x="670510" y="170977"/>
              </a:lnTo>
              <a:lnTo>
                <a:pt x="0" y="170977"/>
              </a:lnTo>
              <a:lnTo>
                <a:pt x="0" y="26330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C6B536-5A1C-444F-BEB6-F6C31F67F987}">
      <dsp:nvSpPr>
        <dsp:cNvPr id="0" name=""/>
        <dsp:cNvSpPr/>
      </dsp:nvSpPr>
      <dsp:spPr>
        <a:xfrm>
          <a:off x="9260315" y="4085347"/>
          <a:ext cx="734257" cy="2898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7518"/>
              </a:lnTo>
              <a:lnTo>
                <a:pt x="734257" y="197518"/>
              </a:lnTo>
              <a:lnTo>
                <a:pt x="734257" y="28984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85710A-D795-4A5A-B1B2-AB636ABBF22B}">
      <dsp:nvSpPr>
        <dsp:cNvPr id="0" name=""/>
        <dsp:cNvSpPr/>
      </dsp:nvSpPr>
      <dsp:spPr>
        <a:xfrm>
          <a:off x="8471041" y="4085347"/>
          <a:ext cx="789274" cy="289841"/>
        </a:xfrm>
        <a:custGeom>
          <a:avLst/>
          <a:gdLst/>
          <a:ahLst/>
          <a:cxnLst/>
          <a:rect l="0" t="0" r="0" b="0"/>
          <a:pathLst>
            <a:path>
              <a:moveTo>
                <a:pt x="789274" y="0"/>
              </a:moveTo>
              <a:lnTo>
                <a:pt x="789274" y="197518"/>
              </a:lnTo>
              <a:lnTo>
                <a:pt x="0" y="197518"/>
              </a:lnTo>
              <a:lnTo>
                <a:pt x="0" y="28984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BA19E2-E735-423F-93C4-D70C6A01A3EA}">
      <dsp:nvSpPr>
        <dsp:cNvPr id="0" name=""/>
        <dsp:cNvSpPr/>
      </dsp:nvSpPr>
      <dsp:spPr>
        <a:xfrm>
          <a:off x="6573630" y="3162672"/>
          <a:ext cx="2686685" cy="2898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7518"/>
              </a:lnTo>
              <a:lnTo>
                <a:pt x="2686685" y="197518"/>
              </a:lnTo>
              <a:lnTo>
                <a:pt x="2686685" y="28984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C3BAC0-6679-4846-A9BC-2099A335B091}">
      <dsp:nvSpPr>
        <dsp:cNvPr id="0" name=""/>
        <dsp:cNvSpPr/>
      </dsp:nvSpPr>
      <dsp:spPr>
        <a:xfrm>
          <a:off x="3815719" y="4133182"/>
          <a:ext cx="3261117" cy="2898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7518"/>
              </a:lnTo>
              <a:lnTo>
                <a:pt x="3261117" y="197518"/>
              </a:lnTo>
              <a:lnTo>
                <a:pt x="3261117" y="28984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2F47E2-AB96-4CED-8F1D-E5E29DA6F9FE}">
      <dsp:nvSpPr>
        <dsp:cNvPr id="0" name=""/>
        <dsp:cNvSpPr/>
      </dsp:nvSpPr>
      <dsp:spPr>
        <a:xfrm>
          <a:off x="3815719" y="4133182"/>
          <a:ext cx="1968769" cy="2898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7518"/>
              </a:lnTo>
              <a:lnTo>
                <a:pt x="1968769" y="197518"/>
              </a:lnTo>
              <a:lnTo>
                <a:pt x="1968769" y="28984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20E28F-C472-4614-9DC2-247990C1F0CB}">
      <dsp:nvSpPr>
        <dsp:cNvPr id="0" name=""/>
        <dsp:cNvSpPr/>
      </dsp:nvSpPr>
      <dsp:spPr>
        <a:xfrm>
          <a:off x="3815719" y="4133182"/>
          <a:ext cx="684238" cy="2898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7518"/>
              </a:lnTo>
              <a:lnTo>
                <a:pt x="684238" y="197518"/>
              </a:lnTo>
              <a:lnTo>
                <a:pt x="684238" y="28984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3F3DD2-C3E7-4280-BE43-6AF90C84FEEB}">
      <dsp:nvSpPr>
        <dsp:cNvPr id="0" name=""/>
        <dsp:cNvSpPr/>
      </dsp:nvSpPr>
      <dsp:spPr>
        <a:xfrm>
          <a:off x="3178414" y="4133182"/>
          <a:ext cx="637304" cy="289841"/>
        </a:xfrm>
        <a:custGeom>
          <a:avLst/>
          <a:gdLst/>
          <a:ahLst/>
          <a:cxnLst/>
          <a:rect l="0" t="0" r="0" b="0"/>
          <a:pathLst>
            <a:path>
              <a:moveTo>
                <a:pt x="637304" y="0"/>
              </a:moveTo>
              <a:lnTo>
                <a:pt x="637304" y="197518"/>
              </a:lnTo>
              <a:lnTo>
                <a:pt x="0" y="197518"/>
              </a:lnTo>
              <a:lnTo>
                <a:pt x="0" y="28984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43E4C6-1CA5-4EC4-92E1-4A747E4E09CE}">
      <dsp:nvSpPr>
        <dsp:cNvPr id="0" name=""/>
        <dsp:cNvSpPr/>
      </dsp:nvSpPr>
      <dsp:spPr>
        <a:xfrm>
          <a:off x="1873434" y="4133182"/>
          <a:ext cx="1942284" cy="289841"/>
        </a:xfrm>
        <a:custGeom>
          <a:avLst/>
          <a:gdLst/>
          <a:ahLst/>
          <a:cxnLst/>
          <a:rect l="0" t="0" r="0" b="0"/>
          <a:pathLst>
            <a:path>
              <a:moveTo>
                <a:pt x="1942284" y="0"/>
              </a:moveTo>
              <a:lnTo>
                <a:pt x="1942284" y="197518"/>
              </a:lnTo>
              <a:lnTo>
                <a:pt x="0" y="197518"/>
              </a:lnTo>
              <a:lnTo>
                <a:pt x="0" y="28984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F5BD44-E4FF-4C34-9F06-59C1CAB8F656}">
      <dsp:nvSpPr>
        <dsp:cNvPr id="0" name=""/>
        <dsp:cNvSpPr/>
      </dsp:nvSpPr>
      <dsp:spPr>
        <a:xfrm>
          <a:off x="566262" y="4133182"/>
          <a:ext cx="3249457" cy="289841"/>
        </a:xfrm>
        <a:custGeom>
          <a:avLst/>
          <a:gdLst/>
          <a:ahLst/>
          <a:cxnLst/>
          <a:rect l="0" t="0" r="0" b="0"/>
          <a:pathLst>
            <a:path>
              <a:moveTo>
                <a:pt x="3249457" y="0"/>
              </a:moveTo>
              <a:lnTo>
                <a:pt x="3249457" y="197518"/>
              </a:lnTo>
              <a:lnTo>
                <a:pt x="0" y="197518"/>
              </a:lnTo>
              <a:lnTo>
                <a:pt x="0" y="28984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0DAE6-CC64-4D99-92F9-841B490ED3CF}">
      <dsp:nvSpPr>
        <dsp:cNvPr id="0" name=""/>
        <dsp:cNvSpPr/>
      </dsp:nvSpPr>
      <dsp:spPr>
        <a:xfrm>
          <a:off x="3815719" y="3162672"/>
          <a:ext cx="2757911" cy="289841"/>
        </a:xfrm>
        <a:custGeom>
          <a:avLst/>
          <a:gdLst/>
          <a:ahLst/>
          <a:cxnLst/>
          <a:rect l="0" t="0" r="0" b="0"/>
          <a:pathLst>
            <a:path>
              <a:moveTo>
                <a:pt x="2757911" y="0"/>
              </a:moveTo>
              <a:lnTo>
                <a:pt x="2757911" y="197518"/>
              </a:lnTo>
              <a:lnTo>
                <a:pt x="0" y="197518"/>
              </a:lnTo>
              <a:lnTo>
                <a:pt x="0" y="28984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8277CB-C94D-48B3-9CEF-6F340B71234D}">
      <dsp:nvSpPr>
        <dsp:cNvPr id="0" name=""/>
        <dsp:cNvSpPr/>
      </dsp:nvSpPr>
      <dsp:spPr>
        <a:xfrm>
          <a:off x="6573630" y="2133111"/>
          <a:ext cx="2352415" cy="289841"/>
        </a:xfrm>
        <a:custGeom>
          <a:avLst/>
          <a:gdLst/>
          <a:ahLst/>
          <a:cxnLst/>
          <a:rect l="0" t="0" r="0" b="0"/>
          <a:pathLst>
            <a:path>
              <a:moveTo>
                <a:pt x="2352415" y="0"/>
              </a:moveTo>
              <a:lnTo>
                <a:pt x="2352415" y="197518"/>
              </a:lnTo>
              <a:lnTo>
                <a:pt x="0" y="197518"/>
              </a:lnTo>
              <a:lnTo>
                <a:pt x="0" y="28984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E343A1-ECC0-4DD3-90EB-5C15C37C3A25}">
      <dsp:nvSpPr>
        <dsp:cNvPr id="0" name=""/>
        <dsp:cNvSpPr/>
      </dsp:nvSpPr>
      <dsp:spPr>
        <a:xfrm>
          <a:off x="8427752" y="1500277"/>
          <a:ext cx="996588" cy="6328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CE112DD-4EF1-434B-8544-1057E38A994B}">
      <dsp:nvSpPr>
        <dsp:cNvPr id="0" name=""/>
        <dsp:cNvSpPr/>
      </dsp:nvSpPr>
      <dsp:spPr>
        <a:xfrm>
          <a:off x="8538484" y="1605473"/>
          <a:ext cx="996588" cy="6328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/>
            <a:t>RBI</a:t>
          </a:r>
        </a:p>
      </dsp:txBody>
      <dsp:txXfrm>
        <a:off x="8557019" y="1624008"/>
        <a:ext cx="959518" cy="595763"/>
      </dsp:txXfrm>
    </dsp:sp>
    <dsp:sp modelId="{70B1E89D-4002-42C4-82AD-2B8B08E9318B}">
      <dsp:nvSpPr>
        <dsp:cNvPr id="0" name=""/>
        <dsp:cNvSpPr/>
      </dsp:nvSpPr>
      <dsp:spPr>
        <a:xfrm>
          <a:off x="5889422" y="2422952"/>
          <a:ext cx="1368415" cy="7397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A7565B0-6007-41F6-BE07-FF64E2A3AFB7}">
      <dsp:nvSpPr>
        <dsp:cNvPr id="0" name=""/>
        <dsp:cNvSpPr/>
      </dsp:nvSpPr>
      <dsp:spPr>
        <a:xfrm>
          <a:off x="6000154" y="2528148"/>
          <a:ext cx="1368415" cy="7397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/>
            <a:t>Scheduled Banks</a:t>
          </a:r>
        </a:p>
      </dsp:txBody>
      <dsp:txXfrm>
        <a:off x="6021820" y="2549814"/>
        <a:ext cx="1325083" cy="696387"/>
      </dsp:txXfrm>
    </dsp:sp>
    <dsp:sp modelId="{831B3E6E-2988-4756-B3B8-8A575AC18DAF}">
      <dsp:nvSpPr>
        <dsp:cNvPr id="0" name=""/>
        <dsp:cNvSpPr/>
      </dsp:nvSpPr>
      <dsp:spPr>
        <a:xfrm>
          <a:off x="3096576" y="3452513"/>
          <a:ext cx="1438286" cy="68066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E0E742A-FCD0-4687-AB27-802D253160DB}">
      <dsp:nvSpPr>
        <dsp:cNvPr id="0" name=""/>
        <dsp:cNvSpPr/>
      </dsp:nvSpPr>
      <dsp:spPr>
        <a:xfrm>
          <a:off x="3207308" y="3557708"/>
          <a:ext cx="1438286" cy="6806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/>
            <a:t>Commercial Banks</a:t>
          </a:r>
        </a:p>
      </dsp:txBody>
      <dsp:txXfrm>
        <a:off x="3227244" y="3577644"/>
        <a:ext cx="1398414" cy="640797"/>
      </dsp:txXfrm>
    </dsp:sp>
    <dsp:sp modelId="{E941C6B2-A95E-4873-ACC7-B686312ECB2B}">
      <dsp:nvSpPr>
        <dsp:cNvPr id="0" name=""/>
        <dsp:cNvSpPr/>
      </dsp:nvSpPr>
      <dsp:spPr>
        <a:xfrm>
          <a:off x="5386" y="4423024"/>
          <a:ext cx="1121750" cy="86772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4461C01-4490-4F77-A558-BFD4658A9AE1}">
      <dsp:nvSpPr>
        <dsp:cNvPr id="0" name=""/>
        <dsp:cNvSpPr/>
      </dsp:nvSpPr>
      <dsp:spPr>
        <a:xfrm>
          <a:off x="116119" y="4528219"/>
          <a:ext cx="1121750" cy="8677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/>
            <a:t>Public Sector Banks</a:t>
          </a:r>
        </a:p>
      </dsp:txBody>
      <dsp:txXfrm>
        <a:off x="141534" y="4553634"/>
        <a:ext cx="1070920" cy="816892"/>
      </dsp:txXfrm>
    </dsp:sp>
    <dsp:sp modelId="{54B42F7D-739D-440D-B356-945CA6564C57}">
      <dsp:nvSpPr>
        <dsp:cNvPr id="0" name=""/>
        <dsp:cNvSpPr/>
      </dsp:nvSpPr>
      <dsp:spPr>
        <a:xfrm>
          <a:off x="1348601" y="4423024"/>
          <a:ext cx="1049666" cy="85220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FF63002-D2FA-40A0-845B-5E75555871AC}">
      <dsp:nvSpPr>
        <dsp:cNvPr id="0" name=""/>
        <dsp:cNvSpPr/>
      </dsp:nvSpPr>
      <dsp:spPr>
        <a:xfrm>
          <a:off x="1459333" y="4528219"/>
          <a:ext cx="1049666" cy="8522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/>
            <a:t>Private Sector Banks</a:t>
          </a:r>
        </a:p>
      </dsp:txBody>
      <dsp:txXfrm>
        <a:off x="1484293" y="4553179"/>
        <a:ext cx="999746" cy="802285"/>
      </dsp:txXfrm>
    </dsp:sp>
    <dsp:sp modelId="{DC690ED2-3B0A-40BD-8DD0-F4825D0C239A}">
      <dsp:nvSpPr>
        <dsp:cNvPr id="0" name=""/>
        <dsp:cNvSpPr/>
      </dsp:nvSpPr>
      <dsp:spPr>
        <a:xfrm>
          <a:off x="2619732" y="4423024"/>
          <a:ext cx="1117365" cy="85283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BE6FB09-8319-422A-A345-F3043485EB04}">
      <dsp:nvSpPr>
        <dsp:cNvPr id="0" name=""/>
        <dsp:cNvSpPr/>
      </dsp:nvSpPr>
      <dsp:spPr>
        <a:xfrm>
          <a:off x="2730464" y="4528219"/>
          <a:ext cx="1117365" cy="8528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/>
            <a:t>Regional Rural Banks</a:t>
          </a:r>
        </a:p>
      </dsp:txBody>
      <dsp:txXfrm>
        <a:off x="2755443" y="4553198"/>
        <a:ext cx="1067407" cy="802880"/>
      </dsp:txXfrm>
    </dsp:sp>
    <dsp:sp modelId="{E90AAC47-202E-4E5A-9818-EF368F9F2DD1}">
      <dsp:nvSpPr>
        <dsp:cNvPr id="0" name=""/>
        <dsp:cNvSpPr/>
      </dsp:nvSpPr>
      <dsp:spPr>
        <a:xfrm>
          <a:off x="3958561" y="4423024"/>
          <a:ext cx="1082793" cy="86670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AC82886-3F12-42B3-8763-5A49193FDDED}">
      <dsp:nvSpPr>
        <dsp:cNvPr id="0" name=""/>
        <dsp:cNvSpPr/>
      </dsp:nvSpPr>
      <dsp:spPr>
        <a:xfrm>
          <a:off x="4069293" y="4528219"/>
          <a:ext cx="1082793" cy="8667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/>
            <a:t>Foreign Banks</a:t>
          </a:r>
        </a:p>
      </dsp:txBody>
      <dsp:txXfrm>
        <a:off x="4094678" y="4553604"/>
        <a:ext cx="1032023" cy="815933"/>
      </dsp:txXfrm>
    </dsp:sp>
    <dsp:sp modelId="{84C50D94-79A2-4CBB-B2BE-D678DFE8BE59}">
      <dsp:nvSpPr>
        <dsp:cNvPr id="0" name=""/>
        <dsp:cNvSpPr/>
      </dsp:nvSpPr>
      <dsp:spPr>
        <a:xfrm>
          <a:off x="5262819" y="4423024"/>
          <a:ext cx="1043338" cy="87955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9023944-12F7-4D5F-82E9-B0E4CAD50D75}">
      <dsp:nvSpPr>
        <dsp:cNvPr id="0" name=""/>
        <dsp:cNvSpPr/>
      </dsp:nvSpPr>
      <dsp:spPr>
        <a:xfrm>
          <a:off x="5373551" y="4528219"/>
          <a:ext cx="1043338" cy="879550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F19D19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212121">
                  <a:hueOff val="0"/>
                  <a:satOff val="0"/>
                  <a:lumOff val="0"/>
                  <a:alphaOff val="0"/>
                </a:srgbClr>
              </a:solidFill>
              <a:latin typeface="Roboto Condensed"/>
              <a:ea typeface="+mn-ea"/>
              <a:cs typeface="+mn-cs"/>
            </a:rPr>
            <a:t>Small Finance Banks</a:t>
          </a:r>
          <a:endParaRPr lang="en-IN" sz="2000" b="1" kern="1200" dirty="0">
            <a:solidFill>
              <a:srgbClr val="212121">
                <a:hueOff val="0"/>
                <a:satOff val="0"/>
                <a:lumOff val="0"/>
                <a:alphaOff val="0"/>
              </a:srgbClr>
            </a:solidFill>
            <a:latin typeface="Roboto Condensed"/>
            <a:ea typeface="+mn-ea"/>
            <a:cs typeface="+mn-cs"/>
          </a:endParaRPr>
        </a:p>
      </dsp:txBody>
      <dsp:txXfrm>
        <a:off x="5399312" y="4553980"/>
        <a:ext cx="991816" cy="828028"/>
      </dsp:txXfrm>
    </dsp:sp>
    <dsp:sp modelId="{33D32D85-3396-4966-92BC-4309C399680A}">
      <dsp:nvSpPr>
        <dsp:cNvPr id="0" name=""/>
        <dsp:cNvSpPr/>
      </dsp:nvSpPr>
      <dsp:spPr>
        <a:xfrm>
          <a:off x="6527621" y="4423024"/>
          <a:ext cx="1098429" cy="86038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67998CD-D9CF-4D55-8208-CDF2FCCE6CED}">
      <dsp:nvSpPr>
        <dsp:cNvPr id="0" name=""/>
        <dsp:cNvSpPr/>
      </dsp:nvSpPr>
      <dsp:spPr>
        <a:xfrm>
          <a:off x="6638353" y="4528219"/>
          <a:ext cx="1098429" cy="860388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F19D19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rgbClr val="212121">
                  <a:hueOff val="0"/>
                  <a:satOff val="0"/>
                  <a:lumOff val="0"/>
                  <a:alphaOff val="0"/>
                </a:srgbClr>
              </a:solidFill>
              <a:latin typeface="Roboto Condensed"/>
              <a:ea typeface="+mn-ea"/>
              <a:cs typeface="+mn-cs"/>
            </a:rPr>
            <a:t>Payment</a:t>
          </a:r>
          <a:r>
            <a:rPr lang="en-US" sz="1900" kern="1200" dirty="0"/>
            <a:t> </a:t>
          </a:r>
          <a:r>
            <a:rPr lang="en-US" sz="1900" b="1" kern="1200" dirty="0"/>
            <a:t>Banks</a:t>
          </a:r>
          <a:endParaRPr lang="en-IN" sz="1900" b="1" kern="1200" dirty="0"/>
        </a:p>
      </dsp:txBody>
      <dsp:txXfrm>
        <a:off x="6663553" y="4553419"/>
        <a:ext cx="1048029" cy="809988"/>
      </dsp:txXfrm>
    </dsp:sp>
    <dsp:sp modelId="{654B4425-B0ED-43F5-B778-EA8C71D0C343}">
      <dsp:nvSpPr>
        <dsp:cNvPr id="0" name=""/>
        <dsp:cNvSpPr/>
      </dsp:nvSpPr>
      <dsp:spPr>
        <a:xfrm>
          <a:off x="8469946" y="3452513"/>
          <a:ext cx="1580738" cy="63283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7663A7E-231B-4AAF-A523-04D8BCE8290C}">
      <dsp:nvSpPr>
        <dsp:cNvPr id="0" name=""/>
        <dsp:cNvSpPr/>
      </dsp:nvSpPr>
      <dsp:spPr>
        <a:xfrm>
          <a:off x="8580678" y="3557708"/>
          <a:ext cx="1580738" cy="6328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/>
            <a:t>Co-operative Banks</a:t>
          </a:r>
        </a:p>
      </dsp:txBody>
      <dsp:txXfrm>
        <a:off x="8599213" y="3576243"/>
        <a:ext cx="1543668" cy="595763"/>
      </dsp:txXfrm>
    </dsp:sp>
    <dsp:sp modelId="{8545E689-5778-4E33-9C40-5A8CE5AF095E}">
      <dsp:nvSpPr>
        <dsp:cNvPr id="0" name=""/>
        <dsp:cNvSpPr/>
      </dsp:nvSpPr>
      <dsp:spPr>
        <a:xfrm>
          <a:off x="7847515" y="4375188"/>
          <a:ext cx="1247051" cy="98619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C571628-E48E-491D-8C56-9C3968FF7E74}">
      <dsp:nvSpPr>
        <dsp:cNvPr id="0" name=""/>
        <dsp:cNvSpPr/>
      </dsp:nvSpPr>
      <dsp:spPr>
        <a:xfrm>
          <a:off x="7958247" y="4480383"/>
          <a:ext cx="1247051" cy="9861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/>
            <a:t>Urban Co-operative Banks</a:t>
          </a:r>
        </a:p>
      </dsp:txBody>
      <dsp:txXfrm>
        <a:off x="7987132" y="4509268"/>
        <a:ext cx="1189281" cy="928425"/>
      </dsp:txXfrm>
    </dsp:sp>
    <dsp:sp modelId="{74868ED4-D2BB-45B5-AE86-FD32A4C11D4B}">
      <dsp:nvSpPr>
        <dsp:cNvPr id="0" name=""/>
        <dsp:cNvSpPr/>
      </dsp:nvSpPr>
      <dsp:spPr>
        <a:xfrm>
          <a:off x="9316031" y="4375188"/>
          <a:ext cx="1357084" cy="95456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97CD5D8-BA61-4A9B-BEE0-00AF96576B2B}">
      <dsp:nvSpPr>
        <dsp:cNvPr id="0" name=""/>
        <dsp:cNvSpPr/>
      </dsp:nvSpPr>
      <dsp:spPr>
        <a:xfrm>
          <a:off x="9426763" y="4480383"/>
          <a:ext cx="1357084" cy="9545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/>
            <a:t>Rural Co-operative Banks</a:t>
          </a:r>
        </a:p>
      </dsp:txBody>
      <dsp:txXfrm>
        <a:off x="9454721" y="4508341"/>
        <a:ext cx="1301168" cy="898644"/>
      </dsp:txXfrm>
    </dsp:sp>
    <dsp:sp modelId="{BDAF3C53-3C2E-4E4A-B70D-8D2300FB835A}">
      <dsp:nvSpPr>
        <dsp:cNvPr id="0" name=""/>
        <dsp:cNvSpPr/>
      </dsp:nvSpPr>
      <dsp:spPr>
        <a:xfrm>
          <a:off x="7516624" y="2396411"/>
          <a:ext cx="1477821" cy="79199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7976DF0-733A-4F51-88E9-DFBC1E022584}">
      <dsp:nvSpPr>
        <dsp:cNvPr id="0" name=""/>
        <dsp:cNvSpPr/>
      </dsp:nvSpPr>
      <dsp:spPr>
        <a:xfrm>
          <a:off x="7627356" y="2501607"/>
          <a:ext cx="1477821" cy="791991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8BC14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rgbClr val="212121">
                  <a:hueOff val="0"/>
                  <a:satOff val="0"/>
                  <a:lumOff val="0"/>
                  <a:alphaOff val="0"/>
                </a:srgbClr>
              </a:solidFill>
              <a:latin typeface="Roboto Condensed"/>
              <a:ea typeface="+mn-ea"/>
              <a:cs typeface="+mn-cs"/>
            </a:rPr>
            <a:t>Non-Scheduled</a:t>
          </a:r>
          <a:r>
            <a:rPr lang="en-US" sz="2000" b="1" kern="1200" dirty="0"/>
            <a:t> Banks</a:t>
          </a:r>
        </a:p>
      </dsp:txBody>
      <dsp:txXfrm>
        <a:off x="7650553" y="2524804"/>
        <a:ext cx="1431427" cy="745597"/>
      </dsp:txXfrm>
    </dsp:sp>
    <dsp:sp modelId="{25EC1C09-3745-4EE6-B915-247635F8CBD2}">
      <dsp:nvSpPr>
        <dsp:cNvPr id="0" name=""/>
        <dsp:cNvSpPr/>
      </dsp:nvSpPr>
      <dsp:spPr>
        <a:xfrm>
          <a:off x="9178587" y="2422952"/>
          <a:ext cx="1566029" cy="73576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EAE43C3-0FBE-48FB-9AA9-D104F2A32242}">
      <dsp:nvSpPr>
        <dsp:cNvPr id="0" name=""/>
        <dsp:cNvSpPr/>
      </dsp:nvSpPr>
      <dsp:spPr>
        <a:xfrm>
          <a:off x="9289320" y="2528148"/>
          <a:ext cx="1566029" cy="7357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/>
            <a:t>Development Banks</a:t>
          </a:r>
        </a:p>
      </dsp:txBody>
      <dsp:txXfrm>
        <a:off x="9310870" y="2549698"/>
        <a:ext cx="1522929" cy="692664"/>
      </dsp:txXfrm>
    </dsp:sp>
    <dsp:sp modelId="{77987726-1818-42DC-B45A-CAFA3938016B}">
      <dsp:nvSpPr>
        <dsp:cNvPr id="0" name=""/>
        <dsp:cNvSpPr/>
      </dsp:nvSpPr>
      <dsp:spPr>
        <a:xfrm>
          <a:off x="10966081" y="2422952"/>
          <a:ext cx="996588" cy="73576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CCB79FC-4F8E-4783-B3EB-F43D11816867}">
      <dsp:nvSpPr>
        <dsp:cNvPr id="0" name=""/>
        <dsp:cNvSpPr/>
      </dsp:nvSpPr>
      <dsp:spPr>
        <a:xfrm>
          <a:off x="11076813" y="2528148"/>
          <a:ext cx="996588" cy="7357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/>
            <a:t>NBFCs</a:t>
          </a:r>
        </a:p>
      </dsp:txBody>
      <dsp:txXfrm>
        <a:off x="11098363" y="2549698"/>
        <a:ext cx="953488" cy="6926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47BFD2-47B6-43CC-9FDC-97D35D59349E}">
      <dsp:nvSpPr>
        <dsp:cNvPr id="0" name=""/>
        <dsp:cNvSpPr/>
      </dsp:nvSpPr>
      <dsp:spPr>
        <a:xfrm>
          <a:off x="135411" y="2163"/>
          <a:ext cx="2327485" cy="6805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kern="1200" dirty="0"/>
            <a:t>Types of Commercial Banks</a:t>
          </a:r>
        </a:p>
      </dsp:txBody>
      <dsp:txXfrm>
        <a:off x="155345" y="22097"/>
        <a:ext cx="2287617" cy="640715"/>
      </dsp:txXfrm>
    </dsp:sp>
    <dsp:sp modelId="{DF7F71E1-4B3B-4326-B672-D1B569B6126F}">
      <dsp:nvSpPr>
        <dsp:cNvPr id="0" name=""/>
        <dsp:cNvSpPr/>
      </dsp:nvSpPr>
      <dsp:spPr>
        <a:xfrm>
          <a:off x="368160" y="682746"/>
          <a:ext cx="232748" cy="5104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0437"/>
              </a:lnTo>
              <a:lnTo>
                <a:pt x="232748" y="51043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892563-564F-44E4-A266-1EC2734095C0}">
      <dsp:nvSpPr>
        <dsp:cNvPr id="0" name=""/>
        <dsp:cNvSpPr/>
      </dsp:nvSpPr>
      <dsp:spPr>
        <a:xfrm>
          <a:off x="600908" y="852892"/>
          <a:ext cx="1883668" cy="680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kern="1200" dirty="0"/>
            <a:t>(</a:t>
          </a:r>
          <a:r>
            <a:rPr lang="en-IN" sz="2100" kern="1200" dirty="0" err="1"/>
            <a:t>i</a:t>
          </a:r>
          <a:r>
            <a:rPr lang="en-IN" sz="2100" kern="1200" dirty="0"/>
            <a:t>) Public Sector Banks</a:t>
          </a:r>
        </a:p>
      </dsp:txBody>
      <dsp:txXfrm>
        <a:off x="620842" y="872826"/>
        <a:ext cx="1843800" cy="640715"/>
      </dsp:txXfrm>
    </dsp:sp>
    <dsp:sp modelId="{952C2306-075C-4CF8-9C3B-AAEB1F842B4B}">
      <dsp:nvSpPr>
        <dsp:cNvPr id="0" name=""/>
        <dsp:cNvSpPr/>
      </dsp:nvSpPr>
      <dsp:spPr>
        <a:xfrm>
          <a:off x="368160" y="682746"/>
          <a:ext cx="232748" cy="13611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1166"/>
              </a:lnTo>
              <a:lnTo>
                <a:pt x="232748" y="136116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696B3C-F933-4E40-AA14-50A853FF287D}">
      <dsp:nvSpPr>
        <dsp:cNvPr id="0" name=""/>
        <dsp:cNvSpPr/>
      </dsp:nvSpPr>
      <dsp:spPr>
        <a:xfrm>
          <a:off x="600908" y="1703621"/>
          <a:ext cx="1882525" cy="680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kern="1200" dirty="0"/>
            <a:t>(ii) Private Sector Banks</a:t>
          </a:r>
        </a:p>
      </dsp:txBody>
      <dsp:txXfrm>
        <a:off x="620842" y="1723555"/>
        <a:ext cx="1842657" cy="640715"/>
      </dsp:txXfrm>
    </dsp:sp>
    <dsp:sp modelId="{CF0249C4-53CF-4F76-BDA1-54723AE2A72B}">
      <dsp:nvSpPr>
        <dsp:cNvPr id="0" name=""/>
        <dsp:cNvSpPr/>
      </dsp:nvSpPr>
      <dsp:spPr>
        <a:xfrm>
          <a:off x="368160" y="682746"/>
          <a:ext cx="232748" cy="22118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1895"/>
              </a:lnTo>
              <a:lnTo>
                <a:pt x="232748" y="22118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00F93F-71F5-42E0-AC07-FD3043F8DC72}">
      <dsp:nvSpPr>
        <dsp:cNvPr id="0" name=""/>
        <dsp:cNvSpPr/>
      </dsp:nvSpPr>
      <dsp:spPr>
        <a:xfrm>
          <a:off x="600908" y="2554349"/>
          <a:ext cx="1883668" cy="680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kern="1200" dirty="0"/>
            <a:t>(iii) Foreign Banks</a:t>
          </a:r>
        </a:p>
      </dsp:txBody>
      <dsp:txXfrm>
        <a:off x="620842" y="2574283"/>
        <a:ext cx="1843800" cy="640715"/>
      </dsp:txXfrm>
    </dsp:sp>
    <dsp:sp modelId="{B77A50C7-E73C-4EC2-9DDE-0EEDC8EA4FBC}">
      <dsp:nvSpPr>
        <dsp:cNvPr id="0" name=""/>
        <dsp:cNvSpPr/>
      </dsp:nvSpPr>
      <dsp:spPr>
        <a:xfrm>
          <a:off x="368160" y="682746"/>
          <a:ext cx="232748" cy="30626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62623"/>
              </a:lnTo>
              <a:lnTo>
                <a:pt x="232748" y="306262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57F0C9-AAF1-4503-8BED-DB207A908C6E}">
      <dsp:nvSpPr>
        <dsp:cNvPr id="0" name=""/>
        <dsp:cNvSpPr/>
      </dsp:nvSpPr>
      <dsp:spPr>
        <a:xfrm>
          <a:off x="600908" y="3405078"/>
          <a:ext cx="1883668" cy="680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(iv) R</a:t>
          </a:r>
          <a:r>
            <a:rPr lang="en-IN" sz="2100" kern="1200" dirty="0" err="1"/>
            <a:t>egional</a:t>
          </a:r>
          <a:r>
            <a:rPr lang="en-IN" sz="2100" kern="1200" dirty="0"/>
            <a:t> rural banks</a:t>
          </a:r>
        </a:p>
      </dsp:txBody>
      <dsp:txXfrm>
        <a:off x="620842" y="3425012"/>
        <a:ext cx="1843800" cy="640715"/>
      </dsp:txXfrm>
    </dsp:sp>
    <dsp:sp modelId="{9F825F2C-596F-4D26-8FE7-DD209EFF73E3}">
      <dsp:nvSpPr>
        <dsp:cNvPr id="0" name=""/>
        <dsp:cNvSpPr/>
      </dsp:nvSpPr>
      <dsp:spPr>
        <a:xfrm>
          <a:off x="368160" y="682746"/>
          <a:ext cx="232748" cy="39133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13352"/>
              </a:lnTo>
              <a:lnTo>
                <a:pt x="232748" y="391335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93C482-3020-4DB5-8788-9B15AF130F6F}">
      <dsp:nvSpPr>
        <dsp:cNvPr id="0" name=""/>
        <dsp:cNvSpPr/>
      </dsp:nvSpPr>
      <dsp:spPr>
        <a:xfrm>
          <a:off x="600908" y="4255807"/>
          <a:ext cx="1883668" cy="680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(v) Small Finance Bank</a:t>
          </a:r>
          <a:endParaRPr lang="en-IN" sz="2100" kern="1200" dirty="0"/>
        </a:p>
      </dsp:txBody>
      <dsp:txXfrm>
        <a:off x="620842" y="4275741"/>
        <a:ext cx="1843800" cy="640715"/>
      </dsp:txXfrm>
    </dsp:sp>
    <dsp:sp modelId="{16F10C3D-AE92-4296-8EAF-9ADD2C36FD9A}">
      <dsp:nvSpPr>
        <dsp:cNvPr id="0" name=""/>
        <dsp:cNvSpPr/>
      </dsp:nvSpPr>
      <dsp:spPr>
        <a:xfrm>
          <a:off x="368160" y="682746"/>
          <a:ext cx="232748" cy="47640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64081"/>
              </a:lnTo>
              <a:lnTo>
                <a:pt x="232748" y="476408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B19569-0273-4D8B-BDEA-5B339038098A}">
      <dsp:nvSpPr>
        <dsp:cNvPr id="0" name=""/>
        <dsp:cNvSpPr/>
      </dsp:nvSpPr>
      <dsp:spPr>
        <a:xfrm>
          <a:off x="600908" y="5106536"/>
          <a:ext cx="1883668" cy="680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(vi) Payment Banks</a:t>
          </a:r>
          <a:endParaRPr lang="en-IN" sz="2100" kern="1200" dirty="0"/>
        </a:p>
      </dsp:txBody>
      <dsp:txXfrm>
        <a:off x="620842" y="5126470"/>
        <a:ext cx="1843800" cy="6407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CEBD0-5738-48E8-8EC1-E4DC63265A23}">
      <dsp:nvSpPr>
        <dsp:cNvPr id="0" name=""/>
        <dsp:cNvSpPr/>
      </dsp:nvSpPr>
      <dsp:spPr>
        <a:xfrm>
          <a:off x="5964237" y="947744"/>
          <a:ext cx="3334910" cy="14234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11711"/>
              </a:lnTo>
              <a:lnTo>
                <a:pt x="3334910" y="711711"/>
              </a:lnTo>
              <a:lnTo>
                <a:pt x="3334910" y="1423422"/>
              </a:lnTo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BB6CBD-DCA9-4852-83B6-F9E5A09157DD}">
      <dsp:nvSpPr>
        <dsp:cNvPr id="0" name=""/>
        <dsp:cNvSpPr/>
      </dsp:nvSpPr>
      <dsp:spPr>
        <a:xfrm>
          <a:off x="2628005" y="947744"/>
          <a:ext cx="3336232" cy="1423422"/>
        </a:xfrm>
        <a:custGeom>
          <a:avLst/>
          <a:gdLst/>
          <a:ahLst/>
          <a:cxnLst/>
          <a:rect l="0" t="0" r="0" b="0"/>
          <a:pathLst>
            <a:path>
              <a:moveTo>
                <a:pt x="3336232" y="0"/>
              </a:moveTo>
              <a:lnTo>
                <a:pt x="3336232" y="711711"/>
              </a:lnTo>
              <a:lnTo>
                <a:pt x="0" y="711711"/>
              </a:lnTo>
              <a:lnTo>
                <a:pt x="0" y="1423422"/>
              </a:lnTo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CAB3C5-8D38-493C-B0B3-67FDE3A4DEA9}">
      <dsp:nvSpPr>
        <dsp:cNvPr id="0" name=""/>
        <dsp:cNvSpPr/>
      </dsp:nvSpPr>
      <dsp:spPr>
        <a:xfrm>
          <a:off x="3307011" y="342925"/>
          <a:ext cx="5314451" cy="604819"/>
        </a:xfrm>
        <a:prstGeom prst="rect">
          <a:avLst/>
        </a:prstGeom>
        <a:solidFill>
          <a:schemeClr val="accent4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b="1" kern="1200" dirty="0"/>
            <a:t>Co-operative Bank</a:t>
          </a:r>
          <a:endParaRPr lang="en-IN" sz="3600" b="1" kern="1200" dirty="0"/>
        </a:p>
      </dsp:txBody>
      <dsp:txXfrm>
        <a:off x="3307011" y="342925"/>
        <a:ext cx="5314451" cy="604819"/>
      </dsp:txXfrm>
    </dsp:sp>
    <dsp:sp modelId="{50F08139-308D-486D-B3BC-7DADD927C83C}">
      <dsp:nvSpPr>
        <dsp:cNvPr id="0" name=""/>
        <dsp:cNvSpPr/>
      </dsp:nvSpPr>
      <dsp:spPr>
        <a:xfrm>
          <a:off x="4806" y="2371167"/>
          <a:ext cx="5246398" cy="556287"/>
        </a:xfrm>
        <a:prstGeom prst="rect">
          <a:avLst/>
        </a:prstGeom>
        <a:solidFill>
          <a:srgbClr val="FFC000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b="1" kern="1200" dirty="0">
              <a:solidFill>
                <a:schemeClr val="tx1"/>
              </a:solidFill>
            </a:rPr>
            <a:t>Urban Co-operative banks</a:t>
          </a:r>
          <a:endParaRPr lang="en-IN" sz="3600" b="1" kern="1200" dirty="0">
            <a:solidFill>
              <a:schemeClr val="tx1"/>
            </a:solidFill>
          </a:endParaRPr>
        </a:p>
      </dsp:txBody>
      <dsp:txXfrm>
        <a:off x="4806" y="2371167"/>
        <a:ext cx="5246398" cy="556287"/>
      </dsp:txXfrm>
    </dsp:sp>
    <dsp:sp modelId="{009ECB25-D3E0-49C6-8716-E543B6FD0205}">
      <dsp:nvSpPr>
        <dsp:cNvPr id="0" name=""/>
        <dsp:cNvSpPr/>
      </dsp:nvSpPr>
      <dsp:spPr>
        <a:xfrm>
          <a:off x="6674627" y="2371167"/>
          <a:ext cx="5249041" cy="551678"/>
        </a:xfrm>
        <a:prstGeom prst="rect">
          <a:avLst/>
        </a:prstGeom>
        <a:solidFill>
          <a:srgbClr val="FFC000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b="1" kern="1200" dirty="0">
              <a:solidFill>
                <a:schemeClr val="tx1"/>
              </a:solidFill>
            </a:rPr>
            <a:t>Rural Co-operative Banks</a:t>
          </a:r>
          <a:endParaRPr lang="en-IN" sz="3600" b="1" kern="1200" dirty="0">
            <a:solidFill>
              <a:schemeClr val="tx1"/>
            </a:solidFill>
          </a:endParaRPr>
        </a:p>
      </dsp:txBody>
      <dsp:txXfrm>
        <a:off x="6674627" y="2371167"/>
        <a:ext cx="5249041" cy="5516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7E3301-007A-4ADF-A6CC-571C4B2D8E53}">
      <dsp:nvSpPr>
        <dsp:cNvPr id="0" name=""/>
        <dsp:cNvSpPr/>
      </dsp:nvSpPr>
      <dsp:spPr>
        <a:xfrm>
          <a:off x="5864639" y="1140006"/>
          <a:ext cx="3471096" cy="5213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5316"/>
              </a:lnTo>
              <a:lnTo>
                <a:pt x="3471096" y="355316"/>
              </a:lnTo>
              <a:lnTo>
                <a:pt x="3471096" y="52139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38B405-09B6-45A1-9EDC-F7F53A9101C9}">
      <dsp:nvSpPr>
        <dsp:cNvPr id="0" name=""/>
        <dsp:cNvSpPr/>
      </dsp:nvSpPr>
      <dsp:spPr>
        <a:xfrm>
          <a:off x="5864639" y="1140006"/>
          <a:ext cx="1279938" cy="5213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5316"/>
              </a:lnTo>
              <a:lnTo>
                <a:pt x="1279938" y="355316"/>
              </a:lnTo>
              <a:lnTo>
                <a:pt x="1279938" y="52139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5B1DB2-4F5D-4152-9E1B-2BEFAAB16A5A}">
      <dsp:nvSpPr>
        <dsp:cNvPr id="0" name=""/>
        <dsp:cNvSpPr/>
      </dsp:nvSpPr>
      <dsp:spPr>
        <a:xfrm>
          <a:off x="4769060" y="1140006"/>
          <a:ext cx="1095579" cy="521396"/>
        </a:xfrm>
        <a:custGeom>
          <a:avLst/>
          <a:gdLst/>
          <a:ahLst/>
          <a:cxnLst/>
          <a:rect l="0" t="0" r="0" b="0"/>
          <a:pathLst>
            <a:path>
              <a:moveTo>
                <a:pt x="1095579" y="0"/>
              </a:moveTo>
              <a:lnTo>
                <a:pt x="1095579" y="355316"/>
              </a:lnTo>
              <a:lnTo>
                <a:pt x="0" y="355316"/>
              </a:lnTo>
              <a:lnTo>
                <a:pt x="0" y="52139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0858F0-F835-4D75-8DBC-9E26988ADF23}">
      <dsp:nvSpPr>
        <dsp:cNvPr id="0" name=""/>
        <dsp:cNvSpPr/>
      </dsp:nvSpPr>
      <dsp:spPr>
        <a:xfrm>
          <a:off x="2393542" y="1140006"/>
          <a:ext cx="3471096" cy="521396"/>
        </a:xfrm>
        <a:custGeom>
          <a:avLst/>
          <a:gdLst/>
          <a:ahLst/>
          <a:cxnLst/>
          <a:rect l="0" t="0" r="0" b="0"/>
          <a:pathLst>
            <a:path>
              <a:moveTo>
                <a:pt x="3471096" y="0"/>
              </a:moveTo>
              <a:lnTo>
                <a:pt x="3471096" y="355316"/>
              </a:lnTo>
              <a:lnTo>
                <a:pt x="0" y="355316"/>
              </a:lnTo>
              <a:lnTo>
                <a:pt x="0" y="52139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56E14E-9766-4D70-B15F-AB61EC8C0554}">
      <dsp:nvSpPr>
        <dsp:cNvPr id="0" name=""/>
        <dsp:cNvSpPr/>
      </dsp:nvSpPr>
      <dsp:spPr>
        <a:xfrm>
          <a:off x="4968256" y="1599"/>
          <a:ext cx="1792765" cy="11384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2A31547-3080-409F-90AE-23A358E66FAE}">
      <dsp:nvSpPr>
        <dsp:cNvPr id="0" name=""/>
        <dsp:cNvSpPr/>
      </dsp:nvSpPr>
      <dsp:spPr>
        <a:xfrm>
          <a:off x="5167452" y="190836"/>
          <a:ext cx="1792765" cy="11384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Development Financial Institutions</a:t>
          </a:r>
          <a:endParaRPr lang="en-US" sz="2000" kern="1200" dirty="0"/>
        </a:p>
      </dsp:txBody>
      <dsp:txXfrm>
        <a:off x="5200795" y="224179"/>
        <a:ext cx="1726079" cy="1071720"/>
      </dsp:txXfrm>
    </dsp:sp>
    <dsp:sp modelId="{9467613C-3B3B-4298-9B25-89870E027C7E}">
      <dsp:nvSpPr>
        <dsp:cNvPr id="0" name=""/>
        <dsp:cNvSpPr/>
      </dsp:nvSpPr>
      <dsp:spPr>
        <a:xfrm>
          <a:off x="1497159" y="1661402"/>
          <a:ext cx="1792765" cy="11384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518FD3E-2025-4FDF-B32F-39C29A311B8F}">
      <dsp:nvSpPr>
        <dsp:cNvPr id="0" name=""/>
        <dsp:cNvSpPr/>
      </dsp:nvSpPr>
      <dsp:spPr>
        <a:xfrm>
          <a:off x="1696356" y="1850638"/>
          <a:ext cx="1792765" cy="11384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Industrial</a:t>
          </a:r>
          <a:r>
            <a:rPr lang="en-US" sz="2000" kern="1200" baseline="0" dirty="0"/>
            <a:t> Development Banks</a:t>
          </a:r>
          <a:endParaRPr lang="en-US" sz="2000" kern="1200" dirty="0"/>
        </a:p>
      </dsp:txBody>
      <dsp:txXfrm>
        <a:off x="1729699" y="1883981"/>
        <a:ext cx="1726079" cy="1071720"/>
      </dsp:txXfrm>
    </dsp:sp>
    <dsp:sp modelId="{D0722775-25C9-4188-891C-2A6B501202E0}">
      <dsp:nvSpPr>
        <dsp:cNvPr id="0" name=""/>
        <dsp:cNvSpPr/>
      </dsp:nvSpPr>
      <dsp:spPr>
        <a:xfrm>
          <a:off x="3688318" y="1661402"/>
          <a:ext cx="2161484" cy="11384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288724F-9449-4380-A196-47F29BDA2D5D}">
      <dsp:nvSpPr>
        <dsp:cNvPr id="0" name=""/>
        <dsp:cNvSpPr/>
      </dsp:nvSpPr>
      <dsp:spPr>
        <a:xfrm>
          <a:off x="3887514" y="1850638"/>
          <a:ext cx="2161484" cy="11384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Agricultural Development Banks</a:t>
          </a:r>
        </a:p>
      </dsp:txBody>
      <dsp:txXfrm>
        <a:off x="3920857" y="1883981"/>
        <a:ext cx="2094798" cy="1071720"/>
      </dsp:txXfrm>
    </dsp:sp>
    <dsp:sp modelId="{58D9A256-7A26-4FCB-A502-F7EC0620C537}">
      <dsp:nvSpPr>
        <dsp:cNvPr id="0" name=""/>
        <dsp:cNvSpPr/>
      </dsp:nvSpPr>
      <dsp:spPr>
        <a:xfrm>
          <a:off x="6248194" y="1661402"/>
          <a:ext cx="1792765" cy="11384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DCE1AF2-41F8-4DA1-A9B4-1DE8EBB3E27C}">
      <dsp:nvSpPr>
        <dsp:cNvPr id="0" name=""/>
        <dsp:cNvSpPr/>
      </dsp:nvSpPr>
      <dsp:spPr>
        <a:xfrm>
          <a:off x="6447390" y="1850638"/>
          <a:ext cx="1792765" cy="11384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Export Import Development Banks</a:t>
          </a:r>
          <a:endParaRPr lang="en-IN" sz="2100" kern="1200" dirty="0"/>
        </a:p>
      </dsp:txBody>
      <dsp:txXfrm>
        <a:off x="6480733" y="1883981"/>
        <a:ext cx="1726079" cy="1071720"/>
      </dsp:txXfrm>
    </dsp:sp>
    <dsp:sp modelId="{83343A24-2A5B-4CCD-9C8E-0EB912E1DB07}">
      <dsp:nvSpPr>
        <dsp:cNvPr id="0" name=""/>
        <dsp:cNvSpPr/>
      </dsp:nvSpPr>
      <dsp:spPr>
        <a:xfrm>
          <a:off x="8439353" y="1661402"/>
          <a:ext cx="1792765" cy="11384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1DB2F96-73DC-4AA5-928E-B2C387C49BFC}">
      <dsp:nvSpPr>
        <dsp:cNvPr id="0" name=""/>
        <dsp:cNvSpPr/>
      </dsp:nvSpPr>
      <dsp:spPr>
        <a:xfrm>
          <a:off x="8638549" y="1850638"/>
          <a:ext cx="1792765" cy="11384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Infrastructure Development Banks</a:t>
          </a:r>
          <a:endParaRPr lang="en-IN" sz="2100" kern="1200" dirty="0"/>
        </a:p>
      </dsp:txBody>
      <dsp:txXfrm>
        <a:off x="8671892" y="1883981"/>
        <a:ext cx="1726079" cy="10717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B24914-0D08-4005-B092-4EC2410E7ACF}">
      <dsp:nvSpPr>
        <dsp:cNvPr id="0" name=""/>
        <dsp:cNvSpPr/>
      </dsp:nvSpPr>
      <dsp:spPr>
        <a:xfrm>
          <a:off x="593451" y="3182152"/>
          <a:ext cx="388489" cy="370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4244" y="0"/>
              </a:lnTo>
              <a:lnTo>
                <a:pt x="194244" y="370131"/>
              </a:lnTo>
              <a:lnTo>
                <a:pt x="388489" y="37013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 dirty="0"/>
        </a:p>
      </dsp:txBody>
      <dsp:txXfrm>
        <a:off x="774281" y="3353802"/>
        <a:ext cx="26829" cy="26829"/>
      </dsp:txXfrm>
    </dsp:sp>
    <dsp:sp modelId="{FAE838E4-0417-4BAF-8D21-5B11DC0CB238}">
      <dsp:nvSpPr>
        <dsp:cNvPr id="0" name=""/>
        <dsp:cNvSpPr/>
      </dsp:nvSpPr>
      <dsp:spPr>
        <a:xfrm>
          <a:off x="2924388" y="2812020"/>
          <a:ext cx="388489" cy="6604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4244" y="0"/>
              </a:lnTo>
              <a:lnTo>
                <a:pt x="194244" y="660482"/>
              </a:lnTo>
              <a:lnTo>
                <a:pt x="388489" y="660482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 dirty="0"/>
        </a:p>
      </dsp:txBody>
      <dsp:txXfrm>
        <a:off x="3099476" y="3123105"/>
        <a:ext cx="38313" cy="38313"/>
      </dsp:txXfrm>
    </dsp:sp>
    <dsp:sp modelId="{E2A994A0-CB69-42CC-86BB-E67C2688CF94}">
      <dsp:nvSpPr>
        <dsp:cNvPr id="0" name=""/>
        <dsp:cNvSpPr/>
      </dsp:nvSpPr>
      <dsp:spPr>
        <a:xfrm>
          <a:off x="2924388" y="2441889"/>
          <a:ext cx="388489" cy="370131"/>
        </a:xfrm>
        <a:custGeom>
          <a:avLst/>
          <a:gdLst/>
          <a:ahLst/>
          <a:cxnLst/>
          <a:rect l="0" t="0" r="0" b="0"/>
          <a:pathLst>
            <a:path>
              <a:moveTo>
                <a:pt x="0" y="370131"/>
              </a:moveTo>
              <a:lnTo>
                <a:pt x="194244" y="370131"/>
              </a:lnTo>
              <a:lnTo>
                <a:pt x="194244" y="0"/>
              </a:lnTo>
              <a:lnTo>
                <a:pt x="388489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 dirty="0"/>
        </a:p>
      </dsp:txBody>
      <dsp:txXfrm>
        <a:off x="3105219" y="2613540"/>
        <a:ext cx="26829" cy="26829"/>
      </dsp:txXfrm>
    </dsp:sp>
    <dsp:sp modelId="{F090C7ED-FF6D-44A7-96AE-1125F1930C22}">
      <dsp:nvSpPr>
        <dsp:cNvPr id="0" name=""/>
        <dsp:cNvSpPr/>
      </dsp:nvSpPr>
      <dsp:spPr>
        <a:xfrm>
          <a:off x="593451" y="2812020"/>
          <a:ext cx="388489" cy="370131"/>
        </a:xfrm>
        <a:custGeom>
          <a:avLst/>
          <a:gdLst/>
          <a:ahLst/>
          <a:cxnLst/>
          <a:rect l="0" t="0" r="0" b="0"/>
          <a:pathLst>
            <a:path>
              <a:moveTo>
                <a:pt x="0" y="370131"/>
              </a:moveTo>
              <a:lnTo>
                <a:pt x="194244" y="370131"/>
              </a:lnTo>
              <a:lnTo>
                <a:pt x="194244" y="0"/>
              </a:lnTo>
              <a:lnTo>
                <a:pt x="388489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 dirty="0"/>
        </a:p>
      </dsp:txBody>
      <dsp:txXfrm>
        <a:off x="774281" y="2983671"/>
        <a:ext cx="26829" cy="26829"/>
      </dsp:txXfrm>
    </dsp:sp>
    <dsp:sp modelId="{D00C5881-0530-4041-8049-9949D65D4EE8}">
      <dsp:nvSpPr>
        <dsp:cNvPr id="0" name=""/>
        <dsp:cNvSpPr/>
      </dsp:nvSpPr>
      <dsp:spPr>
        <a:xfrm rot="16200000">
          <a:off x="-1261099" y="2886047"/>
          <a:ext cx="3116893" cy="5922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/>
            <a:t>Functions of Bank</a:t>
          </a:r>
          <a:endParaRPr lang="en-IN" sz="3400" kern="1200" dirty="0"/>
        </a:p>
      </dsp:txBody>
      <dsp:txXfrm>
        <a:off x="-1261099" y="2886047"/>
        <a:ext cx="3116893" cy="592209"/>
      </dsp:txXfrm>
    </dsp:sp>
    <dsp:sp modelId="{C0075F0F-82F5-47E4-93A3-AB8579E5F08D}">
      <dsp:nvSpPr>
        <dsp:cNvPr id="0" name=""/>
        <dsp:cNvSpPr/>
      </dsp:nvSpPr>
      <dsp:spPr>
        <a:xfrm>
          <a:off x="981941" y="2515916"/>
          <a:ext cx="1942447" cy="59220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Primary Functions</a:t>
          </a:r>
          <a:endParaRPr lang="en-IN" sz="2000" kern="1200" dirty="0"/>
        </a:p>
      </dsp:txBody>
      <dsp:txXfrm>
        <a:off x="981941" y="2515916"/>
        <a:ext cx="1942447" cy="592209"/>
      </dsp:txXfrm>
    </dsp:sp>
    <dsp:sp modelId="{8AE7FAFA-D21A-41E7-9ECD-86CDC4BC3130}">
      <dsp:nvSpPr>
        <dsp:cNvPr id="0" name=""/>
        <dsp:cNvSpPr/>
      </dsp:nvSpPr>
      <dsp:spPr>
        <a:xfrm>
          <a:off x="3312878" y="1855433"/>
          <a:ext cx="1942447" cy="1172912"/>
        </a:xfrm>
        <a:prstGeom prst="rect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 smtClean="0"/>
            <a:t>Accepting </a:t>
          </a:r>
          <a:r>
            <a:rPr lang="en-IN" sz="2000" b="1" kern="1200" dirty="0"/>
            <a:t>Deposits</a:t>
          </a:r>
        </a:p>
      </dsp:txBody>
      <dsp:txXfrm>
        <a:off x="3312878" y="1855433"/>
        <a:ext cx="1942447" cy="1172912"/>
      </dsp:txXfrm>
    </dsp:sp>
    <dsp:sp modelId="{AA5AF5DC-A5ED-453C-BDA6-E85F0793A842}">
      <dsp:nvSpPr>
        <dsp:cNvPr id="0" name=""/>
        <dsp:cNvSpPr/>
      </dsp:nvSpPr>
      <dsp:spPr>
        <a:xfrm>
          <a:off x="3312878" y="3176398"/>
          <a:ext cx="1942447" cy="5922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Grant of Loans and Advances</a:t>
          </a:r>
          <a:endParaRPr lang="en-IN" sz="2000" kern="1200" dirty="0"/>
        </a:p>
      </dsp:txBody>
      <dsp:txXfrm>
        <a:off x="3312878" y="3176398"/>
        <a:ext cx="1942447" cy="592209"/>
      </dsp:txXfrm>
    </dsp:sp>
    <dsp:sp modelId="{AFFD1705-B221-41D0-AF57-AEF004C444AB}">
      <dsp:nvSpPr>
        <dsp:cNvPr id="0" name=""/>
        <dsp:cNvSpPr/>
      </dsp:nvSpPr>
      <dsp:spPr>
        <a:xfrm>
          <a:off x="981941" y="3256178"/>
          <a:ext cx="1942447" cy="59220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Secondary Functions</a:t>
          </a:r>
          <a:endParaRPr lang="en-IN" sz="2000" kern="1200" dirty="0"/>
        </a:p>
      </dsp:txBody>
      <dsp:txXfrm>
        <a:off x="981941" y="3256178"/>
        <a:ext cx="1942447" cy="59220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B24914-0D08-4005-B092-4EC2410E7ACF}">
      <dsp:nvSpPr>
        <dsp:cNvPr id="0" name=""/>
        <dsp:cNvSpPr/>
      </dsp:nvSpPr>
      <dsp:spPr>
        <a:xfrm>
          <a:off x="593451" y="3182152"/>
          <a:ext cx="388489" cy="370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4244" y="0"/>
              </a:lnTo>
              <a:lnTo>
                <a:pt x="194244" y="370131"/>
              </a:lnTo>
              <a:lnTo>
                <a:pt x="388489" y="37013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 dirty="0"/>
        </a:p>
      </dsp:txBody>
      <dsp:txXfrm>
        <a:off x="774281" y="3353802"/>
        <a:ext cx="26829" cy="26829"/>
      </dsp:txXfrm>
    </dsp:sp>
    <dsp:sp modelId="{FAE838E4-0417-4BAF-8D21-5B11DC0CB238}">
      <dsp:nvSpPr>
        <dsp:cNvPr id="0" name=""/>
        <dsp:cNvSpPr/>
      </dsp:nvSpPr>
      <dsp:spPr>
        <a:xfrm>
          <a:off x="2924388" y="2812020"/>
          <a:ext cx="388489" cy="370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4244" y="0"/>
              </a:lnTo>
              <a:lnTo>
                <a:pt x="194244" y="370131"/>
              </a:lnTo>
              <a:lnTo>
                <a:pt x="388489" y="37013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 dirty="0"/>
        </a:p>
      </dsp:txBody>
      <dsp:txXfrm>
        <a:off x="3105219" y="2983671"/>
        <a:ext cx="26829" cy="26829"/>
      </dsp:txXfrm>
    </dsp:sp>
    <dsp:sp modelId="{E2A994A0-CB69-42CC-86BB-E67C2688CF94}">
      <dsp:nvSpPr>
        <dsp:cNvPr id="0" name=""/>
        <dsp:cNvSpPr/>
      </dsp:nvSpPr>
      <dsp:spPr>
        <a:xfrm>
          <a:off x="2924388" y="2173766"/>
          <a:ext cx="388489" cy="638253"/>
        </a:xfrm>
        <a:custGeom>
          <a:avLst/>
          <a:gdLst/>
          <a:ahLst/>
          <a:cxnLst/>
          <a:rect l="0" t="0" r="0" b="0"/>
          <a:pathLst>
            <a:path>
              <a:moveTo>
                <a:pt x="0" y="638253"/>
              </a:moveTo>
              <a:lnTo>
                <a:pt x="194244" y="638253"/>
              </a:lnTo>
              <a:lnTo>
                <a:pt x="194244" y="0"/>
              </a:lnTo>
              <a:lnTo>
                <a:pt x="388489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 dirty="0"/>
        </a:p>
      </dsp:txBody>
      <dsp:txXfrm>
        <a:off x="3099953" y="2474214"/>
        <a:ext cx="37359" cy="37359"/>
      </dsp:txXfrm>
    </dsp:sp>
    <dsp:sp modelId="{F090C7ED-FF6D-44A7-96AE-1125F1930C22}">
      <dsp:nvSpPr>
        <dsp:cNvPr id="0" name=""/>
        <dsp:cNvSpPr/>
      </dsp:nvSpPr>
      <dsp:spPr>
        <a:xfrm>
          <a:off x="593451" y="2812020"/>
          <a:ext cx="388489" cy="370131"/>
        </a:xfrm>
        <a:custGeom>
          <a:avLst/>
          <a:gdLst/>
          <a:ahLst/>
          <a:cxnLst/>
          <a:rect l="0" t="0" r="0" b="0"/>
          <a:pathLst>
            <a:path>
              <a:moveTo>
                <a:pt x="0" y="370131"/>
              </a:moveTo>
              <a:lnTo>
                <a:pt x="194244" y="370131"/>
              </a:lnTo>
              <a:lnTo>
                <a:pt x="194244" y="0"/>
              </a:lnTo>
              <a:lnTo>
                <a:pt x="388489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 dirty="0"/>
        </a:p>
      </dsp:txBody>
      <dsp:txXfrm>
        <a:off x="774281" y="2983671"/>
        <a:ext cx="26829" cy="26829"/>
      </dsp:txXfrm>
    </dsp:sp>
    <dsp:sp modelId="{D00C5881-0530-4041-8049-9949D65D4EE8}">
      <dsp:nvSpPr>
        <dsp:cNvPr id="0" name=""/>
        <dsp:cNvSpPr/>
      </dsp:nvSpPr>
      <dsp:spPr>
        <a:xfrm rot="16200000">
          <a:off x="-1261099" y="2886047"/>
          <a:ext cx="3116893" cy="5922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/>
            <a:t>Functions of Bank</a:t>
          </a:r>
          <a:endParaRPr lang="en-IN" sz="3400" kern="1200" dirty="0"/>
        </a:p>
      </dsp:txBody>
      <dsp:txXfrm>
        <a:off x="-1261099" y="2886047"/>
        <a:ext cx="3116893" cy="592209"/>
      </dsp:txXfrm>
    </dsp:sp>
    <dsp:sp modelId="{C0075F0F-82F5-47E4-93A3-AB8579E5F08D}">
      <dsp:nvSpPr>
        <dsp:cNvPr id="0" name=""/>
        <dsp:cNvSpPr/>
      </dsp:nvSpPr>
      <dsp:spPr>
        <a:xfrm>
          <a:off x="981941" y="2515916"/>
          <a:ext cx="1942447" cy="59220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Primary Functions</a:t>
          </a:r>
          <a:endParaRPr lang="en-IN" sz="2000" kern="1200" dirty="0"/>
        </a:p>
      </dsp:txBody>
      <dsp:txXfrm>
        <a:off x="981941" y="2515916"/>
        <a:ext cx="1942447" cy="592209"/>
      </dsp:txXfrm>
    </dsp:sp>
    <dsp:sp modelId="{8AE7FAFA-D21A-41E7-9ECD-86CDC4BC3130}">
      <dsp:nvSpPr>
        <dsp:cNvPr id="0" name=""/>
        <dsp:cNvSpPr/>
      </dsp:nvSpPr>
      <dsp:spPr>
        <a:xfrm>
          <a:off x="3312878" y="1877662"/>
          <a:ext cx="1942447" cy="5922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/>
            <a:t>Accepting </a:t>
          </a:r>
          <a:r>
            <a:rPr lang="en-IN" sz="2000" kern="1200" dirty="0"/>
            <a:t>Deposits</a:t>
          </a:r>
        </a:p>
      </dsp:txBody>
      <dsp:txXfrm>
        <a:off x="3312878" y="1877662"/>
        <a:ext cx="1942447" cy="592209"/>
      </dsp:txXfrm>
    </dsp:sp>
    <dsp:sp modelId="{AA5AF5DC-A5ED-453C-BDA6-E85F0793A842}">
      <dsp:nvSpPr>
        <dsp:cNvPr id="0" name=""/>
        <dsp:cNvSpPr/>
      </dsp:nvSpPr>
      <dsp:spPr>
        <a:xfrm>
          <a:off x="3312878" y="2617924"/>
          <a:ext cx="1942447" cy="1128455"/>
        </a:xfrm>
        <a:prstGeom prst="rect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Grant of Loans and Advances</a:t>
          </a:r>
          <a:endParaRPr lang="en-IN" sz="2000" b="1" kern="1200" dirty="0"/>
        </a:p>
      </dsp:txBody>
      <dsp:txXfrm>
        <a:off x="3312878" y="2617924"/>
        <a:ext cx="1942447" cy="1128455"/>
      </dsp:txXfrm>
    </dsp:sp>
    <dsp:sp modelId="{AFFD1705-B221-41D0-AF57-AEF004C444AB}">
      <dsp:nvSpPr>
        <dsp:cNvPr id="0" name=""/>
        <dsp:cNvSpPr/>
      </dsp:nvSpPr>
      <dsp:spPr>
        <a:xfrm>
          <a:off x="981941" y="3256178"/>
          <a:ext cx="1942447" cy="59220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Secondary Functions</a:t>
          </a:r>
          <a:endParaRPr lang="en-IN" sz="2000" kern="1200" dirty="0"/>
        </a:p>
      </dsp:txBody>
      <dsp:txXfrm>
        <a:off x="981941" y="3256178"/>
        <a:ext cx="1942447" cy="59220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B24914-0D08-4005-B092-4EC2410E7ACF}">
      <dsp:nvSpPr>
        <dsp:cNvPr id="0" name=""/>
        <dsp:cNvSpPr/>
      </dsp:nvSpPr>
      <dsp:spPr>
        <a:xfrm>
          <a:off x="593451" y="3182152"/>
          <a:ext cx="388489" cy="370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4244" y="0"/>
              </a:lnTo>
              <a:lnTo>
                <a:pt x="194244" y="370131"/>
              </a:lnTo>
              <a:lnTo>
                <a:pt x="388489" y="37013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 dirty="0"/>
        </a:p>
      </dsp:txBody>
      <dsp:txXfrm>
        <a:off x="774281" y="3353802"/>
        <a:ext cx="26829" cy="26829"/>
      </dsp:txXfrm>
    </dsp:sp>
    <dsp:sp modelId="{FAE838E4-0417-4BAF-8D21-5B11DC0CB238}">
      <dsp:nvSpPr>
        <dsp:cNvPr id="0" name=""/>
        <dsp:cNvSpPr/>
      </dsp:nvSpPr>
      <dsp:spPr>
        <a:xfrm>
          <a:off x="2924388" y="2812020"/>
          <a:ext cx="388489" cy="370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4244" y="0"/>
              </a:lnTo>
              <a:lnTo>
                <a:pt x="194244" y="370131"/>
              </a:lnTo>
              <a:lnTo>
                <a:pt x="388489" y="37013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 dirty="0"/>
        </a:p>
      </dsp:txBody>
      <dsp:txXfrm>
        <a:off x="3105219" y="2983671"/>
        <a:ext cx="26829" cy="26829"/>
      </dsp:txXfrm>
    </dsp:sp>
    <dsp:sp modelId="{E2A994A0-CB69-42CC-86BB-E67C2688CF94}">
      <dsp:nvSpPr>
        <dsp:cNvPr id="0" name=""/>
        <dsp:cNvSpPr/>
      </dsp:nvSpPr>
      <dsp:spPr>
        <a:xfrm>
          <a:off x="2924388" y="2173766"/>
          <a:ext cx="388489" cy="638253"/>
        </a:xfrm>
        <a:custGeom>
          <a:avLst/>
          <a:gdLst/>
          <a:ahLst/>
          <a:cxnLst/>
          <a:rect l="0" t="0" r="0" b="0"/>
          <a:pathLst>
            <a:path>
              <a:moveTo>
                <a:pt x="0" y="638253"/>
              </a:moveTo>
              <a:lnTo>
                <a:pt x="194244" y="638253"/>
              </a:lnTo>
              <a:lnTo>
                <a:pt x="194244" y="0"/>
              </a:lnTo>
              <a:lnTo>
                <a:pt x="388489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 dirty="0"/>
        </a:p>
      </dsp:txBody>
      <dsp:txXfrm>
        <a:off x="3099953" y="2474214"/>
        <a:ext cx="37359" cy="37359"/>
      </dsp:txXfrm>
    </dsp:sp>
    <dsp:sp modelId="{F090C7ED-FF6D-44A7-96AE-1125F1930C22}">
      <dsp:nvSpPr>
        <dsp:cNvPr id="0" name=""/>
        <dsp:cNvSpPr/>
      </dsp:nvSpPr>
      <dsp:spPr>
        <a:xfrm>
          <a:off x="593451" y="2812020"/>
          <a:ext cx="388489" cy="370131"/>
        </a:xfrm>
        <a:custGeom>
          <a:avLst/>
          <a:gdLst/>
          <a:ahLst/>
          <a:cxnLst/>
          <a:rect l="0" t="0" r="0" b="0"/>
          <a:pathLst>
            <a:path>
              <a:moveTo>
                <a:pt x="0" y="370131"/>
              </a:moveTo>
              <a:lnTo>
                <a:pt x="194244" y="370131"/>
              </a:lnTo>
              <a:lnTo>
                <a:pt x="194244" y="0"/>
              </a:lnTo>
              <a:lnTo>
                <a:pt x="388489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 dirty="0"/>
        </a:p>
      </dsp:txBody>
      <dsp:txXfrm>
        <a:off x="774281" y="2983671"/>
        <a:ext cx="26829" cy="26829"/>
      </dsp:txXfrm>
    </dsp:sp>
    <dsp:sp modelId="{D00C5881-0530-4041-8049-9949D65D4EE8}">
      <dsp:nvSpPr>
        <dsp:cNvPr id="0" name=""/>
        <dsp:cNvSpPr/>
      </dsp:nvSpPr>
      <dsp:spPr>
        <a:xfrm rot="16200000">
          <a:off x="-1261099" y="2886047"/>
          <a:ext cx="3116893" cy="5922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/>
            <a:t>Functions of Bank</a:t>
          </a:r>
          <a:endParaRPr lang="en-IN" sz="3400" kern="1200" dirty="0"/>
        </a:p>
      </dsp:txBody>
      <dsp:txXfrm>
        <a:off x="-1261099" y="2886047"/>
        <a:ext cx="3116893" cy="592209"/>
      </dsp:txXfrm>
    </dsp:sp>
    <dsp:sp modelId="{C0075F0F-82F5-47E4-93A3-AB8579E5F08D}">
      <dsp:nvSpPr>
        <dsp:cNvPr id="0" name=""/>
        <dsp:cNvSpPr/>
      </dsp:nvSpPr>
      <dsp:spPr>
        <a:xfrm>
          <a:off x="981941" y="2515916"/>
          <a:ext cx="1942447" cy="59220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Primary Functions</a:t>
          </a:r>
          <a:endParaRPr lang="en-IN" sz="2000" kern="1200" dirty="0"/>
        </a:p>
      </dsp:txBody>
      <dsp:txXfrm>
        <a:off x="981941" y="2515916"/>
        <a:ext cx="1942447" cy="592209"/>
      </dsp:txXfrm>
    </dsp:sp>
    <dsp:sp modelId="{8AE7FAFA-D21A-41E7-9ECD-86CDC4BC3130}">
      <dsp:nvSpPr>
        <dsp:cNvPr id="0" name=""/>
        <dsp:cNvSpPr/>
      </dsp:nvSpPr>
      <dsp:spPr>
        <a:xfrm>
          <a:off x="3312878" y="1877662"/>
          <a:ext cx="1942447" cy="5922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/>
            <a:t>Accepting </a:t>
          </a:r>
          <a:r>
            <a:rPr lang="en-IN" sz="2000" kern="1200" dirty="0"/>
            <a:t>Deposits</a:t>
          </a:r>
        </a:p>
      </dsp:txBody>
      <dsp:txXfrm>
        <a:off x="3312878" y="1877662"/>
        <a:ext cx="1942447" cy="592209"/>
      </dsp:txXfrm>
    </dsp:sp>
    <dsp:sp modelId="{AA5AF5DC-A5ED-453C-BDA6-E85F0793A842}">
      <dsp:nvSpPr>
        <dsp:cNvPr id="0" name=""/>
        <dsp:cNvSpPr/>
      </dsp:nvSpPr>
      <dsp:spPr>
        <a:xfrm>
          <a:off x="3312878" y="2617924"/>
          <a:ext cx="1942447" cy="1128455"/>
        </a:xfrm>
        <a:prstGeom prst="rect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Grant of Loans and Advances</a:t>
          </a:r>
          <a:endParaRPr lang="en-IN" sz="2000" b="1" kern="1200" dirty="0"/>
        </a:p>
      </dsp:txBody>
      <dsp:txXfrm>
        <a:off x="3312878" y="2617924"/>
        <a:ext cx="1942447" cy="1128455"/>
      </dsp:txXfrm>
    </dsp:sp>
    <dsp:sp modelId="{AFFD1705-B221-41D0-AF57-AEF004C444AB}">
      <dsp:nvSpPr>
        <dsp:cNvPr id="0" name=""/>
        <dsp:cNvSpPr/>
      </dsp:nvSpPr>
      <dsp:spPr>
        <a:xfrm>
          <a:off x="981941" y="3256178"/>
          <a:ext cx="1942447" cy="59220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Secondary Functions</a:t>
          </a:r>
          <a:endParaRPr lang="en-IN" sz="2000" kern="1200" dirty="0"/>
        </a:p>
      </dsp:txBody>
      <dsp:txXfrm>
        <a:off x="981941" y="3256178"/>
        <a:ext cx="1942447" cy="59220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F0E319-5D56-4DE1-945B-49EF44F29885}">
      <dsp:nvSpPr>
        <dsp:cNvPr id="0" name=""/>
        <dsp:cNvSpPr/>
      </dsp:nvSpPr>
      <dsp:spPr>
        <a:xfrm>
          <a:off x="2924388" y="3924870"/>
          <a:ext cx="388489" cy="664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4244" y="0"/>
              </a:lnTo>
              <a:lnTo>
                <a:pt x="194244" y="664201"/>
              </a:lnTo>
              <a:lnTo>
                <a:pt x="388489" y="66420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3099396" y="4237734"/>
        <a:ext cx="38473" cy="38473"/>
      </dsp:txXfrm>
    </dsp:sp>
    <dsp:sp modelId="{F81C79C1-5562-4E7C-8F2E-823364FF7379}">
      <dsp:nvSpPr>
        <dsp:cNvPr id="0" name=""/>
        <dsp:cNvSpPr/>
      </dsp:nvSpPr>
      <dsp:spPr>
        <a:xfrm>
          <a:off x="2924388" y="3554739"/>
          <a:ext cx="388489" cy="370131"/>
        </a:xfrm>
        <a:custGeom>
          <a:avLst/>
          <a:gdLst/>
          <a:ahLst/>
          <a:cxnLst/>
          <a:rect l="0" t="0" r="0" b="0"/>
          <a:pathLst>
            <a:path>
              <a:moveTo>
                <a:pt x="0" y="370131"/>
              </a:moveTo>
              <a:lnTo>
                <a:pt x="194244" y="370131"/>
              </a:lnTo>
              <a:lnTo>
                <a:pt x="194244" y="0"/>
              </a:lnTo>
              <a:lnTo>
                <a:pt x="388489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3105219" y="3726390"/>
        <a:ext cx="26829" cy="26829"/>
      </dsp:txXfrm>
    </dsp:sp>
    <dsp:sp modelId="{F9B24914-0D08-4005-B092-4EC2410E7ACF}">
      <dsp:nvSpPr>
        <dsp:cNvPr id="0" name=""/>
        <dsp:cNvSpPr/>
      </dsp:nvSpPr>
      <dsp:spPr>
        <a:xfrm>
          <a:off x="593451" y="3037573"/>
          <a:ext cx="388489" cy="8872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4244" y="0"/>
              </a:lnTo>
              <a:lnTo>
                <a:pt x="194244" y="887297"/>
              </a:lnTo>
              <a:lnTo>
                <a:pt x="388489" y="88729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763480" y="3457006"/>
        <a:ext cx="48430" cy="48430"/>
      </dsp:txXfrm>
    </dsp:sp>
    <dsp:sp modelId="{FAE838E4-0417-4BAF-8D21-5B11DC0CB238}">
      <dsp:nvSpPr>
        <dsp:cNvPr id="0" name=""/>
        <dsp:cNvSpPr/>
      </dsp:nvSpPr>
      <dsp:spPr>
        <a:xfrm>
          <a:off x="2924388" y="2150275"/>
          <a:ext cx="388489" cy="370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4244" y="0"/>
              </a:lnTo>
              <a:lnTo>
                <a:pt x="194244" y="370131"/>
              </a:lnTo>
              <a:lnTo>
                <a:pt x="388489" y="37013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3105219" y="2321926"/>
        <a:ext cx="26829" cy="26829"/>
      </dsp:txXfrm>
    </dsp:sp>
    <dsp:sp modelId="{E2A994A0-CB69-42CC-86BB-E67C2688CF94}">
      <dsp:nvSpPr>
        <dsp:cNvPr id="0" name=""/>
        <dsp:cNvSpPr/>
      </dsp:nvSpPr>
      <dsp:spPr>
        <a:xfrm>
          <a:off x="2924388" y="1780144"/>
          <a:ext cx="388489" cy="370131"/>
        </a:xfrm>
        <a:custGeom>
          <a:avLst/>
          <a:gdLst/>
          <a:ahLst/>
          <a:cxnLst/>
          <a:rect l="0" t="0" r="0" b="0"/>
          <a:pathLst>
            <a:path>
              <a:moveTo>
                <a:pt x="0" y="370131"/>
              </a:moveTo>
              <a:lnTo>
                <a:pt x="194244" y="370131"/>
              </a:lnTo>
              <a:lnTo>
                <a:pt x="194244" y="0"/>
              </a:lnTo>
              <a:lnTo>
                <a:pt x="388489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3105219" y="1951795"/>
        <a:ext cx="26829" cy="26829"/>
      </dsp:txXfrm>
    </dsp:sp>
    <dsp:sp modelId="{F090C7ED-FF6D-44A7-96AE-1125F1930C22}">
      <dsp:nvSpPr>
        <dsp:cNvPr id="0" name=""/>
        <dsp:cNvSpPr/>
      </dsp:nvSpPr>
      <dsp:spPr>
        <a:xfrm>
          <a:off x="593451" y="2150275"/>
          <a:ext cx="388489" cy="887297"/>
        </a:xfrm>
        <a:custGeom>
          <a:avLst/>
          <a:gdLst/>
          <a:ahLst/>
          <a:cxnLst/>
          <a:rect l="0" t="0" r="0" b="0"/>
          <a:pathLst>
            <a:path>
              <a:moveTo>
                <a:pt x="0" y="887297"/>
              </a:moveTo>
              <a:lnTo>
                <a:pt x="194244" y="887297"/>
              </a:lnTo>
              <a:lnTo>
                <a:pt x="194244" y="0"/>
              </a:lnTo>
              <a:lnTo>
                <a:pt x="388489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763480" y="2569709"/>
        <a:ext cx="48430" cy="48430"/>
      </dsp:txXfrm>
    </dsp:sp>
    <dsp:sp modelId="{D00C5881-0530-4041-8049-9949D65D4EE8}">
      <dsp:nvSpPr>
        <dsp:cNvPr id="0" name=""/>
        <dsp:cNvSpPr/>
      </dsp:nvSpPr>
      <dsp:spPr>
        <a:xfrm rot="16200000">
          <a:off x="-1261099" y="2741468"/>
          <a:ext cx="3116893" cy="5922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/>
            <a:t>Functions of Bank</a:t>
          </a:r>
          <a:endParaRPr lang="en-IN" sz="3400" kern="1200" dirty="0"/>
        </a:p>
      </dsp:txBody>
      <dsp:txXfrm>
        <a:off x="-1261099" y="2741468"/>
        <a:ext cx="3116893" cy="592209"/>
      </dsp:txXfrm>
    </dsp:sp>
    <dsp:sp modelId="{C0075F0F-82F5-47E4-93A3-AB8579E5F08D}">
      <dsp:nvSpPr>
        <dsp:cNvPr id="0" name=""/>
        <dsp:cNvSpPr/>
      </dsp:nvSpPr>
      <dsp:spPr>
        <a:xfrm>
          <a:off x="981941" y="1854171"/>
          <a:ext cx="1942447" cy="59220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Primary Functions</a:t>
          </a:r>
          <a:endParaRPr lang="en-IN" sz="2000" kern="1200" dirty="0"/>
        </a:p>
      </dsp:txBody>
      <dsp:txXfrm>
        <a:off x="981941" y="1854171"/>
        <a:ext cx="1942447" cy="592209"/>
      </dsp:txXfrm>
    </dsp:sp>
    <dsp:sp modelId="{8AE7FAFA-D21A-41E7-9ECD-86CDC4BC3130}">
      <dsp:nvSpPr>
        <dsp:cNvPr id="0" name=""/>
        <dsp:cNvSpPr/>
      </dsp:nvSpPr>
      <dsp:spPr>
        <a:xfrm>
          <a:off x="3312878" y="1484040"/>
          <a:ext cx="1942447" cy="5922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/>
            <a:t>Accepting </a:t>
          </a:r>
          <a:r>
            <a:rPr lang="en-IN" sz="2000" kern="1200" dirty="0"/>
            <a:t>Deposits</a:t>
          </a:r>
        </a:p>
      </dsp:txBody>
      <dsp:txXfrm>
        <a:off x="3312878" y="1484040"/>
        <a:ext cx="1942447" cy="592209"/>
      </dsp:txXfrm>
    </dsp:sp>
    <dsp:sp modelId="{AA5AF5DC-A5ED-453C-BDA6-E85F0793A842}">
      <dsp:nvSpPr>
        <dsp:cNvPr id="0" name=""/>
        <dsp:cNvSpPr/>
      </dsp:nvSpPr>
      <dsp:spPr>
        <a:xfrm>
          <a:off x="3312878" y="2224302"/>
          <a:ext cx="1942447" cy="5922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Grant of Loans and Advances</a:t>
          </a:r>
          <a:endParaRPr lang="en-IN" sz="2000" kern="1200" dirty="0"/>
        </a:p>
      </dsp:txBody>
      <dsp:txXfrm>
        <a:off x="3312878" y="2224302"/>
        <a:ext cx="1942447" cy="592209"/>
      </dsp:txXfrm>
    </dsp:sp>
    <dsp:sp modelId="{AFFD1705-B221-41D0-AF57-AEF004C444AB}">
      <dsp:nvSpPr>
        <dsp:cNvPr id="0" name=""/>
        <dsp:cNvSpPr/>
      </dsp:nvSpPr>
      <dsp:spPr>
        <a:xfrm>
          <a:off x="981941" y="3628765"/>
          <a:ext cx="1942447" cy="59220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Secondary Functions</a:t>
          </a:r>
          <a:endParaRPr lang="en-IN" sz="2000" kern="1200" dirty="0"/>
        </a:p>
      </dsp:txBody>
      <dsp:txXfrm>
        <a:off x="981941" y="3628765"/>
        <a:ext cx="1942447" cy="592209"/>
      </dsp:txXfrm>
    </dsp:sp>
    <dsp:sp modelId="{387FC131-BA0C-495C-BF4B-D486025861A0}">
      <dsp:nvSpPr>
        <dsp:cNvPr id="0" name=""/>
        <dsp:cNvSpPr/>
      </dsp:nvSpPr>
      <dsp:spPr>
        <a:xfrm>
          <a:off x="3312878" y="2964564"/>
          <a:ext cx="1942447" cy="1180350"/>
        </a:xfrm>
        <a:prstGeom prst="rect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 smtClean="0"/>
            <a:t>Agency </a:t>
          </a:r>
          <a:r>
            <a:rPr lang="en-IN" sz="2000" b="1" kern="1200" dirty="0"/>
            <a:t>Functions</a:t>
          </a:r>
        </a:p>
      </dsp:txBody>
      <dsp:txXfrm>
        <a:off x="3312878" y="2964564"/>
        <a:ext cx="1942447" cy="1180350"/>
      </dsp:txXfrm>
    </dsp:sp>
    <dsp:sp modelId="{47957337-1CA5-4F88-9BE1-B4FFAFB9E110}">
      <dsp:nvSpPr>
        <dsp:cNvPr id="0" name=""/>
        <dsp:cNvSpPr/>
      </dsp:nvSpPr>
      <dsp:spPr>
        <a:xfrm>
          <a:off x="3312878" y="4292967"/>
          <a:ext cx="1942447" cy="5922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/>
            <a:t>General </a:t>
          </a:r>
          <a:r>
            <a:rPr lang="en-IN" sz="2000" kern="1200" dirty="0"/>
            <a:t>Utility Functions</a:t>
          </a:r>
        </a:p>
      </dsp:txBody>
      <dsp:txXfrm>
        <a:off x="3312878" y="4292967"/>
        <a:ext cx="1942447" cy="59220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F0E319-5D56-4DE1-945B-49EF44F29885}">
      <dsp:nvSpPr>
        <dsp:cNvPr id="0" name=""/>
        <dsp:cNvSpPr/>
      </dsp:nvSpPr>
      <dsp:spPr>
        <a:xfrm>
          <a:off x="2924388" y="3924870"/>
          <a:ext cx="388489" cy="664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4244" y="0"/>
              </a:lnTo>
              <a:lnTo>
                <a:pt x="194244" y="664201"/>
              </a:lnTo>
              <a:lnTo>
                <a:pt x="388489" y="66420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3099396" y="4237734"/>
        <a:ext cx="38473" cy="38473"/>
      </dsp:txXfrm>
    </dsp:sp>
    <dsp:sp modelId="{F81C79C1-5562-4E7C-8F2E-823364FF7379}">
      <dsp:nvSpPr>
        <dsp:cNvPr id="0" name=""/>
        <dsp:cNvSpPr/>
      </dsp:nvSpPr>
      <dsp:spPr>
        <a:xfrm>
          <a:off x="2924388" y="3554739"/>
          <a:ext cx="388489" cy="370131"/>
        </a:xfrm>
        <a:custGeom>
          <a:avLst/>
          <a:gdLst/>
          <a:ahLst/>
          <a:cxnLst/>
          <a:rect l="0" t="0" r="0" b="0"/>
          <a:pathLst>
            <a:path>
              <a:moveTo>
                <a:pt x="0" y="370131"/>
              </a:moveTo>
              <a:lnTo>
                <a:pt x="194244" y="370131"/>
              </a:lnTo>
              <a:lnTo>
                <a:pt x="194244" y="0"/>
              </a:lnTo>
              <a:lnTo>
                <a:pt x="388489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3105219" y="3726390"/>
        <a:ext cx="26829" cy="26829"/>
      </dsp:txXfrm>
    </dsp:sp>
    <dsp:sp modelId="{F9B24914-0D08-4005-B092-4EC2410E7ACF}">
      <dsp:nvSpPr>
        <dsp:cNvPr id="0" name=""/>
        <dsp:cNvSpPr/>
      </dsp:nvSpPr>
      <dsp:spPr>
        <a:xfrm>
          <a:off x="593451" y="3037573"/>
          <a:ext cx="388489" cy="8872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4244" y="0"/>
              </a:lnTo>
              <a:lnTo>
                <a:pt x="194244" y="887297"/>
              </a:lnTo>
              <a:lnTo>
                <a:pt x="388489" y="88729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763480" y="3457006"/>
        <a:ext cx="48430" cy="48430"/>
      </dsp:txXfrm>
    </dsp:sp>
    <dsp:sp modelId="{FAE838E4-0417-4BAF-8D21-5B11DC0CB238}">
      <dsp:nvSpPr>
        <dsp:cNvPr id="0" name=""/>
        <dsp:cNvSpPr/>
      </dsp:nvSpPr>
      <dsp:spPr>
        <a:xfrm>
          <a:off x="2924388" y="2150275"/>
          <a:ext cx="388489" cy="370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4244" y="0"/>
              </a:lnTo>
              <a:lnTo>
                <a:pt x="194244" y="370131"/>
              </a:lnTo>
              <a:lnTo>
                <a:pt x="388489" y="37013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3105219" y="2321926"/>
        <a:ext cx="26829" cy="26829"/>
      </dsp:txXfrm>
    </dsp:sp>
    <dsp:sp modelId="{E2A994A0-CB69-42CC-86BB-E67C2688CF94}">
      <dsp:nvSpPr>
        <dsp:cNvPr id="0" name=""/>
        <dsp:cNvSpPr/>
      </dsp:nvSpPr>
      <dsp:spPr>
        <a:xfrm>
          <a:off x="2924388" y="1780144"/>
          <a:ext cx="388489" cy="370131"/>
        </a:xfrm>
        <a:custGeom>
          <a:avLst/>
          <a:gdLst/>
          <a:ahLst/>
          <a:cxnLst/>
          <a:rect l="0" t="0" r="0" b="0"/>
          <a:pathLst>
            <a:path>
              <a:moveTo>
                <a:pt x="0" y="370131"/>
              </a:moveTo>
              <a:lnTo>
                <a:pt x="194244" y="370131"/>
              </a:lnTo>
              <a:lnTo>
                <a:pt x="194244" y="0"/>
              </a:lnTo>
              <a:lnTo>
                <a:pt x="388489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3105219" y="1951795"/>
        <a:ext cx="26829" cy="26829"/>
      </dsp:txXfrm>
    </dsp:sp>
    <dsp:sp modelId="{F090C7ED-FF6D-44A7-96AE-1125F1930C22}">
      <dsp:nvSpPr>
        <dsp:cNvPr id="0" name=""/>
        <dsp:cNvSpPr/>
      </dsp:nvSpPr>
      <dsp:spPr>
        <a:xfrm>
          <a:off x="593451" y="2150275"/>
          <a:ext cx="388489" cy="887297"/>
        </a:xfrm>
        <a:custGeom>
          <a:avLst/>
          <a:gdLst/>
          <a:ahLst/>
          <a:cxnLst/>
          <a:rect l="0" t="0" r="0" b="0"/>
          <a:pathLst>
            <a:path>
              <a:moveTo>
                <a:pt x="0" y="887297"/>
              </a:moveTo>
              <a:lnTo>
                <a:pt x="194244" y="887297"/>
              </a:lnTo>
              <a:lnTo>
                <a:pt x="194244" y="0"/>
              </a:lnTo>
              <a:lnTo>
                <a:pt x="388489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763480" y="2569709"/>
        <a:ext cx="48430" cy="48430"/>
      </dsp:txXfrm>
    </dsp:sp>
    <dsp:sp modelId="{D00C5881-0530-4041-8049-9949D65D4EE8}">
      <dsp:nvSpPr>
        <dsp:cNvPr id="0" name=""/>
        <dsp:cNvSpPr/>
      </dsp:nvSpPr>
      <dsp:spPr>
        <a:xfrm rot="16200000">
          <a:off x="-1261099" y="2741468"/>
          <a:ext cx="3116893" cy="5922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/>
            <a:t>Functions of Bank</a:t>
          </a:r>
          <a:endParaRPr lang="en-IN" sz="3400" kern="1200" dirty="0"/>
        </a:p>
      </dsp:txBody>
      <dsp:txXfrm>
        <a:off x="-1261099" y="2741468"/>
        <a:ext cx="3116893" cy="592209"/>
      </dsp:txXfrm>
    </dsp:sp>
    <dsp:sp modelId="{C0075F0F-82F5-47E4-93A3-AB8579E5F08D}">
      <dsp:nvSpPr>
        <dsp:cNvPr id="0" name=""/>
        <dsp:cNvSpPr/>
      </dsp:nvSpPr>
      <dsp:spPr>
        <a:xfrm>
          <a:off x="981941" y="1854171"/>
          <a:ext cx="1942447" cy="59220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Primary Functions</a:t>
          </a:r>
          <a:endParaRPr lang="en-IN" sz="2000" kern="1200" dirty="0"/>
        </a:p>
      </dsp:txBody>
      <dsp:txXfrm>
        <a:off x="981941" y="1854171"/>
        <a:ext cx="1942447" cy="592209"/>
      </dsp:txXfrm>
    </dsp:sp>
    <dsp:sp modelId="{8AE7FAFA-D21A-41E7-9ECD-86CDC4BC3130}">
      <dsp:nvSpPr>
        <dsp:cNvPr id="0" name=""/>
        <dsp:cNvSpPr/>
      </dsp:nvSpPr>
      <dsp:spPr>
        <a:xfrm>
          <a:off x="3312878" y="1484040"/>
          <a:ext cx="1942447" cy="5922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/>
            <a:t>Accepting </a:t>
          </a:r>
          <a:r>
            <a:rPr lang="en-IN" sz="2000" kern="1200" dirty="0"/>
            <a:t>Deposits</a:t>
          </a:r>
        </a:p>
      </dsp:txBody>
      <dsp:txXfrm>
        <a:off x="3312878" y="1484040"/>
        <a:ext cx="1942447" cy="592209"/>
      </dsp:txXfrm>
    </dsp:sp>
    <dsp:sp modelId="{AA5AF5DC-A5ED-453C-BDA6-E85F0793A842}">
      <dsp:nvSpPr>
        <dsp:cNvPr id="0" name=""/>
        <dsp:cNvSpPr/>
      </dsp:nvSpPr>
      <dsp:spPr>
        <a:xfrm>
          <a:off x="3312878" y="2224302"/>
          <a:ext cx="1942447" cy="5922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Grant of Loans and Advances</a:t>
          </a:r>
          <a:endParaRPr lang="en-IN" sz="2000" kern="1200" dirty="0"/>
        </a:p>
      </dsp:txBody>
      <dsp:txXfrm>
        <a:off x="3312878" y="2224302"/>
        <a:ext cx="1942447" cy="592209"/>
      </dsp:txXfrm>
    </dsp:sp>
    <dsp:sp modelId="{AFFD1705-B221-41D0-AF57-AEF004C444AB}">
      <dsp:nvSpPr>
        <dsp:cNvPr id="0" name=""/>
        <dsp:cNvSpPr/>
      </dsp:nvSpPr>
      <dsp:spPr>
        <a:xfrm>
          <a:off x="981941" y="3628765"/>
          <a:ext cx="1942447" cy="59220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Secondary Functions</a:t>
          </a:r>
          <a:endParaRPr lang="en-IN" sz="2000" kern="1200" dirty="0"/>
        </a:p>
      </dsp:txBody>
      <dsp:txXfrm>
        <a:off x="981941" y="3628765"/>
        <a:ext cx="1942447" cy="592209"/>
      </dsp:txXfrm>
    </dsp:sp>
    <dsp:sp modelId="{387FC131-BA0C-495C-BF4B-D486025861A0}">
      <dsp:nvSpPr>
        <dsp:cNvPr id="0" name=""/>
        <dsp:cNvSpPr/>
      </dsp:nvSpPr>
      <dsp:spPr>
        <a:xfrm>
          <a:off x="3312878" y="2964564"/>
          <a:ext cx="1942447" cy="1180350"/>
        </a:xfrm>
        <a:prstGeom prst="rect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 smtClean="0"/>
            <a:t>Agency </a:t>
          </a:r>
          <a:r>
            <a:rPr lang="en-IN" sz="2000" b="1" kern="1200" dirty="0"/>
            <a:t>Functions</a:t>
          </a:r>
        </a:p>
      </dsp:txBody>
      <dsp:txXfrm>
        <a:off x="3312878" y="2964564"/>
        <a:ext cx="1942447" cy="1180350"/>
      </dsp:txXfrm>
    </dsp:sp>
    <dsp:sp modelId="{47957337-1CA5-4F88-9BE1-B4FFAFB9E110}">
      <dsp:nvSpPr>
        <dsp:cNvPr id="0" name=""/>
        <dsp:cNvSpPr/>
      </dsp:nvSpPr>
      <dsp:spPr>
        <a:xfrm>
          <a:off x="3312878" y="4292967"/>
          <a:ext cx="1942447" cy="5922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/>
            <a:t>General </a:t>
          </a:r>
          <a:r>
            <a:rPr lang="en-IN" sz="2000" kern="1200" dirty="0"/>
            <a:t>Utility Functions</a:t>
          </a:r>
        </a:p>
      </dsp:txBody>
      <dsp:txXfrm>
        <a:off x="3312878" y="4292967"/>
        <a:ext cx="1942447" cy="59220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F0E319-5D56-4DE1-945B-49EF44F29885}">
      <dsp:nvSpPr>
        <dsp:cNvPr id="0" name=""/>
        <dsp:cNvSpPr/>
      </dsp:nvSpPr>
      <dsp:spPr>
        <a:xfrm>
          <a:off x="2924388" y="3924870"/>
          <a:ext cx="388489" cy="664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4244" y="0"/>
              </a:lnTo>
              <a:lnTo>
                <a:pt x="194244" y="664201"/>
              </a:lnTo>
              <a:lnTo>
                <a:pt x="388489" y="66420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3099396" y="4237734"/>
        <a:ext cx="38473" cy="38473"/>
      </dsp:txXfrm>
    </dsp:sp>
    <dsp:sp modelId="{F81C79C1-5562-4E7C-8F2E-823364FF7379}">
      <dsp:nvSpPr>
        <dsp:cNvPr id="0" name=""/>
        <dsp:cNvSpPr/>
      </dsp:nvSpPr>
      <dsp:spPr>
        <a:xfrm>
          <a:off x="2924388" y="3554739"/>
          <a:ext cx="388489" cy="370131"/>
        </a:xfrm>
        <a:custGeom>
          <a:avLst/>
          <a:gdLst/>
          <a:ahLst/>
          <a:cxnLst/>
          <a:rect l="0" t="0" r="0" b="0"/>
          <a:pathLst>
            <a:path>
              <a:moveTo>
                <a:pt x="0" y="370131"/>
              </a:moveTo>
              <a:lnTo>
                <a:pt x="194244" y="370131"/>
              </a:lnTo>
              <a:lnTo>
                <a:pt x="194244" y="0"/>
              </a:lnTo>
              <a:lnTo>
                <a:pt x="388489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3105219" y="3726390"/>
        <a:ext cx="26829" cy="26829"/>
      </dsp:txXfrm>
    </dsp:sp>
    <dsp:sp modelId="{F9B24914-0D08-4005-B092-4EC2410E7ACF}">
      <dsp:nvSpPr>
        <dsp:cNvPr id="0" name=""/>
        <dsp:cNvSpPr/>
      </dsp:nvSpPr>
      <dsp:spPr>
        <a:xfrm>
          <a:off x="593451" y="3037573"/>
          <a:ext cx="388489" cy="8872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4244" y="0"/>
              </a:lnTo>
              <a:lnTo>
                <a:pt x="194244" y="887297"/>
              </a:lnTo>
              <a:lnTo>
                <a:pt x="388489" y="88729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763480" y="3457006"/>
        <a:ext cx="48430" cy="48430"/>
      </dsp:txXfrm>
    </dsp:sp>
    <dsp:sp modelId="{FAE838E4-0417-4BAF-8D21-5B11DC0CB238}">
      <dsp:nvSpPr>
        <dsp:cNvPr id="0" name=""/>
        <dsp:cNvSpPr/>
      </dsp:nvSpPr>
      <dsp:spPr>
        <a:xfrm>
          <a:off x="2924388" y="2150275"/>
          <a:ext cx="388489" cy="370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4244" y="0"/>
              </a:lnTo>
              <a:lnTo>
                <a:pt x="194244" y="370131"/>
              </a:lnTo>
              <a:lnTo>
                <a:pt x="388489" y="37013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3105219" y="2321926"/>
        <a:ext cx="26829" cy="26829"/>
      </dsp:txXfrm>
    </dsp:sp>
    <dsp:sp modelId="{E2A994A0-CB69-42CC-86BB-E67C2688CF94}">
      <dsp:nvSpPr>
        <dsp:cNvPr id="0" name=""/>
        <dsp:cNvSpPr/>
      </dsp:nvSpPr>
      <dsp:spPr>
        <a:xfrm>
          <a:off x="2924388" y="1780144"/>
          <a:ext cx="388489" cy="370131"/>
        </a:xfrm>
        <a:custGeom>
          <a:avLst/>
          <a:gdLst/>
          <a:ahLst/>
          <a:cxnLst/>
          <a:rect l="0" t="0" r="0" b="0"/>
          <a:pathLst>
            <a:path>
              <a:moveTo>
                <a:pt x="0" y="370131"/>
              </a:moveTo>
              <a:lnTo>
                <a:pt x="194244" y="370131"/>
              </a:lnTo>
              <a:lnTo>
                <a:pt x="194244" y="0"/>
              </a:lnTo>
              <a:lnTo>
                <a:pt x="388489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3105219" y="1951795"/>
        <a:ext cx="26829" cy="26829"/>
      </dsp:txXfrm>
    </dsp:sp>
    <dsp:sp modelId="{F090C7ED-FF6D-44A7-96AE-1125F1930C22}">
      <dsp:nvSpPr>
        <dsp:cNvPr id="0" name=""/>
        <dsp:cNvSpPr/>
      </dsp:nvSpPr>
      <dsp:spPr>
        <a:xfrm>
          <a:off x="593451" y="2150275"/>
          <a:ext cx="388489" cy="887297"/>
        </a:xfrm>
        <a:custGeom>
          <a:avLst/>
          <a:gdLst/>
          <a:ahLst/>
          <a:cxnLst/>
          <a:rect l="0" t="0" r="0" b="0"/>
          <a:pathLst>
            <a:path>
              <a:moveTo>
                <a:pt x="0" y="887297"/>
              </a:moveTo>
              <a:lnTo>
                <a:pt x="194244" y="887297"/>
              </a:lnTo>
              <a:lnTo>
                <a:pt x="194244" y="0"/>
              </a:lnTo>
              <a:lnTo>
                <a:pt x="388489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763480" y="2569709"/>
        <a:ext cx="48430" cy="48430"/>
      </dsp:txXfrm>
    </dsp:sp>
    <dsp:sp modelId="{D00C5881-0530-4041-8049-9949D65D4EE8}">
      <dsp:nvSpPr>
        <dsp:cNvPr id="0" name=""/>
        <dsp:cNvSpPr/>
      </dsp:nvSpPr>
      <dsp:spPr>
        <a:xfrm rot="16200000">
          <a:off x="-1261099" y="2741468"/>
          <a:ext cx="3116893" cy="5922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/>
            <a:t>Functions of Bank</a:t>
          </a:r>
          <a:endParaRPr lang="en-IN" sz="3400" kern="1200" dirty="0"/>
        </a:p>
      </dsp:txBody>
      <dsp:txXfrm>
        <a:off x="-1261099" y="2741468"/>
        <a:ext cx="3116893" cy="592209"/>
      </dsp:txXfrm>
    </dsp:sp>
    <dsp:sp modelId="{C0075F0F-82F5-47E4-93A3-AB8579E5F08D}">
      <dsp:nvSpPr>
        <dsp:cNvPr id="0" name=""/>
        <dsp:cNvSpPr/>
      </dsp:nvSpPr>
      <dsp:spPr>
        <a:xfrm>
          <a:off x="981941" y="1854171"/>
          <a:ext cx="1942447" cy="59220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Primary Functions</a:t>
          </a:r>
          <a:endParaRPr lang="en-IN" sz="2000" kern="1200" dirty="0"/>
        </a:p>
      </dsp:txBody>
      <dsp:txXfrm>
        <a:off x="981941" y="1854171"/>
        <a:ext cx="1942447" cy="592209"/>
      </dsp:txXfrm>
    </dsp:sp>
    <dsp:sp modelId="{8AE7FAFA-D21A-41E7-9ECD-86CDC4BC3130}">
      <dsp:nvSpPr>
        <dsp:cNvPr id="0" name=""/>
        <dsp:cNvSpPr/>
      </dsp:nvSpPr>
      <dsp:spPr>
        <a:xfrm>
          <a:off x="3312878" y="1484040"/>
          <a:ext cx="1942447" cy="5922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/>
            <a:t>Accepting </a:t>
          </a:r>
          <a:r>
            <a:rPr lang="en-IN" sz="2000" kern="1200" dirty="0"/>
            <a:t>Deposits</a:t>
          </a:r>
        </a:p>
      </dsp:txBody>
      <dsp:txXfrm>
        <a:off x="3312878" y="1484040"/>
        <a:ext cx="1942447" cy="592209"/>
      </dsp:txXfrm>
    </dsp:sp>
    <dsp:sp modelId="{AA5AF5DC-A5ED-453C-BDA6-E85F0793A842}">
      <dsp:nvSpPr>
        <dsp:cNvPr id="0" name=""/>
        <dsp:cNvSpPr/>
      </dsp:nvSpPr>
      <dsp:spPr>
        <a:xfrm>
          <a:off x="3312878" y="2224302"/>
          <a:ext cx="1942447" cy="5922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Grant of Loans and Advances</a:t>
          </a:r>
          <a:endParaRPr lang="en-IN" sz="2000" kern="1200" dirty="0"/>
        </a:p>
      </dsp:txBody>
      <dsp:txXfrm>
        <a:off x="3312878" y="2224302"/>
        <a:ext cx="1942447" cy="592209"/>
      </dsp:txXfrm>
    </dsp:sp>
    <dsp:sp modelId="{AFFD1705-B221-41D0-AF57-AEF004C444AB}">
      <dsp:nvSpPr>
        <dsp:cNvPr id="0" name=""/>
        <dsp:cNvSpPr/>
      </dsp:nvSpPr>
      <dsp:spPr>
        <a:xfrm>
          <a:off x="981941" y="3628765"/>
          <a:ext cx="1942447" cy="59220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Secondary Functions</a:t>
          </a:r>
          <a:endParaRPr lang="en-IN" sz="2000" kern="1200" dirty="0"/>
        </a:p>
      </dsp:txBody>
      <dsp:txXfrm>
        <a:off x="981941" y="3628765"/>
        <a:ext cx="1942447" cy="592209"/>
      </dsp:txXfrm>
    </dsp:sp>
    <dsp:sp modelId="{387FC131-BA0C-495C-BF4B-D486025861A0}">
      <dsp:nvSpPr>
        <dsp:cNvPr id="0" name=""/>
        <dsp:cNvSpPr/>
      </dsp:nvSpPr>
      <dsp:spPr>
        <a:xfrm>
          <a:off x="3312878" y="2964564"/>
          <a:ext cx="1942447" cy="1180350"/>
        </a:xfrm>
        <a:prstGeom prst="rect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 smtClean="0"/>
            <a:t>Agency </a:t>
          </a:r>
          <a:r>
            <a:rPr lang="en-IN" sz="2000" b="1" kern="1200" dirty="0"/>
            <a:t>Functions</a:t>
          </a:r>
        </a:p>
      </dsp:txBody>
      <dsp:txXfrm>
        <a:off x="3312878" y="2964564"/>
        <a:ext cx="1942447" cy="1180350"/>
      </dsp:txXfrm>
    </dsp:sp>
    <dsp:sp modelId="{47957337-1CA5-4F88-9BE1-B4FFAFB9E110}">
      <dsp:nvSpPr>
        <dsp:cNvPr id="0" name=""/>
        <dsp:cNvSpPr/>
      </dsp:nvSpPr>
      <dsp:spPr>
        <a:xfrm>
          <a:off x="3312878" y="4292967"/>
          <a:ext cx="1942447" cy="5922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/>
            <a:t>General </a:t>
          </a:r>
          <a:r>
            <a:rPr lang="en-IN" sz="2000" kern="1200" dirty="0"/>
            <a:t>Utility Functions</a:t>
          </a:r>
        </a:p>
      </dsp:txBody>
      <dsp:txXfrm>
        <a:off x="3312878" y="4292967"/>
        <a:ext cx="1942447" cy="59220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F0E319-5D56-4DE1-945B-49EF44F29885}">
      <dsp:nvSpPr>
        <dsp:cNvPr id="0" name=""/>
        <dsp:cNvSpPr/>
      </dsp:nvSpPr>
      <dsp:spPr>
        <a:xfrm>
          <a:off x="2924388" y="3922414"/>
          <a:ext cx="388489" cy="370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4244" y="0"/>
              </a:lnTo>
              <a:lnTo>
                <a:pt x="194244" y="370131"/>
              </a:lnTo>
              <a:lnTo>
                <a:pt x="388489" y="37013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3105219" y="4094065"/>
        <a:ext cx="26829" cy="26829"/>
      </dsp:txXfrm>
    </dsp:sp>
    <dsp:sp modelId="{F81C79C1-5562-4E7C-8F2E-823364FF7379}">
      <dsp:nvSpPr>
        <dsp:cNvPr id="0" name=""/>
        <dsp:cNvSpPr/>
      </dsp:nvSpPr>
      <dsp:spPr>
        <a:xfrm>
          <a:off x="2924388" y="3084073"/>
          <a:ext cx="388489" cy="838340"/>
        </a:xfrm>
        <a:custGeom>
          <a:avLst/>
          <a:gdLst/>
          <a:ahLst/>
          <a:cxnLst/>
          <a:rect l="0" t="0" r="0" b="0"/>
          <a:pathLst>
            <a:path>
              <a:moveTo>
                <a:pt x="0" y="838340"/>
              </a:moveTo>
              <a:lnTo>
                <a:pt x="194244" y="838340"/>
              </a:lnTo>
              <a:lnTo>
                <a:pt x="194244" y="0"/>
              </a:lnTo>
              <a:lnTo>
                <a:pt x="388489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3095534" y="3480144"/>
        <a:ext cx="46199" cy="46199"/>
      </dsp:txXfrm>
    </dsp:sp>
    <dsp:sp modelId="{F9B24914-0D08-4005-B092-4EC2410E7ACF}">
      <dsp:nvSpPr>
        <dsp:cNvPr id="0" name=""/>
        <dsp:cNvSpPr/>
      </dsp:nvSpPr>
      <dsp:spPr>
        <a:xfrm>
          <a:off x="593451" y="2948047"/>
          <a:ext cx="388489" cy="974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4244" y="0"/>
              </a:lnTo>
              <a:lnTo>
                <a:pt x="194244" y="974367"/>
              </a:lnTo>
              <a:lnTo>
                <a:pt x="388489" y="97436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761472" y="3409006"/>
        <a:ext cx="52447" cy="52447"/>
      </dsp:txXfrm>
    </dsp:sp>
    <dsp:sp modelId="{FAE838E4-0417-4BAF-8D21-5B11DC0CB238}">
      <dsp:nvSpPr>
        <dsp:cNvPr id="0" name=""/>
        <dsp:cNvSpPr/>
      </dsp:nvSpPr>
      <dsp:spPr>
        <a:xfrm>
          <a:off x="2924388" y="1973680"/>
          <a:ext cx="388489" cy="370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4244" y="0"/>
              </a:lnTo>
              <a:lnTo>
                <a:pt x="194244" y="370131"/>
              </a:lnTo>
              <a:lnTo>
                <a:pt x="388489" y="37013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3105219" y="2145331"/>
        <a:ext cx="26829" cy="26829"/>
      </dsp:txXfrm>
    </dsp:sp>
    <dsp:sp modelId="{E2A994A0-CB69-42CC-86BB-E67C2688CF94}">
      <dsp:nvSpPr>
        <dsp:cNvPr id="0" name=""/>
        <dsp:cNvSpPr/>
      </dsp:nvSpPr>
      <dsp:spPr>
        <a:xfrm>
          <a:off x="2924388" y="1603549"/>
          <a:ext cx="388489" cy="370131"/>
        </a:xfrm>
        <a:custGeom>
          <a:avLst/>
          <a:gdLst/>
          <a:ahLst/>
          <a:cxnLst/>
          <a:rect l="0" t="0" r="0" b="0"/>
          <a:pathLst>
            <a:path>
              <a:moveTo>
                <a:pt x="0" y="370131"/>
              </a:moveTo>
              <a:lnTo>
                <a:pt x="194244" y="370131"/>
              </a:lnTo>
              <a:lnTo>
                <a:pt x="194244" y="0"/>
              </a:lnTo>
              <a:lnTo>
                <a:pt x="388489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3105219" y="1775199"/>
        <a:ext cx="26829" cy="26829"/>
      </dsp:txXfrm>
    </dsp:sp>
    <dsp:sp modelId="{F090C7ED-FF6D-44A7-96AE-1125F1930C22}">
      <dsp:nvSpPr>
        <dsp:cNvPr id="0" name=""/>
        <dsp:cNvSpPr/>
      </dsp:nvSpPr>
      <dsp:spPr>
        <a:xfrm>
          <a:off x="593451" y="1973680"/>
          <a:ext cx="388489" cy="974367"/>
        </a:xfrm>
        <a:custGeom>
          <a:avLst/>
          <a:gdLst/>
          <a:ahLst/>
          <a:cxnLst/>
          <a:rect l="0" t="0" r="0" b="0"/>
          <a:pathLst>
            <a:path>
              <a:moveTo>
                <a:pt x="0" y="974367"/>
              </a:moveTo>
              <a:lnTo>
                <a:pt x="194244" y="974367"/>
              </a:lnTo>
              <a:lnTo>
                <a:pt x="194244" y="0"/>
              </a:lnTo>
              <a:lnTo>
                <a:pt x="388489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761472" y="2434639"/>
        <a:ext cx="52447" cy="52447"/>
      </dsp:txXfrm>
    </dsp:sp>
    <dsp:sp modelId="{D00C5881-0530-4041-8049-9949D65D4EE8}">
      <dsp:nvSpPr>
        <dsp:cNvPr id="0" name=""/>
        <dsp:cNvSpPr/>
      </dsp:nvSpPr>
      <dsp:spPr>
        <a:xfrm rot="16200000">
          <a:off x="-1261099" y="2651942"/>
          <a:ext cx="3116893" cy="5922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/>
            <a:t>Functions of Bank</a:t>
          </a:r>
          <a:endParaRPr lang="en-IN" sz="3400" kern="1200" dirty="0"/>
        </a:p>
      </dsp:txBody>
      <dsp:txXfrm>
        <a:off x="-1261099" y="2651942"/>
        <a:ext cx="3116893" cy="592209"/>
      </dsp:txXfrm>
    </dsp:sp>
    <dsp:sp modelId="{C0075F0F-82F5-47E4-93A3-AB8579E5F08D}">
      <dsp:nvSpPr>
        <dsp:cNvPr id="0" name=""/>
        <dsp:cNvSpPr/>
      </dsp:nvSpPr>
      <dsp:spPr>
        <a:xfrm>
          <a:off x="981941" y="1677575"/>
          <a:ext cx="1942447" cy="59220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Primary Functions</a:t>
          </a:r>
          <a:endParaRPr lang="en-IN" sz="2000" kern="1200" dirty="0"/>
        </a:p>
      </dsp:txBody>
      <dsp:txXfrm>
        <a:off x="981941" y="1677575"/>
        <a:ext cx="1942447" cy="592209"/>
      </dsp:txXfrm>
    </dsp:sp>
    <dsp:sp modelId="{8AE7FAFA-D21A-41E7-9ECD-86CDC4BC3130}">
      <dsp:nvSpPr>
        <dsp:cNvPr id="0" name=""/>
        <dsp:cNvSpPr/>
      </dsp:nvSpPr>
      <dsp:spPr>
        <a:xfrm>
          <a:off x="3312878" y="1307444"/>
          <a:ext cx="1942447" cy="5922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/>
            <a:t>Accepting </a:t>
          </a:r>
          <a:r>
            <a:rPr lang="en-IN" sz="2000" kern="1200" dirty="0"/>
            <a:t>Deposits</a:t>
          </a:r>
        </a:p>
      </dsp:txBody>
      <dsp:txXfrm>
        <a:off x="3312878" y="1307444"/>
        <a:ext cx="1942447" cy="592209"/>
      </dsp:txXfrm>
    </dsp:sp>
    <dsp:sp modelId="{AA5AF5DC-A5ED-453C-BDA6-E85F0793A842}">
      <dsp:nvSpPr>
        <dsp:cNvPr id="0" name=""/>
        <dsp:cNvSpPr/>
      </dsp:nvSpPr>
      <dsp:spPr>
        <a:xfrm>
          <a:off x="3312878" y="2047706"/>
          <a:ext cx="1942447" cy="5922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Grant of Loans and Advances</a:t>
          </a:r>
          <a:endParaRPr lang="en-IN" sz="2000" kern="1200" dirty="0"/>
        </a:p>
      </dsp:txBody>
      <dsp:txXfrm>
        <a:off x="3312878" y="2047706"/>
        <a:ext cx="1942447" cy="592209"/>
      </dsp:txXfrm>
    </dsp:sp>
    <dsp:sp modelId="{AFFD1705-B221-41D0-AF57-AEF004C444AB}">
      <dsp:nvSpPr>
        <dsp:cNvPr id="0" name=""/>
        <dsp:cNvSpPr/>
      </dsp:nvSpPr>
      <dsp:spPr>
        <a:xfrm>
          <a:off x="981941" y="3626309"/>
          <a:ext cx="1942447" cy="59220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Secondary Functions</a:t>
          </a:r>
          <a:endParaRPr lang="en-IN" sz="2000" kern="1200" dirty="0"/>
        </a:p>
      </dsp:txBody>
      <dsp:txXfrm>
        <a:off x="981941" y="3626309"/>
        <a:ext cx="1942447" cy="592209"/>
      </dsp:txXfrm>
    </dsp:sp>
    <dsp:sp modelId="{387FC131-BA0C-495C-BF4B-D486025861A0}">
      <dsp:nvSpPr>
        <dsp:cNvPr id="0" name=""/>
        <dsp:cNvSpPr/>
      </dsp:nvSpPr>
      <dsp:spPr>
        <a:xfrm>
          <a:off x="3312878" y="2787968"/>
          <a:ext cx="1942447" cy="5922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/>
            <a:t>Agency </a:t>
          </a:r>
          <a:r>
            <a:rPr lang="en-IN" sz="2000" kern="1200" dirty="0"/>
            <a:t>Functions</a:t>
          </a:r>
        </a:p>
      </dsp:txBody>
      <dsp:txXfrm>
        <a:off x="3312878" y="2787968"/>
        <a:ext cx="1942447" cy="592209"/>
      </dsp:txXfrm>
    </dsp:sp>
    <dsp:sp modelId="{47957337-1CA5-4F88-9BE1-B4FFAFB9E110}">
      <dsp:nvSpPr>
        <dsp:cNvPr id="0" name=""/>
        <dsp:cNvSpPr/>
      </dsp:nvSpPr>
      <dsp:spPr>
        <a:xfrm>
          <a:off x="3312878" y="3528230"/>
          <a:ext cx="1942447" cy="1528629"/>
        </a:xfrm>
        <a:prstGeom prst="rect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 smtClean="0"/>
            <a:t>General </a:t>
          </a:r>
          <a:r>
            <a:rPr lang="en-IN" sz="2000" b="1" kern="1200" dirty="0"/>
            <a:t>Utility Functions</a:t>
          </a:r>
        </a:p>
      </dsp:txBody>
      <dsp:txXfrm>
        <a:off x="3312878" y="3528230"/>
        <a:ext cx="1942447" cy="152862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229DF9-6C5F-458B-AEBC-3B6AA09B7B7B}">
      <dsp:nvSpPr>
        <dsp:cNvPr id="0" name=""/>
        <dsp:cNvSpPr/>
      </dsp:nvSpPr>
      <dsp:spPr>
        <a:xfrm rot="5400000">
          <a:off x="5998670" y="-3976094"/>
          <a:ext cx="1373411" cy="9674155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Payment is made to the person bearing or carrying the </a:t>
          </a:r>
          <a:r>
            <a:rPr lang="en-US" sz="2800" kern="1200" dirty="0" err="1" smtClean="0"/>
            <a:t>cheque</a:t>
          </a:r>
          <a:r>
            <a:rPr lang="en-US" sz="2800" kern="1200" dirty="0" smtClean="0"/>
            <a:t>.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Does not require the payee’s name to be written on it.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Payment in the form of cash.</a:t>
          </a:r>
          <a:endParaRPr lang="en-US" sz="2800" kern="1200" dirty="0"/>
        </a:p>
      </dsp:txBody>
      <dsp:txXfrm rot="-5400000">
        <a:off x="1848298" y="241322"/>
        <a:ext cx="9607111" cy="1239323"/>
      </dsp:txXfrm>
    </dsp:sp>
    <dsp:sp modelId="{D462FB03-E15D-4A9B-B0D8-C19CA7918D43}">
      <dsp:nvSpPr>
        <dsp:cNvPr id="0" name=""/>
        <dsp:cNvSpPr/>
      </dsp:nvSpPr>
      <dsp:spPr>
        <a:xfrm>
          <a:off x="953" y="2601"/>
          <a:ext cx="1847345" cy="171676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/>
            <a:t>Bearer </a:t>
          </a:r>
          <a:r>
            <a:rPr lang="en-US" sz="2800" b="1" kern="1200" dirty="0" err="1" smtClean="0"/>
            <a:t>Cheque</a:t>
          </a:r>
          <a:endParaRPr lang="en-US" sz="2800" b="1" kern="1200" dirty="0"/>
        </a:p>
      </dsp:txBody>
      <dsp:txXfrm>
        <a:off x="84759" y="86407"/>
        <a:ext cx="1679733" cy="1549152"/>
      </dsp:txXfrm>
    </dsp:sp>
    <dsp:sp modelId="{A01AFD3B-16F4-4FFC-8DF9-F7692054684E}">
      <dsp:nvSpPr>
        <dsp:cNvPr id="0" name=""/>
        <dsp:cNvSpPr/>
      </dsp:nvSpPr>
      <dsp:spPr>
        <a:xfrm rot="5400000">
          <a:off x="5998670" y="-2173491"/>
          <a:ext cx="1373411" cy="9674155"/>
        </a:xfrm>
        <a:prstGeom prst="round2SameRect">
          <a:avLst/>
        </a:prstGeom>
        <a:solidFill>
          <a:schemeClr val="accent5">
            <a:tint val="40000"/>
            <a:alpha val="90000"/>
            <a:hueOff val="-696085"/>
            <a:satOff val="-24351"/>
            <a:lumOff val="-164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96085"/>
              <a:satOff val="-24351"/>
              <a:lumOff val="-1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Payment to the person </a:t>
          </a:r>
          <a:r>
            <a:rPr lang="en-US" sz="2800" kern="1200" dirty="0" err="1" smtClean="0"/>
            <a:t>whoes</a:t>
          </a:r>
          <a:r>
            <a:rPr lang="en-US" sz="2800" kern="1200" dirty="0" smtClean="0"/>
            <a:t> name is mentioned.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Bank will do background check to authenticate the identity.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Payment in the form of cash or account transfer.</a:t>
          </a:r>
          <a:endParaRPr lang="en-US" sz="2800" kern="1200" dirty="0"/>
        </a:p>
      </dsp:txBody>
      <dsp:txXfrm rot="-5400000">
        <a:off x="1848298" y="2043925"/>
        <a:ext cx="9607111" cy="1239323"/>
      </dsp:txXfrm>
    </dsp:sp>
    <dsp:sp modelId="{B055BBDF-CD66-4860-809F-C555B45AFD69}">
      <dsp:nvSpPr>
        <dsp:cNvPr id="0" name=""/>
        <dsp:cNvSpPr/>
      </dsp:nvSpPr>
      <dsp:spPr>
        <a:xfrm>
          <a:off x="953" y="1805204"/>
          <a:ext cx="1847345" cy="1716764"/>
        </a:xfrm>
        <a:prstGeom prst="roundRect">
          <a:avLst/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/>
            <a:t>Order </a:t>
          </a:r>
          <a:r>
            <a:rPr lang="en-US" sz="2800" b="1" kern="1200" dirty="0" err="1" smtClean="0"/>
            <a:t>Cheque</a:t>
          </a:r>
          <a:endParaRPr lang="en-US" sz="2800" b="1" kern="1200" dirty="0"/>
        </a:p>
      </dsp:txBody>
      <dsp:txXfrm>
        <a:off x="84759" y="1889010"/>
        <a:ext cx="1679733" cy="1549152"/>
      </dsp:txXfrm>
    </dsp:sp>
    <dsp:sp modelId="{120C9E11-AC89-43A5-9B62-6C2D69BEBF5F}">
      <dsp:nvSpPr>
        <dsp:cNvPr id="0" name=""/>
        <dsp:cNvSpPr/>
      </dsp:nvSpPr>
      <dsp:spPr>
        <a:xfrm rot="5400000">
          <a:off x="5998670" y="-370888"/>
          <a:ext cx="1373411" cy="9674155"/>
        </a:xfrm>
        <a:prstGeom prst="round2SameRect">
          <a:avLst/>
        </a:prstGeom>
        <a:solidFill>
          <a:schemeClr val="accent5">
            <a:tint val="40000"/>
            <a:alpha val="90000"/>
            <a:hueOff val="-1392170"/>
            <a:satOff val="-48701"/>
            <a:lumOff val="-329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392170"/>
              <a:satOff val="-48701"/>
              <a:lumOff val="-329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Two parallel lines on the top left corner.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It can only be deposited directly in to bank account.</a:t>
          </a:r>
          <a:endParaRPr lang="en-US" sz="2800" kern="1200" dirty="0"/>
        </a:p>
      </dsp:txBody>
      <dsp:txXfrm rot="-5400000">
        <a:off x="1848298" y="3846528"/>
        <a:ext cx="9607111" cy="1239323"/>
      </dsp:txXfrm>
    </dsp:sp>
    <dsp:sp modelId="{4EA86636-5CE1-471E-98B5-A8FD7E0FC176}">
      <dsp:nvSpPr>
        <dsp:cNvPr id="0" name=""/>
        <dsp:cNvSpPr/>
      </dsp:nvSpPr>
      <dsp:spPr>
        <a:xfrm>
          <a:off x="953" y="3607807"/>
          <a:ext cx="1847345" cy="1716764"/>
        </a:xfrm>
        <a:prstGeom prst="roundRect">
          <a:avLst/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/>
            <a:t>Crossed </a:t>
          </a:r>
          <a:r>
            <a:rPr lang="en-US" sz="2800" b="1" kern="1200" dirty="0" err="1" smtClean="0"/>
            <a:t>Cheque</a:t>
          </a:r>
          <a:endParaRPr lang="en-US" sz="2800" b="1" kern="1200" dirty="0"/>
        </a:p>
      </dsp:txBody>
      <dsp:txXfrm>
        <a:off x="84759" y="3691613"/>
        <a:ext cx="1679733" cy="154915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229DF9-6C5F-458B-AEBC-3B6AA09B7B7B}">
      <dsp:nvSpPr>
        <dsp:cNvPr id="0" name=""/>
        <dsp:cNvSpPr/>
      </dsp:nvSpPr>
      <dsp:spPr>
        <a:xfrm rot="5400000">
          <a:off x="5998563" y="-3975960"/>
          <a:ext cx="1373625" cy="9674155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Not Crossed.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Can be encased at any bank.</a:t>
          </a:r>
          <a:endParaRPr lang="en-US" sz="2800" kern="1200" dirty="0"/>
        </a:p>
      </dsp:txBody>
      <dsp:txXfrm rot="-5400000">
        <a:off x="1848299" y="241359"/>
        <a:ext cx="9607100" cy="1239515"/>
      </dsp:txXfrm>
    </dsp:sp>
    <dsp:sp modelId="{D462FB03-E15D-4A9B-B0D8-C19CA7918D43}">
      <dsp:nvSpPr>
        <dsp:cNvPr id="0" name=""/>
        <dsp:cNvSpPr/>
      </dsp:nvSpPr>
      <dsp:spPr>
        <a:xfrm>
          <a:off x="953" y="2601"/>
          <a:ext cx="1847345" cy="17170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/>
            <a:t>Open </a:t>
          </a:r>
          <a:r>
            <a:rPr lang="en-US" sz="2800" b="1" kern="1200" dirty="0" err="1" smtClean="0"/>
            <a:t>Cheque</a:t>
          </a:r>
          <a:endParaRPr lang="en-US" sz="2800" b="1" kern="1200" dirty="0"/>
        </a:p>
      </dsp:txBody>
      <dsp:txXfrm>
        <a:off x="84772" y="86420"/>
        <a:ext cx="1679707" cy="1549393"/>
      </dsp:txXfrm>
    </dsp:sp>
    <dsp:sp modelId="{A01AFD3B-16F4-4FFC-8DF9-F7692054684E}">
      <dsp:nvSpPr>
        <dsp:cNvPr id="0" name=""/>
        <dsp:cNvSpPr/>
      </dsp:nvSpPr>
      <dsp:spPr>
        <a:xfrm rot="5400000">
          <a:off x="5998563" y="-2173077"/>
          <a:ext cx="1373625" cy="9674155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Future dated </a:t>
          </a:r>
          <a:r>
            <a:rPr lang="en-US" sz="2800" kern="1200" dirty="0" err="1" smtClean="0"/>
            <a:t>cheque</a:t>
          </a:r>
          <a:r>
            <a:rPr lang="en-US" sz="2800" kern="1200" dirty="0" smtClean="0"/>
            <a:t>.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Can not be cashed or deposited until the date mentioned.</a:t>
          </a:r>
          <a:endParaRPr lang="en-US" sz="2800" kern="1200" dirty="0"/>
        </a:p>
      </dsp:txBody>
      <dsp:txXfrm rot="-5400000">
        <a:off x="1848299" y="2044242"/>
        <a:ext cx="9607100" cy="1239515"/>
      </dsp:txXfrm>
    </dsp:sp>
    <dsp:sp modelId="{B055BBDF-CD66-4860-809F-C555B45AFD69}">
      <dsp:nvSpPr>
        <dsp:cNvPr id="0" name=""/>
        <dsp:cNvSpPr/>
      </dsp:nvSpPr>
      <dsp:spPr>
        <a:xfrm>
          <a:off x="953" y="1805484"/>
          <a:ext cx="1847345" cy="171703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/>
            <a:t>Post dated </a:t>
          </a:r>
          <a:r>
            <a:rPr lang="en-US" sz="2800" b="1" kern="1200" dirty="0" err="1" smtClean="0"/>
            <a:t>Cheque</a:t>
          </a:r>
          <a:endParaRPr lang="en-US" sz="2800" b="1" kern="1200" dirty="0"/>
        </a:p>
      </dsp:txBody>
      <dsp:txXfrm>
        <a:off x="84772" y="1889303"/>
        <a:ext cx="1679707" cy="1549393"/>
      </dsp:txXfrm>
    </dsp:sp>
    <dsp:sp modelId="{120C9E11-AC89-43A5-9B62-6C2D69BEBF5F}">
      <dsp:nvSpPr>
        <dsp:cNvPr id="0" name=""/>
        <dsp:cNvSpPr/>
      </dsp:nvSpPr>
      <dsp:spPr>
        <a:xfrm rot="5400000">
          <a:off x="5998563" y="-370194"/>
          <a:ext cx="1373625" cy="9674155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More than 3 months old </a:t>
          </a:r>
          <a:r>
            <a:rPr lang="en-US" sz="2800" kern="1200" dirty="0" err="1" smtClean="0"/>
            <a:t>cheque</a:t>
          </a:r>
          <a:r>
            <a:rPr lang="en-US" sz="2800" kern="1200" dirty="0" smtClean="0"/>
            <a:t>.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Invalid </a:t>
          </a:r>
          <a:r>
            <a:rPr lang="en-US" sz="2800" kern="1200" dirty="0" err="1" smtClean="0"/>
            <a:t>cheque</a:t>
          </a:r>
          <a:r>
            <a:rPr lang="en-US" sz="2800" kern="1200" dirty="0" smtClean="0"/>
            <a:t>.</a:t>
          </a:r>
          <a:endParaRPr lang="en-US" sz="2800" kern="1200" dirty="0"/>
        </a:p>
      </dsp:txBody>
      <dsp:txXfrm rot="-5400000">
        <a:off x="1848299" y="3847125"/>
        <a:ext cx="9607100" cy="1239515"/>
      </dsp:txXfrm>
    </dsp:sp>
    <dsp:sp modelId="{4EA86636-5CE1-471E-98B5-A8FD7E0FC176}">
      <dsp:nvSpPr>
        <dsp:cNvPr id="0" name=""/>
        <dsp:cNvSpPr/>
      </dsp:nvSpPr>
      <dsp:spPr>
        <a:xfrm>
          <a:off x="953" y="3608367"/>
          <a:ext cx="1847345" cy="171703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/>
            <a:t>Stale </a:t>
          </a:r>
          <a:r>
            <a:rPr lang="en-US" sz="2800" b="1" kern="1200" dirty="0" err="1" smtClean="0"/>
            <a:t>Cheque</a:t>
          </a:r>
          <a:endParaRPr lang="en-US" sz="2800" b="1" kern="1200" dirty="0"/>
        </a:p>
      </dsp:txBody>
      <dsp:txXfrm>
        <a:off x="84772" y="3692186"/>
        <a:ext cx="1679707" cy="154939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229DF9-6C5F-458B-AEBC-3B6AA09B7B7B}">
      <dsp:nvSpPr>
        <dsp:cNvPr id="0" name=""/>
        <dsp:cNvSpPr/>
      </dsp:nvSpPr>
      <dsp:spPr>
        <a:xfrm rot="5400000">
          <a:off x="5998563" y="-3975960"/>
          <a:ext cx="1373625" cy="9674155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‘self’ written in payee column.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To withdraw money from your own account.</a:t>
          </a:r>
          <a:endParaRPr lang="en-US" sz="2800" kern="1200" dirty="0"/>
        </a:p>
      </dsp:txBody>
      <dsp:txXfrm rot="-5400000">
        <a:off x="1848299" y="241359"/>
        <a:ext cx="9607100" cy="1239515"/>
      </dsp:txXfrm>
    </dsp:sp>
    <dsp:sp modelId="{D462FB03-E15D-4A9B-B0D8-C19CA7918D43}">
      <dsp:nvSpPr>
        <dsp:cNvPr id="0" name=""/>
        <dsp:cNvSpPr/>
      </dsp:nvSpPr>
      <dsp:spPr>
        <a:xfrm>
          <a:off x="953" y="2601"/>
          <a:ext cx="1847345" cy="171703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/>
            <a:t>Self </a:t>
          </a:r>
          <a:r>
            <a:rPr lang="en-US" sz="2800" b="1" kern="1200" dirty="0" err="1" smtClean="0"/>
            <a:t>Cheque</a:t>
          </a:r>
          <a:endParaRPr lang="en-US" sz="2800" b="1" kern="1200" dirty="0"/>
        </a:p>
      </dsp:txBody>
      <dsp:txXfrm>
        <a:off x="84772" y="86420"/>
        <a:ext cx="1679707" cy="1549393"/>
      </dsp:txXfrm>
    </dsp:sp>
    <dsp:sp modelId="{A01AFD3B-16F4-4FFC-8DF9-F7692054684E}">
      <dsp:nvSpPr>
        <dsp:cNvPr id="0" name=""/>
        <dsp:cNvSpPr/>
      </dsp:nvSpPr>
      <dsp:spPr>
        <a:xfrm rot="5400000">
          <a:off x="5998563" y="-2173077"/>
          <a:ext cx="1373625" cy="9674155"/>
        </a:xfrm>
        <a:prstGeom prst="round2SameRect">
          <a:avLst/>
        </a:prstGeom>
        <a:solidFill>
          <a:schemeClr val="accent3">
            <a:tint val="40000"/>
            <a:alpha val="90000"/>
            <a:hueOff val="1829363"/>
            <a:satOff val="-7872"/>
            <a:lumOff val="-1351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829363"/>
              <a:satOff val="-7872"/>
              <a:lumOff val="-13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Two parallel lines across the </a:t>
          </a:r>
          <a:r>
            <a:rPr lang="en-US" sz="2800" kern="1200" dirty="0" err="1" smtClean="0"/>
            <a:t>cheque</a:t>
          </a:r>
          <a:r>
            <a:rPr lang="en-US" sz="2800" kern="1200" dirty="0" smtClean="0"/>
            <a:t> and written ‘CANCELLED’ between them.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Not used for financial transaction.</a:t>
          </a:r>
          <a:endParaRPr lang="en-US" sz="2800" kern="1200" dirty="0"/>
        </a:p>
      </dsp:txBody>
      <dsp:txXfrm rot="-5400000">
        <a:off x="1848299" y="2044242"/>
        <a:ext cx="9607100" cy="1239515"/>
      </dsp:txXfrm>
    </dsp:sp>
    <dsp:sp modelId="{B055BBDF-CD66-4860-809F-C555B45AFD69}">
      <dsp:nvSpPr>
        <dsp:cNvPr id="0" name=""/>
        <dsp:cNvSpPr/>
      </dsp:nvSpPr>
      <dsp:spPr>
        <a:xfrm>
          <a:off x="953" y="1805484"/>
          <a:ext cx="1847345" cy="1717031"/>
        </a:xfrm>
        <a:prstGeom prst="roundRect">
          <a:avLst/>
        </a:prstGeom>
        <a:solidFill>
          <a:schemeClr val="accent3">
            <a:hueOff val="2326503"/>
            <a:satOff val="9150"/>
            <a:lumOff val="-774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/>
            <a:t>Cancel </a:t>
          </a:r>
          <a:r>
            <a:rPr lang="en-US" sz="2800" b="1" kern="1200" dirty="0" err="1" smtClean="0"/>
            <a:t>Cheque</a:t>
          </a:r>
          <a:endParaRPr lang="en-US" sz="2800" b="1" kern="1200" dirty="0"/>
        </a:p>
      </dsp:txBody>
      <dsp:txXfrm>
        <a:off x="84772" y="1889303"/>
        <a:ext cx="1679707" cy="1549393"/>
      </dsp:txXfrm>
    </dsp:sp>
    <dsp:sp modelId="{120C9E11-AC89-43A5-9B62-6C2D69BEBF5F}">
      <dsp:nvSpPr>
        <dsp:cNvPr id="0" name=""/>
        <dsp:cNvSpPr/>
      </dsp:nvSpPr>
      <dsp:spPr>
        <a:xfrm rot="5400000">
          <a:off x="5998563" y="-370194"/>
          <a:ext cx="1373625" cy="9674155"/>
        </a:xfrm>
        <a:prstGeom prst="round2SameRect">
          <a:avLst/>
        </a:prstGeom>
        <a:solidFill>
          <a:schemeClr val="accent3">
            <a:tint val="40000"/>
            <a:alpha val="90000"/>
            <a:hueOff val="3658727"/>
            <a:satOff val="-15744"/>
            <a:lumOff val="-2702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3658727"/>
              <a:satOff val="-15744"/>
              <a:lumOff val="-27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Issued by the bank itself.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Typically used for high-value transaction.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Amount is debited &amp; then </a:t>
          </a:r>
          <a:r>
            <a:rPr lang="en-US" sz="2800" kern="1200" dirty="0" err="1" smtClean="0"/>
            <a:t>cheque</a:t>
          </a:r>
          <a:r>
            <a:rPr lang="en-US" sz="2800" kern="1200" dirty="0" smtClean="0"/>
            <a:t> is issued by the bank.</a:t>
          </a:r>
          <a:endParaRPr lang="en-US" sz="2800" kern="1200" dirty="0"/>
        </a:p>
      </dsp:txBody>
      <dsp:txXfrm rot="-5400000">
        <a:off x="1848299" y="3847125"/>
        <a:ext cx="9607100" cy="1239515"/>
      </dsp:txXfrm>
    </dsp:sp>
    <dsp:sp modelId="{4EA86636-5CE1-471E-98B5-A8FD7E0FC176}">
      <dsp:nvSpPr>
        <dsp:cNvPr id="0" name=""/>
        <dsp:cNvSpPr/>
      </dsp:nvSpPr>
      <dsp:spPr>
        <a:xfrm>
          <a:off x="953" y="3608367"/>
          <a:ext cx="1847345" cy="1717031"/>
        </a:xfrm>
        <a:prstGeom prst="roundRect">
          <a:avLst/>
        </a:prstGeom>
        <a:solidFill>
          <a:schemeClr val="accent3">
            <a:hueOff val="4653005"/>
            <a:satOff val="18301"/>
            <a:lumOff val="-154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/>
            <a:t>Banker’s </a:t>
          </a:r>
          <a:r>
            <a:rPr lang="en-US" sz="2800" b="1" kern="1200" dirty="0" err="1" smtClean="0"/>
            <a:t>Cheque</a:t>
          </a:r>
          <a:endParaRPr lang="en-US" sz="2800" b="1" kern="1200" dirty="0"/>
        </a:p>
      </dsp:txBody>
      <dsp:txXfrm>
        <a:off x="84772" y="3692186"/>
        <a:ext cx="1679707" cy="154939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229DF9-6C5F-458B-AEBC-3B6AA09B7B7B}">
      <dsp:nvSpPr>
        <dsp:cNvPr id="0" name=""/>
        <dsp:cNvSpPr/>
      </dsp:nvSpPr>
      <dsp:spPr>
        <a:xfrm rot="5400000">
          <a:off x="5998553" y="-3977710"/>
          <a:ext cx="1373645" cy="9674155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Pre-printed, fixed amount </a:t>
          </a:r>
          <a:r>
            <a:rPr lang="en-US" sz="2800" kern="1200" dirty="0" err="1" smtClean="0"/>
            <a:t>cheque</a:t>
          </a:r>
          <a:r>
            <a:rPr lang="en-US" sz="2800" kern="1200" dirty="0" smtClean="0"/>
            <a:t>.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/>
            <a:t>Designed for travelers to exchange for local currency.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smtClean="0"/>
            <a:t>Traveller’s cheque do not expire and can be used for future trip</a:t>
          </a:r>
          <a:endParaRPr lang="en-US" sz="2800" kern="1200" dirty="0"/>
        </a:p>
      </dsp:txBody>
      <dsp:txXfrm rot="-5400000">
        <a:off x="1848298" y="239601"/>
        <a:ext cx="9607099" cy="1239533"/>
      </dsp:txXfrm>
    </dsp:sp>
    <dsp:sp modelId="{D462FB03-E15D-4A9B-B0D8-C19CA7918D43}">
      <dsp:nvSpPr>
        <dsp:cNvPr id="0" name=""/>
        <dsp:cNvSpPr/>
      </dsp:nvSpPr>
      <dsp:spPr>
        <a:xfrm>
          <a:off x="953" y="839"/>
          <a:ext cx="1847345" cy="1717056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err="1" smtClean="0"/>
            <a:t>Traveller’s</a:t>
          </a:r>
          <a:r>
            <a:rPr lang="en-US" sz="2800" b="1" kern="1200" dirty="0" smtClean="0"/>
            <a:t> </a:t>
          </a:r>
          <a:r>
            <a:rPr lang="en-US" sz="2800" b="1" kern="1200" dirty="0" err="1" smtClean="0"/>
            <a:t>Cheque</a:t>
          </a:r>
          <a:endParaRPr lang="en-US" sz="2800" b="1" kern="1200" dirty="0"/>
        </a:p>
      </dsp:txBody>
      <dsp:txXfrm>
        <a:off x="84773" y="84659"/>
        <a:ext cx="1679705" cy="154941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ADF544-0917-4C57-A945-3B75314647E6}">
      <dsp:nvSpPr>
        <dsp:cNvPr id="0" name=""/>
        <dsp:cNvSpPr/>
      </dsp:nvSpPr>
      <dsp:spPr>
        <a:xfrm>
          <a:off x="789080" y="2795282"/>
          <a:ext cx="516481" cy="4920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8240" y="0"/>
              </a:lnTo>
              <a:lnTo>
                <a:pt x="258240" y="492074"/>
              </a:lnTo>
              <a:lnTo>
                <a:pt x="516481" y="492074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1029487" y="3023485"/>
        <a:ext cx="35668" cy="35668"/>
      </dsp:txXfrm>
    </dsp:sp>
    <dsp:sp modelId="{6A52717E-C80F-4B30-A590-4FB7249FCA8D}">
      <dsp:nvSpPr>
        <dsp:cNvPr id="0" name=""/>
        <dsp:cNvSpPr/>
      </dsp:nvSpPr>
      <dsp:spPr>
        <a:xfrm>
          <a:off x="789080" y="2303207"/>
          <a:ext cx="516481" cy="492074"/>
        </a:xfrm>
        <a:custGeom>
          <a:avLst/>
          <a:gdLst/>
          <a:ahLst/>
          <a:cxnLst/>
          <a:rect l="0" t="0" r="0" b="0"/>
          <a:pathLst>
            <a:path>
              <a:moveTo>
                <a:pt x="0" y="492074"/>
              </a:moveTo>
              <a:lnTo>
                <a:pt x="258240" y="492074"/>
              </a:lnTo>
              <a:lnTo>
                <a:pt x="258240" y="0"/>
              </a:lnTo>
              <a:lnTo>
                <a:pt x="516481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1029487" y="2531410"/>
        <a:ext cx="35668" cy="35668"/>
      </dsp:txXfrm>
    </dsp:sp>
    <dsp:sp modelId="{D415AA1C-0DB8-458C-B28A-06CD9DF57E25}">
      <dsp:nvSpPr>
        <dsp:cNvPr id="0" name=""/>
        <dsp:cNvSpPr/>
      </dsp:nvSpPr>
      <dsp:spPr>
        <a:xfrm rot="16200000">
          <a:off x="-1676473" y="2401622"/>
          <a:ext cx="4143787" cy="78731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0" b="1" kern="1200" dirty="0"/>
            <a:t>Types of Loans</a:t>
          </a:r>
          <a:endParaRPr lang="en-IN" sz="5000" b="1" kern="1200" dirty="0"/>
        </a:p>
      </dsp:txBody>
      <dsp:txXfrm>
        <a:off x="-1676473" y="2401622"/>
        <a:ext cx="4143787" cy="787319"/>
      </dsp:txXfrm>
    </dsp:sp>
    <dsp:sp modelId="{7EB9A1DF-F18A-4294-A1FF-2985FA3C88F6}">
      <dsp:nvSpPr>
        <dsp:cNvPr id="0" name=""/>
        <dsp:cNvSpPr/>
      </dsp:nvSpPr>
      <dsp:spPr>
        <a:xfrm>
          <a:off x="1305562" y="1909547"/>
          <a:ext cx="2582408" cy="78731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900" b="1" i="0" kern="1200" dirty="0"/>
            <a:t>Secured Loans</a:t>
          </a:r>
          <a:endParaRPr lang="en-IN" sz="2900" kern="1200" dirty="0"/>
        </a:p>
      </dsp:txBody>
      <dsp:txXfrm>
        <a:off x="1305562" y="1909547"/>
        <a:ext cx="2582408" cy="787319"/>
      </dsp:txXfrm>
    </dsp:sp>
    <dsp:sp modelId="{4076950C-B835-42DD-90A5-7434565D4FD0}">
      <dsp:nvSpPr>
        <dsp:cNvPr id="0" name=""/>
        <dsp:cNvSpPr/>
      </dsp:nvSpPr>
      <dsp:spPr>
        <a:xfrm>
          <a:off x="1305562" y="2893697"/>
          <a:ext cx="2582408" cy="78731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900" b="1" i="0" kern="1200" dirty="0"/>
            <a:t>Unsecured Loans</a:t>
          </a:r>
          <a:endParaRPr lang="en-IN" sz="2900" kern="1200" dirty="0"/>
        </a:p>
      </dsp:txBody>
      <dsp:txXfrm>
        <a:off x="1305562" y="2893697"/>
        <a:ext cx="2582408" cy="787319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3491E1-8997-4292-97E3-D108799D8DE5}">
      <dsp:nvSpPr>
        <dsp:cNvPr id="0" name=""/>
        <dsp:cNvSpPr/>
      </dsp:nvSpPr>
      <dsp:spPr>
        <a:xfrm>
          <a:off x="1275295" y="2938105"/>
          <a:ext cx="453022" cy="25896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6511" y="0"/>
              </a:lnTo>
              <a:lnTo>
                <a:pt x="226511" y="2589686"/>
              </a:lnTo>
              <a:lnTo>
                <a:pt x="453022" y="258968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/>
        </a:p>
      </dsp:txBody>
      <dsp:txXfrm>
        <a:off x="1436081" y="4167223"/>
        <a:ext cx="131450" cy="131450"/>
      </dsp:txXfrm>
    </dsp:sp>
    <dsp:sp modelId="{34ADF544-0917-4C57-A945-3B75314647E6}">
      <dsp:nvSpPr>
        <dsp:cNvPr id="0" name=""/>
        <dsp:cNvSpPr/>
      </dsp:nvSpPr>
      <dsp:spPr>
        <a:xfrm>
          <a:off x="1275295" y="2938105"/>
          <a:ext cx="453022" cy="17264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6511" y="0"/>
              </a:lnTo>
              <a:lnTo>
                <a:pt x="226511" y="1726457"/>
              </a:lnTo>
              <a:lnTo>
                <a:pt x="453022" y="172645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00" kern="1200"/>
        </a:p>
      </dsp:txBody>
      <dsp:txXfrm>
        <a:off x="1457184" y="3756711"/>
        <a:ext cx="89245" cy="89245"/>
      </dsp:txXfrm>
    </dsp:sp>
    <dsp:sp modelId="{3CD97F39-7ED3-41BC-8EEF-FEEC422902BA}">
      <dsp:nvSpPr>
        <dsp:cNvPr id="0" name=""/>
        <dsp:cNvSpPr/>
      </dsp:nvSpPr>
      <dsp:spPr>
        <a:xfrm>
          <a:off x="1275295" y="2938105"/>
          <a:ext cx="453022" cy="863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6511" y="0"/>
              </a:lnTo>
              <a:lnTo>
                <a:pt x="226511" y="863228"/>
              </a:lnTo>
              <a:lnTo>
                <a:pt x="453022" y="86322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1477435" y="3345347"/>
        <a:ext cx="48744" cy="48744"/>
      </dsp:txXfrm>
    </dsp:sp>
    <dsp:sp modelId="{A22C3758-F6B5-4C56-B7AA-F6101789D24C}">
      <dsp:nvSpPr>
        <dsp:cNvPr id="0" name=""/>
        <dsp:cNvSpPr/>
      </dsp:nvSpPr>
      <dsp:spPr>
        <a:xfrm>
          <a:off x="1275295" y="2892385"/>
          <a:ext cx="4530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3022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1490481" y="2926779"/>
        <a:ext cx="22651" cy="22651"/>
      </dsp:txXfrm>
    </dsp:sp>
    <dsp:sp modelId="{6ED48EE5-2790-4792-8EEB-6FD8B0BEA56E}">
      <dsp:nvSpPr>
        <dsp:cNvPr id="0" name=""/>
        <dsp:cNvSpPr/>
      </dsp:nvSpPr>
      <dsp:spPr>
        <a:xfrm>
          <a:off x="1275295" y="2074876"/>
          <a:ext cx="453022" cy="863228"/>
        </a:xfrm>
        <a:custGeom>
          <a:avLst/>
          <a:gdLst/>
          <a:ahLst/>
          <a:cxnLst/>
          <a:rect l="0" t="0" r="0" b="0"/>
          <a:pathLst>
            <a:path>
              <a:moveTo>
                <a:pt x="0" y="863228"/>
              </a:moveTo>
              <a:lnTo>
                <a:pt x="226511" y="863228"/>
              </a:lnTo>
              <a:lnTo>
                <a:pt x="226511" y="0"/>
              </a:lnTo>
              <a:lnTo>
                <a:pt x="453022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1477435" y="2482119"/>
        <a:ext cx="48744" cy="48744"/>
      </dsp:txXfrm>
    </dsp:sp>
    <dsp:sp modelId="{08A68575-FA94-4272-8D9D-BF4CAC0B2B24}">
      <dsp:nvSpPr>
        <dsp:cNvPr id="0" name=""/>
        <dsp:cNvSpPr/>
      </dsp:nvSpPr>
      <dsp:spPr>
        <a:xfrm>
          <a:off x="1275295" y="1211647"/>
          <a:ext cx="453022" cy="1726457"/>
        </a:xfrm>
        <a:custGeom>
          <a:avLst/>
          <a:gdLst/>
          <a:ahLst/>
          <a:cxnLst/>
          <a:rect l="0" t="0" r="0" b="0"/>
          <a:pathLst>
            <a:path>
              <a:moveTo>
                <a:pt x="0" y="1726457"/>
              </a:moveTo>
              <a:lnTo>
                <a:pt x="226511" y="1726457"/>
              </a:lnTo>
              <a:lnTo>
                <a:pt x="226511" y="0"/>
              </a:lnTo>
              <a:lnTo>
                <a:pt x="453022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600" kern="1200"/>
        </a:p>
      </dsp:txBody>
      <dsp:txXfrm>
        <a:off x="1457184" y="2030253"/>
        <a:ext cx="89245" cy="89245"/>
      </dsp:txXfrm>
    </dsp:sp>
    <dsp:sp modelId="{6A52717E-C80F-4B30-A590-4FB7249FCA8D}">
      <dsp:nvSpPr>
        <dsp:cNvPr id="0" name=""/>
        <dsp:cNvSpPr/>
      </dsp:nvSpPr>
      <dsp:spPr>
        <a:xfrm>
          <a:off x="1275295" y="348418"/>
          <a:ext cx="453022" cy="2589686"/>
        </a:xfrm>
        <a:custGeom>
          <a:avLst/>
          <a:gdLst/>
          <a:ahLst/>
          <a:cxnLst/>
          <a:rect l="0" t="0" r="0" b="0"/>
          <a:pathLst>
            <a:path>
              <a:moveTo>
                <a:pt x="0" y="2589686"/>
              </a:moveTo>
              <a:lnTo>
                <a:pt x="226511" y="2589686"/>
              </a:lnTo>
              <a:lnTo>
                <a:pt x="226511" y="0"/>
              </a:lnTo>
              <a:lnTo>
                <a:pt x="453022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900" kern="1200"/>
        </a:p>
      </dsp:txBody>
      <dsp:txXfrm>
        <a:off x="1436081" y="1577536"/>
        <a:ext cx="131450" cy="131450"/>
      </dsp:txXfrm>
    </dsp:sp>
    <dsp:sp modelId="{D415AA1C-0DB8-458C-B28A-06CD9DF57E25}">
      <dsp:nvSpPr>
        <dsp:cNvPr id="0" name=""/>
        <dsp:cNvSpPr/>
      </dsp:nvSpPr>
      <dsp:spPr>
        <a:xfrm rot="16200000">
          <a:off x="-1522910" y="2592813"/>
          <a:ext cx="4905829" cy="69058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5000" b="1" i="0" kern="1200" dirty="0" smtClean="0"/>
            <a:t>Secured </a:t>
          </a:r>
          <a:r>
            <a:rPr lang="en-IN" sz="5000" b="1" i="0" kern="1200" dirty="0"/>
            <a:t>Loans</a:t>
          </a:r>
          <a:endParaRPr lang="en-IN" sz="5000" b="1" kern="1200" dirty="0"/>
        </a:p>
      </dsp:txBody>
      <dsp:txXfrm>
        <a:off x="-1522910" y="2592813"/>
        <a:ext cx="4905829" cy="690583"/>
      </dsp:txXfrm>
    </dsp:sp>
    <dsp:sp modelId="{7EB9A1DF-F18A-4294-A1FF-2985FA3C88F6}">
      <dsp:nvSpPr>
        <dsp:cNvPr id="0" name=""/>
        <dsp:cNvSpPr/>
      </dsp:nvSpPr>
      <dsp:spPr>
        <a:xfrm>
          <a:off x="1728318" y="3127"/>
          <a:ext cx="2694396" cy="69058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b="1" i="0" kern="1200" dirty="0"/>
            <a:t>Home Loans</a:t>
          </a:r>
          <a:endParaRPr lang="en-IN" sz="2400" kern="1200" dirty="0"/>
        </a:p>
      </dsp:txBody>
      <dsp:txXfrm>
        <a:off x="1728318" y="3127"/>
        <a:ext cx="2694396" cy="690583"/>
      </dsp:txXfrm>
    </dsp:sp>
    <dsp:sp modelId="{AE06E48F-7BF9-4001-AD7E-93B45013A007}">
      <dsp:nvSpPr>
        <dsp:cNvPr id="0" name=""/>
        <dsp:cNvSpPr/>
      </dsp:nvSpPr>
      <dsp:spPr>
        <a:xfrm>
          <a:off x="1728318" y="866356"/>
          <a:ext cx="2694396" cy="69058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b="1" i="0" kern="1200" dirty="0"/>
            <a:t>Loans Against Insurance Policies</a:t>
          </a:r>
        </a:p>
      </dsp:txBody>
      <dsp:txXfrm>
        <a:off x="1728318" y="866356"/>
        <a:ext cx="2694396" cy="690583"/>
      </dsp:txXfrm>
    </dsp:sp>
    <dsp:sp modelId="{E965A69F-D13C-407B-A241-5FDB358B4292}">
      <dsp:nvSpPr>
        <dsp:cNvPr id="0" name=""/>
        <dsp:cNvSpPr/>
      </dsp:nvSpPr>
      <dsp:spPr>
        <a:xfrm>
          <a:off x="1728318" y="1729585"/>
          <a:ext cx="2694396" cy="69058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b="1" i="0" kern="1200" dirty="0"/>
            <a:t>Loans Against Mutual Funds</a:t>
          </a:r>
        </a:p>
      </dsp:txBody>
      <dsp:txXfrm>
        <a:off x="1728318" y="1729585"/>
        <a:ext cx="2694396" cy="690583"/>
      </dsp:txXfrm>
    </dsp:sp>
    <dsp:sp modelId="{1F209913-FEDF-4D23-A36D-9BBE7CE4CFBE}">
      <dsp:nvSpPr>
        <dsp:cNvPr id="0" name=""/>
        <dsp:cNvSpPr/>
      </dsp:nvSpPr>
      <dsp:spPr>
        <a:xfrm>
          <a:off x="1728318" y="2592813"/>
          <a:ext cx="2694396" cy="69058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b="1" i="0" kern="1200"/>
            <a:t>Loans Against Fixed Deposits</a:t>
          </a:r>
        </a:p>
      </dsp:txBody>
      <dsp:txXfrm>
        <a:off x="1728318" y="2592813"/>
        <a:ext cx="2694396" cy="690583"/>
      </dsp:txXfrm>
    </dsp:sp>
    <dsp:sp modelId="{C920BEB0-1F05-495B-8301-35EEC9B5EAAC}">
      <dsp:nvSpPr>
        <dsp:cNvPr id="0" name=""/>
        <dsp:cNvSpPr/>
      </dsp:nvSpPr>
      <dsp:spPr>
        <a:xfrm>
          <a:off x="1728318" y="3456042"/>
          <a:ext cx="2694396" cy="69058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b="1" i="0" kern="1200" dirty="0"/>
            <a:t>Gold Loans</a:t>
          </a:r>
        </a:p>
      </dsp:txBody>
      <dsp:txXfrm>
        <a:off x="1728318" y="3456042"/>
        <a:ext cx="2694396" cy="690583"/>
      </dsp:txXfrm>
    </dsp:sp>
    <dsp:sp modelId="{4076950C-B835-42DD-90A5-7434565D4FD0}">
      <dsp:nvSpPr>
        <dsp:cNvPr id="0" name=""/>
        <dsp:cNvSpPr/>
      </dsp:nvSpPr>
      <dsp:spPr>
        <a:xfrm>
          <a:off x="1728318" y="4319271"/>
          <a:ext cx="2694396" cy="69058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b="1" i="0" kern="1200" dirty="0"/>
            <a:t>Loans Against Property</a:t>
          </a:r>
          <a:endParaRPr lang="en-IN" sz="2400" kern="1200" dirty="0"/>
        </a:p>
      </dsp:txBody>
      <dsp:txXfrm>
        <a:off x="1728318" y="4319271"/>
        <a:ext cx="2694396" cy="690583"/>
      </dsp:txXfrm>
    </dsp:sp>
    <dsp:sp modelId="{145D2D3F-34E2-45ED-890A-303EFD921068}">
      <dsp:nvSpPr>
        <dsp:cNvPr id="0" name=""/>
        <dsp:cNvSpPr/>
      </dsp:nvSpPr>
      <dsp:spPr>
        <a:xfrm>
          <a:off x="1728318" y="5182500"/>
          <a:ext cx="2694396" cy="69058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Vehicle loan</a:t>
          </a:r>
          <a:endParaRPr lang="en-IN" sz="2400" b="1" kern="1200" dirty="0"/>
        </a:p>
      </dsp:txBody>
      <dsp:txXfrm>
        <a:off x="1728318" y="5182500"/>
        <a:ext cx="2694396" cy="690583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ADF544-0917-4C57-A945-3B75314647E6}">
      <dsp:nvSpPr>
        <dsp:cNvPr id="0" name=""/>
        <dsp:cNvSpPr/>
      </dsp:nvSpPr>
      <dsp:spPr>
        <a:xfrm>
          <a:off x="1551345" y="2947525"/>
          <a:ext cx="533130" cy="25396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6565" y="0"/>
              </a:lnTo>
              <a:lnTo>
                <a:pt x="266565" y="2539686"/>
              </a:lnTo>
              <a:lnTo>
                <a:pt x="533130" y="253968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900" kern="1200"/>
        </a:p>
      </dsp:txBody>
      <dsp:txXfrm>
        <a:off x="1753034" y="4152492"/>
        <a:ext cx="129752" cy="129752"/>
      </dsp:txXfrm>
    </dsp:sp>
    <dsp:sp modelId="{A1966EFE-8B0C-46BD-925D-D61839E10843}">
      <dsp:nvSpPr>
        <dsp:cNvPr id="0" name=""/>
        <dsp:cNvSpPr/>
      </dsp:nvSpPr>
      <dsp:spPr>
        <a:xfrm>
          <a:off x="1551345" y="2947525"/>
          <a:ext cx="533130" cy="15238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6565" y="0"/>
              </a:lnTo>
              <a:lnTo>
                <a:pt x="266565" y="1523811"/>
              </a:lnTo>
              <a:lnTo>
                <a:pt x="533130" y="152381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1777551" y="3669071"/>
        <a:ext cx="80719" cy="80719"/>
      </dsp:txXfrm>
    </dsp:sp>
    <dsp:sp modelId="{A22C3758-F6B5-4C56-B7AA-F6101789D24C}">
      <dsp:nvSpPr>
        <dsp:cNvPr id="0" name=""/>
        <dsp:cNvSpPr/>
      </dsp:nvSpPr>
      <dsp:spPr>
        <a:xfrm>
          <a:off x="1551345" y="2947525"/>
          <a:ext cx="533130" cy="5079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6565" y="0"/>
              </a:lnTo>
              <a:lnTo>
                <a:pt x="266565" y="507937"/>
              </a:lnTo>
              <a:lnTo>
                <a:pt x="533130" y="50793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1799501" y="3183085"/>
        <a:ext cx="36818" cy="36818"/>
      </dsp:txXfrm>
    </dsp:sp>
    <dsp:sp modelId="{6ED48EE5-2790-4792-8EEB-6FD8B0BEA56E}">
      <dsp:nvSpPr>
        <dsp:cNvPr id="0" name=""/>
        <dsp:cNvSpPr/>
      </dsp:nvSpPr>
      <dsp:spPr>
        <a:xfrm>
          <a:off x="1551345" y="2439588"/>
          <a:ext cx="533130" cy="507937"/>
        </a:xfrm>
        <a:custGeom>
          <a:avLst/>
          <a:gdLst/>
          <a:ahLst/>
          <a:cxnLst/>
          <a:rect l="0" t="0" r="0" b="0"/>
          <a:pathLst>
            <a:path>
              <a:moveTo>
                <a:pt x="0" y="507937"/>
              </a:moveTo>
              <a:lnTo>
                <a:pt x="266565" y="507937"/>
              </a:lnTo>
              <a:lnTo>
                <a:pt x="266565" y="0"/>
              </a:lnTo>
              <a:lnTo>
                <a:pt x="533130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1799501" y="2675147"/>
        <a:ext cx="36818" cy="36818"/>
      </dsp:txXfrm>
    </dsp:sp>
    <dsp:sp modelId="{08A68575-FA94-4272-8D9D-BF4CAC0B2B24}">
      <dsp:nvSpPr>
        <dsp:cNvPr id="0" name=""/>
        <dsp:cNvSpPr/>
      </dsp:nvSpPr>
      <dsp:spPr>
        <a:xfrm>
          <a:off x="1551345" y="1423713"/>
          <a:ext cx="533130" cy="1523811"/>
        </a:xfrm>
        <a:custGeom>
          <a:avLst/>
          <a:gdLst/>
          <a:ahLst/>
          <a:cxnLst/>
          <a:rect l="0" t="0" r="0" b="0"/>
          <a:pathLst>
            <a:path>
              <a:moveTo>
                <a:pt x="0" y="1523811"/>
              </a:moveTo>
              <a:lnTo>
                <a:pt x="266565" y="1523811"/>
              </a:lnTo>
              <a:lnTo>
                <a:pt x="266565" y="0"/>
              </a:lnTo>
              <a:lnTo>
                <a:pt x="533130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1777551" y="2145260"/>
        <a:ext cx="80719" cy="80719"/>
      </dsp:txXfrm>
    </dsp:sp>
    <dsp:sp modelId="{6A52717E-C80F-4B30-A590-4FB7249FCA8D}">
      <dsp:nvSpPr>
        <dsp:cNvPr id="0" name=""/>
        <dsp:cNvSpPr/>
      </dsp:nvSpPr>
      <dsp:spPr>
        <a:xfrm>
          <a:off x="1551345" y="407839"/>
          <a:ext cx="533130" cy="2539686"/>
        </a:xfrm>
        <a:custGeom>
          <a:avLst/>
          <a:gdLst/>
          <a:ahLst/>
          <a:cxnLst/>
          <a:rect l="0" t="0" r="0" b="0"/>
          <a:pathLst>
            <a:path>
              <a:moveTo>
                <a:pt x="0" y="2539686"/>
              </a:moveTo>
              <a:lnTo>
                <a:pt x="266565" y="2539686"/>
              </a:lnTo>
              <a:lnTo>
                <a:pt x="266565" y="0"/>
              </a:lnTo>
              <a:lnTo>
                <a:pt x="533130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900" kern="1200"/>
        </a:p>
      </dsp:txBody>
      <dsp:txXfrm>
        <a:off x="1753034" y="1612806"/>
        <a:ext cx="129752" cy="129752"/>
      </dsp:txXfrm>
    </dsp:sp>
    <dsp:sp modelId="{D415AA1C-0DB8-458C-B28A-06CD9DF57E25}">
      <dsp:nvSpPr>
        <dsp:cNvPr id="0" name=""/>
        <dsp:cNvSpPr/>
      </dsp:nvSpPr>
      <dsp:spPr>
        <a:xfrm rot="16200000">
          <a:off x="-1762329" y="2541175"/>
          <a:ext cx="5814651" cy="81269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55" tIns="33655" rIns="33655" bIns="33655" numCol="1" spcCol="1270" anchor="ctr" anchorCtr="0">
          <a:noAutofit/>
        </a:bodyPr>
        <a:lstStyle/>
        <a:p>
          <a:pPr lvl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5300" b="1" i="0" kern="1200" dirty="0"/>
            <a:t>Unsecured Loans</a:t>
          </a:r>
          <a:endParaRPr lang="en-IN" sz="5300" b="1" kern="1200" dirty="0"/>
        </a:p>
      </dsp:txBody>
      <dsp:txXfrm>
        <a:off x="-1762329" y="2541175"/>
        <a:ext cx="5814651" cy="812699"/>
      </dsp:txXfrm>
    </dsp:sp>
    <dsp:sp modelId="{7EB9A1DF-F18A-4294-A1FF-2985FA3C88F6}">
      <dsp:nvSpPr>
        <dsp:cNvPr id="0" name=""/>
        <dsp:cNvSpPr/>
      </dsp:nvSpPr>
      <dsp:spPr>
        <a:xfrm>
          <a:off x="2084476" y="1489"/>
          <a:ext cx="2665654" cy="81269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b="1" i="0" kern="1200" dirty="0"/>
            <a:t>Personal Loans</a:t>
          </a:r>
          <a:endParaRPr lang="en-IN" sz="2400" kern="1200" dirty="0"/>
        </a:p>
      </dsp:txBody>
      <dsp:txXfrm>
        <a:off x="2084476" y="1489"/>
        <a:ext cx="2665654" cy="812699"/>
      </dsp:txXfrm>
    </dsp:sp>
    <dsp:sp modelId="{AE06E48F-7BF9-4001-AD7E-93B45013A007}">
      <dsp:nvSpPr>
        <dsp:cNvPr id="0" name=""/>
        <dsp:cNvSpPr/>
      </dsp:nvSpPr>
      <dsp:spPr>
        <a:xfrm>
          <a:off x="2084476" y="1017364"/>
          <a:ext cx="2665654" cy="81269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b="1" i="0" kern="1200" dirty="0"/>
            <a:t>Short-term Business Loans</a:t>
          </a:r>
        </a:p>
      </dsp:txBody>
      <dsp:txXfrm>
        <a:off x="2084476" y="1017364"/>
        <a:ext cx="2665654" cy="812699"/>
      </dsp:txXfrm>
    </dsp:sp>
    <dsp:sp modelId="{E965A69F-D13C-407B-A241-5FDB358B4292}">
      <dsp:nvSpPr>
        <dsp:cNvPr id="0" name=""/>
        <dsp:cNvSpPr/>
      </dsp:nvSpPr>
      <dsp:spPr>
        <a:xfrm>
          <a:off x="2084476" y="2033238"/>
          <a:ext cx="2665654" cy="81269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b="1" i="0" kern="1200" dirty="0"/>
            <a:t>Flexi Loans</a:t>
          </a:r>
        </a:p>
      </dsp:txBody>
      <dsp:txXfrm>
        <a:off x="2084476" y="2033238"/>
        <a:ext cx="2665654" cy="812699"/>
      </dsp:txXfrm>
    </dsp:sp>
    <dsp:sp modelId="{1F209913-FEDF-4D23-A36D-9BBE7CE4CFBE}">
      <dsp:nvSpPr>
        <dsp:cNvPr id="0" name=""/>
        <dsp:cNvSpPr/>
      </dsp:nvSpPr>
      <dsp:spPr>
        <a:xfrm>
          <a:off x="2084476" y="3049112"/>
          <a:ext cx="2665654" cy="81269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b="1" i="0" kern="1200" dirty="0"/>
            <a:t>Education Loans</a:t>
          </a:r>
        </a:p>
      </dsp:txBody>
      <dsp:txXfrm>
        <a:off x="2084476" y="3049112"/>
        <a:ext cx="2665654" cy="812699"/>
      </dsp:txXfrm>
    </dsp:sp>
    <dsp:sp modelId="{409B4978-D6C2-4D48-AE5C-B69C97A9C578}">
      <dsp:nvSpPr>
        <dsp:cNvPr id="0" name=""/>
        <dsp:cNvSpPr/>
      </dsp:nvSpPr>
      <dsp:spPr>
        <a:xfrm>
          <a:off x="2084476" y="4064987"/>
          <a:ext cx="2665654" cy="81269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b="1" i="0" kern="1200" dirty="0"/>
            <a:t>Consumer Durable Loans</a:t>
          </a:r>
        </a:p>
      </dsp:txBody>
      <dsp:txXfrm>
        <a:off x="2084476" y="4064987"/>
        <a:ext cx="2665654" cy="812699"/>
      </dsp:txXfrm>
    </dsp:sp>
    <dsp:sp modelId="{4076950C-B835-42DD-90A5-7434565D4FD0}">
      <dsp:nvSpPr>
        <dsp:cNvPr id="0" name=""/>
        <dsp:cNvSpPr/>
      </dsp:nvSpPr>
      <dsp:spPr>
        <a:xfrm>
          <a:off x="2084476" y="5080861"/>
          <a:ext cx="2665654" cy="81269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b="1" i="0" kern="1200" dirty="0"/>
            <a:t>Credit Card Loans</a:t>
          </a:r>
          <a:endParaRPr lang="en-IN" sz="2400" kern="1200" dirty="0"/>
        </a:p>
      </dsp:txBody>
      <dsp:txXfrm>
        <a:off x="2084476" y="5080861"/>
        <a:ext cx="2665654" cy="812699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4982E9-FF37-4030-8C14-123B439EB3CD}">
      <dsp:nvSpPr>
        <dsp:cNvPr id="0" name=""/>
        <dsp:cNvSpPr/>
      </dsp:nvSpPr>
      <dsp:spPr>
        <a:xfrm>
          <a:off x="-6321463" y="-966977"/>
          <a:ext cx="7524519" cy="7524519"/>
        </a:xfrm>
        <a:prstGeom prst="blockArc">
          <a:avLst>
            <a:gd name="adj1" fmla="val 18900000"/>
            <a:gd name="adj2" fmla="val 2700000"/>
            <a:gd name="adj3" fmla="val 287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4578E5-1959-4BF3-9CC5-1A65315DFEDC}">
      <dsp:nvSpPr>
        <dsp:cNvPr id="0" name=""/>
        <dsp:cNvSpPr/>
      </dsp:nvSpPr>
      <dsp:spPr>
        <a:xfrm>
          <a:off x="629586" y="429802"/>
          <a:ext cx="11220757" cy="86005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2667" tIns="114300" rIns="114300" bIns="114300" numCol="1" spcCol="1270" anchor="ctr" anchorCtr="0">
          <a:noAutofit/>
        </a:bodyPr>
        <a:lstStyle/>
        <a:p>
          <a:pPr lvl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kern="1200"/>
            <a:t>1. Standard Assets</a:t>
          </a:r>
          <a:endParaRPr lang="en-IN" sz="4500" kern="1200"/>
        </a:p>
      </dsp:txBody>
      <dsp:txXfrm>
        <a:off x="629586" y="429802"/>
        <a:ext cx="11220757" cy="860052"/>
      </dsp:txXfrm>
    </dsp:sp>
    <dsp:sp modelId="{108CF32A-E650-4CC0-BFF1-F5DDCF9374A4}">
      <dsp:nvSpPr>
        <dsp:cNvPr id="0" name=""/>
        <dsp:cNvSpPr/>
      </dsp:nvSpPr>
      <dsp:spPr>
        <a:xfrm>
          <a:off x="92053" y="322296"/>
          <a:ext cx="1075065" cy="10750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05FDAB-4CE8-4F34-916E-BC5980026392}">
      <dsp:nvSpPr>
        <dsp:cNvPr id="0" name=""/>
        <dsp:cNvSpPr/>
      </dsp:nvSpPr>
      <dsp:spPr>
        <a:xfrm>
          <a:off x="1122674" y="1720105"/>
          <a:ext cx="10727669" cy="8600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2667" tIns="114300" rIns="114300" bIns="114300" numCol="1" spcCol="1270" anchor="ctr" anchorCtr="0">
          <a:noAutofit/>
        </a:bodyPr>
        <a:lstStyle/>
        <a:p>
          <a:pPr lvl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kern="1200"/>
            <a:t>2. Sub-Standard Assets</a:t>
          </a:r>
          <a:endParaRPr lang="en-IN" sz="4500" kern="1200"/>
        </a:p>
      </dsp:txBody>
      <dsp:txXfrm>
        <a:off x="1122674" y="1720105"/>
        <a:ext cx="10727669" cy="860052"/>
      </dsp:txXfrm>
    </dsp:sp>
    <dsp:sp modelId="{1974D602-FCF8-4961-9445-7FF0ADB65584}">
      <dsp:nvSpPr>
        <dsp:cNvPr id="0" name=""/>
        <dsp:cNvSpPr/>
      </dsp:nvSpPr>
      <dsp:spPr>
        <a:xfrm>
          <a:off x="585141" y="1612598"/>
          <a:ext cx="1075065" cy="10750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A15712-30D0-42BE-8260-C579C864FB89}">
      <dsp:nvSpPr>
        <dsp:cNvPr id="0" name=""/>
        <dsp:cNvSpPr/>
      </dsp:nvSpPr>
      <dsp:spPr>
        <a:xfrm>
          <a:off x="1122674" y="3010407"/>
          <a:ext cx="10727669" cy="86005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2667" tIns="114300" rIns="114300" bIns="114300" numCol="1" spcCol="1270" anchor="ctr" anchorCtr="0">
          <a:noAutofit/>
        </a:bodyPr>
        <a:lstStyle/>
        <a:p>
          <a:pPr lvl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kern="1200"/>
            <a:t>3. Doubtful Debts</a:t>
          </a:r>
          <a:endParaRPr lang="en-IN" sz="4500" kern="1200"/>
        </a:p>
      </dsp:txBody>
      <dsp:txXfrm>
        <a:off x="1122674" y="3010407"/>
        <a:ext cx="10727669" cy="860052"/>
      </dsp:txXfrm>
    </dsp:sp>
    <dsp:sp modelId="{4D6049C5-1FA0-406D-B134-3D23B45DDFF5}">
      <dsp:nvSpPr>
        <dsp:cNvPr id="0" name=""/>
        <dsp:cNvSpPr/>
      </dsp:nvSpPr>
      <dsp:spPr>
        <a:xfrm>
          <a:off x="585141" y="2902900"/>
          <a:ext cx="1075065" cy="10750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A8892E-0D1D-4A8F-B129-B2CEBD93C64C}">
      <dsp:nvSpPr>
        <dsp:cNvPr id="0" name=""/>
        <dsp:cNvSpPr/>
      </dsp:nvSpPr>
      <dsp:spPr>
        <a:xfrm>
          <a:off x="629586" y="4300709"/>
          <a:ext cx="11220757" cy="86005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2667" tIns="114300" rIns="114300" bIns="114300" numCol="1" spcCol="1270" anchor="ctr" anchorCtr="0">
          <a:noAutofit/>
        </a:bodyPr>
        <a:lstStyle/>
        <a:p>
          <a:pPr lvl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kern="1200"/>
            <a:t>4. Loss Assets</a:t>
          </a:r>
          <a:endParaRPr lang="en-IN" sz="4500" kern="1200"/>
        </a:p>
      </dsp:txBody>
      <dsp:txXfrm>
        <a:off x="629586" y="4300709"/>
        <a:ext cx="11220757" cy="860052"/>
      </dsp:txXfrm>
    </dsp:sp>
    <dsp:sp modelId="{E8176402-91A3-4FBE-83D5-8C062C844D16}">
      <dsp:nvSpPr>
        <dsp:cNvPr id="0" name=""/>
        <dsp:cNvSpPr/>
      </dsp:nvSpPr>
      <dsp:spPr>
        <a:xfrm>
          <a:off x="92053" y="4193203"/>
          <a:ext cx="1075065" cy="10750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907439-3800-45C2-AF28-44822477EDFE}">
      <dsp:nvSpPr>
        <dsp:cNvPr id="0" name=""/>
        <dsp:cNvSpPr/>
      </dsp:nvSpPr>
      <dsp:spPr>
        <a:xfrm>
          <a:off x="4131776" y="2138868"/>
          <a:ext cx="825467" cy="8873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12733" y="0"/>
              </a:lnTo>
              <a:lnTo>
                <a:pt x="412733" y="887377"/>
              </a:lnTo>
              <a:lnTo>
                <a:pt x="825467" y="88737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E9EB09-49E2-410A-8C29-C1FA40C6111E}">
      <dsp:nvSpPr>
        <dsp:cNvPr id="0" name=""/>
        <dsp:cNvSpPr/>
      </dsp:nvSpPr>
      <dsp:spPr>
        <a:xfrm>
          <a:off x="4131776" y="1251490"/>
          <a:ext cx="825467" cy="887377"/>
        </a:xfrm>
        <a:custGeom>
          <a:avLst/>
          <a:gdLst/>
          <a:ahLst/>
          <a:cxnLst/>
          <a:rect l="0" t="0" r="0" b="0"/>
          <a:pathLst>
            <a:path>
              <a:moveTo>
                <a:pt x="0" y="887377"/>
              </a:moveTo>
              <a:lnTo>
                <a:pt x="412733" y="887377"/>
              </a:lnTo>
              <a:lnTo>
                <a:pt x="412733" y="0"/>
              </a:lnTo>
              <a:lnTo>
                <a:pt x="825467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A903A5-3B72-468C-94B7-071EACAAC051}">
      <dsp:nvSpPr>
        <dsp:cNvPr id="0" name=""/>
        <dsp:cNvSpPr/>
      </dsp:nvSpPr>
      <dsp:spPr>
        <a:xfrm>
          <a:off x="4437" y="1509449"/>
          <a:ext cx="4127338" cy="125883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115" tIns="31115" rIns="31115" bIns="31115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900" kern="1200" dirty="0"/>
            <a:t>Causes </a:t>
          </a:r>
          <a:endParaRPr lang="en-IN" sz="4900" kern="1200" dirty="0"/>
        </a:p>
      </dsp:txBody>
      <dsp:txXfrm>
        <a:off x="4437" y="1509449"/>
        <a:ext cx="4127338" cy="1258838"/>
      </dsp:txXfrm>
    </dsp:sp>
    <dsp:sp modelId="{FBD27BA2-482A-4768-8B2A-FAAC09C7D9D0}">
      <dsp:nvSpPr>
        <dsp:cNvPr id="0" name=""/>
        <dsp:cNvSpPr/>
      </dsp:nvSpPr>
      <dsp:spPr>
        <a:xfrm>
          <a:off x="4957244" y="622071"/>
          <a:ext cx="4127338" cy="125883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115" tIns="31115" rIns="31115" bIns="31115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4900" kern="1200" dirty="0"/>
            <a:t>External Factors</a:t>
          </a:r>
        </a:p>
      </dsp:txBody>
      <dsp:txXfrm>
        <a:off x="4957244" y="622071"/>
        <a:ext cx="4127338" cy="1258838"/>
      </dsp:txXfrm>
    </dsp:sp>
    <dsp:sp modelId="{C56699FC-5A20-4DAD-B620-8A6ECFEDB268}">
      <dsp:nvSpPr>
        <dsp:cNvPr id="0" name=""/>
        <dsp:cNvSpPr/>
      </dsp:nvSpPr>
      <dsp:spPr>
        <a:xfrm>
          <a:off x="4957244" y="2396827"/>
          <a:ext cx="4127338" cy="125883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115" tIns="31115" rIns="31115" bIns="31115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4900" kern="1200"/>
            <a:t>Internal Factors</a:t>
          </a:r>
        </a:p>
      </dsp:txBody>
      <dsp:txXfrm>
        <a:off x="4957244" y="2396827"/>
        <a:ext cx="4127338" cy="1258838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DF2BE7-27C1-4991-9E81-09CD8223F0E1}">
      <dsp:nvSpPr>
        <dsp:cNvPr id="0" name=""/>
        <dsp:cNvSpPr/>
      </dsp:nvSpPr>
      <dsp:spPr>
        <a:xfrm>
          <a:off x="0" y="44954"/>
          <a:ext cx="11929639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Always pay your dues on time</a:t>
          </a:r>
          <a:endParaRPr lang="en-US" sz="3000" kern="1200" dirty="0"/>
        </a:p>
      </dsp:txBody>
      <dsp:txXfrm>
        <a:off x="35125" y="80079"/>
        <a:ext cx="11859389" cy="649299"/>
      </dsp:txXfrm>
    </dsp:sp>
    <dsp:sp modelId="{BA6FCC49-16C7-4960-86C5-394E51A49AFE}">
      <dsp:nvSpPr>
        <dsp:cNvPr id="0" name=""/>
        <dsp:cNvSpPr/>
      </dsp:nvSpPr>
      <dsp:spPr>
        <a:xfrm>
          <a:off x="0" y="764504"/>
          <a:ext cx="11929639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8766" tIns="33020" rIns="184912" bIns="3302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600" kern="1200" dirty="0" smtClean="0"/>
            <a:t>Late payments are viewed negatively by lenders.</a:t>
          </a:r>
          <a:endParaRPr lang="en-US" sz="2600" kern="1200" dirty="0"/>
        </a:p>
      </dsp:txBody>
      <dsp:txXfrm>
        <a:off x="0" y="764504"/>
        <a:ext cx="11929639" cy="496800"/>
      </dsp:txXfrm>
    </dsp:sp>
    <dsp:sp modelId="{6A0C342D-57A0-4964-A4FE-1EB6E0121CD1}">
      <dsp:nvSpPr>
        <dsp:cNvPr id="0" name=""/>
        <dsp:cNvSpPr/>
      </dsp:nvSpPr>
      <dsp:spPr>
        <a:xfrm>
          <a:off x="0" y="1261304"/>
          <a:ext cx="11929639" cy="71954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Keep your balances low</a:t>
          </a:r>
          <a:endParaRPr lang="en-US" sz="3000" kern="1200" dirty="0"/>
        </a:p>
      </dsp:txBody>
      <dsp:txXfrm>
        <a:off x="35125" y="1296429"/>
        <a:ext cx="11859389" cy="649299"/>
      </dsp:txXfrm>
    </dsp:sp>
    <dsp:sp modelId="{F2F5F57D-26F8-4894-9B88-7CC244503B86}">
      <dsp:nvSpPr>
        <dsp:cNvPr id="0" name=""/>
        <dsp:cNvSpPr/>
      </dsp:nvSpPr>
      <dsp:spPr>
        <a:xfrm>
          <a:off x="0" y="1980854"/>
          <a:ext cx="11929639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8766" tIns="33020" rIns="184912" bIns="3302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600" kern="1200" dirty="0" smtClean="0"/>
            <a:t>Always be prudent to not use too much credit, control your utilization.</a:t>
          </a:r>
          <a:endParaRPr lang="en-US" sz="2600" kern="1200" dirty="0"/>
        </a:p>
      </dsp:txBody>
      <dsp:txXfrm>
        <a:off x="0" y="1980854"/>
        <a:ext cx="11929639" cy="496800"/>
      </dsp:txXfrm>
    </dsp:sp>
    <dsp:sp modelId="{3B73DAA4-09BB-40FC-8B92-E540CFCD2489}">
      <dsp:nvSpPr>
        <dsp:cNvPr id="0" name=""/>
        <dsp:cNvSpPr/>
      </dsp:nvSpPr>
      <dsp:spPr>
        <a:xfrm>
          <a:off x="0" y="2477654"/>
          <a:ext cx="11929639" cy="71954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Apply for new credit in moderation</a:t>
          </a:r>
          <a:endParaRPr lang="en-US" sz="3000" kern="1200" dirty="0"/>
        </a:p>
      </dsp:txBody>
      <dsp:txXfrm>
        <a:off x="35125" y="2512779"/>
        <a:ext cx="11859389" cy="649299"/>
      </dsp:txXfrm>
    </dsp:sp>
    <dsp:sp modelId="{9C89D64F-4A9F-4636-84DB-8F066F07EE02}">
      <dsp:nvSpPr>
        <dsp:cNvPr id="0" name=""/>
        <dsp:cNvSpPr/>
      </dsp:nvSpPr>
      <dsp:spPr>
        <a:xfrm>
          <a:off x="0" y="3197204"/>
          <a:ext cx="11929639" cy="791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8766" tIns="33020" rIns="184912" bIns="3302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600" kern="1200" dirty="0" smtClean="0"/>
            <a:t>You don’t want to reflect that you are continuously seeking excessive credit; apply for new credit cautiously.</a:t>
          </a:r>
          <a:endParaRPr lang="en-US" sz="2600" kern="1200" dirty="0"/>
        </a:p>
      </dsp:txBody>
      <dsp:txXfrm>
        <a:off x="0" y="3197204"/>
        <a:ext cx="11929639" cy="791774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DF2BE7-27C1-4991-9E81-09CD8223F0E1}">
      <dsp:nvSpPr>
        <dsp:cNvPr id="0" name=""/>
        <dsp:cNvSpPr/>
      </dsp:nvSpPr>
      <dsp:spPr>
        <a:xfrm>
          <a:off x="0" y="31061"/>
          <a:ext cx="12192000" cy="748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just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Maintain a healthy mix of credit</a:t>
          </a:r>
          <a:endParaRPr lang="en-US" sz="3000" kern="1200" dirty="0"/>
        </a:p>
      </dsp:txBody>
      <dsp:txXfrm>
        <a:off x="36553" y="67614"/>
        <a:ext cx="12118894" cy="675694"/>
      </dsp:txXfrm>
    </dsp:sp>
    <dsp:sp modelId="{BA6FCC49-16C7-4960-86C5-394E51A49AFE}">
      <dsp:nvSpPr>
        <dsp:cNvPr id="0" name=""/>
        <dsp:cNvSpPr/>
      </dsp:nvSpPr>
      <dsp:spPr>
        <a:xfrm>
          <a:off x="0" y="779861"/>
          <a:ext cx="12192000" cy="1221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7096" tIns="33020" rIns="184912" bIns="33020" numCol="1" spcCol="1270" anchor="t" anchorCtr="0">
          <a:noAutofit/>
        </a:bodyPr>
        <a:lstStyle/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600" kern="1200" dirty="0" smtClean="0"/>
            <a:t>It is better to have a healthy mix of secured (such as home loan, auto loan)and unsecured loans (such as Personal loan, Credit Card ). </a:t>
          </a:r>
          <a:endParaRPr lang="en-US" sz="2600" kern="1200" dirty="0"/>
        </a:p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600" kern="1200" dirty="0" smtClean="0"/>
            <a:t>Too many unsecured loans may be viewed negatively.</a:t>
          </a:r>
          <a:endParaRPr lang="en-US" sz="2600" kern="1200" dirty="0"/>
        </a:p>
      </dsp:txBody>
      <dsp:txXfrm>
        <a:off x="0" y="779861"/>
        <a:ext cx="12192000" cy="1221300"/>
      </dsp:txXfrm>
    </dsp:sp>
    <dsp:sp modelId="{6A0C342D-57A0-4964-A4FE-1EB6E0121CD1}">
      <dsp:nvSpPr>
        <dsp:cNvPr id="0" name=""/>
        <dsp:cNvSpPr/>
      </dsp:nvSpPr>
      <dsp:spPr>
        <a:xfrm>
          <a:off x="0" y="2001162"/>
          <a:ext cx="12192000" cy="748800"/>
        </a:xfrm>
        <a:prstGeom prst="roundRect">
          <a:avLst/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just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Monitor your co-signed, guaranteed and joint accounts monthly</a:t>
          </a:r>
          <a:endParaRPr lang="en-US" sz="3000" kern="1200" dirty="0"/>
        </a:p>
      </dsp:txBody>
      <dsp:txXfrm>
        <a:off x="36553" y="2037715"/>
        <a:ext cx="12118894" cy="675694"/>
      </dsp:txXfrm>
    </dsp:sp>
    <dsp:sp modelId="{F2F5F57D-26F8-4894-9B88-7CC244503B86}">
      <dsp:nvSpPr>
        <dsp:cNvPr id="0" name=""/>
        <dsp:cNvSpPr/>
      </dsp:nvSpPr>
      <dsp:spPr>
        <a:xfrm>
          <a:off x="0" y="2749962"/>
          <a:ext cx="12192000" cy="1573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7096" tIns="33020" rIns="184912" bIns="33020" numCol="1" spcCol="1270" anchor="t" anchorCtr="0">
          <a:noAutofit/>
        </a:bodyPr>
        <a:lstStyle/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600" kern="1200" dirty="0" smtClean="0"/>
            <a:t>In co-signed, guaranteed or jointly held accounts, you are held equally liable for missed payments. </a:t>
          </a:r>
          <a:endParaRPr lang="en-US" sz="2600" kern="1200" dirty="0"/>
        </a:p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600" kern="1200" dirty="0" smtClean="0"/>
            <a:t>Your joint holder’s (or the guaranteed individual) negligence could affect your ability to access credit when you need it.</a:t>
          </a:r>
          <a:endParaRPr lang="en-US" sz="2600" kern="1200" dirty="0"/>
        </a:p>
      </dsp:txBody>
      <dsp:txXfrm>
        <a:off x="0" y="2749962"/>
        <a:ext cx="12192000" cy="1573199"/>
      </dsp:txXfrm>
    </dsp:sp>
    <dsp:sp modelId="{3B73DAA4-09BB-40FC-8B92-E540CFCD2489}">
      <dsp:nvSpPr>
        <dsp:cNvPr id="0" name=""/>
        <dsp:cNvSpPr/>
      </dsp:nvSpPr>
      <dsp:spPr>
        <a:xfrm>
          <a:off x="0" y="4323161"/>
          <a:ext cx="12192000" cy="748800"/>
        </a:xfrm>
        <a:prstGeom prst="roundRect">
          <a:avLst/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just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Review your credit history frequently throughout the year</a:t>
          </a:r>
          <a:endParaRPr lang="en-US" sz="3000" kern="1200" dirty="0"/>
        </a:p>
      </dsp:txBody>
      <dsp:txXfrm>
        <a:off x="36553" y="4359714"/>
        <a:ext cx="12118894" cy="675694"/>
      </dsp:txXfrm>
    </dsp:sp>
    <dsp:sp modelId="{9C89D64F-4A9F-4636-84DB-8F066F07EE02}">
      <dsp:nvSpPr>
        <dsp:cNvPr id="0" name=""/>
        <dsp:cNvSpPr/>
      </dsp:nvSpPr>
      <dsp:spPr>
        <a:xfrm>
          <a:off x="0" y="5071962"/>
          <a:ext cx="12192000" cy="786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7096" tIns="33020" rIns="184912" bIns="33020" numCol="1" spcCol="1270" anchor="t" anchorCtr="0">
          <a:noAutofit/>
        </a:bodyPr>
        <a:lstStyle/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600" kern="1200" dirty="0" smtClean="0"/>
            <a:t>You don’t want to reflect that you are continuously seeking excessive credit; apply for new credit cautiously.</a:t>
          </a:r>
          <a:endParaRPr lang="en-US" sz="2600" kern="1200" dirty="0"/>
        </a:p>
      </dsp:txBody>
      <dsp:txXfrm>
        <a:off x="0" y="5071962"/>
        <a:ext cx="12192000" cy="7865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leAccentTimeline">
  <dgm:title val=""/>
  <dgm:desc val=""/>
  <dgm:catLst>
    <dgm:cat type="process" pri="7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>
          <dgm:param type="fallback" val="2D"/>
          <dgm:param type="nodeVertAlign" val="b"/>
        </dgm:alg>
      </dgm:if>
      <dgm:else name="Name3">
        <dgm:alg type="lin">
          <dgm:param type="fallback" val="2D"/>
          <dgm:param type="nodeVertAlign" val="b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h" for="ch" forName="parComposite" refType="h"/>
      <dgm:constr type="w" for="ch" forName="parComposite" refType="h" refFor="ch" refForName="parComposite" fact="0.4986"/>
      <dgm:constr type="h" for="ch" forName="desComposite" refType="h" fact="0.8722"/>
      <dgm:constr type="w" for="ch" forName="desComposite" refType="h" refFor="ch" refForName="desComposite" fact="0.6056"/>
      <dgm:constr type="w" for="ch" forName="parBackupNorm" refType="w" refFor="ch" refForName="parComposite" fact="-0.3369"/>
      <dgm:constr type="w" for="ch" forName="parBackupRTL" refType="w" refFor="ch" refForName="parComposite" fact="-0.3369"/>
      <dgm:constr type="w" for="ch" forName="parBackupRev" refType="w" refFor="ch" refForName="parComposite" fact="0"/>
      <dgm:constr type="w" for="ch" forName="desBackupLeftNorm" refType="w" refFor="ch" refForName="desComposite" fact="-0.3376"/>
      <dgm:constr type="w" for="ch" forName="desBackupLeftRev" refType="w" refFor="ch" refForName="desComposite" fact="-0.3376"/>
      <dgm:constr type="w" for="ch" forName="desBackupRightNorm" refType="w" refFor="ch" refForName="desComposite" fact="-0.3376"/>
      <dgm:constr type="w" for="ch" forName="desBackupRightRev" refType="w" refFor="ch" refForName="desComposite" fact="-0.3376"/>
      <dgm:constr type="w" for="ch" forName="parSpace" refType="w" refFor="ch" refForName="parComposite" fact="0.05"/>
      <dgm:constr type="w" for="ch" forName="desSpace" refType="w" refFor="ch" refForName="parComposite" fact="0.05"/>
      <dgm:constr type="primFontSz" for="des" forName="parTx" op="equ" val="65"/>
      <dgm:constr type="primFontSz" for="des" forName="chTx" refType="primFontSz" refFor="des" refForName="parTx" op="lte" val="65"/>
      <dgm:constr type="primFontSz" for="des" forName="desTx" refType="primFontSz" refFor="des" refForName="chTx" op="lte" val="65"/>
      <dgm:constr type="primFontSz" for="des" forName="desTx" refType="primFontSz" refFor="des" refForName="parTx" op="lte"/>
    </dgm:constrLst>
    <dgm:forEach name="Name4" axis="ch" ptType="node">
      <dgm:layoutNode name="parComposite">
        <dgm:alg type="composite"/>
        <dgm:shape xmlns:r="http://schemas.openxmlformats.org/officeDocument/2006/relationships" r:blip="">
          <dgm:adjLst/>
        </dgm:shape>
        <dgm:choose name="Name5">
          <dgm:if name="Name6" func="var" arg="dir" op="equ" val="norm">
            <dgm:constrLst>
              <dgm:constr type="l" for="ch" forName="parBigCircle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r" for="ch" forName="parTx" refType="w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l" for="ch" forName="bSpace"/>
              <dgm:constr type="w" for="ch" forName="bSpace" val="1"/>
            </dgm:constrLst>
          </dgm:if>
          <dgm:else name="Name7">
            <dgm:constrLst>
              <dgm:constr type="r" for="ch" forName="parBigCircle" refType="w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l" for="ch" forName="parTx" fact="0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r" for="ch" forName="bSpace"/>
              <dgm:constr type="w" for="ch" forName="bSpace" val="1"/>
            </dgm:constrLst>
          </dgm:else>
        </dgm:choose>
        <dgm:layoutNode name="parBigCircle" styleLbl="node0">
          <dgm:alg type="sp"/>
          <dgm:shape xmlns:r="http://schemas.openxmlformats.org/officeDocument/2006/relationships" type="donut" r:blip="">
            <dgm:adjLst>
              <dgm:adj idx="1" val="0.2"/>
            </dgm:adjLst>
          </dgm:shape>
          <dgm:presOf/>
          <dgm:constrLst>
            <dgm:constr type="h" refType="w" op="equ"/>
          </dgm:constrLst>
        </dgm:layoutNode>
        <dgm:layoutNode name="parTx" styleLbl="revTx">
          <dgm:choose name="Name8">
            <dgm:if name="Name9" func="var" arg="dir" op="equ" val="norm">
              <dgm:alg type="tx">
                <dgm:param type="autoTxRot" val="grav"/>
                <dgm:param type="parTxLTRAlign" val="l"/>
              </dgm:alg>
              <dgm:shape xmlns:r="http://schemas.openxmlformats.org/officeDocument/2006/relationships" rot="295" type="rect" r:blip="">
                <dgm:adjLst/>
              </dgm:shape>
              <dgm:presOf axis="self" ptType="node"/>
              <dgm:constrLst>
                <dgm:constr type="lMarg" refType="primFontSz" fact="0.2"/>
                <dgm:constr type="rMarg"/>
                <dgm:constr type="tMarg"/>
                <dgm:constr type="bMarg"/>
              </dgm:constrLst>
            </dgm:if>
            <dgm:else name="Name10">
              <dgm:alg type="tx">
                <dgm:param type="autoTxRot" val="grav"/>
                <dgm:param type="parTxLTRAlign" val="r"/>
              </dgm:alg>
              <dgm:shape xmlns:r="http://schemas.openxmlformats.org/officeDocument/2006/relationships" rot="65" type="rect" r:blip="">
                <dgm:adjLst/>
              </dgm:shape>
              <dgm:presOf axis="self" ptType="node"/>
              <dgm:constrLst>
                <dgm:constr type="lMarg"/>
                <dgm:constr type="rMarg" refType="primFontSz" fact="0.2"/>
                <dgm:constr type="tMarg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layoutNode name="bSpace">
          <dgm:alg type="sp"/>
          <dgm:shape xmlns:r="http://schemas.openxmlformats.org/officeDocument/2006/relationships" r:blip="">
            <dgm:adjLst/>
          </dgm:shape>
          <dgm:presOf/>
        </dgm:layoutNode>
      </dgm:layoutNode>
      <dgm:choose name="Name11">
        <dgm:if name="Name12" func="var" arg="dir" op="equ" val="norm">
          <dgm:layoutNode name="parBackupNorm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13">
          <dgm:layoutNode name="parBackupRTL">
            <dgm:alg type="sp"/>
            <dgm:shape xmlns:r="http://schemas.openxmlformats.org/officeDocument/2006/relationships" r:blip="">
              <dgm:adjLst/>
            </dgm:shape>
            <dgm:presOf/>
          </dgm:layoutNode>
        </dgm:else>
      </dgm:choose>
      <dgm:forEach name="Name14" axis="followSib" ptType="sibTrans" hideLastTrans="0" cnt="1">
        <dgm:layoutNode name="parSpace">
          <dgm:alg type="sp"/>
          <dgm:shape xmlns:r="http://schemas.openxmlformats.org/officeDocument/2006/relationships" r:blip="">
            <dgm:adjLst/>
          </dgm:shape>
          <dgm:presOf/>
        </dgm:layoutNode>
      </dgm:forEach>
      <dgm:forEach name="Name15" axis="ch" ptType="node">
        <dgm:choose name="Name16">
          <dgm:if name="Name17" func="var" arg="dir" op="equ" val="norm">
            <dgm:layoutNode name="desBackupLeftNorm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if>
          <dgm:else name="Name18">
            <dgm:choose name="Name19">
              <dgm:if name="Name20" axis="self" ptType="node" func="pos" op="equ" val="1">
                <dgm:layoutNode name="desBackupRigh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21"/>
            </dgm:choose>
          </dgm:else>
        </dgm:choose>
        <dgm:layoutNode name="desComposite">
          <dgm:alg type="composite"/>
          <dgm:shape xmlns:r="http://schemas.openxmlformats.org/officeDocument/2006/relationships" r:blip="">
            <dgm:adjLst/>
          </dgm:shape>
          <dgm:choose name="Name22">
            <dgm:if name="Name23" func="var" arg="dir" op="equ" val="norm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l" for="ch" forName="chTx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r" for="ch" forName="desTx" refType="w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if>
            <dgm:else name="Name24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r" for="ch" forName="chTx" refType="w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l" for="ch" forName="desTx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else>
          </dgm:choose>
          <dgm:layoutNode name="desCircle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>
              <dgm:constr type="h" refType="w" op="equ"/>
            </dgm:constrLst>
          </dgm:layoutNode>
          <dgm:layoutNode name="chTx" styleLbl="revTx">
            <dgm:choose name="Name25">
              <dgm:if name="Name26" func="var" arg="dir" op="equ" val="norm">
                <dgm:alg type="tx">
                  <dgm:param type="autoTxRot" val="grav"/>
                  <dgm:param type="parTxLTRAlign" val="r"/>
                  <dgm:param type="txAnchorVert" val="mid"/>
                  <dgm:param type="txAnchorVertCh" val="mid"/>
                </dgm:alg>
                <dgm:shape xmlns:r="http://schemas.openxmlformats.org/officeDocument/2006/relationships" rot="295" type="rect" r:blip="">
                  <dgm:adjLst/>
                </dgm:shape>
                <dgm:presOf axis="self" ptType="node"/>
              </dgm:if>
              <dgm:else name="Name27">
                <dgm:alg type="tx">
                  <dgm:param type="autoTxRot" val="grav"/>
                  <dgm:param type="parTxLTRAlign" val="l"/>
                  <dgm:param type="txAnchorVert" val="mid"/>
                  <dgm:param type="txAnchorVertCh" val="mid"/>
                </dgm:alg>
                <dgm:shape xmlns:r="http://schemas.openxmlformats.org/officeDocument/2006/relationships" rot="65" type="rect" r:blip="">
                  <dgm:adjLst/>
                </dgm:shape>
                <dgm:presOf axis="self" ptType="node"/>
              </dgm:else>
            </dgm:choose>
            <dgm:choose name="Name28">
              <dgm:if name="Name29" func="var" arg="dir" op="equ" val="norm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if>
              <dgm:else name="Name30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  <dgm:layoutNode name="desTx" styleLbl="revTx">
            <dgm:varLst>
              <dgm:bulletEnabled val="1"/>
            </dgm:varLst>
            <dgm:choose name="Name31">
              <dgm:if name="Name32" func="var" arg="dir" op="equ" val="norm">
                <dgm:alg type="tx">
                  <dgm:param type="autoTxRot" val="grav"/>
                  <dgm:param type="parTxLTRAlign" val="l"/>
                  <dgm:param type="shpTxLTRAlignCh" val="l"/>
                  <dgm:param type="stBulletLvl" val="1"/>
                  <dgm:param type="txAnchorVert" val="mid"/>
                </dgm:alg>
                <dgm:shape xmlns:r="http://schemas.openxmlformats.org/officeDocument/2006/relationships" rot="295" type="rect" r:blip="">
                  <dgm:adjLst/>
                </dgm:shape>
                <dgm:presOf axis="des" ptType="node"/>
              </dgm:if>
              <dgm:else name="Name33">
                <dgm:alg type="tx">
                  <dgm:param type="autoTxRot" val="grav"/>
                  <dgm:param type="parTxLTRAlign" val="r"/>
                  <dgm:param type="shpTxLTRAlignCh" val="r"/>
                  <dgm:param type="stBulletLvl" val="1"/>
                  <dgm:param type="txAnchorVert" val="mid"/>
                </dgm:alg>
                <dgm:shape xmlns:r="http://schemas.openxmlformats.org/officeDocument/2006/relationships" rot="65" type="rect" r:blip="">
                  <dgm:adjLst/>
                </dgm:shape>
                <dgm:presOf axis="des" ptType="node"/>
              </dgm:else>
            </dgm:choose>
            <dgm:choose name="Name34">
              <dgm:if name="Name35" func="var" arg="dir" op="equ" val="norm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if>
              <dgm:else name="Name36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layoutNode name="desBackupRightNorm">
          <dgm:alg type="sp"/>
          <dgm:shape xmlns:r="http://schemas.openxmlformats.org/officeDocument/2006/relationships" r:blip="">
            <dgm:adjLst/>
          </dgm:shape>
          <dgm:presOf/>
        </dgm:layoutNode>
        <dgm:choose name="Name37">
          <dgm:if name="Name38" func="var" arg="dir" op="neq" val="norm">
            <dgm:choose name="Name39">
              <dgm:if name="Name40" axis="self" ptType="node" func="revPos" op="neq" val="1">
                <dgm:layoutNode name="desBackupLef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41"/>
            </dgm:choose>
          </dgm:if>
          <dgm:else name="Name42"/>
        </dgm:choose>
        <dgm:forEach name="Name43" axis="followSib" ptType="sibTrans" hideLastTrans="0" cnt="1">
          <dgm:layoutNode name="desSpace">
            <dgm:alg type="sp"/>
            <dgm:shape xmlns:r="http://schemas.openxmlformats.org/officeDocument/2006/relationships" r:blip="">
              <dgm:adjLst/>
            </dgm:shape>
            <dgm:presOf/>
          </dgm:layoutNode>
        </dgm:forEach>
      </dgm:forEach>
      <dgm:choose name="Name44">
        <dgm:if name="Name45" func="var" arg="dir" op="neq" val="norm">
          <dgm:layoutNode name="parBackupRev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4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06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377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99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22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770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18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97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64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64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/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rgbClr val="7B3E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en-US"/>
          </a:p>
        </p:txBody>
      </p:sp>
      <p:sp>
        <p:nvSpPr>
          <p:cNvPr id="23" name="Freeform 17"/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rgbClr val="7B3E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/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B0704020202020204" pitchFamily="2" charset="0"/>
                <a:ea typeface="Roboto Condensed Light" panose="020B0704020202020204" pitchFamily="2" charset="0"/>
                <a:cs typeface="+mn-cs"/>
              </a:defRPr>
            </a:lvl1pPr>
          </a:lstStyle>
          <a:p>
            <a:pPr lvl="0"/>
            <a:r>
              <a:rPr lang="en-US" dirty="0"/>
              <a:t>prashant.kachhela@darshan.ac.in</a:t>
            </a:r>
          </a:p>
        </p:txBody>
      </p:sp>
      <p:sp>
        <p:nvSpPr>
          <p:cNvPr id="29" name="Text Placeholder 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B0704020202020204" pitchFamily="2" charset="0"/>
                <a:ea typeface="Roboto Condensed Light" panose="020B0704020202020204" pitchFamily="2" charset="0"/>
                <a:cs typeface="+mn-cs"/>
              </a:defRPr>
            </a:lvl1pPr>
          </a:lstStyle>
          <a:p>
            <a:pPr lvl="0"/>
            <a:r>
              <a:rPr lang="en-US" dirty="0"/>
              <a:t>9106232023</a:t>
            </a:r>
          </a:p>
        </p:txBody>
      </p:sp>
      <p:sp>
        <p:nvSpPr>
          <p:cNvPr id="5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Prof. Prashant Kachhela</a:t>
            </a:r>
          </a:p>
        </p:txBody>
      </p:sp>
      <p:pic>
        <p:nvPicPr>
          <p:cNvPr id="55" name="Picture 54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21" name="Picture 20" descr="User icon Royalty Free Vector Image - VectorStock"/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 userDrawn="1"/>
        </p:nvPicPr>
        <p:blipFill rotWithShape="1">
          <a:blip r:embed="rId10"/>
          <a:srcRect l="48200" t="56813" r="42065" b="21843"/>
          <a:stretch>
            <a:fillRect/>
          </a:stretch>
        </p:blipFill>
        <p:spPr>
          <a:xfrm>
            <a:off x="12261755" y="20384"/>
            <a:ext cx="1485900" cy="1832587"/>
          </a:xfrm>
          <a:prstGeom prst="rect">
            <a:avLst/>
          </a:prstGeom>
        </p:spPr>
      </p:pic>
      <p:pic>
        <p:nvPicPr>
          <p:cNvPr id="35" name="Picture 2" descr="Best Courses after BBA: What to Do After BBA? [2021] - Leverage Edu"/>
          <p:cNvPicPr>
            <a:picLocks noChangeAspect="1" noChangeArrowheads="1"/>
          </p:cNvPicPr>
          <p:nvPr userDrawn="1"/>
        </p:nvPicPr>
        <p:blipFill>
          <a:blip r:embed="rId11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9201" y="2183713"/>
            <a:ext cx="2741932" cy="1790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 userDrawn="1"/>
        </p:nvSpPr>
        <p:spPr>
          <a:xfrm>
            <a:off x="1837677" y="5513531"/>
            <a:ext cx="28857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Darshan Institute of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A4FEE4B-AF41-27EC-0E72-0AB8CA4E317A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4" name="Group 3"/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Shape 56"/>
          <p:cNvPicPr preferRelativeResize="0"/>
          <p:nvPr userDrawn="1"/>
        </p:nvPicPr>
        <p:blipFill rotWithShape="1">
          <a:blip r:embed="rId3"/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20" name="Straight Connector 19"/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9" y="862374"/>
            <a:ext cx="11929641" cy="5590565"/>
          </a:xfrm>
        </p:spPr>
        <p:txBody>
          <a:bodyPr>
            <a:noAutofit/>
          </a:bodyPr>
          <a:lstStyle>
            <a:lvl1pPr marL="265430" indent="-265430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6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22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1"/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B0704020202020204" pitchFamily="2" charset="0"/>
                <a:ea typeface="Roboto Condensed Light" panose="020B0704020202020204" pitchFamily="2" charset="0"/>
              </a:rPr>
              <a:t>Prof. Prashant Kachhela</a:t>
            </a:r>
          </a:p>
        </p:txBody>
      </p:sp>
      <p:sp>
        <p:nvSpPr>
          <p:cNvPr id="13" name="Slide Number Placeholder 3"/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0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0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F4D06779-6AB4-542D-E789-2CC2BDAD58DF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786901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#2301CS594 (BFSI) 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 smtClean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Banking System</a:t>
            </a:r>
            <a:endParaRPr lang="en-US" dirty="0">
              <a:solidFill>
                <a:srgbClr val="212121">
                  <a:lumMod val="90000"/>
                  <a:lumOff val="10000"/>
                </a:srgb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BFF5223-5CBF-C2D1-7AC0-B08FD5C1338C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Shape 56"/>
          <p:cNvPicPr preferRelativeResize="0"/>
          <p:nvPr userDrawn="1"/>
        </p:nvPicPr>
        <p:blipFill rotWithShape="1">
          <a:blip r:embed="rId3"/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430" indent="-265430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6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22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"/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B0704020202020204" pitchFamily="2" charset="0"/>
                <a:ea typeface="Roboto Condensed Light" panose="020B0704020202020204" pitchFamily="2" charset="0"/>
              </a:rPr>
              <a:t>Prof. Prashant Kachhela</a:t>
            </a:r>
          </a:p>
        </p:txBody>
      </p:sp>
      <p:sp>
        <p:nvSpPr>
          <p:cNvPr id="12" name="Slide Number Placeholder 3"/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0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0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F4D06779-6AB4-542D-E789-2CC2BDAD58DF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786901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#2301CS594 (BFSI) 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 smtClean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Banking System</a:t>
            </a:r>
            <a:endParaRPr lang="en-US" dirty="0">
              <a:solidFill>
                <a:srgbClr val="212121">
                  <a:lumMod val="90000"/>
                  <a:lumOff val="10000"/>
                </a:srgb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BFF5223-5CBF-C2D1-7AC0-B08FD5C1338C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8" name="Shape 56"/>
          <p:cNvPicPr preferRelativeResize="0"/>
          <p:nvPr userDrawn="1"/>
        </p:nvPicPr>
        <p:blipFill rotWithShape="1">
          <a:blip r:embed="rId2"/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430" indent="-265430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6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22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"/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B0704020202020204" pitchFamily="2" charset="0"/>
                <a:ea typeface="Roboto Condensed Light" panose="020B0704020202020204" pitchFamily="2" charset="0"/>
              </a:rPr>
              <a:t>Prof. Prashant Kachhela</a:t>
            </a:r>
          </a:p>
        </p:txBody>
      </p:sp>
      <p:sp>
        <p:nvSpPr>
          <p:cNvPr id="12" name="Slide Number Placeholder 3"/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0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0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F4D06779-6AB4-542D-E789-2CC2BDAD58DF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786901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#2301CS594 (BFSI) 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 smtClean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Banking System</a:t>
            </a:r>
            <a:endParaRPr lang="en-US" dirty="0">
              <a:solidFill>
                <a:srgbClr val="212121">
                  <a:lumMod val="90000"/>
                  <a:lumOff val="10000"/>
                </a:srgb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075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99EEA18-5082-DD90-8A42-09B400E250B6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Shape 56"/>
          <p:cNvPicPr preferRelativeResize="0"/>
          <p:nvPr userDrawn="1"/>
        </p:nvPicPr>
        <p:blipFill rotWithShape="1">
          <a:blip r:embed="rId3"/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430" indent="-265430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6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22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"/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B0704020202020204" pitchFamily="2" charset="0"/>
                <a:ea typeface="Roboto Condensed Light" panose="020B0704020202020204" pitchFamily="2" charset="0"/>
              </a:rPr>
              <a:t>Prof. Prashant Kachhela</a:t>
            </a:r>
          </a:p>
        </p:txBody>
      </p:sp>
      <p:sp>
        <p:nvSpPr>
          <p:cNvPr id="12" name="Slide Number Placeholder 3"/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0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0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F4D06779-6AB4-542D-E789-2CC2BDAD58DF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786901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#2301CS594 (BFSI) 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 smtClean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Banking System</a:t>
            </a:r>
            <a:endParaRPr lang="en-US" dirty="0">
              <a:solidFill>
                <a:srgbClr val="212121">
                  <a:lumMod val="90000"/>
                  <a:lumOff val="10000"/>
                </a:srgb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7"/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rgbClr val="7B3E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>
            <a:fillRect/>
          </a:stretch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>
            <a:fillRect/>
          </a:stretch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9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9874840" y="6078930"/>
            <a:ext cx="2078404" cy="631807"/>
            <a:chOff x="10721798" y="852808"/>
            <a:chExt cx="1339023" cy="407045"/>
          </a:xfrm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F098FA-B2F1-257A-3141-13624043E829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2" name="Straight Connector 21"/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Date Placeholder 1"/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B0704020202020204" pitchFamily="2" charset="0"/>
                <a:ea typeface="Roboto Condensed Light" panose="020B0704020202020204" pitchFamily="2" charset="0"/>
              </a:rPr>
              <a:t>Prof. Prashant Kachhela</a:t>
            </a:r>
          </a:p>
        </p:txBody>
      </p:sp>
      <p:sp>
        <p:nvSpPr>
          <p:cNvPr id="8" name="Slide Number Placeholder 3"/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0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0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F4D06779-6AB4-542D-E789-2CC2BDAD58DF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786901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#2301CS594 (BFSI) 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 smtClean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Banking System</a:t>
            </a:r>
            <a:endParaRPr lang="en-US" dirty="0">
              <a:solidFill>
                <a:srgbClr val="212121">
                  <a:lumMod val="90000"/>
                  <a:lumOff val="10000"/>
                </a:srgb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554D0AC-4140-5ACE-AD5B-F39537847DB8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2" name="Straight Connector 21"/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Date Placeholder 1"/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B0704020202020204" pitchFamily="2" charset="0"/>
                <a:ea typeface="Roboto Condensed Light" panose="020B0704020202020204" pitchFamily="2" charset="0"/>
              </a:rPr>
              <a:t>Prof. Prashant Kachhela</a:t>
            </a:r>
          </a:p>
        </p:txBody>
      </p:sp>
      <p:sp>
        <p:nvSpPr>
          <p:cNvPr id="8" name="Slide Number Placeholder 3"/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0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0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F4D06779-6AB4-542D-E789-2CC2BDAD58DF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786901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#2301CS594 (BFSI) 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 smtClean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Banking System</a:t>
            </a:r>
            <a:endParaRPr lang="en-US" dirty="0">
              <a:solidFill>
                <a:srgbClr val="212121">
                  <a:lumMod val="90000"/>
                  <a:lumOff val="10000"/>
                </a:srgb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E83E49C-A33E-8176-6206-CEB40B348CB4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2" name="Straight Connector 21"/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165802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Date Placeholder 1"/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B0704020202020204" pitchFamily="2" charset="0"/>
                <a:ea typeface="Roboto Condensed Light" panose="020B0704020202020204" pitchFamily="2" charset="0"/>
              </a:rPr>
              <a:t>Prof. Prashant Kachhela</a:t>
            </a:r>
          </a:p>
        </p:txBody>
      </p:sp>
      <p:sp>
        <p:nvSpPr>
          <p:cNvPr id="8" name="Slide Number Placeholder 3"/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0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0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F4D06779-6AB4-542D-E789-2CC2BDAD58DF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786901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#2301CS594 (BFSI) 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 smtClean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Banking System</a:t>
            </a:r>
            <a:endParaRPr lang="en-US" dirty="0">
              <a:solidFill>
                <a:srgbClr val="212121">
                  <a:lumMod val="90000"/>
                  <a:lumOff val="10000"/>
                </a:srgb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6401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915139" y="312624"/>
            <a:ext cx="421127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/>
              </a:rPr>
              <a:t>THANK YOU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1548578"/>
            <a:ext cx="61852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Prof. Prashant Kachhela</a:t>
            </a:r>
          </a:p>
          <a:p>
            <a:pPr algn="ctr"/>
            <a:r>
              <a:rPr lang="en-IN" sz="2400" dirty="0"/>
              <a:t>Assistant Professor</a:t>
            </a:r>
          </a:p>
          <a:p>
            <a:pPr algn="ctr"/>
            <a:r>
              <a:rPr lang="en-IN" sz="2400" dirty="0"/>
              <a:t>Darshan Institute of Management</a:t>
            </a:r>
          </a:p>
          <a:p>
            <a:pPr algn="ctr"/>
            <a:r>
              <a:rPr lang="en-IN" sz="2400" dirty="0"/>
              <a:t>Darshan University, Rajkot</a:t>
            </a:r>
          </a:p>
          <a:p>
            <a:pPr algn="ctr"/>
            <a:r>
              <a:rPr lang="en-IN" sz="2400" dirty="0"/>
              <a:t>prashant.kachhela@darshan.ac.in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6B48268-4D84-AF95-F5AA-7A7355140711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1"/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B0704020202020204" pitchFamily="2" charset="0"/>
                <a:ea typeface="Roboto Condensed Light" panose="020B0704020202020204" pitchFamily="2" charset="0"/>
              </a:rPr>
              <a:t>Prof. Prashant Kachhela</a:t>
            </a:r>
          </a:p>
        </p:txBody>
      </p:sp>
      <p:sp>
        <p:nvSpPr>
          <p:cNvPr id="4" name="Slide Number Placeholder 3"/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0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0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4D06779-6AB4-542D-E789-2CC2BDAD58DF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786901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#2301CS594 (BFSI) 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</a:t>
            </a:r>
            <a:r>
              <a:rPr lang="en-US" dirty="0" smtClean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Banking, Financial Services and Insurance</a:t>
            </a:r>
            <a:endParaRPr lang="en-US" dirty="0">
              <a:solidFill>
                <a:srgbClr val="212121">
                  <a:lumMod val="90000"/>
                  <a:lumOff val="10000"/>
                </a:srgb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1CCF3-4B9E-4626-B707-4ECD7D391A74}" type="datetimeFigureOut">
              <a:rPr lang="en-CA" smtClean="0"/>
              <a:t>2025-07-05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05DD-33D7-4C32-9869-4943B0D2FA3C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2047-FE71-48B1-BCC6-993003A13C6B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63E3A-7A75-44CB-825E-F80C7DC2C0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t>05-07-2025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6400" y="1219200"/>
            <a:ext cx="5588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19200"/>
            <a:ext cx="5588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5C8C523-24D6-65C4-83AE-8CDA60CE401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3C9292-09A7-4479-ADF1-3FF23AAF9B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1652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rgbClr val="7B3E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rgbClr val="7B3E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prashant.kachhela@darshan.ac.in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9106232023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Prof. Prashant Kachhela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56D7B7B-531F-408A-988D-AF8B227BBA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48200" t="56813" r="42065" b="21843"/>
          <a:stretch/>
        </p:blipFill>
        <p:spPr>
          <a:xfrm>
            <a:off x="12261755" y="20384"/>
            <a:ext cx="1485900" cy="1832587"/>
          </a:xfrm>
          <a:prstGeom prst="rect">
            <a:avLst/>
          </a:prstGeom>
        </p:spPr>
      </p:pic>
      <p:pic>
        <p:nvPicPr>
          <p:cNvPr id="35" name="Picture 2" descr="Best Courses after BBA: What to Do After BBA? [2021] - Leverage Edu">
            <a:extLst>
              <a:ext uri="{FF2B5EF4-FFF2-40B4-BE49-F238E27FC236}">
                <a16:creationId xmlns:a16="http://schemas.microsoft.com/office/drawing/2014/main" id="{C84296FC-27D3-4D0C-8F2A-19BD3B9C2C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9201" y="2183713"/>
            <a:ext cx="2741932" cy="1790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352327-8573-44E4-BC8A-4B66E1AC2BFC}"/>
              </a:ext>
            </a:extLst>
          </p:cNvPr>
          <p:cNvSpPr txBox="1"/>
          <p:nvPr userDrawn="1"/>
        </p:nvSpPr>
        <p:spPr>
          <a:xfrm>
            <a:off x="1837677" y="5513531"/>
            <a:ext cx="28857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Darshan Institute of Management</a:t>
            </a:r>
          </a:p>
        </p:txBody>
      </p:sp>
    </p:spTree>
    <p:extLst>
      <p:ext uri="{BB962C8B-B14F-4D97-AF65-F5344CB8AC3E}">
        <p14:creationId xmlns:p14="http://schemas.microsoft.com/office/powerpoint/2010/main" val="59262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4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s://www.rbi.org.in/commonman/english/scripts/Notification.aspx?Id=47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hyperlink" Target="https://findmybank.gov.in/FMB/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20.jpeg"/><Relationship Id="rId12" Type="http://schemas.openxmlformats.org/officeDocument/2006/relationships/image" Target="../media/image2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11" Type="http://schemas.openxmlformats.org/officeDocument/2006/relationships/image" Target="../media/image24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23.jpe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hyperlink" Target="https://www.business-standard.com/industry/banking/bank-deposits-grow-10-83-to-rs-221-50-trn-show-steady-improvement-in-jan-125012301422_1.html" TargetMode="Externa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jpe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0.jpe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jpeg"/><Relationship Id="rId9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jpeg"/><Relationship Id="rId7" Type="http://schemas.openxmlformats.org/officeDocument/2006/relationships/image" Target="../media/image52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5.xml"/><Relationship Id="rId5" Type="http://schemas.microsoft.com/office/2007/relationships/hdphoto" Target="../media/hdphoto3.wdp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jpeg"/><Relationship Id="rId7" Type="http://schemas.openxmlformats.org/officeDocument/2006/relationships/image" Target="../media/image63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.jpeg"/><Relationship Id="rId5" Type="http://schemas.openxmlformats.org/officeDocument/2006/relationships/image" Target="../media/image61.jpeg"/><Relationship Id="rId4" Type="http://schemas.openxmlformats.org/officeDocument/2006/relationships/image" Target="../media/image60.jpeg"/><Relationship Id="rId9" Type="http://schemas.openxmlformats.org/officeDocument/2006/relationships/image" Target="../media/image6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bi.org.in/commonman/english/scripts/FAQs.aspx?Id=1167" TargetMode="Externa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jpe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10" Type="http://schemas.openxmlformats.org/officeDocument/2006/relationships/image" Target="../media/image75.jpeg"/><Relationship Id="rId4" Type="http://schemas.openxmlformats.org/officeDocument/2006/relationships/image" Target="../media/image69.jpeg"/><Relationship Id="rId9" Type="http://schemas.openxmlformats.org/officeDocument/2006/relationships/image" Target="../media/image7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1.jpeg"/><Relationship Id="rId4" Type="http://schemas.microsoft.com/office/2007/relationships/hdphoto" Target="../media/hdphoto4.wdp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hdfcbank.com/personal/resources/learning-centre/save/different-types-of-cheque-you-need-to-know" TargetMode="External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hdfcbank.com/personal/resources/learning-centre/save/different-types-of-cheque-you-need-to-know" TargetMode="External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hdfcbank.com/personal/resources/learning-centre/save/different-types-of-cheque-you-need-to-know" TargetMode="External"/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eg"/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Relationship Id="rId9" Type="http://schemas.openxmlformats.org/officeDocument/2006/relationships/hyperlink" Target="https://www.hdfcbank.com/personal/resources/learning-centre/save/different-types-of-cheque-you-need-to-know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8.jpe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4.xml"/><Relationship Id="rId6" Type="http://schemas.microsoft.com/office/2007/relationships/hdphoto" Target="../media/hdphoto5.wdp"/><Relationship Id="rId5" Type="http://schemas.openxmlformats.org/officeDocument/2006/relationships/image" Target="../media/image87.png"/><Relationship Id="rId4" Type="http://schemas.microsoft.com/office/2007/relationships/hdphoto" Target="../media/hdphoto4.wdp"/><Relationship Id="rId9" Type="http://schemas.openxmlformats.org/officeDocument/2006/relationships/image" Target="../media/image89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hyperlink" Target="https://sbi.co.in/documents/16012/76239/021122-Service+Charges+as+on+30.09.2022.pdf/74a6c260-1569-5654-897b-ccfabd1bfd03?t=1667374607627" TargetMode="Externa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bi.org.in/commonman/English/Scripts/FAQs.aspx?Id=497" TargetMode="Externa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80.png"/><Relationship Id="rId7" Type="http://schemas.openxmlformats.org/officeDocument/2006/relationships/image" Target="../media/image97.pn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5.xml"/><Relationship Id="rId6" Type="http://schemas.microsoft.com/office/2007/relationships/hdphoto" Target="../media/hdphoto6.wdp"/><Relationship Id="rId5" Type="http://schemas.openxmlformats.org/officeDocument/2006/relationships/image" Target="../media/image96.png"/><Relationship Id="rId4" Type="http://schemas.microsoft.com/office/2007/relationships/hdphoto" Target="../media/hdphoto4.wdp"/><Relationship Id="rId9" Type="http://schemas.microsoft.com/office/2007/relationships/hdphoto" Target="../media/hdphoto7.wdp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2.png"/><Relationship Id="rId5" Type="http://schemas.openxmlformats.org/officeDocument/2006/relationships/image" Target="../media/image101.jpeg"/><Relationship Id="rId4" Type="http://schemas.openxmlformats.org/officeDocument/2006/relationships/image" Target="../media/image100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gif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gif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cibil.com/faq/credit-score-and-loan-basics" TargetMode="Externa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bil.com/faq/credit-score-and-loan-basics" TargetMode="External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cibil.com/faq/credit-score-and-loan-basics" TargetMode="Externa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7" Type="http://schemas.openxmlformats.org/officeDocument/2006/relationships/hyperlink" Target="https://www.cibil.com/faq/credit-score-and-loan-basics" TargetMode="Externa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D5A6E-3A52-4735-80F8-F5EB3910AC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prashant.kachhela@darshan.ac.in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3ED79-BB2A-436C-BB8C-E275C4F33F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</a:t>
            </a:r>
            <a:r>
              <a:rPr lang="en-IN" dirty="0"/>
              <a:t>106232023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841181-E5E1-4AF7-92E2-83B02E9650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IN" dirty="0" err="1"/>
              <a:t>rof</a:t>
            </a:r>
            <a:r>
              <a:rPr lang="en-IN" dirty="0"/>
              <a:t>. Prashant Kachhela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9F4CFA-9ADD-465E-8D4C-03D5D17104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endParaRPr lang="en-US" dirty="0">
              <a:latin typeface="+mj-lt"/>
              <a:ea typeface="Roboto Condensed Light" panose="02000000000000000000" pitchFamily="2" charset="0"/>
            </a:endParaRPr>
          </a:p>
          <a:p>
            <a:r>
              <a:rPr lang="en-US" dirty="0"/>
              <a:t>Banking, Financial Services </a:t>
            </a:r>
            <a:endParaRPr lang="en-US" dirty="0" smtClean="0"/>
          </a:p>
          <a:p>
            <a:r>
              <a:rPr lang="en-US" dirty="0" smtClean="0"/>
              <a:t>and </a:t>
            </a:r>
            <a:r>
              <a:rPr lang="en-US" dirty="0"/>
              <a:t>Insurance</a:t>
            </a:r>
            <a:r>
              <a:rPr lang="en-US" dirty="0" smtClean="0"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latin typeface="+mj-lt"/>
                <a:ea typeface="Roboto Condensed Light" panose="02000000000000000000" pitchFamily="2" charset="0"/>
              </a:rPr>
              <a:t>(</a:t>
            </a:r>
            <a:r>
              <a:rPr lang="en-US" dirty="0" smtClean="0">
                <a:latin typeface="+mj-lt"/>
                <a:ea typeface="Roboto Condensed Light" panose="02000000000000000000" pitchFamily="2" charset="0"/>
              </a:rPr>
              <a:t>BFSI)</a:t>
            </a:r>
            <a:endParaRPr lang="en-US" dirty="0">
              <a:latin typeface="+mj-lt"/>
              <a:ea typeface="Roboto Condensed Light" panose="02000000000000000000" pitchFamily="2" charset="0"/>
            </a:endParaRPr>
          </a:p>
          <a:p>
            <a:r>
              <a:rPr lang="en-US" dirty="0">
                <a:latin typeface="+mj-lt"/>
                <a:ea typeface="Roboto Condensed Light" panose="02000000000000000000" pitchFamily="2" charset="0"/>
              </a:rPr>
              <a:t>DU  # </a:t>
            </a:r>
            <a:r>
              <a:rPr lang="en-IN" dirty="0"/>
              <a:t>2301CS594</a:t>
            </a:r>
            <a:endParaRPr lang="en-US" dirty="0">
              <a:latin typeface="+mj-lt"/>
              <a:ea typeface="Roboto Condensed Light" panose="02000000000000000000" pitchFamily="2" charset="0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833AD75-768F-F96B-FF27-2DF9658B3B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Picture 9" descr="C:\Users\praty\Desktop\IMG_0618-removebg-preview.pngIMG_0618-removebg-preview">
            <a:extLst>
              <a:ext uri="{FF2B5EF4-FFF2-40B4-BE49-F238E27FC236}">
                <a16:creationId xmlns:a16="http://schemas.microsoft.com/office/drawing/2014/main" id="{C0F69692-2436-995E-6D12-643454DC3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6705" y="5065395"/>
            <a:ext cx="1449705" cy="1494155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635B365C-7799-4077-A838-A95ED311C993}"/>
              </a:ext>
            </a:extLst>
          </p:cNvPr>
          <p:cNvSpPr txBox="1">
            <a:spLocks/>
          </p:cNvSpPr>
          <p:nvPr/>
        </p:nvSpPr>
        <p:spPr>
          <a:xfrm>
            <a:off x="559490" y="1122364"/>
            <a:ext cx="7919492" cy="257878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IN" sz="6000" dirty="0" smtClean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"/>
              </a:rPr>
              <a:t/>
            </a:r>
            <a:br>
              <a:rPr lang="en-IN" sz="6000" dirty="0" smtClean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"/>
              </a:rPr>
            </a:br>
            <a:r>
              <a:rPr lang="en-IN" sz="5400" dirty="0" smtClean="0"/>
              <a:t>Banking</a:t>
            </a:r>
            <a:br>
              <a:rPr lang="en-IN" sz="5400" dirty="0" smtClean="0"/>
            </a:br>
            <a:r>
              <a:rPr lang="en-IN" sz="5400" dirty="0" smtClean="0"/>
              <a:t>Introduction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3489934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Banking?</a:t>
            </a:r>
            <a:endParaRPr lang="en-IN" dirty="0"/>
          </a:p>
        </p:txBody>
      </p:sp>
      <p:pic>
        <p:nvPicPr>
          <p:cNvPr id="1026" name="Picture 2" descr="592 Indian Currency Man Stock Vectors and Vector Art | Shutter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98"/>
          <a:stretch/>
        </p:blipFill>
        <p:spPr bwMode="auto">
          <a:xfrm>
            <a:off x="141889" y="1842050"/>
            <a:ext cx="1730585" cy="170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armer Money India Stock Illustrations – 40 Farmer Money India Stock  Illustrations, Vectors &amp; Clipart - Dreamstim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330" y="1862411"/>
            <a:ext cx="1684831" cy="1684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e Vectors | factory silhouette material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474" y="2339920"/>
            <a:ext cx="1608579" cy="1207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actory Silhouette Free PNG Image｜Illustoo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99" y="2339920"/>
            <a:ext cx="1255080" cy="1255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ndian 3d Bank Building Money Bag Stock Vector (Royalty Free) 2165697767 |  Shutterstock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53"/>
          <a:stretch/>
        </p:blipFill>
        <p:spPr bwMode="auto">
          <a:xfrm>
            <a:off x="4276535" y="1340068"/>
            <a:ext cx="4101468" cy="264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rved Down Arrow 4"/>
          <p:cNvSpPr/>
          <p:nvPr/>
        </p:nvSpPr>
        <p:spPr>
          <a:xfrm>
            <a:off x="2049517" y="1166648"/>
            <a:ext cx="3610304" cy="85133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Curved Down Arrow 11"/>
          <p:cNvSpPr/>
          <p:nvPr/>
        </p:nvSpPr>
        <p:spPr>
          <a:xfrm>
            <a:off x="7532835" y="1137273"/>
            <a:ext cx="3610304" cy="85133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23727" y="704983"/>
            <a:ext cx="1443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Deposits</a:t>
            </a:r>
            <a:endParaRPr lang="en-IN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8295074" y="715012"/>
            <a:ext cx="2730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Loans / Advances</a:t>
            </a:r>
            <a:endParaRPr lang="en-IN" sz="2800" b="1" dirty="0"/>
          </a:p>
        </p:txBody>
      </p:sp>
      <p:sp>
        <p:nvSpPr>
          <p:cNvPr id="7" name="Rectangle 6"/>
          <p:cNvSpPr/>
          <p:nvPr/>
        </p:nvSpPr>
        <p:spPr>
          <a:xfrm>
            <a:off x="788276" y="4382814"/>
            <a:ext cx="1308538" cy="1056289"/>
          </a:xfrm>
          <a:prstGeom prst="rect">
            <a:avLst/>
          </a:prstGeom>
          <a:solidFill>
            <a:srgbClr val="E53B84"/>
          </a:solidFill>
          <a:ln>
            <a:solidFill>
              <a:srgbClr val="E53B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ATM/</a:t>
            </a:r>
          </a:p>
          <a:p>
            <a:pPr algn="ctr"/>
            <a:r>
              <a:rPr lang="en-US" sz="2800" dirty="0" smtClean="0"/>
              <a:t>CDM</a:t>
            </a:r>
            <a:endParaRPr lang="en-IN" sz="2800" dirty="0"/>
          </a:p>
        </p:txBody>
      </p:sp>
      <p:sp>
        <p:nvSpPr>
          <p:cNvPr id="16" name="Rectangle 15"/>
          <p:cNvSpPr/>
          <p:nvPr/>
        </p:nvSpPr>
        <p:spPr>
          <a:xfrm>
            <a:off x="2172515" y="4910958"/>
            <a:ext cx="2104020" cy="105628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Debit / </a:t>
            </a:r>
          </a:p>
          <a:p>
            <a:pPr algn="ctr"/>
            <a:r>
              <a:rPr lang="en-US" sz="2800" dirty="0" smtClean="0"/>
              <a:t>Credit card</a:t>
            </a:r>
            <a:endParaRPr lang="en-IN" sz="2800" dirty="0"/>
          </a:p>
        </p:txBody>
      </p:sp>
      <p:sp>
        <p:nvSpPr>
          <p:cNvPr id="17" name="Rectangle 16"/>
          <p:cNvSpPr/>
          <p:nvPr/>
        </p:nvSpPr>
        <p:spPr>
          <a:xfrm>
            <a:off x="4352235" y="5439102"/>
            <a:ext cx="3325571" cy="1056289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UPI / NEFT / RTGS</a:t>
            </a:r>
          </a:p>
          <a:p>
            <a:pPr algn="ctr"/>
            <a:r>
              <a:rPr lang="en-US" sz="2800" dirty="0" smtClean="0"/>
              <a:t>Other Payment Modes</a:t>
            </a:r>
            <a:endParaRPr lang="en-IN" sz="2800" dirty="0"/>
          </a:p>
        </p:txBody>
      </p:sp>
      <p:sp>
        <p:nvSpPr>
          <p:cNvPr id="18" name="Rectangle 17"/>
          <p:cNvSpPr/>
          <p:nvPr/>
        </p:nvSpPr>
        <p:spPr>
          <a:xfrm>
            <a:off x="9933226" y="4249861"/>
            <a:ext cx="1308538" cy="105628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Locker</a:t>
            </a:r>
            <a:endParaRPr lang="en-IN" sz="2800" dirty="0"/>
          </a:p>
        </p:txBody>
      </p:sp>
      <p:sp>
        <p:nvSpPr>
          <p:cNvPr id="19" name="Rectangle 18"/>
          <p:cNvSpPr/>
          <p:nvPr/>
        </p:nvSpPr>
        <p:spPr>
          <a:xfrm>
            <a:off x="7753506" y="4910958"/>
            <a:ext cx="2104020" cy="1056289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 smtClean="0"/>
              <a:t>Cheque</a:t>
            </a:r>
            <a:r>
              <a:rPr lang="en-US" sz="2800" dirty="0" smtClean="0"/>
              <a:t> /</a:t>
            </a:r>
          </a:p>
          <a:p>
            <a:pPr algn="ctr"/>
            <a:r>
              <a:rPr lang="en-US" sz="2800" dirty="0" smtClean="0"/>
              <a:t>DD</a:t>
            </a:r>
            <a:endParaRPr lang="en-IN" sz="2800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2172515" y="3595000"/>
            <a:ext cx="2494236" cy="7878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4276535" y="3783724"/>
            <a:ext cx="1178334" cy="9942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096000" y="3835193"/>
            <a:ext cx="0" cy="15171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/>
          <p:nvPr/>
        </p:nvCxnSpPr>
        <p:spPr>
          <a:xfrm>
            <a:off x="7171760" y="3783724"/>
            <a:ext cx="1454080" cy="11272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7498080" y="3547242"/>
            <a:ext cx="2905081" cy="6183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39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6" grpId="0"/>
      <p:bldP spid="14" grpId="0"/>
      <p:bldP spid="7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Banking?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According </a:t>
            </a:r>
            <a:r>
              <a:rPr lang="en-US" dirty="0"/>
              <a:t>to </a:t>
            </a:r>
            <a:r>
              <a:rPr lang="en-US" b="1" i="1" dirty="0">
                <a:solidFill>
                  <a:srgbClr val="C00000"/>
                </a:solidFill>
              </a:rPr>
              <a:t>section 5 (1)(b) of the  Banking Regulation Act, </a:t>
            </a:r>
            <a:r>
              <a:rPr lang="en-US" b="1" i="1" dirty="0" smtClean="0">
                <a:solidFill>
                  <a:srgbClr val="C00000"/>
                </a:solidFill>
              </a:rPr>
              <a:t>1949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“Banking </a:t>
            </a:r>
            <a:r>
              <a:rPr lang="en-US" dirty="0"/>
              <a:t>means accepting for the purpose of lending or investment of deposits of money </a:t>
            </a:r>
            <a:endParaRPr lang="en-US" dirty="0" smtClean="0"/>
          </a:p>
          <a:p>
            <a:pPr lvl="1"/>
            <a:r>
              <a:rPr lang="en-US" dirty="0"/>
              <a:t>F</a:t>
            </a:r>
            <a:r>
              <a:rPr lang="en-US" dirty="0" smtClean="0"/>
              <a:t>rom </a:t>
            </a:r>
            <a:r>
              <a:rPr lang="en-US" dirty="0"/>
              <a:t>the </a:t>
            </a:r>
            <a:r>
              <a:rPr lang="en-US" dirty="0" smtClean="0"/>
              <a:t>public</a:t>
            </a:r>
          </a:p>
          <a:p>
            <a:pPr lvl="1"/>
            <a:r>
              <a:rPr lang="en-US" dirty="0"/>
              <a:t>R</a:t>
            </a:r>
            <a:r>
              <a:rPr lang="en-US" dirty="0" smtClean="0"/>
              <a:t>epayable </a:t>
            </a:r>
            <a:r>
              <a:rPr lang="en-US" dirty="0"/>
              <a:t>on demand or otherwise and </a:t>
            </a:r>
            <a:endParaRPr lang="en-US" dirty="0" smtClean="0"/>
          </a:p>
          <a:p>
            <a:pPr lvl="1"/>
            <a:r>
              <a:rPr lang="en-US" dirty="0"/>
              <a:t>W</a:t>
            </a:r>
            <a:r>
              <a:rPr lang="en-US" dirty="0" smtClean="0"/>
              <a:t>ithdrawable </a:t>
            </a:r>
            <a:r>
              <a:rPr lang="en-US" dirty="0"/>
              <a:t>by </a:t>
            </a:r>
            <a:r>
              <a:rPr lang="en-US" dirty="0" err="1"/>
              <a:t>cheque</a:t>
            </a:r>
            <a:r>
              <a:rPr lang="en-US" dirty="0"/>
              <a:t>, draft, order or otherwise”.</a:t>
            </a:r>
            <a:endParaRPr lang="en-IN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1180" y="6236920"/>
            <a:ext cx="10538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Source: </a:t>
            </a:r>
            <a:r>
              <a:rPr lang="en-IN" sz="2400" dirty="0" smtClean="0">
                <a:hlinkClick r:id="rId2"/>
              </a:rPr>
              <a:t>https</a:t>
            </a:r>
            <a:r>
              <a:rPr lang="en-IN" sz="2400" dirty="0">
                <a:hlinkClick r:id="rId2"/>
              </a:rPr>
              <a:t>://</a:t>
            </a:r>
            <a:r>
              <a:rPr lang="en-IN" sz="2400" dirty="0" smtClean="0">
                <a:hlinkClick r:id="rId2"/>
              </a:rPr>
              <a:t>www.rbi.org.in/commonman/english/scripts/Notification.aspx?Id=47</a:t>
            </a:r>
            <a:endParaRPr lang="en-US" sz="2400" dirty="0" smtClean="0"/>
          </a:p>
          <a:p>
            <a:endParaRPr lang="en-IN" sz="2400" dirty="0" smtClean="0"/>
          </a:p>
        </p:txBody>
      </p:sp>
      <p:pic>
        <p:nvPicPr>
          <p:cNvPr id="5" name="Picture 2" descr="Bank Images – Browse 22,423,781 Stock Photos, Vectors, and Video | Adobe  Sto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1122" y="4152900"/>
            <a:ext cx="2677197" cy="2007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918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Banks and Bank Branches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-346109" y="126999"/>
          <a:ext cx="11928475" cy="48387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 descr="Free SBI Logo in All Formats, EPS, SVG, PNG...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15" b="33146"/>
          <a:stretch/>
        </p:blipFill>
        <p:spPr bwMode="auto">
          <a:xfrm>
            <a:off x="100044" y="3422440"/>
            <a:ext cx="1739901" cy="595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DFC logo thumbnail transparent PNG - Stick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176" y="3365502"/>
            <a:ext cx="951331" cy="951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aurashtra Gramin Bank in Sayla Surendranagar,Surendra Nagar ...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26" r="20723"/>
          <a:stretch/>
        </p:blipFill>
        <p:spPr bwMode="auto">
          <a:xfrm>
            <a:off x="3784600" y="3341313"/>
            <a:ext cx="1109629" cy="1205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SBC India - Credit Cards, NRI Services, Saving and Deposit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88" b="29881"/>
          <a:stretch/>
        </p:blipFill>
        <p:spPr bwMode="auto">
          <a:xfrm>
            <a:off x="5236118" y="3341313"/>
            <a:ext cx="1848894" cy="875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Brand Identity - AU Small Finance Bank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8780" y="3351211"/>
            <a:ext cx="1421696" cy="73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2"/>
          <a:srcRect t="32444" b="33555"/>
          <a:stretch/>
        </p:blipFill>
        <p:spPr>
          <a:xfrm>
            <a:off x="9029667" y="3368294"/>
            <a:ext cx="2419724" cy="8227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" y="831920"/>
            <a:ext cx="8947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India</a:t>
            </a:r>
            <a:endParaRPr lang="en-IN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-2142" y="4442480"/>
            <a:ext cx="12282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Gujarat</a:t>
            </a:r>
            <a:endParaRPr lang="en-IN" sz="2800" b="1" dirty="0"/>
          </a:p>
        </p:txBody>
      </p:sp>
      <p:sp>
        <p:nvSpPr>
          <p:cNvPr id="8" name="Rounded Rectangle 7"/>
          <p:cNvSpPr/>
          <p:nvPr/>
        </p:nvSpPr>
        <p:spPr>
          <a:xfrm>
            <a:off x="1498600" y="4965700"/>
            <a:ext cx="1651000" cy="14097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Bank</a:t>
            </a:r>
          </a:p>
          <a:p>
            <a:pPr algn="ctr"/>
            <a:r>
              <a:rPr lang="en-US" sz="2800" dirty="0" smtClean="0"/>
              <a:t>Branches</a:t>
            </a:r>
            <a:endParaRPr lang="en-IN" sz="2800" dirty="0"/>
          </a:p>
        </p:txBody>
      </p:sp>
      <p:sp>
        <p:nvSpPr>
          <p:cNvPr id="15" name="Rounded Rectangle 14"/>
          <p:cNvSpPr/>
          <p:nvPr/>
        </p:nvSpPr>
        <p:spPr>
          <a:xfrm>
            <a:off x="3359662" y="4965700"/>
            <a:ext cx="1651000" cy="14097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10,659</a:t>
            </a:r>
            <a:endParaRPr lang="en-IN" sz="2800" dirty="0"/>
          </a:p>
        </p:txBody>
      </p:sp>
      <p:sp>
        <p:nvSpPr>
          <p:cNvPr id="16" name="Rounded Rectangle 15"/>
          <p:cNvSpPr/>
          <p:nvPr/>
        </p:nvSpPr>
        <p:spPr>
          <a:xfrm>
            <a:off x="5448300" y="4953001"/>
            <a:ext cx="1651000" cy="14097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ATMs</a:t>
            </a:r>
            <a:endParaRPr lang="en-IN" sz="2800" dirty="0"/>
          </a:p>
        </p:txBody>
      </p:sp>
      <p:sp>
        <p:nvSpPr>
          <p:cNvPr id="17" name="Rounded Rectangle 16"/>
          <p:cNvSpPr/>
          <p:nvPr/>
        </p:nvSpPr>
        <p:spPr>
          <a:xfrm>
            <a:off x="7309362" y="4953001"/>
            <a:ext cx="1651000" cy="140970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11,993</a:t>
            </a:r>
            <a:endParaRPr lang="en-IN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9512267" y="4965700"/>
            <a:ext cx="25526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Source: </a:t>
            </a:r>
            <a:r>
              <a:rPr lang="en-US" sz="2000" dirty="0">
                <a:hlinkClick r:id="rId13"/>
              </a:rPr>
              <a:t>https://findmybank.gov.in/FMB</a:t>
            </a:r>
            <a:r>
              <a:rPr lang="en-US" sz="2000" dirty="0" smtClean="0">
                <a:hlinkClick r:id="rId13"/>
              </a:rPr>
              <a:t>/</a:t>
            </a:r>
            <a:endParaRPr lang="en-US" sz="2000" dirty="0" smtClean="0"/>
          </a:p>
          <a:p>
            <a:endParaRPr lang="en-IN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10463141" y="2238286"/>
            <a:ext cx="25526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Source: </a:t>
            </a:r>
            <a:r>
              <a:rPr lang="en-US" sz="2000" dirty="0" smtClean="0"/>
              <a:t>RBI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5561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4941E52-E64F-465D-B741-7A520BCB46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E1F8B41-D32D-4826-A1CF-9B01EA209F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E081B40-A6BF-4201-B8FA-D80AFA15E7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717153B-4AE1-42CC-81ED-59CE5BA77F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6DCE7AA-A63F-4ADB-A53D-4613063263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AC47E1A-07D8-4455-B0E7-8BE5E3736B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B8370F7-D4D3-442D-9AD7-B4006663A9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17F9FAE-1D8B-421C-8ECF-8F0B6607D0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C23FB2D-D315-4DCA-80A6-AC624C1BE9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C04D90F-65F3-41D1-A43E-4DA0F1918E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B236403-9B38-4F5B-8DA0-E2ECB36E78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11E383-A9B5-4BBC-AA6C-99FC6C520E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  <p:bldP spid="13" grpId="0"/>
      <p:bldP spid="8" grpId="0" animBg="1"/>
      <p:bldP spid="15" grpId="0" animBg="1"/>
      <p:bldP spid="16" grpId="0" animBg="1"/>
      <p:bldP spid="17" grpId="0" animBg="1"/>
      <p:bldP spid="9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Indian Banking Sector Growth</a:t>
            </a:r>
            <a:endParaRPr lang="en-IN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573866957"/>
              </p:ext>
            </p:extLst>
          </p:nvPr>
        </p:nvGraphicFramePr>
        <p:xfrm>
          <a:off x="-444500" y="935566"/>
          <a:ext cx="12090400" cy="46143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5892800"/>
            <a:ext cx="1069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7"/>
              </a:rPr>
              <a:t>https://</a:t>
            </a:r>
            <a:r>
              <a:rPr lang="en-US" dirty="0" smtClean="0">
                <a:hlinkClick r:id="rId7"/>
              </a:rPr>
              <a:t>www.business-standard.com/industry/banking/bank-deposits-grow-10-83-to-rs-221-50-trn-show-steady-improvement-in-jan-125012301422_1.html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5245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58C864D-21DD-475E-AEF3-264081646B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84D490B-A2F4-43B6-82E5-0521C8328F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A42FFC-815F-4C44-BBE7-BA52EDB9D6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7CD6A0B-3C62-472E-9B4E-7DF2093A50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init_may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4539"/>
            <a:ext cx="6306004" cy="6012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" name="Chart 19"/>
          <p:cNvGraphicFramePr>
            <a:graphicFrameLocks/>
          </p:cNvGraphicFramePr>
          <p:nvPr>
            <p:extLst/>
          </p:nvPr>
        </p:nvGraphicFramePr>
        <p:xfrm>
          <a:off x="6458404" y="591684"/>
          <a:ext cx="5417910" cy="55517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654" y="6041568"/>
            <a:ext cx="12159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Source: https</a:t>
            </a:r>
            <a:r>
              <a:rPr lang="en-IN" dirty="0"/>
              <a:t>://www.moneycontrol.com/news/business/private-banks-report-higher-jump-in-net-profit-in-fy24-beating-psbs-12727326.html</a:t>
            </a:r>
          </a:p>
        </p:txBody>
      </p:sp>
    </p:spTree>
    <p:extLst>
      <p:ext uri="{BB962C8B-B14F-4D97-AF65-F5344CB8AC3E}">
        <p14:creationId xmlns:p14="http://schemas.microsoft.com/office/powerpoint/2010/main" val="4041555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0" grpId="0">
        <p:bldSub>
          <a:bldChart bld="category"/>
        </p:bldSub>
      </p:bldGraphic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ise of UP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0"/>
            <a:ext cx="5270500" cy="658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PI Across the Worl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0"/>
            <a:ext cx="5295901" cy="661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551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D5A6E-3A52-4735-80F8-F5EB3910AC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prashant.kachhela@darshan.ac.in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3ED79-BB2A-436C-BB8C-E275C4F33F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</a:t>
            </a:r>
            <a:r>
              <a:rPr lang="en-IN" dirty="0"/>
              <a:t>106232023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841181-E5E1-4AF7-92E2-83B02E9650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IN" dirty="0" err="1"/>
              <a:t>rof</a:t>
            </a:r>
            <a:r>
              <a:rPr lang="en-IN" dirty="0"/>
              <a:t>. Prashant Kachhela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9F4CFA-9ADD-465E-8D4C-03D5D17104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endParaRPr lang="en-US" dirty="0">
              <a:latin typeface="+mj-lt"/>
              <a:ea typeface="Roboto Condensed Light" panose="02000000000000000000" pitchFamily="2" charset="0"/>
            </a:endParaRPr>
          </a:p>
          <a:p>
            <a:r>
              <a:rPr lang="en-US" dirty="0"/>
              <a:t>Banking, Financial Services </a:t>
            </a:r>
            <a:endParaRPr lang="en-US" dirty="0" smtClean="0"/>
          </a:p>
          <a:p>
            <a:r>
              <a:rPr lang="en-US" dirty="0" smtClean="0"/>
              <a:t>and </a:t>
            </a:r>
            <a:r>
              <a:rPr lang="en-US" dirty="0"/>
              <a:t>Insurance</a:t>
            </a:r>
            <a:r>
              <a:rPr lang="en-US" dirty="0" smtClean="0"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latin typeface="+mj-lt"/>
                <a:ea typeface="Roboto Condensed Light" panose="02000000000000000000" pitchFamily="2" charset="0"/>
              </a:rPr>
              <a:t>(</a:t>
            </a:r>
            <a:r>
              <a:rPr lang="en-US" dirty="0" smtClean="0">
                <a:latin typeface="+mj-lt"/>
                <a:ea typeface="Roboto Condensed Light" panose="02000000000000000000" pitchFamily="2" charset="0"/>
              </a:rPr>
              <a:t>BFSI)</a:t>
            </a:r>
            <a:endParaRPr lang="en-US" dirty="0">
              <a:latin typeface="+mj-lt"/>
              <a:ea typeface="Roboto Condensed Light" panose="02000000000000000000" pitchFamily="2" charset="0"/>
            </a:endParaRPr>
          </a:p>
          <a:p>
            <a:r>
              <a:rPr lang="en-US" dirty="0">
                <a:latin typeface="+mj-lt"/>
                <a:ea typeface="Roboto Condensed Light" panose="02000000000000000000" pitchFamily="2" charset="0"/>
              </a:rPr>
              <a:t>DU  # </a:t>
            </a:r>
            <a:r>
              <a:rPr lang="en-IN" dirty="0"/>
              <a:t>2301CS594</a:t>
            </a:r>
            <a:endParaRPr lang="en-US" dirty="0">
              <a:latin typeface="+mj-lt"/>
              <a:ea typeface="Roboto Condensed Light" panose="02000000000000000000" pitchFamily="2" charset="0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833AD75-768F-F96B-FF27-2DF9658B3B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Picture 9" descr="C:\Users\praty\Desktop\IMG_0618-removebg-preview.pngIMG_0618-removebg-preview">
            <a:extLst>
              <a:ext uri="{FF2B5EF4-FFF2-40B4-BE49-F238E27FC236}">
                <a16:creationId xmlns:a16="http://schemas.microsoft.com/office/drawing/2014/main" id="{C0F69692-2436-995E-6D12-643454DC3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6705" y="5065395"/>
            <a:ext cx="1449705" cy="1494155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ADAD41C-B392-4AC7-9865-77D8C3539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475" y="1064679"/>
            <a:ext cx="7004638" cy="224886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0" lang="en-US" sz="4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+mn-lt"/>
                <a:ea typeface="Roboto Condensed Light" panose="02000000000000000000" pitchFamily="2" charset="0"/>
                <a:cs typeface="+mn-cs"/>
              </a:rPr>
              <a:t>Unit-1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+mn-lt"/>
                <a:ea typeface="Segoe UI Black" panose="020B0A02040204020203" pitchFamily="34" charset="0"/>
                <a:cs typeface="+mn-cs"/>
              </a:rPr>
              <a:t/>
            </a:r>
            <a:b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+mn-lt"/>
                <a:ea typeface="Segoe UI Black" panose="020B0A02040204020203" pitchFamily="34" charset="0"/>
                <a:cs typeface="+mn-cs"/>
              </a:rPr>
            </a:br>
            <a:r>
              <a:rPr lang="en-IN" sz="4800" dirty="0"/>
              <a:t>Banking System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129D9F0-8E76-AC79-9C7D-FB23493BEC9D}"/>
              </a:ext>
            </a:extLst>
          </p:cNvPr>
          <p:cNvSpPr txBox="1">
            <a:spLocks/>
          </p:cNvSpPr>
          <p:nvPr/>
        </p:nvSpPr>
        <p:spPr>
          <a:xfrm>
            <a:off x="1336474" y="3697283"/>
            <a:ext cx="7443731" cy="81787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>
                <a:latin typeface="+mn-lt"/>
              </a:rPr>
              <a:t>CO 1: Understand the basics of the Indian Banking System, including different types of banks, accounts, loans, and related banking concepts.</a:t>
            </a:r>
          </a:p>
        </p:txBody>
      </p:sp>
    </p:spTree>
    <p:extLst>
      <p:ext uri="{BB962C8B-B14F-4D97-AF65-F5344CB8AC3E}">
        <p14:creationId xmlns:p14="http://schemas.microsoft.com/office/powerpoint/2010/main" val="1184993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0685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3" y="731706"/>
            <a:ext cx="1032221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Topics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Indian Banking </a:t>
            </a:r>
            <a:r>
              <a:rPr lang="en-US" sz="2400" dirty="0" smtClean="0"/>
              <a:t>System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RBI</a:t>
            </a:r>
            <a:r>
              <a:rPr lang="en-US" sz="2400" dirty="0"/>
              <a:t>, Scheduled Commercial Banks, Scheduled Co-operative </a:t>
            </a:r>
            <a:r>
              <a:rPr lang="en-US" sz="2400" dirty="0" smtClean="0"/>
              <a:t>Banks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Functions </a:t>
            </a:r>
            <a:r>
              <a:rPr lang="en-US" sz="2400" dirty="0"/>
              <a:t>of Commercial </a:t>
            </a:r>
            <a:r>
              <a:rPr lang="en-US" sz="2400" dirty="0" smtClean="0"/>
              <a:t>Banks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Types </a:t>
            </a:r>
            <a:r>
              <a:rPr lang="en-US" sz="2400" dirty="0"/>
              <a:t>of Bank </a:t>
            </a:r>
            <a:r>
              <a:rPr lang="en-US" sz="2400" dirty="0" smtClean="0"/>
              <a:t>Accounts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 smtClean="0"/>
              <a:t>Cheque</a:t>
            </a:r>
            <a:r>
              <a:rPr lang="en-US" sz="2400" dirty="0" smtClean="0"/>
              <a:t> and Demand Draft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Debit Card and Forex Card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Credit Card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Secured </a:t>
            </a:r>
            <a:r>
              <a:rPr lang="en-US" sz="2400" dirty="0"/>
              <a:t>and Secured </a:t>
            </a:r>
            <a:r>
              <a:rPr lang="en-US" sz="2400" dirty="0" smtClean="0"/>
              <a:t>Loans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Personal Loans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Home Loans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0364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0685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3" y="731706"/>
            <a:ext cx="103222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Topics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Concept </a:t>
            </a:r>
            <a:r>
              <a:rPr lang="en-US" sz="2400" dirty="0"/>
              <a:t>of </a:t>
            </a:r>
            <a:r>
              <a:rPr lang="en-US" sz="2400" dirty="0" smtClean="0"/>
              <a:t>NPA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CIBIL Score</a:t>
            </a:r>
            <a:endParaRPr lang="en-US" sz="24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B5477B8-17FE-07BC-0563-1A46B19ED9A2}"/>
              </a:ext>
            </a:extLst>
          </p:cNvPr>
          <p:cNvSpPr txBox="1">
            <a:spLocks/>
          </p:cNvSpPr>
          <p:nvPr/>
        </p:nvSpPr>
        <p:spPr>
          <a:xfrm>
            <a:off x="1936956" y="5724261"/>
            <a:ext cx="7944464" cy="81787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2400" dirty="0"/>
              <a:t>CO 1: 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U</a:t>
            </a:r>
            <a:r>
              <a:rPr lang="en-US" sz="2400" dirty="0" smtClean="0">
                <a:solidFill>
                  <a:schemeClr val="tx1"/>
                </a:solidFill>
                <a:latin typeface="+mn-lt"/>
                <a:ea typeface="+mn-ea"/>
              </a:rPr>
              <a:t>nderstand 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the basics of the Indian Banking System, including different types of banks, accounts, loans, and related banking concepts.</a:t>
            </a:r>
          </a:p>
        </p:txBody>
      </p:sp>
    </p:spTree>
    <p:extLst>
      <p:ext uri="{BB962C8B-B14F-4D97-AF65-F5344CB8AC3E}">
        <p14:creationId xmlns:p14="http://schemas.microsoft.com/office/powerpoint/2010/main" val="2899094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sym typeface="+mn-ea"/>
              </a:rPr>
              <a:t>Indian Banking System</a:t>
            </a:r>
          </a:p>
        </p:txBody>
      </p:sp>
    </p:spTree>
    <p:extLst>
      <p:ext uri="{BB962C8B-B14F-4D97-AF65-F5344CB8AC3E}">
        <p14:creationId xmlns:p14="http://schemas.microsoft.com/office/powerpoint/2010/main" val="702196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Introduction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Bank is the financial institution </a:t>
            </a:r>
            <a:r>
              <a:rPr lang="en-US" b="1" dirty="0" smtClean="0">
                <a:solidFill>
                  <a:srgbClr val="C00000"/>
                </a:solidFill>
              </a:rPr>
              <a:t>which manages our money </a:t>
            </a:r>
            <a:r>
              <a:rPr lang="en-US" dirty="0" smtClean="0"/>
              <a:t>(Individuals / Businesses).</a:t>
            </a:r>
          </a:p>
          <a:p>
            <a:r>
              <a:rPr lang="en-US" dirty="0" smtClean="0"/>
              <a:t>Bank </a:t>
            </a:r>
            <a:r>
              <a:rPr lang="en-US" b="1" dirty="0" smtClean="0">
                <a:solidFill>
                  <a:srgbClr val="C00000"/>
                </a:solidFill>
              </a:rPr>
              <a:t>accepts money/deposits</a:t>
            </a:r>
            <a:r>
              <a:rPr lang="en-US" dirty="0" smtClean="0"/>
              <a:t> from customers in various forms such as Saving deposits, Current Deposits, Fixed deposits &amp; Recurring Deposits.</a:t>
            </a:r>
          </a:p>
          <a:p>
            <a:r>
              <a:rPr lang="en-US" dirty="0" smtClean="0"/>
              <a:t>It utilizes these money / deposits in the </a:t>
            </a:r>
            <a:r>
              <a:rPr lang="en-US" b="1" dirty="0" smtClean="0">
                <a:solidFill>
                  <a:srgbClr val="C00000"/>
                </a:solidFill>
              </a:rPr>
              <a:t>investment or lending purpose </a:t>
            </a:r>
            <a:r>
              <a:rPr lang="en-US" dirty="0" smtClean="0"/>
              <a:t>(Giving loans and Advances)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RBI is the </a:t>
            </a:r>
            <a:r>
              <a:rPr lang="en-US" b="1" dirty="0" err="1" smtClean="0">
                <a:solidFill>
                  <a:srgbClr val="C00000"/>
                </a:solidFill>
              </a:rPr>
              <a:t>govering</a:t>
            </a:r>
            <a:r>
              <a:rPr lang="en-US" b="1" dirty="0" smtClean="0">
                <a:solidFill>
                  <a:srgbClr val="C00000"/>
                </a:solidFill>
              </a:rPr>
              <a:t> / controlling / regulating </a:t>
            </a:r>
            <a:r>
              <a:rPr lang="en-US" dirty="0" smtClean="0"/>
              <a:t>body which controls all the banks and some of the NBFCs.</a:t>
            </a:r>
            <a:endParaRPr lang="en-IN" dirty="0"/>
          </a:p>
        </p:txBody>
      </p:sp>
      <p:pic>
        <p:nvPicPr>
          <p:cNvPr id="1026" name="Picture 2" descr="Indian Bank Building Photos and Images &amp; Pictures | Shutter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18"/>
          <a:stretch/>
        </p:blipFill>
        <p:spPr bwMode="auto">
          <a:xfrm>
            <a:off x="10619170" y="4926563"/>
            <a:ext cx="1572829" cy="1679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247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Functions of RBI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Monetary Authority</a:t>
            </a:r>
          </a:p>
          <a:p>
            <a:pPr lvl="1"/>
            <a:r>
              <a:rPr lang="en-US" dirty="0"/>
              <a:t>Formulates, implements and monitors the </a:t>
            </a:r>
            <a:r>
              <a:rPr lang="en-US" b="1" dirty="0">
                <a:solidFill>
                  <a:srgbClr val="C00000"/>
                </a:solidFill>
              </a:rPr>
              <a:t>monetary policy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It helps in maintaining </a:t>
            </a:r>
            <a:r>
              <a:rPr lang="en-US" b="1" dirty="0">
                <a:solidFill>
                  <a:srgbClr val="C00000"/>
                </a:solidFill>
              </a:rPr>
              <a:t>price stability &amp; growth</a:t>
            </a:r>
            <a:r>
              <a:rPr lang="en-US" dirty="0"/>
              <a:t>.</a:t>
            </a:r>
          </a:p>
          <a:p>
            <a:r>
              <a:rPr lang="en-US" b="1" dirty="0"/>
              <a:t>Regulator and supervisor of the financial system</a:t>
            </a:r>
          </a:p>
          <a:p>
            <a:pPr lvl="1"/>
            <a:r>
              <a:rPr lang="en-US" dirty="0"/>
              <a:t>Prescribes broad </a:t>
            </a:r>
            <a:r>
              <a:rPr lang="en-US" b="1" dirty="0">
                <a:solidFill>
                  <a:srgbClr val="C00000"/>
                </a:solidFill>
              </a:rPr>
              <a:t>parameters of banking </a:t>
            </a:r>
            <a:r>
              <a:rPr lang="en-US" dirty="0"/>
              <a:t>operations which all the </a:t>
            </a:r>
            <a:r>
              <a:rPr lang="en-US" b="1" dirty="0">
                <a:solidFill>
                  <a:srgbClr val="C00000"/>
                </a:solidFill>
              </a:rPr>
              <a:t>banks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NBFCs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follows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It helps in maintaining public confidence in the system.</a:t>
            </a:r>
          </a:p>
          <a:p>
            <a:r>
              <a:rPr lang="en-US" b="1" dirty="0"/>
              <a:t>Manager of Foreign Exchange</a:t>
            </a:r>
          </a:p>
          <a:p>
            <a:pPr lvl="1"/>
            <a:r>
              <a:rPr lang="en-US" dirty="0"/>
              <a:t>Facilitates </a:t>
            </a:r>
            <a:r>
              <a:rPr lang="en-US" b="1" dirty="0">
                <a:solidFill>
                  <a:srgbClr val="C00000"/>
                </a:solidFill>
              </a:rPr>
              <a:t>external trade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payments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Promote development and maintenance of forex market in India.</a:t>
            </a:r>
          </a:p>
          <a:p>
            <a:r>
              <a:rPr lang="en-US" b="1" dirty="0"/>
              <a:t>Issuer of currency</a:t>
            </a:r>
            <a:endParaRPr lang="en-US" dirty="0"/>
          </a:p>
          <a:p>
            <a:pPr lvl="1"/>
            <a:r>
              <a:rPr lang="en-US" dirty="0"/>
              <a:t>Issues, circulate and destroys </a:t>
            </a:r>
            <a:r>
              <a:rPr lang="en-US" b="1" dirty="0">
                <a:solidFill>
                  <a:srgbClr val="C00000"/>
                </a:solidFill>
              </a:rPr>
              <a:t>currency notes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1 rupee note and all the coins are </a:t>
            </a:r>
            <a:r>
              <a:rPr lang="en-US" b="1" dirty="0">
                <a:solidFill>
                  <a:srgbClr val="C00000"/>
                </a:solidFill>
              </a:rPr>
              <a:t>not issued by RBI </a:t>
            </a:r>
            <a:r>
              <a:rPr lang="en-US" dirty="0"/>
              <a:t>but it helps in circulation.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7101" y="3524759"/>
            <a:ext cx="1980301" cy="198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25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Functions of RBI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Regulator and Supervisor of Payment and Settlement Systems</a:t>
            </a:r>
          </a:p>
          <a:p>
            <a:pPr lvl="1"/>
            <a:r>
              <a:rPr lang="en-US" dirty="0"/>
              <a:t>Introduces and upgrades safe and efficient modes of </a:t>
            </a:r>
            <a:r>
              <a:rPr lang="en-US" b="1" dirty="0">
                <a:solidFill>
                  <a:srgbClr val="C00000"/>
                </a:solidFill>
              </a:rPr>
              <a:t>payment systems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Ex - </a:t>
            </a:r>
            <a:r>
              <a:rPr lang="en-US" dirty="0" err="1"/>
              <a:t>Cheque</a:t>
            </a:r>
            <a:r>
              <a:rPr lang="en-US" dirty="0"/>
              <a:t>, NEFT, RTGS, UPI etc.</a:t>
            </a:r>
          </a:p>
          <a:p>
            <a:r>
              <a:rPr lang="en-US" b="1" dirty="0"/>
              <a:t>Banker to the Government</a:t>
            </a:r>
          </a:p>
          <a:p>
            <a:pPr lvl="1"/>
            <a:r>
              <a:rPr lang="en-US" dirty="0"/>
              <a:t>Act as </a:t>
            </a:r>
            <a:r>
              <a:rPr lang="en-US" b="1" dirty="0">
                <a:solidFill>
                  <a:srgbClr val="C00000"/>
                </a:solidFill>
              </a:rPr>
              <a:t>the banker for central &amp; state governments</a:t>
            </a:r>
            <a:r>
              <a:rPr lang="en-US" dirty="0"/>
              <a:t>.</a:t>
            </a:r>
          </a:p>
          <a:p>
            <a:r>
              <a:rPr lang="en-US" b="1" dirty="0"/>
              <a:t>Banker to Banks</a:t>
            </a:r>
            <a:endParaRPr lang="en-US" dirty="0"/>
          </a:p>
          <a:p>
            <a:pPr lvl="1"/>
            <a:r>
              <a:rPr lang="en-US" dirty="0"/>
              <a:t>Maintain banking accounts of </a:t>
            </a:r>
            <a:r>
              <a:rPr lang="en-US" b="1" dirty="0">
                <a:solidFill>
                  <a:srgbClr val="C00000"/>
                </a:solidFill>
              </a:rPr>
              <a:t>all scheduled banks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provides loans </a:t>
            </a:r>
            <a:r>
              <a:rPr lang="en-US" dirty="0"/>
              <a:t>to them also.</a:t>
            </a:r>
          </a:p>
          <a:p>
            <a:r>
              <a:rPr lang="en-US" b="1" dirty="0"/>
              <a:t>Development Role</a:t>
            </a:r>
          </a:p>
          <a:p>
            <a:pPr lvl="1"/>
            <a:r>
              <a:rPr lang="en-US" dirty="0"/>
              <a:t>Performs wide range of </a:t>
            </a:r>
            <a:r>
              <a:rPr lang="en-US" b="1" dirty="0">
                <a:solidFill>
                  <a:srgbClr val="C00000"/>
                </a:solidFill>
              </a:rPr>
              <a:t>promotional functions </a:t>
            </a:r>
            <a:r>
              <a:rPr lang="en-US" dirty="0"/>
              <a:t>such as </a:t>
            </a:r>
          </a:p>
          <a:p>
            <a:pPr lvl="2"/>
            <a:r>
              <a:rPr lang="en-US" dirty="0"/>
              <a:t>Establishment of financial institutions ex - 2008</a:t>
            </a:r>
          </a:p>
          <a:p>
            <a:pPr lvl="2"/>
            <a:r>
              <a:rPr lang="en-US" dirty="0"/>
              <a:t>Promotes Financial awareness ex -</a:t>
            </a:r>
          </a:p>
          <a:p>
            <a:pPr lvl="1"/>
            <a:endParaRPr lang="en-US" dirty="0"/>
          </a:p>
          <a:p>
            <a:endParaRPr lang="en-IN" dirty="0"/>
          </a:p>
        </p:txBody>
      </p:sp>
      <p:pic>
        <p:nvPicPr>
          <p:cNvPr id="5" name="Picture 2" descr="What is Reserve Bank of India, RBI Latest News, Photos, Videos, Functi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8556" y="1786888"/>
            <a:ext cx="3041362" cy="1712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eserve Bank of Indi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877" y="5318840"/>
            <a:ext cx="1966452" cy="128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NPCI - ATPAY- Best UPI Payment Gateway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97" b="24928"/>
          <a:stretch/>
        </p:blipFill>
        <p:spPr bwMode="auto">
          <a:xfrm>
            <a:off x="7324329" y="4919214"/>
            <a:ext cx="2267564" cy="948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602664A-A0BE-84CC-12C2-A0B659D3FEAB}"/>
              </a:ext>
            </a:extLst>
          </p:cNvPr>
          <p:cNvCxnSpPr/>
          <p:nvPr/>
        </p:nvCxnSpPr>
        <p:spPr>
          <a:xfrm>
            <a:off x="7156580" y="5135960"/>
            <a:ext cx="485191" cy="1828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68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8C54125-976C-5A6A-F76F-E45CD62AA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Banking System in India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38B3CD-D984-8CE5-BF21-D7E47F8B8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CA6B44B-4953-BFF3-0BF6-49A36F7D9337}"/>
              </a:ext>
            </a:extLst>
          </p:cNvPr>
          <p:cNvGraphicFramePr/>
          <p:nvPr>
            <p:extLst/>
          </p:nvPr>
        </p:nvGraphicFramePr>
        <p:xfrm>
          <a:off x="0" y="-418011"/>
          <a:ext cx="12078789" cy="6966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646C88C-634C-5928-7715-9E9CE61531C2}"/>
              </a:ext>
            </a:extLst>
          </p:cNvPr>
          <p:cNvSpPr txBox="1"/>
          <p:nvPr/>
        </p:nvSpPr>
        <p:spPr>
          <a:xfrm>
            <a:off x="113211" y="5902515"/>
            <a:ext cx="5727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  Book of ICSI, Banking &amp; Insurance Laws &amp; Practice,</a:t>
            </a:r>
            <a:r>
              <a:rPr lang="en-IN" dirty="0"/>
              <a:t> </a:t>
            </a:r>
          </a:p>
          <a:p>
            <a:r>
              <a:rPr lang="en-IN" dirty="0"/>
              <a:t>Website: Department of Financial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7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7E343A1-ECC0-4DD3-90EB-5C15C37C3A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57E343A1-ECC0-4DD3-90EB-5C15C37C3A2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CE112DD-4EF1-434B-8544-1057E38A99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graphicEl>
                                              <a:dgm id="{6CE112DD-4EF1-434B-8544-1057E38A99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F8277CB-C94D-48B3-9CEF-6F340B7123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3F8277CB-C94D-48B3-9CEF-6F340B7123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0B1E89D-4002-42C4-82AD-2B8B08E931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graphicEl>
                                              <a:dgm id="{70B1E89D-4002-42C4-82AD-2B8B08E931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A7565B0-6007-41F6-BE07-FF64E2A3AF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graphicEl>
                                              <a:dgm id="{8A7565B0-6007-41F6-BE07-FF64E2A3AF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490DAE6-CC64-4D99-92F9-841B490ED3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graphicEl>
                                              <a:dgm id="{5490DAE6-CC64-4D99-92F9-841B490ED3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31B3E6E-2988-4756-B3B8-8A575AC18D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graphicEl>
                                              <a:dgm id="{831B3E6E-2988-4756-B3B8-8A575AC18D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E0E742A-FCD0-4687-AB27-802D253160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8E0E742A-FCD0-4687-AB27-802D253160D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4F5BD44-E4FF-4C34-9F06-59C1CAB8F6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graphicEl>
                                              <a:dgm id="{74F5BD44-E4FF-4C34-9F06-59C1CAB8F6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941C6B2-A95E-4873-ACC7-B686312ECB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graphicEl>
                                              <a:dgm id="{E941C6B2-A95E-4873-ACC7-B686312ECB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4461C01-4490-4F77-A558-BFD4658A9A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graphicEl>
                                              <a:dgm id="{64461C01-4490-4F77-A558-BFD4658A9AE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843E4C6-1CA5-4EC4-92E1-4A747E4E09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graphicEl>
                                              <a:dgm id="{5843E4C6-1CA5-4EC4-92E1-4A747E4E09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4B42F7D-739D-440D-B356-945CA6564C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>
                                            <p:graphicEl>
                                              <a:dgm id="{54B42F7D-739D-440D-B356-945CA6564C5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FF63002-D2FA-40A0-845B-5E75555871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>
                                            <p:graphicEl>
                                              <a:dgm id="{6FF63002-D2FA-40A0-845B-5E75555871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43F3DD2-C3E7-4280-BE43-6AF90C84FE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>
                                            <p:graphicEl>
                                              <a:dgm id="{643F3DD2-C3E7-4280-BE43-6AF90C84FEE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C690ED2-3B0A-40BD-8DD0-F4825D0C23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graphicEl>
                                              <a:dgm id="{DC690ED2-3B0A-40BD-8DD0-F4825D0C23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BE6FB09-8319-422A-A345-F3043485EB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>
                                            <p:graphicEl>
                                              <a:dgm id="{5BE6FB09-8319-422A-A345-F3043485EB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520E28F-C472-4614-9DC2-247990C1F0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">
                                            <p:graphicEl>
                                              <a:dgm id="{1520E28F-C472-4614-9DC2-247990C1F0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90AAC47-202E-4E5A-9818-EF368F9F2D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">
                                            <p:graphicEl>
                                              <a:dgm id="{E90AAC47-202E-4E5A-9818-EF368F9F2D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AC82886-3F12-42B3-8763-5A49193FDD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">
                                            <p:graphicEl>
                                              <a:dgm id="{8AC82886-3F12-42B3-8763-5A49193FDD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32F47E2-AB96-4CED-8F1D-E5E29DA6F9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">
                                            <p:graphicEl>
                                              <a:dgm id="{132F47E2-AB96-4CED-8F1D-E5E29DA6F9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4C50D94-79A2-4CBB-B2BE-D678DFE8BE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">
                                            <p:graphicEl>
                                              <a:dgm id="{84C50D94-79A2-4CBB-B2BE-D678DFE8BE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023944-12F7-4D5F-82E9-B0E4CAD50D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">
                                            <p:graphicEl>
                                              <a:dgm id="{99023944-12F7-4D5F-82E9-B0E4CAD50D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2C3BAC0-6679-4846-A9BC-2099A335B0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">
                                            <p:graphicEl>
                                              <a:dgm id="{D2C3BAC0-6679-4846-A9BC-2099A335B0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3D32D85-3396-4966-92BC-4309C39968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">
                                            <p:graphicEl>
                                              <a:dgm id="{33D32D85-3396-4966-92BC-4309C399680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67998CD-D9CF-4D55-8208-CDF2FCCE6C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">
                                            <p:graphicEl>
                                              <a:dgm id="{A67998CD-D9CF-4D55-8208-CDF2FCCE6C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ABA19E2-E735-423F-93C4-D70C6A01A3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">
                                            <p:graphicEl>
                                              <a:dgm id="{2ABA19E2-E735-423F-93C4-D70C6A01A3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54B4425-B0ED-43F5-B778-EA8C71D0C3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">
                                            <p:graphicEl>
                                              <a:dgm id="{654B4425-B0ED-43F5-B778-EA8C71D0C3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7663A7E-231B-4AAF-A523-04D8BCE829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">
                                            <p:graphicEl>
                                              <a:dgm id="{27663A7E-231B-4AAF-A523-04D8BCE829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485710A-D795-4A5A-B1B2-AB636ABBF2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">
                                            <p:graphicEl>
                                              <a:dgm id="{C485710A-D795-4A5A-B1B2-AB636ABBF2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545E689-5778-4E33-9C40-5A8CE5AF09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">
                                            <p:graphicEl>
                                              <a:dgm id="{8545E689-5778-4E33-9C40-5A8CE5AF095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C571628-E48E-491D-8C56-9C3968FF7E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7">
                                            <p:graphicEl>
                                              <a:dgm id="{0C571628-E48E-491D-8C56-9C3968FF7E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6C6B536-5A1C-444F-BEB6-F6C31F67F9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7">
                                            <p:graphicEl>
                                              <a:dgm id="{26C6B536-5A1C-444F-BEB6-F6C31F67F9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4868ED4-D2BB-45B5-AE86-FD32A4C11D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">
                                            <p:graphicEl>
                                              <a:dgm id="{74868ED4-D2BB-45B5-AE86-FD32A4C11D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97CD5D8-BA61-4A9B-BEE0-00AF96576B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">
                                            <p:graphicEl>
                                              <a:dgm id="{C97CD5D8-BA61-4A9B-BEE0-00AF96576B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616D85A-4DBA-4ECD-B0C8-BBCD2B2EB6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7">
                                            <p:graphicEl>
                                              <a:dgm id="{0616D85A-4DBA-4ECD-B0C8-BBCD2B2EB60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DAF3C53-3C2E-4E4A-B70D-8D2300FB83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">
                                            <p:graphicEl>
                                              <a:dgm id="{BDAF3C53-3C2E-4E4A-B70D-8D2300FB835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7976DF0-733A-4F51-88E9-DFBC1E0225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7">
                                            <p:graphicEl>
                                              <a:dgm id="{C7976DF0-733A-4F51-88E9-DFBC1E02258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0B4EF77-6A16-4AE0-88B3-819F765637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">
                                            <p:graphicEl>
                                              <a:dgm id="{B0B4EF77-6A16-4AE0-88B3-819F765637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5EC1C09-3745-4EE6-B915-247635F8CB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7">
                                            <p:graphicEl>
                                              <a:dgm id="{25EC1C09-3745-4EE6-B915-247635F8CB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EAE43C3-0FBE-48FB-9AA9-D104F2A322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7">
                                            <p:graphicEl>
                                              <a:dgm id="{6EAE43C3-0FBE-48FB-9AA9-D104F2A322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4884820-AE92-4C89-AC9D-F522DFE469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7">
                                            <p:graphicEl>
                                              <a:dgm id="{84884820-AE92-4C89-AC9D-F522DFE469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7987726-1818-42DC-B45A-CAFA393801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7">
                                            <p:graphicEl>
                                              <a:dgm id="{77987726-1818-42DC-B45A-CAFA393801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CCB79FC-4F8E-4783-B3EB-F43D118168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7">
                                            <p:graphicEl>
                                              <a:dgm id="{5CCB79FC-4F8E-4783-B3EB-F43D118168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0247761-867A-3B35-7A50-EE515D27BEB8}"/>
              </a:ext>
            </a:extLst>
          </p:cNvPr>
          <p:cNvCxnSpPr/>
          <p:nvPr/>
        </p:nvCxnSpPr>
        <p:spPr>
          <a:xfrm flipH="1">
            <a:off x="6102199" y="8315"/>
            <a:ext cx="10555" cy="65579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F5D60A-3E8F-B985-1DDA-B7953DFB7767}"/>
              </a:ext>
            </a:extLst>
          </p:cNvPr>
          <p:cNvCxnSpPr/>
          <p:nvPr/>
        </p:nvCxnSpPr>
        <p:spPr>
          <a:xfrm>
            <a:off x="1540932" y="800795"/>
            <a:ext cx="9594215" cy="5080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Text Box 6">
            <a:extLst>
              <a:ext uri="{FF2B5EF4-FFF2-40B4-BE49-F238E27FC236}">
                <a16:creationId xmlns:a16="http://schemas.microsoft.com/office/drawing/2014/main" id="{50E25BC6-9FC5-514F-91F7-CA0E777D52DF}"/>
              </a:ext>
            </a:extLst>
          </p:cNvPr>
          <p:cNvSpPr txBox="1"/>
          <p:nvPr/>
        </p:nvSpPr>
        <p:spPr>
          <a:xfrm>
            <a:off x="2152246" y="50612"/>
            <a:ext cx="3712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Scheduled Banks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70F8D394-2EBD-65C3-8846-B5AA71011F03}"/>
              </a:ext>
            </a:extLst>
          </p:cNvPr>
          <p:cNvSpPr txBox="1"/>
          <p:nvPr/>
        </p:nvSpPr>
        <p:spPr>
          <a:xfrm>
            <a:off x="6450752" y="73852"/>
            <a:ext cx="47195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Non-Scheduled Banks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32649B-D68D-8FC8-7CFB-4185C0AE69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08" y="1147664"/>
            <a:ext cx="823713" cy="8024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679B5B-04D9-CE19-0EF5-17834CBAC3DB}"/>
              </a:ext>
            </a:extLst>
          </p:cNvPr>
          <p:cNvSpPr txBox="1"/>
          <p:nvPr/>
        </p:nvSpPr>
        <p:spPr>
          <a:xfrm>
            <a:off x="1027389" y="2042619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SBI</a:t>
            </a:r>
            <a:endParaRPr lang="en-IN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B956AAA-97A6-D983-F921-04114B6F7C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805" y="1065257"/>
            <a:ext cx="1056004" cy="101290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30B44FA-9EC9-9991-F226-B7738EFCB2EF}"/>
              </a:ext>
            </a:extLst>
          </p:cNvPr>
          <p:cNvSpPr txBox="1"/>
          <p:nvPr/>
        </p:nvSpPr>
        <p:spPr>
          <a:xfrm>
            <a:off x="2578846" y="2033289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HDFC</a:t>
            </a:r>
            <a:endParaRPr lang="en-IN" b="1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253057B-6CB7-5825-4E8A-2B8D4EB536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758" y="1055143"/>
            <a:ext cx="1510785" cy="98747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BDA9629-3046-DDA2-D534-B954FE365F8A}"/>
              </a:ext>
            </a:extLst>
          </p:cNvPr>
          <p:cNvSpPr txBox="1"/>
          <p:nvPr/>
        </p:nvSpPr>
        <p:spPr>
          <a:xfrm>
            <a:off x="4412683" y="2032505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HSBC</a:t>
            </a:r>
            <a:endParaRPr lang="en-IN" b="1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F8DB965-1D00-9E58-2E49-DB284835AC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767" y="2693469"/>
            <a:ext cx="972101" cy="96159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E5D563B-E57D-E744-C99B-FAAF060EAF7E}"/>
              </a:ext>
            </a:extLst>
          </p:cNvPr>
          <p:cNvSpPr txBox="1"/>
          <p:nvPr/>
        </p:nvSpPr>
        <p:spPr>
          <a:xfrm>
            <a:off x="647366" y="3787828"/>
            <a:ext cx="14221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AU Small </a:t>
            </a:r>
          </a:p>
          <a:p>
            <a:r>
              <a:rPr lang="en-US" b="1" dirty="0"/>
              <a:t>Finance Bank</a:t>
            </a:r>
            <a:endParaRPr lang="en-IN" b="1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E2BAE8-2888-575F-1F74-79741A54C38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805" y="2631020"/>
            <a:ext cx="1353295" cy="112221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3BB661D-0746-98FA-0E35-21809C1E9A8C}"/>
              </a:ext>
            </a:extLst>
          </p:cNvPr>
          <p:cNvSpPr txBox="1"/>
          <p:nvPr/>
        </p:nvSpPr>
        <p:spPr>
          <a:xfrm>
            <a:off x="2215750" y="3778097"/>
            <a:ext cx="15103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India Post </a:t>
            </a:r>
          </a:p>
          <a:p>
            <a:r>
              <a:rPr lang="en-US" b="1" dirty="0"/>
              <a:t>Payment Bank</a:t>
            </a:r>
            <a:endParaRPr lang="en-IN" b="1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4B54AEE-ABA8-D2C6-F687-0C72B2A3CD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2529" y="2595301"/>
            <a:ext cx="1249242" cy="115793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F0C0886-D997-AA2E-F571-6A6D5183FD11}"/>
              </a:ext>
            </a:extLst>
          </p:cNvPr>
          <p:cNvSpPr txBox="1"/>
          <p:nvPr/>
        </p:nvSpPr>
        <p:spPr>
          <a:xfrm>
            <a:off x="4166383" y="3787828"/>
            <a:ext cx="1364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Saurashtra </a:t>
            </a:r>
          </a:p>
          <a:p>
            <a:r>
              <a:rPr lang="en-US" b="1" dirty="0"/>
              <a:t>Gramin Bank</a:t>
            </a:r>
            <a:endParaRPr lang="en-IN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8593BB-62E8-393A-0CCD-A3E37D0BED10}"/>
              </a:ext>
            </a:extLst>
          </p:cNvPr>
          <p:cNvSpPr txBox="1"/>
          <p:nvPr/>
        </p:nvSpPr>
        <p:spPr>
          <a:xfrm>
            <a:off x="683622" y="4862753"/>
            <a:ext cx="549037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/>
              <a:t>This banks are authorized to </a:t>
            </a:r>
            <a:r>
              <a:rPr lang="en-US" sz="2600" b="1" dirty="0">
                <a:solidFill>
                  <a:srgbClr val="C00000"/>
                </a:solidFill>
              </a:rPr>
              <a:t>borrow funds from RBI</a:t>
            </a:r>
            <a:r>
              <a:rPr lang="en-US" sz="2600" dirty="0"/>
              <a:t>. </a:t>
            </a:r>
            <a:endParaRPr lang="en-IN" sz="26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E13976A-76F7-FA51-7EEF-95689BC391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410" y="1088447"/>
            <a:ext cx="1134421" cy="86288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DE67F6F-E4A7-B9CA-50F1-7F87C2929332}"/>
              </a:ext>
            </a:extLst>
          </p:cNvPr>
          <p:cNvSpPr txBox="1"/>
          <p:nvPr/>
        </p:nvSpPr>
        <p:spPr>
          <a:xfrm>
            <a:off x="6801884" y="2032505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Raj Bank</a:t>
            </a:r>
            <a:endParaRPr lang="en-IN" b="1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C199186-6897-62A8-C625-5536A85E6C0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884" y="1088447"/>
            <a:ext cx="1146952" cy="85780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BAEA95D-0415-C6CF-ACA1-DCF88516B54B}"/>
              </a:ext>
            </a:extLst>
          </p:cNvPr>
          <p:cNvSpPr txBox="1"/>
          <p:nvPr/>
        </p:nvSpPr>
        <p:spPr>
          <a:xfrm>
            <a:off x="7931455" y="1934211"/>
            <a:ext cx="15456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Gondal </a:t>
            </a:r>
            <a:r>
              <a:rPr lang="en-US" b="1" dirty="0" err="1"/>
              <a:t>Nagrik</a:t>
            </a:r>
            <a:r>
              <a:rPr lang="en-US" b="1" dirty="0"/>
              <a:t> </a:t>
            </a:r>
          </a:p>
          <a:p>
            <a:pPr algn="ctr"/>
            <a:r>
              <a:rPr lang="en-US" b="1" dirty="0" err="1"/>
              <a:t>Sahkari</a:t>
            </a:r>
            <a:r>
              <a:rPr lang="en-US" b="1" dirty="0"/>
              <a:t> Bank</a:t>
            </a:r>
            <a:endParaRPr lang="en-IN" b="1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CA72B6F-D781-4690-A44D-746641CE324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7282" y="1065257"/>
            <a:ext cx="895226" cy="882915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CF6AE137-4A13-E0E3-6A0D-9DA52E5BD60D}"/>
              </a:ext>
            </a:extLst>
          </p:cNvPr>
          <p:cNvSpPr txBox="1"/>
          <p:nvPr/>
        </p:nvSpPr>
        <p:spPr>
          <a:xfrm>
            <a:off x="9516559" y="1938058"/>
            <a:ext cx="18966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Jivan Commercial </a:t>
            </a:r>
          </a:p>
          <a:p>
            <a:r>
              <a:rPr lang="en-US" b="1" dirty="0"/>
              <a:t>Cooperative Bank</a:t>
            </a:r>
            <a:endParaRPr lang="en-IN" b="1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524AE6E-D3BB-8684-4328-711A0E0F560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0816" y="2661935"/>
            <a:ext cx="1263222" cy="1212916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6192CB3E-1303-A397-7503-E9C1623E815D}"/>
              </a:ext>
            </a:extLst>
          </p:cNvPr>
          <p:cNvSpPr txBox="1"/>
          <p:nvPr/>
        </p:nvSpPr>
        <p:spPr>
          <a:xfrm>
            <a:off x="6286038" y="3874851"/>
            <a:ext cx="1952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Rajkot Commercial</a:t>
            </a:r>
          </a:p>
          <a:p>
            <a:r>
              <a:rPr lang="en-US" b="1" dirty="0"/>
              <a:t> Co-operative Bank</a:t>
            </a:r>
            <a:endParaRPr lang="en-IN" b="1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FC2CD040-EB06-97FE-A1AC-24CA725BD6C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836" y="2693469"/>
            <a:ext cx="1340769" cy="118916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74B929B3-78F7-EFD3-F880-6945843BA85A}"/>
              </a:ext>
            </a:extLst>
          </p:cNvPr>
          <p:cNvSpPr txBox="1"/>
          <p:nvPr/>
        </p:nvSpPr>
        <p:spPr>
          <a:xfrm>
            <a:off x="9067342" y="3883727"/>
            <a:ext cx="18998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Shree Dharti </a:t>
            </a:r>
          </a:p>
          <a:p>
            <a:r>
              <a:rPr lang="en-US" b="1" dirty="0"/>
              <a:t>Co-operative Bank</a:t>
            </a:r>
            <a:endParaRPr lang="en-IN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726BF86-197D-3DC8-EAC0-773AB6594F43}"/>
              </a:ext>
            </a:extLst>
          </p:cNvPr>
          <p:cNvSpPr txBox="1"/>
          <p:nvPr/>
        </p:nvSpPr>
        <p:spPr>
          <a:xfrm>
            <a:off x="6450752" y="4884525"/>
            <a:ext cx="555314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/>
              <a:t>This banks are usually not authorized</a:t>
            </a:r>
          </a:p>
          <a:p>
            <a:pPr algn="just"/>
            <a:r>
              <a:rPr lang="en-US" sz="2600" dirty="0"/>
              <a:t>      to </a:t>
            </a:r>
            <a:r>
              <a:rPr lang="en-US" sz="2600" b="1" dirty="0">
                <a:solidFill>
                  <a:srgbClr val="C00000"/>
                </a:solidFill>
              </a:rPr>
              <a:t>borrow funds from RBI</a:t>
            </a:r>
            <a:r>
              <a:rPr lang="en-US" sz="2600" dirty="0"/>
              <a:t>.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/>
              <a:t>However, in </a:t>
            </a:r>
            <a:r>
              <a:rPr lang="en-US" sz="2600" b="1" dirty="0">
                <a:solidFill>
                  <a:srgbClr val="C00000"/>
                </a:solidFill>
              </a:rPr>
              <a:t>emergency condition </a:t>
            </a:r>
            <a:r>
              <a:rPr lang="en-US" sz="2600" dirty="0"/>
              <a:t>they can borrow the fund from RBI.</a:t>
            </a:r>
          </a:p>
        </p:txBody>
      </p:sp>
    </p:spTree>
    <p:extLst>
      <p:ext uri="{BB962C8B-B14F-4D97-AF65-F5344CB8AC3E}">
        <p14:creationId xmlns:p14="http://schemas.microsoft.com/office/powerpoint/2010/main" val="211643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/>
      <p:bldP spid="9" grpId="1"/>
      <p:bldP spid="4" grpId="0"/>
      <p:bldP spid="23" grpId="0"/>
      <p:bldP spid="26" grpId="0"/>
      <p:bldP spid="29" grpId="0"/>
      <p:bldP spid="32" grpId="0"/>
      <p:bldP spid="35" grpId="0"/>
      <p:bldP spid="40" grpId="0"/>
      <p:bldP spid="43" grpId="0"/>
      <p:bldP spid="46" grpId="0"/>
      <p:bldP spid="49" grpId="0"/>
      <p:bldP spid="5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0247761-867A-3B35-7A50-EE515D27BEB8}"/>
              </a:ext>
            </a:extLst>
          </p:cNvPr>
          <p:cNvCxnSpPr/>
          <p:nvPr/>
        </p:nvCxnSpPr>
        <p:spPr>
          <a:xfrm flipH="1">
            <a:off x="6102199" y="8315"/>
            <a:ext cx="10555" cy="65579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F5D60A-3E8F-B985-1DDA-B7953DFB7767}"/>
              </a:ext>
            </a:extLst>
          </p:cNvPr>
          <p:cNvCxnSpPr/>
          <p:nvPr/>
        </p:nvCxnSpPr>
        <p:spPr>
          <a:xfrm>
            <a:off x="1540932" y="800795"/>
            <a:ext cx="9594215" cy="5080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Text Box 6">
            <a:extLst>
              <a:ext uri="{FF2B5EF4-FFF2-40B4-BE49-F238E27FC236}">
                <a16:creationId xmlns:a16="http://schemas.microsoft.com/office/drawing/2014/main" id="{50E25BC6-9FC5-514F-91F7-CA0E777D52DF}"/>
              </a:ext>
            </a:extLst>
          </p:cNvPr>
          <p:cNvSpPr txBox="1"/>
          <p:nvPr/>
        </p:nvSpPr>
        <p:spPr>
          <a:xfrm>
            <a:off x="2152246" y="50612"/>
            <a:ext cx="3712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Scheduled Banks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70F8D394-2EBD-65C3-8846-B5AA71011F03}"/>
              </a:ext>
            </a:extLst>
          </p:cNvPr>
          <p:cNvSpPr txBox="1"/>
          <p:nvPr/>
        </p:nvSpPr>
        <p:spPr>
          <a:xfrm>
            <a:off x="6450752" y="73852"/>
            <a:ext cx="47195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Non-Scheduled Banks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8593BB-62E8-393A-0CCD-A3E37D0BED10}"/>
              </a:ext>
            </a:extLst>
          </p:cNvPr>
          <p:cNvSpPr txBox="1"/>
          <p:nvPr/>
        </p:nvSpPr>
        <p:spPr>
          <a:xfrm>
            <a:off x="707605" y="1152079"/>
            <a:ext cx="540514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 smtClean="0"/>
              <a:t>Can Apply to join the </a:t>
            </a:r>
            <a:r>
              <a:rPr lang="en-US" sz="2600" b="1" dirty="0" smtClean="0">
                <a:solidFill>
                  <a:srgbClr val="C00000"/>
                </a:solidFill>
              </a:rPr>
              <a:t>clearing house.*</a:t>
            </a:r>
            <a:endParaRPr lang="en-IN" sz="2600" b="1" dirty="0">
              <a:solidFill>
                <a:srgbClr val="C0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726BF86-197D-3DC8-EAC0-773AB6594F43}"/>
              </a:ext>
            </a:extLst>
          </p:cNvPr>
          <p:cNvSpPr txBox="1"/>
          <p:nvPr/>
        </p:nvSpPr>
        <p:spPr>
          <a:xfrm>
            <a:off x="6281155" y="1178581"/>
            <a:ext cx="555314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b="1" dirty="0" smtClean="0">
                <a:solidFill>
                  <a:srgbClr val="C00000"/>
                </a:solidFill>
              </a:rPr>
              <a:t>Not eligible </a:t>
            </a:r>
            <a:r>
              <a:rPr lang="en-US" sz="2600" dirty="0" smtClean="0"/>
              <a:t>for the membership of clearing house.</a:t>
            </a:r>
            <a:endParaRPr lang="en-US" sz="2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8593BB-62E8-393A-0CCD-A3E37D0BED10}"/>
              </a:ext>
            </a:extLst>
          </p:cNvPr>
          <p:cNvSpPr txBox="1"/>
          <p:nvPr/>
        </p:nvSpPr>
        <p:spPr>
          <a:xfrm>
            <a:off x="707605" y="1944559"/>
            <a:ext cx="540514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600" b="1" dirty="0" smtClean="0">
                <a:solidFill>
                  <a:srgbClr val="C00000"/>
                </a:solidFill>
              </a:rPr>
              <a:t>*Financial institution which facilitate exchange of payment</a:t>
            </a:r>
            <a:endParaRPr lang="en-IN" sz="2600" b="1" dirty="0">
              <a:solidFill>
                <a:srgbClr val="C0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8593BB-62E8-393A-0CCD-A3E37D0BED10}"/>
              </a:ext>
            </a:extLst>
          </p:cNvPr>
          <p:cNvSpPr txBox="1"/>
          <p:nvPr/>
        </p:nvSpPr>
        <p:spPr>
          <a:xfrm>
            <a:off x="707605" y="2947406"/>
            <a:ext cx="540514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 smtClean="0"/>
              <a:t>Have to keep CRR (Cash Reserve Ratio) deposits with RBI.</a:t>
            </a:r>
            <a:endParaRPr lang="en-IN" sz="2600" b="1" dirty="0">
              <a:solidFill>
                <a:srgbClr val="C0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26BF86-197D-3DC8-EAC0-773AB6594F43}"/>
              </a:ext>
            </a:extLst>
          </p:cNvPr>
          <p:cNvSpPr txBox="1"/>
          <p:nvPr/>
        </p:nvSpPr>
        <p:spPr>
          <a:xfrm>
            <a:off x="6281155" y="2954244"/>
            <a:ext cx="555314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 smtClean="0"/>
              <a:t>It can maintain CRR by the way of </a:t>
            </a:r>
            <a:r>
              <a:rPr lang="en-US" sz="2600" b="1" dirty="0" smtClean="0">
                <a:solidFill>
                  <a:srgbClr val="C00000"/>
                </a:solidFill>
              </a:rPr>
              <a:t>either cash with themselves </a:t>
            </a:r>
            <a:r>
              <a:rPr lang="en-US" sz="2600" dirty="0" smtClean="0"/>
              <a:t>or in the form of </a:t>
            </a:r>
            <a:r>
              <a:rPr lang="en-US" sz="2600" b="1" dirty="0" smtClean="0">
                <a:solidFill>
                  <a:srgbClr val="C00000"/>
                </a:solidFill>
              </a:rPr>
              <a:t>balance in current account with RBI or State Co-operative </a:t>
            </a:r>
            <a:r>
              <a:rPr lang="en-US" sz="2600" dirty="0" smtClean="0"/>
              <a:t>Banks. </a:t>
            </a:r>
            <a:endParaRPr lang="en-US" sz="26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8593BB-62E8-393A-0CCD-A3E37D0BED10}"/>
              </a:ext>
            </a:extLst>
          </p:cNvPr>
          <p:cNvSpPr txBox="1"/>
          <p:nvPr/>
        </p:nvSpPr>
        <p:spPr>
          <a:xfrm>
            <a:off x="715611" y="5243230"/>
            <a:ext cx="54051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 smtClean="0"/>
              <a:t>Financially </a:t>
            </a:r>
            <a:r>
              <a:rPr lang="en-US" sz="2600" b="1" dirty="0" smtClean="0">
                <a:solidFill>
                  <a:srgbClr val="C00000"/>
                </a:solidFill>
              </a:rPr>
              <a:t>stable &amp; less risky.</a:t>
            </a:r>
            <a:endParaRPr lang="en-IN" sz="2600" b="1" dirty="0">
              <a:solidFill>
                <a:srgbClr val="C0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26BF86-197D-3DC8-EAC0-773AB6594F43}"/>
              </a:ext>
            </a:extLst>
          </p:cNvPr>
          <p:cNvSpPr txBox="1"/>
          <p:nvPr/>
        </p:nvSpPr>
        <p:spPr>
          <a:xfrm>
            <a:off x="6289161" y="5250068"/>
            <a:ext cx="555314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 smtClean="0"/>
              <a:t>More </a:t>
            </a:r>
            <a:r>
              <a:rPr lang="en-US" sz="2600" b="1" dirty="0" smtClean="0">
                <a:solidFill>
                  <a:srgbClr val="C00000"/>
                </a:solidFill>
              </a:rPr>
              <a:t>Riskier.</a:t>
            </a:r>
            <a:endParaRPr lang="en-US" sz="2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6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/>
      <p:bldP spid="9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Commercial Banks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2811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2352-8281-3418-7C6C-FB521D536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ym typeface="+mn-ea"/>
              </a:rPr>
              <a:t>Commercial Banks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A5B5C-059C-306B-D9A8-0B1C1ACA3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8443653" cy="5590565"/>
          </a:xfrm>
        </p:spPr>
        <p:txBody>
          <a:bodyPr/>
          <a:lstStyle/>
          <a:p>
            <a:r>
              <a:rPr lang="en-US" b="1" dirty="0"/>
              <a:t>Meaning</a:t>
            </a:r>
          </a:p>
          <a:p>
            <a:pPr lvl="1"/>
            <a:r>
              <a:rPr lang="en-US" dirty="0"/>
              <a:t>It refers to those banks which are </a:t>
            </a:r>
            <a:r>
              <a:rPr lang="en-US" b="1" dirty="0">
                <a:solidFill>
                  <a:srgbClr val="C00000"/>
                </a:solidFill>
              </a:rPr>
              <a:t>running on a commercial basis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It means that they operate and offer services to </a:t>
            </a:r>
            <a:r>
              <a:rPr lang="en-US" b="1" dirty="0">
                <a:solidFill>
                  <a:srgbClr val="C00000"/>
                </a:solidFill>
              </a:rPr>
              <a:t>earn a profit</a:t>
            </a:r>
            <a:r>
              <a:rPr lang="en-US" dirty="0"/>
              <a:t>.</a:t>
            </a:r>
          </a:p>
          <a:p>
            <a:pPr lvl="1"/>
            <a:r>
              <a:rPr lang="en-IN" dirty="0"/>
              <a:t>EX. SBI’s profit for F.Y. 2023-24 was Rs. </a:t>
            </a:r>
            <a:r>
              <a:rPr lang="en-IN" b="1" dirty="0">
                <a:solidFill>
                  <a:srgbClr val="C00000"/>
                </a:solidFill>
              </a:rPr>
              <a:t>61,077 Crore</a:t>
            </a:r>
            <a:r>
              <a:rPr lang="en-IN" dirty="0"/>
              <a:t>. 22% YOY Growth. (Source: India Today/Money Control)</a:t>
            </a:r>
          </a:p>
          <a:p>
            <a:pPr lvl="1"/>
            <a:r>
              <a:rPr lang="en-IN" dirty="0"/>
              <a:t>HDFC’s Profit for F.Y. 2023-24 was Rs. </a:t>
            </a:r>
            <a:r>
              <a:rPr lang="en-IN" b="1" dirty="0">
                <a:solidFill>
                  <a:srgbClr val="C00000"/>
                </a:solidFill>
              </a:rPr>
              <a:t>64,060 Crore</a:t>
            </a:r>
            <a:r>
              <a:rPr lang="en-IN" dirty="0"/>
              <a:t>. 39.3% YOY Growth. (Source: Press released by HDFC Bank)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DD700B3-F2AE-13BF-AA9F-88165F90ECBE}"/>
              </a:ext>
            </a:extLst>
          </p:cNvPr>
          <p:cNvGraphicFramePr/>
          <p:nvPr/>
        </p:nvGraphicFramePr>
        <p:xfrm>
          <a:off x="8921977" y="764084"/>
          <a:ext cx="2619989" cy="57892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974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047BFD2-47B6-43CC-9FDC-97D35D5934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6047BFD2-47B6-43CC-9FDC-97D35D5934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F7F71E1-4B3B-4326-B672-D1B569B612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graphicEl>
                                              <a:dgm id="{DF7F71E1-4B3B-4326-B672-D1B569B6126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6892563-564F-44E4-A266-1EC2734095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graphicEl>
                                              <a:dgm id="{66892563-564F-44E4-A266-1EC2734095C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2C2306-075C-4CF8-9C3B-AAEB1F842B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graphicEl>
                                              <a:dgm id="{952C2306-075C-4CF8-9C3B-AAEB1F842B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9696B3C-F933-4E40-AA14-50A853FF28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graphicEl>
                                              <a:dgm id="{39696B3C-F933-4E40-AA14-50A853FF28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F0249C4-53CF-4F76-BDA1-54723AE2A7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graphicEl>
                                              <a:dgm id="{CF0249C4-53CF-4F76-BDA1-54723AE2A7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D00F93F-71F5-42E0-AC07-FD3043F8DC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graphicEl>
                                              <a:dgm id="{3D00F93F-71F5-42E0-AC07-FD3043F8DC7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7A50C7-E73C-4EC2-9DDE-0EEDC8EA4F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graphicEl>
                                              <a:dgm id="{B77A50C7-E73C-4EC2-9DDE-0EEDC8EA4FB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457F0C9-AAF1-4503-8BED-DB207A908C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graphicEl>
                                              <a:dgm id="{9457F0C9-AAF1-4503-8BED-DB207A908C6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F825F2C-596F-4D26-8FE7-DD209EFF73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graphicEl>
                                              <a:dgm id="{9F825F2C-596F-4D26-8FE7-DD209EFF73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693C482-3020-4DB5-8788-9B15AF130F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graphicEl>
                                              <a:dgm id="{D693C482-3020-4DB5-8788-9B15AF130F6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6F10C3D-AE92-4296-8EAF-9ADD2C36FD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graphicEl>
                                              <a:dgm id="{16F10C3D-AE92-4296-8EAF-9ADD2C36FD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8B19569-0273-4D8B-BDEA-5B33903809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">
                                            <p:graphicEl>
                                              <a:dgm id="{98B19569-0273-4D8B-BDEA-5B339038098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4" grpId="0" uiExpand="1">
        <p:bldSub>
          <a:bldDgm bld="lvlOne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2352-8281-3418-7C6C-FB521D536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ym typeface="+mn-ea"/>
              </a:rPr>
              <a:t>Commercial Banks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A5B5C-059C-306B-D9A8-0B1C1ACA3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9440831" cy="5590565"/>
          </a:xfrm>
        </p:spPr>
        <p:txBody>
          <a:bodyPr/>
          <a:lstStyle/>
          <a:p>
            <a:r>
              <a:rPr lang="en-US" b="1" dirty="0"/>
              <a:t>Public Sector Banks</a:t>
            </a:r>
          </a:p>
          <a:p>
            <a:pPr lvl="1"/>
            <a:r>
              <a:rPr lang="en-US" dirty="0"/>
              <a:t>Public sector banks are those banks in which Government owns </a:t>
            </a:r>
            <a:r>
              <a:rPr lang="en-US" b="1" dirty="0">
                <a:solidFill>
                  <a:srgbClr val="C00000"/>
                </a:solidFill>
              </a:rPr>
              <a:t>more than 50% of Shares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Ex. SBI (57.54%), BOB (63.97%), UCO (95.39%) </a:t>
            </a:r>
          </a:p>
          <a:p>
            <a:pPr lvl="1"/>
            <a:r>
              <a:rPr lang="en-US" dirty="0"/>
              <a:t>Govt. will change the share (%) from 95.39% to 90.59% in UCO Bank which means that the govt. will sell 2000 Shares. </a:t>
            </a:r>
          </a:p>
          <a:p>
            <a:pPr lvl="1"/>
            <a:r>
              <a:rPr lang="en-US" dirty="0" smtClean="0"/>
              <a:t>Currently, there are </a:t>
            </a:r>
            <a:r>
              <a:rPr lang="en-US" b="1" dirty="0">
                <a:solidFill>
                  <a:srgbClr val="C00000"/>
                </a:solidFill>
              </a:rPr>
              <a:t>12 </a:t>
            </a:r>
            <a:r>
              <a:rPr lang="en-US" b="1" dirty="0" smtClean="0">
                <a:solidFill>
                  <a:srgbClr val="C00000"/>
                </a:solidFill>
              </a:rPr>
              <a:t>public sector banks </a:t>
            </a:r>
            <a:r>
              <a:rPr lang="en-US" dirty="0" smtClean="0"/>
              <a:t>in India.</a:t>
            </a:r>
          </a:p>
          <a:p>
            <a:r>
              <a:rPr lang="en-US" b="1" dirty="0"/>
              <a:t>Private Sector Banks</a:t>
            </a:r>
          </a:p>
          <a:p>
            <a:pPr lvl="1"/>
            <a:r>
              <a:rPr lang="en-US" dirty="0"/>
              <a:t>Majority of share capitals are </a:t>
            </a:r>
            <a:r>
              <a:rPr lang="en-US" b="1" dirty="0">
                <a:solidFill>
                  <a:srgbClr val="C00000"/>
                </a:solidFill>
              </a:rPr>
              <a:t>kept by business houses and individuals</a:t>
            </a:r>
            <a:r>
              <a:rPr lang="en-US" dirty="0"/>
              <a:t>. </a:t>
            </a:r>
          </a:p>
          <a:p>
            <a:pPr lvl="1"/>
            <a:r>
              <a:rPr lang="en-US" dirty="0" smtClean="0"/>
              <a:t>RBI </a:t>
            </a:r>
            <a:r>
              <a:rPr lang="en-US" dirty="0"/>
              <a:t>permitted the entry of private sector banks in </a:t>
            </a:r>
            <a:r>
              <a:rPr lang="en-US" b="1" dirty="0" smtClean="0">
                <a:solidFill>
                  <a:srgbClr val="C00000"/>
                </a:solidFill>
              </a:rPr>
              <a:t>1993.</a:t>
            </a:r>
          </a:p>
          <a:p>
            <a:pPr lvl="1"/>
            <a:r>
              <a:rPr lang="en-US" dirty="0" smtClean="0"/>
              <a:t>Currently, there are </a:t>
            </a:r>
            <a:r>
              <a:rPr lang="en-US" b="1" dirty="0" smtClean="0">
                <a:solidFill>
                  <a:srgbClr val="C00000"/>
                </a:solidFill>
              </a:rPr>
              <a:t>21 private sector banks </a:t>
            </a:r>
            <a:r>
              <a:rPr lang="en-US" dirty="0" smtClean="0"/>
              <a:t>in India.</a:t>
            </a:r>
            <a:endParaRPr lang="en-IN" dirty="0"/>
          </a:p>
          <a:p>
            <a:endParaRPr lang="en-US" dirty="0"/>
          </a:p>
        </p:txBody>
      </p:sp>
      <p:pic>
        <p:nvPicPr>
          <p:cNvPr id="1026" name="Picture 2" descr="Free SBI Logo in All Formats, EPS, SVG, PNG...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99" b="29490"/>
          <a:stretch/>
        </p:blipFill>
        <p:spPr bwMode="auto">
          <a:xfrm>
            <a:off x="9686207" y="1396181"/>
            <a:ext cx="1231765" cy="49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unjab national bank, pnb bank logo free vector 20336282 ...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93" b="13255"/>
          <a:stretch/>
        </p:blipFill>
        <p:spPr bwMode="auto">
          <a:xfrm>
            <a:off x="11098674" y="1396181"/>
            <a:ext cx="1093326" cy="688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t="16839" r="36925" b="48237"/>
          <a:stretch/>
        </p:blipFill>
        <p:spPr>
          <a:xfrm>
            <a:off x="10302089" y="1953506"/>
            <a:ext cx="1231765" cy="682028"/>
          </a:xfrm>
          <a:prstGeom prst="rect">
            <a:avLst/>
          </a:prstGeom>
        </p:spPr>
      </p:pic>
      <p:pic>
        <p:nvPicPr>
          <p:cNvPr id="1034" name="Picture 10" descr="Indian Bank Vector Logo | TOPpn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5" t="38582" r="5224" b="38536"/>
          <a:stretch/>
        </p:blipFill>
        <p:spPr bwMode="auto">
          <a:xfrm>
            <a:off x="10302089" y="2930272"/>
            <a:ext cx="1455174" cy="380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DFC Bank Limited Logo and sign, new logo meaning and history, PNG, SV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1379" y="4196106"/>
            <a:ext cx="1141385" cy="642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CICI Bank logo transparent PNG - Stick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9676" y="4078891"/>
            <a:ext cx="876458" cy="876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xis Bank logo transparent PNG - Stick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8773" y="4955349"/>
            <a:ext cx="975743" cy="66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File:Yes Bank SVG Logo.svg - Wikimedia Commons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4520" y="5831807"/>
            <a:ext cx="1266902" cy="47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891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25C44-8E9A-17E7-3D66-2BF17D19A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32F68-F9A5-B1F3-1251-5B928135D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ym typeface="+mn-ea"/>
              </a:rPr>
              <a:t>Commercial Banks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CAD99-9831-5867-512C-F2B61CD12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9440831" cy="5590565"/>
          </a:xfrm>
        </p:spPr>
        <p:txBody>
          <a:bodyPr/>
          <a:lstStyle/>
          <a:p>
            <a:r>
              <a:rPr lang="en-US" b="1" dirty="0"/>
              <a:t>Regional Rural Banks (RRBs)</a:t>
            </a:r>
          </a:p>
          <a:p>
            <a:pPr lvl="1"/>
            <a:r>
              <a:rPr lang="en-US" dirty="0"/>
              <a:t>RRBs are setup to </a:t>
            </a:r>
            <a:r>
              <a:rPr lang="en-US" b="1" dirty="0">
                <a:solidFill>
                  <a:srgbClr val="C00000"/>
                </a:solidFill>
              </a:rPr>
              <a:t>increase the flow of credit</a:t>
            </a:r>
            <a:r>
              <a:rPr lang="en-US" dirty="0"/>
              <a:t> to the smaller </a:t>
            </a:r>
            <a:r>
              <a:rPr lang="en-US" b="1" dirty="0">
                <a:solidFill>
                  <a:srgbClr val="C00000"/>
                </a:solidFill>
              </a:rPr>
              <a:t>borrowers in the rural </a:t>
            </a:r>
            <a:r>
              <a:rPr lang="en-US" dirty="0"/>
              <a:t>areas. </a:t>
            </a:r>
          </a:p>
          <a:p>
            <a:pPr lvl="1"/>
            <a:r>
              <a:rPr lang="en-US" dirty="0"/>
              <a:t>There are currently </a:t>
            </a:r>
            <a:r>
              <a:rPr lang="en-US" b="1" dirty="0">
                <a:solidFill>
                  <a:srgbClr val="C00000"/>
                </a:solidFill>
              </a:rPr>
              <a:t>43 RRBs</a:t>
            </a:r>
            <a:r>
              <a:rPr lang="en-US" dirty="0"/>
              <a:t> in India. </a:t>
            </a:r>
          </a:p>
          <a:p>
            <a:pPr lvl="1"/>
            <a:r>
              <a:rPr lang="en-US" dirty="0"/>
              <a:t>Share capital distribution </a:t>
            </a:r>
            <a:r>
              <a:rPr lang="en-US" b="1" dirty="0">
                <a:solidFill>
                  <a:srgbClr val="C00000"/>
                </a:solidFill>
              </a:rPr>
              <a:t>GOI (50%)</a:t>
            </a:r>
            <a:r>
              <a:rPr lang="en-US" dirty="0"/>
              <a:t>, respective </a:t>
            </a:r>
            <a:r>
              <a:rPr lang="en-US" b="1" dirty="0">
                <a:solidFill>
                  <a:srgbClr val="C00000"/>
                </a:solidFill>
              </a:rPr>
              <a:t>state govt. (15%) </a:t>
            </a:r>
            <a:r>
              <a:rPr lang="en-US" dirty="0"/>
              <a:t>&amp; </a:t>
            </a:r>
            <a:r>
              <a:rPr lang="en-US" b="1" dirty="0">
                <a:solidFill>
                  <a:srgbClr val="C00000"/>
                </a:solidFill>
              </a:rPr>
              <a:t>Sponsoring Bank (35%) </a:t>
            </a:r>
            <a:r>
              <a:rPr lang="en-US" dirty="0"/>
              <a:t>(Source: NABARD)</a:t>
            </a:r>
          </a:p>
          <a:p>
            <a:pPr lvl="1"/>
            <a:r>
              <a:rPr lang="en-US" dirty="0"/>
              <a:t>All RRBs are supervised by </a:t>
            </a:r>
            <a:r>
              <a:rPr lang="en-US" b="1" dirty="0" smtClean="0">
                <a:solidFill>
                  <a:srgbClr val="C00000"/>
                </a:solidFill>
              </a:rPr>
              <a:t>NABARD.</a:t>
            </a:r>
          </a:p>
          <a:p>
            <a:r>
              <a:rPr lang="en-US" b="1" dirty="0"/>
              <a:t>Foreign Banks</a:t>
            </a:r>
          </a:p>
          <a:p>
            <a:pPr lvl="1"/>
            <a:r>
              <a:rPr lang="en-US" dirty="0"/>
              <a:t>Foreign banks are those which incorporated</a:t>
            </a:r>
            <a:r>
              <a:rPr lang="en-US" b="1" dirty="0">
                <a:solidFill>
                  <a:srgbClr val="C00000"/>
                </a:solidFill>
              </a:rPr>
              <a:t> outside India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open their branches in India. </a:t>
            </a:r>
          </a:p>
          <a:p>
            <a:pPr lvl="1"/>
            <a:r>
              <a:rPr lang="en-US" dirty="0"/>
              <a:t>There are currently </a:t>
            </a:r>
            <a:r>
              <a:rPr lang="en-US" b="1" dirty="0">
                <a:solidFill>
                  <a:srgbClr val="C00000"/>
                </a:solidFill>
              </a:rPr>
              <a:t>44 Foreign banks </a:t>
            </a:r>
            <a:r>
              <a:rPr lang="en-US" dirty="0"/>
              <a:t>available in India. </a:t>
            </a:r>
          </a:p>
          <a:p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6" name="Picture 4" descr="Best Indian blog for general topics &amp; government schemes">
            <a:extLst>
              <a:ext uri="{FF2B5EF4-FFF2-40B4-BE49-F238E27FC236}">
                <a16:creationId xmlns:a16="http://schemas.microsoft.com/office/drawing/2014/main" id="{B83A4536-9DBD-BF3F-04B5-AFF491A3E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4205" y="1048329"/>
            <a:ext cx="1396181" cy="1214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Saurashtra Gramin Bank - Rural Housing Loan, Agri Gold Loan, Personal Loan">
            <a:extLst>
              <a:ext uri="{FF2B5EF4-FFF2-40B4-BE49-F238E27FC236}">
                <a16:creationId xmlns:a16="http://schemas.microsoft.com/office/drawing/2014/main" id="{9B492CCF-B4BA-9728-8C74-EB72AA30A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011" y="2447217"/>
            <a:ext cx="2588538" cy="75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List of Foreign Banks in India 2021 (International Banks in India)">
            <a:extLst>
              <a:ext uri="{FF2B5EF4-FFF2-40B4-BE49-F238E27FC236}">
                <a16:creationId xmlns:a16="http://schemas.microsoft.com/office/drawing/2014/main" id="{B2058553-0EC9-29D2-07A6-57C56C0FD2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540" b="26667" l="6429" r="93929">
                        <a14:foregroundMark x1="10000" y1="16508" x2="10000" y2="16508"/>
                        <a14:foregroundMark x1="6607" y1="15556" x2="6607" y2="15556"/>
                        <a14:foregroundMark x1="33036" y1="14286" x2="33036" y2="14286"/>
                        <a14:foregroundMark x1="31607" y1="12698" x2="34643" y2="20952"/>
                        <a14:foregroundMark x1="81429" y1="14286" x2="89464" y2="14286"/>
                        <a14:foregroundMark x1="93929" y1="13016" x2="93929" y2="16825"/>
                        <a14:foregroundMark x1="77500" y1="13333" x2="77500" y2="17778"/>
                        <a14:foregroundMark x1="79286" y1="14286" x2="78929" y2="16825"/>
                        <a14:foregroundMark x1="31071" y1="17778" x2="31071" y2="1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7050" b="69682"/>
          <a:stretch/>
        </p:blipFill>
        <p:spPr bwMode="auto">
          <a:xfrm>
            <a:off x="9175228" y="4204733"/>
            <a:ext cx="3134760" cy="124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List of Foreign Banks in India 2021 (International Banks in India)">
            <a:extLst>
              <a:ext uri="{FF2B5EF4-FFF2-40B4-BE49-F238E27FC236}">
                <a16:creationId xmlns:a16="http://schemas.microsoft.com/office/drawing/2014/main" id="{B2058553-0EC9-29D2-07A6-57C56C0FD2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540" b="26667" l="6429" r="93929">
                        <a14:foregroundMark x1="10000" y1="16508" x2="10000" y2="16508"/>
                        <a14:foregroundMark x1="6607" y1="15556" x2="6607" y2="15556"/>
                        <a14:foregroundMark x1="33036" y1="14286" x2="33036" y2="14286"/>
                        <a14:foregroundMark x1="31607" y1="12698" x2="34643" y2="20952"/>
                        <a14:foregroundMark x1="81429" y1="14286" x2="89464" y2="14286"/>
                        <a14:foregroundMark x1="93929" y1="13016" x2="93929" y2="16825"/>
                        <a14:foregroundMark x1="77500" y1="13333" x2="77500" y2="17778"/>
                        <a14:foregroundMark x1="79286" y1="14286" x2="78929" y2="16825"/>
                        <a14:foregroundMark x1="31071" y1="17778" x2="31071" y2="1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6073" b="69682"/>
          <a:stretch/>
        </p:blipFill>
        <p:spPr bwMode="auto">
          <a:xfrm>
            <a:off x="9572011" y="5182830"/>
            <a:ext cx="2778534" cy="1146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093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85092-1171-35AA-51E3-F1E9141DA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80739-D1A6-0228-99F4-4C9FAA44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ym typeface="+mn-ea"/>
              </a:rPr>
              <a:t>Commercial Banks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044A3-AFE2-A794-9650-2DD50251F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9440831" cy="5590565"/>
          </a:xfrm>
        </p:spPr>
        <p:txBody>
          <a:bodyPr/>
          <a:lstStyle/>
          <a:p>
            <a:r>
              <a:rPr lang="en-US" b="1" dirty="0"/>
              <a:t>Small Finance Banks </a:t>
            </a:r>
            <a:endParaRPr lang="en-US" dirty="0"/>
          </a:p>
          <a:p>
            <a:pPr lvl="1"/>
            <a:r>
              <a:rPr lang="en-US" dirty="0"/>
              <a:t>They were introduced with the objective of </a:t>
            </a:r>
            <a:r>
              <a:rPr lang="en-US" b="1" dirty="0">
                <a:solidFill>
                  <a:srgbClr val="C00000"/>
                </a:solidFill>
              </a:rPr>
              <a:t>further financial inclusion </a:t>
            </a:r>
            <a:r>
              <a:rPr lang="en-US" dirty="0"/>
              <a:t>to </a:t>
            </a:r>
            <a:r>
              <a:rPr lang="en-US" b="1" dirty="0">
                <a:solidFill>
                  <a:srgbClr val="C00000"/>
                </a:solidFill>
              </a:rPr>
              <a:t>unserved or underserved sections</a:t>
            </a:r>
            <a:r>
              <a:rPr lang="en-US" dirty="0"/>
              <a:t> such as small farmers, MSMEs, small business units etc.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RBI </a:t>
            </a:r>
            <a:r>
              <a:rPr lang="en-US" dirty="0"/>
              <a:t>permitted SFBs in </a:t>
            </a:r>
            <a:r>
              <a:rPr lang="en-US" b="1" dirty="0">
                <a:solidFill>
                  <a:srgbClr val="C00000"/>
                </a:solidFill>
              </a:rPr>
              <a:t>2014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There are currently </a:t>
            </a:r>
            <a:r>
              <a:rPr lang="en-US" b="1" dirty="0">
                <a:solidFill>
                  <a:srgbClr val="C00000"/>
                </a:solidFill>
              </a:rPr>
              <a:t>11 SFBs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b="1" dirty="0" smtClean="0"/>
              <a:t>Payment </a:t>
            </a:r>
            <a:r>
              <a:rPr lang="en-US" b="1" dirty="0"/>
              <a:t>Banks </a:t>
            </a:r>
          </a:p>
          <a:p>
            <a:pPr lvl="1"/>
            <a:r>
              <a:rPr lang="en-US" dirty="0"/>
              <a:t>Payment Banks are specialized financial institution that provides </a:t>
            </a:r>
            <a:r>
              <a:rPr lang="en-US" b="1" dirty="0">
                <a:solidFill>
                  <a:srgbClr val="C00000"/>
                </a:solidFill>
              </a:rPr>
              <a:t>basic banking services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They can </a:t>
            </a:r>
            <a:r>
              <a:rPr lang="en-US" b="1" dirty="0">
                <a:solidFill>
                  <a:srgbClr val="C00000"/>
                </a:solidFill>
              </a:rPr>
              <a:t>not offer loans or credit cards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There are currently </a:t>
            </a:r>
            <a:r>
              <a:rPr lang="en-US" b="1" dirty="0">
                <a:solidFill>
                  <a:srgbClr val="C00000"/>
                </a:solidFill>
              </a:rPr>
              <a:t>6 Payment Banks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69C560-7C5A-4DB4-5A2F-BFD740D2A9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011" y="1189502"/>
            <a:ext cx="1149511" cy="6354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883054-90BB-F681-3BDE-0995C63076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948" y="1947668"/>
            <a:ext cx="1216962" cy="4303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FD4631-1816-BEAA-82E8-8F9BB86789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150" y="1264306"/>
            <a:ext cx="1218850" cy="5606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1A4078-9485-1A75-9A91-A216983AFA4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185" y="2500773"/>
            <a:ext cx="1413725" cy="4810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7B0CB7-F40F-FF89-6EA7-49299AC8B50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185" y="5464428"/>
            <a:ext cx="1811941" cy="6807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165C23-424B-2192-4D82-8FDEA5E85AC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011" y="4157015"/>
            <a:ext cx="1170383" cy="4965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104528-BEDF-BA94-2AE0-B99A51F7B11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075" y="4157015"/>
            <a:ext cx="1553000" cy="3873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53D9E17-72DE-D43B-28CE-CAE9139ACAA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186" y="4860672"/>
            <a:ext cx="1668140" cy="41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3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Cooperative Banks</a:t>
            </a:r>
            <a:endParaRPr lang="en-IN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543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Co-operative Banks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31179" y="863444"/>
            <a:ext cx="11979955" cy="5590565"/>
          </a:xfrm>
        </p:spPr>
        <p:txBody>
          <a:bodyPr/>
          <a:lstStyle/>
          <a:p>
            <a:r>
              <a:rPr lang="en-US" dirty="0"/>
              <a:t>It is financial institution which is </a:t>
            </a:r>
            <a:r>
              <a:rPr lang="en-US" b="1" dirty="0">
                <a:solidFill>
                  <a:srgbClr val="C00000"/>
                </a:solidFill>
              </a:rPr>
              <a:t>owned &amp; operated by its members</a:t>
            </a:r>
            <a:r>
              <a:rPr lang="en-US" dirty="0"/>
              <a:t>. </a:t>
            </a:r>
          </a:p>
          <a:p>
            <a:r>
              <a:rPr lang="en-US" dirty="0"/>
              <a:t>These banks operate on the principles co-operation, mutual aid and democratic </a:t>
            </a:r>
            <a:r>
              <a:rPr lang="en-US" b="1" dirty="0">
                <a:solidFill>
                  <a:srgbClr val="C00000"/>
                </a:solidFill>
              </a:rPr>
              <a:t>decision making</a:t>
            </a:r>
            <a:r>
              <a:rPr lang="en-US" dirty="0"/>
              <a:t>. </a:t>
            </a:r>
          </a:p>
          <a:p>
            <a:r>
              <a:rPr lang="en-US" dirty="0"/>
              <a:t>Co-operative banks are setup to serve the banking requirements of their </a:t>
            </a:r>
            <a:r>
              <a:rPr lang="en-US" b="1" dirty="0">
                <a:solidFill>
                  <a:srgbClr val="C00000"/>
                </a:solidFill>
              </a:rPr>
              <a:t>members and specific communities</a:t>
            </a:r>
            <a:r>
              <a:rPr lang="en-US" dirty="0"/>
              <a:t>. </a:t>
            </a:r>
          </a:p>
          <a:p>
            <a:r>
              <a:rPr lang="en-IN" dirty="0"/>
              <a:t>The operation area is </a:t>
            </a:r>
            <a:r>
              <a:rPr lang="en-IN" b="1" dirty="0">
                <a:solidFill>
                  <a:srgbClr val="C00000"/>
                </a:solidFill>
              </a:rPr>
              <a:t>small</a:t>
            </a:r>
            <a:r>
              <a:rPr lang="en-IN" dirty="0"/>
              <a:t>. </a:t>
            </a:r>
          </a:p>
          <a:p>
            <a:r>
              <a:rPr lang="en-IN" dirty="0"/>
              <a:t>These banks are under the regulation and supervision of </a:t>
            </a:r>
            <a:r>
              <a:rPr lang="en-IN" b="1" dirty="0">
                <a:solidFill>
                  <a:srgbClr val="C00000"/>
                </a:solidFill>
              </a:rPr>
              <a:t>state governments, RBI/NABARD</a:t>
            </a:r>
            <a:r>
              <a:rPr lang="en-IN" dirty="0"/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31E543-56E5-189E-EA03-AD848D7673EA}"/>
              </a:ext>
            </a:extLst>
          </p:cNvPr>
          <p:cNvSpPr txBox="1"/>
          <p:nvPr/>
        </p:nvSpPr>
        <p:spPr>
          <a:xfrm>
            <a:off x="131179" y="6232157"/>
            <a:ext cx="5173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Developments in co-operative banking by RBI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31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E150-B5B8-2111-731D-25DB8425F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Co-operative Banks (Cont.)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B535D-8314-7B5B-BBC2-FD0BF96DD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co-operatives are at present under the </a:t>
            </a:r>
            <a:r>
              <a:rPr lang="en-US" b="1" dirty="0">
                <a:solidFill>
                  <a:srgbClr val="C00000"/>
                </a:solidFill>
              </a:rPr>
              <a:t>control of state govt.</a:t>
            </a:r>
            <a:r>
              <a:rPr lang="en-US" dirty="0"/>
              <a:t> in all matters relating to:</a:t>
            </a:r>
          </a:p>
          <a:p>
            <a:pPr lvl="1"/>
            <a:r>
              <a:rPr lang="en-US" dirty="0"/>
              <a:t>Registration </a:t>
            </a:r>
          </a:p>
          <a:p>
            <a:pPr lvl="1"/>
            <a:r>
              <a:rPr lang="en-US" dirty="0"/>
              <a:t>Membership</a:t>
            </a:r>
          </a:p>
          <a:p>
            <a:pPr lvl="1"/>
            <a:r>
              <a:rPr lang="en-US" dirty="0"/>
              <a:t>Election </a:t>
            </a:r>
          </a:p>
          <a:p>
            <a:pPr lvl="1"/>
            <a:r>
              <a:rPr lang="en-US" dirty="0"/>
              <a:t>Financial assistance</a:t>
            </a:r>
          </a:p>
          <a:p>
            <a:pPr lvl="1"/>
            <a:r>
              <a:rPr lang="en-US" dirty="0"/>
              <a:t>Loaning powers</a:t>
            </a:r>
          </a:p>
          <a:p>
            <a:pPr lvl="1"/>
            <a:r>
              <a:rPr lang="en-US" dirty="0"/>
              <a:t>Business operations</a:t>
            </a:r>
          </a:p>
          <a:p>
            <a:pPr lvl="1"/>
            <a:r>
              <a:rPr lang="en-US" dirty="0"/>
              <a:t>Loan recovery and audit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31E543-56E5-189E-EA03-AD848D7673EA}"/>
              </a:ext>
            </a:extLst>
          </p:cNvPr>
          <p:cNvSpPr txBox="1"/>
          <p:nvPr/>
        </p:nvSpPr>
        <p:spPr>
          <a:xfrm>
            <a:off x="131179" y="6232157"/>
            <a:ext cx="5173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Developments in co-operative banking by RBI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2115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6232C-96A9-4B55-9C1A-24D4B09F0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Co-operative Banks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CCC2CCB-FC19-1A89-2838-A81DAB0CAC71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131762" y="503853"/>
          <a:ext cx="11928475" cy="3270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A520857-A3B8-F29B-1760-2BF418DF3060}"/>
              </a:ext>
            </a:extLst>
          </p:cNvPr>
          <p:cNvSpPr txBox="1"/>
          <p:nvPr/>
        </p:nvSpPr>
        <p:spPr>
          <a:xfrm>
            <a:off x="131762" y="3694922"/>
            <a:ext cx="393569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600" dirty="0" smtClean="0"/>
              <a:t>Urban </a:t>
            </a:r>
            <a:r>
              <a:rPr lang="en-US" sz="2600" dirty="0"/>
              <a:t>&amp; Semi Urban Areas</a:t>
            </a:r>
            <a:endParaRPr lang="en-IN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84FB74-7AD9-5A3D-B76C-262221AF3544}"/>
              </a:ext>
            </a:extLst>
          </p:cNvPr>
          <p:cNvSpPr txBox="1"/>
          <p:nvPr/>
        </p:nvSpPr>
        <p:spPr>
          <a:xfrm>
            <a:off x="131762" y="4187365"/>
            <a:ext cx="541526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600" dirty="0"/>
              <a:t>Non – Agricultural sector particularly </a:t>
            </a:r>
          </a:p>
          <a:p>
            <a:r>
              <a:rPr lang="en-US" sz="2600" dirty="0"/>
              <a:t>    small borrowers </a:t>
            </a:r>
            <a:endParaRPr lang="en-IN" sz="2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2E53A6-B640-3E26-BDE5-3C78B83836AE}"/>
              </a:ext>
            </a:extLst>
          </p:cNvPr>
          <p:cNvSpPr txBox="1"/>
          <p:nvPr/>
        </p:nvSpPr>
        <p:spPr>
          <a:xfrm>
            <a:off x="131761" y="5079917"/>
            <a:ext cx="450636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600" dirty="0"/>
              <a:t>Supervisory Jurisdiction – RBI </a:t>
            </a:r>
            <a:endParaRPr lang="en-IN" sz="2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B6C0D5-A7FF-9F42-29DE-7786AAB57B8F}"/>
              </a:ext>
            </a:extLst>
          </p:cNvPr>
          <p:cNvSpPr txBox="1"/>
          <p:nvPr/>
        </p:nvSpPr>
        <p:spPr>
          <a:xfrm>
            <a:off x="6828252" y="3694922"/>
            <a:ext cx="345639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600" dirty="0"/>
              <a:t>Rural Areas * Primarily</a:t>
            </a:r>
            <a:endParaRPr lang="en-IN" sz="2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AB92B5-533D-1D7B-AA7E-1F8E44F853A2}"/>
              </a:ext>
            </a:extLst>
          </p:cNvPr>
          <p:cNvSpPr txBox="1"/>
          <p:nvPr/>
        </p:nvSpPr>
        <p:spPr>
          <a:xfrm>
            <a:off x="6828252" y="4187365"/>
            <a:ext cx="3996607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600" dirty="0"/>
              <a:t>Agricultural sector &amp; Rural </a:t>
            </a:r>
          </a:p>
          <a:p>
            <a:r>
              <a:rPr lang="en-US" sz="2600" dirty="0"/>
              <a:t>    development</a:t>
            </a:r>
            <a:endParaRPr lang="en-IN" sz="2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1BEDBE-02F5-D6B5-640E-02D2CF91AB38}"/>
              </a:ext>
            </a:extLst>
          </p:cNvPr>
          <p:cNvSpPr txBox="1"/>
          <p:nvPr/>
        </p:nvSpPr>
        <p:spPr>
          <a:xfrm>
            <a:off x="6828252" y="5079916"/>
            <a:ext cx="520527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600" dirty="0"/>
              <a:t>Supervisory Jurisdiction – NABARD</a:t>
            </a:r>
            <a:endParaRPr lang="en-IN" sz="2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3D2257-FEC6-02B9-AB72-73D9506486CB}"/>
              </a:ext>
            </a:extLst>
          </p:cNvPr>
          <p:cNvSpPr txBox="1"/>
          <p:nvPr/>
        </p:nvSpPr>
        <p:spPr>
          <a:xfrm>
            <a:off x="131760" y="5572359"/>
            <a:ext cx="467628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600" dirty="0"/>
              <a:t>Ex. </a:t>
            </a:r>
            <a:r>
              <a:rPr lang="en-US" sz="2600" b="1" dirty="0">
                <a:solidFill>
                  <a:srgbClr val="C00000"/>
                </a:solidFill>
              </a:rPr>
              <a:t>Rajkot </a:t>
            </a:r>
            <a:r>
              <a:rPr lang="en-US" sz="2600" b="1" dirty="0" err="1">
                <a:solidFill>
                  <a:srgbClr val="C00000"/>
                </a:solidFill>
              </a:rPr>
              <a:t>Nagrik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b="1" dirty="0" err="1">
                <a:solidFill>
                  <a:srgbClr val="C00000"/>
                </a:solidFill>
              </a:rPr>
              <a:t>Sahkari</a:t>
            </a:r>
            <a:r>
              <a:rPr lang="en-US" sz="2600" b="1" dirty="0">
                <a:solidFill>
                  <a:srgbClr val="C00000"/>
                </a:solidFill>
              </a:rPr>
              <a:t> Bank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endParaRPr lang="en-IN" sz="2600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D66290-74CA-C1C8-ED52-6446B2D2019A}"/>
              </a:ext>
            </a:extLst>
          </p:cNvPr>
          <p:cNvSpPr txBox="1"/>
          <p:nvPr/>
        </p:nvSpPr>
        <p:spPr>
          <a:xfrm>
            <a:off x="6828252" y="5572359"/>
            <a:ext cx="532389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600" dirty="0"/>
              <a:t>Ex. </a:t>
            </a:r>
            <a:r>
              <a:rPr lang="en-US" sz="2600" b="1" dirty="0">
                <a:solidFill>
                  <a:srgbClr val="C00000"/>
                </a:solidFill>
              </a:rPr>
              <a:t>Gujarat State Co-operative Bank </a:t>
            </a:r>
            <a:endParaRPr lang="en-IN" sz="2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34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ECAB3C5-8D38-493C-B0B3-67FDE3A4DE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5ECAB3C5-8D38-493C-B0B3-67FDE3A4DEA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1BB6CBD-DCA9-4852-83B6-F9E5A09157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81BB6CBD-DCA9-4852-83B6-F9E5A09157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0F08139-308D-486D-B3BC-7DADD927C8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50F08139-308D-486D-B3BC-7DADD927C83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67CEBD0-5738-48E8-8EC1-E4DC63265A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667CEBD0-5738-48E8-8EC1-E4DC63265A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09ECB25-D3E0-49C6-8716-E543B6FD02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009ECB25-D3E0-49C6-8716-E543B6FD02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23ED9-3BF4-D20D-1EC5-F34DBE90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Bank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ED0C1-C882-7C0D-2D66-38EEAC2E7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Development banks are also known as </a:t>
            </a:r>
            <a:r>
              <a:rPr lang="en-US" b="1" dirty="0">
                <a:solidFill>
                  <a:srgbClr val="C00000"/>
                </a:solidFill>
              </a:rPr>
              <a:t>term-lending institution </a:t>
            </a:r>
            <a:r>
              <a:rPr lang="en-US" dirty="0"/>
              <a:t>or </a:t>
            </a:r>
            <a:r>
              <a:rPr lang="en-US" b="1" dirty="0">
                <a:solidFill>
                  <a:srgbClr val="C00000"/>
                </a:solidFill>
              </a:rPr>
              <a:t>development financial institution</a:t>
            </a:r>
            <a:r>
              <a:rPr lang="en-US" dirty="0"/>
              <a:t>. </a:t>
            </a:r>
          </a:p>
          <a:p>
            <a:r>
              <a:rPr lang="en-US" dirty="0"/>
              <a:t>They are specialized bank which provides </a:t>
            </a:r>
            <a:r>
              <a:rPr lang="en-US" b="1" dirty="0">
                <a:solidFill>
                  <a:srgbClr val="C00000"/>
                </a:solidFill>
              </a:rPr>
              <a:t>long term finance </a:t>
            </a:r>
            <a:r>
              <a:rPr lang="en-US" dirty="0"/>
              <a:t>to </a:t>
            </a:r>
            <a:r>
              <a:rPr lang="en-US" b="1" dirty="0">
                <a:solidFill>
                  <a:srgbClr val="C00000"/>
                </a:solidFill>
              </a:rPr>
              <a:t>higher risk sectors</a:t>
            </a:r>
            <a:r>
              <a:rPr lang="en-US" dirty="0"/>
              <a:t>. </a:t>
            </a:r>
          </a:p>
          <a:p>
            <a:r>
              <a:rPr lang="en-US" dirty="0"/>
              <a:t>It plays bigger role in </a:t>
            </a:r>
            <a:r>
              <a:rPr lang="en-US" b="1" dirty="0">
                <a:solidFill>
                  <a:srgbClr val="C00000"/>
                </a:solidFill>
              </a:rPr>
              <a:t>economical development</a:t>
            </a:r>
            <a:r>
              <a:rPr lang="en-US" dirty="0"/>
              <a:t>.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81AB39-66CD-5EAB-50B8-562A9777A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79" y="3429000"/>
            <a:ext cx="4739401" cy="302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746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8A569-57D5-5C57-6D18-EF99F30C9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Bank (Cont.)</a:t>
            </a:r>
            <a:endParaRPr lang="en-IN" dirty="0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/>
          </p:nvPr>
        </p:nvGraphicFramePr>
        <p:xfrm>
          <a:off x="-92172" y="863444"/>
          <a:ext cx="11928475" cy="2990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B148223-BEE5-2826-1B9F-37F05B754616}"/>
              </a:ext>
            </a:extLst>
          </p:cNvPr>
          <p:cNvCxnSpPr>
            <a:cxnSpLocks/>
          </p:cNvCxnSpPr>
          <p:nvPr/>
        </p:nvCxnSpPr>
        <p:spPr>
          <a:xfrm>
            <a:off x="2453951" y="3854089"/>
            <a:ext cx="0" cy="4659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388C869-EC56-BF9B-F335-D552CD560390}"/>
              </a:ext>
            </a:extLst>
          </p:cNvPr>
          <p:cNvCxnSpPr>
            <a:cxnSpLocks/>
          </p:cNvCxnSpPr>
          <p:nvPr/>
        </p:nvCxnSpPr>
        <p:spPr>
          <a:xfrm>
            <a:off x="4892351" y="3854089"/>
            <a:ext cx="0" cy="4659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547B11-54C5-8A0A-B264-FFD3393C32A1}"/>
              </a:ext>
            </a:extLst>
          </p:cNvPr>
          <p:cNvCxnSpPr>
            <a:cxnSpLocks/>
          </p:cNvCxnSpPr>
          <p:nvPr/>
        </p:nvCxnSpPr>
        <p:spPr>
          <a:xfrm>
            <a:off x="7280988" y="3854089"/>
            <a:ext cx="0" cy="4659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5515747-F61D-73ED-80D2-ABE9EF1E68A1}"/>
              </a:ext>
            </a:extLst>
          </p:cNvPr>
          <p:cNvCxnSpPr>
            <a:cxnSpLocks/>
          </p:cNvCxnSpPr>
          <p:nvPr/>
        </p:nvCxnSpPr>
        <p:spPr>
          <a:xfrm>
            <a:off x="9529665" y="3854089"/>
            <a:ext cx="0" cy="4659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3ABC3DD-CF1A-048C-97F4-80C54AEAEE6F}"/>
              </a:ext>
            </a:extLst>
          </p:cNvPr>
          <p:cNvSpPr txBox="1"/>
          <p:nvPr/>
        </p:nvSpPr>
        <p:spPr>
          <a:xfrm>
            <a:off x="1838034" y="4320073"/>
            <a:ext cx="1223412" cy="1200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IFCI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IDBI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SIDBI </a:t>
            </a:r>
            <a:endParaRPr lang="en-IN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F0B5DD-E904-BC63-BDE5-EAACA067B457}"/>
              </a:ext>
            </a:extLst>
          </p:cNvPr>
          <p:cNvSpPr txBox="1"/>
          <p:nvPr/>
        </p:nvSpPr>
        <p:spPr>
          <a:xfrm>
            <a:off x="4083475" y="4320073"/>
            <a:ext cx="1617751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NABARD </a:t>
            </a:r>
            <a:endParaRPr lang="en-IN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B02F3E-FA8D-7375-A597-D4AB5A620938}"/>
              </a:ext>
            </a:extLst>
          </p:cNvPr>
          <p:cNvSpPr txBox="1"/>
          <p:nvPr/>
        </p:nvSpPr>
        <p:spPr>
          <a:xfrm>
            <a:off x="6472112" y="4320072"/>
            <a:ext cx="1871025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EXIM Bank </a:t>
            </a:r>
            <a:endParaRPr lang="en-IN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BFDD16-FD57-F512-4ED6-7D0E4D5DE922}"/>
              </a:ext>
            </a:extLst>
          </p:cNvPr>
          <p:cNvSpPr txBox="1"/>
          <p:nvPr/>
        </p:nvSpPr>
        <p:spPr>
          <a:xfrm>
            <a:off x="8940401" y="4323051"/>
            <a:ext cx="1178528" cy="8309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NHB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IIFCL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574226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B56E14E-9766-4D70-B15F-AB61EC8C05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5B56E14E-9766-4D70-B15F-AB61EC8C05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2A31547-3080-409F-90AE-23A358E66F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graphicEl>
                                              <a:dgm id="{72A31547-3080-409F-90AE-23A358E66F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00858F0-F835-4D75-8DBC-9E26988ADF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000858F0-F835-4D75-8DBC-9E26988ADF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467613C-3B3B-4298-9B25-89870E027C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graphicEl>
                                              <a:dgm id="{9467613C-3B3B-4298-9B25-89870E027C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518FD3E-2025-4FDF-B32F-39C29A311B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graphicEl>
                                              <a:dgm id="{9518FD3E-2025-4FDF-B32F-39C29A311B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A5B1DB2-4F5D-4152-9E1B-2BEFAAB16A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graphicEl>
                                              <a:dgm id="{BA5B1DB2-4F5D-4152-9E1B-2BEFAAB16A5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0722775-25C9-4188-891C-2A6B501202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graphicEl>
                                              <a:dgm id="{D0722775-25C9-4188-891C-2A6B501202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288724F-9449-4380-A196-47F29BDA2D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graphicEl>
                                              <a:dgm id="{5288724F-9449-4380-A196-47F29BDA2D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438B405-09B6-45A1-9EDC-F7F53A9101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graphicEl>
                                              <a:dgm id="{C438B405-09B6-45A1-9EDC-F7F53A9101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8D9A256-7A26-4FCB-A502-F7EC0620C5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graphicEl>
                                              <a:dgm id="{58D9A256-7A26-4FCB-A502-F7EC0620C5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DCE1AF2-41F8-4DA1-A9B4-1DE8EBB3E2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>
                                            <p:graphicEl>
                                              <a:dgm id="{ADCE1AF2-41F8-4DA1-A9B4-1DE8EBB3E2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87E3301-007A-4ADF-A6CC-571C4B2D8E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">
                                            <p:graphicEl>
                                              <a:dgm id="{587E3301-007A-4ADF-A6CC-571C4B2D8E5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3343A24-2A5B-4CCD-9C8E-0EB912E1DB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">
                                            <p:graphicEl>
                                              <a:dgm id="{83343A24-2A5B-4CCD-9C8E-0EB912E1DB0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1DB2F96-73DC-4AA5-928E-B2C387C49B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">
                                            <p:graphicEl>
                                              <a:dgm id="{91DB2F96-73DC-4AA5-928E-B2C387C49BF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  <p:bldP spid="12" grpId="0" animBg="1"/>
      <p:bldP spid="14" grpId="0" animBg="1"/>
      <p:bldP spid="16" grpId="0" animBg="1"/>
      <p:bldP spid="1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Non-Banking Financial Company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NBFC is a company </a:t>
            </a:r>
            <a:r>
              <a:rPr lang="en-US" b="1" dirty="0" smtClean="0">
                <a:solidFill>
                  <a:srgbClr val="C00000"/>
                </a:solidFill>
              </a:rPr>
              <a:t>registered under Companies Act, 1956 or </a:t>
            </a:r>
            <a:r>
              <a:rPr lang="en-IN" b="1" dirty="0">
                <a:solidFill>
                  <a:srgbClr val="C00000"/>
                </a:solidFill>
              </a:rPr>
              <a:t>Companies Act, </a:t>
            </a:r>
            <a:r>
              <a:rPr lang="en-US" b="1" dirty="0" smtClean="0">
                <a:solidFill>
                  <a:srgbClr val="C00000"/>
                </a:solidFill>
              </a:rPr>
              <a:t>2013.</a:t>
            </a:r>
          </a:p>
          <a:p>
            <a:r>
              <a:rPr lang="en-US" dirty="0" smtClean="0"/>
              <a:t>RBI does not regulate all financial companies. Some may fall under the regulatory purview of </a:t>
            </a:r>
            <a:r>
              <a:rPr lang="en-US" b="1" dirty="0" smtClean="0">
                <a:solidFill>
                  <a:srgbClr val="C00000"/>
                </a:solidFill>
              </a:rPr>
              <a:t>other regulators </a:t>
            </a:r>
            <a:r>
              <a:rPr lang="en-US" dirty="0" smtClean="0"/>
              <a:t>like SEBI, IRDAI, GOI etc.</a:t>
            </a:r>
          </a:p>
          <a:p>
            <a:r>
              <a:rPr lang="en-US" dirty="0" smtClean="0"/>
              <a:t>NBFCs </a:t>
            </a:r>
            <a:r>
              <a:rPr lang="en-US" b="1" dirty="0" smtClean="0">
                <a:solidFill>
                  <a:srgbClr val="C00000"/>
                </a:solidFill>
              </a:rPr>
              <a:t>can not accept demand deposits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NBFCs do not form part of </a:t>
            </a:r>
            <a:r>
              <a:rPr lang="en-US" b="1" dirty="0" smtClean="0">
                <a:solidFill>
                  <a:srgbClr val="C00000"/>
                </a:solidFill>
              </a:rPr>
              <a:t>payment and settlement system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C00000"/>
                </a:solidFill>
              </a:rPr>
              <a:t>can not issue </a:t>
            </a:r>
            <a:r>
              <a:rPr lang="en-US" b="1" dirty="0" err="1" smtClean="0">
                <a:solidFill>
                  <a:srgbClr val="C00000"/>
                </a:solidFill>
              </a:rPr>
              <a:t>cheques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Deposit insurance </a:t>
            </a:r>
            <a:r>
              <a:rPr lang="en-US" dirty="0" smtClean="0"/>
              <a:t>facility is not available to the depositors.</a:t>
            </a:r>
          </a:p>
          <a:p>
            <a:r>
              <a:rPr lang="en-US" dirty="0" smtClean="0"/>
              <a:t>Currently, the total no. of NBFCs registered with RBI is </a:t>
            </a:r>
            <a:r>
              <a:rPr lang="en-US" b="1" dirty="0" smtClean="0">
                <a:solidFill>
                  <a:srgbClr val="C00000"/>
                </a:solidFill>
              </a:rPr>
              <a:t>9291.</a:t>
            </a:r>
          </a:p>
          <a:p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31180" y="6253316"/>
            <a:ext cx="7590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Source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www.rbi.org.in/commonman/english/scripts/FAQs.aspx?Id=1167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744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Non-Banking Financial </a:t>
            </a:r>
            <a:r>
              <a:rPr lang="en-US" dirty="0" smtClean="0"/>
              <a:t>Company (Cont.)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91283" y="2685446"/>
            <a:ext cx="4351350" cy="716118"/>
          </a:xfrm>
          <a:prstGeom prst="rect">
            <a:avLst/>
          </a:prstGeom>
          <a:solidFill>
            <a:srgbClr val="562C32"/>
          </a:solidFill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Investment &amp; Credit Company</a:t>
            </a:r>
            <a:endParaRPr lang="en-IN" sz="2800" dirty="0"/>
          </a:p>
        </p:txBody>
      </p:sp>
      <p:sp>
        <p:nvSpPr>
          <p:cNvPr id="6" name="Rectangle 5"/>
          <p:cNvSpPr/>
          <p:nvPr/>
        </p:nvSpPr>
        <p:spPr>
          <a:xfrm>
            <a:off x="6823587" y="2728042"/>
            <a:ext cx="4355690" cy="707923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Infrastructure Finance Company</a:t>
            </a:r>
            <a:endParaRPr lang="en-IN" sz="2800" dirty="0"/>
          </a:p>
        </p:txBody>
      </p:sp>
      <p:sp>
        <p:nvSpPr>
          <p:cNvPr id="7" name="Rectangle 6"/>
          <p:cNvSpPr/>
          <p:nvPr/>
        </p:nvSpPr>
        <p:spPr>
          <a:xfrm>
            <a:off x="291283" y="5589638"/>
            <a:ext cx="3661900" cy="693175"/>
          </a:xfrm>
          <a:prstGeom prst="rect">
            <a:avLst/>
          </a:prstGeom>
          <a:solidFill>
            <a:srgbClr val="301B92"/>
          </a:solidFill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Micro Finance Institution</a:t>
            </a:r>
            <a:endParaRPr lang="en-IN" sz="2800" dirty="0"/>
          </a:p>
        </p:txBody>
      </p:sp>
      <p:sp>
        <p:nvSpPr>
          <p:cNvPr id="9" name="Rectangle 8"/>
          <p:cNvSpPr/>
          <p:nvPr/>
        </p:nvSpPr>
        <p:spPr>
          <a:xfrm>
            <a:off x="4269011" y="5589638"/>
            <a:ext cx="3608439" cy="707923"/>
          </a:xfrm>
          <a:prstGeom prst="rect">
            <a:avLst/>
          </a:prstGeom>
          <a:solidFill>
            <a:srgbClr val="ED524F"/>
          </a:solidFill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Core Investment Company</a:t>
            </a:r>
            <a:endParaRPr lang="en-IN" sz="28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29" y="1333997"/>
            <a:ext cx="2310957" cy="1283865"/>
          </a:xfrm>
          <a:prstGeom prst="rect">
            <a:avLst/>
          </a:prstGeom>
        </p:spPr>
      </p:pic>
      <p:pic>
        <p:nvPicPr>
          <p:cNvPr id="2052" name="Picture 4" descr="Capri Loans - Top NBFC for Best Gold Loans, MSME Loans &amp; Home Loan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92" b="21973"/>
          <a:stretch/>
        </p:blipFill>
        <p:spPr bwMode="auto">
          <a:xfrm>
            <a:off x="3061586" y="1703462"/>
            <a:ext cx="1581047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RFC Share Price Surged Over 9% Followjng Navratna Status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82" b="27326"/>
          <a:stretch/>
        </p:blipFill>
        <p:spPr bwMode="auto">
          <a:xfrm>
            <a:off x="6175814" y="1564698"/>
            <a:ext cx="2585885" cy="994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ural Electrification Corporation Limited (RECL) - Jaipurfoo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707" y="1373310"/>
            <a:ext cx="1669540" cy="1669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ower Finance Corporation - Wikipedi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7654" y="1523202"/>
            <a:ext cx="1037592" cy="1094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Muthoot Microfin | Kochi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784" y="4101303"/>
            <a:ext cx="1274506" cy="1274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8"/>
          <a:srcRect t="23127" b="26994"/>
          <a:stretch/>
        </p:blipFill>
        <p:spPr>
          <a:xfrm>
            <a:off x="4642633" y="4255061"/>
            <a:ext cx="2502393" cy="112074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212716" y="5589638"/>
            <a:ext cx="3608439" cy="707923"/>
          </a:xfrm>
          <a:prstGeom prst="rect">
            <a:avLst/>
          </a:prstGeom>
          <a:solidFill>
            <a:schemeClr val="accent4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Infra Debt Fund</a:t>
            </a:r>
            <a:endParaRPr lang="en-IN" sz="28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9"/>
          <a:srcRect l="30521" t="37222" r="48958" b="55371"/>
          <a:stretch/>
        </p:blipFill>
        <p:spPr>
          <a:xfrm>
            <a:off x="8949801" y="4475620"/>
            <a:ext cx="2876550" cy="584071"/>
          </a:xfrm>
          <a:prstGeom prst="rect">
            <a:avLst/>
          </a:prstGeom>
        </p:spPr>
      </p:pic>
      <p:pic>
        <p:nvPicPr>
          <p:cNvPr id="2064" name="Picture 16" descr="Kotak Mahindra Banks in Borivali East, Mumbai - Services, Branches &amp;  Contact Info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33" r="65807" b="39293"/>
          <a:stretch/>
        </p:blipFill>
        <p:spPr bwMode="auto">
          <a:xfrm>
            <a:off x="7828950" y="4475620"/>
            <a:ext cx="1172482" cy="58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600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2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Functions of Banks</a:t>
            </a:r>
          </a:p>
        </p:txBody>
      </p:sp>
    </p:spTree>
    <p:extLst>
      <p:ext uri="{BB962C8B-B14F-4D97-AF65-F5344CB8AC3E}">
        <p14:creationId xmlns:p14="http://schemas.microsoft.com/office/powerpoint/2010/main" val="2420167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B20E2A-F2D8-419C-9FD1-95D26342647C}"/>
              </a:ext>
            </a:extLst>
          </p:cNvPr>
          <p:cNvSpPr/>
          <p:nvPr/>
        </p:nvSpPr>
        <p:spPr>
          <a:xfrm>
            <a:off x="6096000" y="0"/>
            <a:ext cx="6096000" cy="6608190"/>
          </a:xfrm>
          <a:prstGeom prst="rect">
            <a:avLst/>
          </a:prstGeom>
          <a:gradFill>
            <a:gsLst>
              <a:gs pos="0">
                <a:srgbClr val="562C32"/>
              </a:gs>
              <a:gs pos="50000">
                <a:srgbClr val="562C32"/>
              </a:gs>
              <a:gs pos="100000">
                <a:srgbClr val="7B3E47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>
              <a:lnSpc>
                <a:spcPct val="120000"/>
              </a:lnSpc>
            </a:pPr>
            <a:r>
              <a:rPr lang="en-US" sz="2800" b="1" dirty="0"/>
              <a:t>(I) Primary Functions</a:t>
            </a:r>
          </a:p>
          <a:p>
            <a:pPr>
              <a:lnSpc>
                <a:spcPct val="120000"/>
              </a:lnSpc>
            </a:pPr>
            <a:r>
              <a:rPr lang="en-US" sz="2800" b="1" dirty="0" smtClean="0"/>
              <a:t>Accepting </a:t>
            </a:r>
            <a:r>
              <a:rPr lang="en-US" sz="2800" b="1" dirty="0"/>
              <a:t>Deposits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It is the most important function of commercial banks. </a:t>
            </a:r>
            <a:endParaRPr lang="en-US" sz="2600" dirty="0" smtClean="0"/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/>
              <a:t>They </a:t>
            </a:r>
            <a:r>
              <a:rPr lang="en-US" sz="2600" dirty="0"/>
              <a:t>accept deposits in several forms </a:t>
            </a:r>
            <a:r>
              <a:rPr lang="en-US" sz="2600" dirty="0" smtClean="0"/>
              <a:t>which can be categorized as Demand Deposits &amp; Time Deposits.</a:t>
            </a:r>
          </a:p>
          <a:p>
            <a:pPr marL="514350" indent="-5143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/>
              <a:t>Demand Deposits</a:t>
            </a:r>
          </a:p>
          <a:p>
            <a:pPr marL="971550" lvl="1" indent="-5143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/>
              <a:t>Saving Account Deposits</a:t>
            </a:r>
          </a:p>
          <a:p>
            <a:pPr marL="971550" lvl="1" indent="-5143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/>
              <a:t>Current Account Deposits</a:t>
            </a:r>
          </a:p>
          <a:p>
            <a:pPr marL="514350" indent="-5143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/>
              <a:t>Time Deposits</a:t>
            </a:r>
          </a:p>
          <a:p>
            <a:pPr marL="971550" lvl="1" indent="-5143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/>
              <a:t>Fixed Deposits</a:t>
            </a:r>
          </a:p>
          <a:p>
            <a:pPr marL="971550" lvl="1" indent="-5143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/>
              <a:t>Recurring Deposits</a:t>
            </a:r>
            <a:endParaRPr lang="en-US" sz="2600" dirty="0"/>
          </a:p>
          <a:p>
            <a:pPr>
              <a:lnSpc>
                <a:spcPct val="120000"/>
              </a:lnSpc>
            </a:pPr>
            <a:endParaRPr lang="en-US" sz="2000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805A06D-A5FA-4301-9831-05E575755957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32</a:t>
            </a:fld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3E626D1-3CC3-C260-AD1F-C6EE86183366}"/>
              </a:ext>
            </a:extLst>
          </p:cNvPr>
          <p:cNvGraphicFramePr/>
          <p:nvPr>
            <p:extLst/>
          </p:nvPr>
        </p:nvGraphicFramePr>
        <p:xfrm>
          <a:off x="212077" y="239696"/>
          <a:ext cx="5256568" cy="6364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V="1">
            <a:off x="5366084" y="1034716"/>
            <a:ext cx="729916" cy="1696452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178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B20E2A-F2D8-419C-9FD1-95D26342647C}"/>
              </a:ext>
            </a:extLst>
          </p:cNvPr>
          <p:cNvSpPr/>
          <p:nvPr/>
        </p:nvSpPr>
        <p:spPr>
          <a:xfrm>
            <a:off x="6096000" y="0"/>
            <a:ext cx="6096000" cy="6608190"/>
          </a:xfrm>
          <a:prstGeom prst="rect">
            <a:avLst/>
          </a:prstGeom>
          <a:gradFill>
            <a:gsLst>
              <a:gs pos="0">
                <a:srgbClr val="562C32"/>
              </a:gs>
              <a:gs pos="50000">
                <a:srgbClr val="562C32"/>
              </a:gs>
              <a:gs pos="100000">
                <a:srgbClr val="7B3E47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lvl="0"/>
            <a:r>
              <a:rPr lang="en-US" sz="2800" b="1" dirty="0" smtClean="0"/>
              <a:t>Grant </a:t>
            </a:r>
            <a:r>
              <a:rPr lang="en-US" sz="2800" b="1" dirty="0"/>
              <a:t>of Loans and Advances</a:t>
            </a:r>
            <a:endParaRPr lang="en-IN" sz="2800" b="1" dirty="0"/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/>
              <a:t>The deposits received by banks are not allowed to remain idle. 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A</a:t>
            </a:r>
            <a:r>
              <a:rPr lang="en-US" sz="2600" dirty="0" smtClean="0"/>
              <a:t>fter keeping certain cash reserves (CRR, SLR), the balance is given to needy borrowers 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/>
              <a:t>The interest is charged from them, which is the main source of income for these banks.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b="1" dirty="0" smtClean="0"/>
              <a:t>Loans</a:t>
            </a:r>
            <a:r>
              <a:rPr lang="en-US" sz="2600" dirty="0" smtClean="0"/>
              <a:t>: A loan is granted for a specific time period. 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/>
              <a:t>Loans can be short term to long term.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/>
              <a:t>It can be Secured and Unsecured Loans.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805A06D-A5FA-4301-9831-05E575755957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33</a:t>
            </a:fld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67DA753-B641-46CC-9092-401E66C13BF3}"/>
              </a:ext>
            </a:extLst>
          </p:cNvPr>
          <p:cNvGraphicFramePr/>
          <p:nvPr>
            <p:extLst/>
          </p:nvPr>
        </p:nvGraphicFramePr>
        <p:xfrm>
          <a:off x="212077" y="239696"/>
          <a:ext cx="5256568" cy="6364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V="1">
            <a:off x="5366084" y="1046747"/>
            <a:ext cx="729916" cy="2334127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2472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B20E2A-F2D8-419C-9FD1-95D26342647C}"/>
              </a:ext>
            </a:extLst>
          </p:cNvPr>
          <p:cNvSpPr/>
          <p:nvPr/>
        </p:nvSpPr>
        <p:spPr>
          <a:xfrm>
            <a:off x="6096000" y="0"/>
            <a:ext cx="6096000" cy="6608190"/>
          </a:xfrm>
          <a:prstGeom prst="rect">
            <a:avLst/>
          </a:prstGeom>
          <a:gradFill>
            <a:gsLst>
              <a:gs pos="0">
                <a:srgbClr val="562C32"/>
              </a:gs>
              <a:gs pos="50000">
                <a:srgbClr val="562C32"/>
              </a:gs>
              <a:gs pos="100000">
                <a:srgbClr val="7B3E47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lvl="0"/>
            <a:r>
              <a:rPr lang="en-US" sz="2800" b="1" dirty="0" smtClean="0"/>
              <a:t>Grant </a:t>
            </a:r>
            <a:r>
              <a:rPr lang="en-US" sz="2800" b="1" dirty="0"/>
              <a:t>of Loans and Advances</a:t>
            </a:r>
            <a:endParaRPr lang="en-IN" sz="2800" b="1" dirty="0"/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b="1" dirty="0" smtClean="0"/>
              <a:t>Advances</a:t>
            </a:r>
            <a:r>
              <a:rPr lang="en-US" sz="2600" dirty="0"/>
              <a:t>: An advance is a credit facility provided by the bank to its customers. </a:t>
            </a:r>
            <a:endParaRPr lang="en-US" sz="2600" dirty="0" smtClean="0"/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/>
              <a:t>Loans may be granted for long term, but advances are normally granted for short term period.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/>
              <a:t>Further, the purpose of granting advances is to meet the day to day requirements of business.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/>
              <a:t>Ex. </a:t>
            </a:r>
          </a:p>
          <a:p>
            <a:pPr marL="80010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/>
              <a:t>Cash Credit</a:t>
            </a:r>
          </a:p>
          <a:p>
            <a:pPr marL="80010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/>
              <a:t>Overdraft</a:t>
            </a:r>
          </a:p>
          <a:p>
            <a:pPr marL="80010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Discounting of Bills</a:t>
            </a:r>
            <a:endParaRPr lang="en-US" sz="2600" dirty="0" smtClean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805A06D-A5FA-4301-9831-05E575755957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34</a:t>
            </a:fld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67DA753-B641-46CC-9092-401E66C13BF3}"/>
              </a:ext>
            </a:extLst>
          </p:cNvPr>
          <p:cNvGraphicFramePr/>
          <p:nvPr>
            <p:extLst/>
          </p:nvPr>
        </p:nvGraphicFramePr>
        <p:xfrm>
          <a:off x="212077" y="239696"/>
          <a:ext cx="5256568" cy="6364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V="1">
            <a:off x="5366084" y="1046747"/>
            <a:ext cx="729916" cy="2334127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4499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B20E2A-F2D8-419C-9FD1-95D26342647C}"/>
              </a:ext>
            </a:extLst>
          </p:cNvPr>
          <p:cNvSpPr/>
          <p:nvPr/>
        </p:nvSpPr>
        <p:spPr>
          <a:xfrm>
            <a:off x="6096000" y="0"/>
            <a:ext cx="6096000" cy="6608190"/>
          </a:xfrm>
          <a:prstGeom prst="rect">
            <a:avLst/>
          </a:prstGeom>
          <a:gradFill>
            <a:gsLst>
              <a:gs pos="0">
                <a:srgbClr val="562C32"/>
              </a:gs>
              <a:gs pos="50000">
                <a:srgbClr val="562C32"/>
              </a:gs>
              <a:gs pos="100000">
                <a:srgbClr val="7B3E47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>
              <a:lnSpc>
                <a:spcPct val="120000"/>
              </a:lnSpc>
            </a:pPr>
            <a:r>
              <a:rPr lang="en-US" sz="2800" b="1" dirty="0"/>
              <a:t>(II) Secondary Functions</a:t>
            </a:r>
          </a:p>
          <a:p>
            <a:pPr>
              <a:lnSpc>
                <a:spcPct val="120000"/>
              </a:lnSpc>
            </a:pPr>
            <a:r>
              <a:rPr lang="en-US" sz="2800" b="1" dirty="0" smtClean="0"/>
              <a:t>Agency </a:t>
            </a:r>
            <a:r>
              <a:rPr lang="en-US" sz="2800" b="1" dirty="0"/>
              <a:t>Functions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/>
              <a:t>Commercial banks also perform certain agency functions for their customers. 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/>
              <a:t>For these services, banks charge some commission from their clients. 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/>
              <a:t>Some of the agency functions are</a:t>
            </a:r>
          </a:p>
          <a:p>
            <a:pPr marL="514350" indent="-514350" algn="just">
              <a:lnSpc>
                <a:spcPct val="120000"/>
              </a:lnSpc>
              <a:buFont typeface="+mj-lt"/>
              <a:buAutoNum type="romanLcPeriod"/>
            </a:pPr>
            <a:r>
              <a:rPr lang="en-US" sz="2600" b="1" dirty="0" smtClean="0"/>
              <a:t>Transfer of Funds : </a:t>
            </a:r>
            <a:r>
              <a:rPr lang="en-US" sz="2600" dirty="0" smtClean="0"/>
              <a:t>Banks provide the facility of transfer funds with help of instruments like </a:t>
            </a:r>
            <a:r>
              <a:rPr lang="en-US" sz="2600" dirty="0" err="1" smtClean="0"/>
              <a:t>cheque</a:t>
            </a:r>
            <a:r>
              <a:rPr lang="en-US" sz="2600" dirty="0" smtClean="0"/>
              <a:t>, demand drafts, NEFT, RTGS etc.</a:t>
            </a:r>
          </a:p>
          <a:p>
            <a:pPr marL="514350" indent="-514350" algn="just">
              <a:lnSpc>
                <a:spcPct val="120000"/>
              </a:lnSpc>
              <a:buFont typeface="+mj-lt"/>
              <a:buAutoNum type="romanLcPeriod"/>
            </a:pPr>
            <a:endParaRPr lang="en-US" sz="2600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805A06D-A5FA-4301-9831-05E575755957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35</a:t>
            </a:fld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8DBE562-8220-21C0-AF36-D868776468E1}"/>
              </a:ext>
            </a:extLst>
          </p:cNvPr>
          <p:cNvGraphicFramePr/>
          <p:nvPr>
            <p:extLst/>
          </p:nvPr>
        </p:nvGraphicFramePr>
        <p:xfrm>
          <a:off x="212077" y="239696"/>
          <a:ext cx="5256568" cy="6364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V="1">
            <a:off x="5386039" y="1118939"/>
            <a:ext cx="709961" cy="2884349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1033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B20E2A-F2D8-419C-9FD1-95D26342647C}"/>
              </a:ext>
            </a:extLst>
          </p:cNvPr>
          <p:cNvSpPr/>
          <p:nvPr/>
        </p:nvSpPr>
        <p:spPr>
          <a:xfrm>
            <a:off x="6096000" y="0"/>
            <a:ext cx="6096000" cy="6608190"/>
          </a:xfrm>
          <a:prstGeom prst="rect">
            <a:avLst/>
          </a:prstGeom>
          <a:gradFill>
            <a:gsLst>
              <a:gs pos="0">
                <a:srgbClr val="562C32"/>
              </a:gs>
              <a:gs pos="50000">
                <a:srgbClr val="562C32"/>
              </a:gs>
              <a:gs pos="100000">
                <a:srgbClr val="7B3E47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marL="571500" indent="-571500" algn="just">
              <a:lnSpc>
                <a:spcPct val="120000"/>
              </a:lnSpc>
              <a:buFont typeface="+mj-lt"/>
              <a:buAutoNum type="romanLcPeriod" startAt="2"/>
            </a:pPr>
            <a:r>
              <a:rPr lang="en-US" sz="2600" b="1" dirty="0"/>
              <a:t>Collection and Payment of Various Items : </a:t>
            </a:r>
            <a:r>
              <a:rPr lang="en-US" sz="2600" dirty="0"/>
              <a:t>Banks collect </a:t>
            </a:r>
            <a:r>
              <a:rPr lang="en-US" sz="2600" dirty="0" err="1"/>
              <a:t>cheques</a:t>
            </a:r>
            <a:r>
              <a:rPr lang="en-US" sz="2600" dirty="0"/>
              <a:t>, bills,’ interest, dividends, rents and other periodical receipts on behalf of their customers </a:t>
            </a:r>
          </a:p>
          <a:p>
            <a:pPr algn="just">
              <a:lnSpc>
                <a:spcPct val="120000"/>
              </a:lnSpc>
            </a:pPr>
            <a:r>
              <a:rPr lang="en-US" sz="2600" dirty="0"/>
              <a:t>     </a:t>
            </a:r>
            <a:r>
              <a:rPr lang="en-US" sz="2600" dirty="0" smtClean="0"/>
              <a:t>     It </a:t>
            </a:r>
            <a:r>
              <a:rPr lang="en-US" sz="2600" dirty="0"/>
              <a:t>also make payments of taxes, insurance  premium, SIP etc. on standing instructions of their clients. </a:t>
            </a:r>
            <a:endParaRPr lang="en-US" sz="2600" dirty="0" smtClean="0"/>
          </a:p>
          <a:p>
            <a:pPr marL="571500" indent="-571500" algn="just">
              <a:lnSpc>
                <a:spcPct val="120000"/>
              </a:lnSpc>
              <a:buFont typeface="+mj-lt"/>
              <a:buAutoNum type="romanLcPeriod" startAt="3"/>
            </a:pPr>
            <a:r>
              <a:rPr lang="en-US" sz="2600" b="1" dirty="0" smtClean="0"/>
              <a:t>Purchase </a:t>
            </a:r>
            <a:r>
              <a:rPr lang="en-US" sz="2600" b="1" dirty="0"/>
              <a:t>and Sale of Foreign Exchange: </a:t>
            </a:r>
            <a:r>
              <a:rPr lang="en-US" sz="2600" dirty="0" smtClean="0"/>
              <a:t>It facilitates transaction related to import, export thus, facilitate international trade.</a:t>
            </a:r>
            <a:endParaRPr lang="en-US" sz="2600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805A06D-A5FA-4301-9831-05E575755957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36</a:t>
            </a:fld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166BFC3-A8E7-035C-BD51-407F46B78896}"/>
              </a:ext>
            </a:extLst>
          </p:cNvPr>
          <p:cNvGraphicFramePr/>
          <p:nvPr>
            <p:extLst/>
          </p:nvPr>
        </p:nvGraphicFramePr>
        <p:xfrm>
          <a:off x="212077" y="239696"/>
          <a:ext cx="5256568" cy="6364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8" name="Straight Arrow Connector 7"/>
          <p:cNvCxnSpPr/>
          <p:nvPr/>
        </p:nvCxnSpPr>
        <p:spPr>
          <a:xfrm flipV="1">
            <a:off x="5386039" y="1118939"/>
            <a:ext cx="709961" cy="2884349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5514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B20E2A-F2D8-419C-9FD1-95D26342647C}"/>
              </a:ext>
            </a:extLst>
          </p:cNvPr>
          <p:cNvSpPr/>
          <p:nvPr/>
        </p:nvSpPr>
        <p:spPr>
          <a:xfrm>
            <a:off x="6096000" y="0"/>
            <a:ext cx="6096000" cy="6608190"/>
          </a:xfrm>
          <a:prstGeom prst="rect">
            <a:avLst/>
          </a:prstGeom>
          <a:gradFill>
            <a:gsLst>
              <a:gs pos="0">
                <a:srgbClr val="562C32"/>
              </a:gs>
              <a:gs pos="50000">
                <a:srgbClr val="562C32"/>
              </a:gs>
              <a:gs pos="100000">
                <a:srgbClr val="7B3E47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marL="571500" indent="-571500" algn="just">
              <a:lnSpc>
                <a:spcPct val="120000"/>
              </a:lnSpc>
              <a:buFont typeface="+mj-lt"/>
              <a:buAutoNum type="romanLcPeriod" startAt="4"/>
            </a:pPr>
            <a:r>
              <a:rPr lang="en-US" sz="2600" b="1" dirty="0" smtClean="0"/>
              <a:t>Income </a:t>
            </a:r>
            <a:r>
              <a:rPr lang="en-US" sz="2600" b="1" dirty="0"/>
              <a:t>Tax Consultancy: </a:t>
            </a:r>
            <a:r>
              <a:rPr lang="en-US" sz="2600" dirty="0" smtClean="0"/>
              <a:t>Act as income tax consultants and they prepare and finalize the income tax returns. </a:t>
            </a:r>
          </a:p>
          <a:p>
            <a:pPr marL="571500" indent="-571500" algn="just">
              <a:lnSpc>
                <a:spcPct val="120000"/>
              </a:lnSpc>
              <a:buFont typeface="+mj-lt"/>
              <a:buAutoNum type="romanLcPeriod" startAt="4"/>
            </a:pPr>
            <a:r>
              <a:rPr lang="en-US" sz="2600" b="1" dirty="0" smtClean="0"/>
              <a:t>Trustee </a:t>
            </a:r>
            <a:r>
              <a:rPr lang="en-US" sz="2600" b="1" dirty="0"/>
              <a:t>and Executor: </a:t>
            </a:r>
            <a:r>
              <a:rPr lang="en-US" sz="2600" dirty="0"/>
              <a:t>B</a:t>
            </a:r>
            <a:r>
              <a:rPr lang="en-US" sz="2600" dirty="0" smtClean="0"/>
              <a:t>anks </a:t>
            </a:r>
            <a:r>
              <a:rPr lang="en-US" sz="2600" dirty="0"/>
              <a:t>preserve the wills of their customers as trustees and execute them after their death as executors.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805A06D-A5FA-4301-9831-05E575755957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37</a:t>
            </a:fld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166BFC3-A8E7-035C-BD51-407F46B78896}"/>
              </a:ext>
            </a:extLst>
          </p:cNvPr>
          <p:cNvGraphicFramePr/>
          <p:nvPr>
            <p:extLst/>
          </p:nvPr>
        </p:nvGraphicFramePr>
        <p:xfrm>
          <a:off x="212077" y="239696"/>
          <a:ext cx="5256568" cy="6364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V="1">
            <a:off x="5386039" y="1118939"/>
            <a:ext cx="709961" cy="2884349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5111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B20E2A-F2D8-419C-9FD1-95D26342647C}"/>
              </a:ext>
            </a:extLst>
          </p:cNvPr>
          <p:cNvSpPr/>
          <p:nvPr/>
        </p:nvSpPr>
        <p:spPr>
          <a:xfrm>
            <a:off x="6096000" y="0"/>
            <a:ext cx="6096000" cy="6608190"/>
          </a:xfrm>
          <a:prstGeom prst="rect">
            <a:avLst/>
          </a:prstGeom>
          <a:gradFill>
            <a:gsLst>
              <a:gs pos="0">
                <a:srgbClr val="562C32"/>
              </a:gs>
              <a:gs pos="50000">
                <a:srgbClr val="562C32"/>
              </a:gs>
              <a:gs pos="100000">
                <a:srgbClr val="7B3E47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>
              <a:lnSpc>
                <a:spcPct val="120000"/>
              </a:lnSpc>
            </a:pPr>
            <a:r>
              <a:rPr lang="en-US" sz="2800" b="1" dirty="0" smtClean="0"/>
              <a:t>General </a:t>
            </a:r>
            <a:r>
              <a:rPr lang="en-US" sz="2800" b="1" dirty="0"/>
              <a:t>Utility Functions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600" dirty="0" smtClean="0"/>
              <a:t>Bank render some general utility functions like</a:t>
            </a:r>
          </a:p>
          <a:p>
            <a:pPr marL="80010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Safety Vaults or </a:t>
            </a:r>
            <a:r>
              <a:rPr lang="en-US" sz="2400" b="1" dirty="0" smtClean="0"/>
              <a:t>Lockers</a:t>
            </a:r>
            <a:r>
              <a:rPr lang="en-US" sz="2400" dirty="0" smtClean="0"/>
              <a:t> to provide security to their valuables.</a:t>
            </a:r>
          </a:p>
          <a:p>
            <a:pPr marL="80010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Issuing </a:t>
            </a:r>
            <a:r>
              <a:rPr lang="en-US" sz="2400" b="1" dirty="0" smtClean="0"/>
              <a:t>Letter of Credits </a:t>
            </a:r>
            <a:r>
              <a:rPr lang="en-US" sz="2400" dirty="0" smtClean="0"/>
              <a:t>to businessmen.</a:t>
            </a:r>
          </a:p>
          <a:p>
            <a:pPr marL="80010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Issuing </a:t>
            </a:r>
            <a:r>
              <a:rPr lang="en-US" sz="2400" b="1" dirty="0" smtClean="0"/>
              <a:t>Debit/Credit cards </a:t>
            </a:r>
            <a:r>
              <a:rPr lang="en-US" sz="2400" dirty="0" smtClean="0"/>
              <a:t>to their customers.</a:t>
            </a:r>
          </a:p>
          <a:p>
            <a:pPr marL="80010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Providing the facility of depositing or withdrawing cash anytime through </a:t>
            </a:r>
            <a:r>
              <a:rPr lang="en-US" sz="2400" b="1" dirty="0" smtClean="0"/>
              <a:t>ATM &amp; CDMs</a:t>
            </a:r>
          </a:p>
          <a:p>
            <a:pPr marL="80010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/>
              <a:t>Underwriting of shares and debentures </a:t>
            </a:r>
            <a:r>
              <a:rPr lang="en-US" sz="2400" dirty="0" smtClean="0"/>
              <a:t>issued by the company.</a:t>
            </a:r>
            <a:endParaRPr lang="en-US" sz="2400" dirty="0"/>
          </a:p>
          <a:p>
            <a:pPr marL="514350" indent="-514350" algn="just">
              <a:lnSpc>
                <a:spcPct val="120000"/>
              </a:lnSpc>
              <a:buFont typeface="+mj-lt"/>
              <a:buAutoNum type="romanLcPeriod"/>
            </a:pPr>
            <a:endParaRPr lang="en-US" sz="2400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805A06D-A5FA-4301-9831-05E575755957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38</a:t>
            </a:fld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8DBE562-8220-21C0-AF36-D868776468E1}"/>
              </a:ext>
            </a:extLst>
          </p:cNvPr>
          <p:cNvGraphicFramePr/>
          <p:nvPr>
            <p:extLst/>
          </p:nvPr>
        </p:nvGraphicFramePr>
        <p:xfrm>
          <a:off x="212077" y="239696"/>
          <a:ext cx="5256568" cy="6364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V="1">
            <a:off x="5342021" y="1335505"/>
            <a:ext cx="753979" cy="3561348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5747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sym typeface="+mn-ea"/>
              </a:rPr>
              <a:t>Types of Bank Accounts</a:t>
            </a:r>
          </a:p>
        </p:txBody>
      </p:sp>
    </p:spTree>
    <p:extLst>
      <p:ext uri="{BB962C8B-B14F-4D97-AF65-F5344CB8AC3E}">
        <p14:creationId xmlns:p14="http://schemas.microsoft.com/office/powerpoint/2010/main" val="4243660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ym typeface="+mn-ea"/>
              </a:rPr>
              <a:t>Types of Bank </a:t>
            </a:r>
            <a:r>
              <a:rPr lang="en-IN" dirty="0" smtClean="0">
                <a:sym typeface="+mn-ea"/>
              </a:rPr>
              <a:t>Accounts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1181" y="863444"/>
            <a:ext cx="7277325" cy="5590565"/>
          </a:xfrm>
        </p:spPr>
        <p:txBody>
          <a:bodyPr/>
          <a:lstStyle/>
          <a:p>
            <a:r>
              <a:rPr lang="en-US" dirty="0">
                <a:sym typeface="+mn-ea"/>
              </a:rPr>
              <a:t>Initially, there were only four types of bank accounts that were operating in India. These included the </a:t>
            </a:r>
            <a:r>
              <a:rPr lang="en-US" b="1" dirty="0">
                <a:solidFill>
                  <a:srgbClr val="C00000"/>
                </a:solidFill>
                <a:sym typeface="+mn-ea"/>
              </a:rPr>
              <a:t>Current Account, Savings Account, Recurring Deposit Account and Fixed Deposit Account. </a:t>
            </a:r>
            <a:endParaRPr lang="en-US" b="1" dirty="0" smtClean="0">
              <a:solidFill>
                <a:srgbClr val="C00000"/>
              </a:solidFill>
              <a:sym typeface="+mn-ea"/>
            </a:endParaRPr>
          </a:p>
          <a:p>
            <a:r>
              <a:rPr lang="en-US" dirty="0" smtClean="0">
                <a:sym typeface="+mn-ea"/>
              </a:rPr>
              <a:t>But </a:t>
            </a:r>
            <a:r>
              <a:rPr lang="en-US" dirty="0">
                <a:sym typeface="+mn-ea"/>
              </a:rPr>
              <a:t>later with the advancement in the banking sector, various other types of bank accounts were introduced.</a:t>
            </a:r>
          </a:p>
          <a:p>
            <a:r>
              <a:rPr lang="en-US" dirty="0"/>
              <a:t>Given below is the list of bank accounts that we shall be discussing in this </a:t>
            </a:r>
            <a:r>
              <a:rPr lang="en-US" dirty="0" smtClean="0"/>
              <a:t>topic</a:t>
            </a:r>
            <a:endParaRPr lang="en-US" dirty="0"/>
          </a:p>
        </p:txBody>
      </p:sp>
      <p:sp>
        <p:nvSpPr>
          <p:cNvPr id="6" name="Freeform 5"/>
          <p:cNvSpPr/>
          <p:nvPr/>
        </p:nvSpPr>
        <p:spPr>
          <a:xfrm>
            <a:off x="9076430" y="2859517"/>
            <a:ext cx="1833971" cy="1479262"/>
          </a:xfrm>
          <a:custGeom>
            <a:avLst/>
            <a:gdLst>
              <a:gd name="connsiteX0" fmla="*/ 0 w 1450623"/>
              <a:gd name="connsiteY0" fmla="*/ 627424 h 1254848"/>
              <a:gd name="connsiteX1" fmla="*/ 358510 w 1450623"/>
              <a:gd name="connsiteY1" fmla="*/ 0 h 1254848"/>
              <a:gd name="connsiteX2" fmla="*/ 1092113 w 1450623"/>
              <a:gd name="connsiteY2" fmla="*/ 0 h 1254848"/>
              <a:gd name="connsiteX3" fmla="*/ 1450623 w 1450623"/>
              <a:gd name="connsiteY3" fmla="*/ 627424 h 1254848"/>
              <a:gd name="connsiteX4" fmla="*/ 1092113 w 1450623"/>
              <a:gd name="connsiteY4" fmla="*/ 1254848 h 1254848"/>
              <a:gd name="connsiteX5" fmla="*/ 358510 w 1450623"/>
              <a:gd name="connsiteY5" fmla="*/ 1254848 h 1254848"/>
              <a:gd name="connsiteX6" fmla="*/ 0 w 1450623"/>
              <a:gd name="connsiteY6" fmla="*/ 627424 h 1254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50623" h="1254848">
                <a:moveTo>
                  <a:pt x="0" y="627424"/>
                </a:moveTo>
                <a:lnTo>
                  <a:pt x="358510" y="0"/>
                </a:lnTo>
                <a:lnTo>
                  <a:pt x="1092113" y="0"/>
                </a:lnTo>
                <a:lnTo>
                  <a:pt x="1450623" y="627424"/>
                </a:lnTo>
                <a:lnTo>
                  <a:pt x="1092113" y="1254848"/>
                </a:lnTo>
                <a:lnTo>
                  <a:pt x="358510" y="1254848"/>
                </a:lnTo>
                <a:lnTo>
                  <a:pt x="0" y="627424"/>
                </a:lnTo>
                <a:close/>
              </a:path>
            </a:pathLst>
          </a:custGeom>
          <a:solidFill>
            <a:srgbClr val="C00000"/>
          </a:solid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2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9439" tIns="226996" rIns="259439" bIns="226996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kern="1200" dirty="0" smtClean="0"/>
              <a:t>Types of Bank Accounts</a:t>
            </a:r>
            <a:endParaRPr lang="en-US" sz="2000" kern="1200" dirty="0"/>
          </a:p>
        </p:txBody>
      </p:sp>
      <p:sp>
        <p:nvSpPr>
          <p:cNvPr id="8" name="Freeform 7"/>
          <p:cNvSpPr/>
          <p:nvPr/>
        </p:nvSpPr>
        <p:spPr>
          <a:xfrm>
            <a:off x="9210053" y="1718232"/>
            <a:ext cx="1502926" cy="1212352"/>
          </a:xfrm>
          <a:custGeom>
            <a:avLst/>
            <a:gdLst>
              <a:gd name="connsiteX0" fmla="*/ 0 w 1188775"/>
              <a:gd name="connsiteY0" fmla="*/ 514215 h 1028430"/>
              <a:gd name="connsiteX1" fmla="*/ 293822 w 1188775"/>
              <a:gd name="connsiteY1" fmla="*/ 0 h 1028430"/>
              <a:gd name="connsiteX2" fmla="*/ 894953 w 1188775"/>
              <a:gd name="connsiteY2" fmla="*/ 0 h 1028430"/>
              <a:gd name="connsiteX3" fmla="*/ 1188775 w 1188775"/>
              <a:gd name="connsiteY3" fmla="*/ 514215 h 1028430"/>
              <a:gd name="connsiteX4" fmla="*/ 894953 w 1188775"/>
              <a:gd name="connsiteY4" fmla="*/ 1028430 h 1028430"/>
              <a:gd name="connsiteX5" fmla="*/ 293822 w 1188775"/>
              <a:gd name="connsiteY5" fmla="*/ 1028430 h 1028430"/>
              <a:gd name="connsiteX6" fmla="*/ 0 w 1188775"/>
              <a:gd name="connsiteY6" fmla="*/ 514215 h 1028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8775" h="1028430">
                <a:moveTo>
                  <a:pt x="0" y="514215"/>
                </a:moveTo>
                <a:lnTo>
                  <a:pt x="293822" y="0"/>
                </a:lnTo>
                <a:lnTo>
                  <a:pt x="894953" y="0"/>
                </a:lnTo>
                <a:lnTo>
                  <a:pt x="1188775" y="514215"/>
                </a:lnTo>
                <a:lnTo>
                  <a:pt x="894953" y="1028430"/>
                </a:lnTo>
                <a:lnTo>
                  <a:pt x="293822" y="1028430"/>
                </a:lnTo>
                <a:lnTo>
                  <a:pt x="0" y="514215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2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6055" tIns="189483" rIns="216055" bIns="189483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kern="1200" dirty="0" smtClean="0"/>
              <a:t>Savings Account</a:t>
            </a:r>
            <a:endParaRPr lang="en-US" sz="2000" kern="1200" dirty="0"/>
          </a:p>
        </p:txBody>
      </p:sp>
      <p:sp>
        <p:nvSpPr>
          <p:cNvPr id="10" name="Freeform 9"/>
          <p:cNvSpPr/>
          <p:nvPr/>
        </p:nvSpPr>
        <p:spPr>
          <a:xfrm>
            <a:off x="10300298" y="2378778"/>
            <a:ext cx="1502926" cy="1212352"/>
          </a:xfrm>
          <a:custGeom>
            <a:avLst/>
            <a:gdLst>
              <a:gd name="connsiteX0" fmla="*/ 0 w 1188775"/>
              <a:gd name="connsiteY0" fmla="*/ 514215 h 1028430"/>
              <a:gd name="connsiteX1" fmla="*/ 293822 w 1188775"/>
              <a:gd name="connsiteY1" fmla="*/ 0 h 1028430"/>
              <a:gd name="connsiteX2" fmla="*/ 894953 w 1188775"/>
              <a:gd name="connsiteY2" fmla="*/ 0 h 1028430"/>
              <a:gd name="connsiteX3" fmla="*/ 1188775 w 1188775"/>
              <a:gd name="connsiteY3" fmla="*/ 514215 h 1028430"/>
              <a:gd name="connsiteX4" fmla="*/ 894953 w 1188775"/>
              <a:gd name="connsiteY4" fmla="*/ 1028430 h 1028430"/>
              <a:gd name="connsiteX5" fmla="*/ 293822 w 1188775"/>
              <a:gd name="connsiteY5" fmla="*/ 1028430 h 1028430"/>
              <a:gd name="connsiteX6" fmla="*/ 0 w 1188775"/>
              <a:gd name="connsiteY6" fmla="*/ 514215 h 1028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8775" h="1028430">
                <a:moveTo>
                  <a:pt x="0" y="514215"/>
                </a:moveTo>
                <a:lnTo>
                  <a:pt x="293822" y="0"/>
                </a:lnTo>
                <a:lnTo>
                  <a:pt x="894953" y="0"/>
                </a:lnTo>
                <a:lnTo>
                  <a:pt x="1188775" y="514215"/>
                </a:lnTo>
                <a:lnTo>
                  <a:pt x="894953" y="1028430"/>
                </a:lnTo>
                <a:lnTo>
                  <a:pt x="293822" y="1028430"/>
                </a:lnTo>
                <a:lnTo>
                  <a:pt x="0" y="514215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1524153"/>
              <a:satOff val="4045"/>
              <a:lumOff val="3255"/>
              <a:alphaOff val="0"/>
            </a:schemeClr>
          </a:fillRef>
          <a:effectRef idx="2">
            <a:schemeClr val="accent4">
              <a:hueOff val="-1524153"/>
              <a:satOff val="4045"/>
              <a:lumOff val="325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6055" tIns="189483" rIns="216055" bIns="189483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kern="1200" smtClean="0"/>
              <a:t>Current Account</a:t>
            </a:r>
            <a:endParaRPr lang="en-US" sz="2000" kern="1200" dirty="0"/>
          </a:p>
        </p:txBody>
      </p:sp>
      <p:sp>
        <p:nvSpPr>
          <p:cNvPr id="12" name="Freeform 11"/>
          <p:cNvSpPr/>
          <p:nvPr/>
        </p:nvSpPr>
        <p:spPr>
          <a:xfrm>
            <a:off x="10300298" y="3594313"/>
            <a:ext cx="1502926" cy="1212352"/>
          </a:xfrm>
          <a:custGeom>
            <a:avLst/>
            <a:gdLst>
              <a:gd name="connsiteX0" fmla="*/ 0 w 1188775"/>
              <a:gd name="connsiteY0" fmla="*/ 514215 h 1028430"/>
              <a:gd name="connsiteX1" fmla="*/ 293822 w 1188775"/>
              <a:gd name="connsiteY1" fmla="*/ 0 h 1028430"/>
              <a:gd name="connsiteX2" fmla="*/ 894953 w 1188775"/>
              <a:gd name="connsiteY2" fmla="*/ 0 h 1028430"/>
              <a:gd name="connsiteX3" fmla="*/ 1188775 w 1188775"/>
              <a:gd name="connsiteY3" fmla="*/ 514215 h 1028430"/>
              <a:gd name="connsiteX4" fmla="*/ 894953 w 1188775"/>
              <a:gd name="connsiteY4" fmla="*/ 1028430 h 1028430"/>
              <a:gd name="connsiteX5" fmla="*/ 293822 w 1188775"/>
              <a:gd name="connsiteY5" fmla="*/ 1028430 h 1028430"/>
              <a:gd name="connsiteX6" fmla="*/ 0 w 1188775"/>
              <a:gd name="connsiteY6" fmla="*/ 514215 h 1028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8775" h="1028430">
                <a:moveTo>
                  <a:pt x="0" y="514215"/>
                </a:moveTo>
                <a:lnTo>
                  <a:pt x="293822" y="0"/>
                </a:lnTo>
                <a:lnTo>
                  <a:pt x="894953" y="0"/>
                </a:lnTo>
                <a:lnTo>
                  <a:pt x="1188775" y="514215"/>
                </a:lnTo>
                <a:lnTo>
                  <a:pt x="894953" y="1028430"/>
                </a:lnTo>
                <a:lnTo>
                  <a:pt x="293822" y="1028430"/>
                </a:lnTo>
                <a:lnTo>
                  <a:pt x="0" y="514215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3048306"/>
              <a:satOff val="8089"/>
              <a:lumOff val="6509"/>
              <a:alphaOff val="0"/>
            </a:schemeClr>
          </a:fillRef>
          <a:effectRef idx="2">
            <a:schemeClr val="accent4">
              <a:hueOff val="-3048306"/>
              <a:satOff val="8089"/>
              <a:lumOff val="6509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6055" tIns="189483" rIns="216055" bIns="189483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kern="1200" smtClean="0"/>
              <a:t>Recurring Deposit Account</a:t>
            </a:r>
            <a:endParaRPr lang="en-US" sz="2000" kern="1200" dirty="0"/>
          </a:p>
        </p:txBody>
      </p:sp>
      <p:sp>
        <p:nvSpPr>
          <p:cNvPr id="14" name="Freeform 13"/>
          <p:cNvSpPr/>
          <p:nvPr/>
        </p:nvSpPr>
        <p:spPr>
          <a:xfrm>
            <a:off x="9210053" y="4227574"/>
            <a:ext cx="1502926" cy="1212352"/>
          </a:xfrm>
          <a:custGeom>
            <a:avLst/>
            <a:gdLst>
              <a:gd name="connsiteX0" fmla="*/ 0 w 1188775"/>
              <a:gd name="connsiteY0" fmla="*/ 514215 h 1028430"/>
              <a:gd name="connsiteX1" fmla="*/ 293822 w 1188775"/>
              <a:gd name="connsiteY1" fmla="*/ 0 h 1028430"/>
              <a:gd name="connsiteX2" fmla="*/ 894953 w 1188775"/>
              <a:gd name="connsiteY2" fmla="*/ 0 h 1028430"/>
              <a:gd name="connsiteX3" fmla="*/ 1188775 w 1188775"/>
              <a:gd name="connsiteY3" fmla="*/ 514215 h 1028430"/>
              <a:gd name="connsiteX4" fmla="*/ 894953 w 1188775"/>
              <a:gd name="connsiteY4" fmla="*/ 1028430 h 1028430"/>
              <a:gd name="connsiteX5" fmla="*/ 293822 w 1188775"/>
              <a:gd name="connsiteY5" fmla="*/ 1028430 h 1028430"/>
              <a:gd name="connsiteX6" fmla="*/ 0 w 1188775"/>
              <a:gd name="connsiteY6" fmla="*/ 514215 h 1028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8775" h="1028430">
                <a:moveTo>
                  <a:pt x="0" y="514215"/>
                </a:moveTo>
                <a:lnTo>
                  <a:pt x="293822" y="0"/>
                </a:lnTo>
                <a:lnTo>
                  <a:pt x="894953" y="0"/>
                </a:lnTo>
                <a:lnTo>
                  <a:pt x="1188775" y="514215"/>
                </a:lnTo>
                <a:lnTo>
                  <a:pt x="894953" y="1028430"/>
                </a:lnTo>
                <a:lnTo>
                  <a:pt x="293822" y="1028430"/>
                </a:lnTo>
                <a:lnTo>
                  <a:pt x="0" y="514215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4572459"/>
              <a:satOff val="12134"/>
              <a:lumOff val="9764"/>
              <a:alphaOff val="0"/>
            </a:schemeClr>
          </a:fillRef>
          <a:effectRef idx="2">
            <a:schemeClr val="accent4">
              <a:hueOff val="-4572459"/>
              <a:satOff val="12134"/>
              <a:lumOff val="976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6055" tIns="189483" rIns="216055" bIns="189483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kern="1200" smtClean="0"/>
              <a:t>Fixed Deposit Account</a:t>
            </a:r>
            <a:endParaRPr lang="en-US" sz="2000" kern="1200" dirty="0"/>
          </a:p>
        </p:txBody>
      </p:sp>
      <p:sp>
        <p:nvSpPr>
          <p:cNvPr id="16" name="Freeform 15"/>
          <p:cNvSpPr/>
          <p:nvPr/>
        </p:nvSpPr>
        <p:spPr>
          <a:xfrm>
            <a:off x="8114746" y="3595020"/>
            <a:ext cx="1502926" cy="1212352"/>
          </a:xfrm>
          <a:custGeom>
            <a:avLst/>
            <a:gdLst>
              <a:gd name="connsiteX0" fmla="*/ 0 w 1188775"/>
              <a:gd name="connsiteY0" fmla="*/ 514215 h 1028430"/>
              <a:gd name="connsiteX1" fmla="*/ 293822 w 1188775"/>
              <a:gd name="connsiteY1" fmla="*/ 0 h 1028430"/>
              <a:gd name="connsiteX2" fmla="*/ 894953 w 1188775"/>
              <a:gd name="connsiteY2" fmla="*/ 0 h 1028430"/>
              <a:gd name="connsiteX3" fmla="*/ 1188775 w 1188775"/>
              <a:gd name="connsiteY3" fmla="*/ 514215 h 1028430"/>
              <a:gd name="connsiteX4" fmla="*/ 894953 w 1188775"/>
              <a:gd name="connsiteY4" fmla="*/ 1028430 h 1028430"/>
              <a:gd name="connsiteX5" fmla="*/ 293822 w 1188775"/>
              <a:gd name="connsiteY5" fmla="*/ 1028430 h 1028430"/>
              <a:gd name="connsiteX6" fmla="*/ 0 w 1188775"/>
              <a:gd name="connsiteY6" fmla="*/ 514215 h 1028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8775" h="1028430">
                <a:moveTo>
                  <a:pt x="0" y="514215"/>
                </a:moveTo>
                <a:lnTo>
                  <a:pt x="293822" y="0"/>
                </a:lnTo>
                <a:lnTo>
                  <a:pt x="894953" y="0"/>
                </a:lnTo>
                <a:lnTo>
                  <a:pt x="1188775" y="514215"/>
                </a:lnTo>
                <a:lnTo>
                  <a:pt x="894953" y="1028430"/>
                </a:lnTo>
                <a:lnTo>
                  <a:pt x="293822" y="1028430"/>
                </a:lnTo>
                <a:lnTo>
                  <a:pt x="0" y="514215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6096612"/>
              <a:satOff val="16178"/>
              <a:lumOff val="13018"/>
              <a:alphaOff val="0"/>
            </a:schemeClr>
          </a:fillRef>
          <a:effectRef idx="2">
            <a:schemeClr val="accent4">
              <a:hueOff val="-6096612"/>
              <a:satOff val="16178"/>
              <a:lumOff val="13018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6055" tIns="189483" rIns="216055" bIns="189483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/>
              <a:t>Salary </a:t>
            </a:r>
            <a:r>
              <a:rPr lang="en-US" sz="2000" dirty="0" smtClean="0"/>
              <a:t>Account</a:t>
            </a:r>
            <a:endParaRPr lang="en-US" sz="2000" kern="1200" dirty="0"/>
          </a:p>
        </p:txBody>
      </p:sp>
      <p:sp>
        <p:nvSpPr>
          <p:cNvPr id="17" name="Freeform 16"/>
          <p:cNvSpPr/>
          <p:nvPr/>
        </p:nvSpPr>
        <p:spPr>
          <a:xfrm>
            <a:off x="8114746" y="2377363"/>
            <a:ext cx="1502926" cy="1212352"/>
          </a:xfrm>
          <a:custGeom>
            <a:avLst/>
            <a:gdLst>
              <a:gd name="connsiteX0" fmla="*/ 0 w 1188775"/>
              <a:gd name="connsiteY0" fmla="*/ 514215 h 1028430"/>
              <a:gd name="connsiteX1" fmla="*/ 293822 w 1188775"/>
              <a:gd name="connsiteY1" fmla="*/ 0 h 1028430"/>
              <a:gd name="connsiteX2" fmla="*/ 894953 w 1188775"/>
              <a:gd name="connsiteY2" fmla="*/ 0 h 1028430"/>
              <a:gd name="connsiteX3" fmla="*/ 1188775 w 1188775"/>
              <a:gd name="connsiteY3" fmla="*/ 514215 h 1028430"/>
              <a:gd name="connsiteX4" fmla="*/ 894953 w 1188775"/>
              <a:gd name="connsiteY4" fmla="*/ 1028430 h 1028430"/>
              <a:gd name="connsiteX5" fmla="*/ 293822 w 1188775"/>
              <a:gd name="connsiteY5" fmla="*/ 1028430 h 1028430"/>
              <a:gd name="connsiteX6" fmla="*/ 0 w 1188775"/>
              <a:gd name="connsiteY6" fmla="*/ 514215 h 1028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8775" h="1028430">
                <a:moveTo>
                  <a:pt x="0" y="514215"/>
                </a:moveTo>
                <a:lnTo>
                  <a:pt x="293822" y="0"/>
                </a:lnTo>
                <a:lnTo>
                  <a:pt x="894953" y="0"/>
                </a:lnTo>
                <a:lnTo>
                  <a:pt x="1188775" y="514215"/>
                </a:lnTo>
                <a:lnTo>
                  <a:pt x="894953" y="1028430"/>
                </a:lnTo>
                <a:lnTo>
                  <a:pt x="293822" y="1028430"/>
                </a:lnTo>
                <a:lnTo>
                  <a:pt x="0" y="514215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7620765"/>
              <a:satOff val="20223"/>
              <a:lumOff val="16273"/>
              <a:alphaOff val="0"/>
            </a:schemeClr>
          </a:fillRef>
          <a:effectRef idx="2">
            <a:schemeClr val="accent4">
              <a:hueOff val="-7620765"/>
              <a:satOff val="20223"/>
              <a:lumOff val="16273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6055" tIns="189483" rIns="216055" bIns="189483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kern="1200" smtClean="0"/>
              <a:t>NRI Account</a:t>
            </a:r>
            <a:endParaRPr lang="en-IN" sz="2000" kern="1200" dirty="0"/>
          </a:p>
        </p:txBody>
      </p:sp>
    </p:spTree>
    <p:extLst>
      <p:ext uri="{BB962C8B-B14F-4D97-AF65-F5344CB8AC3E}">
        <p14:creationId xmlns:p14="http://schemas.microsoft.com/office/powerpoint/2010/main" val="829533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 animBg="1"/>
      <p:bldP spid="8" grpId="0" uiExpand="1" build="p" animBg="1"/>
      <p:bldP spid="10" grpId="0" build="p" animBg="1"/>
      <p:bldP spid="12" grpId="0" build="p" animBg="1"/>
      <p:bldP spid="14" grpId="0" build="p" animBg="1"/>
      <p:bldP spid="16" grpId="0" build="p" animBg="1"/>
      <p:bldP spid="17" grpId="0" build="p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8B521-7150-0944-C87E-1147C5617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Account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4DDDB-CD2F-8053-38EE-B8F14224D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the name suggests, the savings accounts can be </a:t>
            </a:r>
            <a:r>
              <a:rPr lang="en-US" b="1" dirty="0">
                <a:solidFill>
                  <a:srgbClr val="C00000"/>
                </a:solidFill>
              </a:rPr>
              <a:t>opened by an individual or jointly by two people with an aim to save money. </a:t>
            </a:r>
          </a:p>
          <a:p>
            <a:r>
              <a:rPr lang="en-US" dirty="0"/>
              <a:t>The main benefit of opening a savings bank account is that the bank pays you interest for opening this type of account with them. </a:t>
            </a:r>
          </a:p>
          <a:p>
            <a:r>
              <a:rPr lang="en-US" dirty="0"/>
              <a:t>Given below are a few features of the Savings </a:t>
            </a:r>
            <a:r>
              <a:rPr lang="en-US" dirty="0" smtClean="0"/>
              <a:t>account -</a:t>
            </a:r>
            <a:endParaRPr lang="en-US" dirty="0"/>
          </a:p>
          <a:p>
            <a:pPr lvl="1"/>
            <a:r>
              <a:rPr lang="en-US" dirty="0"/>
              <a:t>There is </a:t>
            </a:r>
            <a:r>
              <a:rPr lang="en-US" b="1" dirty="0">
                <a:solidFill>
                  <a:srgbClr val="C00000"/>
                </a:solidFill>
              </a:rPr>
              <a:t>no limit to the number of times the account holder can deposit </a:t>
            </a:r>
            <a:r>
              <a:rPr lang="en-US" dirty="0"/>
              <a:t>money in this account but there is a </a:t>
            </a:r>
            <a:r>
              <a:rPr lang="en-US" b="1" dirty="0">
                <a:solidFill>
                  <a:srgbClr val="C00000"/>
                </a:solidFill>
              </a:rPr>
              <a:t>restriction on the number of times money can be withdrawn</a:t>
            </a:r>
            <a:r>
              <a:rPr lang="en-US" dirty="0"/>
              <a:t> from this account. </a:t>
            </a:r>
          </a:p>
          <a:p>
            <a:pPr lvl="1"/>
            <a:r>
              <a:rPr lang="en-US" dirty="0"/>
              <a:t>The rate of interest that an account holder get varies from </a:t>
            </a:r>
            <a:r>
              <a:rPr lang="en-US" b="1" dirty="0">
                <a:solidFill>
                  <a:srgbClr val="C00000"/>
                </a:solidFill>
              </a:rPr>
              <a:t>2% to 6% per </a:t>
            </a:r>
            <a:r>
              <a:rPr lang="en-US" b="1" dirty="0" smtClean="0">
                <a:solidFill>
                  <a:srgbClr val="C00000"/>
                </a:solidFill>
              </a:rPr>
              <a:t>annum.</a:t>
            </a:r>
            <a:endParaRPr lang="en-US" b="1" dirty="0">
              <a:solidFill>
                <a:srgbClr val="C00000"/>
              </a:solidFill>
            </a:endParaRPr>
          </a:p>
          <a:p>
            <a:pPr lvl="1"/>
            <a:r>
              <a:rPr lang="en-US" dirty="0" smtClean="0"/>
              <a:t>Some banks ask to </a:t>
            </a:r>
            <a:r>
              <a:rPr lang="en-US" b="1" dirty="0" smtClean="0">
                <a:solidFill>
                  <a:srgbClr val="C00000"/>
                </a:solidFill>
              </a:rPr>
              <a:t>maintain minimum balance </a:t>
            </a:r>
            <a:r>
              <a:rPr lang="en-US" dirty="0" smtClean="0"/>
              <a:t>in the </a:t>
            </a:r>
            <a:r>
              <a:rPr lang="en-US" dirty="0" err="1" smtClean="0"/>
              <a:t>accout</a:t>
            </a:r>
            <a:r>
              <a:rPr lang="en-US" dirty="0" smtClean="0"/>
              <a:t>.</a:t>
            </a:r>
            <a:endParaRPr lang="en-US" dirty="0"/>
          </a:p>
          <a:p>
            <a:pPr lvl="1"/>
            <a:r>
              <a:rPr lang="en-US" dirty="0"/>
              <a:t>The savings account holders </a:t>
            </a:r>
            <a:r>
              <a:rPr lang="en-US" b="1" dirty="0">
                <a:solidFill>
                  <a:srgbClr val="C00000"/>
                </a:solidFill>
              </a:rPr>
              <a:t>can get an </a:t>
            </a:r>
            <a:r>
              <a:rPr lang="en-US" b="1" dirty="0" smtClean="0">
                <a:solidFill>
                  <a:srgbClr val="C00000"/>
                </a:solidFill>
              </a:rPr>
              <a:t>Physical or Virtual ATM cum debit card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558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8B521-7150-0944-C87E-1147C5617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Account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4DDDB-CD2F-8053-38EE-B8F14224D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Savings bank account is further </a:t>
            </a:r>
            <a:r>
              <a:rPr lang="en-US" b="1" dirty="0">
                <a:solidFill>
                  <a:srgbClr val="C00000"/>
                </a:solidFill>
              </a:rPr>
              <a:t>divided into two </a:t>
            </a:r>
            <a:r>
              <a:rPr lang="en-US" b="1" dirty="0" smtClean="0">
                <a:solidFill>
                  <a:srgbClr val="C00000"/>
                </a:solidFill>
              </a:rPr>
              <a:t>types </a:t>
            </a:r>
            <a:r>
              <a:rPr lang="en-US" dirty="0" smtClean="0"/>
              <a:t>: </a:t>
            </a:r>
          </a:p>
          <a:p>
            <a:pPr lvl="2"/>
            <a:r>
              <a:rPr lang="en-US" dirty="0" smtClean="0"/>
              <a:t>Normal Saving Account</a:t>
            </a:r>
          </a:p>
          <a:p>
            <a:pPr lvl="2"/>
            <a:r>
              <a:rPr lang="en-US" dirty="0" smtClean="0"/>
              <a:t>Basic </a:t>
            </a:r>
            <a:r>
              <a:rPr lang="en-US" dirty="0"/>
              <a:t>Savings Bank Deposit Account (</a:t>
            </a:r>
            <a:r>
              <a:rPr lang="en-US" b="1" dirty="0">
                <a:solidFill>
                  <a:srgbClr val="C00000"/>
                </a:solidFill>
              </a:rPr>
              <a:t>BSBDA</a:t>
            </a:r>
            <a:r>
              <a:rPr lang="en-US" dirty="0"/>
              <a:t>)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savings bank account is mostly eligible for students, pensioners and working </a:t>
            </a:r>
            <a:r>
              <a:rPr lang="en-US" dirty="0" smtClean="0"/>
              <a:t>professionals etc.</a:t>
            </a:r>
            <a:endParaRPr lang="en-IN" dirty="0"/>
          </a:p>
        </p:txBody>
      </p:sp>
      <p:pic>
        <p:nvPicPr>
          <p:cNvPr id="1026" name="Picture 2" descr="Savings account | PP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9827" y="4398264"/>
            <a:ext cx="2740994" cy="2055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036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8B521-7150-0944-C87E-1147C5617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Account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4DDDB-CD2F-8053-38EE-B8F14224D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second type of bank account is the current bank account. These accounts are </a:t>
            </a:r>
            <a:r>
              <a:rPr lang="en-US" b="1" dirty="0">
                <a:solidFill>
                  <a:srgbClr val="C00000"/>
                </a:solidFill>
              </a:rPr>
              <a:t>not used for the purpose of savings.</a:t>
            </a:r>
          </a:p>
          <a:p>
            <a:r>
              <a:rPr lang="en-US" dirty="0"/>
              <a:t>Some important pointers related to the current bank account have been discussed below</a:t>
            </a:r>
          </a:p>
          <a:p>
            <a:pPr lvl="1"/>
            <a:r>
              <a:rPr lang="en-US" dirty="0"/>
              <a:t>This type of bank account is </a:t>
            </a:r>
            <a:r>
              <a:rPr lang="en-US" dirty="0" smtClean="0"/>
              <a:t>mostly </a:t>
            </a:r>
            <a:r>
              <a:rPr lang="en-US" b="1" dirty="0" smtClean="0">
                <a:solidFill>
                  <a:srgbClr val="C00000"/>
                </a:solidFill>
              </a:rPr>
              <a:t>opened by businessmen</a:t>
            </a:r>
            <a:r>
              <a:rPr lang="en-US" dirty="0" smtClean="0"/>
              <a:t>. </a:t>
            </a:r>
          </a:p>
          <a:p>
            <a:pPr lvl="2"/>
            <a:r>
              <a:rPr lang="en-US" dirty="0" smtClean="0"/>
              <a:t>Associations</a:t>
            </a:r>
            <a:r>
              <a:rPr lang="en-US" dirty="0"/>
              <a:t>, Institutions, Companies, Religious Institutions and other </a:t>
            </a:r>
            <a:r>
              <a:rPr lang="en-US" dirty="0" smtClean="0"/>
              <a:t>business-related </a:t>
            </a:r>
            <a:r>
              <a:rPr lang="en-US" dirty="0"/>
              <a:t>works, the current account can be </a:t>
            </a:r>
            <a:r>
              <a:rPr lang="en-US" dirty="0" smtClean="0"/>
              <a:t>opened.</a:t>
            </a:r>
            <a:endParaRPr lang="en-US" dirty="0"/>
          </a:p>
          <a:p>
            <a:pPr lvl="1"/>
            <a:r>
              <a:rPr lang="en-US" dirty="0"/>
              <a:t>There is </a:t>
            </a:r>
            <a:r>
              <a:rPr lang="en-US" b="1" dirty="0">
                <a:solidFill>
                  <a:srgbClr val="C00000"/>
                </a:solidFill>
              </a:rPr>
              <a:t>no fixed number of times that money can either be deposited or withdrawn </a:t>
            </a:r>
            <a:r>
              <a:rPr lang="en-US" dirty="0"/>
              <a:t>from such </a:t>
            </a:r>
            <a:r>
              <a:rPr lang="en-US" dirty="0" smtClean="0"/>
              <a:t>accounts.</a:t>
            </a:r>
            <a:endParaRPr lang="en-US" dirty="0"/>
          </a:p>
          <a:p>
            <a:pPr lvl="1"/>
            <a:r>
              <a:rPr lang="en-US" dirty="0" smtClean="0"/>
              <a:t>This </a:t>
            </a:r>
            <a:r>
              <a:rPr lang="en-US" dirty="0"/>
              <a:t>type of bank account </a:t>
            </a:r>
            <a:r>
              <a:rPr lang="en-US" b="1" dirty="0">
                <a:solidFill>
                  <a:srgbClr val="C00000"/>
                </a:solidFill>
              </a:rPr>
              <a:t>does not have any fixed </a:t>
            </a:r>
            <a:r>
              <a:rPr lang="en-US" b="1" dirty="0" smtClean="0">
                <a:solidFill>
                  <a:srgbClr val="C00000"/>
                </a:solidFill>
              </a:rPr>
              <a:t>maturity.</a:t>
            </a:r>
            <a:endParaRPr lang="en-US" b="1" dirty="0">
              <a:solidFill>
                <a:srgbClr val="C00000"/>
              </a:solidFill>
            </a:endParaRP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Overdraft facility is available </a:t>
            </a:r>
            <a:r>
              <a:rPr lang="en-US" dirty="0"/>
              <a:t>for current bank </a:t>
            </a:r>
            <a:r>
              <a:rPr lang="en-US" dirty="0" smtClean="0"/>
              <a:t>accounts.</a:t>
            </a:r>
            <a:endParaRPr lang="en-US" dirty="0"/>
          </a:p>
          <a:p>
            <a:pPr lvl="1"/>
            <a:r>
              <a:rPr lang="en-US" dirty="0"/>
              <a:t>There is </a:t>
            </a:r>
            <a:r>
              <a:rPr lang="en-US" b="1" dirty="0">
                <a:solidFill>
                  <a:srgbClr val="C00000"/>
                </a:solidFill>
              </a:rPr>
              <a:t>no interest that is paid </a:t>
            </a:r>
            <a:r>
              <a:rPr lang="en-US" dirty="0"/>
              <a:t>on such </a:t>
            </a:r>
            <a:r>
              <a:rPr lang="en-US" dirty="0" smtClean="0"/>
              <a:t>accounts, generally.</a:t>
            </a:r>
            <a:endParaRPr lang="en-IN" dirty="0"/>
          </a:p>
        </p:txBody>
      </p:sp>
      <p:pic>
        <p:nvPicPr>
          <p:cNvPr id="2050" name="Picture 2" descr="Current Account - Secunderabad ban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505" y="4415585"/>
            <a:ext cx="2444496" cy="1279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714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8B521-7150-0944-C87E-1147C5617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Recurring Deposit </a:t>
            </a:r>
            <a:r>
              <a:rPr lang="en-US" dirty="0" smtClean="0"/>
              <a:t>Account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4DDDB-CD2F-8053-38EE-B8F14224D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Recurring Deposit account or RD account is a form of account wherein the account holder </a:t>
            </a:r>
            <a:r>
              <a:rPr lang="en-US" b="1" dirty="0">
                <a:solidFill>
                  <a:srgbClr val="C00000"/>
                </a:solidFill>
              </a:rPr>
              <a:t>needs to deposit a fixed amount every month </a:t>
            </a:r>
            <a:r>
              <a:rPr lang="en-US" dirty="0"/>
              <a:t>until it reaches the fixed maturity date. </a:t>
            </a:r>
          </a:p>
          <a:p>
            <a:r>
              <a:rPr lang="en-US" dirty="0"/>
              <a:t>The features of the Recurring deposit account have been discussed below:</a:t>
            </a:r>
          </a:p>
          <a:p>
            <a:pPr lvl="1"/>
            <a:r>
              <a:rPr lang="en-US" dirty="0"/>
              <a:t>Any individual or an Institution can open a recurring deposit account either </a:t>
            </a:r>
            <a:r>
              <a:rPr lang="en-US" b="1" dirty="0">
                <a:solidFill>
                  <a:srgbClr val="C00000"/>
                </a:solidFill>
              </a:rPr>
              <a:t>separately or </a:t>
            </a:r>
            <a:r>
              <a:rPr lang="en-US" b="1" dirty="0" smtClean="0">
                <a:solidFill>
                  <a:srgbClr val="C00000"/>
                </a:solidFill>
              </a:rPr>
              <a:t>jointly.</a:t>
            </a:r>
            <a:endParaRPr lang="en-US" b="1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Periodic or monthly instalments that need to be added </a:t>
            </a:r>
            <a:r>
              <a:rPr lang="en-US" b="1" dirty="0">
                <a:solidFill>
                  <a:srgbClr val="C00000"/>
                </a:solidFill>
              </a:rPr>
              <a:t>can be as low as Rs.50/- or may vary from bank to </a:t>
            </a:r>
            <a:r>
              <a:rPr lang="en-US" b="1" dirty="0" smtClean="0">
                <a:solidFill>
                  <a:srgbClr val="C00000"/>
                </a:solidFill>
              </a:rPr>
              <a:t>bank.</a:t>
            </a:r>
            <a:endParaRPr lang="en-US" b="1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The range of months for which an RD account can be opened varies from </a:t>
            </a:r>
            <a:r>
              <a:rPr lang="en-US" b="1" dirty="0">
                <a:solidFill>
                  <a:srgbClr val="C00000"/>
                </a:solidFill>
              </a:rPr>
              <a:t>6 months to 120 </a:t>
            </a:r>
            <a:r>
              <a:rPr lang="en-US" b="1" dirty="0" smtClean="0">
                <a:solidFill>
                  <a:srgbClr val="C00000"/>
                </a:solidFill>
              </a:rPr>
              <a:t>months.</a:t>
            </a:r>
            <a:endParaRPr lang="en-US" b="1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interest rate varies depending upon the bank </a:t>
            </a:r>
            <a:r>
              <a:rPr lang="en-US" dirty="0"/>
              <a:t>you choose to open an account </a:t>
            </a:r>
            <a:r>
              <a:rPr lang="en-US" dirty="0" smtClean="0"/>
              <a:t>with.</a:t>
            </a:r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Nomination facility </a:t>
            </a:r>
            <a:r>
              <a:rPr lang="en-US" dirty="0"/>
              <a:t>is also available for </a:t>
            </a:r>
            <a:r>
              <a:rPr lang="en-US" dirty="0" smtClean="0"/>
              <a:t>RD accounts.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97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8B521-7150-0944-C87E-1147C5617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Recurring Deposit </a:t>
            </a:r>
            <a:r>
              <a:rPr lang="en-US" dirty="0" smtClean="0"/>
              <a:t>Account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4DDDB-CD2F-8053-38EE-B8F14224D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b="1" dirty="0">
                <a:solidFill>
                  <a:srgbClr val="C00000"/>
                </a:solidFill>
              </a:rPr>
              <a:t>Passbook is issued </a:t>
            </a:r>
            <a:r>
              <a:rPr lang="en-US" dirty="0"/>
              <a:t>for this type of bank </a:t>
            </a:r>
            <a:r>
              <a:rPr lang="en-US" dirty="0" smtClean="0"/>
              <a:t>account.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</a:rPr>
              <a:t>Premature withdrawal of the amount is permitted</a:t>
            </a:r>
            <a:r>
              <a:rPr lang="en-US" dirty="0" smtClean="0"/>
              <a:t>, provided a sum of amount is deducted as penalty.</a:t>
            </a:r>
            <a:endParaRPr lang="en-IN" dirty="0"/>
          </a:p>
        </p:txBody>
      </p:sp>
      <p:pic>
        <p:nvPicPr>
          <p:cNvPr id="3074" name="Picture 2" descr="Reccuring Deposit- Shrejal Shakti Nidhi Limite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06564"/>
            <a:ext cx="3709543" cy="2347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9954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8B521-7150-0944-C87E-1147C5617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Deposit Account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4DDDB-CD2F-8053-38EE-B8F14224D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FD or a fixed deposit </a:t>
            </a:r>
            <a:r>
              <a:rPr lang="en-US" dirty="0"/>
              <a:t>account is another type of bank account that can be opened in any Public or Private sector bank.</a:t>
            </a:r>
          </a:p>
          <a:p>
            <a:r>
              <a:rPr lang="en-US" dirty="0"/>
              <a:t>The list of important things that need to be known with respect to the fixed deposit account has been mentioned </a:t>
            </a:r>
            <a:r>
              <a:rPr lang="en-US" dirty="0" smtClean="0"/>
              <a:t>below</a:t>
            </a:r>
            <a:endParaRPr lang="en-US" dirty="0"/>
          </a:p>
          <a:p>
            <a:pPr lvl="1"/>
            <a:r>
              <a:rPr lang="en-US" dirty="0" smtClean="0"/>
              <a:t>Under </a:t>
            </a:r>
            <a:r>
              <a:rPr lang="en-US" dirty="0"/>
              <a:t>this type of account, the account holder needs to deposit </a:t>
            </a:r>
            <a:r>
              <a:rPr lang="en-US" b="1" dirty="0">
                <a:solidFill>
                  <a:srgbClr val="C00000"/>
                </a:solidFill>
              </a:rPr>
              <a:t>a fixed amount of sum </a:t>
            </a:r>
            <a:r>
              <a:rPr lang="en-US" dirty="0"/>
              <a:t>(as per their wish) for a fixed time </a:t>
            </a:r>
            <a:r>
              <a:rPr lang="en-US" dirty="0" smtClean="0"/>
              <a:t>period.</a:t>
            </a:r>
            <a:endParaRPr lang="en-US" dirty="0"/>
          </a:p>
          <a:p>
            <a:pPr lvl="1"/>
            <a:r>
              <a:rPr lang="en-US" dirty="0"/>
              <a:t>The amount deposited in FD account can only be </a:t>
            </a:r>
            <a:r>
              <a:rPr lang="en-US" b="1" dirty="0">
                <a:solidFill>
                  <a:srgbClr val="C00000"/>
                </a:solidFill>
              </a:rPr>
              <a:t>withdrawn all at once and not in </a:t>
            </a:r>
            <a:r>
              <a:rPr lang="en-US" b="1" dirty="0" smtClean="0">
                <a:solidFill>
                  <a:srgbClr val="C00000"/>
                </a:solidFill>
              </a:rPr>
              <a:t>instalments.</a:t>
            </a:r>
            <a:endParaRPr lang="en-US" b="1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Banks </a:t>
            </a:r>
            <a:r>
              <a:rPr lang="en-US" b="1" dirty="0">
                <a:solidFill>
                  <a:srgbClr val="C00000"/>
                </a:solidFill>
              </a:rPr>
              <a:t>pay interest</a:t>
            </a:r>
            <a:r>
              <a:rPr lang="en-US" dirty="0"/>
              <a:t> on the fixed deposit </a:t>
            </a:r>
            <a:r>
              <a:rPr lang="en-US" dirty="0" smtClean="0"/>
              <a:t>account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FD can be booked for </a:t>
            </a:r>
            <a:r>
              <a:rPr lang="en-US" b="1" dirty="0" smtClean="0">
                <a:solidFill>
                  <a:srgbClr val="C00000"/>
                </a:solidFill>
              </a:rPr>
              <a:t>7 days to 120 months.</a:t>
            </a:r>
            <a:endParaRPr lang="en-US" b="1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rate of interest depends </a:t>
            </a:r>
            <a:r>
              <a:rPr lang="en-US" dirty="0"/>
              <a:t>upon the amount you deposit and for the time duration of the </a:t>
            </a:r>
            <a:r>
              <a:rPr lang="en-US" dirty="0" smtClean="0"/>
              <a:t>FD.</a:t>
            </a:r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Full repayment </a:t>
            </a:r>
            <a:r>
              <a:rPr lang="en-US" dirty="0"/>
              <a:t>of the amount is available </a:t>
            </a:r>
            <a:r>
              <a:rPr lang="en-US" b="1" dirty="0">
                <a:solidFill>
                  <a:srgbClr val="C00000"/>
                </a:solidFill>
              </a:rPr>
              <a:t>before the maturity </a:t>
            </a:r>
            <a:r>
              <a:rPr lang="en-US" dirty="0"/>
              <a:t>date of </a:t>
            </a:r>
            <a:r>
              <a:rPr lang="en-US" dirty="0" smtClean="0"/>
              <a:t>FD with some penalty.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960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8B521-7150-0944-C87E-1147C5617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Salary </a:t>
            </a:r>
            <a:r>
              <a:rPr lang="en-US" dirty="0" smtClean="0"/>
              <a:t>Account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4DDDB-CD2F-8053-38EE-B8F14224D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salary account is a </a:t>
            </a:r>
            <a:r>
              <a:rPr lang="en-US" b="1" dirty="0">
                <a:solidFill>
                  <a:srgbClr val="C00000"/>
                </a:solidFill>
              </a:rPr>
              <a:t>type of savings bank account </a:t>
            </a:r>
            <a:r>
              <a:rPr lang="en-US" dirty="0"/>
              <a:t>in which an </a:t>
            </a:r>
            <a:r>
              <a:rPr lang="en-US" b="1" dirty="0">
                <a:solidFill>
                  <a:srgbClr val="C00000"/>
                </a:solidFill>
              </a:rPr>
              <a:t>employee receives their salary from the employer every month.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Major </a:t>
            </a:r>
            <a:r>
              <a:rPr lang="en-US" dirty="0"/>
              <a:t>companies and corporations have their </a:t>
            </a:r>
            <a:r>
              <a:rPr lang="en-US" b="1" dirty="0">
                <a:solidFill>
                  <a:srgbClr val="C00000"/>
                </a:solidFill>
              </a:rPr>
              <a:t>tie-ups with specific banks </a:t>
            </a:r>
            <a:r>
              <a:rPr lang="en-US" dirty="0"/>
              <a:t>where they open the salary account of all of their employees.</a:t>
            </a:r>
          </a:p>
          <a:p>
            <a:r>
              <a:rPr lang="en-US" dirty="0"/>
              <a:t>As salary accounts are </a:t>
            </a:r>
            <a:r>
              <a:rPr lang="en-US" b="1" dirty="0">
                <a:solidFill>
                  <a:srgbClr val="C00000"/>
                </a:solidFill>
              </a:rPr>
              <a:t>interest-bearing accounts</a:t>
            </a:r>
            <a:r>
              <a:rPr lang="en-US" dirty="0"/>
              <a:t>, the account holder earns interest on the balance maintained in the account.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b="1" dirty="0">
                <a:solidFill>
                  <a:srgbClr val="C00000"/>
                </a:solidFill>
              </a:rPr>
              <a:t>interest is generally calculated daily and deposited into the account quarterly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</a:p>
          <a:p>
            <a:r>
              <a:rPr lang="en-US" dirty="0"/>
              <a:t>Features and Benefits of a Salary Account</a:t>
            </a:r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600228" y="4974599"/>
            <a:ext cx="3284194" cy="434009"/>
            <a:chOff x="2260235" y="4001802"/>
            <a:chExt cx="3284194" cy="434009"/>
          </a:xfrm>
        </p:grpSpPr>
        <p:sp>
          <p:nvSpPr>
            <p:cNvPr id="5" name="Oval 4"/>
            <p:cNvSpPr/>
            <p:nvPr/>
          </p:nvSpPr>
          <p:spPr>
            <a:xfrm>
              <a:off x="2260235" y="4001802"/>
              <a:ext cx="434009" cy="43400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6" name="Freeform 5"/>
            <p:cNvSpPr/>
            <p:nvPr/>
          </p:nvSpPr>
          <p:spPr>
            <a:xfrm>
              <a:off x="2477239" y="4001802"/>
              <a:ext cx="3067190" cy="434009"/>
            </a:xfrm>
            <a:custGeom>
              <a:avLst/>
              <a:gdLst>
                <a:gd name="connsiteX0" fmla="*/ 0 w 2315600"/>
                <a:gd name="connsiteY0" fmla="*/ 0 h 434009"/>
                <a:gd name="connsiteX1" fmla="*/ 2315600 w 2315600"/>
                <a:gd name="connsiteY1" fmla="*/ 0 h 434009"/>
                <a:gd name="connsiteX2" fmla="*/ 2315600 w 2315600"/>
                <a:gd name="connsiteY2" fmla="*/ 434009 h 434009"/>
                <a:gd name="connsiteX3" fmla="*/ 0 w 2315600"/>
                <a:gd name="connsiteY3" fmla="*/ 434009 h 434009"/>
                <a:gd name="connsiteX4" fmla="*/ 0 w 2315600"/>
                <a:gd name="connsiteY4" fmla="*/ 0 h 434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5600" h="434009">
                  <a:moveTo>
                    <a:pt x="0" y="0"/>
                  </a:moveTo>
                  <a:lnTo>
                    <a:pt x="2315600" y="0"/>
                  </a:lnTo>
                  <a:lnTo>
                    <a:pt x="2315600" y="434009"/>
                  </a:lnTo>
                  <a:lnTo>
                    <a:pt x="0" y="43400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0480" rIns="0" bIns="30480" numCol="1" spcCol="1270" anchor="ctr" anchorCtr="0">
              <a:noAutofit/>
            </a:bodyPr>
            <a:lstStyle/>
            <a:p>
              <a:pPr lvl="0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600" dirty="0"/>
                <a:t>Zero Minimum Balance</a:t>
              </a:r>
              <a:endParaRPr lang="en-US" sz="2600" b="0" kern="1200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00228" y="5408608"/>
            <a:ext cx="5949862" cy="434009"/>
            <a:chOff x="2260235" y="4435811"/>
            <a:chExt cx="5949862" cy="434009"/>
          </a:xfrm>
        </p:grpSpPr>
        <p:sp>
          <p:nvSpPr>
            <p:cNvPr id="8" name="Oval 7"/>
            <p:cNvSpPr/>
            <p:nvPr/>
          </p:nvSpPr>
          <p:spPr>
            <a:xfrm>
              <a:off x="2260235" y="4435811"/>
              <a:ext cx="434009" cy="43400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9" name="Freeform 8"/>
            <p:cNvSpPr/>
            <p:nvPr/>
          </p:nvSpPr>
          <p:spPr>
            <a:xfrm>
              <a:off x="2477238" y="4435811"/>
              <a:ext cx="5732859" cy="434009"/>
            </a:xfrm>
            <a:custGeom>
              <a:avLst/>
              <a:gdLst>
                <a:gd name="connsiteX0" fmla="*/ 0 w 2315600"/>
                <a:gd name="connsiteY0" fmla="*/ 0 h 434009"/>
                <a:gd name="connsiteX1" fmla="*/ 2315600 w 2315600"/>
                <a:gd name="connsiteY1" fmla="*/ 0 h 434009"/>
                <a:gd name="connsiteX2" fmla="*/ 2315600 w 2315600"/>
                <a:gd name="connsiteY2" fmla="*/ 434009 h 434009"/>
                <a:gd name="connsiteX3" fmla="*/ 0 w 2315600"/>
                <a:gd name="connsiteY3" fmla="*/ 434009 h 434009"/>
                <a:gd name="connsiteX4" fmla="*/ 0 w 2315600"/>
                <a:gd name="connsiteY4" fmla="*/ 0 h 434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5600" h="434009">
                  <a:moveTo>
                    <a:pt x="0" y="0"/>
                  </a:moveTo>
                  <a:lnTo>
                    <a:pt x="2315600" y="0"/>
                  </a:lnTo>
                  <a:lnTo>
                    <a:pt x="2315600" y="434009"/>
                  </a:lnTo>
                  <a:lnTo>
                    <a:pt x="0" y="43400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0480" rIns="0" bIns="30480" numCol="1" spcCol="1270" anchor="ctr" anchorCtr="0">
              <a:noAutofit/>
            </a:bodyPr>
            <a:lstStyle/>
            <a:p>
              <a:pPr lvl="0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600" dirty="0"/>
                <a:t>Online Fund Transfers and Phone Banking</a:t>
              </a:r>
              <a:endParaRPr lang="en-US" sz="2600" b="0" kern="1200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00228" y="5842618"/>
            <a:ext cx="6248440" cy="434009"/>
            <a:chOff x="2260235" y="4869821"/>
            <a:chExt cx="6248440" cy="434009"/>
          </a:xfrm>
        </p:grpSpPr>
        <p:sp>
          <p:nvSpPr>
            <p:cNvPr id="11" name="Oval 10"/>
            <p:cNvSpPr/>
            <p:nvPr/>
          </p:nvSpPr>
          <p:spPr>
            <a:xfrm>
              <a:off x="2260235" y="4869821"/>
              <a:ext cx="434009" cy="43400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2477238" y="4869821"/>
              <a:ext cx="6031437" cy="434009"/>
            </a:xfrm>
            <a:custGeom>
              <a:avLst/>
              <a:gdLst>
                <a:gd name="connsiteX0" fmla="*/ 0 w 2315600"/>
                <a:gd name="connsiteY0" fmla="*/ 0 h 434009"/>
                <a:gd name="connsiteX1" fmla="*/ 2315600 w 2315600"/>
                <a:gd name="connsiteY1" fmla="*/ 0 h 434009"/>
                <a:gd name="connsiteX2" fmla="*/ 2315600 w 2315600"/>
                <a:gd name="connsiteY2" fmla="*/ 434009 h 434009"/>
                <a:gd name="connsiteX3" fmla="*/ 0 w 2315600"/>
                <a:gd name="connsiteY3" fmla="*/ 434009 h 434009"/>
                <a:gd name="connsiteX4" fmla="*/ 0 w 2315600"/>
                <a:gd name="connsiteY4" fmla="*/ 0 h 434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5600" h="434009">
                  <a:moveTo>
                    <a:pt x="0" y="0"/>
                  </a:moveTo>
                  <a:lnTo>
                    <a:pt x="2315600" y="0"/>
                  </a:lnTo>
                  <a:lnTo>
                    <a:pt x="2315600" y="434009"/>
                  </a:lnTo>
                  <a:lnTo>
                    <a:pt x="0" y="43400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0480" rIns="0" bIns="30480" numCol="1" spcCol="1270" anchor="ctr" anchorCtr="0">
              <a:noAutofit/>
            </a:bodyPr>
            <a:lstStyle/>
            <a:p>
              <a:pPr lvl="0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600" dirty="0"/>
                <a:t>Debit Card and Personalized </a:t>
              </a:r>
              <a:r>
                <a:rPr lang="en-US" sz="2600" dirty="0" err="1"/>
                <a:t>Cheque</a:t>
              </a:r>
              <a:r>
                <a:rPr lang="en-US" sz="2600" dirty="0"/>
                <a:t> Book</a:t>
              </a:r>
              <a:endParaRPr lang="en-US" sz="2600" b="0" kern="1200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7282060" y="4974599"/>
            <a:ext cx="3602816" cy="434009"/>
            <a:chOff x="2260235" y="5303831"/>
            <a:chExt cx="3602816" cy="434009"/>
          </a:xfrm>
        </p:grpSpPr>
        <p:sp>
          <p:nvSpPr>
            <p:cNvPr id="14" name="Oval 13"/>
            <p:cNvSpPr/>
            <p:nvPr/>
          </p:nvSpPr>
          <p:spPr>
            <a:xfrm>
              <a:off x="2260235" y="5303831"/>
              <a:ext cx="434009" cy="43400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2477238" y="5303831"/>
              <a:ext cx="3385813" cy="434009"/>
            </a:xfrm>
            <a:custGeom>
              <a:avLst/>
              <a:gdLst>
                <a:gd name="connsiteX0" fmla="*/ 0 w 2315600"/>
                <a:gd name="connsiteY0" fmla="*/ 0 h 434009"/>
                <a:gd name="connsiteX1" fmla="*/ 2315600 w 2315600"/>
                <a:gd name="connsiteY1" fmla="*/ 0 h 434009"/>
                <a:gd name="connsiteX2" fmla="*/ 2315600 w 2315600"/>
                <a:gd name="connsiteY2" fmla="*/ 434009 h 434009"/>
                <a:gd name="connsiteX3" fmla="*/ 0 w 2315600"/>
                <a:gd name="connsiteY3" fmla="*/ 434009 h 434009"/>
                <a:gd name="connsiteX4" fmla="*/ 0 w 2315600"/>
                <a:gd name="connsiteY4" fmla="*/ 0 h 434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5600" h="434009">
                  <a:moveTo>
                    <a:pt x="0" y="0"/>
                  </a:moveTo>
                  <a:lnTo>
                    <a:pt x="2315600" y="0"/>
                  </a:lnTo>
                  <a:lnTo>
                    <a:pt x="2315600" y="434009"/>
                  </a:lnTo>
                  <a:lnTo>
                    <a:pt x="0" y="43400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0480" rIns="0" bIns="30480" numCol="1" spcCol="1270" anchor="ctr" anchorCtr="0">
              <a:noAutofit/>
            </a:bodyPr>
            <a:lstStyle/>
            <a:p>
              <a:pPr lvl="0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600" dirty="0"/>
                <a:t>Easy Access to Loans</a:t>
              </a:r>
              <a:endParaRPr lang="en-US" sz="2600" b="0" kern="12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282060" y="5408608"/>
            <a:ext cx="3602816" cy="434009"/>
            <a:chOff x="2260235" y="5737840"/>
            <a:chExt cx="3602816" cy="434009"/>
          </a:xfrm>
        </p:grpSpPr>
        <p:sp>
          <p:nvSpPr>
            <p:cNvPr id="17" name="Oval 16"/>
            <p:cNvSpPr/>
            <p:nvPr/>
          </p:nvSpPr>
          <p:spPr>
            <a:xfrm>
              <a:off x="2260235" y="5737840"/>
              <a:ext cx="434009" cy="43400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2477239" y="5737840"/>
              <a:ext cx="3385812" cy="434009"/>
            </a:xfrm>
            <a:custGeom>
              <a:avLst/>
              <a:gdLst>
                <a:gd name="connsiteX0" fmla="*/ 0 w 2315600"/>
                <a:gd name="connsiteY0" fmla="*/ 0 h 434009"/>
                <a:gd name="connsiteX1" fmla="*/ 2315600 w 2315600"/>
                <a:gd name="connsiteY1" fmla="*/ 0 h 434009"/>
                <a:gd name="connsiteX2" fmla="*/ 2315600 w 2315600"/>
                <a:gd name="connsiteY2" fmla="*/ 434009 h 434009"/>
                <a:gd name="connsiteX3" fmla="*/ 0 w 2315600"/>
                <a:gd name="connsiteY3" fmla="*/ 434009 h 434009"/>
                <a:gd name="connsiteX4" fmla="*/ 0 w 2315600"/>
                <a:gd name="connsiteY4" fmla="*/ 0 h 434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5600" h="434009">
                  <a:moveTo>
                    <a:pt x="0" y="0"/>
                  </a:moveTo>
                  <a:lnTo>
                    <a:pt x="2315600" y="0"/>
                  </a:lnTo>
                  <a:lnTo>
                    <a:pt x="2315600" y="434009"/>
                  </a:lnTo>
                  <a:lnTo>
                    <a:pt x="0" y="43400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0480" rIns="0" bIns="30480" numCol="1" spcCol="1270" anchor="ctr" anchorCtr="0">
              <a:noAutofit/>
            </a:bodyPr>
            <a:lstStyle/>
            <a:p>
              <a:pPr lvl="0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600" dirty="0"/>
                <a:t>Investment Services</a:t>
              </a:r>
              <a:endParaRPr lang="en-US" sz="2600" b="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1171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8B521-7150-0944-C87E-1147C5617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NRI Account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4DDDB-CD2F-8053-38EE-B8F14224D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fulfil the bank requirements of a </a:t>
            </a:r>
            <a:r>
              <a:rPr lang="en-US" b="1" dirty="0">
                <a:solidFill>
                  <a:srgbClr val="C00000"/>
                </a:solidFill>
              </a:rPr>
              <a:t>Non-Residential Indian or a Person of India Origin</a:t>
            </a:r>
            <a:r>
              <a:rPr lang="en-US" dirty="0"/>
              <a:t>, the option of NRI account is available.</a:t>
            </a:r>
          </a:p>
          <a:p>
            <a:r>
              <a:rPr lang="en-US" dirty="0"/>
              <a:t>The NRI Accounts are further divided into three types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NRO </a:t>
            </a:r>
            <a:r>
              <a:rPr lang="en-US" b="1" dirty="0" smtClean="0">
                <a:solidFill>
                  <a:srgbClr val="C00000"/>
                </a:solidFill>
              </a:rPr>
              <a:t>(Non-Resident </a:t>
            </a:r>
            <a:r>
              <a:rPr lang="en-US" b="1" dirty="0">
                <a:solidFill>
                  <a:srgbClr val="C00000"/>
                </a:solidFill>
              </a:rPr>
              <a:t>Ordinary Rupees) Account</a:t>
            </a:r>
            <a:r>
              <a:rPr lang="en-US" dirty="0"/>
              <a:t> – This shall allow you to transfer your foreign earnings easily to India. </a:t>
            </a:r>
            <a:endParaRPr lang="en-US" dirty="0" smtClean="0"/>
          </a:p>
          <a:p>
            <a:pPr lvl="2"/>
            <a:r>
              <a:rPr lang="en-US" dirty="0" smtClean="0"/>
              <a:t>It </a:t>
            </a:r>
            <a:r>
              <a:rPr lang="en-US" dirty="0"/>
              <a:t>can be opened in the form of an FD/RD/Current/Savings account. </a:t>
            </a:r>
            <a:endParaRPr lang="en-US" dirty="0" smtClean="0"/>
          </a:p>
          <a:p>
            <a:pPr lvl="2"/>
            <a:r>
              <a:rPr lang="en-US" dirty="0" smtClean="0"/>
              <a:t>These </a:t>
            </a:r>
            <a:r>
              <a:rPr lang="en-US" dirty="0"/>
              <a:t>accounts can be opened by an individual or jointly opened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NRE </a:t>
            </a:r>
            <a:r>
              <a:rPr lang="en-US" b="1" dirty="0" smtClean="0">
                <a:solidFill>
                  <a:srgbClr val="C00000"/>
                </a:solidFill>
              </a:rPr>
              <a:t>(Non-Resident </a:t>
            </a:r>
            <a:r>
              <a:rPr lang="en-US" b="1" dirty="0">
                <a:solidFill>
                  <a:srgbClr val="C00000"/>
                </a:solidFill>
              </a:rPr>
              <a:t>External Rupees) Account</a:t>
            </a:r>
            <a:r>
              <a:rPr lang="en-US" dirty="0"/>
              <a:t> – When an Indian citizen moves abroad to work there, his/her account needs to be converted into an NRE account. </a:t>
            </a:r>
            <a:endParaRPr lang="en-US" dirty="0" smtClean="0"/>
          </a:p>
          <a:p>
            <a:pPr lvl="2"/>
            <a:r>
              <a:rPr lang="en-US" dirty="0" smtClean="0"/>
              <a:t>This </a:t>
            </a:r>
            <a:r>
              <a:rPr lang="en-US" dirty="0"/>
              <a:t>account can be jointly opened with an Indian resident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FCNR </a:t>
            </a:r>
            <a:r>
              <a:rPr lang="en-US" b="1" dirty="0" smtClean="0">
                <a:solidFill>
                  <a:srgbClr val="C00000"/>
                </a:solidFill>
              </a:rPr>
              <a:t>(Foreign </a:t>
            </a:r>
            <a:r>
              <a:rPr lang="en-US" b="1" dirty="0">
                <a:solidFill>
                  <a:srgbClr val="C00000"/>
                </a:solidFill>
              </a:rPr>
              <a:t>Currency </a:t>
            </a:r>
            <a:r>
              <a:rPr lang="en-US" b="1" dirty="0" smtClean="0">
                <a:solidFill>
                  <a:srgbClr val="C00000"/>
                </a:solidFill>
              </a:rPr>
              <a:t>Non-Resident) </a:t>
            </a:r>
            <a:r>
              <a:rPr lang="en-US" b="1" dirty="0">
                <a:solidFill>
                  <a:srgbClr val="C00000"/>
                </a:solidFill>
              </a:rPr>
              <a:t>Account</a:t>
            </a:r>
            <a:r>
              <a:rPr lang="en-US" dirty="0"/>
              <a:t> – This type of account can be opened to manage an international currency. </a:t>
            </a:r>
            <a:endParaRPr lang="en-US" dirty="0" smtClean="0"/>
          </a:p>
          <a:p>
            <a:pPr lvl="2"/>
            <a:r>
              <a:rPr lang="en-US" dirty="0" smtClean="0"/>
              <a:t>It </a:t>
            </a:r>
            <a:r>
              <a:rPr lang="en-US" dirty="0"/>
              <a:t>can only be in the form of Term deposit and can be withdrawn after the maturity period only.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4379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Cheque</a:t>
            </a:r>
            <a:r>
              <a:rPr lang="en-US" dirty="0" smtClean="0"/>
              <a:t> &amp; Demand Draft (DD)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626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F9746B7-0758-6B09-C2BB-BE960A300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Cheque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F483F-6550-934D-EB29-C33153D24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err="1" smtClean="0"/>
              <a:t>Cheque</a:t>
            </a:r>
            <a:r>
              <a:rPr lang="en-US" dirty="0" smtClean="0"/>
              <a:t> is  written instrument that instructs a bank to pay a specific amount of money to certain person (payee) from your account.</a:t>
            </a:r>
          </a:p>
          <a:p>
            <a:r>
              <a:rPr lang="en-US" dirty="0" smtClean="0"/>
              <a:t>Parties Involved in a </a:t>
            </a:r>
            <a:r>
              <a:rPr lang="en-US" dirty="0" err="1" smtClean="0"/>
              <a:t>cheque</a:t>
            </a:r>
            <a:r>
              <a:rPr lang="en-US" dirty="0" smtClean="0"/>
              <a:t> transaction </a:t>
            </a:r>
            <a:endParaRPr lang="en-US" dirty="0"/>
          </a:p>
          <a:p>
            <a:endParaRPr lang="en-IN" dirty="0"/>
          </a:p>
          <a:p>
            <a:pPr lvl="1"/>
            <a:endParaRPr lang="en-IN" dirty="0"/>
          </a:p>
        </p:txBody>
      </p:sp>
      <p:pic>
        <p:nvPicPr>
          <p:cNvPr id="1026" name="Picture 2" descr="Cheque Holding Stock Illustrations – 417 Cheque Holding Stock  Illustrations, Vectors &amp; Clipart - Dreamstim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19" y="2546261"/>
            <a:ext cx="1562510" cy="2324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Saharai Benefit Fund Nidhi Limit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400" b="92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345" y="2713706"/>
            <a:ext cx="2546218" cy="1909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ural Indian Money Stock Illustrations – 41 Rural Indian Money Stock  Illustrations, Vectors &amp; Clipart - Dreamstim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2153" y="2972481"/>
            <a:ext cx="1876220" cy="187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3511" y="4942856"/>
            <a:ext cx="2274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Drawer / Payer</a:t>
            </a:r>
            <a:endParaRPr lang="en-IN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131180" y="5466076"/>
            <a:ext cx="34753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(Who writes and signs the</a:t>
            </a:r>
            <a:r>
              <a:rPr lang="en-IN" sz="2800" b="1" dirty="0" smtClean="0">
                <a:solidFill>
                  <a:srgbClr val="C00000"/>
                </a:solidFill>
              </a:rPr>
              <a:t> cheque)</a:t>
            </a:r>
            <a:endParaRPr lang="en-US" sz="2800" b="1" dirty="0" smtClean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39931" y="4929648"/>
            <a:ext cx="1241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Drawee</a:t>
            </a:r>
            <a:endParaRPr lang="en-IN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9220979" y="5080815"/>
            <a:ext cx="2258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Payee / Bearer</a:t>
            </a:r>
            <a:endParaRPr lang="en-IN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8716663" y="5604035"/>
            <a:ext cx="34753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(To whom the payment is made</a:t>
            </a:r>
            <a:r>
              <a:rPr lang="en-IN" sz="2800" b="1" dirty="0" smtClean="0">
                <a:solidFill>
                  <a:srgbClr val="C00000"/>
                </a:solidFill>
              </a:rPr>
              <a:t>)</a:t>
            </a:r>
            <a:endParaRPr lang="en-US" sz="2800" b="1" dirty="0" smtClean="0">
              <a:solidFill>
                <a:srgbClr val="C0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566219" y="3716594"/>
            <a:ext cx="2123768" cy="196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6877403" y="3701689"/>
            <a:ext cx="2123768" cy="196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25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2" grpId="0"/>
      <p:bldP spid="9" grpId="0"/>
      <p:bldP spid="10" grpId="0"/>
      <p:bldP spid="11" grpId="0"/>
      <p:bldP spid="1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DFC BANK IFSC Code | LILUAH CO OPERATIVE BANK LTD - Check Phone Number,  Address, and Loc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735" y="1745240"/>
            <a:ext cx="8728340" cy="394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Important Elements of </a:t>
            </a:r>
            <a:r>
              <a:rPr lang="en-US" dirty="0" err="1" smtClean="0"/>
              <a:t>Cheque</a:t>
            </a:r>
            <a:endParaRPr lang="en-IN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618271" y="1136191"/>
            <a:ext cx="929149" cy="82042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26046" y="5836933"/>
            <a:ext cx="13468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 smtClean="0"/>
              <a:t>Cheque</a:t>
            </a:r>
            <a:r>
              <a:rPr lang="en-US" sz="2000" b="1" dirty="0" smtClean="0"/>
              <a:t> no.</a:t>
            </a:r>
            <a:endParaRPr lang="en-IN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092782" y="733987"/>
            <a:ext cx="20992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Date</a:t>
            </a:r>
          </a:p>
          <a:p>
            <a:r>
              <a:rPr lang="en-US" sz="2000" b="1" dirty="0" smtClean="0"/>
              <a:t>Validity Period</a:t>
            </a:r>
          </a:p>
          <a:p>
            <a:endParaRPr lang="en-IN" sz="2000" b="1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9261987" y="924236"/>
            <a:ext cx="820438" cy="10323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21742" y="2369574"/>
            <a:ext cx="1462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Payee Name</a:t>
            </a:r>
            <a:endParaRPr lang="en-IN" sz="20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3216521" y="2782525"/>
            <a:ext cx="1947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Amount in Words</a:t>
            </a:r>
            <a:endParaRPr lang="en-IN" sz="20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8432952" y="3115274"/>
            <a:ext cx="16273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Amount in no.</a:t>
            </a:r>
            <a:endParaRPr lang="en-IN" sz="20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8076183" y="4224728"/>
            <a:ext cx="22268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Signature of Drawer</a:t>
            </a:r>
            <a:endParaRPr lang="en-IN" sz="2000" b="1" dirty="0"/>
          </a:p>
        </p:txBody>
      </p:sp>
      <p:cxnSp>
        <p:nvCxnSpPr>
          <p:cNvPr id="20" name="Straight Arrow Connector 19"/>
          <p:cNvCxnSpPr>
            <a:stCxn id="22" idx="3"/>
          </p:cNvCxnSpPr>
          <p:nvPr/>
        </p:nvCxnSpPr>
        <p:spPr>
          <a:xfrm flipV="1">
            <a:off x="1523040" y="3919980"/>
            <a:ext cx="1461050" cy="43908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5282" y="4159005"/>
            <a:ext cx="1407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A/C number</a:t>
            </a:r>
            <a:endParaRPr lang="en-IN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90999" y="4948458"/>
            <a:ext cx="1132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A/C Type</a:t>
            </a:r>
            <a:endParaRPr lang="en-IN" sz="2000" b="1" dirty="0"/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1523040" y="3887854"/>
            <a:ext cx="3157115" cy="118559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3372465" y="5412972"/>
            <a:ext cx="822957" cy="45688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47420" y="734479"/>
            <a:ext cx="39084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Name of Bank</a:t>
            </a:r>
          </a:p>
          <a:p>
            <a:r>
              <a:rPr lang="en-US" sz="2000" b="1" dirty="0" smtClean="0"/>
              <a:t>Address</a:t>
            </a:r>
          </a:p>
          <a:p>
            <a:r>
              <a:rPr lang="en-US" sz="2000" b="1" dirty="0" smtClean="0"/>
              <a:t>IFSC (Indian Financial System Code)</a:t>
            </a:r>
            <a:endParaRPr lang="en-IN" sz="20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4191498" y="5892979"/>
            <a:ext cx="4036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/>
              <a:t>MICR code</a:t>
            </a:r>
          </a:p>
          <a:p>
            <a:pPr algn="ctr"/>
            <a:r>
              <a:rPr lang="en-IN" sz="2000" b="1" dirty="0" smtClean="0"/>
              <a:t>(Magnetic </a:t>
            </a:r>
            <a:r>
              <a:rPr lang="en-IN" sz="2000" b="1" dirty="0"/>
              <a:t>Ink Character </a:t>
            </a:r>
            <a:r>
              <a:rPr lang="en-IN" sz="2000" b="1" dirty="0" smtClean="0"/>
              <a:t>Recognition)</a:t>
            </a:r>
            <a:endParaRPr lang="en-IN" sz="2000" b="1" dirty="0"/>
          </a:p>
        </p:txBody>
      </p:sp>
      <p:cxnSp>
        <p:nvCxnSpPr>
          <p:cNvPr id="31" name="Straight Arrow Connector 30"/>
          <p:cNvCxnSpPr>
            <a:stCxn id="30" idx="0"/>
          </p:cNvCxnSpPr>
          <p:nvPr/>
        </p:nvCxnSpPr>
        <p:spPr>
          <a:xfrm flipH="1" flipV="1">
            <a:off x="6189894" y="5492139"/>
            <a:ext cx="19945" cy="40084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0" y="1532032"/>
            <a:ext cx="20992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Cheque</a:t>
            </a:r>
            <a:r>
              <a:rPr lang="en-US" sz="2000" b="1" dirty="0" smtClean="0"/>
              <a:t> Printer</a:t>
            </a:r>
          </a:p>
          <a:p>
            <a:r>
              <a:rPr lang="en-US" sz="2000" b="1" dirty="0" smtClean="0"/>
              <a:t>Details and</a:t>
            </a:r>
          </a:p>
          <a:p>
            <a:r>
              <a:rPr lang="en-US" sz="2000" b="1" dirty="0" smtClean="0"/>
              <a:t>CTS mark</a:t>
            </a:r>
          </a:p>
          <a:p>
            <a:endParaRPr lang="en-IN" sz="2000" b="1" dirty="0"/>
          </a:p>
        </p:txBody>
      </p:sp>
      <p:cxnSp>
        <p:nvCxnSpPr>
          <p:cNvPr id="35" name="Straight Arrow Connector 34"/>
          <p:cNvCxnSpPr/>
          <p:nvPr/>
        </p:nvCxnSpPr>
        <p:spPr>
          <a:xfrm flipH="1" flipV="1">
            <a:off x="867991" y="2509043"/>
            <a:ext cx="830816" cy="58474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303075" y="2320860"/>
            <a:ext cx="188892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Other Important elements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/>
              <a:t>Watermark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/>
              <a:t>Ultra Violet light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/>
              <a:t>Pantographic image (‘Void or Copy’)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71823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6" grpId="0"/>
      <p:bldP spid="17" grpId="0"/>
      <p:bldP spid="18" grpId="0"/>
      <p:bldP spid="19" grpId="0"/>
      <p:bldP spid="22" grpId="0"/>
      <p:bldP spid="23" grpId="0"/>
      <p:bldP spid="29" grpId="0"/>
      <p:bldP spid="30" grpId="0"/>
      <p:bldP spid="3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</a:t>
            </a:r>
            <a:r>
              <a:rPr lang="en-US" dirty="0" err="1" smtClean="0"/>
              <a:t>Cheque</a:t>
            </a:r>
            <a:endParaRPr lang="en-IN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795429344"/>
              </p:ext>
            </p:extLst>
          </p:nvPr>
        </p:nvGraphicFramePr>
        <p:xfrm>
          <a:off x="353961" y="719666"/>
          <a:ext cx="11523407" cy="53271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8323" y="6194322"/>
            <a:ext cx="11323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8"/>
              </a:rPr>
              <a:t>https://</a:t>
            </a:r>
            <a:r>
              <a:rPr lang="en-US" dirty="0" smtClean="0">
                <a:hlinkClick r:id="rId8"/>
              </a:rPr>
              <a:t>www.hdfcbank.com/personal/resources/learning-centre/save/different-types-of-cheque-you-need-to-know</a:t>
            </a:r>
            <a:r>
              <a:rPr lang="en-IN" dirty="0" smtClean="0"/>
              <a:t>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3186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462FB03-E15D-4A9B-B0D8-C19CA7918D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D462FB03-E15D-4A9B-B0D8-C19CA7918D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7229DF9-6C5F-458B-AEBC-3B6AA09B7B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97229DF9-6C5F-458B-AEBC-3B6AA09B7B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055BBDF-CD66-4860-809F-C555B45AFD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B055BBDF-CD66-4860-809F-C555B45AFD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01AFD3B-16F4-4FFC-8DF9-F769205468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A01AFD3B-16F4-4FFC-8DF9-F769205468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EA86636-5CE1-471E-98B5-A8FD7E0FC1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4EA86636-5CE1-471E-98B5-A8FD7E0FC17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20C9E11-AC89-43A5-9B62-6C2D69BEBF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graphicEl>
                                              <a:dgm id="{120C9E11-AC89-43A5-9B62-6C2D69BEBF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</a:t>
            </a:r>
            <a:r>
              <a:rPr lang="en-US" dirty="0" err="1" smtClean="0"/>
              <a:t>Cheque</a:t>
            </a:r>
            <a:endParaRPr lang="en-IN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436849995"/>
              </p:ext>
            </p:extLst>
          </p:nvPr>
        </p:nvGraphicFramePr>
        <p:xfrm>
          <a:off x="353961" y="719665"/>
          <a:ext cx="11523407" cy="53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8323" y="6194322"/>
            <a:ext cx="11323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8"/>
              </a:rPr>
              <a:t>https://</a:t>
            </a:r>
            <a:r>
              <a:rPr lang="en-US" dirty="0" smtClean="0">
                <a:hlinkClick r:id="rId8"/>
              </a:rPr>
              <a:t>www.hdfcbank.com/personal/resources/learning-centre/save/different-types-of-cheque-you-need-to-know</a:t>
            </a:r>
            <a:r>
              <a:rPr lang="en-IN" dirty="0" smtClean="0"/>
              <a:t>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00205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462FB03-E15D-4A9B-B0D8-C19CA7918D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7229DF9-6C5F-458B-AEBC-3B6AA09B7B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055BBDF-CD66-4860-809F-C555B45AFD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01AFD3B-16F4-4FFC-8DF9-F769205468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EA86636-5CE1-471E-98B5-A8FD7E0FC1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20C9E11-AC89-43A5-9B62-6C2D69BEBF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</a:t>
            </a:r>
            <a:r>
              <a:rPr lang="en-US" dirty="0" err="1" smtClean="0"/>
              <a:t>Cheque</a:t>
            </a:r>
            <a:endParaRPr lang="en-IN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365840083"/>
              </p:ext>
            </p:extLst>
          </p:nvPr>
        </p:nvGraphicFramePr>
        <p:xfrm>
          <a:off x="353961" y="719665"/>
          <a:ext cx="11523407" cy="53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8323" y="6194322"/>
            <a:ext cx="11323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8"/>
              </a:rPr>
              <a:t>https://</a:t>
            </a:r>
            <a:r>
              <a:rPr lang="en-US" dirty="0" smtClean="0">
                <a:hlinkClick r:id="rId8"/>
              </a:rPr>
              <a:t>www.hdfcbank.com/personal/resources/learning-centre/save/different-types-of-cheque-you-need-to-know</a:t>
            </a:r>
            <a:r>
              <a:rPr lang="en-IN" dirty="0" smtClean="0"/>
              <a:t>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4203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462FB03-E15D-4A9B-B0D8-C19CA7918D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7229DF9-6C5F-458B-AEBC-3B6AA09B7B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055BBDF-CD66-4860-809F-C555B45AFD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01AFD3B-16F4-4FFC-8DF9-F769205468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EA86636-5CE1-471E-98B5-A8FD7E0FC1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20C9E11-AC89-43A5-9B62-6C2D69BEBF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</a:t>
            </a:r>
            <a:r>
              <a:rPr lang="en-US" dirty="0" err="1" smtClean="0"/>
              <a:t>Cheque</a:t>
            </a:r>
            <a:endParaRPr lang="en-IN" dirty="0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521210420"/>
              </p:ext>
            </p:extLst>
          </p:nvPr>
        </p:nvGraphicFramePr>
        <p:xfrm>
          <a:off x="353961" y="827821"/>
          <a:ext cx="11523407" cy="1718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076" name="Picture 4" descr="Aranyak Hobby Specimen Travellers Cheque of IOB ~ for Rupees One Thousand.  Only for Collection ~ Cheque not in use : Amazon.in: Toys &amp; Games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130" y="2738225"/>
            <a:ext cx="8262579" cy="3541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98323" y="6194322"/>
            <a:ext cx="1138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9"/>
              </a:rPr>
              <a:t>https://</a:t>
            </a:r>
            <a:r>
              <a:rPr lang="en-US" dirty="0" smtClean="0">
                <a:hlinkClick r:id="rId9"/>
              </a:rPr>
              <a:t>www.hdfcbank.com/personal/resources/learning-centre/save/different-types-of-cheque-you-need-to-know</a:t>
            </a:r>
            <a:r>
              <a:rPr lang="en-IN" dirty="0" smtClean="0"/>
              <a:t>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4088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462FB03-E15D-4A9B-B0D8-C19CA7918D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7229DF9-6C5F-458B-AEBC-3B6AA09B7B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one"/>
        </p:bldSub>
      </p:bldGraphic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Cheque</a:t>
            </a:r>
            <a:r>
              <a:rPr lang="en-US" dirty="0" smtClean="0"/>
              <a:t> Truncation System (CTS)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Cheque</a:t>
            </a:r>
            <a:r>
              <a:rPr lang="en-US" dirty="0" smtClean="0"/>
              <a:t> Truncation is an online, image based </a:t>
            </a:r>
            <a:r>
              <a:rPr lang="en-US" dirty="0" err="1" smtClean="0"/>
              <a:t>cheque</a:t>
            </a:r>
            <a:r>
              <a:rPr lang="en-US" dirty="0" smtClean="0"/>
              <a:t> clearing system.</a:t>
            </a:r>
            <a:endParaRPr lang="en-IN" dirty="0"/>
          </a:p>
        </p:txBody>
      </p:sp>
      <p:pic>
        <p:nvPicPr>
          <p:cNvPr id="4" name="Picture 10" descr="Saharai Benefit Fund Nidhi Limite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400" b="92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3656" y="1622368"/>
            <a:ext cx="2509180" cy="188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Introducing Clearing Houses to the Blockchain | by Sudarshan Bohra |  ReverseAcid | Medium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64" t="12903" r="37690" b="28877"/>
          <a:stretch/>
        </p:blipFill>
        <p:spPr bwMode="auto">
          <a:xfrm>
            <a:off x="5392159" y="1526621"/>
            <a:ext cx="2192592" cy="213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ownload Bank, Money, Deposit. Royalty-Free Vector Graphic - Pixaba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387" y="2002449"/>
            <a:ext cx="1286831" cy="1276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 flipV="1">
            <a:off x="2334583" y="2403570"/>
            <a:ext cx="2381161" cy="433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865377" y="1387747"/>
            <a:ext cx="3438762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Outward </a:t>
            </a:r>
            <a:r>
              <a:rPr lang="en-US" sz="28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Cheque</a:t>
            </a:r>
            <a:endParaRPr lang="en-US" sz="28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(MICR data and Image)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8053957" y="2388975"/>
            <a:ext cx="2381161" cy="433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584751" y="1373152"/>
            <a:ext cx="3438762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Outward </a:t>
            </a:r>
            <a:r>
              <a:rPr lang="en-US" sz="28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Cheque</a:t>
            </a:r>
            <a:endParaRPr lang="en-US" sz="28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(MICR data and Image)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11434017" y="3801865"/>
            <a:ext cx="0" cy="95372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351693" y="3278645"/>
            <a:ext cx="192232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Paying Bank</a:t>
            </a:r>
            <a:endParaRPr lang="en-US" sz="28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3278645"/>
            <a:ext cx="1787669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Presenting</a:t>
            </a:r>
            <a:r>
              <a:rPr lang="en-US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n-US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Bank</a:t>
            </a:r>
            <a:endParaRPr lang="en-US" sz="28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435118" y="4907837"/>
            <a:ext cx="1765227" cy="138499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Accept &amp; </a:t>
            </a:r>
          </a:p>
          <a:p>
            <a:pPr algn="ctr"/>
            <a:r>
              <a:rPr lang="en-US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Payment</a:t>
            </a:r>
          </a:p>
          <a:p>
            <a:pPr algn="ctr"/>
            <a:r>
              <a:rPr lang="en-US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Processing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2334583" y="2956556"/>
            <a:ext cx="2286578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543844" y="3027200"/>
            <a:ext cx="214513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Inward Return</a:t>
            </a:r>
            <a:endParaRPr lang="en-US" sz="2800" dirty="0" smtClean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8051905" y="3057564"/>
            <a:ext cx="2286578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261166" y="3128208"/>
            <a:ext cx="214513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Inward Return</a:t>
            </a:r>
            <a:endParaRPr lang="en-US" sz="2800" dirty="0" smtClean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1" name="Straight Connector 30"/>
          <p:cNvCxnSpPr>
            <a:stCxn id="20" idx="2"/>
          </p:cNvCxnSpPr>
          <p:nvPr/>
        </p:nvCxnSpPr>
        <p:spPr>
          <a:xfrm flipH="1">
            <a:off x="882649" y="4232752"/>
            <a:ext cx="11186" cy="126521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 rot="16200000">
            <a:off x="-395245" y="4759179"/>
            <a:ext cx="157607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Functions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893834" y="4632534"/>
            <a:ext cx="89383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912703" y="4348773"/>
            <a:ext cx="3655167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Capturing</a:t>
            </a:r>
            <a:r>
              <a:rPr lang="en-US" sz="2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(Scanning)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89234" y="5264951"/>
            <a:ext cx="6910867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Common Warehouse (Physical </a:t>
            </a:r>
            <a:r>
              <a:rPr lang="en-US" sz="2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cheques</a:t>
            </a:r>
            <a:r>
              <a:rPr lang="en-US" sz="2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are stored)</a:t>
            </a:r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882650" y="5497964"/>
            <a:ext cx="89383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912703" y="5711640"/>
            <a:ext cx="1806905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600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 10 years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1180" y="6292832"/>
            <a:ext cx="5097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Source: RBI, Geeks for Geeks.org, and NPCI document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6983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  <p:bldP spid="16" grpId="0"/>
      <p:bldP spid="19" grpId="0"/>
      <p:bldP spid="20" grpId="0"/>
      <p:bldP spid="21" grpId="0"/>
      <p:bldP spid="24" grpId="0"/>
      <p:bldP spid="26" grpId="0"/>
      <p:bldP spid="35" grpId="0"/>
      <p:bldP spid="44" grpId="0"/>
      <p:bldP spid="45" grpId="0"/>
      <p:bldP spid="48" grpId="0"/>
      <p:bldP spid="4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Demand Draft (DD)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prepaid financial tool used for fund transfer.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122" name="Picture 2" descr="Person Clipart Images | Free Download | PNG Transparent Background - Pngtre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0" r="21999"/>
          <a:stretch/>
        </p:blipFill>
        <p:spPr bwMode="auto">
          <a:xfrm>
            <a:off x="580103" y="1441091"/>
            <a:ext cx="1002891" cy="1911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Saharai Benefit Fund Nidhi Limit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400" b="92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015" y="1632201"/>
            <a:ext cx="2045047" cy="1533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erson Clipart Images | Free Download | PNG Transparent Background - Pngtree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167" b="93333" l="10000" r="90000">
                        <a14:foregroundMark x1="48333" y1="67778" x2="48333" y2="67778"/>
                        <a14:foregroundMark x1="47778" y1="87778" x2="47778" y2="87778"/>
                        <a14:foregroundMark x1="55000" y1="88611" x2="55000" y2="88611"/>
                        <a14:foregroundMark x1="42500" y1="91111" x2="42500" y2="91111"/>
                        <a14:foregroundMark x1="52778" y1="91667" x2="52778" y2="91667"/>
                        <a14:foregroundMark x1="57500" y1="75000" x2="57500" y2="7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431" r="25971"/>
          <a:stretch/>
        </p:blipFill>
        <p:spPr bwMode="auto">
          <a:xfrm>
            <a:off x="6777749" y="1671991"/>
            <a:ext cx="711121" cy="149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Bank Draft&quot; Images – Browse 309 Stock Photos, Vectors, and Video | Adobe  Stock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0" t="25070" r="9312" b="24751"/>
          <a:stretch/>
        </p:blipFill>
        <p:spPr bwMode="auto">
          <a:xfrm>
            <a:off x="5058652" y="1986370"/>
            <a:ext cx="986371" cy="432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245762" y="2447920"/>
            <a:ext cx="612149" cy="4924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DD</a:t>
            </a:r>
            <a:endParaRPr lang="en-US" sz="2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Straight Arrow Connector 6"/>
          <p:cNvCxnSpPr>
            <a:stCxn id="5122" idx="3"/>
          </p:cNvCxnSpPr>
          <p:nvPr/>
        </p:nvCxnSpPr>
        <p:spPr>
          <a:xfrm flipV="1">
            <a:off x="1582994" y="2396945"/>
            <a:ext cx="1248696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434643" y="1964326"/>
            <a:ext cx="1399057" cy="129266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Cash/ from account</a:t>
            </a:r>
            <a:endParaRPr lang="en-US" sz="2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2" name="Picture 4" descr="Download Bank, Money, Deposit. Royalty-Free Vector Graphic - Pixabay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1585" y="1671991"/>
            <a:ext cx="1286831" cy="1276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/>
          <p:cNvCxnSpPr/>
          <p:nvPr/>
        </p:nvCxnSpPr>
        <p:spPr>
          <a:xfrm flipV="1">
            <a:off x="8053957" y="2388975"/>
            <a:ext cx="2381161" cy="433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6" descr="Bank Draft&quot; Images – Browse 309 Stock Photos, Vectors, and Video | Adobe  Stock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0" t="25070" r="9312" b="24751"/>
          <a:stretch/>
        </p:blipFill>
        <p:spPr bwMode="auto">
          <a:xfrm>
            <a:off x="8681839" y="1814199"/>
            <a:ext cx="986371" cy="432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What is Indian Demand Draft | India Customer Care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4369" y="3279111"/>
            <a:ext cx="7620000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883465" y="3930447"/>
            <a:ext cx="1399057" cy="8925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Sample DD</a:t>
            </a:r>
            <a:endParaRPr lang="en-US" sz="2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6239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11" grpId="0"/>
      <p:bldP spid="1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Demand Draft (Cont.)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Sight DD - Immediate payment when it is presented.</a:t>
            </a:r>
          </a:p>
          <a:p>
            <a:pPr lvl="1"/>
            <a:r>
              <a:rPr lang="en-US" dirty="0" smtClean="0"/>
              <a:t>Time DD - Only payable after a specified date (future date).</a:t>
            </a:r>
          </a:p>
          <a:p>
            <a:r>
              <a:rPr lang="en-US" dirty="0" smtClean="0"/>
              <a:t>Unlike </a:t>
            </a:r>
            <a:r>
              <a:rPr lang="en-US" dirty="0" err="1" smtClean="0"/>
              <a:t>cheque</a:t>
            </a:r>
            <a:r>
              <a:rPr lang="en-US" dirty="0" smtClean="0"/>
              <a:t>, there is no probability of bouncing as it is prepaid.</a:t>
            </a:r>
          </a:p>
          <a:p>
            <a:r>
              <a:rPr lang="en-US" dirty="0" smtClean="0"/>
              <a:t>Bank often charge fees for issuing a DD.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472814"/>
              </p:ext>
            </p:extLst>
          </p:nvPr>
        </p:nvGraphicFramePr>
        <p:xfrm>
          <a:off x="1297859" y="3165398"/>
          <a:ext cx="10787542" cy="292010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227870">
                  <a:extLst>
                    <a:ext uri="{9D8B030D-6E8A-4147-A177-3AD203B41FA5}">
                      <a16:colId xmlns:a16="http://schemas.microsoft.com/office/drawing/2014/main" val="3248528102"/>
                    </a:ext>
                  </a:extLst>
                </a:gridCol>
                <a:gridCol w="6559672">
                  <a:extLst>
                    <a:ext uri="{9D8B030D-6E8A-4147-A177-3AD203B41FA5}">
                      <a16:colId xmlns:a16="http://schemas.microsoft.com/office/drawing/2014/main" val="601656707"/>
                    </a:ext>
                  </a:extLst>
                </a:gridCol>
              </a:tblGrid>
              <a:tr h="348958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Description of Service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Service Charge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187791"/>
                  </a:ext>
                </a:extLst>
              </a:tr>
              <a:tr h="348958">
                <a:tc>
                  <a:txBody>
                    <a:bodyPr/>
                    <a:lstStyle/>
                    <a:p>
                      <a:r>
                        <a:rPr lang="en-IN" sz="2400" dirty="0" err="1" smtClean="0"/>
                        <a:t>Upto</a:t>
                      </a:r>
                      <a:r>
                        <a:rPr lang="en-IN" sz="2400" dirty="0" smtClean="0"/>
                        <a:t> ₹5,000/-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₹25/- (incl. GST)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475051"/>
                  </a:ext>
                </a:extLst>
              </a:tr>
              <a:tr h="348958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Above ₹5,000/- </a:t>
                      </a:r>
                      <a:r>
                        <a:rPr lang="en-IN" sz="2400" dirty="0" err="1" smtClean="0"/>
                        <a:t>upto</a:t>
                      </a:r>
                      <a:r>
                        <a:rPr lang="en-IN" sz="2400" dirty="0" smtClean="0"/>
                        <a:t> ₹10,000/-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₹50/- (incl. GST)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453315"/>
                  </a:ext>
                </a:extLst>
              </a:tr>
              <a:tr h="632487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Above ₹10,000/- </a:t>
                      </a:r>
                      <a:r>
                        <a:rPr lang="en-IN" sz="2400" dirty="0" err="1" smtClean="0"/>
                        <a:t>upto</a:t>
                      </a:r>
                      <a:r>
                        <a:rPr lang="en-IN" sz="2400" dirty="0" smtClean="0"/>
                        <a:t> ₹1,00,000/-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₹5/- (incl. GST) per ₹1000/-(Min.₹60/-incl. GST)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50296"/>
                  </a:ext>
                </a:extLst>
              </a:tr>
              <a:tr h="916015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Above ₹1,00,000/-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₹4/- (incl. GST) per ₹1000/Min.₹600/-incl. GST</a:t>
                      </a:r>
                    </a:p>
                    <a:p>
                      <a:r>
                        <a:rPr lang="en-IN" sz="2400" dirty="0" smtClean="0"/>
                        <a:t>Max.₹2000/-incl. GST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21084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31180" y="6102629"/>
            <a:ext cx="120608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Source: </a:t>
            </a:r>
            <a:r>
              <a:rPr lang="en-US" sz="1600" dirty="0">
                <a:hlinkClick r:id="rId2"/>
              </a:rPr>
              <a:t>https://</a:t>
            </a:r>
            <a:r>
              <a:rPr lang="en-US" sz="1600" dirty="0" smtClean="0">
                <a:hlinkClick r:id="rId2"/>
              </a:rPr>
              <a:t>sbi.co.in/documents/16012/76239/021122-Service+Charges+as+on+30.09.2022.pdf/74a6c260-1569-5654-897b-ccfabd1bfd03?t=1667374607627</a:t>
            </a:r>
            <a:r>
              <a:rPr lang="en-IN" sz="1600" dirty="0" smtClean="0"/>
              <a:t> </a:t>
            </a:r>
            <a:endParaRPr lang="en-US" sz="1600" dirty="0" smtClean="0"/>
          </a:p>
        </p:txBody>
      </p:sp>
      <p:pic>
        <p:nvPicPr>
          <p:cNvPr id="6146" name="Picture 2" descr="SBI Current Account: Features, Benefits &amp; Fees 2025 – Forbes Advisor INDI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6" t="18665" r="18538" b="30349"/>
          <a:stretch/>
        </p:blipFill>
        <p:spPr bwMode="auto">
          <a:xfrm>
            <a:off x="131180" y="3775587"/>
            <a:ext cx="934066" cy="41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95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Card Transaction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532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Debit Card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debit card is a plastic card issued by a bank or financial institution to its account holders.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allows you to make electronic transactions, both online and in-person, by accessing the funds available in your linked bank account.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28353"/>
          <a:stretch/>
        </p:blipFill>
        <p:spPr>
          <a:xfrm>
            <a:off x="798317" y="3082159"/>
            <a:ext cx="9412484" cy="3371850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V="1">
            <a:off x="4619625" y="3238500"/>
            <a:ext cx="1009650" cy="657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29275" y="2897493"/>
            <a:ext cx="3238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NFC - (</a:t>
            </a:r>
            <a:r>
              <a:rPr lang="en-IN" dirty="0" smtClean="0"/>
              <a:t>Near-field communication)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10210801" y="4121753"/>
            <a:ext cx="2298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(CVV) - </a:t>
            </a:r>
            <a:r>
              <a:rPr lang="en-IN" dirty="0"/>
              <a:t>Card Verification Value</a:t>
            </a:r>
          </a:p>
        </p:txBody>
      </p:sp>
    </p:spTree>
    <p:extLst>
      <p:ext uri="{BB962C8B-B14F-4D97-AF65-F5344CB8AC3E}">
        <p14:creationId xmlns:p14="http://schemas.microsoft.com/office/powerpoint/2010/main" val="271790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0" grpId="0"/>
      <p:bldP spid="1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Debit Card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070805" y="1725111"/>
            <a:ext cx="3990016" cy="4728898"/>
          </a:xfrm>
        </p:spPr>
        <p:txBody>
          <a:bodyPr/>
          <a:lstStyle/>
          <a:p>
            <a:r>
              <a:rPr lang="en-IN" dirty="0" smtClean="0"/>
              <a:t>Cash Withdrawals</a:t>
            </a:r>
          </a:p>
          <a:p>
            <a:r>
              <a:rPr lang="en-US" dirty="0" smtClean="0"/>
              <a:t>Point </a:t>
            </a:r>
            <a:r>
              <a:rPr lang="en-US" dirty="0"/>
              <a:t>of Sale (</a:t>
            </a:r>
            <a:r>
              <a:rPr lang="en-US" dirty="0" err="1"/>
              <a:t>PoS</a:t>
            </a:r>
            <a:r>
              <a:rPr lang="en-US" dirty="0"/>
              <a:t>) </a:t>
            </a:r>
            <a:r>
              <a:rPr lang="en-US" dirty="0" smtClean="0"/>
              <a:t>Transactions</a:t>
            </a:r>
          </a:p>
          <a:p>
            <a:pPr lvl="1"/>
            <a:r>
              <a:rPr lang="en-US" dirty="0"/>
              <a:t>In-Person </a:t>
            </a:r>
            <a:r>
              <a:rPr lang="en-US" dirty="0" smtClean="0"/>
              <a:t>Purchases</a:t>
            </a:r>
          </a:p>
          <a:p>
            <a:pPr lvl="1"/>
            <a:r>
              <a:rPr lang="en-US" dirty="0"/>
              <a:t>Contactless Payments</a:t>
            </a:r>
            <a:endParaRPr lang="en-US" dirty="0" smtClean="0"/>
          </a:p>
          <a:p>
            <a:r>
              <a:rPr lang="en-IN" dirty="0" smtClean="0"/>
              <a:t>Online Transactions</a:t>
            </a:r>
          </a:p>
          <a:p>
            <a:pPr lvl="1"/>
            <a:r>
              <a:rPr lang="en-IN" dirty="0"/>
              <a:t>E-commerce </a:t>
            </a:r>
            <a:r>
              <a:rPr lang="en-IN" dirty="0" smtClean="0"/>
              <a:t>Purchases</a:t>
            </a:r>
          </a:p>
          <a:p>
            <a:pPr lvl="1"/>
            <a:r>
              <a:rPr lang="en-IN" dirty="0"/>
              <a:t>Bill </a:t>
            </a:r>
            <a:r>
              <a:rPr lang="en-IN" dirty="0" smtClean="0"/>
              <a:t>Payments</a:t>
            </a:r>
          </a:p>
          <a:p>
            <a:r>
              <a:rPr lang="en-IN" dirty="0" smtClean="0"/>
              <a:t>Fund </a:t>
            </a:r>
            <a:r>
              <a:rPr lang="en-IN" dirty="0"/>
              <a:t>Transfers</a:t>
            </a:r>
          </a:p>
        </p:txBody>
      </p:sp>
      <p:pic>
        <p:nvPicPr>
          <p:cNvPr id="6146" name="Picture 2" descr="VISA Logo and symbol, meaning, history, PNG, bra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87" y="1725111"/>
            <a:ext cx="2079035" cy="116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File:Mastercard-logo.svg - Wikipedi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572" y="3158507"/>
            <a:ext cx="1715882" cy="1334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File:Rupay-Logo.png - Wikipedi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64" y="4756636"/>
            <a:ext cx="2162970" cy="152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How to activate SBI virtual debit card | EconomicTime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229" y="2894568"/>
            <a:ext cx="1609518" cy="286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/>
          <p:cNvCxnSpPr/>
          <p:nvPr/>
        </p:nvCxnSpPr>
        <p:spPr>
          <a:xfrm flipH="1">
            <a:off x="7789689" y="838200"/>
            <a:ext cx="15604" cy="561580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3595151" y="838200"/>
            <a:ext cx="23988" cy="561580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2100" y="952500"/>
            <a:ext cx="2959100" cy="5842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Card Networks</a:t>
            </a:r>
            <a:endParaRPr lang="en-IN" sz="2800" dirty="0"/>
          </a:p>
        </p:txBody>
      </p:sp>
      <p:sp>
        <p:nvSpPr>
          <p:cNvPr id="18" name="Rounded Rectangle 17"/>
          <p:cNvSpPr/>
          <p:nvPr/>
        </p:nvSpPr>
        <p:spPr>
          <a:xfrm>
            <a:off x="4275086" y="926056"/>
            <a:ext cx="2959100" cy="5842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Types of Debit card</a:t>
            </a:r>
            <a:endParaRPr lang="en-IN" sz="2800" dirty="0"/>
          </a:p>
        </p:txBody>
      </p:sp>
      <p:sp>
        <p:nvSpPr>
          <p:cNvPr id="19" name="Rounded Rectangle 18"/>
          <p:cNvSpPr/>
          <p:nvPr/>
        </p:nvSpPr>
        <p:spPr>
          <a:xfrm>
            <a:off x="8360796" y="926056"/>
            <a:ext cx="2959100" cy="5842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Usage</a:t>
            </a:r>
            <a:endParaRPr lang="en-IN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4176622" y="5731568"/>
            <a:ext cx="30267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2. Virtual Debit Card</a:t>
            </a:r>
            <a:endParaRPr lang="en-IN" sz="2800" dirty="0"/>
          </a:p>
        </p:txBody>
      </p:sp>
      <p:sp>
        <p:nvSpPr>
          <p:cNvPr id="23" name="TextBox 22"/>
          <p:cNvSpPr txBox="1"/>
          <p:nvPr/>
        </p:nvSpPr>
        <p:spPr>
          <a:xfrm>
            <a:off x="4050460" y="2134104"/>
            <a:ext cx="32864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  <a:r>
              <a:rPr lang="en-US" sz="2800" dirty="0" smtClean="0"/>
              <a:t>. Physical Debit Card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35150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8" grpId="0" animBg="1"/>
      <p:bldP spid="18" grpId="0" animBg="1"/>
      <p:bldP spid="19" grpId="0" animBg="1"/>
      <p:bldP spid="15" grpId="0"/>
      <p:bldP spid="2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Facilities on Debit Card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E-Mandate</a:t>
            </a:r>
          </a:p>
          <a:p>
            <a:pPr lvl="1"/>
            <a:r>
              <a:rPr lang="en-US" dirty="0" smtClean="0"/>
              <a:t>An </a:t>
            </a:r>
            <a:r>
              <a:rPr lang="en-US" dirty="0"/>
              <a:t>e-mandate on a debit card is a digital payment service that </a:t>
            </a:r>
            <a:r>
              <a:rPr lang="en-US" b="1" dirty="0">
                <a:solidFill>
                  <a:srgbClr val="C00000"/>
                </a:solidFill>
              </a:rPr>
              <a:t>allows you to authorize recurring payments </a:t>
            </a:r>
            <a:r>
              <a:rPr lang="en-US" dirty="0"/>
              <a:t>from your bank account to a merchant or service provider. </a:t>
            </a:r>
            <a:endParaRPr lang="en-US" dirty="0" smtClean="0"/>
          </a:p>
          <a:p>
            <a:pPr lvl="1"/>
            <a:r>
              <a:rPr lang="en-US" dirty="0" smtClean="0"/>
              <a:t>It </a:t>
            </a:r>
            <a:r>
              <a:rPr lang="en-US" dirty="0"/>
              <a:t>essentially creates a </a:t>
            </a:r>
            <a:r>
              <a:rPr lang="en-US" b="1" dirty="0">
                <a:solidFill>
                  <a:srgbClr val="C00000"/>
                </a:solidFill>
              </a:rPr>
              <a:t>standing instruction for your bank to automatically debit </a:t>
            </a:r>
            <a:r>
              <a:rPr lang="en-US" dirty="0"/>
              <a:t>the specified amount from your debit card at regular intervals</a:t>
            </a:r>
            <a:r>
              <a:rPr lang="en-US" dirty="0" smtClean="0"/>
              <a:t>.</a:t>
            </a:r>
          </a:p>
          <a:p>
            <a:r>
              <a:rPr lang="en-US" dirty="0" smtClean="0"/>
              <a:t>EMI</a:t>
            </a:r>
          </a:p>
          <a:p>
            <a:pPr lvl="1"/>
            <a:r>
              <a:rPr lang="en-US" dirty="0" smtClean="0"/>
              <a:t>Debit </a:t>
            </a:r>
            <a:r>
              <a:rPr lang="en-US" dirty="0"/>
              <a:t>card EMI (Equated Monthly Installment) allows you </a:t>
            </a:r>
            <a:r>
              <a:rPr lang="en-US" b="1" dirty="0">
                <a:solidFill>
                  <a:srgbClr val="C00000"/>
                </a:solidFill>
              </a:rPr>
              <a:t>to convert high-value purchases into installments</a:t>
            </a:r>
            <a:r>
              <a:rPr lang="en-US" dirty="0"/>
              <a:t>, similar to a credit card EMI, but using your savings or current account balance instead of a credit limit</a:t>
            </a:r>
            <a:r>
              <a:rPr lang="en-US" dirty="0" smtClean="0"/>
              <a:t>.</a:t>
            </a:r>
          </a:p>
          <a:p>
            <a:r>
              <a:rPr lang="en-US" dirty="0"/>
              <a:t> </a:t>
            </a:r>
            <a:r>
              <a:rPr lang="en-US" dirty="0" smtClean="0"/>
              <a:t>Insurance</a:t>
            </a:r>
          </a:p>
          <a:p>
            <a:pPr lvl="1"/>
            <a:r>
              <a:rPr lang="en-IN" dirty="0"/>
              <a:t>Card liability cover, Personal accident cover, Air accident cover, Purchase protection </a:t>
            </a:r>
            <a:r>
              <a:rPr lang="en-IN" dirty="0" smtClean="0"/>
              <a:t>cover</a:t>
            </a:r>
            <a:r>
              <a:rPr lang="en-IN" dirty="0"/>
              <a:t> </a:t>
            </a:r>
            <a:r>
              <a:rPr lang="en-IN" dirty="0" smtClean="0"/>
              <a:t>etc.</a:t>
            </a:r>
          </a:p>
          <a:p>
            <a:pPr lvl="1"/>
            <a:r>
              <a:rPr lang="en-US" dirty="0" smtClean="0"/>
              <a:t>At least </a:t>
            </a:r>
            <a:r>
              <a:rPr lang="en-US" b="1" dirty="0" smtClean="0">
                <a:solidFill>
                  <a:srgbClr val="C00000"/>
                </a:solidFill>
              </a:rPr>
              <a:t>make one transaction in a month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907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Fees and Charges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Annual / Renewal Fee /Add-on Card Annual </a:t>
            </a:r>
            <a:r>
              <a:rPr lang="en-US" dirty="0" smtClean="0"/>
              <a:t>fee.</a:t>
            </a:r>
          </a:p>
          <a:p>
            <a:r>
              <a:rPr lang="en-US" dirty="0" smtClean="0"/>
              <a:t>ATM Withdrawal</a:t>
            </a:r>
          </a:p>
          <a:p>
            <a:pPr lvl="1"/>
            <a:r>
              <a:rPr lang="en-US" dirty="0" smtClean="0"/>
              <a:t>On-Us Transaction: </a:t>
            </a:r>
            <a:r>
              <a:rPr lang="en-US" b="1" dirty="0" smtClean="0">
                <a:solidFill>
                  <a:srgbClr val="C00000"/>
                </a:solidFill>
              </a:rPr>
              <a:t>5 free transactions </a:t>
            </a:r>
            <a:r>
              <a:rPr lang="en-US" dirty="0" smtClean="0"/>
              <a:t>in a month.</a:t>
            </a:r>
          </a:p>
          <a:p>
            <a:pPr lvl="1"/>
            <a:r>
              <a:rPr lang="en-US" dirty="0"/>
              <a:t>Off-Us </a:t>
            </a:r>
            <a:r>
              <a:rPr lang="en-US" dirty="0" smtClean="0"/>
              <a:t>Transaction</a:t>
            </a:r>
          </a:p>
          <a:p>
            <a:pPr lvl="2"/>
            <a:r>
              <a:rPr lang="en-US" b="1" dirty="0" smtClean="0">
                <a:solidFill>
                  <a:srgbClr val="C00000"/>
                </a:solidFill>
              </a:rPr>
              <a:t>At </a:t>
            </a:r>
            <a:r>
              <a:rPr lang="en-US" b="1" dirty="0">
                <a:solidFill>
                  <a:srgbClr val="C00000"/>
                </a:solidFill>
              </a:rPr>
              <a:t>Metro</a:t>
            </a:r>
            <a:r>
              <a:rPr lang="en-US" dirty="0"/>
              <a:t> ATMs: </a:t>
            </a:r>
            <a:r>
              <a:rPr lang="en-US" b="1" dirty="0">
                <a:solidFill>
                  <a:srgbClr val="C00000"/>
                </a:solidFill>
              </a:rPr>
              <a:t>3 </a:t>
            </a:r>
            <a:r>
              <a:rPr lang="en-US" b="1" dirty="0" smtClean="0">
                <a:solidFill>
                  <a:srgbClr val="C00000"/>
                </a:solidFill>
              </a:rPr>
              <a:t>Free Transactions</a:t>
            </a:r>
            <a:r>
              <a:rPr lang="en-US" dirty="0"/>
              <a:t>. </a:t>
            </a:r>
            <a:r>
              <a:rPr lang="en-US" dirty="0" smtClean="0"/>
              <a:t>(Six </a:t>
            </a:r>
            <a:r>
              <a:rPr lang="en-US" dirty="0"/>
              <a:t>metro locations, viz. Bengaluru, Chennai, Hyderabad, Kolkata, Mumbai, and New </a:t>
            </a:r>
            <a:r>
              <a:rPr lang="en-US" dirty="0" smtClean="0"/>
              <a:t>Delhi)</a:t>
            </a:r>
          </a:p>
          <a:p>
            <a:pPr lvl="2"/>
            <a:r>
              <a:rPr lang="en-US" b="1" dirty="0">
                <a:solidFill>
                  <a:srgbClr val="C00000"/>
                </a:solidFill>
              </a:rPr>
              <a:t>At Non-Metro </a:t>
            </a:r>
            <a:r>
              <a:rPr lang="en-US" dirty="0"/>
              <a:t>ATMs: </a:t>
            </a:r>
            <a:r>
              <a:rPr lang="en-US" dirty="0" smtClean="0"/>
              <a:t> </a:t>
            </a:r>
            <a:r>
              <a:rPr lang="en-US" b="1" dirty="0">
                <a:solidFill>
                  <a:srgbClr val="C00000"/>
                </a:solidFill>
              </a:rPr>
              <a:t>5 </a:t>
            </a:r>
            <a:r>
              <a:rPr lang="en-US" b="1" dirty="0" smtClean="0">
                <a:solidFill>
                  <a:srgbClr val="C00000"/>
                </a:solidFill>
              </a:rPr>
              <a:t>Free Transactions</a:t>
            </a:r>
          </a:p>
          <a:p>
            <a:pPr lvl="1"/>
            <a:r>
              <a:rPr lang="en-US" dirty="0"/>
              <a:t>Charges beyond prescribed limit </a:t>
            </a:r>
            <a:r>
              <a:rPr lang="en-US" dirty="0" smtClean="0"/>
              <a:t>of free transactions</a:t>
            </a:r>
          </a:p>
          <a:p>
            <a:pPr lvl="2"/>
            <a:r>
              <a:rPr lang="en-US" dirty="0"/>
              <a:t>Cash Withdrawal - </a:t>
            </a:r>
            <a:r>
              <a:rPr lang="en-US" b="1" dirty="0" err="1">
                <a:solidFill>
                  <a:srgbClr val="C00000"/>
                </a:solidFill>
              </a:rPr>
              <a:t>Rs</a:t>
            </a:r>
            <a:r>
              <a:rPr lang="en-US" b="1" dirty="0">
                <a:solidFill>
                  <a:srgbClr val="C00000"/>
                </a:solidFill>
              </a:rPr>
              <a:t> 23/- plus </a:t>
            </a:r>
            <a:r>
              <a:rPr lang="en-US" b="1" dirty="0" smtClean="0">
                <a:solidFill>
                  <a:srgbClr val="C00000"/>
                </a:solidFill>
              </a:rPr>
              <a:t>applicable taxes </a:t>
            </a:r>
            <a:r>
              <a:rPr lang="en-US" dirty="0"/>
              <a:t>(</a:t>
            </a:r>
            <a:r>
              <a:rPr lang="en-US" dirty="0" err="1"/>
              <a:t>w.e.f</a:t>
            </a:r>
            <a:r>
              <a:rPr lang="en-US" dirty="0"/>
              <a:t>. 1st May, 2025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Non-Financial </a:t>
            </a:r>
            <a:r>
              <a:rPr lang="en-US" dirty="0"/>
              <a:t>Transaction - </a:t>
            </a:r>
            <a:r>
              <a:rPr lang="en-US" b="1" dirty="0" err="1">
                <a:solidFill>
                  <a:srgbClr val="C00000"/>
                </a:solidFill>
              </a:rPr>
              <a:t>Rs</a:t>
            </a:r>
            <a:r>
              <a:rPr lang="en-US" b="1" dirty="0">
                <a:solidFill>
                  <a:srgbClr val="C00000"/>
                </a:solidFill>
              </a:rPr>
              <a:t> 8.50/- </a:t>
            </a:r>
            <a:r>
              <a:rPr lang="en-US" b="1" dirty="0" smtClean="0">
                <a:solidFill>
                  <a:srgbClr val="C00000"/>
                </a:solidFill>
              </a:rPr>
              <a:t>plus applicable </a:t>
            </a:r>
            <a:r>
              <a:rPr lang="en-US" b="1" dirty="0">
                <a:solidFill>
                  <a:srgbClr val="C00000"/>
                </a:solidFill>
              </a:rPr>
              <a:t>taxes</a:t>
            </a:r>
            <a:endParaRPr lang="en-US" b="1" dirty="0" smtClean="0">
              <a:solidFill>
                <a:srgbClr val="C00000"/>
              </a:solidFill>
            </a:endParaRPr>
          </a:p>
          <a:p>
            <a:pPr lvl="1"/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31180" y="6234373"/>
            <a:ext cx="7497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www.rbi.org.in/commonman/English/Scripts/FAQs.aspx?Id=497</a:t>
            </a:r>
            <a:r>
              <a:rPr lang="en-US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968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Forex Card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31180" y="863444"/>
            <a:ext cx="8157413" cy="5590565"/>
          </a:xfrm>
        </p:spPr>
        <p:txBody>
          <a:bodyPr/>
          <a:lstStyle/>
          <a:p>
            <a:r>
              <a:rPr lang="en-US" dirty="0"/>
              <a:t>M</a:t>
            </a:r>
            <a:r>
              <a:rPr lang="en-US" dirty="0" smtClean="0"/>
              <a:t>ost </a:t>
            </a:r>
            <a:r>
              <a:rPr lang="en-US" b="1" dirty="0">
                <a:solidFill>
                  <a:srgbClr val="C00000"/>
                </a:solidFill>
              </a:rPr>
              <a:t>convenient ways to carry money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when travelling to a foreign country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is </a:t>
            </a:r>
            <a:r>
              <a:rPr lang="en-US" b="1" dirty="0" smtClean="0">
                <a:solidFill>
                  <a:srgbClr val="C00000"/>
                </a:solidFill>
              </a:rPr>
              <a:t>pre-paid card.</a:t>
            </a:r>
          </a:p>
          <a:p>
            <a:r>
              <a:rPr lang="en-US" dirty="0" smtClean="0"/>
              <a:t>Can </a:t>
            </a:r>
            <a:r>
              <a:rPr lang="en-US" b="1" dirty="0" smtClean="0">
                <a:solidFill>
                  <a:srgbClr val="C00000"/>
                </a:solidFill>
              </a:rPr>
              <a:t>not be used in India</a:t>
            </a:r>
            <a:r>
              <a:rPr lang="en-US" dirty="0" smtClean="0"/>
              <a:t>.</a:t>
            </a:r>
          </a:p>
          <a:p>
            <a:r>
              <a:rPr lang="en-US" dirty="0"/>
              <a:t>Foreign Exchange Rate prevalent </a:t>
            </a:r>
            <a:r>
              <a:rPr lang="en-US" b="1" dirty="0">
                <a:solidFill>
                  <a:srgbClr val="C00000"/>
                </a:solidFill>
              </a:rPr>
              <a:t>on the day of </a:t>
            </a:r>
            <a:r>
              <a:rPr lang="en-US" b="1" dirty="0" smtClean="0">
                <a:solidFill>
                  <a:srgbClr val="C00000"/>
                </a:solidFill>
              </a:rPr>
              <a:t>purchase</a:t>
            </a:r>
            <a:r>
              <a:rPr lang="en-US" dirty="0" smtClean="0"/>
              <a:t> of the card.</a:t>
            </a:r>
          </a:p>
          <a:p>
            <a:r>
              <a:rPr lang="en-US" dirty="0" smtClean="0"/>
              <a:t>Mainly </a:t>
            </a:r>
            <a:r>
              <a:rPr lang="en-US" b="1" dirty="0" smtClean="0">
                <a:solidFill>
                  <a:srgbClr val="C00000"/>
                </a:solidFill>
              </a:rPr>
              <a:t>3 documents </a:t>
            </a:r>
            <a:r>
              <a:rPr lang="en-US" dirty="0" smtClean="0"/>
              <a:t>are required.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15+ Currency </a:t>
            </a:r>
            <a:r>
              <a:rPr lang="en-US" dirty="0" smtClean="0"/>
              <a:t>options are offered by bank.</a:t>
            </a:r>
          </a:p>
          <a:p>
            <a:r>
              <a:rPr lang="en-US" dirty="0" smtClean="0"/>
              <a:t>Currently many banks are offering the validity of </a:t>
            </a:r>
            <a:r>
              <a:rPr lang="en-US" b="1" dirty="0" smtClean="0">
                <a:solidFill>
                  <a:srgbClr val="C00000"/>
                </a:solidFill>
              </a:rPr>
              <a:t>3 to 5 years.</a:t>
            </a:r>
          </a:p>
          <a:p>
            <a:r>
              <a:rPr lang="en-US" dirty="0" smtClean="0"/>
              <a:t>Max limit as per RBI is </a:t>
            </a:r>
            <a:r>
              <a:rPr lang="en-US" b="1" dirty="0" smtClean="0">
                <a:solidFill>
                  <a:srgbClr val="C00000"/>
                </a:solidFill>
              </a:rPr>
              <a:t>USD 250,000 per financial year</a:t>
            </a:r>
            <a:r>
              <a:rPr lang="en-US" dirty="0" smtClean="0"/>
              <a:t>.</a:t>
            </a:r>
          </a:p>
          <a:p>
            <a:endParaRPr lang="en-IN" dirty="0"/>
          </a:p>
        </p:txBody>
      </p:sp>
      <p:pic>
        <p:nvPicPr>
          <p:cNvPr id="5" name="Picture 2" descr="Person Clipart Images | Free Download | PNG Transparent Background - Pngtre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0" r="21999"/>
          <a:stretch/>
        </p:blipFill>
        <p:spPr bwMode="auto">
          <a:xfrm>
            <a:off x="8288593" y="949478"/>
            <a:ext cx="1002891" cy="1911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Saharai Benefit Fund Nidhi Limit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400" b="92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3505" y="1140588"/>
            <a:ext cx="2045047" cy="1533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9143133" y="1472713"/>
            <a:ext cx="1399057" cy="129266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Cash/ from account</a:t>
            </a:r>
            <a:endParaRPr lang="en-US" sz="2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26" name="Picture 2" descr="Indian Passport Clipart Png, Transparent Png - vhv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0556" b="90000" l="30116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224" t="16210" r="28284" b="21327"/>
          <a:stretch/>
        </p:blipFill>
        <p:spPr bwMode="auto">
          <a:xfrm>
            <a:off x="10946447" y="3206424"/>
            <a:ext cx="979161" cy="1376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ownload Pan Card, India, Income Tax. Royalty-Free Stock Illustration Image  - Pixabay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861" y="3288610"/>
            <a:ext cx="1476544" cy="147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lip Art Vector Graphics Openclipart PN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2927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46" r="9634"/>
          <a:stretch/>
        </p:blipFill>
        <p:spPr bwMode="auto">
          <a:xfrm>
            <a:off x="9906024" y="4948905"/>
            <a:ext cx="1415845" cy="1201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8672053" y="4477500"/>
            <a:ext cx="1644160" cy="4924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PAN Card</a:t>
            </a:r>
            <a:endParaRPr lang="en-US" sz="2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613947" y="4477500"/>
            <a:ext cx="1644160" cy="4924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Passport</a:t>
            </a:r>
            <a:endParaRPr lang="en-US" sz="2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5179" y="6128997"/>
            <a:ext cx="1644160" cy="4924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Form A2</a:t>
            </a:r>
            <a:endParaRPr lang="en-US" sz="2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81832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8" grpId="0"/>
      <p:bldP spid="10" grpId="0"/>
      <p:bldP spid="11" grpId="0"/>
      <p:bldP spid="1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Types of Forex Cards and Usage</a:t>
            </a:r>
            <a:endParaRPr lang="en-IN" dirty="0"/>
          </a:p>
        </p:txBody>
      </p:sp>
      <p:pic>
        <p:nvPicPr>
          <p:cNvPr id="2050" name="Picture 2" descr="Buy One Currency Forex Card Online | Single Currency Travel Car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387" y="778196"/>
            <a:ext cx="1725216" cy="998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ulticurrency Forex Card - Apply for Forex Multicurrency Card | HDFC Ban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9967" y="776610"/>
            <a:ext cx="1508007" cy="998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A520857-A3B8-F29B-1760-2BF418DF3060}"/>
              </a:ext>
            </a:extLst>
          </p:cNvPr>
          <p:cNvSpPr txBox="1"/>
          <p:nvPr/>
        </p:nvSpPr>
        <p:spPr>
          <a:xfrm>
            <a:off x="2" y="2289868"/>
            <a:ext cx="40975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600" dirty="0"/>
              <a:t>Single currency (often USD)</a:t>
            </a:r>
            <a:endParaRPr lang="en-IN" sz="2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84FB74-7AD9-5A3D-B76C-262221AF3544}"/>
              </a:ext>
            </a:extLst>
          </p:cNvPr>
          <p:cNvSpPr txBox="1"/>
          <p:nvPr/>
        </p:nvSpPr>
        <p:spPr>
          <a:xfrm>
            <a:off x="2" y="2782311"/>
            <a:ext cx="541949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600" dirty="0"/>
              <a:t>Students, heavy ATM users, or </a:t>
            </a:r>
            <a:r>
              <a:rPr lang="en-US" sz="2600" dirty="0" smtClean="0"/>
              <a:t>travelers of one country. </a:t>
            </a:r>
            <a:endParaRPr lang="en-IN" sz="2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2E53A6-B640-3E26-BDE5-3C78B83836AE}"/>
              </a:ext>
            </a:extLst>
          </p:cNvPr>
          <p:cNvSpPr txBox="1"/>
          <p:nvPr/>
        </p:nvSpPr>
        <p:spPr>
          <a:xfrm>
            <a:off x="0" y="3674863"/>
            <a:ext cx="533605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600" dirty="0" smtClean="0"/>
              <a:t>Cross currency charges will be applied</a:t>
            </a:r>
            <a:endParaRPr lang="en-IN" sz="2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B6C0D5-A7FF-9F42-29DE-7786AAB57B8F}"/>
              </a:ext>
            </a:extLst>
          </p:cNvPr>
          <p:cNvSpPr txBox="1"/>
          <p:nvPr/>
        </p:nvSpPr>
        <p:spPr>
          <a:xfrm>
            <a:off x="6689425" y="2293737"/>
            <a:ext cx="249940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600" dirty="0" smtClean="0"/>
              <a:t>15+ </a:t>
            </a:r>
            <a:r>
              <a:rPr lang="en-US" sz="2600" dirty="0"/>
              <a:t>currencies</a:t>
            </a:r>
            <a:endParaRPr lang="en-IN" sz="2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AB92B5-533D-1D7B-AA7E-1F8E44F853A2}"/>
              </a:ext>
            </a:extLst>
          </p:cNvPr>
          <p:cNvSpPr txBox="1"/>
          <p:nvPr/>
        </p:nvSpPr>
        <p:spPr>
          <a:xfrm>
            <a:off x="6689425" y="2786180"/>
            <a:ext cx="550257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600" dirty="0"/>
              <a:t>Frequent travelers to multiple countries</a:t>
            </a:r>
            <a:endParaRPr lang="en-IN" sz="2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1BEDBE-02F5-D6B5-640E-02D2CF91AB38}"/>
              </a:ext>
            </a:extLst>
          </p:cNvPr>
          <p:cNvSpPr txBox="1"/>
          <p:nvPr/>
        </p:nvSpPr>
        <p:spPr>
          <a:xfrm>
            <a:off x="6689424" y="3678731"/>
            <a:ext cx="550257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600" dirty="0"/>
              <a:t>Cross currency charges </a:t>
            </a:r>
            <a:r>
              <a:rPr lang="en-US" sz="2600" dirty="0" smtClean="0"/>
              <a:t>can be avoided</a:t>
            </a:r>
            <a:endParaRPr lang="en-IN" sz="2600" dirty="0"/>
          </a:p>
        </p:txBody>
      </p:sp>
      <p:sp>
        <p:nvSpPr>
          <p:cNvPr id="9" name="Rounded Rectangle 8"/>
          <p:cNvSpPr/>
          <p:nvPr/>
        </p:nvSpPr>
        <p:spPr>
          <a:xfrm>
            <a:off x="0" y="1777006"/>
            <a:ext cx="5336057" cy="512862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Single Currency Forex Card</a:t>
            </a:r>
            <a:endParaRPr lang="en-IN" sz="2800" dirty="0"/>
          </a:p>
        </p:txBody>
      </p:sp>
      <p:sp>
        <p:nvSpPr>
          <p:cNvPr id="24" name="Rounded Rectangle 23"/>
          <p:cNvSpPr/>
          <p:nvPr/>
        </p:nvSpPr>
        <p:spPr>
          <a:xfrm>
            <a:off x="6855943" y="1791085"/>
            <a:ext cx="5336057" cy="512862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Multiple Currency Forex Card</a:t>
            </a:r>
            <a:endParaRPr lang="en-IN" sz="2800" dirty="0"/>
          </a:p>
        </p:txBody>
      </p:sp>
      <p:pic>
        <p:nvPicPr>
          <p:cNvPr id="2054" name="Picture 6" descr="1+ Thousand Atm Clipart Royalty-Free Images, Stock Photos &amp; Pictures |  Shutterstock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245" y="4648755"/>
            <a:ext cx="1253000" cy="1670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6"/>
          <p:cNvSpPr/>
          <p:nvPr/>
        </p:nvSpPr>
        <p:spPr>
          <a:xfrm>
            <a:off x="2494720" y="6122826"/>
            <a:ext cx="1926050" cy="4924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Foreign ATM</a:t>
            </a:r>
            <a:endParaRPr lang="en-US" sz="2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842253" y="6145098"/>
            <a:ext cx="2202840" cy="4924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Merchant POS</a:t>
            </a:r>
            <a:endParaRPr lang="en-US" sz="2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7537" y="4978750"/>
            <a:ext cx="1166348" cy="116634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4282" y="4981221"/>
            <a:ext cx="1466611" cy="122217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7410821" y="6168993"/>
            <a:ext cx="3405863" cy="4924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Any online transactions</a:t>
            </a:r>
            <a:endParaRPr lang="en-US" sz="2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Oval 24"/>
          <p:cNvSpPr/>
          <p:nvPr/>
        </p:nvSpPr>
        <p:spPr>
          <a:xfrm>
            <a:off x="256478" y="4978750"/>
            <a:ext cx="1694985" cy="1636519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Usage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6131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9" grpId="0" animBg="1"/>
      <p:bldP spid="24" grpId="0" animBg="1"/>
      <p:bldP spid="27" grpId="0"/>
      <p:bldP spid="29" grpId="0"/>
      <p:bldP spid="34" grpId="0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Benefits of Forex Card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Convenience</a:t>
            </a:r>
          </a:p>
          <a:p>
            <a:pPr lvl="1"/>
            <a:r>
              <a:rPr lang="en-US" dirty="0" smtClean="0"/>
              <a:t>No need to carry cash. They </a:t>
            </a:r>
            <a:r>
              <a:rPr lang="en-US" dirty="0"/>
              <a:t>are accepted at all merchant outlets and ATMs </a:t>
            </a:r>
            <a:r>
              <a:rPr lang="en-US" dirty="0" smtClean="0"/>
              <a:t>worldwide.</a:t>
            </a:r>
            <a:endParaRPr lang="en-US" dirty="0"/>
          </a:p>
          <a:p>
            <a:r>
              <a:rPr lang="en-US" b="1" dirty="0" smtClean="0">
                <a:solidFill>
                  <a:srgbClr val="C00000"/>
                </a:solidFill>
              </a:rPr>
              <a:t>Security</a:t>
            </a:r>
          </a:p>
          <a:p>
            <a:pPr lvl="1"/>
            <a:r>
              <a:rPr lang="en-US" dirty="0"/>
              <a:t>C</a:t>
            </a:r>
            <a:r>
              <a:rPr lang="en-US" dirty="0" smtClean="0"/>
              <a:t>hip </a:t>
            </a:r>
            <a:r>
              <a:rPr lang="en-US" dirty="0"/>
              <a:t>and PIN </a:t>
            </a:r>
            <a:r>
              <a:rPr lang="en-US" dirty="0" smtClean="0"/>
              <a:t>protection. In </a:t>
            </a:r>
            <a:r>
              <a:rPr lang="en-US" dirty="0"/>
              <a:t>case of loss or theft, most Forex Cards can be </a:t>
            </a:r>
            <a:r>
              <a:rPr lang="en-US" dirty="0" smtClean="0"/>
              <a:t>blocked.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Cost-effectiveness</a:t>
            </a:r>
          </a:p>
          <a:p>
            <a:pPr lvl="1"/>
            <a:r>
              <a:rPr lang="en-US" dirty="0" smtClean="0"/>
              <a:t>Forex </a:t>
            </a:r>
            <a:r>
              <a:rPr lang="en-US" dirty="0"/>
              <a:t>Cards have lower fees than International Debit or Credit Cards. </a:t>
            </a:r>
            <a:endParaRPr lang="en-US" dirty="0" smtClean="0"/>
          </a:p>
          <a:p>
            <a:pPr lvl="1"/>
            <a:r>
              <a:rPr lang="en-US" dirty="0" smtClean="0"/>
              <a:t>Can save you </a:t>
            </a:r>
            <a:r>
              <a:rPr lang="en-US" dirty="0"/>
              <a:t>from fluctuating exchange rates while transacting abroad.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Reloadable</a:t>
            </a:r>
          </a:p>
          <a:p>
            <a:pPr lvl="1"/>
            <a:r>
              <a:rPr lang="en-US" dirty="0" smtClean="0"/>
              <a:t>You </a:t>
            </a:r>
            <a:r>
              <a:rPr lang="en-US" dirty="0"/>
              <a:t>can reload money onto the card at any time, online through Internet banking/mobile banking </a:t>
            </a:r>
            <a:r>
              <a:rPr lang="en-US" dirty="0" smtClean="0"/>
              <a:t>app</a:t>
            </a:r>
            <a:r>
              <a:rPr lang="en-US" dirty="0"/>
              <a:t>.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Multi-currency support</a:t>
            </a:r>
          </a:p>
          <a:p>
            <a:pPr lvl="1"/>
            <a:r>
              <a:rPr lang="en-US" dirty="0" smtClean="0"/>
              <a:t>Allowing </a:t>
            </a:r>
            <a:r>
              <a:rPr lang="en-US" dirty="0"/>
              <a:t>you to load funds in various currencies on a single card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7941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Various Charges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Card issuance Fee: </a:t>
            </a:r>
            <a:r>
              <a:rPr lang="en-US" dirty="0"/>
              <a:t>A</a:t>
            </a:r>
            <a:r>
              <a:rPr lang="en-US" dirty="0" smtClean="0"/>
              <a:t>t the time of card issuing.</a:t>
            </a:r>
          </a:p>
          <a:p>
            <a:r>
              <a:rPr lang="en-US" b="1" dirty="0">
                <a:solidFill>
                  <a:srgbClr val="C00000"/>
                </a:solidFill>
              </a:rPr>
              <a:t>ATM Withdrawal </a:t>
            </a:r>
            <a:r>
              <a:rPr lang="en-US" b="1" dirty="0" smtClean="0">
                <a:solidFill>
                  <a:srgbClr val="C00000"/>
                </a:solidFill>
              </a:rPr>
              <a:t>Fee: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 smtClean="0"/>
              <a:t>Some </a:t>
            </a:r>
            <a:r>
              <a:rPr lang="en-US" dirty="0"/>
              <a:t>banks may charge a fee for ATM withdrawals, especially if the withdrawal amount exceeds a certain limit</a:t>
            </a:r>
            <a:r>
              <a:rPr lang="en-US" dirty="0" smtClean="0"/>
              <a:t>.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Currency Conversion Fee: </a:t>
            </a:r>
            <a:r>
              <a:rPr lang="en-US" dirty="0" smtClean="0"/>
              <a:t>At the time of loading the money.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Reload charges: </a:t>
            </a:r>
            <a:r>
              <a:rPr lang="en-US" dirty="0" smtClean="0"/>
              <a:t>When you reload the card.</a:t>
            </a:r>
          </a:p>
          <a:p>
            <a:r>
              <a:rPr lang="en-US" b="1" dirty="0">
                <a:solidFill>
                  <a:srgbClr val="C00000"/>
                </a:solidFill>
              </a:rPr>
              <a:t>Cross Currency Conversion </a:t>
            </a:r>
            <a:r>
              <a:rPr lang="en-US" b="1" dirty="0" smtClean="0">
                <a:solidFill>
                  <a:srgbClr val="C00000"/>
                </a:solidFill>
              </a:rPr>
              <a:t>Fee: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 smtClean="0"/>
              <a:t>This </a:t>
            </a:r>
            <a:r>
              <a:rPr lang="en-US" dirty="0"/>
              <a:t>fee is charged for converting your currency to the local currency during a transaction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IN" b="1" dirty="0">
                <a:solidFill>
                  <a:srgbClr val="C00000"/>
                </a:solidFill>
              </a:rPr>
              <a:t>Cash Advance/</a:t>
            </a:r>
            <a:r>
              <a:rPr lang="en-IN" b="1" dirty="0" err="1">
                <a:solidFill>
                  <a:srgbClr val="C00000"/>
                </a:solidFill>
              </a:rPr>
              <a:t>Cash@POS</a:t>
            </a:r>
            <a:r>
              <a:rPr lang="en-IN" b="1" dirty="0">
                <a:solidFill>
                  <a:srgbClr val="C00000"/>
                </a:solidFill>
              </a:rPr>
              <a:t> Transactions </a:t>
            </a:r>
            <a:r>
              <a:rPr lang="en-IN" b="1" dirty="0" smtClean="0">
                <a:solidFill>
                  <a:srgbClr val="C00000"/>
                </a:solidFill>
              </a:rPr>
              <a:t>Fee: </a:t>
            </a:r>
            <a:r>
              <a:rPr lang="en-IN" dirty="0" smtClean="0"/>
              <a:t>Cash withdrawal at merchant POS </a:t>
            </a:r>
            <a:r>
              <a:rPr lang="en-IN" dirty="0" err="1" smtClean="0"/>
              <a:t>chargable</a:t>
            </a:r>
            <a:r>
              <a:rPr lang="en-IN" dirty="0" smtClean="0"/>
              <a:t>.</a:t>
            </a:r>
          </a:p>
          <a:p>
            <a:r>
              <a:rPr lang="en-IN" b="1" dirty="0">
                <a:solidFill>
                  <a:srgbClr val="C00000"/>
                </a:solidFill>
              </a:rPr>
              <a:t>Lost Card Replacement </a:t>
            </a:r>
            <a:r>
              <a:rPr lang="en-IN" b="1" dirty="0" smtClean="0">
                <a:solidFill>
                  <a:srgbClr val="C00000"/>
                </a:solidFill>
              </a:rPr>
              <a:t>Fee: </a:t>
            </a:r>
            <a:r>
              <a:rPr lang="en-IN" dirty="0" smtClean="0"/>
              <a:t>Separate charges for Indian and International location.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131180" y="6269343"/>
            <a:ext cx="5115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Source: Website of HDFC Bank, ICICI Bank, AXIS Bank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7658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1A990D-86F8-4B2C-93D5-C692715C2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credit card is a </a:t>
            </a:r>
            <a:r>
              <a:rPr lang="en-US" b="1" dirty="0">
                <a:solidFill>
                  <a:srgbClr val="C00000"/>
                </a:solidFill>
              </a:rPr>
              <a:t>type of credit facility</a:t>
            </a:r>
            <a:r>
              <a:rPr lang="en-US" dirty="0"/>
              <a:t>, provided by banks that allow customers to </a:t>
            </a:r>
            <a:r>
              <a:rPr lang="en-US" b="1" dirty="0">
                <a:solidFill>
                  <a:srgbClr val="C00000"/>
                </a:solidFill>
              </a:rPr>
              <a:t>borrow funds within a pre-approved credit limit. </a:t>
            </a:r>
          </a:p>
          <a:p>
            <a:r>
              <a:rPr lang="en-US" dirty="0"/>
              <a:t>It enables customers to make </a:t>
            </a:r>
            <a:r>
              <a:rPr lang="en-US" b="1" dirty="0">
                <a:solidFill>
                  <a:srgbClr val="C00000"/>
                </a:solidFill>
              </a:rPr>
              <a:t>purchase transactions on goods and services.</a:t>
            </a:r>
          </a:p>
          <a:p>
            <a:r>
              <a:rPr lang="en-US" dirty="0"/>
              <a:t>A credit card is a financial tool offered by a bank as a </a:t>
            </a:r>
            <a:r>
              <a:rPr lang="en-US" b="1" dirty="0">
                <a:solidFill>
                  <a:srgbClr val="C00000"/>
                </a:solidFill>
              </a:rPr>
              <a:t>type of loan</a:t>
            </a:r>
            <a:r>
              <a:rPr lang="en-US" dirty="0"/>
              <a:t>, with a line of </a:t>
            </a:r>
            <a:r>
              <a:rPr lang="en-US" b="1" dirty="0">
                <a:solidFill>
                  <a:srgbClr val="C00000"/>
                </a:solidFill>
              </a:rPr>
              <a:t>revolving credit</a:t>
            </a:r>
            <a:r>
              <a:rPr lang="en-US" dirty="0"/>
              <a:t> that you can access with your card account.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B6CFDA1-3C94-4561-BA9F-F95C22086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Credit Card: Introduction</a:t>
            </a:r>
            <a:endParaRPr lang="en-IN" dirty="0"/>
          </a:p>
        </p:txBody>
      </p:sp>
      <p:pic>
        <p:nvPicPr>
          <p:cNvPr id="2050" name="Picture 2" descr="Why Indians are getting more, and using more, credit cards - The Wee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63507"/>
            <a:ext cx="5034552" cy="2934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744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1536C-44E1-FC0A-A7D4-6041D689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and Disadvantages of Credit Card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72C0D-1C48-EDBA-1D75-567E7CE50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5470630" cy="5590565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 smtClean="0">
                <a:latin typeface="+mj-lt"/>
                <a:cs typeface="Times New Roman" panose="02020603050405020304" pitchFamily="18" charset="0"/>
              </a:rPr>
              <a:t>Benefits of Credit Card</a:t>
            </a:r>
          </a:p>
          <a:p>
            <a:r>
              <a:rPr lang="en-US" dirty="0"/>
              <a:t>Easy access to credit</a:t>
            </a:r>
          </a:p>
          <a:p>
            <a:r>
              <a:rPr lang="en-US" dirty="0"/>
              <a:t>Building a line of credit</a:t>
            </a:r>
          </a:p>
          <a:p>
            <a:r>
              <a:rPr lang="en-US" dirty="0"/>
              <a:t>EMI facility</a:t>
            </a:r>
          </a:p>
          <a:p>
            <a:r>
              <a:rPr lang="en-US" dirty="0"/>
              <a:t>Incentives and offers</a:t>
            </a:r>
          </a:p>
          <a:p>
            <a:r>
              <a:rPr lang="en-US" dirty="0"/>
              <a:t>Flexible credit</a:t>
            </a:r>
          </a:p>
          <a:p>
            <a:r>
              <a:rPr lang="en-US" dirty="0"/>
              <a:t>Record of expenses</a:t>
            </a:r>
          </a:p>
          <a:p>
            <a:r>
              <a:rPr lang="en-US" dirty="0"/>
              <a:t>Purchase protection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915689-FDD5-A945-44A3-77279F546FF9}"/>
              </a:ext>
            </a:extLst>
          </p:cNvPr>
          <p:cNvSpPr txBox="1">
            <a:spLocks/>
          </p:cNvSpPr>
          <p:nvPr/>
        </p:nvSpPr>
        <p:spPr>
          <a:xfrm>
            <a:off x="6096000" y="849478"/>
            <a:ext cx="547063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430" indent="-26543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+mj-lt"/>
                <a:cs typeface="Times New Roman" panose="02020603050405020304" pitchFamily="18" charset="0"/>
              </a:rPr>
              <a:t>Disadvantages of </a:t>
            </a:r>
            <a:r>
              <a:rPr lang="en-US" b="1" dirty="0" smtClean="0">
                <a:latin typeface="+mj-lt"/>
                <a:cs typeface="Times New Roman" panose="02020603050405020304" pitchFamily="18" charset="0"/>
              </a:rPr>
              <a:t>Credit Card</a:t>
            </a:r>
            <a:endParaRPr lang="en-US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dirty="0">
                <a:latin typeface="+mj-lt"/>
                <a:cs typeface="Times New Roman" panose="02020603050405020304" pitchFamily="18" charset="0"/>
              </a:rPr>
              <a:t>Minimum due trap</a:t>
            </a:r>
          </a:p>
          <a:p>
            <a:r>
              <a:rPr lang="en-US" dirty="0">
                <a:latin typeface="+mj-lt"/>
                <a:cs typeface="Times New Roman" panose="02020603050405020304" pitchFamily="18" charset="0"/>
              </a:rPr>
              <a:t>Hidden costs</a:t>
            </a:r>
          </a:p>
          <a:p>
            <a:r>
              <a:rPr lang="en-US" dirty="0">
                <a:latin typeface="+mj-lt"/>
                <a:cs typeface="Times New Roman" panose="02020603050405020304" pitchFamily="18" charset="0"/>
              </a:rPr>
              <a:t>Easy to overuse</a:t>
            </a:r>
          </a:p>
          <a:p>
            <a:r>
              <a:rPr lang="en-US" dirty="0">
                <a:latin typeface="+mj-lt"/>
                <a:cs typeface="Times New Roman" panose="02020603050405020304" pitchFamily="18" charset="0"/>
              </a:rPr>
              <a:t>High interest rate</a:t>
            </a:r>
          </a:p>
          <a:p>
            <a:r>
              <a:rPr lang="en-US" dirty="0">
                <a:latin typeface="+mj-lt"/>
                <a:cs typeface="Times New Roman" panose="02020603050405020304" pitchFamily="18" charset="0"/>
              </a:rPr>
              <a:t>Credit card fraud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20DFB7-B2B4-2C36-4395-0BB4B92141BE}"/>
              </a:ext>
            </a:extLst>
          </p:cNvPr>
          <p:cNvCxnSpPr/>
          <p:nvPr/>
        </p:nvCxnSpPr>
        <p:spPr>
          <a:xfrm>
            <a:off x="5859262" y="863444"/>
            <a:ext cx="0" cy="559056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3906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1A990D-86F8-4B2C-93D5-C692715C2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  <a:p>
            <a:pPr lvl="1"/>
            <a:r>
              <a:rPr lang="en-US" dirty="0"/>
              <a:t>This circular is aimed at providing</a:t>
            </a:r>
            <a:r>
              <a:rPr lang="en-US" b="1" dirty="0">
                <a:solidFill>
                  <a:srgbClr val="C00000"/>
                </a:solidFill>
              </a:rPr>
              <a:t> general guidance to banks/NBFCs on their credit card operations</a:t>
            </a:r>
            <a:r>
              <a:rPr lang="en-US" dirty="0"/>
              <a:t>, and the </a:t>
            </a:r>
            <a:r>
              <a:rPr lang="en-US" b="1" dirty="0">
                <a:solidFill>
                  <a:srgbClr val="C00000"/>
                </a:solidFill>
              </a:rPr>
              <a:t>systems and controls </a:t>
            </a:r>
            <a:r>
              <a:rPr lang="en-US" dirty="0"/>
              <a:t>expected of them in managing their credit card business. </a:t>
            </a:r>
            <a:endParaRPr lang="en-US" dirty="0" smtClean="0"/>
          </a:p>
          <a:p>
            <a:pPr lvl="1"/>
            <a:r>
              <a:rPr lang="en-US" dirty="0" smtClean="0"/>
              <a:t>It </a:t>
            </a:r>
            <a:r>
              <a:rPr lang="en-US" dirty="0"/>
              <a:t>also sets out the best practices that they should aim to achieve.</a:t>
            </a:r>
          </a:p>
          <a:p>
            <a:pPr lvl="0">
              <a:buClr>
                <a:srgbClr val="B84742"/>
              </a:buClr>
            </a:pPr>
            <a:r>
              <a:rPr lang="en-US" b="1" dirty="0"/>
              <a:t>Issue of </a:t>
            </a:r>
            <a:r>
              <a:rPr lang="en-US" b="1" dirty="0" smtClean="0"/>
              <a:t>Cards</a:t>
            </a:r>
            <a:endParaRPr lang="en-US" b="1" dirty="0"/>
          </a:p>
          <a:p>
            <a:pPr lvl="1"/>
            <a:r>
              <a:rPr lang="en-US" dirty="0"/>
              <a:t>Banks in India can undertake credit card business </a:t>
            </a:r>
            <a:r>
              <a:rPr lang="en-US" b="1" dirty="0">
                <a:solidFill>
                  <a:srgbClr val="C00000"/>
                </a:solidFill>
              </a:rPr>
              <a:t>either departmentally or through a subsidiary company</a:t>
            </a:r>
            <a:r>
              <a:rPr lang="en-US" dirty="0"/>
              <a:t> set up for the purpose. 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Prior approval of the Reserve Bank is not necessary </a:t>
            </a:r>
            <a:r>
              <a:rPr lang="en-US" dirty="0"/>
              <a:t>for banks </a:t>
            </a:r>
            <a:r>
              <a:rPr lang="en-US" dirty="0" smtClean="0"/>
              <a:t>for undertaking </a:t>
            </a:r>
            <a:r>
              <a:rPr lang="en-US" dirty="0"/>
              <a:t>credit card business either independently or in tie-up arrangement with other card issuing banks. </a:t>
            </a:r>
          </a:p>
          <a:p>
            <a:pPr lvl="1"/>
            <a:r>
              <a:rPr lang="en-US" dirty="0"/>
              <a:t>Each bank </a:t>
            </a:r>
            <a:r>
              <a:rPr lang="en-US" b="1" dirty="0">
                <a:solidFill>
                  <a:srgbClr val="C00000"/>
                </a:solidFill>
              </a:rPr>
              <a:t>must have a well documented policy </a:t>
            </a:r>
            <a:r>
              <a:rPr lang="en-US" dirty="0"/>
              <a:t>and a </a:t>
            </a:r>
            <a:r>
              <a:rPr lang="en-US" b="1" dirty="0" smtClean="0">
                <a:solidFill>
                  <a:srgbClr val="C00000"/>
                </a:solidFill>
              </a:rPr>
              <a:t>Fair Practices </a:t>
            </a:r>
            <a:r>
              <a:rPr lang="en-US" b="1" dirty="0">
                <a:solidFill>
                  <a:srgbClr val="C00000"/>
                </a:solidFill>
              </a:rPr>
              <a:t>Code </a:t>
            </a:r>
            <a:r>
              <a:rPr lang="en-US" dirty="0"/>
              <a:t>for credit card operations. </a:t>
            </a:r>
          </a:p>
          <a:p>
            <a:pPr lvl="1"/>
            <a:r>
              <a:rPr lang="en-US" dirty="0"/>
              <a:t>Banks/NBFCs should </a:t>
            </a:r>
            <a:r>
              <a:rPr lang="en-US" b="1" dirty="0">
                <a:solidFill>
                  <a:srgbClr val="C00000"/>
                </a:solidFill>
              </a:rPr>
              <a:t>ensure prudence while issuing credit cards</a:t>
            </a:r>
            <a:r>
              <a:rPr lang="en-US" dirty="0"/>
              <a:t>. 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B6CFDA1-3C94-4561-BA9F-F95C22086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Credit Card: Guidelines on Credit Card Operations (RBI)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2116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1A990D-86F8-4B2C-93D5-C692715C2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Types of Credit Cards</a:t>
            </a:r>
          </a:p>
          <a:p>
            <a:pPr lvl="1"/>
            <a:r>
              <a:rPr lang="en-US" dirty="0" smtClean="0"/>
              <a:t>Banks </a:t>
            </a:r>
            <a:r>
              <a:rPr lang="en-US" dirty="0"/>
              <a:t>may issue credit cards including </a:t>
            </a:r>
            <a:r>
              <a:rPr lang="en-US" b="1" dirty="0">
                <a:solidFill>
                  <a:srgbClr val="C00000"/>
                </a:solidFill>
              </a:rPr>
              <a:t>co-branded credit cards, corporate credit cards to the employees of their corporate customers, as well as add-on credit cards. </a:t>
            </a:r>
            <a:r>
              <a:rPr lang="en-US" dirty="0"/>
              <a:t>(Ex. Cash back credit cards, Travel credit cards, Business credit cards, Student credit cards, Secured credit cards)</a:t>
            </a:r>
          </a:p>
          <a:p>
            <a:pPr lvl="0">
              <a:buClr>
                <a:srgbClr val="B84742"/>
              </a:buClr>
            </a:pPr>
            <a:r>
              <a:rPr lang="en-US" b="1" dirty="0"/>
              <a:t>Compliance with Know Your Customer (KYC) Norms</a:t>
            </a:r>
          </a:p>
          <a:p>
            <a:pPr lvl="1">
              <a:buClr>
                <a:srgbClr val="B84742"/>
              </a:buClr>
            </a:pPr>
            <a:r>
              <a:rPr lang="en-US" dirty="0"/>
              <a:t>The instructions/guidelines on </a:t>
            </a:r>
            <a:r>
              <a:rPr lang="en-US" b="1" dirty="0" smtClean="0">
                <a:solidFill>
                  <a:srgbClr val="C00000"/>
                </a:solidFill>
              </a:rPr>
              <a:t>KYC applicable </a:t>
            </a:r>
            <a:r>
              <a:rPr lang="en-US" b="1" dirty="0">
                <a:solidFill>
                  <a:srgbClr val="C00000"/>
                </a:solidFill>
              </a:rPr>
              <a:t>to banks, issued by RBI from time to time,</a:t>
            </a:r>
            <a:r>
              <a:rPr lang="en-US" dirty="0"/>
              <a:t> may be adhered to in respect of all cards issued, including co-branded, corporate, and add on credit cards.</a:t>
            </a:r>
          </a:p>
          <a:p>
            <a:pPr lvl="0">
              <a:buClr>
                <a:srgbClr val="B84742"/>
              </a:buClr>
            </a:pPr>
            <a:r>
              <a:rPr lang="en-US" b="1" dirty="0" smtClean="0"/>
              <a:t>Interest Rates and Other Charges</a:t>
            </a:r>
          </a:p>
          <a:p>
            <a:pPr lvl="1">
              <a:buClr>
                <a:srgbClr val="B84742"/>
              </a:buClr>
            </a:pPr>
            <a:r>
              <a:rPr lang="en-US" dirty="0" smtClean="0"/>
              <a:t>While </a:t>
            </a:r>
            <a:r>
              <a:rPr lang="en-US" dirty="0"/>
              <a:t>determining the interest rate on credit card dues, the latter being in the nature of </a:t>
            </a:r>
            <a:r>
              <a:rPr lang="en-US" b="1" dirty="0">
                <a:solidFill>
                  <a:srgbClr val="C00000"/>
                </a:solidFill>
              </a:rPr>
              <a:t>non-priority sector personal loans</a:t>
            </a:r>
            <a:r>
              <a:rPr lang="en-US" dirty="0"/>
              <a:t>. </a:t>
            </a:r>
            <a:endParaRPr lang="en-US" dirty="0" smtClean="0"/>
          </a:p>
          <a:p>
            <a:pPr lvl="1">
              <a:buClr>
                <a:srgbClr val="B84742"/>
              </a:buClr>
            </a:pPr>
            <a:r>
              <a:rPr lang="en-US" dirty="0" smtClean="0"/>
              <a:t>Banks </a:t>
            </a:r>
            <a:r>
              <a:rPr lang="en-US" b="1" dirty="0">
                <a:solidFill>
                  <a:srgbClr val="C00000"/>
                </a:solidFill>
              </a:rPr>
              <a:t>should also prescribe a ceiling rate of interest</a:t>
            </a:r>
            <a:r>
              <a:rPr lang="en-US" dirty="0"/>
              <a:t>, including </a:t>
            </a:r>
            <a:r>
              <a:rPr lang="en-US" b="1" dirty="0">
                <a:solidFill>
                  <a:srgbClr val="C00000"/>
                </a:solidFill>
              </a:rPr>
              <a:t>processing and other charges</a:t>
            </a:r>
            <a:r>
              <a:rPr lang="en-US" dirty="0"/>
              <a:t>, in respect of credit cards.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B6CFDA1-3C94-4561-BA9F-F95C22086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Credit Card: Guidelines on Credit Card Operations (RBI)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276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Loans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67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346A5C-105E-49F7-878C-054C6E3B0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175311" cy="5590565"/>
          </a:xfrm>
        </p:spPr>
        <p:txBody>
          <a:bodyPr/>
          <a:lstStyle/>
          <a:p>
            <a:r>
              <a:rPr lang="en-US" dirty="0"/>
              <a:t>According to Cambridge Advanced Learner’s Dictionary, a loan means “</a:t>
            </a:r>
            <a:r>
              <a:rPr lang="en-US" b="1" dirty="0">
                <a:solidFill>
                  <a:srgbClr val="C00000"/>
                </a:solidFill>
              </a:rPr>
              <a:t>a sum of money which is borrowed, </a:t>
            </a:r>
            <a:r>
              <a:rPr lang="en-US" dirty="0"/>
              <a:t>often from a bank, </a:t>
            </a:r>
            <a:r>
              <a:rPr lang="en-US" b="1" dirty="0">
                <a:solidFill>
                  <a:srgbClr val="C00000"/>
                </a:solidFill>
              </a:rPr>
              <a:t>and has to be paid back, usually together with an extra amount of money</a:t>
            </a:r>
            <a:r>
              <a:rPr lang="en-US" dirty="0"/>
              <a:t> that you have to pay as a charge for borrowing.”</a:t>
            </a:r>
          </a:p>
          <a:p>
            <a:r>
              <a:rPr lang="en-US" dirty="0"/>
              <a:t>The loans may be repaid </a:t>
            </a:r>
            <a:r>
              <a:rPr lang="en-US" b="1" dirty="0">
                <a:solidFill>
                  <a:srgbClr val="C00000"/>
                </a:solidFill>
              </a:rPr>
              <a:t>in installments or at the expiry of a certain period.</a:t>
            </a:r>
            <a:r>
              <a:rPr lang="en-US" dirty="0"/>
              <a:t> The loan may be made with or without security.</a:t>
            </a:r>
          </a:p>
          <a:p>
            <a:r>
              <a:rPr lang="en-US" dirty="0"/>
              <a:t>Once repaid in full or in part, a loan cannot be withdrawn again by the customer. In case a borrower wants a </a:t>
            </a:r>
            <a:r>
              <a:rPr lang="en-US" b="1" dirty="0">
                <a:solidFill>
                  <a:srgbClr val="C00000"/>
                </a:solidFill>
              </a:rPr>
              <a:t>further loan, he has to arrange for a fresh loan.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857B86-4073-4DA7-9848-CF2AA68EE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Loans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777418-E5EB-4E6A-BE25-BD60F70E01E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7865706" y="863444"/>
          <a:ext cx="3889732" cy="5590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162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415AA1C-0DB8-458C-B28A-06CD9DF57E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A52717E-C80F-4B30-A590-4FB7249FCA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EB9A1DF-F18A-4294-A1FF-2985FA3C88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4ADF544-0917-4C57-A945-3B75314647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076950C-B835-42DD-90A5-7434565D4F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Graphic spid="4" grpId="0">
        <p:bldSub>
          <a:bldDgm bld="one"/>
        </p:bldSub>
      </p:bldGraphic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B5054D-373F-4435-B9E4-D62CEF177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Secured Loan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8962EE-3BCB-4C55-81B1-E34F6F98F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713503" cy="5590565"/>
          </a:xfrm>
        </p:spPr>
        <p:txBody>
          <a:bodyPr/>
          <a:lstStyle/>
          <a:p>
            <a:r>
              <a:rPr lang="en-US" dirty="0"/>
              <a:t>A secured loan is a loan given out by a financial institution wherein an </a:t>
            </a:r>
            <a:r>
              <a:rPr lang="en-US" b="1" dirty="0">
                <a:solidFill>
                  <a:srgbClr val="C00000"/>
                </a:solidFill>
              </a:rPr>
              <a:t>asset is used as collateral or security </a:t>
            </a:r>
            <a:r>
              <a:rPr lang="en-US" dirty="0"/>
              <a:t>for the loan. </a:t>
            </a:r>
          </a:p>
          <a:p>
            <a:pPr lvl="1"/>
            <a:r>
              <a:rPr lang="en-US" dirty="0"/>
              <a:t>For example, you can use your house, gold, etc., to avail a loan amount that corresponds to the asset’s value. </a:t>
            </a:r>
          </a:p>
          <a:p>
            <a:r>
              <a:rPr lang="en-US" dirty="0"/>
              <a:t>In the case of a secured loan, the bank or financial institution that is dispensing the loan will hold on to the </a:t>
            </a:r>
            <a:r>
              <a:rPr lang="en-US" b="1" dirty="0">
                <a:solidFill>
                  <a:srgbClr val="C00000"/>
                </a:solidFill>
              </a:rPr>
              <a:t>ownership deed of the asset until the loan is paid off.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378C9B-9073-3EF3-3852-B5EDE483B29B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7184572" y="711201"/>
          <a:ext cx="5007428" cy="5876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7684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415AA1C-0DB8-458C-B28A-06CD9DF57E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A52717E-C80F-4B30-A590-4FB7249FCA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EB9A1DF-F18A-4294-A1FF-2985FA3C88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8A68575-FA94-4272-8D9D-BF4CAC0B2B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E06E48F-7BF9-4001-AD7E-93B45013A0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ED48EE5-2790-4792-8EEB-6FD8B0BEA5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965A69F-D13C-407B-A241-5FDB358B42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2C3758-F6B5-4C56-B7AA-F6101789D2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F209913-FEDF-4D23-A36D-9BBE7CE4CF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CD97F39-7ED3-41BC-8EEF-FEEC422902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920BEB0-1F05-495B-8301-35EEC9B5EA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4ADF544-0917-4C57-A945-3B75314647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076950C-B835-42DD-90A5-7434565D4F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63491E1-8997-4292-97E3-D108799D8D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45D2D3F-34E2-45ED-890A-303EFD9210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Graphic spid="4" grpId="0">
        <p:bldSub>
          <a:bldDgm bld="one"/>
        </p:bldSub>
      </p:bldGraphic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ED7B2A-766E-4908-804F-C9A022588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Unsecured Loan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7922C0-09DD-453E-BA5A-355FE2861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944323" cy="5590565"/>
          </a:xfrm>
        </p:spPr>
        <p:txBody>
          <a:bodyPr/>
          <a:lstStyle/>
          <a:p>
            <a:r>
              <a:rPr lang="en-US" dirty="0"/>
              <a:t>Unsecured loans, like the name suggests, is a loan that is </a:t>
            </a:r>
            <a:r>
              <a:rPr lang="en-US" b="1" dirty="0">
                <a:solidFill>
                  <a:srgbClr val="C00000"/>
                </a:solidFill>
              </a:rPr>
              <a:t>not secured by a collateral </a:t>
            </a:r>
            <a:r>
              <a:rPr lang="en-US" dirty="0"/>
              <a:t>such as land, gold, etc. </a:t>
            </a:r>
          </a:p>
          <a:p>
            <a:r>
              <a:rPr lang="en-US" dirty="0"/>
              <a:t>These loans are comparatively </a:t>
            </a:r>
            <a:r>
              <a:rPr lang="en-US" b="1" dirty="0">
                <a:solidFill>
                  <a:srgbClr val="C00000"/>
                </a:solidFill>
              </a:rPr>
              <a:t>riskier </a:t>
            </a:r>
            <a:r>
              <a:rPr lang="en-US" dirty="0"/>
              <a:t>to a lender and therefore associated with a high interest rate. </a:t>
            </a:r>
          </a:p>
          <a:p>
            <a:r>
              <a:rPr lang="en-US" dirty="0"/>
              <a:t>When a lender releases an unsecured loan, he does so after evaluating your </a:t>
            </a:r>
            <a:r>
              <a:rPr lang="en-US" b="1" dirty="0">
                <a:solidFill>
                  <a:srgbClr val="C00000"/>
                </a:solidFill>
              </a:rPr>
              <a:t>financial status and assessing whether or not you are capable of repaying your loan.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1A33A03-12DA-D406-C1DE-5D4CCA9DF20F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703223" y="711201"/>
          <a:ext cx="5488777" cy="58950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515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415AA1C-0DB8-458C-B28A-06CD9DF57E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A52717E-C80F-4B30-A590-4FB7249FCA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EB9A1DF-F18A-4294-A1FF-2985FA3C88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8A68575-FA94-4272-8D9D-BF4CAC0B2B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E06E48F-7BF9-4001-AD7E-93B45013A0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ED48EE5-2790-4792-8EEB-6FD8B0BEA5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965A69F-D13C-407B-A241-5FDB358B42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2C3758-F6B5-4C56-B7AA-F6101789D2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F209913-FEDF-4D23-A36D-9BBE7CE4CF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1966EFE-8B0C-46BD-925D-D61839E108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09B4978-D6C2-4D48-AE5C-B69C97A9C5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4ADF544-0917-4C57-A945-3B75314647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076950C-B835-42DD-90A5-7434565D4F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Graphic spid="4" grpId="0">
        <p:bldSub>
          <a:bldDgm bld="one"/>
        </p:bldSub>
      </p:bldGraphic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Personal Loans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Generally, </a:t>
            </a:r>
            <a:r>
              <a:rPr lang="en-US" b="1" dirty="0">
                <a:solidFill>
                  <a:srgbClr val="C00000"/>
                </a:solidFill>
              </a:rPr>
              <a:t>banks give a loan against some security, so that it can fall back on it in case of </a:t>
            </a:r>
            <a:r>
              <a:rPr lang="en-US" b="1" dirty="0" smtClean="0">
                <a:solidFill>
                  <a:srgbClr val="C00000"/>
                </a:solidFill>
              </a:rPr>
              <a:t>a default</a:t>
            </a:r>
            <a:r>
              <a:rPr lang="en-US" b="1" dirty="0">
                <a:solidFill>
                  <a:srgbClr val="C00000"/>
                </a:solidFill>
              </a:rPr>
              <a:t>. </a:t>
            </a:r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However</a:t>
            </a:r>
            <a:r>
              <a:rPr lang="en-US" dirty="0"/>
              <a:t>, sometimes loans are given against personal security </a:t>
            </a:r>
            <a:r>
              <a:rPr lang="en-US" b="1" dirty="0">
                <a:solidFill>
                  <a:srgbClr val="C00000"/>
                </a:solidFill>
              </a:rPr>
              <a:t>without any </a:t>
            </a:r>
            <a:r>
              <a:rPr lang="en-US" b="1" dirty="0" smtClean="0">
                <a:solidFill>
                  <a:srgbClr val="C00000"/>
                </a:solidFill>
              </a:rPr>
              <a:t>tangible security</a:t>
            </a:r>
            <a:r>
              <a:rPr lang="en-US" b="1" dirty="0">
                <a:solidFill>
                  <a:srgbClr val="C00000"/>
                </a:solidFill>
              </a:rPr>
              <a:t>. </a:t>
            </a:r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Examples </a:t>
            </a:r>
            <a:r>
              <a:rPr lang="en-US" dirty="0"/>
              <a:t>are </a:t>
            </a:r>
            <a:r>
              <a:rPr lang="en-US" b="1" dirty="0">
                <a:solidFill>
                  <a:srgbClr val="C00000"/>
                </a:solidFill>
              </a:rPr>
              <a:t>salary loan, loan to pensioners, loan to professionals</a:t>
            </a:r>
            <a:r>
              <a:rPr lang="en-US" dirty="0"/>
              <a:t>, etc. Most of </a:t>
            </a:r>
            <a:r>
              <a:rPr lang="en-US" dirty="0" smtClean="0"/>
              <a:t>the banks </a:t>
            </a:r>
            <a:r>
              <a:rPr lang="en-US" dirty="0"/>
              <a:t>give loans to the salaried class as the source of income is regular.</a:t>
            </a:r>
            <a:endParaRPr lang="en-IN" dirty="0"/>
          </a:p>
        </p:txBody>
      </p:sp>
      <p:pic>
        <p:nvPicPr>
          <p:cNvPr id="4" name="Picture 2" descr="Advantages of Personal Loan to Raise Funds for Business - Elets BFS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82"/>
          <a:stretch/>
        </p:blipFill>
        <p:spPr bwMode="auto">
          <a:xfrm>
            <a:off x="4125685" y="4332650"/>
            <a:ext cx="3410404" cy="1937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65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and Practices for Salary Loans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Target group</a:t>
            </a:r>
            <a:r>
              <a:rPr lang="en-US" dirty="0"/>
              <a:t>: Permanent employees with a minimum service/experience of say three </a:t>
            </a:r>
            <a:r>
              <a:rPr lang="en-US" dirty="0" smtClean="0"/>
              <a:t>years, with </a:t>
            </a:r>
            <a:r>
              <a:rPr lang="en-US" dirty="0"/>
              <a:t>a Govt./quasi Govt./boards/endowments/reputed companies/corporate </a:t>
            </a:r>
            <a:r>
              <a:rPr lang="en-US" dirty="0" smtClean="0"/>
              <a:t>industrial establishments</a:t>
            </a:r>
            <a:r>
              <a:rPr lang="en-US" dirty="0"/>
              <a:t>, etc.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stipulation of minimum period of service </a:t>
            </a:r>
            <a:r>
              <a:rPr lang="en-US" b="1" dirty="0">
                <a:solidFill>
                  <a:srgbClr val="C00000"/>
                </a:solidFill>
              </a:rPr>
              <a:t>may vary from bank </a:t>
            </a:r>
            <a:r>
              <a:rPr lang="en-US" b="1" dirty="0" smtClean="0">
                <a:solidFill>
                  <a:srgbClr val="C00000"/>
                </a:solidFill>
              </a:rPr>
              <a:t>to </a:t>
            </a:r>
            <a:r>
              <a:rPr lang="en-IN" b="1" dirty="0" smtClean="0">
                <a:solidFill>
                  <a:srgbClr val="C00000"/>
                </a:solidFill>
              </a:rPr>
              <a:t>bank</a:t>
            </a:r>
            <a:r>
              <a:rPr lang="en-IN" b="1" dirty="0">
                <a:solidFill>
                  <a:srgbClr val="C00000"/>
                </a:solidFill>
              </a:rPr>
              <a:t>.</a:t>
            </a:r>
          </a:p>
          <a:p>
            <a:r>
              <a:rPr lang="en-US" b="1" dirty="0"/>
              <a:t>Purpose:</a:t>
            </a:r>
            <a:r>
              <a:rPr lang="en-US" dirty="0"/>
              <a:t> For meeting of </a:t>
            </a:r>
            <a:r>
              <a:rPr lang="en-US" b="1" dirty="0">
                <a:solidFill>
                  <a:srgbClr val="C00000"/>
                </a:solidFill>
              </a:rPr>
              <a:t>marriage/educational and medical expenses, to celebrate </a:t>
            </a:r>
            <a:r>
              <a:rPr lang="en-US" b="1" dirty="0" smtClean="0">
                <a:solidFill>
                  <a:srgbClr val="C00000"/>
                </a:solidFill>
              </a:rPr>
              <a:t>family functions </a:t>
            </a:r>
            <a:r>
              <a:rPr lang="en-US" dirty="0"/>
              <a:t>and for </a:t>
            </a:r>
            <a:r>
              <a:rPr lang="en-US" b="1" dirty="0">
                <a:solidFill>
                  <a:srgbClr val="C00000"/>
                </a:solidFill>
              </a:rPr>
              <a:t>other household expenses</a:t>
            </a:r>
            <a:r>
              <a:rPr lang="en-US" dirty="0" smtClean="0"/>
              <a:t>.</a:t>
            </a:r>
          </a:p>
          <a:p>
            <a:r>
              <a:rPr lang="en-US" b="1" dirty="0"/>
              <a:t>Security: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Sometimes banks insist on the guarantee of another person</a:t>
            </a:r>
            <a:r>
              <a:rPr lang="en-US" dirty="0"/>
              <a:t>, if there is no </a:t>
            </a:r>
            <a:r>
              <a:rPr lang="en-US" dirty="0" smtClean="0"/>
              <a:t>collateral security</a:t>
            </a:r>
            <a:r>
              <a:rPr lang="en-US" dirty="0"/>
              <a:t>, or in case, the account is with the branch, </a:t>
            </a:r>
            <a:r>
              <a:rPr lang="en-US" b="1" dirty="0">
                <a:solidFill>
                  <a:srgbClr val="C00000"/>
                </a:solidFill>
              </a:rPr>
              <a:t>a letter giving an undertaking </a:t>
            </a:r>
            <a:r>
              <a:rPr lang="en-US" dirty="0"/>
              <a:t>from </a:t>
            </a:r>
            <a:r>
              <a:rPr lang="en-US" dirty="0" smtClean="0"/>
              <a:t>the borrower </a:t>
            </a:r>
            <a:r>
              <a:rPr lang="en-US" dirty="0"/>
              <a:t>to debit his account for the EMI</a:t>
            </a:r>
            <a:r>
              <a:rPr lang="en-US" dirty="0" smtClean="0"/>
              <a:t>.</a:t>
            </a:r>
          </a:p>
          <a:p>
            <a:r>
              <a:rPr lang="en-US" b="1" dirty="0"/>
              <a:t>Documents: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Proof of employment and salary certificate are normally obtained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After sanction of </a:t>
            </a:r>
            <a:r>
              <a:rPr lang="en-US" dirty="0"/>
              <a:t>the loan, banks take the necessary loan documents such as; </a:t>
            </a:r>
            <a:r>
              <a:rPr lang="en-US" b="1" dirty="0" smtClean="0">
                <a:solidFill>
                  <a:srgbClr val="C00000"/>
                </a:solidFill>
              </a:rPr>
              <a:t>DPN (</a:t>
            </a:r>
            <a:r>
              <a:rPr lang="en-IN" b="1" dirty="0" smtClean="0">
                <a:solidFill>
                  <a:srgbClr val="C00000"/>
                </a:solidFill>
              </a:rPr>
              <a:t>Demand </a:t>
            </a:r>
            <a:r>
              <a:rPr lang="en-IN" b="1" dirty="0">
                <a:solidFill>
                  <a:srgbClr val="C00000"/>
                </a:solidFill>
              </a:rPr>
              <a:t>Promissory </a:t>
            </a:r>
            <a:r>
              <a:rPr lang="en-IN" b="1" dirty="0" smtClean="0">
                <a:solidFill>
                  <a:srgbClr val="C00000"/>
                </a:solidFill>
              </a:rPr>
              <a:t>Note)</a:t>
            </a:r>
            <a:r>
              <a:rPr lang="en-US" b="1" dirty="0" smtClean="0">
                <a:solidFill>
                  <a:srgbClr val="C00000"/>
                </a:solidFill>
              </a:rPr>
              <a:t>, </a:t>
            </a:r>
            <a:r>
              <a:rPr lang="en-US" b="1" dirty="0">
                <a:solidFill>
                  <a:srgbClr val="C00000"/>
                </a:solidFill>
              </a:rPr>
              <a:t>salary loan </a:t>
            </a:r>
            <a:r>
              <a:rPr lang="en-US" b="1" dirty="0" smtClean="0">
                <a:solidFill>
                  <a:srgbClr val="C00000"/>
                </a:solidFill>
              </a:rPr>
              <a:t>agreement</a:t>
            </a:r>
            <a:r>
              <a:rPr lang="en-US" dirty="0" smtClean="0"/>
              <a:t>, etc</a:t>
            </a:r>
            <a:r>
              <a:rPr lang="en-US" dirty="0"/>
              <a:t>., from the borrower and a guarantee agreement from the guarantor, if any.</a:t>
            </a:r>
          </a:p>
        </p:txBody>
      </p:sp>
    </p:spTree>
    <p:extLst>
      <p:ext uri="{BB962C8B-B14F-4D97-AF65-F5344CB8AC3E}">
        <p14:creationId xmlns:p14="http://schemas.microsoft.com/office/powerpoint/2010/main" val="27592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and Practices for Salary Loans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Eligible Amount</a:t>
            </a:r>
            <a:r>
              <a:rPr lang="en-US" dirty="0" smtClean="0"/>
              <a:t>: The eligible amount of a loan is </a:t>
            </a:r>
            <a:r>
              <a:rPr lang="en-US" b="1" dirty="0" smtClean="0">
                <a:solidFill>
                  <a:srgbClr val="C00000"/>
                </a:solidFill>
              </a:rPr>
              <a:t>calculated based on the gross/net salary. </a:t>
            </a:r>
          </a:p>
          <a:p>
            <a:pPr lvl="1"/>
            <a:r>
              <a:rPr lang="en-US" dirty="0" smtClean="0"/>
              <a:t>While arriving at the quantum of loan, the minimum take home pay say, </a:t>
            </a:r>
            <a:r>
              <a:rPr lang="en-US" b="1" dirty="0" smtClean="0">
                <a:solidFill>
                  <a:srgbClr val="C00000"/>
                </a:solidFill>
              </a:rPr>
              <a:t>forty per cent of the gross salary</a:t>
            </a:r>
            <a:r>
              <a:rPr lang="en-US" dirty="0" smtClean="0"/>
              <a:t>, will be stipulated after the proposed EMI. 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</a:rPr>
              <a:t>Some banks consider </a:t>
            </a:r>
            <a:r>
              <a:rPr lang="en-US" b="1" dirty="0">
                <a:solidFill>
                  <a:srgbClr val="C00000"/>
                </a:solidFill>
              </a:rPr>
              <a:t>a greater amount of the loan</a:t>
            </a:r>
            <a:r>
              <a:rPr lang="en-US" dirty="0"/>
              <a:t>, if the employer gives an </a:t>
            </a:r>
            <a:r>
              <a:rPr lang="en-US" b="1" dirty="0">
                <a:solidFill>
                  <a:srgbClr val="C00000"/>
                </a:solidFill>
              </a:rPr>
              <a:t>undertaking to the bank </a:t>
            </a:r>
            <a:r>
              <a:rPr lang="en-US" b="1" dirty="0" smtClean="0">
                <a:solidFill>
                  <a:srgbClr val="C00000"/>
                </a:solidFill>
              </a:rPr>
              <a:t>to recover </a:t>
            </a:r>
            <a:r>
              <a:rPr lang="en-US" b="1" dirty="0">
                <a:solidFill>
                  <a:srgbClr val="C00000"/>
                </a:solidFill>
              </a:rPr>
              <a:t>the EMI from the salary</a:t>
            </a:r>
            <a:r>
              <a:rPr lang="en-US" dirty="0"/>
              <a:t> and remit it into the bank. </a:t>
            </a:r>
            <a:endParaRPr lang="en-US" dirty="0" smtClean="0"/>
          </a:p>
          <a:p>
            <a:pPr lvl="1"/>
            <a:r>
              <a:rPr lang="en-US" dirty="0" smtClean="0"/>
              <a:t>In </a:t>
            </a:r>
            <a:r>
              <a:rPr lang="en-US" dirty="0"/>
              <a:t>addition, when the </a:t>
            </a:r>
            <a:r>
              <a:rPr lang="en-US" b="1" dirty="0" smtClean="0">
                <a:solidFill>
                  <a:srgbClr val="C00000"/>
                </a:solidFill>
              </a:rPr>
              <a:t>salary credited </a:t>
            </a:r>
            <a:r>
              <a:rPr lang="en-US" b="1" dirty="0">
                <a:solidFill>
                  <a:srgbClr val="C00000"/>
                </a:solidFill>
              </a:rPr>
              <a:t>with an account, maintained with the branch</a:t>
            </a:r>
            <a:r>
              <a:rPr lang="en-US" dirty="0"/>
              <a:t>, banks normally consider a </a:t>
            </a:r>
            <a:r>
              <a:rPr lang="en-US" dirty="0" smtClean="0"/>
              <a:t>larger </a:t>
            </a:r>
            <a:r>
              <a:rPr lang="en-IN" dirty="0" smtClean="0"/>
              <a:t>quantum </a:t>
            </a:r>
            <a:r>
              <a:rPr lang="en-IN" dirty="0"/>
              <a:t>of loan.</a:t>
            </a:r>
          </a:p>
        </p:txBody>
      </p:sp>
    </p:spTree>
    <p:extLst>
      <p:ext uri="{BB962C8B-B14F-4D97-AF65-F5344CB8AC3E}">
        <p14:creationId xmlns:p14="http://schemas.microsoft.com/office/powerpoint/2010/main" val="625776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1A990D-86F8-4B2C-93D5-C692715C2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Maintain a good credit history. A credit score or the CIBIL score represents your creditworthiness based on your history of credit repayment</a:t>
            </a:r>
          </a:p>
          <a:p>
            <a:r>
              <a:rPr lang="en-US" dirty="0"/>
              <a:t>Compare the interest rates in the market</a:t>
            </a:r>
          </a:p>
          <a:p>
            <a:r>
              <a:rPr lang="en-US" dirty="0"/>
              <a:t>Assess all costs</a:t>
            </a:r>
          </a:p>
          <a:p>
            <a:r>
              <a:rPr lang="en-US" dirty="0"/>
              <a:t>Consider your needs to choose the right loan amount</a:t>
            </a:r>
          </a:p>
          <a:p>
            <a:r>
              <a:rPr lang="en-IN" dirty="0"/>
              <a:t>Evaluate your ability to repay the loan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B6CFDA1-3C94-4561-BA9F-F95C22086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Personal Loans: Important Aspects </a:t>
            </a:r>
          </a:p>
        </p:txBody>
      </p:sp>
      <p:pic>
        <p:nvPicPr>
          <p:cNvPr id="1026" name="Picture 2" descr="Personal Loan - Liquid Crest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3153" y="3378926"/>
            <a:ext cx="3878580" cy="3878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329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 Loan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>
                <a:solidFill>
                  <a:srgbClr val="C00000"/>
                </a:solidFill>
              </a:rPr>
              <a:t>home loan is the predominant loan in the present context</a:t>
            </a:r>
            <a:r>
              <a:rPr lang="en-US" dirty="0"/>
              <a:t>. Most </a:t>
            </a:r>
            <a:r>
              <a:rPr lang="en-US" dirty="0" smtClean="0"/>
              <a:t>of the </a:t>
            </a:r>
            <a:r>
              <a:rPr lang="en-US" dirty="0"/>
              <a:t>banks are offering these loans at competitive terms. Home loans are </a:t>
            </a:r>
            <a:r>
              <a:rPr lang="en-US" b="1" dirty="0">
                <a:solidFill>
                  <a:srgbClr val="C00000"/>
                </a:solidFill>
              </a:rPr>
              <a:t>available to </a:t>
            </a:r>
            <a:r>
              <a:rPr lang="en-US" b="1" dirty="0" smtClean="0">
                <a:solidFill>
                  <a:srgbClr val="C00000"/>
                </a:solidFill>
              </a:rPr>
              <a:t>resident Indians </a:t>
            </a:r>
            <a:r>
              <a:rPr lang="en-US" b="1" dirty="0">
                <a:solidFill>
                  <a:srgbClr val="C00000"/>
                </a:solidFill>
              </a:rPr>
              <a:t>and </a:t>
            </a:r>
            <a:r>
              <a:rPr lang="en-US" b="1" dirty="0" smtClean="0">
                <a:solidFill>
                  <a:srgbClr val="C00000"/>
                </a:solidFill>
              </a:rPr>
              <a:t>NRIs.</a:t>
            </a:r>
          </a:p>
          <a:p>
            <a:r>
              <a:rPr lang="en-US" dirty="0"/>
              <a:t>Home loans are availed either for </a:t>
            </a:r>
            <a:endParaRPr lang="en-US" dirty="0" smtClean="0"/>
          </a:p>
          <a:p>
            <a:pPr lvl="1"/>
            <a:r>
              <a:rPr lang="en-US" dirty="0" smtClean="0"/>
              <a:t>Purchase </a:t>
            </a:r>
            <a:r>
              <a:rPr lang="en-US" dirty="0"/>
              <a:t>of an under-construction </a:t>
            </a:r>
            <a:endParaRPr lang="en-US" dirty="0" smtClean="0"/>
          </a:p>
          <a:p>
            <a:pPr lvl="1"/>
            <a:r>
              <a:rPr lang="en-US" dirty="0" smtClean="0"/>
              <a:t>Purchase ready </a:t>
            </a:r>
            <a:r>
              <a:rPr lang="en-US" dirty="0"/>
              <a:t>property from a </a:t>
            </a:r>
            <a:r>
              <a:rPr lang="en-US" dirty="0" smtClean="0"/>
              <a:t>developer </a:t>
            </a:r>
          </a:p>
          <a:p>
            <a:pPr lvl="1"/>
            <a:r>
              <a:rPr lang="en-US" dirty="0"/>
              <a:t>P</a:t>
            </a:r>
            <a:r>
              <a:rPr lang="en-US" dirty="0" smtClean="0"/>
              <a:t>urchase </a:t>
            </a:r>
            <a:r>
              <a:rPr lang="en-US" dirty="0"/>
              <a:t>of a resale </a:t>
            </a:r>
            <a:r>
              <a:rPr lang="en-US" dirty="0" smtClean="0"/>
              <a:t>property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o </a:t>
            </a:r>
            <a:r>
              <a:rPr lang="en-US" dirty="0"/>
              <a:t>construct a housing unit on a plot of </a:t>
            </a:r>
            <a:r>
              <a:rPr lang="en-US" dirty="0" smtClean="0"/>
              <a:t>land 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o </a:t>
            </a:r>
            <a:r>
              <a:rPr lang="en-US" dirty="0"/>
              <a:t>make improvements and extensions to an already existing </a:t>
            </a:r>
            <a:r>
              <a:rPr lang="en-US" dirty="0" smtClean="0"/>
              <a:t>house</a:t>
            </a:r>
            <a:endParaRPr lang="en-IN" dirty="0"/>
          </a:p>
        </p:txBody>
      </p:sp>
      <p:pic>
        <p:nvPicPr>
          <p:cNvPr id="4098" name="Picture 2" descr="Loan Against Property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674816"/>
            <a:ext cx="1931437" cy="193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76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Procedure and Practices for Home Loans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Target Group</a:t>
            </a:r>
            <a:r>
              <a:rPr lang="en-US" dirty="0"/>
              <a:t>: Normally, the target group is the </a:t>
            </a:r>
            <a:r>
              <a:rPr lang="en-US" b="1" dirty="0">
                <a:solidFill>
                  <a:srgbClr val="C00000"/>
                </a:solidFill>
              </a:rPr>
              <a:t>salaried class, professionals, </a:t>
            </a:r>
            <a:r>
              <a:rPr lang="en-US" b="1" dirty="0" smtClean="0">
                <a:solidFill>
                  <a:srgbClr val="C00000"/>
                </a:solidFill>
              </a:rPr>
              <a:t>self-employed and businessmen</a:t>
            </a:r>
            <a:r>
              <a:rPr lang="en-US" b="1" dirty="0">
                <a:solidFill>
                  <a:srgbClr val="C00000"/>
                </a:solidFill>
              </a:rPr>
              <a:t>. </a:t>
            </a:r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b="1" dirty="0" smtClean="0"/>
              <a:t>Purpose</a:t>
            </a:r>
            <a:r>
              <a:rPr lang="en-US" dirty="0"/>
              <a:t>: The purpose of the loan is for the </a:t>
            </a:r>
            <a:r>
              <a:rPr lang="en-US" b="1" dirty="0">
                <a:solidFill>
                  <a:srgbClr val="C00000"/>
                </a:solidFill>
              </a:rPr>
              <a:t>purchase or construction of house or flats, </a:t>
            </a:r>
            <a:r>
              <a:rPr lang="en-US" b="1" dirty="0" smtClean="0">
                <a:solidFill>
                  <a:srgbClr val="C00000"/>
                </a:solidFill>
              </a:rPr>
              <a:t>repairs and </a:t>
            </a:r>
            <a:r>
              <a:rPr lang="en-US" b="1" dirty="0">
                <a:solidFill>
                  <a:srgbClr val="C00000"/>
                </a:solidFill>
              </a:rPr>
              <a:t>renovation of house</a:t>
            </a:r>
            <a:r>
              <a:rPr lang="en-US" dirty="0"/>
              <a:t>, and in some banks, for </a:t>
            </a:r>
            <a:r>
              <a:rPr lang="en-US" b="1" dirty="0">
                <a:solidFill>
                  <a:srgbClr val="C00000"/>
                </a:solidFill>
              </a:rPr>
              <a:t>purchase of house sites also.</a:t>
            </a:r>
          </a:p>
          <a:p>
            <a:r>
              <a:rPr lang="en-US" b="1" dirty="0"/>
              <a:t>Quantum of loan:</a:t>
            </a:r>
            <a:r>
              <a:rPr lang="en-US" dirty="0"/>
              <a:t> The quantum of eligible loan is fixed </a:t>
            </a:r>
            <a:r>
              <a:rPr lang="en-US" b="1" dirty="0">
                <a:solidFill>
                  <a:srgbClr val="C00000"/>
                </a:solidFill>
              </a:rPr>
              <a:t>based on the gross </a:t>
            </a:r>
            <a:r>
              <a:rPr lang="en-US" b="1" dirty="0" smtClean="0">
                <a:solidFill>
                  <a:srgbClr val="C00000"/>
                </a:solidFill>
              </a:rPr>
              <a:t>monthly income/net </a:t>
            </a:r>
            <a:r>
              <a:rPr lang="en-US" b="1" dirty="0">
                <a:solidFill>
                  <a:srgbClr val="C00000"/>
                </a:solidFill>
              </a:rPr>
              <a:t>monthly income. </a:t>
            </a:r>
            <a:endParaRPr lang="en-US" b="1" dirty="0" smtClean="0">
              <a:solidFill>
                <a:srgbClr val="C00000"/>
              </a:solidFill>
            </a:endParaRPr>
          </a:p>
          <a:p>
            <a:pPr lvl="1"/>
            <a:r>
              <a:rPr lang="en-US" dirty="0" smtClean="0"/>
              <a:t>For </a:t>
            </a:r>
            <a:r>
              <a:rPr lang="en-US" dirty="0"/>
              <a:t>this, banks ask for a salary certificate for the salaried </a:t>
            </a:r>
            <a:r>
              <a:rPr lang="en-US" dirty="0" smtClean="0"/>
              <a:t>class or </a:t>
            </a:r>
            <a:r>
              <a:rPr lang="en-US" dirty="0"/>
              <a:t>the Income tax return for others. Bank also ask for the statement of bank account for </a:t>
            </a:r>
            <a:r>
              <a:rPr lang="en-US" dirty="0" smtClean="0"/>
              <a:t>a </a:t>
            </a:r>
            <a:r>
              <a:rPr lang="en-IN" dirty="0" smtClean="0"/>
              <a:t>prescribed </a:t>
            </a:r>
            <a:r>
              <a:rPr lang="en-IN" dirty="0"/>
              <a:t>period.</a:t>
            </a:r>
          </a:p>
          <a:p>
            <a:r>
              <a:rPr lang="en-US" b="1" dirty="0"/>
              <a:t>Age:</a:t>
            </a:r>
            <a:r>
              <a:rPr lang="en-US" dirty="0"/>
              <a:t> Banks </a:t>
            </a:r>
            <a:r>
              <a:rPr lang="en-US" b="1" dirty="0">
                <a:solidFill>
                  <a:srgbClr val="C00000"/>
                </a:solidFill>
              </a:rPr>
              <a:t>fix the lower and upper age</a:t>
            </a:r>
            <a:r>
              <a:rPr lang="en-US" dirty="0"/>
              <a:t> for availing the loan taking in to consideration </a:t>
            </a:r>
            <a:r>
              <a:rPr lang="en-US" dirty="0" smtClean="0"/>
              <a:t>the remaining </a:t>
            </a:r>
            <a:r>
              <a:rPr lang="en-US" dirty="0"/>
              <a:t>period of service, in the case of salaried class and the income earning </a:t>
            </a:r>
            <a:r>
              <a:rPr lang="en-US" dirty="0" smtClean="0"/>
              <a:t>capacity during </a:t>
            </a:r>
            <a:r>
              <a:rPr lang="en-US" dirty="0"/>
              <a:t>the period of loan for others.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6277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Procedure and Practices for Home Loans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Repayment: </a:t>
            </a:r>
            <a:r>
              <a:rPr lang="en-US" dirty="0"/>
              <a:t>Most of the banks are giving long repayment period, say 20-25 years. </a:t>
            </a:r>
            <a:r>
              <a:rPr lang="en-US" dirty="0" smtClean="0"/>
              <a:t>The repayment </a:t>
            </a:r>
            <a:r>
              <a:rPr lang="en-US" dirty="0"/>
              <a:t>will be based on </a:t>
            </a:r>
            <a:r>
              <a:rPr lang="en-US" b="1" dirty="0">
                <a:solidFill>
                  <a:srgbClr val="C00000"/>
                </a:solidFill>
              </a:rPr>
              <a:t>equated monthly instalments (EMI</a:t>
            </a:r>
            <a:r>
              <a:rPr lang="en-US" b="1" dirty="0" smtClean="0">
                <a:solidFill>
                  <a:srgbClr val="C00000"/>
                </a:solidFill>
              </a:rPr>
              <a:t>).</a:t>
            </a:r>
          </a:p>
          <a:p>
            <a:r>
              <a:rPr lang="en-US" b="1" dirty="0"/>
              <a:t>Security:</a:t>
            </a:r>
            <a:r>
              <a:rPr lang="en-US" dirty="0"/>
              <a:t> Generally, the property </a:t>
            </a:r>
            <a:r>
              <a:rPr lang="en-US" b="1" dirty="0">
                <a:solidFill>
                  <a:srgbClr val="C00000"/>
                </a:solidFill>
              </a:rPr>
              <a:t>purchased or constructed out of the bank loan is taken </a:t>
            </a:r>
            <a:r>
              <a:rPr lang="en-US" b="1" dirty="0" smtClean="0">
                <a:solidFill>
                  <a:srgbClr val="C00000"/>
                </a:solidFill>
              </a:rPr>
              <a:t>by way </a:t>
            </a:r>
            <a:r>
              <a:rPr lang="en-US" b="1" dirty="0">
                <a:solidFill>
                  <a:srgbClr val="C00000"/>
                </a:solidFill>
              </a:rPr>
              <a:t>of mortgage.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smtClean="0"/>
              <a:t>Sometimes</a:t>
            </a:r>
            <a:r>
              <a:rPr lang="en-US" dirty="0"/>
              <a:t>, when the </a:t>
            </a:r>
            <a:r>
              <a:rPr lang="en-US" b="1" dirty="0">
                <a:solidFill>
                  <a:srgbClr val="C00000"/>
                </a:solidFill>
              </a:rPr>
              <a:t>income of the spouse </a:t>
            </a:r>
            <a:r>
              <a:rPr lang="en-US" dirty="0"/>
              <a:t>is taken for arriving at </a:t>
            </a:r>
            <a:r>
              <a:rPr lang="en-US" dirty="0" smtClean="0"/>
              <a:t>the quantum </a:t>
            </a:r>
            <a:r>
              <a:rPr lang="en-US" dirty="0"/>
              <a:t>of loan, his/ her guarantee is also taken </a:t>
            </a:r>
            <a:r>
              <a:rPr lang="en-US" b="1" dirty="0">
                <a:solidFill>
                  <a:srgbClr val="C00000"/>
                </a:solidFill>
              </a:rPr>
              <a:t>as personal security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</a:p>
          <a:p>
            <a:r>
              <a:rPr lang="en-US" b="1" dirty="0"/>
              <a:t>Margin:</a:t>
            </a:r>
            <a:r>
              <a:rPr lang="en-US" dirty="0"/>
              <a:t> Banks stipulate that a certain </a:t>
            </a:r>
            <a:r>
              <a:rPr lang="en-US" b="1" dirty="0">
                <a:solidFill>
                  <a:srgbClr val="C00000"/>
                </a:solidFill>
              </a:rPr>
              <a:t>percentage of the project cost, say fifteen per cent, is </a:t>
            </a:r>
            <a:r>
              <a:rPr lang="en-US" b="1" dirty="0" smtClean="0">
                <a:solidFill>
                  <a:srgbClr val="C00000"/>
                </a:solidFill>
              </a:rPr>
              <a:t>to be </a:t>
            </a:r>
            <a:r>
              <a:rPr lang="en-US" b="1" dirty="0">
                <a:solidFill>
                  <a:srgbClr val="C00000"/>
                </a:solidFill>
              </a:rPr>
              <a:t>borne by the borrower from his own sources. </a:t>
            </a:r>
            <a:endParaRPr lang="en-US" b="1" dirty="0" smtClean="0">
              <a:solidFill>
                <a:srgbClr val="C00000"/>
              </a:solidFill>
            </a:endParaRPr>
          </a:p>
          <a:p>
            <a:pPr lvl="1"/>
            <a:r>
              <a:rPr lang="en-US" dirty="0" smtClean="0"/>
              <a:t>When </a:t>
            </a:r>
            <a:r>
              <a:rPr lang="en-US" dirty="0"/>
              <a:t>the loan is for </a:t>
            </a:r>
            <a:r>
              <a:rPr lang="en-US" dirty="0" smtClean="0"/>
              <a:t>repairs/renovation, banks </a:t>
            </a:r>
            <a:r>
              <a:rPr lang="en-US" dirty="0"/>
              <a:t>stipulate a higher margin</a:t>
            </a:r>
            <a:r>
              <a:rPr lang="en-US" dirty="0" smtClean="0"/>
              <a:t>.</a:t>
            </a:r>
          </a:p>
          <a:p>
            <a:r>
              <a:rPr lang="en-US" b="1" dirty="0"/>
              <a:t>Rate of Interest: </a:t>
            </a:r>
            <a:r>
              <a:rPr lang="en-US" dirty="0"/>
              <a:t>When compared to the rate of interest for other loans, the rate of interest for home loan is cheaper. </a:t>
            </a:r>
            <a:endParaRPr lang="en-US" dirty="0" smtClean="0"/>
          </a:p>
          <a:p>
            <a:pPr lvl="1"/>
            <a:r>
              <a:rPr lang="en-US" dirty="0" smtClean="0"/>
              <a:t>Banks </a:t>
            </a:r>
            <a:r>
              <a:rPr lang="en-US" dirty="0"/>
              <a:t>also offer a </a:t>
            </a:r>
            <a:r>
              <a:rPr lang="en-US" b="1" dirty="0">
                <a:solidFill>
                  <a:srgbClr val="C00000"/>
                </a:solidFill>
              </a:rPr>
              <a:t>floating rate and a fixed rate option to </a:t>
            </a:r>
            <a:r>
              <a:rPr lang="en-US" b="1" dirty="0" smtClean="0">
                <a:solidFill>
                  <a:srgbClr val="C00000"/>
                </a:solidFill>
              </a:rPr>
              <a:t>the borrower</a:t>
            </a:r>
            <a:r>
              <a:rPr lang="en-US" b="1" dirty="0">
                <a:solidFill>
                  <a:srgbClr val="C00000"/>
                </a:solidFill>
              </a:rPr>
              <a:t>.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910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6CFDA1-3C94-4561-BA9F-F95C22086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 Loans: Procedure </a:t>
            </a:r>
          </a:p>
        </p:txBody>
      </p:sp>
      <p:sp>
        <p:nvSpPr>
          <p:cNvPr id="7" name="Oval 6"/>
          <p:cNvSpPr/>
          <p:nvPr/>
        </p:nvSpPr>
        <p:spPr>
          <a:xfrm>
            <a:off x="651741" y="749120"/>
            <a:ext cx="532891" cy="532891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8" name="Freeform 7"/>
          <p:cNvSpPr/>
          <p:nvPr/>
        </p:nvSpPr>
        <p:spPr>
          <a:xfrm>
            <a:off x="914396" y="756015"/>
            <a:ext cx="8095133" cy="532891"/>
          </a:xfrm>
          <a:custGeom>
            <a:avLst/>
            <a:gdLst>
              <a:gd name="connsiteX0" fmla="*/ 0 w 8095133"/>
              <a:gd name="connsiteY0" fmla="*/ 0 h 532891"/>
              <a:gd name="connsiteX1" fmla="*/ 8095133 w 8095133"/>
              <a:gd name="connsiteY1" fmla="*/ 0 h 532891"/>
              <a:gd name="connsiteX2" fmla="*/ 8095133 w 8095133"/>
              <a:gd name="connsiteY2" fmla="*/ 532891 h 532891"/>
              <a:gd name="connsiteX3" fmla="*/ 0 w 8095133"/>
              <a:gd name="connsiteY3" fmla="*/ 532891 h 532891"/>
              <a:gd name="connsiteX4" fmla="*/ 0 w 8095133"/>
              <a:gd name="connsiteY4" fmla="*/ 0 h 53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95133" h="532891">
                <a:moveTo>
                  <a:pt x="0" y="0"/>
                </a:moveTo>
                <a:lnTo>
                  <a:pt x="8095133" y="0"/>
                </a:lnTo>
                <a:lnTo>
                  <a:pt x="8095133" y="532891"/>
                </a:lnTo>
                <a:lnTo>
                  <a:pt x="0" y="53289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33020" rIns="0" bIns="33020" numCol="1" spcCol="1270" anchor="ctr" anchorCtr="0">
            <a:noAutofit/>
          </a:bodyPr>
          <a:lstStyle/>
          <a:p>
            <a:pPr lvl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00" kern="1200" dirty="0" smtClean="0"/>
              <a:t>Fill The Loan Application Form &amp; Attach The Documents</a:t>
            </a:r>
            <a:endParaRPr lang="en-US" sz="2600" kern="1200" dirty="0"/>
          </a:p>
        </p:txBody>
      </p:sp>
      <p:sp>
        <p:nvSpPr>
          <p:cNvPr id="9" name="Oval 8"/>
          <p:cNvSpPr/>
          <p:nvPr/>
        </p:nvSpPr>
        <p:spPr>
          <a:xfrm>
            <a:off x="651741" y="1282011"/>
            <a:ext cx="532891" cy="532891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50000"/>
              <a:hueOff val="-762077"/>
              <a:satOff val="2022"/>
              <a:lumOff val="1627"/>
              <a:alphaOff val="0"/>
            </a:schemeClr>
          </a:fillRef>
          <a:effectRef idx="0">
            <a:schemeClr val="accent4">
              <a:alpha val="50000"/>
              <a:hueOff val="-762077"/>
              <a:satOff val="2022"/>
              <a:lumOff val="1627"/>
              <a:alphaOff val="0"/>
            </a:schemeClr>
          </a:effectRef>
          <a:fontRef idx="minor">
            <a:schemeClr val="tx1"/>
          </a:fontRef>
        </p:style>
      </p:sp>
      <p:sp>
        <p:nvSpPr>
          <p:cNvPr id="10" name="Freeform 9"/>
          <p:cNvSpPr/>
          <p:nvPr/>
        </p:nvSpPr>
        <p:spPr>
          <a:xfrm>
            <a:off x="914396" y="1288907"/>
            <a:ext cx="8095133" cy="532891"/>
          </a:xfrm>
          <a:custGeom>
            <a:avLst/>
            <a:gdLst>
              <a:gd name="connsiteX0" fmla="*/ 0 w 8095133"/>
              <a:gd name="connsiteY0" fmla="*/ 0 h 532891"/>
              <a:gd name="connsiteX1" fmla="*/ 8095133 w 8095133"/>
              <a:gd name="connsiteY1" fmla="*/ 0 h 532891"/>
              <a:gd name="connsiteX2" fmla="*/ 8095133 w 8095133"/>
              <a:gd name="connsiteY2" fmla="*/ 532891 h 532891"/>
              <a:gd name="connsiteX3" fmla="*/ 0 w 8095133"/>
              <a:gd name="connsiteY3" fmla="*/ 532891 h 532891"/>
              <a:gd name="connsiteX4" fmla="*/ 0 w 8095133"/>
              <a:gd name="connsiteY4" fmla="*/ 0 h 53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95133" h="532891">
                <a:moveTo>
                  <a:pt x="0" y="0"/>
                </a:moveTo>
                <a:lnTo>
                  <a:pt x="8095133" y="0"/>
                </a:lnTo>
                <a:lnTo>
                  <a:pt x="8095133" y="532891"/>
                </a:lnTo>
                <a:lnTo>
                  <a:pt x="0" y="53289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33020" rIns="0" bIns="33020" numCol="1" spcCol="1270" anchor="ctr" anchorCtr="0">
            <a:noAutofit/>
          </a:bodyPr>
          <a:lstStyle/>
          <a:p>
            <a:pPr lvl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00" kern="1200" dirty="0" smtClean="0"/>
              <a:t>Pay The Processing Fee</a:t>
            </a:r>
            <a:endParaRPr lang="en-US" sz="2600" kern="1200" dirty="0"/>
          </a:p>
        </p:txBody>
      </p:sp>
      <p:sp>
        <p:nvSpPr>
          <p:cNvPr id="11" name="Oval 10"/>
          <p:cNvSpPr/>
          <p:nvPr/>
        </p:nvSpPr>
        <p:spPr>
          <a:xfrm>
            <a:off x="651741" y="1814903"/>
            <a:ext cx="532891" cy="532891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50000"/>
              <a:hueOff val="-1524153"/>
              <a:satOff val="4045"/>
              <a:lumOff val="3255"/>
              <a:alphaOff val="0"/>
            </a:schemeClr>
          </a:fillRef>
          <a:effectRef idx="0">
            <a:schemeClr val="accent4">
              <a:alpha val="50000"/>
              <a:hueOff val="-1524153"/>
              <a:satOff val="4045"/>
              <a:lumOff val="3255"/>
              <a:alphaOff val="0"/>
            </a:schemeClr>
          </a:effectRef>
          <a:fontRef idx="minor">
            <a:schemeClr val="tx1"/>
          </a:fontRef>
        </p:style>
      </p:sp>
      <p:sp>
        <p:nvSpPr>
          <p:cNvPr id="12" name="Freeform 11"/>
          <p:cNvSpPr/>
          <p:nvPr/>
        </p:nvSpPr>
        <p:spPr>
          <a:xfrm>
            <a:off x="914396" y="1821798"/>
            <a:ext cx="8095133" cy="532891"/>
          </a:xfrm>
          <a:custGeom>
            <a:avLst/>
            <a:gdLst>
              <a:gd name="connsiteX0" fmla="*/ 0 w 8095133"/>
              <a:gd name="connsiteY0" fmla="*/ 0 h 532891"/>
              <a:gd name="connsiteX1" fmla="*/ 8095133 w 8095133"/>
              <a:gd name="connsiteY1" fmla="*/ 0 h 532891"/>
              <a:gd name="connsiteX2" fmla="*/ 8095133 w 8095133"/>
              <a:gd name="connsiteY2" fmla="*/ 532891 h 532891"/>
              <a:gd name="connsiteX3" fmla="*/ 0 w 8095133"/>
              <a:gd name="connsiteY3" fmla="*/ 532891 h 532891"/>
              <a:gd name="connsiteX4" fmla="*/ 0 w 8095133"/>
              <a:gd name="connsiteY4" fmla="*/ 0 h 53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95133" h="532891">
                <a:moveTo>
                  <a:pt x="0" y="0"/>
                </a:moveTo>
                <a:lnTo>
                  <a:pt x="8095133" y="0"/>
                </a:lnTo>
                <a:lnTo>
                  <a:pt x="8095133" y="532891"/>
                </a:lnTo>
                <a:lnTo>
                  <a:pt x="0" y="53289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33020" rIns="0" bIns="33020" numCol="1" spcCol="1270" anchor="ctr" anchorCtr="0">
            <a:noAutofit/>
          </a:bodyPr>
          <a:lstStyle/>
          <a:p>
            <a:pPr lvl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00" kern="1200" smtClean="0"/>
              <a:t>Discussion With The Bank</a:t>
            </a:r>
            <a:endParaRPr lang="en-US" sz="2600" kern="1200" dirty="0"/>
          </a:p>
        </p:txBody>
      </p:sp>
      <p:sp>
        <p:nvSpPr>
          <p:cNvPr id="13" name="Oval 12"/>
          <p:cNvSpPr/>
          <p:nvPr/>
        </p:nvSpPr>
        <p:spPr>
          <a:xfrm>
            <a:off x="651741" y="2347794"/>
            <a:ext cx="532891" cy="532891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50000"/>
              <a:hueOff val="-2286230"/>
              <a:satOff val="6067"/>
              <a:lumOff val="4882"/>
              <a:alphaOff val="0"/>
            </a:schemeClr>
          </a:fillRef>
          <a:effectRef idx="0">
            <a:schemeClr val="accent4">
              <a:alpha val="50000"/>
              <a:hueOff val="-2286230"/>
              <a:satOff val="6067"/>
              <a:lumOff val="4882"/>
              <a:alphaOff val="0"/>
            </a:schemeClr>
          </a:effectRef>
          <a:fontRef idx="minor">
            <a:schemeClr val="tx1"/>
          </a:fontRef>
        </p:style>
      </p:sp>
      <p:sp>
        <p:nvSpPr>
          <p:cNvPr id="14" name="Freeform 13"/>
          <p:cNvSpPr/>
          <p:nvPr/>
        </p:nvSpPr>
        <p:spPr>
          <a:xfrm>
            <a:off x="914396" y="2354690"/>
            <a:ext cx="8095133" cy="532891"/>
          </a:xfrm>
          <a:custGeom>
            <a:avLst/>
            <a:gdLst>
              <a:gd name="connsiteX0" fmla="*/ 0 w 8095133"/>
              <a:gd name="connsiteY0" fmla="*/ 0 h 532891"/>
              <a:gd name="connsiteX1" fmla="*/ 8095133 w 8095133"/>
              <a:gd name="connsiteY1" fmla="*/ 0 h 532891"/>
              <a:gd name="connsiteX2" fmla="*/ 8095133 w 8095133"/>
              <a:gd name="connsiteY2" fmla="*/ 532891 h 532891"/>
              <a:gd name="connsiteX3" fmla="*/ 0 w 8095133"/>
              <a:gd name="connsiteY3" fmla="*/ 532891 h 532891"/>
              <a:gd name="connsiteX4" fmla="*/ 0 w 8095133"/>
              <a:gd name="connsiteY4" fmla="*/ 0 h 53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95133" h="532891">
                <a:moveTo>
                  <a:pt x="0" y="0"/>
                </a:moveTo>
                <a:lnTo>
                  <a:pt x="8095133" y="0"/>
                </a:lnTo>
                <a:lnTo>
                  <a:pt x="8095133" y="532891"/>
                </a:lnTo>
                <a:lnTo>
                  <a:pt x="0" y="53289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33020" rIns="0" bIns="33020" numCol="1" spcCol="1270" anchor="ctr" anchorCtr="0">
            <a:noAutofit/>
          </a:bodyPr>
          <a:lstStyle/>
          <a:p>
            <a:pPr lvl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00" kern="1200" smtClean="0"/>
              <a:t>Valuation Of The Documents</a:t>
            </a:r>
            <a:endParaRPr lang="en-US" sz="2600" kern="1200" dirty="0"/>
          </a:p>
        </p:txBody>
      </p:sp>
      <p:sp>
        <p:nvSpPr>
          <p:cNvPr id="15" name="Oval 14"/>
          <p:cNvSpPr/>
          <p:nvPr/>
        </p:nvSpPr>
        <p:spPr>
          <a:xfrm>
            <a:off x="651741" y="2880686"/>
            <a:ext cx="532891" cy="532891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50000"/>
              <a:hueOff val="-3048306"/>
              <a:satOff val="8089"/>
              <a:lumOff val="6509"/>
              <a:alphaOff val="0"/>
            </a:schemeClr>
          </a:fillRef>
          <a:effectRef idx="0">
            <a:schemeClr val="accent4">
              <a:alpha val="50000"/>
              <a:hueOff val="-3048306"/>
              <a:satOff val="8089"/>
              <a:lumOff val="6509"/>
              <a:alphaOff val="0"/>
            </a:schemeClr>
          </a:effectRef>
          <a:fontRef idx="minor">
            <a:schemeClr val="tx1"/>
          </a:fontRef>
        </p:style>
      </p:sp>
      <p:sp>
        <p:nvSpPr>
          <p:cNvPr id="16" name="Freeform 15"/>
          <p:cNvSpPr/>
          <p:nvPr/>
        </p:nvSpPr>
        <p:spPr>
          <a:xfrm>
            <a:off x="914396" y="2887581"/>
            <a:ext cx="8095133" cy="532891"/>
          </a:xfrm>
          <a:custGeom>
            <a:avLst/>
            <a:gdLst>
              <a:gd name="connsiteX0" fmla="*/ 0 w 8095133"/>
              <a:gd name="connsiteY0" fmla="*/ 0 h 532891"/>
              <a:gd name="connsiteX1" fmla="*/ 8095133 w 8095133"/>
              <a:gd name="connsiteY1" fmla="*/ 0 h 532891"/>
              <a:gd name="connsiteX2" fmla="*/ 8095133 w 8095133"/>
              <a:gd name="connsiteY2" fmla="*/ 532891 h 532891"/>
              <a:gd name="connsiteX3" fmla="*/ 0 w 8095133"/>
              <a:gd name="connsiteY3" fmla="*/ 532891 h 532891"/>
              <a:gd name="connsiteX4" fmla="*/ 0 w 8095133"/>
              <a:gd name="connsiteY4" fmla="*/ 0 h 53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95133" h="532891">
                <a:moveTo>
                  <a:pt x="0" y="0"/>
                </a:moveTo>
                <a:lnTo>
                  <a:pt x="8095133" y="0"/>
                </a:lnTo>
                <a:lnTo>
                  <a:pt x="8095133" y="532891"/>
                </a:lnTo>
                <a:lnTo>
                  <a:pt x="0" y="53289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33020" rIns="0" bIns="33020" numCol="1" spcCol="1270" anchor="ctr" anchorCtr="0">
            <a:noAutofit/>
          </a:bodyPr>
          <a:lstStyle/>
          <a:p>
            <a:pPr lvl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00" kern="1200" smtClean="0"/>
              <a:t>The Sanction/Approval Process</a:t>
            </a:r>
            <a:endParaRPr lang="en-US" sz="2600" kern="1200" dirty="0"/>
          </a:p>
        </p:txBody>
      </p:sp>
      <p:sp>
        <p:nvSpPr>
          <p:cNvPr id="17" name="Oval 16"/>
          <p:cNvSpPr/>
          <p:nvPr/>
        </p:nvSpPr>
        <p:spPr>
          <a:xfrm>
            <a:off x="651741" y="3413577"/>
            <a:ext cx="532891" cy="532891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50000"/>
              <a:hueOff val="-3810383"/>
              <a:satOff val="10112"/>
              <a:lumOff val="8137"/>
              <a:alphaOff val="0"/>
            </a:schemeClr>
          </a:fillRef>
          <a:effectRef idx="0">
            <a:schemeClr val="accent4">
              <a:alpha val="50000"/>
              <a:hueOff val="-3810383"/>
              <a:satOff val="10112"/>
              <a:lumOff val="8137"/>
              <a:alphaOff val="0"/>
            </a:schemeClr>
          </a:effectRef>
          <a:fontRef idx="minor">
            <a:schemeClr val="tx1"/>
          </a:fontRef>
        </p:style>
      </p:sp>
      <p:sp>
        <p:nvSpPr>
          <p:cNvPr id="18" name="Freeform 17"/>
          <p:cNvSpPr/>
          <p:nvPr/>
        </p:nvSpPr>
        <p:spPr>
          <a:xfrm>
            <a:off x="914396" y="3420473"/>
            <a:ext cx="8095133" cy="532891"/>
          </a:xfrm>
          <a:custGeom>
            <a:avLst/>
            <a:gdLst>
              <a:gd name="connsiteX0" fmla="*/ 0 w 8095133"/>
              <a:gd name="connsiteY0" fmla="*/ 0 h 532891"/>
              <a:gd name="connsiteX1" fmla="*/ 8095133 w 8095133"/>
              <a:gd name="connsiteY1" fmla="*/ 0 h 532891"/>
              <a:gd name="connsiteX2" fmla="*/ 8095133 w 8095133"/>
              <a:gd name="connsiteY2" fmla="*/ 532891 h 532891"/>
              <a:gd name="connsiteX3" fmla="*/ 0 w 8095133"/>
              <a:gd name="connsiteY3" fmla="*/ 532891 h 532891"/>
              <a:gd name="connsiteX4" fmla="*/ 0 w 8095133"/>
              <a:gd name="connsiteY4" fmla="*/ 0 h 53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95133" h="532891">
                <a:moveTo>
                  <a:pt x="0" y="0"/>
                </a:moveTo>
                <a:lnTo>
                  <a:pt x="8095133" y="0"/>
                </a:lnTo>
                <a:lnTo>
                  <a:pt x="8095133" y="532891"/>
                </a:lnTo>
                <a:lnTo>
                  <a:pt x="0" y="53289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33020" rIns="0" bIns="33020" numCol="1" spcCol="1270" anchor="ctr" anchorCtr="0">
            <a:noAutofit/>
          </a:bodyPr>
          <a:lstStyle/>
          <a:p>
            <a:pPr lvl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00" kern="1200" smtClean="0"/>
              <a:t>Processing The Offer Letter</a:t>
            </a:r>
            <a:endParaRPr lang="en-US" sz="2600" kern="1200" dirty="0"/>
          </a:p>
        </p:txBody>
      </p:sp>
      <p:sp>
        <p:nvSpPr>
          <p:cNvPr id="19" name="Oval 18"/>
          <p:cNvSpPr/>
          <p:nvPr/>
        </p:nvSpPr>
        <p:spPr>
          <a:xfrm>
            <a:off x="651741" y="3946469"/>
            <a:ext cx="532891" cy="532891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50000"/>
              <a:hueOff val="-4572459"/>
              <a:satOff val="12134"/>
              <a:lumOff val="9764"/>
              <a:alphaOff val="0"/>
            </a:schemeClr>
          </a:fillRef>
          <a:effectRef idx="0">
            <a:schemeClr val="accent4">
              <a:alpha val="50000"/>
              <a:hueOff val="-4572459"/>
              <a:satOff val="12134"/>
              <a:lumOff val="9764"/>
              <a:alphaOff val="0"/>
            </a:schemeClr>
          </a:effectRef>
          <a:fontRef idx="minor">
            <a:schemeClr val="tx1"/>
          </a:fontRef>
        </p:style>
      </p:sp>
      <p:sp>
        <p:nvSpPr>
          <p:cNvPr id="20" name="Freeform 19"/>
          <p:cNvSpPr/>
          <p:nvPr/>
        </p:nvSpPr>
        <p:spPr>
          <a:xfrm>
            <a:off x="914396" y="3953364"/>
            <a:ext cx="8095133" cy="532891"/>
          </a:xfrm>
          <a:custGeom>
            <a:avLst/>
            <a:gdLst>
              <a:gd name="connsiteX0" fmla="*/ 0 w 8095133"/>
              <a:gd name="connsiteY0" fmla="*/ 0 h 532891"/>
              <a:gd name="connsiteX1" fmla="*/ 8095133 w 8095133"/>
              <a:gd name="connsiteY1" fmla="*/ 0 h 532891"/>
              <a:gd name="connsiteX2" fmla="*/ 8095133 w 8095133"/>
              <a:gd name="connsiteY2" fmla="*/ 532891 h 532891"/>
              <a:gd name="connsiteX3" fmla="*/ 0 w 8095133"/>
              <a:gd name="connsiteY3" fmla="*/ 532891 h 532891"/>
              <a:gd name="connsiteX4" fmla="*/ 0 w 8095133"/>
              <a:gd name="connsiteY4" fmla="*/ 0 h 53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95133" h="532891">
                <a:moveTo>
                  <a:pt x="0" y="0"/>
                </a:moveTo>
                <a:lnTo>
                  <a:pt x="8095133" y="0"/>
                </a:lnTo>
                <a:lnTo>
                  <a:pt x="8095133" y="532891"/>
                </a:lnTo>
                <a:lnTo>
                  <a:pt x="0" y="53289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33020" rIns="0" bIns="33020" numCol="1" spcCol="1270" anchor="ctr" anchorCtr="0">
            <a:noAutofit/>
          </a:bodyPr>
          <a:lstStyle/>
          <a:p>
            <a:pPr lvl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00" kern="1200" dirty="0" smtClean="0"/>
              <a:t>Processing The Property Papers Followed By A Legal Check</a:t>
            </a:r>
            <a:endParaRPr lang="en-US" sz="2600" kern="1200" dirty="0"/>
          </a:p>
        </p:txBody>
      </p:sp>
      <p:sp>
        <p:nvSpPr>
          <p:cNvPr id="21" name="Oval 20"/>
          <p:cNvSpPr/>
          <p:nvPr/>
        </p:nvSpPr>
        <p:spPr>
          <a:xfrm>
            <a:off x="651741" y="4479360"/>
            <a:ext cx="532891" cy="532891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50000"/>
              <a:hueOff val="-5334536"/>
              <a:satOff val="14156"/>
              <a:lumOff val="11391"/>
              <a:alphaOff val="0"/>
            </a:schemeClr>
          </a:fillRef>
          <a:effectRef idx="0">
            <a:schemeClr val="accent4">
              <a:alpha val="50000"/>
              <a:hueOff val="-5334536"/>
              <a:satOff val="14156"/>
              <a:lumOff val="11391"/>
              <a:alphaOff val="0"/>
            </a:schemeClr>
          </a:effectRef>
          <a:fontRef idx="minor">
            <a:schemeClr val="tx1"/>
          </a:fontRef>
        </p:style>
      </p:sp>
      <p:sp>
        <p:nvSpPr>
          <p:cNvPr id="22" name="Freeform 21"/>
          <p:cNvSpPr/>
          <p:nvPr/>
        </p:nvSpPr>
        <p:spPr>
          <a:xfrm>
            <a:off x="914396" y="4486256"/>
            <a:ext cx="8095133" cy="532891"/>
          </a:xfrm>
          <a:custGeom>
            <a:avLst/>
            <a:gdLst>
              <a:gd name="connsiteX0" fmla="*/ 0 w 8095133"/>
              <a:gd name="connsiteY0" fmla="*/ 0 h 532891"/>
              <a:gd name="connsiteX1" fmla="*/ 8095133 w 8095133"/>
              <a:gd name="connsiteY1" fmla="*/ 0 h 532891"/>
              <a:gd name="connsiteX2" fmla="*/ 8095133 w 8095133"/>
              <a:gd name="connsiteY2" fmla="*/ 532891 h 532891"/>
              <a:gd name="connsiteX3" fmla="*/ 0 w 8095133"/>
              <a:gd name="connsiteY3" fmla="*/ 532891 h 532891"/>
              <a:gd name="connsiteX4" fmla="*/ 0 w 8095133"/>
              <a:gd name="connsiteY4" fmla="*/ 0 h 53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95133" h="532891">
                <a:moveTo>
                  <a:pt x="0" y="0"/>
                </a:moveTo>
                <a:lnTo>
                  <a:pt x="8095133" y="0"/>
                </a:lnTo>
                <a:lnTo>
                  <a:pt x="8095133" y="532891"/>
                </a:lnTo>
                <a:lnTo>
                  <a:pt x="0" y="53289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33020" rIns="0" bIns="33020" numCol="1" spcCol="1270" anchor="ctr" anchorCtr="0">
            <a:noAutofit/>
          </a:bodyPr>
          <a:lstStyle/>
          <a:p>
            <a:pPr lvl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00" kern="1200" smtClean="0"/>
              <a:t>Processing A Technical Check &amp; The Site Estimation</a:t>
            </a:r>
            <a:endParaRPr lang="en-US" sz="2600" kern="1200" dirty="0"/>
          </a:p>
        </p:txBody>
      </p:sp>
      <p:sp>
        <p:nvSpPr>
          <p:cNvPr id="23" name="Oval 22"/>
          <p:cNvSpPr/>
          <p:nvPr/>
        </p:nvSpPr>
        <p:spPr>
          <a:xfrm>
            <a:off x="651741" y="5012252"/>
            <a:ext cx="532891" cy="532891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50000"/>
              <a:hueOff val="-6096612"/>
              <a:satOff val="16178"/>
              <a:lumOff val="13018"/>
              <a:alphaOff val="0"/>
            </a:schemeClr>
          </a:fillRef>
          <a:effectRef idx="0">
            <a:schemeClr val="accent4">
              <a:alpha val="50000"/>
              <a:hueOff val="-6096612"/>
              <a:satOff val="16178"/>
              <a:lumOff val="13018"/>
              <a:alphaOff val="0"/>
            </a:schemeClr>
          </a:effectRef>
          <a:fontRef idx="minor">
            <a:schemeClr val="tx1"/>
          </a:fontRef>
        </p:style>
      </p:sp>
      <p:sp>
        <p:nvSpPr>
          <p:cNvPr id="24" name="Freeform 23"/>
          <p:cNvSpPr/>
          <p:nvPr/>
        </p:nvSpPr>
        <p:spPr>
          <a:xfrm>
            <a:off x="914396" y="5019147"/>
            <a:ext cx="8095133" cy="532891"/>
          </a:xfrm>
          <a:custGeom>
            <a:avLst/>
            <a:gdLst>
              <a:gd name="connsiteX0" fmla="*/ 0 w 8095133"/>
              <a:gd name="connsiteY0" fmla="*/ 0 h 532891"/>
              <a:gd name="connsiteX1" fmla="*/ 8095133 w 8095133"/>
              <a:gd name="connsiteY1" fmla="*/ 0 h 532891"/>
              <a:gd name="connsiteX2" fmla="*/ 8095133 w 8095133"/>
              <a:gd name="connsiteY2" fmla="*/ 532891 h 532891"/>
              <a:gd name="connsiteX3" fmla="*/ 0 w 8095133"/>
              <a:gd name="connsiteY3" fmla="*/ 532891 h 532891"/>
              <a:gd name="connsiteX4" fmla="*/ 0 w 8095133"/>
              <a:gd name="connsiteY4" fmla="*/ 0 h 53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95133" h="532891">
                <a:moveTo>
                  <a:pt x="0" y="0"/>
                </a:moveTo>
                <a:lnTo>
                  <a:pt x="8095133" y="0"/>
                </a:lnTo>
                <a:lnTo>
                  <a:pt x="8095133" y="532891"/>
                </a:lnTo>
                <a:lnTo>
                  <a:pt x="0" y="53289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33020" rIns="0" bIns="33020" numCol="1" spcCol="1270" anchor="ctr" anchorCtr="0">
            <a:noAutofit/>
          </a:bodyPr>
          <a:lstStyle/>
          <a:p>
            <a:pPr lvl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00" kern="1200" smtClean="0"/>
              <a:t>The Final Loan Deal</a:t>
            </a:r>
            <a:endParaRPr lang="en-US" sz="2600" kern="1200" dirty="0"/>
          </a:p>
        </p:txBody>
      </p:sp>
      <p:sp>
        <p:nvSpPr>
          <p:cNvPr id="25" name="Oval 24"/>
          <p:cNvSpPr/>
          <p:nvPr/>
        </p:nvSpPr>
        <p:spPr>
          <a:xfrm>
            <a:off x="651741" y="5545143"/>
            <a:ext cx="532891" cy="532891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50000"/>
              <a:hueOff val="-6858689"/>
              <a:satOff val="18201"/>
              <a:lumOff val="14646"/>
              <a:alphaOff val="0"/>
            </a:schemeClr>
          </a:fillRef>
          <a:effectRef idx="0">
            <a:schemeClr val="accent4">
              <a:alpha val="50000"/>
              <a:hueOff val="-6858689"/>
              <a:satOff val="18201"/>
              <a:lumOff val="14646"/>
              <a:alphaOff val="0"/>
            </a:schemeClr>
          </a:effectRef>
          <a:fontRef idx="minor">
            <a:schemeClr val="tx1"/>
          </a:fontRef>
        </p:style>
      </p:sp>
      <p:sp>
        <p:nvSpPr>
          <p:cNvPr id="26" name="Freeform 25"/>
          <p:cNvSpPr/>
          <p:nvPr/>
        </p:nvSpPr>
        <p:spPr>
          <a:xfrm>
            <a:off x="914396" y="5552039"/>
            <a:ext cx="8095133" cy="532891"/>
          </a:xfrm>
          <a:custGeom>
            <a:avLst/>
            <a:gdLst>
              <a:gd name="connsiteX0" fmla="*/ 0 w 8095133"/>
              <a:gd name="connsiteY0" fmla="*/ 0 h 532891"/>
              <a:gd name="connsiteX1" fmla="*/ 8095133 w 8095133"/>
              <a:gd name="connsiteY1" fmla="*/ 0 h 532891"/>
              <a:gd name="connsiteX2" fmla="*/ 8095133 w 8095133"/>
              <a:gd name="connsiteY2" fmla="*/ 532891 h 532891"/>
              <a:gd name="connsiteX3" fmla="*/ 0 w 8095133"/>
              <a:gd name="connsiteY3" fmla="*/ 532891 h 532891"/>
              <a:gd name="connsiteX4" fmla="*/ 0 w 8095133"/>
              <a:gd name="connsiteY4" fmla="*/ 0 h 53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95133" h="532891">
                <a:moveTo>
                  <a:pt x="0" y="0"/>
                </a:moveTo>
                <a:lnTo>
                  <a:pt x="8095133" y="0"/>
                </a:lnTo>
                <a:lnTo>
                  <a:pt x="8095133" y="532891"/>
                </a:lnTo>
                <a:lnTo>
                  <a:pt x="0" y="53289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33020" rIns="0" bIns="33020" numCol="1" spcCol="1270" anchor="ctr" anchorCtr="0">
            <a:noAutofit/>
          </a:bodyPr>
          <a:lstStyle/>
          <a:p>
            <a:pPr lvl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00" kern="1200" smtClean="0"/>
              <a:t>Signing The Agreement</a:t>
            </a:r>
            <a:endParaRPr lang="en-US" sz="2600" kern="1200" dirty="0"/>
          </a:p>
        </p:txBody>
      </p:sp>
      <p:sp>
        <p:nvSpPr>
          <p:cNvPr id="27" name="Oval 26"/>
          <p:cNvSpPr/>
          <p:nvPr/>
        </p:nvSpPr>
        <p:spPr>
          <a:xfrm>
            <a:off x="651741" y="6047201"/>
            <a:ext cx="532891" cy="532891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50000"/>
              <a:hueOff val="-7620765"/>
              <a:satOff val="20223"/>
              <a:lumOff val="16273"/>
              <a:alphaOff val="0"/>
            </a:schemeClr>
          </a:fillRef>
          <a:effectRef idx="0">
            <a:schemeClr val="accent4">
              <a:alpha val="50000"/>
              <a:hueOff val="-7620765"/>
              <a:satOff val="20223"/>
              <a:lumOff val="16273"/>
              <a:alphaOff val="0"/>
            </a:schemeClr>
          </a:effectRef>
          <a:fontRef idx="minor">
            <a:schemeClr val="tx1"/>
          </a:fontRef>
        </p:style>
      </p:sp>
      <p:sp>
        <p:nvSpPr>
          <p:cNvPr id="28" name="Freeform 27"/>
          <p:cNvSpPr/>
          <p:nvPr/>
        </p:nvSpPr>
        <p:spPr>
          <a:xfrm>
            <a:off x="914396" y="6025721"/>
            <a:ext cx="8095133" cy="532891"/>
          </a:xfrm>
          <a:custGeom>
            <a:avLst/>
            <a:gdLst>
              <a:gd name="connsiteX0" fmla="*/ 0 w 8095133"/>
              <a:gd name="connsiteY0" fmla="*/ 0 h 532891"/>
              <a:gd name="connsiteX1" fmla="*/ 8095133 w 8095133"/>
              <a:gd name="connsiteY1" fmla="*/ 0 h 532891"/>
              <a:gd name="connsiteX2" fmla="*/ 8095133 w 8095133"/>
              <a:gd name="connsiteY2" fmla="*/ 532891 h 532891"/>
              <a:gd name="connsiteX3" fmla="*/ 0 w 8095133"/>
              <a:gd name="connsiteY3" fmla="*/ 532891 h 532891"/>
              <a:gd name="connsiteX4" fmla="*/ 0 w 8095133"/>
              <a:gd name="connsiteY4" fmla="*/ 0 h 53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95133" h="532891">
                <a:moveTo>
                  <a:pt x="0" y="0"/>
                </a:moveTo>
                <a:lnTo>
                  <a:pt x="8095133" y="0"/>
                </a:lnTo>
                <a:lnTo>
                  <a:pt x="8095133" y="532891"/>
                </a:lnTo>
                <a:lnTo>
                  <a:pt x="0" y="53289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33020" rIns="0" bIns="33020" numCol="1" spcCol="1270" anchor="ctr" anchorCtr="0">
            <a:noAutofit/>
          </a:bodyPr>
          <a:lstStyle/>
          <a:p>
            <a:pPr lvl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00" kern="1200" smtClean="0"/>
              <a:t>The Loan Disbursal</a:t>
            </a:r>
            <a:endParaRPr lang="en-US" sz="2600" kern="1200" dirty="0"/>
          </a:p>
        </p:txBody>
      </p:sp>
      <p:pic>
        <p:nvPicPr>
          <p:cNvPr id="29" name="Picture 2" descr="Tax savings: Home loan top up could be the cheapest loan available for you  - The Economic Tim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6516" y="1709057"/>
            <a:ext cx="2525484" cy="2525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9301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4" grpId="0"/>
      <p:bldP spid="16" grpId="0"/>
      <p:bldP spid="18" grpId="0"/>
      <p:bldP spid="20" grpId="0"/>
      <p:bldP spid="22" grpId="0"/>
      <p:bldP spid="24" grpId="0"/>
      <p:bldP spid="26" grpId="0"/>
      <p:bldP spid="28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NPA</a:t>
            </a:r>
          </a:p>
        </p:txBody>
      </p:sp>
    </p:spTree>
    <p:extLst>
      <p:ext uri="{BB962C8B-B14F-4D97-AF65-F5344CB8AC3E}">
        <p14:creationId xmlns:p14="http://schemas.microsoft.com/office/powerpoint/2010/main" val="606239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DF562-64CB-41BB-A614-4457B7FC8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A non-performing asset (NPA) is a classification used by financial institutions for loans and advances on which </a:t>
            </a:r>
            <a:r>
              <a:rPr lang="en-US" b="1" dirty="0">
                <a:solidFill>
                  <a:srgbClr val="C00000"/>
                </a:solidFill>
              </a:rPr>
              <a:t>the principal is past due and on which no interest payments have been made for a period of time. </a:t>
            </a:r>
          </a:p>
          <a:p>
            <a:pPr>
              <a:lnSpc>
                <a:spcPct val="100000"/>
              </a:lnSpc>
            </a:pPr>
            <a:r>
              <a:rPr lang="en-US" dirty="0"/>
              <a:t>In general, loans become NPAs when they are outstanding </a:t>
            </a:r>
            <a:r>
              <a:rPr lang="en-US" b="1" dirty="0">
                <a:solidFill>
                  <a:srgbClr val="C00000"/>
                </a:solidFill>
              </a:rPr>
              <a:t>for 90 days or more</a:t>
            </a:r>
            <a:r>
              <a:rPr lang="en-US" dirty="0"/>
              <a:t>, though some lenders use a shorter window in considering a loan or advance past due.</a:t>
            </a:r>
          </a:p>
          <a:p>
            <a:pPr>
              <a:lnSpc>
                <a:spcPct val="100000"/>
              </a:lnSpc>
            </a:pPr>
            <a:r>
              <a:rPr lang="en-US" dirty="0"/>
              <a:t>This is the general definition of a non-performing asset over the world, however </a:t>
            </a:r>
            <a:r>
              <a:rPr lang="en-US" b="1" dirty="0">
                <a:solidFill>
                  <a:srgbClr val="C00000"/>
                </a:solidFill>
              </a:rPr>
              <a:t>each country has its own procedure and requirements </a:t>
            </a:r>
            <a:r>
              <a:rPr lang="en-US" dirty="0"/>
              <a:t>to declare an asset as non-performing. </a:t>
            </a:r>
            <a:endParaRPr lang="en-US" dirty="0" smtClean="0"/>
          </a:p>
          <a:p>
            <a:pPr>
              <a:lnSpc>
                <a:spcPct val="100000"/>
              </a:lnSpc>
            </a:pPr>
            <a:r>
              <a:rPr lang="en-US" b="1" dirty="0" smtClean="0">
                <a:solidFill>
                  <a:srgbClr val="C00000"/>
                </a:solidFill>
              </a:rPr>
              <a:t>In </a:t>
            </a:r>
            <a:r>
              <a:rPr lang="en-US" b="1" dirty="0">
                <a:solidFill>
                  <a:srgbClr val="C00000"/>
                </a:solidFill>
              </a:rPr>
              <a:t>India </a:t>
            </a:r>
            <a:r>
              <a:rPr lang="en-US" dirty="0"/>
              <a:t>for an asset to be classified as an NPA the borrower should have the principal or interest on the loan or advance given by the lender overdue </a:t>
            </a:r>
            <a:r>
              <a:rPr lang="en-US" b="1" dirty="0">
                <a:solidFill>
                  <a:srgbClr val="C00000"/>
                </a:solidFill>
              </a:rPr>
              <a:t>for a period of 90 days.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2F1099-DF0A-4AA3-BCF9-BD4BF7027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</p:spTree>
    <p:extLst>
      <p:ext uri="{BB962C8B-B14F-4D97-AF65-F5344CB8AC3E}">
        <p14:creationId xmlns:p14="http://schemas.microsoft.com/office/powerpoint/2010/main" val="104802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02B45E-E833-482D-AF04-818E630D1F73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131180" y="863444"/>
          <a:ext cx="11929641" cy="5590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C2F1099-DF0A-4AA3-BCF9-BD4BF7027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of </a:t>
            </a:r>
            <a:r>
              <a:rPr lang="en-US" dirty="0" smtClean="0"/>
              <a:t>Assets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208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F4982E9-FF37-4030-8C14-123B439EB3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2F4982E9-FF37-4030-8C14-123B439EB3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08CF32A-E650-4CC0-BFF1-F5DDCF9374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dgm id="{108CF32A-E650-4CC0-BFF1-F5DDCF9374A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64578E5-1959-4BF3-9CC5-1A65315DFE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graphicEl>
                                              <a:dgm id="{464578E5-1959-4BF3-9CC5-1A65315DFE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974D602-FCF8-4961-9445-7FF0ADB655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dgm id="{1974D602-FCF8-4961-9445-7FF0ADB6558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B05FDAB-4CE8-4F34-916E-BC59800263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graphicEl>
                                              <a:dgm id="{DB05FDAB-4CE8-4F34-916E-BC59800263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D6049C5-1FA0-406D-B134-3D23B45DDF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graphicEl>
                                              <a:dgm id="{4D6049C5-1FA0-406D-B134-3D23B45DDF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BA15712-30D0-42BE-8260-C579C864FB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graphicEl>
                                              <a:dgm id="{EBA15712-30D0-42BE-8260-C579C864FB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8176402-91A3-4FBE-83D5-8C062C844D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graphicEl>
                                              <a:dgm id="{E8176402-91A3-4FBE-83D5-8C062C844D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8A8892E-0D1D-4A8F-B129-B2CEBD93C6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graphicEl>
                                              <a:dgm id="{E8A8892E-0D1D-4A8F-B129-B2CEBD93C64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DF562-64CB-41BB-A614-4457B7FC8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b="1" dirty="0" smtClean="0"/>
              <a:t>Standard </a:t>
            </a:r>
            <a:r>
              <a:rPr lang="en-US" b="1" dirty="0"/>
              <a:t>Assets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They are NPAs that have been past due for anywhere from </a:t>
            </a:r>
            <a:r>
              <a:rPr lang="en-US" b="1" dirty="0">
                <a:solidFill>
                  <a:srgbClr val="C00000"/>
                </a:solidFill>
              </a:rPr>
              <a:t>90 days to 12 </a:t>
            </a:r>
            <a:r>
              <a:rPr lang="en-US" dirty="0"/>
              <a:t>months, with </a:t>
            </a:r>
            <a:r>
              <a:rPr lang="en-US" b="1" dirty="0">
                <a:solidFill>
                  <a:srgbClr val="C00000"/>
                </a:solidFill>
              </a:rPr>
              <a:t>a normal risk level</a:t>
            </a:r>
            <a:r>
              <a:rPr lang="en-US" dirty="0">
                <a:solidFill>
                  <a:srgbClr val="C00000"/>
                </a:solidFill>
              </a:rPr>
              <a:t>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b="1" dirty="0" smtClean="0"/>
              <a:t>Sub-Standard </a:t>
            </a:r>
            <a:r>
              <a:rPr lang="en-US" b="1" dirty="0"/>
              <a:t>Assets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They are NPAs that have been past due for </a:t>
            </a:r>
            <a:r>
              <a:rPr lang="en-US" b="1" dirty="0">
                <a:solidFill>
                  <a:srgbClr val="C00000"/>
                </a:solidFill>
              </a:rPr>
              <a:t>more than 12 months</a:t>
            </a:r>
            <a:r>
              <a:rPr lang="en-US" dirty="0"/>
              <a:t>. They have a significantly </a:t>
            </a:r>
            <a:r>
              <a:rPr lang="en-US" b="1" dirty="0">
                <a:solidFill>
                  <a:srgbClr val="C00000"/>
                </a:solidFill>
              </a:rPr>
              <a:t>higher risk level</a:t>
            </a:r>
            <a:r>
              <a:rPr lang="en-US" dirty="0"/>
              <a:t>, combined with a borrower that has less than ideal credit. </a:t>
            </a:r>
            <a:endParaRPr lang="en-US" dirty="0" smtClean="0"/>
          </a:p>
          <a:p>
            <a:pPr lvl="1">
              <a:lnSpc>
                <a:spcPct val="100000"/>
              </a:lnSpc>
            </a:pPr>
            <a:r>
              <a:rPr lang="en-US" dirty="0" smtClean="0"/>
              <a:t>Banks </a:t>
            </a:r>
            <a:r>
              <a:rPr lang="en-US" dirty="0"/>
              <a:t>usually assign a haircut (reduction in market value) to such NPAs because they are less certain that the borrower will eventually repay the full amount.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2F1099-DF0A-4AA3-BCF9-BD4BF7027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of </a:t>
            </a:r>
            <a:r>
              <a:rPr lang="en-US" dirty="0" smtClean="0"/>
              <a:t>Assets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902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DF562-64CB-41BB-A614-4457B7FC8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00000"/>
              </a:lnSpc>
              <a:buFont typeface="+mj-lt"/>
              <a:buAutoNum type="arabicPeriod" startAt="3"/>
            </a:pPr>
            <a:r>
              <a:rPr lang="en-US" b="1" dirty="0" smtClean="0"/>
              <a:t>Doubtful </a:t>
            </a:r>
            <a:r>
              <a:rPr lang="en-US" b="1" dirty="0"/>
              <a:t>Debts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Non-performing assets in the doubtful debts category have been past due for </a:t>
            </a:r>
            <a:r>
              <a:rPr lang="en-US" b="1" dirty="0">
                <a:solidFill>
                  <a:srgbClr val="C00000"/>
                </a:solidFill>
              </a:rPr>
              <a:t>at least 18 months</a:t>
            </a:r>
            <a:r>
              <a:rPr lang="en-US" dirty="0"/>
              <a:t>. </a:t>
            </a:r>
            <a:endParaRPr lang="en-US" dirty="0" smtClean="0"/>
          </a:p>
          <a:p>
            <a:pPr lvl="1">
              <a:lnSpc>
                <a:spcPct val="100000"/>
              </a:lnSpc>
            </a:pPr>
            <a:r>
              <a:rPr lang="en-US" dirty="0" smtClean="0"/>
              <a:t>Banks </a:t>
            </a:r>
            <a:r>
              <a:rPr lang="en-US" dirty="0"/>
              <a:t>generally have </a:t>
            </a:r>
            <a:r>
              <a:rPr lang="en-US" b="1" dirty="0">
                <a:solidFill>
                  <a:srgbClr val="C00000"/>
                </a:solidFill>
              </a:rPr>
              <a:t>serious doubts </a:t>
            </a:r>
            <a:r>
              <a:rPr lang="en-US" dirty="0"/>
              <a:t>that the borrower will ever repay the full loan. This class of NPA seriously affects the bank’s own risk profile.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 startAt="3"/>
            </a:pPr>
            <a:r>
              <a:rPr lang="en-US" b="1" dirty="0" smtClean="0"/>
              <a:t>Loss </a:t>
            </a:r>
            <a:r>
              <a:rPr lang="en-US" b="1" dirty="0"/>
              <a:t>Assets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These are non-performing assets with </a:t>
            </a:r>
            <a:r>
              <a:rPr lang="en-US" b="1" dirty="0">
                <a:solidFill>
                  <a:srgbClr val="C00000"/>
                </a:solidFill>
              </a:rPr>
              <a:t>an extended period of non-payment</a:t>
            </a:r>
            <a:r>
              <a:rPr lang="en-US" dirty="0"/>
              <a:t>. </a:t>
            </a:r>
            <a:endParaRPr lang="en-US" dirty="0" smtClean="0"/>
          </a:p>
          <a:p>
            <a:pPr lvl="1">
              <a:lnSpc>
                <a:spcPct val="100000"/>
              </a:lnSpc>
            </a:pPr>
            <a:r>
              <a:rPr lang="en-US" dirty="0" smtClean="0"/>
              <a:t>With </a:t>
            </a:r>
            <a:r>
              <a:rPr lang="en-US" dirty="0"/>
              <a:t>this class, </a:t>
            </a:r>
            <a:r>
              <a:rPr lang="en-US" b="1" dirty="0">
                <a:solidFill>
                  <a:srgbClr val="C00000"/>
                </a:solidFill>
              </a:rPr>
              <a:t>banks are forced to accept that the loan will never be repaid</a:t>
            </a:r>
            <a:r>
              <a:rPr lang="en-US" dirty="0"/>
              <a:t>, and </a:t>
            </a:r>
            <a:r>
              <a:rPr lang="en-US" b="1" dirty="0">
                <a:solidFill>
                  <a:srgbClr val="C00000"/>
                </a:solidFill>
              </a:rPr>
              <a:t>must record a loss on their balance sheet</a:t>
            </a:r>
            <a:r>
              <a:rPr lang="en-US" dirty="0"/>
              <a:t>. </a:t>
            </a:r>
            <a:endParaRPr lang="en-US" dirty="0" smtClean="0"/>
          </a:p>
          <a:p>
            <a:pPr lvl="1">
              <a:lnSpc>
                <a:spcPct val="100000"/>
              </a:lnSpc>
            </a:pPr>
            <a:r>
              <a:rPr lang="en-US" dirty="0" smtClean="0"/>
              <a:t>The </a:t>
            </a:r>
            <a:r>
              <a:rPr lang="en-US" dirty="0"/>
              <a:t>entire amount of the loan must be written off completely.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2F1099-DF0A-4AA3-BCF9-BD4BF7027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of </a:t>
            </a:r>
            <a:r>
              <a:rPr lang="en-US" dirty="0" smtClean="0"/>
              <a:t>Assets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881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Gross NPA from 2019 to 2022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8" y="861193"/>
            <a:ext cx="11929641" cy="434207"/>
          </a:xfrm>
        </p:spPr>
        <p:txBody>
          <a:bodyPr/>
          <a:lstStyle/>
          <a:p>
            <a:r>
              <a:rPr lang="en-US" sz="2000" dirty="0"/>
              <a:t>Source: https://www.statista.com/statistics/1222935/india-gross-npa-of-banks-by-sector/</a:t>
            </a:r>
            <a:endParaRPr lang="en-IN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1811" t="37235" r="41980" b="11517"/>
          <a:stretch/>
        </p:blipFill>
        <p:spPr>
          <a:xfrm>
            <a:off x="2590800" y="1371599"/>
            <a:ext cx="6522720" cy="4069081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131179" y="5641471"/>
            <a:ext cx="11929641" cy="4037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430" indent="-26543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/>
              <a:t>Latest Report by RBI: </a:t>
            </a:r>
            <a:r>
              <a:rPr lang="en-US" sz="2000" dirty="0" smtClean="0"/>
              <a:t> https</a:t>
            </a:r>
            <a:r>
              <a:rPr lang="en-US" sz="2000" dirty="0"/>
              <a:t>://rbi.org.in/Scripts/AnnualPublications.aspx?head=Statistical%20Tables%20Relating%20to%20Banks%20in%20India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3852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60FA9F-D4B6-44AE-B4C7-3E68708D394F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1371600" y="2331720"/>
          <a:ext cx="9089021" cy="42777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FF4823A-BC9B-4142-B766-4C7344BAB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Causes of NPA (Non Performing Assets)</a:t>
            </a: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ADF562-64CB-41BB-A614-4457B7FC8CCF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430" indent="-26543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 smtClean="0"/>
              <a:t>There are many causes of NPA (Non Performing Assets). All of the causes can be categorized under two broad categories.</a:t>
            </a:r>
            <a:endParaRPr lang="en-US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40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9A903A5-3B72-468C-94B7-071EACAAC0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graphicEl>
                                              <a:dgm id="{D9A903A5-3B72-468C-94B7-071EACAAC0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BE9EB09-49E2-410A-8C29-C1FA40C611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graphicEl>
                                              <a:dgm id="{CBE9EB09-49E2-410A-8C29-C1FA40C6111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BD27BA2-482A-4768-8B2A-FAAC09C7D9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graphicEl>
                                              <a:dgm id="{FBD27BA2-482A-4768-8B2A-FAAC09C7D9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3907439-3800-45C2-AF28-44822477ED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graphicEl>
                                              <a:dgm id="{53907439-3800-45C2-AF28-44822477ED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6699FC-5A20-4DAD-B620-8A6ECFEDB2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C56699FC-5A20-4DAD-B620-8A6ECFEDB2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  <p:bldP spid="5" grpId="0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1536C-44E1-FC0A-A7D4-6041D689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Causes of NPA (Non Performing Assets)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72C0D-1C48-EDBA-1D75-567E7CE50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5470630" cy="5590565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+mj-lt"/>
                <a:cs typeface="Times New Roman" panose="02020603050405020304" pitchFamily="18" charset="0"/>
              </a:rPr>
              <a:t>External Factors</a:t>
            </a:r>
            <a:endParaRPr lang="en-US" dirty="0" smtClean="0"/>
          </a:p>
          <a:p>
            <a:r>
              <a:rPr lang="en-US" dirty="0" smtClean="0"/>
              <a:t>Ineffective recovery tribunal</a:t>
            </a:r>
          </a:p>
          <a:p>
            <a:r>
              <a:rPr lang="en-US" dirty="0" smtClean="0"/>
              <a:t>Industrial </a:t>
            </a:r>
            <a:r>
              <a:rPr lang="en-US" dirty="0"/>
              <a:t>sickness</a:t>
            </a:r>
          </a:p>
          <a:p>
            <a:r>
              <a:rPr lang="en-US" dirty="0"/>
              <a:t>Natural calamities</a:t>
            </a:r>
          </a:p>
          <a:p>
            <a:r>
              <a:rPr lang="en-US" dirty="0"/>
              <a:t>Willful </a:t>
            </a:r>
            <a:r>
              <a:rPr lang="en-US" dirty="0" smtClean="0"/>
              <a:t>defaults</a:t>
            </a:r>
            <a:endParaRPr lang="en-US" dirty="0"/>
          </a:p>
          <a:p>
            <a:r>
              <a:rPr lang="en-US" dirty="0"/>
              <a:t>Change on </a:t>
            </a:r>
            <a:r>
              <a:rPr lang="en-US" dirty="0" smtClean="0"/>
              <a:t>govt</a:t>
            </a:r>
            <a:r>
              <a:rPr lang="en-US" dirty="0"/>
              <a:t>. </a:t>
            </a:r>
            <a:r>
              <a:rPr lang="en-US" dirty="0" smtClean="0"/>
              <a:t>policies</a:t>
            </a:r>
          </a:p>
          <a:p>
            <a:r>
              <a:rPr lang="en-US" dirty="0"/>
              <a:t>Lack of </a:t>
            </a:r>
            <a:r>
              <a:rPr lang="en-US" dirty="0" smtClean="0"/>
              <a:t>demand 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915689-FDD5-A945-44A3-77279F546FF9}"/>
              </a:ext>
            </a:extLst>
          </p:cNvPr>
          <p:cNvSpPr txBox="1">
            <a:spLocks/>
          </p:cNvSpPr>
          <p:nvPr/>
        </p:nvSpPr>
        <p:spPr>
          <a:xfrm>
            <a:off x="6096000" y="849478"/>
            <a:ext cx="547063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430" indent="-26543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smtClean="0">
                <a:latin typeface="+mj-lt"/>
                <a:cs typeface="Times New Roman" panose="02020603050405020304" pitchFamily="18" charset="0"/>
              </a:rPr>
              <a:t>Internal Factors</a:t>
            </a:r>
            <a:endParaRPr lang="en-US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dirty="0">
                <a:latin typeface="+mj-lt"/>
                <a:cs typeface="Times New Roman" panose="02020603050405020304" pitchFamily="18" charset="0"/>
              </a:rPr>
              <a:t>Defective </a:t>
            </a:r>
            <a:r>
              <a:rPr lang="en-US" dirty="0" smtClean="0">
                <a:latin typeface="+mj-lt"/>
                <a:cs typeface="Times New Roman" panose="02020603050405020304" pitchFamily="18" charset="0"/>
              </a:rPr>
              <a:t>lending 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process </a:t>
            </a:r>
          </a:p>
          <a:p>
            <a:r>
              <a:rPr lang="en-US" dirty="0">
                <a:latin typeface="+mj-lt"/>
                <a:cs typeface="Times New Roman" panose="02020603050405020304" pitchFamily="18" charset="0"/>
              </a:rPr>
              <a:t>Improper SWOT analysis </a:t>
            </a:r>
          </a:p>
          <a:p>
            <a:r>
              <a:rPr lang="en-US" dirty="0">
                <a:latin typeface="+mj-lt"/>
                <a:cs typeface="Times New Roman" panose="02020603050405020304" pitchFamily="18" charset="0"/>
              </a:rPr>
              <a:t>Poor credit appraisal </a:t>
            </a:r>
            <a:r>
              <a:rPr lang="en-US" dirty="0" smtClean="0">
                <a:latin typeface="+mj-lt"/>
                <a:cs typeface="Times New Roman" panose="02020603050405020304" pitchFamily="18" charset="0"/>
              </a:rPr>
              <a:t>system</a:t>
            </a:r>
          </a:p>
          <a:p>
            <a:r>
              <a:rPr lang="en-US" dirty="0">
                <a:latin typeface="+mj-lt"/>
                <a:cs typeface="Times New Roman" panose="02020603050405020304" pitchFamily="18" charset="0"/>
              </a:rPr>
              <a:t>Absence of regular industrial </a:t>
            </a:r>
            <a:r>
              <a:rPr lang="en-US" dirty="0" smtClean="0">
                <a:latin typeface="+mj-lt"/>
                <a:cs typeface="Times New Roman" panose="02020603050405020304" pitchFamily="18" charset="0"/>
              </a:rPr>
              <a:t>visit </a:t>
            </a:r>
          </a:p>
          <a:p>
            <a:r>
              <a:rPr lang="en-US" dirty="0">
                <a:latin typeface="+mj-lt"/>
                <a:cs typeface="Times New Roman" panose="02020603050405020304" pitchFamily="18" charset="0"/>
              </a:rPr>
              <a:t>F</a:t>
            </a:r>
            <a:r>
              <a:rPr lang="en-US" dirty="0" smtClean="0">
                <a:latin typeface="+mj-lt"/>
                <a:cs typeface="Times New Roman" panose="02020603050405020304" pitchFamily="18" charset="0"/>
              </a:rPr>
              <a:t>raud</a:t>
            </a:r>
            <a:endParaRPr lang="en-US" dirty="0"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20DFB7-B2B4-2C36-4395-0BB4B92141BE}"/>
              </a:ext>
            </a:extLst>
          </p:cNvPr>
          <p:cNvCxnSpPr/>
          <p:nvPr/>
        </p:nvCxnSpPr>
        <p:spPr>
          <a:xfrm>
            <a:off x="5859262" y="863444"/>
            <a:ext cx="0" cy="559056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123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CIBIL Score</a:t>
            </a:r>
          </a:p>
        </p:txBody>
      </p:sp>
    </p:spTree>
    <p:extLst>
      <p:ext uri="{BB962C8B-B14F-4D97-AF65-F5344CB8AC3E}">
        <p14:creationId xmlns:p14="http://schemas.microsoft.com/office/powerpoint/2010/main" val="2975529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CIBIL </a:t>
            </a:r>
            <a:r>
              <a:rPr lang="en-US" dirty="0"/>
              <a:t>- Credit Information Bureau (India) Limited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CIBIL Score is a </a:t>
            </a:r>
            <a:r>
              <a:rPr lang="en-US" b="1" dirty="0">
                <a:solidFill>
                  <a:srgbClr val="C00000"/>
                </a:solidFill>
              </a:rPr>
              <a:t>3 digit numeric summary of your </a:t>
            </a:r>
            <a:r>
              <a:rPr lang="en-US" b="1" dirty="0" smtClean="0">
                <a:solidFill>
                  <a:srgbClr val="C00000"/>
                </a:solidFill>
              </a:rPr>
              <a:t>credit history</a:t>
            </a:r>
            <a:r>
              <a:rPr lang="en-US" dirty="0"/>
              <a:t>, derived by using details found in the ‘Accounts’ </a:t>
            </a:r>
            <a:r>
              <a:rPr lang="en-US" dirty="0" smtClean="0"/>
              <a:t>and ‘</a:t>
            </a:r>
            <a:r>
              <a:rPr lang="en-US" dirty="0"/>
              <a:t>Enquiries’ sections on your CIBIL Report and ranges </a:t>
            </a:r>
            <a:r>
              <a:rPr lang="en-US" dirty="0" smtClean="0"/>
              <a:t>from </a:t>
            </a:r>
            <a:r>
              <a:rPr lang="en-US" b="1" dirty="0" smtClean="0">
                <a:solidFill>
                  <a:srgbClr val="C00000"/>
                </a:solidFill>
              </a:rPr>
              <a:t>300 </a:t>
            </a:r>
            <a:r>
              <a:rPr lang="en-US" b="1" dirty="0">
                <a:solidFill>
                  <a:srgbClr val="C00000"/>
                </a:solidFill>
              </a:rPr>
              <a:t>to 900. </a:t>
            </a:r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The </a:t>
            </a:r>
            <a:r>
              <a:rPr lang="en-US" b="1" dirty="0">
                <a:solidFill>
                  <a:srgbClr val="C00000"/>
                </a:solidFill>
              </a:rPr>
              <a:t>closer your score is to 900, </a:t>
            </a:r>
            <a:r>
              <a:rPr lang="en-US" dirty="0" smtClean="0"/>
              <a:t>it is considered as </a:t>
            </a:r>
            <a:r>
              <a:rPr lang="en-US" b="1" dirty="0" smtClean="0">
                <a:solidFill>
                  <a:srgbClr val="C00000"/>
                </a:solidFill>
              </a:rPr>
              <a:t>good CIBIL Score. </a:t>
            </a:r>
            <a:r>
              <a:rPr lang="en-US" dirty="0"/>
              <a:t>It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C00000"/>
                </a:solidFill>
              </a:rPr>
              <a:t>based </a:t>
            </a:r>
            <a:r>
              <a:rPr lang="en-US" b="1" dirty="0">
                <a:solidFill>
                  <a:srgbClr val="C00000"/>
                </a:solidFill>
              </a:rPr>
              <a:t>on 36 months of your credit history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</a:p>
          <a:p>
            <a:r>
              <a:rPr lang="en-US" dirty="0" smtClean="0"/>
              <a:t>Your CIBIL Score is one of the </a:t>
            </a:r>
            <a:r>
              <a:rPr lang="en-US" b="1" dirty="0" smtClean="0">
                <a:solidFill>
                  <a:srgbClr val="C00000"/>
                </a:solidFill>
              </a:rPr>
              <a:t>most important parameters </a:t>
            </a:r>
            <a:r>
              <a:rPr lang="en-US" dirty="0" smtClean="0"/>
              <a:t>considered by lenders before approving your loan application. </a:t>
            </a:r>
          </a:p>
          <a:p>
            <a:r>
              <a:rPr lang="en-US" dirty="0" smtClean="0"/>
              <a:t>CIBIL Score also provides lenders necessary insights into your credit history through </a:t>
            </a:r>
            <a:r>
              <a:rPr lang="en-US" b="1" dirty="0" smtClean="0">
                <a:solidFill>
                  <a:srgbClr val="C00000"/>
                </a:solidFill>
              </a:rPr>
              <a:t>past patterns of credit usage and loan repayment behavior.</a:t>
            </a:r>
          </a:p>
          <a:p>
            <a:r>
              <a:rPr lang="en-US" dirty="0" smtClean="0"/>
              <a:t>It act as a guiding principles for lenders, </a:t>
            </a:r>
            <a:r>
              <a:rPr lang="en-US" b="1" dirty="0" smtClean="0">
                <a:solidFill>
                  <a:srgbClr val="C00000"/>
                </a:solidFill>
              </a:rPr>
              <a:t>making the loan approval process faster.</a:t>
            </a:r>
            <a:endParaRPr lang="en-IN" b="1" dirty="0">
              <a:solidFill>
                <a:srgbClr val="C00000"/>
              </a:solidFill>
            </a:endParaRPr>
          </a:p>
        </p:txBody>
      </p:sp>
      <p:grpSp>
        <p:nvGrpSpPr>
          <p:cNvPr id="4" name="Group 3"/>
          <p:cNvGrpSpPr>
            <a:grpSpLocks/>
          </p:cNvGrpSpPr>
          <p:nvPr/>
        </p:nvGrpSpPr>
        <p:grpSpPr>
          <a:xfrm>
            <a:off x="319847" y="5808027"/>
            <a:ext cx="1207135" cy="484580"/>
            <a:chOff x="-11" y="0"/>
            <a:chExt cx="1207135" cy="484580"/>
          </a:xfrm>
        </p:grpSpPr>
        <p:pic>
          <p:nvPicPr>
            <p:cNvPr id="5" name="Image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299" y="378542"/>
              <a:ext cx="134094" cy="104044"/>
            </a:xfrm>
            <a:prstGeom prst="rect">
              <a:avLst/>
            </a:prstGeom>
          </p:spPr>
        </p:pic>
        <p:sp>
          <p:nvSpPr>
            <p:cNvPr id="6" name="Graphic 4"/>
            <p:cNvSpPr/>
            <p:nvPr/>
          </p:nvSpPr>
          <p:spPr>
            <a:xfrm>
              <a:off x="480759" y="383615"/>
              <a:ext cx="525780" cy="100965"/>
            </a:xfrm>
            <a:custGeom>
              <a:avLst/>
              <a:gdLst/>
              <a:ahLst/>
              <a:cxnLst/>
              <a:rect l="l" t="t" r="r" b="b"/>
              <a:pathLst>
                <a:path w="525780" h="100965">
                  <a:moveTo>
                    <a:pt x="72364" y="101"/>
                  </a:moveTo>
                  <a:lnTo>
                    <a:pt x="0" y="101"/>
                  </a:lnTo>
                  <a:lnTo>
                    <a:pt x="0" y="6451"/>
                  </a:lnTo>
                  <a:lnTo>
                    <a:pt x="32639" y="6451"/>
                  </a:lnTo>
                  <a:lnTo>
                    <a:pt x="32639" y="97891"/>
                  </a:lnTo>
                  <a:lnTo>
                    <a:pt x="39725" y="97891"/>
                  </a:lnTo>
                  <a:lnTo>
                    <a:pt x="39725" y="6451"/>
                  </a:lnTo>
                  <a:lnTo>
                    <a:pt x="72364" y="6451"/>
                  </a:lnTo>
                  <a:lnTo>
                    <a:pt x="72364" y="101"/>
                  </a:lnTo>
                  <a:close/>
                </a:path>
                <a:path w="525780" h="100965">
                  <a:moveTo>
                    <a:pt x="121627" y="34683"/>
                  </a:moveTo>
                  <a:lnTo>
                    <a:pt x="117106" y="31457"/>
                  </a:lnTo>
                  <a:lnTo>
                    <a:pt x="111125" y="29641"/>
                  </a:lnTo>
                  <a:lnTo>
                    <a:pt x="104457" y="29527"/>
                  </a:lnTo>
                  <a:lnTo>
                    <a:pt x="96507" y="29095"/>
                  </a:lnTo>
                  <a:lnTo>
                    <a:pt x="87566" y="32461"/>
                  </a:lnTo>
                  <a:lnTo>
                    <a:pt x="83032" y="40436"/>
                  </a:lnTo>
                  <a:lnTo>
                    <a:pt x="83032" y="32613"/>
                  </a:lnTo>
                  <a:lnTo>
                    <a:pt x="78625" y="28536"/>
                  </a:lnTo>
                  <a:lnTo>
                    <a:pt x="67703" y="30353"/>
                  </a:lnTo>
                  <a:lnTo>
                    <a:pt x="67995" y="36385"/>
                  </a:lnTo>
                  <a:lnTo>
                    <a:pt x="76644" y="35242"/>
                  </a:lnTo>
                  <a:lnTo>
                    <a:pt x="76784" y="39446"/>
                  </a:lnTo>
                  <a:lnTo>
                    <a:pt x="76784" y="97878"/>
                  </a:lnTo>
                  <a:lnTo>
                    <a:pt x="83604" y="97878"/>
                  </a:lnTo>
                  <a:lnTo>
                    <a:pt x="83604" y="54279"/>
                  </a:lnTo>
                  <a:lnTo>
                    <a:pt x="85293" y="46583"/>
                  </a:lnTo>
                  <a:lnTo>
                    <a:pt x="89776" y="40817"/>
                  </a:lnTo>
                  <a:lnTo>
                    <a:pt x="96177" y="37198"/>
                  </a:lnTo>
                  <a:lnTo>
                    <a:pt x="103619" y="35941"/>
                  </a:lnTo>
                  <a:lnTo>
                    <a:pt x="109156" y="35941"/>
                  </a:lnTo>
                  <a:lnTo>
                    <a:pt x="114833" y="37338"/>
                  </a:lnTo>
                  <a:lnTo>
                    <a:pt x="119227" y="40576"/>
                  </a:lnTo>
                  <a:lnTo>
                    <a:pt x="121627" y="34683"/>
                  </a:lnTo>
                  <a:close/>
                </a:path>
                <a:path w="525780" h="100965">
                  <a:moveTo>
                    <a:pt x="195580" y="98564"/>
                  </a:moveTo>
                  <a:lnTo>
                    <a:pt x="195364" y="95072"/>
                  </a:lnTo>
                  <a:lnTo>
                    <a:pt x="195300" y="93954"/>
                  </a:lnTo>
                  <a:lnTo>
                    <a:pt x="186232" y="95072"/>
                  </a:lnTo>
                  <a:lnTo>
                    <a:pt x="186664" y="90462"/>
                  </a:lnTo>
                  <a:lnTo>
                    <a:pt x="186664" y="85712"/>
                  </a:lnTo>
                  <a:lnTo>
                    <a:pt x="186664" y="63474"/>
                  </a:lnTo>
                  <a:lnTo>
                    <a:pt x="186664" y="63195"/>
                  </a:lnTo>
                  <a:lnTo>
                    <a:pt x="186639" y="51447"/>
                  </a:lnTo>
                  <a:lnTo>
                    <a:pt x="184264" y="41033"/>
                  </a:lnTo>
                  <a:lnTo>
                    <a:pt x="178955" y="35356"/>
                  </a:lnTo>
                  <a:lnTo>
                    <a:pt x="177863" y="34188"/>
                  </a:lnTo>
                  <a:lnTo>
                    <a:pt x="168694" y="30480"/>
                  </a:lnTo>
                  <a:lnTo>
                    <a:pt x="157975" y="29362"/>
                  </a:lnTo>
                  <a:lnTo>
                    <a:pt x="149034" y="29362"/>
                  </a:lnTo>
                  <a:lnTo>
                    <a:pt x="139941" y="31445"/>
                  </a:lnTo>
                  <a:lnTo>
                    <a:pt x="133565" y="34950"/>
                  </a:lnTo>
                  <a:lnTo>
                    <a:pt x="135115" y="40563"/>
                  </a:lnTo>
                  <a:lnTo>
                    <a:pt x="140931" y="37185"/>
                  </a:lnTo>
                  <a:lnTo>
                    <a:pt x="149174" y="35356"/>
                  </a:lnTo>
                  <a:lnTo>
                    <a:pt x="157124" y="35356"/>
                  </a:lnTo>
                  <a:lnTo>
                    <a:pt x="165341" y="36029"/>
                  </a:lnTo>
                  <a:lnTo>
                    <a:pt x="172783" y="38493"/>
                  </a:lnTo>
                  <a:lnTo>
                    <a:pt x="178168" y="43408"/>
                  </a:lnTo>
                  <a:lnTo>
                    <a:pt x="180251" y="51447"/>
                  </a:lnTo>
                  <a:lnTo>
                    <a:pt x="180251" y="63195"/>
                  </a:lnTo>
                  <a:lnTo>
                    <a:pt x="180251" y="68935"/>
                  </a:lnTo>
                  <a:lnTo>
                    <a:pt x="180251" y="76758"/>
                  </a:lnTo>
                  <a:lnTo>
                    <a:pt x="176403" y="84239"/>
                  </a:lnTo>
                  <a:lnTo>
                    <a:pt x="170014" y="89369"/>
                  </a:lnTo>
                  <a:lnTo>
                    <a:pt x="162102" y="92316"/>
                  </a:lnTo>
                  <a:lnTo>
                    <a:pt x="153720" y="93256"/>
                  </a:lnTo>
                  <a:lnTo>
                    <a:pt x="144195" y="93256"/>
                  </a:lnTo>
                  <a:lnTo>
                    <a:pt x="134975" y="89763"/>
                  </a:lnTo>
                  <a:lnTo>
                    <a:pt x="134975" y="79425"/>
                  </a:lnTo>
                  <a:lnTo>
                    <a:pt x="164096" y="63474"/>
                  </a:lnTo>
                  <a:lnTo>
                    <a:pt x="172440" y="65011"/>
                  </a:lnTo>
                  <a:lnTo>
                    <a:pt x="180251" y="68935"/>
                  </a:lnTo>
                  <a:lnTo>
                    <a:pt x="180251" y="63195"/>
                  </a:lnTo>
                  <a:lnTo>
                    <a:pt x="174167" y="60998"/>
                  </a:lnTo>
                  <a:lnTo>
                    <a:pt x="167906" y="59423"/>
                  </a:lnTo>
                  <a:lnTo>
                    <a:pt x="161531" y="58470"/>
                  </a:lnTo>
                  <a:lnTo>
                    <a:pt x="155143" y="58153"/>
                  </a:lnTo>
                  <a:lnTo>
                    <a:pt x="145135" y="59512"/>
                  </a:lnTo>
                  <a:lnTo>
                    <a:pt x="136563" y="63576"/>
                  </a:lnTo>
                  <a:lnTo>
                    <a:pt x="130581" y="70396"/>
                  </a:lnTo>
                  <a:lnTo>
                    <a:pt x="128320" y="79984"/>
                  </a:lnTo>
                  <a:lnTo>
                    <a:pt x="130441" y="88379"/>
                  </a:lnTo>
                  <a:lnTo>
                    <a:pt x="135978" y="94297"/>
                  </a:lnTo>
                  <a:lnTo>
                    <a:pt x="143764" y="97815"/>
                  </a:lnTo>
                  <a:lnTo>
                    <a:pt x="152590" y="98971"/>
                  </a:lnTo>
                  <a:lnTo>
                    <a:pt x="161099" y="98285"/>
                  </a:lnTo>
                  <a:lnTo>
                    <a:pt x="169164" y="96024"/>
                  </a:lnTo>
                  <a:lnTo>
                    <a:pt x="173837" y="93256"/>
                  </a:lnTo>
                  <a:lnTo>
                    <a:pt x="176098" y="91922"/>
                  </a:lnTo>
                  <a:lnTo>
                    <a:pt x="181241" y="85712"/>
                  </a:lnTo>
                  <a:lnTo>
                    <a:pt x="180822" y="96329"/>
                  </a:lnTo>
                  <a:lnTo>
                    <a:pt x="183959" y="100380"/>
                  </a:lnTo>
                  <a:lnTo>
                    <a:pt x="195580" y="98564"/>
                  </a:lnTo>
                  <a:close/>
                </a:path>
                <a:path w="525780" h="100965">
                  <a:moveTo>
                    <a:pt x="271526" y="56921"/>
                  </a:moveTo>
                  <a:lnTo>
                    <a:pt x="269646" y="45770"/>
                  </a:lnTo>
                  <a:lnTo>
                    <a:pt x="264236" y="37071"/>
                  </a:lnTo>
                  <a:lnTo>
                    <a:pt x="255574" y="31407"/>
                  </a:lnTo>
                  <a:lnTo>
                    <a:pt x="243979" y="29375"/>
                  </a:lnTo>
                  <a:lnTo>
                    <a:pt x="236334" y="30022"/>
                  </a:lnTo>
                  <a:lnTo>
                    <a:pt x="229590" y="32232"/>
                  </a:lnTo>
                  <a:lnTo>
                    <a:pt x="223723" y="36093"/>
                  </a:lnTo>
                  <a:lnTo>
                    <a:pt x="218706" y="41681"/>
                  </a:lnTo>
                  <a:lnTo>
                    <a:pt x="218706" y="30899"/>
                  </a:lnTo>
                  <a:lnTo>
                    <a:pt x="213880" y="28676"/>
                  </a:lnTo>
                  <a:lnTo>
                    <a:pt x="203530" y="30226"/>
                  </a:lnTo>
                  <a:lnTo>
                    <a:pt x="203644" y="36080"/>
                  </a:lnTo>
                  <a:lnTo>
                    <a:pt x="211175" y="34963"/>
                  </a:lnTo>
                  <a:lnTo>
                    <a:pt x="212331" y="37185"/>
                  </a:lnTo>
                  <a:lnTo>
                    <a:pt x="212331" y="97878"/>
                  </a:lnTo>
                  <a:lnTo>
                    <a:pt x="219138" y="97878"/>
                  </a:lnTo>
                  <a:lnTo>
                    <a:pt x="219138" y="58039"/>
                  </a:lnTo>
                  <a:lnTo>
                    <a:pt x="220878" y="48653"/>
                  </a:lnTo>
                  <a:lnTo>
                    <a:pt x="225717" y="41617"/>
                  </a:lnTo>
                  <a:lnTo>
                    <a:pt x="233095" y="37211"/>
                  </a:lnTo>
                  <a:lnTo>
                    <a:pt x="242430" y="35674"/>
                  </a:lnTo>
                  <a:lnTo>
                    <a:pt x="251472" y="37109"/>
                  </a:lnTo>
                  <a:lnTo>
                    <a:pt x="258508" y="41275"/>
                  </a:lnTo>
                  <a:lnTo>
                    <a:pt x="263080" y="47942"/>
                  </a:lnTo>
                  <a:lnTo>
                    <a:pt x="264706" y="56921"/>
                  </a:lnTo>
                  <a:lnTo>
                    <a:pt x="264706" y="97878"/>
                  </a:lnTo>
                  <a:lnTo>
                    <a:pt x="271526" y="97878"/>
                  </a:lnTo>
                  <a:lnTo>
                    <a:pt x="271526" y="56921"/>
                  </a:lnTo>
                  <a:close/>
                </a:path>
                <a:path w="525780" h="100965">
                  <a:moveTo>
                    <a:pt x="347840" y="79692"/>
                  </a:moveTo>
                  <a:lnTo>
                    <a:pt x="345617" y="70256"/>
                  </a:lnTo>
                  <a:lnTo>
                    <a:pt x="339255" y="64871"/>
                  </a:lnTo>
                  <a:lnTo>
                    <a:pt x="330098" y="62115"/>
                  </a:lnTo>
                  <a:lnTo>
                    <a:pt x="312661" y="59601"/>
                  </a:lnTo>
                  <a:lnTo>
                    <a:pt x="305181" y="57861"/>
                  </a:lnTo>
                  <a:lnTo>
                    <a:pt x="299186" y="54381"/>
                  </a:lnTo>
                  <a:lnTo>
                    <a:pt x="296735" y="48234"/>
                  </a:lnTo>
                  <a:lnTo>
                    <a:pt x="298348" y="42151"/>
                  </a:lnTo>
                  <a:lnTo>
                    <a:pt x="303364" y="38036"/>
                  </a:lnTo>
                  <a:lnTo>
                    <a:pt x="310464" y="35699"/>
                  </a:lnTo>
                  <a:lnTo>
                    <a:pt x="318300" y="34950"/>
                  </a:lnTo>
                  <a:lnTo>
                    <a:pt x="328968" y="34950"/>
                  </a:lnTo>
                  <a:lnTo>
                    <a:pt x="339610" y="38735"/>
                  </a:lnTo>
                  <a:lnTo>
                    <a:pt x="339610" y="47104"/>
                  </a:lnTo>
                  <a:lnTo>
                    <a:pt x="345859" y="47104"/>
                  </a:lnTo>
                  <a:lnTo>
                    <a:pt x="343522" y="39281"/>
                  </a:lnTo>
                  <a:lnTo>
                    <a:pt x="337350" y="33743"/>
                  </a:lnTo>
                  <a:lnTo>
                    <a:pt x="328498" y="30454"/>
                  </a:lnTo>
                  <a:lnTo>
                    <a:pt x="318211" y="29362"/>
                  </a:lnTo>
                  <a:lnTo>
                    <a:pt x="307936" y="30378"/>
                  </a:lnTo>
                  <a:lnTo>
                    <a:pt x="299085" y="33629"/>
                  </a:lnTo>
                  <a:lnTo>
                    <a:pt x="292862" y="39522"/>
                  </a:lnTo>
                  <a:lnTo>
                    <a:pt x="290525" y="48374"/>
                  </a:lnTo>
                  <a:lnTo>
                    <a:pt x="293014" y="56781"/>
                  </a:lnTo>
                  <a:lnTo>
                    <a:pt x="299516" y="61887"/>
                  </a:lnTo>
                  <a:lnTo>
                    <a:pt x="308584" y="64668"/>
                  </a:lnTo>
                  <a:lnTo>
                    <a:pt x="318757" y="66141"/>
                  </a:lnTo>
                  <a:lnTo>
                    <a:pt x="326110" y="66979"/>
                  </a:lnTo>
                  <a:lnTo>
                    <a:pt x="333451" y="68668"/>
                  </a:lnTo>
                  <a:lnTo>
                    <a:pt x="339077" y="72491"/>
                  </a:lnTo>
                  <a:lnTo>
                    <a:pt x="341337" y="79705"/>
                  </a:lnTo>
                  <a:lnTo>
                    <a:pt x="339356" y="85928"/>
                  </a:lnTo>
                  <a:lnTo>
                    <a:pt x="334175" y="90182"/>
                  </a:lnTo>
                  <a:lnTo>
                    <a:pt x="326898" y="92633"/>
                  </a:lnTo>
                  <a:lnTo>
                    <a:pt x="318617" y="93408"/>
                  </a:lnTo>
                  <a:lnTo>
                    <a:pt x="310438" y="92557"/>
                  </a:lnTo>
                  <a:lnTo>
                    <a:pt x="303174" y="89954"/>
                  </a:lnTo>
                  <a:lnTo>
                    <a:pt x="297751" y="85496"/>
                  </a:lnTo>
                  <a:lnTo>
                    <a:pt x="295160" y="79133"/>
                  </a:lnTo>
                  <a:lnTo>
                    <a:pt x="288505" y="79133"/>
                  </a:lnTo>
                  <a:lnTo>
                    <a:pt x="291807" y="88265"/>
                  </a:lnTo>
                  <a:lnTo>
                    <a:pt x="298627" y="94411"/>
                  </a:lnTo>
                  <a:lnTo>
                    <a:pt x="307873" y="97878"/>
                  </a:lnTo>
                  <a:lnTo>
                    <a:pt x="318452" y="98971"/>
                  </a:lnTo>
                  <a:lnTo>
                    <a:pt x="329565" y="97853"/>
                  </a:lnTo>
                  <a:lnTo>
                    <a:pt x="338937" y="94386"/>
                  </a:lnTo>
                  <a:lnTo>
                    <a:pt x="345414" y="88379"/>
                  </a:lnTo>
                  <a:lnTo>
                    <a:pt x="347840" y="79692"/>
                  </a:lnTo>
                  <a:close/>
                </a:path>
                <a:path w="525780" h="100965">
                  <a:moveTo>
                    <a:pt x="440334" y="0"/>
                  </a:moveTo>
                  <a:lnTo>
                    <a:pt x="433374" y="0"/>
                  </a:lnTo>
                  <a:lnTo>
                    <a:pt x="433374" y="64185"/>
                  </a:lnTo>
                  <a:lnTo>
                    <a:pt x="431190" y="76212"/>
                  </a:lnTo>
                  <a:lnTo>
                    <a:pt x="425056" y="85077"/>
                  </a:lnTo>
                  <a:lnTo>
                    <a:pt x="415594" y="90576"/>
                  </a:lnTo>
                  <a:lnTo>
                    <a:pt x="403440" y="92443"/>
                  </a:lnTo>
                  <a:lnTo>
                    <a:pt x="391172" y="90576"/>
                  </a:lnTo>
                  <a:lnTo>
                    <a:pt x="381622" y="85077"/>
                  </a:lnTo>
                  <a:lnTo>
                    <a:pt x="375424" y="76212"/>
                  </a:lnTo>
                  <a:lnTo>
                    <a:pt x="373214" y="64185"/>
                  </a:lnTo>
                  <a:lnTo>
                    <a:pt x="373214" y="0"/>
                  </a:lnTo>
                  <a:lnTo>
                    <a:pt x="366090" y="0"/>
                  </a:lnTo>
                  <a:lnTo>
                    <a:pt x="366090" y="64338"/>
                  </a:lnTo>
                  <a:lnTo>
                    <a:pt x="368858" y="78955"/>
                  </a:lnTo>
                  <a:lnTo>
                    <a:pt x="376580" y="89839"/>
                  </a:lnTo>
                  <a:lnTo>
                    <a:pt x="388391" y="96647"/>
                  </a:lnTo>
                  <a:lnTo>
                    <a:pt x="403440" y="98983"/>
                  </a:lnTo>
                  <a:lnTo>
                    <a:pt x="418363" y="96647"/>
                  </a:lnTo>
                  <a:lnTo>
                    <a:pt x="430034" y="89839"/>
                  </a:lnTo>
                  <a:lnTo>
                    <a:pt x="437629" y="78955"/>
                  </a:lnTo>
                  <a:lnTo>
                    <a:pt x="440334" y="64338"/>
                  </a:lnTo>
                  <a:lnTo>
                    <a:pt x="440334" y="0"/>
                  </a:lnTo>
                  <a:close/>
                </a:path>
                <a:path w="525780" h="100965">
                  <a:moveTo>
                    <a:pt x="525348" y="56921"/>
                  </a:moveTo>
                  <a:lnTo>
                    <a:pt x="523481" y="45770"/>
                  </a:lnTo>
                  <a:lnTo>
                    <a:pt x="518071" y="37071"/>
                  </a:lnTo>
                  <a:lnTo>
                    <a:pt x="509409" y="31407"/>
                  </a:lnTo>
                  <a:lnTo>
                    <a:pt x="497801" y="29375"/>
                  </a:lnTo>
                  <a:lnTo>
                    <a:pt x="490156" y="30022"/>
                  </a:lnTo>
                  <a:lnTo>
                    <a:pt x="483412" y="32232"/>
                  </a:lnTo>
                  <a:lnTo>
                    <a:pt x="477545" y="36093"/>
                  </a:lnTo>
                  <a:lnTo>
                    <a:pt x="472541" y="41681"/>
                  </a:lnTo>
                  <a:lnTo>
                    <a:pt x="472541" y="30899"/>
                  </a:lnTo>
                  <a:lnTo>
                    <a:pt x="467728" y="28676"/>
                  </a:lnTo>
                  <a:lnTo>
                    <a:pt x="457352" y="30226"/>
                  </a:lnTo>
                  <a:lnTo>
                    <a:pt x="457492" y="36080"/>
                  </a:lnTo>
                  <a:lnTo>
                    <a:pt x="465035" y="34963"/>
                  </a:lnTo>
                  <a:lnTo>
                    <a:pt x="466153" y="37185"/>
                  </a:lnTo>
                  <a:lnTo>
                    <a:pt x="466153" y="97878"/>
                  </a:lnTo>
                  <a:lnTo>
                    <a:pt x="472986" y="97878"/>
                  </a:lnTo>
                  <a:lnTo>
                    <a:pt x="472986" y="58039"/>
                  </a:lnTo>
                  <a:lnTo>
                    <a:pt x="474713" y="48653"/>
                  </a:lnTo>
                  <a:lnTo>
                    <a:pt x="479552" y="41617"/>
                  </a:lnTo>
                  <a:lnTo>
                    <a:pt x="486918" y="37211"/>
                  </a:lnTo>
                  <a:lnTo>
                    <a:pt x="496252" y="35674"/>
                  </a:lnTo>
                  <a:lnTo>
                    <a:pt x="505294" y="37109"/>
                  </a:lnTo>
                  <a:lnTo>
                    <a:pt x="512343" y="41275"/>
                  </a:lnTo>
                  <a:lnTo>
                    <a:pt x="516902" y="47942"/>
                  </a:lnTo>
                  <a:lnTo>
                    <a:pt x="518541" y="56921"/>
                  </a:lnTo>
                  <a:lnTo>
                    <a:pt x="518541" y="97878"/>
                  </a:lnTo>
                  <a:lnTo>
                    <a:pt x="525348" y="97878"/>
                  </a:lnTo>
                  <a:lnTo>
                    <a:pt x="525348" y="56921"/>
                  </a:lnTo>
                  <a:close/>
                </a:path>
              </a:pathLst>
            </a:custGeom>
            <a:solidFill>
              <a:srgbClr val="00A9C9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pic>
          <p:nvPicPr>
            <p:cNvPr id="7" name="Image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7393" y="385597"/>
              <a:ext cx="178244" cy="96989"/>
            </a:xfrm>
            <a:prstGeom prst="rect">
              <a:avLst/>
            </a:prstGeom>
          </p:spPr>
        </p:pic>
        <p:sp>
          <p:nvSpPr>
            <p:cNvPr id="8" name="Graphic 6"/>
            <p:cNvSpPr/>
            <p:nvPr/>
          </p:nvSpPr>
          <p:spPr>
            <a:xfrm>
              <a:off x="-11" y="0"/>
              <a:ext cx="1207135" cy="335915"/>
            </a:xfrm>
            <a:custGeom>
              <a:avLst/>
              <a:gdLst/>
              <a:ahLst/>
              <a:cxnLst/>
              <a:rect l="l" t="t" r="r" b="b"/>
              <a:pathLst>
                <a:path w="1207135" h="335915">
                  <a:moveTo>
                    <a:pt x="322427" y="220294"/>
                  </a:moveTo>
                  <a:lnTo>
                    <a:pt x="268516" y="220294"/>
                  </a:lnTo>
                  <a:lnTo>
                    <a:pt x="253225" y="249008"/>
                  </a:lnTo>
                  <a:lnTo>
                    <a:pt x="230555" y="269557"/>
                  </a:lnTo>
                  <a:lnTo>
                    <a:pt x="202069" y="281914"/>
                  </a:lnTo>
                  <a:lnTo>
                    <a:pt x="169329" y="286042"/>
                  </a:lnTo>
                  <a:lnTo>
                    <a:pt x="122821" y="276885"/>
                  </a:lnTo>
                  <a:lnTo>
                    <a:pt x="86982" y="251828"/>
                  </a:lnTo>
                  <a:lnTo>
                    <a:pt x="63931" y="214541"/>
                  </a:lnTo>
                  <a:lnTo>
                    <a:pt x="55778" y="168656"/>
                  </a:lnTo>
                  <a:lnTo>
                    <a:pt x="63931" y="120548"/>
                  </a:lnTo>
                  <a:lnTo>
                    <a:pt x="86982" y="82969"/>
                  </a:lnTo>
                  <a:lnTo>
                    <a:pt x="122821" y="58521"/>
                  </a:lnTo>
                  <a:lnTo>
                    <a:pt x="169329" y="49784"/>
                  </a:lnTo>
                  <a:lnTo>
                    <a:pt x="200774" y="53644"/>
                  </a:lnTo>
                  <a:lnTo>
                    <a:pt x="228409" y="64719"/>
                  </a:lnTo>
                  <a:lnTo>
                    <a:pt x="250952" y="83362"/>
                  </a:lnTo>
                  <a:lnTo>
                    <a:pt x="267106" y="109918"/>
                  </a:lnTo>
                  <a:lnTo>
                    <a:pt x="320497" y="109918"/>
                  </a:lnTo>
                  <a:lnTo>
                    <a:pt x="298704" y="61429"/>
                  </a:lnTo>
                  <a:lnTo>
                    <a:pt x="263042" y="27127"/>
                  </a:lnTo>
                  <a:lnTo>
                    <a:pt x="218440" y="6743"/>
                  </a:lnTo>
                  <a:lnTo>
                    <a:pt x="169799" y="0"/>
                  </a:lnTo>
                  <a:lnTo>
                    <a:pt x="125603" y="5130"/>
                  </a:lnTo>
                  <a:lnTo>
                    <a:pt x="85305" y="20129"/>
                  </a:lnTo>
                  <a:lnTo>
                    <a:pt x="50749" y="44513"/>
                  </a:lnTo>
                  <a:lnTo>
                    <a:pt x="23787" y="77749"/>
                  </a:lnTo>
                  <a:lnTo>
                    <a:pt x="6261" y="119303"/>
                  </a:lnTo>
                  <a:lnTo>
                    <a:pt x="0" y="168656"/>
                  </a:lnTo>
                  <a:lnTo>
                    <a:pt x="6261" y="217741"/>
                  </a:lnTo>
                  <a:lnTo>
                    <a:pt x="23774" y="258978"/>
                  </a:lnTo>
                  <a:lnTo>
                    <a:pt x="50685" y="291896"/>
                  </a:lnTo>
                  <a:lnTo>
                    <a:pt x="85166" y="316001"/>
                  </a:lnTo>
                  <a:lnTo>
                    <a:pt x="125323" y="330822"/>
                  </a:lnTo>
                  <a:lnTo>
                    <a:pt x="169329" y="335864"/>
                  </a:lnTo>
                  <a:lnTo>
                    <a:pt x="219481" y="329107"/>
                  </a:lnTo>
                  <a:lnTo>
                    <a:pt x="265010" y="308216"/>
                  </a:lnTo>
                  <a:lnTo>
                    <a:pt x="300990" y="272262"/>
                  </a:lnTo>
                  <a:lnTo>
                    <a:pt x="322427" y="220294"/>
                  </a:lnTo>
                  <a:close/>
                </a:path>
                <a:path w="1207135" h="335915">
                  <a:moveTo>
                    <a:pt x="496912" y="288442"/>
                  </a:moveTo>
                  <a:lnTo>
                    <a:pt x="443979" y="288442"/>
                  </a:lnTo>
                  <a:lnTo>
                    <a:pt x="443979" y="47142"/>
                  </a:lnTo>
                  <a:lnTo>
                    <a:pt x="492633" y="47142"/>
                  </a:lnTo>
                  <a:lnTo>
                    <a:pt x="492633" y="3962"/>
                  </a:lnTo>
                  <a:lnTo>
                    <a:pt x="340004" y="3962"/>
                  </a:lnTo>
                  <a:lnTo>
                    <a:pt x="340004" y="47142"/>
                  </a:lnTo>
                  <a:lnTo>
                    <a:pt x="388670" y="47142"/>
                  </a:lnTo>
                  <a:lnTo>
                    <a:pt x="388670" y="288442"/>
                  </a:lnTo>
                  <a:lnTo>
                    <a:pt x="335724" y="288442"/>
                  </a:lnTo>
                  <a:lnTo>
                    <a:pt x="335724" y="332892"/>
                  </a:lnTo>
                  <a:lnTo>
                    <a:pt x="496912" y="332892"/>
                  </a:lnTo>
                  <a:lnTo>
                    <a:pt x="496912" y="288442"/>
                  </a:lnTo>
                  <a:close/>
                </a:path>
                <a:path w="1207135" h="335915">
                  <a:moveTo>
                    <a:pt x="787806" y="235826"/>
                  </a:moveTo>
                  <a:lnTo>
                    <a:pt x="773925" y="188277"/>
                  </a:lnTo>
                  <a:lnTo>
                    <a:pt x="733907" y="159727"/>
                  </a:lnTo>
                  <a:lnTo>
                    <a:pt x="751078" y="148374"/>
                  </a:lnTo>
                  <a:lnTo>
                    <a:pt x="756475" y="141871"/>
                  </a:lnTo>
                  <a:lnTo>
                    <a:pt x="763282" y="133667"/>
                  </a:lnTo>
                  <a:lnTo>
                    <a:pt x="770572" y="116141"/>
                  </a:lnTo>
                  <a:lnTo>
                    <a:pt x="772985" y="96329"/>
                  </a:lnTo>
                  <a:lnTo>
                    <a:pt x="765111" y="55714"/>
                  </a:lnTo>
                  <a:lnTo>
                    <a:pt x="761707" y="51206"/>
                  </a:lnTo>
                  <a:lnTo>
                    <a:pt x="743254" y="26797"/>
                  </a:lnTo>
                  <a:lnTo>
                    <a:pt x="732967" y="21450"/>
                  </a:lnTo>
                  <a:lnTo>
                    <a:pt x="732967" y="235826"/>
                  </a:lnTo>
                  <a:lnTo>
                    <a:pt x="728218" y="256743"/>
                  </a:lnTo>
                  <a:lnTo>
                    <a:pt x="716864" y="272059"/>
                  </a:lnTo>
                  <a:lnTo>
                    <a:pt x="699973" y="281470"/>
                  </a:lnTo>
                  <a:lnTo>
                    <a:pt x="678624" y="284670"/>
                  </a:lnTo>
                  <a:lnTo>
                    <a:pt x="587971" y="284670"/>
                  </a:lnTo>
                  <a:lnTo>
                    <a:pt x="587971" y="186474"/>
                  </a:lnTo>
                  <a:lnTo>
                    <a:pt x="672376" y="186474"/>
                  </a:lnTo>
                  <a:lnTo>
                    <a:pt x="715797" y="196862"/>
                  </a:lnTo>
                  <a:lnTo>
                    <a:pt x="732967" y="235826"/>
                  </a:lnTo>
                  <a:lnTo>
                    <a:pt x="732967" y="21450"/>
                  </a:lnTo>
                  <a:lnTo>
                    <a:pt x="718667" y="14020"/>
                  </a:lnTo>
                  <a:lnTo>
                    <a:pt x="718667" y="97701"/>
                  </a:lnTo>
                  <a:lnTo>
                    <a:pt x="714451" y="118097"/>
                  </a:lnTo>
                  <a:lnTo>
                    <a:pt x="703262" y="131775"/>
                  </a:lnTo>
                  <a:lnTo>
                    <a:pt x="686181" y="139471"/>
                  </a:lnTo>
                  <a:lnTo>
                    <a:pt x="664273" y="141871"/>
                  </a:lnTo>
                  <a:lnTo>
                    <a:pt x="587971" y="141871"/>
                  </a:lnTo>
                  <a:lnTo>
                    <a:pt x="587971" y="51206"/>
                  </a:lnTo>
                  <a:lnTo>
                    <a:pt x="664273" y="51206"/>
                  </a:lnTo>
                  <a:lnTo>
                    <a:pt x="686460" y="53924"/>
                  </a:lnTo>
                  <a:lnTo>
                    <a:pt x="703630" y="62306"/>
                  </a:lnTo>
                  <a:lnTo>
                    <a:pt x="714730" y="76771"/>
                  </a:lnTo>
                  <a:lnTo>
                    <a:pt x="718667" y="97701"/>
                  </a:lnTo>
                  <a:lnTo>
                    <a:pt x="718667" y="14020"/>
                  </a:lnTo>
                  <a:lnTo>
                    <a:pt x="710031" y="9525"/>
                  </a:lnTo>
                  <a:lnTo>
                    <a:pt x="668083" y="3771"/>
                  </a:lnTo>
                  <a:lnTo>
                    <a:pt x="532638" y="3771"/>
                  </a:lnTo>
                  <a:lnTo>
                    <a:pt x="532638" y="332600"/>
                  </a:lnTo>
                  <a:lnTo>
                    <a:pt x="681926" y="332600"/>
                  </a:lnTo>
                  <a:lnTo>
                    <a:pt x="725843" y="325742"/>
                  </a:lnTo>
                  <a:lnTo>
                    <a:pt x="759193" y="306247"/>
                  </a:lnTo>
                  <a:lnTo>
                    <a:pt x="774179" y="284670"/>
                  </a:lnTo>
                  <a:lnTo>
                    <a:pt x="780389" y="275729"/>
                  </a:lnTo>
                  <a:lnTo>
                    <a:pt x="787806" y="235826"/>
                  </a:lnTo>
                  <a:close/>
                </a:path>
                <a:path w="1207135" h="335915">
                  <a:moveTo>
                    <a:pt x="971372" y="288442"/>
                  </a:moveTo>
                  <a:lnTo>
                    <a:pt x="918438" y="288442"/>
                  </a:lnTo>
                  <a:lnTo>
                    <a:pt x="918438" y="47142"/>
                  </a:lnTo>
                  <a:lnTo>
                    <a:pt x="967092" y="47142"/>
                  </a:lnTo>
                  <a:lnTo>
                    <a:pt x="967092" y="3962"/>
                  </a:lnTo>
                  <a:lnTo>
                    <a:pt x="814489" y="3962"/>
                  </a:lnTo>
                  <a:lnTo>
                    <a:pt x="814489" y="47142"/>
                  </a:lnTo>
                  <a:lnTo>
                    <a:pt x="863117" y="47142"/>
                  </a:lnTo>
                  <a:lnTo>
                    <a:pt x="863117" y="288442"/>
                  </a:lnTo>
                  <a:lnTo>
                    <a:pt x="810183" y="288442"/>
                  </a:lnTo>
                  <a:lnTo>
                    <a:pt x="810183" y="332892"/>
                  </a:lnTo>
                  <a:lnTo>
                    <a:pt x="971372" y="332892"/>
                  </a:lnTo>
                  <a:lnTo>
                    <a:pt x="971372" y="288442"/>
                  </a:lnTo>
                  <a:close/>
                </a:path>
                <a:path w="1207135" h="335915">
                  <a:moveTo>
                    <a:pt x="1206512" y="283235"/>
                  </a:moveTo>
                  <a:lnTo>
                    <a:pt x="1062951" y="283235"/>
                  </a:lnTo>
                  <a:lnTo>
                    <a:pt x="1062951" y="3835"/>
                  </a:lnTo>
                  <a:lnTo>
                    <a:pt x="1007160" y="3835"/>
                  </a:lnTo>
                  <a:lnTo>
                    <a:pt x="1007160" y="283235"/>
                  </a:lnTo>
                  <a:lnTo>
                    <a:pt x="1007160" y="332765"/>
                  </a:lnTo>
                  <a:lnTo>
                    <a:pt x="1206512" y="332765"/>
                  </a:lnTo>
                  <a:lnTo>
                    <a:pt x="1206512" y="283235"/>
                  </a:lnTo>
                  <a:close/>
                </a:path>
              </a:pathLst>
            </a:custGeom>
            <a:solidFill>
              <a:srgbClr val="00A9C9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0" y="6290613"/>
            <a:ext cx="6026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www.cibil.com/faq/credit-score-and-loan-basics</a:t>
            </a:r>
            <a:r>
              <a:rPr lang="en-US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727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Major Factors Affecting CIBIL Score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Four major factors that impact your CIBIL </a:t>
            </a:r>
            <a:r>
              <a:rPr lang="en-US" dirty="0" smtClean="0"/>
              <a:t>Score</a:t>
            </a:r>
          </a:p>
          <a:p>
            <a:r>
              <a:rPr lang="en-US" b="1" dirty="0" smtClean="0"/>
              <a:t>Payment History</a:t>
            </a:r>
          </a:p>
          <a:p>
            <a:pPr lvl="1"/>
            <a:r>
              <a:rPr lang="en-US" dirty="0" smtClean="0"/>
              <a:t>Your payment history is one of the factors that lenders consider </a:t>
            </a:r>
            <a:r>
              <a:rPr lang="en-US" b="1" dirty="0" smtClean="0">
                <a:solidFill>
                  <a:srgbClr val="C00000"/>
                </a:solidFill>
              </a:rPr>
              <a:t>when determining your creditworthiness. </a:t>
            </a:r>
          </a:p>
          <a:p>
            <a:pPr lvl="1"/>
            <a:r>
              <a:rPr lang="en-US" dirty="0" smtClean="0"/>
              <a:t>It shows how consistently you have made your </a:t>
            </a:r>
            <a:r>
              <a:rPr lang="en-US" b="1" dirty="0" smtClean="0">
                <a:solidFill>
                  <a:srgbClr val="C00000"/>
                </a:solidFill>
              </a:rPr>
              <a:t>payments on time and in full</a:t>
            </a:r>
            <a:r>
              <a:rPr lang="en-US" dirty="0" smtClean="0"/>
              <a:t>. Late payments, </a:t>
            </a:r>
            <a:r>
              <a:rPr lang="en-US" b="1" dirty="0" smtClean="0">
                <a:solidFill>
                  <a:srgbClr val="C00000"/>
                </a:solidFill>
              </a:rPr>
              <a:t>missed payments and delinquencies </a:t>
            </a:r>
            <a:r>
              <a:rPr lang="en-US" dirty="0" smtClean="0"/>
              <a:t>can negatively impact your CIBIL Score.</a:t>
            </a:r>
          </a:p>
          <a:p>
            <a:r>
              <a:rPr lang="en-US" b="1" dirty="0" smtClean="0"/>
              <a:t>Credit </a:t>
            </a:r>
            <a:r>
              <a:rPr lang="en-US" b="1" dirty="0" err="1" smtClean="0"/>
              <a:t>Utilisation</a:t>
            </a:r>
            <a:endParaRPr lang="en-US" b="1" dirty="0" smtClean="0"/>
          </a:p>
          <a:p>
            <a:pPr lvl="1"/>
            <a:r>
              <a:rPr lang="en-US" dirty="0" smtClean="0"/>
              <a:t>Credit </a:t>
            </a:r>
            <a:r>
              <a:rPr lang="en-US" dirty="0" err="1"/>
              <a:t>utilisation</a:t>
            </a:r>
            <a:r>
              <a:rPr lang="en-US" dirty="0"/>
              <a:t> refers to </a:t>
            </a:r>
            <a:r>
              <a:rPr lang="en-US" b="1" dirty="0">
                <a:solidFill>
                  <a:srgbClr val="C00000"/>
                </a:solidFill>
              </a:rPr>
              <a:t>the amount of available credit you're using. </a:t>
            </a:r>
            <a:endParaRPr lang="en-US" b="1" dirty="0" smtClean="0">
              <a:solidFill>
                <a:srgbClr val="C00000"/>
              </a:solidFill>
            </a:endParaRPr>
          </a:p>
          <a:p>
            <a:pPr lvl="1"/>
            <a:r>
              <a:rPr lang="en-US" b="1" dirty="0" smtClean="0">
                <a:solidFill>
                  <a:srgbClr val="C00000"/>
                </a:solidFill>
              </a:rPr>
              <a:t>Higher </a:t>
            </a:r>
            <a:r>
              <a:rPr lang="en-US" b="1" dirty="0">
                <a:solidFill>
                  <a:srgbClr val="C00000"/>
                </a:solidFill>
              </a:rPr>
              <a:t>credit </a:t>
            </a:r>
            <a:r>
              <a:rPr lang="en-US" b="1" dirty="0" err="1">
                <a:solidFill>
                  <a:srgbClr val="C00000"/>
                </a:solidFill>
              </a:rPr>
              <a:t>utilisation</a:t>
            </a:r>
            <a:r>
              <a:rPr lang="en-US" dirty="0"/>
              <a:t> suggests you may be over-extended, making you appear to be at </a:t>
            </a:r>
            <a:r>
              <a:rPr lang="en-US" b="1" dirty="0">
                <a:solidFill>
                  <a:srgbClr val="C00000"/>
                </a:solidFill>
              </a:rPr>
              <a:t>credit risk to the lenders. </a:t>
            </a:r>
            <a:endParaRPr lang="en-US" b="1" dirty="0" smtClean="0">
              <a:solidFill>
                <a:srgbClr val="C00000"/>
              </a:solidFill>
            </a:endParaRPr>
          </a:p>
          <a:p>
            <a:pPr lvl="1"/>
            <a:r>
              <a:rPr lang="en-US" dirty="0" smtClean="0"/>
              <a:t>Aim </a:t>
            </a:r>
            <a:r>
              <a:rPr lang="en-US" dirty="0"/>
              <a:t>to keep your credit </a:t>
            </a:r>
            <a:r>
              <a:rPr lang="en-US" dirty="0" err="1"/>
              <a:t>utilisation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ratio well within your available credit limit.</a:t>
            </a:r>
            <a:endParaRPr lang="en-IN" b="1" dirty="0">
              <a:solidFill>
                <a:srgbClr val="C00000"/>
              </a:solidFill>
            </a:endParaRPr>
          </a:p>
        </p:txBody>
      </p:sp>
      <p:grpSp>
        <p:nvGrpSpPr>
          <p:cNvPr id="8" name="Group 7"/>
          <p:cNvGrpSpPr>
            <a:grpSpLocks/>
          </p:cNvGrpSpPr>
          <p:nvPr/>
        </p:nvGrpSpPr>
        <p:grpSpPr>
          <a:xfrm>
            <a:off x="3056708" y="1334587"/>
            <a:ext cx="509452" cy="494211"/>
            <a:chOff x="0" y="0"/>
            <a:chExt cx="304800" cy="304800"/>
          </a:xfrm>
        </p:grpSpPr>
        <p:sp>
          <p:nvSpPr>
            <p:cNvPr id="9" name="Graphic 15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4"/>
                  </a:lnTo>
                  <a:lnTo>
                    <a:pt x="7769" y="104225"/>
                  </a:lnTo>
                  <a:lnTo>
                    <a:pt x="0" y="152387"/>
                  </a:lnTo>
                  <a:lnTo>
                    <a:pt x="7769" y="200555"/>
                  </a:lnTo>
                  <a:lnTo>
                    <a:pt x="29405" y="242390"/>
                  </a:lnTo>
                  <a:lnTo>
                    <a:pt x="62396" y="275381"/>
                  </a:lnTo>
                  <a:lnTo>
                    <a:pt x="104231" y="297017"/>
                  </a:lnTo>
                  <a:lnTo>
                    <a:pt x="152399" y="304787"/>
                  </a:lnTo>
                  <a:lnTo>
                    <a:pt x="152399" y="292087"/>
                  </a:lnTo>
                  <a:lnTo>
                    <a:pt x="108244" y="284965"/>
                  </a:lnTo>
                  <a:lnTo>
                    <a:pt x="69895" y="265132"/>
                  </a:lnTo>
                  <a:lnTo>
                    <a:pt x="39654" y="234891"/>
                  </a:lnTo>
                  <a:lnTo>
                    <a:pt x="19822" y="196542"/>
                  </a:lnTo>
                  <a:lnTo>
                    <a:pt x="12699" y="152387"/>
                  </a:lnTo>
                  <a:lnTo>
                    <a:pt x="19822" y="108231"/>
                  </a:lnTo>
                  <a:lnTo>
                    <a:pt x="39654" y="69883"/>
                  </a:lnTo>
                  <a:lnTo>
                    <a:pt x="69895" y="39641"/>
                  </a:lnTo>
                  <a:lnTo>
                    <a:pt x="108244" y="19809"/>
                  </a:lnTo>
                  <a:lnTo>
                    <a:pt x="152399" y="12687"/>
                  </a:lnTo>
                  <a:lnTo>
                    <a:pt x="152399" y="0"/>
                  </a:lnTo>
                  <a:close/>
                </a:path>
                <a:path w="304800" h="304800">
                  <a:moveTo>
                    <a:pt x="152399" y="0"/>
                  </a:moveTo>
                  <a:lnTo>
                    <a:pt x="152399" y="12687"/>
                  </a:lnTo>
                  <a:lnTo>
                    <a:pt x="196555" y="19809"/>
                  </a:lnTo>
                  <a:lnTo>
                    <a:pt x="234904" y="39641"/>
                  </a:lnTo>
                  <a:lnTo>
                    <a:pt x="265145" y="69883"/>
                  </a:lnTo>
                  <a:lnTo>
                    <a:pt x="284977" y="108231"/>
                  </a:lnTo>
                  <a:lnTo>
                    <a:pt x="292099" y="152387"/>
                  </a:lnTo>
                  <a:lnTo>
                    <a:pt x="284977" y="196542"/>
                  </a:lnTo>
                  <a:lnTo>
                    <a:pt x="265145" y="234891"/>
                  </a:lnTo>
                  <a:lnTo>
                    <a:pt x="234904" y="265132"/>
                  </a:lnTo>
                  <a:lnTo>
                    <a:pt x="196555" y="284965"/>
                  </a:lnTo>
                  <a:lnTo>
                    <a:pt x="152399" y="292087"/>
                  </a:lnTo>
                  <a:lnTo>
                    <a:pt x="152399" y="304787"/>
                  </a:lnTo>
                  <a:lnTo>
                    <a:pt x="200568" y="297017"/>
                  </a:lnTo>
                  <a:lnTo>
                    <a:pt x="242403" y="275381"/>
                  </a:lnTo>
                  <a:lnTo>
                    <a:pt x="275394" y="242390"/>
                  </a:lnTo>
                  <a:lnTo>
                    <a:pt x="297030" y="200555"/>
                  </a:lnTo>
                  <a:lnTo>
                    <a:pt x="304799" y="152387"/>
                  </a:lnTo>
                  <a:lnTo>
                    <a:pt x="297030" y="104225"/>
                  </a:lnTo>
                  <a:lnTo>
                    <a:pt x="275394" y="62394"/>
                  </a:lnTo>
                  <a:lnTo>
                    <a:pt x="242403" y="29405"/>
                  </a:lnTo>
                  <a:lnTo>
                    <a:pt x="200568" y="7769"/>
                  </a:lnTo>
                  <a:lnTo>
                    <a:pt x="152399" y="0"/>
                  </a:lnTo>
                  <a:close/>
                </a:path>
              </a:pathLst>
            </a:custGeom>
            <a:solidFill>
              <a:srgbClr val="F9D629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pic>
          <p:nvPicPr>
            <p:cNvPr id="10" name="Image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450" y="57607"/>
              <a:ext cx="131876" cy="182384"/>
            </a:xfrm>
            <a:prstGeom prst="rect">
              <a:avLst/>
            </a:prstGeom>
          </p:spPr>
        </p:pic>
      </p:grpSp>
      <p:grpSp>
        <p:nvGrpSpPr>
          <p:cNvPr id="11" name="Group 10"/>
          <p:cNvGrpSpPr>
            <a:grpSpLocks/>
          </p:cNvGrpSpPr>
          <p:nvPr/>
        </p:nvGrpSpPr>
        <p:grpSpPr>
          <a:xfrm>
            <a:off x="3071969" y="3792425"/>
            <a:ext cx="494191" cy="483483"/>
            <a:chOff x="0" y="0"/>
            <a:chExt cx="304800" cy="305435"/>
          </a:xfrm>
        </p:grpSpPr>
        <p:sp>
          <p:nvSpPr>
            <p:cNvPr id="12" name="Graphic 18"/>
            <p:cNvSpPr/>
            <p:nvPr/>
          </p:nvSpPr>
          <p:spPr>
            <a:xfrm>
              <a:off x="0" y="0"/>
              <a:ext cx="304800" cy="305435"/>
            </a:xfrm>
            <a:custGeom>
              <a:avLst/>
              <a:gdLst/>
              <a:ahLst/>
              <a:cxnLst/>
              <a:rect l="l" t="t" r="r" b="b"/>
              <a:pathLst>
                <a:path w="304800" h="305435">
                  <a:moveTo>
                    <a:pt x="152399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7769" y="200569"/>
                  </a:lnTo>
                  <a:lnTo>
                    <a:pt x="29405" y="242407"/>
                  </a:lnTo>
                  <a:lnTo>
                    <a:pt x="62396" y="275402"/>
                  </a:lnTo>
                  <a:lnTo>
                    <a:pt x="104231" y="297041"/>
                  </a:lnTo>
                  <a:lnTo>
                    <a:pt x="152399" y="304812"/>
                  </a:lnTo>
                  <a:lnTo>
                    <a:pt x="152399" y="292100"/>
                  </a:lnTo>
                  <a:lnTo>
                    <a:pt x="108244" y="284977"/>
                  </a:lnTo>
                  <a:lnTo>
                    <a:pt x="69895" y="265145"/>
                  </a:lnTo>
                  <a:lnTo>
                    <a:pt x="39654" y="234904"/>
                  </a:lnTo>
                  <a:lnTo>
                    <a:pt x="19822" y="196555"/>
                  </a:lnTo>
                  <a:lnTo>
                    <a:pt x="12699" y="152400"/>
                  </a:lnTo>
                  <a:lnTo>
                    <a:pt x="19822" y="108244"/>
                  </a:lnTo>
                  <a:lnTo>
                    <a:pt x="39654" y="69895"/>
                  </a:lnTo>
                  <a:lnTo>
                    <a:pt x="69895" y="39654"/>
                  </a:lnTo>
                  <a:lnTo>
                    <a:pt x="108244" y="19822"/>
                  </a:lnTo>
                  <a:lnTo>
                    <a:pt x="152399" y="12700"/>
                  </a:lnTo>
                  <a:lnTo>
                    <a:pt x="152399" y="0"/>
                  </a:lnTo>
                  <a:close/>
                </a:path>
                <a:path w="304800" h="305435">
                  <a:moveTo>
                    <a:pt x="152399" y="0"/>
                  </a:moveTo>
                  <a:lnTo>
                    <a:pt x="152399" y="12700"/>
                  </a:lnTo>
                  <a:lnTo>
                    <a:pt x="196555" y="19822"/>
                  </a:lnTo>
                  <a:lnTo>
                    <a:pt x="234904" y="39654"/>
                  </a:lnTo>
                  <a:lnTo>
                    <a:pt x="265145" y="69895"/>
                  </a:lnTo>
                  <a:lnTo>
                    <a:pt x="284977" y="108244"/>
                  </a:lnTo>
                  <a:lnTo>
                    <a:pt x="292099" y="152400"/>
                  </a:lnTo>
                  <a:lnTo>
                    <a:pt x="284977" y="196555"/>
                  </a:lnTo>
                  <a:lnTo>
                    <a:pt x="265145" y="234904"/>
                  </a:lnTo>
                  <a:lnTo>
                    <a:pt x="234904" y="265145"/>
                  </a:lnTo>
                  <a:lnTo>
                    <a:pt x="196555" y="284977"/>
                  </a:lnTo>
                  <a:lnTo>
                    <a:pt x="152399" y="292100"/>
                  </a:lnTo>
                  <a:lnTo>
                    <a:pt x="152399" y="304812"/>
                  </a:lnTo>
                  <a:lnTo>
                    <a:pt x="200568" y="297041"/>
                  </a:lnTo>
                  <a:lnTo>
                    <a:pt x="242403" y="275402"/>
                  </a:lnTo>
                  <a:lnTo>
                    <a:pt x="275394" y="242407"/>
                  </a:lnTo>
                  <a:lnTo>
                    <a:pt x="297030" y="200569"/>
                  </a:lnTo>
                  <a:lnTo>
                    <a:pt x="304799" y="152400"/>
                  </a:lnTo>
                  <a:lnTo>
                    <a:pt x="297030" y="104231"/>
                  </a:lnTo>
                  <a:lnTo>
                    <a:pt x="275394" y="62396"/>
                  </a:lnTo>
                  <a:lnTo>
                    <a:pt x="242403" y="29405"/>
                  </a:lnTo>
                  <a:lnTo>
                    <a:pt x="200568" y="7769"/>
                  </a:lnTo>
                  <a:lnTo>
                    <a:pt x="152399" y="0"/>
                  </a:lnTo>
                  <a:close/>
                </a:path>
              </a:pathLst>
            </a:custGeom>
            <a:solidFill>
              <a:srgbClr val="F9D629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3" name="Graphic 19"/>
            <p:cNvSpPr/>
            <p:nvPr/>
          </p:nvSpPr>
          <p:spPr>
            <a:xfrm>
              <a:off x="129089" y="254012"/>
              <a:ext cx="33020" cy="1270"/>
            </a:xfrm>
            <a:custGeom>
              <a:avLst/>
              <a:gdLst/>
              <a:ahLst/>
              <a:cxnLst/>
              <a:rect l="l" t="t" r="r" b="b"/>
              <a:pathLst>
                <a:path w="33020" h="635">
                  <a:moveTo>
                    <a:pt x="32740" y="0"/>
                  </a:moveTo>
                  <a:lnTo>
                    <a:pt x="0" y="0"/>
                  </a:lnTo>
                  <a:lnTo>
                    <a:pt x="1435" y="152"/>
                  </a:lnTo>
                  <a:lnTo>
                    <a:pt x="2870" y="228"/>
                  </a:lnTo>
                  <a:lnTo>
                    <a:pt x="31635" y="228"/>
                  </a:lnTo>
                  <a:lnTo>
                    <a:pt x="32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4" name="Graphic 20"/>
            <p:cNvSpPr/>
            <p:nvPr/>
          </p:nvSpPr>
          <p:spPr>
            <a:xfrm>
              <a:off x="64287" y="62623"/>
              <a:ext cx="176530" cy="191770"/>
            </a:xfrm>
            <a:custGeom>
              <a:avLst/>
              <a:gdLst/>
              <a:ahLst/>
              <a:cxnLst/>
              <a:rect l="l" t="t" r="r" b="b"/>
              <a:pathLst>
                <a:path w="176530" h="191770">
                  <a:moveTo>
                    <a:pt x="115709" y="0"/>
                  </a:moveTo>
                  <a:lnTo>
                    <a:pt x="87109" y="0"/>
                  </a:lnTo>
                  <a:lnTo>
                    <a:pt x="87109" y="30480"/>
                  </a:lnTo>
                  <a:lnTo>
                    <a:pt x="63322" y="30492"/>
                  </a:lnTo>
                  <a:lnTo>
                    <a:pt x="87109" y="30480"/>
                  </a:lnTo>
                  <a:lnTo>
                    <a:pt x="87109" y="0"/>
                  </a:lnTo>
                  <a:lnTo>
                    <a:pt x="86410" y="0"/>
                  </a:lnTo>
                  <a:lnTo>
                    <a:pt x="86410" y="19545"/>
                  </a:lnTo>
                  <a:lnTo>
                    <a:pt x="85267" y="17081"/>
                  </a:lnTo>
                  <a:lnTo>
                    <a:pt x="83553" y="15189"/>
                  </a:lnTo>
                  <a:lnTo>
                    <a:pt x="81838" y="13220"/>
                  </a:lnTo>
                  <a:lnTo>
                    <a:pt x="79514" y="11785"/>
                  </a:lnTo>
                  <a:lnTo>
                    <a:pt x="76568" y="10871"/>
                  </a:lnTo>
                  <a:lnTo>
                    <a:pt x="79502" y="11772"/>
                  </a:lnTo>
                  <a:lnTo>
                    <a:pt x="81838" y="13208"/>
                  </a:lnTo>
                  <a:lnTo>
                    <a:pt x="85267" y="17081"/>
                  </a:lnTo>
                  <a:lnTo>
                    <a:pt x="86410" y="19545"/>
                  </a:lnTo>
                  <a:lnTo>
                    <a:pt x="86410" y="0"/>
                  </a:lnTo>
                  <a:lnTo>
                    <a:pt x="73710" y="0"/>
                  </a:lnTo>
                  <a:lnTo>
                    <a:pt x="73710" y="9969"/>
                  </a:lnTo>
                  <a:lnTo>
                    <a:pt x="70192" y="9512"/>
                  </a:lnTo>
                  <a:lnTo>
                    <a:pt x="73698" y="9956"/>
                  </a:lnTo>
                  <a:lnTo>
                    <a:pt x="73710" y="0"/>
                  </a:lnTo>
                  <a:lnTo>
                    <a:pt x="63322" y="0"/>
                  </a:lnTo>
                  <a:lnTo>
                    <a:pt x="61696" y="0"/>
                  </a:lnTo>
                  <a:lnTo>
                    <a:pt x="61696" y="11150"/>
                  </a:lnTo>
                  <a:lnTo>
                    <a:pt x="63322" y="11150"/>
                  </a:lnTo>
                  <a:lnTo>
                    <a:pt x="70091" y="11150"/>
                  </a:lnTo>
                  <a:lnTo>
                    <a:pt x="73418" y="11582"/>
                  </a:lnTo>
                  <a:lnTo>
                    <a:pt x="76085" y="12433"/>
                  </a:lnTo>
                  <a:lnTo>
                    <a:pt x="78790" y="13258"/>
                  </a:lnTo>
                  <a:lnTo>
                    <a:pt x="80835" y="14554"/>
                  </a:lnTo>
                  <a:lnTo>
                    <a:pt x="82346" y="16294"/>
                  </a:lnTo>
                  <a:lnTo>
                    <a:pt x="83464" y="17526"/>
                  </a:lnTo>
                  <a:lnTo>
                    <a:pt x="84328" y="19062"/>
                  </a:lnTo>
                  <a:lnTo>
                    <a:pt x="84912" y="20967"/>
                  </a:lnTo>
                  <a:lnTo>
                    <a:pt x="63322" y="20967"/>
                  </a:lnTo>
                  <a:lnTo>
                    <a:pt x="61696" y="20967"/>
                  </a:lnTo>
                  <a:lnTo>
                    <a:pt x="61696" y="32118"/>
                  </a:lnTo>
                  <a:lnTo>
                    <a:pt x="63322" y="32118"/>
                  </a:lnTo>
                  <a:lnTo>
                    <a:pt x="85217" y="32118"/>
                  </a:lnTo>
                  <a:lnTo>
                    <a:pt x="76492" y="40767"/>
                  </a:lnTo>
                  <a:lnTo>
                    <a:pt x="73748" y="41541"/>
                  </a:lnTo>
                  <a:lnTo>
                    <a:pt x="70269" y="41948"/>
                  </a:lnTo>
                  <a:lnTo>
                    <a:pt x="66027" y="41948"/>
                  </a:lnTo>
                  <a:lnTo>
                    <a:pt x="63322" y="41948"/>
                  </a:lnTo>
                  <a:lnTo>
                    <a:pt x="61696" y="41948"/>
                  </a:lnTo>
                  <a:lnTo>
                    <a:pt x="61696" y="49441"/>
                  </a:lnTo>
                  <a:lnTo>
                    <a:pt x="85547" y="91351"/>
                  </a:lnTo>
                  <a:lnTo>
                    <a:pt x="86499" y="91351"/>
                  </a:lnTo>
                  <a:lnTo>
                    <a:pt x="101879" y="91351"/>
                  </a:lnTo>
                  <a:lnTo>
                    <a:pt x="100393" y="88887"/>
                  </a:lnTo>
                  <a:lnTo>
                    <a:pt x="98996" y="86575"/>
                  </a:lnTo>
                  <a:lnTo>
                    <a:pt x="98996" y="89725"/>
                  </a:lnTo>
                  <a:lnTo>
                    <a:pt x="86499" y="89725"/>
                  </a:lnTo>
                  <a:lnTo>
                    <a:pt x="98983" y="89712"/>
                  </a:lnTo>
                  <a:lnTo>
                    <a:pt x="98996" y="86575"/>
                  </a:lnTo>
                  <a:lnTo>
                    <a:pt x="78219" y="52070"/>
                  </a:lnTo>
                  <a:lnTo>
                    <a:pt x="83896" y="50977"/>
                  </a:lnTo>
                  <a:lnTo>
                    <a:pt x="88620" y="48920"/>
                  </a:lnTo>
                  <a:lnTo>
                    <a:pt x="92316" y="45808"/>
                  </a:lnTo>
                  <a:lnTo>
                    <a:pt x="96354" y="42405"/>
                  </a:lnTo>
                  <a:lnTo>
                    <a:pt x="98755" y="37807"/>
                  </a:lnTo>
                  <a:lnTo>
                    <a:pt x="99580" y="32118"/>
                  </a:lnTo>
                  <a:lnTo>
                    <a:pt x="115709" y="32118"/>
                  </a:lnTo>
                  <a:lnTo>
                    <a:pt x="115709" y="20967"/>
                  </a:lnTo>
                  <a:lnTo>
                    <a:pt x="114071" y="20967"/>
                  </a:lnTo>
                  <a:lnTo>
                    <a:pt x="114071" y="30480"/>
                  </a:lnTo>
                  <a:lnTo>
                    <a:pt x="98145" y="30492"/>
                  </a:lnTo>
                  <a:lnTo>
                    <a:pt x="97574" y="36499"/>
                  </a:lnTo>
                  <a:lnTo>
                    <a:pt x="95275" y="41173"/>
                  </a:lnTo>
                  <a:lnTo>
                    <a:pt x="91274" y="44564"/>
                  </a:lnTo>
                  <a:lnTo>
                    <a:pt x="87350" y="47853"/>
                  </a:lnTo>
                  <a:lnTo>
                    <a:pt x="82118" y="49949"/>
                  </a:lnTo>
                  <a:lnTo>
                    <a:pt x="75590" y="50850"/>
                  </a:lnTo>
                  <a:lnTo>
                    <a:pt x="84886" y="66306"/>
                  </a:lnTo>
                  <a:lnTo>
                    <a:pt x="75577" y="50838"/>
                  </a:lnTo>
                  <a:lnTo>
                    <a:pt x="82118" y="49936"/>
                  </a:lnTo>
                  <a:lnTo>
                    <a:pt x="87350" y="47840"/>
                  </a:lnTo>
                  <a:lnTo>
                    <a:pt x="95275" y="41173"/>
                  </a:lnTo>
                  <a:lnTo>
                    <a:pt x="97561" y="36487"/>
                  </a:lnTo>
                  <a:lnTo>
                    <a:pt x="98132" y="30480"/>
                  </a:lnTo>
                  <a:lnTo>
                    <a:pt x="114071" y="30480"/>
                  </a:lnTo>
                  <a:lnTo>
                    <a:pt x="114071" y="20967"/>
                  </a:lnTo>
                  <a:lnTo>
                    <a:pt x="99314" y="20967"/>
                  </a:lnTo>
                  <a:lnTo>
                    <a:pt x="98882" y="18491"/>
                  </a:lnTo>
                  <a:lnTo>
                    <a:pt x="98120" y="16243"/>
                  </a:lnTo>
                  <a:lnTo>
                    <a:pt x="97853" y="15786"/>
                  </a:lnTo>
                  <a:lnTo>
                    <a:pt x="97853" y="22263"/>
                  </a:lnTo>
                  <a:lnTo>
                    <a:pt x="97561" y="19710"/>
                  </a:lnTo>
                  <a:lnTo>
                    <a:pt x="97853" y="22263"/>
                  </a:lnTo>
                  <a:lnTo>
                    <a:pt x="97853" y="15786"/>
                  </a:lnTo>
                  <a:lnTo>
                    <a:pt x="96977" y="14262"/>
                  </a:lnTo>
                  <a:lnTo>
                    <a:pt x="94818" y="11150"/>
                  </a:lnTo>
                  <a:lnTo>
                    <a:pt x="115709" y="11150"/>
                  </a:lnTo>
                  <a:lnTo>
                    <a:pt x="115709" y="0"/>
                  </a:lnTo>
                  <a:close/>
                </a:path>
                <a:path w="176530" h="191770">
                  <a:moveTo>
                    <a:pt x="176339" y="143840"/>
                  </a:moveTo>
                  <a:lnTo>
                    <a:pt x="176174" y="137490"/>
                  </a:lnTo>
                  <a:lnTo>
                    <a:pt x="175437" y="134353"/>
                  </a:lnTo>
                  <a:lnTo>
                    <a:pt x="174853" y="133032"/>
                  </a:lnTo>
                  <a:lnTo>
                    <a:pt x="173075" y="129057"/>
                  </a:lnTo>
                  <a:lnTo>
                    <a:pt x="172897" y="128651"/>
                  </a:lnTo>
                  <a:lnTo>
                    <a:pt x="171081" y="126047"/>
                  </a:lnTo>
                  <a:lnTo>
                    <a:pt x="166535" y="121716"/>
                  </a:lnTo>
                  <a:lnTo>
                    <a:pt x="163868" y="120015"/>
                  </a:lnTo>
                  <a:lnTo>
                    <a:pt x="160655" y="118783"/>
                  </a:lnTo>
                  <a:lnTo>
                    <a:pt x="160655" y="139865"/>
                  </a:lnTo>
                  <a:lnTo>
                    <a:pt x="160655" y="142252"/>
                  </a:lnTo>
                  <a:lnTo>
                    <a:pt x="159156" y="146151"/>
                  </a:lnTo>
                  <a:lnTo>
                    <a:pt x="157607" y="147789"/>
                  </a:lnTo>
                  <a:lnTo>
                    <a:pt x="94678" y="175755"/>
                  </a:lnTo>
                  <a:lnTo>
                    <a:pt x="65874" y="175755"/>
                  </a:lnTo>
                  <a:lnTo>
                    <a:pt x="62738" y="175133"/>
                  </a:lnTo>
                  <a:lnTo>
                    <a:pt x="57467" y="172948"/>
                  </a:lnTo>
                  <a:lnTo>
                    <a:pt x="56883" y="172707"/>
                  </a:lnTo>
                  <a:lnTo>
                    <a:pt x="44919" y="148450"/>
                  </a:lnTo>
                  <a:lnTo>
                    <a:pt x="45554" y="145313"/>
                  </a:lnTo>
                  <a:lnTo>
                    <a:pt x="65874" y="127495"/>
                  </a:lnTo>
                  <a:lnTo>
                    <a:pt x="104673" y="127495"/>
                  </a:lnTo>
                  <a:lnTo>
                    <a:pt x="73139" y="143840"/>
                  </a:lnTo>
                  <a:lnTo>
                    <a:pt x="73139" y="159588"/>
                  </a:lnTo>
                  <a:lnTo>
                    <a:pt x="88150" y="159588"/>
                  </a:lnTo>
                  <a:lnTo>
                    <a:pt x="94373" y="158089"/>
                  </a:lnTo>
                  <a:lnTo>
                    <a:pt x="99987" y="155206"/>
                  </a:lnTo>
                  <a:lnTo>
                    <a:pt x="148996" y="133731"/>
                  </a:lnTo>
                  <a:lnTo>
                    <a:pt x="152311" y="133032"/>
                  </a:lnTo>
                  <a:lnTo>
                    <a:pt x="155244" y="133578"/>
                  </a:lnTo>
                  <a:lnTo>
                    <a:pt x="157264" y="134353"/>
                  </a:lnTo>
                  <a:lnTo>
                    <a:pt x="158902" y="135902"/>
                  </a:lnTo>
                  <a:lnTo>
                    <a:pt x="160655" y="139865"/>
                  </a:lnTo>
                  <a:lnTo>
                    <a:pt x="160655" y="118783"/>
                  </a:lnTo>
                  <a:lnTo>
                    <a:pt x="158191" y="117817"/>
                  </a:lnTo>
                  <a:lnTo>
                    <a:pt x="155257" y="117271"/>
                  </a:lnTo>
                  <a:lnTo>
                    <a:pt x="151752" y="117271"/>
                  </a:lnTo>
                  <a:lnTo>
                    <a:pt x="148615" y="117348"/>
                  </a:lnTo>
                  <a:lnTo>
                    <a:pt x="145529" y="118033"/>
                  </a:lnTo>
                  <a:lnTo>
                    <a:pt x="120611" y="129057"/>
                  </a:lnTo>
                  <a:lnTo>
                    <a:pt x="120992" y="127495"/>
                  </a:lnTo>
                  <a:lnTo>
                    <a:pt x="121361" y="125971"/>
                  </a:lnTo>
                  <a:lnTo>
                    <a:pt x="121716" y="123012"/>
                  </a:lnTo>
                  <a:lnTo>
                    <a:pt x="121627" y="117271"/>
                  </a:lnTo>
                  <a:lnTo>
                    <a:pt x="120904" y="115519"/>
                  </a:lnTo>
                  <a:lnTo>
                    <a:pt x="117944" y="112560"/>
                  </a:lnTo>
                  <a:lnTo>
                    <a:pt x="115938" y="111734"/>
                  </a:lnTo>
                  <a:lnTo>
                    <a:pt x="69062" y="111734"/>
                  </a:lnTo>
                  <a:lnTo>
                    <a:pt x="61404" y="112483"/>
                  </a:lnTo>
                  <a:lnTo>
                    <a:pt x="54102" y="114668"/>
                  </a:lnTo>
                  <a:lnTo>
                    <a:pt x="47345" y="118211"/>
                  </a:lnTo>
                  <a:lnTo>
                    <a:pt x="41338" y="123012"/>
                  </a:lnTo>
                  <a:lnTo>
                    <a:pt x="39712" y="120573"/>
                  </a:lnTo>
                  <a:lnTo>
                    <a:pt x="37515" y="118567"/>
                  </a:lnTo>
                  <a:lnTo>
                    <a:pt x="32346" y="115824"/>
                  </a:lnTo>
                  <a:lnTo>
                    <a:pt x="29476" y="115100"/>
                  </a:lnTo>
                  <a:lnTo>
                    <a:pt x="13550" y="115112"/>
                  </a:lnTo>
                  <a:lnTo>
                    <a:pt x="9423" y="116662"/>
                  </a:lnTo>
                  <a:lnTo>
                    <a:pt x="2946" y="122288"/>
                  </a:lnTo>
                  <a:lnTo>
                    <a:pt x="825" y="126161"/>
                  </a:lnTo>
                  <a:lnTo>
                    <a:pt x="190" y="130403"/>
                  </a:lnTo>
                  <a:lnTo>
                    <a:pt x="26644" y="130365"/>
                  </a:lnTo>
                  <a:lnTo>
                    <a:pt x="28359" y="131076"/>
                  </a:lnTo>
                  <a:lnTo>
                    <a:pt x="29133" y="132905"/>
                  </a:lnTo>
                  <a:lnTo>
                    <a:pt x="29133" y="170345"/>
                  </a:lnTo>
                  <a:lnTo>
                    <a:pt x="28359" y="172173"/>
                  </a:lnTo>
                  <a:lnTo>
                    <a:pt x="26530" y="172948"/>
                  </a:lnTo>
                  <a:lnTo>
                    <a:pt x="17843" y="172948"/>
                  </a:lnTo>
                  <a:lnTo>
                    <a:pt x="16014" y="172173"/>
                  </a:lnTo>
                  <a:lnTo>
                    <a:pt x="15240" y="170345"/>
                  </a:lnTo>
                  <a:lnTo>
                    <a:pt x="15240" y="145643"/>
                  </a:lnTo>
                  <a:lnTo>
                    <a:pt x="0" y="145643"/>
                  </a:lnTo>
                  <a:lnTo>
                    <a:pt x="12" y="175133"/>
                  </a:lnTo>
                  <a:lnTo>
                    <a:pt x="1892" y="179654"/>
                  </a:lnTo>
                  <a:lnTo>
                    <a:pt x="8610" y="186372"/>
                  </a:lnTo>
                  <a:lnTo>
                    <a:pt x="13157" y="188264"/>
                  </a:lnTo>
                  <a:lnTo>
                    <a:pt x="29527" y="188264"/>
                  </a:lnTo>
                  <a:lnTo>
                    <a:pt x="32397" y="187540"/>
                  </a:lnTo>
                  <a:lnTo>
                    <a:pt x="37566" y="184772"/>
                  </a:lnTo>
                  <a:lnTo>
                    <a:pt x="39763" y="182778"/>
                  </a:lnTo>
                  <a:lnTo>
                    <a:pt x="41389" y="180352"/>
                  </a:lnTo>
                  <a:lnTo>
                    <a:pt x="46507" y="184569"/>
                  </a:lnTo>
                  <a:lnTo>
                    <a:pt x="52197" y="187845"/>
                  </a:lnTo>
                  <a:lnTo>
                    <a:pt x="58343" y="190131"/>
                  </a:lnTo>
                  <a:lnTo>
                    <a:pt x="64808" y="191376"/>
                  </a:lnTo>
                  <a:lnTo>
                    <a:pt x="97536" y="191376"/>
                  </a:lnTo>
                  <a:lnTo>
                    <a:pt x="99618" y="190931"/>
                  </a:lnTo>
                  <a:lnTo>
                    <a:pt x="123418" y="180352"/>
                  </a:lnTo>
                  <a:lnTo>
                    <a:pt x="133756" y="175755"/>
                  </a:lnTo>
                  <a:lnTo>
                    <a:pt x="164934" y="161899"/>
                  </a:lnTo>
                  <a:lnTo>
                    <a:pt x="167538" y="160070"/>
                  </a:lnTo>
                  <a:lnTo>
                    <a:pt x="171869" y="155498"/>
                  </a:lnTo>
                  <a:lnTo>
                    <a:pt x="173570" y="152806"/>
                  </a:lnTo>
                  <a:lnTo>
                    <a:pt x="175818" y="146926"/>
                  </a:lnTo>
                  <a:lnTo>
                    <a:pt x="176339" y="143840"/>
                  </a:lnTo>
                  <a:close/>
                </a:path>
              </a:pathLst>
            </a:custGeom>
            <a:solidFill>
              <a:srgbClr val="00A8C8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0" y="6290613"/>
            <a:ext cx="6026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www.cibil.com/faq/credit-score-and-loan-basics</a:t>
            </a:r>
            <a:r>
              <a:rPr lang="en-US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0902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Major Factors Affecting CIBIL Score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Credit Mix</a:t>
            </a:r>
          </a:p>
          <a:p>
            <a:pPr lvl="1"/>
            <a:r>
              <a:rPr lang="en-US" dirty="0" smtClean="0"/>
              <a:t>Balanced </a:t>
            </a:r>
            <a:r>
              <a:rPr lang="en-US" b="1" dirty="0" smtClean="0">
                <a:solidFill>
                  <a:srgbClr val="C00000"/>
                </a:solidFill>
              </a:rPr>
              <a:t>mix of credit is important</a:t>
            </a:r>
            <a:r>
              <a:rPr lang="en-US" dirty="0" smtClean="0"/>
              <a:t>. </a:t>
            </a:r>
            <a:r>
              <a:rPr lang="en-US" dirty="0"/>
              <a:t>(i.e. loan account, credit card etc.). </a:t>
            </a:r>
            <a:endParaRPr lang="en-US" dirty="0" smtClean="0"/>
          </a:p>
          <a:p>
            <a:pPr lvl="1"/>
            <a:r>
              <a:rPr lang="en-US" dirty="0" smtClean="0"/>
              <a:t>Having a </a:t>
            </a:r>
            <a:r>
              <a:rPr lang="en-US" b="1" dirty="0" smtClean="0">
                <a:solidFill>
                  <a:srgbClr val="C00000"/>
                </a:solidFill>
              </a:rPr>
              <a:t>balanced mix between secured loans</a:t>
            </a:r>
            <a:r>
              <a:rPr lang="en-US" dirty="0" smtClean="0"/>
              <a:t> (such as Auto, Home Loans) and </a:t>
            </a:r>
            <a:r>
              <a:rPr lang="en-US" b="1" dirty="0" smtClean="0">
                <a:solidFill>
                  <a:srgbClr val="C00000"/>
                </a:solidFill>
              </a:rPr>
              <a:t>unsecured loans </a:t>
            </a:r>
            <a:r>
              <a:rPr lang="en-US" dirty="0" smtClean="0"/>
              <a:t>(such as Personal Loan, Credit Card) is likely to have more positive effect on your score. </a:t>
            </a:r>
          </a:p>
          <a:p>
            <a:r>
              <a:rPr lang="en-US" b="1" dirty="0" smtClean="0"/>
              <a:t>Credit Enquiries</a:t>
            </a:r>
          </a:p>
          <a:p>
            <a:pPr lvl="1"/>
            <a:r>
              <a:rPr lang="en-US" dirty="0" smtClean="0"/>
              <a:t>When </a:t>
            </a:r>
            <a:r>
              <a:rPr lang="en-US" dirty="0"/>
              <a:t>you apply for new credit, </a:t>
            </a:r>
            <a:r>
              <a:rPr lang="en-US" b="1" dirty="0">
                <a:solidFill>
                  <a:srgbClr val="C00000"/>
                </a:solidFill>
              </a:rPr>
              <a:t>lenders will often check your credit report to assess &amp; onboard customers </a:t>
            </a:r>
            <a:r>
              <a:rPr lang="en-US" dirty="0"/>
              <a:t>with a proven track record of making timely payments. </a:t>
            </a:r>
            <a:endParaRPr lang="en-US" dirty="0" smtClean="0"/>
          </a:p>
          <a:p>
            <a:pPr lvl="1"/>
            <a:r>
              <a:rPr lang="en-US" dirty="0" smtClean="0"/>
              <a:t>This </a:t>
            </a:r>
            <a:r>
              <a:rPr lang="en-US" dirty="0"/>
              <a:t>can have a </a:t>
            </a:r>
            <a:r>
              <a:rPr lang="en-US" b="1" dirty="0">
                <a:solidFill>
                  <a:srgbClr val="C00000"/>
                </a:solidFill>
              </a:rPr>
              <a:t>marginal impact on your CIBIL Score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b="1" dirty="0" smtClean="0">
                <a:solidFill>
                  <a:srgbClr val="C00000"/>
                </a:solidFill>
              </a:rPr>
              <a:t>Applying </a:t>
            </a:r>
            <a:r>
              <a:rPr lang="en-US" b="1" dirty="0">
                <a:solidFill>
                  <a:srgbClr val="C00000"/>
                </a:solidFill>
              </a:rPr>
              <a:t>for credit, too frequently in a short period of time </a:t>
            </a:r>
            <a:r>
              <a:rPr lang="en-US" dirty="0"/>
              <a:t>can therefore negatively impact your CIBIL Score.</a:t>
            </a:r>
            <a:endParaRPr lang="en-IN" dirty="0"/>
          </a:p>
        </p:txBody>
      </p:sp>
      <p:grpSp>
        <p:nvGrpSpPr>
          <p:cNvPr id="15" name="Group 14"/>
          <p:cNvGrpSpPr>
            <a:grpSpLocks/>
          </p:cNvGrpSpPr>
          <p:nvPr/>
        </p:nvGrpSpPr>
        <p:grpSpPr>
          <a:xfrm>
            <a:off x="2063932" y="829905"/>
            <a:ext cx="535576" cy="538636"/>
            <a:chOff x="0" y="0"/>
            <a:chExt cx="304800" cy="304800"/>
          </a:xfrm>
        </p:grpSpPr>
        <p:sp>
          <p:nvSpPr>
            <p:cNvPr id="16" name="Graphic 22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7769" y="200568"/>
                  </a:lnTo>
                  <a:lnTo>
                    <a:pt x="29405" y="242403"/>
                  </a:lnTo>
                  <a:lnTo>
                    <a:pt x="62396" y="275394"/>
                  </a:lnTo>
                  <a:lnTo>
                    <a:pt x="104231" y="297030"/>
                  </a:lnTo>
                  <a:lnTo>
                    <a:pt x="152399" y="304800"/>
                  </a:lnTo>
                  <a:lnTo>
                    <a:pt x="152399" y="292100"/>
                  </a:lnTo>
                  <a:lnTo>
                    <a:pt x="108244" y="284977"/>
                  </a:lnTo>
                  <a:lnTo>
                    <a:pt x="69895" y="265145"/>
                  </a:lnTo>
                  <a:lnTo>
                    <a:pt x="39654" y="234904"/>
                  </a:lnTo>
                  <a:lnTo>
                    <a:pt x="19822" y="196555"/>
                  </a:lnTo>
                  <a:lnTo>
                    <a:pt x="12699" y="152400"/>
                  </a:lnTo>
                  <a:lnTo>
                    <a:pt x="19822" y="108244"/>
                  </a:lnTo>
                  <a:lnTo>
                    <a:pt x="39654" y="69895"/>
                  </a:lnTo>
                  <a:lnTo>
                    <a:pt x="69895" y="39654"/>
                  </a:lnTo>
                  <a:lnTo>
                    <a:pt x="108244" y="19822"/>
                  </a:lnTo>
                  <a:lnTo>
                    <a:pt x="152399" y="12700"/>
                  </a:lnTo>
                  <a:lnTo>
                    <a:pt x="152399" y="0"/>
                  </a:lnTo>
                  <a:close/>
                </a:path>
                <a:path w="304800" h="304800">
                  <a:moveTo>
                    <a:pt x="152399" y="0"/>
                  </a:moveTo>
                  <a:lnTo>
                    <a:pt x="152399" y="12700"/>
                  </a:lnTo>
                  <a:lnTo>
                    <a:pt x="196555" y="19822"/>
                  </a:lnTo>
                  <a:lnTo>
                    <a:pt x="234904" y="39654"/>
                  </a:lnTo>
                  <a:lnTo>
                    <a:pt x="265145" y="69895"/>
                  </a:lnTo>
                  <a:lnTo>
                    <a:pt x="284977" y="108244"/>
                  </a:lnTo>
                  <a:lnTo>
                    <a:pt x="292099" y="152400"/>
                  </a:lnTo>
                  <a:lnTo>
                    <a:pt x="284977" y="196555"/>
                  </a:lnTo>
                  <a:lnTo>
                    <a:pt x="265145" y="234904"/>
                  </a:lnTo>
                  <a:lnTo>
                    <a:pt x="234904" y="265145"/>
                  </a:lnTo>
                  <a:lnTo>
                    <a:pt x="196555" y="284977"/>
                  </a:lnTo>
                  <a:lnTo>
                    <a:pt x="152399" y="292100"/>
                  </a:lnTo>
                  <a:lnTo>
                    <a:pt x="152399" y="304800"/>
                  </a:lnTo>
                  <a:lnTo>
                    <a:pt x="200568" y="297030"/>
                  </a:lnTo>
                  <a:lnTo>
                    <a:pt x="242403" y="275394"/>
                  </a:lnTo>
                  <a:lnTo>
                    <a:pt x="275394" y="242403"/>
                  </a:lnTo>
                  <a:lnTo>
                    <a:pt x="297030" y="200568"/>
                  </a:lnTo>
                  <a:lnTo>
                    <a:pt x="304799" y="152400"/>
                  </a:lnTo>
                  <a:lnTo>
                    <a:pt x="297030" y="104231"/>
                  </a:lnTo>
                  <a:lnTo>
                    <a:pt x="275394" y="62396"/>
                  </a:lnTo>
                  <a:lnTo>
                    <a:pt x="242403" y="29405"/>
                  </a:lnTo>
                  <a:lnTo>
                    <a:pt x="200568" y="7769"/>
                  </a:lnTo>
                  <a:lnTo>
                    <a:pt x="152399" y="0"/>
                  </a:lnTo>
                  <a:close/>
                </a:path>
              </a:pathLst>
            </a:custGeom>
            <a:solidFill>
              <a:srgbClr val="F9D629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pic>
          <p:nvPicPr>
            <p:cNvPr id="17" name="Image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47" y="76466"/>
              <a:ext cx="188099" cy="155155"/>
            </a:xfrm>
            <a:prstGeom prst="rect">
              <a:avLst/>
            </a:prstGeom>
          </p:spPr>
        </p:pic>
      </p:grpSp>
      <p:grpSp>
        <p:nvGrpSpPr>
          <p:cNvPr id="18" name="Group 17"/>
          <p:cNvGrpSpPr>
            <a:grpSpLocks/>
          </p:cNvGrpSpPr>
          <p:nvPr/>
        </p:nvGrpSpPr>
        <p:grpSpPr>
          <a:xfrm>
            <a:off x="2823543" y="2797628"/>
            <a:ext cx="531223" cy="555172"/>
            <a:chOff x="0" y="0"/>
            <a:chExt cx="304800" cy="304800"/>
          </a:xfrm>
        </p:grpSpPr>
        <p:sp>
          <p:nvSpPr>
            <p:cNvPr id="19" name="Graphic 25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7" y="0"/>
                  </a:moveTo>
                  <a:lnTo>
                    <a:pt x="104229" y="7768"/>
                  </a:lnTo>
                  <a:lnTo>
                    <a:pt x="62394" y="29401"/>
                  </a:lnTo>
                  <a:lnTo>
                    <a:pt x="29403" y="62388"/>
                  </a:lnTo>
                  <a:lnTo>
                    <a:pt x="7767" y="104220"/>
                  </a:lnTo>
                  <a:lnTo>
                    <a:pt x="0" y="152400"/>
                  </a:lnTo>
                  <a:lnTo>
                    <a:pt x="7767" y="200561"/>
                  </a:lnTo>
                  <a:lnTo>
                    <a:pt x="29403" y="242400"/>
                  </a:lnTo>
                  <a:lnTo>
                    <a:pt x="62394" y="275393"/>
                  </a:lnTo>
                  <a:lnTo>
                    <a:pt x="104229" y="297029"/>
                  </a:lnTo>
                  <a:lnTo>
                    <a:pt x="152397" y="304800"/>
                  </a:lnTo>
                  <a:lnTo>
                    <a:pt x="152397" y="292100"/>
                  </a:lnTo>
                  <a:lnTo>
                    <a:pt x="108242" y="284977"/>
                  </a:lnTo>
                  <a:lnTo>
                    <a:pt x="69893" y="265145"/>
                  </a:lnTo>
                  <a:lnTo>
                    <a:pt x="39652" y="234904"/>
                  </a:lnTo>
                  <a:lnTo>
                    <a:pt x="19820" y="196555"/>
                  </a:lnTo>
                  <a:lnTo>
                    <a:pt x="12700" y="152387"/>
                  </a:lnTo>
                  <a:lnTo>
                    <a:pt x="19820" y="108244"/>
                  </a:lnTo>
                  <a:lnTo>
                    <a:pt x="39652" y="69895"/>
                  </a:lnTo>
                  <a:lnTo>
                    <a:pt x="69893" y="39654"/>
                  </a:lnTo>
                  <a:lnTo>
                    <a:pt x="108242" y="19822"/>
                  </a:lnTo>
                  <a:lnTo>
                    <a:pt x="152397" y="12700"/>
                  </a:lnTo>
                  <a:lnTo>
                    <a:pt x="152397" y="0"/>
                  </a:lnTo>
                  <a:close/>
                </a:path>
                <a:path w="304800" h="304800">
                  <a:moveTo>
                    <a:pt x="304795" y="152400"/>
                  </a:moveTo>
                  <a:lnTo>
                    <a:pt x="292097" y="152400"/>
                  </a:lnTo>
                  <a:lnTo>
                    <a:pt x="284975" y="196555"/>
                  </a:lnTo>
                  <a:lnTo>
                    <a:pt x="265143" y="234904"/>
                  </a:lnTo>
                  <a:lnTo>
                    <a:pt x="234902" y="265145"/>
                  </a:lnTo>
                  <a:lnTo>
                    <a:pt x="196553" y="284977"/>
                  </a:lnTo>
                  <a:lnTo>
                    <a:pt x="152397" y="292100"/>
                  </a:lnTo>
                  <a:lnTo>
                    <a:pt x="152397" y="304800"/>
                  </a:lnTo>
                  <a:lnTo>
                    <a:pt x="200566" y="297029"/>
                  </a:lnTo>
                  <a:lnTo>
                    <a:pt x="242401" y="275393"/>
                  </a:lnTo>
                  <a:lnTo>
                    <a:pt x="275392" y="242400"/>
                  </a:lnTo>
                  <a:lnTo>
                    <a:pt x="297027" y="200561"/>
                  </a:lnTo>
                  <a:lnTo>
                    <a:pt x="304795" y="152400"/>
                  </a:lnTo>
                  <a:close/>
                </a:path>
                <a:path w="304800" h="304800">
                  <a:moveTo>
                    <a:pt x="152397" y="0"/>
                  </a:moveTo>
                  <a:lnTo>
                    <a:pt x="152397" y="12700"/>
                  </a:lnTo>
                  <a:lnTo>
                    <a:pt x="196553" y="19822"/>
                  </a:lnTo>
                  <a:lnTo>
                    <a:pt x="234902" y="39654"/>
                  </a:lnTo>
                  <a:lnTo>
                    <a:pt x="265143" y="69895"/>
                  </a:lnTo>
                  <a:lnTo>
                    <a:pt x="284975" y="108244"/>
                  </a:lnTo>
                  <a:lnTo>
                    <a:pt x="292097" y="152400"/>
                  </a:lnTo>
                  <a:lnTo>
                    <a:pt x="304797" y="152387"/>
                  </a:lnTo>
                  <a:lnTo>
                    <a:pt x="297027" y="104220"/>
                  </a:lnTo>
                  <a:lnTo>
                    <a:pt x="275392" y="62388"/>
                  </a:lnTo>
                  <a:lnTo>
                    <a:pt x="242401" y="29401"/>
                  </a:lnTo>
                  <a:lnTo>
                    <a:pt x="200566" y="7768"/>
                  </a:lnTo>
                  <a:lnTo>
                    <a:pt x="152397" y="0"/>
                  </a:lnTo>
                  <a:close/>
                </a:path>
              </a:pathLst>
            </a:custGeom>
            <a:solidFill>
              <a:srgbClr val="F9D629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pic>
          <p:nvPicPr>
            <p:cNvPr id="20" name="Image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32" y="69342"/>
              <a:ext cx="182647" cy="165252"/>
            </a:xfrm>
            <a:prstGeom prst="rect">
              <a:avLst/>
            </a:prstGeom>
          </p:spPr>
        </p:pic>
      </p:grpSp>
      <p:sp>
        <p:nvSpPr>
          <p:cNvPr id="10" name="TextBox 9"/>
          <p:cNvSpPr txBox="1"/>
          <p:nvPr/>
        </p:nvSpPr>
        <p:spPr>
          <a:xfrm>
            <a:off x="0" y="6290613"/>
            <a:ext cx="6026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www.cibil.com/faq/credit-score-and-loan-basics</a:t>
            </a:r>
            <a:r>
              <a:rPr lang="en-US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728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I improve my CIBIL Score?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improve your CIBIL Score by maintaining a </a:t>
            </a:r>
            <a:r>
              <a:rPr lang="en-US" dirty="0" smtClean="0"/>
              <a:t>good credit </a:t>
            </a:r>
            <a:r>
              <a:rPr lang="en-US" dirty="0"/>
              <a:t>history, which is essential for loan approvals </a:t>
            </a:r>
            <a:r>
              <a:rPr lang="en-US" dirty="0" smtClean="0"/>
              <a:t>by lenders</a:t>
            </a:r>
            <a:r>
              <a:rPr lang="en-US" dirty="0"/>
              <a:t>. Follow these 6 steps which will help you </a:t>
            </a:r>
            <a:r>
              <a:rPr lang="en-US" dirty="0" smtClean="0"/>
              <a:t>better your score.</a:t>
            </a:r>
          </a:p>
          <a:p>
            <a:endParaRPr lang="en-US" dirty="0"/>
          </a:p>
        </p:txBody>
      </p:sp>
      <p:graphicFrame>
        <p:nvGraphicFramePr>
          <p:cNvPr id="4" name="Diagram 3"/>
          <p:cNvGraphicFramePr/>
          <p:nvPr>
            <p:extLst/>
          </p:nvPr>
        </p:nvGraphicFramePr>
        <p:xfrm>
          <a:off x="131181" y="2264229"/>
          <a:ext cx="11929640" cy="4033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6290613"/>
            <a:ext cx="6026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7"/>
              </a:rPr>
              <a:t>https://</a:t>
            </a:r>
            <a:r>
              <a:rPr lang="en-US" dirty="0" smtClean="0">
                <a:hlinkClick r:id="rId7"/>
              </a:rPr>
              <a:t>www.cibil.com/faq/credit-score-and-loan-basics</a:t>
            </a:r>
            <a:r>
              <a:rPr lang="en-US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787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DF2BE7-27C1-4991-9E81-09CD8223F0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graphicEl>
                                              <a:dgm id="{22DF2BE7-27C1-4991-9E81-09CD8223F0E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A6FCC49-16C7-4960-86C5-394E51A49A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graphicEl>
                                              <a:dgm id="{BA6FCC49-16C7-4960-86C5-394E51A49A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A0C342D-57A0-4964-A4FE-1EB6E0121C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graphicEl>
                                              <a:dgm id="{6A0C342D-57A0-4964-A4FE-1EB6E0121C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2F5F57D-26F8-4894-9B88-7CC244503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F2F5F57D-26F8-4894-9B88-7CC244503B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73DAA4-09BB-40FC-8B92-E540CFCD24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3B73DAA4-09BB-40FC-8B92-E540CFCD24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C89D64F-4A9F-4636-84DB-8F066F07EE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graphicEl>
                                              <a:dgm id="{9C89D64F-4A9F-4636-84DB-8F066F07EE0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4" grpId="0" uiExpand="1">
        <p:bldSub>
          <a:bldDgm bld="one"/>
        </p:bldSub>
      </p:bldGraphic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I improve my CIBIL Score?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Diagram 3"/>
          <p:cNvGraphicFramePr/>
          <p:nvPr>
            <p:extLst/>
          </p:nvPr>
        </p:nvGraphicFramePr>
        <p:xfrm>
          <a:off x="0" y="711201"/>
          <a:ext cx="12192000" cy="5889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8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DF2BE7-27C1-4991-9E81-09CD8223F0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22DF2BE7-27C1-4991-9E81-09CD8223F0E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A6FCC49-16C7-4960-86C5-394E51A49A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dgm id="{BA6FCC49-16C7-4960-86C5-394E51A49A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A0C342D-57A0-4964-A4FE-1EB6E0121C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dgm id="{6A0C342D-57A0-4964-A4FE-1EB6E0121C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2F5F57D-26F8-4894-9B88-7CC244503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dgm id="{F2F5F57D-26F8-4894-9B88-7CC244503B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73DAA4-09BB-40FC-8B92-E540CFCD24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3B73DAA4-09BB-40FC-8B92-E540CFCD24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C89D64F-4A9F-4636-84DB-8F066F07EE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graphicEl>
                                              <a:dgm id="{9C89D64F-4A9F-4636-84DB-8F066F07EE0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6233</TotalTime>
  <Words>6904</Words>
  <Application>Microsoft Office PowerPoint</Application>
  <PresentationFormat>Widescreen</PresentationFormat>
  <Paragraphs>866</Paragraphs>
  <Slides>98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8" baseType="lpstr">
      <vt:lpstr>Wingdings</vt:lpstr>
      <vt:lpstr>Calibri</vt:lpstr>
      <vt:lpstr>Roboto Condensed</vt:lpstr>
      <vt:lpstr>Segoe UI Black</vt:lpstr>
      <vt:lpstr>Roboto Condensed Light</vt:lpstr>
      <vt:lpstr>Arial</vt:lpstr>
      <vt:lpstr>Times New Roman</vt:lpstr>
      <vt:lpstr>Wingdings 3</vt:lpstr>
      <vt:lpstr>Wingdings 2</vt:lpstr>
      <vt:lpstr>Office Theme</vt:lpstr>
      <vt:lpstr>PowerPoint Presentation</vt:lpstr>
      <vt:lpstr>What is Banking?</vt:lpstr>
      <vt:lpstr>What is Banking?</vt:lpstr>
      <vt:lpstr>Banks and Bank Branches</vt:lpstr>
      <vt:lpstr>Indian Banking Sector Growth</vt:lpstr>
      <vt:lpstr>PowerPoint Presentation</vt:lpstr>
      <vt:lpstr>PowerPoint Presentation</vt:lpstr>
      <vt:lpstr>Unit-1 Banking System</vt:lpstr>
      <vt:lpstr>PowerPoint Presentation</vt:lpstr>
      <vt:lpstr>PowerPoint Presentation</vt:lpstr>
      <vt:lpstr>Indian Banking System</vt:lpstr>
      <vt:lpstr>Introduction</vt:lpstr>
      <vt:lpstr>Main Functions of RBI</vt:lpstr>
      <vt:lpstr>Main Functions of RBI</vt:lpstr>
      <vt:lpstr>Banking System in India</vt:lpstr>
      <vt:lpstr>PowerPoint Presentation</vt:lpstr>
      <vt:lpstr>PowerPoint Presentation</vt:lpstr>
      <vt:lpstr>Commercial Banks</vt:lpstr>
      <vt:lpstr>Commercial Banks</vt:lpstr>
      <vt:lpstr>Commercial Banks</vt:lpstr>
      <vt:lpstr>Commercial Banks</vt:lpstr>
      <vt:lpstr>Commercial Banks</vt:lpstr>
      <vt:lpstr>Cooperative Banks</vt:lpstr>
      <vt:lpstr>Co-operative Banks</vt:lpstr>
      <vt:lpstr>Co-operative Banks (Cont.)</vt:lpstr>
      <vt:lpstr>Types of Co-operative Banks</vt:lpstr>
      <vt:lpstr>Development Bank</vt:lpstr>
      <vt:lpstr>Development Bank (Cont.)</vt:lpstr>
      <vt:lpstr>Non-Banking Financial Company</vt:lpstr>
      <vt:lpstr>Non-Banking Financial Company (Cont.)</vt:lpstr>
      <vt:lpstr>Functions of Banks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Bank Accounts</vt:lpstr>
      <vt:lpstr>Types of Bank Accounts</vt:lpstr>
      <vt:lpstr>Saving Account</vt:lpstr>
      <vt:lpstr>Saving Account</vt:lpstr>
      <vt:lpstr>Current Account</vt:lpstr>
      <vt:lpstr>Recurring Deposit Account</vt:lpstr>
      <vt:lpstr>Recurring Deposit Account</vt:lpstr>
      <vt:lpstr>Fixed Deposit Account</vt:lpstr>
      <vt:lpstr>Salary Account</vt:lpstr>
      <vt:lpstr>NRI Account</vt:lpstr>
      <vt:lpstr>Cheque &amp; Demand Draft (DD)</vt:lpstr>
      <vt:lpstr>Cheque</vt:lpstr>
      <vt:lpstr>Important Elements of Cheque</vt:lpstr>
      <vt:lpstr>Types of Cheque</vt:lpstr>
      <vt:lpstr>Types of Cheque</vt:lpstr>
      <vt:lpstr>Types of Cheque</vt:lpstr>
      <vt:lpstr>Types of Cheque</vt:lpstr>
      <vt:lpstr>Cheque Truncation System (CTS)</vt:lpstr>
      <vt:lpstr>Demand Draft (DD)</vt:lpstr>
      <vt:lpstr>Demand Draft (Cont.)</vt:lpstr>
      <vt:lpstr>Card Transaction</vt:lpstr>
      <vt:lpstr>Debit Card</vt:lpstr>
      <vt:lpstr>Debit Card</vt:lpstr>
      <vt:lpstr>Other Facilities on Debit Card</vt:lpstr>
      <vt:lpstr>Fees and Charges</vt:lpstr>
      <vt:lpstr>Forex Card</vt:lpstr>
      <vt:lpstr>Types of Forex Cards and Usage</vt:lpstr>
      <vt:lpstr>Benefits of Forex Card</vt:lpstr>
      <vt:lpstr>Various Charges</vt:lpstr>
      <vt:lpstr>Credit Card: Introduction</vt:lpstr>
      <vt:lpstr>Benefits and Disadvantages of Credit Card </vt:lpstr>
      <vt:lpstr>Credit Card: Guidelines on Credit Card Operations (RBI)</vt:lpstr>
      <vt:lpstr>Credit Card: Guidelines on Credit Card Operations (RBI)</vt:lpstr>
      <vt:lpstr>Loans</vt:lpstr>
      <vt:lpstr>Loans</vt:lpstr>
      <vt:lpstr>Secured Loan</vt:lpstr>
      <vt:lpstr>Unsecured Loan</vt:lpstr>
      <vt:lpstr>Personal Loans</vt:lpstr>
      <vt:lpstr>Procedure and Practices for Salary Loans</vt:lpstr>
      <vt:lpstr>Procedure and Practices for Salary Loans</vt:lpstr>
      <vt:lpstr>Personal Loans: Important Aspects </vt:lpstr>
      <vt:lpstr>Home Loan</vt:lpstr>
      <vt:lpstr>The Procedure and Practices for Home Loans</vt:lpstr>
      <vt:lpstr>The Procedure and Practices for Home Loans</vt:lpstr>
      <vt:lpstr>Home Loans: Procedure </vt:lpstr>
      <vt:lpstr>NPA</vt:lpstr>
      <vt:lpstr>Introduction </vt:lpstr>
      <vt:lpstr>Classification of Assets</vt:lpstr>
      <vt:lpstr>Classification of Assets</vt:lpstr>
      <vt:lpstr>Classification of Assets</vt:lpstr>
      <vt:lpstr>Gross NPA from 2019 to 2022</vt:lpstr>
      <vt:lpstr>Causes of NPA (Non Performing Assets)</vt:lpstr>
      <vt:lpstr>Causes of NPA (Non Performing Assets)</vt:lpstr>
      <vt:lpstr>CIBIL Score</vt:lpstr>
      <vt:lpstr>CIBIL - Credit Information Bureau (India) Limited</vt:lpstr>
      <vt:lpstr>Major Factors Affecting CIBIL Score</vt:lpstr>
      <vt:lpstr>Major Factors Affecting CIBIL Score</vt:lpstr>
      <vt:lpstr>How can I improve my CIBIL Score?</vt:lpstr>
      <vt:lpstr>How can I improve my CIBIL Score?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LENOVO</cp:lastModifiedBy>
  <cp:revision>454</cp:revision>
  <dcterms:created xsi:type="dcterms:W3CDTF">2020-05-01T05:09:00Z</dcterms:created>
  <dcterms:modified xsi:type="dcterms:W3CDTF">2025-07-05T05:29:05Z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3B17172FB0DE4EE192BDAE1FA1EEFAFC</vt:lpwstr>
  </property>
  <property fmtid="{D5CDD505-2E9C-101B-9397-08002B2CF9AE}" pid="3" name="KSOProductBuildVer">
    <vt:lpwstr>1033-11.2.0.11156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2022-08-26T06:32:08Z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d7d1a538-837c-4f74-b39d-7404a206d18b</vt:lpwstr>
  </property>
  <property fmtid="{D5CDD505-2E9C-101B-9397-08002B2CF9AE}" pid="9" name="MSIP_Label_defa4170-0d19-0005-0004-bc88714345d2_ActionId">
    <vt:lpwstr>18228cb7-e927-46b3-82d3-8bef2d1f1ffe</vt:lpwstr>
  </property>
  <property fmtid="{D5CDD505-2E9C-101B-9397-08002B2CF9AE}" pid="10" name="MSIP_Label_defa4170-0d19-0005-0004-bc88714345d2_ContentBits">
    <vt:lpwstr>0</vt:lpwstr>
  </property>
</Properties>
</file>