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6"/>
  </p:notesMasterIdLst>
  <p:sldIdLst>
    <p:sldId id="330" r:id="rId2"/>
    <p:sldId id="267" r:id="rId3"/>
    <p:sldId id="725" r:id="rId4"/>
    <p:sldId id="820" r:id="rId5"/>
    <p:sldId id="781" r:id="rId6"/>
    <p:sldId id="480" r:id="rId7"/>
    <p:sldId id="782" r:id="rId8"/>
    <p:sldId id="783" r:id="rId9"/>
    <p:sldId id="784" r:id="rId10"/>
    <p:sldId id="785" r:id="rId11"/>
    <p:sldId id="786" r:id="rId12"/>
    <p:sldId id="789" r:id="rId13"/>
    <p:sldId id="810" r:id="rId14"/>
    <p:sldId id="790" r:id="rId15"/>
    <p:sldId id="811" r:id="rId16"/>
    <p:sldId id="791" r:id="rId17"/>
    <p:sldId id="812" r:id="rId18"/>
    <p:sldId id="813" r:id="rId19"/>
    <p:sldId id="792" r:id="rId20"/>
    <p:sldId id="383" r:id="rId21"/>
    <p:sldId id="384" r:id="rId22"/>
    <p:sldId id="386" r:id="rId23"/>
    <p:sldId id="387" r:id="rId24"/>
    <p:sldId id="388" r:id="rId25"/>
    <p:sldId id="788" r:id="rId26"/>
    <p:sldId id="390" r:id="rId27"/>
    <p:sldId id="814" r:id="rId28"/>
    <p:sldId id="398" r:id="rId29"/>
    <p:sldId id="433" r:id="rId30"/>
    <p:sldId id="403" r:id="rId31"/>
    <p:sldId id="404" r:id="rId32"/>
    <p:sldId id="430" r:id="rId33"/>
    <p:sldId id="405" r:id="rId34"/>
    <p:sldId id="406" r:id="rId35"/>
    <p:sldId id="407" r:id="rId36"/>
    <p:sldId id="408" r:id="rId37"/>
    <p:sldId id="413" r:id="rId38"/>
    <p:sldId id="434" r:id="rId39"/>
    <p:sldId id="435" r:id="rId40"/>
    <p:sldId id="415" r:id="rId41"/>
    <p:sldId id="817" r:id="rId42"/>
    <p:sldId id="816" r:id="rId43"/>
    <p:sldId id="819" r:id="rId44"/>
    <p:sldId id="418" r:id="rId45"/>
    <p:sldId id="436" r:id="rId46"/>
    <p:sldId id="420" r:id="rId47"/>
    <p:sldId id="421" r:id="rId48"/>
    <p:sldId id="423" r:id="rId49"/>
    <p:sldId id="424" r:id="rId50"/>
    <p:sldId id="787" r:id="rId51"/>
    <p:sldId id="805" r:id="rId52"/>
    <p:sldId id="425" r:id="rId53"/>
    <p:sldId id="806" r:id="rId54"/>
    <p:sldId id="426" r:id="rId55"/>
    <p:sldId id="427" r:id="rId56"/>
    <p:sldId id="428" r:id="rId57"/>
    <p:sldId id="429" r:id="rId58"/>
    <p:sldId id="798" r:id="rId59"/>
    <p:sldId id="803" r:id="rId60"/>
    <p:sldId id="804" r:id="rId61"/>
    <p:sldId id="809" r:id="rId62"/>
    <p:sldId id="795" r:id="rId63"/>
    <p:sldId id="799" r:id="rId64"/>
    <p:sldId id="800" r:id="rId65"/>
    <p:sldId id="801" r:id="rId66"/>
    <p:sldId id="397" r:id="rId67"/>
    <p:sldId id="802" r:id="rId68"/>
    <p:sldId id="335" r:id="rId69"/>
    <p:sldId id="506" r:id="rId70"/>
    <p:sldId id="498" r:id="rId71"/>
    <p:sldId id="497" r:id="rId72"/>
    <p:sldId id="510" r:id="rId73"/>
    <p:sldId id="500" r:id="rId74"/>
    <p:sldId id="344" r:id="rId75"/>
  </p:sldIdLst>
  <p:sldSz cx="12192000" cy="6858000"/>
  <p:notesSz cx="6858000" cy="9144000"/>
  <p:embeddedFontLst>
    <p:embeddedFont>
      <p:font typeface="Roboto Condensed Light" panose="020B0604020202020204" charset="0"/>
      <p:regular r:id="rId77"/>
      <p:bold r:id="rId78"/>
      <p:italic r:id="rId79"/>
      <p:boldItalic r:id="rId80"/>
    </p:embeddedFont>
    <p:embeddedFont>
      <p:font typeface="Calibri" panose="020F0502020204030204" pitchFamily="34" charset="0"/>
      <p:regular r:id="rId81"/>
      <p:bold r:id="rId82"/>
      <p:italic r:id="rId83"/>
      <p:boldItalic r:id="rId84"/>
    </p:embeddedFont>
    <p:embeddedFont>
      <p:font typeface="Agency FB" panose="020B0503020202020204" pitchFamily="34" charset="0"/>
      <p:regular r:id="rId85"/>
      <p:bold r:id="rId86"/>
    </p:embeddedFont>
    <p:embeddedFont>
      <p:font typeface="Segoe UI Black" panose="020B0A02040204020203" pitchFamily="34" charset="0"/>
      <p:bold r:id="rId87"/>
      <p:boldItalic r:id="rId88"/>
    </p:embeddedFont>
    <p:embeddedFont>
      <p:font typeface="Cambria Math" panose="02040503050406030204" pitchFamily="18" charset="0"/>
      <p:regular r:id="rId89"/>
    </p:embeddedFont>
    <p:embeddedFont>
      <p:font typeface="Wingdings 3" panose="05040102010807070707" pitchFamily="18" charset="2"/>
      <p:regular r:id="rId90"/>
    </p:embeddedFont>
    <p:embeddedFont>
      <p:font typeface="Roboto Condensed" panose="020B0604020202020204" charset="0"/>
      <p:regular r:id="rId91"/>
      <p:bold r:id="rId92"/>
      <p:italic r:id="rId93"/>
      <p:boldItalic r:id="rId94"/>
    </p:embeddedFont>
    <p:embeddedFont>
      <p:font typeface="Wingdings 2" panose="05020102010507070707" pitchFamily="18" charset="2"/>
      <p:regular r:id="rId9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BFRSfPsYX3IbeDg6GbKUng==" hashData="ffGpVmxlb4CD2/0dOtNsgnPd1XlV8yHm01O86Kew4fHPyj0y4v/H1v12S5NTaoz60s2ehSl/WvbZQcTNLAxZSQ=="/>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2C32"/>
    <a:srgbClr val="5E3037"/>
    <a:srgbClr val="7B3E47"/>
    <a:srgbClr val="D10233"/>
    <a:srgbClr val="301B92"/>
    <a:srgbClr val="673BB7"/>
    <a:srgbClr val="607D8B"/>
    <a:srgbClr val="ED524F"/>
    <a:srgbClr val="B71B1C"/>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59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3.fntdata"/><Relationship Id="rId5" Type="http://schemas.openxmlformats.org/officeDocument/2006/relationships/slide" Target="slides/slide4.xml"/><Relationship Id="rId90" Type="http://schemas.openxmlformats.org/officeDocument/2006/relationships/font" Target="fonts/font14.fntdata"/><Relationship Id="rId95" Type="http://schemas.openxmlformats.org/officeDocument/2006/relationships/font" Target="fonts/font19.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font" Target="fonts/font18.fntdata"/><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1.fntdata"/><Relationship Id="rId61" Type="http://schemas.openxmlformats.org/officeDocument/2006/relationships/slide" Target="slides/slide60.xml"/><Relationship Id="rId82"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7.fntdata"/><Relationship Id="rId98"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58CDCC-574A-4AF9-9D50-F8F1DCE25387}"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IN"/>
        </a:p>
      </dgm:t>
    </dgm:pt>
    <dgm:pt modelId="{E3BCEE09-92C5-4AC7-8C4C-C0BD2B80398A}">
      <dgm:prSet phldrT="[Text]"/>
      <dgm:spPr/>
      <dgm:t>
        <a:bodyPr/>
        <a:lstStyle/>
        <a:p>
          <a:r>
            <a:rPr lang="en-GB" b="1" dirty="0"/>
            <a:t>Interest earning</a:t>
          </a:r>
          <a:endParaRPr lang="en-IN" b="1" dirty="0"/>
        </a:p>
      </dgm:t>
    </dgm:pt>
    <dgm:pt modelId="{5197B623-C61C-4547-AD70-8AAFC2D879BB}" type="parTrans" cxnId="{FFB7B927-3A9F-4C6E-A4CD-1AF1A2EB9B41}">
      <dgm:prSet/>
      <dgm:spPr/>
      <dgm:t>
        <a:bodyPr/>
        <a:lstStyle/>
        <a:p>
          <a:endParaRPr lang="en-IN"/>
        </a:p>
      </dgm:t>
    </dgm:pt>
    <dgm:pt modelId="{1BD4D811-ACEA-4F55-8EE8-C81E55F95231}" type="sibTrans" cxnId="{FFB7B927-3A9F-4C6E-A4CD-1AF1A2EB9B41}">
      <dgm:prSet/>
      <dgm:spPr/>
      <dgm:t>
        <a:bodyPr/>
        <a:lstStyle/>
        <a:p>
          <a:endParaRPr lang="en-IN"/>
        </a:p>
      </dgm:t>
    </dgm:pt>
    <dgm:pt modelId="{1BFD6B48-5D8D-4DE7-B81F-83A31684EDEA}">
      <dgm:prSet/>
      <dgm:spPr/>
      <dgm:t>
        <a:bodyPr/>
        <a:lstStyle/>
        <a:p>
          <a:r>
            <a:rPr lang="en-GB" b="1" dirty="0"/>
            <a:t>Money kept in a bank or invested can earn interest or return.</a:t>
          </a:r>
        </a:p>
      </dgm:t>
    </dgm:pt>
    <dgm:pt modelId="{C83525CF-2229-4AC7-A994-10ACBA06CD4E}" type="parTrans" cxnId="{D3F7B8C3-1B09-45C8-9A45-4247B7C2D9E6}">
      <dgm:prSet/>
      <dgm:spPr/>
      <dgm:t>
        <a:bodyPr/>
        <a:lstStyle/>
        <a:p>
          <a:endParaRPr lang="en-IN"/>
        </a:p>
      </dgm:t>
    </dgm:pt>
    <dgm:pt modelId="{9C0D07CD-70A3-40DF-A768-BABCCE157953}" type="sibTrans" cxnId="{D3F7B8C3-1B09-45C8-9A45-4247B7C2D9E6}">
      <dgm:prSet/>
      <dgm:spPr/>
      <dgm:t>
        <a:bodyPr/>
        <a:lstStyle/>
        <a:p>
          <a:endParaRPr lang="en-IN"/>
        </a:p>
      </dgm:t>
    </dgm:pt>
    <dgm:pt modelId="{D83B9B3C-057E-4879-AEB2-A7102B795964}">
      <dgm:prSet/>
      <dgm:spPr/>
      <dgm:t>
        <a:bodyPr/>
        <a:lstStyle/>
        <a:p>
          <a:r>
            <a:rPr lang="en-GB" b="1" dirty="0"/>
            <a:t>Inflation</a:t>
          </a:r>
        </a:p>
      </dgm:t>
    </dgm:pt>
    <dgm:pt modelId="{767B3F98-C216-4E04-B058-C54EF5827FE0}" type="parTrans" cxnId="{BB3A321E-78BF-4C85-8B8D-3BBCF3072F12}">
      <dgm:prSet/>
      <dgm:spPr/>
      <dgm:t>
        <a:bodyPr/>
        <a:lstStyle/>
        <a:p>
          <a:endParaRPr lang="en-IN"/>
        </a:p>
      </dgm:t>
    </dgm:pt>
    <dgm:pt modelId="{9975547E-7265-4905-994D-DDA4779B2F10}" type="sibTrans" cxnId="{BB3A321E-78BF-4C85-8B8D-3BBCF3072F12}">
      <dgm:prSet/>
      <dgm:spPr/>
      <dgm:t>
        <a:bodyPr/>
        <a:lstStyle/>
        <a:p>
          <a:endParaRPr lang="en-IN"/>
        </a:p>
      </dgm:t>
    </dgm:pt>
    <dgm:pt modelId="{A86E9AFE-7ABE-4055-B22D-9C38CE42DDB2}">
      <dgm:prSet/>
      <dgm:spPr/>
      <dgm:t>
        <a:bodyPr/>
        <a:lstStyle/>
        <a:p>
          <a:r>
            <a:rPr lang="en-GB" b="1" dirty="0"/>
            <a:t>Over time prices of goods and services increases so purchasing power of money decreases.</a:t>
          </a:r>
        </a:p>
      </dgm:t>
    </dgm:pt>
    <dgm:pt modelId="{63AFE84B-F644-41B6-9ED1-FB3A200FE4E7}" type="parTrans" cxnId="{3F1F1B57-5E72-47BB-AA9C-ECF534140176}">
      <dgm:prSet/>
      <dgm:spPr/>
      <dgm:t>
        <a:bodyPr/>
        <a:lstStyle/>
        <a:p>
          <a:endParaRPr lang="en-IN"/>
        </a:p>
      </dgm:t>
    </dgm:pt>
    <dgm:pt modelId="{44CCD8CB-B5FA-4750-9E2A-10B569598068}" type="sibTrans" cxnId="{3F1F1B57-5E72-47BB-AA9C-ECF534140176}">
      <dgm:prSet/>
      <dgm:spPr/>
      <dgm:t>
        <a:bodyPr/>
        <a:lstStyle/>
        <a:p>
          <a:endParaRPr lang="en-IN"/>
        </a:p>
      </dgm:t>
    </dgm:pt>
    <dgm:pt modelId="{6B401B28-6686-406B-9E0F-2EC73480B1B4}">
      <dgm:prSet/>
      <dgm:spPr/>
      <dgm:t>
        <a:bodyPr/>
        <a:lstStyle/>
        <a:p>
          <a:r>
            <a:rPr lang="en-GB" b="1" dirty="0"/>
            <a:t>Risk </a:t>
          </a:r>
        </a:p>
      </dgm:t>
    </dgm:pt>
    <dgm:pt modelId="{C4CB2538-8C45-41BE-8AA4-B4486C9BB0C2}" type="parTrans" cxnId="{D6D095A5-ECB8-4988-B764-83E8C049C8D6}">
      <dgm:prSet/>
      <dgm:spPr/>
      <dgm:t>
        <a:bodyPr/>
        <a:lstStyle/>
        <a:p>
          <a:endParaRPr lang="en-IN"/>
        </a:p>
      </dgm:t>
    </dgm:pt>
    <dgm:pt modelId="{8F321B8C-8164-4565-9384-FD385608B8E7}" type="sibTrans" cxnId="{D6D095A5-ECB8-4988-B764-83E8C049C8D6}">
      <dgm:prSet/>
      <dgm:spPr/>
      <dgm:t>
        <a:bodyPr/>
        <a:lstStyle/>
        <a:p>
          <a:endParaRPr lang="en-IN"/>
        </a:p>
      </dgm:t>
    </dgm:pt>
    <dgm:pt modelId="{ABBD0AAB-123F-4637-8214-B1BA4B750BFF}">
      <dgm:prSet/>
      <dgm:spPr/>
      <dgm:t>
        <a:bodyPr/>
        <a:lstStyle/>
        <a:p>
          <a:r>
            <a:rPr lang="en-GB" b="1" dirty="0"/>
            <a:t>Future is uncertain having cash in hand is good choice.</a:t>
          </a:r>
        </a:p>
      </dgm:t>
    </dgm:pt>
    <dgm:pt modelId="{BC712D49-728F-4D02-992B-A34AD87DBF7A}" type="parTrans" cxnId="{AECA8569-4972-45DC-9D4A-D814EDF48503}">
      <dgm:prSet/>
      <dgm:spPr/>
      <dgm:t>
        <a:bodyPr/>
        <a:lstStyle/>
        <a:p>
          <a:endParaRPr lang="en-IN"/>
        </a:p>
      </dgm:t>
    </dgm:pt>
    <dgm:pt modelId="{1B512BD9-B8D1-4420-8470-F7937F83452F}" type="sibTrans" cxnId="{AECA8569-4972-45DC-9D4A-D814EDF48503}">
      <dgm:prSet/>
      <dgm:spPr/>
      <dgm:t>
        <a:bodyPr/>
        <a:lstStyle/>
        <a:p>
          <a:endParaRPr lang="en-IN"/>
        </a:p>
      </dgm:t>
    </dgm:pt>
    <dgm:pt modelId="{3BE775A5-20C1-4040-BA5D-4693EB39341C}">
      <dgm:prSet/>
      <dgm:spPr/>
      <dgm:t>
        <a:bodyPr/>
        <a:lstStyle/>
        <a:p>
          <a:r>
            <a:rPr lang="en-GB" b="1" dirty="0"/>
            <a:t>Opportunity Cost</a:t>
          </a:r>
        </a:p>
      </dgm:t>
    </dgm:pt>
    <dgm:pt modelId="{E84E35B0-5DF0-4FDB-8F57-0AD07108483C}" type="parTrans" cxnId="{4F33483F-3381-4BC2-9356-6C148C1A186D}">
      <dgm:prSet/>
      <dgm:spPr/>
      <dgm:t>
        <a:bodyPr/>
        <a:lstStyle/>
        <a:p>
          <a:endParaRPr lang="en-IN"/>
        </a:p>
      </dgm:t>
    </dgm:pt>
    <dgm:pt modelId="{26DD77EB-EC8F-45D5-8E4A-AE58F5726B00}" type="sibTrans" cxnId="{4F33483F-3381-4BC2-9356-6C148C1A186D}">
      <dgm:prSet/>
      <dgm:spPr/>
      <dgm:t>
        <a:bodyPr/>
        <a:lstStyle/>
        <a:p>
          <a:endParaRPr lang="en-IN"/>
        </a:p>
      </dgm:t>
    </dgm:pt>
    <dgm:pt modelId="{73B70F70-EF88-4CB0-81D5-3122F6DA9DE9}">
      <dgm:prSet/>
      <dgm:spPr/>
      <dgm:t>
        <a:bodyPr/>
        <a:lstStyle/>
        <a:p>
          <a:r>
            <a:rPr lang="en-GB" b="1" dirty="0"/>
            <a:t>Having money now gives you opportunity to invest or spend it in a better way.</a:t>
          </a:r>
          <a:endParaRPr lang="en-IN" b="1" dirty="0"/>
        </a:p>
      </dgm:t>
    </dgm:pt>
    <dgm:pt modelId="{59BBAC56-A963-4FD1-81C5-53643728776C}" type="parTrans" cxnId="{7FAEF5EC-D060-4169-A765-01522F25A8E4}">
      <dgm:prSet/>
      <dgm:spPr/>
      <dgm:t>
        <a:bodyPr/>
        <a:lstStyle/>
        <a:p>
          <a:endParaRPr lang="en-IN"/>
        </a:p>
      </dgm:t>
    </dgm:pt>
    <dgm:pt modelId="{56CBE041-BB33-41FB-96F4-BDE4B769B37F}" type="sibTrans" cxnId="{7FAEF5EC-D060-4169-A765-01522F25A8E4}">
      <dgm:prSet/>
      <dgm:spPr/>
      <dgm:t>
        <a:bodyPr/>
        <a:lstStyle/>
        <a:p>
          <a:endParaRPr lang="en-IN"/>
        </a:p>
      </dgm:t>
    </dgm:pt>
    <dgm:pt modelId="{CCEB4A83-56F0-4633-A16B-0DDE28F651CB}" type="pres">
      <dgm:prSet presAssocID="{DE58CDCC-574A-4AF9-9D50-F8F1DCE25387}" presName="Name0" presStyleCnt="0">
        <dgm:presLayoutVars>
          <dgm:dir/>
          <dgm:animLvl val="lvl"/>
          <dgm:resizeHandles val="exact"/>
        </dgm:presLayoutVars>
      </dgm:prSet>
      <dgm:spPr/>
      <dgm:t>
        <a:bodyPr/>
        <a:lstStyle/>
        <a:p>
          <a:endParaRPr lang="en-US"/>
        </a:p>
      </dgm:t>
    </dgm:pt>
    <dgm:pt modelId="{7554731F-7741-4CFA-BAAA-821EE88D8EC7}" type="pres">
      <dgm:prSet presAssocID="{E3BCEE09-92C5-4AC7-8C4C-C0BD2B80398A}" presName="linNode" presStyleCnt="0"/>
      <dgm:spPr/>
    </dgm:pt>
    <dgm:pt modelId="{C5B35A40-7176-432A-A08F-D2C24D3AABE1}" type="pres">
      <dgm:prSet presAssocID="{E3BCEE09-92C5-4AC7-8C4C-C0BD2B80398A}" presName="parentText" presStyleLbl="node1" presStyleIdx="0" presStyleCnt="4">
        <dgm:presLayoutVars>
          <dgm:chMax val="1"/>
          <dgm:bulletEnabled val="1"/>
        </dgm:presLayoutVars>
      </dgm:prSet>
      <dgm:spPr/>
      <dgm:t>
        <a:bodyPr/>
        <a:lstStyle/>
        <a:p>
          <a:endParaRPr lang="en-US"/>
        </a:p>
      </dgm:t>
    </dgm:pt>
    <dgm:pt modelId="{6FDA055D-5E2F-4FE8-B0B8-B8B0256573E0}" type="pres">
      <dgm:prSet presAssocID="{E3BCEE09-92C5-4AC7-8C4C-C0BD2B80398A}" presName="descendantText" presStyleLbl="alignAccFollowNode1" presStyleIdx="0" presStyleCnt="4">
        <dgm:presLayoutVars>
          <dgm:bulletEnabled val="1"/>
        </dgm:presLayoutVars>
      </dgm:prSet>
      <dgm:spPr/>
      <dgm:t>
        <a:bodyPr/>
        <a:lstStyle/>
        <a:p>
          <a:endParaRPr lang="en-US"/>
        </a:p>
      </dgm:t>
    </dgm:pt>
    <dgm:pt modelId="{F7A8C99F-E0FD-4A54-BC66-62A3DBE7F345}" type="pres">
      <dgm:prSet presAssocID="{1BD4D811-ACEA-4F55-8EE8-C81E55F95231}" presName="sp" presStyleCnt="0"/>
      <dgm:spPr/>
    </dgm:pt>
    <dgm:pt modelId="{E4D76412-C6C3-48A2-B761-D2B9A4A5C7E2}" type="pres">
      <dgm:prSet presAssocID="{D83B9B3C-057E-4879-AEB2-A7102B795964}" presName="linNode" presStyleCnt="0"/>
      <dgm:spPr/>
    </dgm:pt>
    <dgm:pt modelId="{7FAE81B3-DE8F-427D-AEA5-13B7F34C61EE}" type="pres">
      <dgm:prSet presAssocID="{D83B9B3C-057E-4879-AEB2-A7102B795964}" presName="parentText" presStyleLbl="node1" presStyleIdx="1" presStyleCnt="4">
        <dgm:presLayoutVars>
          <dgm:chMax val="1"/>
          <dgm:bulletEnabled val="1"/>
        </dgm:presLayoutVars>
      </dgm:prSet>
      <dgm:spPr/>
      <dgm:t>
        <a:bodyPr/>
        <a:lstStyle/>
        <a:p>
          <a:endParaRPr lang="en-US"/>
        </a:p>
      </dgm:t>
    </dgm:pt>
    <dgm:pt modelId="{5EB0DC7A-C96A-4D7E-8FDE-727864B8FAF4}" type="pres">
      <dgm:prSet presAssocID="{D83B9B3C-057E-4879-AEB2-A7102B795964}" presName="descendantText" presStyleLbl="alignAccFollowNode1" presStyleIdx="1" presStyleCnt="4">
        <dgm:presLayoutVars>
          <dgm:bulletEnabled val="1"/>
        </dgm:presLayoutVars>
      </dgm:prSet>
      <dgm:spPr/>
      <dgm:t>
        <a:bodyPr/>
        <a:lstStyle/>
        <a:p>
          <a:endParaRPr lang="en-US"/>
        </a:p>
      </dgm:t>
    </dgm:pt>
    <dgm:pt modelId="{CB021F3C-A560-4C45-AC2B-8C44DFB60466}" type="pres">
      <dgm:prSet presAssocID="{9975547E-7265-4905-994D-DDA4779B2F10}" presName="sp" presStyleCnt="0"/>
      <dgm:spPr/>
    </dgm:pt>
    <dgm:pt modelId="{314C11F9-B1AF-4A06-A64B-79D3907DB87B}" type="pres">
      <dgm:prSet presAssocID="{6B401B28-6686-406B-9E0F-2EC73480B1B4}" presName="linNode" presStyleCnt="0"/>
      <dgm:spPr/>
    </dgm:pt>
    <dgm:pt modelId="{1B1B2A84-2A64-4D68-81F6-9714B0D3B3D0}" type="pres">
      <dgm:prSet presAssocID="{6B401B28-6686-406B-9E0F-2EC73480B1B4}" presName="parentText" presStyleLbl="node1" presStyleIdx="2" presStyleCnt="4">
        <dgm:presLayoutVars>
          <dgm:chMax val="1"/>
          <dgm:bulletEnabled val="1"/>
        </dgm:presLayoutVars>
      </dgm:prSet>
      <dgm:spPr/>
      <dgm:t>
        <a:bodyPr/>
        <a:lstStyle/>
        <a:p>
          <a:endParaRPr lang="en-US"/>
        </a:p>
      </dgm:t>
    </dgm:pt>
    <dgm:pt modelId="{5C9AC65A-F7C4-417F-801A-BF8EDBBF5DDF}" type="pres">
      <dgm:prSet presAssocID="{6B401B28-6686-406B-9E0F-2EC73480B1B4}" presName="descendantText" presStyleLbl="alignAccFollowNode1" presStyleIdx="2" presStyleCnt="4">
        <dgm:presLayoutVars>
          <dgm:bulletEnabled val="1"/>
        </dgm:presLayoutVars>
      </dgm:prSet>
      <dgm:spPr/>
      <dgm:t>
        <a:bodyPr/>
        <a:lstStyle/>
        <a:p>
          <a:endParaRPr lang="en-US"/>
        </a:p>
      </dgm:t>
    </dgm:pt>
    <dgm:pt modelId="{3FDC2433-17E2-4056-B006-5A3DCC48AB1D}" type="pres">
      <dgm:prSet presAssocID="{8F321B8C-8164-4565-9384-FD385608B8E7}" presName="sp" presStyleCnt="0"/>
      <dgm:spPr/>
    </dgm:pt>
    <dgm:pt modelId="{4A74E29C-72A3-464C-8974-5A3691C5146D}" type="pres">
      <dgm:prSet presAssocID="{3BE775A5-20C1-4040-BA5D-4693EB39341C}" presName="linNode" presStyleCnt="0"/>
      <dgm:spPr/>
    </dgm:pt>
    <dgm:pt modelId="{E0BAD9FA-BFA3-4C3B-98DB-0B4772B1E412}" type="pres">
      <dgm:prSet presAssocID="{3BE775A5-20C1-4040-BA5D-4693EB39341C}" presName="parentText" presStyleLbl="node1" presStyleIdx="3" presStyleCnt="4" custLinFactNeighborX="181">
        <dgm:presLayoutVars>
          <dgm:chMax val="1"/>
          <dgm:bulletEnabled val="1"/>
        </dgm:presLayoutVars>
      </dgm:prSet>
      <dgm:spPr/>
      <dgm:t>
        <a:bodyPr/>
        <a:lstStyle/>
        <a:p>
          <a:endParaRPr lang="en-US"/>
        </a:p>
      </dgm:t>
    </dgm:pt>
    <dgm:pt modelId="{0D3DF23F-9B24-4712-9056-C3DD51B799B0}" type="pres">
      <dgm:prSet presAssocID="{3BE775A5-20C1-4040-BA5D-4693EB39341C}" presName="descendantText" presStyleLbl="alignAccFollowNode1" presStyleIdx="3" presStyleCnt="4">
        <dgm:presLayoutVars>
          <dgm:bulletEnabled val="1"/>
        </dgm:presLayoutVars>
      </dgm:prSet>
      <dgm:spPr/>
      <dgm:t>
        <a:bodyPr/>
        <a:lstStyle/>
        <a:p>
          <a:endParaRPr lang="en-US"/>
        </a:p>
      </dgm:t>
    </dgm:pt>
  </dgm:ptLst>
  <dgm:cxnLst>
    <dgm:cxn modelId="{F88354A8-2C7D-4E17-860D-8509237F6B90}" type="presOf" srcId="{ABBD0AAB-123F-4637-8214-B1BA4B750BFF}" destId="{5C9AC65A-F7C4-417F-801A-BF8EDBBF5DDF}" srcOrd="0" destOrd="0" presId="urn:microsoft.com/office/officeart/2005/8/layout/vList5"/>
    <dgm:cxn modelId="{4F33483F-3381-4BC2-9356-6C148C1A186D}" srcId="{DE58CDCC-574A-4AF9-9D50-F8F1DCE25387}" destId="{3BE775A5-20C1-4040-BA5D-4693EB39341C}" srcOrd="3" destOrd="0" parTransId="{E84E35B0-5DF0-4FDB-8F57-0AD07108483C}" sibTransId="{26DD77EB-EC8F-45D5-8E4A-AE58F5726B00}"/>
    <dgm:cxn modelId="{47EA3489-2CAC-4CA8-A391-0115AD529F46}" type="presOf" srcId="{73B70F70-EF88-4CB0-81D5-3122F6DA9DE9}" destId="{0D3DF23F-9B24-4712-9056-C3DD51B799B0}" srcOrd="0" destOrd="0" presId="urn:microsoft.com/office/officeart/2005/8/layout/vList5"/>
    <dgm:cxn modelId="{839F9626-0497-4B1C-AE4F-8A99D264E5DF}" type="presOf" srcId="{1BFD6B48-5D8D-4DE7-B81F-83A31684EDEA}" destId="{6FDA055D-5E2F-4FE8-B0B8-B8B0256573E0}" srcOrd="0" destOrd="0" presId="urn:microsoft.com/office/officeart/2005/8/layout/vList5"/>
    <dgm:cxn modelId="{1B52C3D1-3A26-4433-9E71-E3553AB3B458}" type="presOf" srcId="{3BE775A5-20C1-4040-BA5D-4693EB39341C}" destId="{E0BAD9FA-BFA3-4C3B-98DB-0B4772B1E412}" srcOrd="0" destOrd="0" presId="urn:microsoft.com/office/officeart/2005/8/layout/vList5"/>
    <dgm:cxn modelId="{D6D095A5-ECB8-4988-B764-83E8C049C8D6}" srcId="{DE58CDCC-574A-4AF9-9D50-F8F1DCE25387}" destId="{6B401B28-6686-406B-9E0F-2EC73480B1B4}" srcOrd="2" destOrd="0" parTransId="{C4CB2538-8C45-41BE-8AA4-B4486C9BB0C2}" sibTransId="{8F321B8C-8164-4565-9384-FD385608B8E7}"/>
    <dgm:cxn modelId="{0860B9CE-0801-4FB5-9E19-F76E4C95A1F4}" type="presOf" srcId="{DE58CDCC-574A-4AF9-9D50-F8F1DCE25387}" destId="{CCEB4A83-56F0-4633-A16B-0DDE28F651CB}" srcOrd="0" destOrd="0" presId="urn:microsoft.com/office/officeart/2005/8/layout/vList5"/>
    <dgm:cxn modelId="{7FAEF5EC-D060-4169-A765-01522F25A8E4}" srcId="{3BE775A5-20C1-4040-BA5D-4693EB39341C}" destId="{73B70F70-EF88-4CB0-81D5-3122F6DA9DE9}" srcOrd="0" destOrd="0" parTransId="{59BBAC56-A963-4FD1-81C5-53643728776C}" sibTransId="{56CBE041-BB33-41FB-96F4-BDE4B769B37F}"/>
    <dgm:cxn modelId="{AECA8569-4972-45DC-9D4A-D814EDF48503}" srcId="{6B401B28-6686-406B-9E0F-2EC73480B1B4}" destId="{ABBD0AAB-123F-4637-8214-B1BA4B750BFF}" srcOrd="0" destOrd="0" parTransId="{BC712D49-728F-4D02-992B-A34AD87DBF7A}" sibTransId="{1B512BD9-B8D1-4420-8470-F7937F83452F}"/>
    <dgm:cxn modelId="{6185833F-1D16-4DE4-9DCD-D530DA08C4BF}" type="presOf" srcId="{E3BCEE09-92C5-4AC7-8C4C-C0BD2B80398A}" destId="{C5B35A40-7176-432A-A08F-D2C24D3AABE1}" srcOrd="0" destOrd="0" presId="urn:microsoft.com/office/officeart/2005/8/layout/vList5"/>
    <dgm:cxn modelId="{D3F7B8C3-1B09-45C8-9A45-4247B7C2D9E6}" srcId="{E3BCEE09-92C5-4AC7-8C4C-C0BD2B80398A}" destId="{1BFD6B48-5D8D-4DE7-B81F-83A31684EDEA}" srcOrd="0" destOrd="0" parTransId="{C83525CF-2229-4AC7-A994-10ACBA06CD4E}" sibTransId="{9C0D07CD-70A3-40DF-A768-BABCCE157953}"/>
    <dgm:cxn modelId="{BB71C231-F3C2-40E6-8293-8EC5E675C476}" type="presOf" srcId="{D83B9B3C-057E-4879-AEB2-A7102B795964}" destId="{7FAE81B3-DE8F-427D-AEA5-13B7F34C61EE}" srcOrd="0" destOrd="0" presId="urn:microsoft.com/office/officeart/2005/8/layout/vList5"/>
    <dgm:cxn modelId="{8AFAA9DC-9F28-4CD9-81EF-D6AAE9651704}" type="presOf" srcId="{A86E9AFE-7ABE-4055-B22D-9C38CE42DDB2}" destId="{5EB0DC7A-C96A-4D7E-8FDE-727864B8FAF4}" srcOrd="0" destOrd="0" presId="urn:microsoft.com/office/officeart/2005/8/layout/vList5"/>
    <dgm:cxn modelId="{FFB7B927-3A9F-4C6E-A4CD-1AF1A2EB9B41}" srcId="{DE58CDCC-574A-4AF9-9D50-F8F1DCE25387}" destId="{E3BCEE09-92C5-4AC7-8C4C-C0BD2B80398A}" srcOrd="0" destOrd="0" parTransId="{5197B623-C61C-4547-AD70-8AAFC2D879BB}" sibTransId="{1BD4D811-ACEA-4F55-8EE8-C81E55F95231}"/>
    <dgm:cxn modelId="{3F1F1B57-5E72-47BB-AA9C-ECF534140176}" srcId="{D83B9B3C-057E-4879-AEB2-A7102B795964}" destId="{A86E9AFE-7ABE-4055-B22D-9C38CE42DDB2}" srcOrd="0" destOrd="0" parTransId="{63AFE84B-F644-41B6-9ED1-FB3A200FE4E7}" sibTransId="{44CCD8CB-B5FA-4750-9E2A-10B569598068}"/>
    <dgm:cxn modelId="{AC3E79A3-8DF9-49B3-AE24-C83CF12382E2}" type="presOf" srcId="{6B401B28-6686-406B-9E0F-2EC73480B1B4}" destId="{1B1B2A84-2A64-4D68-81F6-9714B0D3B3D0}" srcOrd="0" destOrd="0" presId="urn:microsoft.com/office/officeart/2005/8/layout/vList5"/>
    <dgm:cxn modelId="{BB3A321E-78BF-4C85-8B8D-3BBCF3072F12}" srcId="{DE58CDCC-574A-4AF9-9D50-F8F1DCE25387}" destId="{D83B9B3C-057E-4879-AEB2-A7102B795964}" srcOrd="1" destOrd="0" parTransId="{767B3F98-C216-4E04-B058-C54EF5827FE0}" sibTransId="{9975547E-7265-4905-994D-DDA4779B2F10}"/>
    <dgm:cxn modelId="{DCFA7FE5-1A53-4376-8B02-DDEA03BFA81D}" type="presParOf" srcId="{CCEB4A83-56F0-4633-A16B-0DDE28F651CB}" destId="{7554731F-7741-4CFA-BAAA-821EE88D8EC7}" srcOrd="0" destOrd="0" presId="urn:microsoft.com/office/officeart/2005/8/layout/vList5"/>
    <dgm:cxn modelId="{CD9C6CD7-324C-464F-90F9-3DE0DC0E3A07}" type="presParOf" srcId="{7554731F-7741-4CFA-BAAA-821EE88D8EC7}" destId="{C5B35A40-7176-432A-A08F-D2C24D3AABE1}" srcOrd="0" destOrd="0" presId="urn:microsoft.com/office/officeart/2005/8/layout/vList5"/>
    <dgm:cxn modelId="{9D200CAE-47C8-42F2-9240-E1F2456F7267}" type="presParOf" srcId="{7554731F-7741-4CFA-BAAA-821EE88D8EC7}" destId="{6FDA055D-5E2F-4FE8-B0B8-B8B0256573E0}" srcOrd="1" destOrd="0" presId="urn:microsoft.com/office/officeart/2005/8/layout/vList5"/>
    <dgm:cxn modelId="{659C2301-0855-4DA1-9503-3FCE01FBE60E}" type="presParOf" srcId="{CCEB4A83-56F0-4633-A16B-0DDE28F651CB}" destId="{F7A8C99F-E0FD-4A54-BC66-62A3DBE7F345}" srcOrd="1" destOrd="0" presId="urn:microsoft.com/office/officeart/2005/8/layout/vList5"/>
    <dgm:cxn modelId="{83CE0102-4586-4FD1-BD70-A1E564E0B41B}" type="presParOf" srcId="{CCEB4A83-56F0-4633-A16B-0DDE28F651CB}" destId="{E4D76412-C6C3-48A2-B761-D2B9A4A5C7E2}" srcOrd="2" destOrd="0" presId="urn:microsoft.com/office/officeart/2005/8/layout/vList5"/>
    <dgm:cxn modelId="{C04A3D4E-962D-4F7F-BD26-0E50CDE78E8E}" type="presParOf" srcId="{E4D76412-C6C3-48A2-B761-D2B9A4A5C7E2}" destId="{7FAE81B3-DE8F-427D-AEA5-13B7F34C61EE}" srcOrd="0" destOrd="0" presId="urn:microsoft.com/office/officeart/2005/8/layout/vList5"/>
    <dgm:cxn modelId="{934D48F7-32D0-42D4-BD78-22DF92FC2A8A}" type="presParOf" srcId="{E4D76412-C6C3-48A2-B761-D2B9A4A5C7E2}" destId="{5EB0DC7A-C96A-4D7E-8FDE-727864B8FAF4}" srcOrd="1" destOrd="0" presId="urn:microsoft.com/office/officeart/2005/8/layout/vList5"/>
    <dgm:cxn modelId="{0CA71D12-7E9A-4CEF-9409-BE13A7A63A9A}" type="presParOf" srcId="{CCEB4A83-56F0-4633-A16B-0DDE28F651CB}" destId="{CB021F3C-A560-4C45-AC2B-8C44DFB60466}" srcOrd="3" destOrd="0" presId="urn:microsoft.com/office/officeart/2005/8/layout/vList5"/>
    <dgm:cxn modelId="{E52D95E3-FFBF-48DC-8503-1E4053F42ED1}" type="presParOf" srcId="{CCEB4A83-56F0-4633-A16B-0DDE28F651CB}" destId="{314C11F9-B1AF-4A06-A64B-79D3907DB87B}" srcOrd="4" destOrd="0" presId="urn:microsoft.com/office/officeart/2005/8/layout/vList5"/>
    <dgm:cxn modelId="{2D5A1EAD-C149-47AD-9473-0B45B3889A0C}" type="presParOf" srcId="{314C11F9-B1AF-4A06-A64B-79D3907DB87B}" destId="{1B1B2A84-2A64-4D68-81F6-9714B0D3B3D0}" srcOrd="0" destOrd="0" presId="urn:microsoft.com/office/officeart/2005/8/layout/vList5"/>
    <dgm:cxn modelId="{87A6F112-2D9F-4C2C-BB7F-2650DF720D84}" type="presParOf" srcId="{314C11F9-B1AF-4A06-A64B-79D3907DB87B}" destId="{5C9AC65A-F7C4-417F-801A-BF8EDBBF5DDF}" srcOrd="1" destOrd="0" presId="urn:microsoft.com/office/officeart/2005/8/layout/vList5"/>
    <dgm:cxn modelId="{0F3C151C-92DB-47D1-BF1A-FFC8998CB1D5}" type="presParOf" srcId="{CCEB4A83-56F0-4633-A16B-0DDE28F651CB}" destId="{3FDC2433-17E2-4056-B006-5A3DCC48AB1D}" srcOrd="5" destOrd="0" presId="urn:microsoft.com/office/officeart/2005/8/layout/vList5"/>
    <dgm:cxn modelId="{B8356E39-96CB-4229-BDF5-5BAC1CAD31A0}" type="presParOf" srcId="{CCEB4A83-56F0-4633-A16B-0DDE28F651CB}" destId="{4A74E29C-72A3-464C-8974-5A3691C5146D}" srcOrd="6" destOrd="0" presId="urn:microsoft.com/office/officeart/2005/8/layout/vList5"/>
    <dgm:cxn modelId="{96D4F0C1-0E04-42D3-B058-42A13D98675F}" type="presParOf" srcId="{4A74E29C-72A3-464C-8974-5A3691C5146D}" destId="{E0BAD9FA-BFA3-4C3B-98DB-0B4772B1E412}" srcOrd="0" destOrd="0" presId="urn:microsoft.com/office/officeart/2005/8/layout/vList5"/>
    <dgm:cxn modelId="{7EC45B91-CB14-4F2B-9531-A781E99F9989}" type="presParOf" srcId="{4A74E29C-72A3-464C-8974-5A3691C5146D}" destId="{0D3DF23F-9B24-4712-9056-C3DD51B799B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F8D808-4CD0-4757-86CB-E950FB136D28}"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IN"/>
        </a:p>
      </dgm:t>
    </dgm:pt>
    <dgm:pt modelId="{EB2C6443-C988-4667-97BB-A4D846DAD7FC}">
      <dgm:prSet phldrT="[Text]" custT="1"/>
      <dgm:spPr/>
      <dgm:t>
        <a:bodyPr/>
        <a:lstStyle/>
        <a:p>
          <a:r>
            <a:rPr lang="en-GB" sz="2800" b="1" dirty="0"/>
            <a:t>Helps in comparing investment options.</a:t>
          </a:r>
          <a:endParaRPr lang="en-IN" sz="2800" b="1" dirty="0"/>
        </a:p>
      </dgm:t>
    </dgm:pt>
    <dgm:pt modelId="{512D0AF9-F1BB-4AEA-81DB-E932F2929613}" type="parTrans" cxnId="{0871095D-0737-4BBE-97C8-F3A1B400E7E1}">
      <dgm:prSet/>
      <dgm:spPr/>
      <dgm:t>
        <a:bodyPr/>
        <a:lstStyle/>
        <a:p>
          <a:endParaRPr lang="en-IN"/>
        </a:p>
      </dgm:t>
    </dgm:pt>
    <dgm:pt modelId="{EFB08CC3-73BD-414D-ACD6-0082849E471B}" type="sibTrans" cxnId="{0871095D-0737-4BBE-97C8-F3A1B400E7E1}">
      <dgm:prSet/>
      <dgm:spPr/>
      <dgm:t>
        <a:bodyPr/>
        <a:lstStyle/>
        <a:p>
          <a:endParaRPr lang="en-IN"/>
        </a:p>
      </dgm:t>
    </dgm:pt>
    <dgm:pt modelId="{3E22F890-964C-4E99-B275-E1FAA3F6916B}">
      <dgm:prSet custT="1"/>
      <dgm:spPr/>
      <dgm:t>
        <a:bodyPr/>
        <a:lstStyle/>
        <a:p>
          <a:r>
            <a:rPr lang="en-GB" sz="2800" b="1" dirty="0"/>
            <a:t>Useful for calculation of EMI of loan.</a:t>
          </a:r>
        </a:p>
      </dgm:t>
    </dgm:pt>
    <dgm:pt modelId="{8A73C8B3-6DB8-43E4-90D0-B6EAD439684F}" type="parTrans" cxnId="{A6873033-1AED-43BC-9DBD-858636ED1FC9}">
      <dgm:prSet/>
      <dgm:spPr/>
      <dgm:t>
        <a:bodyPr/>
        <a:lstStyle/>
        <a:p>
          <a:endParaRPr lang="en-IN"/>
        </a:p>
      </dgm:t>
    </dgm:pt>
    <dgm:pt modelId="{B7E1DA05-70C9-44E4-8C68-9E33D551698D}" type="sibTrans" cxnId="{A6873033-1AED-43BC-9DBD-858636ED1FC9}">
      <dgm:prSet/>
      <dgm:spPr/>
      <dgm:t>
        <a:bodyPr/>
        <a:lstStyle/>
        <a:p>
          <a:endParaRPr lang="en-IN"/>
        </a:p>
      </dgm:t>
    </dgm:pt>
    <dgm:pt modelId="{E58DED03-E604-4258-953A-599F8699EDBA}">
      <dgm:prSet custT="1"/>
      <dgm:spPr/>
      <dgm:t>
        <a:bodyPr/>
        <a:lstStyle/>
        <a:p>
          <a:r>
            <a:rPr lang="en-GB" sz="2800" b="1" dirty="0"/>
            <a:t>Helps in valuing bonds, insurance, retirement plan.</a:t>
          </a:r>
        </a:p>
      </dgm:t>
    </dgm:pt>
    <dgm:pt modelId="{750F65F2-D7C3-47D2-BD7E-D664BD0FFE06}" type="parTrans" cxnId="{23A19E91-837B-40DA-9B49-419DCD2ECCDF}">
      <dgm:prSet/>
      <dgm:spPr/>
      <dgm:t>
        <a:bodyPr/>
        <a:lstStyle/>
        <a:p>
          <a:endParaRPr lang="en-IN"/>
        </a:p>
      </dgm:t>
    </dgm:pt>
    <dgm:pt modelId="{F56B4CEC-0C37-4A49-A742-650CC1094735}" type="sibTrans" cxnId="{23A19E91-837B-40DA-9B49-419DCD2ECCDF}">
      <dgm:prSet/>
      <dgm:spPr/>
      <dgm:t>
        <a:bodyPr/>
        <a:lstStyle/>
        <a:p>
          <a:endParaRPr lang="en-IN"/>
        </a:p>
      </dgm:t>
    </dgm:pt>
    <dgm:pt modelId="{783094D7-FE20-4F76-A179-81122684E3EB}">
      <dgm:prSet custT="1"/>
      <dgm:spPr/>
      <dgm:t>
        <a:bodyPr/>
        <a:lstStyle/>
        <a:p>
          <a:r>
            <a:rPr lang="en-GB" sz="2800" b="1" dirty="0"/>
            <a:t>Money received today is better than money receivable in future.</a:t>
          </a:r>
        </a:p>
      </dgm:t>
    </dgm:pt>
    <dgm:pt modelId="{78FECA20-0CBC-433C-B1C6-249066B6A610}" type="parTrans" cxnId="{C3C1345C-26AA-44C9-8AC5-538DD7BC0E64}">
      <dgm:prSet/>
      <dgm:spPr/>
      <dgm:t>
        <a:bodyPr/>
        <a:lstStyle/>
        <a:p>
          <a:endParaRPr lang="en-IN"/>
        </a:p>
      </dgm:t>
    </dgm:pt>
    <dgm:pt modelId="{955DC98A-E9D6-499D-85A2-07B29AF95100}" type="sibTrans" cxnId="{C3C1345C-26AA-44C9-8AC5-538DD7BC0E64}">
      <dgm:prSet/>
      <dgm:spPr/>
      <dgm:t>
        <a:bodyPr/>
        <a:lstStyle/>
        <a:p>
          <a:endParaRPr lang="en-IN"/>
        </a:p>
      </dgm:t>
    </dgm:pt>
    <dgm:pt modelId="{8A47ECC9-69F1-443D-A97E-4C058BBBFA91}">
      <dgm:prSet custT="1"/>
      <dgm:spPr/>
      <dgm:t>
        <a:bodyPr/>
        <a:lstStyle/>
        <a:p>
          <a:r>
            <a:rPr lang="en-GB" sz="2800" b="1" dirty="0"/>
            <a:t>TVM helps to understand how value of money changes over a period of time.</a:t>
          </a:r>
          <a:endParaRPr lang="en-IN" sz="2800" b="1" dirty="0"/>
        </a:p>
      </dgm:t>
    </dgm:pt>
    <dgm:pt modelId="{0E5DE7F5-D20F-45DF-9577-17CDCA65845C}" type="parTrans" cxnId="{D915BC69-4A68-4BDF-B43D-73010BD7C353}">
      <dgm:prSet/>
      <dgm:spPr/>
      <dgm:t>
        <a:bodyPr/>
        <a:lstStyle/>
        <a:p>
          <a:endParaRPr lang="en-IN"/>
        </a:p>
      </dgm:t>
    </dgm:pt>
    <dgm:pt modelId="{12647992-E021-4B4B-BE43-FD84C68697E8}" type="sibTrans" cxnId="{D915BC69-4A68-4BDF-B43D-73010BD7C353}">
      <dgm:prSet/>
      <dgm:spPr/>
      <dgm:t>
        <a:bodyPr/>
        <a:lstStyle/>
        <a:p>
          <a:endParaRPr lang="en-IN"/>
        </a:p>
      </dgm:t>
    </dgm:pt>
    <dgm:pt modelId="{BE4BC70D-9CDB-47A7-961F-887948E76EA9}" type="pres">
      <dgm:prSet presAssocID="{1FF8D808-4CD0-4757-86CB-E950FB136D28}" presName="linear" presStyleCnt="0">
        <dgm:presLayoutVars>
          <dgm:animLvl val="lvl"/>
          <dgm:resizeHandles val="exact"/>
        </dgm:presLayoutVars>
      </dgm:prSet>
      <dgm:spPr/>
      <dgm:t>
        <a:bodyPr/>
        <a:lstStyle/>
        <a:p>
          <a:endParaRPr lang="en-US"/>
        </a:p>
      </dgm:t>
    </dgm:pt>
    <dgm:pt modelId="{9665E149-1988-4AD8-80B1-58C5974DDC0D}" type="pres">
      <dgm:prSet presAssocID="{EB2C6443-C988-4667-97BB-A4D846DAD7FC}" presName="parentText" presStyleLbl="node1" presStyleIdx="0" presStyleCnt="5">
        <dgm:presLayoutVars>
          <dgm:chMax val="0"/>
          <dgm:bulletEnabled val="1"/>
        </dgm:presLayoutVars>
      </dgm:prSet>
      <dgm:spPr/>
      <dgm:t>
        <a:bodyPr/>
        <a:lstStyle/>
        <a:p>
          <a:endParaRPr lang="en-US"/>
        </a:p>
      </dgm:t>
    </dgm:pt>
    <dgm:pt modelId="{154A1BC5-DF2E-417E-B27B-400029474DF5}" type="pres">
      <dgm:prSet presAssocID="{EFB08CC3-73BD-414D-ACD6-0082849E471B}" presName="spacer" presStyleCnt="0"/>
      <dgm:spPr/>
    </dgm:pt>
    <dgm:pt modelId="{27FC0903-9BDE-4C17-A377-DC006F32EFD5}" type="pres">
      <dgm:prSet presAssocID="{3E22F890-964C-4E99-B275-E1FAA3F6916B}" presName="parentText" presStyleLbl="node1" presStyleIdx="1" presStyleCnt="5">
        <dgm:presLayoutVars>
          <dgm:chMax val="0"/>
          <dgm:bulletEnabled val="1"/>
        </dgm:presLayoutVars>
      </dgm:prSet>
      <dgm:spPr/>
      <dgm:t>
        <a:bodyPr/>
        <a:lstStyle/>
        <a:p>
          <a:endParaRPr lang="en-US"/>
        </a:p>
      </dgm:t>
    </dgm:pt>
    <dgm:pt modelId="{960C7ED6-D375-4C3C-8E41-1C722D74A59E}" type="pres">
      <dgm:prSet presAssocID="{B7E1DA05-70C9-44E4-8C68-9E33D551698D}" presName="spacer" presStyleCnt="0"/>
      <dgm:spPr/>
    </dgm:pt>
    <dgm:pt modelId="{6CC32D41-0014-4935-B486-7007A43BFB62}" type="pres">
      <dgm:prSet presAssocID="{E58DED03-E604-4258-953A-599F8699EDBA}" presName="parentText" presStyleLbl="node1" presStyleIdx="2" presStyleCnt="5">
        <dgm:presLayoutVars>
          <dgm:chMax val="0"/>
          <dgm:bulletEnabled val="1"/>
        </dgm:presLayoutVars>
      </dgm:prSet>
      <dgm:spPr/>
      <dgm:t>
        <a:bodyPr/>
        <a:lstStyle/>
        <a:p>
          <a:endParaRPr lang="en-US"/>
        </a:p>
      </dgm:t>
    </dgm:pt>
    <dgm:pt modelId="{DFAFF963-72A6-4894-909A-1DBBA07156CB}" type="pres">
      <dgm:prSet presAssocID="{F56B4CEC-0C37-4A49-A742-650CC1094735}" presName="spacer" presStyleCnt="0"/>
      <dgm:spPr/>
    </dgm:pt>
    <dgm:pt modelId="{A7742A8F-C8A1-4FCF-B09D-DBC3BDADA628}" type="pres">
      <dgm:prSet presAssocID="{783094D7-FE20-4F76-A179-81122684E3EB}" presName="parentText" presStyleLbl="node1" presStyleIdx="3" presStyleCnt="5">
        <dgm:presLayoutVars>
          <dgm:chMax val="0"/>
          <dgm:bulletEnabled val="1"/>
        </dgm:presLayoutVars>
      </dgm:prSet>
      <dgm:spPr/>
      <dgm:t>
        <a:bodyPr/>
        <a:lstStyle/>
        <a:p>
          <a:endParaRPr lang="en-US"/>
        </a:p>
      </dgm:t>
    </dgm:pt>
    <dgm:pt modelId="{00BCC44E-96CA-49D4-8F85-0A9F3B84C8C0}" type="pres">
      <dgm:prSet presAssocID="{955DC98A-E9D6-499D-85A2-07B29AF95100}" presName="spacer" presStyleCnt="0"/>
      <dgm:spPr/>
    </dgm:pt>
    <dgm:pt modelId="{489DF89F-71A6-4284-9B3B-E5E8407C98B6}" type="pres">
      <dgm:prSet presAssocID="{8A47ECC9-69F1-443D-A97E-4C058BBBFA91}" presName="parentText" presStyleLbl="node1" presStyleIdx="4" presStyleCnt="5">
        <dgm:presLayoutVars>
          <dgm:chMax val="0"/>
          <dgm:bulletEnabled val="1"/>
        </dgm:presLayoutVars>
      </dgm:prSet>
      <dgm:spPr/>
      <dgm:t>
        <a:bodyPr/>
        <a:lstStyle/>
        <a:p>
          <a:endParaRPr lang="en-US"/>
        </a:p>
      </dgm:t>
    </dgm:pt>
  </dgm:ptLst>
  <dgm:cxnLst>
    <dgm:cxn modelId="{51358491-1E6F-4425-B1E0-2D9631FE1F1F}" type="presOf" srcId="{EB2C6443-C988-4667-97BB-A4D846DAD7FC}" destId="{9665E149-1988-4AD8-80B1-58C5974DDC0D}" srcOrd="0" destOrd="0" presId="urn:microsoft.com/office/officeart/2005/8/layout/vList2"/>
    <dgm:cxn modelId="{62D3C807-42D5-415A-93A0-D26B01FD4302}" type="presOf" srcId="{8A47ECC9-69F1-443D-A97E-4C058BBBFA91}" destId="{489DF89F-71A6-4284-9B3B-E5E8407C98B6}" srcOrd="0" destOrd="0" presId="urn:microsoft.com/office/officeart/2005/8/layout/vList2"/>
    <dgm:cxn modelId="{D915BC69-4A68-4BDF-B43D-73010BD7C353}" srcId="{1FF8D808-4CD0-4757-86CB-E950FB136D28}" destId="{8A47ECC9-69F1-443D-A97E-4C058BBBFA91}" srcOrd="4" destOrd="0" parTransId="{0E5DE7F5-D20F-45DF-9577-17CDCA65845C}" sibTransId="{12647992-E021-4B4B-BE43-FD84C68697E8}"/>
    <dgm:cxn modelId="{C3C1345C-26AA-44C9-8AC5-538DD7BC0E64}" srcId="{1FF8D808-4CD0-4757-86CB-E950FB136D28}" destId="{783094D7-FE20-4F76-A179-81122684E3EB}" srcOrd="3" destOrd="0" parTransId="{78FECA20-0CBC-433C-B1C6-249066B6A610}" sibTransId="{955DC98A-E9D6-499D-85A2-07B29AF95100}"/>
    <dgm:cxn modelId="{23A19E91-837B-40DA-9B49-419DCD2ECCDF}" srcId="{1FF8D808-4CD0-4757-86CB-E950FB136D28}" destId="{E58DED03-E604-4258-953A-599F8699EDBA}" srcOrd="2" destOrd="0" parTransId="{750F65F2-D7C3-47D2-BD7E-D664BD0FFE06}" sibTransId="{F56B4CEC-0C37-4A49-A742-650CC1094735}"/>
    <dgm:cxn modelId="{00032832-8BE2-4A59-B3D4-667B00E62C92}" type="presOf" srcId="{1FF8D808-4CD0-4757-86CB-E950FB136D28}" destId="{BE4BC70D-9CDB-47A7-961F-887948E76EA9}" srcOrd="0" destOrd="0" presId="urn:microsoft.com/office/officeart/2005/8/layout/vList2"/>
    <dgm:cxn modelId="{A6873033-1AED-43BC-9DBD-858636ED1FC9}" srcId="{1FF8D808-4CD0-4757-86CB-E950FB136D28}" destId="{3E22F890-964C-4E99-B275-E1FAA3F6916B}" srcOrd="1" destOrd="0" parTransId="{8A73C8B3-6DB8-43E4-90D0-B6EAD439684F}" sibTransId="{B7E1DA05-70C9-44E4-8C68-9E33D551698D}"/>
    <dgm:cxn modelId="{0871095D-0737-4BBE-97C8-F3A1B400E7E1}" srcId="{1FF8D808-4CD0-4757-86CB-E950FB136D28}" destId="{EB2C6443-C988-4667-97BB-A4D846DAD7FC}" srcOrd="0" destOrd="0" parTransId="{512D0AF9-F1BB-4AEA-81DB-E932F2929613}" sibTransId="{EFB08CC3-73BD-414D-ACD6-0082849E471B}"/>
    <dgm:cxn modelId="{356350B3-DA5B-47F7-A619-5846A21587E0}" type="presOf" srcId="{3E22F890-964C-4E99-B275-E1FAA3F6916B}" destId="{27FC0903-9BDE-4C17-A377-DC006F32EFD5}" srcOrd="0" destOrd="0" presId="urn:microsoft.com/office/officeart/2005/8/layout/vList2"/>
    <dgm:cxn modelId="{1B630885-0D7B-4A30-9A8C-4B20210F7968}" type="presOf" srcId="{E58DED03-E604-4258-953A-599F8699EDBA}" destId="{6CC32D41-0014-4935-B486-7007A43BFB62}" srcOrd="0" destOrd="0" presId="urn:microsoft.com/office/officeart/2005/8/layout/vList2"/>
    <dgm:cxn modelId="{01A1723E-05B5-4F77-9018-FB3DFA162D65}" type="presOf" srcId="{783094D7-FE20-4F76-A179-81122684E3EB}" destId="{A7742A8F-C8A1-4FCF-B09D-DBC3BDADA628}" srcOrd="0" destOrd="0" presId="urn:microsoft.com/office/officeart/2005/8/layout/vList2"/>
    <dgm:cxn modelId="{BD3346F2-75A3-45FF-A892-0B453FC8B78F}" type="presParOf" srcId="{BE4BC70D-9CDB-47A7-961F-887948E76EA9}" destId="{9665E149-1988-4AD8-80B1-58C5974DDC0D}" srcOrd="0" destOrd="0" presId="urn:microsoft.com/office/officeart/2005/8/layout/vList2"/>
    <dgm:cxn modelId="{9F3AB224-A61F-4E52-AC02-F27F6F900426}" type="presParOf" srcId="{BE4BC70D-9CDB-47A7-961F-887948E76EA9}" destId="{154A1BC5-DF2E-417E-B27B-400029474DF5}" srcOrd="1" destOrd="0" presId="urn:microsoft.com/office/officeart/2005/8/layout/vList2"/>
    <dgm:cxn modelId="{5EB79390-9134-43F4-BBA6-DD63249D08DA}" type="presParOf" srcId="{BE4BC70D-9CDB-47A7-961F-887948E76EA9}" destId="{27FC0903-9BDE-4C17-A377-DC006F32EFD5}" srcOrd="2" destOrd="0" presId="urn:microsoft.com/office/officeart/2005/8/layout/vList2"/>
    <dgm:cxn modelId="{9F7217D3-BF13-47C3-8918-EDB69AA9B922}" type="presParOf" srcId="{BE4BC70D-9CDB-47A7-961F-887948E76EA9}" destId="{960C7ED6-D375-4C3C-8E41-1C722D74A59E}" srcOrd="3" destOrd="0" presId="urn:microsoft.com/office/officeart/2005/8/layout/vList2"/>
    <dgm:cxn modelId="{ACD79D40-6656-49D8-B3D9-EFD8DE0140DE}" type="presParOf" srcId="{BE4BC70D-9CDB-47A7-961F-887948E76EA9}" destId="{6CC32D41-0014-4935-B486-7007A43BFB62}" srcOrd="4" destOrd="0" presId="urn:microsoft.com/office/officeart/2005/8/layout/vList2"/>
    <dgm:cxn modelId="{35183F9E-C13A-4029-AB78-71D58BA0BAB5}" type="presParOf" srcId="{BE4BC70D-9CDB-47A7-961F-887948E76EA9}" destId="{DFAFF963-72A6-4894-909A-1DBBA07156CB}" srcOrd="5" destOrd="0" presId="urn:microsoft.com/office/officeart/2005/8/layout/vList2"/>
    <dgm:cxn modelId="{D10BDE0B-25D1-4174-B5F8-08F7201BF922}" type="presParOf" srcId="{BE4BC70D-9CDB-47A7-961F-887948E76EA9}" destId="{A7742A8F-C8A1-4FCF-B09D-DBC3BDADA628}" srcOrd="6" destOrd="0" presId="urn:microsoft.com/office/officeart/2005/8/layout/vList2"/>
    <dgm:cxn modelId="{27E283E1-BF33-4F34-B2AC-FD959D5C1D8C}" type="presParOf" srcId="{BE4BC70D-9CDB-47A7-961F-887948E76EA9}" destId="{00BCC44E-96CA-49D4-8F85-0A9F3B84C8C0}" srcOrd="7" destOrd="0" presId="urn:microsoft.com/office/officeart/2005/8/layout/vList2"/>
    <dgm:cxn modelId="{76C0ED85-0275-48BA-B71A-FE58298E3E4D}" type="presParOf" srcId="{BE4BC70D-9CDB-47A7-961F-887948E76EA9}" destId="{489DF89F-71A6-4284-9B3B-E5E8407C98B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9A61007-0360-4BBE-A9AC-723BBFB16DEC}"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IN"/>
        </a:p>
      </dgm:t>
    </dgm:pt>
    <dgm:pt modelId="{BB166948-BF2E-4985-AEBB-6BD8848E855E}">
      <dgm:prSet phldrT="[Text]" custT="1"/>
      <dgm:spPr/>
      <dgm:t>
        <a:bodyPr/>
        <a:lstStyle/>
        <a:p>
          <a:r>
            <a:rPr lang="en-GB" sz="2600" b="1" dirty="0"/>
            <a:t>Medium of Exchange</a:t>
          </a:r>
          <a:endParaRPr lang="en-IN" sz="2600" b="1" dirty="0"/>
        </a:p>
      </dgm:t>
    </dgm:pt>
    <dgm:pt modelId="{AF145B87-6A89-4DFC-AB57-FC379090B0E2}" type="parTrans" cxnId="{05B869F0-E3AC-4F2A-8BE3-A3C73017FE01}">
      <dgm:prSet/>
      <dgm:spPr/>
      <dgm:t>
        <a:bodyPr/>
        <a:lstStyle/>
        <a:p>
          <a:endParaRPr lang="en-IN"/>
        </a:p>
      </dgm:t>
    </dgm:pt>
    <dgm:pt modelId="{86AE47A7-AFAF-4883-82F4-ADA71DE0F166}" type="sibTrans" cxnId="{05B869F0-E3AC-4F2A-8BE3-A3C73017FE01}">
      <dgm:prSet/>
      <dgm:spPr/>
      <dgm:t>
        <a:bodyPr/>
        <a:lstStyle/>
        <a:p>
          <a:endParaRPr lang="en-IN"/>
        </a:p>
      </dgm:t>
    </dgm:pt>
    <dgm:pt modelId="{0DDB9E32-2911-424C-972C-FAA4FACA26F7}">
      <dgm:prSet custT="1"/>
      <dgm:spPr/>
      <dgm:t>
        <a:bodyPr/>
        <a:lstStyle/>
        <a:p>
          <a:r>
            <a:rPr lang="en-GB" sz="2600" b="1" dirty="0"/>
            <a:t>Store of Value </a:t>
          </a:r>
        </a:p>
      </dgm:t>
    </dgm:pt>
    <dgm:pt modelId="{5A751E41-8C19-4549-BADF-CCEAF09AFE28}" type="parTrans" cxnId="{9E868BA4-A469-4CEA-A9E8-0A34E6343912}">
      <dgm:prSet/>
      <dgm:spPr/>
      <dgm:t>
        <a:bodyPr/>
        <a:lstStyle/>
        <a:p>
          <a:endParaRPr lang="en-IN"/>
        </a:p>
      </dgm:t>
    </dgm:pt>
    <dgm:pt modelId="{774AF9BD-8A8C-4C4D-9443-C35DC3BDEF67}" type="sibTrans" cxnId="{9E868BA4-A469-4CEA-A9E8-0A34E6343912}">
      <dgm:prSet/>
      <dgm:spPr/>
      <dgm:t>
        <a:bodyPr/>
        <a:lstStyle/>
        <a:p>
          <a:endParaRPr lang="en-IN"/>
        </a:p>
      </dgm:t>
    </dgm:pt>
    <dgm:pt modelId="{8E0CABA5-BA3C-4650-9049-8731A7ACDEA1}">
      <dgm:prSet custT="1"/>
      <dgm:spPr/>
      <dgm:t>
        <a:bodyPr/>
        <a:lstStyle/>
        <a:p>
          <a:r>
            <a:rPr lang="en-GB" sz="2600" b="1" dirty="0"/>
            <a:t>Unit of Account </a:t>
          </a:r>
        </a:p>
      </dgm:t>
    </dgm:pt>
    <dgm:pt modelId="{F4C8D868-7726-4E1F-B3CC-B9FB3EDDF61B}" type="parTrans" cxnId="{BEEB36D9-0798-42D9-8C41-7559BAB68B33}">
      <dgm:prSet/>
      <dgm:spPr/>
      <dgm:t>
        <a:bodyPr/>
        <a:lstStyle/>
        <a:p>
          <a:endParaRPr lang="en-IN"/>
        </a:p>
      </dgm:t>
    </dgm:pt>
    <dgm:pt modelId="{80CA09C3-27F7-45A4-A3FE-49F328840291}" type="sibTrans" cxnId="{BEEB36D9-0798-42D9-8C41-7559BAB68B33}">
      <dgm:prSet/>
      <dgm:spPr/>
      <dgm:t>
        <a:bodyPr/>
        <a:lstStyle/>
        <a:p>
          <a:endParaRPr lang="en-IN"/>
        </a:p>
      </dgm:t>
    </dgm:pt>
    <dgm:pt modelId="{363641A9-38F6-4FE3-AC4A-31517B6FDDEF}">
      <dgm:prSet custT="1"/>
      <dgm:spPr/>
      <dgm:t>
        <a:bodyPr/>
        <a:lstStyle/>
        <a:p>
          <a:r>
            <a:rPr lang="en-GB" sz="2600" b="1" dirty="0"/>
            <a:t>Liquidity </a:t>
          </a:r>
        </a:p>
      </dgm:t>
    </dgm:pt>
    <dgm:pt modelId="{88723191-809D-4DA9-9393-25BB4BBA03C0}" type="parTrans" cxnId="{6EDAE986-6605-424E-99B5-3192983E20A4}">
      <dgm:prSet/>
      <dgm:spPr/>
      <dgm:t>
        <a:bodyPr/>
        <a:lstStyle/>
        <a:p>
          <a:endParaRPr lang="en-IN"/>
        </a:p>
      </dgm:t>
    </dgm:pt>
    <dgm:pt modelId="{88B2AF8E-55D1-461C-AE08-10229789BDE3}" type="sibTrans" cxnId="{6EDAE986-6605-424E-99B5-3192983E20A4}">
      <dgm:prSet/>
      <dgm:spPr/>
      <dgm:t>
        <a:bodyPr/>
        <a:lstStyle/>
        <a:p>
          <a:endParaRPr lang="en-IN"/>
        </a:p>
      </dgm:t>
    </dgm:pt>
    <dgm:pt modelId="{A61898BD-0238-45D8-9E79-465D0D3E326F}">
      <dgm:prSet custT="1"/>
      <dgm:spPr/>
      <dgm:t>
        <a:bodyPr/>
        <a:lstStyle/>
        <a:p>
          <a:r>
            <a:rPr lang="en-GB" sz="2600" b="1" dirty="0"/>
            <a:t>Standard of Deferred Payment </a:t>
          </a:r>
        </a:p>
      </dgm:t>
    </dgm:pt>
    <dgm:pt modelId="{D68A192A-5D87-4641-92C1-55D6A99534BA}" type="parTrans" cxnId="{20D871BD-5573-4437-BC6E-9C7D4563BBB0}">
      <dgm:prSet/>
      <dgm:spPr/>
      <dgm:t>
        <a:bodyPr/>
        <a:lstStyle/>
        <a:p>
          <a:endParaRPr lang="en-IN"/>
        </a:p>
      </dgm:t>
    </dgm:pt>
    <dgm:pt modelId="{4A790736-3CAA-4364-A2A4-4D5BEA33B3F3}" type="sibTrans" cxnId="{20D871BD-5573-4437-BC6E-9C7D4563BBB0}">
      <dgm:prSet/>
      <dgm:spPr/>
      <dgm:t>
        <a:bodyPr/>
        <a:lstStyle/>
        <a:p>
          <a:endParaRPr lang="en-IN"/>
        </a:p>
      </dgm:t>
    </dgm:pt>
    <dgm:pt modelId="{C83D5849-EE36-409D-ACEE-4AC8B02D31CF}">
      <dgm:prSet custT="1"/>
      <dgm:spPr/>
      <dgm:t>
        <a:bodyPr/>
        <a:lstStyle/>
        <a:p>
          <a:r>
            <a:rPr lang="en-GB" sz="2600" b="1" dirty="0"/>
            <a:t>Easy to Carry and Store </a:t>
          </a:r>
        </a:p>
      </dgm:t>
    </dgm:pt>
    <dgm:pt modelId="{997F8D32-93BD-4876-B4C7-93772A6F6AE7}" type="parTrans" cxnId="{8DDFD1CF-768F-42C2-81B8-056FD90C1C00}">
      <dgm:prSet/>
      <dgm:spPr/>
      <dgm:t>
        <a:bodyPr/>
        <a:lstStyle/>
        <a:p>
          <a:endParaRPr lang="en-IN"/>
        </a:p>
      </dgm:t>
    </dgm:pt>
    <dgm:pt modelId="{9796386C-39F5-4624-BE6C-B51B2469540E}" type="sibTrans" cxnId="{8DDFD1CF-768F-42C2-81B8-056FD90C1C00}">
      <dgm:prSet/>
      <dgm:spPr/>
      <dgm:t>
        <a:bodyPr/>
        <a:lstStyle/>
        <a:p>
          <a:endParaRPr lang="en-IN"/>
        </a:p>
      </dgm:t>
    </dgm:pt>
    <dgm:pt modelId="{E0915697-62B0-43F8-A82C-F69F9C9A5406}">
      <dgm:prSet custT="1"/>
      <dgm:spPr/>
      <dgm:t>
        <a:bodyPr/>
        <a:lstStyle/>
        <a:p>
          <a:r>
            <a:rPr lang="en-GB" sz="2600" b="1" dirty="0"/>
            <a:t>Legal Tender</a:t>
          </a:r>
          <a:endParaRPr lang="en-IN" sz="2600" b="1" dirty="0"/>
        </a:p>
      </dgm:t>
    </dgm:pt>
    <dgm:pt modelId="{16CA9C98-3E80-4BDA-9062-53A577ABDBF2}" type="parTrans" cxnId="{8A613323-CB22-42A9-8C50-F13E07B18803}">
      <dgm:prSet/>
      <dgm:spPr/>
      <dgm:t>
        <a:bodyPr/>
        <a:lstStyle/>
        <a:p>
          <a:endParaRPr lang="en-IN"/>
        </a:p>
      </dgm:t>
    </dgm:pt>
    <dgm:pt modelId="{91CEB523-FD85-4AF7-87E2-14D93E76D567}" type="sibTrans" cxnId="{8A613323-CB22-42A9-8C50-F13E07B18803}">
      <dgm:prSet/>
      <dgm:spPr/>
      <dgm:t>
        <a:bodyPr/>
        <a:lstStyle/>
        <a:p>
          <a:endParaRPr lang="en-IN"/>
        </a:p>
      </dgm:t>
    </dgm:pt>
    <dgm:pt modelId="{C52AE655-68F4-4818-97E2-B61B46C552BF}" type="pres">
      <dgm:prSet presAssocID="{A9A61007-0360-4BBE-A9AC-723BBFB16DEC}" presName="Name0" presStyleCnt="0">
        <dgm:presLayoutVars>
          <dgm:chMax val="7"/>
          <dgm:chPref val="7"/>
          <dgm:dir/>
        </dgm:presLayoutVars>
      </dgm:prSet>
      <dgm:spPr/>
      <dgm:t>
        <a:bodyPr/>
        <a:lstStyle/>
        <a:p>
          <a:endParaRPr lang="en-US"/>
        </a:p>
      </dgm:t>
    </dgm:pt>
    <dgm:pt modelId="{301A1913-7292-4A50-A7FB-39D0376B8CFC}" type="pres">
      <dgm:prSet presAssocID="{A9A61007-0360-4BBE-A9AC-723BBFB16DEC}" presName="Name1" presStyleCnt="0"/>
      <dgm:spPr/>
    </dgm:pt>
    <dgm:pt modelId="{DA7A6B15-6F30-4421-A548-20849A5C759E}" type="pres">
      <dgm:prSet presAssocID="{A9A61007-0360-4BBE-A9AC-723BBFB16DEC}" presName="cycle" presStyleCnt="0"/>
      <dgm:spPr/>
    </dgm:pt>
    <dgm:pt modelId="{8BDD134C-AE92-477F-85FD-D83DCE7F5266}" type="pres">
      <dgm:prSet presAssocID="{A9A61007-0360-4BBE-A9AC-723BBFB16DEC}" presName="srcNode" presStyleLbl="node1" presStyleIdx="0" presStyleCnt="7"/>
      <dgm:spPr/>
    </dgm:pt>
    <dgm:pt modelId="{2862DD43-F80D-47B8-8547-B234439332DF}" type="pres">
      <dgm:prSet presAssocID="{A9A61007-0360-4BBE-A9AC-723BBFB16DEC}" presName="conn" presStyleLbl="parChTrans1D2" presStyleIdx="0" presStyleCnt="1"/>
      <dgm:spPr/>
      <dgm:t>
        <a:bodyPr/>
        <a:lstStyle/>
        <a:p>
          <a:endParaRPr lang="en-US"/>
        </a:p>
      </dgm:t>
    </dgm:pt>
    <dgm:pt modelId="{01932F96-BE26-4BED-B14B-09CFD9A61FD6}" type="pres">
      <dgm:prSet presAssocID="{A9A61007-0360-4BBE-A9AC-723BBFB16DEC}" presName="extraNode" presStyleLbl="node1" presStyleIdx="0" presStyleCnt="7"/>
      <dgm:spPr/>
    </dgm:pt>
    <dgm:pt modelId="{EBC2D043-7AB9-44FF-8E55-9AA9CDC0B823}" type="pres">
      <dgm:prSet presAssocID="{A9A61007-0360-4BBE-A9AC-723BBFB16DEC}" presName="dstNode" presStyleLbl="node1" presStyleIdx="0" presStyleCnt="7"/>
      <dgm:spPr/>
    </dgm:pt>
    <dgm:pt modelId="{5EA7E7E4-4E34-43FD-8C15-453084D772D1}" type="pres">
      <dgm:prSet presAssocID="{BB166948-BF2E-4985-AEBB-6BD8848E855E}" presName="text_1" presStyleLbl="node1" presStyleIdx="0" presStyleCnt="7">
        <dgm:presLayoutVars>
          <dgm:bulletEnabled val="1"/>
        </dgm:presLayoutVars>
      </dgm:prSet>
      <dgm:spPr/>
      <dgm:t>
        <a:bodyPr/>
        <a:lstStyle/>
        <a:p>
          <a:endParaRPr lang="en-US"/>
        </a:p>
      </dgm:t>
    </dgm:pt>
    <dgm:pt modelId="{DA7DF479-8808-4A74-8511-D0418E7E3C60}" type="pres">
      <dgm:prSet presAssocID="{BB166948-BF2E-4985-AEBB-6BD8848E855E}" presName="accent_1" presStyleCnt="0"/>
      <dgm:spPr/>
    </dgm:pt>
    <dgm:pt modelId="{1C8D0B53-DC70-4CAB-BB98-02F808C9688D}" type="pres">
      <dgm:prSet presAssocID="{BB166948-BF2E-4985-AEBB-6BD8848E855E}" presName="accentRepeatNode" presStyleLbl="solidFgAcc1" presStyleIdx="0" presStyleCnt="7"/>
      <dgm:spPr/>
    </dgm:pt>
    <dgm:pt modelId="{809A5FFC-7489-4C4B-9F3D-DBDD6E034C46}" type="pres">
      <dgm:prSet presAssocID="{0DDB9E32-2911-424C-972C-FAA4FACA26F7}" presName="text_2" presStyleLbl="node1" presStyleIdx="1" presStyleCnt="7">
        <dgm:presLayoutVars>
          <dgm:bulletEnabled val="1"/>
        </dgm:presLayoutVars>
      </dgm:prSet>
      <dgm:spPr/>
      <dgm:t>
        <a:bodyPr/>
        <a:lstStyle/>
        <a:p>
          <a:endParaRPr lang="en-US"/>
        </a:p>
      </dgm:t>
    </dgm:pt>
    <dgm:pt modelId="{AE16EF2B-F7B3-44CA-91F3-D7E0CA73C0CB}" type="pres">
      <dgm:prSet presAssocID="{0DDB9E32-2911-424C-972C-FAA4FACA26F7}" presName="accent_2" presStyleCnt="0"/>
      <dgm:spPr/>
    </dgm:pt>
    <dgm:pt modelId="{005A9234-978E-439A-996B-DC800781B563}" type="pres">
      <dgm:prSet presAssocID="{0DDB9E32-2911-424C-972C-FAA4FACA26F7}" presName="accentRepeatNode" presStyleLbl="solidFgAcc1" presStyleIdx="1" presStyleCnt="7"/>
      <dgm:spPr/>
    </dgm:pt>
    <dgm:pt modelId="{EEB3B022-260C-4D77-A3D0-40F865EF887F}" type="pres">
      <dgm:prSet presAssocID="{8E0CABA5-BA3C-4650-9049-8731A7ACDEA1}" presName="text_3" presStyleLbl="node1" presStyleIdx="2" presStyleCnt="7">
        <dgm:presLayoutVars>
          <dgm:bulletEnabled val="1"/>
        </dgm:presLayoutVars>
      </dgm:prSet>
      <dgm:spPr/>
      <dgm:t>
        <a:bodyPr/>
        <a:lstStyle/>
        <a:p>
          <a:endParaRPr lang="en-US"/>
        </a:p>
      </dgm:t>
    </dgm:pt>
    <dgm:pt modelId="{5934D3F2-2FDB-4961-9EB1-86FB76EBCE79}" type="pres">
      <dgm:prSet presAssocID="{8E0CABA5-BA3C-4650-9049-8731A7ACDEA1}" presName="accent_3" presStyleCnt="0"/>
      <dgm:spPr/>
    </dgm:pt>
    <dgm:pt modelId="{10EAAC73-2256-4526-B1AF-5CD3B50781E3}" type="pres">
      <dgm:prSet presAssocID="{8E0CABA5-BA3C-4650-9049-8731A7ACDEA1}" presName="accentRepeatNode" presStyleLbl="solidFgAcc1" presStyleIdx="2" presStyleCnt="7"/>
      <dgm:spPr/>
    </dgm:pt>
    <dgm:pt modelId="{F493B768-8F44-4AA2-A2C0-D4E049E04FCB}" type="pres">
      <dgm:prSet presAssocID="{363641A9-38F6-4FE3-AC4A-31517B6FDDEF}" presName="text_4" presStyleLbl="node1" presStyleIdx="3" presStyleCnt="7">
        <dgm:presLayoutVars>
          <dgm:bulletEnabled val="1"/>
        </dgm:presLayoutVars>
      </dgm:prSet>
      <dgm:spPr/>
      <dgm:t>
        <a:bodyPr/>
        <a:lstStyle/>
        <a:p>
          <a:endParaRPr lang="en-US"/>
        </a:p>
      </dgm:t>
    </dgm:pt>
    <dgm:pt modelId="{08717DE2-8526-4E18-8E7A-6F2A4164A585}" type="pres">
      <dgm:prSet presAssocID="{363641A9-38F6-4FE3-AC4A-31517B6FDDEF}" presName="accent_4" presStyleCnt="0"/>
      <dgm:spPr/>
    </dgm:pt>
    <dgm:pt modelId="{E333FF7E-618D-4FB9-8CB4-837BAF9C7932}" type="pres">
      <dgm:prSet presAssocID="{363641A9-38F6-4FE3-AC4A-31517B6FDDEF}" presName="accentRepeatNode" presStyleLbl="solidFgAcc1" presStyleIdx="3" presStyleCnt="7"/>
      <dgm:spPr/>
    </dgm:pt>
    <dgm:pt modelId="{1A0D64C3-132E-4B3F-9605-F2F2D8A621FF}" type="pres">
      <dgm:prSet presAssocID="{A61898BD-0238-45D8-9E79-465D0D3E326F}" presName="text_5" presStyleLbl="node1" presStyleIdx="4" presStyleCnt="7">
        <dgm:presLayoutVars>
          <dgm:bulletEnabled val="1"/>
        </dgm:presLayoutVars>
      </dgm:prSet>
      <dgm:spPr/>
      <dgm:t>
        <a:bodyPr/>
        <a:lstStyle/>
        <a:p>
          <a:endParaRPr lang="en-US"/>
        </a:p>
      </dgm:t>
    </dgm:pt>
    <dgm:pt modelId="{A49FD062-FE31-4CAA-A5F9-DC3026EB74EE}" type="pres">
      <dgm:prSet presAssocID="{A61898BD-0238-45D8-9E79-465D0D3E326F}" presName="accent_5" presStyleCnt="0"/>
      <dgm:spPr/>
    </dgm:pt>
    <dgm:pt modelId="{383356B6-90A4-4056-BC94-275F89E4E833}" type="pres">
      <dgm:prSet presAssocID="{A61898BD-0238-45D8-9E79-465D0D3E326F}" presName="accentRepeatNode" presStyleLbl="solidFgAcc1" presStyleIdx="4" presStyleCnt="7"/>
      <dgm:spPr/>
    </dgm:pt>
    <dgm:pt modelId="{C796B6E7-4373-4356-BFB5-DCBD03A5E96D}" type="pres">
      <dgm:prSet presAssocID="{C83D5849-EE36-409D-ACEE-4AC8B02D31CF}" presName="text_6" presStyleLbl="node1" presStyleIdx="5" presStyleCnt="7">
        <dgm:presLayoutVars>
          <dgm:bulletEnabled val="1"/>
        </dgm:presLayoutVars>
      </dgm:prSet>
      <dgm:spPr/>
      <dgm:t>
        <a:bodyPr/>
        <a:lstStyle/>
        <a:p>
          <a:endParaRPr lang="en-US"/>
        </a:p>
      </dgm:t>
    </dgm:pt>
    <dgm:pt modelId="{BE226191-DA43-4A6F-BFCA-B6B1EB1C9CB5}" type="pres">
      <dgm:prSet presAssocID="{C83D5849-EE36-409D-ACEE-4AC8B02D31CF}" presName="accent_6" presStyleCnt="0"/>
      <dgm:spPr/>
    </dgm:pt>
    <dgm:pt modelId="{30E70506-318C-4057-850E-199A8EB6FA69}" type="pres">
      <dgm:prSet presAssocID="{C83D5849-EE36-409D-ACEE-4AC8B02D31CF}" presName="accentRepeatNode" presStyleLbl="solidFgAcc1" presStyleIdx="5" presStyleCnt="7"/>
      <dgm:spPr/>
    </dgm:pt>
    <dgm:pt modelId="{232C2F63-3A8A-44A8-84F7-43148EF74A45}" type="pres">
      <dgm:prSet presAssocID="{E0915697-62B0-43F8-A82C-F69F9C9A5406}" presName="text_7" presStyleLbl="node1" presStyleIdx="6" presStyleCnt="7">
        <dgm:presLayoutVars>
          <dgm:bulletEnabled val="1"/>
        </dgm:presLayoutVars>
      </dgm:prSet>
      <dgm:spPr/>
      <dgm:t>
        <a:bodyPr/>
        <a:lstStyle/>
        <a:p>
          <a:endParaRPr lang="en-US"/>
        </a:p>
      </dgm:t>
    </dgm:pt>
    <dgm:pt modelId="{DBA1AE26-651C-47B2-A279-8D522C03BF9F}" type="pres">
      <dgm:prSet presAssocID="{E0915697-62B0-43F8-A82C-F69F9C9A5406}" presName="accent_7" presStyleCnt="0"/>
      <dgm:spPr/>
    </dgm:pt>
    <dgm:pt modelId="{518573A8-5700-4CB7-8AC6-0A9E34BC3BAF}" type="pres">
      <dgm:prSet presAssocID="{E0915697-62B0-43F8-A82C-F69F9C9A5406}" presName="accentRepeatNode" presStyleLbl="solidFgAcc1" presStyleIdx="6" presStyleCnt="7"/>
      <dgm:spPr/>
    </dgm:pt>
  </dgm:ptLst>
  <dgm:cxnLst>
    <dgm:cxn modelId="{10EF16CE-E707-4C92-B62D-0EB621581BA9}" type="presOf" srcId="{86AE47A7-AFAF-4883-82F4-ADA71DE0F166}" destId="{2862DD43-F80D-47B8-8547-B234439332DF}" srcOrd="0" destOrd="0" presId="urn:microsoft.com/office/officeart/2008/layout/VerticalCurvedList"/>
    <dgm:cxn modelId="{BEEB36D9-0798-42D9-8C41-7559BAB68B33}" srcId="{A9A61007-0360-4BBE-A9AC-723BBFB16DEC}" destId="{8E0CABA5-BA3C-4650-9049-8731A7ACDEA1}" srcOrd="2" destOrd="0" parTransId="{F4C8D868-7726-4E1F-B3CC-B9FB3EDDF61B}" sibTransId="{80CA09C3-27F7-45A4-A3FE-49F328840291}"/>
    <dgm:cxn modelId="{F66F3B8B-9104-4D75-903A-99119DF30BD2}" type="presOf" srcId="{BB166948-BF2E-4985-AEBB-6BD8848E855E}" destId="{5EA7E7E4-4E34-43FD-8C15-453084D772D1}" srcOrd="0" destOrd="0" presId="urn:microsoft.com/office/officeart/2008/layout/VerticalCurvedList"/>
    <dgm:cxn modelId="{6EDAE986-6605-424E-99B5-3192983E20A4}" srcId="{A9A61007-0360-4BBE-A9AC-723BBFB16DEC}" destId="{363641A9-38F6-4FE3-AC4A-31517B6FDDEF}" srcOrd="3" destOrd="0" parTransId="{88723191-809D-4DA9-9393-25BB4BBA03C0}" sibTransId="{88B2AF8E-55D1-461C-AE08-10229789BDE3}"/>
    <dgm:cxn modelId="{2EC2EC71-6E77-4BC3-A185-B75BD9E470F1}" type="presOf" srcId="{A61898BD-0238-45D8-9E79-465D0D3E326F}" destId="{1A0D64C3-132E-4B3F-9605-F2F2D8A621FF}" srcOrd="0" destOrd="0" presId="urn:microsoft.com/office/officeart/2008/layout/VerticalCurvedList"/>
    <dgm:cxn modelId="{9849D2C2-DF50-4E0D-9082-95C7D85C19A7}" type="presOf" srcId="{0DDB9E32-2911-424C-972C-FAA4FACA26F7}" destId="{809A5FFC-7489-4C4B-9F3D-DBDD6E034C46}" srcOrd="0" destOrd="0" presId="urn:microsoft.com/office/officeart/2008/layout/VerticalCurvedList"/>
    <dgm:cxn modelId="{20D871BD-5573-4437-BC6E-9C7D4563BBB0}" srcId="{A9A61007-0360-4BBE-A9AC-723BBFB16DEC}" destId="{A61898BD-0238-45D8-9E79-465D0D3E326F}" srcOrd="4" destOrd="0" parTransId="{D68A192A-5D87-4641-92C1-55D6A99534BA}" sibTransId="{4A790736-3CAA-4364-A2A4-4D5BEA33B3F3}"/>
    <dgm:cxn modelId="{9E868BA4-A469-4CEA-A9E8-0A34E6343912}" srcId="{A9A61007-0360-4BBE-A9AC-723BBFB16DEC}" destId="{0DDB9E32-2911-424C-972C-FAA4FACA26F7}" srcOrd="1" destOrd="0" parTransId="{5A751E41-8C19-4549-BADF-CCEAF09AFE28}" sibTransId="{774AF9BD-8A8C-4C4D-9443-C35DC3BDEF67}"/>
    <dgm:cxn modelId="{B2BDE74B-9610-45E5-ACB2-933AD2984123}" type="presOf" srcId="{8E0CABA5-BA3C-4650-9049-8731A7ACDEA1}" destId="{EEB3B022-260C-4D77-A3D0-40F865EF887F}" srcOrd="0" destOrd="0" presId="urn:microsoft.com/office/officeart/2008/layout/VerticalCurvedList"/>
    <dgm:cxn modelId="{3C17C778-C144-4539-8F5E-E279826D3BC5}" type="presOf" srcId="{E0915697-62B0-43F8-A82C-F69F9C9A5406}" destId="{232C2F63-3A8A-44A8-84F7-43148EF74A45}" srcOrd="0" destOrd="0" presId="urn:microsoft.com/office/officeart/2008/layout/VerticalCurvedList"/>
    <dgm:cxn modelId="{BBDF5496-BDA9-4303-BDAF-948951E67F3A}" type="presOf" srcId="{A9A61007-0360-4BBE-A9AC-723BBFB16DEC}" destId="{C52AE655-68F4-4818-97E2-B61B46C552BF}" srcOrd="0" destOrd="0" presId="urn:microsoft.com/office/officeart/2008/layout/VerticalCurvedList"/>
    <dgm:cxn modelId="{8DDFD1CF-768F-42C2-81B8-056FD90C1C00}" srcId="{A9A61007-0360-4BBE-A9AC-723BBFB16DEC}" destId="{C83D5849-EE36-409D-ACEE-4AC8B02D31CF}" srcOrd="5" destOrd="0" parTransId="{997F8D32-93BD-4876-B4C7-93772A6F6AE7}" sibTransId="{9796386C-39F5-4624-BE6C-B51B2469540E}"/>
    <dgm:cxn modelId="{EAAEFC4B-A9B9-4623-8EEB-4A2AB8B127A5}" type="presOf" srcId="{C83D5849-EE36-409D-ACEE-4AC8B02D31CF}" destId="{C796B6E7-4373-4356-BFB5-DCBD03A5E96D}" srcOrd="0" destOrd="0" presId="urn:microsoft.com/office/officeart/2008/layout/VerticalCurvedList"/>
    <dgm:cxn modelId="{DA6FFAC6-271A-413E-BC28-AB004B25DE44}" type="presOf" srcId="{363641A9-38F6-4FE3-AC4A-31517B6FDDEF}" destId="{F493B768-8F44-4AA2-A2C0-D4E049E04FCB}" srcOrd="0" destOrd="0" presId="urn:microsoft.com/office/officeart/2008/layout/VerticalCurvedList"/>
    <dgm:cxn modelId="{8A613323-CB22-42A9-8C50-F13E07B18803}" srcId="{A9A61007-0360-4BBE-A9AC-723BBFB16DEC}" destId="{E0915697-62B0-43F8-A82C-F69F9C9A5406}" srcOrd="6" destOrd="0" parTransId="{16CA9C98-3E80-4BDA-9062-53A577ABDBF2}" sibTransId="{91CEB523-FD85-4AF7-87E2-14D93E76D567}"/>
    <dgm:cxn modelId="{05B869F0-E3AC-4F2A-8BE3-A3C73017FE01}" srcId="{A9A61007-0360-4BBE-A9AC-723BBFB16DEC}" destId="{BB166948-BF2E-4985-AEBB-6BD8848E855E}" srcOrd="0" destOrd="0" parTransId="{AF145B87-6A89-4DFC-AB57-FC379090B0E2}" sibTransId="{86AE47A7-AFAF-4883-82F4-ADA71DE0F166}"/>
    <dgm:cxn modelId="{0E3DB627-9378-4CF1-A85F-D23A2538A41B}" type="presParOf" srcId="{C52AE655-68F4-4818-97E2-B61B46C552BF}" destId="{301A1913-7292-4A50-A7FB-39D0376B8CFC}" srcOrd="0" destOrd="0" presId="urn:microsoft.com/office/officeart/2008/layout/VerticalCurvedList"/>
    <dgm:cxn modelId="{A82A9F92-3CAF-456D-ABE6-46003DF2C929}" type="presParOf" srcId="{301A1913-7292-4A50-A7FB-39D0376B8CFC}" destId="{DA7A6B15-6F30-4421-A548-20849A5C759E}" srcOrd="0" destOrd="0" presId="urn:microsoft.com/office/officeart/2008/layout/VerticalCurvedList"/>
    <dgm:cxn modelId="{BEB22692-33B5-4B34-ABB8-D3AF77DE6106}" type="presParOf" srcId="{DA7A6B15-6F30-4421-A548-20849A5C759E}" destId="{8BDD134C-AE92-477F-85FD-D83DCE7F5266}" srcOrd="0" destOrd="0" presId="urn:microsoft.com/office/officeart/2008/layout/VerticalCurvedList"/>
    <dgm:cxn modelId="{288FD6BA-C0D5-4652-AADC-782D408112E4}" type="presParOf" srcId="{DA7A6B15-6F30-4421-A548-20849A5C759E}" destId="{2862DD43-F80D-47B8-8547-B234439332DF}" srcOrd="1" destOrd="0" presId="urn:microsoft.com/office/officeart/2008/layout/VerticalCurvedList"/>
    <dgm:cxn modelId="{116BC6FE-868E-4B6B-BB90-3E96F53216B8}" type="presParOf" srcId="{DA7A6B15-6F30-4421-A548-20849A5C759E}" destId="{01932F96-BE26-4BED-B14B-09CFD9A61FD6}" srcOrd="2" destOrd="0" presId="urn:microsoft.com/office/officeart/2008/layout/VerticalCurvedList"/>
    <dgm:cxn modelId="{DA5F1C08-8CE1-4342-A67C-9CFCEC73FD43}" type="presParOf" srcId="{DA7A6B15-6F30-4421-A548-20849A5C759E}" destId="{EBC2D043-7AB9-44FF-8E55-9AA9CDC0B823}" srcOrd="3" destOrd="0" presId="urn:microsoft.com/office/officeart/2008/layout/VerticalCurvedList"/>
    <dgm:cxn modelId="{8AAE790F-99E2-43B0-A697-D97B81D8F526}" type="presParOf" srcId="{301A1913-7292-4A50-A7FB-39D0376B8CFC}" destId="{5EA7E7E4-4E34-43FD-8C15-453084D772D1}" srcOrd="1" destOrd="0" presId="urn:microsoft.com/office/officeart/2008/layout/VerticalCurvedList"/>
    <dgm:cxn modelId="{D3253F9D-869E-4BCC-8054-7DD5F8C81084}" type="presParOf" srcId="{301A1913-7292-4A50-A7FB-39D0376B8CFC}" destId="{DA7DF479-8808-4A74-8511-D0418E7E3C60}" srcOrd="2" destOrd="0" presId="urn:microsoft.com/office/officeart/2008/layout/VerticalCurvedList"/>
    <dgm:cxn modelId="{38DB79B2-B354-4E73-A5DE-884E359F9A42}" type="presParOf" srcId="{DA7DF479-8808-4A74-8511-D0418E7E3C60}" destId="{1C8D0B53-DC70-4CAB-BB98-02F808C9688D}" srcOrd="0" destOrd="0" presId="urn:microsoft.com/office/officeart/2008/layout/VerticalCurvedList"/>
    <dgm:cxn modelId="{960D1B9D-C7BE-4439-8904-A637595FA8A9}" type="presParOf" srcId="{301A1913-7292-4A50-A7FB-39D0376B8CFC}" destId="{809A5FFC-7489-4C4B-9F3D-DBDD6E034C46}" srcOrd="3" destOrd="0" presId="urn:microsoft.com/office/officeart/2008/layout/VerticalCurvedList"/>
    <dgm:cxn modelId="{EC2C6802-B0AC-4F09-B1CF-D97DF3AC2538}" type="presParOf" srcId="{301A1913-7292-4A50-A7FB-39D0376B8CFC}" destId="{AE16EF2B-F7B3-44CA-91F3-D7E0CA73C0CB}" srcOrd="4" destOrd="0" presId="urn:microsoft.com/office/officeart/2008/layout/VerticalCurvedList"/>
    <dgm:cxn modelId="{1782CE7B-E1BB-4D5D-BD64-35F39D60A71C}" type="presParOf" srcId="{AE16EF2B-F7B3-44CA-91F3-D7E0CA73C0CB}" destId="{005A9234-978E-439A-996B-DC800781B563}" srcOrd="0" destOrd="0" presId="urn:microsoft.com/office/officeart/2008/layout/VerticalCurvedList"/>
    <dgm:cxn modelId="{CB6FDD1F-E5C7-4883-9E34-5076832B084B}" type="presParOf" srcId="{301A1913-7292-4A50-A7FB-39D0376B8CFC}" destId="{EEB3B022-260C-4D77-A3D0-40F865EF887F}" srcOrd="5" destOrd="0" presId="urn:microsoft.com/office/officeart/2008/layout/VerticalCurvedList"/>
    <dgm:cxn modelId="{22920D25-D4BD-4E95-A8EB-B6588C46D3F6}" type="presParOf" srcId="{301A1913-7292-4A50-A7FB-39D0376B8CFC}" destId="{5934D3F2-2FDB-4961-9EB1-86FB76EBCE79}" srcOrd="6" destOrd="0" presId="urn:microsoft.com/office/officeart/2008/layout/VerticalCurvedList"/>
    <dgm:cxn modelId="{EDCBBE5B-FB8F-41C7-AB2C-0825683C7634}" type="presParOf" srcId="{5934D3F2-2FDB-4961-9EB1-86FB76EBCE79}" destId="{10EAAC73-2256-4526-B1AF-5CD3B50781E3}" srcOrd="0" destOrd="0" presId="urn:microsoft.com/office/officeart/2008/layout/VerticalCurvedList"/>
    <dgm:cxn modelId="{9D1C7279-F4D4-428F-AB7D-970294AC2625}" type="presParOf" srcId="{301A1913-7292-4A50-A7FB-39D0376B8CFC}" destId="{F493B768-8F44-4AA2-A2C0-D4E049E04FCB}" srcOrd="7" destOrd="0" presId="urn:microsoft.com/office/officeart/2008/layout/VerticalCurvedList"/>
    <dgm:cxn modelId="{3F82FECE-F4AB-4FB7-A318-70DBA5BB6404}" type="presParOf" srcId="{301A1913-7292-4A50-A7FB-39D0376B8CFC}" destId="{08717DE2-8526-4E18-8E7A-6F2A4164A585}" srcOrd="8" destOrd="0" presId="urn:microsoft.com/office/officeart/2008/layout/VerticalCurvedList"/>
    <dgm:cxn modelId="{3EB60C46-87CB-4D33-8F0B-10425E561AD4}" type="presParOf" srcId="{08717DE2-8526-4E18-8E7A-6F2A4164A585}" destId="{E333FF7E-618D-4FB9-8CB4-837BAF9C7932}" srcOrd="0" destOrd="0" presId="urn:microsoft.com/office/officeart/2008/layout/VerticalCurvedList"/>
    <dgm:cxn modelId="{9DE4060A-1D40-4E30-8763-51AC4B982B2A}" type="presParOf" srcId="{301A1913-7292-4A50-A7FB-39D0376B8CFC}" destId="{1A0D64C3-132E-4B3F-9605-F2F2D8A621FF}" srcOrd="9" destOrd="0" presId="urn:microsoft.com/office/officeart/2008/layout/VerticalCurvedList"/>
    <dgm:cxn modelId="{A7773949-0D89-4F2F-AC07-AF6AEAB46E9A}" type="presParOf" srcId="{301A1913-7292-4A50-A7FB-39D0376B8CFC}" destId="{A49FD062-FE31-4CAA-A5F9-DC3026EB74EE}" srcOrd="10" destOrd="0" presId="urn:microsoft.com/office/officeart/2008/layout/VerticalCurvedList"/>
    <dgm:cxn modelId="{24CCABD9-93FE-4DC6-BF24-1F2A149508BD}" type="presParOf" srcId="{A49FD062-FE31-4CAA-A5F9-DC3026EB74EE}" destId="{383356B6-90A4-4056-BC94-275F89E4E833}" srcOrd="0" destOrd="0" presId="urn:microsoft.com/office/officeart/2008/layout/VerticalCurvedList"/>
    <dgm:cxn modelId="{ECA9C251-BDF5-439F-A872-9FC5632DB088}" type="presParOf" srcId="{301A1913-7292-4A50-A7FB-39D0376B8CFC}" destId="{C796B6E7-4373-4356-BFB5-DCBD03A5E96D}" srcOrd="11" destOrd="0" presId="urn:microsoft.com/office/officeart/2008/layout/VerticalCurvedList"/>
    <dgm:cxn modelId="{FA6CF1A1-D698-483C-A020-D1E0D56DD4B8}" type="presParOf" srcId="{301A1913-7292-4A50-A7FB-39D0376B8CFC}" destId="{BE226191-DA43-4A6F-BFCA-B6B1EB1C9CB5}" srcOrd="12" destOrd="0" presId="urn:microsoft.com/office/officeart/2008/layout/VerticalCurvedList"/>
    <dgm:cxn modelId="{0E49123D-D74B-49C8-8810-A2DAF40A232C}" type="presParOf" srcId="{BE226191-DA43-4A6F-BFCA-B6B1EB1C9CB5}" destId="{30E70506-318C-4057-850E-199A8EB6FA69}" srcOrd="0" destOrd="0" presId="urn:microsoft.com/office/officeart/2008/layout/VerticalCurvedList"/>
    <dgm:cxn modelId="{9EF2C0A4-59A0-423B-AD14-5D9971F1F30D}" type="presParOf" srcId="{301A1913-7292-4A50-A7FB-39D0376B8CFC}" destId="{232C2F63-3A8A-44A8-84F7-43148EF74A45}" srcOrd="13" destOrd="0" presId="urn:microsoft.com/office/officeart/2008/layout/VerticalCurvedList"/>
    <dgm:cxn modelId="{6ECC70DE-90EA-4397-B97D-0D43F3E1DA9E}" type="presParOf" srcId="{301A1913-7292-4A50-A7FB-39D0376B8CFC}" destId="{DBA1AE26-651C-47B2-A279-8D522C03BF9F}" srcOrd="14" destOrd="0" presId="urn:microsoft.com/office/officeart/2008/layout/VerticalCurvedList"/>
    <dgm:cxn modelId="{964FC711-2D06-440C-9B0D-3C638058EA3A}" type="presParOf" srcId="{DBA1AE26-651C-47B2-A279-8D522C03BF9F}" destId="{518573A8-5700-4CB7-8AC6-0A9E34BC3BAF}"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C41B53-F833-4707-ABA6-0D03C753C628}" type="doc">
      <dgm:prSet loTypeId="urn:microsoft.com/office/officeart/2005/8/layout/hierarchy3" loCatId="hierarchy" qsTypeId="urn:microsoft.com/office/officeart/2005/8/quickstyle/simple1" qsCatId="simple" csTypeId="urn:microsoft.com/office/officeart/2005/8/colors/colorful5" csCatId="colorful" phldr="1"/>
      <dgm:spPr/>
      <dgm:t>
        <a:bodyPr/>
        <a:lstStyle/>
        <a:p>
          <a:endParaRPr lang="en-IN"/>
        </a:p>
      </dgm:t>
    </dgm:pt>
    <dgm:pt modelId="{BD207BE4-CB6A-4A92-B0BF-9A16B223F46F}">
      <dgm:prSet phldrT="[Text]"/>
      <dgm:spPr/>
      <dgm:t>
        <a:bodyPr/>
        <a:lstStyle/>
        <a:p>
          <a:r>
            <a:rPr lang="en-US" dirty="0"/>
            <a:t>Future Value </a:t>
          </a:r>
          <a:endParaRPr lang="en-IN" dirty="0"/>
        </a:p>
      </dgm:t>
    </dgm:pt>
    <dgm:pt modelId="{B259A725-D03E-4316-A2A3-59BD5ACDBA8D}" type="parTrans" cxnId="{CA33C97D-E647-462A-9A52-59D25E002669}">
      <dgm:prSet/>
      <dgm:spPr/>
      <dgm:t>
        <a:bodyPr/>
        <a:lstStyle/>
        <a:p>
          <a:endParaRPr lang="en-IN"/>
        </a:p>
      </dgm:t>
    </dgm:pt>
    <dgm:pt modelId="{84715E2F-6D9D-4F55-8C62-B7D841E23A88}" type="sibTrans" cxnId="{CA33C97D-E647-462A-9A52-59D25E002669}">
      <dgm:prSet/>
      <dgm:spPr/>
      <dgm:t>
        <a:bodyPr/>
        <a:lstStyle/>
        <a:p>
          <a:endParaRPr lang="en-IN"/>
        </a:p>
      </dgm:t>
    </dgm:pt>
    <dgm:pt modelId="{1359DBEF-35F4-4220-826F-D5EAC884D916}">
      <dgm:prSet phldrT="[Text]"/>
      <dgm:spPr/>
      <dgm:t>
        <a:bodyPr/>
        <a:lstStyle/>
        <a:p>
          <a:r>
            <a:rPr lang="en-US" dirty="0"/>
            <a:t>Present Value </a:t>
          </a:r>
          <a:endParaRPr lang="en-IN" dirty="0"/>
        </a:p>
      </dgm:t>
    </dgm:pt>
    <dgm:pt modelId="{F6135F4E-EEC5-4EC3-8FEB-4B814C89AB3A}" type="parTrans" cxnId="{A59A8017-BC0D-48AE-B46E-86B5E13AC5E6}">
      <dgm:prSet/>
      <dgm:spPr/>
      <dgm:t>
        <a:bodyPr/>
        <a:lstStyle/>
        <a:p>
          <a:endParaRPr lang="en-IN"/>
        </a:p>
      </dgm:t>
    </dgm:pt>
    <dgm:pt modelId="{991BB27A-C185-48CB-8583-0094E90A713C}" type="sibTrans" cxnId="{A59A8017-BC0D-48AE-B46E-86B5E13AC5E6}">
      <dgm:prSet/>
      <dgm:spPr/>
      <dgm:t>
        <a:bodyPr/>
        <a:lstStyle/>
        <a:p>
          <a:endParaRPr lang="en-IN"/>
        </a:p>
      </dgm:t>
    </dgm:pt>
    <dgm:pt modelId="{846B3602-F20C-4125-898C-61F599457123}">
      <dgm:prSet/>
      <dgm:spPr/>
      <dgm:t>
        <a:bodyPr/>
        <a:lstStyle/>
        <a:p>
          <a:r>
            <a:rPr lang="en-US" dirty="0"/>
            <a:t>Future Value of A Single Amount</a:t>
          </a:r>
        </a:p>
      </dgm:t>
    </dgm:pt>
    <dgm:pt modelId="{33A272B2-2B5F-475D-B0A9-BB697C973DC0}" type="parTrans" cxnId="{54C504A5-8E6C-4918-BD96-11E1811B67C4}">
      <dgm:prSet/>
      <dgm:spPr/>
      <dgm:t>
        <a:bodyPr/>
        <a:lstStyle/>
        <a:p>
          <a:endParaRPr lang="en-IN"/>
        </a:p>
      </dgm:t>
    </dgm:pt>
    <dgm:pt modelId="{1A13BBAA-A477-46C5-8B7E-A4F08ABB9EA6}" type="sibTrans" cxnId="{54C504A5-8E6C-4918-BD96-11E1811B67C4}">
      <dgm:prSet/>
      <dgm:spPr/>
      <dgm:t>
        <a:bodyPr/>
        <a:lstStyle/>
        <a:p>
          <a:endParaRPr lang="en-IN"/>
        </a:p>
      </dgm:t>
    </dgm:pt>
    <dgm:pt modelId="{B6DF64F9-CBDD-48AA-BF83-528E8664010E}">
      <dgm:prSet/>
      <dgm:spPr/>
      <dgm:t>
        <a:bodyPr/>
        <a:lstStyle/>
        <a:p>
          <a:r>
            <a:rPr lang="en-US" dirty="0"/>
            <a:t>Future Value of An Annuity</a:t>
          </a:r>
        </a:p>
      </dgm:t>
    </dgm:pt>
    <dgm:pt modelId="{D6926184-EC38-4705-A171-5442469052CA}" type="parTrans" cxnId="{93EFCDAF-86D3-4883-97F5-5B64861CF76E}">
      <dgm:prSet/>
      <dgm:spPr/>
      <dgm:t>
        <a:bodyPr/>
        <a:lstStyle/>
        <a:p>
          <a:endParaRPr lang="en-IN"/>
        </a:p>
      </dgm:t>
    </dgm:pt>
    <dgm:pt modelId="{6F61C40C-DF6F-4129-B61B-61A9C3C7CD10}" type="sibTrans" cxnId="{93EFCDAF-86D3-4883-97F5-5B64861CF76E}">
      <dgm:prSet/>
      <dgm:spPr/>
      <dgm:t>
        <a:bodyPr/>
        <a:lstStyle/>
        <a:p>
          <a:endParaRPr lang="en-IN"/>
        </a:p>
      </dgm:t>
    </dgm:pt>
    <dgm:pt modelId="{A8E45A3A-FF0B-4EB8-9E11-B78E8DE1F30F}">
      <dgm:prSet/>
      <dgm:spPr/>
      <dgm:t>
        <a:bodyPr/>
        <a:lstStyle/>
        <a:p>
          <a:r>
            <a:rPr lang="en-US" dirty="0"/>
            <a:t>Intra – Year Compounding</a:t>
          </a:r>
        </a:p>
      </dgm:t>
    </dgm:pt>
    <dgm:pt modelId="{5D5BA9DF-67F1-46B6-8619-303CC3019946}" type="parTrans" cxnId="{5C196BDC-AB46-4814-95FE-4C9BCF43BE01}">
      <dgm:prSet/>
      <dgm:spPr/>
      <dgm:t>
        <a:bodyPr/>
        <a:lstStyle/>
        <a:p>
          <a:endParaRPr lang="en-IN"/>
        </a:p>
      </dgm:t>
    </dgm:pt>
    <dgm:pt modelId="{4CCE78AF-FF25-4E6F-815F-35D62C7D19BA}" type="sibTrans" cxnId="{5C196BDC-AB46-4814-95FE-4C9BCF43BE01}">
      <dgm:prSet/>
      <dgm:spPr/>
      <dgm:t>
        <a:bodyPr/>
        <a:lstStyle/>
        <a:p>
          <a:endParaRPr lang="en-IN"/>
        </a:p>
      </dgm:t>
    </dgm:pt>
    <dgm:pt modelId="{F61C8B9B-4621-4560-A638-3782335C62A6}">
      <dgm:prSet/>
      <dgm:spPr/>
      <dgm:t>
        <a:bodyPr/>
        <a:lstStyle/>
        <a:p>
          <a:r>
            <a:rPr lang="en-US" dirty="0"/>
            <a:t>Present value of A Single Amount</a:t>
          </a:r>
        </a:p>
      </dgm:t>
    </dgm:pt>
    <dgm:pt modelId="{05407825-CD12-47FB-B047-3154A453135F}" type="parTrans" cxnId="{C1927CA4-68C8-498D-A9BE-2EAE5DF172B7}">
      <dgm:prSet/>
      <dgm:spPr/>
      <dgm:t>
        <a:bodyPr/>
        <a:lstStyle/>
        <a:p>
          <a:endParaRPr lang="en-IN"/>
        </a:p>
      </dgm:t>
    </dgm:pt>
    <dgm:pt modelId="{B75A86D3-FDBF-40AE-AC01-93936C177716}" type="sibTrans" cxnId="{C1927CA4-68C8-498D-A9BE-2EAE5DF172B7}">
      <dgm:prSet/>
      <dgm:spPr/>
      <dgm:t>
        <a:bodyPr/>
        <a:lstStyle/>
        <a:p>
          <a:endParaRPr lang="en-IN"/>
        </a:p>
      </dgm:t>
    </dgm:pt>
    <dgm:pt modelId="{D8603005-291A-41FF-B0B6-C69B3BC30B56}">
      <dgm:prSet/>
      <dgm:spPr/>
      <dgm:t>
        <a:bodyPr/>
        <a:lstStyle/>
        <a:p>
          <a:r>
            <a:rPr lang="en-US" dirty="0"/>
            <a:t>Present Value of An Annuity</a:t>
          </a:r>
        </a:p>
      </dgm:t>
    </dgm:pt>
    <dgm:pt modelId="{3A7AA549-EAE2-4474-ABDC-9FB6D2D196CB}" type="parTrans" cxnId="{231700A7-00A1-49F5-A1AA-DF05C75B45FD}">
      <dgm:prSet/>
      <dgm:spPr/>
      <dgm:t>
        <a:bodyPr/>
        <a:lstStyle/>
        <a:p>
          <a:endParaRPr lang="en-IN"/>
        </a:p>
      </dgm:t>
    </dgm:pt>
    <dgm:pt modelId="{0B6CF1B5-95EC-4634-86E2-2C20CA530C14}" type="sibTrans" cxnId="{231700A7-00A1-49F5-A1AA-DF05C75B45FD}">
      <dgm:prSet/>
      <dgm:spPr/>
      <dgm:t>
        <a:bodyPr/>
        <a:lstStyle/>
        <a:p>
          <a:endParaRPr lang="en-IN"/>
        </a:p>
      </dgm:t>
    </dgm:pt>
    <dgm:pt modelId="{C1EB80F2-8ED3-47B7-8642-43DF897DFEE6}">
      <dgm:prSet/>
      <dgm:spPr/>
      <dgm:t>
        <a:bodyPr/>
        <a:lstStyle/>
        <a:p>
          <a:r>
            <a:rPr lang="en-US" dirty="0"/>
            <a:t>Present Value of A Perpetuity</a:t>
          </a:r>
        </a:p>
      </dgm:t>
    </dgm:pt>
    <dgm:pt modelId="{083F2180-5341-4BD1-9F7C-6E14928B2790}" type="parTrans" cxnId="{45A88270-4E8A-41CE-8EFD-DDAB867653B9}">
      <dgm:prSet/>
      <dgm:spPr/>
      <dgm:t>
        <a:bodyPr/>
        <a:lstStyle/>
        <a:p>
          <a:endParaRPr lang="en-IN"/>
        </a:p>
      </dgm:t>
    </dgm:pt>
    <dgm:pt modelId="{FE2B49AA-9E9E-4269-8E82-44E5C2A4667E}" type="sibTrans" cxnId="{45A88270-4E8A-41CE-8EFD-DDAB867653B9}">
      <dgm:prSet/>
      <dgm:spPr/>
      <dgm:t>
        <a:bodyPr/>
        <a:lstStyle/>
        <a:p>
          <a:endParaRPr lang="en-IN"/>
        </a:p>
      </dgm:t>
    </dgm:pt>
    <dgm:pt modelId="{7A102752-52A7-4239-85C7-697DE14AA7C7}">
      <dgm:prSet/>
      <dgm:spPr/>
      <dgm:t>
        <a:bodyPr/>
        <a:lstStyle/>
        <a:p>
          <a:r>
            <a:rPr lang="en-US"/>
            <a:t>Intra – Year Discounting</a:t>
          </a:r>
          <a:endParaRPr lang="en-US" dirty="0"/>
        </a:p>
      </dgm:t>
    </dgm:pt>
    <dgm:pt modelId="{27E65E2F-BD5E-4420-AA63-D19365EB3C3E}" type="parTrans" cxnId="{098857CE-E7CA-4C50-AC96-364B056F5002}">
      <dgm:prSet/>
      <dgm:spPr/>
      <dgm:t>
        <a:bodyPr/>
        <a:lstStyle/>
        <a:p>
          <a:endParaRPr lang="en-IN"/>
        </a:p>
      </dgm:t>
    </dgm:pt>
    <dgm:pt modelId="{D6F902F4-CBF3-4BB7-8CF4-2DAAE1EFECCC}" type="sibTrans" cxnId="{098857CE-E7CA-4C50-AC96-364B056F5002}">
      <dgm:prSet/>
      <dgm:spPr/>
      <dgm:t>
        <a:bodyPr/>
        <a:lstStyle/>
        <a:p>
          <a:endParaRPr lang="en-IN"/>
        </a:p>
      </dgm:t>
    </dgm:pt>
    <dgm:pt modelId="{B2C8C20A-2C41-4014-9E29-AA85D0D5D6D6}" type="pres">
      <dgm:prSet presAssocID="{22C41B53-F833-4707-ABA6-0D03C753C628}" presName="diagram" presStyleCnt="0">
        <dgm:presLayoutVars>
          <dgm:chPref val="1"/>
          <dgm:dir/>
          <dgm:animOne val="branch"/>
          <dgm:animLvl val="lvl"/>
          <dgm:resizeHandles/>
        </dgm:presLayoutVars>
      </dgm:prSet>
      <dgm:spPr/>
      <dgm:t>
        <a:bodyPr/>
        <a:lstStyle/>
        <a:p>
          <a:endParaRPr lang="en-US"/>
        </a:p>
      </dgm:t>
    </dgm:pt>
    <dgm:pt modelId="{1317DF71-AD25-4F31-8F50-66BFB315E0DA}" type="pres">
      <dgm:prSet presAssocID="{BD207BE4-CB6A-4A92-B0BF-9A16B223F46F}" presName="root" presStyleCnt="0"/>
      <dgm:spPr/>
    </dgm:pt>
    <dgm:pt modelId="{0AC5CB27-18A7-431F-A685-6F076BA960A1}" type="pres">
      <dgm:prSet presAssocID="{BD207BE4-CB6A-4A92-B0BF-9A16B223F46F}" presName="rootComposite" presStyleCnt="0"/>
      <dgm:spPr/>
    </dgm:pt>
    <dgm:pt modelId="{C1FC1A97-F18F-4223-AD64-50CC7DA375E4}" type="pres">
      <dgm:prSet presAssocID="{BD207BE4-CB6A-4A92-B0BF-9A16B223F46F}" presName="rootText" presStyleLbl="node1" presStyleIdx="0" presStyleCnt="2" custLinFactNeighborX="-52993" custLinFactNeighborY="-374"/>
      <dgm:spPr/>
      <dgm:t>
        <a:bodyPr/>
        <a:lstStyle/>
        <a:p>
          <a:endParaRPr lang="en-US"/>
        </a:p>
      </dgm:t>
    </dgm:pt>
    <dgm:pt modelId="{93FECABB-0F4D-4850-BA4E-55E106329DB7}" type="pres">
      <dgm:prSet presAssocID="{BD207BE4-CB6A-4A92-B0BF-9A16B223F46F}" presName="rootConnector" presStyleLbl="node1" presStyleIdx="0" presStyleCnt="2"/>
      <dgm:spPr/>
      <dgm:t>
        <a:bodyPr/>
        <a:lstStyle/>
        <a:p>
          <a:endParaRPr lang="en-US"/>
        </a:p>
      </dgm:t>
    </dgm:pt>
    <dgm:pt modelId="{F3F70925-09C9-449C-9C42-D7BE4304326F}" type="pres">
      <dgm:prSet presAssocID="{BD207BE4-CB6A-4A92-B0BF-9A16B223F46F}" presName="childShape" presStyleCnt="0"/>
      <dgm:spPr/>
    </dgm:pt>
    <dgm:pt modelId="{165FA073-510C-4353-B7C7-45C33379D76F}" type="pres">
      <dgm:prSet presAssocID="{33A272B2-2B5F-475D-B0A9-BB697C973DC0}" presName="Name13" presStyleLbl="parChTrans1D2" presStyleIdx="0" presStyleCnt="7"/>
      <dgm:spPr/>
      <dgm:t>
        <a:bodyPr/>
        <a:lstStyle/>
        <a:p>
          <a:endParaRPr lang="en-US"/>
        </a:p>
      </dgm:t>
    </dgm:pt>
    <dgm:pt modelId="{C19D9721-108A-4514-B6FA-10E803A03E9C}" type="pres">
      <dgm:prSet presAssocID="{846B3602-F20C-4125-898C-61F599457123}" presName="childText" presStyleLbl="bgAcc1" presStyleIdx="0" presStyleCnt="7" custScaleX="134460" custLinFactNeighborX="-50955">
        <dgm:presLayoutVars>
          <dgm:bulletEnabled val="1"/>
        </dgm:presLayoutVars>
      </dgm:prSet>
      <dgm:spPr/>
      <dgm:t>
        <a:bodyPr/>
        <a:lstStyle/>
        <a:p>
          <a:endParaRPr lang="en-US"/>
        </a:p>
      </dgm:t>
    </dgm:pt>
    <dgm:pt modelId="{7754883D-DEA0-40EF-83FA-93AE4447189E}" type="pres">
      <dgm:prSet presAssocID="{D6926184-EC38-4705-A171-5442469052CA}" presName="Name13" presStyleLbl="parChTrans1D2" presStyleIdx="1" presStyleCnt="7"/>
      <dgm:spPr/>
      <dgm:t>
        <a:bodyPr/>
        <a:lstStyle/>
        <a:p>
          <a:endParaRPr lang="en-US"/>
        </a:p>
      </dgm:t>
    </dgm:pt>
    <dgm:pt modelId="{1FD44F0D-4868-4654-BC2A-B5A4960FDD4B}" type="pres">
      <dgm:prSet presAssocID="{B6DF64F9-CBDD-48AA-BF83-528E8664010E}" presName="childText" presStyleLbl="bgAcc1" presStyleIdx="1" presStyleCnt="7" custScaleX="134460" custLinFactNeighborX="-50955">
        <dgm:presLayoutVars>
          <dgm:bulletEnabled val="1"/>
        </dgm:presLayoutVars>
      </dgm:prSet>
      <dgm:spPr/>
      <dgm:t>
        <a:bodyPr/>
        <a:lstStyle/>
        <a:p>
          <a:endParaRPr lang="en-US"/>
        </a:p>
      </dgm:t>
    </dgm:pt>
    <dgm:pt modelId="{422BBEDD-A4EF-4B97-8670-00158FF0B958}" type="pres">
      <dgm:prSet presAssocID="{5D5BA9DF-67F1-46B6-8619-303CC3019946}" presName="Name13" presStyleLbl="parChTrans1D2" presStyleIdx="2" presStyleCnt="7"/>
      <dgm:spPr/>
      <dgm:t>
        <a:bodyPr/>
        <a:lstStyle/>
        <a:p>
          <a:endParaRPr lang="en-US"/>
        </a:p>
      </dgm:t>
    </dgm:pt>
    <dgm:pt modelId="{CCA6995F-00DD-4A6F-9512-43DE2E46F8AC}" type="pres">
      <dgm:prSet presAssocID="{A8E45A3A-FF0B-4EB8-9E11-B78E8DE1F30F}" presName="childText" presStyleLbl="bgAcc1" presStyleIdx="2" presStyleCnt="7" custScaleX="134460" custLinFactNeighborX="-50955">
        <dgm:presLayoutVars>
          <dgm:bulletEnabled val="1"/>
        </dgm:presLayoutVars>
      </dgm:prSet>
      <dgm:spPr/>
      <dgm:t>
        <a:bodyPr/>
        <a:lstStyle/>
        <a:p>
          <a:endParaRPr lang="en-US"/>
        </a:p>
      </dgm:t>
    </dgm:pt>
    <dgm:pt modelId="{B368EDB9-FE06-4035-A6C9-7EED0D3C2C2B}" type="pres">
      <dgm:prSet presAssocID="{1359DBEF-35F4-4220-826F-D5EAC884D916}" presName="root" presStyleCnt="0"/>
      <dgm:spPr/>
    </dgm:pt>
    <dgm:pt modelId="{2FA001C2-656F-4D13-8FA9-CCB7F918C53B}" type="pres">
      <dgm:prSet presAssocID="{1359DBEF-35F4-4220-826F-D5EAC884D916}" presName="rootComposite" presStyleCnt="0"/>
      <dgm:spPr/>
    </dgm:pt>
    <dgm:pt modelId="{AF41162F-BA76-4268-ADA1-66416AD6D3CD}" type="pres">
      <dgm:prSet presAssocID="{1359DBEF-35F4-4220-826F-D5EAC884D916}" presName="rootText" presStyleLbl="node1" presStyleIdx="1" presStyleCnt="2"/>
      <dgm:spPr/>
      <dgm:t>
        <a:bodyPr/>
        <a:lstStyle/>
        <a:p>
          <a:endParaRPr lang="en-US"/>
        </a:p>
      </dgm:t>
    </dgm:pt>
    <dgm:pt modelId="{DAA0B42B-9ED0-45FF-B1D3-0215E64EAF77}" type="pres">
      <dgm:prSet presAssocID="{1359DBEF-35F4-4220-826F-D5EAC884D916}" presName="rootConnector" presStyleLbl="node1" presStyleIdx="1" presStyleCnt="2"/>
      <dgm:spPr/>
      <dgm:t>
        <a:bodyPr/>
        <a:lstStyle/>
        <a:p>
          <a:endParaRPr lang="en-US"/>
        </a:p>
      </dgm:t>
    </dgm:pt>
    <dgm:pt modelId="{1ECC6A93-419C-4160-91FC-7B4EEC3C345B}" type="pres">
      <dgm:prSet presAssocID="{1359DBEF-35F4-4220-826F-D5EAC884D916}" presName="childShape" presStyleCnt="0"/>
      <dgm:spPr/>
    </dgm:pt>
    <dgm:pt modelId="{B956624C-CD3F-48B9-9A4A-358E6997CA10}" type="pres">
      <dgm:prSet presAssocID="{05407825-CD12-47FB-B047-3154A453135F}" presName="Name13" presStyleLbl="parChTrans1D2" presStyleIdx="3" presStyleCnt="7"/>
      <dgm:spPr/>
      <dgm:t>
        <a:bodyPr/>
        <a:lstStyle/>
        <a:p>
          <a:endParaRPr lang="en-US"/>
        </a:p>
      </dgm:t>
    </dgm:pt>
    <dgm:pt modelId="{0B0B6241-0532-48D2-B010-624016BEEF2F}" type="pres">
      <dgm:prSet presAssocID="{F61C8B9B-4621-4560-A638-3782335C62A6}" presName="childText" presStyleLbl="bgAcc1" presStyleIdx="3" presStyleCnt="7" custScaleX="142834">
        <dgm:presLayoutVars>
          <dgm:bulletEnabled val="1"/>
        </dgm:presLayoutVars>
      </dgm:prSet>
      <dgm:spPr/>
      <dgm:t>
        <a:bodyPr/>
        <a:lstStyle/>
        <a:p>
          <a:endParaRPr lang="en-US"/>
        </a:p>
      </dgm:t>
    </dgm:pt>
    <dgm:pt modelId="{95AE1C61-1167-4CFA-962B-A0DBD95B0DB8}" type="pres">
      <dgm:prSet presAssocID="{3A7AA549-EAE2-4474-ABDC-9FB6D2D196CB}" presName="Name13" presStyleLbl="parChTrans1D2" presStyleIdx="4" presStyleCnt="7"/>
      <dgm:spPr/>
      <dgm:t>
        <a:bodyPr/>
        <a:lstStyle/>
        <a:p>
          <a:endParaRPr lang="en-US"/>
        </a:p>
      </dgm:t>
    </dgm:pt>
    <dgm:pt modelId="{544F8908-50F7-4693-856A-E27059CB5AD3}" type="pres">
      <dgm:prSet presAssocID="{D8603005-291A-41FF-B0B6-C69B3BC30B56}" presName="childText" presStyleLbl="bgAcc1" presStyleIdx="4" presStyleCnt="7" custScaleX="142834">
        <dgm:presLayoutVars>
          <dgm:bulletEnabled val="1"/>
        </dgm:presLayoutVars>
      </dgm:prSet>
      <dgm:spPr/>
      <dgm:t>
        <a:bodyPr/>
        <a:lstStyle/>
        <a:p>
          <a:endParaRPr lang="en-US"/>
        </a:p>
      </dgm:t>
    </dgm:pt>
    <dgm:pt modelId="{F8A62989-3773-4301-859B-283D924E8E5C}" type="pres">
      <dgm:prSet presAssocID="{083F2180-5341-4BD1-9F7C-6E14928B2790}" presName="Name13" presStyleLbl="parChTrans1D2" presStyleIdx="5" presStyleCnt="7"/>
      <dgm:spPr/>
      <dgm:t>
        <a:bodyPr/>
        <a:lstStyle/>
        <a:p>
          <a:endParaRPr lang="en-US"/>
        </a:p>
      </dgm:t>
    </dgm:pt>
    <dgm:pt modelId="{AF724260-C3E2-489E-BA6F-032ECEA1488E}" type="pres">
      <dgm:prSet presAssocID="{C1EB80F2-8ED3-47B7-8642-43DF897DFEE6}" presName="childText" presStyleLbl="bgAcc1" presStyleIdx="5" presStyleCnt="7" custScaleX="142834">
        <dgm:presLayoutVars>
          <dgm:bulletEnabled val="1"/>
        </dgm:presLayoutVars>
      </dgm:prSet>
      <dgm:spPr/>
      <dgm:t>
        <a:bodyPr/>
        <a:lstStyle/>
        <a:p>
          <a:endParaRPr lang="en-US"/>
        </a:p>
      </dgm:t>
    </dgm:pt>
    <dgm:pt modelId="{34961ABC-8630-42B4-8C56-5D23C53AA226}" type="pres">
      <dgm:prSet presAssocID="{27E65E2F-BD5E-4420-AA63-D19365EB3C3E}" presName="Name13" presStyleLbl="parChTrans1D2" presStyleIdx="6" presStyleCnt="7"/>
      <dgm:spPr/>
      <dgm:t>
        <a:bodyPr/>
        <a:lstStyle/>
        <a:p>
          <a:endParaRPr lang="en-US"/>
        </a:p>
      </dgm:t>
    </dgm:pt>
    <dgm:pt modelId="{A175B3C0-1B0C-4E69-8808-36C87F87DDDA}" type="pres">
      <dgm:prSet presAssocID="{7A102752-52A7-4239-85C7-697DE14AA7C7}" presName="childText" presStyleLbl="bgAcc1" presStyleIdx="6" presStyleCnt="7" custScaleX="142834">
        <dgm:presLayoutVars>
          <dgm:bulletEnabled val="1"/>
        </dgm:presLayoutVars>
      </dgm:prSet>
      <dgm:spPr/>
      <dgm:t>
        <a:bodyPr/>
        <a:lstStyle/>
        <a:p>
          <a:endParaRPr lang="en-US"/>
        </a:p>
      </dgm:t>
    </dgm:pt>
  </dgm:ptLst>
  <dgm:cxnLst>
    <dgm:cxn modelId="{13199936-C585-406D-BB50-A710793975B8}" type="presOf" srcId="{5D5BA9DF-67F1-46B6-8619-303CC3019946}" destId="{422BBEDD-A4EF-4B97-8670-00158FF0B958}" srcOrd="0" destOrd="0" presId="urn:microsoft.com/office/officeart/2005/8/layout/hierarchy3"/>
    <dgm:cxn modelId="{34FC4F4C-6F4D-4E48-8058-DA8BDC11F7C0}" type="presOf" srcId="{3A7AA549-EAE2-4474-ABDC-9FB6D2D196CB}" destId="{95AE1C61-1167-4CFA-962B-A0DBD95B0DB8}" srcOrd="0" destOrd="0" presId="urn:microsoft.com/office/officeart/2005/8/layout/hierarchy3"/>
    <dgm:cxn modelId="{FBB891F4-866B-4E14-9001-593F024493A6}" type="presOf" srcId="{F61C8B9B-4621-4560-A638-3782335C62A6}" destId="{0B0B6241-0532-48D2-B010-624016BEEF2F}" srcOrd="0" destOrd="0" presId="urn:microsoft.com/office/officeart/2005/8/layout/hierarchy3"/>
    <dgm:cxn modelId="{4D4B8BC8-14BF-42A9-A243-9FAC062D1523}" type="presOf" srcId="{D8603005-291A-41FF-B0B6-C69B3BC30B56}" destId="{544F8908-50F7-4693-856A-E27059CB5AD3}" srcOrd="0" destOrd="0" presId="urn:microsoft.com/office/officeart/2005/8/layout/hierarchy3"/>
    <dgm:cxn modelId="{D8496C99-BB78-445A-9834-6E54D34C3AAC}" type="presOf" srcId="{1359DBEF-35F4-4220-826F-D5EAC884D916}" destId="{DAA0B42B-9ED0-45FF-B1D3-0215E64EAF77}" srcOrd="1" destOrd="0" presId="urn:microsoft.com/office/officeart/2005/8/layout/hierarchy3"/>
    <dgm:cxn modelId="{C9217766-5C2D-4B9C-832C-418F09345C0E}" type="presOf" srcId="{7A102752-52A7-4239-85C7-697DE14AA7C7}" destId="{A175B3C0-1B0C-4E69-8808-36C87F87DDDA}" srcOrd="0" destOrd="0" presId="urn:microsoft.com/office/officeart/2005/8/layout/hierarchy3"/>
    <dgm:cxn modelId="{F05E2223-18F7-48E8-A79A-EB7C5AF6B203}" type="presOf" srcId="{05407825-CD12-47FB-B047-3154A453135F}" destId="{B956624C-CD3F-48B9-9A4A-358E6997CA10}" srcOrd="0" destOrd="0" presId="urn:microsoft.com/office/officeart/2005/8/layout/hierarchy3"/>
    <dgm:cxn modelId="{5C196BDC-AB46-4814-95FE-4C9BCF43BE01}" srcId="{BD207BE4-CB6A-4A92-B0BF-9A16B223F46F}" destId="{A8E45A3A-FF0B-4EB8-9E11-B78E8DE1F30F}" srcOrd="2" destOrd="0" parTransId="{5D5BA9DF-67F1-46B6-8619-303CC3019946}" sibTransId="{4CCE78AF-FF25-4E6F-815F-35D62C7D19BA}"/>
    <dgm:cxn modelId="{EA060ABD-96EB-4A1F-AC44-824859497553}" type="presOf" srcId="{BD207BE4-CB6A-4A92-B0BF-9A16B223F46F}" destId="{93FECABB-0F4D-4850-BA4E-55E106329DB7}" srcOrd="1" destOrd="0" presId="urn:microsoft.com/office/officeart/2005/8/layout/hierarchy3"/>
    <dgm:cxn modelId="{A59A8017-BC0D-48AE-B46E-86B5E13AC5E6}" srcId="{22C41B53-F833-4707-ABA6-0D03C753C628}" destId="{1359DBEF-35F4-4220-826F-D5EAC884D916}" srcOrd="1" destOrd="0" parTransId="{F6135F4E-EEC5-4EC3-8FEB-4B814C89AB3A}" sibTransId="{991BB27A-C185-48CB-8583-0094E90A713C}"/>
    <dgm:cxn modelId="{C1927CA4-68C8-498D-A9BE-2EAE5DF172B7}" srcId="{1359DBEF-35F4-4220-826F-D5EAC884D916}" destId="{F61C8B9B-4621-4560-A638-3782335C62A6}" srcOrd="0" destOrd="0" parTransId="{05407825-CD12-47FB-B047-3154A453135F}" sibTransId="{B75A86D3-FDBF-40AE-AC01-93936C177716}"/>
    <dgm:cxn modelId="{1C345089-B2FB-4616-A3F0-47A3C49D533C}" type="presOf" srcId="{846B3602-F20C-4125-898C-61F599457123}" destId="{C19D9721-108A-4514-B6FA-10E803A03E9C}" srcOrd="0" destOrd="0" presId="urn:microsoft.com/office/officeart/2005/8/layout/hierarchy3"/>
    <dgm:cxn modelId="{899B0660-7729-4D5D-B827-48C89925A553}" type="presOf" srcId="{22C41B53-F833-4707-ABA6-0D03C753C628}" destId="{B2C8C20A-2C41-4014-9E29-AA85D0D5D6D6}" srcOrd="0" destOrd="0" presId="urn:microsoft.com/office/officeart/2005/8/layout/hierarchy3"/>
    <dgm:cxn modelId="{3A43D2DF-DD18-4208-99AB-0A4A3A95095A}" type="presOf" srcId="{083F2180-5341-4BD1-9F7C-6E14928B2790}" destId="{F8A62989-3773-4301-859B-283D924E8E5C}" srcOrd="0" destOrd="0" presId="urn:microsoft.com/office/officeart/2005/8/layout/hierarchy3"/>
    <dgm:cxn modelId="{B205C767-ABA4-481B-B824-918FB55D592D}" type="presOf" srcId="{B6DF64F9-CBDD-48AA-BF83-528E8664010E}" destId="{1FD44F0D-4868-4654-BC2A-B5A4960FDD4B}" srcOrd="0" destOrd="0" presId="urn:microsoft.com/office/officeart/2005/8/layout/hierarchy3"/>
    <dgm:cxn modelId="{1E142AC7-063F-45BA-8697-6DA65CF789AF}" type="presOf" srcId="{A8E45A3A-FF0B-4EB8-9E11-B78E8DE1F30F}" destId="{CCA6995F-00DD-4A6F-9512-43DE2E46F8AC}" srcOrd="0" destOrd="0" presId="urn:microsoft.com/office/officeart/2005/8/layout/hierarchy3"/>
    <dgm:cxn modelId="{F8B450D5-D697-471C-BEB2-70DB8931814F}" type="presOf" srcId="{D6926184-EC38-4705-A171-5442469052CA}" destId="{7754883D-DEA0-40EF-83FA-93AE4447189E}" srcOrd="0" destOrd="0" presId="urn:microsoft.com/office/officeart/2005/8/layout/hierarchy3"/>
    <dgm:cxn modelId="{CA33C97D-E647-462A-9A52-59D25E002669}" srcId="{22C41B53-F833-4707-ABA6-0D03C753C628}" destId="{BD207BE4-CB6A-4A92-B0BF-9A16B223F46F}" srcOrd="0" destOrd="0" parTransId="{B259A725-D03E-4316-A2A3-59BD5ACDBA8D}" sibTransId="{84715E2F-6D9D-4F55-8C62-B7D841E23A88}"/>
    <dgm:cxn modelId="{54C504A5-8E6C-4918-BD96-11E1811B67C4}" srcId="{BD207BE4-CB6A-4A92-B0BF-9A16B223F46F}" destId="{846B3602-F20C-4125-898C-61F599457123}" srcOrd="0" destOrd="0" parTransId="{33A272B2-2B5F-475D-B0A9-BB697C973DC0}" sibTransId="{1A13BBAA-A477-46C5-8B7E-A4F08ABB9EA6}"/>
    <dgm:cxn modelId="{098857CE-E7CA-4C50-AC96-364B056F5002}" srcId="{1359DBEF-35F4-4220-826F-D5EAC884D916}" destId="{7A102752-52A7-4239-85C7-697DE14AA7C7}" srcOrd="3" destOrd="0" parTransId="{27E65E2F-BD5E-4420-AA63-D19365EB3C3E}" sibTransId="{D6F902F4-CBF3-4BB7-8CF4-2DAAE1EFECCC}"/>
    <dgm:cxn modelId="{FB8AA5D1-2510-4B52-A885-42A0337836B6}" type="presOf" srcId="{33A272B2-2B5F-475D-B0A9-BB697C973DC0}" destId="{165FA073-510C-4353-B7C7-45C33379D76F}" srcOrd="0" destOrd="0" presId="urn:microsoft.com/office/officeart/2005/8/layout/hierarchy3"/>
    <dgm:cxn modelId="{45A88270-4E8A-41CE-8EFD-DDAB867653B9}" srcId="{1359DBEF-35F4-4220-826F-D5EAC884D916}" destId="{C1EB80F2-8ED3-47B7-8642-43DF897DFEE6}" srcOrd="2" destOrd="0" parTransId="{083F2180-5341-4BD1-9F7C-6E14928B2790}" sibTransId="{FE2B49AA-9E9E-4269-8E82-44E5C2A4667E}"/>
    <dgm:cxn modelId="{6E32758B-A7D5-4099-8F6C-453A18DC6BBF}" type="presOf" srcId="{C1EB80F2-8ED3-47B7-8642-43DF897DFEE6}" destId="{AF724260-C3E2-489E-BA6F-032ECEA1488E}" srcOrd="0" destOrd="0" presId="urn:microsoft.com/office/officeart/2005/8/layout/hierarchy3"/>
    <dgm:cxn modelId="{93EFCDAF-86D3-4883-97F5-5B64861CF76E}" srcId="{BD207BE4-CB6A-4A92-B0BF-9A16B223F46F}" destId="{B6DF64F9-CBDD-48AA-BF83-528E8664010E}" srcOrd="1" destOrd="0" parTransId="{D6926184-EC38-4705-A171-5442469052CA}" sibTransId="{6F61C40C-DF6F-4129-B61B-61A9C3C7CD10}"/>
    <dgm:cxn modelId="{05273F8C-9E3D-4BD7-AC9B-916106B2414A}" type="presOf" srcId="{27E65E2F-BD5E-4420-AA63-D19365EB3C3E}" destId="{34961ABC-8630-42B4-8C56-5D23C53AA226}" srcOrd="0" destOrd="0" presId="urn:microsoft.com/office/officeart/2005/8/layout/hierarchy3"/>
    <dgm:cxn modelId="{0EE6217E-9A70-43E4-AF9F-2AD77FDE799C}" type="presOf" srcId="{BD207BE4-CB6A-4A92-B0BF-9A16B223F46F}" destId="{C1FC1A97-F18F-4223-AD64-50CC7DA375E4}" srcOrd="0" destOrd="0" presId="urn:microsoft.com/office/officeart/2005/8/layout/hierarchy3"/>
    <dgm:cxn modelId="{231700A7-00A1-49F5-A1AA-DF05C75B45FD}" srcId="{1359DBEF-35F4-4220-826F-D5EAC884D916}" destId="{D8603005-291A-41FF-B0B6-C69B3BC30B56}" srcOrd="1" destOrd="0" parTransId="{3A7AA549-EAE2-4474-ABDC-9FB6D2D196CB}" sibTransId="{0B6CF1B5-95EC-4634-86E2-2C20CA530C14}"/>
    <dgm:cxn modelId="{082F8087-24DD-4C7E-8236-B60DF281EBF8}" type="presOf" srcId="{1359DBEF-35F4-4220-826F-D5EAC884D916}" destId="{AF41162F-BA76-4268-ADA1-66416AD6D3CD}" srcOrd="0" destOrd="0" presId="urn:microsoft.com/office/officeart/2005/8/layout/hierarchy3"/>
    <dgm:cxn modelId="{082A13CA-59B3-42BB-BA08-993768F6F717}" type="presParOf" srcId="{B2C8C20A-2C41-4014-9E29-AA85D0D5D6D6}" destId="{1317DF71-AD25-4F31-8F50-66BFB315E0DA}" srcOrd="0" destOrd="0" presId="urn:microsoft.com/office/officeart/2005/8/layout/hierarchy3"/>
    <dgm:cxn modelId="{FE5050A7-55EE-4EAA-ADCD-F461007F6628}" type="presParOf" srcId="{1317DF71-AD25-4F31-8F50-66BFB315E0DA}" destId="{0AC5CB27-18A7-431F-A685-6F076BA960A1}" srcOrd="0" destOrd="0" presId="urn:microsoft.com/office/officeart/2005/8/layout/hierarchy3"/>
    <dgm:cxn modelId="{25EA3FD2-B90E-4666-B1EF-2953F97BA2B9}" type="presParOf" srcId="{0AC5CB27-18A7-431F-A685-6F076BA960A1}" destId="{C1FC1A97-F18F-4223-AD64-50CC7DA375E4}" srcOrd="0" destOrd="0" presId="urn:microsoft.com/office/officeart/2005/8/layout/hierarchy3"/>
    <dgm:cxn modelId="{E0506D05-1DEA-4F83-8BCE-C2573C389F85}" type="presParOf" srcId="{0AC5CB27-18A7-431F-A685-6F076BA960A1}" destId="{93FECABB-0F4D-4850-BA4E-55E106329DB7}" srcOrd="1" destOrd="0" presId="urn:microsoft.com/office/officeart/2005/8/layout/hierarchy3"/>
    <dgm:cxn modelId="{F077BB43-F38D-4D34-B35B-987E9B1E89B2}" type="presParOf" srcId="{1317DF71-AD25-4F31-8F50-66BFB315E0DA}" destId="{F3F70925-09C9-449C-9C42-D7BE4304326F}" srcOrd="1" destOrd="0" presId="urn:microsoft.com/office/officeart/2005/8/layout/hierarchy3"/>
    <dgm:cxn modelId="{504F68FD-DF6B-4464-A319-0CC257F49FBB}" type="presParOf" srcId="{F3F70925-09C9-449C-9C42-D7BE4304326F}" destId="{165FA073-510C-4353-B7C7-45C33379D76F}" srcOrd="0" destOrd="0" presId="urn:microsoft.com/office/officeart/2005/8/layout/hierarchy3"/>
    <dgm:cxn modelId="{2917F3E6-AFB8-4C28-9806-807EA418125A}" type="presParOf" srcId="{F3F70925-09C9-449C-9C42-D7BE4304326F}" destId="{C19D9721-108A-4514-B6FA-10E803A03E9C}" srcOrd="1" destOrd="0" presId="urn:microsoft.com/office/officeart/2005/8/layout/hierarchy3"/>
    <dgm:cxn modelId="{BA1EE453-DABD-4CED-8868-97DE24E5A530}" type="presParOf" srcId="{F3F70925-09C9-449C-9C42-D7BE4304326F}" destId="{7754883D-DEA0-40EF-83FA-93AE4447189E}" srcOrd="2" destOrd="0" presId="urn:microsoft.com/office/officeart/2005/8/layout/hierarchy3"/>
    <dgm:cxn modelId="{416C12E0-C019-4549-8D8E-01EEC90BF98B}" type="presParOf" srcId="{F3F70925-09C9-449C-9C42-D7BE4304326F}" destId="{1FD44F0D-4868-4654-BC2A-B5A4960FDD4B}" srcOrd="3" destOrd="0" presId="urn:microsoft.com/office/officeart/2005/8/layout/hierarchy3"/>
    <dgm:cxn modelId="{8EA4F683-D861-4E0F-9E78-F6D718491B5A}" type="presParOf" srcId="{F3F70925-09C9-449C-9C42-D7BE4304326F}" destId="{422BBEDD-A4EF-4B97-8670-00158FF0B958}" srcOrd="4" destOrd="0" presId="urn:microsoft.com/office/officeart/2005/8/layout/hierarchy3"/>
    <dgm:cxn modelId="{2EE7993F-69CF-4737-85A9-5185DE9D4225}" type="presParOf" srcId="{F3F70925-09C9-449C-9C42-D7BE4304326F}" destId="{CCA6995F-00DD-4A6F-9512-43DE2E46F8AC}" srcOrd="5" destOrd="0" presId="urn:microsoft.com/office/officeart/2005/8/layout/hierarchy3"/>
    <dgm:cxn modelId="{1FEA9F27-8F6F-435C-B734-F3E8D4485D17}" type="presParOf" srcId="{B2C8C20A-2C41-4014-9E29-AA85D0D5D6D6}" destId="{B368EDB9-FE06-4035-A6C9-7EED0D3C2C2B}" srcOrd="1" destOrd="0" presId="urn:microsoft.com/office/officeart/2005/8/layout/hierarchy3"/>
    <dgm:cxn modelId="{2F9851FB-809C-41D8-8FA1-37FDCF23636F}" type="presParOf" srcId="{B368EDB9-FE06-4035-A6C9-7EED0D3C2C2B}" destId="{2FA001C2-656F-4D13-8FA9-CCB7F918C53B}" srcOrd="0" destOrd="0" presId="urn:microsoft.com/office/officeart/2005/8/layout/hierarchy3"/>
    <dgm:cxn modelId="{70F65AA1-1F0C-4273-B088-C3854BE2CDD9}" type="presParOf" srcId="{2FA001C2-656F-4D13-8FA9-CCB7F918C53B}" destId="{AF41162F-BA76-4268-ADA1-66416AD6D3CD}" srcOrd="0" destOrd="0" presId="urn:microsoft.com/office/officeart/2005/8/layout/hierarchy3"/>
    <dgm:cxn modelId="{1C46ADDA-D4D8-470F-88CD-35F39324BF2C}" type="presParOf" srcId="{2FA001C2-656F-4D13-8FA9-CCB7F918C53B}" destId="{DAA0B42B-9ED0-45FF-B1D3-0215E64EAF77}" srcOrd="1" destOrd="0" presId="urn:microsoft.com/office/officeart/2005/8/layout/hierarchy3"/>
    <dgm:cxn modelId="{FBF2A5EC-16CB-498F-9FDB-D2D22C2A2C3C}" type="presParOf" srcId="{B368EDB9-FE06-4035-A6C9-7EED0D3C2C2B}" destId="{1ECC6A93-419C-4160-91FC-7B4EEC3C345B}" srcOrd="1" destOrd="0" presId="urn:microsoft.com/office/officeart/2005/8/layout/hierarchy3"/>
    <dgm:cxn modelId="{4ECFF36C-F355-4CF9-90C8-989D3756BC9E}" type="presParOf" srcId="{1ECC6A93-419C-4160-91FC-7B4EEC3C345B}" destId="{B956624C-CD3F-48B9-9A4A-358E6997CA10}" srcOrd="0" destOrd="0" presId="urn:microsoft.com/office/officeart/2005/8/layout/hierarchy3"/>
    <dgm:cxn modelId="{664D2525-A4DC-44BB-9735-7CEEB727C3AD}" type="presParOf" srcId="{1ECC6A93-419C-4160-91FC-7B4EEC3C345B}" destId="{0B0B6241-0532-48D2-B010-624016BEEF2F}" srcOrd="1" destOrd="0" presId="urn:microsoft.com/office/officeart/2005/8/layout/hierarchy3"/>
    <dgm:cxn modelId="{7DC6C6AA-F9AD-4C5B-B214-A44F39C5CDB2}" type="presParOf" srcId="{1ECC6A93-419C-4160-91FC-7B4EEC3C345B}" destId="{95AE1C61-1167-4CFA-962B-A0DBD95B0DB8}" srcOrd="2" destOrd="0" presId="urn:microsoft.com/office/officeart/2005/8/layout/hierarchy3"/>
    <dgm:cxn modelId="{6115AFD2-DD38-4EE3-882D-2565D160EEDA}" type="presParOf" srcId="{1ECC6A93-419C-4160-91FC-7B4EEC3C345B}" destId="{544F8908-50F7-4693-856A-E27059CB5AD3}" srcOrd="3" destOrd="0" presId="urn:microsoft.com/office/officeart/2005/8/layout/hierarchy3"/>
    <dgm:cxn modelId="{E24B21D6-A7ED-420B-BAE8-70E2C7A480D4}" type="presParOf" srcId="{1ECC6A93-419C-4160-91FC-7B4EEC3C345B}" destId="{F8A62989-3773-4301-859B-283D924E8E5C}" srcOrd="4" destOrd="0" presId="urn:microsoft.com/office/officeart/2005/8/layout/hierarchy3"/>
    <dgm:cxn modelId="{6EACB819-29BA-4E96-A8DF-6AA5081F57F3}" type="presParOf" srcId="{1ECC6A93-419C-4160-91FC-7B4EEC3C345B}" destId="{AF724260-C3E2-489E-BA6F-032ECEA1488E}" srcOrd="5" destOrd="0" presId="urn:microsoft.com/office/officeart/2005/8/layout/hierarchy3"/>
    <dgm:cxn modelId="{030DB44A-A8E8-4201-9BFD-50D199776494}" type="presParOf" srcId="{1ECC6A93-419C-4160-91FC-7B4EEC3C345B}" destId="{34961ABC-8630-42B4-8C56-5D23C53AA226}" srcOrd="6" destOrd="0" presId="urn:microsoft.com/office/officeart/2005/8/layout/hierarchy3"/>
    <dgm:cxn modelId="{D76D01FA-DBA7-49FE-B91E-C651A1D4B21E}" type="presParOf" srcId="{1ECC6A93-419C-4160-91FC-7B4EEC3C345B}" destId="{A175B3C0-1B0C-4E69-8808-36C87F87DDDA}"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763E57-FD26-463A-9DCE-ED905363BEEF}"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IN"/>
        </a:p>
      </dgm:t>
    </dgm:pt>
    <dgm:pt modelId="{F46A2B91-F0DC-4EF8-AFE8-51F4E8B72524}">
      <dgm:prSet phldrT="[Text]"/>
      <dgm:spPr/>
      <dgm:t>
        <a:bodyPr/>
        <a:lstStyle/>
        <a:p>
          <a:r>
            <a:rPr lang="en-GB" b="1" dirty="0"/>
            <a:t>Expenses Clarity</a:t>
          </a:r>
          <a:endParaRPr lang="en-IN" b="1" dirty="0"/>
        </a:p>
      </dgm:t>
    </dgm:pt>
    <dgm:pt modelId="{AAAAB432-1CB2-413E-BA7A-E76BD2AC408E}" type="parTrans" cxnId="{7001351A-6E1A-4E39-AE7D-96387AE6C225}">
      <dgm:prSet/>
      <dgm:spPr/>
      <dgm:t>
        <a:bodyPr/>
        <a:lstStyle/>
        <a:p>
          <a:endParaRPr lang="en-IN"/>
        </a:p>
      </dgm:t>
    </dgm:pt>
    <dgm:pt modelId="{C722CAD1-9FBF-4561-AAEC-E3603F18CDF6}" type="sibTrans" cxnId="{7001351A-6E1A-4E39-AE7D-96387AE6C225}">
      <dgm:prSet/>
      <dgm:spPr/>
      <dgm:t>
        <a:bodyPr/>
        <a:lstStyle/>
        <a:p>
          <a:endParaRPr lang="en-IN"/>
        </a:p>
      </dgm:t>
    </dgm:pt>
    <dgm:pt modelId="{D4DA9A8E-F9EC-47BF-998C-63DA6CE3F2E2}">
      <dgm:prSet phldrT="[Text]"/>
      <dgm:spPr/>
      <dgm:t>
        <a:bodyPr/>
        <a:lstStyle/>
        <a:p>
          <a:r>
            <a:rPr lang="en-GB" b="1" dirty="0"/>
            <a:t>Cost Awareness</a:t>
          </a:r>
          <a:endParaRPr lang="en-IN" b="1" dirty="0"/>
        </a:p>
      </dgm:t>
    </dgm:pt>
    <dgm:pt modelId="{9A112AFB-B4AE-4000-BBDE-21652171DCFC}" type="parTrans" cxnId="{E0235669-1FB3-4D05-B229-CDA0760CA584}">
      <dgm:prSet/>
      <dgm:spPr/>
      <dgm:t>
        <a:bodyPr/>
        <a:lstStyle/>
        <a:p>
          <a:endParaRPr lang="en-IN"/>
        </a:p>
      </dgm:t>
    </dgm:pt>
    <dgm:pt modelId="{F5292943-8D2A-4CC9-ACA7-F95BB97AB8F3}" type="sibTrans" cxnId="{E0235669-1FB3-4D05-B229-CDA0760CA584}">
      <dgm:prSet/>
      <dgm:spPr/>
      <dgm:t>
        <a:bodyPr/>
        <a:lstStyle/>
        <a:p>
          <a:endParaRPr lang="en-IN"/>
        </a:p>
      </dgm:t>
    </dgm:pt>
    <dgm:pt modelId="{39D9EDF6-B8CE-4572-B468-66EA12803381}">
      <dgm:prSet phldrT="[Text]"/>
      <dgm:spPr/>
      <dgm:t>
        <a:bodyPr/>
        <a:lstStyle/>
        <a:p>
          <a:r>
            <a:rPr lang="en-GB" b="1" dirty="0"/>
            <a:t>Pre-payment Decision</a:t>
          </a:r>
          <a:endParaRPr lang="en-IN" b="1" dirty="0"/>
        </a:p>
      </dgm:t>
    </dgm:pt>
    <dgm:pt modelId="{8E57BED8-F4FF-4165-8537-29CCA1C0E08C}" type="parTrans" cxnId="{E5CD7FF4-87C1-4DCB-95C2-EC4C420707B4}">
      <dgm:prSet/>
      <dgm:spPr/>
      <dgm:t>
        <a:bodyPr/>
        <a:lstStyle/>
        <a:p>
          <a:endParaRPr lang="en-IN"/>
        </a:p>
      </dgm:t>
    </dgm:pt>
    <dgm:pt modelId="{B3A46A53-DE2B-4EDF-BF97-82F54A32AB26}" type="sibTrans" cxnId="{E5CD7FF4-87C1-4DCB-95C2-EC4C420707B4}">
      <dgm:prSet/>
      <dgm:spPr/>
      <dgm:t>
        <a:bodyPr/>
        <a:lstStyle/>
        <a:p>
          <a:endParaRPr lang="en-IN"/>
        </a:p>
      </dgm:t>
    </dgm:pt>
    <dgm:pt modelId="{016C9C52-A2E9-44C8-BB95-B5D49613CE7E}">
      <dgm:prSet phldrT="[Text]"/>
      <dgm:spPr/>
      <dgm:t>
        <a:bodyPr/>
        <a:lstStyle/>
        <a:p>
          <a:r>
            <a:rPr lang="en-GB" b="1" dirty="0"/>
            <a:t>Tax Calculation</a:t>
          </a:r>
          <a:endParaRPr lang="en-IN" b="1" dirty="0"/>
        </a:p>
      </dgm:t>
    </dgm:pt>
    <dgm:pt modelId="{50918B08-AF2B-4A11-B850-E736F2FBB511}" type="parTrans" cxnId="{0123037F-B445-4970-BC17-EAAC90FC3E5A}">
      <dgm:prSet/>
      <dgm:spPr/>
      <dgm:t>
        <a:bodyPr/>
        <a:lstStyle/>
        <a:p>
          <a:endParaRPr lang="en-IN"/>
        </a:p>
      </dgm:t>
    </dgm:pt>
    <dgm:pt modelId="{88F429B6-7EE0-4AB3-8EF7-094ADAE2DAA1}" type="sibTrans" cxnId="{0123037F-B445-4970-BC17-EAAC90FC3E5A}">
      <dgm:prSet/>
      <dgm:spPr/>
      <dgm:t>
        <a:bodyPr/>
        <a:lstStyle/>
        <a:p>
          <a:endParaRPr lang="en-IN"/>
        </a:p>
      </dgm:t>
    </dgm:pt>
    <dgm:pt modelId="{5E362545-6870-46B0-9D54-380E940B4E08}" type="pres">
      <dgm:prSet presAssocID="{F0763E57-FD26-463A-9DCE-ED905363BEEF}" presName="Name0" presStyleCnt="0">
        <dgm:presLayoutVars>
          <dgm:chMax val="7"/>
          <dgm:chPref val="7"/>
          <dgm:dir/>
        </dgm:presLayoutVars>
      </dgm:prSet>
      <dgm:spPr/>
      <dgm:t>
        <a:bodyPr/>
        <a:lstStyle/>
        <a:p>
          <a:endParaRPr lang="en-US"/>
        </a:p>
      </dgm:t>
    </dgm:pt>
    <dgm:pt modelId="{7824D12E-1B4C-4F98-B227-97BE087F2CB9}" type="pres">
      <dgm:prSet presAssocID="{F0763E57-FD26-463A-9DCE-ED905363BEEF}" presName="Name1" presStyleCnt="0"/>
      <dgm:spPr/>
    </dgm:pt>
    <dgm:pt modelId="{2A9A9DD6-8467-4E0C-B122-28AEFA4B8927}" type="pres">
      <dgm:prSet presAssocID="{F0763E57-FD26-463A-9DCE-ED905363BEEF}" presName="cycle" presStyleCnt="0"/>
      <dgm:spPr/>
    </dgm:pt>
    <dgm:pt modelId="{E76264AF-69FF-4FB8-A53E-7F12B36FDE31}" type="pres">
      <dgm:prSet presAssocID="{F0763E57-FD26-463A-9DCE-ED905363BEEF}" presName="srcNode" presStyleLbl="node1" presStyleIdx="0" presStyleCnt="4"/>
      <dgm:spPr/>
    </dgm:pt>
    <dgm:pt modelId="{DB61063C-67C2-49FD-B7CF-A2E4512C9DD5}" type="pres">
      <dgm:prSet presAssocID="{F0763E57-FD26-463A-9DCE-ED905363BEEF}" presName="conn" presStyleLbl="parChTrans1D2" presStyleIdx="0" presStyleCnt="1"/>
      <dgm:spPr/>
      <dgm:t>
        <a:bodyPr/>
        <a:lstStyle/>
        <a:p>
          <a:endParaRPr lang="en-US"/>
        </a:p>
      </dgm:t>
    </dgm:pt>
    <dgm:pt modelId="{A232F7E1-AA11-44D0-AAB2-E54DB194CBC4}" type="pres">
      <dgm:prSet presAssocID="{F0763E57-FD26-463A-9DCE-ED905363BEEF}" presName="extraNode" presStyleLbl="node1" presStyleIdx="0" presStyleCnt="4"/>
      <dgm:spPr/>
    </dgm:pt>
    <dgm:pt modelId="{B71D4006-2923-4EE9-B056-03DF1A1E02F2}" type="pres">
      <dgm:prSet presAssocID="{F0763E57-FD26-463A-9DCE-ED905363BEEF}" presName="dstNode" presStyleLbl="node1" presStyleIdx="0" presStyleCnt="4"/>
      <dgm:spPr/>
    </dgm:pt>
    <dgm:pt modelId="{A4B740B9-7D84-4C02-A33E-FE8BBDC75422}" type="pres">
      <dgm:prSet presAssocID="{F46A2B91-F0DC-4EF8-AFE8-51F4E8B72524}" presName="text_1" presStyleLbl="node1" presStyleIdx="0" presStyleCnt="4">
        <dgm:presLayoutVars>
          <dgm:bulletEnabled val="1"/>
        </dgm:presLayoutVars>
      </dgm:prSet>
      <dgm:spPr/>
      <dgm:t>
        <a:bodyPr/>
        <a:lstStyle/>
        <a:p>
          <a:endParaRPr lang="en-US"/>
        </a:p>
      </dgm:t>
    </dgm:pt>
    <dgm:pt modelId="{7AAF45A2-D7E8-47F5-859A-CA9B24BCA080}" type="pres">
      <dgm:prSet presAssocID="{F46A2B91-F0DC-4EF8-AFE8-51F4E8B72524}" presName="accent_1" presStyleCnt="0"/>
      <dgm:spPr/>
    </dgm:pt>
    <dgm:pt modelId="{10D9696C-0EB1-4C7A-9E7E-E7CF48BF7211}" type="pres">
      <dgm:prSet presAssocID="{F46A2B91-F0DC-4EF8-AFE8-51F4E8B72524}" presName="accentRepeatNode" presStyleLbl="solidFgAcc1" presStyleIdx="0" presStyleCnt="4"/>
      <dgm:spPr/>
    </dgm:pt>
    <dgm:pt modelId="{C91FA933-F989-46EE-818B-09A22FEE5BF3}" type="pres">
      <dgm:prSet presAssocID="{D4DA9A8E-F9EC-47BF-998C-63DA6CE3F2E2}" presName="text_2" presStyleLbl="node1" presStyleIdx="1" presStyleCnt="4">
        <dgm:presLayoutVars>
          <dgm:bulletEnabled val="1"/>
        </dgm:presLayoutVars>
      </dgm:prSet>
      <dgm:spPr/>
      <dgm:t>
        <a:bodyPr/>
        <a:lstStyle/>
        <a:p>
          <a:endParaRPr lang="en-US"/>
        </a:p>
      </dgm:t>
    </dgm:pt>
    <dgm:pt modelId="{F9378684-773E-4096-99B1-4C9913DA4EA7}" type="pres">
      <dgm:prSet presAssocID="{D4DA9A8E-F9EC-47BF-998C-63DA6CE3F2E2}" presName="accent_2" presStyleCnt="0"/>
      <dgm:spPr/>
    </dgm:pt>
    <dgm:pt modelId="{00CF8027-BDD9-4AC5-9AB1-E40CC41BA5A5}" type="pres">
      <dgm:prSet presAssocID="{D4DA9A8E-F9EC-47BF-998C-63DA6CE3F2E2}" presName="accentRepeatNode" presStyleLbl="solidFgAcc1" presStyleIdx="1" presStyleCnt="4"/>
      <dgm:spPr/>
    </dgm:pt>
    <dgm:pt modelId="{7E8277BB-0A9D-45BC-9504-14C0D8D24A4B}" type="pres">
      <dgm:prSet presAssocID="{39D9EDF6-B8CE-4572-B468-66EA12803381}" presName="text_3" presStyleLbl="node1" presStyleIdx="2" presStyleCnt="4">
        <dgm:presLayoutVars>
          <dgm:bulletEnabled val="1"/>
        </dgm:presLayoutVars>
      </dgm:prSet>
      <dgm:spPr/>
      <dgm:t>
        <a:bodyPr/>
        <a:lstStyle/>
        <a:p>
          <a:endParaRPr lang="en-US"/>
        </a:p>
      </dgm:t>
    </dgm:pt>
    <dgm:pt modelId="{CAD5148F-9097-4C18-8873-2971B4A0F2DA}" type="pres">
      <dgm:prSet presAssocID="{39D9EDF6-B8CE-4572-B468-66EA12803381}" presName="accent_3" presStyleCnt="0"/>
      <dgm:spPr/>
    </dgm:pt>
    <dgm:pt modelId="{617E0A31-F084-4496-B2A5-BF455888B82E}" type="pres">
      <dgm:prSet presAssocID="{39D9EDF6-B8CE-4572-B468-66EA12803381}" presName="accentRepeatNode" presStyleLbl="solidFgAcc1" presStyleIdx="2" presStyleCnt="4"/>
      <dgm:spPr/>
    </dgm:pt>
    <dgm:pt modelId="{A73B78A0-B9EF-4675-B40D-C8592B1FF30E}" type="pres">
      <dgm:prSet presAssocID="{016C9C52-A2E9-44C8-BB95-B5D49613CE7E}" presName="text_4" presStyleLbl="node1" presStyleIdx="3" presStyleCnt="4">
        <dgm:presLayoutVars>
          <dgm:bulletEnabled val="1"/>
        </dgm:presLayoutVars>
      </dgm:prSet>
      <dgm:spPr/>
      <dgm:t>
        <a:bodyPr/>
        <a:lstStyle/>
        <a:p>
          <a:endParaRPr lang="en-US"/>
        </a:p>
      </dgm:t>
    </dgm:pt>
    <dgm:pt modelId="{C0DD26ED-2CE0-4B7E-ADE8-BF9DD39C7882}" type="pres">
      <dgm:prSet presAssocID="{016C9C52-A2E9-44C8-BB95-B5D49613CE7E}" presName="accent_4" presStyleCnt="0"/>
      <dgm:spPr/>
    </dgm:pt>
    <dgm:pt modelId="{0352BD06-B4E7-41B3-91F0-FD491A023BE8}" type="pres">
      <dgm:prSet presAssocID="{016C9C52-A2E9-44C8-BB95-B5D49613CE7E}" presName="accentRepeatNode" presStyleLbl="solidFgAcc1" presStyleIdx="3" presStyleCnt="4"/>
      <dgm:spPr/>
    </dgm:pt>
  </dgm:ptLst>
  <dgm:cxnLst>
    <dgm:cxn modelId="{04C9DDBB-A62C-47F7-9970-2EC456C41A50}" type="presOf" srcId="{39D9EDF6-B8CE-4572-B468-66EA12803381}" destId="{7E8277BB-0A9D-45BC-9504-14C0D8D24A4B}" srcOrd="0" destOrd="0" presId="urn:microsoft.com/office/officeart/2008/layout/VerticalCurvedList"/>
    <dgm:cxn modelId="{E0235669-1FB3-4D05-B229-CDA0760CA584}" srcId="{F0763E57-FD26-463A-9DCE-ED905363BEEF}" destId="{D4DA9A8E-F9EC-47BF-998C-63DA6CE3F2E2}" srcOrd="1" destOrd="0" parTransId="{9A112AFB-B4AE-4000-BBDE-21652171DCFC}" sibTransId="{F5292943-8D2A-4CC9-ACA7-F95BB97AB8F3}"/>
    <dgm:cxn modelId="{3BF46D11-4506-45CB-9F47-3F5AD36846DF}" type="presOf" srcId="{F46A2B91-F0DC-4EF8-AFE8-51F4E8B72524}" destId="{A4B740B9-7D84-4C02-A33E-FE8BBDC75422}" srcOrd="0" destOrd="0" presId="urn:microsoft.com/office/officeart/2008/layout/VerticalCurvedList"/>
    <dgm:cxn modelId="{1FE59CA6-C0AC-4F52-A056-1077431110E5}" type="presOf" srcId="{F0763E57-FD26-463A-9DCE-ED905363BEEF}" destId="{5E362545-6870-46B0-9D54-380E940B4E08}" srcOrd="0" destOrd="0" presId="urn:microsoft.com/office/officeart/2008/layout/VerticalCurvedList"/>
    <dgm:cxn modelId="{E5CD7FF4-87C1-4DCB-95C2-EC4C420707B4}" srcId="{F0763E57-FD26-463A-9DCE-ED905363BEEF}" destId="{39D9EDF6-B8CE-4572-B468-66EA12803381}" srcOrd="2" destOrd="0" parTransId="{8E57BED8-F4FF-4165-8537-29CCA1C0E08C}" sibTransId="{B3A46A53-DE2B-4EDF-BF97-82F54A32AB26}"/>
    <dgm:cxn modelId="{7001351A-6E1A-4E39-AE7D-96387AE6C225}" srcId="{F0763E57-FD26-463A-9DCE-ED905363BEEF}" destId="{F46A2B91-F0DC-4EF8-AFE8-51F4E8B72524}" srcOrd="0" destOrd="0" parTransId="{AAAAB432-1CB2-413E-BA7A-E76BD2AC408E}" sibTransId="{C722CAD1-9FBF-4561-AAEC-E3603F18CDF6}"/>
    <dgm:cxn modelId="{03CFFB92-2A0C-41CE-93B9-E519C7A2D799}" type="presOf" srcId="{D4DA9A8E-F9EC-47BF-998C-63DA6CE3F2E2}" destId="{C91FA933-F989-46EE-818B-09A22FEE5BF3}" srcOrd="0" destOrd="0" presId="urn:microsoft.com/office/officeart/2008/layout/VerticalCurvedList"/>
    <dgm:cxn modelId="{BAE6AC74-349E-489A-BAAC-2DD50AB993D7}" type="presOf" srcId="{016C9C52-A2E9-44C8-BB95-B5D49613CE7E}" destId="{A73B78A0-B9EF-4675-B40D-C8592B1FF30E}" srcOrd="0" destOrd="0" presId="urn:microsoft.com/office/officeart/2008/layout/VerticalCurvedList"/>
    <dgm:cxn modelId="{8DF2EC62-20D7-43E6-B675-92FCF4F57F09}" type="presOf" srcId="{C722CAD1-9FBF-4561-AAEC-E3603F18CDF6}" destId="{DB61063C-67C2-49FD-B7CF-A2E4512C9DD5}" srcOrd="0" destOrd="0" presId="urn:microsoft.com/office/officeart/2008/layout/VerticalCurvedList"/>
    <dgm:cxn modelId="{0123037F-B445-4970-BC17-EAAC90FC3E5A}" srcId="{F0763E57-FD26-463A-9DCE-ED905363BEEF}" destId="{016C9C52-A2E9-44C8-BB95-B5D49613CE7E}" srcOrd="3" destOrd="0" parTransId="{50918B08-AF2B-4A11-B850-E736F2FBB511}" sibTransId="{88F429B6-7EE0-4AB3-8EF7-094ADAE2DAA1}"/>
    <dgm:cxn modelId="{1ED00BE5-4F7D-4798-BCF7-DB70858C6A1A}" type="presParOf" srcId="{5E362545-6870-46B0-9D54-380E940B4E08}" destId="{7824D12E-1B4C-4F98-B227-97BE087F2CB9}" srcOrd="0" destOrd="0" presId="urn:microsoft.com/office/officeart/2008/layout/VerticalCurvedList"/>
    <dgm:cxn modelId="{3E8522FB-3640-431F-812E-BC11955AD86A}" type="presParOf" srcId="{7824D12E-1B4C-4F98-B227-97BE087F2CB9}" destId="{2A9A9DD6-8467-4E0C-B122-28AEFA4B8927}" srcOrd="0" destOrd="0" presId="urn:microsoft.com/office/officeart/2008/layout/VerticalCurvedList"/>
    <dgm:cxn modelId="{313AB425-9390-45DD-A16B-348BB9342D20}" type="presParOf" srcId="{2A9A9DD6-8467-4E0C-B122-28AEFA4B8927}" destId="{E76264AF-69FF-4FB8-A53E-7F12B36FDE31}" srcOrd="0" destOrd="0" presId="urn:microsoft.com/office/officeart/2008/layout/VerticalCurvedList"/>
    <dgm:cxn modelId="{8E620F55-8233-4635-A849-B7E44B9D624B}" type="presParOf" srcId="{2A9A9DD6-8467-4E0C-B122-28AEFA4B8927}" destId="{DB61063C-67C2-49FD-B7CF-A2E4512C9DD5}" srcOrd="1" destOrd="0" presId="urn:microsoft.com/office/officeart/2008/layout/VerticalCurvedList"/>
    <dgm:cxn modelId="{39187337-6F72-436F-88F7-36CA4B82B8C9}" type="presParOf" srcId="{2A9A9DD6-8467-4E0C-B122-28AEFA4B8927}" destId="{A232F7E1-AA11-44D0-AAB2-E54DB194CBC4}" srcOrd="2" destOrd="0" presId="urn:microsoft.com/office/officeart/2008/layout/VerticalCurvedList"/>
    <dgm:cxn modelId="{753EB57B-CB89-412B-9981-58510BED9416}" type="presParOf" srcId="{2A9A9DD6-8467-4E0C-B122-28AEFA4B8927}" destId="{B71D4006-2923-4EE9-B056-03DF1A1E02F2}" srcOrd="3" destOrd="0" presId="urn:microsoft.com/office/officeart/2008/layout/VerticalCurvedList"/>
    <dgm:cxn modelId="{6965602A-DFC9-40A7-9356-4F9A3F149ECA}" type="presParOf" srcId="{7824D12E-1B4C-4F98-B227-97BE087F2CB9}" destId="{A4B740B9-7D84-4C02-A33E-FE8BBDC75422}" srcOrd="1" destOrd="0" presId="urn:microsoft.com/office/officeart/2008/layout/VerticalCurvedList"/>
    <dgm:cxn modelId="{293A3140-6D00-4693-94C9-F5A7FD3B2CAE}" type="presParOf" srcId="{7824D12E-1B4C-4F98-B227-97BE087F2CB9}" destId="{7AAF45A2-D7E8-47F5-859A-CA9B24BCA080}" srcOrd="2" destOrd="0" presId="urn:microsoft.com/office/officeart/2008/layout/VerticalCurvedList"/>
    <dgm:cxn modelId="{CEF0F07E-87D5-4F8D-AF95-97CBD9624C04}" type="presParOf" srcId="{7AAF45A2-D7E8-47F5-859A-CA9B24BCA080}" destId="{10D9696C-0EB1-4C7A-9E7E-E7CF48BF7211}" srcOrd="0" destOrd="0" presId="urn:microsoft.com/office/officeart/2008/layout/VerticalCurvedList"/>
    <dgm:cxn modelId="{B60D1D93-7198-4649-86DB-4A1ECA03F862}" type="presParOf" srcId="{7824D12E-1B4C-4F98-B227-97BE087F2CB9}" destId="{C91FA933-F989-46EE-818B-09A22FEE5BF3}" srcOrd="3" destOrd="0" presId="urn:microsoft.com/office/officeart/2008/layout/VerticalCurvedList"/>
    <dgm:cxn modelId="{93FFABE8-7EF6-4035-B00C-5EADF9D6BF60}" type="presParOf" srcId="{7824D12E-1B4C-4F98-B227-97BE087F2CB9}" destId="{F9378684-773E-4096-99B1-4C9913DA4EA7}" srcOrd="4" destOrd="0" presId="urn:microsoft.com/office/officeart/2008/layout/VerticalCurvedList"/>
    <dgm:cxn modelId="{07BACF37-F6E4-4950-BB69-206A69F8AF06}" type="presParOf" srcId="{F9378684-773E-4096-99B1-4C9913DA4EA7}" destId="{00CF8027-BDD9-4AC5-9AB1-E40CC41BA5A5}" srcOrd="0" destOrd="0" presId="urn:microsoft.com/office/officeart/2008/layout/VerticalCurvedList"/>
    <dgm:cxn modelId="{E07E0099-6819-4005-B458-36F650AB4237}" type="presParOf" srcId="{7824D12E-1B4C-4F98-B227-97BE087F2CB9}" destId="{7E8277BB-0A9D-45BC-9504-14C0D8D24A4B}" srcOrd="5" destOrd="0" presId="urn:microsoft.com/office/officeart/2008/layout/VerticalCurvedList"/>
    <dgm:cxn modelId="{C6187E0F-74DA-4D76-A63D-F54A4DAD7871}" type="presParOf" srcId="{7824D12E-1B4C-4F98-B227-97BE087F2CB9}" destId="{CAD5148F-9097-4C18-8873-2971B4A0F2DA}" srcOrd="6" destOrd="0" presId="urn:microsoft.com/office/officeart/2008/layout/VerticalCurvedList"/>
    <dgm:cxn modelId="{8AFB7AA4-4650-4F35-90B1-48DC8722605E}" type="presParOf" srcId="{CAD5148F-9097-4C18-8873-2971B4A0F2DA}" destId="{617E0A31-F084-4496-B2A5-BF455888B82E}" srcOrd="0" destOrd="0" presId="urn:microsoft.com/office/officeart/2008/layout/VerticalCurvedList"/>
    <dgm:cxn modelId="{B6264C31-6C2B-445E-97FD-DFBD94F571CC}" type="presParOf" srcId="{7824D12E-1B4C-4F98-B227-97BE087F2CB9}" destId="{A73B78A0-B9EF-4675-B40D-C8592B1FF30E}" srcOrd="7" destOrd="0" presId="urn:microsoft.com/office/officeart/2008/layout/VerticalCurvedList"/>
    <dgm:cxn modelId="{5F870A2D-3E53-464D-9D16-4C65CAC3700E}" type="presParOf" srcId="{7824D12E-1B4C-4F98-B227-97BE087F2CB9}" destId="{C0DD26ED-2CE0-4B7E-ADE8-BF9DD39C7882}" srcOrd="8" destOrd="0" presId="urn:microsoft.com/office/officeart/2008/layout/VerticalCurvedList"/>
    <dgm:cxn modelId="{F7005211-36C4-4D1C-AB49-5E9C28B7C0A7}" type="presParOf" srcId="{C0DD26ED-2CE0-4B7E-ADE8-BF9DD39C7882}" destId="{0352BD06-B4E7-41B3-91F0-FD491A023BE8}"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E62F31B-A1B3-4F52-9220-A94DED2A60FE}" type="doc">
      <dgm:prSet loTypeId="urn:diagrams.loki3.com/TabbedArc+Icon" loCatId="officeonline" qsTypeId="urn:microsoft.com/office/officeart/2005/8/quickstyle/simple1" qsCatId="simple" csTypeId="urn:microsoft.com/office/officeart/2005/8/colors/colorful1" csCatId="colorful" phldr="1"/>
      <dgm:spPr/>
      <dgm:t>
        <a:bodyPr/>
        <a:lstStyle/>
        <a:p>
          <a:endParaRPr lang="en-IN"/>
        </a:p>
      </dgm:t>
    </dgm:pt>
    <dgm:pt modelId="{30D431C4-4F27-4DAF-B110-C2157080A89F}">
      <dgm:prSet phldrT="[Text]"/>
      <dgm:spPr/>
      <dgm:t>
        <a:bodyPr/>
        <a:lstStyle/>
        <a:p>
          <a:r>
            <a:rPr lang="en-GB" dirty="0"/>
            <a:t>Deposit</a:t>
          </a:r>
          <a:endParaRPr lang="en-IN" dirty="0"/>
        </a:p>
      </dgm:t>
    </dgm:pt>
    <dgm:pt modelId="{9F890F51-97F8-4D7D-BC36-A1E5FB857C9E}" type="parTrans" cxnId="{3C3F39CC-E354-48F0-B6F6-049E5B558601}">
      <dgm:prSet/>
      <dgm:spPr/>
      <dgm:t>
        <a:bodyPr/>
        <a:lstStyle/>
        <a:p>
          <a:endParaRPr lang="en-IN"/>
        </a:p>
      </dgm:t>
    </dgm:pt>
    <dgm:pt modelId="{E6435BEA-86E0-4552-B9EB-A55162ACED45}" type="sibTrans" cxnId="{3C3F39CC-E354-48F0-B6F6-049E5B558601}">
      <dgm:prSet/>
      <dgm:spPr/>
      <dgm:t>
        <a:bodyPr/>
        <a:lstStyle/>
        <a:p>
          <a:endParaRPr lang="en-IN"/>
        </a:p>
      </dgm:t>
    </dgm:pt>
    <dgm:pt modelId="{84EB7E0C-BF8E-4555-84F8-7C3B0541A04B}">
      <dgm:prSet phldrT="[Text]"/>
      <dgm:spPr/>
      <dgm:t>
        <a:bodyPr/>
        <a:lstStyle/>
        <a:p>
          <a:r>
            <a:rPr lang="en-GB" dirty="0"/>
            <a:t>Precious Metal</a:t>
          </a:r>
          <a:endParaRPr lang="en-IN" dirty="0"/>
        </a:p>
      </dgm:t>
    </dgm:pt>
    <dgm:pt modelId="{9D982DEE-01D0-4200-BA45-F22131D306CA}" type="parTrans" cxnId="{CFB9767F-8055-45FF-8060-E5CB10A12930}">
      <dgm:prSet/>
      <dgm:spPr/>
      <dgm:t>
        <a:bodyPr/>
        <a:lstStyle/>
        <a:p>
          <a:endParaRPr lang="en-IN"/>
        </a:p>
      </dgm:t>
    </dgm:pt>
    <dgm:pt modelId="{50BE61C1-6260-451D-A76E-08190C0B77A2}" type="sibTrans" cxnId="{CFB9767F-8055-45FF-8060-E5CB10A12930}">
      <dgm:prSet/>
      <dgm:spPr/>
      <dgm:t>
        <a:bodyPr/>
        <a:lstStyle/>
        <a:p>
          <a:endParaRPr lang="en-IN"/>
        </a:p>
      </dgm:t>
    </dgm:pt>
    <dgm:pt modelId="{DFD423BB-5EF4-4873-B7A8-A1E6F5B05623}">
      <dgm:prSet phldrT="[Text]"/>
      <dgm:spPr/>
      <dgm:t>
        <a:bodyPr/>
        <a:lstStyle/>
        <a:p>
          <a:r>
            <a:rPr lang="en-GB" dirty="0"/>
            <a:t>Currency</a:t>
          </a:r>
          <a:endParaRPr lang="en-IN" dirty="0"/>
        </a:p>
      </dgm:t>
    </dgm:pt>
    <dgm:pt modelId="{5AE5F111-8631-4672-94B1-28EAA13FD588}" type="parTrans" cxnId="{48199FC0-4192-4E85-9D23-3F939E94D9CE}">
      <dgm:prSet/>
      <dgm:spPr/>
      <dgm:t>
        <a:bodyPr/>
        <a:lstStyle/>
        <a:p>
          <a:endParaRPr lang="en-IN"/>
        </a:p>
      </dgm:t>
    </dgm:pt>
    <dgm:pt modelId="{70AA49BF-D3AF-4006-BE2C-25D2A0E1E64C}" type="sibTrans" cxnId="{48199FC0-4192-4E85-9D23-3F939E94D9CE}">
      <dgm:prSet/>
      <dgm:spPr/>
      <dgm:t>
        <a:bodyPr/>
        <a:lstStyle/>
        <a:p>
          <a:endParaRPr lang="en-IN"/>
        </a:p>
      </dgm:t>
    </dgm:pt>
    <dgm:pt modelId="{AE4D4651-8140-4044-BA19-8D7253DDFB78}">
      <dgm:prSet phldrT="[Text]"/>
      <dgm:spPr/>
      <dgm:t>
        <a:bodyPr/>
        <a:lstStyle/>
        <a:p>
          <a:r>
            <a:rPr lang="en-GB" dirty="0"/>
            <a:t>Mutual Funds</a:t>
          </a:r>
          <a:endParaRPr lang="en-IN" dirty="0"/>
        </a:p>
      </dgm:t>
    </dgm:pt>
    <dgm:pt modelId="{AA469A41-CE66-494B-A195-9DF42D572B08}" type="parTrans" cxnId="{9519650C-E89B-4FFD-8A46-D1533592CB8F}">
      <dgm:prSet/>
      <dgm:spPr/>
      <dgm:t>
        <a:bodyPr/>
        <a:lstStyle/>
        <a:p>
          <a:endParaRPr lang="en-IN"/>
        </a:p>
      </dgm:t>
    </dgm:pt>
    <dgm:pt modelId="{10C33B36-249D-44AF-A8F6-8B670596BC61}" type="sibTrans" cxnId="{9519650C-E89B-4FFD-8A46-D1533592CB8F}">
      <dgm:prSet/>
      <dgm:spPr/>
      <dgm:t>
        <a:bodyPr/>
        <a:lstStyle/>
        <a:p>
          <a:endParaRPr lang="en-IN"/>
        </a:p>
      </dgm:t>
    </dgm:pt>
    <dgm:pt modelId="{281EA7D0-6E7F-4846-9907-852220BCE77F}">
      <dgm:prSet phldrT="[Text]"/>
      <dgm:spPr/>
      <dgm:t>
        <a:bodyPr/>
        <a:lstStyle/>
        <a:p>
          <a:r>
            <a:rPr lang="en-GB" dirty="0"/>
            <a:t>Real Estate</a:t>
          </a:r>
          <a:endParaRPr lang="en-IN" dirty="0"/>
        </a:p>
      </dgm:t>
    </dgm:pt>
    <dgm:pt modelId="{3A9322B6-0322-46C8-949F-F11CA69DFA39}" type="parTrans" cxnId="{797C2FB1-7D95-4ACF-8741-B4DD967A7ED7}">
      <dgm:prSet/>
      <dgm:spPr/>
      <dgm:t>
        <a:bodyPr/>
        <a:lstStyle/>
        <a:p>
          <a:endParaRPr lang="en-IN"/>
        </a:p>
      </dgm:t>
    </dgm:pt>
    <dgm:pt modelId="{F5C2BFCD-70EE-4CD8-A45B-B95AB316BAD0}" type="sibTrans" cxnId="{797C2FB1-7D95-4ACF-8741-B4DD967A7ED7}">
      <dgm:prSet/>
      <dgm:spPr/>
      <dgm:t>
        <a:bodyPr/>
        <a:lstStyle/>
        <a:p>
          <a:endParaRPr lang="en-IN"/>
        </a:p>
      </dgm:t>
    </dgm:pt>
    <dgm:pt modelId="{FB719C95-C0C1-4CD1-9AA3-140D607DD663}">
      <dgm:prSet phldrT="[Text]"/>
      <dgm:spPr/>
      <dgm:t>
        <a:bodyPr/>
        <a:lstStyle/>
        <a:p>
          <a:r>
            <a:rPr lang="en-GB" dirty="0"/>
            <a:t>Bonds</a:t>
          </a:r>
          <a:endParaRPr lang="en-IN" dirty="0"/>
        </a:p>
      </dgm:t>
    </dgm:pt>
    <dgm:pt modelId="{9ADC41C6-4EDE-4626-925A-3637FF45FE85}" type="parTrans" cxnId="{20236889-2910-48E2-BE24-29A7A1907284}">
      <dgm:prSet/>
      <dgm:spPr/>
      <dgm:t>
        <a:bodyPr/>
        <a:lstStyle/>
        <a:p>
          <a:endParaRPr lang="en-IN"/>
        </a:p>
      </dgm:t>
    </dgm:pt>
    <dgm:pt modelId="{A3CBD1DF-F584-4826-9E34-96812CC56E84}" type="sibTrans" cxnId="{20236889-2910-48E2-BE24-29A7A1907284}">
      <dgm:prSet/>
      <dgm:spPr/>
      <dgm:t>
        <a:bodyPr/>
        <a:lstStyle/>
        <a:p>
          <a:endParaRPr lang="en-IN"/>
        </a:p>
      </dgm:t>
    </dgm:pt>
    <dgm:pt modelId="{BBCF2CC9-F349-4EAB-B32C-88A2BF0D0AAC}">
      <dgm:prSet phldrT="[Text]"/>
      <dgm:spPr/>
      <dgm:t>
        <a:bodyPr/>
        <a:lstStyle/>
        <a:p>
          <a:r>
            <a:rPr lang="en-GB" dirty="0"/>
            <a:t>Shares</a:t>
          </a:r>
          <a:endParaRPr lang="en-IN" dirty="0"/>
        </a:p>
      </dgm:t>
    </dgm:pt>
    <dgm:pt modelId="{DC9ABCEF-C2EE-497D-8B8F-A106AF4E6615}" type="parTrans" cxnId="{75DF02D4-C165-4D51-8C5F-20DFB7530953}">
      <dgm:prSet/>
      <dgm:spPr/>
      <dgm:t>
        <a:bodyPr/>
        <a:lstStyle/>
        <a:p>
          <a:endParaRPr lang="en-IN"/>
        </a:p>
      </dgm:t>
    </dgm:pt>
    <dgm:pt modelId="{1AA2A0A0-71E2-4B80-869B-DEF03310F2D9}" type="sibTrans" cxnId="{75DF02D4-C165-4D51-8C5F-20DFB7530953}">
      <dgm:prSet/>
      <dgm:spPr/>
      <dgm:t>
        <a:bodyPr/>
        <a:lstStyle/>
        <a:p>
          <a:endParaRPr lang="en-IN"/>
        </a:p>
      </dgm:t>
    </dgm:pt>
    <dgm:pt modelId="{D33446A1-ADCA-4A78-8785-D36849C5D284}" type="pres">
      <dgm:prSet presAssocID="{AE62F31B-A1B3-4F52-9220-A94DED2A60FE}" presName="Name0" presStyleCnt="0">
        <dgm:presLayoutVars>
          <dgm:dir/>
          <dgm:resizeHandles val="exact"/>
        </dgm:presLayoutVars>
      </dgm:prSet>
      <dgm:spPr/>
      <dgm:t>
        <a:bodyPr/>
        <a:lstStyle/>
        <a:p>
          <a:endParaRPr lang="en-US"/>
        </a:p>
      </dgm:t>
    </dgm:pt>
    <dgm:pt modelId="{27D542A7-8AFB-48A5-9283-6EC04C2643CA}" type="pres">
      <dgm:prSet presAssocID="{30D431C4-4F27-4DAF-B110-C2157080A89F}" presName="twoplus" presStyleLbl="node1" presStyleIdx="0" presStyleCnt="7">
        <dgm:presLayoutVars>
          <dgm:bulletEnabled val="1"/>
        </dgm:presLayoutVars>
      </dgm:prSet>
      <dgm:spPr/>
      <dgm:t>
        <a:bodyPr/>
        <a:lstStyle/>
        <a:p>
          <a:endParaRPr lang="en-US"/>
        </a:p>
      </dgm:t>
    </dgm:pt>
    <dgm:pt modelId="{32D9F814-9E3C-462F-868A-CCEB9EFEF917}" type="pres">
      <dgm:prSet presAssocID="{281EA7D0-6E7F-4846-9907-852220BCE77F}" presName="twoplus" presStyleLbl="node1" presStyleIdx="1" presStyleCnt="7">
        <dgm:presLayoutVars>
          <dgm:bulletEnabled val="1"/>
        </dgm:presLayoutVars>
      </dgm:prSet>
      <dgm:spPr/>
      <dgm:t>
        <a:bodyPr/>
        <a:lstStyle/>
        <a:p>
          <a:endParaRPr lang="en-US"/>
        </a:p>
      </dgm:t>
    </dgm:pt>
    <dgm:pt modelId="{9FB31E16-80FA-4151-B03A-87EF9487F1EE}" type="pres">
      <dgm:prSet presAssocID="{BBCF2CC9-F349-4EAB-B32C-88A2BF0D0AAC}" presName="twoplus" presStyleLbl="node1" presStyleIdx="2" presStyleCnt="7">
        <dgm:presLayoutVars>
          <dgm:bulletEnabled val="1"/>
        </dgm:presLayoutVars>
      </dgm:prSet>
      <dgm:spPr/>
      <dgm:t>
        <a:bodyPr/>
        <a:lstStyle/>
        <a:p>
          <a:endParaRPr lang="en-US"/>
        </a:p>
      </dgm:t>
    </dgm:pt>
    <dgm:pt modelId="{1CC90889-7801-4949-91D4-391D82ED9953}" type="pres">
      <dgm:prSet presAssocID="{84EB7E0C-BF8E-4555-84F8-7C3B0541A04B}" presName="twoplus" presStyleLbl="node1" presStyleIdx="3" presStyleCnt="7">
        <dgm:presLayoutVars>
          <dgm:bulletEnabled val="1"/>
        </dgm:presLayoutVars>
      </dgm:prSet>
      <dgm:spPr/>
      <dgm:t>
        <a:bodyPr/>
        <a:lstStyle/>
        <a:p>
          <a:endParaRPr lang="en-US"/>
        </a:p>
      </dgm:t>
    </dgm:pt>
    <dgm:pt modelId="{D4AEDB5B-20F4-4839-BEBD-895451A5C868}" type="pres">
      <dgm:prSet presAssocID="{DFD423BB-5EF4-4873-B7A8-A1E6F5B05623}" presName="twoplus" presStyleLbl="node1" presStyleIdx="4" presStyleCnt="7">
        <dgm:presLayoutVars>
          <dgm:bulletEnabled val="1"/>
        </dgm:presLayoutVars>
      </dgm:prSet>
      <dgm:spPr/>
      <dgm:t>
        <a:bodyPr/>
        <a:lstStyle/>
        <a:p>
          <a:endParaRPr lang="en-US"/>
        </a:p>
      </dgm:t>
    </dgm:pt>
    <dgm:pt modelId="{325734C4-1F99-4852-8952-341A1057944E}" type="pres">
      <dgm:prSet presAssocID="{AE4D4651-8140-4044-BA19-8D7253DDFB78}" presName="twoplus" presStyleLbl="node1" presStyleIdx="5" presStyleCnt="7">
        <dgm:presLayoutVars>
          <dgm:bulletEnabled val="1"/>
        </dgm:presLayoutVars>
      </dgm:prSet>
      <dgm:spPr/>
      <dgm:t>
        <a:bodyPr/>
        <a:lstStyle/>
        <a:p>
          <a:endParaRPr lang="en-US"/>
        </a:p>
      </dgm:t>
    </dgm:pt>
    <dgm:pt modelId="{C68BA19A-73C3-4DED-B0C9-82059EC598A4}" type="pres">
      <dgm:prSet presAssocID="{FB719C95-C0C1-4CD1-9AA3-140D607DD663}" presName="twoplus" presStyleLbl="node1" presStyleIdx="6" presStyleCnt="7">
        <dgm:presLayoutVars>
          <dgm:bulletEnabled val="1"/>
        </dgm:presLayoutVars>
      </dgm:prSet>
      <dgm:spPr/>
      <dgm:t>
        <a:bodyPr/>
        <a:lstStyle/>
        <a:p>
          <a:endParaRPr lang="en-US"/>
        </a:p>
      </dgm:t>
    </dgm:pt>
  </dgm:ptLst>
  <dgm:cxnLst>
    <dgm:cxn modelId="{48199FC0-4192-4E85-9D23-3F939E94D9CE}" srcId="{AE62F31B-A1B3-4F52-9220-A94DED2A60FE}" destId="{DFD423BB-5EF4-4873-B7A8-A1E6F5B05623}" srcOrd="4" destOrd="0" parTransId="{5AE5F111-8631-4672-94B1-28EAA13FD588}" sibTransId="{70AA49BF-D3AF-4006-BE2C-25D2A0E1E64C}"/>
    <dgm:cxn modelId="{B1F3003D-F8DE-42F8-B7C9-6EE90DC3D318}" type="presOf" srcId="{30D431C4-4F27-4DAF-B110-C2157080A89F}" destId="{27D542A7-8AFB-48A5-9283-6EC04C2643CA}" srcOrd="0" destOrd="0" presId="urn:diagrams.loki3.com/TabbedArc+Icon"/>
    <dgm:cxn modelId="{CFB9767F-8055-45FF-8060-E5CB10A12930}" srcId="{AE62F31B-A1B3-4F52-9220-A94DED2A60FE}" destId="{84EB7E0C-BF8E-4555-84F8-7C3B0541A04B}" srcOrd="3" destOrd="0" parTransId="{9D982DEE-01D0-4200-BA45-F22131D306CA}" sibTransId="{50BE61C1-6260-451D-A76E-08190C0B77A2}"/>
    <dgm:cxn modelId="{DA64F4F9-8FC3-48B1-B8AA-705DA9F9B0E6}" type="presOf" srcId="{AE62F31B-A1B3-4F52-9220-A94DED2A60FE}" destId="{D33446A1-ADCA-4A78-8785-D36849C5D284}" srcOrd="0" destOrd="0" presId="urn:diagrams.loki3.com/TabbedArc+Icon"/>
    <dgm:cxn modelId="{9519650C-E89B-4FFD-8A46-D1533592CB8F}" srcId="{AE62F31B-A1B3-4F52-9220-A94DED2A60FE}" destId="{AE4D4651-8140-4044-BA19-8D7253DDFB78}" srcOrd="5" destOrd="0" parTransId="{AA469A41-CE66-494B-A195-9DF42D572B08}" sibTransId="{10C33B36-249D-44AF-A8F6-8B670596BC61}"/>
    <dgm:cxn modelId="{6DFB5E9A-F9EB-4B79-A50D-9C0424224782}" type="presOf" srcId="{FB719C95-C0C1-4CD1-9AA3-140D607DD663}" destId="{C68BA19A-73C3-4DED-B0C9-82059EC598A4}" srcOrd="0" destOrd="0" presId="urn:diagrams.loki3.com/TabbedArc+Icon"/>
    <dgm:cxn modelId="{20236889-2910-48E2-BE24-29A7A1907284}" srcId="{AE62F31B-A1B3-4F52-9220-A94DED2A60FE}" destId="{FB719C95-C0C1-4CD1-9AA3-140D607DD663}" srcOrd="6" destOrd="0" parTransId="{9ADC41C6-4EDE-4626-925A-3637FF45FE85}" sibTransId="{A3CBD1DF-F584-4826-9E34-96812CC56E84}"/>
    <dgm:cxn modelId="{31E79765-4836-4029-8F74-6A6C662E1E27}" type="presOf" srcId="{AE4D4651-8140-4044-BA19-8D7253DDFB78}" destId="{325734C4-1F99-4852-8952-341A1057944E}" srcOrd="0" destOrd="0" presId="urn:diagrams.loki3.com/TabbedArc+Icon"/>
    <dgm:cxn modelId="{EC9AF39A-9538-4B50-8A75-607E63135CAA}" type="presOf" srcId="{281EA7D0-6E7F-4846-9907-852220BCE77F}" destId="{32D9F814-9E3C-462F-868A-CCEB9EFEF917}" srcOrd="0" destOrd="0" presId="urn:diagrams.loki3.com/TabbedArc+Icon"/>
    <dgm:cxn modelId="{F478C5B2-C300-421B-AD75-C9B1268EA1C5}" type="presOf" srcId="{84EB7E0C-BF8E-4555-84F8-7C3B0541A04B}" destId="{1CC90889-7801-4949-91D4-391D82ED9953}" srcOrd="0" destOrd="0" presId="urn:diagrams.loki3.com/TabbedArc+Icon"/>
    <dgm:cxn modelId="{3C3F39CC-E354-48F0-B6F6-049E5B558601}" srcId="{AE62F31B-A1B3-4F52-9220-A94DED2A60FE}" destId="{30D431C4-4F27-4DAF-B110-C2157080A89F}" srcOrd="0" destOrd="0" parTransId="{9F890F51-97F8-4D7D-BC36-A1E5FB857C9E}" sibTransId="{E6435BEA-86E0-4552-B9EB-A55162ACED45}"/>
    <dgm:cxn modelId="{75DF02D4-C165-4D51-8C5F-20DFB7530953}" srcId="{AE62F31B-A1B3-4F52-9220-A94DED2A60FE}" destId="{BBCF2CC9-F349-4EAB-B32C-88A2BF0D0AAC}" srcOrd="2" destOrd="0" parTransId="{DC9ABCEF-C2EE-497D-8B8F-A106AF4E6615}" sibTransId="{1AA2A0A0-71E2-4B80-869B-DEF03310F2D9}"/>
    <dgm:cxn modelId="{74F278F0-723B-4A84-9797-A23FF1282D57}" type="presOf" srcId="{BBCF2CC9-F349-4EAB-B32C-88A2BF0D0AAC}" destId="{9FB31E16-80FA-4151-B03A-87EF9487F1EE}" srcOrd="0" destOrd="0" presId="urn:diagrams.loki3.com/TabbedArc+Icon"/>
    <dgm:cxn modelId="{797C2FB1-7D95-4ACF-8741-B4DD967A7ED7}" srcId="{AE62F31B-A1B3-4F52-9220-A94DED2A60FE}" destId="{281EA7D0-6E7F-4846-9907-852220BCE77F}" srcOrd="1" destOrd="0" parTransId="{3A9322B6-0322-46C8-949F-F11CA69DFA39}" sibTransId="{F5C2BFCD-70EE-4CD8-A45B-B95AB316BAD0}"/>
    <dgm:cxn modelId="{7B97BB41-7653-49EC-8619-C1B6E0C96C19}" type="presOf" srcId="{DFD423BB-5EF4-4873-B7A8-A1E6F5B05623}" destId="{D4AEDB5B-20F4-4839-BEBD-895451A5C868}" srcOrd="0" destOrd="0" presId="urn:diagrams.loki3.com/TabbedArc+Icon"/>
    <dgm:cxn modelId="{C5BB038E-2EDD-4929-AB7B-19B85FF14A50}" type="presParOf" srcId="{D33446A1-ADCA-4A78-8785-D36849C5D284}" destId="{27D542A7-8AFB-48A5-9283-6EC04C2643CA}" srcOrd="0" destOrd="0" presId="urn:diagrams.loki3.com/TabbedArc+Icon"/>
    <dgm:cxn modelId="{1A5B149F-A032-4798-8D3A-96AB5DB32DC3}" type="presParOf" srcId="{D33446A1-ADCA-4A78-8785-D36849C5D284}" destId="{32D9F814-9E3C-462F-868A-CCEB9EFEF917}" srcOrd="1" destOrd="0" presId="urn:diagrams.loki3.com/TabbedArc+Icon"/>
    <dgm:cxn modelId="{58790932-BB1C-4959-9C8D-13685E9E1B0A}" type="presParOf" srcId="{D33446A1-ADCA-4A78-8785-D36849C5D284}" destId="{9FB31E16-80FA-4151-B03A-87EF9487F1EE}" srcOrd="2" destOrd="0" presId="urn:diagrams.loki3.com/TabbedArc+Icon"/>
    <dgm:cxn modelId="{4B762F0F-C37F-4DE7-8563-B4F14E7AC000}" type="presParOf" srcId="{D33446A1-ADCA-4A78-8785-D36849C5D284}" destId="{1CC90889-7801-4949-91D4-391D82ED9953}" srcOrd="3" destOrd="0" presId="urn:diagrams.loki3.com/TabbedArc+Icon"/>
    <dgm:cxn modelId="{8EC2FDE8-B9EF-4310-8E72-8A836AD35ADC}" type="presParOf" srcId="{D33446A1-ADCA-4A78-8785-D36849C5D284}" destId="{D4AEDB5B-20F4-4839-BEBD-895451A5C868}" srcOrd="4" destOrd="0" presId="urn:diagrams.loki3.com/TabbedArc+Icon"/>
    <dgm:cxn modelId="{5AAA947A-9D1A-4170-909E-DCDB3279AA15}" type="presParOf" srcId="{D33446A1-ADCA-4A78-8785-D36849C5D284}" destId="{325734C4-1F99-4852-8952-341A1057944E}" srcOrd="5" destOrd="0" presId="urn:diagrams.loki3.com/TabbedArc+Icon"/>
    <dgm:cxn modelId="{2CD9E693-5EDD-4043-84BD-5F74A45D4369}" type="presParOf" srcId="{D33446A1-ADCA-4A78-8785-D36849C5D284}" destId="{C68BA19A-73C3-4DED-B0C9-82059EC598A4}" srcOrd="6" destOrd="0" presId="urn:diagrams.loki3.com/TabbedArc+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BD6B56B-CD47-4382-BDC9-CDAD2EC0696A}"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IN"/>
        </a:p>
      </dgm:t>
    </dgm:pt>
    <dgm:pt modelId="{0534B358-3FBA-405B-8E8F-0C12C01A334D}">
      <dgm:prSet/>
      <dgm:spPr/>
      <dgm:t>
        <a:bodyPr/>
        <a:lstStyle/>
        <a:p>
          <a:r>
            <a:rPr lang="en-IN" b="1" dirty="0"/>
            <a:t>Unit Linked Insurance Plans (ULIPs)</a:t>
          </a:r>
          <a:endParaRPr lang="en-IN" dirty="0"/>
        </a:p>
      </dgm:t>
    </dgm:pt>
    <dgm:pt modelId="{03344E53-E186-43E8-ACF7-85C5846ACB06}" type="parTrans" cxnId="{F3C6738C-70AD-4C6A-8848-836F0582C16D}">
      <dgm:prSet/>
      <dgm:spPr/>
      <dgm:t>
        <a:bodyPr/>
        <a:lstStyle/>
        <a:p>
          <a:endParaRPr lang="en-IN"/>
        </a:p>
      </dgm:t>
    </dgm:pt>
    <dgm:pt modelId="{6CBA0DB8-CC55-49D2-8610-04009108F218}" type="sibTrans" cxnId="{F3C6738C-70AD-4C6A-8848-836F0582C16D}">
      <dgm:prSet/>
      <dgm:spPr/>
      <dgm:t>
        <a:bodyPr/>
        <a:lstStyle/>
        <a:p>
          <a:endParaRPr lang="en-IN"/>
        </a:p>
      </dgm:t>
    </dgm:pt>
    <dgm:pt modelId="{05382448-65D7-4BDA-ADF9-311B918F6E0A}">
      <dgm:prSet/>
      <dgm:spPr/>
      <dgm:t>
        <a:bodyPr/>
        <a:lstStyle/>
        <a:p>
          <a:r>
            <a:rPr lang="en-IN"/>
            <a:t>Life insurance with market-linked returns and flexibility to invest in equity, debt, or both.</a:t>
          </a:r>
        </a:p>
      </dgm:t>
    </dgm:pt>
    <dgm:pt modelId="{A1819C2F-F2E7-4A46-BC64-FDA6E3EDEB02}" type="parTrans" cxnId="{C171B02A-6640-473C-95F7-0272C9344302}">
      <dgm:prSet/>
      <dgm:spPr/>
      <dgm:t>
        <a:bodyPr/>
        <a:lstStyle/>
        <a:p>
          <a:endParaRPr lang="en-IN"/>
        </a:p>
      </dgm:t>
    </dgm:pt>
    <dgm:pt modelId="{64D2A5C5-EFC4-49C2-BB45-2F01DC2E0EB1}" type="sibTrans" cxnId="{C171B02A-6640-473C-95F7-0272C9344302}">
      <dgm:prSet/>
      <dgm:spPr/>
      <dgm:t>
        <a:bodyPr/>
        <a:lstStyle/>
        <a:p>
          <a:endParaRPr lang="en-IN"/>
        </a:p>
      </dgm:t>
    </dgm:pt>
    <dgm:pt modelId="{8AB472FB-B11D-4BA8-921C-43E71E9BF415}">
      <dgm:prSet/>
      <dgm:spPr/>
      <dgm:t>
        <a:bodyPr/>
        <a:lstStyle/>
        <a:p>
          <a:r>
            <a:rPr lang="en-IN"/>
            <a:t>Lock-in period: 5 years.</a:t>
          </a:r>
        </a:p>
      </dgm:t>
    </dgm:pt>
    <dgm:pt modelId="{8F8D0E37-F148-40CE-8F72-BD2A7CC0467A}" type="parTrans" cxnId="{65CDAEF8-0F36-4DC9-AF82-E079AF5C518D}">
      <dgm:prSet/>
      <dgm:spPr/>
      <dgm:t>
        <a:bodyPr/>
        <a:lstStyle/>
        <a:p>
          <a:endParaRPr lang="en-IN"/>
        </a:p>
      </dgm:t>
    </dgm:pt>
    <dgm:pt modelId="{3CA94DBA-9A02-4117-9782-E505228572F5}" type="sibTrans" cxnId="{65CDAEF8-0F36-4DC9-AF82-E079AF5C518D}">
      <dgm:prSet/>
      <dgm:spPr/>
      <dgm:t>
        <a:bodyPr/>
        <a:lstStyle/>
        <a:p>
          <a:endParaRPr lang="en-IN"/>
        </a:p>
      </dgm:t>
    </dgm:pt>
    <dgm:pt modelId="{3C42A73D-23F6-46B2-A56C-8617C809818D}">
      <dgm:prSet/>
      <dgm:spPr/>
      <dgm:t>
        <a:bodyPr/>
        <a:lstStyle/>
        <a:p>
          <a:r>
            <a:rPr lang="en-IN"/>
            <a:t>Tax benefits under Section 80C and 10(10D).</a:t>
          </a:r>
        </a:p>
      </dgm:t>
    </dgm:pt>
    <dgm:pt modelId="{C0B1813F-A8B3-43B4-9F89-0DA408B8CF80}" type="parTrans" cxnId="{35E00B55-6953-4B05-8B03-30C367085170}">
      <dgm:prSet/>
      <dgm:spPr/>
      <dgm:t>
        <a:bodyPr/>
        <a:lstStyle/>
        <a:p>
          <a:endParaRPr lang="en-IN"/>
        </a:p>
      </dgm:t>
    </dgm:pt>
    <dgm:pt modelId="{B0F1C7B3-0930-404A-B88B-514A1418B488}" type="sibTrans" cxnId="{35E00B55-6953-4B05-8B03-30C367085170}">
      <dgm:prSet/>
      <dgm:spPr/>
      <dgm:t>
        <a:bodyPr/>
        <a:lstStyle/>
        <a:p>
          <a:endParaRPr lang="en-IN"/>
        </a:p>
      </dgm:t>
    </dgm:pt>
    <dgm:pt modelId="{62F660BB-538A-420F-9D3C-5879E171CD54}">
      <dgm:prSet/>
      <dgm:spPr/>
      <dgm:t>
        <a:bodyPr/>
        <a:lstStyle/>
        <a:p>
          <a:r>
            <a:rPr lang="en-IN" b="1" dirty="0"/>
            <a:t>Savings/Endowment Plans</a:t>
          </a:r>
          <a:endParaRPr lang="en-IN" dirty="0"/>
        </a:p>
      </dgm:t>
    </dgm:pt>
    <dgm:pt modelId="{E5B01FA4-327F-4EA6-8A87-138052B924A2}" type="parTrans" cxnId="{7C8F98D4-482A-44A1-8C79-BDA1990CAE76}">
      <dgm:prSet/>
      <dgm:spPr/>
      <dgm:t>
        <a:bodyPr/>
        <a:lstStyle/>
        <a:p>
          <a:endParaRPr lang="en-IN"/>
        </a:p>
      </dgm:t>
    </dgm:pt>
    <dgm:pt modelId="{1BAD52C0-BAF9-4F9A-AFA7-7817ECAB29DF}" type="sibTrans" cxnId="{7C8F98D4-482A-44A1-8C79-BDA1990CAE76}">
      <dgm:prSet/>
      <dgm:spPr/>
      <dgm:t>
        <a:bodyPr/>
        <a:lstStyle/>
        <a:p>
          <a:endParaRPr lang="en-IN"/>
        </a:p>
      </dgm:t>
    </dgm:pt>
    <dgm:pt modelId="{2F4C4400-190C-477A-84FF-204043833309}">
      <dgm:prSet/>
      <dgm:spPr/>
      <dgm:t>
        <a:bodyPr/>
        <a:lstStyle/>
        <a:p>
          <a:r>
            <a:rPr lang="en-IN"/>
            <a:t>Low-risk plans with fixed returns and life cover.</a:t>
          </a:r>
        </a:p>
      </dgm:t>
    </dgm:pt>
    <dgm:pt modelId="{29FA8EBC-E69E-4904-831D-CC3F0A6CFD83}" type="parTrans" cxnId="{C5D60D87-5A25-4405-B1A0-15A9A28844E1}">
      <dgm:prSet/>
      <dgm:spPr/>
      <dgm:t>
        <a:bodyPr/>
        <a:lstStyle/>
        <a:p>
          <a:endParaRPr lang="en-IN"/>
        </a:p>
      </dgm:t>
    </dgm:pt>
    <dgm:pt modelId="{ABDEA90C-6A1E-4F83-9B77-618359628660}" type="sibTrans" cxnId="{C5D60D87-5A25-4405-B1A0-15A9A28844E1}">
      <dgm:prSet/>
      <dgm:spPr/>
      <dgm:t>
        <a:bodyPr/>
        <a:lstStyle/>
        <a:p>
          <a:endParaRPr lang="en-IN"/>
        </a:p>
      </dgm:t>
    </dgm:pt>
    <dgm:pt modelId="{832784CE-F3E9-4967-8B2D-77C6636CA591}">
      <dgm:prSet/>
      <dgm:spPr/>
      <dgm:t>
        <a:bodyPr/>
        <a:lstStyle/>
        <a:p>
          <a:r>
            <a:rPr lang="en-IN"/>
            <a:t>Suitable for long-term financial goals.</a:t>
          </a:r>
        </a:p>
      </dgm:t>
    </dgm:pt>
    <dgm:pt modelId="{8508F1E1-A9A1-4979-8482-715FDDF4D92B}" type="parTrans" cxnId="{91979327-D91F-445F-AFE3-2333FCEFDCF2}">
      <dgm:prSet/>
      <dgm:spPr/>
      <dgm:t>
        <a:bodyPr/>
        <a:lstStyle/>
        <a:p>
          <a:endParaRPr lang="en-IN"/>
        </a:p>
      </dgm:t>
    </dgm:pt>
    <dgm:pt modelId="{2754E828-ECC8-428D-B4E3-42C51365698A}" type="sibTrans" cxnId="{91979327-D91F-445F-AFE3-2333FCEFDCF2}">
      <dgm:prSet/>
      <dgm:spPr/>
      <dgm:t>
        <a:bodyPr/>
        <a:lstStyle/>
        <a:p>
          <a:endParaRPr lang="en-IN"/>
        </a:p>
      </dgm:t>
    </dgm:pt>
    <dgm:pt modelId="{5090DED0-91F0-4122-B4CD-67BA1EE1346B}">
      <dgm:prSet/>
      <dgm:spPr/>
      <dgm:t>
        <a:bodyPr/>
        <a:lstStyle/>
        <a:p>
          <a:r>
            <a:rPr lang="en-IN"/>
            <a:t>Tax benefits under Section 80C and 10(10D).</a:t>
          </a:r>
        </a:p>
      </dgm:t>
    </dgm:pt>
    <dgm:pt modelId="{C7921D90-2A2F-4704-BEF2-3F5D6DC8695D}" type="parTrans" cxnId="{20F8A849-A858-4652-B6B3-868001A98720}">
      <dgm:prSet/>
      <dgm:spPr/>
      <dgm:t>
        <a:bodyPr/>
        <a:lstStyle/>
        <a:p>
          <a:endParaRPr lang="en-IN"/>
        </a:p>
      </dgm:t>
    </dgm:pt>
    <dgm:pt modelId="{C3560559-6C56-40D5-8950-A89229CDCF1D}" type="sibTrans" cxnId="{20F8A849-A858-4652-B6B3-868001A98720}">
      <dgm:prSet/>
      <dgm:spPr/>
      <dgm:t>
        <a:bodyPr/>
        <a:lstStyle/>
        <a:p>
          <a:endParaRPr lang="en-IN"/>
        </a:p>
      </dgm:t>
    </dgm:pt>
    <dgm:pt modelId="{640A0219-5CAD-4F37-A2B3-0840C6FCC6B4}">
      <dgm:prSet/>
      <dgm:spPr/>
      <dgm:t>
        <a:bodyPr/>
        <a:lstStyle/>
        <a:p>
          <a:r>
            <a:rPr lang="en-IN" b="1" dirty="0"/>
            <a:t>Public Provident Funds (PPF)</a:t>
          </a:r>
          <a:endParaRPr lang="en-IN" dirty="0"/>
        </a:p>
      </dgm:t>
    </dgm:pt>
    <dgm:pt modelId="{D879AC2D-9DBF-4DEA-A9F5-F73D15F27969}" type="parTrans" cxnId="{52A03BEC-40B8-40FC-BBD5-7322B6C0F7CA}">
      <dgm:prSet/>
      <dgm:spPr/>
      <dgm:t>
        <a:bodyPr/>
        <a:lstStyle/>
        <a:p>
          <a:endParaRPr lang="en-IN"/>
        </a:p>
      </dgm:t>
    </dgm:pt>
    <dgm:pt modelId="{37F417B6-3921-4A46-9303-56250A8C61E3}" type="sibTrans" cxnId="{52A03BEC-40B8-40FC-BBD5-7322B6C0F7CA}">
      <dgm:prSet/>
      <dgm:spPr/>
      <dgm:t>
        <a:bodyPr/>
        <a:lstStyle/>
        <a:p>
          <a:endParaRPr lang="en-IN"/>
        </a:p>
      </dgm:t>
    </dgm:pt>
    <dgm:pt modelId="{530F1B12-FD0E-42C7-8D0A-78AB4EC18033}">
      <dgm:prSet/>
      <dgm:spPr/>
      <dgm:t>
        <a:bodyPr/>
        <a:lstStyle/>
        <a:p>
          <a:r>
            <a:rPr lang="en-IN"/>
            <a:t>Long-term investment with fixed returns.</a:t>
          </a:r>
        </a:p>
      </dgm:t>
    </dgm:pt>
    <dgm:pt modelId="{4D907FBB-0715-431E-842E-226C300C57AD}" type="parTrans" cxnId="{ABBBB9F3-F793-429B-A4D5-0CA4725C476C}">
      <dgm:prSet/>
      <dgm:spPr/>
      <dgm:t>
        <a:bodyPr/>
        <a:lstStyle/>
        <a:p>
          <a:endParaRPr lang="en-IN"/>
        </a:p>
      </dgm:t>
    </dgm:pt>
    <dgm:pt modelId="{BE29EFF7-AA37-4718-AA50-DEA89C08650A}" type="sibTrans" cxnId="{ABBBB9F3-F793-429B-A4D5-0CA4725C476C}">
      <dgm:prSet/>
      <dgm:spPr/>
      <dgm:t>
        <a:bodyPr/>
        <a:lstStyle/>
        <a:p>
          <a:endParaRPr lang="en-IN"/>
        </a:p>
      </dgm:t>
    </dgm:pt>
    <dgm:pt modelId="{9D8E9733-CFBF-4995-A378-D7ED17DB6B2D}">
      <dgm:prSet/>
      <dgm:spPr/>
      <dgm:t>
        <a:bodyPr/>
        <a:lstStyle/>
        <a:p>
          <a:r>
            <a:rPr lang="en-IN"/>
            <a:t>Lock-in period: 15 years.</a:t>
          </a:r>
        </a:p>
      </dgm:t>
    </dgm:pt>
    <dgm:pt modelId="{A5D89F71-F65A-4EEA-B23D-BCA7A78B1314}" type="parTrans" cxnId="{C3B0D0B0-254C-489E-AC92-B510FD4A0286}">
      <dgm:prSet/>
      <dgm:spPr/>
      <dgm:t>
        <a:bodyPr/>
        <a:lstStyle/>
        <a:p>
          <a:endParaRPr lang="en-IN"/>
        </a:p>
      </dgm:t>
    </dgm:pt>
    <dgm:pt modelId="{18ED9F88-85C0-4778-800A-7E2B39053063}" type="sibTrans" cxnId="{C3B0D0B0-254C-489E-AC92-B510FD4A0286}">
      <dgm:prSet/>
      <dgm:spPr/>
      <dgm:t>
        <a:bodyPr/>
        <a:lstStyle/>
        <a:p>
          <a:endParaRPr lang="en-IN"/>
        </a:p>
      </dgm:t>
    </dgm:pt>
    <dgm:pt modelId="{FC9AC590-3DBA-4091-968E-4DE7C54BC4A5}">
      <dgm:prSet/>
      <dgm:spPr/>
      <dgm:t>
        <a:bodyPr/>
        <a:lstStyle/>
        <a:p>
          <a:r>
            <a:rPr lang="en-IN"/>
            <a:t>Tax benefits under Section 80C.</a:t>
          </a:r>
        </a:p>
      </dgm:t>
    </dgm:pt>
    <dgm:pt modelId="{EF5861CF-73D5-4252-A53D-6955E0AE8EE8}" type="parTrans" cxnId="{55005DD6-85CD-405A-8C63-BC50BADCA595}">
      <dgm:prSet/>
      <dgm:spPr/>
      <dgm:t>
        <a:bodyPr/>
        <a:lstStyle/>
        <a:p>
          <a:endParaRPr lang="en-IN"/>
        </a:p>
      </dgm:t>
    </dgm:pt>
    <dgm:pt modelId="{A79E61F0-B0FF-4A01-950E-32BF5138928A}" type="sibTrans" cxnId="{55005DD6-85CD-405A-8C63-BC50BADCA595}">
      <dgm:prSet/>
      <dgm:spPr/>
      <dgm:t>
        <a:bodyPr/>
        <a:lstStyle/>
        <a:p>
          <a:endParaRPr lang="en-IN"/>
        </a:p>
      </dgm:t>
    </dgm:pt>
    <dgm:pt modelId="{073372A6-B2C1-44ED-B2B0-F75852FD8971}">
      <dgm:prSet/>
      <dgm:spPr/>
      <dgm:t>
        <a:bodyPr/>
        <a:lstStyle/>
        <a:p>
          <a:r>
            <a:rPr lang="en-IN"/>
            <a:t>Returns exempt under the Income Tax Act, 1961.</a:t>
          </a:r>
        </a:p>
      </dgm:t>
    </dgm:pt>
    <dgm:pt modelId="{7905C57E-A9A9-4B1F-9C5E-822BC4ABFCB3}" type="parTrans" cxnId="{55FD97A0-EBEA-4B39-ACE7-543E43D27CBB}">
      <dgm:prSet/>
      <dgm:spPr/>
      <dgm:t>
        <a:bodyPr/>
        <a:lstStyle/>
        <a:p>
          <a:endParaRPr lang="en-IN"/>
        </a:p>
      </dgm:t>
    </dgm:pt>
    <dgm:pt modelId="{39E725BF-5A95-41FB-9A62-36D52B661292}" type="sibTrans" cxnId="{55FD97A0-EBEA-4B39-ACE7-543E43D27CBB}">
      <dgm:prSet/>
      <dgm:spPr/>
      <dgm:t>
        <a:bodyPr/>
        <a:lstStyle/>
        <a:p>
          <a:endParaRPr lang="en-IN"/>
        </a:p>
      </dgm:t>
    </dgm:pt>
    <dgm:pt modelId="{F57A86FD-F55A-4157-8EC0-34C675C793B2}" type="pres">
      <dgm:prSet presAssocID="{FBD6B56B-CD47-4382-BDC9-CDAD2EC0696A}" presName="Name0" presStyleCnt="0">
        <dgm:presLayoutVars>
          <dgm:dir/>
          <dgm:animLvl val="lvl"/>
          <dgm:resizeHandles val="exact"/>
        </dgm:presLayoutVars>
      </dgm:prSet>
      <dgm:spPr/>
      <dgm:t>
        <a:bodyPr/>
        <a:lstStyle/>
        <a:p>
          <a:endParaRPr lang="en-US"/>
        </a:p>
      </dgm:t>
    </dgm:pt>
    <dgm:pt modelId="{1A4A4FD1-8F16-4FB0-8D76-9D0B3FE3BA41}" type="pres">
      <dgm:prSet presAssocID="{0534B358-3FBA-405B-8E8F-0C12C01A334D}" presName="linNode" presStyleCnt="0"/>
      <dgm:spPr/>
    </dgm:pt>
    <dgm:pt modelId="{CF11CFA2-48E1-4EBE-93FF-779EDC2C5A5A}" type="pres">
      <dgm:prSet presAssocID="{0534B358-3FBA-405B-8E8F-0C12C01A334D}" presName="parentText" presStyleLbl="node1" presStyleIdx="0" presStyleCnt="3">
        <dgm:presLayoutVars>
          <dgm:chMax val="1"/>
          <dgm:bulletEnabled val="1"/>
        </dgm:presLayoutVars>
      </dgm:prSet>
      <dgm:spPr/>
      <dgm:t>
        <a:bodyPr/>
        <a:lstStyle/>
        <a:p>
          <a:endParaRPr lang="en-US"/>
        </a:p>
      </dgm:t>
    </dgm:pt>
    <dgm:pt modelId="{D83E50B8-AFFF-483B-B9F6-FED6CC4596D2}" type="pres">
      <dgm:prSet presAssocID="{0534B358-3FBA-405B-8E8F-0C12C01A334D}" presName="descendantText" presStyleLbl="alignAccFollowNode1" presStyleIdx="0" presStyleCnt="3">
        <dgm:presLayoutVars>
          <dgm:bulletEnabled val="1"/>
        </dgm:presLayoutVars>
      </dgm:prSet>
      <dgm:spPr/>
      <dgm:t>
        <a:bodyPr/>
        <a:lstStyle/>
        <a:p>
          <a:endParaRPr lang="en-US"/>
        </a:p>
      </dgm:t>
    </dgm:pt>
    <dgm:pt modelId="{CEB8B73B-A4BF-4A60-AB96-1C9C33B527FF}" type="pres">
      <dgm:prSet presAssocID="{6CBA0DB8-CC55-49D2-8610-04009108F218}" presName="sp" presStyleCnt="0"/>
      <dgm:spPr/>
    </dgm:pt>
    <dgm:pt modelId="{C873FAFB-69DC-4F44-B904-42501947F981}" type="pres">
      <dgm:prSet presAssocID="{62F660BB-538A-420F-9D3C-5879E171CD54}" presName="linNode" presStyleCnt="0"/>
      <dgm:spPr/>
    </dgm:pt>
    <dgm:pt modelId="{29D7F5D3-FA96-4296-8127-87F6A08993D6}" type="pres">
      <dgm:prSet presAssocID="{62F660BB-538A-420F-9D3C-5879E171CD54}" presName="parentText" presStyleLbl="node1" presStyleIdx="1" presStyleCnt="3">
        <dgm:presLayoutVars>
          <dgm:chMax val="1"/>
          <dgm:bulletEnabled val="1"/>
        </dgm:presLayoutVars>
      </dgm:prSet>
      <dgm:spPr/>
      <dgm:t>
        <a:bodyPr/>
        <a:lstStyle/>
        <a:p>
          <a:endParaRPr lang="en-US"/>
        </a:p>
      </dgm:t>
    </dgm:pt>
    <dgm:pt modelId="{989D3728-61E6-4829-9ADC-982016CAA4C7}" type="pres">
      <dgm:prSet presAssocID="{62F660BB-538A-420F-9D3C-5879E171CD54}" presName="descendantText" presStyleLbl="alignAccFollowNode1" presStyleIdx="1" presStyleCnt="3">
        <dgm:presLayoutVars>
          <dgm:bulletEnabled val="1"/>
        </dgm:presLayoutVars>
      </dgm:prSet>
      <dgm:spPr/>
      <dgm:t>
        <a:bodyPr/>
        <a:lstStyle/>
        <a:p>
          <a:endParaRPr lang="en-US"/>
        </a:p>
      </dgm:t>
    </dgm:pt>
    <dgm:pt modelId="{72CD945F-A9CB-4C85-BFA2-1976AAD85DB1}" type="pres">
      <dgm:prSet presAssocID="{1BAD52C0-BAF9-4F9A-AFA7-7817ECAB29DF}" presName="sp" presStyleCnt="0"/>
      <dgm:spPr/>
    </dgm:pt>
    <dgm:pt modelId="{DA46EA1D-DB10-4D51-A518-C054151CDD03}" type="pres">
      <dgm:prSet presAssocID="{640A0219-5CAD-4F37-A2B3-0840C6FCC6B4}" presName="linNode" presStyleCnt="0"/>
      <dgm:spPr/>
    </dgm:pt>
    <dgm:pt modelId="{FDA2E6D2-F4A0-4AE5-A81F-B2041CA91F14}" type="pres">
      <dgm:prSet presAssocID="{640A0219-5CAD-4F37-A2B3-0840C6FCC6B4}" presName="parentText" presStyleLbl="node1" presStyleIdx="2" presStyleCnt="3">
        <dgm:presLayoutVars>
          <dgm:chMax val="1"/>
          <dgm:bulletEnabled val="1"/>
        </dgm:presLayoutVars>
      </dgm:prSet>
      <dgm:spPr/>
      <dgm:t>
        <a:bodyPr/>
        <a:lstStyle/>
        <a:p>
          <a:endParaRPr lang="en-US"/>
        </a:p>
      </dgm:t>
    </dgm:pt>
    <dgm:pt modelId="{CB8A2C57-0D24-44FF-9273-6419C92F0216}" type="pres">
      <dgm:prSet presAssocID="{640A0219-5CAD-4F37-A2B3-0840C6FCC6B4}" presName="descendantText" presStyleLbl="alignAccFollowNode1" presStyleIdx="2" presStyleCnt="3">
        <dgm:presLayoutVars>
          <dgm:bulletEnabled val="1"/>
        </dgm:presLayoutVars>
      </dgm:prSet>
      <dgm:spPr/>
      <dgm:t>
        <a:bodyPr/>
        <a:lstStyle/>
        <a:p>
          <a:endParaRPr lang="en-US"/>
        </a:p>
      </dgm:t>
    </dgm:pt>
  </dgm:ptLst>
  <dgm:cxnLst>
    <dgm:cxn modelId="{20F8A849-A858-4652-B6B3-868001A98720}" srcId="{62F660BB-538A-420F-9D3C-5879E171CD54}" destId="{5090DED0-91F0-4122-B4CD-67BA1EE1346B}" srcOrd="2" destOrd="0" parTransId="{C7921D90-2A2F-4704-BEF2-3F5D6DC8695D}" sibTransId="{C3560559-6C56-40D5-8950-A89229CDCF1D}"/>
    <dgm:cxn modelId="{8E4F1C66-D170-4BD5-8CB6-5D9CFBE64428}" type="presOf" srcId="{832784CE-F3E9-4967-8B2D-77C6636CA591}" destId="{989D3728-61E6-4829-9ADC-982016CAA4C7}" srcOrd="0" destOrd="1" presId="urn:microsoft.com/office/officeart/2005/8/layout/vList5"/>
    <dgm:cxn modelId="{B8E328D7-0152-4AC3-A18C-5E8F989052CE}" type="presOf" srcId="{9D8E9733-CFBF-4995-A378-D7ED17DB6B2D}" destId="{CB8A2C57-0D24-44FF-9273-6419C92F0216}" srcOrd="0" destOrd="1" presId="urn:microsoft.com/office/officeart/2005/8/layout/vList5"/>
    <dgm:cxn modelId="{7C8F98D4-482A-44A1-8C79-BDA1990CAE76}" srcId="{FBD6B56B-CD47-4382-BDC9-CDAD2EC0696A}" destId="{62F660BB-538A-420F-9D3C-5879E171CD54}" srcOrd="1" destOrd="0" parTransId="{E5B01FA4-327F-4EA6-8A87-138052B924A2}" sibTransId="{1BAD52C0-BAF9-4F9A-AFA7-7817ECAB29DF}"/>
    <dgm:cxn modelId="{F3C6738C-70AD-4C6A-8848-836F0582C16D}" srcId="{FBD6B56B-CD47-4382-BDC9-CDAD2EC0696A}" destId="{0534B358-3FBA-405B-8E8F-0C12C01A334D}" srcOrd="0" destOrd="0" parTransId="{03344E53-E186-43E8-ACF7-85C5846ACB06}" sibTransId="{6CBA0DB8-CC55-49D2-8610-04009108F218}"/>
    <dgm:cxn modelId="{D3B0308B-32E3-4CB2-8B5D-4FB9896CE235}" type="presOf" srcId="{5090DED0-91F0-4122-B4CD-67BA1EE1346B}" destId="{989D3728-61E6-4829-9ADC-982016CAA4C7}" srcOrd="0" destOrd="2" presId="urn:microsoft.com/office/officeart/2005/8/layout/vList5"/>
    <dgm:cxn modelId="{91979327-D91F-445F-AFE3-2333FCEFDCF2}" srcId="{62F660BB-538A-420F-9D3C-5879E171CD54}" destId="{832784CE-F3E9-4967-8B2D-77C6636CA591}" srcOrd="1" destOrd="0" parTransId="{8508F1E1-A9A1-4979-8482-715FDDF4D92B}" sibTransId="{2754E828-ECC8-428D-B4E3-42C51365698A}"/>
    <dgm:cxn modelId="{B29ADA30-4AB1-4030-B91D-64E17F471CB9}" type="presOf" srcId="{8AB472FB-B11D-4BA8-921C-43E71E9BF415}" destId="{D83E50B8-AFFF-483B-B9F6-FED6CC4596D2}" srcOrd="0" destOrd="1" presId="urn:microsoft.com/office/officeart/2005/8/layout/vList5"/>
    <dgm:cxn modelId="{F21AA412-FCCD-4244-943C-76AC8B1876CF}" type="presOf" srcId="{640A0219-5CAD-4F37-A2B3-0840C6FCC6B4}" destId="{FDA2E6D2-F4A0-4AE5-A81F-B2041CA91F14}" srcOrd="0" destOrd="0" presId="urn:microsoft.com/office/officeart/2005/8/layout/vList5"/>
    <dgm:cxn modelId="{26ECCCD0-06C5-43FC-81B8-F91446A746F1}" type="presOf" srcId="{FBD6B56B-CD47-4382-BDC9-CDAD2EC0696A}" destId="{F57A86FD-F55A-4157-8EC0-34C675C793B2}" srcOrd="0" destOrd="0" presId="urn:microsoft.com/office/officeart/2005/8/layout/vList5"/>
    <dgm:cxn modelId="{988C6105-680C-4F2A-8619-C921C73C4875}" type="presOf" srcId="{530F1B12-FD0E-42C7-8D0A-78AB4EC18033}" destId="{CB8A2C57-0D24-44FF-9273-6419C92F0216}" srcOrd="0" destOrd="0" presId="urn:microsoft.com/office/officeart/2005/8/layout/vList5"/>
    <dgm:cxn modelId="{3090B6E7-4788-4757-B39C-61C0E85A05D7}" type="presOf" srcId="{073372A6-B2C1-44ED-B2B0-F75852FD8971}" destId="{CB8A2C57-0D24-44FF-9273-6419C92F0216}" srcOrd="0" destOrd="3" presId="urn:microsoft.com/office/officeart/2005/8/layout/vList5"/>
    <dgm:cxn modelId="{52A03BEC-40B8-40FC-BBD5-7322B6C0F7CA}" srcId="{FBD6B56B-CD47-4382-BDC9-CDAD2EC0696A}" destId="{640A0219-5CAD-4F37-A2B3-0840C6FCC6B4}" srcOrd="2" destOrd="0" parTransId="{D879AC2D-9DBF-4DEA-A9F5-F73D15F27969}" sibTransId="{37F417B6-3921-4A46-9303-56250A8C61E3}"/>
    <dgm:cxn modelId="{C171B02A-6640-473C-95F7-0272C9344302}" srcId="{0534B358-3FBA-405B-8E8F-0C12C01A334D}" destId="{05382448-65D7-4BDA-ADF9-311B918F6E0A}" srcOrd="0" destOrd="0" parTransId="{A1819C2F-F2E7-4A46-BC64-FDA6E3EDEB02}" sibTransId="{64D2A5C5-EFC4-49C2-BB45-2F01DC2E0EB1}"/>
    <dgm:cxn modelId="{55FD97A0-EBEA-4B39-ACE7-543E43D27CBB}" srcId="{640A0219-5CAD-4F37-A2B3-0840C6FCC6B4}" destId="{073372A6-B2C1-44ED-B2B0-F75852FD8971}" srcOrd="3" destOrd="0" parTransId="{7905C57E-A9A9-4B1F-9C5E-822BC4ABFCB3}" sibTransId="{39E725BF-5A95-41FB-9A62-36D52B661292}"/>
    <dgm:cxn modelId="{35E00B55-6953-4B05-8B03-30C367085170}" srcId="{0534B358-3FBA-405B-8E8F-0C12C01A334D}" destId="{3C42A73D-23F6-46B2-A56C-8617C809818D}" srcOrd="2" destOrd="0" parTransId="{C0B1813F-A8B3-43B4-9F89-0DA408B8CF80}" sibTransId="{B0F1C7B3-0930-404A-B88B-514A1418B488}"/>
    <dgm:cxn modelId="{0587D723-12BF-4553-A954-4049B7759709}" type="presOf" srcId="{0534B358-3FBA-405B-8E8F-0C12C01A334D}" destId="{CF11CFA2-48E1-4EBE-93FF-779EDC2C5A5A}" srcOrd="0" destOrd="0" presId="urn:microsoft.com/office/officeart/2005/8/layout/vList5"/>
    <dgm:cxn modelId="{C3B0D0B0-254C-489E-AC92-B510FD4A0286}" srcId="{640A0219-5CAD-4F37-A2B3-0840C6FCC6B4}" destId="{9D8E9733-CFBF-4995-A378-D7ED17DB6B2D}" srcOrd="1" destOrd="0" parTransId="{A5D89F71-F65A-4EEA-B23D-BCA7A78B1314}" sibTransId="{18ED9F88-85C0-4778-800A-7E2B39053063}"/>
    <dgm:cxn modelId="{8B73964B-C5F2-48AC-9DB5-FBB482599E95}" type="presOf" srcId="{FC9AC590-3DBA-4091-968E-4DE7C54BC4A5}" destId="{CB8A2C57-0D24-44FF-9273-6419C92F0216}" srcOrd="0" destOrd="2" presId="urn:microsoft.com/office/officeart/2005/8/layout/vList5"/>
    <dgm:cxn modelId="{88CEB9E7-0493-4538-A566-AFB544E44593}" type="presOf" srcId="{05382448-65D7-4BDA-ADF9-311B918F6E0A}" destId="{D83E50B8-AFFF-483B-B9F6-FED6CC4596D2}" srcOrd="0" destOrd="0" presId="urn:microsoft.com/office/officeart/2005/8/layout/vList5"/>
    <dgm:cxn modelId="{ABBBB9F3-F793-429B-A4D5-0CA4725C476C}" srcId="{640A0219-5CAD-4F37-A2B3-0840C6FCC6B4}" destId="{530F1B12-FD0E-42C7-8D0A-78AB4EC18033}" srcOrd="0" destOrd="0" parTransId="{4D907FBB-0715-431E-842E-226C300C57AD}" sibTransId="{BE29EFF7-AA37-4718-AA50-DEA89C08650A}"/>
    <dgm:cxn modelId="{0078505F-73FD-464F-B739-44A7DDE9F0AE}" type="presOf" srcId="{62F660BB-538A-420F-9D3C-5879E171CD54}" destId="{29D7F5D3-FA96-4296-8127-87F6A08993D6}" srcOrd="0" destOrd="0" presId="urn:microsoft.com/office/officeart/2005/8/layout/vList5"/>
    <dgm:cxn modelId="{9D9A77B1-FCC8-4040-8AE8-CCCF32224ADF}" type="presOf" srcId="{3C42A73D-23F6-46B2-A56C-8617C809818D}" destId="{D83E50B8-AFFF-483B-B9F6-FED6CC4596D2}" srcOrd="0" destOrd="2" presId="urn:microsoft.com/office/officeart/2005/8/layout/vList5"/>
    <dgm:cxn modelId="{C5D60D87-5A25-4405-B1A0-15A9A28844E1}" srcId="{62F660BB-538A-420F-9D3C-5879E171CD54}" destId="{2F4C4400-190C-477A-84FF-204043833309}" srcOrd="0" destOrd="0" parTransId="{29FA8EBC-E69E-4904-831D-CC3F0A6CFD83}" sibTransId="{ABDEA90C-6A1E-4F83-9B77-618359628660}"/>
    <dgm:cxn modelId="{6AD1B2BC-369D-4265-B92F-7764089CD449}" type="presOf" srcId="{2F4C4400-190C-477A-84FF-204043833309}" destId="{989D3728-61E6-4829-9ADC-982016CAA4C7}" srcOrd="0" destOrd="0" presId="urn:microsoft.com/office/officeart/2005/8/layout/vList5"/>
    <dgm:cxn modelId="{55005DD6-85CD-405A-8C63-BC50BADCA595}" srcId="{640A0219-5CAD-4F37-A2B3-0840C6FCC6B4}" destId="{FC9AC590-3DBA-4091-968E-4DE7C54BC4A5}" srcOrd="2" destOrd="0" parTransId="{EF5861CF-73D5-4252-A53D-6955E0AE8EE8}" sibTransId="{A79E61F0-B0FF-4A01-950E-32BF5138928A}"/>
    <dgm:cxn modelId="{65CDAEF8-0F36-4DC9-AF82-E079AF5C518D}" srcId="{0534B358-3FBA-405B-8E8F-0C12C01A334D}" destId="{8AB472FB-B11D-4BA8-921C-43E71E9BF415}" srcOrd="1" destOrd="0" parTransId="{8F8D0E37-F148-40CE-8F72-BD2A7CC0467A}" sibTransId="{3CA94DBA-9A02-4117-9782-E505228572F5}"/>
    <dgm:cxn modelId="{EC7121F8-9C0D-4C4D-9AC9-C1EEB86D7A46}" type="presParOf" srcId="{F57A86FD-F55A-4157-8EC0-34C675C793B2}" destId="{1A4A4FD1-8F16-4FB0-8D76-9D0B3FE3BA41}" srcOrd="0" destOrd="0" presId="urn:microsoft.com/office/officeart/2005/8/layout/vList5"/>
    <dgm:cxn modelId="{B7226D37-24A5-4576-8569-C880D253F9B9}" type="presParOf" srcId="{1A4A4FD1-8F16-4FB0-8D76-9D0B3FE3BA41}" destId="{CF11CFA2-48E1-4EBE-93FF-779EDC2C5A5A}" srcOrd="0" destOrd="0" presId="urn:microsoft.com/office/officeart/2005/8/layout/vList5"/>
    <dgm:cxn modelId="{86EDA42E-29D6-45AC-B265-84BC923D5180}" type="presParOf" srcId="{1A4A4FD1-8F16-4FB0-8D76-9D0B3FE3BA41}" destId="{D83E50B8-AFFF-483B-B9F6-FED6CC4596D2}" srcOrd="1" destOrd="0" presId="urn:microsoft.com/office/officeart/2005/8/layout/vList5"/>
    <dgm:cxn modelId="{98C117B0-40BB-445D-9F8A-C589D28BAA4F}" type="presParOf" srcId="{F57A86FD-F55A-4157-8EC0-34C675C793B2}" destId="{CEB8B73B-A4BF-4A60-AB96-1C9C33B527FF}" srcOrd="1" destOrd="0" presId="urn:microsoft.com/office/officeart/2005/8/layout/vList5"/>
    <dgm:cxn modelId="{F4890BF9-C15C-47CB-AEEB-877423C6E9E6}" type="presParOf" srcId="{F57A86FD-F55A-4157-8EC0-34C675C793B2}" destId="{C873FAFB-69DC-4F44-B904-42501947F981}" srcOrd="2" destOrd="0" presId="urn:microsoft.com/office/officeart/2005/8/layout/vList5"/>
    <dgm:cxn modelId="{7E680128-266F-4C90-99D3-6BD631F73E98}" type="presParOf" srcId="{C873FAFB-69DC-4F44-B904-42501947F981}" destId="{29D7F5D3-FA96-4296-8127-87F6A08993D6}" srcOrd="0" destOrd="0" presId="urn:microsoft.com/office/officeart/2005/8/layout/vList5"/>
    <dgm:cxn modelId="{7A967135-5485-4109-BCC8-94DC01EB7DA1}" type="presParOf" srcId="{C873FAFB-69DC-4F44-B904-42501947F981}" destId="{989D3728-61E6-4829-9ADC-982016CAA4C7}" srcOrd="1" destOrd="0" presId="urn:microsoft.com/office/officeart/2005/8/layout/vList5"/>
    <dgm:cxn modelId="{18AD9A51-B557-4E8F-BE43-6D8ECCC365ED}" type="presParOf" srcId="{F57A86FD-F55A-4157-8EC0-34C675C793B2}" destId="{72CD945F-A9CB-4C85-BFA2-1976AAD85DB1}" srcOrd="3" destOrd="0" presId="urn:microsoft.com/office/officeart/2005/8/layout/vList5"/>
    <dgm:cxn modelId="{D6D531D5-04D0-4E8F-B6C6-4A79DE72F0B7}" type="presParOf" srcId="{F57A86FD-F55A-4157-8EC0-34C675C793B2}" destId="{DA46EA1D-DB10-4D51-A518-C054151CDD03}" srcOrd="4" destOrd="0" presId="urn:microsoft.com/office/officeart/2005/8/layout/vList5"/>
    <dgm:cxn modelId="{E0EE00A1-8B97-42AF-859C-A640C4AB5440}" type="presParOf" srcId="{DA46EA1D-DB10-4D51-A518-C054151CDD03}" destId="{FDA2E6D2-F4A0-4AE5-A81F-B2041CA91F14}" srcOrd="0" destOrd="0" presId="urn:microsoft.com/office/officeart/2005/8/layout/vList5"/>
    <dgm:cxn modelId="{464EAE1A-B55F-4221-8782-BC9B731DFF0D}" type="presParOf" srcId="{DA46EA1D-DB10-4D51-A518-C054151CDD03}" destId="{CB8A2C57-0D24-44FF-9273-6419C92F021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BD6B56B-CD47-4382-BDC9-CDAD2EC0696A}"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IN"/>
        </a:p>
      </dgm:t>
    </dgm:pt>
    <dgm:pt modelId="{1BEC74AF-7C7F-4E33-90E0-037FE9471596}">
      <dgm:prSet/>
      <dgm:spPr/>
      <dgm:t>
        <a:bodyPr/>
        <a:lstStyle/>
        <a:p>
          <a:r>
            <a:rPr lang="en-IN" b="1" dirty="0"/>
            <a:t>Fixed Deposits</a:t>
          </a:r>
          <a:endParaRPr lang="en-IN" dirty="0"/>
        </a:p>
      </dgm:t>
    </dgm:pt>
    <dgm:pt modelId="{7024F60B-0ECF-4AE4-B6B5-E94015A4DB8D}" type="parTrans" cxnId="{BFBE3A03-30F2-4FFB-B161-13E17D825241}">
      <dgm:prSet/>
      <dgm:spPr/>
      <dgm:t>
        <a:bodyPr/>
        <a:lstStyle/>
        <a:p>
          <a:endParaRPr lang="en-IN"/>
        </a:p>
      </dgm:t>
    </dgm:pt>
    <dgm:pt modelId="{40AEA64C-AEFE-4F9F-994D-2D58452330F4}" type="sibTrans" cxnId="{BFBE3A03-30F2-4FFB-B161-13E17D825241}">
      <dgm:prSet/>
      <dgm:spPr/>
      <dgm:t>
        <a:bodyPr/>
        <a:lstStyle/>
        <a:p>
          <a:endParaRPr lang="en-IN"/>
        </a:p>
      </dgm:t>
    </dgm:pt>
    <dgm:pt modelId="{B7AF1A2E-7575-499A-8CE4-83F6DEEFBC46}">
      <dgm:prSet/>
      <dgm:spPr/>
      <dgm:t>
        <a:bodyPr/>
        <a:lstStyle/>
        <a:p>
          <a:r>
            <a:rPr lang="en-IN"/>
            <a:t>Low-risk investment with fixed returns.</a:t>
          </a:r>
        </a:p>
      </dgm:t>
    </dgm:pt>
    <dgm:pt modelId="{8B55761B-2C1D-48E4-9841-9B0501741296}" type="parTrans" cxnId="{21F2B1D1-E2CD-4B2B-B9BB-FE3A327C5AEA}">
      <dgm:prSet/>
      <dgm:spPr/>
      <dgm:t>
        <a:bodyPr/>
        <a:lstStyle/>
        <a:p>
          <a:endParaRPr lang="en-IN"/>
        </a:p>
      </dgm:t>
    </dgm:pt>
    <dgm:pt modelId="{2F3AE64C-8910-4954-BB71-5D658FE5FB66}" type="sibTrans" cxnId="{21F2B1D1-E2CD-4B2B-B9BB-FE3A327C5AEA}">
      <dgm:prSet/>
      <dgm:spPr/>
      <dgm:t>
        <a:bodyPr/>
        <a:lstStyle/>
        <a:p>
          <a:endParaRPr lang="en-IN"/>
        </a:p>
      </dgm:t>
    </dgm:pt>
    <dgm:pt modelId="{45A06722-A92D-4C8F-9479-C15921085A6C}">
      <dgm:prSet/>
      <dgm:spPr/>
      <dgm:t>
        <a:bodyPr/>
        <a:lstStyle/>
        <a:p>
          <a:r>
            <a:rPr lang="en-IN"/>
            <a:t>Lock-in period varies.</a:t>
          </a:r>
        </a:p>
      </dgm:t>
    </dgm:pt>
    <dgm:pt modelId="{6AE84BAB-BB59-4736-A5DF-0A12DB178A12}" type="parTrans" cxnId="{861E2DA3-23D5-4617-BA86-A8837C32E918}">
      <dgm:prSet/>
      <dgm:spPr/>
      <dgm:t>
        <a:bodyPr/>
        <a:lstStyle/>
        <a:p>
          <a:endParaRPr lang="en-IN"/>
        </a:p>
      </dgm:t>
    </dgm:pt>
    <dgm:pt modelId="{0DCE09AA-1A4B-48F9-94EC-E4FC15D7AB8F}" type="sibTrans" cxnId="{861E2DA3-23D5-4617-BA86-A8837C32E918}">
      <dgm:prSet/>
      <dgm:spPr/>
      <dgm:t>
        <a:bodyPr/>
        <a:lstStyle/>
        <a:p>
          <a:endParaRPr lang="en-IN"/>
        </a:p>
      </dgm:t>
    </dgm:pt>
    <dgm:pt modelId="{0C9F066B-937C-43B1-A7A6-6FBEC43E0BEC}">
      <dgm:prSet/>
      <dgm:spPr/>
      <dgm:t>
        <a:bodyPr/>
        <a:lstStyle/>
        <a:p>
          <a:r>
            <a:rPr lang="en-IN"/>
            <a:t>Suitable for short-term goals.</a:t>
          </a:r>
        </a:p>
      </dgm:t>
    </dgm:pt>
    <dgm:pt modelId="{1961D8A0-A9C6-4E37-8408-B30C4F702B69}" type="parTrans" cxnId="{FEEBDB61-7E05-4A66-85F6-1A1A01912C15}">
      <dgm:prSet/>
      <dgm:spPr/>
      <dgm:t>
        <a:bodyPr/>
        <a:lstStyle/>
        <a:p>
          <a:endParaRPr lang="en-IN"/>
        </a:p>
      </dgm:t>
    </dgm:pt>
    <dgm:pt modelId="{7B7CFEC9-7D5C-4FA7-9A3D-A20C2BF10419}" type="sibTrans" cxnId="{FEEBDB61-7E05-4A66-85F6-1A1A01912C15}">
      <dgm:prSet/>
      <dgm:spPr/>
      <dgm:t>
        <a:bodyPr/>
        <a:lstStyle/>
        <a:p>
          <a:endParaRPr lang="en-IN"/>
        </a:p>
      </dgm:t>
    </dgm:pt>
    <dgm:pt modelId="{C4A3A57A-6E94-4D59-8F0D-12811B958DF7}">
      <dgm:prSet/>
      <dgm:spPr/>
      <dgm:t>
        <a:bodyPr/>
        <a:lstStyle/>
        <a:p>
          <a:r>
            <a:rPr lang="en-IN" b="1" dirty="0"/>
            <a:t>Stocks</a:t>
          </a:r>
          <a:endParaRPr lang="en-IN" dirty="0"/>
        </a:p>
      </dgm:t>
    </dgm:pt>
    <dgm:pt modelId="{24C518F6-E843-4AFA-B475-55CB5A61A45B}" type="parTrans" cxnId="{23966B95-AC89-49BB-8824-29323E930CBC}">
      <dgm:prSet/>
      <dgm:spPr/>
      <dgm:t>
        <a:bodyPr/>
        <a:lstStyle/>
        <a:p>
          <a:endParaRPr lang="en-IN"/>
        </a:p>
      </dgm:t>
    </dgm:pt>
    <dgm:pt modelId="{5841F48E-0A00-4701-A0EB-E4F9856A7C02}" type="sibTrans" cxnId="{23966B95-AC89-49BB-8824-29323E930CBC}">
      <dgm:prSet/>
      <dgm:spPr/>
      <dgm:t>
        <a:bodyPr/>
        <a:lstStyle/>
        <a:p>
          <a:endParaRPr lang="en-IN"/>
        </a:p>
      </dgm:t>
    </dgm:pt>
    <dgm:pt modelId="{BD441E87-FA9F-48DE-803B-149537670E80}">
      <dgm:prSet/>
      <dgm:spPr/>
      <dgm:t>
        <a:bodyPr/>
        <a:lstStyle/>
        <a:p>
          <a:r>
            <a:rPr lang="en-IN"/>
            <a:t>High-risk investment with market-linked returns.</a:t>
          </a:r>
        </a:p>
      </dgm:t>
    </dgm:pt>
    <dgm:pt modelId="{ED2CE088-EF4C-48EE-8026-AD39F29B4AD2}" type="parTrans" cxnId="{EEDA8FF7-C7E3-4695-A216-AE45B2D7383F}">
      <dgm:prSet/>
      <dgm:spPr/>
      <dgm:t>
        <a:bodyPr/>
        <a:lstStyle/>
        <a:p>
          <a:endParaRPr lang="en-IN"/>
        </a:p>
      </dgm:t>
    </dgm:pt>
    <dgm:pt modelId="{BD35C868-9299-4833-B194-BC580995E5A3}" type="sibTrans" cxnId="{EEDA8FF7-C7E3-4695-A216-AE45B2D7383F}">
      <dgm:prSet/>
      <dgm:spPr/>
      <dgm:t>
        <a:bodyPr/>
        <a:lstStyle/>
        <a:p>
          <a:endParaRPr lang="en-IN"/>
        </a:p>
      </dgm:t>
    </dgm:pt>
    <dgm:pt modelId="{A15B975D-D126-47C0-9897-80F6442FFF76}">
      <dgm:prSet/>
      <dgm:spPr/>
      <dgm:t>
        <a:bodyPr/>
        <a:lstStyle/>
        <a:p>
          <a:r>
            <a:rPr lang="en-IN"/>
            <a:t>Requires understanding of the stock market.</a:t>
          </a:r>
        </a:p>
      </dgm:t>
    </dgm:pt>
    <dgm:pt modelId="{4226D2C5-8741-4E92-8E70-DF1A28326FEC}" type="parTrans" cxnId="{CDAA6BEE-7134-432D-A27A-00B1D2D1A17A}">
      <dgm:prSet/>
      <dgm:spPr/>
      <dgm:t>
        <a:bodyPr/>
        <a:lstStyle/>
        <a:p>
          <a:endParaRPr lang="en-IN"/>
        </a:p>
      </dgm:t>
    </dgm:pt>
    <dgm:pt modelId="{7710518B-759E-4AD6-891C-577373D1ACB8}" type="sibTrans" cxnId="{CDAA6BEE-7134-432D-A27A-00B1D2D1A17A}">
      <dgm:prSet/>
      <dgm:spPr/>
      <dgm:t>
        <a:bodyPr/>
        <a:lstStyle/>
        <a:p>
          <a:endParaRPr lang="en-IN"/>
        </a:p>
      </dgm:t>
    </dgm:pt>
    <dgm:pt modelId="{619033FC-1EA0-4E57-BCC7-648DCCD06773}">
      <dgm:prSet/>
      <dgm:spPr/>
      <dgm:t>
        <a:bodyPr/>
        <a:lstStyle/>
        <a:p>
          <a:r>
            <a:rPr lang="en-IN" b="1" dirty="0"/>
            <a:t>Mutual Funds</a:t>
          </a:r>
          <a:endParaRPr lang="en-IN" dirty="0"/>
        </a:p>
      </dgm:t>
    </dgm:pt>
    <dgm:pt modelId="{C0DCDEFA-83FC-4531-8FBE-AEAD6B2DB3EC}" type="parTrans" cxnId="{D490FDC1-5A4E-4534-A362-8D14044AC3CD}">
      <dgm:prSet/>
      <dgm:spPr/>
      <dgm:t>
        <a:bodyPr/>
        <a:lstStyle/>
        <a:p>
          <a:endParaRPr lang="en-IN"/>
        </a:p>
      </dgm:t>
    </dgm:pt>
    <dgm:pt modelId="{7030BB2D-2B22-4477-924A-1F70486AEEEB}" type="sibTrans" cxnId="{D490FDC1-5A4E-4534-A362-8D14044AC3CD}">
      <dgm:prSet/>
      <dgm:spPr/>
      <dgm:t>
        <a:bodyPr/>
        <a:lstStyle/>
        <a:p>
          <a:endParaRPr lang="en-IN"/>
        </a:p>
      </dgm:t>
    </dgm:pt>
    <dgm:pt modelId="{2EF30D28-5A1F-4011-8061-2D8B38236682}">
      <dgm:prSet/>
      <dgm:spPr/>
      <dgm:t>
        <a:bodyPr/>
        <a:lstStyle/>
        <a:p>
          <a:r>
            <a:rPr lang="en-IN"/>
            <a:t>Market-linked instruments managed by professionals.</a:t>
          </a:r>
        </a:p>
      </dgm:t>
    </dgm:pt>
    <dgm:pt modelId="{A05BFEAA-C1AE-407F-90BB-516DD196D135}" type="parTrans" cxnId="{FF1AA2C9-7AAC-4433-8CAD-5378D0A8B0DD}">
      <dgm:prSet/>
      <dgm:spPr/>
      <dgm:t>
        <a:bodyPr/>
        <a:lstStyle/>
        <a:p>
          <a:endParaRPr lang="en-IN"/>
        </a:p>
      </dgm:t>
    </dgm:pt>
    <dgm:pt modelId="{F299EE2E-978D-48D1-8B3A-BB5676E2156B}" type="sibTrans" cxnId="{FF1AA2C9-7AAC-4433-8CAD-5378D0A8B0DD}">
      <dgm:prSet/>
      <dgm:spPr/>
      <dgm:t>
        <a:bodyPr/>
        <a:lstStyle/>
        <a:p>
          <a:endParaRPr lang="en-IN"/>
        </a:p>
      </dgm:t>
    </dgm:pt>
    <dgm:pt modelId="{9F51BB3A-633F-4173-B384-6C227AA5CEDC}">
      <dgm:prSet/>
      <dgm:spPr/>
      <dgm:t>
        <a:bodyPr/>
        <a:lstStyle/>
        <a:p>
          <a:r>
            <a:rPr lang="en-IN"/>
            <a:t>Variety of options: equity, debt, or mixed funds.</a:t>
          </a:r>
        </a:p>
      </dgm:t>
    </dgm:pt>
    <dgm:pt modelId="{54D9BD91-0DF4-4E44-98E8-F2F9BB00CB73}" type="parTrans" cxnId="{947737B3-56E6-45DA-8BE7-28C7A47F9FCE}">
      <dgm:prSet/>
      <dgm:spPr/>
      <dgm:t>
        <a:bodyPr/>
        <a:lstStyle/>
        <a:p>
          <a:endParaRPr lang="en-IN"/>
        </a:p>
      </dgm:t>
    </dgm:pt>
    <dgm:pt modelId="{C68BB8B9-0D48-4ACC-A3D8-61F3ACA12C47}" type="sibTrans" cxnId="{947737B3-56E6-45DA-8BE7-28C7A47F9FCE}">
      <dgm:prSet/>
      <dgm:spPr/>
      <dgm:t>
        <a:bodyPr/>
        <a:lstStyle/>
        <a:p>
          <a:endParaRPr lang="en-IN"/>
        </a:p>
      </dgm:t>
    </dgm:pt>
    <dgm:pt modelId="{D81B4D0F-05B3-4CBF-B117-E0C003C985D0}">
      <dgm:prSet/>
      <dgm:spPr/>
      <dgm:t>
        <a:bodyPr/>
        <a:lstStyle/>
        <a:p>
          <a:r>
            <a:rPr lang="en-IN"/>
            <a:t>Investments can be made as lump sum or periodic.</a:t>
          </a:r>
        </a:p>
      </dgm:t>
    </dgm:pt>
    <dgm:pt modelId="{8F759BF4-6996-4EDD-85BB-D487AC21EB93}" type="parTrans" cxnId="{CCE27473-E572-43A6-AC32-DA24402D8343}">
      <dgm:prSet/>
      <dgm:spPr/>
      <dgm:t>
        <a:bodyPr/>
        <a:lstStyle/>
        <a:p>
          <a:endParaRPr lang="en-IN"/>
        </a:p>
      </dgm:t>
    </dgm:pt>
    <dgm:pt modelId="{30675B70-C605-45AB-AE9A-F350EE93F9BB}" type="sibTrans" cxnId="{CCE27473-E572-43A6-AC32-DA24402D8343}">
      <dgm:prSet/>
      <dgm:spPr/>
      <dgm:t>
        <a:bodyPr/>
        <a:lstStyle/>
        <a:p>
          <a:endParaRPr lang="en-IN"/>
        </a:p>
      </dgm:t>
    </dgm:pt>
    <dgm:pt modelId="{B3BA1B4B-A061-4C2F-8F79-140AA7006E02}">
      <dgm:prSet/>
      <dgm:spPr/>
      <dgm:t>
        <a:bodyPr/>
        <a:lstStyle/>
        <a:p>
          <a:r>
            <a:rPr lang="en-IN" b="1" dirty="0"/>
            <a:t>Real Estate</a:t>
          </a:r>
          <a:endParaRPr lang="en-IN" dirty="0"/>
        </a:p>
      </dgm:t>
    </dgm:pt>
    <dgm:pt modelId="{53BAD177-6C05-437C-9541-B2F2CFD0108E}" type="parTrans" cxnId="{0EAA0E12-28A4-47D1-9305-BE795AFCD87D}">
      <dgm:prSet/>
      <dgm:spPr/>
      <dgm:t>
        <a:bodyPr/>
        <a:lstStyle/>
        <a:p>
          <a:endParaRPr lang="en-IN"/>
        </a:p>
      </dgm:t>
    </dgm:pt>
    <dgm:pt modelId="{E343E38C-1DD7-4E3D-AC5A-DD6284CC429F}" type="sibTrans" cxnId="{0EAA0E12-28A4-47D1-9305-BE795AFCD87D}">
      <dgm:prSet/>
      <dgm:spPr/>
      <dgm:t>
        <a:bodyPr/>
        <a:lstStyle/>
        <a:p>
          <a:endParaRPr lang="en-IN"/>
        </a:p>
      </dgm:t>
    </dgm:pt>
    <dgm:pt modelId="{0FC7D0FD-5F3A-4358-9F64-5BCE4B96A8F9}">
      <dgm:prSet/>
      <dgm:spPr/>
      <dgm:t>
        <a:bodyPr/>
        <a:lstStyle/>
        <a:p>
          <a:r>
            <a:rPr lang="en-IN"/>
            <a:t>Traditional investment option with potential for rental income or capital appreciation.</a:t>
          </a:r>
        </a:p>
      </dgm:t>
    </dgm:pt>
    <dgm:pt modelId="{FAAE33F1-D1C8-4744-8DB7-B294EC0D7C60}" type="parTrans" cxnId="{33426CFA-377D-493E-BE38-0CBBAB7C0248}">
      <dgm:prSet/>
      <dgm:spPr/>
      <dgm:t>
        <a:bodyPr/>
        <a:lstStyle/>
        <a:p>
          <a:endParaRPr lang="en-IN"/>
        </a:p>
      </dgm:t>
    </dgm:pt>
    <dgm:pt modelId="{32BF6529-8AB5-4D76-B8CD-7C9ED8FFDD63}" type="sibTrans" cxnId="{33426CFA-377D-493E-BE38-0CBBAB7C0248}">
      <dgm:prSet/>
      <dgm:spPr/>
      <dgm:t>
        <a:bodyPr/>
        <a:lstStyle/>
        <a:p>
          <a:endParaRPr lang="en-IN"/>
        </a:p>
      </dgm:t>
    </dgm:pt>
    <dgm:pt modelId="{AB06C7FE-E94C-4CC8-AFB8-DBED74A1728E}">
      <dgm:prSet/>
      <dgm:spPr/>
      <dgm:t>
        <a:bodyPr/>
        <a:lstStyle/>
        <a:p>
          <a:r>
            <a:rPr lang="en-IN"/>
            <a:t>Returns vary depending on market conditions, location, and more.</a:t>
          </a:r>
        </a:p>
      </dgm:t>
    </dgm:pt>
    <dgm:pt modelId="{FBF46A17-1E65-4595-AC94-D60CA4F8B20C}" type="parTrans" cxnId="{FB92B817-8E4C-4A5A-B083-93FED97723A8}">
      <dgm:prSet/>
      <dgm:spPr/>
      <dgm:t>
        <a:bodyPr/>
        <a:lstStyle/>
        <a:p>
          <a:endParaRPr lang="en-IN"/>
        </a:p>
      </dgm:t>
    </dgm:pt>
    <dgm:pt modelId="{DD5E680E-EB40-4FDE-91DB-905D8E91E721}" type="sibTrans" cxnId="{FB92B817-8E4C-4A5A-B083-93FED97723A8}">
      <dgm:prSet/>
      <dgm:spPr/>
      <dgm:t>
        <a:bodyPr/>
        <a:lstStyle/>
        <a:p>
          <a:endParaRPr lang="en-IN"/>
        </a:p>
      </dgm:t>
    </dgm:pt>
    <dgm:pt modelId="{F57A86FD-F55A-4157-8EC0-34C675C793B2}" type="pres">
      <dgm:prSet presAssocID="{FBD6B56B-CD47-4382-BDC9-CDAD2EC0696A}" presName="Name0" presStyleCnt="0">
        <dgm:presLayoutVars>
          <dgm:dir/>
          <dgm:animLvl val="lvl"/>
          <dgm:resizeHandles val="exact"/>
        </dgm:presLayoutVars>
      </dgm:prSet>
      <dgm:spPr/>
      <dgm:t>
        <a:bodyPr/>
        <a:lstStyle/>
        <a:p>
          <a:endParaRPr lang="en-US"/>
        </a:p>
      </dgm:t>
    </dgm:pt>
    <dgm:pt modelId="{3096B2C6-6C24-45DA-8525-FE152632FAEF}" type="pres">
      <dgm:prSet presAssocID="{1BEC74AF-7C7F-4E33-90E0-037FE9471596}" presName="linNode" presStyleCnt="0"/>
      <dgm:spPr/>
    </dgm:pt>
    <dgm:pt modelId="{7C8EFCFF-6494-4297-A778-E191C5206348}" type="pres">
      <dgm:prSet presAssocID="{1BEC74AF-7C7F-4E33-90E0-037FE9471596}" presName="parentText" presStyleLbl="node1" presStyleIdx="0" presStyleCnt="4">
        <dgm:presLayoutVars>
          <dgm:chMax val="1"/>
          <dgm:bulletEnabled val="1"/>
        </dgm:presLayoutVars>
      </dgm:prSet>
      <dgm:spPr/>
      <dgm:t>
        <a:bodyPr/>
        <a:lstStyle/>
        <a:p>
          <a:endParaRPr lang="en-US"/>
        </a:p>
      </dgm:t>
    </dgm:pt>
    <dgm:pt modelId="{954F014E-D20F-4421-B996-F636B265245E}" type="pres">
      <dgm:prSet presAssocID="{1BEC74AF-7C7F-4E33-90E0-037FE9471596}" presName="descendantText" presStyleLbl="alignAccFollowNode1" presStyleIdx="0" presStyleCnt="4">
        <dgm:presLayoutVars>
          <dgm:bulletEnabled val="1"/>
        </dgm:presLayoutVars>
      </dgm:prSet>
      <dgm:spPr/>
      <dgm:t>
        <a:bodyPr/>
        <a:lstStyle/>
        <a:p>
          <a:endParaRPr lang="en-US"/>
        </a:p>
      </dgm:t>
    </dgm:pt>
    <dgm:pt modelId="{8BD7D4DB-F096-4B72-8F06-B39FDB1C7932}" type="pres">
      <dgm:prSet presAssocID="{40AEA64C-AEFE-4F9F-994D-2D58452330F4}" presName="sp" presStyleCnt="0"/>
      <dgm:spPr/>
    </dgm:pt>
    <dgm:pt modelId="{C3C7C92C-4A7A-4033-BED7-78A13BBF71DA}" type="pres">
      <dgm:prSet presAssocID="{C4A3A57A-6E94-4D59-8F0D-12811B958DF7}" presName="linNode" presStyleCnt="0"/>
      <dgm:spPr/>
    </dgm:pt>
    <dgm:pt modelId="{8512028A-F083-4364-9206-D43AF2022E7E}" type="pres">
      <dgm:prSet presAssocID="{C4A3A57A-6E94-4D59-8F0D-12811B958DF7}" presName="parentText" presStyleLbl="node1" presStyleIdx="1" presStyleCnt="4">
        <dgm:presLayoutVars>
          <dgm:chMax val="1"/>
          <dgm:bulletEnabled val="1"/>
        </dgm:presLayoutVars>
      </dgm:prSet>
      <dgm:spPr/>
      <dgm:t>
        <a:bodyPr/>
        <a:lstStyle/>
        <a:p>
          <a:endParaRPr lang="en-US"/>
        </a:p>
      </dgm:t>
    </dgm:pt>
    <dgm:pt modelId="{2C4CB3AC-65E4-4D49-9BAE-6471F32E7501}" type="pres">
      <dgm:prSet presAssocID="{C4A3A57A-6E94-4D59-8F0D-12811B958DF7}" presName="descendantText" presStyleLbl="alignAccFollowNode1" presStyleIdx="1" presStyleCnt="4">
        <dgm:presLayoutVars>
          <dgm:bulletEnabled val="1"/>
        </dgm:presLayoutVars>
      </dgm:prSet>
      <dgm:spPr/>
      <dgm:t>
        <a:bodyPr/>
        <a:lstStyle/>
        <a:p>
          <a:endParaRPr lang="en-US"/>
        </a:p>
      </dgm:t>
    </dgm:pt>
    <dgm:pt modelId="{3380F911-DF6B-4969-8E76-E0328BD1238D}" type="pres">
      <dgm:prSet presAssocID="{5841F48E-0A00-4701-A0EB-E4F9856A7C02}" presName="sp" presStyleCnt="0"/>
      <dgm:spPr/>
    </dgm:pt>
    <dgm:pt modelId="{451906F9-8974-4A2E-B2F9-EC6F2AB87D1A}" type="pres">
      <dgm:prSet presAssocID="{619033FC-1EA0-4E57-BCC7-648DCCD06773}" presName="linNode" presStyleCnt="0"/>
      <dgm:spPr/>
    </dgm:pt>
    <dgm:pt modelId="{379BBA84-8C40-4C79-A55B-2FFE0C027133}" type="pres">
      <dgm:prSet presAssocID="{619033FC-1EA0-4E57-BCC7-648DCCD06773}" presName="parentText" presStyleLbl="node1" presStyleIdx="2" presStyleCnt="4">
        <dgm:presLayoutVars>
          <dgm:chMax val="1"/>
          <dgm:bulletEnabled val="1"/>
        </dgm:presLayoutVars>
      </dgm:prSet>
      <dgm:spPr/>
      <dgm:t>
        <a:bodyPr/>
        <a:lstStyle/>
        <a:p>
          <a:endParaRPr lang="en-US"/>
        </a:p>
      </dgm:t>
    </dgm:pt>
    <dgm:pt modelId="{F066A331-0DEB-493D-9EE9-CECF142EEABC}" type="pres">
      <dgm:prSet presAssocID="{619033FC-1EA0-4E57-BCC7-648DCCD06773}" presName="descendantText" presStyleLbl="alignAccFollowNode1" presStyleIdx="2" presStyleCnt="4">
        <dgm:presLayoutVars>
          <dgm:bulletEnabled val="1"/>
        </dgm:presLayoutVars>
      </dgm:prSet>
      <dgm:spPr/>
      <dgm:t>
        <a:bodyPr/>
        <a:lstStyle/>
        <a:p>
          <a:endParaRPr lang="en-US"/>
        </a:p>
      </dgm:t>
    </dgm:pt>
    <dgm:pt modelId="{D5616B4A-1BD7-48D4-ADF1-1DEF6D76B9D2}" type="pres">
      <dgm:prSet presAssocID="{7030BB2D-2B22-4477-924A-1F70486AEEEB}" presName="sp" presStyleCnt="0"/>
      <dgm:spPr/>
    </dgm:pt>
    <dgm:pt modelId="{9965E90F-04C2-4C83-A88D-8F6D15010F97}" type="pres">
      <dgm:prSet presAssocID="{B3BA1B4B-A061-4C2F-8F79-140AA7006E02}" presName="linNode" presStyleCnt="0"/>
      <dgm:spPr/>
    </dgm:pt>
    <dgm:pt modelId="{C41DC2F1-8E32-409B-86AD-841CF53D2ED6}" type="pres">
      <dgm:prSet presAssocID="{B3BA1B4B-A061-4C2F-8F79-140AA7006E02}" presName="parentText" presStyleLbl="node1" presStyleIdx="3" presStyleCnt="4">
        <dgm:presLayoutVars>
          <dgm:chMax val="1"/>
          <dgm:bulletEnabled val="1"/>
        </dgm:presLayoutVars>
      </dgm:prSet>
      <dgm:spPr/>
      <dgm:t>
        <a:bodyPr/>
        <a:lstStyle/>
        <a:p>
          <a:endParaRPr lang="en-US"/>
        </a:p>
      </dgm:t>
    </dgm:pt>
    <dgm:pt modelId="{37BAD8A1-78A4-4B9C-B7BC-57F3FA084E1E}" type="pres">
      <dgm:prSet presAssocID="{B3BA1B4B-A061-4C2F-8F79-140AA7006E02}" presName="descendantText" presStyleLbl="alignAccFollowNode1" presStyleIdx="3" presStyleCnt="4">
        <dgm:presLayoutVars>
          <dgm:bulletEnabled val="1"/>
        </dgm:presLayoutVars>
      </dgm:prSet>
      <dgm:spPr/>
      <dgm:t>
        <a:bodyPr/>
        <a:lstStyle/>
        <a:p>
          <a:endParaRPr lang="en-US"/>
        </a:p>
      </dgm:t>
    </dgm:pt>
  </dgm:ptLst>
  <dgm:cxnLst>
    <dgm:cxn modelId="{92BF2E9F-99CA-45F6-9293-075BBA74ABE1}" type="presOf" srcId="{A15B975D-D126-47C0-9897-80F6442FFF76}" destId="{2C4CB3AC-65E4-4D49-9BAE-6471F32E7501}" srcOrd="0" destOrd="1" presId="urn:microsoft.com/office/officeart/2005/8/layout/vList5"/>
    <dgm:cxn modelId="{947737B3-56E6-45DA-8BE7-28C7A47F9FCE}" srcId="{619033FC-1EA0-4E57-BCC7-648DCCD06773}" destId="{9F51BB3A-633F-4173-B384-6C227AA5CEDC}" srcOrd="1" destOrd="0" parTransId="{54D9BD91-0DF4-4E44-98E8-F2F9BB00CB73}" sibTransId="{C68BB8B9-0D48-4ACC-A3D8-61F3ACA12C47}"/>
    <dgm:cxn modelId="{FF1AA2C9-7AAC-4433-8CAD-5378D0A8B0DD}" srcId="{619033FC-1EA0-4E57-BCC7-648DCCD06773}" destId="{2EF30D28-5A1F-4011-8061-2D8B38236682}" srcOrd="0" destOrd="0" parTransId="{A05BFEAA-C1AE-407F-90BB-516DD196D135}" sibTransId="{F299EE2E-978D-48D1-8B3A-BB5676E2156B}"/>
    <dgm:cxn modelId="{21F2B1D1-E2CD-4B2B-B9BB-FE3A327C5AEA}" srcId="{1BEC74AF-7C7F-4E33-90E0-037FE9471596}" destId="{B7AF1A2E-7575-499A-8CE4-83F6DEEFBC46}" srcOrd="0" destOrd="0" parTransId="{8B55761B-2C1D-48E4-9841-9B0501741296}" sibTransId="{2F3AE64C-8910-4954-BB71-5D658FE5FB66}"/>
    <dgm:cxn modelId="{E61378B5-9D93-4122-A57C-C0EE2559C03E}" type="presOf" srcId="{0C9F066B-937C-43B1-A7A6-6FBEC43E0BEC}" destId="{954F014E-D20F-4421-B996-F636B265245E}" srcOrd="0" destOrd="2" presId="urn:microsoft.com/office/officeart/2005/8/layout/vList5"/>
    <dgm:cxn modelId="{861E2DA3-23D5-4617-BA86-A8837C32E918}" srcId="{1BEC74AF-7C7F-4E33-90E0-037FE9471596}" destId="{45A06722-A92D-4C8F-9479-C15921085A6C}" srcOrd="1" destOrd="0" parTransId="{6AE84BAB-BB59-4736-A5DF-0A12DB178A12}" sibTransId="{0DCE09AA-1A4B-48F9-94EC-E4FC15D7AB8F}"/>
    <dgm:cxn modelId="{FB92B817-8E4C-4A5A-B083-93FED97723A8}" srcId="{B3BA1B4B-A061-4C2F-8F79-140AA7006E02}" destId="{AB06C7FE-E94C-4CC8-AFB8-DBED74A1728E}" srcOrd="1" destOrd="0" parTransId="{FBF46A17-1E65-4595-AC94-D60CA4F8B20C}" sibTransId="{DD5E680E-EB40-4FDE-91DB-905D8E91E721}"/>
    <dgm:cxn modelId="{CDAA6BEE-7134-432D-A27A-00B1D2D1A17A}" srcId="{C4A3A57A-6E94-4D59-8F0D-12811B958DF7}" destId="{A15B975D-D126-47C0-9897-80F6442FFF76}" srcOrd="1" destOrd="0" parTransId="{4226D2C5-8741-4E92-8E70-DF1A28326FEC}" sibTransId="{7710518B-759E-4AD6-891C-577373D1ACB8}"/>
    <dgm:cxn modelId="{BFBE3A03-30F2-4FFB-B161-13E17D825241}" srcId="{FBD6B56B-CD47-4382-BDC9-CDAD2EC0696A}" destId="{1BEC74AF-7C7F-4E33-90E0-037FE9471596}" srcOrd="0" destOrd="0" parTransId="{7024F60B-0ECF-4AE4-B6B5-E94015A4DB8D}" sibTransId="{40AEA64C-AEFE-4F9F-994D-2D58452330F4}"/>
    <dgm:cxn modelId="{9FFD4A81-CC4A-4E9F-AA86-27165D1D9AD6}" type="presOf" srcId="{1BEC74AF-7C7F-4E33-90E0-037FE9471596}" destId="{7C8EFCFF-6494-4297-A778-E191C5206348}" srcOrd="0" destOrd="0" presId="urn:microsoft.com/office/officeart/2005/8/layout/vList5"/>
    <dgm:cxn modelId="{26ECCCD0-06C5-43FC-81B8-F91446A746F1}" type="presOf" srcId="{FBD6B56B-CD47-4382-BDC9-CDAD2EC0696A}" destId="{F57A86FD-F55A-4157-8EC0-34C675C793B2}" srcOrd="0" destOrd="0" presId="urn:microsoft.com/office/officeart/2005/8/layout/vList5"/>
    <dgm:cxn modelId="{A01A95F8-F80A-4A75-999B-C0E70E872DE1}" type="presOf" srcId="{45A06722-A92D-4C8F-9479-C15921085A6C}" destId="{954F014E-D20F-4421-B996-F636B265245E}" srcOrd="0" destOrd="1" presId="urn:microsoft.com/office/officeart/2005/8/layout/vList5"/>
    <dgm:cxn modelId="{C95B45CF-A63F-42D1-BCAA-DEBD4EDD046A}" type="presOf" srcId="{619033FC-1EA0-4E57-BCC7-648DCCD06773}" destId="{379BBA84-8C40-4C79-A55B-2FFE0C027133}" srcOrd="0" destOrd="0" presId="urn:microsoft.com/office/officeart/2005/8/layout/vList5"/>
    <dgm:cxn modelId="{14A37A40-AEAC-4DFB-ADE6-72C291892BA1}" type="presOf" srcId="{D81B4D0F-05B3-4CBF-B117-E0C003C985D0}" destId="{F066A331-0DEB-493D-9EE9-CECF142EEABC}" srcOrd="0" destOrd="2" presId="urn:microsoft.com/office/officeart/2005/8/layout/vList5"/>
    <dgm:cxn modelId="{4DD2A995-B9EE-4DC3-84F0-086C8CE83D19}" type="presOf" srcId="{B3BA1B4B-A061-4C2F-8F79-140AA7006E02}" destId="{C41DC2F1-8E32-409B-86AD-841CF53D2ED6}" srcOrd="0" destOrd="0" presId="urn:microsoft.com/office/officeart/2005/8/layout/vList5"/>
    <dgm:cxn modelId="{EEDA8FF7-C7E3-4695-A216-AE45B2D7383F}" srcId="{C4A3A57A-6E94-4D59-8F0D-12811B958DF7}" destId="{BD441E87-FA9F-48DE-803B-149537670E80}" srcOrd="0" destOrd="0" parTransId="{ED2CE088-EF4C-48EE-8026-AD39F29B4AD2}" sibTransId="{BD35C868-9299-4833-B194-BC580995E5A3}"/>
    <dgm:cxn modelId="{FB1907F4-AE9C-4416-B8E3-3FD8A49EB03E}" type="presOf" srcId="{AB06C7FE-E94C-4CC8-AFB8-DBED74A1728E}" destId="{37BAD8A1-78A4-4B9C-B7BC-57F3FA084E1E}" srcOrd="0" destOrd="1" presId="urn:microsoft.com/office/officeart/2005/8/layout/vList5"/>
    <dgm:cxn modelId="{C610FBFE-D6F0-47A3-8B44-805443EF5F7B}" type="presOf" srcId="{0FC7D0FD-5F3A-4358-9F64-5BCE4B96A8F9}" destId="{37BAD8A1-78A4-4B9C-B7BC-57F3FA084E1E}" srcOrd="0" destOrd="0" presId="urn:microsoft.com/office/officeart/2005/8/layout/vList5"/>
    <dgm:cxn modelId="{2E0BF580-7DA6-482F-A97A-66C674488CDC}" type="presOf" srcId="{2EF30D28-5A1F-4011-8061-2D8B38236682}" destId="{F066A331-0DEB-493D-9EE9-CECF142EEABC}" srcOrd="0" destOrd="0" presId="urn:microsoft.com/office/officeart/2005/8/layout/vList5"/>
    <dgm:cxn modelId="{6CE66F57-1890-47BC-86A6-6F78F1C73F4A}" type="presOf" srcId="{C4A3A57A-6E94-4D59-8F0D-12811B958DF7}" destId="{8512028A-F083-4364-9206-D43AF2022E7E}" srcOrd="0" destOrd="0" presId="urn:microsoft.com/office/officeart/2005/8/layout/vList5"/>
    <dgm:cxn modelId="{1870099C-CC28-473E-9B68-962A0515D1A0}" type="presOf" srcId="{B7AF1A2E-7575-499A-8CE4-83F6DEEFBC46}" destId="{954F014E-D20F-4421-B996-F636B265245E}" srcOrd="0" destOrd="0" presId="urn:microsoft.com/office/officeart/2005/8/layout/vList5"/>
    <dgm:cxn modelId="{33426CFA-377D-493E-BE38-0CBBAB7C0248}" srcId="{B3BA1B4B-A061-4C2F-8F79-140AA7006E02}" destId="{0FC7D0FD-5F3A-4358-9F64-5BCE4B96A8F9}" srcOrd="0" destOrd="0" parTransId="{FAAE33F1-D1C8-4744-8DB7-B294EC0D7C60}" sibTransId="{32BF6529-8AB5-4D76-B8CD-7C9ED8FFDD63}"/>
    <dgm:cxn modelId="{FEEBDB61-7E05-4A66-85F6-1A1A01912C15}" srcId="{1BEC74AF-7C7F-4E33-90E0-037FE9471596}" destId="{0C9F066B-937C-43B1-A7A6-6FBEC43E0BEC}" srcOrd="2" destOrd="0" parTransId="{1961D8A0-A9C6-4E37-8408-B30C4F702B69}" sibTransId="{7B7CFEC9-7D5C-4FA7-9A3D-A20C2BF10419}"/>
    <dgm:cxn modelId="{D490FDC1-5A4E-4534-A362-8D14044AC3CD}" srcId="{FBD6B56B-CD47-4382-BDC9-CDAD2EC0696A}" destId="{619033FC-1EA0-4E57-BCC7-648DCCD06773}" srcOrd="2" destOrd="0" parTransId="{C0DCDEFA-83FC-4531-8FBE-AEAD6B2DB3EC}" sibTransId="{7030BB2D-2B22-4477-924A-1F70486AEEEB}"/>
    <dgm:cxn modelId="{591727F1-9E0F-4BD5-87ED-E6DC67DC9977}" type="presOf" srcId="{BD441E87-FA9F-48DE-803B-149537670E80}" destId="{2C4CB3AC-65E4-4D49-9BAE-6471F32E7501}" srcOrd="0" destOrd="0" presId="urn:microsoft.com/office/officeart/2005/8/layout/vList5"/>
    <dgm:cxn modelId="{5DEC7E79-C53D-4721-9B75-7FDA4020E7C4}" type="presOf" srcId="{9F51BB3A-633F-4173-B384-6C227AA5CEDC}" destId="{F066A331-0DEB-493D-9EE9-CECF142EEABC}" srcOrd="0" destOrd="1" presId="urn:microsoft.com/office/officeart/2005/8/layout/vList5"/>
    <dgm:cxn modelId="{23966B95-AC89-49BB-8824-29323E930CBC}" srcId="{FBD6B56B-CD47-4382-BDC9-CDAD2EC0696A}" destId="{C4A3A57A-6E94-4D59-8F0D-12811B958DF7}" srcOrd="1" destOrd="0" parTransId="{24C518F6-E843-4AFA-B475-55CB5A61A45B}" sibTransId="{5841F48E-0A00-4701-A0EB-E4F9856A7C02}"/>
    <dgm:cxn modelId="{CCE27473-E572-43A6-AC32-DA24402D8343}" srcId="{619033FC-1EA0-4E57-BCC7-648DCCD06773}" destId="{D81B4D0F-05B3-4CBF-B117-E0C003C985D0}" srcOrd="2" destOrd="0" parTransId="{8F759BF4-6996-4EDD-85BB-D487AC21EB93}" sibTransId="{30675B70-C605-45AB-AE9A-F350EE93F9BB}"/>
    <dgm:cxn modelId="{0EAA0E12-28A4-47D1-9305-BE795AFCD87D}" srcId="{FBD6B56B-CD47-4382-BDC9-CDAD2EC0696A}" destId="{B3BA1B4B-A061-4C2F-8F79-140AA7006E02}" srcOrd="3" destOrd="0" parTransId="{53BAD177-6C05-437C-9541-B2F2CFD0108E}" sibTransId="{E343E38C-1DD7-4E3D-AC5A-DD6284CC429F}"/>
    <dgm:cxn modelId="{E4C69DF3-62FC-4E1E-8326-5C08747335CB}" type="presParOf" srcId="{F57A86FD-F55A-4157-8EC0-34C675C793B2}" destId="{3096B2C6-6C24-45DA-8525-FE152632FAEF}" srcOrd="0" destOrd="0" presId="urn:microsoft.com/office/officeart/2005/8/layout/vList5"/>
    <dgm:cxn modelId="{E7B38AD1-51DA-47C1-BE39-56FFC6CB50DA}" type="presParOf" srcId="{3096B2C6-6C24-45DA-8525-FE152632FAEF}" destId="{7C8EFCFF-6494-4297-A778-E191C5206348}" srcOrd="0" destOrd="0" presId="urn:microsoft.com/office/officeart/2005/8/layout/vList5"/>
    <dgm:cxn modelId="{94735040-0B7A-48F0-86D7-7AF9914DC9B5}" type="presParOf" srcId="{3096B2C6-6C24-45DA-8525-FE152632FAEF}" destId="{954F014E-D20F-4421-B996-F636B265245E}" srcOrd="1" destOrd="0" presId="urn:microsoft.com/office/officeart/2005/8/layout/vList5"/>
    <dgm:cxn modelId="{60FA8E61-FA95-4765-B4CD-6C1416541AE6}" type="presParOf" srcId="{F57A86FD-F55A-4157-8EC0-34C675C793B2}" destId="{8BD7D4DB-F096-4B72-8F06-B39FDB1C7932}" srcOrd="1" destOrd="0" presId="urn:microsoft.com/office/officeart/2005/8/layout/vList5"/>
    <dgm:cxn modelId="{7FC2470E-3358-454A-A314-500961538420}" type="presParOf" srcId="{F57A86FD-F55A-4157-8EC0-34C675C793B2}" destId="{C3C7C92C-4A7A-4033-BED7-78A13BBF71DA}" srcOrd="2" destOrd="0" presId="urn:microsoft.com/office/officeart/2005/8/layout/vList5"/>
    <dgm:cxn modelId="{559E440F-BF9F-40D1-99F1-4F2BDC0F0F0E}" type="presParOf" srcId="{C3C7C92C-4A7A-4033-BED7-78A13BBF71DA}" destId="{8512028A-F083-4364-9206-D43AF2022E7E}" srcOrd="0" destOrd="0" presId="urn:microsoft.com/office/officeart/2005/8/layout/vList5"/>
    <dgm:cxn modelId="{0B256AA9-58A0-414F-B667-6BA43B1B6CEB}" type="presParOf" srcId="{C3C7C92C-4A7A-4033-BED7-78A13BBF71DA}" destId="{2C4CB3AC-65E4-4D49-9BAE-6471F32E7501}" srcOrd="1" destOrd="0" presId="urn:microsoft.com/office/officeart/2005/8/layout/vList5"/>
    <dgm:cxn modelId="{E55D54F8-22DA-4BC8-85E8-512F06594D56}" type="presParOf" srcId="{F57A86FD-F55A-4157-8EC0-34C675C793B2}" destId="{3380F911-DF6B-4969-8E76-E0328BD1238D}" srcOrd="3" destOrd="0" presId="urn:microsoft.com/office/officeart/2005/8/layout/vList5"/>
    <dgm:cxn modelId="{D445641B-964A-466C-896B-083615783F7F}" type="presParOf" srcId="{F57A86FD-F55A-4157-8EC0-34C675C793B2}" destId="{451906F9-8974-4A2E-B2F9-EC6F2AB87D1A}" srcOrd="4" destOrd="0" presId="urn:microsoft.com/office/officeart/2005/8/layout/vList5"/>
    <dgm:cxn modelId="{C9B0EFC3-3969-4031-8450-1FF864E312C9}" type="presParOf" srcId="{451906F9-8974-4A2E-B2F9-EC6F2AB87D1A}" destId="{379BBA84-8C40-4C79-A55B-2FFE0C027133}" srcOrd="0" destOrd="0" presId="urn:microsoft.com/office/officeart/2005/8/layout/vList5"/>
    <dgm:cxn modelId="{D8BD12F6-5A08-49FE-B439-C60AD9DC51B7}" type="presParOf" srcId="{451906F9-8974-4A2E-B2F9-EC6F2AB87D1A}" destId="{F066A331-0DEB-493D-9EE9-CECF142EEABC}" srcOrd="1" destOrd="0" presId="urn:microsoft.com/office/officeart/2005/8/layout/vList5"/>
    <dgm:cxn modelId="{92D3AAC2-275F-4389-947F-34BE717BF08F}" type="presParOf" srcId="{F57A86FD-F55A-4157-8EC0-34C675C793B2}" destId="{D5616B4A-1BD7-48D4-ADF1-1DEF6D76B9D2}" srcOrd="5" destOrd="0" presId="urn:microsoft.com/office/officeart/2005/8/layout/vList5"/>
    <dgm:cxn modelId="{F84FCB0F-A95F-40F2-9BE5-0DBDA61CC969}" type="presParOf" srcId="{F57A86FD-F55A-4157-8EC0-34C675C793B2}" destId="{9965E90F-04C2-4C83-A88D-8F6D15010F97}" srcOrd="6" destOrd="0" presId="urn:microsoft.com/office/officeart/2005/8/layout/vList5"/>
    <dgm:cxn modelId="{2B299557-CC35-436F-853C-EA33B58EDC1B}" type="presParOf" srcId="{9965E90F-04C2-4C83-A88D-8F6D15010F97}" destId="{C41DC2F1-8E32-409B-86AD-841CF53D2ED6}" srcOrd="0" destOrd="0" presId="urn:microsoft.com/office/officeart/2005/8/layout/vList5"/>
    <dgm:cxn modelId="{B962F576-66AC-45D3-9300-727050E02D92}" type="presParOf" srcId="{9965E90F-04C2-4C83-A88D-8F6D15010F97}" destId="{37BAD8A1-78A4-4B9C-B7BC-57F3FA084E1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DA055D-5E2F-4FE8-B0B8-B8B0256573E0}">
      <dsp:nvSpPr>
        <dsp:cNvPr id="0" name=""/>
        <dsp:cNvSpPr/>
      </dsp:nvSpPr>
      <dsp:spPr>
        <a:xfrm rot="5400000">
          <a:off x="7622214" y="-3203133"/>
          <a:ext cx="978296" cy="7634224"/>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a:lnSpc>
              <a:spcPct val="90000"/>
            </a:lnSpc>
            <a:spcBef>
              <a:spcPct val="0"/>
            </a:spcBef>
            <a:spcAft>
              <a:spcPct val="15000"/>
            </a:spcAft>
            <a:buChar char="••"/>
          </a:pPr>
          <a:r>
            <a:rPr lang="en-GB" sz="2800" b="1" kern="1200" dirty="0"/>
            <a:t>Money kept in a bank or invested can earn interest or return.</a:t>
          </a:r>
        </a:p>
      </dsp:txBody>
      <dsp:txXfrm rot="-5400000">
        <a:off x="4294250" y="172587"/>
        <a:ext cx="7586468" cy="882784"/>
      </dsp:txXfrm>
    </dsp:sp>
    <dsp:sp modelId="{C5B35A40-7176-432A-A08F-D2C24D3AABE1}">
      <dsp:nvSpPr>
        <dsp:cNvPr id="0" name=""/>
        <dsp:cNvSpPr/>
      </dsp:nvSpPr>
      <dsp:spPr>
        <a:xfrm>
          <a:off x="0" y="2542"/>
          <a:ext cx="4294251" cy="122287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GB" sz="4400" b="1" kern="1200" dirty="0"/>
            <a:t>Interest earning</a:t>
          </a:r>
          <a:endParaRPr lang="en-IN" sz="4400" b="1" kern="1200" dirty="0"/>
        </a:p>
      </dsp:txBody>
      <dsp:txXfrm>
        <a:off x="59696" y="62238"/>
        <a:ext cx="4174859" cy="1103479"/>
      </dsp:txXfrm>
    </dsp:sp>
    <dsp:sp modelId="{5EB0DC7A-C96A-4D7E-8FDE-727864B8FAF4}">
      <dsp:nvSpPr>
        <dsp:cNvPr id="0" name=""/>
        <dsp:cNvSpPr/>
      </dsp:nvSpPr>
      <dsp:spPr>
        <a:xfrm rot="5400000">
          <a:off x="7622214" y="-1919119"/>
          <a:ext cx="978296" cy="7634224"/>
        </a:xfrm>
        <a:prstGeom prst="round2SameRect">
          <a:avLst/>
        </a:prstGeom>
        <a:solidFill>
          <a:schemeClr val="accent5">
            <a:tint val="40000"/>
            <a:alpha val="90000"/>
            <a:hueOff val="-464057"/>
            <a:satOff val="-16234"/>
            <a:lumOff val="-1098"/>
            <a:alphaOff val="0"/>
          </a:schemeClr>
        </a:solidFill>
        <a:ln w="12700" cap="flat" cmpd="sng" algn="ctr">
          <a:solidFill>
            <a:schemeClr val="accent5">
              <a:tint val="40000"/>
              <a:alpha val="90000"/>
              <a:hueOff val="-464057"/>
              <a:satOff val="-16234"/>
              <a:lumOff val="-109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a:lnSpc>
              <a:spcPct val="90000"/>
            </a:lnSpc>
            <a:spcBef>
              <a:spcPct val="0"/>
            </a:spcBef>
            <a:spcAft>
              <a:spcPct val="15000"/>
            </a:spcAft>
            <a:buChar char="••"/>
          </a:pPr>
          <a:r>
            <a:rPr lang="en-GB" sz="2800" b="1" kern="1200" dirty="0"/>
            <a:t>Over time prices of goods and services increases so purchasing power of money decreases.</a:t>
          </a:r>
        </a:p>
      </dsp:txBody>
      <dsp:txXfrm rot="-5400000">
        <a:off x="4294250" y="1456601"/>
        <a:ext cx="7586468" cy="882784"/>
      </dsp:txXfrm>
    </dsp:sp>
    <dsp:sp modelId="{7FAE81B3-DE8F-427D-AEA5-13B7F34C61EE}">
      <dsp:nvSpPr>
        <dsp:cNvPr id="0" name=""/>
        <dsp:cNvSpPr/>
      </dsp:nvSpPr>
      <dsp:spPr>
        <a:xfrm>
          <a:off x="0" y="1286557"/>
          <a:ext cx="4294251" cy="1222871"/>
        </a:xfrm>
        <a:prstGeom prst="roundRect">
          <a:avLst/>
        </a:prstGeom>
        <a:solidFill>
          <a:schemeClr val="accent5">
            <a:hueOff val="-682485"/>
            <a:satOff val="-13775"/>
            <a:lumOff val="-10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GB" sz="4400" b="1" kern="1200" dirty="0"/>
            <a:t>Inflation</a:t>
          </a:r>
        </a:p>
      </dsp:txBody>
      <dsp:txXfrm>
        <a:off x="59696" y="1346253"/>
        <a:ext cx="4174859" cy="1103479"/>
      </dsp:txXfrm>
    </dsp:sp>
    <dsp:sp modelId="{5C9AC65A-F7C4-417F-801A-BF8EDBBF5DDF}">
      <dsp:nvSpPr>
        <dsp:cNvPr id="0" name=""/>
        <dsp:cNvSpPr/>
      </dsp:nvSpPr>
      <dsp:spPr>
        <a:xfrm rot="5400000">
          <a:off x="7622214" y="-635104"/>
          <a:ext cx="978296" cy="7634224"/>
        </a:xfrm>
        <a:prstGeom prst="round2SameRect">
          <a:avLst/>
        </a:prstGeom>
        <a:solidFill>
          <a:schemeClr val="accent5">
            <a:tint val="40000"/>
            <a:alpha val="90000"/>
            <a:hueOff val="-928113"/>
            <a:satOff val="-32467"/>
            <a:lumOff val="-2196"/>
            <a:alphaOff val="0"/>
          </a:schemeClr>
        </a:solidFill>
        <a:ln w="12700" cap="flat" cmpd="sng" algn="ctr">
          <a:solidFill>
            <a:schemeClr val="accent5">
              <a:tint val="40000"/>
              <a:alpha val="90000"/>
              <a:hueOff val="-928113"/>
              <a:satOff val="-32467"/>
              <a:lumOff val="-219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a:lnSpc>
              <a:spcPct val="90000"/>
            </a:lnSpc>
            <a:spcBef>
              <a:spcPct val="0"/>
            </a:spcBef>
            <a:spcAft>
              <a:spcPct val="15000"/>
            </a:spcAft>
            <a:buChar char="••"/>
          </a:pPr>
          <a:r>
            <a:rPr lang="en-GB" sz="2800" b="1" kern="1200" dirty="0"/>
            <a:t>Future is uncertain having cash in hand is good choice.</a:t>
          </a:r>
        </a:p>
      </dsp:txBody>
      <dsp:txXfrm rot="-5400000">
        <a:off x="4294250" y="2740616"/>
        <a:ext cx="7586468" cy="882784"/>
      </dsp:txXfrm>
    </dsp:sp>
    <dsp:sp modelId="{1B1B2A84-2A64-4D68-81F6-9714B0D3B3D0}">
      <dsp:nvSpPr>
        <dsp:cNvPr id="0" name=""/>
        <dsp:cNvSpPr/>
      </dsp:nvSpPr>
      <dsp:spPr>
        <a:xfrm>
          <a:off x="0" y="2570571"/>
          <a:ext cx="4294251" cy="1222871"/>
        </a:xfrm>
        <a:prstGeom prst="roundRect">
          <a:avLst/>
        </a:prstGeom>
        <a:solidFill>
          <a:schemeClr val="accent5">
            <a:hueOff val="-1364971"/>
            <a:satOff val="-27549"/>
            <a:lumOff val="-20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GB" sz="4400" b="1" kern="1200" dirty="0"/>
            <a:t>Risk </a:t>
          </a:r>
        </a:p>
      </dsp:txBody>
      <dsp:txXfrm>
        <a:off x="59696" y="2630267"/>
        <a:ext cx="4174859" cy="1103479"/>
      </dsp:txXfrm>
    </dsp:sp>
    <dsp:sp modelId="{0D3DF23F-9B24-4712-9056-C3DD51B799B0}">
      <dsp:nvSpPr>
        <dsp:cNvPr id="0" name=""/>
        <dsp:cNvSpPr/>
      </dsp:nvSpPr>
      <dsp:spPr>
        <a:xfrm rot="5400000">
          <a:off x="7622214" y="648909"/>
          <a:ext cx="978296" cy="7634224"/>
        </a:xfrm>
        <a:prstGeom prst="round2SameRect">
          <a:avLst/>
        </a:prstGeom>
        <a:solidFill>
          <a:schemeClr val="accent5">
            <a:tint val="40000"/>
            <a:alpha val="90000"/>
            <a:hueOff val="-1392170"/>
            <a:satOff val="-48701"/>
            <a:lumOff val="-3294"/>
            <a:alphaOff val="0"/>
          </a:schemeClr>
        </a:solidFill>
        <a:ln w="12700" cap="flat" cmpd="sng" algn="ctr">
          <a:solidFill>
            <a:schemeClr val="accent5">
              <a:tint val="40000"/>
              <a:alpha val="90000"/>
              <a:hueOff val="-1392170"/>
              <a:satOff val="-48701"/>
              <a:lumOff val="-329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a:lnSpc>
              <a:spcPct val="90000"/>
            </a:lnSpc>
            <a:spcBef>
              <a:spcPct val="0"/>
            </a:spcBef>
            <a:spcAft>
              <a:spcPct val="15000"/>
            </a:spcAft>
            <a:buChar char="••"/>
          </a:pPr>
          <a:r>
            <a:rPr lang="en-GB" sz="2800" b="1" kern="1200" dirty="0"/>
            <a:t>Having money now gives you opportunity to invest or spend it in a better way.</a:t>
          </a:r>
          <a:endParaRPr lang="en-IN" sz="2800" b="1" kern="1200" dirty="0"/>
        </a:p>
      </dsp:txBody>
      <dsp:txXfrm rot="-5400000">
        <a:off x="4294250" y="4024629"/>
        <a:ext cx="7586468" cy="882784"/>
      </dsp:txXfrm>
    </dsp:sp>
    <dsp:sp modelId="{E0BAD9FA-BFA3-4C3B-98DB-0B4772B1E412}">
      <dsp:nvSpPr>
        <dsp:cNvPr id="0" name=""/>
        <dsp:cNvSpPr/>
      </dsp:nvSpPr>
      <dsp:spPr>
        <a:xfrm>
          <a:off x="13817" y="3854586"/>
          <a:ext cx="4294251" cy="1222871"/>
        </a:xfrm>
        <a:prstGeom prst="roundRect">
          <a:avLst/>
        </a:prstGeom>
        <a:solidFill>
          <a:schemeClr val="accent5">
            <a:hueOff val="-2047456"/>
            <a:satOff val="-41324"/>
            <a:lumOff val="-31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GB" sz="4400" b="1" kern="1200" dirty="0"/>
            <a:t>Opportunity Cost</a:t>
          </a:r>
        </a:p>
      </dsp:txBody>
      <dsp:txXfrm>
        <a:off x="73513" y="3914282"/>
        <a:ext cx="4174859" cy="11034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65E149-1988-4AD8-80B1-58C5974DDC0D}">
      <dsp:nvSpPr>
        <dsp:cNvPr id="0" name=""/>
        <dsp:cNvSpPr/>
      </dsp:nvSpPr>
      <dsp:spPr>
        <a:xfrm>
          <a:off x="0" y="9907"/>
          <a:ext cx="11928475" cy="9921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1" kern="1200" dirty="0"/>
            <a:t>Helps in comparing investment options.</a:t>
          </a:r>
          <a:endParaRPr lang="en-IN" sz="2800" b="1" kern="1200" dirty="0"/>
        </a:p>
      </dsp:txBody>
      <dsp:txXfrm>
        <a:off x="48433" y="58340"/>
        <a:ext cx="11831609" cy="895294"/>
      </dsp:txXfrm>
    </dsp:sp>
    <dsp:sp modelId="{27FC0903-9BDE-4C17-A377-DC006F32EFD5}">
      <dsp:nvSpPr>
        <dsp:cNvPr id="0" name=""/>
        <dsp:cNvSpPr/>
      </dsp:nvSpPr>
      <dsp:spPr>
        <a:xfrm>
          <a:off x="0" y="1154707"/>
          <a:ext cx="11928475" cy="99216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1" kern="1200" dirty="0"/>
            <a:t>Useful for calculation of EMI of loan.</a:t>
          </a:r>
        </a:p>
      </dsp:txBody>
      <dsp:txXfrm>
        <a:off x="48433" y="1203140"/>
        <a:ext cx="11831609" cy="895294"/>
      </dsp:txXfrm>
    </dsp:sp>
    <dsp:sp modelId="{6CC32D41-0014-4935-B486-7007A43BFB62}">
      <dsp:nvSpPr>
        <dsp:cNvPr id="0" name=""/>
        <dsp:cNvSpPr/>
      </dsp:nvSpPr>
      <dsp:spPr>
        <a:xfrm>
          <a:off x="0" y="2299507"/>
          <a:ext cx="11928475" cy="9921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1" kern="1200" dirty="0"/>
            <a:t>Helps in valuing bonds, insurance, retirement plan.</a:t>
          </a:r>
        </a:p>
      </dsp:txBody>
      <dsp:txXfrm>
        <a:off x="48433" y="2347940"/>
        <a:ext cx="11831609" cy="895294"/>
      </dsp:txXfrm>
    </dsp:sp>
    <dsp:sp modelId="{A7742A8F-C8A1-4FCF-B09D-DBC3BDADA628}">
      <dsp:nvSpPr>
        <dsp:cNvPr id="0" name=""/>
        <dsp:cNvSpPr/>
      </dsp:nvSpPr>
      <dsp:spPr>
        <a:xfrm>
          <a:off x="0" y="3444307"/>
          <a:ext cx="11928475" cy="9921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1" kern="1200" dirty="0"/>
            <a:t>Money received today is better than money receivable in future.</a:t>
          </a:r>
        </a:p>
      </dsp:txBody>
      <dsp:txXfrm>
        <a:off x="48433" y="3492740"/>
        <a:ext cx="11831609" cy="895294"/>
      </dsp:txXfrm>
    </dsp:sp>
    <dsp:sp modelId="{489DF89F-71A6-4284-9B3B-E5E8407C98B6}">
      <dsp:nvSpPr>
        <dsp:cNvPr id="0" name=""/>
        <dsp:cNvSpPr/>
      </dsp:nvSpPr>
      <dsp:spPr>
        <a:xfrm>
          <a:off x="0" y="4589107"/>
          <a:ext cx="11928475" cy="99216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GB" sz="2800" b="1" kern="1200" dirty="0"/>
            <a:t>TVM helps to understand how value of money changes over a period of time.</a:t>
          </a:r>
          <a:endParaRPr lang="en-IN" sz="2800" b="1" kern="1200" dirty="0"/>
        </a:p>
      </dsp:txBody>
      <dsp:txXfrm>
        <a:off x="48433" y="4637540"/>
        <a:ext cx="11831609" cy="8952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62DD43-F80D-47B8-8547-B234439332DF}">
      <dsp:nvSpPr>
        <dsp:cNvPr id="0" name=""/>
        <dsp:cNvSpPr/>
      </dsp:nvSpPr>
      <dsp:spPr>
        <a:xfrm>
          <a:off x="-5211331" y="-798552"/>
          <a:ext cx="6208458" cy="6208458"/>
        </a:xfrm>
        <a:prstGeom prst="blockArc">
          <a:avLst>
            <a:gd name="adj1" fmla="val 18900000"/>
            <a:gd name="adj2" fmla="val 2700000"/>
            <a:gd name="adj3" fmla="val 348"/>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A7E7E4-4E34-43FD-8C15-453084D772D1}">
      <dsp:nvSpPr>
        <dsp:cNvPr id="0" name=""/>
        <dsp:cNvSpPr/>
      </dsp:nvSpPr>
      <dsp:spPr>
        <a:xfrm>
          <a:off x="323486" y="209632"/>
          <a:ext cx="7742952" cy="41907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645" tIns="66040" rIns="66040" bIns="66040" numCol="1" spcCol="1270" anchor="ctr" anchorCtr="0">
          <a:noAutofit/>
        </a:bodyPr>
        <a:lstStyle/>
        <a:p>
          <a:pPr lvl="0" algn="l" defTabSz="1155700">
            <a:lnSpc>
              <a:spcPct val="90000"/>
            </a:lnSpc>
            <a:spcBef>
              <a:spcPct val="0"/>
            </a:spcBef>
            <a:spcAft>
              <a:spcPct val="35000"/>
            </a:spcAft>
          </a:pPr>
          <a:r>
            <a:rPr lang="en-GB" sz="2600" b="1" kern="1200" dirty="0"/>
            <a:t>Medium of Exchange</a:t>
          </a:r>
          <a:endParaRPr lang="en-IN" sz="2600" b="1" kern="1200" dirty="0"/>
        </a:p>
      </dsp:txBody>
      <dsp:txXfrm>
        <a:off x="323486" y="209632"/>
        <a:ext cx="7742952" cy="419079"/>
      </dsp:txXfrm>
    </dsp:sp>
    <dsp:sp modelId="{1C8D0B53-DC70-4CAB-BB98-02F808C9688D}">
      <dsp:nvSpPr>
        <dsp:cNvPr id="0" name=""/>
        <dsp:cNvSpPr/>
      </dsp:nvSpPr>
      <dsp:spPr>
        <a:xfrm>
          <a:off x="61561" y="157247"/>
          <a:ext cx="523849" cy="523849"/>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9A5FFC-7489-4C4B-9F3D-DBDD6E034C46}">
      <dsp:nvSpPr>
        <dsp:cNvPr id="0" name=""/>
        <dsp:cNvSpPr/>
      </dsp:nvSpPr>
      <dsp:spPr>
        <a:xfrm>
          <a:off x="703000" y="838620"/>
          <a:ext cx="7363437" cy="41907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645" tIns="66040" rIns="66040" bIns="66040" numCol="1" spcCol="1270" anchor="ctr" anchorCtr="0">
          <a:noAutofit/>
        </a:bodyPr>
        <a:lstStyle/>
        <a:p>
          <a:pPr lvl="0" algn="l" defTabSz="1155700">
            <a:lnSpc>
              <a:spcPct val="90000"/>
            </a:lnSpc>
            <a:spcBef>
              <a:spcPct val="0"/>
            </a:spcBef>
            <a:spcAft>
              <a:spcPct val="35000"/>
            </a:spcAft>
          </a:pPr>
          <a:r>
            <a:rPr lang="en-GB" sz="2600" b="1" kern="1200" dirty="0"/>
            <a:t>Store of Value </a:t>
          </a:r>
        </a:p>
      </dsp:txBody>
      <dsp:txXfrm>
        <a:off x="703000" y="838620"/>
        <a:ext cx="7363437" cy="419079"/>
      </dsp:txXfrm>
    </dsp:sp>
    <dsp:sp modelId="{005A9234-978E-439A-996B-DC800781B563}">
      <dsp:nvSpPr>
        <dsp:cNvPr id="0" name=""/>
        <dsp:cNvSpPr/>
      </dsp:nvSpPr>
      <dsp:spPr>
        <a:xfrm>
          <a:off x="441075" y="786235"/>
          <a:ext cx="523849" cy="5238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B3B022-260C-4D77-A3D0-40F865EF887F}">
      <dsp:nvSpPr>
        <dsp:cNvPr id="0" name=""/>
        <dsp:cNvSpPr/>
      </dsp:nvSpPr>
      <dsp:spPr>
        <a:xfrm>
          <a:off x="910972" y="1467148"/>
          <a:ext cx="7155465" cy="41907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645" tIns="66040" rIns="66040" bIns="66040" numCol="1" spcCol="1270" anchor="ctr" anchorCtr="0">
          <a:noAutofit/>
        </a:bodyPr>
        <a:lstStyle/>
        <a:p>
          <a:pPr lvl="0" algn="l" defTabSz="1155700">
            <a:lnSpc>
              <a:spcPct val="90000"/>
            </a:lnSpc>
            <a:spcBef>
              <a:spcPct val="0"/>
            </a:spcBef>
            <a:spcAft>
              <a:spcPct val="35000"/>
            </a:spcAft>
          </a:pPr>
          <a:r>
            <a:rPr lang="en-GB" sz="2600" b="1" kern="1200" dirty="0"/>
            <a:t>Unit of Account </a:t>
          </a:r>
        </a:p>
      </dsp:txBody>
      <dsp:txXfrm>
        <a:off x="910972" y="1467148"/>
        <a:ext cx="7155465" cy="419079"/>
      </dsp:txXfrm>
    </dsp:sp>
    <dsp:sp modelId="{10EAAC73-2256-4526-B1AF-5CD3B50781E3}">
      <dsp:nvSpPr>
        <dsp:cNvPr id="0" name=""/>
        <dsp:cNvSpPr/>
      </dsp:nvSpPr>
      <dsp:spPr>
        <a:xfrm>
          <a:off x="649047" y="1414763"/>
          <a:ext cx="523849" cy="523849"/>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93B768-8F44-4AA2-A2C0-D4E049E04FCB}">
      <dsp:nvSpPr>
        <dsp:cNvPr id="0" name=""/>
        <dsp:cNvSpPr/>
      </dsp:nvSpPr>
      <dsp:spPr>
        <a:xfrm>
          <a:off x="977376" y="2096136"/>
          <a:ext cx="7089062" cy="41907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645" tIns="66040" rIns="66040" bIns="66040" numCol="1" spcCol="1270" anchor="ctr" anchorCtr="0">
          <a:noAutofit/>
        </a:bodyPr>
        <a:lstStyle/>
        <a:p>
          <a:pPr lvl="0" algn="l" defTabSz="1155700">
            <a:lnSpc>
              <a:spcPct val="90000"/>
            </a:lnSpc>
            <a:spcBef>
              <a:spcPct val="0"/>
            </a:spcBef>
            <a:spcAft>
              <a:spcPct val="35000"/>
            </a:spcAft>
          </a:pPr>
          <a:r>
            <a:rPr lang="en-GB" sz="2600" b="1" kern="1200" dirty="0"/>
            <a:t>Liquidity </a:t>
          </a:r>
        </a:p>
      </dsp:txBody>
      <dsp:txXfrm>
        <a:off x="977376" y="2096136"/>
        <a:ext cx="7089062" cy="419079"/>
      </dsp:txXfrm>
    </dsp:sp>
    <dsp:sp modelId="{E333FF7E-618D-4FB9-8CB4-837BAF9C7932}">
      <dsp:nvSpPr>
        <dsp:cNvPr id="0" name=""/>
        <dsp:cNvSpPr/>
      </dsp:nvSpPr>
      <dsp:spPr>
        <a:xfrm>
          <a:off x="715451" y="2043751"/>
          <a:ext cx="523849" cy="523849"/>
        </a:xfrm>
        <a:prstGeom prst="ellipse">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0D64C3-132E-4B3F-9605-F2F2D8A621FF}">
      <dsp:nvSpPr>
        <dsp:cNvPr id="0" name=""/>
        <dsp:cNvSpPr/>
      </dsp:nvSpPr>
      <dsp:spPr>
        <a:xfrm>
          <a:off x="910972" y="2725125"/>
          <a:ext cx="7155465" cy="4190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645" tIns="66040" rIns="66040" bIns="66040" numCol="1" spcCol="1270" anchor="ctr" anchorCtr="0">
          <a:noAutofit/>
        </a:bodyPr>
        <a:lstStyle/>
        <a:p>
          <a:pPr lvl="0" algn="l" defTabSz="1155700">
            <a:lnSpc>
              <a:spcPct val="90000"/>
            </a:lnSpc>
            <a:spcBef>
              <a:spcPct val="0"/>
            </a:spcBef>
            <a:spcAft>
              <a:spcPct val="35000"/>
            </a:spcAft>
          </a:pPr>
          <a:r>
            <a:rPr lang="en-GB" sz="2600" b="1" kern="1200" dirty="0"/>
            <a:t>Standard of Deferred Payment </a:t>
          </a:r>
        </a:p>
      </dsp:txBody>
      <dsp:txXfrm>
        <a:off x="910972" y="2725125"/>
        <a:ext cx="7155465" cy="419079"/>
      </dsp:txXfrm>
    </dsp:sp>
    <dsp:sp modelId="{383356B6-90A4-4056-BC94-275F89E4E833}">
      <dsp:nvSpPr>
        <dsp:cNvPr id="0" name=""/>
        <dsp:cNvSpPr/>
      </dsp:nvSpPr>
      <dsp:spPr>
        <a:xfrm>
          <a:off x="649047" y="2672740"/>
          <a:ext cx="523849" cy="523849"/>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96B6E7-4373-4356-BFB5-DCBD03A5E96D}">
      <dsp:nvSpPr>
        <dsp:cNvPr id="0" name=""/>
        <dsp:cNvSpPr/>
      </dsp:nvSpPr>
      <dsp:spPr>
        <a:xfrm>
          <a:off x="703000" y="3353652"/>
          <a:ext cx="7363437" cy="41907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645" tIns="66040" rIns="66040" bIns="66040" numCol="1" spcCol="1270" anchor="ctr" anchorCtr="0">
          <a:noAutofit/>
        </a:bodyPr>
        <a:lstStyle/>
        <a:p>
          <a:pPr lvl="0" algn="l" defTabSz="1155700">
            <a:lnSpc>
              <a:spcPct val="90000"/>
            </a:lnSpc>
            <a:spcBef>
              <a:spcPct val="0"/>
            </a:spcBef>
            <a:spcAft>
              <a:spcPct val="35000"/>
            </a:spcAft>
          </a:pPr>
          <a:r>
            <a:rPr lang="en-GB" sz="2600" b="1" kern="1200" dirty="0"/>
            <a:t>Easy to Carry and Store </a:t>
          </a:r>
        </a:p>
      </dsp:txBody>
      <dsp:txXfrm>
        <a:off x="703000" y="3353652"/>
        <a:ext cx="7363437" cy="419079"/>
      </dsp:txXfrm>
    </dsp:sp>
    <dsp:sp modelId="{30E70506-318C-4057-850E-199A8EB6FA69}">
      <dsp:nvSpPr>
        <dsp:cNvPr id="0" name=""/>
        <dsp:cNvSpPr/>
      </dsp:nvSpPr>
      <dsp:spPr>
        <a:xfrm>
          <a:off x="441075" y="3301267"/>
          <a:ext cx="523849" cy="523849"/>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2C2F63-3A8A-44A8-84F7-43148EF74A45}">
      <dsp:nvSpPr>
        <dsp:cNvPr id="0" name=""/>
        <dsp:cNvSpPr/>
      </dsp:nvSpPr>
      <dsp:spPr>
        <a:xfrm>
          <a:off x="323486" y="3982641"/>
          <a:ext cx="7742952" cy="41907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2645" tIns="66040" rIns="66040" bIns="66040" numCol="1" spcCol="1270" anchor="ctr" anchorCtr="0">
          <a:noAutofit/>
        </a:bodyPr>
        <a:lstStyle/>
        <a:p>
          <a:pPr lvl="0" algn="l" defTabSz="1155700">
            <a:lnSpc>
              <a:spcPct val="90000"/>
            </a:lnSpc>
            <a:spcBef>
              <a:spcPct val="0"/>
            </a:spcBef>
            <a:spcAft>
              <a:spcPct val="35000"/>
            </a:spcAft>
          </a:pPr>
          <a:r>
            <a:rPr lang="en-GB" sz="2600" b="1" kern="1200" dirty="0"/>
            <a:t>Legal Tender</a:t>
          </a:r>
          <a:endParaRPr lang="en-IN" sz="2600" b="1" kern="1200" dirty="0"/>
        </a:p>
      </dsp:txBody>
      <dsp:txXfrm>
        <a:off x="323486" y="3982641"/>
        <a:ext cx="7742952" cy="419079"/>
      </dsp:txXfrm>
    </dsp:sp>
    <dsp:sp modelId="{518573A8-5700-4CB7-8AC6-0A9E34BC3BAF}">
      <dsp:nvSpPr>
        <dsp:cNvPr id="0" name=""/>
        <dsp:cNvSpPr/>
      </dsp:nvSpPr>
      <dsp:spPr>
        <a:xfrm>
          <a:off x="61561" y="3930256"/>
          <a:ext cx="523849" cy="5238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C1A97-F18F-4223-AD64-50CC7DA375E4}">
      <dsp:nvSpPr>
        <dsp:cNvPr id="0" name=""/>
        <dsp:cNvSpPr/>
      </dsp:nvSpPr>
      <dsp:spPr>
        <a:xfrm>
          <a:off x="2813898" y="4"/>
          <a:ext cx="1725498" cy="86274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a:t>Future Value </a:t>
          </a:r>
          <a:endParaRPr lang="en-IN" sz="2700" kern="1200" dirty="0"/>
        </a:p>
      </dsp:txBody>
      <dsp:txXfrm>
        <a:off x="2839167" y="25273"/>
        <a:ext cx="1674960" cy="812211"/>
      </dsp:txXfrm>
    </dsp:sp>
    <dsp:sp modelId="{165FA073-510C-4353-B7C7-45C33379D76F}">
      <dsp:nvSpPr>
        <dsp:cNvPr id="0" name=""/>
        <dsp:cNvSpPr/>
      </dsp:nvSpPr>
      <dsp:spPr>
        <a:xfrm>
          <a:off x="2986448" y="862753"/>
          <a:ext cx="383560" cy="650288"/>
        </a:xfrm>
        <a:custGeom>
          <a:avLst/>
          <a:gdLst/>
          <a:ahLst/>
          <a:cxnLst/>
          <a:rect l="0" t="0" r="0" b="0"/>
          <a:pathLst>
            <a:path>
              <a:moveTo>
                <a:pt x="0" y="0"/>
              </a:moveTo>
              <a:lnTo>
                <a:pt x="0" y="650288"/>
              </a:lnTo>
              <a:lnTo>
                <a:pt x="383560" y="65028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9D9721-108A-4514-B6FA-10E803A03E9C}">
      <dsp:nvSpPr>
        <dsp:cNvPr id="0" name=""/>
        <dsp:cNvSpPr/>
      </dsp:nvSpPr>
      <dsp:spPr>
        <a:xfrm>
          <a:off x="3370009" y="1081667"/>
          <a:ext cx="1856083" cy="8627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Future Value of A Single Amount</a:t>
          </a:r>
        </a:p>
      </dsp:txBody>
      <dsp:txXfrm>
        <a:off x="3395278" y="1106936"/>
        <a:ext cx="1805545" cy="812211"/>
      </dsp:txXfrm>
    </dsp:sp>
    <dsp:sp modelId="{7754883D-DEA0-40EF-83FA-93AE4447189E}">
      <dsp:nvSpPr>
        <dsp:cNvPr id="0" name=""/>
        <dsp:cNvSpPr/>
      </dsp:nvSpPr>
      <dsp:spPr>
        <a:xfrm>
          <a:off x="2986448" y="862753"/>
          <a:ext cx="383560" cy="1728724"/>
        </a:xfrm>
        <a:custGeom>
          <a:avLst/>
          <a:gdLst/>
          <a:ahLst/>
          <a:cxnLst/>
          <a:rect l="0" t="0" r="0" b="0"/>
          <a:pathLst>
            <a:path>
              <a:moveTo>
                <a:pt x="0" y="0"/>
              </a:moveTo>
              <a:lnTo>
                <a:pt x="0" y="1728724"/>
              </a:lnTo>
              <a:lnTo>
                <a:pt x="383560" y="172872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D44F0D-4868-4654-BC2A-B5A4960FDD4B}">
      <dsp:nvSpPr>
        <dsp:cNvPr id="0" name=""/>
        <dsp:cNvSpPr/>
      </dsp:nvSpPr>
      <dsp:spPr>
        <a:xfrm>
          <a:off x="3370009" y="2160103"/>
          <a:ext cx="1856083" cy="8627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341243"/>
              <a:satOff val="-6887"/>
              <a:lumOff val="-52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Future Value of An Annuity</a:t>
          </a:r>
        </a:p>
      </dsp:txBody>
      <dsp:txXfrm>
        <a:off x="3395278" y="2185372"/>
        <a:ext cx="1805545" cy="812211"/>
      </dsp:txXfrm>
    </dsp:sp>
    <dsp:sp modelId="{422BBEDD-A4EF-4B97-8670-00158FF0B958}">
      <dsp:nvSpPr>
        <dsp:cNvPr id="0" name=""/>
        <dsp:cNvSpPr/>
      </dsp:nvSpPr>
      <dsp:spPr>
        <a:xfrm>
          <a:off x="2986448" y="862753"/>
          <a:ext cx="383560" cy="2807161"/>
        </a:xfrm>
        <a:custGeom>
          <a:avLst/>
          <a:gdLst/>
          <a:ahLst/>
          <a:cxnLst/>
          <a:rect l="0" t="0" r="0" b="0"/>
          <a:pathLst>
            <a:path>
              <a:moveTo>
                <a:pt x="0" y="0"/>
              </a:moveTo>
              <a:lnTo>
                <a:pt x="0" y="2807161"/>
              </a:lnTo>
              <a:lnTo>
                <a:pt x="383560" y="280716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A6995F-00DD-4A6F-9512-43DE2E46F8AC}">
      <dsp:nvSpPr>
        <dsp:cNvPr id="0" name=""/>
        <dsp:cNvSpPr/>
      </dsp:nvSpPr>
      <dsp:spPr>
        <a:xfrm>
          <a:off x="3370009" y="3238539"/>
          <a:ext cx="1856083" cy="8627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682485"/>
              <a:satOff val="-13775"/>
              <a:lumOff val="-10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Intra – Year Compounding</a:t>
          </a:r>
        </a:p>
      </dsp:txBody>
      <dsp:txXfrm>
        <a:off x="3395278" y="3263808"/>
        <a:ext cx="1805545" cy="812211"/>
      </dsp:txXfrm>
    </dsp:sp>
    <dsp:sp modelId="{AF41162F-BA76-4268-ADA1-66416AD6D3CD}">
      <dsp:nvSpPr>
        <dsp:cNvPr id="0" name=""/>
        <dsp:cNvSpPr/>
      </dsp:nvSpPr>
      <dsp:spPr>
        <a:xfrm>
          <a:off x="6015750" y="3230"/>
          <a:ext cx="1725498" cy="862749"/>
        </a:xfrm>
        <a:prstGeom prst="roundRect">
          <a:avLst>
            <a:gd name="adj" fmla="val 10000"/>
          </a:avLst>
        </a:prstGeom>
        <a:solidFill>
          <a:schemeClr val="accent5">
            <a:hueOff val="-2047456"/>
            <a:satOff val="-41324"/>
            <a:lumOff val="-31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a:t>Present Value </a:t>
          </a:r>
          <a:endParaRPr lang="en-IN" sz="2700" kern="1200" dirty="0"/>
        </a:p>
      </dsp:txBody>
      <dsp:txXfrm>
        <a:off x="6041019" y="28499"/>
        <a:ext cx="1674960" cy="812211"/>
      </dsp:txXfrm>
    </dsp:sp>
    <dsp:sp modelId="{B956624C-CD3F-48B9-9A4A-358E6997CA10}">
      <dsp:nvSpPr>
        <dsp:cNvPr id="0" name=""/>
        <dsp:cNvSpPr/>
      </dsp:nvSpPr>
      <dsp:spPr>
        <a:xfrm>
          <a:off x="6188299" y="865979"/>
          <a:ext cx="172549" cy="647061"/>
        </a:xfrm>
        <a:custGeom>
          <a:avLst/>
          <a:gdLst/>
          <a:ahLst/>
          <a:cxnLst/>
          <a:rect l="0" t="0" r="0" b="0"/>
          <a:pathLst>
            <a:path>
              <a:moveTo>
                <a:pt x="0" y="0"/>
              </a:moveTo>
              <a:lnTo>
                <a:pt x="0" y="647061"/>
              </a:lnTo>
              <a:lnTo>
                <a:pt x="172549" y="64706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0B6241-0532-48D2-B010-624016BEEF2F}">
      <dsp:nvSpPr>
        <dsp:cNvPr id="0" name=""/>
        <dsp:cNvSpPr/>
      </dsp:nvSpPr>
      <dsp:spPr>
        <a:xfrm>
          <a:off x="6360849" y="1081667"/>
          <a:ext cx="1971678" cy="8627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1023728"/>
              <a:satOff val="-20662"/>
              <a:lumOff val="-156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Present value of A Single Amount</a:t>
          </a:r>
        </a:p>
      </dsp:txBody>
      <dsp:txXfrm>
        <a:off x="6386118" y="1106936"/>
        <a:ext cx="1921140" cy="812211"/>
      </dsp:txXfrm>
    </dsp:sp>
    <dsp:sp modelId="{95AE1C61-1167-4CFA-962B-A0DBD95B0DB8}">
      <dsp:nvSpPr>
        <dsp:cNvPr id="0" name=""/>
        <dsp:cNvSpPr/>
      </dsp:nvSpPr>
      <dsp:spPr>
        <a:xfrm>
          <a:off x="6188299" y="865979"/>
          <a:ext cx="172549" cy="1725498"/>
        </a:xfrm>
        <a:custGeom>
          <a:avLst/>
          <a:gdLst/>
          <a:ahLst/>
          <a:cxnLst/>
          <a:rect l="0" t="0" r="0" b="0"/>
          <a:pathLst>
            <a:path>
              <a:moveTo>
                <a:pt x="0" y="0"/>
              </a:moveTo>
              <a:lnTo>
                <a:pt x="0" y="1725498"/>
              </a:lnTo>
              <a:lnTo>
                <a:pt x="172549" y="172549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4F8908-50F7-4693-856A-E27059CB5AD3}">
      <dsp:nvSpPr>
        <dsp:cNvPr id="0" name=""/>
        <dsp:cNvSpPr/>
      </dsp:nvSpPr>
      <dsp:spPr>
        <a:xfrm>
          <a:off x="6360849" y="2160103"/>
          <a:ext cx="1971678" cy="8627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1364971"/>
              <a:satOff val="-27549"/>
              <a:lumOff val="-209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Present Value of An Annuity</a:t>
          </a:r>
        </a:p>
      </dsp:txBody>
      <dsp:txXfrm>
        <a:off x="6386118" y="2185372"/>
        <a:ext cx="1921140" cy="812211"/>
      </dsp:txXfrm>
    </dsp:sp>
    <dsp:sp modelId="{F8A62989-3773-4301-859B-283D924E8E5C}">
      <dsp:nvSpPr>
        <dsp:cNvPr id="0" name=""/>
        <dsp:cNvSpPr/>
      </dsp:nvSpPr>
      <dsp:spPr>
        <a:xfrm>
          <a:off x="6188299" y="865979"/>
          <a:ext cx="172549" cy="2803934"/>
        </a:xfrm>
        <a:custGeom>
          <a:avLst/>
          <a:gdLst/>
          <a:ahLst/>
          <a:cxnLst/>
          <a:rect l="0" t="0" r="0" b="0"/>
          <a:pathLst>
            <a:path>
              <a:moveTo>
                <a:pt x="0" y="0"/>
              </a:moveTo>
              <a:lnTo>
                <a:pt x="0" y="2803934"/>
              </a:lnTo>
              <a:lnTo>
                <a:pt x="172549" y="28039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24260-C3E2-489E-BA6F-032ECEA1488E}">
      <dsp:nvSpPr>
        <dsp:cNvPr id="0" name=""/>
        <dsp:cNvSpPr/>
      </dsp:nvSpPr>
      <dsp:spPr>
        <a:xfrm>
          <a:off x="6360849" y="3238539"/>
          <a:ext cx="1971678" cy="8627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1706213"/>
              <a:satOff val="-34437"/>
              <a:lumOff val="-26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Present Value of A Perpetuity</a:t>
          </a:r>
        </a:p>
      </dsp:txBody>
      <dsp:txXfrm>
        <a:off x="6386118" y="3263808"/>
        <a:ext cx="1921140" cy="812211"/>
      </dsp:txXfrm>
    </dsp:sp>
    <dsp:sp modelId="{34961ABC-8630-42B4-8C56-5D23C53AA226}">
      <dsp:nvSpPr>
        <dsp:cNvPr id="0" name=""/>
        <dsp:cNvSpPr/>
      </dsp:nvSpPr>
      <dsp:spPr>
        <a:xfrm>
          <a:off x="6188299" y="865979"/>
          <a:ext cx="172549" cy="3882370"/>
        </a:xfrm>
        <a:custGeom>
          <a:avLst/>
          <a:gdLst/>
          <a:ahLst/>
          <a:cxnLst/>
          <a:rect l="0" t="0" r="0" b="0"/>
          <a:pathLst>
            <a:path>
              <a:moveTo>
                <a:pt x="0" y="0"/>
              </a:moveTo>
              <a:lnTo>
                <a:pt x="0" y="3882370"/>
              </a:lnTo>
              <a:lnTo>
                <a:pt x="172549" y="388237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75B3C0-1B0C-4E69-8808-36C87F87DDDA}">
      <dsp:nvSpPr>
        <dsp:cNvPr id="0" name=""/>
        <dsp:cNvSpPr/>
      </dsp:nvSpPr>
      <dsp:spPr>
        <a:xfrm>
          <a:off x="6360849" y="4316976"/>
          <a:ext cx="1971678" cy="8627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2047456"/>
              <a:satOff val="-41324"/>
              <a:lumOff val="-313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a:t>Intra – Year Discounting</a:t>
          </a:r>
          <a:endParaRPr lang="en-US" sz="2000" kern="1200" dirty="0"/>
        </a:p>
      </dsp:txBody>
      <dsp:txXfrm>
        <a:off x="6386118" y="4342245"/>
        <a:ext cx="1921140" cy="81221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61063C-67C2-49FD-B7CF-A2E4512C9DD5}">
      <dsp:nvSpPr>
        <dsp:cNvPr id="0" name=""/>
        <dsp:cNvSpPr/>
      </dsp:nvSpPr>
      <dsp:spPr>
        <a:xfrm>
          <a:off x="-5775169" y="-883925"/>
          <a:ext cx="6875560" cy="6875560"/>
        </a:xfrm>
        <a:prstGeom prst="blockArc">
          <a:avLst>
            <a:gd name="adj1" fmla="val 18900000"/>
            <a:gd name="adj2" fmla="val 2700000"/>
            <a:gd name="adj3" fmla="val 314"/>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B740B9-7D84-4C02-A33E-FE8BBDC75422}">
      <dsp:nvSpPr>
        <dsp:cNvPr id="0" name=""/>
        <dsp:cNvSpPr/>
      </dsp:nvSpPr>
      <dsp:spPr>
        <a:xfrm>
          <a:off x="575986" y="392680"/>
          <a:ext cx="11280817" cy="78576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3705" tIns="104140" rIns="104140" bIns="104140" numCol="1" spcCol="1270" anchor="ctr" anchorCtr="0">
          <a:noAutofit/>
        </a:bodyPr>
        <a:lstStyle/>
        <a:p>
          <a:pPr lvl="0" algn="l" defTabSz="1822450">
            <a:lnSpc>
              <a:spcPct val="90000"/>
            </a:lnSpc>
            <a:spcBef>
              <a:spcPct val="0"/>
            </a:spcBef>
            <a:spcAft>
              <a:spcPct val="35000"/>
            </a:spcAft>
          </a:pPr>
          <a:r>
            <a:rPr lang="en-GB" sz="4100" b="1" kern="1200" dirty="0"/>
            <a:t>Expenses Clarity</a:t>
          </a:r>
          <a:endParaRPr lang="en-IN" sz="4100" b="1" kern="1200" dirty="0"/>
        </a:p>
      </dsp:txBody>
      <dsp:txXfrm>
        <a:off x="575986" y="392680"/>
        <a:ext cx="11280817" cy="785769"/>
      </dsp:txXfrm>
    </dsp:sp>
    <dsp:sp modelId="{10D9696C-0EB1-4C7A-9E7E-E7CF48BF7211}">
      <dsp:nvSpPr>
        <dsp:cNvPr id="0" name=""/>
        <dsp:cNvSpPr/>
      </dsp:nvSpPr>
      <dsp:spPr>
        <a:xfrm>
          <a:off x="84880" y="294459"/>
          <a:ext cx="982212" cy="982212"/>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91FA933-F989-46EE-818B-09A22FEE5BF3}">
      <dsp:nvSpPr>
        <dsp:cNvPr id="0" name=""/>
        <dsp:cNvSpPr/>
      </dsp:nvSpPr>
      <dsp:spPr>
        <a:xfrm>
          <a:off x="1026486" y="1571539"/>
          <a:ext cx="10830317" cy="78576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3705" tIns="104140" rIns="104140" bIns="104140" numCol="1" spcCol="1270" anchor="ctr" anchorCtr="0">
          <a:noAutofit/>
        </a:bodyPr>
        <a:lstStyle/>
        <a:p>
          <a:pPr lvl="0" algn="l" defTabSz="1822450">
            <a:lnSpc>
              <a:spcPct val="90000"/>
            </a:lnSpc>
            <a:spcBef>
              <a:spcPct val="0"/>
            </a:spcBef>
            <a:spcAft>
              <a:spcPct val="35000"/>
            </a:spcAft>
          </a:pPr>
          <a:r>
            <a:rPr lang="en-GB" sz="4100" b="1" kern="1200" dirty="0"/>
            <a:t>Cost Awareness</a:t>
          </a:r>
          <a:endParaRPr lang="en-IN" sz="4100" b="1" kern="1200" dirty="0"/>
        </a:p>
      </dsp:txBody>
      <dsp:txXfrm>
        <a:off x="1026486" y="1571539"/>
        <a:ext cx="10830317" cy="785769"/>
      </dsp:txXfrm>
    </dsp:sp>
    <dsp:sp modelId="{00CF8027-BDD9-4AC5-9AB1-E40CC41BA5A5}">
      <dsp:nvSpPr>
        <dsp:cNvPr id="0" name=""/>
        <dsp:cNvSpPr/>
      </dsp:nvSpPr>
      <dsp:spPr>
        <a:xfrm>
          <a:off x="535380" y="1473318"/>
          <a:ext cx="982212" cy="98221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8277BB-0A9D-45BC-9504-14C0D8D24A4B}">
      <dsp:nvSpPr>
        <dsp:cNvPr id="0" name=""/>
        <dsp:cNvSpPr/>
      </dsp:nvSpPr>
      <dsp:spPr>
        <a:xfrm>
          <a:off x="1026486" y="2750399"/>
          <a:ext cx="10830317" cy="78576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3705" tIns="104140" rIns="104140" bIns="104140" numCol="1" spcCol="1270" anchor="ctr" anchorCtr="0">
          <a:noAutofit/>
        </a:bodyPr>
        <a:lstStyle/>
        <a:p>
          <a:pPr lvl="0" algn="l" defTabSz="1822450">
            <a:lnSpc>
              <a:spcPct val="90000"/>
            </a:lnSpc>
            <a:spcBef>
              <a:spcPct val="0"/>
            </a:spcBef>
            <a:spcAft>
              <a:spcPct val="35000"/>
            </a:spcAft>
          </a:pPr>
          <a:r>
            <a:rPr lang="en-GB" sz="4100" b="1" kern="1200" dirty="0"/>
            <a:t>Pre-payment Decision</a:t>
          </a:r>
          <a:endParaRPr lang="en-IN" sz="4100" b="1" kern="1200" dirty="0"/>
        </a:p>
      </dsp:txBody>
      <dsp:txXfrm>
        <a:off x="1026486" y="2750399"/>
        <a:ext cx="10830317" cy="785769"/>
      </dsp:txXfrm>
    </dsp:sp>
    <dsp:sp modelId="{617E0A31-F084-4496-B2A5-BF455888B82E}">
      <dsp:nvSpPr>
        <dsp:cNvPr id="0" name=""/>
        <dsp:cNvSpPr/>
      </dsp:nvSpPr>
      <dsp:spPr>
        <a:xfrm>
          <a:off x="535380" y="2652177"/>
          <a:ext cx="982212" cy="982212"/>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73B78A0-B9EF-4675-B40D-C8592B1FF30E}">
      <dsp:nvSpPr>
        <dsp:cNvPr id="0" name=""/>
        <dsp:cNvSpPr/>
      </dsp:nvSpPr>
      <dsp:spPr>
        <a:xfrm>
          <a:off x="575986" y="3929258"/>
          <a:ext cx="11280817" cy="78576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3705" tIns="104140" rIns="104140" bIns="104140" numCol="1" spcCol="1270" anchor="ctr" anchorCtr="0">
          <a:noAutofit/>
        </a:bodyPr>
        <a:lstStyle/>
        <a:p>
          <a:pPr lvl="0" algn="l" defTabSz="1822450">
            <a:lnSpc>
              <a:spcPct val="90000"/>
            </a:lnSpc>
            <a:spcBef>
              <a:spcPct val="0"/>
            </a:spcBef>
            <a:spcAft>
              <a:spcPct val="35000"/>
            </a:spcAft>
          </a:pPr>
          <a:r>
            <a:rPr lang="en-GB" sz="4100" b="1" kern="1200" dirty="0"/>
            <a:t>Tax Calculation</a:t>
          </a:r>
          <a:endParaRPr lang="en-IN" sz="4100" b="1" kern="1200" dirty="0"/>
        </a:p>
      </dsp:txBody>
      <dsp:txXfrm>
        <a:off x="575986" y="3929258"/>
        <a:ext cx="11280817" cy="785769"/>
      </dsp:txXfrm>
    </dsp:sp>
    <dsp:sp modelId="{0352BD06-B4E7-41B3-91F0-FD491A023BE8}">
      <dsp:nvSpPr>
        <dsp:cNvPr id="0" name=""/>
        <dsp:cNvSpPr/>
      </dsp:nvSpPr>
      <dsp:spPr>
        <a:xfrm>
          <a:off x="84880" y="3831037"/>
          <a:ext cx="982212" cy="982212"/>
        </a:xfrm>
        <a:prstGeom prst="ellipse">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D542A7-8AFB-48A5-9283-6EC04C2643CA}">
      <dsp:nvSpPr>
        <dsp:cNvPr id="0" name=""/>
        <dsp:cNvSpPr/>
      </dsp:nvSpPr>
      <dsp:spPr>
        <a:xfrm rot="18000000">
          <a:off x="3590" y="3783930"/>
          <a:ext cx="1595899" cy="1037334"/>
        </a:xfrm>
        <a:prstGeom prst="round2Same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35560" rIns="106680" bIns="35560" numCol="1" spcCol="1270" anchor="ctr" anchorCtr="0">
          <a:noAutofit/>
        </a:bodyPr>
        <a:lstStyle/>
        <a:p>
          <a:pPr lvl="0" algn="ctr" defTabSz="1244600">
            <a:lnSpc>
              <a:spcPct val="90000"/>
            </a:lnSpc>
            <a:spcBef>
              <a:spcPct val="0"/>
            </a:spcBef>
            <a:spcAft>
              <a:spcPct val="35000"/>
            </a:spcAft>
          </a:pPr>
          <a:r>
            <a:rPr lang="en-GB" sz="2800" kern="1200" dirty="0"/>
            <a:t>Deposit</a:t>
          </a:r>
          <a:endParaRPr lang="en-IN" sz="2800" kern="1200" dirty="0"/>
        </a:p>
      </dsp:txBody>
      <dsp:txXfrm>
        <a:off x="76155" y="3821909"/>
        <a:ext cx="1494623" cy="986696"/>
      </dsp:txXfrm>
    </dsp:sp>
    <dsp:sp modelId="{32D9F814-9E3C-462F-868A-CCEB9EFEF917}">
      <dsp:nvSpPr>
        <dsp:cNvPr id="0" name=""/>
        <dsp:cNvSpPr/>
      </dsp:nvSpPr>
      <dsp:spPr>
        <a:xfrm rot="19200000">
          <a:off x="1334393" y="2197941"/>
          <a:ext cx="1595899" cy="1037334"/>
        </a:xfrm>
        <a:prstGeom prst="round2Same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35560" rIns="106680" bIns="35560" numCol="1" spcCol="1270" anchor="ctr" anchorCtr="0">
          <a:noAutofit/>
        </a:bodyPr>
        <a:lstStyle/>
        <a:p>
          <a:pPr lvl="0" algn="ctr" defTabSz="1244600">
            <a:lnSpc>
              <a:spcPct val="90000"/>
            </a:lnSpc>
            <a:spcBef>
              <a:spcPct val="0"/>
            </a:spcBef>
            <a:spcAft>
              <a:spcPct val="35000"/>
            </a:spcAft>
          </a:pPr>
          <a:r>
            <a:rPr lang="en-GB" sz="2800" kern="1200" dirty="0"/>
            <a:t>Real Estate</a:t>
          </a:r>
          <a:endParaRPr lang="en-IN" sz="2800" kern="1200" dirty="0"/>
        </a:p>
      </dsp:txBody>
      <dsp:txXfrm>
        <a:off x="1401306" y="2242655"/>
        <a:ext cx="1494623" cy="986696"/>
      </dsp:txXfrm>
    </dsp:sp>
    <dsp:sp modelId="{9FB31E16-80FA-4151-B03A-87EF9487F1EE}">
      <dsp:nvSpPr>
        <dsp:cNvPr id="0" name=""/>
        <dsp:cNvSpPr/>
      </dsp:nvSpPr>
      <dsp:spPr>
        <a:xfrm rot="20400000">
          <a:off x="3127379" y="1162760"/>
          <a:ext cx="1595899" cy="1037334"/>
        </a:xfrm>
        <a:prstGeom prst="round2Same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35560" rIns="106680" bIns="35560" numCol="1" spcCol="1270" anchor="ctr" anchorCtr="0">
          <a:noAutofit/>
        </a:bodyPr>
        <a:lstStyle/>
        <a:p>
          <a:pPr lvl="0" algn="ctr" defTabSz="1244600">
            <a:lnSpc>
              <a:spcPct val="90000"/>
            </a:lnSpc>
            <a:spcBef>
              <a:spcPct val="0"/>
            </a:spcBef>
            <a:spcAft>
              <a:spcPct val="35000"/>
            </a:spcAft>
          </a:pPr>
          <a:r>
            <a:rPr lang="en-GB" sz="2800" kern="1200" dirty="0"/>
            <a:t>Shares</a:t>
          </a:r>
          <a:endParaRPr lang="en-IN" sz="2800" kern="1200" dirty="0"/>
        </a:p>
      </dsp:txBody>
      <dsp:txXfrm>
        <a:off x="3186677" y="1211871"/>
        <a:ext cx="1494623" cy="986696"/>
      </dsp:txXfrm>
    </dsp:sp>
    <dsp:sp modelId="{1CC90889-7801-4949-91D4-391D82ED9953}">
      <dsp:nvSpPr>
        <dsp:cNvPr id="0" name=""/>
        <dsp:cNvSpPr/>
      </dsp:nvSpPr>
      <dsp:spPr>
        <a:xfrm>
          <a:off x="5166287" y="803246"/>
          <a:ext cx="1595899" cy="1037334"/>
        </a:xfrm>
        <a:prstGeom prst="round2Same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35560" rIns="106680" bIns="35560" numCol="1" spcCol="1270" anchor="ctr" anchorCtr="0">
          <a:noAutofit/>
        </a:bodyPr>
        <a:lstStyle/>
        <a:p>
          <a:pPr lvl="0" algn="ctr" defTabSz="1244600">
            <a:lnSpc>
              <a:spcPct val="90000"/>
            </a:lnSpc>
            <a:spcBef>
              <a:spcPct val="0"/>
            </a:spcBef>
            <a:spcAft>
              <a:spcPct val="35000"/>
            </a:spcAft>
          </a:pPr>
          <a:r>
            <a:rPr lang="en-GB" sz="2800" kern="1200" dirty="0"/>
            <a:t>Precious Metal</a:t>
          </a:r>
          <a:endParaRPr lang="en-IN" sz="2800" kern="1200" dirty="0"/>
        </a:p>
      </dsp:txBody>
      <dsp:txXfrm>
        <a:off x="5216925" y="853884"/>
        <a:ext cx="1494623" cy="986696"/>
      </dsp:txXfrm>
    </dsp:sp>
    <dsp:sp modelId="{D4AEDB5B-20F4-4839-BEBD-895451A5C868}">
      <dsp:nvSpPr>
        <dsp:cNvPr id="0" name=""/>
        <dsp:cNvSpPr/>
      </dsp:nvSpPr>
      <dsp:spPr>
        <a:xfrm rot="1200000">
          <a:off x="7205196" y="1162760"/>
          <a:ext cx="1595899" cy="1037334"/>
        </a:xfrm>
        <a:prstGeom prst="round2Same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35560" rIns="106680" bIns="35560" numCol="1" spcCol="1270" anchor="ctr" anchorCtr="0">
          <a:noAutofit/>
        </a:bodyPr>
        <a:lstStyle/>
        <a:p>
          <a:pPr lvl="0" algn="ctr" defTabSz="1244600">
            <a:lnSpc>
              <a:spcPct val="90000"/>
            </a:lnSpc>
            <a:spcBef>
              <a:spcPct val="0"/>
            </a:spcBef>
            <a:spcAft>
              <a:spcPct val="35000"/>
            </a:spcAft>
          </a:pPr>
          <a:r>
            <a:rPr lang="en-GB" sz="2800" kern="1200" dirty="0"/>
            <a:t>Currency</a:t>
          </a:r>
          <a:endParaRPr lang="en-IN" sz="2800" kern="1200" dirty="0"/>
        </a:p>
      </dsp:txBody>
      <dsp:txXfrm>
        <a:off x="7247174" y="1211871"/>
        <a:ext cx="1494623" cy="986696"/>
      </dsp:txXfrm>
    </dsp:sp>
    <dsp:sp modelId="{325734C4-1F99-4852-8952-341A1057944E}">
      <dsp:nvSpPr>
        <dsp:cNvPr id="0" name=""/>
        <dsp:cNvSpPr/>
      </dsp:nvSpPr>
      <dsp:spPr>
        <a:xfrm rot="2400000">
          <a:off x="8998182" y="2197941"/>
          <a:ext cx="1595899" cy="1037334"/>
        </a:xfrm>
        <a:prstGeom prst="round2Same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35560" rIns="106680" bIns="35560" numCol="1" spcCol="1270" anchor="ctr" anchorCtr="0">
          <a:noAutofit/>
        </a:bodyPr>
        <a:lstStyle/>
        <a:p>
          <a:pPr lvl="0" algn="ctr" defTabSz="1244600">
            <a:lnSpc>
              <a:spcPct val="90000"/>
            </a:lnSpc>
            <a:spcBef>
              <a:spcPct val="0"/>
            </a:spcBef>
            <a:spcAft>
              <a:spcPct val="35000"/>
            </a:spcAft>
          </a:pPr>
          <a:r>
            <a:rPr lang="en-GB" sz="2800" kern="1200" dirty="0"/>
            <a:t>Mutual Funds</a:t>
          </a:r>
          <a:endParaRPr lang="en-IN" sz="2800" kern="1200" dirty="0"/>
        </a:p>
      </dsp:txBody>
      <dsp:txXfrm>
        <a:off x="9032545" y="2242655"/>
        <a:ext cx="1494623" cy="986696"/>
      </dsp:txXfrm>
    </dsp:sp>
    <dsp:sp modelId="{C68BA19A-73C3-4DED-B0C9-82059EC598A4}">
      <dsp:nvSpPr>
        <dsp:cNvPr id="0" name=""/>
        <dsp:cNvSpPr/>
      </dsp:nvSpPr>
      <dsp:spPr>
        <a:xfrm rot="3600000">
          <a:off x="10328985" y="3783930"/>
          <a:ext cx="1595899" cy="1037334"/>
        </a:xfrm>
        <a:prstGeom prst="round2Same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35560" rIns="106680" bIns="35560" numCol="1" spcCol="1270" anchor="ctr" anchorCtr="0">
          <a:noAutofit/>
        </a:bodyPr>
        <a:lstStyle/>
        <a:p>
          <a:pPr lvl="0" algn="ctr" defTabSz="1244600">
            <a:lnSpc>
              <a:spcPct val="90000"/>
            </a:lnSpc>
            <a:spcBef>
              <a:spcPct val="0"/>
            </a:spcBef>
            <a:spcAft>
              <a:spcPct val="35000"/>
            </a:spcAft>
          </a:pPr>
          <a:r>
            <a:rPr lang="en-GB" sz="2800" kern="1200" dirty="0"/>
            <a:t>Bonds</a:t>
          </a:r>
          <a:endParaRPr lang="en-IN" sz="2800" kern="1200" dirty="0"/>
        </a:p>
      </dsp:txBody>
      <dsp:txXfrm>
        <a:off x="10357696" y="3821909"/>
        <a:ext cx="1494623" cy="9866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3E50B8-AFFF-483B-B9F6-FED6CC4596D2}">
      <dsp:nvSpPr>
        <dsp:cNvPr id="0" name=""/>
        <dsp:cNvSpPr/>
      </dsp:nvSpPr>
      <dsp:spPr>
        <a:xfrm rot="5400000">
          <a:off x="7386328" y="-2908072"/>
          <a:ext cx="1450069" cy="7634224"/>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a:t>Life insurance with market-linked returns and flexibility to invest in equity, debt, or both.</a:t>
          </a:r>
        </a:p>
        <a:p>
          <a:pPr marL="171450" lvl="1" indent="-171450" algn="l" defTabSz="844550">
            <a:lnSpc>
              <a:spcPct val="90000"/>
            </a:lnSpc>
            <a:spcBef>
              <a:spcPct val="0"/>
            </a:spcBef>
            <a:spcAft>
              <a:spcPct val="15000"/>
            </a:spcAft>
            <a:buChar char="••"/>
          </a:pPr>
          <a:r>
            <a:rPr lang="en-IN" sz="1900" kern="1200"/>
            <a:t>Lock-in period: 5 years.</a:t>
          </a:r>
        </a:p>
        <a:p>
          <a:pPr marL="171450" lvl="1" indent="-171450" algn="l" defTabSz="844550">
            <a:lnSpc>
              <a:spcPct val="90000"/>
            </a:lnSpc>
            <a:spcBef>
              <a:spcPct val="0"/>
            </a:spcBef>
            <a:spcAft>
              <a:spcPct val="15000"/>
            </a:spcAft>
            <a:buChar char="••"/>
          </a:pPr>
          <a:r>
            <a:rPr lang="en-IN" sz="1900" kern="1200"/>
            <a:t>Tax benefits under Section 80C and 10(10D).</a:t>
          </a:r>
        </a:p>
      </dsp:txBody>
      <dsp:txXfrm rot="-5400000">
        <a:off x="4294251" y="254792"/>
        <a:ext cx="7563437" cy="1308495"/>
      </dsp:txXfrm>
    </dsp:sp>
    <dsp:sp modelId="{CF11CFA2-48E1-4EBE-93FF-779EDC2C5A5A}">
      <dsp:nvSpPr>
        <dsp:cNvPr id="0" name=""/>
        <dsp:cNvSpPr/>
      </dsp:nvSpPr>
      <dsp:spPr>
        <a:xfrm>
          <a:off x="0" y="2746"/>
          <a:ext cx="4294251" cy="181258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lvl="0" algn="ctr" defTabSz="1511300">
            <a:lnSpc>
              <a:spcPct val="90000"/>
            </a:lnSpc>
            <a:spcBef>
              <a:spcPct val="0"/>
            </a:spcBef>
            <a:spcAft>
              <a:spcPct val="35000"/>
            </a:spcAft>
          </a:pPr>
          <a:r>
            <a:rPr lang="en-IN" sz="3400" b="1" kern="1200" dirty="0"/>
            <a:t>Unit Linked Insurance Plans (ULIPs)</a:t>
          </a:r>
          <a:endParaRPr lang="en-IN" sz="3400" kern="1200" dirty="0"/>
        </a:p>
      </dsp:txBody>
      <dsp:txXfrm>
        <a:off x="88483" y="91229"/>
        <a:ext cx="4117285" cy="1635620"/>
      </dsp:txXfrm>
    </dsp:sp>
    <dsp:sp modelId="{989D3728-61E6-4829-9ADC-982016CAA4C7}">
      <dsp:nvSpPr>
        <dsp:cNvPr id="0" name=""/>
        <dsp:cNvSpPr/>
      </dsp:nvSpPr>
      <dsp:spPr>
        <a:xfrm rot="5400000">
          <a:off x="7386328" y="-1004856"/>
          <a:ext cx="1450069" cy="7634224"/>
        </a:xfrm>
        <a:prstGeom prst="round2SameRect">
          <a:avLst/>
        </a:prstGeom>
        <a:solidFill>
          <a:schemeClr val="accent5">
            <a:tint val="40000"/>
            <a:alpha val="90000"/>
            <a:hueOff val="-696085"/>
            <a:satOff val="-24351"/>
            <a:lumOff val="-1647"/>
            <a:alphaOff val="0"/>
          </a:schemeClr>
        </a:solidFill>
        <a:ln w="12700" cap="flat" cmpd="sng" algn="ctr">
          <a:solidFill>
            <a:schemeClr val="accent5">
              <a:tint val="40000"/>
              <a:alpha val="90000"/>
              <a:hueOff val="-696085"/>
              <a:satOff val="-24351"/>
              <a:lumOff val="-164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a:t>Low-risk plans with fixed returns and life cover.</a:t>
          </a:r>
        </a:p>
        <a:p>
          <a:pPr marL="171450" lvl="1" indent="-171450" algn="l" defTabSz="844550">
            <a:lnSpc>
              <a:spcPct val="90000"/>
            </a:lnSpc>
            <a:spcBef>
              <a:spcPct val="0"/>
            </a:spcBef>
            <a:spcAft>
              <a:spcPct val="15000"/>
            </a:spcAft>
            <a:buChar char="••"/>
          </a:pPr>
          <a:r>
            <a:rPr lang="en-IN" sz="1900" kern="1200"/>
            <a:t>Suitable for long-term financial goals.</a:t>
          </a:r>
        </a:p>
        <a:p>
          <a:pPr marL="171450" lvl="1" indent="-171450" algn="l" defTabSz="844550">
            <a:lnSpc>
              <a:spcPct val="90000"/>
            </a:lnSpc>
            <a:spcBef>
              <a:spcPct val="0"/>
            </a:spcBef>
            <a:spcAft>
              <a:spcPct val="15000"/>
            </a:spcAft>
            <a:buChar char="••"/>
          </a:pPr>
          <a:r>
            <a:rPr lang="en-IN" sz="1900" kern="1200"/>
            <a:t>Tax benefits under Section 80C and 10(10D).</a:t>
          </a:r>
        </a:p>
      </dsp:txBody>
      <dsp:txXfrm rot="-5400000">
        <a:off x="4294251" y="2158008"/>
        <a:ext cx="7563437" cy="1308495"/>
      </dsp:txXfrm>
    </dsp:sp>
    <dsp:sp modelId="{29D7F5D3-FA96-4296-8127-87F6A08993D6}">
      <dsp:nvSpPr>
        <dsp:cNvPr id="0" name=""/>
        <dsp:cNvSpPr/>
      </dsp:nvSpPr>
      <dsp:spPr>
        <a:xfrm>
          <a:off x="0" y="1905962"/>
          <a:ext cx="4294251" cy="1812586"/>
        </a:xfrm>
        <a:prstGeom prst="roundRect">
          <a:avLst/>
        </a:prstGeom>
        <a:solidFill>
          <a:schemeClr val="accent5">
            <a:hueOff val="-1023728"/>
            <a:satOff val="-20662"/>
            <a:lumOff val="-15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lvl="0" algn="ctr" defTabSz="1511300">
            <a:lnSpc>
              <a:spcPct val="90000"/>
            </a:lnSpc>
            <a:spcBef>
              <a:spcPct val="0"/>
            </a:spcBef>
            <a:spcAft>
              <a:spcPct val="35000"/>
            </a:spcAft>
          </a:pPr>
          <a:r>
            <a:rPr lang="en-IN" sz="3400" b="1" kern="1200" dirty="0"/>
            <a:t>Savings/Endowment Plans</a:t>
          </a:r>
          <a:endParaRPr lang="en-IN" sz="3400" kern="1200" dirty="0"/>
        </a:p>
      </dsp:txBody>
      <dsp:txXfrm>
        <a:off x="88483" y="1994445"/>
        <a:ext cx="4117285" cy="1635620"/>
      </dsp:txXfrm>
    </dsp:sp>
    <dsp:sp modelId="{CB8A2C57-0D24-44FF-9273-6419C92F0216}">
      <dsp:nvSpPr>
        <dsp:cNvPr id="0" name=""/>
        <dsp:cNvSpPr/>
      </dsp:nvSpPr>
      <dsp:spPr>
        <a:xfrm rot="5400000">
          <a:off x="7386328" y="898360"/>
          <a:ext cx="1450069" cy="7634224"/>
        </a:xfrm>
        <a:prstGeom prst="round2SameRect">
          <a:avLst/>
        </a:prstGeom>
        <a:solidFill>
          <a:schemeClr val="accent5">
            <a:tint val="40000"/>
            <a:alpha val="90000"/>
            <a:hueOff val="-1392170"/>
            <a:satOff val="-48701"/>
            <a:lumOff val="-3294"/>
            <a:alphaOff val="0"/>
          </a:schemeClr>
        </a:solidFill>
        <a:ln w="12700" cap="flat" cmpd="sng" algn="ctr">
          <a:solidFill>
            <a:schemeClr val="accent5">
              <a:tint val="40000"/>
              <a:alpha val="90000"/>
              <a:hueOff val="-1392170"/>
              <a:satOff val="-48701"/>
              <a:lumOff val="-329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a:t>Long-term investment with fixed returns.</a:t>
          </a:r>
        </a:p>
        <a:p>
          <a:pPr marL="171450" lvl="1" indent="-171450" algn="l" defTabSz="844550">
            <a:lnSpc>
              <a:spcPct val="90000"/>
            </a:lnSpc>
            <a:spcBef>
              <a:spcPct val="0"/>
            </a:spcBef>
            <a:spcAft>
              <a:spcPct val="15000"/>
            </a:spcAft>
            <a:buChar char="••"/>
          </a:pPr>
          <a:r>
            <a:rPr lang="en-IN" sz="1900" kern="1200"/>
            <a:t>Lock-in period: 15 years.</a:t>
          </a:r>
        </a:p>
        <a:p>
          <a:pPr marL="171450" lvl="1" indent="-171450" algn="l" defTabSz="844550">
            <a:lnSpc>
              <a:spcPct val="90000"/>
            </a:lnSpc>
            <a:spcBef>
              <a:spcPct val="0"/>
            </a:spcBef>
            <a:spcAft>
              <a:spcPct val="15000"/>
            </a:spcAft>
            <a:buChar char="••"/>
          </a:pPr>
          <a:r>
            <a:rPr lang="en-IN" sz="1900" kern="1200"/>
            <a:t>Tax benefits under Section 80C.</a:t>
          </a:r>
        </a:p>
        <a:p>
          <a:pPr marL="171450" lvl="1" indent="-171450" algn="l" defTabSz="844550">
            <a:lnSpc>
              <a:spcPct val="90000"/>
            </a:lnSpc>
            <a:spcBef>
              <a:spcPct val="0"/>
            </a:spcBef>
            <a:spcAft>
              <a:spcPct val="15000"/>
            </a:spcAft>
            <a:buChar char="••"/>
          </a:pPr>
          <a:r>
            <a:rPr lang="en-IN" sz="1900" kern="1200"/>
            <a:t>Returns exempt under the Income Tax Act, 1961.</a:t>
          </a:r>
        </a:p>
      </dsp:txBody>
      <dsp:txXfrm rot="-5400000">
        <a:off x="4294251" y="4061225"/>
        <a:ext cx="7563437" cy="1308495"/>
      </dsp:txXfrm>
    </dsp:sp>
    <dsp:sp modelId="{FDA2E6D2-F4A0-4AE5-A81F-B2041CA91F14}">
      <dsp:nvSpPr>
        <dsp:cNvPr id="0" name=""/>
        <dsp:cNvSpPr/>
      </dsp:nvSpPr>
      <dsp:spPr>
        <a:xfrm>
          <a:off x="0" y="3809178"/>
          <a:ext cx="4294251" cy="1812586"/>
        </a:xfrm>
        <a:prstGeom prst="roundRect">
          <a:avLst/>
        </a:prstGeom>
        <a:solidFill>
          <a:schemeClr val="accent5">
            <a:hueOff val="-2047456"/>
            <a:satOff val="-41324"/>
            <a:lumOff val="-31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lvl="0" algn="ctr" defTabSz="1511300">
            <a:lnSpc>
              <a:spcPct val="90000"/>
            </a:lnSpc>
            <a:spcBef>
              <a:spcPct val="0"/>
            </a:spcBef>
            <a:spcAft>
              <a:spcPct val="35000"/>
            </a:spcAft>
          </a:pPr>
          <a:r>
            <a:rPr lang="en-IN" sz="3400" b="1" kern="1200" dirty="0"/>
            <a:t>Public Provident Funds (PPF)</a:t>
          </a:r>
          <a:endParaRPr lang="en-IN" sz="3400" kern="1200" dirty="0"/>
        </a:p>
      </dsp:txBody>
      <dsp:txXfrm>
        <a:off x="88483" y="3897661"/>
        <a:ext cx="4117285" cy="16356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F014E-D20F-4421-B996-F636B265245E}">
      <dsp:nvSpPr>
        <dsp:cNvPr id="0" name=""/>
        <dsp:cNvSpPr/>
      </dsp:nvSpPr>
      <dsp:spPr>
        <a:xfrm rot="5400000">
          <a:off x="7569784" y="-3137323"/>
          <a:ext cx="1083157" cy="7634224"/>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a:t>Low-risk investment with fixed returns.</a:t>
          </a:r>
        </a:p>
        <a:p>
          <a:pPr marL="171450" lvl="1" indent="-171450" algn="l" defTabSz="844550">
            <a:lnSpc>
              <a:spcPct val="90000"/>
            </a:lnSpc>
            <a:spcBef>
              <a:spcPct val="0"/>
            </a:spcBef>
            <a:spcAft>
              <a:spcPct val="15000"/>
            </a:spcAft>
            <a:buChar char="••"/>
          </a:pPr>
          <a:r>
            <a:rPr lang="en-IN" sz="1900" kern="1200"/>
            <a:t>Lock-in period varies.</a:t>
          </a:r>
        </a:p>
        <a:p>
          <a:pPr marL="171450" lvl="1" indent="-171450" algn="l" defTabSz="844550">
            <a:lnSpc>
              <a:spcPct val="90000"/>
            </a:lnSpc>
            <a:spcBef>
              <a:spcPct val="0"/>
            </a:spcBef>
            <a:spcAft>
              <a:spcPct val="15000"/>
            </a:spcAft>
            <a:buChar char="••"/>
          </a:pPr>
          <a:r>
            <a:rPr lang="en-IN" sz="1900" kern="1200"/>
            <a:t>Suitable for short-term goals.</a:t>
          </a:r>
        </a:p>
      </dsp:txBody>
      <dsp:txXfrm rot="-5400000">
        <a:off x="4294251" y="191085"/>
        <a:ext cx="7581349" cy="977407"/>
      </dsp:txXfrm>
    </dsp:sp>
    <dsp:sp modelId="{7C8EFCFF-6494-4297-A778-E191C5206348}">
      <dsp:nvSpPr>
        <dsp:cNvPr id="0" name=""/>
        <dsp:cNvSpPr/>
      </dsp:nvSpPr>
      <dsp:spPr>
        <a:xfrm>
          <a:off x="0" y="2815"/>
          <a:ext cx="4294251" cy="1353947"/>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95250" rIns="190500" bIns="95250" numCol="1" spcCol="1270" anchor="ctr" anchorCtr="0">
          <a:noAutofit/>
        </a:bodyPr>
        <a:lstStyle/>
        <a:p>
          <a:pPr lvl="0" algn="ctr" defTabSz="2222500">
            <a:lnSpc>
              <a:spcPct val="90000"/>
            </a:lnSpc>
            <a:spcBef>
              <a:spcPct val="0"/>
            </a:spcBef>
            <a:spcAft>
              <a:spcPct val="35000"/>
            </a:spcAft>
          </a:pPr>
          <a:r>
            <a:rPr lang="en-IN" sz="5000" b="1" kern="1200" dirty="0"/>
            <a:t>Fixed Deposits</a:t>
          </a:r>
          <a:endParaRPr lang="en-IN" sz="5000" kern="1200" dirty="0"/>
        </a:p>
      </dsp:txBody>
      <dsp:txXfrm>
        <a:off x="66094" y="68909"/>
        <a:ext cx="4162063" cy="1221759"/>
      </dsp:txXfrm>
    </dsp:sp>
    <dsp:sp modelId="{2C4CB3AC-65E4-4D49-9BAE-6471F32E7501}">
      <dsp:nvSpPr>
        <dsp:cNvPr id="0" name=""/>
        <dsp:cNvSpPr/>
      </dsp:nvSpPr>
      <dsp:spPr>
        <a:xfrm rot="5400000">
          <a:off x="7569784" y="-1715678"/>
          <a:ext cx="1083157" cy="7634224"/>
        </a:xfrm>
        <a:prstGeom prst="round2SameRect">
          <a:avLst/>
        </a:prstGeom>
        <a:solidFill>
          <a:schemeClr val="accent5">
            <a:tint val="40000"/>
            <a:alpha val="90000"/>
            <a:hueOff val="-464057"/>
            <a:satOff val="-16234"/>
            <a:lumOff val="-1098"/>
            <a:alphaOff val="0"/>
          </a:schemeClr>
        </a:solidFill>
        <a:ln w="12700" cap="flat" cmpd="sng" algn="ctr">
          <a:solidFill>
            <a:schemeClr val="accent5">
              <a:tint val="40000"/>
              <a:alpha val="90000"/>
              <a:hueOff val="-464057"/>
              <a:satOff val="-16234"/>
              <a:lumOff val="-109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a:t>High-risk investment with market-linked returns.</a:t>
          </a:r>
        </a:p>
        <a:p>
          <a:pPr marL="171450" lvl="1" indent="-171450" algn="l" defTabSz="844550">
            <a:lnSpc>
              <a:spcPct val="90000"/>
            </a:lnSpc>
            <a:spcBef>
              <a:spcPct val="0"/>
            </a:spcBef>
            <a:spcAft>
              <a:spcPct val="15000"/>
            </a:spcAft>
            <a:buChar char="••"/>
          </a:pPr>
          <a:r>
            <a:rPr lang="en-IN" sz="1900" kern="1200"/>
            <a:t>Requires understanding of the stock market.</a:t>
          </a:r>
        </a:p>
      </dsp:txBody>
      <dsp:txXfrm rot="-5400000">
        <a:off x="4294251" y="1612730"/>
        <a:ext cx="7581349" cy="977407"/>
      </dsp:txXfrm>
    </dsp:sp>
    <dsp:sp modelId="{8512028A-F083-4364-9206-D43AF2022E7E}">
      <dsp:nvSpPr>
        <dsp:cNvPr id="0" name=""/>
        <dsp:cNvSpPr/>
      </dsp:nvSpPr>
      <dsp:spPr>
        <a:xfrm>
          <a:off x="0" y="1424459"/>
          <a:ext cx="4294251" cy="1353947"/>
        </a:xfrm>
        <a:prstGeom prst="roundRect">
          <a:avLst/>
        </a:prstGeom>
        <a:solidFill>
          <a:schemeClr val="accent5">
            <a:hueOff val="-682485"/>
            <a:satOff val="-13775"/>
            <a:lumOff val="-10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95250" rIns="190500" bIns="95250" numCol="1" spcCol="1270" anchor="ctr" anchorCtr="0">
          <a:noAutofit/>
        </a:bodyPr>
        <a:lstStyle/>
        <a:p>
          <a:pPr lvl="0" algn="ctr" defTabSz="2222500">
            <a:lnSpc>
              <a:spcPct val="90000"/>
            </a:lnSpc>
            <a:spcBef>
              <a:spcPct val="0"/>
            </a:spcBef>
            <a:spcAft>
              <a:spcPct val="35000"/>
            </a:spcAft>
          </a:pPr>
          <a:r>
            <a:rPr lang="en-IN" sz="5000" b="1" kern="1200" dirty="0"/>
            <a:t>Stocks</a:t>
          </a:r>
          <a:endParaRPr lang="en-IN" sz="5000" kern="1200" dirty="0"/>
        </a:p>
      </dsp:txBody>
      <dsp:txXfrm>
        <a:off x="66094" y="1490553"/>
        <a:ext cx="4162063" cy="1221759"/>
      </dsp:txXfrm>
    </dsp:sp>
    <dsp:sp modelId="{F066A331-0DEB-493D-9EE9-CECF142EEABC}">
      <dsp:nvSpPr>
        <dsp:cNvPr id="0" name=""/>
        <dsp:cNvSpPr/>
      </dsp:nvSpPr>
      <dsp:spPr>
        <a:xfrm rot="5400000">
          <a:off x="7569784" y="-294033"/>
          <a:ext cx="1083157" cy="7634224"/>
        </a:xfrm>
        <a:prstGeom prst="round2SameRect">
          <a:avLst/>
        </a:prstGeom>
        <a:solidFill>
          <a:schemeClr val="accent5">
            <a:tint val="40000"/>
            <a:alpha val="90000"/>
            <a:hueOff val="-928113"/>
            <a:satOff val="-32467"/>
            <a:lumOff val="-2196"/>
            <a:alphaOff val="0"/>
          </a:schemeClr>
        </a:solidFill>
        <a:ln w="12700" cap="flat" cmpd="sng" algn="ctr">
          <a:solidFill>
            <a:schemeClr val="accent5">
              <a:tint val="40000"/>
              <a:alpha val="90000"/>
              <a:hueOff val="-928113"/>
              <a:satOff val="-32467"/>
              <a:lumOff val="-219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a:t>Market-linked instruments managed by professionals.</a:t>
          </a:r>
        </a:p>
        <a:p>
          <a:pPr marL="171450" lvl="1" indent="-171450" algn="l" defTabSz="844550">
            <a:lnSpc>
              <a:spcPct val="90000"/>
            </a:lnSpc>
            <a:spcBef>
              <a:spcPct val="0"/>
            </a:spcBef>
            <a:spcAft>
              <a:spcPct val="15000"/>
            </a:spcAft>
            <a:buChar char="••"/>
          </a:pPr>
          <a:r>
            <a:rPr lang="en-IN" sz="1900" kern="1200"/>
            <a:t>Variety of options: equity, debt, or mixed funds.</a:t>
          </a:r>
        </a:p>
        <a:p>
          <a:pPr marL="171450" lvl="1" indent="-171450" algn="l" defTabSz="844550">
            <a:lnSpc>
              <a:spcPct val="90000"/>
            </a:lnSpc>
            <a:spcBef>
              <a:spcPct val="0"/>
            </a:spcBef>
            <a:spcAft>
              <a:spcPct val="15000"/>
            </a:spcAft>
            <a:buChar char="••"/>
          </a:pPr>
          <a:r>
            <a:rPr lang="en-IN" sz="1900" kern="1200"/>
            <a:t>Investments can be made as lump sum or periodic.</a:t>
          </a:r>
        </a:p>
      </dsp:txBody>
      <dsp:txXfrm rot="-5400000">
        <a:off x="4294251" y="3034375"/>
        <a:ext cx="7581349" cy="977407"/>
      </dsp:txXfrm>
    </dsp:sp>
    <dsp:sp modelId="{379BBA84-8C40-4C79-A55B-2FFE0C027133}">
      <dsp:nvSpPr>
        <dsp:cNvPr id="0" name=""/>
        <dsp:cNvSpPr/>
      </dsp:nvSpPr>
      <dsp:spPr>
        <a:xfrm>
          <a:off x="0" y="2846104"/>
          <a:ext cx="4294251" cy="1353947"/>
        </a:xfrm>
        <a:prstGeom prst="roundRect">
          <a:avLst/>
        </a:prstGeom>
        <a:solidFill>
          <a:schemeClr val="accent5">
            <a:hueOff val="-1364971"/>
            <a:satOff val="-27549"/>
            <a:lumOff val="-20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95250" rIns="190500" bIns="95250" numCol="1" spcCol="1270" anchor="ctr" anchorCtr="0">
          <a:noAutofit/>
        </a:bodyPr>
        <a:lstStyle/>
        <a:p>
          <a:pPr lvl="0" algn="ctr" defTabSz="2222500">
            <a:lnSpc>
              <a:spcPct val="90000"/>
            </a:lnSpc>
            <a:spcBef>
              <a:spcPct val="0"/>
            </a:spcBef>
            <a:spcAft>
              <a:spcPct val="35000"/>
            </a:spcAft>
          </a:pPr>
          <a:r>
            <a:rPr lang="en-IN" sz="5000" b="1" kern="1200" dirty="0"/>
            <a:t>Mutual Funds</a:t>
          </a:r>
          <a:endParaRPr lang="en-IN" sz="5000" kern="1200" dirty="0"/>
        </a:p>
      </dsp:txBody>
      <dsp:txXfrm>
        <a:off x="66094" y="2912198"/>
        <a:ext cx="4162063" cy="1221759"/>
      </dsp:txXfrm>
    </dsp:sp>
    <dsp:sp modelId="{37BAD8A1-78A4-4B9C-B7BC-57F3FA084E1E}">
      <dsp:nvSpPr>
        <dsp:cNvPr id="0" name=""/>
        <dsp:cNvSpPr/>
      </dsp:nvSpPr>
      <dsp:spPr>
        <a:xfrm rot="5400000">
          <a:off x="7569784" y="1127611"/>
          <a:ext cx="1083157" cy="7634224"/>
        </a:xfrm>
        <a:prstGeom prst="round2SameRect">
          <a:avLst/>
        </a:prstGeom>
        <a:solidFill>
          <a:schemeClr val="accent5">
            <a:tint val="40000"/>
            <a:alpha val="90000"/>
            <a:hueOff val="-1392170"/>
            <a:satOff val="-48701"/>
            <a:lumOff val="-3294"/>
            <a:alphaOff val="0"/>
          </a:schemeClr>
        </a:solidFill>
        <a:ln w="12700" cap="flat" cmpd="sng" algn="ctr">
          <a:solidFill>
            <a:schemeClr val="accent5">
              <a:tint val="40000"/>
              <a:alpha val="90000"/>
              <a:hueOff val="-1392170"/>
              <a:satOff val="-48701"/>
              <a:lumOff val="-329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a:t>Traditional investment option with potential for rental income or capital appreciation.</a:t>
          </a:r>
        </a:p>
        <a:p>
          <a:pPr marL="171450" lvl="1" indent="-171450" algn="l" defTabSz="844550">
            <a:lnSpc>
              <a:spcPct val="90000"/>
            </a:lnSpc>
            <a:spcBef>
              <a:spcPct val="0"/>
            </a:spcBef>
            <a:spcAft>
              <a:spcPct val="15000"/>
            </a:spcAft>
            <a:buChar char="••"/>
          </a:pPr>
          <a:r>
            <a:rPr lang="en-IN" sz="1900" kern="1200"/>
            <a:t>Returns vary depending on market conditions, location, and more.</a:t>
          </a:r>
        </a:p>
      </dsp:txBody>
      <dsp:txXfrm rot="-5400000">
        <a:off x="4294251" y="4456020"/>
        <a:ext cx="7581349" cy="977407"/>
      </dsp:txXfrm>
    </dsp:sp>
    <dsp:sp modelId="{C41DC2F1-8E32-409B-86AD-841CF53D2ED6}">
      <dsp:nvSpPr>
        <dsp:cNvPr id="0" name=""/>
        <dsp:cNvSpPr/>
      </dsp:nvSpPr>
      <dsp:spPr>
        <a:xfrm>
          <a:off x="0" y="4267749"/>
          <a:ext cx="4294251" cy="1353947"/>
        </a:xfrm>
        <a:prstGeom prst="roundRect">
          <a:avLst/>
        </a:prstGeom>
        <a:solidFill>
          <a:schemeClr val="accent5">
            <a:hueOff val="-2047456"/>
            <a:satOff val="-41324"/>
            <a:lumOff val="-31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95250" rIns="190500" bIns="95250" numCol="1" spcCol="1270" anchor="ctr" anchorCtr="0">
          <a:noAutofit/>
        </a:bodyPr>
        <a:lstStyle/>
        <a:p>
          <a:pPr lvl="0" algn="ctr" defTabSz="2222500">
            <a:lnSpc>
              <a:spcPct val="90000"/>
            </a:lnSpc>
            <a:spcBef>
              <a:spcPct val="0"/>
            </a:spcBef>
            <a:spcAft>
              <a:spcPct val="35000"/>
            </a:spcAft>
          </a:pPr>
          <a:r>
            <a:rPr lang="en-IN" sz="5000" b="1" kern="1200" dirty="0"/>
            <a:t>Real Estate</a:t>
          </a:r>
          <a:endParaRPr lang="en-IN" sz="5000" kern="1200" dirty="0"/>
        </a:p>
      </dsp:txBody>
      <dsp:txXfrm>
        <a:off x="66094" y="4333843"/>
        <a:ext cx="4162063" cy="122175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diagrams.loki3.com/TabbedArc+Icon">
  <dgm:title val="Tabbed Arc"/>
  <dgm:desc val="Use to show a set of related items arcing over a common area.  Best with small amounts of text."/>
  <dgm:catLst>
    <dgm:cat type="relationship" pri="20500"/>
    <dgm:cat type="officeonline" pri="4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dir/>
      <dgm:resizeHandles val="exact"/>
    </dgm:varLst>
    <dgm:choose name="Name1">
      <dgm:if name="Name2" axis="ch" ptType="node" func="cnt" op="equ" val="1">
        <dgm:alg type="cycle"/>
      </dgm:if>
      <dgm:else name="Name3">
        <dgm:choose name="Name4">
          <dgm:if name="Name5" axis="ch" ptType="node" func="cnt" op="lte" val="3">
            <dgm:choose name="Name6">
              <dgm:if name="Name7" func="var" arg="dir" op="equ" val="norm">
                <dgm:alg type="cycle">
                  <dgm:param type="stAng" val="-40"/>
                  <dgm:param type="spanAng" val="80"/>
                  <dgm:param type="rotPath" val="alongPath"/>
                </dgm:alg>
              </dgm:if>
              <dgm:else name="Name8">
                <dgm:alg type="cycle">
                  <dgm:param type="stAng" val="40"/>
                  <dgm:param type="spanAng" val="-80"/>
                  <dgm:param type="rotPath" val="alongPath"/>
                </dgm:alg>
              </dgm:else>
            </dgm:choose>
          </dgm:if>
          <dgm:else name="Name9">
            <dgm:choose name="Name10">
              <dgm:if name="Name11" func="var" arg="dir" op="equ" val="norm">
                <dgm:alg type="cycle">
                  <dgm:param type="stAng" val="-60"/>
                  <dgm:param type="spanAng" val="120"/>
                  <dgm:param type="rotPath" val="alongPath"/>
                </dgm:alg>
              </dgm:if>
              <dgm:else name="Name12">
                <dgm:alg type="cycle">
                  <dgm:param type="stAng" val="60"/>
                  <dgm:param type="spanAng" val="-120"/>
                  <dgm:param type="rotPath" val="alongPath"/>
                </dgm:alg>
              </dgm:else>
            </dgm:choose>
          </dgm:else>
        </dgm:choose>
      </dgm:else>
    </dgm:choose>
    <dgm:shape xmlns:r="http://schemas.openxmlformats.org/officeDocument/2006/relationships" r:blip="">
      <dgm:adjLst/>
    </dgm:shape>
    <dgm:presOf/>
    <dgm:choose name="Name13">
      <dgm:if name="Name14" axis="ch" ptType="node" func="cnt" op="equ" val="2">
        <dgm:constrLst>
          <dgm:constr type="w" for="ch" ptType="node" refType="w"/>
          <dgm:constr type="primFontSz" for="ch" ptType="node" op="equ" val="65"/>
          <dgm:constr type="sibSp" refType="w" fact="0.22"/>
        </dgm:constrLst>
      </dgm:if>
      <dgm:else name="Name15">
        <dgm:constrLst>
          <dgm:constr type="w" for="ch" ptType="node" refType="w"/>
          <dgm:constr type="primFontSz" for="ch" ptType="node" op="equ" val="65"/>
          <dgm:constr type="sibSp" refType="w" fact="0.14"/>
        </dgm:constrLst>
      </dgm:else>
    </dgm:choose>
    <dgm:ruleLst/>
    <dgm:forEach name="Name16" axis="ch" ptType="node">
      <dgm:choose name="Name17">
        <dgm:if name="Name18" axis="par ch" ptType="doc node" func="cnt" op="equ" val="1">
          <dgm:layoutNode name="one">
            <dgm:varLst>
              <dgm:bulletEnabled val="1"/>
            </dgm:varLst>
            <dgm:alg type="tx"/>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if>
        <dgm:else name="Name19">
          <dgm:layoutNode name="twoplus">
            <dgm:varLst>
              <dgm:bulletEnabled val="1"/>
            </dgm:varLst>
            <dgm:alg type="tx">
              <dgm:param type="autoTxRot" val="grav"/>
            </dgm:alg>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9/18/2025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a:extLst>
              <a:ext uri="{FF2B5EF4-FFF2-40B4-BE49-F238E27FC236}">
                <a16:creationId xmlns:a16="http://schemas.microsoft.com/office/drawing/2014/main" id="{356D7B7B-531F-408A-988D-AF8B227BBAEF}"/>
              </a:ext>
            </a:extLst>
          </p:cNvPr>
          <p:cNvPicPr>
            <a:picLocks noChangeAspect="1"/>
          </p:cNvPicPr>
          <p:nvPr userDrawn="1"/>
        </p:nvPicPr>
        <p:blipFill rotWithShape="1">
          <a:blip r:embed="rId10"/>
          <a:srcRect l="48200" t="56813" r="42065" b="21843"/>
          <a:stretch/>
        </p:blipFill>
        <p:spPr>
          <a:xfrm>
            <a:off x="12261755" y="20384"/>
            <a:ext cx="1485900" cy="1832587"/>
          </a:xfrm>
          <a:prstGeom prst="rect">
            <a:avLst/>
          </a:prstGeom>
        </p:spPr>
      </p:pic>
      <p:pic>
        <p:nvPicPr>
          <p:cNvPr id="35" name="Picture 2" descr="Best Courses after BBA: What to Do After BBA? [2021] - Leverage Edu">
            <a:extLst>
              <a:ext uri="{FF2B5EF4-FFF2-40B4-BE49-F238E27FC236}">
                <a16:creationId xmlns:a16="http://schemas.microsoft.com/office/drawing/2014/main" id="{C84296FC-27D3-4D0C-8F2A-19BD3B9C2C0A}"/>
              </a:ext>
            </a:extLst>
          </p:cNvPr>
          <p:cNvPicPr>
            <a:picLocks noChangeAspect="1" noChangeArrowheads="1"/>
          </p:cNvPicPr>
          <p:nvPr userDrawn="1"/>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29201" y="2183713"/>
            <a:ext cx="2741932" cy="1790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352327-8573-44E4-BC8A-4B66E1AC2BFC}"/>
              </a:ext>
            </a:extLst>
          </p:cNvPr>
          <p:cNvSpPr txBox="1"/>
          <p:nvPr userDrawn="1"/>
        </p:nvSpPr>
        <p:spPr>
          <a:xfrm>
            <a:off x="1837677" y="5513531"/>
            <a:ext cx="2946640" cy="338554"/>
          </a:xfrm>
          <a:prstGeom prst="rect">
            <a:avLst/>
          </a:prstGeom>
          <a:noFill/>
        </p:spPr>
        <p:txBody>
          <a:bodyPr wrap="none" rtlCol="0">
            <a:spAutoFit/>
          </a:bodyPr>
          <a:lstStyle/>
          <a:p>
            <a:r>
              <a:rPr lang="en-US" sz="1600" kern="1200" dirty="0">
                <a:solidFill>
                  <a:schemeClr val="tx1"/>
                </a:solidFill>
                <a:latin typeface="+mn-lt"/>
                <a:ea typeface="+mn-ea"/>
                <a:cs typeface="+mn-cs"/>
              </a:rPr>
              <a:t>Darshan Institute of Management</a:t>
            </a:r>
          </a:p>
        </p:txBody>
      </p:sp>
    </p:spTree>
    <p:extLst>
      <p:ext uri="{BB962C8B-B14F-4D97-AF65-F5344CB8AC3E}">
        <p14:creationId xmlns:p14="http://schemas.microsoft.com/office/powerpoint/2010/main" val="273162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Vatsal</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Raval</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7" y="6604000"/>
            <a:ext cx="5365173"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0" dirty="0">
                <a:solidFill>
                  <a:schemeClr val="tx1">
                    <a:lumMod val="90000"/>
                    <a:lumOff val="10000"/>
                  </a:schemeClr>
                </a:solidFill>
                <a:latin typeface="Roboto Condensed Light" panose="02000000000000000000" pitchFamily="2" charset="0"/>
                <a:ea typeface="Roboto Condensed Light" panose="02000000000000000000" pitchFamily="2" charset="0"/>
              </a:rPr>
              <a:t>#2509MN302 (PFP)   </a:t>
            </a:r>
            <a:r>
              <a:rPr lang="en-US" b="0"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b="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b="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Concept of Value and Return</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356C418-17D6-4697-8856-5F7FEACD43D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Vatsal</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Raval</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2"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2882"/>
            <a:ext cx="5323609" cy="25624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#2301CS594</a:t>
            </a:r>
            <a:r>
              <a:rPr lang="en-US" b="0" dirty="0">
                <a:solidFill>
                  <a:schemeClr val="tx1">
                    <a:lumMod val="90000"/>
                    <a:lumOff val="10000"/>
                  </a:schemeClr>
                </a:solidFill>
                <a:latin typeface="Roboto Condensed Light" panose="02000000000000000000" pitchFamily="2" charset="0"/>
                <a:ea typeface="Roboto Condensed Light" panose="02000000000000000000" pitchFamily="2" charset="0"/>
              </a:rPr>
              <a:t>(BFSI)   </a:t>
            </a:r>
            <a:r>
              <a:rPr lang="en-US" b="0"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b="0" dirty="0">
                <a:solidFill>
                  <a:schemeClr val="tx1">
                    <a:lumMod val="90000"/>
                    <a:lumOff val="10000"/>
                  </a:schemeClr>
                </a:solidFill>
                <a:latin typeface="Roboto Condensed Light" panose="02000000000000000000" pitchFamily="2" charset="0"/>
                <a:ea typeface="Roboto Condensed Light" panose="02000000000000000000" pitchFamily="2" charset="0"/>
              </a:rPr>
              <a:t> Financial Concepts</a:t>
            </a:r>
            <a:endParaRPr lang="en-GB" sz="1200" b="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356C418-17D6-4697-8856-5F7FEACD43D9}"/>
              </a:ext>
            </a:extLst>
          </p:cNvPr>
          <p:cNvSpPr>
            <a:spLocks noGrp="1"/>
          </p:cNvSpPr>
          <p:nvPr>
            <p:ph idx="1"/>
          </p:nvPr>
        </p:nvSpPr>
        <p:spPr>
          <a:xfrm>
            <a:off x="131180" y="863444"/>
            <a:ext cx="11938900"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12"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180431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687C7B7-5AC0-4DE5-8CD4-EF33EEB726F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12"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3" name="Freeform 17">
            <a:extLst>
              <a:ext uri="{FF2B5EF4-FFF2-40B4-BE49-F238E27FC236}">
                <a16:creationId xmlns:a16="http://schemas.microsoft.com/office/drawing/2014/main" id="{3027D2AD-0E13-43EE-BAA8-1606FF4E22D8}"/>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9000">
                      <a:schemeClr val="accent6">
                        <a:lumMod val="50000"/>
                      </a:schemeClr>
                    </a:gs>
                    <a:gs pos="100000">
                      <a:schemeClr val="accent6"/>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0172331D-9941-4AAA-9E63-80BDD4CEBDAB}"/>
              </a:ext>
            </a:extLst>
          </p:cNvPr>
          <p:cNvGrpSpPr/>
          <p:nvPr userDrawn="1"/>
        </p:nvGrpSpPr>
        <p:grpSpPr>
          <a:xfrm>
            <a:off x="9874840" y="6078930"/>
            <a:ext cx="2078404" cy="631807"/>
            <a:chOff x="10721798" y="852808"/>
            <a:chExt cx="1339023" cy="407045"/>
          </a:xfrm>
        </p:grpSpPr>
        <p:pic>
          <p:nvPicPr>
            <p:cNvPr id="15" name="Picture 14">
              <a:extLst>
                <a:ext uri="{FF2B5EF4-FFF2-40B4-BE49-F238E27FC236}">
                  <a16:creationId xmlns:a16="http://schemas.microsoft.com/office/drawing/2014/main" id="{9B62E625-0FE4-4129-B936-172760D4BFC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E733AEFD-AF8F-46BF-9E8E-F6573B757CF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8"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Vatsal</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Raval</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8"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524048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0" dirty="0">
                <a:solidFill>
                  <a:schemeClr val="tx1">
                    <a:lumMod val="90000"/>
                    <a:lumOff val="10000"/>
                  </a:schemeClr>
                </a:solidFill>
                <a:latin typeface="Roboto Condensed Light" panose="02000000000000000000" pitchFamily="2" charset="0"/>
                <a:ea typeface="Roboto Condensed Light" panose="02000000000000000000" pitchFamily="2" charset="0"/>
              </a:rPr>
              <a:t>#2509MN302 (PFP)   </a:t>
            </a:r>
            <a:r>
              <a:rPr lang="en-US" b="0"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b="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GB" sz="1200" b="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Personal Financial Assessment and Life Milestone Planning</a:t>
            </a:r>
            <a:endParaRPr lang="en-US" sz="1200" b="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B770560A-7C36-4269-A8F2-0431E180EAD2}"/>
              </a:ext>
            </a:extLst>
          </p:cNvPr>
          <p:cNvGrpSpPr/>
          <p:nvPr userDrawn="1"/>
        </p:nvGrpSpPr>
        <p:grpSpPr>
          <a:xfrm>
            <a:off x="165802" y="5976558"/>
            <a:ext cx="1649043" cy="501287"/>
            <a:chOff x="10721798" y="852808"/>
            <a:chExt cx="1339023" cy="407045"/>
          </a:xfrm>
        </p:grpSpPr>
        <p:pic>
          <p:nvPicPr>
            <p:cNvPr id="15" name="Picture 14">
              <a:extLst>
                <a:ext uri="{FF2B5EF4-FFF2-40B4-BE49-F238E27FC236}">
                  <a16:creationId xmlns:a16="http://schemas.microsoft.com/office/drawing/2014/main" id="{BC0FB63F-CA11-4FFF-AE2F-90A20EC2490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37E217C-09B9-4F19-8BB8-BB4441141B5F}"/>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8"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7088783-A6E8-4593-A261-AA2E5B8C0B31}"/>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1">
            <a:extLst>
              <a:ext uri="{FF2B5EF4-FFF2-40B4-BE49-F238E27FC236}">
                <a16:creationId xmlns:a16="http://schemas.microsoft.com/office/drawing/2014/main" id="{8BE27DED-9DB1-499A-8FB8-BD4EB698EF13}"/>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4" name="Slide Number Placeholder 3">
            <a:extLst>
              <a:ext uri="{FF2B5EF4-FFF2-40B4-BE49-F238E27FC236}">
                <a16:creationId xmlns:a16="http://schemas.microsoft.com/office/drawing/2014/main" id="{4C8C068D-898F-420B-A00C-9EB35BDEEADE}"/>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20944A5-8A5C-4E4A-B8EF-52E45D382D17}"/>
              </a:ext>
            </a:extLst>
          </p:cNvPr>
          <p:cNvPicPr>
            <a:picLocks noChangeAspect="1"/>
          </p:cNvPicPr>
          <p:nvPr userDrawn="1"/>
        </p:nvPicPr>
        <p:blipFill>
          <a:blip r:embed="rId2"/>
          <a:stretch>
            <a:fillRect/>
          </a:stretch>
        </p:blipFill>
        <p:spPr>
          <a:xfrm>
            <a:off x="0" y="0"/>
            <a:ext cx="12192000" cy="6836401"/>
          </a:xfrm>
          <a:prstGeom prst="rect">
            <a:avLst/>
          </a:prstGeom>
        </p:spPr>
      </p:pic>
      <p:sp>
        <p:nvSpPr>
          <p:cNvPr id="10" name="Rectangle 9">
            <a:extLst>
              <a:ext uri="{FF2B5EF4-FFF2-40B4-BE49-F238E27FC236}">
                <a16:creationId xmlns:a16="http://schemas.microsoft.com/office/drawing/2014/main" id="{6AB14EB5-0C00-4B23-9657-6A7891E39B9E}"/>
              </a:ext>
            </a:extLst>
          </p:cNvPr>
          <p:cNvSpPr/>
          <p:nvPr userDrawn="1"/>
        </p:nvSpPr>
        <p:spPr>
          <a:xfrm>
            <a:off x="897729" y="312624"/>
            <a:ext cx="4211279" cy="923330"/>
          </a:xfrm>
          <a:prstGeom prst="rect">
            <a:avLst/>
          </a:prstGeom>
          <a:noFill/>
        </p:spPr>
        <p:txBody>
          <a:bodyPr wrap="square" lIns="91440" tIns="45720" rIns="91440" bIns="45720">
            <a:spAutoFit/>
          </a:bodyPr>
          <a:lstStyle/>
          <a:p>
            <a:pPr algn="ctr"/>
            <a:r>
              <a:rPr lang="en-US" sz="5400" b="1" cap="none" spc="0" dirty="0">
                <a:ln w="22225">
                  <a:solidFill>
                    <a:schemeClr val="tx1"/>
                  </a:solidFill>
                  <a:prstDash val="solid"/>
                </a:ln>
                <a:solidFill>
                  <a:schemeClr val="accent6">
                    <a:lumMod val="50000"/>
                  </a:schemeClr>
                </a:solidFill>
                <a:effectLst/>
              </a:rPr>
              <a:t>THANK YOU</a:t>
            </a:r>
          </a:p>
        </p:txBody>
      </p:sp>
      <p:sp>
        <p:nvSpPr>
          <p:cNvPr id="5" name="TextBox 4">
            <a:extLst>
              <a:ext uri="{FF2B5EF4-FFF2-40B4-BE49-F238E27FC236}">
                <a16:creationId xmlns:a16="http://schemas.microsoft.com/office/drawing/2014/main" id="{74B083DC-F5A7-4EBF-9147-E9831D9E7357}"/>
              </a:ext>
            </a:extLst>
          </p:cNvPr>
          <p:cNvSpPr txBox="1"/>
          <p:nvPr userDrawn="1"/>
        </p:nvSpPr>
        <p:spPr>
          <a:xfrm>
            <a:off x="-89262" y="1548578"/>
            <a:ext cx="6185262" cy="1938992"/>
          </a:xfrm>
          <a:prstGeom prst="rect">
            <a:avLst/>
          </a:prstGeom>
          <a:noFill/>
        </p:spPr>
        <p:txBody>
          <a:bodyPr wrap="square">
            <a:spAutoFit/>
          </a:bodyPr>
          <a:lstStyle/>
          <a:p>
            <a:pPr algn="ctr"/>
            <a:r>
              <a:rPr lang="en-IN" sz="2400" dirty="0"/>
              <a:t>Prof. </a:t>
            </a:r>
            <a:r>
              <a:rPr lang="en-IN" sz="2400" dirty="0" err="1"/>
              <a:t>Vatsal</a:t>
            </a:r>
            <a:r>
              <a:rPr lang="en-IN" sz="2400" dirty="0"/>
              <a:t> </a:t>
            </a:r>
            <a:r>
              <a:rPr lang="en-IN" sz="2400" dirty="0" err="1"/>
              <a:t>Raval</a:t>
            </a:r>
            <a:endParaRPr lang="en-IN" sz="2400" dirty="0"/>
          </a:p>
          <a:p>
            <a:pPr algn="ctr"/>
            <a:r>
              <a:rPr lang="en-IN" sz="2400" dirty="0"/>
              <a:t>Assistant Professor</a:t>
            </a:r>
          </a:p>
          <a:p>
            <a:pPr algn="ctr"/>
            <a:r>
              <a:rPr lang="en-IN" sz="2400" dirty="0"/>
              <a:t>Darshan Institute of Management</a:t>
            </a:r>
          </a:p>
          <a:p>
            <a:pPr algn="ctr"/>
            <a:r>
              <a:rPr lang="en-IN" sz="2400" dirty="0"/>
              <a:t>Darshan University, Rajkot</a:t>
            </a:r>
          </a:p>
          <a:p>
            <a:pPr algn="ctr"/>
            <a:r>
              <a:rPr lang="en-IN" sz="2400" dirty="0"/>
              <a:t>vatsal.raval@darshan.ac.in</a:t>
            </a:r>
          </a:p>
        </p:txBody>
      </p:sp>
    </p:spTree>
    <p:extLst>
      <p:ext uri="{BB962C8B-B14F-4D97-AF65-F5344CB8AC3E}">
        <p14:creationId xmlns:p14="http://schemas.microsoft.com/office/powerpoint/2010/main" val="528164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9/18/2025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9" r:id="rId1"/>
    <p:sldLayoutId id="2147483670" r:id="rId2"/>
    <p:sldLayoutId id="2147483687" r:id="rId3"/>
    <p:sldLayoutId id="2147483692" r:id="rId4"/>
    <p:sldLayoutId id="2147483688" r:id="rId5"/>
    <p:sldLayoutId id="2147483671" r:id="rId6"/>
    <p:sldLayoutId id="2147483672" r:id="rId7"/>
    <p:sldLayoutId id="2147483689" r:id="rId8"/>
    <p:sldLayoutId id="2147483690" r:id="rId9"/>
    <p:sldLayoutId id="2147483673" r:id="rId10"/>
    <p:sldLayoutId id="21474836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7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81.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4.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5.png"/></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Vatsal.raval@darshan.ac.in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9428285444</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a:t>
            </a:r>
            <a:r>
              <a:rPr lang="en-US" dirty="0" err="1"/>
              <a:t>Vatsal</a:t>
            </a:r>
            <a:r>
              <a:rPr lang="en-US" dirty="0"/>
              <a:t> </a:t>
            </a:r>
            <a:r>
              <a:rPr lang="en-US" dirty="0" err="1"/>
              <a:t>Raval</a:t>
            </a:r>
            <a:endParaRPr lang="en-US" dirty="0"/>
          </a:p>
        </p:txBody>
      </p:sp>
      <p:pic>
        <p:nvPicPr>
          <p:cNvPr id="24" name="Picture Placeholder 23">
            <a:extLst>
              <a:ext uri="{FF2B5EF4-FFF2-40B4-BE49-F238E27FC236}">
                <a16:creationId xmlns:a16="http://schemas.microsoft.com/office/drawing/2014/main" id="{4FC20EE9-4DB6-49AC-8191-5DB6BA1966B1}"/>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33487" y="5205086"/>
            <a:ext cx="1387737" cy="1346322"/>
          </a:xfrm>
        </p:spPr>
      </p:pic>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a:xfrm>
            <a:off x="2772358" y="-13855"/>
            <a:ext cx="4646358" cy="734653"/>
          </a:xfrm>
        </p:spPr>
        <p:txBody>
          <a:bodyPr/>
          <a:lstStyle/>
          <a:p>
            <a:r>
              <a:rPr lang="en-GB" b="1" dirty="0">
                <a:latin typeface="+mj-lt"/>
                <a:ea typeface="Roboto Condensed Light" panose="02000000000000000000" pitchFamily="2" charset="0"/>
              </a:rPr>
              <a:t>Banking, Financial Services and Insurance</a:t>
            </a:r>
            <a:r>
              <a:rPr lang="en-US" b="1" dirty="0">
                <a:latin typeface="+mj-lt"/>
                <a:ea typeface="Roboto Condensed Light" panose="02000000000000000000" pitchFamily="2" charset="0"/>
              </a:rPr>
              <a:t>(BFSI)</a:t>
            </a:r>
          </a:p>
          <a:p>
            <a:r>
              <a:rPr lang="en-US" b="1" dirty="0">
                <a:latin typeface="+mj-lt"/>
                <a:ea typeface="Roboto Condensed Light" panose="02000000000000000000" pitchFamily="2" charset="0"/>
              </a:rPr>
              <a:t>DU # 2301CS594</a:t>
            </a:r>
          </a:p>
        </p:txBody>
      </p:sp>
      <p:sp>
        <p:nvSpPr>
          <p:cNvPr id="10" name="Title 1">
            <a:extLst>
              <a:ext uri="{FF2B5EF4-FFF2-40B4-BE49-F238E27FC236}">
                <a16:creationId xmlns:a16="http://schemas.microsoft.com/office/drawing/2014/main" id="{8008DC1D-3241-42B6-B465-A521EF8397ED}"/>
              </a:ext>
            </a:extLst>
          </p:cNvPr>
          <p:cNvSpPr txBox="1">
            <a:spLocks/>
          </p:cNvSpPr>
          <p:nvPr/>
        </p:nvSpPr>
        <p:spPr>
          <a:xfrm>
            <a:off x="1336474" y="3597823"/>
            <a:ext cx="7721600" cy="1180543"/>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lnSpc>
                <a:spcPct val="100000"/>
              </a:lnSpc>
            </a:pPr>
            <a:r>
              <a:rPr lang="en-US" sz="2400" dirty="0">
                <a:latin typeface="+mn-lt"/>
              </a:rPr>
              <a:t>CO 5: </a:t>
            </a:r>
            <a:r>
              <a:rPr lang="en-GB" sz="2400" i="0" u="none" strike="noStrike" kern="1200" baseline="0" dirty="0">
                <a:solidFill>
                  <a:schemeClr val="tx1"/>
                </a:solidFill>
                <a:latin typeface="+mn-lt"/>
                <a:ea typeface="+mn-ea"/>
                <a:cs typeface="+mn-cs"/>
              </a:rPr>
              <a:t>apply time value of money principles in personal finance scenarios such as EMI calculations, retirement planning, and loan decisions.</a:t>
            </a:r>
            <a:endParaRPr lang="en-IN" sz="2400" dirty="0"/>
          </a:p>
          <a:p>
            <a:pPr algn="just">
              <a:lnSpc>
                <a:spcPct val="100000"/>
              </a:lnSpc>
            </a:pPr>
            <a:endParaRPr lang="en-US" sz="2400" dirty="0">
              <a:latin typeface="+mn-lt"/>
            </a:endParaRPr>
          </a:p>
        </p:txBody>
      </p:sp>
      <p:sp>
        <p:nvSpPr>
          <p:cNvPr id="13" name="Title 1">
            <a:extLst>
              <a:ext uri="{FF2B5EF4-FFF2-40B4-BE49-F238E27FC236}">
                <a16:creationId xmlns:a16="http://schemas.microsoft.com/office/drawing/2014/main" id="{870F5E93-ABCF-4BB0-929B-4838D5C9CC1F}"/>
              </a:ext>
            </a:extLst>
          </p:cNvPr>
          <p:cNvSpPr>
            <a:spLocks noGrp="1"/>
          </p:cNvSpPr>
          <p:nvPr>
            <p:ph type="ctrTitle"/>
          </p:nvPr>
        </p:nvSpPr>
        <p:spPr>
          <a:xfrm>
            <a:off x="1336475" y="1064679"/>
            <a:ext cx="7322616" cy="2248861"/>
          </a:xfrm>
        </p:spPr>
        <p:txBody>
          <a:bodyPr/>
          <a:lstStyle/>
          <a:p>
            <a:pPr>
              <a:lnSpc>
                <a:spcPct val="100000"/>
              </a:lnSpc>
            </a:pPr>
            <a:r>
              <a:rPr kumimoji="0" lang="en-US" sz="4800" b="0"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Roboto Condensed Light" panose="02000000000000000000" pitchFamily="2" charset="0"/>
                <a:cs typeface="+mn-cs"/>
              </a:rPr>
              <a:t>Unit-5</a:t>
            </a:r>
            <a:r>
              <a:rPr kumimoji="0" lang="en-US" sz="4800" b="1"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Segoe UI Black" panose="020B0A02040204020203" pitchFamily="34" charset="0"/>
                <a:cs typeface="+mn-cs"/>
              </a:rPr>
              <a:t/>
            </a:r>
            <a:br>
              <a:rPr kumimoji="0" lang="en-US" sz="4800" b="1"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Segoe UI Black" panose="020B0A02040204020203" pitchFamily="34" charset="0"/>
                <a:cs typeface="+mn-cs"/>
              </a:rPr>
            </a:br>
            <a:r>
              <a:rPr kumimoji="0" lang="en-US" sz="4800" b="1"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Segoe UI Black" panose="020B0A02040204020203" pitchFamily="34" charset="0"/>
                <a:cs typeface="+mn-cs"/>
              </a:rPr>
              <a:t>Financial </a:t>
            </a:r>
            <a:r>
              <a:rPr lang="en-GB" sz="4800" dirty="0"/>
              <a:t>Concepts</a:t>
            </a:r>
            <a:endParaRPr lang="en-IN" sz="4800" dirty="0"/>
          </a:p>
        </p:txBody>
      </p:sp>
      <p:pic>
        <p:nvPicPr>
          <p:cNvPr id="2" name="Picture Placeholder 3">
            <a:extLst>
              <a:ext uri="{FF2B5EF4-FFF2-40B4-BE49-F238E27FC236}">
                <a16:creationId xmlns:a16="http://schemas.microsoft.com/office/drawing/2014/main" id="{F79CD944-71F9-453D-5FA4-F9FE0F3FBBDB}"/>
              </a:ext>
            </a:extLst>
          </p:cNvPr>
          <p:cNvPicPr>
            <a:picLocks noChangeAspect="1"/>
          </p:cNvPicPr>
          <p:nvPr/>
        </p:nvPicPr>
        <p:blipFill>
          <a:blip r:embed="rId3" cstate="hqprint">
            <a:extLst>
              <a:ext uri="{28A0092B-C50C-407E-A947-70E740481C1C}">
                <a14:useLocalDpi xmlns:a14="http://schemas.microsoft.com/office/drawing/2010/main" val="0"/>
              </a:ext>
            </a:extLst>
          </a:blip>
          <a:srcRect/>
          <a:stretch>
            <a:fillRect/>
          </a:stretch>
        </p:blipFill>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3794764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85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31706"/>
            <a:ext cx="9084346" cy="5622052"/>
          </a:xfrm>
          <a:prstGeom prst="rect">
            <a:avLst/>
          </a:prstGeom>
          <a:noFill/>
        </p:spPr>
        <p:txBody>
          <a:bodyPr wrap="square" rtlCol="0">
            <a:spAutoFit/>
          </a:bodyPr>
          <a:lstStyle/>
          <a:p>
            <a:pPr algn="just"/>
            <a:r>
              <a:rPr lang="en-US" sz="2800" b="1" dirty="0"/>
              <a:t>Topics </a:t>
            </a:r>
          </a:p>
          <a:p>
            <a:pPr marL="742950" lvl="1" indent="-285750" algn="just">
              <a:lnSpc>
                <a:spcPct val="150000"/>
              </a:lnSpc>
              <a:buFont typeface="Arial" panose="020B0604020202020204" pitchFamily="34" charset="0"/>
              <a:buChar char="•"/>
            </a:pPr>
            <a:r>
              <a:rPr lang="en-GB" sz="2800" dirty="0"/>
              <a:t>Time Value of Money: (Theory and Numerical) Concepts, Reasons for Preference of Money.</a:t>
            </a:r>
          </a:p>
          <a:p>
            <a:pPr marL="742950" lvl="1" indent="-285750" algn="just">
              <a:lnSpc>
                <a:spcPct val="150000"/>
              </a:lnSpc>
              <a:buFont typeface="Arial" panose="020B0604020202020204" pitchFamily="34" charset="0"/>
              <a:buChar char="•"/>
            </a:pPr>
            <a:r>
              <a:rPr lang="en-GB" sz="2800" dirty="0"/>
              <a:t>Future Value (Compounding), Future Value of a Single Cash Flow, Future Value of an Annuity, Sinking Fund, Future value of Uneven Cash Flow.</a:t>
            </a:r>
          </a:p>
          <a:p>
            <a:pPr marL="742950" lvl="1" indent="-285750" algn="just">
              <a:lnSpc>
                <a:spcPct val="150000"/>
              </a:lnSpc>
              <a:buFont typeface="Arial" panose="020B0604020202020204" pitchFamily="34" charset="0"/>
              <a:buChar char="•"/>
            </a:pPr>
            <a:r>
              <a:rPr lang="en-GB" sz="2800" dirty="0"/>
              <a:t>Present Value (Discounting), Present Value of a Single Cash Flow, Present Value of an Annuity.</a:t>
            </a:r>
          </a:p>
          <a:p>
            <a:pPr marL="742950" lvl="1" indent="-285750" algn="just">
              <a:lnSpc>
                <a:spcPct val="150000"/>
              </a:lnSpc>
              <a:buFont typeface="Arial" panose="020B0604020202020204" pitchFamily="34" charset="0"/>
              <a:buChar char="•"/>
            </a:pPr>
            <a:endParaRPr lang="en-GB" sz="2800" dirty="0"/>
          </a:p>
        </p:txBody>
      </p:sp>
      <p:sp>
        <p:nvSpPr>
          <p:cNvPr id="10" name="Title 1">
            <a:extLst>
              <a:ext uri="{FF2B5EF4-FFF2-40B4-BE49-F238E27FC236}">
                <a16:creationId xmlns:a16="http://schemas.microsoft.com/office/drawing/2014/main" id="{1F9439FB-D110-4B22-83D6-826EC8E2CCB8}"/>
              </a:ext>
            </a:extLst>
          </p:cNvPr>
          <p:cNvSpPr txBox="1">
            <a:spLocks/>
          </p:cNvSpPr>
          <p:nvPr/>
        </p:nvSpPr>
        <p:spPr>
          <a:xfrm>
            <a:off x="2115553" y="5717357"/>
            <a:ext cx="7439505" cy="817874"/>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nSpc>
                <a:spcPct val="100000"/>
              </a:lnSpc>
            </a:pPr>
            <a:endParaRPr lang="en-US" sz="2400" dirty="0"/>
          </a:p>
        </p:txBody>
      </p:sp>
    </p:spTree>
    <p:extLst>
      <p:ext uri="{BB962C8B-B14F-4D97-AF65-F5344CB8AC3E}">
        <p14:creationId xmlns:p14="http://schemas.microsoft.com/office/powerpoint/2010/main" val="180755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85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221682" y="720132"/>
            <a:ext cx="9778872" cy="3036729"/>
          </a:xfrm>
          <a:prstGeom prst="rect">
            <a:avLst/>
          </a:prstGeom>
          <a:noFill/>
        </p:spPr>
        <p:txBody>
          <a:bodyPr wrap="square" rtlCol="0">
            <a:spAutoFit/>
          </a:bodyPr>
          <a:lstStyle/>
          <a:p>
            <a:r>
              <a:rPr lang="en-US" sz="2800" b="1" dirty="0"/>
              <a:t>   Topics </a:t>
            </a:r>
          </a:p>
          <a:p>
            <a:pPr marL="742950" lvl="1" indent="-285750" algn="just">
              <a:lnSpc>
                <a:spcPct val="150000"/>
              </a:lnSpc>
              <a:buFont typeface="Arial" panose="020B0604020202020204" pitchFamily="34" charset="0"/>
              <a:buChar char="•"/>
            </a:pPr>
            <a:r>
              <a:rPr lang="en-GB" sz="2800" dirty="0"/>
              <a:t>Capital Recovery &amp; Loan Amortization </a:t>
            </a:r>
          </a:p>
          <a:p>
            <a:pPr marL="742950" lvl="1" indent="-285750" algn="just">
              <a:lnSpc>
                <a:spcPct val="150000"/>
              </a:lnSpc>
              <a:buFont typeface="Arial" panose="020B0604020202020204" pitchFamily="34" charset="0"/>
              <a:buChar char="•"/>
            </a:pPr>
            <a:r>
              <a:rPr lang="en-GB" sz="2800" dirty="0"/>
              <a:t>Present value of Uneven Cash Flow, Present value of Perpetuity </a:t>
            </a:r>
          </a:p>
          <a:p>
            <a:pPr marL="742950" lvl="1" indent="-285750" algn="just">
              <a:lnSpc>
                <a:spcPct val="150000"/>
              </a:lnSpc>
              <a:buFont typeface="Arial" panose="020B0604020202020204" pitchFamily="34" charset="0"/>
              <a:buChar char="•"/>
            </a:pPr>
            <a:r>
              <a:rPr lang="en-GB" sz="2800" dirty="0"/>
              <a:t>Value of an Annuity Due: Future Value of an Annuity Due, Present Value of an Annuity Due, Multi-period Compounding </a:t>
            </a:r>
          </a:p>
        </p:txBody>
      </p:sp>
      <p:sp>
        <p:nvSpPr>
          <p:cNvPr id="10" name="Title 1">
            <a:extLst>
              <a:ext uri="{FF2B5EF4-FFF2-40B4-BE49-F238E27FC236}">
                <a16:creationId xmlns:a16="http://schemas.microsoft.com/office/drawing/2014/main" id="{1F9439FB-D110-4B22-83D6-826EC8E2CCB8}"/>
              </a:ext>
            </a:extLst>
          </p:cNvPr>
          <p:cNvSpPr txBox="1">
            <a:spLocks/>
          </p:cNvSpPr>
          <p:nvPr/>
        </p:nvSpPr>
        <p:spPr>
          <a:xfrm>
            <a:off x="2115554" y="5440265"/>
            <a:ext cx="7439505" cy="1140643"/>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lnSpc>
                <a:spcPct val="100000"/>
              </a:lnSpc>
            </a:pPr>
            <a:r>
              <a:rPr lang="en-US" sz="2400" dirty="0"/>
              <a:t>CO 5: </a:t>
            </a:r>
            <a:r>
              <a:rPr lang="en-GB" sz="2400" dirty="0">
                <a:solidFill>
                  <a:schemeClr val="tx1"/>
                </a:solidFill>
              </a:rPr>
              <a:t>apply time value of money principles in personal finance scenarios such as EMI calculations, retirement planning, and loan decisions.</a:t>
            </a:r>
            <a:endParaRPr lang="en-IN" sz="2400" dirty="0"/>
          </a:p>
        </p:txBody>
      </p:sp>
    </p:spTree>
    <p:extLst>
      <p:ext uri="{BB962C8B-B14F-4D97-AF65-F5344CB8AC3E}">
        <p14:creationId xmlns:p14="http://schemas.microsoft.com/office/powerpoint/2010/main" val="107656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15842E-19DB-E123-0BFD-5AF9946596C9}"/>
              </a:ext>
            </a:extLst>
          </p:cNvPr>
          <p:cNvSpPr>
            <a:spLocks noGrp="1"/>
          </p:cNvSpPr>
          <p:nvPr>
            <p:ph type="title"/>
          </p:nvPr>
        </p:nvSpPr>
        <p:spPr/>
        <p:txBody>
          <a:bodyPr/>
          <a:lstStyle/>
          <a:p>
            <a:r>
              <a:rPr lang="en-GB" dirty="0"/>
              <a:t>Price of Gold and Petrol Over Past 25 Years</a:t>
            </a:r>
            <a:endParaRPr lang="en-IN" dirty="0"/>
          </a:p>
        </p:txBody>
      </p:sp>
      <p:graphicFrame>
        <p:nvGraphicFramePr>
          <p:cNvPr id="6" name="Content Placeholder 5">
            <a:extLst>
              <a:ext uri="{FF2B5EF4-FFF2-40B4-BE49-F238E27FC236}">
                <a16:creationId xmlns:a16="http://schemas.microsoft.com/office/drawing/2014/main" id="{D82CF5B8-EAF5-9260-AEBA-BC8FFAA67707}"/>
              </a:ext>
            </a:extLst>
          </p:cNvPr>
          <p:cNvGraphicFramePr>
            <a:graphicFrameLocks noGrp="1"/>
          </p:cNvGraphicFramePr>
          <p:nvPr>
            <p:ph idx="1"/>
            <p:extLst>
              <p:ext uri="{D42A27DB-BD31-4B8C-83A1-F6EECF244321}">
                <p14:modId xmlns:p14="http://schemas.microsoft.com/office/powerpoint/2010/main" val="1216155025"/>
              </p:ext>
            </p:extLst>
          </p:nvPr>
        </p:nvGraphicFramePr>
        <p:xfrm>
          <a:off x="2038241" y="1270000"/>
          <a:ext cx="8115518" cy="4318000"/>
        </p:xfrm>
        <a:graphic>
          <a:graphicData uri="http://schemas.openxmlformats.org/drawingml/2006/table">
            <a:tbl>
              <a:tblPr>
                <a:tableStyleId>{616DA210-FB5B-4158-B5E0-FEB733F419BA}</a:tableStyleId>
              </a:tblPr>
              <a:tblGrid>
                <a:gridCol w="1693181">
                  <a:extLst>
                    <a:ext uri="{9D8B030D-6E8A-4147-A177-3AD203B41FA5}">
                      <a16:colId xmlns:a16="http://schemas.microsoft.com/office/drawing/2014/main" val="539677317"/>
                    </a:ext>
                  </a:extLst>
                </a:gridCol>
                <a:gridCol w="2870518">
                  <a:extLst>
                    <a:ext uri="{9D8B030D-6E8A-4147-A177-3AD203B41FA5}">
                      <a16:colId xmlns:a16="http://schemas.microsoft.com/office/drawing/2014/main" val="697160819"/>
                    </a:ext>
                  </a:extLst>
                </a:gridCol>
                <a:gridCol w="3551819">
                  <a:extLst>
                    <a:ext uri="{9D8B030D-6E8A-4147-A177-3AD203B41FA5}">
                      <a16:colId xmlns:a16="http://schemas.microsoft.com/office/drawing/2014/main" val="75800076"/>
                    </a:ext>
                  </a:extLst>
                </a:gridCol>
              </a:tblGrid>
              <a:tr h="0">
                <a:tc>
                  <a:txBody>
                    <a:bodyPr/>
                    <a:lstStyle/>
                    <a:p>
                      <a:pPr algn="ctr" fontAlgn="ctr"/>
                      <a:r>
                        <a:rPr lang="en-GB" sz="2000" b="1" dirty="0">
                          <a:effectLst/>
                        </a:rPr>
                        <a:t>Year</a:t>
                      </a:r>
                      <a:endParaRPr lang="en-IN" sz="2000" b="1" dirty="0">
                        <a:effectLst/>
                      </a:endParaRPr>
                    </a:p>
                  </a:txBody>
                  <a:tcPr anchor="ctr"/>
                </a:tc>
                <a:tc>
                  <a:txBody>
                    <a:bodyPr/>
                    <a:lstStyle/>
                    <a:p>
                      <a:pPr algn="ctr" fontAlgn="ctr"/>
                      <a:r>
                        <a:rPr lang="en-GB" sz="2000" b="1" dirty="0">
                          <a:effectLst/>
                        </a:rPr>
                        <a:t>Gold Price 24 k (Per 10 g)</a:t>
                      </a:r>
                      <a:endParaRPr lang="en-IN" sz="2000" b="1" dirty="0">
                        <a:effectLst/>
                      </a:endParaRPr>
                    </a:p>
                  </a:txBody>
                  <a:tcPr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2000" b="1" dirty="0">
                          <a:solidFill>
                            <a:srgbClr val="314259"/>
                          </a:solidFill>
                          <a:effectLst/>
                        </a:rPr>
                        <a:t>Petrol Price (Per Litre)</a:t>
                      </a:r>
                      <a:endParaRPr lang="en-IN" sz="2000" b="1" dirty="0">
                        <a:solidFill>
                          <a:srgbClr val="314259"/>
                        </a:solidFill>
                        <a:effectLst/>
                      </a:endParaRPr>
                    </a:p>
                  </a:txBody>
                  <a:tcPr marL="63500" marR="63500" marT="63500" marB="63500" anchor="ctr"/>
                </a:tc>
                <a:extLst>
                  <a:ext uri="{0D108BD9-81ED-4DB2-BD59-A6C34878D82A}">
                    <a16:rowId xmlns:a16="http://schemas.microsoft.com/office/drawing/2014/main" val="3345536556"/>
                  </a:ext>
                </a:extLst>
              </a:tr>
              <a:tr h="0">
                <a:tc>
                  <a:txBody>
                    <a:bodyPr/>
                    <a:lstStyle/>
                    <a:p>
                      <a:pPr algn="ctr" fontAlgn="ctr"/>
                      <a:r>
                        <a:rPr lang="en-GB" sz="2000" dirty="0">
                          <a:effectLst/>
                        </a:rPr>
                        <a:t>2001</a:t>
                      </a:r>
                      <a:endParaRPr lang="en-IN" sz="2000" dirty="0">
                        <a:effectLst/>
                      </a:endParaRPr>
                    </a:p>
                  </a:txBody>
                  <a:tcPr anchor="ctr"/>
                </a:tc>
                <a:tc>
                  <a:txBody>
                    <a:bodyPr/>
                    <a:lstStyle/>
                    <a:p>
                      <a:pPr algn="r" fontAlgn="ctr"/>
                      <a:r>
                        <a:rPr lang="en-IN" sz="2000" b="0" i="0" kern="1200" dirty="0">
                          <a:solidFill>
                            <a:schemeClr val="tx1"/>
                          </a:solidFill>
                          <a:effectLst/>
                          <a:latin typeface="+mn-lt"/>
                          <a:ea typeface="+mn-ea"/>
                          <a:cs typeface="+mn-cs"/>
                        </a:rPr>
                        <a:t>4,300</a:t>
                      </a:r>
                      <a:endParaRPr lang="en-IN" sz="2000" dirty="0">
                        <a:effectLst/>
                      </a:endParaRPr>
                    </a:p>
                  </a:txBody>
                  <a:tcPr anchor="ctr"/>
                </a:tc>
                <a:tc>
                  <a:txBody>
                    <a:bodyPr/>
                    <a:lstStyle/>
                    <a:p>
                      <a:pPr algn="r" fontAlgn="t"/>
                      <a:r>
                        <a:rPr lang="en-GB" sz="2000" dirty="0">
                          <a:solidFill>
                            <a:srgbClr val="314259"/>
                          </a:solidFill>
                          <a:effectLst/>
                        </a:rPr>
                        <a:t>29</a:t>
                      </a:r>
                      <a:endParaRPr lang="en-IN" sz="2000" dirty="0">
                        <a:solidFill>
                          <a:srgbClr val="314259"/>
                        </a:solidFill>
                        <a:effectLst/>
                      </a:endParaRPr>
                    </a:p>
                  </a:txBody>
                  <a:tcPr marL="63500" marR="63500" marT="63500" marB="63500" anchor="ctr"/>
                </a:tc>
                <a:extLst>
                  <a:ext uri="{0D108BD9-81ED-4DB2-BD59-A6C34878D82A}">
                    <a16:rowId xmlns:a16="http://schemas.microsoft.com/office/drawing/2014/main" val="1222311770"/>
                  </a:ext>
                </a:extLst>
              </a:tr>
              <a:tr h="0">
                <a:tc>
                  <a:txBody>
                    <a:bodyPr/>
                    <a:lstStyle/>
                    <a:p>
                      <a:pPr algn="ctr" fontAlgn="ctr"/>
                      <a:r>
                        <a:rPr lang="en-GB" sz="2000" dirty="0">
                          <a:effectLst/>
                        </a:rPr>
                        <a:t>2005</a:t>
                      </a:r>
                      <a:endParaRPr lang="en-IN" sz="2000" dirty="0">
                        <a:effectLst/>
                      </a:endParaRPr>
                    </a:p>
                  </a:txBody>
                  <a:tcPr anchor="ctr"/>
                </a:tc>
                <a:tc>
                  <a:txBody>
                    <a:bodyPr/>
                    <a:lstStyle/>
                    <a:p>
                      <a:pPr algn="r" fontAlgn="ctr"/>
                      <a:r>
                        <a:rPr lang="en-IN" sz="2000" b="0" i="0" kern="1200" dirty="0">
                          <a:solidFill>
                            <a:schemeClr val="tx1"/>
                          </a:solidFill>
                          <a:effectLst/>
                          <a:latin typeface="+mn-lt"/>
                          <a:ea typeface="+mn-ea"/>
                          <a:cs typeface="+mn-cs"/>
                        </a:rPr>
                        <a:t>7,000</a:t>
                      </a:r>
                      <a:endParaRPr lang="en-IN" sz="2000" dirty="0">
                        <a:effectLst/>
                      </a:endParaRPr>
                    </a:p>
                  </a:txBody>
                  <a:tcPr anchor="ctr"/>
                </a:tc>
                <a:tc>
                  <a:txBody>
                    <a:bodyPr/>
                    <a:lstStyle/>
                    <a:p>
                      <a:pPr algn="r" fontAlgn="t"/>
                      <a:r>
                        <a:rPr lang="en-GB" sz="2000" dirty="0">
                          <a:solidFill>
                            <a:srgbClr val="314259"/>
                          </a:solidFill>
                          <a:effectLst/>
                        </a:rPr>
                        <a:t>38</a:t>
                      </a:r>
                      <a:endParaRPr lang="en-IN" sz="2000" dirty="0">
                        <a:solidFill>
                          <a:srgbClr val="314259"/>
                        </a:solidFill>
                        <a:effectLst/>
                      </a:endParaRPr>
                    </a:p>
                  </a:txBody>
                  <a:tcPr marL="63500" marR="63500" marT="63500" marB="63500" anchor="ctr"/>
                </a:tc>
                <a:extLst>
                  <a:ext uri="{0D108BD9-81ED-4DB2-BD59-A6C34878D82A}">
                    <a16:rowId xmlns:a16="http://schemas.microsoft.com/office/drawing/2014/main" val="2334687085"/>
                  </a:ext>
                </a:extLst>
              </a:tr>
              <a:tr h="0">
                <a:tc>
                  <a:txBody>
                    <a:bodyPr/>
                    <a:lstStyle/>
                    <a:p>
                      <a:pPr algn="ctr" fontAlgn="ctr"/>
                      <a:r>
                        <a:rPr lang="en-IN" sz="2000" dirty="0">
                          <a:effectLst/>
                        </a:rPr>
                        <a:t>2011</a:t>
                      </a:r>
                    </a:p>
                  </a:txBody>
                  <a:tcPr anchor="ctr"/>
                </a:tc>
                <a:tc>
                  <a:txBody>
                    <a:bodyPr/>
                    <a:lstStyle/>
                    <a:p>
                      <a:pPr algn="r" fontAlgn="ctr"/>
                      <a:r>
                        <a:rPr lang="en-IN" sz="2000" dirty="0">
                          <a:effectLst/>
                        </a:rPr>
                        <a:t>26,400</a:t>
                      </a:r>
                    </a:p>
                  </a:txBody>
                  <a:tcPr anchor="ctr"/>
                </a:tc>
                <a:tc>
                  <a:txBody>
                    <a:bodyPr/>
                    <a:lstStyle/>
                    <a:p>
                      <a:pPr algn="r" fontAlgn="t"/>
                      <a:r>
                        <a:rPr lang="en-IN" sz="2000" dirty="0">
                          <a:solidFill>
                            <a:srgbClr val="314259"/>
                          </a:solidFill>
                          <a:effectLst/>
                        </a:rPr>
                        <a:t>63.77</a:t>
                      </a:r>
                    </a:p>
                  </a:txBody>
                  <a:tcPr marL="63500" marR="63500" marT="63500" marB="63500" anchor="ctr"/>
                </a:tc>
                <a:extLst>
                  <a:ext uri="{0D108BD9-81ED-4DB2-BD59-A6C34878D82A}">
                    <a16:rowId xmlns:a16="http://schemas.microsoft.com/office/drawing/2014/main" val="3590607096"/>
                  </a:ext>
                </a:extLst>
              </a:tr>
              <a:tr h="0">
                <a:tc>
                  <a:txBody>
                    <a:bodyPr/>
                    <a:lstStyle/>
                    <a:p>
                      <a:pPr algn="ctr" fontAlgn="ctr"/>
                      <a:r>
                        <a:rPr lang="en-IN" sz="2000">
                          <a:effectLst/>
                        </a:rPr>
                        <a:t>2015</a:t>
                      </a:r>
                    </a:p>
                  </a:txBody>
                  <a:tcPr anchor="ctr"/>
                </a:tc>
                <a:tc>
                  <a:txBody>
                    <a:bodyPr/>
                    <a:lstStyle/>
                    <a:p>
                      <a:pPr algn="r" fontAlgn="ctr"/>
                      <a:r>
                        <a:rPr lang="en-IN" sz="2000" dirty="0">
                          <a:effectLst/>
                        </a:rPr>
                        <a:t>26,343</a:t>
                      </a:r>
                    </a:p>
                  </a:txBody>
                  <a:tcPr anchor="ctr"/>
                </a:tc>
                <a:tc>
                  <a:txBody>
                    <a:bodyPr/>
                    <a:lstStyle/>
                    <a:p>
                      <a:pPr algn="r" fontAlgn="t"/>
                      <a:r>
                        <a:rPr lang="en-IN" sz="2000">
                          <a:solidFill>
                            <a:srgbClr val="314259"/>
                          </a:solidFill>
                          <a:effectLst/>
                        </a:rPr>
                        <a:t>60.50</a:t>
                      </a:r>
                    </a:p>
                  </a:txBody>
                  <a:tcPr marL="63500" marR="63500" marT="63500" marB="63500" anchor="ctr"/>
                </a:tc>
                <a:extLst>
                  <a:ext uri="{0D108BD9-81ED-4DB2-BD59-A6C34878D82A}">
                    <a16:rowId xmlns:a16="http://schemas.microsoft.com/office/drawing/2014/main" val="1842804981"/>
                  </a:ext>
                </a:extLst>
              </a:tr>
              <a:tr h="0">
                <a:tc>
                  <a:txBody>
                    <a:bodyPr/>
                    <a:lstStyle/>
                    <a:p>
                      <a:pPr algn="ctr" fontAlgn="ctr"/>
                      <a:r>
                        <a:rPr lang="en-IN" sz="2000">
                          <a:effectLst/>
                        </a:rPr>
                        <a:t>2021</a:t>
                      </a:r>
                    </a:p>
                  </a:txBody>
                  <a:tcPr anchor="ctr"/>
                </a:tc>
                <a:tc>
                  <a:txBody>
                    <a:bodyPr/>
                    <a:lstStyle/>
                    <a:p>
                      <a:pPr algn="r" fontAlgn="ctr"/>
                      <a:r>
                        <a:rPr lang="en-IN" sz="2000" dirty="0">
                          <a:effectLst/>
                        </a:rPr>
                        <a:t>48,720</a:t>
                      </a:r>
                    </a:p>
                  </a:txBody>
                  <a:tcPr anchor="ctr"/>
                </a:tc>
                <a:tc>
                  <a:txBody>
                    <a:bodyPr/>
                    <a:lstStyle/>
                    <a:p>
                      <a:pPr algn="r" fontAlgn="t"/>
                      <a:r>
                        <a:rPr lang="en-IN" sz="2000" dirty="0">
                          <a:solidFill>
                            <a:srgbClr val="314259"/>
                          </a:solidFill>
                          <a:effectLst/>
                        </a:rPr>
                        <a:t>95.41</a:t>
                      </a:r>
                    </a:p>
                  </a:txBody>
                  <a:tcPr marL="63500" marR="63500" marT="63500" marB="63500" anchor="ctr"/>
                </a:tc>
                <a:extLst>
                  <a:ext uri="{0D108BD9-81ED-4DB2-BD59-A6C34878D82A}">
                    <a16:rowId xmlns:a16="http://schemas.microsoft.com/office/drawing/2014/main" val="2540786907"/>
                  </a:ext>
                </a:extLst>
              </a:tr>
              <a:tr h="0">
                <a:tc>
                  <a:txBody>
                    <a:bodyPr/>
                    <a:lstStyle/>
                    <a:p>
                      <a:pPr algn="ctr" fontAlgn="ctr"/>
                      <a:r>
                        <a:rPr lang="en-IN" sz="2000">
                          <a:effectLst/>
                        </a:rPr>
                        <a:t>2022</a:t>
                      </a:r>
                    </a:p>
                  </a:txBody>
                  <a:tcPr anchor="ctr"/>
                </a:tc>
                <a:tc>
                  <a:txBody>
                    <a:bodyPr/>
                    <a:lstStyle/>
                    <a:p>
                      <a:pPr algn="r" fontAlgn="ctr"/>
                      <a:r>
                        <a:rPr lang="en-IN" sz="2000" dirty="0">
                          <a:effectLst/>
                        </a:rPr>
                        <a:t>52,670</a:t>
                      </a:r>
                    </a:p>
                  </a:txBody>
                  <a:tcPr anchor="ctr"/>
                </a:tc>
                <a:tc>
                  <a:txBody>
                    <a:bodyPr/>
                    <a:lstStyle/>
                    <a:p>
                      <a:pPr algn="r" fontAlgn="t"/>
                      <a:r>
                        <a:rPr lang="en-IN" sz="2000" dirty="0">
                          <a:solidFill>
                            <a:srgbClr val="314259"/>
                          </a:solidFill>
                          <a:effectLst/>
                        </a:rPr>
                        <a:t>95</a:t>
                      </a:r>
                    </a:p>
                  </a:txBody>
                  <a:tcPr marL="63500" marR="63500" marT="63500" marB="63500" anchor="ctr"/>
                </a:tc>
                <a:extLst>
                  <a:ext uri="{0D108BD9-81ED-4DB2-BD59-A6C34878D82A}">
                    <a16:rowId xmlns:a16="http://schemas.microsoft.com/office/drawing/2014/main" val="3164487334"/>
                  </a:ext>
                </a:extLst>
              </a:tr>
              <a:tr h="0">
                <a:tc>
                  <a:txBody>
                    <a:bodyPr/>
                    <a:lstStyle/>
                    <a:p>
                      <a:pPr algn="ctr" fontAlgn="ctr"/>
                      <a:r>
                        <a:rPr lang="en-IN" sz="2000" dirty="0">
                          <a:effectLst/>
                        </a:rPr>
                        <a:t> 2023 </a:t>
                      </a:r>
                    </a:p>
                  </a:txBody>
                  <a:tcPr anchor="ctr"/>
                </a:tc>
                <a:tc>
                  <a:txBody>
                    <a:bodyPr/>
                    <a:lstStyle/>
                    <a:p>
                      <a:pPr algn="r" fontAlgn="ctr"/>
                      <a:r>
                        <a:rPr lang="en-IN" sz="2000" dirty="0">
                          <a:effectLst/>
                        </a:rPr>
                        <a:t>65,330</a:t>
                      </a:r>
                    </a:p>
                  </a:txBody>
                  <a:tcPr anchor="ctr"/>
                </a:tc>
                <a:tc>
                  <a:txBody>
                    <a:bodyPr/>
                    <a:lstStyle/>
                    <a:p>
                      <a:pPr algn="r" fontAlgn="t"/>
                      <a:r>
                        <a:rPr lang="en-IN" sz="2000" dirty="0">
                          <a:solidFill>
                            <a:srgbClr val="314259"/>
                          </a:solidFill>
                          <a:effectLst/>
                        </a:rPr>
                        <a:t>98</a:t>
                      </a:r>
                    </a:p>
                  </a:txBody>
                  <a:tcPr marL="63500" marR="63500" marT="63500" marB="63500" anchor="ctr"/>
                </a:tc>
                <a:extLst>
                  <a:ext uri="{0D108BD9-81ED-4DB2-BD59-A6C34878D82A}">
                    <a16:rowId xmlns:a16="http://schemas.microsoft.com/office/drawing/2014/main" val="1395102062"/>
                  </a:ext>
                </a:extLst>
              </a:tr>
              <a:tr h="0">
                <a:tc>
                  <a:txBody>
                    <a:bodyPr/>
                    <a:lstStyle/>
                    <a:p>
                      <a:pPr algn="ctr" fontAlgn="ctr"/>
                      <a:r>
                        <a:rPr lang="en-IN" sz="2000">
                          <a:effectLst/>
                        </a:rPr>
                        <a:t>2024</a:t>
                      </a:r>
                    </a:p>
                  </a:txBody>
                  <a:tcPr anchor="ctr"/>
                </a:tc>
                <a:tc>
                  <a:txBody>
                    <a:bodyPr/>
                    <a:lstStyle/>
                    <a:p>
                      <a:pPr algn="r" fontAlgn="ctr"/>
                      <a:r>
                        <a:rPr lang="en-IN" sz="2000" dirty="0">
                          <a:effectLst/>
                        </a:rPr>
                        <a:t>77,913</a:t>
                      </a:r>
                    </a:p>
                  </a:txBody>
                  <a:tcPr anchor="ctr"/>
                </a:tc>
                <a:tc>
                  <a:txBody>
                    <a:bodyPr/>
                    <a:lstStyle/>
                    <a:p>
                      <a:pPr algn="r" fontAlgn="t"/>
                      <a:r>
                        <a:rPr lang="en-IN" sz="2000" dirty="0">
                          <a:solidFill>
                            <a:srgbClr val="314259"/>
                          </a:solidFill>
                          <a:effectLst/>
                        </a:rPr>
                        <a:t>100</a:t>
                      </a:r>
                    </a:p>
                  </a:txBody>
                  <a:tcPr marL="63500" marR="63500" marT="63500" marB="63500" anchor="ctr"/>
                </a:tc>
                <a:extLst>
                  <a:ext uri="{0D108BD9-81ED-4DB2-BD59-A6C34878D82A}">
                    <a16:rowId xmlns:a16="http://schemas.microsoft.com/office/drawing/2014/main" val="2629326166"/>
                  </a:ext>
                </a:extLst>
              </a:tr>
              <a:tr h="0">
                <a:tc>
                  <a:txBody>
                    <a:bodyPr/>
                    <a:lstStyle/>
                    <a:p>
                      <a:pPr algn="ctr" fontAlgn="ctr"/>
                      <a:r>
                        <a:rPr lang="en-IN" sz="2000" dirty="0">
                          <a:effectLst/>
                        </a:rPr>
                        <a:t>2025</a:t>
                      </a:r>
                    </a:p>
                  </a:txBody>
                  <a:tcPr anchor="ctr"/>
                </a:tc>
                <a:tc>
                  <a:txBody>
                    <a:bodyPr/>
                    <a:lstStyle/>
                    <a:p>
                      <a:pPr algn="r" fontAlgn="ctr"/>
                      <a:r>
                        <a:rPr lang="en-IN" sz="2000" dirty="0">
                          <a:effectLst/>
                        </a:rPr>
                        <a:t>1,04,000</a:t>
                      </a:r>
                    </a:p>
                  </a:txBody>
                  <a:tcPr anchor="ctr"/>
                </a:tc>
                <a:tc>
                  <a:txBody>
                    <a:bodyPr/>
                    <a:lstStyle/>
                    <a:p>
                      <a:pPr algn="r" fontAlgn="t"/>
                      <a:r>
                        <a:rPr lang="en-IN" sz="2000" dirty="0">
                          <a:solidFill>
                            <a:srgbClr val="314259"/>
                          </a:solidFill>
                          <a:effectLst/>
                        </a:rPr>
                        <a:t>105</a:t>
                      </a:r>
                    </a:p>
                  </a:txBody>
                  <a:tcPr marL="63500" marR="63500" marT="63500" marB="63500" anchor="ctr"/>
                </a:tc>
                <a:extLst>
                  <a:ext uri="{0D108BD9-81ED-4DB2-BD59-A6C34878D82A}">
                    <a16:rowId xmlns:a16="http://schemas.microsoft.com/office/drawing/2014/main" val="4132210897"/>
                  </a:ext>
                </a:extLst>
              </a:tr>
            </a:tbl>
          </a:graphicData>
        </a:graphic>
      </p:graphicFrame>
    </p:spTree>
    <p:extLst>
      <p:ext uri="{BB962C8B-B14F-4D97-AF65-F5344CB8AC3E}">
        <p14:creationId xmlns:p14="http://schemas.microsoft.com/office/powerpoint/2010/main" val="722917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81C5D-B16F-3786-041F-055E4C202B52}"/>
              </a:ext>
            </a:extLst>
          </p:cNvPr>
          <p:cNvSpPr>
            <a:spLocks noGrp="1"/>
          </p:cNvSpPr>
          <p:nvPr>
            <p:ph type="title"/>
          </p:nvPr>
        </p:nvSpPr>
        <p:spPr/>
        <p:txBody>
          <a:bodyPr>
            <a:normAutofit/>
          </a:bodyPr>
          <a:lstStyle/>
          <a:p>
            <a:r>
              <a:rPr lang="en-US" dirty="0"/>
              <a:t>Time Value of Money</a:t>
            </a:r>
            <a:endParaRPr lang="en-IN" dirty="0"/>
          </a:p>
        </p:txBody>
      </p:sp>
      <p:sp>
        <p:nvSpPr>
          <p:cNvPr id="3" name="Content Placeholder 2">
            <a:extLst>
              <a:ext uri="{FF2B5EF4-FFF2-40B4-BE49-F238E27FC236}">
                <a16:creationId xmlns:a16="http://schemas.microsoft.com/office/drawing/2014/main" id="{C9065824-356C-F23F-D78C-C416D7740CA8}"/>
              </a:ext>
            </a:extLst>
          </p:cNvPr>
          <p:cNvSpPr>
            <a:spLocks noGrp="1"/>
          </p:cNvSpPr>
          <p:nvPr>
            <p:ph idx="1"/>
          </p:nvPr>
        </p:nvSpPr>
        <p:spPr/>
        <p:txBody>
          <a:bodyPr/>
          <a:lstStyle/>
          <a:p>
            <a:r>
              <a:rPr lang="en-GB" dirty="0"/>
              <a:t>Time value of money is financial concept which states that </a:t>
            </a:r>
            <a:r>
              <a:rPr lang="en-GB" b="1" dirty="0">
                <a:solidFill>
                  <a:srgbClr val="C00000"/>
                </a:solidFill>
              </a:rPr>
              <a:t>some of money is worth more than the sum amount in future.</a:t>
            </a:r>
          </a:p>
          <a:p>
            <a:r>
              <a:rPr lang="en-GB" dirty="0"/>
              <a:t>This is because money has </a:t>
            </a:r>
            <a:r>
              <a:rPr lang="en-GB" b="1" dirty="0">
                <a:solidFill>
                  <a:srgbClr val="C00000"/>
                </a:solidFill>
              </a:rPr>
              <a:t>potential capacity to earn interest or return.</a:t>
            </a:r>
          </a:p>
          <a:p>
            <a:r>
              <a:rPr lang="en-GB" dirty="0"/>
              <a:t>This can also be invested to grow in value over a period of time.</a:t>
            </a:r>
          </a:p>
          <a:p>
            <a:pPr marL="0" indent="0" algn="just">
              <a:buNone/>
            </a:pPr>
            <a:endParaRPr lang="en-GB" dirty="0"/>
          </a:p>
          <a:p>
            <a:endParaRPr lang="en-IN" dirty="0"/>
          </a:p>
        </p:txBody>
      </p:sp>
    </p:spTree>
    <p:extLst>
      <p:ext uri="{BB962C8B-B14F-4D97-AF65-F5344CB8AC3E}">
        <p14:creationId xmlns:p14="http://schemas.microsoft.com/office/powerpoint/2010/main" val="15872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04AB-9668-49D9-AA47-CB0E87D547E5}"/>
              </a:ext>
            </a:extLst>
          </p:cNvPr>
          <p:cNvSpPr>
            <a:spLocks noGrp="1"/>
          </p:cNvSpPr>
          <p:nvPr>
            <p:ph type="title"/>
          </p:nvPr>
        </p:nvSpPr>
        <p:spPr/>
        <p:txBody>
          <a:bodyPr/>
          <a:lstStyle/>
          <a:p>
            <a:pPr>
              <a:defRPr/>
            </a:pPr>
            <a:r>
              <a:rPr lang="en-US" dirty="0"/>
              <a:t>Concept of Time Value of Money</a:t>
            </a:r>
            <a:endParaRPr lang="en-IN" dirty="0"/>
          </a:p>
        </p:txBody>
      </p:sp>
      <p:sp>
        <p:nvSpPr>
          <p:cNvPr id="10243" name="Content Placeholder 7">
            <a:extLst>
              <a:ext uri="{FF2B5EF4-FFF2-40B4-BE49-F238E27FC236}">
                <a16:creationId xmlns:a16="http://schemas.microsoft.com/office/drawing/2014/main" id="{76DE7518-ADE4-4B46-A9A7-B773E08234BC}"/>
              </a:ext>
            </a:extLst>
          </p:cNvPr>
          <p:cNvSpPr>
            <a:spLocks noGrp="1"/>
          </p:cNvSpPr>
          <p:nvPr>
            <p:ph idx="1"/>
          </p:nvPr>
        </p:nvSpPr>
        <p:spPr>
          <a:xfrm>
            <a:off x="131181" y="863444"/>
            <a:ext cx="5964820" cy="5590565"/>
          </a:xfrm>
        </p:spPr>
        <p:txBody>
          <a:bodyPr/>
          <a:lstStyle/>
          <a:p>
            <a:r>
              <a:rPr lang="en-IN" altLang="en-US" dirty="0"/>
              <a:t>The concept of the </a:t>
            </a:r>
            <a:r>
              <a:rPr lang="en-IN" altLang="en-US" b="1" dirty="0"/>
              <a:t>time value of money </a:t>
            </a:r>
            <a:r>
              <a:rPr lang="en-IN" altLang="en-US" dirty="0"/>
              <a:t>implies that the </a:t>
            </a:r>
            <a:r>
              <a:rPr lang="en-IN" altLang="en-US" b="1" dirty="0">
                <a:solidFill>
                  <a:srgbClr val="C00000"/>
                </a:solidFill>
              </a:rPr>
              <a:t>value of money depends on the time when it is received.</a:t>
            </a:r>
          </a:p>
          <a:p>
            <a:r>
              <a:rPr lang="en-IN" altLang="en-US" dirty="0"/>
              <a:t>The </a:t>
            </a:r>
            <a:r>
              <a:rPr lang="en-IN" altLang="en-US" b="1" dirty="0">
                <a:solidFill>
                  <a:srgbClr val="C00000"/>
                </a:solidFill>
              </a:rPr>
              <a:t>simple concept of the value of money is that the value of money received today is more than the value of the same amount of money received after a certain period.</a:t>
            </a:r>
          </a:p>
          <a:p>
            <a:r>
              <a:rPr lang="en-IN" altLang="en-US" b="1" dirty="0"/>
              <a:t>Money received in the future is not as valuable as money received today.  </a:t>
            </a:r>
          </a:p>
        </p:txBody>
      </p:sp>
      <p:pic>
        <p:nvPicPr>
          <p:cNvPr id="2050" name="Picture 2" descr="Money Rupees Icon: Over 14,887 Royalty-Free Licensable Stock Illustrations  &amp; Drawings | Shutterstock">
            <a:extLst>
              <a:ext uri="{FF2B5EF4-FFF2-40B4-BE49-F238E27FC236}">
                <a16:creationId xmlns:a16="http://schemas.microsoft.com/office/drawing/2014/main" id="{148F403A-4CC8-4D39-983E-70E8A72004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935"/>
          <a:stretch/>
        </p:blipFill>
        <p:spPr bwMode="auto">
          <a:xfrm>
            <a:off x="5969187" y="2294659"/>
            <a:ext cx="3095625" cy="226868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oney Rupees Icon: Over 14,887 Royalty-Free Licensable Stock Illustrations  &amp; Drawings | Shutterstock">
            <a:extLst>
              <a:ext uri="{FF2B5EF4-FFF2-40B4-BE49-F238E27FC236}">
                <a16:creationId xmlns:a16="http://schemas.microsoft.com/office/drawing/2014/main" id="{29E18C55-3E11-4655-A5F1-4B1FD79E49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935"/>
          <a:stretch/>
        </p:blipFill>
        <p:spPr bwMode="auto">
          <a:xfrm>
            <a:off x="9836727" y="2951017"/>
            <a:ext cx="2011907" cy="14131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583EC20-4721-4B20-B6F7-DA56C9C06643}"/>
              </a:ext>
            </a:extLst>
          </p:cNvPr>
          <p:cNvSpPr txBox="1"/>
          <p:nvPr/>
        </p:nvSpPr>
        <p:spPr>
          <a:xfrm>
            <a:off x="6486283" y="4563341"/>
            <a:ext cx="2315057" cy="369332"/>
          </a:xfrm>
          <a:prstGeom prst="rect">
            <a:avLst/>
          </a:prstGeom>
          <a:noFill/>
        </p:spPr>
        <p:txBody>
          <a:bodyPr wrap="none" rtlCol="0">
            <a:spAutoFit/>
          </a:bodyPr>
          <a:lstStyle/>
          <a:p>
            <a:r>
              <a:rPr lang="en-US" b="1" dirty="0">
                <a:solidFill>
                  <a:srgbClr val="FF0000"/>
                </a:solidFill>
              </a:rPr>
              <a:t>Money Received Today</a:t>
            </a:r>
            <a:endParaRPr lang="en-IN" b="1" dirty="0">
              <a:solidFill>
                <a:srgbClr val="FF0000"/>
              </a:solidFill>
            </a:endParaRPr>
          </a:p>
        </p:txBody>
      </p:sp>
      <p:sp>
        <p:nvSpPr>
          <p:cNvPr id="7" name="TextBox 6">
            <a:extLst>
              <a:ext uri="{FF2B5EF4-FFF2-40B4-BE49-F238E27FC236}">
                <a16:creationId xmlns:a16="http://schemas.microsoft.com/office/drawing/2014/main" id="{8E895ABE-AE1D-4BE3-8C3C-E2D6E99D5764}"/>
              </a:ext>
            </a:extLst>
          </p:cNvPr>
          <p:cNvSpPr txBox="1"/>
          <p:nvPr/>
        </p:nvSpPr>
        <p:spPr>
          <a:xfrm>
            <a:off x="9492488" y="4563341"/>
            <a:ext cx="2568332" cy="369332"/>
          </a:xfrm>
          <a:prstGeom prst="rect">
            <a:avLst/>
          </a:prstGeom>
          <a:noFill/>
        </p:spPr>
        <p:txBody>
          <a:bodyPr wrap="none" rtlCol="0">
            <a:spAutoFit/>
          </a:bodyPr>
          <a:lstStyle/>
          <a:p>
            <a:r>
              <a:rPr lang="en-US" b="1" dirty="0">
                <a:solidFill>
                  <a:srgbClr val="FF0000"/>
                </a:solidFill>
              </a:rPr>
              <a:t>Money Received in Future</a:t>
            </a:r>
            <a:endParaRPr lang="en-IN" b="1" dirty="0">
              <a:solidFill>
                <a:srgbClr val="FF0000"/>
              </a:solidFill>
            </a:endParaRPr>
          </a:p>
        </p:txBody>
      </p:sp>
      <p:sp>
        <p:nvSpPr>
          <p:cNvPr id="9" name="TextBox 8">
            <a:extLst>
              <a:ext uri="{FF2B5EF4-FFF2-40B4-BE49-F238E27FC236}">
                <a16:creationId xmlns:a16="http://schemas.microsoft.com/office/drawing/2014/main" id="{1A82FEAE-4B35-4419-868A-1C4B5A303ED7}"/>
              </a:ext>
            </a:extLst>
          </p:cNvPr>
          <p:cNvSpPr txBox="1"/>
          <p:nvPr/>
        </p:nvSpPr>
        <p:spPr>
          <a:xfrm>
            <a:off x="9064812" y="3104728"/>
            <a:ext cx="554489" cy="1107996"/>
          </a:xfrm>
          <a:prstGeom prst="rect">
            <a:avLst/>
          </a:prstGeom>
          <a:noFill/>
        </p:spPr>
        <p:txBody>
          <a:bodyPr wrap="square" rtlCol="0">
            <a:spAutoFit/>
          </a:bodyPr>
          <a:lstStyle/>
          <a:p>
            <a:r>
              <a:rPr lang="en-US" sz="6600" b="1" dirty="0">
                <a:solidFill>
                  <a:srgbClr val="FF0000"/>
                </a:solidFill>
              </a:rPr>
              <a:t>&gt;</a:t>
            </a:r>
            <a:endParaRPr lang="en-IN" sz="6600" b="1" dirty="0">
              <a:solidFill>
                <a:srgbClr val="FF0000"/>
              </a:solidFill>
            </a:endParaRPr>
          </a:p>
        </p:txBody>
      </p:sp>
    </p:spTree>
    <p:extLst>
      <p:ext uri="{BB962C8B-B14F-4D97-AF65-F5344CB8AC3E}">
        <p14:creationId xmlns:p14="http://schemas.microsoft.com/office/powerpoint/2010/main" val="155600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68301-4010-DF98-6CD4-6446BC3D6F17}"/>
              </a:ext>
            </a:extLst>
          </p:cNvPr>
          <p:cNvSpPr>
            <a:spLocks noGrp="1"/>
          </p:cNvSpPr>
          <p:nvPr>
            <p:ph type="title"/>
          </p:nvPr>
        </p:nvSpPr>
        <p:spPr/>
        <p:txBody>
          <a:bodyPr>
            <a:normAutofit/>
          </a:bodyPr>
          <a:lstStyle/>
          <a:p>
            <a:r>
              <a:rPr lang="en-GB" dirty="0"/>
              <a:t>Why is Money Worth More Today?</a:t>
            </a:r>
            <a:endParaRPr lang="en-IN" dirty="0"/>
          </a:p>
        </p:txBody>
      </p:sp>
      <p:graphicFrame>
        <p:nvGraphicFramePr>
          <p:cNvPr id="4" name="Content Placeholder 3">
            <a:extLst>
              <a:ext uri="{FF2B5EF4-FFF2-40B4-BE49-F238E27FC236}">
                <a16:creationId xmlns:a16="http://schemas.microsoft.com/office/drawing/2014/main" id="{2D165085-0DAF-05FF-66C1-BC566117DC68}"/>
              </a:ext>
            </a:extLst>
          </p:cNvPr>
          <p:cNvGraphicFramePr>
            <a:graphicFrameLocks noGrp="1"/>
          </p:cNvGraphicFramePr>
          <p:nvPr>
            <p:ph idx="1"/>
            <p:extLst>
              <p:ext uri="{D42A27DB-BD31-4B8C-83A1-F6EECF244321}">
                <p14:modId xmlns:p14="http://schemas.microsoft.com/office/powerpoint/2010/main" val="233060541"/>
              </p:ext>
            </p:extLst>
          </p:nvPr>
        </p:nvGraphicFramePr>
        <p:xfrm>
          <a:off x="131763" y="863601"/>
          <a:ext cx="11928475" cy="508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7483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C5B35A40-7176-432A-A08F-D2C24D3AABE1}"/>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6FDA055D-5E2F-4FE8-B0B8-B8B0256573E0}"/>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7FAE81B3-DE8F-427D-AEA5-13B7F34C61EE}"/>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5EB0DC7A-C96A-4D7E-8FDE-727864B8FAF4}"/>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1B1B2A84-2A64-4D68-81F6-9714B0D3B3D0}"/>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5C9AC65A-F7C4-417F-801A-BF8EDBBF5DDF}"/>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graphicEl>
                                              <a:dgm id="{E0BAD9FA-BFA3-4C3B-98DB-0B4772B1E412}"/>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0D3DF23F-9B24-4712-9056-C3DD51B799B0}"/>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9EACB-5885-0205-769F-AE8BA6DD063E}"/>
              </a:ext>
            </a:extLst>
          </p:cNvPr>
          <p:cNvSpPr>
            <a:spLocks noGrp="1"/>
          </p:cNvSpPr>
          <p:nvPr>
            <p:ph type="title"/>
          </p:nvPr>
        </p:nvSpPr>
        <p:spPr/>
        <p:txBody>
          <a:bodyPr/>
          <a:lstStyle/>
          <a:p>
            <a:r>
              <a:rPr lang="en-IN" dirty="0"/>
              <a:t>Important Terms</a:t>
            </a:r>
          </a:p>
        </p:txBody>
      </p:sp>
      <p:graphicFrame>
        <p:nvGraphicFramePr>
          <p:cNvPr id="6" name="Content Placeholder 5">
            <a:extLst>
              <a:ext uri="{FF2B5EF4-FFF2-40B4-BE49-F238E27FC236}">
                <a16:creationId xmlns:a16="http://schemas.microsoft.com/office/drawing/2014/main" id="{492BCAEA-CF68-3EA1-BBC6-53A5FC2DD86B}"/>
              </a:ext>
            </a:extLst>
          </p:cNvPr>
          <p:cNvGraphicFramePr>
            <a:graphicFrameLocks noGrp="1"/>
          </p:cNvGraphicFramePr>
          <p:nvPr>
            <p:ph idx="1"/>
            <p:extLst>
              <p:ext uri="{D42A27DB-BD31-4B8C-83A1-F6EECF244321}">
                <p14:modId xmlns:p14="http://schemas.microsoft.com/office/powerpoint/2010/main" val="488237373"/>
              </p:ext>
            </p:extLst>
          </p:nvPr>
        </p:nvGraphicFramePr>
        <p:xfrm>
          <a:off x="374073" y="942109"/>
          <a:ext cx="11430000" cy="4404291"/>
        </p:xfrm>
        <a:graphic>
          <a:graphicData uri="http://schemas.openxmlformats.org/drawingml/2006/table">
            <a:tbl>
              <a:tblPr firstRow="1" bandRow="1">
                <a:tableStyleId>{912C8C85-51F0-491E-9774-3900AFEF0FD7}</a:tableStyleId>
              </a:tblPr>
              <a:tblGrid>
                <a:gridCol w="1814945">
                  <a:extLst>
                    <a:ext uri="{9D8B030D-6E8A-4147-A177-3AD203B41FA5}">
                      <a16:colId xmlns:a16="http://schemas.microsoft.com/office/drawing/2014/main" val="20001"/>
                    </a:ext>
                  </a:extLst>
                </a:gridCol>
                <a:gridCol w="9615055">
                  <a:extLst>
                    <a:ext uri="{9D8B030D-6E8A-4147-A177-3AD203B41FA5}">
                      <a16:colId xmlns:a16="http://schemas.microsoft.com/office/drawing/2014/main" val="20002"/>
                    </a:ext>
                  </a:extLst>
                </a:gridCol>
              </a:tblGrid>
              <a:tr h="632206">
                <a:tc>
                  <a:txBody>
                    <a:bodyPr/>
                    <a:lstStyle/>
                    <a:p>
                      <a:r>
                        <a:rPr lang="en-IN" sz="2800" dirty="0"/>
                        <a:t>Short Form</a:t>
                      </a:r>
                    </a:p>
                  </a:txBody>
                  <a:tcPr marT="45724" marB="45724"/>
                </a:tc>
                <a:tc>
                  <a:txBody>
                    <a:bodyPr/>
                    <a:lstStyle/>
                    <a:p>
                      <a:r>
                        <a:rPr lang="en-IN" sz="2800" dirty="0"/>
                        <a:t>Description</a:t>
                      </a:r>
                    </a:p>
                  </a:txBody>
                  <a:tcPr marT="45724" marB="45724"/>
                </a:tc>
                <a:extLst>
                  <a:ext uri="{0D108BD9-81ED-4DB2-BD59-A6C34878D82A}">
                    <a16:rowId xmlns:a16="http://schemas.microsoft.com/office/drawing/2014/main" val="10000"/>
                  </a:ext>
                </a:extLst>
              </a:tr>
              <a:tr h="632206">
                <a:tc>
                  <a:txBody>
                    <a:bodyPr/>
                    <a:lstStyle/>
                    <a:p>
                      <a:r>
                        <a:rPr lang="en-IN" sz="2800" dirty="0"/>
                        <a:t>PV</a:t>
                      </a:r>
                    </a:p>
                  </a:txBody>
                  <a:tcPr marT="45724" marB="45724"/>
                </a:tc>
                <a:tc>
                  <a:txBody>
                    <a:bodyPr/>
                    <a:lstStyle/>
                    <a:p>
                      <a:r>
                        <a:rPr lang="en-IN" sz="2800" dirty="0"/>
                        <a:t>Present Value – Current value of money</a:t>
                      </a:r>
                    </a:p>
                  </a:txBody>
                  <a:tcPr marT="45724" marB="45724"/>
                </a:tc>
                <a:extLst>
                  <a:ext uri="{0D108BD9-81ED-4DB2-BD59-A6C34878D82A}">
                    <a16:rowId xmlns:a16="http://schemas.microsoft.com/office/drawing/2014/main" val="10001"/>
                  </a:ext>
                </a:extLst>
              </a:tr>
              <a:tr h="632206">
                <a:tc>
                  <a:txBody>
                    <a:bodyPr/>
                    <a:lstStyle/>
                    <a:p>
                      <a:r>
                        <a:rPr lang="en-IN" sz="2800" dirty="0"/>
                        <a:t>FV</a:t>
                      </a:r>
                    </a:p>
                  </a:txBody>
                  <a:tcPr marT="45724" marB="45724"/>
                </a:tc>
                <a:tc>
                  <a:txBody>
                    <a:bodyPr/>
                    <a:lstStyle/>
                    <a:p>
                      <a:r>
                        <a:rPr lang="en-IN" sz="2800" dirty="0"/>
                        <a:t>Future Value – Value of current money at a future date with interest</a:t>
                      </a:r>
                    </a:p>
                  </a:txBody>
                  <a:tcPr marT="45724" marB="45724"/>
                </a:tc>
                <a:extLst>
                  <a:ext uri="{0D108BD9-81ED-4DB2-BD59-A6C34878D82A}">
                    <a16:rowId xmlns:a16="http://schemas.microsoft.com/office/drawing/2014/main" val="10002"/>
                  </a:ext>
                </a:extLst>
              </a:tr>
              <a:tr h="611055">
                <a:tc>
                  <a:txBody>
                    <a:bodyPr/>
                    <a:lstStyle/>
                    <a:p>
                      <a:r>
                        <a:rPr lang="en-IN" sz="2800" dirty="0"/>
                        <a:t>r</a:t>
                      </a:r>
                    </a:p>
                  </a:txBody>
                  <a:tcPr marT="45724" marB="45724"/>
                </a:tc>
                <a:tc>
                  <a:txBody>
                    <a:bodyPr/>
                    <a:lstStyle/>
                    <a:p>
                      <a:r>
                        <a:rPr lang="en-IN" sz="2800" dirty="0"/>
                        <a:t>Rate of Interest </a:t>
                      </a:r>
                      <a:r>
                        <a:rPr lang="en-GB" sz="2800" dirty="0"/>
                        <a:t>at which money grows over a period of time</a:t>
                      </a:r>
                      <a:endParaRPr lang="en-IN" sz="2800" dirty="0"/>
                    </a:p>
                  </a:txBody>
                  <a:tcPr marT="45724" marB="45724"/>
                </a:tc>
                <a:extLst>
                  <a:ext uri="{0D108BD9-81ED-4DB2-BD59-A6C34878D82A}">
                    <a16:rowId xmlns:a16="http://schemas.microsoft.com/office/drawing/2014/main" val="10003"/>
                  </a:ext>
                </a:extLst>
              </a:tr>
              <a:tr h="632206">
                <a:tc>
                  <a:txBody>
                    <a:bodyPr/>
                    <a:lstStyle/>
                    <a:p>
                      <a:r>
                        <a:rPr lang="en-IN" sz="2800" dirty="0"/>
                        <a:t>n</a:t>
                      </a:r>
                    </a:p>
                  </a:txBody>
                  <a:tcPr marT="45724" marB="45724"/>
                </a:tc>
                <a:tc>
                  <a:txBody>
                    <a:bodyPr/>
                    <a:lstStyle/>
                    <a:p>
                      <a:r>
                        <a:rPr lang="en-IN" sz="2800" dirty="0"/>
                        <a:t>Number of years or months for which money is invested</a:t>
                      </a:r>
                    </a:p>
                  </a:txBody>
                  <a:tcPr marT="45724" marB="45724"/>
                </a:tc>
                <a:extLst>
                  <a:ext uri="{0D108BD9-81ED-4DB2-BD59-A6C34878D82A}">
                    <a16:rowId xmlns:a16="http://schemas.microsoft.com/office/drawing/2014/main" val="10004"/>
                  </a:ext>
                </a:extLst>
              </a:tr>
              <a:tr h="632206">
                <a:tc>
                  <a:txBody>
                    <a:bodyPr/>
                    <a:lstStyle/>
                    <a:p>
                      <a:r>
                        <a:rPr lang="en-IN" sz="2800" dirty="0"/>
                        <a:t>P</a:t>
                      </a:r>
                    </a:p>
                  </a:txBody>
                  <a:tcPr marT="45724" marB="45724"/>
                </a:tc>
                <a:tc>
                  <a:txBody>
                    <a:bodyPr/>
                    <a:lstStyle/>
                    <a:p>
                      <a:r>
                        <a:rPr lang="en-IN" sz="2800" dirty="0"/>
                        <a:t>Principal amount at the beginning</a:t>
                      </a:r>
                    </a:p>
                  </a:txBody>
                  <a:tcPr marT="45724" marB="45724"/>
                </a:tc>
                <a:extLst>
                  <a:ext uri="{0D108BD9-81ED-4DB2-BD59-A6C34878D82A}">
                    <a16:rowId xmlns:a16="http://schemas.microsoft.com/office/drawing/2014/main" val="10005"/>
                  </a:ext>
                </a:extLst>
              </a:tr>
              <a:tr h="632206">
                <a:tc>
                  <a:txBody>
                    <a:bodyPr/>
                    <a:lstStyle/>
                    <a:p>
                      <a:r>
                        <a:rPr lang="en-GB" sz="2800" dirty="0"/>
                        <a:t>A</a:t>
                      </a:r>
                      <a:endParaRPr lang="en-IN" sz="2800" dirty="0"/>
                    </a:p>
                  </a:txBody>
                  <a:tcPr marT="45724" marB="45724"/>
                </a:tc>
                <a:tc>
                  <a:txBody>
                    <a:bodyPr/>
                    <a:lstStyle/>
                    <a:p>
                      <a:r>
                        <a:rPr lang="en-GB" sz="2800" dirty="0"/>
                        <a:t>Annuity is a series of equal payment made at regular intervals</a:t>
                      </a:r>
                      <a:endParaRPr lang="en-IN" sz="2800" dirty="0"/>
                    </a:p>
                  </a:txBody>
                  <a:tcPr marT="45724" marB="45724"/>
                </a:tc>
                <a:extLst>
                  <a:ext uri="{0D108BD9-81ED-4DB2-BD59-A6C34878D82A}">
                    <a16:rowId xmlns:a16="http://schemas.microsoft.com/office/drawing/2014/main" val="2335948178"/>
                  </a:ext>
                </a:extLst>
              </a:tr>
            </a:tbl>
          </a:graphicData>
        </a:graphic>
      </p:graphicFrame>
    </p:spTree>
    <p:extLst>
      <p:ext uri="{BB962C8B-B14F-4D97-AF65-F5344CB8AC3E}">
        <p14:creationId xmlns:p14="http://schemas.microsoft.com/office/powerpoint/2010/main" val="1113482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0AF37-F91A-EABF-9ADE-4CD9945E7EEF}"/>
              </a:ext>
            </a:extLst>
          </p:cNvPr>
          <p:cNvSpPr>
            <a:spLocks noGrp="1"/>
          </p:cNvSpPr>
          <p:nvPr>
            <p:ph type="title"/>
          </p:nvPr>
        </p:nvSpPr>
        <p:spPr/>
        <p:txBody>
          <a:bodyPr/>
          <a:lstStyle/>
          <a:p>
            <a:r>
              <a:rPr lang="en-GB" dirty="0"/>
              <a:t>Example</a:t>
            </a:r>
            <a:endParaRPr lang="en-IN" dirty="0"/>
          </a:p>
        </p:txBody>
      </p:sp>
      <p:sp>
        <p:nvSpPr>
          <p:cNvPr id="3" name="Content Placeholder 2">
            <a:extLst>
              <a:ext uri="{FF2B5EF4-FFF2-40B4-BE49-F238E27FC236}">
                <a16:creationId xmlns:a16="http://schemas.microsoft.com/office/drawing/2014/main" id="{3D8F9212-C9BB-8D78-6EE7-F7C54ED72662}"/>
              </a:ext>
            </a:extLst>
          </p:cNvPr>
          <p:cNvSpPr>
            <a:spLocks noGrp="1"/>
          </p:cNvSpPr>
          <p:nvPr>
            <p:ph idx="1"/>
          </p:nvPr>
        </p:nvSpPr>
        <p:spPr>
          <a:xfrm>
            <a:off x="6338016" y="900546"/>
            <a:ext cx="5570403" cy="5604261"/>
          </a:xfrm>
        </p:spPr>
        <p:txBody>
          <a:bodyPr/>
          <a:lstStyle/>
          <a:p>
            <a:r>
              <a:rPr lang="en-GB" dirty="0"/>
              <a:t>Now someone promises to you to give 1,040 after a year. How much is that valuable today if interest rate is 4%?</a:t>
            </a:r>
          </a:p>
          <a:p>
            <a:r>
              <a:rPr lang="en-GB" dirty="0"/>
              <a:t>PV = FV / (1+r)</a:t>
            </a:r>
          </a:p>
          <a:p>
            <a:r>
              <a:rPr lang="en-GB" dirty="0"/>
              <a:t>PV = 1040 / (1+0.04)</a:t>
            </a:r>
          </a:p>
          <a:p>
            <a:r>
              <a:rPr lang="en-GB" dirty="0"/>
              <a:t>PV = 1000</a:t>
            </a:r>
          </a:p>
          <a:p>
            <a:endParaRPr lang="en-GB" dirty="0"/>
          </a:p>
        </p:txBody>
      </p:sp>
      <p:sp>
        <p:nvSpPr>
          <p:cNvPr id="4" name="Content Placeholder 2">
            <a:extLst>
              <a:ext uri="{FF2B5EF4-FFF2-40B4-BE49-F238E27FC236}">
                <a16:creationId xmlns:a16="http://schemas.microsoft.com/office/drawing/2014/main" id="{D5D5CAF5-7658-8F82-9CBB-0C27A6DCEEE1}"/>
              </a:ext>
            </a:extLst>
          </p:cNvPr>
          <p:cNvSpPr txBox="1">
            <a:spLocks/>
          </p:cNvSpPr>
          <p:nvPr/>
        </p:nvSpPr>
        <p:spPr>
          <a:xfrm>
            <a:off x="283581" y="900546"/>
            <a:ext cx="5570404" cy="560426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You have  1,000 today.</a:t>
            </a:r>
            <a:r>
              <a:rPr lang="en-IN" dirty="0"/>
              <a:t> And you deposited this money in bank at 4% interest rate per year.</a:t>
            </a:r>
          </a:p>
          <a:p>
            <a:r>
              <a:rPr lang="en-IN" dirty="0"/>
              <a:t>FV = 1000 + (4% of 1000)</a:t>
            </a:r>
          </a:p>
          <a:p>
            <a:r>
              <a:rPr lang="en-GB" dirty="0"/>
              <a:t>FV = 1000 + 40</a:t>
            </a:r>
          </a:p>
          <a:p>
            <a:r>
              <a:rPr lang="en-GB" dirty="0"/>
              <a:t>FV = 1040</a:t>
            </a:r>
          </a:p>
          <a:p>
            <a:endParaRPr lang="en-GB" dirty="0"/>
          </a:p>
        </p:txBody>
      </p:sp>
    </p:spTree>
    <p:extLst>
      <p:ext uri="{BB962C8B-B14F-4D97-AF65-F5344CB8AC3E}">
        <p14:creationId xmlns:p14="http://schemas.microsoft.com/office/powerpoint/2010/main" val="139306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B2741-D254-2E25-19F9-9E27EE3F66A8}"/>
              </a:ext>
            </a:extLst>
          </p:cNvPr>
          <p:cNvSpPr>
            <a:spLocks noGrp="1"/>
          </p:cNvSpPr>
          <p:nvPr>
            <p:ph type="title"/>
          </p:nvPr>
        </p:nvSpPr>
        <p:spPr/>
        <p:txBody>
          <a:bodyPr/>
          <a:lstStyle/>
          <a:p>
            <a:r>
              <a:rPr lang="en-GB" dirty="0"/>
              <a:t>Importance of Time Value of Money</a:t>
            </a:r>
            <a:endParaRPr lang="en-IN" dirty="0"/>
          </a:p>
        </p:txBody>
      </p:sp>
      <p:graphicFrame>
        <p:nvGraphicFramePr>
          <p:cNvPr id="4" name="Content Placeholder 3">
            <a:extLst>
              <a:ext uri="{FF2B5EF4-FFF2-40B4-BE49-F238E27FC236}">
                <a16:creationId xmlns:a16="http://schemas.microsoft.com/office/drawing/2014/main" id="{7807DC75-F29E-C56F-4960-82D1A34DCD5E}"/>
              </a:ext>
            </a:extLst>
          </p:cNvPr>
          <p:cNvGraphicFramePr>
            <a:graphicFrameLocks noGrp="1"/>
          </p:cNvGraphicFramePr>
          <p:nvPr>
            <p:ph idx="1"/>
            <p:extLst>
              <p:ext uri="{D42A27DB-BD31-4B8C-83A1-F6EECF244321}">
                <p14:modId xmlns:p14="http://schemas.microsoft.com/office/powerpoint/2010/main" val="375093346"/>
              </p:ext>
            </p:extLst>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716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9665E149-1988-4AD8-80B1-58C5974DDC0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27FC0903-9BDE-4C17-A377-DC006F32EFD5}"/>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6CC32D41-0014-4935-B486-7007A43BFB62}"/>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A7742A8F-C8A1-4FCF-B09D-DBC3BDADA628}"/>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489DF89F-71A6-4284-9B3B-E5E8407C98B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F1BDB-13F4-1DFD-602B-25E81C35E331}"/>
              </a:ext>
            </a:extLst>
          </p:cNvPr>
          <p:cNvSpPr>
            <a:spLocks noGrp="1"/>
          </p:cNvSpPr>
          <p:nvPr>
            <p:ph type="title"/>
          </p:nvPr>
        </p:nvSpPr>
        <p:spPr/>
        <p:txBody>
          <a:bodyPr/>
          <a:lstStyle/>
          <a:p>
            <a:r>
              <a:rPr lang="en-GB" dirty="0"/>
              <a:t>Reasons for Preference of Money</a:t>
            </a:r>
            <a:endParaRPr lang="en-IN" dirty="0"/>
          </a:p>
        </p:txBody>
      </p:sp>
      <p:sp>
        <p:nvSpPr>
          <p:cNvPr id="3" name="Content Placeholder 2">
            <a:extLst>
              <a:ext uri="{FF2B5EF4-FFF2-40B4-BE49-F238E27FC236}">
                <a16:creationId xmlns:a16="http://schemas.microsoft.com/office/drawing/2014/main" id="{FCEF64FA-E54D-DDD5-86D6-0FEAA2843690}"/>
              </a:ext>
            </a:extLst>
          </p:cNvPr>
          <p:cNvSpPr>
            <a:spLocks noGrp="1"/>
          </p:cNvSpPr>
          <p:nvPr>
            <p:ph idx="1"/>
          </p:nvPr>
        </p:nvSpPr>
        <p:spPr/>
        <p:txBody>
          <a:bodyPr/>
          <a:lstStyle/>
          <a:p>
            <a:r>
              <a:rPr lang="en-GB" dirty="0"/>
              <a:t>People prefer money over other forms of wealth like gold land and goods because money is more useful and convenient in everyday life.</a:t>
            </a:r>
          </a:p>
        </p:txBody>
      </p:sp>
      <p:graphicFrame>
        <p:nvGraphicFramePr>
          <p:cNvPr id="4" name="Diagram 3">
            <a:extLst>
              <a:ext uri="{FF2B5EF4-FFF2-40B4-BE49-F238E27FC236}">
                <a16:creationId xmlns:a16="http://schemas.microsoft.com/office/drawing/2014/main" id="{4D8C40C7-6BC4-2FA0-CCB6-FF55828DD57D}"/>
              </a:ext>
            </a:extLst>
          </p:cNvPr>
          <p:cNvGraphicFramePr/>
          <p:nvPr>
            <p:extLst>
              <p:ext uri="{D42A27DB-BD31-4B8C-83A1-F6EECF244321}">
                <p14:modId xmlns:p14="http://schemas.microsoft.com/office/powerpoint/2010/main" val="3472987375"/>
              </p:ext>
            </p:extLst>
          </p:nvPr>
        </p:nvGraphicFramePr>
        <p:xfrm>
          <a:off x="2032000" y="1842655"/>
          <a:ext cx="8128000" cy="46113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044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2862DD43-F80D-47B8-8547-B234439332DF}"/>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1C8D0B53-DC70-4CAB-BB98-02F808C9688D}"/>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graphicEl>
                                              <a:dgm id="{5EA7E7E4-4E34-43FD-8C15-453084D772D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005A9234-978E-439A-996B-DC800781B563}"/>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graphicEl>
                                              <a:dgm id="{809A5FFC-7489-4C4B-9F3D-DBDD6E034C46}"/>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graphicEl>
                                              <a:dgm id="{10EAAC73-2256-4526-B1AF-5CD3B50781E3}"/>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graphicEl>
                                              <a:dgm id="{EEB3B022-260C-4D77-A3D0-40F865EF887F}"/>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graphicEl>
                                              <a:dgm id="{E333FF7E-618D-4FB9-8CB4-837BAF9C7932}"/>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graphicEl>
                                              <a:dgm id="{F493B768-8F44-4AA2-A2C0-D4E049E04FCB}"/>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graphicEl>
                                              <a:dgm id="{383356B6-90A4-4056-BC94-275F89E4E833}"/>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graphicEl>
                                              <a:dgm id="{1A0D64C3-132E-4B3F-9605-F2F2D8A621FF}"/>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graphicEl>
                                              <a:dgm id="{30E70506-318C-4057-850E-199A8EB6FA69}"/>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graphicEl>
                                              <a:dgm id="{C796B6E7-4373-4356-BFB5-DCBD03A5E96D}"/>
                                            </p:graphic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graphicEl>
                                              <a:dgm id="{518573A8-5700-4CB7-8AC6-0A9E34BC3BAF}"/>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graphicEl>
                                              <a:dgm id="{232C2F63-3A8A-44A8-84F7-43148EF74A4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4"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725B8-3420-7104-51F5-D276E12079EB}"/>
              </a:ext>
            </a:extLst>
          </p:cNvPr>
          <p:cNvSpPr>
            <a:spLocks noGrp="1"/>
          </p:cNvSpPr>
          <p:nvPr>
            <p:ph type="title"/>
          </p:nvPr>
        </p:nvSpPr>
        <p:spPr/>
        <p:txBody>
          <a:bodyPr/>
          <a:lstStyle/>
          <a:p>
            <a:r>
              <a:rPr lang="en-GB" dirty="0"/>
              <a:t>Reasons for Preference of Money</a:t>
            </a:r>
            <a:endParaRPr lang="en-IN" dirty="0"/>
          </a:p>
        </p:txBody>
      </p:sp>
      <p:sp>
        <p:nvSpPr>
          <p:cNvPr id="3" name="Content Placeholder 2">
            <a:extLst>
              <a:ext uri="{FF2B5EF4-FFF2-40B4-BE49-F238E27FC236}">
                <a16:creationId xmlns:a16="http://schemas.microsoft.com/office/drawing/2014/main" id="{84707CE1-3095-C211-27F8-42FC43F8DE2D}"/>
              </a:ext>
            </a:extLst>
          </p:cNvPr>
          <p:cNvSpPr>
            <a:spLocks noGrp="1"/>
          </p:cNvSpPr>
          <p:nvPr>
            <p:ph idx="1"/>
          </p:nvPr>
        </p:nvSpPr>
        <p:spPr/>
        <p:txBody>
          <a:bodyPr/>
          <a:lstStyle/>
          <a:p>
            <a:pPr lvl="0"/>
            <a:r>
              <a:rPr lang="en-GB" sz="2800" b="1" dirty="0"/>
              <a:t>Medium of Exchange</a:t>
            </a:r>
          </a:p>
          <a:p>
            <a:pPr lvl="1"/>
            <a:r>
              <a:rPr lang="en-GB" dirty="0"/>
              <a:t>Money is accepted everywhere to buy goods and services.</a:t>
            </a:r>
          </a:p>
          <a:p>
            <a:pPr lvl="1"/>
            <a:r>
              <a:rPr lang="en-GB" dirty="0"/>
              <a:t>You can pay 100 to buy fruits, mobile, and recharge. </a:t>
            </a:r>
          </a:p>
          <a:p>
            <a:pPr lvl="1"/>
            <a:r>
              <a:rPr lang="en-GB" dirty="0"/>
              <a:t>You don’t have to carry goods to trade just like barter system.</a:t>
            </a:r>
            <a:endParaRPr lang="en-IN" dirty="0"/>
          </a:p>
        </p:txBody>
      </p:sp>
      <p:pic>
        <p:nvPicPr>
          <p:cNvPr id="4" name="Picture 3">
            <a:extLst>
              <a:ext uri="{FF2B5EF4-FFF2-40B4-BE49-F238E27FC236}">
                <a16:creationId xmlns:a16="http://schemas.microsoft.com/office/drawing/2014/main" id="{F236CC6E-99D7-C4B2-0065-A5FF690E5AFB}"/>
              </a:ext>
            </a:extLst>
          </p:cNvPr>
          <p:cNvPicPr>
            <a:picLocks noChangeAspect="1"/>
          </p:cNvPicPr>
          <p:nvPr/>
        </p:nvPicPr>
        <p:blipFill>
          <a:blip r:embed="rId2"/>
          <a:stretch>
            <a:fillRect/>
          </a:stretch>
        </p:blipFill>
        <p:spPr>
          <a:xfrm>
            <a:off x="4031776" y="2543925"/>
            <a:ext cx="3910084" cy="3910084"/>
          </a:xfrm>
          <a:prstGeom prst="rect">
            <a:avLst/>
          </a:prstGeom>
        </p:spPr>
      </p:pic>
    </p:spTree>
    <p:extLst>
      <p:ext uri="{BB962C8B-B14F-4D97-AF65-F5344CB8AC3E}">
        <p14:creationId xmlns:p14="http://schemas.microsoft.com/office/powerpoint/2010/main" val="184633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23FC3-CE79-9B98-1CE0-558B81D150C1}"/>
              </a:ext>
            </a:extLst>
          </p:cNvPr>
          <p:cNvSpPr>
            <a:spLocks noGrp="1"/>
          </p:cNvSpPr>
          <p:nvPr>
            <p:ph type="title"/>
          </p:nvPr>
        </p:nvSpPr>
        <p:spPr/>
        <p:txBody>
          <a:bodyPr/>
          <a:lstStyle/>
          <a:p>
            <a:r>
              <a:rPr lang="en-GB" dirty="0"/>
              <a:t>Reasons for Preference of Money</a:t>
            </a:r>
            <a:endParaRPr lang="en-IN" dirty="0"/>
          </a:p>
        </p:txBody>
      </p:sp>
      <p:sp>
        <p:nvSpPr>
          <p:cNvPr id="3" name="Content Placeholder 2">
            <a:extLst>
              <a:ext uri="{FF2B5EF4-FFF2-40B4-BE49-F238E27FC236}">
                <a16:creationId xmlns:a16="http://schemas.microsoft.com/office/drawing/2014/main" id="{276CA2E8-1083-E25D-9E3B-CF61455258DC}"/>
              </a:ext>
            </a:extLst>
          </p:cNvPr>
          <p:cNvSpPr>
            <a:spLocks noGrp="1"/>
          </p:cNvSpPr>
          <p:nvPr>
            <p:ph idx="1"/>
          </p:nvPr>
        </p:nvSpPr>
        <p:spPr/>
        <p:txBody>
          <a:bodyPr/>
          <a:lstStyle/>
          <a:p>
            <a:pPr lvl="0"/>
            <a:r>
              <a:rPr lang="en-GB" sz="2800" b="1" dirty="0"/>
              <a:t>Store of Value </a:t>
            </a:r>
          </a:p>
          <a:p>
            <a:pPr lvl="1"/>
            <a:r>
              <a:rPr lang="en-GB" dirty="0"/>
              <a:t>Money can be saved and used in the future. </a:t>
            </a:r>
          </a:p>
          <a:p>
            <a:pPr lvl="1"/>
            <a:r>
              <a:rPr lang="en-GB" dirty="0"/>
              <a:t>If you earn 10,000 today save it you can use. </a:t>
            </a:r>
          </a:p>
          <a:p>
            <a:pPr lvl="1"/>
            <a:r>
              <a:rPr lang="en-GB" dirty="0"/>
              <a:t>It in a future month it is not perishable goods like fruit money does not spoil.</a:t>
            </a:r>
            <a:endParaRPr lang="en-IN" dirty="0"/>
          </a:p>
          <a:p>
            <a:endParaRPr lang="en-IN" dirty="0"/>
          </a:p>
        </p:txBody>
      </p:sp>
      <p:pic>
        <p:nvPicPr>
          <p:cNvPr id="4" name="Picture 3">
            <a:extLst>
              <a:ext uri="{FF2B5EF4-FFF2-40B4-BE49-F238E27FC236}">
                <a16:creationId xmlns:a16="http://schemas.microsoft.com/office/drawing/2014/main" id="{A53D46BF-C58F-F3F4-7331-3CE9477AEDEC}"/>
              </a:ext>
            </a:extLst>
          </p:cNvPr>
          <p:cNvPicPr>
            <a:picLocks noChangeAspect="1"/>
          </p:cNvPicPr>
          <p:nvPr/>
        </p:nvPicPr>
        <p:blipFill>
          <a:blip r:embed="rId2"/>
          <a:stretch>
            <a:fillRect/>
          </a:stretch>
        </p:blipFill>
        <p:spPr>
          <a:xfrm>
            <a:off x="3450609" y="2926821"/>
            <a:ext cx="5290782" cy="3527188"/>
          </a:xfrm>
          <a:prstGeom prst="rect">
            <a:avLst/>
          </a:prstGeom>
        </p:spPr>
      </p:pic>
    </p:spTree>
    <p:extLst>
      <p:ext uri="{BB962C8B-B14F-4D97-AF65-F5344CB8AC3E}">
        <p14:creationId xmlns:p14="http://schemas.microsoft.com/office/powerpoint/2010/main" val="295708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E63BF-5B81-7FE7-6D67-69FC3E410576}"/>
              </a:ext>
            </a:extLst>
          </p:cNvPr>
          <p:cNvSpPr>
            <a:spLocks noGrp="1"/>
          </p:cNvSpPr>
          <p:nvPr>
            <p:ph type="title"/>
          </p:nvPr>
        </p:nvSpPr>
        <p:spPr/>
        <p:txBody>
          <a:bodyPr/>
          <a:lstStyle/>
          <a:p>
            <a:r>
              <a:rPr lang="en-GB" dirty="0"/>
              <a:t>Reasons for Preference of Money</a:t>
            </a:r>
            <a:endParaRPr lang="en-IN" dirty="0"/>
          </a:p>
        </p:txBody>
      </p:sp>
      <p:sp>
        <p:nvSpPr>
          <p:cNvPr id="3" name="Content Placeholder 2">
            <a:extLst>
              <a:ext uri="{FF2B5EF4-FFF2-40B4-BE49-F238E27FC236}">
                <a16:creationId xmlns:a16="http://schemas.microsoft.com/office/drawing/2014/main" id="{E609B472-444C-FAA2-A0FF-E38DDBEDDFB9}"/>
              </a:ext>
            </a:extLst>
          </p:cNvPr>
          <p:cNvSpPr>
            <a:spLocks noGrp="1"/>
          </p:cNvSpPr>
          <p:nvPr>
            <p:ph idx="1"/>
          </p:nvPr>
        </p:nvSpPr>
        <p:spPr/>
        <p:txBody>
          <a:bodyPr/>
          <a:lstStyle/>
          <a:p>
            <a:pPr lvl="0"/>
            <a:r>
              <a:rPr lang="en-GB" sz="2800" b="1" dirty="0"/>
              <a:t>Unit of Account</a:t>
            </a:r>
          </a:p>
          <a:p>
            <a:pPr lvl="1"/>
            <a:r>
              <a:rPr lang="en-GB" dirty="0"/>
              <a:t>Money helps to measure the value of goods and services in common unit. </a:t>
            </a:r>
          </a:p>
          <a:p>
            <a:pPr lvl="1"/>
            <a:r>
              <a:rPr lang="en-GB" dirty="0"/>
              <a:t>A pen cost  10 shirt, cost  500, denim cost  800. </a:t>
            </a:r>
          </a:p>
          <a:p>
            <a:pPr lvl="1"/>
            <a:r>
              <a:rPr lang="en-GB" dirty="0"/>
              <a:t>It helps to make calculation easy you can budget or predict expenses.</a:t>
            </a:r>
          </a:p>
        </p:txBody>
      </p:sp>
      <p:pic>
        <p:nvPicPr>
          <p:cNvPr id="4" name="Picture 3">
            <a:extLst>
              <a:ext uri="{FF2B5EF4-FFF2-40B4-BE49-F238E27FC236}">
                <a16:creationId xmlns:a16="http://schemas.microsoft.com/office/drawing/2014/main" id="{8F00D27C-B57D-FE35-AD66-A5D3039E08A6}"/>
              </a:ext>
            </a:extLst>
          </p:cNvPr>
          <p:cNvPicPr>
            <a:picLocks noChangeAspect="1"/>
          </p:cNvPicPr>
          <p:nvPr/>
        </p:nvPicPr>
        <p:blipFill>
          <a:blip r:embed="rId2"/>
          <a:stretch>
            <a:fillRect/>
          </a:stretch>
        </p:blipFill>
        <p:spPr>
          <a:xfrm>
            <a:off x="970465" y="3027330"/>
            <a:ext cx="4430883" cy="2601944"/>
          </a:xfrm>
          <a:prstGeom prst="rect">
            <a:avLst/>
          </a:prstGeom>
        </p:spPr>
      </p:pic>
      <p:pic>
        <p:nvPicPr>
          <p:cNvPr id="5" name="Picture 4">
            <a:extLst>
              <a:ext uri="{FF2B5EF4-FFF2-40B4-BE49-F238E27FC236}">
                <a16:creationId xmlns:a16="http://schemas.microsoft.com/office/drawing/2014/main" id="{14A79224-C80C-F763-A24F-0F602764D84E}"/>
              </a:ext>
            </a:extLst>
          </p:cNvPr>
          <p:cNvPicPr>
            <a:picLocks noChangeAspect="1"/>
          </p:cNvPicPr>
          <p:nvPr/>
        </p:nvPicPr>
        <p:blipFill>
          <a:blip r:embed="rId3"/>
          <a:stretch>
            <a:fillRect/>
          </a:stretch>
        </p:blipFill>
        <p:spPr>
          <a:xfrm>
            <a:off x="6790654" y="3027331"/>
            <a:ext cx="4128306" cy="2601943"/>
          </a:xfrm>
          <a:prstGeom prst="rect">
            <a:avLst/>
          </a:prstGeom>
        </p:spPr>
      </p:pic>
    </p:spTree>
    <p:extLst>
      <p:ext uri="{BB962C8B-B14F-4D97-AF65-F5344CB8AC3E}">
        <p14:creationId xmlns:p14="http://schemas.microsoft.com/office/powerpoint/2010/main" val="225258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09C5F-219B-0141-E1DC-643F45B53F5F}"/>
              </a:ext>
            </a:extLst>
          </p:cNvPr>
          <p:cNvSpPr>
            <a:spLocks noGrp="1"/>
          </p:cNvSpPr>
          <p:nvPr>
            <p:ph type="title"/>
          </p:nvPr>
        </p:nvSpPr>
        <p:spPr/>
        <p:txBody>
          <a:bodyPr/>
          <a:lstStyle/>
          <a:p>
            <a:r>
              <a:rPr lang="en-GB" dirty="0"/>
              <a:t>Reasons for Preference of Money</a:t>
            </a:r>
            <a:endParaRPr lang="en-IN" dirty="0"/>
          </a:p>
        </p:txBody>
      </p:sp>
      <p:sp>
        <p:nvSpPr>
          <p:cNvPr id="3" name="Content Placeholder 2">
            <a:extLst>
              <a:ext uri="{FF2B5EF4-FFF2-40B4-BE49-F238E27FC236}">
                <a16:creationId xmlns:a16="http://schemas.microsoft.com/office/drawing/2014/main" id="{64EC4E16-C427-1821-65A3-96B10777B3AB}"/>
              </a:ext>
            </a:extLst>
          </p:cNvPr>
          <p:cNvSpPr>
            <a:spLocks noGrp="1"/>
          </p:cNvSpPr>
          <p:nvPr>
            <p:ph idx="1"/>
          </p:nvPr>
        </p:nvSpPr>
        <p:spPr/>
        <p:txBody>
          <a:bodyPr/>
          <a:lstStyle/>
          <a:p>
            <a:pPr lvl="0"/>
            <a:r>
              <a:rPr lang="en-GB" sz="2800" b="1" dirty="0"/>
              <a:t>Liquidity </a:t>
            </a:r>
          </a:p>
          <a:p>
            <a:pPr lvl="1"/>
            <a:r>
              <a:rPr lang="en-GB" dirty="0"/>
              <a:t>It is most liquid asset it can be used immediately without converting it. </a:t>
            </a:r>
          </a:p>
          <a:p>
            <a:pPr lvl="1"/>
            <a:r>
              <a:rPr lang="en-GB" dirty="0"/>
              <a:t>You can note directly by a thing with land or gold. </a:t>
            </a:r>
          </a:p>
          <a:p>
            <a:pPr lvl="1"/>
            <a:r>
              <a:rPr lang="en-GB" dirty="0"/>
              <a:t>It can be used instant in transactions.</a:t>
            </a:r>
            <a:endParaRPr lang="en-IN" dirty="0"/>
          </a:p>
          <a:p>
            <a:endParaRPr lang="en-IN" dirty="0"/>
          </a:p>
        </p:txBody>
      </p:sp>
      <p:pic>
        <p:nvPicPr>
          <p:cNvPr id="4" name="Picture 3">
            <a:extLst>
              <a:ext uri="{FF2B5EF4-FFF2-40B4-BE49-F238E27FC236}">
                <a16:creationId xmlns:a16="http://schemas.microsoft.com/office/drawing/2014/main" id="{718A71DB-65E7-DB8A-A057-1593E0792EED}"/>
              </a:ext>
            </a:extLst>
          </p:cNvPr>
          <p:cNvPicPr>
            <a:picLocks noChangeAspect="1"/>
          </p:cNvPicPr>
          <p:nvPr/>
        </p:nvPicPr>
        <p:blipFill>
          <a:blip r:embed="rId2"/>
          <a:stretch>
            <a:fillRect/>
          </a:stretch>
        </p:blipFill>
        <p:spPr>
          <a:xfrm>
            <a:off x="3947046" y="2950738"/>
            <a:ext cx="4297907" cy="2870031"/>
          </a:xfrm>
          <a:prstGeom prst="rect">
            <a:avLst/>
          </a:prstGeom>
        </p:spPr>
      </p:pic>
    </p:spTree>
    <p:extLst>
      <p:ext uri="{BB962C8B-B14F-4D97-AF65-F5344CB8AC3E}">
        <p14:creationId xmlns:p14="http://schemas.microsoft.com/office/powerpoint/2010/main" val="3850558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734FD-1ECC-D9B5-30E2-78A85A14AC97}"/>
              </a:ext>
            </a:extLst>
          </p:cNvPr>
          <p:cNvSpPr>
            <a:spLocks noGrp="1"/>
          </p:cNvSpPr>
          <p:nvPr>
            <p:ph type="title"/>
          </p:nvPr>
        </p:nvSpPr>
        <p:spPr/>
        <p:txBody>
          <a:bodyPr/>
          <a:lstStyle/>
          <a:p>
            <a:r>
              <a:rPr lang="en-GB" dirty="0"/>
              <a:t>Reasons for Preference of Money</a:t>
            </a:r>
            <a:endParaRPr lang="en-IN" dirty="0"/>
          </a:p>
        </p:txBody>
      </p:sp>
      <p:sp>
        <p:nvSpPr>
          <p:cNvPr id="3" name="Content Placeholder 2">
            <a:extLst>
              <a:ext uri="{FF2B5EF4-FFF2-40B4-BE49-F238E27FC236}">
                <a16:creationId xmlns:a16="http://schemas.microsoft.com/office/drawing/2014/main" id="{A04EC8AB-2DAD-C5DC-40D7-619C6C87FD32}"/>
              </a:ext>
            </a:extLst>
          </p:cNvPr>
          <p:cNvSpPr>
            <a:spLocks noGrp="1"/>
          </p:cNvSpPr>
          <p:nvPr>
            <p:ph idx="1"/>
          </p:nvPr>
        </p:nvSpPr>
        <p:spPr/>
        <p:txBody>
          <a:bodyPr/>
          <a:lstStyle/>
          <a:p>
            <a:pPr lvl="0"/>
            <a:r>
              <a:rPr lang="en-GB" sz="2800" b="1" dirty="0"/>
              <a:t>Standard of Deferred Payment</a:t>
            </a:r>
          </a:p>
          <a:p>
            <a:pPr lvl="1"/>
            <a:r>
              <a:rPr lang="en-GB" dirty="0"/>
              <a:t>Money is used to settle debts or future payments. </a:t>
            </a:r>
          </a:p>
          <a:p>
            <a:pPr lvl="1"/>
            <a:r>
              <a:rPr lang="en-GB" dirty="0"/>
              <a:t>It ensures clarity in credit transactions. </a:t>
            </a:r>
          </a:p>
          <a:p>
            <a:endParaRPr lang="en-IN" dirty="0"/>
          </a:p>
        </p:txBody>
      </p:sp>
      <p:pic>
        <p:nvPicPr>
          <p:cNvPr id="4" name="Picture 3">
            <a:extLst>
              <a:ext uri="{FF2B5EF4-FFF2-40B4-BE49-F238E27FC236}">
                <a16:creationId xmlns:a16="http://schemas.microsoft.com/office/drawing/2014/main" id="{5FAF93A9-4D06-30DB-AB78-454C2F75DC41}"/>
              </a:ext>
            </a:extLst>
          </p:cNvPr>
          <p:cNvPicPr>
            <a:picLocks noChangeAspect="1"/>
          </p:cNvPicPr>
          <p:nvPr/>
        </p:nvPicPr>
        <p:blipFill>
          <a:blip r:embed="rId2"/>
          <a:stretch>
            <a:fillRect/>
          </a:stretch>
        </p:blipFill>
        <p:spPr>
          <a:xfrm>
            <a:off x="3407391" y="2620370"/>
            <a:ext cx="5377218" cy="2715905"/>
          </a:xfrm>
          <a:prstGeom prst="rect">
            <a:avLst/>
          </a:prstGeom>
        </p:spPr>
      </p:pic>
    </p:spTree>
    <p:extLst>
      <p:ext uri="{BB962C8B-B14F-4D97-AF65-F5344CB8AC3E}">
        <p14:creationId xmlns:p14="http://schemas.microsoft.com/office/powerpoint/2010/main" val="4003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5CCFF-BB41-89D2-D764-BEEAAF88FA08}"/>
              </a:ext>
            </a:extLst>
          </p:cNvPr>
          <p:cNvSpPr>
            <a:spLocks noGrp="1"/>
          </p:cNvSpPr>
          <p:nvPr>
            <p:ph type="title"/>
          </p:nvPr>
        </p:nvSpPr>
        <p:spPr/>
        <p:txBody>
          <a:bodyPr/>
          <a:lstStyle/>
          <a:p>
            <a:r>
              <a:rPr lang="en-GB" dirty="0"/>
              <a:t>Reasons for Preference of Money</a:t>
            </a:r>
            <a:endParaRPr lang="en-IN" dirty="0"/>
          </a:p>
        </p:txBody>
      </p:sp>
      <p:sp>
        <p:nvSpPr>
          <p:cNvPr id="3" name="Content Placeholder 2">
            <a:extLst>
              <a:ext uri="{FF2B5EF4-FFF2-40B4-BE49-F238E27FC236}">
                <a16:creationId xmlns:a16="http://schemas.microsoft.com/office/drawing/2014/main" id="{2CF5269D-8F59-1890-0B95-773CFCAEE776}"/>
              </a:ext>
            </a:extLst>
          </p:cNvPr>
          <p:cNvSpPr>
            <a:spLocks noGrp="1"/>
          </p:cNvSpPr>
          <p:nvPr>
            <p:ph idx="1"/>
          </p:nvPr>
        </p:nvSpPr>
        <p:spPr/>
        <p:txBody>
          <a:bodyPr/>
          <a:lstStyle/>
          <a:p>
            <a:pPr lvl="0"/>
            <a:r>
              <a:rPr lang="en-GB" sz="2800" b="1" dirty="0"/>
              <a:t>Easy to Carry and Store </a:t>
            </a:r>
          </a:p>
          <a:p>
            <a:pPr lvl="1"/>
            <a:r>
              <a:rPr lang="en-GB" dirty="0"/>
              <a:t>Money is light and compact. </a:t>
            </a:r>
          </a:p>
          <a:p>
            <a:pPr lvl="1"/>
            <a:r>
              <a:rPr lang="en-GB" dirty="0"/>
              <a:t>You can carry  5000 in your wallet but you cannot carry the rice bag of same value.</a:t>
            </a:r>
          </a:p>
          <a:p>
            <a:pPr lvl="1"/>
            <a:r>
              <a:rPr lang="en-GB" dirty="0"/>
              <a:t>It is convenient in handling.</a:t>
            </a:r>
          </a:p>
          <a:p>
            <a:endParaRPr lang="en-IN" dirty="0"/>
          </a:p>
        </p:txBody>
      </p:sp>
      <p:pic>
        <p:nvPicPr>
          <p:cNvPr id="4" name="Picture 3">
            <a:extLst>
              <a:ext uri="{FF2B5EF4-FFF2-40B4-BE49-F238E27FC236}">
                <a16:creationId xmlns:a16="http://schemas.microsoft.com/office/drawing/2014/main" id="{C3A56BF7-FFB5-4F32-6B6C-B24CC7E46BD8}"/>
              </a:ext>
            </a:extLst>
          </p:cNvPr>
          <p:cNvPicPr>
            <a:picLocks noChangeAspect="1"/>
          </p:cNvPicPr>
          <p:nvPr/>
        </p:nvPicPr>
        <p:blipFill>
          <a:blip r:embed="rId2"/>
          <a:stretch>
            <a:fillRect/>
          </a:stretch>
        </p:blipFill>
        <p:spPr>
          <a:xfrm>
            <a:off x="3114675" y="2839044"/>
            <a:ext cx="5962650" cy="3015846"/>
          </a:xfrm>
          <a:prstGeom prst="rect">
            <a:avLst/>
          </a:prstGeom>
        </p:spPr>
      </p:pic>
    </p:spTree>
    <p:extLst>
      <p:ext uri="{BB962C8B-B14F-4D97-AF65-F5344CB8AC3E}">
        <p14:creationId xmlns:p14="http://schemas.microsoft.com/office/powerpoint/2010/main" val="321201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0DB8A-54C7-A85C-D5A3-C082C9F2EC76}"/>
              </a:ext>
            </a:extLst>
          </p:cNvPr>
          <p:cNvSpPr>
            <a:spLocks noGrp="1"/>
          </p:cNvSpPr>
          <p:nvPr>
            <p:ph type="title"/>
          </p:nvPr>
        </p:nvSpPr>
        <p:spPr/>
        <p:txBody>
          <a:bodyPr/>
          <a:lstStyle/>
          <a:p>
            <a:r>
              <a:rPr lang="en-GB" dirty="0"/>
              <a:t>Reasons for Preference of Money</a:t>
            </a:r>
            <a:endParaRPr lang="en-IN" dirty="0"/>
          </a:p>
        </p:txBody>
      </p:sp>
      <p:sp>
        <p:nvSpPr>
          <p:cNvPr id="3" name="Content Placeholder 2">
            <a:extLst>
              <a:ext uri="{FF2B5EF4-FFF2-40B4-BE49-F238E27FC236}">
                <a16:creationId xmlns:a16="http://schemas.microsoft.com/office/drawing/2014/main" id="{455D3241-4D81-E8F1-9E1E-8194A5366342}"/>
              </a:ext>
            </a:extLst>
          </p:cNvPr>
          <p:cNvSpPr>
            <a:spLocks noGrp="1"/>
          </p:cNvSpPr>
          <p:nvPr>
            <p:ph idx="1"/>
          </p:nvPr>
        </p:nvSpPr>
        <p:spPr/>
        <p:txBody>
          <a:bodyPr/>
          <a:lstStyle/>
          <a:p>
            <a:r>
              <a:rPr lang="en-GB" sz="2800" b="1" dirty="0"/>
              <a:t>Legal Tender</a:t>
            </a:r>
            <a:endParaRPr lang="en-IN" sz="2800" b="1" dirty="0"/>
          </a:p>
          <a:p>
            <a:pPr lvl="1"/>
            <a:r>
              <a:rPr lang="en-GB" dirty="0"/>
              <a:t>The government recognised money like coins and notes are official legal tender for payments. </a:t>
            </a:r>
          </a:p>
          <a:p>
            <a:pPr lvl="1"/>
            <a:r>
              <a:rPr lang="en-GB" dirty="0"/>
              <a:t>a shopkeeper or tea vendor has to accept 20 note as a legal tender or promissory note for the sale of tea or other goods.</a:t>
            </a:r>
            <a:endParaRPr lang="en-IN" dirty="0"/>
          </a:p>
          <a:p>
            <a:endParaRPr lang="en-IN" dirty="0"/>
          </a:p>
        </p:txBody>
      </p:sp>
      <p:pic>
        <p:nvPicPr>
          <p:cNvPr id="4" name="Picture 3">
            <a:extLst>
              <a:ext uri="{FF2B5EF4-FFF2-40B4-BE49-F238E27FC236}">
                <a16:creationId xmlns:a16="http://schemas.microsoft.com/office/drawing/2014/main" id="{A6640992-3260-3233-8E06-5159DAC4CF55}"/>
              </a:ext>
            </a:extLst>
          </p:cNvPr>
          <p:cNvPicPr>
            <a:picLocks noChangeAspect="1"/>
          </p:cNvPicPr>
          <p:nvPr/>
        </p:nvPicPr>
        <p:blipFill>
          <a:blip r:embed="rId2"/>
          <a:stretch>
            <a:fillRect/>
          </a:stretch>
        </p:blipFill>
        <p:spPr>
          <a:xfrm>
            <a:off x="300250" y="3658726"/>
            <a:ext cx="2442950" cy="1616203"/>
          </a:xfrm>
          <a:prstGeom prst="rect">
            <a:avLst/>
          </a:prstGeom>
        </p:spPr>
      </p:pic>
      <p:pic>
        <p:nvPicPr>
          <p:cNvPr id="5" name="Picture 4">
            <a:extLst>
              <a:ext uri="{FF2B5EF4-FFF2-40B4-BE49-F238E27FC236}">
                <a16:creationId xmlns:a16="http://schemas.microsoft.com/office/drawing/2014/main" id="{B4022DAE-EE7D-579F-BC00-EC6AF9CE885E}"/>
              </a:ext>
            </a:extLst>
          </p:cNvPr>
          <p:cNvPicPr>
            <a:picLocks noChangeAspect="1"/>
          </p:cNvPicPr>
          <p:nvPr/>
        </p:nvPicPr>
        <p:blipFill>
          <a:blip r:embed="rId3"/>
          <a:stretch>
            <a:fillRect/>
          </a:stretch>
        </p:blipFill>
        <p:spPr>
          <a:xfrm>
            <a:off x="4540002" y="3220871"/>
            <a:ext cx="2709092" cy="1135394"/>
          </a:xfrm>
          <a:prstGeom prst="rect">
            <a:avLst/>
          </a:prstGeom>
        </p:spPr>
      </p:pic>
      <p:pic>
        <p:nvPicPr>
          <p:cNvPr id="6" name="Picture 5">
            <a:extLst>
              <a:ext uri="{FF2B5EF4-FFF2-40B4-BE49-F238E27FC236}">
                <a16:creationId xmlns:a16="http://schemas.microsoft.com/office/drawing/2014/main" id="{E18AF317-DAA5-0339-0147-2E3C01C2F21F}"/>
              </a:ext>
            </a:extLst>
          </p:cNvPr>
          <p:cNvPicPr>
            <a:picLocks noChangeAspect="1"/>
          </p:cNvPicPr>
          <p:nvPr/>
        </p:nvPicPr>
        <p:blipFill>
          <a:blip r:embed="rId4"/>
          <a:stretch>
            <a:fillRect/>
          </a:stretch>
        </p:blipFill>
        <p:spPr>
          <a:xfrm>
            <a:off x="4540002" y="4579604"/>
            <a:ext cx="2709092" cy="1135394"/>
          </a:xfrm>
          <a:prstGeom prst="rect">
            <a:avLst/>
          </a:prstGeom>
        </p:spPr>
      </p:pic>
      <p:sp>
        <p:nvSpPr>
          <p:cNvPr id="7" name="Arrow: Right 6">
            <a:extLst>
              <a:ext uri="{FF2B5EF4-FFF2-40B4-BE49-F238E27FC236}">
                <a16:creationId xmlns:a16="http://schemas.microsoft.com/office/drawing/2014/main" id="{F345A4CF-9CF4-EDF9-675D-8EE47C361DF2}"/>
              </a:ext>
            </a:extLst>
          </p:cNvPr>
          <p:cNvSpPr/>
          <p:nvPr/>
        </p:nvSpPr>
        <p:spPr>
          <a:xfrm>
            <a:off x="3041099" y="4356265"/>
            <a:ext cx="1201003" cy="2233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Right 7">
            <a:extLst>
              <a:ext uri="{FF2B5EF4-FFF2-40B4-BE49-F238E27FC236}">
                <a16:creationId xmlns:a16="http://schemas.microsoft.com/office/drawing/2014/main" id="{6B79A3F4-2543-3CDC-D46F-0D4E7E99CB62}"/>
              </a:ext>
            </a:extLst>
          </p:cNvPr>
          <p:cNvSpPr/>
          <p:nvPr/>
        </p:nvSpPr>
        <p:spPr>
          <a:xfrm>
            <a:off x="7534159" y="4356265"/>
            <a:ext cx="1201003" cy="2233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D9024D21-5B0D-7EC5-F1C1-8DF5116C0047}"/>
              </a:ext>
            </a:extLst>
          </p:cNvPr>
          <p:cNvPicPr>
            <a:picLocks noChangeAspect="1"/>
          </p:cNvPicPr>
          <p:nvPr/>
        </p:nvPicPr>
        <p:blipFill>
          <a:blip r:embed="rId5"/>
          <a:stretch>
            <a:fillRect/>
          </a:stretch>
        </p:blipFill>
        <p:spPr>
          <a:xfrm>
            <a:off x="8979031" y="3413219"/>
            <a:ext cx="2837921" cy="1861710"/>
          </a:xfrm>
          <a:prstGeom prst="rect">
            <a:avLst/>
          </a:prstGeom>
        </p:spPr>
      </p:pic>
    </p:spTree>
    <p:extLst>
      <p:ext uri="{BB962C8B-B14F-4D97-AF65-F5344CB8AC3E}">
        <p14:creationId xmlns:p14="http://schemas.microsoft.com/office/powerpoint/2010/main" val="196085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881FA-B5CD-05A9-BFA5-81BBE3EB4D37}"/>
              </a:ext>
            </a:extLst>
          </p:cNvPr>
          <p:cNvSpPr>
            <a:spLocks noGrp="1"/>
          </p:cNvSpPr>
          <p:nvPr>
            <p:ph type="title"/>
          </p:nvPr>
        </p:nvSpPr>
        <p:spPr/>
        <p:txBody>
          <a:bodyPr/>
          <a:lstStyle/>
          <a:p>
            <a:r>
              <a:rPr lang="en-GB" dirty="0"/>
              <a:t>Concept of Compounding and Discounting</a:t>
            </a:r>
            <a:endParaRPr lang="en-IN" dirty="0"/>
          </a:p>
        </p:txBody>
      </p:sp>
      <p:sp>
        <p:nvSpPr>
          <p:cNvPr id="3" name="Content Placeholder 2">
            <a:extLst>
              <a:ext uri="{FF2B5EF4-FFF2-40B4-BE49-F238E27FC236}">
                <a16:creationId xmlns:a16="http://schemas.microsoft.com/office/drawing/2014/main" id="{751A4AFF-823D-54D5-C4E6-E8F9F5B7C16A}"/>
              </a:ext>
            </a:extLst>
          </p:cNvPr>
          <p:cNvSpPr>
            <a:spLocks noGrp="1"/>
          </p:cNvSpPr>
          <p:nvPr>
            <p:ph idx="1"/>
          </p:nvPr>
        </p:nvSpPr>
        <p:spPr/>
        <p:txBody>
          <a:bodyPr/>
          <a:lstStyle/>
          <a:p>
            <a:r>
              <a:rPr lang="en-GB" dirty="0"/>
              <a:t>In finance the value of money changes over a time. </a:t>
            </a:r>
          </a:p>
          <a:p>
            <a:r>
              <a:rPr lang="en-GB" dirty="0"/>
              <a:t>A rupee today is not same as rupee tomorrow. </a:t>
            </a:r>
          </a:p>
          <a:p>
            <a:r>
              <a:rPr lang="en-GB" dirty="0"/>
              <a:t>Money earns more money over a period of time. </a:t>
            </a:r>
          </a:p>
          <a:p>
            <a:r>
              <a:rPr lang="en-GB" dirty="0"/>
              <a:t>This concept leads towards two important points:</a:t>
            </a:r>
          </a:p>
          <a:p>
            <a:pPr lvl="1"/>
            <a:r>
              <a:rPr lang="en-GB" dirty="0"/>
              <a:t>Compounding and </a:t>
            </a:r>
          </a:p>
          <a:p>
            <a:pPr lvl="1"/>
            <a:r>
              <a:rPr lang="en-GB" dirty="0"/>
              <a:t>Discounting</a:t>
            </a:r>
            <a:endParaRPr lang="en-IN" dirty="0"/>
          </a:p>
        </p:txBody>
      </p:sp>
    </p:spTree>
    <p:extLst>
      <p:ext uri="{BB962C8B-B14F-4D97-AF65-F5344CB8AC3E}">
        <p14:creationId xmlns:p14="http://schemas.microsoft.com/office/powerpoint/2010/main" val="1887355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030FE-4B4A-49BD-962F-C23DC2F5C89D}"/>
              </a:ext>
            </a:extLst>
          </p:cNvPr>
          <p:cNvSpPr>
            <a:spLocks noGrp="1"/>
          </p:cNvSpPr>
          <p:nvPr>
            <p:ph type="title"/>
          </p:nvPr>
        </p:nvSpPr>
        <p:spPr/>
        <p:txBody>
          <a:bodyPr>
            <a:normAutofit/>
          </a:bodyPr>
          <a:lstStyle/>
          <a:p>
            <a:pPr>
              <a:defRPr/>
            </a:pPr>
            <a:r>
              <a:rPr lang="en-IN" dirty="0"/>
              <a:t>Future Value / Compounding</a:t>
            </a:r>
          </a:p>
        </p:txBody>
      </p:sp>
      <p:sp>
        <p:nvSpPr>
          <p:cNvPr id="3" name="Content Placeholder 2">
            <a:extLst>
              <a:ext uri="{FF2B5EF4-FFF2-40B4-BE49-F238E27FC236}">
                <a16:creationId xmlns:a16="http://schemas.microsoft.com/office/drawing/2014/main" id="{FAF00CB7-87F4-4EB4-82C6-FDA3F160DAF6}"/>
              </a:ext>
            </a:extLst>
          </p:cNvPr>
          <p:cNvSpPr>
            <a:spLocks noGrp="1"/>
          </p:cNvSpPr>
          <p:nvPr>
            <p:ph idx="1"/>
          </p:nvPr>
        </p:nvSpPr>
        <p:spPr/>
        <p:txBody>
          <a:bodyPr/>
          <a:lstStyle/>
          <a:p>
            <a:pPr algn="just">
              <a:defRPr/>
            </a:pPr>
            <a:r>
              <a:rPr lang="en-GB" b="1" dirty="0">
                <a:solidFill>
                  <a:srgbClr val="C00000"/>
                </a:solidFill>
              </a:rPr>
              <a:t>Grow</a:t>
            </a:r>
            <a:r>
              <a:rPr lang="en-GB" dirty="0"/>
              <a:t> your money over a time.</a:t>
            </a:r>
          </a:p>
          <a:p>
            <a:pPr algn="just">
              <a:defRPr/>
            </a:pPr>
            <a:r>
              <a:rPr lang="en-GB" dirty="0"/>
              <a:t>Compounding is the process of earning interest on both the principal amount and interest that already earned.</a:t>
            </a:r>
          </a:p>
          <a:p>
            <a:pPr algn="just">
              <a:defRPr/>
            </a:pPr>
            <a:r>
              <a:rPr lang="en-GB" b="1" dirty="0">
                <a:solidFill>
                  <a:srgbClr val="C00000"/>
                </a:solidFill>
              </a:rPr>
              <a:t>It finds future value from present value.</a:t>
            </a:r>
          </a:p>
          <a:p>
            <a:pPr algn="just">
              <a:defRPr/>
            </a:pPr>
            <a:r>
              <a:rPr lang="en-GB" dirty="0"/>
              <a:t>For example, you have invested Rs. 1,000 at an annual interest rate of 10 percentage for two years.</a:t>
            </a:r>
          </a:p>
        </p:txBody>
      </p:sp>
      <p:graphicFrame>
        <p:nvGraphicFramePr>
          <p:cNvPr id="4" name="Table 3">
            <a:extLst>
              <a:ext uri="{FF2B5EF4-FFF2-40B4-BE49-F238E27FC236}">
                <a16:creationId xmlns:a16="http://schemas.microsoft.com/office/drawing/2014/main" id="{A4742DBA-15B6-6369-9860-B08430ED6A29}"/>
              </a:ext>
            </a:extLst>
          </p:cNvPr>
          <p:cNvGraphicFramePr>
            <a:graphicFrameLocks noGrp="1"/>
          </p:cNvGraphicFramePr>
          <p:nvPr>
            <p:extLst>
              <p:ext uri="{D42A27DB-BD31-4B8C-83A1-F6EECF244321}">
                <p14:modId xmlns:p14="http://schemas.microsoft.com/office/powerpoint/2010/main" val="3932180584"/>
              </p:ext>
            </p:extLst>
          </p:nvPr>
        </p:nvGraphicFramePr>
        <p:xfrm>
          <a:off x="1768764" y="3637944"/>
          <a:ext cx="8128000" cy="1797549"/>
        </p:xfrm>
        <a:graphic>
          <a:graphicData uri="http://schemas.openxmlformats.org/drawingml/2006/table">
            <a:tbl>
              <a:tblPr firstRow="1" bandRow="1">
                <a:tableStyleId>{5C22544A-7EE6-4342-B048-85BDC9FD1C3A}</a:tableStyleId>
              </a:tblPr>
              <a:tblGrid>
                <a:gridCol w="1029854">
                  <a:extLst>
                    <a:ext uri="{9D8B030D-6E8A-4147-A177-3AD203B41FA5}">
                      <a16:colId xmlns:a16="http://schemas.microsoft.com/office/drawing/2014/main" val="3877718392"/>
                    </a:ext>
                  </a:extLst>
                </a:gridCol>
                <a:gridCol w="3034146">
                  <a:extLst>
                    <a:ext uri="{9D8B030D-6E8A-4147-A177-3AD203B41FA5}">
                      <a16:colId xmlns:a16="http://schemas.microsoft.com/office/drawing/2014/main" val="4104070377"/>
                    </a:ext>
                  </a:extLst>
                </a:gridCol>
                <a:gridCol w="2032000">
                  <a:extLst>
                    <a:ext uri="{9D8B030D-6E8A-4147-A177-3AD203B41FA5}">
                      <a16:colId xmlns:a16="http://schemas.microsoft.com/office/drawing/2014/main" val="274377518"/>
                    </a:ext>
                  </a:extLst>
                </a:gridCol>
                <a:gridCol w="2032000">
                  <a:extLst>
                    <a:ext uri="{9D8B030D-6E8A-4147-A177-3AD203B41FA5}">
                      <a16:colId xmlns:a16="http://schemas.microsoft.com/office/drawing/2014/main" val="109173793"/>
                    </a:ext>
                  </a:extLst>
                </a:gridCol>
              </a:tblGrid>
              <a:tr h="599183">
                <a:tc>
                  <a:txBody>
                    <a:bodyPr/>
                    <a:lstStyle/>
                    <a:p>
                      <a:r>
                        <a:rPr lang="en-GB" sz="2800" dirty="0"/>
                        <a:t>Year</a:t>
                      </a:r>
                      <a:endParaRPr lang="en-IN" sz="2800" dirty="0"/>
                    </a:p>
                  </a:txBody>
                  <a:tcPr anchor="ctr"/>
                </a:tc>
                <a:tc>
                  <a:txBody>
                    <a:bodyPr/>
                    <a:lstStyle/>
                    <a:p>
                      <a:r>
                        <a:rPr lang="en-GB" sz="2800" dirty="0"/>
                        <a:t>Particulars</a:t>
                      </a:r>
                      <a:endParaRPr lang="en-IN" sz="2800" dirty="0"/>
                    </a:p>
                  </a:txBody>
                  <a:tcPr anchor="ctr"/>
                </a:tc>
                <a:tc>
                  <a:txBody>
                    <a:bodyPr/>
                    <a:lstStyle/>
                    <a:p>
                      <a:r>
                        <a:rPr lang="en-GB" sz="2800" dirty="0"/>
                        <a:t>Interest</a:t>
                      </a:r>
                      <a:endParaRPr lang="en-IN" sz="2800" dirty="0"/>
                    </a:p>
                  </a:txBody>
                  <a:tcPr anchor="ctr"/>
                </a:tc>
                <a:tc>
                  <a:txBody>
                    <a:bodyPr/>
                    <a:lstStyle/>
                    <a:p>
                      <a:r>
                        <a:rPr lang="en-GB" sz="2800" dirty="0"/>
                        <a:t>Total</a:t>
                      </a:r>
                      <a:endParaRPr lang="en-IN" sz="2800" dirty="0"/>
                    </a:p>
                  </a:txBody>
                  <a:tcPr anchor="ctr"/>
                </a:tc>
                <a:extLst>
                  <a:ext uri="{0D108BD9-81ED-4DB2-BD59-A6C34878D82A}">
                    <a16:rowId xmlns:a16="http://schemas.microsoft.com/office/drawing/2014/main" val="1886941135"/>
                  </a:ext>
                </a:extLst>
              </a:tr>
              <a:tr h="599183">
                <a:tc>
                  <a:txBody>
                    <a:bodyPr/>
                    <a:lstStyle/>
                    <a:p>
                      <a:r>
                        <a:rPr lang="en-GB" sz="2800" dirty="0"/>
                        <a:t>1</a:t>
                      </a:r>
                      <a:endParaRPr lang="en-IN" sz="2800" dirty="0"/>
                    </a:p>
                  </a:txBody>
                  <a:tcPr anchor="ctr"/>
                </a:tc>
                <a:tc>
                  <a:txBody>
                    <a:bodyPr/>
                    <a:lstStyle/>
                    <a:p>
                      <a:r>
                        <a:rPr lang="en-GB" sz="2800" dirty="0"/>
                        <a:t>1,000 * 10% </a:t>
                      </a:r>
                      <a:endParaRPr lang="en-IN" sz="2800" dirty="0"/>
                    </a:p>
                  </a:txBody>
                  <a:tcPr anchor="ctr"/>
                </a:tc>
                <a:tc>
                  <a:txBody>
                    <a:bodyPr/>
                    <a:lstStyle/>
                    <a:p>
                      <a:r>
                        <a:rPr lang="en-GB" sz="2800" dirty="0"/>
                        <a:t>100</a:t>
                      </a:r>
                      <a:endParaRPr lang="en-IN" sz="2800" dirty="0"/>
                    </a:p>
                  </a:txBody>
                  <a:tcPr anchor="ctr"/>
                </a:tc>
                <a:tc>
                  <a:txBody>
                    <a:bodyPr/>
                    <a:lstStyle/>
                    <a:p>
                      <a:r>
                        <a:rPr lang="en-GB" sz="2800" dirty="0"/>
                        <a:t>1100</a:t>
                      </a:r>
                      <a:endParaRPr lang="en-IN" sz="2800" dirty="0"/>
                    </a:p>
                  </a:txBody>
                  <a:tcPr anchor="ctr"/>
                </a:tc>
                <a:extLst>
                  <a:ext uri="{0D108BD9-81ED-4DB2-BD59-A6C34878D82A}">
                    <a16:rowId xmlns:a16="http://schemas.microsoft.com/office/drawing/2014/main" val="2509106652"/>
                  </a:ext>
                </a:extLst>
              </a:tr>
              <a:tr h="599183">
                <a:tc>
                  <a:txBody>
                    <a:bodyPr/>
                    <a:lstStyle/>
                    <a:p>
                      <a:r>
                        <a:rPr lang="en-GB" sz="2800" dirty="0"/>
                        <a:t>2</a:t>
                      </a:r>
                      <a:endParaRPr lang="en-IN" sz="2800" dirty="0"/>
                    </a:p>
                  </a:txBody>
                  <a:tcPr anchor="ctr"/>
                </a:tc>
                <a:tc>
                  <a:txBody>
                    <a:bodyPr/>
                    <a:lstStyle/>
                    <a:p>
                      <a:r>
                        <a:rPr lang="en-GB" sz="2800" dirty="0"/>
                        <a:t>1,100 * 10%</a:t>
                      </a:r>
                      <a:endParaRPr lang="en-IN" sz="2800" dirty="0"/>
                    </a:p>
                  </a:txBody>
                  <a:tcPr anchor="ctr"/>
                </a:tc>
                <a:tc>
                  <a:txBody>
                    <a:bodyPr/>
                    <a:lstStyle/>
                    <a:p>
                      <a:r>
                        <a:rPr lang="en-GB" sz="2800" dirty="0"/>
                        <a:t>110</a:t>
                      </a:r>
                      <a:endParaRPr lang="en-IN" sz="2800" dirty="0"/>
                    </a:p>
                  </a:txBody>
                  <a:tcPr anchor="ctr"/>
                </a:tc>
                <a:tc>
                  <a:txBody>
                    <a:bodyPr/>
                    <a:lstStyle/>
                    <a:p>
                      <a:r>
                        <a:rPr lang="en-GB" sz="2800" dirty="0"/>
                        <a:t>1210</a:t>
                      </a:r>
                      <a:endParaRPr lang="en-IN" sz="2800" dirty="0"/>
                    </a:p>
                  </a:txBody>
                  <a:tcPr anchor="ctr"/>
                </a:tc>
                <a:extLst>
                  <a:ext uri="{0D108BD9-81ED-4DB2-BD59-A6C34878D82A}">
                    <a16:rowId xmlns:a16="http://schemas.microsoft.com/office/drawing/2014/main" val="1067171034"/>
                  </a:ext>
                </a:extLst>
              </a:tr>
            </a:tbl>
          </a:graphicData>
        </a:graphic>
      </p:graphicFrame>
    </p:spTree>
    <p:extLst>
      <p:ext uri="{BB962C8B-B14F-4D97-AF65-F5344CB8AC3E}">
        <p14:creationId xmlns:p14="http://schemas.microsoft.com/office/powerpoint/2010/main" val="368245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ADF7A-2C54-4EFB-90C4-C582E2650142}"/>
              </a:ext>
            </a:extLst>
          </p:cNvPr>
          <p:cNvSpPr>
            <a:spLocks noGrp="1"/>
          </p:cNvSpPr>
          <p:nvPr>
            <p:ph type="title"/>
          </p:nvPr>
        </p:nvSpPr>
        <p:spPr/>
        <p:txBody>
          <a:bodyPr>
            <a:normAutofit/>
          </a:bodyPr>
          <a:lstStyle/>
          <a:p>
            <a:pPr>
              <a:defRPr/>
            </a:pPr>
            <a:r>
              <a:rPr lang="en-IN" dirty="0"/>
              <a:t>Present Value / Discounting</a:t>
            </a:r>
          </a:p>
        </p:txBody>
      </p:sp>
      <p:sp>
        <p:nvSpPr>
          <p:cNvPr id="3" name="Content Placeholder 2">
            <a:extLst>
              <a:ext uri="{FF2B5EF4-FFF2-40B4-BE49-F238E27FC236}">
                <a16:creationId xmlns:a16="http://schemas.microsoft.com/office/drawing/2014/main" id="{CDFA0A65-6295-4C21-8E5F-FD0CA179C2D1}"/>
              </a:ext>
            </a:extLst>
          </p:cNvPr>
          <p:cNvSpPr>
            <a:spLocks noGrp="1"/>
          </p:cNvSpPr>
          <p:nvPr>
            <p:ph idx="1"/>
          </p:nvPr>
        </p:nvSpPr>
        <p:spPr/>
        <p:txBody>
          <a:bodyPr>
            <a:normAutofit/>
          </a:bodyPr>
          <a:lstStyle/>
          <a:p>
            <a:pPr>
              <a:defRPr/>
            </a:pPr>
            <a:r>
              <a:rPr lang="en-IN" dirty="0"/>
              <a:t>Present value is </a:t>
            </a:r>
            <a:r>
              <a:rPr lang="en-IN" b="1" dirty="0">
                <a:solidFill>
                  <a:srgbClr val="C00000"/>
                </a:solidFill>
              </a:rPr>
              <a:t>exact opposite of Future value.</a:t>
            </a:r>
          </a:p>
          <a:p>
            <a:pPr>
              <a:defRPr/>
            </a:pPr>
            <a:r>
              <a:rPr lang="en-GB" dirty="0"/>
              <a:t>Discounting is the process of finding out how much a future amount of money is worth today this is also known as calculating present value.</a:t>
            </a:r>
          </a:p>
          <a:p>
            <a:pPr>
              <a:defRPr/>
            </a:pPr>
            <a:r>
              <a:rPr lang="en-GB" b="1" dirty="0">
                <a:solidFill>
                  <a:srgbClr val="C00000"/>
                </a:solidFill>
              </a:rPr>
              <a:t>It finds present value from future value.</a:t>
            </a:r>
            <a:endParaRPr lang="en-IN" b="1" dirty="0">
              <a:solidFill>
                <a:srgbClr val="C00000"/>
              </a:solidFill>
            </a:endParaRPr>
          </a:p>
          <a:p>
            <a:pPr>
              <a:defRPr/>
            </a:pPr>
            <a:r>
              <a:rPr lang="en-IN" dirty="0"/>
              <a:t>The present value of money to be received in future will always less. </a:t>
            </a:r>
          </a:p>
          <a:p>
            <a:pPr>
              <a:defRPr/>
            </a:pPr>
            <a:r>
              <a:rPr lang="en-GB" dirty="0"/>
              <a:t>For example, if you will receive rupees 1210 after two years at the rate of interest 10% how much is that worth today?</a:t>
            </a:r>
          </a:p>
          <a:p>
            <a:pPr>
              <a:defRPr/>
            </a:pPr>
            <a:r>
              <a:rPr lang="en-GB" dirty="0"/>
              <a:t>PV = FV / (1+r)</a:t>
            </a:r>
            <a:r>
              <a:rPr lang="en-GB" baseline="30000" dirty="0"/>
              <a:t>n</a:t>
            </a:r>
          </a:p>
          <a:p>
            <a:pPr>
              <a:defRPr/>
            </a:pPr>
            <a:r>
              <a:rPr lang="en-GB" dirty="0"/>
              <a:t>PV = 1210 / (1+0.10)2</a:t>
            </a:r>
          </a:p>
          <a:p>
            <a:pPr>
              <a:defRPr/>
            </a:pPr>
            <a:r>
              <a:rPr lang="en-GB" dirty="0"/>
              <a:t>PV = 1210 / 1.21</a:t>
            </a:r>
          </a:p>
          <a:p>
            <a:pPr>
              <a:defRPr/>
            </a:pPr>
            <a:r>
              <a:rPr lang="en-GB" dirty="0"/>
              <a:t>PV = 1000</a:t>
            </a:r>
            <a:endParaRPr lang="en-IN" dirty="0"/>
          </a:p>
        </p:txBody>
      </p:sp>
    </p:spTree>
    <p:extLst>
      <p:ext uri="{BB962C8B-B14F-4D97-AF65-F5344CB8AC3E}">
        <p14:creationId xmlns:p14="http://schemas.microsoft.com/office/powerpoint/2010/main" val="3781478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B30A1-14C1-44C7-B1CD-B8A16426B9E0}"/>
              </a:ext>
            </a:extLst>
          </p:cNvPr>
          <p:cNvSpPr>
            <a:spLocks noGrp="1"/>
          </p:cNvSpPr>
          <p:nvPr>
            <p:ph type="title"/>
          </p:nvPr>
        </p:nvSpPr>
        <p:spPr/>
        <p:txBody>
          <a:bodyPr/>
          <a:lstStyle/>
          <a:p>
            <a:r>
              <a:rPr lang="en-US" dirty="0"/>
              <a:t>Methods/Techniques of Time Value of Money </a:t>
            </a:r>
            <a:endParaRPr lang="en-IN" dirty="0"/>
          </a:p>
        </p:txBody>
      </p:sp>
      <p:graphicFrame>
        <p:nvGraphicFramePr>
          <p:cNvPr id="4" name="Content Placeholder 3">
            <a:extLst>
              <a:ext uri="{FF2B5EF4-FFF2-40B4-BE49-F238E27FC236}">
                <a16:creationId xmlns:a16="http://schemas.microsoft.com/office/drawing/2014/main" id="{B3011893-159E-4FE6-BE7B-1DCB602D81FA}"/>
              </a:ext>
            </a:extLst>
          </p:cNvPr>
          <p:cNvGraphicFramePr>
            <a:graphicFrameLocks noGrp="1"/>
          </p:cNvGraphicFramePr>
          <p:nvPr>
            <p:ph idx="1"/>
          </p:nvPr>
        </p:nvGraphicFramePr>
        <p:xfrm>
          <a:off x="131180" y="863445"/>
          <a:ext cx="12060820" cy="51829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478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graphicEl>
                                              <a:dgm id="{C1FC1A97-F18F-4223-AD64-50CC7DA375E4}"/>
                                            </p:graphicEl>
                                          </p:spTgt>
                                        </p:tgtEl>
                                        <p:attrNameLst>
                                          <p:attrName>style.visibility</p:attrName>
                                        </p:attrNameLst>
                                      </p:cBhvr>
                                      <p:to>
                                        <p:strVal val="visible"/>
                                      </p:to>
                                    </p:set>
                                    <p:anim calcmode="lin" valueType="num">
                                      <p:cBhvr additive="base">
                                        <p:cTn id="7" dur="500" fill="hold"/>
                                        <p:tgtEl>
                                          <p:spTgt spid="4">
                                            <p:graphicEl>
                                              <a:dgm id="{C1FC1A97-F18F-4223-AD64-50CC7DA375E4}"/>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C1FC1A97-F18F-4223-AD64-50CC7DA375E4}"/>
                                            </p:graphic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
                                            <p:graphicEl>
                                              <a:dgm id="{165FA073-510C-4353-B7C7-45C33379D76F}"/>
                                            </p:graphicEl>
                                          </p:spTgt>
                                        </p:tgtEl>
                                        <p:attrNameLst>
                                          <p:attrName>style.visibility</p:attrName>
                                        </p:attrNameLst>
                                      </p:cBhvr>
                                      <p:to>
                                        <p:strVal val="visible"/>
                                      </p:to>
                                    </p:set>
                                    <p:anim calcmode="lin" valueType="num">
                                      <p:cBhvr additive="base">
                                        <p:cTn id="13" dur="500" fill="hold"/>
                                        <p:tgtEl>
                                          <p:spTgt spid="4">
                                            <p:graphicEl>
                                              <a:dgm id="{165FA073-510C-4353-B7C7-45C33379D76F}"/>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165FA073-510C-4353-B7C7-45C33379D76F}"/>
                                            </p:graphicEl>
                                          </p:spTgt>
                                        </p:tgtEl>
                                        <p:attrNameLst>
                                          <p:attrName>ppt_y</p:attrName>
                                        </p:attrNameLst>
                                      </p:cBhvr>
                                      <p:tavLst>
                                        <p:tav tm="0">
                                          <p:val>
                                            <p:strVal val="0-#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4">
                                            <p:graphicEl>
                                              <a:dgm id="{C19D9721-108A-4514-B6FA-10E803A03E9C}"/>
                                            </p:graphicEl>
                                          </p:spTgt>
                                        </p:tgtEl>
                                        <p:attrNameLst>
                                          <p:attrName>style.visibility</p:attrName>
                                        </p:attrNameLst>
                                      </p:cBhvr>
                                      <p:to>
                                        <p:strVal val="visible"/>
                                      </p:to>
                                    </p:set>
                                    <p:anim calcmode="lin" valueType="num">
                                      <p:cBhvr additive="base">
                                        <p:cTn id="17" dur="500" fill="hold"/>
                                        <p:tgtEl>
                                          <p:spTgt spid="4">
                                            <p:graphicEl>
                                              <a:dgm id="{C19D9721-108A-4514-B6FA-10E803A03E9C}"/>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C19D9721-108A-4514-B6FA-10E803A03E9C}"/>
                                            </p:graphicEl>
                                          </p:spTgt>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4">
                                            <p:graphicEl>
                                              <a:dgm id="{7754883D-DEA0-40EF-83FA-93AE4447189E}"/>
                                            </p:graphicEl>
                                          </p:spTgt>
                                        </p:tgtEl>
                                        <p:attrNameLst>
                                          <p:attrName>style.visibility</p:attrName>
                                        </p:attrNameLst>
                                      </p:cBhvr>
                                      <p:to>
                                        <p:strVal val="visible"/>
                                      </p:to>
                                    </p:set>
                                    <p:anim calcmode="lin" valueType="num">
                                      <p:cBhvr additive="base">
                                        <p:cTn id="23" dur="500" fill="hold"/>
                                        <p:tgtEl>
                                          <p:spTgt spid="4">
                                            <p:graphicEl>
                                              <a:dgm id="{7754883D-DEA0-40EF-83FA-93AE4447189E}"/>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graphicEl>
                                              <a:dgm id="{7754883D-DEA0-40EF-83FA-93AE4447189E}"/>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4">
                                            <p:graphicEl>
                                              <a:dgm id="{1FD44F0D-4868-4654-BC2A-B5A4960FDD4B}"/>
                                            </p:graphicEl>
                                          </p:spTgt>
                                        </p:tgtEl>
                                        <p:attrNameLst>
                                          <p:attrName>style.visibility</p:attrName>
                                        </p:attrNameLst>
                                      </p:cBhvr>
                                      <p:to>
                                        <p:strVal val="visible"/>
                                      </p:to>
                                    </p:set>
                                    <p:anim calcmode="lin" valueType="num">
                                      <p:cBhvr additive="base">
                                        <p:cTn id="27" dur="500" fill="hold"/>
                                        <p:tgtEl>
                                          <p:spTgt spid="4">
                                            <p:graphicEl>
                                              <a:dgm id="{1FD44F0D-4868-4654-BC2A-B5A4960FDD4B}"/>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1FD44F0D-4868-4654-BC2A-B5A4960FDD4B}"/>
                                            </p:graphicEl>
                                          </p:spTgt>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grpId="0" nodeType="clickEffect">
                                  <p:stCondLst>
                                    <p:cond delay="0"/>
                                  </p:stCondLst>
                                  <p:childTnLst>
                                    <p:set>
                                      <p:cBhvr>
                                        <p:cTn id="32" dur="1" fill="hold">
                                          <p:stCondLst>
                                            <p:cond delay="0"/>
                                          </p:stCondLst>
                                        </p:cTn>
                                        <p:tgtEl>
                                          <p:spTgt spid="4">
                                            <p:graphicEl>
                                              <a:dgm id="{422BBEDD-A4EF-4B97-8670-00158FF0B958}"/>
                                            </p:graphicEl>
                                          </p:spTgt>
                                        </p:tgtEl>
                                        <p:attrNameLst>
                                          <p:attrName>style.visibility</p:attrName>
                                        </p:attrNameLst>
                                      </p:cBhvr>
                                      <p:to>
                                        <p:strVal val="visible"/>
                                      </p:to>
                                    </p:set>
                                    <p:anim calcmode="lin" valueType="num">
                                      <p:cBhvr additive="base">
                                        <p:cTn id="33" dur="500" fill="hold"/>
                                        <p:tgtEl>
                                          <p:spTgt spid="4">
                                            <p:graphicEl>
                                              <a:dgm id="{422BBEDD-A4EF-4B97-8670-00158FF0B958}"/>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422BBEDD-A4EF-4B97-8670-00158FF0B958}"/>
                                            </p:graphicEl>
                                          </p:spTgt>
                                        </p:tgtEl>
                                        <p:attrNameLst>
                                          <p:attrName>ppt_y</p:attrName>
                                        </p:attrNameLst>
                                      </p:cBhvr>
                                      <p:tavLst>
                                        <p:tav tm="0">
                                          <p:val>
                                            <p:strVal val="0-#ppt_h/2"/>
                                          </p:val>
                                        </p:tav>
                                        <p:tav tm="100000">
                                          <p:val>
                                            <p:strVal val="#ppt_y"/>
                                          </p:val>
                                        </p:tav>
                                      </p:tavLst>
                                    </p:anim>
                                  </p:childTnLst>
                                </p:cTn>
                              </p:par>
                              <p:par>
                                <p:cTn id="35" presetID="2" presetClass="entr" presetSubtype="1" fill="hold" grpId="0" nodeType="withEffect">
                                  <p:stCondLst>
                                    <p:cond delay="0"/>
                                  </p:stCondLst>
                                  <p:childTnLst>
                                    <p:set>
                                      <p:cBhvr>
                                        <p:cTn id="36" dur="1" fill="hold">
                                          <p:stCondLst>
                                            <p:cond delay="0"/>
                                          </p:stCondLst>
                                        </p:cTn>
                                        <p:tgtEl>
                                          <p:spTgt spid="4">
                                            <p:graphicEl>
                                              <a:dgm id="{CCA6995F-00DD-4A6F-9512-43DE2E46F8AC}"/>
                                            </p:graphicEl>
                                          </p:spTgt>
                                        </p:tgtEl>
                                        <p:attrNameLst>
                                          <p:attrName>style.visibility</p:attrName>
                                        </p:attrNameLst>
                                      </p:cBhvr>
                                      <p:to>
                                        <p:strVal val="visible"/>
                                      </p:to>
                                    </p:set>
                                    <p:anim calcmode="lin" valueType="num">
                                      <p:cBhvr additive="base">
                                        <p:cTn id="37" dur="500" fill="hold"/>
                                        <p:tgtEl>
                                          <p:spTgt spid="4">
                                            <p:graphicEl>
                                              <a:dgm id="{CCA6995F-00DD-4A6F-9512-43DE2E46F8AC}"/>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CCA6995F-00DD-4A6F-9512-43DE2E46F8AC}"/>
                                            </p:graphicEl>
                                          </p:spTgt>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4">
                                            <p:graphicEl>
                                              <a:dgm id="{AF41162F-BA76-4268-ADA1-66416AD6D3CD}"/>
                                            </p:graphicEl>
                                          </p:spTgt>
                                        </p:tgtEl>
                                        <p:attrNameLst>
                                          <p:attrName>style.visibility</p:attrName>
                                        </p:attrNameLst>
                                      </p:cBhvr>
                                      <p:to>
                                        <p:strVal val="visible"/>
                                      </p:to>
                                    </p:set>
                                    <p:anim calcmode="lin" valueType="num">
                                      <p:cBhvr additive="base">
                                        <p:cTn id="43" dur="500" fill="hold"/>
                                        <p:tgtEl>
                                          <p:spTgt spid="4">
                                            <p:graphicEl>
                                              <a:dgm id="{AF41162F-BA76-4268-ADA1-66416AD6D3CD}"/>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AF41162F-BA76-4268-ADA1-66416AD6D3CD}"/>
                                            </p:graphicEl>
                                          </p:spTgt>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1" fill="hold" grpId="0" nodeType="clickEffect">
                                  <p:stCondLst>
                                    <p:cond delay="0"/>
                                  </p:stCondLst>
                                  <p:childTnLst>
                                    <p:set>
                                      <p:cBhvr>
                                        <p:cTn id="48" dur="1" fill="hold">
                                          <p:stCondLst>
                                            <p:cond delay="0"/>
                                          </p:stCondLst>
                                        </p:cTn>
                                        <p:tgtEl>
                                          <p:spTgt spid="4">
                                            <p:graphicEl>
                                              <a:dgm id="{B956624C-CD3F-48B9-9A4A-358E6997CA10}"/>
                                            </p:graphicEl>
                                          </p:spTgt>
                                        </p:tgtEl>
                                        <p:attrNameLst>
                                          <p:attrName>style.visibility</p:attrName>
                                        </p:attrNameLst>
                                      </p:cBhvr>
                                      <p:to>
                                        <p:strVal val="visible"/>
                                      </p:to>
                                    </p:set>
                                    <p:anim calcmode="lin" valueType="num">
                                      <p:cBhvr additive="base">
                                        <p:cTn id="49" dur="500" fill="hold"/>
                                        <p:tgtEl>
                                          <p:spTgt spid="4">
                                            <p:graphicEl>
                                              <a:dgm id="{B956624C-CD3F-48B9-9A4A-358E6997CA10}"/>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graphicEl>
                                              <a:dgm id="{B956624C-CD3F-48B9-9A4A-358E6997CA10}"/>
                                            </p:graphicEl>
                                          </p:spTgt>
                                        </p:tgtEl>
                                        <p:attrNameLst>
                                          <p:attrName>ppt_y</p:attrName>
                                        </p:attrNameLst>
                                      </p:cBhvr>
                                      <p:tavLst>
                                        <p:tav tm="0">
                                          <p:val>
                                            <p:strVal val="0-#ppt_h/2"/>
                                          </p:val>
                                        </p:tav>
                                        <p:tav tm="100000">
                                          <p:val>
                                            <p:strVal val="#ppt_y"/>
                                          </p:val>
                                        </p:tav>
                                      </p:tavLst>
                                    </p:anim>
                                  </p:childTnLst>
                                </p:cTn>
                              </p:par>
                              <p:par>
                                <p:cTn id="51" presetID="2" presetClass="entr" presetSubtype="1" fill="hold" grpId="0" nodeType="withEffect">
                                  <p:stCondLst>
                                    <p:cond delay="0"/>
                                  </p:stCondLst>
                                  <p:childTnLst>
                                    <p:set>
                                      <p:cBhvr>
                                        <p:cTn id="52" dur="1" fill="hold">
                                          <p:stCondLst>
                                            <p:cond delay="0"/>
                                          </p:stCondLst>
                                        </p:cTn>
                                        <p:tgtEl>
                                          <p:spTgt spid="4">
                                            <p:graphicEl>
                                              <a:dgm id="{0B0B6241-0532-48D2-B010-624016BEEF2F}"/>
                                            </p:graphicEl>
                                          </p:spTgt>
                                        </p:tgtEl>
                                        <p:attrNameLst>
                                          <p:attrName>style.visibility</p:attrName>
                                        </p:attrNameLst>
                                      </p:cBhvr>
                                      <p:to>
                                        <p:strVal val="visible"/>
                                      </p:to>
                                    </p:set>
                                    <p:anim calcmode="lin" valueType="num">
                                      <p:cBhvr additive="base">
                                        <p:cTn id="53" dur="500" fill="hold"/>
                                        <p:tgtEl>
                                          <p:spTgt spid="4">
                                            <p:graphicEl>
                                              <a:dgm id="{0B0B6241-0532-48D2-B010-624016BEEF2F}"/>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graphicEl>
                                              <a:dgm id="{0B0B6241-0532-48D2-B010-624016BEEF2F}"/>
                                            </p:graphicEl>
                                          </p:spTgt>
                                        </p:tgtEl>
                                        <p:attrNameLst>
                                          <p:attrName>ppt_y</p:attrName>
                                        </p:attrNameLst>
                                      </p:cBhvr>
                                      <p:tavLst>
                                        <p:tav tm="0">
                                          <p:val>
                                            <p:strVal val="0-#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1" fill="hold" grpId="0" nodeType="clickEffect">
                                  <p:stCondLst>
                                    <p:cond delay="0"/>
                                  </p:stCondLst>
                                  <p:childTnLst>
                                    <p:set>
                                      <p:cBhvr>
                                        <p:cTn id="58" dur="1" fill="hold">
                                          <p:stCondLst>
                                            <p:cond delay="0"/>
                                          </p:stCondLst>
                                        </p:cTn>
                                        <p:tgtEl>
                                          <p:spTgt spid="4">
                                            <p:graphicEl>
                                              <a:dgm id="{95AE1C61-1167-4CFA-962B-A0DBD95B0DB8}"/>
                                            </p:graphicEl>
                                          </p:spTgt>
                                        </p:tgtEl>
                                        <p:attrNameLst>
                                          <p:attrName>style.visibility</p:attrName>
                                        </p:attrNameLst>
                                      </p:cBhvr>
                                      <p:to>
                                        <p:strVal val="visible"/>
                                      </p:to>
                                    </p:set>
                                    <p:anim calcmode="lin" valueType="num">
                                      <p:cBhvr additive="base">
                                        <p:cTn id="59" dur="500" fill="hold"/>
                                        <p:tgtEl>
                                          <p:spTgt spid="4">
                                            <p:graphicEl>
                                              <a:dgm id="{95AE1C61-1167-4CFA-962B-A0DBD95B0DB8}"/>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graphicEl>
                                              <a:dgm id="{95AE1C61-1167-4CFA-962B-A0DBD95B0DB8}"/>
                                            </p:graphicEl>
                                          </p:spTgt>
                                        </p:tgtEl>
                                        <p:attrNameLst>
                                          <p:attrName>ppt_y</p:attrName>
                                        </p:attrNameLst>
                                      </p:cBhvr>
                                      <p:tavLst>
                                        <p:tav tm="0">
                                          <p:val>
                                            <p:strVal val="0-#ppt_h/2"/>
                                          </p:val>
                                        </p:tav>
                                        <p:tav tm="100000">
                                          <p:val>
                                            <p:strVal val="#ppt_y"/>
                                          </p:val>
                                        </p:tav>
                                      </p:tavLst>
                                    </p:anim>
                                  </p:childTnLst>
                                </p:cTn>
                              </p:par>
                              <p:par>
                                <p:cTn id="61" presetID="2" presetClass="entr" presetSubtype="1" fill="hold" grpId="0" nodeType="withEffect">
                                  <p:stCondLst>
                                    <p:cond delay="0"/>
                                  </p:stCondLst>
                                  <p:childTnLst>
                                    <p:set>
                                      <p:cBhvr>
                                        <p:cTn id="62" dur="1" fill="hold">
                                          <p:stCondLst>
                                            <p:cond delay="0"/>
                                          </p:stCondLst>
                                        </p:cTn>
                                        <p:tgtEl>
                                          <p:spTgt spid="4">
                                            <p:graphicEl>
                                              <a:dgm id="{544F8908-50F7-4693-856A-E27059CB5AD3}"/>
                                            </p:graphicEl>
                                          </p:spTgt>
                                        </p:tgtEl>
                                        <p:attrNameLst>
                                          <p:attrName>style.visibility</p:attrName>
                                        </p:attrNameLst>
                                      </p:cBhvr>
                                      <p:to>
                                        <p:strVal val="visible"/>
                                      </p:to>
                                    </p:set>
                                    <p:anim calcmode="lin" valueType="num">
                                      <p:cBhvr additive="base">
                                        <p:cTn id="63" dur="500" fill="hold"/>
                                        <p:tgtEl>
                                          <p:spTgt spid="4">
                                            <p:graphicEl>
                                              <a:dgm id="{544F8908-50F7-4693-856A-E27059CB5AD3}"/>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graphicEl>
                                              <a:dgm id="{544F8908-50F7-4693-856A-E27059CB5AD3}"/>
                                            </p:graphicEl>
                                          </p:spTgt>
                                        </p:tgtEl>
                                        <p:attrNameLst>
                                          <p:attrName>ppt_y</p:attrName>
                                        </p:attrNameLst>
                                      </p:cBhvr>
                                      <p:tavLst>
                                        <p:tav tm="0">
                                          <p:val>
                                            <p:strVal val="0-#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1" fill="hold" grpId="0" nodeType="clickEffect">
                                  <p:stCondLst>
                                    <p:cond delay="0"/>
                                  </p:stCondLst>
                                  <p:childTnLst>
                                    <p:set>
                                      <p:cBhvr>
                                        <p:cTn id="68" dur="1" fill="hold">
                                          <p:stCondLst>
                                            <p:cond delay="0"/>
                                          </p:stCondLst>
                                        </p:cTn>
                                        <p:tgtEl>
                                          <p:spTgt spid="4">
                                            <p:graphicEl>
                                              <a:dgm id="{F8A62989-3773-4301-859B-283D924E8E5C}"/>
                                            </p:graphicEl>
                                          </p:spTgt>
                                        </p:tgtEl>
                                        <p:attrNameLst>
                                          <p:attrName>style.visibility</p:attrName>
                                        </p:attrNameLst>
                                      </p:cBhvr>
                                      <p:to>
                                        <p:strVal val="visible"/>
                                      </p:to>
                                    </p:set>
                                    <p:anim calcmode="lin" valueType="num">
                                      <p:cBhvr additive="base">
                                        <p:cTn id="69" dur="500" fill="hold"/>
                                        <p:tgtEl>
                                          <p:spTgt spid="4">
                                            <p:graphicEl>
                                              <a:dgm id="{F8A62989-3773-4301-859B-283D924E8E5C}"/>
                                            </p:graphicEl>
                                          </p:spTgt>
                                        </p:tgtEl>
                                        <p:attrNameLst>
                                          <p:attrName>ppt_x</p:attrName>
                                        </p:attrNameLst>
                                      </p:cBhvr>
                                      <p:tavLst>
                                        <p:tav tm="0">
                                          <p:val>
                                            <p:strVal val="#ppt_x"/>
                                          </p:val>
                                        </p:tav>
                                        <p:tav tm="100000">
                                          <p:val>
                                            <p:strVal val="#ppt_x"/>
                                          </p:val>
                                        </p:tav>
                                      </p:tavLst>
                                    </p:anim>
                                    <p:anim calcmode="lin" valueType="num">
                                      <p:cBhvr additive="base">
                                        <p:cTn id="70" dur="500" fill="hold"/>
                                        <p:tgtEl>
                                          <p:spTgt spid="4">
                                            <p:graphicEl>
                                              <a:dgm id="{F8A62989-3773-4301-859B-283D924E8E5C}"/>
                                            </p:graphicEl>
                                          </p:spTgt>
                                        </p:tgtEl>
                                        <p:attrNameLst>
                                          <p:attrName>ppt_y</p:attrName>
                                        </p:attrNameLst>
                                      </p:cBhvr>
                                      <p:tavLst>
                                        <p:tav tm="0">
                                          <p:val>
                                            <p:strVal val="0-#ppt_h/2"/>
                                          </p:val>
                                        </p:tav>
                                        <p:tav tm="100000">
                                          <p:val>
                                            <p:strVal val="#ppt_y"/>
                                          </p:val>
                                        </p:tav>
                                      </p:tavLst>
                                    </p:anim>
                                  </p:childTnLst>
                                </p:cTn>
                              </p:par>
                              <p:par>
                                <p:cTn id="71" presetID="2" presetClass="entr" presetSubtype="1" fill="hold" grpId="0" nodeType="withEffect">
                                  <p:stCondLst>
                                    <p:cond delay="0"/>
                                  </p:stCondLst>
                                  <p:childTnLst>
                                    <p:set>
                                      <p:cBhvr>
                                        <p:cTn id="72" dur="1" fill="hold">
                                          <p:stCondLst>
                                            <p:cond delay="0"/>
                                          </p:stCondLst>
                                        </p:cTn>
                                        <p:tgtEl>
                                          <p:spTgt spid="4">
                                            <p:graphicEl>
                                              <a:dgm id="{AF724260-C3E2-489E-BA6F-032ECEA1488E}"/>
                                            </p:graphicEl>
                                          </p:spTgt>
                                        </p:tgtEl>
                                        <p:attrNameLst>
                                          <p:attrName>style.visibility</p:attrName>
                                        </p:attrNameLst>
                                      </p:cBhvr>
                                      <p:to>
                                        <p:strVal val="visible"/>
                                      </p:to>
                                    </p:set>
                                    <p:anim calcmode="lin" valueType="num">
                                      <p:cBhvr additive="base">
                                        <p:cTn id="73" dur="500" fill="hold"/>
                                        <p:tgtEl>
                                          <p:spTgt spid="4">
                                            <p:graphicEl>
                                              <a:dgm id="{AF724260-C3E2-489E-BA6F-032ECEA1488E}"/>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graphicEl>
                                              <a:dgm id="{AF724260-C3E2-489E-BA6F-032ECEA1488E}"/>
                                            </p:graphicEl>
                                          </p:spTgt>
                                        </p:tgtEl>
                                        <p:attrNameLst>
                                          <p:attrName>ppt_y</p:attrName>
                                        </p:attrNameLst>
                                      </p:cBhvr>
                                      <p:tavLst>
                                        <p:tav tm="0">
                                          <p:val>
                                            <p:strVal val="0-#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1" fill="hold" grpId="0" nodeType="clickEffect">
                                  <p:stCondLst>
                                    <p:cond delay="0"/>
                                  </p:stCondLst>
                                  <p:childTnLst>
                                    <p:set>
                                      <p:cBhvr>
                                        <p:cTn id="78" dur="1" fill="hold">
                                          <p:stCondLst>
                                            <p:cond delay="0"/>
                                          </p:stCondLst>
                                        </p:cTn>
                                        <p:tgtEl>
                                          <p:spTgt spid="4">
                                            <p:graphicEl>
                                              <a:dgm id="{34961ABC-8630-42B4-8C56-5D23C53AA226}"/>
                                            </p:graphicEl>
                                          </p:spTgt>
                                        </p:tgtEl>
                                        <p:attrNameLst>
                                          <p:attrName>style.visibility</p:attrName>
                                        </p:attrNameLst>
                                      </p:cBhvr>
                                      <p:to>
                                        <p:strVal val="visible"/>
                                      </p:to>
                                    </p:set>
                                    <p:anim calcmode="lin" valueType="num">
                                      <p:cBhvr additive="base">
                                        <p:cTn id="79" dur="500" fill="hold"/>
                                        <p:tgtEl>
                                          <p:spTgt spid="4">
                                            <p:graphicEl>
                                              <a:dgm id="{34961ABC-8630-42B4-8C56-5D23C53AA226}"/>
                                            </p:graphic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graphicEl>
                                              <a:dgm id="{34961ABC-8630-42B4-8C56-5D23C53AA226}"/>
                                            </p:graphicEl>
                                          </p:spTgt>
                                        </p:tgtEl>
                                        <p:attrNameLst>
                                          <p:attrName>ppt_y</p:attrName>
                                        </p:attrNameLst>
                                      </p:cBhvr>
                                      <p:tavLst>
                                        <p:tav tm="0">
                                          <p:val>
                                            <p:strVal val="0-#ppt_h/2"/>
                                          </p:val>
                                        </p:tav>
                                        <p:tav tm="100000">
                                          <p:val>
                                            <p:strVal val="#ppt_y"/>
                                          </p:val>
                                        </p:tav>
                                      </p:tavLst>
                                    </p:anim>
                                  </p:childTnLst>
                                </p:cTn>
                              </p:par>
                              <p:par>
                                <p:cTn id="81" presetID="2" presetClass="entr" presetSubtype="1" fill="hold" grpId="0" nodeType="withEffect">
                                  <p:stCondLst>
                                    <p:cond delay="0"/>
                                  </p:stCondLst>
                                  <p:childTnLst>
                                    <p:set>
                                      <p:cBhvr>
                                        <p:cTn id="82" dur="1" fill="hold">
                                          <p:stCondLst>
                                            <p:cond delay="0"/>
                                          </p:stCondLst>
                                        </p:cTn>
                                        <p:tgtEl>
                                          <p:spTgt spid="4">
                                            <p:graphicEl>
                                              <a:dgm id="{A175B3C0-1B0C-4E69-8808-36C87F87DDDA}"/>
                                            </p:graphicEl>
                                          </p:spTgt>
                                        </p:tgtEl>
                                        <p:attrNameLst>
                                          <p:attrName>style.visibility</p:attrName>
                                        </p:attrNameLst>
                                      </p:cBhvr>
                                      <p:to>
                                        <p:strVal val="visible"/>
                                      </p:to>
                                    </p:set>
                                    <p:anim calcmode="lin" valueType="num">
                                      <p:cBhvr additive="base">
                                        <p:cTn id="83" dur="500" fill="hold"/>
                                        <p:tgtEl>
                                          <p:spTgt spid="4">
                                            <p:graphicEl>
                                              <a:dgm id="{A175B3C0-1B0C-4E69-8808-36C87F87DDDA}"/>
                                            </p:graphicEl>
                                          </p:spTgt>
                                        </p:tgtEl>
                                        <p:attrNameLst>
                                          <p:attrName>ppt_x</p:attrName>
                                        </p:attrNameLst>
                                      </p:cBhvr>
                                      <p:tavLst>
                                        <p:tav tm="0">
                                          <p:val>
                                            <p:strVal val="#ppt_x"/>
                                          </p:val>
                                        </p:tav>
                                        <p:tav tm="100000">
                                          <p:val>
                                            <p:strVal val="#ppt_x"/>
                                          </p:val>
                                        </p:tav>
                                      </p:tavLst>
                                    </p:anim>
                                    <p:anim calcmode="lin" valueType="num">
                                      <p:cBhvr additive="base">
                                        <p:cTn id="84" dur="500" fill="hold"/>
                                        <p:tgtEl>
                                          <p:spTgt spid="4">
                                            <p:graphicEl>
                                              <a:dgm id="{A175B3C0-1B0C-4E69-8808-36C87F87DDDA}"/>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DF4B6-F37E-48A7-A79F-143CB6C93373}"/>
              </a:ext>
            </a:extLst>
          </p:cNvPr>
          <p:cNvSpPr>
            <a:spLocks noGrp="1"/>
          </p:cNvSpPr>
          <p:nvPr>
            <p:ph type="title"/>
          </p:nvPr>
        </p:nvSpPr>
        <p:spPr/>
        <p:txBody>
          <a:bodyPr/>
          <a:lstStyle/>
          <a:p>
            <a:r>
              <a:rPr lang="en-US" dirty="0"/>
              <a:t>1) Future Value of a Single Amount</a:t>
            </a:r>
            <a:endParaRPr lang="en-IN" dirty="0"/>
          </a:p>
        </p:txBody>
      </p:sp>
      <p:sp>
        <p:nvSpPr>
          <p:cNvPr id="3" name="Content Placeholder 2">
            <a:extLst>
              <a:ext uri="{FF2B5EF4-FFF2-40B4-BE49-F238E27FC236}">
                <a16:creationId xmlns:a16="http://schemas.microsoft.com/office/drawing/2014/main" id="{C31DA903-7F8D-4B27-9806-80AEA9EDBA23}"/>
              </a:ext>
            </a:extLst>
          </p:cNvPr>
          <p:cNvSpPr>
            <a:spLocks noGrp="1"/>
          </p:cNvSpPr>
          <p:nvPr>
            <p:ph idx="1"/>
          </p:nvPr>
        </p:nvSpPr>
        <p:spPr/>
        <p:txBody>
          <a:bodyPr/>
          <a:lstStyle/>
          <a:p>
            <a:pPr>
              <a:defRPr/>
            </a:pPr>
            <a:r>
              <a:rPr lang="en-IN" dirty="0"/>
              <a:t>Suppose your father gave you Rs. 10,000 on your eighteenth birthday. You deposited this amount to a bank at 10% rate of interest for one year. How much future sum would you receive after one year ?........after two years?</a:t>
            </a:r>
          </a:p>
          <a:p>
            <a:pPr marL="109537" indent="0">
              <a:buNone/>
              <a:defRPr/>
            </a:pPr>
            <a:endParaRPr lang="en-IN" dirty="0"/>
          </a:p>
          <a:p>
            <a:r>
              <a:rPr lang="en-IN" dirty="0"/>
              <a:t>Value of present cash inflow or cash outflow after a certain no. of years at a specific interest rate is called the future value of Single Cash flow.</a:t>
            </a:r>
          </a:p>
          <a:p>
            <a:pPr marL="0" indent="0">
              <a:buNone/>
            </a:pPr>
            <a:endParaRPr lang="en-IN" dirty="0"/>
          </a:p>
          <a:p>
            <a:pPr marL="109537" indent="0">
              <a:buNone/>
              <a:defRPr/>
            </a:pPr>
            <a:endParaRPr lang="en-IN" dirty="0"/>
          </a:p>
          <a:p>
            <a:endParaRPr lang="en-IN" dirty="0"/>
          </a:p>
        </p:txBody>
      </p:sp>
    </p:spTree>
    <p:extLst>
      <p:ext uri="{BB962C8B-B14F-4D97-AF65-F5344CB8AC3E}">
        <p14:creationId xmlns:p14="http://schemas.microsoft.com/office/powerpoint/2010/main" val="2836362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9A55DE4-E9B4-4ED6-A77F-D622DD345537}"/>
              </a:ext>
            </a:extLst>
          </p:cNvPr>
          <p:cNvSpPr>
            <a:spLocks noGrp="1"/>
          </p:cNvSpPr>
          <p:nvPr>
            <p:ph type="title"/>
          </p:nvPr>
        </p:nvSpPr>
        <p:spPr/>
        <p:txBody>
          <a:bodyPr/>
          <a:lstStyle/>
          <a:p>
            <a:r>
              <a:rPr lang="en-IN" altLang="en-US" dirty="0"/>
              <a:t>Formula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2BA91D-F708-4ED2-AF83-E5BEDD987030}"/>
                  </a:ext>
                </a:extLst>
              </p:cNvPr>
              <p:cNvSpPr>
                <a:spLocks noGrp="1"/>
              </p:cNvSpPr>
              <p:nvPr>
                <p:ph idx="1"/>
              </p:nvPr>
            </p:nvSpPr>
            <p:spPr/>
            <p:txBody>
              <a:bodyPr/>
              <a:lstStyle/>
              <a:p>
                <a:pPr marL="0" indent="0" algn="l">
                  <a:buNone/>
                </a:pPr>
                <a14:m>
                  <m:oMathPara xmlns:m="http://schemas.openxmlformats.org/officeDocument/2006/math">
                    <m:oMathParaPr>
                      <m:jc m:val="left"/>
                    </m:oMathParaPr>
                    <m:oMath xmlns:m="http://schemas.openxmlformats.org/officeDocument/2006/math">
                      <m:r>
                        <a:rPr lang="en-IN" i="1" smtClean="0">
                          <a:latin typeface="Cambria Math" panose="02040503050406030204" pitchFamily="18" charset="0"/>
                        </a:rPr>
                        <m:t>𝐹</m:t>
                      </m:r>
                      <m:r>
                        <a:rPr lang="en-US" b="0" i="1" smtClean="0">
                          <a:latin typeface="Cambria Math" panose="02040503050406030204" pitchFamily="18" charset="0"/>
                        </a:rPr>
                        <m:t>𝑉</m:t>
                      </m:r>
                      <m:r>
                        <a:rPr lang="en-US" b="0" i="1" baseline="-25000" smtClean="0">
                          <a:latin typeface="Cambria Math" panose="02040503050406030204" pitchFamily="18" charset="0"/>
                        </a:rPr>
                        <m:t>𝑛</m:t>
                      </m:r>
                      <m:r>
                        <a:rPr lang="en-IN" i="1">
                          <a:latin typeface="Cambria Math" panose="02040503050406030204" pitchFamily="18" charset="0"/>
                        </a:rPr>
                        <m:t>=</m:t>
                      </m:r>
                      <m:r>
                        <a:rPr lang="en-IN" i="1">
                          <a:latin typeface="Cambria Math" panose="02040503050406030204" pitchFamily="18" charset="0"/>
                        </a:rPr>
                        <m:t>𝑃</m:t>
                      </m:r>
                      <m:sSup>
                        <m:sSupPr>
                          <m:ctrlPr>
                            <a:rPr lang="en-IN" i="1">
                              <a:latin typeface="Cambria Math" panose="02040503050406030204" pitchFamily="18" charset="0"/>
                            </a:rPr>
                          </m:ctrlPr>
                        </m:sSupPr>
                        <m:e>
                          <m:r>
                            <a:rPr lang="en-IN" i="1">
                              <a:latin typeface="Cambria Math" panose="02040503050406030204" pitchFamily="18" charset="0"/>
                            </a:rPr>
                            <m:t>(1+</m:t>
                          </m:r>
                          <m:r>
                            <a:rPr lang="en-US" b="0" i="1" smtClean="0">
                              <a:latin typeface="Cambria Math" panose="02040503050406030204" pitchFamily="18" charset="0"/>
                            </a:rPr>
                            <m:t>𝑟</m:t>
                          </m:r>
                          <m:r>
                            <a:rPr lang="en-IN" i="1">
                              <a:latin typeface="Cambria Math" panose="02040503050406030204" pitchFamily="18" charset="0"/>
                            </a:rPr>
                            <m:t>)</m:t>
                          </m:r>
                        </m:e>
                        <m:sup>
                          <m:r>
                            <a:rPr lang="en-IN" i="1">
                              <a:latin typeface="Cambria Math" panose="02040503050406030204" pitchFamily="18" charset="0"/>
                            </a:rPr>
                            <m:t>𝑛</m:t>
                          </m:r>
                        </m:sup>
                      </m:sSup>
                    </m:oMath>
                  </m:oMathPara>
                </a14:m>
                <a:endParaRPr lang="en-IN" dirty="0"/>
              </a:p>
              <a:p>
                <a:pPr marL="0" indent="0" algn="l">
                  <a:buNone/>
                </a:pPr>
                <a:endParaRPr lang="en-IN" sz="3200" dirty="0"/>
              </a:p>
              <a:p>
                <a:pPr marL="0" indent="0" algn="l">
                  <a:buNone/>
                </a:pPr>
                <a14:m>
                  <m:oMathPara xmlns:m="http://schemas.openxmlformats.org/officeDocument/2006/math">
                    <m:oMathParaPr>
                      <m:jc m:val="left"/>
                    </m:oMathParaPr>
                    <m:oMath xmlns:m="http://schemas.openxmlformats.org/officeDocument/2006/math">
                      <m:r>
                        <m:rPr>
                          <m:nor/>
                        </m:rPr>
                        <a:rPr lang="en-IN" sz="2800" dirty="0"/>
                        <m:t>Where</m:t>
                      </m:r>
                      <m:r>
                        <m:rPr>
                          <m:nor/>
                        </m:rPr>
                        <a:rPr lang="en-GB" sz="2800" b="0" i="0" dirty="0" smtClean="0"/>
                        <m:t>,</m:t>
                      </m:r>
                    </m:oMath>
                  </m:oMathPara>
                </a14:m>
                <a:endParaRPr lang="en-US" sz="2800" dirty="0"/>
              </a:p>
              <a:p>
                <a:pPr marL="0" indent="0" algn="l">
                  <a:buNone/>
                </a:pPr>
                <a14:m>
                  <m:oMathPara xmlns:m="http://schemas.openxmlformats.org/officeDocument/2006/math">
                    <m:oMathParaPr>
                      <m:jc m:val="left"/>
                    </m:oMathParaPr>
                    <m:oMath xmlns:m="http://schemas.openxmlformats.org/officeDocument/2006/math">
                      <m:r>
                        <m:rPr>
                          <m:nor/>
                        </m:rPr>
                        <a:rPr lang="en-IN" sz="2800" dirty="0"/>
                        <m:t>F</m:t>
                      </m:r>
                      <m:r>
                        <m:rPr>
                          <m:nor/>
                        </m:rPr>
                        <a:rPr lang="en-GB" sz="2800" b="0" i="0" dirty="0" smtClean="0"/>
                        <m:t>V</m:t>
                      </m:r>
                      <m:r>
                        <m:rPr>
                          <m:nor/>
                        </m:rPr>
                        <a:rPr lang="en-IN" sz="2800" dirty="0"/>
                        <m:t> = </m:t>
                      </m:r>
                      <m:r>
                        <m:rPr>
                          <m:nor/>
                        </m:rPr>
                        <a:rPr lang="en-IN" sz="2800" dirty="0"/>
                        <m:t>Future</m:t>
                      </m:r>
                      <m:r>
                        <m:rPr>
                          <m:nor/>
                        </m:rPr>
                        <a:rPr lang="en-IN" sz="2800" dirty="0"/>
                        <m:t> </m:t>
                      </m:r>
                      <m:r>
                        <m:rPr>
                          <m:nor/>
                        </m:rPr>
                        <a:rPr lang="en-IN" sz="2800" dirty="0"/>
                        <m:t>Value</m:t>
                      </m:r>
                    </m:oMath>
                  </m:oMathPara>
                </a14:m>
                <a:endParaRPr lang="en-US" sz="2800" dirty="0"/>
              </a:p>
              <a:p>
                <a:pPr marL="0" indent="0" algn="l">
                  <a:buNone/>
                </a:pPr>
                <a14:m>
                  <m:oMathPara xmlns:m="http://schemas.openxmlformats.org/officeDocument/2006/math">
                    <m:oMathParaPr>
                      <m:jc m:val="left"/>
                    </m:oMathParaPr>
                    <m:oMath xmlns:m="http://schemas.openxmlformats.org/officeDocument/2006/math">
                      <m:r>
                        <m:rPr>
                          <m:nor/>
                        </m:rPr>
                        <a:rPr lang="en-IN" sz="2800" dirty="0"/>
                        <m:t>P</m:t>
                      </m:r>
                      <m:r>
                        <m:rPr>
                          <m:nor/>
                        </m:rPr>
                        <a:rPr lang="en-IN" sz="2800" dirty="0"/>
                        <m:t> = </m:t>
                      </m:r>
                      <m:r>
                        <m:rPr>
                          <m:nor/>
                        </m:rPr>
                        <a:rPr lang="en-IN" sz="2800" dirty="0"/>
                        <m:t>Present</m:t>
                      </m:r>
                      <m:r>
                        <m:rPr>
                          <m:nor/>
                        </m:rPr>
                        <a:rPr lang="en-IN" sz="2800" dirty="0"/>
                        <m:t> </m:t>
                      </m:r>
                      <m:r>
                        <m:rPr>
                          <m:nor/>
                        </m:rPr>
                        <a:rPr lang="en-IN" sz="2800" dirty="0"/>
                        <m:t>Value</m:t>
                      </m:r>
                    </m:oMath>
                  </m:oMathPara>
                </a14:m>
                <a:endParaRPr lang="en-US" sz="2800" dirty="0"/>
              </a:p>
              <a:p>
                <a:pPr marL="0" indent="0" algn="l">
                  <a:buNone/>
                </a:pPr>
                <a14:m>
                  <m:oMathPara xmlns:m="http://schemas.openxmlformats.org/officeDocument/2006/math">
                    <m:oMathParaPr>
                      <m:jc m:val="left"/>
                    </m:oMathParaPr>
                    <m:oMath xmlns:m="http://schemas.openxmlformats.org/officeDocument/2006/math">
                      <m:r>
                        <m:rPr>
                          <m:nor/>
                        </m:rPr>
                        <a:rPr lang="en-US" sz="2800" b="0" i="0" dirty="0" smtClean="0"/>
                        <m:t>r</m:t>
                      </m:r>
                      <m:r>
                        <m:rPr>
                          <m:nor/>
                        </m:rPr>
                        <a:rPr lang="en-IN" sz="2800" dirty="0"/>
                        <m:t> </m:t>
                      </m:r>
                      <m:r>
                        <m:rPr>
                          <m:nor/>
                        </m:rPr>
                        <a:rPr lang="en-GB" sz="2800" b="0" i="0" dirty="0" smtClean="0"/>
                        <m:t> </m:t>
                      </m:r>
                      <m:r>
                        <m:rPr>
                          <m:nor/>
                        </m:rPr>
                        <a:rPr lang="en-IN" sz="2800" dirty="0"/>
                        <m:t>= </m:t>
                      </m:r>
                      <m:r>
                        <m:rPr>
                          <m:nor/>
                        </m:rPr>
                        <a:rPr lang="en-IN" sz="2800" dirty="0"/>
                        <m:t>Interest</m:t>
                      </m:r>
                      <m:r>
                        <m:rPr>
                          <m:nor/>
                        </m:rPr>
                        <a:rPr lang="en-IN" sz="2800" dirty="0"/>
                        <m:t> </m:t>
                      </m:r>
                      <m:r>
                        <m:rPr>
                          <m:nor/>
                        </m:rPr>
                        <a:rPr lang="en-IN" sz="2800" dirty="0"/>
                        <m:t>Rate</m:t>
                      </m:r>
                    </m:oMath>
                  </m:oMathPara>
                </a14:m>
                <a:endParaRPr lang="en-US" sz="2800" dirty="0"/>
              </a:p>
              <a:p>
                <a:pPr marL="0" indent="0" algn="l">
                  <a:buNone/>
                </a:pPr>
                <a14:m>
                  <m:oMathPara xmlns:m="http://schemas.openxmlformats.org/officeDocument/2006/math">
                    <m:oMathParaPr>
                      <m:jc m:val="left"/>
                    </m:oMathParaPr>
                    <m:oMath xmlns:m="http://schemas.openxmlformats.org/officeDocument/2006/math">
                      <m:r>
                        <m:rPr>
                          <m:nor/>
                        </m:rPr>
                        <a:rPr lang="en-IN" sz="2800" dirty="0"/>
                        <m:t>n</m:t>
                      </m:r>
                      <m:r>
                        <m:rPr>
                          <m:nor/>
                        </m:rPr>
                        <a:rPr lang="en-IN" sz="2800" dirty="0"/>
                        <m:t> =</m:t>
                      </m:r>
                      <m:r>
                        <m:rPr>
                          <m:nor/>
                        </m:rPr>
                        <a:rPr lang="en-GB" sz="2800" b="0" i="0" dirty="0" smtClean="0"/>
                        <m:t> </m:t>
                      </m:r>
                      <m:r>
                        <m:rPr>
                          <m:nor/>
                        </m:rPr>
                        <a:rPr lang="en-IN" sz="2800" dirty="0"/>
                        <m:t>No</m:t>
                      </m:r>
                      <m:r>
                        <m:rPr>
                          <m:nor/>
                        </m:rPr>
                        <a:rPr lang="en-IN" sz="2800" dirty="0"/>
                        <m:t>. </m:t>
                      </m:r>
                      <m:r>
                        <m:rPr>
                          <m:nor/>
                        </m:rPr>
                        <a:rPr lang="en-IN" sz="2800" dirty="0"/>
                        <m:t>of</m:t>
                      </m:r>
                      <m:r>
                        <m:rPr>
                          <m:nor/>
                        </m:rPr>
                        <a:rPr lang="en-IN" sz="2800" dirty="0"/>
                        <m:t> </m:t>
                      </m:r>
                      <m:r>
                        <m:rPr>
                          <m:nor/>
                        </m:rPr>
                        <a:rPr lang="en-IN" sz="2800" dirty="0"/>
                        <m:t>Years</m:t>
                      </m:r>
                    </m:oMath>
                  </m:oMathPara>
                </a14:m>
                <a:endParaRPr lang="en-US" sz="2800" dirty="0"/>
              </a:p>
              <a:p>
                <a:pPr marL="109537" indent="0">
                  <a:buNone/>
                  <a:defRPr/>
                </a:pPr>
                <a:endParaRPr lang="en-IN" sz="2800" dirty="0"/>
              </a:p>
              <a:p>
                <a:pPr marL="109537" indent="0">
                  <a:buNone/>
                  <a:defRPr/>
                </a:pPr>
                <a:endParaRPr lang="en-IN" sz="2800" baseline="30000" dirty="0"/>
              </a:p>
            </p:txBody>
          </p:sp>
        </mc:Choice>
        <mc:Fallback xmlns="">
          <p:sp>
            <p:nvSpPr>
              <p:cNvPr id="3" name="Content Placeholder 2">
                <a:extLst>
                  <a:ext uri="{FF2B5EF4-FFF2-40B4-BE49-F238E27FC236}">
                    <a16:creationId xmlns:a16="http://schemas.microsoft.com/office/drawing/2014/main" id="{4D2BA91D-F708-4ED2-AF83-E5BEDD987030}"/>
                  </a:ext>
                </a:extLst>
              </p:cNvPr>
              <p:cNvSpPr>
                <a:spLocks noGrp="1" noRot="1" noChangeAspect="1" noMove="1" noResize="1" noEditPoints="1" noAdjustHandles="1" noChangeArrowheads="1" noChangeShapeType="1" noTextEdit="1"/>
              </p:cNvSpPr>
              <p:nvPr>
                <p:ph idx="1"/>
              </p:nvPr>
            </p:nvSpPr>
            <p:spPr>
              <a:blipFill>
                <a:blip r:embed="rId2"/>
                <a:stretch>
                  <a:fillRect l="-409"/>
                </a:stretch>
              </a:blipFill>
            </p:spPr>
            <p:txBody>
              <a:bodyPr/>
              <a:lstStyle/>
              <a:p>
                <a:r>
                  <a:rPr lang="en-IN">
                    <a:noFill/>
                  </a:rPr>
                  <a:t> </a:t>
                </a:r>
              </a:p>
            </p:txBody>
          </p:sp>
        </mc:Fallback>
      </mc:AlternateContent>
    </p:spTree>
    <p:extLst>
      <p:ext uri="{BB962C8B-B14F-4D97-AF65-F5344CB8AC3E}">
        <p14:creationId xmlns:p14="http://schemas.microsoft.com/office/powerpoint/2010/main" val="18478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8AD4C544-A286-4C1D-B676-4B30C7A84D15}"/>
              </a:ext>
            </a:extLst>
          </p:cNvPr>
          <p:cNvSpPr>
            <a:spLocks noGrp="1"/>
          </p:cNvSpPr>
          <p:nvPr>
            <p:ph type="title"/>
          </p:nvPr>
        </p:nvSpPr>
        <p:spPr/>
        <p:txBody>
          <a:bodyPr/>
          <a:lstStyle/>
          <a:p>
            <a:r>
              <a:rPr lang="en-IN" altLang="en-US" dirty="0"/>
              <a:t>Question.01</a:t>
            </a:r>
          </a:p>
        </p:txBody>
      </p:sp>
      <mc:AlternateContent xmlns:mc="http://schemas.openxmlformats.org/markup-compatibility/2006" xmlns:a14="http://schemas.microsoft.com/office/drawing/2010/main">
        <mc:Choice Requires="a14">
          <p:sp>
            <p:nvSpPr>
              <p:cNvPr id="20483" name="Content Placeholder 2">
                <a:extLst>
                  <a:ext uri="{FF2B5EF4-FFF2-40B4-BE49-F238E27FC236}">
                    <a16:creationId xmlns:a16="http://schemas.microsoft.com/office/drawing/2014/main" id="{33798704-6699-4734-881D-4989DCADB52F}"/>
                  </a:ext>
                </a:extLst>
              </p:cNvPr>
              <p:cNvSpPr>
                <a:spLocks noGrp="1"/>
              </p:cNvSpPr>
              <p:nvPr>
                <p:ph idx="1"/>
              </p:nvPr>
            </p:nvSpPr>
            <p:spPr/>
            <p:txBody>
              <a:bodyPr/>
              <a:lstStyle/>
              <a:p>
                <a:pPr marL="0" indent="0">
                  <a:buNone/>
                </a:pPr>
                <a:r>
                  <a:rPr lang="en-IN" altLang="en-US" dirty="0"/>
                  <a:t>Rahil deposit Rs. 10,000 in a fixed deposit @ 5% interest compound annually for 3 years term. How much total amount he will get at the end of 3 years ? </a:t>
                </a:r>
              </a:p>
              <a:p>
                <a:pPr marL="0" indent="0">
                  <a:buNone/>
                </a:pPr>
                <a:endParaRPr lang="en-IN" altLang="en-US" dirty="0"/>
              </a:p>
              <a:p>
                <a:pPr marL="0" indent="0">
                  <a:buNone/>
                </a:pPr>
                <a14:m>
                  <m:oMathPara xmlns:m="http://schemas.openxmlformats.org/officeDocument/2006/math">
                    <m:oMathParaPr>
                      <m:jc m:val="left"/>
                    </m:oMathParaPr>
                    <m:oMath xmlns:m="http://schemas.openxmlformats.org/officeDocument/2006/math">
                      <m:r>
                        <a:rPr lang="en-IN" i="1">
                          <a:latin typeface="Cambria Math" panose="02040503050406030204" pitchFamily="18" charset="0"/>
                        </a:rPr>
                        <m:t>𝐹</m:t>
                      </m:r>
                      <m:r>
                        <a:rPr lang="en-US" i="1">
                          <a:latin typeface="Cambria Math" panose="02040503050406030204" pitchFamily="18" charset="0"/>
                        </a:rPr>
                        <m:t>𝑉</m:t>
                      </m:r>
                      <m:r>
                        <a:rPr lang="en-US" i="1" baseline="-25000">
                          <a:latin typeface="Cambria Math" panose="02040503050406030204" pitchFamily="18" charset="0"/>
                        </a:rPr>
                        <m:t>𝑛</m:t>
                      </m:r>
                      <m:r>
                        <a:rPr lang="en-IN" i="1">
                          <a:latin typeface="Cambria Math" panose="02040503050406030204" pitchFamily="18" charset="0"/>
                        </a:rPr>
                        <m:t>=</m:t>
                      </m:r>
                      <m:r>
                        <a:rPr lang="en-IN" i="1">
                          <a:latin typeface="Cambria Math" panose="02040503050406030204" pitchFamily="18" charset="0"/>
                        </a:rPr>
                        <m:t>𝑃</m:t>
                      </m:r>
                      <m:sSup>
                        <m:sSupPr>
                          <m:ctrlPr>
                            <a:rPr lang="en-IN" i="1">
                              <a:latin typeface="Cambria Math" panose="02040503050406030204" pitchFamily="18" charset="0"/>
                            </a:rPr>
                          </m:ctrlPr>
                        </m:sSupPr>
                        <m:e>
                          <m:r>
                            <a:rPr lang="en-IN" i="1">
                              <a:latin typeface="Cambria Math" panose="02040503050406030204" pitchFamily="18" charset="0"/>
                            </a:rPr>
                            <m:t>(1+</m:t>
                          </m:r>
                          <m:r>
                            <a:rPr lang="en-US" i="1">
                              <a:latin typeface="Cambria Math" panose="02040503050406030204" pitchFamily="18" charset="0"/>
                            </a:rPr>
                            <m:t>𝑟</m:t>
                          </m:r>
                          <m:r>
                            <a:rPr lang="en-IN" i="1">
                              <a:latin typeface="Cambria Math" panose="02040503050406030204" pitchFamily="18" charset="0"/>
                            </a:rPr>
                            <m:t>)</m:t>
                          </m:r>
                        </m:e>
                        <m:sup>
                          <m:r>
                            <a:rPr lang="en-IN" i="1">
                              <a:latin typeface="Cambria Math" panose="02040503050406030204" pitchFamily="18" charset="0"/>
                            </a:rPr>
                            <m:t>𝑛</m:t>
                          </m:r>
                        </m:sup>
                      </m:sSup>
                    </m:oMath>
                  </m:oMathPara>
                </a14:m>
                <a:endParaRPr lang="en-GB" sz="4400" b="1" dirty="0">
                  <a:solidFill>
                    <a:srgbClr val="212121"/>
                  </a:solidFill>
                  <a:latin typeface="Roboto Condensed"/>
                </a:endParaRPr>
              </a:p>
              <a:p>
                <a:pPr marL="0" indent="0">
                  <a:buNone/>
                </a:pPr>
                <a:r>
                  <a:rPr lang="en-IN" i="1" dirty="0"/>
                  <a:t>FV </a:t>
                </a:r>
                <a:r>
                  <a:rPr lang="en-IN" dirty="0"/>
                  <a:t>= 10,000(1+0.05​)</a:t>
                </a:r>
                <a:r>
                  <a:rPr lang="en-IN" baseline="30000" dirty="0"/>
                  <a:t>3</a:t>
                </a:r>
              </a:p>
              <a:p>
                <a:pPr marL="0" indent="0">
                  <a:buNone/>
                </a:pPr>
                <a:r>
                  <a:rPr lang="en-IN" dirty="0"/>
                  <a:t>FV = 10,000(1.05)</a:t>
                </a:r>
                <a:r>
                  <a:rPr lang="en-IN" baseline="30000" dirty="0"/>
                  <a:t>3</a:t>
                </a:r>
              </a:p>
              <a:p>
                <a:pPr marL="0" indent="0">
                  <a:buNone/>
                </a:pPr>
                <a:r>
                  <a:rPr lang="en-IN" i="1" dirty="0"/>
                  <a:t>FV </a:t>
                </a:r>
                <a:r>
                  <a:rPr lang="en-IN" dirty="0"/>
                  <a:t>= 10,000×1.157625</a:t>
                </a:r>
              </a:p>
              <a:p>
                <a:pPr marL="0" indent="0">
                  <a:buNone/>
                </a:pPr>
                <a:r>
                  <a:rPr lang="en-IN" dirty="0"/>
                  <a:t> </a:t>
                </a:r>
              </a:p>
              <a:p>
                <a:pPr marL="0" indent="0">
                  <a:buNone/>
                </a:pPr>
                <a:r>
                  <a:rPr lang="en-IN" b="1" dirty="0">
                    <a:solidFill>
                      <a:srgbClr val="C00000"/>
                    </a:solidFill>
                  </a:rPr>
                  <a:t>FV = 11,576.25</a:t>
                </a:r>
              </a:p>
              <a:p>
                <a:pPr marL="0" indent="0">
                  <a:buNone/>
                </a:pPr>
                <a:endParaRPr lang="en-IN" sz="4400" b="1" dirty="0">
                  <a:solidFill>
                    <a:schemeClr val="accent6">
                      <a:lumMod val="75000"/>
                    </a:schemeClr>
                  </a:solidFill>
                  <a:latin typeface="Roboto Condensed"/>
                </a:endParaRPr>
              </a:p>
            </p:txBody>
          </p:sp>
        </mc:Choice>
        <mc:Fallback xmlns="">
          <p:sp>
            <p:nvSpPr>
              <p:cNvPr id="20483" name="Content Placeholder 2">
                <a:extLst>
                  <a:ext uri="{FF2B5EF4-FFF2-40B4-BE49-F238E27FC236}">
                    <a16:creationId xmlns:a16="http://schemas.microsoft.com/office/drawing/2014/main" id="{33798704-6699-4734-881D-4989DCADB52F}"/>
                  </a:ext>
                </a:extLst>
              </p:cNvPr>
              <p:cNvSpPr>
                <a:spLocks noGrp="1" noRot="1" noChangeAspect="1" noMove="1" noResize="1" noEditPoints="1" noAdjustHandles="1" noChangeArrowheads="1" noChangeShapeType="1" noTextEdit="1"/>
              </p:cNvSpPr>
              <p:nvPr>
                <p:ph idx="1"/>
              </p:nvPr>
            </p:nvSpPr>
            <p:spPr>
              <a:blipFill>
                <a:blip r:embed="rId2"/>
                <a:stretch>
                  <a:fillRect l="-1074"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344340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IN" altLang="en-US" dirty="0"/>
              <a:t>Virat deposits Rs. 1,000 in a fixed deposit @ 12% interest compound annually for 8 years term. How much total amount he will get at the end of 8 years ? </a:t>
            </a:r>
          </a:p>
          <a:p>
            <a:pPr marL="0" indent="0">
              <a:buNone/>
            </a:pPr>
            <a:endParaRPr lang="en-IN" i="1" dirty="0"/>
          </a:p>
          <a:p>
            <a:pPr marL="0" indent="0">
              <a:buNone/>
            </a:pPr>
            <a:r>
              <a:rPr lang="en-IN" dirty="0"/>
              <a:t>FV = 1,000(1+0.12)</a:t>
            </a:r>
            <a:r>
              <a:rPr lang="en-IN" baseline="30000" dirty="0"/>
              <a:t>8</a:t>
            </a:r>
            <a:r>
              <a:rPr lang="en-IN" dirty="0"/>
              <a:t> </a:t>
            </a:r>
          </a:p>
          <a:p>
            <a:pPr marL="0" indent="0">
              <a:buNone/>
            </a:pPr>
            <a:r>
              <a:rPr lang="en-IN" dirty="0"/>
              <a:t>FV = 1,000(1.12)</a:t>
            </a:r>
            <a:r>
              <a:rPr lang="en-IN" baseline="30000" dirty="0"/>
              <a:t>8</a:t>
            </a:r>
          </a:p>
          <a:p>
            <a:pPr marL="0" indent="0">
              <a:buNone/>
            </a:pPr>
            <a:r>
              <a:rPr lang="en-IN" dirty="0"/>
              <a:t>FV</a:t>
            </a:r>
            <a:r>
              <a:rPr lang="en-IN" i="1" dirty="0"/>
              <a:t> </a:t>
            </a:r>
            <a:r>
              <a:rPr lang="en-IN" dirty="0"/>
              <a:t>= 1,000×2.476 </a:t>
            </a:r>
          </a:p>
          <a:p>
            <a:pPr marL="0" indent="0">
              <a:buNone/>
            </a:pPr>
            <a:endParaRPr lang="en-IN" dirty="0"/>
          </a:p>
          <a:p>
            <a:pPr marL="0" indent="0">
              <a:buNone/>
            </a:pPr>
            <a:r>
              <a:rPr lang="en-IN" b="1" dirty="0">
                <a:solidFill>
                  <a:srgbClr val="C00000"/>
                </a:solidFill>
              </a:rPr>
              <a:t>FV = 2,476</a:t>
            </a:r>
            <a:endParaRPr lang="en-IN" b="1" baseline="30000" dirty="0">
              <a:solidFill>
                <a:srgbClr val="C00000"/>
              </a:solidFill>
            </a:endParaRPr>
          </a:p>
        </p:txBody>
      </p:sp>
      <p:sp>
        <p:nvSpPr>
          <p:cNvPr id="3" name="Title 2"/>
          <p:cNvSpPr>
            <a:spLocks noGrp="1"/>
          </p:cNvSpPr>
          <p:nvPr>
            <p:ph type="title"/>
          </p:nvPr>
        </p:nvSpPr>
        <p:spPr/>
        <p:txBody>
          <a:bodyPr/>
          <a:lstStyle/>
          <a:p>
            <a:r>
              <a:rPr lang="en-IN" altLang="en-US" dirty="0"/>
              <a:t>Question.02</a:t>
            </a:r>
            <a:endParaRPr lang="en-IN" dirty="0"/>
          </a:p>
        </p:txBody>
      </p:sp>
    </p:spTree>
    <p:extLst>
      <p:ext uri="{BB962C8B-B14F-4D97-AF65-F5344CB8AC3E}">
        <p14:creationId xmlns:p14="http://schemas.microsoft.com/office/powerpoint/2010/main" val="266219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1FAD1-F846-3CB2-7644-399977F7BAF3}"/>
              </a:ext>
            </a:extLst>
          </p:cNvPr>
          <p:cNvSpPr>
            <a:spLocks noGrp="1"/>
          </p:cNvSpPr>
          <p:nvPr>
            <p:ph type="title"/>
          </p:nvPr>
        </p:nvSpPr>
        <p:spPr/>
        <p:txBody>
          <a:bodyPr/>
          <a:lstStyle/>
          <a:p>
            <a:r>
              <a:rPr lang="en-GB" dirty="0"/>
              <a:t>Uneven Cashflow</a:t>
            </a:r>
            <a:endParaRPr lang="en-IN" dirty="0"/>
          </a:p>
        </p:txBody>
      </p:sp>
      <p:sp>
        <p:nvSpPr>
          <p:cNvPr id="3" name="Content Placeholder 2">
            <a:extLst>
              <a:ext uri="{FF2B5EF4-FFF2-40B4-BE49-F238E27FC236}">
                <a16:creationId xmlns:a16="http://schemas.microsoft.com/office/drawing/2014/main" id="{D5BE6B31-4C98-D16E-F2F6-0C62D5379ED5}"/>
              </a:ext>
            </a:extLst>
          </p:cNvPr>
          <p:cNvSpPr>
            <a:spLocks noGrp="1"/>
          </p:cNvSpPr>
          <p:nvPr>
            <p:ph idx="1"/>
          </p:nvPr>
        </p:nvSpPr>
        <p:spPr/>
        <p:txBody>
          <a:bodyPr/>
          <a:lstStyle/>
          <a:p>
            <a:pPr marL="0" indent="0" algn="l" fontAlgn="ctr">
              <a:buNone/>
            </a:pPr>
            <a:r>
              <a:rPr lang="en-GB" b="0" i="0" dirty="0">
                <a:solidFill>
                  <a:srgbClr val="001D35"/>
                </a:solidFill>
                <a:effectLst/>
              </a:rPr>
              <a:t>Example: Let's say you have the following uneven cash flow stream: </a:t>
            </a:r>
          </a:p>
          <a:p>
            <a:pPr marL="0" indent="0" algn="l" fontAlgn="ctr">
              <a:buNone/>
            </a:pPr>
            <a:r>
              <a:rPr lang="en-GB" b="0" i="0" dirty="0">
                <a:solidFill>
                  <a:srgbClr val="001D35"/>
                </a:solidFill>
                <a:effectLst/>
              </a:rPr>
              <a:t>Year 1: 1000, Year 2: 2000, and Year 3: 1500.</a:t>
            </a:r>
            <a:endParaRPr lang="en-GB" b="0" i="0" dirty="0">
              <a:solidFill>
                <a:srgbClr val="0B57D0"/>
              </a:solidFill>
              <a:effectLst/>
            </a:endParaRPr>
          </a:p>
          <a:p>
            <a:pPr marL="0" indent="0" algn="l" fontAlgn="ctr">
              <a:buNone/>
            </a:pPr>
            <a:r>
              <a:rPr lang="en-GB" b="0" i="0" dirty="0">
                <a:solidFill>
                  <a:srgbClr val="001D35"/>
                </a:solidFill>
                <a:effectLst/>
              </a:rPr>
              <a:t>And the interest rate is 5% per year. </a:t>
            </a:r>
          </a:p>
          <a:p>
            <a:pPr algn="l" fontAlgn="ctr"/>
            <a:endParaRPr lang="en-GB" dirty="0">
              <a:solidFill>
                <a:srgbClr val="001D35"/>
              </a:solidFill>
            </a:endParaRPr>
          </a:p>
          <a:p>
            <a:pPr algn="l" fontAlgn="ctr"/>
            <a:r>
              <a:rPr lang="en-GB" b="0" i="0" dirty="0">
                <a:solidFill>
                  <a:srgbClr val="001D35"/>
                </a:solidFill>
                <a:effectLst/>
              </a:rPr>
              <a:t>Solution:</a:t>
            </a:r>
            <a:endParaRPr lang="en-GB" b="0" i="0" dirty="0">
              <a:solidFill>
                <a:srgbClr val="0B57D0"/>
              </a:solidFill>
              <a:effectLst/>
            </a:endParaRPr>
          </a:p>
          <a:p>
            <a:pPr marL="0" indent="0" algn="l">
              <a:buNone/>
            </a:pPr>
            <a:r>
              <a:rPr lang="en-GB" b="1" i="0" dirty="0">
                <a:solidFill>
                  <a:srgbClr val="001D35"/>
                </a:solidFill>
                <a:effectLst/>
              </a:rPr>
              <a:t>Year 1:</a:t>
            </a:r>
            <a:r>
              <a:rPr lang="en-GB" b="0" i="0" dirty="0">
                <a:solidFill>
                  <a:srgbClr val="001D35"/>
                </a:solidFill>
                <a:effectLst/>
              </a:rPr>
              <a:t> FV = 1000 * (1 + 0.05)</a:t>
            </a:r>
            <a:r>
              <a:rPr lang="en-GB" b="0" i="0" baseline="30000" dirty="0">
                <a:solidFill>
                  <a:srgbClr val="001D35"/>
                </a:solidFill>
                <a:effectLst/>
              </a:rPr>
              <a:t>2 </a:t>
            </a:r>
            <a:r>
              <a:rPr lang="en-GB" b="0" i="0" dirty="0">
                <a:solidFill>
                  <a:srgbClr val="001D35"/>
                </a:solidFill>
                <a:effectLst/>
              </a:rPr>
              <a:t>= 1102.5</a:t>
            </a:r>
          </a:p>
          <a:p>
            <a:pPr marL="0" indent="0" algn="l">
              <a:buNone/>
            </a:pPr>
            <a:r>
              <a:rPr lang="en-GB" b="1" i="0" dirty="0">
                <a:solidFill>
                  <a:srgbClr val="001D35"/>
                </a:solidFill>
                <a:effectLst/>
              </a:rPr>
              <a:t>Year 2:</a:t>
            </a:r>
            <a:r>
              <a:rPr lang="en-GB" b="0" i="0" dirty="0">
                <a:solidFill>
                  <a:srgbClr val="001D35"/>
                </a:solidFill>
                <a:effectLst/>
              </a:rPr>
              <a:t> FV = 2000 * (1 + 0.05)</a:t>
            </a:r>
            <a:r>
              <a:rPr lang="en-GB" b="0" i="0" baseline="30000" dirty="0">
                <a:solidFill>
                  <a:srgbClr val="001D35"/>
                </a:solidFill>
                <a:effectLst/>
              </a:rPr>
              <a:t>1</a:t>
            </a:r>
            <a:r>
              <a:rPr lang="en-GB" b="0" i="0" dirty="0">
                <a:solidFill>
                  <a:srgbClr val="001D35"/>
                </a:solidFill>
                <a:effectLst/>
              </a:rPr>
              <a:t> = 2100</a:t>
            </a:r>
          </a:p>
          <a:p>
            <a:pPr marL="0" indent="0" algn="l">
              <a:buNone/>
            </a:pPr>
            <a:r>
              <a:rPr lang="en-GB" b="1" i="0" dirty="0">
                <a:solidFill>
                  <a:srgbClr val="001D35"/>
                </a:solidFill>
                <a:effectLst/>
              </a:rPr>
              <a:t>Year 3:</a:t>
            </a:r>
            <a:r>
              <a:rPr lang="en-GB" b="0" i="0" dirty="0">
                <a:solidFill>
                  <a:srgbClr val="001D35"/>
                </a:solidFill>
                <a:effectLst/>
              </a:rPr>
              <a:t> FV = 1500 * (1 + 0.05)</a:t>
            </a:r>
            <a:r>
              <a:rPr lang="en-GB" b="0" i="0" baseline="30000" dirty="0">
                <a:solidFill>
                  <a:srgbClr val="001D35"/>
                </a:solidFill>
                <a:effectLst/>
              </a:rPr>
              <a:t>0</a:t>
            </a:r>
            <a:r>
              <a:rPr lang="en-GB" b="0" i="0" dirty="0">
                <a:solidFill>
                  <a:srgbClr val="001D35"/>
                </a:solidFill>
                <a:effectLst/>
              </a:rPr>
              <a:t> = 1500</a:t>
            </a:r>
          </a:p>
          <a:p>
            <a:pPr marL="0" indent="0" algn="l">
              <a:buNone/>
            </a:pPr>
            <a:r>
              <a:rPr lang="en-GB" b="1" i="0" dirty="0">
                <a:solidFill>
                  <a:srgbClr val="001D35"/>
                </a:solidFill>
                <a:effectLst/>
              </a:rPr>
              <a:t>Total FV:</a:t>
            </a:r>
            <a:r>
              <a:rPr lang="en-GB" b="0" i="0" dirty="0">
                <a:solidFill>
                  <a:srgbClr val="001D35"/>
                </a:solidFill>
                <a:effectLst/>
              </a:rPr>
              <a:t> 1102.5 + 2100 + 1500 = 4702.5</a:t>
            </a:r>
          </a:p>
          <a:p>
            <a:endParaRPr lang="en-IN" dirty="0"/>
          </a:p>
        </p:txBody>
      </p:sp>
    </p:spTree>
    <p:extLst>
      <p:ext uri="{BB962C8B-B14F-4D97-AF65-F5344CB8AC3E}">
        <p14:creationId xmlns:p14="http://schemas.microsoft.com/office/powerpoint/2010/main" val="419785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AEAAF-FFCC-4A4B-B916-915847240EB9}"/>
              </a:ext>
            </a:extLst>
          </p:cNvPr>
          <p:cNvSpPr>
            <a:spLocks noGrp="1"/>
          </p:cNvSpPr>
          <p:nvPr>
            <p:ph type="title"/>
          </p:nvPr>
        </p:nvSpPr>
        <p:spPr/>
        <p:txBody>
          <a:bodyPr/>
          <a:lstStyle/>
          <a:p>
            <a:r>
              <a:rPr lang="en-US" dirty="0"/>
              <a:t>2) Present Value of a Single Amount</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B589EA-89D9-452F-9AD2-731A47756528}"/>
                  </a:ext>
                </a:extLst>
              </p:cNvPr>
              <p:cNvSpPr>
                <a:spLocks noGrp="1"/>
              </p:cNvSpPr>
              <p:nvPr>
                <p:ph idx="1"/>
              </p:nvPr>
            </p:nvSpPr>
            <p:spPr/>
            <p:txBody>
              <a:bodyPr/>
              <a:lstStyle/>
              <a:p>
                <a:pPr algn="just">
                  <a:defRPr/>
                </a:pPr>
                <a:r>
                  <a:rPr lang="en-IN" sz="2800" dirty="0"/>
                  <a:t>Present value shows </a:t>
                </a:r>
                <a:r>
                  <a:rPr lang="en-IN" sz="2800" b="1" dirty="0">
                    <a:solidFill>
                      <a:srgbClr val="C00000"/>
                    </a:solidFill>
                  </a:rPr>
                  <a:t>the value is today of some future sum of money</a:t>
                </a:r>
                <a:r>
                  <a:rPr lang="en-IN" sz="2800" dirty="0"/>
                  <a:t>.</a:t>
                </a:r>
              </a:p>
              <a:p>
                <a:pPr algn="just">
                  <a:defRPr/>
                </a:pPr>
                <a:r>
                  <a:rPr lang="en-IN" sz="2800" dirty="0"/>
                  <a:t>The </a:t>
                </a:r>
                <a:r>
                  <a:rPr lang="en-IN" sz="2800" b="1" dirty="0">
                    <a:solidFill>
                      <a:srgbClr val="C00000"/>
                    </a:solidFill>
                  </a:rPr>
                  <a:t>present value of money to be received in future will always less</a:t>
                </a:r>
                <a:r>
                  <a:rPr lang="en-IN" sz="2800" dirty="0"/>
                  <a:t>. It is the reason that the present value technique is </a:t>
                </a:r>
                <a:r>
                  <a:rPr lang="en-IN" sz="2800" b="1" dirty="0">
                    <a:solidFill>
                      <a:srgbClr val="C00000"/>
                    </a:solidFill>
                  </a:rPr>
                  <a:t>called Discounting</a:t>
                </a:r>
                <a:r>
                  <a:rPr lang="en-IN" sz="2800" dirty="0"/>
                  <a:t>.</a:t>
                </a:r>
              </a:p>
              <a:p>
                <a:pPr algn="just">
                  <a:defRPr/>
                </a:pPr>
                <a:r>
                  <a:rPr lang="en-IN" sz="2800" dirty="0"/>
                  <a:t>Present value of a future sum can be </a:t>
                </a:r>
                <a:r>
                  <a:rPr lang="en-IN" sz="2800" b="1" dirty="0">
                    <a:solidFill>
                      <a:srgbClr val="C00000"/>
                    </a:solidFill>
                  </a:rPr>
                  <a:t>calculated by discounting rate</a:t>
                </a:r>
                <a:r>
                  <a:rPr lang="en-IN" sz="2800" dirty="0"/>
                  <a:t>.</a:t>
                </a:r>
              </a:p>
              <a:p>
                <a:pPr algn="just">
                  <a:defRPr/>
                </a:pPr>
                <a:endParaRPr lang="en-IN" dirty="0"/>
              </a:p>
              <a:p>
                <a:pPr algn="just">
                  <a:defRPr/>
                </a:pPr>
                <a:r>
                  <a:rPr lang="en-IN" dirty="0"/>
                  <a:t>Formula:</a:t>
                </a:r>
              </a:p>
              <a:p>
                <a:pPr>
                  <a:defRPr/>
                </a:pPr>
                <a14:m>
                  <m:oMath xmlns:m="http://schemas.openxmlformats.org/officeDocument/2006/math">
                    <m:r>
                      <m:rPr>
                        <m:sty m:val="p"/>
                      </m:rPr>
                      <a:rPr lang="en-US">
                        <a:latin typeface="Cambria Math" panose="02040503050406030204" pitchFamily="18" charset="0"/>
                      </a:rPr>
                      <m:t>PV</m:t>
                    </m:r>
                    <m:r>
                      <m:rPr>
                        <m:sty m:val="p"/>
                      </m:rPr>
                      <a:rPr lang="en-US" baseline="-25000">
                        <a:latin typeface="Cambria Math" panose="02040503050406030204" pitchFamily="18" charset="0"/>
                      </a:rPr>
                      <m:t>n</m:t>
                    </m:r>
                    <m:r>
                      <a:rPr lang="en-US">
                        <a:latin typeface="Cambria Math" panose="02040503050406030204" pitchFamily="18" charset="0"/>
                      </a:rPr>
                      <m:t>=</m:t>
                    </m:r>
                    <m:r>
                      <m:rPr>
                        <m:sty m:val="p"/>
                      </m:rPr>
                      <a:rPr lang="en-US">
                        <a:latin typeface="Cambria Math" panose="02040503050406030204" pitchFamily="18" charset="0"/>
                      </a:rPr>
                      <m:t>FVn</m:t>
                    </m:r>
                    <m:d>
                      <m:dPr>
                        <m:begChr m:val="["/>
                        <m:endChr m:val="]"/>
                        <m:ctrlPr>
                          <a:rPr lang="en-US" i="1">
                            <a:latin typeface="Cambria Math" panose="02040503050406030204" pitchFamily="18" charset="0"/>
                          </a:rPr>
                        </m:ctrlPr>
                      </m:dPr>
                      <m:e>
                        <m:f>
                          <m:fPr>
                            <m:ctrlPr>
                              <a:rPr lang="en-IN" i="1">
                                <a:latin typeface="Cambria Math" panose="02040503050406030204" pitchFamily="18" charset="0"/>
                              </a:rPr>
                            </m:ctrlPr>
                          </m:fPr>
                          <m:num>
                            <m:r>
                              <a:rPr lang="en-US">
                                <a:latin typeface="Cambria Math" panose="02040503050406030204" pitchFamily="18" charset="0"/>
                              </a:rPr>
                              <m:t>1</m:t>
                            </m:r>
                          </m:num>
                          <m:den>
                            <m:sSup>
                              <m:sSupPr>
                                <m:ctrlPr>
                                  <a:rPr lang="en-IN" i="1">
                                    <a:latin typeface="Cambria Math" panose="02040503050406030204" pitchFamily="18" charset="0"/>
                                  </a:rPr>
                                </m:ctrlPr>
                              </m:sSupPr>
                              <m:e>
                                <m:d>
                                  <m:dPr>
                                    <m:ctrlPr>
                                      <a:rPr lang="en-US" i="1">
                                        <a:latin typeface="Cambria Math" panose="02040503050406030204" pitchFamily="18" charset="0"/>
                                      </a:rPr>
                                    </m:ctrlPr>
                                  </m:dPr>
                                  <m:e>
                                    <m:r>
                                      <a:rPr lang="en-US">
                                        <a:latin typeface="Cambria Math" panose="02040503050406030204" pitchFamily="18" charset="0"/>
                                      </a:rPr>
                                      <m:t>1+</m:t>
                                    </m:r>
                                    <m:r>
                                      <m:rPr>
                                        <m:sty m:val="p"/>
                                      </m:rPr>
                                      <a:rPr lang="en-US">
                                        <a:latin typeface="Cambria Math" panose="02040503050406030204" pitchFamily="18" charset="0"/>
                                      </a:rPr>
                                      <m:t>r</m:t>
                                    </m:r>
                                  </m:e>
                                </m:d>
                              </m:e>
                              <m:sup>
                                <m:r>
                                  <m:rPr>
                                    <m:sty m:val="p"/>
                                  </m:rPr>
                                  <a:rPr lang="en-US">
                                    <a:latin typeface="Cambria Math" panose="02040503050406030204" pitchFamily="18" charset="0"/>
                                  </a:rPr>
                                  <m:t>n</m:t>
                                </m:r>
                              </m:sup>
                            </m:sSup>
                          </m:den>
                        </m:f>
                      </m:e>
                    </m:d>
                  </m:oMath>
                </a14:m>
                <a:endParaRPr lang="en-IN" sz="2800" dirty="0"/>
              </a:p>
              <a:p>
                <a:pPr>
                  <a:defRPr/>
                </a:pPr>
                <a:endParaRPr lang="en-IN" sz="2800" dirty="0"/>
              </a:p>
              <a:p>
                <a:endParaRPr lang="en-IN" sz="2800" dirty="0"/>
              </a:p>
            </p:txBody>
          </p:sp>
        </mc:Choice>
        <mc:Fallback xmlns="">
          <p:sp>
            <p:nvSpPr>
              <p:cNvPr id="3" name="Content Placeholder 2">
                <a:extLst>
                  <a:ext uri="{FF2B5EF4-FFF2-40B4-BE49-F238E27FC236}">
                    <a16:creationId xmlns:a16="http://schemas.microsoft.com/office/drawing/2014/main" id="{15B589EA-89D9-452F-9AD2-731A47756528}"/>
                  </a:ext>
                </a:extLst>
              </p:cNvPr>
              <p:cNvSpPr>
                <a:spLocks noGrp="1" noRot="1" noChangeAspect="1" noMove="1" noResize="1" noEditPoints="1" noAdjustHandles="1" noChangeArrowheads="1" noChangeShapeType="1" noTextEdit="1"/>
              </p:cNvSpPr>
              <p:nvPr>
                <p:ph idx="1"/>
              </p:nvPr>
            </p:nvSpPr>
            <p:spPr>
              <a:blipFill>
                <a:blip r:embed="rId2"/>
                <a:stretch>
                  <a:fillRect l="-971"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1534504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Question.03</a:t>
            </a:r>
            <a:endParaRPr lang="en-IN" dirty="0"/>
          </a:p>
        </p:txBody>
      </p:sp>
      <p:sp>
        <p:nvSpPr>
          <p:cNvPr id="3" name="Content Placeholder 2"/>
          <p:cNvSpPr>
            <a:spLocks noGrp="1"/>
          </p:cNvSpPr>
          <p:nvPr>
            <p:ph idx="1"/>
          </p:nvPr>
        </p:nvSpPr>
        <p:spPr/>
        <p:txBody>
          <a:bodyPr numCol="1"/>
          <a:lstStyle/>
          <a:p>
            <a:pPr marL="0" indent="0">
              <a:buNone/>
            </a:pPr>
            <a:r>
              <a:rPr lang="en-US" sz="2800" dirty="0"/>
              <a:t>Ms. </a:t>
            </a:r>
            <a:r>
              <a:rPr lang="en-US" sz="2800" dirty="0" err="1"/>
              <a:t>Dhanashree</a:t>
            </a:r>
            <a:r>
              <a:rPr lang="en-US" sz="2800" dirty="0"/>
              <a:t> is going to get Rs. 2,50,000 after 6 years from one money back insurance policy. Calculate the present value of this amount if her required rate of return is 12% p.a.</a:t>
            </a:r>
            <a:endParaRPr lang="en-IN" sz="2400" dirty="0"/>
          </a:p>
          <a:p>
            <a:pPr marL="0" indent="0">
              <a:buNone/>
            </a:pPr>
            <a:endParaRPr lang="en-IN" sz="2800" dirty="0"/>
          </a:p>
          <a:p>
            <a:pPr marL="0" indent="0">
              <a:buNone/>
            </a:pPr>
            <a:endParaRPr lang="en-IN" sz="2800" dirty="0"/>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131180" y="2590800"/>
                <a:ext cx="5344829" cy="38632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Wingdings 3" panose="05040102010807070707" pitchFamily="18" charset="2"/>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𝑃</m:t>
                      </m:r>
                      <m:r>
                        <a:rPr lang="en-US" i="1" smtClean="0">
                          <a:latin typeface="Cambria Math" panose="02040503050406030204" pitchFamily="18" charset="0"/>
                        </a:rPr>
                        <m:t>= </m:t>
                      </m:r>
                      <m:f>
                        <m:fPr>
                          <m:ctrlPr>
                            <a:rPr lang="en-IN" i="1">
                              <a:latin typeface="Cambria Math" panose="02040503050406030204" pitchFamily="18" charset="0"/>
                            </a:rPr>
                          </m:ctrlPr>
                        </m:fPr>
                        <m:num>
                          <m:r>
                            <a:rPr lang="en-US" i="1">
                              <a:latin typeface="Cambria Math" panose="02040503050406030204" pitchFamily="18" charset="0"/>
                            </a:rPr>
                            <m:t>𝐹</m:t>
                          </m:r>
                        </m:num>
                        <m:den>
                          <m:sSup>
                            <m:sSupPr>
                              <m:ctrlPr>
                                <a:rPr lang="en-IN" i="1">
                                  <a:latin typeface="Cambria Math" panose="02040503050406030204" pitchFamily="18" charset="0"/>
                                </a:rPr>
                              </m:ctrlPr>
                            </m:sSupPr>
                            <m:e>
                              <m:r>
                                <a:rPr lang="en-US" i="1">
                                  <a:latin typeface="Cambria Math" panose="02040503050406030204" pitchFamily="18" charset="0"/>
                                </a:rPr>
                                <m:t>(1+</m:t>
                              </m:r>
                              <m:r>
                                <a:rPr lang="en-GB" i="1" smtClean="0">
                                  <a:latin typeface="Cambria Math" panose="02040503050406030204" pitchFamily="18" charset="0"/>
                                </a:rPr>
                                <m:t>𝑟</m:t>
                              </m:r>
                              <m:r>
                                <a:rPr lang="en-US" i="1">
                                  <a:latin typeface="Cambria Math" panose="02040503050406030204" pitchFamily="18" charset="0"/>
                                </a:rPr>
                                <m:t>)</m:t>
                              </m:r>
                            </m:e>
                            <m:sup>
                              <m:r>
                                <a:rPr lang="en-US" i="1">
                                  <a:latin typeface="Cambria Math" panose="02040503050406030204" pitchFamily="18" charset="0"/>
                                </a:rPr>
                                <m:t>𝑛</m:t>
                              </m:r>
                            </m:sup>
                          </m:sSup>
                        </m:den>
                      </m:f>
                    </m:oMath>
                  </m:oMathPara>
                </a14:m>
                <a:endParaRPr lang="en-IN" dirty="0"/>
              </a:p>
              <a:p>
                <a:pPr marL="0" indent="0">
                  <a:lnSpc>
                    <a:spcPct val="100000"/>
                  </a:lnSpc>
                  <a:buFont typeface="Wingdings 3" panose="05040102010807070707" pitchFamily="18" charset="2"/>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 </m:t>
                      </m:r>
                      <m:f>
                        <m:fPr>
                          <m:ctrlPr>
                            <a:rPr lang="en-IN" i="1">
                              <a:latin typeface="Cambria Math" panose="02040503050406030204" pitchFamily="18" charset="0"/>
                            </a:rPr>
                          </m:ctrlPr>
                        </m:fPr>
                        <m:num>
                          <m:r>
                            <a:rPr lang="en-IN" i="1">
                              <a:latin typeface="Cambria Math" panose="02040503050406030204" pitchFamily="18" charset="0"/>
                            </a:rPr>
                            <m:t>2,50,000</m:t>
                          </m:r>
                        </m:num>
                        <m:den>
                          <m:sSup>
                            <m:sSupPr>
                              <m:ctrlPr>
                                <a:rPr lang="en-IN" i="1">
                                  <a:latin typeface="Cambria Math" panose="02040503050406030204" pitchFamily="18" charset="0"/>
                                </a:rPr>
                              </m:ctrlPr>
                            </m:sSupPr>
                            <m:e>
                              <m:r>
                                <a:rPr lang="en-US" i="1">
                                  <a:latin typeface="Cambria Math" panose="02040503050406030204" pitchFamily="18" charset="0"/>
                                </a:rPr>
                                <m:t>(1+</m:t>
                              </m:r>
                              <m:r>
                                <a:rPr lang="en-IN" i="1">
                                  <a:latin typeface="Cambria Math" panose="02040503050406030204" pitchFamily="18" charset="0"/>
                                </a:rPr>
                                <m:t>0.12</m:t>
                              </m:r>
                              <m:r>
                                <a:rPr lang="en-US" i="1">
                                  <a:latin typeface="Cambria Math" panose="02040503050406030204" pitchFamily="18" charset="0"/>
                                </a:rPr>
                                <m:t>)</m:t>
                              </m:r>
                            </m:e>
                            <m:sup>
                              <m:r>
                                <a:rPr lang="en-IN" i="1">
                                  <a:latin typeface="Cambria Math" panose="02040503050406030204" pitchFamily="18" charset="0"/>
                                </a:rPr>
                                <m:t>6</m:t>
                              </m:r>
                            </m:sup>
                          </m:sSup>
                        </m:den>
                      </m:f>
                    </m:oMath>
                  </m:oMathPara>
                </a14:m>
                <a:endParaRPr lang="en-IN" dirty="0"/>
              </a:p>
              <a:p>
                <a:pPr marL="0" indent="0">
                  <a:lnSpc>
                    <a:spcPct val="100000"/>
                  </a:lnSpc>
                  <a:buFont typeface="Wingdings 3" panose="05040102010807070707" pitchFamily="18" charset="2"/>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 </m:t>
                      </m:r>
                      <m:f>
                        <m:fPr>
                          <m:ctrlPr>
                            <a:rPr lang="en-IN" i="1">
                              <a:latin typeface="Cambria Math" panose="02040503050406030204" pitchFamily="18" charset="0"/>
                            </a:rPr>
                          </m:ctrlPr>
                        </m:fPr>
                        <m:num>
                          <m:r>
                            <a:rPr lang="en-IN" i="1">
                              <a:latin typeface="Cambria Math" panose="02040503050406030204" pitchFamily="18" charset="0"/>
                            </a:rPr>
                            <m:t>2,50,000</m:t>
                          </m:r>
                        </m:num>
                        <m:den>
                          <m:sSup>
                            <m:sSupPr>
                              <m:ctrlPr>
                                <a:rPr lang="en-IN" i="1">
                                  <a:latin typeface="Cambria Math" panose="02040503050406030204" pitchFamily="18" charset="0"/>
                                </a:rPr>
                              </m:ctrlPr>
                            </m:sSupPr>
                            <m:e>
                              <m:r>
                                <a:rPr lang="en-US" i="1">
                                  <a:latin typeface="Cambria Math" panose="02040503050406030204" pitchFamily="18" charset="0"/>
                                </a:rPr>
                                <m:t>(</m:t>
                              </m:r>
                              <m:r>
                                <a:rPr lang="en-IN" i="1">
                                  <a:latin typeface="Cambria Math" panose="02040503050406030204" pitchFamily="18" charset="0"/>
                                </a:rPr>
                                <m:t>1.12</m:t>
                              </m:r>
                              <m:r>
                                <a:rPr lang="en-US" i="1">
                                  <a:latin typeface="Cambria Math" panose="02040503050406030204" pitchFamily="18" charset="0"/>
                                </a:rPr>
                                <m:t>)</m:t>
                              </m:r>
                            </m:e>
                            <m:sup>
                              <m:r>
                                <a:rPr lang="en-IN" i="1">
                                  <a:latin typeface="Cambria Math" panose="02040503050406030204" pitchFamily="18" charset="0"/>
                                </a:rPr>
                                <m:t>6</m:t>
                              </m:r>
                            </m:sup>
                          </m:sSup>
                        </m:den>
                      </m:f>
                    </m:oMath>
                  </m:oMathPara>
                </a14:m>
                <a:endParaRPr lang="en-US" i="1" dirty="0">
                  <a:latin typeface="Cambria Math" panose="02040503050406030204" pitchFamily="18" charset="0"/>
                </a:endParaRPr>
              </a:p>
              <a:p>
                <a:pPr marL="0" indent="0">
                  <a:lnSpc>
                    <a:spcPct val="100000"/>
                  </a:lnSpc>
                  <a:buFont typeface="Wingdings 3" panose="05040102010807070707" pitchFamily="18" charset="2"/>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𝑃</m:t>
                      </m:r>
                      <m:r>
                        <a:rPr lang="en-US" i="1" smtClean="0">
                          <a:latin typeface="Cambria Math" panose="02040503050406030204" pitchFamily="18" charset="0"/>
                        </a:rPr>
                        <m:t>= </m:t>
                      </m:r>
                      <m:f>
                        <m:fPr>
                          <m:ctrlPr>
                            <a:rPr lang="en-IN" i="1">
                              <a:latin typeface="Cambria Math" panose="02040503050406030204" pitchFamily="18" charset="0"/>
                            </a:rPr>
                          </m:ctrlPr>
                        </m:fPr>
                        <m:num>
                          <m:r>
                            <a:rPr lang="en-IN" i="1">
                              <a:latin typeface="Cambria Math" panose="02040503050406030204" pitchFamily="18" charset="0"/>
                            </a:rPr>
                            <m:t>2,50,000</m:t>
                          </m:r>
                        </m:num>
                        <m:den>
                          <m:r>
                            <a:rPr lang="en-IN" i="1" smtClean="0">
                              <a:latin typeface="Cambria Math" panose="02040503050406030204" pitchFamily="18" charset="0"/>
                            </a:rPr>
                            <m:t>1.974</m:t>
                          </m:r>
                        </m:den>
                      </m:f>
                    </m:oMath>
                  </m:oMathPara>
                </a14:m>
                <a:endParaRPr lang="en-IN" dirty="0"/>
              </a:p>
              <a:p>
                <a:pPr marL="0" indent="0" algn="ctr">
                  <a:lnSpc>
                    <a:spcPct val="100000"/>
                  </a:lnSpc>
                  <a:buFont typeface="Wingdings 3" panose="05040102010807070707" pitchFamily="18" charset="2"/>
                  <a:buNone/>
                </a:pPr>
                <a14:m>
                  <m:oMathPara xmlns:m="http://schemas.openxmlformats.org/officeDocument/2006/math">
                    <m:oMathParaPr>
                      <m:jc m:val="left"/>
                    </m:oMathParaPr>
                    <m:oMath xmlns:m="http://schemas.openxmlformats.org/officeDocument/2006/math">
                      <m:r>
                        <a:rPr lang="en-US" b="1" i="1" smtClean="0">
                          <a:solidFill>
                            <a:srgbClr val="C00000"/>
                          </a:solidFill>
                          <a:latin typeface="Cambria Math" panose="02040503050406030204" pitchFamily="18" charset="0"/>
                        </a:rPr>
                        <m:t>𝑷</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𝟐𝟔</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𝟔𝟒𝟔</m:t>
                      </m:r>
                    </m:oMath>
                  </m:oMathPara>
                </a14:m>
                <a:endParaRPr lang="en-IN" b="1" dirty="0">
                  <a:solidFill>
                    <a:srgbClr val="C00000"/>
                  </a:solidFill>
                </a:endParaRPr>
              </a:p>
              <a:p>
                <a:pPr marL="0" indent="0" algn="ctr">
                  <a:buFont typeface="Wingdings 3" panose="05040102010807070707" pitchFamily="18" charset="2"/>
                  <a:buNone/>
                </a:pPr>
                <a:endParaRPr lang="en-IN"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131180" y="2590800"/>
                <a:ext cx="5344829" cy="3863209"/>
              </a:xfrm>
              <a:prstGeom prst="rect">
                <a:avLst/>
              </a:prstGeom>
              <a:blipFill>
                <a:blip r:embed="rId2"/>
                <a:stretch>
                  <a:fillRect b="-631"/>
                </a:stretch>
              </a:blipFill>
            </p:spPr>
            <p:txBody>
              <a:bodyPr/>
              <a:lstStyle/>
              <a:p>
                <a:r>
                  <a:rPr lang="en-IN">
                    <a:noFill/>
                  </a:rPr>
                  <a:t> </a:t>
                </a:r>
              </a:p>
            </p:txBody>
          </p:sp>
        </mc:Fallback>
      </mc:AlternateContent>
      <p:sp>
        <p:nvSpPr>
          <p:cNvPr id="7" name="Content Placeholder 2">
            <a:extLst>
              <a:ext uri="{FF2B5EF4-FFF2-40B4-BE49-F238E27FC236}">
                <a16:creationId xmlns:a16="http://schemas.microsoft.com/office/drawing/2014/main" id="{C6A11E61-5F13-8BBB-C713-B65BB899BD6A}"/>
              </a:ext>
            </a:extLst>
          </p:cNvPr>
          <p:cNvSpPr txBox="1">
            <a:spLocks/>
          </p:cNvSpPr>
          <p:nvPr/>
        </p:nvSpPr>
        <p:spPr>
          <a:xfrm>
            <a:off x="6483927" y="2590799"/>
            <a:ext cx="5088083" cy="38632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2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Wingdings 3" panose="05040102010807070707" pitchFamily="18" charset="2"/>
              <a:buNone/>
            </a:pPr>
            <a:endParaRPr lang="en-IN" sz="2800" b="1" dirty="0">
              <a:solidFill>
                <a:srgbClr val="C00000"/>
              </a:solidFill>
            </a:endParaRPr>
          </a:p>
        </p:txBody>
      </p:sp>
    </p:spTree>
    <p:extLst>
      <p:ext uri="{BB962C8B-B14F-4D97-AF65-F5344CB8AC3E}">
        <p14:creationId xmlns:p14="http://schemas.microsoft.com/office/powerpoint/2010/main" val="2269032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C5F7F-FE70-4810-A64C-F1D1F3ED775C}"/>
              </a:ext>
            </a:extLst>
          </p:cNvPr>
          <p:cNvSpPr>
            <a:spLocks noGrp="1"/>
          </p:cNvSpPr>
          <p:nvPr>
            <p:ph type="title"/>
          </p:nvPr>
        </p:nvSpPr>
        <p:spPr/>
        <p:txBody>
          <a:bodyPr/>
          <a:lstStyle/>
          <a:p>
            <a:r>
              <a:rPr lang="en-IN" altLang="en-US" dirty="0"/>
              <a:t>Question.04</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F389EA-3147-4A5F-910B-273B130FD9E0}"/>
                  </a:ext>
                </a:extLst>
              </p:cNvPr>
              <p:cNvSpPr>
                <a:spLocks noGrp="1"/>
              </p:cNvSpPr>
              <p:nvPr>
                <p:ph idx="1"/>
              </p:nvPr>
            </p:nvSpPr>
            <p:spPr/>
            <p:txBody>
              <a:bodyPr/>
              <a:lstStyle/>
              <a:p>
                <a:pPr marL="0" indent="0">
                  <a:buNone/>
                </a:pPr>
                <a:r>
                  <a:rPr lang="en-US" dirty="0"/>
                  <a:t>Mr. Khan will get Rs. 40,00,000  in the year 2031 from his Life insurance policy. Calculate the present value of this amount if her required rate of return is 9% p.a.</a:t>
                </a:r>
              </a:p>
              <a:p>
                <a:endParaRPr lang="en-US" dirty="0"/>
              </a:p>
              <a:p>
                <a:pPr marL="0" indent="0">
                  <a:buNone/>
                </a:pPr>
                <a:r>
                  <a:rPr lang="en-IN" dirty="0"/>
                  <a:t>PV</a:t>
                </a:r>
                <a:r>
                  <a:rPr lang="en-IN" i="1" dirty="0"/>
                  <a:t> </a:t>
                </a:r>
                <a:r>
                  <a:rPr lang="en-IN" dirty="0"/>
                  <a:t>= </a:t>
                </a:r>
                <a14:m>
                  <m:oMath xmlns:m="http://schemas.openxmlformats.org/officeDocument/2006/math">
                    <m:f>
                      <m:fPr>
                        <m:ctrlPr>
                          <a:rPr lang="en-IN" i="1">
                            <a:latin typeface="Cambria Math" panose="02040503050406030204" pitchFamily="18" charset="0"/>
                          </a:rPr>
                        </m:ctrlPr>
                      </m:fPr>
                      <m:num>
                        <m:r>
                          <m:rPr>
                            <m:nor/>
                          </m:rPr>
                          <a:rPr lang="en-GB" b="0" i="0" dirty="0" smtClean="0"/>
                          <m:t>40,00</m:t>
                        </m:r>
                        <m:r>
                          <m:rPr>
                            <m:nor/>
                          </m:rPr>
                          <a:rPr lang="en-GB" dirty="0"/>
                          <m:t>,</m:t>
                        </m:r>
                        <m:r>
                          <m:rPr>
                            <m:nor/>
                          </m:rPr>
                          <a:rPr lang="en-IN" dirty="0"/>
                          <m:t>000</m:t>
                        </m:r>
                      </m:num>
                      <m:den>
                        <m:r>
                          <m:rPr>
                            <m:nor/>
                          </m:rPr>
                          <a:rPr lang="en-IN" dirty="0"/>
                          <m:t>(1+0.</m:t>
                        </m:r>
                        <m:r>
                          <m:rPr>
                            <m:nor/>
                          </m:rPr>
                          <a:rPr lang="en-GB" b="0" i="0" dirty="0" smtClean="0"/>
                          <m:t>09</m:t>
                        </m:r>
                        <m:r>
                          <m:rPr>
                            <m:nor/>
                          </m:rPr>
                          <a:rPr lang="en-IN" dirty="0"/>
                          <m:t>)</m:t>
                        </m:r>
                        <m:r>
                          <m:rPr>
                            <m:nor/>
                          </m:rPr>
                          <a:rPr lang="en-GB" b="0" i="1" baseline="30000" dirty="0" smtClean="0"/>
                          <m:t>7</m:t>
                        </m:r>
                      </m:den>
                    </m:f>
                  </m:oMath>
                </a14:m>
                <a:r>
                  <a:rPr lang="en-IN" dirty="0"/>
                  <a:t>​ </a:t>
                </a:r>
              </a:p>
              <a:p>
                <a:pPr marL="0" indent="0" algn="l">
                  <a:buNone/>
                </a:pPr>
                <a:r>
                  <a:rPr lang="en-IN" dirty="0"/>
                  <a:t>PV</a:t>
                </a:r>
                <a:r>
                  <a:rPr lang="en-IN" dirty="0">
                    <a:latin typeface="Agency FB" panose="020B0503020202020204" pitchFamily="34" charset="0"/>
                  </a:rPr>
                  <a:t> </a:t>
                </a:r>
                <a:r>
                  <a:rPr lang="en-IN" dirty="0"/>
                  <a:t>= </a:t>
                </a:r>
                <a14:m>
                  <m:oMath xmlns:m="http://schemas.openxmlformats.org/officeDocument/2006/math">
                    <m:f>
                      <m:fPr>
                        <m:ctrlPr>
                          <a:rPr lang="en-IN" i="1">
                            <a:latin typeface="Cambria Math" panose="02040503050406030204" pitchFamily="18" charset="0"/>
                          </a:rPr>
                        </m:ctrlPr>
                      </m:fPr>
                      <m:num>
                        <m:r>
                          <m:rPr>
                            <m:nor/>
                          </m:rPr>
                          <a:rPr lang="en-GB" b="0" i="0" dirty="0" smtClean="0"/>
                          <m:t>40,00</m:t>
                        </m:r>
                        <m:r>
                          <m:rPr>
                            <m:nor/>
                          </m:rPr>
                          <a:rPr lang="en-IN" dirty="0"/>
                          <m:t>,000</m:t>
                        </m:r>
                      </m:num>
                      <m:den>
                        <m:r>
                          <m:rPr>
                            <m:nor/>
                          </m:rPr>
                          <a:rPr lang="en-IN" dirty="0"/>
                          <m:t>(1</m:t>
                        </m:r>
                        <m:r>
                          <m:rPr>
                            <m:nor/>
                          </m:rPr>
                          <a:rPr lang="en-GB" dirty="0"/>
                          <m:t>.</m:t>
                        </m:r>
                        <m:r>
                          <m:rPr>
                            <m:nor/>
                          </m:rPr>
                          <a:rPr lang="en-GB" b="0" i="0" dirty="0" smtClean="0"/>
                          <m:t>09</m:t>
                        </m:r>
                        <m:r>
                          <m:rPr>
                            <m:nor/>
                          </m:rPr>
                          <a:rPr lang="en-IN" dirty="0"/>
                          <m:t>)</m:t>
                        </m:r>
                        <m:r>
                          <m:rPr>
                            <m:nor/>
                          </m:rPr>
                          <a:rPr lang="en-GB" b="0" i="1" baseline="30000" dirty="0" smtClean="0"/>
                          <m:t>7</m:t>
                        </m:r>
                      </m:den>
                    </m:f>
                  </m:oMath>
                </a14:m>
                <a:endParaRPr lang="en-IN" dirty="0"/>
              </a:p>
              <a:p>
                <a:pPr marL="0" indent="0" algn="l">
                  <a:buNone/>
                </a:pPr>
                <a:r>
                  <a:rPr lang="en-IN" dirty="0"/>
                  <a:t>PV</a:t>
                </a:r>
                <a:r>
                  <a:rPr lang="en-IN" i="1" dirty="0"/>
                  <a:t> </a:t>
                </a:r>
                <a:r>
                  <a:rPr lang="en-IN" dirty="0"/>
                  <a:t>= </a:t>
                </a:r>
                <a14:m>
                  <m:oMath xmlns:m="http://schemas.openxmlformats.org/officeDocument/2006/math">
                    <m:f>
                      <m:fPr>
                        <m:ctrlPr>
                          <a:rPr lang="en-IN" i="1">
                            <a:latin typeface="Cambria Math" panose="02040503050406030204" pitchFamily="18" charset="0"/>
                          </a:rPr>
                        </m:ctrlPr>
                      </m:fPr>
                      <m:num>
                        <m:r>
                          <m:rPr>
                            <m:nor/>
                          </m:rPr>
                          <a:rPr lang="en-GB" b="0" i="0" dirty="0" smtClean="0"/>
                          <m:t>40,00,</m:t>
                        </m:r>
                        <m:r>
                          <m:rPr>
                            <m:nor/>
                          </m:rPr>
                          <a:rPr lang="en-IN" dirty="0"/>
                          <m:t>000</m:t>
                        </m:r>
                      </m:num>
                      <m:den>
                        <m:r>
                          <m:rPr>
                            <m:nor/>
                          </m:rPr>
                          <a:rPr lang="en-IN" dirty="0"/>
                          <m:t>1.</m:t>
                        </m:r>
                        <m:r>
                          <m:rPr>
                            <m:nor/>
                          </m:rPr>
                          <a:rPr lang="en-GB" dirty="0"/>
                          <m:t>8</m:t>
                        </m:r>
                        <m:r>
                          <m:rPr>
                            <m:nor/>
                          </m:rPr>
                          <a:rPr lang="en-GB" b="0" i="0" dirty="0" smtClean="0"/>
                          <m:t>28</m:t>
                        </m:r>
                        <m:r>
                          <m:rPr>
                            <m:nor/>
                          </m:rPr>
                          <a:rPr lang="en-IN" dirty="0"/>
                          <m:t>​</m:t>
                        </m:r>
                      </m:den>
                    </m:f>
                  </m:oMath>
                </a14:m>
                <a:endParaRPr lang="en-US" dirty="0"/>
              </a:p>
              <a:p>
                <a:pPr marL="0" indent="0" algn="l">
                  <a:buNone/>
                </a:pPr>
                <a:endParaRPr lang="en-US" dirty="0"/>
              </a:p>
              <a:p>
                <a:pPr marL="0" indent="0">
                  <a:buNone/>
                </a:pPr>
                <a:r>
                  <a:rPr lang="en-IN" b="1" dirty="0">
                    <a:solidFill>
                      <a:srgbClr val="C00000"/>
                    </a:solidFill>
                  </a:rPr>
                  <a:t>PV = </a:t>
                </a:r>
                <a:r>
                  <a:rPr lang="en-US" b="1" dirty="0">
                    <a:solidFill>
                      <a:srgbClr val="C00000"/>
                    </a:solidFill>
                  </a:rPr>
                  <a:t>21,88,000</a:t>
                </a:r>
                <a:endParaRPr lang="en-IN" dirty="0">
                  <a:solidFill>
                    <a:srgbClr val="C00000"/>
                  </a:solidFill>
                </a:endParaRPr>
              </a:p>
              <a:p>
                <a:endParaRPr lang="en-IN" dirty="0"/>
              </a:p>
            </p:txBody>
          </p:sp>
        </mc:Choice>
        <mc:Fallback xmlns="">
          <p:sp>
            <p:nvSpPr>
              <p:cNvPr id="3" name="Content Placeholder 2">
                <a:extLst>
                  <a:ext uri="{FF2B5EF4-FFF2-40B4-BE49-F238E27FC236}">
                    <a16:creationId xmlns:a16="http://schemas.microsoft.com/office/drawing/2014/main" id="{7BF389EA-3147-4A5F-910B-273B130FD9E0}"/>
                  </a:ext>
                </a:extLst>
              </p:cNvPr>
              <p:cNvSpPr>
                <a:spLocks noGrp="1" noRot="1" noChangeAspect="1" noMove="1" noResize="1" noEditPoints="1" noAdjustHandles="1" noChangeArrowheads="1" noChangeShapeType="1" noTextEdit="1"/>
              </p:cNvSpPr>
              <p:nvPr>
                <p:ph idx="1"/>
              </p:nvPr>
            </p:nvSpPr>
            <p:spPr>
              <a:blipFill>
                <a:blip r:embed="rId2"/>
                <a:stretch>
                  <a:fillRect l="-1074"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208316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084808FC-0E9A-4CCA-9AB7-49F5334B0248}"/>
              </a:ext>
            </a:extLst>
          </p:cNvPr>
          <p:cNvSpPr>
            <a:spLocks noGrp="1"/>
          </p:cNvSpPr>
          <p:nvPr>
            <p:ph type="title"/>
          </p:nvPr>
        </p:nvSpPr>
        <p:spPr/>
        <p:txBody>
          <a:bodyPr/>
          <a:lstStyle/>
          <a:p>
            <a:r>
              <a:rPr lang="en-IN" altLang="en-US" dirty="0"/>
              <a:t>Question.05</a:t>
            </a:r>
          </a:p>
        </p:txBody>
      </p:sp>
      <p:sp>
        <p:nvSpPr>
          <p:cNvPr id="38915" name="Content Placeholder 2">
            <a:extLst>
              <a:ext uri="{FF2B5EF4-FFF2-40B4-BE49-F238E27FC236}">
                <a16:creationId xmlns:a16="http://schemas.microsoft.com/office/drawing/2014/main" id="{C7E3BDAF-A478-4C60-B38D-A30801D19859}"/>
              </a:ext>
            </a:extLst>
          </p:cNvPr>
          <p:cNvSpPr>
            <a:spLocks noGrp="1"/>
          </p:cNvSpPr>
          <p:nvPr>
            <p:ph idx="1"/>
          </p:nvPr>
        </p:nvSpPr>
        <p:spPr/>
        <p:txBody>
          <a:bodyPr/>
          <a:lstStyle/>
          <a:p>
            <a:pPr marL="107950" indent="0">
              <a:buNone/>
            </a:pPr>
            <a:r>
              <a:rPr lang="en-IN" altLang="en-US" sz="3200" dirty="0"/>
              <a:t>Calculate the present value of an uneven cash flow, using a discount rate of 12%.</a:t>
            </a:r>
          </a:p>
          <a:p>
            <a:pPr marL="107950" indent="0">
              <a:buNone/>
            </a:pPr>
            <a:endParaRPr lang="en-IN" altLang="en-US" sz="3200" dirty="0"/>
          </a:p>
          <a:p>
            <a:pPr marL="107950" indent="0">
              <a:buNone/>
            </a:pPr>
            <a:endParaRPr lang="en-IN" altLang="en-US" sz="2400" dirty="0"/>
          </a:p>
          <a:p>
            <a:pPr marL="107950" indent="0">
              <a:buNone/>
            </a:pPr>
            <a:endParaRPr lang="en-IN" altLang="en-US" sz="2400" dirty="0"/>
          </a:p>
          <a:p>
            <a:pPr marL="107950" indent="0">
              <a:buNone/>
            </a:pPr>
            <a:endParaRPr lang="en-IN" altLang="en-US" sz="2400" dirty="0"/>
          </a:p>
          <a:p>
            <a:pPr marL="107950" indent="0">
              <a:buNone/>
            </a:pPr>
            <a:endParaRPr lang="en-IN" altLang="en-US" sz="2400" dirty="0"/>
          </a:p>
          <a:p>
            <a:pPr marL="107950" indent="0">
              <a:buNone/>
            </a:pPr>
            <a:endParaRPr lang="en-IN" altLang="en-US" sz="2400" dirty="0"/>
          </a:p>
          <a:p>
            <a:pPr marL="107950" indent="0">
              <a:buNone/>
            </a:pPr>
            <a:endParaRPr lang="en-IN" altLang="en-US" sz="2400" dirty="0"/>
          </a:p>
          <a:p>
            <a:pPr marL="107950" indent="0">
              <a:buNone/>
            </a:pPr>
            <a:endParaRPr lang="en-IN" altLang="en-US" sz="2400" dirty="0"/>
          </a:p>
        </p:txBody>
      </p:sp>
      <p:graphicFrame>
        <p:nvGraphicFramePr>
          <p:cNvPr id="4" name="Table 3">
            <a:extLst>
              <a:ext uri="{FF2B5EF4-FFF2-40B4-BE49-F238E27FC236}">
                <a16:creationId xmlns:a16="http://schemas.microsoft.com/office/drawing/2014/main" id="{B22789E7-DEAF-4CD9-831B-6D718FA3C9C7}"/>
              </a:ext>
            </a:extLst>
          </p:cNvPr>
          <p:cNvGraphicFramePr>
            <a:graphicFrameLocks noGrp="1"/>
          </p:cNvGraphicFramePr>
          <p:nvPr/>
        </p:nvGraphicFramePr>
        <p:xfrm>
          <a:off x="1979228" y="2432352"/>
          <a:ext cx="8233543" cy="1508126"/>
        </p:xfrm>
        <a:graphic>
          <a:graphicData uri="http://schemas.openxmlformats.org/drawingml/2006/table">
            <a:tbl>
              <a:tblPr firstRow="1" bandRow="1">
                <a:tableStyleId>{5940675A-B579-460E-94D1-54222C63F5DA}</a:tableStyleId>
              </a:tblPr>
              <a:tblGrid>
                <a:gridCol w="1495743">
                  <a:extLst>
                    <a:ext uri="{9D8B030D-6E8A-4147-A177-3AD203B41FA5}">
                      <a16:colId xmlns:a16="http://schemas.microsoft.com/office/drawing/2014/main" val="20000"/>
                    </a:ext>
                  </a:extLst>
                </a:gridCol>
                <a:gridCol w="842225">
                  <a:extLst>
                    <a:ext uri="{9D8B030D-6E8A-4147-A177-3AD203B41FA5}">
                      <a16:colId xmlns:a16="http://schemas.microsoft.com/office/drawing/2014/main" val="20001"/>
                    </a:ext>
                  </a:extLst>
                </a:gridCol>
                <a:gridCol w="842225">
                  <a:extLst>
                    <a:ext uri="{9D8B030D-6E8A-4147-A177-3AD203B41FA5}">
                      <a16:colId xmlns:a16="http://schemas.microsoft.com/office/drawing/2014/main" val="20002"/>
                    </a:ext>
                  </a:extLst>
                </a:gridCol>
                <a:gridCol w="842225">
                  <a:extLst>
                    <a:ext uri="{9D8B030D-6E8A-4147-A177-3AD203B41FA5}">
                      <a16:colId xmlns:a16="http://schemas.microsoft.com/office/drawing/2014/main" val="20003"/>
                    </a:ext>
                  </a:extLst>
                </a:gridCol>
                <a:gridCol w="842225">
                  <a:extLst>
                    <a:ext uri="{9D8B030D-6E8A-4147-A177-3AD203B41FA5}">
                      <a16:colId xmlns:a16="http://schemas.microsoft.com/office/drawing/2014/main" val="20004"/>
                    </a:ext>
                  </a:extLst>
                </a:gridCol>
                <a:gridCol w="842225">
                  <a:extLst>
                    <a:ext uri="{9D8B030D-6E8A-4147-A177-3AD203B41FA5}">
                      <a16:colId xmlns:a16="http://schemas.microsoft.com/office/drawing/2014/main" val="20005"/>
                    </a:ext>
                  </a:extLst>
                </a:gridCol>
                <a:gridCol w="842225">
                  <a:extLst>
                    <a:ext uri="{9D8B030D-6E8A-4147-A177-3AD203B41FA5}">
                      <a16:colId xmlns:a16="http://schemas.microsoft.com/office/drawing/2014/main" val="20006"/>
                    </a:ext>
                  </a:extLst>
                </a:gridCol>
                <a:gridCol w="842225">
                  <a:extLst>
                    <a:ext uri="{9D8B030D-6E8A-4147-A177-3AD203B41FA5}">
                      <a16:colId xmlns:a16="http://schemas.microsoft.com/office/drawing/2014/main" val="20007"/>
                    </a:ext>
                  </a:extLst>
                </a:gridCol>
                <a:gridCol w="842225">
                  <a:extLst>
                    <a:ext uri="{9D8B030D-6E8A-4147-A177-3AD203B41FA5}">
                      <a16:colId xmlns:a16="http://schemas.microsoft.com/office/drawing/2014/main" val="20008"/>
                    </a:ext>
                  </a:extLst>
                </a:gridCol>
              </a:tblGrid>
              <a:tr h="754063">
                <a:tc>
                  <a:txBody>
                    <a:bodyPr/>
                    <a:lstStyle/>
                    <a:p>
                      <a:r>
                        <a:rPr lang="en-IN" sz="2400" b="1" dirty="0"/>
                        <a:t>Years</a:t>
                      </a:r>
                    </a:p>
                  </a:txBody>
                  <a:tcPr marT="45741" marB="45741"/>
                </a:tc>
                <a:tc>
                  <a:txBody>
                    <a:bodyPr/>
                    <a:lstStyle/>
                    <a:p>
                      <a:pPr algn="ctr"/>
                      <a:r>
                        <a:rPr lang="en-US" sz="2400" dirty="0"/>
                        <a:t>2</a:t>
                      </a:r>
                      <a:r>
                        <a:rPr lang="en-IN" sz="2400" dirty="0"/>
                        <a:t>024</a:t>
                      </a:r>
                    </a:p>
                  </a:txBody>
                  <a:tcPr marT="45741" marB="45741" anchor="ctr"/>
                </a:tc>
                <a:tc>
                  <a:txBody>
                    <a:bodyPr/>
                    <a:lstStyle/>
                    <a:p>
                      <a:pPr algn="ctr"/>
                      <a:r>
                        <a:rPr lang="en-IN" sz="2400" dirty="0"/>
                        <a:t>2025</a:t>
                      </a:r>
                    </a:p>
                  </a:txBody>
                  <a:tcPr marT="45741" marB="45741" anchor="ctr"/>
                </a:tc>
                <a:tc>
                  <a:txBody>
                    <a:bodyPr/>
                    <a:lstStyle/>
                    <a:p>
                      <a:pPr algn="ctr"/>
                      <a:r>
                        <a:rPr lang="en-IN" sz="2400" dirty="0"/>
                        <a:t>2026</a:t>
                      </a:r>
                    </a:p>
                  </a:txBody>
                  <a:tcPr marT="45741" marB="45741" anchor="ctr"/>
                </a:tc>
                <a:tc>
                  <a:txBody>
                    <a:bodyPr/>
                    <a:lstStyle/>
                    <a:p>
                      <a:pPr algn="ctr"/>
                      <a:r>
                        <a:rPr lang="en-US" sz="2400" dirty="0"/>
                        <a:t>2027</a:t>
                      </a:r>
                      <a:endParaRPr lang="en-IN" sz="2400" dirty="0"/>
                    </a:p>
                  </a:txBody>
                  <a:tcPr marT="45741" marB="45741" anchor="ctr"/>
                </a:tc>
                <a:tc>
                  <a:txBody>
                    <a:bodyPr/>
                    <a:lstStyle/>
                    <a:p>
                      <a:pPr algn="ctr"/>
                      <a:r>
                        <a:rPr lang="en-US" sz="2400" dirty="0"/>
                        <a:t>2028</a:t>
                      </a:r>
                      <a:endParaRPr lang="en-IN" sz="2400" dirty="0"/>
                    </a:p>
                  </a:txBody>
                  <a:tcPr marT="45741" marB="45741" anchor="ctr"/>
                </a:tc>
                <a:tc>
                  <a:txBody>
                    <a:bodyPr/>
                    <a:lstStyle/>
                    <a:p>
                      <a:pPr algn="ctr"/>
                      <a:r>
                        <a:rPr lang="en-US" sz="2400" dirty="0"/>
                        <a:t>2029</a:t>
                      </a:r>
                      <a:endParaRPr lang="en-IN" sz="2400" dirty="0"/>
                    </a:p>
                  </a:txBody>
                  <a:tcPr marT="45741" marB="45741" anchor="ctr"/>
                </a:tc>
                <a:tc>
                  <a:txBody>
                    <a:bodyPr/>
                    <a:lstStyle/>
                    <a:p>
                      <a:pPr algn="ctr"/>
                      <a:r>
                        <a:rPr lang="en-US" sz="2400" dirty="0"/>
                        <a:t>2030</a:t>
                      </a:r>
                      <a:endParaRPr lang="en-IN" sz="2400" dirty="0"/>
                    </a:p>
                  </a:txBody>
                  <a:tcPr marT="45741" marB="45741" anchor="ctr"/>
                </a:tc>
                <a:tc>
                  <a:txBody>
                    <a:bodyPr/>
                    <a:lstStyle/>
                    <a:p>
                      <a:pPr algn="ctr"/>
                      <a:r>
                        <a:rPr lang="en-US" sz="2400" dirty="0"/>
                        <a:t>2031</a:t>
                      </a:r>
                      <a:endParaRPr lang="en-IN" sz="2400" dirty="0"/>
                    </a:p>
                  </a:txBody>
                  <a:tcPr marT="45741" marB="45741" anchor="ctr"/>
                </a:tc>
                <a:extLst>
                  <a:ext uri="{0D108BD9-81ED-4DB2-BD59-A6C34878D82A}">
                    <a16:rowId xmlns:a16="http://schemas.microsoft.com/office/drawing/2014/main" val="10000"/>
                  </a:ext>
                </a:extLst>
              </a:tr>
              <a:tr h="754063">
                <a:tc>
                  <a:txBody>
                    <a:bodyPr/>
                    <a:lstStyle/>
                    <a:p>
                      <a:r>
                        <a:rPr lang="en-IN" sz="2400" b="1" dirty="0"/>
                        <a:t>Cash Flow</a:t>
                      </a:r>
                    </a:p>
                  </a:txBody>
                  <a:tcPr marT="45741" marB="45741"/>
                </a:tc>
                <a:tc>
                  <a:txBody>
                    <a:bodyPr/>
                    <a:lstStyle/>
                    <a:p>
                      <a:pPr algn="ctr"/>
                      <a:r>
                        <a:rPr lang="en-IN" sz="2400" dirty="0"/>
                        <a:t>1000</a:t>
                      </a:r>
                    </a:p>
                  </a:txBody>
                  <a:tcPr marT="45741" marB="45741" anchor="ctr"/>
                </a:tc>
                <a:tc>
                  <a:txBody>
                    <a:bodyPr/>
                    <a:lstStyle/>
                    <a:p>
                      <a:pPr algn="ctr"/>
                      <a:r>
                        <a:rPr lang="en-IN" sz="2400" dirty="0"/>
                        <a:t>2000</a:t>
                      </a:r>
                    </a:p>
                  </a:txBody>
                  <a:tcPr marT="45741" marB="45741" anchor="ctr"/>
                </a:tc>
                <a:tc>
                  <a:txBody>
                    <a:bodyPr/>
                    <a:lstStyle/>
                    <a:p>
                      <a:pPr algn="ctr"/>
                      <a:r>
                        <a:rPr lang="en-IN" sz="2400" dirty="0"/>
                        <a:t>2000</a:t>
                      </a:r>
                    </a:p>
                  </a:txBody>
                  <a:tcPr marT="45741" marB="45741" anchor="ctr"/>
                </a:tc>
                <a:tc>
                  <a:txBody>
                    <a:bodyPr/>
                    <a:lstStyle/>
                    <a:p>
                      <a:pPr algn="ctr"/>
                      <a:r>
                        <a:rPr lang="en-IN" sz="2400" dirty="0"/>
                        <a:t>3000</a:t>
                      </a:r>
                    </a:p>
                  </a:txBody>
                  <a:tcPr marT="45741" marB="45741" anchor="ctr"/>
                </a:tc>
                <a:tc>
                  <a:txBody>
                    <a:bodyPr/>
                    <a:lstStyle/>
                    <a:p>
                      <a:pPr algn="ctr"/>
                      <a:r>
                        <a:rPr lang="en-IN" sz="2400" dirty="0"/>
                        <a:t>3000</a:t>
                      </a:r>
                    </a:p>
                  </a:txBody>
                  <a:tcPr marT="45741" marB="45741" anchor="ctr"/>
                </a:tc>
                <a:tc>
                  <a:txBody>
                    <a:bodyPr/>
                    <a:lstStyle/>
                    <a:p>
                      <a:pPr algn="ctr"/>
                      <a:r>
                        <a:rPr lang="en-IN" sz="2400" dirty="0"/>
                        <a:t>4000</a:t>
                      </a:r>
                    </a:p>
                  </a:txBody>
                  <a:tcPr marT="45741" marB="45741" anchor="ctr"/>
                </a:tc>
                <a:tc>
                  <a:txBody>
                    <a:bodyPr/>
                    <a:lstStyle/>
                    <a:p>
                      <a:pPr algn="ctr"/>
                      <a:r>
                        <a:rPr lang="en-IN" sz="2400" dirty="0"/>
                        <a:t>4000</a:t>
                      </a:r>
                    </a:p>
                  </a:txBody>
                  <a:tcPr marT="45741" marB="45741" anchor="ctr"/>
                </a:tc>
                <a:tc>
                  <a:txBody>
                    <a:bodyPr/>
                    <a:lstStyle/>
                    <a:p>
                      <a:pPr algn="ctr"/>
                      <a:r>
                        <a:rPr lang="en-IN" sz="2400" dirty="0"/>
                        <a:t>5000</a:t>
                      </a:r>
                    </a:p>
                  </a:txBody>
                  <a:tcPr marT="45741" marB="45741"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934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774872" y="956366"/>
          <a:ext cx="10642255" cy="4940850"/>
        </p:xfrm>
        <a:graphic>
          <a:graphicData uri="http://schemas.openxmlformats.org/drawingml/2006/table">
            <a:tbl>
              <a:tblPr firstRow="1" bandRow="1">
                <a:tableStyleId>{5C22544A-7EE6-4342-B048-85BDC9FD1C3A}</a:tableStyleId>
              </a:tblPr>
              <a:tblGrid>
                <a:gridCol w="1928571">
                  <a:extLst>
                    <a:ext uri="{9D8B030D-6E8A-4147-A177-3AD203B41FA5}">
                      <a16:colId xmlns:a16="http://schemas.microsoft.com/office/drawing/2014/main" val="3434638221"/>
                    </a:ext>
                  </a:extLst>
                </a:gridCol>
                <a:gridCol w="2461011">
                  <a:extLst>
                    <a:ext uri="{9D8B030D-6E8A-4147-A177-3AD203B41FA5}">
                      <a16:colId xmlns:a16="http://schemas.microsoft.com/office/drawing/2014/main" val="4135723379"/>
                    </a:ext>
                  </a:extLst>
                </a:gridCol>
                <a:gridCol w="3019143">
                  <a:extLst>
                    <a:ext uri="{9D8B030D-6E8A-4147-A177-3AD203B41FA5}">
                      <a16:colId xmlns:a16="http://schemas.microsoft.com/office/drawing/2014/main" val="2311811113"/>
                    </a:ext>
                  </a:extLst>
                </a:gridCol>
                <a:gridCol w="3233530">
                  <a:extLst>
                    <a:ext uri="{9D8B030D-6E8A-4147-A177-3AD203B41FA5}">
                      <a16:colId xmlns:a16="http://schemas.microsoft.com/office/drawing/2014/main" val="2794458046"/>
                    </a:ext>
                  </a:extLst>
                </a:gridCol>
              </a:tblGrid>
              <a:tr h="494053">
                <a:tc>
                  <a:txBody>
                    <a:bodyPr/>
                    <a:lstStyle/>
                    <a:p>
                      <a:pPr algn="ctr"/>
                      <a:r>
                        <a:rPr lang="en-IN" sz="2400" dirty="0"/>
                        <a:t>Year</a:t>
                      </a:r>
                    </a:p>
                  </a:txBody>
                  <a:tcPr/>
                </a:tc>
                <a:tc>
                  <a:txBody>
                    <a:bodyPr/>
                    <a:lstStyle/>
                    <a:p>
                      <a:pPr algn="ctr"/>
                      <a:r>
                        <a:rPr lang="en-GB" sz="2400" dirty="0"/>
                        <a:t>Cash flow</a:t>
                      </a:r>
                      <a:endParaRPr lang="en-IN" sz="2400" dirty="0"/>
                    </a:p>
                  </a:txBody>
                  <a:tcPr/>
                </a:tc>
                <a:tc>
                  <a:txBody>
                    <a:bodyPr/>
                    <a:lstStyle/>
                    <a:p>
                      <a:pPr algn="ctr"/>
                      <a:r>
                        <a:rPr lang="en-GB" sz="2400" dirty="0"/>
                        <a:t>PVIF (12%)</a:t>
                      </a:r>
                      <a:endParaRPr lang="en-IN" sz="2400" dirty="0"/>
                    </a:p>
                  </a:txBody>
                  <a:tcPr/>
                </a:tc>
                <a:tc>
                  <a:txBody>
                    <a:bodyPr/>
                    <a:lstStyle/>
                    <a:p>
                      <a:pPr algn="ctr"/>
                      <a:r>
                        <a:rPr lang="en-GB" sz="2400" dirty="0"/>
                        <a:t>Present Value</a:t>
                      </a:r>
                      <a:endParaRPr lang="en-IN" sz="2400" dirty="0"/>
                    </a:p>
                  </a:txBody>
                  <a:tcPr/>
                </a:tc>
                <a:extLst>
                  <a:ext uri="{0D108BD9-81ED-4DB2-BD59-A6C34878D82A}">
                    <a16:rowId xmlns:a16="http://schemas.microsoft.com/office/drawing/2014/main" val="702191584"/>
                  </a:ext>
                </a:extLst>
              </a:tr>
              <a:tr h="494093">
                <a:tc>
                  <a:txBody>
                    <a:bodyPr/>
                    <a:lstStyle/>
                    <a:p>
                      <a:pPr algn="ctr"/>
                      <a:r>
                        <a:rPr lang="en-US" sz="2400" dirty="0"/>
                        <a:t>2</a:t>
                      </a:r>
                      <a:r>
                        <a:rPr lang="en-IN" sz="2400" dirty="0"/>
                        <a:t>024</a:t>
                      </a:r>
                    </a:p>
                  </a:txBody>
                  <a:tcPr marT="45741" marB="45741" anchor="ctr"/>
                </a:tc>
                <a:tc>
                  <a:txBody>
                    <a:bodyPr/>
                    <a:lstStyle/>
                    <a:p>
                      <a:pPr algn="ctr"/>
                      <a:r>
                        <a:rPr lang="en-GB" sz="2400" dirty="0"/>
                        <a:t>1000</a:t>
                      </a:r>
                      <a:endParaRPr lang="en-IN" sz="2400" dirty="0"/>
                    </a:p>
                  </a:txBody>
                  <a:tcPr/>
                </a:tc>
                <a:tc>
                  <a:txBody>
                    <a:bodyPr/>
                    <a:lstStyle/>
                    <a:p>
                      <a:pPr algn="ctr"/>
                      <a:r>
                        <a:rPr lang="en-IN" sz="2400" dirty="0"/>
                        <a:t>0.893</a:t>
                      </a:r>
                    </a:p>
                  </a:txBody>
                  <a:tcPr/>
                </a:tc>
                <a:tc>
                  <a:txBody>
                    <a:bodyPr/>
                    <a:lstStyle/>
                    <a:p>
                      <a:pPr algn="ctr"/>
                      <a:r>
                        <a:rPr lang="en-IN" sz="2400" dirty="0"/>
                        <a:t>893 </a:t>
                      </a:r>
                    </a:p>
                  </a:txBody>
                  <a:tcPr/>
                </a:tc>
                <a:extLst>
                  <a:ext uri="{0D108BD9-81ED-4DB2-BD59-A6C34878D82A}">
                    <a16:rowId xmlns:a16="http://schemas.microsoft.com/office/drawing/2014/main" val="4171520608"/>
                  </a:ext>
                </a:extLst>
              </a:tr>
              <a:tr h="494093">
                <a:tc>
                  <a:txBody>
                    <a:bodyPr/>
                    <a:lstStyle/>
                    <a:p>
                      <a:pPr algn="ctr"/>
                      <a:r>
                        <a:rPr lang="en-US" sz="2400" dirty="0"/>
                        <a:t>2</a:t>
                      </a:r>
                      <a:r>
                        <a:rPr lang="en-IN" sz="2400" dirty="0"/>
                        <a:t>025</a:t>
                      </a:r>
                    </a:p>
                  </a:txBody>
                  <a:tcPr marT="45741" marB="45741" anchor="ctr"/>
                </a:tc>
                <a:tc>
                  <a:txBody>
                    <a:bodyPr/>
                    <a:lstStyle/>
                    <a:p>
                      <a:pPr algn="ctr"/>
                      <a:r>
                        <a:rPr lang="en-GB" sz="2400" dirty="0"/>
                        <a:t>2000</a:t>
                      </a:r>
                      <a:endParaRPr lang="en-IN" sz="2400" dirty="0"/>
                    </a:p>
                  </a:txBody>
                  <a:tcPr/>
                </a:tc>
                <a:tc>
                  <a:txBody>
                    <a:bodyPr/>
                    <a:lstStyle/>
                    <a:p>
                      <a:pPr algn="ctr"/>
                      <a:r>
                        <a:rPr lang="en-IN" sz="2400" dirty="0"/>
                        <a:t>0.797 </a:t>
                      </a:r>
                    </a:p>
                  </a:txBody>
                  <a:tcPr/>
                </a:tc>
                <a:tc>
                  <a:txBody>
                    <a:bodyPr/>
                    <a:lstStyle/>
                    <a:p>
                      <a:pPr algn="ctr"/>
                      <a:r>
                        <a:rPr lang="en-IN" sz="2400" dirty="0"/>
                        <a:t>1,594 </a:t>
                      </a:r>
                    </a:p>
                  </a:txBody>
                  <a:tcPr/>
                </a:tc>
                <a:extLst>
                  <a:ext uri="{0D108BD9-81ED-4DB2-BD59-A6C34878D82A}">
                    <a16:rowId xmlns:a16="http://schemas.microsoft.com/office/drawing/2014/main" val="1413060609"/>
                  </a:ext>
                </a:extLst>
              </a:tr>
              <a:tr h="494093">
                <a:tc>
                  <a:txBody>
                    <a:bodyPr/>
                    <a:lstStyle/>
                    <a:p>
                      <a:pPr algn="ctr"/>
                      <a:r>
                        <a:rPr lang="en-US" sz="2400" dirty="0"/>
                        <a:t>2</a:t>
                      </a:r>
                      <a:r>
                        <a:rPr lang="en-IN" sz="2400" dirty="0"/>
                        <a:t>026</a:t>
                      </a:r>
                    </a:p>
                  </a:txBody>
                  <a:tcPr marT="45741" marB="45741" anchor="ctr"/>
                </a:tc>
                <a:tc>
                  <a:txBody>
                    <a:bodyPr/>
                    <a:lstStyle/>
                    <a:p>
                      <a:pPr algn="ctr"/>
                      <a:r>
                        <a:rPr lang="en-GB" sz="2400" dirty="0"/>
                        <a:t>2000</a:t>
                      </a:r>
                      <a:endParaRPr lang="en-IN" sz="2400" dirty="0"/>
                    </a:p>
                  </a:txBody>
                  <a:tcPr/>
                </a:tc>
                <a:tc>
                  <a:txBody>
                    <a:bodyPr/>
                    <a:lstStyle/>
                    <a:p>
                      <a:pPr algn="ctr"/>
                      <a:r>
                        <a:rPr lang="en-IN" sz="2400" dirty="0"/>
                        <a:t>0.712</a:t>
                      </a:r>
                    </a:p>
                  </a:txBody>
                  <a:tcPr/>
                </a:tc>
                <a:tc>
                  <a:txBody>
                    <a:bodyPr/>
                    <a:lstStyle/>
                    <a:p>
                      <a:pPr algn="ctr"/>
                      <a:r>
                        <a:rPr lang="en-GB" sz="2400" dirty="0"/>
                        <a:t>1,424</a:t>
                      </a:r>
                      <a:endParaRPr lang="en-IN" sz="2400" dirty="0"/>
                    </a:p>
                  </a:txBody>
                  <a:tcPr/>
                </a:tc>
                <a:extLst>
                  <a:ext uri="{0D108BD9-81ED-4DB2-BD59-A6C34878D82A}">
                    <a16:rowId xmlns:a16="http://schemas.microsoft.com/office/drawing/2014/main" val="3190439713"/>
                  </a:ext>
                </a:extLst>
              </a:tr>
              <a:tr h="494093">
                <a:tc>
                  <a:txBody>
                    <a:bodyPr/>
                    <a:lstStyle/>
                    <a:p>
                      <a:pPr algn="ctr"/>
                      <a:r>
                        <a:rPr lang="en-US" sz="2400" dirty="0"/>
                        <a:t>2</a:t>
                      </a:r>
                      <a:r>
                        <a:rPr lang="en-IN" sz="2400" dirty="0"/>
                        <a:t>027</a:t>
                      </a:r>
                    </a:p>
                  </a:txBody>
                  <a:tcPr marT="45741" marB="45741" anchor="ctr"/>
                </a:tc>
                <a:tc>
                  <a:txBody>
                    <a:bodyPr/>
                    <a:lstStyle/>
                    <a:p>
                      <a:pPr algn="ctr"/>
                      <a:r>
                        <a:rPr lang="en-GB" sz="2400" dirty="0"/>
                        <a:t>3000</a:t>
                      </a:r>
                      <a:endParaRPr lang="en-IN" sz="2400" dirty="0"/>
                    </a:p>
                  </a:txBody>
                  <a:tcPr/>
                </a:tc>
                <a:tc>
                  <a:txBody>
                    <a:bodyPr/>
                    <a:lstStyle/>
                    <a:p>
                      <a:pPr algn="ctr"/>
                      <a:r>
                        <a:rPr lang="en-IN" sz="2400" dirty="0"/>
                        <a:t>0.636</a:t>
                      </a:r>
                    </a:p>
                  </a:txBody>
                  <a:tcPr/>
                </a:tc>
                <a:tc>
                  <a:txBody>
                    <a:bodyPr/>
                    <a:lstStyle/>
                    <a:p>
                      <a:pPr algn="ctr"/>
                      <a:r>
                        <a:rPr lang="en-GB" sz="2400" dirty="0"/>
                        <a:t>1,908</a:t>
                      </a:r>
                      <a:endParaRPr lang="en-IN" sz="2400" dirty="0"/>
                    </a:p>
                  </a:txBody>
                  <a:tcPr/>
                </a:tc>
                <a:extLst>
                  <a:ext uri="{0D108BD9-81ED-4DB2-BD59-A6C34878D82A}">
                    <a16:rowId xmlns:a16="http://schemas.microsoft.com/office/drawing/2014/main" val="4128135508"/>
                  </a:ext>
                </a:extLst>
              </a:tr>
              <a:tr h="494093">
                <a:tc>
                  <a:txBody>
                    <a:bodyPr/>
                    <a:lstStyle/>
                    <a:p>
                      <a:pPr algn="ctr"/>
                      <a:r>
                        <a:rPr lang="en-US" sz="2400" dirty="0"/>
                        <a:t>2</a:t>
                      </a:r>
                      <a:r>
                        <a:rPr lang="en-IN" sz="2400" dirty="0"/>
                        <a:t>028</a:t>
                      </a:r>
                    </a:p>
                  </a:txBody>
                  <a:tcPr marT="45741" marB="45741" anchor="ctr"/>
                </a:tc>
                <a:tc>
                  <a:txBody>
                    <a:bodyPr/>
                    <a:lstStyle/>
                    <a:p>
                      <a:pPr algn="ctr"/>
                      <a:r>
                        <a:rPr lang="en-GB" sz="2400" dirty="0"/>
                        <a:t>3000</a:t>
                      </a:r>
                      <a:endParaRPr lang="en-IN" sz="2400" dirty="0"/>
                    </a:p>
                  </a:txBody>
                  <a:tcPr/>
                </a:tc>
                <a:tc>
                  <a:txBody>
                    <a:bodyPr/>
                    <a:lstStyle/>
                    <a:p>
                      <a:pPr algn="ctr"/>
                      <a:r>
                        <a:rPr lang="en-IN" sz="2400" dirty="0"/>
                        <a:t>0.567</a:t>
                      </a:r>
                    </a:p>
                  </a:txBody>
                  <a:tcPr/>
                </a:tc>
                <a:tc>
                  <a:txBody>
                    <a:bodyPr/>
                    <a:lstStyle/>
                    <a:p>
                      <a:pPr algn="ctr"/>
                      <a:r>
                        <a:rPr lang="en-IN" sz="2400" dirty="0"/>
                        <a:t>1,701 </a:t>
                      </a:r>
                    </a:p>
                  </a:txBody>
                  <a:tcPr/>
                </a:tc>
                <a:extLst>
                  <a:ext uri="{0D108BD9-81ED-4DB2-BD59-A6C34878D82A}">
                    <a16:rowId xmlns:a16="http://schemas.microsoft.com/office/drawing/2014/main" val="3771806090"/>
                  </a:ext>
                </a:extLst>
              </a:tr>
              <a:tr h="494093">
                <a:tc>
                  <a:txBody>
                    <a:bodyPr/>
                    <a:lstStyle/>
                    <a:p>
                      <a:pPr algn="ctr"/>
                      <a:r>
                        <a:rPr lang="en-US" sz="2400" dirty="0"/>
                        <a:t>2</a:t>
                      </a:r>
                      <a:r>
                        <a:rPr lang="en-IN" sz="2400" dirty="0"/>
                        <a:t>029</a:t>
                      </a:r>
                    </a:p>
                  </a:txBody>
                  <a:tcPr marT="45741" marB="45741" anchor="ctr"/>
                </a:tc>
                <a:tc>
                  <a:txBody>
                    <a:bodyPr/>
                    <a:lstStyle/>
                    <a:p>
                      <a:pPr algn="ctr"/>
                      <a:r>
                        <a:rPr lang="en-GB" sz="2400" dirty="0"/>
                        <a:t>4000</a:t>
                      </a:r>
                      <a:endParaRPr lang="en-IN" sz="2400" dirty="0"/>
                    </a:p>
                  </a:txBody>
                  <a:tcPr/>
                </a:tc>
                <a:tc>
                  <a:txBody>
                    <a:bodyPr/>
                    <a:lstStyle/>
                    <a:p>
                      <a:pPr algn="ctr"/>
                      <a:r>
                        <a:rPr lang="en-IN" sz="2400" dirty="0"/>
                        <a:t>0.507</a:t>
                      </a:r>
                    </a:p>
                  </a:txBody>
                  <a:tcPr/>
                </a:tc>
                <a:tc>
                  <a:txBody>
                    <a:bodyPr/>
                    <a:lstStyle/>
                    <a:p>
                      <a:pPr algn="ctr"/>
                      <a:r>
                        <a:rPr lang="en-IN" sz="2400" dirty="0"/>
                        <a:t>2,028 </a:t>
                      </a:r>
                    </a:p>
                  </a:txBody>
                  <a:tcPr/>
                </a:tc>
                <a:extLst>
                  <a:ext uri="{0D108BD9-81ED-4DB2-BD59-A6C34878D82A}">
                    <a16:rowId xmlns:a16="http://schemas.microsoft.com/office/drawing/2014/main" val="3823285497"/>
                  </a:ext>
                </a:extLst>
              </a:tr>
              <a:tr h="494093">
                <a:tc>
                  <a:txBody>
                    <a:bodyPr/>
                    <a:lstStyle/>
                    <a:p>
                      <a:pPr algn="ctr"/>
                      <a:r>
                        <a:rPr lang="en-US" sz="2400" dirty="0"/>
                        <a:t>2</a:t>
                      </a:r>
                      <a:r>
                        <a:rPr lang="en-IN" sz="2400" dirty="0"/>
                        <a:t>030</a:t>
                      </a:r>
                    </a:p>
                  </a:txBody>
                  <a:tcPr marT="45741" marB="45741" anchor="ctr"/>
                </a:tc>
                <a:tc>
                  <a:txBody>
                    <a:bodyPr/>
                    <a:lstStyle/>
                    <a:p>
                      <a:pPr algn="ctr"/>
                      <a:r>
                        <a:rPr lang="en-GB" sz="2400" dirty="0"/>
                        <a:t>4000</a:t>
                      </a:r>
                      <a:endParaRPr lang="en-IN" sz="2400" dirty="0"/>
                    </a:p>
                  </a:txBody>
                  <a:tcPr/>
                </a:tc>
                <a:tc>
                  <a:txBody>
                    <a:bodyPr/>
                    <a:lstStyle/>
                    <a:p>
                      <a:pPr algn="ctr"/>
                      <a:r>
                        <a:rPr lang="en-IN" sz="2400" dirty="0"/>
                        <a:t>0.452</a:t>
                      </a:r>
                    </a:p>
                  </a:txBody>
                  <a:tcPr/>
                </a:tc>
                <a:tc>
                  <a:txBody>
                    <a:bodyPr/>
                    <a:lstStyle/>
                    <a:p>
                      <a:pPr algn="ctr"/>
                      <a:r>
                        <a:rPr lang="en-GB" sz="2400" dirty="0"/>
                        <a:t>1,808</a:t>
                      </a:r>
                      <a:endParaRPr lang="en-IN" sz="2400" dirty="0"/>
                    </a:p>
                  </a:txBody>
                  <a:tcPr/>
                </a:tc>
                <a:extLst>
                  <a:ext uri="{0D108BD9-81ED-4DB2-BD59-A6C34878D82A}">
                    <a16:rowId xmlns:a16="http://schemas.microsoft.com/office/drawing/2014/main" val="2290659941"/>
                  </a:ext>
                </a:extLst>
              </a:tr>
              <a:tr h="494093">
                <a:tc>
                  <a:txBody>
                    <a:bodyPr/>
                    <a:lstStyle/>
                    <a:p>
                      <a:pPr algn="ctr"/>
                      <a:r>
                        <a:rPr lang="en-US" sz="2400" dirty="0"/>
                        <a:t>2</a:t>
                      </a:r>
                      <a:r>
                        <a:rPr lang="en-IN" sz="2400" dirty="0"/>
                        <a:t>031</a:t>
                      </a:r>
                    </a:p>
                  </a:txBody>
                  <a:tcPr marT="45741" marB="45741" anchor="ctr"/>
                </a:tc>
                <a:tc>
                  <a:txBody>
                    <a:bodyPr/>
                    <a:lstStyle/>
                    <a:p>
                      <a:pPr algn="ctr"/>
                      <a:r>
                        <a:rPr lang="en-GB" sz="2400" dirty="0"/>
                        <a:t>5000</a:t>
                      </a:r>
                      <a:endParaRPr lang="en-IN" sz="2400" dirty="0"/>
                    </a:p>
                  </a:txBody>
                  <a:tcPr/>
                </a:tc>
                <a:tc>
                  <a:txBody>
                    <a:bodyPr/>
                    <a:lstStyle/>
                    <a:p>
                      <a:pPr algn="ctr"/>
                      <a:r>
                        <a:rPr lang="en-IN" sz="2400" dirty="0"/>
                        <a:t>0.404 </a:t>
                      </a:r>
                    </a:p>
                  </a:txBody>
                  <a:tcPr/>
                </a:tc>
                <a:tc>
                  <a:txBody>
                    <a:bodyPr/>
                    <a:lstStyle/>
                    <a:p>
                      <a:pPr algn="ctr"/>
                      <a:r>
                        <a:rPr lang="en-GB" sz="2400" dirty="0"/>
                        <a:t>2,020</a:t>
                      </a:r>
                      <a:endParaRPr lang="en-IN" sz="2400" dirty="0"/>
                    </a:p>
                  </a:txBody>
                  <a:tcPr/>
                </a:tc>
                <a:extLst>
                  <a:ext uri="{0D108BD9-81ED-4DB2-BD59-A6C34878D82A}">
                    <a16:rowId xmlns:a16="http://schemas.microsoft.com/office/drawing/2014/main" val="3261105864"/>
                  </a:ext>
                </a:extLst>
              </a:tr>
              <a:tr h="494053">
                <a:tc>
                  <a:txBody>
                    <a:bodyPr/>
                    <a:lstStyle/>
                    <a:p>
                      <a:pPr algn="ctr"/>
                      <a:endParaRPr lang="en-IN" sz="2400" dirty="0"/>
                    </a:p>
                  </a:txBody>
                  <a:tcPr marT="45741" marB="45741" anchor="ctr"/>
                </a:tc>
                <a:tc>
                  <a:txBody>
                    <a:bodyPr/>
                    <a:lstStyle/>
                    <a:p>
                      <a:endParaRPr lang="en-IN" sz="2400" dirty="0"/>
                    </a:p>
                  </a:txBody>
                  <a:tcPr/>
                </a:tc>
                <a:tc>
                  <a:txBody>
                    <a:bodyPr/>
                    <a:lstStyle/>
                    <a:p>
                      <a:endParaRPr lang="en-IN" sz="2400" dirty="0"/>
                    </a:p>
                  </a:txBody>
                  <a:tcPr/>
                </a:tc>
                <a:tc>
                  <a:txBody>
                    <a:bodyPr/>
                    <a:lstStyle/>
                    <a:p>
                      <a:pPr algn="ctr"/>
                      <a:r>
                        <a:rPr lang="en-IN" sz="2400" b="1" dirty="0">
                          <a:solidFill>
                            <a:srgbClr val="C00000"/>
                          </a:solidFill>
                        </a:rPr>
                        <a:t>13,376</a:t>
                      </a:r>
                    </a:p>
                  </a:txBody>
                  <a:tcPr/>
                </a:tc>
                <a:extLst>
                  <a:ext uri="{0D108BD9-81ED-4DB2-BD59-A6C34878D82A}">
                    <a16:rowId xmlns:a16="http://schemas.microsoft.com/office/drawing/2014/main" val="790936232"/>
                  </a:ext>
                </a:extLst>
              </a:tr>
            </a:tbl>
          </a:graphicData>
        </a:graphic>
      </p:graphicFrame>
      <p:sp>
        <p:nvSpPr>
          <p:cNvPr id="3" name="Title 2"/>
          <p:cNvSpPr>
            <a:spLocks noGrp="1"/>
          </p:cNvSpPr>
          <p:nvPr>
            <p:ph type="title"/>
          </p:nvPr>
        </p:nvSpPr>
        <p:spPr/>
        <p:txBody>
          <a:bodyPr/>
          <a:lstStyle/>
          <a:p>
            <a:r>
              <a:rPr lang="en-GB" dirty="0"/>
              <a:t>Solution</a:t>
            </a:r>
            <a:endParaRPr lang="en-IN" dirty="0"/>
          </a:p>
        </p:txBody>
      </p:sp>
    </p:spTree>
    <p:extLst>
      <p:ext uri="{BB962C8B-B14F-4D97-AF65-F5344CB8AC3E}">
        <p14:creationId xmlns:p14="http://schemas.microsoft.com/office/powerpoint/2010/main" val="3039551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BC6A-D44A-4BBE-89F4-2C83609E2D26}"/>
              </a:ext>
            </a:extLst>
          </p:cNvPr>
          <p:cNvSpPr>
            <a:spLocks noGrp="1"/>
          </p:cNvSpPr>
          <p:nvPr>
            <p:ph type="title"/>
          </p:nvPr>
        </p:nvSpPr>
        <p:spPr/>
        <p:txBody>
          <a:bodyPr/>
          <a:lstStyle/>
          <a:p>
            <a:r>
              <a:rPr lang="en-US" dirty="0"/>
              <a:t>3) Future Value of an Annuity</a:t>
            </a:r>
            <a:endParaRPr lang="en-IN" dirty="0"/>
          </a:p>
        </p:txBody>
      </p:sp>
      <p:sp>
        <p:nvSpPr>
          <p:cNvPr id="3" name="Content Placeholder 2">
            <a:extLst>
              <a:ext uri="{FF2B5EF4-FFF2-40B4-BE49-F238E27FC236}">
                <a16:creationId xmlns:a16="http://schemas.microsoft.com/office/drawing/2014/main" id="{C22C5414-DF38-4BD7-9471-8BFAD6BFFF96}"/>
              </a:ext>
            </a:extLst>
          </p:cNvPr>
          <p:cNvSpPr>
            <a:spLocks noGrp="1"/>
          </p:cNvSpPr>
          <p:nvPr>
            <p:ph idx="1"/>
          </p:nvPr>
        </p:nvSpPr>
        <p:spPr/>
        <p:txBody>
          <a:bodyPr/>
          <a:lstStyle/>
          <a:p>
            <a:r>
              <a:rPr lang="en-IN" sz="2800" dirty="0"/>
              <a:t>Annuity is a </a:t>
            </a:r>
            <a:r>
              <a:rPr lang="en-IN" sz="2800" b="1" dirty="0">
                <a:solidFill>
                  <a:srgbClr val="C00000"/>
                </a:solidFill>
              </a:rPr>
              <a:t>fixed payment (receipt) each year</a:t>
            </a:r>
            <a:r>
              <a:rPr lang="en-IN" sz="2800" dirty="0"/>
              <a:t> for a </a:t>
            </a:r>
            <a:r>
              <a:rPr lang="en-IN" sz="2800" b="1" dirty="0">
                <a:solidFill>
                  <a:srgbClr val="C00000"/>
                </a:solidFill>
              </a:rPr>
              <a:t>specified no. of years</a:t>
            </a:r>
            <a:r>
              <a:rPr lang="en-IN" sz="2800" dirty="0"/>
              <a:t>.</a:t>
            </a:r>
          </a:p>
          <a:p>
            <a:r>
              <a:rPr lang="en-IN" altLang="en-US" sz="2800" dirty="0"/>
              <a:t>An annuity is a stream of constant cash flow occurring at regular interval of time.</a:t>
            </a:r>
          </a:p>
          <a:p>
            <a:r>
              <a:rPr lang="en-IN" altLang="en-US" sz="2800" dirty="0"/>
              <a:t>For example, the premium payments of a life insurance policy.</a:t>
            </a:r>
          </a:p>
          <a:p>
            <a:r>
              <a:rPr lang="en-IN" altLang="en-US" sz="2800" dirty="0"/>
              <a:t> When cash flow occur at the </a:t>
            </a:r>
            <a:r>
              <a:rPr lang="en-IN" altLang="en-US" sz="2800" b="1" dirty="0">
                <a:solidFill>
                  <a:srgbClr val="C00000"/>
                </a:solidFill>
              </a:rPr>
              <a:t>end of each period</a:t>
            </a:r>
            <a:r>
              <a:rPr lang="en-IN" altLang="en-US" sz="2800" b="1" dirty="0"/>
              <a:t> </a:t>
            </a:r>
            <a:r>
              <a:rPr lang="en-IN" altLang="en-US" sz="2800" dirty="0"/>
              <a:t>the annuity is called </a:t>
            </a:r>
            <a:r>
              <a:rPr lang="en-IN" altLang="en-US" sz="2800" b="1" dirty="0">
                <a:solidFill>
                  <a:srgbClr val="C00000"/>
                </a:solidFill>
              </a:rPr>
              <a:t>an ordinary annuity or a deferred annuity</a:t>
            </a:r>
            <a:r>
              <a:rPr lang="en-IN" altLang="en-US" sz="2800" dirty="0">
                <a:solidFill>
                  <a:srgbClr val="C00000"/>
                </a:solidFill>
              </a:rPr>
              <a:t>.</a:t>
            </a:r>
          </a:p>
          <a:p>
            <a:endParaRPr lang="en-IN" altLang="en-US" sz="2800" dirty="0"/>
          </a:p>
          <a:p>
            <a:endParaRPr lang="en-IN" altLang="en-US" sz="2800" dirty="0"/>
          </a:p>
          <a:p>
            <a:endParaRPr lang="en-IN" altLang="en-US" sz="2800" dirty="0"/>
          </a:p>
          <a:p>
            <a:endParaRPr lang="en-IN" altLang="en-US" sz="2800" dirty="0"/>
          </a:p>
          <a:p>
            <a:endParaRPr lang="en-IN" sz="2800" dirty="0"/>
          </a:p>
        </p:txBody>
      </p:sp>
    </p:spTree>
    <p:extLst>
      <p:ext uri="{BB962C8B-B14F-4D97-AF65-F5344CB8AC3E}">
        <p14:creationId xmlns:p14="http://schemas.microsoft.com/office/powerpoint/2010/main" val="391772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72D47ADC-5EE3-43A5-8D76-06EDFBF58B2E}"/>
              </a:ext>
            </a:extLst>
          </p:cNvPr>
          <p:cNvSpPr>
            <a:spLocks noGrp="1"/>
          </p:cNvSpPr>
          <p:nvPr>
            <p:ph type="title"/>
          </p:nvPr>
        </p:nvSpPr>
        <p:spPr/>
        <p:txBody>
          <a:bodyPr/>
          <a:lstStyle/>
          <a:p>
            <a:r>
              <a:rPr lang="en-IN" altLang="en-US" dirty="0"/>
              <a:t>Continue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F26D19-E35D-46D8-AAE5-2744EB6874F5}"/>
                  </a:ext>
                </a:extLst>
              </p:cNvPr>
              <p:cNvSpPr>
                <a:spLocks noGrp="1"/>
              </p:cNvSpPr>
              <p:nvPr>
                <p:ph idx="1"/>
              </p:nvPr>
            </p:nvSpPr>
            <p:spPr/>
            <p:txBody>
              <a:bodyPr>
                <a:normAutofit/>
              </a:bodyPr>
              <a:lstStyle/>
              <a:p>
                <a:pPr>
                  <a:defRPr/>
                </a:pPr>
                <a:r>
                  <a:rPr lang="en-IN" sz="3000" dirty="0"/>
                  <a:t>Formula</a:t>
                </a:r>
              </a:p>
              <a:p>
                <a:pPr>
                  <a:defRPr/>
                </a:pPr>
                <a:endParaRPr lang="en-IN" sz="2400" dirty="0"/>
              </a:p>
              <a:p>
                <a:pPr marL="109537" indent="0" algn="l">
                  <a:buNone/>
                  <a:defRPr/>
                </a:pPr>
                <a:r>
                  <a:rPr lang="en-IN" sz="2400" dirty="0"/>
                  <a:t>		</a:t>
                </a:r>
                <a:r>
                  <a:rPr lang="en-IN" sz="2400" b="0" dirty="0"/>
                  <a:t> </a:t>
                </a:r>
                <a14:m>
                  <m:oMath xmlns:m="http://schemas.openxmlformats.org/officeDocument/2006/math">
                    <m:r>
                      <a:rPr lang="en-IN" sz="3000" b="0" i="1" smtClean="0">
                        <a:latin typeface="Cambria Math" panose="02040503050406030204" pitchFamily="18" charset="0"/>
                      </a:rPr>
                      <m:t>𝐹</m:t>
                    </m:r>
                    <m:r>
                      <a:rPr lang="en-US" sz="3000" b="0" i="1" smtClean="0">
                        <a:latin typeface="Cambria Math" panose="02040503050406030204" pitchFamily="18" charset="0"/>
                      </a:rPr>
                      <m:t>𝑉𝐴𝑛</m:t>
                    </m:r>
                    <m:r>
                      <a:rPr lang="en-IN" sz="3000" b="0" i="1" smtClean="0">
                        <a:latin typeface="Cambria Math" panose="02040503050406030204" pitchFamily="18" charset="0"/>
                      </a:rPr>
                      <m:t>=</m:t>
                    </m:r>
                    <m:r>
                      <a:rPr lang="en-IN" sz="3000" b="0" i="1" smtClean="0">
                        <a:latin typeface="Cambria Math" panose="02040503050406030204" pitchFamily="18" charset="0"/>
                      </a:rPr>
                      <m:t>𝐴</m:t>
                    </m:r>
                    <m:d>
                      <m:dPr>
                        <m:begChr m:val="["/>
                        <m:endChr m:val="]"/>
                        <m:ctrlPr>
                          <a:rPr lang="en-IN" sz="3000" b="0" i="1" smtClean="0">
                            <a:latin typeface="Cambria Math" panose="02040503050406030204" pitchFamily="18" charset="0"/>
                          </a:rPr>
                        </m:ctrlPr>
                      </m:dPr>
                      <m:e>
                        <m:f>
                          <m:fPr>
                            <m:ctrlPr>
                              <a:rPr lang="en-IN" sz="3000" b="0" i="1" smtClean="0">
                                <a:latin typeface="Cambria Math" panose="02040503050406030204" pitchFamily="18" charset="0"/>
                              </a:rPr>
                            </m:ctrlPr>
                          </m:fPr>
                          <m:num>
                            <m:sSup>
                              <m:sSupPr>
                                <m:ctrlPr>
                                  <a:rPr lang="en-IN" sz="3000" b="0" i="1" smtClean="0">
                                    <a:latin typeface="Cambria Math" panose="02040503050406030204" pitchFamily="18" charset="0"/>
                                  </a:rPr>
                                </m:ctrlPr>
                              </m:sSupPr>
                              <m:e>
                                <m:r>
                                  <a:rPr lang="en-IN" sz="3000" b="0" i="1" smtClean="0">
                                    <a:latin typeface="Cambria Math" panose="02040503050406030204" pitchFamily="18" charset="0"/>
                                  </a:rPr>
                                  <m:t>(1+</m:t>
                                </m:r>
                                <m:r>
                                  <a:rPr lang="en-US" sz="3000" b="0" i="1" smtClean="0">
                                    <a:latin typeface="Cambria Math" panose="02040503050406030204" pitchFamily="18" charset="0"/>
                                  </a:rPr>
                                  <m:t>𝑟</m:t>
                                </m:r>
                                <m:r>
                                  <a:rPr lang="en-IN" sz="3000" b="0" i="1" smtClean="0">
                                    <a:latin typeface="Cambria Math" panose="02040503050406030204" pitchFamily="18" charset="0"/>
                                  </a:rPr>
                                  <m:t>)</m:t>
                                </m:r>
                              </m:e>
                              <m:sup>
                                <m:r>
                                  <a:rPr lang="en-IN" sz="3000" b="0" i="1" smtClean="0">
                                    <a:latin typeface="Cambria Math" panose="02040503050406030204" pitchFamily="18" charset="0"/>
                                  </a:rPr>
                                  <m:t>𝑛</m:t>
                                </m:r>
                              </m:sup>
                            </m:sSup>
                            <m:r>
                              <a:rPr lang="en-IN" sz="3000" b="0" i="1" smtClean="0">
                                <a:latin typeface="Cambria Math" panose="02040503050406030204" pitchFamily="18" charset="0"/>
                              </a:rPr>
                              <m:t> −1</m:t>
                            </m:r>
                          </m:num>
                          <m:den>
                            <m:r>
                              <a:rPr lang="en-US" sz="3000" b="0" i="1" smtClean="0">
                                <a:latin typeface="Cambria Math" panose="02040503050406030204" pitchFamily="18" charset="0"/>
                              </a:rPr>
                              <m:t>𝑟</m:t>
                            </m:r>
                          </m:den>
                        </m:f>
                      </m:e>
                    </m:d>
                    <m:r>
                      <a:rPr lang="en-IN" sz="3000" b="0" i="1" smtClean="0">
                        <a:latin typeface="Cambria Math" panose="02040503050406030204" pitchFamily="18" charset="0"/>
                      </a:rPr>
                      <m:t> </m:t>
                    </m:r>
                  </m:oMath>
                </a14:m>
                <a:endParaRPr lang="en-IN" sz="3000" dirty="0"/>
              </a:p>
              <a:p>
                <a:pPr marL="109537" indent="0" algn="l">
                  <a:buNone/>
                  <a:defRPr/>
                </a:pPr>
                <a:endParaRPr lang="en-IN" sz="3000" dirty="0"/>
              </a:p>
              <a:p>
                <a:pPr marL="3163887" lvl="7" indent="0">
                  <a:buNone/>
                </a:pPr>
                <a:endParaRPr lang="en-GB" sz="3000" b="0" i="1" dirty="0">
                  <a:latin typeface="Cambria Math" panose="02040503050406030204" pitchFamily="18" charset="0"/>
                </a:endParaRPr>
              </a:p>
              <a:p>
                <a:pPr marL="109537" indent="0">
                  <a:buNone/>
                  <a:defRPr/>
                </a:pPr>
                <a:r>
                  <a:rPr lang="en-IN" dirty="0"/>
                  <a:t>Wh</a:t>
                </a:r>
                <a:r>
                  <a:rPr lang="en-IN" sz="2800" dirty="0"/>
                  <a:t>ere, </a:t>
                </a:r>
              </a:p>
              <a:p>
                <a:pPr marL="109537" indent="0">
                  <a:buNone/>
                  <a:defRPr/>
                </a:pPr>
                <a:r>
                  <a:rPr lang="en-IN" sz="2800" dirty="0"/>
                  <a:t>FVA</a:t>
                </a:r>
                <a:r>
                  <a:rPr lang="en-IN" sz="4400" baseline="-25000" dirty="0"/>
                  <a:t> </a:t>
                </a:r>
                <a:r>
                  <a:rPr lang="en-IN" dirty="0"/>
                  <a:t>= Future value of an annuity</a:t>
                </a:r>
                <a:endParaRPr lang="en-IN" sz="4400" dirty="0"/>
              </a:p>
              <a:p>
                <a:pPr marL="109537" indent="0">
                  <a:buNone/>
                  <a:defRPr/>
                </a:pPr>
                <a:r>
                  <a:rPr lang="en-IN" dirty="0"/>
                  <a:t>A = Constant periodic flow</a:t>
                </a:r>
              </a:p>
              <a:p>
                <a:pPr marL="109537" indent="0">
                  <a:buNone/>
                  <a:defRPr/>
                </a:pPr>
                <a:r>
                  <a:rPr lang="en-IN" dirty="0"/>
                  <a:t>r = Rate of Interest</a:t>
                </a:r>
              </a:p>
              <a:p>
                <a:pPr marL="109537" indent="0">
                  <a:buNone/>
                  <a:defRPr/>
                </a:pPr>
                <a:r>
                  <a:rPr lang="en-IN" dirty="0"/>
                  <a:t>n = Numbers of years</a:t>
                </a:r>
              </a:p>
            </p:txBody>
          </p:sp>
        </mc:Choice>
        <mc:Fallback xmlns="">
          <p:sp>
            <p:nvSpPr>
              <p:cNvPr id="3" name="Content Placeholder 2">
                <a:extLst>
                  <a:ext uri="{FF2B5EF4-FFF2-40B4-BE49-F238E27FC236}">
                    <a16:creationId xmlns:a16="http://schemas.microsoft.com/office/drawing/2014/main" id="{EAF26D19-E35D-46D8-AAE5-2744EB6874F5}"/>
                  </a:ext>
                </a:extLst>
              </p:cNvPr>
              <p:cNvSpPr>
                <a:spLocks noGrp="1" noRot="1" noChangeAspect="1" noMove="1" noResize="1" noEditPoints="1" noAdjustHandles="1" noChangeArrowheads="1" noChangeShapeType="1" noTextEdit="1"/>
              </p:cNvSpPr>
              <p:nvPr>
                <p:ph idx="1"/>
              </p:nvPr>
            </p:nvSpPr>
            <p:spPr>
              <a:blipFill>
                <a:blip r:embed="rId2"/>
                <a:stretch>
                  <a:fillRect l="-1074" t="-2181"/>
                </a:stretch>
              </a:blipFill>
            </p:spPr>
            <p:txBody>
              <a:bodyPr/>
              <a:lstStyle/>
              <a:p>
                <a:r>
                  <a:rPr lang="en-IN">
                    <a:noFill/>
                  </a:rPr>
                  <a:t> </a:t>
                </a:r>
              </a:p>
            </p:txBody>
          </p:sp>
        </mc:Fallback>
      </mc:AlternateContent>
    </p:spTree>
    <p:extLst>
      <p:ext uri="{BB962C8B-B14F-4D97-AF65-F5344CB8AC3E}">
        <p14:creationId xmlns:p14="http://schemas.microsoft.com/office/powerpoint/2010/main" val="131813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070F7319-E28C-4505-A86A-0106D134F7CA}"/>
              </a:ext>
            </a:extLst>
          </p:cNvPr>
          <p:cNvSpPr>
            <a:spLocks noGrp="1"/>
          </p:cNvSpPr>
          <p:nvPr>
            <p:ph type="title"/>
          </p:nvPr>
        </p:nvSpPr>
        <p:spPr/>
        <p:txBody>
          <a:bodyPr/>
          <a:lstStyle/>
          <a:p>
            <a:r>
              <a:rPr lang="en-IN" altLang="en-US" dirty="0"/>
              <a:t>Question.06</a:t>
            </a:r>
          </a:p>
        </p:txBody>
      </p:sp>
      <mc:AlternateContent xmlns:mc="http://schemas.openxmlformats.org/markup-compatibility/2006" xmlns:a14="http://schemas.microsoft.com/office/drawing/2010/main">
        <mc:Choice Requires="a14">
          <p:sp>
            <p:nvSpPr>
              <p:cNvPr id="43011" name="Content Placeholder 2">
                <a:extLst>
                  <a:ext uri="{FF2B5EF4-FFF2-40B4-BE49-F238E27FC236}">
                    <a16:creationId xmlns:a16="http://schemas.microsoft.com/office/drawing/2014/main" id="{9FFE46EC-BE2D-4A64-B9DA-95ACB8D8FAC1}"/>
                  </a:ext>
                </a:extLst>
              </p:cNvPr>
              <p:cNvSpPr>
                <a:spLocks noGrp="1"/>
              </p:cNvSpPr>
              <p:nvPr>
                <p:ph idx="1"/>
              </p:nvPr>
            </p:nvSpPr>
            <p:spPr/>
            <p:txBody>
              <a:bodyPr/>
              <a:lstStyle/>
              <a:p>
                <a:pPr marL="107950" indent="0">
                  <a:buNone/>
                </a:pPr>
                <a:r>
                  <a:rPr lang="en-IN" altLang="en-US" sz="2600" dirty="0"/>
                  <a:t>Suppose you deposit Rs. 20,000 annually in a bank for 5 years and your deposits earn a compound interest rate of 10%. What will be the value of its series of deposits(annuity) at the end of 5 years ?</a:t>
                </a:r>
              </a:p>
              <a:p>
                <a:pPr marL="107950" indent="0">
                  <a:buNone/>
                </a:pPr>
                <a:endParaRPr lang="en-IN" altLang="en-US" sz="300" dirty="0"/>
              </a:p>
              <a:p>
                <a:pPr marL="107950" indent="0">
                  <a:lnSpc>
                    <a:spcPct val="100000"/>
                  </a:lnSpc>
                  <a:buNone/>
                </a:pPr>
                <a14:m>
                  <m:oMathPara xmlns:m="http://schemas.openxmlformats.org/officeDocument/2006/math">
                    <m:oMathParaPr>
                      <m:jc m:val="left"/>
                    </m:oMathParaPr>
                    <m:oMath xmlns:m="http://schemas.openxmlformats.org/officeDocument/2006/math">
                      <m:r>
                        <a:rPr lang="en-IN" sz="2600" i="1">
                          <a:latin typeface="Cambria Math" panose="02040503050406030204" pitchFamily="18" charset="0"/>
                        </a:rPr>
                        <m:t>𝐹</m:t>
                      </m:r>
                      <m:r>
                        <a:rPr lang="en-IN" sz="2600" i="1">
                          <a:latin typeface="Cambria Math" panose="02040503050406030204" pitchFamily="18" charset="0"/>
                        </a:rPr>
                        <m:t>=</m:t>
                      </m:r>
                      <m:r>
                        <a:rPr lang="en-IN" sz="2600" i="1">
                          <a:latin typeface="Cambria Math" panose="02040503050406030204" pitchFamily="18" charset="0"/>
                        </a:rPr>
                        <m:t>𝐴</m:t>
                      </m:r>
                      <m:d>
                        <m:dPr>
                          <m:begChr m:val="["/>
                          <m:endChr m:val="]"/>
                          <m:ctrlPr>
                            <a:rPr lang="en-IN" sz="2600" i="1">
                              <a:latin typeface="Cambria Math" panose="02040503050406030204" pitchFamily="18" charset="0"/>
                            </a:rPr>
                          </m:ctrlPr>
                        </m:dPr>
                        <m:e>
                          <m:f>
                            <m:fPr>
                              <m:ctrlPr>
                                <a:rPr lang="en-IN" sz="2600" i="1">
                                  <a:latin typeface="Cambria Math" panose="02040503050406030204" pitchFamily="18" charset="0"/>
                                </a:rPr>
                              </m:ctrlPr>
                            </m:fPr>
                            <m:num>
                              <m:sSup>
                                <m:sSupPr>
                                  <m:ctrlPr>
                                    <a:rPr lang="en-IN" sz="2600" i="1">
                                      <a:latin typeface="Cambria Math" panose="02040503050406030204" pitchFamily="18" charset="0"/>
                                    </a:rPr>
                                  </m:ctrlPr>
                                </m:sSupPr>
                                <m:e>
                                  <m:r>
                                    <a:rPr lang="en-IN" sz="2600" i="1">
                                      <a:latin typeface="Cambria Math" panose="02040503050406030204" pitchFamily="18" charset="0"/>
                                    </a:rPr>
                                    <m:t>(1+</m:t>
                                  </m:r>
                                  <m:r>
                                    <a:rPr lang="en-GB" sz="2600" i="1">
                                      <a:latin typeface="Cambria Math" panose="02040503050406030204" pitchFamily="18" charset="0"/>
                                    </a:rPr>
                                    <m:t>𝑟</m:t>
                                  </m:r>
                                  <m:r>
                                    <a:rPr lang="en-IN" sz="2600" i="1">
                                      <a:latin typeface="Cambria Math" panose="02040503050406030204" pitchFamily="18" charset="0"/>
                                    </a:rPr>
                                    <m:t>)</m:t>
                                  </m:r>
                                </m:e>
                                <m:sup>
                                  <m:r>
                                    <a:rPr lang="en-IN" sz="2600" i="1">
                                      <a:latin typeface="Cambria Math" panose="02040503050406030204" pitchFamily="18" charset="0"/>
                                    </a:rPr>
                                    <m:t>𝑛</m:t>
                                  </m:r>
                                </m:sup>
                              </m:sSup>
                              <m:r>
                                <a:rPr lang="en-IN" sz="2600" i="1">
                                  <a:latin typeface="Cambria Math" panose="02040503050406030204" pitchFamily="18" charset="0"/>
                                </a:rPr>
                                <m:t> −1</m:t>
                              </m:r>
                            </m:num>
                            <m:den>
                              <m:r>
                                <a:rPr lang="en-GB" sz="2600" i="1">
                                  <a:latin typeface="Cambria Math" panose="02040503050406030204" pitchFamily="18" charset="0"/>
                                </a:rPr>
                                <m:t>𝑟</m:t>
                              </m:r>
                            </m:den>
                          </m:f>
                        </m:e>
                      </m:d>
                    </m:oMath>
                  </m:oMathPara>
                </a14:m>
                <a:endParaRPr lang="en-IN" sz="2600" dirty="0"/>
              </a:p>
              <a:p>
                <a:pPr marL="0" indent="0" algn="l">
                  <a:lnSpc>
                    <a:spcPct val="100000"/>
                  </a:lnSpc>
                  <a:buNone/>
                </a:pPr>
                <a14:m>
                  <m:oMathPara xmlns:m="http://schemas.openxmlformats.org/officeDocument/2006/math">
                    <m:oMathParaPr>
                      <m:jc m:val="left"/>
                    </m:oMathParaPr>
                    <m:oMath xmlns:m="http://schemas.openxmlformats.org/officeDocument/2006/math">
                      <m:r>
                        <a:rPr lang="en-GB" sz="2600" i="1">
                          <a:latin typeface="Cambria Math" panose="02040503050406030204" pitchFamily="18" charset="0"/>
                        </a:rPr>
                        <m:t> </m:t>
                      </m:r>
                      <m:r>
                        <a:rPr lang="en-IN" sz="2600" i="1">
                          <a:latin typeface="Cambria Math" panose="02040503050406030204" pitchFamily="18" charset="0"/>
                        </a:rPr>
                        <m:t>𝐹</m:t>
                      </m:r>
                      <m:r>
                        <a:rPr lang="en-IN" sz="2600" i="1">
                          <a:latin typeface="Cambria Math" panose="02040503050406030204" pitchFamily="18" charset="0"/>
                        </a:rPr>
                        <m:t>=20,000</m:t>
                      </m:r>
                      <m:d>
                        <m:dPr>
                          <m:begChr m:val="["/>
                          <m:endChr m:val="]"/>
                          <m:ctrlPr>
                            <a:rPr lang="en-IN" sz="2600" i="1">
                              <a:latin typeface="Cambria Math" panose="02040503050406030204" pitchFamily="18" charset="0"/>
                            </a:rPr>
                          </m:ctrlPr>
                        </m:dPr>
                        <m:e>
                          <m:f>
                            <m:fPr>
                              <m:ctrlPr>
                                <a:rPr lang="en-IN" sz="2600" i="1">
                                  <a:latin typeface="Cambria Math" panose="02040503050406030204" pitchFamily="18" charset="0"/>
                                </a:rPr>
                              </m:ctrlPr>
                            </m:fPr>
                            <m:num>
                              <m:sSup>
                                <m:sSupPr>
                                  <m:ctrlPr>
                                    <a:rPr lang="en-IN" sz="2600" i="1">
                                      <a:latin typeface="Cambria Math" panose="02040503050406030204" pitchFamily="18" charset="0"/>
                                    </a:rPr>
                                  </m:ctrlPr>
                                </m:sSupPr>
                                <m:e>
                                  <m:r>
                                    <a:rPr lang="en-IN" sz="2600" i="1">
                                      <a:latin typeface="Cambria Math" panose="02040503050406030204" pitchFamily="18" charset="0"/>
                                    </a:rPr>
                                    <m:t>(1+0.</m:t>
                                  </m:r>
                                  <m:r>
                                    <a:rPr lang="en-GB" sz="2600" i="1">
                                      <a:latin typeface="Cambria Math" panose="02040503050406030204" pitchFamily="18" charset="0"/>
                                    </a:rPr>
                                    <m:t>10</m:t>
                                  </m:r>
                                  <m:r>
                                    <a:rPr lang="en-IN" sz="2600" i="1">
                                      <a:latin typeface="Cambria Math" panose="02040503050406030204" pitchFamily="18" charset="0"/>
                                    </a:rPr>
                                    <m:t>)</m:t>
                                  </m:r>
                                </m:e>
                                <m:sup>
                                  <m:r>
                                    <a:rPr lang="en-GB" sz="2600" i="1">
                                      <a:latin typeface="Cambria Math" panose="02040503050406030204" pitchFamily="18" charset="0"/>
                                    </a:rPr>
                                    <m:t>5</m:t>
                                  </m:r>
                                </m:sup>
                              </m:sSup>
                              <m:r>
                                <a:rPr lang="en-IN" sz="2600" i="1">
                                  <a:latin typeface="Cambria Math" panose="02040503050406030204" pitchFamily="18" charset="0"/>
                                </a:rPr>
                                <m:t> −1</m:t>
                              </m:r>
                            </m:num>
                            <m:den>
                              <m:r>
                                <a:rPr lang="en-IN" sz="2600" i="1">
                                  <a:latin typeface="Cambria Math" panose="02040503050406030204" pitchFamily="18" charset="0"/>
                                </a:rPr>
                                <m:t>0.</m:t>
                              </m:r>
                              <m:r>
                                <a:rPr lang="en-GB" sz="2600" i="1">
                                  <a:latin typeface="Cambria Math" panose="02040503050406030204" pitchFamily="18" charset="0"/>
                                </a:rPr>
                                <m:t>10</m:t>
                              </m:r>
                            </m:den>
                          </m:f>
                        </m:e>
                      </m:d>
                    </m:oMath>
                  </m:oMathPara>
                </a14:m>
                <a:endParaRPr lang="en-US" sz="2600" i="1" dirty="0">
                  <a:latin typeface="Cambria Math" panose="02040503050406030204" pitchFamily="18" charset="0"/>
                </a:endParaRPr>
              </a:p>
              <a:p>
                <a:pPr marL="0" indent="0" algn="l">
                  <a:lnSpc>
                    <a:spcPct val="100000"/>
                  </a:lnSpc>
                  <a:buNone/>
                </a:pPr>
                <a14:m>
                  <m:oMathPara xmlns:m="http://schemas.openxmlformats.org/officeDocument/2006/math">
                    <m:oMathParaPr>
                      <m:jc m:val="left"/>
                    </m:oMathParaPr>
                    <m:oMath xmlns:m="http://schemas.openxmlformats.org/officeDocument/2006/math">
                      <m:r>
                        <a:rPr lang="en-GB" sz="2600" i="1">
                          <a:latin typeface="Cambria Math" panose="02040503050406030204" pitchFamily="18" charset="0"/>
                        </a:rPr>
                        <m:t> </m:t>
                      </m:r>
                      <m:r>
                        <a:rPr lang="en-IN" sz="2600" i="1">
                          <a:latin typeface="Cambria Math" panose="02040503050406030204" pitchFamily="18" charset="0"/>
                        </a:rPr>
                        <m:t>𝐹</m:t>
                      </m:r>
                      <m:r>
                        <a:rPr lang="en-IN" sz="2600" i="1">
                          <a:latin typeface="Cambria Math" panose="02040503050406030204" pitchFamily="18" charset="0"/>
                        </a:rPr>
                        <m:t>=20,000</m:t>
                      </m:r>
                      <m:d>
                        <m:dPr>
                          <m:begChr m:val="["/>
                          <m:endChr m:val="]"/>
                          <m:ctrlPr>
                            <a:rPr lang="en-IN" sz="2600" i="1">
                              <a:latin typeface="Cambria Math" panose="02040503050406030204" pitchFamily="18" charset="0"/>
                            </a:rPr>
                          </m:ctrlPr>
                        </m:dPr>
                        <m:e>
                          <m:f>
                            <m:fPr>
                              <m:ctrlPr>
                                <a:rPr lang="en-IN" sz="2600" i="1">
                                  <a:latin typeface="Cambria Math" panose="02040503050406030204" pitchFamily="18" charset="0"/>
                                </a:rPr>
                              </m:ctrlPr>
                            </m:fPr>
                            <m:num>
                              <m:r>
                                <a:rPr lang="en-GB" sz="2600" i="1">
                                  <a:latin typeface="Cambria Math" panose="02040503050406030204" pitchFamily="18" charset="0"/>
                                </a:rPr>
                                <m:t>1.6105</m:t>
                              </m:r>
                              <m:r>
                                <a:rPr lang="en-IN" sz="2600" i="1">
                                  <a:latin typeface="Cambria Math" panose="02040503050406030204" pitchFamily="18" charset="0"/>
                                </a:rPr>
                                <m:t> −1</m:t>
                              </m:r>
                            </m:num>
                            <m:den>
                              <m:r>
                                <a:rPr lang="en-IN" sz="2600" i="1">
                                  <a:latin typeface="Cambria Math" panose="02040503050406030204" pitchFamily="18" charset="0"/>
                                </a:rPr>
                                <m:t>0.</m:t>
                              </m:r>
                              <m:r>
                                <a:rPr lang="en-GB" sz="2600" i="1">
                                  <a:latin typeface="Cambria Math" panose="02040503050406030204" pitchFamily="18" charset="0"/>
                                </a:rPr>
                                <m:t>10</m:t>
                              </m:r>
                            </m:den>
                          </m:f>
                        </m:e>
                      </m:d>
                    </m:oMath>
                  </m:oMathPara>
                </a14:m>
                <a:endParaRPr lang="en-US" sz="2600" i="1" dirty="0">
                  <a:latin typeface="Cambria Math" panose="02040503050406030204" pitchFamily="18" charset="0"/>
                </a:endParaRPr>
              </a:p>
              <a:p>
                <a:pPr marL="0" indent="0" algn="l">
                  <a:lnSpc>
                    <a:spcPct val="100000"/>
                  </a:lnSpc>
                  <a:buNone/>
                </a:pPr>
                <a:r>
                  <a:rPr lang="en-IN" sz="2600" dirty="0"/>
                  <a:t> </a:t>
                </a:r>
                <a14:m>
                  <m:oMath xmlns:m="http://schemas.openxmlformats.org/officeDocument/2006/math">
                    <m:r>
                      <a:rPr lang="en-IN" sz="2600" i="1">
                        <a:latin typeface="Cambria Math" panose="02040503050406030204" pitchFamily="18" charset="0"/>
                      </a:rPr>
                      <m:t>𝐹</m:t>
                    </m:r>
                    <m:r>
                      <a:rPr lang="en-IN" sz="2600" i="1">
                        <a:latin typeface="Cambria Math" panose="02040503050406030204" pitchFamily="18" charset="0"/>
                      </a:rPr>
                      <m:t>=20,000</m:t>
                    </m:r>
                    <m:d>
                      <m:dPr>
                        <m:begChr m:val="["/>
                        <m:endChr m:val="]"/>
                        <m:ctrlPr>
                          <a:rPr lang="en-IN" sz="2600" i="1">
                            <a:latin typeface="Cambria Math" panose="02040503050406030204" pitchFamily="18" charset="0"/>
                          </a:rPr>
                        </m:ctrlPr>
                      </m:dPr>
                      <m:e>
                        <m:f>
                          <m:fPr>
                            <m:ctrlPr>
                              <a:rPr lang="en-IN" sz="2600" i="1">
                                <a:latin typeface="Cambria Math" panose="02040503050406030204" pitchFamily="18" charset="0"/>
                              </a:rPr>
                            </m:ctrlPr>
                          </m:fPr>
                          <m:num>
                            <m:r>
                              <a:rPr lang="en-GB" sz="2600" i="1">
                                <a:latin typeface="Cambria Math" panose="02040503050406030204" pitchFamily="18" charset="0"/>
                              </a:rPr>
                              <m:t>0.6105</m:t>
                            </m:r>
                          </m:num>
                          <m:den>
                            <m:r>
                              <a:rPr lang="en-IN" sz="2600" i="1">
                                <a:latin typeface="Cambria Math" panose="02040503050406030204" pitchFamily="18" charset="0"/>
                              </a:rPr>
                              <m:t>0.</m:t>
                            </m:r>
                            <m:r>
                              <a:rPr lang="en-GB" sz="2600" i="1">
                                <a:latin typeface="Cambria Math" panose="02040503050406030204" pitchFamily="18" charset="0"/>
                              </a:rPr>
                              <m:t>10</m:t>
                            </m:r>
                          </m:den>
                        </m:f>
                      </m:e>
                    </m:d>
                  </m:oMath>
                </a14:m>
                <a:endParaRPr lang="en-US" sz="2600" i="1" dirty="0">
                  <a:latin typeface="Cambria Math" panose="02040503050406030204" pitchFamily="18" charset="0"/>
                </a:endParaRPr>
              </a:p>
              <a:p>
                <a:pPr marL="0" indent="0" algn="l">
                  <a:lnSpc>
                    <a:spcPct val="100000"/>
                  </a:lnSpc>
                  <a:buNone/>
                </a:pPr>
                <a14:m>
                  <m:oMath xmlns:m="http://schemas.openxmlformats.org/officeDocument/2006/math">
                    <m:r>
                      <a:rPr lang="en-GB" sz="2600" i="1">
                        <a:latin typeface="Cambria Math" panose="02040503050406030204" pitchFamily="18" charset="0"/>
                      </a:rPr>
                      <m:t> </m:t>
                    </m:r>
                    <m:r>
                      <a:rPr lang="en-IN" sz="2600" i="1">
                        <a:latin typeface="Cambria Math" panose="02040503050406030204" pitchFamily="18" charset="0"/>
                      </a:rPr>
                      <m:t>𝐹</m:t>
                    </m:r>
                    <m:r>
                      <a:rPr lang="en-IN" sz="2600" i="1">
                        <a:latin typeface="Cambria Math" panose="02040503050406030204" pitchFamily="18" charset="0"/>
                      </a:rPr>
                      <m:t>=20,000 </m:t>
                    </m:r>
                    <m:r>
                      <a:rPr lang="en-IN" sz="2600" i="1">
                        <a:latin typeface="Cambria Math" panose="02040503050406030204" pitchFamily="18" charset="0"/>
                      </a:rPr>
                      <m:t>𝑋</m:t>
                    </m:r>
                    <m:r>
                      <a:rPr lang="en-IN" sz="2600" i="1">
                        <a:latin typeface="Cambria Math" panose="02040503050406030204" pitchFamily="18" charset="0"/>
                      </a:rPr>
                      <m:t> 6.105</m:t>
                    </m:r>
                  </m:oMath>
                </a14:m>
                <a:r>
                  <a:rPr lang="en-IN" sz="2600" dirty="0"/>
                  <a:t> </a:t>
                </a:r>
                <a:endParaRPr lang="en-IN" sz="2600" b="1" i="1" dirty="0">
                  <a:latin typeface="Cambria Math" panose="02040503050406030204" pitchFamily="18" charset="0"/>
                </a:endParaRPr>
              </a:p>
              <a:p>
                <a:pPr marL="0" indent="0" algn="l">
                  <a:lnSpc>
                    <a:spcPct val="100000"/>
                  </a:lnSpc>
                  <a:buNone/>
                </a:pPr>
                <a14:m>
                  <m:oMath xmlns:m="http://schemas.openxmlformats.org/officeDocument/2006/math">
                    <m:r>
                      <a:rPr lang="en-GB" sz="2600" b="1" i="1">
                        <a:solidFill>
                          <a:schemeClr val="accent6">
                            <a:lumMod val="75000"/>
                          </a:schemeClr>
                        </a:solidFill>
                        <a:latin typeface="Cambria Math" panose="02040503050406030204" pitchFamily="18" charset="0"/>
                      </a:rPr>
                      <m:t> </m:t>
                    </m:r>
                    <m:r>
                      <a:rPr lang="en-IN" sz="2600" b="1" i="1">
                        <a:solidFill>
                          <a:srgbClr val="C00000"/>
                        </a:solidFill>
                        <a:latin typeface="Cambria Math" panose="02040503050406030204" pitchFamily="18" charset="0"/>
                      </a:rPr>
                      <m:t>𝑭</m:t>
                    </m:r>
                    <m:r>
                      <a:rPr lang="en-IN" sz="2600" b="1" i="1">
                        <a:solidFill>
                          <a:srgbClr val="C00000"/>
                        </a:solidFill>
                        <a:latin typeface="Cambria Math" panose="02040503050406030204" pitchFamily="18" charset="0"/>
                      </a:rPr>
                      <m:t>=</m:t>
                    </m:r>
                    <m:r>
                      <a:rPr lang="en-IN" sz="2600" b="1" i="1">
                        <a:solidFill>
                          <a:srgbClr val="C00000"/>
                        </a:solidFill>
                        <a:latin typeface="Cambria Math" panose="02040503050406030204" pitchFamily="18" charset="0"/>
                      </a:rPr>
                      <m:t>𝟏</m:t>
                    </m:r>
                    <m:r>
                      <a:rPr lang="en-IN" sz="2600" b="1" i="1">
                        <a:solidFill>
                          <a:srgbClr val="C00000"/>
                        </a:solidFill>
                        <a:latin typeface="Cambria Math" panose="02040503050406030204" pitchFamily="18" charset="0"/>
                      </a:rPr>
                      <m:t>,</m:t>
                    </m:r>
                    <m:r>
                      <a:rPr lang="en-GB" sz="2600" b="1" i="1">
                        <a:solidFill>
                          <a:srgbClr val="C00000"/>
                        </a:solidFill>
                        <a:latin typeface="Cambria Math" panose="02040503050406030204" pitchFamily="18" charset="0"/>
                      </a:rPr>
                      <m:t>𝟐𝟐</m:t>
                    </m:r>
                    <m:r>
                      <a:rPr lang="en-GB" sz="2600" b="1" i="1">
                        <a:solidFill>
                          <a:srgbClr val="C00000"/>
                        </a:solidFill>
                        <a:latin typeface="Cambria Math" panose="02040503050406030204" pitchFamily="18" charset="0"/>
                      </a:rPr>
                      <m:t>,</m:t>
                    </m:r>
                    <m:r>
                      <a:rPr lang="en-GB" sz="2600" b="1" i="1">
                        <a:solidFill>
                          <a:srgbClr val="C00000"/>
                        </a:solidFill>
                        <a:latin typeface="Cambria Math" panose="02040503050406030204" pitchFamily="18" charset="0"/>
                      </a:rPr>
                      <m:t>𝟏𝟎𝟎</m:t>
                    </m:r>
                  </m:oMath>
                </a14:m>
                <a:r>
                  <a:rPr lang="en-IN" sz="2600" b="1" dirty="0">
                    <a:solidFill>
                      <a:srgbClr val="C00000"/>
                    </a:solidFill>
                  </a:rPr>
                  <a:t> </a:t>
                </a:r>
                <a:endParaRPr lang="en-IN" sz="2600" b="1" dirty="0">
                  <a:solidFill>
                    <a:schemeClr val="accent6">
                      <a:lumMod val="75000"/>
                    </a:schemeClr>
                  </a:solidFill>
                </a:endParaRPr>
              </a:p>
              <a:p>
                <a:pPr marL="107950" indent="0">
                  <a:buNone/>
                </a:pPr>
                <a:endParaRPr lang="en-IN" altLang="en-US" dirty="0"/>
              </a:p>
              <a:p>
                <a:pPr marL="107950" indent="0" algn="just">
                  <a:buNone/>
                </a:pPr>
                <a:endParaRPr lang="en-IN" altLang="en-US" dirty="0"/>
              </a:p>
            </p:txBody>
          </p:sp>
        </mc:Choice>
        <mc:Fallback xmlns="">
          <p:sp>
            <p:nvSpPr>
              <p:cNvPr id="43011" name="Content Placeholder 2">
                <a:extLst>
                  <a:ext uri="{FF2B5EF4-FFF2-40B4-BE49-F238E27FC236}">
                    <a16:creationId xmlns:a16="http://schemas.microsoft.com/office/drawing/2014/main" id="{9FFE46EC-BE2D-4A64-B9DA-95ACB8D8FAC1}"/>
                  </a:ext>
                </a:extLst>
              </p:cNvPr>
              <p:cNvSpPr>
                <a:spLocks noGrp="1" noRot="1" noChangeAspect="1" noMove="1" noResize="1" noEditPoints="1" noAdjustHandles="1" noChangeArrowheads="1" noChangeShapeType="1" noTextEdit="1"/>
              </p:cNvSpPr>
              <p:nvPr>
                <p:ph idx="1"/>
              </p:nvPr>
            </p:nvSpPr>
            <p:spPr>
              <a:blipFill>
                <a:blip r:embed="rId2"/>
                <a:stretch>
                  <a:fillRect t="-1745" r="-971" b="-1527"/>
                </a:stretch>
              </a:blipFill>
            </p:spPr>
            <p:txBody>
              <a:bodyPr/>
              <a:lstStyle/>
              <a:p>
                <a:r>
                  <a:rPr lang="en-IN">
                    <a:noFill/>
                  </a:rPr>
                  <a:t> </a:t>
                </a:r>
              </a:p>
            </p:txBody>
          </p:sp>
        </mc:Fallback>
      </mc:AlternateContent>
    </p:spTree>
    <p:extLst>
      <p:ext uri="{BB962C8B-B14F-4D97-AF65-F5344CB8AC3E}">
        <p14:creationId xmlns:p14="http://schemas.microsoft.com/office/powerpoint/2010/main" val="65772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0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AA08948A-E9B1-4271-8B33-8C38FB020EDD}"/>
              </a:ext>
            </a:extLst>
          </p:cNvPr>
          <p:cNvSpPr>
            <a:spLocks noGrp="1"/>
          </p:cNvSpPr>
          <p:nvPr>
            <p:ph type="title"/>
          </p:nvPr>
        </p:nvSpPr>
        <p:spPr/>
        <p:txBody>
          <a:bodyPr/>
          <a:lstStyle/>
          <a:p>
            <a:r>
              <a:rPr lang="en-IN" altLang="en-US" dirty="0"/>
              <a:t>Question.07</a:t>
            </a:r>
          </a:p>
        </p:txBody>
      </p:sp>
      <p:sp>
        <p:nvSpPr>
          <p:cNvPr id="44035" name="Content Placeholder 2">
            <a:extLst>
              <a:ext uri="{FF2B5EF4-FFF2-40B4-BE49-F238E27FC236}">
                <a16:creationId xmlns:a16="http://schemas.microsoft.com/office/drawing/2014/main" id="{EBE74319-641B-4CE5-A90D-D7986BF82B43}"/>
              </a:ext>
            </a:extLst>
          </p:cNvPr>
          <p:cNvSpPr>
            <a:spLocks noGrp="1"/>
          </p:cNvSpPr>
          <p:nvPr>
            <p:ph idx="1"/>
          </p:nvPr>
        </p:nvSpPr>
        <p:spPr/>
        <p:txBody>
          <a:bodyPr/>
          <a:lstStyle/>
          <a:p>
            <a:pPr marL="0" indent="0">
              <a:buNone/>
            </a:pPr>
            <a:r>
              <a:rPr lang="en-IN" dirty="0"/>
              <a:t>Mr. </a:t>
            </a:r>
            <a:r>
              <a:rPr lang="en-IN" dirty="0" err="1"/>
              <a:t>Viraj</a:t>
            </a:r>
            <a:r>
              <a:rPr lang="en-IN" dirty="0"/>
              <a:t> went to SBI to open a recurring Deposit Account and decided to deposit </a:t>
            </a:r>
            <a:r>
              <a:rPr lang="en-IN" dirty="0" err="1"/>
              <a:t>Rs</a:t>
            </a:r>
            <a:r>
              <a:rPr lang="en-IN" dirty="0"/>
              <a:t>. 15,000 every year for a period of 6 years. If bank pay him 8% interest per annum. Calculate the total amount accumulated at the end of tenure.</a:t>
            </a:r>
          </a:p>
          <a:p>
            <a:pPr marL="0" indent="0">
              <a:buNone/>
            </a:pPr>
            <a:endParaRPr lang="en-IN" dirty="0"/>
          </a:p>
          <a:p>
            <a:pPr marL="107950" indent="0" algn="just">
              <a:buNone/>
            </a:pPr>
            <a:endParaRPr lang="en-IN" altLang="en-US" dirty="0"/>
          </a:p>
        </p:txBody>
      </p:sp>
      <mc:AlternateContent xmlns:mc="http://schemas.openxmlformats.org/markup-compatibility/2006" xmlns:a14="http://schemas.microsoft.com/office/drawing/2010/main">
        <mc:Choice Requires="a14">
          <p:sp>
            <p:nvSpPr>
              <p:cNvPr id="3" name="Content Placeholder 2"/>
              <p:cNvSpPr txBox="1">
                <a:spLocks/>
              </p:cNvSpPr>
              <p:nvPr/>
            </p:nvSpPr>
            <p:spPr>
              <a:xfrm>
                <a:off x="131181" y="2590800"/>
                <a:ext cx="5126620" cy="3863209"/>
              </a:xfrm>
              <a:prstGeom prst="rect">
                <a:avLst/>
              </a:prstGeom>
            </p:spPr>
            <p:txBody>
              <a:bodyPr vert="horz" lIns="91440" tIns="45720" rIns="91440" bIns="45720" numCol="2"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Wingdings 3" panose="05040102010807070707" pitchFamily="18" charset="2"/>
                  <a:buNone/>
                </a:pPr>
                <a14:m>
                  <m:oMathPara xmlns:m="http://schemas.openxmlformats.org/officeDocument/2006/math">
                    <m:oMathParaPr>
                      <m:jc m:val="left"/>
                    </m:oMathParaPr>
                    <m:oMath xmlns:m="http://schemas.openxmlformats.org/officeDocument/2006/math">
                      <m:r>
                        <a:rPr lang="en-IN" i="1" smtClean="0">
                          <a:latin typeface="Cambria Math" panose="02040503050406030204" pitchFamily="18" charset="0"/>
                        </a:rPr>
                        <m:t>𝐹</m:t>
                      </m:r>
                      <m:r>
                        <a:rPr lang="en-IN" i="1" smtClean="0">
                          <a:latin typeface="Cambria Math" panose="02040503050406030204" pitchFamily="18" charset="0"/>
                        </a:rPr>
                        <m:t>=</m:t>
                      </m:r>
                      <m:r>
                        <a:rPr lang="en-IN" i="1" smtClean="0">
                          <a:latin typeface="Cambria Math" panose="02040503050406030204" pitchFamily="18" charset="0"/>
                        </a:rPr>
                        <m:t>𝐴</m:t>
                      </m:r>
                      <m:d>
                        <m:dPr>
                          <m:begChr m:val="["/>
                          <m:endChr m:val="]"/>
                          <m:ctrlPr>
                            <a:rPr lang="en-IN" i="1">
                              <a:latin typeface="Cambria Math" panose="02040503050406030204" pitchFamily="18" charset="0"/>
                            </a:rPr>
                          </m:ctrlPr>
                        </m:dPr>
                        <m:e>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(1+</m:t>
                                  </m:r>
                                  <m:r>
                                    <a:rPr lang="en-GB" i="1" smtClean="0">
                                      <a:latin typeface="Cambria Math" panose="02040503050406030204" pitchFamily="18" charset="0"/>
                                    </a:rPr>
                                    <m:t>𝑟</m:t>
                                  </m:r>
                                  <m:r>
                                    <a:rPr lang="en-IN" i="1">
                                      <a:latin typeface="Cambria Math" panose="02040503050406030204" pitchFamily="18" charset="0"/>
                                    </a:rPr>
                                    <m:t>)</m:t>
                                  </m:r>
                                </m:e>
                                <m:sup>
                                  <m:r>
                                    <a:rPr lang="en-IN" i="1">
                                      <a:latin typeface="Cambria Math" panose="02040503050406030204" pitchFamily="18" charset="0"/>
                                    </a:rPr>
                                    <m:t>𝑛</m:t>
                                  </m:r>
                                </m:sup>
                              </m:sSup>
                              <m:r>
                                <a:rPr lang="en-IN" i="1">
                                  <a:latin typeface="Cambria Math" panose="02040503050406030204" pitchFamily="18" charset="0"/>
                                </a:rPr>
                                <m:t> −1</m:t>
                              </m:r>
                            </m:num>
                            <m:den>
                              <m:r>
                                <a:rPr lang="en-GB" i="1" smtClean="0">
                                  <a:latin typeface="Cambria Math" panose="02040503050406030204" pitchFamily="18" charset="0"/>
                                </a:rPr>
                                <m:t>𝑟</m:t>
                              </m:r>
                            </m:den>
                          </m:f>
                        </m:e>
                      </m:d>
                    </m:oMath>
                  </m:oMathPara>
                </a14:m>
                <a:endParaRPr lang="en-IN" dirty="0"/>
              </a:p>
              <a:p>
                <a:pPr marL="0" indent="0" algn="ctr">
                  <a:lnSpc>
                    <a:spcPct val="100000"/>
                  </a:lnSpc>
                  <a:buFont typeface="Wingdings 3" panose="05040102010807070707" pitchFamily="18" charset="2"/>
                  <a:buNone/>
                </a:pPr>
                <a14:m>
                  <m:oMathPara xmlns:m="http://schemas.openxmlformats.org/officeDocument/2006/math">
                    <m:oMathParaPr>
                      <m:jc m:val="left"/>
                    </m:oMathParaPr>
                    <m:oMath xmlns:m="http://schemas.openxmlformats.org/officeDocument/2006/math">
                      <m:r>
                        <a:rPr lang="en-IN" i="1">
                          <a:latin typeface="Cambria Math" panose="02040503050406030204" pitchFamily="18" charset="0"/>
                        </a:rPr>
                        <m:t>𝐹</m:t>
                      </m:r>
                      <m:r>
                        <a:rPr lang="en-IN" i="1">
                          <a:latin typeface="Cambria Math" panose="02040503050406030204" pitchFamily="18" charset="0"/>
                        </a:rPr>
                        <m:t>=15,000</m:t>
                      </m:r>
                      <m:d>
                        <m:dPr>
                          <m:begChr m:val="["/>
                          <m:endChr m:val="]"/>
                          <m:ctrlPr>
                            <a:rPr lang="en-IN" i="1">
                              <a:latin typeface="Cambria Math" panose="02040503050406030204" pitchFamily="18" charset="0"/>
                            </a:rPr>
                          </m:ctrlPr>
                        </m:dPr>
                        <m:e>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(1+0.08)</m:t>
                                  </m:r>
                                </m:e>
                                <m:sup>
                                  <m:r>
                                    <a:rPr lang="en-IN" i="1">
                                      <a:latin typeface="Cambria Math" panose="02040503050406030204" pitchFamily="18" charset="0"/>
                                    </a:rPr>
                                    <m:t>6</m:t>
                                  </m:r>
                                </m:sup>
                              </m:sSup>
                              <m:r>
                                <a:rPr lang="en-IN" i="1">
                                  <a:latin typeface="Cambria Math" panose="02040503050406030204" pitchFamily="18" charset="0"/>
                                </a:rPr>
                                <m:t> −1</m:t>
                              </m:r>
                            </m:num>
                            <m:den>
                              <m:r>
                                <a:rPr lang="en-IN" i="1">
                                  <a:latin typeface="Cambria Math" panose="02040503050406030204" pitchFamily="18" charset="0"/>
                                </a:rPr>
                                <m:t>0.08</m:t>
                              </m:r>
                            </m:den>
                          </m:f>
                        </m:e>
                      </m:d>
                    </m:oMath>
                  </m:oMathPara>
                </a14:m>
                <a:endParaRPr lang="en-US" i="1" dirty="0">
                  <a:latin typeface="Cambria Math" panose="02040503050406030204" pitchFamily="18" charset="0"/>
                </a:endParaRPr>
              </a:p>
              <a:p>
                <a:pPr marL="0" indent="0" algn="l">
                  <a:lnSpc>
                    <a:spcPct val="100000"/>
                  </a:lnSpc>
                  <a:buFont typeface="Wingdings 3" panose="05040102010807070707" pitchFamily="18" charset="2"/>
                  <a:buNone/>
                </a:pPr>
                <a14:m>
                  <m:oMath xmlns:m="http://schemas.openxmlformats.org/officeDocument/2006/math">
                    <m:r>
                      <a:rPr lang="en-IN" i="1">
                        <a:latin typeface="Cambria Math" panose="02040503050406030204" pitchFamily="18" charset="0"/>
                      </a:rPr>
                      <m:t>𝐹</m:t>
                    </m:r>
                    <m:r>
                      <a:rPr lang="en-IN" i="1">
                        <a:latin typeface="Cambria Math" panose="02040503050406030204" pitchFamily="18" charset="0"/>
                      </a:rPr>
                      <m:t>=15,000 </m:t>
                    </m:r>
                    <m:r>
                      <a:rPr lang="en-IN" i="1">
                        <a:latin typeface="Cambria Math" panose="02040503050406030204" pitchFamily="18" charset="0"/>
                      </a:rPr>
                      <m:t>𝑋</m:t>
                    </m:r>
                    <m:r>
                      <a:rPr lang="en-IN" i="1">
                        <a:latin typeface="Cambria Math" panose="02040503050406030204" pitchFamily="18" charset="0"/>
                      </a:rPr>
                      <m:t> 7.336</m:t>
                    </m:r>
                  </m:oMath>
                </a14:m>
                <a:r>
                  <a:rPr lang="en-IN" dirty="0"/>
                  <a:t> </a:t>
                </a:r>
                <a:endParaRPr lang="en-IN" b="1" i="1" dirty="0">
                  <a:latin typeface="Cambria Math" panose="02040503050406030204" pitchFamily="18" charset="0"/>
                </a:endParaRPr>
              </a:p>
              <a:p>
                <a:pPr marL="0" indent="0" algn="l">
                  <a:lnSpc>
                    <a:spcPct val="100000"/>
                  </a:lnSpc>
                  <a:buFont typeface="Wingdings 3" panose="05040102010807070707" pitchFamily="18" charset="2"/>
                  <a:buNone/>
                </a:pPr>
                <a14:m>
                  <m:oMath xmlns:m="http://schemas.openxmlformats.org/officeDocument/2006/math">
                    <m:r>
                      <a:rPr lang="en-IN" b="1" i="1" smtClean="0">
                        <a:solidFill>
                          <a:srgbClr val="C00000"/>
                        </a:solidFill>
                        <a:latin typeface="Cambria Math" panose="02040503050406030204" pitchFamily="18" charset="0"/>
                      </a:rPr>
                      <m:t>𝑭</m:t>
                    </m:r>
                    <m:r>
                      <a:rPr lang="en-IN" b="1" i="1" smtClean="0">
                        <a:solidFill>
                          <a:srgbClr val="C00000"/>
                        </a:solidFill>
                        <a:latin typeface="Cambria Math" panose="02040503050406030204" pitchFamily="18" charset="0"/>
                      </a:rPr>
                      <m:t>=</m:t>
                    </m:r>
                    <m:r>
                      <a:rPr lang="en-IN" b="1" i="1" smtClean="0">
                        <a:solidFill>
                          <a:srgbClr val="C00000"/>
                        </a:solidFill>
                        <a:latin typeface="Cambria Math" panose="02040503050406030204" pitchFamily="18" charset="0"/>
                      </a:rPr>
                      <m:t>𝟏</m:t>
                    </m:r>
                    <m:r>
                      <a:rPr lang="en-IN" b="1" i="1" smtClean="0">
                        <a:solidFill>
                          <a:srgbClr val="C00000"/>
                        </a:solidFill>
                        <a:latin typeface="Cambria Math" panose="02040503050406030204" pitchFamily="18" charset="0"/>
                      </a:rPr>
                      <m:t>,</m:t>
                    </m:r>
                    <m:r>
                      <a:rPr lang="en-IN" b="1" i="1" smtClean="0">
                        <a:solidFill>
                          <a:srgbClr val="C00000"/>
                        </a:solidFill>
                        <a:latin typeface="Cambria Math" panose="02040503050406030204" pitchFamily="18" charset="0"/>
                      </a:rPr>
                      <m:t>𝟏𝟎</m:t>
                    </m:r>
                    <m:r>
                      <a:rPr lang="en-IN" b="1" i="1" smtClean="0">
                        <a:solidFill>
                          <a:srgbClr val="C00000"/>
                        </a:solidFill>
                        <a:latin typeface="Cambria Math" panose="02040503050406030204" pitchFamily="18" charset="0"/>
                      </a:rPr>
                      <m:t>,</m:t>
                    </m:r>
                    <m:r>
                      <a:rPr lang="en-IN" b="1" i="1" smtClean="0">
                        <a:solidFill>
                          <a:srgbClr val="C00000"/>
                        </a:solidFill>
                        <a:latin typeface="Cambria Math" panose="02040503050406030204" pitchFamily="18" charset="0"/>
                      </a:rPr>
                      <m:t>𝟎𝟒𝟎</m:t>
                    </m:r>
                  </m:oMath>
                </a14:m>
                <a:r>
                  <a:rPr lang="en-IN" b="1" dirty="0">
                    <a:solidFill>
                      <a:schemeClr val="accent6">
                        <a:lumMod val="75000"/>
                      </a:schemeClr>
                    </a:solidFill>
                  </a:rPr>
                  <a:t> </a:t>
                </a:r>
              </a:p>
            </p:txBody>
          </p:sp>
        </mc:Choice>
        <mc:Fallback xmlns="">
          <p:sp>
            <p:nvSpPr>
              <p:cNvPr id="3" name="Content Placeholder 2"/>
              <p:cNvSpPr txBox="1">
                <a:spLocks noRot="1" noChangeAspect="1" noMove="1" noResize="1" noEditPoints="1" noAdjustHandles="1" noChangeArrowheads="1" noChangeShapeType="1" noTextEdit="1"/>
              </p:cNvSpPr>
              <p:nvPr/>
            </p:nvSpPr>
            <p:spPr>
              <a:xfrm>
                <a:off x="131181" y="2590800"/>
                <a:ext cx="5126620" cy="3863209"/>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440468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B4DD-AAAD-4D53-AC12-142A5187ABF4}"/>
              </a:ext>
            </a:extLst>
          </p:cNvPr>
          <p:cNvSpPr>
            <a:spLocks noGrp="1"/>
          </p:cNvSpPr>
          <p:nvPr>
            <p:ph type="title"/>
          </p:nvPr>
        </p:nvSpPr>
        <p:spPr/>
        <p:txBody>
          <a:bodyPr/>
          <a:lstStyle/>
          <a:p>
            <a:r>
              <a:rPr lang="en-US" dirty="0"/>
              <a:t>4) Present Value of Annuity</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C0B689-C847-4AED-B42F-7920AEF01475}"/>
                  </a:ext>
                </a:extLst>
              </p:cNvPr>
              <p:cNvSpPr>
                <a:spLocks noGrp="1"/>
              </p:cNvSpPr>
              <p:nvPr>
                <p:ph idx="1"/>
              </p:nvPr>
            </p:nvSpPr>
            <p:spPr/>
            <p:txBody>
              <a:bodyPr/>
              <a:lstStyle/>
              <a:p>
                <a:r>
                  <a:rPr lang="en-IN" sz="2800" dirty="0"/>
                  <a:t>Current Value of annual cash flow for certain no. of years  at specific interest rate is called present value of an Annuity.</a:t>
                </a:r>
              </a:p>
              <a:p>
                <a:r>
                  <a:rPr lang="en-IN" sz="2800" dirty="0"/>
                  <a:t>Formula:</a:t>
                </a:r>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𝐴</m:t>
                      </m:r>
                      <m:d>
                        <m:dPr>
                          <m:begChr m:val="["/>
                          <m:endChr m:val="]"/>
                          <m:ctrlPr>
                            <a:rPr lang="en-IN" i="1">
                              <a:latin typeface="Cambria Math" panose="02040503050406030204" pitchFamily="18" charset="0"/>
                            </a:rPr>
                          </m:ctrlPr>
                        </m:dPr>
                        <m:e>
                          <m:f>
                            <m:fPr>
                              <m:ctrlPr>
                                <a:rPr lang="en-IN" i="1">
                                  <a:latin typeface="Cambria Math" panose="02040503050406030204" pitchFamily="18" charset="0"/>
                                </a:rPr>
                              </m:ctrlPr>
                            </m:fPr>
                            <m:num>
                              <m:r>
                                <a:rPr lang="en-US" i="1">
                                  <a:latin typeface="Cambria Math" panose="02040503050406030204" pitchFamily="18" charset="0"/>
                                </a:rPr>
                                <m:t>1</m:t>
                              </m:r>
                            </m:num>
                            <m:den>
                              <m:r>
                                <a:rPr lang="en-GB" b="0" i="1" smtClean="0">
                                  <a:latin typeface="Cambria Math" panose="02040503050406030204" pitchFamily="18" charset="0"/>
                                </a:rPr>
                                <m:t>𝑟</m:t>
                              </m:r>
                            </m:den>
                          </m:f>
                          <m:r>
                            <a:rPr lang="en-US" i="1">
                              <a:latin typeface="Cambria Math" panose="02040503050406030204" pitchFamily="18" charset="0"/>
                            </a:rPr>
                            <m:t>− </m:t>
                          </m:r>
                          <m:f>
                            <m:fPr>
                              <m:ctrlPr>
                                <a:rPr lang="en-IN" i="1">
                                  <a:latin typeface="Cambria Math" panose="02040503050406030204" pitchFamily="18" charset="0"/>
                                </a:rPr>
                              </m:ctrlPr>
                            </m:fPr>
                            <m:num>
                              <m:r>
                                <a:rPr lang="en-US" i="1">
                                  <a:latin typeface="Cambria Math" panose="02040503050406030204" pitchFamily="18" charset="0"/>
                                </a:rPr>
                                <m:t>1</m:t>
                              </m:r>
                            </m:num>
                            <m:den>
                              <m:sSup>
                                <m:sSupPr>
                                  <m:ctrlPr>
                                    <a:rPr lang="en-IN" i="1">
                                      <a:latin typeface="Cambria Math" panose="02040503050406030204" pitchFamily="18" charset="0"/>
                                    </a:rPr>
                                  </m:ctrlPr>
                                </m:sSupPr>
                                <m:e>
                                  <m:r>
                                    <a:rPr lang="en-GB" b="0" i="1" smtClean="0">
                                      <a:latin typeface="Cambria Math" panose="02040503050406030204" pitchFamily="18" charset="0"/>
                                    </a:rPr>
                                    <m:t>𝑟</m:t>
                                  </m:r>
                                  <m:r>
                                    <a:rPr lang="en-US" i="1">
                                      <a:latin typeface="Cambria Math" panose="02040503050406030204" pitchFamily="18" charset="0"/>
                                    </a:rPr>
                                    <m:t>(1+</m:t>
                                  </m:r>
                                  <m:r>
                                    <a:rPr lang="en-GB" b="0" i="1" smtClean="0">
                                      <a:latin typeface="Cambria Math" panose="02040503050406030204" pitchFamily="18" charset="0"/>
                                    </a:rPr>
                                    <m:t>𝑟</m:t>
                                  </m:r>
                                  <m:r>
                                    <a:rPr lang="en-US" i="1">
                                      <a:latin typeface="Cambria Math" panose="02040503050406030204" pitchFamily="18" charset="0"/>
                                    </a:rPr>
                                    <m:t>)</m:t>
                                  </m:r>
                                </m:e>
                                <m:sup>
                                  <m:r>
                                    <a:rPr lang="en-US" i="1">
                                      <a:latin typeface="Cambria Math" panose="02040503050406030204" pitchFamily="18" charset="0"/>
                                    </a:rPr>
                                    <m:t>𝑛</m:t>
                                  </m:r>
                                </m:sup>
                              </m:sSup>
                            </m:den>
                          </m:f>
                        </m:e>
                      </m:d>
                    </m:oMath>
                  </m:oMathPara>
                </a14:m>
                <a:endParaRPr lang="en-GB"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4EC0B689-C847-4AED-B42F-7920AEF01475}"/>
                  </a:ext>
                </a:extLst>
              </p:cNvPr>
              <p:cNvSpPr>
                <a:spLocks noGrp="1" noRot="1" noChangeAspect="1" noMove="1" noResize="1" noEditPoints="1" noAdjustHandles="1" noChangeArrowheads="1" noChangeShapeType="1" noTextEdit="1"/>
              </p:cNvSpPr>
              <p:nvPr>
                <p:ph idx="1"/>
              </p:nvPr>
            </p:nvSpPr>
            <p:spPr>
              <a:blipFill>
                <a:blip r:embed="rId2"/>
                <a:stretch>
                  <a:fillRect l="-971"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272541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Question.07</a:t>
            </a:r>
            <a:endParaRPr lang="en-IN" dirty="0"/>
          </a:p>
        </p:txBody>
      </p:sp>
      <p:sp>
        <p:nvSpPr>
          <p:cNvPr id="3" name="Content Placeholder 2"/>
          <p:cNvSpPr>
            <a:spLocks noGrp="1"/>
          </p:cNvSpPr>
          <p:nvPr>
            <p:ph idx="1"/>
          </p:nvPr>
        </p:nvSpPr>
        <p:spPr/>
        <p:txBody>
          <a:bodyPr/>
          <a:lstStyle/>
          <a:p>
            <a:pPr marL="0" indent="0">
              <a:buNone/>
            </a:pPr>
            <a:r>
              <a:rPr lang="en-US" sz="2800" dirty="0"/>
              <a:t>Ms. </a:t>
            </a:r>
            <a:r>
              <a:rPr lang="en-US" sz="2800" dirty="0" err="1"/>
              <a:t>Sushmita</a:t>
            </a:r>
            <a:r>
              <a:rPr lang="en-US" sz="2800" dirty="0"/>
              <a:t> is going to get </a:t>
            </a:r>
            <a:r>
              <a:rPr lang="en-US" sz="2800" dirty="0" err="1"/>
              <a:t>Rs</a:t>
            </a:r>
            <a:r>
              <a:rPr lang="en-US" sz="2800" dirty="0"/>
              <a:t>. 25,000 every year at the end of each year for next 9 years as a part of her investment of one Investment Scheme. She wants to know the present value of this cash inflow. Calculate if her required rate of return is 9% per annum.</a:t>
            </a:r>
          </a:p>
          <a:p>
            <a:pPr marL="0" indent="0">
              <a:buNone/>
            </a:pPr>
            <a:endParaRPr lang="en-US" sz="2800" dirty="0"/>
          </a:p>
          <a:p>
            <a:pPr marL="0" indent="0">
              <a:buNone/>
            </a:pPr>
            <a:endParaRPr lang="en-US" sz="2800" dirty="0"/>
          </a:p>
          <a:p>
            <a:endParaRPr lang="en-US" sz="2800" dirty="0"/>
          </a:p>
          <a:p>
            <a:pPr marL="0" indent="0">
              <a:buNone/>
            </a:pPr>
            <a:endParaRPr lang="en-IN" sz="2800" dirty="0"/>
          </a:p>
        </p:txBody>
      </p:sp>
    </p:spTree>
    <p:extLst>
      <p:ext uri="{BB962C8B-B14F-4D97-AF65-F5344CB8AC3E}">
        <p14:creationId xmlns:p14="http://schemas.microsoft.com/office/powerpoint/2010/main" val="392727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Solution </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1" y="863444"/>
                <a:ext cx="11922274" cy="5590565"/>
              </a:xfrm>
            </p:spPr>
            <p:txBody>
              <a:bodyPr/>
              <a:lstStyle/>
              <a:p>
                <a:pPr marL="0" indent="0">
                  <a:lnSpc>
                    <a:spcPct val="100000"/>
                  </a:lnSpc>
                  <a:buNone/>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rPr>
                        <m:t>𝑃</m:t>
                      </m:r>
                      <m:r>
                        <a:rPr lang="en-US" sz="2400" i="1" smtClean="0">
                          <a:latin typeface="Cambria Math" panose="02040503050406030204" pitchFamily="18" charset="0"/>
                        </a:rPr>
                        <m:t>=</m:t>
                      </m:r>
                      <m:r>
                        <a:rPr lang="en-US" sz="2400" i="1" smtClean="0">
                          <a:latin typeface="Cambria Math" panose="02040503050406030204" pitchFamily="18" charset="0"/>
                        </a:rPr>
                        <m:t>𝐴</m:t>
                      </m:r>
                      <m:d>
                        <m:dPr>
                          <m:begChr m:val="["/>
                          <m:endChr m:val="]"/>
                          <m:ctrlPr>
                            <a:rPr lang="en-IN" sz="2400" i="1">
                              <a:latin typeface="Cambria Math" panose="02040503050406030204" pitchFamily="18" charset="0"/>
                            </a:rPr>
                          </m:ctrlPr>
                        </m:dPr>
                        <m:e>
                          <m:f>
                            <m:fPr>
                              <m:ctrlPr>
                                <a:rPr lang="en-IN" sz="2400" i="1">
                                  <a:latin typeface="Cambria Math" panose="02040503050406030204" pitchFamily="18" charset="0"/>
                                </a:rPr>
                              </m:ctrlPr>
                            </m:fPr>
                            <m:num>
                              <m:r>
                                <a:rPr lang="en-US" sz="2400" i="1">
                                  <a:latin typeface="Cambria Math" panose="02040503050406030204" pitchFamily="18" charset="0"/>
                                </a:rPr>
                                <m:t>1</m:t>
                              </m:r>
                            </m:num>
                            <m:den>
                              <m:r>
                                <a:rPr lang="en-GB" sz="2400" b="0" i="1" smtClean="0">
                                  <a:latin typeface="Cambria Math" panose="02040503050406030204" pitchFamily="18" charset="0"/>
                                </a:rPr>
                                <m:t>𝑟</m:t>
                              </m:r>
                            </m:den>
                          </m:f>
                          <m:r>
                            <a:rPr lang="en-US" sz="2400" i="1">
                              <a:latin typeface="Cambria Math" panose="02040503050406030204" pitchFamily="18" charset="0"/>
                            </a:rPr>
                            <m:t>− </m:t>
                          </m:r>
                          <m:f>
                            <m:fPr>
                              <m:ctrlPr>
                                <a:rPr lang="en-IN" sz="2400" i="1">
                                  <a:latin typeface="Cambria Math" panose="02040503050406030204" pitchFamily="18" charset="0"/>
                                </a:rPr>
                              </m:ctrlPr>
                            </m:fPr>
                            <m:num>
                              <m:r>
                                <a:rPr lang="en-US" sz="2400" i="1">
                                  <a:latin typeface="Cambria Math" panose="02040503050406030204" pitchFamily="18" charset="0"/>
                                </a:rPr>
                                <m:t>1</m:t>
                              </m:r>
                            </m:num>
                            <m:den>
                              <m:sSup>
                                <m:sSupPr>
                                  <m:ctrlPr>
                                    <a:rPr lang="en-IN" sz="2400" i="1">
                                      <a:latin typeface="Cambria Math" panose="02040503050406030204" pitchFamily="18" charset="0"/>
                                    </a:rPr>
                                  </m:ctrlPr>
                                </m:sSupPr>
                                <m:e>
                                  <m:r>
                                    <a:rPr lang="en-GB" sz="2400" b="0" i="1" smtClean="0">
                                      <a:latin typeface="Cambria Math" panose="02040503050406030204" pitchFamily="18" charset="0"/>
                                    </a:rPr>
                                    <m:t>𝑟</m:t>
                                  </m:r>
                                  <m:r>
                                    <a:rPr lang="en-US" sz="2400" i="1">
                                      <a:latin typeface="Cambria Math" panose="02040503050406030204" pitchFamily="18" charset="0"/>
                                    </a:rPr>
                                    <m:t>(1+</m:t>
                                  </m:r>
                                  <m:r>
                                    <a:rPr lang="en-GB" sz="2400" b="0" i="1" smtClean="0">
                                      <a:latin typeface="Cambria Math" panose="02040503050406030204" pitchFamily="18" charset="0"/>
                                    </a:rPr>
                                    <m:t>𝑟</m:t>
                                  </m:r>
                                  <m:r>
                                    <a:rPr lang="en-US" sz="2400" i="1">
                                      <a:latin typeface="Cambria Math" panose="02040503050406030204" pitchFamily="18" charset="0"/>
                                    </a:rPr>
                                    <m:t>)</m:t>
                                  </m:r>
                                </m:e>
                                <m:sup>
                                  <m:r>
                                    <a:rPr lang="en-US" sz="2400" i="1">
                                      <a:latin typeface="Cambria Math" panose="02040503050406030204" pitchFamily="18" charset="0"/>
                                    </a:rPr>
                                    <m:t>𝑛</m:t>
                                  </m:r>
                                </m:sup>
                              </m:sSup>
                            </m:den>
                          </m:f>
                        </m:e>
                      </m:d>
                    </m:oMath>
                  </m:oMathPara>
                </a14:m>
                <a:endParaRPr lang="en-US" sz="2400" dirty="0"/>
              </a:p>
              <a:p>
                <a:pPr marL="0" indent="0">
                  <a:lnSpc>
                    <a:spcPct val="100000"/>
                  </a:lnSpc>
                  <a:buNone/>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rPr>
                        <m:t>𝑃</m:t>
                      </m:r>
                      <m:r>
                        <a:rPr lang="en-US" sz="2400" i="1">
                          <a:latin typeface="Cambria Math" panose="02040503050406030204" pitchFamily="18" charset="0"/>
                        </a:rPr>
                        <m:t>=25000</m:t>
                      </m:r>
                      <m:d>
                        <m:dPr>
                          <m:begChr m:val="["/>
                          <m:endChr m:val="]"/>
                          <m:ctrlPr>
                            <a:rPr lang="en-IN" sz="2400" i="1">
                              <a:latin typeface="Cambria Math" panose="02040503050406030204" pitchFamily="18" charset="0"/>
                            </a:rPr>
                          </m:ctrlPr>
                        </m:dPr>
                        <m:e>
                          <m:f>
                            <m:fPr>
                              <m:ctrlPr>
                                <a:rPr lang="en-IN" sz="2400" i="1">
                                  <a:latin typeface="Cambria Math" panose="02040503050406030204" pitchFamily="18" charset="0"/>
                                </a:rPr>
                              </m:ctrlPr>
                            </m:fPr>
                            <m:num>
                              <m:r>
                                <a:rPr lang="en-US" sz="2400" i="1">
                                  <a:latin typeface="Cambria Math" panose="02040503050406030204" pitchFamily="18" charset="0"/>
                                </a:rPr>
                                <m:t>1</m:t>
                              </m:r>
                            </m:num>
                            <m:den>
                              <m:r>
                                <a:rPr lang="en-IN" sz="2400" i="1">
                                  <a:latin typeface="Cambria Math" panose="02040503050406030204" pitchFamily="18" charset="0"/>
                                </a:rPr>
                                <m:t>0.09</m:t>
                              </m:r>
                            </m:den>
                          </m:f>
                          <m:r>
                            <a:rPr lang="en-US" sz="2400" i="1">
                              <a:latin typeface="Cambria Math" panose="02040503050406030204" pitchFamily="18" charset="0"/>
                            </a:rPr>
                            <m:t>− </m:t>
                          </m:r>
                          <m:f>
                            <m:fPr>
                              <m:ctrlPr>
                                <a:rPr lang="en-IN" sz="2400" i="1">
                                  <a:latin typeface="Cambria Math" panose="02040503050406030204" pitchFamily="18" charset="0"/>
                                </a:rPr>
                              </m:ctrlPr>
                            </m:fPr>
                            <m:num>
                              <m:r>
                                <a:rPr lang="en-US" sz="2400" i="1">
                                  <a:latin typeface="Cambria Math" panose="02040503050406030204" pitchFamily="18" charset="0"/>
                                </a:rPr>
                                <m:t>1</m:t>
                              </m:r>
                            </m:num>
                            <m:den>
                              <m:sSup>
                                <m:sSupPr>
                                  <m:ctrlPr>
                                    <a:rPr lang="en-IN" sz="2400" i="1">
                                      <a:latin typeface="Cambria Math" panose="02040503050406030204" pitchFamily="18" charset="0"/>
                                    </a:rPr>
                                  </m:ctrlPr>
                                </m:sSupPr>
                                <m:e>
                                  <m:r>
                                    <a:rPr lang="en-IN" sz="2400" i="1">
                                      <a:latin typeface="Cambria Math" panose="02040503050406030204" pitchFamily="18" charset="0"/>
                                    </a:rPr>
                                    <m:t>0.09</m:t>
                                  </m:r>
                                  <m:r>
                                    <a:rPr lang="en-US" sz="2400" i="1">
                                      <a:latin typeface="Cambria Math" panose="02040503050406030204" pitchFamily="18" charset="0"/>
                                    </a:rPr>
                                    <m:t>(1+</m:t>
                                  </m:r>
                                  <m:r>
                                    <a:rPr lang="en-IN" sz="2400" i="1">
                                      <a:latin typeface="Cambria Math" panose="02040503050406030204" pitchFamily="18" charset="0"/>
                                    </a:rPr>
                                    <m:t>0.09</m:t>
                                  </m:r>
                                  <m:r>
                                    <a:rPr lang="en-US" sz="2400" i="1">
                                      <a:latin typeface="Cambria Math" panose="02040503050406030204" pitchFamily="18" charset="0"/>
                                    </a:rPr>
                                    <m:t>)</m:t>
                                  </m:r>
                                </m:e>
                                <m:sup>
                                  <m:r>
                                    <a:rPr lang="en-IN" sz="2400" i="1">
                                      <a:latin typeface="Cambria Math" panose="02040503050406030204" pitchFamily="18" charset="0"/>
                                    </a:rPr>
                                    <m:t>9</m:t>
                                  </m:r>
                                </m:sup>
                              </m:sSup>
                            </m:den>
                          </m:f>
                        </m:e>
                      </m:d>
                    </m:oMath>
                  </m:oMathPara>
                </a14:m>
                <a:endParaRPr lang="en-IN" sz="2400" dirty="0"/>
              </a:p>
              <a:p>
                <a:pPr marL="0" indent="0">
                  <a:lnSpc>
                    <a:spcPct val="100000"/>
                  </a:lnSpc>
                  <a:buNone/>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𝑃</m:t>
                      </m:r>
                      <m:r>
                        <a:rPr lang="en-US" sz="2400" i="1">
                          <a:latin typeface="Cambria Math" panose="02040503050406030204" pitchFamily="18" charset="0"/>
                        </a:rPr>
                        <m:t>=25000</m:t>
                      </m:r>
                      <m:d>
                        <m:dPr>
                          <m:begChr m:val="["/>
                          <m:endChr m:val="]"/>
                          <m:ctrlPr>
                            <a:rPr lang="en-IN" sz="2400" i="1">
                              <a:latin typeface="Cambria Math" panose="02040503050406030204" pitchFamily="18" charset="0"/>
                            </a:rPr>
                          </m:ctrlPr>
                        </m:dPr>
                        <m:e>
                          <m:r>
                            <a:rPr lang="en-IN" sz="2400" b="0" i="1" smtClean="0">
                              <a:latin typeface="Cambria Math" panose="02040503050406030204" pitchFamily="18" charset="0"/>
                            </a:rPr>
                            <m:t>11.111</m:t>
                          </m:r>
                          <m:r>
                            <a:rPr lang="en-US" sz="2400" i="1">
                              <a:latin typeface="Cambria Math" panose="02040503050406030204" pitchFamily="18" charset="0"/>
                            </a:rPr>
                            <m:t>− </m:t>
                          </m:r>
                          <m:f>
                            <m:fPr>
                              <m:ctrlPr>
                                <a:rPr lang="en-IN" sz="2400" i="1">
                                  <a:latin typeface="Cambria Math" panose="02040503050406030204" pitchFamily="18" charset="0"/>
                                </a:rPr>
                              </m:ctrlPr>
                            </m:fPr>
                            <m:num>
                              <m:r>
                                <a:rPr lang="en-US" sz="2400" i="1">
                                  <a:latin typeface="Cambria Math" panose="02040503050406030204" pitchFamily="18" charset="0"/>
                                </a:rPr>
                                <m:t>1</m:t>
                              </m:r>
                            </m:num>
                            <m:den>
                              <m:sSup>
                                <m:sSupPr>
                                  <m:ctrlPr>
                                    <a:rPr lang="en-IN" sz="2400" i="1">
                                      <a:latin typeface="Cambria Math" panose="02040503050406030204" pitchFamily="18" charset="0"/>
                                    </a:rPr>
                                  </m:ctrlPr>
                                </m:sSupPr>
                                <m:e>
                                  <m:r>
                                    <a:rPr lang="en-IN" sz="2400" i="1">
                                      <a:latin typeface="Cambria Math" panose="02040503050406030204" pitchFamily="18" charset="0"/>
                                    </a:rPr>
                                    <m:t>0.09</m:t>
                                  </m:r>
                                  <m:r>
                                    <a:rPr lang="en-US" sz="2400" i="1">
                                      <a:latin typeface="Cambria Math" panose="02040503050406030204" pitchFamily="18" charset="0"/>
                                    </a:rPr>
                                    <m:t>(1</m:t>
                                  </m:r>
                                  <m:r>
                                    <a:rPr lang="en-IN" sz="2400" i="1">
                                      <a:latin typeface="Cambria Math" panose="02040503050406030204" pitchFamily="18" charset="0"/>
                                    </a:rPr>
                                    <m:t>.09</m:t>
                                  </m:r>
                                  <m:r>
                                    <a:rPr lang="en-US" sz="2400" i="1">
                                      <a:latin typeface="Cambria Math" panose="02040503050406030204" pitchFamily="18" charset="0"/>
                                    </a:rPr>
                                    <m:t>)</m:t>
                                  </m:r>
                                </m:e>
                                <m:sup>
                                  <m:r>
                                    <a:rPr lang="en-IN" sz="2400" i="1">
                                      <a:latin typeface="Cambria Math" panose="02040503050406030204" pitchFamily="18" charset="0"/>
                                    </a:rPr>
                                    <m:t>9</m:t>
                                  </m:r>
                                </m:sup>
                              </m:sSup>
                            </m:den>
                          </m:f>
                        </m:e>
                      </m:d>
                    </m:oMath>
                  </m:oMathPara>
                </a14:m>
                <a:endParaRPr lang="en-IN" sz="2400" dirty="0"/>
              </a:p>
              <a:p>
                <a:pPr marL="0" indent="0">
                  <a:lnSpc>
                    <a:spcPct val="100000"/>
                  </a:lnSpc>
                  <a:buNone/>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𝑃</m:t>
                      </m:r>
                      <m:r>
                        <a:rPr lang="en-US" sz="2400" i="1">
                          <a:latin typeface="Cambria Math" panose="02040503050406030204" pitchFamily="18" charset="0"/>
                        </a:rPr>
                        <m:t>=25000</m:t>
                      </m:r>
                      <m:d>
                        <m:dPr>
                          <m:begChr m:val="["/>
                          <m:endChr m:val="]"/>
                          <m:ctrlPr>
                            <a:rPr lang="en-IN" sz="2400" i="1">
                              <a:latin typeface="Cambria Math" panose="02040503050406030204" pitchFamily="18" charset="0"/>
                            </a:rPr>
                          </m:ctrlPr>
                        </m:dPr>
                        <m:e>
                          <m:r>
                            <a:rPr lang="en-IN" sz="2400" i="1">
                              <a:latin typeface="Cambria Math" panose="02040503050406030204" pitchFamily="18" charset="0"/>
                            </a:rPr>
                            <m:t>11.111</m:t>
                          </m:r>
                          <m:r>
                            <a:rPr lang="en-US" sz="2400" i="1">
                              <a:latin typeface="Cambria Math" panose="02040503050406030204" pitchFamily="18" charset="0"/>
                            </a:rPr>
                            <m:t>− </m:t>
                          </m:r>
                          <m:f>
                            <m:fPr>
                              <m:ctrlPr>
                                <a:rPr lang="en-IN" sz="2400" i="1">
                                  <a:latin typeface="Cambria Math" panose="02040503050406030204" pitchFamily="18" charset="0"/>
                                </a:rPr>
                              </m:ctrlPr>
                            </m:fPr>
                            <m:num>
                              <m:r>
                                <a:rPr lang="en-US" sz="2400" i="1">
                                  <a:latin typeface="Cambria Math" panose="02040503050406030204" pitchFamily="18" charset="0"/>
                                </a:rPr>
                                <m:t>1</m:t>
                              </m:r>
                            </m:num>
                            <m:den>
                              <m:r>
                                <a:rPr lang="en-IN" sz="2400" b="0" i="1" smtClean="0">
                                  <a:latin typeface="Cambria Math" panose="02040503050406030204" pitchFamily="18" charset="0"/>
                                </a:rPr>
                                <m:t>0.196</m:t>
                              </m:r>
                            </m:den>
                          </m:f>
                        </m:e>
                      </m:d>
                    </m:oMath>
                  </m:oMathPara>
                </a14:m>
                <a:endParaRPr lang="en-IN" sz="2400" dirty="0"/>
              </a:p>
              <a:p>
                <a:pPr marL="0" indent="0">
                  <a:lnSpc>
                    <a:spcPct val="100000"/>
                  </a:lnSpc>
                  <a:buNone/>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𝑃</m:t>
                      </m:r>
                      <m:r>
                        <a:rPr lang="en-US" sz="2400" i="1">
                          <a:latin typeface="Cambria Math" panose="02040503050406030204" pitchFamily="18" charset="0"/>
                        </a:rPr>
                        <m:t>=25000</m:t>
                      </m:r>
                      <m:d>
                        <m:dPr>
                          <m:begChr m:val="["/>
                          <m:endChr m:val="]"/>
                          <m:ctrlPr>
                            <a:rPr lang="en-IN" sz="2400" i="1">
                              <a:latin typeface="Cambria Math" panose="02040503050406030204" pitchFamily="18" charset="0"/>
                            </a:rPr>
                          </m:ctrlPr>
                        </m:dPr>
                        <m:e>
                          <m:r>
                            <a:rPr lang="en-IN" sz="2400" i="1">
                              <a:latin typeface="Cambria Math" panose="02040503050406030204" pitchFamily="18" charset="0"/>
                            </a:rPr>
                            <m:t>11.111</m:t>
                          </m:r>
                          <m:r>
                            <a:rPr lang="en-US" sz="2400" i="1">
                              <a:latin typeface="Cambria Math" panose="02040503050406030204" pitchFamily="18" charset="0"/>
                            </a:rPr>
                            <m:t>−</m:t>
                          </m:r>
                          <m:r>
                            <a:rPr lang="en-IN" sz="2400" i="1">
                              <a:latin typeface="Cambria Math" panose="02040503050406030204" pitchFamily="18" charset="0"/>
                            </a:rPr>
                            <m:t>5.102</m:t>
                          </m:r>
                        </m:e>
                      </m:d>
                    </m:oMath>
                  </m:oMathPara>
                </a14:m>
                <a:endParaRPr lang="en-IN" sz="2400" dirty="0"/>
              </a:p>
              <a:p>
                <a:pPr marL="0" indent="0">
                  <a:lnSpc>
                    <a:spcPct val="100000"/>
                  </a:lnSpc>
                  <a:buNone/>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𝑃</m:t>
                      </m:r>
                      <m:r>
                        <a:rPr lang="en-US" sz="2400" i="1">
                          <a:latin typeface="Cambria Math" panose="02040503050406030204" pitchFamily="18" charset="0"/>
                        </a:rPr>
                        <m:t>=25000</m:t>
                      </m:r>
                      <m:d>
                        <m:dPr>
                          <m:begChr m:val="["/>
                          <m:endChr m:val="]"/>
                          <m:ctrlPr>
                            <a:rPr lang="en-IN" sz="2400" i="1">
                              <a:latin typeface="Cambria Math" panose="02040503050406030204" pitchFamily="18" charset="0"/>
                            </a:rPr>
                          </m:ctrlPr>
                        </m:dPr>
                        <m:e>
                          <m:r>
                            <a:rPr lang="en-IN" sz="2400" i="1">
                              <a:latin typeface="Cambria Math" panose="02040503050406030204" pitchFamily="18" charset="0"/>
                            </a:rPr>
                            <m:t>6.009</m:t>
                          </m:r>
                        </m:e>
                      </m:d>
                    </m:oMath>
                  </m:oMathPara>
                </a14:m>
                <a:endParaRPr lang="en-IN" sz="2400" dirty="0"/>
              </a:p>
              <a:p>
                <a:pPr marL="0" indent="0">
                  <a:lnSpc>
                    <a:spcPct val="100000"/>
                  </a:lnSpc>
                  <a:buNone/>
                </a:pPr>
                <a14:m>
                  <m:oMathPara xmlns:m="http://schemas.openxmlformats.org/officeDocument/2006/math">
                    <m:oMathParaPr>
                      <m:jc m:val="left"/>
                    </m:oMathParaPr>
                    <m:oMath xmlns:m="http://schemas.openxmlformats.org/officeDocument/2006/math">
                      <m:r>
                        <a:rPr lang="en-US" sz="2400" b="1" i="1">
                          <a:solidFill>
                            <a:srgbClr val="C00000"/>
                          </a:solidFill>
                          <a:latin typeface="Cambria Math" panose="02040503050406030204" pitchFamily="18" charset="0"/>
                        </a:rPr>
                        <m:t>𝑷</m:t>
                      </m:r>
                      <m:r>
                        <a:rPr lang="en-US" sz="2400" b="1" i="1">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𝟏</m:t>
                      </m:r>
                      <m:r>
                        <a:rPr lang="en-US" sz="2400" b="1" i="1">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𝟓𝟎</m:t>
                      </m:r>
                      <m:r>
                        <a:rPr lang="en-US" sz="2400" b="1" i="1">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𝟐𝟐𝟓</m:t>
                      </m:r>
                    </m:oMath>
                  </m:oMathPara>
                </a14:m>
                <a:endParaRPr lang="en-IN" sz="2400" b="1" dirty="0">
                  <a:solidFill>
                    <a:srgbClr val="C00000"/>
                  </a:solidFill>
                </a:endParaRPr>
              </a:p>
              <a:p>
                <a:pPr marL="0" indent="0">
                  <a:buNone/>
                </a:pPr>
                <a:endParaRPr lang="en-IN"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1" y="863444"/>
                <a:ext cx="11922274" cy="5590565"/>
              </a:xfrm>
              <a:blipFill>
                <a:blip r:embed="rId2"/>
                <a:stretch>
                  <a:fillRect l="-153"/>
                </a:stretch>
              </a:blipFill>
            </p:spPr>
            <p:txBody>
              <a:bodyPr/>
              <a:lstStyle/>
              <a:p>
                <a:r>
                  <a:rPr lang="en-IN">
                    <a:noFill/>
                  </a:rPr>
                  <a:t> </a:t>
                </a:r>
              </a:p>
            </p:txBody>
          </p:sp>
        </mc:Fallback>
      </mc:AlternateContent>
    </p:spTree>
    <p:extLst>
      <p:ext uri="{BB962C8B-B14F-4D97-AF65-F5344CB8AC3E}">
        <p14:creationId xmlns:p14="http://schemas.microsoft.com/office/powerpoint/2010/main" val="174025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61E7D522-5F54-4ED2-82D6-BCFF09C50252}"/>
              </a:ext>
            </a:extLst>
          </p:cNvPr>
          <p:cNvSpPr>
            <a:spLocks noGrp="1"/>
          </p:cNvSpPr>
          <p:nvPr>
            <p:ph type="title"/>
          </p:nvPr>
        </p:nvSpPr>
        <p:spPr/>
        <p:txBody>
          <a:bodyPr/>
          <a:lstStyle/>
          <a:p>
            <a:r>
              <a:rPr lang="en-IN" altLang="en-US" dirty="0"/>
              <a:t>Question.08(Practice)</a:t>
            </a:r>
          </a:p>
        </p:txBody>
      </p:sp>
      <p:sp>
        <p:nvSpPr>
          <p:cNvPr id="50179" name="Content Placeholder 2">
            <a:extLst>
              <a:ext uri="{FF2B5EF4-FFF2-40B4-BE49-F238E27FC236}">
                <a16:creationId xmlns:a16="http://schemas.microsoft.com/office/drawing/2014/main" id="{7AD57A6D-1F60-40FD-B995-1F538833BB77}"/>
              </a:ext>
            </a:extLst>
          </p:cNvPr>
          <p:cNvSpPr>
            <a:spLocks noGrp="1"/>
          </p:cNvSpPr>
          <p:nvPr>
            <p:ph idx="1"/>
          </p:nvPr>
        </p:nvSpPr>
        <p:spPr/>
        <p:txBody>
          <a:bodyPr/>
          <a:lstStyle/>
          <a:p>
            <a:pPr marL="107950" indent="0" algn="just">
              <a:buNone/>
            </a:pPr>
            <a:r>
              <a:rPr lang="en-IN" altLang="en-US" dirty="0"/>
              <a:t>Suppose you expect to receive Rs. 22,000 annually for 7 years , each receipt occurring at the end of the year. What is the present value of this stream of benefits if the discount rate is 8% ?</a:t>
            </a:r>
          </a:p>
          <a:p>
            <a:pPr marL="0" indent="0">
              <a:buNone/>
            </a:pPr>
            <a:endParaRPr lang="en-IN" sz="3200" i="1" dirty="0">
              <a:latin typeface="Cambria Math" panose="02040503050406030204" pitchFamily="18" charset="0"/>
            </a:endParaRPr>
          </a:p>
          <a:p>
            <a:pPr marL="107950" indent="0" algn="just">
              <a:buNone/>
            </a:pPr>
            <a:endParaRPr lang="en-IN" altLang="en-US" sz="3200" dirty="0"/>
          </a:p>
        </p:txBody>
      </p:sp>
    </p:spTree>
    <p:extLst>
      <p:ext uri="{BB962C8B-B14F-4D97-AF65-F5344CB8AC3E}">
        <p14:creationId xmlns:p14="http://schemas.microsoft.com/office/powerpoint/2010/main" val="2758346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826E9-C448-E536-073E-010217FBD7BC}"/>
              </a:ext>
            </a:extLst>
          </p:cNvPr>
          <p:cNvSpPr>
            <a:spLocks noGrp="1"/>
          </p:cNvSpPr>
          <p:nvPr>
            <p:ph type="title"/>
          </p:nvPr>
        </p:nvSpPr>
        <p:spPr/>
        <p:txBody>
          <a:bodyPr/>
          <a:lstStyle/>
          <a:p>
            <a:r>
              <a:rPr lang="en-GB" dirty="0"/>
              <a:t>Value of Annuity Due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CF8A9A-3DA7-C3B0-BA38-00EEB5C09826}"/>
                  </a:ext>
                </a:extLst>
              </p:cNvPr>
              <p:cNvSpPr>
                <a:spLocks noGrp="1"/>
              </p:cNvSpPr>
              <p:nvPr>
                <p:ph idx="1"/>
              </p:nvPr>
            </p:nvSpPr>
            <p:spPr/>
            <p:txBody>
              <a:bodyPr/>
              <a:lstStyle/>
              <a:p>
                <a:r>
                  <a:rPr lang="en-IN" altLang="en-US" sz="2800" dirty="0"/>
                  <a:t>When cash flow occur at the </a:t>
                </a:r>
                <a:r>
                  <a:rPr lang="en-IN" altLang="en-US" sz="2800" b="1" dirty="0">
                    <a:solidFill>
                      <a:srgbClr val="C00000"/>
                    </a:solidFill>
                  </a:rPr>
                  <a:t>beginning of each period</a:t>
                </a:r>
                <a:r>
                  <a:rPr lang="en-IN" altLang="en-US" sz="2800" b="1" dirty="0"/>
                  <a:t> </a:t>
                </a:r>
                <a:r>
                  <a:rPr lang="en-IN" altLang="en-US" sz="2800" dirty="0"/>
                  <a:t>the annuity is called an </a:t>
                </a:r>
                <a:r>
                  <a:rPr lang="en-IN" altLang="en-US" sz="2800" b="1" dirty="0">
                    <a:solidFill>
                      <a:srgbClr val="C00000"/>
                    </a:solidFill>
                  </a:rPr>
                  <a:t>annuity due</a:t>
                </a:r>
                <a:r>
                  <a:rPr lang="en-IN" altLang="en-US" sz="2800" dirty="0"/>
                  <a:t>.</a:t>
                </a:r>
              </a:p>
              <a:p>
                <a:r>
                  <a:rPr lang="en-IN" altLang="en-US" b="1" dirty="0"/>
                  <a:t>Future Value of Annuity Due:</a:t>
                </a:r>
              </a:p>
              <a:p>
                <a:pPr algn="l" fontAlgn="ctr"/>
                <a:r>
                  <a:rPr lang="en-IN" dirty="0">
                    <a:solidFill>
                      <a:srgbClr val="001D35"/>
                    </a:solidFill>
                  </a:rPr>
                  <a:t>Formula:</a:t>
                </a:r>
                <a:endParaRPr lang="en-GB" dirty="0">
                  <a:solidFill>
                    <a:srgbClr val="001D35"/>
                  </a:solidFill>
                </a:endParaRPr>
              </a:p>
              <a:p>
                <a:pPr algn="l" fontAlgn="ctr"/>
                <a14:m>
                  <m:oMath xmlns:m="http://schemas.openxmlformats.org/officeDocument/2006/math">
                    <m:r>
                      <a:rPr lang="en-IN" i="1">
                        <a:latin typeface="Cambria Math" panose="02040503050406030204" pitchFamily="18" charset="0"/>
                        <a:ea typeface="Cambria Math" panose="02040503050406030204" pitchFamily="18" charset="0"/>
                      </a:rPr>
                      <m:t>𝐹</m:t>
                    </m:r>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𝐴</m:t>
                    </m:r>
                    <m:d>
                      <m:dPr>
                        <m:begChr m:val="["/>
                        <m:endChr m:val="]"/>
                        <m:ctrlPr>
                          <a:rPr lang="en-IN" i="1">
                            <a:latin typeface="Cambria Math" panose="02040503050406030204" pitchFamily="18" charset="0"/>
                            <a:ea typeface="Cambria Math" panose="02040503050406030204" pitchFamily="18" charset="0"/>
                          </a:rPr>
                        </m:ctrlPr>
                      </m:dPr>
                      <m:e>
                        <m:f>
                          <m:fPr>
                            <m:ctrlPr>
                              <a:rPr lang="en-IN" i="1">
                                <a:latin typeface="Cambria Math" panose="02040503050406030204" pitchFamily="18" charset="0"/>
                                <a:ea typeface="Cambria Math" panose="02040503050406030204" pitchFamily="18" charset="0"/>
                              </a:rPr>
                            </m:ctrlPr>
                          </m:fPr>
                          <m:num>
                            <m:sSup>
                              <m:sSupPr>
                                <m:ctrlPr>
                                  <a:rPr lang="en-IN" i="1">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𝑟</m:t>
                                </m:r>
                                <m:r>
                                  <a:rPr lang="en-IN" i="1">
                                    <a:latin typeface="Cambria Math" panose="02040503050406030204" pitchFamily="18" charset="0"/>
                                    <a:ea typeface="Cambria Math" panose="02040503050406030204" pitchFamily="18" charset="0"/>
                                  </a:rPr>
                                  <m:t>)</m:t>
                                </m:r>
                              </m:e>
                              <m:sup>
                                <m:r>
                                  <a:rPr lang="en-IN" i="1">
                                    <a:latin typeface="Cambria Math" panose="02040503050406030204" pitchFamily="18" charset="0"/>
                                    <a:ea typeface="Cambria Math" panose="02040503050406030204" pitchFamily="18" charset="0"/>
                                  </a:rPr>
                                  <m:t>𝑛</m:t>
                                </m:r>
                              </m:sup>
                            </m:sSup>
                            <m:r>
                              <a:rPr lang="en-IN" i="1">
                                <a:latin typeface="Cambria Math" panose="02040503050406030204" pitchFamily="18" charset="0"/>
                                <a:ea typeface="Cambria Math" panose="02040503050406030204" pitchFamily="18" charset="0"/>
                              </a:rPr>
                              <m:t> −1</m:t>
                            </m:r>
                          </m:num>
                          <m:den>
                            <m:r>
                              <a:rPr lang="en-GB" i="1">
                                <a:latin typeface="Cambria Math" panose="02040503050406030204" pitchFamily="18" charset="0"/>
                                <a:ea typeface="Cambria Math" panose="02040503050406030204" pitchFamily="18" charset="0"/>
                              </a:rPr>
                              <m:t>𝑟</m:t>
                            </m:r>
                          </m:den>
                        </m:f>
                      </m:e>
                    </m:d>
                  </m:oMath>
                </a14:m>
                <a:r>
                  <a:rPr lang="en-GB" dirty="0">
                    <a:solidFill>
                      <a:srgbClr val="001D35"/>
                    </a:solidFill>
                    <a:latin typeface="Cambria Math" panose="02040503050406030204" pitchFamily="18" charset="0"/>
                    <a:ea typeface="Cambria Math" panose="02040503050406030204" pitchFamily="18" charset="0"/>
                  </a:rPr>
                  <a:t> * (1+r)</a:t>
                </a:r>
              </a:p>
              <a:p>
                <a:r>
                  <a:rPr lang="en-GB" b="1" dirty="0"/>
                  <a:t>Present Value of Annuity Due:</a:t>
                </a:r>
                <a:endParaRPr lang="en-IN" altLang="en-US" sz="2800" b="1" dirty="0"/>
              </a:p>
              <a:p>
                <a:r>
                  <a:rPr lang="en-GB" dirty="0"/>
                  <a:t>Formula:</a:t>
                </a:r>
              </a:p>
              <a:p>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𝐴</m:t>
                    </m:r>
                    <m:d>
                      <m:dPr>
                        <m:begChr m:val="["/>
                        <m:endChr m:val="]"/>
                        <m:ctrlPr>
                          <a:rPr lang="en-IN" i="1">
                            <a:latin typeface="Cambria Math" panose="02040503050406030204" pitchFamily="18" charset="0"/>
                          </a:rPr>
                        </m:ctrlPr>
                      </m:dPr>
                      <m:e>
                        <m:f>
                          <m:fPr>
                            <m:ctrlPr>
                              <a:rPr lang="en-IN" i="1">
                                <a:latin typeface="Cambria Math" panose="02040503050406030204" pitchFamily="18" charset="0"/>
                              </a:rPr>
                            </m:ctrlPr>
                          </m:fPr>
                          <m:num>
                            <m:r>
                              <a:rPr lang="en-US" i="1">
                                <a:latin typeface="Cambria Math" panose="02040503050406030204" pitchFamily="18" charset="0"/>
                              </a:rPr>
                              <m:t>1</m:t>
                            </m:r>
                          </m:num>
                          <m:den>
                            <m:r>
                              <a:rPr lang="en-GB" i="1">
                                <a:latin typeface="Cambria Math" panose="02040503050406030204" pitchFamily="18" charset="0"/>
                              </a:rPr>
                              <m:t>𝑟</m:t>
                            </m:r>
                          </m:den>
                        </m:f>
                        <m:r>
                          <a:rPr lang="en-US" i="1">
                            <a:latin typeface="Cambria Math" panose="02040503050406030204" pitchFamily="18" charset="0"/>
                          </a:rPr>
                          <m:t>− </m:t>
                        </m:r>
                        <m:f>
                          <m:fPr>
                            <m:ctrlPr>
                              <a:rPr lang="en-IN" i="1">
                                <a:latin typeface="Cambria Math" panose="02040503050406030204" pitchFamily="18" charset="0"/>
                              </a:rPr>
                            </m:ctrlPr>
                          </m:fPr>
                          <m:num>
                            <m:r>
                              <a:rPr lang="en-US" i="1">
                                <a:latin typeface="Cambria Math" panose="02040503050406030204" pitchFamily="18" charset="0"/>
                              </a:rPr>
                              <m:t>1</m:t>
                            </m:r>
                          </m:num>
                          <m:den>
                            <m:sSup>
                              <m:sSupPr>
                                <m:ctrlPr>
                                  <a:rPr lang="en-IN" i="1">
                                    <a:latin typeface="Cambria Math" panose="02040503050406030204" pitchFamily="18" charset="0"/>
                                  </a:rPr>
                                </m:ctrlPr>
                              </m:sSupPr>
                              <m:e>
                                <m:r>
                                  <a:rPr lang="en-GB" i="1">
                                    <a:latin typeface="Cambria Math" panose="02040503050406030204" pitchFamily="18" charset="0"/>
                                  </a:rPr>
                                  <m:t>𝑟</m:t>
                                </m:r>
                                <m:r>
                                  <a:rPr lang="en-US" i="1">
                                    <a:latin typeface="Cambria Math" panose="02040503050406030204" pitchFamily="18" charset="0"/>
                                  </a:rPr>
                                  <m:t>(1+</m:t>
                                </m:r>
                                <m:r>
                                  <a:rPr lang="en-GB" i="1">
                                    <a:latin typeface="Cambria Math" panose="02040503050406030204" pitchFamily="18" charset="0"/>
                                  </a:rPr>
                                  <m:t>𝑟</m:t>
                                </m:r>
                                <m:r>
                                  <a:rPr lang="en-US" i="1">
                                    <a:latin typeface="Cambria Math" panose="02040503050406030204" pitchFamily="18" charset="0"/>
                                  </a:rPr>
                                  <m:t>)</m:t>
                                </m:r>
                              </m:e>
                              <m:sup>
                                <m:r>
                                  <a:rPr lang="en-US" i="1">
                                    <a:latin typeface="Cambria Math" panose="02040503050406030204" pitchFamily="18" charset="0"/>
                                  </a:rPr>
                                  <m:t>𝑛</m:t>
                                </m:r>
                              </m:sup>
                            </m:sSup>
                          </m:den>
                        </m:f>
                      </m:e>
                    </m:d>
                  </m:oMath>
                </a14:m>
                <a:r>
                  <a:rPr lang="en-IN" dirty="0"/>
                  <a:t> * (1+r)</a:t>
                </a:r>
              </a:p>
              <a:p>
                <a:endParaRPr lang="en-IN" dirty="0"/>
              </a:p>
            </p:txBody>
          </p:sp>
        </mc:Choice>
        <mc:Fallback xmlns="">
          <p:sp>
            <p:nvSpPr>
              <p:cNvPr id="3" name="Content Placeholder 2">
                <a:extLst>
                  <a:ext uri="{FF2B5EF4-FFF2-40B4-BE49-F238E27FC236}">
                    <a16:creationId xmlns:a16="http://schemas.microsoft.com/office/drawing/2014/main" id="{1FCF8A9A-3DA7-C3B0-BA38-00EEB5C09826}"/>
                  </a:ext>
                </a:extLst>
              </p:cNvPr>
              <p:cNvSpPr>
                <a:spLocks noGrp="1" noRot="1" noChangeAspect="1" noMove="1" noResize="1" noEditPoints="1" noAdjustHandles="1" noChangeArrowheads="1" noChangeShapeType="1" noTextEdit="1"/>
              </p:cNvSpPr>
              <p:nvPr>
                <p:ph idx="1"/>
              </p:nvPr>
            </p:nvSpPr>
            <p:spPr>
              <a:blipFill>
                <a:blip r:embed="rId2"/>
                <a:stretch>
                  <a:fillRect l="-971"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170498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F8F5C-379C-A5DA-D202-16733F9FB9AF}"/>
              </a:ext>
            </a:extLst>
          </p:cNvPr>
          <p:cNvSpPr>
            <a:spLocks noGrp="1"/>
          </p:cNvSpPr>
          <p:nvPr>
            <p:ph type="title"/>
          </p:nvPr>
        </p:nvSpPr>
        <p:spPr/>
        <p:txBody>
          <a:bodyPr/>
          <a:lstStyle/>
          <a:p>
            <a:r>
              <a:rPr lang="en-IN" altLang="en-US" dirty="0"/>
              <a:t>Question.09</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EF3238-ACF2-CCE7-7A6B-ABD3B1776117}"/>
                  </a:ext>
                </a:extLst>
              </p:cNvPr>
              <p:cNvSpPr>
                <a:spLocks noGrp="1"/>
              </p:cNvSpPr>
              <p:nvPr>
                <p:ph idx="1"/>
              </p:nvPr>
            </p:nvSpPr>
            <p:spPr/>
            <p:txBody>
              <a:bodyPr/>
              <a:lstStyle/>
              <a:p>
                <a:pPr marL="0" indent="0" algn="l">
                  <a:buNone/>
                </a:pPr>
                <a:r>
                  <a:rPr lang="en-GB" dirty="0"/>
                  <a:t>Rahul deposits Rs. 25,000 at the beginning of each year for 5 years, Calculate future value of annuity due if rate of interest is 5%.</a:t>
                </a:r>
              </a:p>
              <a:p>
                <a:pPr marL="0" indent="0" algn="l">
                  <a:lnSpc>
                    <a:spcPct val="100000"/>
                  </a:lnSpc>
                  <a:buNone/>
                </a:pPr>
                <a:r>
                  <a:rPr lang="en-GB" dirty="0"/>
                  <a:t/>
                </a:r>
                <a:br>
                  <a:rPr lang="en-GB" dirty="0"/>
                </a:br>
                <a14:m>
                  <m:oMathPara xmlns:m="http://schemas.openxmlformats.org/officeDocument/2006/math">
                    <m:oMathParaPr>
                      <m:jc m:val="left"/>
                    </m:oMathParaPr>
                    <m:oMath xmlns:m="http://schemas.openxmlformats.org/officeDocument/2006/math">
                      <m:r>
                        <a:rPr lang="en-IN" sz="2700" i="1">
                          <a:latin typeface="Cambria Math" panose="02040503050406030204" pitchFamily="18" charset="0"/>
                          <a:ea typeface="Cambria Math" panose="02040503050406030204" pitchFamily="18" charset="0"/>
                        </a:rPr>
                        <m:t>𝐹</m:t>
                      </m:r>
                      <m:r>
                        <a:rPr lang="en-IN" sz="2700" i="1">
                          <a:latin typeface="Cambria Math" panose="02040503050406030204" pitchFamily="18" charset="0"/>
                          <a:ea typeface="Cambria Math" panose="02040503050406030204" pitchFamily="18" charset="0"/>
                        </a:rPr>
                        <m:t>=</m:t>
                      </m:r>
                      <m:r>
                        <a:rPr lang="en-IN" sz="2700" i="1">
                          <a:latin typeface="Cambria Math" panose="02040503050406030204" pitchFamily="18" charset="0"/>
                          <a:ea typeface="Cambria Math" panose="02040503050406030204" pitchFamily="18" charset="0"/>
                        </a:rPr>
                        <m:t>𝐴</m:t>
                      </m:r>
                      <m:d>
                        <m:dPr>
                          <m:begChr m:val="["/>
                          <m:endChr m:val="]"/>
                          <m:ctrlPr>
                            <a:rPr lang="en-IN" sz="2700" i="1">
                              <a:latin typeface="Cambria Math" panose="02040503050406030204" pitchFamily="18" charset="0"/>
                              <a:ea typeface="Cambria Math" panose="02040503050406030204" pitchFamily="18" charset="0"/>
                            </a:rPr>
                          </m:ctrlPr>
                        </m:dPr>
                        <m:e>
                          <m:f>
                            <m:fPr>
                              <m:ctrlPr>
                                <a:rPr lang="en-IN" sz="2700" i="1">
                                  <a:latin typeface="Cambria Math" panose="02040503050406030204" pitchFamily="18" charset="0"/>
                                  <a:ea typeface="Cambria Math" panose="02040503050406030204" pitchFamily="18" charset="0"/>
                                </a:rPr>
                              </m:ctrlPr>
                            </m:fPr>
                            <m:num>
                              <m:sSup>
                                <m:sSupPr>
                                  <m:ctrlPr>
                                    <a:rPr lang="en-IN" sz="2700" i="1">
                                      <a:latin typeface="Cambria Math" panose="02040503050406030204" pitchFamily="18" charset="0"/>
                                      <a:ea typeface="Cambria Math" panose="02040503050406030204" pitchFamily="18" charset="0"/>
                                    </a:rPr>
                                  </m:ctrlPr>
                                </m:sSupPr>
                                <m:e>
                                  <m:r>
                                    <a:rPr lang="en-IN" sz="2700" i="1">
                                      <a:latin typeface="Cambria Math" panose="02040503050406030204" pitchFamily="18" charset="0"/>
                                      <a:ea typeface="Cambria Math" panose="02040503050406030204" pitchFamily="18" charset="0"/>
                                    </a:rPr>
                                    <m:t>(1+</m:t>
                                  </m:r>
                                  <m:r>
                                    <a:rPr lang="en-GB" sz="2700" i="1">
                                      <a:latin typeface="Cambria Math" panose="02040503050406030204" pitchFamily="18" charset="0"/>
                                      <a:ea typeface="Cambria Math" panose="02040503050406030204" pitchFamily="18" charset="0"/>
                                    </a:rPr>
                                    <m:t>𝑟</m:t>
                                  </m:r>
                                  <m:r>
                                    <a:rPr lang="en-IN" sz="2700" i="1">
                                      <a:latin typeface="Cambria Math" panose="02040503050406030204" pitchFamily="18" charset="0"/>
                                      <a:ea typeface="Cambria Math" panose="02040503050406030204" pitchFamily="18" charset="0"/>
                                    </a:rPr>
                                    <m:t>)</m:t>
                                  </m:r>
                                </m:e>
                                <m:sup>
                                  <m:r>
                                    <a:rPr lang="en-IN" sz="2700" i="1">
                                      <a:latin typeface="Cambria Math" panose="02040503050406030204" pitchFamily="18" charset="0"/>
                                      <a:ea typeface="Cambria Math" panose="02040503050406030204" pitchFamily="18" charset="0"/>
                                    </a:rPr>
                                    <m:t>𝑛</m:t>
                                  </m:r>
                                </m:sup>
                              </m:sSup>
                              <m:r>
                                <a:rPr lang="en-IN" sz="2700" i="1">
                                  <a:latin typeface="Cambria Math" panose="02040503050406030204" pitchFamily="18" charset="0"/>
                                  <a:ea typeface="Cambria Math" panose="02040503050406030204" pitchFamily="18" charset="0"/>
                                </a:rPr>
                                <m:t> −1</m:t>
                              </m:r>
                            </m:num>
                            <m:den>
                              <m:r>
                                <a:rPr lang="en-GB" sz="2700" i="1">
                                  <a:latin typeface="Cambria Math" panose="02040503050406030204" pitchFamily="18" charset="0"/>
                                  <a:ea typeface="Cambria Math" panose="02040503050406030204" pitchFamily="18" charset="0"/>
                                </a:rPr>
                                <m:t>𝑟</m:t>
                              </m:r>
                            </m:den>
                          </m:f>
                        </m:e>
                      </m:d>
                      <m:r>
                        <m:rPr>
                          <m:nor/>
                        </m:rPr>
                        <a:rPr lang="en-GB" sz="2700" dirty="0">
                          <a:solidFill>
                            <a:srgbClr val="001D35"/>
                          </a:solidFill>
                          <a:latin typeface="Cambria Math" panose="02040503050406030204" pitchFamily="18" charset="0"/>
                          <a:ea typeface="Cambria Math" panose="02040503050406030204" pitchFamily="18" charset="0"/>
                        </a:rPr>
                        <m:t> ∗ (1+</m:t>
                      </m:r>
                      <m:r>
                        <m:rPr>
                          <m:nor/>
                        </m:rPr>
                        <a:rPr lang="en-GB" sz="2700" dirty="0">
                          <a:solidFill>
                            <a:srgbClr val="001D35"/>
                          </a:solidFill>
                          <a:latin typeface="Cambria Math" panose="02040503050406030204" pitchFamily="18" charset="0"/>
                          <a:ea typeface="Cambria Math" panose="02040503050406030204" pitchFamily="18" charset="0"/>
                        </a:rPr>
                        <m:t>r</m:t>
                      </m:r>
                      <m:r>
                        <m:rPr>
                          <m:nor/>
                        </m:rPr>
                        <a:rPr lang="en-GB" sz="2700" dirty="0">
                          <a:solidFill>
                            <a:srgbClr val="001D35"/>
                          </a:solidFill>
                          <a:latin typeface="Cambria Math" panose="02040503050406030204" pitchFamily="18" charset="0"/>
                          <a:ea typeface="Cambria Math" panose="02040503050406030204" pitchFamily="18" charset="0"/>
                        </a:rPr>
                        <m:t>)</m:t>
                      </m:r>
                    </m:oMath>
                  </m:oMathPara>
                </a14:m>
                <a:endParaRPr lang="en-GB" sz="2700" dirty="0">
                  <a:solidFill>
                    <a:srgbClr val="001D35"/>
                  </a:solidFill>
                  <a:latin typeface="Cambria Math" panose="02040503050406030204" pitchFamily="18" charset="0"/>
                  <a:ea typeface="Cambria Math" panose="02040503050406030204" pitchFamily="18" charset="0"/>
                </a:endParaRPr>
              </a:p>
              <a:p>
                <a:pPr marL="0" indent="0" algn="l">
                  <a:lnSpc>
                    <a:spcPct val="100000"/>
                  </a:lnSpc>
                  <a:buNone/>
                </a:pPr>
                <a14:m>
                  <m:oMathPara xmlns:m="http://schemas.openxmlformats.org/officeDocument/2006/math">
                    <m:oMathParaPr>
                      <m:jc m:val="left"/>
                    </m:oMathParaPr>
                    <m:oMath xmlns:m="http://schemas.openxmlformats.org/officeDocument/2006/math">
                      <m:r>
                        <a:rPr lang="en-IN" sz="2700" i="1" smtClean="0">
                          <a:latin typeface="Cambria Math" panose="02040503050406030204" pitchFamily="18" charset="0"/>
                          <a:ea typeface="Cambria Math" panose="02040503050406030204" pitchFamily="18" charset="0"/>
                        </a:rPr>
                        <m:t>𝐹</m:t>
                      </m:r>
                      <m:r>
                        <a:rPr lang="en-IN" sz="2700" i="1" smtClean="0">
                          <a:latin typeface="Cambria Math" panose="02040503050406030204" pitchFamily="18" charset="0"/>
                          <a:ea typeface="Cambria Math" panose="02040503050406030204" pitchFamily="18" charset="0"/>
                        </a:rPr>
                        <m:t>=25,000</m:t>
                      </m:r>
                      <m:d>
                        <m:dPr>
                          <m:begChr m:val="["/>
                          <m:endChr m:val="]"/>
                          <m:ctrlPr>
                            <a:rPr lang="en-IN" sz="2700" i="1">
                              <a:latin typeface="Cambria Math" panose="02040503050406030204" pitchFamily="18" charset="0"/>
                              <a:ea typeface="Cambria Math" panose="02040503050406030204" pitchFamily="18" charset="0"/>
                            </a:rPr>
                          </m:ctrlPr>
                        </m:dPr>
                        <m:e>
                          <m:f>
                            <m:fPr>
                              <m:ctrlPr>
                                <a:rPr lang="en-IN" sz="2700" i="1">
                                  <a:latin typeface="Cambria Math" panose="02040503050406030204" pitchFamily="18" charset="0"/>
                                  <a:ea typeface="Cambria Math" panose="02040503050406030204" pitchFamily="18" charset="0"/>
                                </a:rPr>
                              </m:ctrlPr>
                            </m:fPr>
                            <m:num>
                              <m:sSup>
                                <m:sSupPr>
                                  <m:ctrlPr>
                                    <a:rPr lang="en-IN" sz="2700" i="1">
                                      <a:latin typeface="Cambria Math" panose="02040503050406030204" pitchFamily="18" charset="0"/>
                                      <a:ea typeface="Cambria Math" panose="02040503050406030204" pitchFamily="18" charset="0"/>
                                    </a:rPr>
                                  </m:ctrlPr>
                                </m:sSupPr>
                                <m:e>
                                  <m:r>
                                    <a:rPr lang="en-IN" sz="2700" i="1">
                                      <a:latin typeface="Cambria Math" panose="02040503050406030204" pitchFamily="18" charset="0"/>
                                      <a:ea typeface="Cambria Math" panose="02040503050406030204" pitchFamily="18" charset="0"/>
                                    </a:rPr>
                                    <m:t>(1</m:t>
                                  </m:r>
                                  <m:r>
                                    <a:rPr lang="en-IN" sz="2700" i="1" smtClean="0">
                                      <a:latin typeface="Cambria Math" panose="02040503050406030204" pitchFamily="18" charset="0"/>
                                      <a:ea typeface="Cambria Math" panose="02040503050406030204" pitchFamily="18" charset="0"/>
                                    </a:rPr>
                                    <m:t>+</m:t>
                                  </m:r>
                                  <m:r>
                                    <a:rPr lang="en-GB" sz="2700" b="0" i="1" smtClean="0">
                                      <a:latin typeface="Cambria Math" panose="02040503050406030204" pitchFamily="18" charset="0"/>
                                      <a:ea typeface="Cambria Math" panose="02040503050406030204" pitchFamily="18" charset="0"/>
                                    </a:rPr>
                                    <m:t>0.05</m:t>
                                  </m:r>
                                  <m:r>
                                    <a:rPr lang="en-IN" sz="2700" i="1">
                                      <a:latin typeface="Cambria Math" panose="02040503050406030204" pitchFamily="18" charset="0"/>
                                      <a:ea typeface="Cambria Math" panose="02040503050406030204" pitchFamily="18" charset="0"/>
                                    </a:rPr>
                                    <m:t>)</m:t>
                                  </m:r>
                                </m:e>
                                <m:sup>
                                  <m:r>
                                    <a:rPr lang="en-GB" sz="2700" b="0" i="1" smtClean="0">
                                      <a:latin typeface="Cambria Math" panose="02040503050406030204" pitchFamily="18" charset="0"/>
                                      <a:ea typeface="Cambria Math" panose="02040503050406030204" pitchFamily="18" charset="0"/>
                                    </a:rPr>
                                    <m:t>5</m:t>
                                  </m:r>
                                </m:sup>
                              </m:sSup>
                              <m:r>
                                <a:rPr lang="en-IN" sz="2700" i="1">
                                  <a:latin typeface="Cambria Math" panose="02040503050406030204" pitchFamily="18" charset="0"/>
                                  <a:ea typeface="Cambria Math" panose="02040503050406030204" pitchFamily="18" charset="0"/>
                                </a:rPr>
                                <m:t> −1</m:t>
                              </m:r>
                            </m:num>
                            <m:den>
                              <m:r>
                                <a:rPr lang="en-GB" sz="2700" b="0" i="1" smtClean="0">
                                  <a:latin typeface="Cambria Math" panose="02040503050406030204" pitchFamily="18" charset="0"/>
                                  <a:ea typeface="Cambria Math" panose="02040503050406030204" pitchFamily="18" charset="0"/>
                                </a:rPr>
                                <m:t>0.05</m:t>
                              </m:r>
                            </m:den>
                          </m:f>
                        </m:e>
                      </m:d>
                      <m:r>
                        <m:rPr>
                          <m:nor/>
                        </m:rPr>
                        <a:rPr lang="en-GB" sz="2700" dirty="0">
                          <a:solidFill>
                            <a:srgbClr val="001D35"/>
                          </a:solidFill>
                          <a:latin typeface="Cambria Math" panose="02040503050406030204" pitchFamily="18" charset="0"/>
                          <a:ea typeface="Cambria Math" panose="02040503050406030204" pitchFamily="18" charset="0"/>
                        </a:rPr>
                        <m:t> ∗ (1+</m:t>
                      </m:r>
                      <m:r>
                        <m:rPr>
                          <m:nor/>
                        </m:rPr>
                        <a:rPr lang="en-GB" sz="2700" b="0" i="0" dirty="0" smtClean="0">
                          <a:solidFill>
                            <a:srgbClr val="001D35"/>
                          </a:solidFill>
                          <a:latin typeface="Cambria Math" panose="02040503050406030204" pitchFamily="18" charset="0"/>
                          <a:ea typeface="Cambria Math" panose="02040503050406030204" pitchFamily="18" charset="0"/>
                        </a:rPr>
                        <m:t>0.05</m:t>
                      </m:r>
                      <m:r>
                        <m:rPr>
                          <m:nor/>
                        </m:rPr>
                        <a:rPr lang="en-GB" sz="2700" dirty="0">
                          <a:solidFill>
                            <a:srgbClr val="001D35"/>
                          </a:solidFill>
                          <a:latin typeface="Cambria Math" panose="02040503050406030204" pitchFamily="18" charset="0"/>
                          <a:ea typeface="Cambria Math" panose="02040503050406030204" pitchFamily="18" charset="0"/>
                        </a:rPr>
                        <m:t>)</m:t>
                      </m:r>
                    </m:oMath>
                  </m:oMathPara>
                </a14:m>
                <a:endParaRPr lang="en-GB" sz="2700" dirty="0">
                  <a:solidFill>
                    <a:srgbClr val="001D35"/>
                  </a:solidFill>
                  <a:latin typeface="Cambria Math" panose="02040503050406030204" pitchFamily="18" charset="0"/>
                  <a:ea typeface="Cambria Math" panose="02040503050406030204" pitchFamily="18" charset="0"/>
                </a:endParaRPr>
              </a:p>
              <a:p>
                <a:pPr marL="0" indent="0" algn="l">
                  <a:lnSpc>
                    <a:spcPct val="100000"/>
                  </a:lnSpc>
                  <a:buNone/>
                </a:pPr>
                <a14:m>
                  <m:oMathPara xmlns:m="http://schemas.openxmlformats.org/officeDocument/2006/math">
                    <m:oMathParaPr>
                      <m:jc m:val="left"/>
                    </m:oMathParaPr>
                    <m:oMath xmlns:m="http://schemas.openxmlformats.org/officeDocument/2006/math">
                      <m:r>
                        <a:rPr lang="en-IN" sz="2700" i="1" smtClean="0">
                          <a:latin typeface="Cambria Math" panose="02040503050406030204" pitchFamily="18" charset="0"/>
                          <a:ea typeface="Cambria Math" panose="02040503050406030204" pitchFamily="18" charset="0"/>
                        </a:rPr>
                        <m:t>𝐹</m:t>
                      </m:r>
                      <m:r>
                        <a:rPr lang="en-IN" sz="2700" i="1" smtClean="0">
                          <a:latin typeface="Cambria Math" panose="02040503050406030204" pitchFamily="18" charset="0"/>
                          <a:ea typeface="Cambria Math" panose="02040503050406030204" pitchFamily="18" charset="0"/>
                        </a:rPr>
                        <m:t>=25,000</m:t>
                      </m:r>
                      <m:d>
                        <m:dPr>
                          <m:begChr m:val="["/>
                          <m:endChr m:val="]"/>
                          <m:ctrlPr>
                            <a:rPr lang="en-IN" sz="2700" i="1">
                              <a:latin typeface="Cambria Math" panose="02040503050406030204" pitchFamily="18" charset="0"/>
                              <a:ea typeface="Cambria Math" panose="02040503050406030204" pitchFamily="18" charset="0"/>
                            </a:rPr>
                          </m:ctrlPr>
                        </m:dPr>
                        <m:e>
                          <m:f>
                            <m:fPr>
                              <m:ctrlPr>
                                <a:rPr lang="en-IN" sz="2700" i="1">
                                  <a:latin typeface="Cambria Math" panose="02040503050406030204" pitchFamily="18" charset="0"/>
                                  <a:ea typeface="Cambria Math" panose="02040503050406030204" pitchFamily="18" charset="0"/>
                                </a:rPr>
                              </m:ctrlPr>
                            </m:fPr>
                            <m:num>
                              <m:r>
                                <a:rPr lang="en-GB" sz="2700" b="0" i="1" smtClean="0">
                                  <a:latin typeface="Cambria Math" panose="02040503050406030204" pitchFamily="18" charset="0"/>
                                  <a:ea typeface="Cambria Math" panose="02040503050406030204" pitchFamily="18" charset="0"/>
                                </a:rPr>
                                <m:t>1.276</m:t>
                              </m:r>
                              <m:r>
                                <a:rPr lang="en-IN" sz="2700" i="1">
                                  <a:latin typeface="Cambria Math" panose="02040503050406030204" pitchFamily="18" charset="0"/>
                                  <a:ea typeface="Cambria Math" panose="02040503050406030204" pitchFamily="18" charset="0"/>
                                </a:rPr>
                                <m:t> −1</m:t>
                              </m:r>
                            </m:num>
                            <m:den>
                              <m:r>
                                <a:rPr lang="en-GB" sz="2700" b="0" i="1" smtClean="0">
                                  <a:latin typeface="Cambria Math" panose="02040503050406030204" pitchFamily="18" charset="0"/>
                                  <a:ea typeface="Cambria Math" panose="02040503050406030204" pitchFamily="18" charset="0"/>
                                </a:rPr>
                                <m:t>0.05</m:t>
                              </m:r>
                            </m:den>
                          </m:f>
                        </m:e>
                      </m:d>
                      <m:r>
                        <m:rPr>
                          <m:nor/>
                        </m:rPr>
                        <a:rPr lang="en-GB" sz="2700" dirty="0">
                          <a:solidFill>
                            <a:srgbClr val="001D35"/>
                          </a:solidFill>
                          <a:latin typeface="Cambria Math" panose="02040503050406030204" pitchFamily="18" charset="0"/>
                          <a:ea typeface="Cambria Math" panose="02040503050406030204" pitchFamily="18" charset="0"/>
                        </a:rPr>
                        <m:t> ∗ (1</m:t>
                      </m:r>
                      <m:r>
                        <m:rPr>
                          <m:nor/>
                        </m:rPr>
                        <a:rPr lang="en-GB" sz="2700" b="0" i="0" dirty="0" smtClean="0">
                          <a:solidFill>
                            <a:srgbClr val="001D35"/>
                          </a:solidFill>
                          <a:latin typeface="Cambria Math" panose="02040503050406030204" pitchFamily="18" charset="0"/>
                          <a:ea typeface="Cambria Math" panose="02040503050406030204" pitchFamily="18" charset="0"/>
                        </a:rPr>
                        <m:t>.05</m:t>
                      </m:r>
                      <m:r>
                        <m:rPr>
                          <m:nor/>
                        </m:rPr>
                        <a:rPr lang="en-GB" sz="2700" dirty="0">
                          <a:solidFill>
                            <a:srgbClr val="001D35"/>
                          </a:solidFill>
                          <a:latin typeface="Cambria Math" panose="02040503050406030204" pitchFamily="18" charset="0"/>
                          <a:ea typeface="Cambria Math" panose="02040503050406030204" pitchFamily="18" charset="0"/>
                        </a:rPr>
                        <m:t>)</m:t>
                      </m:r>
                    </m:oMath>
                  </m:oMathPara>
                </a14:m>
                <a:endParaRPr lang="en-GB" sz="2700" dirty="0">
                  <a:solidFill>
                    <a:srgbClr val="001D35"/>
                  </a:solidFill>
                  <a:latin typeface="Cambria Math" panose="02040503050406030204" pitchFamily="18" charset="0"/>
                  <a:ea typeface="Cambria Math" panose="02040503050406030204" pitchFamily="18" charset="0"/>
                </a:endParaRPr>
              </a:p>
              <a:p>
                <a:pPr marL="0" indent="0" algn="l">
                  <a:lnSpc>
                    <a:spcPct val="100000"/>
                  </a:lnSpc>
                  <a:buNone/>
                </a:pPr>
                <a14:m>
                  <m:oMathPara xmlns:m="http://schemas.openxmlformats.org/officeDocument/2006/math">
                    <m:oMathParaPr>
                      <m:jc m:val="left"/>
                    </m:oMathParaPr>
                    <m:oMath xmlns:m="http://schemas.openxmlformats.org/officeDocument/2006/math">
                      <m:r>
                        <a:rPr lang="en-IN" sz="2700" i="1" smtClean="0">
                          <a:latin typeface="Cambria Math" panose="02040503050406030204" pitchFamily="18" charset="0"/>
                          <a:ea typeface="Cambria Math" panose="02040503050406030204" pitchFamily="18" charset="0"/>
                        </a:rPr>
                        <m:t>𝐹</m:t>
                      </m:r>
                      <m:r>
                        <a:rPr lang="en-IN" sz="2700" i="1" smtClean="0">
                          <a:latin typeface="Cambria Math" panose="02040503050406030204" pitchFamily="18" charset="0"/>
                          <a:ea typeface="Cambria Math" panose="02040503050406030204" pitchFamily="18" charset="0"/>
                        </a:rPr>
                        <m:t>=25,000</m:t>
                      </m:r>
                      <m:d>
                        <m:dPr>
                          <m:begChr m:val="["/>
                          <m:endChr m:val="]"/>
                          <m:ctrlPr>
                            <a:rPr lang="en-IN" sz="2700" i="1">
                              <a:latin typeface="Cambria Math" panose="02040503050406030204" pitchFamily="18" charset="0"/>
                              <a:ea typeface="Cambria Math" panose="02040503050406030204" pitchFamily="18" charset="0"/>
                            </a:rPr>
                          </m:ctrlPr>
                        </m:dPr>
                        <m:e>
                          <m:f>
                            <m:fPr>
                              <m:ctrlPr>
                                <a:rPr lang="en-IN" sz="2700" i="1">
                                  <a:latin typeface="Cambria Math" panose="02040503050406030204" pitchFamily="18" charset="0"/>
                                  <a:ea typeface="Cambria Math" panose="02040503050406030204" pitchFamily="18" charset="0"/>
                                </a:rPr>
                              </m:ctrlPr>
                            </m:fPr>
                            <m:num>
                              <m:r>
                                <a:rPr lang="en-GB" sz="2700" b="0" i="1" smtClean="0">
                                  <a:latin typeface="Cambria Math" panose="02040503050406030204" pitchFamily="18" charset="0"/>
                                  <a:ea typeface="Cambria Math" panose="02040503050406030204" pitchFamily="18" charset="0"/>
                                </a:rPr>
                                <m:t>0.276</m:t>
                              </m:r>
                              <m:r>
                                <a:rPr lang="en-IN" sz="2700" i="1">
                                  <a:latin typeface="Cambria Math" panose="02040503050406030204" pitchFamily="18" charset="0"/>
                                  <a:ea typeface="Cambria Math" panose="02040503050406030204" pitchFamily="18" charset="0"/>
                                </a:rPr>
                                <m:t> </m:t>
                              </m:r>
                            </m:num>
                            <m:den>
                              <m:r>
                                <a:rPr lang="en-GB" sz="2700" b="0" i="1" smtClean="0">
                                  <a:latin typeface="Cambria Math" panose="02040503050406030204" pitchFamily="18" charset="0"/>
                                  <a:ea typeface="Cambria Math" panose="02040503050406030204" pitchFamily="18" charset="0"/>
                                </a:rPr>
                                <m:t>0.05</m:t>
                              </m:r>
                            </m:den>
                          </m:f>
                        </m:e>
                      </m:d>
                      <m:r>
                        <m:rPr>
                          <m:nor/>
                        </m:rPr>
                        <a:rPr lang="en-GB" sz="2700" dirty="0">
                          <a:solidFill>
                            <a:srgbClr val="001D35"/>
                          </a:solidFill>
                          <a:latin typeface="Cambria Math" panose="02040503050406030204" pitchFamily="18" charset="0"/>
                          <a:ea typeface="Cambria Math" panose="02040503050406030204" pitchFamily="18" charset="0"/>
                        </a:rPr>
                        <m:t> ∗ (1</m:t>
                      </m:r>
                      <m:r>
                        <m:rPr>
                          <m:nor/>
                        </m:rPr>
                        <a:rPr lang="en-GB" sz="2700" b="0" i="0" dirty="0" smtClean="0">
                          <a:solidFill>
                            <a:srgbClr val="001D35"/>
                          </a:solidFill>
                          <a:latin typeface="Cambria Math" panose="02040503050406030204" pitchFamily="18" charset="0"/>
                          <a:ea typeface="Cambria Math" panose="02040503050406030204" pitchFamily="18" charset="0"/>
                        </a:rPr>
                        <m:t>.05</m:t>
                      </m:r>
                      <m:r>
                        <m:rPr>
                          <m:nor/>
                        </m:rPr>
                        <a:rPr lang="en-GB" sz="2700" dirty="0">
                          <a:solidFill>
                            <a:srgbClr val="001D35"/>
                          </a:solidFill>
                          <a:latin typeface="Cambria Math" panose="02040503050406030204" pitchFamily="18" charset="0"/>
                          <a:ea typeface="Cambria Math" panose="02040503050406030204" pitchFamily="18" charset="0"/>
                        </a:rPr>
                        <m:t>)</m:t>
                      </m:r>
                    </m:oMath>
                  </m:oMathPara>
                </a14:m>
                <a:endParaRPr lang="en-GB" sz="2700" dirty="0">
                  <a:solidFill>
                    <a:srgbClr val="001D35"/>
                  </a:solidFill>
                  <a:latin typeface="Cambria Math" panose="02040503050406030204" pitchFamily="18" charset="0"/>
                  <a:ea typeface="Cambria Math" panose="02040503050406030204" pitchFamily="18" charset="0"/>
                </a:endParaRPr>
              </a:p>
              <a:p>
                <a:pPr marL="0" indent="0" algn="l">
                  <a:lnSpc>
                    <a:spcPct val="100000"/>
                  </a:lnSpc>
                  <a:buNone/>
                </a:pPr>
                <a14:m>
                  <m:oMathPara xmlns:m="http://schemas.openxmlformats.org/officeDocument/2006/math">
                    <m:oMathParaPr>
                      <m:jc m:val="left"/>
                    </m:oMathParaPr>
                    <m:oMath xmlns:m="http://schemas.openxmlformats.org/officeDocument/2006/math">
                      <m:r>
                        <a:rPr lang="en-IN" sz="2700">
                          <a:solidFill>
                            <a:srgbClr val="001D35"/>
                          </a:solidFill>
                          <a:latin typeface="Cambria Math" panose="02040503050406030204" pitchFamily="18" charset="0"/>
                          <a:ea typeface="Cambria Math" panose="02040503050406030204" pitchFamily="18" charset="0"/>
                        </a:rPr>
                        <m:t>𝐹</m:t>
                      </m:r>
                      <m:r>
                        <a:rPr lang="en-IN" sz="2700">
                          <a:solidFill>
                            <a:srgbClr val="001D35"/>
                          </a:solidFill>
                          <a:latin typeface="Cambria Math" panose="02040503050406030204" pitchFamily="18" charset="0"/>
                          <a:ea typeface="Cambria Math" panose="02040503050406030204" pitchFamily="18" charset="0"/>
                        </a:rPr>
                        <m:t>=25,000</m:t>
                      </m:r>
                      <m:r>
                        <m:rPr>
                          <m:nor/>
                        </m:rPr>
                        <a:rPr lang="en-GB" sz="2700">
                          <a:solidFill>
                            <a:srgbClr val="001D35"/>
                          </a:solidFill>
                          <a:latin typeface="Cambria Math" panose="02040503050406030204" pitchFamily="18" charset="0"/>
                          <a:ea typeface="Cambria Math" panose="02040503050406030204" pitchFamily="18" charset="0"/>
                        </a:rPr>
                        <m:t> ∗ 5.52</m:t>
                      </m:r>
                      <m:r>
                        <m:rPr>
                          <m:nor/>
                        </m:rPr>
                        <a:rPr lang="en-GB" sz="2700" b="0" i="0" smtClean="0">
                          <a:solidFill>
                            <a:srgbClr val="001D35"/>
                          </a:solidFill>
                          <a:latin typeface="Cambria Math" panose="02040503050406030204" pitchFamily="18" charset="0"/>
                          <a:ea typeface="Cambria Math" panose="02040503050406030204" pitchFamily="18" charset="0"/>
                        </a:rPr>
                        <m:t> ∗ </m:t>
                      </m:r>
                      <m:r>
                        <m:rPr>
                          <m:nor/>
                        </m:rPr>
                        <a:rPr lang="en-GB" sz="2700" dirty="0">
                          <a:solidFill>
                            <a:srgbClr val="001D35"/>
                          </a:solidFill>
                          <a:latin typeface="Cambria Math" panose="02040503050406030204" pitchFamily="18" charset="0"/>
                          <a:ea typeface="Cambria Math" panose="02040503050406030204" pitchFamily="18" charset="0"/>
                        </a:rPr>
                        <m:t>(1.05)</m:t>
                      </m:r>
                    </m:oMath>
                  </m:oMathPara>
                </a14:m>
                <a:endParaRPr lang="en-GB" sz="2700" dirty="0">
                  <a:solidFill>
                    <a:srgbClr val="001D35"/>
                  </a:solidFill>
                  <a:latin typeface="Cambria Math" panose="02040503050406030204" pitchFamily="18" charset="0"/>
                  <a:ea typeface="Cambria Math" panose="02040503050406030204" pitchFamily="18" charset="0"/>
                </a:endParaRPr>
              </a:p>
              <a:p>
                <a:pPr marL="0" indent="0" algn="l">
                  <a:lnSpc>
                    <a:spcPct val="100000"/>
                  </a:lnSpc>
                  <a:buNone/>
                </a:pPr>
                <a14:m>
                  <m:oMathPara xmlns:m="http://schemas.openxmlformats.org/officeDocument/2006/math">
                    <m:oMathParaPr>
                      <m:jc m:val="left"/>
                    </m:oMathParaPr>
                    <m:oMath xmlns:m="http://schemas.openxmlformats.org/officeDocument/2006/math">
                      <m:r>
                        <a:rPr lang="en-IN" sz="2700" b="1" i="1" smtClean="0">
                          <a:solidFill>
                            <a:srgbClr val="C00000"/>
                          </a:solidFill>
                          <a:latin typeface="Cambria Math" panose="02040503050406030204" pitchFamily="18" charset="0"/>
                          <a:ea typeface="Cambria Math" panose="02040503050406030204" pitchFamily="18" charset="0"/>
                        </a:rPr>
                        <m:t>𝐅</m:t>
                      </m:r>
                      <m:r>
                        <a:rPr lang="en-IN" sz="2700" b="1" smtClean="0">
                          <a:solidFill>
                            <a:srgbClr val="C00000"/>
                          </a:solidFill>
                          <a:latin typeface="Cambria Math" panose="02040503050406030204" pitchFamily="18" charset="0"/>
                          <a:ea typeface="Cambria Math" panose="02040503050406030204" pitchFamily="18" charset="0"/>
                        </a:rPr>
                        <m:t>=</m:t>
                      </m:r>
                      <m:r>
                        <a:rPr lang="en-IN" sz="2700" b="1" i="1" smtClean="0">
                          <a:solidFill>
                            <a:srgbClr val="C00000"/>
                          </a:solidFill>
                          <a:latin typeface="Cambria Math" panose="02040503050406030204" pitchFamily="18" charset="0"/>
                          <a:ea typeface="Cambria Math" panose="02040503050406030204" pitchFamily="18" charset="0"/>
                        </a:rPr>
                        <m:t>𝟏</m:t>
                      </m:r>
                      <m:r>
                        <a:rPr lang="en-IN" sz="2700" b="1" smtClean="0">
                          <a:solidFill>
                            <a:srgbClr val="C00000"/>
                          </a:solidFill>
                          <a:latin typeface="Cambria Math" panose="02040503050406030204" pitchFamily="18" charset="0"/>
                          <a:ea typeface="Cambria Math" panose="02040503050406030204" pitchFamily="18" charset="0"/>
                        </a:rPr>
                        <m:t>,</m:t>
                      </m:r>
                      <m:r>
                        <a:rPr lang="en-IN" sz="2700" b="1" i="1" smtClean="0">
                          <a:solidFill>
                            <a:srgbClr val="C00000"/>
                          </a:solidFill>
                          <a:latin typeface="Cambria Math" panose="02040503050406030204" pitchFamily="18" charset="0"/>
                          <a:ea typeface="Cambria Math" panose="02040503050406030204" pitchFamily="18" charset="0"/>
                        </a:rPr>
                        <m:t>𝟒𝟒</m:t>
                      </m:r>
                      <m:r>
                        <a:rPr lang="en-IN" sz="2700" b="1" smtClean="0">
                          <a:solidFill>
                            <a:srgbClr val="C00000"/>
                          </a:solidFill>
                          <a:latin typeface="Cambria Math" panose="02040503050406030204" pitchFamily="18" charset="0"/>
                          <a:ea typeface="Cambria Math" panose="02040503050406030204" pitchFamily="18" charset="0"/>
                        </a:rPr>
                        <m:t>,</m:t>
                      </m:r>
                      <m:r>
                        <a:rPr lang="en-IN" sz="2700" b="1" i="1" smtClean="0">
                          <a:solidFill>
                            <a:srgbClr val="C00000"/>
                          </a:solidFill>
                          <a:latin typeface="Cambria Math" panose="02040503050406030204" pitchFamily="18" charset="0"/>
                          <a:ea typeface="Cambria Math" panose="02040503050406030204" pitchFamily="18" charset="0"/>
                        </a:rPr>
                        <m:t>𝟗𝟎𝟎</m:t>
                      </m:r>
                    </m:oMath>
                  </m:oMathPara>
                </a14:m>
                <a:endParaRPr lang="en-GB" sz="2700" b="1" dirty="0">
                  <a:solidFill>
                    <a:srgbClr val="C00000"/>
                  </a:solidFill>
                  <a:latin typeface="Cambria Math" panose="02040503050406030204" pitchFamily="18" charset="0"/>
                  <a:ea typeface="Cambria Math" panose="02040503050406030204" pitchFamily="18" charset="0"/>
                </a:endParaRPr>
              </a:p>
              <a:p>
                <a:pPr marL="0" indent="0" algn="l">
                  <a:buNone/>
                </a:pPr>
                <a:endParaRPr lang="en-GB" dirty="0">
                  <a:solidFill>
                    <a:srgbClr val="001D35"/>
                  </a:solidFill>
                  <a:latin typeface="Cambria Math" panose="02040503050406030204" pitchFamily="18" charset="0"/>
                  <a:ea typeface="Cambria Math" panose="02040503050406030204" pitchFamily="18" charset="0"/>
                </a:endParaRPr>
              </a:p>
              <a:p>
                <a:pPr marL="0" indent="0" algn="l">
                  <a:buNone/>
                </a:pPr>
                <a:endParaRPr lang="en-GB" dirty="0">
                  <a:solidFill>
                    <a:srgbClr val="001D35"/>
                  </a:solidFill>
                  <a:latin typeface="Cambria Math" panose="02040503050406030204" pitchFamily="18" charset="0"/>
                  <a:ea typeface="Cambria Math" panose="02040503050406030204" pitchFamily="18" charset="0"/>
                </a:endParaRPr>
              </a:p>
              <a:p>
                <a:endParaRPr lang="en-IN" dirty="0"/>
              </a:p>
            </p:txBody>
          </p:sp>
        </mc:Choice>
        <mc:Fallback xmlns="">
          <p:sp>
            <p:nvSpPr>
              <p:cNvPr id="3" name="Content Placeholder 2">
                <a:extLst>
                  <a:ext uri="{FF2B5EF4-FFF2-40B4-BE49-F238E27FC236}">
                    <a16:creationId xmlns:a16="http://schemas.microsoft.com/office/drawing/2014/main" id="{15EF3238-ACF2-CCE7-7A6B-ABD3B1776117}"/>
                  </a:ext>
                </a:extLst>
              </p:cNvPr>
              <p:cNvSpPr>
                <a:spLocks noGrp="1" noRot="1" noChangeAspect="1" noMove="1" noResize="1" noEditPoints="1" noAdjustHandles="1" noChangeArrowheads="1" noChangeShapeType="1" noTextEdit="1"/>
              </p:cNvSpPr>
              <p:nvPr>
                <p:ph idx="1"/>
              </p:nvPr>
            </p:nvSpPr>
            <p:spPr>
              <a:blipFill>
                <a:blip r:embed="rId2"/>
                <a:stretch>
                  <a:fillRect l="-1074" t="-1963" r="-1380"/>
                </a:stretch>
              </a:blipFill>
            </p:spPr>
            <p:txBody>
              <a:bodyPr/>
              <a:lstStyle/>
              <a:p>
                <a:r>
                  <a:rPr lang="en-IN">
                    <a:noFill/>
                  </a:rPr>
                  <a:t> </a:t>
                </a:r>
              </a:p>
            </p:txBody>
          </p:sp>
        </mc:Fallback>
      </mc:AlternateContent>
    </p:spTree>
    <p:extLst>
      <p:ext uri="{BB962C8B-B14F-4D97-AF65-F5344CB8AC3E}">
        <p14:creationId xmlns:p14="http://schemas.microsoft.com/office/powerpoint/2010/main" val="275216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C9FCA-21E3-1381-7D08-965168370BD1}"/>
              </a:ext>
            </a:extLst>
          </p:cNvPr>
          <p:cNvSpPr>
            <a:spLocks noGrp="1"/>
          </p:cNvSpPr>
          <p:nvPr>
            <p:ph type="title"/>
          </p:nvPr>
        </p:nvSpPr>
        <p:spPr/>
        <p:txBody>
          <a:bodyPr/>
          <a:lstStyle/>
          <a:p>
            <a:r>
              <a:rPr lang="en-IN" altLang="en-US" dirty="0"/>
              <a:t>Question.10</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2EE021-D4E5-747F-F784-646DDF9AD383}"/>
                  </a:ext>
                </a:extLst>
              </p:cNvPr>
              <p:cNvSpPr>
                <a:spLocks noGrp="1"/>
              </p:cNvSpPr>
              <p:nvPr>
                <p:ph idx="1"/>
              </p:nvPr>
            </p:nvSpPr>
            <p:spPr/>
            <p:txBody>
              <a:bodyPr/>
              <a:lstStyle/>
              <a:p>
                <a:pPr marL="0" indent="0">
                  <a:buNone/>
                </a:pPr>
                <a:r>
                  <a:rPr lang="en-GB" b="0" i="0" dirty="0">
                    <a:solidFill>
                      <a:srgbClr val="001D35"/>
                    </a:solidFill>
                    <a:effectLst/>
                  </a:rPr>
                  <a:t>Smruti is receiving Rs. 10,000 at the beginning of each year for 5 years, and the interest rate is 5%. The present value of this annuity due would be: </a:t>
                </a:r>
              </a:p>
              <a:p>
                <a:pPr marL="0" indent="0">
                  <a:buNone/>
                </a:pPr>
                <a:endParaRPr lang="en-GB" sz="2000" b="0" i="0" dirty="0">
                  <a:solidFill>
                    <a:srgbClr val="001D35"/>
                  </a:solidFill>
                  <a:effectLst/>
                </a:endParaRPr>
              </a:p>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𝑃</m:t>
                    </m:r>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𝐴</m:t>
                    </m:r>
                    <m:d>
                      <m:dPr>
                        <m:begChr m:val="["/>
                        <m:endChr m:val="]"/>
                        <m:ctrlPr>
                          <a:rPr lang="en-IN" i="1">
                            <a:latin typeface="Cambria Math" panose="02040503050406030204" pitchFamily="18" charset="0"/>
                            <a:ea typeface="Cambria Math" panose="02040503050406030204" pitchFamily="18" charset="0"/>
                          </a:rPr>
                        </m:ctrlPr>
                      </m:dPr>
                      <m:e>
                        <m:f>
                          <m:fPr>
                            <m:ctrlPr>
                              <a:rPr lang="en-IN"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𝑟</m:t>
                            </m:r>
                          </m:den>
                        </m:f>
                        <m:r>
                          <a:rPr lang="en-US" i="1">
                            <a:latin typeface="Cambria Math" panose="02040503050406030204" pitchFamily="18" charset="0"/>
                            <a:ea typeface="Cambria Math" panose="02040503050406030204" pitchFamily="18" charset="0"/>
                          </a:rPr>
                          <m:t>− </m:t>
                        </m:r>
                        <m:f>
                          <m:fPr>
                            <m:ctrlPr>
                              <a:rPr lang="en-IN"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sSup>
                              <m:sSupPr>
                                <m:ctrlPr>
                                  <a:rPr lang="en-IN" i="1">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𝑟</m:t>
                                </m:r>
                                <m:r>
                                  <a:rPr lang="en-US" i="1">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ea typeface="Cambria Math" panose="02040503050406030204" pitchFamily="18" charset="0"/>
                                  </a:rPr>
                                  <m:t>𝑟</m:t>
                                </m:r>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𝑛</m:t>
                                </m:r>
                              </m:sup>
                            </m:sSup>
                          </m:den>
                        </m:f>
                      </m:e>
                    </m:d>
                  </m:oMath>
                </a14:m>
                <a:r>
                  <a:rPr lang="en-IN" dirty="0">
                    <a:latin typeface="Cambria Math" panose="02040503050406030204" pitchFamily="18" charset="0"/>
                    <a:ea typeface="Cambria Math" panose="02040503050406030204" pitchFamily="18" charset="0"/>
                  </a:rPr>
                  <a:t> * (1+r)</a:t>
                </a:r>
              </a:p>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𝑃</m:t>
                    </m:r>
                    <m:r>
                      <a:rPr lang="en-US" i="1" smtClean="0">
                        <a:latin typeface="Cambria Math" panose="02040503050406030204" pitchFamily="18" charset="0"/>
                        <a:ea typeface="Cambria Math" panose="02040503050406030204" pitchFamily="18" charset="0"/>
                      </a:rPr>
                      <m:t>=10,000</m:t>
                    </m:r>
                    <m:d>
                      <m:dPr>
                        <m:begChr m:val="["/>
                        <m:endChr m:val="]"/>
                        <m:ctrlPr>
                          <a:rPr lang="en-IN" i="1">
                            <a:latin typeface="Cambria Math" panose="02040503050406030204" pitchFamily="18" charset="0"/>
                            <a:ea typeface="Cambria Math" panose="02040503050406030204" pitchFamily="18" charset="0"/>
                          </a:rPr>
                        </m:ctrlPr>
                      </m:dPr>
                      <m:e>
                        <m:f>
                          <m:fPr>
                            <m:ctrlPr>
                              <a:rPr lang="en-IN"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0.05</m:t>
                            </m:r>
                          </m:den>
                        </m:f>
                        <m:r>
                          <a:rPr lang="en-US" i="1">
                            <a:latin typeface="Cambria Math" panose="02040503050406030204" pitchFamily="18" charset="0"/>
                            <a:ea typeface="Cambria Math" panose="02040503050406030204" pitchFamily="18" charset="0"/>
                          </a:rPr>
                          <m:t>− </m:t>
                        </m:r>
                        <m:f>
                          <m:fPr>
                            <m:ctrlPr>
                              <a:rPr lang="en-IN"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sSup>
                              <m:sSupPr>
                                <m:ctrlPr>
                                  <a:rPr lang="en-IN" i="1">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0.05</m:t>
                                </m:r>
                                <m:r>
                                  <a:rPr lang="en-US" i="1">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ea typeface="Cambria Math" panose="02040503050406030204" pitchFamily="18" charset="0"/>
                                  </a:rPr>
                                  <m:t>0.05</m:t>
                                </m:r>
                                <m:r>
                                  <a:rPr lang="en-US" i="1">
                                    <a:latin typeface="Cambria Math" panose="02040503050406030204" pitchFamily="18" charset="0"/>
                                    <a:ea typeface="Cambria Math" panose="02040503050406030204" pitchFamily="18" charset="0"/>
                                  </a:rPr>
                                  <m:t>)</m:t>
                                </m:r>
                              </m:e>
                              <m:sup>
                                <m:r>
                                  <a:rPr lang="en-GB" b="0" i="1" smtClean="0">
                                    <a:latin typeface="Cambria Math" panose="02040503050406030204" pitchFamily="18" charset="0"/>
                                    <a:ea typeface="Cambria Math" panose="02040503050406030204" pitchFamily="18" charset="0"/>
                                  </a:rPr>
                                  <m:t>5</m:t>
                                </m:r>
                              </m:sup>
                            </m:sSup>
                          </m:den>
                        </m:f>
                      </m:e>
                    </m:d>
                  </m:oMath>
                </a14:m>
                <a:r>
                  <a:rPr lang="en-IN" dirty="0">
                    <a:latin typeface="Cambria Math" panose="02040503050406030204" pitchFamily="18" charset="0"/>
                    <a:ea typeface="Cambria Math" panose="02040503050406030204" pitchFamily="18" charset="0"/>
                  </a:rPr>
                  <a:t> * (1+0.05)</a:t>
                </a:r>
              </a:p>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𝑃</m:t>
                    </m:r>
                    <m:r>
                      <a:rPr lang="en-US" i="1" smtClean="0">
                        <a:latin typeface="Cambria Math" panose="02040503050406030204" pitchFamily="18" charset="0"/>
                        <a:ea typeface="Cambria Math" panose="02040503050406030204" pitchFamily="18" charset="0"/>
                      </a:rPr>
                      <m:t>=10,000</m:t>
                    </m:r>
                    <m:d>
                      <m:dPr>
                        <m:begChr m:val="["/>
                        <m:endChr m:val="]"/>
                        <m:ctrlPr>
                          <a:rPr lang="en-IN" i="1">
                            <a:latin typeface="Cambria Math" panose="02040503050406030204" pitchFamily="18" charset="0"/>
                            <a:ea typeface="Cambria Math" panose="02040503050406030204" pitchFamily="18" charset="0"/>
                          </a:rPr>
                        </m:ctrlPr>
                      </m:dPr>
                      <m:e>
                        <m:f>
                          <m:fPr>
                            <m:ctrlPr>
                              <a:rPr lang="en-IN"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0.05</m:t>
                            </m:r>
                          </m:den>
                        </m:f>
                        <m:r>
                          <a:rPr lang="en-US" i="1">
                            <a:latin typeface="Cambria Math" panose="02040503050406030204" pitchFamily="18" charset="0"/>
                            <a:ea typeface="Cambria Math" panose="02040503050406030204" pitchFamily="18" charset="0"/>
                          </a:rPr>
                          <m:t>− </m:t>
                        </m:r>
                        <m:f>
                          <m:fPr>
                            <m:ctrlPr>
                              <a:rPr lang="en-IN"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sSup>
                              <m:sSupPr>
                                <m:ctrlPr>
                                  <a:rPr lang="en-IN" i="1">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0.05</m:t>
                                </m:r>
                                <m:r>
                                  <a:rPr lang="en-US" i="1">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ea typeface="Cambria Math" panose="02040503050406030204" pitchFamily="18" charset="0"/>
                                  </a:rPr>
                                  <m:t>0.05</m:t>
                                </m:r>
                                <m:r>
                                  <a:rPr lang="en-US" i="1">
                                    <a:latin typeface="Cambria Math" panose="02040503050406030204" pitchFamily="18" charset="0"/>
                                    <a:ea typeface="Cambria Math" panose="02040503050406030204" pitchFamily="18" charset="0"/>
                                  </a:rPr>
                                  <m:t>)</m:t>
                                </m:r>
                              </m:e>
                              <m:sup>
                                <m:r>
                                  <a:rPr lang="en-GB" b="0" i="1" smtClean="0">
                                    <a:latin typeface="Cambria Math" panose="02040503050406030204" pitchFamily="18" charset="0"/>
                                    <a:ea typeface="Cambria Math" panose="02040503050406030204" pitchFamily="18" charset="0"/>
                                  </a:rPr>
                                  <m:t>5</m:t>
                                </m:r>
                              </m:sup>
                            </m:sSup>
                          </m:den>
                        </m:f>
                      </m:e>
                    </m:d>
                  </m:oMath>
                </a14:m>
                <a:r>
                  <a:rPr lang="en-IN" dirty="0">
                    <a:latin typeface="Cambria Math" panose="02040503050406030204" pitchFamily="18" charset="0"/>
                    <a:ea typeface="Cambria Math" panose="02040503050406030204" pitchFamily="18" charset="0"/>
                  </a:rPr>
                  <a:t> * 1.05</a:t>
                </a:r>
              </a:p>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𝑃</m:t>
                    </m:r>
                    <m:r>
                      <a:rPr lang="en-US" i="1" smtClean="0">
                        <a:latin typeface="Cambria Math" panose="02040503050406030204" pitchFamily="18" charset="0"/>
                        <a:ea typeface="Cambria Math" panose="02040503050406030204" pitchFamily="18" charset="0"/>
                      </a:rPr>
                      <m:t>=10,000</m:t>
                    </m:r>
                    <m:d>
                      <m:dPr>
                        <m:begChr m:val="["/>
                        <m:endChr m:val="]"/>
                        <m:ctrlPr>
                          <a:rPr lang="en-IN"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20</m:t>
                        </m:r>
                        <m:r>
                          <a:rPr lang="en-US" i="1">
                            <a:latin typeface="Cambria Math" panose="02040503050406030204" pitchFamily="18" charset="0"/>
                            <a:ea typeface="Cambria Math" panose="02040503050406030204" pitchFamily="18" charset="0"/>
                          </a:rPr>
                          <m:t>− </m:t>
                        </m:r>
                        <m:f>
                          <m:fPr>
                            <m:ctrlPr>
                              <a:rPr lang="en-IN"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0.0638</m:t>
                            </m:r>
                          </m:den>
                        </m:f>
                      </m:e>
                    </m:d>
                  </m:oMath>
                </a14:m>
                <a:r>
                  <a:rPr lang="en-IN" dirty="0">
                    <a:latin typeface="Cambria Math" panose="02040503050406030204" pitchFamily="18" charset="0"/>
                    <a:ea typeface="Cambria Math" panose="02040503050406030204" pitchFamily="18" charset="0"/>
                  </a:rPr>
                  <a:t> * 1.05</a:t>
                </a:r>
              </a:p>
              <a:p>
                <a:pPr marL="0" indent="0">
                  <a:buNone/>
                </a:pPr>
                <a14:m>
                  <m:oMath xmlns:m="http://schemas.openxmlformats.org/officeDocument/2006/math">
                    <m:r>
                      <a:rPr lang="en-US" i="1">
                        <a:latin typeface="Cambria Math" panose="02040503050406030204" pitchFamily="18" charset="0"/>
                        <a:ea typeface="Cambria Math" panose="02040503050406030204" pitchFamily="18" charset="0"/>
                      </a:rPr>
                      <m:t>𝑃</m:t>
                    </m:r>
                    <m:r>
                      <a:rPr lang="en-US" i="1">
                        <a:latin typeface="Cambria Math" panose="02040503050406030204" pitchFamily="18" charset="0"/>
                        <a:ea typeface="Cambria Math" panose="02040503050406030204" pitchFamily="18" charset="0"/>
                      </a:rPr>
                      <m:t>=10,000</m:t>
                    </m:r>
                    <m:d>
                      <m:dPr>
                        <m:begChr m:val="["/>
                        <m:endChr m:val="]"/>
                        <m:ctrlPr>
                          <a:rPr lang="en-IN"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20</m:t>
                        </m:r>
                        <m:r>
                          <a:rPr lang="en-US"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15.67</m:t>
                        </m:r>
                      </m:e>
                    </m:d>
                  </m:oMath>
                </a14:m>
                <a:r>
                  <a:rPr lang="en-IN" dirty="0">
                    <a:latin typeface="Cambria Math" panose="02040503050406030204" pitchFamily="18" charset="0"/>
                    <a:ea typeface="Cambria Math" panose="02040503050406030204" pitchFamily="18" charset="0"/>
                  </a:rPr>
                  <a:t> * 1.05</a:t>
                </a:r>
              </a:p>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𝑃</m:t>
                    </m:r>
                    <m:r>
                      <a:rPr lang="en-US" i="1" smtClean="0">
                        <a:latin typeface="Cambria Math" panose="02040503050406030204" pitchFamily="18" charset="0"/>
                        <a:ea typeface="Cambria Math" panose="02040503050406030204" pitchFamily="18" charset="0"/>
                      </a:rPr>
                      <m:t>=10,000∗4.33∗</m:t>
                    </m:r>
                  </m:oMath>
                </a14:m>
                <a:r>
                  <a:rPr lang="en-IN" dirty="0">
                    <a:latin typeface="Cambria Math" panose="02040503050406030204" pitchFamily="18" charset="0"/>
                    <a:ea typeface="Cambria Math" panose="02040503050406030204" pitchFamily="18" charset="0"/>
                  </a:rPr>
                  <a:t> 1.05</a:t>
                </a:r>
              </a:p>
              <a:p>
                <a:pPr marL="0" indent="0">
                  <a:buNone/>
                </a:pPr>
                <a14:m>
                  <m:oMathPara xmlns:m="http://schemas.openxmlformats.org/officeDocument/2006/math">
                    <m:oMathParaPr>
                      <m:jc m:val="left"/>
                    </m:oMathParaPr>
                    <m:oMath xmlns:m="http://schemas.openxmlformats.org/officeDocument/2006/math">
                      <m:r>
                        <a:rPr lang="en-US" b="1" i="1" smtClean="0">
                          <a:solidFill>
                            <a:srgbClr val="C00000"/>
                          </a:solidFill>
                          <a:latin typeface="Cambria Math" panose="02040503050406030204" pitchFamily="18" charset="0"/>
                          <a:ea typeface="Cambria Math" panose="02040503050406030204" pitchFamily="18" charset="0"/>
                        </a:rPr>
                        <m:t>𝑷</m:t>
                      </m:r>
                      <m:r>
                        <a:rPr lang="en-US" b="1" i="1" smtClean="0">
                          <a:solidFill>
                            <a:srgbClr val="C00000"/>
                          </a:solidFill>
                          <a:latin typeface="Cambria Math" panose="02040503050406030204" pitchFamily="18" charset="0"/>
                          <a:ea typeface="Cambria Math" panose="02040503050406030204" pitchFamily="18" charset="0"/>
                        </a:rPr>
                        <m:t>=</m:t>
                      </m:r>
                      <m:r>
                        <a:rPr lang="en-US" b="1" i="1" smtClean="0">
                          <a:solidFill>
                            <a:srgbClr val="C00000"/>
                          </a:solidFill>
                          <a:latin typeface="Cambria Math" panose="02040503050406030204" pitchFamily="18" charset="0"/>
                          <a:ea typeface="Cambria Math" panose="02040503050406030204" pitchFamily="18" charset="0"/>
                        </a:rPr>
                        <m:t>𝟒𝟓</m:t>
                      </m:r>
                      <m:r>
                        <a:rPr lang="en-US" b="1" i="1" smtClean="0">
                          <a:solidFill>
                            <a:srgbClr val="C00000"/>
                          </a:solidFill>
                          <a:latin typeface="Cambria Math" panose="02040503050406030204" pitchFamily="18" charset="0"/>
                          <a:ea typeface="Cambria Math" panose="02040503050406030204" pitchFamily="18" charset="0"/>
                        </a:rPr>
                        <m:t>,</m:t>
                      </m:r>
                      <m:r>
                        <a:rPr lang="en-US" b="1" i="1" smtClean="0">
                          <a:solidFill>
                            <a:srgbClr val="C00000"/>
                          </a:solidFill>
                          <a:latin typeface="Cambria Math" panose="02040503050406030204" pitchFamily="18" charset="0"/>
                          <a:ea typeface="Cambria Math" panose="02040503050406030204" pitchFamily="18" charset="0"/>
                        </a:rPr>
                        <m:t>𝟒𝟔𝟓</m:t>
                      </m:r>
                    </m:oMath>
                  </m:oMathPara>
                </a14:m>
                <a:endParaRPr lang="en-IN" b="1" dirty="0">
                  <a:solidFill>
                    <a:srgbClr val="C00000"/>
                  </a:solidFill>
                  <a:latin typeface="Cambria Math" panose="02040503050406030204" pitchFamily="18" charset="0"/>
                  <a:ea typeface="Cambria Math" panose="02040503050406030204" pitchFamily="18" charset="0"/>
                </a:endParaRPr>
              </a:p>
              <a:p>
                <a:endParaRPr lang="en-IN" dirty="0"/>
              </a:p>
              <a:p>
                <a:endParaRPr lang="en-IN" dirty="0"/>
              </a:p>
              <a:p>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F02EE021-D4E5-747F-F784-646DDF9AD383}"/>
                  </a:ext>
                </a:extLst>
              </p:cNvPr>
              <p:cNvSpPr>
                <a:spLocks noGrp="1" noRot="1" noChangeAspect="1" noMove="1" noResize="1" noEditPoints="1" noAdjustHandles="1" noChangeArrowheads="1" noChangeShapeType="1" noTextEdit="1"/>
              </p:cNvSpPr>
              <p:nvPr>
                <p:ph idx="1"/>
              </p:nvPr>
            </p:nvSpPr>
            <p:spPr>
              <a:blipFill>
                <a:blip r:embed="rId2"/>
                <a:stretch>
                  <a:fillRect l="-1074"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311141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40E52151-15F6-4C56-81DF-835D9BDC3DE4}"/>
              </a:ext>
            </a:extLst>
          </p:cNvPr>
          <p:cNvSpPr>
            <a:spLocks noGrp="1"/>
          </p:cNvSpPr>
          <p:nvPr>
            <p:ph type="title"/>
          </p:nvPr>
        </p:nvSpPr>
        <p:spPr/>
        <p:txBody>
          <a:bodyPr/>
          <a:lstStyle/>
          <a:p>
            <a:r>
              <a:rPr lang="en-IN" altLang="en-US" b="1" dirty="0"/>
              <a:t>5) Present Value of a Perpetuity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83D9DE-53A0-43E3-8CD5-A3BAAEF8F49D}"/>
                  </a:ext>
                </a:extLst>
              </p:cNvPr>
              <p:cNvSpPr>
                <a:spLocks noGrp="1"/>
              </p:cNvSpPr>
              <p:nvPr>
                <p:ph idx="1"/>
              </p:nvPr>
            </p:nvSpPr>
            <p:spPr/>
            <p:txBody>
              <a:bodyPr/>
              <a:lstStyle/>
              <a:p>
                <a:pPr>
                  <a:defRPr/>
                </a:pPr>
                <a:r>
                  <a:rPr lang="en-IN" sz="2800" dirty="0"/>
                  <a:t>A perpetuity is an annuity of infinite duration.</a:t>
                </a:r>
              </a:p>
              <a:p>
                <a:pPr>
                  <a:defRPr/>
                </a:pPr>
                <a:r>
                  <a:rPr lang="en-IN" sz="2800" dirty="0"/>
                  <a:t>For example, the British government has issued bonds for infinite.</a:t>
                </a:r>
              </a:p>
              <a:p>
                <a:pPr>
                  <a:defRPr/>
                </a:pPr>
                <a:r>
                  <a:rPr lang="en-IN" sz="2800" dirty="0"/>
                  <a:t>Formula</a:t>
                </a:r>
              </a:p>
              <a:p>
                <a:pPr marL="0" indent="0">
                  <a:buNone/>
                  <a:defRPr/>
                </a:pPr>
                <a14:m>
                  <m:oMath xmlns:m="http://schemas.openxmlformats.org/officeDocument/2006/math">
                    <m:r>
                      <a:rPr lang="en-US" sz="2800" i="1">
                        <a:latin typeface="Cambria Math" panose="02040503050406030204" pitchFamily="18" charset="0"/>
                      </a:rPr>
                      <m:t>𝑃𝑉𝐴𝑛</m:t>
                    </m:r>
                  </m:oMath>
                </a14:m>
                <a:r>
                  <a:rPr lang="en-IN" sz="2800" dirty="0"/>
                  <a:t> = </a:t>
                </a:r>
                <a:r>
                  <a:rPr lang="en-IN" sz="2800" dirty="0" err="1"/>
                  <a:t>A/r</a:t>
                </a:r>
                <a:endParaRPr lang="en-IN" sz="2800" dirty="0"/>
              </a:p>
              <a:p>
                <a:pPr marL="109537" indent="0">
                  <a:buNone/>
                  <a:defRPr/>
                </a:pPr>
                <a:endParaRPr lang="en-IN" sz="2800" dirty="0"/>
              </a:p>
            </p:txBody>
          </p:sp>
        </mc:Choice>
        <mc:Fallback xmlns="">
          <p:sp>
            <p:nvSpPr>
              <p:cNvPr id="3" name="Content Placeholder 2">
                <a:extLst>
                  <a:ext uri="{FF2B5EF4-FFF2-40B4-BE49-F238E27FC236}">
                    <a16:creationId xmlns:a16="http://schemas.microsoft.com/office/drawing/2014/main" id="{E683D9DE-53A0-43E3-8CD5-A3BAAEF8F49D}"/>
                  </a:ext>
                </a:extLst>
              </p:cNvPr>
              <p:cNvSpPr>
                <a:spLocks noGrp="1" noRot="1" noChangeAspect="1" noMove="1" noResize="1" noEditPoints="1" noAdjustHandles="1" noChangeArrowheads="1" noChangeShapeType="1" noTextEdit="1"/>
              </p:cNvSpPr>
              <p:nvPr>
                <p:ph idx="1"/>
              </p:nvPr>
            </p:nvSpPr>
            <p:spPr>
              <a:blipFill>
                <a:blip r:embed="rId2"/>
                <a:stretch>
                  <a:fillRect l="-971" t="-1963"/>
                </a:stretch>
              </a:blipFill>
            </p:spPr>
            <p:txBody>
              <a:bodyPr/>
              <a:lstStyle/>
              <a:p>
                <a:r>
                  <a:rPr lang="en-IN">
                    <a:noFill/>
                  </a:rPr>
                  <a:t> </a:t>
                </a:r>
              </a:p>
            </p:txBody>
          </p:sp>
        </mc:Fallback>
      </mc:AlternateContent>
    </p:spTree>
    <p:extLst>
      <p:ext uri="{BB962C8B-B14F-4D97-AF65-F5344CB8AC3E}">
        <p14:creationId xmlns:p14="http://schemas.microsoft.com/office/powerpoint/2010/main" val="528756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Question.11</a:t>
            </a:r>
            <a:endParaRPr lang="en-IN" dirty="0"/>
          </a:p>
        </p:txBody>
      </p:sp>
      <p:sp>
        <p:nvSpPr>
          <p:cNvPr id="3" name="Content Placeholder 2"/>
          <p:cNvSpPr>
            <a:spLocks noGrp="1"/>
          </p:cNvSpPr>
          <p:nvPr>
            <p:ph idx="1"/>
          </p:nvPr>
        </p:nvSpPr>
        <p:spPr>
          <a:xfrm>
            <a:off x="131180" y="863445"/>
            <a:ext cx="11929641" cy="3095492"/>
          </a:xfrm>
        </p:spPr>
        <p:txBody>
          <a:bodyPr/>
          <a:lstStyle/>
          <a:p>
            <a:r>
              <a:rPr lang="en-US" sz="2800" dirty="0"/>
              <a:t>One insurance scheme promise to pay </a:t>
            </a:r>
            <a:r>
              <a:rPr lang="en-US" sz="2800" dirty="0" err="1"/>
              <a:t>Rs</a:t>
            </a:r>
            <a:r>
              <a:rPr lang="en-US" sz="2800" dirty="0"/>
              <a:t>. 7,000 per annum for infinite period of time if you invest a lump sum amount today, if your required rate of return is 8%, calculate the amount which you will be willing to pay today. If investment required in this scheme is </a:t>
            </a:r>
            <a:r>
              <a:rPr lang="en-US" sz="2800" dirty="0" err="1"/>
              <a:t>Rs</a:t>
            </a:r>
            <a:r>
              <a:rPr lang="en-US" sz="2800" dirty="0"/>
              <a:t>. 93,000. Would you like to go for investment?</a:t>
            </a:r>
            <a:endParaRPr lang="en-IN" sz="2800" dirty="0"/>
          </a:p>
          <a:p>
            <a:pPr marL="0" indent="0">
              <a:buNone/>
            </a:pPr>
            <a:r>
              <a:rPr lang="en-IN" sz="2800" dirty="0"/>
              <a:t>Solution</a:t>
            </a:r>
          </a:p>
          <a:p>
            <a:r>
              <a:rPr lang="en-IN" sz="2800" dirty="0"/>
              <a:t>A = 7000</a:t>
            </a:r>
          </a:p>
          <a:p>
            <a:r>
              <a:rPr lang="en-IN" sz="2800" dirty="0" err="1"/>
              <a:t>i</a:t>
            </a:r>
            <a:r>
              <a:rPr lang="en-IN" sz="2800" dirty="0"/>
              <a:t> = 8%</a:t>
            </a:r>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374073" y="4111181"/>
                <a:ext cx="6428510" cy="209707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2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Font typeface="Wingdings 3" panose="05040102010807070707" pitchFamily="18" charset="2"/>
                  <a:buNone/>
                </a:pPr>
                <a:r>
                  <a:rPr lang="en-US" sz="2800" dirty="0"/>
                  <a:t>Present value of perpetuity = </a:t>
                </a:r>
                <a14:m>
                  <m:oMath xmlns:m="http://schemas.openxmlformats.org/officeDocument/2006/math">
                    <m:f>
                      <m:fPr>
                        <m:ctrlPr>
                          <a:rPr lang="en-IN" sz="2800" i="1">
                            <a:latin typeface="Cambria Math" panose="02040503050406030204" pitchFamily="18" charset="0"/>
                          </a:rPr>
                        </m:ctrlPr>
                      </m:fPr>
                      <m:num>
                        <m:r>
                          <a:rPr lang="en-US" sz="2800" i="1">
                            <a:latin typeface="Cambria Math" panose="02040503050406030204" pitchFamily="18" charset="0"/>
                          </a:rPr>
                          <m:t>𝑃𝑒𝑟𝑝𝑒𝑡𝑢𝑖𝑡𝑦</m:t>
                        </m:r>
                        <m:r>
                          <a:rPr lang="en-US" sz="2800" i="1">
                            <a:latin typeface="Cambria Math" panose="02040503050406030204" pitchFamily="18" charset="0"/>
                          </a:rPr>
                          <m:t> (</m:t>
                        </m:r>
                        <m:r>
                          <a:rPr lang="en-US" sz="2800" i="1">
                            <a:latin typeface="Cambria Math" panose="02040503050406030204" pitchFamily="18" charset="0"/>
                          </a:rPr>
                          <m:t>𝐴</m:t>
                        </m:r>
                        <m:r>
                          <a:rPr lang="en-US" sz="2800" i="1">
                            <a:latin typeface="Cambria Math" panose="02040503050406030204" pitchFamily="18" charset="0"/>
                          </a:rPr>
                          <m:t>) </m:t>
                        </m:r>
                      </m:num>
                      <m:den>
                        <m:r>
                          <a:rPr lang="en-US" sz="2800" i="1">
                            <a:latin typeface="Cambria Math" panose="02040503050406030204" pitchFamily="18" charset="0"/>
                          </a:rPr>
                          <m:t>𝐼𝑛𝑡𝑒𝑟𝑒𝑠𝑡</m:t>
                        </m:r>
                        <m:r>
                          <a:rPr lang="en-US" sz="2800" i="1">
                            <a:latin typeface="Cambria Math" panose="02040503050406030204" pitchFamily="18" charset="0"/>
                          </a:rPr>
                          <m:t> </m:t>
                        </m:r>
                        <m:r>
                          <a:rPr lang="en-US" sz="2800" i="1">
                            <a:latin typeface="Cambria Math" panose="02040503050406030204" pitchFamily="18" charset="0"/>
                          </a:rPr>
                          <m:t>𝑅𝑎𝑡𝑒</m:t>
                        </m:r>
                        <m:r>
                          <a:rPr lang="en-US" sz="2800" i="1">
                            <a:latin typeface="Cambria Math" panose="02040503050406030204" pitchFamily="18" charset="0"/>
                          </a:rPr>
                          <m:t> (</m:t>
                        </m:r>
                        <m:r>
                          <a:rPr lang="en-US" sz="2800" i="1">
                            <a:latin typeface="Cambria Math" panose="02040503050406030204" pitchFamily="18" charset="0"/>
                          </a:rPr>
                          <m:t>𝑖</m:t>
                        </m:r>
                        <m:r>
                          <a:rPr lang="en-US" sz="2800" i="1">
                            <a:latin typeface="Cambria Math" panose="02040503050406030204" pitchFamily="18" charset="0"/>
                          </a:rPr>
                          <m:t>)</m:t>
                        </m:r>
                      </m:den>
                    </m:f>
                  </m:oMath>
                </a14:m>
                <a:endParaRPr lang="en-IN" sz="2800" dirty="0"/>
              </a:p>
              <a:p>
                <a:pPr marL="0" indent="0" algn="l">
                  <a:buFont typeface="Wingdings 3" panose="05040102010807070707" pitchFamily="18" charset="2"/>
                  <a:buNone/>
                </a:pPr>
                <a:r>
                  <a:rPr lang="en-US" sz="2800" dirty="0"/>
                  <a:t>Present value of perpetuity = </a:t>
                </a:r>
                <a14:m>
                  <m:oMath xmlns:m="http://schemas.openxmlformats.org/officeDocument/2006/math">
                    <m:f>
                      <m:fPr>
                        <m:ctrlPr>
                          <a:rPr lang="en-IN" sz="2800" i="1">
                            <a:latin typeface="Cambria Math" panose="02040503050406030204" pitchFamily="18" charset="0"/>
                          </a:rPr>
                        </m:ctrlPr>
                      </m:fPr>
                      <m:num>
                        <m:r>
                          <a:rPr lang="en-IN" sz="2800" i="1" smtClean="0">
                            <a:latin typeface="Cambria Math" panose="02040503050406030204" pitchFamily="18" charset="0"/>
                          </a:rPr>
                          <m:t>7000</m:t>
                        </m:r>
                      </m:num>
                      <m:den>
                        <m:r>
                          <a:rPr lang="en-IN" sz="2800" i="1" smtClean="0">
                            <a:latin typeface="Cambria Math" panose="02040503050406030204" pitchFamily="18" charset="0"/>
                          </a:rPr>
                          <m:t>0.08</m:t>
                        </m:r>
                      </m:den>
                    </m:f>
                  </m:oMath>
                </a14:m>
                <a:endParaRPr lang="en-IN" sz="2800" b="1" dirty="0"/>
              </a:p>
              <a:p>
                <a:pPr marL="0" indent="0" algn="l">
                  <a:buFont typeface="Wingdings 3" panose="05040102010807070707" pitchFamily="18" charset="2"/>
                  <a:buNone/>
                </a:pPr>
                <a:r>
                  <a:rPr lang="en-US" sz="2800" b="1" dirty="0">
                    <a:solidFill>
                      <a:srgbClr val="C00000"/>
                    </a:solidFill>
                  </a:rPr>
                  <a:t>Present value of perpetuity = 87,500</a:t>
                </a: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374073" y="4111181"/>
                <a:ext cx="6428510" cy="2097078"/>
              </a:xfrm>
              <a:prstGeom prst="rect">
                <a:avLst/>
              </a:prstGeom>
              <a:blipFill>
                <a:blip r:embed="rId2"/>
                <a:stretch>
                  <a:fillRect l="-1896" t="-291"/>
                </a:stretch>
              </a:blipFill>
            </p:spPr>
            <p:txBody>
              <a:bodyPr/>
              <a:lstStyle/>
              <a:p>
                <a:r>
                  <a:rPr lang="en-IN">
                    <a:noFill/>
                  </a:rPr>
                  <a:t> </a:t>
                </a:r>
              </a:p>
            </p:txBody>
          </p:sp>
        </mc:Fallback>
      </mc:AlternateContent>
      <p:sp>
        <p:nvSpPr>
          <p:cNvPr id="5" name="Content Placeholder 2"/>
          <p:cNvSpPr txBox="1">
            <a:spLocks/>
          </p:cNvSpPr>
          <p:nvPr/>
        </p:nvSpPr>
        <p:spPr>
          <a:xfrm>
            <a:off x="7079673" y="3901321"/>
            <a:ext cx="4062845" cy="208961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2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Comment: We should not invest in this insurance scheme as amount of investment is more than present value of cash flow.</a:t>
            </a:r>
            <a:endParaRPr lang="en-IN" sz="2800" b="1" dirty="0"/>
          </a:p>
        </p:txBody>
      </p:sp>
    </p:spTree>
    <p:extLst>
      <p:ext uri="{BB962C8B-B14F-4D97-AF65-F5344CB8AC3E}">
        <p14:creationId xmlns:p14="http://schemas.microsoft.com/office/powerpoint/2010/main" val="207910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7DD76-FAC2-42BB-B143-EA714A28F9DB}"/>
              </a:ext>
            </a:extLst>
          </p:cNvPr>
          <p:cNvSpPr>
            <a:spLocks noGrp="1"/>
          </p:cNvSpPr>
          <p:nvPr>
            <p:ph type="title"/>
          </p:nvPr>
        </p:nvSpPr>
        <p:spPr/>
        <p:txBody>
          <a:bodyPr/>
          <a:lstStyle/>
          <a:p>
            <a:r>
              <a:rPr lang="en-US" dirty="0"/>
              <a:t>6) Intra – Year Compounding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C0D5F2-6ECF-4D34-9C19-4BA20C31CB2C}"/>
                  </a:ext>
                </a:extLst>
              </p:cNvPr>
              <p:cNvSpPr>
                <a:spLocks noGrp="1"/>
              </p:cNvSpPr>
              <p:nvPr>
                <p:ph idx="1"/>
              </p:nvPr>
            </p:nvSpPr>
            <p:spPr/>
            <p:txBody>
              <a:bodyPr/>
              <a:lstStyle/>
              <a:p>
                <a:pPr marL="107950" indent="0">
                  <a:buNone/>
                </a:pPr>
                <a:r>
                  <a:rPr lang="en-US" altLang="en-US" b="1" dirty="0">
                    <a:solidFill>
                      <a:srgbClr val="C00000"/>
                    </a:solidFill>
                  </a:rPr>
                  <a:t>When interest is compounded more frequently than once a year</a:t>
                </a:r>
                <a:r>
                  <a:rPr lang="en-US" altLang="en-US" b="1" dirty="0">
                    <a:solidFill>
                      <a:schemeClr val="accent6">
                        <a:lumMod val="75000"/>
                      </a:schemeClr>
                    </a:solidFill>
                  </a:rPr>
                  <a:t> </a:t>
                </a:r>
                <a:r>
                  <a:rPr lang="en-US" altLang="en-US" dirty="0"/>
                  <a:t>is called "intra-year compounding". Interest may be calculate on a semi-annual, quarterly, monthly, daily, or even continuous basis. </a:t>
                </a:r>
              </a:p>
              <a:p>
                <a:pPr marL="107950" indent="0">
                  <a:buNone/>
                </a:pPr>
                <a:endParaRPr lang="en-US" altLang="en-US" dirty="0"/>
              </a:p>
              <a:p>
                <a:pPr marL="107950" indent="0">
                  <a:buNone/>
                </a:pPr>
                <a:r>
                  <a:rPr lang="en-IN" altLang="en-US" dirty="0"/>
                  <a:t>Formula: </a:t>
                </a:r>
              </a:p>
              <a:p>
                <a:pPr marL="107950" indent="0">
                  <a:buNone/>
                </a:pPr>
                <a:r>
                  <a:rPr lang="en-IN" altLang="en-US" dirty="0"/>
                  <a:t>	</a:t>
                </a:r>
                <a:r>
                  <a:rPr lang="en-IN" altLang="en-US" dirty="0" err="1"/>
                  <a:t>FV</a:t>
                </a:r>
                <a:r>
                  <a:rPr lang="en-IN" altLang="en-US" sz="4000" baseline="-25000" dirty="0" err="1"/>
                  <a:t>n</a:t>
                </a:r>
                <a:r>
                  <a:rPr lang="en-IN" altLang="en-US" sz="4000" baseline="-25000" dirty="0"/>
                  <a:t> </a:t>
                </a:r>
                <a:r>
                  <a:rPr lang="en-IN" dirty="0"/>
                  <a:t>= PV [1 + </a:t>
                </a:r>
                <a14:m>
                  <m:oMath xmlns:m="http://schemas.openxmlformats.org/officeDocument/2006/math">
                    <m:f>
                      <m:fPr>
                        <m:ctrlPr>
                          <a:rPr lang="en-IN" i="1" smtClean="0">
                            <a:latin typeface="Cambria Math" panose="02040503050406030204" pitchFamily="18" charset="0"/>
                          </a:rPr>
                        </m:ctrlPr>
                      </m:fPr>
                      <m:num>
                        <m:r>
                          <a:rPr lang="en-GB" b="0" i="1" smtClean="0">
                            <a:latin typeface="Cambria Math" panose="02040503050406030204" pitchFamily="18" charset="0"/>
                          </a:rPr>
                          <m:t>𝑟</m:t>
                        </m:r>
                      </m:num>
                      <m:den>
                        <m:r>
                          <a:rPr lang="en-GB" b="0" i="1" smtClean="0">
                            <a:latin typeface="Cambria Math" panose="02040503050406030204" pitchFamily="18" charset="0"/>
                          </a:rPr>
                          <m:t>𝑚</m:t>
                        </m:r>
                      </m:den>
                    </m:f>
                    <m:r>
                      <a:rPr lang="en-GB" b="0" i="1" smtClean="0">
                        <a:latin typeface="Cambria Math" panose="02040503050406030204" pitchFamily="18" charset="0"/>
                      </a:rPr>
                      <m:t>]</m:t>
                    </m:r>
                    <m:r>
                      <a:rPr lang="en-GB" b="0" i="1" baseline="30000" smtClean="0">
                        <a:latin typeface="Cambria Math" panose="02040503050406030204" pitchFamily="18" charset="0"/>
                      </a:rPr>
                      <m:t>𝑚</m:t>
                    </m:r>
                    <m:r>
                      <a:rPr lang="en-GB" b="0" i="1" baseline="30000" smtClean="0">
                        <a:latin typeface="Cambria Math" panose="02040503050406030204" pitchFamily="18" charset="0"/>
                      </a:rPr>
                      <m:t>∗</m:t>
                    </m:r>
                    <m:r>
                      <a:rPr lang="en-GB" b="0" i="1" baseline="30000" smtClean="0">
                        <a:latin typeface="Cambria Math" panose="02040503050406030204" pitchFamily="18" charset="0"/>
                      </a:rPr>
                      <m:t>𝑛</m:t>
                    </m:r>
                  </m:oMath>
                </a14:m>
                <a:endParaRPr lang="en-IN" baseline="30000" dirty="0"/>
              </a:p>
              <a:p>
                <a:pPr marL="107950" indent="0">
                  <a:buNone/>
                </a:pPr>
                <a:endParaRPr lang="en-IN" baseline="30000" dirty="0"/>
              </a:p>
              <a:p>
                <a:pPr marL="107950" indent="0">
                  <a:buNone/>
                </a:pPr>
                <a:r>
                  <a:rPr lang="en-IN" sz="2400" dirty="0"/>
                  <a:t>Where,</a:t>
                </a:r>
              </a:p>
              <a:p>
                <a:pPr marL="107950" indent="0">
                  <a:buNone/>
                </a:pPr>
                <a:r>
                  <a:rPr lang="en-IN" sz="2400" dirty="0"/>
                  <a:t>m = Frequency of compounding</a:t>
                </a:r>
              </a:p>
            </p:txBody>
          </p:sp>
        </mc:Choice>
        <mc:Fallback xmlns="">
          <p:sp>
            <p:nvSpPr>
              <p:cNvPr id="3" name="Content Placeholder 2">
                <a:extLst>
                  <a:ext uri="{FF2B5EF4-FFF2-40B4-BE49-F238E27FC236}">
                    <a16:creationId xmlns:a16="http://schemas.microsoft.com/office/drawing/2014/main" id="{32C0D5F2-6ECF-4D34-9C19-4BA20C31CB2C}"/>
                  </a:ext>
                </a:extLst>
              </p:cNvPr>
              <p:cNvSpPr>
                <a:spLocks noGrp="1" noRot="1" noChangeAspect="1" noMove="1" noResize="1" noEditPoints="1" noAdjustHandles="1" noChangeArrowheads="1" noChangeShapeType="1" noTextEdit="1"/>
              </p:cNvSpPr>
              <p:nvPr>
                <p:ph idx="1"/>
              </p:nvPr>
            </p:nvSpPr>
            <p:spPr>
              <a:blipFill>
                <a:blip r:embed="rId2"/>
                <a:stretch>
                  <a:fillRect l="-153"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2685241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EBC40C11-DBC6-40AE-9E75-FEFBB1D7C641}"/>
              </a:ext>
            </a:extLst>
          </p:cNvPr>
          <p:cNvSpPr>
            <a:spLocks noGrp="1"/>
          </p:cNvSpPr>
          <p:nvPr>
            <p:ph type="title"/>
          </p:nvPr>
        </p:nvSpPr>
        <p:spPr/>
        <p:txBody>
          <a:bodyPr/>
          <a:lstStyle/>
          <a:p>
            <a:r>
              <a:rPr lang="en-IN" altLang="en-US" dirty="0"/>
              <a:t>Question.12</a:t>
            </a:r>
          </a:p>
        </p:txBody>
      </p:sp>
      <mc:AlternateContent xmlns:mc="http://schemas.openxmlformats.org/markup-compatibility/2006" xmlns:a14="http://schemas.microsoft.com/office/drawing/2010/main">
        <mc:Choice Requires="a14">
          <p:sp>
            <p:nvSpPr>
              <p:cNvPr id="56323" name="Content Placeholder 2">
                <a:extLst>
                  <a:ext uri="{FF2B5EF4-FFF2-40B4-BE49-F238E27FC236}">
                    <a16:creationId xmlns:a16="http://schemas.microsoft.com/office/drawing/2014/main" id="{71F19F3A-86C6-4BC6-9C02-B53681C15642}"/>
                  </a:ext>
                </a:extLst>
              </p:cNvPr>
              <p:cNvSpPr>
                <a:spLocks noGrp="1"/>
              </p:cNvSpPr>
              <p:nvPr>
                <p:ph idx="1"/>
              </p:nvPr>
            </p:nvSpPr>
            <p:spPr/>
            <p:txBody>
              <a:bodyPr/>
              <a:lstStyle/>
              <a:p>
                <a:pPr marL="107950" indent="0">
                  <a:buNone/>
                </a:pPr>
                <a:r>
                  <a:rPr lang="en-GB" dirty="0"/>
                  <a:t>Suppose you deposit Rs.5,000 in a bank for 6 years. If the interest rate is 12 percent and the frequency of compounding is 4 times a year </a:t>
                </a:r>
                <a:r>
                  <a:rPr lang="en-IN" altLang="en-US" dirty="0"/>
                  <a:t>What will be the value of deposit at the end of 6 years ?</a:t>
                </a:r>
              </a:p>
              <a:p>
                <a:pPr marL="107950" indent="0">
                  <a:buNone/>
                </a:pPr>
                <a:endParaRPr lang="en-IN" altLang="en-US" dirty="0"/>
              </a:p>
              <a:p>
                <a:pPr marL="107950" indent="0">
                  <a:buNone/>
                </a:pPr>
                <a:r>
                  <a:rPr lang="en-IN" altLang="en-US" dirty="0" err="1"/>
                  <a:t>FV</a:t>
                </a:r>
                <a:r>
                  <a:rPr lang="en-IN" altLang="en-US" baseline="-25000" dirty="0" err="1"/>
                  <a:t>n</a:t>
                </a:r>
                <a:r>
                  <a:rPr lang="en-IN" altLang="en-US" baseline="-25000" dirty="0"/>
                  <a:t> </a:t>
                </a:r>
                <a:r>
                  <a:rPr lang="en-IN" dirty="0"/>
                  <a:t>= 5,000 [1 + </a:t>
                </a:r>
                <a14:m>
                  <m:oMath xmlns:m="http://schemas.openxmlformats.org/officeDocument/2006/math">
                    <m:f>
                      <m:fPr>
                        <m:ctrlPr>
                          <a:rPr lang="en-IN" i="1">
                            <a:latin typeface="Cambria Math" panose="02040503050406030204" pitchFamily="18" charset="0"/>
                          </a:rPr>
                        </m:ctrlPr>
                      </m:fPr>
                      <m:num>
                        <m:r>
                          <a:rPr lang="en-GB" b="0" i="1" smtClean="0">
                            <a:latin typeface="Cambria Math" panose="02040503050406030204" pitchFamily="18" charset="0"/>
                          </a:rPr>
                          <m:t>0.12</m:t>
                        </m:r>
                      </m:num>
                      <m:den>
                        <m:r>
                          <a:rPr lang="en-GB" b="0" i="1" smtClean="0">
                            <a:latin typeface="Cambria Math" panose="02040503050406030204" pitchFamily="18" charset="0"/>
                          </a:rPr>
                          <m:t>4</m:t>
                        </m:r>
                      </m:den>
                    </m:f>
                    <m:r>
                      <a:rPr lang="en-GB" i="1">
                        <a:latin typeface="Cambria Math" panose="02040503050406030204" pitchFamily="18" charset="0"/>
                      </a:rPr>
                      <m:t>]</m:t>
                    </m:r>
                    <m:r>
                      <a:rPr lang="en-GB" b="0" i="1" baseline="30000" smtClean="0">
                        <a:latin typeface="Cambria Math" panose="02040503050406030204" pitchFamily="18" charset="0"/>
                      </a:rPr>
                      <m:t>4∗6</m:t>
                    </m:r>
                  </m:oMath>
                </a14:m>
                <a:endParaRPr lang="en-IN" altLang="en-US" dirty="0"/>
              </a:p>
              <a:p>
                <a:pPr marL="107950" indent="0">
                  <a:buNone/>
                </a:pPr>
                <a:r>
                  <a:rPr lang="en-IN" altLang="en-US" dirty="0" err="1"/>
                  <a:t>FV</a:t>
                </a:r>
                <a:r>
                  <a:rPr lang="en-IN" altLang="en-US" baseline="-25000" dirty="0" err="1"/>
                  <a:t>n</a:t>
                </a:r>
                <a:r>
                  <a:rPr lang="en-IN" altLang="en-US" baseline="-25000" dirty="0"/>
                  <a:t> </a:t>
                </a:r>
                <a:r>
                  <a:rPr lang="fr-FR" dirty="0"/>
                  <a:t>= Rs.5,000 (1.03)</a:t>
                </a:r>
                <a:r>
                  <a:rPr lang="fr-FR" baseline="30000" dirty="0"/>
                  <a:t>24</a:t>
                </a:r>
                <a:r>
                  <a:rPr lang="fr-FR" dirty="0"/>
                  <a:t> </a:t>
                </a:r>
              </a:p>
              <a:p>
                <a:pPr marL="107950" indent="0">
                  <a:buNone/>
                </a:pPr>
                <a:r>
                  <a:rPr lang="en-IN" altLang="en-US" dirty="0" err="1"/>
                  <a:t>FV</a:t>
                </a:r>
                <a:r>
                  <a:rPr lang="en-IN" altLang="en-US" baseline="-25000" dirty="0" err="1"/>
                  <a:t>n</a:t>
                </a:r>
                <a:r>
                  <a:rPr lang="en-IN" altLang="en-US" baseline="-25000" dirty="0"/>
                  <a:t> </a:t>
                </a:r>
                <a:r>
                  <a:rPr lang="fr-FR" dirty="0"/>
                  <a:t>= Rs.5,000 x 2.0328 </a:t>
                </a:r>
              </a:p>
              <a:p>
                <a:pPr marL="107950" indent="0">
                  <a:buNone/>
                </a:pPr>
                <a:endParaRPr lang="fr-FR" dirty="0"/>
              </a:p>
              <a:p>
                <a:pPr marL="107950" indent="0">
                  <a:buNone/>
                </a:pPr>
                <a:r>
                  <a:rPr lang="en-IN" altLang="en-US" b="1" dirty="0" err="1">
                    <a:solidFill>
                      <a:srgbClr val="C00000"/>
                    </a:solidFill>
                  </a:rPr>
                  <a:t>FV</a:t>
                </a:r>
                <a:r>
                  <a:rPr lang="en-IN" altLang="en-US" b="1" baseline="-25000" dirty="0" err="1">
                    <a:solidFill>
                      <a:srgbClr val="C00000"/>
                    </a:solidFill>
                  </a:rPr>
                  <a:t>n</a:t>
                </a:r>
                <a:r>
                  <a:rPr lang="en-IN" altLang="en-US" b="1" baseline="-25000" dirty="0">
                    <a:solidFill>
                      <a:srgbClr val="C00000"/>
                    </a:solidFill>
                  </a:rPr>
                  <a:t> </a:t>
                </a:r>
                <a:r>
                  <a:rPr lang="fr-FR" b="1" dirty="0">
                    <a:solidFill>
                      <a:srgbClr val="C00000"/>
                    </a:solidFill>
                  </a:rPr>
                  <a:t>= Rs.10,164</a:t>
                </a:r>
                <a:endParaRPr lang="en-IN" altLang="en-US" b="1" dirty="0">
                  <a:solidFill>
                    <a:srgbClr val="C00000"/>
                  </a:solidFill>
                </a:endParaRPr>
              </a:p>
            </p:txBody>
          </p:sp>
        </mc:Choice>
        <mc:Fallback xmlns="">
          <p:sp>
            <p:nvSpPr>
              <p:cNvPr id="56323" name="Content Placeholder 2">
                <a:extLst>
                  <a:ext uri="{FF2B5EF4-FFF2-40B4-BE49-F238E27FC236}">
                    <a16:creationId xmlns:a16="http://schemas.microsoft.com/office/drawing/2014/main" id="{71F19F3A-86C6-4BC6-9C02-B53681C15642}"/>
                  </a:ext>
                </a:extLst>
              </p:cNvPr>
              <p:cNvSpPr>
                <a:spLocks noGrp="1" noRot="1" noChangeAspect="1" noMove="1" noResize="1" noEditPoints="1" noAdjustHandles="1" noChangeArrowheads="1" noChangeShapeType="1" noTextEdit="1"/>
              </p:cNvSpPr>
              <p:nvPr>
                <p:ph idx="1"/>
              </p:nvPr>
            </p:nvSpPr>
            <p:spPr>
              <a:blipFill>
                <a:blip r:embed="rId2"/>
                <a:stretch>
                  <a:fillRect l="-153"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3195063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3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32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3FB370BB-6103-4CBE-A6FE-62F5E77A0BA2}"/>
              </a:ext>
            </a:extLst>
          </p:cNvPr>
          <p:cNvSpPr>
            <a:spLocks noGrp="1"/>
          </p:cNvSpPr>
          <p:nvPr>
            <p:ph type="title"/>
          </p:nvPr>
        </p:nvSpPr>
        <p:spPr/>
        <p:txBody>
          <a:bodyPr>
            <a:normAutofit/>
          </a:bodyPr>
          <a:lstStyle/>
          <a:p>
            <a:r>
              <a:rPr lang="en-IN" altLang="en-US" b="1" dirty="0">
                <a:solidFill>
                  <a:schemeClr val="tx1"/>
                </a:solidFill>
              </a:rPr>
              <a:t>07) Intra – Year Discounting (</a:t>
            </a:r>
            <a:r>
              <a:rPr lang="en-IN" altLang="en-US" dirty="0">
                <a:solidFill>
                  <a:schemeClr val="tx1"/>
                </a:solidFill>
              </a:rPr>
              <a:t>Shorter discounting periods)</a:t>
            </a:r>
          </a:p>
        </p:txBody>
      </p:sp>
      <mc:AlternateContent xmlns:mc="http://schemas.openxmlformats.org/markup-compatibility/2006" xmlns:a14="http://schemas.microsoft.com/office/drawing/2010/main">
        <mc:Choice Requires="a14">
          <p:sp>
            <p:nvSpPr>
              <p:cNvPr id="61443" name="Content Placeholder 2">
                <a:extLst>
                  <a:ext uri="{FF2B5EF4-FFF2-40B4-BE49-F238E27FC236}">
                    <a16:creationId xmlns:a16="http://schemas.microsoft.com/office/drawing/2014/main" id="{DF541580-6D88-4B38-A741-A54605C2966B}"/>
                  </a:ext>
                </a:extLst>
              </p:cNvPr>
              <p:cNvSpPr>
                <a:spLocks noGrp="1"/>
              </p:cNvSpPr>
              <p:nvPr>
                <p:ph idx="1"/>
              </p:nvPr>
            </p:nvSpPr>
            <p:spPr/>
            <p:txBody>
              <a:bodyPr/>
              <a:lstStyle/>
              <a:p>
                <a:pPr marL="450850" indent="-342900"/>
                <a:r>
                  <a:rPr lang="en-IN" altLang="en-US" dirty="0"/>
                  <a:t>Present value of money when </a:t>
                </a:r>
                <a:r>
                  <a:rPr lang="en-US" b="1" dirty="0">
                    <a:solidFill>
                      <a:srgbClr val="C00000"/>
                    </a:solidFill>
                  </a:rPr>
                  <a:t>discounting take place more than one time in a year</a:t>
                </a:r>
                <a:r>
                  <a:rPr lang="en-US" dirty="0">
                    <a:solidFill>
                      <a:srgbClr val="FF0000"/>
                    </a:solidFill>
                  </a:rPr>
                  <a:t> </a:t>
                </a:r>
                <a:r>
                  <a:rPr lang="en-US" dirty="0"/>
                  <a:t>is called </a:t>
                </a:r>
                <a:r>
                  <a:rPr lang="en-IN" altLang="en-US" dirty="0"/>
                  <a:t>Intra – Year Discounting </a:t>
                </a:r>
                <a:r>
                  <a:rPr lang="en-IN" altLang="en-US" b="1" dirty="0"/>
                  <a:t>.</a:t>
                </a:r>
                <a:endParaRPr lang="en-IN" altLang="en-US" dirty="0"/>
              </a:p>
              <a:p>
                <a:pPr marL="107950" indent="0">
                  <a:buNone/>
                </a:pPr>
                <a:endParaRPr lang="en-IN" altLang="en-US" dirty="0"/>
              </a:p>
              <a:p>
                <a:pPr marL="450850" indent="-342900"/>
                <a:r>
                  <a:rPr lang="en-IN" altLang="en-US" dirty="0"/>
                  <a:t>Formula:</a:t>
                </a:r>
                <a:endParaRPr lang="en-GB" altLang="en-US" sz="3600" baseline="30000" dirty="0"/>
              </a:p>
              <a:p>
                <a:pPr marL="107950" indent="0">
                  <a:buNone/>
                </a:pPr>
                <a:r>
                  <a:rPr lang="en-IN" altLang="en-US" dirty="0"/>
                  <a:t>PV = </a:t>
                </a:r>
                <a:r>
                  <a:rPr lang="en-IN" altLang="en-US" dirty="0" err="1"/>
                  <a:t>FV</a:t>
                </a:r>
                <a:r>
                  <a:rPr lang="en-IN" altLang="en-US" sz="4400" baseline="-25000" dirty="0" err="1"/>
                  <a:t>n</a:t>
                </a:r>
                <a14:m>
                  <m:oMath xmlns:m="http://schemas.openxmlformats.org/officeDocument/2006/math">
                    <m:r>
                      <a:rPr lang="en-GB" altLang="en-US" b="0" i="1" smtClean="0">
                        <a:latin typeface="Cambria Math" panose="02040503050406030204" pitchFamily="18" charset="0"/>
                      </a:rPr>
                      <m:t>[</m:t>
                    </m:r>
                    <m:f>
                      <m:fPr>
                        <m:ctrlPr>
                          <a:rPr lang="en-IN" altLang="en-US" i="1" smtClean="0">
                            <a:latin typeface="Cambria Math" panose="02040503050406030204" pitchFamily="18" charset="0"/>
                          </a:rPr>
                        </m:ctrlPr>
                      </m:fPr>
                      <m:num>
                        <m:r>
                          <a:rPr lang="en-GB" altLang="en-US" b="0" i="1" smtClean="0">
                            <a:latin typeface="Cambria Math" panose="02040503050406030204" pitchFamily="18" charset="0"/>
                          </a:rPr>
                          <m:t>1</m:t>
                        </m:r>
                      </m:num>
                      <m:den>
                        <m:r>
                          <a:rPr lang="en-GB" altLang="en-US" b="0" i="1" smtClean="0">
                            <a:latin typeface="Cambria Math" panose="02040503050406030204" pitchFamily="18" charset="0"/>
                          </a:rPr>
                          <m:t>1+</m:t>
                        </m:r>
                        <m:r>
                          <a:rPr lang="en-GB" altLang="en-US" b="0" i="1" smtClean="0">
                            <a:latin typeface="Cambria Math" panose="02040503050406030204" pitchFamily="18" charset="0"/>
                          </a:rPr>
                          <m:t>𝑟</m:t>
                        </m:r>
                        <m:r>
                          <a:rPr lang="en-GB" altLang="en-US" b="0" i="1" smtClean="0">
                            <a:latin typeface="Cambria Math" panose="02040503050406030204" pitchFamily="18" charset="0"/>
                          </a:rPr>
                          <m:t>/</m:t>
                        </m:r>
                        <m:r>
                          <a:rPr lang="en-GB" altLang="en-US" b="0" i="1" smtClean="0">
                            <a:latin typeface="Cambria Math" panose="02040503050406030204" pitchFamily="18" charset="0"/>
                          </a:rPr>
                          <m:t>𝑚</m:t>
                        </m:r>
                      </m:den>
                    </m:f>
                    <m:r>
                      <a:rPr lang="en-GB" altLang="en-US" b="0" i="0" smtClean="0">
                        <a:latin typeface="Cambria Math" panose="02040503050406030204" pitchFamily="18" charset="0"/>
                      </a:rPr>
                      <m:t>]</m:t>
                    </m:r>
                  </m:oMath>
                </a14:m>
                <a:r>
                  <a:rPr lang="en-IN" altLang="en-US" baseline="30000" dirty="0"/>
                  <a:t>m*n</a:t>
                </a:r>
              </a:p>
            </p:txBody>
          </p:sp>
        </mc:Choice>
        <mc:Fallback xmlns="">
          <p:sp>
            <p:nvSpPr>
              <p:cNvPr id="61443" name="Content Placeholder 2">
                <a:extLst>
                  <a:ext uri="{FF2B5EF4-FFF2-40B4-BE49-F238E27FC236}">
                    <a16:creationId xmlns:a16="http://schemas.microsoft.com/office/drawing/2014/main" id="{DF541580-6D88-4B38-A741-A54605C2966B}"/>
                  </a:ext>
                </a:extLst>
              </p:cNvPr>
              <p:cNvSpPr>
                <a:spLocks noGrp="1" noRot="1" noChangeAspect="1" noMove="1" noResize="1" noEditPoints="1" noAdjustHandles="1" noChangeArrowheads="1" noChangeShapeType="1" noTextEdit="1"/>
              </p:cNvSpPr>
              <p:nvPr>
                <p:ph idx="1"/>
              </p:nvPr>
            </p:nvSpPr>
            <p:spPr>
              <a:blipFill>
                <a:blip r:embed="rId2"/>
                <a:stretch>
                  <a:fillRect l="-153"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265675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E6FFFFCB-65D8-4F35-846B-52BBE3D11F26}"/>
              </a:ext>
            </a:extLst>
          </p:cNvPr>
          <p:cNvSpPr>
            <a:spLocks noGrp="1"/>
          </p:cNvSpPr>
          <p:nvPr>
            <p:ph type="title"/>
          </p:nvPr>
        </p:nvSpPr>
        <p:spPr/>
        <p:txBody>
          <a:bodyPr/>
          <a:lstStyle/>
          <a:p>
            <a:r>
              <a:rPr lang="en-IN" altLang="en-US" dirty="0"/>
              <a:t>Question.13</a:t>
            </a:r>
          </a:p>
        </p:txBody>
      </p:sp>
      <mc:AlternateContent xmlns:mc="http://schemas.openxmlformats.org/markup-compatibility/2006" xmlns:a14="http://schemas.microsoft.com/office/drawing/2010/main">
        <mc:Choice Requires="a14">
          <p:sp>
            <p:nvSpPr>
              <p:cNvPr id="62467" name="Content Placeholder 2">
                <a:extLst>
                  <a:ext uri="{FF2B5EF4-FFF2-40B4-BE49-F238E27FC236}">
                    <a16:creationId xmlns:a16="http://schemas.microsoft.com/office/drawing/2014/main" id="{C876F79F-F3E0-4FB6-8AAF-F8C1C1404C9B}"/>
                  </a:ext>
                </a:extLst>
              </p:cNvPr>
              <p:cNvSpPr>
                <a:spLocks noGrp="1"/>
              </p:cNvSpPr>
              <p:nvPr>
                <p:ph idx="1"/>
              </p:nvPr>
            </p:nvSpPr>
            <p:spPr/>
            <p:txBody>
              <a:bodyPr/>
              <a:lstStyle/>
              <a:p>
                <a:pPr marL="107950" indent="0" algn="just">
                  <a:buNone/>
                </a:pPr>
                <a:r>
                  <a:rPr lang="en-IN" altLang="en-US" dirty="0"/>
                  <a:t>A cash flow of Rs. 10,000 to  be received at the end of  4 years. What will be the present value of this cash flow if the rate of Discount is 12% and Discounting is done quarterly ?</a:t>
                </a:r>
              </a:p>
              <a:p>
                <a:pPr marL="107950" indent="0" algn="just">
                  <a:buNone/>
                </a:pPr>
                <a:endParaRPr lang="en-IN" altLang="en-US" dirty="0"/>
              </a:p>
              <a:p>
                <a:pPr marL="107950" indent="0">
                  <a:buNone/>
                </a:pPr>
                <a:r>
                  <a:rPr lang="en-IN" altLang="en-US" dirty="0"/>
                  <a:t>PV = 1</a:t>
                </a:r>
                <a14:m>
                  <m:oMath xmlns:m="http://schemas.openxmlformats.org/officeDocument/2006/math">
                    <m:r>
                      <a:rPr lang="en-GB" altLang="en-US" b="0" i="0" smtClean="0">
                        <a:latin typeface="Cambria Math" panose="02040503050406030204" pitchFamily="18" charset="0"/>
                      </a:rPr>
                      <m:t>0,000</m:t>
                    </m:r>
                    <m:r>
                      <a:rPr lang="en-GB" altLang="en-US" i="1">
                        <a:latin typeface="Cambria Math" panose="02040503050406030204" pitchFamily="18" charset="0"/>
                      </a:rPr>
                      <m:t>[</m:t>
                    </m:r>
                    <m:f>
                      <m:fPr>
                        <m:ctrlPr>
                          <a:rPr lang="en-IN" altLang="en-US" i="1">
                            <a:latin typeface="Cambria Math" panose="02040503050406030204" pitchFamily="18" charset="0"/>
                          </a:rPr>
                        </m:ctrlPr>
                      </m:fPr>
                      <m:num>
                        <m:r>
                          <a:rPr lang="en-GB" altLang="en-US" i="1">
                            <a:latin typeface="Cambria Math" panose="02040503050406030204" pitchFamily="18" charset="0"/>
                          </a:rPr>
                          <m:t>1</m:t>
                        </m:r>
                      </m:num>
                      <m:den>
                        <m:r>
                          <a:rPr lang="en-GB" altLang="en-US" i="1">
                            <a:latin typeface="Cambria Math" panose="02040503050406030204" pitchFamily="18" charset="0"/>
                          </a:rPr>
                          <m:t>1+</m:t>
                        </m:r>
                        <m:r>
                          <a:rPr lang="en-GB" altLang="en-US" b="0" i="1" smtClean="0">
                            <a:latin typeface="Cambria Math" panose="02040503050406030204" pitchFamily="18" charset="0"/>
                          </a:rPr>
                          <m:t>0.12</m:t>
                        </m:r>
                        <m:r>
                          <a:rPr lang="en-GB" altLang="en-US" i="1">
                            <a:latin typeface="Cambria Math" panose="02040503050406030204" pitchFamily="18" charset="0"/>
                          </a:rPr>
                          <m:t>/</m:t>
                        </m:r>
                        <m:r>
                          <a:rPr lang="en-GB" altLang="en-US" b="0" i="1" smtClean="0">
                            <a:latin typeface="Cambria Math" panose="02040503050406030204" pitchFamily="18" charset="0"/>
                          </a:rPr>
                          <m:t>4</m:t>
                        </m:r>
                      </m:den>
                    </m:f>
                    <m:r>
                      <a:rPr lang="en-GB" altLang="en-US">
                        <a:latin typeface="Cambria Math" panose="02040503050406030204" pitchFamily="18" charset="0"/>
                      </a:rPr>
                      <m:t>]</m:t>
                    </m:r>
                  </m:oMath>
                </a14:m>
                <a:r>
                  <a:rPr lang="en-IN" altLang="en-US" baseline="30000" dirty="0"/>
                  <a:t>4*4</a:t>
                </a:r>
              </a:p>
              <a:p>
                <a:pPr marL="107950" indent="0">
                  <a:buNone/>
                </a:pPr>
                <a:r>
                  <a:rPr lang="en-GB" altLang="en-US" dirty="0"/>
                  <a:t>PV = 10,000</a:t>
                </a:r>
                <a14:m>
                  <m:oMath xmlns:m="http://schemas.openxmlformats.org/officeDocument/2006/math">
                    <m:r>
                      <a:rPr lang="en-GB" altLang="en-US" i="1">
                        <a:latin typeface="Cambria Math" panose="02040503050406030204" pitchFamily="18" charset="0"/>
                      </a:rPr>
                      <m:t>[</m:t>
                    </m:r>
                    <m:f>
                      <m:fPr>
                        <m:ctrlPr>
                          <a:rPr lang="en-IN" altLang="en-US" i="1">
                            <a:latin typeface="Cambria Math" panose="02040503050406030204" pitchFamily="18" charset="0"/>
                          </a:rPr>
                        </m:ctrlPr>
                      </m:fPr>
                      <m:num>
                        <m:r>
                          <a:rPr lang="en-GB" altLang="en-US" i="1">
                            <a:latin typeface="Cambria Math" panose="02040503050406030204" pitchFamily="18" charset="0"/>
                          </a:rPr>
                          <m:t>1</m:t>
                        </m:r>
                      </m:num>
                      <m:den>
                        <m:r>
                          <a:rPr lang="en-GB" altLang="en-US" b="0" i="1" smtClean="0">
                            <a:latin typeface="Cambria Math" panose="02040503050406030204" pitchFamily="18" charset="0"/>
                          </a:rPr>
                          <m:t>1+0.03</m:t>
                        </m:r>
                      </m:den>
                    </m:f>
                    <m:r>
                      <a:rPr lang="en-GB" altLang="en-US">
                        <a:latin typeface="Cambria Math" panose="02040503050406030204" pitchFamily="18" charset="0"/>
                      </a:rPr>
                      <m:t>]</m:t>
                    </m:r>
                  </m:oMath>
                </a14:m>
                <a:r>
                  <a:rPr lang="en-IN" altLang="en-US" baseline="30000" dirty="0"/>
                  <a:t>16</a:t>
                </a:r>
              </a:p>
              <a:p>
                <a:pPr marL="107950" indent="0">
                  <a:buNone/>
                </a:pPr>
                <a:r>
                  <a:rPr lang="en-GB" altLang="en-US" dirty="0"/>
                  <a:t>PV = 10,000</a:t>
                </a:r>
                <a14:m>
                  <m:oMath xmlns:m="http://schemas.openxmlformats.org/officeDocument/2006/math">
                    <m:r>
                      <a:rPr lang="en-GB" altLang="en-US" i="1">
                        <a:latin typeface="Cambria Math" panose="02040503050406030204" pitchFamily="18" charset="0"/>
                      </a:rPr>
                      <m:t>[</m:t>
                    </m:r>
                    <m:f>
                      <m:fPr>
                        <m:ctrlPr>
                          <a:rPr lang="en-IN" altLang="en-US" i="1">
                            <a:latin typeface="Cambria Math" panose="02040503050406030204" pitchFamily="18" charset="0"/>
                          </a:rPr>
                        </m:ctrlPr>
                      </m:fPr>
                      <m:num>
                        <m:r>
                          <a:rPr lang="en-GB" altLang="en-US" i="1">
                            <a:latin typeface="Cambria Math" panose="02040503050406030204" pitchFamily="18" charset="0"/>
                          </a:rPr>
                          <m:t>1</m:t>
                        </m:r>
                      </m:num>
                      <m:den>
                        <m:r>
                          <a:rPr lang="en-GB" altLang="en-US" i="1">
                            <a:latin typeface="Cambria Math" panose="02040503050406030204" pitchFamily="18" charset="0"/>
                          </a:rPr>
                          <m:t>1.03</m:t>
                        </m:r>
                      </m:den>
                    </m:f>
                    <m:r>
                      <a:rPr lang="en-GB" altLang="en-US">
                        <a:latin typeface="Cambria Math" panose="02040503050406030204" pitchFamily="18" charset="0"/>
                      </a:rPr>
                      <m:t>]</m:t>
                    </m:r>
                  </m:oMath>
                </a14:m>
                <a:r>
                  <a:rPr lang="en-IN" altLang="en-US" baseline="30000" dirty="0"/>
                  <a:t>16</a:t>
                </a:r>
              </a:p>
              <a:p>
                <a:pPr marL="107950" indent="0">
                  <a:buNone/>
                </a:pPr>
                <a:r>
                  <a:rPr lang="en-GB" altLang="en-US" dirty="0"/>
                  <a:t>PV = 10,000 * 0.623</a:t>
                </a:r>
              </a:p>
              <a:p>
                <a:pPr marL="107950" indent="0">
                  <a:buNone/>
                </a:pPr>
                <a:endParaRPr lang="en-GB" altLang="en-US" dirty="0"/>
              </a:p>
              <a:p>
                <a:pPr marL="107950" indent="0">
                  <a:buNone/>
                </a:pPr>
                <a:r>
                  <a:rPr lang="en-IN" b="1" dirty="0">
                    <a:solidFill>
                      <a:srgbClr val="C00000"/>
                    </a:solidFill>
                  </a:rPr>
                  <a:t>PV = 6,230</a:t>
                </a:r>
                <a:endParaRPr lang="en-IN" altLang="en-US" b="1" dirty="0">
                  <a:solidFill>
                    <a:srgbClr val="C00000"/>
                  </a:solidFill>
                </a:endParaRPr>
              </a:p>
            </p:txBody>
          </p:sp>
        </mc:Choice>
        <mc:Fallback xmlns="">
          <p:sp>
            <p:nvSpPr>
              <p:cNvPr id="62467" name="Content Placeholder 2">
                <a:extLst>
                  <a:ext uri="{FF2B5EF4-FFF2-40B4-BE49-F238E27FC236}">
                    <a16:creationId xmlns:a16="http://schemas.microsoft.com/office/drawing/2014/main" id="{C876F79F-F3E0-4FB6-8AAF-F8C1C1404C9B}"/>
                  </a:ext>
                </a:extLst>
              </p:cNvPr>
              <p:cNvSpPr>
                <a:spLocks noGrp="1" noRot="1" noChangeAspect="1" noMove="1" noResize="1" noEditPoints="1" noAdjustHandles="1" noChangeArrowheads="1" noChangeShapeType="1" noTextEdit="1"/>
              </p:cNvSpPr>
              <p:nvPr>
                <p:ph idx="1"/>
              </p:nvPr>
            </p:nvSpPr>
            <p:spPr>
              <a:blipFill>
                <a:blip r:embed="rId2"/>
                <a:stretch>
                  <a:fillRect l="-153"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2287531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4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46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46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4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5F19-B16F-5403-A1D2-3CD9DD4BA57A}"/>
              </a:ext>
            </a:extLst>
          </p:cNvPr>
          <p:cNvSpPr>
            <a:spLocks noGrp="1"/>
          </p:cNvSpPr>
          <p:nvPr>
            <p:ph type="title"/>
          </p:nvPr>
        </p:nvSpPr>
        <p:spPr/>
        <p:txBody>
          <a:bodyPr/>
          <a:lstStyle/>
          <a:p>
            <a:r>
              <a:rPr lang="en-GB" dirty="0"/>
              <a:t>Sinking Fund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574D6B-1080-6CCF-8567-1A8FE1B4A22D}"/>
                  </a:ext>
                </a:extLst>
              </p:cNvPr>
              <p:cNvSpPr>
                <a:spLocks noGrp="1"/>
              </p:cNvSpPr>
              <p:nvPr>
                <p:ph idx="1"/>
              </p:nvPr>
            </p:nvSpPr>
            <p:spPr/>
            <p:txBody>
              <a:bodyPr/>
              <a:lstStyle/>
              <a:p>
                <a:r>
                  <a:rPr lang="en-GB" dirty="0"/>
                  <a:t>A sinking fund is a fund where you set aside a fixed amount of money at regular interval to meet the future expenses.</a:t>
                </a:r>
              </a:p>
              <a:p>
                <a:r>
                  <a:rPr lang="en-GB" dirty="0"/>
                  <a:t>It is like saving in advance for a big payment you will need to make in future.</a:t>
                </a:r>
              </a:p>
              <a:p>
                <a:r>
                  <a:rPr lang="en-GB" dirty="0"/>
                  <a:t>For example, repaying a loan</a:t>
                </a:r>
              </a:p>
              <a:p>
                <a:r>
                  <a:rPr lang="en-GB" dirty="0"/>
                  <a:t>Formula </a:t>
                </a:r>
              </a:p>
              <a:p>
                <a:pPr marL="0" indent="0">
                  <a:buNone/>
                </a:pPr>
                <a:r>
                  <a:rPr lang="en-IN" dirty="0"/>
                  <a:t>P = </a:t>
                </a:r>
                <a14:m>
                  <m:oMath xmlns:m="http://schemas.openxmlformats.org/officeDocument/2006/math">
                    <m:f>
                      <m:fPr>
                        <m:ctrlPr>
                          <a:rPr lang="en-IN" i="1" smtClean="0">
                            <a:latin typeface="Cambria Math" panose="02040503050406030204" pitchFamily="18" charset="0"/>
                          </a:rPr>
                        </m:ctrlPr>
                      </m:fPr>
                      <m:num>
                        <m:r>
                          <a:rPr lang="en-GB" b="0" i="1" smtClean="0">
                            <a:latin typeface="Cambria Math" panose="02040503050406030204" pitchFamily="18" charset="0"/>
                          </a:rPr>
                          <m:t>𝐹𝑉</m:t>
                        </m:r>
                        <m:r>
                          <a:rPr lang="en-GB" b="0" i="1" smtClean="0">
                            <a:latin typeface="Cambria Math" panose="02040503050406030204" pitchFamily="18" charset="0"/>
                          </a:rPr>
                          <m:t> ∗ </m:t>
                        </m:r>
                        <m:r>
                          <a:rPr lang="en-GB" b="0" i="1" smtClean="0">
                            <a:latin typeface="Cambria Math" panose="02040503050406030204" pitchFamily="18" charset="0"/>
                          </a:rPr>
                          <m:t>𝑟</m:t>
                        </m:r>
                      </m:num>
                      <m:den>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𝑟</m:t>
                            </m:r>
                          </m:e>
                        </m:d>
                        <m:r>
                          <a:rPr lang="en-GB" b="0" i="1" baseline="30000" smtClean="0">
                            <a:latin typeface="Cambria Math" panose="02040503050406030204" pitchFamily="18" charset="0"/>
                          </a:rPr>
                          <m:t>𝑛</m:t>
                        </m:r>
                        <m:r>
                          <a:rPr lang="en-GB" b="0" i="1" smtClean="0">
                            <a:latin typeface="Cambria Math" panose="02040503050406030204" pitchFamily="18" charset="0"/>
                          </a:rPr>
                          <m:t>−1</m:t>
                        </m:r>
                      </m:den>
                    </m:f>
                  </m:oMath>
                </a14:m>
                <a:endParaRPr lang="en-IN" dirty="0"/>
              </a:p>
            </p:txBody>
          </p:sp>
        </mc:Choice>
        <mc:Fallback xmlns="">
          <p:sp>
            <p:nvSpPr>
              <p:cNvPr id="3" name="Content Placeholder 2">
                <a:extLst>
                  <a:ext uri="{FF2B5EF4-FFF2-40B4-BE49-F238E27FC236}">
                    <a16:creationId xmlns:a16="http://schemas.microsoft.com/office/drawing/2014/main" id="{3B574D6B-1080-6CCF-8567-1A8FE1B4A22D}"/>
                  </a:ext>
                </a:extLst>
              </p:cNvPr>
              <p:cNvSpPr>
                <a:spLocks noGrp="1" noRot="1" noChangeAspect="1" noMove="1" noResize="1" noEditPoints="1" noAdjustHandles="1" noChangeArrowheads="1" noChangeShapeType="1" noTextEdit="1"/>
              </p:cNvSpPr>
              <p:nvPr>
                <p:ph idx="1"/>
              </p:nvPr>
            </p:nvSpPr>
            <p:spPr>
              <a:blipFill>
                <a:blip r:embed="rId2"/>
                <a:stretch>
                  <a:fillRect l="-1074"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321053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57A3-97A6-28DF-1BE3-952BC8480B5D}"/>
              </a:ext>
            </a:extLst>
          </p:cNvPr>
          <p:cNvSpPr>
            <a:spLocks noGrp="1"/>
          </p:cNvSpPr>
          <p:nvPr>
            <p:ph type="title"/>
          </p:nvPr>
        </p:nvSpPr>
        <p:spPr/>
        <p:txBody>
          <a:bodyPr/>
          <a:lstStyle/>
          <a:p>
            <a:r>
              <a:rPr lang="en-IN" altLang="en-US" dirty="0"/>
              <a:t>Question.14</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669334-B8B6-FC9F-F168-652308005974}"/>
                  </a:ext>
                </a:extLst>
              </p:cNvPr>
              <p:cNvSpPr>
                <a:spLocks noGrp="1"/>
              </p:cNvSpPr>
              <p:nvPr>
                <p:ph idx="1"/>
              </p:nvPr>
            </p:nvSpPr>
            <p:spPr/>
            <p:txBody>
              <a:bodyPr/>
              <a:lstStyle/>
              <a:p>
                <a:r>
                  <a:rPr lang="en-GB" dirty="0"/>
                  <a:t>Amit wants 50,000 after five years to repay the loan. He can invest at 6% annual interest. How much he should save each year?</a:t>
                </a:r>
              </a:p>
              <a:p>
                <a:endParaRPr lang="en-GB" dirty="0"/>
              </a:p>
              <a:p>
                <a:pPr marL="0" indent="0">
                  <a:lnSpc>
                    <a:spcPct val="100000"/>
                  </a:lnSpc>
                  <a:buNone/>
                </a:pPr>
                <a:r>
                  <a:rPr lang="en-IN" dirty="0"/>
                  <a:t>P = </a:t>
                </a:r>
                <a14:m>
                  <m:oMath xmlns:m="http://schemas.openxmlformats.org/officeDocument/2006/math">
                    <m:f>
                      <m:fPr>
                        <m:ctrlPr>
                          <a:rPr lang="en-IN" i="1" smtClean="0">
                            <a:latin typeface="Cambria Math" panose="02040503050406030204" pitchFamily="18" charset="0"/>
                          </a:rPr>
                        </m:ctrlPr>
                      </m:fPr>
                      <m:num>
                        <m:r>
                          <a:rPr lang="en-GB" b="0" i="1" smtClean="0">
                            <a:latin typeface="Cambria Math" panose="02040503050406030204" pitchFamily="18" charset="0"/>
                          </a:rPr>
                          <m:t>𝐹𝑉</m:t>
                        </m:r>
                        <m:r>
                          <a:rPr lang="en-GB" b="0" i="1" smtClean="0">
                            <a:latin typeface="Cambria Math" panose="02040503050406030204" pitchFamily="18" charset="0"/>
                          </a:rPr>
                          <m:t> ∗ </m:t>
                        </m:r>
                        <m:r>
                          <a:rPr lang="en-GB" b="0" i="1" smtClean="0">
                            <a:latin typeface="Cambria Math" panose="02040503050406030204" pitchFamily="18" charset="0"/>
                          </a:rPr>
                          <m:t>𝑟</m:t>
                        </m:r>
                      </m:num>
                      <m:den>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𝑟</m:t>
                            </m:r>
                          </m:e>
                        </m:d>
                        <m:r>
                          <a:rPr lang="en-GB" b="0" i="1" baseline="30000" smtClean="0">
                            <a:latin typeface="Cambria Math" panose="02040503050406030204" pitchFamily="18" charset="0"/>
                          </a:rPr>
                          <m:t>𝑛</m:t>
                        </m:r>
                        <m:r>
                          <a:rPr lang="en-GB" b="0" i="1" smtClean="0">
                            <a:latin typeface="Cambria Math" panose="02040503050406030204" pitchFamily="18" charset="0"/>
                          </a:rPr>
                          <m:t>−1</m:t>
                        </m:r>
                      </m:den>
                    </m:f>
                  </m:oMath>
                </a14:m>
                <a:endParaRPr lang="en-IN" dirty="0"/>
              </a:p>
              <a:p>
                <a:pPr marL="0" indent="0">
                  <a:lnSpc>
                    <a:spcPct val="100000"/>
                  </a:lnSpc>
                  <a:buNone/>
                </a:pPr>
                <a:r>
                  <a:rPr lang="en-IN" dirty="0"/>
                  <a:t>P = </a:t>
                </a:r>
                <a14:m>
                  <m:oMath xmlns:m="http://schemas.openxmlformats.org/officeDocument/2006/math">
                    <m:f>
                      <m:fPr>
                        <m:ctrlPr>
                          <a:rPr lang="en-IN" i="1" smtClean="0">
                            <a:latin typeface="Cambria Math" panose="02040503050406030204" pitchFamily="18" charset="0"/>
                          </a:rPr>
                        </m:ctrlPr>
                      </m:fPr>
                      <m:num>
                        <m:r>
                          <a:rPr lang="en-GB" b="0" i="1" smtClean="0">
                            <a:latin typeface="Cambria Math" panose="02040503050406030204" pitchFamily="18" charset="0"/>
                          </a:rPr>
                          <m:t>50,000 ∗0.06</m:t>
                        </m:r>
                      </m:num>
                      <m:den>
                        <m:d>
                          <m:dPr>
                            <m:ctrlPr>
                              <a:rPr lang="en-GB" b="0" i="1" smtClean="0">
                                <a:latin typeface="Cambria Math" panose="02040503050406030204" pitchFamily="18" charset="0"/>
                              </a:rPr>
                            </m:ctrlPr>
                          </m:dPr>
                          <m:e>
                            <m:r>
                              <a:rPr lang="en-GB" b="0" i="1" smtClean="0">
                                <a:latin typeface="Cambria Math" panose="02040503050406030204" pitchFamily="18" charset="0"/>
                              </a:rPr>
                              <m:t>1+0.06</m:t>
                            </m:r>
                          </m:e>
                        </m:d>
                        <m:r>
                          <a:rPr lang="en-GB" b="0" i="1" baseline="30000" smtClean="0">
                            <a:latin typeface="Cambria Math" panose="02040503050406030204" pitchFamily="18" charset="0"/>
                          </a:rPr>
                          <m:t>5</m:t>
                        </m:r>
                        <m:r>
                          <a:rPr lang="en-GB" b="0" i="1" smtClean="0">
                            <a:latin typeface="Cambria Math" panose="02040503050406030204" pitchFamily="18" charset="0"/>
                          </a:rPr>
                          <m:t>−1</m:t>
                        </m:r>
                      </m:den>
                    </m:f>
                  </m:oMath>
                </a14:m>
                <a:endParaRPr lang="en-IN" dirty="0"/>
              </a:p>
              <a:p>
                <a:pPr marL="0" indent="0">
                  <a:lnSpc>
                    <a:spcPct val="100000"/>
                  </a:lnSpc>
                  <a:buNone/>
                </a:pPr>
                <a:r>
                  <a:rPr lang="en-IN" dirty="0"/>
                  <a:t>P = </a:t>
                </a:r>
                <a14:m>
                  <m:oMath xmlns:m="http://schemas.openxmlformats.org/officeDocument/2006/math">
                    <m:f>
                      <m:fPr>
                        <m:ctrlPr>
                          <a:rPr lang="en-IN" i="1" smtClean="0">
                            <a:latin typeface="Cambria Math" panose="02040503050406030204" pitchFamily="18" charset="0"/>
                          </a:rPr>
                        </m:ctrlPr>
                      </m:fPr>
                      <m:num>
                        <m:r>
                          <a:rPr lang="en-GB" b="0" i="1" smtClean="0">
                            <a:latin typeface="Cambria Math" panose="02040503050406030204" pitchFamily="18" charset="0"/>
                          </a:rPr>
                          <m:t>3,000 </m:t>
                        </m:r>
                      </m:num>
                      <m:den>
                        <m:r>
                          <a:rPr lang="en-GB" b="0" i="1" smtClean="0">
                            <a:latin typeface="Cambria Math" panose="02040503050406030204" pitchFamily="18" charset="0"/>
                          </a:rPr>
                          <m:t>0.3382</m:t>
                        </m:r>
                      </m:den>
                    </m:f>
                  </m:oMath>
                </a14:m>
                <a:endParaRPr lang="en-IN" dirty="0"/>
              </a:p>
              <a:p>
                <a:pPr marL="0" indent="0">
                  <a:lnSpc>
                    <a:spcPct val="100000"/>
                  </a:lnSpc>
                  <a:buNone/>
                </a:pPr>
                <a:endParaRPr lang="en-IN" dirty="0"/>
              </a:p>
              <a:p>
                <a:pPr marL="0" indent="0">
                  <a:lnSpc>
                    <a:spcPct val="100000"/>
                  </a:lnSpc>
                  <a:buNone/>
                </a:pPr>
                <a:r>
                  <a:rPr lang="en-IN" b="1" dirty="0">
                    <a:solidFill>
                      <a:srgbClr val="C00000"/>
                    </a:solidFill>
                  </a:rPr>
                  <a:t>P = 8,870</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1A669334-B8B6-FC9F-F168-652308005974}"/>
                  </a:ext>
                </a:extLst>
              </p:cNvPr>
              <p:cNvSpPr>
                <a:spLocks noGrp="1" noRot="1" noChangeAspect="1" noMove="1" noResize="1" noEditPoints="1" noAdjustHandles="1" noChangeArrowheads="1" noChangeShapeType="1" noTextEdit="1"/>
              </p:cNvSpPr>
              <p:nvPr>
                <p:ph idx="1"/>
              </p:nvPr>
            </p:nvSpPr>
            <p:spPr>
              <a:blipFill>
                <a:blip r:embed="rId2"/>
                <a:stretch>
                  <a:fillRect l="-1074"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211632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Loan Amortisation &amp; Capital Recovery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GB" dirty="0"/>
                  <a:t>Loan amortisation is a process of paying back a loan through a series of equal or regular instalments.</a:t>
                </a:r>
                <a:r>
                  <a:rPr lang="en-GB" b="1" dirty="0">
                    <a:solidFill>
                      <a:srgbClr val="C00000"/>
                    </a:solidFill>
                  </a:rPr>
                  <a:t> </a:t>
                </a:r>
                <a:r>
                  <a:rPr lang="en-US" b="1" dirty="0">
                    <a:solidFill>
                      <a:srgbClr val="C00000"/>
                    </a:solidFill>
                  </a:rPr>
                  <a:t>Amortization</a:t>
                </a:r>
                <a:r>
                  <a:rPr lang="en-US" dirty="0"/>
                  <a:t> refers to spreading out the repayment of a loan over time.</a:t>
                </a:r>
              </a:p>
              <a:p>
                <a:r>
                  <a:rPr lang="en-GB" dirty="0"/>
                  <a:t>Each instalment is known as </a:t>
                </a:r>
                <a:r>
                  <a:rPr lang="en-GB" b="1" dirty="0"/>
                  <a:t>EMI (Equated Monthly Instalment)</a:t>
                </a:r>
              </a:p>
              <a:p>
                <a:r>
                  <a:rPr lang="en-US" dirty="0"/>
                  <a:t>A </a:t>
                </a:r>
                <a:r>
                  <a:rPr lang="en-US" b="1" dirty="0">
                    <a:solidFill>
                      <a:srgbClr val="C00000"/>
                    </a:solidFill>
                  </a:rPr>
                  <a:t>loan amortization schedule</a:t>
                </a:r>
                <a:r>
                  <a:rPr lang="en-US" b="1" dirty="0">
                    <a:solidFill>
                      <a:schemeClr val="accent6">
                        <a:lumMod val="75000"/>
                      </a:schemeClr>
                    </a:solidFill>
                  </a:rPr>
                  <a:t> </a:t>
                </a:r>
                <a:r>
                  <a:rPr lang="en-US" dirty="0"/>
                  <a:t>represents the complete </a:t>
                </a:r>
                <a:r>
                  <a:rPr lang="en-US" b="1" dirty="0">
                    <a:solidFill>
                      <a:srgbClr val="C00000"/>
                    </a:solidFill>
                  </a:rPr>
                  <a:t>table of periodic</a:t>
                </a:r>
                <a:r>
                  <a:rPr lang="en-US" b="1" dirty="0">
                    <a:solidFill>
                      <a:schemeClr val="accent6">
                        <a:lumMod val="75000"/>
                      </a:schemeClr>
                    </a:solidFill>
                  </a:rPr>
                  <a:t> </a:t>
                </a:r>
                <a:r>
                  <a:rPr lang="en-US" dirty="0"/>
                  <a:t>loan payments, showing </a:t>
                </a:r>
                <a:r>
                  <a:rPr lang="en-US" b="1" dirty="0">
                    <a:solidFill>
                      <a:srgbClr val="C00000"/>
                    </a:solidFill>
                  </a:rPr>
                  <a:t>the amount of principal and interest</a:t>
                </a:r>
                <a:r>
                  <a:rPr lang="en-US" b="1" dirty="0">
                    <a:solidFill>
                      <a:schemeClr val="accent6">
                        <a:lumMod val="75000"/>
                      </a:schemeClr>
                    </a:solidFill>
                  </a:rPr>
                  <a:t> </a:t>
                </a:r>
                <a:r>
                  <a:rPr lang="en-US" dirty="0"/>
                  <a:t>that comprise each level payment until the loan is paid off at the end of its term.</a:t>
                </a:r>
              </a:p>
              <a:p>
                <a:r>
                  <a:rPr lang="en-US" dirty="0"/>
                  <a:t>Formula (Same as present value of an annuity)</a:t>
                </a:r>
              </a:p>
              <a:p>
                <a14:m>
                  <m:oMath xmlns:m="http://schemas.openxmlformats.org/officeDocument/2006/math">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𝐴</m:t>
                    </m:r>
                    <m:d>
                      <m:dPr>
                        <m:begChr m:val="["/>
                        <m:endChr m:val="]"/>
                        <m:ctrlPr>
                          <a:rPr lang="en-IN" sz="2400" i="1">
                            <a:latin typeface="Cambria Math" panose="02040503050406030204" pitchFamily="18" charset="0"/>
                          </a:rPr>
                        </m:ctrlPr>
                      </m:dPr>
                      <m:e>
                        <m:f>
                          <m:fPr>
                            <m:ctrlPr>
                              <a:rPr lang="en-IN" sz="2400" i="1">
                                <a:latin typeface="Cambria Math" panose="02040503050406030204" pitchFamily="18" charset="0"/>
                              </a:rPr>
                            </m:ctrlPr>
                          </m:fPr>
                          <m:num>
                            <m:r>
                              <a:rPr lang="en-US" sz="2400" i="1">
                                <a:latin typeface="Cambria Math" panose="02040503050406030204" pitchFamily="18" charset="0"/>
                              </a:rPr>
                              <m:t>1</m:t>
                            </m:r>
                          </m:num>
                          <m:den>
                            <m:r>
                              <a:rPr lang="en-GB" sz="2400" i="1">
                                <a:latin typeface="Cambria Math" panose="02040503050406030204" pitchFamily="18" charset="0"/>
                              </a:rPr>
                              <m:t>𝑟</m:t>
                            </m:r>
                          </m:den>
                        </m:f>
                        <m:r>
                          <a:rPr lang="en-US" sz="2400" i="1">
                            <a:latin typeface="Cambria Math" panose="02040503050406030204" pitchFamily="18" charset="0"/>
                          </a:rPr>
                          <m:t>− </m:t>
                        </m:r>
                        <m:f>
                          <m:fPr>
                            <m:ctrlPr>
                              <a:rPr lang="en-IN" sz="2400" i="1">
                                <a:latin typeface="Cambria Math" panose="02040503050406030204" pitchFamily="18" charset="0"/>
                              </a:rPr>
                            </m:ctrlPr>
                          </m:fPr>
                          <m:num>
                            <m:r>
                              <a:rPr lang="en-US" sz="2400" i="1">
                                <a:latin typeface="Cambria Math" panose="02040503050406030204" pitchFamily="18" charset="0"/>
                              </a:rPr>
                              <m:t>1</m:t>
                            </m:r>
                          </m:num>
                          <m:den>
                            <m:sSup>
                              <m:sSupPr>
                                <m:ctrlPr>
                                  <a:rPr lang="en-IN" sz="2400" i="1">
                                    <a:latin typeface="Cambria Math" panose="02040503050406030204" pitchFamily="18" charset="0"/>
                                  </a:rPr>
                                </m:ctrlPr>
                              </m:sSupPr>
                              <m:e>
                                <m:r>
                                  <a:rPr lang="en-GB" sz="2400" i="1">
                                    <a:latin typeface="Cambria Math" panose="02040503050406030204" pitchFamily="18" charset="0"/>
                                  </a:rPr>
                                  <m:t>𝑟</m:t>
                                </m:r>
                                <m:r>
                                  <a:rPr lang="en-US" sz="2400" i="1">
                                    <a:latin typeface="Cambria Math" panose="02040503050406030204" pitchFamily="18" charset="0"/>
                                  </a:rPr>
                                  <m:t>(1+</m:t>
                                </m:r>
                                <m:r>
                                  <a:rPr lang="en-GB" sz="2400" i="1">
                                    <a:latin typeface="Cambria Math" panose="02040503050406030204" pitchFamily="18" charset="0"/>
                                  </a:rPr>
                                  <m:t>𝑟</m:t>
                                </m:r>
                                <m:r>
                                  <a:rPr lang="en-US" sz="2400" i="1">
                                    <a:latin typeface="Cambria Math" panose="02040503050406030204" pitchFamily="18" charset="0"/>
                                  </a:rPr>
                                  <m:t>)</m:t>
                                </m:r>
                              </m:e>
                              <m:sup>
                                <m:r>
                                  <a:rPr lang="en-US" sz="2400" i="1">
                                    <a:latin typeface="Cambria Math" panose="02040503050406030204" pitchFamily="18" charset="0"/>
                                  </a:rPr>
                                  <m:t>𝑛</m:t>
                                </m:r>
                              </m:sup>
                            </m:sSup>
                          </m:den>
                        </m:f>
                      </m:e>
                    </m:d>
                  </m:oMath>
                </a14:m>
                <a:endParaRPr lang="en-IN" sz="2400" dirty="0"/>
              </a:p>
              <a:p>
                <a:endParaRPr lang="en-US"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71"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15426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B7AE-D732-C592-AD5F-83D1F6069E55}"/>
              </a:ext>
            </a:extLst>
          </p:cNvPr>
          <p:cNvSpPr>
            <a:spLocks noGrp="1"/>
          </p:cNvSpPr>
          <p:nvPr>
            <p:ph type="title"/>
          </p:nvPr>
        </p:nvSpPr>
        <p:spPr/>
        <p:txBody>
          <a:bodyPr/>
          <a:lstStyle/>
          <a:p>
            <a:r>
              <a:rPr lang="en-GB" dirty="0"/>
              <a:t>Importance</a:t>
            </a:r>
            <a:endParaRPr lang="en-IN" dirty="0"/>
          </a:p>
        </p:txBody>
      </p:sp>
      <p:graphicFrame>
        <p:nvGraphicFramePr>
          <p:cNvPr id="4" name="Content Placeholder 3">
            <a:extLst>
              <a:ext uri="{FF2B5EF4-FFF2-40B4-BE49-F238E27FC236}">
                <a16:creationId xmlns:a16="http://schemas.microsoft.com/office/drawing/2014/main" id="{DBA9BBA3-0942-118C-395D-94E2CFBB2DA1}"/>
              </a:ext>
            </a:extLst>
          </p:cNvPr>
          <p:cNvGraphicFramePr>
            <a:graphicFrameLocks noGrp="1"/>
          </p:cNvGraphicFramePr>
          <p:nvPr>
            <p:ph idx="1"/>
            <p:extLst>
              <p:ext uri="{D42A27DB-BD31-4B8C-83A1-F6EECF244321}">
                <p14:modId xmlns:p14="http://schemas.microsoft.com/office/powerpoint/2010/main" val="1054079170"/>
              </p:ext>
            </p:extLst>
          </p:nvPr>
        </p:nvGraphicFramePr>
        <p:xfrm>
          <a:off x="131763" y="863600"/>
          <a:ext cx="11928475" cy="5107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872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DB61063C-67C2-49FD-B7CF-A2E4512C9DD5}"/>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graphicEl>
                                              <a:dgm id="{10D9696C-0EB1-4C7A-9E7E-E7CF48BF7211}"/>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graphicEl>
                                              <a:dgm id="{A4B740B9-7D84-4C02-A33E-FE8BBDC75422}"/>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00CF8027-BDD9-4AC5-9AB1-E40CC41BA5A5}"/>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graphicEl>
                                              <a:dgm id="{C91FA933-F989-46EE-818B-09A22FEE5BF3}"/>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graphicEl>
                                              <a:dgm id="{617E0A31-F084-4496-B2A5-BF455888B82E}"/>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graphicEl>
                                              <a:dgm id="{7E8277BB-0A9D-45BC-9504-14C0D8D24A4B}"/>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0352BD06-B4E7-41B3-91F0-FD491A023BE8}"/>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graphicEl>
                                              <a:dgm id="{A73B78A0-B9EF-4675-B40D-C8592B1FF30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Question.</a:t>
            </a:r>
            <a:r>
              <a:rPr lang="en-IN" dirty="0"/>
              <a:t>15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sz="2800" dirty="0"/>
                  <a:t>Mr. </a:t>
                </a:r>
                <a:r>
                  <a:rPr lang="en-US" sz="2800" dirty="0" err="1"/>
                  <a:t>Pawandeep</a:t>
                </a:r>
                <a:r>
                  <a:rPr lang="en-US" sz="2800" dirty="0"/>
                  <a:t> has taken a loan of </a:t>
                </a:r>
                <a:r>
                  <a:rPr lang="en-US" sz="2800" dirty="0" err="1"/>
                  <a:t>Rs</a:t>
                </a:r>
                <a:r>
                  <a:rPr lang="en-US" sz="2800" dirty="0"/>
                  <a:t>. 10,00,000 for setting a studio from BOB at 9% p. a. for a period of 10 years. He will repay the loan in yearly equal installment. Calculate the amount of installment. Also prepare loan amortization schedule.</a:t>
                </a:r>
                <a:endParaRPr lang="en-IN" sz="2800" dirty="0"/>
              </a:p>
              <a:p>
                <a:pPr marL="0" indent="0">
                  <a:lnSpc>
                    <a:spcPct val="150000"/>
                  </a:lnSpc>
                  <a:buNone/>
                </a:pPr>
                <a:endParaRPr lang="en-IN" b="0" i="1" dirty="0">
                  <a:latin typeface="Cambria Math" panose="020405030504060302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10,00,000</m:t>
                      </m:r>
                      <m:r>
                        <a:rPr lang="en-IN" i="1" smtClean="0">
                          <a:latin typeface="Cambria Math" panose="02040503050406030204" pitchFamily="18" charset="0"/>
                        </a:rPr>
                        <m:t>=</m:t>
                      </m:r>
                      <m:sSub>
                        <m:sSubPr>
                          <m:ctrlPr>
                            <a:rPr lang="en-IN" i="1">
                              <a:latin typeface="Cambria Math" panose="02040503050406030204" pitchFamily="18" charset="0"/>
                            </a:rPr>
                          </m:ctrlPr>
                        </m:sSubPr>
                        <m:e>
                          <m:r>
                            <a:rPr lang="en-IN" b="0" i="1" smtClean="0">
                              <a:latin typeface="Cambria Math" panose="02040503050406030204" pitchFamily="18" charset="0"/>
                            </a:rPr>
                            <m:t>𝐴</m:t>
                          </m:r>
                          <m:r>
                            <a:rPr lang="en-IN" i="1">
                              <a:latin typeface="Cambria Math" panose="02040503050406030204" pitchFamily="18" charset="0"/>
                            </a:rPr>
                            <m:t> </m:t>
                          </m:r>
                          <m:r>
                            <a:rPr lang="en-IN" i="1">
                              <a:latin typeface="Cambria Math" panose="02040503050406030204" pitchFamily="18" charset="0"/>
                            </a:rPr>
                            <m:t>𝑋</m:t>
                          </m:r>
                          <m:r>
                            <a:rPr lang="en-IN" i="1">
                              <a:latin typeface="Cambria Math" panose="02040503050406030204" pitchFamily="18" charset="0"/>
                            </a:rPr>
                            <m:t> </m:t>
                          </m:r>
                          <m:r>
                            <a:rPr lang="en-IN" i="1">
                              <a:latin typeface="Cambria Math" panose="02040503050406030204" pitchFamily="18" charset="0"/>
                            </a:rPr>
                            <m:t>𝑃𝑉𝐹</m:t>
                          </m:r>
                          <m:r>
                            <m:rPr>
                              <m:nor/>
                            </m:rPr>
                            <a:rPr lang="en-IN">
                              <a:latin typeface="Cambria Math" panose="02040503050406030204" pitchFamily="18" charset="0"/>
                            </a:rPr>
                            <m:t>A</m:t>
                          </m:r>
                          <m:r>
                            <m:rPr>
                              <m:nor/>
                            </m:rPr>
                            <a:rPr lang="en-IN" dirty="0"/>
                            <m:t> </m:t>
                          </m:r>
                        </m:e>
                        <m:sub>
                          <m:r>
                            <a:rPr lang="en-IN" i="1">
                              <a:latin typeface="Cambria Math" panose="02040503050406030204" pitchFamily="18" charset="0"/>
                            </a:rPr>
                            <m:t>(</m:t>
                          </m:r>
                          <m:r>
                            <a:rPr lang="en-IN" b="0" i="1" smtClean="0">
                              <a:latin typeface="Cambria Math" panose="02040503050406030204" pitchFamily="18" charset="0"/>
                            </a:rPr>
                            <m:t>10</m:t>
                          </m:r>
                          <m:r>
                            <a:rPr lang="en-IN" i="1">
                              <a:latin typeface="Cambria Math" panose="02040503050406030204" pitchFamily="18" charset="0"/>
                            </a:rPr>
                            <m:t>,   0.09)</m:t>
                          </m:r>
                        </m:sub>
                      </m:sSub>
                    </m:oMath>
                  </m:oMathPara>
                </a14:m>
                <a:endParaRPr lang="en-IN" dirty="0"/>
              </a:p>
              <a:p>
                <a:pPr marL="0" indent="0">
                  <a:lnSpc>
                    <a:spcPct val="150000"/>
                  </a:lnSpc>
                  <a:buNone/>
                </a:pPr>
                <a14:m>
                  <m:oMathPara xmlns:m="http://schemas.openxmlformats.org/officeDocument/2006/math">
                    <m:oMathParaPr>
                      <m:jc m:val="left"/>
                    </m:oMathParaPr>
                    <m:oMath xmlns:m="http://schemas.openxmlformats.org/officeDocument/2006/math">
                      <m:r>
                        <a:rPr lang="en-IN" i="1">
                          <a:latin typeface="Cambria Math" panose="02040503050406030204" pitchFamily="18" charset="0"/>
                        </a:rPr>
                        <m:t>10,00,000=</m:t>
                      </m:r>
                      <m:r>
                        <a:rPr lang="en-IN" b="0" i="1" smtClean="0">
                          <a:latin typeface="Cambria Math" panose="02040503050406030204" pitchFamily="18" charset="0"/>
                        </a:rPr>
                        <m:t>𝐴</m:t>
                      </m:r>
                      <m:r>
                        <a:rPr lang="en-IN" b="0" i="1" smtClean="0">
                          <a:latin typeface="Cambria Math" panose="02040503050406030204" pitchFamily="18" charset="0"/>
                        </a:rPr>
                        <m:t> </m:t>
                      </m:r>
                      <m:r>
                        <a:rPr lang="en-IN" b="0" i="1" smtClean="0">
                          <a:latin typeface="Cambria Math" panose="02040503050406030204" pitchFamily="18" charset="0"/>
                        </a:rPr>
                        <m:t>𝑋</m:t>
                      </m:r>
                      <m:r>
                        <a:rPr lang="en-IN" b="0" i="1" smtClean="0">
                          <a:latin typeface="Cambria Math" panose="02040503050406030204" pitchFamily="18" charset="0"/>
                        </a:rPr>
                        <m:t> 6.418</m:t>
                      </m:r>
                    </m:oMath>
                  </m:oMathPara>
                </a14:m>
                <a:endParaRPr lang="en-IN" b="0" dirty="0"/>
              </a:p>
              <a:p>
                <a:pPr marL="0" indent="0">
                  <a:lnSpc>
                    <a:spcPct val="150000"/>
                  </a:lnSpc>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𝐴</m:t>
                      </m:r>
                      <m:r>
                        <a:rPr lang="en-IN" i="1">
                          <a:latin typeface="Cambria Math" panose="02040503050406030204" pitchFamily="18" charset="0"/>
                        </a:rPr>
                        <m:t>=</m:t>
                      </m:r>
                      <m:f>
                        <m:fPr>
                          <m:ctrlPr>
                            <a:rPr lang="en-IN" i="1" smtClean="0">
                              <a:latin typeface="Cambria Math" panose="02040503050406030204" pitchFamily="18" charset="0"/>
                            </a:rPr>
                          </m:ctrlPr>
                        </m:fPr>
                        <m:num>
                          <m:r>
                            <a:rPr lang="en-IN" b="0" i="1" smtClean="0">
                              <a:latin typeface="Cambria Math" panose="02040503050406030204" pitchFamily="18" charset="0"/>
                            </a:rPr>
                            <m:t>10,00,000</m:t>
                          </m:r>
                        </m:num>
                        <m:den>
                          <m:r>
                            <a:rPr lang="en-IN" b="0" i="1" smtClean="0">
                              <a:latin typeface="Cambria Math" panose="02040503050406030204" pitchFamily="18" charset="0"/>
                            </a:rPr>
                            <m:t>6.418</m:t>
                          </m:r>
                        </m:den>
                      </m:f>
                    </m:oMath>
                  </m:oMathPara>
                </a14:m>
                <a:endParaRPr lang="en-IN" dirty="0"/>
              </a:p>
              <a:p>
                <a:pPr marL="0" indent="0" algn="ctr">
                  <a:lnSpc>
                    <a:spcPct val="150000"/>
                  </a:lnSpc>
                  <a:buNone/>
                </a:pPr>
                <a14:m>
                  <m:oMathPara xmlns:m="http://schemas.openxmlformats.org/officeDocument/2006/math">
                    <m:oMathParaPr>
                      <m:jc m:val="left"/>
                    </m:oMathParaPr>
                    <m:oMath xmlns:m="http://schemas.openxmlformats.org/officeDocument/2006/math">
                      <m:r>
                        <a:rPr lang="en-IN" b="1" i="1">
                          <a:latin typeface="Cambria Math" panose="02040503050406030204" pitchFamily="18" charset="0"/>
                        </a:rPr>
                        <m:t>𝑨</m:t>
                      </m:r>
                      <m:r>
                        <a:rPr lang="en-IN" b="1" i="1">
                          <a:latin typeface="Cambria Math" panose="02040503050406030204" pitchFamily="18" charset="0"/>
                        </a:rPr>
                        <m:t>=</m:t>
                      </m:r>
                      <m:r>
                        <a:rPr lang="en-IN" b="1" i="1">
                          <a:latin typeface="Cambria Math" panose="02040503050406030204" pitchFamily="18" charset="0"/>
                        </a:rPr>
                        <m:t>𝟏</m:t>
                      </m:r>
                      <m:r>
                        <a:rPr lang="en-IN" b="1" i="1">
                          <a:latin typeface="Cambria Math" panose="02040503050406030204" pitchFamily="18" charset="0"/>
                        </a:rPr>
                        <m:t>,</m:t>
                      </m:r>
                      <m:r>
                        <a:rPr lang="en-IN" b="1" i="1">
                          <a:latin typeface="Cambria Math" panose="02040503050406030204" pitchFamily="18" charset="0"/>
                        </a:rPr>
                        <m:t>𝟓𝟓</m:t>
                      </m:r>
                      <m:r>
                        <a:rPr lang="en-IN" b="1" i="1" smtClean="0">
                          <a:latin typeface="Cambria Math" panose="02040503050406030204" pitchFamily="18" charset="0"/>
                        </a:rPr>
                        <m:t>,</m:t>
                      </m:r>
                      <m:r>
                        <a:rPr lang="en-IN" b="1" i="1" smtClean="0">
                          <a:latin typeface="Cambria Math" panose="02040503050406030204" pitchFamily="18" charset="0"/>
                        </a:rPr>
                        <m:t>𝟖𝟏𝟐</m:t>
                      </m:r>
                    </m:oMath>
                  </m:oMathPara>
                </a14:m>
                <a:endParaRPr lang="en-IN" b="1" dirty="0"/>
              </a:p>
              <a:p>
                <a:pPr marL="0" indent="0">
                  <a:buNone/>
                </a:pPr>
                <a:endParaRPr lang="en-IN" dirty="0"/>
              </a:p>
              <a:p>
                <a:pPr marL="0" indent="0">
                  <a:buNone/>
                </a:pPr>
                <a:endParaRPr lang="en-IN"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74"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27919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Solution</a:t>
            </a:r>
          </a:p>
        </p:txBody>
      </p:sp>
      <p:sp>
        <p:nvSpPr>
          <p:cNvPr id="3" name="Content Placeholder 2"/>
          <p:cNvSpPr>
            <a:spLocks noGrp="1"/>
          </p:cNvSpPr>
          <p:nvPr>
            <p:ph idx="1"/>
          </p:nvPr>
        </p:nvSpPr>
        <p:spPr/>
        <p:txBody>
          <a:bodyPr/>
          <a:lstStyle/>
          <a:p>
            <a:pPr marL="0" indent="0" algn="ctr">
              <a:buNone/>
            </a:pPr>
            <a:r>
              <a:rPr lang="en-US" b="1" dirty="0"/>
              <a:t>Loan amortization schedule (Loan Account Passbook)</a:t>
            </a:r>
            <a:endParaRPr lang="en-IN" dirty="0"/>
          </a:p>
          <a:p>
            <a:pPr marL="0" indent="0">
              <a:buNone/>
            </a:pPr>
            <a:endParaRPr lang="en-IN" dirty="0"/>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918922546"/>
              </p:ext>
            </p:extLst>
          </p:nvPr>
        </p:nvGraphicFramePr>
        <p:xfrm>
          <a:off x="2644268" y="1955463"/>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algn="ctr"/>
                      <a:r>
                        <a:rPr lang="en-US" sz="190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2"/>
                          </a:solidFill>
                        </a:rPr>
                        <a:t>NA</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accent6"/>
                          </a:solidFill>
                        </a:rPr>
                        <a:t>NA</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2">
                              <a:lumMod val="50000"/>
                            </a:schemeClr>
                          </a:solidFill>
                        </a:rPr>
                        <a:t>NA</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IN" sz="2000" kern="1200" dirty="0">
                          <a:solidFill>
                            <a:schemeClr val="accent5">
                              <a:lumMod val="50000"/>
                            </a:schemeClr>
                          </a:solidFill>
                          <a:latin typeface="+mn-lt"/>
                          <a:ea typeface="+mn-ea"/>
                          <a:cs typeface="+mn-cs"/>
                        </a:rPr>
                        <a:t>10,00,000</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5"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48151676"/>
              </p:ext>
            </p:extLst>
          </p:nvPr>
        </p:nvGraphicFramePr>
        <p:xfrm>
          <a:off x="2644268" y="1366848"/>
          <a:ext cx="7197822" cy="583711"/>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583711">
                <a:tc>
                  <a:txBody>
                    <a:bodyPr/>
                    <a:lstStyle/>
                    <a:p>
                      <a:pPr marL="0" algn="ctr" defTabSz="914400" rtl="0" eaLnBrk="1" latinLnBrk="0" hangingPunct="1">
                        <a:lnSpc>
                          <a:spcPct val="107000"/>
                        </a:lnSpc>
                        <a:spcAft>
                          <a:spcPts val="0"/>
                        </a:spcAft>
                      </a:pPr>
                      <a:r>
                        <a:rPr lang="en-US" sz="1800" b="1" kern="1200" dirty="0">
                          <a:solidFill>
                            <a:schemeClr val="tx1"/>
                          </a:solidFill>
                          <a:latin typeface="+mn-lt"/>
                          <a:ea typeface="+mn-ea"/>
                          <a:cs typeface="+mn-cs"/>
                        </a:rPr>
                        <a:t>Year</a:t>
                      </a:r>
                      <a:endParaRPr lang="en-IN" sz="18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latinLnBrk="0" hangingPunct="1">
                        <a:lnSpc>
                          <a:spcPct val="107000"/>
                        </a:lnSpc>
                        <a:spcAft>
                          <a:spcPts val="0"/>
                        </a:spcAft>
                      </a:pPr>
                      <a:r>
                        <a:rPr lang="en-US" sz="1800" b="1" kern="1200" dirty="0">
                          <a:solidFill>
                            <a:schemeClr val="tx1"/>
                          </a:solidFill>
                          <a:latin typeface="+mn-lt"/>
                          <a:ea typeface="+mn-ea"/>
                          <a:cs typeface="+mn-cs"/>
                        </a:rPr>
                        <a:t>Installment</a:t>
                      </a:r>
                      <a:endParaRPr lang="en-IN" sz="18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latinLnBrk="0" hangingPunct="1">
                        <a:lnSpc>
                          <a:spcPct val="107000"/>
                        </a:lnSpc>
                        <a:spcAft>
                          <a:spcPts val="0"/>
                        </a:spcAft>
                      </a:pPr>
                      <a:r>
                        <a:rPr lang="en-US" sz="1800" b="1" kern="1200" dirty="0">
                          <a:solidFill>
                            <a:schemeClr val="tx1"/>
                          </a:solidFill>
                          <a:latin typeface="+mn-lt"/>
                          <a:ea typeface="+mn-ea"/>
                          <a:cs typeface="+mn-cs"/>
                        </a:rPr>
                        <a:t>Interest</a:t>
                      </a:r>
                      <a:endParaRPr lang="en-IN" sz="18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latinLnBrk="0" hangingPunct="1">
                        <a:lnSpc>
                          <a:spcPct val="107000"/>
                        </a:lnSpc>
                        <a:spcAft>
                          <a:spcPts val="0"/>
                        </a:spcAft>
                      </a:pPr>
                      <a:r>
                        <a:rPr lang="en-US" sz="1800" b="1" kern="1200" dirty="0">
                          <a:solidFill>
                            <a:schemeClr val="tx1"/>
                          </a:solidFill>
                          <a:latin typeface="+mn-lt"/>
                          <a:ea typeface="+mn-ea"/>
                          <a:cs typeface="+mn-cs"/>
                        </a:rPr>
                        <a:t>Principal Repayment </a:t>
                      </a:r>
                      <a:endParaRPr lang="en-IN" sz="18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latinLnBrk="0" hangingPunct="1">
                        <a:lnSpc>
                          <a:spcPct val="107000"/>
                        </a:lnSpc>
                        <a:spcAft>
                          <a:spcPts val="0"/>
                        </a:spcAft>
                      </a:pPr>
                      <a:r>
                        <a:rPr lang="en-US" sz="1800" b="1" kern="1200" dirty="0">
                          <a:solidFill>
                            <a:schemeClr val="tx1"/>
                          </a:solidFill>
                          <a:latin typeface="+mn-lt"/>
                          <a:ea typeface="+mn-ea"/>
                          <a:cs typeface="+mn-cs"/>
                        </a:rPr>
                        <a:t>Outstanding</a:t>
                      </a:r>
                      <a:endParaRPr lang="en-IN" sz="18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1328217126"/>
              </p:ext>
            </p:extLst>
          </p:nvPr>
        </p:nvGraphicFramePr>
        <p:xfrm>
          <a:off x="2644268" y="2363234"/>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1</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90,000</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65,812</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9,34,188</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7"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649483130"/>
              </p:ext>
            </p:extLst>
          </p:nvPr>
        </p:nvGraphicFramePr>
        <p:xfrm>
          <a:off x="2644268" y="2771005"/>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2</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84,077</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71,735</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8,62,453</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8"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100576021"/>
              </p:ext>
            </p:extLst>
          </p:nvPr>
        </p:nvGraphicFramePr>
        <p:xfrm>
          <a:off x="2644268" y="3178776"/>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3</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77,621</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78,191</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7,84,262</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9"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1745572201"/>
              </p:ext>
            </p:extLst>
          </p:nvPr>
        </p:nvGraphicFramePr>
        <p:xfrm>
          <a:off x="2644268" y="3586547"/>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4</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70,584</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85,228</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6,99,034</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0"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548003920"/>
              </p:ext>
            </p:extLst>
          </p:nvPr>
        </p:nvGraphicFramePr>
        <p:xfrm>
          <a:off x="2644268" y="3994318"/>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5</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62913</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92,899</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6,06,135</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171325000"/>
              </p:ext>
            </p:extLst>
          </p:nvPr>
        </p:nvGraphicFramePr>
        <p:xfrm>
          <a:off x="2644268" y="4402089"/>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6</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54,552</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1,01,260</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5,04,875</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880733142"/>
              </p:ext>
            </p:extLst>
          </p:nvPr>
        </p:nvGraphicFramePr>
        <p:xfrm>
          <a:off x="2644268" y="4809860"/>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7</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45,439</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1,10,373</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3,94,502</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3"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1926717835"/>
              </p:ext>
            </p:extLst>
          </p:nvPr>
        </p:nvGraphicFramePr>
        <p:xfrm>
          <a:off x="2644268" y="5217631"/>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8</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35,505</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1,20,307</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2,74,195</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147869083"/>
              </p:ext>
            </p:extLst>
          </p:nvPr>
        </p:nvGraphicFramePr>
        <p:xfrm>
          <a:off x="2644268" y="5625402"/>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9</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24,678</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1,31,134</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1,43,061</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007567485"/>
              </p:ext>
            </p:extLst>
          </p:nvPr>
        </p:nvGraphicFramePr>
        <p:xfrm>
          <a:off x="2644268" y="6033177"/>
          <a:ext cx="7197822" cy="402867"/>
        </p:xfrm>
        <a:graphic>
          <a:graphicData uri="http://schemas.openxmlformats.org/drawingml/2006/table">
            <a:tbl>
              <a:tblPr firstRow="1" bandRow="1">
                <a:tableStyleId>{8EC20E35-A176-4012-BC5E-935CFFF8708E}</a:tableStyleId>
              </a:tblPr>
              <a:tblGrid>
                <a:gridCol w="1380587">
                  <a:extLst>
                    <a:ext uri="{9D8B030D-6E8A-4147-A177-3AD203B41FA5}">
                      <a16:colId xmlns:a16="http://schemas.microsoft.com/office/drawing/2014/main" val="20000"/>
                    </a:ext>
                  </a:extLst>
                </a:gridCol>
                <a:gridCol w="1487475">
                  <a:extLst>
                    <a:ext uri="{9D8B030D-6E8A-4147-A177-3AD203B41FA5}">
                      <a16:colId xmlns:a16="http://schemas.microsoft.com/office/drawing/2014/main" val="20001"/>
                    </a:ext>
                  </a:extLst>
                </a:gridCol>
                <a:gridCol w="1263690">
                  <a:extLst>
                    <a:ext uri="{9D8B030D-6E8A-4147-A177-3AD203B41FA5}">
                      <a16:colId xmlns:a16="http://schemas.microsoft.com/office/drawing/2014/main" val="20002"/>
                    </a:ext>
                  </a:extLst>
                </a:gridCol>
                <a:gridCol w="1629723">
                  <a:extLst>
                    <a:ext uri="{9D8B030D-6E8A-4147-A177-3AD203B41FA5}">
                      <a16:colId xmlns:a16="http://schemas.microsoft.com/office/drawing/2014/main" val="20003"/>
                    </a:ext>
                  </a:extLst>
                </a:gridCol>
                <a:gridCol w="1436347">
                  <a:extLst>
                    <a:ext uri="{9D8B030D-6E8A-4147-A177-3AD203B41FA5}">
                      <a16:colId xmlns:a16="http://schemas.microsoft.com/office/drawing/2014/main" val="20004"/>
                    </a:ext>
                  </a:extLst>
                </a:gridCol>
              </a:tblGrid>
              <a:tr h="402867">
                <a:tc>
                  <a:txBody>
                    <a:bodyPr/>
                    <a:lstStyle/>
                    <a:p>
                      <a:pPr marL="0" algn="ctr" defTabSz="914400" rtl="0" eaLnBrk="1" latinLnBrk="0" hangingPunct="1">
                        <a:lnSpc>
                          <a:spcPct val="107000"/>
                        </a:lnSpc>
                        <a:spcAft>
                          <a:spcPts val="0"/>
                        </a:spcAft>
                      </a:pPr>
                      <a:r>
                        <a:rPr lang="en-US" sz="1900" b="1" kern="1200" dirty="0">
                          <a:solidFill>
                            <a:schemeClr val="tx1"/>
                          </a:solidFill>
                          <a:latin typeface="+mn-lt"/>
                          <a:ea typeface="+mn-ea"/>
                          <a:cs typeface="+mn-cs"/>
                        </a:rPr>
                        <a:t>10</a:t>
                      </a:r>
                      <a:endParaRPr lang="en-IN" sz="1900" b="1" kern="1200" dirty="0">
                        <a:solidFill>
                          <a:schemeClr val="tx1"/>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solidFill>
                          <a:latin typeface="+mn-lt"/>
                          <a:ea typeface="+mn-ea"/>
                          <a:cs typeface="+mn-cs"/>
                        </a:rPr>
                        <a:t>155,812</a:t>
                      </a:r>
                      <a:endParaRPr lang="en-IN" sz="2000" b="1" kern="1200" dirty="0">
                        <a:solidFill>
                          <a:schemeClr val="tx2"/>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accent6"/>
                          </a:solidFill>
                          <a:latin typeface="+mn-lt"/>
                          <a:ea typeface="+mn-ea"/>
                          <a:cs typeface="+mn-cs"/>
                        </a:rPr>
                        <a:t>12,876</a:t>
                      </a:r>
                      <a:endParaRPr lang="en-IN" sz="2000" b="1" kern="1200" dirty="0">
                        <a:solidFill>
                          <a:schemeClr val="accent6"/>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7000"/>
                        </a:lnSpc>
                        <a:spcAft>
                          <a:spcPts val="0"/>
                        </a:spcAft>
                      </a:pPr>
                      <a:r>
                        <a:rPr lang="en-US" sz="2000" b="1" kern="1200" dirty="0">
                          <a:solidFill>
                            <a:schemeClr val="tx2">
                              <a:lumMod val="50000"/>
                            </a:schemeClr>
                          </a:solidFill>
                          <a:latin typeface="+mn-lt"/>
                          <a:ea typeface="+mn-ea"/>
                          <a:cs typeface="+mn-cs"/>
                        </a:rPr>
                        <a:t>1,42,936</a:t>
                      </a:r>
                      <a:endParaRPr lang="en-IN" sz="2000" b="1" kern="1200" dirty="0">
                        <a:solidFill>
                          <a:schemeClr val="tx2">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lnSpc>
                          <a:spcPct val="107000"/>
                        </a:lnSpc>
                        <a:spcAft>
                          <a:spcPts val="0"/>
                        </a:spcAft>
                      </a:pPr>
                      <a:r>
                        <a:rPr lang="en-US" sz="2000" b="1" kern="1200" dirty="0">
                          <a:solidFill>
                            <a:schemeClr val="accent5">
                              <a:lumMod val="50000"/>
                            </a:schemeClr>
                          </a:solidFill>
                          <a:latin typeface="+mn-lt"/>
                          <a:ea typeface="+mn-ea"/>
                          <a:cs typeface="+mn-cs"/>
                        </a:rPr>
                        <a:t>125*</a:t>
                      </a:r>
                      <a:endParaRPr lang="en-IN" sz="2000" b="1" kern="1200" dirty="0">
                        <a:solidFill>
                          <a:schemeClr val="accent5">
                            <a:lumMod val="50000"/>
                          </a:schemeClr>
                        </a:solidFill>
                        <a:latin typeface="+mn-lt"/>
                        <a:ea typeface="+mn-ea"/>
                        <a:cs typeface="+mn-cs"/>
                      </a:endParaRPr>
                    </a:p>
                  </a:txBody>
                  <a:tcPr marL="68580" marR="6858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16" name="TextBox 15"/>
          <p:cNvSpPr txBox="1"/>
          <p:nvPr/>
        </p:nvSpPr>
        <p:spPr>
          <a:xfrm>
            <a:off x="9842090" y="6045935"/>
            <a:ext cx="2218731" cy="421654"/>
          </a:xfrm>
          <a:prstGeom prst="rect">
            <a:avLst/>
          </a:prstGeom>
          <a:noFill/>
        </p:spPr>
        <p:txBody>
          <a:bodyPr wrap="square" rtlCol="0">
            <a:spAutoFit/>
          </a:bodyPr>
          <a:lstStyle/>
          <a:p>
            <a:pPr algn="ctr" fontAlgn="b">
              <a:lnSpc>
                <a:spcPct val="107000"/>
              </a:lnSpc>
            </a:pPr>
            <a:r>
              <a:rPr lang="en-IN" sz="2000" b="1" dirty="0">
                <a:solidFill>
                  <a:schemeClr val="accent5">
                    <a:lumMod val="50000"/>
                  </a:schemeClr>
                </a:solidFill>
              </a:rPr>
              <a:t>*Rounding off Error</a:t>
            </a:r>
          </a:p>
        </p:txBody>
      </p:sp>
    </p:spTree>
    <p:extLst>
      <p:ext uri="{BB962C8B-B14F-4D97-AF65-F5344CB8AC3E}">
        <p14:creationId xmlns:p14="http://schemas.microsoft.com/office/powerpoint/2010/main" val="62343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left)">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wipe(left)">
                                      <p:cBhvr>
                                        <p:cTn id="56"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left)">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Question.16</a:t>
            </a:r>
            <a:r>
              <a:rPr lang="en-IN" dirty="0"/>
              <a:t> </a:t>
            </a:r>
          </a:p>
        </p:txBody>
      </p:sp>
      <p:sp>
        <p:nvSpPr>
          <p:cNvPr id="3" name="Content Placeholder 2"/>
          <p:cNvSpPr>
            <a:spLocks noGrp="1"/>
          </p:cNvSpPr>
          <p:nvPr>
            <p:ph idx="1"/>
          </p:nvPr>
        </p:nvSpPr>
        <p:spPr/>
        <p:txBody>
          <a:bodyPr/>
          <a:lstStyle/>
          <a:p>
            <a:pPr marL="0" indent="0">
              <a:buNone/>
            </a:pPr>
            <a:r>
              <a:rPr lang="en-US" dirty="0"/>
              <a:t>Mr. Ram has taken a Home loan of Rs. 25,00,000 at 7% p. a. for a period of 5 years. He will repay the loan in early equal installment. Calculate the amount of installment. Also prepare loan amortization schedule.</a:t>
            </a:r>
          </a:p>
          <a:p>
            <a:endParaRPr lang="en-US" dirty="0"/>
          </a:p>
          <a:p>
            <a:pPr marL="0" indent="0">
              <a:buNone/>
            </a:pPr>
            <a:r>
              <a:rPr lang="en-US" b="1" dirty="0"/>
              <a:t>Ans. 6,09,756</a:t>
            </a:r>
            <a:endParaRPr lang="en-IN" b="1" dirty="0"/>
          </a:p>
          <a:p>
            <a:endParaRPr lang="en-IN" dirty="0"/>
          </a:p>
        </p:txBody>
      </p:sp>
    </p:spTree>
    <p:extLst>
      <p:ext uri="{BB962C8B-B14F-4D97-AF65-F5344CB8AC3E}">
        <p14:creationId xmlns:p14="http://schemas.microsoft.com/office/powerpoint/2010/main" val="266868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Solution</a:t>
            </a:r>
          </a:p>
        </p:txBody>
      </p:sp>
      <p:sp>
        <p:nvSpPr>
          <p:cNvPr id="3" name="Content Placeholder 2"/>
          <p:cNvSpPr>
            <a:spLocks noGrp="1"/>
          </p:cNvSpPr>
          <p:nvPr>
            <p:ph idx="1"/>
          </p:nvPr>
        </p:nvSpPr>
        <p:spPr/>
        <p:txBody>
          <a:bodyPr/>
          <a:lstStyle/>
          <a:p>
            <a:pPr marL="0" indent="0" algn="ctr">
              <a:buNone/>
            </a:pPr>
            <a:r>
              <a:rPr lang="en-US" b="1" dirty="0"/>
              <a:t>Loan amortization schedule (Loan Account Passbook)</a:t>
            </a:r>
            <a:endParaRPr lang="en-IN" dirty="0"/>
          </a:p>
          <a:p>
            <a:pPr marL="0" indent="0">
              <a:buNone/>
            </a:pPr>
            <a:endParaRPr lang="en-IN" dirty="0"/>
          </a:p>
        </p:txBody>
      </p:sp>
      <p:sp>
        <p:nvSpPr>
          <p:cNvPr id="16" name="TextBox 15"/>
          <p:cNvSpPr txBox="1"/>
          <p:nvPr/>
        </p:nvSpPr>
        <p:spPr>
          <a:xfrm>
            <a:off x="9789081" y="5554135"/>
            <a:ext cx="2218731" cy="421654"/>
          </a:xfrm>
          <a:prstGeom prst="rect">
            <a:avLst/>
          </a:prstGeom>
          <a:noFill/>
        </p:spPr>
        <p:txBody>
          <a:bodyPr wrap="square" rtlCol="0">
            <a:spAutoFit/>
          </a:bodyPr>
          <a:lstStyle/>
          <a:p>
            <a:pPr algn="ctr" fontAlgn="b">
              <a:lnSpc>
                <a:spcPct val="107000"/>
              </a:lnSpc>
            </a:pPr>
            <a:r>
              <a:rPr lang="en-IN" sz="2000" b="1" dirty="0">
                <a:solidFill>
                  <a:schemeClr val="accent5">
                    <a:lumMod val="50000"/>
                  </a:schemeClr>
                </a:solidFill>
              </a:rPr>
              <a:t>*Rounding off Error</a:t>
            </a:r>
          </a:p>
        </p:txBody>
      </p:sp>
      <p:graphicFrame>
        <p:nvGraphicFramePr>
          <p:cNvPr id="11" name="Table 10"/>
          <p:cNvGraphicFramePr>
            <a:graphicFrameLocks noGrp="1"/>
          </p:cNvGraphicFramePr>
          <p:nvPr>
            <p:extLst>
              <p:ext uri="{D42A27DB-BD31-4B8C-83A1-F6EECF244321}">
                <p14:modId xmlns:p14="http://schemas.microsoft.com/office/powerpoint/2010/main" val="1434463013"/>
              </p:ext>
            </p:extLst>
          </p:nvPr>
        </p:nvGraphicFramePr>
        <p:xfrm>
          <a:off x="1683026" y="1500295"/>
          <a:ext cx="8825948" cy="4053840"/>
        </p:xfrm>
        <a:graphic>
          <a:graphicData uri="http://schemas.openxmlformats.org/drawingml/2006/table">
            <a:tbl>
              <a:tblPr firstRow="1" bandRow="1">
                <a:tableStyleId>{5C22544A-7EE6-4342-B048-85BDC9FD1C3A}</a:tableStyleId>
              </a:tblPr>
              <a:tblGrid>
                <a:gridCol w="1139687">
                  <a:extLst>
                    <a:ext uri="{9D8B030D-6E8A-4147-A177-3AD203B41FA5}">
                      <a16:colId xmlns:a16="http://schemas.microsoft.com/office/drawing/2014/main" val="2478431477"/>
                    </a:ext>
                  </a:extLst>
                </a:gridCol>
                <a:gridCol w="2001078">
                  <a:extLst>
                    <a:ext uri="{9D8B030D-6E8A-4147-A177-3AD203B41FA5}">
                      <a16:colId xmlns:a16="http://schemas.microsoft.com/office/drawing/2014/main" val="3341670196"/>
                    </a:ext>
                  </a:extLst>
                </a:gridCol>
                <a:gridCol w="1770574">
                  <a:extLst>
                    <a:ext uri="{9D8B030D-6E8A-4147-A177-3AD203B41FA5}">
                      <a16:colId xmlns:a16="http://schemas.microsoft.com/office/drawing/2014/main" val="4042277101"/>
                    </a:ext>
                  </a:extLst>
                </a:gridCol>
                <a:gridCol w="1913530">
                  <a:extLst>
                    <a:ext uri="{9D8B030D-6E8A-4147-A177-3AD203B41FA5}">
                      <a16:colId xmlns:a16="http://schemas.microsoft.com/office/drawing/2014/main" val="960306823"/>
                    </a:ext>
                  </a:extLst>
                </a:gridCol>
                <a:gridCol w="2001079">
                  <a:extLst>
                    <a:ext uri="{9D8B030D-6E8A-4147-A177-3AD203B41FA5}">
                      <a16:colId xmlns:a16="http://schemas.microsoft.com/office/drawing/2014/main" val="141041600"/>
                    </a:ext>
                  </a:extLst>
                </a:gridCol>
              </a:tblGrid>
              <a:tr h="370840">
                <a:tc>
                  <a:txBody>
                    <a:bodyPr/>
                    <a:lstStyle/>
                    <a:p>
                      <a:pPr algn="ctr"/>
                      <a:r>
                        <a:rPr lang="en-GB" sz="2800" dirty="0"/>
                        <a:t>Year </a:t>
                      </a:r>
                      <a:endParaRPr lang="en-IN" sz="2800" dirty="0"/>
                    </a:p>
                  </a:txBody>
                  <a:tcPr/>
                </a:tc>
                <a:tc>
                  <a:txBody>
                    <a:bodyPr/>
                    <a:lstStyle/>
                    <a:p>
                      <a:pPr algn="ctr"/>
                      <a:r>
                        <a:rPr lang="en-GB" sz="2800" dirty="0"/>
                        <a:t>Instalment</a:t>
                      </a:r>
                      <a:endParaRPr lang="en-IN" sz="2800" dirty="0"/>
                    </a:p>
                  </a:txBody>
                  <a:tcPr/>
                </a:tc>
                <a:tc>
                  <a:txBody>
                    <a:bodyPr/>
                    <a:lstStyle/>
                    <a:p>
                      <a:pPr algn="ctr"/>
                      <a:r>
                        <a:rPr lang="en-GB" sz="2800" dirty="0"/>
                        <a:t>Interest</a:t>
                      </a:r>
                      <a:endParaRPr lang="en-IN" sz="2800" dirty="0"/>
                    </a:p>
                  </a:txBody>
                  <a:tcPr/>
                </a:tc>
                <a:tc>
                  <a:txBody>
                    <a:bodyPr/>
                    <a:lstStyle/>
                    <a:p>
                      <a:pPr algn="ctr"/>
                      <a:r>
                        <a:rPr lang="en-GB" sz="2800" dirty="0"/>
                        <a:t>Principal</a:t>
                      </a:r>
                      <a:r>
                        <a:rPr lang="en-GB" sz="2800" baseline="0" dirty="0"/>
                        <a:t> Repayment</a:t>
                      </a:r>
                      <a:endParaRPr lang="en-IN" sz="2800" dirty="0"/>
                    </a:p>
                  </a:txBody>
                  <a:tcPr/>
                </a:tc>
                <a:tc>
                  <a:txBody>
                    <a:bodyPr/>
                    <a:lstStyle/>
                    <a:p>
                      <a:pPr algn="ctr"/>
                      <a:r>
                        <a:rPr lang="en-GB" sz="2800" dirty="0"/>
                        <a:t>Outstanding</a:t>
                      </a:r>
                      <a:endParaRPr lang="en-IN" sz="2800" dirty="0"/>
                    </a:p>
                  </a:txBody>
                  <a:tcPr/>
                </a:tc>
                <a:extLst>
                  <a:ext uri="{0D108BD9-81ED-4DB2-BD59-A6C34878D82A}">
                    <a16:rowId xmlns:a16="http://schemas.microsoft.com/office/drawing/2014/main" val="1837898046"/>
                  </a:ext>
                </a:extLst>
              </a:tr>
              <a:tr h="370840">
                <a:tc>
                  <a:txBody>
                    <a:bodyPr/>
                    <a:lstStyle/>
                    <a:p>
                      <a:pPr algn="r"/>
                      <a:r>
                        <a:rPr lang="en-GB" sz="2800" dirty="0"/>
                        <a:t>0</a:t>
                      </a:r>
                      <a:endParaRPr lang="en-IN" sz="2800" dirty="0"/>
                    </a:p>
                  </a:txBody>
                  <a:tcPr/>
                </a:tc>
                <a:tc>
                  <a:txBody>
                    <a:bodyPr/>
                    <a:lstStyle/>
                    <a:p>
                      <a:pPr algn="r"/>
                      <a:r>
                        <a:rPr lang="en-GB" sz="2800" b="1" dirty="0">
                          <a:solidFill>
                            <a:schemeClr val="tx2"/>
                          </a:solidFill>
                        </a:rPr>
                        <a:t>NA</a:t>
                      </a:r>
                      <a:endParaRPr lang="en-IN" sz="2800" b="1" dirty="0">
                        <a:solidFill>
                          <a:schemeClr val="tx2"/>
                        </a:solidFill>
                      </a:endParaRPr>
                    </a:p>
                  </a:txBody>
                  <a:tcPr/>
                </a:tc>
                <a:tc>
                  <a:txBody>
                    <a:bodyPr/>
                    <a:lstStyle/>
                    <a:p>
                      <a:pPr algn="r"/>
                      <a:r>
                        <a:rPr lang="en-GB" sz="2800" b="1" dirty="0">
                          <a:solidFill>
                            <a:schemeClr val="accent6"/>
                          </a:solidFill>
                        </a:rPr>
                        <a:t>NA</a:t>
                      </a:r>
                      <a:endParaRPr lang="en-IN" sz="2800" b="1" dirty="0">
                        <a:solidFill>
                          <a:schemeClr val="accent6"/>
                        </a:solidFill>
                      </a:endParaRPr>
                    </a:p>
                  </a:txBody>
                  <a:tcPr/>
                </a:tc>
                <a:tc>
                  <a:txBody>
                    <a:bodyPr/>
                    <a:lstStyle/>
                    <a:p>
                      <a:pPr algn="r"/>
                      <a:r>
                        <a:rPr lang="en-GB" sz="2800" b="1" dirty="0"/>
                        <a:t>NA</a:t>
                      </a:r>
                      <a:endParaRPr lang="en-IN" sz="2800" b="1" dirty="0"/>
                    </a:p>
                  </a:txBody>
                  <a:tcPr/>
                </a:tc>
                <a:tc>
                  <a:txBody>
                    <a:bodyPr/>
                    <a:lstStyle/>
                    <a:p>
                      <a:pPr algn="r"/>
                      <a:r>
                        <a:rPr lang="en-GB" sz="2800" b="1" dirty="0">
                          <a:solidFill>
                            <a:schemeClr val="accent5">
                              <a:lumMod val="75000"/>
                            </a:schemeClr>
                          </a:solidFill>
                        </a:rPr>
                        <a:t>25,00,000</a:t>
                      </a:r>
                      <a:endParaRPr lang="en-IN" sz="2800" b="1" dirty="0">
                        <a:solidFill>
                          <a:schemeClr val="accent5">
                            <a:lumMod val="75000"/>
                          </a:schemeClr>
                        </a:solidFill>
                      </a:endParaRPr>
                    </a:p>
                  </a:txBody>
                  <a:tcPr/>
                </a:tc>
                <a:extLst>
                  <a:ext uri="{0D108BD9-81ED-4DB2-BD59-A6C34878D82A}">
                    <a16:rowId xmlns:a16="http://schemas.microsoft.com/office/drawing/2014/main" val="3897049246"/>
                  </a:ext>
                </a:extLst>
              </a:tr>
              <a:tr h="370840">
                <a:tc>
                  <a:txBody>
                    <a:bodyPr/>
                    <a:lstStyle/>
                    <a:p>
                      <a:pPr algn="r"/>
                      <a:r>
                        <a:rPr lang="en-GB" sz="2800" dirty="0"/>
                        <a:t>1</a:t>
                      </a:r>
                      <a:endParaRPr lang="en-IN" sz="2800"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2"/>
                          </a:solidFill>
                          <a:latin typeface="+mn-lt"/>
                          <a:ea typeface="+mn-ea"/>
                          <a:cs typeface="+mn-cs"/>
                        </a:rPr>
                        <a:t>6,09,756</a:t>
                      </a:r>
                      <a:endParaRPr lang="en-IN" sz="2800" b="1" kern="1200" dirty="0">
                        <a:solidFill>
                          <a:schemeClr val="tx2"/>
                        </a:solidFill>
                        <a:latin typeface="+mn-lt"/>
                        <a:ea typeface="+mn-ea"/>
                        <a:cs typeface="+mn-cs"/>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accent6"/>
                          </a:solidFill>
                          <a:latin typeface="+mn-lt"/>
                          <a:ea typeface="+mn-ea"/>
                          <a:cs typeface="+mn-cs"/>
                        </a:rPr>
                        <a:t>1,75,000</a:t>
                      </a:r>
                      <a:endParaRPr lang="en-IN" sz="2800" b="1" kern="1200" dirty="0">
                        <a:solidFill>
                          <a:schemeClr val="accent6"/>
                        </a:solidFill>
                        <a:latin typeface="+mn-lt"/>
                        <a:ea typeface="+mn-ea"/>
                        <a:cs typeface="+mn-cs"/>
                      </a:endParaRPr>
                    </a:p>
                  </a:txBody>
                  <a:tcPr/>
                </a:tc>
                <a:tc>
                  <a:txBody>
                    <a:bodyPr/>
                    <a:lstStyle/>
                    <a:p>
                      <a:pPr algn="r"/>
                      <a:r>
                        <a:rPr lang="en-GB" sz="2800" b="1" dirty="0"/>
                        <a:t>4,34,756</a:t>
                      </a:r>
                      <a:endParaRPr lang="en-IN" sz="2800" b="1" dirty="0"/>
                    </a:p>
                  </a:txBody>
                  <a:tcPr/>
                </a:tc>
                <a:tc>
                  <a:txBody>
                    <a:bodyPr/>
                    <a:lstStyle/>
                    <a:p>
                      <a:pPr algn="r"/>
                      <a:r>
                        <a:rPr lang="en-GB" sz="2800" b="1" dirty="0">
                          <a:solidFill>
                            <a:schemeClr val="accent5">
                              <a:lumMod val="75000"/>
                            </a:schemeClr>
                          </a:solidFill>
                        </a:rPr>
                        <a:t>20,65,244</a:t>
                      </a:r>
                      <a:endParaRPr lang="en-IN" sz="2800" b="1" dirty="0">
                        <a:solidFill>
                          <a:schemeClr val="accent5">
                            <a:lumMod val="75000"/>
                          </a:schemeClr>
                        </a:solidFill>
                      </a:endParaRPr>
                    </a:p>
                  </a:txBody>
                  <a:tcPr/>
                </a:tc>
                <a:extLst>
                  <a:ext uri="{0D108BD9-81ED-4DB2-BD59-A6C34878D82A}">
                    <a16:rowId xmlns:a16="http://schemas.microsoft.com/office/drawing/2014/main" val="910897499"/>
                  </a:ext>
                </a:extLst>
              </a:tr>
              <a:tr h="370840">
                <a:tc>
                  <a:txBody>
                    <a:bodyPr/>
                    <a:lstStyle/>
                    <a:p>
                      <a:pPr algn="r"/>
                      <a:r>
                        <a:rPr lang="en-GB" sz="2800" dirty="0"/>
                        <a:t>2</a:t>
                      </a:r>
                      <a:endParaRPr lang="en-IN" sz="2800"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2"/>
                          </a:solidFill>
                          <a:latin typeface="+mn-lt"/>
                          <a:ea typeface="+mn-ea"/>
                          <a:cs typeface="+mn-cs"/>
                        </a:rPr>
                        <a:t>6,09,756</a:t>
                      </a:r>
                      <a:endParaRPr lang="en-IN" sz="2800" b="1" kern="1200" dirty="0">
                        <a:solidFill>
                          <a:schemeClr val="tx2"/>
                        </a:solidFill>
                        <a:latin typeface="+mn-lt"/>
                        <a:ea typeface="+mn-ea"/>
                        <a:cs typeface="+mn-cs"/>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accent6"/>
                          </a:solidFill>
                          <a:latin typeface="+mn-lt"/>
                          <a:ea typeface="+mn-ea"/>
                          <a:cs typeface="+mn-cs"/>
                        </a:rPr>
                        <a:t>1,44,567</a:t>
                      </a:r>
                      <a:endParaRPr lang="en-IN" sz="2800" b="1" kern="1200" dirty="0">
                        <a:solidFill>
                          <a:schemeClr val="accent6"/>
                        </a:solidFill>
                        <a:latin typeface="+mn-lt"/>
                        <a:ea typeface="+mn-ea"/>
                        <a:cs typeface="+mn-cs"/>
                      </a:endParaRPr>
                    </a:p>
                  </a:txBody>
                  <a:tcPr/>
                </a:tc>
                <a:tc>
                  <a:txBody>
                    <a:bodyPr/>
                    <a:lstStyle/>
                    <a:p>
                      <a:pPr algn="r"/>
                      <a:r>
                        <a:rPr lang="en-GB" sz="2800" b="1" dirty="0"/>
                        <a:t>4,65,189</a:t>
                      </a:r>
                      <a:endParaRPr lang="en-IN" sz="2800" b="1" dirty="0"/>
                    </a:p>
                  </a:txBody>
                  <a:tcPr/>
                </a:tc>
                <a:tc>
                  <a:txBody>
                    <a:bodyPr/>
                    <a:lstStyle/>
                    <a:p>
                      <a:pPr algn="r"/>
                      <a:r>
                        <a:rPr lang="en-GB" sz="2800" b="1" dirty="0">
                          <a:solidFill>
                            <a:schemeClr val="accent5">
                              <a:lumMod val="75000"/>
                            </a:schemeClr>
                          </a:solidFill>
                        </a:rPr>
                        <a:t>16,00,055</a:t>
                      </a:r>
                      <a:endParaRPr lang="en-IN" sz="2800" b="1" dirty="0">
                        <a:solidFill>
                          <a:schemeClr val="accent5">
                            <a:lumMod val="75000"/>
                          </a:schemeClr>
                        </a:solidFill>
                      </a:endParaRPr>
                    </a:p>
                  </a:txBody>
                  <a:tcPr/>
                </a:tc>
                <a:extLst>
                  <a:ext uri="{0D108BD9-81ED-4DB2-BD59-A6C34878D82A}">
                    <a16:rowId xmlns:a16="http://schemas.microsoft.com/office/drawing/2014/main" val="1446114344"/>
                  </a:ext>
                </a:extLst>
              </a:tr>
              <a:tr h="370840">
                <a:tc>
                  <a:txBody>
                    <a:bodyPr/>
                    <a:lstStyle/>
                    <a:p>
                      <a:pPr algn="r"/>
                      <a:r>
                        <a:rPr lang="en-GB" sz="2800" dirty="0"/>
                        <a:t>3</a:t>
                      </a:r>
                      <a:endParaRPr lang="en-IN" sz="2800"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2"/>
                          </a:solidFill>
                          <a:latin typeface="+mn-lt"/>
                          <a:ea typeface="+mn-ea"/>
                          <a:cs typeface="+mn-cs"/>
                        </a:rPr>
                        <a:t>6,09,756</a:t>
                      </a:r>
                      <a:endParaRPr lang="en-IN" sz="2800" b="1" kern="1200" dirty="0">
                        <a:solidFill>
                          <a:schemeClr val="tx2"/>
                        </a:solidFill>
                        <a:latin typeface="+mn-lt"/>
                        <a:ea typeface="+mn-ea"/>
                        <a:cs typeface="+mn-cs"/>
                      </a:endParaRPr>
                    </a:p>
                  </a:txBody>
                  <a:tcPr/>
                </a:tc>
                <a:tc>
                  <a:txBody>
                    <a:bodyPr/>
                    <a:lstStyle/>
                    <a:p>
                      <a:pPr algn="r"/>
                      <a:r>
                        <a:rPr lang="en-GB" sz="2800" b="1" dirty="0">
                          <a:solidFill>
                            <a:schemeClr val="accent6"/>
                          </a:solidFill>
                        </a:rPr>
                        <a:t>1,12,004</a:t>
                      </a:r>
                      <a:endParaRPr lang="en-IN" sz="2800" b="1" dirty="0">
                        <a:solidFill>
                          <a:schemeClr val="accent6"/>
                        </a:solidFill>
                      </a:endParaRPr>
                    </a:p>
                  </a:txBody>
                  <a:tcPr/>
                </a:tc>
                <a:tc>
                  <a:txBody>
                    <a:bodyPr/>
                    <a:lstStyle/>
                    <a:p>
                      <a:pPr algn="r"/>
                      <a:r>
                        <a:rPr lang="en-GB" sz="2800" b="1" dirty="0"/>
                        <a:t>4,97,752</a:t>
                      </a:r>
                      <a:endParaRPr lang="en-IN" sz="2800" b="1" dirty="0"/>
                    </a:p>
                  </a:txBody>
                  <a:tcPr/>
                </a:tc>
                <a:tc>
                  <a:txBody>
                    <a:bodyPr/>
                    <a:lstStyle/>
                    <a:p>
                      <a:pPr algn="r"/>
                      <a:r>
                        <a:rPr lang="en-GB" sz="2800" b="1" dirty="0">
                          <a:solidFill>
                            <a:schemeClr val="accent5">
                              <a:lumMod val="75000"/>
                            </a:schemeClr>
                          </a:solidFill>
                        </a:rPr>
                        <a:t>11,02,303</a:t>
                      </a:r>
                      <a:endParaRPr lang="en-IN" sz="2800" b="1" dirty="0">
                        <a:solidFill>
                          <a:schemeClr val="accent5">
                            <a:lumMod val="75000"/>
                          </a:schemeClr>
                        </a:solidFill>
                      </a:endParaRPr>
                    </a:p>
                  </a:txBody>
                  <a:tcPr/>
                </a:tc>
                <a:extLst>
                  <a:ext uri="{0D108BD9-81ED-4DB2-BD59-A6C34878D82A}">
                    <a16:rowId xmlns:a16="http://schemas.microsoft.com/office/drawing/2014/main" val="2125287688"/>
                  </a:ext>
                </a:extLst>
              </a:tr>
              <a:tr h="370840">
                <a:tc>
                  <a:txBody>
                    <a:bodyPr/>
                    <a:lstStyle/>
                    <a:p>
                      <a:pPr algn="r"/>
                      <a:r>
                        <a:rPr lang="en-GB" sz="2800" dirty="0"/>
                        <a:t>4</a:t>
                      </a:r>
                      <a:endParaRPr lang="en-IN" sz="2800"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2"/>
                          </a:solidFill>
                          <a:latin typeface="+mn-lt"/>
                          <a:ea typeface="+mn-ea"/>
                          <a:cs typeface="+mn-cs"/>
                        </a:rPr>
                        <a:t>6,09,756</a:t>
                      </a:r>
                      <a:endParaRPr lang="en-IN" sz="2800" b="1" kern="1200" dirty="0">
                        <a:solidFill>
                          <a:schemeClr val="tx2"/>
                        </a:solidFill>
                        <a:latin typeface="+mn-lt"/>
                        <a:ea typeface="+mn-ea"/>
                        <a:cs typeface="+mn-cs"/>
                      </a:endParaRPr>
                    </a:p>
                  </a:txBody>
                  <a:tcPr/>
                </a:tc>
                <a:tc>
                  <a:txBody>
                    <a:bodyPr/>
                    <a:lstStyle/>
                    <a:p>
                      <a:pPr algn="r"/>
                      <a:r>
                        <a:rPr lang="en-GB" sz="2800" b="1" dirty="0">
                          <a:solidFill>
                            <a:schemeClr val="accent6"/>
                          </a:solidFill>
                        </a:rPr>
                        <a:t>77,161</a:t>
                      </a:r>
                      <a:endParaRPr lang="en-IN" sz="2800" b="1" dirty="0">
                        <a:solidFill>
                          <a:schemeClr val="accent6"/>
                        </a:solidFill>
                      </a:endParaRPr>
                    </a:p>
                  </a:txBody>
                  <a:tcPr/>
                </a:tc>
                <a:tc>
                  <a:txBody>
                    <a:bodyPr/>
                    <a:lstStyle/>
                    <a:p>
                      <a:pPr algn="r"/>
                      <a:r>
                        <a:rPr lang="en-GB" sz="2800" b="1" dirty="0"/>
                        <a:t>5,32,595</a:t>
                      </a:r>
                      <a:endParaRPr lang="en-IN" sz="2800" b="1" dirty="0"/>
                    </a:p>
                  </a:txBody>
                  <a:tcPr/>
                </a:tc>
                <a:tc>
                  <a:txBody>
                    <a:bodyPr/>
                    <a:lstStyle/>
                    <a:p>
                      <a:pPr algn="r"/>
                      <a:r>
                        <a:rPr lang="en-GB" sz="2800" b="1" dirty="0">
                          <a:solidFill>
                            <a:schemeClr val="accent5">
                              <a:lumMod val="75000"/>
                            </a:schemeClr>
                          </a:solidFill>
                        </a:rPr>
                        <a:t>5,69,708</a:t>
                      </a:r>
                      <a:endParaRPr lang="en-IN" sz="2800" b="1" dirty="0">
                        <a:solidFill>
                          <a:schemeClr val="accent5">
                            <a:lumMod val="75000"/>
                          </a:schemeClr>
                        </a:solidFill>
                      </a:endParaRPr>
                    </a:p>
                  </a:txBody>
                  <a:tcPr/>
                </a:tc>
                <a:extLst>
                  <a:ext uri="{0D108BD9-81ED-4DB2-BD59-A6C34878D82A}">
                    <a16:rowId xmlns:a16="http://schemas.microsoft.com/office/drawing/2014/main" val="3018441769"/>
                  </a:ext>
                </a:extLst>
              </a:tr>
              <a:tr h="370840">
                <a:tc>
                  <a:txBody>
                    <a:bodyPr/>
                    <a:lstStyle/>
                    <a:p>
                      <a:pPr algn="r"/>
                      <a:r>
                        <a:rPr lang="en-GB" sz="2800" dirty="0"/>
                        <a:t>5</a:t>
                      </a:r>
                      <a:endParaRPr lang="en-IN" sz="2800"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2"/>
                          </a:solidFill>
                          <a:latin typeface="+mn-lt"/>
                          <a:ea typeface="+mn-ea"/>
                          <a:cs typeface="+mn-cs"/>
                        </a:rPr>
                        <a:t>6,09,756</a:t>
                      </a:r>
                      <a:endParaRPr lang="en-IN" sz="2800" b="1" kern="1200" dirty="0">
                        <a:solidFill>
                          <a:schemeClr val="tx2"/>
                        </a:solidFill>
                        <a:latin typeface="+mn-lt"/>
                        <a:ea typeface="+mn-ea"/>
                        <a:cs typeface="+mn-cs"/>
                      </a:endParaRPr>
                    </a:p>
                  </a:txBody>
                  <a:tcPr/>
                </a:tc>
                <a:tc>
                  <a:txBody>
                    <a:bodyPr/>
                    <a:lstStyle/>
                    <a:p>
                      <a:pPr algn="r"/>
                      <a:r>
                        <a:rPr lang="en-GB" sz="2800" b="1" dirty="0">
                          <a:solidFill>
                            <a:schemeClr val="accent6"/>
                          </a:solidFill>
                        </a:rPr>
                        <a:t>39,880</a:t>
                      </a:r>
                      <a:endParaRPr lang="en-IN" sz="2800" b="1" dirty="0">
                        <a:solidFill>
                          <a:schemeClr val="accent6"/>
                        </a:solidFill>
                      </a:endParaRPr>
                    </a:p>
                  </a:txBody>
                  <a:tcPr/>
                </a:tc>
                <a:tc>
                  <a:txBody>
                    <a:bodyPr/>
                    <a:lstStyle/>
                    <a:p>
                      <a:pPr algn="r"/>
                      <a:r>
                        <a:rPr lang="en-GB" sz="2800" b="1" dirty="0"/>
                        <a:t>5,69,876</a:t>
                      </a:r>
                      <a:endParaRPr lang="en-IN" sz="2800" b="1" dirty="0"/>
                    </a:p>
                  </a:txBody>
                  <a:tcPr/>
                </a:tc>
                <a:tc>
                  <a:txBody>
                    <a:bodyPr/>
                    <a:lstStyle/>
                    <a:p>
                      <a:pPr algn="r"/>
                      <a:r>
                        <a:rPr lang="en-GB" sz="2800" b="1" dirty="0">
                          <a:solidFill>
                            <a:schemeClr val="accent5">
                              <a:lumMod val="75000"/>
                            </a:schemeClr>
                          </a:solidFill>
                        </a:rPr>
                        <a:t>-168*</a:t>
                      </a:r>
                      <a:endParaRPr lang="en-IN" sz="2800" b="1" dirty="0">
                        <a:solidFill>
                          <a:schemeClr val="accent5">
                            <a:lumMod val="75000"/>
                          </a:schemeClr>
                        </a:solidFill>
                      </a:endParaRPr>
                    </a:p>
                  </a:txBody>
                  <a:tcPr/>
                </a:tc>
                <a:extLst>
                  <a:ext uri="{0D108BD9-81ED-4DB2-BD59-A6C34878D82A}">
                    <a16:rowId xmlns:a16="http://schemas.microsoft.com/office/drawing/2014/main" val="1224654753"/>
                  </a:ext>
                </a:extLst>
              </a:tr>
            </a:tbl>
          </a:graphicData>
        </a:graphic>
      </p:graphicFrame>
    </p:spTree>
    <p:extLst>
      <p:ext uri="{BB962C8B-B14F-4D97-AF65-F5344CB8AC3E}">
        <p14:creationId xmlns:p14="http://schemas.microsoft.com/office/powerpoint/2010/main" val="13460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FFD04-4ACA-928E-6142-8AB64EBE75F6}"/>
              </a:ext>
            </a:extLst>
          </p:cNvPr>
          <p:cNvSpPr>
            <a:spLocks noGrp="1"/>
          </p:cNvSpPr>
          <p:nvPr>
            <p:ph type="title"/>
          </p:nvPr>
        </p:nvSpPr>
        <p:spPr/>
        <p:txBody>
          <a:bodyPr/>
          <a:lstStyle/>
          <a:p>
            <a:r>
              <a:rPr lang="en-GB" dirty="0"/>
              <a:t>Calculation of EMI</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DDA2BB-0F54-FCBA-84DE-C92B375095B9}"/>
                  </a:ext>
                </a:extLst>
              </p:cNvPr>
              <p:cNvSpPr>
                <a:spLocks noGrp="1"/>
              </p:cNvSpPr>
              <p:nvPr>
                <p:ph idx="1"/>
              </p:nvPr>
            </p:nvSpPr>
            <p:spPr/>
            <p:txBody>
              <a:bodyPr/>
              <a:lstStyle/>
              <a:p>
                <a:r>
                  <a:rPr lang="en-GB" dirty="0"/>
                  <a:t>Formula:</a:t>
                </a:r>
              </a:p>
              <a:p>
                <a14:m>
                  <m:oMath xmlns:m="http://schemas.openxmlformats.org/officeDocument/2006/math">
                    <m:r>
                      <a:rPr lang="en-GB" sz="2800" b="0" i="1" smtClean="0">
                        <a:latin typeface="Cambria Math" panose="02040503050406030204" pitchFamily="18" charset="0"/>
                      </a:rPr>
                      <m:t>𝐸𝑀𝐼</m:t>
                    </m:r>
                    <m:r>
                      <a:rPr lang="en-US" sz="2800" i="1" smtClean="0">
                        <a:latin typeface="Cambria Math" panose="02040503050406030204" pitchFamily="18" charset="0"/>
                      </a:rPr>
                      <m:t>=</m:t>
                    </m:r>
                    <m:r>
                      <a:rPr lang="en-GB" sz="2800" b="0" i="1" smtClean="0">
                        <a:latin typeface="Cambria Math" panose="02040503050406030204" pitchFamily="18" charset="0"/>
                      </a:rPr>
                      <m:t>𝑃</m:t>
                    </m:r>
                    <m:d>
                      <m:dPr>
                        <m:begChr m:val="["/>
                        <m:endChr m:val="]"/>
                        <m:ctrlPr>
                          <a:rPr lang="en-IN" sz="2800" i="1" smtClean="0">
                            <a:latin typeface="Cambria Math" panose="02040503050406030204" pitchFamily="18" charset="0"/>
                          </a:rPr>
                        </m:ctrlPr>
                      </m:dPr>
                      <m:e>
                        <m:r>
                          <a:rPr lang="en-US" sz="2800" i="1">
                            <a:latin typeface="Cambria Math" panose="02040503050406030204" pitchFamily="18" charset="0"/>
                          </a:rPr>
                          <m:t> </m:t>
                        </m:r>
                        <m:f>
                          <m:fPr>
                            <m:ctrlPr>
                              <a:rPr lang="en-IN" sz="2800" i="1">
                                <a:latin typeface="Cambria Math" panose="02040503050406030204" pitchFamily="18" charset="0"/>
                              </a:rPr>
                            </m:ctrlPr>
                          </m:fPr>
                          <m:num>
                            <m:sSup>
                              <m:sSupPr>
                                <m:ctrlPr>
                                  <a:rPr lang="en-IN" i="1">
                                    <a:latin typeface="Cambria Math" panose="02040503050406030204" pitchFamily="18" charset="0"/>
                                  </a:rPr>
                                </m:ctrlPr>
                              </m:sSupPr>
                              <m:e>
                                <m:r>
                                  <a:rPr lang="en-GB" i="1">
                                    <a:latin typeface="Cambria Math" panose="02040503050406030204" pitchFamily="18" charset="0"/>
                                  </a:rPr>
                                  <m:t>𝑟</m:t>
                                </m:r>
                                <m:r>
                                  <a:rPr lang="en-US" i="1">
                                    <a:latin typeface="Cambria Math" panose="02040503050406030204" pitchFamily="18" charset="0"/>
                                  </a:rPr>
                                  <m:t>(1+</m:t>
                                </m:r>
                                <m:r>
                                  <a:rPr lang="en-GB" i="1">
                                    <a:latin typeface="Cambria Math" panose="02040503050406030204" pitchFamily="18" charset="0"/>
                                  </a:rPr>
                                  <m:t>𝑟</m:t>
                                </m:r>
                                <m:r>
                                  <a:rPr lang="en-US" i="1">
                                    <a:latin typeface="Cambria Math" panose="02040503050406030204" pitchFamily="18" charset="0"/>
                                  </a:rPr>
                                  <m:t>)</m:t>
                                </m:r>
                              </m:e>
                              <m:sup>
                                <m:r>
                                  <a:rPr lang="en-US" i="1">
                                    <a:latin typeface="Cambria Math" panose="02040503050406030204" pitchFamily="18" charset="0"/>
                                  </a:rPr>
                                  <m:t>𝑛</m:t>
                                </m:r>
                              </m:sup>
                            </m:sSup>
                          </m:num>
                          <m:den>
                            <m:sSup>
                              <m:sSupPr>
                                <m:ctrlPr>
                                  <a:rPr lang="en-IN" sz="2800" i="1">
                                    <a:latin typeface="Cambria Math" panose="02040503050406030204" pitchFamily="18" charset="0"/>
                                  </a:rPr>
                                </m:ctrlPr>
                              </m:sSupPr>
                              <m:e>
                                <m:r>
                                  <a:rPr lang="en-US" sz="2800" i="1">
                                    <a:latin typeface="Cambria Math" panose="02040503050406030204" pitchFamily="18" charset="0"/>
                                  </a:rPr>
                                  <m:t>(1+</m:t>
                                </m:r>
                                <m:r>
                                  <a:rPr lang="en-GB" sz="2800" i="1">
                                    <a:latin typeface="Cambria Math" panose="02040503050406030204" pitchFamily="18" charset="0"/>
                                  </a:rPr>
                                  <m:t>𝑟</m:t>
                                </m:r>
                                <m:r>
                                  <a:rPr lang="en-US" sz="2800" i="1">
                                    <a:latin typeface="Cambria Math" panose="02040503050406030204" pitchFamily="18" charset="0"/>
                                  </a:rPr>
                                  <m:t>)</m:t>
                                </m:r>
                              </m:e>
                              <m:sup>
                                <m:r>
                                  <a:rPr lang="en-US" sz="2800" i="1">
                                    <a:latin typeface="Cambria Math" panose="02040503050406030204" pitchFamily="18" charset="0"/>
                                  </a:rPr>
                                  <m:t>𝑛</m:t>
                                </m:r>
                              </m:sup>
                            </m:sSup>
                            <m:r>
                              <a:rPr lang="en-GB" sz="2800" b="0" i="1" smtClean="0">
                                <a:latin typeface="Cambria Math" panose="02040503050406030204" pitchFamily="18" charset="0"/>
                              </a:rPr>
                              <m:t> − 1</m:t>
                            </m:r>
                          </m:den>
                        </m:f>
                      </m:e>
                    </m:d>
                  </m:oMath>
                </a14:m>
                <a:endParaRPr lang="en-IN" dirty="0"/>
              </a:p>
              <a:p>
                <a:r>
                  <a:rPr lang="en-IN" dirty="0"/>
                  <a:t>Where,</a:t>
                </a:r>
              </a:p>
              <a:p>
                <a:pPr marL="0" indent="0">
                  <a:buNone/>
                </a:pPr>
                <a:r>
                  <a:rPr lang="en-IN" dirty="0"/>
                  <a:t>P = Principal Amount</a:t>
                </a:r>
              </a:p>
              <a:p>
                <a:pPr marL="0" indent="0">
                  <a:buNone/>
                </a:pPr>
                <a:r>
                  <a:rPr lang="en-IN" dirty="0"/>
                  <a:t>r = Rate of interest</a:t>
                </a:r>
              </a:p>
              <a:p>
                <a:pPr marL="0" indent="0">
                  <a:buNone/>
                </a:pPr>
                <a:r>
                  <a:rPr lang="en-IN" dirty="0"/>
                  <a:t>n = </a:t>
                </a:r>
                <a:r>
                  <a:rPr lang="en-GB" dirty="0"/>
                  <a:t>Total number of monthly instalments</a:t>
                </a:r>
                <a:endParaRPr lang="en-IN" dirty="0"/>
              </a:p>
            </p:txBody>
          </p:sp>
        </mc:Choice>
        <mc:Fallback xmlns="">
          <p:sp>
            <p:nvSpPr>
              <p:cNvPr id="3" name="Content Placeholder 2">
                <a:extLst>
                  <a:ext uri="{FF2B5EF4-FFF2-40B4-BE49-F238E27FC236}">
                    <a16:creationId xmlns:a16="http://schemas.microsoft.com/office/drawing/2014/main" id="{3ADDA2BB-0F54-FCBA-84DE-C92B375095B9}"/>
                  </a:ext>
                </a:extLst>
              </p:cNvPr>
              <p:cNvSpPr>
                <a:spLocks noGrp="1" noRot="1" noChangeAspect="1" noMove="1" noResize="1" noEditPoints="1" noAdjustHandles="1" noChangeArrowheads="1" noChangeShapeType="1" noTextEdit="1"/>
              </p:cNvSpPr>
              <p:nvPr>
                <p:ph idx="1"/>
              </p:nvPr>
            </p:nvSpPr>
            <p:spPr>
              <a:blipFill>
                <a:blip r:embed="rId2"/>
                <a:stretch>
                  <a:fillRect l="-1074" t="-1963"/>
                </a:stretch>
              </a:blipFill>
            </p:spPr>
            <p:txBody>
              <a:bodyPr/>
              <a:lstStyle/>
              <a:p>
                <a:r>
                  <a:rPr lang="en-IN">
                    <a:noFill/>
                  </a:rPr>
                  <a:t> </a:t>
                </a:r>
              </a:p>
            </p:txBody>
          </p:sp>
        </mc:Fallback>
      </mc:AlternateContent>
    </p:spTree>
    <p:extLst>
      <p:ext uri="{BB962C8B-B14F-4D97-AF65-F5344CB8AC3E}">
        <p14:creationId xmlns:p14="http://schemas.microsoft.com/office/powerpoint/2010/main" val="261013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2C0D-FB16-800C-E310-1F4E22F523D6}"/>
              </a:ext>
            </a:extLst>
          </p:cNvPr>
          <p:cNvSpPr>
            <a:spLocks noGrp="1"/>
          </p:cNvSpPr>
          <p:nvPr>
            <p:ph type="title"/>
          </p:nvPr>
        </p:nvSpPr>
        <p:spPr/>
        <p:txBody>
          <a:bodyPr/>
          <a:lstStyle/>
          <a:p>
            <a:r>
              <a:rPr lang="en-IN" altLang="en-US" dirty="0"/>
              <a:t>Question.17</a:t>
            </a:r>
            <a:endParaRPr lang="en-IN" dirty="0"/>
          </a:p>
        </p:txBody>
      </p:sp>
      <p:sp>
        <p:nvSpPr>
          <p:cNvPr id="3" name="Content Placeholder 2">
            <a:extLst>
              <a:ext uri="{FF2B5EF4-FFF2-40B4-BE49-F238E27FC236}">
                <a16:creationId xmlns:a16="http://schemas.microsoft.com/office/drawing/2014/main" id="{14236553-DB68-5771-1ED6-292A74E83131}"/>
              </a:ext>
            </a:extLst>
          </p:cNvPr>
          <p:cNvSpPr>
            <a:spLocks noGrp="1"/>
          </p:cNvSpPr>
          <p:nvPr>
            <p:ph idx="1"/>
          </p:nvPr>
        </p:nvSpPr>
        <p:spPr/>
        <p:txBody>
          <a:bodyPr/>
          <a:lstStyle/>
          <a:p>
            <a:pPr marL="0" indent="0">
              <a:buNone/>
            </a:pPr>
            <a:r>
              <a:rPr lang="en-GB" dirty="0"/>
              <a:t>Mr. Jay borrowed 1,00,000 @ 10% interest rate for 3 years. Calculate EMI.</a:t>
            </a:r>
          </a:p>
          <a:p>
            <a:endParaRPr lang="en-GB" dirty="0"/>
          </a:p>
          <a:p>
            <a:pPr marL="0" indent="0">
              <a:buNone/>
            </a:pPr>
            <a:r>
              <a:rPr lang="en-IN" dirty="0"/>
              <a:t>Solution</a:t>
            </a:r>
          </a:p>
          <a:p>
            <a:endParaRPr lang="en-IN" dirty="0"/>
          </a:p>
          <a:p>
            <a:endParaRPr lang="en-IN" dirty="0"/>
          </a:p>
        </p:txBody>
      </p:sp>
      <p:graphicFrame>
        <p:nvGraphicFramePr>
          <p:cNvPr id="4" name="Table 3">
            <a:extLst>
              <a:ext uri="{FF2B5EF4-FFF2-40B4-BE49-F238E27FC236}">
                <a16:creationId xmlns:a16="http://schemas.microsoft.com/office/drawing/2014/main" id="{98B04A23-E620-3651-247E-CB79E6518886}"/>
              </a:ext>
            </a:extLst>
          </p:cNvPr>
          <p:cNvGraphicFramePr>
            <a:graphicFrameLocks noGrp="1"/>
          </p:cNvGraphicFramePr>
          <p:nvPr>
            <p:extLst>
              <p:ext uri="{D42A27DB-BD31-4B8C-83A1-F6EECF244321}">
                <p14:modId xmlns:p14="http://schemas.microsoft.com/office/powerpoint/2010/main" val="1701119992"/>
              </p:ext>
            </p:extLst>
          </p:nvPr>
        </p:nvGraphicFramePr>
        <p:xfrm>
          <a:off x="367145" y="2652886"/>
          <a:ext cx="9524999" cy="2194560"/>
        </p:xfrm>
        <a:graphic>
          <a:graphicData uri="http://schemas.openxmlformats.org/drawingml/2006/table">
            <a:tbl>
              <a:tblPr>
                <a:tableStyleId>{616DA210-FB5B-4158-B5E0-FEB733F419BA}</a:tableStyleId>
              </a:tblPr>
              <a:tblGrid>
                <a:gridCol w="1212273">
                  <a:extLst>
                    <a:ext uri="{9D8B030D-6E8A-4147-A177-3AD203B41FA5}">
                      <a16:colId xmlns:a16="http://schemas.microsoft.com/office/drawing/2014/main" val="836660170"/>
                    </a:ext>
                  </a:extLst>
                </a:gridCol>
                <a:gridCol w="4092306">
                  <a:extLst>
                    <a:ext uri="{9D8B030D-6E8A-4147-A177-3AD203B41FA5}">
                      <a16:colId xmlns:a16="http://schemas.microsoft.com/office/drawing/2014/main" val="3509444567"/>
                    </a:ext>
                  </a:extLst>
                </a:gridCol>
                <a:gridCol w="4220420">
                  <a:extLst>
                    <a:ext uri="{9D8B030D-6E8A-4147-A177-3AD203B41FA5}">
                      <a16:colId xmlns:a16="http://schemas.microsoft.com/office/drawing/2014/main" val="1010888757"/>
                    </a:ext>
                  </a:extLst>
                </a:gridCol>
              </a:tblGrid>
              <a:tr h="0">
                <a:tc>
                  <a:txBody>
                    <a:bodyPr/>
                    <a:lstStyle/>
                    <a:p>
                      <a:r>
                        <a:rPr lang="en-IN" sz="2400" dirty="0"/>
                        <a:t>Symbol</a:t>
                      </a:r>
                    </a:p>
                  </a:txBody>
                  <a:tcPr anchor="ctr"/>
                </a:tc>
                <a:tc>
                  <a:txBody>
                    <a:bodyPr/>
                    <a:lstStyle/>
                    <a:p>
                      <a:r>
                        <a:rPr lang="en-IN" sz="2400"/>
                        <a:t>Meaning</a:t>
                      </a:r>
                    </a:p>
                  </a:txBody>
                  <a:tcPr anchor="ctr"/>
                </a:tc>
                <a:tc>
                  <a:txBody>
                    <a:bodyPr/>
                    <a:lstStyle/>
                    <a:p>
                      <a:r>
                        <a:rPr lang="en-IN" sz="2400"/>
                        <a:t>Value in this case</a:t>
                      </a:r>
                    </a:p>
                  </a:txBody>
                  <a:tcPr anchor="ctr"/>
                </a:tc>
                <a:extLst>
                  <a:ext uri="{0D108BD9-81ED-4DB2-BD59-A6C34878D82A}">
                    <a16:rowId xmlns:a16="http://schemas.microsoft.com/office/drawing/2014/main" val="2956901289"/>
                  </a:ext>
                </a:extLst>
              </a:tr>
              <a:tr h="0">
                <a:tc>
                  <a:txBody>
                    <a:bodyPr/>
                    <a:lstStyle/>
                    <a:p>
                      <a:r>
                        <a:rPr lang="en-IN" sz="2400" dirty="0"/>
                        <a:t>P</a:t>
                      </a:r>
                    </a:p>
                  </a:txBody>
                  <a:tcPr anchor="ctr"/>
                </a:tc>
                <a:tc>
                  <a:txBody>
                    <a:bodyPr/>
                    <a:lstStyle/>
                    <a:p>
                      <a:r>
                        <a:rPr lang="en-IN" sz="2400" dirty="0"/>
                        <a:t>Principal (loan amount)</a:t>
                      </a:r>
                    </a:p>
                  </a:txBody>
                  <a:tcPr anchor="ctr"/>
                </a:tc>
                <a:tc>
                  <a:txBody>
                    <a:bodyPr/>
                    <a:lstStyle/>
                    <a:p>
                      <a:r>
                        <a:rPr lang="en-IN" sz="2400" dirty="0"/>
                        <a:t> 1,00,000</a:t>
                      </a:r>
                    </a:p>
                  </a:txBody>
                  <a:tcPr anchor="ctr"/>
                </a:tc>
                <a:extLst>
                  <a:ext uri="{0D108BD9-81ED-4DB2-BD59-A6C34878D82A}">
                    <a16:rowId xmlns:a16="http://schemas.microsoft.com/office/drawing/2014/main" val="672035426"/>
                  </a:ext>
                </a:extLst>
              </a:tr>
              <a:tr h="0">
                <a:tc>
                  <a:txBody>
                    <a:bodyPr/>
                    <a:lstStyle/>
                    <a:p>
                      <a:r>
                        <a:rPr lang="en-IN" sz="2400" dirty="0"/>
                        <a:t>r</a:t>
                      </a:r>
                    </a:p>
                  </a:txBody>
                  <a:tcPr anchor="ctr"/>
                </a:tc>
                <a:tc>
                  <a:txBody>
                    <a:bodyPr/>
                    <a:lstStyle/>
                    <a:p>
                      <a:r>
                        <a:rPr lang="en-IN" sz="2400" dirty="0"/>
                        <a:t>Monthly interest rate</a:t>
                      </a:r>
                    </a:p>
                  </a:txBody>
                  <a:tcPr anchor="ctr"/>
                </a:tc>
                <a:tc>
                  <a:txBody>
                    <a:bodyPr/>
                    <a:lstStyle/>
                    <a:p>
                      <a:r>
                        <a:rPr lang="en-IN" sz="2400" dirty="0"/>
                        <a:t>0.10 / 12 = 0.0083333</a:t>
                      </a:r>
                    </a:p>
                  </a:txBody>
                  <a:tcPr anchor="ctr"/>
                </a:tc>
                <a:extLst>
                  <a:ext uri="{0D108BD9-81ED-4DB2-BD59-A6C34878D82A}">
                    <a16:rowId xmlns:a16="http://schemas.microsoft.com/office/drawing/2014/main" val="1503319077"/>
                  </a:ext>
                </a:extLst>
              </a:tr>
              <a:tr h="0">
                <a:tc>
                  <a:txBody>
                    <a:bodyPr/>
                    <a:lstStyle/>
                    <a:p>
                      <a:r>
                        <a:rPr lang="en-IN" sz="2400" dirty="0"/>
                        <a:t>n</a:t>
                      </a:r>
                    </a:p>
                  </a:txBody>
                  <a:tcPr anchor="ctr"/>
                </a:tc>
                <a:tc>
                  <a:txBody>
                    <a:bodyPr/>
                    <a:lstStyle/>
                    <a:p>
                      <a:r>
                        <a:rPr lang="en-GB" sz="2400" dirty="0"/>
                        <a:t>Total number of monthly instalments</a:t>
                      </a:r>
                    </a:p>
                  </a:txBody>
                  <a:tcPr anchor="ctr"/>
                </a:tc>
                <a:tc>
                  <a:txBody>
                    <a:bodyPr/>
                    <a:lstStyle/>
                    <a:p>
                      <a:r>
                        <a:rPr lang="en-GB" sz="2400" dirty="0"/>
                        <a:t>3 years × 12 = 36 Months</a:t>
                      </a:r>
                    </a:p>
                  </a:txBody>
                  <a:tcPr anchor="ctr"/>
                </a:tc>
                <a:extLst>
                  <a:ext uri="{0D108BD9-81ED-4DB2-BD59-A6C34878D82A}">
                    <a16:rowId xmlns:a16="http://schemas.microsoft.com/office/drawing/2014/main" val="2488111680"/>
                  </a:ext>
                </a:extLst>
              </a:tr>
            </a:tbl>
          </a:graphicData>
        </a:graphic>
      </p:graphicFrame>
    </p:spTree>
    <p:extLst>
      <p:ext uri="{BB962C8B-B14F-4D97-AF65-F5344CB8AC3E}">
        <p14:creationId xmlns:p14="http://schemas.microsoft.com/office/powerpoint/2010/main" val="324442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EB749-57D3-37EA-E09D-CC7647820EB1}"/>
              </a:ext>
            </a:extLst>
          </p:cNvPr>
          <p:cNvSpPr>
            <a:spLocks noGrp="1"/>
          </p:cNvSpPr>
          <p:nvPr>
            <p:ph type="title"/>
          </p:nvPr>
        </p:nvSpPr>
        <p:spPr/>
        <p:txBody>
          <a:bodyPr/>
          <a:lstStyle/>
          <a:p>
            <a:r>
              <a:rPr lang="en-GB" dirty="0"/>
              <a:t>Solution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E1443F-F18F-5EA6-69F8-5FD574BA5105}"/>
                  </a:ext>
                </a:extLst>
              </p:cNvPr>
              <p:cNvSpPr>
                <a:spLocks noGrp="1"/>
              </p:cNvSpPr>
              <p:nvPr>
                <p:ph idx="1"/>
              </p:nvPr>
            </p:nvSpPr>
            <p:spPr>
              <a:xfrm>
                <a:off x="131181" y="863444"/>
                <a:ext cx="6089510" cy="5590565"/>
              </a:xfrm>
            </p:spPr>
            <p:txBody>
              <a:bodyPr/>
              <a:lstStyle/>
              <a:p>
                <a14:m>
                  <m:oMath xmlns:m="http://schemas.openxmlformats.org/officeDocument/2006/math">
                    <m:r>
                      <a:rPr lang="en-GB" i="1" smtClean="0">
                        <a:latin typeface="Cambria Math" panose="02040503050406030204" pitchFamily="18" charset="0"/>
                      </a:rPr>
                      <m:t>𝐸𝑀𝐼</m:t>
                    </m:r>
                    <m:r>
                      <a:rPr lang="en-US" i="1">
                        <a:latin typeface="Cambria Math" panose="02040503050406030204" pitchFamily="18" charset="0"/>
                      </a:rPr>
                      <m:t>=</m:t>
                    </m:r>
                    <m:r>
                      <a:rPr lang="en-GB" i="1">
                        <a:latin typeface="Cambria Math" panose="02040503050406030204" pitchFamily="18" charset="0"/>
                      </a:rPr>
                      <m:t>𝑃</m:t>
                    </m:r>
                    <m:d>
                      <m:dPr>
                        <m:begChr m:val="["/>
                        <m:endChr m:val="]"/>
                        <m:ctrlPr>
                          <a:rPr lang="en-IN" i="1">
                            <a:latin typeface="Cambria Math" panose="02040503050406030204" pitchFamily="18" charset="0"/>
                          </a:rPr>
                        </m:ctrlPr>
                      </m:dPr>
                      <m:e>
                        <m:r>
                          <a:rPr lang="en-US" i="1">
                            <a:latin typeface="Cambria Math" panose="02040503050406030204" pitchFamily="18" charset="0"/>
                          </a:rPr>
                          <m:t> </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GB" i="1">
                                    <a:latin typeface="Cambria Math" panose="02040503050406030204" pitchFamily="18" charset="0"/>
                                  </a:rPr>
                                  <m:t>𝑟</m:t>
                                </m:r>
                                <m:r>
                                  <a:rPr lang="en-US" i="1">
                                    <a:latin typeface="Cambria Math" panose="02040503050406030204" pitchFamily="18" charset="0"/>
                                  </a:rPr>
                                  <m:t>(1+</m:t>
                                </m:r>
                                <m:r>
                                  <a:rPr lang="en-GB" i="1">
                                    <a:latin typeface="Cambria Math" panose="02040503050406030204" pitchFamily="18" charset="0"/>
                                  </a:rPr>
                                  <m:t>𝑟</m:t>
                                </m:r>
                                <m:r>
                                  <a:rPr lang="en-US" i="1">
                                    <a:latin typeface="Cambria Math" panose="02040503050406030204" pitchFamily="18" charset="0"/>
                                  </a:rPr>
                                  <m:t>)</m:t>
                                </m:r>
                              </m:e>
                              <m:sup>
                                <m:r>
                                  <a:rPr lang="en-US" i="1">
                                    <a:latin typeface="Cambria Math" panose="02040503050406030204" pitchFamily="18" charset="0"/>
                                  </a:rPr>
                                  <m:t>𝑛</m:t>
                                </m:r>
                              </m:sup>
                            </m:sSup>
                          </m:num>
                          <m:den>
                            <m:sSup>
                              <m:sSupPr>
                                <m:ctrlPr>
                                  <a:rPr lang="en-IN" i="1">
                                    <a:latin typeface="Cambria Math" panose="02040503050406030204" pitchFamily="18" charset="0"/>
                                  </a:rPr>
                                </m:ctrlPr>
                              </m:sSupPr>
                              <m:e>
                                <m:r>
                                  <a:rPr lang="en-US" i="1">
                                    <a:latin typeface="Cambria Math" panose="02040503050406030204" pitchFamily="18" charset="0"/>
                                  </a:rPr>
                                  <m:t>(1+</m:t>
                                </m:r>
                                <m:r>
                                  <a:rPr lang="en-GB" i="1">
                                    <a:latin typeface="Cambria Math" panose="02040503050406030204" pitchFamily="18" charset="0"/>
                                  </a:rPr>
                                  <m:t>𝑟</m:t>
                                </m:r>
                                <m:r>
                                  <a:rPr lang="en-US" i="1">
                                    <a:latin typeface="Cambria Math" panose="02040503050406030204" pitchFamily="18" charset="0"/>
                                  </a:rPr>
                                  <m:t>)</m:t>
                                </m:r>
                              </m:e>
                              <m:sup>
                                <m:r>
                                  <a:rPr lang="en-US" i="1">
                                    <a:latin typeface="Cambria Math" panose="02040503050406030204" pitchFamily="18" charset="0"/>
                                  </a:rPr>
                                  <m:t>𝑛</m:t>
                                </m:r>
                              </m:sup>
                            </m:sSup>
                            <m:r>
                              <a:rPr lang="en-GB" b="0" i="1" smtClean="0">
                                <a:latin typeface="Cambria Math" panose="02040503050406030204" pitchFamily="18" charset="0"/>
                              </a:rPr>
                              <m:t> − 1</m:t>
                            </m:r>
                          </m:den>
                        </m:f>
                      </m:e>
                    </m:d>
                  </m:oMath>
                </a14:m>
                <a:endParaRPr lang="en-IN" dirty="0"/>
              </a:p>
              <a:p>
                <a14:m>
                  <m:oMath xmlns:m="http://schemas.openxmlformats.org/officeDocument/2006/math">
                    <m:r>
                      <a:rPr lang="en-GB" i="1">
                        <a:latin typeface="Cambria Math" panose="02040503050406030204" pitchFamily="18" charset="0"/>
                      </a:rPr>
                      <m:t>𝐸𝑀𝐼</m:t>
                    </m:r>
                    <m:r>
                      <a:rPr lang="en-US" i="1">
                        <a:latin typeface="Cambria Math" panose="02040503050406030204" pitchFamily="18" charset="0"/>
                      </a:rPr>
                      <m:t>=</m:t>
                    </m:r>
                    <m:r>
                      <a:rPr lang="en-GB" i="1">
                        <a:latin typeface="Cambria Math" panose="02040503050406030204" pitchFamily="18" charset="0"/>
                      </a:rPr>
                      <m:t>1,00,000</m:t>
                    </m:r>
                    <m:d>
                      <m:dPr>
                        <m:begChr m:val="["/>
                        <m:endChr m:val="]"/>
                        <m:ctrlPr>
                          <a:rPr lang="en-IN" i="1">
                            <a:latin typeface="Cambria Math" panose="02040503050406030204" pitchFamily="18" charset="0"/>
                          </a:rPr>
                        </m:ctrlPr>
                      </m:dPr>
                      <m:e>
                        <m:r>
                          <a:rPr lang="en-US" i="1">
                            <a:latin typeface="Cambria Math" panose="02040503050406030204" pitchFamily="18" charset="0"/>
                          </a:rPr>
                          <m:t> </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GB" i="1">
                                    <a:latin typeface="Cambria Math" panose="02040503050406030204" pitchFamily="18" charset="0"/>
                                  </a:rPr>
                                  <m:t>0.00833</m:t>
                                </m:r>
                                <m:r>
                                  <a:rPr lang="en-US" i="1">
                                    <a:latin typeface="Cambria Math" panose="02040503050406030204" pitchFamily="18" charset="0"/>
                                  </a:rPr>
                                  <m:t>(1+</m:t>
                                </m:r>
                                <m:r>
                                  <a:rPr lang="en-GB" i="1">
                                    <a:latin typeface="Cambria Math" panose="02040503050406030204" pitchFamily="18" charset="0"/>
                                  </a:rPr>
                                  <m:t>0.00833</m:t>
                                </m:r>
                                <m:r>
                                  <a:rPr lang="en-US" i="1">
                                    <a:latin typeface="Cambria Math" panose="02040503050406030204" pitchFamily="18" charset="0"/>
                                  </a:rPr>
                                  <m:t>)</m:t>
                                </m:r>
                              </m:e>
                              <m:sup>
                                <m:r>
                                  <a:rPr lang="en-GB" i="1">
                                    <a:latin typeface="Cambria Math" panose="02040503050406030204" pitchFamily="18" charset="0"/>
                                  </a:rPr>
                                  <m:t>36</m:t>
                                </m:r>
                              </m:sup>
                            </m:sSup>
                          </m:num>
                          <m:den>
                            <m:sSup>
                              <m:sSupPr>
                                <m:ctrlPr>
                                  <a:rPr lang="en-IN" i="1">
                                    <a:latin typeface="Cambria Math" panose="02040503050406030204" pitchFamily="18" charset="0"/>
                                  </a:rPr>
                                </m:ctrlPr>
                              </m:sSupPr>
                              <m:e>
                                <m:r>
                                  <a:rPr lang="en-US" i="1">
                                    <a:latin typeface="Cambria Math" panose="02040503050406030204" pitchFamily="18" charset="0"/>
                                  </a:rPr>
                                  <m:t>(1+</m:t>
                                </m:r>
                                <m:r>
                                  <a:rPr lang="en-GB" i="1">
                                    <a:latin typeface="Cambria Math" panose="02040503050406030204" pitchFamily="18" charset="0"/>
                                  </a:rPr>
                                  <m:t>0.00833</m:t>
                                </m:r>
                                <m:r>
                                  <a:rPr lang="en-US" i="1">
                                    <a:latin typeface="Cambria Math" panose="02040503050406030204" pitchFamily="18" charset="0"/>
                                  </a:rPr>
                                  <m:t>)</m:t>
                                </m:r>
                              </m:e>
                              <m:sup>
                                <m:r>
                                  <a:rPr lang="en-GB" i="1">
                                    <a:latin typeface="Cambria Math" panose="02040503050406030204" pitchFamily="18" charset="0"/>
                                  </a:rPr>
                                  <m:t>3</m:t>
                                </m:r>
                                <m:r>
                                  <a:rPr lang="en-GB" i="1" smtClean="0">
                                    <a:latin typeface="Cambria Math" panose="02040503050406030204" pitchFamily="18" charset="0"/>
                                  </a:rPr>
                                  <m:t>6</m:t>
                                </m:r>
                                <m:r>
                                  <a:rPr lang="en-GB" b="0" i="1" smtClean="0">
                                    <a:latin typeface="Cambria Math" panose="02040503050406030204" pitchFamily="18" charset="0"/>
                                  </a:rPr>
                                  <m:t>  </m:t>
                                </m:r>
                              </m:sup>
                            </m:sSup>
                            <m:r>
                              <a:rPr lang="en-GB" b="0" i="1" smtClean="0">
                                <a:latin typeface="Cambria Math" panose="02040503050406030204" pitchFamily="18" charset="0"/>
                              </a:rPr>
                              <m:t>− 1</m:t>
                            </m:r>
                          </m:den>
                        </m:f>
                      </m:e>
                    </m:d>
                  </m:oMath>
                </a14:m>
                <a:endParaRPr lang="en-IN" dirty="0"/>
              </a:p>
              <a:p>
                <a14:m>
                  <m:oMath xmlns:m="http://schemas.openxmlformats.org/officeDocument/2006/math">
                    <m:r>
                      <a:rPr lang="en-GB" i="1">
                        <a:latin typeface="Cambria Math" panose="02040503050406030204" pitchFamily="18" charset="0"/>
                      </a:rPr>
                      <m:t>𝐸𝑀𝐼</m:t>
                    </m:r>
                    <m:r>
                      <a:rPr lang="en-US" i="1">
                        <a:latin typeface="Cambria Math" panose="02040503050406030204" pitchFamily="18" charset="0"/>
                      </a:rPr>
                      <m:t>=</m:t>
                    </m:r>
                    <m:r>
                      <a:rPr lang="en-GB" i="1">
                        <a:latin typeface="Cambria Math" panose="02040503050406030204" pitchFamily="18" charset="0"/>
                      </a:rPr>
                      <m:t>1,00,000</m:t>
                    </m:r>
                    <m:d>
                      <m:dPr>
                        <m:begChr m:val="["/>
                        <m:endChr m:val="]"/>
                        <m:ctrlPr>
                          <a:rPr lang="en-IN" i="1">
                            <a:latin typeface="Cambria Math" panose="02040503050406030204" pitchFamily="18" charset="0"/>
                          </a:rPr>
                        </m:ctrlPr>
                      </m:dPr>
                      <m:e>
                        <m:r>
                          <a:rPr lang="en-US" i="1">
                            <a:latin typeface="Cambria Math" panose="02040503050406030204" pitchFamily="18" charset="0"/>
                          </a:rPr>
                          <m:t> </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GB" i="1">
                                    <a:latin typeface="Cambria Math" panose="02040503050406030204" pitchFamily="18" charset="0"/>
                                  </a:rPr>
                                  <m:t>0.00833</m:t>
                                </m:r>
                                <m:r>
                                  <a:rPr lang="en-US" i="1">
                                    <a:latin typeface="Cambria Math" panose="02040503050406030204" pitchFamily="18" charset="0"/>
                                  </a:rPr>
                                  <m:t>(</m:t>
                                </m:r>
                                <m:r>
                                  <a:rPr lang="en-GB" i="1" smtClean="0">
                                    <a:latin typeface="Cambria Math" panose="02040503050406030204" pitchFamily="18" charset="0"/>
                                  </a:rPr>
                                  <m:t>1.3</m:t>
                                </m:r>
                                <m:r>
                                  <a:rPr lang="en-GB" b="0" i="1" smtClean="0">
                                    <a:latin typeface="Cambria Math" panose="02040503050406030204" pitchFamily="18" charset="0"/>
                                  </a:rPr>
                                  <m:t>48</m:t>
                                </m:r>
                                <m:r>
                                  <a:rPr lang="en-US" i="1">
                                    <a:latin typeface="Cambria Math" panose="02040503050406030204" pitchFamily="18" charset="0"/>
                                  </a:rPr>
                                  <m:t>)</m:t>
                                </m:r>
                              </m:e>
                              <m:sup/>
                            </m:sSup>
                          </m:num>
                          <m:den>
                            <m:sSup>
                              <m:sSupPr>
                                <m:ctrlPr>
                                  <a:rPr lang="en-IN" i="1">
                                    <a:latin typeface="Cambria Math" panose="02040503050406030204" pitchFamily="18" charset="0"/>
                                  </a:rPr>
                                </m:ctrlPr>
                              </m:sSupPr>
                              <m:e>
                                <m:r>
                                  <a:rPr lang="en-GB" i="1">
                                    <a:latin typeface="Cambria Math" panose="02040503050406030204" pitchFamily="18" charset="0"/>
                                  </a:rPr>
                                  <m:t> 1.3</m:t>
                                </m:r>
                                <m:r>
                                  <a:rPr lang="en-GB" b="0" i="1" smtClean="0">
                                    <a:latin typeface="Cambria Math" panose="02040503050406030204" pitchFamily="18" charset="0"/>
                                  </a:rPr>
                                  <m:t>48 − 1</m:t>
                                </m:r>
                              </m:e>
                              <m:sup/>
                            </m:sSup>
                          </m:den>
                        </m:f>
                      </m:e>
                    </m:d>
                  </m:oMath>
                </a14:m>
                <a:endParaRPr lang="en-IN" dirty="0"/>
              </a:p>
              <a:p>
                <a14:m>
                  <m:oMath xmlns:m="http://schemas.openxmlformats.org/officeDocument/2006/math">
                    <m:r>
                      <a:rPr lang="en-GB" i="1">
                        <a:latin typeface="Cambria Math" panose="02040503050406030204" pitchFamily="18" charset="0"/>
                      </a:rPr>
                      <m:t>𝐸𝑀𝐼</m:t>
                    </m:r>
                    <m:r>
                      <a:rPr lang="en-US" i="1">
                        <a:latin typeface="Cambria Math" panose="02040503050406030204" pitchFamily="18" charset="0"/>
                      </a:rPr>
                      <m:t>=</m:t>
                    </m:r>
                    <m:r>
                      <a:rPr lang="en-GB" i="1">
                        <a:latin typeface="Cambria Math" panose="02040503050406030204" pitchFamily="18" charset="0"/>
                      </a:rPr>
                      <m:t>1,00,000</m:t>
                    </m:r>
                    <m:d>
                      <m:dPr>
                        <m:begChr m:val="["/>
                        <m:endChr m:val="]"/>
                        <m:ctrlPr>
                          <a:rPr lang="en-IN" i="1">
                            <a:latin typeface="Cambria Math" panose="02040503050406030204" pitchFamily="18" charset="0"/>
                          </a:rPr>
                        </m:ctrlPr>
                      </m:dPr>
                      <m:e>
                        <m:r>
                          <a:rPr lang="en-US" i="1">
                            <a:latin typeface="Cambria Math" panose="02040503050406030204" pitchFamily="18" charset="0"/>
                          </a:rPr>
                          <m:t> </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GB" i="1">
                                    <a:latin typeface="Cambria Math" panose="02040503050406030204" pitchFamily="18" charset="0"/>
                                  </a:rPr>
                                  <m:t>0.011</m:t>
                                </m:r>
                              </m:e>
                              <m:sup/>
                            </m:sSup>
                          </m:num>
                          <m:den>
                            <m:sSup>
                              <m:sSupPr>
                                <m:ctrlPr>
                                  <a:rPr lang="en-IN" i="1">
                                    <a:latin typeface="Cambria Math" panose="02040503050406030204" pitchFamily="18" charset="0"/>
                                  </a:rPr>
                                </m:ctrlPr>
                              </m:sSupPr>
                              <m:e>
                                <m:r>
                                  <a:rPr lang="en-GB" i="1">
                                    <a:latin typeface="Cambria Math" panose="02040503050406030204" pitchFamily="18" charset="0"/>
                                  </a:rPr>
                                  <m:t>0.3</m:t>
                                </m:r>
                                <m:r>
                                  <a:rPr lang="en-GB" b="0" i="1" smtClean="0">
                                    <a:latin typeface="Cambria Math" panose="02040503050406030204" pitchFamily="18" charset="0"/>
                                  </a:rPr>
                                  <m:t>48</m:t>
                                </m:r>
                              </m:e>
                              <m:sup/>
                            </m:sSup>
                          </m:den>
                        </m:f>
                      </m:e>
                    </m:d>
                  </m:oMath>
                </a14:m>
                <a:endParaRPr lang="en-IN" dirty="0"/>
              </a:p>
              <a:p>
                <a14:m>
                  <m:oMath xmlns:m="http://schemas.openxmlformats.org/officeDocument/2006/math">
                    <m:r>
                      <a:rPr lang="en-GB" i="1" smtClean="0">
                        <a:latin typeface="Cambria Math" panose="02040503050406030204" pitchFamily="18" charset="0"/>
                      </a:rPr>
                      <m:t>𝐸𝑀𝐼</m:t>
                    </m:r>
                    <m:r>
                      <a:rPr lang="en-US" i="1">
                        <a:latin typeface="Cambria Math" panose="02040503050406030204" pitchFamily="18" charset="0"/>
                      </a:rPr>
                      <m:t>=</m:t>
                    </m:r>
                    <m:r>
                      <a:rPr lang="en-GB" i="1">
                        <a:latin typeface="Cambria Math" panose="02040503050406030204" pitchFamily="18" charset="0"/>
                      </a:rPr>
                      <m:t>1,00,000</m:t>
                    </m:r>
                  </m:oMath>
                </a14:m>
                <a:r>
                  <a:rPr lang="en-IN" dirty="0"/>
                  <a:t> * </a:t>
                </a:r>
                <a:r>
                  <a:rPr lang="en-IN" dirty="0">
                    <a:latin typeface="Cambria Math" panose="02040503050406030204" pitchFamily="18" charset="0"/>
                    <a:ea typeface="Cambria Math" panose="02040503050406030204" pitchFamily="18" charset="0"/>
                  </a:rPr>
                  <a:t>0.0316091954</a:t>
                </a:r>
              </a:p>
              <a:p>
                <a14:m>
                  <m:oMath xmlns:m="http://schemas.openxmlformats.org/officeDocument/2006/math">
                    <m:r>
                      <a:rPr lang="en-GB" i="1" smtClean="0">
                        <a:latin typeface="Cambria Math" panose="02040503050406030204" pitchFamily="18" charset="0"/>
                      </a:rPr>
                      <m:t>𝐸𝑀𝐼</m:t>
                    </m:r>
                    <m:r>
                      <a:rPr lang="en-US" i="1" smtClean="0">
                        <a:latin typeface="Cambria Math" panose="02040503050406030204" pitchFamily="18" charset="0"/>
                      </a:rPr>
                      <m:t>=</m:t>
                    </m:r>
                    <m:r>
                      <a:rPr lang="en-GB" b="0" i="1" smtClean="0">
                        <a:latin typeface="Cambria Math" panose="02040503050406030204" pitchFamily="18" charset="0"/>
                      </a:rPr>
                      <m:t>3,160</m:t>
                    </m:r>
                  </m:oMath>
                </a14:m>
                <a:endParaRPr lang="en-IN" dirty="0"/>
              </a:p>
            </p:txBody>
          </p:sp>
        </mc:Choice>
        <mc:Fallback xmlns="">
          <p:sp>
            <p:nvSpPr>
              <p:cNvPr id="3" name="Content Placeholder 2">
                <a:extLst>
                  <a:ext uri="{FF2B5EF4-FFF2-40B4-BE49-F238E27FC236}">
                    <a16:creationId xmlns:a16="http://schemas.microsoft.com/office/drawing/2014/main" id="{25E1443F-F18F-5EA6-69F8-5FD574BA5105}"/>
                  </a:ext>
                </a:extLst>
              </p:cNvPr>
              <p:cNvSpPr>
                <a:spLocks noGrp="1" noRot="1" noChangeAspect="1" noMove="1" noResize="1" noEditPoints="1" noAdjustHandles="1" noChangeArrowheads="1" noChangeShapeType="1" noTextEdit="1"/>
              </p:cNvSpPr>
              <p:nvPr>
                <p:ph idx="1"/>
              </p:nvPr>
            </p:nvSpPr>
            <p:spPr>
              <a:xfrm>
                <a:off x="131181" y="863444"/>
                <a:ext cx="6089510" cy="5590565"/>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92029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38767-C51C-CD94-6037-8DFF2582663E}"/>
              </a:ext>
            </a:extLst>
          </p:cNvPr>
          <p:cNvSpPr>
            <a:spLocks noGrp="1"/>
          </p:cNvSpPr>
          <p:nvPr>
            <p:ph type="title"/>
          </p:nvPr>
        </p:nvSpPr>
        <p:spPr/>
        <p:txBody>
          <a:bodyPr/>
          <a:lstStyle/>
          <a:p>
            <a:r>
              <a:rPr lang="en-GB" dirty="0"/>
              <a:t>Loan Amortization Schedule</a:t>
            </a:r>
            <a:endParaRPr lang="en-IN" dirty="0"/>
          </a:p>
        </p:txBody>
      </p:sp>
      <p:graphicFrame>
        <p:nvGraphicFramePr>
          <p:cNvPr id="3" name="Table 2">
            <a:extLst>
              <a:ext uri="{FF2B5EF4-FFF2-40B4-BE49-F238E27FC236}">
                <a16:creationId xmlns:a16="http://schemas.microsoft.com/office/drawing/2014/main" id="{305B885F-1737-7007-204E-6C43D67DFA85}"/>
              </a:ext>
            </a:extLst>
          </p:cNvPr>
          <p:cNvGraphicFramePr>
            <a:graphicFrameLocks noGrp="1"/>
          </p:cNvGraphicFramePr>
          <p:nvPr>
            <p:extLst>
              <p:ext uri="{D42A27DB-BD31-4B8C-83A1-F6EECF244321}">
                <p14:modId xmlns:p14="http://schemas.microsoft.com/office/powerpoint/2010/main" val="3072787068"/>
              </p:ext>
            </p:extLst>
          </p:nvPr>
        </p:nvGraphicFramePr>
        <p:xfrm>
          <a:off x="1284423" y="966645"/>
          <a:ext cx="8885155" cy="5355040"/>
        </p:xfrm>
        <a:graphic>
          <a:graphicData uri="http://schemas.openxmlformats.org/drawingml/2006/table">
            <a:tbl>
              <a:tblPr/>
              <a:tblGrid>
                <a:gridCol w="865860">
                  <a:extLst>
                    <a:ext uri="{9D8B030D-6E8A-4147-A177-3AD203B41FA5}">
                      <a16:colId xmlns:a16="http://schemas.microsoft.com/office/drawing/2014/main" val="3286227576"/>
                    </a:ext>
                  </a:extLst>
                </a:gridCol>
                <a:gridCol w="1603859">
                  <a:extLst>
                    <a:ext uri="{9D8B030D-6E8A-4147-A177-3AD203B41FA5}">
                      <a16:colId xmlns:a16="http://schemas.microsoft.com/office/drawing/2014/main" val="2202843696"/>
                    </a:ext>
                  </a:extLst>
                </a:gridCol>
                <a:gridCol w="1603859">
                  <a:extLst>
                    <a:ext uri="{9D8B030D-6E8A-4147-A177-3AD203B41FA5}">
                      <a16:colId xmlns:a16="http://schemas.microsoft.com/office/drawing/2014/main" val="1000161167"/>
                    </a:ext>
                  </a:extLst>
                </a:gridCol>
                <a:gridCol w="1603859">
                  <a:extLst>
                    <a:ext uri="{9D8B030D-6E8A-4147-A177-3AD203B41FA5}">
                      <a16:colId xmlns:a16="http://schemas.microsoft.com/office/drawing/2014/main" val="2044587040"/>
                    </a:ext>
                  </a:extLst>
                </a:gridCol>
                <a:gridCol w="1603859">
                  <a:extLst>
                    <a:ext uri="{9D8B030D-6E8A-4147-A177-3AD203B41FA5}">
                      <a16:colId xmlns:a16="http://schemas.microsoft.com/office/drawing/2014/main" val="2230935668"/>
                    </a:ext>
                  </a:extLst>
                </a:gridCol>
                <a:gridCol w="1603859">
                  <a:extLst>
                    <a:ext uri="{9D8B030D-6E8A-4147-A177-3AD203B41FA5}">
                      <a16:colId xmlns:a16="http://schemas.microsoft.com/office/drawing/2014/main" val="3217555150"/>
                    </a:ext>
                  </a:extLst>
                </a:gridCol>
              </a:tblGrid>
              <a:tr h="334718">
                <a:tc>
                  <a:txBody>
                    <a:bodyPr/>
                    <a:lstStyle/>
                    <a:p>
                      <a:pPr algn="ctr"/>
                      <a:r>
                        <a:rPr lang="en-IN" sz="2000" dirty="0"/>
                        <a:t>Month</a:t>
                      </a:r>
                      <a:endParaRPr lang="en-IN" sz="2000" b="1" dirty="0"/>
                    </a:p>
                  </a:txBody>
                  <a:tcPr marL="83680" marR="83680" marT="41840" marB="41840" anchor="ctr"/>
                </a:tc>
                <a:tc>
                  <a:txBody>
                    <a:bodyPr/>
                    <a:lstStyle/>
                    <a:p>
                      <a:pPr algn="ctr"/>
                      <a:r>
                        <a:rPr lang="en-IN" sz="2000" dirty="0"/>
                        <a:t>Opening Balance</a:t>
                      </a:r>
                      <a:endParaRPr lang="en-IN" sz="2000" b="1" dirty="0"/>
                    </a:p>
                  </a:txBody>
                  <a:tcPr marL="83680" marR="83680" marT="41840" marB="41840" anchor="ctr"/>
                </a:tc>
                <a:tc>
                  <a:txBody>
                    <a:bodyPr/>
                    <a:lstStyle/>
                    <a:p>
                      <a:pPr algn="ctr"/>
                      <a:r>
                        <a:rPr lang="en-IN" sz="2000" dirty="0"/>
                        <a:t>EMI</a:t>
                      </a:r>
                      <a:endParaRPr lang="en-IN" sz="2000" b="1" dirty="0"/>
                    </a:p>
                  </a:txBody>
                  <a:tcPr marL="83680" marR="83680" marT="41840" marB="41840" anchor="ctr"/>
                </a:tc>
                <a:tc>
                  <a:txBody>
                    <a:bodyPr/>
                    <a:lstStyle/>
                    <a:p>
                      <a:pPr algn="ctr"/>
                      <a:r>
                        <a:rPr lang="en-IN" sz="2000" dirty="0"/>
                        <a:t>Interest Paid</a:t>
                      </a:r>
                      <a:endParaRPr lang="en-IN" sz="2000" b="1" dirty="0"/>
                    </a:p>
                  </a:txBody>
                  <a:tcPr marL="83680" marR="83680" marT="41840" marB="41840" anchor="ctr"/>
                </a:tc>
                <a:tc>
                  <a:txBody>
                    <a:bodyPr/>
                    <a:lstStyle/>
                    <a:p>
                      <a:pPr algn="ctr"/>
                      <a:r>
                        <a:rPr lang="en-IN" sz="2000" dirty="0"/>
                        <a:t>Principal Paid</a:t>
                      </a:r>
                      <a:endParaRPr lang="en-IN" sz="2000" b="1" dirty="0"/>
                    </a:p>
                  </a:txBody>
                  <a:tcPr marL="83680" marR="83680" marT="41840" marB="41840" anchor="ctr"/>
                </a:tc>
                <a:tc>
                  <a:txBody>
                    <a:bodyPr/>
                    <a:lstStyle/>
                    <a:p>
                      <a:pPr algn="ctr"/>
                      <a:r>
                        <a:rPr lang="en-IN" sz="2000" dirty="0"/>
                        <a:t>Closing Balance</a:t>
                      </a:r>
                      <a:endParaRPr lang="en-IN" sz="2000" b="1" dirty="0"/>
                    </a:p>
                  </a:txBody>
                  <a:tcPr marL="83680" marR="83680" marT="41840" marB="41840" anchor="ctr"/>
                </a:tc>
                <a:extLst>
                  <a:ext uri="{0D108BD9-81ED-4DB2-BD59-A6C34878D82A}">
                    <a16:rowId xmlns:a16="http://schemas.microsoft.com/office/drawing/2014/main" val="2523597692"/>
                  </a:ext>
                </a:extLst>
              </a:tr>
              <a:tr h="334718">
                <a:tc>
                  <a:txBody>
                    <a:bodyPr/>
                    <a:lstStyle/>
                    <a:p>
                      <a:pPr algn="r"/>
                      <a:r>
                        <a:rPr lang="en-IN" sz="2000" dirty="0"/>
                        <a:t>1</a:t>
                      </a:r>
                    </a:p>
                  </a:txBody>
                  <a:tcPr marL="83680" marR="83680" marT="41840" marB="41840" anchor="ctr"/>
                </a:tc>
                <a:tc>
                  <a:txBody>
                    <a:bodyPr/>
                    <a:lstStyle/>
                    <a:p>
                      <a:pPr algn="r"/>
                      <a:r>
                        <a:rPr lang="en-IN" sz="2000" dirty="0"/>
                        <a:t>1,00,000.00</a:t>
                      </a:r>
                    </a:p>
                  </a:txBody>
                  <a:tcPr marL="83680" marR="83680" marT="41840" marB="41840" anchor="ctr"/>
                </a:tc>
                <a:tc>
                  <a:txBody>
                    <a:bodyPr/>
                    <a:lstStyle/>
                    <a:p>
                      <a:pPr marL="0" algn="r" defTabSz="914400" rtl="0" eaLnBrk="1" fontAlgn="b" latinLnBrk="0" hangingPunct="1"/>
                      <a:r>
                        <a:rPr lang="en-IN" sz="2000" kern="1200" dirty="0"/>
                        <a:t>3160</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833.33</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2326.67</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97673.33</a:t>
                      </a:r>
                      <a:endParaRPr lang="en-IN" sz="2000" kern="120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3798746865"/>
                  </a:ext>
                </a:extLst>
              </a:tr>
              <a:tr h="334718">
                <a:tc>
                  <a:txBody>
                    <a:bodyPr/>
                    <a:lstStyle/>
                    <a:p>
                      <a:pPr algn="r"/>
                      <a:r>
                        <a:rPr lang="en-IN" sz="2000" dirty="0"/>
                        <a:t>2</a:t>
                      </a:r>
                    </a:p>
                  </a:txBody>
                  <a:tcPr marL="83680" marR="83680" marT="41840" marB="41840" anchor="ctr"/>
                </a:tc>
                <a:tc>
                  <a:txBody>
                    <a:bodyPr/>
                    <a:lstStyle/>
                    <a:p>
                      <a:pPr algn="r"/>
                      <a:r>
                        <a:rPr lang="en-IN" sz="2000" dirty="0"/>
                        <a:t>97,673.33</a:t>
                      </a:r>
                    </a:p>
                  </a:txBody>
                  <a:tcPr marL="83680" marR="83680" marT="41840" marB="41840" anchor="ctr"/>
                </a:tc>
                <a:tc>
                  <a:txBody>
                    <a:bodyPr/>
                    <a:lstStyle/>
                    <a:p>
                      <a:pPr marL="0" algn="r" defTabSz="914400" rtl="0" eaLnBrk="1" fontAlgn="b" latinLnBrk="0" hangingPunct="1"/>
                      <a:r>
                        <a:rPr lang="en-IN" sz="2000" kern="1200"/>
                        <a:t>3160</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813.94</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2346.06</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95327.27</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3950187058"/>
                  </a:ext>
                </a:extLst>
              </a:tr>
              <a:tr h="334718">
                <a:tc>
                  <a:txBody>
                    <a:bodyPr/>
                    <a:lstStyle/>
                    <a:p>
                      <a:pPr algn="r"/>
                      <a:r>
                        <a:rPr lang="en-IN" sz="2000"/>
                        <a:t>3</a:t>
                      </a:r>
                    </a:p>
                  </a:txBody>
                  <a:tcPr marL="83680" marR="83680" marT="41840" marB="41840" anchor="ctr"/>
                </a:tc>
                <a:tc>
                  <a:txBody>
                    <a:bodyPr/>
                    <a:lstStyle/>
                    <a:p>
                      <a:pPr marL="0" algn="r" defTabSz="914400" rtl="0" eaLnBrk="1" fontAlgn="b" latinLnBrk="0" hangingPunct="1"/>
                      <a:r>
                        <a:rPr lang="en-IN" sz="2000" kern="1200" dirty="0"/>
                        <a:t>95327.27</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3160</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794.39</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2365.61</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92961.66</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2228966221"/>
                  </a:ext>
                </a:extLst>
              </a:tr>
              <a:tr h="334718">
                <a:tc>
                  <a:txBody>
                    <a:bodyPr/>
                    <a:lstStyle/>
                    <a:p>
                      <a:pPr algn="r"/>
                      <a:r>
                        <a:rPr lang="en-IN" sz="2000"/>
                        <a:t>4</a:t>
                      </a:r>
                    </a:p>
                  </a:txBody>
                  <a:tcPr marL="83680" marR="83680" marT="41840" marB="41840" anchor="ctr"/>
                </a:tc>
                <a:tc>
                  <a:txBody>
                    <a:bodyPr/>
                    <a:lstStyle/>
                    <a:p>
                      <a:pPr marL="0" algn="r" defTabSz="914400" rtl="0" eaLnBrk="1" fontAlgn="b" latinLnBrk="0" hangingPunct="1"/>
                      <a:r>
                        <a:rPr lang="en-IN" sz="2000" kern="1200" dirty="0"/>
                        <a:t>92961.66</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3160</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774.68</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2385.32</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90576.34</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4278080703"/>
                  </a:ext>
                </a:extLst>
              </a:tr>
              <a:tr h="334718">
                <a:tc>
                  <a:txBody>
                    <a:bodyPr/>
                    <a:lstStyle/>
                    <a:p>
                      <a:pPr algn="r"/>
                      <a:r>
                        <a:rPr lang="en-IN" sz="2000"/>
                        <a:t>5</a:t>
                      </a:r>
                    </a:p>
                  </a:txBody>
                  <a:tcPr marL="83680" marR="83680" marT="41840" marB="41840" anchor="ctr"/>
                </a:tc>
                <a:tc>
                  <a:txBody>
                    <a:bodyPr/>
                    <a:lstStyle/>
                    <a:p>
                      <a:pPr marL="0" algn="r" defTabSz="914400" rtl="0" eaLnBrk="1" fontAlgn="b" latinLnBrk="0" hangingPunct="1"/>
                      <a:r>
                        <a:rPr lang="en-IN" sz="2000" kern="1200" dirty="0"/>
                        <a:t>90576.34</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3160</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754.8</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2405.2</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88171.14</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2108281407"/>
                  </a:ext>
                </a:extLst>
              </a:tr>
              <a:tr h="334718">
                <a:tc>
                  <a:txBody>
                    <a:bodyPr/>
                    <a:lstStyle/>
                    <a:p>
                      <a:pPr algn="r"/>
                      <a:r>
                        <a:rPr lang="en-IN" sz="2000"/>
                        <a:t>6</a:t>
                      </a:r>
                    </a:p>
                  </a:txBody>
                  <a:tcPr marL="83680" marR="83680" marT="41840" marB="41840" anchor="ctr"/>
                </a:tc>
                <a:tc>
                  <a:txBody>
                    <a:bodyPr/>
                    <a:lstStyle/>
                    <a:p>
                      <a:pPr marL="0" algn="r" defTabSz="914400" rtl="0" eaLnBrk="1" fontAlgn="b" latinLnBrk="0" hangingPunct="1"/>
                      <a:r>
                        <a:rPr lang="en-IN" sz="2000" kern="1200" dirty="0"/>
                        <a:t>88171.14</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3160</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734.76</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2425.24</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85745.9</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2194802509"/>
                  </a:ext>
                </a:extLst>
              </a:tr>
              <a:tr h="334718">
                <a:tc>
                  <a:txBody>
                    <a:bodyPr/>
                    <a:lstStyle/>
                    <a:p>
                      <a:pPr algn="r"/>
                      <a:r>
                        <a:rPr lang="en-IN" sz="2000"/>
                        <a:t>7</a:t>
                      </a:r>
                    </a:p>
                  </a:txBody>
                  <a:tcPr marL="83680" marR="83680" marT="41840" marB="41840" anchor="ctr"/>
                </a:tc>
                <a:tc>
                  <a:txBody>
                    <a:bodyPr/>
                    <a:lstStyle/>
                    <a:p>
                      <a:pPr marL="0" algn="r" defTabSz="914400" rtl="0" eaLnBrk="1" fontAlgn="b" latinLnBrk="0" hangingPunct="1"/>
                      <a:r>
                        <a:rPr lang="en-IN" sz="2000" kern="1200" dirty="0"/>
                        <a:t>85745.9</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3160</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714.55</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2445.45</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83300.45</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512707261"/>
                  </a:ext>
                </a:extLst>
              </a:tr>
              <a:tr h="334718">
                <a:tc>
                  <a:txBody>
                    <a:bodyPr/>
                    <a:lstStyle/>
                    <a:p>
                      <a:pPr algn="r"/>
                      <a:r>
                        <a:rPr lang="en-IN" sz="2000"/>
                        <a:t>8</a:t>
                      </a:r>
                    </a:p>
                  </a:txBody>
                  <a:tcPr marL="83680" marR="83680" marT="41840" marB="41840" anchor="ctr"/>
                </a:tc>
                <a:tc>
                  <a:txBody>
                    <a:bodyPr/>
                    <a:lstStyle/>
                    <a:p>
                      <a:pPr marL="0" algn="r" defTabSz="914400" rtl="0" eaLnBrk="1" fontAlgn="b" latinLnBrk="0" hangingPunct="1"/>
                      <a:r>
                        <a:rPr lang="en-IN" sz="2000" kern="1200" dirty="0"/>
                        <a:t>83300.45</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3160</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694.17</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2465.83</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80834.62</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1942384567"/>
                  </a:ext>
                </a:extLst>
              </a:tr>
              <a:tr h="334718">
                <a:tc>
                  <a:txBody>
                    <a:bodyPr/>
                    <a:lstStyle/>
                    <a:p>
                      <a:pPr algn="r"/>
                      <a:r>
                        <a:rPr lang="en-IN" sz="2000"/>
                        <a:t>9</a:t>
                      </a:r>
                    </a:p>
                  </a:txBody>
                  <a:tcPr marL="83680" marR="83680" marT="41840" marB="41840" anchor="ctr"/>
                </a:tc>
                <a:tc>
                  <a:txBody>
                    <a:bodyPr/>
                    <a:lstStyle/>
                    <a:p>
                      <a:pPr marL="0" algn="r" defTabSz="914400" rtl="0" eaLnBrk="1" fontAlgn="b" latinLnBrk="0" hangingPunct="1"/>
                      <a:r>
                        <a:rPr lang="en-IN" sz="2000" kern="1200" dirty="0"/>
                        <a:t>80834.62</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3160</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673.62</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2486.38</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78348.24</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94276992"/>
                  </a:ext>
                </a:extLst>
              </a:tr>
              <a:tr h="334718">
                <a:tc>
                  <a:txBody>
                    <a:bodyPr/>
                    <a:lstStyle/>
                    <a:p>
                      <a:pPr algn="r"/>
                      <a:r>
                        <a:rPr lang="en-IN" sz="2000"/>
                        <a:t>10</a:t>
                      </a:r>
                    </a:p>
                  </a:txBody>
                  <a:tcPr marL="83680" marR="83680" marT="41840" marB="41840" anchor="ctr"/>
                </a:tc>
                <a:tc>
                  <a:txBody>
                    <a:bodyPr/>
                    <a:lstStyle/>
                    <a:p>
                      <a:pPr marL="0" algn="r" defTabSz="914400" rtl="0" eaLnBrk="1" fontAlgn="b" latinLnBrk="0" hangingPunct="1"/>
                      <a:r>
                        <a:rPr lang="en-IN" sz="2000" kern="1200" dirty="0"/>
                        <a:t>78348.24</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3160</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652.9</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2507.1</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75841.14</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3590441947"/>
                  </a:ext>
                </a:extLst>
              </a:tr>
              <a:tr h="334718">
                <a:tc>
                  <a:txBody>
                    <a:bodyPr/>
                    <a:lstStyle/>
                    <a:p>
                      <a:pPr algn="r"/>
                      <a:r>
                        <a:rPr lang="en-IN" sz="2000"/>
                        <a:t>11</a:t>
                      </a:r>
                    </a:p>
                  </a:txBody>
                  <a:tcPr marL="83680" marR="83680" marT="41840" marB="41840" anchor="ctr"/>
                </a:tc>
                <a:tc>
                  <a:txBody>
                    <a:bodyPr/>
                    <a:lstStyle/>
                    <a:p>
                      <a:pPr marL="0" algn="r" defTabSz="914400" rtl="0" eaLnBrk="1" fontAlgn="b" latinLnBrk="0" hangingPunct="1"/>
                      <a:r>
                        <a:rPr lang="en-IN" sz="2000" kern="1200" dirty="0"/>
                        <a:t>75841.14</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3160</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632.01</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2527.99</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73313.15</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2066070254"/>
                  </a:ext>
                </a:extLst>
              </a:tr>
              <a:tr h="334718">
                <a:tc>
                  <a:txBody>
                    <a:bodyPr/>
                    <a:lstStyle/>
                    <a:p>
                      <a:pPr algn="r"/>
                      <a:r>
                        <a:rPr lang="en-IN" sz="2000"/>
                        <a:t>12</a:t>
                      </a:r>
                    </a:p>
                  </a:txBody>
                  <a:tcPr marL="83680" marR="83680" marT="41840" marB="41840" anchor="ctr"/>
                </a:tc>
                <a:tc>
                  <a:txBody>
                    <a:bodyPr/>
                    <a:lstStyle/>
                    <a:p>
                      <a:pPr marL="0" algn="r" defTabSz="914400" rtl="0" eaLnBrk="1" fontAlgn="b" latinLnBrk="0" hangingPunct="1"/>
                      <a:r>
                        <a:rPr lang="en-IN" sz="2000" kern="1200" dirty="0"/>
                        <a:t>73313.15</a:t>
                      </a:r>
                      <a:endParaRPr lang="en-IN" sz="2000" kern="1200" dirty="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3160</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610.94</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a:t>2549.06</a:t>
                      </a:r>
                      <a:endParaRPr lang="en-IN" sz="2000" kern="1200">
                        <a:solidFill>
                          <a:schemeClr val="tx1"/>
                        </a:solidFill>
                        <a:latin typeface="+mn-lt"/>
                        <a:ea typeface="+mn-ea"/>
                        <a:cs typeface="+mn-cs"/>
                      </a:endParaRPr>
                    </a:p>
                  </a:txBody>
                  <a:tcPr marL="9525" marR="9525" marT="9525" marB="0" anchor="b"/>
                </a:tc>
                <a:tc>
                  <a:txBody>
                    <a:bodyPr/>
                    <a:lstStyle/>
                    <a:p>
                      <a:pPr marL="0" algn="r" defTabSz="914400" rtl="0" eaLnBrk="1" fontAlgn="b" latinLnBrk="0" hangingPunct="1"/>
                      <a:r>
                        <a:rPr lang="en-IN" sz="2000" kern="1200" dirty="0"/>
                        <a:t>70764.09</a:t>
                      </a:r>
                      <a:endParaRPr lang="en-IN" sz="2000" kern="1200" dirty="0">
                        <a:solidFill>
                          <a:schemeClr val="tx1"/>
                        </a:solidFill>
                        <a:latin typeface="+mn-lt"/>
                        <a:ea typeface="+mn-ea"/>
                        <a:cs typeface="+mn-cs"/>
                      </a:endParaRPr>
                    </a:p>
                  </a:txBody>
                  <a:tcPr marL="9525" marR="9525" marT="9525" marB="0" anchor="b"/>
                </a:tc>
                <a:extLst>
                  <a:ext uri="{0D108BD9-81ED-4DB2-BD59-A6C34878D82A}">
                    <a16:rowId xmlns:a16="http://schemas.microsoft.com/office/drawing/2014/main" val="349336511"/>
                  </a:ext>
                </a:extLst>
              </a:tr>
            </a:tbl>
          </a:graphicData>
        </a:graphic>
      </p:graphicFrame>
    </p:spTree>
    <p:extLst>
      <p:ext uri="{BB962C8B-B14F-4D97-AF65-F5344CB8AC3E}">
        <p14:creationId xmlns:p14="http://schemas.microsoft.com/office/powerpoint/2010/main" val="410189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C7927-AC36-8F27-22E8-E1BEBCD3D84F}"/>
              </a:ext>
            </a:extLst>
          </p:cNvPr>
          <p:cNvSpPr>
            <a:spLocks noGrp="1"/>
          </p:cNvSpPr>
          <p:nvPr>
            <p:ph type="title"/>
          </p:nvPr>
        </p:nvSpPr>
        <p:spPr/>
        <p:txBody>
          <a:bodyPr/>
          <a:lstStyle/>
          <a:p>
            <a:r>
              <a:rPr lang="en-GB" dirty="0"/>
              <a:t>Doubling Period</a:t>
            </a:r>
            <a:endParaRPr lang="en-IN" dirty="0"/>
          </a:p>
        </p:txBody>
      </p:sp>
      <p:sp>
        <p:nvSpPr>
          <p:cNvPr id="3" name="Content Placeholder 2">
            <a:extLst>
              <a:ext uri="{FF2B5EF4-FFF2-40B4-BE49-F238E27FC236}">
                <a16:creationId xmlns:a16="http://schemas.microsoft.com/office/drawing/2014/main" id="{38AC76F0-3E6A-BD0E-9F39-9F7F8029943D}"/>
              </a:ext>
            </a:extLst>
          </p:cNvPr>
          <p:cNvSpPr>
            <a:spLocks noGrp="1"/>
          </p:cNvSpPr>
          <p:nvPr>
            <p:ph idx="1"/>
          </p:nvPr>
        </p:nvSpPr>
        <p:spPr/>
        <p:txBody>
          <a:bodyPr/>
          <a:lstStyle/>
          <a:p>
            <a:r>
              <a:rPr lang="en-GB" dirty="0"/>
              <a:t>These are quick mental math rules used in finance to estimate how many years it will take for an investment to double.</a:t>
            </a:r>
          </a:p>
          <a:p>
            <a:r>
              <a:rPr lang="en-US" altLang="en-US" dirty="0"/>
              <a:t>Investors commonly ask the question; </a:t>
            </a:r>
            <a:r>
              <a:rPr lang="en-US" altLang="en-US" b="1" dirty="0">
                <a:solidFill>
                  <a:srgbClr val="C00000"/>
                </a:solidFill>
              </a:rPr>
              <a:t>How long would it take to double the amount</a:t>
            </a:r>
            <a:r>
              <a:rPr lang="en-US" altLang="en-US" dirty="0"/>
              <a:t> at a given rate of interest?</a:t>
            </a:r>
            <a:endParaRPr lang="en-IN" dirty="0"/>
          </a:p>
        </p:txBody>
      </p:sp>
      <p:pic>
        <p:nvPicPr>
          <p:cNvPr id="4" name="Picture 3">
            <a:extLst>
              <a:ext uri="{FF2B5EF4-FFF2-40B4-BE49-F238E27FC236}">
                <a16:creationId xmlns:a16="http://schemas.microsoft.com/office/drawing/2014/main" id="{F818D694-ECDF-5F40-3F85-F73F275834BF}"/>
              </a:ext>
            </a:extLst>
          </p:cNvPr>
          <p:cNvPicPr>
            <a:picLocks noChangeAspect="1"/>
          </p:cNvPicPr>
          <p:nvPr/>
        </p:nvPicPr>
        <p:blipFill>
          <a:blip r:embed="rId2"/>
          <a:stretch>
            <a:fillRect/>
          </a:stretch>
        </p:blipFill>
        <p:spPr>
          <a:xfrm>
            <a:off x="2986520" y="2759192"/>
            <a:ext cx="6218959" cy="3490940"/>
          </a:xfrm>
          <a:prstGeom prst="rect">
            <a:avLst/>
          </a:prstGeom>
        </p:spPr>
      </p:pic>
    </p:spTree>
    <p:extLst>
      <p:ext uri="{BB962C8B-B14F-4D97-AF65-F5344CB8AC3E}">
        <p14:creationId xmlns:p14="http://schemas.microsoft.com/office/powerpoint/2010/main" val="143152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74680-57C9-D303-93DA-FF05291B91D0}"/>
              </a:ext>
            </a:extLst>
          </p:cNvPr>
          <p:cNvSpPr>
            <a:spLocks noGrp="1"/>
          </p:cNvSpPr>
          <p:nvPr>
            <p:ph type="title"/>
          </p:nvPr>
        </p:nvSpPr>
        <p:spPr/>
        <p:txBody>
          <a:bodyPr/>
          <a:lstStyle/>
          <a:p>
            <a:r>
              <a:rPr lang="en-GB" dirty="0"/>
              <a:t>Rule of 72</a:t>
            </a:r>
            <a:endParaRPr lang="en-IN" dirty="0"/>
          </a:p>
        </p:txBody>
      </p:sp>
      <p:sp>
        <p:nvSpPr>
          <p:cNvPr id="3" name="Content Placeholder 2">
            <a:extLst>
              <a:ext uri="{FF2B5EF4-FFF2-40B4-BE49-F238E27FC236}">
                <a16:creationId xmlns:a16="http://schemas.microsoft.com/office/drawing/2014/main" id="{2D509325-A603-8926-DE51-8E3FA660ACB5}"/>
              </a:ext>
            </a:extLst>
          </p:cNvPr>
          <p:cNvSpPr>
            <a:spLocks noGrp="1"/>
          </p:cNvSpPr>
          <p:nvPr>
            <p:ph idx="1"/>
          </p:nvPr>
        </p:nvSpPr>
        <p:spPr/>
        <p:txBody>
          <a:bodyPr/>
          <a:lstStyle/>
          <a:p>
            <a:r>
              <a:rPr lang="en-GB" dirty="0"/>
              <a:t>The Rule of 72 estimate the number of years it takes your money to double at a certain annual interest. </a:t>
            </a:r>
          </a:p>
          <a:p>
            <a:r>
              <a:rPr lang="en-GB" dirty="0"/>
              <a:t>Formula: Time to double = 72 / interest rate</a:t>
            </a:r>
          </a:p>
          <a:p>
            <a:r>
              <a:rPr lang="en-GB" dirty="0"/>
              <a:t>Example: </a:t>
            </a:r>
          </a:p>
          <a:p>
            <a:pPr lvl="1"/>
            <a:r>
              <a:rPr lang="en-GB" dirty="0"/>
              <a:t>If rate of interest is 8%, Time = 72 / 8 = 9 years</a:t>
            </a:r>
            <a:endParaRPr lang="en-IN" dirty="0"/>
          </a:p>
        </p:txBody>
      </p:sp>
    </p:spTree>
    <p:extLst>
      <p:ext uri="{BB962C8B-B14F-4D97-AF65-F5344CB8AC3E}">
        <p14:creationId xmlns:p14="http://schemas.microsoft.com/office/powerpoint/2010/main" val="189923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CE6E1-B090-1E30-BAB0-AA2C6FA92FEA}"/>
              </a:ext>
            </a:extLst>
          </p:cNvPr>
          <p:cNvSpPr>
            <a:spLocks noGrp="1"/>
          </p:cNvSpPr>
          <p:nvPr>
            <p:ph type="title"/>
          </p:nvPr>
        </p:nvSpPr>
        <p:spPr/>
        <p:txBody>
          <a:bodyPr/>
          <a:lstStyle/>
          <a:p>
            <a:r>
              <a:rPr lang="en-GB" dirty="0"/>
              <a:t>Rule of 70</a:t>
            </a:r>
            <a:endParaRPr lang="en-IN" dirty="0"/>
          </a:p>
        </p:txBody>
      </p:sp>
      <p:sp>
        <p:nvSpPr>
          <p:cNvPr id="3" name="Content Placeholder 2">
            <a:extLst>
              <a:ext uri="{FF2B5EF4-FFF2-40B4-BE49-F238E27FC236}">
                <a16:creationId xmlns:a16="http://schemas.microsoft.com/office/drawing/2014/main" id="{99ADD778-0B73-2072-9391-35A663DFBD97}"/>
              </a:ext>
            </a:extLst>
          </p:cNvPr>
          <p:cNvSpPr>
            <a:spLocks noGrp="1"/>
          </p:cNvSpPr>
          <p:nvPr>
            <p:ph idx="1"/>
          </p:nvPr>
        </p:nvSpPr>
        <p:spPr/>
        <p:txBody>
          <a:bodyPr/>
          <a:lstStyle/>
          <a:p>
            <a:r>
              <a:rPr lang="en-GB" dirty="0"/>
              <a:t>The Rule of 70 is similar to Rule of 72 and is used for lower interest or inflation rates.</a:t>
            </a:r>
          </a:p>
          <a:p>
            <a:r>
              <a:rPr lang="en-GB" dirty="0"/>
              <a:t>Formula: Time to double = 70 / interest rate</a:t>
            </a:r>
          </a:p>
          <a:p>
            <a:r>
              <a:rPr lang="en-GB" dirty="0"/>
              <a:t>Example: </a:t>
            </a:r>
          </a:p>
          <a:p>
            <a:pPr lvl="1"/>
            <a:r>
              <a:rPr lang="en-GB" dirty="0"/>
              <a:t>If rate of interest is 5%, Time = 70 / 5 = 14 years</a:t>
            </a:r>
            <a:endParaRPr lang="en-IN" dirty="0"/>
          </a:p>
          <a:p>
            <a:endParaRPr lang="en-IN" dirty="0"/>
          </a:p>
        </p:txBody>
      </p:sp>
    </p:spTree>
    <p:extLst>
      <p:ext uri="{BB962C8B-B14F-4D97-AF65-F5344CB8AC3E}">
        <p14:creationId xmlns:p14="http://schemas.microsoft.com/office/powerpoint/2010/main" val="73734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6B58-EE7B-702C-564C-AC0E821ED960}"/>
              </a:ext>
            </a:extLst>
          </p:cNvPr>
          <p:cNvSpPr>
            <a:spLocks noGrp="1"/>
          </p:cNvSpPr>
          <p:nvPr>
            <p:ph type="title"/>
          </p:nvPr>
        </p:nvSpPr>
        <p:spPr/>
        <p:txBody>
          <a:bodyPr/>
          <a:lstStyle/>
          <a:p>
            <a:r>
              <a:rPr lang="en-GB" dirty="0"/>
              <a:t>Rule of 69</a:t>
            </a:r>
            <a:endParaRPr lang="en-IN" dirty="0"/>
          </a:p>
        </p:txBody>
      </p:sp>
      <p:sp>
        <p:nvSpPr>
          <p:cNvPr id="3" name="Content Placeholder 2">
            <a:extLst>
              <a:ext uri="{FF2B5EF4-FFF2-40B4-BE49-F238E27FC236}">
                <a16:creationId xmlns:a16="http://schemas.microsoft.com/office/drawing/2014/main" id="{EF91C43D-DABB-C398-BA81-9FBE2CB9813D}"/>
              </a:ext>
            </a:extLst>
          </p:cNvPr>
          <p:cNvSpPr>
            <a:spLocks noGrp="1"/>
          </p:cNvSpPr>
          <p:nvPr>
            <p:ph idx="1"/>
          </p:nvPr>
        </p:nvSpPr>
        <p:spPr/>
        <p:txBody>
          <a:bodyPr/>
          <a:lstStyle/>
          <a:p>
            <a:r>
              <a:rPr lang="en-GB" dirty="0"/>
              <a:t>The rule of 69 is more accurate formula for continuous compounding interest It is mostly used in advanced financial calculation.</a:t>
            </a:r>
          </a:p>
          <a:p>
            <a:r>
              <a:rPr lang="en-GB" dirty="0"/>
              <a:t>Formula: Time to double = </a:t>
            </a:r>
            <a:r>
              <a:rPr lang="en-US" altLang="en-US" sz="2800" dirty="0"/>
              <a:t>0.35 + 69/Interest Rate</a:t>
            </a:r>
          </a:p>
          <a:p>
            <a:r>
              <a:rPr lang="en-GB" dirty="0"/>
              <a:t>Example: </a:t>
            </a:r>
          </a:p>
          <a:p>
            <a:pPr lvl="1"/>
            <a:r>
              <a:rPr lang="en-GB" dirty="0"/>
              <a:t>If rate of interest is 6%, Time = </a:t>
            </a:r>
            <a:r>
              <a:rPr lang="en-US" altLang="en-US" sz="2400" dirty="0"/>
              <a:t>0.35 + 69 / 6 = 11.85</a:t>
            </a:r>
            <a:r>
              <a:rPr lang="en-GB" dirty="0"/>
              <a:t> years</a:t>
            </a:r>
            <a:endParaRPr lang="en-IN" dirty="0"/>
          </a:p>
          <a:p>
            <a:endParaRPr lang="en-IN" dirty="0"/>
          </a:p>
        </p:txBody>
      </p:sp>
    </p:spTree>
    <p:extLst>
      <p:ext uri="{BB962C8B-B14F-4D97-AF65-F5344CB8AC3E}">
        <p14:creationId xmlns:p14="http://schemas.microsoft.com/office/powerpoint/2010/main" val="2600152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24FD9A47-FD7A-43C4-8730-5E4465F2B748}"/>
              </a:ext>
            </a:extLst>
          </p:cNvPr>
          <p:cNvSpPr>
            <a:spLocks noGrp="1"/>
          </p:cNvSpPr>
          <p:nvPr>
            <p:ph type="title"/>
          </p:nvPr>
        </p:nvSpPr>
        <p:spPr/>
        <p:txBody>
          <a:bodyPr/>
          <a:lstStyle/>
          <a:p>
            <a:r>
              <a:rPr lang="en-IN" altLang="en-US" dirty="0"/>
              <a:t>Practice</a:t>
            </a:r>
          </a:p>
        </p:txBody>
      </p:sp>
      <p:sp>
        <p:nvSpPr>
          <p:cNvPr id="31747" name="Content Placeholder 2">
            <a:extLst>
              <a:ext uri="{FF2B5EF4-FFF2-40B4-BE49-F238E27FC236}">
                <a16:creationId xmlns:a16="http://schemas.microsoft.com/office/drawing/2014/main" id="{B95B4064-5566-4867-AB41-2F4AE9BF5569}"/>
              </a:ext>
            </a:extLst>
          </p:cNvPr>
          <p:cNvSpPr>
            <a:spLocks noGrp="1"/>
          </p:cNvSpPr>
          <p:nvPr>
            <p:ph idx="1"/>
          </p:nvPr>
        </p:nvSpPr>
        <p:spPr/>
        <p:txBody>
          <a:bodyPr/>
          <a:lstStyle/>
          <a:p>
            <a:pPr marL="107950" indent="0" algn="just">
              <a:buNone/>
            </a:pPr>
            <a:r>
              <a:rPr lang="en-US" altLang="en-US" dirty="0"/>
              <a:t>As an illustration of this rule of thumb, the doubling period is calculated for two interest rates, 10 percent and 15 percent.</a:t>
            </a:r>
          </a:p>
          <a:p>
            <a:pPr marL="107950" indent="0" algn="just">
              <a:buNone/>
            </a:pPr>
            <a:endParaRPr lang="en-US" altLang="en-US" dirty="0"/>
          </a:p>
          <a:p>
            <a:pPr marL="107950" indent="0" algn="just">
              <a:buNone/>
            </a:pPr>
            <a:r>
              <a:rPr lang="en-US" altLang="en-US" dirty="0"/>
              <a:t>Find out Interest Rate Doubling Period.</a:t>
            </a:r>
          </a:p>
          <a:p>
            <a:pPr marL="107950" indent="0" algn="just">
              <a:buNone/>
            </a:pPr>
            <a:endParaRPr lang="en-US" altLang="en-US" dirty="0"/>
          </a:p>
        </p:txBody>
      </p:sp>
    </p:spTree>
    <p:extLst>
      <p:ext uri="{BB962C8B-B14F-4D97-AF65-F5344CB8AC3E}">
        <p14:creationId xmlns:p14="http://schemas.microsoft.com/office/powerpoint/2010/main" val="1566032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8FAF2-3C36-4328-0339-E6CC71FB0898}"/>
              </a:ext>
            </a:extLst>
          </p:cNvPr>
          <p:cNvSpPr>
            <a:spLocks noGrp="1"/>
          </p:cNvSpPr>
          <p:nvPr>
            <p:ph type="title"/>
          </p:nvPr>
        </p:nvSpPr>
        <p:spPr/>
        <p:txBody>
          <a:bodyPr/>
          <a:lstStyle/>
          <a:p>
            <a:r>
              <a:rPr lang="en-GB" dirty="0"/>
              <a:t>When to Use?</a:t>
            </a:r>
            <a:endParaRPr lang="en-IN" dirty="0"/>
          </a:p>
        </p:txBody>
      </p:sp>
      <p:graphicFrame>
        <p:nvGraphicFramePr>
          <p:cNvPr id="6" name="Content Placeholder 5">
            <a:extLst>
              <a:ext uri="{FF2B5EF4-FFF2-40B4-BE49-F238E27FC236}">
                <a16:creationId xmlns:a16="http://schemas.microsoft.com/office/drawing/2014/main" id="{754231D7-0240-BE4B-3E17-89AC942E16EA}"/>
              </a:ext>
            </a:extLst>
          </p:cNvPr>
          <p:cNvGraphicFramePr>
            <a:graphicFrameLocks noGrp="1"/>
          </p:cNvGraphicFramePr>
          <p:nvPr>
            <p:ph idx="1"/>
            <p:extLst>
              <p:ext uri="{D42A27DB-BD31-4B8C-83A1-F6EECF244321}">
                <p14:modId xmlns:p14="http://schemas.microsoft.com/office/powerpoint/2010/main" val="641661388"/>
              </p:ext>
            </p:extLst>
          </p:nvPr>
        </p:nvGraphicFramePr>
        <p:xfrm>
          <a:off x="131763" y="863600"/>
          <a:ext cx="11880128" cy="3291840"/>
        </p:xfrm>
        <a:graphic>
          <a:graphicData uri="http://schemas.openxmlformats.org/drawingml/2006/table">
            <a:tbl>
              <a:tblPr firstRow="1" bandRow="1">
                <a:tableStyleId>{5C22544A-7EE6-4342-B048-85BDC9FD1C3A}</a:tableStyleId>
              </a:tblPr>
              <a:tblGrid>
                <a:gridCol w="1038400">
                  <a:extLst>
                    <a:ext uri="{9D8B030D-6E8A-4147-A177-3AD203B41FA5}">
                      <a16:colId xmlns:a16="http://schemas.microsoft.com/office/drawing/2014/main" val="2319665707"/>
                    </a:ext>
                  </a:extLst>
                </a:gridCol>
                <a:gridCol w="5078237">
                  <a:extLst>
                    <a:ext uri="{9D8B030D-6E8A-4147-A177-3AD203B41FA5}">
                      <a16:colId xmlns:a16="http://schemas.microsoft.com/office/drawing/2014/main" val="259791544"/>
                    </a:ext>
                  </a:extLst>
                </a:gridCol>
                <a:gridCol w="2978727">
                  <a:extLst>
                    <a:ext uri="{9D8B030D-6E8A-4147-A177-3AD203B41FA5}">
                      <a16:colId xmlns:a16="http://schemas.microsoft.com/office/drawing/2014/main" val="2446469508"/>
                    </a:ext>
                  </a:extLst>
                </a:gridCol>
                <a:gridCol w="2784764">
                  <a:extLst>
                    <a:ext uri="{9D8B030D-6E8A-4147-A177-3AD203B41FA5}">
                      <a16:colId xmlns:a16="http://schemas.microsoft.com/office/drawing/2014/main" val="3099965673"/>
                    </a:ext>
                  </a:extLst>
                </a:gridCol>
              </a:tblGrid>
              <a:tr h="370840">
                <a:tc>
                  <a:txBody>
                    <a:bodyPr/>
                    <a:lstStyle/>
                    <a:p>
                      <a:pPr algn="ctr"/>
                      <a:r>
                        <a:rPr lang="en-GB" sz="2400" dirty="0"/>
                        <a:t>Rule</a:t>
                      </a:r>
                      <a:endParaRPr lang="en-IN" sz="2400" dirty="0"/>
                    </a:p>
                  </a:txBody>
                  <a:tcPr/>
                </a:tc>
                <a:tc>
                  <a:txBody>
                    <a:bodyPr/>
                    <a:lstStyle/>
                    <a:p>
                      <a:pPr algn="ctr"/>
                      <a:r>
                        <a:rPr lang="en-GB" sz="2400" dirty="0"/>
                        <a:t>Used for</a:t>
                      </a:r>
                      <a:endParaRPr lang="en-IN" sz="2400" dirty="0"/>
                    </a:p>
                  </a:txBody>
                  <a:tcPr/>
                </a:tc>
                <a:tc>
                  <a:txBody>
                    <a:bodyPr/>
                    <a:lstStyle/>
                    <a:p>
                      <a:pPr algn="ctr"/>
                      <a:r>
                        <a:rPr lang="en-GB" sz="2400" dirty="0"/>
                        <a:t>Formula</a:t>
                      </a:r>
                      <a:endParaRPr lang="en-IN" sz="2400" dirty="0"/>
                    </a:p>
                  </a:txBody>
                  <a:tcPr/>
                </a:tc>
                <a:tc>
                  <a:txBody>
                    <a:bodyPr/>
                    <a:lstStyle/>
                    <a:p>
                      <a:pPr algn="ctr"/>
                      <a:r>
                        <a:rPr lang="en-GB" sz="2400" dirty="0"/>
                        <a:t>Example </a:t>
                      </a:r>
                    </a:p>
                    <a:p>
                      <a:pPr algn="ctr"/>
                      <a:r>
                        <a:rPr lang="en-GB" sz="2400" dirty="0"/>
                        <a:t>(Interest Rate = 7%)</a:t>
                      </a:r>
                      <a:endParaRPr lang="en-IN" sz="2400" dirty="0"/>
                    </a:p>
                  </a:txBody>
                  <a:tcPr/>
                </a:tc>
                <a:extLst>
                  <a:ext uri="{0D108BD9-81ED-4DB2-BD59-A6C34878D82A}">
                    <a16:rowId xmlns:a16="http://schemas.microsoft.com/office/drawing/2014/main" val="405406772"/>
                  </a:ext>
                </a:extLst>
              </a:tr>
              <a:tr h="370840">
                <a:tc>
                  <a:txBody>
                    <a:bodyPr/>
                    <a:lstStyle/>
                    <a:p>
                      <a:r>
                        <a:rPr lang="en-GB" sz="2400" dirty="0"/>
                        <a:t>72</a:t>
                      </a:r>
                      <a:endParaRPr lang="en-IN" sz="2400" dirty="0"/>
                    </a:p>
                  </a:txBody>
                  <a:tcPr/>
                </a:tc>
                <a:tc>
                  <a:txBody>
                    <a:bodyPr/>
                    <a:lstStyle/>
                    <a:p>
                      <a:r>
                        <a:rPr lang="en-GB" sz="2400" dirty="0"/>
                        <a:t>Simple Compounding used when interest rates are between 6 to 10 %.</a:t>
                      </a:r>
                      <a:endParaRPr lang="en-IN" sz="2400" dirty="0"/>
                    </a:p>
                  </a:txBody>
                  <a:tcPr/>
                </a:tc>
                <a:tc>
                  <a:txBody>
                    <a:bodyPr/>
                    <a:lstStyle/>
                    <a:p>
                      <a:r>
                        <a:rPr lang="en-GB" sz="2400" dirty="0"/>
                        <a:t>72 / interest rate</a:t>
                      </a:r>
                      <a:endParaRPr lang="en-IN" sz="2400" dirty="0"/>
                    </a:p>
                  </a:txBody>
                  <a:tcPr/>
                </a:tc>
                <a:tc>
                  <a:txBody>
                    <a:bodyPr/>
                    <a:lstStyle/>
                    <a:p>
                      <a:r>
                        <a:rPr lang="en-GB" sz="2400" dirty="0"/>
                        <a:t>= 72 / 7 = 10.28 years</a:t>
                      </a:r>
                      <a:endParaRPr lang="en-IN" sz="2400" dirty="0"/>
                    </a:p>
                  </a:txBody>
                  <a:tcPr/>
                </a:tc>
                <a:extLst>
                  <a:ext uri="{0D108BD9-81ED-4DB2-BD59-A6C34878D82A}">
                    <a16:rowId xmlns:a16="http://schemas.microsoft.com/office/drawing/2014/main" val="593809638"/>
                  </a:ext>
                </a:extLst>
              </a:tr>
              <a:tr h="370840">
                <a:tc>
                  <a:txBody>
                    <a:bodyPr/>
                    <a:lstStyle/>
                    <a:p>
                      <a:r>
                        <a:rPr lang="en-GB" sz="2400" dirty="0"/>
                        <a:t>70</a:t>
                      </a:r>
                      <a:endParaRPr lang="en-IN" sz="2400" dirty="0"/>
                    </a:p>
                  </a:txBody>
                  <a:tcPr/>
                </a:tc>
                <a:tc>
                  <a:txBody>
                    <a:bodyPr/>
                    <a:lstStyle/>
                    <a:p>
                      <a:r>
                        <a:rPr lang="en-GB" sz="2400" dirty="0"/>
                        <a:t>Better for economic growth or inflation rate</a:t>
                      </a:r>
                      <a:endParaRPr lang="en-IN" sz="2400" dirty="0"/>
                    </a:p>
                  </a:txBody>
                  <a:tcPr/>
                </a:tc>
                <a:tc>
                  <a:txBody>
                    <a:bodyPr/>
                    <a:lstStyle/>
                    <a:p>
                      <a:r>
                        <a:rPr lang="en-GB" sz="2400" dirty="0"/>
                        <a:t>70 / interest rate</a:t>
                      </a:r>
                      <a:endParaRPr lang="en-IN" sz="2400" dirty="0"/>
                    </a:p>
                  </a:txBody>
                  <a:tcPr/>
                </a:tc>
                <a:tc>
                  <a:txBody>
                    <a:bodyPr/>
                    <a:lstStyle/>
                    <a:p>
                      <a:r>
                        <a:rPr lang="en-GB" sz="2400" dirty="0"/>
                        <a:t>= 70 / 7 = 10 years</a:t>
                      </a:r>
                      <a:endParaRPr lang="en-IN" sz="2400" dirty="0"/>
                    </a:p>
                  </a:txBody>
                  <a:tcPr/>
                </a:tc>
                <a:extLst>
                  <a:ext uri="{0D108BD9-81ED-4DB2-BD59-A6C34878D82A}">
                    <a16:rowId xmlns:a16="http://schemas.microsoft.com/office/drawing/2014/main" val="3695395093"/>
                  </a:ext>
                </a:extLst>
              </a:tr>
              <a:tr h="370840">
                <a:tc>
                  <a:txBody>
                    <a:bodyPr/>
                    <a:lstStyle/>
                    <a:p>
                      <a:r>
                        <a:rPr lang="en-GB" sz="2400" dirty="0"/>
                        <a:t>69</a:t>
                      </a:r>
                      <a:endParaRPr lang="en-IN" sz="2400" dirty="0"/>
                    </a:p>
                  </a:txBody>
                  <a:tcPr/>
                </a:tc>
                <a:tc>
                  <a:txBody>
                    <a:bodyPr/>
                    <a:lstStyle/>
                    <a:p>
                      <a:r>
                        <a:rPr lang="en-GB" sz="2400" dirty="0"/>
                        <a:t>Continuous compounding</a:t>
                      </a:r>
                      <a:endParaRPr lang="en-IN" sz="2400" dirty="0"/>
                    </a:p>
                  </a:txBody>
                  <a:tcPr/>
                </a:tc>
                <a:tc>
                  <a:txBody>
                    <a:bodyPr/>
                    <a:lstStyle/>
                    <a:p>
                      <a:r>
                        <a:rPr lang="en-US" altLang="en-US" sz="2400" dirty="0"/>
                        <a:t>0.35 + 69/Interest Rate</a:t>
                      </a:r>
                      <a:endParaRPr lang="en-IN" sz="2400" dirty="0"/>
                    </a:p>
                  </a:txBody>
                  <a:tcPr/>
                </a:tc>
                <a:tc>
                  <a:txBody>
                    <a:bodyPr/>
                    <a:lstStyle/>
                    <a:p>
                      <a:r>
                        <a:rPr lang="en-GB" sz="2400" dirty="0"/>
                        <a:t>= 0.35 + 69 / 7 = 10.20 years</a:t>
                      </a:r>
                      <a:endParaRPr lang="en-IN" sz="2400" dirty="0"/>
                    </a:p>
                  </a:txBody>
                  <a:tcPr/>
                </a:tc>
                <a:extLst>
                  <a:ext uri="{0D108BD9-81ED-4DB2-BD59-A6C34878D82A}">
                    <a16:rowId xmlns:a16="http://schemas.microsoft.com/office/drawing/2014/main" val="3741596486"/>
                  </a:ext>
                </a:extLst>
              </a:tr>
            </a:tbl>
          </a:graphicData>
        </a:graphic>
      </p:graphicFrame>
    </p:spTree>
    <p:extLst>
      <p:ext uri="{BB962C8B-B14F-4D97-AF65-F5344CB8AC3E}">
        <p14:creationId xmlns:p14="http://schemas.microsoft.com/office/powerpoint/2010/main" val="28825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1DB763-2CA7-457B-BE89-B350ECDE2A68}"/>
              </a:ext>
            </a:extLst>
          </p:cNvPr>
          <p:cNvSpPr>
            <a:spLocks noGrp="1"/>
          </p:cNvSpPr>
          <p:nvPr>
            <p:ph type="title"/>
          </p:nvPr>
        </p:nvSpPr>
        <p:spPr/>
        <p:txBody>
          <a:bodyPr>
            <a:normAutofit/>
          </a:bodyPr>
          <a:lstStyle/>
          <a:p>
            <a:r>
              <a:rPr lang="en-US" dirty="0"/>
              <a:t>Investment</a:t>
            </a:r>
            <a:endParaRPr lang="en-IN" dirty="0"/>
          </a:p>
        </p:txBody>
      </p:sp>
      <p:sp>
        <p:nvSpPr>
          <p:cNvPr id="4" name="Content Placeholder 3">
            <a:extLst>
              <a:ext uri="{FF2B5EF4-FFF2-40B4-BE49-F238E27FC236}">
                <a16:creationId xmlns:a16="http://schemas.microsoft.com/office/drawing/2014/main" id="{E335BFEE-8749-494C-B766-C0F7A27C39B8}"/>
              </a:ext>
            </a:extLst>
          </p:cNvPr>
          <p:cNvSpPr>
            <a:spLocks noGrp="1"/>
          </p:cNvSpPr>
          <p:nvPr>
            <p:ph idx="1"/>
          </p:nvPr>
        </p:nvSpPr>
        <p:spPr>
          <a:xfrm>
            <a:off x="131181" y="829492"/>
            <a:ext cx="5503280" cy="5624518"/>
          </a:xfrm>
        </p:spPr>
        <p:txBody>
          <a:bodyPr/>
          <a:lstStyle/>
          <a:p>
            <a:r>
              <a:rPr lang="en-US" dirty="0"/>
              <a:t>Investment refers to </a:t>
            </a:r>
            <a:r>
              <a:rPr lang="en-US" b="1" dirty="0">
                <a:solidFill>
                  <a:srgbClr val="C00000"/>
                </a:solidFill>
              </a:rPr>
              <a:t>putting your money in an asset with the aim of generating income</a:t>
            </a:r>
            <a:r>
              <a:rPr lang="en-US" dirty="0"/>
              <a:t>. </a:t>
            </a:r>
          </a:p>
          <a:p>
            <a:r>
              <a:rPr lang="en-US" dirty="0"/>
              <a:t>Investment refers to the </a:t>
            </a:r>
            <a:r>
              <a:rPr lang="en-US" b="1" dirty="0">
                <a:solidFill>
                  <a:srgbClr val="C00000"/>
                </a:solidFill>
              </a:rPr>
              <a:t>act of allocating resources</a:t>
            </a:r>
            <a:r>
              <a:rPr lang="en-US" dirty="0"/>
              <a:t>, such as money or capital, into </a:t>
            </a:r>
            <a:r>
              <a:rPr lang="en-US" b="1" dirty="0">
                <a:solidFill>
                  <a:srgbClr val="C00000"/>
                </a:solidFill>
              </a:rPr>
              <a:t>assets</a:t>
            </a:r>
            <a:r>
              <a:rPr lang="en-US" dirty="0"/>
              <a:t> or ventures with the </a:t>
            </a:r>
            <a:r>
              <a:rPr lang="en-US" b="1" dirty="0">
                <a:solidFill>
                  <a:srgbClr val="C00000"/>
                </a:solidFill>
              </a:rPr>
              <a:t>expectation of generating income, profit, or growth in value over time.</a:t>
            </a:r>
          </a:p>
        </p:txBody>
      </p:sp>
      <p:pic>
        <p:nvPicPr>
          <p:cNvPr id="2" name="Investment Growth Graph">
            <a:hlinkClick r:id="" action="ppaction://media"/>
            <a:extLst>
              <a:ext uri="{FF2B5EF4-FFF2-40B4-BE49-F238E27FC236}">
                <a16:creationId xmlns:a16="http://schemas.microsoft.com/office/drawing/2014/main" id="{6A9E5DC0-256C-CB32-A647-D815FFA2634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5891" b="7677"/>
          <a:stretch/>
        </p:blipFill>
        <p:spPr>
          <a:xfrm>
            <a:off x="6303866" y="840608"/>
            <a:ext cx="5503280" cy="4821383"/>
          </a:xfrm>
          <a:prstGeom prst="rect">
            <a:avLst/>
          </a:prstGeom>
        </p:spPr>
      </p:pic>
    </p:spTree>
    <p:extLst>
      <p:ext uri="{BB962C8B-B14F-4D97-AF65-F5344CB8AC3E}">
        <p14:creationId xmlns:p14="http://schemas.microsoft.com/office/powerpoint/2010/main" val="282587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600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2"/>
                </p:tgtEl>
              </p:cMediaNode>
            </p:video>
            <p:seq concurrent="1" nextAc="seek">
              <p:cTn id="16" restart="whenNotActive" fill="hold" evtFilter="cancelBubble" nodeType="interactiveSeq">
                <p:stCondLst>
                  <p:cond evt="onClick" delay="0">
                    <p:tgtEl>
                      <p:spTgt spid="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2"/>
                                        </p:tgtEl>
                                      </p:cBhvr>
                                    </p:cmd>
                                  </p:childTnLst>
                                </p:cTn>
                              </p:par>
                            </p:childTnLst>
                          </p:cTn>
                        </p:par>
                      </p:childTnLst>
                    </p:cTn>
                  </p:par>
                </p:childTnLst>
              </p:cTn>
              <p:nextCondLst>
                <p:cond evt="onClick" delay="0">
                  <p:tgtEl>
                    <p:spTgt spid="2"/>
                  </p:tgtEl>
                </p:cond>
              </p:nextCondLst>
            </p:seq>
          </p:childTnLst>
        </p:cTn>
      </p:par>
    </p:tnLst>
    <p:bldLst>
      <p:bldP spid="4"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74A0F-44E4-2DF5-08E3-898D7634E6A8}"/>
              </a:ext>
            </a:extLst>
          </p:cNvPr>
          <p:cNvSpPr>
            <a:spLocks noGrp="1"/>
          </p:cNvSpPr>
          <p:nvPr>
            <p:ph type="title"/>
          </p:nvPr>
        </p:nvSpPr>
        <p:spPr/>
        <p:txBody>
          <a:bodyPr/>
          <a:lstStyle/>
          <a:p>
            <a:r>
              <a:rPr lang="en-GB" dirty="0"/>
              <a:t>Investment Avenues</a:t>
            </a:r>
            <a:endParaRPr lang="en-IN" dirty="0"/>
          </a:p>
        </p:txBody>
      </p:sp>
      <p:graphicFrame>
        <p:nvGraphicFramePr>
          <p:cNvPr id="4" name="Content Placeholder 3">
            <a:extLst>
              <a:ext uri="{FF2B5EF4-FFF2-40B4-BE49-F238E27FC236}">
                <a16:creationId xmlns:a16="http://schemas.microsoft.com/office/drawing/2014/main" id="{4E08DCE5-BA13-FBA4-0C3E-059ED8A70ABC}"/>
              </a:ext>
            </a:extLst>
          </p:cNvPr>
          <p:cNvGraphicFramePr>
            <a:graphicFrameLocks noGrp="1"/>
          </p:cNvGraphicFramePr>
          <p:nvPr>
            <p:ph idx="1"/>
          </p:nvPr>
        </p:nvGraphicFramePr>
        <p:xfrm>
          <a:off x="131763" y="830263"/>
          <a:ext cx="11928475" cy="562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val 4">
            <a:extLst>
              <a:ext uri="{FF2B5EF4-FFF2-40B4-BE49-F238E27FC236}">
                <a16:creationId xmlns:a16="http://schemas.microsoft.com/office/drawing/2014/main" id="{A61F8280-24EF-3E51-7F90-B9B757563CF1}"/>
              </a:ext>
            </a:extLst>
          </p:cNvPr>
          <p:cNvSpPr/>
          <p:nvPr/>
        </p:nvSpPr>
        <p:spPr>
          <a:xfrm>
            <a:off x="3983182" y="4156364"/>
            <a:ext cx="4225636" cy="22984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sz="4000" b="1" dirty="0"/>
              <a:t>INVESTMENT AVENUES</a:t>
            </a:r>
            <a:endParaRPr lang="en-IN" sz="4000" b="1" dirty="0"/>
          </a:p>
        </p:txBody>
      </p:sp>
    </p:spTree>
    <p:extLst>
      <p:ext uri="{BB962C8B-B14F-4D97-AF65-F5344CB8AC3E}">
        <p14:creationId xmlns:p14="http://schemas.microsoft.com/office/powerpoint/2010/main" val="2017961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27D542A7-8AFB-48A5-9283-6EC04C2643CA}"/>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32D9F814-9E3C-462F-868A-CCEB9EFEF917}"/>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9FB31E16-80FA-4151-B03A-87EF9487F1EE}"/>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1CC90889-7801-4949-91D4-391D82ED9953}"/>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D4AEDB5B-20F4-4839-BEBD-895451A5C868}"/>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graphicEl>
                                              <a:dgm id="{325734C4-1F99-4852-8952-341A1057944E}"/>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C68BA19A-73C3-4DED-B0C9-82059EC598A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P spid="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1DB763-2CA7-457B-BE89-B350ECDE2A68}"/>
              </a:ext>
            </a:extLst>
          </p:cNvPr>
          <p:cNvSpPr>
            <a:spLocks noGrp="1"/>
          </p:cNvSpPr>
          <p:nvPr>
            <p:ph type="title"/>
          </p:nvPr>
        </p:nvSpPr>
        <p:spPr/>
        <p:txBody>
          <a:bodyPr>
            <a:normAutofit/>
          </a:bodyPr>
          <a:lstStyle/>
          <a:p>
            <a:r>
              <a:rPr lang="en-US" dirty="0"/>
              <a:t>Types of Investments in India</a:t>
            </a:r>
            <a:endParaRPr lang="en-IN" dirty="0"/>
          </a:p>
        </p:txBody>
      </p:sp>
      <p:graphicFrame>
        <p:nvGraphicFramePr>
          <p:cNvPr id="2" name="Content Placeholder 1">
            <a:extLst>
              <a:ext uri="{FF2B5EF4-FFF2-40B4-BE49-F238E27FC236}">
                <a16:creationId xmlns:a16="http://schemas.microsoft.com/office/drawing/2014/main" id="{12971488-0E57-4B47-A7ED-0C234B75B0A8}"/>
              </a:ext>
            </a:extLst>
          </p:cNvPr>
          <p:cNvGraphicFramePr>
            <a:graphicFrameLocks noGrp="1"/>
          </p:cNvGraphicFramePr>
          <p:nvPr>
            <p:ph idx="1"/>
          </p:nvPr>
        </p:nvGraphicFramePr>
        <p:xfrm>
          <a:off x="131763" y="830263"/>
          <a:ext cx="11928475" cy="562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337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graphicEl>
                                              <a:dgm id="{CF11CFA2-48E1-4EBE-93FF-779EDC2C5A5A}"/>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D83E50B8-AFFF-483B-B9F6-FED6CC4596D2}"/>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29D7F5D3-FA96-4296-8127-87F6A08993D6}"/>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989D3728-61E6-4829-9ADC-982016CAA4C7}"/>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FDA2E6D2-F4A0-4AE5-A81F-B2041CA91F14}"/>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graphicEl>
                                              <a:dgm id="{CB8A2C57-0D24-44FF-9273-6419C92F021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1DB763-2CA7-457B-BE89-B350ECDE2A68}"/>
              </a:ext>
            </a:extLst>
          </p:cNvPr>
          <p:cNvSpPr>
            <a:spLocks noGrp="1"/>
          </p:cNvSpPr>
          <p:nvPr>
            <p:ph type="title"/>
          </p:nvPr>
        </p:nvSpPr>
        <p:spPr/>
        <p:txBody>
          <a:bodyPr>
            <a:normAutofit/>
          </a:bodyPr>
          <a:lstStyle/>
          <a:p>
            <a:r>
              <a:rPr lang="en-US" dirty="0"/>
              <a:t>Types of Investments in India</a:t>
            </a:r>
            <a:endParaRPr lang="en-IN" dirty="0"/>
          </a:p>
        </p:txBody>
      </p:sp>
      <p:graphicFrame>
        <p:nvGraphicFramePr>
          <p:cNvPr id="2" name="Content Placeholder 1">
            <a:extLst>
              <a:ext uri="{FF2B5EF4-FFF2-40B4-BE49-F238E27FC236}">
                <a16:creationId xmlns:a16="http://schemas.microsoft.com/office/drawing/2014/main" id="{12971488-0E57-4B47-A7ED-0C234B75B0A8}"/>
              </a:ext>
            </a:extLst>
          </p:cNvPr>
          <p:cNvGraphicFramePr>
            <a:graphicFrameLocks noGrp="1"/>
          </p:cNvGraphicFramePr>
          <p:nvPr>
            <p:ph idx="1"/>
          </p:nvPr>
        </p:nvGraphicFramePr>
        <p:xfrm>
          <a:off x="131763" y="830263"/>
          <a:ext cx="11928475" cy="562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777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graphicEl>
                                              <a:dgm id="{7C8EFCFF-6494-4297-A778-E191C5206348}"/>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954F014E-D20F-4421-B996-F636B265245E}"/>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8512028A-F083-4364-9206-D43AF2022E7E}"/>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2C4CB3AC-65E4-4D49-9BAE-6471F32E7501}"/>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379BBA84-8C40-4C79-A55B-2FFE0C027133}"/>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graphicEl>
                                              <a:dgm id="{F066A331-0DEB-493D-9EE9-CECF142EEABC}"/>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graphicEl>
                                              <a:dgm id="{C41DC2F1-8E32-409B-86AD-841CF53D2ED6}"/>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graphicEl>
                                              <a:dgm id="{37BAD8A1-78A4-4B9C-B7BC-57F3FA084E1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CB2A1-DD32-EC1F-AC48-2BC8056E41AA}"/>
              </a:ext>
            </a:extLst>
          </p:cNvPr>
          <p:cNvSpPr>
            <a:spLocks noGrp="1"/>
          </p:cNvSpPr>
          <p:nvPr>
            <p:ph type="title"/>
          </p:nvPr>
        </p:nvSpPr>
        <p:spPr/>
        <p:txBody>
          <a:bodyPr/>
          <a:lstStyle/>
          <a:p>
            <a:r>
              <a:rPr lang="en-GB" dirty="0"/>
              <a:t>Systematic Investment Plan (SIP)</a:t>
            </a:r>
            <a:endParaRPr lang="en-IN" dirty="0"/>
          </a:p>
        </p:txBody>
      </p:sp>
      <p:sp>
        <p:nvSpPr>
          <p:cNvPr id="3" name="Content Placeholder 2">
            <a:extLst>
              <a:ext uri="{FF2B5EF4-FFF2-40B4-BE49-F238E27FC236}">
                <a16:creationId xmlns:a16="http://schemas.microsoft.com/office/drawing/2014/main" id="{F6079CC0-A22F-B555-6935-BDB24023D9F9}"/>
              </a:ext>
            </a:extLst>
          </p:cNvPr>
          <p:cNvSpPr>
            <a:spLocks noGrp="1"/>
          </p:cNvSpPr>
          <p:nvPr>
            <p:ph idx="1"/>
          </p:nvPr>
        </p:nvSpPr>
        <p:spPr/>
        <p:txBody>
          <a:bodyPr/>
          <a:lstStyle/>
          <a:p>
            <a:r>
              <a:rPr lang="en-GB" b="0" i="0" dirty="0">
                <a:effectLst/>
              </a:rPr>
              <a:t>Systematic Investment Plan or SIP is a method of investing in mutual funds wherein an investor chooses a mutual fund scheme and invests the fixed amount of his choice at fixed intervals.</a:t>
            </a:r>
          </a:p>
          <a:p>
            <a:r>
              <a:rPr lang="en-GB" b="0" i="0" dirty="0">
                <a:effectLst/>
              </a:rPr>
              <a:t>SIP investment plan is about </a:t>
            </a:r>
            <a:r>
              <a:rPr lang="en-GB" b="1" i="0" dirty="0">
                <a:solidFill>
                  <a:srgbClr val="C00000"/>
                </a:solidFill>
                <a:effectLst/>
              </a:rPr>
              <a:t>investing a small amount over time rather than investing one-time huge amount resulting in a higher return.</a:t>
            </a:r>
          </a:p>
          <a:p>
            <a:endParaRPr lang="en-GB" b="0" i="0" dirty="0">
              <a:effectLst/>
            </a:endParaRPr>
          </a:p>
          <a:p>
            <a:r>
              <a:rPr lang="en-GB" b="0" i="0" dirty="0">
                <a:effectLst/>
              </a:rPr>
              <a:t>How Does SIP work?</a:t>
            </a:r>
          </a:p>
          <a:p>
            <a:r>
              <a:rPr lang="en-GB" b="0" i="0" dirty="0">
                <a:effectLst/>
              </a:rPr>
              <a:t>Once you apply for one or more SIP plans, the amount is automatically debited from your bank account and invested in the mutual funds you have purchased at the predetermined time interval.</a:t>
            </a:r>
          </a:p>
          <a:p>
            <a:r>
              <a:rPr lang="en-GB" b="0" i="0" dirty="0">
                <a:effectLst/>
              </a:rPr>
              <a:t>At the end of the day, you will be allocated the units of mutual funds depending on the </a:t>
            </a:r>
            <a:r>
              <a:rPr lang="en-GB" b="1" i="0" dirty="0">
                <a:solidFill>
                  <a:srgbClr val="C00000"/>
                </a:solidFill>
                <a:effectLst/>
              </a:rPr>
              <a:t>NAV (Net Asset Value)</a:t>
            </a:r>
            <a:r>
              <a:rPr lang="en-GB" b="0" i="0" dirty="0">
                <a:effectLst/>
              </a:rPr>
              <a:t> of the mutual fund.</a:t>
            </a:r>
          </a:p>
          <a:p>
            <a:pPr marL="0" indent="0">
              <a:buNone/>
            </a:pPr>
            <a:endParaRPr lang="en-IN" dirty="0"/>
          </a:p>
        </p:txBody>
      </p:sp>
    </p:spTree>
    <p:extLst>
      <p:ext uri="{BB962C8B-B14F-4D97-AF65-F5344CB8AC3E}">
        <p14:creationId xmlns:p14="http://schemas.microsoft.com/office/powerpoint/2010/main" val="3551255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53AF5-539D-4E1F-BF19-BEB54DE3BECC}"/>
              </a:ext>
            </a:extLst>
          </p:cNvPr>
          <p:cNvSpPr>
            <a:spLocks noGrp="1"/>
          </p:cNvSpPr>
          <p:nvPr>
            <p:ph type="title"/>
          </p:nvPr>
        </p:nvSpPr>
        <p:spPr/>
        <p:txBody>
          <a:bodyPr/>
          <a:lstStyle/>
          <a:p>
            <a:r>
              <a:rPr lang="en-US" dirty="0"/>
              <a:t>Importance of SIP at early age</a:t>
            </a:r>
            <a:endParaRPr lang="en-IN" dirty="0"/>
          </a:p>
        </p:txBody>
      </p:sp>
      <p:pic>
        <p:nvPicPr>
          <p:cNvPr id="3074" name="Picture 2" descr="Top Reasons to Start Investing at an Early Age">
            <a:extLst>
              <a:ext uri="{FF2B5EF4-FFF2-40B4-BE49-F238E27FC236}">
                <a16:creationId xmlns:a16="http://schemas.microsoft.com/office/drawing/2014/main" id="{F9B48309-DED9-4917-A886-FA2B6AFC9D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 y="711201"/>
            <a:ext cx="10442713" cy="585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39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2553250"/>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4186</TotalTime>
  <Words>3575</Words>
  <Application>Microsoft Office PowerPoint</Application>
  <PresentationFormat>Widescreen</PresentationFormat>
  <Paragraphs>775</Paragraphs>
  <Slides>74</Slides>
  <Notes>0</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74</vt:i4>
      </vt:variant>
    </vt:vector>
  </HeadingPairs>
  <TitlesOfParts>
    <vt:vector size="85" baseType="lpstr">
      <vt:lpstr>Roboto Condensed Light</vt:lpstr>
      <vt:lpstr>Calibri</vt:lpstr>
      <vt:lpstr>Wingdings</vt:lpstr>
      <vt:lpstr>Agency FB</vt:lpstr>
      <vt:lpstr>Segoe UI Black</vt:lpstr>
      <vt:lpstr>Cambria Math</vt:lpstr>
      <vt:lpstr>Arial</vt:lpstr>
      <vt:lpstr>Wingdings 3</vt:lpstr>
      <vt:lpstr>Roboto Condensed</vt:lpstr>
      <vt:lpstr>Wingdings 2</vt:lpstr>
      <vt:lpstr>Office Theme</vt:lpstr>
      <vt:lpstr>Unit-5 Financial Concepts</vt:lpstr>
      <vt:lpstr>PowerPoint Presentation</vt:lpstr>
      <vt:lpstr>PowerPoint Presentation</vt:lpstr>
      <vt:lpstr>Price of Gold and Petrol Over Past 25 Years</vt:lpstr>
      <vt:lpstr>Time Value of Money</vt:lpstr>
      <vt:lpstr>Concept of Time Value of Money</vt:lpstr>
      <vt:lpstr>Why is Money Worth More Today?</vt:lpstr>
      <vt:lpstr>Important Terms</vt:lpstr>
      <vt:lpstr>Example</vt:lpstr>
      <vt:lpstr>Importance of Time Value of Money</vt:lpstr>
      <vt:lpstr>Reasons for Preference of Money</vt:lpstr>
      <vt:lpstr>Reasons for Preference of Money</vt:lpstr>
      <vt:lpstr>Reasons for Preference of Money</vt:lpstr>
      <vt:lpstr>Reasons for Preference of Money</vt:lpstr>
      <vt:lpstr>Reasons for Preference of Money</vt:lpstr>
      <vt:lpstr>Reasons for Preference of Money</vt:lpstr>
      <vt:lpstr>Reasons for Preference of Money</vt:lpstr>
      <vt:lpstr>Reasons for Preference of Money</vt:lpstr>
      <vt:lpstr>Concept of Compounding and Discounting</vt:lpstr>
      <vt:lpstr>Future Value / Compounding</vt:lpstr>
      <vt:lpstr>Present Value / Discounting</vt:lpstr>
      <vt:lpstr>Methods/Techniques of Time Value of Money </vt:lpstr>
      <vt:lpstr>1) Future Value of a Single Amount</vt:lpstr>
      <vt:lpstr>Formula</vt:lpstr>
      <vt:lpstr>Question.01</vt:lpstr>
      <vt:lpstr>Question.02</vt:lpstr>
      <vt:lpstr>Uneven Cashflow</vt:lpstr>
      <vt:lpstr>2) Present Value of a Single Amount</vt:lpstr>
      <vt:lpstr>Question.03</vt:lpstr>
      <vt:lpstr>Question.04</vt:lpstr>
      <vt:lpstr>Question.05</vt:lpstr>
      <vt:lpstr>Solution</vt:lpstr>
      <vt:lpstr>3) Future Value of an Annuity</vt:lpstr>
      <vt:lpstr>Continue</vt:lpstr>
      <vt:lpstr>Question.06</vt:lpstr>
      <vt:lpstr>Question.07</vt:lpstr>
      <vt:lpstr>4) Present Value of Annuity</vt:lpstr>
      <vt:lpstr>Question.07</vt:lpstr>
      <vt:lpstr>Solution </vt:lpstr>
      <vt:lpstr>Question.08(Practice)</vt:lpstr>
      <vt:lpstr>Value of Annuity Due</vt:lpstr>
      <vt:lpstr>Question.09</vt:lpstr>
      <vt:lpstr>Question.10</vt:lpstr>
      <vt:lpstr>5) Present Value of a Perpetuity</vt:lpstr>
      <vt:lpstr>Question.11</vt:lpstr>
      <vt:lpstr>6) Intra – Year Compounding </vt:lpstr>
      <vt:lpstr>Question.12</vt:lpstr>
      <vt:lpstr>07) Intra – Year Discounting (Shorter discounting periods)</vt:lpstr>
      <vt:lpstr>Question.13</vt:lpstr>
      <vt:lpstr>Sinking Fund</vt:lpstr>
      <vt:lpstr>Question.14</vt:lpstr>
      <vt:lpstr>Loan Amortisation &amp; Capital Recovery </vt:lpstr>
      <vt:lpstr>Importance</vt:lpstr>
      <vt:lpstr>Question.15 </vt:lpstr>
      <vt:lpstr>Solution</vt:lpstr>
      <vt:lpstr>Question.16 </vt:lpstr>
      <vt:lpstr>Solution</vt:lpstr>
      <vt:lpstr>Calculation of EMI</vt:lpstr>
      <vt:lpstr>Question.17</vt:lpstr>
      <vt:lpstr>Solution</vt:lpstr>
      <vt:lpstr>Loan Amortization Schedule</vt:lpstr>
      <vt:lpstr>Doubling Period</vt:lpstr>
      <vt:lpstr>Rule of 72</vt:lpstr>
      <vt:lpstr>Rule of 70</vt:lpstr>
      <vt:lpstr>Rule of 69</vt:lpstr>
      <vt:lpstr>Practice</vt:lpstr>
      <vt:lpstr>When to Use?</vt:lpstr>
      <vt:lpstr>Investment</vt:lpstr>
      <vt:lpstr>Investment Avenues</vt:lpstr>
      <vt:lpstr>Types of Investments in India</vt:lpstr>
      <vt:lpstr>Types of Investments in India</vt:lpstr>
      <vt:lpstr>Systematic Investment Plan (SIP)</vt:lpstr>
      <vt:lpstr>Importance of SIP at early age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LENOVO</cp:lastModifiedBy>
  <cp:revision>402</cp:revision>
  <dcterms:created xsi:type="dcterms:W3CDTF">2020-05-01T05:09:15Z</dcterms:created>
  <dcterms:modified xsi:type="dcterms:W3CDTF">2025-09-18T06:34:55Z</dcterms:modified>
</cp:coreProperties>
</file>