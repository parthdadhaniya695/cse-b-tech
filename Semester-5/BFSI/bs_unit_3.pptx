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125"/>
  </p:notesMasterIdLst>
  <p:handoutMasterIdLst>
    <p:handoutMasterId r:id="rId126"/>
  </p:handoutMasterIdLst>
  <p:sldIdLst>
    <p:sldId id="367" r:id="rId2"/>
    <p:sldId id="267" r:id="rId3"/>
    <p:sldId id="442" r:id="rId4"/>
    <p:sldId id="258" r:id="rId5"/>
    <p:sldId id="259" r:id="rId6"/>
    <p:sldId id="446" r:id="rId7"/>
    <p:sldId id="717" r:id="rId8"/>
    <p:sldId id="716" r:id="rId9"/>
    <p:sldId id="290" r:id="rId10"/>
    <p:sldId id="328" r:id="rId11"/>
    <p:sldId id="715" r:id="rId12"/>
    <p:sldId id="264" r:id="rId13"/>
    <p:sldId id="265" r:id="rId14"/>
    <p:sldId id="455" r:id="rId15"/>
    <p:sldId id="721" r:id="rId16"/>
    <p:sldId id="256" r:id="rId17"/>
    <p:sldId id="718" r:id="rId18"/>
    <p:sldId id="719" r:id="rId19"/>
    <p:sldId id="720" r:id="rId20"/>
    <p:sldId id="465" r:id="rId21"/>
    <p:sldId id="305" r:id="rId22"/>
    <p:sldId id="723" r:id="rId23"/>
    <p:sldId id="768" r:id="rId24"/>
    <p:sldId id="292" r:id="rId25"/>
    <p:sldId id="293" r:id="rId26"/>
    <p:sldId id="306" r:id="rId27"/>
    <p:sldId id="307" r:id="rId28"/>
    <p:sldId id="743" r:id="rId29"/>
    <p:sldId id="257" r:id="rId30"/>
    <p:sldId id="744" r:id="rId31"/>
    <p:sldId id="308" r:id="rId32"/>
    <p:sldId id="309" r:id="rId33"/>
    <p:sldId id="722" r:id="rId34"/>
    <p:sldId id="348" r:id="rId35"/>
    <p:sldId id="349" r:id="rId36"/>
    <p:sldId id="350" r:id="rId37"/>
    <p:sldId id="351" r:id="rId38"/>
    <p:sldId id="364" r:id="rId39"/>
    <p:sldId id="365" r:id="rId40"/>
    <p:sldId id="366" r:id="rId41"/>
    <p:sldId id="745" r:id="rId42"/>
    <p:sldId id="749" r:id="rId43"/>
    <p:sldId id="368" r:id="rId44"/>
    <p:sldId id="730" r:id="rId45"/>
    <p:sldId id="731" r:id="rId46"/>
    <p:sldId id="732" r:id="rId47"/>
    <p:sldId id="476" r:id="rId48"/>
    <p:sldId id="519" r:id="rId49"/>
    <p:sldId id="275" r:id="rId50"/>
    <p:sldId id="448" r:id="rId51"/>
    <p:sldId id="353" r:id="rId52"/>
    <p:sldId id="354" r:id="rId53"/>
    <p:sldId id="769" r:id="rId54"/>
    <p:sldId id="511" r:id="rId55"/>
    <p:sldId id="276" r:id="rId56"/>
    <p:sldId id="741" r:id="rId57"/>
    <p:sldId id="742" r:id="rId58"/>
    <p:sldId id="269" r:id="rId59"/>
    <p:sldId id="736" r:id="rId60"/>
    <p:sldId id="517" r:id="rId61"/>
    <p:sldId id="532" r:id="rId62"/>
    <p:sldId id="272" r:id="rId63"/>
    <p:sldId id="750" r:id="rId64"/>
    <p:sldId id="533" r:id="rId65"/>
    <p:sldId id="273" r:id="rId66"/>
    <p:sldId id="541" r:id="rId67"/>
    <p:sldId id="535" r:id="rId68"/>
    <p:sldId id="303" r:id="rId69"/>
    <p:sldId id="747" r:id="rId70"/>
    <p:sldId id="748" r:id="rId71"/>
    <p:sldId id="291" r:id="rId72"/>
    <p:sldId id="404" r:id="rId73"/>
    <p:sldId id="436" r:id="rId74"/>
    <p:sldId id="277" r:id="rId75"/>
    <p:sldId id="751" r:id="rId76"/>
    <p:sldId id="752" r:id="rId77"/>
    <p:sldId id="753" r:id="rId78"/>
    <p:sldId id="316" r:id="rId79"/>
    <p:sldId id="317" r:id="rId80"/>
    <p:sldId id="319" r:id="rId81"/>
    <p:sldId id="320" r:id="rId82"/>
    <p:sldId id="322" r:id="rId83"/>
    <p:sldId id="323" r:id="rId84"/>
    <p:sldId id="281" r:id="rId85"/>
    <p:sldId id="304" r:id="rId86"/>
    <p:sldId id="282" r:id="rId87"/>
    <p:sldId id="326" r:id="rId88"/>
    <p:sldId id="327" r:id="rId89"/>
    <p:sldId id="754" r:id="rId90"/>
    <p:sldId id="329" r:id="rId91"/>
    <p:sldId id="284" r:id="rId92"/>
    <p:sldId id="285" r:id="rId93"/>
    <p:sldId id="301" r:id="rId94"/>
    <p:sldId id="302" r:id="rId95"/>
    <p:sldId id="331" r:id="rId96"/>
    <p:sldId id="332" r:id="rId97"/>
    <p:sldId id="333" r:id="rId98"/>
    <p:sldId id="334" r:id="rId99"/>
    <p:sldId id="335" r:id="rId100"/>
    <p:sldId id="336" r:id="rId101"/>
    <p:sldId id="337" r:id="rId102"/>
    <p:sldId id="338" r:id="rId103"/>
    <p:sldId id="286" r:id="rId104"/>
    <p:sldId id="287" r:id="rId105"/>
    <p:sldId id="288" r:id="rId106"/>
    <p:sldId id="340" r:id="rId107"/>
    <p:sldId id="341" r:id="rId108"/>
    <p:sldId id="755" r:id="rId109"/>
    <p:sldId id="756" r:id="rId110"/>
    <p:sldId id="757" r:id="rId111"/>
    <p:sldId id="758" r:id="rId112"/>
    <p:sldId id="759" r:id="rId113"/>
    <p:sldId id="760" r:id="rId114"/>
    <p:sldId id="761" r:id="rId115"/>
    <p:sldId id="762" r:id="rId116"/>
    <p:sldId id="763" r:id="rId117"/>
    <p:sldId id="764" r:id="rId118"/>
    <p:sldId id="765" r:id="rId119"/>
    <p:sldId id="766" r:id="rId120"/>
    <p:sldId id="300" r:id="rId121"/>
    <p:sldId id="311" r:id="rId122"/>
    <p:sldId id="312" r:id="rId123"/>
    <p:sldId id="369" r:id="rId124"/>
  </p:sldIdLst>
  <p:sldSz cx="12192000" cy="6858000"/>
  <p:notesSz cx="6858000" cy="9144000"/>
  <p:embeddedFontLst>
    <p:embeddedFont>
      <p:font typeface="Franklin Gothic Book" panose="020B0503020102020204" pitchFamily="34" charset="0"/>
      <p:regular r:id="rId127"/>
      <p:italic r:id="rId128"/>
    </p:embeddedFont>
    <p:embeddedFont>
      <p:font typeface="Poppins" panose="00000500000000000000" pitchFamily="2" charset="0"/>
      <p:regular r:id="rId129"/>
      <p:bold r:id="rId130"/>
      <p:italic r:id="rId131"/>
      <p:boldItalic r:id="rId132"/>
    </p:embeddedFont>
    <p:embeddedFont>
      <p:font typeface="Roboto" panose="02000000000000000000" pitchFamily="2" charset="0"/>
      <p:regular r:id="rId133"/>
      <p:bold r:id="rId134"/>
      <p:italic r:id="rId135"/>
      <p:boldItalic r:id="rId136"/>
    </p:embeddedFont>
    <p:embeddedFont>
      <p:font typeface="Roboto Condensed" panose="02000000000000000000" pitchFamily="2" charset="0"/>
      <p:regular r:id="rId137"/>
      <p:bold r:id="rId138"/>
      <p:italic r:id="rId139"/>
      <p:boldItalic r:id="rId140"/>
    </p:embeddedFont>
    <p:embeddedFont>
      <p:font typeface="Roboto Condensed Light" panose="02000000000000000000" pitchFamily="2" charset="0"/>
      <p:regular r:id="rId141"/>
      <p:italic r:id="rId142"/>
    </p:embeddedFont>
    <p:embeddedFont>
      <p:font typeface="Wingdings 2" panose="05020102010507070707" pitchFamily="18" charset="2"/>
      <p:regular r:id="rId143"/>
    </p:embeddedFont>
    <p:embeddedFont>
      <p:font typeface="Wingdings 3" panose="05040102010807070707" pitchFamily="18" charset="2"/>
      <p:regular r:id="rId1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1B92"/>
    <a:srgbClr val="607D8B"/>
    <a:srgbClr val="562C32"/>
    <a:srgbClr val="5E3037"/>
    <a:srgbClr val="7B3E47"/>
    <a:srgbClr val="D10233"/>
    <a:srgbClr val="673BB7"/>
    <a:srgbClr val="ED524F"/>
    <a:srgbClr val="B71B1C"/>
    <a:srgbClr val="F543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221" y="91"/>
      </p:cViewPr>
      <p:guideLst/>
    </p:cSldViewPr>
  </p:slideViewPr>
  <p:notesTextViewPr>
    <p:cViewPr>
      <p:scale>
        <a:sx n="1" d="1"/>
        <a:sy n="1" d="1"/>
      </p:scale>
      <p:origin x="0" y="0"/>
    </p:cViewPr>
  </p:notesTextViewPr>
  <p:notesViewPr>
    <p:cSldViewPr snapToGrid="0">
      <p:cViewPr varScale="1">
        <p:scale>
          <a:sx n="55" d="100"/>
          <a:sy n="55" d="100"/>
        </p:scale>
        <p:origin x="2880" y="78"/>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font" Target="fonts/font12.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font" Target="fonts/font2.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font" Target="fonts/font8.fntdata"/><Relationship Id="rId139" Type="http://schemas.openxmlformats.org/officeDocument/2006/relationships/font" Target="fonts/font13.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font" Target="fonts/font3.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font" Target="fonts/font14.fntdata"/><Relationship Id="rId14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font" Target="fonts/font4.fntdata"/><Relationship Id="rId135" Type="http://schemas.openxmlformats.org/officeDocument/2006/relationships/font" Target="fonts/font9.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notesMaster" Target="notesMasters/notesMaster1.xml"/><Relationship Id="rId141" Type="http://schemas.openxmlformats.org/officeDocument/2006/relationships/font" Target="fonts/font15.fntdata"/><Relationship Id="rId14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font" Target="fonts/font5.fntdata"/><Relationship Id="rId136" Type="http://schemas.openxmlformats.org/officeDocument/2006/relationships/font" Target="fonts/font10.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handoutMaster" Target="handoutMasters/handoutMaster1.xml"/><Relationship Id="rId14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font" Target="fonts/font16.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font" Target="fonts/font6.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font" Target="fonts/font1.fntdata"/><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font" Target="fonts/font17.fntdata"/><Relationship Id="rId14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7.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font" Target="fonts/font18.fntdata"/></Relationships>
</file>

<file path=ppt/diagrams/colors1.xml><?xml version="1.0" encoding="utf-8"?>
<dgm:colorsDef xmlns:dgm="http://schemas.openxmlformats.org/drawingml/2006/diagram" xmlns:a="http://schemas.openxmlformats.org/drawingml/2006/main" uniqueId="urn:microsoft.com/office/officeart/2005/8/colors/accent4_5">
  <dgm:title val=""/>
  <dgm:desc val=""/>
  <dgm:catLst>
    <dgm:cat type="accent4" pri="11500"/>
  </dgm:catLst>
  <dgm:styleLbl name="node0">
    <dgm:fillClrLst meth="cycle">
      <a:schemeClr val="accent4">
        <a:alpha val="80000"/>
      </a:schemeClr>
    </dgm:fillClrLst>
    <dgm:linClrLst meth="repeat">
      <a:schemeClr val="lt1"/>
    </dgm:linClrLst>
    <dgm:effectClrLst/>
    <dgm:txLinClrLst/>
    <dgm:txFillClrLst/>
    <dgm:txEffectClrLst/>
  </dgm:styleLbl>
  <dgm:styleLbl name="node1">
    <dgm:fillClrLst>
      <a:schemeClr val="accent4">
        <a:alpha val="90000"/>
      </a:schemeClr>
      <a:schemeClr val="accent4">
        <a:alpha val="50000"/>
      </a:schemeClr>
    </dgm:fillClrLst>
    <dgm:linClrLst meth="repeat">
      <a:schemeClr val="lt1"/>
    </dgm:linClrLst>
    <dgm:effectClrLst/>
    <dgm:txLinClrLst/>
    <dgm:txFillClrLst/>
    <dgm:txEffectClrLst/>
  </dgm:styleLbl>
  <dgm:styleLbl name="alignNode1">
    <dgm:fillClrLst>
      <a:schemeClr val="accent4">
        <a:alpha val="90000"/>
      </a:schemeClr>
      <a:schemeClr val="accent4">
        <a:alpha val="50000"/>
      </a:schemeClr>
    </dgm:fillClrLst>
    <dgm:linClrLst>
      <a:schemeClr val="accent4">
        <a:alpha val="90000"/>
      </a:schemeClr>
      <a:schemeClr val="accent4">
        <a:alpha val="50000"/>
      </a:schemeClr>
    </dgm:linClrLst>
    <dgm:effectClrLst/>
    <dgm:txLinClrLst/>
    <dgm:txFillClrLst/>
    <dgm:txEffectClrLst/>
  </dgm:styleLbl>
  <dgm:styleLbl name="lnNode1">
    <dgm:fillClrLst>
      <a:schemeClr val="accent4">
        <a:shade val="90000"/>
      </a:schemeClr>
      <a:schemeClr val="accent4">
        <a:alpha val="50000"/>
        <a:tint val="5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alpha val="80000"/>
      </a:schemeClr>
    </dgm:fillClrLst>
    <dgm:linClrLst meth="repeat">
      <a:schemeClr val="lt1"/>
    </dgm:linClrLst>
    <dgm:effectClrLst/>
    <dgm:txLinClrLst/>
    <dgm:txFillClrLst/>
    <dgm:txEffectClrLst/>
  </dgm:styleLbl>
  <dgm:styleLbl name="node2">
    <dgm:fillClrLst>
      <a:schemeClr val="accent4">
        <a:alpha val="70000"/>
      </a:schemeClr>
    </dgm:fillClrLst>
    <dgm:linClrLst meth="repeat">
      <a:schemeClr val="lt1"/>
    </dgm:linClrLst>
    <dgm:effectClrLst/>
    <dgm:txLinClrLst/>
    <dgm:txFillClrLst/>
    <dgm:txEffectClrLst/>
  </dgm:styleLbl>
  <dgm:styleLbl name="node3">
    <dgm:fillClrLst>
      <a:schemeClr val="accent4">
        <a:alpha val="50000"/>
      </a:schemeClr>
    </dgm:fillClrLst>
    <dgm:linClrLst meth="repeat">
      <a:schemeClr val="lt1"/>
    </dgm:linClrLst>
    <dgm:effectClrLst/>
    <dgm:txLinClrLst/>
    <dgm:txFillClrLst/>
    <dgm:txEffectClrLst/>
  </dgm:styleLbl>
  <dgm:styleLbl name="node4">
    <dgm:fillClrLst>
      <a:schemeClr val="accent4">
        <a:alpha val="30000"/>
      </a:schemeClr>
    </dgm:fillClrLst>
    <dgm:linClrLst meth="repeat">
      <a:schemeClr val="lt1"/>
    </dgm:linClrLst>
    <dgm:effectClrLst/>
    <dgm:txLinClrLst/>
    <dgm:txFillClrLst/>
    <dgm:txEffectClrLst/>
  </dgm:styleLbl>
  <dgm:styleLbl name="fgImgPlace1">
    <dgm:fillClrLst>
      <a:schemeClr val="accent4">
        <a:tint val="50000"/>
        <a:alpha val="90000"/>
      </a:schemeClr>
      <a:schemeClr val="accent4">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f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b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sibTrans1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alpha val="90000"/>
      </a:schemeClr>
    </dgm:fillClrLst>
    <dgm:linClrLst meth="repeat">
      <a:schemeClr val="lt1"/>
    </dgm:linClrLst>
    <dgm:effectClrLst/>
    <dgm:txLinClrLst/>
    <dgm:txFillClrLst/>
    <dgm:txEffectClrLst/>
  </dgm:styleLbl>
  <dgm:styleLbl name="asst1">
    <dgm:fillClrLst meth="repeat">
      <a:schemeClr val="accent4">
        <a:alpha val="90000"/>
      </a:schemeClr>
    </dgm:fillClrLst>
    <dgm:linClrLst meth="repeat">
      <a:schemeClr val="lt1"/>
    </dgm:linClrLst>
    <dgm:effectClrLst/>
    <dgm:txLinClrLst/>
    <dgm:txFillClrLst/>
    <dgm:txEffectClrLst/>
  </dgm:styleLbl>
  <dgm:styleLbl name="asst2">
    <dgm:fillClrLst>
      <a:schemeClr val="accent4">
        <a:alpha val="90000"/>
      </a:schemeClr>
    </dgm:fillClrLst>
    <dgm:linClrLst meth="repeat">
      <a:schemeClr val="lt1"/>
    </dgm:linClrLst>
    <dgm:effectClrLst/>
    <dgm:txLinClrLst/>
    <dgm:txFillClrLst/>
    <dgm:txEffectClrLst/>
  </dgm:styleLbl>
  <dgm:styleLbl name="asst3">
    <dgm:fillClrLst>
      <a:schemeClr val="accent4">
        <a:alpha val="70000"/>
      </a:schemeClr>
    </dgm:fillClrLst>
    <dgm:linClrLst meth="repeat">
      <a:schemeClr val="lt1"/>
    </dgm:linClrLst>
    <dgm:effectClrLst/>
    <dgm:txLinClrLst/>
    <dgm:txFillClrLst/>
    <dgm:txEffectClrLst/>
  </dgm:styleLbl>
  <dgm:styleLbl name="asst4">
    <dgm:fillClrLst>
      <a:schemeClr val="accent4">
        <a:alpha val="50000"/>
      </a:schemeClr>
    </dgm:fillClrLst>
    <dgm:linClrLst meth="repeat">
      <a:schemeClr val="lt1"/>
    </dgm:linClrLst>
    <dgm:effectClrLst/>
    <dgm:txLinClrLst/>
    <dgm:txFillClrLst/>
    <dgm:txEffectClrLst/>
  </dgm:styleLbl>
  <dgm:styleLbl name="parChTrans2D1">
    <dgm:fillClrLst meth="repeat">
      <a:schemeClr val="accent4">
        <a:shade val="8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a:schemeClr val="accent4">
        <a:alpha val="90000"/>
        <a:tint val="40000"/>
      </a:schemeClr>
      <a:schemeClr val="accent4">
        <a:alpha val="5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AA130D-E41B-4CE2-97A6-18C13A548792}" type="doc">
      <dgm:prSet loTypeId="urn:microsoft.com/office/officeart/2005/8/layout/arrow6" loCatId="process" qsTypeId="urn:microsoft.com/office/officeart/2005/8/quickstyle/simple1" qsCatId="simple" csTypeId="urn:microsoft.com/office/officeart/2005/8/colors/accent4_5" csCatId="accent4" phldr="1"/>
      <dgm:spPr/>
      <dgm:t>
        <a:bodyPr/>
        <a:lstStyle/>
        <a:p>
          <a:endParaRPr lang="en-US"/>
        </a:p>
      </dgm:t>
    </dgm:pt>
    <dgm:pt modelId="{B5F8541F-9215-44D9-BF92-47F0F38B6FDC}">
      <dgm:prSet/>
      <dgm:spPr/>
      <dgm:t>
        <a:bodyPr/>
        <a:lstStyle/>
        <a:p>
          <a:r>
            <a:rPr lang="en-US"/>
            <a:t>“Taxation includes the imposition of any tax or impost, whether general or local or special, and tax shall be construed accordingly."</a:t>
          </a:r>
        </a:p>
      </dgm:t>
    </dgm:pt>
    <dgm:pt modelId="{E0B3CCF5-D4B1-4FCC-90BB-BD99D8CDFF6F}" type="parTrans" cxnId="{622FB179-2DD6-46A5-87D7-A4C2F20383E4}">
      <dgm:prSet/>
      <dgm:spPr/>
      <dgm:t>
        <a:bodyPr/>
        <a:lstStyle/>
        <a:p>
          <a:endParaRPr lang="en-US"/>
        </a:p>
      </dgm:t>
    </dgm:pt>
    <dgm:pt modelId="{57B9310E-7EAF-4BD0-A10A-9107AF1F0B34}" type="sibTrans" cxnId="{622FB179-2DD6-46A5-87D7-A4C2F20383E4}">
      <dgm:prSet/>
      <dgm:spPr/>
      <dgm:t>
        <a:bodyPr/>
        <a:lstStyle/>
        <a:p>
          <a:endParaRPr lang="en-US"/>
        </a:p>
      </dgm:t>
    </dgm:pt>
    <dgm:pt modelId="{444DB250-3E72-4F63-92CF-B5A258C8CADC}">
      <dgm:prSet/>
      <dgm:spPr/>
      <dgm:t>
        <a:bodyPr/>
        <a:lstStyle/>
        <a:p>
          <a:r>
            <a:rPr lang="en-US" dirty="0"/>
            <a:t>Taxes are considered to be the “cost of living in a society”. Taxes are levied by the Governments to meet the common welfare expenditure of the society.</a:t>
          </a:r>
        </a:p>
      </dgm:t>
    </dgm:pt>
    <dgm:pt modelId="{2F2B3FB7-6B04-4FD2-89BF-708FF57C64FE}" type="parTrans" cxnId="{4576F076-53BE-4056-8731-8BC2FEA8BD1E}">
      <dgm:prSet/>
      <dgm:spPr/>
      <dgm:t>
        <a:bodyPr/>
        <a:lstStyle/>
        <a:p>
          <a:endParaRPr lang="en-US"/>
        </a:p>
      </dgm:t>
    </dgm:pt>
    <dgm:pt modelId="{D6B11746-BDFC-43CD-8552-7C1C5CF8326D}" type="sibTrans" cxnId="{4576F076-53BE-4056-8731-8BC2FEA8BD1E}">
      <dgm:prSet/>
      <dgm:spPr/>
      <dgm:t>
        <a:bodyPr/>
        <a:lstStyle/>
        <a:p>
          <a:endParaRPr lang="en-US"/>
        </a:p>
      </dgm:t>
    </dgm:pt>
    <dgm:pt modelId="{2D3AC6E5-15BA-4BA4-BE71-4CC52FB8FDFB}" type="pres">
      <dgm:prSet presAssocID="{CFAA130D-E41B-4CE2-97A6-18C13A548792}" presName="compositeShape" presStyleCnt="0">
        <dgm:presLayoutVars>
          <dgm:chMax val="2"/>
          <dgm:dir/>
          <dgm:resizeHandles val="exact"/>
        </dgm:presLayoutVars>
      </dgm:prSet>
      <dgm:spPr/>
    </dgm:pt>
    <dgm:pt modelId="{38280EE1-9D57-46F4-987D-EE80AEFAF8B0}" type="pres">
      <dgm:prSet presAssocID="{CFAA130D-E41B-4CE2-97A6-18C13A548792}" presName="ribbon" presStyleLbl="node1" presStyleIdx="0" presStyleCnt="1"/>
      <dgm:spPr/>
    </dgm:pt>
    <dgm:pt modelId="{4219A23A-AAB5-4E26-9A00-FA97676259FE}" type="pres">
      <dgm:prSet presAssocID="{CFAA130D-E41B-4CE2-97A6-18C13A548792}" presName="leftArrowText" presStyleLbl="node1" presStyleIdx="0" presStyleCnt="1">
        <dgm:presLayoutVars>
          <dgm:chMax val="0"/>
          <dgm:bulletEnabled val="1"/>
        </dgm:presLayoutVars>
      </dgm:prSet>
      <dgm:spPr/>
    </dgm:pt>
    <dgm:pt modelId="{774A5FBE-959C-4142-8CB5-52F2C0D35154}" type="pres">
      <dgm:prSet presAssocID="{CFAA130D-E41B-4CE2-97A6-18C13A548792}" presName="rightArrowText" presStyleLbl="node1" presStyleIdx="0" presStyleCnt="1">
        <dgm:presLayoutVars>
          <dgm:chMax val="0"/>
          <dgm:bulletEnabled val="1"/>
        </dgm:presLayoutVars>
      </dgm:prSet>
      <dgm:spPr/>
    </dgm:pt>
  </dgm:ptLst>
  <dgm:cxnLst>
    <dgm:cxn modelId="{4576F076-53BE-4056-8731-8BC2FEA8BD1E}" srcId="{CFAA130D-E41B-4CE2-97A6-18C13A548792}" destId="{444DB250-3E72-4F63-92CF-B5A258C8CADC}" srcOrd="1" destOrd="0" parTransId="{2F2B3FB7-6B04-4FD2-89BF-708FF57C64FE}" sibTransId="{D6B11746-BDFC-43CD-8552-7C1C5CF8326D}"/>
    <dgm:cxn modelId="{477BF177-3DAC-43E2-9757-DDB5542EBEE8}" type="presOf" srcId="{444DB250-3E72-4F63-92CF-B5A258C8CADC}" destId="{774A5FBE-959C-4142-8CB5-52F2C0D35154}" srcOrd="0" destOrd="0" presId="urn:microsoft.com/office/officeart/2005/8/layout/arrow6"/>
    <dgm:cxn modelId="{E9AD5379-D446-4357-9690-CE6FF9FF89F1}" type="presOf" srcId="{CFAA130D-E41B-4CE2-97A6-18C13A548792}" destId="{2D3AC6E5-15BA-4BA4-BE71-4CC52FB8FDFB}" srcOrd="0" destOrd="0" presId="urn:microsoft.com/office/officeart/2005/8/layout/arrow6"/>
    <dgm:cxn modelId="{622FB179-2DD6-46A5-87D7-A4C2F20383E4}" srcId="{CFAA130D-E41B-4CE2-97A6-18C13A548792}" destId="{B5F8541F-9215-44D9-BF92-47F0F38B6FDC}" srcOrd="0" destOrd="0" parTransId="{E0B3CCF5-D4B1-4FCC-90BB-BD99D8CDFF6F}" sibTransId="{57B9310E-7EAF-4BD0-A10A-9107AF1F0B34}"/>
    <dgm:cxn modelId="{1EF642DA-7ADE-4C35-B0B8-C39DBD0C9512}" type="presOf" srcId="{B5F8541F-9215-44D9-BF92-47F0F38B6FDC}" destId="{4219A23A-AAB5-4E26-9A00-FA97676259FE}" srcOrd="0" destOrd="0" presId="urn:microsoft.com/office/officeart/2005/8/layout/arrow6"/>
    <dgm:cxn modelId="{DC80D722-F382-4382-9900-C6CB4630796A}" type="presParOf" srcId="{2D3AC6E5-15BA-4BA4-BE71-4CC52FB8FDFB}" destId="{38280EE1-9D57-46F4-987D-EE80AEFAF8B0}" srcOrd="0" destOrd="0" presId="urn:microsoft.com/office/officeart/2005/8/layout/arrow6"/>
    <dgm:cxn modelId="{527079CD-3B56-42DF-BBC9-4A892AD1711F}" type="presParOf" srcId="{2D3AC6E5-15BA-4BA4-BE71-4CC52FB8FDFB}" destId="{4219A23A-AAB5-4E26-9A00-FA97676259FE}" srcOrd="1" destOrd="0" presId="urn:microsoft.com/office/officeart/2005/8/layout/arrow6"/>
    <dgm:cxn modelId="{9FFDC6AF-F419-40C4-BDDC-5BE326C4EA58}" type="presParOf" srcId="{2D3AC6E5-15BA-4BA4-BE71-4CC52FB8FDFB}" destId="{774A5FBE-959C-4142-8CB5-52F2C0D35154}" srcOrd="2" destOrd="0" presId="urn:microsoft.com/office/officeart/2005/8/layout/arrow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18C3EB0-005F-4588-BC0C-DE2D19AC6925}" type="doc">
      <dgm:prSet loTypeId="urn:microsoft.com/office/officeart/2005/8/layout/arrow4" loCatId="process" qsTypeId="urn:microsoft.com/office/officeart/2005/8/quickstyle/simple1" qsCatId="simple" csTypeId="urn:microsoft.com/office/officeart/2005/8/colors/colorful1" csCatId="colorful" phldr="1"/>
      <dgm:spPr/>
      <dgm:t>
        <a:bodyPr/>
        <a:lstStyle/>
        <a:p>
          <a:endParaRPr lang="en-IN"/>
        </a:p>
      </dgm:t>
    </dgm:pt>
    <dgm:pt modelId="{2A511982-FE28-4D51-9B68-D03F750B1191}">
      <dgm:prSet custT="1"/>
      <dgm:spPr/>
      <dgm:t>
        <a:bodyPr/>
        <a:lstStyle/>
        <a:p>
          <a:r>
            <a:rPr lang="en-US" sz="4800" b="1" dirty="0">
              <a:solidFill>
                <a:schemeClr val="tx1"/>
              </a:solidFill>
            </a:rPr>
            <a:t>Financial Year</a:t>
          </a:r>
        </a:p>
        <a:p>
          <a:r>
            <a:rPr lang="en-US" sz="4800" b="1" dirty="0">
              <a:solidFill>
                <a:schemeClr val="tx1"/>
              </a:solidFill>
            </a:rPr>
            <a:t>2024-25</a:t>
          </a:r>
          <a:endParaRPr lang="en-IN" sz="4800" dirty="0">
            <a:solidFill>
              <a:schemeClr val="tx1"/>
            </a:solidFill>
          </a:endParaRPr>
        </a:p>
      </dgm:t>
    </dgm:pt>
    <dgm:pt modelId="{D313F068-81BB-4BB3-82B1-FF8A1FD7947D}" type="parTrans" cxnId="{763F61C2-C06F-4BD2-86F3-4369D824BE9D}">
      <dgm:prSet/>
      <dgm:spPr/>
      <dgm:t>
        <a:bodyPr/>
        <a:lstStyle/>
        <a:p>
          <a:endParaRPr lang="en-IN"/>
        </a:p>
      </dgm:t>
    </dgm:pt>
    <dgm:pt modelId="{959DDE5F-4832-4FF3-9766-A6647C7B5CF7}" type="sibTrans" cxnId="{763F61C2-C06F-4BD2-86F3-4369D824BE9D}">
      <dgm:prSet/>
      <dgm:spPr/>
      <dgm:t>
        <a:bodyPr/>
        <a:lstStyle/>
        <a:p>
          <a:endParaRPr lang="en-IN"/>
        </a:p>
      </dgm:t>
    </dgm:pt>
    <dgm:pt modelId="{4116B3B2-B7AD-456D-BB65-3DAAACC160F4}">
      <dgm:prSet custT="1"/>
      <dgm:spPr/>
      <dgm:t>
        <a:bodyPr/>
        <a:lstStyle/>
        <a:p>
          <a:r>
            <a:rPr lang="en-US" sz="4800" b="1" dirty="0">
              <a:solidFill>
                <a:schemeClr val="tx1"/>
              </a:solidFill>
            </a:rPr>
            <a:t>Assessment Year</a:t>
          </a:r>
        </a:p>
        <a:p>
          <a:r>
            <a:rPr lang="en-US" sz="4800" b="1" dirty="0">
              <a:solidFill>
                <a:schemeClr val="tx1"/>
              </a:solidFill>
            </a:rPr>
            <a:t>2025-26</a:t>
          </a:r>
          <a:endParaRPr lang="en-IN" sz="4800" dirty="0">
            <a:solidFill>
              <a:schemeClr val="tx1"/>
            </a:solidFill>
          </a:endParaRPr>
        </a:p>
      </dgm:t>
    </dgm:pt>
    <dgm:pt modelId="{0B605364-210E-4661-83CA-ACB865DCDD66}" type="parTrans" cxnId="{822312B9-87ED-40BD-8740-15877CDBDE1C}">
      <dgm:prSet/>
      <dgm:spPr/>
      <dgm:t>
        <a:bodyPr/>
        <a:lstStyle/>
        <a:p>
          <a:endParaRPr lang="en-IN"/>
        </a:p>
      </dgm:t>
    </dgm:pt>
    <dgm:pt modelId="{A6B8243F-4E16-48A2-8B12-3A1A0FF03C8A}" type="sibTrans" cxnId="{822312B9-87ED-40BD-8740-15877CDBDE1C}">
      <dgm:prSet/>
      <dgm:spPr/>
      <dgm:t>
        <a:bodyPr/>
        <a:lstStyle/>
        <a:p>
          <a:endParaRPr lang="en-IN"/>
        </a:p>
      </dgm:t>
    </dgm:pt>
    <dgm:pt modelId="{12F31C9F-A7A3-41C3-A343-3F5A608E6AE7}" type="pres">
      <dgm:prSet presAssocID="{618C3EB0-005F-4588-BC0C-DE2D19AC6925}" presName="compositeShape" presStyleCnt="0">
        <dgm:presLayoutVars>
          <dgm:chMax val="2"/>
          <dgm:dir/>
          <dgm:resizeHandles val="exact"/>
        </dgm:presLayoutVars>
      </dgm:prSet>
      <dgm:spPr/>
    </dgm:pt>
    <dgm:pt modelId="{76407430-3D22-404A-8D16-FB5344D3B230}" type="pres">
      <dgm:prSet presAssocID="{2A511982-FE28-4D51-9B68-D03F750B1191}" presName="upArrow" presStyleLbl="node1" presStyleIdx="0" presStyleCnt="2"/>
      <dgm:spPr/>
    </dgm:pt>
    <dgm:pt modelId="{610315B5-E9E1-4306-A202-D1CA8576D6E7}" type="pres">
      <dgm:prSet presAssocID="{2A511982-FE28-4D51-9B68-D03F750B1191}" presName="upArrowText" presStyleLbl="revTx" presStyleIdx="0" presStyleCnt="2">
        <dgm:presLayoutVars>
          <dgm:chMax val="0"/>
          <dgm:bulletEnabled val="1"/>
        </dgm:presLayoutVars>
      </dgm:prSet>
      <dgm:spPr/>
    </dgm:pt>
    <dgm:pt modelId="{0C39B3D0-E85F-41D5-B1B1-A1C7B006CF94}" type="pres">
      <dgm:prSet presAssocID="{4116B3B2-B7AD-456D-BB65-3DAAACC160F4}" presName="downArrow" presStyleLbl="node1" presStyleIdx="1" presStyleCnt="2"/>
      <dgm:spPr/>
    </dgm:pt>
    <dgm:pt modelId="{D657E690-69BA-485C-B267-11A9008D7FEE}" type="pres">
      <dgm:prSet presAssocID="{4116B3B2-B7AD-456D-BB65-3DAAACC160F4}" presName="downArrowText" presStyleLbl="revTx" presStyleIdx="1" presStyleCnt="2">
        <dgm:presLayoutVars>
          <dgm:chMax val="0"/>
          <dgm:bulletEnabled val="1"/>
        </dgm:presLayoutVars>
      </dgm:prSet>
      <dgm:spPr/>
    </dgm:pt>
  </dgm:ptLst>
  <dgm:cxnLst>
    <dgm:cxn modelId="{1EBC8919-6F70-449B-99D2-23440AD6BAE0}" type="presOf" srcId="{2A511982-FE28-4D51-9B68-D03F750B1191}" destId="{610315B5-E9E1-4306-A202-D1CA8576D6E7}" srcOrd="0" destOrd="0" presId="urn:microsoft.com/office/officeart/2005/8/layout/arrow4"/>
    <dgm:cxn modelId="{C3E9B72A-91AA-4B0F-9D16-AAC86B1B5281}" type="presOf" srcId="{4116B3B2-B7AD-456D-BB65-3DAAACC160F4}" destId="{D657E690-69BA-485C-B267-11A9008D7FEE}" srcOrd="0" destOrd="0" presId="urn:microsoft.com/office/officeart/2005/8/layout/arrow4"/>
    <dgm:cxn modelId="{822312B9-87ED-40BD-8740-15877CDBDE1C}" srcId="{618C3EB0-005F-4588-BC0C-DE2D19AC6925}" destId="{4116B3B2-B7AD-456D-BB65-3DAAACC160F4}" srcOrd="1" destOrd="0" parTransId="{0B605364-210E-4661-83CA-ACB865DCDD66}" sibTransId="{A6B8243F-4E16-48A2-8B12-3A1A0FF03C8A}"/>
    <dgm:cxn modelId="{763F61C2-C06F-4BD2-86F3-4369D824BE9D}" srcId="{618C3EB0-005F-4588-BC0C-DE2D19AC6925}" destId="{2A511982-FE28-4D51-9B68-D03F750B1191}" srcOrd="0" destOrd="0" parTransId="{D313F068-81BB-4BB3-82B1-FF8A1FD7947D}" sibTransId="{959DDE5F-4832-4FF3-9766-A6647C7B5CF7}"/>
    <dgm:cxn modelId="{2E1DC6DB-D462-42A0-B8C3-82E7F276CC50}" type="presOf" srcId="{618C3EB0-005F-4588-BC0C-DE2D19AC6925}" destId="{12F31C9F-A7A3-41C3-A343-3F5A608E6AE7}" srcOrd="0" destOrd="0" presId="urn:microsoft.com/office/officeart/2005/8/layout/arrow4"/>
    <dgm:cxn modelId="{304F138A-27E9-423A-BC1B-B11B85B0B8D8}" type="presParOf" srcId="{12F31C9F-A7A3-41C3-A343-3F5A608E6AE7}" destId="{76407430-3D22-404A-8D16-FB5344D3B230}" srcOrd="0" destOrd="0" presId="urn:microsoft.com/office/officeart/2005/8/layout/arrow4"/>
    <dgm:cxn modelId="{A1D149A3-E908-4BA5-8463-6F00A0D572C1}" type="presParOf" srcId="{12F31C9F-A7A3-41C3-A343-3F5A608E6AE7}" destId="{610315B5-E9E1-4306-A202-D1CA8576D6E7}" srcOrd="1" destOrd="0" presId="urn:microsoft.com/office/officeart/2005/8/layout/arrow4"/>
    <dgm:cxn modelId="{AC2EF737-EF4F-4ADC-B716-3DA46DD06702}" type="presParOf" srcId="{12F31C9F-A7A3-41C3-A343-3F5A608E6AE7}" destId="{0C39B3D0-E85F-41D5-B1B1-A1C7B006CF94}" srcOrd="2" destOrd="0" presId="urn:microsoft.com/office/officeart/2005/8/layout/arrow4"/>
    <dgm:cxn modelId="{8EE101CA-37AB-4F7C-997E-87B78C992E83}" type="presParOf" srcId="{12F31C9F-A7A3-41C3-A343-3F5A608E6AE7}" destId="{D657E690-69BA-485C-B267-11A9008D7FEE}" srcOrd="3" destOrd="0" presId="urn:microsoft.com/office/officeart/2005/8/layout/arrow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131F41D-2A86-4624-9759-DEC336D1D0FF}" type="doc">
      <dgm:prSet loTypeId="urn:microsoft.com/office/officeart/2005/8/layout/hierarchy6" loCatId="hierarchy" qsTypeId="urn:microsoft.com/office/officeart/2005/8/quickstyle/simple1" qsCatId="simple" csTypeId="urn:microsoft.com/office/officeart/2005/8/colors/colorful1" csCatId="colorful" phldr="1"/>
      <dgm:spPr/>
      <dgm:t>
        <a:bodyPr/>
        <a:lstStyle/>
        <a:p>
          <a:endParaRPr lang="en-US"/>
        </a:p>
      </dgm:t>
    </dgm:pt>
    <dgm:pt modelId="{38572586-D795-40C4-92F7-3628592B1C4D}">
      <dgm:prSet custT="1"/>
      <dgm:spPr/>
      <dgm:t>
        <a:bodyPr/>
        <a:lstStyle/>
        <a:p>
          <a:pPr rtl="0"/>
          <a:r>
            <a:rPr lang="en-US" sz="2400" b="1" dirty="0">
              <a:solidFill>
                <a:schemeClr val="tx1"/>
              </a:solidFill>
            </a:rPr>
            <a:t>Residential Status</a:t>
          </a:r>
          <a:endParaRPr lang="en-IN" sz="2400" dirty="0">
            <a:solidFill>
              <a:schemeClr val="tx1"/>
            </a:solidFill>
          </a:endParaRPr>
        </a:p>
      </dgm:t>
    </dgm:pt>
    <dgm:pt modelId="{CDB0E1E3-9910-404A-8E89-A6325B22815C}" type="parTrans" cxnId="{F6BB2BA0-661A-4C46-BBFC-14E70F94F875}">
      <dgm:prSet/>
      <dgm:spPr/>
      <dgm:t>
        <a:bodyPr/>
        <a:lstStyle/>
        <a:p>
          <a:endParaRPr lang="en-US" sz="2000">
            <a:solidFill>
              <a:schemeClr val="tx1"/>
            </a:solidFill>
          </a:endParaRPr>
        </a:p>
      </dgm:t>
    </dgm:pt>
    <dgm:pt modelId="{F8E3A61E-1BFD-4033-8A12-825EA9FFBD42}" type="sibTrans" cxnId="{F6BB2BA0-661A-4C46-BBFC-14E70F94F875}">
      <dgm:prSet/>
      <dgm:spPr/>
      <dgm:t>
        <a:bodyPr/>
        <a:lstStyle/>
        <a:p>
          <a:endParaRPr lang="en-US" sz="2000">
            <a:solidFill>
              <a:schemeClr val="tx1"/>
            </a:solidFill>
          </a:endParaRPr>
        </a:p>
      </dgm:t>
    </dgm:pt>
    <dgm:pt modelId="{B611F53E-C59F-4942-86C1-54AFA6167294}">
      <dgm:prSet custT="1"/>
      <dgm:spPr/>
      <dgm:t>
        <a:bodyPr/>
        <a:lstStyle/>
        <a:p>
          <a:pPr rtl="0"/>
          <a:r>
            <a:rPr lang="en-US" sz="2400" b="1" dirty="0">
              <a:solidFill>
                <a:schemeClr val="tx1"/>
              </a:solidFill>
            </a:rPr>
            <a:t>Individual and HUF</a:t>
          </a:r>
          <a:endParaRPr lang="en-IN" sz="2400" dirty="0">
            <a:solidFill>
              <a:schemeClr val="tx1"/>
            </a:solidFill>
          </a:endParaRPr>
        </a:p>
      </dgm:t>
    </dgm:pt>
    <dgm:pt modelId="{B5C56D16-374E-45DB-B6D1-D3B9468F47FC}" type="parTrans" cxnId="{33FEF759-0BB6-4402-B980-F631656A97BB}">
      <dgm:prSet/>
      <dgm:spPr/>
      <dgm:t>
        <a:bodyPr/>
        <a:lstStyle/>
        <a:p>
          <a:endParaRPr lang="en-US" sz="2000">
            <a:solidFill>
              <a:schemeClr val="tx1"/>
            </a:solidFill>
          </a:endParaRPr>
        </a:p>
      </dgm:t>
    </dgm:pt>
    <dgm:pt modelId="{D0EF1BAD-4391-43EC-A090-007835A10B45}" type="sibTrans" cxnId="{33FEF759-0BB6-4402-B980-F631656A97BB}">
      <dgm:prSet/>
      <dgm:spPr/>
      <dgm:t>
        <a:bodyPr/>
        <a:lstStyle/>
        <a:p>
          <a:endParaRPr lang="en-US" sz="2000">
            <a:solidFill>
              <a:schemeClr val="tx1"/>
            </a:solidFill>
          </a:endParaRPr>
        </a:p>
      </dgm:t>
    </dgm:pt>
    <dgm:pt modelId="{97F6CD14-A503-4504-9362-3FF23CA9C2B8}">
      <dgm:prSet custT="1"/>
      <dgm:spPr/>
      <dgm:t>
        <a:bodyPr/>
        <a:lstStyle/>
        <a:p>
          <a:pPr rtl="0"/>
          <a:r>
            <a:rPr lang="en-US" sz="2400" b="1">
              <a:solidFill>
                <a:schemeClr val="tx1"/>
              </a:solidFill>
            </a:rPr>
            <a:t>Resident</a:t>
          </a:r>
          <a:endParaRPr lang="en-IN" sz="2400">
            <a:solidFill>
              <a:schemeClr val="tx1"/>
            </a:solidFill>
          </a:endParaRPr>
        </a:p>
      </dgm:t>
    </dgm:pt>
    <dgm:pt modelId="{4FC0C328-0B6D-4027-88CD-26B4808DB8CD}" type="parTrans" cxnId="{E24711A8-D0C8-4782-8355-FE3AA0A3E031}">
      <dgm:prSet/>
      <dgm:spPr/>
      <dgm:t>
        <a:bodyPr/>
        <a:lstStyle/>
        <a:p>
          <a:endParaRPr lang="en-US" sz="2000">
            <a:solidFill>
              <a:schemeClr val="tx1"/>
            </a:solidFill>
          </a:endParaRPr>
        </a:p>
      </dgm:t>
    </dgm:pt>
    <dgm:pt modelId="{A2970AC0-3DFE-48AF-BE20-A0315F226ACC}" type="sibTrans" cxnId="{E24711A8-D0C8-4782-8355-FE3AA0A3E031}">
      <dgm:prSet/>
      <dgm:spPr/>
      <dgm:t>
        <a:bodyPr/>
        <a:lstStyle/>
        <a:p>
          <a:endParaRPr lang="en-US" sz="2000">
            <a:solidFill>
              <a:schemeClr val="tx1"/>
            </a:solidFill>
          </a:endParaRPr>
        </a:p>
      </dgm:t>
    </dgm:pt>
    <dgm:pt modelId="{019F8EDC-B110-4E0E-97CD-DE95445AB5A5}">
      <dgm:prSet custT="1"/>
      <dgm:spPr/>
      <dgm:t>
        <a:bodyPr/>
        <a:lstStyle/>
        <a:p>
          <a:pPr rtl="0"/>
          <a:r>
            <a:rPr lang="en-US" sz="2400">
              <a:solidFill>
                <a:schemeClr val="tx1"/>
              </a:solidFill>
            </a:rPr>
            <a:t>Ordinarily Resident (OR)</a:t>
          </a:r>
          <a:endParaRPr lang="en-IN" sz="2400">
            <a:solidFill>
              <a:schemeClr val="tx1"/>
            </a:solidFill>
          </a:endParaRPr>
        </a:p>
      </dgm:t>
    </dgm:pt>
    <dgm:pt modelId="{99731D58-922E-47B1-A53A-EBF62792612B}" type="parTrans" cxnId="{4C7AC7B4-C1DC-48A9-AC92-C53FE75BE6D6}">
      <dgm:prSet/>
      <dgm:spPr/>
      <dgm:t>
        <a:bodyPr/>
        <a:lstStyle/>
        <a:p>
          <a:endParaRPr lang="en-US" sz="2000">
            <a:solidFill>
              <a:schemeClr val="tx1"/>
            </a:solidFill>
          </a:endParaRPr>
        </a:p>
      </dgm:t>
    </dgm:pt>
    <dgm:pt modelId="{3D613B6C-D50F-4D1B-A4FF-4CC588AB3D32}" type="sibTrans" cxnId="{4C7AC7B4-C1DC-48A9-AC92-C53FE75BE6D6}">
      <dgm:prSet/>
      <dgm:spPr/>
      <dgm:t>
        <a:bodyPr/>
        <a:lstStyle/>
        <a:p>
          <a:endParaRPr lang="en-US" sz="2000">
            <a:solidFill>
              <a:schemeClr val="tx1"/>
            </a:solidFill>
          </a:endParaRPr>
        </a:p>
      </dgm:t>
    </dgm:pt>
    <dgm:pt modelId="{2952AEF6-22E0-4697-AF30-740139B632F3}">
      <dgm:prSet custT="1"/>
      <dgm:spPr/>
      <dgm:t>
        <a:bodyPr/>
        <a:lstStyle/>
        <a:p>
          <a:pPr rtl="0"/>
          <a:r>
            <a:rPr lang="en-US" sz="2400" dirty="0">
              <a:solidFill>
                <a:schemeClr val="tx1"/>
              </a:solidFill>
            </a:rPr>
            <a:t>Resident but not Ordinarily Resident</a:t>
          </a:r>
          <a:endParaRPr lang="en-IN" sz="2400" dirty="0">
            <a:solidFill>
              <a:schemeClr val="tx1"/>
            </a:solidFill>
          </a:endParaRPr>
        </a:p>
      </dgm:t>
    </dgm:pt>
    <dgm:pt modelId="{1C3D9064-AA69-4B09-96E7-400DFA96A56F}" type="parTrans" cxnId="{9E270F1E-F379-4E52-BF6F-C90FAC05CF82}">
      <dgm:prSet/>
      <dgm:spPr/>
      <dgm:t>
        <a:bodyPr/>
        <a:lstStyle/>
        <a:p>
          <a:endParaRPr lang="en-US" sz="2000">
            <a:solidFill>
              <a:schemeClr val="tx1"/>
            </a:solidFill>
          </a:endParaRPr>
        </a:p>
      </dgm:t>
    </dgm:pt>
    <dgm:pt modelId="{A5F7BDC7-F964-4BE3-928B-FB26659918B7}" type="sibTrans" cxnId="{9E270F1E-F379-4E52-BF6F-C90FAC05CF82}">
      <dgm:prSet/>
      <dgm:spPr/>
      <dgm:t>
        <a:bodyPr/>
        <a:lstStyle/>
        <a:p>
          <a:endParaRPr lang="en-US" sz="2000">
            <a:solidFill>
              <a:schemeClr val="tx1"/>
            </a:solidFill>
          </a:endParaRPr>
        </a:p>
      </dgm:t>
    </dgm:pt>
    <dgm:pt modelId="{4E9207D3-7A08-4E3D-AD46-E4859C42D640}">
      <dgm:prSet custT="1"/>
      <dgm:spPr/>
      <dgm:t>
        <a:bodyPr/>
        <a:lstStyle/>
        <a:p>
          <a:pPr rtl="0"/>
          <a:r>
            <a:rPr lang="en-US" sz="2400" b="1">
              <a:solidFill>
                <a:schemeClr val="tx1"/>
              </a:solidFill>
            </a:rPr>
            <a:t>Non –Resident (NRI)</a:t>
          </a:r>
          <a:endParaRPr lang="en-IN" sz="2400">
            <a:solidFill>
              <a:schemeClr val="tx1"/>
            </a:solidFill>
          </a:endParaRPr>
        </a:p>
      </dgm:t>
    </dgm:pt>
    <dgm:pt modelId="{5B9777FD-3D57-4EE7-852F-8DD2F910D317}" type="parTrans" cxnId="{C4B003CE-AA1E-4BB3-8733-2092C86FE9A1}">
      <dgm:prSet/>
      <dgm:spPr/>
      <dgm:t>
        <a:bodyPr/>
        <a:lstStyle/>
        <a:p>
          <a:endParaRPr lang="en-US" sz="2000">
            <a:solidFill>
              <a:schemeClr val="tx1"/>
            </a:solidFill>
          </a:endParaRPr>
        </a:p>
      </dgm:t>
    </dgm:pt>
    <dgm:pt modelId="{7988AA84-2083-4F56-85A8-3CEB55B4B5D8}" type="sibTrans" cxnId="{C4B003CE-AA1E-4BB3-8733-2092C86FE9A1}">
      <dgm:prSet/>
      <dgm:spPr/>
      <dgm:t>
        <a:bodyPr/>
        <a:lstStyle/>
        <a:p>
          <a:endParaRPr lang="en-US" sz="2000">
            <a:solidFill>
              <a:schemeClr val="tx1"/>
            </a:solidFill>
          </a:endParaRPr>
        </a:p>
      </dgm:t>
    </dgm:pt>
    <dgm:pt modelId="{ADD60968-5CDF-498D-ACDA-4FC72E73BD5D}">
      <dgm:prSet custT="1"/>
      <dgm:spPr/>
      <dgm:t>
        <a:bodyPr/>
        <a:lstStyle/>
        <a:p>
          <a:pPr rtl="0"/>
          <a:r>
            <a:rPr lang="en-US" sz="2400" b="1" dirty="0">
              <a:solidFill>
                <a:schemeClr val="tx1"/>
              </a:solidFill>
            </a:rPr>
            <a:t>Other than individual and HUF</a:t>
          </a:r>
          <a:endParaRPr lang="en-IN" sz="2400" dirty="0">
            <a:solidFill>
              <a:schemeClr val="tx1"/>
            </a:solidFill>
          </a:endParaRPr>
        </a:p>
      </dgm:t>
    </dgm:pt>
    <dgm:pt modelId="{0FB9EAAC-B643-400C-9D06-3EBA22C68407}" type="parTrans" cxnId="{40E027C3-C569-449A-B8DA-1074954B84D6}">
      <dgm:prSet/>
      <dgm:spPr/>
      <dgm:t>
        <a:bodyPr/>
        <a:lstStyle/>
        <a:p>
          <a:endParaRPr lang="en-US" sz="2000">
            <a:solidFill>
              <a:schemeClr val="tx1"/>
            </a:solidFill>
          </a:endParaRPr>
        </a:p>
      </dgm:t>
    </dgm:pt>
    <dgm:pt modelId="{2568E9B9-8CC9-4B54-B196-52369EF6980C}" type="sibTrans" cxnId="{40E027C3-C569-449A-B8DA-1074954B84D6}">
      <dgm:prSet/>
      <dgm:spPr/>
      <dgm:t>
        <a:bodyPr/>
        <a:lstStyle/>
        <a:p>
          <a:endParaRPr lang="en-US" sz="2000">
            <a:solidFill>
              <a:schemeClr val="tx1"/>
            </a:solidFill>
          </a:endParaRPr>
        </a:p>
      </dgm:t>
    </dgm:pt>
    <dgm:pt modelId="{00B72AED-4BF2-49BA-9606-678AB96D9227}">
      <dgm:prSet custT="1"/>
      <dgm:spPr/>
      <dgm:t>
        <a:bodyPr/>
        <a:lstStyle/>
        <a:p>
          <a:pPr rtl="0"/>
          <a:r>
            <a:rPr lang="en-IN" sz="2400" b="1" dirty="0">
              <a:solidFill>
                <a:schemeClr val="tx1"/>
              </a:solidFill>
            </a:rPr>
            <a:t>Resident (OR)</a:t>
          </a:r>
          <a:endParaRPr lang="en-IN" sz="2400" dirty="0">
            <a:solidFill>
              <a:schemeClr val="tx1"/>
            </a:solidFill>
          </a:endParaRPr>
        </a:p>
      </dgm:t>
    </dgm:pt>
    <dgm:pt modelId="{892F99E9-319E-4EA5-A928-8A458E3D722A}" type="parTrans" cxnId="{A8858554-1EA0-458C-9D8B-57DED4B53C72}">
      <dgm:prSet/>
      <dgm:spPr/>
      <dgm:t>
        <a:bodyPr/>
        <a:lstStyle/>
        <a:p>
          <a:endParaRPr lang="en-US" sz="2000">
            <a:solidFill>
              <a:schemeClr val="tx1"/>
            </a:solidFill>
          </a:endParaRPr>
        </a:p>
      </dgm:t>
    </dgm:pt>
    <dgm:pt modelId="{1D2CB1BE-8F5F-4CB7-B950-34A67E91D975}" type="sibTrans" cxnId="{A8858554-1EA0-458C-9D8B-57DED4B53C72}">
      <dgm:prSet/>
      <dgm:spPr/>
      <dgm:t>
        <a:bodyPr/>
        <a:lstStyle/>
        <a:p>
          <a:endParaRPr lang="en-US" sz="2000">
            <a:solidFill>
              <a:schemeClr val="tx1"/>
            </a:solidFill>
          </a:endParaRPr>
        </a:p>
      </dgm:t>
    </dgm:pt>
    <dgm:pt modelId="{7D6C8DCF-6118-48BA-B407-625EB85B6786}">
      <dgm:prSet custT="1"/>
      <dgm:spPr/>
      <dgm:t>
        <a:bodyPr/>
        <a:lstStyle/>
        <a:p>
          <a:pPr rtl="0"/>
          <a:r>
            <a:rPr lang="en-IN" sz="2400" b="1" dirty="0">
              <a:solidFill>
                <a:schemeClr val="tx1"/>
              </a:solidFill>
            </a:rPr>
            <a:t>Non Resident </a:t>
          </a:r>
          <a:endParaRPr lang="en-IN" sz="2400" dirty="0">
            <a:solidFill>
              <a:schemeClr val="tx1"/>
            </a:solidFill>
          </a:endParaRPr>
        </a:p>
      </dgm:t>
    </dgm:pt>
    <dgm:pt modelId="{3DEFBB4C-EABF-4533-954E-3F5027FD2F73}" type="parTrans" cxnId="{26CD7975-666C-46B4-83AB-BB1B07AD331A}">
      <dgm:prSet/>
      <dgm:spPr/>
      <dgm:t>
        <a:bodyPr/>
        <a:lstStyle/>
        <a:p>
          <a:endParaRPr lang="en-US" sz="2000">
            <a:solidFill>
              <a:schemeClr val="tx1"/>
            </a:solidFill>
          </a:endParaRPr>
        </a:p>
      </dgm:t>
    </dgm:pt>
    <dgm:pt modelId="{A02694A3-7574-459D-9753-EF64F49EB326}" type="sibTrans" cxnId="{26CD7975-666C-46B4-83AB-BB1B07AD331A}">
      <dgm:prSet/>
      <dgm:spPr/>
      <dgm:t>
        <a:bodyPr/>
        <a:lstStyle/>
        <a:p>
          <a:endParaRPr lang="en-US" sz="2000">
            <a:solidFill>
              <a:schemeClr val="tx1"/>
            </a:solidFill>
          </a:endParaRPr>
        </a:p>
      </dgm:t>
    </dgm:pt>
    <dgm:pt modelId="{4ED4743E-9A64-4C83-BDC3-54F73277C10F}" type="pres">
      <dgm:prSet presAssocID="{8131F41D-2A86-4624-9759-DEC336D1D0FF}" presName="mainComposite" presStyleCnt="0">
        <dgm:presLayoutVars>
          <dgm:chPref val="1"/>
          <dgm:dir/>
          <dgm:animOne val="branch"/>
          <dgm:animLvl val="lvl"/>
          <dgm:resizeHandles val="exact"/>
        </dgm:presLayoutVars>
      </dgm:prSet>
      <dgm:spPr/>
    </dgm:pt>
    <dgm:pt modelId="{E2E8DA69-CEF1-42AB-BBD8-7D60570EC712}" type="pres">
      <dgm:prSet presAssocID="{8131F41D-2A86-4624-9759-DEC336D1D0FF}" presName="hierFlow" presStyleCnt="0"/>
      <dgm:spPr/>
    </dgm:pt>
    <dgm:pt modelId="{B9C2811A-1347-4530-9400-D23CFA755A76}" type="pres">
      <dgm:prSet presAssocID="{8131F41D-2A86-4624-9759-DEC336D1D0FF}" presName="hierChild1" presStyleCnt="0">
        <dgm:presLayoutVars>
          <dgm:chPref val="1"/>
          <dgm:animOne val="branch"/>
          <dgm:animLvl val="lvl"/>
        </dgm:presLayoutVars>
      </dgm:prSet>
      <dgm:spPr/>
    </dgm:pt>
    <dgm:pt modelId="{8E1C46A8-6DDC-4105-B7F7-E33462116B51}" type="pres">
      <dgm:prSet presAssocID="{38572586-D795-40C4-92F7-3628592B1C4D}" presName="Name14" presStyleCnt="0"/>
      <dgm:spPr/>
    </dgm:pt>
    <dgm:pt modelId="{B718A287-2E83-42D1-B9C5-FCB5D636D2AE}" type="pres">
      <dgm:prSet presAssocID="{38572586-D795-40C4-92F7-3628592B1C4D}" presName="level1Shape" presStyleLbl="node0" presStyleIdx="0" presStyleCnt="1" custScaleX="294023">
        <dgm:presLayoutVars>
          <dgm:chPref val="3"/>
        </dgm:presLayoutVars>
      </dgm:prSet>
      <dgm:spPr/>
    </dgm:pt>
    <dgm:pt modelId="{DC74BCBA-9081-4641-93EF-2D7E7EB45B49}" type="pres">
      <dgm:prSet presAssocID="{38572586-D795-40C4-92F7-3628592B1C4D}" presName="hierChild2" presStyleCnt="0"/>
      <dgm:spPr/>
    </dgm:pt>
    <dgm:pt modelId="{0D130D26-C9B9-44B1-A1F1-05B379066A06}" type="pres">
      <dgm:prSet presAssocID="{B5C56D16-374E-45DB-B6D1-D3B9468F47FC}" presName="Name19" presStyleLbl="parChTrans1D2" presStyleIdx="0" presStyleCnt="2"/>
      <dgm:spPr/>
    </dgm:pt>
    <dgm:pt modelId="{E7D956AE-DC11-453B-B383-50725D2ABC88}" type="pres">
      <dgm:prSet presAssocID="{B611F53E-C59F-4942-86C1-54AFA6167294}" presName="Name21" presStyleCnt="0"/>
      <dgm:spPr/>
    </dgm:pt>
    <dgm:pt modelId="{73DA7729-D25C-4A9C-810E-01E0FF0E10F9}" type="pres">
      <dgm:prSet presAssocID="{B611F53E-C59F-4942-86C1-54AFA6167294}" presName="level2Shape" presStyleLbl="node2" presStyleIdx="0" presStyleCnt="2" custScaleX="144913"/>
      <dgm:spPr/>
    </dgm:pt>
    <dgm:pt modelId="{4F0D2760-30CB-49CF-9D20-A9EE8F693E23}" type="pres">
      <dgm:prSet presAssocID="{B611F53E-C59F-4942-86C1-54AFA6167294}" presName="hierChild3" presStyleCnt="0"/>
      <dgm:spPr/>
    </dgm:pt>
    <dgm:pt modelId="{1C901967-64B6-4A13-8775-944A71240344}" type="pres">
      <dgm:prSet presAssocID="{4FC0C328-0B6D-4027-88CD-26B4808DB8CD}" presName="Name19" presStyleLbl="parChTrans1D3" presStyleIdx="0" presStyleCnt="4"/>
      <dgm:spPr/>
    </dgm:pt>
    <dgm:pt modelId="{473CDE27-2835-4B94-AF30-E38BFE32091F}" type="pres">
      <dgm:prSet presAssocID="{97F6CD14-A503-4504-9362-3FF23CA9C2B8}" presName="Name21" presStyleCnt="0"/>
      <dgm:spPr/>
    </dgm:pt>
    <dgm:pt modelId="{1E0A877C-65A2-48AD-AE3D-2FAFA315355A}" type="pres">
      <dgm:prSet presAssocID="{97F6CD14-A503-4504-9362-3FF23CA9C2B8}" presName="level2Shape" presStyleLbl="node3" presStyleIdx="0" presStyleCnt="4" custScaleX="144913"/>
      <dgm:spPr/>
    </dgm:pt>
    <dgm:pt modelId="{30363E86-C75D-4D6C-803F-7BC46BE1F3D4}" type="pres">
      <dgm:prSet presAssocID="{97F6CD14-A503-4504-9362-3FF23CA9C2B8}" presName="hierChild3" presStyleCnt="0"/>
      <dgm:spPr/>
    </dgm:pt>
    <dgm:pt modelId="{9E55D6DF-EB83-4E76-A559-7A1EF3C5D979}" type="pres">
      <dgm:prSet presAssocID="{99731D58-922E-47B1-A53A-EBF62792612B}" presName="Name19" presStyleLbl="parChTrans1D4" presStyleIdx="0" presStyleCnt="2"/>
      <dgm:spPr/>
    </dgm:pt>
    <dgm:pt modelId="{B432BE63-4B9E-48C4-91DC-78A61F32F778}" type="pres">
      <dgm:prSet presAssocID="{019F8EDC-B110-4E0E-97CD-DE95445AB5A5}" presName="Name21" presStyleCnt="0"/>
      <dgm:spPr/>
    </dgm:pt>
    <dgm:pt modelId="{EF72ED76-7C3A-4067-9160-635C35DE9200}" type="pres">
      <dgm:prSet presAssocID="{019F8EDC-B110-4E0E-97CD-DE95445AB5A5}" presName="level2Shape" presStyleLbl="node4" presStyleIdx="0" presStyleCnt="2" custScaleX="144913"/>
      <dgm:spPr/>
    </dgm:pt>
    <dgm:pt modelId="{752E775D-EA96-4B2E-A1F0-19F0F78D6963}" type="pres">
      <dgm:prSet presAssocID="{019F8EDC-B110-4E0E-97CD-DE95445AB5A5}" presName="hierChild3" presStyleCnt="0"/>
      <dgm:spPr/>
    </dgm:pt>
    <dgm:pt modelId="{719C759C-7F28-44AB-A7CB-A2F529EA8B25}" type="pres">
      <dgm:prSet presAssocID="{1C3D9064-AA69-4B09-96E7-400DFA96A56F}" presName="Name19" presStyleLbl="parChTrans1D4" presStyleIdx="1" presStyleCnt="2"/>
      <dgm:spPr/>
    </dgm:pt>
    <dgm:pt modelId="{AE4DAB31-EFF6-4850-802F-CEB1C29C49B5}" type="pres">
      <dgm:prSet presAssocID="{2952AEF6-22E0-4697-AF30-740139B632F3}" presName="Name21" presStyleCnt="0"/>
      <dgm:spPr/>
    </dgm:pt>
    <dgm:pt modelId="{4A5DA781-9EDD-4109-B0CD-FE3EF5B3EFD3}" type="pres">
      <dgm:prSet presAssocID="{2952AEF6-22E0-4697-AF30-740139B632F3}" presName="level2Shape" presStyleLbl="node4" presStyleIdx="1" presStyleCnt="2" custScaleX="144913"/>
      <dgm:spPr/>
    </dgm:pt>
    <dgm:pt modelId="{3C3BA98B-8F7E-45A4-895D-C68727657DA3}" type="pres">
      <dgm:prSet presAssocID="{2952AEF6-22E0-4697-AF30-740139B632F3}" presName="hierChild3" presStyleCnt="0"/>
      <dgm:spPr/>
    </dgm:pt>
    <dgm:pt modelId="{A6D9ABDD-5A81-46FB-B2CE-119AF5310082}" type="pres">
      <dgm:prSet presAssocID="{5B9777FD-3D57-4EE7-852F-8DD2F910D317}" presName="Name19" presStyleLbl="parChTrans1D3" presStyleIdx="1" presStyleCnt="4"/>
      <dgm:spPr/>
    </dgm:pt>
    <dgm:pt modelId="{699ECB3F-1097-4682-AB2A-20E9989F3C5C}" type="pres">
      <dgm:prSet presAssocID="{4E9207D3-7A08-4E3D-AD46-E4859C42D640}" presName="Name21" presStyleCnt="0"/>
      <dgm:spPr/>
    </dgm:pt>
    <dgm:pt modelId="{C1DF3746-3AF5-4104-B672-3B07115607AD}" type="pres">
      <dgm:prSet presAssocID="{4E9207D3-7A08-4E3D-AD46-E4859C42D640}" presName="level2Shape" presStyleLbl="node3" presStyleIdx="1" presStyleCnt="4" custScaleX="144913"/>
      <dgm:spPr/>
    </dgm:pt>
    <dgm:pt modelId="{F7765CB3-9607-48A5-ADD2-70133714F7BF}" type="pres">
      <dgm:prSet presAssocID="{4E9207D3-7A08-4E3D-AD46-E4859C42D640}" presName="hierChild3" presStyleCnt="0"/>
      <dgm:spPr/>
    </dgm:pt>
    <dgm:pt modelId="{054C5256-B922-42DA-8014-D3FB09A5CC40}" type="pres">
      <dgm:prSet presAssocID="{0FB9EAAC-B643-400C-9D06-3EBA22C68407}" presName="Name19" presStyleLbl="parChTrans1D2" presStyleIdx="1" presStyleCnt="2"/>
      <dgm:spPr/>
    </dgm:pt>
    <dgm:pt modelId="{CDF8FBBD-8CD0-43C5-836D-BEDB8F306033}" type="pres">
      <dgm:prSet presAssocID="{ADD60968-5CDF-498D-ACDA-4FC72E73BD5D}" presName="Name21" presStyleCnt="0"/>
      <dgm:spPr/>
    </dgm:pt>
    <dgm:pt modelId="{7DF4D8D8-FCCE-44A8-8D6E-1BEB51DE6C89}" type="pres">
      <dgm:prSet presAssocID="{ADD60968-5CDF-498D-ACDA-4FC72E73BD5D}" presName="level2Shape" presStyleLbl="node2" presStyleIdx="1" presStyleCnt="2" custScaleX="155805"/>
      <dgm:spPr/>
    </dgm:pt>
    <dgm:pt modelId="{79150A07-1193-4224-8086-1136604551F6}" type="pres">
      <dgm:prSet presAssocID="{ADD60968-5CDF-498D-ACDA-4FC72E73BD5D}" presName="hierChild3" presStyleCnt="0"/>
      <dgm:spPr/>
    </dgm:pt>
    <dgm:pt modelId="{ADD8EFF3-8289-4923-AA8D-4F8F9EA3A82C}" type="pres">
      <dgm:prSet presAssocID="{892F99E9-319E-4EA5-A928-8A458E3D722A}" presName="Name19" presStyleLbl="parChTrans1D3" presStyleIdx="2" presStyleCnt="4"/>
      <dgm:spPr/>
    </dgm:pt>
    <dgm:pt modelId="{2A27763B-D23E-4A3B-A350-268D3535283D}" type="pres">
      <dgm:prSet presAssocID="{00B72AED-4BF2-49BA-9606-678AB96D9227}" presName="Name21" presStyleCnt="0"/>
      <dgm:spPr/>
    </dgm:pt>
    <dgm:pt modelId="{2BA2ED6F-083B-4557-BE6F-5179B0A00F11}" type="pres">
      <dgm:prSet presAssocID="{00B72AED-4BF2-49BA-9606-678AB96D9227}" presName="level2Shape" presStyleLbl="node3" presStyleIdx="2" presStyleCnt="4" custScaleX="144913"/>
      <dgm:spPr/>
    </dgm:pt>
    <dgm:pt modelId="{1FF1BACD-7B97-4617-B3AF-2419BD0F9A4B}" type="pres">
      <dgm:prSet presAssocID="{00B72AED-4BF2-49BA-9606-678AB96D9227}" presName="hierChild3" presStyleCnt="0"/>
      <dgm:spPr/>
    </dgm:pt>
    <dgm:pt modelId="{91F0E686-CB02-47C3-B132-64356D2CE30F}" type="pres">
      <dgm:prSet presAssocID="{3DEFBB4C-EABF-4533-954E-3F5027FD2F73}" presName="Name19" presStyleLbl="parChTrans1D3" presStyleIdx="3" presStyleCnt="4"/>
      <dgm:spPr/>
    </dgm:pt>
    <dgm:pt modelId="{83479C35-FD83-410B-A810-86FB4D9301BF}" type="pres">
      <dgm:prSet presAssocID="{7D6C8DCF-6118-48BA-B407-625EB85B6786}" presName="Name21" presStyleCnt="0"/>
      <dgm:spPr/>
    </dgm:pt>
    <dgm:pt modelId="{5C774FB7-832E-4D8C-8F29-1A2B3836EB18}" type="pres">
      <dgm:prSet presAssocID="{7D6C8DCF-6118-48BA-B407-625EB85B6786}" presName="level2Shape" presStyleLbl="node3" presStyleIdx="3" presStyleCnt="4" custScaleX="144913"/>
      <dgm:spPr/>
    </dgm:pt>
    <dgm:pt modelId="{2DCF2D00-83C5-42E3-BDBF-52296F9E6847}" type="pres">
      <dgm:prSet presAssocID="{7D6C8DCF-6118-48BA-B407-625EB85B6786}" presName="hierChild3" presStyleCnt="0"/>
      <dgm:spPr/>
    </dgm:pt>
    <dgm:pt modelId="{09F31DD1-0886-4892-B0CB-AFF79BF3BDC1}" type="pres">
      <dgm:prSet presAssocID="{8131F41D-2A86-4624-9759-DEC336D1D0FF}" presName="bgShapesFlow" presStyleCnt="0"/>
      <dgm:spPr/>
    </dgm:pt>
  </dgm:ptLst>
  <dgm:cxnLst>
    <dgm:cxn modelId="{542E6113-9D7C-4D94-B719-AD9F8156D77D}" type="presOf" srcId="{019F8EDC-B110-4E0E-97CD-DE95445AB5A5}" destId="{EF72ED76-7C3A-4067-9160-635C35DE9200}" srcOrd="0" destOrd="0" presId="urn:microsoft.com/office/officeart/2005/8/layout/hierarchy6"/>
    <dgm:cxn modelId="{9E270F1E-F379-4E52-BF6F-C90FAC05CF82}" srcId="{97F6CD14-A503-4504-9362-3FF23CA9C2B8}" destId="{2952AEF6-22E0-4697-AF30-740139B632F3}" srcOrd="1" destOrd="0" parTransId="{1C3D9064-AA69-4B09-96E7-400DFA96A56F}" sibTransId="{A5F7BDC7-F964-4BE3-928B-FB26659918B7}"/>
    <dgm:cxn modelId="{F72CD52D-9F7B-4E3E-8262-2DCEA7A83568}" type="presOf" srcId="{5B9777FD-3D57-4EE7-852F-8DD2F910D317}" destId="{A6D9ABDD-5A81-46FB-B2CE-119AF5310082}" srcOrd="0" destOrd="0" presId="urn:microsoft.com/office/officeart/2005/8/layout/hierarchy6"/>
    <dgm:cxn modelId="{AA328D5D-953D-4B41-8783-8A5E28227121}" type="presOf" srcId="{2952AEF6-22E0-4697-AF30-740139B632F3}" destId="{4A5DA781-9EDD-4109-B0CD-FE3EF5B3EFD3}" srcOrd="0" destOrd="0" presId="urn:microsoft.com/office/officeart/2005/8/layout/hierarchy6"/>
    <dgm:cxn modelId="{794AF669-AC0F-4684-98C6-516A08E30753}" type="presOf" srcId="{0FB9EAAC-B643-400C-9D06-3EBA22C68407}" destId="{054C5256-B922-42DA-8014-D3FB09A5CC40}" srcOrd="0" destOrd="0" presId="urn:microsoft.com/office/officeart/2005/8/layout/hierarchy6"/>
    <dgm:cxn modelId="{699C194B-A65B-4BA2-B3C5-6F78F17DEAA1}" type="presOf" srcId="{8131F41D-2A86-4624-9759-DEC336D1D0FF}" destId="{4ED4743E-9A64-4C83-BDC3-54F73277C10F}" srcOrd="0" destOrd="0" presId="urn:microsoft.com/office/officeart/2005/8/layout/hierarchy6"/>
    <dgm:cxn modelId="{A8858554-1EA0-458C-9D8B-57DED4B53C72}" srcId="{ADD60968-5CDF-498D-ACDA-4FC72E73BD5D}" destId="{00B72AED-4BF2-49BA-9606-678AB96D9227}" srcOrd="0" destOrd="0" parTransId="{892F99E9-319E-4EA5-A928-8A458E3D722A}" sibTransId="{1D2CB1BE-8F5F-4CB7-B950-34A67E91D975}"/>
    <dgm:cxn modelId="{26CD7975-666C-46B4-83AB-BB1B07AD331A}" srcId="{ADD60968-5CDF-498D-ACDA-4FC72E73BD5D}" destId="{7D6C8DCF-6118-48BA-B407-625EB85B6786}" srcOrd="1" destOrd="0" parTransId="{3DEFBB4C-EABF-4533-954E-3F5027FD2F73}" sibTransId="{A02694A3-7574-459D-9753-EF64F49EB326}"/>
    <dgm:cxn modelId="{CEE1A456-3EA3-4487-B95F-59D30D03B08C}" type="presOf" srcId="{B611F53E-C59F-4942-86C1-54AFA6167294}" destId="{73DA7729-D25C-4A9C-810E-01E0FF0E10F9}" srcOrd="0" destOrd="0" presId="urn:microsoft.com/office/officeart/2005/8/layout/hierarchy6"/>
    <dgm:cxn modelId="{838C0477-BE61-4851-96AF-B44A70196E21}" type="presOf" srcId="{97F6CD14-A503-4504-9362-3FF23CA9C2B8}" destId="{1E0A877C-65A2-48AD-AE3D-2FAFA315355A}" srcOrd="0" destOrd="0" presId="urn:microsoft.com/office/officeart/2005/8/layout/hierarchy6"/>
    <dgm:cxn modelId="{33FEF759-0BB6-4402-B980-F631656A97BB}" srcId="{38572586-D795-40C4-92F7-3628592B1C4D}" destId="{B611F53E-C59F-4942-86C1-54AFA6167294}" srcOrd="0" destOrd="0" parTransId="{B5C56D16-374E-45DB-B6D1-D3B9468F47FC}" sibTransId="{D0EF1BAD-4391-43EC-A090-007835A10B45}"/>
    <dgm:cxn modelId="{E1088990-A51B-4F6A-A3BA-077E86B8BC30}" type="presOf" srcId="{1C3D9064-AA69-4B09-96E7-400DFA96A56F}" destId="{719C759C-7F28-44AB-A7CB-A2F529EA8B25}" srcOrd="0" destOrd="0" presId="urn:microsoft.com/office/officeart/2005/8/layout/hierarchy6"/>
    <dgm:cxn modelId="{F6BB2BA0-661A-4C46-BBFC-14E70F94F875}" srcId="{8131F41D-2A86-4624-9759-DEC336D1D0FF}" destId="{38572586-D795-40C4-92F7-3628592B1C4D}" srcOrd="0" destOrd="0" parTransId="{CDB0E1E3-9910-404A-8E89-A6325B22815C}" sibTransId="{F8E3A61E-1BFD-4033-8A12-825EA9FFBD42}"/>
    <dgm:cxn modelId="{E24711A8-D0C8-4782-8355-FE3AA0A3E031}" srcId="{B611F53E-C59F-4942-86C1-54AFA6167294}" destId="{97F6CD14-A503-4504-9362-3FF23CA9C2B8}" srcOrd="0" destOrd="0" parTransId="{4FC0C328-0B6D-4027-88CD-26B4808DB8CD}" sibTransId="{A2970AC0-3DFE-48AF-BE20-A0315F226ACC}"/>
    <dgm:cxn modelId="{F0BBC9AF-39E9-412E-9A74-124C4FA17C49}" type="presOf" srcId="{3DEFBB4C-EABF-4533-954E-3F5027FD2F73}" destId="{91F0E686-CB02-47C3-B132-64356D2CE30F}" srcOrd="0" destOrd="0" presId="urn:microsoft.com/office/officeart/2005/8/layout/hierarchy6"/>
    <dgm:cxn modelId="{4C7AC7B4-C1DC-48A9-AC92-C53FE75BE6D6}" srcId="{97F6CD14-A503-4504-9362-3FF23CA9C2B8}" destId="{019F8EDC-B110-4E0E-97CD-DE95445AB5A5}" srcOrd="0" destOrd="0" parTransId="{99731D58-922E-47B1-A53A-EBF62792612B}" sibTransId="{3D613B6C-D50F-4D1B-A4FF-4CC588AB3D32}"/>
    <dgm:cxn modelId="{019D29BB-87B5-49C6-BF1D-DEE290DA6388}" type="presOf" srcId="{892F99E9-319E-4EA5-A928-8A458E3D722A}" destId="{ADD8EFF3-8289-4923-AA8D-4F8F9EA3A82C}" srcOrd="0" destOrd="0" presId="urn:microsoft.com/office/officeart/2005/8/layout/hierarchy6"/>
    <dgm:cxn modelId="{40E027C3-C569-449A-B8DA-1074954B84D6}" srcId="{38572586-D795-40C4-92F7-3628592B1C4D}" destId="{ADD60968-5CDF-498D-ACDA-4FC72E73BD5D}" srcOrd="1" destOrd="0" parTransId="{0FB9EAAC-B643-400C-9D06-3EBA22C68407}" sibTransId="{2568E9B9-8CC9-4B54-B196-52369EF6980C}"/>
    <dgm:cxn modelId="{365EF3C5-BD49-462F-8CBC-3937BCA7BC7B}" type="presOf" srcId="{B5C56D16-374E-45DB-B6D1-D3B9468F47FC}" destId="{0D130D26-C9B9-44B1-A1F1-05B379066A06}" srcOrd="0" destOrd="0" presId="urn:microsoft.com/office/officeart/2005/8/layout/hierarchy6"/>
    <dgm:cxn modelId="{046A8CC6-A5CF-4497-9FBE-8D9785F85239}" type="presOf" srcId="{4E9207D3-7A08-4E3D-AD46-E4859C42D640}" destId="{C1DF3746-3AF5-4104-B672-3B07115607AD}" srcOrd="0" destOrd="0" presId="urn:microsoft.com/office/officeart/2005/8/layout/hierarchy6"/>
    <dgm:cxn modelId="{989BFDC6-1BFF-4731-B122-E0A191D77230}" type="presOf" srcId="{ADD60968-5CDF-498D-ACDA-4FC72E73BD5D}" destId="{7DF4D8D8-FCCE-44A8-8D6E-1BEB51DE6C89}" srcOrd="0" destOrd="0" presId="urn:microsoft.com/office/officeart/2005/8/layout/hierarchy6"/>
    <dgm:cxn modelId="{8CCE85CC-1FAD-4134-86D3-BBD9D2DC2EB8}" type="presOf" srcId="{7D6C8DCF-6118-48BA-B407-625EB85B6786}" destId="{5C774FB7-832E-4D8C-8F29-1A2B3836EB18}" srcOrd="0" destOrd="0" presId="urn:microsoft.com/office/officeart/2005/8/layout/hierarchy6"/>
    <dgm:cxn modelId="{C4B003CE-AA1E-4BB3-8733-2092C86FE9A1}" srcId="{B611F53E-C59F-4942-86C1-54AFA6167294}" destId="{4E9207D3-7A08-4E3D-AD46-E4859C42D640}" srcOrd="1" destOrd="0" parTransId="{5B9777FD-3D57-4EE7-852F-8DD2F910D317}" sibTransId="{7988AA84-2083-4F56-85A8-3CEB55B4B5D8}"/>
    <dgm:cxn modelId="{043F14DF-13CC-4487-B38E-47ACA048F0B6}" type="presOf" srcId="{38572586-D795-40C4-92F7-3628592B1C4D}" destId="{B718A287-2E83-42D1-B9C5-FCB5D636D2AE}" srcOrd="0" destOrd="0" presId="urn:microsoft.com/office/officeart/2005/8/layout/hierarchy6"/>
    <dgm:cxn modelId="{73D5E2E1-57C2-4326-B6EF-B9EA3229D748}" type="presOf" srcId="{4FC0C328-0B6D-4027-88CD-26B4808DB8CD}" destId="{1C901967-64B6-4A13-8775-944A71240344}" srcOrd="0" destOrd="0" presId="urn:microsoft.com/office/officeart/2005/8/layout/hierarchy6"/>
    <dgm:cxn modelId="{A7E7D4F1-ED7A-4D02-91FC-0E68A7664D5B}" type="presOf" srcId="{99731D58-922E-47B1-A53A-EBF62792612B}" destId="{9E55D6DF-EB83-4E76-A559-7A1EF3C5D979}" srcOrd="0" destOrd="0" presId="urn:microsoft.com/office/officeart/2005/8/layout/hierarchy6"/>
    <dgm:cxn modelId="{1BE8ACFC-5B7F-4662-84F2-A1CBF04DB1F8}" type="presOf" srcId="{00B72AED-4BF2-49BA-9606-678AB96D9227}" destId="{2BA2ED6F-083B-4557-BE6F-5179B0A00F11}" srcOrd="0" destOrd="0" presId="urn:microsoft.com/office/officeart/2005/8/layout/hierarchy6"/>
    <dgm:cxn modelId="{6E7EAAB9-D603-41E9-84B5-14A25D10D829}" type="presParOf" srcId="{4ED4743E-9A64-4C83-BDC3-54F73277C10F}" destId="{E2E8DA69-CEF1-42AB-BBD8-7D60570EC712}" srcOrd="0" destOrd="0" presId="urn:microsoft.com/office/officeart/2005/8/layout/hierarchy6"/>
    <dgm:cxn modelId="{37F57A64-E807-473C-9E79-DC0F2D685795}" type="presParOf" srcId="{E2E8DA69-CEF1-42AB-BBD8-7D60570EC712}" destId="{B9C2811A-1347-4530-9400-D23CFA755A76}" srcOrd="0" destOrd="0" presId="urn:microsoft.com/office/officeart/2005/8/layout/hierarchy6"/>
    <dgm:cxn modelId="{62829F29-2B1D-43B3-8DC4-DA0C196C8F7A}" type="presParOf" srcId="{B9C2811A-1347-4530-9400-D23CFA755A76}" destId="{8E1C46A8-6DDC-4105-B7F7-E33462116B51}" srcOrd="0" destOrd="0" presId="urn:microsoft.com/office/officeart/2005/8/layout/hierarchy6"/>
    <dgm:cxn modelId="{DAA3CAE7-FADD-444A-A5EC-04DB4D8BC97C}" type="presParOf" srcId="{8E1C46A8-6DDC-4105-B7F7-E33462116B51}" destId="{B718A287-2E83-42D1-B9C5-FCB5D636D2AE}" srcOrd="0" destOrd="0" presId="urn:microsoft.com/office/officeart/2005/8/layout/hierarchy6"/>
    <dgm:cxn modelId="{AF966415-8FCB-43E1-AB61-5D5AB96CC7F3}" type="presParOf" srcId="{8E1C46A8-6DDC-4105-B7F7-E33462116B51}" destId="{DC74BCBA-9081-4641-93EF-2D7E7EB45B49}" srcOrd="1" destOrd="0" presId="urn:microsoft.com/office/officeart/2005/8/layout/hierarchy6"/>
    <dgm:cxn modelId="{5FE0B290-A5EA-4D48-9481-BFA13BC81574}" type="presParOf" srcId="{DC74BCBA-9081-4641-93EF-2D7E7EB45B49}" destId="{0D130D26-C9B9-44B1-A1F1-05B379066A06}" srcOrd="0" destOrd="0" presId="urn:microsoft.com/office/officeart/2005/8/layout/hierarchy6"/>
    <dgm:cxn modelId="{52A0993D-12B3-4394-BC58-342B39EC35EB}" type="presParOf" srcId="{DC74BCBA-9081-4641-93EF-2D7E7EB45B49}" destId="{E7D956AE-DC11-453B-B383-50725D2ABC88}" srcOrd="1" destOrd="0" presId="urn:microsoft.com/office/officeart/2005/8/layout/hierarchy6"/>
    <dgm:cxn modelId="{C0DD98ED-D395-4F00-A0F5-A39AD940595C}" type="presParOf" srcId="{E7D956AE-DC11-453B-B383-50725D2ABC88}" destId="{73DA7729-D25C-4A9C-810E-01E0FF0E10F9}" srcOrd="0" destOrd="0" presId="urn:microsoft.com/office/officeart/2005/8/layout/hierarchy6"/>
    <dgm:cxn modelId="{63CD9928-5591-453F-9514-50E2835287AE}" type="presParOf" srcId="{E7D956AE-DC11-453B-B383-50725D2ABC88}" destId="{4F0D2760-30CB-49CF-9D20-A9EE8F693E23}" srcOrd="1" destOrd="0" presId="urn:microsoft.com/office/officeart/2005/8/layout/hierarchy6"/>
    <dgm:cxn modelId="{3A4044E6-A48B-4EA2-88C9-61E4AE43C35E}" type="presParOf" srcId="{4F0D2760-30CB-49CF-9D20-A9EE8F693E23}" destId="{1C901967-64B6-4A13-8775-944A71240344}" srcOrd="0" destOrd="0" presId="urn:microsoft.com/office/officeart/2005/8/layout/hierarchy6"/>
    <dgm:cxn modelId="{9E62FB94-2FA9-4761-97C6-8281FE08D6BD}" type="presParOf" srcId="{4F0D2760-30CB-49CF-9D20-A9EE8F693E23}" destId="{473CDE27-2835-4B94-AF30-E38BFE32091F}" srcOrd="1" destOrd="0" presId="urn:microsoft.com/office/officeart/2005/8/layout/hierarchy6"/>
    <dgm:cxn modelId="{96F99BAF-4566-42B8-B85E-D8394D44B798}" type="presParOf" srcId="{473CDE27-2835-4B94-AF30-E38BFE32091F}" destId="{1E0A877C-65A2-48AD-AE3D-2FAFA315355A}" srcOrd="0" destOrd="0" presId="urn:microsoft.com/office/officeart/2005/8/layout/hierarchy6"/>
    <dgm:cxn modelId="{B97234B6-5E6F-42EE-BF64-7F809CF41DB4}" type="presParOf" srcId="{473CDE27-2835-4B94-AF30-E38BFE32091F}" destId="{30363E86-C75D-4D6C-803F-7BC46BE1F3D4}" srcOrd="1" destOrd="0" presId="urn:microsoft.com/office/officeart/2005/8/layout/hierarchy6"/>
    <dgm:cxn modelId="{F4E9C7A1-76D4-4A19-8A45-3182914E1D01}" type="presParOf" srcId="{30363E86-C75D-4D6C-803F-7BC46BE1F3D4}" destId="{9E55D6DF-EB83-4E76-A559-7A1EF3C5D979}" srcOrd="0" destOrd="0" presId="urn:microsoft.com/office/officeart/2005/8/layout/hierarchy6"/>
    <dgm:cxn modelId="{E517FB7B-01A2-423F-AD52-ED34A2D6C626}" type="presParOf" srcId="{30363E86-C75D-4D6C-803F-7BC46BE1F3D4}" destId="{B432BE63-4B9E-48C4-91DC-78A61F32F778}" srcOrd="1" destOrd="0" presId="urn:microsoft.com/office/officeart/2005/8/layout/hierarchy6"/>
    <dgm:cxn modelId="{16FA3303-3DFC-4465-829E-2BD507B9B827}" type="presParOf" srcId="{B432BE63-4B9E-48C4-91DC-78A61F32F778}" destId="{EF72ED76-7C3A-4067-9160-635C35DE9200}" srcOrd="0" destOrd="0" presId="urn:microsoft.com/office/officeart/2005/8/layout/hierarchy6"/>
    <dgm:cxn modelId="{F9275866-60AC-46FE-96F6-8FAB95CA2272}" type="presParOf" srcId="{B432BE63-4B9E-48C4-91DC-78A61F32F778}" destId="{752E775D-EA96-4B2E-A1F0-19F0F78D6963}" srcOrd="1" destOrd="0" presId="urn:microsoft.com/office/officeart/2005/8/layout/hierarchy6"/>
    <dgm:cxn modelId="{7FDDEDE9-306A-4B36-8FD3-5CA924D5AC27}" type="presParOf" srcId="{30363E86-C75D-4D6C-803F-7BC46BE1F3D4}" destId="{719C759C-7F28-44AB-A7CB-A2F529EA8B25}" srcOrd="2" destOrd="0" presId="urn:microsoft.com/office/officeart/2005/8/layout/hierarchy6"/>
    <dgm:cxn modelId="{CB73E9A6-5ADC-4414-AA40-31000C6F4673}" type="presParOf" srcId="{30363E86-C75D-4D6C-803F-7BC46BE1F3D4}" destId="{AE4DAB31-EFF6-4850-802F-CEB1C29C49B5}" srcOrd="3" destOrd="0" presId="urn:microsoft.com/office/officeart/2005/8/layout/hierarchy6"/>
    <dgm:cxn modelId="{89777B62-DDD1-45A7-A59C-18C40A4F123B}" type="presParOf" srcId="{AE4DAB31-EFF6-4850-802F-CEB1C29C49B5}" destId="{4A5DA781-9EDD-4109-B0CD-FE3EF5B3EFD3}" srcOrd="0" destOrd="0" presId="urn:microsoft.com/office/officeart/2005/8/layout/hierarchy6"/>
    <dgm:cxn modelId="{FCD43406-3949-4890-8A1C-7FA552B24573}" type="presParOf" srcId="{AE4DAB31-EFF6-4850-802F-CEB1C29C49B5}" destId="{3C3BA98B-8F7E-45A4-895D-C68727657DA3}" srcOrd="1" destOrd="0" presId="urn:microsoft.com/office/officeart/2005/8/layout/hierarchy6"/>
    <dgm:cxn modelId="{1AED9328-68F1-4CE1-9CFC-A195ED75A67B}" type="presParOf" srcId="{4F0D2760-30CB-49CF-9D20-A9EE8F693E23}" destId="{A6D9ABDD-5A81-46FB-B2CE-119AF5310082}" srcOrd="2" destOrd="0" presId="urn:microsoft.com/office/officeart/2005/8/layout/hierarchy6"/>
    <dgm:cxn modelId="{FF82446A-B357-4FCA-BB6F-610BCBF47EF0}" type="presParOf" srcId="{4F0D2760-30CB-49CF-9D20-A9EE8F693E23}" destId="{699ECB3F-1097-4682-AB2A-20E9989F3C5C}" srcOrd="3" destOrd="0" presId="urn:microsoft.com/office/officeart/2005/8/layout/hierarchy6"/>
    <dgm:cxn modelId="{22591215-5143-49E4-A902-D6FECEC25EAD}" type="presParOf" srcId="{699ECB3F-1097-4682-AB2A-20E9989F3C5C}" destId="{C1DF3746-3AF5-4104-B672-3B07115607AD}" srcOrd="0" destOrd="0" presId="urn:microsoft.com/office/officeart/2005/8/layout/hierarchy6"/>
    <dgm:cxn modelId="{B9075824-1F08-4EA6-82FB-497C7FA9896D}" type="presParOf" srcId="{699ECB3F-1097-4682-AB2A-20E9989F3C5C}" destId="{F7765CB3-9607-48A5-ADD2-70133714F7BF}" srcOrd="1" destOrd="0" presId="urn:microsoft.com/office/officeart/2005/8/layout/hierarchy6"/>
    <dgm:cxn modelId="{F9E209ED-83A1-4004-AA31-E178F5119215}" type="presParOf" srcId="{DC74BCBA-9081-4641-93EF-2D7E7EB45B49}" destId="{054C5256-B922-42DA-8014-D3FB09A5CC40}" srcOrd="2" destOrd="0" presId="urn:microsoft.com/office/officeart/2005/8/layout/hierarchy6"/>
    <dgm:cxn modelId="{C55C3B51-412C-448B-A66C-A572C1D2AFF9}" type="presParOf" srcId="{DC74BCBA-9081-4641-93EF-2D7E7EB45B49}" destId="{CDF8FBBD-8CD0-43C5-836D-BEDB8F306033}" srcOrd="3" destOrd="0" presId="urn:microsoft.com/office/officeart/2005/8/layout/hierarchy6"/>
    <dgm:cxn modelId="{ACCEEA3E-7C43-4C99-AF9C-319C93ECED54}" type="presParOf" srcId="{CDF8FBBD-8CD0-43C5-836D-BEDB8F306033}" destId="{7DF4D8D8-FCCE-44A8-8D6E-1BEB51DE6C89}" srcOrd="0" destOrd="0" presId="urn:microsoft.com/office/officeart/2005/8/layout/hierarchy6"/>
    <dgm:cxn modelId="{37A5FADE-4ABE-49B4-863E-64537DC9347C}" type="presParOf" srcId="{CDF8FBBD-8CD0-43C5-836D-BEDB8F306033}" destId="{79150A07-1193-4224-8086-1136604551F6}" srcOrd="1" destOrd="0" presId="urn:microsoft.com/office/officeart/2005/8/layout/hierarchy6"/>
    <dgm:cxn modelId="{04550B10-FC4F-4002-9CA9-7EACF83994BE}" type="presParOf" srcId="{79150A07-1193-4224-8086-1136604551F6}" destId="{ADD8EFF3-8289-4923-AA8D-4F8F9EA3A82C}" srcOrd="0" destOrd="0" presId="urn:microsoft.com/office/officeart/2005/8/layout/hierarchy6"/>
    <dgm:cxn modelId="{B8E332FF-E604-4D2A-B93B-E19CFCABED90}" type="presParOf" srcId="{79150A07-1193-4224-8086-1136604551F6}" destId="{2A27763B-D23E-4A3B-A350-268D3535283D}" srcOrd="1" destOrd="0" presId="urn:microsoft.com/office/officeart/2005/8/layout/hierarchy6"/>
    <dgm:cxn modelId="{7A6AFFFE-688B-439C-A953-786C2A9D4441}" type="presParOf" srcId="{2A27763B-D23E-4A3B-A350-268D3535283D}" destId="{2BA2ED6F-083B-4557-BE6F-5179B0A00F11}" srcOrd="0" destOrd="0" presId="urn:microsoft.com/office/officeart/2005/8/layout/hierarchy6"/>
    <dgm:cxn modelId="{1BC9FD93-65D8-47C1-B56F-9B728631F8B7}" type="presParOf" srcId="{2A27763B-D23E-4A3B-A350-268D3535283D}" destId="{1FF1BACD-7B97-4617-B3AF-2419BD0F9A4B}" srcOrd="1" destOrd="0" presId="urn:microsoft.com/office/officeart/2005/8/layout/hierarchy6"/>
    <dgm:cxn modelId="{40333FB5-0FA0-408C-ABE0-D636684B9A41}" type="presParOf" srcId="{79150A07-1193-4224-8086-1136604551F6}" destId="{91F0E686-CB02-47C3-B132-64356D2CE30F}" srcOrd="2" destOrd="0" presId="urn:microsoft.com/office/officeart/2005/8/layout/hierarchy6"/>
    <dgm:cxn modelId="{0FF3F572-AD95-4FCF-89B4-BF2A79FA45EC}" type="presParOf" srcId="{79150A07-1193-4224-8086-1136604551F6}" destId="{83479C35-FD83-410B-A810-86FB4D9301BF}" srcOrd="3" destOrd="0" presId="urn:microsoft.com/office/officeart/2005/8/layout/hierarchy6"/>
    <dgm:cxn modelId="{1A4361B1-30E1-4096-849B-EAB089512263}" type="presParOf" srcId="{83479C35-FD83-410B-A810-86FB4D9301BF}" destId="{5C774FB7-832E-4D8C-8F29-1A2B3836EB18}" srcOrd="0" destOrd="0" presId="urn:microsoft.com/office/officeart/2005/8/layout/hierarchy6"/>
    <dgm:cxn modelId="{96324E84-80AF-4B14-B6BF-12374658C8CF}" type="presParOf" srcId="{83479C35-FD83-410B-A810-86FB4D9301BF}" destId="{2DCF2D00-83C5-42E3-BDBF-52296F9E6847}" srcOrd="1" destOrd="0" presId="urn:microsoft.com/office/officeart/2005/8/layout/hierarchy6"/>
    <dgm:cxn modelId="{71688E1A-3889-493F-9AF9-AD2424E6325E}" type="presParOf" srcId="{4ED4743E-9A64-4C83-BDC3-54F73277C10F}" destId="{09F31DD1-0886-4892-B0CB-AFF79BF3BDC1}"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21AEF2-A9BD-429E-9604-CD2DB75BA733}" type="doc">
      <dgm:prSet loTypeId="urn:microsoft.com/office/officeart/2005/8/layout/hierarchy6" loCatId="hierarchy" qsTypeId="urn:microsoft.com/office/officeart/2005/8/quickstyle/simple1" qsCatId="simple" csTypeId="urn:microsoft.com/office/officeart/2005/8/colors/colorful2" csCatId="colorful" phldr="1"/>
      <dgm:spPr/>
      <dgm:t>
        <a:bodyPr/>
        <a:lstStyle/>
        <a:p>
          <a:endParaRPr lang="en-IN"/>
        </a:p>
      </dgm:t>
    </dgm:pt>
    <dgm:pt modelId="{8821AF95-BA8E-459D-BA63-FB17FEC42465}">
      <dgm:prSet custT="1"/>
      <dgm:spPr/>
      <dgm:t>
        <a:bodyPr/>
        <a:lstStyle/>
        <a:p>
          <a:r>
            <a:rPr lang="en-IN" sz="2400" dirty="0"/>
            <a:t>Two different conditions need to be checked </a:t>
          </a:r>
        </a:p>
      </dgm:t>
    </dgm:pt>
    <dgm:pt modelId="{7EC06A1E-43D7-4094-8E3B-39A85B8B175F}" type="parTrans" cxnId="{6B6749BF-95FF-4D82-A32D-BE3A7C077439}">
      <dgm:prSet/>
      <dgm:spPr/>
      <dgm:t>
        <a:bodyPr/>
        <a:lstStyle/>
        <a:p>
          <a:endParaRPr lang="en-IN" sz="2400"/>
        </a:p>
      </dgm:t>
    </dgm:pt>
    <dgm:pt modelId="{1287B0F1-43A7-4677-89DF-7BD849403A49}" type="sibTrans" cxnId="{6B6749BF-95FF-4D82-A32D-BE3A7C077439}">
      <dgm:prSet/>
      <dgm:spPr/>
      <dgm:t>
        <a:bodyPr/>
        <a:lstStyle/>
        <a:p>
          <a:endParaRPr lang="en-IN" sz="2400"/>
        </a:p>
      </dgm:t>
    </dgm:pt>
    <dgm:pt modelId="{8641CC4D-13F3-4BCD-B2D7-04AA6577175E}">
      <dgm:prSet custT="1"/>
      <dgm:spPr/>
      <dgm:t>
        <a:bodyPr/>
        <a:lstStyle/>
        <a:p>
          <a:r>
            <a:rPr lang="en-IN" sz="2400" b="1" dirty="0"/>
            <a:t>Basic Condition</a:t>
          </a:r>
          <a:r>
            <a:rPr lang="en-IN" sz="2400" b="0" dirty="0"/>
            <a:t>: </a:t>
          </a:r>
        </a:p>
        <a:p>
          <a:r>
            <a:rPr lang="en-IN" sz="2400" dirty="0"/>
            <a:t>to determine if the individual is  </a:t>
          </a:r>
        </a:p>
      </dgm:t>
    </dgm:pt>
    <dgm:pt modelId="{645F5869-4CAC-4A0E-A893-AF48F05AD15D}" type="parTrans" cxnId="{5601AC00-04DB-43BD-ABBD-4F0D0AC3C7AD}">
      <dgm:prSet/>
      <dgm:spPr/>
      <dgm:t>
        <a:bodyPr/>
        <a:lstStyle/>
        <a:p>
          <a:endParaRPr lang="en-IN" sz="2400"/>
        </a:p>
      </dgm:t>
    </dgm:pt>
    <dgm:pt modelId="{F0DAB28A-05D2-4990-8D85-639F9BB2F18E}" type="sibTrans" cxnId="{5601AC00-04DB-43BD-ABBD-4F0D0AC3C7AD}">
      <dgm:prSet/>
      <dgm:spPr/>
      <dgm:t>
        <a:bodyPr/>
        <a:lstStyle/>
        <a:p>
          <a:endParaRPr lang="en-IN" sz="2400"/>
        </a:p>
      </dgm:t>
    </dgm:pt>
    <dgm:pt modelId="{B8CCF6CB-9460-42D8-A45F-2C61F5C9EA27}">
      <dgm:prSet custT="1"/>
      <dgm:spPr/>
      <dgm:t>
        <a:bodyPr/>
        <a:lstStyle/>
        <a:p>
          <a:r>
            <a:rPr lang="en-IN" sz="2400" dirty="0"/>
            <a:t>Resident of India </a:t>
          </a:r>
        </a:p>
      </dgm:t>
    </dgm:pt>
    <dgm:pt modelId="{F081E9CF-8B46-4ECE-B056-FBF3849BEF0F}" type="parTrans" cxnId="{D01DA5EF-5B98-4FE2-821D-C8E72D483558}">
      <dgm:prSet/>
      <dgm:spPr/>
      <dgm:t>
        <a:bodyPr/>
        <a:lstStyle/>
        <a:p>
          <a:endParaRPr lang="en-IN" sz="2400"/>
        </a:p>
      </dgm:t>
    </dgm:pt>
    <dgm:pt modelId="{DC55B387-5D62-46BA-AE4F-8D8C66B104ED}" type="sibTrans" cxnId="{D01DA5EF-5B98-4FE2-821D-C8E72D483558}">
      <dgm:prSet/>
      <dgm:spPr/>
      <dgm:t>
        <a:bodyPr/>
        <a:lstStyle/>
        <a:p>
          <a:endParaRPr lang="en-IN" sz="2400"/>
        </a:p>
      </dgm:t>
    </dgm:pt>
    <dgm:pt modelId="{71C7EB09-C082-4E9A-9074-9762A3E610E5}">
      <dgm:prSet custT="1"/>
      <dgm:spPr/>
      <dgm:t>
        <a:bodyPr/>
        <a:lstStyle/>
        <a:p>
          <a:r>
            <a:rPr lang="en-IN" sz="2400" dirty="0"/>
            <a:t>Non Resident of India</a:t>
          </a:r>
        </a:p>
      </dgm:t>
    </dgm:pt>
    <dgm:pt modelId="{57113F1E-02EC-4D53-9D0A-5EA7EA1F01A9}" type="parTrans" cxnId="{9B0F6B40-CC16-41A9-BC9C-0829D2F3CFB7}">
      <dgm:prSet/>
      <dgm:spPr/>
      <dgm:t>
        <a:bodyPr/>
        <a:lstStyle/>
        <a:p>
          <a:endParaRPr lang="en-IN" sz="2400"/>
        </a:p>
      </dgm:t>
    </dgm:pt>
    <dgm:pt modelId="{680375AD-F738-4D9D-85FF-EA8B73D4528C}" type="sibTrans" cxnId="{9B0F6B40-CC16-41A9-BC9C-0829D2F3CFB7}">
      <dgm:prSet/>
      <dgm:spPr/>
      <dgm:t>
        <a:bodyPr/>
        <a:lstStyle/>
        <a:p>
          <a:endParaRPr lang="en-IN" sz="2400"/>
        </a:p>
      </dgm:t>
    </dgm:pt>
    <dgm:pt modelId="{101A9EB5-7A5F-4514-81B7-E5D45BC51BE4}">
      <dgm:prSet custT="1"/>
      <dgm:spPr/>
      <dgm:t>
        <a:bodyPr/>
        <a:lstStyle/>
        <a:p>
          <a:r>
            <a:rPr lang="en-IN" sz="2400" b="1" dirty="0"/>
            <a:t>Additional Conditions</a:t>
          </a:r>
          <a:r>
            <a:rPr lang="en-IN" sz="2400" dirty="0"/>
            <a:t>:</a:t>
          </a:r>
        </a:p>
        <a:p>
          <a:r>
            <a:rPr lang="en-IN" sz="2400" dirty="0"/>
            <a:t>to determine if the individual is  </a:t>
          </a:r>
        </a:p>
      </dgm:t>
    </dgm:pt>
    <dgm:pt modelId="{F030DEA1-2FA9-4E69-96E7-F3DA32BF5878}" type="parTrans" cxnId="{C4783723-F339-4A2D-872B-C2FCFC71CA49}">
      <dgm:prSet/>
      <dgm:spPr/>
      <dgm:t>
        <a:bodyPr/>
        <a:lstStyle/>
        <a:p>
          <a:endParaRPr lang="en-IN" sz="2400"/>
        </a:p>
      </dgm:t>
    </dgm:pt>
    <dgm:pt modelId="{AE93F965-8087-4C0E-83B8-D03847DAEBF8}" type="sibTrans" cxnId="{C4783723-F339-4A2D-872B-C2FCFC71CA49}">
      <dgm:prSet/>
      <dgm:spPr/>
      <dgm:t>
        <a:bodyPr/>
        <a:lstStyle/>
        <a:p>
          <a:endParaRPr lang="en-IN" sz="2400"/>
        </a:p>
      </dgm:t>
    </dgm:pt>
    <dgm:pt modelId="{A67CE4C5-5B57-48D8-B58D-ADD622F1AF56}">
      <dgm:prSet custT="1"/>
      <dgm:spPr/>
      <dgm:t>
        <a:bodyPr/>
        <a:lstStyle/>
        <a:p>
          <a:r>
            <a:rPr lang="en-IN" sz="2400"/>
            <a:t>Resident and Ordinary Resident </a:t>
          </a:r>
          <a:r>
            <a:rPr lang="en-IN" sz="2400" b="0"/>
            <a:t>(ROR)</a:t>
          </a:r>
          <a:endParaRPr lang="en-IN" sz="2400" b="0" dirty="0"/>
        </a:p>
      </dgm:t>
    </dgm:pt>
    <dgm:pt modelId="{0B8859F9-E558-4E3A-9DD2-B8D12EDDBBCD}" type="parTrans" cxnId="{00F836E4-F00C-4E07-B6C0-D00D3722588C}">
      <dgm:prSet/>
      <dgm:spPr/>
      <dgm:t>
        <a:bodyPr/>
        <a:lstStyle/>
        <a:p>
          <a:endParaRPr lang="en-IN" sz="2400"/>
        </a:p>
      </dgm:t>
    </dgm:pt>
    <dgm:pt modelId="{AA565CEE-FE69-46A4-903D-D4EAF7A7527C}" type="sibTrans" cxnId="{00F836E4-F00C-4E07-B6C0-D00D3722588C}">
      <dgm:prSet/>
      <dgm:spPr/>
      <dgm:t>
        <a:bodyPr/>
        <a:lstStyle/>
        <a:p>
          <a:endParaRPr lang="en-IN" sz="2400"/>
        </a:p>
      </dgm:t>
    </dgm:pt>
    <dgm:pt modelId="{3DC7F481-305F-4A4D-B45F-51AD69417FE3}">
      <dgm:prSet custT="1"/>
      <dgm:spPr/>
      <dgm:t>
        <a:bodyPr/>
        <a:lstStyle/>
        <a:p>
          <a:r>
            <a:rPr lang="en-IN" sz="2400" dirty="0"/>
            <a:t>Resident but not Ordinary Resident (RNOR)</a:t>
          </a:r>
        </a:p>
      </dgm:t>
    </dgm:pt>
    <dgm:pt modelId="{F3F1ADF7-82A6-4949-BA17-DA2F8C000305}" type="parTrans" cxnId="{2729DEF8-0970-4904-AED5-A3DE67C414D5}">
      <dgm:prSet/>
      <dgm:spPr/>
      <dgm:t>
        <a:bodyPr/>
        <a:lstStyle/>
        <a:p>
          <a:endParaRPr lang="en-IN" sz="2400"/>
        </a:p>
      </dgm:t>
    </dgm:pt>
    <dgm:pt modelId="{11A4EF1B-0132-48EE-9689-C01278B3C02B}" type="sibTrans" cxnId="{2729DEF8-0970-4904-AED5-A3DE67C414D5}">
      <dgm:prSet/>
      <dgm:spPr/>
      <dgm:t>
        <a:bodyPr/>
        <a:lstStyle/>
        <a:p>
          <a:endParaRPr lang="en-IN" sz="2400"/>
        </a:p>
      </dgm:t>
    </dgm:pt>
    <dgm:pt modelId="{A40C7ACB-E2D8-4AD2-B67D-A42943DEAF38}" type="pres">
      <dgm:prSet presAssocID="{AF21AEF2-A9BD-429E-9604-CD2DB75BA733}" presName="mainComposite" presStyleCnt="0">
        <dgm:presLayoutVars>
          <dgm:chPref val="1"/>
          <dgm:dir/>
          <dgm:animOne val="branch"/>
          <dgm:animLvl val="lvl"/>
          <dgm:resizeHandles val="exact"/>
        </dgm:presLayoutVars>
      </dgm:prSet>
      <dgm:spPr/>
    </dgm:pt>
    <dgm:pt modelId="{F9FF167D-B20F-4935-8404-13EDE03FDEA5}" type="pres">
      <dgm:prSet presAssocID="{AF21AEF2-A9BD-429E-9604-CD2DB75BA733}" presName="hierFlow" presStyleCnt="0"/>
      <dgm:spPr/>
    </dgm:pt>
    <dgm:pt modelId="{3E5D3C41-CFA9-4CC3-9446-1C778E889D33}" type="pres">
      <dgm:prSet presAssocID="{AF21AEF2-A9BD-429E-9604-CD2DB75BA733}" presName="hierChild1" presStyleCnt="0">
        <dgm:presLayoutVars>
          <dgm:chPref val="1"/>
          <dgm:animOne val="branch"/>
          <dgm:animLvl val="lvl"/>
        </dgm:presLayoutVars>
      </dgm:prSet>
      <dgm:spPr/>
    </dgm:pt>
    <dgm:pt modelId="{6B019997-E490-4EB6-B05E-429011B78670}" type="pres">
      <dgm:prSet presAssocID="{8821AF95-BA8E-459D-BA63-FB17FEC42465}" presName="Name14" presStyleCnt="0"/>
      <dgm:spPr/>
    </dgm:pt>
    <dgm:pt modelId="{AE0D2DE3-AB66-4449-B037-0B52484D3464}" type="pres">
      <dgm:prSet presAssocID="{8821AF95-BA8E-459D-BA63-FB17FEC42465}" presName="level1Shape" presStyleLbl="node0" presStyleIdx="0" presStyleCnt="1">
        <dgm:presLayoutVars>
          <dgm:chPref val="3"/>
        </dgm:presLayoutVars>
      </dgm:prSet>
      <dgm:spPr/>
    </dgm:pt>
    <dgm:pt modelId="{58AEC6C0-B67C-45D4-90B7-9B035497E941}" type="pres">
      <dgm:prSet presAssocID="{8821AF95-BA8E-459D-BA63-FB17FEC42465}" presName="hierChild2" presStyleCnt="0"/>
      <dgm:spPr/>
    </dgm:pt>
    <dgm:pt modelId="{47DF7EC6-876B-42CF-8336-8F4A72AF203F}" type="pres">
      <dgm:prSet presAssocID="{645F5869-4CAC-4A0E-A893-AF48F05AD15D}" presName="Name19" presStyleLbl="parChTrans1D2" presStyleIdx="0" presStyleCnt="2"/>
      <dgm:spPr/>
    </dgm:pt>
    <dgm:pt modelId="{751C104E-AFE3-4965-904D-7ECAFCBDF271}" type="pres">
      <dgm:prSet presAssocID="{8641CC4D-13F3-4BCD-B2D7-04AA6577175E}" presName="Name21" presStyleCnt="0"/>
      <dgm:spPr/>
    </dgm:pt>
    <dgm:pt modelId="{214A8BE0-D20D-4A0C-A1B8-4030C6E56735}" type="pres">
      <dgm:prSet presAssocID="{8641CC4D-13F3-4BCD-B2D7-04AA6577175E}" presName="level2Shape" presStyleLbl="node2" presStyleIdx="0" presStyleCnt="2"/>
      <dgm:spPr/>
    </dgm:pt>
    <dgm:pt modelId="{E566D06B-72BF-4EE5-BFDF-E2A53B89A3E9}" type="pres">
      <dgm:prSet presAssocID="{8641CC4D-13F3-4BCD-B2D7-04AA6577175E}" presName="hierChild3" presStyleCnt="0"/>
      <dgm:spPr/>
    </dgm:pt>
    <dgm:pt modelId="{C16F07EE-650B-4B2B-B258-D106F791BFFA}" type="pres">
      <dgm:prSet presAssocID="{F081E9CF-8B46-4ECE-B056-FBF3849BEF0F}" presName="Name19" presStyleLbl="parChTrans1D3" presStyleIdx="0" presStyleCnt="4"/>
      <dgm:spPr/>
    </dgm:pt>
    <dgm:pt modelId="{EC7EB152-30CA-41E3-B679-B4BF1B483F58}" type="pres">
      <dgm:prSet presAssocID="{B8CCF6CB-9460-42D8-A45F-2C61F5C9EA27}" presName="Name21" presStyleCnt="0"/>
      <dgm:spPr/>
    </dgm:pt>
    <dgm:pt modelId="{3CC949C9-AF4D-49E6-AC3E-50D93A05AAF3}" type="pres">
      <dgm:prSet presAssocID="{B8CCF6CB-9460-42D8-A45F-2C61F5C9EA27}" presName="level2Shape" presStyleLbl="node3" presStyleIdx="0" presStyleCnt="4"/>
      <dgm:spPr/>
    </dgm:pt>
    <dgm:pt modelId="{0FD5E0E9-9228-464E-BC8C-7D633D4FED94}" type="pres">
      <dgm:prSet presAssocID="{B8CCF6CB-9460-42D8-A45F-2C61F5C9EA27}" presName="hierChild3" presStyleCnt="0"/>
      <dgm:spPr/>
    </dgm:pt>
    <dgm:pt modelId="{A9DBD3E8-2207-4B57-BC9C-E309666AABA2}" type="pres">
      <dgm:prSet presAssocID="{57113F1E-02EC-4D53-9D0A-5EA7EA1F01A9}" presName="Name19" presStyleLbl="parChTrans1D3" presStyleIdx="1" presStyleCnt="4"/>
      <dgm:spPr/>
    </dgm:pt>
    <dgm:pt modelId="{AC2DA8D3-D2D4-4897-838A-D354A0031BF3}" type="pres">
      <dgm:prSet presAssocID="{71C7EB09-C082-4E9A-9074-9762A3E610E5}" presName="Name21" presStyleCnt="0"/>
      <dgm:spPr/>
    </dgm:pt>
    <dgm:pt modelId="{62450B96-5570-4479-A12D-A3A8A04E06AA}" type="pres">
      <dgm:prSet presAssocID="{71C7EB09-C082-4E9A-9074-9762A3E610E5}" presName="level2Shape" presStyleLbl="node3" presStyleIdx="1" presStyleCnt="4"/>
      <dgm:spPr/>
    </dgm:pt>
    <dgm:pt modelId="{5C172667-8513-4837-87C5-49D1D9076C8D}" type="pres">
      <dgm:prSet presAssocID="{71C7EB09-C082-4E9A-9074-9762A3E610E5}" presName="hierChild3" presStyleCnt="0"/>
      <dgm:spPr/>
    </dgm:pt>
    <dgm:pt modelId="{0278DCAA-81FA-4C66-BD99-85A9A04C9C90}" type="pres">
      <dgm:prSet presAssocID="{F030DEA1-2FA9-4E69-96E7-F3DA32BF5878}" presName="Name19" presStyleLbl="parChTrans1D2" presStyleIdx="1" presStyleCnt="2"/>
      <dgm:spPr/>
    </dgm:pt>
    <dgm:pt modelId="{244EF185-460D-4A38-A9BB-7C26108098D7}" type="pres">
      <dgm:prSet presAssocID="{101A9EB5-7A5F-4514-81B7-E5D45BC51BE4}" presName="Name21" presStyleCnt="0"/>
      <dgm:spPr/>
    </dgm:pt>
    <dgm:pt modelId="{D36D722C-AAC9-4960-BC31-7BBE5F16A345}" type="pres">
      <dgm:prSet presAssocID="{101A9EB5-7A5F-4514-81B7-E5D45BC51BE4}" presName="level2Shape" presStyleLbl="node2" presStyleIdx="1" presStyleCnt="2"/>
      <dgm:spPr/>
    </dgm:pt>
    <dgm:pt modelId="{22642582-8B0D-4967-92B6-9BC2EEDFD945}" type="pres">
      <dgm:prSet presAssocID="{101A9EB5-7A5F-4514-81B7-E5D45BC51BE4}" presName="hierChild3" presStyleCnt="0"/>
      <dgm:spPr/>
    </dgm:pt>
    <dgm:pt modelId="{2BF3CE7D-9D00-4E96-87B9-0215A021C7A2}" type="pres">
      <dgm:prSet presAssocID="{0B8859F9-E558-4E3A-9DD2-B8D12EDDBBCD}" presName="Name19" presStyleLbl="parChTrans1D3" presStyleIdx="2" presStyleCnt="4"/>
      <dgm:spPr/>
    </dgm:pt>
    <dgm:pt modelId="{AD92EDC0-7BE6-4810-9262-450832B0A85D}" type="pres">
      <dgm:prSet presAssocID="{A67CE4C5-5B57-48D8-B58D-ADD622F1AF56}" presName="Name21" presStyleCnt="0"/>
      <dgm:spPr/>
    </dgm:pt>
    <dgm:pt modelId="{2355E9DF-BF42-47F8-B1F7-D2F6C7C073ED}" type="pres">
      <dgm:prSet presAssocID="{A67CE4C5-5B57-48D8-B58D-ADD622F1AF56}" presName="level2Shape" presStyleLbl="node3" presStyleIdx="2" presStyleCnt="4"/>
      <dgm:spPr/>
    </dgm:pt>
    <dgm:pt modelId="{E08B0FC1-D180-4B57-9593-82458DE5AEF8}" type="pres">
      <dgm:prSet presAssocID="{A67CE4C5-5B57-48D8-B58D-ADD622F1AF56}" presName="hierChild3" presStyleCnt="0"/>
      <dgm:spPr/>
    </dgm:pt>
    <dgm:pt modelId="{62AC6E0A-40E1-4CCF-8D4C-EFF0FC59CC1C}" type="pres">
      <dgm:prSet presAssocID="{F3F1ADF7-82A6-4949-BA17-DA2F8C000305}" presName="Name19" presStyleLbl="parChTrans1D3" presStyleIdx="3" presStyleCnt="4"/>
      <dgm:spPr/>
    </dgm:pt>
    <dgm:pt modelId="{CC33A8C8-451F-4063-AF12-2F45B27F1764}" type="pres">
      <dgm:prSet presAssocID="{3DC7F481-305F-4A4D-B45F-51AD69417FE3}" presName="Name21" presStyleCnt="0"/>
      <dgm:spPr/>
    </dgm:pt>
    <dgm:pt modelId="{FC529527-9F96-4627-B4CF-8084C3890873}" type="pres">
      <dgm:prSet presAssocID="{3DC7F481-305F-4A4D-B45F-51AD69417FE3}" presName="level2Shape" presStyleLbl="node3" presStyleIdx="3" presStyleCnt="4"/>
      <dgm:spPr/>
    </dgm:pt>
    <dgm:pt modelId="{09392800-81A1-48E2-95C2-88E525F7C81A}" type="pres">
      <dgm:prSet presAssocID="{3DC7F481-305F-4A4D-B45F-51AD69417FE3}" presName="hierChild3" presStyleCnt="0"/>
      <dgm:spPr/>
    </dgm:pt>
    <dgm:pt modelId="{F7F042CE-7D9C-4AEF-AFFE-FBABE785F5E8}" type="pres">
      <dgm:prSet presAssocID="{AF21AEF2-A9BD-429E-9604-CD2DB75BA733}" presName="bgShapesFlow" presStyleCnt="0"/>
      <dgm:spPr/>
    </dgm:pt>
  </dgm:ptLst>
  <dgm:cxnLst>
    <dgm:cxn modelId="{5601AC00-04DB-43BD-ABBD-4F0D0AC3C7AD}" srcId="{8821AF95-BA8E-459D-BA63-FB17FEC42465}" destId="{8641CC4D-13F3-4BCD-B2D7-04AA6577175E}" srcOrd="0" destOrd="0" parTransId="{645F5869-4CAC-4A0E-A893-AF48F05AD15D}" sibTransId="{F0DAB28A-05D2-4990-8D85-639F9BB2F18E}"/>
    <dgm:cxn modelId="{3D890B0A-1325-4BFB-8212-A04C282E3F62}" type="presOf" srcId="{F3F1ADF7-82A6-4949-BA17-DA2F8C000305}" destId="{62AC6E0A-40E1-4CCF-8D4C-EFF0FC59CC1C}" srcOrd="0" destOrd="0" presId="urn:microsoft.com/office/officeart/2005/8/layout/hierarchy6"/>
    <dgm:cxn modelId="{5C1C6918-5A6B-49A6-9A5A-A6BAFA4AEC6A}" type="presOf" srcId="{F081E9CF-8B46-4ECE-B056-FBF3849BEF0F}" destId="{C16F07EE-650B-4B2B-B258-D106F791BFFA}" srcOrd="0" destOrd="0" presId="urn:microsoft.com/office/officeart/2005/8/layout/hierarchy6"/>
    <dgm:cxn modelId="{C4783723-F339-4A2D-872B-C2FCFC71CA49}" srcId="{8821AF95-BA8E-459D-BA63-FB17FEC42465}" destId="{101A9EB5-7A5F-4514-81B7-E5D45BC51BE4}" srcOrd="1" destOrd="0" parTransId="{F030DEA1-2FA9-4E69-96E7-F3DA32BF5878}" sibTransId="{AE93F965-8087-4C0E-83B8-D03847DAEBF8}"/>
    <dgm:cxn modelId="{40ECAC3B-B2B4-4CEA-9D67-D6D8B89CD75F}" type="presOf" srcId="{645F5869-4CAC-4A0E-A893-AF48F05AD15D}" destId="{47DF7EC6-876B-42CF-8336-8F4A72AF203F}" srcOrd="0" destOrd="0" presId="urn:microsoft.com/office/officeart/2005/8/layout/hierarchy6"/>
    <dgm:cxn modelId="{9B0F6B40-CC16-41A9-BC9C-0829D2F3CFB7}" srcId="{8641CC4D-13F3-4BCD-B2D7-04AA6577175E}" destId="{71C7EB09-C082-4E9A-9074-9762A3E610E5}" srcOrd="1" destOrd="0" parTransId="{57113F1E-02EC-4D53-9D0A-5EA7EA1F01A9}" sibTransId="{680375AD-F738-4D9D-85FF-EA8B73D4528C}"/>
    <dgm:cxn modelId="{C85BF446-C9F7-49A1-997B-E49F7657D09C}" type="presOf" srcId="{8821AF95-BA8E-459D-BA63-FB17FEC42465}" destId="{AE0D2DE3-AB66-4449-B037-0B52484D3464}" srcOrd="0" destOrd="0" presId="urn:microsoft.com/office/officeart/2005/8/layout/hierarchy6"/>
    <dgm:cxn modelId="{2EC8E16F-C61F-4C63-A11B-FBE6D41B9F70}" type="presOf" srcId="{71C7EB09-C082-4E9A-9074-9762A3E610E5}" destId="{62450B96-5570-4479-A12D-A3A8A04E06AA}" srcOrd="0" destOrd="0" presId="urn:microsoft.com/office/officeart/2005/8/layout/hierarchy6"/>
    <dgm:cxn modelId="{E06D7882-9513-4862-B039-7CCD38B729FD}" type="presOf" srcId="{3DC7F481-305F-4A4D-B45F-51AD69417FE3}" destId="{FC529527-9F96-4627-B4CF-8084C3890873}" srcOrd="0" destOrd="0" presId="urn:microsoft.com/office/officeart/2005/8/layout/hierarchy6"/>
    <dgm:cxn modelId="{48BD7796-5025-42C6-9E8E-F4D764DA72D5}" type="presOf" srcId="{AF21AEF2-A9BD-429E-9604-CD2DB75BA733}" destId="{A40C7ACB-E2D8-4AD2-B67D-A42943DEAF38}" srcOrd="0" destOrd="0" presId="urn:microsoft.com/office/officeart/2005/8/layout/hierarchy6"/>
    <dgm:cxn modelId="{94E86BA6-0C95-4619-9DBA-B3E0FCE59398}" type="presOf" srcId="{8641CC4D-13F3-4BCD-B2D7-04AA6577175E}" destId="{214A8BE0-D20D-4A0C-A1B8-4030C6E56735}" srcOrd="0" destOrd="0" presId="urn:microsoft.com/office/officeart/2005/8/layout/hierarchy6"/>
    <dgm:cxn modelId="{F0D1ECBA-EFEB-4866-A3A5-AA71C737794C}" type="presOf" srcId="{A67CE4C5-5B57-48D8-B58D-ADD622F1AF56}" destId="{2355E9DF-BF42-47F8-B1F7-D2F6C7C073ED}" srcOrd="0" destOrd="0" presId="urn:microsoft.com/office/officeart/2005/8/layout/hierarchy6"/>
    <dgm:cxn modelId="{6B6749BF-95FF-4D82-A32D-BE3A7C077439}" srcId="{AF21AEF2-A9BD-429E-9604-CD2DB75BA733}" destId="{8821AF95-BA8E-459D-BA63-FB17FEC42465}" srcOrd="0" destOrd="0" parTransId="{7EC06A1E-43D7-4094-8E3B-39A85B8B175F}" sibTransId="{1287B0F1-43A7-4677-89DF-7BD849403A49}"/>
    <dgm:cxn modelId="{6AD3F7BF-D0F0-42DB-8AAF-843595AEDEFE}" type="presOf" srcId="{57113F1E-02EC-4D53-9D0A-5EA7EA1F01A9}" destId="{A9DBD3E8-2207-4B57-BC9C-E309666AABA2}" srcOrd="0" destOrd="0" presId="urn:microsoft.com/office/officeart/2005/8/layout/hierarchy6"/>
    <dgm:cxn modelId="{DC1B78CE-FD1D-4B91-819E-922B531EE429}" type="presOf" srcId="{101A9EB5-7A5F-4514-81B7-E5D45BC51BE4}" destId="{D36D722C-AAC9-4960-BC31-7BBE5F16A345}" srcOrd="0" destOrd="0" presId="urn:microsoft.com/office/officeart/2005/8/layout/hierarchy6"/>
    <dgm:cxn modelId="{00F836E4-F00C-4E07-B6C0-D00D3722588C}" srcId="{101A9EB5-7A5F-4514-81B7-E5D45BC51BE4}" destId="{A67CE4C5-5B57-48D8-B58D-ADD622F1AF56}" srcOrd="0" destOrd="0" parTransId="{0B8859F9-E558-4E3A-9DD2-B8D12EDDBBCD}" sibTransId="{AA565CEE-FE69-46A4-903D-D4EAF7A7527C}"/>
    <dgm:cxn modelId="{11E69BE4-23F0-46B9-BD28-B16ED66DD902}" type="presOf" srcId="{0B8859F9-E558-4E3A-9DD2-B8D12EDDBBCD}" destId="{2BF3CE7D-9D00-4E96-87B9-0215A021C7A2}" srcOrd="0" destOrd="0" presId="urn:microsoft.com/office/officeart/2005/8/layout/hierarchy6"/>
    <dgm:cxn modelId="{D01DA5EF-5B98-4FE2-821D-C8E72D483558}" srcId="{8641CC4D-13F3-4BCD-B2D7-04AA6577175E}" destId="{B8CCF6CB-9460-42D8-A45F-2C61F5C9EA27}" srcOrd="0" destOrd="0" parTransId="{F081E9CF-8B46-4ECE-B056-FBF3849BEF0F}" sibTransId="{DC55B387-5D62-46BA-AE4F-8D8C66B104ED}"/>
    <dgm:cxn modelId="{2729DEF8-0970-4904-AED5-A3DE67C414D5}" srcId="{101A9EB5-7A5F-4514-81B7-E5D45BC51BE4}" destId="{3DC7F481-305F-4A4D-B45F-51AD69417FE3}" srcOrd="1" destOrd="0" parTransId="{F3F1ADF7-82A6-4949-BA17-DA2F8C000305}" sibTransId="{11A4EF1B-0132-48EE-9689-C01278B3C02B}"/>
    <dgm:cxn modelId="{F7A9BDFC-2EC7-4AA1-9277-3DBF5DCE4F36}" type="presOf" srcId="{F030DEA1-2FA9-4E69-96E7-F3DA32BF5878}" destId="{0278DCAA-81FA-4C66-BD99-85A9A04C9C90}" srcOrd="0" destOrd="0" presId="urn:microsoft.com/office/officeart/2005/8/layout/hierarchy6"/>
    <dgm:cxn modelId="{50519BFD-2CCE-4747-A52E-656797057E8C}" type="presOf" srcId="{B8CCF6CB-9460-42D8-A45F-2C61F5C9EA27}" destId="{3CC949C9-AF4D-49E6-AC3E-50D93A05AAF3}" srcOrd="0" destOrd="0" presId="urn:microsoft.com/office/officeart/2005/8/layout/hierarchy6"/>
    <dgm:cxn modelId="{BBA33478-B436-445F-A449-092084D3A373}" type="presParOf" srcId="{A40C7ACB-E2D8-4AD2-B67D-A42943DEAF38}" destId="{F9FF167D-B20F-4935-8404-13EDE03FDEA5}" srcOrd="0" destOrd="0" presId="urn:microsoft.com/office/officeart/2005/8/layout/hierarchy6"/>
    <dgm:cxn modelId="{7FC070AF-2CF8-430E-8E1E-4BA074F91CA7}" type="presParOf" srcId="{F9FF167D-B20F-4935-8404-13EDE03FDEA5}" destId="{3E5D3C41-CFA9-4CC3-9446-1C778E889D33}" srcOrd="0" destOrd="0" presId="urn:microsoft.com/office/officeart/2005/8/layout/hierarchy6"/>
    <dgm:cxn modelId="{417C3587-5E69-4C4E-8B4A-0CC036A43299}" type="presParOf" srcId="{3E5D3C41-CFA9-4CC3-9446-1C778E889D33}" destId="{6B019997-E490-4EB6-B05E-429011B78670}" srcOrd="0" destOrd="0" presId="urn:microsoft.com/office/officeart/2005/8/layout/hierarchy6"/>
    <dgm:cxn modelId="{47508EFE-1601-460E-BB3D-5B812EC5DC5C}" type="presParOf" srcId="{6B019997-E490-4EB6-B05E-429011B78670}" destId="{AE0D2DE3-AB66-4449-B037-0B52484D3464}" srcOrd="0" destOrd="0" presId="urn:microsoft.com/office/officeart/2005/8/layout/hierarchy6"/>
    <dgm:cxn modelId="{533D1AC7-68EB-4966-8A7D-3D5415C3CEDF}" type="presParOf" srcId="{6B019997-E490-4EB6-B05E-429011B78670}" destId="{58AEC6C0-B67C-45D4-90B7-9B035497E941}" srcOrd="1" destOrd="0" presId="urn:microsoft.com/office/officeart/2005/8/layout/hierarchy6"/>
    <dgm:cxn modelId="{6E69D33E-2233-42BB-B962-4CBDF27CFBE1}" type="presParOf" srcId="{58AEC6C0-B67C-45D4-90B7-9B035497E941}" destId="{47DF7EC6-876B-42CF-8336-8F4A72AF203F}" srcOrd="0" destOrd="0" presId="urn:microsoft.com/office/officeart/2005/8/layout/hierarchy6"/>
    <dgm:cxn modelId="{CB6E958F-4AD2-410E-9B20-BAB0EA96A475}" type="presParOf" srcId="{58AEC6C0-B67C-45D4-90B7-9B035497E941}" destId="{751C104E-AFE3-4965-904D-7ECAFCBDF271}" srcOrd="1" destOrd="0" presId="urn:microsoft.com/office/officeart/2005/8/layout/hierarchy6"/>
    <dgm:cxn modelId="{76A434A8-47AF-475D-BCE7-FD99A4DBCC17}" type="presParOf" srcId="{751C104E-AFE3-4965-904D-7ECAFCBDF271}" destId="{214A8BE0-D20D-4A0C-A1B8-4030C6E56735}" srcOrd="0" destOrd="0" presId="urn:microsoft.com/office/officeart/2005/8/layout/hierarchy6"/>
    <dgm:cxn modelId="{476CE163-C258-4A88-9F86-9AD94C8343E5}" type="presParOf" srcId="{751C104E-AFE3-4965-904D-7ECAFCBDF271}" destId="{E566D06B-72BF-4EE5-BFDF-E2A53B89A3E9}" srcOrd="1" destOrd="0" presId="urn:microsoft.com/office/officeart/2005/8/layout/hierarchy6"/>
    <dgm:cxn modelId="{D7173AA9-AC58-4F1B-82C8-51BEC3CD44DC}" type="presParOf" srcId="{E566D06B-72BF-4EE5-BFDF-E2A53B89A3E9}" destId="{C16F07EE-650B-4B2B-B258-D106F791BFFA}" srcOrd="0" destOrd="0" presId="urn:microsoft.com/office/officeart/2005/8/layout/hierarchy6"/>
    <dgm:cxn modelId="{017649CE-43BC-4E93-A543-73F4E931ACBE}" type="presParOf" srcId="{E566D06B-72BF-4EE5-BFDF-E2A53B89A3E9}" destId="{EC7EB152-30CA-41E3-B679-B4BF1B483F58}" srcOrd="1" destOrd="0" presId="urn:microsoft.com/office/officeart/2005/8/layout/hierarchy6"/>
    <dgm:cxn modelId="{20136500-4943-4075-BE42-A70189F475E4}" type="presParOf" srcId="{EC7EB152-30CA-41E3-B679-B4BF1B483F58}" destId="{3CC949C9-AF4D-49E6-AC3E-50D93A05AAF3}" srcOrd="0" destOrd="0" presId="urn:microsoft.com/office/officeart/2005/8/layout/hierarchy6"/>
    <dgm:cxn modelId="{1506E3D7-AF43-4C60-8E8A-FC710C8F2232}" type="presParOf" srcId="{EC7EB152-30CA-41E3-B679-B4BF1B483F58}" destId="{0FD5E0E9-9228-464E-BC8C-7D633D4FED94}" srcOrd="1" destOrd="0" presId="urn:microsoft.com/office/officeart/2005/8/layout/hierarchy6"/>
    <dgm:cxn modelId="{F9CBDBED-A924-432A-A57E-F1F17C405D11}" type="presParOf" srcId="{E566D06B-72BF-4EE5-BFDF-E2A53B89A3E9}" destId="{A9DBD3E8-2207-4B57-BC9C-E309666AABA2}" srcOrd="2" destOrd="0" presId="urn:microsoft.com/office/officeart/2005/8/layout/hierarchy6"/>
    <dgm:cxn modelId="{E3E33A5B-24E7-4250-AFE6-C81BFC11CA89}" type="presParOf" srcId="{E566D06B-72BF-4EE5-BFDF-E2A53B89A3E9}" destId="{AC2DA8D3-D2D4-4897-838A-D354A0031BF3}" srcOrd="3" destOrd="0" presId="urn:microsoft.com/office/officeart/2005/8/layout/hierarchy6"/>
    <dgm:cxn modelId="{B2971F2A-40EC-4167-8FE4-8D4C9E6E2DDE}" type="presParOf" srcId="{AC2DA8D3-D2D4-4897-838A-D354A0031BF3}" destId="{62450B96-5570-4479-A12D-A3A8A04E06AA}" srcOrd="0" destOrd="0" presId="urn:microsoft.com/office/officeart/2005/8/layout/hierarchy6"/>
    <dgm:cxn modelId="{568F77A6-8311-4330-B018-6A9F933F4DD4}" type="presParOf" srcId="{AC2DA8D3-D2D4-4897-838A-D354A0031BF3}" destId="{5C172667-8513-4837-87C5-49D1D9076C8D}" srcOrd="1" destOrd="0" presId="urn:microsoft.com/office/officeart/2005/8/layout/hierarchy6"/>
    <dgm:cxn modelId="{759E74C8-4CD9-4311-95B2-ABED0DAABD3D}" type="presParOf" srcId="{58AEC6C0-B67C-45D4-90B7-9B035497E941}" destId="{0278DCAA-81FA-4C66-BD99-85A9A04C9C90}" srcOrd="2" destOrd="0" presId="urn:microsoft.com/office/officeart/2005/8/layout/hierarchy6"/>
    <dgm:cxn modelId="{13C943B3-59D5-4CEF-A417-673EA40F84C5}" type="presParOf" srcId="{58AEC6C0-B67C-45D4-90B7-9B035497E941}" destId="{244EF185-460D-4A38-A9BB-7C26108098D7}" srcOrd="3" destOrd="0" presId="urn:microsoft.com/office/officeart/2005/8/layout/hierarchy6"/>
    <dgm:cxn modelId="{0BD8B030-7054-4144-842F-B50B26A32BCF}" type="presParOf" srcId="{244EF185-460D-4A38-A9BB-7C26108098D7}" destId="{D36D722C-AAC9-4960-BC31-7BBE5F16A345}" srcOrd="0" destOrd="0" presId="urn:microsoft.com/office/officeart/2005/8/layout/hierarchy6"/>
    <dgm:cxn modelId="{D2C0F4B3-8681-4968-8155-19D835DB58DE}" type="presParOf" srcId="{244EF185-460D-4A38-A9BB-7C26108098D7}" destId="{22642582-8B0D-4967-92B6-9BC2EEDFD945}" srcOrd="1" destOrd="0" presId="urn:microsoft.com/office/officeart/2005/8/layout/hierarchy6"/>
    <dgm:cxn modelId="{9BAAAF71-8235-40D4-8CFE-0A511F8D59E5}" type="presParOf" srcId="{22642582-8B0D-4967-92B6-9BC2EEDFD945}" destId="{2BF3CE7D-9D00-4E96-87B9-0215A021C7A2}" srcOrd="0" destOrd="0" presId="urn:microsoft.com/office/officeart/2005/8/layout/hierarchy6"/>
    <dgm:cxn modelId="{186388FF-F470-44C5-BC0B-4B647A323159}" type="presParOf" srcId="{22642582-8B0D-4967-92B6-9BC2EEDFD945}" destId="{AD92EDC0-7BE6-4810-9262-450832B0A85D}" srcOrd="1" destOrd="0" presId="urn:microsoft.com/office/officeart/2005/8/layout/hierarchy6"/>
    <dgm:cxn modelId="{2E07DD38-C744-4D0F-8035-75CF0109ED31}" type="presParOf" srcId="{AD92EDC0-7BE6-4810-9262-450832B0A85D}" destId="{2355E9DF-BF42-47F8-B1F7-D2F6C7C073ED}" srcOrd="0" destOrd="0" presId="urn:microsoft.com/office/officeart/2005/8/layout/hierarchy6"/>
    <dgm:cxn modelId="{44155E05-C90B-4188-A9B5-CDF8E37DA648}" type="presParOf" srcId="{AD92EDC0-7BE6-4810-9262-450832B0A85D}" destId="{E08B0FC1-D180-4B57-9593-82458DE5AEF8}" srcOrd="1" destOrd="0" presId="urn:microsoft.com/office/officeart/2005/8/layout/hierarchy6"/>
    <dgm:cxn modelId="{CA296905-1181-4EB1-95D5-0F31668BBC30}" type="presParOf" srcId="{22642582-8B0D-4967-92B6-9BC2EEDFD945}" destId="{62AC6E0A-40E1-4CCF-8D4C-EFF0FC59CC1C}" srcOrd="2" destOrd="0" presId="urn:microsoft.com/office/officeart/2005/8/layout/hierarchy6"/>
    <dgm:cxn modelId="{DA222074-9343-4360-9C1B-02D9A3A3AB26}" type="presParOf" srcId="{22642582-8B0D-4967-92B6-9BC2EEDFD945}" destId="{CC33A8C8-451F-4063-AF12-2F45B27F1764}" srcOrd="3" destOrd="0" presId="urn:microsoft.com/office/officeart/2005/8/layout/hierarchy6"/>
    <dgm:cxn modelId="{CFA557C5-7648-4E04-BFDD-053372EF31D2}" type="presParOf" srcId="{CC33A8C8-451F-4063-AF12-2F45B27F1764}" destId="{FC529527-9F96-4627-B4CF-8084C3890873}" srcOrd="0" destOrd="0" presId="urn:microsoft.com/office/officeart/2005/8/layout/hierarchy6"/>
    <dgm:cxn modelId="{F141C126-2951-4342-8D87-7B0C68A12D3A}" type="presParOf" srcId="{CC33A8C8-451F-4063-AF12-2F45B27F1764}" destId="{09392800-81A1-48E2-95C2-88E525F7C81A}" srcOrd="1" destOrd="0" presId="urn:microsoft.com/office/officeart/2005/8/layout/hierarchy6"/>
    <dgm:cxn modelId="{2C64023B-9094-42C2-BEC7-3B88E8DC9614}" type="presParOf" srcId="{A40C7ACB-E2D8-4AD2-B67D-A42943DEAF38}" destId="{F7F042CE-7D9C-4AEF-AFFE-FBABE785F5E8}"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04648A3-F4A9-4C0C-B728-4F1B0CC68DED}" type="doc">
      <dgm:prSet loTypeId="urn:microsoft.com/office/officeart/2009/3/layout/HorizontalOrganizationChart" loCatId="hierarchy" qsTypeId="urn:microsoft.com/office/officeart/2005/8/quickstyle/simple1" qsCatId="simple" csTypeId="urn:microsoft.com/office/officeart/2005/8/colors/accent0_2" csCatId="mainScheme" phldr="1"/>
      <dgm:spPr/>
      <dgm:t>
        <a:bodyPr/>
        <a:lstStyle/>
        <a:p>
          <a:endParaRPr lang="en-IN"/>
        </a:p>
      </dgm:t>
    </dgm:pt>
    <dgm:pt modelId="{9941EE7F-9CA1-4E05-8C4E-42C0D573394C}">
      <dgm:prSet phldrT="[Text]" custT="1"/>
      <dgm:spPr/>
      <dgm:t>
        <a:bodyPr/>
        <a:lstStyle/>
        <a:p>
          <a:pPr algn="ctr"/>
          <a:r>
            <a:rPr lang="en-US" sz="3200" b="1" dirty="0"/>
            <a:t>Residential Status</a:t>
          </a:r>
          <a:endParaRPr lang="en-IN" sz="3200" b="1" dirty="0"/>
        </a:p>
      </dgm:t>
    </dgm:pt>
    <dgm:pt modelId="{3DA8B99A-8E90-4E7E-BA5F-38BBD0D8FD2B}" type="parTrans" cxnId="{26AF0332-F358-4A32-9855-528A5CB981FA}">
      <dgm:prSet/>
      <dgm:spPr/>
      <dgm:t>
        <a:bodyPr/>
        <a:lstStyle/>
        <a:p>
          <a:endParaRPr lang="en-IN"/>
        </a:p>
      </dgm:t>
    </dgm:pt>
    <dgm:pt modelId="{C2FFD56F-7D33-4A7A-B3D2-7EF1EEBE3BB9}" type="sibTrans" cxnId="{26AF0332-F358-4A32-9855-528A5CB981FA}">
      <dgm:prSet/>
      <dgm:spPr/>
      <dgm:t>
        <a:bodyPr/>
        <a:lstStyle/>
        <a:p>
          <a:endParaRPr lang="en-US"/>
        </a:p>
      </dgm:t>
    </dgm:pt>
    <dgm:pt modelId="{67A30BA6-A5D7-4522-9ADE-23473645F3D1}">
      <dgm:prSet phldrT="[Text]" custT="1"/>
      <dgm:spPr/>
      <dgm:t>
        <a:bodyPr/>
        <a:lstStyle/>
        <a:p>
          <a:r>
            <a:rPr lang="en-US" sz="2800" b="1" dirty="0"/>
            <a:t>Basic Conditions</a:t>
          </a:r>
          <a:endParaRPr lang="en-IN" sz="2800" b="1" dirty="0"/>
        </a:p>
      </dgm:t>
    </dgm:pt>
    <dgm:pt modelId="{E5C18B3A-2229-4274-AA40-0902759236CD}" type="parTrans" cxnId="{36FD0C9D-9111-4C2F-B46C-460D2A466C1C}">
      <dgm:prSet/>
      <dgm:spPr/>
      <dgm:t>
        <a:bodyPr/>
        <a:lstStyle/>
        <a:p>
          <a:endParaRPr lang="en-IN"/>
        </a:p>
      </dgm:t>
    </dgm:pt>
    <dgm:pt modelId="{FD0CD65B-E5A4-4E71-BEF1-1A64FD21EB05}" type="sibTrans" cxnId="{36FD0C9D-9111-4C2F-B46C-460D2A466C1C}">
      <dgm:prSet custT="1"/>
      <dgm:spPr/>
      <dgm:t>
        <a:bodyPr/>
        <a:lstStyle/>
        <a:p>
          <a:endParaRPr lang="en-US"/>
        </a:p>
      </dgm:t>
    </dgm:pt>
    <dgm:pt modelId="{19BC576F-8DD5-499B-A7CB-94118D952860}">
      <dgm:prSet phldrT="[Text]" custT="1"/>
      <dgm:spPr/>
      <dgm:t>
        <a:bodyPr/>
        <a:lstStyle/>
        <a:p>
          <a:r>
            <a:rPr lang="en-US" sz="2400" b="0" dirty="0"/>
            <a:t>182 days or more during PY </a:t>
          </a:r>
          <a:endParaRPr lang="en-IN" sz="2400" b="0" dirty="0"/>
        </a:p>
      </dgm:t>
    </dgm:pt>
    <dgm:pt modelId="{60C1B01C-4698-488A-A23F-D4797030CD62}" type="parTrans" cxnId="{AE90B899-C658-4157-B563-570B722EB56F}">
      <dgm:prSet/>
      <dgm:spPr/>
      <dgm:t>
        <a:bodyPr/>
        <a:lstStyle/>
        <a:p>
          <a:endParaRPr lang="en-IN"/>
        </a:p>
      </dgm:t>
    </dgm:pt>
    <dgm:pt modelId="{B5BDF609-E012-4294-B099-934536266A7E}" type="sibTrans" cxnId="{AE90B899-C658-4157-B563-570B722EB56F}">
      <dgm:prSet custT="1"/>
      <dgm:spPr/>
      <dgm:t>
        <a:bodyPr/>
        <a:lstStyle/>
        <a:p>
          <a:endParaRPr lang="en-US"/>
        </a:p>
      </dgm:t>
    </dgm:pt>
    <dgm:pt modelId="{432A137E-16DB-4CEC-A7DD-6A5AF6CA58DE}">
      <dgm:prSet phldrT="[Text]" custT="1"/>
      <dgm:spPr/>
      <dgm:t>
        <a:bodyPr/>
        <a:lstStyle/>
        <a:p>
          <a:pPr algn="ctr">
            <a:lnSpc>
              <a:spcPct val="100000"/>
            </a:lnSpc>
            <a:spcAft>
              <a:spcPts val="0"/>
            </a:spcAft>
          </a:pPr>
          <a:r>
            <a:rPr lang="en-US" sz="2400" b="0" dirty="0"/>
            <a:t>60 Days or more in PY </a:t>
          </a:r>
          <a:r>
            <a:rPr lang="en-US" sz="2400" b="1" dirty="0"/>
            <a:t>&amp;</a:t>
          </a:r>
          <a:r>
            <a:rPr lang="en-US" sz="2400" b="0" dirty="0"/>
            <a:t> 365 days or more in 4 Years (Preceding PY)</a:t>
          </a:r>
          <a:endParaRPr lang="en-IN" sz="2400" b="0" dirty="0"/>
        </a:p>
      </dgm:t>
    </dgm:pt>
    <dgm:pt modelId="{0A634224-6511-4C39-B690-EAEF048B2278}" type="parTrans" cxnId="{FDA3D84E-4DB5-4B24-8DEE-9640D54186F7}">
      <dgm:prSet/>
      <dgm:spPr/>
      <dgm:t>
        <a:bodyPr/>
        <a:lstStyle/>
        <a:p>
          <a:endParaRPr lang="en-IN"/>
        </a:p>
      </dgm:t>
    </dgm:pt>
    <dgm:pt modelId="{03D0680B-6C9D-4B67-9888-4D612F631B7B}" type="sibTrans" cxnId="{FDA3D84E-4DB5-4B24-8DEE-9640D54186F7}">
      <dgm:prSet custT="1"/>
      <dgm:spPr/>
      <dgm:t>
        <a:bodyPr/>
        <a:lstStyle/>
        <a:p>
          <a:endParaRPr lang="en-US"/>
        </a:p>
      </dgm:t>
    </dgm:pt>
    <dgm:pt modelId="{9BD72D01-5E7B-49A9-B1BD-BC51B9525AC8}" type="pres">
      <dgm:prSet presAssocID="{704648A3-F4A9-4C0C-B728-4F1B0CC68DED}" presName="hierChild1" presStyleCnt="0">
        <dgm:presLayoutVars>
          <dgm:orgChart val="1"/>
          <dgm:chPref val="1"/>
          <dgm:dir/>
          <dgm:animOne val="branch"/>
          <dgm:animLvl val="lvl"/>
          <dgm:resizeHandles/>
        </dgm:presLayoutVars>
      </dgm:prSet>
      <dgm:spPr/>
    </dgm:pt>
    <dgm:pt modelId="{D284E5A8-DEB6-4792-8C71-AE35A2DB51FB}" type="pres">
      <dgm:prSet presAssocID="{9941EE7F-9CA1-4E05-8C4E-42C0D573394C}" presName="hierRoot1" presStyleCnt="0">
        <dgm:presLayoutVars>
          <dgm:hierBranch val="init"/>
        </dgm:presLayoutVars>
      </dgm:prSet>
      <dgm:spPr/>
    </dgm:pt>
    <dgm:pt modelId="{ED7EC3BC-F662-4351-869C-9B412246E849}" type="pres">
      <dgm:prSet presAssocID="{9941EE7F-9CA1-4E05-8C4E-42C0D573394C}" presName="rootComposite1" presStyleCnt="0"/>
      <dgm:spPr/>
    </dgm:pt>
    <dgm:pt modelId="{B65AB761-1AFE-4591-9F95-10E8615186C9}" type="pres">
      <dgm:prSet presAssocID="{9941EE7F-9CA1-4E05-8C4E-42C0D573394C}" presName="rootText1" presStyleLbl="node0" presStyleIdx="0" presStyleCnt="1">
        <dgm:presLayoutVars>
          <dgm:chPref val="3"/>
        </dgm:presLayoutVars>
      </dgm:prSet>
      <dgm:spPr/>
    </dgm:pt>
    <dgm:pt modelId="{7FF55818-2CB8-436B-BE6A-6A63D1745B8C}" type="pres">
      <dgm:prSet presAssocID="{9941EE7F-9CA1-4E05-8C4E-42C0D573394C}" presName="rootConnector1" presStyleLbl="node1" presStyleIdx="0" presStyleCnt="0"/>
      <dgm:spPr/>
    </dgm:pt>
    <dgm:pt modelId="{12AAC3BE-CE6B-4118-9642-70D5B64A50EC}" type="pres">
      <dgm:prSet presAssocID="{9941EE7F-9CA1-4E05-8C4E-42C0D573394C}" presName="hierChild2" presStyleCnt="0"/>
      <dgm:spPr/>
    </dgm:pt>
    <dgm:pt modelId="{537487B3-AF42-46A4-88F1-6C874F2CD8BD}" type="pres">
      <dgm:prSet presAssocID="{E5C18B3A-2229-4274-AA40-0902759236CD}" presName="Name64" presStyleLbl="parChTrans1D2" presStyleIdx="0" presStyleCnt="1"/>
      <dgm:spPr/>
    </dgm:pt>
    <dgm:pt modelId="{D9AAD440-B35E-4012-9691-170C29C5242A}" type="pres">
      <dgm:prSet presAssocID="{67A30BA6-A5D7-4522-9ADE-23473645F3D1}" presName="hierRoot2" presStyleCnt="0">
        <dgm:presLayoutVars>
          <dgm:hierBranch val="init"/>
        </dgm:presLayoutVars>
      </dgm:prSet>
      <dgm:spPr/>
    </dgm:pt>
    <dgm:pt modelId="{73917274-BD09-4030-9509-6CE95EAD5828}" type="pres">
      <dgm:prSet presAssocID="{67A30BA6-A5D7-4522-9ADE-23473645F3D1}" presName="rootComposite" presStyleCnt="0"/>
      <dgm:spPr/>
    </dgm:pt>
    <dgm:pt modelId="{C10AB882-B05A-4140-8CD1-17D3FABF0B02}" type="pres">
      <dgm:prSet presAssocID="{67A30BA6-A5D7-4522-9ADE-23473645F3D1}" presName="rootText" presStyleLbl="node2" presStyleIdx="0" presStyleCnt="1">
        <dgm:presLayoutVars>
          <dgm:chPref val="3"/>
        </dgm:presLayoutVars>
      </dgm:prSet>
      <dgm:spPr/>
    </dgm:pt>
    <dgm:pt modelId="{C05E2EE8-8D5A-488F-BD99-91307E227DE6}" type="pres">
      <dgm:prSet presAssocID="{67A30BA6-A5D7-4522-9ADE-23473645F3D1}" presName="rootConnector" presStyleLbl="node2" presStyleIdx="0" presStyleCnt="1"/>
      <dgm:spPr/>
    </dgm:pt>
    <dgm:pt modelId="{4BCDDF36-14E6-45B4-BE39-B636AAD4C3CA}" type="pres">
      <dgm:prSet presAssocID="{67A30BA6-A5D7-4522-9ADE-23473645F3D1}" presName="hierChild4" presStyleCnt="0"/>
      <dgm:spPr/>
    </dgm:pt>
    <dgm:pt modelId="{213D692C-87B4-40C1-AA31-20B780250021}" type="pres">
      <dgm:prSet presAssocID="{60C1B01C-4698-488A-A23F-D4797030CD62}" presName="Name64" presStyleLbl="parChTrans1D3" presStyleIdx="0" presStyleCnt="2"/>
      <dgm:spPr/>
    </dgm:pt>
    <dgm:pt modelId="{2037697F-D2DF-4367-B4E8-7BEC77F265E0}" type="pres">
      <dgm:prSet presAssocID="{19BC576F-8DD5-499B-A7CB-94118D952860}" presName="hierRoot2" presStyleCnt="0">
        <dgm:presLayoutVars>
          <dgm:hierBranch val="init"/>
        </dgm:presLayoutVars>
      </dgm:prSet>
      <dgm:spPr/>
    </dgm:pt>
    <dgm:pt modelId="{8C3C0120-408E-4182-9CF4-8DA34B3BFB89}" type="pres">
      <dgm:prSet presAssocID="{19BC576F-8DD5-499B-A7CB-94118D952860}" presName="rootComposite" presStyleCnt="0"/>
      <dgm:spPr/>
    </dgm:pt>
    <dgm:pt modelId="{A02ECE55-574D-430D-A5BA-BD21697D8081}" type="pres">
      <dgm:prSet presAssocID="{19BC576F-8DD5-499B-A7CB-94118D952860}" presName="rootText" presStyleLbl="node3" presStyleIdx="0" presStyleCnt="2">
        <dgm:presLayoutVars>
          <dgm:chPref val="3"/>
        </dgm:presLayoutVars>
      </dgm:prSet>
      <dgm:spPr/>
    </dgm:pt>
    <dgm:pt modelId="{BD0DABF7-2470-40CB-91D9-D89AC953F8AA}" type="pres">
      <dgm:prSet presAssocID="{19BC576F-8DD5-499B-A7CB-94118D952860}" presName="rootConnector" presStyleLbl="node3" presStyleIdx="0" presStyleCnt="2"/>
      <dgm:spPr/>
    </dgm:pt>
    <dgm:pt modelId="{DB422923-DBB6-47C0-B8E6-0C9E402B1F55}" type="pres">
      <dgm:prSet presAssocID="{19BC576F-8DD5-499B-A7CB-94118D952860}" presName="hierChild4" presStyleCnt="0"/>
      <dgm:spPr/>
    </dgm:pt>
    <dgm:pt modelId="{53F9026B-B805-4FD4-8B12-7A1A363F7299}" type="pres">
      <dgm:prSet presAssocID="{19BC576F-8DD5-499B-A7CB-94118D952860}" presName="hierChild5" presStyleCnt="0"/>
      <dgm:spPr/>
    </dgm:pt>
    <dgm:pt modelId="{8C65B91C-291C-4C4B-BB2C-3950E72F8DFC}" type="pres">
      <dgm:prSet presAssocID="{0A634224-6511-4C39-B690-EAEF048B2278}" presName="Name64" presStyleLbl="parChTrans1D3" presStyleIdx="1" presStyleCnt="2"/>
      <dgm:spPr/>
    </dgm:pt>
    <dgm:pt modelId="{20F2EBCB-992B-476E-8F09-F0F5253353C1}" type="pres">
      <dgm:prSet presAssocID="{432A137E-16DB-4CEC-A7DD-6A5AF6CA58DE}" presName="hierRoot2" presStyleCnt="0">
        <dgm:presLayoutVars>
          <dgm:hierBranch val="init"/>
        </dgm:presLayoutVars>
      </dgm:prSet>
      <dgm:spPr/>
    </dgm:pt>
    <dgm:pt modelId="{424C4B2A-94A4-4FDA-83A7-435FF47C5ED6}" type="pres">
      <dgm:prSet presAssocID="{432A137E-16DB-4CEC-A7DD-6A5AF6CA58DE}" presName="rootComposite" presStyleCnt="0"/>
      <dgm:spPr/>
    </dgm:pt>
    <dgm:pt modelId="{1CBB3AEC-9295-4725-ACEE-D6412592DCF6}" type="pres">
      <dgm:prSet presAssocID="{432A137E-16DB-4CEC-A7DD-6A5AF6CA58DE}" presName="rootText" presStyleLbl="node3" presStyleIdx="1" presStyleCnt="2">
        <dgm:presLayoutVars>
          <dgm:chPref val="3"/>
        </dgm:presLayoutVars>
      </dgm:prSet>
      <dgm:spPr/>
    </dgm:pt>
    <dgm:pt modelId="{8C21BE6B-1D60-4DED-88B8-529DB42F40EC}" type="pres">
      <dgm:prSet presAssocID="{432A137E-16DB-4CEC-A7DD-6A5AF6CA58DE}" presName="rootConnector" presStyleLbl="node3" presStyleIdx="1" presStyleCnt="2"/>
      <dgm:spPr/>
    </dgm:pt>
    <dgm:pt modelId="{B4812143-93F5-4E69-99F2-80C1C7857628}" type="pres">
      <dgm:prSet presAssocID="{432A137E-16DB-4CEC-A7DD-6A5AF6CA58DE}" presName="hierChild4" presStyleCnt="0"/>
      <dgm:spPr/>
    </dgm:pt>
    <dgm:pt modelId="{29FB426B-DE1B-465E-A05D-C272221CD506}" type="pres">
      <dgm:prSet presAssocID="{432A137E-16DB-4CEC-A7DD-6A5AF6CA58DE}" presName="hierChild5" presStyleCnt="0"/>
      <dgm:spPr/>
    </dgm:pt>
    <dgm:pt modelId="{CABC52FB-C961-444C-BD37-2FAB5D6CDCF4}" type="pres">
      <dgm:prSet presAssocID="{67A30BA6-A5D7-4522-9ADE-23473645F3D1}" presName="hierChild5" presStyleCnt="0"/>
      <dgm:spPr/>
    </dgm:pt>
    <dgm:pt modelId="{4757CB77-EB2F-4E70-B891-7497C7CA9640}" type="pres">
      <dgm:prSet presAssocID="{9941EE7F-9CA1-4E05-8C4E-42C0D573394C}" presName="hierChild3" presStyleCnt="0"/>
      <dgm:spPr/>
    </dgm:pt>
  </dgm:ptLst>
  <dgm:cxnLst>
    <dgm:cxn modelId="{3971C207-4FFB-49F0-9E82-F2643037385F}" type="presOf" srcId="{9941EE7F-9CA1-4E05-8C4E-42C0D573394C}" destId="{B65AB761-1AFE-4591-9F95-10E8615186C9}" srcOrd="0" destOrd="0" presId="urn:microsoft.com/office/officeart/2009/3/layout/HorizontalOrganizationChart"/>
    <dgm:cxn modelId="{26AF0332-F358-4A32-9855-528A5CB981FA}" srcId="{704648A3-F4A9-4C0C-B728-4F1B0CC68DED}" destId="{9941EE7F-9CA1-4E05-8C4E-42C0D573394C}" srcOrd="0" destOrd="0" parTransId="{3DA8B99A-8E90-4E7E-BA5F-38BBD0D8FD2B}" sibTransId="{C2FFD56F-7D33-4A7A-B3D2-7EF1EEBE3BB9}"/>
    <dgm:cxn modelId="{F1E11463-8149-47BB-BF9D-41F918E991D7}" type="presOf" srcId="{0A634224-6511-4C39-B690-EAEF048B2278}" destId="{8C65B91C-291C-4C4B-BB2C-3950E72F8DFC}" srcOrd="0" destOrd="0" presId="urn:microsoft.com/office/officeart/2009/3/layout/HorizontalOrganizationChart"/>
    <dgm:cxn modelId="{60DCA04B-336A-4DF3-9AED-3621BD583624}" type="presOf" srcId="{E5C18B3A-2229-4274-AA40-0902759236CD}" destId="{537487B3-AF42-46A4-88F1-6C874F2CD8BD}" srcOrd="0" destOrd="0" presId="urn:microsoft.com/office/officeart/2009/3/layout/HorizontalOrganizationChart"/>
    <dgm:cxn modelId="{FDA3D84E-4DB5-4B24-8DEE-9640D54186F7}" srcId="{67A30BA6-A5D7-4522-9ADE-23473645F3D1}" destId="{432A137E-16DB-4CEC-A7DD-6A5AF6CA58DE}" srcOrd="1" destOrd="0" parTransId="{0A634224-6511-4C39-B690-EAEF048B2278}" sibTransId="{03D0680B-6C9D-4B67-9888-4D612F631B7B}"/>
    <dgm:cxn modelId="{E4045351-C47E-4310-A57C-79AA3956D13F}" type="presOf" srcId="{704648A3-F4A9-4C0C-B728-4F1B0CC68DED}" destId="{9BD72D01-5E7B-49A9-B1BD-BC51B9525AC8}" srcOrd="0" destOrd="0" presId="urn:microsoft.com/office/officeart/2009/3/layout/HorizontalOrganizationChart"/>
    <dgm:cxn modelId="{AE90B899-C658-4157-B563-570B722EB56F}" srcId="{67A30BA6-A5D7-4522-9ADE-23473645F3D1}" destId="{19BC576F-8DD5-499B-A7CB-94118D952860}" srcOrd="0" destOrd="0" parTransId="{60C1B01C-4698-488A-A23F-D4797030CD62}" sibTransId="{B5BDF609-E012-4294-B099-934536266A7E}"/>
    <dgm:cxn modelId="{36FD0C9D-9111-4C2F-B46C-460D2A466C1C}" srcId="{9941EE7F-9CA1-4E05-8C4E-42C0D573394C}" destId="{67A30BA6-A5D7-4522-9ADE-23473645F3D1}" srcOrd="0" destOrd="0" parTransId="{E5C18B3A-2229-4274-AA40-0902759236CD}" sibTransId="{FD0CD65B-E5A4-4E71-BEF1-1A64FD21EB05}"/>
    <dgm:cxn modelId="{7969DE9D-E244-41AB-B6F0-55AF0711380F}" type="presOf" srcId="{432A137E-16DB-4CEC-A7DD-6A5AF6CA58DE}" destId="{8C21BE6B-1D60-4DED-88B8-529DB42F40EC}" srcOrd="1" destOrd="0" presId="urn:microsoft.com/office/officeart/2009/3/layout/HorizontalOrganizationChart"/>
    <dgm:cxn modelId="{C3BD90C1-0DF2-4E05-85A6-21ADA97534CA}" type="presOf" srcId="{19BC576F-8DD5-499B-A7CB-94118D952860}" destId="{A02ECE55-574D-430D-A5BA-BD21697D8081}" srcOrd="0" destOrd="0" presId="urn:microsoft.com/office/officeart/2009/3/layout/HorizontalOrganizationChart"/>
    <dgm:cxn modelId="{2594D5D8-4ABE-4044-A534-9878322E8CCF}" type="presOf" srcId="{60C1B01C-4698-488A-A23F-D4797030CD62}" destId="{213D692C-87B4-40C1-AA31-20B780250021}" srcOrd="0" destOrd="0" presId="urn:microsoft.com/office/officeart/2009/3/layout/HorizontalOrganizationChart"/>
    <dgm:cxn modelId="{FB2FF1DE-86A2-47DF-AAD5-032B5370669A}" type="presOf" srcId="{67A30BA6-A5D7-4522-9ADE-23473645F3D1}" destId="{C05E2EE8-8D5A-488F-BD99-91307E227DE6}" srcOrd="1" destOrd="0" presId="urn:microsoft.com/office/officeart/2009/3/layout/HorizontalOrganizationChart"/>
    <dgm:cxn modelId="{269AC6E8-D8AB-47F7-84EC-C18093748313}" type="presOf" srcId="{67A30BA6-A5D7-4522-9ADE-23473645F3D1}" destId="{C10AB882-B05A-4140-8CD1-17D3FABF0B02}" srcOrd="0" destOrd="0" presId="urn:microsoft.com/office/officeart/2009/3/layout/HorizontalOrganizationChart"/>
    <dgm:cxn modelId="{571804F6-04C4-4207-B7F4-5C58704597EA}" type="presOf" srcId="{432A137E-16DB-4CEC-A7DD-6A5AF6CA58DE}" destId="{1CBB3AEC-9295-4725-ACEE-D6412592DCF6}" srcOrd="0" destOrd="0" presId="urn:microsoft.com/office/officeart/2009/3/layout/HorizontalOrganizationChart"/>
    <dgm:cxn modelId="{B6A910F7-F689-43C1-8293-5D39816DF361}" type="presOf" srcId="{9941EE7F-9CA1-4E05-8C4E-42C0D573394C}" destId="{7FF55818-2CB8-436B-BE6A-6A63D1745B8C}" srcOrd="1" destOrd="0" presId="urn:microsoft.com/office/officeart/2009/3/layout/HorizontalOrganizationChart"/>
    <dgm:cxn modelId="{BD822BFB-AECD-49CB-AA8E-F960C236DBFF}" type="presOf" srcId="{19BC576F-8DD5-499B-A7CB-94118D952860}" destId="{BD0DABF7-2470-40CB-91D9-D89AC953F8AA}" srcOrd="1" destOrd="0" presId="urn:microsoft.com/office/officeart/2009/3/layout/HorizontalOrganizationChart"/>
    <dgm:cxn modelId="{FF68A1FA-B62C-45CE-8816-9E2A3692FE66}" type="presParOf" srcId="{9BD72D01-5E7B-49A9-B1BD-BC51B9525AC8}" destId="{D284E5A8-DEB6-4792-8C71-AE35A2DB51FB}" srcOrd="0" destOrd="0" presId="urn:microsoft.com/office/officeart/2009/3/layout/HorizontalOrganizationChart"/>
    <dgm:cxn modelId="{5E24AE80-94E3-48F0-8D58-285C19C7DA5F}" type="presParOf" srcId="{D284E5A8-DEB6-4792-8C71-AE35A2DB51FB}" destId="{ED7EC3BC-F662-4351-869C-9B412246E849}" srcOrd="0" destOrd="0" presId="urn:microsoft.com/office/officeart/2009/3/layout/HorizontalOrganizationChart"/>
    <dgm:cxn modelId="{A9229AAC-0695-473D-95AE-F7088AAC4BD9}" type="presParOf" srcId="{ED7EC3BC-F662-4351-869C-9B412246E849}" destId="{B65AB761-1AFE-4591-9F95-10E8615186C9}" srcOrd="0" destOrd="0" presId="urn:microsoft.com/office/officeart/2009/3/layout/HorizontalOrganizationChart"/>
    <dgm:cxn modelId="{CEDD4246-BC7B-4BC3-A7EE-E50EBA69BB3F}" type="presParOf" srcId="{ED7EC3BC-F662-4351-869C-9B412246E849}" destId="{7FF55818-2CB8-436B-BE6A-6A63D1745B8C}" srcOrd="1" destOrd="0" presId="urn:microsoft.com/office/officeart/2009/3/layout/HorizontalOrganizationChart"/>
    <dgm:cxn modelId="{80BB796D-3998-4FB4-A14C-7F43F7E8CA1C}" type="presParOf" srcId="{D284E5A8-DEB6-4792-8C71-AE35A2DB51FB}" destId="{12AAC3BE-CE6B-4118-9642-70D5B64A50EC}" srcOrd="1" destOrd="0" presId="urn:microsoft.com/office/officeart/2009/3/layout/HorizontalOrganizationChart"/>
    <dgm:cxn modelId="{EDA6635D-0796-482A-B9C1-BC84B8F0CCA0}" type="presParOf" srcId="{12AAC3BE-CE6B-4118-9642-70D5B64A50EC}" destId="{537487B3-AF42-46A4-88F1-6C874F2CD8BD}" srcOrd="0" destOrd="0" presId="urn:microsoft.com/office/officeart/2009/3/layout/HorizontalOrganizationChart"/>
    <dgm:cxn modelId="{2C8D855D-51E6-4695-A1DE-2631E29A3D31}" type="presParOf" srcId="{12AAC3BE-CE6B-4118-9642-70D5B64A50EC}" destId="{D9AAD440-B35E-4012-9691-170C29C5242A}" srcOrd="1" destOrd="0" presId="urn:microsoft.com/office/officeart/2009/3/layout/HorizontalOrganizationChart"/>
    <dgm:cxn modelId="{7847E419-F8B1-4487-AE4F-CF9FCCD5DB2B}" type="presParOf" srcId="{D9AAD440-B35E-4012-9691-170C29C5242A}" destId="{73917274-BD09-4030-9509-6CE95EAD5828}" srcOrd="0" destOrd="0" presId="urn:microsoft.com/office/officeart/2009/3/layout/HorizontalOrganizationChart"/>
    <dgm:cxn modelId="{DEEC252B-DDAA-45E5-A67F-1627156A11A7}" type="presParOf" srcId="{73917274-BD09-4030-9509-6CE95EAD5828}" destId="{C10AB882-B05A-4140-8CD1-17D3FABF0B02}" srcOrd="0" destOrd="0" presId="urn:microsoft.com/office/officeart/2009/3/layout/HorizontalOrganizationChart"/>
    <dgm:cxn modelId="{EABC53F8-7F02-4851-A467-B80B13C672D3}" type="presParOf" srcId="{73917274-BD09-4030-9509-6CE95EAD5828}" destId="{C05E2EE8-8D5A-488F-BD99-91307E227DE6}" srcOrd="1" destOrd="0" presId="urn:microsoft.com/office/officeart/2009/3/layout/HorizontalOrganizationChart"/>
    <dgm:cxn modelId="{4BB63150-6C16-40A8-9F56-2891FF9B28F7}" type="presParOf" srcId="{D9AAD440-B35E-4012-9691-170C29C5242A}" destId="{4BCDDF36-14E6-45B4-BE39-B636AAD4C3CA}" srcOrd="1" destOrd="0" presId="urn:microsoft.com/office/officeart/2009/3/layout/HorizontalOrganizationChart"/>
    <dgm:cxn modelId="{9CF72B4A-909D-4134-AD7E-DEF590696D7D}" type="presParOf" srcId="{4BCDDF36-14E6-45B4-BE39-B636AAD4C3CA}" destId="{213D692C-87B4-40C1-AA31-20B780250021}" srcOrd="0" destOrd="0" presId="urn:microsoft.com/office/officeart/2009/3/layout/HorizontalOrganizationChart"/>
    <dgm:cxn modelId="{8B04A0D3-868F-48DB-9A2F-F9A2E1137409}" type="presParOf" srcId="{4BCDDF36-14E6-45B4-BE39-B636AAD4C3CA}" destId="{2037697F-D2DF-4367-B4E8-7BEC77F265E0}" srcOrd="1" destOrd="0" presId="urn:microsoft.com/office/officeart/2009/3/layout/HorizontalOrganizationChart"/>
    <dgm:cxn modelId="{B055E078-E1E8-4F26-A9F4-1BBB9464784F}" type="presParOf" srcId="{2037697F-D2DF-4367-B4E8-7BEC77F265E0}" destId="{8C3C0120-408E-4182-9CF4-8DA34B3BFB89}" srcOrd="0" destOrd="0" presId="urn:microsoft.com/office/officeart/2009/3/layout/HorizontalOrganizationChart"/>
    <dgm:cxn modelId="{DD10C9DB-BAB7-412C-BED5-040B044CD324}" type="presParOf" srcId="{8C3C0120-408E-4182-9CF4-8DA34B3BFB89}" destId="{A02ECE55-574D-430D-A5BA-BD21697D8081}" srcOrd="0" destOrd="0" presId="urn:microsoft.com/office/officeart/2009/3/layout/HorizontalOrganizationChart"/>
    <dgm:cxn modelId="{48037681-B3E0-4377-9986-0FA3698436DA}" type="presParOf" srcId="{8C3C0120-408E-4182-9CF4-8DA34B3BFB89}" destId="{BD0DABF7-2470-40CB-91D9-D89AC953F8AA}" srcOrd="1" destOrd="0" presId="urn:microsoft.com/office/officeart/2009/3/layout/HorizontalOrganizationChart"/>
    <dgm:cxn modelId="{E7753B9E-537F-49F3-A029-28354F3FF58C}" type="presParOf" srcId="{2037697F-D2DF-4367-B4E8-7BEC77F265E0}" destId="{DB422923-DBB6-47C0-B8E6-0C9E402B1F55}" srcOrd="1" destOrd="0" presId="urn:microsoft.com/office/officeart/2009/3/layout/HorizontalOrganizationChart"/>
    <dgm:cxn modelId="{77A27E19-5DF4-4649-889E-552166D8BB49}" type="presParOf" srcId="{2037697F-D2DF-4367-B4E8-7BEC77F265E0}" destId="{53F9026B-B805-4FD4-8B12-7A1A363F7299}" srcOrd="2" destOrd="0" presId="urn:microsoft.com/office/officeart/2009/3/layout/HorizontalOrganizationChart"/>
    <dgm:cxn modelId="{6450DBAA-43D8-4D06-942D-361F3115BBE4}" type="presParOf" srcId="{4BCDDF36-14E6-45B4-BE39-B636AAD4C3CA}" destId="{8C65B91C-291C-4C4B-BB2C-3950E72F8DFC}" srcOrd="2" destOrd="0" presId="urn:microsoft.com/office/officeart/2009/3/layout/HorizontalOrganizationChart"/>
    <dgm:cxn modelId="{475433C9-A2EA-4B68-B3D7-591071CA45B8}" type="presParOf" srcId="{4BCDDF36-14E6-45B4-BE39-B636AAD4C3CA}" destId="{20F2EBCB-992B-476E-8F09-F0F5253353C1}" srcOrd="3" destOrd="0" presId="urn:microsoft.com/office/officeart/2009/3/layout/HorizontalOrganizationChart"/>
    <dgm:cxn modelId="{5BF4C0CF-3E0E-473E-BBB1-2762A6F6FF76}" type="presParOf" srcId="{20F2EBCB-992B-476E-8F09-F0F5253353C1}" destId="{424C4B2A-94A4-4FDA-83A7-435FF47C5ED6}" srcOrd="0" destOrd="0" presId="urn:microsoft.com/office/officeart/2009/3/layout/HorizontalOrganizationChart"/>
    <dgm:cxn modelId="{14E61BF8-4B22-45D2-B324-51A14B642892}" type="presParOf" srcId="{424C4B2A-94A4-4FDA-83A7-435FF47C5ED6}" destId="{1CBB3AEC-9295-4725-ACEE-D6412592DCF6}" srcOrd="0" destOrd="0" presId="urn:microsoft.com/office/officeart/2009/3/layout/HorizontalOrganizationChart"/>
    <dgm:cxn modelId="{EE9EAFDE-1D56-4763-A53A-4594888333DE}" type="presParOf" srcId="{424C4B2A-94A4-4FDA-83A7-435FF47C5ED6}" destId="{8C21BE6B-1D60-4DED-88B8-529DB42F40EC}" srcOrd="1" destOrd="0" presId="urn:microsoft.com/office/officeart/2009/3/layout/HorizontalOrganizationChart"/>
    <dgm:cxn modelId="{FD7B31A6-39BD-42AF-8420-EAE8DD94247B}" type="presParOf" srcId="{20F2EBCB-992B-476E-8F09-F0F5253353C1}" destId="{B4812143-93F5-4E69-99F2-80C1C7857628}" srcOrd="1" destOrd="0" presId="urn:microsoft.com/office/officeart/2009/3/layout/HorizontalOrganizationChart"/>
    <dgm:cxn modelId="{9D0946E0-5A0B-4F8D-A703-2BFECAAC4982}" type="presParOf" srcId="{20F2EBCB-992B-476E-8F09-F0F5253353C1}" destId="{29FB426B-DE1B-465E-A05D-C272221CD506}" srcOrd="2" destOrd="0" presId="urn:microsoft.com/office/officeart/2009/3/layout/HorizontalOrganizationChart"/>
    <dgm:cxn modelId="{CFB5C291-112A-4667-9988-B93F2770DFF6}" type="presParOf" srcId="{D9AAD440-B35E-4012-9691-170C29C5242A}" destId="{CABC52FB-C961-444C-BD37-2FAB5D6CDCF4}" srcOrd="2" destOrd="0" presId="urn:microsoft.com/office/officeart/2009/3/layout/HorizontalOrganizationChart"/>
    <dgm:cxn modelId="{2875C0D2-8530-4521-8F17-7E0B9330A50A}" type="presParOf" srcId="{D284E5A8-DEB6-4792-8C71-AE35A2DB51FB}" destId="{4757CB77-EB2F-4E70-B891-7497C7CA9640}" srcOrd="2" destOrd="0" presId="urn:microsoft.com/office/officeart/2009/3/layout/HorizontalOrganizationChart"/>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E78900A-9C3D-4C71-A21F-01E42F216245}" type="doc">
      <dgm:prSet loTypeId="urn:microsoft.com/office/officeart/2005/8/layout/hierarchy2" loCatId="hierarchy" qsTypeId="urn:microsoft.com/office/officeart/2005/8/quickstyle/simple1" qsCatId="simple" csTypeId="urn:microsoft.com/office/officeart/2005/8/colors/colorful3" csCatId="colorful" phldr="1"/>
      <dgm:spPr/>
      <dgm:t>
        <a:bodyPr/>
        <a:lstStyle/>
        <a:p>
          <a:endParaRPr lang="en-IN"/>
        </a:p>
      </dgm:t>
    </dgm:pt>
    <dgm:pt modelId="{7E15BC45-CEEA-4AA6-B625-78EE56CA88EF}">
      <dgm:prSet custT="1"/>
      <dgm:spPr>
        <a:solidFill>
          <a:schemeClr val="tx2">
            <a:lumMod val="20000"/>
            <a:lumOff val="80000"/>
          </a:schemeClr>
        </a:solidFill>
      </dgm:spPr>
      <dgm:t>
        <a:bodyPr/>
        <a:lstStyle/>
        <a:p>
          <a:r>
            <a:rPr lang="en-US" sz="2400" b="1" dirty="0">
              <a:solidFill>
                <a:schemeClr val="tx1"/>
              </a:solidFill>
            </a:rPr>
            <a:t>Extent of Tax Liability</a:t>
          </a:r>
          <a:endParaRPr lang="en-IN" sz="2400" b="1" dirty="0">
            <a:solidFill>
              <a:schemeClr val="tx1"/>
            </a:solidFill>
          </a:endParaRPr>
        </a:p>
      </dgm:t>
    </dgm:pt>
    <dgm:pt modelId="{1AE63205-A01D-46F2-9025-238953E6FF28}" type="parTrans" cxnId="{66D17605-1256-4E02-8645-054E379B08F0}">
      <dgm:prSet/>
      <dgm:spPr/>
      <dgm:t>
        <a:bodyPr/>
        <a:lstStyle/>
        <a:p>
          <a:endParaRPr lang="en-IN">
            <a:solidFill>
              <a:schemeClr val="tx1"/>
            </a:solidFill>
          </a:endParaRPr>
        </a:p>
      </dgm:t>
    </dgm:pt>
    <dgm:pt modelId="{E13D0914-C0E8-483E-8149-86E0B258EE6A}" type="sibTrans" cxnId="{66D17605-1256-4E02-8645-054E379B08F0}">
      <dgm:prSet/>
      <dgm:spPr/>
      <dgm:t>
        <a:bodyPr/>
        <a:lstStyle/>
        <a:p>
          <a:endParaRPr lang="en-IN">
            <a:solidFill>
              <a:schemeClr val="tx1"/>
            </a:solidFill>
          </a:endParaRPr>
        </a:p>
      </dgm:t>
    </dgm:pt>
    <dgm:pt modelId="{77DE1ECB-2CEB-41B5-83C6-7576AFFE3728}">
      <dgm:prSet custT="1"/>
      <dgm:spPr>
        <a:solidFill>
          <a:schemeClr val="accent3">
            <a:lumMod val="60000"/>
            <a:lumOff val="40000"/>
          </a:schemeClr>
        </a:solidFill>
      </dgm:spPr>
      <dgm:t>
        <a:bodyPr/>
        <a:lstStyle/>
        <a:p>
          <a:r>
            <a:rPr lang="en-US" sz="2400" dirty="0">
              <a:solidFill>
                <a:schemeClr val="tx1"/>
              </a:solidFill>
            </a:rPr>
            <a:t>Resident and Ordinary Resident (ROR)</a:t>
          </a:r>
          <a:endParaRPr lang="en-IN" sz="2400" dirty="0">
            <a:solidFill>
              <a:schemeClr val="tx1"/>
            </a:solidFill>
          </a:endParaRPr>
        </a:p>
      </dgm:t>
    </dgm:pt>
    <dgm:pt modelId="{D8628920-A7A6-4686-B815-CD277FA4CFAD}" type="parTrans" cxnId="{6D4B0E3A-590C-4FB0-8409-317BA6F88848}">
      <dgm:prSet/>
      <dgm:spPr/>
      <dgm:t>
        <a:bodyPr/>
        <a:lstStyle/>
        <a:p>
          <a:endParaRPr lang="en-IN">
            <a:solidFill>
              <a:schemeClr val="tx1"/>
            </a:solidFill>
          </a:endParaRPr>
        </a:p>
      </dgm:t>
    </dgm:pt>
    <dgm:pt modelId="{95E22939-1E26-4781-8EC0-1848D726B095}" type="sibTrans" cxnId="{6D4B0E3A-590C-4FB0-8409-317BA6F88848}">
      <dgm:prSet/>
      <dgm:spPr/>
      <dgm:t>
        <a:bodyPr/>
        <a:lstStyle/>
        <a:p>
          <a:endParaRPr lang="en-IN">
            <a:solidFill>
              <a:schemeClr val="tx1"/>
            </a:solidFill>
          </a:endParaRPr>
        </a:p>
      </dgm:t>
    </dgm:pt>
    <dgm:pt modelId="{2E674551-B325-4FDE-A617-773527794B05}">
      <dgm:prSet custT="1"/>
      <dgm:spPr/>
      <dgm:t>
        <a:bodyPr/>
        <a:lstStyle/>
        <a:p>
          <a:r>
            <a:rPr lang="en-US" sz="2400" b="1" dirty="0">
              <a:solidFill>
                <a:schemeClr val="tx1"/>
              </a:solidFill>
            </a:rPr>
            <a:t>All kinds of income</a:t>
          </a:r>
          <a:r>
            <a:rPr lang="en-US" sz="2400" dirty="0">
              <a:solidFill>
                <a:schemeClr val="tx1"/>
              </a:solidFill>
            </a:rPr>
            <a:t> whether received/accrued in India or not shall be taxed in India</a:t>
          </a:r>
          <a:endParaRPr lang="en-IN" sz="2400" dirty="0">
            <a:solidFill>
              <a:schemeClr val="tx1"/>
            </a:solidFill>
          </a:endParaRPr>
        </a:p>
      </dgm:t>
    </dgm:pt>
    <dgm:pt modelId="{10F1F19A-7CE7-4969-B749-6A7FB23E3AA9}" type="parTrans" cxnId="{4BDB24E6-5461-4866-82B8-BB62C59B5E2F}">
      <dgm:prSet/>
      <dgm:spPr/>
      <dgm:t>
        <a:bodyPr/>
        <a:lstStyle/>
        <a:p>
          <a:endParaRPr lang="en-IN">
            <a:solidFill>
              <a:schemeClr val="tx1"/>
            </a:solidFill>
          </a:endParaRPr>
        </a:p>
      </dgm:t>
    </dgm:pt>
    <dgm:pt modelId="{3B8757D0-0AC3-4FDB-AD3D-A8D697E9901E}" type="sibTrans" cxnId="{4BDB24E6-5461-4866-82B8-BB62C59B5E2F}">
      <dgm:prSet/>
      <dgm:spPr/>
      <dgm:t>
        <a:bodyPr/>
        <a:lstStyle/>
        <a:p>
          <a:endParaRPr lang="en-IN">
            <a:solidFill>
              <a:schemeClr val="tx1"/>
            </a:solidFill>
          </a:endParaRPr>
        </a:p>
      </dgm:t>
    </dgm:pt>
    <dgm:pt modelId="{2DA3E8CB-8D1D-492D-A9F0-7B3655AE6D4E}">
      <dgm:prSet custT="1"/>
      <dgm:spPr>
        <a:solidFill>
          <a:schemeClr val="accent3">
            <a:lumMod val="60000"/>
            <a:lumOff val="40000"/>
          </a:schemeClr>
        </a:solidFill>
      </dgm:spPr>
      <dgm:t>
        <a:bodyPr/>
        <a:lstStyle/>
        <a:p>
          <a:r>
            <a:rPr lang="en-US" sz="2400" dirty="0">
              <a:solidFill>
                <a:schemeClr val="tx1"/>
              </a:solidFill>
            </a:rPr>
            <a:t>Resident but Not Ordinary Resident (RNOR)</a:t>
          </a:r>
          <a:endParaRPr lang="en-IN" sz="2400" dirty="0">
            <a:solidFill>
              <a:schemeClr val="tx1"/>
            </a:solidFill>
          </a:endParaRPr>
        </a:p>
      </dgm:t>
    </dgm:pt>
    <dgm:pt modelId="{2B34BF45-120E-4251-9E15-1A5F3F84F6CF}" type="parTrans" cxnId="{52421A69-74A8-4EDB-A03A-2A3A3965E147}">
      <dgm:prSet/>
      <dgm:spPr/>
      <dgm:t>
        <a:bodyPr/>
        <a:lstStyle/>
        <a:p>
          <a:endParaRPr lang="en-IN">
            <a:solidFill>
              <a:schemeClr val="tx1"/>
            </a:solidFill>
          </a:endParaRPr>
        </a:p>
      </dgm:t>
    </dgm:pt>
    <dgm:pt modelId="{FE862DFA-08DA-47F8-B274-1307E3422C12}" type="sibTrans" cxnId="{52421A69-74A8-4EDB-A03A-2A3A3965E147}">
      <dgm:prSet/>
      <dgm:spPr/>
      <dgm:t>
        <a:bodyPr/>
        <a:lstStyle/>
        <a:p>
          <a:endParaRPr lang="en-IN">
            <a:solidFill>
              <a:schemeClr val="tx1"/>
            </a:solidFill>
          </a:endParaRPr>
        </a:p>
      </dgm:t>
    </dgm:pt>
    <dgm:pt modelId="{B4B81B5C-232B-4798-A24D-162F5E2E0F2F}">
      <dgm:prSet custT="1"/>
      <dgm:spPr/>
      <dgm:t>
        <a:bodyPr/>
        <a:lstStyle/>
        <a:p>
          <a:r>
            <a:rPr lang="en-US" sz="2400" dirty="0">
              <a:solidFill>
                <a:schemeClr val="tx1"/>
              </a:solidFill>
            </a:rPr>
            <a:t>Only income derived from a </a:t>
          </a:r>
          <a:r>
            <a:rPr lang="en-US" sz="2400" b="1" dirty="0">
              <a:solidFill>
                <a:schemeClr val="tx1"/>
              </a:solidFill>
            </a:rPr>
            <a:t>business controlled in or a profession set up in India</a:t>
          </a:r>
          <a:r>
            <a:rPr lang="en-US" sz="2400" dirty="0">
              <a:solidFill>
                <a:schemeClr val="tx1"/>
              </a:solidFill>
            </a:rPr>
            <a:t> will be included in Total Income</a:t>
          </a:r>
          <a:endParaRPr lang="en-IN" sz="2400" dirty="0">
            <a:solidFill>
              <a:schemeClr val="tx1"/>
            </a:solidFill>
          </a:endParaRPr>
        </a:p>
      </dgm:t>
    </dgm:pt>
    <dgm:pt modelId="{481DA3C5-90DC-4509-935F-1E147ABC55AA}" type="parTrans" cxnId="{90564C48-8251-45C6-879E-6EAED302DE32}">
      <dgm:prSet/>
      <dgm:spPr/>
      <dgm:t>
        <a:bodyPr/>
        <a:lstStyle/>
        <a:p>
          <a:endParaRPr lang="en-IN">
            <a:solidFill>
              <a:schemeClr val="tx1"/>
            </a:solidFill>
          </a:endParaRPr>
        </a:p>
      </dgm:t>
    </dgm:pt>
    <dgm:pt modelId="{75F8E220-1295-471A-AD3B-6FFFB8D7CC09}" type="sibTrans" cxnId="{90564C48-8251-45C6-879E-6EAED302DE32}">
      <dgm:prSet/>
      <dgm:spPr/>
      <dgm:t>
        <a:bodyPr/>
        <a:lstStyle/>
        <a:p>
          <a:endParaRPr lang="en-IN">
            <a:solidFill>
              <a:schemeClr val="tx1"/>
            </a:solidFill>
          </a:endParaRPr>
        </a:p>
      </dgm:t>
    </dgm:pt>
    <dgm:pt modelId="{ECE2AC5F-361F-4FB5-B755-8FA4BC288DB4}">
      <dgm:prSet custT="1"/>
      <dgm:spPr>
        <a:solidFill>
          <a:schemeClr val="accent3">
            <a:lumMod val="60000"/>
            <a:lumOff val="40000"/>
          </a:schemeClr>
        </a:solidFill>
      </dgm:spPr>
      <dgm:t>
        <a:bodyPr/>
        <a:lstStyle/>
        <a:p>
          <a:r>
            <a:rPr lang="en-US" sz="2400" dirty="0">
              <a:solidFill>
                <a:schemeClr val="tx1"/>
              </a:solidFill>
            </a:rPr>
            <a:t>Non – Resident (NR)</a:t>
          </a:r>
          <a:endParaRPr lang="en-IN" sz="2400" dirty="0">
            <a:solidFill>
              <a:schemeClr val="tx1"/>
            </a:solidFill>
          </a:endParaRPr>
        </a:p>
      </dgm:t>
    </dgm:pt>
    <dgm:pt modelId="{92B9E515-98B5-446C-992F-F7A5201B3762}" type="parTrans" cxnId="{795EAC29-0096-4451-87E2-116FE2972637}">
      <dgm:prSet/>
      <dgm:spPr/>
      <dgm:t>
        <a:bodyPr/>
        <a:lstStyle/>
        <a:p>
          <a:endParaRPr lang="en-IN">
            <a:solidFill>
              <a:schemeClr val="tx1"/>
            </a:solidFill>
          </a:endParaRPr>
        </a:p>
      </dgm:t>
    </dgm:pt>
    <dgm:pt modelId="{0594D6B5-D3CF-4063-88C4-50D162E8BDE8}" type="sibTrans" cxnId="{795EAC29-0096-4451-87E2-116FE2972637}">
      <dgm:prSet/>
      <dgm:spPr/>
      <dgm:t>
        <a:bodyPr/>
        <a:lstStyle/>
        <a:p>
          <a:endParaRPr lang="en-IN">
            <a:solidFill>
              <a:schemeClr val="tx1"/>
            </a:solidFill>
          </a:endParaRPr>
        </a:p>
      </dgm:t>
    </dgm:pt>
    <dgm:pt modelId="{23B9AD6E-F74C-446E-920B-B0EDD1326EA2}">
      <dgm:prSet custT="1"/>
      <dgm:spPr/>
      <dgm:t>
        <a:bodyPr/>
        <a:lstStyle/>
        <a:p>
          <a:r>
            <a:rPr lang="en-US" sz="2400" dirty="0">
              <a:solidFill>
                <a:schemeClr val="tx1"/>
              </a:solidFill>
            </a:rPr>
            <a:t>Only that income which is earned from India or to be received/accrued </a:t>
          </a:r>
          <a:r>
            <a:rPr lang="en-US" sz="2400" b="1" dirty="0">
              <a:solidFill>
                <a:schemeClr val="tx1"/>
              </a:solidFill>
            </a:rPr>
            <a:t>in India</a:t>
          </a:r>
          <a:r>
            <a:rPr lang="en-US" sz="2500" dirty="0">
              <a:solidFill>
                <a:schemeClr val="tx1"/>
              </a:solidFill>
            </a:rPr>
            <a:t> </a:t>
          </a:r>
          <a:endParaRPr lang="en-IN" sz="2500" dirty="0">
            <a:solidFill>
              <a:schemeClr val="tx1"/>
            </a:solidFill>
          </a:endParaRPr>
        </a:p>
      </dgm:t>
    </dgm:pt>
    <dgm:pt modelId="{6F1AA3F4-02BF-4562-AC51-9793A131FE5D}" type="parTrans" cxnId="{4D6DE32F-EF1E-4557-8A87-798BCCA2E351}">
      <dgm:prSet/>
      <dgm:spPr/>
      <dgm:t>
        <a:bodyPr/>
        <a:lstStyle/>
        <a:p>
          <a:endParaRPr lang="en-IN">
            <a:solidFill>
              <a:schemeClr val="tx1"/>
            </a:solidFill>
          </a:endParaRPr>
        </a:p>
      </dgm:t>
    </dgm:pt>
    <dgm:pt modelId="{5FC7B0F2-0A1F-4D78-861F-F8EBE34D126D}" type="sibTrans" cxnId="{4D6DE32F-EF1E-4557-8A87-798BCCA2E351}">
      <dgm:prSet/>
      <dgm:spPr/>
      <dgm:t>
        <a:bodyPr/>
        <a:lstStyle/>
        <a:p>
          <a:endParaRPr lang="en-IN">
            <a:solidFill>
              <a:schemeClr val="tx1"/>
            </a:solidFill>
          </a:endParaRPr>
        </a:p>
      </dgm:t>
    </dgm:pt>
    <dgm:pt modelId="{317635FC-70D1-4E0B-84C0-D76E54990D32}" type="pres">
      <dgm:prSet presAssocID="{2E78900A-9C3D-4C71-A21F-01E42F216245}" presName="diagram" presStyleCnt="0">
        <dgm:presLayoutVars>
          <dgm:chPref val="1"/>
          <dgm:dir/>
          <dgm:animOne val="branch"/>
          <dgm:animLvl val="lvl"/>
          <dgm:resizeHandles val="exact"/>
        </dgm:presLayoutVars>
      </dgm:prSet>
      <dgm:spPr/>
    </dgm:pt>
    <dgm:pt modelId="{CF2A7C61-7EF9-4B63-98F0-D3F3E05349E9}" type="pres">
      <dgm:prSet presAssocID="{7E15BC45-CEEA-4AA6-B625-78EE56CA88EF}" presName="root1" presStyleCnt="0"/>
      <dgm:spPr/>
    </dgm:pt>
    <dgm:pt modelId="{665728E8-5ACF-46DC-B714-0C84E8832275}" type="pres">
      <dgm:prSet presAssocID="{7E15BC45-CEEA-4AA6-B625-78EE56CA88EF}" presName="LevelOneTextNode" presStyleLbl="node0" presStyleIdx="0" presStyleCnt="1" custLinFactNeighborX="-16164" custLinFactNeighborY="4954">
        <dgm:presLayoutVars>
          <dgm:chPref val="3"/>
        </dgm:presLayoutVars>
      </dgm:prSet>
      <dgm:spPr/>
    </dgm:pt>
    <dgm:pt modelId="{277D26C8-AE82-43B0-90E6-DDCD4D2B808C}" type="pres">
      <dgm:prSet presAssocID="{7E15BC45-CEEA-4AA6-B625-78EE56CA88EF}" presName="level2hierChild" presStyleCnt="0"/>
      <dgm:spPr/>
    </dgm:pt>
    <dgm:pt modelId="{634E2A9D-F993-4F51-A5DB-39237D0E3251}" type="pres">
      <dgm:prSet presAssocID="{D8628920-A7A6-4686-B815-CD277FA4CFAD}" presName="conn2-1" presStyleLbl="parChTrans1D2" presStyleIdx="0" presStyleCnt="3"/>
      <dgm:spPr/>
    </dgm:pt>
    <dgm:pt modelId="{8D144568-2837-4EDB-A943-BC1EE614AF8F}" type="pres">
      <dgm:prSet presAssocID="{D8628920-A7A6-4686-B815-CD277FA4CFAD}" presName="connTx" presStyleLbl="parChTrans1D2" presStyleIdx="0" presStyleCnt="3"/>
      <dgm:spPr/>
    </dgm:pt>
    <dgm:pt modelId="{E230C61B-FDDF-4CF3-AB7C-DBEAA034B807}" type="pres">
      <dgm:prSet presAssocID="{77DE1ECB-2CEB-41B5-83C6-7576AFFE3728}" presName="root2" presStyleCnt="0"/>
      <dgm:spPr/>
    </dgm:pt>
    <dgm:pt modelId="{AE6206BF-878C-43E8-A09B-66E0ECC78DCD}" type="pres">
      <dgm:prSet presAssocID="{77DE1ECB-2CEB-41B5-83C6-7576AFFE3728}" presName="LevelTwoTextNode" presStyleLbl="node2" presStyleIdx="0" presStyleCnt="3" custLinFactNeighborX="-18951" custLinFactNeighborY="161">
        <dgm:presLayoutVars>
          <dgm:chPref val="3"/>
        </dgm:presLayoutVars>
      </dgm:prSet>
      <dgm:spPr/>
    </dgm:pt>
    <dgm:pt modelId="{1887E4AF-0BEB-4EE0-BBED-92BB5F50B82D}" type="pres">
      <dgm:prSet presAssocID="{77DE1ECB-2CEB-41B5-83C6-7576AFFE3728}" presName="level3hierChild" presStyleCnt="0"/>
      <dgm:spPr/>
    </dgm:pt>
    <dgm:pt modelId="{C7854E2E-8170-4ED3-9E71-D3518952FDD0}" type="pres">
      <dgm:prSet presAssocID="{10F1F19A-7CE7-4969-B749-6A7FB23E3AA9}" presName="conn2-1" presStyleLbl="parChTrans1D3" presStyleIdx="0" presStyleCnt="3"/>
      <dgm:spPr/>
    </dgm:pt>
    <dgm:pt modelId="{25F52B09-E542-4ECF-8540-E32843B0654D}" type="pres">
      <dgm:prSet presAssocID="{10F1F19A-7CE7-4969-B749-6A7FB23E3AA9}" presName="connTx" presStyleLbl="parChTrans1D3" presStyleIdx="0" presStyleCnt="3"/>
      <dgm:spPr/>
    </dgm:pt>
    <dgm:pt modelId="{82C99D4D-2C47-4D1C-ACD4-98BA52131DAB}" type="pres">
      <dgm:prSet presAssocID="{2E674551-B325-4FDE-A617-773527794B05}" presName="root2" presStyleCnt="0"/>
      <dgm:spPr/>
    </dgm:pt>
    <dgm:pt modelId="{A392F6A9-3C51-4479-AC56-813C01C91E9F}" type="pres">
      <dgm:prSet presAssocID="{2E674551-B325-4FDE-A617-773527794B05}" presName="LevelTwoTextNode" presStyleLbl="node3" presStyleIdx="0" presStyleCnt="3" custScaleX="155118" custLinFactNeighborX="-26754" custLinFactNeighborY="161">
        <dgm:presLayoutVars>
          <dgm:chPref val="3"/>
        </dgm:presLayoutVars>
      </dgm:prSet>
      <dgm:spPr/>
    </dgm:pt>
    <dgm:pt modelId="{A57D9598-80D4-4963-BF88-867859657F3F}" type="pres">
      <dgm:prSet presAssocID="{2E674551-B325-4FDE-A617-773527794B05}" presName="level3hierChild" presStyleCnt="0"/>
      <dgm:spPr/>
    </dgm:pt>
    <dgm:pt modelId="{BE9ADFA0-D73B-4CFA-96A3-2C52AC9882BA}" type="pres">
      <dgm:prSet presAssocID="{2B34BF45-120E-4251-9E15-1A5F3F84F6CF}" presName="conn2-1" presStyleLbl="parChTrans1D2" presStyleIdx="1" presStyleCnt="3"/>
      <dgm:spPr/>
    </dgm:pt>
    <dgm:pt modelId="{0C699F4D-692A-4FFE-955B-0FF33338C373}" type="pres">
      <dgm:prSet presAssocID="{2B34BF45-120E-4251-9E15-1A5F3F84F6CF}" presName="connTx" presStyleLbl="parChTrans1D2" presStyleIdx="1" presStyleCnt="3"/>
      <dgm:spPr/>
    </dgm:pt>
    <dgm:pt modelId="{9F5045C1-BE6E-47A1-84D2-99AF6CD5CE0D}" type="pres">
      <dgm:prSet presAssocID="{2DA3E8CB-8D1D-492D-A9F0-7B3655AE6D4E}" presName="root2" presStyleCnt="0"/>
      <dgm:spPr/>
    </dgm:pt>
    <dgm:pt modelId="{90155E1D-BA1F-4213-8EFB-27F2DAEBD074}" type="pres">
      <dgm:prSet presAssocID="{2DA3E8CB-8D1D-492D-A9F0-7B3655AE6D4E}" presName="LevelTwoTextNode" presStyleLbl="node2" presStyleIdx="1" presStyleCnt="3" custLinFactNeighborX="-18951" custLinFactNeighborY="161">
        <dgm:presLayoutVars>
          <dgm:chPref val="3"/>
        </dgm:presLayoutVars>
      </dgm:prSet>
      <dgm:spPr/>
    </dgm:pt>
    <dgm:pt modelId="{1450A7E9-BC77-46AC-8C46-948F151556DD}" type="pres">
      <dgm:prSet presAssocID="{2DA3E8CB-8D1D-492D-A9F0-7B3655AE6D4E}" presName="level3hierChild" presStyleCnt="0"/>
      <dgm:spPr/>
    </dgm:pt>
    <dgm:pt modelId="{61684DB0-B6D1-4DCA-AD18-3ABF628F0EF3}" type="pres">
      <dgm:prSet presAssocID="{481DA3C5-90DC-4509-935F-1E147ABC55AA}" presName="conn2-1" presStyleLbl="parChTrans1D3" presStyleIdx="1" presStyleCnt="3"/>
      <dgm:spPr/>
    </dgm:pt>
    <dgm:pt modelId="{44710701-957A-442E-8436-4364FD72D4DB}" type="pres">
      <dgm:prSet presAssocID="{481DA3C5-90DC-4509-935F-1E147ABC55AA}" presName="connTx" presStyleLbl="parChTrans1D3" presStyleIdx="1" presStyleCnt="3"/>
      <dgm:spPr/>
    </dgm:pt>
    <dgm:pt modelId="{1BD960EE-0F54-46A3-8FAC-F8ED91AD0BF0}" type="pres">
      <dgm:prSet presAssocID="{B4B81B5C-232B-4798-A24D-162F5E2E0F2F}" presName="root2" presStyleCnt="0"/>
      <dgm:spPr/>
    </dgm:pt>
    <dgm:pt modelId="{1B5217A1-8D62-4042-87A2-EAEB7BA6CFC9}" type="pres">
      <dgm:prSet presAssocID="{B4B81B5C-232B-4798-A24D-162F5E2E0F2F}" presName="LevelTwoTextNode" presStyleLbl="node3" presStyleIdx="1" presStyleCnt="3" custScaleX="154071" custScaleY="141096" custLinFactNeighborX="-26754" custLinFactNeighborY="161">
        <dgm:presLayoutVars>
          <dgm:chPref val="3"/>
        </dgm:presLayoutVars>
      </dgm:prSet>
      <dgm:spPr/>
    </dgm:pt>
    <dgm:pt modelId="{E6D3605B-8D8F-4C08-8AA1-060177FF0688}" type="pres">
      <dgm:prSet presAssocID="{B4B81B5C-232B-4798-A24D-162F5E2E0F2F}" presName="level3hierChild" presStyleCnt="0"/>
      <dgm:spPr/>
    </dgm:pt>
    <dgm:pt modelId="{57658BDC-54CE-4F87-B710-E9C2521A6A3B}" type="pres">
      <dgm:prSet presAssocID="{92B9E515-98B5-446C-992F-F7A5201B3762}" presName="conn2-1" presStyleLbl="parChTrans1D2" presStyleIdx="2" presStyleCnt="3"/>
      <dgm:spPr/>
    </dgm:pt>
    <dgm:pt modelId="{8308FE71-4A91-4A69-9CDA-05C7B1B8F702}" type="pres">
      <dgm:prSet presAssocID="{92B9E515-98B5-446C-992F-F7A5201B3762}" presName="connTx" presStyleLbl="parChTrans1D2" presStyleIdx="2" presStyleCnt="3"/>
      <dgm:spPr/>
    </dgm:pt>
    <dgm:pt modelId="{B67E473A-0F19-4033-85C0-3BF6083983CF}" type="pres">
      <dgm:prSet presAssocID="{ECE2AC5F-361F-4FB5-B755-8FA4BC288DB4}" presName="root2" presStyleCnt="0"/>
      <dgm:spPr/>
    </dgm:pt>
    <dgm:pt modelId="{02F4BF10-8DA6-4493-93B2-B809BC82B59C}" type="pres">
      <dgm:prSet presAssocID="{ECE2AC5F-361F-4FB5-B755-8FA4BC288DB4}" presName="LevelTwoTextNode" presStyleLbl="node2" presStyleIdx="2" presStyleCnt="3" custLinFactNeighborX="-18951" custLinFactNeighborY="161">
        <dgm:presLayoutVars>
          <dgm:chPref val="3"/>
        </dgm:presLayoutVars>
      </dgm:prSet>
      <dgm:spPr/>
    </dgm:pt>
    <dgm:pt modelId="{45F1BE08-64F6-41E8-A133-9AB679835846}" type="pres">
      <dgm:prSet presAssocID="{ECE2AC5F-361F-4FB5-B755-8FA4BC288DB4}" presName="level3hierChild" presStyleCnt="0"/>
      <dgm:spPr/>
    </dgm:pt>
    <dgm:pt modelId="{B01DFB2A-6551-4409-B75F-A1595EEAA8C1}" type="pres">
      <dgm:prSet presAssocID="{6F1AA3F4-02BF-4562-AC51-9793A131FE5D}" presName="conn2-1" presStyleLbl="parChTrans1D3" presStyleIdx="2" presStyleCnt="3"/>
      <dgm:spPr/>
    </dgm:pt>
    <dgm:pt modelId="{504B4759-316E-47CD-83E8-86A0D3FA7C64}" type="pres">
      <dgm:prSet presAssocID="{6F1AA3F4-02BF-4562-AC51-9793A131FE5D}" presName="connTx" presStyleLbl="parChTrans1D3" presStyleIdx="2" presStyleCnt="3"/>
      <dgm:spPr/>
    </dgm:pt>
    <dgm:pt modelId="{E0B476CA-A735-4516-AEBB-73DB6DE0B2FE}" type="pres">
      <dgm:prSet presAssocID="{23B9AD6E-F74C-446E-920B-B0EDD1326EA2}" presName="root2" presStyleCnt="0"/>
      <dgm:spPr/>
    </dgm:pt>
    <dgm:pt modelId="{068AFA6E-8947-4017-A6F8-AA65A453679E}" type="pres">
      <dgm:prSet presAssocID="{23B9AD6E-F74C-446E-920B-B0EDD1326EA2}" presName="LevelTwoTextNode" presStyleLbl="node3" presStyleIdx="2" presStyleCnt="3" custScaleX="154232" custLinFactNeighborX="-26754" custLinFactNeighborY="161">
        <dgm:presLayoutVars>
          <dgm:chPref val="3"/>
        </dgm:presLayoutVars>
      </dgm:prSet>
      <dgm:spPr/>
    </dgm:pt>
    <dgm:pt modelId="{95AD9FB0-CBBF-4849-A760-9F96B8C77337}" type="pres">
      <dgm:prSet presAssocID="{23B9AD6E-F74C-446E-920B-B0EDD1326EA2}" presName="level3hierChild" presStyleCnt="0"/>
      <dgm:spPr/>
    </dgm:pt>
  </dgm:ptLst>
  <dgm:cxnLst>
    <dgm:cxn modelId="{66D17605-1256-4E02-8645-054E379B08F0}" srcId="{2E78900A-9C3D-4C71-A21F-01E42F216245}" destId="{7E15BC45-CEEA-4AA6-B625-78EE56CA88EF}" srcOrd="0" destOrd="0" parTransId="{1AE63205-A01D-46F2-9025-238953E6FF28}" sibTransId="{E13D0914-C0E8-483E-8149-86E0B258EE6A}"/>
    <dgm:cxn modelId="{564C980C-84CE-4EB3-B335-E4FE4AACC726}" type="presOf" srcId="{7E15BC45-CEEA-4AA6-B625-78EE56CA88EF}" destId="{665728E8-5ACF-46DC-B714-0C84E8832275}" srcOrd="0" destOrd="0" presId="urn:microsoft.com/office/officeart/2005/8/layout/hierarchy2"/>
    <dgm:cxn modelId="{D874830F-FA92-44D5-B352-E0CAC8F5A47E}" type="presOf" srcId="{77DE1ECB-2CEB-41B5-83C6-7576AFFE3728}" destId="{AE6206BF-878C-43E8-A09B-66E0ECC78DCD}" srcOrd="0" destOrd="0" presId="urn:microsoft.com/office/officeart/2005/8/layout/hierarchy2"/>
    <dgm:cxn modelId="{29AA0021-1891-4ED8-93F8-5730F84E09C3}" type="presOf" srcId="{23B9AD6E-F74C-446E-920B-B0EDD1326EA2}" destId="{068AFA6E-8947-4017-A6F8-AA65A453679E}" srcOrd="0" destOrd="0" presId="urn:microsoft.com/office/officeart/2005/8/layout/hierarchy2"/>
    <dgm:cxn modelId="{795EAC29-0096-4451-87E2-116FE2972637}" srcId="{7E15BC45-CEEA-4AA6-B625-78EE56CA88EF}" destId="{ECE2AC5F-361F-4FB5-B755-8FA4BC288DB4}" srcOrd="2" destOrd="0" parTransId="{92B9E515-98B5-446C-992F-F7A5201B3762}" sibTransId="{0594D6B5-D3CF-4063-88C4-50D162E8BDE8}"/>
    <dgm:cxn modelId="{4D6DE32F-EF1E-4557-8A87-798BCCA2E351}" srcId="{ECE2AC5F-361F-4FB5-B755-8FA4BC288DB4}" destId="{23B9AD6E-F74C-446E-920B-B0EDD1326EA2}" srcOrd="0" destOrd="0" parTransId="{6F1AA3F4-02BF-4562-AC51-9793A131FE5D}" sibTransId="{5FC7B0F2-0A1F-4D78-861F-F8EBE34D126D}"/>
    <dgm:cxn modelId="{0C7C043A-F535-430F-B381-FAAC04551042}" type="presOf" srcId="{92B9E515-98B5-446C-992F-F7A5201B3762}" destId="{57658BDC-54CE-4F87-B710-E9C2521A6A3B}" srcOrd="0" destOrd="0" presId="urn:microsoft.com/office/officeart/2005/8/layout/hierarchy2"/>
    <dgm:cxn modelId="{6D4B0E3A-590C-4FB0-8409-317BA6F88848}" srcId="{7E15BC45-CEEA-4AA6-B625-78EE56CA88EF}" destId="{77DE1ECB-2CEB-41B5-83C6-7576AFFE3728}" srcOrd="0" destOrd="0" parTransId="{D8628920-A7A6-4686-B815-CD277FA4CFAD}" sibTransId="{95E22939-1E26-4781-8EC0-1848D726B095}"/>
    <dgm:cxn modelId="{C8723D67-E031-4CAC-A90D-A5398D5AF84D}" type="presOf" srcId="{2E674551-B325-4FDE-A617-773527794B05}" destId="{A392F6A9-3C51-4479-AC56-813C01C91E9F}" srcOrd="0" destOrd="0" presId="urn:microsoft.com/office/officeart/2005/8/layout/hierarchy2"/>
    <dgm:cxn modelId="{5549A147-5E06-45A3-AD2A-0CF988AF0689}" type="presOf" srcId="{6F1AA3F4-02BF-4562-AC51-9793A131FE5D}" destId="{B01DFB2A-6551-4409-B75F-A1595EEAA8C1}" srcOrd="0" destOrd="0" presId="urn:microsoft.com/office/officeart/2005/8/layout/hierarchy2"/>
    <dgm:cxn modelId="{90564C48-8251-45C6-879E-6EAED302DE32}" srcId="{2DA3E8CB-8D1D-492D-A9F0-7B3655AE6D4E}" destId="{B4B81B5C-232B-4798-A24D-162F5E2E0F2F}" srcOrd="0" destOrd="0" parTransId="{481DA3C5-90DC-4509-935F-1E147ABC55AA}" sibTransId="{75F8E220-1295-471A-AD3B-6FFFB8D7CC09}"/>
    <dgm:cxn modelId="{52421A69-74A8-4EDB-A03A-2A3A3965E147}" srcId="{7E15BC45-CEEA-4AA6-B625-78EE56CA88EF}" destId="{2DA3E8CB-8D1D-492D-A9F0-7B3655AE6D4E}" srcOrd="1" destOrd="0" parTransId="{2B34BF45-120E-4251-9E15-1A5F3F84F6CF}" sibTransId="{FE862DFA-08DA-47F8-B274-1307E3422C12}"/>
    <dgm:cxn modelId="{9FCA176A-C843-4959-96EF-F0119EA947E7}" type="presOf" srcId="{92B9E515-98B5-446C-992F-F7A5201B3762}" destId="{8308FE71-4A91-4A69-9CDA-05C7B1B8F702}" srcOrd="1" destOrd="0" presId="urn:microsoft.com/office/officeart/2005/8/layout/hierarchy2"/>
    <dgm:cxn modelId="{D5BE4C85-FB8C-4434-BD1C-D17DE9A57CC3}" type="presOf" srcId="{2E78900A-9C3D-4C71-A21F-01E42F216245}" destId="{317635FC-70D1-4E0B-84C0-D76E54990D32}" srcOrd="0" destOrd="0" presId="urn:microsoft.com/office/officeart/2005/8/layout/hierarchy2"/>
    <dgm:cxn modelId="{412F328D-450F-4736-8E8A-B5D457DD5C01}" type="presOf" srcId="{6F1AA3F4-02BF-4562-AC51-9793A131FE5D}" destId="{504B4759-316E-47CD-83E8-86A0D3FA7C64}" srcOrd="1" destOrd="0" presId="urn:microsoft.com/office/officeart/2005/8/layout/hierarchy2"/>
    <dgm:cxn modelId="{BF8D9D93-8FB9-4457-B346-6CE8A83A3BD8}" type="presOf" srcId="{481DA3C5-90DC-4509-935F-1E147ABC55AA}" destId="{61684DB0-B6D1-4DCA-AD18-3ABF628F0EF3}" srcOrd="0" destOrd="0" presId="urn:microsoft.com/office/officeart/2005/8/layout/hierarchy2"/>
    <dgm:cxn modelId="{D5F3FC9B-1085-4E26-B251-B34842555857}" type="presOf" srcId="{B4B81B5C-232B-4798-A24D-162F5E2E0F2F}" destId="{1B5217A1-8D62-4042-87A2-EAEB7BA6CFC9}" srcOrd="0" destOrd="0" presId="urn:microsoft.com/office/officeart/2005/8/layout/hierarchy2"/>
    <dgm:cxn modelId="{3C6B65A2-A965-462A-BA5E-3A1780B93662}" type="presOf" srcId="{481DA3C5-90DC-4509-935F-1E147ABC55AA}" destId="{44710701-957A-442E-8436-4364FD72D4DB}" srcOrd="1" destOrd="0" presId="urn:microsoft.com/office/officeart/2005/8/layout/hierarchy2"/>
    <dgm:cxn modelId="{3F5F9CBE-39FF-4FF7-AB4D-4EFEC4A5A687}" type="presOf" srcId="{2B34BF45-120E-4251-9E15-1A5F3F84F6CF}" destId="{BE9ADFA0-D73B-4CFA-96A3-2C52AC9882BA}" srcOrd="0" destOrd="0" presId="urn:microsoft.com/office/officeart/2005/8/layout/hierarchy2"/>
    <dgm:cxn modelId="{68C627BF-1BDC-4B34-AB77-B149443031C9}" type="presOf" srcId="{2DA3E8CB-8D1D-492D-A9F0-7B3655AE6D4E}" destId="{90155E1D-BA1F-4213-8EFB-27F2DAEBD074}" srcOrd="0" destOrd="0" presId="urn:microsoft.com/office/officeart/2005/8/layout/hierarchy2"/>
    <dgm:cxn modelId="{02A6C9C8-682F-4359-98C0-A847E211801D}" type="presOf" srcId="{2B34BF45-120E-4251-9E15-1A5F3F84F6CF}" destId="{0C699F4D-692A-4FFE-955B-0FF33338C373}" srcOrd="1" destOrd="0" presId="urn:microsoft.com/office/officeart/2005/8/layout/hierarchy2"/>
    <dgm:cxn modelId="{2F8FF3CC-559D-47C5-AFF0-94F735F32D24}" type="presOf" srcId="{10F1F19A-7CE7-4969-B749-6A7FB23E3AA9}" destId="{C7854E2E-8170-4ED3-9E71-D3518952FDD0}" srcOrd="0" destOrd="0" presId="urn:microsoft.com/office/officeart/2005/8/layout/hierarchy2"/>
    <dgm:cxn modelId="{9A58DFDF-671E-4CDA-BC26-7FD7108B04E8}" type="presOf" srcId="{ECE2AC5F-361F-4FB5-B755-8FA4BC288DB4}" destId="{02F4BF10-8DA6-4493-93B2-B809BC82B59C}" srcOrd="0" destOrd="0" presId="urn:microsoft.com/office/officeart/2005/8/layout/hierarchy2"/>
    <dgm:cxn modelId="{1897FFE1-99CE-4CA8-AA71-1C012D6C16B9}" type="presOf" srcId="{D8628920-A7A6-4686-B815-CD277FA4CFAD}" destId="{8D144568-2837-4EDB-A943-BC1EE614AF8F}" srcOrd="1" destOrd="0" presId="urn:microsoft.com/office/officeart/2005/8/layout/hierarchy2"/>
    <dgm:cxn modelId="{4BDB24E6-5461-4866-82B8-BB62C59B5E2F}" srcId="{77DE1ECB-2CEB-41B5-83C6-7576AFFE3728}" destId="{2E674551-B325-4FDE-A617-773527794B05}" srcOrd="0" destOrd="0" parTransId="{10F1F19A-7CE7-4969-B749-6A7FB23E3AA9}" sibTransId="{3B8757D0-0AC3-4FDB-AD3D-A8D697E9901E}"/>
    <dgm:cxn modelId="{51DE80E9-CD5B-4F1E-90EF-688F1BE3B1CD}" type="presOf" srcId="{D8628920-A7A6-4686-B815-CD277FA4CFAD}" destId="{634E2A9D-F993-4F51-A5DB-39237D0E3251}" srcOrd="0" destOrd="0" presId="urn:microsoft.com/office/officeart/2005/8/layout/hierarchy2"/>
    <dgm:cxn modelId="{4B6888F6-92B3-4D85-970C-C95CEA666CB6}" type="presOf" srcId="{10F1F19A-7CE7-4969-B749-6A7FB23E3AA9}" destId="{25F52B09-E542-4ECF-8540-E32843B0654D}" srcOrd="1" destOrd="0" presId="urn:microsoft.com/office/officeart/2005/8/layout/hierarchy2"/>
    <dgm:cxn modelId="{F1E374E9-07EA-421A-A1B2-7B63F95BA2A2}" type="presParOf" srcId="{317635FC-70D1-4E0B-84C0-D76E54990D32}" destId="{CF2A7C61-7EF9-4B63-98F0-D3F3E05349E9}" srcOrd="0" destOrd="0" presId="urn:microsoft.com/office/officeart/2005/8/layout/hierarchy2"/>
    <dgm:cxn modelId="{CC962F54-ECC6-4681-BAF3-3C2D9220A47C}" type="presParOf" srcId="{CF2A7C61-7EF9-4B63-98F0-D3F3E05349E9}" destId="{665728E8-5ACF-46DC-B714-0C84E8832275}" srcOrd="0" destOrd="0" presId="urn:microsoft.com/office/officeart/2005/8/layout/hierarchy2"/>
    <dgm:cxn modelId="{70AA1E88-4B68-4ABA-BE1A-697257C8B529}" type="presParOf" srcId="{CF2A7C61-7EF9-4B63-98F0-D3F3E05349E9}" destId="{277D26C8-AE82-43B0-90E6-DDCD4D2B808C}" srcOrd="1" destOrd="0" presId="urn:microsoft.com/office/officeart/2005/8/layout/hierarchy2"/>
    <dgm:cxn modelId="{DD43A1DB-AA77-4C72-9FD7-E51488E5B119}" type="presParOf" srcId="{277D26C8-AE82-43B0-90E6-DDCD4D2B808C}" destId="{634E2A9D-F993-4F51-A5DB-39237D0E3251}" srcOrd="0" destOrd="0" presId="urn:microsoft.com/office/officeart/2005/8/layout/hierarchy2"/>
    <dgm:cxn modelId="{708619EB-21B5-408C-8548-8DB07FE7DA38}" type="presParOf" srcId="{634E2A9D-F993-4F51-A5DB-39237D0E3251}" destId="{8D144568-2837-4EDB-A943-BC1EE614AF8F}" srcOrd="0" destOrd="0" presId="urn:microsoft.com/office/officeart/2005/8/layout/hierarchy2"/>
    <dgm:cxn modelId="{D1B6D0A0-5E69-4F09-B5F2-150B75771EDC}" type="presParOf" srcId="{277D26C8-AE82-43B0-90E6-DDCD4D2B808C}" destId="{E230C61B-FDDF-4CF3-AB7C-DBEAA034B807}" srcOrd="1" destOrd="0" presId="urn:microsoft.com/office/officeart/2005/8/layout/hierarchy2"/>
    <dgm:cxn modelId="{232E225E-91BE-4C25-8981-3D7D63915B74}" type="presParOf" srcId="{E230C61B-FDDF-4CF3-AB7C-DBEAA034B807}" destId="{AE6206BF-878C-43E8-A09B-66E0ECC78DCD}" srcOrd="0" destOrd="0" presId="urn:microsoft.com/office/officeart/2005/8/layout/hierarchy2"/>
    <dgm:cxn modelId="{5DF0F45D-7D73-4CE9-8929-230FD41EE5D9}" type="presParOf" srcId="{E230C61B-FDDF-4CF3-AB7C-DBEAA034B807}" destId="{1887E4AF-0BEB-4EE0-BBED-92BB5F50B82D}" srcOrd="1" destOrd="0" presId="urn:microsoft.com/office/officeart/2005/8/layout/hierarchy2"/>
    <dgm:cxn modelId="{ACC20871-D547-4CC6-A7DB-9D573F37E19D}" type="presParOf" srcId="{1887E4AF-0BEB-4EE0-BBED-92BB5F50B82D}" destId="{C7854E2E-8170-4ED3-9E71-D3518952FDD0}" srcOrd="0" destOrd="0" presId="urn:microsoft.com/office/officeart/2005/8/layout/hierarchy2"/>
    <dgm:cxn modelId="{758081F2-1FD8-4E87-86DB-06E6FECB07EA}" type="presParOf" srcId="{C7854E2E-8170-4ED3-9E71-D3518952FDD0}" destId="{25F52B09-E542-4ECF-8540-E32843B0654D}" srcOrd="0" destOrd="0" presId="urn:microsoft.com/office/officeart/2005/8/layout/hierarchy2"/>
    <dgm:cxn modelId="{F5B3187F-F3C0-438B-8830-C385CB483841}" type="presParOf" srcId="{1887E4AF-0BEB-4EE0-BBED-92BB5F50B82D}" destId="{82C99D4D-2C47-4D1C-ACD4-98BA52131DAB}" srcOrd="1" destOrd="0" presId="urn:microsoft.com/office/officeart/2005/8/layout/hierarchy2"/>
    <dgm:cxn modelId="{C7D6C0DE-82B9-44FB-A036-F07680DF7551}" type="presParOf" srcId="{82C99D4D-2C47-4D1C-ACD4-98BA52131DAB}" destId="{A392F6A9-3C51-4479-AC56-813C01C91E9F}" srcOrd="0" destOrd="0" presId="urn:microsoft.com/office/officeart/2005/8/layout/hierarchy2"/>
    <dgm:cxn modelId="{C6817A45-4EF6-4312-A535-09F693530700}" type="presParOf" srcId="{82C99D4D-2C47-4D1C-ACD4-98BA52131DAB}" destId="{A57D9598-80D4-4963-BF88-867859657F3F}" srcOrd="1" destOrd="0" presId="urn:microsoft.com/office/officeart/2005/8/layout/hierarchy2"/>
    <dgm:cxn modelId="{7665EB7C-7D4A-4625-90DF-7FDEAC96B0E6}" type="presParOf" srcId="{277D26C8-AE82-43B0-90E6-DDCD4D2B808C}" destId="{BE9ADFA0-D73B-4CFA-96A3-2C52AC9882BA}" srcOrd="2" destOrd="0" presId="urn:microsoft.com/office/officeart/2005/8/layout/hierarchy2"/>
    <dgm:cxn modelId="{00EFF6D0-8313-4893-8700-36E595D16C6D}" type="presParOf" srcId="{BE9ADFA0-D73B-4CFA-96A3-2C52AC9882BA}" destId="{0C699F4D-692A-4FFE-955B-0FF33338C373}" srcOrd="0" destOrd="0" presId="urn:microsoft.com/office/officeart/2005/8/layout/hierarchy2"/>
    <dgm:cxn modelId="{7237C76F-AF1F-45DB-A42B-C795C068373A}" type="presParOf" srcId="{277D26C8-AE82-43B0-90E6-DDCD4D2B808C}" destId="{9F5045C1-BE6E-47A1-84D2-99AF6CD5CE0D}" srcOrd="3" destOrd="0" presId="urn:microsoft.com/office/officeart/2005/8/layout/hierarchy2"/>
    <dgm:cxn modelId="{E9AE8CFC-83DF-4347-B27F-56FD8ACA1389}" type="presParOf" srcId="{9F5045C1-BE6E-47A1-84D2-99AF6CD5CE0D}" destId="{90155E1D-BA1F-4213-8EFB-27F2DAEBD074}" srcOrd="0" destOrd="0" presId="urn:microsoft.com/office/officeart/2005/8/layout/hierarchy2"/>
    <dgm:cxn modelId="{3E395284-AD2F-4422-AF85-597F201BECFA}" type="presParOf" srcId="{9F5045C1-BE6E-47A1-84D2-99AF6CD5CE0D}" destId="{1450A7E9-BC77-46AC-8C46-948F151556DD}" srcOrd="1" destOrd="0" presId="urn:microsoft.com/office/officeart/2005/8/layout/hierarchy2"/>
    <dgm:cxn modelId="{6DDDA98A-CB91-4A9C-BB10-267285F3C811}" type="presParOf" srcId="{1450A7E9-BC77-46AC-8C46-948F151556DD}" destId="{61684DB0-B6D1-4DCA-AD18-3ABF628F0EF3}" srcOrd="0" destOrd="0" presId="urn:microsoft.com/office/officeart/2005/8/layout/hierarchy2"/>
    <dgm:cxn modelId="{0CD4F784-E126-4CE1-AE3C-2586B76E1912}" type="presParOf" srcId="{61684DB0-B6D1-4DCA-AD18-3ABF628F0EF3}" destId="{44710701-957A-442E-8436-4364FD72D4DB}" srcOrd="0" destOrd="0" presId="urn:microsoft.com/office/officeart/2005/8/layout/hierarchy2"/>
    <dgm:cxn modelId="{58AE354B-5F0F-4624-AB99-B0D5917F2BC5}" type="presParOf" srcId="{1450A7E9-BC77-46AC-8C46-948F151556DD}" destId="{1BD960EE-0F54-46A3-8FAC-F8ED91AD0BF0}" srcOrd="1" destOrd="0" presId="urn:microsoft.com/office/officeart/2005/8/layout/hierarchy2"/>
    <dgm:cxn modelId="{5688BDE5-A516-4A07-9EA1-07079322E822}" type="presParOf" srcId="{1BD960EE-0F54-46A3-8FAC-F8ED91AD0BF0}" destId="{1B5217A1-8D62-4042-87A2-EAEB7BA6CFC9}" srcOrd="0" destOrd="0" presId="urn:microsoft.com/office/officeart/2005/8/layout/hierarchy2"/>
    <dgm:cxn modelId="{0BAA817D-2ACB-4AD6-87F5-BFD47F933A98}" type="presParOf" srcId="{1BD960EE-0F54-46A3-8FAC-F8ED91AD0BF0}" destId="{E6D3605B-8D8F-4C08-8AA1-060177FF0688}" srcOrd="1" destOrd="0" presId="urn:microsoft.com/office/officeart/2005/8/layout/hierarchy2"/>
    <dgm:cxn modelId="{44C1C0F5-1DAB-4DF8-A2D5-6C85B1096FFA}" type="presParOf" srcId="{277D26C8-AE82-43B0-90E6-DDCD4D2B808C}" destId="{57658BDC-54CE-4F87-B710-E9C2521A6A3B}" srcOrd="4" destOrd="0" presId="urn:microsoft.com/office/officeart/2005/8/layout/hierarchy2"/>
    <dgm:cxn modelId="{1E2A8863-E8AA-425F-A1F5-56A11F2F0D59}" type="presParOf" srcId="{57658BDC-54CE-4F87-B710-E9C2521A6A3B}" destId="{8308FE71-4A91-4A69-9CDA-05C7B1B8F702}" srcOrd="0" destOrd="0" presId="urn:microsoft.com/office/officeart/2005/8/layout/hierarchy2"/>
    <dgm:cxn modelId="{877D223F-D2D5-48FD-AD03-53640DE63173}" type="presParOf" srcId="{277D26C8-AE82-43B0-90E6-DDCD4D2B808C}" destId="{B67E473A-0F19-4033-85C0-3BF6083983CF}" srcOrd="5" destOrd="0" presId="urn:microsoft.com/office/officeart/2005/8/layout/hierarchy2"/>
    <dgm:cxn modelId="{D697990B-B28E-4020-852F-C3C4A3528FFF}" type="presParOf" srcId="{B67E473A-0F19-4033-85C0-3BF6083983CF}" destId="{02F4BF10-8DA6-4493-93B2-B809BC82B59C}" srcOrd="0" destOrd="0" presId="urn:microsoft.com/office/officeart/2005/8/layout/hierarchy2"/>
    <dgm:cxn modelId="{8E32931D-27A7-44A8-8BFB-020C74B1EC4B}" type="presParOf" srcId="{B67E473A-0F19-4033-85C0-3BF6083983CF}" destId="{45F1BE08-64F6-41E8-A133-9AB679835846}" srcOrd="1" destOrd="0" presId="urn:microsoft.com/office/officeart/2005/8/layout/hierarchy2"/>
    <dgm:cxn modelId="{659D46FC-C978-4C4C-AD8D-A1F203A3F365}" type="presParOf" srcId="{45F1BE08-64F6-41E8-A133-9AB679835846}" destId="{B01DFB2A-6551-4409-B75F-A1595EEAA8C1}" srcOrd="0" destOrd="0" presId="urn:microsoft.com/office/officeart/2005/8/layout/hierarchy2"/>
    <dgm:cxn modelId="{9B5E0EAF-9033-4DFF-A67C-7E54162AE60D}" type="presParOf" srcId="{B01DFB2A-6551-4409-B75F-A1595EEAA8C1}" destId="{504B4759-316E-47CD-83E8-86A0D3FA7C64}" srcOrd="0" destOrd="0" presId="urn:microsoft.com/office/officeart/2005/8/layout/hierarchy2"/>
    <dgm:cxn modelId="{180D37DE-8026-4E17-A04D-DA1CF9EB07BA}" type="presParOf" srcId="{45F1BE08-64F6-41E8-A133-9AB679835846}" destId="{E0B476CA-A735-4516-AEBB-73DB6DE0B2FE}" srcOrd="1" destOrd="0" presId="urn:microsoft.com/office/officeart/2005/8/layout/hierarchy2"/>
    <dgm:cxn modelId="{EAB54B24-7BFA-4E67-B00B-1DBB4A3A6408}" type="presParOf" srcId="{E0B476CA-A735-4516-AEBB-73DB6DE0B2FE}" destId="{068AFA6E-8947-4017-A6F8-AA65A453679E}" srcOrd="0" destOrd="0" presId="urn:microsoft.com/office/officeart/2005/8/layout/hierarchy2"/>
    <dgm:cxn modelId="{D334644F-C16D-45EC-9AB8-D6CDF7302074}" type="presParOf" srcId="{E0B476CA-A735-4516-AEBB-73DB6DE0B2FE}" destId="{95AD9FB0-CBBF-4849-A760-9F96B8C77337}"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51FBCBB-4973-4B69-AD87-C3B1648BDBAE}" type="doc">
      <dgm:prSet loTypeId="urn:microsoft.com/office/officeart/2005/8/layout/chevron2" loCatId="process" qsTypeId="urn:microsoft.com/office/officeart/2005/8/quickstyle/simple1" qsCatId="simple" csTypeId="urn:microsoft.com/office/officeart/2005/8/colors/colorful1" csCatId="colorful" phldr="1"/>
      <dgm:spPr/>
      <dgm:t>
        <a:bodyPr/>
        <a:lstStyle/>
        <a:p>
          <a:endParaRPr lang="en-US"/>
        </a:p>
      </dgm:t>
    </dgm:pt>
    <dgm:pt modelId="{B30EBE40-037C-440B-9BCB-43D375050B94}">
      <dgm:prSet custT="1"/>
      <dgm:spPr/>
      <dgm:t>
        <a:bodyPr/>
        <a:lstStyle/>
        <a:p>
          <a:r>
            <a:rPr lang="en-US" sz="2000" dirty="0"/>
            <a:t>Deductions are allowed from the </a:t>
          </a:r>
          <a:r>
            <a:rPr lang="en-US" sz="2000" b="1" dirty="0"/>
            <a:t>net annual value </a:t>
          </a:r>
          <a:endParaRPr lang="en-US" sz="2000" dirty="0"/>
        </a:p>
      </dgm:t>
    </dgm:pt>
    <dgm:pt modelId="{1C0BF5B4-9BFA-43DC-B7BF-D5AC6942F3AA}" type="parTrans" cxnId="{A594CE89-6826-40B5-93E5-438C5C74DEBE}">
      <dgm:prSet/>
      <dgm:spPr/>
      <dgm:t>
        <a:bodyPr/>
        <a:lstStyle/>
        <a:p>
          <a:endParaRPr lang="en-US"/>
        </a:p>
      </dgm:t>
    </dgm:pt>
    <dgm:pt modelId="{B9E79F42-1A9C-485F-BA38-68EFFEE2C14C}" type="sibTrans" cxnId="{A594CE89-6826-40B5-93E5-438C5C74DEBE}">
      <dgm:prSet/>
      <dgm:spPr/>
      <dgm:t>
        <a:bodyPr/>
        <a:lstStyle/>
        <a:p>
          <a:endParaRPr lang="en-US"/>
        </a:p>
      </dgm:t>
    </dgm:pt>
    <dgm:pt modelId="{EF31A14B-99E3-4BE1-AD28-3AEFCCD7E4F2}">
      <dgm:prSet/>
      <dgm:spPr/>
      <dgm:t>
        <a:bodyPr/>
        <a:lstStyle/>
        <a:p>
          <a:r>
            <a:rPr lang="en-US" b="1"/>
            <a:t>30%</a:t>
          </a:r>
          <a:r>
            <a:rPr lang="en-US"/>
            <a:t> of NAV (</a:t>
          </a:r>
          <a:r>
            <a:rPr lang="en-US" b="1"/>
            <a:t>Standard deduction</a:t>
          </a:r>
          <a:r>
            <a:rPr lang="en-US"/>
            <a:t>)</a:t>
          </a:r>
        </a:p>
      </dgm:t>
    </dgm:pt>
    <dgm:pt modelId="{D5B6B88D-DE74-4C10-ABA4-9FA06DBF5294}" type="parTrans" cxnId="{ADD35A35-E794-4331-AEBF-AABD0A4AC7BE}">
      <dgm:prSet/>
      <dgm:spPr/>
      <dgm:t>
        <a:bodyPr/>
        <a:lstStyle/>
        <a:p>
          <a:endParaRPr lang="en-US"/>
        </a:p>
      </dgm:t>
    </dgm:pt>
    <dgm:pt modelId="{6B04CFF3-3ECF-4AB2-B480-ABDBAA5F5B6F}" type="sibTrans" cxnId="{ADD35A35-E794-4331-AEBF-AABD0A4AC7BE}">
      <dgm:prSet/>
      <dgm:spPr/>
      <dgm:t>
        <a:bodyPr/>
        <a:lstStyle/>
        <a:p>
          <a:endParaRPr lang="en-US"/>
        </a:p>
      </dgm:t>
    </dgm:pt>
    <dgm:pt modelId="{26C63834-9AE3-4036-9E87-A616AD68B729}">
      <dgm:prSet/>
      <dgm:spPr/>
      <dgm:t>
        <a:bodyPr/>
        <a:lstStyle/>
        <a:p>
          <a:r>
            <a:rPr lang="en-US" b="1"/>
            <a:t>Interest</a:t>
          </a:r>
          <a:r>
            <a:rPr lang="en-US"/>
            <a:t> on borrowed capital</a:t>
          </a:r>
        </a:p>
      </dgm:t>
    </dgm:pt>
    <dgm:pt modelId="{F0F6655A-D42A-422B-BE5B-ADEA935B7FFC}" type="parTrans" cxnId="{B12A4E99-C00E-4420-A3A2-6DF81635DDDA}">
      <dgm:prSet/>
      <dgm:spPr/>
      <dgm:t>
        <a:bodyPr/>
        <a:lstStyle/>
        <a:p>
          <a:endParaRPr lang="en-US"/>
        </a:p>
      </dgm:t>
    </dgm:pt>
    <dgm:pt modelId="{3A748749-C803-4CE9-B3BD-B000BE59DCC7}" type="sibTrans" cxnId="{B12A4E99-C00E-4420-A3A2-6DF81635DDDA}">
      <dgm:prSet/>
      <dgm:spPr/>
      <dgm:t>
        <a:bodyPr/>
        <a:lstStyle/>
        <a:p>
          <a:endParaRPr lang="en-US"/>
        </a:p>
      </dgm:t>
    </dgm:pt>
    <dgm:pt modelId="{BC78E6A1-95C8-40DC-81C4-F8234C71FF75}">
      <dgm:prSet custT="1"/>
      <dgm:spPr/>
      <dgm:t>
        <a:bodyPr/>
        <a:lstStyle/>
        <a:p>
          <a:endParaRPr lang="en-US" sz="1800" dirty="0"/>
        </a:p>
        <a:p>
          <a:r>
            <a:rPr lang="en-US" sz="1800" dirty="0"/>
            <a:t>Interest on loans taken for reasons can be claimed as deduction</a:t>
          </a:r>
        </a:p>
      </dgm:t>
    </dgm:pt>
    <dgm:pt modelId="{4B8B020E-BB72-469C-8951-C82B43A08C0C}" type="parTrans" cxnId="{D372205D-1580-4DAD-BB2A-56370EC6BB16}">
      <dgm:prSet/>
      <dgm:spPr/>
      <dgm:t>
        <a:bodyPr/>
        <a:lstStyle/>
        <a:p>
          <a:endParaRPr lang="en-US"/>
        </a:p>
      </dgm:t>
    </dgm:pt>
    <dgm:pt modelId="{77046678-D580-4FFC-8980-513079DE9181}" type="sibTrans" cxnId="{D372205D-1580-4DAD-BB2A-56370EC6BB16}">
      <dgm:prSet/>
      <dgm:spPr/>
      <dgm:t>
        <a:bodyPr/>
        <a:lstStyle/>
        <a:p>
          <a:endParaRPr lang="en-US"/>
        </a:p>
      </dgm:t>
    </dgm:pt>
    <dgm:pt modelId="{C1BBEE5A-6A6B-45D7-AD54-194D47759FD9}">
      <dgm:prSet/>
      <dgm:spPr/>
      <dgm:t>
        <a:bodyPr/>
        <a:lstStyle/>
        <a:p>
          <a:r>
            <a:rPr lang="en-US"/>
            <a:t>Acquisition</a:t>
          </a:r>
        </a:p>
      </dgm:t>
    </dgm:pt>
    <dgm:pt modelId="{4BCB0517-EBBE-4BF0-AA6D-41E00FE0E676}" type="parTrans" cxnId="{84C49016-4FD9-4D58-B378-5BA223B296DF}">
      <dgm:prSet/>
      <dgm:spPr/>
      <dgm:t>
        <a:bodyPr/>
        <a:lstStyle/>
        <a:p>
          <a:endParaRPr lang="en-US"/>
        </a:p>
      </dgm:t>
    </dgm:pt>
    <dgm:pt modelId="{ED5EBFE2-D20C-4468-8F05-F1B92D447077}" type="sibTrans" cxnId="{84C49016-4FD9-4D58-B378-5BA223B296DF}">
      <dgm:prSet/>
      <dgm:spPr/>
      <dgm:t>
        <a:bodyPr/>
        <a:lstStyle/>
        <a:p>
          <a:endParaRPr lang="en-US"/>
        </a:p>
      </dgm:t>
    </dgm:pt>
    <dgm:pt modelId="{DF416B17-6F37-46F5-8FF7-A0B566A17EA4}">
      <dgm:prSet/>
      <dgm:spPr/>
      <dgm:t>
        <a:bodyPr/>
        <a:lstStyle/>
        <a:p>
          <a:r>
            <a:rPr lang="en-US"/>
            <a:t>Construction</a:t>
          </a:r>
        </a:p>
      </dgm:t>
    </dgm:pt>
    <dgm:pt modelId="{09CDBC45-49B2-403F-8203-04739844A18F}" type="parTrans" cxnId="{2A5F70CF-26DC-4ACB-9435-01727A67DC0F}">
      <dgm:prSet/>
      <dgm:spPr/>
      <dgm:t>
        <a:bodyPr/>
        <a:lstStyle/>
        <a:p>
          <a:endParaRPr lang="en-US"/>
        </a:p>
      </dgm:t>
    </dgm:pt>
    <dgm:pt modelId="{903673C0-9E1E-4613-91DB-FF77A608EF12}" type="sibTrans" cxnId="{2A5F70CF-26DC-4ACB-9435-01727A67DC0F}">
      <dgm:prSet/>
      <dgm:spPr/>
      <dgm:t>
        <a:bodyPr/>
        <a:lstStyle/>
        <a:p>
          <a:endParaRPr lang="en-US"/>
        </a:p>
      </dgm:t>
    </dgm:pt>
    <dgm:pt modelId="{21FD8E50-BAD0-4924-B302-30BE42CD17C7}">
      <dgm:prSet/>
      <dgm:spPr/>
      <dgm:t>
        <a:bodyPr/>
        <a:lstStyle/>
        <a:p>
          <a:r>
            <a:rPr lang="en-US"/>
            <a:t>Repairs </a:t>
          </a:r>
        </a:p>
      </dgm:t>
    </dgm:pt>
    <dgm:pt modelId="{32F92E95-4344-4FF0-BAF3-6079241FD889}" type="parTrans" cxnId="{79444643-F54C-44F6-A5D2-396AF675F8B7}">
      <dgm:prSet/>
      <dgm:spPr/>
      <dgm:t>
        <a:bodyPr/>
        <a:lstStyle/>
        <a:p>
          <a:endParaRPr lang="en-US"/>
        </a:p>
      </dgm:t>
    </dgm:pt>
    <dgm:pt modelId="{00CB3202-000F-4098-8FE6-110097464409}" type="sibTrans" cxnId="{79444643-F54C-44F6-A5D2-396AF675F8B7}">
      <dgm:prSet/>
      <dgm:spPr/>
      <dgm:t>
        <a:bodyPr/>
        <a:lstStyle/>
        <a:p>
          <a:endParaRPr lang="en-US"/>
        </a:p>
      </dgm:t>
    </dgm:pt>
    <dgm:pt modelId="{B078B28A-F326-4179-9B1C-EC274F3D8D2E}">
      <dgm:prSet/>
      <dgm:spPr/>
      <dgm:t>
        <a:bodyPr/>
        <a:lstStyle/>
        <a:p>
          <a:r>
            <a:rPr lang="en-US"/>
            <a:t>Renewal</a:t>
          </a:r>
        </a:p>
      </dgm:t>
    </dgm:pt>
    <dgm:pt modelId="{F42F9786-5EA2-4083-BE62-129B5D465324}" type="parTrans" cxnId="{DC972A71-2843-415E-BED9-4F29BBB5557D}">
      <dgm:prSet/>
      <dgm:spPr/>
      <dgm:t>
        <a:bodyPr/>
        <a:lstStyle/>
        <a:p>
          <a:endParaRPr lang="en-US"/>
        </a:p>
      </dgm:t>
    </dgm:pt>
    <dgm:pt modelId="{216C1A5F-F4FE-49B4-86F5-A5FDD332FF35}" type="sibTrans" cxnId="{DC972A71-2843-415E-BED9-4F29BBB5557D}">
      <dgm:prSet/>
      <dgm:spPr/>
      <dgm:t>
        <a:bodyPr/>
        <a:lstStyle/>
        <a:p>
          <a:endParaRPr lang="en-US"/>
        </a:p>
      </dgm:t>
    </dgm:pt>
    <dgm:pt modelId="{613B5892-EC16-4FAB-849D-BC11024A5017}">
      <dgm:prSet/>
      <dgm:spPr/>
      <dgm:t>
        <a:bodyPr/>
        <a:lstStyle/>
        <a:p>
          <a:r>
            <a:rPr lang="en-US"/>
            <a:t>Reconstruction.</a:t>
          </a:r>
        </a:p>
      </dgm:t>
    </dgm:pt>
    <dgm:pt modelId="{DA7C26F7-7CD0-4312-8A8F-D366E3EC7B6D}" type="parTrans" cxnId="{3225BA59-DCA8-43D2-B637-BB928ED44D03}">
      <dgm:prSet/>
      <dgm:spPr/>
      <dgm:t>
        <a:bodyPr/>
        <a:lstStyle/>
        <a:p>
          <a:endParaRPr lang="en-US"/>
        </a:p>
      </dgm:t>
    </dgm:pt>
    <dgm:pt modelId="{454BEB12-2E83-4E26-AB31-51AD0D033A83}" type="sibTrans" cxnId="{3225BA59-DCA8-43D2-B637-BB928ED44D03}">
      <dgm:prSet/>
      <dgm:spPr/>
      <dgm:t>
        <a:bodyPr/>
        <a:lstStyle/>
        <a:p>
          <a:endParaRPr lang="en-US"/>
        </a:p>
      </dgm:t>
    </dgm:pt>
    <dgm:pt modelId="{9C2086D2-25C6-414B-8CA5-EE579224F754}" type="pres">
      <dgm:prSet presAssocID="{151FBCBB-4973-4B69-AD87-C3B1648BDBAE}" presName="linearFlow" presStyleCnt="0">
        <dgm:presLayoutVars>
          <dgm:dir/>
          <dgm:animLvl val="lvl"/>
          <dgm:resizeHandles val="exact"/>
        </dgm:presLayoutVars>
      </dgm:prSet>
      <dgm:spPr/>
    </dgm:pt>
    <dgm:pt modelId="{4B8022A1-DBFC-4A93-9153-D24D5BB39315}" type="pres">
      <dgm:prSet presAssocID="{B30EBE40-037C-440B-9BCB-43D375050B94}" presName="composite" presStyleCnt="0"/>
      <dgm:spPr/>
    </dgm:pt>
    <dgm:pt modelId="{F6C72A3E-E943-4833-B7F4-256EDA68B1B6}" type="pres">
      <dgm:prSet presAssocID="{B30EBE40-037C-440B-9BCB-43D375050B94}" presName="parentText" presStyleLbl="alignNode1" presStyleIdx="0" presStyleCnt="2">
        <dgm:presLayoutVars>
          <dgm:chMax val="1"/>
          <dgm:bulletEnabled val="1"/>
        </dgm:presLayoutVars>
      </dgm:prSet>
      <dgm:spPr/>
    </dgm:pt>
    <dgm:pt modelId="{E941B513-DFB3-4BAD-9238-DA2791A8A7FB}" type="pres">
      <dgm:prSet presAssocID="{B30EBE40-037C-440B-9BCB-43D375050B94}" presName="descendantText" presStyleLbl="alignAcc1" presStyleIdx="0" presStyleCnt="2">
        <dgm:presLayoutVars>
          <dgm:bulletEnabled val="1"/>
        </dgm:presLayoutVars>
      </dgm:prSet>
      <dgm:spPr/>
    </dgm:pt>
    <dgm:pt modelId="{B4FF81A2-A309-4EF4-B532-78C992FAA1FA}" type="pres">
      <dgm:prSet presAssocID="{B9E79F42-1A9C-485F-BA38-68EFFEE2C14C}" presName="sp" presStyleCnt="0"/>
      <dgm:spPr/>
    </dgm:pt>
    <dgm:pt modelId="{F6DF8CD4-917E-4B38-BD14-6D3708159CAF}" type="pres">
      <dgm:prSet presAssocID="{BC78E6A1-95C8-40DC-81C4-F8234C71FF75}" presName="composite" presStyleCnt="0"/>
      <dgm:spPr/>
    </dgm:pt>
    <dgm:pt modelId="{9C5BE66B-8FF0-425E-B220-2463938B295C}" type="pres">
      <dgm:prSet presAssocID="{BC78E6A1-95C8-40DC-81C4-F8234C71FF75}" presName="parentText" presStyleLbl="alignNode1" presStyleIdx="1" presStyleCnt="2">
        <dgm:presLayoutVars>
          <dgm:chMax val="1"/>
          <dgm:bulletEnabled val="1"/>
        </dgm:presLayoutVars>
      </dgm:prSet>
      <dgm:spPr/>
    </dgm:pt>
    <dgm:pt modelId="{4C1E7391-2451-40FE-99D5-328BC89FAB6F}" type="pres">
      <dgm:prSet presAssocID="{BC78E6A1-95C8-40DC-81C4-F8234C71FF75}" presName="descendantText" presStyleLbl="alignAcc1" presStyleIdx="1" presStyleCnt="2">
        <dgm:presLayoutVars>
          <dgm:bulletEnabled val="1"/>
        </dgm:presLayoutVars>
      </dgm:prSet>
      <dgm:spPr/>
    </dgm:pt>
  </dgm:ptLst>
  <dgm:cxnLst>
    <dgm:cxn modelId="{5D46D002-722F-4BB8-8F6A-17FE69D26558}" type="presOf" srcId="{151FBCBB-4973-4B69-AD87-C3B1648BDBAE}" destId="{9C2086D2-25C6-414B-8CA5-EE579224F754}" srcOrd="0" destOrd="0" presId="urn:microsoft.com/office/officeart/2005/8/layout/chevron2"/>
    <dgm:cxn modelId="{84C49016-4FD9-4D58-B378-5BA223B296DF}" srcId="{BC78E6A1-95C8-40DC-81C4-F8234C71FF75}" destId="{C1BBEE5A-6A6B-45D7-AD54-194D47759FD9}" srcOrd="0" destOrd="0" parTransId="{4BCB0517-EBBE-4BF0-AA6D-41E00FE0E676}" sibTransId="{ED5EBFE2-D20C-4468-8F05-F1B92D447077}"/>
    <dgm:cxn modelId="{D4FFA71B-44D8-40B3-BDC3-15FADE530C51}" type="presOf" srcId="{BC78E6A1-95C8-40DC-81C4-F8234C71FF75}" destId="{9C5BE66B-8FF0-425E-B220-2463938B295C}" srcOrd="0" destOrd="0" presId="urn:microsoft.com/office/officeart/2005/8/layout/chevron2"/>
    <dgm:cxn modelId="{ABC90B29-D8CB-47FD-947C-F20C1EB352A6}" type="presOf" srcId="{26C63834-9AE3-4036-9E87-A616AD68B729}" destId="{E941B513-DFB3-4BAD-9238-DA2791A8A7FB}" srcOrd="0" destOrd="1" presId="urn:microsoft.com/office/officeart/2005/8/layout/chevron2"/>
    <dgm:cxn modelId="{330DEB29-BE6A-4FA8-8C51-68FD5819C7F4}" type="presOf" srcId="{613B5892-EC16-4FAB-849D-BC11024A5017}" destId="{4C1E7391-2451-40FE-99D5-328BC89FAB6F}" srcOrd="0" destOrd="4" presId="urn:microsoft.com/office/officeart/2005/8/layout/chevron2"/>
    <dgm:cxn modelId="{5D1A4330-6B33-4BB1-ADB4-8BE47E910119}" type="presOf" srcId="{B30EBE40-037C-440B-9BCB-43D375050B94}" destId="{F6C72A3E-E943-4833-B7F4-256EDA68B1B6}" srcOrd="0" destOrd="0" presId="urn:microsoft.com/office/officeart/2005/8/layout/chevron2"/>
    <dgm:cxn modelId="{ADD35A35-E794-4331-AEBF-AABD0A4AC7BE}" srcId="{B30EBE40-037C-440B-9BCB-43D375050B94}" destId="{EF31A14B-99E3-4BE1-AD28-3AEFCCD7E4F2}" srcOrd="0" destOrd="0" parTransId="{D5B6B88D-DE74-4C10-ABA4-9FA06DBF5294}" sibTransId="{6B04CFF3-3ECF-4AB2-B480-ABDBAA5F5B6F}"/>
    <dgm:cxn modelId="{D372205D-1580-4DAD-BB2A-56370EC6BB16}" srcId="{151FBCBB-4973-4B69-AD87-C3B1648BDBAE}" destId="{BC78E6A1-95C8-40DC-81C4-F8234C71FF75}" srcOrd="1" destOrd="0" parTransId="{4B8B020E-BB72-469C-8951-C82B43A08C0C}" sibTransId="{77046678-D580-4FFC-8980-513079DE9181}"/>
    <dgm:cxn modelId="{79444643-F54C-44F6-A5D2-396AF675F8B7}" srcId="{BC78E6A1-95C8-40DC-81C4-F8234C71FF75}" destId="{21FD8E50-BAD0-4924-B302-30BE42CD17C7}" srcOrd="2" destOrd="0" parTransId="{32F92E95-4344-4FF0-BAF3-6079241FD889}" sibTransId="{00CB3202-000F-4098-8FE6-110097464409}"/>
    <dgm:cxn modelId="{DC972A71-2843-415E-BED9-4F29BBB5557D}" srcId="{BC78E6A1-95C8-40DC-81C4-F8234C71FF75}" destId="{B078B28A-F326-4179-9B1C-EC274F3D8D2E}" srcOrd="3" destOrd="0" parTransId="{F42F9786-5EA2-4083-BE62-129B5D465324}" sibTransId="{216C1A5F-F4FE-49B4-86F5-A5FDD332FF35}"/>
    <dgm:cxn modelId="{3225BA59-DCA8-43D2-B637-BB928ED44D03}" srcId="{BC78E6A1-95C8-40DC-81C4-F8234C71FF75}" destId="{613B5892-EC16-4FAB-849D-BC11024A5017}" srcOrd="4" destOrd="0" parTransId="{DA7C26F7-7CD0-4312-8A8F-D366E3EC7B6D}" sibTransId="{454BEB12-2E83-4E26-AB31-51AD0D033A83}"/>
    <dgm:cxn modelId="{6AB6A37B-ED8B-4D5E-938A-7FAE17993FF9}" type="presOf" srcId="{21FD8E50-BAD0-4924-B302-30BE42CD17C7}" destId="{4C1E7391-2451-40FE-99D5-328BC89FAB6F}" srcOrd="0" destOrd="2" presId="urn:microsoft.com/office/officeart/2005/8/layout/chevron2"/>
    <dgm:cxn modelId="{41D9A984-6CAF-41D3-AB09-CD2960331439}" type="presOf" srcId="{C1BBEE5A-6A6B-45D7-AD54-194D47759FD9}" destId="{4C1E7391-2451-40FE-99D5-328BC89FAB6F}" srcOrd="0" destOrd="0" presId="urn:microsoft.com/office/officeart/2005/8/layout/chevron2"/>
    <dgm:cxn modelId="{157E2B86-8B28-423C-AD86-140570454390}" type="presOf" srcId="{EF31A14B-99E3-4BE1-AD28-3AEFCCD7E4F2}" destId="{E941B513-DFB3-4BAD-9238-DA2791A8A7FB}" srcOrd="0" destOrd="0" presId="urn:microsoft.com/office/officeart/2005/8/layout/chevron2"/>
    <dgm:cxn modelId="{A594CE89-6826-40B5-93E5-438C5C74DEBE}" srcId="{151FBCBB-4973-4B69-AD87-C3B1648BDBAE}" destId="{B30EBE40-037C-440B-9BCB-43D375050B94}" srcOrd="0" destOrd="0" parTransId="{1C0BF5B4-9BFA-43DC-B7BF-D5AC6942F3AA}" sibTransId="{B9E79F42-1A9C-485F-BA38-68EFFEE2C14C}"/>
    <dgm:cxn modelId="{7F45BE93-38D4-4B48-9BDD-2156576D6FA1}" type="presOf" srcId="{B078B28A-F326-4179-9B1C-EC274F3D8D2E}" destId="{4C1E7391-2451-40FE-99D5-328BC89FAB6F}" srcOrd="0" destOrd="3" presId="urn:microsoft.com/office/officeart/2005/8/layout/chevron2"/>
    <dgm:cxn modelId="{B12A4E99-C00E-4420-A3A2-6DF81635DDDA}" srcId="{B30EBE40-037C-440B-9BCB-43D375050B94}" destId="{26C63834-9AE3-4036-9E87-A616AD68B729}" srcOrd="1" destOrd="0" parTransId="{F0F6655A-D42A-422B-BE5B-ADEA935B7FFC}" sibTransId="{3A748749-C803-4CE9-B3BD-B000BE59DCC7}"/>
    <dgm:cxn modelId="{4F47B6B0-5825-4DA2-AE17-B40A8613E4E8}" type="presOf" srcId="{DF416B17-6F37-46F5-8FF7-A0B566A17EA4}" destId="{4C1E7391-2451-40FE-99D5-328BC89FAB6F}" srcOrd="0" destOrd="1" presId="urn:microsoft.com/office/officeart/2005/8/layout/chevron2"/>
    <dgm:cxn modelId="{2A5F70CF-26DC-4ACB-9435-01727A67DC0F}" srcId="{BC78E6A1-95C8-40DC-81C4-F8234C71FF75}" destId="{DF416B17-6F37-46F5-8FF7-A0B566A17EA4}" srcOrd="1" destOrd="0" parTransId="{09CDBC45-49B2-403F-8203-04739844A18F}" sibTransId="{903673C0-9E1E-4613-91DB-FF77A608EF12}"/>
    <dgm:cxn modelId="{3274C97D-475E-4159-B88B-F09C5DDE9760}" type="presParOf" srcId="{9C2086D2-25C6-414B-8CA5-EE579224F754}" destId="{4B8022A1-DBFC-4A93-9153-D24D5BB39315}" srcOrd="0" destOrd="0" presId="urn:microsoft.com/office/officeart/2005/8/layout/chevron2"/>
    <dgm:cxn modelId="{222E3090-B668-4C86-9121-D5401193A384}" type="presParOf" srcId="{4B8022A1-DBFC-4A93-9153-D24D5BB39315}" destId="{F6C72A3E-E943-4833-B7F4-256EDA68B1B6}" srcOrd="0" destOrd="0" presId="urn:microsoft.com/office/officeart/2005/8/layout/chevron2"/>
    <dgm:cxn modelId="{3CD0BB63-AC5E-4500-94BE-E31A9A49C8B4}" type="presParOf" srcId="{4B8022A1-DBFC-4A93-9153-D24D5BB39315}" destId="{E941B513-DFB3-4BAD-9238-DA2791A8A7FB}" srcOrd="1" destOrd="0" presId="urn:microsoft.com/office/officeart/2005/8/layout/chevron2"/>
    <dgm:cxn modelId="{40C2E90A-ECCE-4D39-962A-FF2987B00FB8}" type="presParOf" srcId="{9C2086D2-25C6-414B-8CA5-EE579224F754}" destId="{B4FF81A2-A309-4EF4-B532-78C992FAA1FA}" srcOrd="1" destOrd="0" presId="urn:microsoft.com/office/officeart/2005/8/layout/chevron2"/>
    <dgm:cxn modelId="{F909BF82-5C7D-4860-A5BD-69B3979E8E23}" type="presParOf" srcId="{9C2086D2-25C6-414B-8CA5-EE579224F754}" destId="{F6DF8CD4-917E-4B38-BD14-6D3708159CAF}" srcOrd="2" destOrd="0" presId="urn:microsoft.com/office/officeart/2005/8/layout/chevron2"/>
    <dgm:cxn modelId="{858BAF6C-C06E-4581-811A-F318BF79DDF4}" type="presParOf" srcId="{F6DF8CD4-917E-4B38-BD14-6D3708159CAF}" destId="{9C5BE66B-8FF0-425E-B220-2463938B295C}" srcOrd="0" destOrd="0" presId="urn:microsoft.com/office/officeart/2005/8/layout/chevron2"/>
    <dgm:cxn modelId="{E024EF5F-CEFC-4E09-9B0E-ACF45E59A171}" type="presParOf" srcId="{F6DF8CD4-917E-4B38-BD14-6D3708159CAF}" destId="{4C1E7391-2451-40FE-99D5-328BC89FAB6F}"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FAE08C4-F7A8-4FF4-AA2A-3F7DD0FA3D33}" type="doc">
      <dgm:prSet loTypeId="urn:microsoft.com/office/officeart/2005/8/layout/venn1" loCatId="relationship" qsTypeId="urn:microsoft.com/office/officeart/2005/8/quickstyle/simple1" qsCatId="simple" csTypeId="urn:microsoft.com/office/officeart/2005/8/colors/colorful2" csCatId="colorful"/>
      <dgm:spPr/>
      <dgm:t>
        <a:bodyPr/>
        <a:lstStyle/>
        <a:p>
          <a:endParaRPr lang="en-US"/>
        </a:p>
      </dgm:t>
    </dgm:pt>
    <dgm:pt modelId="{521711A3-3414-4966-950A-A395B9B80E86}">
      <dgm:prSet/>
      <dgm:spPr/>
      <dgm:t>
        <a:bodyPr/>
        <a:lstStyle/>
        <a:p>
          <a:r>
            <a:rPr lang="en-US"/>
            <a:t>Company</a:t>
          </a:r>
        </a:p>
      </dgm:t>
    </dgm:pt>
    <dgm:pt modelId="{4F57BC6F-1C85-4274-9E36-DE2BFDF3E74E}" type="parTrans" cxnId="{472500C0-72B4-4CCF-8681-E13D959105F1}">
      <dgm:prSet/>
      <dgm:spPr/>
      <dgm:t>
        <a:bodyPr/>
        <a:lstStyle/>
        <a:p>
          <a:endParaRPr lang="en-US"/>
        </a:p>
      </dgm:t>
    </dgm:pt>
    <dgm:pt modelId="{10B28FEC-BD43-49B2-8DD1-E16D69ED3181}" type="sibTrans" cxnId="{472500C0-72B4-4CCF-8681-E13D959105F1}">
      <dgm:prSet/>
      <dgm:spPr/>
      <dgm:t>
        <a:bodyPr/>
        <a:lstStyle/>
        <a:p>
          <a:endParaRPr lang="en-US"/>
        </a:p>
      </dgm:t>
    </dgm:pt>
    <dgm:pt modelId="{5197D1DC-FFCA-482D-BFD4-EBBDD40804D9}">
      <dgm:prSet/>
      <dgm:spPr/>
      <dgm:t>
        <a:bodyPr/>
        <a:lstStyle/>
        <a:p>
          <a:r>
            <a:rPr lang="en-US"/>
            <a:t>Firm</a:t>
          </a:r>
        </a:p>
      </dgm:t>
    </dgm:pt>
    <dgm:pt modelId="{2CE29EBF-7DF5-4E4F-8AD9-117DE84959D6}" type="parTrans" cxnId="{44FFD02C-3BC0-4127-8362-F3CBA958D405}">
      <dgm:prSet/>
      <dgm:spPr/>
      <dgm:t>
        <a:bodyPr/>
        <a:lstStyle/>
        <a:p>
          <a:endParaRPr lang="en-US"/>
        </a:p>
      </dgm:t>
    </dgm:pt>
    <dgm:pt modelId="{76DC4E38-4403-43AC-B071-841BD98441DF}" type="sibTrans" cxnId="{44FFD02C-3BC0-4127-8362-F3CBA958D405}">
      <dgm:prSet/>
      <dgm:spPr/>
      <dgm:t>
        <a:bodyPr/>
        <a:lstStyle/>
        <a:p>
          <a:endParaRPr lang="en-US"/>
        </a:p>
      </dgm:t>
    </dgm:pt>
    <dgm:pt modelId="{84F9FC1C-D292-46C5-BB18-2F13E6F02955}" type="pres">
      <dgm:prSet presAssocID="{2FAE08C4-F7A8-4FF4-AA2A-3F7DD0FA3D33}" presName="compositeShape" presStyleCnt="0">
        <dgm:presLayoutVars>
          <dgm:chMax val="7"/>
          <dgm:dir/>
          <dgm:resizeHandles val="exact"/>
        </dgm:presLayoutVars>
      </dgm:prSet>
      <dgm:spPr/>
    </dgm:pt>
    <dgm:pt modelId="{66039F73-0B86-4F6F-943A-72489FE63A83}" type="pres">
      <dgm:prSet presAssocID="{521711A3-3414-4966-950A-A395B9B80E86}" presName="circ1" presStyleLbl="vennNode1" presStyleIdx="0" presStyleCnt="2"/>
      <dgm:spPr/>
    </dgm:pt>
    <dgm:pt modelId="{F5600269-DAFC-4140-A4A2-FB994AE87295}" type="pres">
      <dgm:prSet presAssocID="{521711A3-3414-4966-950A-A395B9B80E86}" presName="circ1Tx" presStyleLbl="revTx" presStyleIdx="0" presStyleCnt="0">
        <dgm:presLayoutVars>
          <dgm:chMax val="0"/>
          <dgm:chPref val="0"/>
          <dgm:bulletEnabled val="1"/>
        </dgm:presLayoutVars>
      </dgm:prSet>
      <dgm:spPr/>
    </dgm:pt>
    <dgm:pt modelId="{D48D1F56-6D61-4A21-87C5-6D8184FCF706}" type="pres">
      <dgm:prSet presAssocID="{5197D1DC-FFCA-482D-BFD4-EBBDD40804D9}" presName="circ2" presStyleLbl="vennNode1" presStyleIdx="1" presStyleCnt="2"/>
      <dgm:spPr/>
    </dgm:pt>
    <dgm:pt modelId="{FDAFCCD9-82D2-457F-AAB5-6400A5C9DFCF}" type="pres">
      <dgm:prSet presAssocID="{5197D1DC-FFCA-482D-BFD4-EBBDD40804D9}" presName="circ2Tx" presStyleLbl="revTx" presStyleIdx="0" presStyleCnt="0">
        <dgm:presLayoutVars>
          <dgm:chMax val="0"/>
          <dgm:chPref val="0"/>
          <dgm:bulletEnabled val="1"/>
        </dgm:presLayoutVars>
      </dgm:prSet>
      <dgm:spPr/>
    </dgm:pt>
  </dgm:ptLst>
  <dgm:cxnLst>
    <dgm:cxn modelId="{BA32C01B-19AB-457B-8D90-CC226A5DD497}" type="presOf" srcId="{5197D1DC-FFCA-482D-BFD4-EBBDD40804D9}" destId="{D48D1F56-6D61-4A21-87C5-6D8184FCF706}" srcOrd="0" destOrd="0" presId="urn:microsoft.com/office/officeart/2005/8/layout/venn1"/>
    <dgm:cxn modelId="{A957F226-892B-4FCD-BB40-31843634ABDA}" type="presOf" srcId="{2FAE08C4-F7A8-4FF4-AA2A-3F7DD0FA3D33}" destId="{84F9FC1C-D292-46C5-BB18-2F13E6F02955}" srcOrd="0" destOrd="0" presId="urn:microsoft.com/office/officeart/2005/8/layout/venn1"/>
    <dgm:cxn modelId="{44FFD02C-3BC0-4127-8362-F3CBA958D405}" srcId="{2FAE08C4-F7A8-4FF4-AA2A-3F7DD0FA3D33}" destId="{5197D1DC-FFCA-482D-BFD4-EBBDD40804D9}" srcOrd="1" destOrd="0" parTransId="{2CE29EBF-7DF5-4E4F-8AD9-117DE84959D6}" sibTransId="{76DC4E38-4403-43AC-B071-841BD98441DF}"/>
    <dgm:cxn modelId="{34731B3E-0D37-43FD-A08F-4A814EEFC436}" type="presOf" srcId="{5197D1DC-FFCA-482D-BFD4-EBBDD40804D9}" destId="{FDAFCCD9-82D2-457F-AAB5-6400A5C9DFCF}" srcOrd="1" destOrd="0" presId="urn:microsoft.com/office/officeart/2005/8/layout/venn1"/>
    <dgm:cxn modelId="{EC6EFF44-39CA-4F70-8B7C-C8C5ABE1E5E0}" type="presOf" srcId="{521711A3-3414-4966-950A-A395B9B80E86}" destId="{66039F73-0B86-4F6F-943A-72489FE63A83}" srcOrd="0" destOrd="0" presId="urn:microsoft.com/office/officeart/2005/8/layout/venn1"/>
    <dgm:cxn modelId="{2F920A80-4EBE-4C56-8616-E7A055029CFC}" type="presOf" srcId="{521711A3-3414-4966-950A-A395B9B80E86}" destId="{F5600269-DAFC-4140-A4A2-FB994AE87295}" srcOrd="1" destOrd="0" presId="urn:microsoft.com/office/officeart/2005/8/layout/venn1"/>
    <dgm:cxn modelId="{472500C0-72B4-4CCF-8681-E13D959105F1}" srcId="{2FAE08C4-F7A8-4FF4-AA2A-3F7DD0FA3D33}" destId="{521711A3-3414-4966-950A-A395B9B80E86}" srcOrd="0" destOrd="0" parTransId="{4F57BC6F-1C85-4274-9E36-DE2BFDF3E74E}" sibTransId="{10B28FEC-BD43-49B2-8DD1-E16D69ED3181}"/>
    <dgm:cxn modelId="{E511D6A4-DF64-4EA6-BDDB-9277711E53F8}" type="presParOf" srcId="{84F9FC1C-D292-46C5-BB18-2F13E6F02955}" destId="{66039F73-0B86-4F6F-943A-72489FE63A83}" srcOrd="0" destOrd="0" presId="urn:microsoft.com/office/officeart/2005/8/layout/venn1"/>
    <dgm:cxn modelId="{515DCE1C-BD57-487B-98A7-67495145B0C7}" type="presParOf" srcId="{84F9FC1C-D292-46C5-BB18-2F13E6F02955}" destId="{F5600269-DAFC-4140-A4A2-FB994AE87295}" srcOrd="1" destOrd="0" presId="urn:microsoft.com/office/officeart/2005/8/layout/venn1"/>
    <dgm:cxn modelId="{A0723D5D-1AD4-4F13-8982-5FC59EDAD4CF}" type="presParOf" srcId="{84F9FC1C-D292-46C5-BB18-2F13E6F02955}" destId="{D48D1F56-6D61-4A21-87C5-6D8184FCF706}" srcOrd="2" destOrd="0" presId="urn:microsoft.com/office/officeart/2005/8/layout/venn1"/>
    <dgm:cxn modelId="{F5550F67-49F5-4061-8F2F-CE2713E7FB5F}" type="presParOf" srcId="{84F9FC1C-D292-46C5-BB18-2F13E6F02955}" destId="{FDAFCCD9-82D2-457F-AAB5-6400A5C9DFCF}" srcOrd="3"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6AB28A6-2E4C-4D4F-BF67-4F3B9AB751F6}" type="doc">
      <dgm:prSet loTypeId="urn:microsoft.com/office/officeart/2008/layout/HorizontalMultiLevelHierarchy" loCatId="hierarchy" qsTypeId="urn:microsoft.com/office/officeart/2005/8/quickstyle/simple1" qsCatId="simple" csTypeId="urn:microsoft.com/office/officeart/2005/8/colors/colorful5" csCatId="colorful" phldr="1"/>
      <dgm:spPr/>
      <dgm:t>
        <a:bodyPr/>
        <a:lstStyle/>
        <a:p>
          <a:endParaRPr lang="en-US"/>
        </a:p>
      </dgm:t>
    </dgm:pt>
    <dgm:pt modelId="{AF060D98-BFF0-4321-89E3-211A07388410}">
      <dgm:prSet/>
      <dgm:spPr/>
      <dgm:t>
        <a:bodyPr/>
        <a:lstStyle/>
        <a:p>
          <a:r>
            <a:rPr lang="en-US" dirty="0"/>
            <a:t>ITR 5 </a:t>
          </a:r>
        </a:p>
      </dgm:t>
    </dgm:pt>
    <dgm:pt modelId="{AE5F672E-A1F6-4DF7-8D33-D5F53F01D391}" type="parTrans" cxnId="{A60F2DAE-8CA3-4B9F-9516-86E4ACABD1B6}">
      <dgm:prSet/>
      <dgm:spPr/>
      <dgm:t>
        <a:bodyPr/>
        <a:lstStyle/>
        <a:p>
          <a:endParaRPr lang="en-US"/>
        </a:p>
      </dgm:t>
    </dgm:pt>
    <dgm:pt modelId="{D25C7D0D-AB0A-4543-9C99-52B9B5C58719}" type="sibTrans" cxnId="{A60F2DAE-8CA3-4B9F-9516-86E4ACABD1B6}">
      <dgm:prSet/>
      <dgm:spPr/>
      <dgm:t>
        <a:bodyPr/>
        <a:lstStyle/>
        <a:p>
          <a:endParaRPr lang="en-US"/>
        </a:p>
      </dgm:t>
    </dgm:pt>
    <dgm:pt modelId="{D4D73325-126B-4AF6-9ED9-EC90FEACF8D9}">
      <dgm:prSet custT="1"/>
      <dgm:spPr/>
      <dgm:t>
        <a:bodyPr/>
        <a:lstStyle/>
        <a:p>
          <a:r>
            <a:rPr lang="en-US" sz="1500"/>
            <a:t>Firm</a:t>
          </a:r>
        </a:p>
      </dgm:t>
    </dgm:pt>
    <dgm:pt modelId="{51D579E7-E72D-4BEA-B694-09E531608281}" type="parTrans" cxnId="{EAD0C0B8-B3AE-4AFF-B826-59CD51C1942F}">
      <dgm:prSet custT="1"/>
      <dgm:spPr/>
      <dgm:t>
        <a:bodyPr/>
        <a:lstStyle/>
        <a:p>
          <a:endParaRPr lang="en-US" sz="1500"/>
        </a:p>
      </dgm:t>
    </dgm:pt>
    <dgm:pt modelId="{8F4F13CF-76C0-402C-9D03-980F5271AFB7}" type="sibTrans" cxnId="{EAD0C0B8-B3AE-4AFF-B826-59CD51C1942F}">
      <dgm:prSet/>
      <dgm:spPr/>
      <dgm:t>
        <a:bodyPr/>
        <a:lstStyle/>
        <a:p>
          <a:endParaRPr lang="en-US"/>
        </a:p>
      </dgm:t>
    </dgm:pt>
    <dgm:pt modelId="{EF87F21C-1263-41B4-8EDD-64257B412A00}">
      <dgm:prSet custT="1"/>
      <dgm:spPr/>
      <dgm:t>
        <a:bodyPr/>
        <a:lstStyle/>
        <a:p>
          <a:r>
            <a:rPr lang="en-US" sz="1500"/>
            <a:t>Limited Liability Partnership (LLP)</a:t>
          </a:r>
        </a:p>
      </dgm:t>
    </dgm:pt>
    <dgm:pt modelId="{7F4CD54C-D22A-49A5-B344-3BE1B33FFECF}" type="parTrans" cxnId="{C5FD8AEE-499C-4A64-9A18-BA4FDBE0EA43}">
      <dgm:prSet custT="1"/>
      <dgm:spPr/>
      <dgm:t>
        <a:bodyPr/>
        <a:lstStyle/>
        <a:p>
          <a:endParaRPr lang="en-US" sz="1500"/>
        </a:p>
      </dgm:t>
    </dgm:pt>
    <dgm:pt modelId="{9B5FB22F-3092-48F7-8EC4-A89D6992CC2E}" type="sibTrans" cxnId="{C5FD8AEE-499C-4A64-9A18-BA4FDBE0EA43}">
      <dgm:prSet/>
      <dgm:spPr/>
      <dgm:t>
        <a:bodyPr/>
        <a:lstStyle/>
        <a:p>
          <a:endParaRPr lang="en-US"/>
        </a:p>
      </dgm:t>
    </dgm:pt>
    <dgm:pt modelId="{D761DE4B-D524-475C-AE8B-9E7B3C1AD386}">
      <dgm:prSet custT="1"/>
      <dgm:spPr/>
      <dgm:t>
        <a:bodyPr/>
        <a:lstStyle/>
        <a:p>
          <a:r>
            <a:rPr lang="en-US" sz="1500"/>
            <a:t>Association of Persons (AOP)</a:t>
          </a:r>
        </a:p>
      </dgm:t>
    </dgm:pt>
    <dgm:pt modelId="{6F08CCFA-DDC8-4A15-97F9-B7225850D580}" type="parTrans" cxnId="{7151136A-54FB-487C-9753-52B8C47C5A19}">
      <dgm:prSet custT="1"/>
      <dgm:spPr/>
      <dgm:t>
        <a:bodyPr/>
        <a:lstStyle/>
        <a:p>
          <a:endParaRPr lang="en-US" sz="1500"/>
        </a:p>
      </dgm:t>
    </dgm:pt>
    <dgm:pt modelId="{D098A880-A632-47CD-BDB8-5536C1CD69C8}" type="sibTrans" cxnId="{7151136A-54FB-487C-9753-52B8C47C5A19}">
      <dgm:prSet/>
      <dgm:spPr/>
      <dgm:t>
        <a:bodyPr/>
        <a:lstStyle/>
        <a:p>
          <a:endParaRPr lang="en-US"/>
        </a:p>
      </dgm:t>
    </dgm:pt>
    <dgm:pt modelId="{84B0429E-34F2-48D0-AD56-1C63FEC25C52}">
      <dgm:prSet custT="1"/>
      <dgm:spPr/>
      <dgm:t>
        <a:bodyPr/>
        <a:lstStyle/>
        <a:p>
          <a:r>
            <a:rPr lang="en-US" sz="1500"/>
            <a:t>Body of Individuals (BOI)</a:t>
          </a:r>
        </a:p>
      </dgm:t>
    </dgm:pt>
    <dgm:pt modelId="{BA8C7BE5-E65E-4765-B773-AE37C7F0C48C}" type="parTrans" cxnId="{E53A9699-F235-4747-A649-9C75B83FAC5B}">
      <dgm:prSet custT="1"/>
      <dgm:spPr/>
      <dgm:t>
        <a:bodyPr/>
        <a:lstStyle/>
        <a:p>
          <a:endParaRPr lang="en-US" sz="1500"/>
        </a:p>
      </dgm:t>
    </dgm:pt>
    <dgm:pt modelId="{FD4BB3B5-4596-43C4-8B72-5197C5C16A10}" type="sibTrans" cxnId="{E53A9699-F235-4747-A649-9C75B83FAC5B}">
      <dgm:prSet/>
      <dgm:spPr/>
      <dgm:t>
        <a:bodyPr/>
        <a:lstStyle/>
        <a:p>
          <a:endParaRPr lang="en-US"/>
        </a:p>
      </dgm:t>
    </dgm:pt>
    <dgm:pt modelId="{3BCB14F9-9C74-4315-A2D9-6D10A4F68F71}">
      <dgm:prSet custT="1"/>
      <dgm:spPr/>
      <dgm:t>
        <a:bodyPr/>
        <a:lstStyle/>
        <a:p>
          <a:r>
            <a:rPr lang="en-US" sz="1500"/>
            <a:t>Artificial Juridical Person (AJP) referred to in clause (vii) of Section 2(31)</a:t>
          </a:r>
        </a:p>
      </dgm:t>
    </dgm:pt>
    <dgm:pt modelId="{01A0314F-092E-4EA2-9C48-BCD80E35C858}" type="parTrans" cxnId="{2ED9447E-3E9D-4535-84D4-5F2682866831}">
      <dgm:prSet custT="1"/>
      <dgm:spPr/>
      <dgm:t>
        <a:bodyPr/>
        <a:lstStyle/>
        <a:p>
          <a:endParaRPr lang="en-US" sz="1500"/>
        </a:p>
      </dgm:t>
    </dgm:pt>
    <dgm:pt modelId="{8556E59C-5C7E-4C1E-98FF-182F6D119DA0}" type="sibTrans" cxnId="{2ED9447E-3E9D-4535-84D4-5F2682866831}">
      <dgm:prSet/>
      <dgm:spPr/>
      <dgm:t>
        <a:bodyPr/>
        <a:lstStyle/>
        <a:p>
          <a:endParaRPr lang="en-US"/>
        </a:p>
      </dgm:t>
    </dgm:pt>
    <dgm:pt modelId="{E8A23771-3B30-4B65-B30F-293CE26F8756}">
      <dgm:prSet custT="1"/>
      <dgm:spPr/>
      <dgm:t>
        <a:bodyPr/>
        <a:lstStyle/>
        <a:p>
          <a:r>
            <a:rPr lang="en-US" sz="1500"/>
            <a:t>Local Authority referred to in clause (vi) of Section 2(31)</a:t>
          </a:r>
        </a:p>
      </dgm:t>
    </dgm:pt>
    <dgm:pt modelId="{6EB15405-D995-46D7-B9EC-B5CAAD996B11}" type="parTrans" cxnId="{4139049F-7521-48B2-8825-3F81B3E12F4F}">
      <dgm:prSet custT="1"/>
      <dgm:spPr/>
      <dgm:t>
        <a:bodyPr/>
        <a:lstStyle/>
        <a:p>
          <a:endParaRPr lang="en-US" sz="1500"/>
        </a:p>
      </dgm:t>
    </dgm:pt>
    <dgm:pt modelId="{CF762786-8FAB-4705-B6B3-B11E493DAF1D}" type="sibTrans" cxnId="{4139049F-7521-48B2-8825-3F81B3E12F4F}">
      <dgm:prSet/>
      <dgm:spPr/>
      <dgm:t>
        <a:bodyPr/>
        <a:lstStyle/>
        <a:p>
          <a:endParaRPr lang="en-US"/>
        </a:p>
      </dgm:t>
    </dgm:pt>
    <dgm:pt modelId="{2EAA2073-0578-4BBC-82A9-FEEFD501FD6D}">
      <dgm:prSet custT="1"/>
      <dgm:spPr/>
      <dgm:t>
        <a:bodyPr/>
        <a:lstStyle/>
        <a:p>
          <a:r>
            <a:rPr lang="en-US" sz="1500"/>
            <a:t>Representative Assessee referred to in Section 160(1)(iii) or (iv)</a:t>
          </a:r>
        </a:p>
      </dgm:t>
    </dgm:pt>
    <dgm:pt modelId="{015B8584-B93B-4314-A652-526EF9F37E59}" type="parTrans" cxnId="{CE640DD7-E8F5-4A15-A154-DD048410C099}">
      <dgm:prSet custT="1"/>
      <dgm:spPr/>
      <dgm:t>
        <a:bodyPr/>
        <a:lstStyle/>
        <a:p>
          <a:endParaRPr lang="en-US" sz="1500"/>
        </a:p>
      </dgm:t>
    </dgm:pt>
    <dgm:pt modelId="{5C40BF13-72E7-458E-9E04-06C127181C56}" type="sibTrans" cxnId="{CE640DD7-E8F5-4A15-A154-DD048410C099}">
      <dgm:prSet/>
      <dgm:spPr/>
      <dgm:t>
        <a:bodyPr/>
        <a:lstStyle/>
        <a:p>
          <a:endParaRPr lang="en-US"/>
        </a:p>
      </dgm:t>
    </dgm:pt>
    <dgm:pt modelId="{50F49000-0446-4600-B9B0-6E1858D80468}">
      <dgm:prSet custT="1"/>
      <dgm:spPr/>
      <dgm:t>
        <a:bodyPr/>
        <a:lstStyle/>
        <a:p>
          <a:r>
            <a:rPr lang="en-US" sz="1500"/>
            <a:t>Cooperative Society</a:t>
          </a:r>
        </a:p>
      </dgm:t>
    </dgm:pt>
    <dgm:pt modelId="{6DEC5A92-317A-4F5E-BC88-C7387A38DAA7}" type="parTrans" cxnId="{79031AAD-EDA7-4807-8931-5F1C828BFBEC}">
      <dgm:prSet custT="1"/>
      <dgm:spPr/>
      <dgm:t>
        <a:bodyPr/>
        <a:lstStyle/>
        <a:p>
          <a:endParaRPr lang="en-US" sz="1500"/>
        </a:p>
      </dgm:t>
    </dgm:pt>
    <dgm:pt modelId="{81C82739-B8B3-44EF-8EA6-5EE3FC5C266B}" type="sibTrans" cxnId="{79031AAD-EDA7-4807-8931-5F1C828BFBEC}">
      <dgm:prSet/>
      <dgm:spPr/>
      <dgm:t>
        <a:bodyPr/>
        <a:lstStyle/>
        <a:p>
          <a:endParaRPr lang="en-US"/>
        </a:p>
      </dgm:t>
    </dgm:pt>
    <dgm:pt modelId="{436E05A6-4C21-4459-83CB-FE73B8A1E892}">
      <dgm:prSet custT="1"/>
      <dgm:spPr/>
      <dgm:t>
        <a:bodyPr/>
        <a:lstStyle/>
        <a:p>
          <a:r>
            <a:rPr lang="en-US" sz="1500" dirty="0"/>
            <a:t>Society Registered under Societies Registration Act, 1860 or under any other law of any State</a:t>
          </a:r>
        </a:p>
      </dgm:t>
    </dgm:pt>
    <dgm:pt modelId="{882EFA00-ADB7-4ABD-97FB-800AAA6F957E}" type="parTrans" cxnId="{F25EB72E-7F33-4E1F-BA00-6AB315FE5D0E}">
      <dgm:prSet custT="1"/>
      <dgm:spPr/>
      <dgm:t>
        <a:bodyPr/>
        <a:lstStyle/>
        <a:p>
          <a:endParaRPr lang="en-US" sz="1500"/>
        </a:p>
      </dgm:t>
    </dgm:pt>
    <dgm:pt modelId="{66A40DF7-AACC-4E39-A260-CD52A68AFFB9}" type="sibTrans" cxnId="{F25EB72E-7F33-4E1F-BA00-6AB315FE5D0E}">
      <dgm:prSet/>
      <dgm:spPr/>
      <dgm:t>
        <a:bodyPr/>
        <a:lstStyle/>
        <a:p>
          <a:endParaRPr lang="en-US"/>
        </a:p>
      </dgm:t>
    </dgm:pt>
    <dgm:pt modelId="{752768CE-E24D-42C7-B8AD-E1922059596A}">
      <dgm:prSet custT="1"/>
      <dgm:spPr/>
      <dgm:t>
        <a:bodyPr/>
        <a:lstStyle/>
        <a:p>
          <a:r>
            <a:rPr lang="en-US" sz="1500"/>
            <a:t>Trust other than Trusts eligible to file Form ITR-7</a:t>
          </a:r>
        </a:p>
      </dgm:t>
    </dgm:pt>
    <dgm:pt modelId="{62D04BA4-B69B-4C35-A3EB-3B3BA605A335}" type="parTrans" cxnId="{4A55CC0C-DAB5-495F-801D-2E27416CD5B9}">
      <dgm:prSet custT="1"/>
      <dgm:spPr/>
      <dgm:t>
        <a:bodyPr/>
        <a:lstStyle/>
        <a:p>
          <a:endParaRPr lang="en-US" sz="1500"/>
        </a:p>
      </dgm:t>
    </dgm:pt>
    <dgm:pt modelId="{5552B89E-132A-4D36-9D28-485B7AD07EC1}" type="sibTrans" cxnId="{4A55CC0C-DAB5-495F-801D-2E27416CD5B9}">
      <dgm:prSet/>
      <dgm:spPr/>
      <dgm:t>
        <a:bodyPr/>
        <a:lstStyle/>
        <a:p>
          <a:endParaRPr lang="en-US"/>
        </a:p>
      </dgm:t>
    </dgm:pt>
    <dgm:pt modelId="{D179EB1D-815D-42DD-AFC1-E9FB469853F9}">
      <dgm:prSet custT="1"/>
      <dgm:spPr/>
      <dgm:t>
        <a:bodyPr/>
        <a:lstStyle/>
        <a:p>
          <a:r>
            <a:rPr lang="en-US" sz="1500"/>
            <a:t>Estate of Deceased Person</a:t>
          </a:r>
        </a:p>
      </dgm:t>
    </dgm:pt>
    <dgm:pt modelId="{A4CE32E5-31AF-4F24-8761-8E758A5CEA19}" type="parTrans" cxnId="{19F1CF15-F686-41A1-9A6F-28A9DE3882FC}">
      <dgm:prSet custT="1"/>
      <dgm:spPr/>
      <dgm:t>
        <a:bodyPr/>
        <a:lstStyle/>
        <a:p>
          <a:endParaRPr lang="en-US" sz="1500"/>
        </a:p>
      </dgm:t>
    </dgm:pt>
    <dgm:pt modelId="{696C1664-6778-4265-AEE2-CB2635D898CB}" type="sibTrans" cxnId="{19F1CF15-F686-41A1-9A6F-28A9DE3882FC}">
      <dgm:prSet/>
      <dgm:spPr/>
      <dgm:t>
        <a:bodyPr/>
        <a:lstStyle/>
        <a:p>
          <a:endParaRPr lang="en-US"/>
        </a:p>
      </dgm:t>
    </dgm:pt>
    <dgm:pt modelId="{E7176200-581E-43D8-B537-4B7BFFCE3DFF}">
      <dgm:prSet custT="1"/>
      <dgm:spPr/>
      <dgm:t>
        <a:bodyPr/>
        <a:lstStyle/>
        <a:p>
          <a:r>
            <a:rPr lang="en-US" sz="1500"/>
            <a:t>Estate of an Insolvent</a:t>
          </a:r>
        </a:p>
      </dgm:t>
    </dgm:pt>
    <dgm:pt modelId="{ED196923-88D4-4C2A-A295-19CC83070ACF}" type="parTrans" cxnId="{2A57BDCF-2061-4285-BF70-53B6AA2FF178}">
      <dgm:prSet custT="1"/>
      <dgm:spPr/>
      <dgm:t>
        <a:bodyPr/>
        <a:lstStyle/>
        <a:p>
          <a:endParaRPr lang="en-US" sz="1500"/>
        </a:p>
      </dgm:t>
    </dgm:pt>
    <dgm:pt modelId="{9546D785-6D05-4B85-A96F-79523F12AE3D}" type="sibTrans" cxnId="{2A57BDCF-2061-4285-BF70-53B6AA2FF178}">
      <dgm:prSet/>
      <dgm:spPr/>
      <dgm:t>
        <a:bodyPr/>
        <a:lstStyle/>
        <a:p>
          <a:endParaRPr lang="en-US"/>
        </a:p>
      </dgm:t>
    </dgm:pt>
    <dgm:pt modelId="{AD87837B-D488-46CE-B84C-A46D4BDB856B}">
      <dgm:prSet custT="1"/>
      <dgm:spPr/>
      <dgm:t>
        <a:bodyPr/>
        <a:lstStyle/>
        <a:p>
          <a:r>
            <a:rPr lang="en-US" sz="1500" dirty="0"/>
            <a:t>Business Trust referred to in Section 139(4E) and Investment Fund referred to in Section 139(4F)</a:t>
          </a:r>
        </a:p>
      </dgm:t>
    </dgm:pt>
    <dgm:pt modelId="{CE9DA02D-EE91-4CA6-ADDD-57C47F527BEC}" type="parTrans" cxnId="{7681C739-ACF3-476E-B84E-7156148ECDF7}">
      <dgm:prSet custT="1"/>
      <dgm:spPr/>
      <dgm:t>
        <a:bodyPr/>
        <a:lstStyle/>
        <a:p>
          <a:endParaRPr lang="en-US" sz="1500"/>
        </a:p>
      </dgm:t>
    </dgm:pt>
    <dgm:pt modelId="{8548D6A5-F73B-46AF-99AA-7887B3F36CA0}" type="sibTrans" cxnId="{7681C739-ACF3-476E-B84E-7156148ECDF7}">
      <dgm:prSet/>
      <dgm:spPr/>
      <dgm:t>
        <a:bodyPr/>
        <a:lstStyle/>
        <a:p>
          <a:endParaRPr lang="en-US"/>
        </a:p>
      </dgm:t>
    </dgm:pt>
    <dgm:pt modelId="{551DD4EC-AA7E-4B5B-92A2-F64B2692A1FE}" type="pres">
      <dgm:prSet presAssocID="{46AB28A6-2E4C-4D4F-BF67-4F3B9AB751F6}" presName="Name0" presStyleCnt="0">
        <dgm:presLayoutVars>
          <dgm:chPref val="1"/>
          <dgm:dir/>
          <dgm:animOne val="branch"/>
          <dgm:animLvl val="lvl"/>
          <dgm:resizeHandles val="exact"/>
        </dgm:presLayoutVars>
      </dgm:prSet>
      <dgm:spPr/>
    </dgm:pt>
    <dgm:pt modelId="{3808798A-0ED4-467D-9F0D-F4667C42D743}" type="pres">
      <dgm:prSet presAssocID="{AF060D98-BFF0-4321-89E3-211A07388410}" presName="root1" presStyleCnt="0"/>
      <dgm:spPr/>
    </dgm:pt>
    <dgm:pt modelId="{6A4AFE22-FE08-4983-9AF3-B4227676F3AA}" type="pres">
      <dgm:prSet presAssocID="{AF060D98-BFF0-4321-89E3-211A07388410}" presName="LevelOneTextNode" presStyleLbl="node0" presStyleIdx="0" presStyleCnt="1">
        <dgm:presLayoutVars>
          <dgm:chPref val="3"/>
        </dgm:presLayoutVars>
      </dgm:prSet>
      <dgm:spPr/>
    </dgm:pt>
    <dgm:pt modelId="{F7D40968-F588-40F7-9632-CD8CDCBC0A89}" type="pres">
      <dgm:prSet presAssocID="{AF060D98-BFF0-4321-89E3-211A07388410}" presName="level2hierChild" presStyleCnt="0"/>
      <dgm:spPr/>
    </dgm:pt>
    <dgm:pt modelId="{DD1F4B51-9566-4014-A767-ABE50F98AA50}" type="pres">
      <dgm:prSet presAssocID="{51D579E7-E72D-4BEA-B694-09E531608281}" presName="conn2-1" presStyleLbl="parChTrans1D2" presStyleIdx="0" presStyleCnt="13" custScaleX="2000000"/>
      <dgm:spPr/>
    </dgm:pt>
    <dgm:pt modelId="{C1EE24C1-A48B-4A7F-B7E9-91027892C2AE}" type="pres">
      <dgm:prSet presAssocID="{51D579E7-E72D-4BEA-B694-09E531608281}" presName="connTx" presStyleLbl="parChTrans1D2" presStyleIdx="0" presStyleCnt="13"/>
      <dgm:spPr/>
    </dgm:pt>
    <dgm:pt modelId="{61AF4710-B545-4B7A-A169-FBB7B37892C3}" type="pres">
      <dgm:prSet presAssocID="{D4D73325-126B-4AF6-9ED9-EC90FEACF8D9}" presName="root2" presStyleCnt="0"/>
      <dgm:spPr/>
    </dgm:pt>
    <dgm:pt modelId="{32AB889F-B391-4CE2-BE37-C0FC847B71FD}" type="pres">
      <dgm:prSet presAssocID="{D4D73325-126B-4AF6-9ED9-EC90FEACF8D9}" presName="LevelTwoTextNode" presStyleLbl="node2" presStyleIdx="0" presStyleCnt="13" custScaleX="576145">
        <dgm:presLayoutVars>
          <dgm:chPref val="3"/>
        </dgm:presLayoutVars>
      </dgm:prSet>
      <dgm:spPr/>
    </dgm:pt>
    <dgm:pt modelId="{7B130A0E-F7CB-4EA6-BB17-5296503A13FF}" type="pres">
      <dgm:prSet presAssocID="{D4D73325-126B-4AF6-9ED9-EC90FEACF8D9}" presName="level3hierChild" presStyleCnt="0"/>
      <dgm:spPr/>
    </dgm:pt>
    <dgm:pt modelId="{720BC9A1-6E50-4EBF-856B-57C05475B0EF}" type="pres">
      <dgm:prSet presAssocID="{7F4CD54C-D22A-49A5-B344-3BE1B33FFECF}" presName="conn2-1" presStyleLbl="parChTrans1D2" presStyleIdx="1" presStyleCnt="13" custScaleX="2000000"/>
      <dgm:spPr/>
    </dgm:pt>
    <dgm:pt modelId="{993C4117-4968-44C2-9737-B68FD990D074}" type="pres">
      <dgm:prSet presAssocID="{7F4CD54C-D22A-49A5-B344-3BE1B33FFECF}" presName="connTx" presStyleLbl="parChTrans1D2" presStyleIdx="1" presStyleCnt="13"/>
      <dgm:spPr/>
    </dgm:pt>
    <dgm:pt modelId="{E236B6C0-C054-4872-B89E-DEBDC5F7FBA2}" type="pres">
      <dgm:prSet presAssocID="{EF87F21C-1263-41B4-8EDD-64257B412A00}" presName="root2" presStyleCnt="0"/>
      <dgm:spPr/>
    </dgm:pt>
    <dgm:pt modelId="{E55C8ED7-C3FA-47B3-A876-0C01E0B069ED}" type="pres">
      <dgm:prSet presAssocID="{EF87F21C-1263-41B4-8EDD-64257B412A00}" presName="LevelTwoTextNode" presStyleLbl="node2" presStyleIdx="1" presStyleCnt="13" custScaleX="576145">
        <dgm:presLayoutVars>
          <dgm:chPref val="3"/>
        </dgm:presLayoutVars>
      </dgm:prSet>
      <dgm:spPr/>
    </dgm:pt>
    <dgm:pt modelId="{D3C7B2A0-3756-44AC-A48F-E31A5439239D}" type="pres">
      <dgm:prSet presAssocID="{EF87F21C-1263-41B4-8EDD-64257B412A00}" presName="level3hierChild" presStyleCnt="0"/>
      <dgm:spPr/>
    </dgm:pt>
    <dgm:pt modelId="{61B92D09-C27B-496F-8D95-CA8D7E573448}" type="pres">
      <dgm:prSet presAssocID="{6F08CCFA-DDC8-4A15-97F9-B7225850D580}" presName="conn2-1" presStyleLbl="parChTrans1D2" presStyleIdx="2" presStyleCnt="13" custScaleX="2000000"/>
      <dgm:spPr/>
    </dgm:pt>
    <dgm:pt modelId="{C2F1DA5B-D0FD-40EE-AEC7-88FC5F207D70}" type="pres">
      <dgm:prSet presAssocID="{6F08CCFA-DDC8-4A15-97F9-B7225850D580}" presName="connTx" presStyleLbl="parChTrans1D2" presStyleIdx="2" presStyleCnt="13"/>
      <dgm:spPr/>
    </dgm:pt>
    <dgm:pt modelId="{7D8AA8DC-1579-444D-9D18-368D8F857CD8}" type="pres">
      <dgm:prSet presAssocID="{D761DE4B-D524-475C-AE8B-9E7B3C1AD386}" presName="root2" presStyleCnt="0"/>
      <dgm:spPr/>
    </dgm:pt>
    <dgm:pt modelId="{E6438181-BF0C-4ED1-846F-66BED393D6A7}" type="pres">
      <dgm:prSet presAssocID="{D761DE4B-D524-475C-AE8B-9E7B3C1AD386}" presName="LevelTwoTextNode" presStyleLbl="node2" presStyleIdx="2" presStyleCnt="13" custScaleX="576145">
        <dgm:presLayoutVars>
          <dgm:chPref val="3"/>
        </dgm:presLayoutVars>
      </dgm:prSet>
      <dgm:spPr/>
    </dgm:pt>
    <dgm:pt modelId="{0DD73996-3394-490B-BC0E-5EEABE01D339}" type="pres">
      <dgm:prSet presAssocID="{D761DE4B-D524-475C-AE8B-9E7B3C1AD386}" presName="level3hierChild" presStyleCnt="0"/>
      <dgm:spPr/>
    </dgm:pt>
    <dgm:pt modelId="{4DDA631A-286A-4DF4-8460-4AF6DBCDA7D5}" type="pres">
      <dgm:prSet presAssocID="{BA8C7BE5-E65E-4765-B773-AE37C7F0C48C}" presName="conn2-1" presStyleLbl="parChTrans1D2" presStyleIdx="3" presStyleCnt="13" custScaleX="2000000"/>
      <dgm:spPr/>
    </dgm:pt>
    <dgm:pt modelId="{78F0CD17-BE15-4658-9285-0EA5A53BDDF4}" type="pres">
      <dgm:prSet presAssocID="{BA8C7BE5-E65E-4765-B773-AE37C7F0C48C}" presName="connTx" presStyleLbl="parChTrans1D2" presStyleIdx="3" presStyleCnt="13"/>
      <dgm:spPr/>
    </dgm:pt>
    <dgm:pt modelId="{863E8A15-1876-4405-A2E1-7D0B5B0EC789}" type="pres">
      <dgm:prSet presAssocID="{84B0429E-34F2-48D0-AD56-1C63FEC25C52}" presName="root2" presStyleCnt="0"/>
      <dgm:spPr/>
    </dgm:pt>
    <dgm:pt modelId="{C9064D7B-7900-4CE9-8A89-6345CA42B4F8}" type="pres">
      <dgm:prSet presAssocID="{84B0429E-34F2-48D0-AD56-1C63FEC25C52}" presName="LevelTwoTextNode" presStyleLbl="node2" presStyleIdx="3" presStyleCnt="13" custScaleX="576145">
        <dgm:presLayoutVars>
          <dgm:chPref val="3"/>
        </dgm:presLayoutVars>
      </dgm:prSet>
      <dgm:spPr/>
    </dgm:pt>
    <dgm:pt modelId="{9023517F-2070-44DA-B0F4-00AC3D9B0CD8}" type="pres">
      <dgm:prSet presAssocID="{84B0429E-34F2-48D0-AD56-1C63FEC25C52}" presName="level3hierChild" presStyleCnt="0"/>
      <dgm:spPr/>
    </dgm:pt>
    <dgm:pt modelId="{7C562F1C-98BC-4CC3-A3B1-47648973DFED}" type="pres">
      <dgm:prSet presAssocID="{01A0314F-092E-4EA2-9C48-BCD80E35C858}" presName="conn2-1" presStyleLbl="parChTrans1D2" presStyleIdx="4" presStyleCnt="13" custScaleX="2000000"/>
      <dgm:spPr/>
    </dgm:pt>
    <dgm:pt modelId="{02B8529F-C7D9-4418-899A-007252BD8540}" type="pres">
      <dgm:prSet presAssocID="{01A0314F-092E-4EA2-9C48-BCD80E35C858}" presName="connTx" presStyleLbl="parChTrans1D2" presStyleIdx="4" presStyleCnt="13"/>
      <dgm:spPr/>
    </dgm:pt>
    <dgm:pt modelId="{0BB739A7-EBF5-4AEE-92B1-D4282538748A}" type="pres">
      <dgm:prSet presAssocID="{3BCB14F9-9C74-4315-A2D9-6D10A4F68F71}" presName="root2" presStyleCnt="0"/>
      <dgm:spPr/>
    </dgm:pt>
    <dgm:pt modelId="{85F3CEDA-E92F-4B73-A506-F94AEB78886E}" type="pres">
      <dgm:prSet presAssocID="{3BCB14F9-9C74-4315-A2D9-6D10A4F68F71}" presName="LevelTwoTextNode" presStyleLbl="node2" presStyleIdx="4" presStyleCnt="13" custScaleX="576145">
        <dgm:presLayoutVars>
          <dgm:chPref val="3"/>
        </dgm:presLayoutVars>
      </dgm:prSet>
      <dgm:spPr/>
    </dgm:pt>
    <dgm:pt modelId="{CC6711CA-5A9C-471C-A0F3-B127CCE12100}" type="pres">
      <dgm:prSet presAssocID="{3BCB14F9-9C74-4315-A2D9-6D10A4F68F71}" presName="level3hierChild" presStyleCnt="0"/>
      <dgm:spPr/>
    </dgm:pt>
    <dgm:pt modelId="{2F587F4A-31AE-48ED-B97A-D8B46B9378DB}" type="pres">
      <dgm:prSet presAssocID="{6EB15405-D995-46D7-B9EC-B5CAAD996B11}" presName="conn2-1" presStyleLbl="parChTrans1D2" presStyleIdx="5" presStyleCnt="13" custScaleX="2000000"/>
      <dgm:spPr/>
    </dgm:pt>
    <dgm:pt modelId="{9D90A351-0593-4D5F-A005-C79FEED2C446}" type="pres">
      <dgm:prSet presAssocID="{6EB15405-D995-46D7-B9EC-B5CAAD996B11}" presName="connTx" presStyleLbl="parChTrans1D2" presStyleIdx="5" presStyleCnt="13"/>
      <dgm:spPr/>
    </dgm:pt>
    <dgm:pt modelId="{74425956-3A3B-4DEF-8F49-132646362B02}" type="pres">
      <dgm:prSet presAssocID="{E8A23771-3B30-4B65-B30F-293CE26F8756}" presName="root2" presStyleCnt="0"/>
      <dgm:spPr/>
    </dgm:pt>
    <dgm:pt modelId="{33468E97-92B2-4010-AEF8-2EEF85011214}" type="pres">
      <dgm:prSet presAssocID="{E8A23771-3B30-4B65-B30F-293CE26F8756}" presName="LevelTwoTextNode" presStyleLbl="node2" presStyleIdx="5" presStyleCnt="13" custScaleX="576145">
        <dgm:presLayoutVars>
          <dgm:chPref val="3"/>
        </dgm:presLayoutVars>
      </dgm:prSet>
      <dgm:spPr/>
    </dgm:pt>
    <dgm:pt modelId="{54D8B5B1-2612-48D6-A874-0D9005847EA4}" type="pres">
      <dgm:prSet presAssocID="{E8A23771-3B30-4B65-B30F-293CE26F8756}" presName="level3hierChild" presStyleCnt="0"/>
      <dgm:spPr/>
    </dgm:pt>
    <dgm:pt modelId="{DFEB75D4-3E29-4950-8976-845FBCB23016}" type="pres">
      <dgm:prSet presAssocID="{015B8584-B93B-4314-A652-526EF9F37E59}" presName="conn2-1" presStyleLbl="parChTrans1D2" presStyleIdx="6" presStyleCnt="13" custScaleX="2000000"/>
      <dgm:spPr/>
    </dgm:pt>
    <dgm:pt modelId="{13A04D5A-048E-46F3-BA6E-74B8E52E7DFD}" type="pres">
      <dgm:prSet presAssocID="{015B8584-B93B-4314-A652-526EF9F37E59}" presName="connTx" presStyleLbl="parChTrans1D2" presStyleIdx="6" presStyleCnt="13"/>
      <dgm:spPr/>
    </dgm:pt>
    <dgm:pt modelId="{BB722272-C68E-4613-A17C-E2EC0B3565D0}" type="pres">
      <dgm:prSet presAssocID="{2EAA2073-0578-4BBC-82A9-FEEFD501FD6D}" presName="root2" presStyleCnt="0"/>
      <dgm:spPr/>
    </dgm:pt>
    <dgm:pt modelId="{5ACF8E57-BB04-434C-9538-E9D0C63E59D8}" type="pres">
      <dgm:prSet presAssocID="{2EAA2073-0578-4BBC-82A9-FEEFD501FD6D}" presName="LevelTwoTextNode" presStyleLbl="node2" presStyleIdx="6" presStyleCnt="13" custScaleX="576145">
        <dgm:presLayoutVars>
          <dgm:chPref val="3"/>
        </dgm:presLayoutVars>
      </dgm:prSet>
      <dgm:spPr/>
    </dgm:pt>
    <dgm:pt modelId="{008C8B65-4791-4DFF-AB3D-0B329AA94505}" type="pres">
      <dgm:prSet presAssocID="{2EAA2073-0578-4BBC-82A9-FEEFD501FD6D}" presName="level3hierChild" presStyleCnt="0"/>
      <dgm:spPr/>
    </dgm:pt>
    <dgm:pt modelId="{AF2E7919-4210-406D-9202-2C1956051778}" type="pres">
      <dgm:prSet presAssocID="{6DEC5A92-317A-4F5E-BC88-C7387A38DAA7}" presName="conn2-1" presStyleLbl="parChTrans1D2" presStyleIdx="7" presStyleCnt="13" custScaleX="2000000"/>
      <dgm:spPr/>
    </dgm:pt>
    <dgm:pt modelId="{7E93F7A2-6F0D-4F59-B4B3-A531CC01DEFF}" type="pres">
      <dgm:prSet presAssocID="{6DEC5A92-317A-4F5E-BC88-C7387A38DAA7}" presName="connTx" presStyleLbl="parChTrans1D2" presStyleIdx="7" presStyleCnt="13"/>
      <dgm:spPr/>
    </dgm:pt>
    <dgm:pt modelId="{4483B19E-7420-431D-B865-E5A22ECBF370}" type="pres">
      <dgm:prSet presAssocID="{50F49000-0446-4600-B9B0-6E1858D80468}" presName="root2" presStyleCnt="0"/>
      <dgm:spPr/>
    </dgm:pt>
    <dgm:pt modelId="{D4D09A56-B657-4F36-9A32-96CCEDE6D65C}" type="pres">
      <dgm:prSet presAssocID="{50F49000-0446-4600-B9B0-6E1858D80468}" presName="LevelTwoTextNode" presStyleLbl="node2" presStyleIdx="7" presStyleCnt="13" custScaleX="576145">
        <dgm:presLayoutVars>
          <dgm:chPref val="3"/>
        </dgm:presLayoutVars>
      </dgm:prSet>
      <dgm:spPr/>
    </dgm:pt>
    <dgm:pt modelId="{CAB4AF5F-7747-46B9-9D35-D116C000BFE5}" type="pres">
      <dgm:prSet presAssocID="{50F49000-0446-4600-B9B0-6E1858D80468}" presName="level3hierChild" presStyleCnt="0"/>
      <dgm:spPr/>
    </dgm:pt>
    <dgm:pt modelId="{17B3E850-9744-4AF8-9BC1-D80704747A49}" type="pres">
      <dgm:prSet presAssocID="{882EFA00-ADB7-4ABD-97FB-800AAA6F957E}" presName="conn2-1" presStyleLbl="parChTrans1D2" presStyleIdx="8" presStyleCnt="13" custScaleX="2000000"/>
      <dgm:spPr/>
    </dgm:pt>
    <dgm:pt modelId="{2AC377BC-7024-4330-A45C-2AFDB64655F1}" type="pres">
      <dgm:prSet presAssocID="{882EFA00-ADB7-4ABD-97FB-800AAA6F957E}" presName="connTx" presStyleLbl="parChTrans1D2" presStyleIdx="8" presStyleCnt="13"/>
      <dgm:spPr/>
    </dgm:pt>
    <dgm:pt modelId="{5B55C2BB-2BCC-477F-8178-8335655AEA06}" type="pres">
      <dgm:prSet presAssocID="{436E05A6-4C21-4459-83CB-FE73B8A1E892}" presName="root2" presStyleCnt="0"/>
      <dgm:spPr/>
    </dgm:pt>
    <dgm:pt modelId="{AD9D3786-979A-471E-844C-7B7E745BEF03}" type="pres">
      <dgm:prSet presAssocID="{436E05A6-4C21-4459-83CB-FE73B8A1E892}" presName="LevelTwoTextNode" presStyleLbl="node2" presStyleIdx="8" presStyleCnt="13" custScaleX="576145">
        <dgm:presLayoutVars>
          <dgm:chPref val="3"/>
        </dgm:presLayoutVars>
      </dgm:prSet>
      <dgm:spPr/>
    </dgm:pt>
    <dgm:pt modelId="{9A18B1BD-449A-43EC-80B4-C5A11BD508CA}" type="pres">
      <dgm:prSet presAssocID="{436E05A6-4C21-4459-83CB-FE73B8A1E892}" presName="level3hierChild" presStyleCnt="0"/>
      <dgm:spPr/>
    </dgm:pt>
    <dgm:pt modelId="{248ED42D-3459-453B-82C1-C9F74B7B36CD}" type="pres">
      <dgm:prSet presAssocID="{62D04BA4-B69B-4C35-A3EB-3B3BA605A335}" presName="conn2-1" presStyleLbl="parChTrans1D2" presStyleIdx="9" presStyleCnt="13" custScaleX="2000000"/>
      <dgm:spPr/>
    </dgm:pt>
    <dgm:pt modelId="{C166DED5-07BA-4525-BFC5-CBF38839CC72}" type="pres">
      <dgm:prSet presAssocID="{62D04BA4-B69B-4C35-A3EB-3B3BA605A335}" presName="connTx" presStyleLbl="parChTrans1D2" presStyleIdx="9" presStyleCnt="13"/>
      <dgm:spPr/>
    </dgm:pt>
    <dgm:pt modelId="{B042B2A7-7606-4D8D-8265-5BD2911A1948}" type="pres">
      <dgm:prSet presAssocID="{752768CE-E24D-42C7-B8AD-E1922059596A}" presName="root2" presStyleCnt="0"/>
      <dgm:spPr/>
    </dgm:pt>
    <dgm:pt modelId="{BC396752-3534-48B3-BE3E-7751F98C4832}" type="pres">
      <dgm:prSet presAssocID="{752768CE-E24D-42C7-B8AD-E1922059596A}" presName="LevelTwoTextNode" presStyleLbl="node2" presStyleIdx="9" presStyleCnt="13" custScaleX="576145">
        <dgm:presLayoutVars>
          <dgm:chPref val="3"/>
        </dgm:presLayoutVars>
      </dgm:prSet>
      <dgm:spPr/>
    </dgm:pt>
    <dgm:pt modelId="{5E31FFFC-F775-4D09-A033-D933B82E3F22}" type="pres">
      <dgm:prSet presAssocID="{752768CE-E24D-42C7-B8AD-E1922059596A}" presName="level3hierChild" presStyleCnt="0"/>
      <dgm:spPr/>
    </dgm:pt>
    <dgm:pt modelId="{5433BD3A-07CD-4DC5-99A2-E4DB7695283A}" type="pres">
      <dgm:prSet presAssocID="{A4CE32E5-31AF-4F24-8761-8E758A5CEA19}" presName="conn2-1" presStyleLbl="parChTrans1D2" presStyleIdx="10" presStyleCnt="13" custScaleX="2000000"/>
      <dgm:spPr/>
    </dgm:pt>
    <dgm:pt modelId="{9B5961E7-6EFD-4EB9-A8A8-00457ACC5D49}" type="pres">
      <dgm:prSet presAssocID="{A4CE32E5-31AF-4F24-8761-8E758A5CEA19}" presName="connTx" presStyleLbl="parChTrans1D2" presStyleIdx="10" presStyleCnt="13"/>
      <dgm:spPr/>
    </dgm:pt>
    <dgm:pt modelId="{4DC4D8A9-78A9-4C3B-9B58-E1C30BB224A9}" type="pres">
      <dgm:prSet presAssocID="{D179EB1D-815D-42DD-AFC1-E9FB469853F9}" presName="root2" presStyleCnt="0"/>
      <dgm:spPr/>
    </dgm:pt>
    <dgm:pt modelId="{A483D51F-F7D2-4990-8C7F-D4BB0022D0EE}" type="pres">
      <dgm:prSet presAssocID="{D179EB1D-815D-42DD-AFC1-E9FB469853F9}" presName="LevelTwoTextNode" presStyleLbl="node2" presStyleIdx="10" presStyleCnt="13" custScaleX="576145">
        <dgm:presLayoutVars>
          <dgm:chPref val="3"/>
        </dgm:presLayoutVars>
      </dgm:prSet>
      <dgm:spPr/>
    </dgm:pt>
    <dgm:pt modelId="{115D591A-31A2-4E75-B939-99117128206D}" type="pres">
      <dgm:prSet presAssocID="{D179EB1D-815D-42DD-AFC1-E9FB469853F9}" presName="level3hierChild" presStyleCnt="0"/>
      <dgm:spPr/>
    </dgm:pt>
    <dgm:pt modelId="{30727424-630B-4B40-BC76-887572D2064E}" type="pres">
      <dgm:prSet presAssocID="{ED196923-88D4-4C2A-A295-19CC83070ACF}" presName="conn2-1" presStyleLbl="parChTrans1D2" presStyleIdx="11" presStyleCnt="13" custScaleX="2000000"/>
      <dgm:spPr/>
    </dgm:pt>
    <dgm:pt modelId="{AEB22D53-0D41-4EE9-82D7-7960FF38A854}" type="pres">
      <dgm:prSet presAssocID="{ED196923-88D4-4C2A-A295-19CC83070ACF}" presName="connTx" presStyleLbl="parChTrans1D2" presStyleIdx="11" presStyleCnt="13"/>
      <dgm:spPr/>
    </dgm:pt>
    <dgm:pt modelId="{5BB28FF9-A064-49F7-AB32-896903AF1B10}" type="pres">
      <dgm:prSet presAssocID="{E7176200-581E-43D8-B537-4B7BFFCE3DFF}" presName="root2" presStyleCnt="0"/>
      <dgm:spPr/>
    </dgm:pt>
    <dgm:pt modelId="{802F389F-C805-4DB9-A077-61905A7841B2}" type="pres">
      <dgm:prSet presAssocID="{E7176200-581E-43D8-B537-4B7BFFCE3DFF}" presName="LevelTwoTextNode" presStyleLbl="node2" presStyleIdx="11" presStyleCnt="13" custScaleX="576145">
        <dgm:presLayoutVars>
          <dgm:chPref val="3"/>
        </dgm:presLayoutVars>
      </dgm:prSet>
      <dgm:spPr/>
    </dgm:pt>
    <dgm:pt modelId="{59A6C192-7F8E-4B66-98BE-4DCD30ADBA7E}" type="pres">
      <dgm:prSet presAssocID="{E7176200-581E-43D8-B537-4B7BFFCE3DFF}" presName="level3hierChild" presStyleCnt="0"/>
      <dgm:spPr/>
    </dgm:pt>
    <dgm:pt modelId="{EBD22247-528A-4629-B9B2-BE593EC18AEF}" type="pres">
      <dgm:prSet presAssocID="{CE9DA02D-EE91-4CA6-ADDD-57C47F527BEC}" presName="conn2-1" presStyleLbl="parChTrans1D2" presStyleIdx="12" presStyleCnt="13" custScaleX="2000000"/>
      <dgm:spPr/>
    </dgm:pt>
    <dgm:pt modelId="{FD5A8F34-0118-4B0F-BE5F-AA82691E5DF3}" type="pres">
      <dgm:prSet presAssocID="{CE9DA02D-EE91-4CA6-ADDD-57C47F527BEC}" presName="connTx" presStyleLbl="parChTrans1D2" presStyleIdx="12" presStyleCnt="13"/>
      <dgm:spPr/>
    </dgm:pt>
    <dgm:pt modelId="{DC37FA70-FF1E-40E1-918D-08D4E59E8911}" type="pres">
      <dgm:prSet presAssocID="{AD87837B-D488-46CE-B84C-A46D4BDB856B}" presName="root2" presStyleCnt="0"/>
      <dgm:spPr/>
    </dgm:pt>
    <dgm:pt modelId="{D4893317-4D79-4099-B994-D3F3CB143DBC}" type="pres">
      <dgm:prSet presAssocID="{AD87837B-D488-46CE-B84C-A46D4BDB856B}" presName="LevelTwoTextNode" presStyleLbl="node2" presStyleIdx="12" presStyleCnt="13" custScaleX="576145">
        <dgm:presLayoutVars>
          <dgm:chPref val="3"/>
        </dgm:presLayoutVars>
      </dgm:prSet>
      <dgm:spPr/>
    </dgm:pt>
    <dgm:pt modelId="{C33C0204-1631-453C-BDC9-4234D972E5D3}" type="pres">
      <dgm:prSet presAssocID="{AD87837B-D488-46CE-B84C-A46D4BDB856B}" presName="level3hierChild" presStyleCnt="0"/>
      <dgm:spPr/>
    </dgm:pt>
  </dgm:ptLst>
  <dgm:cxnLst>
    <dgm:cxn modelId="{4A55CC0C-DAB5-495F-801D-2E27416CD5B9}" srcId="{AF060D98-BFF0-4321-89E3-211A07388410}" destId="{752768CE-E24D-42C7-B8AD-E1922059596A}" srcOrd="9" destOrd="0" parTransId="{62D04BA4-B69B-4C35-A3EB-3B3BA605A335}" sibTransId="{5552B89E-132A-4D36-9D28-485B7AD07EC1}"/>
    <dgm:cxn modelId="{20AECA13-B99F-4CF2-B1D4-44EA2FFD9E5C}" type="presOf" srcId="{84B0429E-34F2-48D0-AD56-1C63FEC25C52}" destId="{C9064D7B-7900-4CE9-8A89-6345CA42B4F8}" srcOrd="0" destOrd="0" presId="urn:microsoft.com/office/officeart/2008/layout/HorizontalMultiLevelHierarchy"/>
    <dgm:cxn modelId="{D7D71915-3D34-4E7A-871C-E106A4AD47CC}" type="presOf" srcId="{CE9DA02D-EE91-4CA6-ADDD-57C47F527BEC}" destId="{EBD22247-528A-4629-B9B2-BE593EC18AEF}" srcOrd="0" destOrd="0" presId="urn:microsoft.com/office/officeart/2008/layout/HorizontalMultiLevelHierarchy"/>
    <dgm:cxn modelId="{19F1CF15-F686-41A1-9A6F-28A9DE3882FC}" srcId="{AF060D98-BFF0-4321-89E3-211A07388410}" destId="{D179EB1D-815D-42DD-AFC1-E9FB469853F9}" srcOrd="10" destOrd="0" parTransId="{A4CE32E5-31AF-4F24-8761-8E758A5CEA19}" sibTransId="{696C1664-6778-4265-AEE2-CB2635D898CB}"/>
    <dgm:cxn modelId="{452ABE1B-5915-4367-AFD2-1FFE2888F21D}" type="presOf" srcId="{A4CE32E5-31AF-4F24-8761-8E758A5CEA19}" destId="{9B5961E7-6EFD-4EB9-A8A8-00457ACC5D49}" srcOrd="1" destOrd="0" presId="urn:microsoft.com/office/officeart/2008/layout/HorizontalMultiLevelHierarchy"/>
    <dgm:cxn modelId="{ACE07F1C-2C66-44D7-BF47-6E2DCE7B28CA}" type="presOf" srcId="{3BCB14F9-9C74-4315-A2D9-6D10A4F68F71}" destId="{85F3CEDA-E92F-4B73-A506-F94AEB78886E}" srcOrd="0" destOrd="0" presId="urn:microsoft.com/office/officeart/2008/layout/HorizontalMultiLevelHierarchy"/>
    <dgm:cxn modelId="{A760A020-A08F-4724-B770-92E60C3B427E}" type="presOf" srcId="{6F08CCFA-DDC8-4A15-97F9-B7225850D580}" destId="{61B92D09-C27B-496F-8D95-CA8D7E573448}" srcOrd="0" destOrd="0" presId="urn:microsoft.com/office/officeart/2008/layout/HorizontalMultiLevelHierarchy"/>
    <dgm:cxn modelId="{49D8E424-E9A6-4595-B076-E01164B94336}" type="presOf" srcId="{6DEC5A92-317A-4F5E-BC88-C7387A38DAA7}" destId="{7E93F7A2-6F0D-4F59-B4B3-A531CC01DEFF}" srcOrd="1" destOrd="0" presId="urn:microsoft.com/office/officeart/2008/layout/HorizontalMultiLevelHierarchy"/>
    <dgm:cxn modelId="{7A7E162A-E293-4DF3-82B0-7320EAFC52AE}" type="presOf" srcId="{7F4CD54C-D22A-49A5-B344-3BE1B33FFECF}" destId="{720BC9A1-6E50-4EBF-856B-57C05475B0EF}" srcOrd="0" destOrd="0" presId="urn:microsoft.com/office/officeart/2008/layout/HorizontalMultiLevelHierarchy"/>
    <dgm:cxn modelId="{A502622C-086A-4E2B-B2A3-5C6DDDB78712}" type="presOf" srcId="{D761DE4B-D524-475C-AE8B-9E7B3C1AD386}" destId="{E6438181-BF0C-4ED1-846F-66BED393D6A7}" srcOrd="0" destOrd="0" presId="urn:microsoft.com/office/officeart/2008/layout/HorizontalMultiLevelHierarchy"/>
    <dgm:cxn modelId="{778E952D-AE11-449F-AAD8-D1824E6AD105}" type="presOf" srcId="{62D04BA4-B69B-4C35-A3EB-3B3BA605A335}" destId="{248ED42D-3459-453B-82C1-C9F74B7B36CD}" srcOrd="0" destOrd="0" presId="urn:microsoft.com/office/officeart/2008/layout/HorizontalMultiLevelHierarchy"/>
    <dgm:cxn modelId="{F25EB72E-7F33-4E1F-BA00-6AB315FE5D0E}" srcId="{AF060D98-BFF0-4321-89E3-211A07388410}" destId="{436E05A6-4C21-4459-83CB-FE73B8A1E892}" srcOrd="8" destOrd="0" parTransId="{882EFA00-ADB7-4ABD-97FB-800AAA6F957E}" sibTransId="{66A40DF7-AACC-4E39-A260-CD52A68AFFB9}"/>
    <dgm:cxn modelId="{CFC61236-1EC3-4422-BE17-EFB02FAC750C}" type="presOf" srcId="{6EB15405-D995-46D7-B9EC-B5CAAD996B11}" destId="{2F587F4A-31AE-48ED-B97A-D8B46B9378DB}" srcOrd="0" destOrd="0" presId="urn:microsoft.com/office/officeart/2008/layout/HorizontalMultiLevelHierarchy"/>
    <dgm:cxn modelId="{7681C739-ACF3-476E-B84E-7156148ECDF7}" srcId="{AF060D98-BFF0-4321-89E3-211A07388410}" destId="{AD87837B-D488-46CE-B84C-A46D4BDB856B}" srcOrd="12" destOrd="0" parTransId="{CE9DA02D-EE91-4CA6-ADDD-57C47F527BEC}" sibTransId="{8548D6A5-F73B-46AF-99AA-7887B3F36CA0}"/>
    <dgm:cxn modelId="{9626873B-88AA-43B6-8302-AAE6FEBDB4C2}" type="presOf" srcId="{CE9DA02D-EE91-4CA6-ADDD-57C47F527BEC}" destId="{FD5A8F34-0118-4B0F-BE5F-AA82691E5DF3}" srcOrd="1" destOrd="0" presId="urn:microsoft.com/office/officeart/2008/layout/HorizontalMultiLevelHierarchy"/>
    <dgm:cxn modelId="{5BA2CC3B-E1EE-4510-9A3D-39BAC6915249}" type="presOf" srcId="{BA8C7BE5-E65E-4765-B773-AE37C7F0C48C}" destId="{4DDA631A-286A-4DF4-8460-4AF6DBCDA7D5}" srcOrd="0" destOrd="0" presId="urn:microsoft.com/office/officeart/2008/layout/HorizontalMultiLevelHierarchy"/>
    <dgm:cxn modelId="{E5DCD766-195A-422F-9718-9A6D15A3964A}" type="presOf" srcId="{436E05A6-4C21-4459-83CB-FE73B8A1E892}" destId="{AD9D3786-979A-471E-844C-7B7E745BEF03}" srcOrd="0" destOrd="0" presId="urn:microsoft.com/office/officeart/2008/layout/HorizontalMultiLevelHierarchy"/>
    <dgm:cxn modelId="{FA1D8147-807D-42B3-ACC4-2A1518542935}" type="presOf" srcId="{01A0314F-092E-4EA2-9C48-BCD80E35C858}" destId="{02B8529F-C7D9-4418-899A-007252BD8540}" srcOrd="1" destOrd="0" presId="urn:microsoft.com/office/officeart/2008/layout/HorizontalMultiLevelHierarchy"/>
    <dgm:cxn modelId="{36CC8B49-D928-4720-B61E-6C23C808878D}" type="presOf" srcId="{50F49000-0446-4600-B9B0-6E1858D80468}" destId="{D4D09A56-B657-4F36-9A32-96CCEDE6D65C}" srcOrd="0" destOrd="0" presId="urn:microsoft.com/office/officeart/2008/layout/HorizontalMultiLevelHierarchy"/>
    <dgm:cxn modelId="{7151136A-54FB-487C-9753-52B8C47C5A19}" srcId="{AF060D98-BFF0-4321-89E3-211A07388410}" destId="{D761DE4B-D524-475C-AE8B-9E7B3C1AD386}" srcOrd="2" destOrd="0" parTransId="{6F08CCFA-DDC8-4A15-97F9-B7225850D580}" sibTransId="{D098A880-A632-47CD-BDB8-5536C1CD69C8}"/>
    <dgm:cxn modelId="{9CFFFE4B-234A-414E-9EB3-AA96143D05A5}" type="presOf" srcId="{ED196923-88D4-4C2A-A295-19CC83070ACF}" destId="{AEB22D53-0D41-4EE9-82D7-7960FF38A854}" srcOrd="1" destOrd="0" presId="urn:microsoft.com/office/officeart/2008/layout/HorizontalMultiLevelHierarchy"/>
    <dgm:cxn modelId="{2FEE526C-D640-4892-9896-3AEBB2B9C9E6}" type="presOf" srcId="{2EAA2073-0578-4BBC-82A9-FEEFD501FD6D}" destId="{5ACF8E57-BB04-434C-9538-E9D0C63E59D8}" srcOrd="0" destOrd="0" presId="urn:microsoft.com/office/officeart/2008/layout/HorizontalMultiLevelHierarchy"/>
    <dgm:cxn modelId="{FEDDF86D-C372-4CC4-B3E1-0D4B5DF1E6CA}" type="presOf" srcId="{752768CE-E24D-42C7-B8AD-E1922059596A}" destId="{BC396752-3534-48B3-BE3E-7751F98C4832}" srcOrd="0" destOrd="0" presId="urn:microsoft.com/office/officeart/2008/layout/HorizontalMultiLevelHierarchy"/>
    <dgm:cxn modelId="{3F418753-3CED-4A37-8157-2AD3F0041B51}" type="presOf" srcId="{882EFA00-ADB7-4ABD-97FB-800AAA6F957E}" destId="{2AC377BC-7024-4330-A45C-2AFDB64655F1}" srcOrd="1" destOrd="0" presId="urn:microsoft.com/office/officeart/2008/layout/HorizontalMultiLevelHierarchy"/>
    <dgm:cxn modelId="{9F331976-80B4-41F3-8CE0-6F37E95D3826}" type="presOf" srcId="{6EB15405-D995-46D7-B9EC-B5CAAD996B11}" destId="{9D90A351-0593-4D5F-A005-C79FEED2C446}" srcOrd="1" destOrd="0" presId="urn:microsoft.com/office/officeart/2008/layout/HorizontalMultiLevelHierarchy"/>
    <dgm:cxn modelId="{50FAD959-DCBD-496B-A553-C22E76978614}" type="presOf" srcId="{51D579E7-E72D-4BEA-B694-09E531608281}" destId="{DD1F4B51-9566-4014-A767-ABE50F98AA50}" srcOrd="0" destOrd="0" presId="urn:microsoft.com/office/officeart/2008/layout/HorizontalMultiLevelHierarchy"/>
    <dgm:cxn modelId="{2ED9447E-3E9D-4535-84D4-5F2682866831}" srcId="{AF060D98-BFF0-4321-89E3-211A07388410}" destId="{3BCB14F9-9C74-4315-A2D9-6D10A4F68F71}" srcOrd="4" destOrd="0" parTransId="{01A0314F-092E-4EA2-9C48-BCD80E35C858}" sibTransId="{8556E59C-5C7E-4C1E-98FF-182F6D119DA0}"/>
    <dgm:cxn modelId="{6B98637F-46F0-4CAB-A567-583F675EC3DD}" type="presOf" srcId="{015B8584-B93B-4314-A652-526EF9F37E59}" destId="{13A04D5A-048E-46F3-BA6E-74B8E52E7DFD}" srcOrd="1" destOrd="0" presId="urn:microsoft.com/office/officeart/2008/layout/HorizontalMultiLevelHierarchy"/>
    <dgm:cxn modelId="{B9720F81-341D-4CFC-BE25-22176F1D8A6A}" type="presOf" srcId="{E8A23771-3B30-4B65-B30F-293CE26F8756}" destId="{33468E97-92B2-4010-AEF8-2EEF85011214}" srcOrd="0" destOrd="0" presId="urn:microsoft.com/office/officeart/2008/layout/HorizontalMultiLevelHierarchy"/>
    <dgm:cxn modelId="{2A8DA681-7F41-4F12-9AAA-E07CBACCD8D1}" type="presOf" srcId="{D4D73325-126B-4AF6-9ED9-EC90FEACF8D9}" destId="{32AB889F-B391-4CE2-BE37-C0FC847B71FD}" srcOrd="0" destOrd="0" presId="urn:microsoft.com/office/officeart/2008/layout/HorizontalMultiLevelHierarchy"/>
    <dgm:cxn modelId="{8082B994-FEE4-49FC-8959-408E2373C609}" type="presOf" srcId="{46AB28A6-2E4C-4D4F-BF67-4F3B9AB751F6}" destId="{551DD4EC-AA7E-4B5B-92A2-F64B2692A1FE}" srcOrd="0" destOrd="0" presId="urn:microsoft.com/office/officeart/2008/layout/HorizontalMultiLevelHierarchy"/>
    <dgm:cxn modelId="{93F8FB97-553E-42D9-B8CD-9A25FFF62390}" type="presOf" srcId="{62D04BA4-B69B-4C35-A3EB-3B3BA605A335}" destId="{C166DED5-07BA-4525-BFC5-CBF38839CC72}" srcOrd="1" destOrd="0" presId="urn:microsoft.com/office/officeart/2008/layout/HorizontalMultiLevelHierarchy"/>
    <dgm:cxn modelId="{E53A9699-F235-4747-A649-9C75B83FAC5B}" srcId="{AF060D98-BFF0-4321-89E3-211A07388410}" destId="{84B0429E-34F2-48D0-AD56-1C63FEC25C52}" srcOrd="3" destOrd="0" parTransId="{BA8C7BE5-E65E-4765-B773-AE37C7F0C48C}" sibTransId="{FD4BB3B5-4596-43C4-8B72-5197C5C16A10}"/>
    <dgm:cxn modelId="{4139049F-7521-48B2-8825-3F81B3E12F4F}" srcId="{AF060D98-BFF0-4321-89E3-211A07388410}" destId="{E8A23771-3B30-4B65-B30F-293CE26F8756}" srcOrd="5" destOrd="0" parTransId="{6EB15405-D995-46D7-B9EC-B5CAAD996B11}" sibTransId="{CF762786-8FAB-4705-B6B3-B11E493DAF1D}"/>
    <dgm:cxn modelId="{7E7E58A4-25F2-4741-B5EC-27612AB84D12}" type="presOf" srcId="{AD87837B-D488-46CE-B84C-A46D4BDB856B}" destId="{D4893317-4D79-4099-B994-D3F3CB143DBC}" srcOrd="0" destOrd="0" presId="urn:microsoft.com/office/officeart/2008/layout/HorizontalMultiLevelHierarchy"/>
    <dgm:cxn modelId="{79031AAD-EDA7-4807-8931-5F1C828BFBEC}" srcId="{AF060D98-BFF0-4321-89E3-211A07388410}" destId="{50F49000-0446-4600-B9B0-6E1858D80468}" srcOrd="7" destOrd="0" parTransId="{6DEC5A92-317A-4F5E-BC88-C7387A38DAA7}" sibTransId="{81C82739-B8B3-44EF-8EA6-5EE3FC5C266B}"/>
    <dgm:cxn modelId="{A60F2DAE-8CA3-4B9F-9516-86E4ACABD1B6}" srcId="{46AB28A6-2E4C-4D4F-BF67-4F3B9AB751F6}" destId="{AF060D98-BFF0-4321-89E3-211A07388410}" srcOrd="0" destOrd="0" parTransId="{AE5F672E-A1F6-4DF7-8D33-D5F53F01D391}" sibTransId="{D25C7D0D-AB0A-4543-9C99-52B9B5C58719}"/>
    <dgm:cxn modelId="{3531A2B1-7570-4DA2-9251-C18F6BE9C6F8}" type="presOf" srcId="{6DEC5A92-317A-4F5E-BC88-C7387A38DAA7}" destId="{AF2E7919-4210-406D-9202-2C1956051778}" srcOrd="0" destOrd="0" presId="urn:microsoft.com/office/officeart/2008/layout/HorizontalMultiLevelHierarchy"/>
    <dgm:cxn modelId="{EAD0C0B8-B3AE-4AFF-B826-59CD51C1942F}" srcId="{AF060D98-BFF0-4321-89E3-211A07388410}" destId="{D4D73325-126B-4AF6-9ED9-EC90FEACF8D9}" srcOrd="0" destOrd="0" parTransId="{51D579E7-E72D-4BEA-B694-09E531608281}" sibTransId="{8F4F13CF-76C0-402C-9D03-980F5271AFB7}"/>
    <dgm:cxn modelId="{B18DA1BE-2D21-45ED-B08A-B89640920FED}" type="presOf" srcId="{A4CE32E5-31AF-4F24-8761-8E758A5CEA19}" destId="{5433BD3A-07CD-4DC5-99A2-E4DB7695283A}" srcOrd="0" destOrd="0" presId="urn:microsoft.com/office/officeart/2008/layout/HorizontalMultiLevelHierarchy"/>
    <dgm:cxn modelId="{2667D3C4-6A37-4675-B25F-888D18F8DCC0}" type="presOf" srcId="{BA8C7BE5-E65E-4765-B773-AE37C7F0C48C}" destId="{78F0CD17-BE15-4658-9285-0EA5A53BDDF4}" srcOrd="1" destOrd="0" presId="urn:microsoft.com/office/officeart/2008/layout/HorizontalMultiLevelHierarchy"/>
    <dgm:cxn modelId="{BD1368CB-066D-4A34-9BB4-61E903E379D5}" type="presOf" srcId="{D179EB1D-815D-42DD-AFC1-E9FB469853F9}" destId="{A483D51F-F7D2-4990-8C7F-D4BB0022D0EE}" srcOrd="0" destOrd="0" presId="urn:microsoft.com/office/officeart/2008/layout/HorizontalMultiLevelHierarchy"/>
    <dgm:cxn modelId="{0B330BCD-FD96-4FB7-A618-BD3F469D1ED7}" type="presOf" srcId="{01A0314F-092E-4EA2-9C48-BCD80E35C858}" destId="{7C562F1C-98BC-4CC3-A3B1-47648973DFED}" srcOrd="0" destOrd="0" presId="urn:microsoft.com/office/officeart/2008/layout/HorizontalMultiLevelHierarchy"/>
    <dgm:cxn modelId="{2A57BDCF-2061-4285-BF70-53B6AA2FF178}" srcId="{AF060D98-BFF0-4321-89E3-211A07388410}" destId="{E7176200-581E-43D8-B537-4B7BFFCE3DFF}" srcOrd="11" destOrd="0" parTransId="{ED196923-88D4-4C2A-A295-19CC83070ACF}" sibTransId="{9546D785-6D05-4B85-A96F-79523F12AE3D}"/>
    <dgm:cxn modelId="{7D74F9D0-1F80-4ABC-B8C3-1A7A5C3B591A}" type="presOf" srcId="{EF87F21C-1263-41B4-8EDD-64257B412A00}" destId="{E55C8ED7-C3FA-47B3-A876-0C01E0B069ED}" srcOrd="0" destOrd="0" presId="urn:microsoft.com/office/officeart/2008/layout/HorizontalMultiLevelHierarchy"/>
    <dgm:cxn modelId="{102805D7-7E46-417F-B371-D0A329EA2E75}" type="presOf" srcId="{6F08CCFA-DDC8-4A15-97F9-B7225850D580}" destId="{C2F1DA5B-D0FD-40EE-AEC7-88FC5F207D70}" srcOrd="1" destOrd="0" presId="urn:microsoft.com/office/officeart/2008/layout/HorizontalMultiLevelHierarchy"/>
    <dgm:cxn modelId="{CE640DD7-E8F5-4A15-A154-DD048410C099}" srcId="{AF060D98-BFF0-4321-89E3-211A07388410}" destId="{2EAA2073-0578-4BBC-82A9-FEEFD501FD6D}" srcOrd="6" destOrd="0" parTransId="{015B8584-B93B-4314-A652-526EF9F37E59}" sibTransId="{5C40BF13-72E7-458E-9E04-06C127181C56}"/>
    <dgm:cxn modelId="{81BDF2DC-98D7-4B13-8558-CD5850A1C377}" type="presOf" srcId="{015B8584-B93B-4314-A652-526EF9F37E59}" destId="{DFEB75D4-3E29-4950-8976-845FBCB23016}" srcOrd="0" destOrd="0" presId="urn:microsoft.com/office/officeart/2008/layout/HorizontalMultiLevelHierarchy"/>
    <dgm:cxn modelId="{660598DF-FD58-4401-BA78-04BEC9D5F2A1}" type="presOf" srcId="{51D579E7-E72D-4BEA-B694-09E531608281}" destId="{C1EE24C1-A48B-4A7F-B7E9-91027892C2AE}" srcOrd="1" destOrd="0" presId="urn:microsoft.com/office/officeart/2008/layout/HorizontalMultiLevelHierarchy"/>
    <dgm:cxn modelId="{B09312E0-5E83-40D0-A6A8-A54734FC73C9}" type="presOf" srcId="{E7176200-581E-43D8-B537-4B7BFFCE3DFF}" destId="{802F389F-C805-4DB9-A077-61905A7841B2}" srcOrd="0" destOrd="0" presId="urn:microsoft.com/office/officeart/2008/layout/HorizontalMultiLevelHierarchy"/>
    <dgm:cxn modelId="{C5FD8AEE-499C-4A64-9A18-BA4FDBE0EA43}" srcId="{AF060D98-BFF0-4321-89E3-211A07388410}" destId="{EF87F21C-1263-41B4-8EDD-64257B412A00}" srcOrd="1" destOrd="0" parTransId="{7F4CD54C-D22A-49A5-B344-3BE1B33FFECF}" sibTransId="{9B5FB22F-3092-48F7-8EC4-A89D6992CC2E}"/>
    <dgm:cxn modelId="{64918FF3-6708-4A87-87A7-0EC0056D7203}" type="presOf" srcId="{ED196923-88D4-4C2A-A295-19CC83070ACF}" destId="{30727424-630B-4B40-BC76-887572D2064E}" srcOrd="0" destOrd="0" presId="urn:microsoft.com/office/officeart/2008/layout/HorizontalMultiLevelHierarchy"/>
    <dgm:cxn modelId="{50B00EF4-4522-4C91-AB30-EE37B5EF352F}" type="presOf" srcId="{7F4CD54C-D22A-49A5-B344-3BE1B33FFECF}" destId="{993C4117-4968-44C2-9737-B68FD990D074}" srcOrd="1" destOrd="0" presId="urn:microsoft.com/office/officeart/2008/layout/HorizontalMultiLevelHierarchy"/>
    <dgm:cxn modelId="{A6DA4AF4-8136-417E-ABE8-73E1D8865471}" type="presOf" srcId="{882EFA00-ADB7-4ABD-97FB-800AAA6F957E}" destId="{17B3E850-9744-4AF8-9BC1-D80704747A49}" srcOrd="0" destOrd="0" presId="urn:microsoft.com/office/officeart/2008/layout/HorizontalMultiLevelHierarchy"/>
    <dgm:cxn modelId="{4E3610FC-1F4D-4953-922B-00A9E9BF54BA}" type="presOf" srcId="{AF060D98-BFF0-4321-89E3-211A07388410}" destId="{6A4AFE22-FE08-4983-9AF3-B4227676F3AA}" srcOrd="0" destOrd="0" presId="urn:microsoft.com/office/officeart/2008/layout/HorizontalMultiLevelHierarchy"/>
    <dgm:cxn modelId="{3AC694FD-F78C-4861-B6A1-FFD92F2462A3}" type="presParOf" srcId="{551DD4EC-AA7E-4B5B-92A2-F64B2692A1FE}" destId="{3808798A-0ED4-467D-9F0D-F4667C42D743}" srcOrd="0" destOrd="0" presId="urn:microsoft.com/office/officeart/2008/layout/HorizontalMultiLevelHierarchy"/>
    <dgm:cxn modelId="{2F75AF12-444A-4E7E-8F12-B4C49C4D73E4}" type="presParOf" srcId="{3808798A-0ED4-467D-9F0D-F4667C42D743}" destId="{6A4AFE22-FE08-4983-9AF3-B4227676F3AA}" srcOrd="0" destOrd="0" presId="urn:microsoft.com/office/officeart/2008/layout/HorizontalMultiLevelHierarchy"/>
    <dgm:cxn modelId="{2BDB3E6C-7A86-4759-A738-AEF96FE919A1}" type="presParOf" srcId="{3808798A-0ED4-467D-9F0D-F4667C42D743}" destId="{F7D40968-F588-40F7-9632-CD8CDCBC0A89}" srcOrd="1" destOrd="0" presId="urn:microsoft.com/office/officeart/2008/layout/HorizontalMultiLevelHierarchy"/>
    <dgm:cxn modelId="{7AA0CB88-A2E9-4EC8-9798-A111FD916715}" type="presParOf" srcId="{F7D40968-F588-40F7-9632-CD8CDCBC0A89}" destId="{DD1F4B51-9566-4014-A767-ABE50F98AA50}" srcOrd="0" destOrd="0" presId="urn:microsoft.com/office/officeart/2008/layout/HorizontalMultiLevelHierarchy"/>
    <dgm:cxn modelId="{62370436-7362-4D46-A95F-32660ABA17B3}" type="presParOf" srcId="{DD1F4B51-9566-4014-A767-ABE50F98AA50}" destId="{C1EE24C1-A48B-4A7F-B7E9-91027892C2AE}" srcOrd="0" destOrd="0" presId="urn:microsoft.com/office/officeart/2008/layout/HorizontalMultiLevelHierarchy"/>
    <dgm:cxn modelId="{C8EB3BEF-3301-4B0F-885D-8EBF612E0277}" type="presParOf" srcId="{F7D40968-F588-40F7-9632-CD8CDCBC0A89}" destId="{61AF4710-B545-4B7A-A169-FBB7B37892C3}" srcOrd="1" destOrd="0" presId="urn:microsoft.com/office/officeart/2008/layout/HorizontalMultiLevelHierarchy"/>
    <dgm:cxn modelId="{E8D2ECD1-76D2-411D-8E3C-4C31E3AACA36}" type="presParOf" srcId="{61AF4710-B545-4B7A-A169-FBB7B37892C3}" destId="{32AB889F-B391-4CE2-BE37-C0FC847B71FD}" srcOrd="0" destOrd="0" presId="urn:microsoft.com/office/officeart/2008/layout/HorizontalMultiLevelHierarchy"/>
    <dgm:cxn modelId="{D42EAF22-E320-4000-B3B8-A91EDF518FBD}" type="presParOf" srcId="{61AF4710-B545-4B7A-A169-FBB7B37892C3}" destId="{7B130A0E-F7CB-4EA6-BB17-5296503A13FF}" srcOrd="1" destOrd="0" presId="urn:microsoft.com/office/officeart/2008/layout/HorizontalMultiLevelHierarchy"/>
    <dgm:cxn modelId="{BD7FF8BC-EF7B-4EFD-AAD9-B52E359F95CA}" type="presParOf" srcId="{F7D40968-F588-40F7-9632-CD8CDCBC0A89}" destId="{720BC9A1-6E50-4EBF-856B-57C05475B0EF}" srcOrd="2" destOrd="0" presId="urn:microsoft.com/office/officeart/2008/layout/HorizontalMultiLevelHierarchy"/>
    <dgm:cxn modelId="{9D6B1DFC-8857-42A3-A3F5-A309CDD2716E}" type="presParOf" srcId="{720BC9A1-6E50-4EBF-856B-57C05475B0EF}" destId="{993C4117-4968-44C2-9737-B68FD990D074}" srcOrd="0" destOrd="0" presId="urn:microsoft.com/office/officeart/2008/layout/HorizontalMultiLevelHierarchy"/>
    <dgm:cxn modelId="{AA017FCE-E15E-4904-AC7D-B3ADF9429D91}" type="presParOf" srcId="{F7D40968-F588-40F7-9632-CD8CDCBC0A89}" destId="{E236B6C0-C054-4872-B89E-DEBDC5F7FBA2}" srcOrd="3" destOrd="0" presId="urn:microsoft.com/office/officeart/2008/layout/HorizontalMultiLevelHierarchy"/>
    <dgm:cxn modelId="{594C787B-1B94-4B9E-8BE7-08B43471F2E0}" type="presParOf" srcId="{E236B6C0-C054-4872-B89E-DEBDC5F7FBA2}" destId="{E55C8ED7-C3FA-47B3-A876-0C01E0B069ED}" srcOrd="0" destOrd="0" presId="urn:microsoft.com/office/officeart/2008/layout/HorizontalMultiLevelHierarchy"/>
    <dgm:cxn modelId="{261AFB4D-7EA3-49E9-B8BF-6C8778A2E678}" type="presParOf" srcId="{E236B6C0-C054-4872-B89E-DEBDC5F7FBA2}" destId="{D3C7B2A0-3756-44AC-A48F-E31A5439239D}" srcOrd="1" destOrd="0" presId="urn:microsoft.com/office/officeart/2008/layout/HorizontalMultiLevelHierarchy"/>
    <dgm:cxn modelId="{5933B709-3CF7-4212-8FAA-207F5B5BFCF7}" type="presParOf" srcId="{F7D40968-F588-40F7-9632-CD8CDCBC0A89}" destId="{61B92D09-C27B-496F-8D95-CA8D7E573448}" srcOrd="4" destOrd="0" presId="urn:microsoft.com/office/officeart/2008/layout/HorizontalMultiLevelHierarchy"/>
    <dgm:cxn modelId="{5B5786DE-6A2A-4B8A-B851-E9AB238F258E}" type="presParOf" srcId="{61B92D09-C27B-496F-8D95-CA8D7E573448}" destId="{C2F1DA5B-D0FD-40EE-AEC7-88FC5F207D70}" srcOrd="0" destOrd="0" presId="urn:microsoft.com/office/officeart/2008/layout/HorizontalMultiLevelHierarchy"/>
    <dgm:cxn modelId="{9567298F-5F4B-4506-9CA5-6C167B470B82}" type="presParOf" srcId="{F7D40968-F588-40F7-9632-CD8CDCBC0A89}" destId="{7D8AA8DC-1579-444D-9D18-368D8F857CD8}" srcOrd="5" destOrd="0" presId="urn:microsoft.com/office/officeart/2008/layout/HorizontalMultiLevelHierarchy"/>
    <dgm:cxn modelId="{F1B9BDED-8919-4AD7-90A3-608DDEB51A7A}" type="presParOf" srcId="{7D8AA8DC-1579-444D-9D18-368D8F857CD8}" destId="{E6438181-BF0C-4ED1-846F-66BED393D6A7}" srcOrd="0" destOrd="0" presId="urn:microsoft.com/office/officeart/2008/layout/HorizontalMultiLevelHierarchy"/>
    <dgm:cxn modelId="{7A898925-6172-43C4-9145-D55B18470441}" type="presParOf" srcId="{7D8AA8DC-1579-444D-9D18-368D8F857CD8}" destId="{0DD73996-3394-490B-BC0E-5EEABE01D339}" srcOrd="1" destOrd="0" presId="urn:microsoft.com/office/officeart/2008/layout/HorizontalMultiLevelHierarchy"/>
    <dgm:cxn modelId="{10F7153F-CE35-412C-91DF-F0360148BBDD}" type="presParOf" srcId="{F7D40968-F588-40F7-9632-CD8CDCBC0A89}" destId="{4DDA631A-286A-4DF4-8460-4AF6DBCDA7D5}" srcOrd="6" destOrd="0" presId="urn:microsoft.com/office/officeart/2008/layout/HorizontalMultiLevelHierarchy"/>
    <dgm:cxn modelId="{AEB9D97E-16E6-4D81-A238-3AD29B7C08D4}" type="presParOf" srcId="{4DDA631A-286A-4DF4-8460-4AF6DBCDA7D5}" destId="{78F0CD17-BE15-4658-9285-0EA5A53BDDF4}" srcOrd="0" destOrd="0" presId="urn:microsoft.com/office/officeart/2008/layout/HorizontalMultiLevelHierarchy"/>
    <dgm:cxn modelId="{20DB2729-9C3B-4E57-A78A-2707117361E3}" type="presParOf" srcId="{F7D40968-F588-40F7-9632-CD8CDCBC0A89}" destId="{863E8A15-1876-4405-A2E1-7D0B5B0EC789}" srcOrd="7" destOrd="0" presId="urn:microsoft.com/office/officeart/2008/layout/HorizontalMultiLevelHierarchy"/>
    <dgm:cxn modelId="{19D1A283-1A16-4C73-A0D2-CAC6F6153F33}" type="presParOf" srcId="{863E8A15-1876-4405-A2E1-7D0B5B0EC789}" destId="{C9064D7B-7900-4CE9-8A89-6345CA42B4F8}" srcOrd="0" destOrd="0" presId="urn:microsoft.com/office/officeart/2008/layout/HorizontalMultiLevelHierarchy"/>
    <dgm:cxn modelId="{6F1E2A56-D7BE-45DC-A793-01A12EA31DDC}" type="presParOf" srcId="{863E8A15-1876-4405-A2E1-7D0B5B0EC789}" destId="{9023517F-2070-44DA-B0F4-00AC3D9B0CD8}" srcOrd="1" destOrd="0" presId="urn:microsoft.com/office/officeart/2008/layout/HorizontalMultiLevelHierarchy"/>
    <dgm:cxn modelId="{01127B1B-5B0D-41EB-8768-DF71E9D28E73}" type="presParOf" srcId="{F7D40968-F588-40F7-9632-CD8CDCBC0A89}" destId="{7C562F1C-98BC-4CC3-A3B1-47648973DFED}" srcOrd="8" destOrd="0" presId="urn:microsoft.com/office/officeart/2008/layout/HorizontalMultiLevelHierarchy"/>
    <dgm:cxn modelId="{29C77207-C255-4B40-97F5-155AA626F007}" type="presParOf" srcId="{7C562F1C-98BC-4CC3-A3B1-47648973DFED}" destId="{02B8529F-C7D9-4418-899A-007252BD8540}" srcOrd="0" destOrd="0" presId="urn:microsoft.com/office/officeart/2008/layout/HorizontalMultiLevelHierarchy"/>
    <dgm:cxn modelId="{655175A6-0526-4D96-8E8E-D17B62714BA9}" type="presParOf" srcId="{F7D40968-F588-40F7-9632-CD8CDCBC0A89}" destId="{0BB739A7-EBF5-4AEE-92B1-D4282538748A}" srcOrd="9" destOrd="0" presId="urn:microsoft.com/office/officeart/2008/layout/HorizontalMultiLevelHierarchy"/>
    <dgm:cxn modelId="{C1C7D076-9E84-4EE8-9445-CFA9DE60BE4D}" type="presParOf" srcId="{0BB739A7-EBF5-4AEE-92B1-D4282538748A}" destId="{85F3CEDA-E92F-4B73-A506-F94AEB78886E}" srcOrd="0" destOrd="0" presId="urn:microsoft.com/office/officeart/2008/layout/HorizontalMultiLevelHierarchy"/>
    <dgm:cxn modelId="{07DFE705-D79E-4052-B7E2-6D4B3707C7B6}" type="presParOf" srcId="{0BB739A7-EBF5-4AEE-92B1-D4282538748A}" destId="{CC6711CA-5A9C-471C-A0F3-B127CCE12100}" srcOrd="1" destOrd="0" presId="urn:microsoft.com/office/officeart/2008/layout/HorizontalMultiLevelHierarchy"/>
    <dgm:cxn modelId="{EEB2DE63-462C-492E-B67A-BB15D6C2F44E}" type="presParOf" srcId="{F7D40968-F588-40F7-9632-CD8CDCBC0A89}" destId="{2F587F4A-31AE-48ED-B97A-D8B46B9378DB}" srcOrd="10" destOrd="0" presId="urn:microsoft.com/office/officeart/2008/layout/HorizontalMultiLevelHierarchy"/>
    <dgm:cxn modelId="{73D7CB1E-B727-4C4C-B96A-4FD00839175D}" type="presParOf" srcId="{2F587F4A-31AE-48ED-B97A-D8B46B9378DB}" destId="{9D90A351-0593-4D5F-A005-C79FEED2C446}" srcOrd="0" destOrd="0" presId="urn:microsoft.com/office/officeart/2008/layout/HorizontalMultiLevelHierarchy"/>
    <dgm:cxn modelId="{98D6D4F5-4645-4854-8C7A-70631EEE4E43}" type="presParOf" srcId="{F7D40968-F588-40F7-9632-CD8CDCBC0A89}" destId="{74425956-3A3B-4DEF-8F49-132646362B02}" srcOrd="11" destOrd="0" presId="urn:microsoft.com/office/officeart/2008/layout/HorizontalMultiLevelHierarchy"/>
    <dgm:cxn modelId="{8CFC4713-E493-4FAC-9049-D7812C9C362E}" type="presParOf" srcId="{74425956-3A3B-4DEF-8F49-132646362B02}" destId="{33468E97-92B2-4010-AEF8-2EEF85011214}" srcOrd="0" destOrd="0" presId="urn:microsoft.com/office/officeart/2008/layout/HorizontalMultiLevelHierarchy"/>
    <dgm:cxn modelId="{DD9532AD-9E2B-4D97-B2F1-28486959046E}" type="presParOf" srcId="{74425956-3A3B-4DEF-8F49-132646362B02}" destId="{54D8B5B1-2612-48D6-A874-0D9005847EA4}" srcOrd="1" destOrd="0" presId="urn:microsoft.com/office/officeart/2008/layout/HorizontalMultiLevelHierarchy"/>
    <dgm:cxn modelId="{F45B485E-7115-4C74-9599-EA0FDC5C49F8}" type="presParOf" srcId="{F7D40968-F588-40F7-9632-CD8CDCBC0A89}" destId="{DFEB75D4-3E29-4950-8976-845FBCB23016}" srcOrd="12" destOrd="0" presId="urn:microsoft.com/office/officeart/2008/layout/HorizontalMultiLevelHierarchy"/>
    <dgm:cxn modelId="{125158CC-B4D1-4599-B3CC-62299B9B1561}" type="presParOf" srcId="{DFEB75D4-3E29-4950-8976-845FBCB23016}" destId="{13A04D5A-048E-46F3-BA6E-74B8E52E7DFD}" srcOrd="0" destOrd="0" presId="urn:microsoft.com/office/officeart/2008/layout/HorizontalMultiLevelHierarchy"/>
    <dgm:cxn modelId="{74792A1C-5154-482F-8392-3A5BEB9DB972}" type="presParOf" srcId="{F7D40968-F588-40F7-9632-CD8CDCBC0A89}" destId="{BB722272-C68E-4613-A17C-E2EC0B3565D0}" srcOrd="13" destOrd="0" presId="urn:microsoft.com/office/officeart/2008/layout/HorizontalMultiLevelHierarchy"/>
    <dgm:cxn modelId="{C9533400-F411-481C-90F3-91474C3EDC42}" type="presParOf" srcId="{BB722272-C68E-4613-A17C-E2EC0B3565D0}" destId="{5ACF8E57-BB04-434C-9538-E9D0C63E59D8}" srcOrd="0" destOrd="0" presId="urn:microsoft.com/office/officeart/2008/layout/HorizontalMultiLevelHierarchy"/>
    <dgm:cxn modelId="{CC02E5D8-2946-4718-B0B6-DC59700A20F8}" type="presParOf" srcId="{BB722272-C68E-4613-A17C-E2EC0B3565D0}" destId="{008C8B65-4791-4DFF-AB3D-0B329AA94505}" srcOrd="1" destOrd="0" presId="urn:microsoft.com/office/officeart/2008/layout/HorizontalMultiLevelHierarchy"/>
    <dgm:cxn modelId="{0AD01771-8AD1-4ADD-AFDC-7AE733C8BCF1}" type="presParOf" srcId="{F7D40968-F588-40F7-9632-CD8CDCBC0A89}" destId="{AF2E7919-4210-406D-9202-2C1956051778}" srcOrd="14" destOrd="0" presId="urn:microsoft.com/office/officeart/2008/layout/HorizontalMultiLevelHierarchy"/>
    <dgm:cxn modelId="{FA6F5299-0319-4107-AA2D-D37992ECC013}" type="presParOf" srcId="{AF2E7919-4210-406D-9202-2C1956051778}" destId="{7E93F7A2-6F0D-4F59-B4B3-A531CC01DEFF}" srcOrd="0" destOrd="0" presId="urn:microsoft.com/office/officeart/2008/layout/HorizontalMultiLevelHierarchy"/>
    <dgm:cxn modelId="{AE3BBAF5-187A-4068-B6F8-92276EE62506}" type="presParOf" srcId="{F7D40968-F588-40F7-9632-CD8CDCBC0A89}" destId="{4483B19E-7420-431D-B865-E5A22ECBF370}" srcOrd="15" destOrd="0" presId="urn:microsoft.com/office/officeart/2008/layout/HorizontalMultiLevelHierarchy"/>
    <dgm:cxn modelId="{F6B0B60B-F6C5-45DC-9E46-7273E61A47AB}" type="presParOf" srcId="{4483B19E-7420-431D-B865-E5A22ECBF370}" destId="{D4D09A56-B657-4F36-9A32-96CCEDE6D65C}" srcOrd="0" destOrd="0" presId="urn:microsoft.com/office/officeart/2008/layout/HorizontalMultiLevelHierarchy"/>
    <dgm:cxn modelId="{E8108C69-E346-4C32-8397-BBDFFD36EC51}" type="presParOf" srcId="{4483B19E-7420-431D-B865-E5A22ECBF370}" destId="{CAB4AF5F-7747-46B9-9D35-D116C000BFE5}" srcOrd="1" destOrd="0" presId="urn:microsoft.com/office/officeart/2008/layout/HorizontalMultiLevelHierarchy"/>
    <dgm:cxn modelId="{C2B5270E-E266-4C18-89D7-DEAEC60E445A}" type="presParOf" srcId="{F7D40968-F588-40F7-9632-CD8CDCBC0A89}" destId="{17B3E850-9744-4AF8-9BC1-D80704747A49}" srcOrd="16" destOrd="0" presId="urn:microsoft.com/office/officeart/2008/layout/HorizontalMultiLevelHierarchy"/>
    <dgm:cxn modelId="{AB9788F5-EB9D-4316-BD6B-584AA85A63C5}" type="presParOf" srcId="{17B3E850-9744-4AF8-9BC1-D80704747A49}" destId="{2AC377BC-7024-4330-A45C-2AFDB64655F1}" srcOrd="0" destOrd="0" presId="urn:microsoft.com/office/officeart/2008/layout/HorizontalMultiLevelHierarchy"/>
    <dgm:cxn modelId="{C02BE05D-843C-4627-ABF7-9E2FB00DD26F}" type="presParOf" srcId="{F7D40968-F588-40F7-9632-CD8CDCBC0A89}" destId="{5B55C2BB-2BCC-477F-8178-8335655AEA06}" srcOrd="17" destOrd="0" presId="urn:microsoft.com/office/officeart/2008/layout/HorizontalMultiLevelHierarchy"/>
    <dgm:cxn modelId="{1E4509D6-EEC0-4B6E-A73A-92C9292A79AB}" type="presParOf" srcId="{5B55C2BB-2BCC-477F-8178-8335655AEA06}" destId="{AD9D3786-979A-471E-844C-7B7E745BEF03}" srcOrd="0" destOrd="0" presId="urn:microsoft.com/office/officeart/2008/layout/HorizontalMultiLevelHierarchy"/>
    <dgm:cxn modelId="{C55B0607-02F3-4D55-A31E-6FF9325D2083}" type="presParOf" srcId="{5B55C2BB-2BCC-477F-8178-8335655AEA06}" destId="{9A18B1BD-449A-43EC-80B4-C5A11BD508CA}" srcOrd="1" destOrd="0" presId="urn:microsoft.com/office/officeart/2008/layout/HorizontalMultiLevelHierarchy"/>
    <dgm:cxn modelId="{F09DECE5-0A09-4596-8A67-C4B3898925CD}" type="presParOf" srcId="{F7D40968-F588-40F7-9632-CD8CDCBC0A89}" destId="{248ED42D-3459-453B-82C1-C9F74B7B36CD}" srcOrd="18" destOrd="0" presId="urn:microsoft.com/office/officeart/2008/layout/HorizontalMultiLevelHierarchy"/>
    <dgm:cxn modelId="{7F2AB3B5-97A3-4025-B225-9FD71052FA27}" type="presParOf" srcId="{248ED42D-3459-453B-82C1-C9F74B7B36CD}" destId="{C166DED5-07BA-4525-BFC5-CBF38839CC72}" srcOrd="0" destOrd="0" presId="urn:microsoft.com/office/officeart/2008/layout/HorizontalMultiLevelHierarchy"/>
    <dgm:cxn modelId="{173623DE-1B3C-4966-987E-4D3E006F9A3F}" type="presParOf" srcId="{F7D40968-F588-40F7-9632-CD8CDCBC0A89}" destId="{B042B2A7-7606-4D8D-8265-5BD2911A1948}" srcOrd="19" destOrd="0" presId="urn:microsoft.com/office/officeart/2008/layout/HorizontalMultiLevelHierarchy"/>
    <dgm:cxn modelId="{BE92DE9E-22FE-4FBC-8895-5921B43A2C0B}" type="presParOf" srcId="{B042B2A7-7606-4D8D-8265-5BD2911A1948}" destId="{BC396752-3534-48B3-BE3E-7751F98C4832}" srcOrd="0" destOrd="0" presId="urn:microsoft.com/office/officeart/2008/layout/HorizontalMultiLevelHierarchy"/>
    <dgm:cxn modelId="{03AE7924-0D24-4085-B751-AB8D11DFB3CE}" type="presParOf" srcId="{B042B2A7-7606-4D8D-8265-5BD2911A1948}" destId="{5E31FFFC-F775-4D09-A033-D933B82E3F22}" srcOrd="1" destOrd="0" presId="urn:microsoft.com/office/officeart/2008/layout/HorizontalMultiLevelHierarchy"/>
    <dgm:cxn modelId="{D1B042B3-B123-4A4D-86AD-B50E88F8B7C9}" type="presParOf" srcId="{F7D40968-F588-40F7-9632-CD8CDCBC0A89}" destId="{5433BD3A-07CD-4DC5-99A2-E4DB7695283A}" srcOrd="20" destOrd="0" presId="urn:microsoft.com/office/officeart/2008/layout/HorizontalMultiLevelHierarchy"/>
    <dgm:cxn modelId="{206632B2-B72F-4848-9CAA-C6B40E17BF4D}" type="presParOf" srcId="{5433BD3A-07CD-4DC5-99A2-E4DB7695283A}" destId="{9B5961E7-6EFD-4EB9-A8A8-00457ACC5D49}" srcOrd="0" destOrd="0" presId="urn:microsoft.com/office/officeart/2008/layout/HorizontalMultiLevelHierarchy"/>
    <dgm:cxn modelId="{B65416D3-967F-4F86-AB0F-DC34B6839959}" type="presParOf" srcId="{F7D40968-F588-40F7-9632-CD8CDCBC0A89}" destId="{4DC4D8A9-78A9-4C3B-9B58-E1C30BB224A9}" srcOrd="21" destOrd="0" presId="urn:microsoft.com/office/officeart/2008/layout/HorizontalMultiLevelHierarchy"/>
    <dgm:cxn modelId="{69212F1D-1EDD-4C95-A57D-E67FB8CF0C9C}" type="presParOf" srcId="{4DC4D8A9-78A9-4C3B-9B58-E1C30BB224A9}" destId="{A483D51F-F7D2-4990-8C7F-D4BB0022D0EE}" srcOrd="0" destOrd="0" presId="urn:microsoft.com/office/officeart/2008/layout/HorizontalMultiLevelHierarchy"/>
    <dgm:cxn modelId="{E47123B4-AF2C-47C0-A12D-058CEE28F157}" type="presParOf" srcId="{4DC4D8A9-78A9-4C3B-9B58-E1C30BB224A9}" destId="{115D591A-31A2-4E75-B939-99117128206D}" srcOrd="1" destOrd="0" presId="urn:microsoft.com/office/officeart/2008/layout/HorizontalMultiLevelHierarchy"/>
    <dgm:cxn modelId="{439CBBF4-8BFF-41C5-9A15-070E1B270AC4}" type="presParOf" srcId="{F7D40968-F588-40F7-9632-CD8CDCBC0A89}" destId="{30727424-630B-4B40-BC76-887572D2064E}" srcOrd="22" destOrd="0" presId="urn:microsoft.com/office/officeart/2008/layout/HorizontalMultiLevelHierarchy"/>
    <dgm:cxn modelId="{2A5AFDCC-2F61-4164-B21B-67ABD0E0B431}" type="presParOf" srcId="{30727424-630B-4B40-BC76-887572D2064E}" destId="{AEB22D53-0D41-4EE9-82D7-7960FF38A854}" srcOrd="0" destOrd="0" presId="urn:microsoft.com/office/officeart/2008/layout/HorizontalMultiLevelHierarchy"/>
    <dgm:cxn modelId="{5972F2BC-3C6D-4260-9A56-AF684437CCA2}" type="presParOf" srcId="{F7D40968-F588-40F7-9632-CD8CDCBC0A89}" destId="{5BB28FF9-A064-49F7-AB32-896903AF1B10}" srcOrd="23" destOrd="0" presId="urn:microsoft.com/office/officeart/2008/layout/HorizontalMultiLevelHierarchy"/>
    <dgm:cxn modelId="{E7C9CD95-1D1B-4629-BBD1-326CE8577BD0}" type="presParOf" srcId="{5BB28FF9-A064-49F7-AB32-896903AF1B10}" destId="{802F389F-C805-4DB9-A077-61905A7841B2}" srcOrd="0" destOrd="0" presId="urn:microsoft.com/office/officeart/2008/layout/HorizontalMultiLevelHierarchy"/>
    <dgm:cxn modelId="{772C4763-54EA-47C5-A3FB-3F825D78A04A}" type="presParOf" srcId="{5BB28FF9-A064-49F7-AB32-896903AF1B10}" destId="{59A6C192-7F8E-4B66-98BE-4DCD30ADBA7E}" srcOrd="1" destOrd="0" presId="urn:microsoft.com/office/officeart/2008/layout/HorizontalMultiLevelHierarchy"/>
    <dgm:cxn modelId="{B34FD853-13B3-4CE4-ACF2-70C1C71894C9}" type="presParOf" srcId="{F7D40968-F588-40F7-9632-CD8CDCBC0A89}" destId="{EBD22247-528A-4629-B9B2-BE593EC18AEF}" srcOrd="24" destOrd="0" presId="urn:microsoft.com/office/officeart/2008/layout/HorizontalMultiLevelHierarchy"/>
    <dgm:cxn modelId="{7E02A8D6-D6D4-4181-ACB3-CDDDB2C00545}" type="presParOf" srcId="{EBD22247-528A-4629-B9B2-BE593EC18AEF}" destId="{FD5A8F34-0118-4B0F-BE5F-AA82691E5DF3}" srcOrd="0" destOrd="0" presId="urn:microsoft.com/office/officeart/2008/layout/HorizontalMultiLevelHierarchy"/>
    <dgm:cxn modelId="{BC79E41A-FB8F-4326-8A8D-2B51FB16EC2B}" type="presParOf" srcId="{F7D40968-F588-40F7-9632-CD8CDCBC0A89}" destId="{DC37FA70-FF1E-40E1-918D-08D4E59E8911}" srcOrd="25" destOrd="0" presId="urn:microsoft.com/office/officeart/2008/layout/HorizontalMultiLevelHierarchy"/>
    <dgm:cxn modelId="{AD15C7A5-F6D4-455F-B3FF-980F3EEB19A0}" type="presParOf" srcId="{DC37FA70-FF1E-40E1-918D-08D4E59E8911}" destId="{D4893317-4D79-4099-B994-D3F3CB143DBC}" srcOrd="0" destOrd="0" presId="urn:microsoft.com/office/officeart/2008/layout/HorizontalMultiLevelHierarchy"/>
    <dgm:cxn modelId="{0453FB43-5F12-488A-85C7-59CFA8037ECD}" type="presParOf" srcId="{DC37FA70-FF1E-40E1-918D-08D4E59E8911}" destId="{C33C0204-1631-453C-BDC9-4234D972E5D3}"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5FB3E7B9-0184-44B5-89B6-9300FA5F1833}" type="doc">
      <dgm:prSet loTypeId="urn:microsoft.com/office/officeart/2008/layout/HorizontalMultiLevelHierarchy" loCatId="hierarchy" qsTypeId="urn:microsoft.com/office/officeart/2005/8/quickstyle/simple1" qsCatId="simple" csTypeId="urn:microsoft.com/office/officeart/2005/8/colors/colorful2" csCatId="colorful"/>
      <dgm:spPr/>
      <dgm:t>
        <a:bodyPr/>
        <a:lstStyle/>
        <a:p>
          <a:endParaRPr lang="en-US"/>
        </a:p>
      </dgm:t>
    </dgm:pt>
    <dgm:pt modelId="{84B1EB9A-0385-4EB0-9F1E-160FA4BE318E}">
      <dgm:prSet/>
      <dgm:spPr/>
      <dgm:t>
        <a:bodyPr/>
        <a:lstStyle/>
        <a:p>
          <a:r>
            <a:rPr lang="en-US"/>
            <a:t>ITR 6</a:t>
          </a:r>
        </a:p>
      </dgm:t>
    </dgm:pt>
    <dgm:pt modelId="{6473981A-56D9-4D53-8F7F-D4374A6AD1E9}" type="parTrans" cxnId="{6F969113-EF03-49B8-9995-B253D9034B26}">
      <dgm:prSet/>
      <dgm:spPr/>
      <dgm:t>
        <a:bodyPr/>
        <a:lstStyle/>
        <a:p>
          <a:endParaRPr lang="en-US"/>
        </a:p>
      </dgm:t>
    </dgm:pt>
    <dgm:pt modelId="{AA0D1EFD-49A2-4D27-B8A8-27D00B34BF62}" type="sibTrans" cxnId="{6F969113-EF03-49B8-9995-B253D9034B26}">
      <dgm:prSet/>
      <dgm:spPr/>
      <dgm:t>
        <a:bodyPr/>
        <a:lstStyle/>
        <a:p>
          <a:endParaRPr lang="en-US"/>
        </a:p>
      </dgm:t>
    </dgm:pt>
    <dgm:pt modelId="{4EDA6A10-B339-4C8F-88FD-2D54906D2A6E}">
      <dgm:prSet/>
      <dgm:spPr/>
      <dgm:t>
        <a:bodyPr/>
        <a:lstStyle/>
        <a:p>
          <a:r>
            <a:rPr lang="en-US" dirty="0"/>
            <a:t>Indian Company</a:t>
          </a:r>
        </a:p>
      </dgm:t>
    </dgm:pt>
    <dgm:pt modelId="{B1517BA3-E611-4B06-8A02-5D47247A0464}" type="parTrans" cxnId="{3B2282C1-86C7-48E5-85B5-F4AE01CD3539}">
      <dgm:prSet/>
      <dgm:spPr/>
      <dgm:t>
        <a:bodyPr/>
        <a:lstStyle/>
        <a:p>
          <a:endParaRPr lang="en-US"/>
        </a:p>
      </dgm:t>
    </dgm:pt>
    <dgm:pt modelId="{DCD18269-F025-48AB-9973-43BB34379D23}" type="sibTrans" cxnId="{3B2282C1-86C7-48E5-85B5-F4AE01CD3539}">
      <dgm:prSet/>
      <dgm:spPr/>
      <dgm:t>
        <a:bodyPr/>
        <a:lstStyle/>
        <a:p>
          <a:endParaRPr lang="en-US"/>
        </a:p>
      </dgm:t>
    </dgm:pt>
    <dgm:pt modelId="{0ABBE412-3639-4729-AF24-0CD1939CB864}">
      <dgm:prSet/>
      <dgm:spPr/>
      <dgm:t>
        <a:bodyPr/>
        <a:lstStyle/>
        <a:p>
          <a:r>
            <a:rPr lang="en-US"/>
            <a:t>Body corporate incorporated by or under the laws of country outside India </a:t>
          </a:r>
        </a:p>
      </dgm:t>
    </dgm:pt>
    <dgm:pt modelId="{097BECC1-4FD0-4B77-9B24-E887A88E8C60}" type="parTrans" cxnId="{03481856-868C-4722-B4A4-7098312A374C}">
      <dgm:prSet/>
      <dgm:spPr/>
      <dgm:t>
        <a:bodyPr/>
        <a:lstStyle/>
        <a:p>
          <a:endParaRPr lang="en-US"/>
        </a:p>
      </dgm:t>
    </dgm:pt>
    <dgm:pt modelId="{D5022002-5B5B-4972-A59F-6A5290B1275E}" type="sibTrans" cxnId="{03481856-868C-4722-B4A4-7098312A374C}">
      <dgm:prSet/>
      <dgm:spPr/>
      <dgm:t>
        <a:bodyPr/>
        <a:lstStyle/>
        <a:p>
          <a:endParaRPr lang="en-US"/>
        </a:p>
      </dgm:t>
    </dgm:pt>
    <dgm:pt modelId="{C3E5F567-4696-4931-A31E-C2CFA3FB4AB0}">
      <dgm:prSet/>
      <dgm:spPr/>
      <dgm:t>
        <a:bodyPr/>
        <a:lstStyle/>
        <a:p>
          <a:r>
            <a:rPr lang="en-US"/>
            <a:t>Any institution, association or body, whether incorporated or not and whether Indian or Non-Indian which is declared by general or special order of the Board, to be Company, etc.</a:t>
          </a:r>
        </a:p>
      </dgm:t>
    </dgm:pt>
    <dgm:pt modelId="{025CBDE0-BBA3-4A3B-9DA0-880CB9E1FD00}" type="parTrans" cxnId="{6BF508CD-ECB6-47FD-BDB2-C59AE243DDE2}">
      <dgm:prSet/>
      <dgm:spPr/>
      <dgm:t>
        <a:bodyPr/>
        <a:lstStyle/>
        <a:p>
          <a:endParaRPr lang="en-US"/>
        </a:p>
      </dgm:t>
    </dgm:pt>
    <dgm:pt modelId="{A8207802-E244-4349-AF99-53E398E1F5A5}" type="sibTrans" cxnId="{6BF508CD-ECB6-47FD-BDB2-C59AE243DDE2}">
      <dgm:prSet/>
      <dgm:spPr/>
      <dgm:t>
        <a:bodyPr/>
        <a:lstStyle/>
        <a:p>
          <a:endParaRPr lang="en-US"/>
        </a:p>
      </dgm:t>
    </dgm:pt>
    <dgm:pt modelId="{616BF797-FF26-404F-81A6-1BC05FD2900E}" type="pres">
      <dgm:prSet presAssocID="{5FB3E7B9-0184-44B5-89B6-9300FA5F1833}" presName="Name0" presStyleCnt="0">
        <dgm:presLayoutVars>
          <dgm:chPref val="1"/>
          <dgm:dir/>
          <dgm:animOne val="branch"/>
          <dgm:animLvl val="lvl"/>
          <dgm:resizeHandles val="exact"/>
        </dgm:presLayoutVars>
      </dgm:prSet>
      <dgm:spPr/>
    </dgm:pt>
    <dgm:pt modelId="{B7C4B1C7-836B-474E-8D85-EEF73302D0B1}" type="pres">
      <dgm:prSet presAssocID="{84B1EB9A-0385-4EB0-9F1E-160FA4BE318E}" presName="root1" presStyleCnt="0"/>
      <dgm:spPr/>
    </dgm:pt>
    <dgm:pt modelId="{B03243D7-6DEE-4533-BF2B-97B4AA0EC652}" type="pres">
      <dgm:prSet presAssocID="{84B1EB9A-0385-4EB0-9F1E-160FA4BE318E}" presName="LevelOneTextNode" presStyleLbl="node0" presStyleIdx="0" presStyleCnt="1">
        <dgm:presLayoutVars>
          <dgm:chPref val="3"/>
        </dgm:presLayoutVars>
      </dgm:prSet>
      <dgm:spPr/>
    </dgm:pt>
    <dgm:pt modelId="{0FF33CA0-BA5E-4170-95B4-672E198B598E}" type="pres">
      <dgm:prSet presAssocID="{84B1EB9A-0385-4EB0-9F1E-160FA4BE318E}" presName="level2hierChild" presStyleCnt="0"/>
      <dgm:spPr/>
    </dgm:pt>
    <dgm:pt modelId="{B71A3F34-E3F3-48F1-8DEA-2E60D17DE765}" type="pres">
      <dgm:prSet presAssocID="{B1517BA3-E611-4B06-8A02-5D47247A0464}" presName="conn2-1" presStyleLbl="parChTrans1D2" presStyleIdx="0" presStyleCnt="3"/>
      <dgm:spPr/>
    </dgm:pt>
    <dgm:pt modelId="{CA32F1D6-DF83-428C-A8FB-737C8C287676}" type="pres">
      <dgm:prSet presAssocID="{B1517BA3-E611-4B06-8A02-5D47247A0464}" presName="connTx" presStyleLbl="parChTrans1D2" presStyleIdx="0" presStyleCnt="3"/>
      <dgm:spPr/>
    </dgm:pt>
    <dgm:pt modelId="{62931D4E-C654-4DC5-8D81-35767370137C}" type="pres">
      <dgm:prSet presAssocID="{4EDA6A10-B339-4C8F-88FD-2D54906D2A6E}" presName="root2" presStyleCnt="0"/>
      <dgm:spPr/>
    </dgm:pt>
    <dgm:pt modelId="{AD53609E-810A-476A-AB94-8B174A35A666}" type="pres">
      <dgm:prSet presAssocID="{4EDA6A10-B339-4C8F-88FD-2D54906D2A6E}" presName="LevelTwoTextNode" presStyleLbl="node2" presStyleIdx="0" presStyleCnt="3">
        <dgm:presLayoutVars>
          <dgm:chPref val="3"/>
        </dgm:presLayoutVars>
      </dgm:prSet>
      <dgm:spPr/>
    </dgm:pt>
    <dgm:pt modelId="{7EBD86A3-F579-444A-A505-BA5973A5A0FE}" type="pres">
      <dgm:prSet presAssocID="{4EDA6A10-B339-4C8F-88FD-2D54906D2A6E}" presName="level3hierChild" presStyleCnt="0"/>
      <dgm:spPr/>
    </dgm:pt>
    <dgm:pt modelId="{06C7669B-143E-4270-958E-BAA93985799B}" type="pres">
      <dgm:prSet presAssocID="{097BECC1-4FD0-4B77-9B24-E887A88E8C60}" presName="conn2-1" presStyleLbl="parChTrans1D2" presStyleIdx="1" presStyleCnt="3"/>
      <dgm:spPr/>
    </dgm:pt>
    <dgm:pt modelId="{D3F25E82-0161-482D-84F8-EA5551122390}" type="pres">
      <dgm:prSet presAssocID="{097BECC1-4FD0-4B77-9B24-E887A88E8C60}" presName="connTx" presStyleLbl="parChTrans1D2" presStyleIdx="1" presStyleCnt="3"/>
      <dgm:spPr/>
    </dgm:pt>
    <dgm:pt modelId="{99FBF855-E2C9-4B69-830E-4BB93DFC5818}" type="pres">
      <dgm:prSet presAssocID="{0ABBE412-3639-4729-AF24-0CD1939CB864}" presName="root2" presStyleCnt="0"/>
      <dgm:spPr/>
    </dgm:pt>
    <dgm:pt modelId="{89B65739-D15C-4D78-AB30-24C7AC0C4F98}" type="pres">
      <dgm:prSet presAssocID="{0ABBE412-3639-4729-AF24-0CD1939CB864}" presName="LevelTwoTextNode" presStyleLbl="node2" presStyleIdx="1" presStyleCnt="3">
        <dgm:presLayoutVars>
          <dgm:chPref val="3"/>
        </dgm:presLayoutVars>
      </dgm:prSet>
      <dgm:spPr/>
    </dgm:pt>
    <dgm:pt modelId="{53742772-61E6-4B89-8C65-EBD0A411085C}" type="pres">
      <dgm:prSet presAssocID="{0ABBE412-3639-4729-AF24-0CD1939CB864}" presName="level3hierChild" presStyleCnt="0"/>
      <dgm:spPr/>
    </dgm:pt>
    <dgm:pt modelId="{350069A5-E0BC-41E7-947F-7228BD002AA2}" type="pres">
      <dgm:prSet presAssocID="{025CBDE0-BBA3-4A3B-9DA0-880CB9E1FD00}" presName="conn2-1" presStyleLbl="parChTrans1D2" presStyleIdx="2" presStyleCnt="3"/>
      <dgm:spPr/>
    </dgm:pt>
    <dgm:pt modelId="{2AFF7084-F70D-4E7B-9EFC-F21DB6467AD8}" type="pres">
      <dgm:prSet presAssocID="{025CBDE0-BBA3-4A3B-9DA0-880CB9E1FD00}" presName="connTx" presStyleLbl="parChTrans1D2" presStyleIdx="2" presStyleCnt="3"/>
      <dgm:spPr/>
    </dgm:pt>
    <dgm:pt modelId="{32E70DE7-807D-4C8D-9BAB-96FB371C026B}" type="pres">
      <dgm:prSet presAssocID="{C3E5F567-4696-4931-A31E-C2CFA3FB4AB0}" presName="root2" presStyleCnt="0"/>
      <dgm:spPr/>
    </dgm:pt>
    <dgm:pt modelId="{27E50D17-2AC7-40B7-BC7A-47F58E1496CD}" type="pres">
      <dgm:prSet presAssocID="{C3E5F567-4696-4931-A31E-C2CFA3FB4AB0}" presName="LevelTwoTextNode" presStyleLbl="node2" presStyleIdx="2" presStyleCnt="3">
        <dgm:presLayoutVars>
          <dgm:chPref val="3"/>
        </dgm:presLayoutVars>
      </dgm:prSet>
      <dgm:spPr/>
    </dgm:pt>
    <dgm:pt modelId="{9339480B-6CB7-4481-B16A-70830EA355F8}" type="pres">
      <dgm:prSet presAssocID="{C3E5F567-4696-4931-A31E-C2CFA3FB4AB0}" presName="level3hierChild" presStyleCnt="0"/>
      <dgm:spPr/>
    </dgm:pt>
  </dgm:ptLst>
  <dgm:cxnLst>
    <dgm:cxn modelId="{6F969113-EF03-49B8-9995-B253D9034B26}" srcId="{5FB3E7B9-0184-44B5-89B6-9300FA5F1833}" destId="{84B1EB9A-0385-4EB0-9F1E-160FA4BE318E}" srcOrd="0" destOrd="0" parTransId="{6473981A-56D9-4D53-8F7F-D4374A6AD1E9}" sibTransId="{AA0D1EFD-49A2-4D27-B8A8-27D00B34BF62}"/>
    <dgm:cxn modelId="{8FB4ED13-47B9-4062-824E-8AC8B0D19AA3}" type="presOf" srcId="{B1517BA3-E611-4B06-8A02-5D47247A0464}" destId="{B71A3F34-E3F3-48F1-8DEA-2E60D17DE765}" srcOrd="0" destOrd="0" presId="urn:microsoft.com/office/officeart/2008/layout/HorizontalMultiLevelHierarchy"/>
    <dgm:cxn modelId="{864B0A37-C200-4BF1-9E4C-497F5969CD0E}" type="presOf" srcId="{84B1EB9A-0385-4EB0-9F1E-160FA4BE318E}" destId="{B03243D7-6DEE-4533-BF2B-97B4AA0EC652}" srcOrd="0" destOrd="0" presId="urn:microsoft.com/office/officeart/2008/layout/HorizontalMultiLevelHierarchy"/>
    <dgm:cxn modelId="{A1B9CF3B-36AA-4B72-8060-16D149EA5A70}" type="presOf" srcId="{025CBDE0-BBA3-4A3B-9DA0-880CB9E1FD00}" destId="{2AFF7084-F70D-4E7B-9EFC-F21DB6467AD8}" srcOrd="1" destOrd="0" presId="urn:microsoft.com/office/officeart/2008/layout/HorizontalMultiLevelHierarchy"/>
    <dgm:cxn modelId="{EA20A56A-5BE9-4A1B-A8BA-EC1A00AB221F}" type="presOf" srcId="{C3E5F567-4696-4931-A31E-C2CFA3FB4AB0}" destId="{27E50D17-2AC7-40B7-BC7A-47F58E1496CD}" srcOrd="0" destOrd="0" presId="urn:microsoft.com/office/officeart/2008/layout/HorizontalMultiLevelHierarchy"/>
    <dgm:cxn modelId="{FEE84D6F-2C43-4B80-85EF-3881B3A27045}" type="presOf" srcId="{4EDA6A10-B339-4C8F-88FD-2D54906D2A6E}" destId="{AD53609E-810A-476A-AB94-8B174A35A666}" srcOrd="0" destOrd="0" presId="urn:microsoft.com/office/officeart/2008/layout/HorizontalMultiLevelHierarchy"/>
    <dgm:cxn modelId="{13F6E354-51FC-4D45-9575-4537586D5916}" type="presOf" srcId="{B1517BA3-E611-4B06-8A02-5D47247A0464}" destId="{CA32F1D6-DF83-428C-A8FB-737C8C287676}" srcOrd="1" destOrd="0" presId="urn:microsoft.com/office/officeart/2008/layout/HorizontalMultiLevelHierarchy"/>
    <dgm:cxn modelId="{03481856-868C-4722-B4A4-7098312A374C}" srcId="{84B1EB9A-0385-4EB0-9F1E-160FA4BE318E}" destId="{0ABBE412-3639-4729-AF24-0CD1939CB864}" srcOrd="1" destOrd="0" parTransId="{097BECC1-4FD0-4B77-9B24-E887A88E8C60}" sibTransId="{D5022002-5B5B-4972-A59F-6A5290B1275E}"/>
    <dgm:cxn modelId="{C042C789-6E11-4D9A-A658-3DC7DB9CBB08}" type="presOf" srcId="{097BECC1-4FD0-4B77-9B24-E887A88E8C60}" destId="{06C7669B-143E-4270-958E-BAA93985799B}" srcOrd="0" destOrd="0" presId="urn:microsoft.com/office/officeart/2008/layout/HorizontalMultiLevelHierarchy"/>
    <dgm:cxn modelId="{3B2282C1-86C7-48E5-85B5-F4AE01CD3539}" srcId="{84B1EB9A-0385-4EB0-9F1E-160FA4BE318E}" destId="{4EDA6A10-B339-4C8F-88FD-2D54906D2A6E}" srcOrd="0" destOrd="0" parTransId="{B1517BA3-E611-4B06-8A02-5D47247A0464}" sibTransId="{DCD18269-F025-48AB-9973-43BB34379D23}"/>
    <dgm:cxn modelId="{6BF508CD-ECB6-47FD-BDB2-C59AE243DDE2}" srcId="{84B1EB9A-0385-4EB0-9F1E-160FA4BE318E}" destId="{C3E5F567-4696-4931-A31E-C2CFA3FB4AB0}" srcOrd="2" destOrd="0" parTransId="{025CBDE0-BBA3-4A3B-9DA0-880CB9E1FD00}" sibTransId="{A8207802-E244-4349-AF99-53E398E1F5A5}"/>
    <dgm:cxn modelId="{A5DE6FE9-A700-400E-AD8A-79EBCD108635}" type="presOf" srcId="{097BECC1-4FD0-4B77-9B24-E887A88E8C60}" destId="{D3F25E82-0161-482D-84F8-EA5551122390}" srcOrd="1" destOrd="0" presId="urn:microsoft.com/office/officeart/2008/layout/HorizontalMultiLevelHierarchy"/>
    <dgm:cxn modelId="{34AF5CEA-A959-43E2-B7AC-84BD2DE988A0}" type="presOf" srcId="{5FB3E7B9-0184-44B5-89B6-9300FA5F1833}" destId="{616BF797-FF26-404F-81A6-1BC05FD2900E}" srcOrd="0" destOrd="0" presId="urn:microsoft.com/office/officeart/2008/layout/HorizontalMultiLevelHierarchy"/>
    <dgm:cxn modelId="{CE833EF1-741C-4C76-A82D-C3D0F41AE062}" type="presOf" srcId="{0ABBE412-3639-4729-AF24-0CD1939CB864}" destId="{89B65739-D15C-4D78-AB30-24C7AC0C4F98}" srcOrd="0" destOrd="0" presId="urn:microsoft.com/office/officeart/2008/layout/HorizontalMultiLevelHierarchy"/>
    <dgm:cxn modelId="{77CCFAF8-83CA-4560-8816-B6F310C4B9D9}" type="presOf" srcId="{025CBDE0-BBA3-4A3B-9DA0-880CB9E1FD00}" destId="{350069A5-E0BC-41E7-947F-7228BD002AA2}" srcOrd="0" destOrd="0" presId="urn:microsoft.com/office/officeart/2008/layout/HorizontalMultiLevelHierarchy"/>
    <dgm:cxn modelId="{EA3E02A9-BAF2-4B6C-9378-F0C0F7AEB54B}" type="presParOf" srcId="{616BF797-FF26-404F-81A6-1BC05FD2900E}" destId="{B7C4B1C7-836B-474E-8D85-EEF73302D0B1}" srcOrd="0" destOrd="0" presId="urn:microsoft.com/office/officeart/2008/layout/HorizontalMultiLevelHierarchy"/>
    <dgm:cxn modelId="{6D4600C7-F49B-4D8F-AB70-89D377DAF0F4}" type="presParOf" srcId="{B7C4B1C7-836B-474E-8D85-EEF73302D0B1}" destId="{B03243D7-6DEE-4533-BF2B-97B4AA0EC652}" srcOrd="0" destOrd="0" presId="urn:microsoft.com/office/officeart/2008/layout/HorizontalMultiLevelHierarchy"/>
    <dgm:cxn modelId="{FDD5E14A-B600-44E7-A33E-16063228680F}" type="presParOf" srcId="{B7C4B1C7-836B-474E-8D85-EEF73302D0B1}" destId="{0FF33CA0-BA5E-4170-95B4-672E198B598E}" srcOrd="1" destOrd="0" presId="urn:microsoft.com/office/officeart/2008/layout/HorizontalMultiLevelHierarchy"/>
    <dgm:cxn modelId="{155EE52C-A527-4D4D-BEFA-613416039E47}" type="presParOf" srcId="{0FF33CA0-BA5E-4170-95B4-672E198B598E}" destId="{B71A3F34-E3F3-48F1-8DEA-2E60D17DE765}" srcOrd="0" destOrd="0" presId="urn:microsoft.com/office/officeart/2008/layout/HorizontalMultiLevelHierarchy"/>
    <dgm:cxn modelId="{B1E2361E-32A0-4A5F-9306-C46FCE453D37}" type="presParOf" srcId="{B71A3F34-E3F3-48F1-8DEA-2E60D17DE765}" destId="{CA32F1D6-DF83-428C-A8FB-737C8C287676}" srcOrd="0" destOrd="0" presId="urn:microsoft.com/office/officeart/2008/layout/HorizontalMultiLevelHierarchy"/>
    <dgm:cxn modelId="{4A07268E-F89C-401C-A3C8-8F49D6D1B651}" type="presParOf" srcId="{0FF33CA0-BA5E-4170-95B4-672E198B598E}" destId="{62931D4E-C654-4DC5-8D81-35767370137C}" srcOrd="1" destOrd="0" presId="urn:microsoft.com/office/officeart/2008/layout/HorizontalMultiLevelHierarchy"/>
    <dgm:cxn modelId="{0C005F92-D209-4C16-8968-6B81D39C4788}" type="presParOf" srcId="{62931D4E-C654-4DC5-8D81-35767370137C}" destId="{AD53609E-810A-476A-AB94-8B174A35A666}" srcOrd="0" destOrd="0" presId="urn:microsoft.com/office/officeart/2008/layout/HorizontalMultiLevelHierarchy"/>
    <dgm:cxn modelId="{C1ACF855-A847-43F6-86F2-7B5F66632436}" type="presParOf" srcId="{62931D4E-C654-4DC5-8D81-35767370137C}" destId="{7EBD86A3-F579-444A-A505-BA5973A5A0FE}" srcOrd="1" destOrd="0" presId="urn:microsoft.com/office/officeart/2008/layout/HorizontalMultiLevelHierarchy"/>
    <dgm:cxn modelId="{7F0FAF3D-50EF-4F14-A543-253A9E7EEBC1}" type="presParOf" srcId="{0FF33CA0-BA5E-4170-95B4-672E198B598E}" destId="{06C7669B-143E-4270-958E-BAA93985799B}" srcOrd="2" destOrd="0" presId="urn:microsoft.com/office/officeart/2008/layout/HorizontalMultiLevelHierarchy"/>
    <dgm:cxn modelId="{24218F75-E352-443D-85E2-353E291ADA2F}" type="presParOf" srcId="{06C7669B-143E-4270-958E-BAA93985799B}" destId="{D3F25E82-0161-482D-84F8-EA5551122390}" srcOrd="0" destOrd="0" presId="urn:microsoft.com/office/officeart/2008/layout/HorizontalMultiLevelHierarchy"/>
    <dgm:cxn modelId="{A08A15FD-5481-4539-8D79-C003A75C79A8}" type="presParOf" srcId="{0FF33CA0-BA5E-4170-95B4-672E198B598E}" destId="{99FBF855-E2C9-4B69-830E-4BB93DFC5818}" srcOrd="3" destOrd="0" presId="urn:microsoft.com/office/officeart/2008/layout/HorizontalMultiLevelHierarchy"/>
    <dgm:cxn modelId="{ED0A52A7-ECAF-47F5-B5F7-2D4D0C07FC2B}" type="presParOf" srcId="{99FBF855-E2C9-4B69-830E-4BB93DFC5818}" destId="{89B65739-D15C-4D78-AB30-24C7AC0C4F98}" srcOrd="0" destOrd="0" presId="urn:microsoft.com/office/officeart/2008/layout/HorizontalMultiLevelHierarchy"/>
    <dgm:cxn modelId="{395DFDED-5879-4792-9DA9-015689F33B0A}" type="presParOf" srcId="{99FBF855-E2C9-4B69-830E-4BB93DFC5818}" destId="{53742772-61E6-4B89-8C65-EBD0A411085C}" srcOrd="1" destOrd="0" presId="urn:microsoft.com/office/officeart/2008/layout/HorizontalMultiLevelHierarchy"/>
    <dgm:cxn modelId="{DB3B3941-69BE-47AD-BAAD-39DA883A9B03}" type="presParOf" srcId="{0FF33CA0-BA5E-4170-95B4-672E198B598E}" destId="{350069A5-E0BC-41E7-947F-7228BD002AA2}" srcOrd="4" destOrd="0" presId="urn:microsoft.com/office/officeart/2008/layout/HorizontalMultiLevelHierarchy"/>
    <dgm:cxn modelId="{203E3B13-ABCF-4A0F-BD7F-099D94872390}" type="presParOf" srcId="{350069A5-E0BC-41E7-947F-7228BD002AA2}" destId="{2AFF7084-F70D-4E7B-9EFC-F21DB6467AD8}" srcOrd="0" destOrd="0" presId="urn:microsoft.com/office/officeart/2008/layout/HorizontalMultiLevelHierarchy"/>
    <dgm:cxn modelId="{EB12BB8B-3D2C-448E-AEDD-42A62F7CA852}" type="presParOf" srcId="{0FF33CA0-BA5E-4170-95B4-672E198B598E}" destId="{32E70DE7-807D-4C8D-9BAB-96FB371C026B}" srcOrd="5" destOrd="0" presId="urn:microsoft.com/office/officeart/2008/layout/HorizontalMultiLevelHierarchy"/>
    <dgm:cxn modelId="{B13A7DEC-58DC-4D79-9BF6-0249D0F07295}" type="presParOf" srcId="{32E70DE7-807D-4C8D-9BAB-96FB371C026B}" destId="{27E50D17-2AC7-40B7-BC7A-47F58E1496CD}" srcOrd="0" destOrd="0" presId="urn:microsoft.com/office/officeart/2008/layout/HorizontalMultiLevelHierarchy"/>
    <dgm:cxn modelId="{D323028F-A3EC-4B11-A198-9D9CA1DF0A89}" type="presParOf" srcId="{32E70DE7-807D-4C8D-9BAB-96FB371C026B}" destId="{9339480B-6CB7-4481-B16A-70830EA355F8}"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BC88804-16EB-49B5-BEAF-2D004A47C199}" type="doc">
      <dgm:prSet loTypeId="urn:microsoft.com/office/officeart/2008/layout/HorizontalMultiLevelHierarchy" loCatId="hierarchy" qsTypeId="urn:microsoft.com/office/officeart/2005/8/quickstyle/simple1" qsCatId="simple" csTypeId="urn:microsoft.com/office/officeart/2005/8/colors/colorful1" csCatId="colorful"/>
      <dgm:spPr/>
      <dgm:t>
        <a:bodyPr/>
        <a:lstStyle/>
        <a:p>
          <a:endParaRPr lang="en-US"/>
        </a:p>
      </dgm:t>
    </dgm:pt>
    <dgm:pt modelId="{F77DDE7B-414A-4F84-8F73-AE4E952B8287}">
      <dgm:prSet/>
      <dgm:spPr/>
      <dgm:t>
        <a:bodyPr/>
        <a:lstStyle/>
        <a:p>
          <a:r>
            <a:rPr lang="en-US"/>
            <a:t>ITR 7</a:t>
          </a:r>
        </a:p>
      </dgm:t>
    </dgm:pt>
    <dgm:pt modelId="{3654955D-E921-4A55-94ED-2D95859C2211}" type="parTrans" cxnId="{31CC7C03-CE44-4E35-8FB4-4FBE805A3E68}">
      <dgm:prSet/>
      <dgm:spPr/>
      <dgm:t>
        <a:bodyPr/>
        <a:lstStyle/>
        <a:p>
          <a:endParaRPr lang="en-US"/>
        </a:p>
      </dgm:t>
    </dgm:pt>
    <dgm:pt modelId="{92160FC6-E2A9-41C5-A76E-83872E67F023}" type="sibTrans" cxnId="{31CC7C03-CE44-4E35-8FB4-4FBE805A3E68}">
      <dgm:prSet/>
      <dgm:spPr/>
      <dgm:t>
        <a:bodyPr/>
        <a:lstStyle/>
        <a:p>
          <a:endParaRPr lang="en-US"/>
        </a:p>
      </dgm:t>
    </dgm:pt>
    <dgm:pt modelId="{05A585F4-44F7-4F55-9DF2-A09446FF7474}">
      <dgm:prSet/>
      <dgm:spPr/>
      <dgm:t>
        <a:bodyPr/>
        <a:lstStyle/>
        <a:p>
          <a:r>
            <a:rPr lang="en-US"/>
            <a:t>Income derived from Property held under Trust wholly / in part for charitable or religious purposes</a:t>
          </a:r>
        </a:p>
      </dgm:t>
    </dgm:pt>
    <dgm:pt modelId="{E14207D1-C4F4-423A-98C2-799D2A5D1C58}" type="parTrans" cxnId="{FC56DD5A-CA24-454F-A25B-F28AFE1F98D6}">
      <dgm:prSet/>
      <dgm:spPr/>
      <dgm:t>
        <a:bodyPr/>
        <a:lstStyle/>
        <a:p>
          <a:endParaRPr lang="en-US"/>
        </a:p>
      </dgm:t>
    </dgm:pt>
    <dgm:pt modelId="{6F006FDB-2BD1-4A9E-B97C-8E2FCCB26AFF}" type="sibTrans" cxnId="{FC56DD5A-CA24-454F-A25B-F28AFE1F98D6}">
      <dgm:prSet/>
      <dgm:spPr/>
      <dgm:t>
        <a:bodyPr/>
        <a:lstStyle/>
        <a:p>
          <a:endParaRPr lang="en-US"/>
        </a:p>
      </dgm:t>
    </dgm:pt>
    <dgm:pt modelId="{E2813290-ED17-400E-9479-5EFC5CD41FB0}">
      <dgm:prSet/>
      <dgm:spPr/>
      <dgm:t>
        <a:bodyPr/>
        <a:lstStyle/>
        <a:p>
          <a:r>
            <a:rPr lang="en-US"/>
            <a:t>Chief Executive Officer of every Political Party</a:t>
          </a:r>
        </a:p>
      </dgm:t>
    </dgm:pt>
    <dgm:pt modelId="{CC1BDFD7-950C-4510-BB60-2ACA2E2D9B0C}" type="parTrans" cxnId="{7CEA1F44-BEDC-47E7-91AC-F298D69CB2BC}">
      <dgm:prSet/>
      <dgm:spPr/>
      <dgm:t>
        <a:bodyPr/>
        <a:lstStyle/>
        <a:p>
          <a:endParaRPr lang="en-US"/>
        </a:p>
      </dgm:t>
    </dgm:pt>
    <dgm:pt modelId="{8DA17003-40B9-47CA-9282-7DC53510619B}" type="sibTrans" cxnId="{7CEA1F44-BEDC-47E7-91AC-F298D69CB2BC}">
      <dgm:prSet/>
      <dgm:spPr/>
      <dgm:t>
        <a:bodyPr/>
        <a:lstStyle/>
        <a:p>
          <a:endParaRPr lang="en-US"/>
        </a:p>
      </dgm:t>
    </dgm:pt>
    <dgm:pt modelId="{430AA63C-1B55-4A84-B1AC-9BB87065ACAA}">
      <dgm:prSet/>
      <dgm:spPr/>
      <dgm:t>
        <a:bodyPr/>
        <a:lstStyle/>
        <a:p>
          <a:r>
            <a:rPr lang="en-US"/>
            <a:t>Various entities like Research Association, News Agency, etc. mentioned in Section 10</a:t>
          </a:r>
        </a:p>
      </dgm:t>
    </dgm:pt>
    <dgm:pt modelId="{F3B34D46-9C77-4C17-B44A-6DB0A5F8FDED}" type="parTrans" cxnId="{2273C6E9-E734-4356-B971-3529BC9FB9F9}">
      <dgm:prSet/>
      <dgm:spPr/>
      <dgm:t>
        <a:bodyPr/>
        <a:lstStyle/>
        <a:p>
          <a:endParaRPr lang="en-US"/>
        </a:p>
      </dgm:t>
    </dgm:pt>
    <dgm:pt modelId="{FEE6158F-B7D7-49B2-A1A3-1B539EE428EB}" type="sibTrans" cxnId="{2273C6E9-E734-4356-B971-3529BC9FB9F9}">
      <dgm:prSet/>
      <dgm:spPr/>
      <dgm:t>
        <a:bodyPr/>
        <a:lstStyle/>
        <a:p>
          <a:endParaRPr lang="en-US"/>
        </a:p>
      </dgm:t>
    </dgm:pt>
    <dgm:pt modelId="{0F972CCB-974F-4F81-B774-144FCC6FA79F}">
      <dgm:prSet/>
      <dgm:spPr/>
      <dgm:t>
        <a:bodyPr/>
        <a:lstStyle/>
        <a:p>
          <a:r>
            <a:rPr lang="en-US"/>
            <a:t>University, College or other Institution referred in Section 35</a:t>
          </a:r>
        </a:p>
      </dgm:t>
    </dgm:pt>
    <dgm:pt modelId="{3E7F5C5A-AB77-4D4D-8203-A6C712EFB4DC}" type="parTrans" cxnId="{6E06C052-9672-4D10-BCBB-E9350392AF53}">
      <dgm:prSet/>
      <dgm:spPr/>
      <dgm:t>
        <a:bodyPr/>
        <a:lstStyle/>
        <a:p>
          <a:endParaRPr lang="en-US"/>
        </a:p>
      </dgm:t>
    </dgm:pt>
    <dgm:pt modelId="{DA9AA9A6-A847-4F0F-9BF4-F1D780CEFE24}" type="sibTrans" cxnId="{6E06C052-9672-4D10-BCBB-E9350392AF53}">
      <dgm:prSet/>
      <dgm:spPr/>
      <dgm:t>
        <a:bodyPr/>
        <a:lstStyle/>
        <a:p>
          <a:endParaRPr lang="en-US"/>
        </a:p>
      </dgm:t>
    </dgm:pt>
    <dgm:pt modelId="{CBF0347E-8EED-4297-ACE8-CA8C69F038C1}" type="pres">
      <dgm:prSet presAssocID="{4BC88804-16EB-49B5-BEAF-2D004A47C199}" presName="Name0" presStyleCnt="0">
        <dgm:presLayoutVars>
          <dgm:chPref val="1"/>
          <dgm:dir/>
          <dgm:animOne val="branch"/>
          <dgm:animLvl val="lvl"/>
          <dgm:resizeHandles val="exact"/>
        </dgm:presLayoutVars>
      </dgm:prSet>
      <dgm:spPr/>
    </dgm:pt>
    <dgm:pt modelId="{9C2EDB41-B170-496F-9387-516C940857B7}" type="pres">
      <dgm:prSet presAssocID="{F77DDE7B-414A-4F84-8F73-AE4E952B8287}" presName="root1" presStyleCnt="0"/>
      <dgm:spPr/>
    </dgm:pt>
    <dgm:pt modelId="{B670B34F-E48A-44E6-B182-2AB87848E04B}" type="pres">
      <dgm:prSet presAssocID="{F77DDE7B-414A-4F84-8F73-AE4E952B8287}" presName="LevelOneTextNode" presStyleLbl="node0" presStyleIdx="0" presStyleCnt="1">
        <dgm:presLayoutVars>
          <dgm:chPref val="3"/>
        </dgm:presLayoutVars>
      </dgm:prSet>
      <dgm:spPr/>
    </dgm:pt>
    <dgm:pt modelId="{0A43A62B-A2E8-402B-804E-7E2684E06984}" type="pres">
      <dgm:prSet presAssocID="{F77DDE7B-414A-4F84-8F73-AE4E952B8287}" presName="level2hierChild" presStyleCnt="0"/>
      <dgm:spPr/>
    </dgm:pt>
    <dgm:pt modelId="{5E8AF0D7-5806-4D8A-BF5A-684006F672EB}" type="pres">
      <dgm:prSet presAssocID="{E14207D1-C4F4-423A-98C2-799D2A5D1C58}" presName="conn2-1" presStyleLbl="parChTrans1D2" presStyleIdx="0" presStyleCnt="4"/>
      <dgm:spPr/>
    </dgm:pt>
    <dgm:pt modelId="{5B4D3948-5014-42D2-8302-5EA44462564C}" type="pres">
      <dgm:prSet presAssocID="{E14207D1-C4F4-423A-98C2-799D2A5D1C58}" presName="connTx" presStyleLbl="parChTrans1D2" presStyleIdx="0" presStyleCnt="4"/>
      <dgm:spPr/>
    </dgm:pt>
    <dgm:pt modelId="{C4B8EDA6-D7CF-46E0-97C2-6FDD5D4DC0E2}" type="pres">
      <dgm:prSet presAssocID="{05A585F4-44F7-4F55-9DF2-A09446FF7474}" presName="root2" presStyleCnt="0"/>
      <dgm:spPr/>
    </dgm:pt>
    <dgm:pt modelId="{F1868EE3-AF40-4748-AC43-C04D14C3ED33}" type="pres">
      <dgm:prSet presAssocID="{05A585F4-44F7-4F55-9DF2-A09446FF7474}" presName="LevelTwoTextNode" presStyleLbl="node2" presStyleIdx="0" presStyleCnt="4">
        <dgm:presLayoutVars>
          <dgm:chPref val="3"/>
        </dgm:presLayoutVars>
      </dgm:prSet>
      <dgm:spPr/>
    </dgm:pt>
    <dgm:pt modelId="{E275458E-1492-46B4-A863-D4928EE1BEC5}" type="pres">
      <dgm:prSet presAssocID="{05A585F4-44F7-4F55-9DF2-A09446FF7474}" presName="level3hierChild" presStyleCnt="0"/>
      <dgm:spPr/>
    </dgm:pt>
    <dgm:pt modelId="{413C2F8A-BD9C-4389-8F56-FDF79368EE39}" type="pres">
      <dgm:prSet presAssocID="{CC1BDFD7-950C-4510-BB60-2ACA2E2D9B0C}" presName="conn2-1" presStyleLbl="parChTrans1D2" presStyleIdx="1" presStyleCnt="4"/>
      <dgm:spPr/>
    </dgm:pt>
    <dgm:pt modelId="{0B3FAC2D-73A1-48B3-9108-6308E0C324D7}" type="pres">
      <dgm:prSet presAssocID="{CC1BDFD7-950C-4510-BB60-2ACA2E2D9B0C}" presName="connTx" presStyleLbl="parChTrans1D2" presStyleIdx="1" presStyleCnt="4"/>
      <dgm:spPr/>
    </dgm:pt>
    <dgm:pt modelId="{208F4AE9-6A08-460B-B916-45555926F057}" type="pres">
      <dgm:prSet presAssocID="{E2813290-ED17-400E-9479-5EFC5CD41FB0}" presName="root2" presStyleCnt="0"/>
      <dgm:spPr/>
    </dgm:pt>
    <dgm:pt modelId="{2DF4B4E7-A080-42BE-A066-1B14A6FD8D87}" type="pres">
      <dgm:prSet presAssocID="{E2813290-ED17-400E-9479-5EFC5CD41FB0}" presName="LevelTwoTextNode" presStyleLbl="node2" presStyleIdx="1" presStyleCnt="4">
        <dgm:presLayoutVars>
          <dgm:chPref val="3"/>
        </dgm:presLayoutVars>
      </dgm:prSet>
      <dgm:spPr/>
    </dgm:pt>
    <dgm:pt modelId="{B3119473-9FE3-48B0-B8B6-2F0843FCA4B8}" type="pres">
      <dgm:prSet presAssocID="{E2813290-ED17-400E-9479-5EFC5CD41FB0}" presName="level3hierChild" presStyleCnt="0"/>
      <dgm:spPr/>
    </dgm:pt>
    <dgm:pt modelId="{6E78A13A-276B-4550-9262-E113C70A286F}" type="pres">
      <dgm:prSet presAssocID="{F3B34D46-9C77-4C17-B44A-6DB0A5F8FDED}" presName="conn2-1" presStyleLbl="parChTrans1D2" presStyleIdx="2" presStyleCnt="4"/>
      <dgm:spPr/>
    </dgm:pt>
    <dgm:pt modelId="{10ACB11B-0EEC-4562-BDB3-EC757921DAC6}" type="pres">
      <dgm:prSet presAssocID="{F3B34D46-9C77-4C17-B44A-6DB0A5F8FDED}" presName="connTx" presStyleLbl="parChTrans1D2" presStyleIdx="2" presStyleCnt="4"/>
      <dgm:spPr/>
    </dgm:pt>
    <dgm:pt modelId="{F0F329B4-836C-4167-9A5C-24335CDBC19C}" type="pres">
      <dgm:prSet presAssocID="{430AA63C-1B55-4A84-B1AC-9BB87065ACAA}" presName="root2" presStyleCnt="0"/>
      <dgm:spPr/>
    </dgm:pt>
    <dgm:pt modelId="{AB2A74C9-D720-408C-AF87-A1AB1FC24488}" type="pres">
      <dgm:prSet presAssocID="{430AA63C-1B55-4A84-B1AC-9BB87065ACAA}" presName="LevelTwoTextNode" presStyleLbl="node2" presStyleIdx="2" presStyleCnt="4">
        <dgm:presLayoutVars>
          <dgm:chPref val="3"/>
        </dgm:presLayoutVars>
      </dgm:prSet>
      <dgm:spPr/>
    </dgm:pt>
    <dgm:pt modelId="{DE1679C0-CF0E-4EFE-9859-F6C085F3CDB9}" type="pres">
      <dgm:prSet presAssocID="{430AA63C-1B55-4A84-B1AC-9BB87065ACAA}" presName="level3hierChild" presStyleCnt="0"/>
      <dgm:spPr/>
    </dgm:pt>
    <dgm:pt modelId="{DEDE47E1-5DD2-4A2E-ADB8-06FAE5DE7D51}" type="pres">
      <dgm:prSet presAssocID="{3E7F5C5A-AB77-4D4D-8203-A6C712EFB4DC}" presName="conn2-1" presStyleLbl="parChTrans1D2" presStyleIdx="3" presStyleCnt="4"/>
      <dgm:spPr/>
    </dgm:pt>
    <dgm:pt modelId="{BF2D6F04-A5BE-4072-AD77-DEDAFBFBBB4F}" type="pres">
      <dgm:prSet presAssocID="{3E7F5C5A-AB77-4D4D-8203-A6C712EFB4DC}" presName="connTx" presStyleLbl="parChTrans1D2" presStyleIdx="3" presStyleCnt="4"/>
      <dgm:spPr/>
    </dgm:pt>
    <dgm:pt modelId="{0419786E-2F56-40FB-BFA5-3AFEEE1F62B9}" type="pres">
      <dgm:prSet presAssocID="{0F972CCB-974F-4F81-B774-144FCC6FA79F}" presName="root2" presStyleCnt="0"/>
      <dgm:spPr/>
    </dgm:pt>
    <dgm:pt modelId="{51F5BA5C-F75F-40D7-8004-43C8221C20ED}" type="pres">
      <dgm:prSet presAssocID="{0F972CCB-974F-4F81-B774-144FCC6FA79F}" presName="LevelTwoTextNode" presStyleLbl="node2" presStyleIdx="3" presStyleCnt="4">
        <dgm:presLayoutVars>
          <dgm:chPref val="3"/>
        </dgm:presLayoutVars>
      </dgm:prSet>
      <dgm:spPr/>
    </dgm:pt>
    <dgm:pt modelId="{00EC5275-C0F8-4C3D-9F4B-CA6012339903}" type="pres">
      <dgm:prSet presAssocID="{0F972CCB-974F-4F81-B774-144FCC6FA79F}" presName="level3hierChild" presStyleCnt="0"/>
      <dgm:spPr/>
    </dgm:pt>
  </dgm:ptLst>
  <dgm:cxnLst>
    <dgm:cxn modelId="{31CC7C03-CE44-4E35-8FB4-4FBE805A3E68}" srcId="{4BC88804-16EB-49B5-BEAF-2D004A47C199}" destId="{F77DDE7B-414A-4F84-8F73-AE4E952B8287}" srcOrd="0" destOrd="0" parTransId="{3654955D-E921-4A55-94ED-2D95859C2211}" sibTransId="{92160FC6-E2A9-41C5-A76E-83872E67F023}"/>
    <dgm:cxn modelId="{3ADC9918-5435-4AB6-A0E9-553DFE9EF397}" type="presOf" srcId="{F3B34D46-9C77-4C17-B44A-6DB0A5F8FDED}" destId="{6E78A13A-276B-4550-9262-E113C70A286F}" srcOrd="0" destOrd="0" presId="urn:microsoft.com/office/officeart/2008/layout/HorizontalMultiLevelHierarchy"/>
    <dgm:cxn modelId="{0EA42F27-DBEA-49C9-9109-21C6136B2C23}" type="presOf" srcId="{3E7F5C5A-AB77-4D4D-8203-A6C712EFB4DC}" destId="{BF2D6F04-A5BE-4072-AD77-DEDAFBFBBB4F}" srcOrd="1" destOrd="0" presId="urn:microsoft.com/office/officeart/2008/layout/HorizontalMultiLevelHierarchy"/>
    <dgm:cxn modelId="{345F4933-ED52-4388-A6BE-44D45E5D3254}" type="presOf" srcId="{430AA63C-1B55-4A84-B1AC-9BB87065ACAA}" destId="{AB2A74C9-D720-408C-AF87-A1AB1FC24488}" srcOrd="0" destOrd="0" presId="urn:microsoft.com/office/officeart/2008/layout/HorizontalMultiLevelHierarchy"/>
    <dgm:cxn modelId="{A1E37A33-1220-4C56-A1BD-0F1B61C24C4B}" type="presOf" srcId="{4BC88804-16EB-49B5-BEAF-2D004A47C199}" destId="{CBF0347E-8EED-4297-ACE8-CA8C69F038C1}" srcOrd="0" destOrd="0" presId="urn:microsoft.com/office/officeart/2008/layout/HorizontalMultiLevelHierarchy"/>
    <dgm:cxn modelId="{7CEA1F44-BEDC-47E7-91AC-F298D69CB2BC}" srcId="{F77DDE7B-414A-4F84-8F73-AE4E952B8287}" destId="{E2813290-ED17-400E-9479-5EFC5CD41FB0}" srcOrd="1" destOrd="0" parTransId="{CC1BDFD7-950C-4510-BB60-2ACA2E2D9B0C}" sibTransId="{8DA17003-40B9-47CA-9282-7DC53510619B}"/>
    <dgm:cxn modelId="{6E06C052-9672-4D10-BCBB-E9350392AF53}" srcId="{F77DDE7B-414A-4F84-8F73-AE4E952B8287}" destId="{0F972CCB-974F-4F81-B774-144FCC6FA79F}" srcOrd="3" destOrd="0" parTransId="{3E7F5C5A-AB77-4D4D-8203-A6C712EFB4DC}" sibTransId="{DA9AA9A6-A847-4F0F-9BF4-F1D780CEFE24}"/>
    <dgm:cxn modelId="{FC56DD5A-CA24-454F-A25B-F28AFE1F98D6}" srcId="{F77DDE7B-414A-4F84-8F73-AE4E952B8287}" destId="{05A585F4-44F7-4F55-9DF2-A09446FF7474}" srcOrd="0" destOrd="0" parTransId="{E14207D1-C4F4-423A-98C2-799D2A5D1C58}" sibTransId="{6F006FDB-2BD1-4A9E-B97C-8E2FCCB26AFF}"/>
    <dgm:cxn modelId="{4EB89797-593A-4B67-BBE9-86AA5FC25705}" type="presOf" srcId="{CC1BDFD7-950C-4510-BB60-2ACA2E2D9B0C}" destId="{0B3FAC2D-73A1-48B3-9108-6308E0C324D7}" srcOrd="1" destOrd="0" presId="urn:microsoft.com/office/officeart/2008/layout/HorizontalMultiLevelHierarchy"/>
    <dgm:cxn modelId="{A56AA0B9-DB47-4285-8E61-D38AB0B9B901}" type="presOf" srcId="{E14207D1-C4F4-423A-98C2-799D2A5D1C58}" destId="{5E8AF0D7-5806-4D8A-BF5A-684006F672EB}" srcOrd="0" destOrd="0" presId="urn:microsoft.com/office/officeart/2008/layout/HorizontalMultiLevelHierarchy"/>
    <dgm:cxn modelId="{344BE3BE-FAB2-4223-9C33-5BCE69AAF5EA}" type="presOf" srcId="{E2813290-ED17-400E-9479-5EFC5CD41FB0}" destId="{2DF4B4E7-A080-42BE-A066-1B14A6FD8D87}" srcOrd="0" destOrd="0" presId="urn:microsoft.com/office/officeart/2008/layout/HorizontalMultiLevelHierarchy"/>
    <dgm:cxn modelId="{87B27CC0-F846-4FE3-B6E9-90B45307F153}" type="presOf" srcId="{CC1BDFD7-950C-4510-BB60-2ACA2E2D9B0C}" destId="{413C2F8A-BD9C-4389-8F56-FDF79368EE39}" srcOrd="0" destOrd="0" presId="urn:microsoft.com/office/officeart/2008/layout/HorizontalMultiLevelHierarchy"/>
    <dgm:cxn modelId="{91CBA7D9-2DFE-4A14-8983-151892964CF2}" type="presOf" srcId="{0F972CCB-974F-4F81-B774-144FCC6FA79F}" destId="{51F5BA5C-F75F-40D7-8004-43C8221C20ED}" srcOrd="0" destOrd="0" presId="urn:microsoft.com/office/officeart/2008/layout/HorizontalMultiLevelHierarchy"/>
    <dgm:cxn modelId="{8AC82DE2-8BEE-4EAE-9F97-D96E43078AC1}" type="presOf" srcId="{3E7F5C5A-AB77-4D4D-8203-A6C712EFB4DC}" destId="{DEDE47E1-5DD2-4A2E-ADB8-06FAE5DE7D51}" srcOrd="0" destOrd="0" presId="urn:microsoft.com/office/officeart/2008/layout/HorizontalMultiLevelHierarchy"/>
    <dgm:cxn modelId="{806679E3-A30A-42B2-A508-F063F862AB6D}" type="presOf" srcId="{F77DDE7B-414A-4F84-8F73-AE4E952B8287}" destId="{B670B34F-E48A-44E6-B182-2AB87848E04B}" srcOrd="0" destOrd="0" presId="urn:microsoft.com/office/officeart/2008/layout/HorizontalMultiLevelHierarchy"/>
    <dgm:cxn modelId="{4CDD75E7-EEAD-4A3E-B2F4-42B4AA20CB54}" type="presOf" srcId="{05A585F4-44F7-4F55-9DF2-A09446FF7474}" destId="{F1868EE3-AF40-4748-AC43-C04D14C3ED33}" srcOrd="0" destOrd="0" presId="urn:microsoft.com/office/officeart/2008/layout/HorizontalMultiLevelHierarchy"/>
    <dgm:cxn modelId="{2273C6E9-E734-4356-B971-3529BC9FB9F9}" srcId="{F77DDE7B-414A-4F84-8F73-AE4E952B8287}" destId="{430AA63C-1B55-4A84-B1AC-9BB87065ACAA}" srcOrd="2" destOrd="0" parTransId="{F3B34D46-9C77-4C17-B44A-6DB0A5F8FDED}" sibTransId="{FEE6158F-B7D7-49B2-A1A3-1B539EE428EB}"/>
    <dgm:cxn modelId="{8BFC3CF2-69D9-4F6F-98E6-DB2D5FE1775F}" type="presOf" srcId="{E14207D1-C4F4-423A-98C2-799D2A5D1C58}" destId="{5B4D3948-5014-42D2-8302-5EA44462564C}" srcOrd="1" destOrd="0" presId="urn:microsoft.com/office/officeart/2008/layout/HorizontalMultiLevelHierarchy"/>
    <dgm:cxn modelId="{DA4381F9-20D6-4D07-ABB4-376CB2675DDE}" type="presOf" srcId="{F3B34D46-9C77-4C17-B44A-6DB0A5F8FDED}" destId="{10ACB11B-0EEC-4562-BDB3-EC757921DAC6}" srcOrd="1" destOrd="0" presId="urn:microsoft.com/office/officeart/2008/layout/HorizontalMultiLevelHierarchy"/>
    <dgm:cxn modelId="{08822134-9A6E-4A81-9A07-279BC8C32FE3}" type="presParOf" srcId="{CBF0347E-8EED-4297-ACE8-CA8C69F038C1}" destId="{9C2EDB41-B170-496F-9387-516C940857B7}" srcOrd="0" destOrd="0" presId="urn:microsoft.com/office/officeart/2008/layout/HorizontalMultiLevelHierarchy"/>
    <dgm:cxn modelId="{1F746211-074F-4A19-B80D-77E386C2B408}" type="presParOf" srcId="{9C2EDB41-B170-496F-9387-516C940857B7}" destId="{B670B34F-E48A-44E6-B182-2AB87848E04B}" srcOrd="0" destOrd="0" presId="urn:microsoft.com/office/officeart/2008/layout/HorizontalMultiLevelHierarchy"/>
    <dgm:cxn modelId="{99117975-9C2C-4EF6-AE32-1BDF770F3FFA}" type="presParOf" srcId="{9C2EDB41-B170-496F-9387-516C940857B7}" destId="{0A43A62B-A2E8-402B-804E-7E2684E06984}" srcOrd="1" destOrd="0" presId="urn:microsoft.com/office/officeart/2008/layout/HorizontalMultiLevelHierarchy"/>
    <dgm:cxn modelId="{69DC67EA-92B4-4E82-B22D-7476141CAB11}" type="presParOf" srcId="{0A43A62B-A2E8-402B-804E-7E2684E06984}" destId="{5E8AF0D7-5806-4D8A-BF5A-684006F672EB}" srcOrd="0" destOrd="0" presId="urn:microsoft.com/office/officeart/2008/layout/HorizontalMultiLevelHierarchy"/>
    <dgm:cxn modelId="{C1D87F73-A6BB-4509-BC69-4ECBF677950A}" type="presParOf" srcId="{5E8AF0D7-5806-4D8A-BF5A-684006F672EB}" destId="{5B4D3948-5014-42D2-8302-5EA44462564C}" srcOrd="0" destOrd="0" presId="urn:microsoft.com/office/officeart/2008/layout/HorizontalMultiLevelHierarchy"/>
    <dgm:cxn modelId="{33E960A8-0CAB-409B-9467-3C475F02D722}" type="presParOf" srcId="{0A43A62B-A2E8-402B-804E-7E2684E06984}" destId="{C4B8EDA6-D7CF-46E0-97C2-6FDD5D4DC0E2}" srcOrd="1" destOrd="0" presId="urn:microsoft.com/office/officeart/2008/layout/HorizontalMultiLevelHierarchy"/>
    <dgm:cxn modelId="{1E333527-5159-4312-B438-DD214D019C94}" type="presParOf" srcId="{C4B8EDA6-D7CF-46E0-97C2-6FDD5D4DC0E2}" destId="{F1868EE3-AF40-4748-AC43-C04D14C3ED33}" srcOrd="0" destOrd="0" presId="urn:microsoft.com/office/officeart/2008/layout/HorizontalMultiLevelHierarchy"/>
    <dgm:cxn modelId="{3CA68E38-47E0-4ABC-AE2E-162313731B8D}" type="presParOf" srcId="{C4B8EDA6-D7CF-46E0-97C2-6FDD5D4DC0E2}" destId="{E275458E-1492-46B4-A863-D4928EE1BEC5}" srcOrd="1" destOrd="0" presId="urn:microsoft.com/office/officeart/2008/layout/HorizontalMultiLevelHierarchy"/>
    <dgm:cxn modelId="{6C718C58-994C-45FE-8181-9C572018F027}" type="presParOf" srcId="{0A43A62B-A2E8-402B-804E-7E2684E06984}" destId="{413C2F8A-BD9C-4389-8F56-FDF79368EE39}" srcOrd="2" destOrd="0" presId="urn:microsoft.com/office/officeart/2008/layout/HorizontalMultiLevelHierarchy"/>
    <dgm:cxn modelId="{E5AD285D-7C60-4FA6-B9BA-260426841A1C}" type="presParOf" srcId="{413C2F8A-BD9C-4389-8F56-FDF79368EE39}" destId="{0B3FAC2D-73A1-48B3-9108-6308E0C324D7}" srcOrd="0" destOrd="0" presId="urn:microsoft.com/office/officeart/2008/layout/HorizontalMultiLevelHierarchy"/>
    <dgm:cxn modelId="{7A945586-BE70-4658-94D3-73C693A9CA5B}" type="presParOf" srcId="{0A43A62B-A2E8-402B-804E-7E2684E06984}" destId="{208F4AE9-6A08-460B-B916-45555926F057}" srcOrd="3" destOrd="0" presId="urn:microsoft.com/office/officeart/2008/layout/HorizontalMultiLevelHierarchy"/>
    <dgm:cxn modelId="{18C3014B-1CCB-4F56-A494-C3E6A7EFC840}" type="presParOf" srcId="{208F4AE9-6A08-460B-B916-45555926F057}" destId="{2DF4B4E7-A080-42BE-A066-1B14A6FD8D87}" srcOrd="0" destOrd="0" presId="urn:microsoft.com/office/officeart/2008/layout/HorizontalMultiLevelHierarchy"/>
    <dgm:cxn modelId="{CCBEE40F-8AF1-4FC0-8FC0-DFD684173189}" type="presParOf" srcId="{208F4AE9-6A08-460B-B916-45555926F057}" destId="{B3119473-9FE3-48B0-B8B6-2F0843FCA4B8}" srcOrd="1" destOrd="0" presId="urn:microsoft.com/office/officeart/2008/layout/HorizontalMultiLevelHierarchy"/>
    <dgm:cxn modelId="{F70BC1EF-BF47-4412-B029-4FC97C5E2EE2}" type="presParOf" srcId="{0A43A62B-A2E8-402B-804E-7E2684E06984}" destId="{6E78A13A-276B-4550-9262-E113C70A286F}" srcOrd="4" destOrd="0" presId="urn:microsoft.com/office/officeart/2008/layout/HorizontalMultiLevelHierarchy"/>
    <dgm:cxn modelId="{A692F88C-73CF-432D-B2CD-1240664BFB65}" type="presParOf" srcId="{6E78A13A-276B-4550-9262-E113C70A286F}" destId="{10ACB11B-0EEC-4562-BDB3-EC757921DAC6}" srcOrd="0" destOrd="0" presId="urn:microsoft.com/office/officeart/2008/layout/HorizontalMultiLevelHierarchy"/>
    <dgm:cxn modelId="{5DF660A0-214F-4916-9C44-5558E90B0F72}" type="presParOf" srcId="{0A43A62B-A2E8-402B-804E-7E2684E06984}" destId="{F0F329B4-836C-4167-9A5C-24335CDBC19C}" srcOrd="5" destOrd="0" presId="urn:microsoft.com/office/officeart/2008/layout/HorizontalMultiLevelHierarchy"/>
    <dgm:cxn modelId="{F42B10EB-85A4-44D4-82E9-2038726CD56B}" type="presParOf" srcId="{F0F329B4-836C-4167-9A5C-24335CDBC19C}" destId="{AB2A74C9-D720-408C-AF87-A1AB1FC24488}" srcOrd="0" destOrd="0" presId="urn:microsoft.com/office/officeart/2008/layout/HorizontalMultiLevelHierarchy"/>
    <dgm:cxn modelId="{CE97F8AC-C82E-4C91-A3FA-87834AD81795}" type="presParOf" srcId="{F0F329B4-836C-4167-9A5C-24335CDBC19C}" destId="{DE1679C0-CF0E-4EFE-9859-F6C085F3CDB9}" srcOrd="1" destOrd="0" presId="urn:microsoft.com/office/officeart/2008/layout/HorizontalMultiLevelHierarchy"/>
    <dgm:cxn modelId="{F9602B18-43DA-48EF-93FD-166E56759A30}" type="presParOf" srcId="{0A43A62B-A2E8-402B-804E-7E2684E06984}" destId="{DEDE47E1-5DD2-4A2E-ADB8-06FAE5DE7D51}" srcOrd="6" destOrd="0" presId="urn:microsoft.com/office/officeart/2008/layout/HorizontalMultiLevelHierarchy"/>
    <dgm:cxn modelId="{B77D23A1-4AAF-467A-8718-383D6E053028}" type="presParOf" srcId="{DEDE47E1-5DD2-4A2E-ADB8-06FAE5DE7D51}" destId="{BF2D6F04-A5BE-4072-AD77-DEDAFBFBBB4F}" srcOrd="0" destOrd="0" presId="urn:microsoft.com/office/officeart/2008/layout/HorizontalMultiLevelHierarchy"/>
    <dgm:cxn modelId="{1833F27F-7D91-4180-85CE-636D4BFA4AC4}" type="presParOf" srcId="{0A43A62B-A2E8-402B-804E-7E2684E06984}" destId="{0419786E-2F56-40FB-BFA5-3AFEEE1F62B9}" srcOrd="7" destOrd="0" presId="urn:microsoft.com/office/officeart/2008/layout/HorizontalMultiLevelHierarchy"/>
    <dgm:cxn modelId="{CB9CB021-22B9-4DE4-A581-9750CA588862}" type="presParOf" srcId="{0419786E-2F56-40FB-BFA5-3AFEEE1F62B9}" destId="{51F5BA5C-F75F-40D7-8004-43C8221C20ED}" srcOrd="0" destOrd="0" presId="urn:microsoft.com/office/officeart/2008/layout/HorizontalMultiLevelHierarchy"/>
    <dgm:cxn modelId="{D0517869-F55D-4864-B272-7159971200F7}" type="presParOf" srcId="{0419786E-2F56-40FB-BFA5-3AFEEE1F62B9}" destId="{00EC5275-C0F8-4C3D-9F4B-CA6012339903}"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280EE1-9D57-46F4-987D-EE80AEFAF8B0}">
      <dsp:nvSpPr>
        <dsp:cNvPr id="0" name=""/>
        <dsp:cNvSpPr/>
      </dsp:nvSpPr>
      <dsp:spPr>
        <a:xfrm>
          <a:off x="0" y="409354"/>
          <a:ext cx="11929641" cy="4771856"/>
        </a:xfrm>
        <a:prstGeom prst="leftRightRibbon">
          <a:avLst/>
        </a:prstGeom>
        <a:solidFill>
          <a:schemeClr val="accent4">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19A23A-AAB5-4E26-9A00-FA97676259FE}">
      <dsp:nvSpPr>
        <dsp:cNvPr id="0" name=""/>
        <dsp:cNvSpPr/>
      </dsp:nvSpPr>
      <dsp:spPr>
        <a:xfrm>
          <a:off x="1431556" y="1244429"/>
          <a:ext cx="3936781" cy="233820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96012" rIns="0" bIns="102870" numCol="1" spcCol="1270" anchor="ctr" anchorCtr="0">
          <a:noAutofit/>
        </a:bodyPr>
        <a:lstStyle/>
        <a:p>
          <a:pPr marL="0" lvl="0" indent="0" algn="ctr" defTabSz="1200150">
            <a:lnSpc>
              <a:spcPct val="90000"/>
            </a:lnSpc>
            <a:spcBef>
              <a:spcPct val="0"/>
            </a:spcBef>
            <a:spcAft>
              <a:spcPct val="35000"/>
            </a:spcAft>
            <a:buNone/>
          </a:pPr>
          <a:r>
            <a:rPr lang="en-US" sz="2700" kern="1200"/>
            <a:t>“Taxation includes the imposition of any tax or impost, whether general or local or special, and tax shall be construed accordingly."</a:t>
          </a:r>
        </a:p>
      </dsp:txBody>
      <dsp:txXfrm>
        <a:off x="1431556" y="1244429"/>
        <a:ext cx="3936781" cy="2338209"/>
      </dsp:txXfrm>
    </dsp:sp>
    <dsp:sp modelId="{774A5FBE-959C-4142-8CB5-52F2C0D35154}">
      <dsp:nvSpPr>
        <dsp:cNvPr id="0" name=""/>
        <dsp:cNvSpPr/>
      </dsp:nvSpPr>
      <dsp:spPr>
        <a:xfrm>
          <a:off x="5964820" y="2007926"/>
          <a:ext cx="4652559" cy="233820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96012" rIns="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Taxes are considered to be the “cost of living in a society”. Taxes are levied by the Governments to meet the common welfare expenditure of the society.</a:t>
          </a:r>
        </a:p>
      </dsp:txBody>
      <dsp:txXfrm>
        <a:off x="5964820" y="2007926"/>
        <a:ext cx="4652559" cy="23382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407430-3D22-404A-8D16-FB5344D3B230}">
      <dsp:nvSpPr>
        <dsp:cNvPr id="0" name=""/>
        <dsp:cNvSpPr/>
      </dsp:nvSpPr>
      <dsp:spPr>
        <a:xfrm>
          <a:off x="245176" y="0"/>
          <a:ext cx="3577961" cy="2683471"/>
        </a:xfrm>
        <a:prstGeom prst="upArrow">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0315B5-E9E1-4306-A202-D1CA8576D6E7}">
      <dsp:nvSpPr>
        <dsp:cNvPr id="0" name=""/>
        <dsp:cNvSpPr/>
      </dsp:nvSpPr>
      <dsp:spPr>
        <a:xfrm>
          <a:off x="3930477" y="0"/>
          <a:ext cx="6680598" cy="26834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1376" tIns="0" rIns="341376" bIns="341376" numCol="1" spcCol="1270" anchor="ctr" anchorCtr="0">
          <a:noAutofit/>
        </a:bodyPr>
        <a:lstStyle/>
        <a:p>
          <a:pPr marL="0" lvl="0" indent="0" algn="l" defTabSz="2133600">
            <a:lnSpc>
              <a:spcPct val="90000"/>
            </a:lnSpc>
            <a:spcBef>
              <a:spcPct val="0"/>
            </a:spcBef>
            <a:spcAft>
              <a:spcPct val="35000"/>
            </a:spcAft>
            <a:buNone/>
          </a:pPr>
          <a:r>
            <a:rPr lang="en-US" sz="4800" b="1" kern="1200" dirty="0">
              <a:solidFill>
                <a:schemeClr val="tx1"/>
              </a:solidFill>
            </a:rPr>
            <a:t>Financial Year</a:t>
          </a:r>
        </a:p>
        <a:p>
          <a:pPr marL="0" lvl="0" indent="0" algn="l" defTabSz="2133600">
            <a:lnSpc>
              <a:spcPct val="90000"/>
            </a:lnSpc>
            <a:spcBef>
              <a:spcPct val="0"/>
            </a:spcBef>
            <a:spcAft>
              <a:spcPct val="35000"/>
            </a:spcAft>
            <a:buNone/>
          </a:pPr>
          <a:r>
            <a:rPr lang="en-US" sz="4800" b="1" kern="1200" dirty="0">
              <a:solidFill>
                <a:schemeClr val="tx1"/>
              </a:solidFill>
            </a:rPr>
            <a:t>2024-25</a:t>
          </a:r>
          <a:endParaRPr lang="en-IN" sz="4800" kern="1200" dirty="0">
            <a:solidFill>
              <a:schemeClr val="tx1"/>
            </a:solidFill>
          </a:endParaRPr>
        </a:p>
      </dsp:txBody>
      <dsp:txXfrm>
        <a:off x="3930477" y="0"/>
        <a:ext cx="6680598" cy="2683471"/>
      </dsp:txXfrm>
    </dsp:sp>
    <dsp:sp modelId="{0C39B3D0-E85F-41D5-B1B1-A1C7B006CF94}">
      <dsp:nvSpPr>
        <dsp:cNvPr id="0" name=""/>
        <dsp:cNvSpPr/>
      </dsp:nvSpPr>
      <dsp:spPr>
        <a:xfrm>
          <a:off x="1318565" y="2907093"/>
          <a:ext cx="3577961" cy="2683471"/>
        </a:xfrm>
        <a:prstGeom prst="downArrow">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57E690-69BA-485C-B267-11A9008D7FEE}">
      <dsp:nvSpPr>
        <dsp:cNvPr id="0" name=""/>
        <dsp:cNvSpPr/>
      </dsp:nvSpPr>
      <dsp:spPr>
        <a:xfrm>
          <a:off x="5003865" y="2907093"/>
          <a:ext cx="6680598" cy="26834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1376" tIns="0" rIns="341376" bIns="341376" numCol="1" spcCol="1270" anchor="ctr" anchorCtr="0">
          <a:noAutofit/>
        </a:bodyPr>
        <a:lstStyle/>
        <a:p>
          <a:pPr marL="0" lvl="0" indent="0" algn="l" defTabSz="2133600">
            <a:lnSpc>
              <a:spcPct val="90000"/>
            </a:lnSpc>
            <a:spcBef>
              <a:spcPct val="0"/>
            </a:spcBef>
            <a:spcAft>
              <a:spcPct val="35000"/>
            </a:spcAft>
            <a:buNone/>
          </a:pPr>
          <a:r>
            <a:rPr lang="en-US" sz="4800" b="1" kern="1200" dirty="0">
              <a:solidFill>
                <a:schemeClr val="tx1"/>
              </a:solidFill>
            </a:rPr>
            <a:t>Assessment Year</a:t>
          </a:r>
        </a:p>
        <a:p>
          <a:pPr marL="0" lvl="0" indent="0" algn="l" defTabSz="2133600">
            <a:lnSpc>
              <a:spcPct val="90000"/>
            </a:lnSpc>
            <a:spcBef>
              <a:spcPct val="0"/>
            </a:spcBef>
            <a:spcAft>
              <a:spcPct val="35000"/>
            </a:spcAft>
            <a:buNone/>
          </a:pPr>
          <a:r>
            <a:rPr lang="en-US" sz="4800" b="1" kern="1200" dirty="0">
              <a:solidFill>
                <a:schemeClr val="tx1"/>
              </a:solidFill>
            </a:rPr>
            <a:t>2025-26</a:t>
          </a:r>
          <a:endParaRPr lang="en-IN" sz="4800" kern="1200" dirty="0">
            <a:solidFill>
              <a:schemeClr val="tx1"/>
            </a:solidFill>
          </a:endParaRPr>
        </a:p>
      </dsp:txBody>
      <dsp:txXfrm>
        <a:off x="5003865" y="2907093"/>
        <a:ext cx="6680598" cy="268347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18A287-2E83-42D1-B9C5-FCB5D636D2AE}">
      <dsp:nvSpPr>
        <dsp:cNvPr id="0" name=""/>
        <dsp:cNvSpPr/>
      </dsp:nvSpPr>
      <dsp:spPr>
        <a:xfrm>
          <a:off x="4380324" y="64124"/>
          <a:ext cx="4632826" cy="105044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1" kern="1200" dirty="0">
              <a:solidFill>
                <a:schemeClr val="tx1"/>
              </a:solidFill>
            </a:rPr>
            <a:t>Residential Status</a:t>
          </a:r>
          <a:endParaRPr lang="en-IN" sz="2400" kern="1200" dirty="0">
            <a:solidFill>
              <a:schemeClr val="tx1"/>
            </a:solidFill>
          </a:endParaRPr>
        </a:p>
      </dsp:txBody>
      <dsp:txXfrm>
        <a:off x="4411090" y="94890"/>
        <a:ext cx="4571294" cy="988913"/>
      </dsp:txXfrm>
    </dsp:sp>
    <dsp:sp modelId="{0D130D26-C9B9-44B1-A1F1-05B379066A06}">
      <dsp:nvSpPr>
        <dsp:cNvPr id="0" name=""/>
        <dsp:cNvSpPr/>
      </dsp:nvSpPr>
      <dsp:spPr>
        <a:xfrm>
          <a:off x="3897784" y="1114570"/>
          <a:ext cx="2798953" cy="420178"/>
        </a:xfrm>
        <a:custGeom>
          <a:avLst/>
          <a:gdLst/>
          <a:ahLst/>
          <a:cxnLst/>
          <a:rect l="0" t="0" r="0" b="0"/>
          <a:pathLst>
            <a:path>
              <a:moveTo>
                <a:pt x="2798953" y="0"/>
              </a:moveTo>
              <a:lnTo>
                <a:pt x="2798953" y="210089"/>
              </a:lnTo>
              <a:lnTo>
                <a:pt x="0" y="210089"/>
              </a:lnTo>
              <a:lnTo>
                <a:pt x="0" y="420178"/>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3DA7729-D25C-4A9C-810E-01E0FF0E10F9}">
      <dsp:nvSpPr>
        <dsp:cNvPr id="0" name=""/>
        <dsp:cNvSpPr/>
      </dsp:nvSpPr>
      <dsp:spPr>
        <a:xfrm>
          <a:off x="2756110" y="1534748"/>
          <a:ext cx="2283347" cy="1050445"/>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1" kern="1200" dirty="0">
              <a:solidFill>
                <a:schemeClr val="tx1"/>
              </a:solidFill>
            </a:rPr>
            <a:t>Individual and HUF</a:t>
          </a:r>
          <a:endParaRPr lang="en-IN" sz="2400" kern="1200" dirty="0">
            <a:solidFill>
              <a:schemeClr val="tx1"/>
            </a:solidFill>
          </a:endParaRPr>
        </a:p>
      </dsp:txBody>
      <dsp:txXfrm>
        <a:off x="2786876" y="1565514"/>
        <a:ext cx="2221815" cy="988913"/>
      </dsp:txXfrm>
    </dsp:sp>
    <dsp:sp modelId="{1C901967-64B6-4A13-8775-944A71240344}">
      <dsp:nvSpPr>
        <dsp:cNvPr id="0" name=""/>
        <dsp:cNvSpPr/>
      </dsp:nvSpPr>
      <dsp:spPr>
        <a:xfrm>
          <a:off x="2519760" y="2585193"/>
          <a:ext cx="1378024" cy="420178"/>
        </a:xfrm>
        <a:custGeom>
          <a:avLst/>
          <a:gdLst/>
          <a:ahLst/>
          <a:cxnLst/>
          <a:rect l="0" t="0" r="0" b="0"/>
          <a:pathLst>
            <a:path>
              <a:moveTo>
                <a:pt x="1378024" y="0"/>
              </a:moveTo>
              <a:lnTo>
                <a:pt x="1378024" y="210089"/>
              </a:lnTo>
              <a:lnTo>
                <a:pt x="0" y="210089"/>
              </a:lnTo>
              <a:lnTo>
                <a:pt x="0" y="420178"/>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E0A877C-65A2-48AD-AE3D-2FAFA315355A}">
      <dsp:nvSpPr>
        <dsp:cNvPr id="0" name=""/>
        <dsp:cNvSpPr/>
      </dsp:nvSpPr>
      <dsp:spPr>
        <a:xfrm>
          <a:off x="1378086" y="3005371"/>
          <a:ext cx="2283347" cy="1050445"/>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1" kern="1200">
              <a:solidFill>
                <a:schemeClr val="tx1"/>
              </a:solidFill>
            </a:rPr>
            <a:t>Resident</a:t>
          </a:r>
          <a:endParaRPr lang="en-IN" sz="2400" kern="1200">
            <a:solidFill>
              <a:schemeClr val="tx1"/>
            </a:solidFill>
          </a:endParaRPr>
        </a:p>
      </dsp:txBody>
      <dsp:txXfrm>
        <a:off x="1408852" y="3036137"/>
        <a:ext cx="2221815" cy="988913"/>
      </dsp:txXfrm>
    </dsp:sp>
    <dsp:sp modelId="{9E55D6DF-EB83-4E76-A559-7A1EF3C5D979}">
      <dsp:nvSpPr>
        <dsp:cNvPr id="0" name=""/>
        <dsp:cNvSpPr/>
      </dsp:nvSpPr>
      <dsp:spPr>
        <a:xfrm>
          <a:off x="1141736" y="4055816"/>
          <a:ext cx="1378024" cy="420178"/>
        </a:xfrm>
        <a:custGeom>
          <a:avLst/>
          <a:gdLst/>
          <a:ahLst/>
          <a:cxnLst/>
          <a:rect l="0" t="0" r="0" b="0"/>
          <a:pathLst>
            <a:path>
              <a:moveTo>
                <a:pt x="1378024" y="0"/>
              </a:moveTo>
              <a:lnTo>
                <a:pt x="1378024" y="210089"/>
              </a:lnTo>
              <a:lnTo>
                <a:pt x="0" y="210089"/>
              </a:lnTo>
              <a:lnTo>
                <a:pt x="0" y="42017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F72ED76-7C3A-4067-9160-635C35DE9200}">
      <dsp:nvSpPr>
        <dsp:cNvPr id="0" name=""/>
        <dsp:cNvSpPr/>
      </dsp:nvSpPr>
      <dsp:spPr>
        <a:xfrm>
          <a:off x="62" y="4475994"/>
          <a:ext cx="2283347" cy="105044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kern="1200">
              <a:solidFill>
                <a:schemeClr val="tx1"/>
              </a:solidFill>
            </a:rPr>
            <a:t>Ordinarily Resident (OR)</a:t>
          </a:r>
          <a:endParaRPr lang="en-IN" sz="2400" kern="1200">
            <a:solidFill>
              <a:schemeClr val="tx1"/>
            </a:solidFill>
          </a:endParaRPr>
        </a:p>
      </dsp:txBody>
      <dsp:txXfrm>
        <a:off x="30828" y="4506760"/>
        <a:ext cx="2221815" cy="988913"/>
      </dsp:txXfrm>
    </dsp:sp>
    <dsp:sp modelId="{719C759C-7F28-44AB-A7CB-A2F529EA8B25}">
      <dsp:nvSpPr>
        <dsp:cNvPr id="0" name=""/>
        <dsp:cNvSpPr/>
      </dsp:nvSpPr>
      <dsp:spPr>
        <a:xfrm>
          <a:off x="2519760" y="4055816"/>
          <a:ext cx="1378024" cy="420178"/>
        </a:xfrm>
        <a:custGeom>
          <a:avLst/>
          <a:gdLst/>
          <a:ahLst/>
          <a:cxnLst/>
          <a:rect l="0" t="0" r="0" b="0"/>
          <a:pathLst>
            <a:path>
              <a:moveTo>
                <a:pt x="0" y="0"/>
              </a:moveTo>
              <a:lnTo>
                <a:pt x="0" y="210089"/>
              </a:lnTo>
              <a:lnTo>
                <a:pt x="1378024" y="210089"/>
              </a:lnTo>
              <a:lnTo>
                <a:pt x="1378024" y="42017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5DA781-9EDD-4109-B0CD-FE3EF5B3EFD3}">
      <dsp:nvSpPr>
        <dsp:cNvPr id="0" name=""/>
        <dsp:cNvSpPr/>
      </dsp:nvSpPr>
      <dsp:spPr>
        <a:xfrm>
          <a:off x="2756110" y="4475994"/>
          <a:ext cx="2283347" cy="105044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kern="1200" dirty="0">
              <a:solidFill>
                <a:schemeClr val="tx1"/>
              </a:solidFill>
            </a:rPr>
            <a:t>Resident but not Ordinarily Resident</a:t>
          </a:r>
          <a:endParaRPr lang="en-IN" sz="2400" kern="1200" dirty="0">
            <a:solidFill>
              <a:schemeClr val="tx1"/>
            </a:solidFill>
          </a:endParaRPr>
        </a:p>
      </dsp:txBody>
      <dsp:txXfrm>
        <a:off x="2786876" y="4506760"/>
        <a:ext cx="2221815" cy="988913"/>
      </dsp:txXfrm>
    </dsp:sp>
    <dsp:sp modelId="{A6D9ABDD-5A81-46FB-B2CE-119AF5310082}">
      <dsp:nvSpPr>
        <dsp:cNvPr id="0" name=""/>
        <dsp:cNvSpPr/>
      </dsp:nvSpPr>
      <dsp:spPr>
        <a:xfrm>
          <a:off x="3897784" y="2585193"/>
          <a:ext cx="1378024" cy="420178"/>
        </a:xfrm>
        <a:custGeom>
          <a:avLst/>
          <a:gdLst/>
          <a:ahLst/>
          <a:cxnLst/>
          <a:rect l="0" t="0" r="0" b="0"/>
          <a:pathLst>
            <a:path>
              <a:moveTo>
                <a:pt x="0" y="0"/>
              </a:moveTo>
              <a:lnTo>
                <a:pt x="0" y="210089"/>
              </a:lnTo>
              <a:lnTo>
                <a:pt x="1378024" y="210089"/>
              </a:lnTo>
              <a:lnTo>
                <a:pt x="1378024" y="420178"/>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1DF3746-3AF5-4104-B672-3B07115607AD}">
      <dsp:nvSpPr>
        <dsp:cNvPr id="0" name=""/>
        <dsp:cNvSpPr/>
      </dsp:nvSpPr>
      <dsp:spPr>
        <a:xfrm>
          <a:off x="4134134" y="3005371"/>
          <a:ext cx="2283347" cy="1050445"/>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1" kern="1200">
              <a:solidFill>
                <a:schemeClr val="tx1"/>
              </a:solidFill>
            </a:rPr>
            <a:t>Non –Resident (NRI)</a:t>
          </a:r>
          <a:endParaRPr lang="en-IN" sz="2400" kern="1200">
            <a:solidFill>
              <a:schemeClr val="tx1"/>
            </a:solidFill>
          </a:endParaRPr>
        </a:p>
      </dsp:txBody>
      <dsp:txXfrm>
        <a:off x="4164900" y="3036137"/>
        <a:ext cx="2221815" cy="988913"/>
      </dsp:txXfrm>
    </dsp:sp>
    <dsp:sp modelId="{054C5256-B922-42DA-8014-D3FB09A5CC40}">
      <dsp:nvSpPr>
        <dsp:cNvPr id="0" name=""/>
        <dsp:cNvSpPr/>
      </dsp:nvSpPr>
      <dsp:spPr>
        <a:xfrm>
          <a:off x="6696737" y="1114570"/>
          <a:ext cx="2713142" cy="420178"/>
        </a:xfrm>
        <a:custGeom>
          <a:avLst/>
          <a:gdLst/>
          <a:ahLst/>
          <a:cxnLst/>
          <a:rect l="0" t="0" r="0" b="0"/>
          <a:pathLst>
            <a:path>
              <a:moveTo>
                <a:pt x="0" y="0"/>
              </a:moveTo>
              <a:lnTo>
                <a:pt x="0" y="210089"/>
              </a:lnTo>
              <a:lnTo>
                <a:pt x="2713142" y="210089"/>
              </a:lnTo>
              <a:lnTo>
                <a:pt x="2713142" y="420178"/>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DF4D8D8-FCCE-44A8-8D6E-1BEB51DE6C89}">
      <dsp:nvSpPr>
        <dsp:cNvPr id="0" name=""/>
        <dsp:cNvSpPr/>
      </dsp:nvSpPr>
      <dsp:spPr>
        <a:xfrm>
          <a:off x="8182395" y="1534748"/>
          <a:ext cx="2454969" cy="1050445"/>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1" kern="1200" dirty="0">
              <a:solidFill>
                <a:schemeClr val="tx1"/>
              </a:solidFill>
            </a:rPr>
            <a:t>Other than individual and HUF</a:t>
          </a:r>
          <a:endParaRPr lang="en-IN" sz="2400" kern="1200" dirty="0">
            <a:solidFill>
              <a:schemeClr val="tx1"/>
            </a:solidFill>
          </a:endParaRPr>
        </a:p>
      </dsp:txBody>
      <dsp:txXfrm>
        <a:off x="8213161" y="1565514"/>
        <a:ext cx="2393437" cy="988913"/>
      </dsp:txXfrm>
    </dsp:sp>
    <dsp:sp modelId="{ADD8EFF3-8289-4923-AA8D-4F8F9EA3A82C}">
      <dsp:nvSpPr>
        <dsp:cNvPr id="0" name=""/>
        <dsp:cNvSpPr/>
      </dsp:nvSpPr>
      <dsp:spPr>
        <a:xfrm>
          <a:off x="8031856" y="2585193"/>
          <a:ext cx="1378024" cy="420178"/>
        </a:xfrm>
        <a:custGeom>
          <a:avLst/>
          <a:gdLst/>
          <a:ahLst/>
          <a:cxnLst/>
          <a:rect l="0" t="0" r="0" b="0"/>
          <a:pathLst>
            <a:path>
              <a:moveTo>
                <a:pt x="1378024" y="0"/>
              </a:moveTo>
              <a:lnTo>
                <a:pt x="1378024" y="210089"/>
              </a:lnTo>
              <a:lnTo>
                <a:pt x="0" y="210089"/>
              </a:lnTo>
              <a:lnTo>
                <a:pt x="0" y="420178"/>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BA2ED6F-083B-4557-BE6F-5179B0A00F11}">
      <dsp:nvSpPr>
        <dsp:cNvPr id="0" name=""/>
        <dsp:cNvSpPr/>
      </dsp:nvSpPr>
      <dsp:spPr>
        <a:xfrm>
          <a:off x="6890182" y="3005371"/>
          <a:ext cx="2283347" cy="1050445"/>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IN" sz="2400" b="1" kern="1200" dirty="0">
              <a:solidFill>
                <a:schemeClr val="tx1"/>
              </a:solidFill>
            </a:rPr>
            <a:t>Resident (OR)</a:t>
          </a:r>
          <a:endParaRPr lang="en-IN" sz="2400" kern="1200" dirty="0">
            <a:solidFill>
              <a:schemeClr val="tx1"/>
            </a:solidFill>
          </a:endParaRPr>
        </a:p>
      </dsp:txBody>
      <dsp:txXfrm>
        <a:off x="6920948" y="3036137"/>
        <a:ext cx="2221815" cy="988913"/>
      </dsp:txXfrm>
    </dsp:sp>
    <dsp:sp modelId="{91F0E686-CB02-47C3-B132-64356D2CE30F}">
      <dsp:nvSpPr>
        <dsp:cNvPr id="0" name=""/>
        <dsp:cNvSpPr/>
      </dsp:nvSpPr>
      <dsp:spPr>
        <a:xfrm>
          <a:off x="9409880" y="2585193"/>
          <a:ext cx="1378024" cy="420178"/>
        </a:xfrm>
        <a:custGeom>
          <a:avLst/>
          <a:gdLst/>
          <a:ahLst/>
          <a:cxnLst/>
          <a:rect l="0" t="0" r="0" b="0"/>
          <a:pathLst>
            <a:path>
              <a:moveTo>
                <a:pt x="0" y="0"/>
              </a:moveTo>
              <a:lnTo>
                <a:pt x="0" y="210089"/>
              </a:lnTo>
              <a:lnTo>
                <a:pt x="1378024" y="210089"/>
              </a:lnTo>
              <a:lnTo>
                <a:pt x="1378024" y="420178"/>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C774FB7-832E-4D8C-8F29-1A2B3836EB18}">
      <dsp:nvSpPr>
        <dsp:cNvPr id="0" name=""/>
        <dsp:cNvSpPr/>
      </dsp:nvSpPr>
      <dsp:spPr>
        <a:xfrm>
          <a:off x="9646230" y="3005371"/>
          <a:ext cx="2283347" cy="1050445"/>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IN" sz="2400" b="1" kern="1200" dirty="0">
              <a:solidFill>
                <a:schemeClr val="tx1"/>
              </a:solidFill>
            </a:rPr>
            <a:t>Non Resident </a:t>
          </a:r>
          <a:endParaRPr lang="en-IN" sz="2400" kern="1200" dirty="0">
            <a:solidFill>
              <a:schemeClr val="tx1"/>
            </a:solidFill>
          </a:endParaRPr>
        </a:p>
      </dsp:txBody>
      <dsp:txXfrm>
        <a:off x="9676996" y="3036137"/>
        <a:ext cx="2221815" cy="98891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0D2DE3-AB66-4449-B037-0B52484D3464}">
      <dsp:nvSpPr>
        <dsp:cNvPr id="0" name=""/>
        <dsp:cNvSpPr/>
      </dsp:nvSpPr>
      <dsp:spPr>
        <a:xfrm>
          <a:off x="4862435" y="0"/>
          <a:ext cx="2204770" cy="14698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kern="1200" dirty="0"/>
            <a:t>Two different conditions need to be checked </a:t>
          </a:r>
        </a:p>
      </dsp:txBody>
      <dsp:txXfrm>
        <a:off x="4905485" y="43050"/>
        <a:ext cx="2118670" cy="1383746"/>
      </dsp:txXfrm>
    </dsp:sp>
    <dsp:sp modelId="{47DF7EC6-876B-42CF-8336-8F4A72AF203F}">
      <dsp:nvSpPr>
        <dsp:cNvPr id="0" name=""/>
        <dsp:cNvSpPr/>
      </dsp:nvSpPr>
      <dsp:spPr>
        <a:xfrm>
          <a:off x="3098619" y="1469846"/>
          <a:ext cx="2866201" cy="587938"/>
        </a:xfrm>
        <a:custGeom>
          <a:avLst/>
          <a:gdLst/>
          <a:ahLst/>
          <a:cxnLst/>
          <a:rect l="0" t="0" r="0" b="0"/>
          <a:pathLst>
            <a:path>
              <a:moveTo>
                <a:pt x="2866201" y="0"/>
              </a:moveTo>
              <a:lnTo>
                <a:pt x="2866201" y="293969"/>
              </a:lnTo>
              <a:lnTo>
                <a:pt x="0" y="293969"/>
              </a:lnTo>
              <a:lnTo>
                <a:pt x="0" y="587938"/>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14A8BE0-D20D-4A0C-A1B8-4030C6E56735}">
      <dsp:nvSpPr>
        <dsp:cNvPr id="0" name=""/>
        <dsp:cNvSpPr/>
      </dsp:nvSpPr>
      <dsp:spPr>
        <a:xfrm>
          <a:off x="1996234" y="2057785"/>
          <a:ext cx="2204770" cy="1469846"/>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b="1" kern="1200" dirty="0"/>
            <a:t>Basic Condition</a:t>
          </a:r>
          <a:r>
            <a:rPr lang="en-IN" sz="2400" b="0" kern="1200" dirty="0"/>
            <a:t>: </a:t>
          </a:r>
        </a:p>
        <a:p>
          <a:pPr marL="0" lvl="0" indent="0" algn="ctr" defTabSz="1066800">
            <a:lnSpc>
              <a:spcPct val="90000"/>
            </a:lnSpc>
            <a:spcBef>
              <a:spcPct val="0"/>
            </a:spcBef>
            <a:spcAft>
              <a:spcPct val="35000"/>
            </a:spcAft>
            <a:buNone/>
          </a:pPr>
          <a:r>
            <a:rPr lang="en-IN" sz="2400" kern="1200" dirty="0"/>
            <a:t>to determine if the individual is  </a:t>
          </a:r>
        </a:p>
      </dsp:txBody>
      <dsp:txXfrm>
        <a:off x="2039284" y="2100835"/>
        <a:ext cx="2118670" cy="1383746"/>
      </dsp:txXfrm>
    </dsp:sp>
    <dsp:sp modelId="{C16F07EE-650B-4B2B-B258-D106F791BFFA}">
      <dsp:nvSpPr>
        <dsp:cNvPr id="0" name=""/>
        <dsp:cNvSpPr/>
      </dsp:nvSpPr>
      <dsp:spPr>
        <a:xfrm>
          <a:off x="1665518" y="3527632"/>
          <a:ext cx="1433100" cy="587938"/>
        </a:xfrm>
        <a:custGeom>
          <a:avLst/>
          <a:gdLst/>
          <a:ahLst/>
          <a:cxnLst/>
          <a:rect l="0" t="0" r="0" b="0"/>
          <a:pathLst>
            <a:path>
              <a:moveTo>
                <a:pt x="1433100" y="0"/>
              </a:moveTo>
              <a:lnTo>
                <a:pt x="1433100" y="293969"/>
              </a:lnTo>
              <a:lnTo>
                <a:pt x="0" y="293969"/>
              </a:lnTo>
              <a:lnTo>
                <a:pt x="0" y="58793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CC949C9-AF4D-49E6-AC3E-50D93A05AAF3}">
      <dsp:nvSpPr>
        <dsp:cNvPr id="0" name=""/>
        <dsp:cNvSpPr/>
      </dsp:nvSpPr>
      <dsp:spPr>
        <a:xfrm>
          <a:off x="563133" y="4115570"/>
          <a:ext cx="2204770" cy="1469846"/>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kern="1200" dirty="0"/>
            <a:t>Resident of India </a:t>
          </a:r>
        </a:p>
      </dsp:txBody>
      <dsp:txXfrm>
        <a:off x="606183" y="4158620"/>
        <a:ext cx="2118670" cy="1383746"/>
      </dsp:txXfrm>
    </dsp:sp>
    <dsp:sp modelId="{A9DBD3E8-2207-4B57-BC9C-E309666AABA2}">
      <dsp:nvSpPr>
        <dsp:cNvPr id="0" name=""/>
        <dsp:cNvSpPr/>
      </dsp:nvSpPr>
      <dsp:spPr>
        <a:xfrm>
          <a:off x="3098619" y="3527632"/>
          <a:ext cx="1433100" cy="587938"/>
        </a:xfrm>
        <a:custGeom>
          <a:avLst/>
          <a:gdLst/>
          <a:ahLst/>
          <a:cxnLst/>
          <a:rect l="0" t="0" r="0" b="0"/>
          <a:pathLst>
            <a:path>
              <a:moveTo>
                <a:pt x="0" y="0"/>
              </a:moveTo>
              <a:lnTo>
                <a:pt x="0" y="293969"/>
              </a:lnTo>
              <a:lnTo>
                <a:pt x="1433100" y="293969"/>
              </a:lnTo>
              <a:lnTo>
                <a:pt x="1433100" y="58793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2450B96-5570-4479-A12D-A3A8A04E06AA}">
      <dsp:nvSpPr>
        <dsp:cNvPr id="0" name=""/>
        <dsp:cNvSpPr/>
      </dsp:nvSpPr>
      <dsp:spPr>
        <a:xfrm>
          <a:off x="3429334" y="4115570"/>
          <a:ext cx="2204770" cy="1469846"/>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kern="1200" dirty="0"/>
            <a:t>Non Resident of India</a:t>
          </a:r>
        </a:p>
      </dsp:txBody>
      <dsp:txXfrm>
        <a:off x="3472384" y="4158620"/>
        <a:ext cx="2118670" cy="1383746"/>
      </dsp:txXfrm>
    </dsp:sp>
    <dsp:sp modelId="{0278DCAA-81FA-4C66-BD99-85A9A04C9C90}">
      <dsp:nvSpPr>
        <dsp:cNvPr id="0" name=""/>
        <dsp:cNvSpPr/>
      </dsp:nvSpPr>
      <dsp:spPr>
        <a:xfrm>
          <a:off x="5964820" y="1469846"/>
          <a:ext cx="2866201" cy="587938"/>
        </a:xfrm>
        <a:custGeom>
          <a:avLst/>
          <a:gdLst/>
          <a:ahLst/>
          <a:cxnLst/>
          <a:rect l="0" t="0" r="0" b="0"/>
          <a:pathLst>
            <a:path>
              <a:moveTo>
                <a:pt x="0" y="0"/>
              </a:moveTo>
              <a:lnTo>
                <a:pt x="0" y="293969"/>
              </a:lnTo>
              <a:lnTo>
                <a:pt x="2866201" y="293969"/>
              </a:lnTo>
              <a:lnTo>
                <a:pt x="2866201" y="587938"/>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36D722C-AAC9-4960-BC31-7BBE5F16A345}">
      <dsp:nvSpPr>
        <dsp:cNvPr id="0" name=""/>
        <dsp:cNvSpPr/>
      </dsp:nvSpPr>
      <dsp:spPr>
        <a:xfrm>
          <a:off x="7728636" y="2057785"/>
          <a:ext cx="2204770" cy="1469846"/>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b="1" kern="1200" dirty="0"/>
            <a:t>Additional Conditions</a:t>
          </a:r>
          <a:r>
            <a:rPr lang="en-IN" sz="2400" kern="1200" dirty="0"/>
            <a:t>:</a:t>
          </a:r>
        </a:p>
        <a:p>
          <a:pPr marL="0" lvl="0" indent="0" algn="ctr" defTabSz="1066800">
            <a:lnSpc>
              <a:spcPct val="90000"/>
            </a:lnSpc>
            <a:spcBef>
              <a:spcPct val="0"/>
            </a:spcBef>
            <a:spcAft>
              <a:spcPct val="35000"/>
            </a:spcAft>
            <a:buNone/>
          </a:pPr>
          <a:r>
            <a:rPr lang="en-IN" sz="2400" kern="1200" dirty="0"/>
            <a:t>to determine if the individual is  </a:t>
          </a:r>
        </a:p>
      </dsp:txBody>
      <dsp:txXfrm>
        <a:off x="7771686" y="2100835"/>
        <a:ext cx="2118670" cy="1383746"/>
      </dsp:txXfrm>
    </dsp:sp>
    <dsp:sp modelId="{2BF3CE7D-9D00-4E96-87B9-0215A021C7A2}">
      <dsp:nvSpPr>
        <dsp:cNvPr id="0" name=""/>
        <dsp:cNvSpPr/>
      </dsp:nvSpPr>
      <dsp:spPr>
        <a:xfrm>
          <a:off x="7397921" y="3527632"/>
          <a:ext cx="1433100" cy="587938"/>
        </a:xfrm>
        <a:custGeom>
          <a:avLst/>
          <a:gdLst/>
          <a:ahLst/>
          <a:cxnLst/>
          <a:rect l="0" t="0" r="0" b="0"/>
          <a:pathLst>
            <a:path>
              <a:moveTo>
                <a:pt x="1433100" y="0"/>
              </a:moveTo>
              <a:lnTo>
                <a:pt x="1433100" y="293969"/>
              </a:lnTo>
              <a:lnTo>
                <a:pt x="0" y="293969"/>
              </a:lnTo>
              <a:lnTo>
                <a:pt x="0" y="58793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355E9DF-BF42-47F8-B1F7-D2F6C7C073ED}">
      <dsp:nvSpPr>
        <dsp:cNvPr id="0" name=""/>
        <dsp:cNvSpPr/>
      </dsp:nvSpPr>
      <dsp:spPr>
        <a:xfrm>
          <a:off x="6295536" y="4115570"/>
          <a:ext cx="2204770" cy="1469846"/>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kern="1200"/>
            <a:t>Resident and Ordinary Resident </a:t>
          </a:r>
          <a:r>
            <a:rPr lang="en-IN" sz="2400" b="0" kern="1200"/>
            <a:t>(ROR)</a:t>
          </a:r>
          <a:endParaRPr lang="en-IN" sz="2400" b="0" kern="1200" dirty="0"/>
        </a:p>
      </dsp:txBody>
      <dsp:txXfrm>
        <a:off x="6338586" y="4158620"/>
        <a:ext cx="2118670" cy="1383746"/>
      </dsp:txXfrm>
    </dsp:sp>
    <dsp:sp modelId="{62AC6E0A-40E1-4CCF-8D4C-EFF0FC59CC1C}">
      <dsp:nvSpPr>
        <dsp:cNvPr id="0" name=""/>
        <dsp:cNvSpPr/>
      </dsp:nvSpPr>
      <dsp:spPr>
        <a:xfrm>
          <a:off x="8831021" y="3527632"/>
          <a:ext cx="1433100" cy="587938"/>
        </a:xfrm>
        <a:custGeom>
          <a:avLst/>
          <a:gdLst/>
          <a:ahLst/>
          <a:cxnLst/>
          <a:rect l="0" t="0" r="0" b="0"/>
          <a:pathLst>
            <a:path>
              <a:moveTo>
                <a:pt x="0" y="0"/>
              </a:moveTo>
              <a:lnTo>
                <a:pt x="0" y="293969"/>
              </a:lnTo>
              <a:lnTo>
                <a:pt x="1433100" y="293969"/>
              </a:lnTo>
              <a:lnTo>
                <a:pt x="1433100" y="58793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C529527-9F96-4627-B4CF-8084C3890873}">
      <dsp:nvSpPr>
        <dsp:cNvPr id="0" name=""/>
        <dsp:cNvSpPr/>
      </dsp:nvSpPr>
      <dsp:spPr>
        <a:xfrm>
          <a:off x="9161737" y="4115570"/>
          <a:ext cx="2204770" cy="1469846"/>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kern="1200" dirty="0"/>
            <a:t>Resident but not Ordinary Resident (RNOR)</a:t>
          </a:r>
        </a:p>
      </dsp:txBody>
      <dsp:txXfrm>
        <a:off x="9204787" y="4158620"/>
        <a:ext cx="2118670" cy="138374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65B91C-291C-4C4B-BB2C-3950E72F8DFC}">
      <dsp:nvSpPr>
        <dsp:cNvPr id="0" name=""/>
        <dsp:cNvSpPr/>
      </dsp:nvSpPr>
      <dsp:spPr>
        <a:xfrm>
          <a:off x="7732879" y="2943274"/>
          <a:ext cx="702557" cy="755249"/>
        </a:xfrm>
        <a:custGeom>
          <a:avLst/>
          <a:gdLst/>
          <a:ahLst/>
          <a:cxnLst/>
          <a:rect l="0" t="0" r="0" b="0"/>
          <a:pathLst>
            <a:path>
              <a:moveTo>
                <a:pt x="0" y="0"/>
              </a:moveTo>
              <a:lnTo>
                <a:pt x="351278" y="0"/>
              </a:lnTo>
              <a:lnTo>
                <a:pt x="351278" y="755249"/>
              </a:lnTo>
              <a:lnTo>
                <a:pt x="702557" y="755249"/>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13D692C-87B4-40C1-AA31-20B780250021}">
      <dsp:nvSpPr>
        <dsp:cNvPr id="0" name=""/>
        <dsp:cNvSpPr/>
      </dsp:nvSpPr>
      <dsp:spPr>
        <a:xfrm>
          <a:off x="7732879" y="2188024"/>
          <a:ext cx="702557" cy="755249"/>
        </a:xfrm>
        <a:custGeom>
          <a:avLst/>
          <a:gdLst/>
          <a:ahLst/>
          <a:cxnLst/>
          <a:rect l="0" t="0" r="0" b="0"/>
          <a:pathLst>
            <a:path>
              <a:moveTo>
                <a:pt x="0" y="755249"/>
              </a:moveTo>
              <a:lnTo>
                <a:pt x="351278" y="755249"/>
              </a:lnTo>
              <a:lnTo>
                <a:pt x="351278" y="0"/>
              </a:lnTo>
              <a:lnTo>
                <a:pt x="702557" y="0"/>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37487B3-AF42-46A4-88F1-6C874F2CD8BD}">
      <dsp:nvSpPr>
        <dsp:cNvPr id="0" name=""/>
        <dsp:cNvSpPr/>
      </dsp:nvSpPr>
      <dsp:spPr>
        <a:xfrm>
          <a:off x="3517531" y="2897554"/>
          <a:ext cx="702557" cy="91440"/>
        </a:xfrm>
        <a:custGeom>
          <a:avLst/>
          <a:gdLst/>
          <a:ahLst/>
          <a:cxnLst/>
          <a:rect l="0" t="0" r="0" b="0"/>
          <a:pathLst>
            <a:path>
              <a:moveTo>
                <a:pt x="0" y="45720"/>
              </a:moveTo>
              <a:lnTo>
                <a:pt x="702557" y="45720"/>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65AB761-1AFE-4591-9F95-10E8615186C9}">
      <dsp:nvSpPr>
        <dsp:cNvPr id="0" name=""/>
        <dsp:cNvSpPr/>
      </dsp:nvSpPr>
      <dsp:spPr>
        <a:xfrm>
          <a:off x="4742" y="2407573"/>
          <a:ext cx="3512789" cy="1071400"/>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b="1" kern="1200" dirty="0"/>
            <a:t>Residential Status</a:t>
          </a:r>
          <a:endParaRPr lang="en-IN" sz="3200" b="1" kern="1200" dirty="0"/>
        </a:p>
      </dsp:txBody>
      <dsp:txXfrm>
        <a:off x="4742" y="2407573"/>
        <a:ext cx="3512789" cy="1071400"/>
      </dsp:txXfrm>
    </dsp:sp>
    <dsp:sp modelId="{C10AB882-B05A-4140-8CD1-17D3FABF0B02}">
      <dsp:nvSpPr>
        <dsp:cNvPr id="0" name=""/>
        <dsp:cNvSpPr/>
      </dsp:nvSpPr>
      <dsp:spPr>
        <a:xfrm>
          <a:off x="4220089" y="2407573"/>
          <a:ext cx="3512789" cy="1071400"/>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1" kern="1200" dirty="0"/>
            <a:t>Basic Conditions</a:t>
          </a:r>
          <a:endParaRPr lang="en-IN" sz="2800" b="1" kern="1200" dirty="0"/>
        </a:p>
      </dsp:txBody>
      <dsp:txXfrm>
        <a:off x="4220089" y="2407573"/>
        <a:ext cx="3512789" cy="1071400"/>
      </dsp:txXfrm>
    </dsp:sp>
    <dsp:sp modelId="{A02ECE55-574D-430D-A5BA-BD21697D8081}">
      <dsp:nvSpPr>
        <dsp:cNvPr id="0" name=""/>
        <dsp:cNvSpPr/>
      </dsp:nvSpPr>
      <dsp:spPr>
        <a:xfrm>
          <a:off x="8435437" y="1652323"/>
          <a:ext cx="3512789" cy="1071400"/>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0" kern="1200" dirty="0"/>
            <a:t>182 days or more during PY </a:t>
          </a:r>
          <a:endParaRPr lang="en-IN" sz="2400" b="0" kern="1200" dirty="0"/>
        </a:p>
      </dsp:txBody>
      <dsp:txXfrm>
        <a:off x="8435437" y="1652323"/>
        <a:ext cx="3512789" cy="1071400"/>
      </dsp:txXfrm>
    </dsp:sp>
    <dsp:sp modelId="{1CBB3AEC-9295-4725-ACEE-D6412592DCF6}">
      <dsp:nvSpPr>
        <dsp:cNvPr id="0" name=""/>
        <dsp:cNvSpPr/>
      </dsp:nvSpPr>
      <dsp:spPr>
        <a:xfrm>
          <a:off x="8435437" y="3162823"/>
          <a:ext cx="3512789" cy="1071400"/>
        </a:xfrm>
        <a:prstGeom prst="rect">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100000"/>
            </a:lnSpc>
            <a:spcBef>
              <a:spcPct val="0"/>
            </a:spcBef>
            <a:spcAft>
              <a:spcPts val="0"/>
            </a:spcAft>
            <a:buNone/>
          </a:pPr>
          <a:r>
            <a:rPr lang="en-US" sz="2400" b="0" kern="1200" dirty="0"/>
            <a:t>60 Days or more in PY </a:t>
          </a:r>
          <a:r>
            <a:rPr lang="en-US" sz="2400" b="1" kern="1200" dirty="0"/>
            <a:t>&amp;</a:t>
          </a:r>
          <a:r>
            <a:rPr lang="en-US" sz="2400" b="0" kern="1200" dirty="0"/>
            <a:t> 365 days or more in 4 Years (Preceding PY)</a:t>
          </a:r>
          <a:endParaRPr lang="en-IN" sz="2400" b="0" kern="1200" dirty="0"/>
        </a:p>
      </dsp:txBody>
      <dsp:txXfrm>
        <a:off x="8435437" y="3162823"/>
        <a:ext cx="3512789" cy="10714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5728E8-5ACF-46DC-B714-0C84E8832275}">
      <dsp:nvSpPr>
        <dsp:cNvPr id="0" name=""/>
        <dsp:cNvSpPr/>
      </dsp:nvSpPr>
      <dsp:spPr>
        <a:xfrm>
          <a:off x="0" y="1801239"/>
          <a:ext cx="2555318" cy="1277659"/>
        </a:xfrm>
        <a:prstGeom prst="roundRect">
          <a:avLst>
            <a:gd name="adj" fmla="val 10000"/>
          </a:avLst>
        </a:prstGeom>
        <a:solidFill>
          <a:schemeClr val="tx2">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tx1"/>
              </a:solidFill>
            </a:rPr>
            <a:t>Extent of Tax Liability</a:t>
          </a:r>
          <a:endParaRPr lang="en-IN" sz="2400" b="1" kern="1200" dirty="0">
            <a:solidFill>
              <a:schemeClr val="tx1"/>
            </a:solidFill>
          </a:endParaRPr>
        </a:p>
      </dsp:txBody>
      <dsp:txXfrm>
        <a:off x="37421" y="1838660"/>
        <a:ext cx="2480476" cy="1202817"/>
      </dsp:txXfrm>
    </dsp:sp>
    <dsp:sp modelId="{634E2A9D-F993-4F51-A5DB-39237D0E3251}">
      <dsp:nvSpPr>
        <dsp:cNvPr id="0" name=""/>
        <dsp:cNvSpPr/>
      </dsp:nvSpPr>
      <dsp:spPr>
        <a:xfrm rot="17864967">
          <a:off x="2013951" y="1519338"/>
          <a:ext cx="2026097" cy="48380"/>
        </a:xfrm>
        <a:custGeom>
          <a:avLst/>
          <a:gdLst/>
          <a:ahLst/>
          <a:cxnLst/>
          <a:rect l="0" t="0" r="0" b="0"/>
          <a:pathLst>
            <a:path>
              <a:moveTo>
                <a:pt x="0" y="24190"/>
              </a:moveTo>
              <a:lnTo>
                <a:pt x="2026097" y="24190"/>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IN" sz="700" kern="1200">
            <a:solidFill>
              <a:schemeClr val="tx1"/>
            </a:solidFill>
          </a:endParaRPr>
        </a:p>
      </dsp:txBody>
      <dsp:txXfrm>
        <a:off x="2976348" y="1492876"/>
        <a:ext cx="101304" cy="101304"/>
      </dsp:txXfrm>
    </dsp:sp>
    <dsp:sp modelId="{AE6206BF-878C-43E8-A09B-66E0ECC78DCD}">
      <dsp:nvSpPr>
        <dsp:cNvPr id="0" name=""/>
        <dsp:cNvSpPr/>
      </dsp:nvSpPr>
      <dsp:spPr>
        <a:xfrm>
          <a:off x="3498682" y="8158"/>
          <a:ext cx="2555318" cy="1277659"/>
        </a:xfrm>
        <a:prstGeom prst="roundRect">
          <a:avLst>
            <a:gd name="adj" fmla="val 10000"/>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Resident and Ordinary Resident (ROR)</a:t>
          </a:r>
          <a:endParaRPr lang="en-IN" sz="2400" kern="1200" dirty="0">
            <a:solidFill>
              <a:schemeClr val="tx1"/>
            </a:solidFill>
          </a:endParaRPr>
        </a:p>
      </dsp:txBody>
      <dsp:txXfrm>
        <a:off x="3536103" y="45579"/>
        <a:ext cx="2480476" cy="1202817"/>
      </dsp:txXfrm>
    </dsp:sp>
    <dsp:sp modelId="{C7854E2E-8170-4ED3-9E71-D3518952FDD0}">
      <dsp:nvSpPr>
        <dsp:cNvPr id="0" name=""/>
        <dsp:cNvSpPr/>
      </dsp:nvSpPr>
      <dsp:spPr>
        <a:xfrm>
          <a:off x="6054001" y="622798"/>
          <a:ext cx="822736" cy="48380"/>
        </a:xfrm>
        <a:custGeom>
          <a:avLst/>
          <a:gdLst/>
          <a:ahLst/>
          <a:cxnLst/>
          <a:rect l="0" t="0" r="0" b="0"/>
          <a:pathLst>
            <a:path>
              <a:moveTo>
                <a:pt x="0" y="24190"/>
              </a:moveTo>
              <a:lnTo>
                <a:pt x="822736" y="2419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solidFill>
              <a:schemeClr val="tx1"/>
            </a:solidFill>
          </a:endParaRPr>
        </a:p>
      </dsp:txBody>
      <dsp:txXfrm>
        <a:off x="6444800" y="626420"/>
        <a:ext cx="41136" cy="41136"/>
      </dsp:txXfrm>
    </dsp:sp>
    <dsp:sp modelId="{A392F6A9-3C51-4479-AC56-813C01C91E9F}">
      <dsp:nvSpPr>
        <dsp:cNvPr id="0" name=""/>
        <dsp:cNvSpPr/>
      </dsp:nvSpPr>
      <dsp:spPr>
        <a:xfrm>
          <a:off x="6876737" y="8158"/>
          <a:ext cx="3963759" cy="1277659"/>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tx1"/>
              </a:solidFill>
            </a:rPr>
            <a:t>All kinds of income</a:t>
          </a:r>
          <a:r>
            <a:rPr lang="en-US" sz="2400" kern="1200" dirty="0">
              <a:solidFill>
                <a:schemeClr val="tx1"/>
              </a:solidFill>
            </a:rPr>
            <a:t> whether received/accrued in India or not shall be taxed in India</a:t>
          </a:r>
          <a:endParaRPr lang="en-IN" sz="2400" kern="1200" dirty="0">
            <a:solidFill>
              <a:schemeClr val="tx1"/>
            </a:solidFill>
          </a:endParaRPr>
        </a:p>
      </dsp:txBody>
      <dsp:txXfrm>
        <a:off x="6914158" y="45579"/>
        <a:ext cx="3888917" cy="1202817"/>
      </dsp:txXfrm>
    </dsp:sp>
    <dsp:sp modelId="{BE9ADFA0-D73B-4CFA-96A3-2C52AC9882BA}">
      <dsp:nvSpPr>
        <dsp:cNvPr id="0" name=""/>
        <dsp:cNvSpPr/>
      </dsp:nvSpPr>
      <dsp:spPr>
        <a:xfrm rot="21377152">
          <a:off x="2554326" y="2385259"/>
          <a:ext cx="945348" cy="48380"/>
        </a:xfrm>
        <a:custGeom>
          <a:avLst/>
          <a:gdLst/>
          <a:ahLst/>
          <a:cxnLst/>
          <a:rect l="0" t="0" r="0" b="0"/>
          <a:pathLst>
            <a:path>
              <a:moveTo>
                <a:pt x="0" y="24190"/>
              </a:moveTo>
              <a:lnTo>
                <a:pt x="945348" y="24190"/>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solidFill>
              <a:schemeClr val="tx1"/>
            </a:solidFill>
          </a:endParaRPr>
        </a:p>
      </dsp:txBody>
      <dsp:txXfrm>
        <a:off x="3003366" y="2385815"/>
        <a:ext cx="47267" cy="47267"/>
      </dsp:txXfrm>
    </dsp:sp>
    <dsp:sp modelId="{90155E1D-BA1F-4213-8EFB-27F2DAEBD074}">
      <dsp:nvSpPr>
        <dsp:cNvPr id="0" name=""/>
        <dsp:cNvSpPr/>
      </dsp:nvSpPr>
      <dsp:spPr>
        <a:xfrm>
          <a:off x="3498682" y="1740000"/>
          <a:ext cx="2555318" cy="1277659"/>
        </a:xfrm>
        <a:prstGeom prst="roundRect">
          <a:avLst>
            <a:gd name="adj" fmla="val 10000"/>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Resident but Not Ordinary Resident (RNOR)</a:t>
          </a:r>
          <a:endParaRPr lang="en-IN" sz="2400" kern="1200" dirty="0">
            <a:solidFill>
              <a:schemeClr val="tx1"/>
            </a:solidFill>
          </a:endParaRPr>
        </a:p>
      </dsp:txBody>
      <dsp:txXfrm>
        <a:off x="3536103" y="1777421"/>
        <a:ext cx="2480476" cy="1202817"/>
      </dsp:txXfrm>
    </dsp:sp>
    <dsp:sp modelId="{61684DB0-B6D1-4DCA-AD18-3ABF628F0EF3}">
      <dsp:nvSpPr>
        <dsp:cNvPr id="0" name=""/>
        <dsp:cNvSpPr/>
      </dsp:nvSpPr>
      <dsp:spPr>
        <a:xfrm>
          <a:off x="6054001" y="2354640"/>
          <a:ext cx="822736" cy="48380"/>
        </a:xfrm>
        <a:custGeom>
          <a:avLst/>
          <a:gdLst/>
          <a:ahLst/>
          <a:cxnLst/>
          <a:rect l="0" t="0" r="0" b="0"/>
          <a:pathLst>
            <a:path>
              <a:moveTo>
                <a:pt x="0" y="24190"/>
              </a:moveTo>
              <a:lnTo>
                <a:pt x="822736" y="2419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solidFill>
              <a:schemeClr val="tx1"/>
            </a:solidFill>
          </a:endParaRPr>
        </a:p>
      </dsp:txBody>
      <dsp:txXfrm>
        <a:off x="6444800" y="2358262"/>
        <a:ext cx="41136" cy="41136"/>
      </dsp:txXfrm>
    </dsp:sp>
    <dsp:sp modelId="{1B5217A1-8D62-4042-87A2-EAEB7BA6CFC9}">
      <dsp:nvSpPr>
        <dsp:cNvPr id="0" name=""/>
        <dsp:cNvSpPr/>
      </dsp:nvSpPr>
      <dsp:spPr>
        <a:xfrm>
          <a:off x="6876737" y="1477467"/>
          <a:ext cx="3937005" cy="1802726"/>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Only income derived from a </a:t>
          </a:r>
          <a:r>
            <a:rPr lang="en-US" sz="2400" b="1" kern="1200" dirty="0">
              <a:solidFill>
                <a:schemeClr val="tx1"/>
              </a:solidFill>
            </a:rPr>
            <a:t>business controlled in or a profession set up in India</a:t>
          </a:r>
          <a:r>
            <a:rPr lang="en-US" sz="2400" kern="1200" dirty="0">
              <a:solidFill>
                <a:schemeClr val="tx1"/>
              </a:solidFill>
            </a:rPr>
            <a:t> will be included in Total Income</a:t>
          </a:r>
          <a:endParaRPr lang="en-IN" sz="2400" kern="1200" dirty="0">
            <a:solidFill>
              <a:schemeClr val="tx1"/>
            </a:solidFill>
          </a:endParaRPr>
        </a:p>
      </dsp:txBody>
      <dsp:txXfrm>
        <a:off x="6929537" y="1530267"/>
        <a:ext cx="3831405" cy="1697126"/>
      </dsp:txXfrm>
    </dsp:sp>
    <dsp:sp modelId="{57658BDC-54CE-4F87-B710-E9C2521A6A3B}">
      <dsp:nvSpPr>
        <dsp:cNvPr id="0" name=""/>
        <dsp:cNvSpPr/>
      </dsp:nvSpPr>
      <dsp:spPr>
        <a:xfrm rot="3632836">
          <a:off x="2067723" y="3251180"/>
          <a:ext cx="1918554" cy="48380"/>
        </a:xfrm>
        <a:custGeom>
          <a:avLst/>
          <a:gdLst/>
          <a:ahLst/>
          <a:cxnLst/>
          <a:rect l="0" t="0" r="0" b="0"/>
          <a:pathLst>
            <a:path>
              <a:moveTo>
                <a:pt x="0" y="24190"/>
              </a:moveTo>
              <a:lnTo>
                <a:pt x="1918554" y="24190"/>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IN" sz="600" kern="1200">
            <a:solidFill>
              <a:schemeClr val="tx1"/>
            </a:solidFill>
          </a:endParaRPr>
        </a:p>
      </dsp:txBody>
      <dsp:txXfrm>
        <a:off x="2979036" y="3227406"/>
        <a:ext cx="95927" cy="95927"/>
      </dsp:txXfrm>
    </dsp:sp>
    <dsp:sp modelId="{02F4BF10-8DA6-4493-93B2-B809BC82B59C}">
      <dsp:nvSpPr>
        <dsp:cNvPr id="0" name=""/>
        <dsp:cNvSpPr/>
      </dsp:nvSpPr>
      <dsp:spPr>
        <a:xfrm>
          <a:off x="3498682" y="3471842"/>
          <a:ext cx="2555318" cy="1277659"/>
        </a:xfrm>
        <a:prstGeom prst="roundRect">
          <a:avLst>
            <a:gd name="adj" fmla="val 10000"/>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Non – Resident (NR)</a:t>
          </a:r>
          <a:endParaRPr lang="en-IN" sz="2400" kern="1200" dirty="0">
            <a:solidFill>
              <a:schemeClr val="tx1"/>
            </a:solidFill>
          </a:endParaRPr>
        </a:p>
      </dsp:txBody>
      <dsp:txXfrm>
        <a:off x="3536103" y="3509263"/>
        <a:ext cx="2480476" cy="1202817"/>
      </dsp:txXfrm>
    </dsp:sp>
    <dsp:sp modelId="{B01DFB2A-6551-4409-B75F-A1595EEAA8C1}">
      <dsp:nvSpPr>
        <dsp:cNvPr id="0" name=""/>
        <dsp:cNvSpPr/>
      </dsp:nvSpPr>
      <dsp:spPr>
        <a:xfrm>
          <a:off x="6054001" y="4086482"/>
          <a:ext cx="822736" cy="48380"/>
        </a:xfrm>
        <a:custGeom>
          <a:avLst/>
          <a:gdLst/>
          <a:ahLst/>
          <a:cxnLst/>
          <a:rect l="0" t="0" r="0" b="0"/>
          <a:pathLst>
            <a:path>
              <a:moveTo>
                <a:pt x="0" y="24190"/>
              </a:moveTo>
              <a:lnTo>
                <a:pt x="822736" y="2419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solidFill>
              <a:schemeClr val="tx1"/>
            </a:solidFill>
          </a:endParaRPr>
        </a:p>
      </dsp:txBody>
      <dsp:txXfrm>
        <a:off x="6444800" y="4090103"/>
        <a:ext cx="41136" cy="41136"/>
      </dsp:txXfrm>
    </dsp:sp>
    <dsp:sp modelId="{068AFA6E-8947-4017-A6F8-AA65A453679E}">
      <dsp:nvSpPr>
        <dsp:cNvPr id="0" name=""/>
        <dsp:cNvSpPr/>
      </dsp:nvSpPr>
      <dsp:spPr>
        <a:xfrm>
          <a:off x="6876737" y="3471842"/>
          <a:ext cx="3941119" cy="1277659"/>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Only that income which is earned from India or to be received/accrued </a:t>
          </a:r>
          <a:r>
            <a:rPr lang="en-US" sz="2400" b="1" kern="1200" dirty="0">
              <a:solidFill>
                <a:schemeClr val="tx1"/>
              </a:solidFill>
            </a:rPr>
            <a:t>in India</a:t>
          </a:r>
          <a:r>
            <a:rPr lang="en-US" sz="2500" kern="1200" dirty="0">
              <a:solidFill>
                <a:schemeClr val="tx1"/>
              </a:solidFill>
            </a:rPr>
            <a:t> </a:t>
          </a:r>
          <a:endParaRPr lang="en-IN" sz="2500" kern="1200" dirty="0">
            <a:solidFill>
              <a:schemeClr val="tx1"/>
            </a:solidFill>
          </a:endParaRPr>
        </a:p>
      </dsp:txBody>
      <dsp:txXfrm>
        <a:off x="6914158" y="3509263"/>
        <a:ext cx="3866277" cy="120281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C72A3E-E943-4833-B7F4-256EDA68B1B6}">
      <dsp:nvSpPr>
        <dsp:cNvPr id="0" name=""/>
        <dsp:cNvSpPr/>
      </dsp:nvSpPr>
      <dsp:spPr>
        <a:xfrm rot="5400000">
          <a:off x="-439336" y="446032"/>
          <a:ext cx="2928907" cy="2050235"/>
        </a:xfrm>
        <a:prstGeom prst="chevron">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Deductions are allowed from the </a:t>
          </a:r>
          <a:r>
            <a:rPr lang="en-US" sz="2000" b="1" kern="1200" dirty="0"/>
            <a:t>net annual value </a:t>
          </a:r>
          <a:endParaRPr lang="en-US" sz="2000" kern="1200" dirty="0"/>
        </a:p>
      </dsp:txBody>
      <dsp:txXfrm rot="-5400000">
        <a:off x="1" y="1031814"/>
        <a:ext cx="2050235" cy="878672"/>
      </dsp:txXfrm>
    </dsp:sp>
    <dsp:sp modelId="{E941B513-DFB3-4BAD-9238-DA2791A8A7FB}">
      <dsp:nvSpPr>
        <dsp:cNvPr id="0" name=""/>
        <dsp:cNvSpPr/>
      </dsp:nvSpPr>
      <dsp:spPr>
        <a:xfrm rot="5400000">
          <a:off x="6038043" y="-3981111"/>
          <a:ext cx="1903790" cy="9879405"/>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352" tIns="13335" rIns="13335" bIns="13335" numCol="1" spcCol="1270" anchor="ctr" anchorCtr="0">
          <a:noAutofit/>
        </a:bodyPr>
        <a:lstStyle/>
        <a:p>
          <a:pPr marL="228600" lvl="1" indent="-228600" algn="l" defTabSz="933450">
            <a:lnSpc>
              <a:spcPct val="90000"/>
            </a:lnSpc>
            <a:spcBef>
              <a:spcPct val="0"/>
            </a:spcBef>
            <a:spcAft>
              <a:spcPct val="15000"/>
            </a:spcAft>
            <a:buChar char="•"/>
          </a:pPr>
          <a:r>
            <a:rPr lang="en-US" sz="2100" b="1" kern="1200"/>
            <a:t>30%</a:t>
          </a:r>
          <a:r>
            <a:rPr lang="en-US" sz="2100" kern="1200"/>
            <a:t> of NAV (</a:t>
          </a:r>
          <a:r>
            <a:rPr lang="en-US" sz="2100" b="1" kern="1200"/>
            <a:t>Standard deduction</a:t>
          </a:r>
          <a:r>
            <a:rPr lang="en-US" sz="2100" kern="1200"/>
            <a:t>)</a:t>
          </a:r>
        </a:p>
        <a:p>
          <a:pPr marL="228600" lvl="1" indent="-228600" algn="l" defTabSz="933450">
            <a:lnSpc>
              <a:spcPct val="90000"/>
            </a:lnSpc>
            <a:spcBef>
              <a:spcPct val="0"/>
            </a:spcBef>
            <a:spcAft>
              <a:spcPct val="15000"/>
            </a:spcAft>
            <a:buChar char="•"/>
          </a:pPr>
          <a:r>
            <a:rPr lang="en-US" sz="2100" b="1" kern="1200"/>
            <a:t>Interest</a:t>
          </a:r>
          <a:r>
            <a:rPr lang="en-US" sz="2100" kern="1200"/>
            <a:t> on borrowed capital</a:t>
          </a:r>
        </a:p>
      </dsp:txBody>
      <dsp:txXfrm rot="-5400000">
        <a:off x="2050236" y="99631"/>
        <a:ext cx="9786470" cy="1717920"/>
      </dsp:txXfrm>
    </dsp:sp>
    <dsp:sp modelId="{9C5BE66B-8FF0-425E-B220-2463938B295C}">
      <dsp:nvSpPr>
        <dsp:cNvPr id="0" name=""/>
        <dsp:cNvSpPr/>
      </dsp:nvSpPr>
      <dsp:spPr>
        <a:xfrm rot="5400000">
          <a:off x="-439336" y="3094296"/>
          <a:ext cx="2928907" cy="2050235"/>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endParaRPr lang="en-US" sz="1800" kern="1200" dirty="0"/>
        </a:p>
        <a:p>
          <a:pPr marL="0" lvl="0" indent="0" algn="ctr" defTabSz="800100">
            <a:lnSpc>
              <a:spcPct val="90000"/>
            </a:lnSpc>
            <a:spcBef>
              <a:spcPct val="0"/>
            </a:spcBef>
            <a:spcAft>
              <a:spcPct val="35000"/>
            </a:spcAft>
            <a:buNone/>
          </a:pPr>
          <a:r>
            <a:rPr lang="en-US" sz="1800" kern="1200" dirty="0"/>
            <a:t>Interest on loans taken for reasons can be claimed as deduction</a:t>
          </a:r>
        </a:p>
      </dsp:txBody>
      <dsp:txXfrm rot="-5400000">
        <a:off x="1" y="3680078"/>
        <a:ext cx="2050235" cy="878672"/>
      </dsp:txXfrm>
    </dsp:sp>
    <dsp:sp modelId="{4C1E7391-2451-40FE-99D5-328BC89FAB6F}">
      <dsp:nvSpPr>
        <dsp:cNvPr id="0" name=""/>
        <dsp:cNvSpPr/>
      </dsp:nvSpPr>
      <dsp:spPr>
        <a:xfrm rot="5400000">
          <a:off x="6037542" y="-1332346"/>
          <a:ext cx="1904791" cy="987940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352" tIns="13335" rIns="13335" bIns="13335" numCol="1" spcCol="1270" anchor="ctr" anchorCtr="0">
          <a:noAutofit/>
        </a:bodyPr>
        <a:lstStyle/>
        <a:p>
          <a:pPr marL="228600" lvl="1" indent="-228600" algn="l" defTabSz="933450">
            <a:lnSpc>
              <a:spcPct val="90000"/>
            </a:lnSpc>
            <a:spcBef>
              <a:spcPct val="0"/>
            </a:spcBef>
            <a:spcAft>
              <a:spcPct val="15000"/>
            </a:spcAft>
            <a:buChar char="•"/>
          </a:pPr>
          <a:r>
            <a:rPr lang="en-US" sz="2100" kern="1200"/>
            <a:t>Acquisition</a:t>
          </a:r>
        </a:p>
        <a:p>
          <a:pPr marL="228600" lvl="1" indent="-228600" algn="l" defTabSz="933450">
            <a:lnSpc>
              <a:spcPct val="90000"/>
            </a:lnSpc>
            <a:spcBef>
              <a:spcPct val="0"/>
            </a:spcBef>
            <a:spcAft>
              <a:spcPct val="15000"/>
            </a:spcAft>
            <a:buChar char="•"/>
          </a:pPr>
          <a:r>
            <a:rPr lang="en-US" sz="2100" kern="1200"/>
            <a:t>Construction</a:t>
          </a:r>
        </a:p>
        <a:p>
          <a:pPr marL="228600" lvl="1" indent="-228600" algn="l" defTabSz="933450">
            <a:lnSpc>
              <a:spcPct val="90000"/>
            </a:lnSpc>
            <a:spcBef>
              <a:spcPct val="0"/>
            </a:spcBef>
            <a:spcAft>
              <a:spcPct val="15000"/>
            </a:spcAft>
            <a:buChar char="•"/>
          </a:pPr>
          <a:r>
            <a:rPr lang="en-US" sz="2100" kern="1200"/>
            <a:t>Repairs </a:t>
          </a:r>
        </a:p>
        <a:p>
          <a:pPr marL="228600" lvl="1" indent="-228600" algn="l" defTabSz="933450">
            <a:lnSpc>
              <a:spcPct val="90000"/>
            </a:lnSpc>
            <a:spcBef>
              <a:spcPct val="0"/>
            </a:spcBef>
            <a:spcAft>
              <a:spcPct val="15000"/>
            </a:spcAft>
            <a:buChar char="•"/>
          </a:pPr>
          <a:r>
            <a:rPr lang="en-US" sz="2100" kern="1200"/>
            <a:t>Renewal</a:t>
          </a:r>
        </a:p>
        <a:p>
          <a:pPr marL="228600" lvl="1" indent="-228600" algn="l" defTabSz="933450">
            <a:lnSpc>
              <a:spcPct val="90000"/>
            </a:lnSpc>
            <a:spcBef>
              <a:spcPct val="0"/>
            </a:spcBef>
            <a:spcAft>
              <a:spcPct val="15000"/>
            </a:spcAft>
            <a:buChar char="•"/>
          </a:pPr>
          <a:r>
            <a:rPr lang="en-US" sz="2100" kern="1200"/>
            <a:t>Reconstruction.</a:t>
          </a:r>
        </a:p>
      </dsp:txBody>
      <dsp:txXfrm rot="-5400000">
        <a:off x="2050235" y="2747945"/>
        <a:ext cx="9786421" cy="171882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039F73-0B86-4F6F-943A-72489FE63A83}">
      <dsp:nvSpPr>
        <dsp:cNvPr id="0" name=""/>
        <dsp:cNvSpPr/>
      </dsp:nvSpPr>
      <dsp:spPr>
        <a:xfrm>
          <a:off x="1179980" y="15207"/>
          <a:ext cx="5560759" cy="5560759"/>
        </a:xfrm>
        <a:prstGeom prst="ellipse">
          <a:avLst/>
        </a:prstGeom>
        <a:solidFill>
          <a:schemeClr val="accent2">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r>
            <a:rPr lang="en-US" sz="6500" kern="1200"/>
            <a:t>Company</a:t>
          </a:r>
        </a:p>
      </dsp:txBody>
      <dsp:txXfrm>
        <a:off x="1956483" y="670941"/>
        <a:ext cx="3206203" cy="4249293"/>
      </dsp:txXfrm>
    </dsp:sp>
    <dsp:sp modelId="{D48D1F56-6D61-4A21-87C5-6D8184FCF706}">
      <dsp:nvSpPr>
        <dsp:cNvPr id="0" name=""/>
        <dsp:cNvSpPr/>
      </dsp:nvSpPr>
      <dsp:spPr>
        <a:xfrm>
          <a:off x="5187735" y="15207"/>
          <a:ext cx="5560759" cy="5560759"/>
        </a:xfrm>
        <a:prstGeom prst="ellipse">
          <a:avLst/>
        </a:prstGeom>
        <a:solidFill>
          <a:schemeClr val="accent2">
            <a:alpha val="50000"/>
            <a:hueOff val="-6041733"/>
            <a:satOff val="-50000"/>
            <a:lumOff val="1000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r>
            <a:rPr lang="en-US" sz="6500" kern="1200"/>
            <a:t>Firm</a:t>
          </a:r>
        </a:p>
      </dsp:txBody>
      <dsp:txXfrm>
        <a:off x="6765788" y="670941"/>
        <a:ext cx="3206203" cy="424929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D22247-528A-4629-B9B2-BE593EC18AEF}">
      <dsp:nvSpPr>
        <dsp:cNvPr id="0" name=""/>
        <dsp:cNvSpPr/>
      </dsp:nvSpPr>
      <dsp:spPr>
        <a:xfrm>
          <a:off x="1674473" y="3151927"/>
          <a:ext cx="257943" cy="2949048"/>
        </a:xfrm>
        <a:custGeom>
          <a:avLst/>
          <a:gdLst/>
          <a:ahLst/>
          <a:cxnLst/>
          <a:rect l="0" t="0" r="0" b="0"/>
          <a:pathLst>
            <a:path>
              <a:moveTo>
                <a:pt x="0" y="0"/>
              </a:moveTo>
              <a:lnTo>
                <a:pt x="128971" y="0"/>
              </a:lnTo>
              <a:lnTo>
                <a:pt x="128971" y="2949048"/>
              </a:lnTo>
              <a:lnTo>
                <a:pt x="257943" y="294904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323291" y="4552443"/>
        <a:ext cx="2960307" cy="148015"/>
      </dsp:txXfrm>
    </dsp:sp>
    <dsp:sp modelId="{30727424-630B-4B40-BC76-887572D2064E}">
      <dsp:nvSpPr>
        <dsp:cNvPr id="0" name=""/>
        <dsp:cNvSpPr/>
      </dsp:nvSpPr>
      <dsp:spPr>
        <a:xfrm>
          <a:off x="1674473" y="3151927"/>
          <a:ext cx="257943" cy="2457540"/>
        </a:xfrm>
        <a:custGeom>
          <a:avLst/>
          <a:gdLst/>
          <a:ahLst/>
          <a:cxnLst/>
          <a:rect l="0" t="0" r="0" b="0"/>
          <a:pathLst>
            <a:path>
              <a:moveTo>
                <a:pt x="0" y="0"/>
              </a:moveTo>
              <a:lnTo>
                <a:pt x="128971" y="0"/>
              </a:lnTo>
              <a:lnTo>
                <a:pt x="128971" y="2457540"/>
              </a:lnTo>
              <a:lnTo>
                <a:pt x="257943" y="245754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567925" y="4318921"/>
        <a:ext cx="2471039" cy="123551"/>
      </dsp:txXfrm>
    </dsp:sp>
    <dsp:sp modelId="{5433BD3A-07CD-4DC5-99A2-E4DB7695283A}">
      <dsp:nvSpPr>
        <dsp:cNvPr id="0" name=""/>
        <dsp:cNvSpPr/>
      </dsp:nvSpPr>
      <dsp:spPr>
        <a:xfrm>
          <a:off x="1674473" y="3151927"/>
          <a:ext cx="257943" cy="1966032"/>
        </a:xfrm>
        <a:custGeom>
          <a:avLst/>
          <a:gdLst/>
          <a:ahLst/>
          <a:cxnLst/>
          <a:rect l="0" t="0" r="0" b="0"/>
          <a:pathLst>
            <a:path>
              <a:moveTo>
                <a:pt x="0" y="0"/>
              </a:moveTo>
              <a:lnTo>
                <a:pt x="128971" y="0"/>
              </a:lnTo>
              <a:lnTo>
                <a:pt x="128971" y="1966032"/>
              </a:lnTo>
              <a:lnTo>
                <a:pt x="257943" y="196603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812004" y="4085371"/>
        <a:ext cx="1982881" cy="99144"/>
      </dsp:txXfrm>
    </dsp:sp>
    <dsp:sp modelId="{248ED42D-3459-453B-82C1-C9F74B7B36CD}">
      <dsp:nvSpPr>
        <dsp:cNvPr id="0" name=""/>
        <dsp:cNvSpPr/>
      </dsp:nvSpPr>
      <dsp:spPr>
        <a:xfrm>
          <a:off x="1674473" y="3151927"/>
          <a:ext cx="257943" cy="1474524"/>
        </a:xfrm>
        <a:custGeom>
          <a:avLst/>
          <a:gdLst/>
          <a:ahLst/>
          <a:cxnLst/>
          <a:rect l="0" t="0" r="0" b="0"/>
          <a:pathLst>
            <a:path>
              <a:moveTo>
                <a:pt x="0" y="0"/>
              </a:moveTo>
              <a:lnTo>
                <a:pt x="128971" y="0"/>
              </a:lnTo>
              <a:lnTo>
                <a:pt x="128971" y="1474524"/>
              </a:lnTo>
              <a:lnTo>
                <a:pt x="257943" y="147452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1054987" y="3851766"/>
        <a:ext cx="1496915" cy="74845"/>
      </dsp:txXfrm>
    </dsp:sp>
    <dsp:sp modelId="{17B3E850-9744-4AF8-9BC1-D80704747A49}">
      <dsp:nvSpPr>
        <dsp:cNvPr id="0" name=""/>
        <dsp:cNvSpPr/>
      </dsp:nvSpPr>
      <dsp:spPr>
        <a:xfrm>
          <a:off x="1674473" y="3151927"/>
          <a:ext cx="257943" cy="983016"/>
        </a:xfrm>
        <a:custGeom>
          <a:avLst/>
          <a:gdLst/>
          <a:ahLst/>
          <a:cxnLst/>
          <a:rect l="0" t="0" r="0" b="0"/>
          <a:pathLst>
            <a:path>
              <a:moveTo>
                <a:pt x="0" y="0"/>
              </a:moveTo>
              <a:lnTo>
                <a:pt x="128971" y="0"/>
              </a:lnTo>
              <a:lnTo>
                <a:pt x="128971" y="983016"/>
              </a:lnTo>
              <a:lnTo>
                <a:pt x="257943" y="98301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1295298" y="3618028"/>
        <a:ext cx="1016294" cy="50814"/>
      </dsp:txXfrm>
    </dsp:sp>
    <dsp:sp modelId="{AF2E7919-4210-406D-9202-2C1956051778}">
      <dsp:nvSpPr>
        <dsp:cNvPr id="0" name=""/>
        <dsp:cNvSpPr/>
      </dsp:nvSpPr>
      <dsp:spPr>
        <a:xfrm>
          <a:off x="1674473" y="3151927"/>
          <a:ext cx="257943" cy="491508"/>
        </a:xfrm>
        <a:custGeom>
          <a:avLst/>
          <a:gdLst/>
          <a:ahLst/>
          <a:cxnLst/>
          <a:rect l="0" t="0" r="0" b="0"/>
          <a:pathLst>
            <a:path>
              <a:moveTo>
                <a:pt x="0" y="0"/>
              </a:moveTo>
              <a:lnTo>
                <a:pt x="128971" y="0"/>
              </a:lnTo>
              <a:lnTo>
                <a:pt x="128971" y="491508"/>
              </a:lnTo>
              <a:lnTo>
                <a:pt x="257943" y="49150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1525904" y="3383804"/>
        <a:ext cx="555081" cy="27754"/>
      </dsp:txXfrm>
    </dsp:sp>
    <dsp:sp modelId="{DFEB75D4-3E29-4950-8976-845FBCB23016}">
      <dsp:nvSpPr>
        <dsp:cNvPr id="0" name=""/>
        <dsp:cNvSpPr/>
      </dsp:nvSpPr>
      <dsp:spPr>
        <a:xfrm>
          <a:off x="1674473" y="3106207"/>
          <a:ext cx="257943" cy="91440"/>
        </a:xfrm>
        <a:custGeom>
          <a:avLst/>
          <a:gdLst/>
          <a:ahLst/>
          <a:cxnLst/>
          <a:rect l="0" t="0" r="0" b="0"/>
          <a:pathLst>
            <a:path>
              <a:moveTo>
                <a:pt x="0" y="45720"/>
              </a:moveTo>
              <a:lnTo>
                <a:pt x="257943" y="457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1674473" y="3145478"/>
        <a:ext cx="257943" cy="12897"/>
      </dsp:txXfrm>
    </dsp:sp>
    <dsp:sp modelId="{2F587F4A-31AE-48ED-B97A-D8B46B9378DB}">
      <dsp:nvSpPr>
        <dsp:cNvPr id="0" name=""/>
        <dsp:cNvSpPr/>
      </dsp:nvSpPr>
      <dsp:spPr>
        <a:xfrm>
          <a:off x="1674473" y="2660419"/>
          <a:ext cx="257943" cy="491508"/>
        </a:xfrm>
        <a:custGeom>
          <a:avLst/>
          <a:gdLst/>
          <a:ahLst/>
          <a:cxnLst/>
          <a:rect l="0" t="0" r="0" b="0"/>
          <a:pathLst>
            <a:path>
              <a:moveTo>
                <a:pt x="0" y="491508"/>
              </a:moveTo>
              <a:lnTo>
                <a:pt x="128971" y="491508"/>
              </a:lnTo>
              <a:lnTo>
                <a:pt x="128971" y="0"/>
              </a:lnTo>
              <a:lnTo>
                <a:pt x="257943"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1525904" y="2892296"/>
        <a:ext cx="555081" cy="27754"/>
      </dsp:txXfrm>
    </dsp:sp>
    <dsp:sp modelId="{7C562F1C-98BC-4CC3-A3B1-47648973DFED}">
      <dsp:nvSpPr>
        <dsp:cNvPr id="0" name=""/>
        <dsp:cNvSpPr/>
      </dsp:nvSpPr>
      <dsp:spPr>
        <a:xfrm>
          <a:off x="1674473" y="2168911"/>
          <a:ext cx="257943" cy="983016"/>
        </a:xfrm>
        <a:custGeom>
          <a:avLst/>
          <a:gdLst/>
          <a:ahLst/>
          <a:cxnLst/>
          <a:rect l="0" t="0" r="0" b="0"/>
          <a:pathLst>
            <a:path>
              <a:moveTo>
                <a:pt x="0" y="983016"/>
              </a:moveTo>
              <a:lnTo>
                <a:pt x="128971" y="983016"/>
              </a:lnTo>
              <a:lnTo>
                <a:pt x="128971" y="0"/>
              </a:lnTo>
              <a:lnTo>
                <a:pt x="257943"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1295298" y="2635012"/>
        <a:ext cx="1016294" cy="50814"/>
      </dsp:txXfrm>
    </dsp:sp>
    <dsp:sp modelId="{4DDA631A-286A-4DF4-8460-4AF6DBCDA7D5}">
      <dsp:nvSpPr>
        <dsp:cNvPr id="0" name=""/>
        <dsp:cNvSpPr/>
      </dsp:nvSpPr>
      <dsp:spPr>
        <a:xfrm>
          <a:off x="1674473" y="1677403"/>
          <a:ext cx="257943" cy="1474524"/>
        </a:xfrm>
        <a:custGeom>
          <a:avLst/>
          <a:gdLst/>
          <a:ahLst/>
          <a:cxnLst/>
          <a:rect l="0" t="0" r="0" b="0"/>
          <a:pathLst>
            <a:path>
              <a:moveTo>
                <a:pt x="0" y="1474524"/>
              </a:moveTo>
              <a:lnTo>
                <a:pt x="128971" y="1474524"/>
              </a:lnTo>
              <a:lnTo>
                <a:pt x="128971" y="0"/>
              </a:lnTo>
              <a:lnTo>
                <a:pt x="257943"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1054987" y="2377242"/>
        <a:ext cx="1496915" cy="74845"/>
      </dsp:txXfrm>
    </dsp:sp>
    <dsp:sp modelId="{61B92D09-C27B-496F-8D95-CA8D7E573448}">
      <dsp:nvSpPr>
        <dsp:cNvPr id="0" name=""/>
        <dsp:cNvSpPr/>
      </dsp:nvSpPr>
      <dsp:spPr>
        <a:xfrm>
          <a:off x="1674473" y="1185895"/>
          <a:ext cx="257943" cy="1966032"/>
        </a:xfrm>
        <a:custGeom>
          <a:avLst/>
          <a:gdLst/>
          <a:ahLst/>
          <a:cxnLst/>
          <a:rect l="0" t="0" r="0" b="0"/>
          <a:pathLst>
            <a:path>
              <a:moveTo>
                <a:pt x="0" y="1966032"/>
              </a:moveTo>
              <a:lnTo>
                <a:pt x="128971" y="1966032"/>
              </a:lnTo>
              <a:lnTo>
                <a:pt x="128971" y="0"/>
              </a:lnTo>
              <a:lnTo>
                <a:pt x="257943"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812004" y="2119339"/>
        <a:ext cx="1982881" cy="99144"/>
      </dsp:txXfrm>
    </dsp:sp>
    <dsp:sp modelId="{720BC9A1-6E50-4EBF-856B-57C05475B0EF}">
      <dsp:nvSpPr>
        <dsp:cNvPr id="0" name=""/>
        <dsp:cNvSpPr/>
      </dsp:nvSpPr>
      <dsp:spPr>
        <a:xfrm>
          <a:off x="1674473" y="694387"/>
          <a:ext cx="257943" cy="2457540"/>
        </a:xfrm>
        <a:custGeom>
          <a:avLst/>
          <a:gdLst/>
          <a:ahLst/>
          <a:cxnLst/>
          <a:rect l="0" t="0" r="0" b="0"/>
          <a:pathLst>
            <a:path>
              <a:moveTo>
                <a:pt x="0" y="2457540"/>
              </a:moveTo>
              <a:lnTo>
                <a:pt x="128971" y="2457540"/>
              </a:lnTo>
              <a:lnTo>
                <a:pt x="128971" y="0"/>
              </a:lnTo>
              <a:lnTo>
                <a:pt x="257943"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567925" y="1861381"/>
        <a:ext cx="2471039" cy="123551"/>
      </dsp:txXfrm>
    </dsp:sp>
    <dsp:sp modelId="{DD1F4B51-9566-4014-A767-ABE50F98AA50}">
      <dsp:nvSpPr>
        <dsp:cNvPr id="0" name=""/>
        <dsp:cNvSpPr/>
      </dsp:nvSpPr>
      <dsp:spPr>
        <a:xfrm>
          <a:off x="1674473" y="202879"/>
          <a:ext cx="257943" cy="2949048"/>
        </a:xfrm>
        <a:custGeom>
          <a:avLst/>
          <a:gdLst/>
          <a:ahLst/>
          <a:cxnLst/>
          <a:rect l="0" t="0" r="0" b="0"/>
          <a:pathLst>
            <a:path>
              <a:moveTo>
                <a:pt x="0" y="2949048"/>
              </a:moveTo>
              <a:lnTo>
                <a:pt x="128971" y="2949048"/>
              </a:lnTo>
              <a:lnTo>
                <a:pt x="128971" y="0"/>
              </a:lnTo>
              <a:lnTo>
                <a:pt x="257943"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323291" y="1603395"/>
        <a:ext cx="2960307" cy="148015"/>
      </dsp:txXfrm>
    </dsp:sp>
    <dsp:sp modelId="{6A4AFE22-FE08-4983-9AF3-B4227676F3AA}">
      <dsp:nvSpPr>
        <dsp:cNvPr id="0" name=""/>
        <dsp:cNvSpPr/>
      </dsp:nvSpPr>
      <dsp:spPr>
        <a:xfrm rot="16200000">
          <a:off x="443116" y="2955324"/>
          <a:ext cx="2069507" cy="393206"/>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ITR 5 </a:t>
          </a:r>
        </a:p>
      </dsp:txBody>
      <dsp:txXfrm>
        <a:off x="443116" y="2955324"/>
        <a:ext cx="2069507" cy="393206"/>
      </dsp:txXfrm>
    </dsp:sp>
    <dsp:sp modelId="{32AB889F-B391-4CE2-BE37-C0FC847B71FD}">
      <dsp:nvSpPr>
        <dsp:cNvPr id="0" name=""/>
        <dsp:cNvSpPr/>
      </dsp:nvSpPr>
      <dsp:spPr>
        <a:xfrm>
          <a:off x="1932417" y="6276"/>
          <a:ext cx="7430640" cy="393206"/>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a:t>Firm</a:t>
          </a:r>
        </a:p>
      </dsp:txBody>
      <dsp:txXfrm>
        <a:off x="1932417" y="6276"/>
        <a:ext cx="7430640" cy="393206"/>
      </dsp:txXfrm>
    </dsp:sp>
    <dsp:sp modelId="{E55C8ED7-C3FA-47B3-A876-0C01E0B069ED}">
      <dsp:nvSpPr>
        <dsp:cNvPr id="0" name=""/>
        <dsp:cNvSpPr/>
      </dsp:nvSpPr>
      <dsp:spPr>
        <a:xfrm>
          <a:off x="1932417" y="497784"/>
          <a:ext cx="7430640" cy="393206"/>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a:t>Limited Liability Partnership (LLP)</a:t>
          </a:r>
        </a:p>
      </dsp:txBody>
      <dsp:txXfrm>
        <a:off x="1932417" y="497784"/>
        <a:ext cx="7430640" cy="393206"/>
      </dsp:txXfrm>
    </dsp:sp>
    <dsp:sp modelId="{E6438181-BF0C-4ED1-846F-66BED393D6A7}">
      <dsp:nvSpPr>
        <dsp:cNvPr id="0" name=""/>
        <dsp:cNvSpPr/>
      </dsp:nvSpPr>
      <dsp:spPr>
        <a:xfrm>
          <a:off x="1932417" y="989292"/>
          <a:ext cx="7430640" cy="393206"/>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a:t>Association of Persons (AOP)</a:t>
          </a:r>
        </a:p>
      </dsp:txBody>
      <dsp:txXfrm>
        <a:off x="1932417" y="989292"/>
        <a:ext cx="7430640" cy="393206"/>
      </dsp:txXfrm>
    </dsp:sp>
    <dsp:sp modelId="{C9064D7B-7900-4CE9-8A89-6345CA42B4F8}">
      <dsp:nvSpPr>
        <dsp:cNvPr id="0" name=""/>
        <dsp:cNvSpPr/>
      </dsp:nvSpPr>
      <dsp:spPr>
        <a:xfrm>
          <a:off x="1932417" y="1480800"/>
          <a:ext cx="7430640" cy="393206"/>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a:t>Body of Individuals (BOI)</a:t>
          </a:r>
        </a:p>
      </dsp:txBody>
      <dsp:txXfrm>
        <a:off x="1932417" y="1480800"/>
        <a:ext cx="7430640" cy="393206"/>
      </dsp:txXfrm>
    </dsp:sp>
    <dsp:sp modelId="{85F3CEDA-E92F-4B73-A506-F94AEB78886E}">
      <dsp:nvSpPr>
        <dsp:cNvPr id="0" name=""/>
        <dsp:cNvSpPr/>
      </dsp:nvSpPr>
      <dsp:spPr>
        <a:xfrm>
          <a:off x="1932417" y="1972308"/>
          <a:ext cx="7430640" cy="393206"/>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a:t>Artificial Juridical Person (AJP) referred to in clause (vii) of Section 2(31)</a:t>
          </a:r>
        </a:p>
      </dsp:txBody>
      <dsp:txXfrm>
        <a:off x="1932417" y="1972308"/>
        <a:ext cx="7430640" cy="393206"/>
      </dsp:txXfrm>
    </dsp:sp>
    <dsp:sp modelId="{33468E97-92B2-4010-AEF8-2EEF85011214}">
      <dsp:nvSpPr>
        <dsp:cNvPr id="0" name=""/>
        <dsp:cNvSpPr/>
      </dsp:nvSpPr>
      <dsp:spPr>
        <a:xfrm>
          <a:off x="1932417" y="2463816"/>
          <a:ext cx="7430640" cy="393206"/>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a:t>Local Authority referred to in clause (vi) of Section 2(31)</a:t>
          </a:r>
        </a:p>
      </dsp:txBody>
      <dsp:txXfrm>
        <a:off x="1932417" y="2463816"/>
        <a:ext cx="7430640" cy="393206"/>
      </dsp:txXfrm>
    </dsp:sp>
    <dsp:sp modelId="{5ACF8E57-BB04-434C-9538-E9D0C63E59D8}">
      <dsp:nvSpPr>
        <dsp:cNvPr id="0" name=""/>
        <dsp:cNvSpPr/>
      </dsp:nvSpPr>
      <dsp:spPr>
        <a:xfrm>
          <a:off x="1932417" y="2955324"/>
          <a:ext cx="7430640" cy="393206"/>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a:t>Representative Assessee referred to in Section 160(1)(iii) or (iv)</a:t>
          </a:r>
        </a:p>
      </dsp:txBody>
      <dsp:txXfrm>
        <a:off x="1932417" y="2955324"/>
        <a:ext cx="7430640" cy="393206"/>
      </dsp:txXfrm>
    </dsp:sp>
    <dsp:sp modelId="{D4D09A56-B657-4F36-9A32-96CCEDE6D65C}">
      <dsp:nvSpPr>
        <dsp:cNvPr id="0" name=""/>
        <dsp:cNvSpPr/>
      </dsp:nvSpPr>
      <dsp:spPr>
        <a:xfrm>
          <a:off x="1932417" y="3446832"/>
          <a:ext cx="7430640" cy="393206"/>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a:t>Cooperative Society</a:t>
          </a:r>
        </a:p>
      </dsp:txBody>
      <dsp:txXfrm>
        <a:off x="1932417" y="3446832"/>
        <a:ext cx="7430640" cy="393206"/>
      </dsp:txXfrm>
    </dsp:sp>
    <dsp:sp modelId="{AD9D3786-979A-471E-844C-7B7E745BEF03}">
      <dsp:nvSpPr>
        <dsp:cNvPr id="0" name=""/>
        <dsp:cNvSpPr/>
      </dsp:nvSpPr>
      <dsp:spPr>
        <a:xfrm>
          <a:off x="1932417" y="3938340"/>
          <a:ext cx="7430640" cy="393206"/>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t>Society Registered under Societies Registration Act, 1860 or under any other law of any State</a:t>
          </a:r>
        </a:p>
      </dsp:txBody>
      <dsp:txXfrm>
        <a:off x="1932417" y="3938340"/>
        <a:ext cx="7430640" cy="393206"/>
      </dsp:txXfrm>
    </dsp:sp>
    <dsp:sp modelId="{BC396752-3534-48B3-BE3E-7751F98C4832}">
      <dsp:nvSpPr>
        <dsp:cNvPr id="0" name=""/>
        <dsp:cNvSpPr/>
      </dsp:nvSpPr>
      <dsp:spPr>
        <a:xfrm>
          <a:off x="1932417" y="4429848"/>
          <a:ext cx="7430640" cy="393206"/>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a:t>Trust other than Trusts eligible to file Form ITR-7</a:t>
          </a:r>
        </a:p>
      </dsp:txBody>
      <dsp:txXfrm>
        <a:off x="1932417" y="4429848"/>
        <a:ext cx="7430640" cy="393206"/>
      </dsp:txXfrm>
    </dsp:sp>
    <dsp:sp modelId="{A483D51F-F7D2-4990-8C7F-D4BB0022D0EE}">
      <dsp:nvSpPr>
        <dsp:cNvPr id="0" name=""/>
        <dsp:cNvSpPr/>
      </dsp:nvSpPr>
      <dsp:spPr>
        <a:xfrm>
          <a:off x="1932417" y="4921356"/>
          <a:ext cx="7430640" cy="393206"/>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a:t>Estate of Deceased Person</a:t>
          </a:r>
        </a:p>
      </dsp:txBody>
      <dsp:txXfrm>
        <a:off x="1932417" y="4921356"/>
        <a:ext cx="7430640" cy="393206"/>
      </dsp:txXfrm>
    </dsp:sp>
    <dsp:sp modelId="{802F389F-C805-4DB9-A077-61905A7841B2}">
      <dsp:nvSpPr>
        <dsp:cNvPr id="0" name=""/>
        <dsp:cNvSpPr/>
      </dsp:nvSpPr>
      <dsp:spPr>
        <a:xfrm>
          <a:off x="1932417" y="5412864"/>
          <a:ext cx="7430640" cy="393206"/>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a:t>Estate of an Insolvent</a:t>
          </a:r>
        </a:p>
      </dsp:txBody>
      <dsp:txXfrm>
        <a:off x="1932417" y="5412864"/>
        <a:ext cx="7430640" cy="393206"/>
      </dsp:txXfrm>
    </dsp:sp>
    <dsp:sp modelId="{D4893317-4D79-4099-B994-D3F3CB143DBC}">
      <dsp:nvSpPr>
        <dsp:cNvPr id="0" name=""/>
        <dsp:cNvSpPr/>
      </dsp:nvSpPr>
      <dsp:spPr>
        <a:xfrm>
          <a:off x="1932417" y="5904372"/>
          <a:ext cx="7430640" cy="393206"/>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t>Business Trust referred to in Section 139(4E) and Investment Fund referred to in Section 139(4F)</a:t>
          </a:r>
        </a:p>
      </dsp:txBody>
      <dsp:txXfrm>
        <a:off x="1932417" y="5904372"/>
        <a:ext cx="7430640" cy="39320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0069A5-E0BC-41E7-947F-7228BD002AA2}">
      <dsp:nvSpPr>
        <dsp:cNvPr id="0" name=""/>
        <dsp:cNvSpPr/>
      </dsp:nvSpPr>
      <dsp:spPr>
        <a:xfrm>
          <a:off x="3262050" y="3151927"/>
          <a:ext cx="785712" cy="1497165"/>
        </a:xfrm>
        <a:custGeom>
          <a:avLst/>
          <a:gdLst/>
          <a:ahLst/>
          <a:cxnLst/>
          <a:rect l="0" t="0" r="0" b="0"/>
          <a:pathLst>
            <a:path>
              <a:moveTo>
                <a:pt x="0" y="0"/>
              </a:moveTo>
              <a:lnTo>
                <a:pt x="392856" y="0"/>
              </a:lnTo>
              <a:lnTo>
                <a:pt x="392856" y="1497165"/>
              </a:lnTo>
              <a:lnTo>
                <a:pt x="785712" y="1497165"/>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3612636" y="3858239"/>
        <a:ext cx="84540" cy="84540"/>
      </dsp:txXfrm>
    </dsp:sp>
    <dsp:sp modelId="{06C7669B-143E-4270-958E-BAA93985799B}">
      <dsp:nvSpPr>
        <dsp:cNvPr id="0" name=""/>
        <dsp:cNvSpPr/>
      </dsp:nvSpPr>
      <dsp:spPr>
        <a:xfrm>
          <a:off x="3262050" y="3106207"/>
          <a:ext cx="785712" cy="91440"/>
        </a:xfrm>
        <a:custGeom>
          <a:avLst/>
          <a:gdLst/>
          <a:ahLst/>
          <a:cxnLst/>
          <a:rect l="0" t="0" r="0" b="0"/>
          <a:pathLst>
            <a:path>
              <a:moveTo>
                <a:pt x="0" y="45720"/>
              </a:moveTo>
              <a:lnTo>
                <a:pt x="785712" y="45720"/>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35264" y="3132284"/>
        <a:ext cx="39285" cy="39285"/>
      </dsp:txXfrm>
    </dsp:sp>
    <dsp:sp modelId="{B71A3F34-E3F3-48F1-8DEA-2E60D17DE765}">
      <dsp:nvSpPr>
        <dsp:cNvPr id="0" name=""/>
        <dsp:cNvSpPr/>
      </dsp:nvSpPr>
      <dsp:spPr>
        <a:xfrm>
          <a:off x="3262050" y="1654761"/>
          <a:ext cx="785712" cy="1497165"/>
        </a:xfrm>
        <a:custGeom>
          <a:avLst/>
          <a:gdLst/>
          <a:ahLst/>
          <a:cxnLst/>
          <a:rect l="0" t="0" r="0" b="0"/>
          <a:pathLst>
            <a:path>
              <a:moveTo>
                <a:pt x="0" y="1497165"/>
              </a:moveTo>
              <a:lnTo>
                <a:pt x="392856" y="1497165"/>
              </a:lnTo>
              <a:lnTo>
                <a:pt x="392856" y="0"/>
              </a:lnTo>
              <a:lnTo>
                <a:pt x="785712" y="0"/>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3612636" y="2361074"/>
        <a:ext cx="84540" cy="84540"/>
      </dsp:txXfrm>
    </dsp:sp>
    <dsp:sp modelId="{B03243D7-6DEE-4533-BF2B-97B4AA0EC652}">
      <dsp:nvSpPr>
        <dsp:cNvPr id="0" name=""/>
        <dsp:cNvSpPr/>
      </dsp:nvSpPr>
      <dsp:spPr>
        <a:xfrm rot="16200000">
          <a:off x="-488742" y="2553061"/>
          <a:ext cx="6303854" cy="119773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41275" numCol="1" spcCol="1270" anchor="ctr" anchorCtr="0">
          <a:noAutofit/>
        </a:bodyPr>
        <a:lstStyle/>
        <a:p>
          <a:pPr marL="0" lvl="0" indent="0" algn="ctr" defTabSz="2889250">
            <a:lnSpc>
              <a:spcPct val="90000"/>
            </a:lnSpc>
            <a:spcBef>
              <a:spcPct val="0"/>
            </a:spcBef>
            <a:spcAft>
              <a:spcPct val="35000"/>
            </a:spcAft>
            <a:buNone/>
          </a:pPr>
          <a:r>
            <a:rPr lang="en-US" sz="6500" kern="1200"/>
            <a:t>ITR 6</a:t>
          </a:r>
        </a:p>
      </dsp:txBody>
      <dsp:txXfrm>
        <a:off x="-488742" y="2553061"/>
        <a:ext cx="6303854" cy="1197732"/>
      </dsp:txXfrm>
    </dsp:sp>
    <dsp:sp modelId="{AD53609E-810A-476A-AB94-8B174A35A666}">
      <dsp:nvSpPr>
        <dsp:cNvPr id="0" name=""/>
        <dsp:cNvSpPr/>
      </dsp:nvSpPr>
      <dsp:spPr>
        <a:xfrm>
          <a:off x="4047763" y="1055895"/>
          <a:ext cx="3928562" cy="1197732"/>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dirty="0"/>
            <a:t>Indian Company</a:t>
          </a:r>
        </a:p>
      </dsp:txBody>
      <dsp:txXfrm>
        <a:off x="4047763" y="1055895"/>
        <a:ext cx="3928562" cy="1197732"/>
      </dsp:txXfrm>
    </dsp:sp>
    <dsp:sp modelId="{89B65739-D15C-4D78-AB30-24C7AC0C4F98}">
      <dsp:nvSpPr>
        <dsp:cNvPr id="0" name=""/>
        <dsp:cNvSpPr/>
      </dsp:nvSpPr>
      <dsp:spPr>
        <a:xfrm>
          <a:off x="4047763" y="2553061"/>
          <a:ext cx="3928562" cy="1197732"/>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a:t>Body corporate incorporated by or under the laws of country outside India </a:t>
          </a:r>
        </a:p>
      </dsp:txBody>
      <dsp:txXfrm>
        <a:off x="4047763" y="2553061"/>
        <a:ext cx="3928562" cy="1197732"/>
      </dsp:txXfrm>
    </dsp:sp>
    <dsp:sp modelId="{27E50D17-2AC7-40B7-BC7A-47F58E1496CD}">
      <dsp:nvSpPr>
        <dsp:cNvPr id="0" name=""/>
        <dsp:cNvSpPr/>
      </dsp:nvSpPr>
      <dsp:spPr>
        <a:xfrm>
          <a:off x="4047763" y="4050226"/>
          <a:ext cx="3928562" cy="1197732"/>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US" sz="1700" kern="1200"/>
            <a:t>Any institution, association or body, whether incorporated or not and whether Indian or Non-Indian which is declared by general or special order of the Board, to be Company, etc.</a:t>
          </a:r>
        </a:p>
      </dsp:txBody>
      <dsp:txXfrm>
        <a:off x="4047763" y="4050226"/>
        <a:ext cx="3928562" cy="119773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DE47E1-5DD2-4A2E-ADB8-06FAE5DE7D51}">
      <dsp:nvSpPr>
        <dsp:cNvPr id="0" name=""/>
        <dsp:cNvSpPr/>
      </dsp:nvSpPr>
      <dsp:spPr>
        <a:xfrm>
          <a:off x="3262050" y="3151927"/>
          <a:ext cx="785712" cy="2245748"/>
        </a:xfrm>
        <a:custGeom>
          <a:avLst/>
          <a:gdLst/>
          <a:ahLst/>
          <a:cxnLst/>
          <a:rect l="0" t="0" r="0" b="0"/>
          <a:pathLst>
            <a:path>
              <a:moveTo>
                <a:pt x="0" y="0"/>
              </a:moveTo>
              <a:lnTo>
                <a:pt x="392856" y="0"/>
              </a:lnTo>
              <a:lnTo>
                <a:pt x="392856" y="2245748"/>
              </a:lnTo>
              <a:lnTo>
                <a:pt x="785712" y="2245748"/>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3595426" y="4215320"/>
        <a:ext cx="118961" cy="118961"/>
      </dsp:txXfrm>
    </dsp:sp>
    <dsp:sp modelId="{6E78A13A-276B-4550-9262-E113C70A286F}">
      <dsp:nvSpPr>
        <dsp:cNvPr id="0" name=""/>
        <dsp:cNvSpPr/>
      </dsp:nvSpPr>
      <dsp:spPr>
        <a:xfrm>
          <a:off x="3262050" y="3151927"/>
          <a:ext cx="785712" cy="748582"/>
        </a:xfrm>
        <a:custGeom>
          <a:avLst/>
          <a:gdLst/>
          <a:ahLst/>
          <a:cxnLst/>
          <a:rect l="0" t="0" r="0" b="0"/>
          <a:pathLst>
            <a:path>
              <a:moveTo>
                <a:pt x="0" y="0"/>
              </a:moveTo>
              <a:lnTo>
                <a:pt x="392856" y="0"/>
              </a:lnTo>
              <a:lnTo>
                <a:pt x="392856" y="748582"/>
              </a:lnTo>
              <a:lnTo>
                <a:pt x="785712" y="748582"/>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27776" y="3499088"/>
        <a:ext cx="54261" cy="54261"/>
      </dsp:txXfrm>
    </dsp:sp>
    <dsp:sp modelId="{413C2F8A-BD9C-4389-8F56-FDF79368EE39}">
      <dsp:nvSpPr>
        <dsp:cNvPr id="0" name=""/>
        <dsp:cNvSpPr/>
      </dsp:nvSpPr>
      <dsp:spPr>
        <a:xfrm>
          <a:off x="3262050" y="2403344"/>
          <a:ext cx="785712" cy="748582"/>
        </a:xfrm>
        <a:custGeom>
          <a:avLst/>
          <a:gdLst/>
          <a:ahLst/>
          <a:cxnLst/>
          <a:rect l="0" t="0" r="0" b="0"/>
          <a:pathLst>
            <a:path>
              <a:moveTo>
                <a:pt x="0" y="748582"/>
              </a:moveTo>
              <a:lnTo>
                <a:pt x="392856" y="748582"/>
              </a:lnTo>
              <a:lnTo>
                <a:pt x="392856" y="0"/>
              </a:lnTo>
              <a:lnTo>
                <a:pt x="785712" y="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27776" y="2750505"/>
        <a:ext cx="54261" cy="54261"/>
      </dsp:txXfrm>
    </dsp:sp>
    <dsp:sp modelId="{5E8AF0D7-5806-4D8A-BF5A-684006F672EB}">
      <dsp:nvSpPr>
        <dsp:cNvPr id="0" name=""/>
        <dsp:cNvSpPr/>
      </dsp:nvSpPr>
      <dsp:spPr>
        <a:xfrm>
          <a:off x="3262050" y="906179"/>
          <a:ext cx="785712" cy="2245748"/>
        </a:xfrm>
        <a:custGeom>
          <a:avLst/>
          <a:gdLst/>
          <a:ahLst/>
          <a:cxnLst/>
          <a:rect l="0" t="0" r="0" b="0"/>
          <a:pathLst>
            <a:path>
              <a:moveTo>
                <a:pt x="0" y="2245748"/>
              </a:moveTo>
              <a:lnTo>
                <a:pt x="392856" y="2245748"/>
              </a:lnTo>
              <a:lnTo>
                <a:pt x="392856" y="0"/>
              </a:lnTo>
              <a:lnTo>
                <a:pt x="785712" y="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3595426" y="1969572"/>
        <a:ext cx="118961" cy="118961"/>
      </dsp:txXfrm>
    </dsp:sp>
    <dsp:sp modelId="{B670B34F-E48A-44E6-B182-2AB87848E04B}">
      <dsp:nvSpPr>
        <dsp:cNvPr id="0" name=""/>
        <dsp:cNvSpPr/>
      </dsp:nvSpPr>
      <dsp:spPr>
        <a:xfrm rot="16200000">
          <a:off x="-488742" y="2553061"/>
          <a:ext cx="6303854" cy="119773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41275" numCol="1" spcCol="1270" anchor="ctr" anchorCtr="0">
          <a:noAutofit/>
        </a:bodyPr>
        <a:lstStyle/>
        <a:p>
          <a:pPr marL="0" lvl="0" indent="0" algn="ctr" defTabSz="2889250">
            <a:lnSpc>
              <a:spcPct val="90000"/>
            </a:lnSpc>
            <a:spcBef>
              <a:spcPct val="0"/>
            </a:spcBef>
            <a:spcAft>
              <a:spcPct val="35000"/>
            </a:spcAft>
            <a:buNone/>
          </a:pPr>
          <a:r>
            <a:rPr lang="en-US" sz="6500" kern="1200"/>
            <a:t>ITR 7</a:t>
          </a:r>
        </a:p>
      </dsp:txBody>
      <dsp:txXfrm>
        <a:off x="-488742" y="2553061"/>
        <a:ext cx="6303854" cy="1197732"/>
      </dsp:txXfrm>
    </dsp:sp>
    <dsp:sp modelId="{F1868EE3-AF40-4748-AC43-C04D14C3ED33}">
      <dsp:nvSpPr>
        <dsp:cNvPr id="0" name=""/>
        <dsp:cNvSpPr/>
      </dsp:nvSpPr>
      <dsp:spPr>
        <a:xfrm>
          <a:off x="4047763" y="307312"/>
          <a:ext cx="3928562" cy="119773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a:t>Income derived from Property held under Trust wholly / in part for charitable or religious purposes</a:t>
          </a:r>
        </a:p>
      </dsp:txBody>
      <dsp:txXfrm>
        <a:off x="4047763" y="307312"/>
        <a:ext cx="3928562" cy="1197732"/>
      </dsp:txXfrm>
    </dsp:sp>
    <dsp:sp modelId="{2DF4B4E7-A080-42BE-A066-1B14A6FD8D87}">
      <dsp:nvSpPr>
        <dsp:cNvPr id="0" name=""/>
        <dsp:cNvSpPr/>
      </dsp:nvSpPr>
      <dsp:spPr>
        <a:xfrm>
          <a:off x="4047763" y="1804478"/>
          <a:ext cx="3928562" cy="119773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a:t>Chief Executive Officer of every Political Party</a:t>
          </a:r>
        </a:p>
      </dsp:txBody>
      <dsp:txXfrm>
        <a:off x="4047763" y="1804478"/>
        <a:ext cx="3928562" cy="1197732"/>
      </dsp:txXfrm>
    </dsp:sp>
    <dsp:sp modelId="{AB2A74C9-D720-408C-AF87-A1AB1FC24488}">
      <dsp:nvSpPr>
        <dsp:cNvPr id="0" name=""/>
        <dsp:cNvSpPr/>
      </dsp:nvSpPr>
      <dsp:spPr>
        <a:xfrm>
          <a:off x="4047763" y="3301644"/>
          <a:ext cx="3928562" cy="119773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a:t>Various entities like Research Association, News Agency, etc. mentioned in Section 10</a:t>
          </a:r>
        </a:p>
      </dsp:txBody>
      <dsp:txXfrm>
        <a:off x="4047763" y="3301644"/>
        <a:ext cx="3928562" cy="1197732"/>
      </dsp:txXfrm>
    </dsp:sp>
    <dsp:sp modelId="{51F5BA5C-F75F-40D7-8004-43C8221C20ED}">
      <dsp:nvSpPr>
        <dsp:cNvPr id="0" name=""/>
        <dsp:cNvSpPr/>
      </dsp:nvSpPr>
      <dsp:spPr>
        <a:xfrm>
          <a:off x="4047763" y="4798809"/>
          <a:ext cx="3928562" cy="119773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a:t>University, College or other Institution referred in Section 35</a:t>
          </a:r>
        </a:p>
      </dsp:txBody>
      <dsp:txXfrm>
        <a:off x="4047763" y="4798809"/>
        <a:ext cx="3928562" cy="1197732"/>
      </dsp:txXfrm>
    </dsp:sp>
  </dsp:spTree>
</dsp:drawing>
</file>

<file path=ppt/diagrams/layout1.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layout2.xml><?xml version="1.0" encoding="utf-8"?>
<dgm:layoutDef xmlns:dgm="http://schemas.openxmlformats.org/drawingml/2006/diagram" xmlns:a="http://schemas.openxmlformats.org/drawingml/2006/main" uniqueId="urn:microsoft.com/office/officeart/2005/8/layout/arrow4">
  <dgm:title val=""/>
  <dgm:desc val=""/>
  <dgm:catLst>
    <dgm:cat type="relationship" pri="8000"/>
    <dgm:cat type="process" pri="30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shape xmlns:r="http://schemas.openxmlformats.org/officeDocument/2006/relationships" r:blip="">
      <dgm:adjLst/>
    </dgm:shape>
    <dgm:presOf/>
    <dgm:choose name="Name0">
      <dgm:if name="Name1" func="var" arg="dir" op="equ" val="norm">
        <dgm:choose name="Name2">
          <dgm:if name="Name3" axis="ch" ptType="node" func="cnt" op="lte" val="1">
            <dgm:constrLst>
              <dgm:constr type="primFontSz" for="des" ptType="node" op="equ" val="65"/>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val="65"/>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val="65"/>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val="65"/>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ruleLst/>
    <dgm:forEach name="Name9" axis="ch" ptType="node" cnt="1">
      <dgm:layoutNode name="upArrow" styleLbl="node1">
        <dgm:alg type="sp"/>
        <dgm:shape xmlns:r="http://schemas.openxmlformats.org/officeDocument/2006/relationships" type="upArrow" r:blip="">
          <dgm:adjLst/>
        </dgm:shape>
        <dgm:presOf/>
        <dgm:constrLst/>
        <dgm:ruleLst/>
      </dgm:layoutNode>
      <dgm:layoutNode name="upArrowText" styleLbl="revTx">
        <dgm:varLst>
          <dgm:chMax val="0"/>
          <dgm:bulletEnabled val="1"/>
        </dgm:varLst>
        <dgm:choose name="Name10">
          <dgm:if name="Name11" axis="root des" ptType="all node" func="maxDepth" op="gt" val="1">
            <dgm:alg type="tx">
              <dgm:param type="parTxLTRAlign" val="l"/>
              <dgm:param type="parTxRTLAlign" val="r"/>
              <dgm:param type="txAnchorVertCh" val="mid"/>
            </dgm:alg>
          </dgm:if>
          <dgm:else name="Name12">
            <dgm:choose name="Name13">
              <dgm:if name="Name14" func="var" arg="dir" op="equ" val="norm">
                <dgm:alg type="tx">
                  <dgm:param type="parTxLTRAlign" val="l"/>
                  <dgm:param type="parTxRTLAlign" val="l"/>
                  <dgm:param type="txAnchorVertCh" val="mid"/>
                </dgm:alg>
              </dgm:if>
              <dgm:else name="Name15">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forEach name="Name16" axis="ch" ptType="node" st="2"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chMax val="0"/>
          <dgm:bulletEnabled val="1"/>
        </dgm:varLst>
        <dgm:choose name="Name17">
          <dgm:if name="Name18" axis="root des" ptType="all node" func="maxDepth" op="gt" val="1">
            <dgm:alg type="tx">
              <dgm:param type="parTxLTRAlign" val="l"/>
              <dgm:param type="parTxRTLAlign" val="r"/>
              <dgm:param type="txAnchorVertCh" val="mid"/>
            </dgm:alg>
          </dgm:if>
          <dgm:else name="Name19">
            <dgm:choose name="Name20">
              <dgm:if name="Name21" func="var" arg="dir" op="equ" val="norm">
                <dgm:alg type="tx">
                  <dgm:param type="parTxLTRAlign" val="l"/>
                  <dgm:param type="parTxRTLAlign" val="l"/>
                  <dgm:param type="txAnchorVertCh" val="mid"/>
                </dgm:alg>
              </dgm:if>
              <dgm:else name="Name22">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5.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9.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9350D0-B016-45D5-83C4-78A3BA2CF5A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5C3EFF26-2928-4841-B18F-1C046BFE552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5FD504B-C88B-4878-9600-55C8B8D265A9}" type="datetimeFigureOut">
              <a:rPr lang="en-IN" smtClean="0"/>
              <a:t>21-08-2025</a:t>
            </a:fld>
            <a:endParaRPr lang="en-IN"/>
          </a:p>
        </p:txBody>
      </p:sp>
      <p:sp>
        <p:nvSpPr>
          <p:cNvPr id="4" name="Footer Placeholder 3">
            <a:extLst>
              <a:ext uri="{FF2B5EF4-FFF2-40B4-BE49-F238E27FC236}">
                <a16:creationId xmlns:a16="http://schemas.microsoft.com/office/drawing/2014/main" id="{7DC80E36-79AA-4D96-9BD5-81A5B5FC500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539B26FC-3F82-43C6-9D44-020D21E8084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14B0862-A0ED-47C5-A4F5-EB6A1BC5CE73}" type="slidenum">
              <a:rPr lang="en-IN" smtClean="0"/>
              <a:t>‹#›</a:t>
            </a:fld>
            <a:endParaRPr lang="en-IN"/>
          </a:p>
        </p:txBody>
      </p:sp>
    </p:spTree>
    <p:extLst>
      <p:ext uri="{BB962C8B-B14F-4D97-AF65-F5344CB8AC3E}">
        <p14:creationId xmlns:p14="http://schemas.microsoft.com/office/powerpoint/2010/main" val="1302985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21/08/2025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pPr/>
              <a:t>45</a:t>
            </a:fld>
            <a:endParaRPr lang="en-US"/>
          </a:p>
        </p:txBody>
      </p:sp>
    </p:spTree>
    <p:extLst>
      <p:ext uri="{BB962C8B-B14F-4D97-AF65-F5344CB8AC3E}">
        <p14:creationId xmlns:p14="http://schemas.microsoft.com/office/powerpoint/2010/main" val="17446413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C79BDEF-6165-4E72-B1A6-6E8034CEC248}" type="slidenum">
              <a:rPr lang="en-US" smtClean="0"/>
              <a:t>54</a:t>
            </a:fld>
            <a:endParaRPr lang="en-US"/>
          </a:p>
        </p:txBody>
      </p:sp>
    </p:spTree>
    <p:extLst>
      <p:ext uri="{BB962C8B-B14F-4D97-AF65-F5344CB8AC3E}">
        <p14:creationId xmlns:p14="http://schemas.microsoft.com/office/powerpoint/2010/main" val="40275153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C79BDEF-6165-4E72-B1A6-6E8034CEC248}" type="slidenum">
              <a:rPr lang="en-US" smtClean="0"/>
              <a:t>60</a:t>
            </a:fld>
            <a:endParaRPr lang="en-US"/>
          </a:p>
        </p:txBody>
      </p:sp>
    </p:spTree>
    <p:extLst>
      <p:ext uri="{BB962C8B-B14F-4D97-AF65-F5344CB8AC3E}">
        <p14:creationId xmlns:p14="http://schemas.microsoft.com/office/powerpoint/2010/main" val="40646385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79BDEF-6165-4E72-B1A6-6E8034CEC248}" type="slidenum">
              <a:rPr lang="en-US" smtClean="0"/>
              <a:t>67</a:t>
            </a:fld>
            <a:endParaRPr lang="en-US"/>
          </a:p>
        </p:txBody>
      </p:sp>
    </p:spTree>
    <p:extLst>
      <p:ext uri="{BB962C8B-B14F-4D97-AF65-F5344CB8AC3E}">
        <p14:creationId xmlns:p14="http://schemas.microsoft.com/office/powerpoint/2010/main" val="3556037687"/>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7.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3.png"/><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4.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rgbClr val="7B3E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rgbClr val="7B3E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endParaRPr lang="en-US" dirty="0"/>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pic>
        <p:nvPicPr>
          <p:cNvPr id="31" name="Picture 30">
            <a:extLst>
              <a:ext uri="{FF2B5EF4-FFF2-40B4-BE49-F238E27FC236}">
                <a16:creationId xmlns:a16="http://schemas.microsoft.com/office/drawing/2014/main" id="{036D56FE-CA91-4481-9096-27448303AC20}"/>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34" name="Picture 33">
            <a:extLst>
              <a:ext uri="{FF2B5EF4-FFF2-40B4-BE49-F238E27FC236}">
                <a16:creationId xmlns:a16="http://schemas.microsoft.com/office/drawing/2014/main" id="{356D7B7B-531F-408A-988D-AF8B227BBAEF}"/>
              </a:ext>
            </a:extLst>
          </p:cNvPr>
          <p:cNvPicPr>
            <a:picLocks noChangeAspect="1"/>
          </p:cNvPicPr>
          <p:nvPr userDrawn="1"/>
        </p:nvPicPr>
        <p:blipFill rotWithShape="1">
          <a:blip r:embed="rId10"/>
          <a:srcRect l="48200" t="56813" r="42065" b="21843"/>
          <a:stretch/>
        </p:blipFill>
        <p:spPr>
          <a:xfrm>
            <a:off x="12261755" y="20384"/>
            <a:ext cx="1485900" cy="1832587"/>
          </a:xfrm>
          <a:prstGeom prst="rect">
            <a:avLst/>
          </a:prstGeom>
        </p:spPr>
      </p:pic>
      <p:pic>
        <p:nvPicPr>
          <p:cNvPr id="35" name="Picture 2" descr="Best Courses after BBA: What to Do After BBA? [2021] - Leverage Edu">
            <a:extLst>
              <a:ext uri="{FF2B5EF4-FFF2-40B4-BE49-F238E27FC236}">
                <a16:creationId xmlns:a16="http://schemas.microsoft.com/office/drawing/2014/main" id="{C84296FC-27D3-4D0C-8F2A-19BD3B9C2C0A}"/>
              </a:ext>
            </a:extLst>
          </p:cNvPr>
          <p:cNvPicPr>
            <a:picLocks noChangeAspect="1" noChangeArrowheads="1"/>
          </p:cNvPicPr>
          <p:nvPr userDrawn="1"/>
        </p:nvPicPr>
        <p:blipFill>
          <a:blip r:embed="rId11"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129201" y="2183713"/>
            <a:ext cx="2741932" cy="179097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8352327-8573-44E4-BC8A-4B66E1AC2BFC}"/>
              </a:ext>
            </a:extLst>
          </p:cNvPr>
          <p:cNvSpPr txBox="1"/>
          <p:nvPr userDrawn="1"/>
        </p:nvSpPr>
        <p:spPr>
          <a:xfrm>
            <a:off x="1837677" y="5513531"/>
            <a:ext cx="2885726" cy="338554"/>
          </a:xfrm>
          <a:prstGeom prst="rect">
            <a:avLst/>
          </a:prstGeom>
          <a:noFill/>
        </p:spPr>
        <p:txBody>
          <a:bodyPr wrap="none" rtlCol="0">
            <a:spAutoFit/>
          </a:bodyPr>
          <a:lstStyle/>
          <a:p>
            <a:r>
              <a:rPr lang="en-US" sz="1600" kern="1200" dirty="0">
                <a:solidFill>
                  <a:schemeClr val="tx1"/>
                </a:solidFill>
                <a:latin typeface="+mn-lt"/>
                <a:ea typeface="+mn-ea"/>
                <a:cs typeface="+mn-cs"/>
              </a:rPr>
              <a:t>Darshan Institute of Management</a:t>
            </a:r>
          </a:p>
        </p:txBody>
      </p:sp>
      <p:sp>
        <p:nvSpPr>
          <p:cNvPr id="33" name="TextBox 32">
            <a:extLst>
              <a:ext uri="{FF2B5EF4-FFF2-40B4-BE49-F238E27FC236}">
                <a16:creationId xmlns:a16="http://schemas.microsoft.com/office/drawing/2014/main" id="{652A26CE-C2B2-4553-9CC0-8620278D8D2A}"/>
              </a:ext>
            </a:extLst>
          </p:cNvPr>
          <p:cNvSpPr txBox="1"/>
          <p:nvPr userDrawn="1"/>
        </p:nvSpPr>
        <p:spPr>
          <a:xfrm>
            <a:off x="1837677" y="5226051"/>
            <a:ext cx="4015516" cy="341632"/>
          </a:xfrm>
          <a:prstGeom prst="rect">
            <a:avLst/>
          </a:prstGeom>
          <a:noFill/>
        </p:spPr>
        <p:txBody>
          <a:bodyPr wrap="square" rtlCol="0">
            <a:spAutoFit/>
          </a:bodyPr>
          <a:lstStyle/>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lang="en-US" sz="1800" b="1" kern="1200" noProof="0" dirty="0">
                <a:gradFill flip="none" rotWithShape="1">
                  <a:gsLst>
                    <a:gs pos="10000">
                      <a:schemeClr val="accent6">
                        <a:lumMod val="50000"/>
                      </a:schemeClr>
                    </a:gs>
                    <a:gs pos="100000">
                      <a:schemeClr val="accent6"/>
                    </a:gs>
                  </a:gsLst>
                  <a:lin ang="0" scaled="1"/>
                  <a:tileRect/>
                </a:gradFill>
                <a:effectLst/>
                <a:latin typeface="+mn-lt"/>
                <a:ea typeface="+mn-ea"/>
                <a:cs typeface="+mn-cs"/>
              </a:rPr>
              <a:t>CA Dhaval Simejiya</a:t>
            </a:r>
            <a:endParaRPr lang="en-IN" dirty="0"/>
          </a:p>
        </p:txBody>
      </p:sp>
      <p:sp>
        <p:nvSpPr>
          <p:cNvPr id="37" name="TextBox 36">
            <a:extLst>
              <a:ext uri="{FF2B5EF4-FFF2-40B4-BE49-F238E27FC236}">
                <a16:creationId xmlns:a16="http://schemas.microsoft.com/office/drawing/2014/main" id="{288CCE58-B84B-444D-BB86-129C416D88C6}"/>
              </a:ext>
            </a:extLst>
          </p:cNvPr>
          <p:cNvSpPr txBox="1"/>
          <p:nvPr userDrawn="1"/>
        </p:nvSpPr>
        <p:spPr>
          <a:xfrm>
            <a:off x="2179541" y="6162863"/>
            <a:ext cx="3735997" cy="313932"/>
          </a:xfrm>
          <a:prstGeom prst="rect">
            <a:avLst/>
          </a:prstGeom>
          <a:noFill/>
        </p:spPr>
        <p:txBody>
          <a:bodyPr wrap="square" rtlCol="0">
            <a:spAutoFit/>
          </a:bodyPr>
          <a:lstStyle/>
          <a:p>
            <a:pPr marL="0" marR="0" lvl="0" indent="0" algn="l"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lang="en-US" sz="1600" b="0" kern="1200" baseline="0" dirty="0">
                <a:solidFill>
                  <a:schemeClr val="tx1"/>
                </a:solidFill>
                <a:latin typeface="Roboto Condensed Light" panose="02000000000000000000" pitchFamily="2" charset="0"/>
                <a:ea typeface="Roboto Condensed Light" panose="02000000000000000000" pitchFamily="2" charset="0"/>
                <a:cs typeface="+mn-cs"/>
              </a:rPr>
              <a:t>dhaval.simejiya@darshan.ac.in</a:t>
            </a:r>
          </a:p>
        </p:txBody>
      </p:sp>
      <p:sp>
        <p:nvSpPr>
          <p:cNvPr id="38" name="TextBox 37">
            <a:extLst>
              <a:ext uri="{FF2B5EF4-FFF2-40B4-BE49-F238E27FC236}">
                <a16:creationId xmlns:a16="http://schemas.microsoft.com/office/drawing/2014/main" id="{87AD059A-D055-4F59-892F-D82879B4778B}"/>
              </a:ext>
            </a:extLst>
          </p:cNvPr>
          <p:cNvSpPr txBox="1"/>
          <p:nvPr userDrawn="1"/>
        </p:nvSpPr>
        <p:spPr>
          <a:xfrm>
            <a:off x="2179541" y="6418570"/>
            <a:ext cx="3735997" cy="338554"/>
          </a:xfrm>
          <a:prstGeom prst="rect">
            <a:avLst/>
          </a:prstGeom>
          <a:noFill/>
        </p:spPr>
        <p:txBody>
          <a:bodyPr wrap="square" rtlCol="0">
            <a:spAutoFit/>
          </a:bodyPr>
          <a:lstStyle/>
          <a:p>
            <a:r>
              <a:rPr lang="en-US" sz="1600" b="0" kern="1200" baseline="0" dirty="0">
                <a:solidFill>
                  <a:schemeClr val="tx1"/>
                </a:solidFill>
                <a:latin typeface="Roboto Condensed Light" panose="02000000000000000000" pitchFamily="2" charset="0"/>
                <a:ea typeface="Roboto Condensed Light" panose="02000000000000000000" pitchFamily="2" charset="0"/>
                <a:cs typeface="+mn-cs"/>
              </a:rPr>
              <a:t>9904325008</a:t>
            </a:r>
            <a:endParaRPr lang="en-IN" sz="1600" b="0" kern="1200" baseline="0" dirty="0">
              <a:solidFill>
                <a:schemeClr val="tx1"/>
              </a:solidFill>
              <a:latin typeface="Roboto Condensed Light" panose="02000000000000000000" pitchFamily="2" charset="0"/>
              <a:ea typeface="Roboto Condensed Light" panose="02000000000000000000" pitchFamily="2" charset="0"/>
              <a:cs typeface="+mn-cs"/>
            </a:endParaRPr>
          </a:p>
        </p:txBody>
      </p:sp>
    </p:spTree>
    <p:extLst>
      <p:ext uri="{BB962C8B-B14F-4D97-AF65-F5344CB8AC3E}">
        <p14:creationId xmlns:p14="http://schemas.microsoft.com/office/powerpoint/2010/main" val="2731625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9A329F3-B4EA-403B-BD1C-FDD65D8E9D3F}"/>
              </a:ext>
            </a:extLst>
          </p:cNvPr>
          <p:cNvGrpSpPr/>
          <p:nvPr userDrawn="1"/>
        </p:nvGrpSpPr>
        <p:grpSpPr>
          <a:xfrm>
            <a:off x="10721798" y="852808"/>
            <a:ext cx="1339023" cy="407045"/>
            <a:chOff x="10721798" y="852808"/>
            <a:chExt cx="1339023" cy="407045"/>
          </a:xfrm>
        </p:grpSpPr>
        <p:pic>
          <p:nvPicPr>
            <p:cNvPr id="16" name="Picture 15">
              <a:extLst>
                <a:ext uri="{FF2B5EF4-FFF2-40B4-BE49-F238E27FC236}">
                  <a16:creationId xmlns:a16="http://schemas.microsoft.com/office/drawing/2014/main" id="{F0325C5E-F004-43A9-9277-53A0BD206A7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4B63808E-204C-4894-A747-B51DDC7425C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78" y="782420"/>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chemeClr val="tx1"/>
                </a:solidFill>
              </a:defRPr>
            </a:lvl1pPr>
            <a:lvl2pPr marL="809625" indent="-352425" algn="just">
              <a:buClr>
                <a:schemeClr val="accent6"/>
              </a:buClr>
              <a:buFont typeface="Wingdings 3" panose="05040102010807070707" pitchFamily="18" charset="2"/>
              <a:buChar char=""/>
              <a:defRPr sz="2600">
                <a:solidFill>
                  <a:schemeClr val="tx1"/>
                </a:solidFill>
              </a:defRPr>
            </a:lvl2pPr>
            <a:lvl3pPr marL="1143000" indent="-228600" algn="just">
              <a:buClr>
                <a:schemeClr val="accent6"/>
              </a:buClr>
              <a:buFont typeface="Wingdings" panose="05000000000000000000" pitchFamily="2" charset="2"/>
              <a:buChar char="§"/>
              <a:defRPr sz="2400">
                <a:solidFill>
                  <a:schemeClr val="tx1"/>
                </a:solidFill>
              </a:defRPr>
            </a:lvl3pPr>
            <a:lvl4pPr algn="just">
              <a:buClr>
                <a:schemeClr val="accent6"/>
              </a:buClr>
              <a:defRPr sz="2200">
                <a:solidFill>
                  <a:schemeClr val="tx1"/>
                </a:solidFill>
              </a:defRPr>
            </a:lvl4pPr>
            <a:lvl5pPr algn="just">
              <a:buClr>
                <a:schemeClr val="accent6"/>
              </a:buClr>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itle 1">
            <a:extLst>
              <a:ext uri="{FF2B5EF4-FFF2-40B4-BE49-F238E27FC236}">
                <a16:creationId xmlns:a16="http://schemas.microsoft.com/office/drawing/2014/main" id="{AEEDD05E-BB00-4E1D-893D-80FB13A36C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endParaRPr lang="en-US" dirty="0"/>
          </a:p>
        </p:txBody>
      </p:sp>
      <p:sp>
        <p:nvSpPr>
          <p:cNvPr id="8" name="Rectangle: Rounded Corners 9">
            <a:extLst>
              <a:ext uri="{FF2B5EF4-FFF2-40B4-BE49-F238E27FC236}">
                <a16:creationId xmlns:a16="http://schemas.microsoft.com/office/drawing/2014/main" id="{B8DB9787-621D-4DB4-0F1F-5907D4BAB794}"/>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Date Placeholder 1">
            <a:extLst>
              <a:ext uri="{FF2B5EF4-FFF2-40B4-BE49-F238E27FC236}">
                <a16:creationId xmlns:a16="http://schemas.microsoft.com/office/drawing/2014/main" id="{C154C784-0796-0465-83A9-CD821DCD82D7}"/>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solidFill>
                  <a:schemeClr val="tx1">
                    <a:lumMod val="90000"/>
                    <a:lumOff val="10000"/>
                  </a:schemeClr>
                </a:solidFill>
                <a:latin typeface="Roboto Condensed Light" panose="02000000000000000000" pitchFamily="2" charset="0"/>
                <a:ea typeface="Roboto Condensed Light" panose="02000000000000000000" pitchFamily="2" charset="0"/>
              </a:rPr>
              <a:t>CA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Dhaval Simejiya</a:t>
            </a:r>
          </a:p>
        </p:txBody>
      </p:sp>
      <p:sp>
        <p:nvSpPr>
          <p:cNvPr id="11" name="Slide Number Placeholder 3">
            <a:extLst>
              <a:ext uri="{FF2B5EF4-FFF2-40B4-BE49-F238E27FC236}">
                <a16:creationId xmlns:a16="http://schemas.microsoft.com/office/drawing/2014/main" id="{70CC3ECD-25F4-746F-DFF0-294B4C876B28}"/>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5" name="Footer Placeholder 2">
            <a:extLst>
              <a:ext uri="{FF2B5EF4-FFF2-40B4-BE49-F238E27FC236}">
                <a16:creationId xmlns:a16="http://schemas.microsoft.com/office/drawing/2014/main" id="{3E83EBEE-E776-E33D-C471-A4AA76780BD4}"/>
              </a:ext>
            </a:extLst>
          </p:cNvPr>
          <p:cNvSpPr txBox="1">
            <a:spLocks/>
          </p:cNvSpPr>
          <p:nvPr userDrawn="1"/>
        </p:nvSpPr>
        <p:spPr>
          <a:xfrm>
            <a:off x="4038599" y="6604000"/>
            <a:ext cx="4786901"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#2301CS594 (BFSI)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Banking, Financial Services and Insurance</a:t>
            </a:r>
          </a:p>
        </p:txBody>
      </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619E228D-B2BD-4EFA-9FE9-86D81DDC600E}"/>
              </a:ext>
            </a:extLst>
          </p:cNvPr>
          <p:cNvGrpSpPr/>
          <p:nvPr userDrawn="1"/>
        </p:nvGrpSpPr>
        <p:grpSpPr>
          <a:xfrm>
            <a:off x="10721797" y="6047527"/>
            <a:ext cx="1339023" cy="407045"/>
            <a:chOff x="10721798" y="852808"/>
            <a:chExt cx="1339023" cy="407045"/>
          </a:xfrm>
        </p:grpSpPr>
        <p:pic>
          <p:nvPicPr>
            <p:cNvPr id="25" name="Picture 2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8356C418-17D6-4697-8856-5F7FEACD43D9}"/>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chemeClr val="tx1"/>
                </a:solidFill>
              </a:defRPr>
            </a:lvl1pPr>
            <a:lvl2pPr marL="809625" indent="-352425" algn="just">
              <a:buClr>
                <a:schemeClr val="accent6"/>
              </a:buClr>
              <a:buFont typeface="Wingdings 3" panose="05040102010807070707" pitchFamily="18" charset="2"/>
              <a:buChar char=""/>
              <a:defRPr sz="2600">
                <a:solidFill>
                  <a:schemeClr val="tx1"/>
                </a:solidFill>
              </a:defRPr>
            </a:lvl2pPr>
            <a:lvl3pPr marL="1143000" indent="-228600" algn="just">
              <a:buClr>
                <a:schemeClr val="accent6"/>
              </a:buClr>
              <a:buFont typeface="Wingdings" panose="05000000000000000000" pitchFamily="2" charset="2"/>
              <a:buChar char="§"/>
              <a:defRPr sz="2400">
                <a:solidFill>
                  <a:schemeClr val="tx1"/>
                </a:solidFill>
              </a:defRPr>
            </a:lvl3pPr>
            <a:lvl4pPr algn="just">
              <a:buClr>
                <a:schemeClr val="accent6"/>
              </a:buClr>
              <a:defRPr sz="2200">
                <a:solidFill>
                  <a:schemeClr val="tx1"/>
                </a:solidFill>
              </a:defRPr>
            </a:lvl4pPr>
            <a:lvl5pPr algn="just">
              <a:buClr>
                <a:schemeClr val="accent6"/>
              </a:buClr>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itle 1">
            <a:extLst>
              <a:ext uri="{FF2B5EF4-FFF2-40B4-BE49-F238E27FC236}">
                <a16:creationId xmlns:a16="http://schemas.microsoft.com/office/drawing/2014/main" id="{F17D6F20-9DD5-4D3A-B4C8-A6F015FED53A}"/>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endParaRPr lang="en-US" dirty="0"/>
          </a:p>
        </p:txBody>
      </p:sp>
      <p:sp>
        <p:nvSpPr>
          <p:cNvPr id="2" name="Rectangle: Rounded Corners 9">
            <a:extLst>
              <a:ext uri="{FF2B5EF4-FFF2-40B4-BE49-F238E27FC236}">
                <a16:creationId xmlns:a16="http://schemas.microsoft.com/office/drawing/2014/main" id="{7A089CE9-D95D-51C3-B432-15DE40E3D8C8}"/>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a:extLst>
              <a:ext uri="{FF2B5EF4-FFF2-40B4-BE49-F238E27FC236}">
                <a16:creationId xmlns:a16="http://schemas.microsoft.com/office/drawing/2014/main" id="{8047E7BC-54F1-2D75-4D25-38B52BFFB510}"/>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6" name="Footer Placeholder 2">
            <a:extLst>
              <a:ext uri="{FF2B5EF4-FFF2-40B4-BE49-F238E27FC236}">
                <a16:creationId xmlns:a16="http://schemas.microsoft.com/office/drawing/2014/main" id="{F4D06779-6AB4-542D-E789-2CC2BDAD58DF}"/>
              </a:ext>
            </a:extLst>
          </p:cNvPr>
          <p:cNvSpPr txBox="1">
            <a:spLocks/>
          </p:cNvSpPr>
          <p:nvPr userDrawn="1"/>
        </p:nvSpPr>
        <p:spPr>
          <a:xfrm>
            <a:off x="4038599" y="6604000"/>
            <a:ext cx="4786901"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#2301CS594 (BFSI)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Banking, Financial Services and Insurance</a:t>
            </a:r>
          </a:p>
        </p:txBody>
      </p:sp>
      <p:sp>
        <p:nvSpPr>
          <p:cNvPr id="5" name="Date Placeholder 1">
            <a:extLst>
              <a:ext uri="{FF2B5EF4-FFF2-40B4-BE49-F238E27FC236}">
                <a16:creationId xmlns:a16="http://schemas.microsoft.com/office/drawing/2014/main" id="{92E793D9-5B4F-9DAB-F1DC-578721ADACFD}"/>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solidFill>
                  <a:schemeClr val="tx1">
                    <a:lumMod val="90000"/>
                    <a:lumOff val="10000"/>
                  </a:schemeClr>
                </a:solidFill>
                <a:latin typeface="Roboto Condensed Light" panose="02000000000000000000" pitchFamily="2" charset="0"/>
                <a:ea typeface="Roboto Condensed Light" panose="02000000000000000000" pitchFamily="2" charset="0"/>
              </a:rPr>
              <a:t>CA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Dhaval Simejiya</a:t>
            </a:r>
          </a:p>
        </p:txBody>
      </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E04132C-088A-4457-A3C3-1DC6427585FC}"/>
              </a:ext>
            </a:extLst>
          </p:cNvPr>
          <p:cNvGrpSpPr/>
          <p:nvPr userDrawn="1"/>
        </p:nvGrpSpPr>
        <p:grpSpPr>
          <a:xfrm>
            <a:off x="131179" y="6047527"/>
            <a:ext cx="1339023" cy="407045"/>
            <a:chOff x="10721798" y="852808"/>
            <a:chExt cx="1339023" cy="407045"/>
          </a:xfrm>
        </p:grpSpPr>
        <p:pic>
          <p:nvPicPr>
            <p:cNvPr id="25" name="Picture 24">
              <a:extLst>
                <a:ext uri="{FF2B5EF4-FFF2-40B4-BE49-F238E27FC236}">
                  <a16:creationId xmlns:a16="http://schemas.microsoft.com/office/drawing/2014/main" id="{B49C31A0-0173-45C3-B715-F73A797EA6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endParaRPr lang="en-US" dirty="0"/>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687C7B7-5AC0-4DE5-8CD4-EF33EEB726F9}"/>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chemeClr val="tx1"/>
                </a:solidFill>
              </a:defRPr>
            </a:lvl1pPr>
            <a:lvl2pPr marL="809625" indent="-352425" algn="just">
              <a:buClr>
                <a:schemeClr val="accent6"/>
              </a:buClr>
              <a:buFont typeface="Wingdings 3" panose="05040102010807070707" pitchFamily="18" charset="2"/>
              <a:buChar char=""/>
              <a:defRPr sz="2600">
                <a:solidFill>
                  <a:schemeClr val="tx1"/>
                </a:solidFill>
              </a:defRPr>
            </a:lvl2pPr>
            <a:lvl3pPr marL="1143000" indent="-228600" algn="just">
              <a:buClr>
                <a:schemeClr val="accent6"/>
              </a:buClr>
              <a:buFont typeface="Wingdings" panose="05000000000000000000" pitchFamily="2" charset="2"/>
              <a:buChar char="§"/>
              <a:defRPr sz="2400">
                <a:solidFill>
                  <a:schemeClr val="tx1"/>
                </a:solidFill>
              </a:defRPr>
            </a:lvl3pPr>
            <a:lvl4pPr algn="just">
              <a:buClr>
                <a:schemeClr val="accent6"/>
              </a:buClr>
              <a:defRPr sz="2200">
                <a:solidFill>
                  <a:schemeClr val="tx1"/>
                </a:solidFill>
              </a:defRPr>
            </a:lvl4pPr>
            <a:lvl5pPr algn="just">
              <a:buClr>
                <a:schemeClr val="accent6"/>
              </a:buClr>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Rounded Corners 9">
            <a:extLst>
              <a:ext uri="{FF2B5EF4-FFF2-40B4-BE49-F238E27FC236}">
                <a16:creationId xmlns:a16="http://schemas.microsoft.com/office/drawing/2014/main" id="{DD717DAE-2FDC-A75C-A56A-8BE120411947}"/>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3">
            <a:extLst>
              <a:ext uri="{FF2B5EF4-FFF2-40B4-BE49-F238E27FC236}">
                <a16:creationId xmlns:a16="http://schemas.microsoft.com/office/drawing/2014/main" id="{7BAF53DE-05B1-E3D1-EFA0-5476BA5BBDCF}"/>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6" name="Footer Placeholder 2">
            <a:extLst>
              <a:ext uri="{FF2B5EF4-FFF2-40B4-BE49-F238E27FC236}">
                <a16:creationId xmlns:a16="http://schemas.microsoft.com/office/drawing/2014/main" id="{D12A163F-4307-0C8F-90B2-B596319B3C5B}"/>
              </a:ext>
            </a:extLst>
          </p:cNvPr>
          <p:cNvSpPr txBox="1">
            <a:spLocks/>
          </p:cNvSpPr>
          <p:nvPr userDrawn="1"/>
        </p:nvSpPr>
        <p:spPr>
          <a:xfrm>
            <a:off x="4038599" y="6604000"/>
            <a:ext cx="4786901"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#2301CS594 (BFSI)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Banking, Financial Services and Insurance</a:t>
            </a:r>
          </a:p>
        </p:txBody>
      </p:sp>
      <p:sp>
        <p:nvSpPr>
          <p:cNvPr id="7" name="Date Placeholder 1">
            <a:extLst>
              <a:ext uri="{FF2B5EF4-FFF2-40B4-BE49-F238E27FC236}">
                <a16:creationId xmlns:a16="http://schemas.microsoft.com/office/drawing/2014/main" id="{0CA4EFF1-B30E-527D-3654-09F980DDC84A}"/>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solidFill>
                  <a:schemeClr val="tx1">
                    <a:lumMod val="90000"/>
                    <a:lumOff val="10000"/>
                  </a:schemeClr>
                </a:solidFill>
                <a:latin typeface="Roboto Condensed Light" panose="02000000000000000000" pitchFamily="2" charset="0"/>
                <a:ea typeface="Roboto Condensed Light" panose="02000000000000000000" pitchFamily="2" charset="0"/>
              </a:rPr>
              <a:t>CA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Dhaval Simejiya</a:t>
            </a:r>
          </a:p>
        </p:txBody>
      </p: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3" name="Freeform 17">
            <a:extLst>
              <a:ext uri="{FF2B5EF4-FFF2-40B4-BE49-F238E27FC236}">
                <a16:creationId xmlns:a16="http://schemas.microsoft.com/office/drawing/2014/main" id="{3027D2AD-0E13-43EE-BAA8-1606FF4E22D8}"/>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rgbClr val="7B3E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9000">
                      <a:schemeClr val="accent6">
                        <a:lumMod val="50000"/>
                      </a:schemeClr>
                    </a:gs>
                    <a:gs pos="100000">
                      <a:schemeClr val="accent6"/>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grpSp>
        <p:nvGrpSpPr>
          <p:cNvPr id="10" name="Group 9">
            <a:extLst>
              <a:ext uri="{FF2B5EF4-FFF2-40B4-BE49-F238E27FC236}">
                <a16:creationId xmlns:a16="http://schemas.microsoft.com/office/drawing/2014/main" id="{0172331D-9941-4AAA-9E63-80BDD4CEBDAB}"/>
              </a:ext>
            </a:extLst>
          </p:cNvPr>
          <p:cNvGrpSpPr/>
          <p:nvPr userDrawn="1"/>
        </p:nvGrpSpPr>
        <p:grpSpPr>
          <a:xfrm>
            <a:off x="9874840" y="6078930"/>
            <a:ext cx="2078404" cy="631807"/>
            <a:chOff x="10721798" y="852808"/>
            <a:chExt cx="1339023" cy="407045"/>
          </a:xfrm>
        </p:grpSpPr>
        <p:pic>
          <p:nvPicPr>
            <p:cNvPr id="15" name="Picture 14">
              <a:extLst>
                <a:ext uri="{FF2B5EF4-FFF2-40B4-BE49-F238E27FC236}">
                  <a16:creationId xmlns:a16="http://schemas.microsoft.com/office/drawing/2014/main" id="{9B62E625-0FE4-4129-B936-172760D4BFC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6" name="Rectangle 15">
              <a:extLst>
                <a:ext uri="{FF2B5EF4-FFF2-40B4-BE49-F238E27FC236}">
                  <a16:creationId xmlns:a16="http://schemas.microsoft.com/office/drawing/2014/main" id="{E733AEFD-AF8F-46BF-9E8E-F6573B757CF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1AA5C57A-F840-488A-AACF-E658D398FCEC}"/>
              </a:ext>
            </a:extLst>
          </p:cNvPr>
          <p:cNvGrpSpPr/>
          <p:nvPr userDrawn="1"/>
        </p:nvGrpSpPr>
        <p:grpSpPr>
          <a:xfrm>
            <a:off x="10304203" y="212531"/>
            <a:ext cx="1649043" cy="501287"/>
            <a:chOff x="10721798" y="852808"/>
            <a:chExt cx="1339023" cy="407045"/>
          </a:xfrm>
        </p:grpSpPr>
        <p:pic>
          <p:nvPicPr>
            <p:cNvPr id="15" name="Picture 14">
              <a:extLst>
                <a:ext uri="{FF2B5EF4-FFF2-40B4-BE49-F238E27FC236}">
                  <a16:creationId xmlns:a16="http://schemas.microsoft.com/office/drawing/2014/main" id="{1B8F12B0-F30C-4955-8E3F-625C9D2A74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8508BA0B-FE99-4953-98B0-D2708C070068}"/>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Rectangle: Rounded Corners 9">
            <a:extLst>
              <a:ext uri="{FF2B5EF4-FFF2-40B4-BE49-F238E27FC236}">
                <a16:creationId xmlns:a16="http://schemas.microsoft.com/office/drawing/2014/main" id="{FBA940FD-6B66-A230-BCB2-26ADED35E98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a:extLst>
              <a:ext uri="{FF2B5EF4-FFF2-40B4-BE49-F238E27FC236}">
                <a16:creationId xmlns:a16="http://schemas.microsoft.com/office/drawing/2014/main" id="{D61EF347-0853-080A-A852-B8E644D73412}"/>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5" name="Footer Placeholder 2">
            <a:extLst>
              <a:ext uri="{FF2B5EF4-FFF2-40B4-BE49-F238E27FC236}">
                <a16:creationId xmlns:a16="http://schemas.microsoft.com/office/drawing/2014/main" id="{64E056E0-127B-FA79-0626-481CBB238DA9}"/>
              </a:ext>
            </a:extLst>
          </p:cNvPr>
          <p:cNvSpPr txBox="1">
            <a:spLocks/>
          </p:cNvSpPr>
          <p:nvPr userDrawn="1"/>
        </p:nvSpPr>
        <p:spPr>
          <a:xfrm>
            <a:off x="4038599" y="6604000"/>
            <a:ext cx="4786901"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#2301CS594 (BFSI)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Banking, Financial Services and Insurance</a:t>
            </a:r>
          </a:p>
        </p:txBody>
      </p:sp>
      <p:sp>
        <p:nvSpPr>
          <p:cNvPr id="6" name="Date Placeholder 1">
            <a:extLst>
              <a:ext uri="{FF2B5EF4-FFF2-40B4-BE49-F238E27FC236}">
                <a16:creationId xmlns:a16="http://schemas.microsoft.com/office/drawing/2014/main" id="{7B457C0A-4C01-FF11-142E-E04AD70A9478}"/>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solidFill>
                  <a:schemeClr val="tx1">
                    <a:lumMod val="90000"/>
                    <a:lumOff val="10000"/>
                  </a:schemeClr>
                </a:solidFill>
                <a:latin typeface="Roboto Condensed Light" panose="02000000000000000000" pitchFamily="2" charset="0"/>
                <a:ea typeface="Roboto Condensed Light" panose="02000000000000000000" pitchFamily="2" charset="0"/>
              </a:rPr>
              <a:t>CA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Dhaval Simejiya</a:t>
            </a:r>
          </a:p>
        </p:txBody>
      </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Rectangle: Rounded Corners 9">
            <a:extLst>
              <a:ext uri="{FF2B5EF4-FFF2-40B4-BE49-F238E27FC236}">
                <a16:creationId xmlns:a16="http://schemas.microsoft.com/office/drawing/2014/main" id="{EBED3B24-BCC3-51CA-6DD4-44270E188EB3}"/>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a:extLst>
              <a:ext uri="{FF2B5EF4-FFF2-40B4-BE49-F238E27FC236}">
                <a16:creationId xmlns:a16="http://schemas.microsoft.com/office/drawing/2014/main" id="{35BBC6DE-1F71-2D86-B8B2-66BD37D566F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5" name="Footer Placeholder 2">
            <a:extLst>
              <a:ext uri="{FF2B5EF4-FFF2-40B4-BE49-F238E27FC236}">
                <a16:creationId xmlns:a16="http://schemas.microsoft.com/office/drawing/2014/main" id="{9CB853B6-9A88-0107-3437-7F38313D0337}"/>
              </a:ext>
            </a:extLst>
          </p:cNvPr>
          <p:cNvSpPr txBox="1">
            <a:spLocks/>
          </p:cNvSpPr>
          <p:nvPr userDrawn="1"/>
        </p:nvSpPr>
        <p:spPr>
          <a:xfrm>
            <a:off x="4038599" y="6604000"/>
            <a:ext cx="4786901"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#2301CS594 (BFSI)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Banking, Financial Services and Insurance</a:t>
            </a:r>
          </a:p>
        </p:txBody>
      </p:sp>
      <p:sp>
        <p:nvSpPr>
          <p:cNvPr id="6" name="Date Placeholder 1">
            <a:extLst>
              <a:ext uri="{FF2B5EF4-FFF2-40B4-BE49-F238E27FC236}">
                <a16:creationId xmlns:a16="http://schemas.microsoft.com/office/drawing/2014/main" id="{E1537A45-84E6-08F1-2B55-AE15D83864E8}"/>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solidFill>
                  <a:schemeClr val="tx1">
                    <a:lumMod val="90000"/>
                    <a:lumOff val="10000"/>
                  </a:schemeClr>
                </a:solidFill>
                <a:latin typeface="Roboto Condensed Light" panose="02000000000000000000" pitchFamily="2" charset="0"/>
                <a:ea typeface="Roboto Condensed Light" panose="02000000000000000000" pitchFamily="2" charset="0"/>
              </a:rPr>
              <a:t>CA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Dhaval Simejiya</a:t>
            </a:r>
          </a:p>
        </p:txBody>
      </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B770560A-7C36-4269-A8F2-0431E180EAD2}"/>
              </a:ext>
            </a:extLst>
          </p:cNvPr>
          <p:cNvGrpSpPr/>
          <p:nvPr userDrawn="1"/>
        </p:nvGrpSpPr>
        <p:grpSpPr>
          <a:xfrm>
            <a:off x="165802" y="5976558"/>
            <a:ext cx="1649043" cy="501287"/>
            <a:chOff x="10721798" y="852808"/>
            <a:chExt cx="1339023" cy="407045"/>
          </a:xfrm>
        </p:grpSpPr>
        <p:pic>
          <p:nvPicPr>
            <p:cNvPr id="15" name="Picture 14">
              <a:extLst>
                <a:ext uri="{FF2B5EF4-FFF2-40B4-BE49-F238E27FC236}">
                  <a16:creationId xmlns:a16="http://schemas.microsoft.com/office/drawing/2014/main" id="{BC0FB63F-CA11-4FFF-AE2F-90A20EC2490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837E217C-09B9-4F19-8BB8-BB4441141B5F}"/>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Rectangle: Rounded Corners 9">
            <a:extLst>
              <a:ext uri="{FF2B5EF4-FFF2-40B4-BE49-F238E27FC236}">
                <a16:creationId xmlns:a16="http://schemas.microsoft.com/office/drawing/2014/main" id="{3B2F58B1-2683-3AFF-5877-A84066A1F083}"/>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a:extLst>
              <a:ext uri="{FF2B5EF4-FFF2-40B4-BE49-F238E27FC236}">
                <a16:creationId xmlns:a16="http://schemas.microsoft.com/office/drawing/2014/main" id="{3EE96491-0FE3-F548-86D2-D6FF53080F06}"/>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5" name="Footer Placeholder 2">
            <a:extLst>
              <a:ext uri="{FF2B5EF4-FFF2-40B4-BE49-F238E27FC236}">
                <a16:creationId xmlns:a16="http://schemas.microsoft.com/office/drawing/2014/main" id="{D9B75249-29D9-9D97-8D81-655E2E4B3E4F}"/>
              </a:ext>
            </a:extLst>
          </p:cNvPr>
          <p:cNvSpPr txBox="1">
            <a:spLocks/>
          </p:cNvSpPr>
          <p:nvPr userDrawn="1"/>
        </p:nvSpPr>
        <p:spPr>
          <a:xfrm>
            <a:off x="4038599" y="6604000"/>
            <a:ext cx="4786901"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#2301CS594 (BFSI)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Banking, Financial Services and Insurance</a:t>
            </a:r>
          </a:p>
        </p:txBody>
      </p:sp>
      <p:sp>
        <p:nvSpPr>
          <p:cNvPr id="6" name="Date Placeholder 1">
            <a:extLst>
              <a:ext uri="{FF2B5EF4-FFF2-40B4-BE49-F238E27FC236}">
                <a16:creationId xmlns:a16="http://schemas.microsoft.com/office/drawing/2014/main" id="{75686500-911E-3E36-7CCD-F4024B0C2747}"/>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solidFill>
                  <a:schemeClr val="tx1">
                    <a:lumMod val="90000"/>
                    <a:lumOff val="10000"/>
                  </a:schemeClr>
                </a:solidFill>
                <a:latin typeface="Roboto Condensed Light" panose="02000000000000000000" pitchFamily="2" charset="0"/>
                <a:ea typeface="Roboto Condensed Light" panose="02000000000000000000" pitchFamily="2" charset="0"/>
              </a:rPr>
              <a:t>CA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Dhaval Simejiya</a:t>
            </a:r>
          </a:p>
        </p:txBody>
      </p:sp>
    </p:spTree>
    <p:extLst>
      <p:ext uri="{BB962C8B-B14F-4D97-AF65-F5344CB8AC3E}">
        <p14:creationId xmlns:p14="http://schemas.microsoft.com/office/powerpoint/2010/main" val="4243314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
        <p:nvSpPr>
          <p:cNvPr id="5" name="Rectangle: Rounded Corners 9">
            <a:extLst>
              <a:ext uri="{FF2B5EF4-FFF2-40B4-BE49-F238E27FC236}">
                <a16:creationId xmlns:a16="http://schemas.microsoft.com/office/drawing/2014/main" id="{FCD5BC29-3FCB-E2F3-232F-E41A662D1AE9}"/>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Slide Number Placeholder 3">
            <a:extLst>
              <a:ext uri="{FF2B5EF4-FFF2-40B4-BE49-F238E27FC236}">
                <a16:creationId xmlns:a16="http://schemas.microsoft.com/office/drawing/2014/main" id="{50ED9CF1-B280-46F3-AE33-5709DA17F145}"/>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3" name="Footer Placeholder 2">
            <a:extLst>
              <a:ext uri="{FF2B5EF4-FFF2-40B4-BE49-F238E27FC236}">
                <a16:creationId xmlns:a16="http://schemas.microsoft.com/office/drawing/2014/main" id="{5BE5D728-6FA6-9378-B59E-BED7578223F8}"/>
              </a:ext>
            </a:extLst>
          </p:cNvPr>
          <p:cNvSpPr txBox="1">
            <a:spLocks/>
          </p:cNvSpPr>
          <p:nvPr userDrawn="1"/>
        </p:nvSpPr>
        <p:spPr>
          <a:xfrm>
            <a:off x="4038599" y="6604000"/>
            <a:ext cx="4786901"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#2301CS594 (BFSI)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Banking, Financial Services and Insurance</a:t>
            </a:r>
          </a:p>
        </p:txBody>
      </p:sp>
      <p:sp>
        <p:nvSpPr>
          <p:cNvPr id="2" name="Date Placeholder 1">
            <a:extLst>
              <a:ext uri="{FF2B5EF4-FFF2-40B4-BE49-F238E27FC236}">
                <a16:creationId xmlns:a16="http://schemas.microsoft.com/office/drawing/2014/main" id="{2AEB6CD8-1721-1FBC-4D22-DE20771165D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solidFill>
                  <a:schemeClr val="tx1">
                    <a:lumMod val="90000"/>
                    <a:lumOff val="10000"/>
                  </a:schemeClr>
                </a:solidFill>
                <a:latin typeface="Roboto Condensed Light" panose="02000000000000000000" pitchFamily="2" charset="0"/>
                <a:ea typeface="Roboto Condensed Light" panose="02000000000000000000" pitchFamily="2" charset="0"/>
              </a:rPr>
              <a:t>CA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Dhaval Simejiya</a:t>
            </a:r>
          </a:p>
        </p:txBody>
      </p:sp>
    </p:spTree>
    <p:extLst>
      <p:ext uri="{BB962C8B-B14F-4D97-AF65-F5344CB8AC3E}">
        <p14:creationId xmlns:p14="http://schemas.microsoft.com/office/powerpoint/2010/main" val="331231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120944A5-8A5C-4E4A-B8EF-52E45D382D17}"/>
              </a:ext>
            </a:extLst>
          </p:cNvPr>
          <p:cNvPicPr>
            <a:picLocks noChangeAspect="1"/>
          </p:cNvPicPr>
          <p:nvPr userDrawn="1"/>
        </p:nvPicPr>
        <p:blipFill>
          <a:blip r:embed="rId2"/>
          <a:stretch>
            <a:fillRect/>
          </a:stretch>
        </p:blipFill>
        <p:spPr>
          <a:xfrm>
            <a:off x="0" y="0"/>
            <a:ext cx="12192000" cy="6836401"/>
          </a:xfrm>
          <a:prstGeom prst="rect">
            <a:avLst/>
          </a:prstGeom>
        </p:spPr>
      </p:pic>
      <p:sp>
        <p:nvSpPr>
          <p:cNvPr id="2" name="Rectangle 1">
            <a:extLst>
              <a:ext uri="{FF2B5EF4-FFF2-40B4-BE49-F238E27FC236}">
                <a16:creationId xmlns:a16="http://schemas.microsoft.com/office/drawing/2014/main" id="{1B2068EE-5C0B-7CBC-85EA-BEEDA30837F7}"/>
              </a:ext>
            </a:extLst>
          </p:cNvPr>
          <p:cNvSpPr/>
          <p:nvPr userDrawn="1"/>
        </p:nvSpPr>
        <p:spPr>
          <a:xfrm>
            <a:off x="836182" y="312624"/>
            <a:ext cx="4211279" cy="923330"/>
          </a:xfrm>
          <a:prstGeom prst="rect">
            <a:avLst/>
          </a:prstGeom>
          <a:noFill/>
        </p:spPr>
        <p:txBody>
          <a:bodyPr wrap="square" lIns="91440" tIns="45720" rIns="91440" bIns="45720">
            <a:spAutoFit/>
          </a:bodyPr>
          <a:lstStyle/>
          <a:p>
            <a:pPr algn="ctr"/>
            <a:r>
              <a:rPr lang="en-US" sz="5400" b="1" cap="none" spc="0" dirty="0">
                <a:ln w="22225">
                  <a:solidFill>
                    <a:schemeClr val="tx1"/>
                  </a:solidFill>
                  <a:prstDash val="solid"/>
                </a:ln>
                <a:solidFill>
                  <a:schemeClr val="accent6">
                    <a:lumMod val="50000"/>
                  </a:schemeClr>
                </a:solidFill>
                <a:effectLst/>
              </a:rPr>
              <a:t>THANK YOU</a:t>
            </a:r>
          </a:p>
        </p:txBody>
      </p:sp>
      <p:sp>
        <p:nvSpPr>
          <p:cNvPr id="3" name="TextBox 2">
            <a:extLst>
              <a:ext uri="{FF2B5EF4-FFF2-40B4-BE49-F238E27FC236}">
                <a16:creationId xmlns:a16="http://schemas.microsoft.com/office/drawing/2014/main" id="{5CF4CAA3-2310-5D4D-10EC-0106C5F187DE}"/>
              </a:ext>
            </a:extLst>
          </p:cNvPr>
          <p:cNvSpPr txBox="1"/>
          <p:nvPr userDrawn="1"/>
        </p:nvSpPr>
        <p:spPr>
          <a:xfrm>
            <a:off x="-150810" y="1235954"/>
            <a:ext cx="6185262" cy="1938992"/>
          </a:xfrm>
          <a:prstGeom prst="rect">
            <a:avLst/>
          </a:prstGeom>
          <a:noFill/>
        </p:spPr>
        <p:txBody>
          <a:bodyPr wrap="square">
            <a:spAutoFit/>
          </a:bodyPr>
          <a:lstStyle/>
          <a:p>
            <a:pPr algn="ctr"/>
            <a:r>
              <a:rPr lang="en-IN" sz="2400" dirty="0"/>
              <a:t>CA Dhaval Simejiya</a:t>
            </a:r>
          </a:p>
          <a:p>
            <a:pPr algn="ctr"/>
            <a:r>
              <a:rPr lang="en-IN" sz="2400" dirty="0"/>
              <a:t>Assistant Professor</a:t>
            </a:r>
          </a:p>
          <a:p>
            <a:pPr algn="ctr"/>
            <a:r>
              <a:rPr lang="en-IN" sz="2400" dirty="0"/>
              <a:t>Darshan Institute of Management</a:t>
            </a:r>
          </a:p>
          <a:p>
            <a:pPr algn="ctr"/>
            <a:r>
              <a:rPr lang="en-IN" sz="2400" dirty="0"/>
              <a:t>Darshan University, Rajkot</a:t>
            </a:r>
          </a:p>
          <a:p>
            <a:pPr algn="ctr"/>
            <a:r>
              <a:rPr lang="en-IN" sz="2400" dirty="0"/>
              <a:t>dhaval.simejiya@darshan.ac.in</a:t>
            </a:r>
          </a:p>
        </p:txBody>
      </p:sp>
    </p:spTree>
    <p:extLst>
      <p:ext uri="{BB962C8B-B14F-4D97-AF65-F5344CB8AC3E}">
        <p14:creationId xmlns:p14="http://schemas.microsoft.com/office/powerpoint/2010/main" val="85206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rgbClr val="7B3E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rgbClr val="7B3E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endParaRPr lang="en-US" dirty="0"/>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8">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036D56FE-CA91-4481-9096-27448303AC20}"/>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34" name="Picture 33">
            <a:extLst>
              <a:ext uri="{FF2B5EF4-FFF2-40B4-BE49-F238E27FC236}">
                <a16:creationId xmlns:a16="http://schemas.microsoft.com/office/drawing/2014/main" id="{356D7B7B-531F-408A-988D-AF8B227BBAEF}"/>
              </a:ext>
            </a:extLst>
          </p:cNvPr>
          <p:cNvPicPr>
            <a:picLocks noChangeAspect="1"/>
          </p:cNvPicPr>
          <p:nvPr userDrawn="1"/>
        </p:nvPicPr>
        <p:blipFill rotWithShape="1">
          <a:blip r:embed="rId10"/>
          <a:srcRect l="48200" t="56813" r="42065" b="21843"/>
          <a:stretch/>
        </p:blipFill>
        <p:spPr>
          <a:xfrm>
            <a:off x="12261755" y="20384"/>
            <a:ext cx="1485900" cy="1832587"/>
          </a:xfrm>
          <a:prstGeom prst="rect">
            <a:avLst/>
          </a:prstGeom>
        </p:spPr>
      </p:pic>
      <p:pic>
        <p:nvPicPr>
          <p:cNvPr id="35" name="Picture 2" descr="Best Courses after BBA: What to Do After BBA? [2021] - Leverage Edu">
            <a:extLst>
              <a:ext uri="{FF2B5EF4-FFF2-40B4-BE49-F238E27FC236}">
                <a16:creationId xmlns:a16="http://schemas.microsoft.com/office/drawing/2014/main" id="{C84296FC-27D3-4D0C-8F2A-19BD3B9C2C0A}"/>
              </a:ext>
            </a:extLst>
          </p:cNvPr>
          <p:cNvPicPr>
            <a:picLocks noChangeAspect="1" noChangeArrowheads="1"/>
          </p:cNvPicPr>
          <p:nvPr userDrawn="1"/>
        </p:nvPicPr>
        <p:blipFill>
          <a:blip r:embed="rId11"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129201" y="2183713"/>
            <a:ext cx="2741932" cy="179097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8352327-8573-44E4-BC8A-4B66E1AC2BFC}"/>
              </a:ext>
            </a:extLst>
          </p:cNvPr>
          <p:cNvSpPr txBox="1"/>
          <p:nvPr userDrawn="1"/>
        </p:nvSpPr>
        <p:spPr>
          <a:xfrm>
            <a:off x="1837677" y="5513531"/>
            <a:ext cx="2885726" cy="338554"/>
          </a:xfrm>
          <a:prstGeom prst="rect">
            <a:avLst/>
          </a:prstGeom>
          <a:noFill/>
        </p:spPr>
        <p:txBody>
          <a:bodyPr wrap="none" rtlCol="0">
            <a:spAutoFit/>
          </a:bodyPr>
          <a:lstStyle/>
          <a:p>
            <a:r>
              <a:rPr lang="en-US" sz="1600" kern="1200" dirty="0">
                <a:solidFill>
                  <a:schemeClr val="tx1"/>
                </a:solidFill>
                <a:latin typeface="+mn-lt"/>
                <a:ea typeface="+mn-ea"/>
                <a:cs typeface="+mn-cs"/>
              </a:rPr>
              <a:t>Darshan Institute of Management</a:t>
            </a:r>
          </a:p>
        </p:txBody>
      </p:sp>
    </p:spTree>
    <p:extLst>
      <p:ext uri="{BB962C8B-B14F-4D97-AF65-F5344CB8AC3E}">
        <p14:creationId xmlns:p14="http://schemas.microsoft.com/office/powerpoint/2010/main" val="889825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D156BF-28F4-4CE6-8846-1CBEB51900DD}" type="datetimeFigureOut">
              <a:rPr lang="en-US" smtClean="0"/>
              <a:t>21/08/2025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96D2D1-5AE9-49BD-AFB4-5C80C2F86D42}" type="slidenum">
              <a:rPr lang="en-US" smtClean="0"/>
              <a:t>‹#›</a:t>
            </a:fld>
            <a:endParaRPr lang="en-US"/>
          </a:p>
        </p:txBody>
      </p:sp>
    </p:spTree>
    <p:extLst>
      <p:ext uri="{BB962C8B-B14F-4D97-AF65-F5344CB8AC3E}">
        <p14:creationId xmlns:p14="http://schemas.microsoft.com/office/powerpoint/2010/main" val="5145973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 Without Logo">
    <p:spTree>
      <p:nvGrpSpPr>
        <p:cNvPr id="1" name=""/>
        <p:cNvGrpSpPr/>
        <p:nvPr/>
      </p:nvGrpSpPr>
      <p:grpSpPr>
        <a:xfrm>
          <a:off x="0" y="0"/>
          <a:ext cx="0" cy="0"/>
          <a:chOff x="0" y="0"/>
          <a:chExt cx="0" cy="0"/>
        </a:xfrm>
      </p:grpSpPr>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AE6D66E0-0F47-4A48-9FD6-38904600BD98}"/>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3">
            <a:extLst>
              <a:ext uri="{FF2B5EF4-FFF2-40B4-BE49-F238E27FC236}">
                <a16:creationId xmlns:a16="http://schemas.microsoft.com/office/drawing/2014/main" id="{EAB4CBB3-4495-459D-A96F-3E249E168E1A}"/>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13" name="Title 1">
            <a:extLst>
              <a:ext uri="{FF2B5EF4-FFF2-40B4-BE49-F238E27FC236}">
                <a16:creationId xmlns:a16="http://schemas.microsoft.com/office/drawing/2014/main" id="{F17D6F20-9DD5-4D3A-B4C8-A6F015FED53A}"/>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endParaRPr lang="en-US" dirty="0"/>
          </a:p>
        </p:txBody>
      </p:sp>
      <p:sp>
        <p:nvSpPr>
          <p:cNvPr id="17" name="Content Placeholder 2">
            <a:extLst>
              <a:ext uri="{FF2B5EF4-FFF2-40B4-BE49-F238E27FC236}">
                <a16:creationId xmlns:a16="http://schemas.microsoft.com/office/drawing/2014/main" id="{5C3B0896-5686-4012-A126-C2A893005847}"/>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chemeClr val="tx1"/>
                </a:solidFill>
              </a:defRPr>
            </a:lvl1pPr>
            <a:lvl2pPr marL="809625" indent="-352425" algn="just">
              <a:buClr>
                <a:schemeClr val="accent6"/>
              </a:buClr>
              <a:buFont typeface="Wingdings 3" panose="05040102010807070707" pitchFamily="18" charset="2"/>
              <a:buChar char=""/>
              <a:defRPr sz="2600">
                <a:solidFill>
                  <a:schemeClr val="tx1"/>
                </a:solidFill>
              </a:defRPr>
            </a:lvl2pPr>
            <a:lvl3pPr marL="1143000" indent="-228600" algn="just">
              <a:buClr>
                <a:schemeClr val="accent6"/>
              </a:buClr>
              <a:buFont typeface="Wingdings" panose="05000000000000000000" pitchFamily="2" charset="2"/>
              <a:buChar char="§"/>
              <a:defRPr sz="2400">
                <a:solidFill>
                  <a:schemeClr val="tx1"/>
                </a:solidFill>
              </a:defRPr>
            </a:lvl3pPr>
            <a:lvl4pPr algn="just">
              <a:buClr>
                <a:schemeClr val="accent6"/>
              </a:buClr>
              <a:defRPr sz="2200">
                <a:solidFill>
                  <a:schemeClr val="tx1"/>
                </a:solidFill>
              </a:defRPr>
            </a:lvl4pPr>
            <a:lvl5pPr algn="just">
              <a:buClr>
                <a:schemeClr val="accent6"/>
              </a:buClr>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4BE9AC81-55B1-2F91-8B96-4BA81F6D2216}"/>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solidFill>
                  <a:schemeClr val="tx1">
                    <a:lumMod val="90000"/>
                    <a:lumOff val="10000"/>
                  </a:schemeClr>
                </a:solidFill>
                <a:latin typeface="Roboto Condensed Light" panose="02000000000000000000" pitchFamily="2" charset="0"/>
                <a:ea typeface="Roboto Condensed Light" panose="02000000000000000000" pitchFamily="2" charset="0"/>
              </a:rPr>
              <a:t>CA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Dhaval Simejiya</a:t>
            </a:r>
          </a:p>
        </p:txBody>
      </p:sp>
      <p:sp>
        <p:nvSpPr>
          <p:cNvPr id="3" name="Footer Placeholder 2">
            <a:extLst>
              <a:ext uri="{FF2B5EF4-FFF2-40B4-BE49-F238E27FC236}">
                <a16:creationId xmlns:a16="http://schemas.microsoft.com/office/drawing/2014/main" id="{27BFDA0B-22C0-2736-8CEC-7973F69A296C}"/>
              </a:ext>
            </a:extLst>
          </p:cNvPr>
          <p:cNvSpPr txBox="1">
            <a:spLocks/>
          </p:cNvSpPr>
          <p:nvPr userDrawn="1"/>
        </p:nvSpPr>
        <p:spPr>
          <a:xfrm>
            <a:off x="4038599" y="6604000"/>
            <a:ext cx="4786901"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#2301CS594 (BFSI)   </a:t>
            </a:r>
            <a:r>
              <a:rPr lang="en-US" dirty="0">
                <a:solidFill>
                  <a:srgbClr val="212121">
                    <a:lumMod val="90000"/>
                    <a:lumOff val="10000"/>
                  </a:srgbClr>
                </a:solidFill>
                <a:latin typeface="Wingdings" panose="05000000000000000000" pitchFamily="2" charset="2"/>
                <a:ea typeface="Roboto Condensed Light" panose="02000000000000000000" pitchFamily="2" charset="0"/>
              </a:rPr>
              <a:t></a:t>
            </a:r>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   Banking, Financial Services and Insurance</a:t>
            </a:r>
          </a:p>
        </p:txBody>
      </p:sp>
    </p:spTree>
    <p:extLst>
      <p:ext uri="{BB962C8B-B14F-4D97-AF65-F5344CB8AC3E}">
        <p14:creationId xmlns:p14="http://schemas.microsoft.com/office/powerpoint/2010/main" val="17325946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D156BF-28F4-4CE6-8846-1CBEB51900DD}" type="datetimeFigureOut">
              <a:rPr lang="en-US" smtClean="0"/>
              <a:t>21/08/2025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996D2D1-5AE9-49BD-AFB4-5C80C2F86D42}" type="slidenum">
              <a:rPr lang="en-US" smtClean="0"/>
              <a:t>‹#›</a:t>
            </a:fld>
            <a:endParaRPr lang="en-US"/>
          </a:p>
        </p:txBody>
      </p:sp>
    </p:spTree>
    <p:extLst>
      <p:ext uri="{BB962C8B-B14F-4D97-AF65-F5344CB8AC3E}">
        <p14:creationId xmlns:p14="http://schemas.microsoft.com/office/powerpoint/2010/main" val="1696714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dirty="0"/>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79"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1" r:id="rId10"/>
    <p:sldLayoutId id="2147483692" r:id="rId11"/>
    <p:sldLayoutId id="2147483693" r:id="rId12"/>
    <p:sldLayoutId id="2147483695" r:id="rId13"/>
    <p:sldLayoutId id="2147483696"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22.png"/><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3.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7.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7.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18.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7.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19.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7.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A5353-D4D5-43D7-A039-6CFC6871D64F}"/>
              </a:ext>
            </a:extLst>
          </p:cNvPr>
          <p:cNvSpPr>
            <a:spLocks noGrp="1"/>
          </p:cNvSpPr>
          <p:nvPr>
            <p:ph type="ctrTitle"/>
          </p:nvPr>
        </p:nvSpPr>
        <p:spPr>
          <a:xfrm>
            <a:off x="559489" y="1201452"/>
            <a:ext cx="7410804" cy="2578780"/>
          </a:xfrm>
        </p:spPr>
        <p:txBody>
          <a:bodyPr/>
          <a:lstStyle/>
          <a:p>
            <a:r>
              <a:rPr lang="en-US" sz="4800" b="0" dirty="0">
                <a:latin typeface="+mn-lt"/>
                <a:ea typeface="Roboto Condensed Light" panose="02000000000000000000" pitchFamily="2" charset="0"/>
              </a:rPr>
              <a:t>Unit-3</a:t>
            </a:r>
            <a:r>
              <a:rPr lang="en-US" dirty="0">
                <a:latin typeface="+mn-lt"/>
              </a:rPr>
              <a:t> </a:t>
            </a:r>
            <a:br>
              <a:rPr lang="en-US" dirty="0">
                <a:latin typeface="+mn-lt"/>
              </a:rPr>
            </a:br>
            <a:r>
              <a:rPr lang="en-US" sz="4800" dirty="0"/>
              <a:t>Direct Tax</a:t>
            </a:r>
            <a:endParaRPr lang="en-US" sz="4800" dirty="0">
              <a:latin typeface="+mn-lt"/>
            </a:endParaRPr>
          </a:p>
        </p:txBody>
      </p:sp>
      <p:sp>
        <p:nvSpPr>
          <p:cNvPr id="3" name="Text Placeholder 2">
            <a:extLst>
              <a:ext uri="{FF2B5EF4-FFF2-40B4-BE49-F238E27FC236}">
                <a16:creationId xmlns:a16="http://schemas.microsoft.com/office/drawing/2014/main" id="{E4D4005A-4647-4086-9144-7BCC7DFEFB1B}"/>
              </a:ext>
            </a:extLst>
          </p:cNvPr>
          <p:cNvSpPr>
            <a:spLocks noGrp="1"/>
          </p:cNvSpPr>
          <p:nvPr>
            <p:ph type="body" sz="quarter" idx="11"/>
          </p:nvPr>
        </p:nvSpPr>
        <p:spPr/>
        <p:txBody>
          <a:bodyPr/>
          <a:lstStyle/>
          <a:p>
            <a:r>
              <a:rPr lang="en-US" dirty="0">
                <a:latin typeface="+mn-lt"/>
              </a:rPr>
              <a:t>dhaval.simejiya@darshan.ac.in</a:t>
            </a:r>
          </a:p>
        </p:txBody>
      </p:sp>
      <p:sp>
        <p:nvSpPr>
          <p:cNvPr id="4" name="Text Placeholder 3">
            <a:extLst>
              <a:ext uri="{FF2B5EF4-FFF2-40B4-BE49-F238E27FC236}">
                <a16:creationId xmlns:a16="http://schemas.microsoft.com/office/drawing/2014/main" id="{6F817D43-889A-4049-ACFD-9B3B648B6A91}"/>
              </a:ext>
            </a:extLst>
          </p:cNvPr>
          <p:cNvSpPr>
            <a:spLocks noGrp="1"/>
          </p:cNvSpPr>
          <p:nvPr>
            <p:ph type="body" sz="quarter" idx="12"/>
          </p:nvPr>
        </p:nvSpPr>
        <p:spPr/>
        <p:txBody>
          <a:bodyPr/>
          <a:lstStyle/>
          <a:p>
            <a:r>
              <a:rPr lang="en-US" dirty="0">
                <a:latin typeface="+mn-lt"/>
              </a:rPr>
              <a:t>99043 25008</a:t>
            </a:r>
          </a:p>
        </p:txBody>
      </p:sp>
      <p:sp>
        <p:nvSpPr>
          <p:cNvPr id="6" name="Text Placeholder 5">
            <a:extLst>
              <a:ext uri="{FF2B5EF4-FFF2-40B4-BE49-F238E27FC236}">
                <a16:creationId xmlns:a16="http://schemas.microsoft.com/office/drawing/2014/main" id="{1F7AB9BC-FE08-46B2-A19C-803CB5DF0CD1}"/>
              </a:ext>
            </a:extLst>
          </p:cNvPr>
          <p:cNvSpPr>
            <a:spLocks noGrp="1"/>
          </p:cNvSpPr>
          <p:nvPr>
            <p:ph type="body" sz="quarter" idx="14"/>
          </p:nvPr>
        </p:nvSpPr>
        <p:spPr/>
        <p:txBody>
          <a:bodyPr/>
          <a:lstStyle/>
          <a:p>
            <a:r>
              <a:rPr lang="en-US" dirty="0"/>
              <a:t>CA Dhaval Simejiya</a:t>
            </a:r>
          </a:p>
        </p:txBody>
      </p:sp>
      <p:sp>
        <p:nvSpPr>
          <p:cNvPr id="1027" name="Text Placeholder 1026">
            <a:extLst>
              <a:ext uri="{FF2B5EF4-FFF2-40B4-BE49-F238E27FC236}">
                <a16:creationId xmlns:a16="http://schemas.microsoft.com/office/drawing/2014/main" id="{D1F0AA94-EAF3-4868-942A-0125EFC5C764}"/>
              </a:ext>
            </a:extLst>
          </p:cNvPr>
          <p:cNvSpPr>
            <a:spLocks noGrp="1"/>
          </p:cNvSpPr>
          <p:nvPr>
            <p:ph type="body" sz="quarter" idx="16"/>
          </p:nvPr>
        </p:nvSpPr>
        <p:spPr>
          <a:xfrm>
            <a:off x="2581756" y="107701"/>
            <a:ext cx="4646358" cy="734653"/>
          </a:xfrm>
        </p:spPr>
        <p:txBody>
          <a:bodyPr/>
          <a:lstStyle/>
          <a:p>
            <a:r>
              <a:rPr lang="en-US" dirty="0">
                <a:ea typeface="Roboto Condensed Light" panose="02000000000000000000" pitchFamily="2" charset="0"/>
              </a:rPr>
              <a:t>Banking, Financial Services and Insurance </a:t>
            </a:r>
          </a:p>
          <a:p>
            <a:r>
              <a:rPr lang="fr-FR" dirty="0">
                <a:ea typeface="Roboto Condensed Light" panose="02000000000000000000" pitchFamily="2" charset="0"/>
              </a:rPr>
              <a:t>(BFSI) </a:t>
            </a:r>
          </a:p>
          <a:p>
            <a:r>
              <a:rPr lang="fr-FR" dirty="0">
                <a:ea typeface="Roboto Condensed Light" panose="02000000000000000000" pitchFamily="2" charset="0"/>
              </a:rPr>
              <a:t>DU#</a:t>
            </a:r>
            <a:r>
              <a:rPr lang="en-US" sz="1800" i="0" u="none" strike="noStrike" baseline="0" dirty="0"/>
              <a:t>2301CS594</a:t>
            </a:r>
            <a:endParaRPr lang="fr-FR" dirty="0">
              <a:ea typeface="Roboto Condensed Light" panose="02000000000000000000" pitchFamily="2" charset="0"/>
            </a:endParaRPr>
          </a:p>
        </p:txBody>
      </p:sp>
      <p:sp>
        <p:nvSpPr>
          <p:cNvPr id="11" name="AutoShape 3">
            <a:extLst>
              <a:ext uri="{FF2B5EF4-FFF2-40B4-BE49-F238E27FC236}">
                <a16:creationId xmlns:a16="http://schemas.microsoft.com/office/drawing/2014/main"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9" name="Picture Placeholder 4">
            <a:extLst>
              <a:ext uri="{FF2B5EF4-FFF2-40B4-BE49-F238E27FC236}">
                <a16:creationId xmlns:a16="http://schemas.microsoft.com/office/drawing/2014/main" id="{C78459A4-E69D-7835-DA85-256FC5CE013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54013" y="5211763"/>
            <a:ext cx="1352550" cy="1352550"/>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pic>
      <p:sp>
        <p:nvSpPr>
          <p:cNvPr id="5" name="Title 1">
            <a:extLst>
              <a:ext uri="{FF2B5EF4-FFF2-40B4-BE49-F238E27FC236}">
                <a16:creationId xmlns:a16="http://schemas.microsoft.com/office/drawing/2014/main" id="{9329D676-718B-7E66-6A9E-E8E56C90A816}"/>
              </a:ext>
            </a:extLst>
          </p:cNvPr>
          <p:cNvSpPr txBox="1">
            <a:spLocks/>
          </p:cNvSpPr>
          <p:nvPr/>
        </p:nvSpPr>
        <p:spPr>
          <a:xfrm>
            <a:off x="559489" y="3238402"/>
            <a:ext cx="8171249" cy="817874"/>
          </a:xfrm>
          <a:prstGeom prst="rect">
            <a:avLst/>
          </a:prstGeom>
        </p:spPr>
        <p:txBody>
          <a:bodyPr vert="horz" wrap="square" lIns="91440" tIns="45720" rIns="91440" bIns="45720" rtlCol="0" anchor="t">
            <a:noAutofit/>
          </a:bodyPr>
          <a:lstStyle>
            <a:lvl1pPr algn="l" defTabSz="914400" rtl="0" eaLnBrk="1" latinLnBrk="0" hangingPunct="1">
              <a:lnSpc>
                <a:spcPct val="90000"/>
              </a:lnSpc>
              <a:spcBef>
                <a:spcPct val="0"/>
              </a:spcBef>
              <a:buNone/>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pPr algn="just">
              <a:lnSpc>
                <a:spcPct val="100000"/>
              </a:lnSpc>
            </a:pPr>
            <a:r>
              <a:rPr lang="en-US" sz="2200" dirty="0">
                <a:latin typeface="+mn-lt"/>
              </a:rPr>
              <a:t>CO 3: </a:t>
            </a:r>
            <a:r>
              <a:rPr lang="en-US" sz="2200" dirty="0"/>
              <a:t>explain the fundamental concepts of income tax, including definitions, tax rates, surcharges, rebates, residential status, heads of income, return filing, and computation of total income and tax payable by an individual. </a:t>
            </a:r>
            <a:endParaRPr lang="en-US" sz="2200" dirty="0">
              <a:latin typeface="+mn-lt"/>
            </a:endParaRPr>
          </a:p>
        </p:txBody>
      </p:sp>
    </p:spTree>
    <p:extLst>
      <p:ext uri="{BB962C8B-B14F-4D97-AF65-F5344CB8AC3E}">
        <p14:creationId xmlns:p14="http://schemas.microsoft.com/office/powerpoint/2010/main" val="4285833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506852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3" y="731706"/>
            <a:ext cx="10322213" cy="5909310"/>
          </a:xfrm>
          <a:prstGeom prst="rect">
            <a:avLst/>
          </a:prstGeom>
          <a:noFill/>
        </p:spPr>
        <p:txBody>
          <a:bodyPr wrap="square" rtlCol="0">
            <a:spAutoFit/>
          </a:bodyPr>
          <a:lstStyle/>
          <a:p>
            <a:r>
              <a:rPr lang="en-US" sz="2200" b="1" dirty="0"/>
              <a:t>Topics </a:t>
            </a:r>
          </a:p>
          <a:p>
            <a:pPr marL="742950" lvl="1" indent="-285750">
              <a:lnSpc>
                <a:spcPct val="150000"/>
              </a:lnSpc>
              <a:buFont typeface="Arial" panose="020B0604020202020204" pitchFamily="34" charset="0"/>
              <a:buChar char="•"/>
            </a:pPr>
            <a:r>
              <a:rPr lang="en-US" sz="2400" dirty="0"/>
              <a:t>Introduction, Important Definitions</a:t>
            </a:r>
          </a:p>
          <a:p>
            <a:pPr marL="742950" lvl="1" indent="-285750">
              <a:lnSpc>
                <a:spcPct val="150000"/>
              </a:lnSpc>
              <a:buFont typeface="Arial" panose="020B0604020202020204" pitchFamily="34" charset="0"/>
              <a:buChar char="•"/>
            </a:pPr>
            <a:r>
              <a:rPr lang="en-US" sz="2400" dirty="0"/>
              <a:t>Rates of Tax, Surcharge &amp; Cess</a:t>
            </a:r>
          </a:p>
          <a:p>
            <a:pPr marL="742950" lvl="1" indent="-285750">
              <a:lnSpc>
                <a:spcPct val="150000"/>
              </a:lnSpc>
              <a:buFont typeface="Arial" panose="020B0604020202020204" pitchFamily="34" charset="0"/>
              <a:buChar char="•"/>
            </a:pPr>
            <a:r>
              <a:rPr lang="en-US" sz="2400" dirty="0"/>
              <a:t>Rebate for Resident Individuals</a:t>
            </a:r>
          </a:p>
          <a:p>
            <a:pPr marL="742950" lvl="1" indent="-285750">
              <a:lnSpc>
                <a:spcPct val="150000"/>
              </a:lnSpc>
              <a:buFont typeface="Arial" panose="020B0604020202020204" pitchFamily="34" charset="0"/>
              <a:buChar char="•"/>
            </a:pPr>
            <a:r>
              <a:rPr lang="en-US" sz="2400" dirty="0"/>
              <a:t>Treatment of Special Items</a:t>
            </a:r>
          </a:p>
          <a:p>
            <a:pPr marL="742950" lvl="1" indent="-285750">
              <a:lnSpc>
                <a:spcPct val="150000"/>
              </a:lnSpc>
              <a:buFont typeface="Arial" panose="020B0604020202020204" pitchFamily="34" charset="0"/>
              <a:buChar char="•"/>
            </a:pPr>
            <a:r>
              <a:rPr lang="en-US" sz="2400" dirty="0"/>
              <a:t>Residential Status </a:t>
            </a:r>
          </a:p>
          <a:p>
            <a:pPr marL="742950" lvl="1" indent="-285750">
              <a:lnSpc>
                <a:spcPct val="150000"/>
              </a:lnSpc>
              <a:buFont typeface="Arial" panose="020B0604020202020204" pitchFamily="34" charset="0"/>
              <a:buChar char="•"/>
            </a:pPr>
            <a:r>
              <a:rPr lang="en-US" sz="2400" dirty="0"/>
              <a:t>Basics of Heads of Income</a:t>
            </a:r>
          </a:p>
          <a:p>
            <a:pPr marL="742950" lvl="1" indent="-285750">
              <a:lnSpc>
                <a:spcPct val="150000"/>
              </a:lnSpc>
              <a:buFont typeface="Arial" panose="020B0604020202020204" pitchFamily="34" charset="0"/>
              <a:buChar char="•"/>
            </a:pPr>
            <a:r>
              <a:rPr lang="en-US" sz="2400" dirty="0"/>
              <a:t>Compulsory Filing of Return of Income</a:t>
            </a:r>
          </a:p>
          <a:p>
            <a:pPr marL="742950" lvl="1" indent="-285750">
              <a:lnSpc>
                <a:spcPct val="150000"/>
              </a:lnSpc>
              <a:buFont typeface="Arial" panose="020B0604020202020204" pitchFamily="34" charset="0"/>
              <a:buChar char="•"/>
            </a:pPr>
            <a:r>
              <a:rPr lang="en-US" sz="2400" dirty="0"/>
              <a:t>Income to be Considered While Computing Total Income of Individuals</a:t>
            </a:r>
          </a:p>
          <a:p>
            <a:pPr marL="742950" lvl="1" indent="-285750">
              <a:lnSpc>
                <a:spcPct val="150000"/>
              </a:lnSpc>
              <a:buFont typeface="Arial" panose="020B0604020202020204" pitchFamily="34" charset="0"/>
              <a:buChar char="•"/>
            </a:pPr>
            <a:r>
              <a:rPr lang="en-US" sz="2400" dirty="0"/>
              <a:t>Computation of Total Income and Tax Payable by an Individual</a:t>
            </a:r>
          </a:p>
          <a:p>
            <a:pPr marL="742950" lvl="1" indent="-285750">
              <a:lnSpc>
                <a:spcPct val="150000"/>
              </a:lnSpc>
              <a:buFont typeface="Arial" panose="020B0604020202020204" pitchFamily="34" charset="0"/>
              <a:buChar char="•"/>
            </a:pPr>
            <a:r>
              <a:rPr lang="en-US" sz="2400" dirty="0"/>
              <a:t>Return of income</a:t>
            </a:r>
          </a:p>
        </p:txBody>
      </p:sp>
    </p:spTree>
    <p:extLst>
      <p:ext uri="{BB962C8B-B14F-4D97-AF65-F5344CB8AC3E}">
        <p14:creationId xmlns:p14="http://schemas.microsoft.com/office/powerpoint/2010/main" val="1807558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BD0437-5275-49FA-93B5-94D7BFBE21B9}"/>
              </a:ext>
            </a:extLst>
          </p:cNvPr>
          <p:cNvSpPr>
            <a:spLocks noGrp="1"/>
          </p:cNvSpPr>
          <p:nvPr>
            <p:ph type="title"/>
          </p:nvPr>
        </p:nvSpPr>
        <p:spPr/>
        <p:txBody>
          <a:bodyPr/>
          <a:lstStyle/>
          <a:p>
            <a:r>
              <a:rPr lang="en-US" sz="3600" dirty="0"/>
              <a:t>Introduction</a:t>
            </a:r>
            <a:endParaRPr lang="en-IN" dirty="0"/>
          </a:p>
        </p:txBody>
      </p:sp>
      <p:graphicFrame>
        <p:nvGraphicFramePr>
          <p:cNvPr id="2" name="Content Placeholder 1">
            <a:extLst>
              <a:ext uri="{FF2B5EF4-FFF2-40B4-BE49-F238E27FC236}">
                <a16:creationId xmlns:a16="http://schemas.microsoft.com/office/drawing/2014/main" id="{99FD4CB6-8520-EF02-EBE2-6DEF8211F614}"/>
              </a:ext>
            </a:extLst>
          </p:cNvPr>
          <p:cNvGraphicFramePr>
            <a:graphicFrameLocks noGrp="1"/>
          </p:cNvGraphicFramePr>
          <p:nvPr>
            <p:ph idx="1"/>
            <p:extLst>
              <p:ext uri="{D42A27DB-BD31-4B8C-83A1-F6EECF244321}">
                <p14:modId xmlns:p14="http://schemas.microsoft.com/office/powerpoint/2010/main" val="2827916102"/>
              </p:ext>
            </p:extLst>
          </p:nvPr>
        </p:nvGraphicFramePr>
        <p:xfrm>
          <a:off x="131180" y="863444"/>
          <a:ext cx="11929641" cy="55905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26957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838200" y="523287"/>
            <a:ext cx="10515600" cy="1325563"/>
          </a:xfrm>
        </p:spPr>
        <p:txBody>
          <a:bodyPr/>
          <a:lstStyle/>
          <a:p>
            <a:pPr algn="ctr"/>
            <a:r>
              <a:rPr lang="en-US" b="1" dirty="0">
                <a:latin typeface="+mn-lt"/>
                <a:ea typeface="Adobe Gothic Std B" panose="020B0800000000000000" pitchFamily="34" charset="-128"/>
                <a:cs typeface="Times New Roman" panose="02020603050405020304" pitchFamily="18" charset="0"/>
              </a:rPr>
              <a:t>Types of Taxes</a:t>
            </a:r>
          </a:p>
        </p:txBody>
      </p:sp>
      <p:grpSp>
        <p:nvGrpSpPr>
          <p:cNvPr id="3" name="Group 2">
            <a:extLst>
              <a:ext uri="{FF2B5EF4-FFF2-40B4-BE49-F238E27FC236}">
                <a16:creationId xmlns:a16="http://schemas.microsoft.com/office/drawing/2014/main" id="{5A676B93-CD25-A3E1-A037-1ECEAE98F876}"/>
              </a:ext>
            </a:extLst>
          </p:cNvPr>
          <p:cNvGrpSpPr/>
          <p:nvPr/>
        </p:nvGrpSpPr>
        <p:grpSpPr>
          <a:xfrm>
            <a:off x="838200" y="2175598"/>
            <a:ext cx="10553963" cy="3523269"/>
            <a:chOff x="950327" y="2211109"/>
            <a:chExt cx="10553963" cy="3523269"/>
          </a:xfrm>
        </p:grpSpPr>
        <p:grpSp>
          <p:nvGrpSpPr>
            <p:cNvPr id="4" name="Group 3"/>
            <p:cNvGrpSpPr/>
            <p:nvPr/>
          </p:nvGrpSpPr>
          <p:grpSpPr>
            <a:xfrm>
              <a:off x="7437531" y="2211110"/>
              <a:ext cx="2440056" cy="2192716"/>
              <a:chOff x="4000499" y="1714499"/>
              <a:chExt cx="1028700" cy="1028699"/>
            </a:xfrm>
          </p:grpSpPr>
          <p:sp>
            <p:nvSpPr>
              <p:cNvPr id="5" name="Rounded Rectangle 1"/>
              <p:cNvSpPr/>
              <p:nvPr/>
            </p:nvSpPr>
            <p:spPr>
              <a:xfrm>
                <a:off x="4000499" y="1714499"/>
                <a:ext cx="1028700" cy="1028699"/>
              </a:xfrm>
              <a:custGeom>
                <a:avLst/>
                <a:gdLst/>
                <a:ahLst/>
                <a:cxnLst/>
                <a:rect l="0" t="0" r="0" b="0"/>
                <a:pathLst>
                  <a:path w="1028700" h="1028699">
                    <a:moveTo>
                      <a:pt x="0" y="514350"/>
                    </a:moveTo>
                    <a:cubicBezTo>
                      <a:pt x="0" y="230282"/>
                      <a:pt x="230282" y="0"/>
                      <a:pt x="514350" y="0"/>
                    </a:cubicBezTo>
                    <a:cubicBezTo>
                      <a:pt x="798417" y="0"/>
                      <a:pt x="1028700" y="230282"/>
                      <a:pt x="1028700" y="514350"/>
                    </a:cubicBezTo>
                    <a:cubicBezTo>
                      <a:pt x="1028700" y="798417"/>
                      <a:pt x="798417" y="1028699"/>
                      <a:pt x="514350" y="1028699"/>
                    </a:cubicBezTo>
                    <a:cubicBezTo>
                      <a:pt x="230282" y="1028699"/>
                      <a:pt x="0" y="798417"/>
                      <a:pt x="0" y="514349"/>
                    </a:cubicBezTo>
                  </a:path>
                </a:pathLst>
              </a:custGeom>
              <a:solidFill>
                <a:srgbClr val="C8FFE5"/>
              </a:solidFill>
              <a:ln>
                <a:noFill/>
              </a:ln>
            </p:spPr>
            <p:txBody>
              <a:bodyPr rtlCol="0" anchor="ctr"/>
              <a:lstStyle/>
              <a:p>
                <a:pPr algn="ctr"/>
                <a:endParaRPr/>
              </a:p>
            </p:txBody>
          </p:sp>
          <p:sp>
            <p:nvSpPr>
              <p:cNvPr id="6" name="Rounded Rectangle 2"/>
              <p:cNvSpPr/>
              <p:nvPr/>
            </p:nvSpPr>
            <p:spPr>
              <a:xfrm>
                <a:off x="4000499" y="1714499"/>
                <a:ext cx="1028700" cy="1028699"/>
              </a:xfrm>
              <a:custGeom>
                <a:avLst/>
                <a:gdLst/>
                <a:ahLst/>
                <a:cxnLst/>
                <a:rect l="0" t="0" r="0" b="0"/>
                <a:pathLst>
                  <a:path w="1028700" h="1028699">
                    <a:moveTo>
                      <a:pt x="0" y="514350"/>
                    </a:moveTo>
                    <a:cubicBezTo>
                      <a:pt x="0" y="230282"/>
                      <a:pt x="230282" y="0"/>
                      <a:pt x="514350" y="0"/>
                    </a:cubicBezTo>
                    <a:cubicBezTo>
                      <a:pt x="798417" y="0"/>
                      <a:pt x="1028700" y="230282"/>
                      <a:pt x="1028700" y="514350"/>
                    </a:cubicBezTo>
                    <a:cubicBezTo>
                      <a:pt x="1028700" y="798417"/>
                      <a:pt x="798417" y="1028699"/>
                      <a:pt x="514350" y="1028699"/>
                    </a:cubicBezTo>
                    <a:cubicBezTo>
                      <a:pt x="230282" y="1028699"/>
                      <a:pt x="0" y="798417"/>
                      <a:pt x="0" y="514349"/>
                    </a:cubicBezTo>
                  </a:path>
                </a:pathLst>
              </a:custGeom>
              <a:noFill/>
              <a:ln w="14287">
                <a:solidFill>
                  <a:srgbClr val="FFFFFF"/>
                </a:solidFill>
              </a:ln>
            </p:spPr>
            <p:txBody>
              <a:bodyPr rtlCol="0" anchor="ctr"/>
              <a:lstStyle/>
              <a:p>
                <a:pPr algn="ctr"/>
                <a:endParaRPr/>
              </a:p>
            </p:txBody>
          </p:sp>
        </p:grpSp>
        <p:grpSp>
          <p:nvGrpSpPr>
            <p:cNvPr id="7" name="Group 6"/>
            <p:cNvGrpSpPr/>
            <p:nvPr/>
          </p:nvGrpSpPr>
          <p:grpSpPr>
            <a:xfrm>
              <a:off x="2560086" y="2211109"/>
              <a:ext cx="2440056" cy="2192719"/>
              <a:chOff x="914399" y="1714500"/>
              <a:chExt cx="1028700" cy="1028700"/>
            </a:xfrm>
          </p:grpSpPr>
          <p:sp>
            <p:nvSpPr>
              <p:cNvPr id="8" name="Rounded Rectangle 4"/>
              <p:cNvSpPr/>
              <p:nvPr/>
            </p:nvSpPr>
            <p:spPr>
              <a:xfrm>
                <a:off x="914399" y="1714500"/>
                <a:ext cx="1028700" cy="1028700"/>
              </a:xfrm>
              <a:custGeom>
                <a:avLst/>
                <a:gdLst/>
                <a:ahLst/>
                <a:cxnLst/>
                <a:rect l="0" t="0" r="0" b="0"/>
                <a:pathLst>
                  <a:path w="1028700" h="1028700">
                    <a:moveTo>
                      <a:pt x="0" y="514350"/>
                    </a:moveTo>
                    <a:cubicBezTo>
                      <a:pt x="0" y="230282"/>
                      <a:pt x="230282" y="0"/>
                      <a:pt x="514350" y="0"/>
                    </a:cubicBezTo>
                    <a:cubicBezTo>
                      <a:pt x="798417" y="0"/>
                      <a:pt x="1028700" y="230282"/>
                      <a:pt x="1028700" y="514350"/>
                    </a:cubicBezTo>
                    <a:cubicBezTo>
                      <a:pt x="1028700" y="798417"/>
                      <a:pt x="798417" y="1028700"/>
                      <a:pt x="514350" y="1028700"/>
                    </a:cubicBezTo>
                    <a:cubicBezTo>
                      <a:pt x="230282" y="1028700"/>
                      <a:pt x="0" y="798417"/>
                      <a:pt x="0" y="514350"/>
                    </a:cubicBezTo>
                  </a:path>
                </a:pathLst>
              </a:custGeom>
              <a:solidFill>
                <a:srgbClr val="DCE9FF"/>
              </a:solidFill>
              <a:ln>
                <a:noFill/>
              </a:ln>
            </p:spPr>
            <p:txBody>
              <a:bodyPr rtlCol="0" anchor="ctr"/>
              <a:lstStyle/>
              <a:p>
                <a:pPr algn="ctr"/>
                <a:endParaRPr/>
              </a:p>
            </p:txBody>
          </p:sp>
          <p:sp>
            <p:nvSpPr>
              <p:cNvPr id="9" name="Rounded Rectangle 5"/>
              <p:cNvSpPr/>
              <p:nvPr/>
            </p:nvSpPr>
            <p:spPr>
              <a:xfrm>
                <a:off x="914399" y="1714500"/>
                <a:ext cx="1028700" cy="1028700"/>
              </a:xfrm>
              <a:custGeom>
                <a:avLst/>
                <a:gdLst/>
                <a:ahLst/>
                <a:cxnLst/>
                <a:rect l="0" t="0" r="0" b="0"/>
                <a:pathLst>
                  <a:path w="1028700" h="1028700">
                    <a:moveTo>
                      <a:pt x="0" y="514350"/>
                    </a:moveTo>
                    <a:cubicBezTo>
                      <a:pt x="0" y="230282"/>
                      <a:pt x="230282" y="0"/>
                      <a:pt x="514350" y="0"/>
                    </a:cubicBezTo>
                    <a:cubicBezTo>
                      <a:pt x="798417" y="0"/>
                      <a:pt x="1028700" y="230282"/>
                      <a:pt x="1028700" y="514350"/>
                    </a:cubicBezTo>
                    <a:cubicBezTo>
                      <a:pt x="1028700" y="798417"/>
                      <a:pt x="798417" y="1028700"/>
                      <a:pt x="514350" y="1028700"/>
                    </a:cubicBezTo>
                    <a:cubicBezTo>
                      <a:pt x="230282" y="1028700"/>
                      <a:pt x="0" y="798417"/>
                      <a:pt x="0" y="514350"/>
                    </a:cubicBezTo>
                  </a:path>
                </a:pathLst>
              </a:custGeom>
              <a:noFill/>
              <a:ln w="14287">
                <a:solidFill>
                  <a:srgbClr val="FFFFFF"/>
                </a:solidFill>
              </a:ln>
            </p:spPr>
            <p:txBody>
              <a:bodyPr rtlCol="0" anchor="ctr"/>
              <a:lstStyle/>
              <a:p>
                <a:pPr algn="ctr"/>
                <a:endParaRPr/>
              </a:p>
            </p:txBody>
          </p:sp>
        </p:grpSp>
        <p:sp>
          <p:nvSpPr>
            <p:cNvPr id="10" name="Rounded Rectangle 7"/>
            <p:cNvSpPr/>
            <p:nvPr/>
          </p:nvSpPr>
          <p:spPr>
            <a:xfrm>
              <a:off x="3153156" y="2551635"/>
              <a:ext cx="1355587" cy="1461812"/>
            </a:xfrm>
            <a:custGeom>
              <a:avLst/>
              <a:gdLst/>
              <a:ahLst/>
              <a:cxnLst/>
              <a:rect l="0" t="0" r="0" b="0"/>
              <a:pathLst>
                <a:path w="571500" h="685800">
                  <a:moveTo>
                    <a:pt x="478631" y="500062"/>
                  </a:moveTo>
                  <a:cubicBezTo>
                    <a:pt x="478631" y="511898"/>
                    <a:pt x="469036" y="521493"/>
                    <a:pt x="457200" y="521493"/>
                  </a:cubicBezTo>
                  <a:lnTo>
                    <a:pt x="128587" y="521493"/>
                  </a:lnTo>
                  <a:cubicBezTo>
                    <a:pt x="116751" y="521493"/>
                    <a:pt x="107156" y="511898"/>
                    <a:pt x="107156" y="500062"/>
                  </a:cubicBezTo>
                  <a:cubicBezTo>
                    <a:pt x="107156" y="488226"/>
                    <a:pt x="116751" y="478631"/>
                    <a:pt x="128587" y="478631"/>
                  </a:cubicBezTo>
                  <a:lnTo>
                    <a:pt x="457200" y="478631"/>
                  </a:lnTo>
                  <a:cubicBezTo>
                    <a:pt x="469036" y="478631"/>
                    <a:pt x="478631" y="488226"/>
                    <a:pt x="478631" y="500062"/>
                  </a:cubicBezTo>
                  <a:close/>
                  <a:moveTo>
                    <a:pt x="121443" y="264318"/>
                  </a:moveTo>
                  <a:cubicBezTo>
                    <a:pt x="109607" y="264318"/>
                    <a:pt x="100012" y="254723"/>
                    <a:pt x="100012" y="242887"/>
                  </a:cubicBezTo>
                  <a:cubicBezTo>
                    <a:pt x="100012" y="231051"/>
                    <a:pt x="109607" y="221456"/>
                    <a:pt x="121443" y="221456"/>
                  </a:cubicBezTo>
                  <a:lnTo>
                    <a:pt x="192881" y="221456"/>
                  </a:lnTo>
                  <a:cubicBezTo>
                    <a:pt x="204717" y="221456"/>
                    <a:pt x="214312" y="231051"/>
                    <a:pt x="214312" y="242887"/>
                  </a:cubicBezTo>
                  <a:cubicBezTo>
                    <a:pt x="214312" y="254723"/>
                    <a:pt x="204717" y="264318"/>
                    <a:pt x="192881" y="264318"/>
                  </a:cubicBezTo>
                  <a:lnTo>
                    <a:pt x="178593" y="264318"/>
                  </a:lnTo>
                  <a:lnTo>
                    <a:pt x="178593" y="400050"/>
                  </a:lnTo>
                  <a:cubicBezTo>
                    <a:pt x="178593" y="411886"/>
                    <a:pt x="168998" y="421481"/>
                    <a:pt x="157162" y="421481"/>
                  </a:cubicBezTo>
                  <a:cubicBezTo>
                    <a:pt x="145326" y="421481"/>
                    <a:pt x="135731" y="411886"/>
                    <a:pt x="135731" y="400050"/>
                  </a:cubicBezTo>
                  <a:lnTo>
                    <a:pt x="135731" y="264318"/>
                  </a:lnTo>
                  <a:close/>
                  <a:moveTo>
                    <a:pt x="221456" y="400050"/>
                  </a:moveTo>
                  <a:lnTo>
                    <a:pt x="221456" y="278606"/>
                  </a:lnTo>
                  <a:cubicBezTo>
                    <a:pt x="221456" y="247043"/>
                    <a:pt x="247043" y="221456"/>
                    <a:pt x="278606" y="221456"/>
                  </a:cubicBezTo>
                  <a:cubicBezTo>
                    <a:pt x="310169" y="221456"/>
                    <a:pt x="335756" y="247043"/>
                    <a:pt x="335756" y="278606"/>
                  </a:cubicBezTo>
                  <a:lnTo>
                    <a:pt x="335756" y="400050"/>
                  </a:lnTo>
                  <a:cubicBezTo>
                    <a:pt x="335756" y="411886"/>
                    <a:pt x="326161" y="421481"/>
                    <a:pt x="314325" y="421481"/>
                  </a:cubicBezTo>
                  <a:cubicBezTo>
                    <a:pt x="302488" y="421481"/>
                    <a:pt x="292893" y="411886"/>
                    <a:pt x="292893" y="400050"/>
                  </a:cubicBezTo>
                  <a:lnTo>
                    <a:pt x="292893" y="371475"/>
                  </a:lnTo>
                  <a:lnTo>
                    <a:pt x="264318" y="371475"/>
                  </a:lnTo>
                  <a:lnTo>
                    <a:pt x="264318" y="400050"/>
                  </a:lnTo>
                  <a:cubicBezTo>
                    <a:pt x="264164" y="411821"/>
                    <a:pt x="254659" y="421327"/>
                    <a:pt x="242887" y="421481"/>
                  </a:cubicBezTo>
                  <a:cubicBezTo>
                    <a:pt x="231115" y="421327"/>
                    <a:pt x="221610" y="411821"/>
                    <a:pt x="221456" y="400050"/>
                  </a:cubicBezTo>
                  <a:close/>
                  <a:moveTo>
                    <a:pt x="264318" y="278606"/>
                  </a:moveTo>
                  <a:lnTo>
                    <a:pt x="264318" y="328612"/>
                  </a:lnTo>
                  <a:lnTo>
                    <a:pt x="292893" y="328612"/>
                  </a:lnTo>
                  <a:lnTo>
                    <a:pt x="292893" y="278606"/>
                  </a:lnTo>
                  <a:cubicBezTo>
                    <a:pt x="292893" y="270715"/>
                    <a:pt x="286497" y="264318"/>
                    <a:pt x="278606" y="264318"/>
                  </a:cubicBezTo>
                  <a:cubicBezTo>
                    <a:pt x="270715" y="264318"/>
                    <a:pt x="264318" y="270715"/>
                    <a:pt x="264318" y="278606"/>
                  </a:cubicBezTo>
                  <a:close/>
                  <a:moveTo>
                    <a:pt x="378333" y="420052"/>
                  </a:moveTo>
                  <a:cubicBezTo>
                    <a:pt x="372344" y="418580"/>
                    <a:pt x="367280" y="414599"/>
                    <a:pt x="364435" y="409128"/>
                  </a:cubicBezTo>
                  <a:cubicBezTo>
                    <a:pt x="361590" y="403657"/>
                    <a:pt x="361240" y="397225"/>
                    <a:pt x="363473" y="391477"/>
                  </a:cubicBezTo>
                  <a:lnTo>
                    <a:pt x="389477" y="320325"/>
                  </a:lnTo>
                  <a:lnTo>
                    <a:pt x="363473" y="249173"/>
                  </a:lnTo>
                  <a:cubicBezTo>
                    <a:pt x="361263" y="243688"/>
                    <a:pt x="361386" y="237539"/>
                    <a:pt x="363813" y="232145"/>
                  </a:cubicBezTo>
                  <a:cubicBezTo>
                    <a:pt x="366240" y="226752"/>
                    <a:pt x="370761" y="222582"/>
                    <a:pt x="376332" y="220598"/>
                  </a:cubicBezTo>
                  <a:cubicBezTo>
                    <a:pt x="381811" y="218302"/>
                    <a:pt x="387997" y="218381"/>
                    <a:pt x="393414" y="220819"/>
                  </a:cubicBezTo>
                  <a:cubicBezTo>
                    <a:pt x="398831" y="223257"/>
                    <a:pt x="402993" y="227834"/>
                    <a:pt x="404907" y="233457"/>
                  </a:cubicBezTo>
                  <a:lnTo>
                    <a:pt x="413480" y="256603"/>
                  </a:lnTo>
                  <a:lnTo>
                    <a:pt x="421767" y="233457"/>
                  </a:lnTo>
                  <a:cubicBezTo>
                    <a:pt x="423750" y="227886"/>
                    <a:pt x="427920" y="223365"/>
                    <a:pt x="433313" y="220938"/>
                  </a:cubicBezTo>
                  <a:cubicBezTo>
                    <a:pt x="438706" y="218511"/>
                    <a:pt x="444856" y="218388"/>
                    <a:pt x="450342" y="220598"/>
                  </a:cubicBezTo>
                  <a:cubicBezTo>
                    <a:pt x="455913" y="222572"/>
                    <a:pt x="460423" y="226759"/>
                    <a:pt x="462803" y="232169"/>
                  </a:cubicBezTo>
                  <a:cubicBezTo>
                    <a:pt x="465184" y="237579"/>
                    <a:pt x="465224" y="243732"/>
                    <a:pt x="462914" y="249173"/>
                  </a:cubicBezTo>
                  <a:lnTo>
                    <a:pt x="437197" y="320325"/>
                  </a:lnTo>
                  <a:lnTo>
                    <a:pt x="462914" y="391477"/>
                  </a:lnTo>
                  <a:cubicBezTo>
                    <a:pt x="465314" y="396909"/>
                    <a:pt x="465318" y="403100"/>
                    <a:pt x="462926" y="408536"/>
                  </a:cubicBezTo>
                  <a:cubicBezTo>
                    <a:pt x="460534" y="413971"/>
                    <a:pt x="455967" y="418151"/>
                    <a:pt x="450341" y="420052"/>
                  </a:cubicBezTo>
                  <a:cubicBezTo>
                    <a:pt x="447994" y="421049"/>
                    <a:pt x="445462" y="421536"/>
                    <a:pt x="442912" y="421481"/>
                  </a:cubicBezTo>
                  <a:cubicBezTo>
                    <a:pt x="433924" y="421395"/>
                    <a:pt x="425892" y="415852"/>
                    <a:pt x="422624" y="407479"/>
                  </a:cubicBezTo>
                  <a:lnTo>
                    <a:pt x="414337" y="384333"/>
                  </a:lnTo>
                  <a:lnTo>
                    <a:pt x="405764" y="407479"/>
                  </a:lnTo>
                  <a:cubicBezTo>
                    <a:pt x="402737" y="415913"/>
                    <a:pt x="394723" y="421523"/>
                    <a:pt x="385762" y="421481"/>
                  </a:cubicBezTo>
                  <a:cubicBezTo>
                    <a:pt x="383210" y="421564"/>
                    <a:pt x="380672" y="421075"/>
                    <a:pt x="378332" y="420052"/>
                  </a:cubicBezTo>
                  <a:close/>
                  <a:moveTo>
                    <a:pt x="571500" y="183165"/>
                  </a:moveTo>
                  <a:lnTo>
                    <a:pt x="571500" y="628650"/>
                  </a:lnTo>
                  <a:cubicBezTo>
                    <a:pt x="571500" y="660213"/>
                    <a:pt x="545913" y="685800"/>
                    <a:pt x="514350" y="685800"/>
                  </a:cubicBezTo>
                  <a:lnTo>
                    <a:pt x="57150" y="685800"/>
                  </a:lnTo>
                  <a:cubicBezTo>
                    <a:pt x="25586" y="685800"/>
                    <a:pt x="0" y="660213"/>
                    <a:pt x="0" y="628650"/>
                  </a:cubicBezTo>
                  <a:lnTo>
                    <a:pt x="0" y="57150"/>
                  </a:lnTo>
                  <a:cubicBezTo>
                    <a:pt x="0" y="25586"/>
                    <a:pt x="25586" y="0"/>
                    <a:pt x="57150" y="0"/>
                  </a:cubicBezTo>
                  <a:lnTo>
                    <a:pt x="388334" y="0"/>
                  </a:lnTo>
                  <a:cubicBezTo>
                    <a:pt x="395830" y="31"/>
                    <a:pt x="403014" y="3007"/>
                    <a:pt x="408336" y="8286"/>
                  </a:cubicBezTo>
                  <a:lnTo>
                    <a:pt x="563213" y="163163"/>
                  </a:lnTo>
                  <a:cubicBezTo>
                    <a:pt x="568492" y="168485"/>
                    <a:pt x="571468" y="175669"/>
                    <a:pt x="571499" y="183165"/>
                  </a:cubicBezTo>
                  <a:close/>
                  <a:moveTo>
                    <a:pt x="514350" y="200025"/>
                  </a:moveTo>
                  <a:cubicBezTo>
                    <a:pt x="514421" y="196700"/>
                    <a:pt x="513307" y="193459"/>
                    <a:pt x="511206" y="190880"/>
                  </a:cubicBezTo>
                  <a:lnTo>
                    <a:pt x="381761" y="61436"/>
                  </a:lnTo>
                  <a:cubicBezTo>
                    <a:pt x="379073" y="58645"/>
                    <a:pt x="375349" y="57093"/>
                    <a:pt x="371474" y="57150"/>
                  </a:cubicBezTo>
                  <a:lnTo>
                    <a:pt x="71437" y="57150"/>
                  </a:lnTo>
                  <a:cubicBezTo>
                    <a:pt x="63546" y="57150"/>
                    <a:pt x="57149" y="63546"/>
                    <a:pt x="57149" y="71437"/>
                  </a:cubicBezTo>
                  <a:lnTo>
                    <a:pt x="57149" y="614362"/>
                  </a:lnTo>
                  <a:cubicBezTo>
                    <a:pt x="57149" y="622253"/>
                    <a:pt x="63546" y="628650"/>
                    <a:pt x="71437" y="628650"/>
                  </a:cubicBezTo>
                  <a:lnTo>
                    <a:pt x="500062" y="628650"/>
                  </a:lnTo>
                  <a:cubicBezTo>
                    <a:pt x="507953" y="628650"/>
                    <a:pt x="514349" y="622253"/>
                    <a:pt x="514349" y="614362"/>
                  </a:cubicBezTo>
                  <a:close/>
                </a:path>
              </a:pathLst>
            </a:custGeom>
            <a:solidFill>
              <a:srgbClr val="4E88E7"/>
            </a:solidFill>
            <a:ln>
              <a:noFill/>
            </a:ln>
          </p:spPr>
          <p:txBody>
            <a:bodyPr rtlCol="0" anchor="ctr"/>
            <a:lstStyle/>
            <a:p>
              <a:pPr algn="ctr"/>
              <a:endParaRPr/>
            </a:p>
          </p:txBody>
        </p:sp>
        <p:sp>
          <p:nvSpPr>
            <p:cNvPr id="12" name="Rounded Rectangle 9"/>
            <p:cNvSpPr/>
            <p:nvPr/>
          </p:nvSpPr>
          <p:spPr>
            <a:xfrm>
              <a:off x="7878028" y="2606954"/>
              <a:ext cx="1559062" cy="1401027"/>
            </a:xfrm>
            <a:custGeom>
              <a:avLst/>
              <a:gdLst/>
              <a:ahLst/>
              <a:cxnLst/>
              <a:rect l="0" t="0" r="0" b="0"/>
              <a:pathLst>
                <a:path w="657283" h="657283">
                  <a:moveTo>
                    <a:pt x="0" y="157220"/>
                  </a:moveTo>
                  <a:cubicBezTo>
                    <a:pt x="0" y="101985"/>
                    <a:pt x="44777" y="57208"/>
                    <a:pt x="100012" y="57208"/>
                  </a:cubicBezTo>
                  <a:cubicBezTo>
                    <a:pt x="155247" y="57208"/>
                    <a:pt x="200025" y="101985"/>
                    <a:pt x="200025" y="157220"/>
                  </a:cubicBezTo>
                  <a:cubicBezTo>
                    <a:pt x="200025" y="212456"/>
                    <a:pt x="155247" y="257233"/>
                    <a:pt x="100012" y="257233"/>
                  </a:cubicBezTo>
                  <a:cubicBezTo>
                    <a:pt x="44777" y="257233"/>
                    <a:pt x="0" y="212456"/>
                    <a:pt x="0" y="157220"/>
                  </a:cubicBezTo>
                  <a:moveTo>
                    <a:pt x="400050" y="557270"/>
                  </a:moveTo>
                  <a:cubicBezTo>
                    <a:pt x="400050" y="502035"/>
                    <a:pt x="444827" y="457258"/>
                    <a:pt x="500062" y="457258"/>
                  </a:cubicBezTo>
                  <a:cubicBezTo>
                    <a:pt x="555297" y="457258"/>
                    <a:pt x="600075" y="502035"/>
                    <a:pt x="600075" y="557270"/>
                  </a:cubicBezTo>
                  <a:cubicBezTo>
                    <a:pt x="600075" y="612506"/>
                    <a:pt x="555297" y="657283"/>
                    <a:pt x="500062" y="657283"/>
                  </a:cubicBezTo>
                  <a:cubicBezTo>
                    <a:pt x="444827" y="657283"/>
                    <a:pt x="400050" y="612506"/>
                    <a:pt x="400050" y="557270"/>
                  </a:cubicBezTo>
                  <a:moveTo>
                    <a:pt x="657225" y="20918"/>
                  </a:moveTo>
                  <a:lnTo>
                    <a:pt x="657225" y="249518"/>
                  </a:lnTo>
                  <a:cubicBezTo>
                    <a:pt x="657283" y="258158"/>
                    <a:pt x="652078" y="265965"/>
                    <a:pt x="644080" y="269234"/>
                  </a:cubicBezTo>
                  <a:cubicBezTo>
                    <a:pt x="636074" y="272687"/>
                    <a:pt x="626770" y="270871"/>
                    <a:pt x="620648" y="264662"/>
                  </a:cubicBezTo>
                  <a:lnTo>
                    <a:pt x="541781" y="185795"/>
                  </a:lnTo>
                  <a:cubicBezTo>
                    <a:pt x="540435" y="184399"/>
                    <a:pt x="538578" y="183609"/>
                    <a:pt x="536638" y="183609"/>
                  </a:cubicBezTo>
                  <a:cubicBezTo>
                    <a:pt x="534698" y="183609"/>
                    <a:pt x="532841" y="184398"/>
                    <a:pt x="531495" y="185795"/>
                  </a:cubicBezTo>
                  <a:lnTo>
                    <a:pt x="100012" y="618135"/>
                  </a:lnTo>
                  <a:cubicBezTo>
                    <a:pt x="91883" y="626169"/>
                    <a:pt x="80865" y="630597"/>
                    <a:pt x="69437" y="630422"/>
                  </a:cubicBezTo>
                  <a:cubicBezTo>
                    <a:pt x="58091" y="630321"/>
                    <a:pt x="47230" y="625812"/>
                    <a:pt x="39147" y="617849"/>
                  </a:cubicBezTo>
                  <a:cubicBezTo>
                    <a:pt x="22589" y="601051"/>
                    <a:pt x="22589" y="574069"/>
                    <a:pt x="39147" y="557270"/>
                  </a:cubicBezTo>
                  <a:lnTo>
                    <a:pt x="471487" y="125788"/>
                  </a:lnTo>
                  <a:cubicBezTo>
                    <a:pt x="472884" y="124442"/>
                    <a:pt x="473673" y="122585"/>
                    <a:pt x="473673" y="120644"/>
                  </a:cubicBezTo>
                  <a:cubicBezTo>
                    <a:pt x="473673" y="118704"/>
                    <a:pt x="472884" y="116847"/>
                    <a:pt x="471487" y="115501"/>
                  </a:cubicBezTo>
                  <a:lnTo>
                    <a:pt x="392049" y="36634"/>
                  </a:lnTo>
                  <a:cubicBezTo>
                    <a:pt x="385840" y="30513"/>
                    <a:pt x="384024" y="21209"/>
                    <a:pt x="387477" y="13202"/>
                  </a:cubicBezTo>
                  <a:cubicBezTo>
                    <a:pt x="390746" y="5204"/>
                    <a:pt x="398553" y="0"/>
                    <a:pt x="407193" y="58"/>
                  </a:cubicBezTo>
                  <a:lnTo>
                    <a:pt x="635793" y="58"/>
                  </a:lnTo>
                  <a:cubicBezTo>
                    <a:pt x="647349" y="201"/>
                    <a:pt x="656769" y="9370"/>
                    <a:pt x="657225" y="20918"/>
                  </a:cubicBezTo>
                  <a:close/>
                </a:path>
              </a:pathLst>
            </a:custGeom>
            <a:solidFill>
              <a:srgbClr val="3CC583"/>
            </a:solidFill>
            <a:ln>
              <a:noFill/>
            </a:ln>
          </p:spPr>
          <p:txBody>
            <a:bodyPr rtlCol="0" anchor="ctr"/>
            <a:lstStyle/>
            <a:p>
              <a:pPr algn="ctr"/>
              <a:endParaRPr/>
            </a:p>
          </p:txBody>
        </p:sp>
        <p:sp>
          <p:nvSpPr>
            <p:cNvPr id="13" name="TextBox 12"/>
            <p:cNvSpPr txBox="1"/>
            <p:nvPr/>
          </p:nvSpPr>
          <p:spPr>
            <a:xfrm>
              <a:off x="2661756" y="4549308"/>
              <a:ext cx="2338386" cy="430887"/>
            </a:xfrm>
            <a:prstGeom prst="rect">
              <a:avLst/>
            </a:prstGeom>
            <a:noFill/>
            <a:ln>
              <a:noFill/>
            </a:ln>
          </p:spPr>
          <p:txBody>
            <a:bodyPr wrap="square" lIns="0" tIns="0" rIns="0" bIns="0" anchor="t">
              <a:spAutoFit/>
            </a:bodyPr>
            <a:lstStyle/>
            <a:p>
              <a:pPr algn="ctr"/>
              <a:r>
                <a:rPr sz="2800" b="1" dirty="0">
                  <a:solidFill>
                    <a:srgbClr val="4E88E7"/>
                  </a:solidFill>
                  <a:cs typeface="Times New Roman" panose="02020603050405020304" pitchFamily="18" charset="0"/>
                </a:rPr>
                <a:t>Direct Tax</a:t>
              </a:r>
            </a:p>
          </p:txBody>
        </p:sp>
        <p:sp>
          <p:nvSpPr>
            <p:cNvPr id="14" name="TextBox 13"/>
            <p:cNvSpPr txBox="1"/>
            <p:nvPr/>
          </p:nvSpPr>
          <p:spPr>
            <a:xfrm>
              <a:off x="7318917" y="4549308"/>
              <a:ext cx="2677283" cy="430887"/>
            </a:xfrm>
            <a:prstGeom prst="rect">
              <a:avLst/>
            </a:prstGeom>
            <a:noFill/>
            <a:ln>
              <a:noFill/>
            </a:ln>
          </p:spPr>
          <p:txBody>
            <a:bodyPr wrap="square" lIns="0" tIns="0" rIns="0" bIns="0" anchor="t">
              <a:spAutoFit/>
            </a:bodyPr>
            <a:lstStyle/>
            <a:p>
              <a:pPr algn="ctr"/>
              <a:r>
                <a:rPr sz="2800" b="1" dirty="0">
                  <a:solidFill>
                    <a:srgbClr val="3CC583"/>
                  </a:solidFill>
                  <a:cs typeface="Times New Roman" panose="02020603050405020304" pitchFamily="18" charset="0"/>
                </a:rPr>
                <a:t>Indirect Tax</a:t>
              </a:r>
            </a:p>
          </p:txBody>
        </p:sp>
        <p:sp>
          <p:nvSpPr>
            <p:cNvPr id="15" name="TextBox 14"/>
            <p:cNvSpPr txBox="1"/>
            <p:nvPr/>
          </p:nvSpPr>
          <p:spPr>
            <a:xfrm>
              <a:off x="950327" y="5118825"/>
              <a:ext cx="5761244" cy="615553"/>
            </a:xfrm>
            <a:prstGeom prst="rect">
              <a:avLst/>
            </a:prstGeom>
            <a:noFill/>
            <a:ln>
              <a:noFill/>
            </a:ln>
          </p:spPr>
          <p:txBody>
            <a:bodyPr wrap="square" lIns="0" tIns="0" rIns="0" bIns="0" anchor="t">
              <a:spAutoFit/>
            </a:bodyPr>
            <a:lstStyle/>
            <a:p>
              <a:pPr algn="ctr"/>
              <a:r>
                <a:rPr sz="2000" b="1" dirty="0">
                  <a:solidFill>
                    <a:srgbClr val="484848"/>
                  </a:solidFill>
                  <a:cs typeface="Times New Roman" panose="02020603050405020304" pitchFamily="18" charset="0"/>
                </a:rPr>
                <a:t>Levied directly on individuals or
organizations</a:t>
              </a:r>
            </a:p>
          </p:txBody>
        </p:sp>
        <p:sp>
          <p:nvSpPr>
            <p:cNvPr id="16" name="TextBox 15"/>
            <p:cNvSpPr txBox="1"/>
            <p:nvPr/>
          </p:nvSpPr>
          <p:spPr>
            <a:xfrm>
              <a:off x="5810826" y="5127811"/>
              <a:ext cx="5693464" cy="307777"/>
            </a:xfrm>
            <a:prstGeom prst="rect">
              <a:avLst/>
            </a:prstGeom>
            <a:noFill/>
            <a:ln>
              <a:noFill/>
            </a:ln>
          </p:spPr>
          <p:txBody>
            <a:bodyPr wrap="square" lIns="0" tIns="0" rIns="0" bIns="0" anchor="t">
              <a:spAutoFit/>
            </a:bodyPr>
            <a:lstStyle/>
            <a:p>
              <a:pPr algn="ctr"/>
              <a:r>
                <a:rPr sz="2000" b="1" dirty="0">
                  <a:solidFill>
                    <a:srgbClr val="484848"/>
                  </a:solidFill>
                  <a:cs typeface="Times New Roman" panose="02020603050405020304" pitchFamily="18" charset="0"/>
                </a:rPr>
                <a:t>Imposed on goods and services</a:t>
              </a:r>
            </a:p>
          </p:txBody>
        </p:sp>
      </p:grpSp>
    </p:spTree>
    <p:extLst>
      <p:ext uri="{BB962C8B-B14F-4D97-AF65-F5344CB8AC3E}">
        <p14:creationId xmlns:p14="http://schemas.microsoft.com/office/powerpoint/2010/main" val="911437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878191" y="99090"/>
            <a:ext cx="9601200" cy="890588"/>
          </a:xfrm>
        </p:spPr>
        <p:txBody>
          <a:bodyPr/>
          <a:lstStyle/>
          <a:p>
            <a:pPr algn="ctr"/>
            <a:r>
              <a:rPr lang="en-US" b="1" dirty="0">
                <a:latin typeface="+mn-lt"/>
                <a:ea typeface="Adobe Gothic Std B" panose="020B0800000000000000" pitchFamily="34" charset="-128"/>
                <a:cs typeface="Times New Roman" panose="02020603050405020304" pitchFamily="18" charset="0"/>
              </a:rPr>
              <a:t>Direct Tax</a:t>
            </a:r>
          </a:p>
        </p:txBody>
      </p:sp>
      <p:grpSp>
        <p:nvGrpSpPr>
          <p:cNvPr id="36" name="Group 35">
            <a:extLst>
              <a:ext uri="{FF2B5EF4-FFF2-40B4-BE49-F238E27FC236}">
                <a16:creationId xmlns:a16="http://schemas.microsoft.com/office/drawing/2014/main" id="{3421E7D2-5AE0-CEBD-D5FC-B0DED671A3AD}"/>
              </a:ext>
            </a:extLst>
          </p:cNvPr>
          <p:cNvGrpSpPr/>
          <p:nvPr/>
        </p:nvGrpSpPr>
        <p:grpSpPr>
          <a:xfrm>
            <a:off x="1970842" y="1043396"/>
            <a:ext cx="7962095" cy="5218304"/>
            <a:chOff x="2417713" y="1192715"/>
            <a:chExt cx="7479714" cy="4789069"/>
          </a:xfrm>
        </p:grpSpPr>
        <p:sp>
          <p:nvSpPr>
            <p:cNvPr id="4" name="Rounded Rectangle 1"/>
            <p:cNvSpPr/>
            <p:nvPr/>
          </p:nvSpPr>
          <p:spPr>
            <a:xfrm>
              <a:off x="3982083" y="1192715"/>
              <a:ext cx="2978231" cy="430305"/>
            </a:xfrm>
            <a:custGeom>
              <a:avLst/>
              <a:gdLst/>
              <a:ahLst/>
              <a:cxnLst/>
              <a:rect l="0" t="0" r="0" b="0"/>
              <a:pathLst>
                <a:path w="2012002" h="430305">
                  <a:moveTo>
                    <a:pt x="75626" y="107576"/>
                  </a:moveTo>
                  <a:cubicBezTo>
                    <a:pt x="75626" y="48163"/>
                    <a:pt x="123790" y="0"/>
                    <a:pt x="183202" y="0"/>
                  </a:cubicBezTo>
                  <a:moveTo>
                    <a:pt x="1904426" y="0"/>
                  </a:moveTo>
                  <a:lnTo>
                    <a:pt x="183202" y="0"/>
                  </a:lnTo>
                  <a:moveTo>
                    <a:pt x="1904426" y="0"/>
                  </a:moveTo>
                  <a:cubicBezTo>
                    <a:pt x="1963839" y="0"/>
                    <a:pt x="2012002" y="48163"/>
                    <a:pt x="2012002" y="107576"/>
                  </a:cubicBezTo>
                  <a:moveTo>
                    <a:pt x="2012002" y="322729"/>
                  </a:moveTo>
                  <a:lnTo>
                    <a:pt x="2012002" y="107576"/>
                  </a:lnTo>
                  <a:moveTo>
                    <a:pt x="2012002" y="322729"/>
                  </a:moveTo>
                  <a:cubicBezTo>
                    <a:pt x="2012002" y="382142"/>
                    <a:pt x="1963839" y="430305"/>
                    <a:pt x="1904426" y="430305"/>
                  </a:cubicBezTo>
                  <a:moveTo>
                    <a:pt x="1904426" y="430305"/>
                  </a:moveTo>
                  <a:lnTo>
                    <a:pt x="183202" y="430305"/>
                  </a:lnTo>
                  <a:moveTo>
                    <a:pt x="183206" y="430305"/>
                  </a:moveTo>
                  <a:cubicBezTo>
                    <a:pt x="123793" y="430305"/>
                    <a:pt x="75629" y="382142"/>
                    <a:pt x="75629" y="322729"/>
                  </a:cubicBezTo>
                  <a:lnTo>
                    <a:pt x="11606" y="284315"/>
                  </a:lnTo>
                  <a:cubicBezTo>
                    <a:pt x="0" y="277351"/>
                    <a:pt x="0" y="260530"/>
                    <a:pt x="11606" y="253566"/>
                  </a:cubicBezTo>
                  <a:lnTo>
                    <a:pt x="75629" y="215152"/>
                  </a:lnTo>
                  <a:moveTo>
                    <a:pt x="75626" y="215152"/>
                  </a:moveTo>
                  <a:lnTo>
                    <a:pt x="75626" y="107576"/>
                  </a:lnTo>
                </a:path>
              </a:pathLst>
            </a:custGeom>
            <a:noFill/>
            <a:ln w="13446">
              <a:solidFill>
                <a:srgbClr val="1EABDA"/>
              </a:solidFill>
            </a:ln>
          </p:spPr>
          <p:txBody>
            <a:bodyPr rtlCol="0" anchor="ctr"/>
            <a:lstStyle/>
            <a:p>
              <a:pPr algn="ctr"/>
              <a:endParaRPr/>
            </a:p>
          </p:txBody>
        </p:sp>
        <p:sp>
          <p:nvSpPr>
            <p:cNvPr id="5" name="Rounded Rectangle 2"/>
            <p:cNvSpPr/>
            <p:nvPr/>
          </p:nvSpPr>
          <p:spPr>
            <a:xfrm>
              <a:off x="4518992" y="1712668"/>
              <a:ext cx="3763618" cy="645458"/>
            </a:xfrm>
            <a:custGeom>
              <a:avLst/>
              <a:gdLst/>
              <a:ahLst/>
              <a:cxnLst/>
              <a:rect l="0" t="0" r="0" b="0"/>
              <a:pathLst>
                <a:path w="2657464" h="645458">
                  <a:moveTo>
                    <a:pt x="0" y="107576"/>
                  </a:moveTo>
                  <a:cubicBezTo>
                    <a:pt x="0" y="48163"/>
                    <a:pt x="48163" y="0"/>
                    <a:pt x="107576" y="0"/>
                  </a:cubicBezTo>
                  <a:moveTo>
                    <a:pt x="2474258" y="0"/>
                  </a:moveTo>
                  <a:lnTo>
                    <a:pt x="107576" y="0"/>
                  </a:lnTo>
                  <a:moveTo>
                    <a:pt x="2474258" y="0"/>
                  </a:moveTo>
                  <a:cubicBezTo>
                    <a:pt x="2533671" y="0"/>
                    <a:pt x="2581835" y="48163"/>
                    <a:pt x="2581835" y="107576"/>
                  </a:cubicBezTo>
                  <a:moveTo>
                    <a:pt x="2581835" y="430305"/>
                  </a:moveTo>
                  <a:lnTo>
                    <a:pt x="2581835" y="107576"/>
                  </a:lnTo>
                  <a:moveTo>
                    <a:pt x="2581835" y="430305"/>
                  </a:moveTo>
                  <a:lnTo>
                    <a:pt x="2645858" y="468719"/>
                  </a:lnTo>
                  <a:cubicBezTo>
                    <a:pt x="2657464" y="475683"/>
                    <a:pt x="2657464" y="492504"/>
                    <a:pt x="2645858" y="499468"/>
                  </a:cubicBezTo>
                  <a:lnTo>
                    <a:pt x="2581835" y="537882"/>
                  </a:lnTo>
                  <a:cubicBezTo>
                    <a:pt x="2581835" y="597295"/>
                    <a:pt x="2533671" y="645458"/>
                    <a:pt x="2474258" y="645458"/>
                  </a:cubicBezTo>
                  <a:moveTo>
                    <a:pt x="2474258" y="645458"/>
                  </a:moveTo>
                  <a:lnTo>
                    <a:pt x="107576" y="645458"/>
                  </a:lnTo>
                  <a:moveTo>
                    <a:pt x="107576" y="645458"/>
                  </a:moveTo>
                  <a:cubicBezTo>
                    <a:pt x="48163" y="645458"/>
                    <a:pt x="0" y="597295"/>
                    <a:pt x="0" y="537882"/>
                  </a:cubicBezTo>
                  <a:moveTo>
                    <a:pt x="0" y="537878"/>
                  </a:moveTo>
                  <a:lnTo>
                    <a:pt x="0" y="107576"/>
                  </a:lnTo>
                </a:path>
              </a:pathLst>
            </a:custGeom>
            <a:noFill/>
            <a:ln w="13446">
              <a:solidFill>
                <a:srgbClr val="92BD39"/>
              </a:solidFill>
            </a:ln>
          </p:spPr>
          <p:txBody>
            <a:bodyPr rtlCol="0" anchor="ctr"/>
            <a:lstStyle/>
            <a:p>
              <a:pPr algn="ctr"/>
              <a:endParaRPr/>
            </a:p>
          </p:txBody>
        </p:sp>
        <p:sp>
          <p:nvSpPr>
            <p:cNvPr id="6" name="Rounded Rectangle 3"/>
            <p:cNvSpPr/>
            <p:nvPr/>
          </p:nvSpPr>
          <p:spPr>
            <a:xfrm>
              <a:off x="3982083" y="2447774"/>
              <a:ext cx="3837869" cy="860611"/>
            </a:xfrm>
            <a:custGeom>
              <a:avLst/>
              <a:gdLst/>
              <a:ahLst/>
              <a:cxnLst/>
              <a:rect l="0" t="0" r="0" b="0"/>
              <a:pathLst>
                <a:path w="2765038" h="860611">
                  <a:moveTo>
                    <a:pt x="75626" y="107576"/>
                  </a:moveTo>
                  <a:cubicBezTo>
                    <a:pt x="75626" y="48163"/>
                    <a:pt x="123790" y="0"/>
                    <a:pt x="183202" y="0"/>
                  </a:cubicBezTo>
                  <a:moveTo>
                    <a:pt x="2657461" y="0"/>
                  </a:moveTo>
                  <a:lnTo>
                    <a:pt x="183202" y="0"/>
                  </a:lnTo>
                  <a:moveTo>
                    <a:pt x="2657461" y="0"/>
                  </a:moveTo>
                  <a:cubicBezTo>
                    <a:pt x="2716874" y="0"/>
                    <a:pt x="2765038" y="48163"/>
                    <a:pt x="2765038" y="107576"/>
                  </a:cubicBezTo>
                  <a:moveTo>
                    <a:pt x="2765038" y="753035"/>
                  </a:moveTo>
                  <a:lnTo>
                    <a:pt x="2765038" y="107576"/>
                  </a:lnTo>
                  <a:moveTo>
                    <a:pt x="2765038" y="753035"/>
                  </a:moveTo>
                  <a:cubicBezTo>
                    <a:pt x="2765038" y="812447"/>
                    <a:pt x="2716874" y="860611"/>
                    <a:pt x="2657461" y="860611"/>
                  </a:cubicBezTo>
                  <a:moveTo>
                    <a:pt x="2657461" y="860611"/>
                  </a:moveTo>
                  <a:lnTo>
                    <a:pt x="183202" y="860611"/>
                  </a:lnTo>
                  <a:moveTo>
                    <a:pt x="183206" y="860611"/>
                  </a:moveTo>
                  <a:cubicBezTo>
                    <a:pt x="123793" y="860611"/>
                    <a:pt x="75629" y="812447"/>
                    <a:pt x="75629" y="753035"/>
                  </a:cubicBezTo>
                  <a:lnTo>
                    <a:pt x="11606" y="714621"/>
                  </a:lnTo>
                  <a:cubicBezTo>
                    <a:pt x="0" y="707657"/>
                    <a:pt x="0" y="690836"/>
                    <a:pt x="11606" y="683872"/>
                  </a:cubicBezTo>
                  <a:lnTo>
                    <a:pt x="75629" y="645458"/>
                  </a:lnTo>
                  <a:moveTo>
                    <a:pt x="75626" y="645458"/>
                  </a:moveTo>
                  <a:lnTo>
                    <a:pt x="75626" y="107576"/>
                  </a:lnTo>
                </a:path>
              </a:pathLst>
            </a:custGeom>
            <a:noFill/>
            <a:ln w="13446">
              <a:solidFill>
                <a:srgbClr val="1EABDA"/>
              </a:solidFill>
            </a:ln>
          </p:spPr>
          <p:txBody>
            <a:bodyPr rtlCol="0" anchor="ctr"/>
            <a:lstStyle/>
            <a:p>
              <a:pPr algn="ctr"/>
              <a:endParaRPr/>
            </a:p>
          </p:txBody>
        </p:sp>
        <p:sp>
          <p:nvSpPr>
            <p:cNvPr id="7" name="Rounded Rectangle 4"/>
            <p:cNvSpPr/>
            <p:nvPr/>
          </p:nvSpPr>
          <p:spPr>
            <a:xfrm>
              <a:off x="4518993" y="3398033"/>
              <a:ext cx="3763618" cy="645458"/>
            </a:xfrm>
            <a:custGeom>
              <a:avLst/>
              <a:gdLst/>
              <a:ahLst/>
              <a:cxnLst/>
              <a:rect l="0" t="0" r="0" b="0"/>
              <a:pathLst>
                <a:path w="2765041" h="645458">
                  <a:moveTo>
                    <a:pt x="0" y="107576"/>
                  </a:moveTo>
                  <a:cubicBezTo>
                    <a:pt x="0" y="48163"/>
                    <a:pt x="48163" y="0"/>
                    <a:pt x="107576" y="0"/>
                  </a:cubicBezTo>
                  <a:moveTo>
                    <a:pt x="2581835" y="0"/>
                  </a:moveTo>
                  <a:lnTo>
                    <a:pt x="107576" y="0"/>
                  </a:lnTo>
                  <a:moveTo>
                    <a:pt x="2581835" y="0"/>
                  </a:moveTo>
                  <a:cubicBezTo>
                    <a:pt x="2641247" y="0"/>
                    <a:pt x="2689411" y="48163"/>
                    <a:pt x="2689411" y="107576"/>
                  </a:cubicBezTo>
                  <a:moveTo>
                    <a:pt x="2689411" y="430305"/>
                  </a:moveTo>
                  <a:lnTo>
                    <a:pt x="2689411" y="107576"/>
                  </a:lnTo>
                  <a:moveTo>
                    <a:pt x="2689411" y="430305"/>
                  </a:moveTo>
                  <a:lnTo>
                    <a:pt x="2753434" y="468719"/>
                  </a:lnTo>
                  <a:cubicBezTo>
                    <a:pt x="2765041" y="475683"/>
                    <a:pt x="2765041" y="492504"/>
                    <a:pt x="2753434" y="499468"/>
                  </a:cubicBezTo>
                  <a:lnTo>
                    <a:pt x="2689411" y="537882"/>
                  </a:lnTo>
                  <a:cubicBezTo>
                    <a:pt x="2689411" y="597295"/>
                    <a:pt x="2641247" y="645458"/>
                    <a:pt x="2581835" y="645458"/>
                  </a:cubicBezTo>
                  <a:moveTo>
                    <a:pt x="2581835" y="645458"/>
                  </a:moveTo>
                  <a:lnTo>
                    <a:pt x="107576" y="645458"/>
                  </a:lnTo>
                  <a:moveTo>
                    <a:pt x="107576" y="645458"/>
                  </a:moveTo>
                  <a:cubicBezTo>
                    <a:pt x="48163" y="645458"/>
                    <a:pt x="0" y="597295"/>
                    <a:pt x="0" y="537882"/>
                  </a:cubicBezTo>
                  <a:moveTo>
                    <a:pt x="0" y="537878"/>
                  </a:moveTo>
                  <a:lnTo>
                    <a:pt x="0" y="107576"/>
                  </a:lnTo>
                </a:path>
              </a:pathLst>
            </a:custGeom>
            <a:noFill/>
            <a:ln w="13446">
              <a:solidFill>
                <a:srgbClr val="92BD39"/>
              </a:solidFill>
            </a:ln>
          </p:spPr>
          <p:txBody>
            <a:bodyPr rtlCol="0" anchor="ctr"/>
            <a:lstStyle/>
            <a:p>
              <a:pPr algn="ctr"/>
              <a:endParaRPr/>
            </a:p>
          </p:txBody>
        </p:sp>
        <p:sp>
          <p:nvSpPr>
            <p:cNvPr id="8" name="Rounded Rectangle 5"/>
            <p:cNvSpPr/>
            <p:nvPr/>
          </p:nvSpPr>
          <p:spPr>
            <a:xfrm>
              <a:off x="3982083" y="4133139"/>
              <a:ext cx="3478891" cy="430305"/>
            </a:xfrm>
            <a:custGeom>
              <a:avLst/>
              <a:gdLst/>
              <a:ahLst/>
              <a:cxnLst/>
              <a:rect l="0" t="0" r="0" b="0"/>
              <a:pathLst>
                <a:path w="2442308" h="430305">
                  <a:moveTo>
                    <a:pt x="75626" y="107576"/>
                  </a:moveTo>
                  <a:cubicBezTo>
                    <a:pt x="75626" y="48163"/>
                    <a:pt x="123790" y="0"/>
                    <a:pt x="183202" y="0"/>
                  </a:cubicBezTo>
                  <a:moveTo>
                    <a:pt x="2334732" y="0"/>
                  </a:moveTo>
                  <a:lnTo>
                    <a:pt x="183202" y="0"/>
                  </a:lnTo>
                  <a:moveTo>
                    <a:pt x="2334732" y="0"/>
                  </a:moveTo>
                  <a:cubicBezTo>
                    <a:pt x="2394144" y="0"/>
                    <a:pt x="2442308" y="48163"/>
                    <a:pt x="2442308" y="107576"/>
                  </a:cubicBezTo>
                  <a:moveTo>
                    <a:pt x="2442308" y="322729"/>
                  </a:moveTo>
                  <a:lnTo>
                    <a:pt x="2442308" y="107576"/>
                  </a:lnTo>
                  <a:moveTo>
                    <a:pt x="2442308" y="322729"/>
                  </a:moveTo>
                  <a:cubicBezTo>
                    <a:pt x="2442308" y="382142"/>
                    <a:pt x="2394144" y="430305"/>
                    <a:pt x="2334732" y="430305"/>
                  </a:cubicBezTo>
                  <a:moveTo>
                    <a:pt x="2334732" y="430305"/>
                  </a:moveTo>
                  <a:lnTo>
                    <a:pt x="183202" y="430305"/>
                  </a:lnTo>
                  <a:moveTo>
                    <a:pt x="183206" y="430305"/>
                  </a:moveTo>
                  <a:cubicBezTo>
                    <a:pt x="123793" y="430305"/>
                    <a:pt x="75629" y="382142"/>
                    <a:pt x="75629" y="322729"/>
                  </a:cubicBezTo>
                  <a:lnTo>
                    <a:pt x="11606" y="284315"/>
                  </a:lnTo>
                  <a:cubicBezTo>
                    <a:pt x="0" y="277351"/>
                    <a:pt x="0" y="260530"/>
                    <a:pt x="11606" y="253566"/>
                  </a:cubicBezTo>
                  <a:lnTo>
                    <a:pt x="75629" y="215152"/>
                  </a:lnTo>
                  <a:moveTo>
                    <a:pt x="75626" y="215152"/>
                  </a:moveTo>
                  <a:lnTo>
                    <a:pt x="75626" y="107576"/>
                  </a:lnTo>
                </a:path>
              </a:pathLst>
            </a:custGeom>
            <a:noFill/>
            <a:ln w="13446">
              <a:solidFill>
                <a:srgbClr val="1EABDA"/>
              </a:solidFill>
            </a:ln>
          </p:spPr>
          <p:txBody>
            <a:bodyPr rtlCol="0" anchor="ctr"/>
            <a:lstStyle/>
            <a:p>
              <a:pPr algn="ctr"/>
              <a:endParaRPr/>
            </a:p>
          </p:txBody>
        </p:sp>
        <p:sp>
          <p:nvSpPr>
            <p:cNvPr id="9" name="Rounded Rectangle 6"/>
            <p:cNvSpPr/>
            <p:nvPr/>
          </p:nvSpPr>
          <p:spPr>
            <a:xfrm>
              <a:off x="4784036" y="4653092"/>
              <a:ext cx="3498574" cy="430305"/>
            </a:xfrm>
            <a:custGeom>
              <a:avLst/>
              <a:gdLst/>
              <a:ahLst/>
              <a:cxnLst/>
              <a:rect l="0" t="0" r="0" b="0"/>
              <a:pathLst>
                <a:path w="2442312" h="430305">
                  <a:moveTo>
                    <a:pt x="0" y="107576"/>
                  </a:moveTo>
                  <a:cubicBezTo>
                    <a:pt x="0" y="48163"/>
                    <a:pt x="48163" y="0"/>
                    <a:pt x="107576" y="0"/>
                  </a:cubicBezTo>
                  <a:moveTo>
                    <a:pt x="2259105" y="0"/>
                  </a:moveTo>
                  <a:lnTo>
                    <a:pt x="107576" y="0"/>
                  </a:lnTo>
                  <a:moveTo>
                    <a:pt x="2259105" y="0"/>
                  </a:moveTo>
                  <a:cubicBezTo>
                    <a:pt x="2318518" y="0"/>
                    <a:pt x="2366682" y="48163"/>
                    <a:pt x="2366682" y="107576"/>
                  </a:cubicBezTo>
                  <a:moveTo>
                    <a:pt x="2366682" y="107576"/>
                  </a:moveTo>
                  <a:lnTo>
                    <a:pt x="2366682" y="215152"/>
                  </a:lnTo>
                  <a:moveTo>
                    <a:pt x="2366682" y="215152"/>
                  </a:moveTo>
                  <a:lnTo>
                    <a:pt x="2430705" y="253566"/>
                  </a:lnTo>
                  <a:cubicBezTo>
                    <a:pt x="2442312" y="260530"/>
                    <a:pt x="2442312" y="277351"/>
                    <a:pt x="2430705" y="284315"/>
                  </a:cubicBezTo>
                  <a:lnTo>
                    <a:pt x="2366682" y="322729"/>
                  </a:lnTo>
                  <a:cubicBezTo>
                    <a:pt x="2366682" y="382142"/>
                    <a:pt x="2318518" y="430305"/>
                    <a:pt x="2259105" y="430305"/>
                  </a:cubicBezTo>
                  <a:moveTo>
                    <a:pt x="2259105" y="430305"/>
                  </a:moveTo>
                  <a:lnTo>
                    <a:pt x="107576" y="430305"/>
                  </a:lnTo>
                  <a:moveTo>
                    <a:pt x="107576" y="430305"/>
                  </a:moveTo>
                  <a:cubicBezTo>
                    <a:pt x="48163" y="430305"/>
                    <a:pt x="0" y="382142"/>
                    <a:pt x="0" y="322729"/>
                  </a:cubicBezTo>
                  <a:moveTo>
                    <a:pt x="0" y="322727"/>
                  </a:moveTo>
                  <a:lnTo>
                    <a:pt x="0" y="107576"/>
                  </a:lnTo>
                </a:path>
              </a:pathLst>
            </a:custGeom>
            <a:noFill/>
            <a:ln w="13446">
              <a:solidFill>
                <a:srgbClr val="92BD39"/>
              </a:solidFill>
            </a:ln>
          </p:spPr>
          <p:txBody>
            <a:bodyPr rtlCol="0" anchor="ctr"/>
            <a:lstStyle/>
            <a:p>
              <a:pPr algn="ctr"/>
              <a:endParaRPr/>
            </a:p>
          </p:txBody>
        </p:sp>
        <p:grpSp>
          <p:nvGrpSpPr>
            <p:cNvPr id="35" name="Group 34">
              <a:extLst>
                <a:ext uri="{FF2B5EF4-FFF2-40B4-BE49-F238E27FC236}">
                  <a16:creationId xmlns:a16="http://schemas.microsoft.com/office/drawing/2014/main" id="{00FADD2D-8B32-82A2-1DD8-6DC383038A2A}"/>
                </a:ext>
              </a:extLst>
            </p:cNvPr>
            <p:cNvGrpSpPr/>
            <p:nvPr/>
          </p:nvGrpSpPr>
          <p:grpSpPr>
            <a:xfrm>
              <a:off x="2417713" y="4359965"/>
              <a:ext cx="973089" cy="1621819"/>
              <a:chOff x="2417713" y="4359965"/>
              <a:chExt cx="973089" cy="1621819"/>
            </a:xfrm>
          </p:grpSpPr>
          <p:sp>
            <p:nvSpPr>
              <p:cNvPr id="11" name="Rounded Rectangle 7"/>
              <p:cNvSpPr/>
              <p:nvPr/>
            </p:nvSpPr>
            <p:spPr>
              <a:xfrm>
                <a:off x="2417713" y="5257803"/>
                <a:ext cx="911820" cy="723981"/>
              </a:xfrm>
              <a:custGeom>
                <a:avLst/>
                <a:gdLst/>
                <a:ahLst/>
                <a:cxnLst/>
                <a:rect l="0" t="0" r="0" b="0"/>
                <a:pathLst>
                  <a:path w="627344" h="527681">
                    <a:moveTo>
                      <a:pt x="0" y="315080"/>
                    </a:moveTo>
                    <a:cubicBezTo>
                      <a:pt x="0" y="159321"/>
                      <a:pt x="107839" y="29477"/>
                      <a:pt x="251434" y="0"/>
                    </a:cubicBezTo>
                    <a:cubicBezTo>
                      <a:pt x="251434" y="0"/>
                      <a:pt x="219410" y="58704"/>
                      <a:pt x="247364" y="115772"/>
                    </a:cubicBezTo>
                    <a:cubicBezTo>
                      <a:pt x="253395" y="128083"/>
                      <a:pt x="271934" y="125667"/>
                      <a:pt x="279064" y="113974"/>
                    </a:cubicBezTo>
                    <a:cubicBezTo>
                      <a:pt x="286662" y="101513"/>
                      <a:pt x="295011" y="88918"/>
                      <a:pt x="298612" y="82558"/>
                    </a:cubicBezTo>
                    <a:lnTo>
                      <a:pt x="303763" y="73812"/>
                    </a:lnTo>
                    <a:cubicBezTo>
                      <a:pt x="311696" y="60843"/>
                      <a:pt x="318239" y="52271"/>
                      <a:pt x="318239" y="52271"/>
                    </a:cubicBezTo>
                    <a:cubicBezTo>
                      <a:pt x="318239" y="52271"/>
                      <a:pt x="328266" y="92482"/>
                      <a:pt x="339056" y="111607"/>
                    </a:cubicBezTo>
                    <a:cubicBezTo>
                      <a:pt x="339056" y="111607"/>
                      <a:pt x="339056" y="240999"/>
                      <a:pt x="312908" y="409109"/>
                    </a:cubicBezTo>
                    <a:cubicBezTo>
                      <a:pt x="339056" y="457014"/>
                      <a:pt x="375328" y="480165"/>
                      <a:pt x="375328" y="480165"/>
                    </a:cubicBezTo>
                    <a:cubicBezTo>
                      <a:pt x="375328" y="480165"/>
                      <a:pt x="410576" y="450445"/>
                      <a:pt x="429125" y="409109"/>
                    </a:cubicBezTo>
                    <a:cubicBezTo>
                      <a:pt x="410576" y="226006"/>
                      <a:pt x="380481" y="111607"/>
                      <a:pt x="380481" y="111607"/>
                    </a:cubicBezTo>
                    <a:cubicBezTo>
                      <a:pt x="393501" y="79036"/>
                      <a:pt x="389659" y="52253"/>
                      <a:pt x="389659" y="52253"/>
                    </a:cubicBezTo>
                    <a:cubicBezTo>
                      <a:pt x="389659" y="52253"/>
                      <a:pt x="415760" y="74595"/>
                      <a:pt x="430250" y="108135"/>
                    </a:cubicBezTo>
                    <a:cubicBezTo>
                      <a:pt x="433685" y="116086"/>
                      <a:pt x="444813" y="116610"/>
                      <a:pt x="445848" y="107994"/>
                    </a:cubicBezTo>
                    <a:cubicBezTo>
                      <a:pt x="451186" y="63593"/>
                      <a:pt x="429661" y="16450"/>
                      <a:pt x="429661" y="16450"/>
                    </a:cubicBezTo>
                    <a:cubicBezTo>
                      <a:pt x="545478" y="63700"/>
                      <a:pt x="627344" y="179598"/>
                      <a:pt x="627344" y="315081"/>
                    </a:cubicBezTo>
                    <a:lnTo>
                      <a:pt x="627344" y="527681"/>
                    </a:lnTo>
                    <a:lnTo>
                      <a:pt x="0" y="527681"/>
                    </a:lnTo>
                    <a:close/>
                    <a:moveTo>
                      <a:pt x="303763" y="73812"/>
                    </a:moveTo>
                    <a:cubicBezTo>
                      <a:pt x="302090" y="76546"/>
                      <a:pt x="300357" y="79474"/>
                      <a:pt x="298612" y="82558"/>
                    </a:cubicBezTo>
                    <a:close/>
                    <a:moveTo>
                      <a:pt x="122021" y="227479"/>
                    </a:moveTo>
                    <a:lnTo>
                      <a:pt x="122021" y="527671"/>
                    </a:lnTo>
                    <a:moveTo>
                      <a:pt x="522954" y="227479"/>
                    </a:moveTo>
                    <a:lnTo>
                      <a:pt x="522954" y="527671"/>
                    </a:lnTo>
                    <a:moveTo>
                      <a:pt x="375326" y="527671"/>
                    </a:moveTo>
                    <a:lnTo>
                      <a:pt x="375326" y="480155"/>
                    </a:lnTo>
                  </a:path>
                </a:pathLst>
              </a:custGeom>
              <a:noFill/>
              <a:ln w="13446">
                <a:solidFill>
                  <a:srgbClr val="484848"/>
                </a:solidFill>
              </a:ln>
            </p:spPr>
            <p:txBody>
              <a:bodyPr rtlCol="0" anchor="ctr"/>
              <a:lstStyle/>
              <a:p>
                <a:pPr algn="ctr"/>
                <a:endParaRPr sz="2000"/>
              </a:p>
            </p:txBody>
          </p:sp>
          <p:sp>
            <p:nvSpPr>
              <p:cNvPr id="12" name="Rounded Rectangle 8"/>
              <p:cNvSpPr/>
              <p:nvPr/>
            </p:nvSpPr>
            <p:spPr>
              <a:xfrm>
                <a:off x="2736621" y="5227149"/>
                <a:ext cx="336877" cy="206388"/>
              </a:xfrm>
              <a:custGeom>
                <a:avLst/>
                <a:gdLst/>
                <a:ahLst/>
                <a:cxnLst/>
                <a:rect l="0" t="0" r="0" b="0"/>
                <a:pathLst>
                  <a:path w="231776" h="150428">
                    <a:moveTo>
                      <a:pt x="32022" y="22345"/>
                    </a:moveTo>
                    <a:lnTo>
                      <a:pt x="67078" y="0"/>
                    </a:lnTo>
                    <a:lnTo>
                      <a:pt x="98844" y="74599"/>
                    </a:lnTo>
                    <a:cubicBezTo>
                      <a:pt x="98844" y="74599"/>
                      <a:pt x="92286" y="83188"/>
                      <a:pt x="84352" y="96158"/>
                    </a:cubicBezTo>
                    <a:cubicBezTo>
                      <a:pt x="82680" y="98892"/>
                      <a:pt x="80947" y="101820"/>
                      <a:pt x="79201" y="104904"/>
                    </a:cubicBezTo>
                    <a:cubicBezTo>
                      <a:pt x="75601" y="111263"/>
                      <a:pt x="67252" y="123859"/>
                      <a:pt x="59653" y="136320"/>
                    </a:cubicBezTo>
                    <a:cubicBezTo>
                      <a:pt x="52523" y="148012"/>
                      <a:pt x="33985" y="150428"/>
                      <a:pt x="27954" y="138118"/>
                    </a:cubicBezTo>
                    <a:cubicBezTo>
                      <a:pt x="0" y="81049"/>
                      <a:pt x="32022" y="22345"/>
                      <a:pt x="32022" y="22345"/>
                    </a:cubicBezTo>
                    <a:close/>
                    <a:moveTo>
                      <a:pt x="226438" y="130339"/>
                    </a:moveTo>
                    <a:cubicBezTo>
                      <a:pt x="225403" y="138955"/>
                      <a:pt x="214274" y="138432"/>
                      <a:pt x="210840" y="130481"/>
                    </a:cubicBezTo>
                    <a:cubicBezTo>
                      <a:pt x="196349" y="96940"/>
                      <a:pt x="170248" y="74599"/>
                      <a:pt x="170248" y="74599"/>
                    </a:cubicBezTo>
                    <a:lnTo>
                      <a:pt x="190977" y="14017"/>
                    </a:lnTo>
                    <a:lnTo>
                      <a:pt x="210251" y="38795"/>
                    </a:lnTo>
                    <a:cubicBezTo>
                      <a:pt x="210251" y="38795"/>
                      <a:pt x="231776" y="85939"/>
                      <a:pt x="226438" y="130339"/>
                    </a:cubicBezTo>
                    <a:close/>
                    <a:moveTo>
                      <a:pt x="79201" y="104904"/>
                    </a:moveTo>
                    <a:lnTo>
                      <a:pt x="84352" y="96158"/>
                    </a:lnTo>
                    <a:close/>
                  </a:path>
                </a:pathLst>
              </a:custGeom>
              <a:noFill/>
              <a:ln w="13446">
                <a:solidFill>
                  <a:srgbClr val="484848"/>
                </a:solidFill>
              </a:ln>
            </p:spPr>
            <p:txBody>
              <a:bodyPr rtlCol="0" anchor="ctr"/>
              <a:lstStyle/>
              <a:p>
                <a:pPr algn="ctr"/>
                <a:endParaRPr sz="2000"/>
              </a:p>
            </p:txBody>
          </p:sp>
          <p:sp>
            <p:nvSpPr>
              <p:cNvPr id="13" name="Rounded Rectangle 9"/>
              <p:cNvSpPr/>
              <p:nvPr/>
            </p:nvSpPr>
            <p:spPr>
              <a:xfrm>
                <a:off x="2569355" y="4359965"/>
                <a:ext cx="821447" cy="534923"/>
              </a:xfrm>
              <a:custGeom>
                <a:avLst/>
                <a:gdLst/>
                <a:ahLst/>
                <a:cxnLst/>
                <a:rect l="0" t="0" r="0" b="0"/>
                <a:pathLst>
                  <a:path w="565166" h="389884">
                    <a:moveTo>
                      <a:pt x="449130" y="365803"/>
                    </a:moveTo>
                    <a:lnTo>
                      <a:pt x="449130" y="264177"/>
                    </a:lnTo>
                    <a:cubicBezTo>
                      <a:pt x="449130" y="264177"/>
                      <a:pt x="339072" y="285664"/>
                      <a:pt x="261192" y="264177"/>
                    </a:cubicBezTo>
                    <a:cubicBezTo>
                      <a:pt x="183312" y="242688"/>
                      <a:pt x="140434" y="179997"/>
                      <a:pt x="140434" y="179997"/>
                    </a:cubicBezTo>
                    <a:cubicBezTo>
                      <a:pt x="140434" y="207775"/>
                      <a:pt x="136819" y="303968"/>
                      <a:pt x="87603" y="361810"/>
                    </a:cubicBezTo>
                    <a:cubicBezTo>
                      <a:pt x="80907" y="359412"/>
                      <a:pt x="75416" y="357925"/>
                      <a:pt x="63831" y="362748"/>
                    </a:cubicBezTo>
                    <a:cubicBezTo>
                      <a:pt x="52246" y="367571"/>
                      <a:pt x="44359" y="378872"/>
                      <a:pt x="41612" y="389884"/>
                    </a:cubicBezTo>
                    <a:cubicBezTo>
                      <a:pt x="41612" y="389884"/>
                      <a:pt x="0" y="246384"/>
                      <a:pt x="22049" y="194187"/>
                    </a:cubicBezTo>
                    <a:cubicBezTo>
                      <a:pt x="52899" y="121157"/>
                      <a:pt x="100493" y="101535"/>
                      <a:pt x="100493" y="101535"/>
                    </a:cubicBezTo>
                    <a:cubicBezTo>
                      <a:pt x="122283" y="17658"/>
                      <a:pt x="249208" y="0"/>
                      <a:pt x="318391" y="30902"/>
                    </a:cubicBezTo>
                    <a:cubicBezTo>
                      <a:pt x="387573" y="61804"/>
                      <a:pt x="420476" y="112285"/>
                      <a:pt x="472771" y="54896"/>
                    </a:cubicBezTo>
                    <a:cubicBezTo>
                      <a:pt x="565166" y="194928"/>
                      <a:pt x="514457" y="339020"/>
                      <a:pt x="449130" y="365803"/>
                    </a:cubicBezTo>
                    <a:close/>
                  </a:path>
                </a:pathLst>
              </a:custGeom>
              <a:noFill/>
              <a:ln w="13446">
                <a:solidFill>
                  <a:srgbClr val="484848"/>
                </a:solidFill>
              </a:ln>
            </p:spPr>
            <p:txBody>
              <a:bodyPr rtlCol="0" anchor="ctr"/>
              <a:lstStyle/>
              <a:p>
                <a:pPr algn="ctr"/>
                <a:endParaRPr sz="2000"/>
              </a:p>
            </p:txBody>
          </p:sp>
          <p:sp>
            <p:nvSpPr>
              <p:cNvPr id="14" name="Rounded Rectangle 10"/>
              <p:cNvSpPr/>
              <p:nvPr/>
            </p:nvSpPr>
            <p:spPr>
              <a:xfrm>
                <a:off x="2872510" y="5321608"/>
                <a:ext cx="168914" cy="594981"/>
              </a:xfrm>
              <a:custGeom>
                <a:avLst/>
                <a:gdLst/>
                <a:ahLst/>
                <a:cxnLst/>
                <a:rect l="0" t="0" r="0" b="0"/>
                <a:pathLst>
                  <a:path w="116215" h="433658">
                    <a:moveTo>
                      <a:pt x="5331" y="5764"/>
                    </a:moveTo>
                    <a:cubicBezTo>
                      <a:pt x="5331" y="5764"/>
                      <a:pt x="22410" y="0"/>
                      <a:pt x="43204" y="0"/>
                    </a:cubicBezTo>
                    <a:cubicBezTo>
                      <a:pt x="64244" y="0"/>
                      <a:pt x="76734" y="5654"/>
                      <a:pt x="76734" y="5654"/>
                    </a:cubicBezTo>
                    <a:cubicBezTo>
                      <a:pt x="76734" y="5654"/>
                      <a:pt x="80592" y="32529"/>
                      <a:pt x="67572" y="65100"/>
                    </a:cubicBezTo>
                    <a:cubicBezTo>
                      <a:pt x="67572" y="65100"/>
                      <a:pt x="97666" y="179499"/>
                      <a:pt x="116215" y="362602"/>
                    </a:cubicBezTo>
                    <a:cubicBezTo>
                      <a:pt x="97666" y="403937"/>
                      <a:pt x="62419" y="433658"/>
                      <a:pt x="62419" y="433658"/>
                    </a:cubicBezTo>
                    <a:cubicBezTo>
                      <a:pt x="62419" y="433658"/>
                      <a:pt x="26148" y="410507"/>
                      <a:pt x="0" y="362602"/>
                    </a:cubicBezTo>
                    <a:cubicBezTo>
                      <a:pt x="26148" y="194491"/>
                      <a:pt x="26148" y="65100"/>
                      <a:pt x="26148" y="65100"/>
                    </a:cubicBezTo>
                    <a:cubicBezTo>
                      <a:pt x="15357" y="45976"/>
                      <a:pt x="5331" y="5764"/>
                      <a:pt x="5331" y="5764"/>
                    </a:cubicBezTo>
                    <a:close/>
                    <a:moveTo>
                      <a:pt x="67574" y="65099"/>
                    </a:moveTo>
                    <a:cubicBezTo>
                      <a:pt x="67574" y="65099"/>
                      <a:pt x="61435" y="65099"/>
                      <a:pt x="51922" y="65099"/>
                    </a:cubicBezTo>
                    <a:cubicBezTo>
                      <a:pt x="42410" y="65099"/>
                      <a:pt x="26149" y="65099"/>
                      <a:pt x="26149" y="65099"/>
                    </a:cubicBezTo>
                  </a:path>
                </a:pathLst>
              </a:custGeom>
              <a:noFill/>
              <a:ln w="13446">
                <a:solidFill>
                  <a:srgbClr val="484848"/>
                </a:solidFill>
              </a:ln>
            </p:spPr>
            <p:txBody>
              <a:bodyPr rtlCol="0" anchor="ctr"/>
              <a:lstStyle/>
              <a:p>
                <a:pPr algn="ctr"/>
                <a:endParaRPr sz="2000"/>
              </a:p>
            </p:txBody>
          </p:sp>
        </p:grpSp>
        <p:grpSp>
          <p:nvGrpSpPr>
            <p:cNvPr id="34" name="Group 33">
              <a:extLst>
                <a:ext uri="{FF2B5EF4-FFF2-40B4-BE49-F238E27FC236}">
                  <a16:creationId xmlns:a16="http://schemas.microsoft.com/office/drawing/2014/main" id="{F1375158-E580-B2FD-7275-7C78E768EBF1}"/>
                </a:ext>
              </a:extLst>
            </p:cNvPr>
            <p:cNvGrpSpPr/>
            <p:nvPr/>
          </p:nvGrpSpPr>
          <p:grpSpPr>
            <a:xfrm>
              <a:off x="2628298" y="4620428"/>
              <a:ext cx="591980" cy="701180"/>
              <a:chOff x="2628298" y="4620428"/>
              <a:chExt cx="591980" cy="701180"/>
            </a:xfrm>
          </p:grpSpPr>
          <p:sp>
            <p:nvSpPr>
              <p:cNvPr id="16" name="Rounded Rectangle 12"/>
              <p:cNvSpPr/>
              <p:nvPr/>
            </p:nvSpPr>
            <p:spPr>
              <a:xfrm>
                <a:off x="2832148" y="5144868"/>
                <a:ext cx="178779" cy="176740"/>
              </a:xfrm>
              <a:custGeom>
                <a:avLst/>
                <a:gdLst/>
                <a:ahLst/>
                <a:cxnLst/>
                <a:rect l="0" t="0" r="0" b="0"/>
                <a:pathLst>
                  <a:path w="124121" h="132518">
                    <a:moveTo>
                      <a:pt x="124057" y="24883"/>
                    </a:moveTo>
                    <a:lnTo>
                      <a:pt x="124057" y="71921"/>
                    </a:lnTo>
                    <a:lnTo>
                      <a:pt x="103271" y="132518"/>
                    </a:lnTo>
                    <a:cubicBezTo>
                      <a:pt x="103271" y="132518"/>
                      <a:pt x="91814" y="126811"/>
                      <a:pt x="69734" y="126811"/>
                    </a:cubicBezTo>
                    <a:cubicBezTo>
                      <a:pt x="47654" y="126811"/>
                      <a:pt x="31882" y="132518"/>
                      <a:pt x="31882" y="132518"/>
                    </a:cubicBezTo>
                    <a:lnTo>
                      <a:pt x="31" y="57884"/>
                    </a:lnTo>
                    <a:lnTo>
                      <a:pt x="31" y="0"/>
                    </a:lnTo>
                    <a:lnTo>
                      <a:pt x="0" y="0"/>
                    </a:lnTo>
                    <a:cubicBezTo>
                      <a:pt x="13256" y="6859"/>
                      <a:pt x="41529" y="16232"/>
                      <a:pt x="59598" y="16953"/>
                    </a:cubicBezTo>
                    <a:cubicBezTo>
                      <a:pt x="77666" y="17673"/>
                      <a:pt x="107559" y="16953"/>
                      <a:pt x="124121" y="11185"/>
                    </a:cubicBezTo>
                    <a:close/>
                  </a:path>
                </a:pathLst>
              </a:custGeom>
              <a:noFill/>
              <a:ln w="13446">
                <a:solidFill>
                  <a:srgbClr val="484848"/>
                </a:solidFill>
              </a:ln>
            </p:spPr>
            <p:txBody>
              <a:bodyPr rtlCol="0" anchor="ctr"/>
              <a:lstStyle/>
              <a:p>
                <a:pPr algn="ctr"/>
                <a:endParaRPr sz="2000"/>
              </a:p>
            </p:txBody>
          </p:sp>
          <p:sp>
            <p:nvSpPr>
              <p:cNvPr id="17" name="Rounded Rectangle 13"/>
              <p:cNvSpPr/>
              <p:nvPr/>
            </p:nvSpPr>
            <p:spPr>
              <a:xfrm>
                <a:off x="2628298" y="4620428"/>
                <a:ext cx="591980" cy="547621"/>
              </a:xfrm>
              <a:custGeom>
                <a:avLst/>
                <a:gdLst/>
                <a:ahLst/>
                <a:cxnLst/>
                <a:rect l="0" t="0" r="0" b="0"/>
                <a:pathLst>
                  <a:path w="410995" h="410602">
                    <a:moveTo>
                      <a:pt x="30423" y="179293"/>
                    </a:moveTo>
                    <a:cubicBezTo>
                      <a:pt x="50535" y="175119"/>
                      <a:pt x="43963" y="179293"/>
                      <a:pt x="46915" y="180998"/>
                    </a:cubicBezTo>
                    <a:cubicBezTo>
                      <a:pt x="103570" y="114779"/>
                      <a:pt x="99211" y="0"/>
                      <a:pt x="99211" y="0"/>
                    </a:cubicBezTo>
                    <a:cubicBezTo>
                      <a:pt x="99211" y="0"/>
                      <a:pt x="147149" y="61804"/>
                      <a:pt x="221235" y="83877"/>
                    </a:cubicBezTo>
                    <a:cubicBezTo>
                      <a:pt x="295320" y="105950"/>
                      <a:pt x="408627" y="83233"/>
                      <a:pt x="408627" y="83233"/>
                    </a:cubicBezTo>
                    <a:cubicBezTo>
                      <a:pt x="408627" y="111011"/>
                      <a:pt x="408627" y="105950"/>
                      <a:pt x="408627" y="181805"/>
                    </a:cubicBezTo>
                    <a:cubicBezTo>
                      <a:pt x="408627" y="203071"/>
                      <a:pt x="410995" y="218597"/>
                      <a:pt x="402431" y="258760"/>
                    </a:cubicBezTo>
                    <a:cubicBezTo>
                      <a:pt x="383992" y="345234"/>
                      <a:pt x="308411" y="410602"/>
                      <a:pt x="218566" y="410602"/>
                    </a:cubicBezTo>
                    <a:cubicBezTo>
                      <a:pt x="128722" y="410602"/>
                      <a:pt x="53140" y="345324"/>
                      <a:pt x="34702" y="258760"/>
                    </a:cubicBezTo>
                    <a:cubicBezTo>
                      <a:pt x="15133" y="256356"/>
                      <a:pt x="0" y="239258"/>
                      <a:pt x="0" y="218597"/>
                    </a:cubicBezTo>
                    <a:cubicBezTo>
                      <a:pt x="0" y="199449"/>
                      <a:pt x="12959" y="183508"/>
                      <a:pt x="30353" y="179234"/>
                    </a:cubicBezTo>
                    <a:close/>
                  </a:path>
                </a:pathLst>
              </a:custGeom>
              <a:noFill/>
              <a:ln w="13446">
                <a:solidFill>
                  <a:srgbClr val="484848"/>
                </a:solidFill>
              </a:ln>
            </p:spPr>
            <p:txBody>
              <a:bodyPr rtlCol="0" anchor="ctr"/>
              <a:lstStyle/>
              <a:p>
                <a:pPr algn="ctr"/>
                <a:endParaRPr sz="2000"/>
              </a:p>
            </p:txBody>
          </p:sp>
          <p:sp>
            <p:nvSpPr>
              <p:cNvPr id="18" name="Rounded Rectangle 14"/>
              <p:cNvSpPr/>
              <p:nvPr/>
            </p:nvSpPr>
            <p:spPr>
              <a:xfrm>
                <a:off x="2857456" y="4772965"/>
                <a:ext cx="299849" cy="302359"/>
              </a:xfrm>
              <a:custGeom>
                <a:avLst/>
                <a:gdLst/>
                <a:ahLst/>
                <a:cxnLst/>
                <a:rect l="0" t="0" r="0" b="0"/>
                <a:pathLst>
                  <a:path w="208177" h="226706">
                    <a:moveTo>
                      <a:pt x="143732" y="183635"/>
                    </a:moveTo>
                    <a:cubicBezTo>
                      <a:pt x="129681" y="226706"/>
                      <a:pt x="61643" y="226500"/>
                      <a:pt x="47659" y="183635"/>
                    </a:cubicBezTo>
                    <a:close/>
                    <a:moveTo>
                      <a:pt x="49650" y="67068"/>
                    </a:moveTo>
                    <a:cubicBezTo>
                      <a:pt x="49650" y="76819"/>
                      <a:pt x="41845" y="84725"/>
                      <a:pt x="32218" y="84725"/>
                    </a:cubicBezTo>
                    <a:cubicBezTo>
                      <a:pt x="22591" y="84725"/>
                      <a:pt x="14786" y="76819"/>
                      <a:pt x="14786" y="67068"/>
                    </a:cubicBezTo>
                    <a:cubicBezTo>
                      <a:pt x="14786" y="57315"/>
                      <a:pt x="22591" y="49409"/>
                      <a:pt x="32218" y="49409"/>
                    </a:cubicBezTo>
                    <a:cubicBezTo>
                      <a:pt x="41845" y="49409"/>
                      <a:pt x="49650" y="57315"/>
                      <a:pt x="49650" y="67068"/>
                    </a:cubicBezTo>
                    <a:close/>
                    <a:moveTo>
                      <a:pt x="191098" y="67068"/>
                    </a:moveTo>
                    <a:cubicBezTo>
                      <a:pt x="191098" y="76819"/>
                      <a:pt x="183293" y="84725"/>
                      <a:pt x="173666" y="84725"/>
                    </a:cubicBezTo>
                    <a:cubicBezTo>
                      <a:pt x="164039" y="84725"/>
                      <a:pt x="156234" y="76819"/>
                      <a:pt x="156234" y="67068"/>
                    </a:cubicBezTo>
                    <a:cubicBezTo>
                      <a:pt x="156234" y="57315"/>
                      <a:pt x="164039" y="49409"/>
                      <a:pt x="173666" y="49409"/>
                    </a:cubicBezTo>
                    <a:cubicBezTo>
                      <a:pt x="183293" y="49409"/>
                      <a:pt x="191098" y="57315"/>
                      <a:pt x="191098" y="67068"/>
                    </a:cubicBezTo>
                    <a:close/>
                    <a:moveTo>
                      <a:pt x="32222" y="58234"/>
                    </a:moveTo>
                    <a:cubicBezTo>
                      <a:pt x="27408" y="58234"/>
                      <a:pt x="23505" y="62186"/>
                      <a:pt x="23505" y="67063"/>
                    </a:cubicBezTo>
                    <a:cubicBezTo>
                      <a:pt x="23505" y="71939"/>
                      <a:pt x="27408" y="75892"/>
                      <a:pt x="32222" y="75892"/>
                    </a:cubicBezTo>
                    <a:cubicBezTo>
                      <a:pt x="37035" y="75892"/>
                      <a:pt x="40937" y="71939"/>
                      <a:pt x="40937" y="67063"/>
                    </a:cubicBezTo>
                    <a:cubicBezTo>
                      <a:pt x="40937" y="62186"/>
                      <a:pt x="37035" y="58234"/>
                      <a:pt x="32222" y="58234"/>
                    </a:cubicBezTo>
                    <a:close/>
                    <a:moveTo>
                      <a:pt x="173670" y="58234"/>
                    </a:moveTo>
                    <a:cubicBezTo>
                      <a:pt x="168856" y="58234"/>
                      <a:pt x="164953" y="62186"/>
                      <a:pt x="164953" y="67063"/>
                    </a:cubicBezTo>
                    <a:cubicBezTo>
                      <a:pt x="164953" y="71939"/>
                      <a:pt x="168856" y="75892"/>
                      <a:pt x="173670" y="75892"/>
                    </a:cubicBezTo>
                    <a:cubicBezTo>
                      <a:pt x="178483" y="75892"/>
                      <a:pt x="182385" y="71939"/>
                      <a:pt x="182385" y="67063"/>
                    </a:cubicBezTo>
                    <a:cubicBezTo>
                      <a:pt x="182385" y="62186"/>
                      <a:pt x="178483" y="58234"/>
                      <a:pt x="173670" y="58234"/>
                    </a:cubicBezTo>
                    <a:close/>
                    <a:moveTo>
                      <a:pt x="0" y="22620"/>
                    </a:moveTo>
                    <a:cubicBezTo>
                      <a:pt x="17916" y="0"/>
                      <a:pt x="47661" y="5343"/>
                      <a:pt x="47661" y="5343"/>
                    </a:cubicBezTo>
                    <a:moveTo>
                      <a:pt x="160515" y="5343"/>
                    </a:moveTo>
                    <a:cubicBezTo>
                      <a:pt x="160515" y="5343"/>
                      <a:pt x="190260" y="0"/>
                      <a:pt x="208177" y="22620"/>
                    </a:cubicBezTo>
                  </a:path>
                </a:pathLst>
              </a:custGeom>
              <a:noFill/>
              <a:ln w="13446">
                <a:solidFill>
                  <a:srgbClr val="484848"/>
                </a:solidFill>
              </a:ln>
            </p:spPr>
            <p:txBody>
              <a:bodyPr rtlCol="0" anchor="ctr"/>
              <a:lstStyle/>
              <a:p>
                <a:pPr algn="ctr"/>
                <a:endParaRPr sz="2000"/>
              </a:p>
            </p:txBody>
          </p:sp>
        </p:grpSp>
        <p:grpSp>
          <p:nvGrpSpPr>
            <p:cNvPr id="33" name="Group 32">
              <a:extLst>
                <a:ext uri="{FF2B5EF4-FFF2-40B4-BE49-F238E27FC236}">
                  <a16:creationId xmlns:a16="http://schemas.microsoft.com/office/drawing/2014/main" id="{522FA003-62DE-00BC-3E63-962244D427D9}"/>
                </a:ext>
              </a:extLst>
            </p:cNvPr>
            <p:cNvGrpSpPr/>
            <p:nvPr/>
          </p:nvGrpSpPr>
          <p:grpSpPr>
            <a:xfrm>
              <a:off x="9024732" y="4460933"/>
              <a:ext cx="872695" cy="1520851"/>
              <a:chOff x="9024732" y="4460933"/>
              <a:chExt cx="872695" cy="1520851"/>
            </a:xfrm>
          </p:grpSpPr>
          <p:sp>
            <p:nvSpPr>
              <p:cNvPr id="20" name="Rounded Rectangle 16"/>
              <p:cNvSpPr/>
              <p:nvPr/>
            </p:nvSpPr>
            <p:spPr>
              <a:xfrm>
                <a:off x="9034090" y="4460933"/>
                <a:ext cx="777220" cy="807051"/>
              </a:xfrm>
              <a:custGeom>
                <a:avLst/>
                <a:gdLst/>
                <a:ahLst/>
                <a:cxnLst/>
                <a:rect l="0" t="0" r="0" b="0"/>
                <a:pathLst>
                  <a:path w="558876" h="618455">
                    <a:moveTo>
                      <a:pt x="475928" y="382902"/>
                    </a:moveTo>
                    <a:cubicBezTo>
                      <a:pt x="475928" y="363755"/>
                      <a:pt x="462965" y="347814"/>
                      <a:pt x="445565" y="343539"/>
                    </a:cubicBezTo>
                    <a:lnTo>
                      <a:pt x="445495" y="343599"/>
                    </a:lnTo>
                    <a:cubicBezTo>
                      <a:pt x="425377" y="339424"/>
                      <a:pt x="431951" y="343599"/>
                      <a:pt x="428997" y="345303"/>
                    </a:cubicBezTo>
                    <a:cubicBezTo>
                      <a:pt x="372327" y="279084"/>
                      <a:pt x="376687" y="164306"/>
                      <a:pt x="376687" y="164306"/>
                    </a:cubicBezTo>
                    <a:cubicBezTo>
                      <a:pt x="376687" y="164306"/>
                      <a:pt x="328734" y="226109"/>
                      <a:pt x="254628" y="248182"/>
                    </a:cubicBezTo>
                    <a:cubicBezTo>
                      <a:pt x="180520" y="270255"/>
                      <a:pt x="67179" y="247539"/>
                      <a:pt x="67179" y="247539"/>
                    </a:cubicBezTo>
                    <a:lnTo>
                      <a:pt x="67179" y="346111"/>
                    </a:lnTo>
                    <a:cubicBezTo>
                      <a:pt x="67179" y="367376"/>
                      <a:pt x="64812" y="382902"/>
                      <a:pt x="73378" y="423066"/>
                    </a:cubicBezTo>
                    <a:cubicBezTo>
                      <a:pt x="88470" y="493825"/>
                      <a:pt x="141346" y="550326"/>
                      <a:pt x="209482" y="568570"/>
                    </a:cubicBezTo>
                    <a:lnTo>
                      <a:pt x="209482" y="618455"/>
                    </a:lnTo>
                    <a:cubicBezTo>
                      <a:pt x="209482" y="618455"/>
                      <a:pt x="114878" y="617212"/>
                      <a:pt x="44399" y="600274"/>
                    </a:cubicBezTo>
                    <a:cubicBezTo>
                      <a:pt x="21070" y="594668"/>
                      <a:pt x="7967" y="571672"/>
                      <a:pt x="12650" y="548140"/>
                    </a:cubicBezTo>
                    <a:cubicBezTo>
                      <a:pt x="25717" y="482479"/>
                      <a:pt x="46513" y="395252"/>
                      <a:pt x="21751" y="229881"/>
                    </a:cubicBezTo>
                    <a:cubicBezTo>
                      <a:pt x="0" y="84613"/>
                      <a:pt x="123954" y="0"/>
                      <a:pt x="246731" y="39"/>
                    </a:cubicBezTo>
                    <a:cubicBezTo>
                      <a:pt x="316564" y="61"/>
                      <a:pt x="386016" y="27591"/>
                      <a:pt x="428059" y="86625"/>
                    </a:cubicBezTo>
                    <a:cubicBezTo>
                      <a:pt x="504109" y="73662"/>
                      <a:pt x="534377" y="181221"/>
                      <a:pt x="544331" y="268854"/>
                    </a:cubicBezTo>
                    <a:cubicBezTo>
                      <a:pt x="555249" y="364980"/>
                      <a:pt x="558876" y="464049"/>
                      <a:pt x="534320" y="563237"/>
                    </a:cubicBezTo>
                    <a:cubicBezTo>
                      <a:pt x="530412" y="579023"/>
                      <a:pt x="518900" y="591890"/>
                      <a:pt x="503286" y="596434"/>
                    </a:cubicBezTo>
                    <a:cubicBezTo>
                      <a:pt x="453684" y="610868"/>
                      <a:pt x="389041" y="616318"/>
                      <a:pt x="354047" y="617907"/>
                    </a:cubicBezTo>
                    <a:lnTo>
                      <a:pt x="334314" y="597254"/>
                    </a:lnTo>
                    <a:lnTo>
                      <a:pt x="334314" y="557518"/>
                    </a:lnTo>
                    <a:cubicBezTo>
                      <a:pt x="387731" y="532619"/>
                      <a:pt x="428432" y="483061"/>
                      <a:pt x="441215" y="423066"/>
                    </a:cubicBezTo>
                    <a:cubicBezTo>
                      <a:pt x="460790" y="420661"/>
                      <a:pt x="475928" y="403563"/>
                      <a:pt x="475928" y="382902"/>
                    </a:cubicBezTo>
                    <a:close/>
                  </a:path>
                </a:pathLst>
              </a:custGeom>
              <a:noFill/>
              <a:ln w="13446">
                <a:solidFill>
                  <a:srgbClr val="484848"/>
                </a:solidFill>
              </a:ln>
            </p:spPr>
            <p:txBody>
              <a:bodyPr rtlCol="0" anchor="ctr"/>
              <a:lstStyle/>
              <a:p>
                <a:pPr algn="ctr"/>
                <a:endParaRPr/>
              </a:p>
            </p:txBody>
          </p:sp>
          <p:sp>
            <p:nvSpPr>
              <p:cNvPr id="21" name="Rounded Rectangle 17"/>
              <p:cNvSpPr/>
              <p:nvPr/>
            </p:nvSpPr>
            <p:spPr>
              <a:xfrm>
                <a:off x="9024732" y="5294455"/>
                <a:ext cx="872695" cy="687304"/>
              </a:xfrm>
              <a:custGeom>
                <a:avLst/>
                <a:gdLst/>
                <a:ahLst/>
                <a:cxnLst/>
                <a:rect l="0" t="0" r="0" b="0"/>
                <a:pathLst>
                  <a:path w="627529" h="526691">
                    <a:moveTo>
                      <a:pt x="249382" y="104440"/>
                    </a:moveTo>
                    <a:lnTo>
                      <a:pt x="340880" y="143047"/>
                    </a:lnTo>
                    <a:cubicBezTo>
                      <a:pt x="350421" y="147073"/>
                      <a:pt x="361225" y="141847"/>
                      <a:pt x="363674" y="131678"/>
                    </a:cubicBezTo>
                    <a:cubicBezTo>
                      <a:pt x="367081" y="117532"/>
                      <a:pt x="371451" y="96887"/>
                      <a:pt x="374106" y="74809"/>
                    </a:cubicBezTo>
                    <a:cubicBezTo>
                      <a:pt x="378947" y="34547"/>
                      <a:pt x="380658" y="0"/>
                      <a:pt x="380658" y="0"/>
                    </a:cubicBezTo>
                    <a:cubicBezTo>
                      <a:pt x="521973" y="31293"/>
                      <a:pt x="627529" y="160012"/>
                      <a:pt x="627529" y="314091"/>
                    </a:cubicBezTo>
                    <a:lnTo>
                      <a:pt x="627529" y="526691"/>
                    </a:lnTo>
                    <a:lnTo>
                      <a:pt x="505470" y="526691"/>
                    </a:lnTo>
                    <a:lnTo>
                      <a:pt x="132350" y="526691"/>
                    </a:lnTo>
                    <a:lnTo>
                      <a:pt x="0" y="526691"/>
                    </a:lnTo>
                    <a:lnTo>
                      <a:pt x="0" y="314091"/>
                    </a:lnTo>
                    <a:cubicBezTo>
                      <a:pt x="0" y="182455"/>
                      <a:pt x="77308" y="69306"/>
                      <a:pt x="187960" y="19649"/>
                    </a:cubicBezTo>
                    <a:lnTo>
                      <a:pt x="159783" y="107193"/>
                    </a:lnTo>
                    <a:cubicBezTo>
                      <a:pt x="155274" y="121199"/>
                      <a:pt x="168685" y="134308"/>
                      <a:pt x="182347" y="129251"/>
                    </a:cubicBezTo>
                    <a:close/>
                    <a:moveTo>
                      <a:pt x="0" y="526691"/>
                    </a:moveTo>
                    <a:lnTo>
                      <a:pt x="505470" y="526691"/>
                    </a:lnTo>
                    <a:close/>
                  </a:path>
                </a:pathLst>
              </a:custGeom>
              <a:noFill/>
              <a:ln w="13446">
                <a:solidFill>
                  <a:srgbClr val="484848"/>
                </a:solidFill>
              </a:ln>
            </p:spPr>
            <p:txBody>
              <a:bodyPr rtlCol="0" anchor="ctr"/>
              <a:lstStyle/>
              <a:p>
                <a:pPr algn="ctr"/>
                <a:endParaRPr/>
              </a:p>
            </p:txBody>
          </p:sp>
          <p:sp>
            <p:nvSpPr>
              <p:cNvPr id="22" name="Rounded Rectangle 18"/>
              <p:cNvSpPr/>
              <p:nvPr/>
            </p:nvSpPr>
            <p:spPr>
              <a:xfrm>
                <a:off x="9138782" y="5240121"/>
                <a:ext cx="588905" cy="741663"/>
              </a:xfrm>
              <a:custGeom>
                <a:avLst/>
                <a:gdLst/>
                <a:ahLst/>
                <a:cxnLst/>
                <a:rect l="0" t="0" r="0" b="0"/>
                <a:pathLst>
                  <a:path w="423464" h="568347">
                    <a:moveTo>
                      <a:pt x="292098" y="116459"/>
                    </a:moveTo>
                    <a:cubicBezTo>
                      <a:pt x="289444" y="138536"/>
                      <a:pt x="285073" y="159182"/>
                      <a:pt x="281666" y="173329"/>
                    </a:cubicBezTo>
                    <a:cubicBezTo>
                      <a:pt x="279217" y="183497"/>
                      <a:pt x="268413" y="188723"/>
                      <a:pt x="258872" y="184697"/>
                    </a:cubicBezTo>
                    <a:lnTo>
                      <a:pt x="167374" y="146090"/>
                    </a:lnTo>
                    <a:lnTo>
                      <a:pt x="258948" y="40928"/>
                    </a:lnTo>
                    <a:lnTo>
                      <a:pt x="258948" y="0"/>
                    </a:lnTo>
                    <a:lnTo>
                      <a:pt x="298650" y="41650"/>
                    </a:lnTo>
                    <a:cubicBezTo>
                      <a:pt x="298650" y="41650"/>
                      <a:pt x="296939" y="76196"/>
                      <a:pt x="292098" y="116459"/>
                    </a:cubicBezTo>
                    <a:close/>
                    <a:moveTo>
                      <a:pt x="77775" y="148843"/>
                    </a:moveTo>
                    <a:lnTo>
                      <a:pt x="105952" y="61298"/>
                    </a:lnTo>
                    <a:cubicBezTo>
                      <a:pt x="108179" y="60299"/>
                      <a:pt x="134203" y="23729"/>
                      <a:pt x="134203" y="23729"/>
                    </a:cubicBezTo>
                    <a:lnTo>
                      <a:pt x="134203" y="78269"/>
                    </a:lnTo>
                    <a:lnTo>
                      <a:pt x="167374" y="146090"/>
                    </a:lnTo>
                    <a:lnTo>
                      <a:pt x="100339" y="170901"/>
                    </a:lnTo>
                    <a:cubicBezTo>
                      <a:pt x="86677" y="175958"/>
                      <a:pt x="73267" y="162849"/>
                      <a:pt x="77775" y="148843"/>
                    </a:cubicBezTo>
                    <a:close/>
                    <a:moveTo>
                      <a:pt x="152654" y="566305"/>
                    </a:moveTo>
                    <a:cubicBezTo>
                      <a:pt x="151815" y="474509"/>
                      <a:pt x="97414" y="421927"/>
                      <a:pt x="124789" y="300189"/>
                    </a:cubicBezTo>
                    <a:lnTo>
                      <a:pt x="167376" y="146096"/>
                    </a:lnTo>
                    <a:moveTo>
                      <a:pt x="423464" y="568347"/>
                    </a:moveTo>
                    <a:lnTo>
                      <a:pt x="423464" y="268156"/>
                    </a:lnTo>
                    <a:moveTo>
                      <a:pt x="50343" y="568347"/>
                    </a:moveTo>
                    <a:cubicBezTo>
                      <a:pt x="50343" y="568347"/>
                      <a:pt x="46127" y="521894"/>
                      <a:pt x="39259" y="481418"/>
                    </a:cubicBezTo>
                    <a:cubicBezTo>
                      <a:pt x="33278" y="446181"/>
                      <a:pt x="17583" y="437016"/>
                      <a:pt x="8387" y="391626"/>
                    </a:cubicBezTo>
                    <a:cubicBezTo>
                      <a:pt x="0" y="350227"/>
                      <a:pt x="9845" y="303376"/>
                      <a:pt x="39259" y="268156"/>
                    </a:cubicBezTo>
                    <a:moveTo>
                      <a:pt x="181733" y="281392"/>
                    </a:moveTo>
                    <a:lnTo>
                      <a:pt x="286355" y="281392"/>
                    </a:lnTo>
                  </a:path>
                </a:pathLst>
              </a:custGeom>
              <a:noFill/>
              <a:ln w="13446">
                <a:solidFill>
                  <a:srgbClr val="484848"/>
                </a:solidFill>
              </a:ln>
            </p:spPr>
            <p:txBody>
              <a:bodyPr rtlCol="0" anchor="ctr"/>
              <a:lstStyle/>
              <a:p>
                <a:pPr algn="ctr"/>
                <a:endParaRPr/>
              </a:p>
            </p:txBody>
          </p:sp>
        </p:grpSp>
        <p:grpSp>
          <p:nvGrpSpPr>
            <p:cNvPr id="3" name="Group 2">
              <a:extLst>
                <a:ext uri="{FF2B5EF4-FFF2-40B4-BE49-F238E27FC236}">
                  <a16:creationId xmlns:a16="http://schemas.microsoft.com/office/drawing/2014/main" id="{3062C935-29ED-5647-F012-3FF6F3E0E4A3}"/>
                </a:ext>
              </a:extLst>
            </p:cNvPr>
            <p:cNvGrpSpPr/>
            <p:nvPr/>
          </p:nvGrpSpPr>
          <p:grpSpPr>
            <a:xfrm>
              <a:off x="9113669" y="4678346"/>
              <a:ext cx="571733" cy="755172"/>
              <a:chOff x="9113669" y="4678346"/>
              <a:chExt cx="571733" cy="755172"/>
            </a:xfrm>
          </p:grpSpPr>
          <p:sp>
            <p:nvSpPr>
              <p:cNvPr id="24" name="Rounded Rectangle 20"/>
              <p:cNvSpPr/>
              <p:nvPr/>
            </p:nvSpPr>
            <p:spPr>
              <a:xfrm>
                <a:off x="9314850" y="5191479"/>
                <a:ext cx="173679" cy="242039"/>
              </a:xfrm>
              <a:custGeom>
                <a:avLst/>
                <a:gdLst/>
                <a:ahLst/>
                <a:cxnLst/>
                <a:rect l="0" t="0" r="0" b="0"/>
                <a:pathLst>
                  <a:path w="124887" h="185478">
                    <a:moveTo>
                      <a:pt x="0" y="10991"/>
                    </a:moveTo>
                    <a:cubicBezTo>
                      <a:pt x="18319" y="16547"/>
                      <a:pt x="42463" y="18343"/>
                      <a:pt x="61036" y="17061"/>
                    </a:cubicBezTo>
                    <a:cubicBezTo>
                      <a:pt x="79608" y="15778"/>
                      <a:pt x="111627" y="6859"/>
                      <a:pt x="124887" y="0"/>
                    </a:cubicBezTo>
                    <a:cubicBezTo>
                      <a:pt x="124887" y="0"/>
                      <a:pt x="124855" y="63321"/>
                      <a:pt x="124855" y="80275"/>
                    </a:cubicBezTo>
                    <a:lnTo>
                      <a:pt x="33083" y="185478"/>
                    </a:lnTo>
                    <a:lnTo>
                      <a:pt x="0" y="117770"/>
                    </a:lnTo>
                    <a:close/>
                  </a:path>
                </a:pathLst>
              </a:custGeom>
              <a:noFill/>
              <a:ln w="13446">
                <a:solidFill>
                  <a:srgbClr val="484848"/>
                </a:solidFill>
              </a:ln>
            </p:spPr>
            <p:txBody>
              <a:bodyPr rtlCol="0" anchor="ctr"/>
              <a:lstStyle/>
              <a:p>
                <a:pPr algn="ctr"/>
                <a:endParaRPr/>
              </a:p>
            </p:txBody>
          </p:sp>
          <p:sp>
            <p:nvSpPr>
              <p:cNvPr id="25" name="Rounded Rectangle 21"/>
              <p:cNvSpPr/>
              <p:nvPr/>
            </p:nvSpPr>
            <p:spPr>
              <a:xfrm>
                <a:off x="9113669" y="4678346"/>
                <a:ext cx="571733" cy="535813"/>
              </a:xfrm>
              <a:custGeom>
                <a:avLst/>
                <a:gdLst/>
                <a:ahLst/>
                <a:cxnLst/>
                <a:rect l="0" t="0" r="0" b="0"/>
                <a:pathLst>
                  <a:path w="411116" h="410601">
                    <a:moveTo>
                      <a:pt x="380753" y="179234"/>
                    </a:moveTo>
                    <a:cubicBezTo>
                      <a:pt x="398153" y="183508"/>
                      <a:pt x="411116" y="199449"/>
                      <a:pt x="411116" y="218596"/>
                    </a:cubicBezTo>
                    <a:cubicBezTo>
                      <a:pt x="411116" y="239258"/>
                      <a:pt x="395978" y="256356"/>
                      <a:pt x="376403" y="258760"/>
                    </a:cubicBezTo>
                    <a:cubicBezTo>
                      <a:pt x="357959" y="345324"/>
                      <a:pt x="282355" y="410601"/>
                      <a:pt x="192484" y="410601"/>
                    </a:cubicBezTo>
                    <a:cubicBezTo>
                      <a:pt x="102613" y="410601"/>
                      <a:pt x="27010" y="345234"/>
                      <a:pt x="8566" y="258760"/>
                    </a:cubicBezTo>
                    <a:cubicBezTo>
                      <a:pt x="0" y="218596"/>
                      <a:pt x="2368" y="203071"/>
                      <a:pt x="2368" y="181805"/>
                    </a:cubicBezTo>
                    <a:cubicBezTo>
                      <a:pt x="2368" y="105950"/>
                      <a:pt x="2368" y="111011"/>
                      <a:pt x="2368" y="83233"/>
                    </a:cubicBezTo>
                    <a:cubicBezTo>
                      <a:pt x="2368" y="83233"/>
                      <a:pt x="115709" y="105950"/>
                      <a:pt x="189815" y="83877"/>
                    </a:cubicBezTo>
                    <a:cubicBezTo>
                      <a:pt x="263923" y="61804"/>
                      <a:pt x="311874" y="0"/>
                      <a:pt x="311874" y="0"/>
                    </a:cubicBezTo>
                    <a:cubicBezTo>
                      <a:pt x="311874" y="0"/>
                      <a:pt x="307516" y="114779"/>
                      <a:pt x="364186" y="180998"/>
                    </a:cubicBezTo>
                    <a:cubicBezTo>
                      <a:pt x="367139" y="179293"/>
                      <a:pt x="360564" y="175119"/>
                      <a:pt x="380684" y="179293"/>
                    </a:cubicBezTo>
                    <a:close/>
                  </a:path>
                </a:pathLst>
              </a:custGeom>
              <a:noFill/>
              <a:ln w="13446">
                <a:solidFill>
                  <a:srgbClr val="484848"/>
                </a:solidFill>
              </a:ln>
            </p:spPr>
            <p:txBody>
              <a:bodyPr rtlCol="0" anchor="ctr"/>
              <a:lstStyle/>
              <a:p>
                <a:pPr algn="ctr"/>
                <a:endParaRPr/>
              </a:p>
            </p:txBody>
          </p:sp>
          <p:sp>
            <p:nvSpPr>
              <p:cNvPr id="26" name="Rounded Rectangle 22"/>
              <p:cNvSpPr/>
              <p:nvPr/>
            </p:nvSpPr>
            <p:spPr>
              <a:xfrm>
                <a:off x="9174485" y="4827594"/>
                <a:ext cx="289589" cy="295794"/>
              </a:xfrm>
              <a:custGeom>
                <a:avLst/>
                <a:gdLst/>
                <a:ahLst/>
                <a:cxnLst/>
                <a:rect l="0" t="0" r="0" b="0"/>
                <a:pathLst>
                  <a:path w="208235" h="226671">
                    <a:moveTo>
                      <a:pt x="160718" y="183599"/>
                    </a:moveTo>
                    <a:cubicBezTo>
                      <a:pt x="146663" y="226671"/>
                      <a:pt x="78605" y="226465"/>
                      <a:pt x="64617" y="183599"/>
                    </a:cubicBezTo>
                    <a:close/>
                    <a:moveTo>
                      <a:pt x="176108" y="49409"/>
                    </a:moveTo>
                    <a:cubicBezTo>
                      <a:pt x="185734" y="49409"/>
                      <a:pt x="193538" y="57315"/>
                      <a:pt x="193538" y="67068"/>
                    </a:cubicBezTo>
                    <a:cubicBezTo>
                      <a:pt x="193538" y="76819"/>
                      <a:pt x="185734" y="84725"/>
                      <a:pt x="176108" y="84725"/>
                    </a:cubicBezTo>
                    <a:cubicBezTo>
                      <a:pt x="166480" y="84725"/>
                      <a:pt x="158677" y="76819"/>
                      <a:pt x="158677" y="67068"/>
                    </a:cubicBezTo>
                    <a:cubicBezTo>
                      <a:pt x="158677" y="57315"/>
                      <a:pt x="166480" y="49409"/>
                      <a:pt x="176108" y="49409"/>
                    </a:cubicBezTo>
                    <a:close/>
                    <a:moveTo>
                      <a:pt x="34668" y="49409"/>
                    </a:moveTo>
                    <a:cubicBezTo>
                      <a:pt x="44295" y="49409"/>
                      <a:pt x="52098" y="57315"/>
                      <a:pt x="52098" y="67068"/>
                    </a:cubicBezTo>
                    <a:cubicBezTo>
                      <a:pt x="52098" y="76819"/>
                      <a:pt x="44295" y="84725"/>
                      <a:pt x="34668" y="84725"/>
                    </a:cubicBezTo>
                    <a:cubicBezTo>
                      <a:pt x="25041" y="84725"/>
                      <a:pt x="17237" y="76819"/>
                      <a:pt x="17237" y="67068"/>
                    </a:cubicBezTo>
                    <a:cubicBezTo>
                      <a:pt x="17237" y="57315"/>
                      <a:pt x="25041" y="49409"/>
                      <a:pt x="34668" y="49409"/>
                    </a:cubicBezTo>
                    <a:close/>
                    <a:moveTo>
                      <a:pt x="167396" y="67063"/>
                    </a:moveTo>
                    <a:cubicBezTo>
                      <a:pt x="167396" y="71939"/>
                      <a:pt x="171298" y="75892"/>
                      <a:pt x="176112" y="75892"/>
                    </a:cubicBezTo>
                    <a:cubicBezTo>
                      <a:pt x="180925" y="75892"/>
                      <a:pt x="184827" y="71939"/>
                      <a:pt x="184827" y="67063"/>
                    </a:cubicBezTo>
                    <a:cubicBezTo>
                      <a:pt x="184827" y="62186"/>
                      <a:pt x="180925" y="58234"/>
                      <a:pt x="176112" y="58234"/>
                    </a:cubicBezTo>
                    <a:cubicBezTo>
                      <a:pt x="171298" y="58234"/>
                      <a:pt x="167396" y="62186"/>
                      <a:pt x="167396" y="67063"/>
                    </a:cubicBezTo>
                    <a:close/>
                    <a:moveTo>
                      <a:pt x="25957" y="67063"/>
                    </a:moveTo>
                    <a:cubicBezTo>
                      <a:pt x="25957" y="71939"/>
                      <a:pt x="29859" y="75892"/>
                      <a:pt x="34672" y="75892"/>
                    </a:cubicBezTo>
                    <a:cubicBezTo>
                      <a:pt x="39486" y="75892"/>
                      <a:pt x="43388" y="71939"/>
                      <a:pt x="43388" y="67063"/>
                    </a:cubicBezTo>
                    <a:cubicBezTo>
                      <a:pt x="43388" y="62186"/>
                      <a:pt x="39486" y="58234"/>
                      <a:pt x="34672" y="58234"/>
                    </a:cubicBezTo>
                    <a:cubicBezTo>
                      <a:pt x="29859" y="58234"/>
                      <a:pt x="25957" y="62186"/>
                      <a:pt x="25957" y="67063"/>
                    </a:cubicBezTo>
                    <a:close/>
                    <a:moveTo>
                      <a:pt x="160559" y="5343"/>
                    </a:moveTo>
                    <a:cubicBezTo>
                      <a:pt x="160559" y="5343"/>
                      <a:pt x="190313" y="0"/>
                      <a:pt x="208235" y="22620"/>
                    </a:cubicBezTo>
                    <a:moveTo>
                      <a:pt x="0" y="22623"/>
                    </a:moveTo>
                    <a:cubicBezTo>
                      <a:pt x="17922" y="2"/>
                      <a:pt x="47676" y="5346"/>
                      <a:pt x="47676" y="5346"/>
                    </a:cubicBezTo>
                  </a:path>
                </a:pathLst>
              </a:custGeom>
              <a:noFill/>
              <a:ln w="13446">
                <a:solidFill>
                  <a:srgbClr val="484848"/>
                </a:solidFill>
              </a:ln>
            </p:spPr>
            <p:txBody>
              <a:bodyPr rtlCol="0" anchor="ctr"/>
              <a:lstStyle/>
              <a:p>
                <a:pPr algn="ctr"/>
                <a:endParaRPr/>
              </a:p>
            </p:txBody>
          </p:sp>
        </p:grpSp>
        <p:sp>
          <p:nvSpPr>
            <p:cNvPr id="27" name="TextBox 26"/>
            <p:cNvSpPr txBox="1"/>
            <p:nvPr/>
          </p:nvSpPr>
          <p:spPr>
            <a:xfrm>
              <a:off x="4262499" y="1264893"/>
              <a:ext cx="2607525" cy="276999"/>
            </a:xfrm>
            <a:prstGeom prst="rect">
              <a:avLst/>
            </a:prstGeom>
            <a:noFill/>
            <a:ln>
              <a:noFill/>
            </a:ln>
          </p:spPr>
          <p:txBody>
            <a:bodyPr wrap="square" lIns="0" tIns="0" rIns="0" bIns="0" anchor="t">
              <a:spAutoFit/>
            </a:bodyPr>
            <a:lstStyle/>
            <a:p>
              <a:pPr algn="l"/>
              <a:r>
                <a:rPr b="0" dirty="0">
                  <a:solidFill>
                    <a:srgbClr val="32444A"/>
                  </a:solidFill>
                </a:rPr>
                <a:t>What is a direct tax?</a:t>
              </a:r>
            </a:p>
          </p:txBody>
        </p:sp>
        <p:sp>
          <p:nvSpPr>
            <p:cNvPr id="28" name="TextBox 27"/>
            <p:cNvSpPr txBox="1"/>
            <p:nvPr/>
          </p:nvSpPr>
          <p:spPr>
            <a:xfrm>
              <a:off x="4802298" y="1758473"/>
              <a:ext cx="3121081" cy="553998"/>
            </a:xfrm>
            <a:prstGeom prst="rect">
              <a:avLst/>
            </a:prstGeom>
            <a:noFill/>
            <a:ln>
              <a:noFill/>
            </a:ln>
          </p:spPr>
          <p:txBody>
            <a:bodyPr wrap="square" lIns="0" tIns="0" rIns="0" bIns="0" anchor="t">
              <a:spAutoFit/>
            </a:bodyPr>
            <a:lstStyle/>
            <a:p>
              <a:pPr algn="just"/>
              <a:r>
                <a:rPr b="0" dirty="0">
                  <a:solidFill>
                    <a:srgbClr val="484848"/>
                  </a:solidFill>
                </a:rPr>
                <a:t>It's a tax levied directly on a
person's income or wealth.</a:t>
              </a:r>
            </a:p>
          </p:txBody>
        </p:sp>
        <p:sp>
          <p:nvSpPr>
            <p:cNvPr id="29" name="TextBox 28"/>
            <p:cNvSpPr txBox="1"/>
            <p:nvPr/>
          </p:nvSpPr>
          <p:spPr>
            <a:xfrm>
              <a:off x="4260299" y="2601080"/>
              <a:ext cx="3823802" cy="553998"/>
            </a:xfrm>
            <a:prstGeom prst="rect">
              <a:avLst/>
            </a:prstGeom>
            <a:noFill/>
            <a:ln>
              <a:noFill/>
            </a:ln>
          </p:spPr>
          <p:txBody>
            <a:bodyPr wrap="square" lIns="0" tIns="0" rIns="0" bIns="0" anchor="t">
              <a:spAutoFit/>
            </a:bodyPr>
            <a:lstStyle/>
            <a:p>
              <a:pPr algn="just"/>
              <a:r>
                <a:rPr b="0" dirty="0">
                  <a:solidFill>
                    <a:srgbClr val="484848"/>
                  </a:solidFill>
                </a:rPr>
                <a:t>Can the person who pays the
tax recover it from someone</a:t>
              </a:r>
              <a:r>
                <a:rPr lang="en-US" b="0" dirty="0">
                  <a:solidFill>
                    <a:srgbClr val="484848"/>
                  </a:solidFill>
                </a:rPr>
                <a:t> </a:t>
              </a:r>
              <a:r>
                <a:rPr b="0" dirty="0">
                  <a:solidFill>
                    <a:srgbClr val="484848"/>
                  </a:solidFill>
                </a:rPr>
                <a:t>else?</a:t>
              </a:r>
            </a:p>
          </p:txBody>
        </p:sp>
        <p:sp>
          <p:nvSpPr>
            <p:cNvPr id="30" name="TextBox 29"/>
            <p:cNvSpPr txBox="1"/>
            <p:nvPr/>
          </p:nvSpPr>
          <p:spPr>
            <a:xfrm>
              <a:off x="4942172" y="3441961"/>
              <a:ext cx="2914223" cy="553998"/>
            </a:xfrm>
            <a:prstGeom prst="rect">
              <a:avLst/>
            </a:prstGeom>
            <a:noFill/>
            <a:ln>
              <a:noFill/>
            </a:ln>
          </p:spPr>
          <p:txBody>
            <a:bodyPr wrap="square" lIns="0" tIns="0" rIns="0" bIns="0" anchor="t">
              <a:spAutoFit/>
            </a:bodyPr>
            <a:lstStyle/>
            <a:p>
              <a:pPr algn="just"/>
              <a:r>
                <a:rPr b="0" dirty="0">
                  <a:solidFill>
                    <a:srgbClr val="484848"/>
                  </a:solidFill>
                </a:rPr>
                <a:t>No, the burden of a direct tax</a:t>
              </a:r>
              <a:r>
                <a:rPr lang="en-US" b="0" dirty="0">
                  <a:solidFill>
                    <a:srgbClr val="484848"/>
                  </a:solidFill>
                </a:rPr>
                <a:t> </a:t>
              </a:r>
              <a:r>
                <a:rPr b="0" dirty="0">
                  <a:solidFill>
                    <a:srgbClr val="484848"/>
                  </a:solidFill>
                </a:rPr>
                <a:t>cannot be shifted.</a:t>
              </a:r>
            </a:p>
          </p:txBody>
        </p:sp>
        <p:sp>
          <p:nvSpPr>
            <p:cNvPr id="31" name="TextBox 30"/>
            <p:cNvSpPr txBox="1"/>
            <p:nvPr/>
          </p:nvSpPr>
          <p:spPr>
            <a:xfrm>
              <a:off x="4544121" y="4209792"/>
              <a:ext cx="2354812" cy="276999"/>
            </a:xfrm>
            <a:prstGeom prst="rect">
              <a:avLst/>
            </a:prstGeom>
            <a:noFill/>
            <a:ln>
              <a:noFill/>
            </a:ln>
          </p:spPr>
          <p:txBody>
            <a:bodyPr wrap="none" lIns="0" tIns="0" rIns="0" bIns="0" anchor="t">
              <a:spAutoFit/>
            </a:bodyPr>
            <a:lstStyle/>
            <a:p>
              <a:pPr algn="just"/>
              <a:r>
                <a:rPr b="0" dirty="0">
                  <a:solidFill>
                    <a:srgbClr val="484848"/>
                  </a:solidFill>
                </a:rPr>
                <a:t>Can you give an example?</a:t>
              </a:r>
            </a:p>
          </p:txBody>
        </p:sp>
        <p:sp>
          <p:nvSpPr>
            <p:cNvPr id="32" name="TextBox 31"/>
            <p:cNvSpPr txBox="1"/>
            <p:nvPr/>
          </p:nvSpPr>
          <p:spPr>
            <a:xfrm>
              <a:off x="5219926" y="4725958"/>
              <a:ext cx="2353208" cy="276999"/>
            </a:xfrm>
            <a:prstGeom prst="rect">
              <a:avLst/>
            </a:prstGeom>
            <a:noFill/>
            <a:ln>
              <a:noFill/>
            </a:ln>
          </p:spPr>
          <p:txBody>
            <a:bodyPr wrap="none" lIns="0" tIns="0" rIns="0" bIns="0" anchor="t">
              <a:spAutoFit/>
            </a:bodyPr>
            <a:lstStyle/>
            <a:p>
              <a:pPr algn="l"/>
              <a:r>
                <a:rPr b="0" dirty="0">
                  <a:solidFill>
                    <a:srgbClr val="484848"/>
                  </a:solidFill>
                </a:rPr>
                <a:t>Income tax is a direct tax.</a:t>
              </a:r>
            </a:p>
          </p:txBody>
        </p:sp>
      </p:grpSp>
    </p:spTree>
    <p:extLst>
      <p:ext uri="{BB962C8B-B14F-4D97-AF65-F5344CB8AC3E}">
        <p14:creationId xmlns:p14="http://schemas.microsoft.com/office/powerpoint/2010/main" val="1052637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CE0FD-AD2C-4AEA-B7BA-B1EA68BF38DA}"/>
              </a:ext>
            </a:extLst>
          </p:cNvPr>
          <p:cNvSpPr>
            <a:spLocks noGrp="1"/>
          </p:cNvSpPr>
          <p:nvPr>
            <p:ph type="title"/>
          </p:nvPr>
        </p:nvSpPr>
        <p:spPr/>
        <p:txBody>
          <a:bodyPr>
            <a:normAutofit/>
          </a:bodyPr>
          <a:lstStyle/>
          <a:p>
            <a:r>
              <a:rPr lang="en-US" dirty="0"/>
              <a:t>Introduction to Income Tax Act</a:t>
            </a:r>
            <a:endParaRPr lang="en-IN" dirty="0"/>
          </a:p>
        </p:txBody>
      </p:sp>
      <p:sp>
        <p:nvSpPr>
          <p:cNvPr id="3" name="Content Placeholder 2">
            <a:extLst>
              <a:ext uri="{FF2B5EF4-FFF2-40B4-BE49-F238E27FC236}">
                <a16:creationId xmlns:a16="http://schemas.microsoft.com/office/drawing/2014/main" id="{F85F22CD-D528-40DC-838C-4F071BCEBB8D}"/>
              </a:ext>
            </a:extLst>
          </p:cNvPr>
          <p:cNvSpPr>
            <a:spLocks noGrp="1"/>
          </p:cNvSpPr>
          <p:nvPr>
            <p:ph idx="1"/>
          </p:nvPr>
        </p:nvSpPr>
        <p:spPr/>
        <p:txBody>
          <a:bodyPr/>
          <a:lstStyle/>
          <a:p>
            <a:r>
              <a:rPr lang="en-US" dirty="0"/>
              <a:t>Income tax in India is </a:t>
            </a:r>
            <a:r>
              <a:rPr lang="en-US" b="1" dirty="0">
                <a:solidFill>
                  <a:srgbClr val="C00000"/>
                </a:solidFill>
              </a:rPr>
              <a:t>a tax directly paid by person to the government</a:t>
            </a:r>
            <a:r>
              <a:rPr lang="en-US" b="1" dirty="0"/>
              <a:t> </a:t>
            </a:r>
            <a:r>
              <a:rPr lang="en-US" dirty="0"/>
              <a:t>based on </a:t>
            </a:r>
            <a:r>
              <a:rPr lang="en-US" b="1" dirty="0">
                <a:solidFill>
                  <a:srgbClr val="C00000"/>
                </a:solidFill>
              </a:rPr>
              <a:t>their income</a:t>
            </a:r>
            <a:r>
              <a:rPr lang="en-US" b="1" dirty="0"/>
              <a:t> </a:t>
            </a:r>
            <a:r>
              <a:rPr lang="en-US" dirty="0"/>
              <a:t>(and profit, in the case of business). </a:t>
            </a:r>
          </a:p>
          <a:p>
            <a:r>
              <a:rPr lang="en-US" dirty="0"/>
              <a:t>The income tax law in India consists of the following components - </a:t>
            </a:r>
          </a:p>
          <a:p>
            <a:pPr lvl="1"/>
            <a:r>
              <a:rPr lang="en-US" dirty="0"/>
              <a:t>Income Tax Act</a:t>
            </a:r>
          </a:p>
          <a:p>
            <a:pPr lvl="1"/>
            <a:r>
              <a:rPr lang="en-US" dirty="0"/>
              <a:t>Annual Finance Act</a:t>
            </a:r>
          </a:p>
          <a:p>
            <a:pPr lvl="1"/>
            <a:r>
              <a:rPr lang="en-US" dirty="0"/>
              <a:t>Income Tax Rules</a:t>
            </a:r>
          </a:p>
          <a:p>
            <a:pPr lvl="1"/>
            <a:r>
              <a:rPr lang="en-US" dirty="0"/>
              <a:t>Circulars/ Notifications</a:t>
            </a:r>
          </a:p>
          <a:p>
            <a:pPr lvl="1"/>
            <a:r>
              <a:rPr lang="en-US" dirty="0"/>
              <a:t>Legal decisions of Courts</a:t>
            </a:r>
            <a:endParaRPr lang="en-US" b="1" dirty="0"/>
          </a:p>
        </p:txBody>
      </p:sp>
    </p:spTree>
    <p:extLst>
      <p:ext uri="{BB962C8B-B14F-4D97-AF65-F5344CB8AC3E}">
        <p14:creationId xmlns:p14="http://schemas.microsoft.com/office/powerpoint/2010/main" val="1042475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B8079-8036-F2BB-E7DA-820511460D81}"/>
              </a:ext>
            </a:extLst>
          </p:cNvPr>
          <p:cNvSpPr>
            <a:spLocks noGrp="1"/>
          </p:cNvSpPr>
          <p:nvPr>
            <p:ph type="title"/>
          </p:nvPr>
        </p:nvSpPr>
        <p:spPr/>
        <p:txBody>
          <a:bodyPr/>
          <a:lstStyle/>
          <a:p>
            <a:r>
              <a:rPr lang="en-IN" dirty="0"/>
              <a:t>Definitions</a:t>
            </a:r>
            <a:endParaRPr lang="en-US" dirty="0"/>
          </a:p>
        </p:txBody>
      </p:sp>
    </p:spTree>
    <p:extLst>
      <p:ext uri="{BB962C8B-B14F-4D97-AF65-F5344CB8AC3E}">
        <p14:creationId xmlns:p14="http://schemas.microsoft.com/office/powerpoint/2010/main" val="3694827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CA861-7E17-09E3-18B4-BE06A7DC5A7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A527B4E-E252-7356-B793-6E9A13FD72BB}"/>
              </a:ext>
            </a:extLst>
          </p:cNvPr>
          <p:cNvSpPr/>
          <p:nvPr/>
        </p:nvSpPr>
        <p:spPr>
          <a:xfrm>
            <a:off x="0" y="-20340"/>
            <a:ext cx="6096000" cy="6608190"/>
          </a:xfrm>
          <a:prstGeom prst="rect">
            <a:avLst/>
          </a:prstGeom>
          <a:gradFill>
            <a:gsLst>
              <a:gs pos="0">
                <a:srgbClr val="562C32"/>
              </a:gs>
              <a:gs pos="50000">
                <a:srgbClr val="562C32"/>
              </a:gs>
              <a:gs pos="100000">
                <a:srgbClr val="7B3E47"/>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lnSpc>
                <a:spcPct val="120000"/>
              </a:lnSpc>
            </a:pPr>
            <a:r>
              <a:rPr lang="en-US" sz="2800" b="1" dirty="0"/>
              <a:t>Assessee</a:t>
            </a:r>
            <a:endParaRPr lang="en-US" sz="2800" dirty="0"/>
          </a:p>
          <a:p>
            <a:pPr marL="285750" indent="-285750" algn="just">
              <a:lnSpc>
                <a:spcPct val="120000"/>
              </a:lnSpc>
              <a:buFont typeface="Arial" panose="020B0604020202020204" pitchFamily="34" charset="0"/>
              <a:buChar char="•"/>
            </a:pPr>
            <a:r>
              <a:rPr lang="en-US" sz="2000" dirty="0"/>
              <a:t>Assessee means a person by whom any tax or any other sum of money is payable under this Act. It includes –</a:t>
            </a:r>
          </a:p>
          <a:p>
            <a:pPr marL="742950" lvl="1" indent="-285750" algn="just">
              <a:lnSpc>
                <a:spcPct val="120000"/>
              </a:lnSpc>
              <a:buFont typeface="Arial" panose="020B0604020202020204" pitchFamily="34" charset="0"/>
              <a:buChar char="•"/>
            </a:pPr>
            <a:r>
              <a:rPr lang="en-US" sz="2000" dirty="0"/>
              <a:t>Every person in respect of whom any proceeding under this Act has been taken, for the assessment of</a:t>
            </a:r>
          </a:p>
          <a:p>
            <a:pPr marL="1200150" lvl="2" indent="-285750" algn="just">
              <a:lnSpc>
                <a:spcPct val="120000"/>
              </a:lnSpc>
              <a:buFont typeface="Arial" panose="020B0604020202020204" pitchFamily="34" charset="0"/>
              <a:buChar char="•"/>
            </a:pPr>
            <a:r>
              <a:rPr lang="en-US" sz="2000" dirty="0"/>
              <a:t>His income, or</a:t>
            </a:r>
          </a:p>
          <a:p>
            <a:pPr marL="1200150" lvl="2" indent="-285750" algn="just">
              <a:lnSpc>
                <a:spcPct val="120000"/>
              </a:lnSpc>
              <a:buFont typeface="Arial" panose="020B0604020202020204" pitchFamily="34" charset="0"/>
              <a:buChar char="•"/>
            </a:pPr>
            <a:r>
              <a:rPr lang="en-US" sz="2000" dirty="0"/>
              <a:t>The income of any other person in respect of which he is assessable, or</a:t>
            </a:r>
          </a:p>
          <a:p>
            <a:pPr marL="1200150" lvl="2" indent="-285750" algn="just">
              <a:lnSpc>
                <a:spcPct val="120000"/>
              </a:lnSpc>
              <a:buFont typeface="Arial" panose="020B0604020202020204" pitchFamily="34" charset="0"/>
              <a:buChar char="•"/>
            </a:pPr>
            <a:r>
              <a:rPr lang="en-US" sz="2000" dirty="0"/>
              <a:t>The loss sustained by him or by such other persons, or</a:t>
            </a:r>
          </a:p>
          <a:p>
            <a:pPr marL="1200150" lvl="2" indent="-285750" algn="just">
              <a:lnSpc>
                <a:spcPct val="120000"/>
              </a:lnSpc>
              <a:buFont typeface="Arial" panose="020B0604020202020204" pitchFamily="34" charset="0"/>
              <a:buChar char="•"/>
            </a:pPr>
            <a:r>
              <a:rPr lang="en-US" sz="2000" dirty="0"/>
              <a:t>The amount of refund due to him or to such other person.</a:t>
            </a:r>
          </a:p>
        </p:txBody>
      </p:sp>
      <p:sp>
        <p:nvSpPr>
          <p:cNvPr id="5" name="Slide Number Placeholder 3">
            <a:extLst>
              <a:ext uri="{FF2B5EF4-FFF2-40B4-BE49-F238E27FC236}">
                <a16:creationId xmlns:a16="http://schemas.microsoft.com/office/drawing/2014/main" id="{1E4D4BA0-18FC-6235-56C9-DA68AD1153A2}"/>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8</a:t>
            </a:fld>
            <a:endParaRPr lang="en-US" b="1" dirty="0">
              <a:solidFill>
                <a:schemeClr val="tx1">
                  <a:lumMod val="90000"/>
                  <a:lumOff val="10000"/>
                </a:schemeClr>
              </a:solidFill>
              <a:latin typeface="+mn-lt"/>
            </a:endParaRPr>
          </a:p>
        </p:txBody>
      </p:sp>
      <p:pic>
        <p:nvPicPr>
          <p:cNvPr id="1028" name="Picture 4" descr="Businessman profession cartoon presenting | Premium Vector">
            <a:extLst>
              <a:ext uri="{FF2B5EF4-FFF2-40B4-BE49-F238E27FC236}">
                <a16:creationId xmlns:a16="http://schemas.microsoft.com/office/drawing/2014/main" id="{1835FB2B-D5B3-C9DF-996C-78DF0DF3AA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7381" y="1290024"/>
            <a:ext cx="3987461" cy="39874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7203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B20E2A-F2D8-419C-9FD1-95D26342647C}"/>
              </a:ext>
            </a:extLst>
          </p:cNvPr>
          <p:cNvSpPr/>
          <p:nvPr/>
        </p:nvSpPr>
        <p:spPr>
          <a:xfrm>
            <a:off x="6096000" y="0"/>
            <a:ext cx="6096000" cy="6608190"/>
          </a:xfrm>
          <a:prstGeom prst="rect">
            <a:avLst/>
          </a:prstGeom>
          <a:gradFill>
            <a:gsLst>
              <a:gs pos="0">
                <a:srgbClr val="562C32"/>
              </a:gs>
              <a:gs pos="50000">
                <a:srgbClr val="562C32"/>
              </a:gs>
              <a:gs pos="100000">
                <a:srgbClr val="7B3E47"/>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lnSpc>
                <a:spcPct val="120000"/>
              </a:lnSpc>
            </a:pPr>
            <a:r>
              <a:rPr lang="en-US" sz="2800" b="1" dirty="0"/>
              <a:t>Person</a:t>
            </a:r>
            <a:endParaRPr lang="en-US" sz="1600" dirty="0"/>
          </a:p>
          <a:p>
            <a:pPr algn="just"/>
            <a:r>
              <a:rPr lang="en-US" sz="2000" dirty="0"/>
              <a:t>There </a:t>
            </a:r>
            <a:r>
              <a:rPr lang="en-US" sz="2000" dirty="0">
                <a:solidFill>
                  <a:schemeClr val="bg1"/>
                </a:solidFill>
              </a:rPr>
              <a:t>are </a:t>
            </a:r>
            <a:r>
              <a:rPr lang="en-US" sz="2000" b="1" dirty="0">
                <a:solidFill>
                  <a:schemeClr val="bg1"/>
                </a:solidFill>
              </a:rPr>
              <a:t>seven categories</a:t>
            </a:r>
            <a:r>
              <a:rPr lang="en-US" sz="2000" dirty="0">
                <a:solidFill>
                  <a:schemeClr val="bg1"/>
                </a:solidFill>
              </a:rPr>
              <a:t> covered under the term “Person”.</a:t>
            </a:r>
          </a:p>
          <a:p>
            <a:pPr algn="just"/>
            <a:r>
              <a:rPr lang="en-US" sz="2000" dirty="0">
                <a:solidFill>
                  <a:schemeClr val="bg1"/>
                </a:solidFill>
              </a:rPr>
              <a:t>This includes –</a:t>
            </a:r>
          </a:p>
          <a:p>
            <a:pPr marL="742950" lvl="1" indent="-285750" algn="just">
              <a:buFont typeface="Arial" panose="020B0604020202020204" pitchFamily="34" charset="0"/>
              <a:buChar char="•"/>
            </a:pPr>
            <a:r>
              <a:rPr lang="en-US" dirty="0">
                <a:solidFill>
                  <a:schemeClr val="bg1"/>
                </a:solidFill>
              </a:rPr>
              <a:t>An </a:t>
            </a:r>
            <a:r>
              <a:rPr lang="en-US" b="1" dirty="0">
                <a:solidFill>
                  <a:schemeClr val="bg1"/>
                </a:solidFill>
              </a:rPr>
              <a:t>Individual</a:t>
            </a:r>
            <a:r>
              <a:rPr lang="en-US" dirty="0">
                <a:solidFill>
                  <a:schemeClr val="bg1"/>
                </a:solidFill>
              </a:rPr>
              <a:t> (Salaried Person, Person who is a sole proprietor, Teacher etc.)</a:t>
            </a:r>
          </a:p>
          <a:p>
            <a:pPr marL="742950" lvl="1" indent="-285750" algn="just">
              <a:buFont typeface="Arial" panose="020B0604020202020204" pitchFamily="34" charset="0"/>
              <a:buChar char="•"/>
            </a:pPr>
            <a:r>
              <a:rPr lang="en-US" b="1" dirty="0">
                <a:solidFill>
                  <a:schemeClr val="bg1"/>
                </a:solidFill>
              </a:rPr>
              <a:t>HUF </a:t>
            </a:r>
            <a:r>
              <a:rPr lang="en-US" dirty="0">
                <a:solidFill>
                  <a:schemeClr val="bg1"/>
                </a:solidFill>
              </a:rPr>
              <a:t>(Hindu Undivided Family)</a:t>
            </a:r>
          </a:p>
          <a:p>
            <a:pPr marL="742950" lvl="1" indent="-285750" algn="just">
              <a:buFont typeface="Arial" panose="020B0604020202020204" pitchFamily="34" charset="0"/>
              <a:buChar char="•"/>
            </a:pPr>
            <a:r>
              <a:rPr lang="en-US" dirty="0">
                <a:solidFill>
                  <a:schemeClr val="bg1"/>
                </a:solidFill>
              </a:rPr>
              <a:t>A</a:t>
            </a:r>
            <a:r>
              <a:rPr lang="en-US" b="1" dirty="0">
                <a:solidFill>
                  <a:schemeClr val="bg1"/>
                </a:solidFill>
              </a:rPr>
              <a:t> Company </a:t>
            </a:r>
            <a:r>
              <a:rPr lang="en-US" dirty="0">
                <a:solidFill>
                  <a:schemeClr val="bg1"/>
                </a:solidFill>
              </a:rPr>
              <a:t>(TATA Motors Limited, Infosys Ltd.)</a:t>
            </a:r>
          </a:p>
          <a:p>
            <a:pPr marL="742950" lvl="1" indent="-285750" algn="just">
              <a:buFont typeface="Arial" panose="020B0604020202020204" pitchFamily="34" charset="0"/>
              <a:buChar char="•"/>
            </a:pPr>
            <a:r>
              <a:rPr lang="en-US" dirty="0">
                <a:solidFill>
                  <a:schemeClr val="bg1"/>
                </a:solidFill>
              </a:rPr>
              <a:t>A </a:t>
            </a:r>
            <a:r>
              <a:rPr lang="en-US" b="1" dirty="0">
                <a:solidFill>
                  <a:schemeClr val="bg1"/>
                </a:solidFill>
              </a:rPr>
              <a:t>Firm</a:t>
            </a:r>
            <a:r>
              <a:rPr lang="en-US" dirty="0">
                <a:solidFill>
                  <a:schemeClr val="bg1"/>
                </a:solidFill>
              </a:rPr>
              <a:t> (ABC partnership Firm) &amp; Limited Liability Partnership </a:t>
            </a:r>
          </a:p>
          <a:p>
            <a:pPr marL="742950" lvl="1" indent="-285750" algn="just">
              <a:buFont typeface="Arial" panose="020B0604020202020204" pitchFamily="34" charset="0"/>
              <a:buChar char="•"/>
            </a:pPr>
            <a:r>
              <a:rPr lang="en-US" dirty="0">
                <a:solidFill>
                  <a:schemeClr val="bg1"/>
                </a:solidFill>
              </a:rPr>
              <a:t>An </a:t>
            </a:r>
            <a:r>
              <a:rPr lang="en-US" b="1" dirty="0">
                <a:solidFill>
                  <a:schemeClr val="bg1"/>
                </a:solidFill>
              </a:rPr>
              <a:t>Association of persons (AOP) / Body of Individuals (BOI)</a:t>
            </a:r>
            <a:r>
              <a:rPr lang="en-US" dirty="0">
                <a:solidFill>
                  <a:schemeClr val="bg1"/>
                </a:solidFill>
              </a:rPr>
              <a:t>, even without registration</a:t>
            </a:r>
          </a:p>
          <a:p>
            <a:pPr marL="742950" lvl="1" indent="-285750" algn="just">
              <a:buFont typeface="Arial" panose="020B0604020202020204" pitchFamily="34" charset="0"/>
              <a:buChar char="•"/>
            </a:pPr>
            <a:r>
              <a:rPr lang="en-US" dirty="0">
                <a:solidFill>
                  <a:schemeClr val="bg1"/>
                </a:solidFill>
              </a:rPr>
              <a:t>A </a:t>
            </a:r>
            <a:r>
              <a:rPr lang="en-US" b="1" dirty="0">
                <a:solidFill>
                  <a:schemeClr val="bg1"/>
                </a:solidFill>
              </a:rPr>
              <a:t>Local Authority</a:t>
            </a:r>
            <a:r>
              <a:rPr lang="en-US" dirty="0">
                <a:solidFill>
                  <a:schemeClr val="bg1"/>
                </a:solidFill>
              </a:rPr>
              <a:t> (Rajkot City Development Authority)</a:t>
            </a:r>
          </a:p>
          <a:p>
            <a:pPr marL="742950" lvl="1" indent="-285750" algn="just">
              <a:buFont typeface="Arial" panose="020B0604020202020204" pitchFamily="34" charset="0"/>
              <a:buChar char="•"/>
            </a:pPr>
            <a:r>
              <a:rPr lang="en-US" dirty="0">
                <a:solidFill>
                  <a:schemeClr val="bg1"/>
                </a:solidFill>
              </a:rPr>
              <a:t>Every </a:t>
            </a:r>
            <a:r>
              <a:rPr lang="en-US" b="1" dirty="0">
                <a:solidFill>
                  <a:schemeClr val="bg1"/>
                </a:solidFill>
              </a:rPr>
              <a:t>Artificial Judicial Person</a:t>
            </a:r>
            <a:r>
              <a:rPr lang="en-US" dirty="0">
                <a:solidFill>
                  <a:schemeClr val="bg1"/>
                </a:solidFill>
              </a:rPr>
              <a:t> (Universities), not covered above</a:t>
            </a:r>
            <a:endParaRPr lang="en-US" sz="2000" dirty="0">
              <a:solidFill>
                <a:schemeClr val="bg1"/>
              </a:solidFill>
            </a:endParaRPr>
          </a:p>
          <a:p>
            <a:pPr marL="285750" indent="-285750" algn="just">
              <a:lnSpc>
                <a:spcPct val="120000"/>
              </a:lnSpc>
              <a:buFont typeface="Arial" panose="020B0604020202020204" pitchFamily="34" charset="0"/>
              <a:buChar char="•"/>
            </a:pPr>
            <a:endParaRPr lang="en-US" sz="2000" dirty="0"/>
          </a:p>
        </p:txBody>
      </p:sp>
      <p:sp>
        <p:nvSpPr>
          <p:cNvPr id="5" name="Slide Number Placeholder 3">
            <a:extLst>
              <a:ext uri="{FF2B5EF4-FFF2-40B4-BE49-F238E27FC236}">
                <a16:creationId xmlns:a16="http://schemas.microsoft.com/office/drawing/2014/main" id="{F805A06D-A5FA-4301-9831-05E575755957}"/>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9</a:t>
            </a:fld>
            <a:endParaRPr lang="en-US" b="1" dirty="0">
              <a:solidFill>
                <a:schemeClr val="tx1">
                  <a:lumMod val="90000"/>
                  <a:lumOff val="10000"/>
                </a:schemeClr>
              </a:solidFill>
              <a:latin typeface="+mn-lt"/>
            </a:endParaRPr>
          </a:p>
        </p:txBody>
      </p:sp>
      <p:grpSp>
        <p:nvGrpSpPr>
          <p:cNvPr id="2" name="Group 1">
            <a:extLst>
              <a:ext uri="{FF2B5EF4-FFF2-40B4-BE49-F238E27FC236}">
                <a16:creationId xmlns:a16="http://schemas.microsoft.com/office/drawing/2014/main" id="{CFBD656B-5C3D-F294-8770-9AA7DABC6636}"/>
              </a:ext>
            </a:extLst>
          </p:cNvPr>
          <p:cNvGrpSpPr/>
          <p:nvPr/>
        </p:nvGrpSpPr>
        <p:grpSpPr>
          <a:xfrm>
            <a:off x="160126" y="798991"/>
            <a:ext cx="5871196" cy="4190205"/>
            <a:chOff x="1635766" y="1520049"/>
            <a:chExt cx="11197286" cy="4740754"/>
          </a:xfrm>
        </p:grpSpPr>
        <p:grpSp>
          <p:nvGrpSpPr>
            <p:cNvPr id="4" name="Group 3"/>
            <p:cNvGrpSpPr/>
            <p:nvPr/>
          </p:nvGrpSpPr>
          <p:grpSpPr>
            <a:xfrm>
              <a:off x="5541293" y="1992688"/>
              <a:ext cx="686209" cy="643908"/>
              <a:chOff x="3849113" y="1999642"/>
              <a:chExt cx="471589" cy="466319"/>
            </a:xfrm>
          </p:grpSpPr>
          <p:sp>
            <p:nvSpPr>
              <p:cNvPr id="63" name="Rounded Rectangle 1"/>
              <p:cNvSpPr/>
              <p:nvPr/>
            </p:nvSpPr>
            <p:spPr>
              <a:xfrm>
                <a:off x="3849113" y="1999642"/>
                <a:ext cx="471589" cy="466319"/>
              </a:xfrm>
              <a:custGeom>
                <a:avLst/>
                <a:gdLst/>
                <a:ahLst/>
                <a:cxnLst/>
                <a:rect l="0" t="0" r="0" b="0"/>
                <a:pathLst>
                  <a:path w="471589" h="466319">
                    <a:moveTo>
                      <a:pt x="471589" y="233159"/>
                    </a:moveTo>
                    <a:cubicBezTo>
                      <a:pt x="471589" y="361930"/>
                      <a:pt x="366019" y="466319"/>
                      <a:pt x="235794" y="466319"/>
                    </a:cubicBezTo>
                    <a:cubicBezTo>
                      <a:pt x="105568" y="466319"/>
                      <a:pt x="0" y="361930"/>
                      <a:pt x="0" y="233159"/>
                    </a:cubicBezTo>
                    <a:cubicBezTo>
                      <a:pt x="0" y="104389"/>
                      <a:pt x="105568" y="0"/>
                      <a:pt x="235794" y="0"/>
                    </a:cubicBezTo>
                    <a:cubicBezTo>
                      <a:pt x="366019" y="0"/>
                      <a:pt x="471589" y="104389"/>
                      <a:pt x="471589" y="233159"/>
                    </a:cubicBezTo>
                    <a:close/>
                    <a:moveTo>
                      <a:pt x="467498" y="276630"/>
                    </a:moveTo>
                    <a:cubicBezTo>
                      <a:pt x="470590" y="261563"/>
                      <a:pt x="471589" y="249129"/>
                      <a:pt x="471589" y="233159"/>
                    </a:cubicBezTo>
                    <a:cubicBezTo>
                      <a:pt x="471589" y="217190"/>
                      <a:pt x="468938" y="196852"/>
                      <a:pt x="465846" y="181785"/>
                    </a:cubicBezTo>
                  </a:path>
                </a:pathLst>
              </a:custGeom>
              <a:solidFill>
                <a:srgbClr val="92BD39"/>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64" name="Rounded Rectangle 2"/>
              <p:cNvSpPr/>
              <p:nvPr/>
            </p:nvSpPr>
            <p:spPr>
              <a:xfrm>
                <a:off x="3849113" y="1999642"/>
                <a:ext cx="471589" cy="466319"/>
              </a:xfrm>
              <a:custGeom>
                <a:avLst/>
                <a:gdLst/>
                <a:ahLst/>
                <a:cxnLst/>
                <a:rect l="0" t="0" r="0" b="0"/>
                <a:pathLst>
                  <a:path w="471589" h="466319">
                    <a:moveTo>
                      <a:pt x="471589" y="233159"/>
                    </a:moveTo>
                    <a:cubicBezTo>
                      <a:pt x="471589" y="361930"/>
                      <a:pt x="366019" y="466319"/>
                      <a:pt x="235794" y="466319"/>
                    </a:cubicBezTo>
                    <a:cubicBezTo>
                      <a:pt x="105568" y="466319"/>
                      <a:pt x="0" y="361930"/>
                      <a:pt x="0" y="233159"/>
                    </a:cubicBezTo>
                    <a:cubicBezTo>
                      <a:pt x="0" y="104389"/>
                      <a:pt x="105568" y="0"/>
                      <a:pt x="235794" y="0"/>
                    </a:cubicBezTo>
                    <a:cubicBezTo>
                      <a:pt x="366019" y="0"/>
                      <a:pt x="471589" y="104389"/>
                      <a:pt x="471589" y="233159"/>
                    </a:cubicBezTo>
                    <a:close/>
                    <a:moveTo>
                      <a:pt x="467498" y="276630"/>
                    </a:moveTo>
                    <a:cubicBezTo>
                      <a:pt x="470590" y="261563"/>
                      <a:pt x="471589" y="249129"/>
                      <a:pt x="471589" y="233159"/>
                    </a:cubicBezTo>
                    <a:cubicBezTo>
                      <a:pt x="471589" y="217190"/>
                      <a:pt x="468938" y="196852"/>
                      <a:pt x="465846" y="181785"/>
                    </a:cubicBezTo>
                  </a:path>
                </a:pathLst>
              </a:custGeom>
              <a:noFill/>
              <a:ln w="1185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6" name="Group 5"/>
            <p:cNvGrpSpPr/>
            <p:nvPr/>
          </p:nvGrpSpPr>
          <p:grpSpPr>
            <a:xfrm>
              <a:off x="4034529" y="2916198"/>
              <a:ext cx="1696832" cy="819071"/>
              <a:chOff x="2521287" y="2663554"/>
              <a:chExt cx="1414766" cy="474223"/>
            </a:xfrm>
          </p:grpSpPr>
          <p:sp>
            <p:nvSpPr>
              <p:cNvPr id="61" name="Rounded Rectangle 4"/>
              <p:cNvSpPr/>
              <p:nvPr/>
            </p:nvSpPr>
            <p:spPr>
              <a:xfrm>
                <a:off x="2521287" y="2663554"/>
                <a:ext cx="1414766" cy="474223"/>
              </a:xfrm>
              <a:custGeom>
                <a:avLst/>
                <a:gdLst/>
                <a:ahLst/>
                <a:cxnLst/>
                <a:rect l="0" t="0" r="0" b="0"/>
                <a:pathLst>
                  <a:path w="1414766" h="474223">
                    <a:moveTo>
                      <a:pt x="474223" y="237111"/>
                    </a:moveTo>
                    <a:cubicBezTo>
                      <a:pt x="474223" y="368064"/>
                      <a:pt x="368064" y="474223"/>
                      <a:pt x="237111" y="474223"/>
                    </a:cubicBezTo>
                    <a:cubicBezTo>
                      <a:pt x="106158" y="474223"/>
                      <a:pt x="0" y="368064"/>
                      <a:pt x="0" y="237111"/>
                    </a:cubicBezTo>
                    <a:cubicBezTo>
                      <a:pt x="0" y="106158"/>
                      <a:pt x="106158" y="0"/>
                      <a:pt x="237111" y="0"/>
                    </a:cubicBezTo>
                    <a:cubicBezTo>
                      <a:pt x="368064" y="0"/>
                      <a:pt x="474223" y="106158"/>
                      <a:pt x="474223" y="237111"/>
                    </a:cubicBezTo>
                    <a:close/>
                    <a:moveTo>
                      <a:pt x="470109" y="281318"/>
                    </a:moveTo>
                    <a:cubicBezTo>
                      <a:pt x="473220" y="265996"/>
                      <a:pt x="474223" y="253352"/>
                      <a:pt x="474223" y="237111"/>
                    </a:cubicBezTo>
                    <a:cubicBezTo>
                      <a:pt x="474223" y="220871"/>
                      <a:pt x="471559" y="200189"/>
                      <a:pt x="468448" y="184866"/>
                    </a:cubicBezTo>
                    <a:moveTo>
                      <a:pt x="466319" y="181785"/>
                    </a:moveTo>
                    <a:lnTo>
                      <a:pt x="1131648" y="181785"/>
                    </a:lnTo>
                    <a:cubicBezTo>
                      <a:pt x="1288010" y="181785"/>
                      <a:pt x="1414766" y="309176"/>
                      <a:pt x="1414766" y="466319"/>
                    </a:cubicBezTo>
                    <a:lnTo>
                      <a:pt x="1367580" y="466319"/>
                    </a:lnTo>
                    <a:lnTo>
                      <a:pt x="1320393" y="466319"/>
                    </a:lnTo>
                    <a:cubicBezTo>
                      <a:pt x="1320393" y="361557"/>
                      <a:pt x="1235889" y="276630"/>
                      <a:pt x="1131648" y="276630"/>
                    </a:cubicBezTo>
                    <a:lnTo>
                      <a:pt x="466319" y="276630"/>
                    </a:lnTo>
                    <a:cubicBezTo>
                      <a:pt x="469414" y="261307"/>
                      <a:pt x="471038" y="245448"/>
                      <a:pt x="471038" y="229207"/>
                    </a:cubicBezTo>
                    <a:cubicBezTo>
                      <a:pt x="471038" y="212967"/>
                      <a:pt x="469414" y="197108"/>
                      <a:pt x="466319" y="181785"/>
                    </a:cubicBez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62" name="Rounded Rectangle 5"/>
              <p:cNvSpPr/>
              <p:nvPr/>
            </p:nvSpPr>
            <p:spPr>
              <a:xfrm>
                <a:off x="2521287" y="2663554"/>
                <a:ext cx="1414766" cy="466319"/>
              </a:xfrm>
              <a:custGeom>
                <a:avLst/>
                <a:gdLst/>
                <a:ahLst/>
                <a:cxnLst/>
                <a:rect l="0" t="0" r="0" b="0"/>
                <a:pathLst>
                  <a:path w="1414766" h="466319">
                    <a:moveTo>
                      <a:pt x="471589" y="233159"/>
                    </a:moveTo>
                    <a:cubicBezTo>
                      <a:pt x="471589" y="361930"/>
                      <a:pt x="366019" y="466319"/>
                      <a:pt x="235794" y="466319"/>
                    </a:cubicBezTo>
                    <a:cubicBezTo>
                      <a:pt x="105568" y="466319"/>
                      <a:pt x="0" y="361930"/>
                      <a:pt x="0" y="233159"/>
                    </a:cubicBezTo>
                    <a:cubicBezTo>
                      <a:pt x="0" y="104389"/>
                      <a:pt x="105568" y="0"/>
                      <a:pt x="235794" y="0"/>
                    </a:cubicBezTo>
                    <a:cubicBezTo>
                      <a:pt x="366019" y="0"/>
                      <a:pt x="471589" y="104389"/>
                      <a:pt x="471589" y="233159"/>
                    </a:cubicBezTo>
                    <a:close/>
                    <a:moveTo>
                      <a:pt x="1319921" y="466319"/>
                    </a:moveTo>
                    <a:cubicBezTo>
                      <a:pt x="1319921" y="363303"/>
                      <a:pt x="1234413" y="276630"/>
                      <a:pt x="1130232" y="276630"/>
                    </a:cubicBezTo>
                    <a:lnTo>
                      <a:pt x="467498" y="276630"/>
                    </a:lnTo>
                    <a:cubicBezTo>
                      <a:pt x="470590" y="261563"/>
                      <a:pt x="471589" y="249129"/>
                      <a:pt x="471589" y="233159"/>
                    </a:cubicBezTo>
                    <a:cubicBezTo>
                      <a:pt x="471589" y="217190"/>
                      <a:pt x="468938" y="196852"/>
                      <a:pt x="465846" y="181785"/>
                    </a:cubicBezTo>
                    <a:lnTo>
                      <a:pt x="1130232" y="181785"/>
                    </a:lnTo>
                    <a:cubicBezTo>
                      <a:pt x="1286503" y="181785"/>
                      <a:pt x="1414766" y="311794"/>
                      <a:pt x="1414766" y="466319"/>
                    </a:cubicBezTo>
                  </a:path>
                </a:pathLst>
              </a:custGeom>
              <a:noFill/>
              <a:ln w="1185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7" name="Group 6"/>
            <p:cNvGrpSpPr/>
            <p:nvPr/>
          </p:nvGrpSpPr>
          <p:grpSpPr>
            <a:xfrm>
              <a:off x="4034530" y="4023242"/>
              <a:ext cx="1507142" cy="648617"/>
              <a:chOff x="2513384" y="3509253"/>
              <a:chExt cx="1232980" cy="474223"/>
            </a:xfrm>
          </p:grpSpPr>
          <p:sp>
            <p:nvSpPr>
              <p:cNvPr id="59" name="Rounded Rectangle 7"/>
              <p:cNvSpPr/>
              <p:nvPr/>
            </p:nvSpPr>
            <p:spPr>
              <a:xfrm>
                <a:off x="2513384" y="3509253"/>
                <a:ext cx="1232980" cy="474223"/>
              </a:xfrm>
              <a:custGeom>
                <a:avLst/>
                <a:gdLst/>
                <a:ahLst/>
                <a:cxnLst/>
                <a:rect l="0" t="0" r="0" b="0"/>
                <a:pathLst>
                  <a:path w="1232980" h="474223">
                    <a:moveTo>
                      <a:pt x="474223" y="237111"/>
                    </a:moveTo>
                    <a:cubicBezTo>
                      <a:pt x="474223" y="368064"/>
                      <a:pt x="368064" y="474223"/>
                      <a:pt x="237111" y="474223"/>
                    </a:cubicBezTo>
                    <a:cubicBezTo>
                      <a:pt x="106158" y="474223"/>
                      <a:pt x="0" y="368064"/>
                      <a:pt x="0" y="237111"/>
                    </a:cubicBezTo>
                    <a:cubicBezTo>
                      <a:pt x="0" y="106158"/>
                      <a:pt x="106158" y="0"/>
                      <a:pt x="237111" y="0"/>
                    </a:cubicBezTo>
                    <a:cubicBezTo>
                      <a:pt x="368064" y="0"/>
                      <a:pt x="474223" y="106158"/>
                      <a:pt x="474223" y="237111"/>
                    </a:cubicBezTo>
                    <a:close/>
                    <a:moveTo>
                      <a:pt x="470109" y="281318"/>
                    </a:moveTo>
                    <a:cubicBezTo>
                      <a:pt x="473220" y="265996"/>
                      <a:pt x="474223" y="253352"/>
                      <a:pt x="474223" y="237111"/>
                    </a:cubicBezTo>
                    <a:cubicBezTo>
                      <a:pt x="474223" y="220871"/>
                      <a:pt x="471559" y="200189"/>
                      <a:pt x="468448" y="184866"/>
                    </a:cubicBezTo>
                    <a:moveTo>
                      <a:pt x="474223" y="181785"/>
                    </a:moveTo>
                    <a:lnTo>
                      <a:pt x="949862" y="181785"/>
                    </a:lnTo>
                    <a:cubicBezTo>
                      <a:pt x="1106224" y="181785"/>
                      <a:pt x="1232980" y="312714"/>
                      <a:pt x="1232980" y="474223"/>
                    </a:cubicBezTo>
                    <a:lnTo>
                      <a:pt x="1185794" y="474223"/>
                    </a:lnTo>
                    <a:lnTo>
                      <a:pt x="1138608" y="474223"/>
                    </a:lnTo>
                    <a:cubicBezTo>
                      <a:pt x="1138608" y="366550"/>
                      <a:pt x="1054103" y="279264"/>
                      <a:pt x="949862" y="279264"/>
                    </a:cubicBezTo>
                    <a:lnTo>
                      <a:pt x="474223" y="279264"/>
                    </a:lnTo>
                    <a:cubicBezTo>
                      <a:pt x="477318" y="263516"/>
                      <a:pt x="478942" y="247216"/>
                      <a:pt x="478942" y="230525"/>
                    </a:cubicBezTo>
                    <a:cubicBezTo>
                      <a:pt x="478942" y="213833"/>
                      <a:pt x="477318" y="197533"/>
                      <a:pt x="474223" y="181785"/>
                    </a:cubicBezTo>
                    <a:close/>
                  </a:path>
                </a:pathLst>
              </a:custGeom>
              <a:solidFill>
                <a:srgbClr val="3CC58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60" name="Rounded Rectangle 8"/>
              <p:cNvSpPr/>
              <p:nvPr/>
            </p:nvSpPr>
            <p:spPr>
              <a:xfrm>
                <a:off x="2513384" y="3509253"/>
                <a:ext cx="1232980" cy="474223"/>
              </a:xfrm>
              <a:custGeom>
                <a:avLst/>
                <a:gdLst/>
                <a:ahLst/>
                <a:cxnLst/>
                <a:rect l="0" t="0" r="0" b="0"/>
                <a:pathLst>
                  <a:path w="1232980" h="474223">
                    <a:moveTo>
                      <a:pt x="474631" y="233159"/>
                    </a:moveTo>
                    <a:cubicBezTo>
                      <a:pt x="474631" y="361930"/>
                      <a:pt x="368381" y="466319"/>
                      <a:pt x="237315" y="466319"/>
                    </a:cubicBezTo>
                    <a:cubicBezTo>
                      <a:pt x="106249" y="466319"/>
                      <a:pt x="0" y="361930"/>
                      <a:pt x="0" y="233159"/>
                    </a:cubicBezTo>
                    <a:cubicBezTo>
                      <a:pt x="0" y="104389"/>
                      <a:pt x="106249" y="0"/>
                      <a:pt x="237315" y="0"/>
                    </a:cubicBezTo>
                    <a:cubicBezTo>
                      <a:pt x="368381" y="0"/>
                      <a:pt x="474631" y="104389"/>
                      <a:pt x="474631" y="233159"/>
                    </a:cubicBezTo>
                    <a:close/>
                    <a:moveTo>
                      <a:pt x="1137524" y="474223"/>
                    </a:moveTo>
                    <a:cubicBezTo>
                      <a:pt x="1137524" y="371207"/>
                      <a:pt x="1051463" y="276630"/>
                      <a:pt x="946610" y="276630"/>
                    </a:cubicBezTo>
                    <a:lnTo>
                      <a:pt x="470514" y="276630"/>
                    </a:lnTo>
                    <a:cubicBezTo>
                      <a:pt x="473627" y="261563"/>
                      <a:pt x="474631" y="249129"/>
                      <a:pt x="474631" y="233159"/>
                    </a:cubicBezTo>
                    <a:cubicBezTo>
                      <a:pt x="474631" y="217190"/>
                      <a:pt x="471964" y="196852"/>
                      <a:pt x="468852" y="181785"/>
                    </a:cubicBezTo>
                    <a:lnTo>
                      <a:pt x="946610" y="181785"/>
                    </a:lnTo>
                    <a:cubicBezTo>
                      <a:pt x="1103890" y="181785"/>
                      <a:pt x="1232980" y="319698"/>
                      <a:pt x="1232980" y="474223"/>
                    </a:cubicBezTo>
                  </a:path>
                </a:pathLst>
              </a:custGeom>
              <a:noFill/>
              <a:ln w="1185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8" name="Group 7"/>
            <p:cNvGrpSpPr/>
            <p:nvPr/>
          </p:nvGrpSpPr>
          <p:grpSpPr>
            <a:xfrm>
              <a:off x="4034529" y="5177993"/>
              <a:ext cx="1317453" cy="611095"/>
              <a:chOff x="2521287" y="4560448"/>
              <a:chExt cx="1035387" cy="474223"/>
            </a:xfrm>
          </p:grpSpPr>
          <p:sp>
            <p:nvSpPr>
              <p:cNvPr id="57" name="Rounded Rectangle 10"/>
              <p:cNvSpPr/>
              <p:nvPr/>
            </p:nvSpPr>
            <p:spPr>
              <a:xfrm>
                <a:off x="2521287" y="4560448"/>
                <a:ext cx="1035387" cy="474223"/>
              </a:xfrm>
              <a:custGeom>
                <a:avLst/>
                <a:gdLst/>
                <a:ahLst/>
                <a:cxnLst/>
                <a:rect l="0" t="0" r="0" b="0"/>
                <a:pathLst>
                  <a:path w="1035387" h="474223">
                    <a:moveTo>
                      <a:pt x="474223" y="237111"/>
                    </a:moveTo>
                    <a:cubicBezTo>
                      <a:pt x="474223" y="368064"/>
                      <a:pt x="368064" y="474223"/>
                      <a:pt x="237111" y="474223"/>
                    </a:cubicBezTo>
                    <a:cubicBezTo>
                      <a:pt x="106158" y="474223"/>
                      <a:pt x="0" y="368064"/>
                      <a:pt x="0" y="237111"/>
                    </a:cubicBezTo>
                    <a:cubicBezTo>
                      <a:pt x="0" y="106158"/>
                      <a:pt x="106158" y="0"/>
                      <a:pt x="237111" y="0"/>
                    </a:cubicBezTo>
                    <a:cubicBezTo>
                      <a:pt x="368064" y="0"/>
                      <a:pt x="474223" y="106158"/>
                      <a:pt x="474223" y="237111"/>
                    </a:cubicBezTo>
                    <a:close/>
                    <a:moveTo>
                      <a:pt x="470109" y="281318"/>
                    </a:moveTo>
                    <a:cubicBezTo>
                      <a:pt x="473220" y="265996"/>
                      <a:pt x="474223" y="253352"/>
                      <a:pt x="474223" y="237111"/>
                    </a:cubicBezTo>
                    <a:cubicBezTo>
                      <a:pt x="474223" y="220871"/>
                      <a:pt x="471559" y="200189"/>
                      <a:pt x="468448" y="184866"/>
                    </a:cubicBezTo>
                    <a:moveTo>
                      <a:pt x="466319" y="181785"/>
                    </a:moveTo>
                    <a:lnTo>
                      <a:pt x="752269" y="181785"/>
                    </a:lnTo>
                    <a:cubicBezTo>
                      <a:pt x="908631" y="181785"/>
                      <a:pt x="1035387" y="309176"/>
                      <a:pt x="1035387" y="466319"/>
                    </a:cubicBezTo>
                    <a:lnTo>
                      <a:pt x="988201" y="466319"/>
                    </a:lnTo>
                    <a:lnTo>
                      <a:pt x="941014" y="466319"/>
                    </a:lnTo>
                    <a:cubicBezTo>
                      <a:pt x="941014" y="361557"/>
                      <a:pt x="856510" y="276630"/>
                      <a:pt x="752269" y="276630"/>
                    </a:cubicBezTo>
                    <a:lnTo>
                      <a:pt x="466319" y="276630"/>
                    </a:lnTo>
                    <a:cubicBezTo>
                      <a:pt x="469414" y="261307"/>
                      <a:pt x="471038" y="245448"/>
                      <a:pt x="471038" y="229207"/>
                    </a:cubicBezTo>
                    <a:cubicBezTo>
                      <a:pt x="471038" y="212967"/>
                      <a:pt x="469414" y="197108"/>
                      <a:pt x="466319" y="181785"/>
                    </a:cubicBezTo>
                    <a:close/>
                  </a:path>
                </a:pathLst>
              </a:custGeom>
              <a:solidFill>
                <a:srgbClr val="4E88E7"/>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58" name="Rounded Rectangle 11"/>
              <p:cNvSpPr/>
              <p:nvPr/>
            </p:nvSpPr>
            <p:spPr>
              <a:xfrm>
                <a:off x="2521287" y="4560448"/>
                <a:ext cx="1035387" cy="466319"/>
              </a:xfrm>
              <a:custGeom>
                <a:avLst/>
                <a:gdLst/>
                <a:ahLst/>
                <a:cxnLst/>
                <a:rect l="0" t="0" r="0" b="0"/>
                <a:pathLst>
                  <a:path w="1035387" h="466319">
                    <a:moveTo>
                      <a:pt x="471589" y="233159"/>
                    </a:moveTo>
                    <a:cubicBezTo>
                      <a:pt x="471589" y="361930"/>
                      <a:pt x="366019" y="466319"/>
                      <a:pt x="235794" y="466319"/>
                    </a:cubicBezTo>
                    <a:cubicBezTo>
                      <a:pt x="105568" y="466319"/>
                      <a:pt x="0" y="361930"/>
                      <a:pt x="0" y="233159"/>
                    </a:cubicBezTo>
                    <a:cubicBezTo>
                      <a:pt x="0" y="104389"/>
                      <a:pt x="105568" y="0"/>
                      <a:pt x="235794" y="0"/>
                    </a:cubicBezTo>
                    <a:cubicBezTo>
                      <a:pt x="366019" y="0"/>
                      <a:pt x="471589" y="104389"/>
                      <a:pt x="471589" y="233159"/>
                    </a:cubicBezTo>
                    <a:close/>
                    <a:moveTo>
                      <a:pt x="940543" y="466319"/>
                    </a:moveTo>
                    <a:cubicBezTo>
                      <a:pt x="940543" y="363303"/>
                      <a:pt x="855034" y="276630"/>
                      <a:pt x="750853" y="276630"/>
                    </a:cubicBezTo>
                    <a:lnTo>
                      <a:pt x="467498" y="276630"/>
                    </a:lnTo>
                    <a:cubicBezTo>
                      <a:pt x="470590" y="261563"/>
                      <a:pt x="471589" y="249129"/>
                      <a:pt x="471589" y="233159"/>
                    </a:cubicBezTo>
                    <a:cubicBezTo>
                      <a:pt x="471589" y="217190"/>
                      <a:pt x="468938" y="196852"/>
                      <a:pt x="465846" y="181785"/>
                    </a:cubicBezTo>
                    <a:lnTo>
                      <a:pt x="750853" y="181785"/>
                    </a:lnTo>
                    <a:cubicBezTo>
                      <a:pt x="907124" y="181785"/>
                      <a:pt x="1035387" y="311794"/>
                      <a:pt x="1035387" y="466319"/>
                    </a:cubicBezTo>
                  </a:path>
                </a:pathLst>
              </a:custGeom>
              <a:noFill/>
              <a:ln w="1185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9" name="Group 8"/>
            <p:cNvGrpSpPr/>
            <p:nvPr/>
          </p:nvGrpSpPr>
          <p:grpSpPr>
            <a:xfrm>
              <a:off x="5245447" y="5778903"/>
              <a:ext cx="106535" cy="463688"/>
              <a:chOff x="3461830" y="5026768"/>
              <a:chExt cx="94844" cy="268726"/>
            </a:xfrm>
          </p:grpSpPr>
          <p:sp>
            <p:nvSpPr>
              <p:cNvPr id="55" name="Rounded Rectangle 13"/>
              <p:cNvSpPr/>
              <p:nvPr/>
            </p:nvSpPr>
            <p:spPr>
              <a:xfrm>
                <a:off x="3461830" y="5026768"/>
                <a:ext cx="94844" cy="268726"/>
              </a:xfrm>
              <a:custGeom>
                <a:avLst/>
                <a:gdLst/>
                <a:ahLst/>
                <a:cxnLst/>
                <a:rect l="0" t="0" r="0" b="0"/>
                <a:pathLst>
                  <a:path w="94844" h="268726">
                    <a:moveTo>
                      <a:pt x="0" y="0"/>
                    </a:moveTo>
                    <a:lnTo>
                      <a:pt x="94844" y="0"/>
                    </a:lnTo>
                    <a:lnTo>
                      <a:pt x="94844" y="268726"/>
                    </a:lnTo>
                    <a:lnTo>
                      <a:pt x="0" y="268726"/>
                    </a:lnTo>
                    <a:close/>
                  </a:path>
                </a:pathLst>
              </a:custGeom>
              <a:solidFill>
                <a:srgbClr val="4E88E7"/>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56" name="Rounded Rectangle 14"/>
              <p:cNvSpPr/>
              <p:nvPr/>
            </p:nvSpPr>
            <p:spPr>
              <a:xfrm>
                <a:off x="3461830" y="5026768"/>
                <a:ext cx="94844" cy="268726"/>
              </a:xfrm>
              <a:custGeom>
                <a:avLst/>
                <a:gdLst/>
                <a:ahLst/>
                <a:cxnLst/>
                <a:rect l="0" t="0" r="0" b="0"/>
                <a:pathLst>
                  <a:path w="94844" h="268726">
                    <a:moveTo>
                      <a:pt x="94844" y="0"/>
                    </a:moveTo>
                    <a:lnTo>
                      <a:pt x="94844" y="268726"/>
                    </a:lnTo>
                    <a:lnTo>
                      <a:pt x="0" y="268726"/>
                    </a:lnTo>
                    <a:lnTo>
                      <a:pt x="0" y="0"/>
                    </a:lnTo>
                  </a:path>
                </a:pathLst>
              </a:custGeom>
              <a:noFill/>
              <a:ln w="1185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0" name="Group 9"/>
            <p:cNvGrpSpPr/>
            <p:nvPr/>
          </p:nvGrpSpPr>
          <p:grpSpPr>
            <a:xfrm>
              <a:off x="5432423" y="4671859"/>
              <a:ext cx="94844" cy="1570732"/>
              <a:chOff x="3651520" y="3983476"/>
              <a:chExt cx="94844" cy="1312018"/>
            </a:xfrm>
          </p:grpSpPr>
          <p:sp>
            <p:nvSpPr>
              <p:cNvPr id="53" name="Rounded Rectangle 16"/>
              <p:cNvSpPr/>
              <p:nvPr/>
            </p:nvSpPr>
            <p:spPr>
              <a:xfrm>
                <a:off x="3651520" y="3983476"/>
                <a:ext cx="94844" cy="1312018"/>
              </a:xfrm>
              <a:custGeom>
                <a:avLst/>
                <a:gdLst/>
                <a:ahLst/>
                <a:cxnLst/>
                <a:rect l="0" t="0" r="0" b="0"/>
                <a:pathLst>
                  <a:path w="94844" h="1312018">
                    <a:moveTo>
                      <a:pt x="0" y="0"/>
                    </a:moveTo>
                    <a:lnTo>
                      <a:pt x="94844" y="0"/>
                    </a:lnTo>
                    <a:lnTo>
                      <a:pt x="94844" y="1312018"/>
                    </a:lnTo>
                    <a:lnTo>
                      <a:pt x="0" y="1312018"/>
                    </a:lnTo>
                    <a:close/>
                  </a:path>
                </a:pathLst>
              </a:custGeom>
              <a:solidFill>
                <a:srgbClr val="3CC58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54" name="Rounded Rectangle 17"/>
              <p:cNvSpPr/>
              <p:nvPr/>
            </p:nvSpPr>
            <p:spPr>
              <a:xfrm>
                <a:off x="3651520" y="3983476"/>
                <a:ext cx="94844" cy="1312018"/>
              </a:xfrm>
              <a:custGeom>
                <a:avLst/>
                <a:gdLst/>
                <a:ahLst/>
                <a:cxnLst/>
                <a:rect l="0" t="0" r="0" b="0"/>
                <a:pathLst>
                  <a:path w="94844" h="1312018">
                    <a:moveTo>
                      <a:pt x="94844" y="0"/>
                    </a:moveTo>
                    <a:lnTo>
                      <a:pt x="94844" y="1312018"/>
                    </a:lnTo>
                    <a:lnTo>
                      <a:pt x="0" y="1312018"/>
                    </a:lnTo>
                    <a:lnTo>
                      <a:pt x="0" y="0"/>
                    </a:lnTo>
                  </a:path>
                </a:pathLst>
              </a:custGeom>
              <a:noFill/>
              <a:ln w="1185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1" name="Group 10"/>
            <p:cNvGrpSpPr/>
            <p:nvPr/>
          </p:nvGrpSpPr>
          <p:grpSpPr>
            <a:xfrm>
              <a:off x="5617098" y="3720806"/>
              <a:ext cx="114030" cy="2539997"/>
              <a:chOff x="3841209" y="3129874"/>
              <a:chExt cx="94844" cy="2165620"/>
            </a:xfrm>
          </p:grpSpPr>
          <p:sp>
            <p:nvSpPr>
              <p:cNvPr id="51" name="Rounded Rectangle 19"/>
              <p:cNvSpPr/>
              <p:nvPr/>
            </p:nvSpPr>
            <p:spPr>
              <a:xfrm>
                <a:off x="3841209" y="3129874"/>
                <a:ext cx="94844" cy="2165620"/>
              </a:xfrm>
              <a:custGeom>
                <a:avLst/>
                <a:gdLst/>
                <a:ahLst/>
                <a:cxnLst/>
                <a:rect l="0" t="0" r="0" b="0"/>
                <a:pathLst>
                  <a:path w="94844" h="2165620">
                    <a:moveTo>
                      <a:pt x="0" y="0"/>
                    </a:moveTo>
                    <a:lnTo>
                      <a:pt x="94844" y="0"/>
                    </a:lnTo>
                    <a:lnTo>
                      <a:pt x="94844" y="2165620"/>
                    </a:lnTo>
                    <a:lnTo>
                      <a:pt x="0" y="2165620"/>
                    </a:ln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52" name="Rounded Rectangle 20"/>
              <p:cNvSpPr/>
              <p:nvPr/>
            </p:nvSpPr>
            <p:spPr>
              <a:xfrm>
                <a:off x="3841209" y="3129874"/>
                <a:ext cx="94844" cy="2165620"/>
              </a:xfrm>
              <a:custGeom>
                <a:avLst/>
                <a:gdLst/>
                <a:ahLst/>
                <a:cxnLst/>
                <a:rect l="0" t="0" r="0" b="0"/>
                <a:pathLst>
                  <a:path w="94844" h="2165620">
                    <a:moveTo>
                      <a:pt x="94844" y="0"/>
                    </a:moveTo>
                    <a:lnTo>
                      <a:pt x="94844" y="2165620"/>
                    </a:lnTo>
                    <a:cubicBezTo>
                      <a:pt x="57805" y="2165620"/>
                      <a:pt x="37039" y="2165620"/>
                      <a:pt x="0" y="2165620"/>
                    </a:cubicBezTo>
                    <a:lnTo>
                      <a:pt x="0" y="0"/>
                    </a:lnTo>
                  </a:path>
                </a:pathLst>
              </a:custGeom>
              <a:noFill/>
              <a:ln w="1185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2" name="Group 11"/>
            <p:cNvGrpSpPr/>
            <p:nvPr/>
          </p:nvGrpSpPr>
          <p:grpSpPr>
            <a:xfrm>
              <a:off x="6031703" y="2961440"/>
              <a:ext cx="1699817" cy="759366"/>
              <a:chOff x="4236395" y="2845340"/>
              <a:chExt cx="1414766" cy="474223"/>
            </a:xfrm>
          </p:grpSpPr>
          <p:sp>
            <p:nvSpPr>
              <p:cNvPr id="49" name="Rounded Rectangle 22"/>
              <p:cNvSpPr/>
              <p:nvPr/>
            </p:nvSpPr>
            <p:spPr>
              <a:xfrm>
                <a:off x="4236395" y="2845340"/>
                <a:ext cx="1414766" cy="474223"/>
              </a:xfrm>
              <a:custGeom>
                <a:avLst/>
                <a:gdLst/>
                <a:ahLst/>
                <a:cxnLst/>
                <a:rect l="0" t="0" r="0" b="0"/>
                <a:pathLst>
                  <a:path w="1414766" h="474223">
                    <a:moveTo>
                      <a:pt x="1414766" y="237111"/>
                    </a:moveTo>
                    <a:cubicBezTo>
                      <a:pt x="1414766" y="368064"/>
                      <a:pt x="1308607" y="474223"/>
                      <a:pt x="1177654" y="474223"/>
                    </a:cubicBezTo>
                    <a:cubicBezTo>
                      <a:pt x="1046701" y="474223"/>
                      <a:pt x="940543" y="368064"/>
                      <a:pt x="940543" y="237111"/>
                    </a:cubicBezTo>
                    <a:cubicBezTo>
                      <a:pt x="940543" y="106158"/>
                      <a:pt x="1046701" y="0"/>
                      <a:pt x="1177654" y="0"/>
                    </a:cubicBezTo>
                    <a:cubicBezTo>
                      <a:pt x="1308607" y="0"/>
                      <a:pt x="1414766" y="106158"/>
                      <a:pt x="1414766" y="237111"/>
                    </a:cubicBezTo>
                    <a:close/>
                    <a:moveTo>
                      <a:pt x="1410652" y="281318"/>
                    </a:moveTo>
                    <a:cubicBezTo>
                      <a:pt x="1413763" y="265996"/>
                      <a:pt x="1414766" y="253352"/>
                      <a:pt x="1414766" y="237111"/>
                    </a:cubicBezTo>
                    <a:cubicBezTo>
                      <a:pt x="1414766" y="220871"/>
                      <a:pt x="1412102" y="200189"/>
                      <a:pt x="1408992" y="184866"/>
                    </a:cubicBezTo>
                    <a:moveTo>
                      <a:pt x="943727" y="229207"/>
                    </a:moveTo>
                    <a:cubicBezTo>
                      <a:pt x="943727" y="245448"/>
                      <a:pt x="945351" y="261307"/>
                      <a:pt x="948446" y="276630"/>
                    </a:cubicBezTo>
                    <a:lnTo>
                      <a:pt x="283118" y="276630"/>
                    </a:lnTo>
                    <a:cubicBezTo>
                      <a:pt x="178877" y="276630"/>
                      <a:pt x="94372" y="369461"/>
                      <a:pt x="94372" y="474223"/>
                    </a:cubicBezTo>
                    <a:lnTo>
                      <a:pt x="0" y="474223"/>
                    </a:lnTo>
                    <a:cubicBezTo>
                      <a:pt x="0" y="317079"/>
                      <a:pt x="126755" y="181785"/>
                      <a:pt x="283118" y="181785"/>
                    </a:cubicBezTo>
                    <a:lnTo>
                      <a:pt x="948446" y="181785"/>
                    </a:lnTo>
                    <a:cubicBezTo>
                      <a:pt x="945351" y="197108"/>
                      <a:pt x="943727" y="212967"/>
                      <a:pt x="943727" y="229207"/>
                    </a:cubicBezTo>
                    <a:close/>
                  </a:path>
                </a:pathLst>
              </a:custGeom>
              <a:solidFill>
                <a:srgbClr val="7F64EA"/>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50" name="Rounded Rectangle 23"/>
              <p:cNvSpPr/>
              <p:nvPr/>
            </p:nvSpPr>
            <p:spPr>
              <a:xfrm>
                <a:off x="4236395" y="2845340"/>
                <a:ext cx="1414766" cy="474223"/>
              </a:xfrm>
              <a:custGeom>
                <a:avLst/>
                <a:gdLst/>
                <a:ahLst/>
                <a:cxnLst/>
                <a:rect l="0" t="0" r="0" b="0"/>
                <a:pathLst>
                  <a:path w="1414766" h="474223">
                    <a:moveTo>
                      <a:pt x="1178972" y="0"/>
                    </a:moveTo>
                    <a:cubicBezTo>
                      <a:pt x="1309198" y="0"/>
                      <a:pt x="1414766" y="104389"/>
                      <a:pt x="1414766" y="233159"/>
                    </a:cubicBezTo>
                    <a:cubicBezTo>
                      <a:pt x="1414766" y="361930"/>
                      <a:pt x="1309198" y="466319"/>
                      <a:pt x="1178972" y="466319"/>
                    </a:cubicBezTo>
                    <a:cubicBezTo>
                      <a:pt x="1048746" y="466319"/>
                      <a:pt x="943177" y="361930"/>
                      <a:pt x="943177" y="233159"/>
                    </a:cubicBezTo>
                    <a:cubicBezTo>
                      <a:pt x="943177" y="104389"/>
                      <a:pt x="1048746" y="0"/>
                      <a:pt x="1178972" y="0"/>
                    </a:cubicBezTo>
                    <a:close/>
                    <a:moveTo>
                      <a:pt x="0" y="474223"/>
                    </a:moveTo>
                    <a:lnTo>
                      <a:pt x="0" y="466319"/>
                    </a:lnTo>
                    <a:cubicBezTo>
                      <a:pt x="0" y="311794"/>
                      <a:pt x="128263" y="181785"/>
                      <a:pt x="284534" y="181785"/>
                    </a:cubicBezTo>
                    <a:lnTo>
                      <a:pt x="948920" y="181785"/>
                    </a:lnTo>
                    <a:cubicBezTo>
                      <a:pt x="945827" y="196852"/>
                      <a:pt x="943177" y="217190"/>
                      <a:pt x="943177" y="233159"/>
                    </a:cubicBezTo>
                    <a:cubicBezTo>
                      <a:pt x="943177" y="249129"/>
                      <a:pt x="944175" y="261563"/>
                      <a:pt x="947268" y="276630"/>
                    </a:cubicBezTo>
                    <a:lnTo>
                      <a:pt x="284534" y="276630"/>
                    </a:lnTo>
                    <a:cubicBezTo>
                      <a:pt x="180353" y="276630"/>
                      <a:pt x="94844" y="363303"/>
                      <a:pt x="94844" y="466319"/>
                    </a:cubicBezTo>
                    <a:lnTo>
                      <a:pt x="94844" y="474223"/>
                    </a:lnTo>
                  </a:path>
                </a:pathLst>
              </a:custGeom>
              <a:noFill/>
              <a:ln w="1185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3" name="Group 12"/>
            <p:cNvGrpSpPr/>
            <p:nvPr/>
          </p:nvGrpSpPr>
          <p:grpSpPr>
            <a:xfrm>
              <a:off x="6229296" y="4023242"/>
              <a:ext cx="1502224" cy="652629"/>
              <a:chOff x="4426085" y="3698942"/>
              <a:chExt cx="1225077" cy="474223"/>
            </a:xfrm>
          </p:grpSpPr>
          <p:sp>
            <p:nvSpPr>
              <p:cNvPr id="47" name="Rounded Rectangle 25"/>
              <p:cNvSpPr/>
              <p:nvPr/>
            </p:nvSpPr>
            <p:spPr>
              <a:xfrm>
                <a:off x="4426085" y="3698942"/>
                <a:ext cx="1225077" cy="474223"/>
              </a:xfrm>
              <a:custGeom>
                <a:avLst/>
                <a:gdLst/>
                <a:ahLst/>
                <a:cxnLst/>
                <a:rect l="0" t="0" r="0" b="0"/>
                <a:pathLst>
                  <a:path w="1225077" h="474223">
                    <a:moveTo>
                      <a:pt x="1225077" y="237111"/>
                    </a:moveTo>
                    <a:cubicBezTo>
                      <a:pt x="1225077" y="368064"/>
                      <a:pt x="1118918" y="474223"/>
                      <a:pt x="987965" y="474223"/>
                    </a:cubicBezTo>
                    <a:cubicBezTo>
                      <a:pt x="857012" y="474223"/>
                      <a:pt x="750853" y="368064"/>
                      <a:pt x="750853" y="237111"/>
                    </a:cubicBezTo>
                    <a:cubicBezTo>
                      <a:pt x="750853" y="106158"/>
                      <a:pt x="857012" y="0"/>
                      <a:pt x="987965" y="0"/>
                    </a:cubicBezTo>
                    <a:cubicBezTo>
                      <a:pt x="1118918" y="0"/>
                      <a:pt x="1225077" y="106158"/>
                      <a:pt x="1225077" y="237111"/>
                    </a:cubicBezTo>
                    <a:close/>
                    <a:moveTo>
                      <a:pt x="1220963" y="281318"/>
                    </a:moveTo>
                    <a:cubicBezTo>
                      <a:pt x="1224074" y="265996"/>
                      <a:pt x="1225077" y="253352"/>
                      <a:pt x="1225077" y="237111"/>
                    </a:cubicBezTo>
                    <a:cubicBezTo>
                      <a:pt x="1225077" y="220871"/>
                      <a:pt x="1222412" y="200189"/>
                      <a:pt x="1219302" y="184866"/>
                    </a:cubicBezTo>
                    <a:moveTo>
                      <a:pt x="754038" y="233159"/>
                    </a:moveTo>
                    <a:cubicBezTo>
                      <a:pt x="754038" y="249400"/>
                      <a:pt x="755662" y="265259"/>
                      <a:pt x="758757" y="280582"/>
                    </a:cubicBezTo>
                    <a:lnTo>
                      <a:pt x="283118" y="280582"/>
                    </a:lnTo>
                    <a:cubicBezTo>
                      <a:pt x="178877" y="280582"/>
                      <a:pt x="94372" y="369461"/>
                      <a:pt x="94372" y="474223"/>
                    </a:cubicBezTo>
                    <a:lnTo>
                      <a:pt x="0" y="474223"/>
                    </a:lnTo>
                    <a:cubicBezTo>
                      <a:pt x="0" y="317079"/>
                      <a:pt x="126755" y="185737"/>
                      <a:pt x="283118" y="185737"/>
                    </a:cubicBezTo>
                    <a:lnTo>
                      <a:pt x="758757" y="185737"/>
                    </a:lnTo>
                    <a:cubicBezTo>
                      <a:pt x="755662" y="201060"/>
                      <a:pt x="754038" y="216919"/>
                      <a:pt x="754038" y="233159"/>
                    </a:cubicBezTo>
                    <a:close/>
                  </a:path>
                </a:pathLst>
              </a:custGeom>
              <a:solidFill>
                <a:srgbClr val="1EABDA"/>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8" name="Rounded Rectangle 26"/>
              <p:cNvSpPr/>
              <p:nvPr/>
            </p:nvSpPr>
            <p:spPr>
              <a:xfrm>
                <a:off x="4426085" y="3698942"/>
                <a:ext cx="1225077" cy="474223"/>
              </a:xfrm>
              <a:custGeom>
                <a:avLst/>
                <a:gdLst/>
                <a:ahLst/>
                <a:cxnLst/>
                <a:rect l="0" t="0" r="0" b="0"/>
                <a:pathLst>
                  <a:path w="1225077" h="474223">
                    <a:moveTo>
                      <a:pt x="989282" y="0"/>
                    </a:moveTo>
                    <a:cubicBezTo>
                      <a:pt x="1119508" y="0"/>
                      <a:pt x="1225077" y="106158"/>
                      <a:pt x="1225077" y="237111"/>
                    </a:cubicBezTo>
                    <a:cubicBezTo>
                      <a:pt x="1225077" y="368064"/>
                      <a:pt x="1119508" y="474223"/>
                      <a:pt x="989282" y="474223"/>
                    </a:cubicBezTo>
                    <a:cubicBezTo>
                      <a:pt x="859057" y="474223"/>
                      <a:pt x="753488" y="368064"/>
                      <a:pt x="753488" y="237111"/>
                    </a:cubicBezTo>
                    <a:cubicBezTo>
                      <a:pt x="753488" y="106158"/>
                      <a:pt x="859057" y="0"/>
                      <a:pt x="989282" y="0"/>
                    </a:cubicBezTo>
                    <a:close/>
                    <a:moveTo>
                      <a:pt x="0" y="474223"/>
                    </a:moveTo>
                    <a:cubicBezTo>
                      <a:pt x="0" y="317079"/>
                      <a:pt x="128263" y="184866"/>
                      <a:pt x="284534" y="184866"/>
                    </a:cubicBezTo>
                    <a:lnTo>
                      <a:pt x="759230" y="184866"/>
                    </a:lnTo>
                    <a:cubicBezTo>
                      <a:pt x="756138" y="200189"/>
                      <a:pt x="753488" y="220871"/>
                      <a:pt x="753488" y="237111"/>
                    </a:cubicBezTo>
                    <a:cubicBezTo>
                      <a:pt x="753488" y="253352"/>
                      <a:pt x="754486" y="265996"/>
                      <a:pt x="757579" y="281318"/>
                    </a:cubicBezTo>
                    <a:lnTo>
                      <a:pt x="284534" y="281318"/>
                    </a:lnTo>
                    <a:cubicBezTo>
                      <a:pt x="180353" y="281318"/>
                      <a:pt x="94844" y="369461"/>
                      <a:pt x="94844" y="474223"/>
                    </a:cubicBezTo>
                  </a:path>
                </a:pathLst>
              </a:custGeom>
              <a:noFill/>
              <a:ln w="1185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4" name="Group 13"/>
            <p:cNvGrpSpPr/>
            <p:nvPr/>
          </p:nvGrpSpPr>
          <p:grpSpPr>
            <a:xfrm>
              <a:off x="6430395" y="5167636"/>
              <a:ext cx="1301125" cy="621453"/>
              <a:chOff x="4615774" y="4552544"/>
              <a:chExt cx="1035387" cy="474223"/>
            </a:xfrm>
          </p:grpSpPr>
          <p:sp>
            <p:nvSpPr>
              <p:cNvPr id="45" name="Rounded Rectangle 28"/>
              <p:cNvSpPr/>
              <p:nvPr/>
            </p:nvSpPr>
            <p:spPr>
              <a:xfrm>
                <a:off x="4615774" y="4552544"/>
                <a:ext cx="1035387" cy="474223"/>
              </a:xfrm>
              <a:custGeom>
                <a:avLst/>
                <a:gdLst/>
                <a:ahLst/>
                <a:cxnLst/>
                <a:rect l="0" t="0" r="0" b="0"/>
                <a:pathLst>
                  <a:path w="1035387" h="474223">
                    <a:moveTo>
                      <a:pt x="1035387" y="237111"/>
                    </a:moveTo>
                    <a:cubicBezTo>
                      <a:pt x="1035387" y="368064"/>
                      <a:pt x="929228" y="474223"/>
                      <a:pt x="798276" y="474223"/>
                    </a:cubicBezTo>
                    <a:cubicBezTo>
                      <a:pt x="667323" y="474223"/>
                      <a:pt x="561164" y="368064"/>
                      <a:pt x="561164" y="237111"/>
                    </a:cubicBezTo>
                    <a:cubicBezTo>
                      <a:pt x="561164" y="106158"/>
                      <a:pt x="667323" y="0"/>
                      <a:pt x="798276" y="0"/>
                    </a:cubicBezTo>
                    <a:cubicBezTo>
                      <a:pt x="929228" y="0"/>
                      <a:pt x="1035387" y="106158"/>
                      <a:pt x="1035387" y="237111"/>
                    </a:cubicBezTo>
                    <a:close/>
                    <a:moveTo>
                      <a:pt x="1031273" y="281318"/>
                    </a:moveTo>
                    <a:cubicBezTo>
                      <a:pt x="1034384" y="265996"/>
                      <a:pt x="1035387" y="253352"/>
                      <a:pt x="1035387" y="237111"/>
                    </a:cubicBezTo>
                    <a:cubicBezTo>
                      <a:pt x="1035387" y="220871"/>
                      <a:pt x="1032723" y="200189"/>
                      <a:pt x="1029613" y="184866"/>
                    </a:cubicBezTo>
                    <a:moveTo>
                      <a:pt x="564348" y="237111"/>
                    </a:moveTo>
                    <a:cubicBezTo>
                      <a:pt x="564348" y="253352"/>
                      <a:pt x="565972" y="269211"/>
                      <a:pt x="569068" y="284534"/>
                    </a:cubicBezTo>
                    <a:lnTo>
                      <a:pt x="283118" y="284534"/>
                    </a:lnTo>
                    <a:cubicBezTo>
                      <a:pt x="178877" y="284534"/>
                      <a:pt x="94372" y="369461"/>
                      <a:pt x="94372" y="474223"/>
                    </a:cubicBezTo>
                    <a:lnTo>
                      <a:pt x="0" y="474223"/>
                    </a:lnTo>
                    <a:cubicBezTo>
                      <a:pt x="0" y="317079"/>
                      <a:pt x="126755" y="189689"/>
                      <a:pt x="283118" y="189689"/>
                    </a:cubicBezTo>
                    <a:lnTo>
                      <a:pt x="569068" y="189689"/>
                    </a:lnTo>
                    <a:cubicBezTo>
                      <a:pt x="565972" y="205012"/>
                      <a:pt x="564348" y="220871"/>
                      <a:pt x="564348" y="237111"/>
                    </a:cubicBezTo>
                    <a:close/>
                  </a:path>
                </a:pathLst>
              </a:custGeom>
              <a:solidFill>
                <a:srgbClr val="E5575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6" name="Rounded Rectangle 29"/>
              <p:cNvSpPr/>
              <p:nvPr/>
            </p:nvSpPr>
            <p:spPr>
              <a:xfrm>
                <a:off x="4615774" y="4560448"/>
                <a:ext cx="1035387" cy="466319"/>
              </a:xfrm>
              <a:custGeom>
                <a:avLst/>
                <a:gdLst/>
                <a:ahLst/>
                <a:cxnLst/>
                <a:rect l="0" t="0" r="0" b="0"/>
                <a:pathLst>
                  <a:path w="1035387" h="466319">
                    <a:moveTo>
                      <a:pt x="799593" y="0"/>
                    </a:moveTo>
                    <a:cubicBezTo>
                      <a:pt x="929819" y="0"/>
                      <a:pt x="1035387" y="104389"/>
                      <a:pt x="1035387" y="233159"/>
                    </a:cubicBezTo>
                    <a:cubicBezTo>
                      <a:pt x="1035387" y="361930"/>
                      <a:pt x="929819" y="466319"/>
                      <a:pt x="799593" y="466319"/>
                    </a:cubicBezTo>
                    <a:cubicBezTo>
                      <a:pt x="669367" y="466319"/>
                      <a:pt x="563798" y="361930"/>
                      <a:pt x="563798" y="233159"/>
                    </a:cubicBezTo>
                    <a:cubicBezTo>
                      <a:pt x="563798" y="104389"/>
                      <a:pt x="669367" y="0"/>
                      <a:pt x="799593" y="0"/>
                    </a:cubicBezTo>
                    <a:close/>
                    <a:moveTo>
                      <a:pt x="0" y="466319"/>
                    </a:moveTo>
                    <a:cubicBezTo>
                      <a:pt x="0" y="311794"/>
                      <a:pt x="128263" y="181785"/>
                      <a:pt x="284534" y="181785"/>
                    </a:cubicBezTo>
                    <a:lnTo>
                      <a:pt x="569541" y="181785"/>
                    </a:lnTo>
                    <a:cubicBezTo>
                      <a:pt x="566448" y="196852"/>
                      <a:pt x="563798" y="217190"/>
                      <a:pt x="563798" y="233159"/>
                    </a:cubicBezTo>
                    <a:cubicBezTo>
                      <a:pt x="563798" y="249129"/>
                      <a:pt x="564796" y="261563"/>
                      <a:pt x="567889" y="276630"/>
                    </a:cubicBezTo>
                    <a:lnTo>
                      <a:pt x="284534" y="276630"/>
                    </a:lnTo>
                    <a:cubicBezTo>
                      <a:pt x="180353" y="276630"/>
                      <a:pt x="94844" y="363303"/>
                      <a:pt x="94844" y="466319"/>
                    </a:cubicBezTo>
                  </a:path>
                </a:pathLst>
              </a:custGeom>
              <a:noFill/>
              <a:ln w="1185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5" name="Group 14"/>
            <p:cNvGrpSpPr/>
            <p:nvPr/>
          </p:nvGrpSpPr>
          <p:grpSpPr>
            <a:xfrm>
              <a:off x="6430394" y="5789089"/>
              <a:ext cx="116179" cy="458196"/>
              <a:chOff x="4615774" y="5026768"/>
              <a:chExt cx="94844" cy="268726"/>
            </a:xfrm>
          </p:grpSpPr>
          <p:sp>
            <p:nvSpPr>
              <p:cNvPr id="43" name="Rounded Rectangle 31"/>
              <p:cNvSpPr/>
              <p:nvPr/>
            </p:nvSpPr>
            <p:spPr>
              <a:xfrm>
                <a:off x="4615774" y="5026768"/>
                <a:ext cx="94844" cy="268726"/>
              </a:xfrm>
              <a:custGeom>
                <a:avLst/>
                <a:gdLst/>
                <a:ahLst/>
                <a:cxnLst/>
                <a:rect l="0" t="0" r="0" b="0"/>
                <a:pathLst>
                  <a:path w="94844" h="268726">
                    <a:moveTo>
                      <a:pt x="0" y="0"/>
                    </a:moveTo>
                    <a:lnTo>
                      <a:pt x="94844" y="0"/>
                    </a:lnTo>
                    <a:lnTo>
                      <a:pt x="94844" y="268726"/>
                    </a:lnTo>
                    <a:lnTo>
                      <a:pt x="0" y="268726"/>
                    </a:lnTo>
                    <a:close/>
                  </a:path>
                </a:pathLst>
              </a:custGeom>
              <a:solidFill>
                <a:srgbClr val="E5575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4" name="Rounded Rectangle 32"/>
              <p:cNvSpPr/>
              <p:nvPr/>
            </p:nvSpPr>
            <p:spPr>
              <a:xfrm>
                <a:off x="4615774" y="5026768"/>
                <a:ext cx="94844" cy="268726"/>
              </a:xfrm>
              <a:custGeom>
                <a:avLst/>
                <a:gdLst/>
                <a:ahLst/>
                <a:cxnLst/>
                <a:rect l="0" t="0" r="0" b="0"/>
                <a:pathLst>
                  <a:path w="94844" h="268726">
                    <a:moveTo>
                      <a:pt x="94844" y="0"/>
                    </a:moveTo>
                    <a:lnTo>
                      <a:pt x="94844" y="268726"/>
                    </a:lnTo>
                    <a:lnTo>
                      <a:pt x="0" y="268726"/>
                    </a:lnTo>
                    <a:lnTo>
                      <a:pt x="0" y="0"/>
                    </a:lnTo>
                  </a:path>
                </a:pathLst>
              </a:custGeom>
              <a:noFill/>
              <a:ln w="1185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6" name="Group 15"/>
            <p:cNvGrpSpPr/>
            <p:nvPr/>
          </p:nvGrpSpPr>
          <p:grpSpPr>
            <a:xfrm>
              <a:off x="6229296" y="4675871"/>
              <a:ext cx="101334" cy="1571414"/>
              <a:chOff x="4426085" y="4173165"/>
              <a:chExt cx="94844" cy="1122328"/>
            </a:xfrm>
          </p:grpSpPr>
          <p:sp>
            <p:nvSpPr>
              <p:cNvPr id="41" name="Rounded Rectangle 34"/>
              <p:cNvSpPr/>
              <p:nvPr/>
            </p:nvSpPr>
            <p:spPr>
              <a:xfrm>
                <a:off x="4426085" y="4173165"/>
                <a:ext cx="94844" cy="1122328"/>
              </a:xfrm>
              <a:custGeom>
                <a:avLst/>
                <a:gdLst/>
                <a:ahLst/>
                <a:cxnLst/>
                <a:rect l="0" t="0" r="0" b="0"/>
                <a:pathLst>
                  <a:path w="94844" h="1122328">
                    <a:moveTo>
                      <a:pt x="0" y="0"/>
                    </a:moveTo>
                    <a:lnTo>
                      <a:pt x="94844" y="0"/>
                    </a:lnTo>
                    <a:lnTo>
                      <a:pt x="94844" y="1122328"/>
                    </a:lnTo>
                    <a:lnTo>
                      <a:pt x="0" y="1122328"/>
                    </a:lnTo>
                    <a:close/>
                  </a:path>
                </a:pathLst>
              </a:custGeom>
              <a:solidFill>
                <a:srgbClr val="1EABDA"/>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2" name="Rounded Rectangle 35"/>
              <p:cNvSpPr/>
              <p:nvPr/>
            </p:nvSpPr>
            <p:spPr>
              <a:xfrm>
                <a:off x="4426085" y="4173165"/>
                <a:ext cx="94844" cy="1122328"/>
              </a:xfrm>
              <a:custGeom>
                <a:avLst/>
                <a:gdLst/>
                <a:ahLst/>
                <a:cxnLst/>
                <a:rect l="0" t="0" r="0" b="0"/>
                <a:pathLst>
                  <a:path w="94844" h="1122328">
                    <a:moveTo>
                      <a:pt x="94844" y="0"/>
                    </a:moveTo>
                    <a:lnTo>
                      <a:pt x="94844" y="1122328"/>
                    </a:lnTo>
                    <a:lnTo>
                      <a:pt x="0" y="1122328"/>
                    </a:lnTo>
                    <a:lnTo>
                      <a:pt x="0" y="0"/>
                    </a:lnTo>
                  </a:path>
                </a:pathLst>
              </a:custGeom>
              <a:noFill/>
              <a:ln w="1185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7" name="Group 16"/>
            <p:cNvGrpSpPr/>
            <p:nvPr/>
          </p:nvGrpSpPr>
          <p:grpSpPr>
            <a:xfrm>
              <a:off x="6031012" y="3720806"/>
              <a:ext cx="98520" cy="2526479"/>
              <a:chOff x="4236395" y="3319563"/>
              <a:chExt cx="94844" cy="1975930"/>
            </a:xfrm>
          </p:grpSpPr>
          <p:sp>
            <p:nvSpPr>
              <p:cNvPr id="39" name="Rounded Rectangle 37"/>
              <p:cNvSpPr/>
              <p:nvPr/>
            </p:nvSpPr>
            <p:spPr>
              <a:xfrm>
                <a:off x="4236395" y="3319563"/>
                <a:ext cx="94844" cy="1975930"/>
              </a:xfrm>
              <a:custGeom>
                <a:avLst/>
                <a:gdLst/>
                <a:ahLst/>
                <a:cxnLst/>
                <a:rect l="0" t="0" r="0" b="0"/>
                <a:pathLst>
                  <a:path w="94844" h="1975930">
                    <a:moveTo>
                      <a:pt x="0" y="0"/>
                    </a:moveTo>
                    <a:lnTo>
                      <a:pt x="94844" y="0"/>
                    </a:lnTo>
                    <a:lnTo>
                      <a:pt x="94844" y="1975930"/>
                    </a:lnTo>
                    <a:lnTo>
                      <a:pt x="0" y="1975930"/>
                    </a:lnTo>
                    <a:close/>
                  </a:path>
                </a:pathLst>
              </a:custGeom>
              <a:solidFill>
                <a:srgbClr val="7F64EA"/>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0" name="Rounded Rectangle 38"/>
              <p:cNvSpPr/>
              <p:nvPr/>
            </p:nvSpPr>
            <p:spPr>
              <a:xfrm>
                <a:off x="4236395" y="3319563"/>
                <a:ext cx="94844" cy="1975930"/>
              </a:xfrm>
              <a:custGeom>
                <a:avLst/>
                <a:gdLst/>
                <a:ahLst/>
                <a:cxnLst/>
                <a:rect l="0" t="0" r="0" b="0"/>
                <a:pathLst>
                  <a:path w="94844" h="1975930">
                    <a:moveTo>
                      <a:pt x="94844" y="0"/>
                    </a:moveTo>
                    <a:lnTo>
                      <a:pt x="94844" y="1975930"/>
                    </a:lnTo>
                    <a:lnTo>
                      <a:pt x="0" y="1975930"/>
                    </a:lnTo>
                    <a:lnTo>
                      <a:pt x="0" y="0"/>
                    </a:lnTo>
                  </a:path>
                </a:pathLst>
              </a:custGeom>
              <a:noFill/>
              <a:ln w="1185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8" name="Group 17"/>
            <p:cNvGrpSpPr/>
            <p:nvPr/>
          </p:nvGrpSpPr>
          <p:grpSpPr>
            <a:xfrm>
              <a:off x="5817258" y="2639235"/>
              <a:ext cx="111005" cy="3599557"/>
              <a:chOff x="4038802" y="2465961"/>
              <a:chExt cx="94844" cy="2829532"/>
            </a:xfrm>
          </p:grpSpPr>
          <p:sp>
            <p:nvSpPr>
              <p:cNvPr id="37" name="Rounded Rectangle 40"/>
              <p:cNvSpPr/>
              <p:nvPr/>
            </p:nvSpPr>
            <p:spPr>
              <a:xfrm>
                <a:off x="4038802" y="2465961"/>
                <a:ext cx="94844" cy="2829532"/>
              </a:xfrm>
              <a:custGeom>
                <a:avLst/>
                <a:gdLst/>
                <a:ahLst/>
                <a:cxnLst/>
                <a:rect l="0" t="0" r="0" b="0"/>
                <a:pathLst>
                  <a:path w="94844" h="2829532">
                    <a:moveTo>
                      <a:pt x="0" y="0"/>
                    </a:moveTo>
                    <a:lnTo>
                      <a:pt x="94844" y="0"/>
                    </a:lnTo>
                    <a:lnTo>
                      <a:pt x="94844" y="2829532"/>
                    </a:lnTo>
                    <a:lnTo>
                      <a:pt x="0" y="2829532"/>
                    </a:lnTo>
                    <a:close/>
                  </a:path>
                </a:pathLst>
              </a:custGeom>
              <a:solidFill>
                <a:srgbClr val="92BD39"/>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8" name="Rounded Rectangle 41"/>
              <p:cNvSpPr/>
              <p:nvPr/>
            </p:nvSpPr>
            <p:spPr>
              <a:xfrm>
                <a:off x="4038802" y="2465961"/>
                <a:ext cx="94844" cy="2829532"/>
              </a:xfrm>
              <a:custGeom>
                <a:avLst/>
                <a:gdLst/>
                <a:ahLst/>
                <a:cxnLst/>
                <a:rect l="0" t="0" r="0" b="0"/>
                <a:pathLst>
                  <a:path w="94844" h="2829532">
                    <a:moveTo>
                      <a:pt x="0" y="0"/>
                    </a:moveTo>
                    <a:lnTo>
                      <a:pt x="94844" y="0"/>
                    </a:lnTo>
                    <a:lnTo>
                      <a:pt x="94844" y="2829532"/>
                    </a:lnTo>
                    <a:lnTo>
                      <a:pt x="0" y="2829532"/>
                    </a:lnTo>
                    <a:close/>
                  </a:path>
                </a:pathLst>
              </a:custGeom>
              <a:noFill/>
              <a:ln w="1185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
          <p:nvSpPr>
            <p:cNvPr id="19" name="TextBox 44"/>
            <p:cNvSpPr txBox="1"/>
            <p:nvPr/>
          </p:nvSpPr>
          <p:spPr>
            <a:xfrm>
              <a:off x="7831320" y="3131954"/>
              <a:ext cx="2078880" cy="45131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2400" b="1" dirty="0">
                  <a:solidFill>
                    <a:srgbClr val="7F64EA"/>
                  </a:solidFill>
                </a:rPr>
                <a:t>AOP/BOI</a:t>
              </a:r>
            </a:p>
          </p:txBody>
        </p:sp>
        <p:sp>
          <p:nvSpPr>
            <p:cNvPr id="20" name="TextBox 45"/>
            <p:cNvSpPr txBox="1"/>
            <p:nvPr/>
          </p:nvSpPr>
          <p:spPr>
            <a:xfrm>
              <a:off x="2973161" y="4210714"/>
              <a:ext cx="975239" cy="45131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sz="2400" b="1" dirty="0">
                  <a:solidFill>
                    <a:srgbClr val="3CC583"/>
                  </a:solidFill>
                </a:rPr>
                <a:t>HUF</a:t>
              </a:r>
            </a:p>
          </p:txBody>
        </p:sp>
        <p:sp>
          <p:nvSpPr>
            <p:cNvPr id="22" name="TextBox 48"/>
            <p:cNvSpPr txBox="1"/>
            <p:nvPr/>
          </p:nvSpPr>
          <p:spPr>
            <a:xfrm>
              <a:off x="7831284" y="4210714"/>
              <a:ext cx="3589124" cy="45131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2400" b="1" dirty="0">
                  <a:solidFill>
                    <a:srgbClr val="1EABDA"/>
                  </a:solidFill>
                </a:rPr>
                <a:t>Local Authority</a:t>
              </a:r>
            </a:p>
          </p:txBody>
        </p:sp>
        <p:sp>
          <p:nvSpPr>
            <p:cNvPr id="24" name="TextBox 50"/>
            <p:cNvSpPr txBox="1"/>
            <p:nvPr/>
          </p:nvSpPr>
          <p:spPr>
            <a:xfrm>
              <a:off x="1751319" y="3131954"/>
              <a:ext cx="2179768" cy="45131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sz="2400" b="1" dirty="0">
                  <a:solidFill>
                    <a:srgbClr val="DE8431"/>
                  </a:solidFill>
                </a:rPr>
                <a:t>Company</a:t>
              </a:r>
            </a:p>
          </p:txBody>
        </p:sp>
        <p:sp>
          <p:nvSpPr>
            <p:cNvPr id="25" name="TextBox 51"/>
            <p:cNvSpPr txBox="1"/>
            <p:nvPr/>
          </p:nvSpPr>
          <p:spPr>
            <a:xfrm>
              <a:off x="1635766" y="5304372"/>
              <a:ext cx="2295941" cy="45131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sz="2400" b="1" dirty="0">
                  <a:solidFill>
                    <a:srgbClr val="4E88E7"/>
                  </a:solidFill>
                </a:rPr>
                <a:t>Individual</a:t>
              </a:r>
            </a:p>
          </p:txBody>
        </p:sp>
        <p:sp>
          <p:nvSpPr>
            <p:cNvPr id="27" name="TextBox 53"/>
            <p:cNvSpPr txBox="1"/>
            <p:nvPr/>
          </p:nvSpPr>
          <p:spPr>
            <a:xfrm>
              <a:off x="5550972" y="1520049"/>
              <a:ext cx="1054728" cy="45131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2400" b="1" dirty="0">
                  <a:solidFill>
                    <a:srgbClr val="92BD39"/>
                  </a:solidFill>
                </a:rPr>
                <a:t>Firm</a:t>
              </a:r>
            </a:p>
          </p:txBody>
        </p:sp>
        <p:sp>
          <p:nvSpPr>
            <p:cNvPr id="28" name="TextBox 54"/>
            <p:cNvSpPr txBox="1"/>
            <p:nvPr/>
          </p:nvSpPr>
          <p:spPr>
            <a:xfrm>
              <a:off x="8467404" y="5101735"/>
              <a:ext cx="4365648" cy="90263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sz="2400" b="1" dirty="0">
                  <a:solidFill>
                    <a:srgbClr val="E55753"/>
                  </a:solidFill>
                </a:rPr>
                <a:t>Artificial Juridical </a:t>
              </a:r>
              <a:endParaRPr lang="en-IN" sz="2400" b="1" dirty="0">
                <a:solidFill>
                  <a:srgbClr val="E55753"/>
                </a:solidFill>
              </a:endParaRPr>
            </a:p>
            <a:p>
              <a:pPr algn="just"/>
              <a:r>
                <a:rPr sz="2400" b="1" dirty="0">
                  <a:solidFill>
                    <a:srgbClr val="E55753"/>
                  </a:solidFill>
                </a:rPr>
                <a:t>Person</a:t>
              </a:r>
            </a:p>
          </p:txBody>
        </p:sp>
        <p:sp>
          <p:nvSpPr>
            <p:cNvPr id="30" name="Rounded Rectangle 58"/>
            <p:cNvSpPr/>
            <p:nvPr/>
          </p:nvSpPr>
          <p:spPr>
            <a:xfrm>
              <a:off x="7258682" y="3107359"/>
              <a:ext cx="373074" cy="424118"/>
            </a:xfrm>
            <a:custGeom>
              <a:avLst/>
              <a:gdLst/>
              <a:ahLst/>
              <a:cxnLst/>
              <a:rect l="0" t="0" r="0" b="0"/>
              <a:pathLst>
                <a:path w="272678" h="272678">
                  <a:moveTo>
                    <a:pt x="53350" y="165978"/>
                  </a:moveTo>
                  <a:cubicBezTo>
                    <a:pt x="68082" y="165978"/>
                    <a:pt x="80025" y="177921"/>
                    <a:pt x="80025" y="192653"/>
                  </a:cubicBezTo>
                  <a:cubicBezTo>
                    <a:pt x="80025" y="207385"/>
                    <a:pt x="68082" y="219328"/>
                    <a:pt x="53350" y="219328"/>
                  </a:cubicBezTo>
                  <a:cubicBezTo>
                    <a:pt x="38617" y="219328"/>
                    <a:pt x="26675" y="207385"/>
                    <a:pt x="26675" y="192653"/>
                  </a:cubicBezTo>
                  <a:cubicBezTo>
                    <a:pt x="26675" y="177921"/>
                    <a:pt x="38617" y="165978"/>
                    <a:pt x="53350" y="165978"/>
                  </a:cubicBezTo>
                  <a:close/>
                  <a:moveTo>
                    <a:pt x="0" y="272678"/>
                  </a:moveTo>
                  <a:cubicBezTo>
                    <a:pt x="6218" y="248291"/>
                    <a:pt x="28182" y="231225"/>
                    <a:pt x="53350" y="231225"/>
                  </a:cubicBezTo>
                  <a:cubicBezTo>
                    <a:pt x="78517" y="231225"/>
                    <a:pt x="100481" y="248291"/>
                    <a:pt x="106700" y="272678"/>
                  </a:cubicBezTo>
                  <a:moveTo>
                    <a:pt x="219328" y="165978"/>
                  </a:moveTo>
                  <a:cubicBezTo>
                    <a:pt x="234060" y="165978"/>
                    <a:pt x="246003" y="177921"/>
                    <a:pt x="246003" y="192653"/>
                  </a:cubicBezTo>
                  <a:cubicBezTo>
                    <a:pt x="246003" y="207385"/>
                    <a:pt x="234060" y="219328"/>
                    <a:pt x="219328" y="219328"/>
                  </a:cubicBezTo>
                  <a:cubicBezTo>
                    <a:pt x="204596" y="219328"/>
                    <a:pt x="192653" y="207385"/>
                    <a:pt x="192653" y="192653"/>
                  </a:cubicBezTo>
                  <a:cubicBezTo>
                    <a:pt x="192653" y="177921"/>
                    <a:pt x="204596" y="165978"/>
                    <a:pt x="219328" y="165978"/>
                  </a:cubicBezTo>
                  <a:close/>
                  <a:moveTo>
                    <a:pt x="165978" y="272678"/>
                  </a:moveTo>
                  <a:cubicBezTo>
                    <a:pt x="172196" y="248291"/>
                    <a:pt x="194160" y="231225"/>
                    <a:pt x="219328" y="231225"/>
                  </a:cubicBezTo>
                  <a:cubicBezTo>
                    <a:pt x="244495" y="231225"/>
                    <a:pt x="266459" y="248291"/>
                    <a:pt x="272678" y="272678"/>
                  </a:cubicBezTo>
                  <a:moveTo>
                    <a:pt x="136339" y="154122"/>
                  </a:moveTo>
                  <a:cubicBezTo>
                    <a:pt x="151071" y="154122"/>
                    <a:pt x="163014" y="166065"/>
                    <a:pt x="163014" y="180797"/>
                  </a:cubicBezTo>
                  <a:cubicBezTo>
                    <a:pt x="163014" y="195529"/>
                    <a:pt x="151071" y="207472"/>
                    <a:pt x="136339" y="207472"/>
                  </a:cubicBezTo>
                  <a:cubicBezTo>
                    <a:pt x="121607" y="207472"/>
                    <a:pt x="109664" y="195529"/>
                    <a:pt x="109664" y="180797"/>
                  </a:cubicBezTo>
                  <a:cubicBezTo>
                    <a:pt x="109664" y="166065"/>
                    <a:pt x="121607" y="154122"/>
                    <a:pt x="136339" y="154122"/>
                  </a:cubicBezTo>
                  <a:close/>
                  <a:moveTo>
                    <a:pt x="89924" y="245327"/>
                  </a:moveTo>
                  <a:cubicBezTo>
                    <a:pt x="99856" y="229227"/>
                    <a:pt x="117422" y="219424"/>
                    <a:pt x="136339" y="219424"/>
                  </a:cubicBezTo>
                  <a:cubicBezTo>
                    <a:pt x="155256" y="219424"/>
                    <a:pt x="172821" y="229227"/>
                    <a:pt x="182753" y="245327"/>
                  </a:cubicBezTo>
                  <a:moveTo>
                    <a:pt x="65205" y="17783"/>
                  </a:moveTo>
                  <a:lnTo>
                    <a:pt x="82989" y="0"/>
                  </a:lnTo>
                  <a:moveTo>
                    <a:pt x="65205" y="0"/>
                  </a:moveTo>
                  <a:lnTo>
                    <a:pt x="82989" y="17783"/>
                  </a:lnTo>
                  <a:moveTo>
                    <a:pt x="201544" y="11855"/>
                  </a:moveTo>
                  <a:lnTo>
                    <a:pt x="183761" y="29638"/>
                  </a:lnTo>
                  <a:moveTo>
                    <a:pt x="201544" y="29638"/>
                  </a:moveTo>
                  <a:lnTo>
                    <a:pt x="183761" y="11855"/>
                  </a:lnTo>
                  <a:moveTo>
                    <a:pt x="260822" y="59277"/>
                  </a:moveTo>
                  <a:lnTo>
                    <a:pt x="243039" y="77061"/>
                  </a:lnTo>
                  <a:moveTo>
                    <a:pt x="260822" y="77061"/>
                  </a:moveTo>
                  <a:lnTo>
                    <a:pt x="243039" y="59277"/>
                  </a:lnTo>
                  <a:moveTo>
                    <a:pt x="11855" y="59277"/>
                  </a:moveTo>
                  <a:lnTo>
                    <a:pt x="29638" y="41494"/>
                  </a:lnTo>
                  <a:moveTo>
                    <a:pt x="11855" y="41494"/>
                  </a:moveTo>
                  <a:lnTo>
                    <a:pt x="29638" y="59277"/>
                  </a:lnTo>
                  <a:moveTo>
                    <a:pt x="175936" y="124815"/>
                  </a:moveTo>
                  <a:cubicBezTo>
                    <a:pt x="185451" y="101032"/>
                    <a:pt x="203363" y="81568"/>
                    <a:pt x="226275" y="70113"/>
                  </a:cubicBezTo>
                  <a:moveTo>
                    <a:pt x="100772" y="17783"/>
                  </a:moveTo>
                  <a:lnTo>
                    <a:pt x="105443" y="20154"/>
                  </a:lnTo>
                  <a:cubicBezTo>
                    <a:pt x="132143" y="33497"/>
                    <a:pt x="150410" y="59300"/>
                    <a:pt x="154122" y="88916"/>
                  </a:cubicBezTo>
                  <a:lnTo>
                    <a:pt x="154122" y="88916"/>
                  </a:lnTo>
                  <a:moveTo>
                    <a:pt x="53350" y="53350"/>
                  </a:moveTo>
                  <a:lnTo>
                    <a:pt x="53350" y="53350"/>
                  </a:lnTo>
                  <a:cubicBezTo>
                    <a:pt x="90160" y="60708"/>
                    <a:pt x="120464" y="86738"/>
                    <a:pt x="133292" y="122017"/>
                  </a:cubicBezTo>
                  <a:lnTo>
                    <a:pt x="136339" y="130411"/>
                  </a:lnTo>
                </a:path>
              </a:pathLst>
            </a:custGeom>
            <a:noFill/>
            <a:ln w="1185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1" name="Rounded Rectangle 59"/>
            <p:cNvSpPr/>
            <p:nvPr/>
          </p:nvSpPr>
          <p:spPr>
            <a:xfrm>
              <a:off x="4087924" y="4134223"/>
              <a:ext cx="458126" cy="429597"/>
            </a:xfrm>
            <a:custGeom>
              <a:avLst/>
              <a:gdLst/>
              <a:ahLst/>
              <a:cxnLst/>
              <a:rect l="0" t="0" r="0" b="0"/>
              <a:pathLst>
                <a:path w="272678" h="272678">
                  <a:moveTo>
                    <a:pt x="0" y="100772"/>
                  </a:moveTo>
                  <a:lnTo>
                    <a:pt x="272678" y="100772"/>
                  </a:lnTo>
                  <a:lnTo>
                    <a:pt x="272678" y="171905"/>
                  </a:lnTo>
                  <a:lnTo>
                    <a:pt x="0" y="171905"/>
                  </a:lnTo>
                  <a:close/>
                  <a:moveTo>
                    <a:pt x="100772" y="0"/>
                  </a:moveTo>
                  <a:lnTo>
                    <a:pt x="171905" y="0"/>
                  </a:lnTo>
                  <a:lnTo>
                    <a:pt x="171905" y="71133"/>
                  </a:lnTo>
                  <a:lnTo>
                    <a:pt x="100772" y="71133"/>
                  </a:lnTo>
                  <a:close/>
                  <a:moveTo>
                    <a:pt x="100772" y="201544"/>
                  </a:moveTo>
                  <a:lnTo>
                    <a:pt x="171905" y="201544"/>
                  </a:lnTo>
                  <a:lnTo>
                    <a:pt x="171905" y="272678"/>
                  </a:lnTo>
                  <a:lnTo>
                    <a:pt x="100772" y="272678"/>
                  </a:lnTo>
                  <a:close/>
                </a:path>
              </a:pathLst>
            </a:custGeom>
            <a:noFill/>
            <a:ln w="1185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2" name="Rounded Rectangle 60"/>
            <p:cNvSpPr/>
            <p:nvPr/>
          </p:nvSpPr>
          <p:spPr>
            <a:xfrm>
              <a:off x="7258682" y="4243373"/>
              <a:ext cx="373074" cy="304015"/>
            </a:xfrm>
            <a:custGeom>
              <a:avLst/>
              <a:gdLst/>
              <a:ahLst/>
              <a:cxnLst/>
              <a:rect l="0" t="0" r="0" b="0"/>
              <a:pathLst>
                <a:path w="272678" h="272678">
                  <a:moveTo>
                    <a:pt x="74370" y="99160"/>
                  </a:moveTo>
                  <a:lnTo>
                    <a:pt x="198320" y="99160"/>
                  </a:lnTo>
                  <a:lnTo>
                    <a:pt x="198320" y="185919"/>
                  </a:lnTo>
                  <a:lnTo>
                    <a:pt x="74370" y="185919"/>
                  </a:lnTo>
                  <a:close/>
                  <a:moveTo>
                    <a:pt x="0" y="99160"/>
                  </a:moveTo>
                  <a:lnTo>
                    <a:pt x="74370" y="99160"/>
                  </a:lnTo>
                  <a:lnTo>
                    <a:pt x="74370" y="185919"/>
                  </a:lnTo>
                  <a:lnTo>
                    <a:pt x="0" y="185919"/>
                  </a:lnTo>
                  <a:close/>
                  <a:moveTo>
                    <a:pt x="198308" y="99160"/>
                  </a:moveTo>
                  <a:lnTo>
                    <a:pt x="272678" y="99160"/>
                  </a:lnTo>
                  <a:lnTo>
                    <a:pt x="272678" y="185919"/>
                  </a:lnTo>
                  <a:lnTo>
                    <a:pt x="198308" y="185919"/>
                  </a:lnTo>
                  <a:close/>
                  <a:moveTo>
                    <a:pt x="74370" y="99160"/>
                  </a:moveTo>
                  <a:lnTo>
                    <a:pt x="136339" y="49580"/>
                  </a:lnTo>
                  <a:lnTo>
                    <a:pt x="198308" y="99160"/>
                  </a:lnTo>
                  <a:moveTo>
                    <a:pt x="0" y="99160"/>
                  </a:moveTo>
                  <a:lnTo>
                    <a:pt x="0" y="61969"/>
                  </a:lnTo>
                  <a:lnTo>
                    <a:pt x="120843" y="61969"/>
                  </a:lnTo>
                  <a:moveTo>
                    <a:pt x="151834" y="61969"/>
                  </a:moveTo>
                  <a:lnTo>
                    <a:pt x="272678" y="61969"/>
                  </a:lnTo>
                  <a:lnTo>
                    <a:pt x="272678" y="99160"/>
                  </a:lnTo>
                  <a:moveTo>
                    <a:pt x="49852" y="43379"/>
                  </a:moveTo>
                  <a:lnTo>
                    <a:pt x="49852" y="61969"/>
                  </a:lnTo>
                  <a:moveTo>
                    <a:pt x="216625" y="43379"/>
                  </a:moveTo>
                  <a:lnTo>
                    <a:pt x="216625" y="61969"/>
                  </a:lnTo>
                  <a:moveTo>
                    <a:pt x="136339" y="49580"/>
                  </a:moveTo>
                  <a:lnTo>
                    <a:pt x="136339" y="0"/>
                  </a:lnTo>
                  <a:lnTo>
                    <a:pt x="179564" y="0"/>
                  </a:lnTo>
                  <a:lnTo>
                    <a:pt x="179564" y="30990"/>
                  </a:lnTo>
                  <a:lnTo>
                    <a:pt x="136339" y="30990"/>
                  </a:lnTo>
                  <a:moveTo>
                    <a:pt x="115354" y="99160"/>
                  </a:moveTo>
                  <a:lnTo>
                    <a:pt x="115354" y="185919"/>
                  </a:lnTo>
                  <a:moveTo>
                    <a:pt x="157323" y="185919"/>
                  </a:moveTo>
                  <a:lnTo>
                    <a:pt x="157323" y="99160"/>
                  </a:lnTo>
                  <a:moveTo>
                    <a:pt x="92959" y="272678"/>
                  </a:moveTo>
                  <a:lnTo>
                    <a:pt x="179718" y="272678"/>
                  </a:lnTo>
                  <a:moveTo>
                    <a:pt x="136339" y="272678"/>
                  </a:moveTo>
                  <a:lnTo>
                    <a:pt x="136339" y="241687"/>
                  </a:lnTo>
                  <a:cubicBezTo>
                    <a:pt x="136339" y="216897"/>
                    <a:pt x="167329" y="216897"/>
                    <a:pt x="167329" y="241687"/>
                  </a:cubicBezTo>
                  <a:moveTo>
                    <a:pt x="105348" y="241687"/>
                  </a:moveTo>
                  <a:cubicBezTo>
                    <a:pt x="105348" y="216897"/>
                    <a:pt x="136339" y="216897"/>
                    <a:pt x="136339" y="241687"/>
                  </a:cubicBezTo>
                  <a:lnTo>
                    <a:pt x="136339" y="272678"/>
                  </a:lnTo>
                  <a:moveTo>
                    <a:pt x="157323" y="144009"/>
                  </a:moveTo>
                  <a:lnTo>
                    <a:pt x="272678" y="144009"/>
                  </a:lnTo>
                  <a:moveTo>
                    <a:pt x="115354" y="144009"/>
                  </a:moveTo>
                  <a:lnTo>
                    <a:pt x="0" y="144009"/>
                  </a:lnTo>
                  <a:moveTo>
                    <a:pt x="157323" y="153031"/>
                  </a:moveTo>
                  <a:cubicBezTo>
                    <a:pt x="157321" y="141443"/>
                    <a:pt x="147927" y="132050"/>
                    <a:pt x="136339" y="132050"/>
                  </a:cubicBezTo>
                  <a:cubicBezTo>
                    <a:pt x="124751" y="132050"/>
                    <a:pt x="115356" y="141443"/>
                    <a:pt x="115354" y="153031"/>
                  </a:cubicBezTo>
                  <a:moveTo>
                    <a:pt x="37179" y="142539"/>
                  </a:moveTo>
                  <a:lnTo>
                    <a:pt x="37179" y="124851"/>
                  </a:lnTo>
                  <a:moveTo>
                    <a:pt x="37179" y="185919"/>
                  </a:moveTo>
                  <a:lnTo>
                    <a:pt x="37179" y="168242"/>
                  </a:lnTo>
                  <a:moveTo>
                    <a:pt x="235499" y="142539"/>
                  </a:moveTo>
                  <a:lnTo>
                    <a:pt x="235499" y="124851"/>
                  </a:lnTo>
                  <a:moveTo>
                    <a:pt x="235499" y="185919"/>
                  </a:moveTo>
                  <a:lnTo>
                    <a:pt x="235499" y="168242"/>
                  </a:lnTo>
                </a:path>
              </a:pathLst>
            </a:custGeom>
            <a:noFill/>
            <a:ln w="1185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3" name="Rounded Rectangle 61"/>
            <p:cNvSpPr/>
            <p:nvPr/>
          </p:nvSpPr>
          <p:spPr>
            <a:xfrm>
              <a:off x="4120820" y="3092601"/>
              <a:ext cx="389416" cy="448039"/>
            </a:xfrm>
            <a:custGeom>
              <a:avLst/>
              <a:gdLst/>
              <a:ahLst/>
              <a:cxnLst/>
              <a:rect l="0" t="0" r="0" b="0"/>
              <a:pathLst>
                <a:path w="272678" h="272678">
                  <a:moveTo>
                    <a:pt x="106700" y="272678"/>
                  </a:moveTo>
                  <a:lnTo>
                    <a:pt x="5927" y="272678"/>
                  </a:lnTo>
                  <a:cubicBezTo>
                    <a:pt x="2653" y="272678"/>
                    <a:pt x="0" y="270024"/>
                    <a:pt x="0" y="266750"/>
                  </a:cubicBezTo>
                  <a:lnTo>
                    <a:pt x="0" y="77061"/>
                  </a:lnTo>
                  <a:cubicBezTo>
                    <a:pt x="0" y="73787"/>
                    <a:pt x="2653" y="71133"/>
                    <a:pt x="5927" y="71133"/>
                  </a:cubicBezTo>
                  <a:lnTo>
                    <a:pt x="100772" y="71133"/>
                  </a:lnTo>
                  <a:cubicBezTo>
                    <a:pt x="104046" y="71133"/>
                    <a:pt x="106700" y="73787"/>
                    <a:pt x="106700" y="77061"/>
                  </a:cubicBezTo>
                  <a:close/>
                  <a:moveTo>
                    <a:pt x="11855" y="71133"/>
                  </a:moveTo>
                  <a:lnTo>
                    <a:pt x="11855" y="41494"/>
                  </a:lnTo>
                  <a:cubicBezTo>
                    <a:pt x="11855" y="38220"/>
                    <a:pt x="14509" y="35566"/>
                    <a:pt x="17783" y="35566"/>
                  </a:cubicBezTo>
                  <a:lnTo>
                    <a:pt x="88916" y="35566"/>
                  </a:lnTo>
                  <a:cubicBezTo>
                    <a:pt x="92190" y="35566"/>
                    <a:pt x="94844" y="38220"/>
                    <a:pt x="94844" y="41494"/>
                  </a:cubicBezTo>
                  <a:lnTo>
                    <a:pt x="94844" y="71133"/>
                  </a:lnTo>
                  <a:moveTo>
                    <a:pt x="47422" y="0"/>
                  </a:moveTo>
                  <a:lnTo>
                    <a:pt x="47422" y="35566"/>
                  </a:lnTo>
                  <a:moveTo>
                    <a:pt x="272678" y="266750"/>
                  </a:moveTo>
                  <a:cubicBezTo>
                    <a:pt x="272678" y="270024"/>
                    <a:pt x="270024" y="272678"/>
                    <a:pt x="266750" y="272678"/>
                  </a:cubicBezTo>
                  <a:lnTo>
                    <a:pt x="189689" y="272678"/>
                  </a:lnTo>
                  <a:lnTo>
                    <a:pt x="189689" y="112628"/>
                  </a:lnTo>
                  <a:cubicBezTo>
                    <a:pt x="189689" y="109354"/>
                    <a:pt x="192343" y="106700"/>
                    <a:pt x="195617" y="106700"/>
                  </a:cubicBezTo>
                  <a:lnTo>
                    <a:pt x="266750" y="106700"/>
                  </a:lnTo>
                  <a:cubicBezTo>
                    <a:pt x="270024" y="106700"/>
                    <a:pt x="272678" y="109354"/>
                    <a:pt x="272678" y="112628"/>
                  </a:cubicBezTo>
                  <a:close/>
                  <a:moveTo>
                    <a:pt x="201544" y="106700"/>
                  </a:moveTo>
                  <a:lnTo>
                    <a:pt x="201544" y="88916"/>
                  </a:lnTo>
                  <a:cubicBezTo>
                    <a:pt x="201544" y="85643"/>
                    <a:pt x="204198" y="82989"/>
                    <a:pt x="207472" y="82989"/>
                  </a:cubicBezTo>
                  <a:lnTo>
                    <a:pt x="254895" y="82989"/>
                  </a:lnTo>
                  <a:cubicBezTo>
                    <a:pt x="258168" y="82989"/>
                    <a:pt x="260822" y="85643"/>
                    <a:pt x="260822" y="88916"/>
                  </a:cubicBezTo>
                  <a:lnTo>
                    <a:pt x="260822" y="106700"/>
                  </a:lnTo>
                  <a:moveTo>
                    <a:pt x="106700" y="142267"/>
                  </a:moveTo>
                  <a:lnTo>
                    <a:pt x="189689" y="142267"/>
                  </a:lnTo>
                  <a:moveTo>
                    <a:pt x="106700" y="272678"/>
                  </a:moveTo>
                  <a:lnTo>
                    <a:pt x="189689" y="272678"/>
                  </a:lnTo>
                  <a:moveTo>
                    <a:pt x="23711" y="106700"/>
                  </a:moveTo>
                  <a:lnTo>
                    <a:pt x="82989" y="106700"/>
                  </a:lnTo>
                  <a:moveTo>
                    <a:pt x="23711" y="142267"/>
                  </a:moveTo>
                  <a:lnTo>
                    <a:pt x="82989" y="142267"/>
                  </a:lnTo>
                  <a:moveTo>
                    <a:pt x="23711" y="177833"/>
                  </a:moveTo>
                  <a:lnTo>
                    <a:pt x="82989" y="177833"/>
                  </a:lnTo>
                  <a:moveTo>
                    <a:pt x="248967" y="142267"/>
                  </a:moveTo>
                  <a:lnTo>
                    <a:pt x="213400" y="142267"/>
                  </a:lnTo>
                  <a:moveTo>
                    <a:pt x="248967" y="177833"/>
                  </a:moveTo>
                  <a:lnTo>
                    <a:pt x="213400" y="177833"/>
                  </a:lnTo>
                  <a:moveTo>
                    <a:pt x="23711" y="213400"/>
                  </a:moveTo>
                  <a:lnTo>
                    <a:pt x="82989" y="213400"/>
                  </a:lnTo>
                  <a:moveTo>
                    <a:pt x="248967" y="213400"/>
                  </a:moveTo>
                  <a:lnTo>
                    <a:pt x="213400" y="213400"/>
                  </a:lnTo>
                  <a:moveTo>
                    <a:pt x="130411" y="177833"/>
                  </a:moveTo>
                  <a:lnTo>
                    <a:pt x="165978" y="177833"/>
                  </a:lnTo>
                  <a:moveTo>
                    <a:pt x="130411" y="213400"/>
                  </a:moveTo>
                  <a:lnTo>
                    <a:pt x="165978" y="213400"/>
                  </a:lnTo>
                  <a:moveTo>
                    <a:pt x="59277" y="272678"/>
                  </a:moveTo>
                  <a:lnTo>
                    <a:pt x="59277" y="243039"/>
                  </a:lnTo>
                  <a:cubicBezTo>
                    <a:pt x="59277" y="239765"/>
                    <a:pt x="56623" y="237111"/>
                    <a:pt x="53350" y="237111"/>
                  </a:cubicBezTo>
                  <a:lnTo>
                    <a:pt x="41494" y="237111"/>
                  </a:lnTo>
                  <a:cubicBezTo>
                    <a:pt x="38220" y="237111"/>
                    <a:pt x="35566" y="239765"/>
                    <a:pt x="35566" y="243039"/>
                  </a:cubicBezTo>
                  <a:lnTo>
                    <a:pt x="35566" y="272678"/>
                  </a:lnTo>
                  <a:moveTo>
                    <a:pt x="248967" y="272678"/>
                  </a:moveTo>
                  <a:lnTo>
                    <a:pt x="248967" y="243039"/>
                  </a:lnTo>
                  <a:cubicBezTo>
                    <a:pt x="248967" y="239765"/>
                    <a:pt x="246313" y="237111"/>
                    <a:pt x="243039" y="237111"/>
                  </a:cubicBezTo>
                  <a:lnTo>
                    <a:pt x="231183" y="237111"/>
                  </a:lnTo>
                  <a:cubicBezTo>
                    <a:pt x="227910" y="237111"/>
                    <a:pt x="225256" y="239765"/>
                    <a:pt x="225256" y="243039"/>
                  </a:cubicBezTo>
                  <a:lnTo>
                    <a:pt x="225256" y="272678"/>
                  </a:lnTo>
                </a:path>
              </a:pathLst>
            </a:custGeom>
            <a:noFill/>
            <a:ln w="1185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4" name="Rounded Rectangle 62"/>
            <p:cNvSpPr/>
            <p:nvPr/>
          </p:nvSpPr>
          <p:spPr>
            <a:xfrm>
              <a:off x="4050369" y="5219211"/>
              <a:ext cx="434026" cy="518301"/>
            </a:xfrm>
            <a:custGeom>
              <a:avLst/>
              <a:gdLst/>
              <a:ahLst/>
              <a:cxnLst/>
              <a:rect l="0" t="0" r="0" b="0"/>
              <a:pathLst>
                <a:path w="213400" h="275584">
                  <a:moveTo>
                    <a:pt x="142161" y="8949"/>
                  </a:moveTo>
                  <a:cubicBezTo>
                    <a:pt x="159233" y="8949"/>
                    <a:pt x="173223" y="22939"/>
                    <a:pt x="173223" y="40011"/>
                  </a:cubicBezTo>
                  <a:cubicBezTo>
                    <a:pt x="173223" y="57083"/>
                    <a:pt x="159233" y="71072"/>
                    <a:pt x="142161" y="71072"/>
                  </a:cubicBezTo>
                  <a:cubicBezTo>
                    <a:pt x="125089" y="71072"/>
                    <a:pt x="111099" y="57201"/>
                    <a:pt x="111099" y="40011"/>
                  </a:cubicBezTo>
                  <a:cubicBezTo>
                    <a:pt x="111099" y="22939"/>
                    <a:pt x="125089" y="8949"/>
                    <a:pt x="142161" y="8949"/>
                  </a:cubicBezTo>
                  <a:close/>
                  <a:moveTo>
                    <a:pt x="142267" y="257800"/>
                  </a:moveTo>
                  <a:lnTo>
                    <a:pt x="142267" y="195559"/>
                  </a:lnTo>
                  <a:moveTo>
                    <a:pt x="177833" y="222836"/>
                  </a:moveTo>
                  <a:lnTo>
                    <a:pt x="177833" y="257800"/>
                  </a:lnTo>
                  <a:cubicBezTo>
                    <a:pt x="177833" y="267641"/>
                    <a:pt x="169890" y="275584"/>
                    <a:pt x="160050" y="275584"/>
                  </a:cubicBezTo>
                  <a:cubicBezTo>
                    <a:pt x="150210" y="275584"/>
                    <a:pt x="142267" y="267641"/>
                    <a:pt x="142267" y="257800"/>
                  </a:cubicBezTo>
                  <a:cubicBezTo>
                    <a:pt x="142267" y="267641"/>
                    <a:pt x="134323" y="275584"/>
                    <a:pt x="124483" y="275584"/>
                  </a:cubicBezTo>
                  <a:cubicBezTo>
                    <a:pt x="114643" y="275584"/>
                    <a:pt x="106700" y="267641"/>
                    <a:pt x="106700" y="257800"/>
                  </a:cubicBezTo>
                  <a:lnTo>
                    <a:pt x="106700" y="177775"/>
                  </a:lnTo>
                  <a:cubicBezTo>
                    <a:pt x="106700" y="187615"/>
                    <a:pt x="98757" y="195559"/>
                    <a:pt x="88916" y="195559"/>
                  </a:cubicBezTo>
                  <a:cubicBezTo>
                    <a:pt x="79076" y="195559"/>
                    <a:pt x="71133" y="187615"/>
                    <a:pt x="71133" y="177775"/>
                  </a:cubicBezTo>
                  <a:lnTo>
                    <a:pt x="71133" y="142208"/>
                  </a:lnTo>
                  <a:cubicBezTo>
                    <a:pt x="71133" y="112688"/>
                    <a:pt x="94963" y="88859"/>
                    <a:pt x="124483" y="88859"/>
                  </a:cubicBezTo>
                  <a:lnTo>
                    <a:pt x="160050" y="88859"/>
                  </a:lnTo>
                  <a:moveTo>
                    <a:pt x="160050" y="88859"/>
                  </a:moveTo>
                  <a:cubicBezTo>
                    <a:pt x="189570" y="88859"/>
                    <a:pt x="213400" y="112688"/>
                    <a:pt x="213400" y="142208"/>
                  </a:cubicBezTo>
                  <a:lnTo>
                    <a:pt x="177866" y="142208"/>
                  </a:lnTo>
                  <a:moveTo>
                    <a:pt x="106700" y="177775"/>
                  </a:moveTo>
                  <a:lnTo>
                    <a:pt x="106700" y="142208"/>
                  </a:lnTo>
                  <a:moveTo>
                    <a:pt x="0" y="0"/>
                  </a:moveTo>
                  <a:moveTo>
                    <a:pt x="195247" y="142267"/>
                  </a:moveTo>
                  <a:lnTo>
                    <a:pt x="195246" y="190430"/>
                  </a:lnTo>
                  <a:moveTo>
                    <a:pt x="182789" y="190430"/>
                  </a:moveTo>
                  <a:lnTo>
                    <a:pt x="207750" y="190430"/>
                  </a:lnTo>
                </a:path>
              </a:pathLst>
            </a:custGeom>
            <a:noFill/>
            <a:ln w="1185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5" name="Rounded Rectangle 63"/>
            <p:cNvSpPr/>
            <p:nvPr/>
          </p:nvSpPr>
          <p:spPr>
            <a:xfrm>
              <a:off x="7261182" y="5267224"/>
              <a:ext cx="370574" cy="395406"/>
            </a:xfrm>
            <a:custGeom>
              <a:avLst/>
              <a:gdLst/>
              <a:ahLst/>
              <a:cxnLst/>
              <a:rect l="0" t="0" r="0" b="0"/>
              <a:pathLst>
                <a:path w="276019" h="272912">
                  <a:moveTo>
                    <a:pt x="179019" y="92707"/>
                  </a:moveTo>
                  <a:lnTo>
                    <a:pt x="161449" y="119679"/>
                  </a:lnTo>
                  <a:cubicBezTo>
                    <a:pt x="159865" y="122111"/>
                    <a:pt x="157262" y="123692"/>
                    <a:pt x="154374" y="123978"/>
                  </a:cubicBezTo>
                  <a:cubicBezTo>
                    <a:pt x="151486" y="124264"/>
                    <a:pt x="148624" y="123223"/>
                    <a:pt x="146594" y="121149"/>
                  </a:cubicBezTo>
                  <a:lnTo>
                    <a:pt x="109699" y="83472"/>
                  </a:lnTo>
                  <a:cubicBezTo>
                    <a:pt x="107670" y="81394"/>
                    <a:pt x="106693" y="78507"/>
                    <a:pt x="107044" y="75624"/>
                  </a:cubicBezTo>
                  <a:cubicBezTo>
                    <a:pt x="107394" y="72741"/>
                    <a:pt x="109034" y="70172"/>
                    <a:pt x="111501" y="68640"/>
                  </a:cubicBezTo>
                  <a:lnTo>
                    <a:pt x="138840" y="51651"/>
                  </a:lnTo>
                  <a:lnTo>
                    <a:pt x="159350" y="31556"/>
                  </a:lnTo>
                  <a:lnTo>
                    <a:pt x="176920" y="4585"/>
                  </a:lnTo>
                  <a:cubicBezTo>
                    <a:pt x="178504" y="2153"/>
                    <a:pt x="181107" y="571"/>
                    <a:pt x="183995" y="285"/>
                  </a:cubicBezTo>
                  <a:cubicBezTo>
                    <a:pt x="186884" y="0"/>
                    <a:pt x="189746" y="1040"/>
                    <a:pt x="191776" y="3115"/>
                  </a:cubicBezTo>
                  <a:lnTo>
                    <a:pt x="228658" y="40768"/>
                  </a:lnTo>
                  <a:cubicBezTo>
                    <a:pt x="230688" y="42844"/>
                    <a:pt x="231667" y="45730"/>
                    <a:pt x="231319" y="48613"/>
                  </a:cubicBezTo>
                  <a:cubicBezTo>
                    <a:pt x="230971" y="51496"/>
                    <a:pt x="229334" y="54066"/>
                    <a:pt x="226868" y="55599"/>
                  </a:cubicBezTo>
                  <a:lnTo>
                    <a:pt x="199529" y="72553"/>
                  </a:lnTo>
                  <a:close/>
                  <a:moveTo>
                    <a:pt x="205801" y="71450"/>
                  </a:moveTo>
                  <a:lnTo>
                    <a:pt x="268007" y="134984"/>
                  </a:lnTo>
                  <a:cubicBezTo>
                    <a:pt x="276019" y="143174"/>
                    <a:pt x="275881" y="156307"/>
                    <a:pt x="267699" y="164327"/>
                  </a:cubicBezTo>
                  <a:lnTo>
                    <a:pt x="267699" y="164327"/>
                  </a:lnTo>
                  <a:cubicBezTo>
                    <a:pt x="259509" y="172339"/>
                    <a:pt x="246376" y="172201"/>
                    <a:pt x="238356" y="164019"/>
                  </a:cubicBezTo>
                  <a:lnTo>
                    <a:pt x="176150" y="100485"/>
                  </a:lnTo>
                  <a:moveTo>
                    <a:pt x="17783" y="272912"/>
                  </a:moveTo>
                  <a:lnTo>
                    <a:pt x="17783" y="198803"/>
                  </a:lnTo>
                  <a:cubicBezTo>
                    <a:pt x="17783" y="169339"/>
                    <a:pt x="41669" y="145453"/>
                    <a:pt x="71133" y="145453"/>
                  </a:cubicBezTo>
                  <a:lnTo>
                    <a:pt x="71133" y="145453"/>
                  </a:lnTo>
                  <a:cubicBezTo>
                    <a:pt x="100597" y="145453"/>
                    <a:pt x="124483" y="169338"/>
                    <a:pt x="124483" y="198803"/>
                  </a:cubicBezTo>
                  <a:lnTo>
                    <a:pt x="124483" y="272912"/>
                  </a:lnTo>
                  <a:moveTo>
                    <a:pt x="56397" y="231418"/>
                  </a:moveTo>
                  <a:lnTo>
                    <a:pt x="71050" y="243273"/>
                  </a:lnTo>
                  <a:lnTo>
                    <a:pt x="85881" y="231750"/>
                  </a:lnTo>
                  <a:moveTo>
                    <a:pt x="53350" y="207695"/>
                  </a:moveTo>
                  <a:lnTo>
                    <a:pt x="53350" y="195839"/>
                  </a:lnTo>
                  <a:moveTo>
                    <a:pt x="88916" y="207695"/>
                  </a:moveTo>
                  <a:lnTo>
                    <a:pt x="88916" y="195839"/>
                  </a:lnTo>
                  <a:moveTo>
                    <a:pt x="0" y="272912"/>
                  </a:moveTo>
                  <a:lnTo>
                    <a:pt x="141128" y="272912"/>
                  </a:lnTo>
                  <a:moveTo>
                    <a:pt x="68169" y="70371"/>
                  </a:moveTo>
                  <a:lnTo>
                    <a:pt x="56314" y="52588"/>
                  </a:lnTo>
                  <a:moveTo>
                    <a:pt x="56314" y="105938"/>
                  </a:moveTo>
                  <a:lnTo>
                    <a:pt x="32602" y="100010"/>
                  </a:lnTo>
                  <a:moveTo>
                    <a:pt x="122966" y="61515"/>
                  </a:moveTo>
                  <a:lnTo>
                    <a:pt x="168823" y="108333"/>
                  </a:lnTo>
                  <a:moveTo>
                    <a:pt x="149273" y="43886"/>
                  </a:moveTo>
                  <a:lnTo>
                    <a:pt x="187543" y="82962"/>
                  </a:lnTo>
                  <a:moveTo>
                    <a:pt x="169771" y="15551"/>
                  </a:moveTo>
                  <a:lnTo>
                    <a:pt x="215747" y="62511"/>
                  </a:lnTo>
                </a:path>
              </a:pathLst>
            </a:custGeom>
            <a:noFill/>
            <a:ln w="1185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6" name="Rounded Rectangle 64"/>
            <p:cNvSpPr/>
            <p:nvPr/>
          </p:nvSpPr>
          <p:spPr>
            <a:xfrm>
              <a:off x="5678615" y="2104867"/>
              <a:ext cx="412480" cy="392591"/>
            </a:xfrm>
            <a:custGeom>
              <a:avLst/>
              <a:gdLst/>
              <a:ahLst/>
              <a:cxnLst/>
              <a:rect l="0" t="0" r="0" b="0"/>
              <a:pathLst>
                <a:path w="275132" h="276436">
                  <a:moveTo>
                    <a:pt x="0" y="0"/>
                  </a:moveTo>
                  <a:moveTo>
                    <a:pt x="203228" y="275037"/>
                  </a:moveTo>
                  <a:cubicBezTo>
                    <a:pt x="181852" y="276436"/>
                    <a:pt x="156256" y="266916"/>
                    <a:pt x="142444" y="253282"/>
                  </a:cubicBezTo>
                  <a:cubicBezTo>
                    <a:pt x="137180" y="248078"/>
                    <a:pt x="134217" y="241024"/>
                    <a:pt x="134217" y="233673"/>
                  </a:cubicBezTo>
                  <a:cubicBezTo>
                    <a:pt x="134221" y="226295"/>
                    <a:pt x="137185" y="219227"/>
                    <a:pt x="142444" y="214052"/>
                  </a:cubicBezTo>
                  <a:lnTo>
                    <a:pt x="127542" y="199351"/>
                  </a:lnTo>
                  <a:cubicBezTo>
                    <a:pt x="124919" y="196763"/>
                    <a:pt x="123443" y="193231"/>
                    <a:pt x="123443" y="189547"/>
                  </a:cubicBezTo>
                  <a:cubicBezTo>
                    <a:pt x="123443" y="185862"/>
                    <a:pt x="124919" y="182331"/>
                    <a:pt x="127542" y="179742"/>
                  </a:cubicBezTo>
                  <a:cubicBezTo>
                    <a:pt x="133051" y="174298"/>
                    <a:pt x="141914" y="174298"/>
                    <a:pt x="147424" y="179742"/>
                  </a:cubicBezTo>
                  <a:lnTo>
                    <a:pt x="142444" y="174834"/>
                  </a:lnTo>
                  <a:cubicBezTo>
                    <a:pt x="139822" y="172245"/>
                    <a:pt x="138346" y="168714"/>
                    <a:pt x="138346" y="165029"/>
                  </a:cubicBezTo>
                  <a:cubicBezTo>
                    <a:pt x="138346" y="161344"/>
                    <a:pt x="139822" y="157813"/>
                    <a:pt x="142444" y="155225"/>
                  </a:cubicBezTo>
                  <a:cubicBezTo>
                    <a:pt x="147952" y="149789"/>
                    <a:pt x="156806" y="149789"/>
                    <a:pt x="162314" y="155225"/>
                  </a:cubicBezTo>
                  <a:lnTo>
                    <a:pt x="167270" y="160109"/>
                  </a:lnTo>
                  <a:cubicBezTo>
                    <a:pt x="164647" y="157521"/>
                    <a:pt x="163171" y="153989"/>
                    <a:pt x="163171" y="150305"/>
                  </a:cubicBezTo>
                  <a:cubicBezTo>
                    <a:pt x="163171" y="146620"/>
                    <a:pt x="164647" y="143089"/>
                    <a:pt x="167270" y="140500"/>
                  </a:cubicBezTo>
                  <a:cubicBezTo>
                    <a:pt x="172781" y="135071"/>
                    <a:pt x="181629" y="135071"/>
                    <a:pt x="187140" y="140500"/>
                  </a:cubicBezTo>
                  <a:lnTo>
                    <a:pt x="197075" y="150305"/>
                  </a:lnTo>
                  <a:cubicBezTo>
                    <a:pt x="194452" y="147716"/>
                    <a:pt x="192976" y="144185"/>
                    <a:pt x="192976" y="140500"/>
                  </a:cubicBezTo>
                  <a:cubicBezTo>
                    <a:pt x="192976" y="136815"/>
                    <a:pt x="194452" y="133284"/>
                    <a:pt x="197075" y="130695"/>
                  </a:cubicBezTo>
                  <a:cubicBezTo>
                    <a:pt x="202583" y="125260"/>
                    <a:pt x="211437" y="125260"/>
                    <a:pt x="216945" y="130695"/>
                  </a:cubicBezTo>
                  <a:lnTo>
                    <a:pt x="257550" y="170767"/>
                  </a:lnTo>
                  <a:cubicBezTo>
                    <a:pt x="262008" y="175154"/>
                    <a:pt x="263039" y="191040"/>
                    <a:pt x="263039" y="191040"/>
                  </a:cubicBezTo>
                  <a:lnTo>
                    <a:pt x="275132" y="203133"/>
                  </a:lnTo>
                  <a:moveTo>
                    <a:pt x="157335" y="228741"/>
                  </a:moveTo>
                  <a:lnTo>
                    <a:pt x="142432" y="214040"/>
                  </a:lnTo>
                  <a:moveTo>
                    <a:pt x="147388" y="179718"/>
                  </a:moveTo>
                  <a:lnTo>
                    <a:pt x="157323" y="189523"/>
                  </a:lnTo>
                  <a:moveTo>
                    <a:pt x="167270" y="160109"/>
                  </a:moveTo>
                  <a:lnTo>
                    <a:pt x="177205" y="169914"/>
                  </a:lnTo>
                  <a:moveTo>
                    <a:pt x="81305" y="9484"/>
                  </a:moveTo>
                  <a:cubicBezTo>
                    <a:pt x="102669" y="8097"/>
                    <a:pt x="128277" y="17617"/>
                    <a:pt x="142089" y="31251"/>
                  </a:cubicBezTo>
                  <a:cubicBezTo>
                    <a:pt x="147353" y="36444"/>
                    <a:pt x="150316" y="43509"/>
                    <a:pt x="150316" y="50860"/>
                  </a:cubicBezTo>
                  <a:cubicBezTo>
                    <a:pt x="150312" y="58238"/>
                    <a:pt x="147348" y="65306"/>
                    <a:pt x="142089" y="70481"/>
                  </a:cubicBezTo>
                  <a:lnTo>
                    <a:pt x="156991" y="85182"/>
                  </a:lnTo>
                  <a:cubicBezTo>
                    <a:pt x="159614" y="87770"/>
                    <a:pt x="161090" y="91302"/>
                    <a:pt x="161090" y="94986"/>
                  </a:cubicBezTo>
                  <a:cubicBezTo>
                    <a:pt x="161090" y="98671"/>
                    <a:pt x="159614" y="102202"/>
                    <a:pt x="156991" y="104791"/>
                  </a:cubicBezTo>
                  <a:cubicBezTo>
                    <a:pt x="151482" y="110235"/>
                    <a:pt x="142619" y="110235"/>
                    <a:pt x="137109" y="104791"/>
                  </a:cubicBezTo>
                  <a:lnTo>
                    <a:pt x="142089" y="109699"/>
                  </a:lnTo>
                  <a:cubicBezTo>
                    <a:pt x="144711" y="112288"/>
                    <a:pt x="146187" y="115819"/>
                    <a:pt x="146187" y="119504"/>
                  </a:cubicBezTo>
                  <a:cubicBezTo>
                    <a:pt x="146187" y="123189"/>
                    <a:pt x="144711" y="126720"/>
                    <a:pt x="142089" y="129308"/>
                  </a:cubicBezTo>
                  <a:cubicBezTo>
                    <a:pt x="136581" y="134744"/>
                    <a:pt x="127727" y="134744"/>
                    <a:pt x="122219" y="129308"/>
                  </a:cubicBezTo>
                  <a:lnTo>
                    <a:pt x="117263" y="124424"/>
                  </a:lnTo>
                  <a:cubicBezTo>
                    <a:pt x="119886" y="127012"/>
                    <a:pt x="121362" y="130544"/>
                    <a:pt x="121362" y="134228"/>
                  </a:cubicBezTo>
                  <a:cubicBezTo>
                    <a:pt x="121362" y="137913"/>
                    <a:pt x="119886" y="141444"/>
                    <a:pt x="117263" y="144033"/>
                  </a:cubicBezTo>
                  <a:cubicBezTo>
                    <a:pt x="111752" y="149462"/>
                    <a:pt x="102904" y="149462"/>
                    <a:pt x="97393" y="144033"/>
                  </a:cubicBezTo>
                  <a:lnTo>
                    <a:pt x="87458" y="134228"/>
                  </a:lnTo>
                  <a:cubicBezTo>
                    <a:pt x="90081" y="136817"/>
                    <a:pt x="91557" y="140348"/>
                    <a:pt x="91557" y="144033"/>
                  </a:cubicBezTo>
                  <a:cubicBezTo>
                    <a:pt x="91557" y="147718"/>
                    <a:pt x="90081" y="151249"/>
                    <a:pt x="87458" y="153838"/>
                  </a:cubicBezTo>
                  <a:cubicBezTo>
                    <a:pt x="81950" y="159273"/>
                    <a:pt x="73096" y="159273"/>
                    <a:pt x="67588" y="153838"/>
                  </a:cubicBezTo>
                  <a:lnTo>
                    <a:pt x="26983" y="113766"/>
                  </a:lnTo>
                  <a:cubicBezTo>
                    <a:pt x="22525" y="109379"/>
                    <a:pt x="21494" y="93493"/>
                    <a:pt x="21494" y="93493"/>
                  </a:cubicBezTo>
                  <a:lnTo>
                    <a:pt x="9401" y="81400"/>
                  </a:lnTo>
                  <a:moveTo>
                    <a:pt x="127198" y="55792"/>
                  </a:moveTo>
                  <a:lnTo>
                    <a:pt x="142112" y="70493"/>
                  </a:lnTo>
                  <a:moveTo>
                    <a:pt x="137145" y="104815"/>
                  </a:moveTo>
                  <a:lnTo>
                    <a:pt x="127210" y="95010"/>
                  </a:lnTo>
                  <a:moveTo>
                    <a:pt x="117263" y="124424"/>
                  </a:moveTo>
                  <a:lnTo>
                    <a:pt x="107328" y="114619"/>
                  </a:lnTo>
                  <a:moveTo>
                    <a:pt x="171657" y="23711"/>
                  </a:moveTo>
                  <a:lnTo>
                    <a:pt x="179529" y="14665"/>
                  </a:lnTo>
                  <a:cubicBezTo>
                    <a:pt x="180746" y="13268"/>
                    <a:pt x="182509" y="12467"/>
                    <a:pt x="184362" y="12469"/>
                  </a:cubicBezTo>
                  <a:cubicBezTo>
                    <a:pt x="186215" y="12472"/>
                    <a:pt x="187977" y="13277"/>
                    <a:pt x="189191" y="14677"/>
                  </a:cubicBezTo>
                  <a:lnTo>
                    <a:pt x="204935" y="32792"/>
                  </a:lnTo>
                  <a:cubicBezTo>
                    <a:pt x="206490" y="34583"/>
                    <a:pt x="208908" y="35368"/>
                    <a:pt x="211219" y="34831"/>
                  </a:cubicBezTo>
                  <a:lnTo>
                    <a:pt x="234598" y="29425"/>
                  </a:lnTo>
                  <a:cubicBezTo>
                    <a:pt x="236406" y="29006"/>
                    <a:pt x="238308" y="29392"/>
                    <a:pt x="239809" y="30484"/>
                  </a:cubicBezTo>
                  <a:cubicBezTo>
                    <a:pt x="241311" y="31576"/>
                    <a:pt x="242264" y="33266"/>
                    <a:pt x="242423" y="35116"/>
                  </a:cubicBezTo>
                  <a:lnTo>
                    <a:pt x="244509" y="59028"/>
                  </a:lnTo>
                  <a:cubicBezTo>
                    <a:pt x="244710" y="61389"/>
                    <a:pt x="246203" y="63443"/>
                    <a:pt x="248386" y="64363"/>
                  </a:cubicBezTo>
                  <a:lnTo>
                    <a:pt x="270485" y="73729"/>
                  </a:lnTo>
                  <a:cubicBezTo>
                    <a:pt x="272204" y="74451"/>
                    <a:pt x="273523" y="75887"/>
                    <a:pt x="274097" y="77662"/>
                  </a:cubicBezTo>
                  <a:cubicBezTo>
                    <a:pt x="274671" y="79436"/>
                    <a:pt x="274443" y="81373"/>
                    <a:pt x="273472" y="82965"/>
                  </a:cubicBezTo>
                  <a:lnTo>
                    <a:pt x="261107" y="103546"/>
                  </a:lnTo>
                  <a:cubicBezTo>
                    <a:pt x="259894" y="105572"/>
                    <a:pt x="259894" y="108101"/>
                    <a:pt x="261107" y="110126"/>
                  </a:cubicBezTo>
                  <a:lnTo>
                    <a:pt x="273472" y="130707"/>
                  </a:lnTo>
                  <a:cubicBezTo>
                    <a:pt x="274447" y="132297"/>
                    <a:pt x="274678" y="134233"/>
                    <a:pt x="274103" y="136007"/>
                  </a:cubicBezTo>
                  <a:cubicBezTo>
                    <a:pt x="273528" y="137781"/>
                    <a:pt x="272206" y="139215"/>
                    <a:pt x="270485" y="139931"/>
                  </a:cubicBezTo>
                  <a:lnTo>
                    <a:pt x="264960" y="142278"/>
                  </a:lnTo>
                  <a:moveTo>
                    <a:pt x="113197" y="260822"/>
                  </a:moveTo>
                  <a:lnTo>
                    <a:pt x="105325" y="269892"/>
                  </a:lnTo>
                  <a:cubicBezTo>
                    <a:pt x="104107" y="271289"/>
                    <a:pt x="102344" y="272090"/>
                    <a:pt x="100491" y="272087"/>
                  </a:cubicBezTo>
                  <a:cubicBezTo>
                    <a:pt x="98638" y="272085"/>
                    <a:pt x="96876" y="271280"/>
                    <a:pt x="95662" y="269880"/>
                  </a:cubicBezTo>
                  <a:lnTo>
                    <a:pt x="79918" y="251753"/>
                  </a:lnTo>
                  <a:cubicBezTo>
                    <a:pt x="78362" y="249964"/>
                    <a:pt x="75945" y="249180"/>
                    <a:pt x="73635" y="249714"/>
                  </a:cubicBezTo>
                  <a:lnTo>
                    <a:pt x="50255" y="255132"/>
                  </a:lnTo>
                  <a:cubicBezTo>
                    <a:pt x="48447" y="255551"/>
                    <a:pt x="46545" y="255165"/>
                    <a:pt x="45044" y="254073"/>
                  </a:cubicBezTo>
                  <a:cubicBezTo>
                    <a:pt x="43542" y="252981"/>
                    <a:pt x="42589" y="251291"/>
                    <a:pt x="42431" y="249441"/>
                  </a:cubicBezTo>
                  <a:lnTo>
                    <a:pt x="40344" y="225528"/>
                  </a:lnTo>
                  <a:cubicBezTo>
                    <a:pt x="40140" y="223169"/>
                    <a:pt x="38648" y="221116"/>
                    <a:pt x="36467" y="220193"/>
                  </a:cubicBezTo>
                  <a:lnTo>
                    <a:pt x="14357" y="210816"/>
                  </a:lnTo>
                  <a:cubicBezTo>
                    <a:pt x="12643" y="210091"/>
                    <a:pt x="11329" y="208656"/>
                    <a:pt x="10758" y="206885"/>
                  </a:cubicBezTo>
                  <a:cubicBezTo>
                    <a:pt x="10186" y="205114"/>
                    <a:pt x="10414" y="203182"/>
                    <a:pt x="11381" y="201592"/>
                  </a:cubicBezTo>
                  <a:lnTo>
                    <a:pt x="23746" y="181011"/>
                  </a:lnTo>
                  <a:cubicBezTo>
                    <a:pt x="24964" y="178982"/>
                    <a:pt x="24964" y="176447"/>
                    <a:pt x="23746" y="174419"/>
                  </a:cubicBezTo>
                  <a:lnTo>
                    <a:pt x="11381" y="153849"/>
                  </a:lnTo>
                  <a:cubicBezTo>
                    <a:pt x="10414" y="152260"/>
                    <a:pt x="10186" y="150328"/>
                    <a:pt x="10758" y="148556"/>
                  </a:cubicBezTo>
                  <a:cubicBezTo>
                    <a:pt x="11329" y="146785"/>
                    <a:pt x="12643" y="145351"/>
                    <a:pt x="14357" y="144626"/>
                  </a:cubicBezTo>
                  <a:lnTo>
                    <a:pt x="19893" y="142267"/>
                  </a:lnTo>
                </a:path>
              </a:pathLst>
            </a:custGeom>
            <a:noFill/>
            <a:ln w="1185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Tree>
    <p:extLst>
      <p:ext uri="{BB962C8B-B14F-4D97-AF65-F5344CB8AC3E}">
        <p14:creationId xmlns:p14="http://schemas.microsoft.com/office/powerpoint/2010/main" val="1761905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B20E2A-F2D8-419C-9FD1-95D26342647C}"/>
              </a:ext>
            </a:extLst>
          </p:cNvPr>
          <p:cNvSpPr/>
          <p:nvPr/>
        </p:nvSpPr>
        <p:spPr>
          <a:xfrm>
            <a:off x="0" y="-20340"/>
            <a:ext cx="6096000" cy="6608190"/>
          </a:xfrm>
          <a:prstGeom prst="rect">
            <a:avLst/>
          </a:prstGeom>
          <a:gradFill>
            <a:gsLst>
              <a:gs pos="0">
                <a:srgbClr val="562C32"/>
              </a:gs>
              <a:gs pos="50000">
                <a:srgbClr val="562C32"/>
              </a:gs>
              <a:gs pos="100000">
                <a:srgbClr val="7B3E47"/>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ctr">
              <a:lnSpc>
                <a:spcPct val="120000"/>
              </a:lnSpc>
            </a:pPr>
            <a:r>
              <a:rPr lang="en-US" sz="2800" b="1" dirty="0"/>
              <a:t>India</a:t>
            </a:r>
            <a:endParaRPr lang="en-US" sz="2800" dirty="0"/>
          </a:p>
          <a:p>
            <a:pPr marL="285750" indent="-285750" algn="just">
              <a:lnSpc>
                <a:spcPct val="120000"/>
              </a:lnSpc>
              <a:buFont typeface="Arial" panose="020B0604020202020204" pitchFamily="34" charset="0"/>
              <a:buChar char="•"/>
            </a:pPr>
            <a:r>
              <a:rPr lang="en-US" sz="2000" dirty="0"/>
              <a:t>The definition of “India” is different is many Acts of our country.</a:t>
            </a:r>
          </a:p>
          <a:p>
            <a:pPr marL="285750" indent="-285750" algn="just">
              <a:lnSpc>
                <a:spcPct val="120000"/>
              </a:lnSpc>
              <a:buFont typeface="Arial" panose="020B0604020202020204" pitchFamily="34" charset="0"/>
              <a:buChar char="•"/>
            </a:pPr>
            <a:r>
              <a:rPr lang="en-US" sz="2000" dirty="0"/>
              <a:t>As per the Income Tax Act, 1961; “India” means –</a:t>
            </a:r>
          </a:p>
          <a:p>
            <a:pPr marL="742950" lvl="1" indent="-285750" algn="just">
              <a:lnSpc>
                <a:spcPct val="120000"/>
              </a:lnSpc>
              <a:buFont typeface="Arial" panose="020B0604020202020204" pitchFamily="34" charset="0"/>
              <a:buChar char="•"/>
            </a:pPr>
            <a:r>
              <a:rPr lang="en-US" dirty="0"/>
              <a:t>The territory of India as per the Constitution,</a:t>
            </a:r>
          </a:p>
          <a:p>
            <a:pPr marL="742950" lvl="1" indent="-285750" algn="just">
              <a:lnSpc>
                <a:spcPct val="120000"/>
              </a:lnSpc>
              <a:buFont typeface="Arial" panose="020B0604020202020204" pitchFamily="34" charset="0"/>
              <a:buChar char="•"/>
            </a:pPr>
            <a:r>
              <a:rPr lang="en-US" dirty="0"/>
              <a:t>It’s territorial waters, seabed and subsoil underlying such waters,</a:t>
            </a:r>
          </a:p>
          <a:p>
            <a:pPr marL="742950" lvl="1" indent="-285750" algn="just">
              <a:lnSpc>
                <a:spcPct val="120000"/>
              </a:lnSpc>
              <a:buFont typeface="Arial" panose="020B0604020202020204" pitchFamily="34" charset="0"/>
              <a:buChar char="•"/>
            </a:pPr>
            <a:r>
              <a:rPr lang="en-US" dirty="0"/>
              <a:t>Continental shelf,</a:t>
            </a:r>
          </a:p>
          <a:p>
            <a:pPr marL="742950" lvl="1" indent="-285750" algn="just">
              <a:lnSpc>
                <a:spcPct val="120000"/>
              </a:lnSpc>
              <a:buFont typeface="Arial" panose="020B0604020202020204" pitchFamily="34" charset="0"/>
              <a:buChar char="•"/>
            </a:pPr>
            <a:r>
              <a:rPr lang="en-US" dirty="0"/>
              <a:t>Exclusive economic zone, or</a:t>
            </a:r>
          </a:p>
          <a:p>
            <a:pPr marL="742950" lvl="1" indent="-285750" algn="just">
              <a:lnSpc>
                <a:spcPct val="120000"/>
              </a:lnSpc>
              <a:buFont typeface="Arial" panose="020B0604020202020204" pitchFamily="34" charset="0"/>
              <a:buChar char="•"/>
            </a:pPr>
            <a:r>
              <a:rPr lang="en-US" dirty="0"/>
              <a:t>Any other specified maritime zone and the air space above its territory and territorial waters.</a:t>
            </a:r>
            <a:endParaRPr lang="en-IN" sz="2000" dirty="0"/>
          </a:p>
          <a:p>
            <a:pPr marL="285750" indent="-285750" algn="just">
              <a:lnSpc>
                <a:spcPct val="120000"/>
              </a:lnSpc>
              <a:buFont typeface="Arial" panose="020B0604020202020204" pitchFamily="34" charset="0"/>
              <a:buChar char="•"/>
            </a:pPr>
            <a:endParaRPr lang="en-US" sz="2000" dirty="0"/>
          </a:p>
        </p:txBody>
      </p:sp>
      <p:sp>
        <p:nvSpPr>
          <p:cNvPr id="5" name="Slide Number Placeholder 3">
            <a:extLst>
              <a:ext uri="{FF2B5EF4-FFF2-40B4-BE49-F238E27FC236}">
                <a16:creationId xmlns:a16="http://schemas.microsoft.com/office/drawing/2014/main" id="{EE12068F-24B7-4166-B9B4-EA24B0B78576}"/>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10</a:t>
            </a:fld>
            <a:endParaRPr lang="en-US" b="1" dirty="0">
              <a:solidFill>
                <a:schemeClr val="tx1">
                  <a:lumMod val="90000"/>
                  <a:lumOff val="10000"/>
                </a:schemeClr>
              </a:solidFill>
              <a:latin typeface="+mn-lt"/>
            </a:endParaRPr>
          </a:p>
        </p:txBody>
      </p:sp>
      <p:pic>
        <p:nvPicPr>
          <p:cNvPr id="2" name="Picture 2" descr="India | Culture, Facts &amp; Travel | - CountryReports">
            <a:extLst>
              <a:ext uri="{FF2B5EF4-FFF2-40B4-BE49-F238E27FC236}">
                <a16:creationId xmlns:a16="http://schemas.microsoft.com/office/drawing/2014/main" id="{B93CD832-1867-0FC1-9036-DC05CED725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1703" y="1233996"/>
            <a:ext cx="4824124" cy="37108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3177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BD59E-FEA3-1E35-E52C-0529D801DC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3BC2B5-0984-E1EB-E335-B0EAA83920F5}"/>
              </a:ext>
            </a:extLst>
          </p:cNvPr>
          <p:cNvSpPr>
            <a:spLocks noGrp="1"/>
          </p:cNvSpPr>
          <p:nvPr>
            <p:ph type="title"/>
          </p:nvPr>
        </p:nvSpPr>
        <p:spPr/>
        <p:txBody>
          <a:bodyPr/>
          <a:lstStyle/>
          <a:p>
            <a:r>
              <a:rPr lang="en-US" dirty="0"/>
              <a:t>Other Definitions </a:t>
            </a:r>
            <a:endParaRPr lang="en-IN" dirty="0"/>
          </a:p>
        </p:txBody>
      </p:sp>
      <p:sp>
        <p:nvSpPr>
          <p:cNvPr id="3" name="Content Placeholder 2">
            <a:extLst>
              <a:ext uri="{FF2B5EF4-FFF2-40B4-BE49-F238E27FC236}">
                <a16:creationId xmlns:a16="http://schemas.microsoft.com/office/drawing/2014/main" id="{12E77C4D-3A59-B3B5-18CB-CEA9DF20BA70}"/>
              </a:ext>
            </a:extLst>
          </p:cNvPr>
          <p:cNvSpPr>
            <a:spLocks noGrp="1"/>
          </p:cNvSpPr>
          <p:nvPr>
            <p:ph idx="1"/>
          </p:nvPr>
        </p:nvSpPr>
        <p:spPr/>
        <p:txBody>
          <a:bodyPr/>
          <a:lstStyle/>
          <a:p>
            <a:r>
              <a:rPr lang="en-US" b="1" dirty="0">
                <a:solidFill>
                  <a:srgbClr val="C00000"/>
                </a:solidFill>
              </a:rPr>
              <a:t>Assessment</a:t>
            </a:r>
            <a:r>
              <a:rPr lang="en-US" dirty="0"/>
              <a:t>: Assessment is the procedure by which the income of an assessee is determined. </a:t>
            </a:r>
          </a:p>
          <a:p>
            <a:r>
              <a:rPr lang="en-US" b="1" dirty="0">
                <a:solidFill>
                  <a:srgbClr val="C00000"/>
                </a:solidFill>
              </a:rPr>
              <a:t>Income</a:t>
            </a:r>
            <a:r>
              <a:rPr lang="en-US" dirty="0"/>
              <a:t>: Income is the money received by a person (individual or business) periodically on a daily, weekly, monthly or yearly basis.</a:t>
            </a:r>
          </a:p>
          <a:p>
            <a:pPr lvl="1"/>
            <a:endParaRPr lang="en-IN" dirty="0"/>
          </a:p>
        </p:txBody>
      </p:sp>
    </p:spTree>
    <p:extLst>
      <p:ext uri="{BB962C8B-B14F-4D97-AF65-F5344CB8AC3E}">
        <p14:creationId xmlns:p14="http://schemas.microsoft.com/office/powerpoint/2010/main" val="3616434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sz="2800" b="1" u="sng" dirty="0">
                <a:cs typeface="Times New Roman" panose="02020603050405020304" pitchFamily="18" charset="0"/>
              </a:rPr>
              <a:t>Previous Year</a:t>
            </a:r>
            <a:r>
              <a:rPr lang="en-US" sz="2800" dirty="0"/>
              <a:t>:</a:t>
            </a:r>
          </a:p>
          <a:p>
            <a:pPr algn="just"/>
            <a:r>
              <a:rPr lang="en-US" sz="2400" dirty="0">
                <a:cs typeface="Times New Roman" panose="02020603050405020304" pitchFamily="18" charset="0"/>
              </a:rPr>
              <a:t>The </a:t>
            </a:r>
            <a:r>
              <a:rPr lang="en-US" sz="2400" b="1" dirty="0">
                <a:cs typeface="Times New Roman" panose="02020603050405020304" pitchFamily="18" charset="0"/>
              </a:rPr>
              <a:t>Previous Year</a:t>
            </a:r>
            <a:r>
              <a:rPr lang="en-US" sz="2400" dirty="0">
                <a:cs typeface="Times New Roman" panose="02020603050405020304" pitchFamily="18" charset="0"/>
              </a:rPr>
              <a:t> is the </a:t>
            </a:r>
            <a:r>
              <a:rPr lang="en-US" sz="2400" b="1" dirty="0">
                <a:cs typeface="Times New Roman" panose="02020603050405020304" pitchFamily="18" charset="0"/>
              </a:rPr>
              <a:t>financial year</a:t>
            </a:r>
            <a:r>
              <a:rPr lang="en-US" sz="2400" dirty="0">
                <a:cs typeface="Times New Roman" panose="02020603050405020304" pitchFamily="18" charset="0"/>
              </a:rPr>
              <a:t> (12-month period) immediately before the </a:t>
            </a:r>
            <a:r>
              <a:rPr lang="en-US" sz="2400" b="1" dirty="0">
                <a:cs typeface="Times New Roman" panose="02020603050405020304" pitchFamily="18" charset="0"/>
              </a:rPr>
              <a:t>Assessment Year</a:t>
            </a:r>
            <a:r>
              <a:rPr lang="en-US" sz="2400" dirty="0">
                <a:cs typeface="Times New Roman" panose="02020603050405020304" pitchFamily="18" charset="0"/>
              </a:rPr>
              <a:t>. It is the year during which the income is earned, and this income will be </a:t>
            </a:r>
            <a:r>
              <a:rPr lang="en-US" sz="2400" b="1" dirty="0">
                <a:cs typeface="Times New Roman" panose="02020603050405020304" pitchFamily="18" charset="0"/>
              </a:rPr>
              <a:t>taxed</a:t>
            </a:r>
            <a:r>
              <a:rPr lang="en-US" sz="2400" dirty="0">
                <a:cs typeface="Times New Roman" panose="02020603050405020304" pitchFamily="18" charset="0"/>
              </a:rPr>
              <a:t> in the </a:t>
            </a:r>
            <a:r>
              <a:rPr lang="en-US" sz="2400" b="1" dirty="0">
                <a:cs typeface="Times New Roman" panose="02020603050405020304" pitchFamily="18" charset="0"/>
              </a:rPr>
              <a:t>Assessment Year</a:t>
            </a:r>
            <a:r>
              <a:rPr lang="en-US" sz="2400" dirty="0">
                <a:cs typeface="Times New Roman" panose="02020603050405020304" pitchFamily="18" charset="0"/>
              </a:rPr>
              <a:t>.</a:t>
            </a:r>
          </a:p>
          <a:p>
            <a:pPr marL="0" indent="0" algn="just">
              <a:buNone/>
            </a:pPr>
            <a:endParaRPr lang="en-US" sz="2800" b="1" u="sng" dirty="0">
              <a:cs typeface="Times New Roman" panose="02020603050405020304" pitchFamily="18" charset="0"/>
            </a:endParaRPr>
          </a:p>
          <a:p>
            <a:pPr marL="0" indent="0" algn="just">
              <a:buNone/>
            </a:pPr>
            <a:r>
              <a:rPr lang="en-US" sz="2800" b="1" u="sng" dirty="0">
                <a:cs typeface="Times New Roman" panose="02020603050405020304" pitchFamily="18" charset="0"/>
              </a:rPr>
              <a:t>Assessment Year</a:t>
            </a:r>
            <a:r>
              <a:rPr lang="en-US" sz="2800" dirty="0"/>
              <a:t>:</a:t>
            </a:r>
          </a:p>
          <a:p>
            <a:pPr algn="just"/>
            <a:r>
              <a:rPr lang="en-US" sz="2400" dirty="0">
                <a:cs typeface="Times New Roman" panose="02020603050405020304" pitchFamily="18" charset="0"/>
              </a:rPr>
              <a:t>The </a:t>
            </a:r>
            <a:r>
              <a:rPr lang="en-US" sz="2400" b="1" dirty="0">
                <a:cs typeface="Times New Roman" panose="02020603050405020304" pitchFamily="18" charset="0"/>
              </a:rPr>
              <a:t>Assessment Year</a:t>
            </a:r>
            <a:r>
              <a:rPr lang="en-US" sz="2400" dirty="0">
                <a:cs typeface="Times New Roman" panose="02020603050405020304" pitchFamily="18" charset="0"/>
              </a:rPr>
              <a:t> is the </a:t>
            </a:r>
            <a:r>
              <a:rPr lang="en-US" sz="2400" b="1" dirty="0">
                <a:cs typeface="Times New Roman" panose="02020603050405020304" pitchFamily="18" charset="0"/>
              </a:rPr>
              <a:t>year following</a:t>
            </a:r>
            <a:r>
              <a:rPr lang="en-US" sz="2400" dirty="0">
                <a:cs typeface="Times New Roman" panose="02020603050405020304" pitchFamily="18" charset="0"/>
              </a:rPr>
              <a:t> the </a:t>
            </a:r>
            <a:r>
              <a:rPr lang="en-US" sz="2400" b="1" dirty="0">
                <a:cs typeface="Times New Roman" panose="02020603050405020304" pitchFamily="18" charset="0"/>
              </a:rPr>
              <a:t>Previous Year</a:t>
            </a:r>
            <a:r>
              <a:rPr lang="en-US" sz="2400" dirty="0">
                <a:cs typeface="Times New Roman" panose="02020603050405020304" pitchFamily="18" charset="0"/>
              </a:rPr>
              <a:t>, in which the income earned during the </a:t>
            </a:r>
            <a:r>
              <a:rPr lang="en-US" sz="2400" b="1" dirty="0">
                <a:cs typeface="Times New Roman" panose="02020603050405020304" pitchFamily="18" charset="0"/>
              </a:rPr>
              <a:t>Previous Year</a:t>
            </a:r>
            <a:r>
              <a:rPr lang="en-US" sz="2400" dirty="0">
                <a:cs typeface="Times New Roman" panose="02020603050405020304" pitchFamily="18" charset="0"/>
              </a:rPr>
              <a:t> is </a:t>
            </a:r>
            <a:r>
              <a:rPr lang="en-US" sz="2400" b="1" dirty="0">
                <a:cs typeface="Times New Roman" panose="02020603050405020304" pitchFamily="18" charset="0"/>
              </a:rPr>
              <a:t>assessed</a:t>
            </a:r>
            <a:r>
              <a:rPr lang="en-US" sz="2400" dirty="0">
                <a:cs typeface="Times New Roman" panose="02020603050405020304" pitchFamily="18" charset="0"/>
              </a:rPr>
              <a:t> and taxed by the government.</a:t>
            </a:r>
          </a:p>
          <a:p>
            <a:pPr marL="0" indent="0" algn="just">
              <a:buNone/>
            </a:pPr>
            <a:endParaRPr lang="en-US" sz="2800" dirty="0">
              <a:cs typeface="Times New Roman" panose="02020603050405020304" pitchFamily="18" charset="0"/>
            </a:endParaRPr>
          </a:p>
          <a:p>
            <a:pPr marL="0" indent="0">
              <a:buNone/>
            </a:pPr>
            <a:endParaRPr lang="en-US" sz="2400" dirty="0"/>
          </a:p>
        </p:txBody>
      </p:sp>
      <p:sp>
        <p:nvSpPr>
          <p:cNvPr id="2" name="Title 1"/>
          <p:cNvSpPr>
            <a:spLocks noGrp="1"/>
          </p:cNvSpPr>
          <p:nvPr>
            <p:ph type="title"/>
          </p:nvPr>
        </p:nvSpPr>
        <p:spPr/>
        <p:txBody>
          <a:bodyPr/>
          <a:lstStyle/>
          <a:p>
            <a:r>
              <a:rPr lang="en-US" b="1" dirty="0">
                <a:latin typeface="+mn-lt"/>
                <a:ea typeface="Adobe Gothic Std B" panose="020B0800000000000000" pitchFamily="34" charset="-128"/>
                <a:cs typeface="Times New Roman" panose="02020603050405020304" pitchFamily="18" charset="0"/>
              </a:rPr>
              <a:t>Previous Year &amp; Assessment Year</a:t>
            </a:r>
          </a:p>
        </p:txBody>
      </p:sp>
    </p:spTree>
    <p:extLst>
      <p:ext uri="{BB962C8B-B14F-4D97-AF65-F5344CB8AC3E}">
        <p14:creationId xmlns:p14="http://schemas.microsoft.com/office/powerpoint/2010/main" val="1666019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33"/>
          <p:cNvSpPr txBox="1"/>
          <p:nvPr/>
        </p:nvSpPr>
        <p:spPr>
          <a:xfrm>
            <a:off x="2860431" y="376226"/>
            <a:ext cx="6471138" cy="430887"/>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800" b="1" dirty="0">
                <a:solidFill>
                  <a:srgbClr val="484848"/>
                </a:solidFill>
                <a:latin typeface="+mj-lt"/>
              </a:rPr>
              <a:t>Financial and Assessment Year Sequence</a:t>
            </a:r>
          </a:p>
        </p:txBody>
      </p:sp>
      <p:grpSp>
        <p:nvGrpSpPr>
          <p:cNvPr id="2" name="Group 1">
            <a:extLst>
              <a:ext uri="{FF2B5EF4-FFF2-40B4-BE49-F238E27FC236}">
                <a16:creationId xmlns:a16="http://schemas.microsoft.com/office/drawing/2014/main" id="{6546894B-3F9A-D53A-FC45-B502EBA00FC7}"/>
              </a:ext>
            </a:extLst>
          </p:cNvPr>
          <p:cNvGrpSpPr/>
          <p:nvPr/>
        </p:nvGrpSpPr>
        <p:grpSpPr>
          <a:xfrm>
            <a:off x="1277032" y="1114870"/>
            <a:ext cx="9637936" cy="5365336"/>
            <a:chOff x="1592316" y="1632668"/>
            <a:chExt cx="9089416" cy="4869010"/>
          </a:xfrm>
        </p:grpSpPr>
        <p:grpSp>
          <p:nvGrpSpPr>
            <p:cNvPr id="4" name="Group 3"/>
            <p:cNvGrpSpPr/>
            <p:nvPr/>
          </p:nvGrpSpPr>
          <p:grpSpPr>
            <a:xfrm>
              <a:off x="1695685" y="5042987"/>
              <a:ext cx="8986047" cy="1458691"/>
              <a:chOff x="216568" y="3221705"/>
              <a:chExt cx="7796463" cy="1333367"/>
            </a:xfrm>
          </p:grpSpPr>
          <p:sp>
            <p:nvSpPr>
              <p:cNvPr id="36" name="Rounded Rectangle 1"/>
              <p:cNvSpPr/>
              <p:nvPr/>
            </p:nvSpPr>
            <p:spPr>
              <a:xfrm>
                <a:off x="216568" y="3221705"/>
                <a:ext cx="7796463" cy="1331185"/>
              </a:xfrm>
              <a:custGeom>
                <a:avLst/>
                <a:gdLst/>
                <a:ahLst/>
                <a:cxnLst/>
                <a:rect l="0" t="0" r="0" b="0"/>
                <a:pathLst>
                  <a:path w="7796463" h="1331185">
                    <a:moveTo>
                      <a:pt x="6930189" y="351673"/>
                    </a:moveTo>
                    <a:cubicBezTo>
                      <a:pt x="6930189" y="351673"/>
                      <a:pt x="6973160" y="286303"/>
                      <a:pt x="7018666" y="225785"/>
                    </a:cubicBezTo>
                    <a:cubicBezTo>
                      <a:pt x="7278783" y="177909"/>
                      <a:pt x="7538836" y="117147"/>
                      <a:pt x="7796463" y="41607"/>
                    </a:cubicBezTo>
                    <a:lnTo>
                      <a:pt x="7796463" y="1187636"/>
                    </a:lnTo>
                    <a:cubicBezTo>
                      <a:pt x="7445405" y="1287032"/>
                      <a:pt x="7081254" y="1324246"/>
                      <a:pt x="6713621" y="1326159"/>
                    </a:cubicBezTo>
                    <a:cubicBezTo>
                      <a:pt x="5748619" y="1331185"/>
                      <a:pt x="4759524" y="1076519"/>
                      <a:pt x="3919716" y="860285"/>
                    </a:cubicBezTo>
                    <a:cubicBezTo>
                      <a:pt x="3554772" y="766321"/>
                      <a:pt x="3218017" y="679615"/>
                      <a:pt x="2923673" y="624630"/>
                    </a:cubicBezTo>
                    <a:cubicBezTo>
                      <a:pt x="1583656" y="374308"/>
                      <a:pt x="794084" y="392276"/>
                      <a:pt x="0" y="928478"/>
                    </a:cubicBezTo>
                    <a:lnTo>
                      <a:pt x="0" y="532146"/>
                    </a:lnTo>
                    <a:cubicBezTo>
                      <a:pt x="255704" y="382276"/>
                      <a:pt x="519572" y="257647"/>
                      <a:pt x="815769" y="169656"/>
                    </a:cubicBezTo>
                    <a:cubicBezTo>
                      <a:pt x="844615" y="210432"/>
                      <a:pt x="866273" y="243389"/>
                      <a:pt x="866273" y="243389"/>
                    </a:cubicBezTo>
                    <a:cubicBezTo>
                      <a:pt x="866273" y="243389"/>
                      <a:pt x="901400" y="189953"/>
                      <a:pt x="941765" y="134979"/>
                    </a:cubicBezTo>
                    <a:cubicBezTo>
                      <a:pt x="1328358" y="36920"/>
                      <a:pt x="1772044" y="0"/>
                      <a:pt x="2321694" y="47265"/>
                    </a:cubicBezTo>
                    <a:cubicBezTo>
                      <a:pt x="2355416" y="94265"/>
                      <a:pt x="2382252" y="135105"/>
                      <a:pt x="2382252" y="135105"/>
                    </a:cubicBezTo>
                    <a:cubicBezTo>
                      <a:pt x="2382252" y="135105"/>
                      <a:pt x="2405100" y="100349"/>
                      <a:pt x="2435113" y="58061"/>
                    </a:cubicBezTo>
                    <a:cubicBezTo>
                      <a:pt x="2646709" y="80112"/>
                      <a:pt x="2873673" y="114220"/>
                      <a:pt x="3118585" y="161603"/>
                    </a:cubicBezTo>
                    <a:cubicBezTo>
                      <a:pt x="3344763" y="205362"/>
                      <a:pt x="3589405" y="245560"/>
                      <a:pt x="3848456" y="278974"/>
                    </a:cubicBezTo>
                    <a:cubicBezTo>
                      <a:pt x="3876935" y="319271"/>
                      <a:pt x="3898231" y="351673"/>
                      <a:pt x="3898231" y="351673"/>
                    </a:cubicBezTo>
                    <a:cubicBezTo>
                      <a:pt x="3898231" y="351673"/>
                      <a:pt x="3915611" y="325234"/>
                      <a:pt x="3939975" y="290418"/>
                    </a:cubicBezTo>
                    <a:cubicBezTo>
                      <a:pt x="4379049" y="343603"/>
                      <a:pt x="4857187" y="376734"/>
                      <a:pt x="5355511" y="374709"/>
                    </a:cubicBezTo>
                    <a:cubicBezTo>
                      <a:pt x="5388357" y="420609"/>
                      <a:pt x="5414210" y="459957"/>
                      <a:pt x="5414210" y="459957"/>
                    </a:cubicBezTo>
                    <a:cubicBezTo>
                      <a:pt x="5414210" y="459957"/>
                      <a:pt x="5440505" y="419955"/>
                      <a:pt x="5473739" y="373566"/>
                    </a:cubicBezTo>
                    <a:cubicBezTo>
                      <a:pt x="5925871" y="366657"/>
                      <a:pt x="6393199" y="330192"/>
                      <a:pt x="6861889" y="253099"/>
                    </a:cubicBezTo>
                    <a:cubicBezTo>
                      <a:pt x="6899148" y="304435"/>
                      <a:pt x="6930189" y="351673"/>
                      <a:pt x="6930189" y="351673"/>
                    </a:cubicBezTo>
                    <a:close/>
                  </a:path>
                </a:pathLst>
              </a:custGeom>
              <a:solidFill>
                <a:srgbClr val="666666"/>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7" name="Rounded Rectangle 2"/>
              <p:cNvSpPr/>
              <p:nvPr/>
            </p:nvSpPr>
            <p:spPr>
              <a:xfrm>
                <a:off x="216568" y="3221705"/>
                <a:ext cx="7796463" cy="1333367"/>
              </a:xfrm>
              <a:custGeom>
                <a:avLst/>
                <a:gdLst/>
                <a:ahLst/>
                <a:cxnLst/>
                <a:rect l="0" t="0" r="0" b="0"/>
                <a:pathLst>
                  <a:path w="7796463" h="1333367">
                    <a:moveTo>
                      <a:pt x="0" y="928477"/>
                    </a:moveTo>
                    <a:cubicBezTo>
                      <a:pt x="794084" y="392276"/>
                      <a:pt x="1583656" y="374307"/>
                      <a:pt x="2923673" y="624630"/>
                    </a:cubicBezTo>
                    <a:cubicBezTo>
                      <a:pt x="3895360" y="806147"/>
                      <a:pt x="5329272" y="1333367"/>
                      <a:pt x="6713621" y="1326158"/>
                    </a:cubicBezTo>
                    <a:cubicBezTo>
                      <a:pt x="7081259" y="1324243"/>
                      <a:pt x="7445402" y="1287029"/>
                      <a:pt x="7796463" y="1187639"/>
                    </a:cubicBezTo>
                    <a:moveTo>
                      <a:pt x="7480446" y="649899"/>
                    </a:moveTo>
                    <a:lnTo>
                      <a:pt x="7242953" y="694979"/>
                    </a:lnTo>
                    <a:moveTo>
                      <a:pt x="7039208" y="724260"/>
                    </a:moveTo>
                    <a:lnTo>
                      <a:pt x="6798815" y="749079"/>
                    </a:lnTo>
                    <a:moveTo>
                      <a:pt x="6351846" y="771389"/>
                    </a:moveTo>
                    <a:lnTo>
                      <a:pt x="6593486" y="762885"/>
                    </a:lnTo>
                    <a:moveTo>
                      <a:pt x="5904340" y="767958"/>
                    </a:moveTo>
                    <a:lnTo>
                      <a:pt x="6146148" y="772695"/>
                    </a:lnTo>
                    <a:moveTo>
                      <a:pt x="5457489" y="743540"/>
                    </a:moveTo>
                    <a:lnTo>
                      <a:pt x="5698814" y="759093"/>
                    </a:lnTo>
                    <a:moveTo>
                      <a:pt x="5252539" y="726348"/>
                    </a:moveTo>
                    <a:lnTo>
                      <a:pt x="5011859" y="701912"/>
                    </a:lnTo>
                    <a:moveTo>
                      <a:pt x="4567858" y="646205"/>
                    </a:moveTo>
                    <a:lnTo>
                      <a:pt x="4807568" y="677884"/>
                    </a:lnTo>
                    <a:moveTo>
                      <a:pt x="4125518" y="579140"/>
                    </a:moveTo>
                    <a:lnTo>
                      <a:pt x="4364150" y="616605"/>
                    </a:lnTo>
                    <a:moveTo>
                      <a:pt x="3684462" y="503288"/>
                    </a:moveTo>
                    <a:lnTo>
                      <a:pt x="3922286" y="545142"/>
                    </a:lnTo>
                    <a:moveTo>
                      <a:pt x="3244077" y="421542"/>
                    </a:moveTo>
                    <a:lnTo>
                      <a:pt x="3481729" y="466188"/>
                    </a:lnTo>
                    <a:moveTo>
                      <a:pt x="2808564" y="339747"/>
                    </a:moveTo>
                    <a:lnTo>
                      <a:pt x="3042302" y="383185"/>
                    </a:lnTo>
                    <a:moveTo>
                      <a:pt x="2613376" y="307885"/>
                    </a:moveTo>
                    <a:lnTo>
                      <a:pt x="2381695" y="276748"/>
                    </a:lnTo>
                    <a:moveTo>
                      <a:pt x="1951885" y="241823"/>
                    </a:moveTo>
                    <a:lnTo>
                      <a:pt x="2185080" y="256769"/>
                    </a:lnTo>
                    <a:moveTo>
                      <a:pt x="1754419" y="237573"/>
                    </a:moveTo>
                    <a:lnTo>
                      <a:pt x="1520695" y="243884"/>
                    </a:lnTo>
                    <a:moveTo>
                      <a:pt x="1092471" y="293024"/>
                    </a:moveTo>
                    <a:lnTo>
                      <a:pt x="1323689" y="259967"/>
                    </a:lnTo>
                    <a:moveTo>
                      <a:pt x="899016" y="333783"/>
                    </a:moveTo>
                    <a:lnTo>
                      <a:pt x="674306" y="397733"/>
                    </a:lnTo>
                    <a:moveTo>
                      <a:pt x="488578" y="465249"/>
                    </a:moveTo>
                    <a:lnTo>
                      <a:pt x="275171" y="560441"/>
                    </a:lnTo>
                    <a:moveTo>
                      <a:pt x="100607" y="653043"/>
                    </a:moveTo>
                    <a:lnTo>
                      <a:pt x="0" y="712794"/>
                    </a:lnTo>
                    <a:moveTo>
                      <a:pt x="7796463" y="568116"/>
                    </a:moveTo>
                    <a:lnTo>
                      <a:pt x="7680376" y="601433"/>
                    </a:lnTo>
                    <a:moveTo>
                      <a:pt x="6861889" y="253099"/>
                    </a:moveTo>
                    <a:cubicBezTo>
                      <a:pt x="6393202" y="330192"/>
                      <a:pt x="5925870" y="366657"/>
                      <a:pt x="5473741" y="373566"/>
                    </a:cubicBezTo>
                    <a:moveTo>
                      <a:pt x="5355512" y="374709"/>
                    </a:moveTo>
                    <a:cubicBezTo>
                      <a:pt x="4857186" y="376734"/>
                      <a:pt x="4379045" y="343603"/>
                      <a:pt x="3939970" y="290418"/>
                    </a:cubicBezTo>
                    <a:moveTo>
                      <a:pt x="2435117" y="58061"/>
                    </a:moveTo>
                    <a:cubicBezTo>
                      <a:pt x="2646713" y="80112"/>
                      <a:pt x="2873677" y="114220"/>
                      <a:pt x="3118585" y="161603"/>
                    </a:cubicBezTo>
                    <a:cubicBezTo>
                      <a:pt x="3344767" y="205362"/>
                      <a:pt x="3589401" y="245560"/>
                      <a:pt x="3848457" y="278974"/>
                    </a:cubicBezTo>
                    <a:moveTo>
                      <a:pt x="941769" y="134979"/>
                    </a:moveTo>
                    <a:cubicBezTo>
                      <a:pt x="1328359" y="36920"/>
                      <a:pt x="1772045" y="0"/>
                      <a:pt x="2321698" y="47265"/>
                    </a:cubicBezTo>
                    <a:moveTo>
                      <a:pt x="0" y="532146"/>
                    </a:moveTo>
                    <a:cubicBezTo>
                      <a:pt x="255704" y="382276"/>
                      <a:pt x="519573" y="257647"/>
                      <a:pt x="815769" y="169656"/>
                    </a:cubicBezTo>
                    <a:moveTo>
                      <a:pt x="7796463" y="41607"/>
                    </a:moveTo>
                    <a:cubicBezTo>
                      <a:pt x="7538833" y="117147"/>
                      <a:pt x="7278780" y="177909"/>
                      <a:pt x="7018670" y="225785"/>
                    </a:cubicBezTo>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5" name="Group 4"/>
            <p:cNvGrpSpPr/>
            <p:nvPr/>
          </p:nvGrpSpPr>
          <p:grpSpPr>
            <a:xfrm>
              <a:off x="1957470" y="3934873"/>
              <a:ext cx="998449" cy="1633386"/>
              <a:chOff x="649705" y="2382252"/>
              <a:chExt cx="866273" cy="1082842"/>
            </a:xfrm>
          </p:grpSpPr>
          <p:sp>
            <p:nvSpPr>
              <p:cNvPr id="34" name="Rounded Rectangle 4"/>
              <p:cNvSpPr/>
              <p:nvPr/>
            </p:nvSpPr>
            <p:spPr>
              <a:xfrm>
                <a:off x="649705" y="2382252"/>
                <a:ext cx="866273" cy="1082842"/>
              </a:xfrm>
              <a:custGeom>
                <a:avLst/>
                <a:gdLst/>
                <a:ahLst/>
                <a:cxnLst/>
                <a:rect l="0" t="0" r="0" b="0"/>
                <a:pathLst>
                  <a:path w="866273" h="1082842">
                    <a:moveTo>
                      <a:pt x="433136" y="0"/>
                    </a:moveTo>
                    <a:cubicBezTo>
                      <a:pt x="672343" y="0"/>
                      <a:pt x="866273" y="194240"/>
                      <a:pt x="866273" y="433830"/>
                    </a:cubicBezTo>
                    <a:cubicBezTo>
                      <a:pt x="866273" y="625005"/>
                      <a:pt x="740086" y="751511"/>
                      <a:pt x="600096" y="866273"/>
                    </a:cubicBezTo>
                    <a:cubicBezTo>
                      <a:pt x="546676" y="910119"/>
                      <a:pt x="433136" y="1082842"/>
                      <a:pt x="433136" y="1082842"/>
                    </a:cubicBezTo>
                    <a:cubicBezTo>
                      <a:pt x="433136" y="1082842"/>
                      <a:pt x="319597" y="910065"/>
                      <a:pt x="266177" y="866273"/>
                    </a:cubicBezTo>
                    <a:cubicBezTo>
                      <a:pt x="126129" y="751569"/>
                      <a:pt x="0" y="625063"/>
                      <a:pt x="0" y="433830"/>
                    </a:cubicBezTo>
                    <a:cubicBezTo>
                      <a:pt x="0" y="194240"/>
                      <a:pt x="193929" y="0"/>
                      <a:pt x="433136" y="0"/>
                    </a:cubicBezTo>
                    <a:close/>
                    <a:moveTo>
                      <a:pt x="433136" y="794084"/>
                    </a:moveTo>
                    <a:cubicBezTo>
                      <a:pt x="632482" y="794084"/>
                      <a:pt x="794084" y="632482"/>
                      <a:pt x="794084" y="433136"/>
                    </a:cubicBezTo>
                    <a:cubicBezTo>
                      <a:pt x="794084" y="233791"/>
                      <a:pt x="632482" y="72189"/>
                      <a:pt x="433136" y="72189"/>
                    </a:cubicBezTo>
                    <a:cubicBezTo>
                      <a:pt x="233791" y="72189"/>
                      <a:pt x="72189" y="233791"/>
                      <a:pt x="72189" y="433136"/>
                    </a:cubicBezTo>
                    <a:cubicBezTo>
                      <a:pt x="72189" y="632482"/>
                      <a:pt x="233791" y="794084"/>
                      <a:pt x="433136" y="794084"/>
                    </a:cubicBezTo>
                    <a:close/>
                  </a:path>
                </a:pathLst>
              </a:custGeom>
              <a:solidFill>
                <a:srgbClr val="4E88E7"/>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5" name="Rounded Rectangle 5"/>
              <p:cNvSpPr/>
              <p:nvPr/>
            </p:nvSpPr>
            <p:spPr>
              <a:xfrm>
                <a:off x="649705" y="2382252"/>
                <a:ext cx="866273" cy="1082842"/>
              </a:xfrm>
              <a:custGeom>
                <a:avLst/>
                <a:gdLst/>
                <a:ahLst/>
                <a:cxnLst/>
                <a:rect l="0" t="0" r="0" b="0"/>
                <a:pathLst>
                  <a:path w="866273" h="1082842">
                    <a:moveTo>
                      <a:pt x="433136" y="0"/>
                    </a:moveTo>
                    <a:cubicBezTo>
                      <a:pt x="672343" y="0"/>
                      <a:pt x="866273" y="194240"/>
                      <a:pt x="866273" y="433830"/>
                    </a:cubicBezTo>
                    <a:cubicBezTo>
                      <a:pt x="866273" y="625005"/>
                      <a:pt x="740086" y="751511"/>
                      <a:pt x="600096" y="866273"/>
                    </a:cubicBezTo>
                    <a:cubicBezTo>
                      <a:pt x="546676" y="910119"/>
                      <a:pt x="433136" y="1082842"/>
                      <a:pt x="433136" y="1082842"/>
                    </a:cubicBezTo>
                    <a:cubicBezTo>
                      <a:pt x="433136" y="1082842"/>
                      <a:pt x="319597" y="910062"/>
                      <a:pt x="266177" y="866273"/>
                    </a:cubicBezTo>
                    <a:cubicBezTo>
                      <a:pt x="126129" y="751569"/>
                      <a:pt x="0" y="625063"/>
                      <a:pt x="0" y="433830"/>
                    </a:cubicBezTo>
                    <a:cubicBezTo>
                      <a:pt x="0" y="194240"/>
                      <a:pt x="193929" y="0"/>
                      <a:pt x="433136" y="0"/>
                    </a:cubicBezTo>
                    <a:close/>
                    <a:moveTo>
                      <a:pt x="433136" y="794084"/>
                    </a:moveTo>
                    <a:cubicBezTo>
                      <a:pt x="632482" y="794084"/>
                      <a:pt x="794084" y="632482"/>
                      <a:pt x="794084" y="433136"/>
                    </a:cubicBezTo>
                    <a:cubicBezTo>
                      <a:pt x="794084" y="233791"/>
                      <a:pt x="632482" y="72189"/>
                      <a:pt x="433136" y="72189"/>
                    </a:cubicBezTo>
                    <a:cubicBezTo>
                      <a:pt x="233791" y="72189"/>
                      <a:pt x="72189" y="233791"/>
                      <a:pt x="72189" y="433136"/>
                    </a:cubicBezTo>
                    <a:cubicBezTo>
                      <a:pt x="72189" y="632482"/>
                      <a:pt x="233791" y="794084"/>
                      <a:pt x="433136" y="794084"/>
                    </a:cubicBezTo>
                    <a:close/>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6" name="Group 5"/>
            <p:cNvGrpSpPr/>
            <p:nvPr/>
          </p:nvGrpSpPr>
          <p:grpSpPr>
            <a:xfrm>
              <a:off x="3851048" y="3732730"/>
              <a:ext cx="998449" cy="1633386"/>
              <a:chOff x="2165684" y="2273968"/>
              <a:chExt cx="866273" cy="1082842"/>
            </a:xfrm>
          </p:grpSpPr>
          <p:sp>
            <p:nvSpPr>
              <p:cNvPr id="32" name="Rounded Rectangle 7"/>
              <p:cNvSpPr/>
              <p:nvPr/>
            </p:nvSpPr>
            <p:spPr>
              <a:xfrm>
                <a:off x="2165684" y="2273968"/>
                <a:ext cx="866273" cy="1082842"/>
              </a:xfrm>
              <a:custGeom>
                <a:avLst/>
                <a:gdLst/>
                <a:ahLst/>
                <a:cxnLst/>
                <a:rect l="0" t="0" r="0" b="0"/>
                <a:pathLst>
                  <a:path w="866273" h="1082842">
                    <a:moveTo>
                      <a:pt x="433136" y="0"/>
                    </a:moveTo>
                    <a:cubicBezTo>
                      <a:pt x="672343" y="0"/>
                      <a:pt x="866273" y="194240"/>
                      <a:pt x="866273" y="433830"/>
                    </a:cubicBezTo>
                    <a:cubicBezTo>
                      <a:pt x="866273" y="625005"/>
                      <a:pt x="740086" y="751511"/>
                      <a:pt x="600096" y="866273"/>
                    </a:cubicBezTo>
                    <a:cubicBezTo>
                      <a:pt x="546676" y="910119"/>
                      <a:pt x="433136" y="1082842"/>
                      <a:pt x="433136" y="1082842"/>
                    </a:cubicBezTo>
                    <a:cubicBezTo>
                      <a:pt x="433136" y="1082842"/>
                      <a:pt x="319597" y="910065"/>
                      <a:pt x="266177" y="866273"/>
                    </a:cubicBezTo>
                    <a:cubicBezTo>
                      <a:pt x="126129" y="751569"/>
                      <a:pt x="0" y="625063"/>
                      <a:pt x="0" y="433830"/>
                    </a:cubicBezTo>
                    <a:cubicBezTo>
                      <a:pt x="0" y="194240"/>
                      <a:pt x="193929" y="0"/>
                      <a:pt x="433136" y="0"/>
                    </a:cubicBezTo>
                    <a:close/>
                    <a:moveTo>
                      <a:pt x="433136" y="794084"/>
                    </a:moveTo>
                    <a:cubicBezTo>
                      <a:pt x="632482" y="794084"/>
                      <a:pt x="794084" y="632482"/>
                      <a:pt x="794084" y="433136"/>
                    </a:cubicBezTo>
                    <a:cubicBezTo>
                      <a:pt x="794084" y="233791"/>
                      <a:pt x="632482" y="72189"/>
                      <a:pt x="433136" y="72189"/>
                    </a:cubicBezTo>
                    <a:cubicBezTo>
                      <a:pt x="233791" y="72189"/>
                      <a:pt x="72189" y="233791"/>
                      <a:pt x="72189" y="433136"/>
                    </a:cubicBezTo>
                    <a:cubicBezTo>
                      <a:pt x="72189" y="632482"/>
                      <a:pt x="233791" y="794084"/>
                      <a:pt x="433136" y="794084"/>
                    </a:cubicBezTo>
                    <a:close/>
                  </a:path>
                </a:pathLst>
              </a:custGeom>
              <a:solidFill>
                <a:srgbClr val="1EABDA"/>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3" name="Rounded Rectangle 8"/>
              <p:cNvSpPr/>
              <p:nvPr/>
            </p:nvSpPr>
            <p:spPr>
              <a:xfrm>
                <a:off x="2165684" y="2273968"/>
                <a:ext cx="866273" cy="1082842"/>
              </a:xfrm>
              <a:custGeom>
                <a:avLst/>
                <a:gdLst/>
                <a:ahLst/>
                <a:cxnLst/>
                <a:rect l="0" t="0" r="0" b="0"/>
                <a:pathLst>
                  <a:path w="866273" h="1082842">
                    <a:moveTo>
                      <a:pt x="433136" y="0"/>
                    </a:moveTo>
                    <a:cubicBezTo>
                      <a:pt x="672343" y="0"/>
                      <a:pt x="866273" y="194240"/>
                      <a:pt x="866273" y="433830"/>
                    </a:cubicBezTo>
                    <a:cubicBezTo>
                      <a:pt x="866273" y="625005"/>
                      <a:pt x="740086" y="751511"/>
                      <a:pt x="600096" y="866273"/>
                    </a:cubicBezTo>
                    <a:cubicBezTo>
                      <a:pt x="546676" y="910119"/>
                      <a:pt x="433136" y="1082842"/>
                      <a:pt x="433136" y="1082842"/>
                    </a:cubicBezTo>
                    <a:cubicBezTo>
                      <a:pt x="433136" y="1082842"/>
                      <a:pt x="319597" y="910062"/>
                      <a:pt x="266177" y="866273"/>
                    </a:cubicBezTo>
                    <a:cubicBezTo>
                      <a:pt x="126129" y="751569"/>
                      <a:pt x="0" y="625063"/>
                      <a:pt x="0" y="433830"/>
                    </a:cubicBezTo>
                    <a:cubicBezTo>
                      <a:pt x="0" y="194240"/>
                      <a:pt x="193929" y="0"/>
                      <a:pt x="433136" y="0"/>
                    </a:cubicBezTo>
                    <a:close/>
                    <a:moveTo>
                      <a:pt x="433136" y="794084"/>
                    </a:moveTo>
                    <a:cubicBezTo>
                      <a:pt x="632482" y="794084"/>
                      <a:pt x="794084" y="632482"/>
                      <a:pt x="794084" y="433136"/>
                    </a:cubicBezTo>
                    <a:cubicBezTo>
                      <a:pt x="794084" y="233791"/>
                      <a:pt x="632482" y="72189"/>
                      <a:pt x="433136" y="72189"/>
                    </a:cubicBezTo>
                    <a:cubicBezTo>
                      <a:pt x="233791" y="72189"/>
                      <a:pt x="72189" y="233791"/>
                      <a:pt x="72189" y="433136"/>
                    </a:cubicBezTo>
                    <a:cubicBezTo>
                      <a:pt x="72189" y="632482"/>
                      <a:pt x="233791" y="794084"/>
                      <a:pt x="433136" y="794084"/>
                    </a:cubicBezTo>
                    <a:close/>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7" name="Group 6"/>
            <p:cNvGrpSpPr/>
            <p:nvPr/>
          </p:nvGrpSpPr>
          <p:grpSpPr>
            <a:xfrm>
              <a:off x="5657041" y="4121402"/>
              <a:ext cx="998449" cy="1633386"/>
              <a:chOff x="3681663" y="2490536"/>
              <a:chExt cx="866273" cy="1082842"/>
            </a:xfrm>
          </p:grpSpPr>
          <p:sp>
            <p:nvSpPr>
              <p:cNvPr id="30" name="Rounded Rectangle 10"/>
              <p:cNvSpPr/>
              <p:nvPr/>
            </p:nvSpPr>
            <p:spPr>
              <a:xfrm>
                <a:off x="3681663" y="2490536"/>
                <a:ext cx="866273" cy="1082842"/>
              </a:xfrm>
              <a:custGeom>
                <a:avLst/>
                <a:gdLst/>
                <a:ahLst/>
                <a:cxnLst/>
                <a:rect l="0" t="0" r="0" b="0"/>
                <a:pathLst>
                  <a:path w="866273" h="1082842">
                    <a:moveTo>
                      <a:pt x="433136" y="0"/>
                    </a:moveTo>
                    <a:cubicBezTo>
                      <a:pt x="672343" y="0"/>
                      <a:pt x="866273" y="194240"/>
                      <a:pt x="866273" y="433830"/>
                    </a:cubicBezTo>
                    <a:cubicBezTo>
                      <a:pt x="866273" y="625005"/>
                      <a:pt x="740086" y="751511"/>
                      <a:pt x="600096" y="866273"/>
                    </a:cubicBezTo>
                    <a:cubicBezTo>
                      <a:pt x="546676" y="910119"/>
                      <a:pt x="433136" y="1082842"/>
                      <a:pt x="433136" y="1082842"/>
                    </a:cubicBezTo>
                    <a:cubicBezTo>
                      <a:pt x="433136" y="1082842"/>
                      <a:pt x="319597" y="910065"/>
                      <a:pt x="266177" y="866273"/>
                    </a:cubicBezTo>
                    <a:cubicBezTo>
                      <a:pt x="126129" y="751569"/>
                      <a:pt x="0" y="625063"/>
                      <a:pt x="0" y="433830"/>
                    </a:cubicBezTo>
                    <a:cubicBezTo>
                      <a:pt x="0" y="194240"/>
                      <a:pt x="193929" y="0"/>
                      <a:pt x="433136" y="0"/>
                    </a:cubicBezTo>
                    <a:close/>
                    <a:moveTo>
                      <a:pt x="433136" y="794084"/>
                    </a:moveTo>
                    <a:cubicBezTo>
                      <a:pt x="632482" y="794084"/>
                      <a:pt x="794084" y="632482"/>
                      <a:pt x="794084" y="433136"/>
                    </a:cubicBezTo>
                    <a:cubicBezTo>
                      <a:pt x="794084" y="233791"/>
                      <a:pt x="632482" y="72189"/>
                      <a:pt x="433136" y="72189"/>
                    </a:cubicBezTo>
                    <a:cubicBezTo>
                      <a:pt x="233791" y="72189"/>
                      <a:pt x="72189" y="233791"/>
                      <a:pt x="72189" y="433136"/>
                    </a:cubicBezTo>
                    <a:cubicBezTo>
                      <a:pt x="72189" y="632482"/>
                      <a:pt x="233791" y="794084"/>
                      <a:pt x="433136" y="794084"/>
                    </a:cubicBezTo>
                    <a:close/>
                  </a:path>
                </a:pathLst>
              </a:custGeom>
              <a:solidFill>
                <a:srgbClr val="3CC58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1" name="Rounded Rectangle 11"/>
              <p:cNvSpPr/>
              <p:nvPr/>
            </p:nvSpPr>
            <p:spPr>
              <a:xfrm>
                <a:off x="3681663" y="2490536"/>
                <a:ext cx="866273" cy="1082842"/>
              </a:xfrm>
              <a:custGeom>
                <a:avLst/>
                <a:gdLst/>
                <a:ahLst/>
                <a:cxnLst/>
                <a:rect l="0" t="0" r="0" b="0"/>
                <a:pathLst>
                  <a:path w="866273" h="1082842">
                    <a:moveTo>
                      <a:pt x="433136" y="0"/>
                    </a:moveTo>
                    <a:cubicBezTo>
                      <a:pt x="672343" y="0"/>
                      <a:pt x="866273" y="194240"/>
                      <a:pt x="866273" y="433830"/>
                    </a:cubicBezTo>
                    <a:cubicBezTo>
                      <a:pt x="866273" y="625005"/>
                      <a:pt x="740086" y="751511"/>
                      <a:pt x="600096" y="866273"/>
                    </a:cubicBezTo>
                    <a:cubicBezTo>
                      <a:pt x="546676" y="910119"/>
                      <a:pt x="433136" y="1082842"/>
                      <a:pt x="433136" y="1082842"/>
                    </a:cubicBezTo>
                    <a:cubicBezTo>
                      <a:pt x="433136" y="1082842"/>
                      <a:pt x="319597" y="910062"/>
                      <a:pt x="266177" y="866273"/>
                    </a:cubicBezTo>
                    <a:cubicBezTo>
                      <a:pt x="126129" y="751569"/>
                      <a:pt x="0" y="625063"/>
                      <a:pt x="0" y="433830"/>
                    </a:cubicBezTo>
                    <a:cubicBezTo>
                      <a:pt x="0" y="194240"/>
                      <a:pt x="193929" y="0"/>
                      <a:pt x="433136" y="0"/>
                    </a:cubicBezTo>
                    <a:close/>
                    <a:moveTo>
                      <a:pt x="433136" y="794084"/>
                    </a:moveTo>
                    <a:cubicBezTo>
                      <a:pt x="632482" y="794084"/>
                      <a:pt x="794084" y="632482"/>
                      <a:pt x="794084" y="433136"/>
                    </a:cubicBezTo>
                    <a:cubicBezTo>
                      <a:pt x="794084" y="233791"/>
                      <a:pt x="632482" y="72189"/>
                      <a:pt x="433136" y="72189"/>
                    </a:cubicBezTo>
                    <a:cubicBezTo>
                      <a:pt x="233791" y="72189"/>
                      <a:pt x="72189" y="233791"/>
                      <a:pt x="72189" y="433136"/>
                    </a:cubicBezTo>
                    <a:cubicBezTo>
                      <a:pt x="72189" y="632482"/>
                      <a:pt x="233791" y="794084"/>
                      <a:pt x="433136" y="794084"/>
                    </a:cubicBezTo>
                    <a:close/>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8" name="Group 7"/>
            <p:cNvGrpSpPr/>
            <p:nvPr/>
          </p:nvGrpSpPr>
          <p:grpSpPr>
            <a:xfrm>
              <a:off x="7432737" y="4443767"/>
              <a:ext cx="998449" cy="1633386"/>
              <a:chOff x="5197642" y="2598821"/>
              <a:chExt cx="866273" cy="1082842"/>
            </a:xfrm>
          </p:grpSpPr>
          <p:sp>
            <p:nvSpPr>
              <p:cNvPr id="28" name="Rounded Rectangle 13"/>
              <p:cNvSpPr/>
              <p:nvPr/>
            </p:nvSpPr>
            <p:spPr>
              <a:xfrm>
                <a:off x="5197642" y="2598821"/>
                <a:ext cx="866273" cy="1082842"/>
              </a:xfrm>
              <a:custGeom>
                <a:avLst/>
                <a:gdLst/>
                <a:ahLst/>
                <a:cxnLst/>
                <a:rect l="0" t="0" r="0" b="0"/>
                <a:pathLst>
                  <a:path w="866273" h="1082842">
                    <a:moveTo>
                      <a:pt x="433136" y="0"/>
                    </a:moveTo>
                    <a:cubicBezTo>
                      <a:pt x="672343" y="0"/>
                      <a:pt x="866273" y="194240"/>
                      <a:pt x="866273" y="433830"/>
                    </a:cubicBezTo>
                    <a:cubicBezTo>
                      <a:pt x="866273" y="625005"/>
                      <a:pt x="740086" y="751511"/>
                      <a:pt x="600096" y="866273"/>
                    </a:cubicBezTo>
                    <a:cubicBezTo>
                      <a:pt x="546676" y="910119"/>
                      <a:pt x="433136" y="1082842"/>
                      <a:pt x="433136" y="1082842"/>
                    </a:cubicBezTo>
                    <a:cubicBezTo>
                      <a:pt x="433136" y="1082842"/>
                      <a:pt x="319597" y="910065"/>
                      <a:pt x="266177" y="866273"/>
                    </a:cubicBezTo>
                    <a:cubicBezTo>
                      <a:pt x="126129" y="751569"/>
                      <a:pt x="0" y="625063"/>
                      <a:pt x="0" y="433830"/>
                    </a:cubicBezTo>
                    <a:cubicBezTo>
                      <a:pt x="0" y="194240"/>
                      <a:pt x="193929" y="0"/>
                      <a:pt x="433136" y="0"/>
                    </a:cubicBezTo>
                    <a:close/>
                    <a:moveTo>
                      <a:pt x="433136" y="794084"/>
                    </a:moveTo>
                    <a:cubicBezTo>
                      <a:pt x="632482" y="794084"/>
                      <a:pt x="794084" y="632482"/>
                      <a:pt x="794084" y="433136"/>
                    </a:cubicBezTo>
                    <a:cubicBezTo>
                      <a:pt x="794084" y="233791"/>
                      <a:pt x="632482" y="72189"/>
                      <a:pt x="433136" y="72189"/>
                    </a:cubicBezTo>
                    <a:cubicBezTo>
                      <a:pt x="233791" y="72189"/>
                      <a:pt x="72189" y="233791"/>
                      <a:pt x="72189" y="433136"/>
                    </a:cubicBezTo>
                    <a:cubicBezTo>
                      <a:pt x="72189" y="632482"/>
                      <a:pt x="233791" y="794084"/>
                      <a:pt x="433136" y="794084"/>
                    </a:cubicBezTo>
                    <a:close/>
                  </a:path>
                </a:pathLst>
              </a:custGeom>
              <a:solidFill>
                <a:srgbClr val="92BD39"/>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9" name="Rounded Rectangle 14"/>
              <p:cNvSpPr/>
              <p:nvPr/>
            </p:nvSpPr>
            <p:spPr>
              <a:xfrm>
                <a:off x="5197642" y="2598821"/>
                <a:ext cx="866273" cy="1082842"/>
              </a:xfrm>
              <a:custGeom>
                <a:avLst/>
                <a:gdLst/>
                <a:ahLst/>
                <a:cxnLst/>
                <a:rect l="0" t="0" r="0" b="0"/>
                <a:pathLst>
                  <a:path w="866273" h="1082842">
                    <a:moveTo>
                      <a:pt x="433136" y="0"/>
                    </a:moveTo>
                    <a:cubicBezTo>
                      <a:pt x="672343" y="0"/>
                      <a:pt x="866273" y="194240"/>
                      <a:pt x="866273" y="433830"/>
                    </a:cubicBezTo>
                    <a:cubicBezTo>
                      <a:pt x="866273" y="625005"/>
                      <a:pt x="740086" y="751511"/>
                      <a:pt x="600096" y="866273"/>
                    </a:cubicBezTo>
                    <a:cubicBezTo>
                      <a:pt x="546676" y="910119"/>
                      <a:pt x="433136" y="1082842"/>
                      <a:pt x="433136" y="1082842"/>
                    </a:cubicBezTo>
                    <a:cubicBezTo>
                      <a:pt x="433136" y="1082842"/>
                      <a:pt x="319597" y="910062"/>
                      <a:pt x="266177" y="866273"/>
                    </a:cubicBezTo>
                    <a:cubicBezTo>
                      <a:pt x="126129" y="751569"/>
                      <a:pt x="0" y="625063"/>
                      <a:pt x="0" y="433830"/>
                    </a:cubicBezTo>
                    <a:cubicBezTo>
                      <a:pt x="0" y="194240"/>
                      <a:pt x="193929" y="0"/>
                      <a:pt x="433136" y="0"/>
                    </a:cubicBezTo>
                    <a:close/>
                    <a:moveTo>
                      <a:pt x="433136" y="794084"/>
                    </a:moveTo>
                    <a:cubicBezTo>
                      <a:pt x="632482" y="794084"/>
                      <a:pt x="794084" y="632482"/>
                      <a:pt x="794084" y="433136"/>
                    </a:cubicBezTo>
                    <a:cubicBezTo>
                      <a:pt x="794084" y="233791"/>
                      <a:pt x="632482" y="72189"/>
                      <a:pt x="433136" y="72189"/>
                    </a:cubicBezTo>
                    <a:cubicBezTo>
                      <a:pt x="233791" y="72189"/>
                      <a:pt x="72189" y="233791"/>
                      <a:pt x="72189" y="433136"/>
                    </a:cubicBezTo>
                    <a:cubicBezTo>
                      <a:pt x="72189" y="632482"/>
                      <a:pt x="233791" y="794084"/>
                      <a:pt x="433136" y="794084"/>
                    </a:cubicBezTo>
                    <a:close/>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9" name="Group 8"/>
            <p:cNvGrpSpPr/>
            <p:nvPr/>
          </p:nvGrpSpPr>
          <p:grpSpPr>
            <a:xfrm>
              <a:off x="9335796" y="4394232"/>
              <a:ext cx="998449" cy="1633386"/>
              <a:chOff x="6713621" y="2490536"/>
              <a:chExt cx="866273" cy="1082842"/>
            </a:xfrm>
          </p:grpSpPr>
          <p:sp>
            <p:nvSpPr>
              <p:cNvPr id="26" name="Rounded Rectangle 16"/>
              <p:cNvSpPr/>
              <p:nvPr/>
            </p:nvSpPr>
            <p:spPr>
              <a:xfrm>
                <a:off x="6713621" y="2490536"/>
                <a:ext cx="866273" cy="1082842"/>
              </a:xfrm>
              <a:custGeom>
                <a:avLst/>
                <a:gdLst/>
                <a:ahLst/>
                <a:cxnLst/>
                <a:rect l="0" t="0" r="0" b="0"/>
                <a:pathLst>
                  <a:path w="866273" h="1082842">
                    <a:moveTo>
                      <a:pt x="433136" y="0"/>
                    </a:moveTo>
                    <a:cubicBezTo>
                      <a:pt x="672343" y="0"/>
                      <a:pt x="866273" y="194240"/>
                      <a:pt x="866273" y="433830"/>
                    </a:cubicBezTo>
                    <a:cubicBezTo>
                      <a:pt x="866273" y="625005"/>
                      <a:pt x="740086" y="751511"/>
                      <a:pt x="600096" y="866273"/>
                    </a:cubicBezTo>
                    <a:cubicBezTo>
                      <a:pt x="546676" y="910119"/>
                      <a:pt x="433136" y="1082842"/>
                      <a:pt x="433136" y="1082842"/>
                    </a:cubicBezTo>
                    <a:cubicBezTo>
                      <a:pt x="433136" y="1082842"/>
                      <a:pt x="319597" y="910065"/>
                      <a:pt x="266177" y="866273"/>
                    </a:cubicBezTo>
                    <a:cubicBezTo>
                      <a:pt x="126129" y="751569"/>
                      <a:pt x="0" y="625063"/>
                      <a:pt x="0" y="433830"/>
                    </a:cubicBezTo>
                    <a:cubicBezTo>
                      <a:pt x="0" y="194240"/>
                      <a:pt x="193929" y="0"/>
                      <a:pt x="433136" y="0"/>
                    </a:cubicBezTo>
                    <a:close/>
                    <a:moveTo>
                      <a:pt x="433136" y="794084"/>
                    </a:moveTo>
                    <a:cubicBezTo>
                      <a:pt x="632482" y="794084"/>
                      <a:pt x="794084" y="632482"/>
                      <a:pt x="794084" y="433136"/>
                    </a:cubicBezTo>
                    <a:cubicBezTo>
                      <a:pt x="794084" y="233791"/>
                      <a:pt x="632482" y="72189"/>
                      <a:pt x="433136" y="72189"/>
                    </a:cubicBezTo>
                    <a:cubicBezTo>
                      <a:pt x="233791" y="72189"/>
                      <a:pt x="72189" y="233791"/>
                      <a:pt x="72189" y="433136"/>
                    </a:cubicBezTo>
                    <a:cubicBezTo>
                      <a:pt x="72189" y="632482"/>
                      <a:pt x="233791" y="794084"/>
                      <a:pt x="433136" y="794084"/>
                    </a:cubicBez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7" name="Rounded Rectangle 17"/>
              <p:cNvSpPr/>
              <p:nvPr/>
            </p:nvSpPr>
            <p:spPr>
              <a:xfrm>
                <a:off x="6713621" y="2490536"/>
                <a:ext cx="866273" cy="1082842"/>
              </a:xfrm>
              <a:custGeom>
                <a:avLst/>
                <a:gdLst/>
                <a:ahLst/>
                <a:cxnLst/>
                <a:rect l="0" t="0" r="0" b="0"/>
                <a:pathLst>
                  <a:path w="866273" h="1082842">
                    <a:moveTo>
                      <a:pt x="433136" y="0"/>
                    </a:moveTo>
                    <a:cubicBezTo>
                      <a:pt x="672343" y="0"/>
                      <a:pt x="866273" y="194240"/>
                      <a:pt x="866273" y="433830"/>
                    </a:cubicBezTo>
                    <a:cubicBezTo>
                      <a:pt x="866273" y="625005"/>
                      <a:pt x="740086" y="751511"/>
                      <a:pt x="600096" y="866273"/>
                    </a:cubicBezTo>
                    <a:cubicBezTo>
                      <a:pt x="546676" y="910119"/>
                      <a:pt x="433136" y="1082842"/>
                      <a:pt x="433136" y="1082842"/>
                    </a:cubicBezTo>
                    <a:cubicBezTo>
                      <a:pt x="433136" y="1082842"/>
                      <a:pt x="319597" y="910062"/>
                      <a:pt x="266177" y="866273"/>
                    </a:cubicBezTo>
                    <a:cubicBezTo>
                      <a:pt x="126129" y="751569"/>
                      <a:pt x="0" y="625063"/>
                      <a:pt x="0" y="433830"/>
                    </a:cubicBezTo>
                    <a:cubicBezTo>
                      <a:pt x="0" y="194240"/>
                      <a:pt x="193929" y="0"/>
                      <a:pt x="433136" y="0"/>
                    </a:cubicBezTo>
                    <a:close/>
                    <a:moveTo>
                      <a:pt x="433136" y="794084"/>
                    </a:moveTo>
                    <a:cubicBezTo>
                      <a:pt x="632482" y="794084"/>
                      <a:pt x="794084" y="632482"/>
                      <a:pt x="794084" y="433136"/>
                    </a:cubicBezTo>
                    <a:cubicBezTo>
                      <a:pt x="794084" y="233791"/>
                      <a:pt x="632482" y="72189"/>
                      <a:pt x="433136" y="72189"/>
                    </a:cubicBezTo>
                    <a:cubicBezTo>
                      <a:pt x="233791" y="72189"/>
                      <a:pt x="72189" y="233791"/>
                      <a:pt x="72189" y="433136"/>
                    </a:cubicBezTo>
                    <a:cubicBezTo>
                      <a:pt x="72189" y="632482"/>
                      <a:pt x="233791" y="794084"/>
                      <a:pt x="433136" y="794084"/>
                    </a:cubicBezTo>
                    <a:close/>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
          <p:nvSpPr>
            <p:cNvPr id="10" name="Rounded Rectangle 19"/>
            <p:cNvSpPr/>
            <p:nvPr/>
          </p:nvSpPr>
          <p:spPr>
            <a:xfrm>
              <a:off x="9600445" y="4713397"/>
              <a:ext cx="469150" cy="653353"/>
            </a:xfrm>
            <a:custGeom>
              <a:avLst/>
              <a:gdLst/>
              <a:ahLst/>
              <a:cxnLst/>
              <a:rect l="0" t="0" r="0" b="0"/>
              <a:pathLst>
                <a:path w="407044" h="433136">
                  <a:moveTo>
                    <a:pt x="366437" y="0"/>
                  </a:moveTo>
                  <a:cubicBezTo>
                    <a:pt x="388864" y="0"/>
                    <a:pt x="407044" y="18180"/>
                    <a:pt x="407044" y="40606"/>
                  </a:cubicBezTo>
                  <a:lnTo>
                    <a:pt x="407044" y="117307"/>
                  </a:lnTo>
                  <a:cubicBezTo>
                    <a:pt x="407044" y="134750"/>
                    <a:pt x="392904" y="148890"/>
                    <a:pt x="375461" y="148890"/>
                  </a:cubicBezTo>
                  <a:lnTo>
                    <a:pt x="352902" y="148890"/>
                  </a:lnTo>
                  <a:lnTo>
                    <a:pt x="352902" y="87259"/>
                  </a:lnTo>
                  <a:cubicBezTo>
                    <a:pt x="352902" y="79783"/>
                    <a:pt x="346842" y="73723"/>
                    <a:pt x="339366" y="73723"/>
                  </a:cubicBezTo>
                  <a:cubicBezTo>
                    <a:pt x="331891" y="73723"/>
                    <a:pt x="325831" y="79783"/>
                    <a:pt x="325831" y="87259"/>
                  </a:cubicBezTo>
                  <a:lnTo>
                    <a:pt x="325831" y="338388"/>
                  </a:lnTo>
                  <a:cubicBezTo>
                    <a:pt x="325831" y="390716"/>
                    <a:pt x="283410" y="433136"/>
                    <a:pt x="231082" y="433136"/>
                  </a:cubicBezTo>
                  <a:lnTo>
                    <a:pt x="14514" y="433136"/>
                  </a:lnTo>
                  <a:cubicBezTo>
                    <a:pt x="8068" y="433126"/>
                    <a:pt x="2524" y="428572"/>
                    <a:pt x="1262" y="422252"/>
                  </a:cubicBezTo>
                  <a:cubicBezTo>
                    <a:pt x="0" y="415931"/>
                    <a:pt x="3369" y="409597"/>
                    <a:pt x="9316" y="407112"/>
                  </a:cubicBezTo>
                  <a:cubicBezTo>
                    <a:pt x="22473" y="401626"/>
                    <a:pt x="33409" y="395887"/>
                    <a:pt x="41350" y="386394"/>
                  </a:cubicBezTo>
                  <a:cubicBezTo>
                    <a:pt x="49002" y="377244"/>
                    <a:pt x="55120" y="363076"/>
                    <a:pt x="55120" y="338388"/>
                  </a:cubicBezTo>
                  <a:lnTo>
                    <a:pt x="55120" y="67677"/>
                  </a:lnTo>
                  <a:cubicBezTo>
                    <a:pt x="55120" y="30300"/>
                    <a:pt x="85420" y="0"/>
                    <a:pt x="122798" y="0"/>
                  </a:cubicBezTo>
                  <a:close/>
                  <a:moveTo>
                    <a:pt x="127995" y="290309"/>
                  </a:moveTo>
                  <a:cubicBezTo>
                    <a:pt x="120520" y="290309"/>
                    <a:pt x="114460" y="296370"/>
                    <a:pt x="114460" y="303845"/>
                  </a:cubicBezTo>
                  <a:cubicBezTo>
                    <a:pt x="114460" y="311320"/>
                    <a:pt x="120520" y="317381"/>
                    <a:pt x="127995" y="317381"/>
                  </a:cubicBezTo>
                  <a:lnTo>
                    <a:pt x="250050" y="317381"/>
                  </a:lnTo>
                  <a:cubicBezTo>
                    <a:pt x="257525" y="317381"/>
                    <a:pt x="263585" y="311320"/>
                    <a:pt x="263585" y="303845"/>
                  </a:cubicBezTo>
                  <a:cubicBezTo>
                    <a:pt x="263585" y="296370"/>
                    <a:pt x="257525" y="290309"/>
                    <a:pt x="250050" y="290309"/>
                  </a:cubicBezTo>
                  <a:close/>
                  <a:moveTo>
                    <a:pt x="114460" y="360839"/>
                  </a:moveTo>
                  <a:cubicBezTo>
                    <a:pt x="114460" y="368314"/>
                    <a:pt x="120520" y="374374"/>
                    <a:pt x="127995" y="374374"/>
                  </a:cubicBezTo>
                  <a:lnTo>
                    <a:pt x="189014" y="374374"/>
                  </a:lnTo>
                  <a:cubicBezTo>
                    <a:pt x="196489" y="374374"/>
                    <a:pt x="202549" y="368314"/>
                    <a:pt x="202549" y="360839"/>
                  </a:cubicBezTo>
                  <a:cubicBezTo>
                    <a:pt x="202549" y="353363"/>
                    <a:pt x="196489" y="347303"/>
                    <a:pt x="189014" y="347303"/>
                  </a:cubicBezTo>
                  <a:lnTo>
                    <a:pt x="127995" y="347303"/>
                  </a:lnTo>
                  <a:cubicBezTo>
                    <a:pt x="120520" y="347303"/>
                    <a:pt x="114460" y="353363"/>
                    <a:pt x="114460" y="360839"/>
                  </a:cubicBezTo>
                  <a:close/>
                  <a:moveTo>
                    <a:pt x="127129" y="55279"/>
                  </a:moveTo>
                  <a:cubicBezTo>
                    <a:pt x="123398" y="55044"/>
                    <a:pt x="119736" y="56364"/>
                    <a:pt x="117012" y="58924"/>
                  </a:cubicBezTo>
                  <a:cubicBezTo>
                    <a:pt x="114287" y="61484"/>
                    <a:pt x="112743" y="65057"/>
                    <a:pt x="112746" y="68796"/>
                  </a:cubicBezTo>
                  <a:lnTo>
                    <a:pt x="112746" y="211767"/>
                  </a:lnTo>
                  <a:cubicBezTo>
                    <a:pt x="112746" y="219243"/>
                    <a:pt x="118806" y="225303"/>
                    <a:pt x="126281" y="225303"/>
                  </a:cubicBezTo>
                  <a:cubicBezTo>
                    <a:pt x="133757" y="225303"/>
                    <a:pt x="139817" y="219243"/>
                    <a:pt x="139817" y="211767"/>
                  </a:cubicBezTo>
                  <a:lnTo>
                    <a:pt x="139817" y="157373"/>
                  </a:lnTo>
                  <a:lnTo>
                    <a:pt x="155572" y="157373"/>
                  </a:lnTo>
                  <a:lnTo>
                    <a:pt x="200456" y="202256"/>
                  </a:lnTo>
                  <a:lnTo>
                    <a:pt x="171147" y="231547"/>
                  </a:lnTo>
                  <a:cubicBezTo>
                    <a:pt x="166015" y="236856"/>
                    <a:pt x="166084" y="245298"/>
                    <a:pt x="171303" y="250522"/>
                  </a:cubicBezTo>
                  <a:cubicBezTo>
                    <a:pt x="176521" y="255745"/>
                    <a:pt x="184964" y="255823"/>
                    <a:pt x="190277" y="250696"/>
                  </a:cubicBezTo>
                  <a:lnTo>
                    <a:pt x="219586" y="221387"/>
                  </a:lnTo>
                  <a:lnTo>
                    <a:pt x="248895" y="250696"/>
                  </a:lnTo>
                  <a:cubicBezTo>
                    <a:pt x="254228" y="255665"/>
                    <a:pt x="262539" y="255518"/>
                    <a:pt x="267693" y="250364"/>
                  </a:cubicBezTo>
                  <a:cubicBezTo>
                    <a:pt x="272848" y="245209"/>
                    <a:pt x="272995" y="236899"/>
                    <a:pt x="268025" y="231565"/>
                  </a:cubicBezTo>
                  <a:lnTo>
                    <a:pt x="238734" y="202257"/>
                  </a:lnTo>
                  <a:lnTo>
                    <a:pt x="268043" y="172930"/>
                  </a:lnTo>
                  <a:cubicBezTo>
                    <a:pt x="273013" y="167596"/>
                    <a:pt x="272866" y="159286"/>
                    <a:pt x="267712" y="154131"/>
                  </a:cubicBezTo>
                  <a:cubicBezTo>
                    <a:pt x="262557" y="148976"/>
                    <a:pt x="254246" y="148830"/>
                    <a:pt x="248913" y="153799"/>
                  </a:cubicBezTo>
                  <a:lnTo>
                    <a:pt x="219586" y="183108"/>
                  </a:lnTo>
                  <a:lnTo>
                    <a:pt x="190566" y="154088"/>
                  </a:lnTo>
                  <a:cubicBezTo>
                    <a:pt x="213607" y="145348"/>
                    <a:pt x="227120" y="121402"/>
                    <a:pt x="222693" y="97160"/>
                  </a:cubicBezTo>
                  <a:cubicBezTo>
                    <a:pt x="218267" y="72918"/>
                    <a:pt x="197161" y="55294"/>
                    <a:pt x="172518" y="55261"/>
                  </a:cubicBezTo>
                  <a:lnTo>
                    <a:pt x="127996" y="55261"/>
                  </a:lnTo>
                  <a:close/>
                  <a:moveTo>
                    <a:pt x="172518" y="82332"/>
                  </a:moveTo>
                  <a:cubicBezTo>
                    <a:pt x="181309" y="81990"/>
                    <a:pt x="189582" y="86486"/>
                    <a:pt x="194079" y="94047"/>
                  </a:cubicBezTo>
                  <a:cubicBezTo>
                    <a:pt x="198576" y="101609"/>
                    <a:pt x="198576" y="111024"/>
                    <a:pt x="194079" y="118586"/>
                  </a:cubicBezTo>
                  <a:cubicBezTo>
                    <a:pt x="189583" y="126147"/>
                    <a:pt x="181309" y="130643"/>
                    <a:pt x="172518" y="130301"/>
                  </a:cubicBezTo>
                  <a:lnTo>
                    <a:pt x="139817" y="130301"/>
                  </a:lnTo>
                  <a:lnTo>
                    <a:pt x="139817" y="82332"/>
                  </a:lnTo>
                  <a:close/>
                </a:path>
              </a:pathLst>
            </a:custGeom>
            <a:solidFill>
              <a:srgbClr val="FFFFFF"/>
            </a:solidFill>
            <a:ln>
              <a:solidFill>
                <a:schemeClr val="tx1"/>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1" name="Rounded Rectangle 20"/>
            <p:cNvSpPr/>
            <p:nvPr/>
          </p:nvSpPr>
          <p:spPr>
            <a:xfrm>
              <a:off x="7681802" y="4826241"/>
              <a:ext cx="500318" cy="645383"/>
            </a:xfrm>
            <a:custGeom>
              <a:avLst/>
              <a:gdLst/>
              <a:ahLst/>
              <a:cxnLst/>
              <a:rect l="0" t="0" r="0" b="0"/>
              <a:pathLst>
                <a:path w="434085" h="427852">
                  <a:moveTo>
                    <a:pt x="367669" y="168381"/>
                  </a:moveTo>
                  <a:lnTo>
                    <a:pt x="305225" y="269808"/>
                  </a:lnTo>
                  <a:cubicBezTo>
                    <a:pt x="301207" y="275874"/>
                    <a:pt x="293111" y="277679"/>
                    <a:pt x="286897" y="273892"/>
                  </a:cubicBezTo>
                  <a:cubicBezTo>
                    <a:pt x="280683" y="270105"/>
                    <a:pt x="278575" y="262083"/>
                    <a:pt x="282124" y="255731"/>
                  </a:cubicBezTo>
                  <a:lnTo>
                    <a:pt x="331935" y="174879"/>
                  </a:lnTo>
                  <a:lnTo>
                    <a:pt x="277793" y="174879"/>
                  </a:lnTo>
                  <a:cubicBezTo>
                    <a:pt x="270317" y="174879"/>
                    <a:pt x="264257" y="168819"/>
                    <a:pt x="264257" y="161343"/>
                  </a:cubicBezTo>
                  <a:cubicBezTo>
                    <a:pt x="264257" y="153868"/>
                    <a:pt x="270317" y="147808"/>
                    <a:pt x="277793" y="147808"/>
                  </a:cubicBezTo>
                  <a:lnTo>
                    <a:pt x="355757" y="147808"/>
                  </a:lnTo>
                  <a:cubicBezTo>
                    <a:pt x="360669" y="147796"/>
                    <a:pt x="365213" y="150412"/>
                    <a:pt x="367669" y="154666"/>
                  </a:cubicBezTo>
                  <a:cubicBezTo>
                    <a:pt x="370119" y="158909"/>
                    <a:pt x="370119" y="164138"/>
                    <a:pt x="367669" y="168382"/>
                  </a:cubicBezTo>
                  <a:close/>
                  <a:moveTo>
                    <a:pt x="210837" y="330988"/>
                  </a:moveTo>
                  <a:cubicBezTo>
                    <a:pt x="220019" y="340906"/>
                    <a:pt x="221678" y="355644"/>
                    <a:pt x="214933" y="367356"/>
                  </a:cubicBezTo>
                  <a:cubicBezTo>
                    <a:pt x="208187" y="379068"/>
                    <a:pt x="194606" y="385027"/>
                    <a:pt x="181420" y="382062"/>
                  </a:cubicBezTo>
                  <a:lnTo>
                    <a:pt x="156876" y="376468"/>
                  </a:lnTo>
                  <a:cubicBezTo>
                    <a:pt x="152896" y="375425"/>
                    <a:pt x="148811" y="377748"/>
                    <a:pt x="147671" y="381701"/>
                  </a:cubicBezTo>
                  <a:lnTo>
                    <a:pt x="140272" y="405885"/>
                  </a:lnTo>
                  <a:cubicBezTo>
                    <a:pt x="136413" y="418914"/>
                    <a:pt x="124443" y="427852"/>
                    <a:pt x="110855" y="427852"/>
                  </a:cubicBezTo>
                  <a:cubicBezTo>
                    <a:pt x="97266" y="427852"/>
                    <a:pt x="85297" y="418914"/>
                    <a:pt x="81438" y="405885"/>
                  </a:cubicBezTo>
                  <a:lnTo>
                    <a:pt x="74038" y="381701"/>
                  </a:lnTo>
                  <a:cubicBezTo>
                    <a:pt x="72899" y="377748"/>
                    <a:pt x="68814" y="375425"/>
                    <a:pt x="64834" y="376468"/>
                  </a:cubicBezTo>
                  <a:lnTo>
                    <a:pt x="40470" y="382062"/>
                  </a:lnTo>
                  <a:cubicBezTo>
                    <a:pt x="27264" y="385323"/>
                    <a:pt x="13510" y="379334"/>
                    <a:pt x="6902" y="367444"/>
                  </a:cubicBezTo>
                  <a:cubicBezTo>
                    <a:pt x="0" y="355850"/>
                    <a:pt x="1699" y="341073"/>
                    <a:pt x="11053" y="331349"/>
                  </a:cubicBezTo>
                  <a:lnTo>
                    <a:pt x="28017" y="313302"/>
                  </a:lnTo>
                  <a:cubicBezTo>
                    <a:pt x="30952" y="310289"/>
                    <a:pt x="30952" y="305486"/>
                    <a:pt x="28017" y="302473"/>
                  </a:cubicBezTo>
                  <a:lnTo>
                    <a:pt x="11053" y="284426"/>
                  </a:lnTo>
                  <a:cubicBezTo>
                    <a:pt x="1815" y="274647"/>
                    <a:pt x="125" y="259951"/>
                    <a:pt x="6902" y="248331"/>
                  </a:cubicBezTo>
                  <a:cubicBezTo>
                    <a:pt x="13565" y="236511"/>
                    <a:pt x="27306" y="230601"/>
                    <a:pt x="40470" y="233893"/>
                  </a:cubicBezTo>
                  <a:lnTo>
                    <a:pt x="64834" y="239488"/>
                  </a:lnTo>
                  <a:cubicBezTo>
                    <a:pt x="68853" y="240417"/>
                    <a:pt x="72897" y="238038"/>
                    <a:pt x="74038" y="234074"/>
                  </a:cubicBezTo>
                  <a:lnTo>
                    <a:pt x="82159" y="210973"/>
                  </a:lnTo>
                  <a:cubicBezTo>
                    <a:pt x="86019" y="197944"/>
                    <a:pt x="97988" y="189006"/>
                    <a:pt x="111577" y="189006"/>
                  </a:cubicBezTo>
                  <a:cubicBezTo>
                    <a:pt x="125165" y="189006"/>
                    <a:pt x="137135" y="197944"/>
                    <a:pt x="140994" y="210973"/>
                  </a:cubicBezTo>
                  <a:lnTo>
                    <a:pt x="148393" y="234976"/>
                  </a:lnTo>
                  <a:cubicBezTo>
                    <a:pt x="149535" y="238940"/>
                    <a:pt x="153578" y="241319"/>
                    <a:pt x="157597" y="240390"/>
                  </a:cubicBezTo>
                  <a:lnTo>
                    <a:pt x="182142" y="234796"/>
                  </a:lnTo>
                  <a:cubicBezTo>
                    <a:pt x="195259" y="231462"/>
                    <a:pt x="208974" y="237393"/>
                    <a:pt x="215529" y="249234"/>
                  </a:cubicBezTo>
                  <a:cubicBezTo>
                    <a:pt x="222293" y="260828"/>
                    <a:pt x="220681" y="275481"/>
                    <a:pt x="211559" y="285328"/>
                  </a:cubicBezTo>
                  <a:lnTo>
                    <a:pt x="194414" y="303376"/>
                  </a:lnTo>
                  <a:cubicBezTo>
                    <a:pt x="191480" y="306389"/>
                    <a:pt x="191480" y="311191"/>
                    <a:pt x="194414" y="314204"/>
                  </a:cubicBezTo>
                  <a:close/>
                  <a:moveTo>
                    <a:pt x="164275" y="308790"/>
                  </a:moveTo>
                  <a:cubicBezTo>
                    <a:pt x="164274" y="287297"/>
                    <a:pt x="151308" y="267927"/>
                    <a:pt x="131436" y="259736"/>
                  </a:cubicBezTo>
                  <a:cubicBezTo>
                    <a:pt x="111565" y="251545"/>
                    <a:pt x="88715" y="256151"/>
                    <a:pt x="73569" y="271401"/>
                  </a:cubicBezTo>
                  <a:cubicBezTo>
                    <a:pt x="58423" y="286651"/>
                    <a:pt x="53973" y="309531"/>
                    <a:pt x="62300" y="329346"/>
                  </a:cubicBezTo>
                  <a:cubicBezTo>
                    <a:pt x="70626" y="349161"/>
                    <a:pt x="90084" y="361996"/>
                    <a:pt x="111577" y="361849"/>
                  </a:cubicBezTo>
                  <a:cubicBezTo>
                    <a:pt x="140739" y="361651"/>
                    <a:pt x="164276" y="337954"/>
                    <a:pt x="164275" y="308790"/>
                  </a:cubicBezTo>
                  <a:close/>
                  <a:moveTo>
                    <a:pt x="428607" y="41185"/>
                  </a:moveTo>
                  <a:cubicBezTo>
                    <a:pt x="432110" y="44585"/>
                    <a:pt x="434085" y="49260"/>
                    <a:pt x="434083" y="54142"/>
                  </a:cubicBezTo>
                  <a:lnTo>
                    <a:pt x="434083" y="297781"/>
                  </a:lnTo>
                  <a:cubicBezTo>
                    <a:pt x="434083" y="317716"/>
                    <a:pt x="417923" y="333876"/>
                    <a:pt x="397988" y="333876"/>
                  </a:cubicBezTo>
                  <a:lnTo>
                    <a:pt x="243864" y="333876"/>
                  </a:lnTo>
                  <a:cubicBezTo>
                    <a:pt x="240101" y="324379"/>
                    <a:pt x="234312" y="315818"/>
                    <a:pt x="226899" y="308790"/>
                  </a:cubicBezTo>
                  <a:cubicBezTo>
                    <a:pt x="230384" y="305389"/>
                    <a:pt x="233583" y="301707"/>
                    <a:pt x="236464" y="297781"/>
                  </a:cubicBezTo>
                  <a:lnTo>
                    <a:pt x="388423" y="297781"/>
                  </a:lnTo>
                  <a:cubicBezTo>
                    <a:pt x="393367" y="297685"/>
                    <a:pt x="397351" y="293701"/>
                    <a:pt x="397447" y="288757"/>
                  </a:cubicBezTo>
                  <a:lnTo>
                    <a:pt x="397447" y="135355"/>
                  </a:lnTo>
                  <a:cubicBezTo>
                    <a:pt x="397447" y="130371"/>
                    <a:pt x="393407" y="126331"/>
                    <a:pt x="388423" y="126331"/>
                  </a:cubicBezTo>
                  <a:lnTo>
                    <a:pt x="144784" y="126331"/>
                  </a:lnTo>
                  <a:cubicBezTo>
                    <a:pt x="139800" y="126331"/>
                    <a:pt x="135760" y="130371"/>
                    <a:pt x="135760" y="135355"/>
                  </a:cubicBezTo>
                  <a:lnTo>
                    <a:pt x="135760" y="165855"/>
                  </a:lnTo>
                  <a:cubicBezTo>
                    <a:pt x="128179" y="162361"/>
                    <a:pt x="119924" y="160575"/>
                    <a:pt x="111577" y="160621"/>
                  </a:cubicBezTo>
                  <a:cubicBezTo>
                    <a:pt x="107558" y="160844"/>
                    <a:pt x="103570" y="161448"/>
                    <a:pt x="99665" y="162426"/>
                  </a:cubicBezTo>
                  <a:lnTo>
                    <a:pt x="99665" y="54142"/>
                  </a:lnTo>
                  <a:cubicBezTo>
                    <a:pt x="99665" y="44174"/>
                    <a:pt x="107745" y="36094"/>
                    <a:pt x="117713" y="36094"/>
                  </a:cubicBezTo>
                  <a:lnTo>
                    <a:pt x="158319" y="36094"/>
                  </a:lnTo>
                  <a:cubicBezTo>
                    <a:pt x="163303" y="36094"/>
                    <a:pt x="167343" y="40134"/>
                    <a:pt x="167343" y="45118"/>
                  </a:cubicBezTo>
                  <a:lnTo>
                    <a:pt x="167343" y="81213"/>
                  </a:lnTo>
                  <a:cubicBezTo>
                    <a:pt x="167343" y="88688"/>
                    <a:pt x="173403" y="94748"/>
                    <a:pt x="180879" y="94748"/>
                  </a:cubicBezTo>
                  <a:cubicBezTo>
                    <a:pt x="188354" y="94748"/>
                    <a:pt x="194414" y="88688"/>
                    <a:pt x="194414" y="81213"/>
                  </a:cubicBezTo>
                  <a:lnTo>
                    <a:pt x="194414" y="13535"/>
                  </a:lnTo>
                  <a:cubicBezTo>
                    <a:pt x="194414" y="6060"/>
                    <a:pt x="200474" y="0"/>
                    <a:pt x="207950" y="0"/>
                  </a:cubicBezTo>
                  <a:cubicBezTo>
                    <a:pt x="215425" y="0"/>
                    <a:pt x="221485" y="6060"/>
                    <a:pt x="221485" y="13535"/>
                  </a:cubicBezTo>
                  <a:lnTo>
                    <a:pt x="221485" y="31582"/>
                  </a:lnTo>
                  <a:cubicBezTo>
                    <a:pt x="221485" y="34074"/>
                    <a:pt x="223505" y="36094"/>
                    <a:pt x="225997" y="36094"/>
                  </a:cubicBezTo>
                  <a:lnTo>
                    <a:pt x="302698" y="36094"/>
                  </a:lnTo>
                  <a:cubicBezTo>
                    <a:pt x="307682" y="36094"/>
                    <a:pt x="311722" y="40134"/>
                    <a:pt x="311722" y="45118"/>
                  </a:cubicBezTo>
                  <a:lnTo>
                    <a:pt x="311722" y="81213"/>
                  </a:lnTo>
                  <a:cubicBezTo>
                    <a:pt x="311722" y="88688"/>
                    <a:pt x="317782" y="94748"/>
                    <a:pt x="325257" y="94748"/>
                  </a:cubicBezTo>
                  <a:cubicBezTo>
                    <a:pt x="332733" y="94748"/>
                    <a:pt x="338793" y="88688"/>
                    <a:pt x="338793" y="81213"/>
                  </a:cubicBezTo>
                  <a:lnTo>
                    <a:pt x="338793" y="13535"/>
                  </a:lnTo>
                  <a:cubicBezTo>
                    <a:pt x="338793" y="6060"/>
                    <a:pt x="344853" y="0"/>
                    <a:pt x="352329" y="0"/>
                  </a:cubicBezTo>
                  <a:cubicBezTo>
                    <a:pt x="359804" y="0"/>
                    <a:pt x="365864" y="6060"/>
                    <a:pt x="365864" y="13535"/>
                  </a:cubicBezTo>
                  <a:lnTo>
                    <a:pt x="365864" y="31582"/>
                  </a:lnTo>
                  <a:cubicBezTo>
                    <a:pt x="365864" y="34074"/>
                    <a:pt x="367884" y="36094"/>
                    <a:pt x="370376" y="36094"/>
                  </a:cubicBezTo>
                  <a:lnTo>
                    <a:pt x="415494" y="36094"/>
                  </a:lnTo>
                  <a:cubicBezTo>
                    <a:pt x="420374" y="35948"/>
                    <a:pt x="425105" y="37784"/>
                    <a:pt x="428607" y="41185"/>
                  </a:cubicBezTo>
                  <a:close/>
                  <a:moveTo>
                    <a:pt x="85588" y="308790"/>
                  </a:moveTo>
                  <a:cubicBezTo>
                    <a:pt x="85584" y="294434"/>
                    <a:pt x="97221" y="282795"/>
                    <a:pt x="111577" y="282795"/>
                  </a:cubicBezTo>
                  <a:cubicBezTo>
                    <a:pt x="125932" y="282795"/>
                    <a:pt x="137569" y="294434"/>
                    <a:pt x="137565" y="308790"/>
                  </a:cubicBezTo>
                  <a:cubicBezTo>
                    <a:pt x="137569" y="323146"/>
                    <a:pt x="125932" y="334785"/>
                    <a:pt x="111577" y="334785"/>
                  </a:cubicBezTo>
                  <a:cubicBezTo>
                    <a:pt x="97221" y="334785"/>
                    <a:pt x="85584" y="323146"/>
                    <a:pt x="85588" y="308790"/>
                  </a:cubicBezTo>
                </a:path>
              </a:pathLst>
            </a:custGeom>
            <a:solidFill>
              <a:srgbClr val="FFFFFF"/>
            </a:solidFill>
            <a:ln>
              <a:solidFill>
                <a:schemeClr val="tx1"/>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2" name="Rounded Rectangle 21"/>
            <p:cNvSpPr/>
            <p:nvPr/>
          </p:nvSpPr>
          <p:spPr>
            <a:xfrm>
              <a:off x="5972384" y="4431280"/>
              <a:ext cx="367761" cy="653192"/>
            </a:xfrm>
            <a:custGeom>
              <a:avLst/>
              <a:gdLst/>
              <a:ahLst/>
              <a:cxnLst/>
              <a:rect l="0" t="0" r="0" b="0"/>
              <a:pathLst>
                <a:path w="319077" h="433029">
                  <a:moveTo>
                    <a:pt x="87349" y="126224"/>
                  </a:moveTo>
                  <a:cubicBezTo>
                    <a:pt x="87349" y="116256"/>
                    <a:pt x="95429" y="108176"/>
                    <a:pt x="105396" y="108176"/>
                  </a:cubicBezTo>
                  <a:lnTo>
                    <a:pt x="213680" y="108176"/>
                  </a:lnTo>
                  <a:cubicBezTo>
                    <a:pt x="223648" y="108176"/>
                    <a:pt x="231728" y="116256"/>
                    <a:pt x="231728" y="126224"/>
                  </a:cubicBezTo>
                  <a:cubicBezTo>
                    <a:pt x="231728" y="136191"/>
                    <a:pt x="223648" y="144271"/>
                    <a:pt x="213680" y="144271"/>
                  </a:cubicBezTo>
                  <a:lnTo>
                    <a:pt x="105396" y="144271"/>
                  </a:lnTo>
                  <a:cubicBezTo>
                    <a:pt x="95429" y="144271"/>
                    <a:pt x="87349" y="136191"/>
                    <a:pt x="87349" y="126224"/>
                  </a:cubicBezTo>
                  <a:close/>
                  <a:moveTo>
                    <a:pt x="92222" y="26061"/>
                  </a:moveTo>
                  <a:cubicBezTo>
                    <a:pt x="90255" y="22743"/>
                    <a:pt x="90774" y="18517"/>
                    <a:pt x="93485" y="15774"/>
                  </a:cubicBezTo>
                  <a:cubicBezTo>
                    <a:pt x="96022" y="12939"/>
                    <a:pt x="100065" y="12001"/>
                    <a:pt x="103591" y="13427"/>
                  </a:cubicBezTo>
                  <a:lnTo>
                    <a:pt x="137160" y="27865"/>
                  </a:lnTo>
                  <a:cubicBezTo>
                    <a:pt x="138300" y="28416"/>
                    <a:pt x="139629" y="28416"/>
                    <a:pt x="140769" y="27865"/>
                  </a:cubicBezTo>
                  <a:cubicBezTo>
                    <a:pt x="141889" y="27449"/>
                    <a:pt x="142797" y="26605"/>
                    <a:pt x="143296" y="25519"/>
                  </a:cubicBezTo>
                  <a:lnTo>
                    <a:pt x="151236" y="5487"/>
                  </a:lnTo>
                  <a:cubicBezTo>
                    <a:pt x="152654" y="2159"/>
                    <a:pt x="155921" y="0"/>
                    <a:pt x="159538" y="0"/>
                  </a:cubicBezTo>
                  <a:cubicBezTo>
                    <a:pt x="163155" y="0"/>
                    <a:pt x="166422" y="2159"/>
                    <a:pt x="167840" y="5487"/>
                  </a:cubicBezTo>
                  <a:lnTo>
                    <a:pt x="175781" y="25519"/>
                  </a:lnTo>
                  <a:cubicBezTo>
                    <a:pt x="176279" y="26605"/>
                    <a:pt x="177188" y="27449"/>
                    <a:pt x="178307" y="27865"/>
                  </a:cubicBezTo>
                  <a:cubicBezTo>
                    <a:pt x="179448" y="28416"/>
                    <a:pt x="180777" y="28416"/>
                    <a:pt x="181917" y="27865"/>
                  </a:cubicBezTo>
                  <a:lnTo>
                    <a:pt x="215485" y="13427"/>
                  </a:lnTo>
                  <a:cubicBezTo>
                    <a:pt x="219038" y="12457"/>
                    <a:pt x="222823" y="13743"/>
                    <a:pt x="225050" y="16676"/>
                  </a:cubicBezTo>
                  <a:cubicBezTo>
                    <a:pt x="227761" y="19419"/>
                    <a:pt x="228280" y="23646"/>
                    <a:pt x="226313" y="26963"/>
                  </a:cubicBezTo>
                  <a:cubicBezTo>
                    <a:pt x="215947" y="43586"/>
                    <a:pt x="208614" y="61918"/>
                    <a:pt x="204657" y="81105"/>
                  </a:cubicBezTo>
                  <a:cubicBezTo>
                    <a:pt x="204031" y="85622"/>
                    <a:pt x="200193" y="89000"/>
                    <a:pt x="195633" y="89046"/>
                  </a:cubicBezTo>
                  <a:lnTo>
                    <a:pt x="122902" y="89046"/>
                  </a:lnTo>
                  <a:cubicBezTo>
                    <a:pt x="118312" y="89079"/>
                    <a:pt x="114429" y="85662"/>
                    <a:pt x="113878" y="81105"/>
                  </a:cubicBezTo>
                  <a:cubicBezTo>
                    <a:pt x="110024" y="61605"/>
                    <a:pt x="102688" y="42959"/>
                    <a:pt x="92222" y="26061"/>
                  </a:cubicBezTo>
                  <a:close/>
                  <a:moveTo>
                    <a:pt x="319077" y="316082"/>
                  </a:moveTo>
                  <a:cubicBezTo>
                    <a:pt x="319077" y="392422"/>
                    <a:pt x="276485" y="433029"/>
                    <a:pt x="159538" y="433029"/>
                  </a:cubicBezTo>
                  <a:cubicBezTo>
                    <a:pt x="42591" y="433029"/>
                    <a:pt x="0" y="392422"/>
                    <a:pt x="0" y="316082"/>
                  </a:cubicBezTo>
                  <a:cubicBezTo>
                    <a:pt x="0" y="261940"/>
                    <a:pt x="51434" y="200579"/>
                    <a:pt x="97455" y="164484"/>
                  </a:cubicBezTo>
                  <a:cubicBezTo>
                    <a:pt x="99317" y="163054"/>
                    <a:pt x="101605" y="162291"/>
                    <a:pt x="103952" y="162318"/>
                  </a:cubicBezTo>
                  <a:lnTo>
                    <a:pt x="215124" y="162318"/>
                  </a:lnTo>
                  <a:cubicBezTo>
                    <a:pt x="217471" y="162291"/>
                    <a:pt x="219760" y="163054"/>
                    <a:pt x="221621" y="164484"/>
                  </a:cubicBezTo>
                  <a:cubicBezTo>
                    <a:pt x="267822" y="199676"/>
                    <a:pt x="319077" y="261940"/>
                    <a:pt x="319077" y="316082"/>
                  </a:cubicBezTo>
                  <a:close/>
                  <a:moveTo>
                    <a:pt x="188053" y="239561"/>
                  </a:moveTo>
                  <a:lnTo>
                    <a:pt x="210793" y="239561"/>
                  </a:lnTo>
                  <a:cubicBezTo>
                    <a:pt x="218268" y="239561"/>
                    <a:pt x="224328" y="233501"/>
                    <a:pt x="224328" y="226025"/>
                  </a:cubicBezTo>
                  <a:cubicBezTo>
                    <a:pt x="224328" y="218550"/>
                    <a:pt x="218268" y="212490"/>
                    <a:pt x="210793" y="212490"/>
                  </a:cubicBezTo>
                  <a:lnTo>
                    <a:pt x="111532" y="212490"/>
                  </a:lnTo>
                  <a:cubicBezTo>
                    <a:pt x="104057" y="212490"/>
                    <a:pt x="97997" y="218550"/>
                    <a:pt x="97997" y="226025"/>
                  </a:cubicBezTo>
                  <a:cubicBezTo>
                    <a:pt x="97997" y="233501"/>
                    <a:pt x="104057" y="239561"/>
                    <a:pt x="111532" y="239561"/>
                  </a:cubicBezTo>
                  <a:lnTo>
                    <a:pt x="138603" y="239561"/>
                  </a:lnTo>
                  <a:cubicBezTo>
                    <a:pt x="150795" y="239569"/>
                    <a:pt x="161893" y="246593"/>
                    <a:pt x="167118" y="257608"/>
                  </a:cubicBezTo>
                  <a:lnTo>
                    <a:pt x="138603" y="257608"/>
                  </a:lnTo>
                  <a:cubicBezTo>
                    <a:pt x="131128" y="257608"/>
                    <a:pt x="125068" y="263668"/>
                    <a:pt x="125068" y="271144"/>
                  </a:cubicBezTo>
                  <a:cubicBezTo>
                    <a:pt x="125068" y="278619"/>
                    <a:pt x="131128" y="284679"/>
                    <a:pt x="138603" y="284679"/>
                  </a:cubicBezTo>
                  <a:lnTo>
                    <a:pt x="167118" y="284679"/>
                  </a:lnTo>
                  <a:cubicBezTo>
                    <a:pt x="161893" y="295695"/>
                    <a:pt x="150795" y="302719"/>
                    <a:pt x="138603" y="302727"/>
                  </a:cubicBezTo>
                  <a:lnTo>
                    <a:pt x="111532" y="302727"/>
                  </a:lnTo>
                  <a:cubicBezTo>
                    <a:pt x="106061" y="302732"/>
                    <a:pt x="101131" y="306029"/>
                    <a:pt x="99038" y="311084"/>
                  </a:cubicBezTo>
                  <a:cubicBezTo>
                    <a:pt x="96945" y="316139"/>
                    <a:pt x="98101" y="321957"/>
                    <a:pt x="101967" y="325827"/>
                  </a:cubicBezTo>
                  <a:lnTo>
                    <a:pt x="156109" y="379970"/>
                  </a:lnTo>
                  <a:cubicBezTo>
                    <a:pt x="161394" y="385247"/>
                    <a:pt x="169955" y="385247"/>
                    <a:pt x="175239" y="379970"/>
                  </a:cubicBezTo>
                  <a:cubicBezTo>
                    <a:pt x="180517" y="374685"/>
                    <a:pt x="180517" y="366124"/>
                    <a:pt x="175239" y="360839"/>
                  </a:cubicBezTo>
                  <a:lnTo>
                    <a:pt x="144017" y="328715"/>
                  </a:lnTo>
                  <a:cubicBezTo>
                    <a:pt x="169033" y="326389"/>
                    <a:pt x="189789" y="308391"/>
                    <a:pt x="195633" y="283958"/>
                  </a:cubicBezTo>
                  <a:lnTo>
                    <a:pt x="210793" y="283958"/>
                  </a:lnTo>
                  <a:cubicBezTo>
                    <a:pt x="218268" y="283958"/>
                    <a:pt x="224328" y="277897"/>
                    <a:pt x="224328" y="270422"/>
                  </a:cubicBezTo>
                  <a:cubicBezTo>
                    <a:pt x="224328" y="262946"/>
                    <a:pt x="218268" y="256886"/>
                    <a:pt x="210793" y="256886"/>
                  </a:cubicBezTo>
                  <a:lnTo>
                    <a:pt x="195633" y="256886"/>
                  </a:lnTo>
                  <a:cubicBezTo>
                    <a:pt x="194085" y="250731"/>
                    <a:pt x="191523" y="244876"/>
                    <a:pt x="188053" y="239561"/>
                  </a:cubicBezTo>
                  <a:close/>
                </a:path>
              </a:pathLst>
            </a:custGeom>
            <a:solidFill>
              <a:srgbClr val="FFFFFF"/>
            </a:solidFill>
            <a:ln>
              <a:solidFill>
                <a:schemeClr val="tx1"/>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3" name="Rounded Rectangle 22"/>
            <p:cNvSpPr/>
            <p:nvPr/>
          </p:nvSpPr>
          <p:spPr>
            <a:xfrm>
              <a:off x="4111060" y="4032050"/>
              <a:ext cx="478423" cy="653353"/>
            </a:xfrm>
            <a:custGeom>
              <a:avLst/>
              <a:gdLst/>
              <a:ahLst/>
              <a:cxnLst/>
              <a:rect l="0" t="0" r="0" b="0"/>
              <a:pathLst>
                <a:path w="415089" h="433136">
                  <a:moveTo>
                    <a:pt x="415089" y="90236"/>
                  </a:moveTo>
                  <a:lnTo>
                    <a:pt x="415089" y="397042"/>
                  </a:lnTo>
                  <a:cubicBezTo>
                    <a:pt x="415089" y="416976"/>
                    <a:pt x="398929" y="433136"/>
                    <a:pt x="378994" y="433136"/>
                  </a:cubicBezTo>
                  <a:lnTo>
                    <a:pt x="36094" y="433136"/>
                  </a:lnTo>
                  <a:cubicBezTo>
                    <a:pt x="16160" y="433136"/>
                    <a:pt x="0" y="416976"/>
                    <a:pt x="0" y="397042"/>
                  </a:cubicBezTo>
                  <a:lnTo>
                    <a:pt x="0" y="90236"/>
                  </a:lnTo>
                  <a:cubicBezTo>
                    <a:pt x="0" y="70302"/>
                    <a:pt x="16160" y="54142"/>
                    <a:pt x="36094" y="54142"/>
                  </a:cubicBezTo>
                  <a:lnTo>
                    <a:pt x="63165" y="54142"/>
                  </a:lnTo>
                  <a:cubicBezTo>
                    <a:pt x="68149" y="54142"/>
                    <a:pt x="72189" y="58182"/>
                    <a:pt x="72189" y="63165"/>
                  </a:cubicBezTo>
                  <a:lnTo>
                    <a:pt x="72189" y="103772"/>
                  </a:lnTo>
                  <a:cubicBezTo>
                    <a:pt x="72189" y="111247"/>
                    <a:pt x="78249" y="117307"/>
                    <a:pt x="85725" y="117307"/>
                  </a:cubicBezTo>
                  <a:cubicBezTo>
                    <a:pt x="93200" y="117307"/>
                    <a:pt x="99260" y="111247"/>
                    <a:pt x="99260" y="103772"/>
                  </a:cubicBezTo>
                  <a:lnTo>
                    <a:pt x="99260" y="18047"/>
                  </a:lnTo>
                  <a:cubicBezTo>
                    <a:pt x="99260" y="8080"/>
                    <a:pt x="107340" y="0"/>
                    <a:pt x="117307" y="0"/>
                  </a:cubicBezTo>
                  <a:cubicBezTo>
                    <a:pt x="127275" y="0"/>
                    <a:pt x="135355" y="8080"/>
                    <a:pt x="135355" y="18047"/>
                  </a:cubicBezTo>
                  <a:lnTo>
                    <a:pt x="135355" y="49630"/>
                  </a:lnTo>
                  <a:cubicBezTo>
                    <a:pt x="135355" y="52122"/>
                    <a:pt x="137375" y="54142"/>
                    <a:pt x="139867" y="54142"/>
                  </a:cubicBezTo>
                  <a:lnTo>
                    <a:pt x="252663" y="54142"/>
                  </a:lnTo>
                  <a:cubicBezTo>
                    <a:pt x="257646" y="54142"/>
                    <a:pt x="261686" y="58182"/>
                    <a:pt x="261686" y="63165"/>
                  </a:cubicBezTo>
                  <a:lnTo>
                    <a:pt x="261686" y="103772"/>
                  </a:lnTo>
                  <a:cubicBezTo>
                    <a:pt x="261686" y="111247"/>
                    <a:pt x="267746" y="117307"/>
                    <a:pt x="275222" y="117307"/>
                  </a:cubicBezTo>
                  <a:cubicBezTo>
                    <a:pt x="282697" y="117307"/>
                    <a:pt x="288757" y="111247"/>
                    <a:pt x="288757" y="103772"/>
                  </a:cubicBezTo>
                  <a:lnTo>
                    <a:pt x="288757" y="18047"/>
                  </a:lnTo>
                  <a:cubicBezTo>
                    <a:pt x="288757" y="8080"/>
                    <a:pt x="296837" y="0"/>
                    <a:pt x="306805" y="0"/>
                  </a:cubicBezTo>
                  <a:cubicBezTo>
                    <a:pt x="316772" y="0"/>
                    <a:pt x="324852" y="8080"/>
                    <a:pt x="324852" y="18047"/>
                  </a:cubicBezTo>
                  <a:lnTo>
                    <a:pt x="324852" y="49630"/>
                  </a:lnTo>
                  <a:cubicBezTo>
                    <a:pt x="324852" y="52122"/>
                    <a:pt x="326872" y="54142"/>
                    <a:pt x="329364" y="54142"/>
                  </a:cubicBezTo>
                  <a:lnTo>
                    <a:pt x="378994" y="54142"/>
                  </a:lnTo>
                  <a:cubicBezTo>
                    <a:pt x="398929" y="54142"/>
                    <a:pt x="415089" y="70302"/>
                    <a:pt x="415089" y="90236"/>
                  </a:cubicBezTo>
                  <a:close/>
                  <a:moveTo>
                    <a:pt x="378994" y="171450"/>
                  </a:moveTo>
                  <a:cubicBezTo>
                    <a:pt x="378994" y="166466"/>
                    <a:pt x="374954" y="162426"/>
                    <a:pt x="369971" y="162426"/>
                  </a:cubicBezTo>
                  <a:lnTo>
                    <a:pt x="45118" y="162426"/>
                  </a:lnTo>
                  <a:cubicBezTo>
                    <a:pt x="40134" y="162426"/>
                    <a:pt x="36094" y="166466"/>
                    <a:pt x="36094" y="171450"/>
                  </a:cubicBezTo>
                  <a:lnTo>
                    <a:pt x="36094" y="388018"/>
                  </a:lnTo>
                  <a:cubicBezTo>
                    <a:pt x="36094" y="393002"/>
                    <a:pt x="40134" y="397042"/>
                    <a:pt x="45118" y="397042"/>
                  </a:cubicBezTo>
                  <a:lnTo>
                    <a:pt x="369971" y="397042"/>
                  </a:lnTo>
                  <a:cubicBezTo>
                    <a:pt x="374954" y="397042"/>
                    <a:pt x="378994" y="393002"/>
                    <a:pt x="378994" y="388018"/>
                  </a:cubicBezTo>
                  <a:close/>
                  <a:moveTo>
                    <a:pt x="291465" y="201228"/>
                  </a:moveTo>
                  <a:cubicBezTo>
                    <a:pt x="300831" y="205731"/>
                    <a:pt x="306792" y="215199"/>
                    <a:pt x="306805" y="225592"/>
                  </a:cubicBezTo>
                  <a:lnTo>
                    <a:pt x="306805" y="342900"/>
                  </a:lnTo>
                  <a:cubicBezTo>
                    <a:pt x="306805" y="352867"/>
                    <a:pt x="298725" y="360947"/>
                    <a:pt x="288757" y="360947"/>
                  </a:cubicBezTo>
                  <a:cubicBezTo>
                    <a:pt x="278790" y="360947"/>
                    <a:pt x="270710" y="352867"/>
                    <a:pt x="270710" y="342900"/>
                  </a:cubicBezTo>
                  <a:lnTo>
                    <a:pt x="270710" y="244361"/>
                  </a:lnTo>
                  <a:lnTo>
                    <a:pt x="254828" y="256994"/>
                  </a:lnTo>
                  <a:cubicBezTo>
                    <a:pt x="247022" y="262183"/>
                    <a:pt x="236543" y="260532"/>
                    <a:pt x="230710" y="253194"/>
                  </a:cubicBezTo>
                  <a:cubicBezTo>
                    <a:pt x="224877" y="245856"/>
                    <a:pt x="225633" y="235274"/>
                    <a:pt x="232450" y="228840"/>
                  </a:cubicBezTo>
                  <a:lnTo>
                    <a:pt x="262769" y="204476"/>
                  </a:lnTo>
                  <a:cubicBezTo>
                    <a:pt x="270927" y="197998"/>
                    <a:pt x="282065" y="196737"/>
                    <a:pt x="291465" y="201228"/>
                  </a:cubicBezTo>
                  <a:close/>
                  <a:moveTo>
                    <a:pt x="202787" y="226999"/>
                  </a:moveTo>
                  <a:cubicBezTo>
                    <a:pt x="210974" y="244376"/>
                    <a:pt x="208398" y="264916"/>
                    <a:pt x="196174" y="279734"/>
                  </a:cubicBezTo>
                  <a:cubicBezTo>
                    <a:pt x="208398" y="294551"/>
                    <a:pt x="210974" y="315091"/>
                    <a:pt x="202787" y="332468"/>
                  </a:cubicBezTo>
                  <a:cubicBezTo>
                    <a:pt x="194601" y="349845"/>
                    <a:pt x="177123" y="360938"/>
                    <a:pt x="157914" y="360947"/>
                  </a:cubicBezTo>
                  <a:lnTo>
                    <a:pt x="117307" y="360947"/>
                  </a:lnTo>
                  <a:cubicBezTo>
                    <a:pt x="107340" y="360947"/>
                    <a:pt x="99260" y="352867"/>
                    <a:pt x="99260" y="342900"/>
                  </a:cubicBezTo>
                  <a:cubicBezTo>
                    <a:pt x="99260" y="332932"/>
                    <a:pt x="107340" y="324852"/>
                    <a:pt x="117307" y="324852"/>
                  </a:cubicBezTo>
                  <a:lnTo>
                    <a:pt x="157914" y="324852"/>
                  </a:lnTo>
                  <a:cubicBezTo>
                    <a:pt x="165389" y="324852"/>
                    <a:pt x="171449" y="318792"/>
                    <a:pt x="171449" y="311317"/>
                  </a:cubicBezTo>
                  <a:cubicBezTo>
                    <a:pt x="171449" y="303841"/>
                    <a:pt x="165389" y="297781"/>
                    <a:pt x="157914" y="297781"/>
                  </a:cubicBezTo>
                  <a:lnTo>
                    <a:pt x="144378" y="297781"/>
                  </a:lnTo>
                  <a:cubicBezTo>
                    <a:pt x="134411" y="297781"/>
                    <a:pt x="126331" y="289701"/>
                    <a:pt x="126331" y="279734"/>
                  </a:cubicBezTo>
                  <a:cubicBezTo>
                    <a:pt x="126331" y="269766"/>
                    <a:pt x="134411" y="261686"/>
                    <a:pt x="144378" y="261686"/>
                  </a:cubicBezTo>
                  <a:lnTo>
                    <a:pt x="157914" y="261686"/>
                  </a:lnTo>
                  <a:cubicBezTo>
                    <a:pt x="165389" y="261686"/>
                    <a:pt x="171449" y="255626"/>
                    <a:pt x="171449" y="248151"/>
                  </a:cubicBezTo>
                  <a:cubicBezTo>
                    <a:pt x="171449" y="240675"/>
                    <a:pt x="165389" y="234615"/>
                    <a:pt x="157914" y="234615"/>
                  </a:cubicBezTo>
                  <a:lnTo>
                    <a:pt x="117307" y="234615"/>
                  </a:lnTo>
                  <a:cubicBezTo>
                    <a:pt x="107340" y="234615"/>
                    <a:pt x="99260" y="226535"/>
                    <a:pt x="99260" y="216568"/>
                  </a:cubicBezTo>
                  <a:cubicBezTo>
                    <a:pt x="99260" y="206601"/>
                    <a:pt x="107340" y="198521"/>
                    <a:pt x="117307" y="198521"/>
                  </a:cubicBezTo>
                  <a:lnTo>
                    <a:pt x="157914" y="198521"/>
                  </a:lnTo>
                  <a:cubicBezTo>
                    <a:pt x="177123" y="198530"/>
                    <a:pt x="194601" y="209622"/>
                    <a:pt x="202787" y="226999"/>
                  </a:cubicBezTo>
                  <a:close/>
                </a:path>
              </a:pathLst>
            </a:custGeom>
            <a:solidFill>
              <a:srgbClr val="FFFFFF"/>
            </a:solidFill>
            <a:ln>
              <a:solidFill>
                <a:schemeClr val="tx1"/>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4" name="Rounded Rectangle 23"/>
            <p:cNvSpPr/>
            <p:nvPr/>
          </p:nvSpPr>
          <p:spPr>
            <a:xfrm>
              <a:off x="2208309" y="4276235"/>
              <a:ext cx="496770" cy="651893"/>
            </a:xfrm>
            <a:custGeom>
              <a:avLst/>
              <a:gdLst/>
              <a:ahLst/>
              <a:cxnLst/>
              <a:rect l="0" t="0" r="0" b="0"/>
              <a:pathLst>
                <a:path w="431007" h="432168">
                  <a:moveTo>
                    <a:pt x="150081" y="53787"/>
                  </a:moveTo>
                  <a:lnTo>
                    <a:pt x="276413" y="53787"/>
                  </a:lnTo>
                  <a:lnTo>
                    <a:pt x="276413" y="99628"/>
                  </a:lnTo>
                  <a:cubicBezTo>
                    <a:pt x="276413" y="107103"/>
                    <a:pt x="282473" y="113163"/>
                    <a:pt x="289948" y="113163"/>
                  </a:cubicBezTo>
                  <a:cubicBezTo>
                    <a:pt x="297424" y="113163"/>
                    <a:pt x="303484" y="107103"/>
                    <a:pt x="303484" y="99628"/>
                  </a:cubicBezTo>
                  <a:lnTo>
                    <a:pt x="303484" y="18324"/>
                  </a:lnTo>
                  <a:lnTo>
                    <a:pt x="303484" y="17963"/>
                  </a:lnTo>
                  <a:cubicBezTo>
                    <a:pt x="303585" y="7997"/>
                    <a:pt x="311746" y="0"/>
                    <a:pt x="321712" y="99"/>
                  </a:cubicBezTo>
                  <a:cubicBezTo>
                    <a:pt x="331678" y="199"/>
                    <a:pt x="339677" y="8358"/>
                    <a:pt x="339579" y="18324"/>
                  </a:cubicBezTo>
                  <a:lnTo>
                    <a:pt x="339579" y="53787"/>
                  </a:lnTo>
                  <a:lnTo>
                    <a:pt x="386628" y="53787"/>
                  </a:lnTo>
                  <a:cubicBezTo>
                    <a:pt x="410631" y="53787"/>
                    <a:pt x="430989" y="74181"/>
                    <a:pt x="431007" y="98184"/>
                  </a:cubicBezTo>
                  <a:lnTo>
                    <a:pt x="431007" y="387772"/>
                  </a:lnTo>
                  <a:cubicBezTo>
                    <a:pt x="431007" y="411775"/>
                    <a:pt x="410631" y="432168"/>
                    <a:pt x="386628" y="432168"/>
                  </a:cubicBezTo>
                  <a:lnTo>
                    <a:pt x="44378" y="432168"/>
                  </a:lnTo>
                  <a:cubicBezTo>
                    <a:pt x="20375" y="432168"/>
                    <a:pt x="0" y="411775"/>
                    <a:pt x="0" y="387772"/>
                  </a:cubicBezTo>
                  <a:lnTo>
                    <a:pt x="0" y="98184"/>
                  </a:lnTo>
                  <a:cubicBezTo>
                    <a:pt x="0" y="74163"/>
                    <a:pt x="20375" y="53805"/>
                    <a:pt x="44378" y="53787"/>
                  </a:cubicBezTo>
                  <a:lnTo>
                    <a:pt x="86916" y="53787"/>
                  </a:lnTo>
                  <a:lnTo>
                    <a:pt x="86916" y="99628"/>
                  </a:lnTo>
                  <a:cubicBezTo>
                    <a:pt x="86916" y="107103"/>
                    <a:pt x="92976" y="113163"/>
                    <a:pt x="100451" y="113163"/>
                  </a:cubicBezTo>
                  <a:cubicBezTo>
                    <a:pt x="107927" y="113163"/>
                    <a:pt x="113987" y="107103"/>
                    <a:pt x="113987" y="99628"/>
                  </a:cubicBezTo>
                  <a:lnTo>
                    <a:pt x="113987" y="18324"/>
                  </a:lnTo>
                  <a:lnTo>
                    <a:pt x="113987" y="17963"/>
                  </a:lnTo>
                  <a:cubicBezTo>
                    <a:pt x="114088" y="7997"/>
                    <a:pt x="122248" y="0"/>
                    <a:pt x="132215" y="99"/>
                  </a:cubicBezTo>
                  <a:cubicBezTo>
                    <a:pt x="142181" y="199"/>
                    <a:pt x="150180" y="8358"/>
                    <a:pt x="150081" y="18324"/>
                  </a:cubicBezTo>
                  <a:close/>
                  <a:moveTo>
                    <a:pt x="44378" y="396074"/>
                  </a:moveTo>
                  <a:lnTo>
                    <a:pt x="386628" y="396074"/>
                  </a:lnTo>
                  <a:cubicBezTo>
                    <a:pt x="390707" y="396074"/>
                    <a:pt x="394912" y="391851"/>
                    <a:pt x="394912" y="387772"/>
                  </a:cubicBezTo>
                  <a:lnTo>
                    <a:pt x="394912" y="170662"/>
                  </a:lnTo>
                  <a:lnTo>
                    <a:pt x="36094" y="170662"/>
                  </a:lnTo>
                  <a:lnTo>
                    <a:pt x="36094" y="387772"/>
                  </a:lnTo>
                  <a:cubicBezTo>
                    <a:pt x="36094" y="391851"/>
                    <a:pt x="40299" y="396074"/>
                    <a:pt x="44378" y="396074"/>
                  </a:cubicBezTo>
                  <a:close/>
                  <a:moveTo>
                    <a:pt x="206209" y="224967"/>
                  </a:moveTo>
                  <a:cubicBezTo>
                    <a:pt x="213339" y="225362"/>
                    <a:pt x="219566" y="229926"/>
                    <a:pt x="222090" y="236607"/>
                  </a:cubicBezTo>
                  <a:lnTo>
                    <a:pt x="231313" y="260971"/>
                  </a:lnTo>
                  <a:lnTo>
                    <a:pt x="333966" y="226753"/>
                  </a:lnTo>
                  <a:cubicBezTo>
                    <a:pt x="343424" y="223601"/>
                    <a:pt x="353648" y="228711"/>
                    <a:pt x="356802" y="238169"/>
                  </a:cubicBezTo>
                  <a:cubicBezTo>
                    <a:pt x="359956" y="247627"/>
                    <a:pt x="354847" y="257851"/>
                    <a:pt x="345390" y="261007"/>
                  </a:cubicBezTo>
                  <a:lnTo>
                    <a:pt x="244072" y="294756"/>
                  </a:lnTo>
                  <a:lnTo>
                    <a:pt x="252789" y="317820"/>
                  </a:lnTo>
                  <a:cubicBezTo>
                    <a:pt x="255357" y="324634"/>
                    <a:pt x="253579" y="332323"/>
                    <a:pt x="248281" y="337318"/>
                  </a:cubicBezTo>
                  <a:cubicBezTo>
                    <a:pt x="242982" y="342312"/>
                    <a:pt x="235201" y="343634"/>
                    <a:pt x="228551" y="340668"/>
                  </a:cubicBezTo>
                  <a:lnTo>
                    <a:pt x="169897" y="314500"/>
                  </a:lnTo>
                  <a:cubicBezTo>
                    <a:pt x="165509" y="312548"/>
                    <a:pt x="162084" y="308922"/>
                    <a:pt x="160386" y="304429"/>
                  </a:cubicBezTo>
                  <a:lnTo>
                    <a:pt x="160242" y="304050"/>
                  </a:lnTo>
                  <a:cubicBezTo>
                    <a:pt x="158574" y="299356"/>
                    <a:pt x="158927" y="294181"/>
                    <a:pt x="161217" y="289757"/>
                  </a:cubicBezTo>
                  <a:lnTo>
                    <a:pt x="189136" y="234802"/>
                  </a:lnTo>
                  <a:cubicBezTo>
                    <a:pt x="192377" y="228432"/>
                    <a:pt x="199072" y="224575"/>
                    <a:pt x="206209" y="224967"/>
                  </a:cubicBezTo>
                  <a:close/>
                  <a:moveTo>
                    <a:pt x="82313" y="324191"/>
                  </a:moveTo>
                  <a:cubicBezTo>
                    <a:pt x="82313" y="309825"/>
                    <a:pt x="93864" y="298275"/>
                    <a:pt x="108229" y="298275"/>
                  </a:cubicBezTo>
                  <a:cubicBezTo>
                    <a:pt x="122595" y="298275"/>
                    <a:pt x="134145" y="309825"/>
                    <a:pt x="134145" y="324191"/>
                  </a:cubicBezTo>
                  <a:cubicBezTo>
                    <a:pt x="134145" y="338557"/>
                    <a:pt x="122595" y="350107"/>
                    <a:pt x="108229" y="350107"/>
                  </a:cubicBezTo>
                  <a:cubicBezTo>
                    <a:pt x="93846" y="350107"/>
                    <a:pt x="82313" y="338557"/>
                    <a:pt x="82313" y="324191"/>
                  </a:cubicBezTo>
                  <a:close/>
                </a:path>
              </a:pathLst>
            </a:custGeom>
            <a:solidFill>
              <a:srgbClr val="FFFFFF"/>
            </a:solidFill>
            <a:ln>
              <a:solidFill>
                <a:schemeClr val="tx1"/>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5" name="TextBox 24"/>
            <p:cNvSpPr txBox="1"/>
            <p:nvPr/>
          </p:nvSpPr>
          <p:spPr>
            <a:xfrm>
              <a:off x="7110949" y="2835717"/>
              <a:ext cx="1540238" cy="1384995"/>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484848"/>
                  </a:solidFill>
                  <a:latin typeface="Roboto"/>
                </a:rPr>
                <a:t>The assessment
year </a:t>
              </a:r>
              <a:r>
                <a:rPr lang="en-US" dirty="0">
                  <a:solidFill>
                    <a:srgbClr val="484848"/>
                  </a:solidFill>
                  <a:latin typeface="Roboto"/>
                </a:rPr>
                <a:t>1</a:t>
              </a:r>
              <a:r>
                <a:rPr lang="en-US" baseline="30000" dirty="0">
                  <a:solidFill>
                    <a:srgbClr val="484848"/>
                  </a:solidFill>
                  <a:latin typeface="Roboto"/>
                </a:rPr>
                <a:t>st</a:t>
              </a:r>
              <a:r>
                <a:rPr lang="en-US" dirty="0">
                  <a:solidFill>
                    <a:srgbClr val="484848"/>
                  </a:solidFill>
                  <a:latin typeface="Roboto"/>
                </a:rPr>
                <a:t> April 2024 to 31</a:t>
              </a:r>
              <a:r>
                <a:rPr lang="en-US" baseline="30000" dirty="0">
                  <a:solidFill>
                    <a:srgbClr val="484848"/>
                  </a:solidFill>
                  <a:latin typeface="Roboto"/>
                </a:rPr>
                <a:t>st</a:t>
              </a:r>
              <a:r>
                <a:rPr lang="en-US" dirty="0">
                  <a:solidFill>
                    <a:srgbClr val="484848"/>
                  </a:solidFill>
                  <a:latin typeface="Roboto"/>
                </a:rPr>
                <a:t>  March 2025.</a:t>
              </a:r>
            </a:p>
          </p:txBody>
        </p:sp>
        <p:sp>
          <p:nvSpPr>
            <p:cNvPr id="16" name="TextBox 25"/>
            <p:cNvSpPr txBox="1"/>
            <p:nvPr/>
          </p:nvSpPr>
          <p:spPr>
            <a:xfrm>
              <a:off x="3526569" y="2532553"/>
              <a:ext cx="1753493" cy="1107996"/>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484848"/>
                  </a:solidFill>
                  <a:latin typeface="Roboto"/>
                </a:rPr>
                <a:t>The financial year</a:t>
              </a:r>
              <a:r>
                <a:rPr lang="en-US" b="0" dirty="0">
                  <a:solidFill>
                    <a:srgbClr val="484848"/>
                  </a:solidFill>
                  <a:latin typeface="Roboto"/>
                </a:rPr>
                <a:t> </a:t>
              </a:r>
              <a:r>
                <a:rPr b="0" dirty="0">
                  <a:solidFill>
                    <a:srgbClr val="484848"/>
                  </a:solidFill>
                  <a:latin typeface="Roboto"/>
                </a:rPr>
                <a:t>concludes on </a:t>
              </a:r>
              <a:r>
                <a:rPr lang="en-US" b="0" dirty="0">
                  <a:solidFill>
                    <a:srgbClr val="484848"/>
                  </a:solidFill>
                  <a:latin typeface="Roboto"/>
                </a:rPr>
                <a:t>31</a:t>
              </a:r>
              <a:r>
                <a:rPr lang="en-US" b="0" baseline="30000" dirty="0">
                  <a:solidFill>
                    <a:srgbClr val="484848"/>
                  </a:solidFill>
                  <a:latin typeface="Roboto"/>
                </a:rPr>
                <a:t>st</a:t>
              </a:r>
              <a:r>
                <a:rPr lang="en-US" b="0" dirty="0">
                  <a:solidFill>
                    <a:srgbClr val="484848"/>
                  </a:solidFill>
                  <a:latin typeface="Roboto"/>
                </a:rPr>
                <a:t> </a:t>
              </a:r>
              <a:r>
                <a:rPr b="0" dirty="0">
                  <a:solidFill>
                    <a:srgbClr val="484848"/>
                  </a:solidFill>
                  <a:latin typeface="Roboto"/>
                </a:rPr>
                <a:t>March</a:t>
              </a:r>
              <a:r>
                <a:rPr lang="en-US" dirty="0">
                  <a:solidFill>
                    <a:srgbClr val="484848"/>
                  </a:solidFill>
                  <a:latin typeface="Roboto"/>
                </a:rPr>
                <a:t> </a:t>
              </a:r>
              <a:r>
                <a:rPr b="0" dirty="0">
                  <a:solidFill>
                    <a:srgbClr val="484848"/>
                  </a:solidFill>
                  <a:latin typeface="Roboto"/>
                </a:rPr>
                <a:t>2024.</a:t>
              </a:r>
            </a:p>
          </p:txBody>
        </p:sp>
        <p:sp>
          <p:nvSpPr>
            <p:cNvPr id="17" name="TextBox 26"/>
            <p:cNvSpPr txBox="1"/>
            <p:nvPr/>
          </p:nvSpPr>
          <p:spPr>
            <a:xfrm>
              <a:off x="1592316" y="2884254"/>
              <a:ext cx="1728755" cy="830997"/>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484848"/>
                  </a:solidFill>
                  <a:latin typeface="Roboto"/>
                </a:rPr>
                <a:t>The financial year</a:t>
              </a:r>
              <a:r>
                <a:rPr lang="en-US" b="0" dirty="0">
                  <a:solidFill>
                    <a:srgbClr val="484848"/>
                  </a:solidFill>
                  <a:latin typeface="Roboto"/>
                </a:rPr>
                <a:t> </a:t>
              </a:r>
              <a:r>
                <a:rPr b="0" dirty="0">
                  <a:solidFill>
                    <a:srgbClr val="484848"/>
                  </a:solidFill>
                  <a:latin typeface="Roboto"/>
                </a:rPr>
                <a:t>begins on </a:t>
              </a:r>
              <a:r>
                <a:rPr lang="en-US" b="0" dirty="0">
                  <a:solidFill>
                    <a:srgbClr val="484848"/>
                  </a:solidFill>
                  <a:latin typeface="Roboto"/>
                </a:rPr>
                <a:t>1</a:t>
              </a:r>
              <a:r>
                <a:rPr lang="en-US" b="0" baseline="30000" dirty="0">
                  <a:solidFill>
                    <a:srgbClr val="484848"/>
                  </a:solidFill>
                  <a:latin typeface="Roboto"/>
                </a:rPr>
                <a:t>st</a:t>
              </a:r>
              <a:r>
                <a:rPr lang="en-US" b="0" dirty="0">
                  <a:solidFill>
                    <a:srgbClr val="484848"/>
                  </a:solidFill>
                  <a:latin typeface="Roboto"/>
                </a:rPr>
                <a:t> </a:t>
              </a:r>
              <a:r>
                <a:rPr b="0" dirty="0">
                  <a:solidFill>
                    <a:srgbClr val="484848"/>
                  </a:solidFill>
                  <a:latin typeface="Roboto"/>
                </a:rPr>
                <a:t>April</a:t>
              </a:r>
              <a:r>
                <a:rPr lang="en-US" b="0" dirty="0">
                  <a:solidFill>
                    <a:srgbClr val="484848"/>
                  </a:solidFill>
                  <a:latin typeface="Roboto"/>
                </a:rPr>
                <a:t> </a:t>
              </a:r>
              <a:r>
                <a:rPr b="0" dirty="0">
                  <a:solidFill>
                    <a:srgbClr val="484848"/>
                  </a:solidFill>
                  <a:latin typeface="Roboto"/>
                </a:rPr>
                <a:t>2023.</a:t>
              </a:r>
            </a:p>
          </p:txBody>
        </p:sp>
        <p:sp>
          <p:nvSpPr>
            <p:cNvPr id="18" name="TextBox 27"/>
            <p:cNvSpPr txBox="1"/>
            <p:nvPr/>
          </p:nvSpPr>
          <p:spPr>
            <a:xfrm>
              <a:off x="9050774" y="2772203"/>
              <a:ext cx="1568492" cy="1384995"/>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484848"/>
                  </a:solidFill>
                  <a:latin typeface="Roboto"/>
                </a:rPr>
                <a:t>The earned income
is taxed in the
assessment year</a:t>
              </a:r>
              <a:r>
                <a:rPr lang="en-US" b="0" dirty="0">
                  <a:solidFill>
                    <a:srgbClr val="484848"/>
                  </a:solidFill>
                  <a:latin typeface="Roboto"/>
                </a:rPr>
                <a:t> 2024-’25.</a:t>
              </a:r>
              <a:endParaRPr b="0" dirty="0">
                <a:solidFill>
                  <a:srgbClr val="484848"/>
                </a:solidFill>
                <a:latin typeface="Roboto"/>
              </a:endParaRPr>
            </a:p>
          </p:txBody>
        </p:sp>
        <p:sp>
          <p:nvSpPr>
            <p:cNvPr id="19" name="TextBox 28"/>
            <p:cNvSpPr txBox="1"/>
            <p:nvPr/>
          </p:nvSpPr>
          <p:spPr>
            <a:xfrm>
              <a:off x="5460737" y="2492314"/>
              <a:ext cx="1391049" cy="1384995"/>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484848"/>
                  </a:solidFill>
                  <a:latin typeface="Roboto"/>
                </a:rPr>
                <a:t>Income earned during the
financial year</a:t>
              </a:r>
              <a:r>
                <a:rPr lang="en-US" b="0" dirty="0">
                  <a:solidFill>
                    <a:srgbClr val="484848"/>
                  </a:solidFill>
                  <a:latin typeface="Roboto"/>
                </a:rPr>
                <a:t> 2023-’24</a:t>
              </a:r>
              <a:r>
                <a:rPr lang="en-US" dirty="0">
                  <a:solidFill>
                    <a:srgbClr val="484848"/>
                  </a:solidFill>
                  <a:latin typeface="Roboto"/>
                </a:rPr>
                <a:t>.</a:t>
              </a:r>
              <a:endParaRPr lang="en-US" b="0" dirty="0">
                <a:solidFill>
                  <a:srgbClr val="484848"/>
                </a:solidFill>
                <a:latin typeface="Roboto"/>
              </a:endParaRPr>
            </a:p>
          </p:txBody>
        </p:sp>
        <p:sp>
          <p:nvSpPr>
            <p:cNvPr id="20" name="TextBox 29"/>
            <p:cNvSpPr txBox="1"/>
            <p:nvPr/>
          </p:nvSpPr>
          <p:spPr>
            <a:xfrm>
              <a:off x="7110950" y="1999971"/>
              <a:ext cx="1540237" cy="615553"/>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92BD39"/>
                  </a:solidFill>
                  <a:latin typeface="Roboto"/>
                </a:rPr>
                <a:t>Assessment
Year</a:t>
              </a:r>
            </a:p>
          </p:txBody>
        </p:sp>
        <p:sp>
          <p:nvSpPr>
            <p:cNvPr id="21" name="TextBox 30"/>
            <p:cNvSpPr txBox="1"/>
            <p:nvPr/>
          </p:nvSpPr>
          <p:spPr>
            <a:xfrm>
              <a:off x="5520692" y="1632668"/>
              <a:ext cx="1271141" cy="615553"/>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3CC583"/>
                  </a:solidFill>
                  <a:latin typeface="Roboto"/>
                </a:rPr>
                <a:t>Income Earned</a:t>
              </a:r>
            </a:p>
          </p:txBody>
        </p:sp>
        <p:sp>
          <p:nvSpPr>
            <p:cNvPr id="22" name="TextBox 31"/>
            <p:cNvSpPr txBox="1"/>
            <p:nvPr/>
          </p:nvSpPr>
          <p:spPr>
            <a:xfrm>
              <a:off x="3526569" y="1794006"/>
              <a:ext cx="1753493" cy="615553"/>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1EABDA"/>
                  </a:solidFill>
                  <a:latin typeface="Roboto"/>
                </a:rPr>
                <a:t>Previous Year
End</a:t>
              </a:r>
            </a:p>
          </p:txBody>
        </p:sp>
        <p:sp>
          <p:nvSpPr>
            <p:cNvPr id="23" name="TextBox 32"/>
            <p:cNvSpPr txBox="1"/>
            <p:nvPr/>
          </p:nvSpPr>
          <p:spPr>
            <a:xfrm>
              <a:off x="1592316" y="2049079"/>
              <a:ext cx="1728755" cy="615553"/>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4E88E7"/>
                  </a:solidFill>
                  <a:latin typeface="Roboto"/>
                </a:rPr>
                <a:t>Previous Year
Start</a:t>
              </a:r>
            </a:p>
          </p:txBody>
        </p:sp>
        <p:sp>
          <p:nvSpPr>
            <p:cNvPr id="25" name="TextBox 34"/>
            <p:cNvSpPr txBox="1"/>
            <p:nvPr/>
          </p:nvSpPr>
          <p:spPr>
            <a:xfrm>
              <a:off x="9250369" y="1897063"/>
              <a:ext cx="1169302" cy="615553"/>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E0CB15"/>
                  </a:solidFill>
                  <a:latin typeface="Roboto"/>
                </a:rPr>
                <a:t>Income Taxed</a:t>
              </a:r>
            </a:p>
          </p:txBody>
        </p:sp>
      </p:grpSp>
    </p:spTree>
    <p:extLst>
      <p:ext uri="{BB962C8B-B14F-4D97-AF65-F5344CB8AC3E}">
        <p14:creationId xmlns:p14="http://schemas.microsoft.com/office/powerpoint/2010/main" val="27114790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CD3B8563-8D93-4B4D-A8C0-EE99B702BAEC}"/>
              </a:ext>
            </a:extLst>
          </p:cNvPr>
          <p:cNvSpPr txBox="1"/>
          <p:nvPr/>
        </p:nvSpPr>
        <p:spPr>
          <a:xfrm>
            <a:off x="6798357" y="3518638"/>
            <a:ext cx="4055165" cy="584775"/>
          </a:xfrm>
          <a:prstGeom prst="rect">
            <a:avLst/>
          </a:prstGeom>
          <a:noFill/>
        </p:spPr>
        <p:txBody>
          <a:bodyPr wrap="square" rtlCol="0">
            <a:spAutoFit/>
          </a:bodyPr>
          <a:lstStyle/>
          <a:p>
            <a:pPr algn="ctr"/>
            <a:endParaRPr lang="en-IN" sz="3200" b="1" dirty="0">
              <a:solidFill>
                <a:srgbClr val="C00000"/>
              </a:solidFill>
              <a:latin typeface="+mj-lt"/>
              <a:cs typeface="Times New Roman" panose="02020603050405020304" pitchFamily="18" charset="0"/>
            </a:endParaRPr>
          </a:p>
        </p:txBody>
      </p:sp>
      <p:cxnSp>
        <p:nvCxnSpPr>
          <p:cNvPr id="21" name="Straight Connector 20">
            <a:extLst>
              <a:ext uri="{FF2B5EF4-FFF2-40B4-BE49-F238E27FC236}">
                <a16:creationId xmlns:a16="http://schemas.microsoft.com/office/drawing/2014/main" id="{43D90689-31B8-4272-83EF-FD63B5265DD9}"/>
              </a:ext>
            </a:extLst>
          </p:cNvPr>
          <p:cNvCxnSpPr/>
          <p:nvPr/>
        </p:nvCxnSpPr>
        <p:spPr>
          <a:xfrm>
            <a:off x="622844" y="2032899"/>
            <a:ext cx="4174434" cy="0"/>
          </a:xfrm>
          <a:prstGeom prst="line">
            <a:avLst/>
          </a:prstGeom>
          <a:ln w="28575"/>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8AECF774-F55D-4BED-ABBA-27737BF1D727}"/>
              </a:ext>
            </a:extLst>
          </p:cNvPr>
          <p:cNvSpPr txBox="1"/>
          <p:nvPr/>
        </p:nvSpPr>
        <p:spPr>
          <a:xfrm>
            <a:off x="-79519" y="1614720"/>
            <a:ext cx="1842050" cy="461665"/>
          </a:xfrm>
          <a:prstGeom prst="rect">
            <a:avLst/>
          </a:prstGeom>
          <a:noFill/>
        </p:spPr>
        <p:txBody>
          <a:bodyPr wrap="square" rtlCol="0">
            <a:spAutoFit/>
          </a:bodyPr>
          <a:lstStyle/>
          <a:p>
            <a:pPr algn="ctr"/>
            <a:r>
              <a:rPr lang="en-IN" sz="2400" b="1" dirty="0">
                <a:latin typeface="+mj-lt"/>
                <a:cs typeface="Times New Roman" panose="02020603050405020304" pitchFamily="18" charset="0"/>
              </a:rPr>
              <a:t>01-04-2020</a:t>
            </a:r>
          </a:p>
        </p:txBody>
      </p:sp>
      <p:sp>
        <p:nvSpPr>
          <p:cNvPr id="23" name="TextBox 22">
            <a:extLst>
              <a:ext uri="{FF2B5EF4-FFF2-40B4-BE49-F238E27FC236}">
                <a16:creationId xmlns:a16="http://schemas.microsoft.com/office/drawing/2014/main" id="{85B4D9B2-4EFE-4DD4-AE4C-4838014FBE63}"/>
              </a:ext>
            </a:extLst>
          </p:cNvPr>
          <p:cNvSpPr txBox="1"/>
          <p:nvPr/>
        </p:nvSpPr>
        <p:spPr>
          <a:xfrm>
            <a:off x="3723854" y="1597613"/>
            <a:ext cx="1842050" cy="461665"/>
          </a:xfrm>
          <a:prstGeom prst="rect">
            <a:avLst/>
          </a:prstGeom>
          <a:noFill/>
        </p:spPr>
        <p:txBody>
          <a:bodyPr wrap="square" rtlCol="0">
            <a:spAutoFit/>
          </a:bodyPr>
          <a:lstStyle/>
          <a:p>
            <a:pPr algn="ctr"/>
            <a:r>
              <a:rPr lang="en-IN" sz="2400" b="1" dirty="0">
                <a:latin typeface="+mj-lt"/>
                <a:cs typeface="Times New Roman" panose="02020603050405020304" pitchFamily="18" charset="0"/>
              </a:rPr>
              <a:t>31-03-2021</a:t>
            </a:r>
          </a:p>
        </p:txBody>
      </p:sp>
      <p:sp>
        <p:nvSpPr>
          <p:cNvPr id="24" name="TextBox 23">
            <a:extLst>
              <a:ext uri="{FF2B5EF4-FFF2-40B4-BE49-F238E27FC236}">
                <a16:creationId xmlns:a16="http://schemas.microsoft.com/office/drawing/2014/main" id="{3B164B35-2AB3-4AA8-8538-2F705FBF8E69}"/>
              </a:ext>
            </a:extLst>
          </p:cNvPr>
          <p:cNvSpPr txBox="1"/>
          <p:nvPr/>
        </p:nvSpPr>
        <p:spPr>
          <a:xfrm>
            <a:off x="1732733" y="1995532"/>
            <a:ext cx="2073955" cy="461665"/>
          </a:xfrm>
          <a:prstGeom prst="rect">
            <a:avLst/>
          </a:prstGeom>
          <a:noFill/>
        </p:spPr>
        <p:txBody>
          <a:bodyPr wrap="square" rtlCol="0">
            <a:spAutoFit/>
          </a:bodyPr>
          <a:lstStyle/>
          <a:p>
            <a:pPr algn="ctr"/>
            <a:r>
              <a:rPr lang="en-IN" sz="2400" dirty="0">
                <a:latin typeface="+mj-lt"/>
                <a:cs typeface="Times New Roman" panose="02020603050405020304" pitchFamily="18" charset="0"/>
              </a:rPr>
              <a:t>Income earned</a:t>
            </a:r>
          </a:p>
        </p:txBody>
      </p:sp>
      <p:cxnSp>
        <p:nvCxnSpPr>
          <p:cNvPr id="25" name="Straight Connector 24">
            <a:extLst>
              <a:ext uri="{FF2B5EF4-FFF2-40B4-BE49-F238E27FC236}">
                <a16:creationId xmlns:a16="http://schemas.microsoft.com/office/drawing/2014/main" id="{4915DF44-C7C6-42D4-8AB4-E8DAF46DF047}"/>
              </a:ext>
            </a:extLst>
          </p:cNvPr>
          <p:cNvCxnSpPr/>
          <p:nvPr/>
        </p:nvCxnSpPr>
        <p:spPr>
          <a:xfrm>
            <a:off x="6652592" y="2032899"/>
            <a:ext cx="4174434" cy="0"/>
          </a:xfrm>
          <a:prstGeom prst="line">
            <a:avLst/>
          </a:prstGeom>
          <a:ln w="28575"/>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0ACDD5D3-D70F-4F85-BBCE-5264AFBA3723}"/>
              </a:ext>
            </a:extLst>
          </p:cNvPr>
          <p:cNvSpPr txBox="1"/>
          <p:nvPr/>
        </p:nvSpPr>
        <p:spPr>
          <a:xfrm>
            <a:off x="5950229" y="1614720"/>
            <a:ext cx="1842050" cy="461665"/>
          </a:xfrm>
          <a:prstGeom prst="rect">
            <a:avLst/>
          </a:prstGeom>
          <a:noFill/>
        </p:spPr>
        <p:txBody>
          <a:bodyPr wrap="square" rtlCol="0">
            <a:spAutoFit/>
          </a:bodyPr>
          <a:lstStyle/>
          <a:p>
            <a:pPr algn="ctr"/>
            <a:r>
              <a:rPr lang="en-IN" sz="2400" b="1" dirty="0">
                <a:latin typeface="+mj-lt"/>
                <a:cs typeface="Times New Roman" panose="02020603050405020304" pitchFamily="18" charset="0"/>
              </a:rPr>
              <a:t>01-04-2021</a:t>
            </a:r>
          </a:p>
        </p:txBody>
      </p:sp>
      <p:sp>
        <p:nvSpPr>
          <p:cNvPr id="27" name="TextBox 26">
            <a:extLst>
              <a:ext uri="{FF2B5EF4-FFF2-40B4-BE49-F238E27FC236}">
                <a16:creationId xmlns:a16="http://schemas.microsoft.com/office/drawing/2014/main" id="{6F7687A0-956C-4819-8D3A-7C6BF6B5FB46}"/>
              </a:ext>
            </a:extLst>
          </p:cNvPr>
          <p:cNvSpPr txBox="1"/>
          <p:nvPr/>
        </p:nvSpPr>
        <p:spPr>
          <a:xfrm>
            <a:off x="9753602" y="1597613"/>
            <a:ext cx="1842050" cy="461665"/>
          </a:xfrm>
          <a:prstGeom prst="rect">
            <a:avLst/>
          </a:prstGeom>
          <a:noFill/>
        </p:spPr>
        <p:txBody>
          <a:bodyPr wrap="square" rtlCol="0">
            <a:spAutoFit/>
          </a:bodyPr>
          <a:lstStyle/>
          <a:p>
            <a:pPr algn="ctr"/>
            <a:r>
              <a:rPr lang="en-IN" sz="2400" b="1" dirty="0">
                <a:latin typeface="+mj-lt"/>
                <a:cs typeface="Times New Roman" panose="02020603050405020304" pitchFamily="18" charset="0"/>
              </a:rPr>
              <a:t>31-03-2022</a:t>
            </a:r>
          </a:p>
        </p:txBody>
      </p:sp>
      <p:sp>
        <p:nvSpPr>
          <p:cNvPr id="28" name="TextBox 27">
            <a:extLst>
              <a:ext uri="{FF2B5EF4-FFF2-40B4-BE49-F238E27FC236}">
                <a16:creationId xmlns:a16="http://schemas.microsoft.com/office/drawing/2014/main" id="{30733D9F-2EFC-489B-8F18-512AF77F1ADC}"/>
              </a:ext>
            </a:extLst>
          </p:cNvPr>
          <p:cNvSpPr txBox="1"/>
          <p:nvPr/>
        </p:nvSpPr>
        <p:spPr>
          <a:xfrm>
            <a:off x="7553743" y="2020498"/>
            <a:ext cx="2544394" cy="461665"/>
          </a:xfrm>
          <a:prstGeom prst="rect">
            <a:avLst/>
          </a:prstGeom>
          <a:noFill/>
        </p:spPr>
        <p:txBody>
          <a:bodyPr wrap="square" rtlCol="0">
            <a:spAutoFit/>
          </a:bodyPr>
          <a:lstStyle/>
          <a:p>
            <a:pPr algn="ctr"/>
            <a:r>
              <a:rPr lang="en-IN" sz="2400" dirty="0">
                <a:latin typeface="+mj-lt"/>
                <a:cs typeface="Times New Roman" panose="02020603050405020304" pitchFamily="18" charset="0"/>
              </a:rPr>
              <a:t>Assessment of Tax</a:t>
            </a:r>
          </a:p>
        </p:txBody>
      </p:sp>
      <p:sp>
        <p:nvSpPr>
          <p:cNvPr id="29" name="Arrow: Right 28">
            <a:extLst>
              <a:ext uri="{FF2B5EF4-FFF2-40B4-BE49-F238E27FC236}">
                <a16:creationId xmlns:a16="http://schemas.microsoft.com/office/drawing/2014/main" id="{DFB882D7-0D6B-454C-BD6B-2D1CDF57C6EE}"/>
              </a:ext>
            </a:extLst>
          </p:cNvPr>
          <p:cNvSpPr/>
          <p:nvPr/>
        </p:nvSpPr>
        <p:spPr>
          <a:xfrm>
            <a:off x="5473183" y="1723690"/>
            <a:ext cx="569830" cy="4616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latin typeface="+mj-lt"/>
            </a:endParaRPr>
          </a:p>
        </p:txBody>
      </p:sp>
      <p:cxnSp>
        <p:nvCxnSpPr>
          <p:cNvPr id="40" name="Straight Connector 39">
            <a:extLst>
              <a:ext uri="{FF2B5EF4-FFF2-40B4-BE49-F238E27FC236}">
                <a16:creationId xmlns:a16="http://schemas.microsoft.com/office/drawing/2014/main" id="{CF1E2244-EC1D-4571-BA54-A30647AAAEF9}"/>
              </a:ext>
            </a:extLst>
          </p:cNvPr>
          <p:cNvCxnSpPr/>
          <p:nvPr/>
        </p:nvCxnSpPr>
        <p:spPr>
          <a:xfrm>
            <a:off x="622844" y="3344197"/>
            <a:ext cx="4174434" cy="0"/>
          </a:xfrm>
          <a:prstGeom prst="line">
            <a:avLst/>
          </a:prstGeom>
          <a:ln w="28575"/>
        </p:spPr>
        <p:style>
          <a:lnRef idx="1">
            <a:schemeClr val="dk1"/>
          </a:lnRef>
          <a:fillRef idx="0">
            <a:schemeClr val="dk1"/>
          </a:fillRef>
          <a:effectRef idx="0">
            <a:schemeClr val="dk1"/>
          </a:effectRef>
          <a:fontRef idx="minor">
            <a:schemeClr val="tx1"/>
          </a:fontRef>
        </p:style>
      </p:cxnSp>
      <p:sp>
        <p:nvSpPr>
          <p:cNvPr id="41" name="TextBox 40">
            <a:extLst>
              <a:ext uri="{FF2B5EF4-FFF2-40B4-BE49-F238E27FC236}">
                <a16:creationId xmlns:a16="http://schemas.microsoft.com/office/drawing/2014/main" id="{B5132E01-B6CF-4CF5-AAE0-9C04E783B312}"/>
              </a:ext>
            </a:extLst>
          </p:cNvPr>
          <p:cNvSpPr txBox="1"/>
          <p:nvPr/>
        </p:nvSpPr>
        <p:spPr>
          <a:xfrm>
            <a:off x="-79519" y="2926018"/>
            <a:ext cx="1842050" cy="461665"/>
          </a:xfrm>
          <a:prstGeom prst="rect">
            <a:avLst/>
          </a:prstGeom>
          <a:noFill/>
        </p:spPr>
        <p:txBody>
          <a:bodyPr wrap="square" rtlCol="0">
            <a:spAutoFit/>
          </a:bodyPr>
          <a:lstStyle/>
          <a:p>
            <a:pPr algn="ctr"/>
            <a:r>
              <a:rPr lang="en-IN" sz="2400" b="1" dirty="0">
                <a:latin typeface="+mj-lt"/>
                <a:cs typeface="Times New Roman" panose="02020603050405020304" pitchFamily="18" charset="0"/>
              </a:rPr>
              <a:t>01-04-2021</a:t>
            </a:r>
          </a:p>
        </p:txBody>
      </p:sp>
      <p:sp>
        <p:nvSpPr>
          <p:cNvPr id="42" name="TextBox 41">
            <a:extLst>
              <a:ext uri="{FF2B5EF4-FFF2-40B4-BE49-F238E27FC236}">
                <a16:creationId xmlns:a16="http://schemas.microsoft.com/office/drawing/2014/main" id="{637F3118-1090-4BAA-8688-695E76DCCEA7}"/>
              </a:ext>
            </a:extLst>
          </p:cNvPr>
          <p:cNvSpPr txBox="1"/>
          <p:nvPr/>
        </p:nvSpPr>
        <p:spPr>
          <a:xfrm>
            <a:off x="3723854" y="2908911"/>
            <a:ext cx="1842050" cy="461665"/>
          </a:xfrm>
          <a:prstGeom prst="rect">
            <a:avLst/>
          </a:prstGeom>
          <a:noFill/>
        </p:spPr>
        <p:txBody>
          <a:bodyPr wrap="square" rtlCol="0">
            <a:spAutoFit/>
          </a:bodyPr>
          <a:lstStyle/>
          <a:p>
            <a:pPr algn="ctr"/>
            <a:r>
              <a:rPr lang="en-IN" sz="2400" b="1" dirty="0">
                <a:latin typeface="+mj-lt"/>
                <a:cs typeface="Times New Roman" panose="02020603050405020304" pitchFamily="18" charset="0"/>
              </a:rPr>
              <a:t>31-03-2022</a:t>
            </a:r>
          </a:p>
        </p:txBody>
      </p:sp>
      <p:sp>
        <p:nvSpPr>
          <p:cNvPr id="43" name="TextBox 42">
            <a:extLst>
              <a:ext uri="{FF2B5EF4-FFF2-40B4-BE49-F238E27FC236}">
                <a16:creationId xmlns:a16="http://schemas.microsoft.com/office/drawing/2014/main" id="{968A9CAB-1D4F-4CEB-8460-EC1868D8691A}"/>
              </a:ext>
            </a:extLst>
          </p:cNvPr>
          <p:cNvSpPr txBox="1"/>
          <p:nvPr/>
        </p:nvSpPr>
        <p:spPr>
          <a:xfrm>
            <a:off x="1732733" y="3306830"/>
            <a:ext cx="2073955" cy="461665"/>
          </a:xfrm>
          <a:prstGeom prst="rect">
            <a:avLst/>
          </a:prstGeom>
          <a:noFill/>
        </p:spPr>
        <p:txBody>
          <a:bodyPr wrap="square" rtlCol="0">
            <a:spAutoFit/>
          </a:bodyPr>
          <a:lstStyle/>
          <a:p>
            <a:pPr algn="ctr"/>
            <a:r>
              <a:rPr lang="en-IN" sz="2400" dirty="0">
                <a:latin typeface="+mj-lt"/>
                <a:cs typeface="Times New Roman" panose="02020603050405020304" pitchFamily="18" charset="0"/>
              </a:rPr>
              <a:t>Income earned</a:t>
            </a:r>
          </a:p>
        </p:txBody>
      </p:sp>
      <p:cxnSp>
        <p:nvCxnSpPr>
          <p:cNvPr id="44" name="Straight Connector 43">
            <a:extLst>
              <a:ext uri="{FF2B5EF4-FFF2-40B4-BE49-F238E27FC236}">
                <a16:creationId xmlns:a16="http://schemas.microsoft.com/office/drawing/2014/main" id="{1E36E397-6BD4-4402-A348-C679F418C6EF}"/>
              </a:ext>
            </a:extLst>
          </p:cNvPr>
          <p:cNvCxnSpPr/>
          <p:nvPr/>
        </p:nvCxnSpPr>
        <p:spPr>
          <a:xfrm>
            <a:off x="6652592" y="3344197"/>
            <a:ext cx="4174434" cy="0"/>
          </a:xfrm>
          <a:prstGeom prst="line">
            <a:avLst/>
          </a:prstGeom>
          <a:ln w="28575"/>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17E6A95D-4812-4D26-B7EE-1C5CC84893BD}"/>
              </a:ext>
            </a:extLst>
          </p:cNvPr>
          <p:cNvSpPr txBox="1"/>
          <p:nvPr/>
        </p:nvSpPr>
        <p:spPr>
          <a:xfrm>
            <a:off x="5950229" y="2926018"/>
            <a:ext cx="1842050" cy="461665"/>
          </a:xfrm>
          <a:prstGeom prst="rect">
            <a:avLst/>
          </a:prstGeom>
          <a:noFill/>
        </p:spPr>
        <p:txBody>
          <a:bodyPr wrap="square" rtlCol="0">
            <a:spAutoFit/>
          </a:bodyPr>
          <a:lstStyle/>
          <a:p>
            <a:pPr algn="ctr"/>
            <a:r>
              <a:rPr lang="en-IN" sz="2400" b="1" dirty="0">
                <a:latin typeface="+mj-lt"/>
                <a:cs typeface="Times New Roman" panose="02020603050405020304" pitchFamily="18" charset="0"/>
              </a:rPr>
              <a:t>01-04-2022</a:t>
            </a:r>
          </a:p>
        </p:txBody>
      </p:sp>
      <p:sp>
        <p:nvSpPr>
          <p:cNvPr id="46" name="TextBox 45">
            <a:extLst>
              <a:ext uri="{FF2B5EF4-FFF2-40B4-BE49-F238E27FC236}">
                <a16:creationId xmlns:a16="http://schemas.microsoft.com/office/drawing/2014/main" id="{74815602-DB4A-4A8F-95D6-7BF6781D250E}"/>
              </a:ext>
            </a:extLst>
          </p:cNvPr>
          <p:cNvSpPr txBox="1"/>
          <p:nvPr/>
        </p:nvSpPr>
        <p:spPr>
          <a:xfrm>
            <a:off x="9753602" y="2908911"/>
            <a:ext cx="1842050" cy="461665"/>
          </a:xfrm>
          <a:prstGeom prst="rect">
            <a:avLst/>
          </a:prstGeom>
          <a:noFill/>
        </p:spPr>
        <p:txBody>
          <a:bodyPr wrap="square" rtlCol="0">
            <a:spAutoFit/>
          </a:bodyPr>
          <a:lstStyle/>
          <a:p>
            <a:pPr algn="ctr"/>
            <a:r>
              <a:rPr lang="en-IN" sz="2400" b="1" dirty="0">
                <a:latin typeface="+mj-lt"/>
                <a:cs typeface="Times New Roman" panose="02020603050405020304" pitchFamily="18" charset="0"/>
              </a:rPr>
              <a:t>31-03-2023</a:t>
            </a:r>
          </a:p>
        </p:txBody>
      </p:sp>
      <p:sp>
        <p:nvSpPr>
          <p:cNvPr id="47" name="TextBox 46">
            <a:extLst>
              <a:ext uri="{FF2B5EF4-FFF2-40B4-BE49-F238E27FC236}">
                <a16:creationId xmlns:a16="http://schemas.microsoft.com/office/drawing/2014/main" id="{3D79F93D-7CDF-4439-91CF-683A0BB97D46}"/>
              </a:ext>
            </a:extLst>
          </p:cNvPr>
          <p:cNvSpPr txBox="1"/>
          <p:nvPr/>
        </p:nvSpPr>
        <p:spPr>
          <a:xfrm>
            <a:off x="7553743" y="3331796"/>
            <a:ext cx="2544394" cy="461665"/>
          </a:xfrm>
          <a:prstGeom prst="rect">
            <a:avLst/>
          </a:prstGeom>
          <a:noFill/>
        </p:spPr>
        <p:txBody>
          <a:bodyPr wrap="square" rtlCol="0">
            <a:spAutoFit/>
          </a:bodyPr>
          <a:lstStyle/>
          <a:p>
            <a:pPr algn="ctr"/>
            <a:r>
              <a:rPr lang="en-IN" sz="2400" dirty="0">
                <a:latin typeface="+mj-lt"/>
                <a:cs typeface="Times New Roman" panose="02020603050405020304" pitchFamily="18" charset="0"/>
              </a:rPr>
              <a:t>Assessment of Tax</a:t>
            </a:r>
          </a:p>
        </p:txBody>
      </p:sp>
      <p:sp>
        <p:nvSpPr>
          <p:cNvPr id="48" name="Arrow: Right 47">
            <a:extLst>
              <a:ext uri="{FF2B5EF4-FFF2-40B4-BE49-F238E27FC236}">
                <a16:creationId xmlns:a16="http://schemas.microsoft.com/office/drawing/2014/main" id="{06567ADA-7610-4994-A674-67DBBBDB60E2}"/>
              </a:ext>
            </a:extLst>
          </p:cNvPr>
          <p:cNvSpPr/>
          <p:nvPr/>
        </p:nvSpPr>
        <p:spPr>
          <a:xfrm>
            <a:off x="5473183" y="3034988"/>
            <a:ext cx="569830" cy="4616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mj-lt"/>
            </a:endParaRPr>
          </a:p>
        </p:txBody>
      </p:sp>
      <p:cxnSp>
        <p:nvCxnSpPr>
          <p:cNvPr id="49" name="Straight Connector 48">
            <a:extLst>
              <a:ext uri="{FF2B5EF4-FFF2-40B4-BE49-F238E27FC236}">
                <a16:creationId xmlns:a16="http://schemas.microsoft.com/office/drawing/2014/main" id="{D490C684-EB1F-46A5-B00F-1A5B9E25200B}"/>
              </a:ext>
            </a:extLst>
          </p:cNvPr>
          <p:cNvCxnSpPr/>
          <p:nvPr/>
        </p:nvCxnSpPr>
        <p:spPr>
          <a:xfrm>
            <a:off x="622844" y="4695009"/>
            <a:ext cx="4174434" cy="0"/>
          </a:xfrm>
          <a:prstGeom prst="line">
            <a:avLst/>
          </a:prstGeom>
          <a:ln w="28575"/>
        </p:spPr>
        <p:style>
          <a:lnRef idx="1">
            <a:schemeClr val="dk1"/>
          </a:lnRef>
          <a:fillRef idx="0">
            <a:schemeClr val="dk1"/>
          </a:fillRef>
          <a:effectRef idx="0">
            <a:schemeClr val="dk1"/>
          </a:effectRef>
          <a:fontRef idx="minor">
            <a:schemeClr val="tx1"/>
          </a:fontRef>
        </p:style>
      </p:cxnSp>
      <p:sp>
        <p:nvSpPr>
          <p:cNvPr id="50" name="TextBox 49">
            <a:extLst>
              <a:ext uri="{FF2B5EF4-FFF2-40B4-BE49-F238E27FC236}">
                <a16:creationId xmlns:a16="http://schemas.microsoft.com/office/drawing/2014/main" id="{6EB7958A-8238-49F1-9F42-DA4D9E8B2AD7}"/>
              </a:ext>
            </a:extLst>
          </p:cNvPr>
          <p:cNvSpPr txBox="1"/>
          <p:nvPr/>
        </p:nvSpPr>
        <p:spPr>
          <a:xfrm>
            <a:off x="-79519" y="4276830"/>
            <a:ext cx="1842050" cy="461665"/>
          </a:xfrm>
          <a:prstGeom prst="rect">
            <a:avLst/>
          </a:prstGeom>
          <a:noFill/>
        </p:spPr>
        <p:txBody>
          <a:bodyPr wrap="square" rtlCol="0">
            <a:spAutoFit/>
          </a:bodyPr>
          <a:lstStyle/>
          <a:p>
            <a:pPr algn="ctr"/>
            <a:r>
              <a:rPr lang="en-IN" sz="2400" b="1" dirty="0">
                <a:latin typeface="+mj-lt"/>
                <a:cs typeface="Times New Roman" panose="02020603050405020304" pitchFamily="18" charset="0"/>
              </a:rPr>
              <a:t>01-04-2023</a:t>
            </a:r>
          </a:p>
        </p:txBody>
      </p:sp>
      <p:sp>
        <p:nvSpPr>
          <p:cNvPr id="51" name="TextBox 50">
            <a:extLst>
              <a:ext uri="{FF2B5EF4-FFF2-40B4-BE49-F238E27FC236}">
                <a16:creationId xmlns:a16="http://schemas.microsoft.com/office/drawing/2014/main" id="{C83D1CAA-BF01-4F1A-BB97-25D2F4D0CEB9}"/>
              </a:ext>
            </a:extLst>
          </p:cNvPr>
          <p:cNvSpPr txBox="1"/>
          <p:nvPr/>
        </p:nvSpPr>
        <p:spPr>
          <a:xfrm>
            <a:off x="3723854" y="4259723"/>
            <a:ext cx="1842050" cy="461665"/>
          </a:xfrm>
          <a:prstGeom prst="rect">
            <a:avLst/>
          </a:prstGeom>
          <a:noFill/>
        </p:spPr>
        <p:txBody>
          <a:bodyPr wrap="square" rtlCol="0">
            <a:spAutoFit/>
          </a:bodyPr>
          <a:lstStyle/>
          <a:p>
            <a:pPr algn="ctr"/>
            <a:r>
              <a:rPr lang="en-IN" sz="2400" b="1" dirty="0">
                <a:latin typeface="+mj-lt"/>
                <a:cs typeface="Times New Roman" panose="02020603050405020304" pitchFamily="18" charset="0"/>
              </a:rPr>
              <a:t>31-03-2024</a:t>
            </a:r>
          </a:p>
        </p:txBody>
      </p:sp>
      <p:sp>
        <p:nvSpPr>
          <p:cNvPr id="52" name="TextBox 51">
            <a:extLst>
              <a:ext uri="{FF2B5EF4-FFF2-40B4-BE49-F238E27FC236}">
                <a16:creationId xmlns:a16="http://schemas.microsoft.com/office/drawing/2014/main" id="{E704A68E-BE72-4D11-B3AA-C353F9FF336E}"/>
              </a:ext>
            </a:extLst>
          </p:cNvPr>
          <p:cNvSpPr txBox="1"/>
          <p:nvPr/>
        </p:nvSpPr>
        <p:spPr>
          <a:xfrm>
            <a:off x="1732733" y="4657642"/>
            <a:ext cx="2073955" cy="461665"/>
          </a:xfrm>
          <a:prstGeom prst="rect">
            <a:avLst/>
          </a:prstGeom>
          <a:noFill/>
        </p:spPr>
        <p:txBody>
          <a:bodyPr wrap="square" rtlCol="0">
            <a:spAutoFit/>
          </a:bodyPr>
          <a:lstStyle/>
          <a:p>
            <a:pPr algn="ctr"/>
            <a:r>
              <a:rPr lang="en-IN" sz="2400" dirty="0">
                <a:latin typeface="+mj-lt"/>
                <a:cs typeface="Times New Roman" panose="02020603050405020304" pitchFamily="18" charset="0"/>
              </a:rPr>
              <a:t>Income earned</a:t>
            </a:r>
          </a:p>
        </p:txBody>
      </p:sp>
      <p:cxnSp>
        <p:nvCxnSpPr>
          <p:cNvPr id="53" name="Straight Connector 52">
            <a:extLst>
              <a:ext uri="{FF2B5EF4-FFF2-40B4-BE49-F238E27FC236}">
                <a16:creationId xmlns:a16="http://schemas.microsoft.com/office/drawing/2014/main" id="{33950E4B-7775-4110-A500-F16DC5150C2F}"/>
              </a:ext>
            </a:extLst>
          </p:cNvPr>
          <p:cNvCxnSpPr/>
          <p:nvPr/>
        </p:nvCxnSpPr>
        <p:spPr>
          <a:xfrm>
            <a:off x="6652592" y="4695009"/>
            <a:ext cx="4174434" cy="0"/>
          </a:xfrm>
          <a:prstGeom prst="line">
            <a:avLst/>
          </a:prstGeom>
          <a:ln w="28575"/>
        </p:spPr>
        <p:style>
          <a:lnRef idx="1">
            <a:schemeClr val="dk1"/>
          </a:lnRef>
          <a:fillRef idx="0">
            <a:schemeClr val="dk1"/>
          </a:fillRef>
          <a:effectRef idx="0">
            <a:schemeClr val="dk1"/>
          </a:effectRef>
          <a:fontRef idx="minor">
            <a:schemeClr val="tx1"/>
          </a:fontRef>
        </p:style>
      </p:cxnSp>
      <p:sp>
        <p:nvSpPr>
          <p:cNvPr id="54" name="TextBox 53">
            <a:extLst>
              <a:ext uri="{FF2B5EF4-FFF2-40B4-BE49-F238E27FC236}">
                <a16:creationId xmlns:a16="http://schemas.microsoft.com/office/drawing/2014/main" id="{C7F7470F-6CF2-4888-B62A-2EFC44C70AF0}"/>
              </a:ext>
            </a:extLst>
          </p:cNvPr>
          <p:cNvSpPr txBox="1"/>
          <p:nvPr/>
        </p:nvSpPr>
        <p:spPr>
          <a:xfrm>
            <a:off x="5950229" y="4276830"/>
            <a:ext cx="1842050" cy="461665"/>
          </a:xfrm>
          <a:prstGeom prst="rect">
            <a:avLst/>
          </a:prstGeom>
          <a:noFill/>
        </p:spPr>
        <p:txBody>
          <a:bodyPr wrap="square" rtlCol="0">
            <a:spAutoFit/>
          </a:bodyPr>
          <a:lstStyle/>
          <a:p>
            <a:pPr algn="ctr"/>
            <a:r>
              <a:rPr lang="en-IN" sz="2400" b="1" dirty="0">
                <a:latin typeface="+mj-lt"/>
                <a:cs typeface="Times New Roman" panose="02020603050405020304" pitchFamily="18" charset="0"/>
              </a:rPr>
              <a:t>01-04-2024</a:t>
            </a:r>
          </a:p>
        </p:txBody>
      </p:sp>
      <p:sp>
        <p:nvSpPr>
          <p:cNvPr id="55" name="TextBox 54">
            <a:extLst>
              <a:ext uri="{FF2B5EF4-FFF2-40B4-BE49-F238E27FC236}">
                <a16:creationId xmlns:a16="http://schemas.microsoft.com/office/drawing/2014/main" id="{E0F7FFCD-C401-47E2-BB8D-A836D8CA4706}"/>
              </a:ext>
            </a:extLst>
          </p:cNvPr>
          <p:cNvSpPr txBox="1"/>
          <p:nvPr/>
        </p:nvSpPr>
        <p:spPr>
          <a:xfrm>
            <a:off x="9753602" y="4259723"/>
            <a:ext cx="1842050" cy="461665"/>
          </a:xfrm>
          <a:prstGeom prst="rect">
            <a:avLst/>
          </a:prstGeom>
          <a:noFill/>
        </p:spPr>
        <p:txBody>
          <a:bodyPr wrap="square" rtlCol="0">
            <a:spAutoFit/>
          </a:bodyPr>
          <a:lstStyle/>
          <a:p>
            <a:pPr algn="ctr"/>
            <a:r>
              <a:rPr lang="en-IN" sz="2400" b="1">
                <a:latin typeface="+mj-lt"/>
                <a:cs typeface="Times New Roman" panose="02020603050405020304" pitchFamily="18" charset="0"/>
              </a:rPr>
              <a:t>31-03-2025</a:t>
            </a:r>
            <a:endParaRPr lang="en-IN" sz="2400" b="1" dirty="0">
              <a:latin typeface="+mj-lt"/>
              <a:cs typeface="Times New Roman" panose="02020603050405020304" pitchFamily="18" charset="0"/>
            </a:endParaRPr>
          </a:p>
        </p:txBody>
      </p:sp>
      <p:sp>
        <p:nvSpPr>
          <p:cNvPr id="56" name="TextBox 55">
            <a:extLst>
              <a:ext uri="{FF2B5EF4-FFF2-40B4-BE49-F238E27FC236}">
                <a16:creationId xmlns:a16="http://schemas.microsoft.com/office/drawing/2014/main" id="{C3BDAFEF-8400-4CA5-9EBB-8F297BF256A5}"/>
              </a:ext>
            </a:extLst>
          </p:cNvPr>
          <p:cNvSpPr txBox="1"/>
          <p:nvPr/>
        </p:nvSpPr>
        <p:spPr>
          <a:xfrm>
            <a:off x="7553743" y="4682608"/>
            <a:ext cx="2544394" cy="461665"/>
          </a:xfrm>
          <a:prstGeom prst="rect">
            <a:avLst/>
          </a:prstGeom>
          <a:noFill/>
        </p:spPr>
        <p:txBody>
          <a:bodyPr wrap="square" rtlCol="0">
            <a:spAutoFit/>
          </a:bodyPr>
          <a:lstStyle/>
          <a:p>
            <a:pPr algn="ctr"/>
            <a:r>
              <a:rPr lang="en-IN" sz="2400" dirty="0">
                <a:latin typeface="+mj-lt"/>
                <a:cs typeface="Times New Roman" panose="02020603050405020304" pitchFamily="18" charset="0"/>
              </a:rPr>
              <a:t>Assessment of Tax</a:t>
            </a:r>
          </a:p>
        </p:txBody>
      </p:sp>
      <p:sp>
        <p:nvSpPr>
          <p:cNvPr id="57" name="Arrow: Right 56">
            <a:extLst>
              <a:ext uri="{FF2B5EF4-FFF2-40B4-BE49-F238E27FC236}">
                <a16:creationId xmlns:a16="http://schemas.microsoft.com/office/drawing/2014/main" id="{3186D6D1-F64E-4BA5-91FD-F53C1EF488AE}"/>
              </a:ext>
            </a:extLst>
          </p:cNvPr>
          <p:cNvSpPr/>
          <p:nvPr/>
        </p:nvSpPr>
        <p:spPr>
          <a:xfrm>
            <a:off x="5473183" y="4385800"/>
            <a:ext cx="569830" cy="4616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mj-lt"/>
            </a:endParaRPr>
          </a:p>
        </p:txBody>
      </p:sp>
      <p:sp>
        <p:nvSpPr>
          <p:cNvPr id="2" name="Title 1">
            <a:extLst>
              <a:ext uri="{FF2B5EF4-FFF2-40B4-BE49-F238E27FC236}">
                <a16:creationId xmlns:a16="http://schemas.microsoft.com/office/drawing/2014/main" id="{23251E10-5834-4025-A092-09BE979F23B0}"/>
              </a:ext>
            </a:extLst>
          </p:cNvPr>
          <p:cNvSpPr>
            <a:spLocks noGrp="1"/>
          </p:cNvSpPr>
          <p:nvPr>
            <p:ph type="title"/>
          </p:nvPr>
        </p:nvSpPr>
        <p:spPr>
          <a:xfrm>
            <a:off x="0" y="0"/>
            <a:ext cx="12192000" cy="726198"/>
          </a:xfrm>
        </p:spPr>
        <p:txBody>
          <a:bodyPr numCol="2">
            <a:normAutofit fontScale="90000"/>
          </a:bodyPr>
          <a:lstStyle/>
          <a:p>
            <a:pPr algn="ctr"/>
            <a:br>
              <a:rPr lang="en-IN" sz="3600" dirty="0">
                <a:solidFill>
                  <a:schemeClr val="tx1"/>
                </a:solidFill>
                <a:cs typeface="Times New Roman" panose="02020603050405020304" pitchFamily="18" charset="0"/>
              </a:rPr>
            </a:br>
            <a:r>
              <a:rPr lang="en-IN" sz="3600" dirty="0">
                <a:solidFill>
                  <a:schemeClr val="tx1"/>
                </a:solidFill>
                <a:cs typeface="Times New Roman" panose="02020603050405020304" pitchFamily="18" charset="0"/>
              </a:rPr>
              <a:t>Previous Year</a:t>
            </a:r>
            <a:br>
              <a:rPr lang="en-IN" sz="3600" dirty="0">
                <a:solidFill>
                  <a:schemeClr val="tx1"/>
                </a:solidFill>
                <a:cs typeface="Times New Roman" panose="02020603050405020304" pitchFamily="18" charset="0"/>
              </a:rPr>
            </a:br>
            <a:r>
              <a:rPr lang="en-IN" sz="3600" dirty="0">
                <a:solidFill>
                  <a:schemeClr val="tx1"/>
                </a:solidFill>
                <a:cs typeface="Times New Roman" panose="02020603050405020304" pitchFamily="18" charset="0"/>
              </a:rPr>
              <a:t>						</a:t>
            </a:r>
            <a:br>
              <a:rPr lang="en-IN" sz="3600" dirty="0">
                <a:solidFill>
                  <a:schemeClr val="tx1"/>
                </a:solidFill>
                <a:cs typeface="Times New Roman" panose="02020603050405020304" pitchFamily="18" charset="0"/>
              </a:rPr>
            </a:br>
            <a:br>
              <a:rPr lang="en-IN" sz="3600" dirty="0">
                <a:solidFill>
                  <a:schemeClr val="tx1"/>
                </a:solidFill>
                <a:cs typeface="Times New Roman" panose="02020603050405020304" pitchFamily="18" charset="0"/>
              </a:rPr>
            </a:br>
            <a:r>
              <a:rPr lang="en-IN" sz="3600" dirty="0">
                <a:solidFill>
                  <a:schemeClr val="tx1"/>
                </a:solidFill>
                <a:cs typeface="Times New Roman" panose="02020603050405020304" pitchFamily="18" charset="0"/>
              </a:rPr>
              <a:t>Assessment Year</a:t>
            </a:r>
            <a:br>
              <a:rPr lang="en-IN" sz="3600" dirty="0">
                <a:solidFill>
                  <a:schemeClr val="tx1"/>
                </a:solidFill>
                <a:cs typeface="Times New Roman" panose="02020603050405020304" pitchFamily="18" charset="0"/>
              </a:rPr>
            </a:br>
            <a:endParaRPr lang="en-IN" dirty="0">
              <a:solidFill>
                <a:schemeClr val="tx1"/>
              </a:solidFill>
            </a:endParaRPr>
          </a:p>
        </p:txBody>
      </p:sp>
    </p:spTree>
    <p:custDataLst>
      <p:tags r:id="rId1"/>
    </p:custDataLst>
    <p:extLst>
      <p:ext uri="{BB962C8B-B14F-4D97-AF65-F5344CB8AC3E}">
        <p14:creationId xmlns:p14="http://schemas.microsoft.com/office/powerpoint/2010/main" val="1281098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500"/>
                                        <p:tgtEl>
                                          <p:spTgt spid="2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50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00"/>
                                        <p:tgtEl>
                                          <p:spTgt spid="2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500"/>
                                        <p:tgtEl>
                                          <p:spTgt spid="2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40"/>
                                        </p:tgtEl>
                                        <p:attrNameLst>
                                          <p:attrName>style.visibility</p:attrName>
                                        </p:attrNameLst>
                                      </p:cBhvr>
                                      <p:to>
                                        <p:strVal val="visible"/>
                                      </p:to>
                                    </p:set>
                                    <p:animEffect transition="in" filter="fade">
                                      <p:cBhvr>
                                        <p:cTn id="38" dur="500"/>
                                        <p:tgtEl>
                                          <p:spTgt spid="4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1"/>
                                        </p:tgtEl>
                                        <p:attrNameLst>
                                          <p:attrName>style.visibility</p:attrName>
                                        </p:attrNameLst>
                                      </p:cBhvr>
                                      <p:to>
                                        <p:strVal val="visible"/>
                                      </p:to>
                                    </p:set>
                                    <p:animEffect transition="in" filter="fade">
                                      <p:cBhvr>
                                        <p:cTn id="41" dur="500"/>
                                        <p:tgtEl>
                                          <p:spTgt spid="4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500"/>
                                        <p:tgtEl>
                                          <p:spTgt spid="4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500"/>
                                        <p:tgtEl>
                                          <p:spTgt spid="4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4"/>
                                        </p:tgtEl>
                                        <p:attrNameLst>
                                          <p:attrName>style.visibility</p:attrName>
                                        </p:attrNameLst>
                                      </p:cBhvr>
                                      <p:to>
                                        <p:strVal val="visible"/>
                                      </p:to>
                                    </p:set>
                                    <p:animEffect transition="in" filter="fade">
                                      <p:cBhvr>
                                        <p:cTn id="52" dur="500"/>
                                        <p:tgtEl>
                                          <p:spTgt spid="4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5"/>
                                        </p:tgtEl>
                                        <p:attrNameLst>
                                          <p:attrName>style.visibility</p:attrName>
                                        </p:attrNameLst>
                                      </p:cBhvr>
                                      <p:to>
                                        <p:strVal val="visible"/>
                                      </p:to>
                                    </p:set>
                                    <p:animEffect transition="in" filter="fade">
                                      <p:cBhvr>
                                        <p:cTn id="55" dur="500"/>
                                        <p:tgtEl>
                                          <p:spTgt spid="4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6"/>
                                        </p:tgtEl>
                                        <p:attrNameLst>
                                          <p:attrName>style.visibility</p:attrName>
                                        </p:attrNameLst>
                                      </p:cBhvr>
                                      <p:to>
                                        <p:strVal val="visible"/>
                                      </p:to>
                                    </p:set>
                                    <p:animEffect transition="in" filter="fade">
                                      <p:cBhvr>
                                        <p:cTn id="58" dur="500"/>
                                        <p:tgtEl>
                                          <p:spTgt spid="4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500"/>
                                        <p:tgtEl>
                                          <p:spTgt spid="4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500"/>
                                        <p:tgtEl>
                                          <p:spTgt spid="48"/>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49"/>
                                        </p:tgtEl>
                                        <p:attrNameLst>
                                          <p:attrName>style.visibility</p:attrName>
                                        </p:attrNameLst>
                                      </p:cBhvr>
                                      <p:to>
                                        <p:strVal val="visible"/>
                                      </p:to>
                                    </p:set>
                                    <p:animEffect transition="in" filter="fade">
                                      <p:cBhvr>
                                        <p:cTn id="69" dur="500"/>
                                        <p:tgtEl>
                                          <p:spTgt spid="4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50"/>
                                        </p:tgtEl>
                                        <p:attrNameLst>
                                          <p:attrName>style.visibility</p:attrName>
                                        </p:attrNameLst>
                                      </p:cBhvr>
                                      <p:to>
                                        <p:strVal val="visible"/>
                                      </p:to>
                                    </p:set>
                                    <p:animEffect transition="in" filter="fade">
                                      <p:cBhvr>
                                        <p:cTn id="72" dur="500"/>
                                        <p:tgtEl>
                                          <p:spTgt spid="5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51"/>
                                        </p:tgtEl>
                                        <p:attrNameLst>
                                          <p:attrName>style.visibility</p:attrName>
                                        </p:attrNameLst>
                                      </p:cBhvr>
                                      <p:to>
                                        <p:strVal val="visible"/>
                                      </p:to>
                                    </p:set>
                                    <p:animEffect transition="in" filter="fade">
                                      <p:cBhvr>
                                        <p:cTn id="75" dur="500"/>
                                        <p:tgtEl>
                                          <p:spTgt spid="5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500"/>
                                        <p:tgtEl>
                                          <p:spTgt spid="52"/>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53"/>
                                        </p:tgtEl>
                                        <p:attrNameLst>
                                          <p:attrName>style.visibility</p:attrName>
                                        </p:attrNameLst>
                                      </p:cBhvr>
                                      <p:to>
                                        <p:strVal val="visible"/>
                                      </p:to>
                                    </p:set>
                                    <p:animEffect transition="in" filter="fade">
                                      <p:cBhvr>
                                        <p:cTn id="83" dur="500"/>
                                        <p:tgtEl>
                                          <p:spTgt spid="53"/>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54"/>
                                        </p:tgtEl>
                                        <p:attrNameLst>
                                          <p:attrName>style.visibility</p:attrName>
                                        </p:attrNameLst>
                                      </p:cBhvr>
                                      <p:to>
                                        <p:strVal val="visible"/>
                                      </p:to>
                                    </p:set>
                                    <p:animEffect transition="in" filter="fade">
                                      <p:cBhvr>
                                        <p:cTn id="86" dur="500"/>
                                        <p:tgtEl>
                                          <p:spTgt spid="54"/>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55"/>
                                        </p:tgtEl>
                                        <p:attrNameLst>
                                          <p:attrName>style.visibility</p:attrName>
                                        </p:attrNameLst>
                                      </p:cBhvr>
                                      <p:to>
                                        <p:strVal val="visible"/>
                                      </p:to>
                                    </p:set>
                                    <p:animEffect transition="in" filter="fade">
                                      <p:cBhvr>
                                        <p:cTn id="89" dur="500"/>
                                        <p:tgtEl>
                                          <p:spTgt spid="55"/>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56"/>
                                        </p:tgtEl>
                                        <p:attrNameLst>
                                          <p:attrName>style.visibility</p:attrName>
                                        </p:attrNameLst>
                                      </p:cBhvr>
                                      <p:to>
                                        <p:strVal val="visible"/>
                                      </p:to>
                                    </p:set>
                                    <p:animEffect transition="in" filter="fade">
                                      <p:cBhvr>
                                        <p:cTn id="92" dur="500"/>
                                        <p:tgtEl>
                                          <p:spTgt spid="56"/>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57"/>
                                        </p:tgtEl>
                                        <p:attrNameLst>
                                          <p:attrName>style.visibility</p:attrName>
                                        </p:attrNameLst>
                                      </p:cBhvr>
                                      <p:to>
                                        <p:strVal val="visible"/>
                                      </p:to>
                                    </p:set>
                                    <p:animEffect transition="in" filter="fade">
                                      <p:cBhvr>
                                        <p:cTn id="95"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6" grpId="0"/>
      <p:bldP spid="27" grpId="0"/>
      <p:bldP spid="28" grpId="0"/>
      <p:bldP spid="29" grpId="0" animBg="1"/>
      <p:bldP spid="41" grpId="0"/>
      <p:bldP spid="42" grpId="0"/>
      <p:bldP spid="43" grpId="0"/>
      <p:bldP spid="45" grpId="0"/>
      <p:bldP spid="46" grpId="0"/>
      <p:bldP spid="47" grpId="0"/>
      <p:bldP spid="48" grpId="0" animBg="1"/>
      <p:bldP spid="50" grpId="0"/>
      <p:bldP spid="51" grpId="0"/>
      <p:bldP spid="52" grpId="0"/>
      <p:bldP spid="54" grpId="0"/>
      <p:bldP spid="55" grpId="0"/>
      <p:bldP spid="56" grpId="0"/>
      <p:bldP spid="5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3CF18-0B0F-9876-D9D6-742CC84D208E}"/>
              </a:ext>
            </a:extLst>
          </p:cNvPr>
          <p:cNvSpPr>
            <a:spLocks noGrp="1"/>
          </p:cNvSpPr>
          <p:nvPr>
            <p:ph type="title"/>
          </p:nvPr>
        </p:nvSpPr>
        <p:spPr/>
        <p:txBody>
          <a:bodyPr/>
          <a:lstStyle/>
          <a:p>
            <a:r>
              <a:rPr lang="en-US" dirty="0"/>
              <a:t>For the purpose of our study</a:t>
            </a:r>
            <a:endParaRPr lang="en-IN" dirty="0"/>
          </a:p>
        </p:txBody>
      </p:sp>
      <p:graphicFrame>
        <p:nvGraphicFramePr>
          <p:cNvPr id="4" name="Content Placeholder 3">
            <a:extLst>
              <a:ext uri="{FF2B5EF4-FFF2-40B4-BE49-F238E27FC236}">
                <a16:creationId xmlns:a16="http://schemas.microsoft.com/office/drawing/2014/main" id="{851B65CC-0B16-FB83-E229-7A74E7E990E5}"/>
              </a:ext>
            </a:extLst>
          </p:cNvPr>
          <p:cNvGraphicFramePr>
            <a:graphicFrameLocks noGrp="1"/>
          </p:cNvGraphicFramePr>
          <p:nvPr>
            <p:ph idx="1"/>
            <p:extLst>
              <p:ext uri="{D42A27DB-BD31-4B8C-83A1-F6EECF244321}">
                <p14:modId xmlns:p14="http://schemas.microsoft.com/office/powerpoint/2010/main" val="268797148"/>
              </p:ext>
            </p:extLst>
          </p:nvPr>
        </p:nvGraphicFramePr>
        <p:xfrm>
          <a:off x="131180" y="863444"/>
          <a:ext cx="11929641" cy="55905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08708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Box 35"/>
          <p:cNvSpPr txBox="1"/>
          <p:nvPr/>
        </p:nvSpPr>
        <p:spPr>
          <a:xfrm>
            <a:off x="2481228" y="227850"/>
            <a:ext cx="7229543" cy="430887"/>
          </a:xfrm>
          <a:prstGeom prst="rect">
            <a:avLst/>
          </a:prstGeom>
          <a:noFill/>
          <a:ln>
            <a:noFill/>
          </a:ln>
        </p:spPr>
        <p:txBody>
          <a:bodyPr wrap="none" lIns="0" tIns="0" rIns="0" bIns="0" anchor="t">
            <a:spAutoFit/>
          </a:bodyPr>
          <a:lstStyle/>
          <a:p>
            <a:pPr algn="ctr"/>
            <a:r>
              <a:rPr lang="en-IN" sz="2800" b="1" dirty="0">
                <a:solidFill>
                  <a:srgbClr val="484848"/>
                </a:solidFill>
              </a:rPr>
              <a:t>Heads </a:t>
            </a:r>
            <a:r>
              <a:rPr sz="2800" b="1" dirty="0">
                <a:solidFill>
                  <a:srgbClr val="484848"/>
                </a:solidFill>
              </a:rPr>
              <a:t>of Income </a:t>
            </a:r>
            <a:r>
              <a:rPr lang="en-US" sz="2800" b="1" dirty="0"/>
              <a:t>as per The Income Tax Act, 1961</a:t>
            </a:r>
            <a:endParaRPr sz="2800" b="1" dirty="0">
              <a:solidFill>
                <a:srgbClr val="484848"/>
              </a:solidFill>
            </a:endParaRPr>
          </a:p>
        </p:txBody>
      </p:sp>
      <p:grpSp>
        <p:nvGrpSpPr>
          <p:cNvPr id="39" name="Group 38">
            <a:extLst>
              <a:ext uri="{FF2B5EF4-FFF2-40B4-BE49-F238E27FC236}">
                <a16:creationId xmlns:a16="http://schemas.microsoft.com/office/drawing/2014/main" id="{4EC812F2-E4FE-E5DA-F189-4CF02B849A73}"/>
              </a:ext>
            </a:extLst>
          </p:cNvPr>
          <p:cNvGrpSpPr/>
          <p:nvPr/>
        </p:nvGrpSpPr>
        <p:grpSpPr>
          <a:xfrm>
            <a:off x="2092491" y="932156"/>
            <a:ext cx="8007015" cy="5291669"/>
            <a:chOff x="2814221" y="923278"/>
            <a:chExt cx="6897307" cy="5291669"/>
          </a:xfrm>
        </p:grpSpPr>
        <p:grpSp>
          <p:nvGrpSpPr>
            <p:cNvPr id="4" name="Group 3"/>
            <p:cNvGrpSpPr/>
            <p:nvPr/>
          </p:nvGrpSpPr>
          <p:grpSpPr>
            <a:xfrm>
              <a:off x="3092743" y="1353106"/>
              <a:ext cx="2178306" cy="859653"/>
              <a:chOff x="615657" y="1460715"/>
              <a:chExt cx="1663524" cy="705172"/>
            </a:xfrm>
          </p:grpSpPr>
          <p:sp>
            <p:nvSpPr>
              <p:cNvPr id="2" name="Rounded Rectangle 1"/>
              <p:cNvSpPr/>
              <p:nvPr/>
            </p:nvSpPr>
            <p:spPr>
              <a:xfrm>
                <a:off x="615657" y="1460715"/>
                <a:ext cx="1663524" cy="705172"/>
              </a:xfrm>
              <a:custGeom>
                <a:avLst/>
                <a:gdLst/>
                <a:ahLst/>
                <a:cxnLst/>
                <a:rect l="0" t="0" r="0" b="0"/>
                <a:pathLst>
                  <a:path w="1663524" h="705172">
                    <a:moveTo>
                      <a:pt x="1663524" y="705172"/>
                    </a:moveTo>
                    <a:lnTo>
                      <a:pt x="0" y="705172"/>
                    </a:lnTo>
                    <a:cubicBezTo>
                      <a:pt x="18018" y="680883"/>
                      <a:pt x="37728" y="657377"/>
                      <a:pt x="59131" y="634655"/>
                    </a:cubicBezTo>
                    <a:cubicBezTo>
                      <a:pt x="196859" y="491009"/>
                      <a:pt x="386537" y="402209"/>
                      <a:pt x="628166" y="368257"/>
                    </a:cubicBezTo>
                    <a:lnTo>
                      <a:pt x="628166" y="97940"/>
                    </a:lnTo>
                    <a:cubicBezTo>
                      <a:pt x="628166" y="69211"/>
                      <a:pt x="636623" y="45705"/>
                      <a:pt x="653537" y="27423"/>
                    </a:cubicBezTo>
                    <a:cubicBezTo>
                      <a:pt x="670451" y="9141"/>
                      <a:pt x="692197" y="0"/>
                      <a:pt x="718776" y="0"/>
                    </a:cubicBezTo>
                    <a:lnTo>
                      <a:pt x="976111" y="0"/>
                    </a:lnTo>
                    <a:cubicBezTo>
                      <a:pt x="1000274" y="0"/>
                      <a:pt x="1020812" y="9141"/>
                      <a:pt x="1037726" y="27423"/>
                    </a:cubicBezTo>
                    <a:cubicBezTo>
                      <a:pt x="1054640" y="45705"/>
                      <a:pt x="1063097" y="69211"/>
                      <a:pt x="1063097" y="97940"/>
                    </a:cubicBezTo>
                    <a:lnTo>
                      <a:pt x="1063097" y="376092"/>
                    </a:lnTo>
                    <a:cubicBezTo>
                      <a:pt x="1229820" y="404821"/>
                      <a:pt x="1368757" y="459667"/>
                      <a:pt x="1479906" y="540632"/>
                    </a:cubicBezTo>
                    <a:cubicBezTo>
                      <a:pt x="1552451" y="590683"/>
                      <a:pt x="1613657" y="645530"/>
                      <a:pt x="1663524" y="705172"/>
                    </a:cubicBezTo>
                    <a:close/>
                  </a:path>
                </a:pathLst>
              </a:custGeom>
              <a:solidFill>
                <a:srgbClr val="1EABDA"/>
              </a:solidFill>
              <a:ln>
                <a:noFill/>
              </a:ln>
            </p:spPr>
            <p:txBody>
              <a:bodyPr rtlCol="0" anchor="ctr"/>
              <a:lstStyle/>
              <a:p>
                <a:pPr algn="ctr"/>
                <a:endParaRPr sz="3200"/>
              </a:p>
            </p:txBody>
          </p:sp>
          <p:sp>
            <p:nvSpPr>
              <p:cNvPr id="3" name="Rounded Rectangle 2"/>
              <p:cNvSpPr/>
              <p:nvPr/>
            </p:nvSpPr>
            <p:spPr>
              <a:xfrm>
                <a:off x="615657" y="1460715"/>
                <a:ext cx="1663524" cy="705172"/>
              </a:xfrm>
              <a:custGeom>
                <a:avLst/>
                <a:gdLst/>
                <a:ahLst/>
                <a:cxnLst/>
                <a:rect l="0" t="0" r="0" b="0"/>
                <a:pathLst>
                  <a:path w="1663524" h="705172">
                    <a:moveTo>
                      <a:pt x="1663524" y="705172"/>
                    </a:moveTo>
                    <a:lnTo>
                      <a:pt x="0" y="705172"/>
                    </a:lnTo>
                    <a:cubicBezTo>
                      <a:pt x="18018" y="680883"/>
                      <a:pt x="37728" y="657377"/>
                      <a:pt x="59131" y="634655"/>
                    </a:cubicBezTo>
                    <a:cubicBezTo>
                      <a:pt x="196859" y="491009"/>
                      <a:pt x="386537" y="402209"/>
                      <a:pt x="628166" y="368257"/>
                    </a:cubicBezTo>
                    <a:lnTo>
                      <a:pt x="628166" y="97940"/>
                    </a:lnTo>
                    <a:cubicBezTo>
                      <a:pt x="628166" y="69211"/>
                      <a:pt x="636623" y="45705"/>
                      <a:pt x="653537" y="27423"/>
                    </a:cubicBezTo>
                    <a:cubicBezTo>
                      <a:pt x="670451" y="9141"/>
                      <a:pt x="692197" y="0"/>
                      <a:pt x="718776" y="0"/>
                    </a:cubicBezTo>
                    <a:lnTo>
                      <a:pt x="976111" y="0"/>
                    </a:lnTo>
                    <a:cubicBezTo>
                      <a:pt x="1000274" y="0"/>
                      <a:pt x="1020812" y="9141"/>
                      <a:pt x="1037726" y="27423"/>
                    </a:cubicBezTo>
                    <a:cubicBezTo>
                      <a:pt x="1054640" y="45705"/>
                      <a:pt x="1063097" y="69211"/>
                      <a:pt x="1063097" y="97940"/>
                    </a:cubicBezTo>
                    <a:lnTo>
                      <a:pt x="1063097" y="376092"/>
                    </a:lnTo>
                    <a:cubicBezTo>
                      <a:pt x="1229820" y="404821"/>
                      <a:pt x="1368757" y="459667"/>
                      <a:pt x="1479906" y="540632"/>
                    </a:cubicBezTo>
                    <a:cubicBezTo>
                      <a:pt x="1552451" y="590683"/>
                      <a:pt x="1613657" y="645530"/>
                      <a:pt x="1663524" y="705172"/>
                    </a:cubicBezTo>
                    <a:close/>
                  </a:path>
                </a:pathLst>
              </a:custGeom>
              <a:noFill/>
              <a:ln w="12591">
                <a:solidFill>
                  <a:srgbClr val="FFFFFF"/>
                </a:solidFill>
              </a:ln>
            </p:spPr>
            <p:txBody>
              <a:bodyPr rtlCol="0" anchor="ctr"/>
              <a:lstStyle/>
              <a:p>
                <a:pPr algn="ctr"/>
                <a:endParaRPr sz="3200"/>
              </a:p>
            </p:txBody>
          </p:sp>
        </p:grpSp>
        <p:grpSp>
          <p:nvGrpSpPr>
            <p:cNvPr id="7" name="Group 6"/>
            <p:cNvGrpSpPr/>
            <p:nvPr/>
          </p:nvGrpSpPr>
          <p:grpSpPr>
            <a:xfrm>
              <a:off x="2904394" y="2212760"/>
              <a:ext cx="2586578" cy="859653"/>
              <a:chOff x="471819" y="2165888"/>
              <a:chExt cx="1975312" cy="705172"/>
            </a:xfrm>
          </p:grpSpPr>
          <p:sp>
            <p:nvSpPr>
              <p:cNvPr id="5" name="Rounded Rectangle 4"/>
              <p:cNvSpPr/>
              <p:nvPr/>
            </p:nvSpPr>
            <p:spPr>
              <a:xfrm>
                <a:off x="471819" y="2165888"/>
                <a:ext cx="1975312" cy="705172"/>
              </a:xfrm>
              <a:custGeom>
                <a:avLst/>
                <a:gdLst/>
                <a:ahLst/>
                <a:cxnLst/>
                <a:rect l="0" t="0" r="0" b="0"/>
                <a:pathLst>
                  <a:path w="1975312" h="705172">
                    <a:moveTo>
                      <a:pt x="1807360" y="0"/>
                    </a:moveTo>
                    <a:cubicBezTo>
                      <a:pt x="1835558" y="33724"/>
                      <a:pt x="1860130" y="68983"/>
                      <a:pt x="1881077" y="105775"/>
                    </a:cubicBezTo>
                    <a:cubicBezTo>
                      <a:pt x="1941484" y="205022"/>
                      <a:pt x="1972895" y="301657"/>
                      <a:pt x="1975312" y="395680"/>
                    </a:cubicBezTo>
                    <a:cubicBezTo>
                      <a:pt x="1975312" y="416574"/>
                      <a:pt x="1968063" y="436162"/>
                      <a:pt x="1953565" y="454444"/>
                    </a:cubicBezTo>
                    <a:cubicBezTo>
                      <a:pt x="1939067" y="470115"/>
                      <a:pt x="1920945" y="477950"/>
                      <a:pt x="1899199" y="477950"/>
                    </a:cubicBezTo>
                    <a:lnTo>
                      <a:pt x="1489639" y="477950"/>
                    </a:lnTo>
                    <a:cubicBezTo>
                      <a:pt x="1467892" y="477950"/>
                      <a:pt x="1439059" y="475280"/>
                      <a:pt x="1419729" y="464833"/>
                    </a:cubicBezTo>
                    <a:cubicBezTo>
                      <a:pt x="1400399" y="454386"/>
                      <a:pt x="1381239" y="429677"/>
                      <a:pt x="1377282" y="407432"/>
                    </a:cubicBezTo>
                    <a:cubicBezTo>
                      <a:pt x="1365200" y="339527"/>
                      <a:pt x="1322916" y="280762"/>
                      <a:pt x="1250426" y="231139"/>
                    </a:cubicBezTo>
                    <a:cubicBezTo>
                      <a:pt x="1177938" y="178904"/>
                      <a:pt x="1086119" y="152787"/>
                      <a:pt x="974970" y="152787"/>
                    </a:cubicBezTo>
                    <a:cubicBezTo>
                      <a:pt x="856572" y="152787"/>
                      <a:pt x="762337" y="176293"/>
                      <a:pt x="692265" y="223304"/>
                    </a:cubicBezTo>
                    <a:cubicBezTo>
                      <a:pt x="622193" y="270316"/>
                      <a:pt x="587157" y="342139"/>
                      <a:pt x="587157" y="438774"/>
                    </a:cubicBezTo>
                    <a:cubicBezTo>
                      <a:pt x="587157" y="501455"/>
                      <a:pt x="605279" y="554997"/>
                      <a:pt x="641523" y="599396"/>
                    </a:cubicBezTo>
                    <a:cubicBezTo>
                      <a:pt x="675004" y="637998"/>
                      <a:pt x="728071" y="673257"/>
                      <a:pt x="800727" y="705172"/>
                    </a:cubicBezTo>
                    <a:lnTo>
                      <a:pt x="32591" y="705172"/>
                    </a:lnTo>
                    <a:cubicBezTo>
                      <a:pt x="10863" y="630177"/>
                      <a:pt x="0" y="546602"/>
                      <a:pt x="0" y="454444"/>
                    </a:cubicBezTo>
                    <a:cubicBezTo>
                      <a:pt x="0" y="280752"/>
                      <a:pt x="47945" y="129271"/>
                      <a:pt x="143836" y="0"/>
                    </a:cubicBezTo>
                    <a:close/>
                  </a:path>
                </a:pathLst>
              </a:custGeom>
              <a:solidFill>
                <a:srgbClr val="3CC583"/>
              </a:solidFill>
              <a:ln>
                <a:noFill/>
              </a:ln>
            </p:spPr>
            <p:txBody>
              <a:bodyPr rtlCol="0" anchor="ctr"/>
              <a:lstStyle/>
              <a:p>
                <a:pPr algn="ctr"/>
                <a:endParaRPr sz="3200"/>
              </a:p>
            </p:txBody>
          </p:sp>
          <p:sp>
            <p:nvSpPr>
              <p:cNvPr id="6" name="Rounded Rectangle 5"/>
              <p:cNvSpPr/>
              <p:nvPr/>
            </p:nvSpPr>
            <p:spPr>
              <a:xfrm>
                <a:off x="471819" y="2165888"/>
                <a:ext cx="1975312" cy="705172"/>
              </a:xfrm>
              <a:custGeom>
                <a:avLst/>
                <a:gdLst/>
                <a:ahLst/>
                <a:cxnLst/>
                <a:rect l="0" t="0" r="0" b="0"/>
                <a:pathLst>
                  <a:path w="1975312" h="705172">
                    <a:moveTo>
                      <a:pt x="1807360" y="0"/>
                    </a:moveTo>
                    <a:cubicBezTo>
                      <a:pt x="1835558" y="33724"/>
                      <a:pt x="1860130" y="68983"/>
                      <a:pt x="1881077" y="105775"/>
                    </a:cubicBezTo>
                    <a:cubicBezTo>
                      <a:pt x="1941484" y="205022"/>
                      <a:pt x="1972895" y="301657"/>
                      <a:pt x="1975312" y="395680"/>
                    </a:cubicBezTo>
                    <a:cubicBezTo>
                      <a:pt x="1975312" y="416574"/>
                      <a:pt x="1968063" y="436162"/>
                      <a:pt x="1953565" y="454444"/>
                    </a:cubicBezTo>
                    <a:cubicBezTo>
                      <a:pt x="1939067" y="470115"/>
                      <a:pt x="1920945" y="477950"/>
                      <a:pt x="1899199" y="477950"/>
                    </a:cubicBezTo>
                    <a:lnTo>
                      <a:pt x="1489639" y="477950"/>
                    </a:lnTo>
                    <a:cubicBezTo>
                      <a:pt x="1467892" y="477950"/>
                      <a:pt x="1439059" y="475280"/>
                      <a:pt x="1419729" y="464833"/>
                    </a:cubicBezTo>
                    <a:cubicBezTo>
                      <a:pt x="1400399" y="454386"/>
                      <a:pt x="1381239" y="429677"/>
                      <a:pt x="1377282" y="407432"/>
                    </a:cubicBezTo>
                    <a:cubicBezTo>
                      <a:pt x="1365200" y="339527"/>
                      <a:pt x="1322916" y="280762"/>
                      <a:pt x="1250426" y="231139"/>
                    </a:cubicBezTo>
                    <a:cubicBezTo>
                      <a:pt x="1177938" y="178904"/>
                      <a:pt x="1086119" y="152787"/>
                      <a:pt x="974970" y="152787"/>
                    </a:cubicBezTo>
                    <a:cubicBezTo>
                      <a:pt x="856572" y="152787"/>
                      <a:pt x="762337" y="176293"/>
                      <a:pt x="692265" y="223304"/>
                    </a:cubicBezTo>
                    <a:cubicBezTo>
                      <a:pt x="622193" y="270316"/>
                      <a:pt x="587157" y="342139"/>
                      <a:pt x="587157" y="438774"/>
                    </a:cubicBezTo>
                    <a:cubicBezTo>
                      <a:pt x="587157" y="501455"/>
                      <a:pt x="605279" y="554997"/>
                      <a:pt x="641523" y="599396"/>
                    </a:cubicBezTo>
                    <a:cubicBezTo>
                      <a:pt x="675004" y="637998"/>
                      <a:pt x="728071" y="673257"/>
                      <a:pt x="800727" y="705172"/>
                    </a:cubicBezTo>
                    <a:lnTo>
                      <a:pt x="32591" y="705172"/>
                    </a:lnTo>
                    <a:cubicBezTo>
                      <a:pt x="10863" y="630177"/>
                      <a:pt x="0" y="546602"/>
                      <a:pt x="0" y="454444"/>
                    </a:cubicBezTo>
                    <a:cubicBezTo>
                      <a:pt x="0" y="280752"/>
                      <a:pt x="47945" y="129271"/>
                      <a:pt x="143836" y="0"/>
                    </a:cubicBezTo>
                    <a:close/>
                  </a:path>
                </a:pathLst>
              </a:custGeom>
              <a:noFill/>
              <a:ln w="12591">
                <a:solidFill>
                  <a:srgbClr val="FFFFFF"/>
                </a:solidFill>
              </a:ln>
            </p:spPr>
            <p:txBody>
              <a:bodyPr rtlCol="0" anchor="ctr"/>
              <a:lstStyle/>
              <a:p>
                <a:pPr algn="ctr"/>
                <a:endParaRPr sz="3200"/>
              </a:p>
            </p:txBody>
          </p:sp>
        </p:grpSp>
        <p:grpSp>
          <p:nvGrpSpPr>
            <p:cNvPr id="10" name="Group 9"/>
            <p:cNvGrpSpPr/>
            <p:nvPr/>
          </p:nvGrpSpPr>
          <p:grpSpPr>
            <a:xfrm>
              <a:off x="2947068" y="3072414"/>
              <a:ext cx="2615881" cy="859653"/>
              <a:chOff x="504408" y="2871061"/>
              <a:chExt cx="1997690" cy="705172"/>
            </a:xfrm>
          </p:grpSpPr>
          <p:sp>
            <p:nvSpPr>
              <p:cNvPr id="8" name="Rounded Rectangle 7"/>
              <p:cNvSpPr/>
              <p:nvPr/>
            </p:nvSpPr>
            <p:spPr>
              <a:xfrm>
                <a:off x="504408" y="2871061"/>
                <a:ext cx="1997690" cy="705172"/>
              </a:xfrm>
              <a:custGeom>
                <a:avLst/>
                <a:gdLst/>
                <a:ahLst/>
                <a:cxnLst/>
                <a:rect l="0" t="0" r="0" b="0"/>
                <a:pathLst>
                  <a:path w="1997690" h="705172">
                    <a:moveTo>
                      <a:pt x="768136" y="0"/>
                    </a:moveTo>
                    <a:cubicBezTo>
                      <a:pt x="774133" y="2634"/>
                      <a:pt x="780264" y="5245"/>
                      <a:pt x="786528" y="7834"/>
                    </a:cubicBezTo>
                    <a:cubicBezTo>
                      <a:pt x="868682" y="39176"/>
                      <a:pt x="979831" y="74435"/>
                      <a:pt x="1119976" y="113610"/>
                    </a:cubicBezTo>
                    <a:cubicBezTo>
                      <a:pt x="1332609" y="160622"/>
                      <a:pt x="1505373" y="216775"/>
                      <a:pt x="1638268" y="282069"/>
                    </a:cubicBezTo>
                    <a:cubicBezTo>
                      <a:pt x="1771164" y="347363"/>
                      <a:pt x="1867815" y="432244"/>
                      <a:pt x="1928223" y="536714"/>
                    </a:cubicBezTo>
                    <a:cubicBezTo>
                      <a:pt x="1958839" y="586354"/>
                      <a:pt x="1981994" y="642507"/>
                      <a:pt x="1997690" y="705172"/>
                    </a:cubicBezTo>
                    <a:lnTo>
                      <a:pt x="1245925" y="705172"/>
                    </a:lnTo>
                    <a:cubicBezTo>
                      <a:pt x="1223102" y="694379"/>
                      <a:pt x="1198032" y="683932"/>
                      <a:pt x="1170717" y="673832"/>
                    </a:cubicBezTo>
                    <a:cubicBezTo>
                      <a:pt x="1081315" y="639878"/>
                      <a:pt x="960500" y="603314"/>
                      <a:pt x="808275" y="564138"/>
                    </a:cubicBezTo>
                    <a:cubicBezTo>
                      <a:pt x="627053" y="522350"/>
                      <a:pt x="473620" y="468809"/>
                      <a:pt x="347973" y="403515"/>
                    </a:cubicBezTo>
                    <a:cubicBezTo>
                      <a:pt x="222326" y="335610"/>
                      <a:pt x="126883" y="249422"/>
                      <a:pt x="61643" y="144952"/>
                    </a:cubicBezTo>
                    <a:cubicBezTo>
                      <a:pt x="35766" y="100844"/>
                      <a:pt x="15218" y="52526"/>
                      <a:pt x="0" y="0"/>
                    </a:cubicBezTo>
                    <a:close/>
                  </a:path>
                </a:pathLst>
              </a:custGeom>
              <a:solidFill>
                <a:srgbClr val="92BD39"/>
              </a:solidFill>
              <a:ln>
                <a:noFill/>
              </a:ln>
            </p:spPr>
            <p:txBody>
              <a:bodyPr rtlCol="0" anchor="ctr"/>
              <a:lstStyle/>
              <a:p>
                <a:pPr algn="ctr"/>
                <a:endParaRPr sz="3200"/>
              </a:p>
            </p:txBody>
          </p:sp>
          <p:sp>
            <p:nvSpPr>
              <p:cNvPr id="9" name="Rounded Rectangle 8"/>
              <p:cNvSpPr/>
              <p:nvPr/>
            </p:nvSpPr>
            <p:spPr>
              <a:xfrm>
                <a:off x="504408" y="2871061"/>
                <a:ext cx="1997690" cy="705172"/>
              </a:xfrm>
              <a:custGeom>
                <a:avLst/>
                <a:gdLst/>
                <a:ahLst/>
                <a:cxnLst/>
                <a:rect l="0" t="0" r="0" b="0"/>
                <a:pathLst>
                  <a:path w="1997690" h="705172">
                    <a:moveTo>
                      <a:pt x="768136" y="0"/>
                    </a:moveTo>
                    <a:cubicBezTo>
                      <a:pt x="774133" y="2634"/>
                      <a:pt x="780264" y="5245"/>
                      <a:pt x="786528" y="7834"/>
                    </a:cubicBezTo>
                    <a:cubicBezTo>
                      <a:pt x="868682" y="39176"/>
                      <a:pt x="979831" y="74435"/>
                      <a:pt x="1119976" y="113610"/>
                    </a:cubicBezTo>
                    <a:cubicBezTo>
                      <a:pt x="1332609" y="160622"/>
                      <a:pt x="1505373" y="216775"/>
                      <a:pt x="1638268" y="282069"/>
                    </a:cubicBezTo>
                    <a:cubicBezTo>
                      <a:pt x="1771164" y="347363"/>
                      <a:pt x="1867815" y="432244"/>
                      <a:pt x="1928223" y="536714"/>
                    </a:cubicBezTo>
                    <a:cubicBezTo>
                      <a:pt x="1958839" y="586354"/>
                      <a:pt x="1981994" y="642507"/>
                      <a:pt x="1997690" y="705172"/>
                    </a:cubicBezTo>
                    <a:lnTo>
                      <a:pt x="1245925" y="705172"/>
                    </a:lnTo>
                    <a:cubicBezTo>
                      <a:pt x="1223102" y="694379"/>
                      <a:pt x="1198032" y="683932"/>
                      <a:pt x="1170717" y="673832"/>
                    </a:cubicBezTo>
                    <a:cubicBezTo>
                      <a:pt x="1081315" y="639878"/>
                      <a:pt x="960500" y="603314"/>
                      <a:pt x="808275" y="564138"/>
                    </a:cubicBezTo>
                    <a:cubicBezTo>
                      <a:pt x="627053" y="522350"/>
                      <a:pt x="473620" y="468809"/>
                      <a:pt x="347973" y="403515"/>
                    </a:cubicBezTo>
                    <a:cubicBezTo>
                      <a:pt x="222326" y="335610"/>
                      <a:pt x="126883" y="249422"/>
                      <a:pt x="61643" y="144952"/>
                    </a:cubicBezTo>
                    <a:cubicBezTo>
                      <a:pt x="35766" y="100844"/>
                      <a:pt x="15218" y="52526"/>
                      <a:pt x="0" y="0"/>
                    </a:cubicBezTo>
                    <a:close/>
                  </a:path>
                </a:pathLst>
              </a:custGeom>
              <a:noFill/>
              <a:ln w="12591">
                <a:solidFill>
                  <a:srgbClr val="FFFFFF"/>
                </a:solidFill>
              </a:ln>
            </p:spPr>
            <p:txBody>
              <a:bodyPr rtlCol="0" anchor="ctr"/>
              <a:lstStyle/>
              <a:p>
                <a:pPr algn="ctr"/>
                <a:endParaRPr sz="3200"/>
              </a:p>
            </p:txBody>
          </p:sp>
        </p:grpSp>
        <p:grpSp>
          <p:nvGrpSpPr>
            <p:cNvPr id="13" name="Group 12"/>
            <p:cNvGrpSpPr/>
            <p:nvPr/>
          </p:nvGrpSpPr>
          <p:grpSpPr>
            <a:xfrm>
              <a:off x="2814221" y="3932068"/>
              <a:ext cx="2781164" cy="859653"/>
              <a:chOff x="402955" y="3576233"/>
              <a:chExt cx="2123913" cy="705172"/>
            </a:xfrm>
          </p:grpSpPr>
          <p:sp>
            <p:nvSpPr>
              <p:cNvPr id="11" name="Rounded Rectangle 10"/>
              <p:cNvSpPr/>
              <p:nvPr/>
            </p:nvSpPr>
            <p:spPr>
              <a:xfrm>
                <a:off x="402955" y="3576233"/>
                <a:ext cx="2123913" cy="705172"/>
              </a:xfrm>
              <a:custGeom>
                <a:avLst/>
                <a:gdLst/>
                <a:ahLst/>
                <a:cxnLst/>
                <a:rect l="0" t="0" r="0" b="0"/>
                <a:pathLst>
                  <a:path w="2123913" h="705172">
                    <a:moveTo>
                      <a:pt x="1960614" y="705172"/>
                    </a:moveTo>
                    <a:lnTo>
                      <a:pt x="158144" y="705172"/>
                    </a:lnTo>
                    <a:cubicBezTo>
                      <a:pt x="137112" y="678862"/>
                      <a:pt x="118225" y="651438"/>
                      <a:pt x="101483" y="622902"/>
                    </a:cubicBezTo>
                    <a:cubicBezTo>
                      <a:pt x="38660" y="515821"/>
                      <a:pt x="4832" y="403515"/>
                      <a:pt x="0" y="285987"/>
                    </a:cubicBezTo>
                    <a:cubicBezTo>
                      <a:pt x="0" y="265092"/>
                      <a:pt x="7249" y="246810"/>
                      <a:pt x="21747" y="231139"/>
                    </a:cubicBezTo>
                    <a:cubicBezTo>
                      <a:pt x="38660" y="212858"/>
                      <a:pt x="57990" y="203716"/>
                      <a:pt x="79737" y="203716"/>
                    </a:cubicBezTo>
                    <a:lnTo>
                      <a:pt x="467550" y="203716"/>
                    </a:lnTo>
                    <a:cubicBezTo>
                      <a:pt x="498962" y="203716"/>
                      <a:pt x="531379" y="211438"/>
                      <a:pt x="548293" y="227109"/>
                    </a:cubicBezTo>
                    <a:cubicBezTo>
                      <a:pt x="565207" y="240168"/>
                      <a:pt x="577895" y="253840"/>
                      <a:pt x="587157" y="278151"/>
                    </a:cubicBezTo>
                    <a:cubicBezTo>
                      <a:pt x="604071" y="322551"/>
                      <a:pt x="630650" y="365644"/>
                      <a:pt x="666894" y="407432"/>
                    </a:cubicBezTo>
                    <a:cubicBezTo>
                      <a:pt x="705554" y="449221"/>
                      <a:pt x="757505" y="484479"/>
                      <a:pt x="822744" y="513208"/>
                    </a:cubicBezTo>
                    <a:cubicBezTo>
                      <a:pt x="887984" y="539326"/>
                      <a:pt x="968930" y="552385"/>
                      <a:pt x="1065580" y="552385"/>
                    </a:cubicBezTo>
                    <a:cubicBezTo>
                      <a:pt x="1222639" y="552385"/>
                      <a:pt x="1339829" y="524961"/>
                      <a:pt x="1417150" y="470115"/>
                    </a:cubicBezTo>
                    <a:cubicBezTo>
                      <a:pt x="1496888" y="415268"/>
                      <a:pt x="1536756" y="340833"/>
                      <a:pt x="1536756" y="246810"/>
                    </a:cubicBezTo>
                    <a:cubicBezTo>
                      <a:pt x="1536756" y="178904"/>
                      <a:pt x="1515010" y="124058"/>
                      <a:pt x="1471516" y="82270"/>
                    </a:cubicBezTo>
                    <a:cubicBezTo>
                      <a:pt x="1442659" y="52913"/>
                      <a:pt x="1401281" y="25489"/>
                      <a:pt x="1347381" y="0"/>
                    </a:cubicBezTo>
                    <a:lnTo>
                      <a:pt x="2099146" y="0"/>
                    </a:lnTo>
                    <a:cubicBezTo>
                      <a:pt x="2115657" y="65921"/>
                      <a:pt x="2123913" y="139050"/>
                      <a:pt x="2123913" y="219386"/>
                    </a:cubicBezTo>
                    <a:cubicBezTo>
                      <a:pt x="2123913" y="370868"/>
                      <a:pt x="2088877" y="505373"/>
                      <a:pt x="2018805" y="622902"/>
                    </a:cubicBezTo>
                    <a:cubicBezTo>
                      <a:pt x="2001231" y="651722"/>
                      <a:pt x="1981835" y="679146"/>
                      <a:pt x="1960614" y="705172"/>
                    </a:cubicBezTo>
                    <a:close/>
                  </a:path>
                </a:pathLst>
              </a:custGeom>
              <a:solidFill>
                <a:srgbClr val="E0CB15"/>
              </a:solidFill>
              <a:ln>
                <a:noFill/>
              </a:ln>
            </p:spPr>
            <p:txBody>
              <a:bodyPr rtlCol="0" anchor="ctr"/>
              <a:lstStyle/>
              <a:p>
                <a:pPr algn="ctr"/>
                <a:endParaRPr sz="3200"/>
              </a:p>
            </p:txBody>
          </p:sp>
          <p:sp>
            <p:nvSpPr>
              <p:cNvPr id="12" name="Rounded Rectangle 11"/>
              <p:cNvSpPr/>
              <p:nvPr/>
            </p:nvSpPr>
            <p:spPr>
              <a:xfrm>
                <a:off x="402955" y="3576233"/>
                <a:ext cx="2123913" cy="705172"/>
              </a:xfrm>
              <a:custGeom>
                <a:avLst/>
                <a:gdLst/>
                <a:ahLst/>
                <a:cxnLst/>
                <a:rect l="0" t="0" r="0" b="0"/>
                <a:pathLst>
                  <a:path w="2123913" h="705172">
                    <a:moveTo>
                      <a:pt x="1960614" y="705172"/>
                    </a:moveTo>
                    <a:lnTo>
                      <a:pt x="158144" y="705172"/>
                    </a:lnTo>
                    <a:cubicBezTo>
                      <a:pt x="137112" y="678862"/>
                      <a:pt x="118225" y="651438"/>
                      <a:pt x="101483" y="622902"/>
                    </a:cubicBezTo>
                    <a:cubicBezTo>
                      <a:pt x="38660" y="515821"/>
                      <a:pt x="4832" y="403515"/>
                      <a:pt x="0" y="285987"/>
                    </a:cubicBezTo>
                    <a:cubicBezTo>
                      <a:pt x="0" y="265092"/>
                      <a:pt x="7249" y="246810"/>
                      <a:pt x="21747" y="231139"/>
                    </a:cubicBezTo>
                    <a:cubicBezTo>
                      <a:pt x="38660" y="212858"/>
                      <a:pt x="57990" y="203716"/>
                      <a:pt x="79737" y="203716"/>
                    </a:cubicBezTo>
                    <a:lnTo>
                      <a:pt x="467550" y="203716"/>
                    </a:lnTo>
                    <a:cubicBezTo>
                      <a:pt x="498962" y="203716"/>
                      <a:pt x="531379" y="211438"/>
                      <a:pt x="548293" y="227109"/>
                    </a:cubicBezTo>
                    <a:cubicBezTo>
                      <a:pt x="565207" y="240168"/>
                      <a:pt x="577895" y="253840"/>
                      <a:pt x="587157" y="278151"/>
                    </a:cubicBezTo>
                    <a:cubicBezTo>
                      <a:pt x="604071" y="322551"/>
                      <a:pt x="630650" y="365644"/>
                      <a:pt x="666894" y="407432"/>
                    </a:cubicBezTo>
                    <a:cubicBezTo>
                      <a:pt x="705554" y="449221"/>
                      <a:pt x="757505" y="484479"/>
                      <a:pt x="822744" y="513208"/>
                    </a:cubicBezTo>
                    <a:cubicBezTo>
                      <a:pt x="887984" y="539326"/>
                      <a:pt x="968930" y="552385"/>
                      <a:pt x="1065580" y="552385"/>
                    </a:cubicBezTo>
                    <a:cubicBezTo>
                      <a:pt x="1222639" y="552385"/>
                      <a:pt x="1339829" y="524961"/>
                      <a:pt x="1417150" y="470115"/>
                    </a:cubicBezTo>
                    <a:cubicBezTo>
                      <a:pt x="1496888" y="415268"/>
                      <a:pt x="1536756" y="340833"/>
                      <a:pt x="1536756" y="246810"/>
                    </a:cubicBezTo>
                    <a:cubicBezTo>
                      <a:pt x="1536756" y="178904"/>
                      <a:pt x="1515010" y="124058"/>
                      <a:pt x="1471516" y="82270"/>
                    </a:cubicBezTo>
                    <a:cubicBezTo>
                      <a:pt x="1442659" y="52913"/>
                      <a:pt x="1401281" y="25489"/>
                      <a:pt x="1347381" y="0"/>
                    </a:cubicBezTo>
                    <a:lnTo>
                      <a:pt x="2099146" y="0"/>
                    </a:lnTo>
                    <a:cubicBezTo>
                      <a:pt x="2115657" y="65921"/>
                      <a:pt x="2123913" y="139050"/>
                      <a:pt x="2123913" y="219386"/>
                    </a:cubicBezTo>
                    <a:cubicBezTo>
                      <a:pt x="2123913" y="370868"/>
                      <a:pt x="2088877" y="505373"/>
                      <a:pt x="2018805" y="622902"/>
                    </a:cubicBezTo>
                    <a:cubicBezTo>
                      <a:pt x="2001231" y="651722"/>
                      <a:pt x="1981835" y="679146"/>
                      <a:pt x="1960614" y="705172"/>
                    </a:cubicBezTo>
                    <a:close/>
                  </a:path>
                </a:pathLst>
              </a:custGeom>
              <a:noFill/>
              <a:ln w="12591">
                <a:solidFill>
                  <a:srgbClr val="FFFFFF"/>
                </a:solidFill>
              </a:ln>
            </p:spPr>
            <p:txBody>
              <a:bodyPr rtlCol="0" anchor="ctr"/>
              <a:lstStyle/>
              <a:p>
                <a:pPr algn="ctr"/>
                <a:endParaRPr sz="3200"/>
              </a:p>
            </p:txBody>
          </p:sp>
        </p:grpSp>
        <p:grpSp>
          <p:nvGrpSpPr>
            <p:cNvPr id="16" name="Group 15"/>
            <p:cNvGrpSpPr/>
            <p:nvPr/>
          </p:nvGrpSpPr>
          <p:grpSpPr>
            <a:xfrm>
              <a:off x="3021302" y="4791722"/>
              <a:ext cx="2360250" cy="859653"/>
              <a:chOff x="561099" y="4281406"/>
              <a:chExt cx="1802470" cy="705172"/>
            </a:xfrm>
          </p:grpSpPr>
          <p:sp>
            <p:nvSpPr>
              <p:cNvPr id="14" name="Rounded Rectangle 13"/>
              <p:cNvSpPr/>
              <p:nvPr/>
            </p:nvSpPr>
            <p:spPr>
              <a:xfrm>
                <a:off x="561099" y="4281406"/>
                <a:ext cx="1802470" cy="705172"/>
              </a:xfrm>
              <a:custGeom>
                <a:avLst/>
                <a:gdLst/>
                <a:ahLst/>
                <a:cxnLst/>
                <a:rect l="0" t="0" r="0" b="0"/>
                <a:pathLst>
                  <a:path w="1802470" h="705172">
                    <a:moveTo>
                      <a:pt x="682722" y="607231"/>
                    </a:moveTo>
                    <a:lnTo>
                      <a:pt x="682722" y="336915"/>
                    </a:lnTo>
                    <a:cubicBezTo>
                      <a:pt x="499085" y="313409"/>
                      <a:pt x="345651" y="265092"/>
                      <a:pt x="222420" y="191964"/>
                    </a:cubicBezTo>
                    <a:cubicBezTo>
                      <a:pt x="132030" y="136407"/>
                      <a:pt x="57889" y="72419"/>
                      <a:pt x="0" y="0"/>
                    </a:cubicBezTo>
                    <a:lnTo>
                      <a:pt x="1802470" y="0"/>
                    </a:lnTo>
                    <a:cubicBezTo>
                      <a:pt x="1739075" y="77754"/>
                      <a:pt x="1659404" y="143048"/>
                      <a:pt x="1563458" y="195881"/>
                    </a:cubicBezTo>
                    <a:cubicBezTo>
                      <a:pt x="1437811" y="266398"/>
                      <a:pt x="1289209" y="313409"/>
                      <a:pt x="1117653" y="336915"/>
                    </a:cubicBezTo>
                    <a:lnTo>
                      <a:pt x="1117653" y="607231"/>
                    </a:lnTo>
                    <a:cubicBezTo>
                      <a:pt x="1117653" y="635961"/>
                      <a:pt x="1109196" y="659467"/>
                      <a:pt x="1092282" y="677749"/>
                    </a:cubicBezTo>
                    <a:cubicBezTo>
                      <a:pt x="1075368" y="696031"/>
                      <a:pt x="1054830" y="705172"/>
                      <a:pt x="1030667" y="705172"/>
                    </a:cubicBezTo>
                    <a:lnTo>
                      <a:pt x="773332" y="705172"/>
                    </a:lnTo>
                    <a:cubicBezTo>
                      <a:pt x="746753" y="705172"/>
                      <a:pt x="725007" y="696031"/>
                      <a:pt x="708093" y="677749"/>
                    </a:cubicBezTo>
                    <a:cubicBezTo>
                      <a:pt x="691179" y="659467"/>
                      <a:pt x="682722" y="635961"/>
                      <a:pt x="682722" y="607231"/>
                    </a:cubicBezTo>
                    <a:close/>
                  </a:path>
                </a:pathLst>
              </a:custGeom>
              <a:solidFill>
                <a:srgbClr val="DE8431"/>
              </a:solidFill>
              <a:ln>
                <a:noFill/>
              </a:ln>
            </p:spPr>
            <p:txBody>
              <a:bodyPr rtlCol="0" anchor="ctr"/>
              <a:lstStyle/>
              <a:p>
                <a:pPr algn="ctr"/>
                <a:endParaRPr sz="3200"/>
              </a:p>
            </p:txBody>
          </p:sp>
          <p:sp>
            <p:nvSpPr>
              <p:cNvPr id="15" name="Rounded Rectangle 14"/>
              <p:cNvSpPr/>
              <p:nvPr/>
            </p:nvSpPr>
            <p:spPr>
              <a:xfrm>
                <a:off x="561099" y="4281406"/>
                <a:ext cx="1802470" cy="705172"/>
              </a:xfrm>
              <a:custGeom>
                <a:avLst/>
                <a:gdLst/>
                <a:ahLst/>
                <a:cxnLst/>
                <a:rect l="0" t="0" r="0" b="0"/>
                <a:pathLst>
                  <a:path w="1802470" h="705172">
                    <a:moveTo>
                      <a:pt x="682722" y="607231"/>
                    </a:moveTo>
                    <a:lnTo>
                      <a:pt x="682722" y="336915"/>
                    </a:lnTo>
                    <a:cubicBezTo>
                      <a:pt x="499085" y="313409"/>
                      <a:pt x="345651" y="265092"/>
                      <a:pt x="222420" y="191964"/>
                    </a:cubicBezTo>
                    <a:cubicBezTo>
                      <a:pt x="132030" y="136407"/>
                      <a:pt x="57889" y="72419"/>
                      <a:pt x="0" y="0"/>
                    </a:cubicBezTo>
                    <a:lnTo>
                      <a:pt x="1802470" y="0"/>
                    </a:lnTo>
                    <a:cubicBezTo>
                      <a:pt x="1739075" y="77754"/>
                      <a:pt x="1659404" y="143048"/>
                      <a:pt x="1563458" y="195881"/>
                    </a:cubicBezTo>
                    <a:cubicBezTo>
                      <a:pt x="1437811" y="266398"/>
                      <a:pt x="1289209" y="313409"/>
                      <a:pt x="1117653" y="336915"/>
                    </a:cubicBezTo>
                    <a:lnTo>
                      <a:pt x="1117653" y="607231"/>
                    </a:lnTo>
                    <a:cubicBezTo>
                      <a:pt x="1117653" y="635961"/>
                      <a:pt x="1109196" y="659467"/>
                      <a:pt x="1092282" y="677749"/>
                    </a:cubicBezTo>
                    <a:cubicBezTo>
                      <a:pt x="1075368" y="696031"/>
                      <a:pt x="1054830" y="705172"/>
                      <a:pt x="1030667" y="705172"/>
                    </a:cubicBezTo>
                    <a:lnTo>
                      <a:pt x="773332" y="705172"/>
                    </a:lnTo>
                    <a:cubicBezTo>
                      <a:pt x="746753" y="705172"/>
                      <a:pt x="725007" y="696031"/>
                      <a:pt x="708093" y="677749"/>
                    </a:cubicBezTo>
                    <a:cubicBezTo>
                      <a:pt x="691179" y="659467"/>
                      <a:pt x="682722" y="635961"/>
                      <a:pt x="682722" y="607231"/>
                    </a:cubicBezTo>
                    <a:close/>
                  </a:path>
                </a:pathLst>
              </a:custGeom>
              <a:noFill/>
              <a:ln w="12591">
                <a:solidFill>
                  <a:srgbClr val="FFFFFF"/>
                </a:solidFill>
              </a:ln>
            </p:spPr>
            <p:txBody>
              <a:bodyPr rtlCol="0" anchor="ctr"/>
              <a:lstStyle/>
              <a:p>
                <a:pPr algn="ctr"/>
                <a:endParaRPr sz="3200"/>
              </a:p>
            </p:txBody>
          </p:sp>
        </p:grpSp>
        <p:sp>
          <p:nvSpPr>
            <p:cNvPr id="17" name="Rounded Rectangle 16"/>
            <p:cNvSpPr/>
            <p:nvPr/>
          </p:nvSpPr>
          <p:spPr>
            <a:xfrm>
              <a:off x="6771609" y="923278"/>
              <a:ext cx="10992" cy="614038"/>
            </a:xfrm>
            <a:custGeom>
              <a:avLst/>
              <a:gdLst/>
              <a:ahLst/>
              <a:cxnLst/>
              <a:rect l="0" t="0" r="0" b="0"/>
              <a:pathLst>
                <a:path w="8394" h="503694">
                  <a:moveTo>
                    <a:pt x="0" y="0"/>
                  </a:moveTo>
                  <a:lnTo>
                    <a:pt x="0" y="503694"/>
                  </a:lnTo>
                </a:path>
              </a:pathLst>
            </a:custGeom>
            <a:noFill/>
            <a:ln w="12591">
              <a:solidFill>
                <a:srgbClr val="484848"/>
              </a:solidFill>
            </a:ln>
          </p:spPr>
          <p:txBody>
            <a:bodyPr rtlCol="0" anchor="ctr"/>
            <a:lstStyle/>
            <a:p>
              <a:pPr algn="ctr"/>
              <a:endParaRPr sz="3200"/>
            </a:p>
          </p:txBody>
        </p:sp>
        <p:sp>
          <p:nvSpPr>
            <p:cNvPr id="18" name="Rounded Rectangle 17"/>
            <p:cNvSpPr/>
            <p:nvPr/>
          </p:nvSpPr>
          <p:spPr>
            <a:xfrm>
              <a:off x="6771609" y="1782934"/>
              <a:ext cx="10992" cy="982461"/>
            </a:xfrm>
            <a:custGeom>
              <a:avLst/>
              <a:gdLst/>
              <a:ahLst/>
              <a:cxnLst/>
              <a:rect l="0" t="0" r="0" b="0"/>
              <a:pathLst>
                <a:path w="8394" h="805911">
                  <a:moveTo>
                    <a:pt x="0" y="0"/>
                  </a:moveTo>
                  <a:lnTo>
                    <a:pt x="0" y="805911"/>
                  </a:lnTo>
                </a:path>
              </a:pathLst>
            </a:custGeom>
            <a:noFill/>
            <a:ln w="12591">
              <a:solidFill>
                <a:srgbClr val="484848"/>
              </a:solidFill>
            </a:ln>
          </p:spPr>
          <p:txBody>
            <a:bodyPr rtlCol="0" anchor="ctr"/>
            <a:lstStyle/>
            <a:p>
              <a:pPr algn="ctr"/>
              <a:endParaRPr sz="3200"/>
            </a:p>
          </p:txBody>
        </p:sp>
        <p:sp>
          <p:nvSpPr>
            <p:cNvPr id="19" name="Rounded Rectangle 18"/>
            <p:cNvSpPr/>
            <p:nvPr/>
          </p:nvSpPr>
          <p:spPr>
            <a:xfrm>
              <a:off x="6771609" y="3011011"/>
              <a:ext cx="10992" cy="982461"/>
            </a:xfrm>
            <a:custGeom>
              <a:avLst/>
              <a:gdLst/>
              <a:ahLst/>
              <a:cxnLst/>
              <a:rect l="0" t="0" r="0" b="0"/>
              <a:pathLst>
                <a:path w="8394" h="805911">
                  <a:moveTo>
                    <a:pt x="0" y="0"/>
                  </a:moveTo>
                  <a:lnTo>
                    <a:pt x="0" y="805911"/>
                  </a:lnTo>
                </a:path>
              </a:pathLst>
            </a:custGeom>
            <a:noFill/>
            <a:ln w="12591">
              <a:solidFill>
                <a:srgbClr val="484848"/>
              </a:solidFill>
            </a:ln>
          </p:spPr>
          <p:txBody>
            <a:bodyPr rtlCol="0" anchor="ctr"/>
            <a:lstStyle/>
            <a:p>
              <a:pPr algn="ctr"/>
              <a:endParaRPr sz="3200"/>
            </a:p>
          </p:txBody>
        </p:sp>
        <p:sp>
          <p:nvSpPr>
            <p:cNvPr id="20" name="Rounded Rectangle 19"/>
            <p:cNvSpPr/>
            <p:nvPr/>
          </p:nvSpPr>
          <p:spPr>
            <a:xfrm>
              <a:off x="6771609" y="4239088"/>
              <a:ext cx="10992" cy="614038"/>
            </a:xfrm>
            <a:custGeom>
              <a:avLst/>
              <a:gdLst/>
              <a:ahLst/>
              <a:cxnLst/>
              <a:rect l="0" t="0" r="0" b="0"/>
              <a:pathLst>
                <a:path w="8394" h="503694">
                  <a:moveTo>
                    <a:pt x="0" y="0"/>
                  </a:moveTo>
                  <a:lnTo>
                    <a:pt x="0" y="503694"/>
                  </a:lnTo>
                </a:path>
              </a:pathLst>
            </a:custGeom>
            <a:noFill/>
            <a:ln w="12591">
              <a:solidFill>
                <a:srgbClr val="484848"/>
              </a:solidFill>
            </a:ln>
          </p:spPr>
          <p:txBody>
            <a:bodyPr rtlCol="0" anchor="ctr"/>
            <a:lstStyle/>
            <a:p>
              <a:pPr algn="ctr"/>
              <a:endParaRPr sz="3200"/>
            </a:p>
          </p:txBody>
        </p:sp>
        <p:sp>
          <p:nvSpPr>
            <p:cNvPr id="21" name="Rounded Rectangle 20"/>
            <p:cNvSpPr/>
            <p:nvPr/>
          </p:nvSpPr>
          <p:spPr>
            <a:xfrm>
              <a:off x="6771609" y="5098743"/>
              <a:ext cx="10992" cy="982461"/>
            </a:xfrm>
            <a:custGeom>
              <a:avLst/>
              <a:gdLst/>
              <a:ahLst/>
              <a:cxnLst/>
              <a:rect l="0" t="0" r="0" b="0"/>
              <a:pathLst>
                <a:path w="8394" h="805911">
                  <a:moveTo>
                    <a:pt x="0" y="0"/>
                  </a:moveTo>
                  <a:lnTo>
                    <a:pt x="0" y="805911"/>
                  </a:lnTo>
                </a:path>
              </a:pathLst>
            </a:custGeom>
            <a:noFill/>
            <a:ln w="12591">
              <a:solidFill>
                <a:srgbClr val="484848"/>
              </a:solidFill>
            </a:ln>
          </p:spPr>
          <p:txBody>
            <a:bodyPr rtlCol="0" anchor="ctr"/>
            <a:lstStyle/>
            <a:p>
              <a:pPr algn="ctr"/>
              <a:endParaRPr sz="3200"/>
            </a:p>
          </p:txBody>
        </p:sp>
        <p:sp>
          <p:nvSpPr>
            <p:cNvPr id="22" name="Rounded Rectangle 21"/>
            <p:cNvSpPr/>
            <p:nvPr/>
          </p:nvSpPr>
          <p:spPr>
            <a:xfrm>
              <a:off x="6115468" y="5159760"/>
              <a:ext cx="531881" cy="491781"/>
            </a:xfrm>
            <a:custGeom>
              <a:avLst/>
              <a:gdLst/>
              <a:ahLst/>
              <a:cxnLst/>
              <a:rect l="0" t="0" r="0" b="0"/>
              <a:pathLst>
                <a:path w="406186" h="403407">
                  <a:moveTo>
                    <a:pt x="392209" y="77934"/>
                  </a:moveTo>
                  <a:cubicBezTo>
                    <a:pt x="406186" y="124271"/>
                    <a:pt x="387973" y="174278"/>
                    <a:pt x="347472" y="200775"/>
                  </a:cubicBezTo>
                  <a:cubicBezTo>
                    <a:pt x="306970" y="227272"/>
                    <a:pt x="253855" y="223928"/>
                    <a:pt x="216996" y="192560"/>
                  </a:cubicBezTo>
                  <a:cubicBezTo>
                    <a:pt x="217251" y="189151"/>
                    <a:pt x="217251" y="185728"/>
                    <a:pt x="216996" y="182319"/>
                  </a:cubicBezTo>
                  <a:cubicBezTo>
                    <a:pt x="216995" y="154038"/>
                    <a:pt x="202141" y="127836"/>
                    <a:pt x="177875" y="113312"/>
                  </a:cubicBezTo>
                  <a:lnTo>
                    <a:pt x="177875" y="109451"/>
                  </a:lnTo>
                  <a:cubicBezTo>
                    <a:pt x="177968" y="49216"/>
                    <a:pt x="226775" y="409"/>
                    <a:pt x="287009" y="317"/>
                  </a:cubicBezTo>
                  <a:cubicBezTo>
                    <a:pt x="335407" y="0"/>
                    <a:pt x="378233" y="31596"/>
                    <a:pt x="392209" y="77934"/>
                  </a:cubicBezTo>
                  <a:close/>
                  <a:moveTo>
                    <a:pt x="300105" y="171909"/>
                  </a:moveTo>
                  <a:cubicBezTo>
                    <a:pt x="315888" y="169984"/>
                    <a:pt x="328404" y="157688"/>
                    <a:pt x="330609" y="141942"/>
                  </a:cubicBezTo>
                  <a:cubicBezTo>
                    <a:pt x="332813" y="126195"/>
                    <a:pt x="324155" y="110935"/>
                    <a:pt x="309508" y="104750"/>
                  </a:cubicBezTo>
                  <a:lnTo>
                    <a:pt x="274921" y="90814"/>
                  </a:lnTo>
                  <a:cubicBezTo>
                    <a:pt x="270456" y="89082"/>
                    <a:pt x="267870" y="84404"/>
                    <a:pt x="268778" y="79702"/>
                  </a:cubicBezTo>
                  <a:cubicBezTo>
                    <a:pt x="269685" y="75000"/>
                    <a:pt x="273826" y="71620"/>
                    <a:pt x="278614" y="71674"/>
                  </a:cubicBezTo>
                  <a:lnTo>
                    <a:pt x="312194" y="71674"/>
                  </a:lnTo>
                  <a:cubicBezTo>
                    <a:pt x="319149" y="71674"/>
                    <a:pt x="324786" y="66036"/>
                    <a:pt x="324786" y="59081"/>
                  </a:cubicBezTo>
                  <a:cubicBezTo>
                    <a:pt x="324786" y="52127"/>
                    <a:pt x="319149" y="46489"/>
                    <a:pt x="312194" y="46489"/>
                  </a:cubicBezTo>
                  <a:lnTo>
                    <a:pt x="299602" y="46489"/>
                  </a:lnTo>
                  <a:lnTo>
                    <a:pt x="299602" y="38094"/>
                  </a:lnTo>
                  <a:cubicBezTo>
                    <a:pt x="299602" y="31139"/>
                    <a:pt x="293964" y="25502"/>
                    <a:pt x="287009" y="25502"/>
                  </a:cubicBezTo>
                  <a:cubicBezTo>
                    <a:pt x="280055" y="25502"/>
                    <a:pt x="274417" y="31139"/>
                    <a:pt x="274417" y="38094"/>
                  </a:cubicBezTo>
                  <a:lnTo>
                    <a:pt x="274417" y="46993"/>
                  </a:lnTo>
                  <a:cubicBezTo>
                    <a:pt x="258634" y="48918"/>
                    <a:pt x="246118" y="61214"/>
                    <a:pt x="243914" y="76960"/>
                  </a:cubicBezTo>
                  <a:cubicBezTo>
                    <a:pt x="241709" y="92706"/>
                    <a:pt x="250367" y="107967"/>
                    <a:pt x="265015" y="114152"/>
                  </a:cubicBezTo>
                  <a:lnTo>
                    <a:pt x="299602" y="128088"/>
                  </a:lnTo>
                  <a:cubicBezTo>
                    <a:pt x="303203" y="129721"/>
                    <a:pt x="305459" y="133370"/>
                    <a:pt x="305310" y="137322"/>
                  </a:cubicBezTo>
                  <a:cubicBezTo>
                    <a:pt x="305310" y="142793"/>
                    <a:pt x="300875" y="147228"/>
                    <a:pt x="295404" y="147228"/>
                  </a:cubicBezTo>
                  <a:lnTo>
                    <a:pt x="261825" y="147228"/>
                  </a:lnTo>
                  <a:cubicBezTo>
                    <a:pt x="254870" y="147228"/>
                    <a:pt x="249232" y="152866"/>
                    <a:pt x="249232" y="159820"/>
                  </a:cubicBezTo>
                  <a:cubicBezTo>
                    <a:pt x="249232" y="166775"/>
                    <a:pt x="254870" y="172413"/>
                    <a:pt x="261825" y="172413"/>
                  </a:cubicBezTo>
                  <a:lnTo>
                    <a:pt x="274417" y="172413"/>
                  </a:lnTo>
                  <a:lnTo>
                    <a:pt x="274417" y="180808"/>
                  </a:lnTo>
                  <a:cubicBezTo>
                    <a:pt x="274417" y="187762"/>
                    <a:pt x="280055" y="193400"/>
                    <a:pt x="287009" y="193400"/>
                  </a:cubicBezTo>
                  <a:cubicBezTo>
                    <a:pt x="293964" y="193400"/>
                    <a:pt x="299602" y="187762"/>
                    <a:pt x="299602" y="180808"/>
                  </a:cubicBezTo>
                  <a:lnTo>
                    <a:pt x="299602" y="172245"/>
                  </a:lnTo>
                  <a:close/>
                  <a:moveTo>
                    <a:pt x="72939" y="182319"/>
                  </a:moveTo>
                  <a:cubicBezTo>
                    <a:pt x="72933" y="147170"/>
                    <a:pt x="101424" y="118674"/>
                    <a:pt x="136572" y="118674"/>
                  </a:cubicBezTo>
                  <a:cubicBezTo>
                    <a:pt x="171721" y="118674"/>
                    <a:pt x="200212" y="147170"/>
                    <a:pt x="200206" y="182319"/>
                  </a:cubicBezTo>
                  <a:cubicBezTo>
                    <a:pt x="200212" y="217467"/>
                    <a:pt x="171721" y="245963"/>
                    <a:pt x="136572" y="245963"/>
                  </a:cubicBezTo>
                  <a:cubicBezTo>
                    <a:pt x="101424" y="245963"/>
                    <a:pt x="72933" y="217467"/>
                    <a:pt x="72939" y="182319"/>
                  </a:cubicBezTo>
                  <a:moveTo>
                    <a:pt x="139595" y="403273"/>
                  </a:moveTo>
                  <a:lnTo>
                    <a:pt x="131703" y="403273"/>
                  </a:lnTo>
                  <a:cubicBezTo>
                    <a:pt x="97460" y="403273"/>
                    <a:pt x="69674" y="375562"/>
                    <a:pt x="69581" y="341318"/>
                  </a:cubicBezTo>
                  <a:cubicBezTo>
                    <a:pt x="69581" y="332046"/>
                    <a:pt x="77098" y="324528"/>
                    <a:pt x="86371" y="324528"/>
                  </a:cubicBezTo>
                  <a:lnTo>
                    <a:pt x="185263" y="324528"/>
                  </a:lnTo>
                  <a:cubicBezTo>
                    <a:pt x="194536" y="324528"/>
                    <a:pt x="202053" y="332046"/>
                    <a:pt x="202053" y="341318"/>
                  </a:cubicBezTo>
                  <a:cubicBezTo>
                    <a:pt x="202053" y="357837"/>
                    <a:pt x="195457" y="373672"/>
                    <a:pt x="183729" y="385306"/>
                  </a:cubicBezTo>
                  <a:cubicBezTo>
                    <a:pt x="172001" y="396939"/>
                    <a:pt x="156113" y="403407"/>
                    <a:pt x="139595" y="403273"/>
                  </a:cubicBezTo>
                  <a:close/>
                  <a:moveTo>
                    <a:pt x="260145" y="287255"/>
                  </a:moveTo>
                  <a:cubicBezTo>
                    <a:pt x="270079" y="296345"/>
                    <a:pt x="275070" y="309635"/>
                    <a:pt x="273577" y="323017"/>
                  </a:cubicBezTo>
                  <a:cubicBezTo>
                    <a:pt x="272350" y="335895"/>
                    <a:pt x="265064" y="347419"/>
                    <a:pt x="253957" y="354050"/>
                  </a:cubicBezTo>
                  <a:cubicBezTo>
                    <a:pt x="242850" y="360681"/>
                    <a:pt x="229249" y="361627"/>
                    <a:pt x="217331" y="356597"/>
                  </a:cubicBezTo>
                  <a:cubicBezTo>
                    <a:pt x="218341" y="351510"/>
                    <a:pt x="218848" y="346336"/>
                    <a:pt x="218842" y="341150"/>
                  </a:cubicBezTo>
                  <a:cubicBezTo>
                    <a:pt x="218842" y="322605"/>
                    <a:pt x="203808" y="307571"/>
                    <a:pt x="185263" y="307571"/>
                  </a:cubicBezTo>
                  <a:lnTo>
                    <a:pt x="86371" y="307571"/>
                  </a:lnTo>
                  <a:cubicBezTo>
                    <a:pt x="67825" y="307571"/>
                    <a:pt x="52791" y="322605"/>
                    <a:pt x="52791" y="341150"/>
                  </a:cubicBezTo>
                  <a:cubicBezTo>
                    <a:pt x="52794" y="346798"/>
                    <a:pt x="53413" y="352428"/>
                    <a:pt x="54638" y="357940"/>
                  </a:cubicBezTo>
                  <a:cubicBezTo>
                    <a:pt x="42761" y="361780"/>
                    <a:pt x="29780" y="359973"/>
                    <a:pt x="19405" y="353034"/>
                  </a:cubicBezTo>
                  <a:cubicBezTo>
                    <a:pt x="9029" y="346095"/>
                    <a:pt x="2401" y="334789"/>
                    <a:pt x="1414" y="322346"/>
                  </a:cubicBezTo>
                  <a:cubicBezTo>
                    <a:pt x="0" y="309089"/>
                    <a:pt x="4841" y="295930"/>
                    <a:pt x="14510" y="286751"/>
                  </a:cubicBezTo>
                  <a:cubicBezTo>
                    <a:pt x="34296" y="267839"/>
                    <a:pt x="56966" y="252196"/>
                    <a:pt x="81670" y="240411"/>
                  </a:cubicBezTo>
                  <a:cubicBezTo>
                    <a:pt x="112601" y="269876"/>
                    <a:pt x="161215" y="269876"/>
                    <a:pt x="192147" y="240411"/>
                  </a:cubicBezTo>
                  <a:cubicBezTo>
                    <a:pt x="217179" y="252277"/>
                    <a:pt x="240139" y="268094"/>
                    <a:pt x="260145" y="287255"/>
                  </a:cubicBezTo>
                  <a:close/>
                </a:path>
              </a:pathLst>
            </a:custGeom>
            <a:solidFill>
              <a:srgbClr val="484848"/>
            </a:solidFill>
            <a:ln>
              <a:noFill/>
            </a:ln>
          </p:spPr>
          <p:txBody>
            <a:bodyPr rtlCol="0" anchor="ctr"/>
            <a:lstStyle/>
            <a:p>
              <a:pPr algn="ctr"/>
              <a:endParaRPr sz="3200"/>
            </a:p>
          </p:txBody>
        </p:sp>
        <p:sp>
          <p:nvSpPr>
            <p:cNvPr id="23" name="Rounded Rectangle 22"/>
            <p:cNvSpPr/>
            <p:nvPr/>
          </p:nvSpPr>
          <p:spPr>
            <a:xfrm>
              <a:off x="6122074" y="3072211"/>
              <a:ext cx="508031" cy="491639"/>
            </a:xfrm>
            <a:custGeom>
              <a:avLst/>
              <a:gdLst/>
              <a:ahLst/>
              <a:cxnLst/>
              <a:rect l="0" t="0" r="0" b="0"/>
              <a:pathLst>
                <a:path w="387972" h="403291">
                  <a:moveTo>
                    <a:pt x="125315" y="365682"/>
                  </a:moveTo>
                  <a:cubicBezTo>
                    <a:pt x="125819" y="364502"/>
                    <a:pt x="125819" y="363168"/>
                    <a:pt x="125315" y="361988"/>
                  </a:cubicBezTo>
                  <a:cubicBezTo>
                    <a:pt x="124814" y="360844"/>
                    <a:pt x="123829" y="359982"/>
                    <a:pt x="122629" y="359638"/>
                  </a:cubicBezTo>
                  <a:lnTo>
                    <a:pt x="112891" y="356783"/>
                  </a:lnTo>
                  <a:cubicBezTo>
                    <a:pt x="89707" y="350029"/>
                    <a:pt x="72628" y="330322"/>
                    <a:pt x="69237" y="306414"/>
                  </a:cubicBezTo>
                  <a:cubicBezTo>
                    <a:pt x="68938" y="304665"/>
                    <a:pt x="67611" y="303272"/>
                    <a:pt x="65879" y="302888"/>
                  </a:cubicBezTo>
                  <a:cubicBezTo>
                    <a:pt x="48487" y="299300"/>
                    <a:pt x="32541" y="290655"/>
                    <a:pt x="20043" y="278039"/>
                  </a:cubicBezTo>
                  <a:lnTo>
                    <a:pt x="3253" y="261249"/>
                  </a:lnTo>
                  <a:cubicBezTo>
                    <a:pt x="744" y="258943"/>
                    <a:pt x="0" y="255287"/>
                    <a:pt x="1406" y="252183"/>
                  </a:cubicBezTo>
                  <a:cubicBezTo>
                    <a:pt x="2694" y="249048"/>
                    <a:pt x="5740" y="246995"/>
                    <a:pt x="9129" y="246978"/>
                  </a:cubicBezTo>
                  <a:lnTo>
                    <a:pt x="160742" y="246978"/>
                  </a:lnTo>
                  <a:cubicBezTo>
                    <a:pt x="164131" y="246995"/>
                    <a:pt x="167177" y="249048"/>
                    <a:pt x="168465" y="252183"/>
                  </a:cubicBezTo>
                  <a:cubicBezTo>
                    <a:pt x="169872" y="255287"/>
                    <a:pt x="169127" y="258943"/>
                    <a:pt x="166618" y="261249"/>
                  </a:cubicBezTo>
                  <a:lnTo>
                    <a:pt x="149828" y="278039"/>
                  </a:lnTo>
                  <a:cubicBezTo>
                    <a:pt x="137995" y="290017"/>
                    <a:pt x="123050" y="298449"/>
                    <a:pt x="106678" y="302384"/>
                  </a:cubicBezTo>
                  <a:cubicBezTo>
                    <a:pt x="105392" y="302743"/>
                    <a:pt x="104340" y="303671"/>
                    <a:pt x="103824" y="304903"/>
                  </a:cubicBezTo>
                  <a:cubicBezTo>
                    <a:pt x="103227" y="306002"/>
                    <a:pt x="103227" y="307329"/>
                    <a:pt x="103824" y="308429"/>
                  </a:cubicBezTo>
                  <a:cubicBezTo>
                    <a:pt x="106808" y="316498"/>
                    <a:pt x="113392" y="322710"/>
                    <a:pt x="121621" y="325218"/>
                  </a:cubicBezTo>
                  <a:lnTo>
                    <a:pt x="140594" y="330255"/>
                  </a:lnTo>
                  <a:cubicBezTo>
                    <a:pt x="142492" y="330885"/>
                    <a:pt x="144565" y="330027"/>
                    <a:pt x="145463" y="328241"/>
                  </a:cubicBezTo>
                  <a:lnTo>
                    <a:pt x="150500" y="319342"/>
                  </a:lnTo>
                  <a:cubicBezTo>
                    <a:pt x="153424" y="313997"/>
                    <a:pt x="159015" y="310656"/>
                    <a:pt x="165107" y="310611"/>
                  </a:cubicBezTo>
                  <a:lnTo>
                    <a:pt x="222360" y="310611"/>
                  </a:lnTo>
                  <a:cubicBezTo>
                    <a:pt x="228453" y="310656"/>
                    <a:pt x="234043" y="313997"/>
                    <a:pt x="236967" y="319342"/>
                  </a:cubicBezTo>
                  <a:lnTo>
                    <a:pt x="242004" y="328241"/>
                  </a:lnTo>
                  <a:cubicBezTo>
                    <a:pt x="242903" y="330027"/>
                    <a:pt x="244975" y="330885"/>
                    <a:pt x="246873" y="330255"/>
                  </a:cubicBezTo>
                  <a:lnTo>
                    <a:pt x="265846" y="324883"/>
                  </a:lnTo>
                  <a:cubicBezTo>
                    <a:pt x="274076" y="322374"/>
                    <a:pt x="280660" y="316162"/>
                    <a:pt x="283643" y="308093"/>
                  </a:cubicBezTo>
                  <a:cubicBezTo>
                    <a:pt x="284139" y="306970"/>
                    <a:pt x="284139" y="305690"/>
                    <a:pt x="283643" y="304567"/>
                  </a:cubicBezTo>
                  <a:cubicBezTo>
                    <a:pt x="283087" y="303500"/>
                    <a:pt x="282115" y="302710"/>
                    <a:pt x="280957" y="302384"/>
                  </a:cubicBezTo>
                  <a:cubicBezTo>
                    <a:pt x="264821" y="298505"/>
                    <a:pt x="250066" y="290256"/>
                    <a:pt x="238311" y="278543"/>
                  </a:cubicBezTo>
                  <a:lnTo>
                    <a:pt x="221521" y="261753"/>
                  </a:lnTo>
                  <a:cubicBezTo>
                    <a:pt x="219012" y="259447"/>
                    <a:pt x="218267" y="255790"/>
                    <a:pt x="219674" y="252686"/>
                  </a:cubicBezTo>
                  <a:cubicBezTo>
                    <a:pt x="220962" y="249551"/>
                    <a:pt x="224008" y="247498"/>
                    <a:pt x="227397" y="247482"/>
                  </a:cubicBezTo>
                  <a:lnTo>
                    <a:pt x="378842" y="247482"/>
                  </a:lnTo>
                  <a:cubicBezTo>
                    <a:pt x="382231" y="247498"/>
                    <a:pt x="385277" y="249551"/>
                    <a:pt x="386565" y="252686"/>
                  </a:cubicBezTo>
                  <a:cubicBezTo>
                    <a:pt x="387972" y="255790"/>
                    <a:pt x="387227" y="259447"/>
                    <a:pt x="384718" y="261753"/>
                  </a:cubicBezTo>
                  <a:lnTo>
                    <a:pt x="367928" y="278543"/>
                  </a:lnTo>
                  <a:cubicBezTo>
                    <a:pt x="355430" y="291159"/>
                    <a:pt x="339484" y="299803"/>
                    <a:pt x="322092" y="303392"/>
                  </a:cubicBezTo>
                  <a:cubicBezTo>
                    <a:pt x="320360" y="303776"/>
                    <a:pt x="319033" y="305169"/>
                    <a:pt x="318734" y="306918"/>
                  </a:cubicBezTo>
                  <a:cubicBezTo>
                    <a:pt x="315343" y="330826"/>
                    <a:pt x="298264" y="350533"/>
                    <a:pt x="275080" y="357287"/>
                  </a:cubicBezTo>
                  <a:lnTo>
                    <a:pt x="265342" y="360141"/>
                  </a:lnTo>
                  <a:cubicBezTo>
                    <a:pt x="264142" y="360486"/>
                    <a:pt x="263157" y="361348"/>
                    <a:pt x="262656" y="362492"/>
                  </a:cubicBezTo>
                  <a:cubicBezTo>
                    <a:pt x="262152" y="363672"/>
                    <a:pt x="262152" y="365006"/>
                    <a:pt x="262656" y="366186"/>
                  </a:cubicBezTo>
                  <a:lnTo>
                    <a:pt x="269372" y="378274"/>
                  </a:lnTo>
                  <a:cubicBezTo>
                    <a:pt x="272371" y="383469"/>
                    <a:pt x="272371" y="389869"/>
                    <a:pt x="269372" y="395064"/>
                  </a:cubicBezTo>
                  <a:cubicBezTo>
                    <a:pt x="266349" y="400163"/>
                    <a:pt x="260861" y="403290"/>
                    <a:pt x="254933" y="403291"/>
                  </a:cubicBezTo>
                  <a:lnTo>
                    <a:pt x="132367" y="403291"/>
                  </a:lnTo>
                  <a:cubicBezTo>
                    <a:pt x="126439" y="403290"/>
                    <a:pt x="120951" y="400163"/>
                    <a:pt x="117928" y="395064"/>
                  </a:cubicBezTo>
                  <a:cubicBezTo>
                    <a:pt x="114928" y="389869"/>
                    <a:pt x="114928" y="383469"/>
                    <a:pt x="117928" y="378274"/>
                  </a:cubicBezTo>
                  <a:close/>
                  <a:moveTo>
                    <a:pt x="42709" y="42478"/>
                  </a:moveTo>
                  <a:cubicBezTo>
                    <a:pt x="42709" y="19296"/>
                    <a:pt x="61502" y="503"/>
                    <a:pt x="84684" y="503"/>
                  </a:cubicBezTo>
                  <a:cubicBezTo>
                    <a:pt x="107866" y="503"/>
                    <a:pt x="126658" y="19296"/>
                    <a:pt x="126658" y="42478"/>
                  </a:cubicBezTo>
                  <a:cubicBezTo>
                    <a:pt x="126658" y="65660"/>
                    <a:pt x="107866" y="84452"/>
                    <a:pt x="84684" y="84452"/>
                  </a:cubicBezTo>
                  <a:cubicBezTo>
                    <a:pt x="61502" y="84452"/>
                    <a:pt x="42709" y="65660"/>
                    <a:pt x="42709" y="42478"/>
                  </a:cubicBezTo>
                  <a:moveTo>
                    <a:pt x="84684" y="84117"/>
                  </a:moveTo>
                  <a:cubicBezTo>
                    <a:pt x="140930" y="84117"/>
                    <a:pt x="143448" y="126427"/>
                    <a:pt x="143448" y="158496"/>
                  </a:cubicBezTo>
                  <a:cubicBezTo>
                    <a:pt x="143413" y="159608"/>
                    <a:pt x="142998" y="160674"/>
                    <a:pt x="142273" y="161518"/>
                  </a:cubicBezTo>
                  <a:cubicBezTo>
                    <a:pt x="141474" y="162315"/>
                    <a:pt x="140378" y="162742"/>
                    <a:pt x="139251" y="162693"/>
                  </a:cubicBezTo>
                  <a:lnTo>
                    <a:pt x="117760" y="162693"/>
                  </a:lnTo>
                  <a:cubicBezTo>
                    <a:pt x="115652" y="162749"/>
                    <a:pt x="113886" y="164303"/>
                    <a:pt x="113562" y="166387"/>
                  </a:cubicBezTo>
                  <a:lnTo>
                    <a:pt x="104832" y="227670"/>
                  </a:lnTo>
                  <a:cubicBezTo>
                    <a:pt x="104508" y="229753"/>
                    <a:pt x="102742" y="231307"/>
                    <a:pt x="100634" y="231363"/>
                  </a:cubicBezTo>
                  <a:lnTo>
                    <a:pt x="68733" y="231363"/>
                  </a:lnTo>
                  <a:cubicBezTo>
                    <a:pt x="66626" y="231307"/>
                    <a:pt x="64860" y="229753"/>
                    <a:pt x="64536" y="227670"/>
                  </a:cubicBezTo>
                  <a:lnTo>
                    <a:pt x="55805" y="166387"/>
                  </a:lnTo>
                  <a:cubicBezTo>
                    <a:pt x="55482" y="164303"/>
                    <a:pt x="53715" y="162749"/>
                    <a:pt x="51608" y="162693"/>
                  </a:cubicBezTo>
                  <a:lnTo>
                    <a:pt x="30117" y="162693"/>
                  </a:lnTo>
                  <a:cubicBezTo>
                    <a:pt x="28989" y="162742"/>
                    <a:pt x="27893" y="162315"/>
                    <a:pt x="27095" y="161518"/>
                  </a:cubicBezTo>
                  <a:cubicBezTo>
                    <a:pt x="26369" y="160674"/>
                    <a:pt x="25954" y="159608"/>
                    <a:pt x="25919" y="158496"/>
                  </a:cubicBezTo>
                  <a:cubicBezTo>
                    <a:pt x="25919" y="126427"/>
                    <a:pt x="28438" y="84117"/>
                    <a:pt x="84684" y="84117"/>
                  </a:cubicBezTo>
                  <a:close/>
                  <a:moveTo>
                    <a:pt x="281964" y="211216"/>
                  </a:moveTo>
                  <a:lnTo>
                    <a:pt x="281964" y="208361"/>
                  </a:lnTo>
                  <a:cubicBezTo>
                    <a:pt x="281964" y="206043"/>
                    <a:pt x="280085" y="204164"/>
                    <a:pt x="277767" y="204164"/>
                  </a:cubicBezTo>
                  <a:lnTo>
                    <a:pt x="269372" y="204164"/>
                  </a:lnTo>
                  <a:cubicBezTo>
                    <a:pt x="257781" y="204164"/>
                    <a:pt x="248385" y="194767"/>
                    <a:pt x="248385" y="183177"/>
                  </a:cubicBezTo>
                  <a:cubicBezTo>
                    <a:pt x="248385" y="171586"/>
                    <a:pt x="257781" y="162189"/>
                    <a:pt x="269372" y="162189"/>
                  </a:cubicBezTo>
                  <a:lnTo>
                    <a:pt x="314872" y="162189"/>
                  </a:lnTo>
                  <a:cubicBezTo>
                    <a:pt x="319815" y="162190"/>
                    <a:pt x="323847" y="158232"/>
                    <a:pt x="323939" y="153291"/>
                  </a:cubicBezTo>
                  <a:cubicBezTo>
                    <a:pt x="324026" y="149560"/>
                    <a:pt x="321732" y="146187"/>
                    <a:pt x="318230" y="144896"/>
                  </a:cubicBezTo>
                  <a:lnTo>
                    <a:pt x="272058" y="126427"/>
                  </a:lnTo>
                  <a:cubicBezTo>
                    <a:pt x="250685" y="118904"/>
                    <a:pt x="236966" y="98035"/>
                    <a:pt x="238533" y="75431"/>
                  </a:cubicBezTo>
                  <a:cubicBezTo>
                    <a:pt x="240100" y="52827"/>
                    <a:pt x="256568" y="34052"/>
                    <a:pt x="278774" y="29550"/>
                  </a:cubicBezTo>
                  <a:cubicBezTo>
                    <a:pt x="280599" y="29041"/>
                    <a:pt x="281888" y="27413"/>
                    <a:pt x="281964" y="25520"/>
                  </a:cubicBezTo>
                  <a:lnTo>
                    <a:pt x="281964" y="20987"/>
                  </a:lnTo>
                  <a:cubicBezTo>
                    <a:pt x="281964" y="9396"/>
                    <a:pt x="291360" y="0"/>
                    <a:pt x="302951" y="0"/>
                  </a:cubicBezTo>
                  <a:cubicBezTo>
                    <a:pt x="314542" y="0"/>
                    <a:pt x="323939" y="9396"/>
                    <a:pt x="323939" y="20987"/>
                  </a:cubicBezTo>
                  <a:lnTo>
                    <a:pt x="323939" y="23673"/>
                  </a:lnTo>
                  <a:cubicBezTo>
                    <a:pt x="323939" y="25991"/>
                    <a:pt x="325818" y="27871"/>
                    <a:pt x="328136" y="27871"/>
                  </a:cubicBezTo>
                  <a:lnTo>
                    <a:pt x="336531" y="27871"/>
                  </a:lnTo>
                  <a:cubicBezTo>
                    <a:pt x="348122" y="27871"/>
                    <a:pt x="357518" y="37267"/>
                    <a:pt x="357518" y="48858"/>
                  </a:cubicBezTo>
                  <a:cubicBezTo>
                    <a:pt x="357518" y="60449"/>
                    <a:pt x="348122" y="69845"/>
                    <a:pt x="336531" y="69845"/>
                  </a:cubicBezTo>
                  <a:lnTo>
                    <a:pt x="291031" y="69845"/>
                  </a:lnTo>
                  <a:cubicBezTo>
                    <a:pt x="286023" y="69845"/>
                    <a:pt x="281964" y="73904"/>
                    <a:pt x="281964" y="78912"/>
                  </a:cubicBezTo>
                  <a:cubicBezTo>
                    <a:pt x="281877" y="82642"/>
                    <a:pt x="284171" y="86016"/>
                    <a:pt x="287673" y="87307"/>
                  </a:cubicBezTo>
                  <a:lnTo>
                    <a:pt x="333845" y="105775"/>
                  </a:lnTo>
                  <a:cubicBezTo>
                    <a:pt x="355218" y="113299"/>
                    <a:pt x="368937" y="134167"/>
                    <a:pt x="367370" y="156771"/>
                  </a:cubicBezTo>
                  <a:cubicBezTo>
                    <a:pt x="365803" y="179375"/>
                    <a:pt x="349335" y="198151"/>
                    <a:pt x="327129" y="202653"/>
                  </a:cubicBezTo>
                  <a:cubicBezTo>
                    <a:pt x="325304" y="203161"/>
                    <a:pt x="324015" y="204789"/>
                    <a:pt x="323939" y="206682"/>
                  </a:cubicBezTo>
                  <a:lnTo>
                    <a:pt x="323939" y="211216"/>
                  </a:lnTo>
                  <a:cubicBezTo>
                    <a:pt x="323939" y="222807"/>
                    <a:pt x="314542" y="232203"/>
                    <a:pt x="302951" y="232203"/>
                  </a:cubicBezTo>
                  <a:cubicBezTo>
                    <a:pt x="291360" y="232203"/>
                    <a:pt x="281964" y="222807"/>
                    <a:pt x="281964" y="211216"/>
                  </a:cubicBezTo>
                  <a:close/>
                </a:path>
              </a:pathLst>
            </a:custGeom>
            <a:solidFill>
              <a:srgbClr val="484848"/>
            </a:solidFill>
            <a:ln>
              <a:noFill/>
            </a:ln>
          </p:spPr>
          <p:txBody>
            <a:bodyPr rtlCol="0" anchor="ctr"/>
            <a:lstStyle/>
            <a:p>
              <a:pPr algn="ctr"/>
              <a:endParaRPr sz="3200"/>
            </a:p>
          </p:txBody>
        </p:sp>
        <p:sp>
          <p:nvSpPr>
            <p:cNvPr id="24" name="Rounded Rectangle 23"/>
            <p:cNvSpPr/>
            <p:nvPr/>
          </p:nvSpPr>
          <p:spPr>
            <a:xfrm>
              <a:off x="6110406" y="4300026"/>
              <a:ext cx="529323" cy="491728"/>
            </a:xfrm>
            <a:custGeom>
              <a:avLst/>
              <a:gdLst/>
              <a:ahLst/>
              <a:cxnLst/>
              <a:rect l="0" t="0" r="0" b="0"/>
              <a:pathLst>
                <a:path w="404232" h="403364">
                  <a:moveTo>
                    <a:pt x="401688" y="347091"/>
                  </a:moveTo>
                  <a:cubicBezTo>
                    <a:pt x="403311" y="348614"/>
                    <a:pt x="404232" y="350741"/>
                    <a:pt x="404232" y="352967"/>
                  </a:cubicBezTo>
                  <a:cubicBezTo>
                    <a:pt x="404232" y="355193"/>
                    <a:pt x="403311" y="357320"/>
                    <a:pt x="401688" y="358843"/>
                  </a:cubicBezTo>
                  <a:lnTo>
                    <a:pt x="359714" y="400818"/>
                  </a:lnTo>
                  <a:cubicBezTo>
                    <a:pt x="358198" y="402449"/>
                    <a:pt x="356064" y="403364"/>
                    <a:pt x="353837" y="403336"/>
                  </a:cubicBezTo>
                  <a:cubicBezTo>
                    <a:pt x="352737" y="403359"/>
                    <a:pt x="351645" y="403129"/>
                    <a:pt x="350647" y="402665"/>
                  </a:cubicBezTo>
                  <a:cubicBezTo>
                    <a:pt x="347512" y="401377"/>
                    <a:pt x="345459" y="398331"/>
                    <a:pt x="345442" y="394942"/>
                  </a:cubicBezTo>
                  <a:lnTo>
                    <a:pt x="345442" y="373954"/>
                  </a:lnTo>
                  <a:cubicBezTo>
                    <a:pt x="345442" y="371636"/>
                    <a:pt x="343563" y="369757"/>
                    <a:pt x="341245" y="369757"/>
                  </a:cubicBezTo>
                  <a:lnTo>
                    <a:pt x="51620" y="369757"/>
                  </a:lnTo>
                  <a:cubicBezTo>
                    <a:pt x="42347" y="369757"/>
                    <a:pt x="34830" y="362240"/>
                    <a:pt x="34830" y="352967"/>
                  </a:cubicBezTo>
                  <a:lnTo>
                    <a:pt x="34830" y="63342"/>
                  </a:lnTo>
                  <a:cubicBezTo>
                    <a:pt x="34830" y="61024"/>
                    <a:pt x="32951" y="59145"/>
                    <a:pt x="30633" y="59145"/>
                  </a:cubicBezTo>
                  <a:lnTo>
                    <a:pt x="9646" y="59145"/>
                  </a:lnTo>
                  <a:cubicBezTo>
                    <a:pt x="6001" y="59470"/>
                    <a:pt x="2580" y="57349"/>
                    <a:pt x="1251" y="53940"/>
                  </a:cubicBezTo>
                  <a:cubicBezTo>
                    <a:pt x="0" y="50693"/>
                    <a:pt x="1023" y="47010"/>
                    <a:pt x="3769" y="44874"/>
                  </a:cubicBezTo>
                  <a:lnTo>
                    <a:pt x="45744" y="2899"/>
                  </a:lnTo>
                  <a:cubicBezTo>
                    <a:pt x="47267" y="1276"/>
                    <a:pt x="49394" y="355"/>
                    <a:pt x="51620" y="355"/>
                  </a:cubicBezTo>
                  <a:cubicBezTo>
                    <a:pt x="53846" y="355"/>
                    <a:pt x="55973" y="1276"/>
                    <a:pt x="57497" y="2899"/>
                  </a:cubicBezTo>
                  <a:lnTo>
                    <a:pt x="100143" y="44874"/>
                  </a:lnTo>
                  <a:cubicBezTo>
                    <a:pt x="102652" y="47180"/>
                    <a:pt x="103396" y="50836"/>
                    <a:pt x="101990" y="53940"/>
                  </a:cubicBezTo>
                  <a:cubicBezTo>
                    <a:pt x="100616" y="57312"/>
                    <a:pt x="97226" y="59414"/>
                    <a:pt x="93595" y="59145"/>
                  </a:cubicBezTo>
                  <a:lnTo>
                    <a:pt x="72608" y="59145"/>
                  </a:lnTo>
                  <a:cubicBezTo>
                    <a:pt x="70289" y="59145"/>
                    <a:pt x="68410" y="61024"/>
                    <a:pt x="68410" y="63342"/>
                  </a:cubicBezTo>
                  <a:lnTo>
                    <a:pt x="68410" y="313847"/>
                  </a:lnTo>
                  <a:cubicBezTo>
                    <a:pt x="68431" y="315290"/>
                    <a:pt x="69192" y="316622"/>
                    <a:pt x="70425" y="317373"/>
                  </a:cubicBezTo>
                  <a:cubicBezTo>
                    <a:pt x="71746" y="318032"/>
                    <a:pt x="73301" y="318032"/>
                    <a:pt x="74622" y="317373"/>
                  </a:cubicBezTo>
                  <a:lnTo>
                    <a:pt x="141782" y="276237"/>
                  </a:lnTo>
                  <a:cubicBezTo>
                    <a:pt x="143613" y="275206"/>
                    <a:pt x="144344" y="272940"/>
                    <a:pt x="143461" y="271033"/>
                  </a:cubicBezTo>
                  <a:cubicBezTo>
                    <a:pt x="137145" y="255500"/>
                    <a:pt x="138972" y="237843"/>
                    <a:pt x="148335" y="223934"/>
                  </a:cubicBezTo>
                  <a:cubicBezTo>
                    <a:pt x="157698" y="210024"/>
                    <a:pt x="173369" y="201685"/>
                    <a:pt x="190136" y="201691"/>
                  </a:cubicBezTo>
                  <a:cubicBezTo>
                    <a:pt x="195139" y="201720"/>
                    <a:pt x="200113" y="202455"/>
                    <a:pt x="204911" y="203873"/>
                  </a:cubicBezTo>
                  <a:cubicBezTo>
                    <a:pt x="206812" y="204585"/>
                    <a:pt x="208939" y="203705"/>
                    <a:pt x="209780" y="201858"/>
                  </a:cubicBezTo>
                  <a:lnTo>
                    <a:pt x="266194" y="96754"/>
                  </a:lnTo>
                  <a:cubicBezTo>
                    <a:pt x="266941" y="95395"/>
                    <a:pt x="266941" y="93748"/>
                    <a:pt x="266194" y="92389"/>
                  </a:cubicBezTo>
                  <a:cubicBezTo>
                    <a:pt x="260375" y="83947"/>
                    <a:pt x="257271" y="73931"/>
                    <a:pt x="257296" y="63678"/>
                  </a:cubicBezTo>
                  <a:cubicBezTo>
                    <a:pt x="257320" y="45380"/>
                    <a:pt x="267266" y="28533"/>
                    <a:pt x="283277" y="19674"/>
                  </a:cubicBezTo>
                  <a:cubicBezTo>
                    <a:pt x="299288" y="10814"/>
                    <a:pt x="318844" y="11334"/>
                    <a:pt x="334361" y="21032"/>
                  </a:cubicBezTo>
                  <a:cubicBezTo>
                    <a:pt x="335584" y="21608"/>
                    <a:pt x="337000" y="21608"/>
                    <a:pt x="338223" y="21032"/>
                  </a:cubicBezTo>
                  <a:lnTo>
                    <a:pt x="380533" y="1892"/>
                  </a:lnTo>
                  <a:cubicBezTo>
                    <a:pt x="388370" y="0"/>
                    <a:pt x="396446" y="3945"/>
                    <a:pt x="399770" y="11291"/>
                  </a:cubicBezTo>
                  <a:cubicBezTo>
                    <a:pt x="403094" y="18636"/>
                    <a:pt x="400727" y="27307"/>
                    <a:pt x="394133" y="31945"/>
                  </a:cubicBezTo>
                  <a:lnTo>
                    <a:pt x="359210" y="47560"/>
                  </a:lnTo>
                  <a:cubicBezTo>
                    <a:pt x="357400" y="48372"/>
                    <a:pt x="356365" y="50304"/>
                    <a:pt x="356691" y="52261"/>
                  </a:cubicBezTo>
                  <a:cubicBezTo>
                    <a:pt x="357506" y="55670"/>
                    <a:pt x="357901" y="59166"/>
                    <a:pt x="357867" y="62671"/>
                  </a:cubicBezTo>
                  <a:cubicBezTo>
                    <a:pt x="357867" y="90489"/>
                    <a:pt x="335316" y="113040"/>
                    <a:pt x="307497" y="113040"/>
                  </a:cubicBezTo>
                  <a:cubicBezTo>
                    <a:pt x="304593" y="113293"/>
                    <a:pt x="301671" y="113293"/>
                    <a:pt x="298767" y="113040"/>
                  </a:cubicBezTo>
                  <a:cubicBezTo>
                    <a:pt x="296986" y="112704"/>
                    <a:pt x="295200" y="113597"/>
                    <a:pt x="294401" y="115223"/>
                  </a:cubicBezTo>
                  <a:lnTo>
                    <a:pt x="235133" y="225868"/>
                  </a:lnTo>
                  <a:cubicBezTo>
                    <a:pt x="234557" y="227091"/>
                    <a:pt x="234557" y="228507"/>
                    <a:pt x="235133" y="229730"/>
                  </a:cubicBezTo>
                  <a:cubicBezTo>
                    <a:pt x="238718" y="236684"/>
                    <a:pt x="240561" y="244404"/>
                    <a:pt x="240506" y="252228"/>
                  </a:cubicBezTo>
                  <a:cubicBezTo>
                    <a:pt x="240519" y="268681"/>
                    <a:pt x="232495" y="284104"/>
                    <a:pt x="219015" y="293537"/>
                  </a:cubicBezTo>
                  <a:cubicBezTo>
                    <a:pt x="205534" y="302970"/>
                    <a:pt x="188296" y="305224"/>
                    <a:pt x="172843" y="299575"/>
                  </a:cubicBezTo>
                  <a:cubicBezTo>
                    <a:pt x="171678" y="299004"/>
                    <a:pt x="170314" y="299004"/>
                    <a:pt x="169149" y="299575"/>
                  </a:cubicBezTo>
                  <a:lnTo>
                    <a:pt x="120626" y="328454"/>
                  </a:lnTo>
                  <a:cubicBezTo>
                    <a:pt x="118983" y="329393"/>
                    <a:pt x="118215" y="331348"/>
                    <a:pt x="118780" y="333155"/>
                  </a:cubicBezTo>
                  <a:cubicBezTo>
                    <a:pt x="119318" y="335007"/>
                    <a:pt x="121050" y="336254"/>
                    <a:pt x="122977" y="336177"/>
                  </a:cubicBezTo>
                  <a:lnTo>
                    <a:pt x="341245" y="336177"/>
                  </a:lnTo>
                  <a:cubicBezTo>
                    <a:pt x="343563" y="336177"/>
                    <a:pt x="345442" y="334298"/>
                    <a:pt x="345442" y="331980"/>
                  </a:cubicBezTo>
                  <a:lnTo>
                    <a:pt x="345442" y="310992"/>
                  </a:lnTo>
                  <a:cubicBezTo>
                    <a:pt x="345459" y="307603"/>
                    <a:pt x="347512" y="304557"/>
                    <a:pt x="350647" y="303269"/>
                  </a:cubicBezTo>
                  <a:cubicBezTo>
                    <a:pt x="353751" y="301862"/>
                    <a:pt x="357407" y="302607"/>
                    <a:pt x="359714" y="305116"/>
                  </a:cubicBezTo>
                  <a:close/>
                  <a:moveTo>
                    <a:pt x="190136" y="235438"/>
                  </a:moveTo>
                  <a:cubicBezTo>
                    <a:pt x="180863" y="235438"/>
                    <a:pt x="173346" y="242955"/>
                    <a:pt x="173346" y="252228"/>
                  </a:cubicBezTo>
                  <a:cubicBezTo>
                    <a:pt x="173346" y="261501"/>
                    <a:pt x="180863" y="269018"/>
                    <a:pt x="190136" y="269018"/>
                  </a:cubicBezTo>
                  <a:cubicBezTo>
                    <a:pt x="199409" y="269018"/>
                    <a:pt x="206926" y="261501"/>
                    <a:pt x="206926" y="252228"/>
                  </a:cubicBezTo>
                  <a:cubicBezTo>
                    <a:pt x="206926" y="242955"/>
                    <a:pt x="199409" y="235438"/>
                    <a:pt x="190136" y="235438"/>
                  </a:cubicBezTo>
                  <a:close/>
                  <a:moveTo>
                    <a:pt x="307665" y="46553"/>
                  </a:moveTo>
                  <a:cubicBezTo>
                    <a:pt x="298392" y="46553"/>
                    <a:pt x="290875" y="54070"/>
                    <a:pt x="290875" y="63342"/>
                  </a:cubicBezTo>
                  <a:cubicBezTo>
                    <a:pt x="290875" y="72615"/>
                    <a:pt x="298392" y="80132"/>
                    <a:pt x="307665" y="80132"/>
                  </a:cubicBezTo>
                  <a:cubicBezTo>
                    <a:pt x="316938" y="80132"/>
                    <a:pt x="324455" y="72615"/>
                    <a:pt x="324455" y="63342"/>
                  </a:cubicBezTo>
                  <a:cubicBezTo>
                    <a:pt x="324455" y="54070"/>
                    <a:pt x="316938" y="46553"/>
                    <a:pt x="307665" y="46553"/>
                  </a:cubicBezTo>
                  <a:close/>
                </a:path>
              </a:pathLst>
            </a:custGeom>
            <a:solidFill>
              <a:srgbClr val="484848"/>
            </a:solidFill>
            <a:ln>
              <a:noFill/>
            </a:ln>
          </p:spPr>
          <p:txBody>
            <a:bodyPr rtlCol="0" anchor="ctr"/>
            <a:lstStyle/>
            <a:p>
              <a:pPr algn="ctr"/>
              <a:endParaRPr sz="3200"/>
            </a:p>
          </p:txBody>
        </p:sp>
        <p:sp>
          <p:nvSpPr>
            <p:cNvPr id="25" name="Rounded Rectangle 24"/>
            <p:cNvSpPr/>
            <p:nvPr/>
          </p:nvSpPr>
          <p:spPr>
            <a:xfrm>
              <a:off x="6123037" y="1842665"/>
              <a:ext cx="506415" cy="492901"/>
            </a:xfrm>
            <a:custGeom>
              <a:avLst/>
              <a:gdLst/>
              <a:ahLst/>
              <a:cxnLst/>
              <a:rect l="0" t="0" r="0" b="0"/>
              <a:pathLst>
                <a:path w="386738" h="404326">
                  <a:moveTo>
                    <a:pt x="268637" y="379141"/>
                  </a:moveTo>
                  <a:cubicBezTo>
                    <a:pt x="268637" y="383778"/>
                    <a:pt x="264878" y="387536"/>
                    <a:pt x="260242" y="387536"/>
                  </a:cubicBezTo>
                  <a:lnTo>
                    <a:pt x="29382" y="387536"/>
                  </a:lnTo>
                  <a:cubicBezTo>
                    <a:pt x="27064" y="387536"/>
                    <a:pt x="25184" y="389416"/>
                    <a:pt x="25184" y="391734"/>
                  </a:cubicBezTo>
                  <a:cubicBezTo>
                    <a:pt x="25184" y="398688"/>
                    <a:pt x="19546" y="404326"/>
                    <a:pt x="12592" y="404326"/>
                  </a:cubicBezTo>
                  <a:cubicBezTo>
                    <a:pt x="5637" y="404326"/>
                    <a:pt x="0" y="398688"/>
                    <a:pt x="0" y="391734"/>
                  </a:cubicBezTo>
                  <a:lnTo>
                    <a:pt x="0" y="265810"/>
                  </a:lnTo>
                  <a:cubicBezTo>
                    <a:pt x="0" y="258856"/>
                    <a:pt x="5637" y="253218"/>
                    <a:pt x="12592" y="253218"/>
                  </a:cubicBezTo>
                  <a:cubicBezTo>
                    <a:pt x="19546" y="253218"/>
                    <a:pt x="25184" y="258856"/>
                    <a:pt x="25184" y="265810"/>
                  </a:cubicBezTo>
                  <a:cubicBezTo>
                    <a:pt x="25184" y="268128"/>
                    <a:pt x="27064" y="270008"/>
                    <a:pt x="29382" y="270008"/>
                  </a:cubicBezTo>
                  <a:lnTo>
                    <a:pt x="117528" y="270008"/>
                  </a:lnTo>
                  <a:cubicBezTo>
                    <a:pt x="136074" y="270008"/>
                    <a:pt x="151108" y="285042"/>
                    <a:pt x="151108" y="303587"/>
                  </a:cubicBezTo>
                  <a:cubicBezTo>
                    <a:pt x="151108" y="308224"/>
                    <a:pt x="147349" y="311982"/>
                    <a:pt x="142713" y="311982"/>
                  </a:cubicBezTo>
                  <a:lnTo>
                    <a:pt x="92344" y="311982"/>
                  </a:lnTo>
                  <a:cubicBezTo>
                    <a:pt x="87745" y="312071"/>
                    <a:pt x="84038" y="315778"/>
                    <a:pt x="83949" y="320377"/>
                  </a:cubicBezTo>
                  <a:cubicBezTo>
                    <a:pt x="83949" y="325013"/>
                    <a:pt x="87707" y="328772"/>
                    <a:pt x="92344" y="328772"/>
                  </a:cubicBezTo>
                  <a:lnTo>
                    <a:pt x="218267" y="328772"/>
                  </a:lnTo>
                  <a:cubicBezTo>
                    <a:pt x="246086" y="328772"/>
                    <a:pt x="268637" y="351323"/>
                    <a:pt x="268637" y="379141"/>
                  </a:cubicBezTo>
                  <a:close/>
                  <a:moveTo>
                    <a:pt x="385515" y="121877"/>
                  </a:moveTo>
                  <a:cubicBezTo>
                    <a:pt x="384291" y="125102"/>
                    <a:pt x="381220" y="127251"/>
                    <a:pt x="377771" y="127294"/>
                  </a:cubicBezTo>
                  <a:lnTo>
                    <a:pt x="344191" y="127294"/>
                  </a:lnTo>
                  <a:cubicBezTo>
                    <a:pt x="339555" y="127294"/>
                    <a:pt x="335796" y="131053"/>
                    <a:pt x="335796" y="135689"/>
                  </a:cubicBezTo>
                  <a:lnTo>
                    <a:pt x="335796" y="219638"/>
                  </a:lnTo>
                  <a:cubicBezTo>
                    <a:pt x="335796" y="228911"/>
                    <a:pt x="328279" y="236428"/>
                    <a:pt x="319006" y="236428"/>
                  </a:cubicBezTo>
                  <a:lnTo>
                    <a:pt x="184688" y="236428"/>
                  </a:lnTo>
                  <a:cubicBezTo>
                    <a:pt x="175415" y="236428"/>
                    <a:pt x="167898" y="228911"/>
                    <a:pt x="167898" y="219638"/>
                  </a:cubicBezTo>
                  <a:lnTo>
                    <a:pt x="167898" y="135689"/>
                  </a:lnTo>
                  <a:cubicBezTo>
                    <a:pt x="167898" y="131053"/>
                    <a:pt x="164139" y="127294"/>
                    <a:pt x="159503" y="127294"/>
                  </a:cubicBezTo>
                  <a:lnTo>
                    <a:pt x="125923" y="127294"/>
                  </a:lnTo>
                  <a:cubicBezTo>
                    <a:pt x="122474" y="127251"/>
                    <a:pt x="119402" y="125102"/>
                    <a:pt x="118179" y="121877"/>
                  </a:cubicBezTo>
                  <a:cubicBezTo>
                    <a:pt x="116956" y="118652"/>
                    <a:pt x="117830" y="115007"/>
                    <a:pt x="120383" y="112687"/>
                  </a:cubicBezTo>
                  <a:lnTo>
                    <a:pt x="240766" y="5568"/>
                  </a:lnTo>
                  <a:cubicBezTo>
                    <a:pt x="247104" y="0"/>
                    <a:pt x="256590" y="0"/>
                    <a:pt x="262928" y="5568"/>
                  </a:cubicBezTo>
                  <a:lnTo>
                    <a:pt x="383311" y="112687"/>
                  </a:lnTo>
                  <a:cubicBezTo>
                    <a:pt x="385864" y="115007"/>
                    <a:pt x="386738" y="118652"/>
                    <a:pt x="385515" y="121877"/>
                  </a:cubicBezTo>
                  <a:close/>
                  <a:moveTo>
                    <a:pt x="270987" y="188745"/>
                  </a:moveTo>
                  <a:cubicBezTo>
                    <a:pt x="285290" y="184537"/>
                    <a:pt x="295373" y="171750"/>
                    <a:pt x="296129" y="156860"/>
                  </a:cubicBezTo>
                  <a:cubicBezTo>
                    <a:pt x="296884" y="141970"/>
                    <a:pt x="288149" y="128228"/>
                    <a:pt x="274345" y="122593"/>
                  </a:cubicBezTo>
                  <a:lnTo>
                    <a:pt x="239758" y="108657"/>
                  </a:lnTo>
                  <a:cubicBezTo>
                    <a:pt x="235294" y="106925"/>
                    <a:pt x="232708" y="102247"/>
                    <a:pt x="233615" y="97545"/>
                  </a:cubicBezTo>
                  <a:cubicBezTo>
                    <a:pt x="234523" y="92843"/>
                    <a:pt x="238664" y="89464"/>
                    <a:pt x="243452" y="89517"/>
                  </a:cubicBezTo>
                  <a:lnTo>
                    <a:pt x="277032" y="89517"/>
                  </a:lnTo>
                  <a:cubicBezTo>
                    <a:pt x="283986" y="89517"/>
                    <a:pt x="289624" y="83879"/>
                    <a:pt x="289624" y="76925"/>
                  </a:cubicBezTo>
                  <a:cubicBezTo>
                    <a:pt x="289624" y="69970"/>
                    <a:pt x="283986" y="64332"/>
                    <a:pt x="277032" y="64332"/>
                  </a:cubicBezTo>
                  <a:lnTo>
                    <a:pt x="272331" y="64332"/>
                  </a:lnTo>
                  <a:cubicBezTo>
                    <a:pt x="267694" y="64332"/>
                    <a:pt x="263936" y="60574"/>
                    <a:pt x="263936" y="55937"/>
                  </a:cubicBezTo>
                  <a:cubicBezTo>
                    <a:pt x="263936" y="48983"/>
                    <a:pt x="258298" y="43345"/>
                    <a:pt x="251343" y="43345"/>
                  </a:cubicBezTo>
                  <a:cubicBezTo>
                    <a:pt x="244389" y="43345"/>
                    <a:pt x="238751" y="48983"/>
                    <a:pt x="238751" y="55937"/>
                  </a:cubicBezTo>
                  <a:lnTo>
                    <a:pt x="238751" y="57784"/>
                  </a:lnTo>
                  <a:cubicBezTo>
                    <a:pt x="238751" y="61515"/>
                    <a:pt x="236288" y="64799"/>
                    <a:pt x="232706" y="65843"/>
                  </a:cubicBezTo>
                  <a:cubicBezTo>
                    <a:pt x="218241" y="69880"/>
                    <a:pt x="207977" y="82712"/>
                    <a:pt x="207215" y="97710"/>
                  </a:cubicBezTo>
                  <a:cubicBezTo>
                    <a:pt x="206454" y="112709"/>
                    <a:pt x="215367" y="126515"/>
                    <a:pt x="229349" y="131995"/>
                  </a:cubicBezTo>
                  <a:lnTo>
                    <a:pt x="263936" y="145931"/>
                  </a:lnTo>
                  <a:cubicBezTo>
                    <a:pt x="268400" y="147663"/>
                    <a:pt x="270986" y="152341"/>
                    <a:pt x="270078" y="157043"/>
                  </a:cubicBezTo>
                  <a:cubicBezTo>
                    <a:pt x="269171" y="161745"/>
                    <a:pt x="265030" y="165124"/>
                    <a:pt x="260242" y="165071"/>
                  </a:cubicBezTo>
                  <a:lnTo>
                    <a:pt x="226662" y="165071"/>
                  </a:lnTo>
                  <a:cubicBezTo>
                    <a:pt x="219708" y="165071"/>
                    <a:pt x="214070" y="170709"/>
                    <a:pt x="214070" y="177664"/>
                  </a:cubicBezTo>
                  <a:cubicBezTo>
                    <a:pt x="214070" y="184618"/>
                    <a:pt x="219708" y="190256"/>
                    <a:pt x="226662" y="190256"/>
                  </a:cubicBezTo>
                  <a:lnTo>
                    <a:pt x="230860" y="190256"/>
                  </a:lnTo>
                  <a:cubicBezTo>
                    <a:pt x="235496" y="190256"/>
                    <a:pt x="239255" y="194014"/>
                    <a:pt x="239255" y="198651"/>
                  </a:cubicBezTo>
                  <a:cubicBezTo>
                    <a:pt x="239255" y="205605"/>
                    <a:pt x="244892" y="211243"/>
                    <a:pt x="251847" y="211243"/>
                  </a:cubicBezTo>
                  <a:cubicBezTo>
                    <a:pt x="258801" y="211243"/>
                    <a:pt x="264439" y="205605"/>
                    <a:pt x="264439" y="198651"/>
                  </a:cubicBezTo>
                  <a:lnTo>
                    <a:pt x="264439" y="196804"/>
                  </a:lnTo>
                  <a:cubicBezTo>
                    <a:pt x="264439" y="193073"/>
                    <a:pt x="266902" y="189789"/>
                    <a:pt x="270484" y="188745"/>
                  </a:cubicBezTo>
                  <a:close/>
                </a:path>
              </a:pathLst>
            </a:custGeom>
            <a:solidFill>
              <a:srgbClr val="484848"/>
            </a:solidFill>
            <a:ln>
              <a:noFill/>
            </a:ln>
          </p:spPr>
          <p:txBody>
            <a:bodyPr rtlCol="0" anchor="ctr"/>
            <a:lstStyle/>
            <a:p>
              <a:pPr algn="ctr"/>
              <a:endParaRPr sz="3200"/>
            </a:p>
          </p:txBody>
        </p:sp>
        <p:sp>
          <p:nvSpPr>
            <p:cNvPr id="26" name="Rounded Rectangle 25"/>
            <p:cNvSpPr/>
            <p:nvPr/>
          </p:nvSpPr>
          <p:spPr>
            <a:xfrm>
              <a:off x="6133701" y="1030400"/>
              <a:ext cx="505995" cy="399460"/>
            </a:xfrm>
            <a:custGeom>
              <a:avLst/>
              <a:gdLst/>
              <a:ahLst/>
              <a:cxnLst/>
              <a:rect l="0" t="0" r="0" b="0"/>
              <a:pathLst>
                <a:path w="386417" h="327676">
                  <a:moveTo>
                    <a:pt x="141840" y="63891"/>
                  </a:moveTo>
                  <a:lnTo>
                    <a:pt x="141840" y="29438"/>
                  </a:lnTo>
                  <a:cubicBezTo>
                    <a:pt x="166381" y="42296"/>
                    <a:pt x="182196" y="67270"/>
                    <a:pt x="183328" y="94952"/>
                  </a:cubicBezTo>
                  <a:lnTo>
                    <a:pt x="193301" y="94952"/>
                  </a:lnTo>
                  <a:cubicBezTo>
                    <a:pt x="202574" y="94952"/>
                    <a:pt x="210091" y="102469"/>
                    <a:pt x="210091" y="111742"/>
                  </a:cubicBezTo>
                  <a:cubicBezTo>
                    <a:pt x="210091" y="121015"/>
                    <a:pt x="202574" y="128532"/>
                    <a:pt x="193301" y="128532"/>
                  </a:cubicBezTo>
                  <a:lnTo>
                    <a:pt x="16789" y="128532"/>
                  </a:lnTo>
                  <a:cubicBezTo>
                    <a:pt x="7517" y="128532"/>
                    <a:pt x="0" y="121015"/>
                    <a:pt x="0" y="111742"/>
                  </a:cubicBezTo>
                  <a:cubicBezTo>
                    <a:pt x="0" y="102469"/>
                    <a:pt x="7517" y="94952"/>
                    <a:pt x="16789" y="94952"/>
                  </a:cubicBezTo>
                  <a:lnTo>
                    <a:pt x="26779" y="94952"/>
                  </a:lnTo>
                  <a:cubicBezTo>
                    <a:pt x="29046" y="61507"/>
                    <a:pt x="52014" y="32998"/>
                    <a:pt x="83143" y="23713"/>
                  </a:cubicBezTo>
                  <a:lnTo>
                    <a:pt x="83143" y="17064"/>
                  </a:lnTo>
                  <a:cubicBezTo>
                    <a:pt x="83189" y="8100"/>
                    <a:pt x="90270" y="753"/>
                    <a:pt x="99226" y="376"/>
                  </a:cubicBezTo>
                  <a:cubicBezTo>
                    <a:pt x="108183" y="0"/>
                    <a:pt x="115856" y="6725"/>
                    <a:pt x="116655" y="15654"/>
                  </a:cubicBezTo>
                  <a:lnTo>
                    <a:pt x="116655" y="15754"/>
                  </a:lnTo>
                  <a:lnTo>
                    <a:pt x="116655" y="63891"/>
                  </a:lnTo>
                  <a:cubicBezTo>
                    <a:pt x="116655" y="70846"/>
                    <a:pt x="122293" y="76483"/>
                    <a:pt x="129248" y="76483"/>
                  </a:cubicBezTo>
                  <a:cubicBezTo>
                    <a:pt x="136202" y="76483"/>
                    <a:pt x="141840" y="70846"/>
                    <a:pt x="141840" y="63891"/>
                  </a:cubicBezTo>
                  <a:close/>
                  <a:moveTo>
                    <a:pt x="286820" y="9811"/>
                  </a:moveTo>
                  <a:cubicBezTo>
                    <a:pt x="293335" y="3296"/>
                    <a:pt x="302015" y="274"/>
                    <a:pt x="310863" y="274"/>
                  </a:cubicBezTo>
                  <a:lnTo>
                    <a:pt x="369628" y="274"/>
                  </a:lnTo>
                  <a:cubicBezTo>
                    <a:pt x="378900" y="274"/>
                    <a:pt x="386417" y="7791"/>
                    <a:pt x="386417" y="17064"/>
                  </a:cubicBezTo>
                  <a:cubicBezTo>
                    <a:pt x="386417" y="26337"/>
                    <a:pt x="378900" y="33854"/>
                    <a:pt x="369628" y="33854"/>
                  </a:cubicBezTo>
                  <a:lnTo>
                    <a:pt x="310863" y="33854"/>
                  </a:lnTo>
                  <a:lnTo>
                    <a:pt x="310863" y="147185"/>
                  </a:lnTo>
                  <a:lnTo>
                    <a:pt x="369628" y="147185"/>
                  </a:lnTo>
                  <a:cubicBezTo>
                    <a:pt x="378900" y="147185"/>
                    <a:pt x="386417" y="154702"/>
                    <a:pt x="386417" y="163975"/>
                  </a:cubicBezTo>
                  <a:cubicBezTo>
                    <a:pt x="386417" y="173248"/>
                    <a:pt x="378900" y="180765"/>
                    <a:pt x="369628" y="180765"/>
                  </a:cubicBezTo>
                  <a:lnTo>
                    <a:pt x="310863" y="180765"/>
                  </a:lnTo>
                  <a:lnTo>
                    <a:pt x="310863" y="294096"/>
                  </a:lnTo>
                  <a:lnTo>
                    <a:pt x="369628" y="294096"/>
                  </a:lnTo>
                  <a:cubicBezTo>
                    <a:pt x="378900" y="294096"/>
                    <a:pt x="386417" y="301613"/>
                    <a:pt x="386417" y="310886"/>
                  </a:cubicBezTo>
                  <a:cubicBezTo>
                    <a:pt x="386417" y="320159"/>
                    <a:pt x="378900" y="327676"/>
                    <a:pt x="369628" y="327676"/>
                  </a:cubicBezTo>
                  <a:lnTo>
                    <a:pt x="310863" y="327676"/>
                  </a:lnTo>
                  <a:cubicBezTo>
                    <a:pt x="302015" y="327676"/>
                    <a:pt x="293335" y="324654"/>
                    <a:pt x="286820" y="318139"/>
                  </a:cubicBezTo>
                  <a:cubicBezTo>
                    <a:pt x="280306" y="311625"/>
                    <a:pt x="277284" y="302945"/>
                    <a:pt x="277284" y="294096"/>
                  </a:cubicBezTo>
                  <a:lnTo>
                    <a:pt x="277284" y="180765"/>
                  </a:lnTo>
                  <a:lnTo>
                    <a:pt x="252099" y="180765"/>
                  </a:lnTo>
                  <a:cubicBezTo>
                    <a:pt x="242826" y="180765"/>
                    <a:pt x="235309" y="173248"/>
                    <a:pt x="235309" y="163975"/>
                  </a:cubicBezTo>
                  <a:cubicBezTo>
                    <a:pt x="235309" y="154702"/>
                    <a:pt x="242826" y="147185"/>
                    <a:pt x="252099" y="147185"/>
                  </a:cubicBezTo>
                  <a:lnTo>
                    <a:pt x="277284" y="147185"/>
                  </a:lnTo>
                  <a:lnTo>
                    <a:pt x="277284" y="33854"/>
                  </a:lnTo>
                  <a:cubicBezTo>
                    <a:pt x="277284" y="25006"/>
                    <a:pt x="280306" y="16325"/>
                    <a:pt x="286820" y="9811"/>
                  </a:cubicBezTo>
                  <a:close/>
                  <a:moveTo>
                    <a:pt x="106665" y="227172"/>
                  </a:moveTo>
                  <a:cubicBezTo>
                    <a:pt x="153173" y="227172"/>
                    <a:pt x="193301" y="257662"/>
                    <a:pt x="207740" y="299368"/>
                  </a:cubicBezTo>
                  <a:lnTo>
                    <a:pt x="3962" y="299368"/>
                  </a:lnTo>
                  <a:cubicBezTo>
                    <a:pt x="18401" y="257662"/>
                    <a:pt x="60124" y="227172"/>
                    <a:pt x="106649" y="227172"/>
                  </a:cubicBezTo>
                  <a:close/>
                  <a:moveTo>
                    <a:pt x="60913" y="148142"/>
                  </a:moveTo>
                  <a:cubicBezTo>
                    <a:pt x="68939" y="165083"/>
                    <a:pt x="85913" y="176786"/>
                    <a:pt x="105070" y="176786"/>
                  </a:cubicBezTo>
                  <a:cubicBezTo>
                    <a:pt x="125369" y="176786"/>
                    <a:pt x="142293" y="165234"/>
                    <a:pt x="149849" y="148142"/>
                  </a:cubicBezTo>
                  <a:lnTo>
                    <a:pt x="185175" y="148142"/>
                  </a:lnTo>
                  <a:cubicBezTo>
                    <a:pt x="176293" y="184224"/>
                    <a:pt x="144174" y="210365"/>
                    <a:pt x="105053" y="210365"/>
                  </a:cubicBezTo>
                  <a:cubicBezTo>
                    <a:pt x="66638" y="210365"/>
                    <a:pt x="34754" y="183502"/>
                    <a:pt x="25268" y="148142"/>
                  </a:cubicBezTo>
                  <a:close/>
                </a:path>
              </a:pathLst>
            </a:custGeom>
            <a:solidFill>
              <a:srgbClr val="484848"/>
            </a:solidFill>
            <a:ln>
              <a:noFill/>
            </a:ln>
          </p:spPr>
          <p:txBody>
            <a:bodyPr rtlCol="0" anchor="ctr"/>
            <a:lstStyle/>
            <a:p>
              <a:pPr algn="ctr"/>
              <a:endParaRPr sz="3200"/>
            </a:p>
          </p:txBody>
        </p:sp>
        <p:sp>
          <p:nvSpPr>
            <p:cNvPr id="27" name="TextBox 26"/>
            <p:cNvSpPr txBox="1"/>
            <p:nvPr/>
          </p:nvSpPr>
          <p:spPr>
            <a:xfrm>
              <a:off x="6925508" y="2406694"/>
              <a:ext cx="2481449" cy="492443"/>
            </a:xfrm>
            <a:prstGeom prst="rect">
              <a:avLst/>
            </a:prstGeom>
            <a:noFill/>
            <a:ln>
              <a:noFill/>
            </a:ln>
          </p:spPr>
          <p:txBody>
            <a:bodyPr wrap="none" lIns="0" tIns="0" rIns="0" bIns="0" anchor="t">
              <a:spAutoFit/>
            </a:bodyPr>
            <a:lstStyle/>
            <a:p>
              <a:pPr algn="l"/>
              <a:r>
                <a:rPr sz="1600">
                  <a:solidFill>
                    <a:srgbClr val="484848"/>
                  </a:solidFill>
                </a:rPr>
                <a:t>Income from renting or owning
property</a:t>
              </a:r>
            </a:p>
          </p:txBody>
        </p:sp>
        <p:sp>
          <p:nvSpPr>
            <p:cNvPr id="28" name="TextBox 27"/>
            <p:cNvSpPr txBox="1"/>
            <p:nvPr/>
          </p:nvSpPr>
          <p:spPr>
            <a:xfrm>
              <a:off x="6925508" y="1803400"/>
              <a:ext cx="2014975" cy="615553"/>
            </a:xfrm>
            <a:prstGeom prst="rect">
              <a:avLst/>
            </a:prstGeom>
            <a:noFill/>
            <a:ln>
              <a:noFill/>
            </a:ln>
          </p:spPr>
          <p:txBody>
            <a:bodyPr wrap="none" lIns="0" tIns="0" rIns="0" bIns="0" anchor="t">
              <a:spAutoFit/>
            </a:bodyPr>
            <a:lstStyle/>
            <a:p>
              <a:pPr algn="l"/>
              <a:r>
                <a:rPr sz="2000" b="1" dirty="0">
                  <a:solidFill>
                    <a:srgbClr val="3CC583"/>
                  </a:solidFill>
                </a:rPr>
                <a:t>Income from House
Property</a:t>
              </a:r>
            </a:p>
          </p:txBody>
        </p:sp>
        <p:sp>
          <p:nvSpPr>
            <p:cNvPr id="29" name="TextBox 28"/>
            <p:cNvSpPr txBox="1"/>
            <p:nvPr/>
          </p:nvSpPr>
          <p:spPr>
            <a:xfrm>
              <a:off x="6925509" y="5722504"/>
              <a:ext cx="2715487" cy="492443"/>
            </a:xfrm>
            <a:prstGeom prst="rect">
              <a:avLst/>
            </a:prstGeom>
            <a:noFill/>
            <a:ln>
              <a:noFill/>
            </a:ln>
          </p:spPr>
          <p:txBody>
            <a:bodyPr wrap="none" lIns="0" tIns="0" rIns="0" bIns="0" anchor="t">
              <a:spAutoFit/>
            </a:bodyPr>
            <a:lstStyle/>
            <a:p>
              <a:pPr algn="l"/>
              <a:r>
                <a:rPr sz="1600">
                  <a:solidFill>
                    <a:srgbClr val="484848"/>
                  </a:solidFill>
                </a:rPr>
                <a:t>Income from sources not covered
by other categories</a:t>
              </a:r>
            </a:p>
          </p:txBody>
        </p:sp>
        <p:sp>
          <p:nvSpPr>
            <p:cNvPr id="30" name="TextBox 29"/>
            <p:cNvSpPr txBox="1"/>
            <p:nvPr/>
          </p:nvSpPr>
          <p:spPr>
            <a:xfrm>
              <a:off x="6925509" y="3031478"/>
              <a:ext cx="2386872" cy="615553"/>
            </a:xfrm>
            <a:prstGeom prst="rect">
              <a:avLst/>
            </a:prstGeom>
            <a:noFill/>
            <a:ln>
              <a:noFill/>
            </a:ln>
          </p:spPr>
          <p:txBody>
            <a:bodyPr wrap="none" lIns="0" tIns="0" rIns="0" bIns="0" anchor="t">
              <a:spAutoFit/>
            </a:bodyPr>
            <a:lstStyle/>
            <a:p>
              <a:pPr algn="l"/>
              <a:r>
                <a:rPr sz="2000" b="1">
                  <a:solidFill>
                    <a:srgbClr val="92BD39"/>
                  </a:solidFill>
                </a:rPr>
                <a:t>Profit &amp; Gains from
Business or Profession</a:t>
              </a:r>
            </a:p>
          </p:txBody>
        </p:sp>
        <p:sp>
          <p:nvSpPr>
            <p:cNvPr id="31" name="TextBox 30"/>
            <p:cNvSpPr txBox="1"/>
            <p:nvPr/>
          </p:nvSpPr>
          <p:spPr>
            <a:xfrm>
              <a:off x="6925509" y="3634772"/>
              <a:ext cx="2786019" cy="492443"/>
            </a:xfrm>
            <a:prstGeom prst="rect">
              <a:avLst/>
            </a:prstGeom>
            <a:noFill/>
            <a:ln>
              <a:noFill/>
            </a:ln>
          </p:spPr>
          <p:txBody>
            <a:bodyPr wrap="none" lIns="0" tIns="0" rIns="0" bIns="0" anchor="t">
              <a:spAutoFit/>
            </a:bodyPr>
            <a:lstStyle/>
            <a:p>
              <a:pPr algn="l"/>
              <a:r>
                <a:rPr sz="1600" dirty="0">
                  <a:solidFill>
                    <a:srgbClr val="484848"/>
                  </a:solidFill>
                </a:rPr>
                <a:t>Income from business activities or
professional services</a:t>
              </a:r>
            </a:p>
          </p:txBody>
        </p:sp>
        <p:sp>
          <p:nvSpPr>
            <p:cNvPr id="32" name="TextBox 31"/>
            <p:cNvSpPr txBox="1"/>
            <p:nvPr/>
          </p:nvSpPr>
          <p:spPr>
            <a:xfrm>
              <a:off x="6925509" y="1332127"/>
              <a:ext cx="2672206" cy="246221"/>
            </a:xfrm>
            <a:prstGeom prst="rect">
              <a:avLst/>
            </a:prstGeom>
            <a:noFill/>
            <a:ln>
              <a:noFill/>
            </a:ln>
          </p:spPr>
          <p:txBody>
            <a:bodyPr wrap="none" lIns="0" tIns="0" rIns="0" bIns="0" anchor="t">
              <a:spAutoFit/>
            </a:bodyPr>
            <a:lstStyle/>
            <a:p>
              <a:pPr algn="l"/>
              <a:r>
                <a:rPr sz="1600" dirty="0">
                  <a:solidFill>
                    <a:srgbClr val="484848"/>
                  </a:solidFill>
                </a:rPr>
                <a:t>Income earned from employment</a:t>
              </a:r>
            </a:p>
          </p:txBody>
        </p:sp>
        <p:sp>
          <p:nvSpPr>
            <p:cNvPr id="33" name="TextBox 32"/>
            <p:cNvSpPr txBox="1"/>
            <p:nvPr/>
          </p:nvSpPr>
          <p:spPr>
            <a:xfrm>
              <a:off x="6925508" y="943746"/>
              <a:ext cx="641201" cy="307777"/>
            </a:xfrm>
            <a:prstGeom prst="rect">
              <a:avLst/>
            </a:prstGeom>
            <a:noFill/>
            <a:ln>
              <a:noFill/>
            </a:ln>
          </p:spPr>
          <p:txBody>
            <a:bodyPr wrap="none" lIns="0" tIns="0" rIns="0" bIns="0" anchor="t">
              <a:spAutoFit/>
            </a:bodyPr>
            <a:lstStyle/>
            <a:p>
              <a:pPr algn="l"/>
              <a:r>
                <a:rPr sz="2000" b="1" dirty="0">
                  <a:solidFill>
                    <a:srgbClr val="1EABDA"/>
                  </a:solidFill>
                </a:rPr>
                <a:t>Salary</a:t>
              </a:r>
            </a:p>
          </p:txBody>
        </p:sp>
        <p:sp>
          <p:nvSpPr>
            <p:cNvPr id="34" name="TextBox 33"/>
            <p:cNvSpPr txBox="1"/>
            <p:nvPr/>
          </p:nvSpPr>
          <p:spPr>
            <a:xfrm>
              <a:off x="6925509" y="4259556"/>
              <a:ext cx="1357744" cy="307777"/>
            </a:xfrm>
            <a:prstGeom prst="rect">
              <a:avLst/>
            </a:prstGeom>
            <a:noFill/>
            <a:ln>
              <a:noFill/>
            </a:ln>
          </p:spPr>
          <p:txBody>
            <a:bodyPr wrap="none" lIns="0" tIns="0" rIns="0" bIns="0" anchor="t">
              <a:spAutoFit/>
            </a:bodyPr>
            <a:lstStyle/>
            <a:p>
              <a:pPr algn="l"/>
              <a:r>
                <a:rPr sz="2000" b="1">
                  <a:solidFill>
                    <a:srgbClr val="E0CB15"/>
                  </a:solidFill>
                </a:rPr>
                <a:t>Capital Gains</a:t>
              </a:r>
            </a:p>
          </p:txBody>
        </p:sp>
        <p:sp>
          <p:nvSpPr>
            <p:cNvPr id="35" name="TextBox 34"/>
            <p:cNvSpPr txBox="1"/>
            <p:nvPr/>
          </p:nvSpPr>
          <p:spPr>
            <a:xfrm>
              <a:off x="6925508" y="4647936"/>
              <a:ext cx="2039020" cy="246221"/>
            </a:xfrm>
            <a:prstGeom prst="rect">
              <a:avLst/>
            </a:prstGeom>
            <a:noFill/>
            <a:ln>
              <a:noFill/>
            </a:ln>
          </p:spPr>
          <p:txBody>
            <a:bodyPr wrap="none" lIns="0" tIns="0" rIns="0" bIns="0" anchor="t">
              <a:spAutoFit/>
            </a:bodyPr>
            <a:lstStyle/>
            <a:p>
              <a:pPr algn="l"/>
              <a:r>
                <a:rPr sz="1600">
                  <a:solidFill>
                    <a:srgbClr val="484848"/>
                  </a:solidFill>
                </a:rPr>
                <a:t>Profit from selling assets</a:t>
              </a:r>
            </a:p>
          </p:txBody>
        </p:sp>
        <p:sp>
          <p:nvSpPr>
            <p:cNvPr id="37" name="TextBox 36"/>
            <p:cNvSpPr txBox="1"/>
            <p:nvPr/>
          </p:nvSpPr>
          <p:spPr>
            <a:xfrm>
              <a:off x="6925508" y="5119210"/>
              <a:ext cx="1931619" cy="615553"/>
            </a:xfrm>
            <a:prstGeom prst="rect">
              <a:avLst/>
            </a:prstGeom>
            <a:noFill/>
            <a:ln>
              <a:noFill/>
            </a:ln>
          </p:spPr>
          <p:txBody>
            <a:bodyPr wrap="none" lIns="0" tIns="0" rIns="0" bIns="0" anchor="t">
              <a:spAutoFit/>
            </a:bodyPr>
            <a:lstStyle/>
            <a:p>
              <a:pPr algn="l"/>
              <a:r>
                <a:rPr sz="2000" b="1">
                  <a:solidFill>
                    <a:srgbClr val="DE8431"/>
                  </a:solidFill>
                </a:rPr>
                <a:t>Income from Other
Sources</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745F1-1155-4CE5-BCEC-BA7923437B09}"/>
              </a:ext>
            </a:extLst>
          </p:cNvPr>
          <p:cNvSpPr>
            <a:spLocks noGrp="1"/>
          </p:cNvSpPr>
          <p:nvPr>
            <p:ph type="title"/>
          </p:nvPr>
        </p:nvSpPr>
        <p:spPr/>
        <p:txBody>
          <a:bodyPr>
            <a:normAutofit/>
          </a:bodyPr>
          <a:lstStyle/>
          <a:p>
            <a:r>
              <a:rPr lang="en-US" sz="3200" dirty="0"/>
              <a:t>Income Tax Slab Rate for Individuals in Old Tax Regime </a:t>
            </a:r>
            <a:endParaRPr lang="en-IN" sz="3200" dirty="0"/>
          </a:p>
        </p:txBody>
      </p:sp>
      <p:sp>
        <p:nvSpPr>
          <p:cNvPr id="3" name="Content Placeholder 2">
            <a:extLst>
              <a:ext uri="{FF2B5EF4-FFF2-40B4-BE49-F238E27FC236}">
                <a16:creationId xmlns:a16="http://schemas.microsoft.com/office/drawing/2014/main" id="{F7BA5AE0-28A2-4916-A132-EF17F7CEEF3B}"/>
              </a:ext>
            </a:extLst>
          </p:cNvPr>
          <p:cNvSpPr>
            <a:spLocks noGrp="1"/>
          </p:cNvSpPr>
          <p:nvPr>
            <p:ph idx="1"/>
          </p:nvPr>
        </p:nvSpPr>
        <p:spPr/>
        <p:txBody>
          <a:bodyPr/>
          <a:lstStyle/>
          <a:p>
            <a:r>
              <a:rPr lang="en-IN" b="1" dirty="0">
                <a:solidFill>
                  <a:srgbClr val="C00000"/>
                </a:solidFill>
              </a:rPr>
              <a:t>Old Tax Regime (if you are claiming for Deductions and Exemptions)</a:t>
            </a:r>
          </a:p>
          <a:p>
            <a:r>
              <a:rPr lang="en-IN" dirty="0"/>
              <a:t>This is for individuals whose age is less than or equal to 60 years</a:t>
            </a:r>
          </a:p>
          <a:p>
            <a:endParaRPr lang="en-IN" b="1" dirty="0">
              <a:solidFill>
                <a:srgbClr val="C00000"/>
              </a:solidFill>
            </a:endParaRPr>
          </a:p>
          <a:p>
            <a:endParaRPr lang="en-IN" b="1" dirty="0">
              <a:solidFill>
                <a:srgbClr val="C00000"/>
              </a:solidFill>
            </a:endParaRPr>
          </a:p>
          <a:p>
            <a:endParaRPr lang="en-IN" b="1" dirty="0">
              <a:solidFill>
                <a:srgbClr val="C00000"/>
              </a:solidFill>
            </a:endParaRPr>
          </a:p>
          <a:p>
            <a:endParaRPr lang="en-IN" b="1" dirty="0">
              <a:solidFill>
                <a:srgbClr val="C00000"/>
              </a:solidFill>
            </a:endParaRPr>
          </a:p>
          <a:p>
            <a:endParaRPr lang="en-IN" b="1" dirty="0">
              <a:solidFill>
                <a:srgbClr val="C00000"/>
              </a:solidFill>
            </a:endParaRPr>
          </a:p>
          <a:p>
            <a:r>
              <a:rPr lang="en-US" b="0" i="0" dirty="0">
                <a:effectLst/>
              </a:rPr>
              <a:t>Tax rebate up to </a:t>
            </a:r>
            <a:r>
              <a:rPr lang="fr-FR" sz="2800" b="0" u="none" strike="noStrike" dirty="0">
                <a:solidFill>
                  <a:srgbClr val="000000"/>
                </a:solidFill>
                <a:effectLst/>
              </a:rPr>
              <a:t>₹ </a:t>
            </a:r>
            <a:r>
              <a:rPr lang="en-US" b="0" i="0" dirty="0">
                <a:effectLst/>
              </a:rPr>
              <a:t>12,500 is applicable for resident individuals, if the total income does not exceed </a:t>
            </a:r>
            <a:r>
              <a:rPr lang="fr-FR" sz="2800" b="0" u="none" strike="noStrike" dirty="0">
                <a:solidFill>
                  <a:srgbClr val="000000"/>
                </a:solidFill>
                <a:effectLst/>
              </a:rPr>
              <a:t>₹</a:t>
            </a:r>
            <a:r>
              <a:rPr lang="en-US" b="0" i="0" dirty="0">
                <a:effectLst/>
              </a:rPr>
              <a:t> 5,00,000 (not applicable for NRIs)</a:t>
            </a:r>
            <a:endParaRPr lang="en-IN" b="1" dirty="0">
              <a:solidFill>
                <a:srgbClr val="C00000"/>
              </a:solidFill>
            </a:endParaRPr>
          </a:p>
          <a:p>
            <a:endParaRPr lang="en-IN" b="1" dirty="0">
              <a:solidFill>
                <a:srgbClr val="C00000"/>
              </a:solidFill>
            </a:endParaRPr>
          </a:p>
        </p:txBody>
      </p:sp>
      <p:graphicFrame>
        <p:nvGraphicFramePr>
          <p:cNvPr id="4" name="Table 4">
            <a:extLst>
              <a:ext uri="{FF2B5EF4-FFF2-40B4-BE49-F238E27FC236}">
                <a16:creationId xmlns:a16="http://schemas.microsoft.com/office/drawing/2014/main" id="{FD64E687-63C4-481E-9697-772D5D51A7E4}"/>
              </a:ext>
            </a:extLst>
          </p:cNvPr>
          <p:cNvGraphicFramePr>
            <a:graphicFrameLocks noGrp="1"/>
          </p:cNvGraphicFramePr>
          <p:nvPr/>
        </p:nvGraphicFramePr>
        <p:xfrm>
          <a:off x="279458" y="2046304"/>
          <a:ext cx="11014183" cy="2019300"/>
        </p:xfrm>
        <a:graphic>
          <a:graphicData uri="http://schemas.openxmlformats.org/drawingml/2006/table">
            <a:tbl>
              <a:tblPr firstRow="1" bandRow="1">
                <a:tableStyleId>{72833802-FEF1-4C79-8D5D-14CF1EAF98D9}</a:tableStyleId>
              </a:tblPr>
              <a:tblGrid>
                <a:gridCol w="5020330">
                  <a:extLst>
                    <a:ext uri="{9D8B030D-6E8A-4147-A177-3AD203B41FA5}">
                      <a16:colId xmlns:a16="http://schemas.microsoft.com/office/drawing/2014/main" val="3219555008"/>
                    </a:ext>
                  </a:extLst>
                </a:gridCol>
                <a:gridCol w="5993853">
                  <a:extLst>
                    <a:ext uri="{9D8B030D-6E8A-4147-A177-3AD203B41FA5}">
                      <a16:colId xmlns:a16="http://schemas.microsoft.com/office/drawing/2014/main" val="3635782826"/>
                    </a:ext>
                  </a:extLst>
                </a:gridCol>
              </a:tblGrid>
              <a:tr h="354820">
                <a:tc>
                  <a:txBody>
                    <a:bodyPr/>
                    <a:lstStyle/>
                    <a:p>
                      <a:pPr algn="ctr"/>
                      <a:r>
                        <a:rPr lang="en-IN" sz="2400" b="1" dirty="0">
                          <a:effectLst/>
                        </a:rPr>
                        <a:t>Total Income</a:t>
                      </a:r>
                    </a:p>
                  </a:txBody>
                  <a:tcPr marL="76200" marR="76200" marT="76200" marB="76200" anchor="ctr"/>
                </a:tc>
                <a:tc>
                  <a:txBody>
                    <a:bodyPr/>
                    <a:lstStyle/>
                    <a:p>
                      <a:pPr algn="ctr"/>
                      <a:r>
                        <a:rPr lang="en-US" sz="2400" b="1" dirty="0">
                          <a:effectLst/>
                        </a:rPr>
                        <a:t>Old Regime Income Tax Slab Rates</a:t>
                      </a:r>
                    </a:p>
                  </a:txBody>
                  <a:tcPr marL="76200" marR="76200" marT="76200" marB="76200" anchor="ctr"/>
                </a:tc>
                <a:extLst>
                  <a:ext uri="{0D108BD9-81ED-4DB2-BD59-A6C34878D82A}">
                    <a16:rowId xmlns:a16="http://schemas.microsoft.com/office/drawing/2014/main" val="2196271902"/>
                  </a:ext>
                </a:extLst>
              </a:tr>
              <a:tr h="370840">
                <a:tc>
                  <a:txBody>
                    <a:bodyPr/>
                    <a:lstStyle/>
                    <a:p>
                      <a:pPr algn="l" fontAlgn="b"/>
                      <a:r>
                        <a:rPr lang="fr-FR" sz="2400" b="0" u="none" strike="noStrike" dirty="0">
                          <a:solidFill>
                            <a:srgbClr val="000000"/>
                          </a:solidFill>
                          <a:effectLst/>
                        </a:rPr>
                        <a:t> </a:t>
                      </a:r>
                      <a:r>
                        <a:rPr lang="fr-FR" sz="2400" b="0" u="none" strike="noStrike" dirty="0" err="1">
                          <a:solidFill>
                            <a:srgbClr val="000000"/>
                          </a:solidFill>
                          <a:effectLst/>
                        </a:rPr>
                        <a:t>Upto</a:t>
                      </a:r>
                      <a:r>
                        <a:rPr lang="fr-FR" sz="2400" b="0" u="none" strike="noStrike" dirty="0">
                          <a:solidFill>
                            <a:srgbClr val="000000"/>
                          </a:solidFill>
                          <a:effectLst/>
                        </a:rPr>
                        <a:t> ₹ 2,50,000</a:t>
                      </a:r>
                      <a:endParaRPr lang="fr-FR" sz="2400" b="0" i="0" u="none" strike="noStrike" dirty="0">
                        <a:solidFill>
                          <a:srgbClr val="000000"/>
                        </a:solidFill>
                        <a:effectLst/>
                        <a:latin typeface="+mj-lt"/>
                      </a:endParaRPr>
                    </a:p>
                  </a:txBody>
                  <a:tcPr marL="9525" marR="9525" marT="9525" marB="0" anchor="b"/>
                </a:tc>
                <a:tc>
                  <a:txBody>
                    <a:bodyPr/>
                    <a:lstStyle/>
                    <a:p>
                      <a:pPr algn="ctr" fontAlgn="b"/>
                      <a:r>
                        <a:rPr lang="en-IN" sz="2400" b="0" u="none" strike="noStrike" dirty="0">
                          <a:solidFill>
                            <a:srgbClr val="000000"/>
                          </a:solidFill>
                          <a:effectLst/>
                        </a:rPr>
                        <a:t>Nil</a:t>
                      </a:r>
                      <a:endParaRPr lang="en-IN" sz="2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2500859455"/>
                  </a:ext>
                </a:extLst>
              </a:tr>
              <a:tr h="370840">
                <a:tc>
                  <a:txBody>
                    <a:bodyPr/>
                    <a:lstStyle/>
                    <a:p>
                      <a:pPr algn="l" fontAlgn="b"/>
                      <a:r>
                        <a:rPr lang="fr-FR" sz="2400" b="0" u="none" strike="noStrike" dirty="0">
                          <a:solidFill>
                            <a:srgbClr val="000000"/>
                          </a:solidFill>
                          <a:effectLst/>
                        </a:rPr>
                        <a:t> ₹ 2,50,001 – ₹ 5,00,000</a:t>
                      </a:r>
                      <a:endParaRPr lang="fr-FR" sz="2400" b="0" i="0" u="none" strike="noStrike" dirty="0">
                        <a:solidFill>
                          <a:srgbClr val="000000"/>
                        </a:solidFill>
                        <a:effectLst/>
                        <a:latin typeface="+mj-lt"/>
                      </a:endParaRPr>
                    </a:p>
                  </a:txBody>
                  <a:tcPr marL="9525" marR="9525" marT="9525" marB="0" anchor="b"/>
                </a:tc>
                <a:tc>
                  <a:txBody>
                    <a:bodyPr/>
                    <a:lstStyle/>
                    <a:p>
                      <a:pPr algn="ctr" fontAlgn="b"/>
                      <a:r>
                        <a:rPr lang="en-US" sz="2400" b="0" u="none" strike="noStrike" dirty="0">
                          <a:solidFill>
                            <a:srgbClr val="000000"/>
                          </a:solidFill>
                          <a:effectLst/>
                        </a:rPr>
                        <a:t>5%</a:t>
                      </a:r>
                      <a:endParaRPr lang="en-US" sz="2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1723528860"/>
                  </a:ext>
                </a:extLst>
              </a:tr>
              <a:tr h="370840">
                <a:tc>
                  <a:txBody>
                    <a:bodyPr/>
                    <a:lstStyle/>
                    <a:p>
                      <a:pPr algn="l" fontAlgn="b"/>
                      <a:r>
                        <a:rPr lang="fr-FR" sz="2400" b="0" u="none" strike="noStrike" dirty="0">
                          <a:solidFill>
                            <a:srgbClr val="000000"/>
                          </a:solidFill>
                          <a:effectLst/>
                        </a:rPr>
                        <a:t> ₹ 5,00,001 – ₹ 10,00,000</a:t>
                      </a:r>
                      <a:endParaRPr lang="fr-FR" sz="2400" b="0" i="0" u="none" strike="noStrike" dirty="0">
                        <a:solidFill>
                          <a:srgbClr val="000000"/>
                        </a:solidFill>
                        <a:effectLst/>
                        <a:latin typeface="+mj-lt"/>
                      </a:endParaRPr>
                    </a:p>
                  </a:txBody>
                  <a:tcPr marL="9525" marR="9525" marT="9525" marB="0" anchor="ctr"/>
                </a:tc>
                <a:tc>
                  <a:txBody>
                    <a:bodyPr/>
                    <a:lstStyle/>
                    <a:p>
                      <a:pPr algn="ctr" fontAlgn="b"/>
                      <a:r>
                        <a:rPr lang="en-US" sz="2400" b="0" u="none" strike="noStrike" dirty="0">
                          <a:solidFill>
                            <a:srgbClr val="000000"/>
                          </a:solidFill>
                          <a:effectLst/>
                        </a:rPr>
                        <a:t>20%</a:t>
                      </a:r>
                      <a:endParaRPr lang="en-US" sz="2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2022517177"/>
                  </a:ext>
                </a:extLst>
              </a:tr>
              <a:tr h="370840">
                <a:tc>
                  <a:txBody>
                    <a:bodyPr/>
                    <a:lstStyle/>
                    <a:p>
                      <a:pPr algn="l" fontAlgn="b"/>
                      <a:r>
                        <a:rPr lang="en-IN" sz="2400" b="0" u="none" strike="noStrike" dirty="0">
                          <a:solidFill>
                            <a:srgbClr val="000000"/>
                          </a:solidFill>
                          <a:effectLst/>
                        </a:rPr>
                        <a:t> Above ₹ 10,00,000</a:t>
                      </a:r>
                      <a:endParaRPr lang="en-IN" sz="2400" b="0" i="0" u="none" strike="noStrike" dirty="0">
                        <a:solidFill>
                          <a:srgbClr val="000000"/>
                        </a:solidFill>
                        <a:effectLst/>
                        <a:latin typeface="+mj-lt"/>
                      </a:endParaRPr>
                    </a:p>
                  </a:txBody>
                  <a:tcPr marL="9525" marR="9525" marT="9525" marB="0" anchor="b"/>
                </a:tc>
                <a:tc>
                  <a:txBody>
                    <a:bodyPr/>
                    <a:lstStyle/>
                    <a:p>
                      <a:pPr algn="ctr" fontAlgn="b"/>
                      <a:r>
                        <a:rPr lang="en-IN" sz="2400" b="0" u="none" strike="noStrike" dirty="0">
                          <a:solidFill>
                            <a:srgbClr val="000000"/>
                          </a:solidFill>
                          <a:effectLst/>
                        </a:rPr>
                        <a:t>30%</a:t>
                      </a:r>
                      <a:endParaRPr lang="en-IN" sz="2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26380352"/>
                  </a:ext>
                </a:extLst>
              </a:tr>
            </a:tbl>
          </a:graphicData>
        </a:graphic>
      </p:graphicFrame>
      <p:sp>
        <p:nvSpPr>
          <p:cNvPr id="6" name="Content Placeholder 2">
            <a:extLst>
              <a:ext uri="{FF2B5EF4-FFF2-40B4-BE49-F238E27FC236}">
                <a16:creationId xmlns:a16="http://schemas.microsoft.com/office/drawing/2014/main" id="{F7BA5AE0-28A2-4916-A132-EF17F7CEEF3B}"/>
              </a:ext>
            </a:extLst>
          </p:cNvPr>
          <p:cNvSpPr txBox="1">
            <a:spLocks/>
          </p:cNvSpPr>
          <p:nvPr/>
        </p:nvSpPr>
        <p:spPr>
          <a:xfrm>
            <a:off x="0" y="4930859"/>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6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4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2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b="1" dirty="0"/>
          </a:p>
        </p:txBody>
      </p:sp>
    </p:spTree>
    <p:extLst>
      <p:ext uri="{BB962C8B-B14F-4D97-AF65-F5344CB8AC3E}">
        <p14:creationId xmlns:p14="http://schemas.microsoft.com/office/powerpoint/2010/main" val="2595979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745F1-1155-4CE5-BCEC-BA7923437B09}"/>
              </a:ext>
            </a:extLst>
          </p:cNvPr>
          <p:cNvSpPr>
            <a:spLocks noGrp="1"/>
          </p:cNvSpPr>
          <p:nvPr>
            <p:ph type="title"/>
          </p:nvPr>
        </p:nvSpPr>
        <p:spPr/>
        <p:txBody>
          <a:bodyPr>
            <a:normAutofit/>
          </a:bodyPr>
          <a:lstStyle/>
          <a:p>
            <a:r>
              <a:rPr lang="en-US" sz="3200" dirty="0"/>
              <a:t>Income Tax Slab Rate for Individuals in Old Tax Regime </a:t>
            </a:r>
            <a:r>
              <a:rPr lang="en-US" sz="2400" dirty="0"/>
              <a:t>(Contd.)</a:t>
            </a:r>
            <a:endParaRPr lang="en-IN" sz="3200" dirty="0"/>
          </a:p>
        </p:txBody>
      </p:sp>
      <p:sp>
        <p:nvSpPr>
          <p:cNvPr id="3" name="Content Placeholder 2">
            <a:extLst>
              <a:ext uri="{FF2B5EF4-FFF2-40B4-BE49-F238E27FC236}">
                <a16:creationId xmlns:a16="http://schemas.microsoft.com/office/drawing/2014/main" id="{F7BA5AE0-28A2-4916-A132-EF17F7CEEF3B}"/>
              </a:ext>
            </a:extLst>
          </p:cNvPr>
          <p:cNvSpPr>
            <a:spLocks noGrp="1"/>
          </p:cNvSpPr>
          <p:nvPr>
            <p:ph idx="1"/>
          </p:nvPr>
        </p:nvSpPr>
        <p:spPr/>
        <p:txBody>
          <a:bodyPr/>
          <a:lstStyle/>
          <a:p>
            <a:r>
              <a:rPr lang="en-IN" b="1" dirty="0">
                <a:solidFill>
                  <a:srgbClr val="C00000"/>
                </a:solidFill>
              </a:rPr>
              <a:t>Old Tax Regime (if you are claiming for Deductions and Exemptions)</a:t>
            </a:r>
          </a:p>
          <a:p>
            <a:r>
              <a:rPr lang="en-IN" dirty="0"/>
              <a:t>This is for individuals whose age is more than 60 years but less than </a:t>
            </a:r>
            <a:r>
              <a:rPr lang="en-IN"/>
              <a:t>or equal to </a:t>
            </a:r>
            <a:r>
              <a:rPr lang="en-IN" dirty="0"/>
              <a:t>80 years (Senior Citizen)</a:t>
            </a:r>
          </a:p>
          <a:p>
            <a:endParaRPr lang="en-IN" b="1" dirty="0">
              <a:solidFill>
                <a:srgbClr val="C00000"/>
              </a:solidFill>
            </a:endParaRPr>
          </a:p>
          <a:p>
            <a:endParaRPr lang="en-IN" b="1" dirty="0">
              <a:solidFill>
                <a:srgbClr val="C00000"/>
              </a:solidFill>
            </a:endParaRPr>
          </a:p>
          <a:p>
            <a:endParaRPr lang="en-IN" b="1" dirty="0">
              <a:solidFill>
                <a:srgbClr val="C00000"/>
              </a:solidFill>
            </a:endParaRPr>
          </a:p>
          <a:p>
            <a:endParaRPr lang="en-IN" b="1" dirty="0">
              <a:solidFill>
                <a:srgbClr val="C00000"/>
              </a:solidFill>
            </a:endParaRPr>
          </a:p>
          <a:p>
            <a:endParaRPr lang="en-IN" b="1" dirty="0">
              <a:solidFill>
                <a:srgbClr val="C00000"/>
              </a:solidFill>
            </a:endParaRPr>
          </a:p>
          <a:p>
            <a:endParaRPr lang="en-IN" b="1" dirty="0">
              <a:solidFill>
                <a:srgbClr val="C00000"/>
              </a:solidFill>
            </a:endParaRPr>
          </a:p>
          <a:p>
            <a:endParaRPr lang="en-IN" b="1" dirty="0">
              <a:solidFill>
                <a:srgbClr val="C00000"/>
              </a:solidFill>
            </a:endParaRPr>
          </a:p>
        </p:txBody>
      </p:sp>
      <p:graphicFrame>
        <p:nvGraphicFramePr>
          <p:cNvPr id="4" name="Table 4">
            <a:extLst>
              <a:ext uri="{FF2B5EF4-FFF2-40B4-BE49-F238E27FC236}">
                <a16:creationId xmlns:a16="http://schemas.microsoft.com/office/drawing/2014/main" id="{FD64E687-63C4-481E-9697-772D5D51A7E4}"/>
              </a:ext>
            </a:extLst>
          </p:cNvPr>
          <p:cNvGraphicFramePr>
            <a:graphicFrameLocks noGrp="1"/>
          </p:cNvGraphicFramePr>
          <p:nvPr/>
        </p:nvGraphicFramePr>
        <p:xfrm>
          <a:off x="279458" y="2727438"/>
          <a:ext cx="11014183" cy="2019300"/>
        </p:xfrm>
        <a:graphic>
          <a:graphicData uri="http://schemas.openxmlformats.org/drawingml/2006/table">
            <a:tbl>
              <a:tblPr firstRow="1" bandRow="1">
                <a:tableStyleId>{17292A2E-F333-43FB-9621-5CBBE7FDCDCB}</a:tableStyleId>
              </a:tblPr>
              <a:tblGrid>
                <a:gridCol w="5020330">
                  <a:extLst>
                    <a:ext uri="{9D8B030D-6E8A-4147-A177-3AD203B41FA5}">
                      <a16:colId xmlns:a16="http://schemas.microsoft.com/office/drawing/2014/main" val="3219555008"/>
                    </a:ext>
                  </a:extLst>
                </a:gridCol>
                <a:gridCol w="5993853">
                  <a:extLst>
                    <a:ext uri="{9D8B030D-6E8A-4147-A177-3AD203B41FA5}">
                      <a16:colId xmlns:a16="http://schemas.microsoft.com/office/drawing/2014/main" val="3635782826"/>
                    </a:ext>
                  </a:extLst>
                </a:gridCol>
              </a:tblGrid>
              <a:tr h="354820">
                <a:tc>
                  <a:txBody>
                    <a:bodyPr/>
                    <a:lstStyle/>
                    <a:p>
                      <a:pPr algn="ctr"/>
                      <a:r>
                        <a:rPr lang="en-IN" sz="2400" b="1" dirty="0">
                          <a:effectLst/>
                        </a:rPr>
                        <a:t>Total Income</a:t>
                      </a:r>
                    </a:p>
                  </a:txBody>
                  <a:tcPr marL="76200" marR="76200" marT="76200" marB="76200" anchor="ctr"/>
                </a:tc>
                <a:tc>
                  <a:txBody>
                    <a:bodyPr/>
                    <a:lstStyle/>
                    <a:p>
                      <a:pPr algn="ctr"/>
                      <a:r>
                        <a:rPr lang="en-US" sz="2400" b="1" dirty="0">
                          <a:effectLst/>
                        </a:rPr>
                        <a:t>Old Regime Income Tax Slab Rates</a:t>
                      </a:r>
                    </a:p>
                  </a:txBody>
                  <a:tcPr marL="76200" marR="76200" marT="76200" marB="76200" anchor="ctr"/>
                </a:tc>
                <a:extLst>
                  <a:ext uri="{0D108BD9-81ED-4DB2-BD59-A6C34878D82A}">
                    <a16:rowId xmlns:a16="http://schemas.microsoft.com/office/drawing/2014/main" val="2196271902"/>
                  </a:ext>
                </a:extLst>
              </a:tr>
              <a:tr h="370840">
                <a:tc>
                  <a:txBody>
                    <a:bodyPr/>
                    <a:lstStyle/>
                    <a:p>
                      <a:pPr algn="l" fontAlgn="b"/>
                      <a:r>
                        <a:rPr lang="fr-FR" sz="2400" b="0" u="none" strike="noStrike" dirty="0">
                          <a:solidFill>
                            <a:srgbClr val="000000"/>
                          </a:solidFill>
                          <a:effectLst/>
                        </a:rPr>
                        <a:t> </a:t>
                      </a:r>
                      <a:r>
                        <a:rPr lang="fr-FR" sz="2400" b="0" u="none" strike="noStrike" dirty="0" err="1">
                          <a:solidFill>
                            <a:srgbClr val="000000"/>
                          </a:solidFill>
                          <a:effectLst/>
                        </a:rPr>
                        <a:t>Upto</a:t>
                      </a:r>
                      <a:r>
                        <a:rPr lang="fr-FR" sz="2400" b="0" u="none" strike="noStrike" dirty="0">
                          <a:solidFill>
                            <a:srgbClr val="000000"/>
                          </a:solidFill>
                          <a:effectLst/>
                        </a:rPr>
                        <a:t> ₹ 3,00,000</a:t>
                      </a:r>
                      <a:endParaRPr lang="fr-FR" sz="2400" b="0" i="0" u="none" strike="noStrike" dirty="0">
                        <a:solidFill>
                          <a:srgbClr val="000000"/>
                        </a:solidFill>
                        <a:effectLst/>
                        <a:latin typeface="+mj-lt"/>
                      </a:endParaRPr>
                    </a:p>
                  </a:txBody>
                  <a:tcPr marL="9525" marR="9525" marT="9525" marB="0" anchor="b"/>
                </a:tc>
                <a:tc>
                  <a:txBody>
                    <a:bodyPr/>
                    <a:lstStyle/>
                    <a:p>
                      <a:pPr algn="ctr" fontAlgn="b"/>
                      <a:r>
                        <a:rPr lang="en-IN" sz="2400" b="0" u="none" strike="noStrike" dirty="0">
                          <a:solidFill>
                            <a:srgbClr val="000000"/>
                          </a:solidFill>
                          <a:effectLst/>
                        </a:rPr>
                        <a:t>Nil</a:t>
                      </a:r>
                      <a:endParaRPr lang="en-IN" sz="2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2500859455"/>
                  </a:ext>
                </a:extLst>
              </a:tr>
              <a:tr h="370840">
                <a:tc>
                  <a:txBody>
                    <a:bodyPr/>
                    <a:lstStyle/>
                    <a:p>
                      <a:pPr algn="l" fontAlgn="b"/>
                      <a:r>
                        <a:rPr lang="fr-FR" sz="2400" b="0" u="none" strike="noStrike" dirty="0">
                          <a:solidFill>
                            <a:srgbClr val="000000"/>
                          </a:solidFill>
                          <a:effectLst/>
                        </a:rPr>
                        <a:t> ₹ 3,00,001 – ₹ 5,00,000</a:t>
                      </a:r>
                      <a:endParaRPr lang="fr-FR" sz="2400" b="0" i="0" u="none" strike="noStrike" dirty="0">
                        <a:solidFill>
                          <a:srgbClr val="000000"/>
                        </a:solidFill>
                        <a:effectLst/>
                        <a:latin typeface="+mj-lt"/>
                      </a:endParaRPr>
                    </a:p>
                  </a:txBody>
                  <a:tcPr marL="9525" marR="9525" marT="9525" marB="0" anchor="b"/>
                </a:tc>
                <a:tc>
                  <a:txBody>
                    <a:bodyPr/>
                    <a:lstStyle/>
                    <a:p>
                      <a:pPr algn="ctr" fontAlgn="b"/>
                      <a:r>
                        <a:rPr lang="en-US" sz="2400" b="0" u="none" strike="noStrike" dirty="0">
                          <a:solidFill>
                            <a:srgbClr val="000000"/>
                          </a:solidFill>
                          <a:effectLst/>
                        </a:rPr>
                        <a:t>5%</a:t>
                      </a:r>
                      <a:endParaRPr lang="en-US" sz="2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1723528860"/>
                  </a:ext>
                </a:extLst>
              </a:tr>
              <a:tr h="370840">
                <a:tc>
                  <a:txBody>
                    <a:bodyPr/>
                    <a:lstStyle/>
                    <a:p>
                      <a:pPr algn="l" fontAlgn="b"/>
                      <a:r>
                        <a:rPr lang="fr-FR" sz="2400" b="0" u="none" strike="noStrike" dirty="0">
                          <a:solidFill>
                            <a:srgbClr val="000000"/>
                          </a:solidFill>
                          <a:effectLst/>
                        </a:rPr>
                        <a:t> ₹ 5,00,001 – ₹ 10,00,000</a:t>
                      </a:r>
                      <a:endParaRPr lang="fr-FR" sz="2400" b="0" i="0" u="none" strike="noStrike" dirty="0">
                        <a:solidFill>
                          <a:srgbClr val="000000"/>
                        </a:solidFill>
                        <a:effectLst/>
                        <a:latin typeface="+mj-lt"/>
                      </a:endParaRPr>
                    </a:p>
                  </a:txBody>
                  <a:tcPr marL="9525" marR="9525" marT="9525" marB="0" anchor="ctr"/>
                </a:tc>
                <a:tc>
                  <a:txBody>
                    <a:bodyPr/>
                    <a:lstStyle/>
                    <a:p>
                      <a:pPr algn="ctr" fontAlgn="b"/>
                      <a:r>
                        <a:rPr lang="en-US" sz="2400" b="0" u="none" strike="noStrike" dirty="0">
                          <a:solidFill>
                            <a:srgbClr val="000000"/>
                          </a:solidFill>
                          <a:effectLst/>
                        </a:rPr>
                        <a:t>20%</a:t>
                      </a:r>
                      <a:endParaRPr lang="en-US" sz="2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2022517177"/>
                  </a:ext>
                </a:extLst>
              </a:tr>
              <a:tr h="370840">
                <a:tc>
                  <a:txBody>
                    <a:bodyPr/>
                    <a:lstStyle/>
                    <a:p>
                      <a:pPr algn="l" fontAlgn="b"/>
                      <a:r>
                        <a:rPr lang="en-IN" sz="2400" b="0" u="none" strike="noStrike" dirty="0">
                          <a:solidFill>
                            <a:srgbClr val="000000"/>
                          </a:solidFill>
                          <a:effectLst/>
                        </a:rPr>
                        <a:t> Above ₹ 10,00,000</a:t>
                      </a:r>
                      <a:endParaRPr lang="en-IN" sz="2400" b="0" i="0" u="none" strike="noStrike" dirty="0">
                        <a:solidFill>
                          <a:srgbClr val="000000"/>
                        </a:solidFill>
                        <a:effectLst/>
                        <a:latin typeface="+mj-lt"/>
                      </a:endParaRPr>
                    </a:p>
                  </a:txBody>
                  <a:tcPr marL="9525" marR="9525" marT="9525" marB="0" anchor="b"/>
                </a:tc>
                <a:tc>
                  <a:txBody>
                    <a:bodyPr/>
                    <a:lstStyle/>
                    <a:p>
                      <a:pPr algn="ctr" fontAlgn="b"/>
                      <a:r>
                        <a:rPr lang="en-IN" sz="2400" b="0" u="none" strike="noStrike" dirty="0">
                          <a:solidFill>
                            <a:srgbClr val="000000"/>
                          </a:solidFill>
                          <a:effectLst/>
                        </a:rPr>
                        <a:t>30%</a:t>
                      </a:r>
                      <a:endParaRPr lang="en-IN" sz="2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26380352"/>
                  </a:ext>
                </a:extLst>
              </a:tr>
            </a:tbl>
          </a:graphicData>
        </a:graphic>
      </p:graphicFrame>
      <p:sp>
        <p:nvSpPr>
          <p:cNvPr id="6" name="Content Placeholder 2">
            <a:extLst>
              <a:ext uri="{FF2B5EF4-FFF2-40B4-BE49-F238E27FC236}">
                <a16:creationId xmlns:a16="http://schemas.microsoft.com/office/drawing/2014/main" id="{F7BA5AE0-28A2-4916-A132-EF17F7CEEF3B}"/>
              </a:ext>
            </a:extLst>
          </p:cNvPr>
          <p:cNvSpPr txBox="1">
            <a:spLocks/>
          </p:cNvSpPr>
          <p:nvPr/>
        </p:nvSpPr>
        <p:spPr>
          <a:xfrm>
            <a:off x="0" y="4930859"/>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6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4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2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b="1" dirty="0"/>
          </a:p>
        </p:txBody>
      </p:sp>
    </p:spTree>
    <p:extLst>
      <p:ext uri="{BB962C8B-B14F-4D97-AF65-F5344CB8AC3E}">
        <p14:creationId xmlns:p14="http://schemas.microsoft.com/office/powerpoint/2010/main" val="959491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745F1-1155-4CE5-BCEC-BA7923437B09}"/>
              </a:ext>
            </a:extLst>
          </p:cNvPr>
          <p:cNvSpPr>
            <a:spLocks noGrp="1"/>
          </p:cNvSpPr>
          <p:nvPr>
            <p:ph type="title"/>
          </p:nvPr>
        </p:nvSpPr>
        <p:spPr/>
        <p:txBody>
          <a:bodyPr>
            <a:normAutofit/>
          </a:bodyPr>
          <a:lstStyle/>
          <a:p>
            <a:r>
              <a:rPr lang="en-US" sz="3200" dirty="0"/>
              <a:t>Income Tax Slab Rate for Individuals in Old Tax Regime </a:t>
            </a:r>
            <a:r>
              <a:rPr lang="en-US" sz="2400" dirty="0"/>
              <a:t>(Contd.)</a:t>
            </a:r>
            <a:endParaRPr lang="en-IN" sz="3200" dirty="0"/>
          </a:p>
        </p:txBody>
      </p:sp>
      <p:sp>
        <p:nvSpPr>
          <p:cNvPr id="3" name="Content Placeholder 2">
            <a:extLst>
              <a:ext uri="{FF2B5EF4-FFF2-40B4-BE49-F238E27FC236}">
                <a16:creationId xmlns:a16="http://schemas.microsoft.com/office/drawing/2014/main" id="{F7BA5AE0-28A2-4916-A132-EF17F7CEEF3B}"/>
              </a:ext>
            </a:extLst>
          </p:cNvPr>
          <p:cNvSpPr>
            <a:spLocks noGrp="1"/>
          </p:cNvSpPr>
          <p:nvPr>
            <p:ph idx="1"/>
          </p:nvPr>
        </p:nvSpPr>
        <p:spPr/>
        <p:txBody>
          <a:bodyPr/>
          <a:lstStyle/>
          <a:p>
            <a:r>
              <a:rPr lang="en-IN" b="1" dirty="0">
                <a:solidFill>
                  <a:srgbClr val="C00000"/>
                </a:solidFill>
              </a:rPr>
              <a:t>Old Tax Regime (if you are claiming for Deductions and Exemptions)</a:t>
            </a:r>
          </a:p>
          <a:p>
            <a:r>
              <a:rPr lang="en-IN" dirty="0"/>
              <a:t>This is for individuals whose age is more than 80 years (Super Senior Citizen)</a:t>
            </a:r>
          </a:p>
          <a:p>
            <a:endParaRPr lang="en-IN" b="1" dirty="0">
              <a:solidFill>
                <a:srgbClr val="C00000"/>
              </a:solidFill>
            </a:endParaRPr>
          </a:p>
          <a:p>
            <a:endParaRPr lang="en-IN" b="1" dirty="0">
              <a:solidFill>
                <a:srgbClr val="C00000"/>
              </a:solidFill>
            </a:endParaRPr>
          </a:p>
          <a:p>
            <a:endParaRPr lang="en-IN" b="1" dirty="0">
              <a:solidFill>
                <a:srgbClr val="C00000"/>
              </a:solidFill>
            </a:endParaRPr>
          </a:p>
          <a:p>
            <a:endParaRPr lang="en-IN" b="1" dirty="0">
              <a:solidFill>
                <a:srgbClr val="C00000"/>
              </a:solidFill>
            </a:endParaRPr>
          </a:p>
          <a:p>
            <a:endParaRPr lang="en-IN" b="1" dirty="0">
              <a:solidFill>
                <a:srgbClr val="C00000"/>
              </a:solidFill>
            </a:endParaRPr>
          </a:p>
          <a:p>
            <a:endParaRPr lang="en-IN" b="1" dirty="0">
              <a:solidFill>
                <a:srgbClr val="C00000"/>
              </a:solidFill>
            </a:endParaRPr>
          </a:p>
          <a:p>
            <a:endParaRPr lang="en-IN" b="1" dirty="0">
              <a:solidFill>
                <a:srgbClr val="C00000"/>
              </a:solidFill>
            </a:endParaRPr>
          </a:p>
        </p:txBody>
      </p:sp>
      <p:graphicFrame>
        <p:nvGraphicFramePr>
          <p:cNvPr id="4" name="Table 4">
            <a:extLst>
              <a:ext uri="{FF2B5EF4-FFF2-40B4-BE49-F238E27FC236}">
                <a16:creationId xmlns:a16="http://schemas.microsoft.com/office/drawing/2014/main" id="{FD64E687-63C4-481E-9697-772D5D51A7E4}"/>
              </a:ext>
            </a:extLst>
          </p:cNvPr>
          <p:cNvGraphicFramePr>
            <a:graphicFrameLocks noGrp="1"/>
          </p:cNvGraphicFramePr>
          <p:nvPr/>
        </p:nvGraphicFramePr>
        <p:xfrm>
          <a:off x="279458" y="2298230"/>
          <a:ext cx="11014183" cy="1644015"/>
        </p:xfrm>
        <a:graphic>
          <a:graphicData uri="http://schemas.openxmlformats.org/drawingml/2006/table">
            <a:tbl>
              <a:tblPr firstRow="1" bandRow="1">
                <a:tableStyleId>{F2DE63D5-997A-4646-A377-4702673A728D}</a:tableStyleId>
              </a:tblPr>
              <a:tblGrid>
                <a:gridCol w="5020330">
                  <a:extLst>
                    <a:ext uri="{9D8B030D-6E8A-4147-A177-3AD203B41FA5}">
                      <a16:colId xmlns:a16="http://schemas.microsoft.com/office/drawing/2014/main" val="3219555008"/>
                    </a:ext>
                  </a:extLst>
                </a:gridCol>
                <a:gridCol w="5993853">
                  <a:extLst>
                    <a:ext uri="{9D8B030D-6E8A-4147-A177-3AD203B41FA5}">
                      <a16:colId xmlns:a16="http://schemas.microsoft.com/office/drawing/2014/main" val="3635782826"/>
                    </a:ext>
                  </a:extLst>
                </a:gridCol>
              </a:tblGrid>
              <a:tr h="354820">
                <a:tc>
                  <a:txBody>
                    <a:bodyPr/>
                    <a:lstStyle/>
                    <a:p>
                      <a:pPr algn="ctr"/>
                      <a:r>
                        <a:rPr lang="en-IN" sz="2400" b="1" dirty="0">
                          <a:effectLst/>
                        </a:rPr>
                        <a:t>Total Income</a:t>
                      </a:r>
                    </a:p>
                  </a:txBody>
                  <a:tcPr marL="76200" marR="76200" marT="76200" marB="76200" anchor="ctr"/>
                </a:tc>
                <a:tc>
                  <a:txBody>
                    <a:bodyPr/>
                    <a:lstStyle/>
                    <a:p>
                      <a:pPr algn="ctr"/>
                      <a:r>
                        <a:rPr lang="en-US" sz="2400" b="1" dirty="0">
                          <a:effectLst/>
                        </a:rPr>
                        <a:t>Old Regime Income Tax Slab Rates</a:t>
                      </a:r>
                    </a:p>
                  </a:txBody>
                  <a:tcPr marL="76200" marR="76200" marT="76200" marB="76200" anchor="ctr"/>
                </a:tc>
                <a:extLst>
                  <a:ext uri="{0D108BD9-81ED-4DB2-BD59-A6C34878D82A}">
                    <a16:rowId xmlns:a16="http://schemas.microsoft.com/office/drawing/2014/main" val="2196271902"/>
                  </a:ext>
                </a:extLst>
              </a:tr>
              <a:tr h="370840">
                <a:tc>
                  <a:txBody>
                    <a:bodyPr/>
                    <a:lstStyle/>
                    <a:p>
                      <a:pPr algn="l" fontAlgn="b"/>
                      <a:r>
                        <a:rPr lang="fr-FR" sz="2400" b="0" u="none" strike="noStrike" dirty="0">
                          <a:solidFill>
                            <a:srgbClr val="000000"/>
                          </a:solidFill>
                          <a:effectLst/>
                        </a:rPr>
                        <a:t> </a:t>
                      </a:r>
                      <a:r>
                        <a:rPr lang="fr-FR" sz="2400" b="0" u="none" strike="noStrike" dirty="0" err="1">
                          <a:solidFill>
                            <a:srgbClr val="000000"/>
                          </a:solidFill>
                          <a:effectLst/>
                        </a:rPr>
                        <a:t>Upto</a:t>
                      </a:r>
                      <a:r>
                        <a:rPr lang="fr-FR" sz="2400" b="0" u="none" strike="noStrike" dirty="0">
                          <a:solidFill>
                            <a:srgbClr val="000000"/>
                          </a:solidFill>
                          <a:effectLst/>
                        </a:rPr>
                        <a:t> ₹ 5,00,000</a:t>
                      </a:r>
                      <a:endParaRPr lang="fr-FR" sz="2400" b="0" i="0" u="none" strike="noStrike" dirty="0">
                        <a:solidFill>
                          <a:srgbClr val="000000"/>
                        </a:solidFill>
                        <a:effectLst/>
                        <a:latin typeface="+mj-lt"/>
                      </a:endParaRPr>
                    </a:p>
                  </a:txBody>
                  <a:tcPr marL="9525" marR="9525" marT="9525" marB="0" anchor="b"/>
                </a:tc>
                <a:tc>
                  <a:txBody>
                    <a:bodyPr/>
                    <a:lstStyle/>
                    <a:p>
                      <a:pPr algn="ctr" fontAlgn="b"/>
                      <a:r>
                        <a:rPr lang="en-IN" sz="2400" b="0" u="none" strike="noStrike" dirty="0">
                          <a:solidFill>
                            <a:srgbClr val="000000"/>
                          </a:solidFill>
                          <a:effectLst/>
                        </a:rPr>
                        <a:t>Nil</a:t>
                      </a:r>
                      <a:endParaRPr lang="en-IN" sz="2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2500859455"/>
                  </a:ext>
                </a:extLst>
              </a:tr>
              <a:tr h="370840">
                <a:tc>
                  <a:txBody>
                    <a:bodyPr/>
                    <a:lstStyle/>
                    <a:p>
                      <a:pPr algn="l" fontAlgn="b"/>
                      <a:r>
                        <a:rPr lang="fr-FR" sz="2400" b="0" u="none" strike="noStrike" dirty="0">
                          <a:solidFill>
                            <a:srgbClr val="000000"/>
                          </a:solidFill>
                          <a:effectLst/>
                        </a:rPr>
                        <a:t> ₹ 5,00,001 – ₹ 10,00,000</a:t>
                      </a:r>
                      <a:endParaRPr lang="fr-FR" sz="2400" b="0" i="0" u="none" strike="noStrike" dirty="0">
                        <a:solidFill>
                          <a:srgbClr val="000000"/>
                        </a:solidFill>
                        <a:effectLst/>
                        <a:latin typeface="+mj-lt"/>
                      </a:endParaRPr>
                    </a:p>
                  </a:txBody>
                  <a:tcPr marL="9525" marR="9525" marT="9525" marB="0" anchor="ctr"/>
                </a:tc>
                <a:tc>
                  <a:txBody>
                    <a:bodyPr/>
                    <a:lstStyle/>
                    <a:p>
                      <a:pPr algn="ctr" fontAlgn="b"/>
                      <a:r>
                        <a:rPr lang="en-US" sz="2400" b="0" u="none" strike="noStrike" dirty="0">
                          <a:solidFill>
                            <a:srgbClr val="000000"/>
                          </a:solidFill>
                          <a:effectLst/>
                        </a:rPr>
                        <a:t>20%</a:t>
                      </a:r>
                      <a:endParaRPr lang="en-US" sz="2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2022517177"/>
                  </a:ext>
                </a:extLst>
              </a:tr>
              <a:tr h="370840">
                <a:tc>
                  <a:txBody>
                    <a:bodyPr/>
                    <a:lstStyle/>
                    <a:p>
                      <a:pPr algn="l" fontAlgn="b"/>
                      <a:r>
                        <a:rPr lang="en-IN" sz="2400" b="0" u="none" strike="noStrike" dirty="0">
                          <a:solidFill>
                            <a:srgbClr val="000000"/>
                          </a:solidFill>
                          <a:effectLst/>
                        </a:rPr>
                        <a:t> Above ₹ 10,00,000</a:t>
                      </a:r>
                      <a:endParaRPr lang="en-IN" sz="2400" b="0" i="0" u="none" strike="noStrike" dirty="0">
                        <a:solidFill>
                          <a:srgbClr val="000000"/>
                        </a:solidFill>
                        <a:effectLst/>
                        <a:latin typeface="+mj-lt"/>
                      </a:endParaRPr>
                    </a:p>
                  </a:txBody>
                  <a:tcPr marL="9525" marR="9525" marT="9525" marB="0" anchor="b"/>
                </a:tc>
                <a:tc>
                  <a:txBody>
                    <a:bodyPr/>
                    <a:lstStyle/>
                    <a:p>
                      <a:pPr algn="ctr" fontAlgn="b"/>
                      <a:r>
                        <a:rPr lang="en-IN" sz="2400" b="0" u="none" strike="noStrike" dirty="0">
                          <a:solidFill>
                            <a:srgbClr val="000000"/>
                          </a:solidFill>
                          <a:effectLst/>
                        </a:rPr>
                        <a:t>30%</a:t>
                      </a:r>
                      <a:endParaRPr lang="en-IN" sz="2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26380352"/>
                  </a:ext>
                </a:extLst>
              </a:tr>
            </a:tbl>
          </a:graphicData>
        </a:graphic>
      </p:graphicFrame>
      <p:sp>
        <p:nvSpPr>
          <p:cNvPr id="6" name="Content Placeholder 2">
            <a:extLst>
              <a:ext uri="{FF2B5EF4-FFF2-40B4-BE49-F238E27FC236}">
                <a16:creationId xmlns:a16="http://schemas.microsoft.com/office/drawing/2014/main" id="{F7BA5AE0-28A2-4916-A132-EF17F7CEEF3B}"/>
              </a:ext>
            </a:extLst>
          </p:cNvPr>
          <p:cNvSpPr txBox="1">
            <a:spLocks/>
          </p:cNvSpPr>
          <p:nvPr/>
        </p:nvSpPr>
        <p:spPr>
          <a:xfrm>
            <a:off x="0" y="4930859"/>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6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4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2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b="1" dirty="0"/>
          </a:p>
        </p:txBody>
      </p:sp>
    </p:spTree>
    <p:extLst>
      <p:ext uri="{BB962C8B-B14F-4D97-AF65-F5344CB8AC3E}">
        <p14:creationId xmlns:p14="http://schemas.microsoft.com/office/powerpoint/2010/main" val="1762842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745F1-1155-4CE5-BCEC-BA7923437B09}"/>
              </a:ext>
            </a:extLst>
          </p:cNvPr>
          <p:cNvSpPr>
            <a:spLocks noGrp="1"/>
          </p:cNvSpPr>
          <p:nvPr>
            <p:ph type="title"/>
          </p:nvPr>
        </p:nvSpPr>
        <p:spPr/>
        <p:txBody>
          <a:bodyPr>
            <a:normAutofit/>
          </a:bodyPr>
          <a:lstStyle/>
          <a:p>
            <a:r>
              <a:rPr lang="en-US" sz="3200" dirty="0"/>
              <a:t>Income Tax Slab Rate for Individuals in New Tax Regime </a:t>
            </a:r>
            <a:endParaRPr lang="en-IN" sz="3200" dirty="0"/>
          </a:p>
        </p:txBody>
      </p:sp>
      <p:sp>
        <p:nvSpPr>
          <p:cNvPr id="3" name="Content Placeholder 2">
            <a:extLst>
              <a:ext uri="{FF2B5EF4-FFF2-40B4-BE49-F238E27FC236}">
                <a16:creationId xmlns:a16="http://schemas.microsoft.com/office/drawing/2014/main" id="{F7BA5AE0-28A2-4916-A132-EF17F7CEEF3B}"/>
              </a:ext>
            </a:extLst>
          </p:cNvPr>
          <p:cNvSpPr>
            <a:spLocks noGrp="1"/>
          </p:cNvSpPr>
          <p:nvPr>
            <p:ph idx="1"/>
          </p:nvPr>
        </p:nvSpPr>
        <p:spPr/>
        <p:txBody>
          <a:bodyPr/>
          <a:lstStyle/>
          <a:p>
            <a:r>
              <a:rPr lang="en-IN" b="1" dirty="0">
                <a:solidFill>
                  <a:srgbClr val="C00000"/>
                </a:solidFill>
              </a:rPr>
              <a:t>New Tax Regime (if you are NOT claiming for Deductions and Exemptions)</a:t>
            </a:r>
          </a:p>
          <a:p>
            <a:r>
              <a:rPr lang="en-IN" dirty="0"/>
              <a:t>This is for individuals (of all age groups) and HUFs</a:t>
            </a:r>
          </a:p>
          <a:p>
            <a:endParaRPr lang="en-IN" b="1" dirty="0">
              <a:solidFill>
                <a:srgbClr val="C00000"/>
              </a:solidFill>
            </a:endParaRPr>
          </a:p>
          <a:p>
            <a:endParaRPr lang="en-IN" b="1" dirty="0">
              <a:solidFill>
                <a:srgbClr val="C00000"/>
              </a:solidFill>
            </a:endParaRPr>
          </a:p>
          <a:p>
            <a:endParaRPr lang="en-IN" b="1" dirty="0">
              <a:solidFill>
                <a:srgbClr val="C00000"/>
              </a:solidFill>
            </a:endParaRPr>
          </a:p>
          <a:p>
            <a:endParaRPr lang="en-IN" b="1" dirty="0">
              <a:solidFill>
                <a:srgbClr val="C00000"/>
              </a:solidFill>
            </a:endParaRPr>
          </a:p>
          <a:p>
            <a:endParaRPr lang="en-IN" b="1" dirty="0">
              <a:solidFill>
                <a:srgbClr val="C00000"/>
              </a:solidFill>
            </a:endParaRPr>
          </a:p>
          <a:p>
            <a:endParaRPr lang="en-IN" b="1" dirty="0">
              <a:solidFill>
                <a:srgbClr val="C00000"/>
              </a:solidFill>
            </a:endParaRPr>
          </a:p>
          <a:p>
            <a:endParaRPr lang="en-US" sz="1600" b="0" i="0" dirty="0">
              <a:effectLst/>
            </a:endParaRPr>
          </a:p>
          <a:p>
            <a:r>
              <a:rPr lang="en-US" b="0" i="0" dirty="0">
                <a:effectLst/>
              </a:rPr>
              <a:t>Tax rebate up to </a:t>
            </a:r>
            <a:r>
              <a:rPr lang="fr-FR" sz="2800" b="0" u="none" strike="noStrike" dirty="0">
                <a:solidFill>
                  <a:srgbClr val="000000"/>
                </a:solidFill>
                <a:effectLst/>
              </a:rPr>
              <a:t>₹ </a:t>
            </a:r>
            <a:r>
              <a:rPr lang="en-US" b="0" i="0" dirty="0">
                <a:effectLst/>
              </a:rPr>
              <a:t>25,000 is applicable for resident individuals, if the total income does not exceed </a:t>
            </a:r>
            <a:r>
              <a:rPr lang="fr-FR" sz="2800" b="0" u="none" strike="noStrike" dirty="0">
                <a:solidFill>
                  <a:srgbClr val="000000"/>
                </a:solidFill>
                <a:effectLst/>
              </a:rPr>
              <a:t>₹</a:t>
            </a:r>
            <a:r>
              <a:rPr lang="en-US" b="0" i="0" dirty="0">
                <a:effectLst/>
              </a:rPr>
              <a:t> 7,00,000 (not applicable for NRIs</a:t>
            </a:r>
            <a:r>
              <a:rPr lang="en-IN" dirty="0"/>
              <a:t>).</a:t>
            </a:r>
          </a:p>
        </p:txBody>
      </p:sp>
      <p:graphicFrame>
        <p:nvGraphicFramePr>
          <p:cNvPr id="4" name="Table 4">
            <a:extLst>
              <a:ext uri="{FF2B5EF4-FFF2-40B4-BE49-F238E27FC236}">
                <a16:creationId xmlns:a16="http://schemas.microsoft.com/office/drawing/2014/main" id="{FD64E687-63C4-481E-9697-772D5D51A7E4}"/>
              </a:ext>
            </a:extLst>
          </p:cNvPr>
          <p:cNvGraphicFramePr>
            <a:graphicFrameLocks noGrp="1"/>
          </p:cNvGraphicFramePr>
          <p:nvPr>
            <p:extLst>
              <p:ext uri="{D42A27DB-BD31-4B8C-83A1-F6EECF244321}">
                <p14:modId xmlns:p14="http://schemas.microsoft.com/office/powerpoint/2010/main" val="1994278873"/>
              </p:ext>
            </p:extLst>
          </p:nvPr>
        </p:nvGraphicFramePr>
        <p:xfrm>
          <a:off x="279458" y="2102288"/>
          <a:ext cx="11014183" cy="2769870"/>
        </p:xfrm>
        <a:graphic>
          <a:graphicData uri="http://schemas.openxmlformats.org/drawingml/2006/table">
            <a:tbl>
              <a:tblPr firstRow="1" bandRow="1">
                <a:tableStyleId>{5A111915-BE36-4E01-A7E5-04B1672EAD32}</a:tableStyleId>
              </a:tblPr>
              <a:tblGrid>
                <a:gridCol w="5020330">
                  <a:extLst>
                    <a:ext uri="{9D8B030D-6E8A-4147-A177-3AD203B41FA5}">
                      <a16:colId xmlns:a16="http://schemas.microsoft.com/office/drawing/2014/main" val="3219555008"/>
                    </a:ext>
                  </a:extLst>
                </a:gridCol>
                <a:gridCol w="5993853">
                  <a:extLst>
                    <a:ext uri="{9D8B030D-6E8A-4147-A177-3AD203B41FA5}">
                      <a16:colId xmlns:a16="http://schemas.microsoft.com/office/drawing/2014/main" val="3635782826"/>
                    </a:ext>
                  </a:extLst>
                </a:gridCol>
              </a:tblGrid>
              <a:tr h="354820">
                <a:tc>
                  <a:txBody>
                    <a:bodyPr/>
                    <a:lstStyle/>
                    <a:p>
                      <a:pPr algn="ctr"/>
                      <a:r>
                        <a:rPr lang="en-IN" sz="2400" b="1" dirty="0">
                          <a:effectLst/>
                        </a:rPr>
                        <a:t>Total Income</a:t>
                      </a:r>
                    </a:p>
                  </a:txBody>
                  <a:tcPr marL="76200" marR="76200" marT="76200" marB="76200" anchor="ctr"/>
                </a:tc>
                <a:tc>
                  <a:txBody>
                    <a:bodyPr/>
                    <a:lstStyle/>
                    <a:p>
                      <a:pPr algn="ctr"/>
                      <a:r>
                        <a:rPr lang="en-US" sz="2400" b="1" dirty="0">
                          <a:effectLst/>
                        </a:rPr>
                        <a:t>New Regime Income Tax Slab Rates</a:t>
                      </a:r>
                    </a:p>
                  </a:txBody>
                  <a:tcPr marL="76200" marR="76200" marT="76200" marB="76200" anchor="ctr"/>
                </a:tc>
                <a:extLst>
                  <a:ext uri="{0D108BD9-81ED-4DB2-BD59-A6C34878D82A}">
                    <a16:rowId xmlns:a16="http://schemas.microsoft.com/office/drawing/2014/main" val="2196271902"/>
                  </a:ext>
                </a:extLst>
              </a:tr>
              <a:tr h="370840">
                <a:tc>
                  <a:txBody>
                    <a:bodyPr/>
                    <a:lstStyle/>
                    <a:p>
                      <a:pPr algn="l" fontAlgn="b"/>
                      <a:r>
                        <a:rPr lang="fr-FR" sz="2400" b="0" u="none" strike="noStrike" dirty="0">
                          <a:solidFill>
                            <a:srgbClr val="000000"/>
                          </a:solidFill>
                          <a:effectLst/>
                        </a:rPr>
                        <a:t> </a:t>
                      </a:r>
                      <a:r>
                        <a:rPr lang="fr-FR" sz="2400" b="0" u="none" strike="noStrike" dirty="0" err="1">
                          <a:solidFill>
                            <a:srgbClr val="000000"/>
                          </a:solidFill>
                          <a:effectLst/>
                        </a:rPr>
                        <a:t>Upto</a:t>
                      </a:r>
                      <a:r>
                        <a:rPr lang="fr-FR" sz="2400" b="0" u="none" strike="noStrike" dirty="0">
                          <a:solidFill>
                            <a:srgbClr val="000000"/>
                          </a:solidFill>
                          <a:effectLst/>
                        </a:rPr>
                        <a:t> ₹ 3,00,000</a:t>
                      </a:r>
                      <a:endParaRPr lang="fr-FR" sz="2400" b="0" i="0" u="none" strike="noStrike" dirty="0">
                        <a:solidFill>
                          <a:srgbClr val="000000"/>
                        </a:solidFill>
                        <a:effectLst/>
                        <a:latin typeface="+mj-lt"/>
                      </a:endParaRPr>
                    </a:p>
                  </a:txBody>
                  <a:tcPr marL="9525" marR="9525" marT="9525" marB="0" anchor="b"/>
                </a:tc>
                <a:tc>
                  <a:txBody>
                    <a:bodyPr/>
                    <a:lstStyle/>
                    <a:p>
                      <a:pPr algn="ctr" fontAlgn="b"/>
                      <a:r>
                        <a:rPr lang="en-IN" sz="2400" b="0" u="none" strike="noStrike" dirty="0">
                          <a:solidFill>
                            <a:srgbClr val="000000"/>
                          </a:solidFill>
                          <a:effectLst/>
                        </a:rPr>
                        <a:t>Nil</a:t>
                      </a:r>
                      <a:endParaRPr lang="en-IN" sz="2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2500859455"/>
                  </a:ext>
                </a:extLst>
              </a:tr>
              <a:tr h="370840">
                <a:tc>
                  <a:txBody>
                    <a:bodyPr/>
                    <a:lstStyle/>
                    <a:p>
                      <a:pPr algn="l" fontAlgn="b"/>
                      <a:r>
                        <a:rPr lang="fr-FR" sz="2400" b="0" u="none" strike="noStrike" dirty="0">
                          <a:solidFill>
                            <a:srgbClr val="000000"/>
                          </a:solidFill>
                          <a:effectLst/>
                        </a:rPr>
                        <a:t> ₹ 3,00,001 – ₹ 7,00,000</a:t>
                      </a:r>
                      <a:endParaRPr lang="fr-FR" sz="2400" b="0" i="0" u="none" strike="noStrike" dirty="0">
                        <a:solidFill>
                          <a:srgbClr val="000000"/>
                        </a:solidFill>
                        <a:effectLst/>
                        <a:latin typeface="+mj-lt"/>
                      </a:endParaRPr>
                    </a:p>
                  </a:txBody>
                  <a:tcPr marL="9525" marR="9525" marT="9525" marB="0" anchor="b"/>
                </a:tc>
                <a:tc>
                  <a:txBody>
                    <a:bodyPr/>
                    <a:lstStyle/>
                    <a:p>
                      <a:pPr algn="ctr" fontAlgn="b"/>
                      <a:r>
                        <a:rPr lang="en-US" sz="2400" b="0" u="none" strike="noStrike" dirty="0">
                          <a:solidFill>
                            <a:srgbClr val="000000"/>
                          </a:solidFill>
                          <a:effectLst/>
                        </a:rPr>
                        <a:t>5%</a:t>
                      </a:r>
                      <a:endParaRPr lang="en-US" sz="2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1723528860"/>
                  </a:ext>
                </a:extLst>
              </a:tr>
              <a:tr h="370840">
                <a:tc>
                  <a:txBody>
                    <a:bodyPr/>
                    <a:lstStyle/>
                    <a:p>
                      <a:pPr algn="l" fontAlgn="b"/>
                      <a:r>
                        <a:rPr lang="fr-FR" sz="2400" b="0" u="none" strike="noStrike" dirty="0">
                          <a:solidFill>
                            <a:srgbClr val="000000"/>
                          </a:solidFill>
                          <a:effectLst/>
                        </a:rPr>
                        <a:t> ₹ 7,00,001 – ₹ 10,00,000</a:t>
                      </a:r>
                      <a:endParaRPr lang="fr-FR" sz="2400" b="0" i="0" u="none" strike="noStrike" dirty="0">
                        <a:solidFill>
                          <a:srgbClr val="000000"/>
                        </a:solidFill>
                        <a:effectLst/>
                        <a:latin typeface="+mj-lt"/>
                      </a:endParaRPr>
                    </a:p>
                  </a:txBody>
                  <a:tcPr marL="9525" marR="9525" marT="9525" marB="0" anchor="ctr"/>
                </a:tc>
                <a:tc>
                  <a:txBody>
                    <a:bodyPr/>
                    <a:lstStyle/>
                    <a:p>
                      <a:pPr algn="ctr" fontAlgn="b"/>
                      <a:r>
                        <a:rPr lang="en-US" sz="2400" b="0" u="none" strike="noStrike" dirty="0">
                          <a:solidFill>
                            <a:srgbClr val="000000"/>
                          </a:solidFill>
                          <a:effectLst/>
                        </a:rPr>
                        <a:t>10%</a:t>
                      </a:r>
                      <a:endParaRPr lang="en-US" sz="2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2022517177"/>
                  </a:ext>
                </a:extLst>
              </a:tr>
              <a:tr h="370840">
                <a:tc>
                  <a:txBody>
                    <a:bodyPr/>
                    <a:lstStyle/>
                    <a:p>
                      <a:pPr algn="l" fontAlgn="b"/>
                      <a:r>
                        <a:rPr lang="fr-FR" sz="2400" b="0" u="none" strike="noStrike" dirty="0">
                          <a:solidFill>
                            <a:srgbClr val="000000"/>
                          </a:solidFill>
                          <a:effectLst/>
                        </a:rPr>
                        <a:t> ₹ 10,00,001 - ₹ 12,00,000</a:t>
                      </a:r>
                      <a:endParaRPr lang="fr-FR" sz="2400" b="0" i="0" u="none" strike="noStrike" dirty="0">
                        <a:solidFill>
                          <a:srgbClr val="000000"/>
                        </a:solidFill>
                        <a:effectLst/>
                        <a:latin typeface="+mj-lt"/>
                      </a:endParaRPr>
                    </a:p>
                  </a:txBody>
                  <a:tcPr marL="9525" marR="9525" marT="9525" marB="0" anchor="b"/>
                </a:tc>
                <a:tc>
                  <a:txBody>
                    <a:bodyPr/>
                    <a:lstStyle/>
                    <a:p>
                      <a:pPr algn="ctr" fontAlgn="b"/>
                      <a:r>
                        <a:rPr lang="en-IN" sz="2400" b="0" u="none" strike="noStrike" dirty="0">
                          <a:solidFill>
                            <a:srgbClr val="000000"/>
                          </a:solidFill>
                          <a:effectLst/>
                        </a:rPr>
                        <a:t>15%</a:t>
                      </a:r>
                      <a:endParaRPr lang="en-IN" sz="2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4294112107"/>
                  </a:ext>
                </a:extLst>
              </a:tr>
              <a:tr h="370840">
                <a:tc>
                  <a:txBody>
                    <a:bodyPr/>
                    <a:lstStyle/>
                    <a:p>
                      <a:pPr algn="l" fontAlgn="b"/>
                      <a:r>
                        <a:rPr lang="fr-FR" sz="2400" b="0" u="none" strike="noStrike" dirty="0">
                          <a:solidFill>
                            <a:srgbClr val="000000"/>
                          </a:solidFill>
                          <a:effectLst/>
                        </a:rPr>
                        <a:t> ₹ 12,00,001 – ₹ 15,00,000</a:t>
                      </a:r>
                      <a:endParaRPr lang="fr-FR" sz="2400" b="0" i="0" u="none" strike="noStrike" dirty="0">
                        <a:solidFill>
                          <a:srgbClr val="000000"/>
                        </a:solidFill>
                        <a:effectLst/>
                        <a:latin typeface="+mj-lt"/>
                      </a:endParaRPr>
                    </a:p>
                  </a:txBody>
                  <a:tcPr marL="9525" marR="9525" marT="9525" marB="0" anchor="b"/>
                </a:tc>
                <a:tc>
                  <a:txBody>
                    <a:bodyPr/>
                    <a:lstStyle/>
                    <a:p>
                      <a:pPr algn="ctr" fontAlgn="b"/>
                      <a:r>
                        <a:rPr lang="en-IN" sz="2400" b="0" u="none" strike="noStrike" dirty="0">
                          <a:solidFill>
                            <a:srgbClr val="000000"/>
                          </a:solidFill>
                          <a:effectLst/>
                        </a:rPr>
                        <a:t>20%</a:t>
                      </a:r>
                      <a:endParaRPr lang="en-IN" sz="2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3991016139"/>
                  </a:ext>
                </a:extLst>
              </a:tr>
              <a:tr h="370840">
                <a:tc>
                  <a:txBody>
                    <a:bodyPr/>
                    <a:lstStyle/>
                    <a:p>
                      <a:pPr algn="l" fontAlgn="b"/>
                      <a:r>
                        <a:rPr lang="en-IN" sz="2400" b="0" u="none" strike="noStrike" dirty="0">
                          <a:solidFill>
                            <a:srgbClr val="000000"/>
                          </a:solidFill>
                          <a:effectLst/>
                        </a:rPr>
                        <a:t> Above ₹ 15,00,000</a:t>
                      </a:r>
                      <a:endParaRPr lang="en-IN" sz="2400" b="0" i="0" u="none" strike="noStrike" dirty="0">
                        <a:solidFill>
                          <a:srgbClr val="000000"/>
                        </a:solidFill>
                        <a:effectLst/>
                        <a:latin typeface="+mj-lt"/>
                      </a:endParaRPr>
                    </a:p>
                  </a:txBody>
                  <a:tcPr marL="9525" marR="9525" marT="9525" marB="0" anchor="b"/>
                </a:tc>
                <a:tc>
                  <a:txBody>
                    <a:bodyPr/>
                    <a:lstStyle/>
                    <a:p>
                      <a:pPr algn="ctr" fontAlgn="b"/>
                      <a:r>
                        <a:rPr lang="en-IN" sz="2400" b="0" u="none" strike="noStrike" dirty="0">
                          <a:solidFill>
                            <a:srgbClr val="000000"/>
                          </a:solidFill>
                          <a:effectLst/>
                        </a:rPr>
                        <a:t>30%</a:t>
                      </a:r>
                      <a:endParaRPr lang="en-IN" sz="2400" b="0" i="0" u="none" strike="noStrike" dirty="0">
                        <a:solidFill>
                          <a:srgbClr val="000000"/>
                        </a:solidFill>
                        <a:effectLst/>
                        <a:latin typeface="+mj-lt"/>
                      </a:endParaRPr>
                    </a:p>
                  </a:txBody>
                  <a:tcPr marL="9525" marR="9525" marT="9525" marB="0" anchor="ctr"/>
                </a:tc>
                <a:extLst>
                  <a:ext uri="{0D108BD9-81ED-4DB2-BD59-A6C34878D82A}">
                    <a16:rowId xmlns:a16="http://schemas.microsoft.com/office/drawing/2014/main" val="26380352"/>
                  </a:ext>
                </a:extLst>
              </a:tr>
            </a:tbl>
          </a:graphicData>
        </a:graphic>
      </p:graphicFrame>
      <p:sp>
        <p:nvSpPr>
          <p:cNvPr id="6" name="Content Placeholder 2">
            <a:extLst>
              <a:ext uri="{FF2B5EF4-FFF2-40B4-BE49-F238E27FC236}">
                <a16:creationId xmlns:a16="http://schemas.microsoft.com/office/drawing/2014/main" id="{F7BA5AE0-28A2-4916-A132-EF17F7CEEF3B}"/>
              </a:ext>
            </a:extLst>
          </p:cNvPr>
          <p:cNvSpPr txBox="1">
            <a:spLocks/>
          </p:cNvSpPr>
          <p:nvPr/>
        </p:nvSpPr>
        <p:spPr>
          <a:xfrm>
            <a:off x="0" y="4930859"/>
            <a:ext cx="1192964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6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4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2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IN" b="1" dirty="0"/>
          </a:p>
        </p:txBody>
      </p:sp>
    </p:spTree>
    <p:extLst>
      <p:ext uri="{BB962C8B-B14F-4D97-AF65-F5344CB8AC3E}">
        <p14:creationId xmlns:p14="http://schemas.microsoft.com/office/powerpoint/2010/main" val="1067450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Rebate under section 87A</a:t>
            </a:r>
          </a:p>
        </p:txBody>
      </p:sp>
      <p:grpSp>
        <p:nvGrpSpPr>
          <p:cNvPr id="4" name="Group 3"/>
          <p:cNvGrpSpPr/>
          <p:nvPr/>
        </p:nvGrpSpPr>
        <p:grpSpPr>
          <a:xfrm>
            <a:off x="5505075" y="1827955"/>
            <a:ext cx="1758353" cy="1868250"/>
            <a:chOff x="2197941" y="989073"/>
            <a:chExt cx="1758353" cy="1868250"/>
          </a:xfrm>
        </p:grpSpPr>
        <p:sp>
          <p:nvSpPr>
            <p:cNvPr id="28" name="Rounded Rectangle 1"/>
            <p:cNvSpPr/>
            <p:nvPr/>
          </p:nvSpPr>
          <p:spPr>
            <a:xfrm>
              <a:off x="2197941" y="989073"/>
              <a:ext cx="1758353" cy="1868250"/>
            </a:xfrm>
            <a:custGeom>
              <a:avLst/>
              <a:gdLst/>
              <a:ahLst/>
              <a:cxnLst/>
              <a:rect l="0" t="0" r="0" b="0"/>
              <a:pathLst>
                <a:path w="1758353" h="1868250">
                  <a:moveTo>
                    <a:pt x="109897" y="109897"/>
                  </a:moveTo>
                  <a:lnTo>
                    <a:pt x="0" y="109897"/>
                  </a:lnTo>
                  <a:cubicBezTo>
                    <a:pt x="0" y="49414"/>
                    <a:pt x="49414" y="0"/>
                    <a:pt x="109897" y="0"/>
                  </a:cubicBezTo>
                  <a:close/>
                  <a:moveTo>
                    <a:pt x="1648456" y="0"/>
                  </a:moveTo>
                  <a:lnTo>
                    <a:pt x="1648456" y="109897"/>
                  </a:lnTo>
                  <a:lnTo>
                    <a:pt x="109897" y="109897"/>
                  </a:lnTo>
                  <a:lnTo>
                    <a:pt x="109897" y="0"/>
                  </a:lnTo>
                  <a:close/>
                  <a:moveTo>
                    <a:pt x="1758353" y="109897"/>
                  </a:moveTo>
                  <a:lnTo>
                    <a:pt x="1648456" y="109897"/>
                  </a:lnTo>
                  <a:lnTo>
                    <a:pt x="1648456" y="0"/>
                  </a:lnTo>
                  <a:cubicBezTo>
                    <a:pt x="1709044" y="0"/>
                    <a:pt x="1758353" y="49308"/>
                    <a:pt x="1758353" y="109897"/>
                  </a:cubicBezTo>
                  <a:close/>
                  <a:moveTo>
                    <a:pt x="1758353" y="1868250"/>
                  </a:moveTo>
                  <a:lnTo>
                    <a:pt x="0" y="1868250"/>
                  </a:lnTo>
                  <a:lnTo>
                    <a:pt x="0" y="109897"/>
                  </a:lnTo>
                  <a:lnTo>
                    <a:pt x="1758353" y="109897"/>
                  </a:ln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9" name="Rounded Rectangle 2"/>
            <p:cNvSpPr/>
            <p:nvPr/>
          </p:nvSpPr>
          <p:spPr>
            <a:xfrm>
              <a:off x="2197941" y="989073"/>
              <a:ext cx="1758353" cy="1868250"/>
            </a:xfrm>
            <a:custGeom>
              <a:avLst/>
              <a:gdLst/>
              <a:ahLst/>
              <a:cxnLst/>
              <a:rect l="0" t="0" r="0" b="0"/>
              <a:pathLst>
                <a:path w="1758353" h="1868250">
                  <a:moveTo>
                    <a:pt x="0" y="109897"/>
                  </a:moveTo>
                  <a:cubicBezTo>
                    <a:pt x="0" y="49206"/>
                    <a:pt x="49206" y="0"/>
                    <a:pt x="109897" y="0"/>
                  </a:cubicBezTo>
                  <a:moveTo>
                    <a:pt x="1758353" y="109897"/>
                  </a:moveTo>
                  <a:lnTo>
                    <a:pt x="1758353" y="1868250"/>
                  </a:lnTo>
                  <a:moveTo>
                    <a:pt x="0" y="109897"/>
                  </a:moveTo>
                  <a:lnTo>
                    <a:pt x="0" y="1868250"/>
                  </a:lnTo>
                  <a:moveTo>
                    <a:pt x="109897" y="0"/>
                  </a:moveTo>
                  <a:lnTo>
                    <a:pt x="1648456" y="0"/>
                  </a:lnTo>
                  <a:moveTo>
                    <a:pt x="1648456" y="0"/>
                  </a:moveTo>
                  <a:cubicBezTo>
                    <a:pt x="1709058" y="0"/>
                    <a:pt x="1758353" y="49294"/>
                    <a:pt x="1758353" y="109897"/>
                  </a:cubicBezTo>
                </a:path>
              </a:pathLst>
            </a:custGeom>
            <a:noFill/>
            <a:ln w="1373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5" name="Group 4"/>
          <p:cNvGrpSpPr/>
          <p:nvPr/>
        </p:nvGrpSpPr>
        <p:grpSpPr>
          <a:xfrm>
            <a:off x="5505075" y="3696214"/>
            <a:ext cx="1758353" cy="2527632"/>
            <a:chOff x="2197941" y="2857332"/>
            <a:chExt cx="1758353" cy="2527632"/>
          </a:xfrm>
        </p:grpSpPr>
        <p:sp>
          <p:nvSpPr>
            <p:cNvPr id="26" name="Rounded Rectangle 4"/>
            <p:cNvSpPr/>
            <p:nvPr/>
          </p:nvSpPr>
          <p:spPr>
            <a:xfrm>
              <a:off x="2197941" y="2857332"/>
              <a:ext cx="1758353" cy="2527632"/>
            </a:xfrm>
            <a:custGeom>
              <a:avLst/>
              <a:gdLst/>
              <a:ahLst/>
              <a:cxnLst/>
              <a:rect l="0" t="0" r="0" b="0"/>
              <a:pathLst>
                <a:path w="1758353" h="2527632">
                  <a:moveTo>
                    <a:pt x="0" y="2417735"/>
                  </a:moveTo>
                  <a:lnTo>
                    <a:pt x="109897" y="2417735"/>
                  </a:lnTo>
                  <a:lnTo>
                    <a:pt x="109897" y="2527632"/>
                  </a:lnTo>
                  <a:cubicBezTo>
                    <a:pt x="49202" y="2527632"/>
                    <a:pt x="0" y="2478429"/>
                    <a:pt x="0" y="2417735"/>
                  </a:cubicBezTo>
                  <a:close/>
                  <a:moveTo>
                    <a:pt x="109897" y="2527632"/>
                  </a:moveTo>
                  <a:lnTo>
                    <a:pt x="109897" y="2417735"/>
                  </a:lnTo>
                  <a:lnTo>
                    <a:pt x="1648456" y="2417735"/>
                  </a:lnTo>
                  <a:lnTo>
                    <a:pt x="1648456" y="2527632"/>
                  </a:lnTo>
                  <a:close/>
                  <a:moveTo>
                    <a:pt x="1758353" y="2417735"/>
                  </a:moveTo>
                  <a:cubicBezTo>
                    <a:pt x="1758353" y="2478429"/>
                    <a:pt x="1709150" y="2527632"/>
                    <a:pt x="1648456" y="2527632"/>
                  </a:cubicBezTo>
                  <a:lnTo>
                    <a:pt x="1648456" y="2417735"/>
                  </a:lnTo>
                  <a:close/>
                  <a:moveTo>
                    <a:pt x="1758353" y="2417735"/>
                  </a:moveTo>
                  <a:lnTo>
                    <a:pt x="0" y="2417735"/>
                  </a:lnTo>
                  <a:lnTo>
                    <a:pt x="0" y="0"/>
                  </a:lnTo>
                  <a:lnTo>
                    <a:pt x="1758353" y="0"/>
                  </a:lnTo>
                  <a:close/>
                </a:path>
              </a:pathLst>
            </a:custGeom>
            <a:solidFill>
              <a:srgbClr val="666666"/>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7" name="Rounded Rectangle 5"/>
            <p:cNvSpPr/>
            <p:nvPr/>
          </p:nvSpPr>
          <p:spPr>
            <a:xfrm>
              <a:off x="2197941" y="2857332"/>
              <a:ext cx="1758353" cy="2527632"/>
            </a:xfrm>
            <a:custGeom>
              <a:avLst/>
              <a:gdLst/>
              <a:ahLst/>
              <a:cxnLst/>
              <a:rect l="0" t="0" r="0" b="0"/>
              <a:pathLst>
                <a:path w="1758353" h="2527632">
                  <a:moveTo>
                    <a:pt x="109897" y="2527632"/>
                  </a:moveTo>
                  <a:cubicBezTo>
                    <a:pt x="49202" y="2527632"/>
                    <a:pt x="0" y="2478429"/>
                    <a:pt x="0" y="2417735"/>
                  </a:cubicBezTo>
                  <a:moveTo>
                    <a:pt x="1648456" y="2527632"/>
                  </a:moveTo>
                  <a:lnTo>
                    <a:pt x="109897" y="2527632"/>
                  </a:lnTo>
                  <a:moveTo>
                    <a:pt x="1758353" y="2417735"/>
                  </a:moveTo>
                  <a:cubicBezTo>
                    <a:pt x="1758353" y="2478429"/>
                    <a:pt x="1709150" y="2527632"/>
                    <a:pt x="1648456" y="2527632"/>
                  </a:cubicBezTo>
                  <a:moveTo>
                    <a:pt x="1758353" y="0"/>
                  </a:moveTo>
                  <a:lnTo>
                    <a:pt x="1758353" y="2417735"/>
                  </a:lnTo>
                  <a:moveTo>
                    <a:pt x="0" y="2417735"/>
                  </a:moveTo>
                  <a:lnTo>
                    <a:pt x="0" y="0"/>
                  </a:lnTo>
                  <a:moveTo>
                    <a:pt x="1758353" y="0"/>
                  </a:moveTo>
                  <a:lnTo>
                    <a:pt x="0" y="0"/>
                  </a:lnTo>
                </a:path>
              </a:pathLst>
            </a:custGeom>
            <a:noFill/>
            <a:ln w="1373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
        <p:nvSpPr>
          <p:cNvPr id="6" name="Rounded Rectangle 7"/>
          <p:cNvSpPr/>
          <p:nvPr/>
        </p:nvSpPr>
        <p:spPr>
          <a:xfrm>
            <a:off x="5614972" y="3806111"/>
            <a:ext cx="1538559" cy="1098970"/>
          </a:xfrm>
          <a:custGeom>
            <a:avLst/>
            <a:gdLst/>
            <a:ahLst/>
            <a:cxnLst/>
            <a:rect l="0" t="0" r="0" b="0"/>
            <a:pathLst>
              <a:path w="1538559" h="1098970">
                <a:moveTo>
                  <a:pt x="0" y="109897"/>
                </a:moveTo>
                <a:lnTo>
                  <a:pt x="0" y="54948"/>
                </a:lnTo>
                <a:cubicBezTo>
                  <a:pt x="0" y="24601"/>
                  <a:pt x="24601" y="0"/>
                  <a:pt x="54948" y="0"/>
                </a:cubicBezTo>
                <a:lnTo>
                  <a:pt x="109897" y="0"/>
                </a:lnTo>
                <a:moveTo>
                  <a:pt x="1538559" y="109897"/>
                </a:moveTo>
                <a:lnTo>
                  <a:pt x="1538559" y="989073"/>
                </a:lnTo>
                <a:moveTo>
                  <a:pt x="0" y="989073"/>
                </a:moveTo>
                <a:lnTo>
                  <a:pt x="0" y="109897"/>
                </a:lnTo>
                <a:moveTo>
                  <a:pt x="109897" y="0"/>
                </a:moveTo>
                <a:lnTo>
                  <a:pt x="1428661" y="0"/>
                </a:lnTo>
                <a:moveTo>
                  <a:pt x="109897" y="1098970"/>
                </a:moveTo>
                <a:lnTo>
                  <a:pt x="54948" y="1098970"/>
                </a:lnTo>
                <a:cubicBezTo>
                  <a:pt x="24601" y="1098970"/>
                  <a:pt x="0" y="1074369"/>
                  <a:pt x="0" y="1044022"/>
                </a:cubicBezTo>
                <a:lnTo>
                  <a:pt x="0" y="989073"/>
                </a:lnTo>
                <a:moveTo>
                  <a:pt x="1428661" y="0"/>
                </a:moveTo>
                <a:lnTo>
                  <a:pt x="1483610" y="0"/>
                </a:lnTo>
                <a:cubicBezTo>
                  <a:pt x="1513957" y="0"/>
                  <a:pt x="1538559" y="24601"/>
                  <a:pt x="1538559" y="54948"/>
                </a:cubicBezTo>
                <a:lnTo>
                  <a:pt x="1538559" y="109897"/>
                </a:lnTo>
                <a:moveTo>
                  <a:pt x="109897" y="1098970"/>
                </a:moveTo>
                <a:lnTo>
                  <a:pt x="1428661" y="1098970"/>
                </a:lnTo>
                <a:moveTo>
                  <a:pt x="1538559" y="989073"/>
                </a:moveTo>
                <a:lnTo>
                  <a:pt x="1538559" y="1044022"/>
                </a:lnTo>
                <a:cubicBezTo>
                  <a:pt x="1538559" y="1074369"/>
                  <a:pt x="1513957" y="1098970"/>
                  <a:pt x="1483610" y="1098970"/>
                </a:cubicBezTo>
                <a:lnTo>
                  <a:pt x="1428661" y="1098970"/>
                </a:lnTo>
              </a:path>
            </a:pathLst>
          </a:custGeom>
          <a:noFill/>
          <a:ln w="13737">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7" name="Rounded Rectangle 8"/>
          <p:cNvSpPr/>
          <p:nvPr/>
        </p:nvSpPr>
        <p:spPr>
          <a:xfrm>
            <a:off x="5614972" y="5014979"/>
            <a:ext cx="1538559" cy="1098970"/>
          </a:xfrm>
          <a:custGeom>
            <a:avLst/>
            <a:gdLst/>
            <a:ahLst/>
            <a:cxnLst/>
            <a:rect l="0" t="0" r="0" b="0"/>
            <a:pathLst>
              <a:path w="1538559" h="1098970">
                <a:moveTo>
                  <a:pt x="0" y="109897"/>
                </a:moveTo>
                <a:lnTo>
                  <a:pt x="0" y="54948"/>
                </a:lnTo>
                <a:cubicBezTo>
                  <a:pt x="0" y="24601"/>
                  <a:pt x="24601" y="0"/>
                  <a:pt x="54948" y="0"/>
                </a:cubicBezTo>
                <a:lnTo>
                  <a:pt x="109897" y="0"/>
                </a:lnTo>
                <a:moveTo>
                  <a:pt x="1538559" y="109897"/>
                </a:moveTo>
                <a:lnTo>
                  <a:pt x="1538559" y="989073"/>
                </a:lnTo>
                <a:moveTo>
                  <a:pt x="0" y="989073"/>
                </a:moveTo>
                <a:lnTo>
                  <a:pt x="0" y="109897"/>
                </a:lnTo>
                <a:moveTo>
                  <a:pt x="109897" y="0"/>
                </a:moveTo>
                <a:lnTo>
                  <a:pt x="1428661" y="0"/>
                </a:lnTo>
                <a:moveTo>
                  <a:pt x="109897" y="1098970"/>
                </a:moveTo>
                <a:lnTo>
                  <a:pt x="54948" y="1098970"/>
                </a:lnTo>
                <a:cubicBezTo>
                  <a:pt x="24601" y="1098970"/>
                  <a:pt x="0" y="1074369"/>
                  <a:pt x="0" y="1044022"/>
                </a:cubicBezTo>
                <a:lnTo>
                  <a:pt x="0" y="989073"/>
                </a:lnTo>
                <a:moveTo>
                  <a:pt x="1428661" y="0"/>
                </a:moveTo>
                <a:lnTo>
                  <a:pt x="1483610" y="0"/>
                </a:lnTo>
                <a:cubicBezTo>
                  <a:pt x="1513957" y="0"/>
                  <a:pt x="1538559" y="24601"/>
                  <a:pt x="1538559" y="54948"/>
                </a:cubicBezTo>
                <a:lnTo>
                  <a:pt x="1538559" y="109897"/>
                </a:lnTo>
                <a:moveTo>
                  <a:pt x="109897" y="1098970"/>
                </a:moveTo>
                <a:lnTo>
                  <a:pt x="1428661" y="1098970"/>
                </a:lnTo>
                <a:moveTo>
                  <a:pt x="1538559" y="989073"/>
                </a:moveTo>
                <a:lnTo>
                  <a:pt x="1538559" y="1044022"/>
                </a:lnTo>
                <a:cubicBezTo>
                  <a:pt x="1538559" y="1074369"/>
                  <a:pt x="1513957" y="1098970"/>
                  <a:pt x="1483610" y="1098970"/>
                </a:cubicBezTo>
                <a:lnTo>
                  <a:pt x="1428661" y="1098970"/>
                </a:lnTo>
              </a:path>
            </a:pathLst>
          </a:custGeom>
          <a:noFill/>
          <a:ln w="13737">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nvGrpSpPr>
          <p:cNvPr id="8" name="Group 7"/>
          <p:cNvGrpSpPr/>
          <p:nvPr/>
        </p:nvGrpSpPr>
        <p:grpSpPr>
          <a:xfrm>
            <a:off x="7483222" y="1827955"/>
            <a:ext cx="1758353" cy="1868250"/>
            <a:chOff x="4176088" y="989073"/>
            <a:chExt cx="1758353" cy="1868250"/>
          </a:xfrm>
        </p:grpSpPr>
        <p:sp>
          <p:nvSpPr>
            <p:cNvPr id="24" name="Rounded Rectangle 9"/>
            <p:cNvSpPr/>
            <p:nvPr/>
          </p:nvSpPr>
          <p:spPr>
            <a:xfrm>
              <a:off x="4176088" y="989073"/>
              <a:ext cx="1758353" cy="1868250"/>
            </a:xfrm>
            <a:custGeom>
              <a:avLst/>
              <a:gdLst/>
              <a:ahLst/>
              <a:cxnLst/>
              <a:rect l="0" t="0" r="0" b="0"/>
              <a:pathLst>
                <a:path w="1758353" h="1868250">
                  <a:moveTo>
                    <a:pt x="109897" y="109897"/>
                  </a:moveTo>
                  <a:lnTo>
                    <a:pt x="0" y="109897"/>
                  </a:lnTo>
                  <a:cubicBezTo>
                    <a:pt x="0" y="49414"/>
                    <a:pt x="49414" y="0"/>
                    <a:pt x="109897" y="0"/>
                  </a:cubicBezTo>
                  <a:close/>
                  <a:moveTo>
                    <a:pt x="1648456" y="0"/>
                  </a:moveTo>
                  <a:lnTo>
                    <a:pt x="1648456" y="109897"/>
                  </a:lnTo>
                  <a:lnTo>
                    <a:pt x="109897" y="109897"/>
                  </a:lnTo>
                  <a:lnTo>
                    <a:pt x="109897" y="0"/>
                  </a:lnTo>
                  <a:close/>
                  <a:moveTo>
                    <a:pt x="1758353" y="109897"/>
                  </a:moveTo>
                  <a:lnTo>
                    <a:pt x="1648456" y="109897"/>
                  </a:lnTo>
                  <a:lnTo>
                    <a:pt x="1648456" y="0"/>
                  </a:lnTo>
                  <a:cubicBezTo>
                    <a:pt x="1709044" y="0"/>
                    <a:pt x="1758353" y="49308"/>
                    <a:pt x="1758353" y="109897"/>
                  </a:cubicBezTo>
                  <a:close/>
                  <a:moveTo>
                    <a:pt x="1758353" y="1868250"/>
                  </a:moveTo>
                  <a:lnTo>
                    <a:pt x="0" y="1868250"/>
                  </a:lnTo>
                  <a:lnTo>
                    <a:pt x="0" y="109897"/>
                  </a:lnTo>
                  <a:lnTo>
                    <a:pt x="1758353" y="109897"/>
                  </a:ln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5" name="Rounded Rectangle 10"/>
            <p:cNvSpPr/>
            <p:nvPr/>
          </p:nvSpPr>
          <p:spPr>
            <a:xfrm>
              <a:off x="4176088" y="989073"/>
              <a:ext cx="1758353" cy="1868250"/>
            </a:xfrm>
            <a:custGeom>
              <a:avLst/>
              <a:gdLst/>
              <a:ahLst/>
              <a:cxnLst/>
              <a:rect l="0" t="0" r="0" b="0"/>
              <a:pathLst>
                <a:path w="1758353" h="1868250">
                  <a:moveTo>
                    <a:pt x="0" y="109897"/>
                  </a:moveTo>
                  <a:cubicBezTo>
                    <a:pt x="0" y="49206"/>
                    <a:pt x="49206" y="0"/>
                    <a:pt x="109897" y="0"/>
                  </a:cubicBezTo>
                  <a:moveTo>
                    <a:pt x="1758353" y="109897"/>
                  </a:moveTo>
                  <a:lnTo>
                    <a:pt x="1758353" y="1868250"/>
                  </a:lnTo>
                  <a:moveTo>
                    <a:pt x="0" y="109897"/>
                  </a:moveTo>
                  <a:lnTo>
                    <a:pt x="0" y="1868250"/>
                  </a:lnTo>
                  <a:moveTo>
                    <a:pt x="109897" y="0"/>
                  </a:moveTo>
                  <a:lnTo>
                    <a:pt x="1648456" y="0"/>
                  </a:lnTo>
                  <a:moveTo>
                    <a:pt x="1648456" y="0"/>
                  </a:moveTo>
                  <a:cubicBezTo>
                    <a:pt x="1709058" y="0"/>
                    <a:pt x="1758353" y="49294"/>
                    <a:pt x="1758353" y="109897"/>
                  </a:cubicBezTo>
                </a:path>
              </a:pathLst>
            </a:custGeom>
            <a:noFill/>
            <a:ln w="1373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9" name="Group 8"/>
          <p:cNvGrpSpPr/>
          <p:nvPr/>
        </p:nvGrpSpPr>
        <p:grpSpPr>
          <a:xfrm>
            <a:off x="7483222" y="3696214"/>
            <a:ext cx="1758353" cy="2527632"/>
            <a:chOff x="4176088" y="2857332"/>
            <a:chExt cx="1758353" cy="2527632"/>
          </a:xfrm>
        </p:grpSpPr>
        <p:sp>
          <p:nvSpPr>
            <p:cNvPr id="22" name="Rounded Rectangle 12"/>
            <p:cNvSpPr/>
            <p:nvPr/>
          </p:nvSpPr>
          <p:spPr>
            <a:xfrm>
              <a:off x="4176088" y="2857332"/>
              <a:ext cx="1758353" cy="2527632"/>
            </a:xfrm>
            <a:custGeom>
              <a:avLst/>
              <a:gdLst/>
              <a:ahLst/>
              <a:cxnLst/>
              <a:rect l="0" t="0" r="0" b="0"/>
              <a:pathLst>
                <a:path w="1758353" h="2527632">
                  <a:moveTo>
                    <a:pt x="0" y="2417735"/>
                  </a:moveTo>
                  <a:lnTo>
                    <a:pt x="109897" y="2417735"/>
                  </a:lnTo>
                  <a:lnTo>
                    <a:pt x="109897" y="2527632"/>
                  </a:lnTo>
                  <a:cubicBezTo>
                    <a:pt x="49202" y="2527632"/>
                    <a:pt x="0" y="2478429"/>
                    <a:pt x="0" y="2417735"/>
                  </a:cubicBezTo>
                  <a:close/>
                  <a:moveTo>
                    <a:pt x="109897" y="2527632"/>
                  </a:moveTo>
                  <a:lnTo>
                    <a:pt x="109897" y="2417735"/>
                  </a:lnTo>
                  <a:lnTo>
                    <a:pt x="1648456" y="2417735"/>
                  </a:lnTo>
                  <a:lnTo>
                    <a:pt x="1648456" y="2527632"/>
                  </a:lnTo>
                  <a:close/>
                  <a:moveTo>
                    <a:pt x="1758353" y="2417735"/>
                  </a:moveTo>
                  <a:cubicBezTo>
                    <a:pt x="1758353" y="2478429"/>
                    <a:pt x="1709150" y="2527632"/>
                    <a:pt x="1648456" y="2527632"/>
                  </a:cubicBezTo>
                  <a:lnTo>
                    <a:pt x="1648456" y="2417735"/>
                  </a:lnTo>
                  <a:close/>
                  <a:moveTo>
                    <a:pt x="1758353" y="2417735"/>
                  </a:moveTo>
                  <a:lnTo>
                    <a:pt x="0" y="2417735"/>
                  </a:lnTo>
                  <a:lnTo>
                    <a:pt x="0" y="0"/>
                  </a:lnTo>
                  <a:lnTo>
                    <a:pt x="1758353" y="0"/>
                  </a:lnTo>
                  <a:close/>
                </a:path>
              </a:pathLst>
            </a:custGeom>
            <a:solidFill>
              <a:srgbClr val="666666"/>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3" name="Rounded Rectangle 13"/>
            <p:cNvSpPr/>
            <p:nvPr/>
          </p:nvSpPr>
          <p:spPr>
            <a:xfrm>
              <a:off x="4176088" y="2857332"/>
              <a:ext cx="1758353" cy="2527632"/>
            </a:xfrm>
            <a:custGeom>
              <a:avLst/>
              <a:gdLst/>
              <a:ahLst/>
              <a:cxnLst/>
              <a:rect l="0" t="0" r="0" b="0"/>
              <a:pathLst>
                <a:path w="1758353" h="2527632">
                  <a:moveTo>
                    <a:pt x="109897" y="2527632"/>
                  </a:moveTo>
                  <a:cubicBezTo>
                    <a:pt x="49202" y="2527632"/>
                    <a:pt x="0" y="2478429"/>
                    <a:pt x="0" y="2417735"/>
                  </a:cubicBezTo>
                  <a:moveTo>
                    <a:pt x="1648456" y="2527632"/>
                  </a:moveTo>
                  <a:lnTo>
                    <a:pt x="109897" y="2527632"/>
                  </a:lnTo>
                  <a:moveTo>
                    <a:pt x="1758353" y="2417735"/>
                  </a:moveTo>
                  <a:cubicBezTo>
                    <a:pt x="1758353" y="2478429"/>
                    <a:pt x="1709150" y="2527632"/>
                    <a:pt x="1648456" y="2527632"/>
                  </a:cubicBezTo>
                  <a:moveTo>
                    <a:pt x="1758353" y="0"/>
                  </a:moveTo>
                  <a:lnTo>
                    <a:pt x="1758353" y="2417735"/>
                  </a:lnTo>
                  <a:moveTo>
                    <a:pt x="0" y="2417735"/>
                  </a:moveTo>
                  <a:lnTo>
                    <a:pt x="0" y="0"/>
                  </a:lnTo>
                  <a:moveTo>
                    <a:pt x="1758353" y="0"/>
                  </a:moveTo>
                  <a:lnTo>
                    <a:pt x="0" y="0"/>
                  </a:lnTo>
                </a:path>
              </a:pathLst>
            </a:custGeom>
            <a:noFill/>
            <a:ln w="1373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
        <p:nvSpPr>
          <p:cNvPr id="10" name="Rounded Rectangle 15"/>
          <p:cNvSpPr/>
          <p:nvPr/>
        </p:nvSpPr>
        <p:spPr>
          <a:xfrm>
            <a:off x="7593119" y="3806111"/>
            <a:ext cx="1538559" cy="1098970"/>
          </a:xfrm>
          <a:custGeom>
            <a:avLst/>
            <a:gdLst/>
            <a:ahLst/>
            <a:cxnLst/>
            <a:rect l="0" t="0" r="0" b="0"/>
            <a:pathLst>
              <a:path w="1538559" h="1098970">
                <a:moveTo>
                  <a:pt x="0" y="109897"/>
                </a:moveTo>
                <a:lnTo>
                  <a:pt x="0" y="54948"/>
                </a:lnTo>
                <a:cubicBezTo>
                  <a:pt x="0" y="24601"/>
                  <a:pt x="24601" y="0"/>
                  <a:pt x="54948" y="0"/>
                </a:cubicBezTo>
                <a:lnTo>
                  <a:pt x="109897" y="0"/>
                </a:lnTo>
                <a:moveTo>
                  <a:pt x="1538559" y="109897"/>
                </a:moveTo>
                <a:lnTo>
                  <a:pt x="1538559" y="989073"/>
                </a:lnTo>
                <a:moveTo>
                  <a:pt x="0" y="989073"/>
                </a:moveTo>
                <a:lnTo>
                  <a:pt x="0" y="109897"/>
                </a:lnTo>
                <a:moveTo>
                  <a:pt x="109897" y="0"/>
                </a:moveTo>
                <a:lnTo>
                  <a:pt x="1428661" y="0"/>
                </a:lnTo>
                <a:moveTo>
                  <a:pt x="109897" y="1098970"/>
                </a:moveTo>
                <a:lnTo>
                  <a:pt x="54948" y="1098970"/>
                </a:lnTo>
                <a:cubicBezTo>
                  <a:pt x="24601" y="1098970"/>
                  <a:pt x="0" y="1074369"/>
                  <a:pt x="0" y="1044022"/>
                </a:cubicBezTo>
                <a:lnTo>
                  <a:pt x="0" y="989073"/>
                </a:lnTo>
                <a:moveTo>
                  <a:pt x="1428661" y="0"/>
                </a:moveTo>
                <a:lnTo>
                  <a:pt x="1483610" y="0"/>
                </a:lnTo>
                <a:cubicBezTo>
                  <a:pt x="1513957" y="0"/>
                  <a:pt x="1538559" y="24601"/>
                  <a:pt x="1538559" y="54948"/>
                </a:cubicBezTo>
                <a:lnTo>
                  <a:pt x="1538559" y="109897"/>
                </a:lnTo>
                <a:moveTo>
                  <a:pt x="109897" y="1098970"/>
                </a:moveTo>
                <a:lnTo>
                  <a:pt x="1428661" y="1098970"/>
                </a:lnTo>
                <a:moveTo>
                  <a:pt x="1538559" y="989073"/>
                </a:moveTo>
                <a:lnTo>
                  <a:pt x="1538559" y="1044022"/>
                </a:lnTo>
                <a:cubicBezTo>
                  <a:pt x="1538559" y="1074369"/>
                  <a:pt x="1513957" y="1098970"/>
                  <a:pt x="1483610" y="1098970"/>
                </a:cubicBezTo>
                <a:lnTo>
                  <a:pt x="1428661" y="1098970"/>
                </a:lnTo>
              </a:path>
            </a:pathLst>
          </a:custGeom>
          <a:noFill/>
          <a:ln w="13737">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1" name="Rounded Rectangle 16"/>
          <p:cNvSpPr/>
          <p:nvPr/>
        </p:nvSpPr>
        <p:spPr>
          <a:xfrm>
            <a:off x="7593119" y="5014979"/>
            <a:ext cx="1538559" cy="1098970"/>
          </a:xfrm>
          <a:custGeom>
            <a:avLst/>
            <a:gdLst/>
            <a:ahLst/>
            <a:cxnLst/>
            <a:rect l="0" t="0" r="0" b="0"/>
            <a:pathLst>
              <a:path w="1538559" h="1098970">
                <a:moveTo>
                  <a:pt x="0" y="109897"/>
                </a:moveTo>
                <a:lnTo>
                  <a:pt x="0" y="54948"/>
                </a:lnTo>
                <a:cubicBezTo>
                  <a:pt x="0" y="24601"/>
                  <a:pt x="24601" y="0"/>
                  <a:pt x="54948" y="0"/>
                </a:cubicBezTo>
                <a:lnTo>
                  <a:pt x="109897" y="0"/>
                </a:lnTo>
                <a:moveTo>
                  <a:pt x="1538559" y="109897"/>
                </a:moveTo>
                <a:lnTo>
                  <a:pt x="1538559" y="989073"/>
                </a:lnTo>
                <a:moveTo>
                  <a:pt x="0" y="989073"/>
                </a:moveTo>
                <a:lnTo>
                  <a:pt x="0" y="109897"/>
                </a:lnTo>
                <a:moveTo>
                  <a:pt x="109897" y="0"/>
                </a:moveTo>
                <a:lnTo>
                  <a:pt x="1428661" y="0"/>
                </a:lnTo>
                <a:moveTo>
                  <a:pt x="109897" y="1098970"/>
                </a:moveTo>
                <a:lnTo>
                  <a:pt x="54948" y="1098970"/>
                </a:lnTo>
                <a:cubicBezTo>
                  <a:pt x="24601" y="1098970"/>
                  <a:pt x="0" y="1074369"/>
                  <a:pt x="0" y="1044022"/>
                </a:cubicBezTo>
                <a:lnTo>
                  <a:pt x="0" y="989073"/>
                </a:lnTo>
                <a:moveTo>
                  <a:pt x="1428661" y="0"/>
                </a:moveTo>
                <a:lnTo>
                  <a:pt x="1483610" y="0"/>
                </a:lnTo>
                <a:cubicBezTo>
                  <a:pt x="1513957" y="0"/>
                  <a:pt x="1538559" y="24601"/>
                  <a:pt x="1538559" y="54948"/>
                </a:cubicBezTo>
                <a:lnTo>
                  <a:pt x="1538559" y="109897"/>
                </a:lnTo>
                <a:moveTo>
                  <a:pt x="109897" y="1098970"/>
                </a:moveTo>
                <a:lnTo>
                  <a:pt x="1428661" y="1098970"/>
                </a:lnTo>
                <a:moveTo>
                  <a:pt x="1538559" y="989073"/>
                </a:moveTo>
                <a:lnTo>
                  <a:pt x="1538559" y="1044022"/>
                </a:lnTo>
                <a:cubicBezTo>
                  <a:pt x="1538559" y="1074369"/>
                  <a:pt x="1513957" y="1098970"/>
                  <a:pt x="1483610" y="1098970"/>
                </a:cubicBezTo>
                <a:lnTo>
                  <a:pt x="1428661" y="1098970"/>
                </a:lnTo>
              </a:path>
            </a:pathLst>
          </a:custGeom>
          <a:noFill/>
          <a:ln w="13737">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2" name="TextBox 18"/>
          <p:cNvSpPr txBox="1"/>
          <p:nvPr/>
        </p:nvSpPr>
        <p:spPr>
          <a:xfrm>
            <a:off x="5827897" y="2541230"/>
            <a:ext cx="1112707" cy="115391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100" b="1" dirty="0">
                <a:solidFill>
                  <a:srgbClr val="FFFFFF"/>
                </a:solidFill>
                <a:latin typeface="Roboto"/>
              </a:rPr>
              <a:t>Taxable
Income
Limit</a:t>
            </a:r>
          </a:p>
        </p:txBody>
      </p:sp>
      <p:sp>
        <p:nvSpPr>
          <p:cNvPr id="13" name="TextBox 19"/>
          <p:cNvSpPr txBox="1"/>
          <p:nvPr/>
        </p:nvSpPr>
        <p:spPr>
          <a:xfrm>
            <a:off x="7792299" y="2665920"/>
            <a:ext cx="1140182" cy="76927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100" b="1" dirty="0">
                <a:solidFill>
                  <a:srgbClr val="FFFFFF"/>
                </a:solidFill>
                <a:latin typeface="Roboto"/>
              </a:rPr>
              <a:t>Rebate
Amount</a:t>
            </a:r>
          </a:p>
        </p:txBody>
      </p:sp>
      <p:sp>
        <p:nvSpPr>
          <p:cNvPr id="17" name="TextBox 23"/>
          <p:cNvSpPr txBox="1"/>
          <p:nvPr/>
        </p:nvSpPr>
        <p:spPr>
          <a:xfrm>
            <a:off x="2805021" y="4178018"/>
            <a:ext cx="2443754" cy="369332"/>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400" b="1" dirty="0">
                <a:latin typeface="Roboto"/>
              </a:rPr>
              <a:t>Old Tax</a:t>
            </a:r>
            <a:r>
              <a:rPr lang="en-US" sz="2400" b="1" dirty="0">
                <a:latin typeface="Roboto"/>
              </a:rPr>
              <a:t> </a:t>
            </a:r>
            <a:r>
              <a:rPr sz="2400" b="1" dirty="0">
                <a:latin typeface="Roboto"/>
              </a:rPr>
              <a:t>Regime</a:t>
            </a:r>
          </a:p>
        </p:txBody>
      </p:sp>
      <p:sp>
        <p:nvSpPr>
          <p:cNvPr id="18" name="TextBox 24"/>
          <p:cNvSpPr txBox="1"/>
          <p:nvPr/>
        </p:nvSpPr>
        <p:spPr>
          <a:xfrm>
            <a:off x="7792299" y="3929419"/>
            <a:ext cx="1218282" cy="83099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800" b="1" dirty="0">
                <a:solidFill>
                  <a:srgbClr val="FFC000"/>
                </a:solidFill>
                <a:latin typeface="Roboto"/>
              </a:rPr>
              <a:t>Lower of</a:t>
            </a:r>
            <a:r>
              <a:rPr sz="1800" b="1" dirty="0">
                <a:solidFill>
                  <a:srgbClr val="FFFFFF"/>
                </a:solidFill>
                <a:latin typeface="Roboto"/>
              </a:rPr>
              <a:t>
income-tax
or 12,500</a:t>
            </a:r>
          </a:p>
        </p:txBody>
      </p:sp>
      <p:sp>
        <p:nvSpPr>
          <p:cNvPr id="19" name="TextBox 25"/>
          <p:cNvSpPr txBox="1"/>
          <p:nvPr/>
        </p:nvSpPr>
        <p:spPr>
          <a:xfrm>
            <a:off x="5943660" y="4226817"/>
            <a:ext cx="973023"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800" b="1" dirty="0">
                <a:solidFill>
                  <a:srgbClr val="FFFFFF"/>
                </a:solidFill>
                <a:latin typeface="Roboto"/>
              </a:rPr>
              <a:t>≤ 5 lakhs</a:t>
            </a:r>
          </a:p>
        </p:txBody>
      </p:sp>
      <p:sp>
        <p:nvSpPr>
          <p:cNvPr id="20" name="Rounded Rectangle 26"/>
          <p:cNvSpPr/>
          <p:nvPr/>
        </p:nvSpPr>
        <p:spPr>
          <a:xfrm>
            <a:off x="6178193" y="2063318"/>
            <a:ext cx="412113" cy="408450"/>
          </a:xfrm>
          <a:custGeom>
            <a:avLst/>
            <a:gdLst/>
            <a:ahLst/>
            <a:cxnLst/>
            <a:rect l="0" t="0" r="0" b="0"/>
            <a:pathLst>
              <a:path w="412113" h="408450">
                <a:moveTo>
                  <a:pt x="93412" y="0"/>
                </a:moveTo>
                <a:lnTo>
                  <a:pt x="93412" y="188656"/>
                </a:lnTo>
                <a:moveTo>
                  <a:pt x="0" y="95247"/>
                </a:moveTo>
                <a:lnTo>
                  <a:pt x="188656" y="95247"/>
                </a:lnTo>
                <a:moveTo>
                  <a:pt x="216130" y="298559"/>
                </a:moveTo>
                <a:lnTo>
                  <a:pt x="404785" y="298559"/>
                </a:lnTo>
                <a:moveTo>
                  <a:pt x="3662" y="408450"/>
                </a:moveTo>
                <a:lnTo>
                  <a:pt x="412113" y="0"/>
                </a:lnTo>
              </a:path>
            </a:pathLst>
          </a:custGeom>
          <a:noFill/>
          <a:ln w="27474">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1" name="Rounded Rectangle 27"/>
          <p:cNvSpPr/>
          <p:nvPr/>
        </p:nvSpPr>
        <p:spPr>
          <a:xfrm>
            <a:off x="8151963" y="2130172"/>
            <a:ext cx="420853" cy="274742"/>
          </a:xfrm>
          <a:custGeom>
            <a:avLst/>
            <a:gdLst/>
            <a:ahLst/>
            <a:cxnLst/>
            <a:rect l="0" t="0" r="0" b="0"/>
            <a:pathLst>
              <a:path w="420853" h="274742">
                <a:moveTo>
                  <a:pt x="246847" y="206057"/>
                </a:moveTo>
                <a:lnTo>
                  <a:pt x="173582" y="132792"/>
                </a:lnTo>
                <a:lnTo>
                  <a:pt x="210215" y="132792"/>
                </a:lnTo>
                <a:cubicBezTo>
                  <a:pt x="230446" y="132792"/>
                  <a:pt x="246847" y="116391"/>
                  <a:pt x="246847" y="96159"/>
                </a:cubicBezTo>
                <a:cubicBezTo>
                  <a:pt x="246847" y="75928"/>
                  <a:pt x="230446" y="59527"/>
                  <a:pt x="210215" y="59527"/>
                </a:cubicBezTo>
                <a:lnTo>
                  <a:pt x="173582" y="59527"/>
                </a:lnTo>
                <a:lnTo>
                  <a:pt x="173582" y="206057"/>
                </a:lnTo>
                <a:moveTo>
                  <a:pt x="365902" y="215086"/>
                </a:moveTo>
                <a:lnTo>
                  <a:pt x="365902" y="247268"/>
                </a:lnTo>
                <a:cubicBezTo>
                  <a:pt x="365902" y="262442"/>
                  <a:pt x="353601" y="274742"/>
                  <a:pt x="338428" y="274742"/>
                </a:cubicBezTo>
                <a:lnTo>
                  <a:pt x="82441" y="274742"/>
                </a:lnTo>
                <a:cubicBezTo>
                  <a:pt x="67267" y="274742"/>
                  <a:pt x="54967" y="262442"/>
                  <a:pt x="54967" y="247268"/>
                </a:cubicBezTo>
                <a:lnTo>
                  <a:pt x="54967" y="215086"/>
                </a:lnTo>
                <a:cubicBezTo>
                  <a:pt x="22025" y="203449"/>
                  <a:pt x="0" y="172307"/>
                  <a:pt x="0" y="137371"/>
                </a:cubicBezTo>
                <a:cubicBezTo>
                  <a:pt x="0" y="102434"/>
                  <a:pt x="22025" y="71293"/>
                  <a:pt x="54967" y="59655"/>
                </a:cubicBezTo>
                <a:lnTo>
                  <a:pt x="54967" y="27474"/>
                </a:lnTo>
                <a:cubicBezTo>
                  <a:pt x="54967" y="12300"/>
                  <a:pt x="67267" y="0"/>
                  <a:pt x="82441" y="0"/>
                </a:cubicBezTo>
                <a:lnTo>
                  <a:pt x="338428" y="0"/>
                </a:lnTo>
                <a:cubicBezTo>
                  <a:pt x="353601" y="0"/>
                  <a:pt x="365902" y="12300"/>
                  <a:pt x="365902" y="27474"/>
                </a:cubicBezTo>
                <a:lnTo>
                  <a:pt x="365902" y="59655"/>
                </a:lnTo>
                <a:cubicBezTo>
                  <a:pt x="398836" y="71299"/>
                  <a:pt x="420853" y="102439"/>
                  <a:pt x="420851" y="137371"/>
                </a:cubicBezTo>
                <a:cubicBezTo>
                  <a:pt x="420853" y="172303"/>
                  <a:pt x="398836" y="203442"/>
                  <a:pt x="365902" y="215086"/>
                </a:cubicBezTo>
                <a:close/>
              </a:path>
            </a:pathLst>
          </a:custGeom>
          <a:noFill/>
          <a:ln w="27474">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0" name="TextBox 20"/>
          <p:cNvSpPr txBox="1"/>
          <p:nvPr/>
        </p:nvSpPr>
        <p:spPr>
          <a:xfrm>
            <a:off x="2805021" y="5384067"/>
            <a:ext cx="2443754" cy="369332"/>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400" b="1" dirty="0">
                <a:latin typeface="Roboto"/>
              </a:rPr>
              <a:t>New Tax</a:t>
            </a:r>
            <a:r>
              <a:rPr lang="en-US" sz="2400" b="1" dirty="0">
                <a:latin typeface="Roboto"/>
              </a:rPr>
              <a:t> </a:t>
            </a:r>
            <a:r>
              <a:rPr sz="2400" b="1" dirty="0">
                <a:latin typeface="Roboto"/>
              </a:rPr>
              <a:t>Regime</a:t>
            </a:r>
          </a:p>
        </p:txBody>
      </p:sp>
      <p:sp>
        <p:nvSpPr>
          <p:cNvPr id="31" name="TextBox 21"/>
          <p:cNvSpPr txBox="1"/>
          <p:nvPr/>
        </p:nvSpPr>
        <p:spPr>
          <a:xfrm>
            <a:off x="7792299" y="5166956"/>
            <a:ext cx="1218282" cy="83099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800" b="1" dirty="0">
                <a:solidFill>
                  <a:srgbClr val="FFC000"/>
                </a:solidFill>
                <a:latin typeface="Roboto"/>
              </a:rPr>
              <a:t>Lower of</a:t>
            </a:r>
            <a:r>
              <a:rPr sz="1800" b="1" dirty="0">
                <a:solidFill>
                  <a:srgbClr val="FFFFFF"/>
                </a:solidFill>
                <a:latin typeface="Roboto"/>
              </a:rPr>
              <a:t>
income-tax
or 25,000</a:t>
            </a:r>
          </a:p>
        </p:txBody>
      </p:sp>
      <p:sp>
        <p:nvSpPr>
          <p:cNvPr id="32" name="TextBox 22"/>
          <p:cNvSpPr txBox="1"/>
          <p:nvPr/>
        </p:nvSpPr>
        <p:spPr>
          <a:xfrm>
            <a:off x="5936789" y="5432866"/>
            <a:ext cx="973023"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800" b="1" dirty="0">
                <a:solidFill>
                  <a:srgbClr val="FFFFFF"/>
                </a:solidFill>
                <a:latin typeface="Roboto"/>
              </a:rPr>
              <a:t>≤ 7 lakhs</a:t>
            </a:r>
          </a:p>
        </p:txBody>
      </p:sp>
    </p:spTree>
    <p:extLst>
      <p:ext uri="{BB962C8B-B14F-4D97-AF65-F5344CB8AC3E}">
        <p14:creationId xmlns:p14="http://schemas.microsoft.com/office/powerpoint/2010/main" val="29044474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5E063-5EC2-D068-B5E6-BA75C46F231C}"/>
              </a:ext>
            </a:extLst>
          </p:cNvPr>
          <p:cNvSpPr>
            <a:spLocks noGrp="1"/>
          </p:cNvSpPr>
          <p:nvPr>
            <p:ph type="title"/>
          </p:nvPr>
        </p:nvSpPr>
        <p:spPr/>
        <p:txBody>
          <a:bodyPr/>
          <a:lstStyle/>
          <a:p>
            <a:r>
              <a:rPr lang="en-US" dirty="0"/>
              <a:t>Health and Education Cess</a:t>
            </a:r>
            <a:endParaRPr lang="en-IN" dirty="0"/>
          </a:p>
        </p:txBody>
      </p:sp>
      <p:sp>
        <p:nvSpPr>
          <p:cNvPr id="3" name="Content Placeholder 2">
            <a:extLst>
              <a:ext uri="{FF2B5EF4-FFF2-40B4-BE49-F238E27FC236}">
                <a16:creationId xmlns:a16="http://schemas.microsoft.com/office/drawing/2014/main" id="{ADD1B56E-DE4C-2A3C-E18F-44A29A279C9D}"/>
              </a:ext>
            </a:extLst>
          </p:cNvPr>
          <p:cNvSpPr>
            <a:spLocks noGrp="1"/>
          </p:cNvSpPr>
          <p:nvPr>
            <p:ph idx="1"/>
          </p:nvPr>
        </p:nvSpPr>
        <p:spPr/>
        <p:txBody>
          <a:bodyPr/>
          <a:lstStyle/>
          <a:p>
            <a:r>
              <a:rPr lang="en-US" dirty="0"/>
              <a:t>To improve the Health and Educational facility of India, additional amount of tax levied on the taxable amount calculated + Surcharge (If any) i.e. known as </a:t>
            </a:r>
            <a:r>
              <a:rPr lang="en-IN" dirty="0"/>
              <a:t>Health and Education Cess (H &amp; E Cess) </a:t>
            </a:r>
            <a:endParaRPr lang="en-US" dirty="0"/>
          </a:p>
          <a:p>
            <a:r>
              <a:rPr lang="en-US" b="1" dirty="0">
                <a:solidFill>
                  <a:srgbClr val="C00000"/>
                </a:solidFill>
              </a:rPr>
              <a:t>Rate of </a:t>
            </a:r>
            <a:r>
              <a:rPr lang="en-IN" b="1" dirty="0">
                <a:solidFill>
                  <a:srgbClr val="C00000"/>
                </a:solidFill>
              </a:rPr>
              <a:t>Health and Education Cess is 4%. </a:t>
            </a:r>
          </a:p>
          <a:p>
            <a:r>
              <a:rPr lang="en-IN" dirty="0"/>
              <a:t>This is levied on the amount of </a:t>
            </a:r>
            <a:r>
              <a:rPr lang="en-US" dirty="0"/>
              <a:t>income tax plus surcharge (if any).</a:t>
            </a:r>
          </a:p>
        </p:txBody>
      </p:sp>
    </p:spTree>
    <p:extLst>
      <p:ext uri="{BB962C8B-B14F-4D97-AF65-F5344CB8AC3E}">
        <p14:creationId xmlns:p14="http://schemas.microsoft.com/office/powerpoint/2010/main" val="1268421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7DB93-0648-3F53-91BA-6A5141002B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77C06B-6625-4CDF-9F71-B684E6F13A82}"/>
              </a:ext>
            </a:extLst>
          </p:cNvPr>
          <p:cNvSpPr>
            <a:spLocks noGrp="1"/>
          </p:cNvSpPr>
          <p:nvPr>
            <p:ph type="title"/>
          </p:nvPr>
        </p:nvSpPr>
        <p:spPr/>
        <p:txBody>
          <a:bodyPr/>
          <a:lstStyle/>
          <a:p>
            <a:r>
              <a:rPr lang="en-US" dirty="0"/>
              <a:t>Health and Education Cess </a:t>
            </a:r>
            <a:r>
              <a:rPr lang="en-US" sz="2000" dirty="0"/>
              <a:t>(Cont.)</a:t>
            </a:r>
            <a:endParaRPr lang="en-IN" sz="2000" dirty="0"/>
          </a:p>
        </p:txBody>
      </p:sp>
      <p:sp>
        <p:nvSpPr>
          <p:cNvPr id="3" name="Content Placeholder 2">
            <a:extLst>
              <a:ext uri="{FF2B5EF4-FFF2-40B4-BE49-F238E27FC236}">
                <a16:creationId xmlns:a16="http://schemas.microsoft.com/office/drawing/2014/main" id="{BA496CB0-A097-8649-9E08-58AF89F51E38}"/>
              </a:ext>
            </a:extLst>
          </p:cNvPr>
          <p:cNvSpPr>
            <a:spLocks noGrp="1"/>
          </p:cNvSpPr>
          <p:nvPr>
            <p:ph idx="1"/>
          </p:nvPr>
        </p:nvSpPr>
        <p:spPr>
          <a:xfrm>
            <a:off x="131181" y="863444"/>
            <a:ext cx="6047677" cy="5590565"/>
          </a:xfrm>
        </p:spPr>
        <p:txBody>
          <a:bodyPr/>
          <a:lstStyle/>
          <a:p>
            <a:r>
              <a:rPr lang="en-US" b="1" dirty="0"/>
              <a:t>For Example,   </a:t>
            </a:r>
          </a:p>
          <a:p>
            <a:pPr lvl="1"/>
            <a:r>
              <a:rPr lang="en-US" dirty="0"/>
              <a:t>Suppose ₹ 5,000 is taxable amount as per the income tax slab rate</a:t>
            </a:r>
          </a:p>
          <a:p>
            <a:pPr lvl="1"/>
            <a:r>
              <a:rPr lang="en-US" dirty="0"/>
              <a:t>Add 4% </a:t>
            </a:r>
            <a:r>
              <a:rPr lang="en-IN" dirty="0"/>
              <a:t>Health and Education Cess   (H &amp; E Cess) on it. </a:t>
            </a:r>
          </a:p>
          <a:p>
            <a:pPr lvl="1"/>
            <a:r>
              <a:rPr lang="en-US" dirty="0"/>
              <a:t>Therefore </a:t>
            </a:r>
          </a:p>
          <a:p>
            <a:pPr lvl="1"/>
            <a:r>
              <a:rPr lang="en-US" dirty="0"/>
              <a:t>   ₹ 5,000 Taxable Amount</a:t>
            </a:r>
          </a:p>
          <a:p>
            <a:pPr lvl="1"/>
            <a:r>
              <a:rPr lang="en-US" u="sng" dirty="0"/>
              <a:t>+ ₹   200 </a:t>
            </a:r>
            <a:r>
              <a:rPr lang="en-US" dirty="0"/>
              <a:t> (H &amp; E Cess)</a:t>
            </a:r>
          </a:p>
          <a:p>
            <a:pPr lvl="1"/>
            <a:r>
              <a:rPr lang="en-US" b="1" dirty="0">
                <a:solidFill>
                  <a:srgbClr val="C00000"/>
                </a:solidFill>
              </a:rPr>
              <a:t>   ₹ 5,200 Tax Liability (Tax payable)</a:t>
            </a:r>
          </a:p>
        </p:txBody>
      </p:sp>
      <p:grpSp>
        <p:nvGrpSpPr>
          <p:cNvPr id="4" name="Group 3">
            <a:extLst>
              <a:ext uri="{FF2B5EF4-FFF2-40B4-BE49-F238E27FC236}">
                <a16:creationId xmlns:a16="http://schemas.microsoft.com/office/drawing/2014/main" id="{B4DD78AC-6D37-96AF-62A4-3D0074FE1965}"/>
              </a:ext>
            </a:extLst>
          </p:cNvPr>
          <p:cNvGrpSpPr/>
          <p:nvPr/>
        </p:nvGrpSpPr>
        <p:grpSpPr>
          <a:xfrm>
            <a:off x="7226520" y="982503"/>
            <a:ext cx="2831878" cy="5422284"/>
            <a:chOff x="8833878" y="815620"/>
            <a:chExt cx="2562991" cy="5115748"/>
          </a:xfrm>
        </p:grpSpPr>
        <p:sp>
          <p:nvSpPr>
            <p:cNvPr id="5" name="TextBox 1">
              <a:extLst>
                <a:ext uri="{FF2B5EF4-FFF2-40B4-BE49-F238E27FC236}">
                  <a16:creationId xmlns:a16="http://schemas.microsoft.com/office/drawing/2014/main" id="{1FDA97A6-FB88-A0F8-AEF5-C9FC71C6826C}"/>
                </a:ext>
              </a:extLst>
            </p:cNvPr>
            <p:cNvSpPr txBox="1"/>
            <p:nvPr/>
          </p:nvSpPr>
          <p:spPr>
            <a:xfrm>
              <a:off x="9573624" y="815620"/>
              <a:ext cx="1098254" cy="52267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484848"/>
                  </a:solidFill>
                  <a:latin typeface="Roboto"/>
                </a:rPr>
                <a:t>Calculate
Income Tax</a:t>
              </a:r>
            </a:p>
          </p:txBody>
        </p:sp>
        <p:sp>
          <p:nvSpPr>
            <p:cNvPr id="6" name="TextBox 2">
              <a:extLst>
                <a:ext uri="{FF2B5EF4-FFF2-40B4-BE49-F238E27FC236}">
                  <a16:creationId xmlns:a16="http://schemas.microsoft.com/office/drawing/2014/main" id="{63CA2C73-E4E0-59E5-6714-5B75E72D23B4}"/>
                </a:ext>
              </a:extLst>
            </p:cNvPr>
            <p:cNvSpPr txBox="1"/>
            <p:nvPr/>
          </p:nvSpPr>
          <p:spPr>
            <a:xfrm>
              <a:off x="9016194" y="5670029"/>
              <a:ext cx="2213112" cy="261339"/>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484848"/>
                  </a:solidFill>
                  <a:latin typeface="Roboto"/>
                </a:rPr>
                <a:t>Total Tax</a:t>
              </a:r>
              <a:r>
                <a:rPr lang="en-US" b="1" dirty="0">
                  <a:solidFill>
                    <a:srgbClr val="484848"/>
                  </a:solidFill>
                  <a:latin typeface="Roboto"/>
                </a:rPr>
                <a:t> </a:t>
              </a:r>
              <a:r>
                <a:rPr b="1" dirty="0">
                  <a:solidFill>
                    <a:srgbClr val="484848"/>
                  </a:solidFill>
                  <a:latin typeface="Roboto"/>
                </a:rPr>
                <a:t>Amount</a:t>
              </a:r>
            </a:p>
          </p:txBody>
        </p:sp>
        <p:sp>
          <p:nvSpPr>
            <p:cNvPr id="7" name="TextBox 3">
              <a:extLst>
                <a:ext uri="{FF2B5EF4-FFF2-40B4-BE49-F238E27FC236}">
                  <a16:creationId xmlns:a16="http://schemas.microsoft.com/office/drawing/2014/main" id="{83D37028-1109-2E1F-766A-B473CBBABFF8}"/>
                </a:ext>
              </a:extLst>
            </p:cNvPr>
            <p:cNvSpPr txBox="1"/>
            <p:nvPr/>
          </p:nvSpPr>
          <p:spPr>
            <a:xfrm>
              <a:off x="9555709" y="1709865"/>
              <a:ext cx="1191105" cy="52267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484848"/>
                  </a:solidFill>
                  <a:latin typeface="Roboto"/>
                </a:rPr>
                <a:t>Is Surcharge
Applicable?</a:t>
              </a:r>
            </a:p>
          </p:txBody>
        </p:sp>
        <p:sp>
          <p:nvSpPr>
            <p:cNvPr id="8" name="TextBox 4">
              <a:extLst>
                <a:ext uri="{FF2B5EF4-FFF2-40B4-BE49-F238E27FC236}">
                  <a16:creationId xmlns:a16="http://schemas.microsoft.com/office/drawing/2014/main" id="{E5C6B445-7DDF-08F6-30FF-060A43467015}"/>
                </a:ext>
              </a:extLst>
            </p:cNvPr>
            <p:cNvSpPr txBox="1"/>
            <p:nvPr/>
          </p:nvSpPr>
          <p:spPr>
            <a:xfrm>
              <a:off x="8919256" y="2777465"/>
              <a:ext cx="970583" cy="52267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484848"/>
                  </a:solidFill>
                  <a:latin typeface="Roboto"/>
                </a:rPr>
                <a:t>Add
Surcharge</a:t>
              </a:r>
            </a:p>
          </p:txBody>
        </p:sp>
        <p:sp>
          <p:nvSpPr>
            <p:cNvPr id="9" name="TextBox 5">
              <a:extLst>
                <a:ext uri="{FF2B5EF4-FFF2-40B4-BE49-F238E27FC236}">
                  <a16:creationId xmlns:a16="http://schemas.microsoft.com/office/drawing/2014/main" id="{F10A9D10-96A0-8394-ABC2-CC529E289A2B}"/>
                </a:ext>
              </a:extLst>
            </p:cNvPr>
            <p:cNvSpPr txBox="1"/>
            <p:nvPr/>
          </p:nvSpPr>
          <p:spPr>
            <a:xfrm>
              <a:off x="9016193" y="3851615"/>
              <a:ext cx="2213113" cy="261340"/>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484848"/>
                  </a:solidFill>
                  <a:latin typeface="Roboto"/>
                </a:rPr>
                <a:t>Calculate</a:t>
              </a:r>
              <a:r>
                <a:rPr lang="en-US" b="1" dirty="0">
                  <a:solidFill>
                    <a:srgbClr val="484848"/>
                  </a:solidFill>
                  <a:latin typeface="Roboto"/>
                </a:rPr>
                <a:t> </a:t>
              </a:r>
              <a:r>
                <a:rPr b="1" dirty="0">
                  <a:solidFill>
                    <a:srgbClr val="484848"/>
                  </a:solidFill>
                  <a:latin typeface="Roboto"/>
                </a:rPr>
                <a:t>Total Tax</a:t>
              </a:r>
            </a:p>
          </p:txBody>
        </p:sp>
        <p:sp>
          <p:nvSpPr>
            <p:cNvPr id="10" name="TextBox 7">
              <a:extLst>
                <a:ext uri="{FF2B5EF4-FFF2-40B4-BE49-F238E27FC236}">
                  <a16:creationId xmlns:a16="http://schemas.microsoft.com/office/drawing/2014/main" id="{181F7ECA-6833-1AE3-10AC-0CF3A5EE04A5}"/>
                </a:ext>
              </a:extLst>
            </p:cNvPr>
            <p:cNvSpPr txBox="1"/>
            <p:nvPr/>
          </p:nvSpPr>
          <p:spPr>
            <a:xfrm>
              <a:off x="8833878" y="4483167"/>
              <a:ext cx="2562991" cy="784019"/>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484848"/>
                  </a:solidFill>
                  <a:latin typeface="Roboto"/>
                </a:rPr>
                <a:t>Apply 4%
Health and</a:t>
              </a:r>
              <a:r>
                <a:rPr lang="en-US" b="1" dirty="0">
                  <a:solidFill>
                    <a:srgbClr val="484848"/>
                  </a:solidFill>
                  <a:latin typeface="Roboto"/>
                </a:rPr>
                <a:t> </a:t>
              </a:r>
              <a:r>
                <a:rPr b="1" dirty="0">
                  <a:solidFill>
                    <a:srgbClr val="484848"/>
                  </a:solidFill>
                  <a:latin typeface="Roboto"/>
                </a:rPr>
                <a:t>Education
Cess</a:t>
              </a:r>
            </a:p>
          </p:txBody>
        </p:sp>
        <p:grpSp>
          <p:nvGrpSpPr>
            <p:cNvPr id="11" name="Group 10">
              <a:extLst>
                <a:ext uri="{FF2B5EF4-FFF2-40B4-BE49-F238E27FC236}">
                  <a16:creationId xmlns:a16="http://schemas.microsoft.com/office/drawing/2014/main" id="{97BE841B-151B-7967-A9BE-615FD18BAD6B}"/>
                </a:ext>
              </a:extLst>
            </p:cNvPr>
            <p:cNvGrpSpPr/>
            <p:nvPr/>
          </p:nvGrpSpPr>
          <p:grpSpPr>
            <a:xfrm>
              <a:off x="10085745" y="1372763"/>
              <a:ext cx="74010" cy="310274"/>
              <a:chOff x="1511518" y="1058917"/>
              <a:chExt cx="74010" cy="310274"/>
            </a:xfrm>
          </p:grpSpPr>
          <p:sp>
            <p:nvSpPr>
              <p:cNvPr id="27" name="Rounded Rectangle 9">
                <a:extLst>
                  <a:ext uri="{FF2B5EF4-FFF2-40B4-BE49-F238E27FC236}">
                    <a16:creationId xmlns:a16="http://schemas.microsoft.com/office/drawing/2014/main" id="{8F56E61B-3F44-F6BC-1AD6-B875C6A57991}"/>
                  </a:ext>
                </a:extLst>
              </p:cNvPr>
              <p:cNvSpPr/>
              <p:nvPr/>
            </p:nvSpPr>
            <p:spPr>
              <a:xfrm>
                <a:off x="1548524" y="1058917"/>
                <a:ext cx="5693" cy="307427"/>
              </a:xfrm>
              <a:custGeom>
                <a:avLst/>
                <a:gdLst/>
                <a:ahLst/>
                <a:cxnLst/>
                <a:rect l="0" t="0" r="0" b="0"/>
                <a:pathLst>
                  <a:path w="5693" h="307427">
                    <a:moveTo>
                      <a:pt x="0" y="0"/>
                    </a:moveTo>
                    <a:lnTo>
                      <a:pt x="0" y="159406"/>
                    </a:lnTo>
                    <a:lnTo>
                      <a:pt x="0" y="307427"/>
                    </a:lnTo>
                  </a:path>
                </a:pathLst>
              </a:custGeom>
              <a:noFill/>
              <a:ln w="8539">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b="1"/>
              </a:p>
            </p:txBody>
          </p:sp>
          <p:sp>
            <p:nvSpPr>
              <p:cNvPr id="28" name="Rounded Rectangle 10">
                <a:extLst>
                  <a:ext uri="{FF2B5EF4-FFF2-40B4-BE49-F238E27FC236}">
                    <a16:creationId xmlns:a16="http://schemas.microsoft.com/office/drawing/2014/main" id="{213FFAC0-8081-BC52-B012-CF31F788955A}"/>
                  </a:ext>
                </a:extLst>
              </p:cNvPr>
              <p:cNvSpPr/>
              <p:nvPr/>
            </p:nvSpPr>
            <p:spPr>
              <a:xfrm>
                <a:off x="1511518" y="1332186"/>
                <a:ext cx="74010" cy="37005"/>
              </a:xfrm>
              <a:custGeom>
                <a:avLst/>
                <a:gdLst/>
                <a:ahLst/>
                <a:cxnLst/>
                <a:rect l="0" t="0" r="0" b="0"/>
                <a:pathLst>
                  <a:path w="74010" h="37005">
                    <a:moveTo>
                      <a:pt x="74010" y="0"/>
                    </a:moveTo>
                    <a:lnTo>
                      <a:pt x="37005" y="37005"/>
                    </a:lnTo>
                    <a:lnTo>
                      <a:pt x="0" y="0"/>
                    </a:lnTo>
                  </a:path>
                </a:pathLst>
              </a:custGeom>
              <a:noFill/>
              <a:ln w="8539">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b="1"/>
              </a:p>
            </p:txBody>
          </p:sp>
        </p:grpSp>
        <p:grpSp>
          <p:nvGrpSpPr>
            <p:cNvPr id="12" name="Group 11">
              <a:extLst>
                <a:ext uri="{FF2B5EF4-FFF2-40B4-BE49-F238E27FC236}">
                  <a16:creationId xmlns:a16="http://schemas.microsoft.com/office/drawing/2014/main" id="{2279A89E-3C10-5F7A-8D30-FCEEE2CEB6BC}"/>
                </a:ext>
              </a:extLst>
            </p:cNvPr>
            <p:cNvGrpSpPr/>
            <p:nvPr/>
          </p:nvGrpSpPr>
          <p:grpSpPr>
            <a:xfrm>
              <a:off x="9329726" y="2230935"/>
              <a:ext cx="811528" cy="473319"/>
              <a:chOff x="1147160" y="1719317"/>
              <a:chExt cx="401363" cy="310274"/>
            </a:xfrm>
          </p:grpSpPr>
          <p:sp>
            <p:nvSpPr>
              <p:cNvPr id="25" name="Rounded Rectangle 12">
                <a:extLst>
                  <a:ext uri="{FF2B5EF4-FFF2-40B4-BE49-F238E27FC236}">
                    <a16:creationId xmlns:a16="http://schemas.microsoft.com/office/drawing/2014/main" id="{DB6A4984-64DF-6B80-B562-4F18825FD675}"/>
                  </a:ext>
                </a:extLst>
              </p:cNvPr>
              <p:cNvSpPr/>
              <p:nvPr/>
            </p:nvSpPr>
            <p:spPr>
              <a:xfrm>
                <a:off x="1184165" y="1719317"/>
                <a:ext cx="364358" cy="307427"/>
              </a:xfrm>
              <a:custGeom>
                <a:avLst/>
                <a:gdLst/>
                <a:ahLst/>
                <a:cxnLst/>
                <a:rect l="0" t="0" r="0" b="0"/>
                <a:pathLst>
                  <a:path w="364358" h="307427">
                    <a:moveTo>
                      <a:pt x="364358" y="0"/>
                    </a:moveTo>
                    <a:lnTo>
                      <a:pt x="364358" y="79703"/>
                    </a:lnTo>
                    <a:lnTo>
                      <a:pt x="364358" y="159406"/>
                    </a:lnTo>
                    <a:lnTo>
                      <a:pt x="182179" y="159406"/>
                    </a:lnTo>
                    <a:lnTo>
                      <a:pt x="0" y="159406"/>
                    </a:lnTo>
                    <a:lnTo>
                      <a:pt x="0" y="239110"/>
                    </a:lnTo>
                    <a:lnTo>
                      <a:pt x="0" y="307427"/>
                    </a:lnTo>
                  </a:path>
                </a:pathLst>
              </a:custGeom>
              <a:noFill/>
              <a:ln w="8539">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b="1"/>
              </a:p>
            </p:txBody>
          </p:sp>
          <p:sp>
            <p:nvSpPr>
              <p:cNvPr id="26" name="Rounded Rectangle 13">
                <a:extLst>
                  <a:ext uri="{FF2B5EF4-FFF2-40B4-BE49-F238E27FC236}">
                    <a16:creationId xmlns:a16="http://schemas.microsoft.com/office/drawing/2014/main" id="{CF5A59FE-52E9-CE21-ED5F-E4253DFB0FB1}"/>
                  </a:ext>
                </a:extLst>
              </p:cNvPr>
              <p:cNvSpPr/>
              <p:nvPr/>
            </p:nvSpPr>
            <p:spPr>
              <a:xfrm>
                <a:off x="1147160" y="1992586"/>
                <a:ext cx="74010" cy="37005"/>
              </a:xfrm>
              <a:custGeom>
                <a:avLst/>
                <a:gdLst/>
                <a:ahLst/>
                <a:cxnLst/>
                <a:rect l="0" t="0" r="0" b="0"/>
                <a:pathLst>
                  <a:path w="74010" h="37005">
                    <a:moveTo>
                      <a:pt x="74010" y="0"/>
                    </a:moveTo>
                    <a:lnTo>
                      <a:pt x="37005" y="37005"/>
                    </a:lnTo>
                    <a:lnTo>
                      <a:pt x="0" y="0"/>
                    </a:lnTo>
                  </a:path>
                </a:pathLst>
              </a:custGeom>
              <a:noFill/>
              <a:ln w="8539">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b="1"/>
              </a:p>
            </p:txBody>
          </p:sp>
        </p:grpSp>
        <p:grpSp>
          <p:nvGrpSpPr>
            <p:cNvPr id="13" name="Group 12">
              <a:extLst>
                <a:ext uri="{FF2B5EF4-FFF2-40B4-BE49-F238E27FC236}">
                  <a16:creationId xmlns:a16="http://schemas.microsoft.com/office/drawing/2014/main" id="{9BBD2B39-FAE3-0092-D836-5C3524DF21B8}"/>
                </a:ext>
              </a:extLst>
            </p:cNvPr>
            <p:cNvGrpSpPr/>
            <p:nvPr/>
          </p:nvGrpSpPr>
          <p:grpSpPr>
            <a:xfrm>
              <a:off x="10099972" y="2227652"/>
              <a:ext cx="353451" cy="1590039"/>
              <a:chOff x="1511518" y="1719317"/>
              <a:chExt cx="162254" cy="970674"/>
            </a:xfrm>
          </p:grpSpPr>
          <p:sp>
            <p:nvSpPr>
              <p:cNvPr id="23" name="Rounded Rectangle 15">
                <a:extLst>
                  <a:ext uri="{FF2B5EF4-FFF2-40B4-BE49-F238E27FC236}">
                    <a16:creationId xmlns:a16="http://schemas.microsoft.com/office/drawing/2014/main" id="{33E9955A-15E1-EF5D-BA75-9E75067E48FC}"/>
                  </a:ext>
                </a:extLst>
              </p:cNvPr>
              <p:cNvSpPr/>
              <p:nvPr/>
            </p:nvSpPr>
            <p:spPr>
              <a:xfrm>
                <a:off x="1548524" y="1719317"/>
                <a:ext cx="125248" cy="967827"/>
              </a:xfrm>
              <a:custGeom>
                <a:avLst/>
                <a:gdLst/>
                <a:ahLst/>
                <a:cxnLst/>
                <a:rect l="0" t="0" r="0" b="0"/>
                <a:pathLst>
                  <a:path w="125248" h="967827">
                    <a:moveTo>
                      <a:pt x="0" y="0"/>
                    </a:moveTo>
                    <a:lnTo>
                      <a:pt x="0" y="79703"/>
                    </a:lnTo>
                    <a:lnTo>
                      <a:pt x="0" y="159406"/>
                    </a:lnTo>
                    <a:lnTo>
                      <a:pt x="62624" y="159406"/>
                    </a:lnTo>
                    <a:lnTo>
                      <a:pt x="125248" y="159406"/>
                    </a:lnTo>
                    <a:lnTo>
                      <a:pt x="125248" y="489606"/>
                    </a:lnTo>
                    <a:lnTo>
                      <a:pt x="125248" y="819806"/>
                    </a:lnTo>
                    <a:lnTo>
                      <a:pt x="62624" y="819806"/>
                    </a:lnTo>
                    <a:lnTo>
                      <a:pt x="0" y="819806"/>
                    </a:lnTo>
                    <a:lnTo>
                      <a:pt x="0" y="899510"/>
                    </a:lnTo>
                    <a:lnTo>
                      <a:pt x="0" y="967827"/>
                    </a:lnTo>
                  </a:path>
                </a:pathLst>
              </a:custGeom>
              <a:noFill/>
              <a:ln w="8539">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b="1"/>
              </a:p>
            </p:txBody>
          </p:sp>
          <p:sp>
            <p:nvSpPr>
              <p:cNvPr id="24" name="Rounded Rectangle 16">
                <a:extLst>
                  <a:ext uri="{FF2B5EF4-FFF2-40B4-BE49-F238E27FC236}">
                    <a16:creationId xmlns:a16="http://schemas.microsoft.com/office/drawing/2014/main" id="{8A461E73-7BC1-4356-7D64-8C908632366C}"/>
                  </a:ext>
                </a:extLst>
              </p:cNvPr>
              <p:cNvSpPr/>
              <p:nvPr/>
            </p:nvSpPr>
            <p:spPr>
              <a:xfrm>
                <a:off x="1511518" y="2652986"/>
                <a:ext cx="74010" cy="37005"/>
              </a:xfrm>
              <a:custGeom>
                <a:avLst/>
                <a:gdLst/>
                <a:ahLst/>
                <a:cxnLst/>
                <a:rect l="0" t="0" r="0" b="0"/>
                <a:pathLst>
                  <a:path w="74010" h="37005">
                    <a:moveTo>
                      <a:pt x="74010" y="0"/>
                    </a:moveTo>
                    <a:lnTo>
                      <a:pt x="37005" y="37005"/>
                    </a:lnTo>
                    <a:lnTo>
                      <a:pt x="0" y="0"/>
                    </a:lnTo>
                  </a:path>
                </a:pathLst>
              </a:custGeom>
              <a:noFill/>
              <a:ln w="8539">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b="1"/>
              </a:p>
            </p:txBody>
          </p:sp>
        </p:grpSp>
        <p:grpSp>
          <p:nvGrpSpPr>
            <p:cNvPr id="14" name="Group 13">
              <a:extLst>
                <a:ext uri="{FF2B5EF4-FFF2-40B4-BE49-F238E27FC236}">
                  <a16:creationId xmlns:a16="http://schemas.microsoft.com/office/drawing/2014/main" id="{5F07E2FC-E162-65B0-A777-1DDEBCE91C93}"/>
                </a:ext>
              </a:extLst>
            </p:cNvPr>
            <p:cNvGrpSpPr/>
            <p:nvPr/>
          </p:nvGrpSpPr>
          <p:grpSpPr>
            <a:xfrm>
              <a:off x="9404548" y="3358563"/>
              <a:ext cx="617602" cy="454463"/>
              <a:chOff x="1184165" y="2379717"/>
              <a:chExt cx="401363" cy="310274"/>
            </a:xfrm>
          </p:grpSpPr>
          <p:sp>
            <p:nvSpPr>
              <p:cNvPr id="21" name="Rounded Rectangle 18">
                <a:extLst>
                  <a:ext uri="{FF2B5EF4-FFF2-40B4-BE49-F238E27FC236}">
                    <a16:creationId xmlns:a16="http://schemas.microsoft.com/office/drawing/2014/main" id="{461917C8-DD1E-0A8E-EF64-543E76ECE0CE}"/>
                  </a:ext>
                </a:extLst>
              </p:cNvPr>
              <p:cNvSpPr/>
              <p:nvPr/>
            </p:nvSpPr>
            <p:spPr>
              <a:xfrm>
                <a:off x="1184165" y="2379717"/>
                <a:ext cx="364358" cy="307427"/>
              </a:xfrm>
              <a:custGeom>
                <a:avLst/>
                <a:gdLst/>
                <a:ahLst/>
                <a:cxnLst/>
                <a:rect l="0" t="0" r="0" b="0"/>
                <a:pathLst>
                  <a:path w="364358" h="307427">
                    <a:moveTo>
                      <a:pt x="364358" y="307427"/>
                    </a:moveTo>
                    <a:lnTo>
                      <a:pt x="364358" y="239110"/>
                    </a:lnTo>
                    <a:lnTo>
                      <a:pt x="364358" y="159406"/>
                    </a:lnTo>
                    <a:lnTo>
                      <a:pt x="182179" y="159406"/>
                    </a:lnTo>
                    <a:lnTo>
                      <a:pt x="0" y="159406"/>
                    </a:lnTo>
                    <a:lnTo>
                      <a:pt x="0" y="79703"/>
                    </a:lnTo>
                    <a:lnTo>
                      <a:pt x="0" y="0"/>
                    </a:lnTo>
                  </a:path>
                </a:pathLst>
              </a:custGeom>
              <a:noFill/>
              <a:ln w="8539">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b="1"/>
              </a:p>
            </p:txBody>
          </p:sp>
          <p:sp>
            <p:nvSpPr>
              <p:cNvPr id="22" name="Rounded Rectangle 19">
                <a:extLst>
                  <a:ext uri="{FF2B5EF4-FFF2-40B4-BE49-F238E27FC236}">
                    <a16:creationId xmlns:a16="http://schemas.microsoft.com/office/drawing/2014/main" id="{FF33555C-74DE-E791-3793-BA4790AACF8C}"/>
                  </a:ext>
                </a:extLst>
              </p:cNvPr>
              <p:cNvSpPr/>
              <p:nvPr/>
            </p:nvSpPr>
            <p:spPr>
              <a:xfrm>
                <a:off x="1511518" y="2652986"/>
                <a:ext cx="74010" cy="37005"/>
              </a:xfrm>
              <a:custGeom>
                <a:avLst/>
                <a:gdLst/>
                <a:ahLst/>
                <a:cxnLst/>
                <a:rect l="0" t="0" r="0" b="0"/>
                <a:pathLst>
                  <a:path w="74010" h="37005">
                    <a:moveTo>
                      <a:pt x="74010" y="0"/>
                    </a:moveTo>
                    <a:lnTo>
                      <a:pt x="37005" y="37005"/>
                    </a:lnTo>
                    <a:lnTo>
                      <a:pt x="0" y="0"/>
                    </a:lnTo>
                  </a:path>
                </a:pathLst>
              </a:custGeom>
              <a:noFill/>
              <a:ln w="8539">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b="1"/>
              </a:p>
            </p:txBody>
          </p:sp>
        </p:grpSp>
        <p:grpSp>
          <p:nvGrpSpPr>
            <p:cNvPr id="15" name="Group 14">
              <a:extLst>
                <a:ext uri="{FF2B5EF4-FFF2-40B4-BE49-F238E27FC236}">
                  <a16:creationId xmlns:a16="http://schemas.microsoft.com/office/drawing/2014/main" id="{0EEEFD3A-C09B-810E-6302-9585D9D1DCF7}"/>
                </a:ext>
              </a:extLst>
            </p:cNvPr>
            <p:cNvGrpSpPr/>
            <p:nvPr/>
          </p:nvGrpSpPr>
          <p:grpSpPr>
            <a:xfrm>
              <a:off x="10085744" y="4128614"/>
              <a:ext cx="74010" cy="310274"/>
              <a:chOff x="1511518" y="3040117"/>
              <a:chExt cx="74010" cy="310274"/>
            </a:xfrm>
          </p:grpSpPr>
          <p:sp>
            <p:nvSpPr>
              <p:cNvPr id="19" name="Rounded Rectangle 21">
                <a:extLst>
                  <a:ext uri="{FF2B5EF4-FFF2-40B4-BE49-F238E27FC236}">
                    <a16:creationId xmlns:a16="http://schemas.microsoft.com/office/drawing/2014/main" id="{0ED79648-CD2A-3B25-9070-3A85316A834B}"/>
                  </a:ext>
                </a:extLst>
              </p:cNvPr>
              <p:cNvSpPr/>
              <p:nvPr/>
            </p:nvSpPr>
            <p:spPr>
              <a:xfrm>
                <a:off x="1548524" y="3040117"/>
                <a:ext cx="5693" cy="307427"/>
              </a:xfrm>
              <a:custGeom>
                <a:avLst/>
                <a:gdLst/>
                <a:ahLst/>
                <a:cxnLst/>
                <a:rect l="0" t="0" r="0" b="0"/>
                <a:pathLst>
                  <a:path w="5693" h="307427">
                    <a:moveTo>
                      <a:pt x="0" y="0"/>
                    </a:moveTo>
                    <a:lnTo>
                      <a:pt x="0" y="159406"/>
                    </a:lnTo>
                    <a:lnTo>
                      <a:pt x="0" y="307427"/>
                    </a:lnTo>
                  </a:path>
                </a:pathLst>
              </a:custGeom>
              <a:noFill/>
              <a:ln w="8539">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b="1"/>
              </a:p>
            </p:txBody>
          </p:sp>
          <p:sp>
            <p:nvSpPr>
              <p:cNvPr id="20" name="Rounded Rectangle 22">
                <a:extLst>
                  <a:ext uri="{FF2B5EF4-FFF2-40B4-BE49-F238E27FC236}">
                    <a16:creationId xmlns:a16="http://schemas.microsoft.com/office/drawing/2014/main" id="{68FC5F9B-C596-C291-5ABC-BB739CEDD42A}"/>
                  </a:ext>
                </a:extLst>
              </p:cNvPr>
              <p:cNvSpPr/>
              <p:nvPr/>
            </p:nvSpPr>
            <p:spPr>
              <a:xfrm>
                <a:off x="1511518" y="3313386"/>
                <a:ext cx="74010" cy="37005"/>
              </a:xfrm>
              <a:custGeom>
                <a:avLst/>
                <a:gdLst/>
                <a:ahLst/>
                <a:cxnLst/>
                <a:rect l="0" t="0" r="0" b="0"/>
                <a:pathLst>
                  <a:path w="74010" h="37005">
                    <a:moveTo>
                      <a:pt x="74010" y="0"/>
                    </a:moveTo>
                    <a:lnTo>
                      <a:pt x="37005" y="37005"/>
                    </a:lnTo>
                    <a:lnTo>
                      <a:pt x="0" y="0"/>
                    </a:lnTo>
                  </a:path>
                </a:pathLst>
              </a:custGeom>
              <a:noFill/>
              <a:ln w="8539">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b="1"/>
              </a:p>
            </p:txBody>
          </p:sp>
        </p:grpSp>
        <p:grpSp>
          <p:nvGrpSpPr>
            <p:cNvPr id="16" name="Group 15">
              <a:extLst>
                <a:ext uri="{FF2B5EF4-FFF2-40B4-BE49-F238E27FC236}">
                  <a16:creationId xmlns:a16="http://schemas.microsoft.com/office/drawing/2014/main" id="{900DADD3-35F0-9438-C2A0-FA9BA870E4C0}"/>
                </a:ext>
              </a:extLst>
            </p:cNvPr>
            <p:cNvGrpSpPr/>
            <p:nvPr/>
          </p:nvGrpSpPr>
          <p:grpSpPr>
            <a:xfrm>
              <a:off x="10079642" y="5310902"/>
              <a:ext cx="74010" cy="310274"/>
              <a:chOff x="1511518" y="3973786"/>
              <a:chExt cx="74010" cy="310274"/>
            </a:xfrm>
          </p:grpSpPr>
          <p:sp>
            <p:nvSpPr>
              <p:cNvPr id="17" name="Rounded Rectangle 24">
                <a:extLst>
                  <a:ext uri="{FF2B5EF4-FFF2-40B4-BE49-F238E27FC236}">
                    <a16:creationId xmlns:a16="http://schemas.microsoft.com/office/drawing/2014/main" id="{39430935-3EFE-A1B6-A5D3-8EA1C11D63AD}"/>
                  </a:ext>
                </a:extLst>
              </p:cNvPr>
              <p:cNvSpPr/>
              <p:nvPr/>
            </p:nvSpPr>
            <p:spPr>
              <a:xfrm>
                <a:off x="1548524" y="3973786"/>
                <a:ext cx="5693" cy="307427"/>
              </a:xfrm>
              <a:custGeom>
                <a:avLst/>
                <a:gdLst/>
                <a:ahLst/>
                <a:cxnLst/>
                <a:rect l="0" t="0" r="0" b="0"/>
                <a:pathLst>
                  <a:path w="5693" h="307427">
                    <a:moveTo>
                      <a:pt x="0" y="0"/>
                    </a:moveTo>
                    <a:lnTo>
                      <a:pt x="0" y="159406"/>
                    </a:lnTo>
                    <a:lnTo>
                      <a:pt x="0" y="307427"/>
                    </a:lnTo>
                  </a:path>
                </a:pathLst>
              </a:custGeom>
              <a:noFill/>
              <a:ln w="8539">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b="1"/>
              </a:p>
            </p:txBody>
          </p:sp>
          <p:sp>
            <p:nvSpPr>
              <p:cNvPr id="18" name="Rounded Rectangle 25">
                <a:extLst>
                  <a:ext uri="{FF2B5EF4-FFF2-40B4-BE49-F238E27FC236}">
                    <a16:creationId xmlns:a16="http://schemas.microsoft.com/office/drawing/2014/main" id="{72EF2C24-6DD7-49DB-7E46-3083C6E1DE64}"/>
                  </a:ext>
                </a:extLst>
              </p:cNvPr>
              <p:cNvSpPr/>
              <p:nvPr/>
            </p:nvSpPr>
            <p:spPr>
              <a:xfrm>
                <a:off x="1511518" y="4247055"/>
                <a:ext cx="74010" cy="37005"/>
              </a:xfrm>
              <a:custGeom>
                <a:avLst/>
                <a:gdLst/>
                <a:ahLst/>
                <a:cxnLst/>
                <a:rect l="0" t="0" r="0" b="0"/>
                <a:pathLst>
                  <a:path w="74010" h="37005">
                    <a:moveTo>
                      <a:pt x="74010" y="0"/>
                    </a:moveTo>
                    <a:lnTo>
                      <a:pt x="37005" y="37005"/>
                    </a:lnTo>
                    <a:lnTo>
                      <a:pt x="0" y="0"/>
                    </a:lnTo>
                  </a:path>
                </a:pathLst>
              </a:custGeom>
              <a:noFill/>
              <a:ln w="8539">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b="1"/>
              </a:p>
            </p:txBody>
          </p:sp>
        </p:grpSp>
      </p:grpSp>
    </p:spTree>
    <p:extLst>
      <p:ext uri="{BB962C8B-B14F-4D97-AF65-F5344CB8AC3E}">
        <p14:creationId xmlns:p14="http://schemas.microsoft.com/office/powerpoint/2010/main" val="2404006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909960" y="309917"/>
            <a:ext cx="9601200" cy="1527175"/>
          </a:xfrm>
        </p:spPr>
        <p:txBody>
          <a:bodyPr>
            <a:normAutofit/>
          </a:bodyPr>
          <a:lstStyle/>
          <a:p>
            <a:pPr marL="0" indent="0" algn="just">
              <a:buNone/>
            </a:pPr>
            <a:r>
              <a:rPr lang="en-US" sz="2000" b="1" dirty="0">
                <a:latin typeface="Times New Roman" panose="02020603050405020304" pitchFamily="18" charset="0"/>
                <a:cs typeface="Times New Roman" panose="02020603050405020304" pitchFamily="18" charset="0"/>
              </a:rPr>
              <a:t>Example 1:</a:t>
            </a:r>
            <a:r>
              <a:rPr lang="en-US" sz="2000" dirty="0">
                <a:latin typeface="Times New Roman" panose="02020603050405020304" pitchFamily="18" charset="0"/>
                <a:cs typeface="Times New Roman" panose="02020603050405020304" pitchFamily="18" charset="0"/>
              </a:rPr>
              <a:t> Mr. A (Aged 35) is having an annual salary of ₹10,00,000, with the deductions of ₹2,50,000. So calculate the income tax in both old and new slabs and suggest the best slab for him.</a:t>
            </a:r>
          </a:p>
          <a:p>
            <a:pPr marL="0" indent="0" algn="just">
              <a:buNone/>
            </a:pPr>
            <a:r>
              <a:rPr lang="en-US" sz="2000" dirty="0">
                <a:latin typeface="Times New Roman" panose="02020603050405020304" pitchFamily="18" charset="0"/>
                <a:cs typeface="Times New Roman" panose="02020603050405020304" pitchFamily="18" charset="0"/>
              </a:rPr>
              <a:t>ANS: 			</a:t>
            </a:r>
            <a:r>
              <a:rPr lang="en-US" sz="2000" b="1" u="sng" dirty="0">
                <a:latin typeface="Times New Roman" panose="02020603050405020304" pitchFamily="18" charset="0"/>
                <a:cs typeface="Times New Roman" panose="02020603050405020304" pitchFamily="18" charset="0"/>
              </a:rPr>
              <a:t>Tax calculation as per Old Tax Slab</a:t>
            </a:r>
          </a:p>
          <a:p>
            <a:pPr marL="0" indent="0" algn="just">
              <a:buNone/>
            </a:pPr>
            <a:endParaRPr lang="en-US" sz="2000" b="1"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90495381"/>
              </p:ext>
            </p:extLst>
          </p:nvPr>
        </p:nvGraphicFramePr>
        <p:xfrm>
          <a:off x="909960" y="2012049"/>
          <a:ext cx="3048000" cy="3597906"/>
        </p:xfrm>
        <a:graphic>
          <a:graphicData uri="http://schemas.openxmlformats.org/drawingml/2006/table">
            <a:tbl>
              <a:tblPr firstRow="1" bandRow="1">
                <a:tableStyleId>{073A0DAA-6AF3-43AB-8588-CEC1D06C72B9}</a:tableStyleId>
              </a:tblPr>
              <a:tblGrid>
                <a:gridCol w="1549400">
                  <a:extLst>
                    <a:ext uri="{9D8B030D-6E8A-4147-A177-3AD203B41FA5}">
                      <a16:colId xmlns:a16="http://schemas.microsoft.com/office/drawing/2014/main" val="20000"/>
                    </a:ext>
                  </a:extLst>
                </a:gridCol>
                <a:gridCol w="1498600">
                  <a:extLst>
                    <a:ext uri="{9D8B030D-6E8A-4147-A177-3AD203B41FA5}">
                      <a16:colId xmlns:a16="http://schemas.microsoft.com/office/drawing/2014/main" val="20001"/>
                    </a:ext>
                  </a:extLst>
                </a:gridCol>
              </a:tblGrid>
              <a:tr h="404073">
                <a:tc>
                  <a:txBody>
                    <a:bodyPr/>
                    <a:lstStyle/>
                    <a:p>
                      <a:pPr algn="ctr"/>
                      <a:r>
                        <a:rPr lang="en-US" dirty="0"/>
                        <a:t>Particulars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04073">
                <a:tc>
                  <a:txBody>
                    <a:bodyPr/>
                    <a:lstStyle/>
                    <a:p>
                      <a:pPr algn="ctr"/>
                      <a:r>
                        <a:rPr lang="en-US" dirty="0"/>
                        <a:t>Annual Salary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97440">
                <a:tc>
                  <a:txBody>
                    <a:bodyPr/>
                    <a:lstStyle/>
                    <a:p>
                      <a:pPr algn="ctr"/>
                      <a:r>
                        <a:rPr lang="en-US" dirty="0"/>
                        <a:t>Deductions (80C,80D)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97440">
                <a:tc>
                  <a:txBody>
                    <a:bodyPr/>
                    <a:lstStyle/>
                    <a:p>
                      <a:pPr algn="ctr"/>
                      <a:r>
                        <a:rPr lang="en-US" dirty="0"/>
                        <a:t>Standard</a:t>
                      </a:r>
                      <a:r>
                        <a:rPr lang="en-US" baseline="0" dirty="0"/>
                        <a:t> Deduction</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97440">
                <a:tc>
                  <a:txBody>
                    <a:bodyPr/>
                    <a:lstStyle/>
                    <a:p>
                      <a:pPr algn="ctr"/>
                      <a:r>
                        <a:rPr lang="en-US" b="1" dirty="0"/>
                        <a:t>Total Deduction</a:t>
                      </a:r>
                      <a:r>
                        <a:rPr lang="en-US" b="1" baseline="0" dirty="0"/>
                        <a:t> </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3,00,000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97440">
                <a:tc>
                  <a:txBody>
                    <a:bodyPr/>
                    <a:lstStyle/>
                    <a:p>
                      <a:pPr algn="ctr"/>
                      <a:r>
                        <a:rPr lang="en-US" b="1" u="none" dirty="0"/>
                        <a:t>Taxable Income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u="sng" dirty="0"/>
                        <a:t>7,00,000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005422618"/>
              </p:ext>
            </p:extLst>
          </p:nvPr>
        </p:nvGraphicFramePr>
        <p:xfrm>
          <a:off x="4078610" y="2005922"/>
          <a:ext cx="6432551" cy="3610160"/>
        </p:xfrm>
        <a:graphic>
          <a:graphicData uri="http://schemas.openxmlformats.org/drawingml/2006/table">
            <a:tbl>
              <a:tblPr firstRow="1" bandRow="1">
                <a:tableStyleId>{073A0DAA-6AF3-43AB-8588-CEC1D06C72B9}</a:tableStyleId>
              </a:tblPr>
              <a:tblGrid>
                <a:gridCol w="2485009">
                  <a:extLst>
                    <a:ext uri="{9D8B030D-6E8A-4147-A177-3AD203B41FA5}">
                      <a16:colId xmlns:a16="http://schemas.microsoft.com/office/drawing/2014/main" val="20000"/>
                    </a:ext>
                  </a:extLst>
                </a:gridCol>
                <a:gridCol w="711852">
                  <a:extLst>
                    <a:ext uri="{9D8B030D-6E8A-4147-A177-3AD203B41FA5}">
                      <a16:colId xmlns:a16="http://schemas.microsoft.com/office/drawing/2014/main" val="20001"/>
                    </a:ext>
                  </a:extLst>
                </a:gridCol>
                <a:gridCol w="2148498">
                  <a:extLst>
                    <a:ext uri="{9D8B030D-6E8A-4147-A177-3AD203B41FA5}">
                      <a16:colId xmlns:a16="http://schemas.microsoft.com/office/drawing/2014/main" val="20002"/>
                    </a:ext>
                  </a:extLst>
                </a:gridCol>
                <a:gridCol w="1087192">
                  <a:extLst>
                    <a:ext uri="{9D8B030D-6E8A-4147-A177-3AD203B41FA5}">
                      <a16:colId xmlns:a16="http://schemas.microsoft.com/office/drawing/2014/main" val="20003"/>
                    </a:ext>
                  </a:extLst>
                </a:gridCol>
              </a:tblGrid>
              <a:tr h="662773">
                <a:tc>
                  <a:txBody>
                    <a:bodyPr/>
                    <a:lstStyle/>
                    <a:p>
                      <a:pPr algn="ctr"/>
                      <a:r>
                        <a:rPr lang="en-US" dirty="0"/>
                        <a:t>Range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Taxable 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83987">
                <a:tc>
                  <a:txBody>
                    <a:bodyPr/>
                    <a:lstStyle/>
                    <a:p>
                      <a:pPr algn="ctr"/>
                      <a:r>
                        <a:rPr lang="en-US" dirty="0"/>
                        <a:t>Up to 2,50,000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83987">
                <a:tc>
                  <a:txBody>
                    <a:bodyPr/>
                    <a:lstStyle/>
                    <a:p>
                      <a:pPr algn="ctr"/>
                      <a:r>
                        <a:rPr lang="en-US" dirty="0"/>
                        <a:t>2,50,001</a:t>
                      </a:r>
                      <a:r>
                        <a:rPr lang="en-US" baseline="0" dirty="0"/>
                        <a:t> – 5,00,000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31212">
                <a:tc>
                  <a:txBody>
                    <a:bodyPr/>
                    <a:lstStyle/>
                    <a:p>
                      <a:pPr algn="ctr"/>
                      <a:r>
                        <a:rPr lang="en-US" dirty="0"/>
                        <a:t>5,00,001</a:t>
                      </a:r>
                      <a:r>
                        <a:rPr lang="en-US" baseline="0" dirty="0"/>
                        <a:t> – 10,00,000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2,00,000</a:t>
                      </a:r>
                    </a:p>
                    <a:p>
                      <a:pPr algn="just"/>
                      <a:r>
                        <a:rPr lang="en-US" sz="1600" dirty="0"/>
                        <a:t>(7,00,000</a:t>
                      </a:r>
                      <a:r>
                        <a:rPr lang="en-US" sz="1600" baseline="0" dirty="0"/>
                        <a:t> - 5,00,000</a:t>
                      </a:r>
                      <a:r>
                        <a:rPr lang="en-US" sz="16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40,000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83987">
                <a:tc>
                  <a:txBody>
                    <a:bodyPr/>
                    <a:lstStyle/>
                    <a:p>
                      <a:pPr algn="ctr"/>
                      <a:r>
                        <a:rPr lang="en-US" baseline="0" dirty="0"/>
                        <a:t>Above 10,00,000 </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83987">
                <a:tc gridSpan="3">
                  <a:txBody>
                    <a:bodyPr/>
                    <a:lstStyle/>
                    <a:p>
                      <a:pPr algn="ctr"/>
                      <a:r>
                        <a:rPr lang="en-US" b="1" dirty="0"/>
                        <a:t>Tax 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nchor="ctr"/>
                </a:tc>
                <a:tc hMerge="1">
                  <a:txBody>
                    <a:bodyPr/>
                    <a:lstStyle/>
                    <a:p>
                      <a:pPr algn="ctr"/>
                      <a:endParaRPr lang="en-US" dirty="0"/>
                    </a:p>
                  </a:txBody>
                  <a:tcPr anchor="ctr"/>
                </a:tc>
                <a:tc>
                  <a:txBody>
                    <a:bodyPr/>
                    <a:lstStyle/>
                    <a:p>
                      <a:pPr algn="ctr"/>
                      <a:r>
                        <a:rPr lang="en-US" b="1" dirty="0"/>
                        <a:t>52,500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83987">
                <a:tc gridSpan="3">
                  <a:txBody>
                    <a:bodyPr/>
                    <a:lstStyle/>
                    <a:p>
                      <a:pPr algn="ctr"/>
                      <a:r>
                        <a:rPr lang="en-US" dirty="0"/>
                        <a:t> (+) Health and Education Cess</a:t>
                      </a:r>
                      <a:r>
                        <a:rPr lang="en-US" baseline="0" dirty="0"/>
                        <a:t> (4%)</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algn="ctr"/>
                      <a:r>
                        <a:rPr lang="en-US" dirty="0"/>
                        <a:t>2,100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83987">
                <a:tc gridSpan="3">
                  <a:txBody>
                    <a:bodyPr/>
                    <a:lstStyle/>
                    <a:p>
                      <a:pPr algn="ctr"/>
                      <a:r>
                        <a:rPr lang="en-US" sz="2000" b="1" dirty="0"/>
                        <a:t>Total Payable Tax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algn="ctr"/>
                      <a:r>
                        <a:rPr lang="en-US" sz="2000" b="1" u="sng" dirty="0"/>
                        <a:t>54,600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5691331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5400" y="330200"/>
            <a:ext cx="9601200" cy="3581400"/>
          </a:xfrm>
        </p:spPr>
        <p:txBody>
          <a:bodyPr/>
          <a:lstStyle/>
          <a:p>
            <a:pPr marL="0" indent="0" algn="ctr">
              <a:buNone/>
            </a:pPr>
            <a:r>
              <a:rPr lang="en-US" b="1" u="sng" dirty="0">
                <a:latin typeface="Times New Roman" panose="02020603050405020304" pitchFamily="18" charset="0"/>
                <a:cs typeface="Times New Roman" panose="02020603050405020304" pitchFamily="18" charset="0"/>
              </a:rPr>
              <a:t>Tax calculation as per New Tax Slab</a:t>
            </a:r>
          </a:p>
        </p:txBody>
      </p:sp>
      <p:graphicFrame>
        <p:nvGraphicFramePr>
          <p:cNvPr id="4" name="Table 3"/>
          <p:cNvGraphicFramePr>
            <a:graphicFrameLocks noGrp="1"/>
          </p:cNvGraphicFramePr>
          <p:nvPr/>
        </p:nvGraphicFramePr>
        <p:xfrm>
          <a:off x="1295400" y="923667"/>
          <a:ext cx="3035299" cy="4384930"/>
        </p:xfrm>
        <a:graphic>
          <a:graphicData uri="http://schemas.openxmlformats.org/drawingml/2006/table">
            <a:tbl>
              <a:tblPr firstRow="1" bandRow="1">
                <a:tableStyleId>{073A0DAA-6AF3-43AB-8588-CEC1D06C72B9}</a:tableStyleId>
              </a:tblPr>
              <a:tblGrid>
                <a:gridCol w="1542943">
                  <a:extLst>
                    <a:ext uri="{9D8B030D-6E8A-4147-A177-3AD203B41FA5}">
                      <a16:colId xmlns:a16="http://schemas.microsoft.com/office/drawing/2014/main" val="20000"/>
                    </a:ext>
                  </a:extLst>
                </a:gridCol>
                <a:gridCol w="1492356">
                  <a:extLst>
                    <a:ext uri="{9D8B030D-6E8A-4147-A177-3AD203B41FA5}">
                      <a16:colId xmlns:a16="http://schemas.microsoft.com/office/drawing/2014/main" val="20001"/>
                    </a:ext>
                  </a:extLst>
                </a:gridCol>
              </a:tblGrid>
              <a:tr h="487215">
                <a:tc>
                  <a:txBody>
                    <a:bodyPr/>
                    <a:lstStyle/>
                    <a:p>
                      <a:pPr algn="ctr"/>
                      <a:r>
                        <a:rPr lang="en-US" dirty="0"/>
                        <a:t>Particulars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87215">
                <a:tc>
                  <a:txBody>
                    <a:bodyPr/>
                    <a:lstStyle/>
                    <a:p>
                      <a:pPr algn="ctr"/>
                      <a:r>
                        <a:rPr lang="en-US" dirty="0"/>
                        <a:t>Annual Salary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852625">
                <a:tc>
                  <a:txBody>
                    <a:bodyPr/>
                    <a:lstStyle/>
                    <a:p>
                      <a:pPr algn="ctr"/>
                      <a:r>
                        <a:rPr lang="en-US" dirty="0"/>
                        <a:t>Deductions (80C,80D)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Not</a:t>
                      </a:r>
                      <a:r>
                        <a:rPr lang="en-US" baseline="0" dirty="0"/>
                        <a:t> Allowed</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52625">
                <a:tc>
                  <a:txBody>
                    <a:bodyPr/>
                    <a:lstStyle/>
                    <a:p>
                      <a:pPr algn="ctr"/>
                      <a:r>
                        <a:rPr lang="en-US" dirty="0"/>
                        <a:t>Standard</a:t>
                      </a:r>
                      <a:r>
                        <a:rPr lang="en-US" baseline="0" dirty="0"/>
                        <a:t> Deduction</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75,000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852625">
                <a:tc>
                  <a:txBody>
                    <a:bodyPr/>
                    <a:lstStyle/>
                    <a:p>
                      <a:pPr algn="ctr"/>
                      <a:r>
                        <a:rPr lang="en-US" b="1" dirty="0"/>
                        <a:t>Total Deduction</a:t>
                      </a:r>
                      <a:r>
                        <a:rPr lang="en-US" b="1" baseline="0" dirty="0"/>
                        <a:t> </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75,000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852625">
                <a:tc>
                  <a:txBody>
                    <a:bodyPr/>
                    <a:lstStyle/>
                    <a:p>
                      <a:pPr algn="ctr"/>
                      <a:r>
                        <a:rPr lang="en-US" b="1" dirty="0"/>
                        <a:t>Taxable Income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u="sng" dirty="0"/>
                        <a:t>9,25,000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5" name="Table 4"/>
          <p:cNvGraphicFramePr>
            <a:graphicFrameLocks noGrp="1"/>
          </p:cNvGraphicFramePr>
          <p:nvPr/>
        </p:nvGraphicFramePr>
        <p:xfrm>
          <a:off x="4457701" y="923667"/>
          <a:ext cx="6845299" cy="4664331"/>
        </p:xfrm>
        <a:graphic>
          <a:graphicData uri="http://schemas.openxmlformats.org/drawingml/2006/table">
            <a:tbl>
              <a:tblPr firstRow="1" bandRow="1">
                <a:tableStyleId>{073A0DAA-6AF3-43AB-8588-CEC1D06C72B9}</a:tableStyleId>
              </a:tblPr>
              <a:tblGrid>
                <a:gridCol w="2644462">
                  <a:extLst>
                    <a:ext uri="{9D8B030D-6E8A-4147-A177-3AD203B41FA5}">
                      <a16:colId xmlns:a16="http://schemas.microsoft.com/office/drawing/2014/main" val="20000"/>
                    </a:ext>
                  </a:extLst>
                </a:gridCol>
                <a:gridCol w="757529">
                  <a:extLst>
                    <a:ext uri="{9D8B030D-6E8A-4147-A177-3AD203B41FA5}">
                      <a16:colId xmlns:a16="http://schemas.microsoft.com/office/drawing/2014/main" val="20001"/>
                    </a:ext>
                  </a:extLst>
                </a:gridCol>
                <a:gridCol w="2109808">
                  <a:extLst>
                    <a:ext uri="{9D8B030D-6E8A-4147-A177-3AD203B41FA5}">
                      <a16:colId xmlns:a16="http://schemas.microsoft.com/office/drawing/2014/main" val="20002"/>
                    </a:ext>
                  </a:extLst>
                </a:gridCol>
                <a:gridCol w="1333500">
                  <a:extLst>
                    <a:ext uri="{9D8B030D-6E8A-4147-A177-3AD203B41FA5}">
                      <a16:colId xmlns:a16="http://schemas.microsoft.com/office/drawing/2014/main" val="20003"/>
                    </a:ext>
                  </a:extLst>
                </a:gridCol>
              </a:tblGrid>
              <a:tr h="696049">
                <a:tc>
                  <a:txBody>
                    <a:bodyPr/>
                    <a:lstStyle/>
                    <a:p>
                      <a:pPr algn="ctr"/>
                      <a:r>
                        <a:rPr lang="en-US" dirty="0"/>
                        <a:t>Range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Taxable 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09239">
                <a:tc>
                  <a:txBody>
                    <a:bodyPr/>
                    <a:lstStyle/>
                    <a:p>
                      <a:pPr algn="ctr"/>
                      <a:r>
                        <a:rPr lang="en-US" dirty="0"/>
                        <a:t>Up to 3,00,000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09239">
                <a:tc>
                  <a:txBody>
                    <a:bodyPr/>
                    <a:lstStyle/>
                    <a:p>
                      <a:pPr algn="ctr"/>
                      <a:r>
                        <a:rPr lang="en-US" dirty="0"/>
                        <a:t>3,00,001</a:t>
                      </a:r>
                      <a:r>
                        <a:rPr lang="en-US" baseline="0" dirty="0"/>
                        <a:t> – 7,00,000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4,00,000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72722">
                <a:tc>
                  <a:txBody>
                    <a:bodyPr/>
                    <a:lstStyle/>
                    <a:p>
                      <a:pPr algn="ctr"/>
                      <a:r>
                        <a:rPr lang="en-US" dirty="0"/>
                        <a:t>7,00,001</a:t>
                      </a:r>
                      <a:r>
                        <a:rPr lang="en-US" baseline="0" dirty="0"/>
                        <a:t> – 10,00,000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2,25,000</a:t>
                      </a:r>
                    </a:p>
                    <a:p>
                      <a:pPr algn="just"/>
                      <a:r>
                        <a:rPr lang="en-US" sz="1600" dirty="0"/>
                        <a:t>(9,25,000</a:t>
                      </a:r>
                      <a:r>
                        <a:rPr lang="en-US" sz="1600" baseline="0" dirty="0"/>
                        <a:t> - 7,00,000</a:t>
                      </a:r>
                      <a:r>
                        <a:rPr lang="en-US" sz="16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22,500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09239">
                <a:tc>
                  <a:txBody>
                    <a:bodyPr/>
                    <a:lstStyle/>
                    <a:p>
                      <a:pPr algn="ctr"/>
                      <a:r>
                        <a:rPr lang="en-US" baseline="0" dirty="0"/>
                        <a:t>10,00,001 – 12,00,000 </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09239">
                <a:tc>
                  <a:txBody>
                    <a:bodyPr/>
                    <a:lstStyle/>
                    <a:p>
                      <a:pPr algn="ctr"/>
                      <a:r>
                        <a:rPr lang="en-US" dirty="0"/>
                        <a:t>12,00,001 – 15,00,000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09239">
                <a:tc>
                  <a:txBody>
                    <a:bodyPr/>
                    <a:lstStyle/>
                    <a:p>
                      <a:pPr algn="ctr"/>
                      <a:r>
                        <a:rPr lang="en-US" dirty="0"/>
                        <a:t>Above 15,00,000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409239">
                <a:tc gridSpan="3">
                  <a:txBody>
                    <a:bodyPr/>
                    <a:lstStyle/>
                    <a:p>
                      <a:pPr algn="ctr"/>
                      <a:r>
                        <a:rPr lang="en-US" b="1" dirty="0"/>
                        <a:t>Tax 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nchor="ctr"/>
                </a:tc>
                <a:tc hMerge="1">
                  <a:txBody>
                    <a:bodyPr/>
                    <a:lstStyle/>
                    <a:p>
                      <a:pPr algn="ctr"/>
                      <a:endParaRPr lang="en-US" dirty="0"/>
                    </a:p>
                  </a:txBody>
                  <a:tcPr anchor="ctr"/>
                </a:tc>
                <a:tc>
                  <a:txBody>
                    <a:bodyPr/>
                    <a:lstStyle/>
                    <a:p>
                      <a:pPr algn="ctr"/>
                      <a:r>
                        <a:rPr lang="en-US" b="1" dirty="0"/>
                        <a:t>42,500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409239">
                <a:tc gridSpan="3">
                  <a:txBody>
                    <a:bodyPr/>
                    <a:lstStyle/>
                    <a:p>
                      <a:pPr algn="ctr"/>
                      <a:r>
                        <a:rPr lang="en-US" dirty="0"/>
                        <a:t>(+) Health and Education Cess</a:t>
                      </a:r>
                      <a:r>
                        <a:rPr lang="en-US" baseline="0" dirty="0"/>
                        <a:t> (4%)</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algn="ctr"/>
                      <a:r>
                        <a:rPr lang="en-US" dirty="0"/>
                        <a:t>1,700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430887">
                <a:tc gridSpan="3">
                  <a:txBody>
                    <a:bodyPr/>
                    <a:lstStyle/>
                    <a:p>
                      <a:pPr algn="ctr"/>
                      <a:r>
                        <a:rPr lang="en-US" sz="2000" b="1" dirty="0"/>
                        <a:t>Total Payable Tax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algn="ctr"/>
                      <a:r>
                        <a:rPr lang="en-US" sz="2000" b="1" u="sng" dirty="0"/>
                        <a:t>44,200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graphicFrame>
        <p:nvGraphicFramePr>
          <p:cNvPr id="7" name="Table 6"/>
          <p:cNvGraphicFramePr>
            <a:graphicFrameLocks noGrp="1"/>
          </p:cNvGraphicFramePr>
          <p:nvPr/>
        </p:nvGraphicFramePr>
        <p:xfrm>
          <a:off x="1117600" y="5711564"/>
          <a:ext cx="10452100" cy="741680"/>
        </p:xfrm>
        <a:graphic>
          <a:graphicData uri="http://schemas.openxmlformats.org/drawingml/2006/table">
            <a:tbl>
              <a:tblPr firstRow="1" bandRow="1">
                <a:tableStyleId>{2D5ABB26-0587-4C30-8999-92F81FD0307C}</a:tableStyleId>
              </a:tblPr>
              <a:tblGrid>
                <a:gridCol w="2215103">
                  <a:extLst>
                    <a:ext uri="{9D8B030D-6E8A-4147-A177-3AD203B41FA5}">
                      <a16:colId xmlns:a16="http://schemas.microsoft.com/office/drawing/2014/main" val="20000"/>
                    </a:ext>
                  </a:extLst>
                </a:gridCol>
                <a:gridCol w="1008070">
                  <a:extLst>
                    <a:ext uri="{9D8B030D-6E8A-4147-A177-3AD203B41FA5}">
                      <a16:colId xmlns:a16="http://schemas.microsoft.com/office/drawing/2014/main" val="20001"/>
                    </a:ext>
                  </a:extLst>
                </a:gridCol>
                <a:gridCol w="7228927">
                  <a:extLst>
                    <a:ext uri="{9D8B030D-6E8A-4147-A177-3AD203B41FA5}">
                      <a16:colId xmlns:a16="http://schemas.microsoft.com/office/drawing/2014/main" val="20002"/>
                    </a:ext>
                  </a:extLst>
                </a:gridCol>
              </a:tblGrid>
              <a:tr h="370840">
                <a:tc>
                  <a:txBody>
                    <a:bodyPr/>
                    <a:lstStyle/>
                    <a:p>
                      <a:pPr algn="ctr"/>
                      <a:r>
                        <a:rPr lang="en-US" b="1" dirty="0">
                          <a:latin typeface="Times New Roman" panose="02020603050405020304" pitchFamily="18" charset="0"/>
                          <a:cs typeface="Times New Roman" panose="02020603050405020304" pitchFamily="18" charset="0"/>
                        </a:rPr>
                        <a:t>Tax as per Old Slab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latin typeface="Times New Roman" panose="02020603050405020304" pitchFamily="18" charset="0"/>
                          <a:cs typeface="Times New Roman" panose="02020603050405020304" pitchFamily="18" charset="0"/>
                        </a:rPr>
                        <a:t>54,600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n-US" b="1" dirty="0">
                          <a:latin typeface="Times New Roman" panose="02020603050405020304" pitchFamily="18" charset="0"/>
                          <a:cs typeface="Times New Roman" panose="02020603050405020304" pitchFamily="18" charset="0"/>
                        </a:rPr>
                        <a:t>Here we can see that the Total</a:t>
                      </a:r>
                      <a:r>
                        <a:rPr lang="en-US" b="1" baseline="0" dirty="0">
                          <a:latin typeface="Times New Roman" panose="02020603050405020304" pitchFamily="18" charset="0"/>
                          <a:cs typeface="Times New Roman" panose="02020603050405020304" pitchFamily="18" charset="0"/>
                        </a:rPr>
                        <a:t> Tax as per New Tax Slab is less then the Old Ta Slab, so here we can recommend Mr. A to opt for New Tax Slab</a:t>
                      </a:r>
                      <a:endParaRPr 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370840">
                <a:tc>
                  <a:txBody>
                    <a:bodyPr/>
                    <a:lstStyle/>
                    <a:p>
                      <a:pPr algn="ctr"/>
                      <a:r>
                        <a:rPr lang="en-US" b="1" dirty="0">
                          <a:latin typeface="Times New Roman" panose="02020603050405020304" pitchFamily="18" charset="0"/>
                          <a:cs typeface="Times New Roman" panose="02020603050405020304" pitchFamily="18" charset="0"/>
                        </a:rPr>
                        <a:t>Tax as per New Slab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latin typeface="Times New Roman" panose="02020603050405020304" pitchFamily="18" charset="0"/>
                          <a:cs typeface="Times New Roman" panose="02020603050405020304" pitchFamily="18" charset="0"/>
                        </a:rPr>
                        <a:t>44,200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2093817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188991" y="203357"/>
            <a:ext cx="9601200" cy="3581400"/>
          </a:xfrm>
        </p:spPr>
        <p:txBody>
          <a:bodyPr>
            <a:normAutofit/>
          </a:bodyPr>
          <a:lstStyle/>
          <a:p>
            <a:pPr marL="0" indent="0" algn="just">
              <a:buNone/>
            </a:pPr>
            <a:r>
              <a:rPr lang="en-US" sz="2000" b="1" dirty="0">
                <a:latin typeface="Times New Roman" panose="02020603050405020304" pitchFamily="18" charset="0"/>
                <a:cs typeface="Times New Roman" panose="02020603050405020304" pitchFamily="18" charset="0"/>
              </a:rPr>
              <a:t>Example 2:</a:t>
            </a:r>
            <a:r>
              <a:rPr lang="en-US" sz="2000" dirty="0">
                <a:latin typeface="Times New Roman" panose="02020603050405020304" pitchFamily="18" charset="0"/>
                <a:cs typeface="Times New Roman" panose="02020603050405020304" pitchFamily="18" charset="0"/>
              </a:rPr>
              <a:t> Mr. B (Aged 40) is having an annual salary of ₹7,50,000, with the deductions of ₹1,75,000. So calculate the income tax in both old and new slabs and suggest the best slab for him.</a:t>
            </a:r>
          </a:p>
          <a:p>
            <a:pPr marL="0" indent="0" algn="just">
              <a:buNone/>
            </a:pPr>
            <a:r>
              <a:rPr lang="en-US" sz="2000" dirty="0">
                <a:latin typeface="Times New Roman" panose="02020603050405020304" pitchFamily="18" charset="0"/>
                <a:cs typeface="Times New Roman" panose="02020603050405020304" pitchFamily="18" charset="0"/>
              </a:rPr>
              <a:t>ANS:	</a:t>
            </a:r>
            <a:r>
              <a:rPr lang="en-US" sz="2000" b="1" dirty="0">
                <a:latin typeface="Times New Roman" panose="02020603050405020304" pitchFamily="18" charset="0"/>
                <a:cs typeface="Times New Roman" panose="02020603050405020304" pitchFamily="18" charset="0"/>
              </a:rPr>
              <a:t>		</a:t>
            </a:r>
            <a:r>
              <a:rPr lang="en-US" sz="2000" b="1" u="sng" dirty="0">
                <a:latin typeface="Times New Roman" panose="02020603050405020304" pitchFamily="18" charset="0"/>
                <a:cs typeface="Times New Roman" panose="02020603050405020304" pitchFamily="18" charset="0"/>
              </a:rPr>
              <a:t>Tax calculation as per Old Tax Slab</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a:t>
            </a:r>
          </a:p>
          <a:p>
            <a:pPr marL="0" indent="0" algn="just">
              <a:buNone/>
            </a:pPr>
            <a:endParaRPr lang="en-US" sz="2000" dirty="0"/>
          </a:p>
        </p:txBody>
      </p:sp>
      <p:graphicFrame>
        <p:nvGraphicFramePr>
          <p:cNvPr id="4" name="Table 3"/>
          <p:cNvGraphicFramePr>
            <a:graphicFrameLocks noGrp="1"/>
          </p:cNvGraphicFramePr>
          <p:nvPr>
            <p:extLst>
              <p:ext uri="{D42A27DB-BD31-4B8C-83A1-F6EECF244321}">
                <p14:modId xmlns:p14="http://schemas.microsoft.com/office/powerpoint/2010/main" val="3193423744"/>
              </p:ext>
            </p:extLst>
          </p:nvPr>
        </p:nvGraphicFramePr>
        <p:xfrm>
          <a:off x="1188990" y="1704905"/>
          <a:ext cx="3048000" cy="4165828"/>
        </p:xfrm>
        <a:graphic>
          <a:graphicData uri="http://schemas.openxmlformats.org/drawingml/2006/table">
            <a:tbl>
              <a:tblPr firstRow="1" bandRow="1">
                <a:tableStyleId>{073A0DAA-6AF3-43AB-8588-CEC1D06C72B9}</a:tableStyleId>
              </a:tblPr>
              <a:tblGrid>
                <a:gridCol w="1549400">
                  <a:extLst>
                    <a:ext uri="{9D8B030D-6E8A-4147-A177-3AD203B41FA5}">
                      <a16:colId xmlns:a16="http://schemas.microsoft.com/office/drawing/2014/main" val="20000"/>
                    </a:ext>
                  </a:extLst>
                </a:gridCol>
                <a:gridCol w="1498600">
                  <a:extLst>
                    <a:ext uri="{9D8B030D-6E8A-4147-A177-3AD203B41FA5}">
                      <a16:colId xmlns:a16="http://schemas.microsoft.com/office/drawing/2014/main" val="20001"/>
                    </a:ext>
                  </a:extLst>
                </a:gridCol>
              </a:tblGrid>
              <a:tr h="391889">
                <a:tc>
                  <a:txBody>
                    <a:bodyPr/>
                    <a:lstStyle/>
                    <a:p>
                      <a:pPr algn="ctr"/>
                      <a:r>
                        <a:rPr lang="en-US" dirty="0"/>
                        <a:t>Particulars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91889">
                <a:tc>
                  <a:txBody>
                    <a:bodyPr/>
                    <a:lstStyle/>
                    <a:p>
                      <a:pPr algn="ctr"/>
                      <a:r>
                        <a:rPr lang="en-US" dirty="0"/>
                        <a:t>Annual Salary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7,50,000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76410">
                <a:tc>
                  <a:txBody>
                    <a:bodyPr/>
                    <a:lstStyle/>
                    <a:p>
                      <a:pPr algn="ctr"/>
                      <a:r>
                        <a:rPr lang="en-US" dirty="0"/>
                        <a:t>Deductions (80C:</a:t>
                      </a:r>
                      <a:r>
                        <a:rPr lang="en-US" baseline="0" dirty="0"/>
                        <a:t> LIC, PF)</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76410">
                <a:tc>
                  <a:txBody>
                    <a:bodyPr/>
                    <a:lstStyle/>
                    <a:p>
                      <a:pPr algn="ctr"/>
                      <a:r>
                        <a:rPr lang="en-US" dirty="0"/>
                        <a:t>80D: Medical Insurance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76410">
                <a:tc>
                  <a:txBody>
                    <a:bodyPr/>
                    <a:lstStyle/>
                    <a:p>
                      <a:pPr algn="ctr"/>
                      <a:r>
                        <a:rPr lang="en-US" dirty="0"/>
                        <a:t>Standard</a:t>
                      </a:r>
                      <a:r>
                        <a:rPr lang="en-US" baseline="0" dirty="0"/>
                        <a:t> Deduction</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76410">
                <a:tc>
                  <a:txBody>
                    <a:bodyPr/>
                    <a:lstStyle/>
                    <a:p>
                      <a:pPr algn="ctr"/>
                      <a:r>
                        <a:rPr lang="en-US" b="1" dirty="0"/>
                        <a:t>Total Deduction</a:t>
                      </a:r>
                      <a:r>
                        <a:rPr lang="en-US" b="1" baseline="0" dirty="0"/>
                        <a:t> </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2,25,000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676410">
                <a:tc>
                  <a:txBody>
                    <a:bodyPr/>
                    <a:lstStyle/>
                    <a:p>
                      <a:pPr algn="ctr"/>
                      <a:r>
                        <a:rPr lang="en-US" b="1" u="none" dirty="0"/>
                        <a:t>Taxable Income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u="sng" dirty="0"/>
                        <a:t>5,25,000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987058594"/>
              </p:ext>
            </p:extLst>
          </p:nvPr>
        </p:nvGraphicFramePr>
        <p:xfrm>
          <a:off x="4357640" y="1698781"/>
          <a:ext cx="6432551" cy="4171953"/>
        </p:xfrm>
        <a:graphic>
          <a:graphicData uri="http://schemas.openxmlformats.org/drawingml/2006/table">
            <a:tbl>
              <a:tblPr firstRow="1" bandRow="1">
                <a:tableStyleId>{073A0DAA-6AF3-43AB-8588-CEC1D06C72B9}</a:tableStyleId>
              </a:tblPr>
              <a:tblGrid>
                <a:gridCol w="2485009">
                  <a:extLst>
                    <a:ext uri="{9D8B030D-6E8A-4147-A177-3AD203B41FA5}">
                      <a16:colId xmlns:a16="http://schemas.microsoft.com/office/drawing/2014/main" val="20000"/>
                    </a:ext>
                  </a:extLst>
                </a:gridCol>
                <a:gridCol w="711852">
                  <a:extLst>
                    <a:ext uri="{9D8B030D-6E8A-4147-A177-3AD203B41FA5}">
                      <a16:colId xmlns:a16="http://schemas.microsoft.com/office/drawing/2014/main" val="20001"/>
                    </a:ext>
                  </a:extLst>
                </a:gridCol>
                <a:gridCol w="2148498">
                  <a:extLst>
                    <a:ext uri="{9D8B030D-6E8A-4147-A177-3AD203B41FA5}">
                      <a16:colId xmlns:a16="http://schemas.microsoft.com/office/drawing/2014/main" val="20002"/>
                    </a:ext>
                  </a:extLst>
                </a:gridCol>
                <a:gridCol w="1087192">
                  <a:extLst>
                    <a:ext uri="{9D8B030D-6E8A-4147-A177-3AD203B41FA5}">
                      <a16:colId xmlns:a16="http://schemas.microsoft.com/office/drawing/2014/main" val="20003"/>
                    </a:ext>
                  </a:extLst>
                </a:gridCol>
              </a:tblGrid>
              <a:tr h="692277">
                <a:tc>
                  <a:txBody>
                    <a:bodyPr/>
                    <a:lstStyle/>
                    <a:p>
                      <a:pPr algn="ctr"/>
                      <a:r>
                        <a:rPr lang="en-US" dirty="0"/>
                        <a:t>Range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Taxable 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01081">
                <a:tc>
                  <a:txBody>
                    <a:bodyPr/>
                    <a:lstStyle/>
                    <a:p>
                      <a:pPr algn="ctr"/>
                      <a:r>
                        <a:rPr lang="en-US" dirty="0"/>
                        <a:t>Up to 2,50,000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01081">
                <a:tc>
                  <a:txBody>
                    <a:bodyPr/>
                    <a:lstStyle/>
                    <a:p>
                      <a:pPr algn="ctr"/>
                      <a:r>
                        <a:rPr lang="en-US" dirty="0"/>
                        <a:t>2,50,001</a:t>
                      </a:r>
                      <a:r>
                        <a:rPr lang="en-US" baseline="0" dirty="0"/>
                        <a:t> – 5,00,000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59311">
                <a:tc>
                  <a:txBody>
                    <a:bodyPr/>
                    <a:lstStyle/>
                    <a:p>
                      <a:pPr algn="ctr"/>
                      <a:r>
                        <a:rPr lang="en-US" dirty="0"/>
                        <a:t>5,00,001</a:t>
                      </a:r>
                      <a:r>
                        <a:rPr lang="en-US" baseline="0" dirty="0"/>
                        <a:t> – 10,00,000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25,000</a:t>
                      </a:r>
                    </a:p>
                    <a:p>
                      <a:pPr algn="just"/>
                      <a:r>
                        <a:rPr lang="en-US" sz="1600" dirty="0"/>
                        <a:t>(5,25,000</a:t>
                      </a:r>
                      <a:r>
                        <a:rPr lang="en-US" sz="1600" baseline="0" dirty="0"/>
                        <a:t> - 5,00,000</a:t>
                      </a:r>
                      <a:r>
                        <a:rPr lang="en-US" sz="16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01081">
                <a:tc>
                  <a:txBody>
                    <a:bodyPr/>
                    <a:lstStyle/>
                    <a:p>
                      <a:pPr algn="ctr"/>
                      <a:r>
                        <a:rPr lang="en-US" baseline="0" dirty="0"/>
                        <a:t>Above 10,00,000 </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01081">
                <a:tc gridSpan="3">
                  <a:txBody>
                    <a:bodyPr/>
                    <a:lstStyle/>
                    <a:p>
                      <a:pPr algn="ctr"/>
                      <a:r>
                        <a:rPr lang="en-US" b="1" dirty="0"/>
                        <a:t>Tax 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nchor="ctr"/>
                </a:tc>
                <a:tc hMerge="1">
                  <a:txBody>
                    <a:bodyPr/>
                    <a:lstStyle/>
                    <a:p>
                      <a:pPr algn="ctr"/>
                      <a:endParaRPr lang="en-US" dirty="0"/>
                    </a:p>
                  </a:txBody>
                  <a:tcPr anchor="ctr"/>
                </a:tc>
                <a:tc>
                  <a:txBody>
                    <a:bodyPr/>
                    <a:lstStyle/>
                    <a:p>
                      <a:pPr algn="ctr"/>
                      <a:r>
                        <a:rPr lang="en-US" b="1" dirty="0"/>
                        <a:t>17,500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01081">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Rebate u/s 87A</a:t>
                      </a:r>
                      <a:r>
                        <a:rPr lang="en-US" baseline="0" dirty="0"/>
                        <a:t> (if Taxable Income &lt; 5,00,000)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algn="ctr"/>
                      <a:r>
                        <a:rPr lang="en-US"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401081">
                <a:tc gridSpan="3">
                  <a:txBody>
                    <a:bodyPr/>
                    <a:lstStyle/>
                    <a:p>
                      <a:pPr algn="ctr"/>
                      <a:r>
                        <a:rPr lang="en-US" dirty="0"/>
                        <a:t> (+) Health and Education Cess</a:t>
                      </a:r>
                      <a:r>
                        <a:rPr lang="en-US" baseline="0" dirty="0"/>
                        <a:t> (4%)</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algn="ctr"/>
                      <a:r>
                        <a:rPr lang="en-US" dirty="0"/>
                        <a:t>700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413879">
                <a:tc gridSpan="3">
                  <a:txBody>
                    <a:bodyPr/>
                    <a:lstStyle/>
                    <a:p>
                      <a:pPr algn="ctr"/>
                      <a:r>
                        <a:rPr lang="en-US" sz="2000" b="1" dirty="0"/>
                        <a:t>Total Payable Tax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algn="ctr"/>
                      <a:r>
                        <a:rPr lang="en-US" sz="2000" b="1" u="sng" dirty="0"/>
                        <a:t>18,200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1423077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295400" y="330200"/>
            <a:ext cx="9601200" cy="3581400"/>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ctr">
              <a:buFont typeface="Franklin Gothic Book" panose="020B0503020102020204" pitchFamily="34" charset="0"/>
              <a:buNone/>
            </a:pPr>
            <a:r>
              <a:rPr lang="en-US" b="1" u="sng">
                <a:latin typeface="Times New Roman" panose="02020603050405020304" pitchFamily="18" charset="0"/>
                <a:cs typeface="Times New Roman" panose="02020603050405020304" pitchFamily="18" charset="0"/>
              </a:rPr>
              <a:t>Tax calculation as per New Tax Slab</a:t>
            </a:r>
            <a:endParaRPr lang="en-US" b="1" u="sng"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nvGraphicFramePr>
        <p:xfrm>
          <a:off x="1295400" y="923667"/>
          <a:ext cx="3035299" cy="4384930"/>
        </p:xfrm>
        <a:graphic>
          <a:graphicData uri="http://schemas.openxmlformats.org/drawingml/2006/table">
            <a:tbl>
              <a:tblPr firstRow="1" bandRow="1">
                <a:tableStyleId>{073A0DAA-6AF3-43AB-8588-CEC1D06C72B9}</a:tableStyleId>
              </a:tblPr>
              <a:tblGrid>
                <a:gridCol w="1542943">
                  <a:extLst>
                    <a:ext uri="{9D8B030D-6E8A-4147-A177-3AD203B41FA5}">
                      <a16:colId xmlns:a16="http://schemas.microsoft.com/office/drawing/2014/main" val="20000"/>
                    </a:ext>
                  </a:extLst>
                </a:gridCol>
                <a:gridCol w="1492356">
                  <a:extLst>
                    <a:ext uri="{9D8B030D-6E8A-4147-A177-3AD203B41FA5}">
                      <a16:colId xmlns:a16="http://schemas.microsoft.com/office/drawing/2014/main" val="20001"/>
                    </a:ext>
                  </a:extLst>
                </a:gridCol>
              </a:tblGrid>
              <a:tr h="487215">
                <a:tc>
                  <a:txBody>
                    <a:bodyPr/>
                    <a:lstStyle/>
                    <a:p>
                      <a:pPr algn="ctr"/>
                      <a:r>
                        <a:rPr lang="en-US" dirty="0"/>
                        <a:t>Particulars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87215">
                <a:tc>
                  <a:txBody>
                    <a:bodyPr/>
                    <a:lstStyle/>
                    <a:p>
                      <a:pPr algn="ctr"/>
                      <a:r>
                        <a:rPr lang="en-US" dirty="0"/>
                        <a:t>Annual Salary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7,50,000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852625">
                <a:tc>
                  <a:txBody>
                    <a:bodyPr/>
                    <a:lstStyle/>
                    <a:p>
                      <a:pPr algn="ctr"/>
                      <a:r>
                        <a:rPr lang="en-US" dirty="0"/>
                        <a:t>Deductions (80C,80D)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Not</a:t>
                      </a:r>
                      <a:r>
                        <a:rPr lang="en-US" baseline="0" dirty="0"/>
                        <a:t> Allowed</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52625">
                <a:tc>
                  <a:txBody>
                    <a:bodyPr/>
                    <a:lstStyle/>
                    <a:p>
                      <a:pPr algn="ctr"/>
                      <a:r>
                        <a:rPr lang="en-US" dirty="0"/>
                        <a:t>Standard</a:t>
                      </a:r>
                      <a:r>
                        <a:rPr lang="en-US" baseline="0" dirty="0"/>
                        <a:t> Deduction</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75,000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852625">
                <a:tc>
                  <a:txBody>
                    <a:bodyPr/>
                    <a:lstStyle/>
                    <a:p>
                      <a:pPr algn="ctr"/>
                      <a:r>
                        <a:rPr lang="en-US" b="1" dirty="0"/>
                        <a:t>Total Deduction</a:t>
                      </a:r>
                      <a:r>
                        <a:rPr lang="en-US" b="1" baseline="0" dirty="0"/>
                        <a:t> </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75,000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852625">
                <a:tc>
                  <a:txBody>
                    <a:bodyPr/>
                    <a:lstStyle/>
                    <a:p>
                      <a:pPr algn="ctr"/>
                      <a:r>
                        <a:rPr lang="en-US" b="1" dirty="0"/>
                        <a:t>Taxable Income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u="sng" dirty="0"/>
                        <a:t>6,75,000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6" name="Table 5"/>
          <p:cNvGraphicFramePr>
            <a:graphicFrameLocks noGrp="1"/>
          </p:cNvGraphicFramePr>
          <p:nvPr/>
        </p:nvGraphicFramePr>
        <p:xfrm>
          <a:off x="4457701" y="923667"/>
          <a:ext cx="6845299" cy="4529952"/>
        </p:xfrm>
        <a:graphic>
          <a:graphicData uri="http://schemas.openxmlformats.org/drawingml/2006/table">
            <a:tbl>
              <a:tblPr firstRow="1" bandRow="1">
                <a:tableStyleId>{073A0DAA-6AF3-43AB-8588-CEC1D06C72B9}</a:tableStyleId>
              </a:tblPr>
              <a:tblGrid>
                <a:gridCol w="2644462">
                  <a:extLst>
                    <a:ext uri="{9D8B030D-6E8A-4147-A177-3AD203B41FA5}">
                      <a16:colId xmlns:a16="http://schemas.microsoft.com/office/drawing/2014/main" val="20000"/>
                    </a:ext>
                  </a:extLst>
                </a:gridCol>
                <a:gridCol w="757529">
                  <a:extLst>
                    <a:ext uri="{9D8B030D-6E8A-4147-A177-3AD203B41FA5}">
                      <a16:colId xmlns:a16="http://schemas.microsoft.com/office/drawing/2014/main" val="20001"/>
                    </a:ext>
                  </a:extLst>
                </a:gridCol>
                <a:gridCol w="2160608">
                  <a:extLst>
                    <a:ext uri="{9D8B030D-6E8A-4147-A177-3AD203B41FA5}">
                      <a16:colId xmlns:a16="http://schemas.microsoft.com/office/drawing/2014/main" val="20002"/>
                    </a:ext>
                  </a:extLst>
                </a:gridCol>
                <a:gridCol w="1282700">
                  <a:extLst>
                    <a:ext uri="{9D8B030D-6E8A-4147-A177-3AD203B41FA5}">
                      <a16:colId xmlns:a16="http://schemas.microsoft.com/office/drawing/2014/main" val="20003"/>
                    </a:ext>
                  </a:extLst>
                </a:gridCol>
              </a:tblGrid>
              <a:tr h="675473">
                <a:tc>
                  <a:txBody>
                    <a:bodyPr/>
                    <a:lstStyle/>
                    <a:p>
                      <a:pPr algn="ctr"/>
                      <a:r>
                        <a:rPr lang="en-US" dirty="0"/>
                        <a:t>Range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Taxable 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97141">
                <a:tc>
                  <a:txBody>
                    <a:bodyPr/>
                    <a:lstStyle/>
                    <a:p>
                      <a:pPr algn="ctr"/>
                      <a:r>
                        <a:rPr lang="en-US" dirty="0"/>
                        <a:t>Up to 3,00,000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91579">
                <a:tc>
                  <a:txBody>
                    <a:bodyPr/>
                    <a:lstStyle/>
                    <a:p>
                      <a:pPr algn="ctr"/>
                      <a:r>
                        <a:rPr lang="en-US" dirty="0"/>
                        <a:t>3,00,001</a:t>
                      </a:r>
                      <a:r>
                        <a:rPr lang="en-US" baseline="0" dirty="0"/>
                        <a:t> – 7,00,000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3,75,000</a:t>
                      </a:r>
                    </a:p>
                    <a:p>
                      <a:pPr algn="ctr"/>
                      <a:r>
                        <a:rPr lang="en-US" sz="1600" dirty="0"/>
                        <a:t>(6,75,000</a:t>
                      </a:r>
                      <a:r>
                        <a:rPr lang="en-US" sz="1600" baseline="0" dirty="0"/>
                        <a:t> – 3,00,000)</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18,750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43884">
                <a:tc>
                  <a:txBody>
                    <a:bodyPr/>
                    <a:lstStyle/>
                    <a:p>
                      <a:pPr algn="ctr"/>
                      <a:r>
                        <a:rPr lang="en-US" dirty="0"/>
                        <a:t>7,00,001</a:t>
                      </a:r>
                      <a:r>
                        <a:rPr lang="en-US" baseline="0" dirty="0"/>
                        <a:t> – 10,00,000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97141">
                <a:tc>
                  <a:txBody>
                    <a:bodyPr/>
                    <a:lstStyle/>
                    <a:p>
                      <a:pPr algn="ctr"/>
                      <a:r>
                        <a:rPr lang="en-US" baseline="0" dirty="0"/>
                        <a:t>10,00,001 – 12,00,000 </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97141">
                <a:tc>
                  <a:txBody>
                    <a:bodyPr/>
                    <a:lstStyle/>
                    <a:p>
                      <a:pPr algn="ctr"/>
                      <a:r>
                        <a:rPr lang="en-US" dirty="0"/>
                        <a:t>12,00,001 – 15,00,000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97141">
                <a:tc>
                  <a:txBody>
                    <a:bodyPr/>
                    <a:lstStyle/>
                    <a:p>
                      <a:pPr algn="ctr"/>
                      <a:r>
                        <a:rPr lang="en-US" dirty="0"/>
                        <a:t>Above 15,00,000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97141">
                <a:tc gridSpan="3">
                  <a:txBody>
                    <a:bodyPr/>
                    <a:lstStyle/>
                    <a:p>
                      <a:pPr algn="ctr"/>
                      <a:r>
                        <a:rPr lang="en-US" b="1" dirty="0"/>
                        <a:t>Tax 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nchor="ctr"/>
                </a:tc>
                <a:tc hMerge="1">
                  <a:txBody>
                    <a:bodyPr/>
                    <a:lstStyle/>
                    <a:p>
                      <a:pPr algn="ctr"/>
                      <a:endParaRPr lang="en-US" dirty="0"/>
                    </a:p>
                  </a:txBody>
                  <a:tcPr anchor="ctr"/>
                </a:tc>
                <a:tc>
                  <a:txBody>
                    <a:bodyPr/>
                    <a:lstStyle/>
                    <a:p>
                      <a:pPr algn="ctr"/>
                      <a:r>
                        <a:rPr lang="en-US" b="1" dirty="0"/>
                        <a:t>18,750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97141">
                <a:tc gridSpan="3">
                  <a:txBody>
                    <a:bodyPr/>
                    <a:lstStyle/>
                    <a:p>
                      <a:pPr algn="ctr"/>
                      <a:r>
                        <a:rPr lang="en-US" dirty="0"/>
                        <a:t>Rebate u/s 87A</a:t>
                      </a:r>
                      <a:r>
                        <a:rPr lang="en-US" baseline="0" dirty="0"/>
                        <a:t> (if Taxable Income &lt; 7,00,000)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algn="ctr"/>
                      <a:r>
                        <a:rPr lang="en-US" dirty="0"/>
                        <a:t>25,000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418149">
                <a:tc gridSpan="3">
                  <a:txBody>
                    <a:bodyPr/>
                    <a:lstStyle/>
                    <a:p>
                      <a:pPr algn="ctr"/>
                      <a:r>
                        <a:rPr lang="en-US" sz="2000" b="1" dirty="0"/>
                        <a:t>Total Payable Tax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algn="ctr"/>
                      <a:r>
                        <a:rPr lang="en-US" sz="2000" b="1" u="sng"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graphicFrame>
        <p:nvGraphicFramePr>
          <p:cNvPr id="7" name="Table 6"/>
          <p:cNvGraphicFramePr>
            <a:graphicFrameLocks noGrp="1"/>
          </p:cNvGraphicFramePr>
          <p:nvPr/>
        </p:nvGraphicFramePr>
        <p:xfrm>
          <a:off x="1117600" y="5711564"/>
          <a:ext cx="10452100" cy="741680"/>
        </p:xfrm>
        <a:graphic>
          <a:graphicData uri="http://schemas.openxmlformats.org/drawingml/2006/table">
            <a:tbl>
              <a:tblPr firstRow="1" bandRow="1">
                <a:tableStyleId>{2D5ABB26-0587-4C30-8999-92F81FD0307C}</a:tableStyleId>
              </a:tblPr>
              <a:tblGrid>
                <a:gridCol w="2215103">
                  <a:extLst>
                    <a:ext uri="{9D8B030D-6E8A-4147-A177-3AD203B41FA5}">
                      <a16:colId xmlns:a16="http://schemas.microsoft.com/office/drawing/2014/main" val="20000"/>
                    </a:ext>
                  </a:extLst>
                </a:gridCol>
                <a:gridCol w="1008070">
                  <a:extLst>
                    <a:ext uri="{9D8B030D-6E8A-4147-A177-3AD203B41FA5}">
                      <a16:colId xmlns:a16="http://schemas.microsoft.com/office/drawing/2014/main" val="20001"/>
                    </a:ext>
                  </a:extLst>
                </a:gridCol>
                <a:gridCol w="7228927">
                  <a:extLst>
                    <a:ext uri="{9D8B030D-6E8A-4147-A177-3AD203B41FA5}">
                      <a16:colId xmlns:a16="http://schemas.microsoft.com/office/drawing/2014/main" val="20002"/>
                    </a:ext>
                  </a:extLst>
                </a:gridCol>
              </a:tblGrid>
              <a:tr h="370840">
                <a:tc>
                  <a:txBody>
                    <a:bodyPr/>
                    <a:lstStyle/>
                    <a:p>
                      <a:pPr algn="ctr"/>
                      <a:r>
                        <a:rPr lang="en-US" b="1" dirty="0">
                          <a:latin typeface="Times New Roman" panose="02020603050405020304" pitchFamily="18" charset="0"/>
                          <a:cs typeface="Times New Roman" panose="02020603050405020304" pitchFamily="18" charset="0"/>
                        </a:rPr>
                        <a:t>Tax as per Old Slab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latin typeface="Times New Roman" panose="02020603050405020304" pitchFamily="18" charset="0"/>
                          <a:cs typeface="Times New Roman" panose="02020603050405020304" pitchFamily="18" charset="0"/>
                        </a:rPr>
                        <a:t>18,200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n-US" b="1" dirty="0">
                          <a:latin typeface="Times New Roman" panose="02020603050405020304" pitchFamily="18" charset="0"/>
                          <a:cs typeface="Times New Roman" panose="02020603050405020304" pitchFamily="18" charset="0"/>
                        </a:rPr>
                        <a:t>Here we can see that the Total</a:t>
                      </a:r>
                      <a:r>
                        <a:rPr lang="en-US" b="1" baseline="0" dirty="0">
                          <a:latin typeface="Times New Roman" panose="02020603050405020304" pitchFamily="18" charset="0"/>
                          <a:cs typeface="Times New Roman" panose="02020603050405020304" pitchFamily="18" charset="0"/>
                        </a:rPr>
                        <a:t> Tax as per New Tax Slab is Zero, </a:t>
                      </a:r>
                    </a:p>
                    <a:p>
                      <a:pPr algn="ctr"/>
                      <a:r>
                        <a:rPr lang="en-US" b="1" baseline="0" dirty="0">
                          <a:latin typeface="Times New Roman" panose="02020603050405020304" pitchFamily="18" charset="0"/>
                          <a:cs typeface="Times New Roman" panose="02020603050405020304" pitchFamily="18" charset="0"/>
                        </a:rPr>
                        <a:t>So here we can recommend Mr. B to opt for New Tax Slab</a:t>
                      </a:r>
                      <a:endParaRPr 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370840">
                <a:tc>
                  <a:txBody>
                    <a:bodyPr/>
                    <a:lstStyle/>
                    <a:p>
                      <a:pPr algn="ctr"/>
                      <a:r>
                        <a:rPr lang="en-US" b="1" dirty="0">
                          <a:latin typeface="Times New Roman" panose="02020603050405020304" pitchFamily="18" charset="0"/>
                          <a:cs typeface="Times New Roman" panose="02020603050405020304" pitchFamily="18" charset="0"/>
                        </a:rPr>
                        <a:t>Tax as per New Slab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8602191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a:bodyPr>
          <a:lstStyle/>
          <a:p>
            <a:pPr marL="0" indent="0" algn="just">
              <a:buNone/>
            </a:pPr>
            <a:r>
              <a:rPr lang="en-US" dirty="0">
                <a:cs typeface="Times New Roman" panose="02020603050405020304" pitchFamily="18" charset="0"/>
              </a:rPr>
              <a:t>Anjali is working part-time as an assistant and earns ₹ 6 lakh annually. She saves via PPF and pays health insurance. The details are..</a:t>
            </a:r>
          </a:p>
          <a:p>
            <a:pPr algn="just"/>
            <a:r>
              <a:rPr lang="en-US" dirty="0">
                <a:cs typeface="Times New Roman" panose="02020603050405020304" pitchFamily="18" charset="0"/>
              </a:rPr>
              <a:t>Annual Income: 6,00,000</a:t>
            </a:r>
          </a:p>
          <a:p>
            <a:pPr algn="just"/>
            <a:r>
              <a:rPr lang="en-US" dirty="0">
                <a:cs typeface="Times New Roman" panose="02020603050405020304" pitchFamily="18" charset="0"/>
              </a:rPr>
              <a:t>PPF: 1,00,000 (80C)</a:t>
            </a:r>
          </a:p>
          <a:p>
            <a:pPr algn="just"/>
            <a:r>
              <a:rPr lang="en-US" dirty="0">
                <a:cs typeface="Times New Roman" panose="02020603050405020304" pitchFamily="18" charset="0"/>
              </a:rPr>
              <a:t>Health Insurance: 20,000 (80D)</a:t>
            </a:r>
          </a:p>
          <a:p>
            <a:pPr algn="just"/>
            <a:endParaRPr lang="en-US" sz="2000" dirty="0">
              <a:cs typeface="Times New Roman" panose="02020603050405020304" pitchFamily="18" charset="0"/>
            </a:endParaRPr>
          </a:p>
        </p:txBody>
      </p:sp>
      <p:sp>
        <p:nvSpPr>
          <p:cNvPr id="2" name="Title 1">
            <a:extLst>
              <a:ext uri="{FF2B5EF4-FFF2-40B4-BE49-F238E27FC236}">
                <a16:creationId xmlns:a16="http://schemas.microsoft.com/office/drawing/2014/main" id="{C3A1AE60-C9FF-2A5A-9104-62296B5C0717}"/>
              </a:ext>
            </a:extLst>
          </p:cNvPr>
          <p:cNvSpPr>
            <a:spLocks noGrp="1"/>
          </p:cNvSpPr>
          <p:nvPr>
            <p:ph type="title"/>
          </p:nvPr>
        </p:nvSpPr>
        <p:spPr/>
        <p:txBody>
          <a:bodyPr/>
          <a:lstStyle/>
          <a:p>
            <a:r>
              <a:rPr lang="en-US" dirty="0">
                <a:cs typeface="Times New Roman" panose="02020603050405020304" pitchFamily="18" charset="0"/>
              </a:rPr>
              <a:t>Example 03</a:t>
            </a:r>
            <a:endParaRPr lang="en-US" dirty="0"/>
          </a:p>
        </p:txBody>
      </p:sp>
    </p:spTree>
    <p:extLst>
      <p:ext uri="{BB962C8B-B14F-4D97-AF65-F5344CB8AC3E}">
        <p14:creationId xmlns:p14="http://schemas.microsoft.com/office/powerpoint/2010/main" val="41263352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30696" y="0"/>
            <a:ext cx="10515600" cy="1325563"/>
          </a:xfrm>
        </p:spPr>
        <p:txBody>
          <a:bodyPr>
            <a:normAutofit/>
          </a:bodyPr>
          <a:lstStyle/>
          <a:p>
            <a:pPr algn="ctr"/>
            <a:r>
              <a:rPr lang="en-US" sz="2800" b="1" u="sng" dirty="0">
                <a:latin typeface="Times New Roman" panose="02020603050405020304" pitchFamily="18" charset="0"/>
                <a:cs typeface="Times New Roman" panose="02020603050405020304" pitchFamily="18" charset="0"/>
              </a:rPr>
              <a:t>Tax Calculation as per Old Slab:</a:t>
            </a:r>
          </a:p>
        </p:txBody>
      </p:sp>
      <p:graphicFrame>
        <p:nvGraphicFramePr>
          <p:cNvPr id="4" name="Table 3"/>
          <p:cNvGraphicFramePr>
            <a:graphicFrameLocks noGrp="1"/>
          </p:cNvGraphicFramePr>
          <p:nvPr>
            <p:extLst>
              <p:ext uri="{D42A27DB-BD31-4B8C-83A1-F6EECF244321}">
                <p14:modId xmlns:p14="http://schemas.microsoft.com/office/powerpoint/2010/main" val="4140807357"/>
              </p:ext>
            </p:extLst>
          </p:nvPr>
        </p:nvGraphicFramePr>
        <p:xfrm>
          <a:off x="838200" y="1255653"/>
          <a:ext cx="3554895" cy="4486175"/>
        </p:xfrm>
        <a:graphic>
          <a:graphicData uri="http://schemas.openxmlformats.org/drawingml/2006/table">
            <a:tbl>
              <a:tblPr firstRow="1" bandRow="1">
                <a:tableStyleId>{073A0DAA-6AF3-43AB-8588-CEC1D06C72B9}</a:tableStyleId>
              </a:tblPr>
              <a:tblGrid>
                <a:gridCol w="1807072">
                  <a:extLst>
                    <a:ext uri="{9D8B030D-6E8A-4147-A177-3AD203B41FA5}">
                      <a16:colId xmlns:a16="http://schemas.microsoft.com/office/drawing/2014/main" val="20000"/>
                    </a:ext>
                  </a:extLst>
                </a:gridCol>
                <a:gridCol w="1747823">
                  <a:extLst>
                    <a:ext uri="{9D8B030D-6E8A-4147-A177-3AD203B41FA5}">
                      <a16:colId xmlns:a16="http://schemas.microsoft.com/office/drawing/2014/main" val="20001"/>
                    </a:ext>
                  </a:extLst>
                </a:gridCol>
              </a:tblGrid>
              <a:tr h="422025">
                <a:tc>
                  <a:txBody>
                    <a:bodyPr/>
                    <a:lstStyle/>
                    <a:p>
                      <a:pPr algn="ctr"/>
                      <a:r>
                        <a:rPr lang="en-US" dirty="0"/>
                        <a:t>Particulars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22025">
                <a:tc>
                  <a:txBody>
                    <a:bodyPr/>
                    <a:lstStyle/>
                    <a:p>
                      <a:pPr algn="ctr"/>
                      <a:r>
                        <a:rPr lang="en-US" dirty="0"/>
                        <a:t>Annual Salary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6,00,000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28425">
                <a:tc>
                  <a:txBody>
                    <a:bodyPr/>
                    <a:lstStyle/>
                    <a:p>
                      <a:pPr algn="ctr"/>
                      <a:r>
                        <a:rPr lang="en-US" dirty="0"/>
                        <a:t>Deductions </a:t>
                      </a:r>
                    </a:p>
                    <a:p>
                      <a:pPr algn="ctr"/>
                      <a:r>
                        <a:rPr lang="en-US" dirty="0"/>
                        <a:t>(80C: PPF)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28425">
                <a:tc>
                  <a:txBody>
                    <a:bodyPr/>
                    <a:lstStyle/>
                    <a:p>
                      <a:pPr algn="ctr"/>
                      <a:r>
                        <a:rPr lang="en-US" dirty="0"/>
                        <a:t>Deductions </a:t>
                      </a:r>
                    </a:p>
                    <a:p>
                      <a:pPr algn="ctr"/>
                      <a:r>
                        <a:rPr lang="en-US" dirty="0"/>
                        <a:t>(80D: Insurance)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728425">
                <a:tc>
                  <a:txBody>
                    <a:bodyPr/>
                    <a:lstStyle/>
                    <a:p>
                      <a:pPr algn="ctr"/>
                      <a:r>
                        <a:rPr lang="en-US" dirty="0"/>
                        <a:t>Standard</a:t>
                      </a:r>
                      <a:r>
                        <a:rPr lang="en-US" baseline="0" dirty="0"/>
                        <a:t> Deduction</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728425">
                <a:tc>
                  <a:txBody>
                    <a:bodyPr/>
                    <a:lstStyle/>
                    <a:p>
                      <a:pPr algn="ctr"/>
                      <a:r>
                        <a:rPr lang="en-US" b="1" dirty="0"/>
                        <a:t>Total Deduction</a:t>
                      </a:r>
                      <a:r>
                        <a:rPr lang="en-US" b="1" baseline="0" dirty="0"/>
                        <a:t> </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1,70,000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728425">
                <a:tc>
                  <a:txBody>
                    <a:bodyPr/>
                    <a:lstStyle/>
                    <a:p>
                      <a:pPr algn="ctr"/>
                      <a:r>
                        <a:rPr lang="en-US" b="1" u="none" dirty="0"/>
                        <a:t>Taxable Income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u="sng" dirty="0"/>
                        <a:t>4,30,000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577374222"/>
              </p:ext>
            </p:extLst>
          </p:nvPr>
        </p:nvGraphicFramePr>
        <p:xfrm>
          <a:off x="4513745" y="1249523"/>
          <a:ext cx="6432551" cy="4492306"/>
        </p:xfrm>
        <a:graphic>
          <a:graphicData uri="http://schemas.openxmlformats.org/drawingml/2006/table">
            <a:tbl>
              <a:tblPr firstRow="1" bandRow="1">
                <a:tableStyleId>{073A0DAA-6AF3-43AB-8588-CEC1D06C72B9}</a:tableStyleId>
              </a:tblPr>
              <a:tblGrid>
                <a:gridCol w="2485009">
                  <a:extLst>
                    <a:ext uri="{9D8B030D-6E8A-4147-A177-3AD203B41FA5}">
                      <a16:colId xmlns:a16="http://schemas.microsoft.com/office/drawing/2014/main" val="20000"/>
                    </a:ext>
                  </a:extLst>
                </a:gridCol>
                <a:gridCol w="711852">
                  <a:extLst>
                    <a:ext uri="{9D8B030D-6E8A-4147-A177-3AD203B41FA5}">
                      <a16:colId xmlns:a16="http://schemas.microsoft.com/office/drawing/2014/main" val="20001"/>
                    </a:ext>
                  </a:extLst>
                </a:gridCol>
                <a:gridCol w="2202020">
                  <a:extLst>
                    <a:ext uri="{9D8B030D-6E8A-4147-A177-3AD203B41FA5}">
                      <a16:colId xmlns:a16="http://schemas.microsoft.com/office/drawing/2014/main" val="20002"/>
                    </a:ext>
                  </a:extLst>
                </a:gridCol>
                <a:gridCol w="1033670">
                  <a:extLst>
                    <a:ext uri="{9D8B030D-6E8A-4147-A177-3AD203B41FA5}">
                      <a16:colId xmlns:a16="http://schemas.microsoft.com/office/drawing/2014/main" val="20003"/>
                    </a:ext>
                  </a:extLst>
                </a:gridCol>
              </a:tblGrid>
              <a:tr h="852901">
                <a:tc>
                  <a:txBody>
                    <a:bodyPr/>
                    <a:lstStyle/>
                    <a:p>
                      <a:pPr algn="ctr"/>
                      <a:r>
                        <a:rPr lang="en-US" dirty="0"/>
                        <a:t>Range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Taxable 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94140">
                <a:tc>
                  <a:txBody>
                    <a:bodyPr/>
                    <a:lstStyle/>
                    <a:p>
                      <a:pPr algn="ctr"/>
                      <a:r>
                        <a:rPr lang="en-US" dirty="0"/>
                        <a:t>Up to 2,50,000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94140">
                <a:tc>
                  <a:txBody>
                    <a:bodyPr/>
                    <a:lstStyle/>
                    <a:p>
                      <a:pPr algn="ctr"/>
                      <a:r>
                        <a:rPr lang="en-US" dirty="0"/>
                        <a:t>2,50,001</a:t>
                      </a:r>
                      <a:r>
                        <a:rPr lang="en-US" baseline="0" dirty="0"/>
                        <a:t> – 5,00,000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1,80,000</a:t>
                      </a:r>
                    </a:p>
                    <a:p>
                      <a:pPr algn="ctr"/>
                      <a:r>
                        <a:rPr lang="en-US" dirty="0"/>
                        <a:t>(4,30,000</a:t>
                      </a:r>
                      <a:r>
                        <a:rPr lang="en-US" baseline="0" dirty="0"/>
                        <a:t> – 2,50,000</a:t>
                      </a: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9,000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12856">
                <a:tc>
                  <a:txBody>
                    <a:bodyPr/>
                    <a:lstStyle/>
                    <a:p>
                      <a:pPr algn="ctr"/>
                      <a:r>
                        <a:rPr lang="en-US" dirty="0"/>
                        <a:t>5,00,001</a:t>
                      </a:r>
                      <a:r>
                        <a:rPr lang="en-US" baseline="0" dirty="0"/>
                        <a:t> – 10,00,000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94140">
                <a:tc>
                  <a:txBody>
                    <a:bodyPr/>
                    <a:lstStyle/>
                    <a:p>
                      <a:pPr algn="ctr"/>
                      <a:r>
                        <a:rPr lang="en-US" baseline="0" dirty="0"/>
                        <a:t>Above 10,00,000 </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94140">
                <a:tc gridSpan="3">
                  <a:txBody>
                    <a:bodyPr/>
                    <a:lstStyle/>
                    <a:p>
                      <a:pPr algn="ctr"/>
                      <a:r>
                        <a:rPr lang="en-US" b="1" dirty="0"/>
                        <a:t>Tax 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nchor="ctr"/>
                </a:tc>
                <a:tc hMerge="1">
                  <a:txBody>
                    <a:bodyPr/>
                    <a:lstStyle/>
                    <a:p>
                      <a:pPr algn="ctr"/>
                      <a:endParaRPr lang="en-US" dirty="0"/>
                    </a:p>
                  </a:txBody>
                  <a:tcPr anchor="ctr"/>
                </a:tc>
                <a:tc>
                  <a:txBody>
                    <a:bodyPr/>
                    <a:lstStyle/>
                    <a:p>
                      <a:pPr algn="ctr"/>
                      <a:r>
                        <a:rPr lang="en-US" b="1" dirty="0"/>
                        <a:t>9,000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94140">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Rebate u/s 87A</a:t>
                      </a:r>
                      <a:r>
                        <a:rPr lang="en-US" baseline="0" dirty="0"/>
                        <a:t> (if Taxable Income &lt; 5,00,000)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algn="ctr"/>
                      <a:r>
                        <a:rPr lang="en-US" dirty="0"/>
                        <a:t>12,500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509909">
                <a:tc gridSpan="3">
                  <a:txBody>
                    <a:bodyPr/>
                    <a:lstStyle/>
                    <a:p>
                      <a:pPr algn="ctr"/>
                      <a:r>
                        <a:rPr lang="en-US" sz="2000" b="1" dirty="0"/>
                        <a:t>Total Payable Tax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algn="ctr"/>
                      <a:r>
                        <a:rPr lang="en-US" sz="2000" b="1" u="sng"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6536479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87400" y="0"/>
            <a:ext cx="10515600" cy="622300"/>
          </a:xfrm>
        </p:spPr>
        <p:txBody>
          <a:bodyPr>
            <a:normAutofit/>
          </a:bodyPr>
          <a:lstStyle/>
          <a:p>
            <a:pPr algn="ctr"/>
            <a:r>
              <a:rPr lang="en-US" sz="2800" b="1" u="sng" dirty="0">
                <a:latin typeface="Times New Roman" panose="02020603050405020304" pitchFamily="18" charset="0"/>
                <a:cs typeface="Times New Roman" panose="02020603050405020304" pitchFamily="18" charset="0"/>
              </a:rPr>
              <a:t>Tax Calculation as per New Slab:</a:t>
            </a:r>
          </a:p>
        </p:txBody>
      </p:sp>
      <p:graphicFrame>
        <p:nvGraphicFramePr>
          <p:cNvPr id="4" name="Table 3"/>
          <p:cNvGraphicFramePr>
            <a:graphicFrameLocks noGrp="1"/>
          </p:cNvGraphicFramePr>
          <p:nvPr>
            <p:extLst>
              <p:ext uri="{D42A27DB-BD31-4B8C-83A1-F6EECF244321}">
                <p14:modId xmlns:p14="http://schemas.microsoft.com/office/powerpoint/2010/main" val="2639479249"/>
              </p:ext>
            </p:extLst>
          </p:nvPr>
        </p:nvGraphicFramePr>
        <p:xfrm>
          <a:off x="1295400" y="722907"/>
          <a:ext cx="3035299" cy="4555190"/>
        </p:xfrm>
        <a:graphic>
          <a:graphicData uri="http://schemas.openxmlformats.org/drawingml/2006/table">
            <a:tbl>
              <a:tblPr firstRow="1" bandRow="1">
                <a:tableStyleId>{073A0DAA-6AF3-43AB-8588-CEC1D06C72B9}</a:tableStyleId>
              </a:tblPr>
              <a:tblGrid>
                <a:gridCol w="1542943">
                  <a:extLst>
                    <a:ext uri="{9D8B030D-6E8A-4147-A177-3AD203B41FA5}">
                      <a16:colId xmlns:a16="http://schemas.microsoft.com/office/drawing/2014/main" val="20000"/>
                    </a:ext>
                  </a:extLst>
                </a:gridCol>
                <a:gridCol w="1492356">
                  <a:extLst>
                    <a:ext uri="{9D8B030D-6E8A-4147-A177-3AD203B41FA5}">
                      <a16:colId xmlns:a16="http://schemas.microsoft.com/office/drawing/2014/main" val="20001"/>
                    </a:ext>
                  </a:extLst>
                </a:gridCol>
              </a:tblGrid>
              <a:tr h="506133">
                <a:tc>
                  <a:txBody>
                    <a:bodyPr/>
                    <a:lstStyle/>
                    <a:p>
                      <a:pPr algn="ctr"/>
                      <a:r>
                        <a:rPr lang="en-US" dirty="0"/>
                        <a:t>Particulars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06133">
                <a:tc>
                  <a:txBody>
                    <a:bodyPr/>
                    <a:lstStyle/>
                    <a:p>
                      <a:pPr algn="ctr"/>
                      <a:r>
                        <a:rPr lang="en-US" dirty="0"/>
                        <a:t>Annual Salary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6,00,000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885731">
                <a:tc>
                  <a:txBody>
                    <a:bodyPr/>
                    <a:lstStyle/>
                    <a:p>
                      <a:pPr algn="ctr"/>
                      <a:r>
                        <a:rPr lang="en-US" dirty="0"/>
                        <a:t>Deductions (80C,80D)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Not</a:t>
                      </a:r>
                      <a:r>
                        <a:rPr lang="en-US" baseline="0" dirty="0"/>
                        <a:t> Allowed</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85731">
                <a:tc>
                  <a:txBody>
                    <a:bodyPr/>
                    <a:lstStyle/>
                    <a:p>
                      <a:pPr algn="ctr"/>
                      <a:r>
                        <a:rPr lang="en-US" dirty="0"/>
                        <a:t>Standard</a:t>
                      </a:r>
                      <a:r>
                        <a:rPr lang="en-US" baseline="0" dirty="0"/>
                        <a:t> Deduction</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75,000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885731">
                <a:tc>
                  <a:txBody>
                    <a:bodyPr/>
                    <a:lstStyle/>
                    <a:p>
                      <a:pPr algn="ctr"/>
                      <a:r>
                        <a:rPr lang="en-US" b="1" dirty="0"/>
                        <a:t>Total Deduction</a:t>
                      </a:r>
                      <a:r>
                        <a:rPr lang="en-US" b="1" baseline="0" dirty="0"/>
                        <a:t> </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75,000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885731">
                <a:tc>
                  <a:txBody>
                    <a:bodyPr/>
                    <a:lstStyle/>
                    <a:p>
                      <a:pPr algn="ctr"/>
                      <a:r>
                        <a:rPr lang="en-US" b="1" dirty="0"/>
                        <a:t>Taxable Income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u="sng" dirty="0"/>
                        <a:t>5,25,000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659223633"/>
              </p:ext>
            </p:extLst>
          </p:nvPr>
        </p:nvGraphicFramePr>
        <p:xfrm>
          <a:off x="4457701" y="722908"/>
          <a:ext cx="6845299" cy="4555191"/>
        </p:xfrm>
        <a:graphic>
          <a:graphicData uri="http://schemas.openxmlformats.org/drawingml/2006/table">
            <a:tbl>
              <a:tblPr firstRow="1" bandRow="1">
                <a:tableStyleId>{073A0DAA-6AF3-43AB-8588-CEC1D06C72B9}</a:tableStyleId>
              </a:tblPr>
              <a:tblGrid>
                <a:gridCol w="2644462">
                  <a:extLst>
                    <a:ext uri="{9D8B030D-6E8A-4147-A177-3AD203B41FA5}">
                      <a16:colId xmlns:a16="http://schemas.microsoft.com/office/drawing/2014/main" val="20000"/>
                    </a:ext>
                  </a:extLst>
                </a:gridCol>
                <a:gridCol w="757529">
                  <a:extLst>
                    <a:ext uri="{9D8B030D-6E8A-4147-A177-3AD203B41FA5}">
                      <a16:colId xmlns:a16="http://schemas.microsoft.com/office/drawing/2014/main" val="20001"/>
                    </a:ext>
                  </a:extLst>
                </a:gridCol>
                <a:gridCol w="2211960">
                  <a:extLst>
                    <a:ext uri="{9D8B030D-6E8A-4147-A177-3AD203B41FA5}">
                      <a16:colId xmlns:a16="http://schemas.microsoft.com/office/drawing/2014/main" val="20002"/>
                    </a:ext>
                  </a:extLst>
                </a:gridCol>
                <a:gridCol w="1231348">
                  <a:extLst>
                    <a:ext uri="{9D8B030D-6E8A-4147-A177-3AD203B41FA5}">
                      <a16:colId xmlns:a16="http://schemas.microsoft.com/office/drawing/2014/main" val="20003"/>
                    </a:ext>
                  </a:extLst>
                </a:gridCol>
              </a:tblGrid>
              <a:tr h="669767">
                <a:tc>
                  <a:txBody>
                    <a:bodyPr/>
                    <a:lstStyle/>
                    <a:p>
                      <a:pPr algn="ctr"/>
                      <a:r>
                        <a:rPr lang="en-US" dirty="0"/>
                        <a:t>Range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Taxable 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93787">
                <a:tc>
                  <a:txBody>
                    <a:bodyPr/>
                    <a:lstStyle/>
                    <a:p>
                      <a:pPr algn="ctr"/>
                      <a:r>
                        <a:rPr lang="en-US" dirty="0"/>
                        <a:t>Up to 3,00,000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12779">
                <a:tc>
                  <a:txBody>
                    <a:bodyPr/>
                    <a:lstStyle/>
                    <a:p>
                      <a:pPr algn="ctr"/>
                      <a:r>
                        <a:rPr lang="en-US" dirty="0"/>
                        <a:t>3,00,001</a:t>
                      </a:r>
                      <a:r>
                        <a:rPr lang="en-US" baseline="0" dirty="0"/>
                        <a:t> – 7,00,000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2,25,000</a:t>
                      </a:r>
                    </a:p>
                    <a:p>
                      <a:pPr algn="just"/>
                      <a:r>
                        <a:rPr lang="en-US" sz="1800" dirty="0"/>
                        <a:t>(5,25,000</a:t>
                      </a:r>
                      <a:r>
                        <a:rPr lang="en-US" sz="1800" baseline="0" dirty="0"/>
                        <a:t> - 3,00,000</a:t>
                      </a:r>
                      <a:r>
                        <a:rPr lang="en-US" sz="1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11,250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95306">
                <a:tc>
                  <a:txBody>
                    <a:bodyPr/>
                    <a:lstStyle/>
                    <a:p>
                      <a:pPr algn="ctr"/>
                      <a:r>
                        <a:rPr lang="en-US" dirty="0"/>
                        <a:t>7,00,001</a:t>
                      </a:r>
                      <a:r>
                        <a:rPr lang="en-US" baseline="0" dirty="0"/>
                        <a:t> – 10,00,000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93787">
                <a:tc>
                  <a:txBody>
                    <a:bodyPr/>
                    <a:lstStyle/>
                    <a:p>
                      <a:pPr algn="ctr"/>
                      <a:r>
                        <a:rPr lang="en-US" baseline="0" dirty="0"/>
                        <a:t>10,00,001 – 12,00,000 </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93787">
                <a:tc>
                  <a:txBody>
                    <a:bodyPr/>
                    <a:lstStyle/>
                    <a:p>
                      <a:pPr algn="ctr"/>
                      <a:r>
                        <a:rPr lang="en-US" dirty="0"/>
                        <a:t>12,00,001 – 15,00,000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93787">
                <a:tc>
                  <a:txBody>
                    <a:bodyPr/>
                    <a:lstStyle/>
                    <a:p>
                      <a:pPr algn="ctr"/>
                      <a:r>
                        <a:rPr lang="en-US" dirty="0"/>
                        <a:t>Above 15,00,000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93787">
                <a:tc gridSpan="3">
                  <a:txBody>
                    <a:bodyPr/>
                    <a:lstStyle/>
                    <a:p>
                      <a:pPr algn="ctr"/>
                      <a:r>
                        <a:rPr lang="en-US" b="1" dirty="0"/>
                        <a:t>Tax 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nchor="ctr"/>
                </a:tc>
                <a:tc hMerge="1">
                  <a:txBody>
                    <a:bodyPr/>
                    <a:lstStyle/>
                    <a:p>
                      <a:pPr algn="ctr"/>
                      <a:endParaRPr lang="en-US" dirty="0"/>
                    </a:p>
                  </a:txBody>
                  <a:tcPr anchor="ctr"/>
                </a:tc>
                <a:tc>
                  <a:txBody>
                    <a:bodyPr/>
                    <a:lstStyle/>
                    <a:p>
                      <a:pPr algn="ctr"/>
                      <a:r>
                        <a:rPr lang="en-US" b="1" dirty="0"/>
                        <a:t>11,250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93787">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Rebate u/s 87A</a:t>
                      </a:r>
                      <a:r>
                        <a:rPr lang="en-US" baseline="0" dirty="0"/>
                        <a:t> (if Taxable Income &lt; 7,00,000)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algn="ctr"/>
                      <a:r>
                        <a:rPr lang="en-US" dirty="0"/>
                        <a:t>25,000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414617">
                <a:tc gridSpan="3">
                  <a:txBody>
                    <a:bodyPr/>
                    <a:lstStyle/>
                    <a:p>
                      <a:pPr algn="ctr"/>
                      <a:r>
                        <a:rPr lang="en-US" sz="2000" b="1" dirty="0"/>
                        <a:t>Total Payable Tax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algn="ctr"/>
                      <a:r>
                        <a:rPr lang="en-US" sz="2000" b="1" u="sng"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204895574"/>
              </p:ext>
            </p:extLst>
          </p:nvPr>
        </p:nvGraphicFramePr>
        <p:xfrm>
          <a:off x="1104348" y="5528814"/>
          <a:ext cx="10452100" cy="741680"/>
        </p:xfrm>
        <a:graphic>
          <a:graphicData uri="http://schemas.openxmlformats.org/drawingml/2006/table">
            <a:tbl>
              <a:tblPr firstRow="1" bandRow="1">
                <a:tableStyleId>{2D5ABB26-0587-4C30-8999-92F81FD0307C}</a:tableStyleId>
              </a:tblPr>
              <a:tblGrid>
                <a:gridCol w="2215103">
                  <a:extLst>
                    <a:ext uri="{9D8B030D-6E8A-4147-A177-3AD203B41FA5}">
                      <a16:colId xmlns:a16="http://schemas.microsoft.com/office/drawing/2014/main" val="20000"/>
                    </a:ext>
                  </a:extLst>
                </a:gridCol>
                <a:gridCol w="1008070">
                  <a:extLst>
                    <a:ext uri="{9D8B030D-6E8A-4147-A177-3AD203B41FA5}">
                      <a16:colId xmlns:a16="http://schemas.microsoft.com/office/drawing/2014/main" val="20001"/>
                    </a:ext>
                  </a:extLst>
                </a:gridCol>
                <a:gridCol w="7228927">
                  <a:extLst>
                    <a:ext uri="{9D8B030D-6E8A-4147-A177-3AD203B41FA5}">
                      <a16:colId xmlns:a16="http://schemas.microsoft.com/office/drawing/2014/main" val="20002"/>
                    </a:ext>
                  </a:extLst>
                </a:gridCol>
              </a:tblGrid>
              <a:tr h="370840">
                <a:tc>
                  <a:txBody>
                    <a:bodyPr/>
                    <a:lstStyle/>
                    <a:p>
                      <a:pPr algn="ctr"/>
                      <a:r>
                        <a:rPr lang="en-US" b="1" dirty="0">
                          <a:latin typeface="Times New Roman" panose="02020603050405020304" pitchFamily="18" charset="0"/>
                          <a:cs typeface="Times New Roman" panose="02020603050405020304" pitchFamily="18" charset="0"/>
                        </a:rPr>
                        <a:t>Tax as per Old Slab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n-US" b="1" dirty="0">
                          <a:latin typeface="Times New Roman" panose="02020603050405020304" pitchFamily="18" charset="0"/>
                          <a:cs typeface="Times New Roman" panose="02020603050405020304" pitchFamily="18" charset="0"/>
                        </a:rPr>
                        <a:t>Here we can see that the Total</a:t>
                      </a:r>
                      <a:r>
                        <a:rPr lang="en-US" b="1" baseline="0" dirty="0">
                          <a:latin typeface="Times New Roman" panose="02020603050405020304" pitchFamily="18" charset="0"/>
                          <a:cs typeface="Times New Roman" panose="02020603050405020304" pitchFamily="18" charset="0"/>
                        </a:rPr>
                        <a:t> Tax in both Tax Slab is zero because of the rebate.</a:t>
                      </a:r>
                      <a:endParaRPr 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370840">
                <a:tc>
                  <a:txBody>
                    <a:bodyPr/>
                    <a:lstStyle/>
                    <a:p>
                      <a:pPr algn="ctr"/>
                      <a:r>
                        <a:rPr lang="en-US" b="1" dirty="0">
                          <a:latin typeface="Times New Roman" panose="02020603050405020304" pitchFamily="18" charset="0"/>
                          <a:cs typeface="Times New Roman" panose="02020603050405020304" pitchFamily="18" charset="0"/>
                        </a:rPr>
                        <a:t>Tax as per New Slab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6363660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4294967295"/>
          </p:nvPr>
        </p:nvSpPr>
        <p:spPr>
          <a:xfrm>
            <a:off x="896028" y="88163"/>
            <a:ext cx="10026650" cy="1665288"/>
          </a:xfrm>
        </p:spPr>
        <p:txBody>
          <a:bodyPr>
            <a:normAutofit/>
          </a:bodyPr>
          <a:lstStyle/>
          <a:p>
            <a:pPr marL="0" indent="0" algn="just">
              <a:buNone/>
            </a:pPr>
            <a:r>
              <a:rPr lang="en-US" sz="2000" b="1" dirty="0">
                <a:latin typeface="+mj-lt"/>
                <a:cs typeface="Times New Roman" panose="02020603050405020304" pitchFamily="18" charset="0"/>
              </a:rPr>
              <a:t>Example: 4 </a:t>
            </a:r>
            <a:r>
              <a:rPr lang="en-US" sz="2000" dirty="0">
                <a:latin typeface="+mj-lt"/>
                <a:cs typeface="Times New Roman" panose="02020603050405020304" pitchFamily="18" charset="0"/>
              </a:rPr>
              <a:t>Mr. C (Aged 40) is having an annual salary of ₹15,00,000, with the deductions of ₹ 2,50,000. So calculate the income tax in both old and new slabs and suggest the best slab for him.</a:t>
            </a:r>
          </a:p>
          <a:p>
            <a:pPr marL="0" indent="0" algn="just">
              <a:buNone/>
            </a:pPr>
            <a:r>
              <a:rPr lang="en-US" sz="2000" dirty="0">
                <a:latin typeface="+mj-lt"/>
                <a:cs typeface="Times New Roman" panose="02020603050405020304" pitchFamily="18" charset="0"/>
              </a:rPr>
              <a:t>ANS:	</a:t>
            </a:r>
            <a:r>
              <a:rPr lang="en-US" sz="2000" b="1" dirty="0">
                <a:latin typeface="+mj-lt"/>
                <a:cs typeface="Times New Roman" panose="02020603050405020304" pitchFamily="18" charset="0"/>
              </a:rPr>
              <a:t>		</a:t>
            </a:r>
          </a:p>
          <a:p>
            <a:pPr marL="0" indent="0" algn="ctr">
              <a:buNone/>
            </a:pPr>
            <a:r>
              <a:rPr lang="en-US" sz="2000" b="1" u="sng" dirty="0">
                <a:latin typeface="+mj-lt"/>
                <a:cs typeface="Times New Roman" panose="02020603050405020304" pitchFamily="18" charset="0"/>
              </a:rPr>
              <a:t>Tax calculation as per Old Tax Slab</a:t>
            </a:r>
            <a:r>
              <a:rPr lang="en-US" sz="2000" b="1" dirty="0">
                <a:latin typeface="+mj-lt"/>
                <a:cs typeface="Times New Roman" panose="02020603050405020304" pitchFamily="18" charset="0"/>
              </a:rPr>
              <a:t> </a:t>
            </a:r>
            <a:r>
              <a:rPr lang="en-US" sz="2000" dirty="0">
                <a:latin typeface="+mj-lt"/>
                <a:cs typeface="Times New Roman" panose="02020603050405020304" pitchFamily="18" charset="0"/>
              </a:rPr>
              <a:t>	</a:t>
            </a:r>
          </a:p>
          <a:p>
            <a:pPr marL="0" indent="0" algn="just">
              <a:buNone/>
            </a:pPr>
            <a:endParaRPr lang="en-US" sz="2000" dirty="0">
              <a:latin typeface="+mj-lt"/>
            </a:endParaRPr>
          </a:p>
        </p:txBody>
      </p:sp>
      <p:graphicFrame>
        <p:nvGraphicFramePr>
          <p:cNvPr id="5" name="Table 4"/>
          <p:cNvGraphicFramePr>
            <a:graphicFrameLocks noGrp="1"/>
          </p:cNvGraphicFramePr>
          <p:nvPr>
            <p:extLst>
              <p:ext uri="{D42A27DB-BD31-4B8C-83A1-F6EECF244321}">
                <p14:modId xmlns:p14="http://schemas.microsoft.com/office/powerpoint/2010/main" val="2988864740"/>
              </p:ext>
            </p:extLst>
          </p:nvPr>
        </p:nvGraphicFramePr>
        <p:xfrm>
          <a:off x="896028" y="1672246"/>
          <a:ext cx="3048000" cy="4176170"/>
        </p:xfrm>
        <a:graphic>
          <a:graphicData uri="http://schemas.openxmlformats.org/drawingml/2006/table">
            <a:tbl>
              <a:tblPr firstRow="1" bandRow="1">
                <a:tableStyleId>{073A0DAA-6AF3-43AB-8588-CEC1D06C72B9}</a:tableStyleId>
              </a:tblPr>
              <a:tblGrid>
                <a:gridCol w="1549400">
                  <a:extLst>
                    <a:ext uri="{9D8B030D-6E8A-4147-A177-3AD203B41FA5}">
                      <a16:colId xmlns:a16="http://schemas.microsoft.com/office/drawing/2014/main" val="20000"/>
                    </a:ext>
                  </a:extLst>
                </a:gridCol>
                <a:gridCol w="1498600">
                  <a:extLst>
                    <a:ext uri="{9D8B030D-6E8A-4147-A177-3AD203B41FA5}">
                      <a16:colId xmlns:a16="http://schemas.microsoft.com/office/drawing/2014/main" val="20001"/>
                    </a:ext>
                  </a:extLst>
                </a:gridCol>
              </a:tblGrid>
              <a:tr h="469017">
                <a:tc>
                  <a:txBody>
                    <a:bodyPr/>
                    <a:lstStyle/>
                    <a:p>
                      <a:pPr algn="ctr"/>
                      <a:r>
                        <a:rPr lang="en-US" dirty="0"/>
                        <a:t>Particulars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69017">
                <a:tc>
                  <a:txBody>
                    <a:bodyPr/>
                    <a:lstStyle/>
                    <a:p>
                      <a:pPr algn="ctr"/>
                      <a:r>
                        <a:rPr lang="en-US" dirty="0"/>
                        <a:t>Annual Salary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15,00,000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809534">
                <a:tc>
                  <a:txBody>
                    <a:bodyPr/>
                    <a:lstStyle/>
                    <a:p>
                      <a:pPr algn="ctr"/>
                      <a:r>
                        <a:rPr lang="en-US" dirty="0"/>
                        <a:t>Deductions (80C,</a:t>
                      </a:r>
                      <a:r>
                        <a:rPr lang="en-US" baseline="0" dirty="0"/>
                        <a:t> 80D)</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09534">
                <a:tc>
                  <a:txBody>
                    <a:bodyPr/>
                    <a:lstStyle/>
                    <a:p>
                      <a:pPr algn="ctr"/>
                      <a:r>
                        <a:rPr lang="en-US" dirty="0"/>
                        <a:t>Standard</a:t>
                      </a:r>
                      <a:r>
                        <a:rPr lang="en-US" baseline="0" dirty="0"/>
                        <a:t> Deduction</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809534">
                <a:tc>
                  <a:txBody>
                    <a:bodyPr/>
                    <a:lstStyle/>
                    <a:p>
                      <a:pPr algn="ctr"/>
                      <a:r>
                        <a:rPr lang="en-US" b="1" dirty="0"/>
                        <a:t>Total Deduction</a:t>
                      </a:r>
                      <a:r>
                        <a:rPr lang="en-US" b="1" baseline="0" dirty="0"/>
                        <a:t> </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3,00,000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809534">
                <a:tc>
                  <a:txBody>
                    <a:bodyPr/>
                    <a:lstStyle/>
                    <a:p>
                      <a:pPr algn="ctr"/>
                      <a:r>
                        <a:rPr lang="en-US" b="1" u="none" dirty="0"/>
                        <a:t>Taxable Income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u="sng" dirty="0"/>
                        <a:t>12,00,000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338516165"/>
              </p:ext>
            </p:extLst>
          </p:nvPr>
        </p:nvGraphicFramePr>
        <p:xfrm>
          <a:off x="4058327" y="1672246"/>
          <a:ext cx="6864351" cy="4176171"/>
        </p:xfrm>
        <a:graphic>
          <a:graphicData uri="http://schemas.openxmlformats.org/drawingml/2006/table">
            <a:tbl>
              <a:tblPr firstRow="1" bandRow="1">
                <a:tableStyleId>{073A0DAA-6AF3-43AB-8588-CEC1D06C72B9}</a:tableStyleId>
              </a:tblPr>
              <a:tblGrid>
                <a:gridCol w="2438402">
                  <a:extLst>
                    <a:ext uri="{9D8B030D-6E8A-4147-A177-3AD203B41FA5}">
                      <a16:colId xmlns:a16="http://schemas.microsoft.com/office/drawing/2014/main" val="20000"/>
                    </a:ext>
                  </a:extLst>
                </a:gridCol>
                <a:gridCol w="673100">
                  <a:extLst>
                    <a:ext uri="{9D8B030D-6E8A-4147-A177-3AD203B41FA5}">
                      <a16:colId xmlns:a16="http://schemas.microsoft.com/office/drawing/2014/main" val="20001"/>
                    </a:ext>
                  </a:extLst>
                </a:gridCol>
                <a:gridCol w="2501900">
                  <a:extLst>
                    <a:ext uri="{9D8B030D-6E8A-4147-A177-3AD203B41FA5}">
                      <a16:colId xmlns:a16="http://schemas.microsoft.com/office/drawing/2014/main" val="20002"/>
                    </a:ext>
                  </a:extLst>
                </a:gridCol>
                <a:gridCol w="1250949">
                  <a:extLst>
                    <a:ext uri="{9D8B030D-6E8A-4147-A177-3AD203B41FA5}">
                      <a16:colId xmlns:a16="http://schemas.microsoft.com/office/drawing/2014/main" val="20003"/>
                    </a:ext>
                  </a:extLst>
                </a:gridCol>
              </a:tblGrid>
              <a:tr h="692277">
                <a:tc>
                  <a:txBody>
                    <a:bodyPr/>
                    <a:lstStyle/>
                    <a:p>
                      <a:pPr algn="ctr"/>
                      <a:r>
                        <a:rPr lang="en-US" dirty="0"/>
                        <a:t>Range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Taxable 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01081">
                <a:tc>
                  <a:txBody>
                    <a:bodyPr/>
                    <a:lstStyle/>
                    <a:p>
                      <a:pPr algn="ctr"/>
                      <a:r>
                        <a:rPr lang="en-US" dirty="0"/>
                        <a:t>Up to 2,50,000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01081">
                <a:tc>
                  <a:txBody>
                    <a:bodyPr/>
                    <a:lstStyle/>
                    <a:p>
                      <a:pPr algn="ctr"/>
                      <a:r>
                        <a:rPr lang="en-US" dirty="0"/>
                        <a:t>2,50,001</a:t>
                      </a:r>
                      <a:r>
                        <a:rPr lang="en-US" baseline="0" dirty="0"/>
                        <a:t> – 5,00,000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55010">
                <a:tc>
                  <a:txBody>
                    <a:bodyPr/>
                    <a:lstStyle/>
                    <a:p>
                      <a:pPr algn="ctr"/>
                      <a:r>
                        <a:rPr lang="en-US" dirty="0"/>
                        <a:t>5,00,001</a:t>
                      </a:r>
                      <a:r>
                        <a:rPr lang="en-US" baseline="0" dirty="0"/>
                        <a:t> – 10,00,000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5,00,000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01081">
                <a:tc>
                  <a:txBody>
                    <a:bodyPr/>
                    <a:lstStyle/>
                    <a:p>
                      <a:pPr algn="ctr"/>
                      <a:r>
                        <a:rPr lang="en-US" baseline="0" dirty="0"/>
                        <a:t>Above 10,00,000 </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2,00,000</a:t>
                      </a:r>
                    </a:p>
                    <a:p>
                      <a:pPr algn="ctr"/>
                      <a:r>
                        <a:rPr lang="en-US" sz="1600" dirty="0"/>
                        <a:t>(12,00,000</a:t>
                      </a:r>
                      <a:r>
                        <a:rPr lang="en-US" sz="1600" baseline="0" dirty="0"/>
                        <a:t> – 10,00,000)</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60,000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01081">
                <a:tc gridSpan="3">
                  <a:txBody>
                    <a:bodyPr/>
                    <a:lstStyle/>
                    <a:p>
                      <a:pPr algn="ctr"/>
                      <a:r>
                        <a:rPr lang="en-US" b="1" dirty="0"/>
                        <a:t>Tax 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nchor="ctr"/>
                </a:tc>
                <a:tc hMerge="1">
                  <a:txBody>
                    <a:bodyPr/>
                    <a:lstStyle/>
                    <a:p>
                      <a:pPr algn="ctr"/>
                      <a:endParaRPr lang="en-US" dirty="0"/>
                    </a:p>
                  </a:txBody>
                  <a:tcPr anchor="ctr"/>
                </a:tc>
                <a:tc>
                  <a:txBody>
                    <a:bodyPr/>
                    <a:lstStyle/>
                    <a:p>
                      <a:pPr algn="ctr"/>
                      <a:r>
                        <a:rPr lang="en-US" b="1" dirty="0"/>
                        <a:t>1,72,500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01081">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Rebate u/s 87A</a:t>
                      </a:r>
                      <a:r>
                        <a:rPr lang="en-US" baseline="0" dirty="0"/>
                        <a:t> (if Taxable Income &lt; 5,00,000)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algn="ctr"/>
                      <a:r>
                        <a:rPr lang="en-US" b="1"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401081">
                <a:tc gridSpan="3">
                  <a:txBody>
                    <a:bodyPr/>
                    <a:lstStyle/>
                    <a:p>
                      <a:pPr algn="ctr"/>
                      <a:r>
                        <a:rPr lang="en-US" dirty="0"/>
                        <a:t> (+) Health and Education Cess</a:t>
                      </a:r>
                      <a:r>
                        <a:rPr lang="en-US" baseline="0" dirty="0"/>
                        <a:t> (4%)</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algn="ctr"/>
                      <a:r>
                        <a:rPr lang="en-US" dirty="0"/>
                        <a:t>6,900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413879">
                <a:tc gridSpan="3">
                  <a:txBody>
                    <a:bodyPr/>
                    <a:lstStyle/>
                    <a:p>
                      <a:pPr algn="ctr"/>
                      <a:r>
                        <a:rPr lang="en-US" sz="2000" b="1" dirty="0"/>
                        <a:t>Total Payable Tax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algn="ctr"/>
                      <a:r>
                        <a:rPr lang="en-US" sz="2000" b="1" u="sng" dirty="0"/>
                        <a:t>1,79,400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193672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282700" y="150261"/>
            <a:ext cx="9601200" cy="3581400"/>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ctr">
              <a:buFont typeface="Franklin Gothic Book" panose="020B0503020102020204" pitchFamily="34" charset="0"/>
              <a:buNone/>
            </a:pPr>
            <a:r>
              <a:rPr lang="en-US" b="1" u="sng">
                <a:latin typeface="Times New Roman" panose="02020603050405020304" pitchFamily="18" charset="0"/>
                <a:cs typeface="Times New Roman" panose="02020603050405020304" pitchFamily="18" charset="0"/>
              </a:rPr>
              <a:t>Tax calculation as per New Tax Slab</a:t>
            </a:r>
            <a:endParaRPr lang="en-US" b="1" u="sng"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nvGraphicFramePr>
        <p:xfrm>
          <a:off x="1282700" y="707767"/>
          <a:ext cx="3035299" cy="4810476"/>
        </p:xfrm>
        <a:graphic>
          <a:graphicData uri="http://schemas.openxmlformats.org/drawingml/2006/table">
            <a:tbl>
              <a:tblPr firstRow="1" bandRow="1">
                <a:tableStyleId>{073A0DAA-6AF3-43AB-8588-CEC1D06C72B9}</a:tableStyleId>
              </a:tblPr>
              <a:tblGrid>
                <a:gridCol w="1542943">
                  <a:extLst>
                    <a:ext uri="{9D8B030D-6E8A-4147-A177-3AD203B41FA5}">
                      <a16:colId xmlns:a16="http://schemas.microsoft.com/office/drawing/2014/main" val="20000"/>
                    </a:ext>
                  </a:extLst>
                </a:gridCol>
                <a:gridCol w="1492356">
                  <a:extLst>
                    <a:ext uri="{9D8B030D-6E8A-4147-A177-3AD203B41FA5}">
                      <a16:colId xmlns:a16="http://schemas.microsoft.com/office/drawing/2014/main" val="20001"/>
                    </a:ext>
                  </a:extLst>
                </a:gridCol>
              </a:tblGrid>
              <a:tr h="534498">
                <a:tc>
                  <a:txBody>
                    <a:bodyPr/>
                    <a:lstStyle/>
                    <a:p>
                      <a:pPr algn="ctr"/>
                      <a:r>
                        <a:rPr lang="en-US" dirty="0"/>
                        <a:t>Particulars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34498">
                <a:tc>
                  <a:txBody>
                    <a:bodyPr/>
                    <a:lstStyle/>
                    <a:p>
                      <a:pPr algn="ctr"/>
                      <a:r>
                        <a:rPr lang="en-US" dirty="0"/>
                        <a:t>Annual Salary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15,00,000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935370">
                <a:tc>
                  <a:txBody>
                    <a:bodyPr/>
                    <a:lstStyle/>
                    <a:p>
                      <a:pPr algn="ctr"/>
                      <a:r>
                        <a:rPr lang="en-US" dirty="0"/>
                        <a:t>Deductions (80C,80D)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Not</a:t>
                      </a:r>
                      <a:r>
                        <a:rPr lang="en-US" baseline="0" dirty="0"/>
                        <a:t> Allowed</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935370">
                <a:tc>
                  <a:txBody>
                    <a:bodyPr/>
                    <a:lstStyle/>
                    <a:p>
                      <a:pPr algn="ctr"/>
                      <a:r>
                        <a:rPr lang="en-US" dirty="0"/>
                        <a:t>Standard</a:t>
                      </a:r>
                      <a:r>
                        <a:rPr lang="en-US" baseline="0" dirty="0"/>
                        <a:t> Deduction</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75,000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935370">
                <a:tc>
                  <a:txBody>
                    <a:bodyPr/>
                    <a:lstStyle/>
                    <a:p>
                      <a:pPr algn="ctr"/>
                      <a:r>
                        <a:rPr lang="en-US" b="1" dirty="0"/>
                        <a:t>Total Deduction</a:t>
                      </a:r>
                      <a:r>
                        <a:rPr lang="en-US" b="1" baseline="0" dirty="0"/>
                        <a:t> </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75,000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935370">
                <a:tc>
                  <a:txBody>
                    <a:bodyPr/>
                    <a:lstStyle/>
                    <a:p>
                      <a:pPr algn="ctr"/>
                      <a:r>
                        <a:rPr lang="en-US" b="1" dirty="0"/>
                        <a:t>Taxable Income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u="sng" dirty="0"/>
                        <a:t>14,25,000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6" name="Table 5"/>
          <p:cNvGraphicFramePr>
            <a:graphicFrameLocks noGrp="1"/>
          </p:cNvGraphicFramePr>
          <p:nvPr/>
        </p:nvGraphicFramePr>
        <p:xfrm>
          <a:off x="4445001" y="707767"/>
          <a:ext cx="7023099" cy="4810476"/>
        </p:xfrm>
        <a:graphic>
          <a:graphicData uri="http://schemas.openxmlformats.org/drawingml/2006/table">
            <a:tbl>
              <a:tblPr firstRow="1" bandRow="1">
                <a:tableStyleId>{073A0DAA-6AF3-43AB-8588-CEC1D06C72B9}</a:tableStyleId>
              </a:tblPr>
              <a:tblGrid>
                <a:gridCol w="2565399">
                  <a:extLst>
                    <a:ext uri="{9D8B030D-6E8A-4147-A177-3AD203B41FA5}">
                      <a16:colId xmlns:a16="http://schemas.microsoft.com/office/drawing/2014/main" val="20000"/>
                    </a:ext>
                  </a:extLst>
                </a:gridCol>
                <a:gridCol w="698500">
                  <a:extLst>
                    <a:ext uri="{9D8B030D-6E8A-4147-A177-3AD203B41FA5}">
                      <a16:colId xmlns:a16="http://schemas.microsoft.com/office/drawing/2014/main" val="20001"/>
                    </a:ext>
                  </a:extLst>
                </a:gridCol>
                <a:gridCol w="24638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tblGrid>
              <a:tr h="650452">
                <a:tc>
                  <a:txBody>
                    <a:bodyPr/>
                    <a:lstStyle/>
                    <a:p>
                      <a:pPr algn="ctr"/>
                      <a:r>
                        <a:rPr lang="en-US" dirty="0"/>
                        <a:t>Range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Taxable 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82430">
                <a:tc>
                  <a:txBody>
                    <a:bodyPr/>
                    <a:lstStyle/>
                    <a:p>
                      <a:pPr algn="ctr"/>
                      <a:r>
                        <a:rPr lang="en-US" dirty="0"/>
                        <a:t>Up to 3,00,000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25742">
                <a:tc>
                  <a:txBody>
                    <a:bodyPr/>
                    <a:lstStyle/>
                    <a:p>
                      <a:pPr algn="ctr"/>
                      <a:r>
                        <a:rPr lang="en-US" dirty="0"/>
                        <a:t>3,00,001</a:t>
                      </a:r>
                      <a:r>
                        <a:rPr lang="en-US" baseline="0" dirty="0"/>
                        <a:t> – 7,00,000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4,00,000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27442">
                <a:tc>
                  <a:txBody>
                    <a:bodyPr/>
                    <a:lstStyle/>
                    <a:p>
                      <a:pPr algn="ctr"/>
                      <a:r>
                        <a:rPr lang="en-US" dirty="0"/>
                        <a:t>7,00,001</a:t>
                      </a:r>
                      <a:r>
                        <a:rPr lang="en-US" baseline="0" dirty="0"/>
                        <a:t> – 10,00,000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82430">
                <a:tc>
                  <a:txBody>
                    <a:bodyPr/>
                    <a:lstStyle/>
                    <a:p>
                      <a:pPr algn="ctr"/>
                      <a:r>
                        <a:rPr lang="en-US" baseline="0" dirty="0"/>
                        <a:t>10,00,001 – 12,00,000 </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87019">
                <a:tc>
                  <a:txBody>
                    <a:bodyPr/>
                    <a:lstStyle/>
                    <a:p>
                      <a:pPr algn="ctr"/>
                      <a:r>
                        <a:rPr lang="en-US" dirty="0"/>
                        <a:t>12,00,001 – 15,00,000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2,25,000</a:t>
                      </a:r>
                    </a:p>
                    <a:p>
                      <a:pPr algn="ctr"/>
                      <a:r>
                        <a:rPr lang="en-US" sz="1600" dirty="0"/>
                        <a:t>(14,25,000</a:t>
                      </a:r>
                      <a:r>
                        <a:rPr lang="en-US" sz="1600" baseline="0" dirty="0"/>
                        <a:t> – 12,00,000)</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45,000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82430">
                <a:tc>
                  <a:txBody>
                    <a:bodyPr/>
                    <a:lstStyle/>
                    <a:p>
                      <a:pPr algn="ctr"/>
                      <a:r>
                        <a:rPr lang="en-US" dirty="0"/>
                        <a:t>Above 15,00,000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82430">
                <a:tc gridSpan="3">
                  <a:txBody>
                    <a:bodyPr/>
                    <a:lstStyle/>
                    <a:p>
                      <a:pPr algn="ctr"/>
                      <a:r>
                        <a:rPr lang="en-US" b="1" dirty="0"/>
                        <a:t>Tax 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nchor="ctr"/>
                </a:tc>
                <a:tc hMerge="1">
                  <a:txBody>
                    <a:bodyPr/>
                    <a:lstStyle/>
                    <a:p>
                      <a:pPr algn="ctr"/>
                      <a:endParaRPr lang="en-US" dirty="0"/>
                    </a:p>
                  </a:txBody>
                  <a:tcPr anchor="ctr"/>
                </a:tc>
                <a:tc>
                  <a:txBody>
                    <a:bodyPr/>
                    <a:lstStyle/>
                    <a:p>
                      <a:pPr algn="ctr"/>
                      <a:r>
                        <a:rPr lang="en-US" b="1" dirty="0"/>
                        <a:t>1,25,000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82430">
                <a:tc gridSpan="3">
                  <a:txBody>
                    <a:bodyPr/>
                    <a:lstStyle/>
                    <a:p>
                      <a:pPr algn="ctr"/>
                      <a:r>
                        <a:rPr lang="en-US" dirty="0"/>
                        <a:t>Rebate u/s 87A</a:t>
                      </a:r>
                      <a:r>
                        <a:rPr lang="en-US" baseline="0" dirty="0"/>
                        <a:t> (if Taxable Income &lt; 7,00,000)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82430">
                <a:tc gridSpan="3">
                  <a:txBody>
                    <a:bodyPr/>
                    <a:lstStyle/>
                    <a:p>
                      <a:pPr algn="ctr"/>
                      <a:r>
                        <a:rPr lang="en-US" dirty="0"/>
                        <a:t>Health &amp; Education 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algn="ctr"/>
                      <a:r>
                        <a:rPr lang="en-US" dirty="0"/>
                        <a:t>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402660">
                <a:tc gridSpan="3">
                  <a:txBody>
                    <a:bodyPr/>
                    <a:lstStyle/>
                    <a:p>
                      <a:pPr algn="ctr"/>
                      <a:r>
                        <a:rPr lang="en-US" sz="2000" b="1" dirty="0"/>
                        <a:t>Total Payable Tax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algn="ctr"/>
                      <a:r>
                        <a:rPr lang="en-US" sz="2000" b="1" u="sng" dirty="0"/>
                        <a:t>1,30,000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graphicFrame>
        <p:nvGraphicFramePr>
          <p:cNvPr id="7" name="Table 6"/>
          <p:cNvGraphicFramePr>
            <a:graphicFrameLocks noGrp="1"/>
          </p:cNvGraphicFramePr>
          <p:nvPr/>
        </p:nvGraphicFramePr>
        <p:xfrm>
          <a:off x="1016000" y="5650203"/>
          <a:ext cx="10452100" cy="741680"/>
        </p:xfrm>
        <a:graphic>
          <a:graphicData uri="http://schemas.openxmlformats.org/drawingml/2006/table">
            <a:tbl>
              <a:tblPr firstRow="1" bandRow="1">
                <a:tableStyleId>{2D5ABB26-0587-4C30-8999-92F81FD0307C}</a:tableStyleId>
              </a:tblPr>
              <a:tblGrid>
                <a:gridCol w="2215103">
                  <a:extLst>
                    <a:ext uri="{9D8B030D-6E8A-4147-A177-3AD203B41FA5}">
                      <a16:colId xmlns:a16="http://schemas.microsoft.com/office/drawing/2014/main" val="20000"/>
                    </a:ext>
                  </a:extLst>
                </a:gridCol>
                <a:gridCol w="1008070">
                  <a:extLst>
                    <a:ext uri="{9D8B030D-6E8A-4147-A177-3AD203B41FA5}">
                      <a16:colId xmlns:a16="http://schemas.microsoft.com/office/drawing/2014/main" val="20001"/>
                    </a:ext>
                  </a:extLst>
                </a:gridCol>
                <a:gridCol w="7228927">
                  <a:extLst>
                    <a:ext uri="{9D8B030D-6E8A-4147-A177-3AD203B41FA5}">
                      <a16:colId xmlns:a16="http://schemas.microsoft.com/office/drawing/2014/main" val="20002"/>
                    </a:ext>
                  </a:extLst>
                </a:gridCol>
              </a:tblGrid>
              <a:tr h="370840">
                <a:tc>
                  <a:txBody>
                    <a:bodyPr/>
                    <a:lstStyle/>
                    <a:p>
                      <a:pPr algn="ctr"/>
                      <a:r>
                        <a:rPr lang="en-US" b="1" dirty="0">
                          <a:latin typeface="Times New Roman" panose="02020603050405020304" pitchFamily="18" charset="0"/>
                          <a:cs typeface="Times New Roman" panose="02020603050405020304" pitchFamily="18" charset="0"/>
                        </a:rPr>
                        <a:t>Tax as per Old Slab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latin typeface="Times New Roman" panose="02020603050405020304" pitchFamily="18" charset="0"/>
                          <a:cs typeface="Times New Roman" panose="02020603050405020304" pitchFamily="18" charset="0"/>
                        </a:rPr>
                        <a:t>1,79,400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n-US" b="1" dirty="0">
                          <a:latin typeface="Times New Roman" panose="02020603050405020304" pitchFamily="18" charset="0"/>
                          <a:cs typeface="Times New Roman" panose="02020603050405020304" pitchFamily="18" charset="0"/>
                        </a:rPr>
                        <a:t>Here we can see that the Total</a:t>
                      </a:r>
                      <a:r>
                        <a:rPr lang="en-US" b="1" baseline="0" dirty="0">
                          <a:latin typeface="Times New Roman" panose="02020603050405020304" pitchFamily="18" charset="0"/>
                          <a:cs typeface="Times New Roman" panose="02020603050405020304" pitchFamily="18" charset="0"/>
                        </a:rPr>
                        <a:t> Tax as per New Tax Slab is Less than the Old tax Slab, So here we can recommend Mr. C to opt for New Tax Slab</a:t>
                      </a:r>
                      <a:endParaRPr 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370840">
                <a:tc>
                  <a:txBody>
                    <a:bodyPr/>
                    <a:lstStyle/>
                    <a:p>
                      <a:pPr algn="ctr"/>
                      <a:r>
                        <a:rPr lang="en-US" b="1" dirty="0">
                          <a:latin typeface="Times New Roman" panose="02020603050405020304" pitchFamily="18" charset="0"/>
                          <a:cs typeface="Times New Roman" panose="02020603050405020304" pitchFamily="18" charset="0"/>
                        </a:rPr>
                        <a:t>Tax as per New Slab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latin typeface="Times New Roman" panose="02020603050405020304" pitchFamily="18" charset="0"/>
                          <a:cs typeface="Times New Roman" panose="02020603050405020304" pitchFamily="18" charset="0"/>
                        </a:rPr>
                        <a:t>1,30,000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660799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p:cNvSpPr txBox="1"/>
          <p:nvPr/>
        </p:nvSpPr>
        <p:spPr>
          <a:xfrm>
            <a:off x="1632322" y="1018611"/>
            <a:ext cx="3848811" cy="430887"/>
          </a:xfrm>
          <a:prstGeom prst="rect">
            <a:avLst/>
          </a:prstGeom>
          <a:noFill/>
          <a:ln>
            <a:noFill/>
          </a:ln>
        </p:spPr>
        <p:txBody>
          <a:bodyPr wrap="none" lIns="0" tIns="0" rIns="0" bIns="0" anchor="t">
            <a:spAutoFit/>
          </a:bodyPr>
          <a:lstStyle/>
          <a:p>
            <a:pPr algn="ctr"/>
            <a:r>
              <a:rPr lang="en-US" sz="2800" b="1" u="sng" dirty="0">
                <a:solidFill>
                  <a:srgbClr val="484848"/>
                </a:solidFill>
              </a:rPr>
              <a:t>Old</a:t>
            </a:r>
            <a:r>
              <a:rPr sz="2800" b="1" u="sng" dirty="0">
                <a:solidFill>
                  <a:srgbClr val="484848"/>
                </a:solidFill>
              </a:rPr>
              <a:t> Tax </a:t>
            </a:r>
            <a:r>
              <a:rPr lang="en-US" sz="2800" b="1" u="sng" dirty="0">
                <a:solidFill>
                  <a:srgbClr val="484848"/>
                </a:solidFill>
              </a:rPr>
              <a:t>Slab F.Y. 2024-’25</a:t>
            </a:r>
            <a:endParaRPr sz="2800" b="1" u="sng" dirty="0">
              <a:solidFill>
                <a:srgbClr val="484848"/>
              </a:solidFill>
            </a:endParaRPr>
          </a:p>
        </p:txBody>
      </p:sp>
      <p:sp>
        <p:nvSpPr>
          <p:cNvPr id="53" name="TextBox 52"/>
          <p:cNvSpPr txBox="1"/>
          <p:nvPr/>
        </p:nvSpPr>
        <p:spPr>
          <a:xfrm>
            <a:off x="6727700" y="1013609"/>
            <a:ext cx="3983462" cy="430887"/>
          </a:xfrm>
          <a:prstGeom prst="rect">
            <a:avLst/>
          </a:prstGeom>
          <a:noFill/>
          <a:ln>
            <a:noFill/>
          </a:ln>
        </p:spPr>
        <p:txBody>
          <a:bodyPr wrap="none" lIns="0" tIns="0" rIns="0" bIns="0" anchor="t">
            <a:spAutoFit/>
          </a:bodyPr>
          <a:lstStyle/>
          <a:p>
            <a:pPr algn="ctr"/>
            <a:r>
              <a:rPr lang="en-US" sz="2800" b="1" u="sng" dirty="0">
                <a:solidFill>
                  <a:srgbClr val="484848"/>
                </a:solidFill>
              </a:rPr>
              <a:t>New</a:t>
            </a:r>
            <a:r>
              <a:rPr sz="2800" b="1" u="sng" dirty="0">
                <a:solidFill>
                  <a:srgbClr val="484848"/>
                </a:solidFill>
              </a:rPr>
              <a:t> Tax </a:t>
            </a:r>
            <a:r>
              <a:rPr lang="en-US" sz="2800" b="1" u="sng" dirty="0">
                <a:solidFill>
                  <a:srgbClr val="484848"/>
                </a:solidFill>
              </a:rPr>
              <a:t>Slab F.Y. 2024-’25</a:t>
            </a:r>
            <a:endParaRPr sz="2800" b="1" u="sng" dirty="0">
              <a:solidFill>
                <a:srgbClr val="484848"/>
              </a:solidFill>
            </a:endParaRPr>
          </a:p>
        </p:txBody>
      </p:sp>
      <p:grpSp>
        <p:nvGrpSpPr>
          <p:cNvPr id="86" name="Group 85">
            <a:extLst>
              <a:ext uri="{FF2B5EF4-FFF2-40B4-BE49-F238E27FC236}">
                <a16:creationId xmlns:a16="http://schemas.microsoft.com/office/drawing/2014/main" id="{33595D19-C6F2-8238-95C4-6DC262A63BBF}"/>
              </a:ext>
            </a:extLst>
          </p:cNvPr>
          <p:cNvGrpSpPr/>
          <p:nvPr/>
        </p:nvGrpSpPr>
        <p:grpSpPr>
          <a:xfrm>
            <a:off x="1710431" y="1925891"/>
            <a:ext cx="8771138" cy="3950563"/>
            <a:chOff x="1978378" y="2229624"/>
            <a:chExt cx="7909576" cy="3447276"/>
          </a:xfrm>
        </p:grpSpPr>
        <p:grpSp>
          <p:nvGrpSpPr>
            <p:cNvPr id="4" name="Group 3"/>
            <p:cNvGrpSpPr/>
            <p:nvPr/>
          </p:nvGrpSpPr>
          <p:grpSpPr>
            <a:xfrm>
              <a:off x="1978378" y="2229624"/>
              <a:ext cx="2009422" cy="577850"/>
              <a:chOff x="400050" y="1143000"/>
              <a:chExt cx="1828800" cy="457200"/>
            </a:xfrm>
          </p:grpSpPr>
          <p:sp>
            <p:nvSpPr>
              <p:cNvPr id="50" name="Rounded Rectangle 1"/>
              <p:cNvSpPr/>
              <p:nvPr/>
            </p:nvSpPr>
            <p:spPr>
              <a:xfrm>
                <a:off x="400050" y="1143000"/>
                <a:ext cx="1828800" cy="457200"/>
              </a:xfrm>
              <a:custGeom>
                <a:avLst/>
                <a:gdLst/>
                <a:ahLst/>
                <a:cxnLst/>
                <a:rect l="0" t="0" r="0" b="0"/>
                <a:pathLst>
                  <a:path w="1828800" h="457200">
                    <a:moveTo>
                      <a:pt x="0" y="57150"/>
                    </a:moveTo>
                    <a:cubicBezTo>
                      <a:pt x="0" y="25587"/>
                      <a:pt x="25587" y="0"/>
                      <a:pt x="57150" y="0"/>
                    </a:cubicBezTo>
                    <a:lnTo>
                      <a:pt x="114300" y="0"/>
                    </a:lnTo>
                    <a:lnTo>
                      <a:pt x="114300" y="114300"/>
                    </a:lnTo>
                    <a:lnTo>
                      <a:pt x="0" y="114300"/>
                    </a:lnTo>
                    <a:close/>
                    <a:moveTo>
                      <a:pt x="1714500" y="0"/>
                    </a:moveTo>
                    <a:lnTo>
                      <a:pt x="1714500" y="114300"/>
                    </a:lnTo>
                    <a:lnTo>
                      <a:pt x="114300" y="114300"/>
                    </a:lnTo>
                    <a:lnTo>
                      <a:pt x="114300" y="0"/>
                    </a:lnTo>
                    <a:close/>
                    <a:moveTo>
                      <a:pt x="1828800" y="114300"/>
                    </a:moveTo>
                    <a:lnTo>
                      <a:pt x="1714500" y="114300"/>
                    </a:lnTo>
                    <a:lnTo>
                      <a:pt x="1714500" y="0"/>
                    </a:lnTo>
                    <a:lnTo>
                      <a:pt x="1771650" y="0"/>
                    </a:lnTo>
                    <a:cubicBezTo>
                      <a:pt x="1803212" y="0"/>
                      <a:pt x="1828800" y="25587"/>
                      <a:pt x="1828800" y="57150"/>
                    </a:cubicBezTo>
                    <a:close/>
                    <a:moveTo>
                      <a:pt x="1828800" y="342900"/>
                    </a:moveTo>
                    <a:lnTo>
                      <a:pt x="0" y="342900"/>
                    </a:lnTo>
                    <a:lnTo>
                      <a:pt x="0" y="114300"/>
                    </a:lnTo>
                    <a:lnTo>
                      <a:pt x="1828800" y="114300"/>
                    </a:lnTo>
                    <a:close/>
                    <a:moveTo>
                      <a:pt x="0" y="342900"/>
                    </a:moveTo>
                    <a:lnTo>
                      <a:pt x="114300" y="342900"/>
                    </a:lnTo>
                    <a:lnTo>
                      <a:pt x="114300" y="457200"/>
                    </a:lnTo>
                    <a:lnTo>
                      <a:pt x="57150" y="457200"/>
                    </a:lnTo>
                    <a:cubicBezTo>
                      <a:pt x="25587" y="457200"/>
                      <a:pt x="0" y="431612"/>
                      <a:pt x="0" y="400050"/>
                    </a:cubicBezTo>
                    <a:close/>
                    <a:moveTo>
                      <a:pt x="114300" y="457200"/>
                    </a:moveTo>
                    <a:lnTo>
                      <a:pt x="114300" y="342900"/>
                    </a:lnTo>
                    <a:lnTo>
                      <a:pt x="1714500" y="342900"/>
                    </a:lnTo>
                    <a:lnTo>
                      <a:pt x="1714500" y="457200"/>
                    </a:lnTo>
                    <a:close/>
                    <a:moveTo>
                      <a:pt x="1714500" y="457200"/>
                    </a:moveTo>
                    <a:lnTo>
                      <a:pt x="1714500" y="342900"/>
                    </a:lnTo>
                    <a:lnTo>
                      <a:pt x="1828800" y="342900"/>
                    </a:lnTo>
                    <a:lnTo>
                      <a:pt x="1828800" y="400050"/>
                    </a:lnTo>
                    <a:cubicBezTo>
                      <a:pt x="1828800" y="431612"/>
                      <a:pt x="1803212" y="457200"/>
                      <a:pt x="1771650" y="457200"/>
                    </a:cubicBezTo>
                    <a:close/>
                  </a:path>
                </a:pathLst>
              </a:custGeom>
              <a:solidFill>
                <a:srgbClr val="484848"/>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51" name="Rounded Rectangle 2"/>
              <p:cNvSpPr/>
              <p:nvPr/>
            </p:nvSpPr>
            <p:spPr>
              <a:xfrm>
                <a:off x="400050" y="1143000"/>
                <a:ext cx="1828800" cy="457200"/>
              </a:xfrm>
              <a:custGeom>
                <a:avLst/>
                <a:gdLst/>
                <a:ahLst/>
                <a:cxnLst/>
                <a:rect l="0" t="0" r="0" b="0"/>
                <a:pathLst>
                  <a:path w="1828800" h="457200">
                    <a:moveTo>
                      <a:pt x="0" y="114300"/>
                    </a:moveTo>
                    <a:lnTo>
                      <a:pt x="0" y="57150"/>
                    </a:lnTo>
                    <a:cubicBezTo>
                      <a:pt x="0" y="25587"/>
                      <a:pt x="25587" y="0"/>
                      <a:pt x="57150" y="0"/>
                    </a:cubicBezTo>
                    <a:lnTo>
                      <a:pt x="114300" y="0"/>
                    </a:lnTo>
                    <a:moveTo>
                      <a:pt x="1828800" y="342900"/>
                    </a:moveTo>
                    <a:lnTo>
                      <a:pt x="1828800" y="114300"/>
                    </a:lnTo>
                    <a:moveTo>
                      <a:pt x="0" y="342900"/>
                    </a:moveTo>
                    <a:lnTo>
                      <a:pt x="0" y="114300"/>
                    </a:lnTo>
                    <a:moveTo>
                      <a:pt x="114300" y="0"/>
                    </a:moveTo>
                    <a:lnTo>
                      <a:pt x="1714500" y="0"/>
                    </a:lnTo>
                    <a:moveTo>
                      <a:pt x="114300" y="457200"/>
                    </a:moveTo>
                    <a:lnTo>
                      <a:pt x="57150" y="457200"/>
                    </a:lnTo>
                    <a:cubicBezTo>
                      <a:pt x="25587" y="457200"/>
                      <a:pt x="0" y="431612"/>
                      <a:pt x="0" y="400050"/>
                    </a:cubicBezTo>
                    <a:lnTo>
                      <a:pt x="0" y="342900"/>
                    </a:lnTo>
                    <a:moveTo>
                      <a:pt x="1714500" y="0"/>
                    </a:moveTo>
                    <a:lnTo>
                      <a:pt x="1771650" y="0"/>
                    </a:lnTo>
                    <a:cubicBezTo>
                      <a:pt x="1803212" y="0"/>
                      <a:pt x="1828800" y="25587"/>
                      <a:pt x="1828800" y="57150"/>
                    </a:cubicBezTo>
                    <a:lnTo>
                      <a:pt x="1828800" y="114300"/>
                    </a:lnTo>
                    <a:moveTo>
                      <a:pt x="1714500" y="457200"/>
                    </a:moveTo>
                    <a:lnTo>
                      <a:pt x="114300" y="457200"/>
                    </a:lnTo>
                    <a:moveTo>
                      <a:pt x="1828800" y="342900"/>
                    </a:moveTo>
                    <a:lnTo>
                      <a:pt x="1828800" y="400050"/>
                    </a:lnTo>
                    <a:cubicBezTo>
                      <a:pt x="1828800" y="431612"/>
                      <a:pt x="1803212" y="457200"/>
                      <a:pt x="1771650" y="457200"/>
                    </a:cubicBezTo>
                    <a:lnTo>
                      <a:pt x="1714500" y="457200"/>
                    </a:lnTo>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5" name="Group 4"/>
            <p:cNvGrpSpPr/>
            <p:nvPr/>
          </p:nvGrpSpPr>
          <p:grpSpPr>
            <a:xfrm>
              <a:off x="4005441" y="2229624"/>
              <a:ext cx="1130300" cy="577850"/>
              <a:chOff x="2343150" y="1143000"/>
              <a:chExt cx="1028700" cy="457200"/>
            </a:xfrm>
          </p:grpSpPr>
          <p:sp>
            <p:nvSpPr>
              <p:cNvPr id="48" name="Rounded Rectangle 4"/>
              <p:cNvSpPr/>
              <p:nvPr/>
            </p:nvSpPr>
            <p:spPr>
              <a:xfrm>
                <a:off x="2343150" y="1143000"/>
                <a:ext cx="1028700" cy="457200"/>
              </a:xfrm>
              <a:custGeom>
                <a:avLst/>
                <a:gdLst/>
                <a:ahLst/>
                <a:cxnLst/>
                <a:rect l="0" t="0" r="0" b="0"/>
                <a:pathLst>
                  <a:path w="1028700" h="457200">
                    <a:moveTo>
                      <a:pt x="0" y="57150"/>
                    </a:moveTo>
                    <a:cubicBezTo>
                      <a:pt x="0" y="25587"/>
                      <a:pt x="25587" y="0"/>
                      <a:pt x="57150" y="0"/>
                    </a:cubicBezTo>
                    <a:lnTo>
                      <a:pt x="114300" y="0"/>
                    </a:lnTo>
                    <a:lnTo>
                      <a:pt x="114300" y="114300"/>
                    </a:lnTo>
                    <a:lnTo>
                      <a:pt x="0" y="114300"/>
                    </a:lnTo>
                    <a:close/>
                    <a:moveTo>
                      <a:pt x="914400" y="0"/>
                    </a:moveTo>
                    <a:lnTo>
                      <a:pt x="914400" y="114300"/>
                    </a:lnTo>
                    <a:lnTo>
                      <a:pt x="114300" y="114300"/>
                    </a:lnTo>
                    <a:lnTo>
                      <a:pt x="114300" y="0"/>
                    </a:lnTo>
                    <a:close/>
                    <a:moveTo>
                      <a:pt x="1028700" y="114300"/>
                    </a:moveTo>
                    <a:lnTo>
                      <a:pt x="914400" y="114300"/>
                    </a:lnTo>
                    <a:lnTo>
                      <a:pt x="914400" y="0"/>
                    </a:lnTo>
                    <a:lnTo>
                      <a:pt x="971550" y="0"/>
                    </a:lnTo>
                    <a:cubicBezTo>
                      <a:pt x="1003112" y="0"/>
                      <a:pt x="1028700" y="25587"/>
                      <a:pt x="1028700" y="57150"/>
                    </a:cubicBezTo>
                    <a:close/>
                    <a:moveTo>
                      <a:pt x="1028700" y="342900"/>
                    </a:moveTo>
                    <a:lnTo>
                      <a:pt x="0" y="342900"/>
                    </a:lnTo>
                    <a:lnTo>
                      <a:pt x="0" y="114300"/>
                    </a:lnTo>
                    <a:lnTo>
                      <a:pt x="1028700" y="114300"/>
                    </a:lnTo>
                    <a:close/>
                    <a:moveTo>
                      <a:pt x="0" y="342900"/>
                    </a:moveTo>
                    <a:lnTo>
                      <a:pt x="114300" y="342900"/>
                    </a:lnTo>
                    <a:lnTo>
                      <a:pt x="114300" y="457200"/>
                    </a:lnTo>
                    <a:lnTo>
                      <a:pt x="57150" y="457200"/>
                    </a:lnTo>
                    <a:cubicBezTo>
                      <a:pt x="25587" y="457200"/>
                      <a:pt x="0" y="431612"/>
                      <a:pt x="0" y="400050"/>
                    </a:cubicBezTo>
                    <a:close/>
                    <a:moveTo>
                      <a:pt x="114300" y="457200"/>
                    </a:moveTo>
                    <a:lnTo>
                      <a:pt x="114300" y="342900"/>
                    </a:lnTo>
                    <a:lnTo>
                      <a:pt x="914400" y="342900"/>
                    </a:lnTo>
                    <a:lnTo>
                      <a:pt x="914400" y="457200"/>
                    </a:lnTo>
                    <a:close/>
                    <a:moveTo>
                      <a:pt x="914400" y="457200"/>
                    </a:moveTo>
                    <a:lnTo>
                      <a:pt x="914400" y="342900"/>
                    </a:lnTo>
                    <a:lnTo>
                      <a:pt x="1028700" y="342900"/>
                    </a:lnTo>
                    <a:lnTo>
                      <a:pt x="1028700" y="400050"/>
                    </a:lnTo>
                    <a:cubicBezTo>
                      <a:pt x="1028700" y="431612"/>
                      <a:pt x="1003112" y="457200"/>
                      <a:pt x="971550" y="457200"/>
                    </a:cubicBezTo>
                    <a:close/>
                  </a:path>
                </a:pathLst>
              </a:custGeom>
              <a:solidFill>
                <a:srgbClr val="484848"/>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9" name="Rounded Rectangle 5"/>
              <p:cNvSpPr/>
              <p:nvPr/>
            </p:nvSpPr>
            <p:spPr>
              <a:xfrm>
                <a:off x="2343150" y="1143000"/>
                <a:ext cx="1028700" cy="457200"/>
              </a:xfrm>
              <a:custGeom>
                <a:avLst/>
                <a:gdLst/>
                <a:ahLst/>
                <a:cxnLst/>
                <a:rect l="0" t="0" r="0" b="0"/>
                <a:pathLst>
                  <a:path w="1028700" h="457200">
                    <a:moveTo>
                      <a:pt x="0" y="114300"/>
                    </a:moveTo>
                    <a:lnTo>
                      <a:pt x="0" y="57150"/>
                    </a:lnTo>
                    <a:cubicBezTo>
                      <a:pt x="0" y="25587"/>
                      <a:pt x="25587" y="0"/>
                      <a:pt x="57150" y="0"/>
                    </a:cubicBezTo>
                    <a:lnTo>
                      <a:pt x="114300" y="0"/>
                    </a:lnTo>
                    <a:moveTo>
                      <a:pt x="1028700" y="114300"/>
                    </a:moveTo>
                    <a:lnTo>
                      <a:pt x="1028700" y="342900"/>
                    </a:lnTo>
                    <a:moveTo>
                      <a:pt x="0" y="342900"/>
                    </a:moveTo>
                    <a:lnTo>
                      <a:pt x="0" y="114300"/>
                    </a:lnTo>
                    <a:moveTo>
                      <a:pt x="114300" y="0"/>
                    </a:moveTo>
                    <a:lnTo>
                      <a:pt x="914400" y="0"/>
                    </a:lnTo>
                    <a:moveTo>
                      <a:pt x="114300" y="457200"/>
                    </a:moveTo>
                    <a:lnTo>
                      <a:pt x="57150" y="457200"/>
                    </a:lnTo>
                    <a:cubicBezTo>
                      <a:pt x="25587" y="457200"/>
                      <a:pt x="0" y="431612"/>
                      <a:pt x="0" y="400050"/>
                    </a:cubicBezTo>
                    <a:lnTo>
                      <a:pt x="0" y="342900"/>
                    </a:lnTo>
                    <a:moveTo>
                      <a:pt x="914400" y="0"/>
                    </a:moveTo>
                    <a:lnTo>
                      <a:pt x="971550" y="0"/>
                    </a:lnTo>
                    <a:cubicBezTo>
                      <a:pt x="1003112" y="0"/>
                      <a:pt x="1028700" y="25587"/>
                      <a:pt x="1028700" y="57150"/>
                    </a:cubicBezTo>
                    <a:lnTo>
                      <a:pt x="1028700" y="114300"/>
                    </a:lnTo>
                    <a:moveTo>
                      <a:pt x="114300" y="457200"/>
                    </a:moveTo>
                    <a:lnTo>
                      <a:pt x="914400" y="457200"/>
                    </a:lnTo>
                    <a:moveTo>
                      <a:pt x="1028700" y="342900"/>
                    </a:moveTo>
                    <a:lnTo>
                      <a:pt x="1028700" y="400050"/>
                    </a:lnTo>
                    <a:cubicBezTo>
                      <a:pt x="1028700" y="431612"/>
                      <a:pt x="1003112" y="457200"/>
                      <a:pt x="971550" y="457200"/>
                    </a:cubicBezTo>
                    <a:lnTo>
                      <a:pt x="914400" y="457200"/>
                    </a:lnTo>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6" name="Group 5"/>
            <p:cNvGrpSpPr/>
            <p:nvPr/>
          </p:nvGrpSpPr>
          <p:grpSpPr>
            <a:xfrm>
              <a:off x="1978378" y="2813050"/>
              <a:ext cx="2009422" cy="577850"/>
              <a:chOff x="400050" y="1714500"/>
              <a:chExt cx="1828800" cy="457200"/>
            </a:xfrm>
          </p:grpSpPr>
          <p:sp>
            <p:nvSpPr>
              <p:cNvPr id="46" name="Rounded Rectangle 7"/>
              <p:cNvSpPr/>
              <p:nvPr/>
            </p:nvSpPr>
            <p:spPr>
              <a:xfrm>
                <a:off x="400050" y="1714500"/>
                <a:ext cx="1828800" cy="457200"/>
              </a:xfrm>
              <a:custGeom>
                <a:avLst/>
                <a:gdLst/>
                <a:ahLst/>
                <a:cxnLst/>
                <a:rect l="0" t="0" r="0" b="0"/>
                <a:pathLst>
                  <a:path w="1828800" h="457200">
                    <a:moveTo>
                      <a:pt x="0" y="57150"/>
                    </a:moveTo>
                    <a:cubicBezTo>
                      <a:pt x="0" y="25587"/>
                      <a:pt x="25587" y="0"/>
                      <a:pt x="57150" y="0"/>
                    </a:cubicBezTo>
                    <a:lnTo>
                      <a:pt x="114300" y="0"/>
                    </a:lnTo>
                    <a:lnTo>
                      <a:pt x="114300" y="114300"/>
                    </a:lnTo>
                    <a:lnTo>
                      <a:pt x="0" y="114300"/>
                    </a:lnTo>
                    <a:close/>
                    <a:moveTo>
                      <a:pt x="1714500" y="0"/>
                    </a:moveTo>
                    <a:lnTo>
                      <a:pt x="1714500" y="114300"/>
                    </a:lnTo>
                    <a:lnTo>
                      <a:pt x="114300" y="114300"/>
                    </a:lnTo>
                    <a:lnTo>
                      <a:pt x="114300" y="0"/>
                    </a:lnTo>
                    <a:close/>
                    <a:moveTo>
                      <a:pt x="1828800" y="114300"/>
                    </a:moveTo>
                    <a:lnTo>
                      <a:pt x="1714500" y="114300"/>
                    </a:lnTo>
                    <a:lnTo>
                      <a:pt x="1714500" y="0"/>
                    </a:lnTo>
                    <a:lnTo>
                      <a:pt x="1771650" y="0"/>
                    </a:lnTo>
                    <a:cubicBezTo>
                      <a:pt x="1803212" y="0"/>
                      <a:pt x="1828800" y="25587"/>
                      <a:pt x="1828800" y="57150"/>
                    </a:cubicBezTo>
                    <a:close/>
                    <a:moveTo>
                      <a:pt x="1828800" y="342900"/>
                    </a:moveTo>
                    <a:lnTo>
                      <a:pt x="0" y="342900"/>
                    </a:lnTo>
                    <a:lnTo>
                      <a:pt x="0" y="114300"/>
                    </a:lnTo>
                    <a:lnTo>
                      <a:pt x="1828800" y="114300"/>
                    </a:lnTo>
                    <a:close/>
                    <a:moveTo>
                      <a:pt x="0" y="342900"/>
                    </a:moveTo>
                    <a:lnTo>
                      <a:pt x="114300" y="342900"/>
                    </a:lnTo>
                    <a:lnTo>
                      <a:pt x="114300" y="457200"/>
                    </a:lnTo>
                    <a:lnTo>
                      <a:pt x="57150" y="457200"/>
                    </a:lnTo>
                    <a:cubicBezTo>
                      <a:pt x="25587" y="457200"/>
                      <a:pt x="0" y="431612"/>
                      <a:pt x="0" y="400050"/>
                    </a:cubicBezTo>
                    <a:close/>
                    <a:moveTo>
                      <a:pt x="114300" y="457200"/>
                    </a:moveTo>
                    <a:lnTo>
                      <a:pt x="114300" y="342900"/>
                    </a:lnTo>
                    <a:lnTo>
                      <a:pt x="1714500" y="342900"/>
                    </a:lnTo>
                    <a:lnTo>
                      <a:pt x="1714500" y="457200"/>
                    </a:lnTo>
                    <a:close/>
                    <a:moveTo>
                      <a:pt x="1714500" y="457200"/>
                    </a:moveTo>
                    <a:lnTo>
                      <a:pt x="1714500" y="342900"/>
                    </a:lnTo>
                    <a:lnTo>
                      <a:pt x="1828800" y="342900"/>
                    </a:lnTo>
                    <a:lnTo>
                      <a:pt x="1828800" y="400050"/>
                    </a:lnTo>
                    <a:cubicBezTo>
                      <a:pt x="1828800" y="431612"/>
                      <a:pt x="1803212" y="457200"/>
                      <a:pt x="1771650" y="457200"/>
                    </a:cubicBezTo>
                    <a:close/>
                  </a:path>
                </a:pathLst>
              </a:custGeom>
              <a:solidFill>
                <a:srgbClr val="4877C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7" name="Rounded Rectangle 8"/>
              <p:cNvSpPr/>
              <p:nvPr/>
            </p:nvSpPr>
            <p:spPr>
              <a:xfrm>
                <a:off x="400050" y="1714500"/>
                <a:ext cx="1828800" cy="457200"/>
              </a:xfrm>
              <a:custGeom>
                <a:avLst/>
                <a:gdLst/>
                <a:ahLst/>
                <a:cxnLst/>
                <a:rect l="0" t="0" r="0" b="0"/>
                <a:pathLst>
                  <a:path w="1828800" h="457200">
                    <a:moveTo>
                      <a:pt x="0" y="114300"/>
                    </a:moveTo>
                    <a:lnTo>
                      <a:pt x="0" y="57150"/>
                    </a:lnTo>
                    <a:cubicBezTo>
                      <a:pt x="0" y="25587"/>
                      <a:pt x="25587" y="0"/>
                      <a:pt x="57150" y="0"/>
                    </a:cubicBezTo>
                    <a:lnTo>
                      <a:pt x="114300" y="0"/>
                    </a:lnTo>
                    <a:moveTo>
                      <a:pt x="1828800" y="342900"/>
                    </a:moveTo>
                    <a:lnTo>
                      <a:pt x="1828800" y="114300"/>
                    </a:lnTo>
                    <a:moveTo>
                      <a:pt x="0" y="342900"/>
                    </a:moveTo>
                    <a:lnTo>
                      <a:pt x="0" y="114300"/>
                    </a:lnTo>
                    <a:moveTo>
                      <a:pt x="114300" y="0"/>
                    </a:moveTo>
                    <a:lnTo>
                      <a:pt x="1714500" y="0"/>
                    </a:lnTo>
                    <a:moveTo>
                      <a:pt x="114300" y="457200"/>
                    </a:moveTo>
                    <a:lnTo>
                      <a:pt x="57150" y="457200"/>
                    </a:lnTo>
                    <a:cubicBezTo>
                      <a:pt x="25587" y="457200"/>
                      <a:pt x="0" y="431612"/>
                      <a:pt x="0" y="400050"/>
                    </a:cubicBezTo>
                    <a:lnTo>
                      <a:pt x="0" y="342900"/>
                    </a:lnTo>
                    <a:moveTo>
                      <a:pt x="1714500" y="0"/>
                    </a:moveTo>
                    <a:lnTo>
                      <a:pt x="1771650" y="0"/>
                    </a:lnTo>
                    <a:cubicBezTo>
                      <a:pt x="1803212" y="0"/>
                      <a:pt x="1828800" y="25587"/>
                      <a:pt x="1828800" y="57150"/>
                    </a:cubicBezTo>
                    <a:lnTo>
                      <a:pt x="1828800" y="114300"/>
                    </a:lnTo>
                    <a:moveTo>
                      <a:pt x="1714500" y="457200"/>
                    </a:moveTo>
                    <a:lnTo>
                      <a:pt x="114300" y="457200"/>
                    </a:lnTo>
                    <a:moveTo>
                      <a:pt x="1828800" y="342900"/>
                    </a:moveTo>
                    <a:lnTo>
                      <a:pt x="1828800" y="400050"/>
                    </a:lnTo>
                    <a:cubicBezTo>
                      <a:pt x="1828800" y="431612"/>
                      <a:pt x="1803212" y="457200"/>
                      <a:pt x="1771650" y="457200"/>
                    </a:cubicBezTo>
                    <a:lnTo>
                      <a:pt x="1714500" y="457200"/>
                    </a:lnTo>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7" name="Group 6"/>
            <p:cNvGrpSpPr/>
            <p:nvPr/>
          </p:nvGrpSpPr>
          <p:grpSpPr>
            <a:xfrm>
              <a:off x="4002589" y="2813050"/>
              <a:ext cx="1130300" cy="577850"/>
              <a:chOff x="2343150" y="1714500"/>
              <a:chExt cx="1028700" cy="457200"/>
            </a:xfrm>
          </p:grpSpPr>
          <p:sp>
            <p:nvSpPr>
              <p:cNvPr id="44" name="Rounded Rectangle 10"/>
              <p:cNvSpPr/>
              <p:nvPr/>
            </p:nvSpPr>
            <p:spPr>
              <a:xfrm>
                <a:off x="2343150" y="1714500"/>
                <a:ext cx="1028700" cy="457200"/>
              </a:xfrm>
              <a:custGeom>
                <a:avLst/>
                <a:gdLst/>
                <a:ahLst/>
                <a:cxnLst/>
                <a:rect l="0" t="0" r="0" b="0"/>
                <a:pathLst>
                  <a:path w="1028700" h="457200">
                    <a:moveTo>
                      <a:pt x="0" y="57150"/>
                    </a:moveTo>
                    <a:cubicBezTo>
                      <a:pt x="0" y="25587"/>
                      <a:pt x="25587" y="0"/>
                      <a:pt x="57150" y="0"/>
                    </a:cubicBezTo>
                    <a:lnTo>
                      <a:pt x="114300" y="0"/>
                    </a:lnTo>
                    <a:lnTo>
                      <a:pt x="114300" y="114300"/>
                    </a:lnTo>
                    <a:lnTo>
                      <a:pt x="0" y="114300"/>
                    </a:lnTo>
                    <a:close/>
                    <a:moveTo>
                      <a:pt x="914400" y="0"/>
                    </a:moveTo>
                    <a:lnTo>
                      <a:pt x="914400" y="114300"/>
                    </a:lnTo>
                    <a:lnTo>
                      <a:pt x="114300" y="114300"/>
                    </a:lnTo>
                    <a:lnTo>
                      <a:pt x="114300" y="0"/>
                    </a:lnTo>
                    <a:close/>
                    <a:moveTo>
                      <a:pt x="1028700" y="114300"/>
                    </a:moveTo>
                    <a:lnTo>
                      <a:pt x="914400" y="114300"/>
                    </a:lnTo>
                    <a:lnTo>
                      <a:pt x="914400" y="0"/>
                    </a:lnTo>
                    <a:lnTo>
                      <a:pt x="971550" y="0"/>
                    </a:lnTo>
                    <a:cubicBezTo>
                      <a:pt x="1003112" y="0"/>
                      <a:pt x="1028700" y="25587"/>
                      <a:pt x="1028700" y="57150"/>
                    </a:cubicBezTo>
                    <a:close/>
                    <a:moveTo>
                      <a:pt x="1028700" y="342900"/>
                    </a:moveTo>
                    <a:lnTo>
                      <a:pt x="0" y="342900"/>
                    </a:lnTo>
                    <a:lnTo>
                      <a:pt x="0" y="114300"/>
                    </a:lnTo>
                    <a:lnTo>
                      <a:pt x="1028700" y="114300"/>
                    </a:lnTo>
                    <a:close/>
                    <a:moveTo>
                      <a:pt x="0" y="342900"/>
                    </a:moveTo>
                    <a:lnTo>
                      <a:pt x="114300" y="342900"/>
                    </a:lnTo>
                    <a:lnTo>
                      <a:pt x="114300" y="457200"/>
                    </a:lnTo>
                    <a:lnTo>
                      <a:pt x="57150" y="457200"/>
                    </a:lnTo>
                    <a:cubicBezTo>
                      <a:pt x="25587" y="457200"/>
                      <a:pt x="0" y="431612"/>
                      <a:pt x="0" y="400050"/>
                    </a:cubicBezTo>
                    <a:close/>
                    <a:moveTo>
                      <a:pt x="114300" y="457200"/>
                    </a:moveTo>
                    <a:lnTo>
                      <a:pt x="114300" y="342900"/>
                    </a:lnTo>
                    <a:lnTo>
                      <a:pt x="914400" y="342900"/>
                    </a:lnTo>
                    <a:lnTo>
                      <a:pt x="914400" y="457200"/>
                    </a:lnTo>
                    <a:close/>
                    <a:moveTo>
                      <a:pt x="914400" y="457200"/>
                    </a:moveTo>
                    <a:lnTo>
                      <a:pt x="914400" y="342900"/>
                    </a:lnTo>
                    <a:lnTo>
                      <a:pt x="1028700" y="342900"/>
                    </a:lnTo>
                    <a:lnTo>
                      <a:pt x="1028700" y="400050"/>
                    </a:lnTo>
                    <a:cubicBezTo>
                      <a:pt x="1028700" y="431612"/>
                      <a:pt x="1003112" y="457200"/>
                      <a:pt x="971550" y="457200"/>
                    </a:cubicBezTo>
                    <a:close/>
                  </a:path>
                </a:pathLst>
              </a:custGeom>
              <a:solidFill>
                <a:srgbClr val="4877C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5" name="Rounded Rectangle 11"/>
              <p:cNvSpPr/>
              <p:nvPr/>
            </p:nvSpPr>
            <p:spPr>
              <a:xfrm>
                <a:off x="2343150" y="1714500"/>
                <a:ext cx="1028700" cy="457200"/>
              </a:xfrm>
              <a:custGeom>
                <a:avLst/>
                <a:gdLst/>
                <a:ahLst/>
                <a:cxnLst/>
                <a:rect l="0" t="0" r="0" b="0"/>
                <a:pathLst>
                  <a:path w="1028700" h="457200">
                    <a:moveTo>
                      <a:pt x="0" y="114300"/>
                    </a:moveTo>
                    <a:lnTo>
                      <a:pt x="0" y="57150"/>
                    </a:lnTo>
                    <a:cubicBezTo>
                      <a:pt x="0" y="25587"/>
                      <a:pt x="25587" y="0"/>
                      <a:pt x="57150" y="0"/>
                    </a:cubicBezTo>
                    <a:lnTo>
                      <a:pt x="114300" y="0"/>
                    </a:lnTo>
                    <a:moveTo>
                      <a:pt x="1028700" y="114300"/>
                    </a:moveTo>
                    <a:lnTo>
                      <a:pt x="1028700" y="342900"/>
                    </a:lnTo>
                    <a:moveTo>
                      <a:pt x="0" y="342900"/>
                    </a:moveTo>
                    <a:lnTo>
                      <a:pt x="0" y="114300"/>
                    </a:lnTo>
                    <a:moveTo>
                      <a:pt x="114300" y="0"/>
                    </a:moveTo>
                    <a:lnTo>
                      <a:pt x="914400" y="0"/>
                    </a:lnTo>
                    <a:moveTo>
                      <a:pt x="114300" y="457200"/>
                    </a:moveTo>
                    <a:lnTo>
                      <a:pt x="57150" y="457200"/>
                    </a:lnTo>
                    <a:cubicBezTo>
                      <a:pt x="25587" y="457200"/>
                      <a:pt x="0" y="431612"/>
                      <a:pt x="0" y="400050"/>
                    </a:cubicBezTo>
                    <a:lnTo>
                      <a:pt x="0" y="342900"/>
                    </a:lnTo>
                    <a:moveTo>
                      <a:pt x="914400" y="0"/>
                    </a:moveTo>
                    <a:lnTo>
                      <a:pt x="971550" y="0"/>
                    </a:lnTo>
                    <a:cubicBezTo>
                      <a:pt x="1003112" y="0"/>
                      <a:pt x="1028700" y="25587"/>
                      <a:pt x="1028700" y="57150"/>
                    </a:cubicBezTo>
                    <a:lnTo>
                      <a:pt x="1028700" y="114300"/>
                    </a:lnTo>
                    <a:moveTo>
                      <a:pt x="114300" y="457200"/>
                    </a:moveTo>
                    <a:lnTo>
                      <a:pt x="914400" y="457200"/>
                    </a:lnTo>
                    <a:moveTo>
                      <a:pt x="1028700" y="342900"/>
                    </a:moveTo>
                    <a:lnTo>
                      <a:pt x="1028700" y="400050"/>
                    </a:lnTo>
                    <a:cubicBezTo>
                      <a:pt x="1028700" y="431612"/>
                      <a:pt x="1003112" y="457200"/>
                      <a:pt x="971550" y="457200"/>
                    </a:cubicBezTo>
                    <a:lnTo>
                      <a:pt x="914400" y="457200"/>
                    </a:lnTo>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8" name="Group 7"/>
            <p:cNvGrpSpPr/>
            <p:nvPr/>
          </p:nvGrpSpPr>
          <p:grpSpPr>
            <a:xfrm>
              <a:off x="1978378" y="3384550"/>
              <a:ext cx="2009422" cy="577850"/>
              <a:chOff x="400050" y="2286000"/>
              <a:chExt cx="1828800" cy="457200"/>
            </a:xfrm>
          </p:grpSpPr>
          <p:sp>
            <p:nvSpPr>
              <p:cNvPr id="42" name="Rounded Rectangle 13"/>
              <p:cNvSpPr/>
              <p:nvPr/>
            </p:nvSpPr>
            <p:spPr>
              <a:xfrm>
                <a:off x="400050" y="2286000"/>
                <a:ext cx="1828800" cy="457200"/>
              </a:xfrm>
              <a:custGeom>
                <a:avLst/>
                <a:gdLst/>
                <a:ahLst/>
                <a:cxnLst/>
                <a:rect l="0" t="0" r="0" b="0"/>
                <a:pathLst>
                  <a:path w="1828800" h="457200">
                    <a:moveTo>
                      <a:pt x="0" y="57150"/>
                    </a:moveTo>
                    <a:cubicBezTo>
                      <a:pt x="0" y="25587"/>
                      <a:pt x="25587" y="0"/>
                      <a:pt x="57150" y="0"/>
                    </a:cubicBezTo>
                    <a:lnTo>
                      <a:pt x="114300" y="0"/>
                    </a:lnTo>
                    <a:lnTo>
                      <a:pt x="114300" y="114300"/>
                    </a:lnTo>
                    <a:lnTo>
                      <a:pt x="0" y="114300"/>
                    </a:lnTo>
                    <a:close/>
                    <a:moveTo>
                      <a:pt x="1714500" y="0"/>
                    </a:moveTo>
                    <a:lnTo>
                      <a:pt x="1714500" y="114300"/>
                    </a:lnTo>
                    <a:lnTo>
                      <a:pt x="114300" y="114300"/>
                    </a:lnTo>
                    <a:lnTo>
                      <a:pt x="114300" y="0"/>
                    </a:lnTo>
                    <a:close/>
                    <a:moveTo>
                      <a:pt x="1828800" y="114300"/>
                    </a:moveTo>
                    <a:lnTo>
                      <a:pt x="1714500" y="114300"/>
                    </a:lnTo>
                    <a:lnTo>
                      <a:pt x="1714500" y="0"/>
                    </a:lnTo>
                    <a:lnTo>
                      <a:pt x="1771650" y="0"/>
                    </a:lnTo>
                    <a:cubicBezTo>
                      <a:pt x="1803212" y="0"/>
                      <a:pt x="1828800" y="25587"/>
                      <a:pt x="1828800" y="57150"/>
                    </a:cubicBezTo>
                    <a:close/>
                    <a:moveTo>
                      <a:pt x="1828800" y="342900"/>
                    </a:moveTo>
                    <a:lnTo>
                      <a:pt x="0" y="342900"/>
                    </a:lnTo>
                    <a:lnTo>
                      <a:pt x="0" y="114300"/>
                    </a:lnTo>
                    <a:lnTo>
                      <a:pt x="1828800" y="114300"/>
                    </a:lnTo>
                    <a:close/>
                    <a:moveTo>
                      <a:pt x="0" y="342900"/>
                    </a:moveTo>
                    <a:lnTo>
                      <a:pt x="114300" y="342900"/>
                    </a:lnTo>
                    <a:lnTo>
                      <a:pt x="114300" y="457200"/>
                    </a:lnTo>
                    <a:lnTo>
                      <a:pt x="57150" y="457200"/>
                    </a:lnTo>
                    <a:cubicBezTo>
                      <a:pt x="25587" y="457200"/>
                      <a:pt x="0" y="431612"/>
                      <a:pt x="0" y="400050"/>
                    </a:cubicBezTo>
                    <a:close/>
                    <a:moveTo>
                      <a:pt x="114300" y="457200"/>
                    </a:moveTo>
                    <a:lnTo>
                      <a:pt x="114300" y="342900"/>
                    </a:lnTo>
                    <a:lnTo>
                      <a:pt x="1714500" y="342900"/>
                    </a:lnTo>
                    <a:lnTo>
                      <a:pt x="1714500" y="457200"/>
                    </a:lnTo>
                    <a:close/>
                    <a:moveTo>
                      <a:pt x="1714500" y="457200"/>
                    </a:moveTo>
                    <a:lnTo>
                      <a:pt x="1714500" y="342900"/>
                    </a:lnTo>
                    <a:lnTo>
                      <a:pt x="1828800" y="342900"/>
                    </a:lnTo>
                    <a:lnTo>
                      <a:pt x="1828800" y="400050"/>
                    </a:lnTo>
                    <a:cubicBezTo>
                      <a:pt x="1828800" y="431612"/>
                      <a:pt x="1803212" y="457200"/>
                      <a:pt x="1771650" y="457200"/>
                    </a:cubicBezTo>
                    <a:close/>
                  </a:path>
                </a:pathLst>
              </a:custGeom>
              <a:solidFill>
                <a:srgbClr val="4F85DC"/>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3" name="Rounded Rectangle 14"/>
              <p:cNvSpPr/>
              <p:nvPr/>
            </p:nvSpPr>
            <p:spPr>
              <a:xfrm>
                <a:off x="400050" y="2286000"/>
                <a:ext cx="1828800" cy="457200"/>
              </a:xfrm>
              <a:custGeom>
                <a:avLst/>
                <a:gdLst/>
                <a:ahLst/>
                <a:cxnLst/>
                <a:rect l="0" t="0" r="0" b="0"/>
                <a:pathLst>
                  <a:path w="1828800" h="457200">
                    <a:moveTo>
                      <a:pt x="0" y="114300"/>
                    </a:moveTo>
                    <a:lnTo>
                      <a:pt x="0" y="57150"/>
                    </a:lnTo>
                    <a:cubicBezTo>
                      <a:pt x="0" y="25587"/>
                      <a:pt x="25587" y="0"/>
                      <a:pt x="57150" y="0"/>
                    </a:cubicBezTo>
                    <a:lnTo>
                      <a:pt x="114300" y="0"/>
                    </a:lnTo>
                    <a:moveTo>
                      <a:pt x="1828800" y="342900"/>
                    </a:moveTo>
                    <a:lnTo>
                      <a:pt x="1828800" y="114300"/>
                    </a:lnTo>
                    <a:moveTo>
                      <a:pt x="0" y="342900"/>
                    </a:moveTo>
                    <a:lnTo>
                      <a:pt x="0" y="114300"/>
                    </a:lnTo>
                    <a:moveTo>
                      <a:pt x="114300" y="0"/>
                    </a:moveTo>
                    <a:lnTo>
                      <a:pt x="1714500" y="0"/>
                    </a:lnTo>
                    <a:moveTo>
                      <a:pt x="114300" y="457200"/>
                    </a:moveTo>
                    <a:lnTo>
                      <a:pt x="57150" y="457200"/>
                    </a:lnTo>
                    <a:cubicBezTo>
                      <a:pt x="25587" y="457200"/>
                      <a:pt x="0" y="431612"/>
                      <a:pt x="0" y="400050"/>
                    </a:cubicBezTo>
                    <a:lnTo>
                      <a:pt x="0" y="342900"/>
                    </a:lnTo>
                    <a:moveTo>
                      <a:pt x="1714500" y="0"/>
                    </a:moveTo>
                    <a:lnTo>
                      <a:pt x="1771650" y="0"/>
                    </a:lnTo>
                    <a:cubicBezTo>
                      <a:pt x="1803212" y="0"/>
                      <a:pt x="1828800" y="25587"/>
                      <a:pt x="1828800" y="57150"/>
                    </a:cubicBezTo>
                    <a:lnTo>
                      <a:pt x="1828800" y="114300"/>
                    </a:lnTo>
                    <a:moveTo>
                      <a:pt x="1714500" y="457200"/>
                    </a:moveTo>
                    <a:lnTo>
                      <a:pt x="114300" y="457200"/>
                    </a:lnTo>
                    <a:moveTo>
                      <a:pt x="1828800" y="342900"/>
                    </a:moveTo>
                    <a:lnTo>
                      <a:pt x="1828800" y="400050"/>
                    </a:lnTo>
                    <a:cubicBezTo>
                      <a:pt x="1828800" y="431612"/>
                      <a:pt x="1803212" y="457200"/>
                      <a:pt x="1771650" y="457200"/>
                    </a:cubicBezTo>
                    <a:lnTo>
                      <a:pt x="1714500" y="457200"/>
                    </a:lnTo>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9" name="Group 8"/>
            <p:cNvGrpSpPr/>
            <p:nvPr/>
          </p:nvGrpSpPr>
          <p:grpSpPr>
            <a:xfrm>
              <a:off x="4002589" y="3398023"/>
              <a:ext cx="1130300" cy="577850"/>
              <a:chOff x="2343150" y="2286000"/>
              <a:chExt cx="1028700" cy="457200"/>
            </a:xfrm>
          </p:grpSpPr>
          <p:sp>
            <p:nvSpPr>
              <p:cNvPr id="40" name="Rounded Rectangle 16"/>
              <p:cNvSpPr/>
              <p:nvPr/>
            </p:nvSpPr>
            <p:spPr>
              <a:xfrm>
                <a:off x="2343150" y="2286000"/>
                <a:ext cx="1028700" cy="457200"/>
              </a:xfrm>
              <a:custGeom>
                <a:avLst/>
                <a:gdLst/>
                <a:ahLst/>
                <a:cxnLst/>
                <a:rect l="0" t="0" r="0" b="0"/>
                <a:pathLst>
                  <a:path w="1028700" h="457200">
                    <a:moveTo>
                      <a:pt x="0" y="57150"/>
                    </a:moveTo>
                    <a:cubicBezTo>
                      <a:pt x="0" y="25587"/>
                      <a:pt x="25587" y="0"/>
                      <a:pt x="57150" y="0"/>
                    </a:cubicBezTo>
                    <a:lnTo>
                      <a:pt x="114300" y="0"/>
                    </a:lnTo>
                    <a:lnTo>
                      <a:pt x="114300" y="114300"/>
                    </a:lnTo>
                    <a:lnTo>
                      <a:pt x="0" y="114300"/>
                    </a:lnTo>
                    <a:close/>
                    <a:moveTo>
                      <a:pt x="914400" y="0"/>
                    </a:moveTo>
                    <a:lnTo>
                      <a:pt x="914400" y="114300"/>
                    </a:lnTo>
                    <a:lnTo>
                      <a:pt x="114300" y="114300"/>
                    </a:lnTo>
                    <a:lnTo>
                      <a:pt x="114300" y="0"/>
                    </a:lnTo>
                    <a:close/>
                    <a:moveTo>
                      <a:pt x="1028700" y="114300"/>
                    </a:moveTo>
                    <a:lnTo>
                      <a:pt x="914400" y="114300"/>
                    </a:lnTo>
                    <a:lnTo>
                      <a:pt x="914400" y="0"/>
                    </a:lnTo>
                    <a:lnTo>
                      <a:pt x="971550" y="0"/>
                    </a:lnTo>
                    <a:cubicBezTo>
                      <a:pt x="1003112" y="0"/>
                      <a:pt x="1028700" y="25587"/>
                      <a:pt x="1028700" y="57150"/>
                    </a:cubicBezTo>
                    <a:close/>
                    <a:moveTo>
                      <a:pt x="1028700" y="342900"/>
                    </a:moveTo>
                    <a:lnTo>
                      <a:pt x="0" y="342900"/>
                    </a:lnTo>
                    <a:lnTo>
                      <a:pt x="0" y="114300"/>
                    </a:lnTo>
                    <a:lnTo>
                      <a:pt x="1028700" y="114300"/>
                    </a:lnTo>
                    <a:close/>
                    <a:moveTo>
                      <a:pt x="0" y="342900"/>
                    </a:moveTo>
                    <a:lnTo>
                      <a:pt x="114300" y="342900"/>
                    </a:lnTo>
                    <a:lnTo>
                      <a:pt x="114300" y="457200"/>
                    </a:lnTo>
                    <a:lnTo>
                      <a:pt x="57150" y="457200"/>
                    </a:lnTo>
                    <a:cubicBezTo>
                      <a:pt x="25587" y="457200"/>
                      <a:pt x="0" y="431612"/>
                      <a:pt x="0" y="400050"/>
                    </a:cubicBezTo>
                    <a:close/>
                    <a:moveTo>
                      <a:pt x="114300" y="457200"/>
                    </a:moveTo>
                    <a:lnTo>
                      <a:pt x="114300" y="342900"/>
                    </a:lnTo>
                    <a:lnTo>
                      <a:pt x="914400" y="342900"/>
                    </a:lnTo>
                    <a:lnTo>
                      <a:pt x="914400" y="457200"/>
                    </a:lnTo>
                    <a:close/>
                    <a:moveTo>
                      <a:pt x="914400" y="457200"/>
                    </a:moveTo>
                    <a:lnTo>
                      <a:pt x="914400" y="342900"/>
                    </a:lnTo>
                    <a:lnTo>
                      <a:pt x="1028700" y="342900"/>
                    </a:lnTo>
                    <a:lnTo>
                      <a:pt x="1028700" y="400050"/>
                    </a:lnTo>
                    <a:cubicBezTo>
                      <a:pt x="1028700" y="431612"/>
                      <a:pt x="1003112" y="457200"/>
                      <a:pt x="971550" y="457200"/>
                    </a:cubicBezTo>
                    <a:close/>
                  </a:path>
                </a:pathLst>
              </a:custGeom>
              <a:solidFill>
                <a:srgbClr val="4F85DC"/>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1" name="Rounded Rectangle 17"/>
              <p:cNvSpPr/>
              <p:nvPr/>
            </p:nvSpPr>
            <p:spPr>
              <a:xfrm>
                <a:off x="2343150" y="2286000"/>
                <a:ext cx="1028700" cy="457200"/>
              </a:xfrm>
              <a:custGeom>
                <a:avLst/>
                <a:gdLst/>
                <a:ahLst/>
                <a:cxnLst/>
                <a:rect l="0" t="0" r="0" b="0"/>
                <a:pathLst>
                  <a:path w="1028700" h="457200">
                    <a:moveTo>
                      <a:pt x="0" y="114300"/>
                    </a:moveTo>
                    <a:lnTo>
                      <a:pt x="0" y="57150"/>
                    </a:lnTo>
                    <a:cubicBezTo>
                      <a:pt x="0" y="25587"/>
                      <a:pt x="25587" y="0"/>
                      <a:pt x="57150" y="0"/>
                    </a:cubicBezTo>
                    <a:lnTo>
                      <a:pt x="114300" y="0"/>
                    </a:lnTo>
                    <a:moveTo>
                      <a:pt x="1028700" y="114300"/>
                    </a:moveTo>
                    <a:lnTo>
                      <a:pt x="1028700" y="342900"/>
                    </a:lnTo>
                    <a:moveTo>
                      <a:pt x="0" y="342900"/>
                    </a:moveTo>
                    <a:lnTo>
                      <a:pt x="0" y="114300"/>
                    </a:lnTo>
                    <a:moveTo>
                      <a:pt x="114300" y="0"/>
                    </a:moveTo>
                    <a:lnTo>
                      <a:pt x="914400" y="0"/>
                    </a:lnTo>
                    <a:moveTo>
                      <a:pt x="114300" y="457200"/>
                    </a:moveTo>
                    <a:lnTo>
                      <a:pt x="57150" y="457200"/>
                    </a:lnTo>
                    <a:cubicBezTo>
                      <a:pt x="25587" y="457200"/>
                      <a:pt x="0" y="431612"/>
                      <a:pt x="0" y="400050"/>
                    </a:cubicBezTo>
                    <a:lnTo>
                      <a:pt x="0" y="342900"/>
                    </a:lnTo>
                    <a:moveTo>
                      <a:pt x="914400" y="0"/>
                    </a:moveTo>
                    <a:lnTo>
                      <a:pt x="971550" y="0"/>
                    </a:lnTo>
                    <a:cubicBezTo>
                      <a:pt x="1003112" y="0"/>
                      <a:pt x="1028700" y="25587"/>
                      <a:pt x="1028700" y="57150"/>
                    </a:cubicBezTo>
                    <a:lnTo>
                      <a:pt x="1028700" y="114300"/>
                    </a:lnTo>
                    <a:moveTo>
                      <a:pt x="114300" y="457200"/>
                    </a:moveTo>
                    <a:lnTo>
                      <a:pt x="914400" y="457200"/>
                    </a:lnTo>
                    <a:moveTo>
                      <a:pt x="1028700" y="342900"/>
                    </a:moveTo>
                    <a:lnTo>
                      <a:pt x="1028700" y="400050"/>
                    </a:lnTo>
                    <a:cubicBezTo>
                      <a:pt x="1028700" y="431612"/>
                      <a:pt x="1003112" y="457200"/>
                      <a:pt x="971550" y="457200"/>
                    </a:cubicBezTo>
                    <a:lnTo>
                      <a:pt x="914400" y="457200"/>
                    </a:lnTo>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0" name="Group 9"/>
            <p:cNvGrpSpPr/>
            <p:nvPr/>
          </p:nvGrpSpPr>
          <p:grpSpPr>
            <a:xfrm>
              <a:off x="1982170" y="3956050"/>
              <a:ext cx="2009422" cy="577850"/>
              <a:chOff x="400050" y="2857500"/>
              <a:chExt cx="1828800" cy="457200"/>
            </a:xfrm>
          </p:grpSpPr>
          <p:sp>
            <p:nvSpPr>
              <p:cNvPr id="38" name="Rounded Rectangle 19"/>
              <p:cNvSpPr/>
              <p:nvPr/>
            </p:nvSpPr>
            <p:spPr>
              <a:xfrm>
                <a:off x="400050" y="2857500"/>
                <a:ext cx="1828800" cy="457200"/>
              </a:xfrm>
              <a:custGeom>
                <a:avLst/>
                <a:gdLst/>
                <a:ahLst/>
                <a:cxnLst/>
                <a:rect l="0" t="0" r="0" b="0"/>
                <a:pathLst>
                  <a:path w="1828800" h="457200">
                    <a:moveTo>
                      <a:pt x="0" y="57150"/>
                    </a:moveTo>
                    <a:cubicBezTo>
                      <a:pt x="0" y="25587"/>
                      <a:pt x="25587" y="0"/>
                      <a:pt x="57150" y="0"/>
                    </a:cubicBezTo>
                    <a:lnTo>
                      <a:pt x="114300" y="0"/>
                    </a:lnTo>
                    <a:lnTo>
                      <a:pt x="114300" y="114300"/>
                    </a:lnTo>
                    <a:lnTo>
                      <a:pt x="0" y="114300"/>
                    </a:lnTo>
                    <a:close/>
                    <a:moveTo>
                      <a:pt x="1714500" y="0"/>
                    </a:moveTo>
                    <a:lnTo>
                      <a:pt x="1714500" y="114300"/>
                    </a:lnTo>
                    <a:lnTo>
                      <a:pt x="114300" y="114300"/>
                    </a:lnTo>
                    <a:lnTo>
                      <a:pt x="114300" y="0"/>
                    </a:lnTo>
                    <a:close/>
                    <a:moveTo>
                      <a:pt x="1828800" y="114300"/>
                    </a:moveTo>
                    <a:lnTo>
                      <a:pt x="1714500" y="114300"/>
                    </a:lnTo>
                    <a:lnTo>
                      <a:pt x="1714500" y="0"/>
                    </a:lnTo>
                    <a:lnTo>
                      <a:pt x="1771650" y="0"/>
                    </a:lnTo>
                    <a:cubicBezTo>
                      <a:pt x="1803212" y="0"/>
                      <a:pt x="1828800" y="25587"/>
                      <a:pt x="1828800" y="57150"/>
                    </a:cubicBezTo>
                    <a:close/>
                    <a:moveTo>
                      <a:pt x="1828800" y="342900"/>
                    </a:moveTo>
                    <a:lnTo>
                      <a:pt x="0" y="342900"/>
                    </a:lnTo>
                    <a:lnTo>
                      <a:pt x="0" y="114300"/>
                    </a:lnTo>
                    <a:lnTo>
                      <a:pt x="1828800" y="114300"/>
                    </a:lnTo>
                    <a:close/>
                    <a:moveTo>
                      <a:pt x="0" y="342900"/>
                    </a:moveTo>
                    <a:lnTo>
                      <a:pt x="114300" y="342900"/>
                    </a:lnTo>
                    <a:lnTo>
                      <a:pt x="114300" y="457200"/>
                    </a:lnTo>
                    <a:lnTo>
                      <a:pt x="57150" y="457200"/>
                    </a:lnTo>
                    <a:cubicBezTo>
                      <a:pt x="25587" y="457200"/>
                      <a:pt x="0" y="431612"/>
                      <a:pt x="0" y="400050"/>
                    </a:cubicBezTo>
                    <a:close/>
                    <a:moveTo>
                      <a:pt x="114300" y="457200"/>
                    </a:moveTo>
                    <a:lnTo>
                      <a:pt x="114300" y="342900"/>
                    </a:lnTo>
                    <a:lnTo>
                      <a:pt x="1714500" y="342900"/>
                    </a:lnTo>
                    <a:lnTo>
                      <a:pt x="1714500" y="457200"/>
                    </a:lnTo>
                    <a:close/>
                    <a:moveTo>
                      <a:pt x="1714500" y="457200"/>
                    </a:moveTo>
                    <a:lnTo>
                      <a:pt x="1714500" y="342900"/>
                    </a:lnTo>
                    <a:lnTo>
                      <a:pt x="1828800" y="342900"/>
                    </a:lnTo>
                    <a:lnTo>
                      <a:pt x="1828800" y="400050"/>
                    </a:lnTo>
                    <a:cubicBezTo>
                      <a:pt x="1828800" y="431612"/>
                      <a:pt x="1803212" y="457200"/>
                      <a:pt x="1771650" y="457200"/>
                    </a:cubicBezTo>
                    <a:close/>
                  </a:path>
                </a:pathLst>
              </a:custGeom>
              <a:solidFill>
                <a:srgbClr val="4E8CF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9" name="Rounded Rectangle 20"/>
              <p:cNvSpPr/>
              <p:nvPr/>
            </p:nvSpPr>
            <p:spPr>
              <a:xfrm>
                <a:off x="400050" y="2857500"/>
                <a:ext cx="1828800" cy="457200"/>
              </a:xfrm>
              <a:custGeom>
                <a:avLst/>
                <a:gdLst/>
                <a:ahLst/>
                <a:cxnLst/>
                <a:rect l="0" t="0" r="0" b="0"/>
                <a:pathLst>
                  <a:path w="1828800" h="457200">
                    <a:moveTo>
                      <a:pt x="0" y="114300"/>
                    </a:moveTo>
                    <a:lnTo>
                      <a:pt x="0" y="57150"/>
                    </a:lnTo>
                    <a:cubicBezTo>
                      <a:pt x="0" y="25587"/>
                      <a:pt x="25587" y="0"/>
                      <a:pt x="57150" y="0"/>
                    </a:cubicBezTo>
                    <a:lnTo>
                      <a:pt x="114300" y="0"/>
                    </a:lnTo>
                    <a:moveTo>
                      <a:pt x="1828800" y="342900"/>
                    </a:moveTo>
                    <a:lnTo>
                      <a:pt x="1828800" y="114300"/>
                    </a:lnTo>
                    <a:moveTo>
                      <a:pt x="0" y="342900"/>
                    </a:moveTo>
                    <a:lnTo>
                      <a:pt x="0" y="114300"/>
                    </a:lnTo>
                    <a:moveTo>
                      <a:pt x="114300" y="0"/>
                    </a:moveTo>
                    <a:lnTo>
                      <a:pt x="1714500" y="0"/>
                    </a:lnTo>
                    <a:moveTo>
                      <a:pt x="114300" y="457200"/>
                    </a:moveTo>
                    <a:lnTo>
                      <a:pt x="57150" y="457200"/>
                    </a:lnTo>
                    <a:cubicBezTo>
                      <a:pt x="25587" y="457200"/>
                      <a:pt x="0" y="431612"/>
                      <a:pt x="0" y="400050"/>
                    </a:cubicBezTo>
                    <a:lnTo>
                      <a:pt x="0" y="342900"/>
                    </a:lnTo>
                    <a:moveTo>
                      <a:pt x="1714500" y="0"/>
                    </a:moveTo>
                    <a:lnTo>
                      <a:pt x="1771650" y="0"/>
                    </a:lnTo>
                    <a:cubicBezTo>
                      <a:pt x="1803212" y="0"/>
                      <a:pt x="1828800" y="25587"/>
                      <a:pt x="1828800" y="57150"/>
                    </a:cubicBezTo>
                    <a:lnTo>
                      <a:pt x="1828800" y="114300"/>
                    </a:lnTo>
                    <a:moveTo>
                      <a:pt x="1714500" y="457200"/>
                    </a:moveTo>
                    <a:lnTo>
                      <a:pt x="114300" y="457200"/>
                    </a:lnTo>
                    <a:moveTo>
                      <a:pt x="1828800" y="342900"/>
                    </a:moveTo>
                    <a:lnTo>
                      <a:pt x="1828800" y="400050"/>
                    </a:lnTo>
                    <a:cubicBezTo>
                      <a:pt x="1828800" y="431612"/>
                      <a:pt x="1803212" y="457200"/>
                      <a:pt x="1771650" y="457200"/>
                    </a:cubicBezTo>
                    <a:lnTo>
                      <a:pt x="1714500" y="457200"/>
                    </a:lnTo>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1" name="Group 10"/>
            <p:cNvGrpSpPr/>
            <p:nvPr/>
          </p:nvGrpSpPr>
          <p:grpSpPr>
            <a:xfrm>
              <a:off x="3987800" y="3956050"/>
              <a:ext cx="1130300" cy="577850"/>
              <a:chOff x="2343150" y="2857500"/>
              <a:chExt cx="1028700" cy="457200"/>
            </a:xfrm>
          </p:grpSpPr>
          <p:sp>
            <p:nvSpPr>
              <p:cNvPr id="36" name="Rounded Rectangle 22"/>
              <p:cNvSpPr/>
              <p:nvPr/>
            </p:nvSpPr>
            <p:spPr>
              <a:xfrm>
                <a:off x="2343150" y="2857500"/>
                <a:ext cx="1028700" cy="457200"/>
              </a:xfrm>
              <a:custGeom>
                <a:avLst/>
                <a:gdLst/>
                <a:ahLst/>
                <a:cxnLst/>
                <a:rect l="0" t="0" r="0" b="0"/>
                <a:pathLst>
                  <a:path w="1028700" h="457200">
                    <a:moveTo>
                      <a:pt x="0" y="57150"/>
                    </a:moveTo>
                    <a:cubicBezTo>
                      <a:pt x="0" y="25587"/>
                      <a:pt x="25587" y="0"/>
                      <a:pt x="57150" y="0"/>
                    </a:cubicBezTo>
                    <a:lnTo>
                      <a:pt x="114300" y="0"/>
                    </a:lnTo>
                    <a:lnTo>
                      <a:pt x="114300" y="114300"/>
                    </a:lnTo>
                    <a:lnTo>
                      <a:pt x="0" y="114300"/>
                    </a:lnTo>
                    <a:close/>
                    <a:moveTo>
                      <a:pt x="914400" y="0"/>
                    </a:moveTo>
                    <a:lnTo>
                      <a:pt x="914400" y="114300"/>
                    </a:lnTo>
                    <a:lnTo>
                      <a:pt x="114300" y="114300"/>
                    </a:lnTo>
                    <a:lnTo>
                      <a:pt x="114300" y="0"/>
                    </a:lnTo>
                    <a:close/>
                    <a:moveTo>
                      <a:pt x="1028700" y="114300"/>
                    </a:moveTo>
                    <a:lnTo>
                      <a:pt x="914400" y="114300"/>
                    </a:lnTo>
                    <a:lnTo>
                      <a:pt x="914400" y="0"/>
                    </a:lnTo>
                    <a:lnTo>
                      <a:pt x="971550" y="0"/>
                    </a:lnTo>
                    <a:cubicBezTo>
                      <a:pt x="1003112" y="0"/>
                      <a:pt x="1028700" y="25587"/>
                      <a:pt x="1028700" y="57150"/>
                    </a:cubicBezTo>
                    <a:close/>
                    <a:moveTo>
                      <a:pt x="1028700" y="342900"/>
                    </a:moveTo>
                    <a:lnTo>
                      <a:pt x="0" y="342900"/>
                    </a:lnTo>
                    <a:lnTo>
                      <a:pt x="0" y="114300"/>
                    </a:lnTo>
                    <a:lnTo>
                      <a:pt x="1028700" y="114300"/>
                    </a:lnTo>
                    <a:close/>
                    <a:moveTo>
                      <a:pt x="0" y="342900"/>
                    </a:moveTo>
                    <a:lnTo>
                      <a:pt x="114300" y="342900"/>
                    </a:lnTo>
                    <a:lnTo>
                      <a:pt x="114300" y="457200"/>
                    </a:lnTo>
                    <a:lnTo>
                      <a:pt x="57150" y="457200"/>
                    </a:lnTo>
                    <a:cubicBezTo>
                      <a:pt x="25587" y="457200"/>
                      <a:pt x="0" y="431612"/>
                      <a:pt x="0" y="400050"/>
                    </a:cubicBezTo>
                    <a:close/>
                    <a:moveTo>
                      <a:pt x="114300" y="457200"/>
                    </a:moveTo>
                    <a:lnTo>
                      <a:pt x="114300" y="342900"/>
                    </a:lnTo>
                    <a:lnTo>
                      <a:pt x="914400" y="342900"/>
                    </a:lnTo>
                    <a:lnTo>
                      <a:pt x="914400" y="457200"/>
                    </a:lnTo>
                    <a:close/>
                    <a:moveTo>
                      <a:pt x="914400" y="457200"/>
                    </a:moveTo>
                    <a:lnTo>
                      <a:pt x="914400" y="342900"/>
                    </a:lnTo>
                    <a:lnTo>
                      <a:pt x="1028700" y="342900"/>
                    </a:lnTo>
                    <a:lnTo>
                      <a:pt x="1028700" y="400050"/>
                    </a:lnTo>
                    <a:cubicBezTo>
                      <a:pt x="1028700" y="431612"/>
                      <a:pt x="1003112" y="457200"/>
                      <a:pt x="971550" y="457200"/>
                    </a:cubicBezTo>
                    <a:close/>
                  </a:path>
                </a:pathLst>
              </a:custGeom>
              <a:solidFill>
                <a:srgbClr val="4E8CF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7" name="Rounded Rectangle 23"/>
              <p:cNvSpPr/>
              <p:nvPr/>
            </p:nvSpPr>
            <p:spPr>
              <a:xfrm>
                <a:off x="2343150" y="2857500"/>
                <a:ext cx="1028700" cy="457200"/>
              </a:xfrm>
              <a:custGeom>
                <a:avLst/>
                <a:gdLst/>
                <a:ahLst/>
                <a:cxnLst/>
                <a:rect l="0" t="0" r="0" b="0"/>
                <a:pathLst>
                  <a:path w="1028700" h="457200">
                    <a:moveTo>
                      <a:pt x="0" y="114300"/>
                    </a:moveTo>
                    <a:lnTo>
                      <a:pt x="0" y="57150"/>
                    </a:lnTo>
                    <a:cubicBezTo>
                      <a:pt x="0" y="25587"/>
                      <a:pt x="25587" y="0"/>
                      <a:pt x="57150" y="0"/>
                    </a:cubicBezTo>
                    <a:lnTo>
                      <a:pt x="114300" y="0"/>
                    </a:lnTo>
                    <a:moveTo>
                      <a:pt x="1028700" y="114300"/>
                    </a:moveTo>
                    <a:lnTo>
                      <a:pt x="1028700" y="342900"/>
                    </a:lnTo>
                    <a:moveTo>
                      <a:pt x="0" y="342900"/>
                    </a:moveTo>
                    <a:lnTo>
                      <a:pt x="0" y="114300"/>
                    </a:lnTo>
                    <a:moveTo>
                      <a:pt x="114300" y="0"/>
                    </a:moveTo>
                    <a:lnTo>
                      <a:pt x="914400" y="0"/>
                    </a:lnTo>
                    <a:moveTo>
                      <a:pt x="114300" y="457200"/>
                    </a:moveTo>
                    <a:lnTo>
                      <a:pt x="57150" y="457200"/>
                    </a:lnTo>
                    <a:cubicBezTo>
                      <a:pt x="25587" y="457200"/>
                      <a:pt x="0" y="431612"/>
                      <a:pt x="0" y="400050"/>
                    </a:cubicBezTo>
                    <a:lnTo>
                      <a:pt x="0" y="342900"/>
                    </a:lnTo>
                    <a:moveTo>
                      <a:pt x="914400" y="0"/>
                    </a:moveTo>
                    <a:lnTo>
                      <a:pt x="971550" y="0"/>
                    </a:lnTo>
                    <a:cubicBezTo>
                      <a:pt x="1003112" y="0"/>
                      <a:pt x="1028700" y="25587"/>
                      <a:pt x="1028700" y="57150"/>
                    </a:cubicBezTo>
                    <a:lnTo>
                      <a:pt x="1028700" y="114300"/>
                    </a:lnTo>
                    <a:moveTo>
                      <a:pt x="114300" y="457200"/>
                    </a:moveTo>
                    <a:lnTo>
                      <a:pt x="914400" y="457200"/>
                    </a:lnTo>
                    <a:moveTo>
                      <a:pt x="1028700" y="342900"/>
                    </a:moveTo>
                    <a:lnTo>
                      <a:pt x="1028700" y="400050"/>
                    </a:lnTo>
                    <a:cubicBezTo>
                      <a:pt x="1028700" y="431612"/>
                      <a:pt x="1003112" y="457200"/>
                      <a:pt x="971550" y="457200"/>
                    </a:cubicBezTo>
                    <a:lnTo>
                      <a:pt x="914400" y="457200"/>
                    </a:lnTo>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2" name="Group 11"/>
            <p:cNvGrpSpPr/>
            <p:nvPr/>
          </p:nvGrpSpPr>
          <p:grpSpPr>
            <a:xfrm>
              <a:off x="1983531" y="4534286"/>
              <a:ext cx="2009422" cy="577850"/>
              <a:chOff x="400050" y="3429000"/>
              <a:chExt cx="1828800" cy="457200"/>
            </a:xfrm>
          </p:grpSpPr>
          <p:sp>
            <p:nvSpPr>
              <p:cNvPr id="34" name="Rounded Rectangle 25"/>
              <p:cNvSpPr/>
              <p:nvPr/>
            </p:nvSpPr>
            <p:spPr>
              <a:xfrm>
                <a:off x="400050" y="3429000"/>
                <a:ext cx="1828800" cy="457200"/>
              </a:xfrm>
              <a:custGeom>
                <a:avLst/>
                <a:gdLst/>
                <a:ahLst/>
                <a:cxnLst/>
                <a:rect l="0" t="0" r="0" b="0"/>
                <a:pathLst>
                  <a:path w="1828800" h="457200">
                    <a:moveTo>
                      <a:pt x="0" y="57150"/>
                    </a:moveTo>
                    <a:cubicBezTo>
                      <a:pt x="0" y="25587"/>
                      <a:pt x="25587" y="0"/>
                      <a:pt x="57150" y="0"/>
                    </a:cubicBezTo>
                    <a:lnTo>
                      <a:pt x="114300" y="0"/>
                    </a:lnTo>
                    <a:lnTo>
                      <a:pt x="114300" y="114300"/>
                    </a:lnTo>
                    <a:lnTo>
                      <a:pt x="0" y="114300"/>
                    </a:lnTo>
                    <a:close/>
                    <a:moveTo>
                      <a:pt x="1714500" y="0"/>
                    </a:moveTo>
                    <a:lnTo>
                      <a:pt x="1714500" y="114300"/>
                    </a:lnTo>
                    <a:lnTo>
                      <a:pt x="114300" y="114300"/>
                    </a:lnTo>
                    <a:lnTo>
                      <a:pt x="114300" y="0"/>
                    </a:lnTo>
                    <a:close/>
                    <a:moveTo>
                      <a:pt x="1828800" y="114300"/>
                    </a:moveTo>
                    <a:lnTo>
                      <a:pt x="1714500" y="114300"/>
                    </a:lnTo>
                    <a:lnTo>
                      <a:pt x="1714500" y="0"/>
                    </a:lnTo>
                    <a:lnTo>
                      <a:pt x="1771650" y="0"/>
                    </a:lnTo>
                    <a:cubicBezTo>
                      <a:pt x="1803212" y="0"/>
                      <a:pt x="1828800" y="25587"/>
                      <a:pt x="1828800" y="57150"/>
                    </a:cubicBezTo>
                    <a:close/>
                    <a:moveTo>
                      <a:pt x="1828800" y="342900"/>
                    </a:moveTo>
                    <a:lnTo>
                      <a:pt x="0" y="342900"/>
                    </a:lnTo>
                    <a:lnTo>
                      <a:pt x="0" y="114300"/>
                    </a:lnTo>
                    <a:lnTo>
                      <a:pt x="1828800" y="114300"/>
                    </a:lnTo>
                    <a:close/>
                    <a:moveTo>
                      <a:pt x="0" y="342900"/>
                    </a:moveTo>
                    <a:lnTo>
                      <a:pt x="114300" y="342900"/>
                    </a:lnTo>
                    <a:lnTo>
                      <a:pt x="114300" y="457200"/>
                    </a:lnTo>
                    <a:lnTo>
                      <a:pt x="57150" y="457200"/>
                    </a:lnTo>
                    <a:cubicBezTo>
                      <a:pt x="25587" y="457200"/>
                      <a:pt x="0" y="431612"/>
                      <a:pt x="0" y="400050"/>
                    </a:cubicBezTo>
                    <a:close/>
                    <a:moveTo>
                      <a:pt x="114300" y="457200"/>
                    </a:moveTo>
                    <a:lnTo>
                      <a:pt x="114300" y="342900"/>
                    </a:lnTo>
                    <a:lnTo>
                      <a:pt x="1714500" y="342900"/>
                    </a:lnTo>
                    <a:lnTo>
                      <a:pt x="1714500" y="457200"/>
                    </a:lnTo>
                    <a:close/>
                    <a:moveTo>
                      <a:pt x="1714500" y="457200"/>
                    </a:moveTo>
                    <a:lnTo>
                      <a:pt x="1714500" y="342900"/>
                    </a:lnTo>
                    <a:lnTo>
                      <a:pt x="1828800" y="342900"/>
                    </a:lnTo>
                    <a:lnTo>
                      <a:pt x="1828800" y="400050"/>
                    </a:lnTo>
                    <a:cubicBezTo>
                      <a:pt x="1828800" y="431612"/>
                      <a:pt x="1803212" y="457200"/>
                      <a:pt x="1771650" y="457200"/>
                    </a:cubicBezTo>
                    <a:close/>
                  </a:path>
                </a:pathLst>
              </a:custGeom>
              <a:solidFill>
                <a:srgbClr val="5D9B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5" name="Rounded Rectangle 26"/>
              <p:cNvSpPr/>
              <p:nvPr/>
            </p:nvSpPr>
            <p:spPr>
              <a:xfrm>
                <a:off x="400050" y="3429000"/>
                <a:ext cx="1828800" cy="457200"/>
              </a:xfrm>
              <a:custGeom>
                <a:avLst/>
                <a:gdLst/>
                <a:ahLst/>
                <a:cxnLst/>
                <a:rect l="0" t="0" r="0" b="0"/>
                <a:pathLst>
                  <a:path w="1828800" h="457200">
                    <a:moveTo>
                      <a:pt x="0" y="114300"/>
                    </a:moveTo>
                    <a:lnTo>
                      <a:pt x="0" y="57150"/>
                    </a:lnTo>
                    <a:cubicBezTo>
                      <a:pt x="0" y="25587"/>
                      <a:pt x="25587" y="0"/>
                      <a:pt x="57150" y="0"/>
                    </a:cubicBezTo>
                    <a:lnTo>
                      <a:pt x="114300" y="0"/>
                    </a:lnTo>
                    <a:moveTo>
                      <a:pt x="1828800" y="342900"/>
                    </a:moveTo>
                    <a:lnTo>
                      <a:pt x="1828800" y="114300"/>
                    </a:lnTo>
                    <a:moveTo>
                      <a:pt x="0" y="342900"/>
                    </a:moveTo>
                    <a:lnTo>
                      <a:pt x="0" y="114300"/>
                    </a:lnTo>
                    <a:moveTo>
                      <a:pt x="114300" y="0"/>
                    </a:moveTo>
                    <a:lnTo>
                      <a:pt x="1714500" y="0"/>
                    </a:lnTo>
                    <a:moveTo>
                      <a:pt x="114300" y="457200"/>
                    </a:moveTo>
                    <a:lnTo>
                      <a:pt x="57150" y="457200"/>
                    </a:lnTo>
                    <a:cubicBezTo>
                      <a:pt x="25587" y="457200"/>
                      <a:pt x="0" y="431612"/>
                      <a:pt x="0" y="400050"/>
                    </a:cubicBezTo>
                    <a:lnTo>
                      <a:pt x="0" y="342900"/>
                    </a:lnTo>
                    <a:moveTo>
                      <a:pt x="1714500" y="0"/>
                    </a:moveTo>
                    <a:lnTo>
                      <a:pt x="1771650" y="0"/>
                    </a:lnTo>
                    <a:cubicBezTo>
                      <a:pt x="1803212" y="0"/>
                      <a:pt x="1828800" y="25587"/>
                      <a:pt x="1828800" y="57150"/>
                    </a:cubicBezTo>
                    <a:lnTo>
                      <a:pt x="1828800" y="114300"/>
                    </a:lnTo>
                    <a:moveTo>
                      <a:pt x="1714500" y="457200"/>
                    </a:moveTo>
                    <a:lnTo>
                      <a:pt x="114300" y="457200"/>
                    </a:lnTo>
                    <a:moveTo>
                      <a:pt x="1828800" y="342900"/>
                    </a:moveTo>
                    <a:lnTo>
                      <a:pt x="1828800" y="400050"/>
                    </a:lnTo>
                    <a:cubicBezTo>
                      <a:pt x="1828800" y="431612"/>
                      <a:pt x="1803212" y="457200"/>
                      <a:pt x="1771650" y="457200"/>
                    </a:cubicBezTo>
                    <a:lnTo>
                      <a:pt x="1714500" y="457200"/>
                    </a:lnTo>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3" name="Group 12"/>
            <p:cNvGrpSpPr/>
            <p:nvPr/>
          </p:nvGrpSpPr>
          <p:grpSpPr>
            <a:xfrm>
              <a:off x="4002589" y="4527743"/>
              <a:ext cx="1130300" cy="577850"/>
              <a:chOff x="2343150" y="3429000"/>
              <a:chExt cx="1028700" cy="457200"/>
            </a:xfrm>
          </p:grpSpPr>
          <p:sp>
            <p:nvSpPr>
              <p:cNvPr id="32" name="Rounded Rectangle 28"/>
              <p:cNvSpPr/>
              <p:nvPr/>
            </p:nvSpPr>
            <p:spPr>
              <a:xfrm>
                <a:off x="2343150" y="3429000"/>
                <a:ext cx="1028700" cy="457200"/>
              </a:xfrm>
              <a:custGeom>
                <a:avLst/>
                <a:gdLst/>
                <a:ahLst/>
                <a:cxnLst/>
                <a:rect l="0" t="0" r="0" b="0"/>
                <a:pathLst>
                  <a:path w="1028700" h="457200">
                    <a:moveTo>
                      <a:pt x="0" y="57150"/>
                    </a:moveTo>
                    <a:cubicBezTo>
                      <a:pt x="0" y="25587"/>
                      <a:pt x="25587" y="0"/>
                      <a:pt x="57150" y="0"/>
                    </a:cubicBezTo>
                    <a:lnTo>
                      <a:pt x="114300" y="0"/>
                    </a:lnTo>
                    <a:lnTo>
                      <a:pt x="114300" y="114300"/>
                    </a:lnTo>
                    <a:lnTo>
                      <a:pt x="0" y="114300"/>
                    </a:lnTo>
                    <a:close/>
                    <a:moveTo>
                      <a:pt x="914400" y="0"/>
                    </a:moveTo>
                    <a:lnTo>
                      <a:pt x="914400" y="114300"/>
                    </a:lnTo>
                    <a:lnTo>
                      <a:pt x="114300" y="114300"/>
                    </a:lnTo>
                    <a:lnTo>
                      <a:pt x="114300" y="0"/>
                    </a:lnTo>
                    <a:close/>
                    <a:moveTo>
                      <a:pt x="1028700" y="114300"/>
                    </a:moveTo>
                    <a:lnTo>
                      <a:pt x="914400" y="114300"/>
                    </a:lnTo>
                    <a:lnTo>
                      <a:pt x="914400" y="0"/>
                    </a:lnTo>
                    <a:lnTo>
                      <a:pt x="971550" y="0"/>
                    </a:lnTo>
                    <a:cubicBezTo>
                      <a:pt x="1003112" y="0"/>
                      <a:pt x="1028700" y="25587"/>
                      <a:pt x="1028700" y="57150"/>
                    </a:cubicBezTo>
                    <a:close/>
                    <a:moveTo>
                      <a:pt x="1028700" y="342900"/>
                    </a:moveTo>
                    <a:lnTo>
                      <a:pt x="0" y="342900"/>
                    </a:lnTo>
                    <a:lnTo>
                      <a:pt x="0" y="114300"/>
                    </a:lnTo>
                    <a:lnTo>
                      <a:pt x="1028700" y="114300"/>
                    </a:lnTo>
                    <a:close/>
                    <a:moveTo>
                      <a:pt x="0" y="342900"/>
                    </a:moveTo>
                    <a:lnTo>
                      <a:pt x="114300" y="342900"/>
                    </a:lnTo>
                    <a:lnTo>
                      <a:pt x="114300" y="457200"/>
                    </a:lnTo>
                    <a:lnTo>
                      <a:pt x="57150" y="457200"/>
                    </a:lnTo>
                    <a:cubicBezTo>
                      <a:pt x="25587" y="457200"/>
                      <a:pt x="0" y="431612"/>
                      <a:pt x="0" y="400050"/>
                    </a:cubicBezTo>
                    <a:close/>
                    <a:moveTo>
                      <a:pt x="114300" y="457200"/>
                    </a:moveTo>
                    <a:lnTo>
                      <a:pt x="114300" y="342900"/>
                    </a:lnTo>
                    <a:lnTo>
                      <a:pt x="914400" y="342900"/>
                    </a:lnTo>
                    <a:lnTo>
                      <a:pt x="914400" y="457200"/>
                    </a:lnTo>
                    <a:close/>
                    <a:moveTo>
                      <a:pt x="914400" y="457200"/>
                    </a:moveTo>
                    <a:lnTo>
                      <a:pt x="914400" y="342900"/>
                    </a:lnTo>
                    <a:lnTo>
                      <a:pt x="1028700" y="342900"/>
                    </a:lnTo>
                    <a:lnTo>
                      <a:pt x="1028700" y="400050"/>
                    </a:lnTo>
                    <a:cubicBezTo>
                      <a:pt x="1028700" y="431612"/>
                      <a:pt x="1003112" y="457200"/>
                      <a:pt x="971550" y="457200"/>
                    </a:cubicBezTo>
                    <a:close/>
                  </a:path>
                </a:pathLst>
              </a:custGeom>
              <a:solidFill>
                <a:srgbClr val="5D9B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3" name="Rounded Rectangle 29"/>
              <p:cNvSpPr/>
              <p:nvPr/>
            </p:nvSpPr>
            <p:spPr>
              <a:xfrm>
                <a:off x="2343150" y="3429000"/>
                <a:ext cx="1028700" cy="457200"/>
              </a:xfrm>
              <a:custGeom>
                <a:avLst/>
                <a:gdLst/>
                <a:ahLst/>
                <a:cxnLst/>
                <a:rect l="0" t="0" r="0" b="0"/>
                <a:pathLst>
                  <a:path w="1028700" h="457200">
                    <a:moveTo>
                      <a:pt x="0" y="114300"/>
                    </a:moveTo>
                    <a:lnTo>
                      <a:pt x="0" y="57150"/>
                    </a:lnTo>
                    <a:cubicBezTo>
                      <a:pt x="0" y="25587"/>
                      <a:pt x="25587" y="0"/>
                      <a:pt x="57150" y="0"/>
                    </a:cubicBezTo>
                    <a:lnTo>
                      <a:pt x="114300" y="0"/>
                    </a:lnTo>
                    <a:moveTo>
                      <a:pt x="1028700" y="114300"/>
                    </a:moveTo>
                    <a:lnTo>
                      <a:pt x="1028700" y="342900"/>
                    </a:lnTo>
                    <a:moveTo>
                      <a:pt x="0" y="342900"/>
                    </a:moveTo>
                    <a:lnTo>
                      <a:pt x="0" y="114300"/>
                    </a:lnTo>
                    <a:moveTo>
                      <a:pt x="114300" y="0"/>
                    </a:moveTo>
                    <a:lnTo>
                      <a:pt x="914400" y="0"/>
                    </a:lnTo>
                    <a:moveTo>
                      <a:pt x="114300" y="457200"/>
                    </a:moveTo>
                    <a:lnTo>
                      <a:pt x="57150" y="457200"/>
                    </a:lnTo>
                    <a:cubicBezTo>
                      <a:pt x="25587" y="457200"/>
                      <a:pt x="0" y="431612"/>
                      <a:pt x="0" y="400050"/>
                    </a:cubicBezTo>
                    <a:lnTo>
                      <a:pt x="0" y="342900"/>
                    </a:lnTo>
                    <a:moveTo>
                      <a:pt x="914400" y="0"/>
                    </a:moveTo>
                    <a:lnTo>
                      <a:pt x="971550" y="0"/>
                    </a:lnTo>
                    <a:cubicBezTo>
                      <a:pt x="1003112" y="0"/>
                      <a:pt x="1028700" y="25587"/>
                      <a:pt x="1028700" y="57150"/>
                    </a:cubicBezTo>
                    <a:lnTo>
                      <a:pt x="1028700" y="114300"/>
                    </a:lnTo>
                    <a:moveTo>
                      <a:pt x="114300" y="457200"/>
                    </a:moveTo>
                    <a:lnTo>
                      <a:pt x="914400" y="457200"/>
                    </a:lnTo>
                    <a:moveTo>
                      <a:pt x="1028700" y="342900"/>
                    </a:moveTo>
                    <a:lnTo>
                      <a:pt x="1028700" y="400050"/>
                    </a:lnTo>
                    <a:cubicBezTo>
                      <a:pt x="1028700" y="431612"/>
                      <a:pt x="1003112" y="457200"/>
                      <a:pt x="971550" y="457200"/>
                    </a:cubicBezTo>
                    <a:lnTo>
                      <a:pt x="914400" y="457200"/>
                    </a:lnTo>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4" name="Group 13"/>
            <p:cNvGrpSpPr/>
            <p:nvPr/>
          </p:nvGrpSpPr>
          <p:grpSpPr>
            <a:xfrm>
              <a:off x="1978378" y="5099050"/>
              <a:ext cx="2009422" cy="577850"/>
              <a:chOff x="400050" y="4000500"/>
              <a:chExt cx="1828800" cy="457200"/>
            </a:xfrm>
          </p:grpSpPr>
          <p:sp>
            <p:nvSpPr>
              <p:cNvPr id="30" name="Rounded Rectangle 31"/>
              <p:cNvSpPr/>
              <p:nvPr/>
            </p:nvSpPr>
            <p:spPr>
              <a:xfrm>
                <a:off x="400050" y="4000500"/>
                <a:ext cx="1828800" cy="457200"/>
              </a:xfrm>
              <a:custGeom>
                <a:avLst/>
                <a:gdLst/>
                <a:ahLst/>
                <a:cxnLst/>
                <a:rect l="0" t="0" r="0" b="0"/>
                <a:pathLst>
                  <a:path w="1828800" h="457200">
                    <a:moveTo>
                      <a:pt x="0" y="57150"/>
                    </a:moveTo>
                    <a:cubicBezTo>
                      <a:pt x="0" y="25587"/>
                      <a:pt x="25587" y="0"/>
                      <a:pt x="57150" y="0"/>
                    </a:cubicBezTo>
                    <a:lnTo>
                      <a:pt x="114300" y="0"/>
                    </a:lnTo>
                    <a:lnTo>
                      <a:pt x="114300" y="114300"/>
                    </a:lnTo>
                    <a:lnTo>
                      <a:pt x="0" y="114300"/>
                    </a:lnTo>
                    <a:close/>
                    <a:moveTo>
                      <a:pt x="1714500" y="0"/>
                    </a:moveTo>
                    <a:lnTo>
                      <a:pt x="1714500" y="114300"/>
                    </a:lnTo>
                    <a:lnTo>
                      <a:pt x="114300" y="114300"/>
                    </a:lnTo>
                    <a:lnTo>
                      <a:pt x="114300" y="0"/>
                    </a:lnTo>
                    <a:close/>
                    <a:moveTo>
                      <a:pt x="1828800" y="114300"/>
                    </a:moveTo>
                    <a:lnTo>
                      <a:pt x="1714500" y="114300"/>
                    </a:lnTo>
                    <a:lnTo>
                      <a:pt x="1714500" y="0"/>
                    </a:lnTo>
                    <a:lnTo>
                      <a:pt x="1771650" y="0"/>
                    </a:lnTo>
                    <a:cubicBezTo>
                      <a:pt x="1803212" y="0"/>
                      <a:pt x="1828800" y="25587"/>
                      <a:pt x="1828800" y="57150"/>
                    </a:cubicBezTo>
                    <a:close/>
                    <a:moveTo>
                      <a:pt x="1828800" y="342900"/>
                    </a:moveTo>
                    <a:lnTo>
                      <a:pt x="0" y="342900"/>
                    </a:lnTo>
                    <a:lnTo>
                      <a:pt x="0" y="114300"/>
                    </a:lnTo>
                    <a:lnTo>
                      <a:pt x="1828800" y="114300"/>
                    </a:lnTo>
                    <a:close/>
                    <a:moveTo>
                      <a:pt x="0" y="342900"/>
                    </a:moveTo>
                    <a:lnTo>
                      <a:pt x="114300" y="342900"/>
                    </a:lnTo>
                    <a:lnTo>
                      <a:pt x="114300" y="457200"/>
                    </a:lnTo>
                    <a:lnTo>
                      <a:pt x="57150" y="457200"/>
                    </a:lnTo>
                    <a:cubicBezTo>
                      <a:pt x="25587" y="457200"/>
                      <a:pt x="0" y="431612"/>
                      <a:pt x="0" y="400050"/>
                    </a:cubicBezTo>
                    <a:close/>
                    <a:moveTo>
                      <a:pt x="114300" y="457200"/>
                    </a:moveTo>
                    <a:lnTo>
                      <a:pt x="114300" y="342900"/>
                    </a:lnTo>
                    <a:lnTo>
                      <a:pt x="1714500" y="342900"/>
                    </a:lnTo>
                    <a:lnTo>
                      <a:pt x="1714500" y="457200"/>
                    </a:lnTo>
                    <a:close/>
                    <a:moveTo>
                      <a:pt x="1714500" y="457200"/>
                    </a:moveTo>
                    <a:lnTo>
                      <a:pt x="1714500" y="342900"/>
                    </a:lnTo>
                    <a:lnTo>
                      <a:pt x="1828800" y="342900"/>
                    </a:lnTo>
                    <a:lnTo>
                      <a:pt x="1828800" y="400050"/>
                    </a:lnTo>
                    <a:cubicBezTo>
                      <a:pt x="1828800" y="431612"/>
                      <a:pt x="1803212" y="457200"/>
                      <a:pt x="1771650" y="457200"/>
                    </a:cubicBezTo>
                    <a:close/>
                  </a:path>
                </a:pathLst>
              </a:custGeom>
              <a:solidFill>
                <a:srgbClr val="95BD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1" name="Rounded Rectangle 32"/>
              <p:cNvSpPr/>
              <p:nvPr/>
            </p:nvSpPr>
            <p:spPr>
              <a:xfrm>
                <a:off x="400050" y="4000500"/>
                <a:ext cx="1828800" cy="457200"/>
              </a:xfrm>
              <a:custGeom>
                <a:avLst/>
                <a:gdLst/>
                <a:ahLst/>
                <a:cxnLst/>
                <a:rect l="0" t="0" r="0" b="0"/>
                <a:pathLst>
                  <a:path w="1828800" h="457200">
                    <a:moveTo>
                      <a:pt x="0" y="114300"/>
                    </a:moveTo>
                    <a:lnTo>
                      <a:pt x="0" y="57150"/>
                    </a:lnTo>
                    <a:cubicBezTo>
                      <a:pt x="0" y="25587"/>
                      <a:pt x="25587" y="0"/>
                      <a:pt x="57150" y="0"/>
                    </a:cubicBezTo>
                    <a:lnTo>
                      <a:pt x="114300" y="0"/>
                    </a:lnTo>
                    <a:moveTo>
                      <a:pt x="1828800" y="342900"/>
                    </a:moveTo>
                    <a:lnTo>
                      <a:pt x="1828800" y="114300"/>
                    </a:lnTo>
                    <a:moveTo>
                      <a:pt x="0" y="342900"/>
                    </a:moveTo>
                    <a:lnTo>
                      <a:pt x="0" y="114300"/>
                    </a:lnTo>
                    <a:moveTo>
                      <a:pt x="114300" y="0"/>
                    </a:moveTo>
                    <a:lnTo>
                      <a:pt x="1714500" y="0"/>
                    </a:lnTo>
                    <a:moveTo>
                      <a:pt x="114300" y="457200"/>
                    </a:moveTo>
                    <a:lnTo>
                      <a:pt x="57150" y="457200"/>
                    </a:lnTo>
                    <a:cubicBezTo>
                      <a:pt x="25587" y="457200"/>
                      <a:pt x="0" y="431612"/>
                      <a:pt x="0" y="400050"/>
                    </a:cubicBezTo>
                    <a:lnTo>
                      <a:pt x="0" y="342900"/>
                    </a:lnTo>
                    <a:moveTo>
                      <a:pt x="1714500" y="0"/>
                    </a:moveTo>
                    <a:lnTo>
                      <a:pt x="1771650" y="0"/>
                    </a:lnTo>
                    <a:cubicBezTo>
                      <a:pt x="1803212" y="0"/>
                      <a:pt x="1828800" y="25587"/>
                      <a:pt x="1828800" y="57150"/>
                    </a:cubicBezTo>
                    <a:lnTo>
                      <a:pt x="1828800" y="114300"/>
                    </a:lnTo>
                    <a:moveTo>
                      <a:pt x="1714500" y="457200"/>
                    </a:moveTo>
                    <a:lnTo>
                      <a:pt x="114300" y="457200"/>
                    </a:lnTo>
                    <a:moveTo>
                      <a:pt x="1828800" y="342900"/>
                    </a:moveTo>
                    <a:lnTo>
                      <a:pt x="1828800" y="400050"/>
                    </a:lnTo>
                    <a:cubicBezTo>
                      <a:pt x="1828800" y="431612"/>
                      <a:pt x="1803212" y="457200"/>
                      <a:pt x="1771650" y="457200"/>
                    </a:cubicBezTo>
                    <a:lnTo>
                      <a:pt x="1714500" y="457200"/>
                    </a:lnTo>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5" name="Group 14"/>
            <p:cNvGrpSpPr/>
            <p:nvPr/>
          </p:nvGrpSpPr>
          <p:grpSpPr>
            <a:xfrm>
              <a:off x="4002589" y="5099050"/>
              <a:ext cx="1130300" cy="577850"/>
              <a:chOff x="2343150" y="4000500"/>
              <a:chExt cx="1028700" cy="457200"/>
            </a:xfrm>
          </p:grpSpPr>
          <p:sp>
            <p:nvSpPr>
              <p:cNvPr id="28" name="Rounded Rectangle 34"/>
              <p:cNvSpPr/>
              <p:nvPr/>
            </p:nvSpPr>
            <p:spPr>
              <a:xfrm>
                <a:off x="2343150" y="4000500"/>
                <a:ext cx="1028700" cy="457200"/>
              </a:xfrm>
              <a:custGeom>
                <a:avLst/>
                <a:gdLst/>
                <a:ahLst/>
                <a:cxnLst/>
                <a:rect l="0" t="0" r="0" b="0"/>
                <a:pathLst>
                  <a:path w="1028700" h="457200">
                    <a:moveTo>
                      <a:pt x="0" y="57150"/>
                    </a:moveTo>
                    <a:cubicBezTo>
                      <a:pt x="0" y="25587"/>
                      <a:pt x="25587" y="0"/>
                      <a:pt x="57150" y="0"/>
                    </a:cubicBezTo>
                    <a:lnTo>
                      <a:pt x="114300" y="0"/>
                    </a:lnTo>
                    <a:lnTo>
                      <a:pt x="114300" y="114300"/>
                    </a:lnTo>
                    <a:lnTo>
                      <a:pt x="0" y="114300"/>
                    </a:lnTo>
                    <a:close/>
                    <a:moveTo>
                      <a:pt x="914400" y="0"/>
                    </a:moveTo>
                    <a:lnTo>
                      <a:pt x="914400" y="114300"/>
                    </a:lnTo>
                    <a:lnTo>
                      <a:pt x="114300" y="114300"/>
                    </a:lnTo>
                    <a:lnTo>
                      <a:pt x="114300" y="0"/>
                    </a:lnTo>
                    <a:close/>
                    <a:moveTo>
                      <a:pt x="1028700" y="114300"/>
                    </a:moveTo>
                    <a:lnTo>
                      <a:pt x="914400" y="114300"/>
                    </a:lnTo>
                    <a:lnTo>
                      <a:pt x="914400" y="0"/>
                    </a:lnTo>
                    <a:lnTo>
                      <a:pt x="971550" y="0"/>
                    </a:lnTo>
                    <a:cubicBezTo>
                      <a:pt x="1003112" y="0"/>
                      <a:pt x="1028700" y="25587"/>
                      <a:pt x="1028700" y="57150"/>
                    </a:cubicBezTo>
                    <a:close/>
                    <a:moveTo>
                      <a:pt x="1028700" y="342900"/>
                    </a:moveTo>
                    <a:lnTo>
                      <a:pt x="0" y="342900"/>
                    </a:lnTo>
                    <a:lnTo>
                      <a:pt x="0" y="114300"/>
                    </a:lnTo>
                    <a:lnTo>
                      <a:pt x="1028700" y="114300"/>
                    </a:lnTo>
                    <a:close/>
                    <a:moveTo>
                      <a:pt x="0" y="342900"/>
                    </a:moveTo>
                    <a:lnTo>
                      <a:pt x="114300" y="342900"/>
                    </a:lnTo>
                    <a:lnTo>
                      <a:pt x="114300" y="457200"/>
                    </a:lnTo>
                    <a:lnTo>
                      <a:pt x="57150" y="457200"/>
                    </a:lnTo>
                    <a:cubicBezTo>
                      <a:pt x="25587" y="457200"/>
                      <a:pt x="0" y="431612"/>
                      <a:pt x="0" y="400050"/>
                    </a:cubicBezTo>
                    <a:close/>
                    <a:moveTo>
                      <a:pt x="114300" y="457200"/>
                    </a:moveTo>
                    <a:lnTo>
                      <a:pt x="114300" y="342900"/>
                    </a:lnTo>
                    <a:lnTo>
                      <a:pt x="914400" y="342900"/>
                    </a:lnTo>
                    <a:lnTo>
                      <a:pt x="914400" y="457200"/>
                    </a:lnTo>
                    <a:close/>
                    <a:moveTo>
                      <a:pt x="914400" y="457200"/>
                    </a:moveTo>
                    <a:lnTo>
                      <a:pt x="914400" y="342900"/>
                    </a:lnTo>
                    <a:lnTo>
                      <a:pt x="1028700" y="342900"/>
                    </a:lnTo>
                    <a:lnTo>
                      <a:pt x="1028700" y="400050"/>
                    </a:lnTo>
                    <a:cubicBezTo>
                      <a:pt x="1028700" y="431612"/>
                      <a:pt x="1003112" y="457200"/>
                      <a:pt x="971550" y="457200"/>
                    </a:cubicBezTo>
                    <a:close/>
                  </a:path>
                </a:pathLst>
              </a:custGeom>
              <a:solidFill>
                <a:srgbClr val="95BD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9" name="Rounded Rectangle 35"/>
              <p:cNvSpPr/>
              <p:nvPr/>
            </p:nvSpPr>
            <p:spPr>
              <a:xfrm>
                <a:off x="2343150" y="4000500"/>
                <a:ext cx="1028700" cy="457200"/>
              </a:xfrm>
              <a:custGeom>
                <a:avLst/>
                <a:gdLst/>
                <a:ahLst/>
                <a:cxnLst/>
                <a:rect l="0" t="0" r="0" b="0"/>
                <a:pathLst>
                  <a:path w="1028700" h="457200">
                    <a:moveTo>
                      <a:pt x="0" y="114300"/>
                    </a:moveTo>
                    <a:lnTo>
                      <a:pt x="0" y="57150"/>
                    </a:lnTo>
                    <a:cubicBezTo>
                      <a:pt x="0" y="25587"/>
                      <a:pt x="25587" y="0"/>
                      <a:pt x="57150" y="0"/>
                    </a:cubicBezTo>
                    <a:lnTo>
                      <a:pt x="114300" y="0"/>
                    </a:lnTo>
                    <a:moveTo>
                      <a:pt x="1028700" y="114300"/>
                    </a:moveTo>
                    <a:lnTo>
                      <a:pt x="1028700" y="342900"/>
                    </a:lnTo>
                    <a:moveTo>
                      <a:pt x="0" y="342900"/>
                    </a:moveTo>
                    <a:lnTo>
                      <a:pt x="0" y="114300"/>
                    </a:lnTo>
                    <a:moveTo>
                      <a:pt x="114300" y="0"/>
                    </a:moveTo>
                    <a:lnTo>
                      <a:pt x="914400" y="0"/>
                    </a:lnTo>
                    <a:moveTo>
                      <a:pt x="114300" y="457200"/>
                    </a:moveTo>
                    <a:lnTo>
                      <a:pt x="57150" y="457200"/>
                    </a:lnTo>
                    <a:cubicBezTo>
                      <a:pt x="25587" y="457200"/>
                      <a:pt x="0" y="431612"/>
                      <a:pt x="0" y="400050"/>
                    </a:cubicBezTo>
                    <a:lnTo>
                      <a:pt x="0" y="342900"/>
                    </a:lnTo>
                    <a:moveTo>
                      <a:pt x="914400" y="0"/>
                    </a:moveTo>
                    <a:lnTo>
                      <a:pt x="971550" y="0"/>
                    </a:lnTo>
                    <a:cubicBezTo>
                      <a:pt x="1003112" y="0"/>
                      <a:pt x="1028700" y="25587"/>
                      <a:pt x="1028700" y="57150"/>
                    </a:cubicBezTo>
                    <a:lnTo>
                      <a:pt x="1028700" y="114300"/>
                    </a:lnTo>
                    <a:moveTo>
                      <a:pt x="114300" y="457200"/>
                    </a:moveTo>
                    <a:lnTo>
                      <a:pt x="914400" y="457200"/>
                    </a:lnTo>
                    <a:moveTo>
                      <a:pt x="1028700" y="342900"/>
                    </a:moveTo>
                    <a:lnTo>
                      <a:pt x="1028700" y="400050"/>
                    </a:lnTo>
                    <a:cubicBezTo>
                      <a:pt x="1028700" y="431612"/>
                      <a:pt x="1003112" y="457200"/>
                      <a:pt x="971550" y="457200"/>
                    </a:cubicBezTo>
                    <a:lnTo>
                      <a:pt x="914400" y="457200"/>
                    </a:lnTo>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
          <p:nvSpPr>
            <p:cNvPr id="16" name="TextBox 37"/>
            <p:cNvSpPr txBox="1"/>
            <p:nvPr/>
          </p:nvSpPr>
          <p:spPr>
            <a:xfrm>
              <a:off x="4373561" y="3541712"/>
              <a:ext cx="573767" cy="241710"/>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a:solidFill>
                    <a:srgbClr val="FFFFFF"/>
                  </a:solidFill>
                </a:rPr>
                <a:t>10%</a:t>
              </a:r>
            </a:p>
          </p:txBody>
        </p:sp>
        <p:sp>
          <p:nvSpPr>
            <p:cNvPr id="17" name="TextBox 38"/>
            <p:cNvSpPr txBox="1"/>
            <p:nvPr/>
          </p:nvSpPr>
          <p:spPr>
            <a:xfrm>
              <a:off x="2104938" y="3517707"/>
              <a:ext cx="3241786" cy="241710"/>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b="1" dirty="0">
                  <a:solidFill>
                    <a:srgbClr val="FFFFFF"/>
                  </a:solidFill>
                </a:rPr>
                <a:t>50 Lakh - 1 Crore</a:t>
              </a:r>
            </a:p>
          </p:txBody>
        </p:sp>
        <p:sp>
          <p:nvSpPr>
            <p:cNvPr id="18" name="TextBox 39"/>
            <p:cNvSpPr txBox="1"/>
            <p:nvPr/>
          </p:nvSpPr>
          <p:spPr>
            <a:xfrm>
              <a:off x="2111728" y="4089593"/>
              <a:ext cx="3098344" cy="241710"/>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b="1" dirty="0">
                  <a:solidFill>
                    <a:srgbClr val="FFFFFF"/>
                  </a:solidFill>
                </a:rPr>
                <a:t>1 Crore - 2 Crore</a:t>
              </a:r>
            </a:p>
          </p:txBody>
        </p:sp>
        <p:sp>
          <p:nvSpPr>
            <p:cNvPr id="19" name="TextBox 40"/>
            <p:cNvSpPr txBox="1"/>
            <p:nvPr/>
          </p:nvSpPr>
          <p:spPr>
            <a:xfrm>
              <a:off x="4366920" y="2969231"/>
              <a:ext cx="401638" cy="241710"/>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0%</a:t>
              </a:r>
            </a:p>
          </p:txBody>
        </p:sp>
        <p:sp>
          <p:nvSpPr>
            <p:cNvPr id="20" name="TextBox 41"/>
            <p:cNvSpPr txBox="1"/>
            <p:nvPr/>
          </p:nvSpPr>
          <p:spPr>
            <a:xfrm>
              <a:off x="4373561" y="4113212"/>
              <a:ext cx="573767" cy="241710"/>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a:solidFill>
                    <a:srgbClr val="FFFFFF"/>
                  </a:solidFill>
                </a:rPr>
                <a:t>15%</a:t>
              </a:r>
            </a:p>
          </p:txBody>
        </p:sp>
        <p:sp>
          <p:nvSpPr>
            <p:cNvPr id="21" name="TextBox 42"/>
            <p:cNvSpPr txBox="1"/>
            <p:nvPr/>
          </p:nvSpPr>
          <p:spPr>
            <a:xfrm>
              <a:off x="2208503" y="2946207"/>
              <a:ext cx="1549172" cy="241710"/>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en-US" b="1" dirty="0">
                  <a:solidFill>
                    <a:srgbClr val="FFFFFF"/>
                  </a:solidFill>
                </a:rPr>
                <a:t>Up to </a:t>
              </a:r>
              <a:r>
                <a:rPr b="1" dirty="0">
                  <a:solidFill>
                    <a:srgbClr val="FFFFFF"/>
                  </a:solidFill>
                </a:rPr>
                <a:t>50 Lakh</a:t>
              </a:r>
            </a:p>
          </p:txBody>
        </p:sp>
        <p:sp>
          <p:nvSpPr>
            <p:cNvPr id="22" name="TextBox 43"/>
            <p:cNvSpPr txBox="1"/>
            <p:nvPr/>
          </p:nvSpPr>
          <p:spPr>
            <a:xfrm>
              <a:off x="4373561" y="5256212"/>
              <a:ext cx="573767" cy="241710"/>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a:solidFill>
                    <a:srgbClr val="FFFFFF"/>
                  </a:solidFill>
                </a:rPr>
                <a:t>37%</a:t>
              </a:r>
            </a:p>
          </p:txBody>
        </p:sp>
        <p:sp>
          <p:nvSpPr>
            <p:cNvPr id="23" name="TextBox 44"/>
            <p:cNvSpPr txBox="1"/>
            <p:nvPr/>
          </p:nvSpPr>
          <p:spPr>
            <a:xfrm>
              <a:off x="4069345" y="2374707"/>
              <a:ext cx="996787" cy="241710"/>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FFFFFF"/>
                  </a:solidFill>
                </a:rPr>
                <a:t>Tax Rate</a:t>
              </a:r>
            </a:p>
          </p:txBody>
        </p:sp>
        <p:sp>
          <p:nvSpPr>
            <p:cNvPr id="24" name="TextBox 45"/>
            <p:cNvSpPr txBox="1"/>
            <p:nvPr/>
          </p:nvSpPr>
          <p:spPr>
            <a:xfrm>
              <a:off x="4373561" y="4684712"/>
              <a:ext cx="573767" cy="241710"/>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a:solidFill>
                    <a:srgbClr val="FFFFFF"/>
                  </a:solidFill>
                </a:rPr>
                <a:t>25%</a:t>
              </a:r>
            </a:p>
          </p:txBody>
        </p:sp>
        <p:sp>
          <p:nvSpPr>
            <p:cNvPr id="25" name="TextBox 46"/>
            <p:cNvSpPr txBox="1"/>
            <p:nvPr/>
          </p:nvSpPr>
          <p:spPr>
            <a:xfrm>
              <a:off x="2104938" y="2374900"/>
              <a:ext cx="1773943" cy="241710"/>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b="1" dirty="0">
                  <a:solidFill>
                    <a:srgbClr val="FFFFFF"/>
                  </a:solidFill>
                </a:rPr>
                <a:t>Income </a:t>
              </a:r>
              <a:r>
                <a:rPr lang="en-US" b="1" dirty="0">
                  <a:solidFill>
                    <a:srgbClr val="FFFFFF"/>
                  </a:solidFill>
                </a:rPr>
                <a:t>Range</a:t>
              </a:r>
              <a:endParaRPr b="1" dirty="0">
                <a:solidFill>
                  <a:srgbClr val="FFFFFF"/>
                </a:solidFill>
              </a:endParaRPr>
            </a:p>
          </p:txBody>
        </p:sp>
        <p:sp>
          <p:nvSpPr>
            <p:cNvPr id="26" name="TextBox 47"/>
            <p:cNvSpPr txBox="1"/>
            <p:nvPr/>
          </p:nvSpPr>
          <p:spPr>
            <a:xfrm>
              <a:off x="2178050" y="5256212"/>
              <a:ext cx="1638978" cy="241710"/>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en-US" b="1" dirty="0">
                  <a:solidFill>
                    <a:srgbClr val="FFFFFF"/>
                  </a:solidFill>
                </a:rPr>
                <a:t>Above </a:t>
              </a:r>
              <a:r>
                <a:rPr b="1" dirty="0">
                  <a:solidFill>
                    <a:srgbClr val="FFFFFF"/>
                  </a:solidFill>
                </a:rPr>
                <a:t>5 Crore</a:t>
              </a:r>
            </a:p>
          </p:txBody>
        </p:sp>
        <p:sp>
          <p:nvSpPr>
            <p:cNvPr id="27" name="TextBox 49"/>
            <p:cNvSpPr txBox="1"/>
            <p:nvPr/>
          </p:nvSpPr>
          <p:spPr>
            <a:xfrm>
              <a:off x="2104938" y="4660900"/>
              <a:ext cx="3098344" cy="241710"/>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b="1" dirty="0">
                  <a:solidFill>
                    <a:srgbClr val="FFFFFF"/>
                  </a:solidFill>
                </a:rPr>
                <a:t>2 Crore - 5 Crore</a:t>
              </a:r>
            </a:p>
          </p:txBody>
        </p:sp>
        <p:grpSp>
          <p:nvGrpSpPr>
            <p:cNvPr id="54" name="Group 53"/>
            <p:cNvGrpSpPr/>
            <p:nvPr/>
          </p:nvGrpSpPr>
          <p:grpSpPr>
            <a:xfrm>
              <a:off x="6519608" y="2229624"/>
              <a:ext cx="2009422" cy="577850"/>
              <a:chOff x="400050" y="1143000"/>
              <a:chExt cx="1828800" cy="457200"/>
            </a:xfrm>
          </p:grpSpPr>
          <p:sp>
            <p:nvSpPr>
              <p:cNvPr id="55" name="Rounded Rectangle 1"/>
              <p:cNvSpPr/>
              <p:nvPr/>
            </p:nvSpPr>
            <p:spPr>
              <a:xfrm>
                <a:off x="400050" y="1143000"/>
                <a:ext cx="1828800" cy="457200"/>
              </a:xfrm>
              <a:custGeom>
                <a:avLst/>
                <a:gdLst/>
                <a:ahLst/>
                <a:cxnLst/>
                <a:rect l="0" t="0" r="0" b="0"/>
                <a:pathLst>
                  <a:path w="1828800" h="457200">
                    <a:moveTo>
                      <a:pt x="0" y="57150"/>
                    </a:moveTo>
                    <a:cubicBezTo>
                      <a:pt x="0" y="25587"/>
                      <a:pt x="25587" y="0"/>
                      <a:pt x="57150" y="0"/>
                    </a:cubicBezTo>
                    <a:lnTo>
                      <a:pt x="114300" y="0"/>
                    </a:lnTo>
                    <a:lnTo>
                      <a:pt x="114300" y="114300"/>
                    </a:lnTo>
                    <a:lnTo>
                      <a:pt x="0" y="114300"/>
                    </a:lnTo>
                    <a:close/>
                    <a:moveTo>
                      <a:pt x="1714500" y="0"/>
                    </a:moveTo>
                    <a:lnTo>
                      <a:pt x="1714500" y="114300"/>
                    </a:lnTo>
                    <a:lnTo>
                      <a:pt x="114300" y="114300"/>
                    </a:lnTo>
                    <a:lnTo>
                      <a:pt x="114300" y="0"/>
                    </a:lnTo>
                    <a:close/>
                    <a:moveTo>
                      <a:pt x="1828800" y="114300"/>
                    </a:moveTo>
                    <a:lnTo>
                      <a:pt x="1714500" y="114300"/>
                    </a:lnTo>
                    <a:lnTo>
                      <a:pt x="1714500" y="0"/>
                    </a:lnTo>
                    <a:lnTo>
                      <a:pt x="1771650" y="0"/>
                    </a:lnTo>
                    <a:cubicBezTo>
                      <a:pt x="1803212" y="0"/>
                      <a:pt x="1828800" y="25587"/>
                      <a:pt x="1828800" y="57150"/>
                    </a:cubicBezTo>
                    <a:close/>
                    <a:moveTo>
                      <a:pt x="1828800" y="342900"/>
                    </a:moveTo>
                    <a:lnTo>
                      <a:pt x="0" y="342900"/>
                    </a:lnTo>
                    <a:lnTo>
                      <a:pt x="0" y="114300"/>
                    </a:lnTo>
                    <a:lnTo>
                      <a:pt x="1828800" y="114300"/>
                    </a:lnTo>
                    <a:close/>
                    <a:moveTo>
                      <a:pt x="0" y="342900"/>
                    </a:moveTo>
                    <a:lnTo>
                      <a:pt x="114300" y="342900"/>
                    </a:lnTo>
                    <a:lnTo>
                      <a:pt x="114300" y="457200"/>
                    </a:lnTo>
                    <a:lnTo>
                      <a:pt x="57150" y="457200"/>
                    </a:lnTo>
                    <a:cubicBezTo>
                      <a:pt x="25587" y="457200"/>
                      <a:pt x="0" y="431612"/>
                      <a:pt x="0" y="400050"/>
                    </a:cubicBezTo>
                    <a:close/>
                    <a:moveTo>
                      <a:pt x="114300" y="457200"/>
                    </a:moveTo>
                    <a:lnTo>
                      <a:pt x="114300" y="342900"/>
                    </a:lnTo>
                    <a:lnTo>
                      <a:pt x="1714500" y="342900"/>
                    </a:lnTo>
                    <a:lnTo>
                      <a:pt x="1714500" y="457200"/>
                    </a:lnTo>
                    <a:close/>
                    <a:moveTo>
                      <a:pt x="1714500" y="457200"/>
                    </a:moveTo>
                    <a:lnTo>
                      <a:pt x="1714500" y="342900"/>
                    </a:lnTo>
                    <a:lnTo>
                      <a:pt x="1828800" y="342900"/>
                    </a:lnTo>
                    <a:lnTo>
                      <a:pt x="1828800" y="400050"/>
                    </a:lnTo>
                    <a:cubicBezTo>
                      <a:pt x="1828800" y="431612"/>
                      <a:pt x="1803212" y="457200"/>
                      <a:pt x="1771650" y="457200"/>
                    </a:cubicBezTo>
                    <a:close/>
                  </a:path>
                </a:pathLst>
              </a:custGeom>
              <a:solidFill>
                <a:srgbClr val="484848"/>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56" name="Rounded Rectangle 2"/>
              <p:cNvSpPr/>
              <p:nvPr/>
            </p:nvSpPr>
            <p:spPr>
              <a:xfrm>
                <a:off x="400050" y="1143000"/>
                <a:ext cx="1828800" cy="457200"/>
              </a:xfrm>
              <a:custGeom>
                <a:avLst/>
                <a:gdLst/>
                <a:ahLst/>
                <a:cxnLst/>
                <a:rect l="0" t="0" r="0" b="0"/>
                <a:pathLst>
                  <a:path w="1828800" h="457200">
                    <a:moveTo>
                      <a:pt x="0" y="114300"/>
                    </a:moveTo>
                    <a:lnTo>
                      <a:pt x="0" y="57150"/>
                    </a:lnTo>
                    <a:cubicBezTo>
                      <a:pt x="0" y="25587"/>
                      <a:pt x="25587" y="0"/>
                      <a:pt x="57150" y="0"/>
                    </a:cubicBezTo>
                    <a:lnTo>
                      <a:pt x="114300" y="0"/>
                    </a:lnTo>
                    <a:moveTo>
                      <a:pt x="1828800" y="342900"/>
                    </a:moveTo>
                    <a:lnTo>
                      <a:pt x="1828800" y="114300"/>
                    </a:lnTo>
                    <a:moveTo>
                      <a:pt x="0" y="342900"/>
                    </a:moveTo>
                    <a:lnTo>
                      <a:pt x="0" y="114300"/>
                    </a:lnTo>
                    <a:moveTo>
                      <a:pt x="114300" y="0"/>
                    </a:moveTo>
                    <a:lnTo>
                      <a:pt x="1714500" y="0"/>
                    </a:lnTo>
                    <a:moveTo>
                      <a:pt x="114300" y="457200"/>
                    </a:moveTo>
                    <a:lnTo>
                      <a:pt x="57150" y="457200"/>
                    </a:lnTo>
                    <a:cubicBezTo>
                      <a:pt x="25587" y="457200"/>
                      <a:pt x="0" y="431612"/>
                      <a:pt x="0" y="400050"/>
                    </a:cubicBezTo>
                    <a:lnTo>
                      <a:pt x="0" y="342900"/>
                    </a:lnTo>
                    <a:moveTo>
                      <a:pt x="1714500" y="0"/>
                    </a:moveTo>
                    <a:lnTo>
                      <a:pt x="1771650" y="0"/>
                    </a:lnTo>
                    <a:cubicBezTo>
                      <a:pt x="1803212" y="0"/>
                      <a:pt x="1828800" y="25587"/>
                      <a:pt x="1828800" y="57150"/>
                    </a:cubicBezTo>
                    <a:lnTo>
                      <a:pt x="1828800" y="114300"/>
                    </a:lnTo>
                    <a:moveTo>
                      <a:pt x="1714500" y="457200"/>
                    </a:moveTo>
                    <a:lnTo>
                      <a:pt x="114300" y="457200"/>
                    </a:lnTo>
                    <a:moveTo>
                      <a:pt x="1828800" y="342900"/>
                    </a:moveTo>
                    <a:lnTo>
                      <a:pt x="1828800" y="400050"/>
                    </a:lnTo>
                    <a:cubicBezTo>
                      <a:pt x="1828800" y="431612"/>
                      <a:pt x="1803212" y="457200"/>
                      <a:pt x="1771650" y="457200"/>
                    </a:cubicBezTo>
                    <a:lnTo>
                      <a:pt x="1714500" y="457200"/>
                    </a:lnTo>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57" name="Group 56"/>
            <p:cNvGrpSpPr/>
            <p:nvPr/>
          </p:nvGrpSpPr>
          <p:grpSpPr>
            <a:xfrm>
              <a:off x="8546671" y="2229624"/>
              <a:ext cx="1130300" cy="577850"/>
              <a:chOff x="2343150" y="1143000"/>
              <a:chExt cx="1028700" cy="457200"/>
            </a:xfrm>
          </p:grpSpPr>
          <p:sp>
            <p:nvSpPr>
              <p:cNvPr id="58" name="Rounded Rectangle 4"/>
              <p:cNvSpPr/>
              <p:nvPr/>
            </p:nvSpPr>
            <p:spPr>
              <a:xfrm>
                <a:off x="2343150" y="1143000"/>
                <a:ext cx="1028700" cy="457200"/>
              </a:xfrm>
              <a:custGeom>
                <a:avLst/>
                <a:gdLst/>
                <a:ahLst/>
                <a:cxnLst/>
                <a:rect l="0" t="0" r="0" b="0"/>
                <a:pathLst>
                  <a:path w="1028700" h="457200">
                    <a:moveTo>
                      <a:pt x="0" y="57150"/>
                    </a:moveTo>
                    <a:cubicBezTo>
                      <a:pt x="0" y="25587"/>
                      <a:pt x="25587" y="0"/>
                      <a:pt x="57150" y="0"/>
                    </a:cubicBezTo>
                    <a:lnTo>
                      <a:pt x="114300" y="0"/>
                    </a:lnTo>
                    <a:lnTo>
                      <a:pt x="114300" y="114300"/>
                    </a:lnTo>
                    <a:lnTo>
                      <a:pt x="0" y="114300"/>
                    </a:lnTo>
                    <a:close/>
                    <a:moveTo>
                      <a:pt x="914400" y="0"/>
                    </a:moveTo>
                    <a:lnTo>
                      <a:pt x="914400" y="114300"/>
                    </a:lnTo>
                    <a:lnTo>
                      <a:pt x="114300" y="114300"/>
                    </a:lnTo>
                    <a:lnTo>
                      <a:pt x="114300" y="0"/>
                    </a:lnTo>
                    <a:close/>
                    <a:moveTo>
                      <a:pt x="1028700" y="114300"/>
                    </a:moveTo>
                    <a:lnTo>
                      <a:pt x="914400" y="114300"/>
                    </a:lnTo>
                    <a:lnTo>
                      <a:pt x="914400" y="0"/>
                    </a:lnTo>
                    <a:lnTo>
                      <a:pt x="971550" y="0"/>
                    </a:lnTo>
                    <a:cubicBezTo>
                      <a:pt x="1003112" y="0"/>
                      <a:pt x="1028700" y="25587"/>
                      <a:pt x="1028700" y="57150"/>
                    </a:cubicBezTo>
                    <a:close/>
                    <a:moveTo>
                      <a:pt x="1028700" y="342900"/>
                    </a:moveTo>
                    <a:lnTo>
                      <a:pt x="0" y="342900"/>
                    </a:lnTo>
                    <a:lnTo>
                      <a:pt x="0" y="114300"/>
                    </a:lnTo>
                    <a:lnTo>
                      <a:pt x="1028700" y="114300"/>
                    </a:lnTo>
                    <a:close/>
                    <a:moveTo>
                      <a:pt x="0" y="342900"/>
                    </a:moveTo>
                    <a:lnTo>
                      <a:pt x="114300" y="342900"/>
                    </a:lnTo>
                    <a:lnTo>
                      <a:pt x="114300" y="457200"/>
                    </a:lnTo>
                    <a:lnTo>
                      <a:pt x="57150" y="457200"/>
                    </a:lnTo>
                    <a:cubicBezTo>
                      <a:pt x="25587" y="457200"/>
                      <a:pt x="0" y="431612"/>
                      <a:pt x="0" y="400050"/>
                    </a:cubicBezTo>
                    <a:close/>
                    <a:moveTo>
                      <a:pt x="114300" y="457200"/>
                    </a:moveTo>
                    <a:lnTo>
                      <a:pt x="114300" y="342900"/>
                    </a:lnTo>
                    <a:lnTo>
                      <a:pt x="914400" y="342900"/>
                    </a:lnTo>
                    <a:lnTo>
                      <a:pt x="914400" y="457200"/>
                    </a:lnTo>
                    <a:close/>
                    <a:moveTo>
                      <a:pt x="914400" y="457200"/>
                    </a:moveTo>
                    <a:lnTo>
                      <a:pt x="914400" y="342900"/>
                    </a:lnTo>
                    <a:lnTo>
                      <a:pt x="1028700" y="342900"/>
                    </a:lnTo>
                    <a:lnTo>
                      <a:pt x="1028700" y="400050"/>
                    </a:lnTo>
                    <a:cubicBezTo>
                      <a:pt x="1028700" y="431612"/>
                      <a:pt x="1003112" y="457200"/>
                      <a:pt x="971550" y="457200"/>
                    </a:cubicBezTo>
                    <a:close/>
                  </a:path>
                </a:pathLst>
              </a:custGeom>
              <a:solidFill>
                <a:srgbClr val="484848"/>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59" name="Rounded Rectangle 5"/>
              <p:cNvSpPr/>
              <p:nvPr/>
            </p:nvSpPr>
            <p:spPr>
              <a:xfrm>
                <a:off x="2343150" y="1143000"/>
                <a:ext cx="1028700" cy="457200"/>
              </a:xfrm>
              <a:custGeom>
                <a:avLst/>
                <a:gdLst/>
                <a:ahLst/>
                <a:cxnLst/>
                <a:rect l="0" t="0" r="0" b="0"/>
                <a:pathLst>
                  <a:path w="1028700" h="457200">
                    <a:moveTo>
                      <a:pt x="0" y="114300"/>
                    </a:moveTo>
                    <a:lnTo>
                      <a:pt x="0" y="57150"/>
                    </a:lnTo>
                    <a:cubicBezTo>
                      <a:pt x="0" y="25587"/>
                      <a:pt x="25587" y="0"/>
                      <a:pt x="57150" y="0"/>
                    </a:cubicBezTo>
                    <a:lnTo>
                      <a:pt x="114300" y="0"/>
                    </a:lnTo>
                    <a:moveTo>
                      <a:pt x="1028700" y="114300"/>
                    </a:moveTo>
                    <a:lnTo>
                      <a:pt x="1028700" y="342900"/>
                    </a:lnTo>
                    <a:moveTo>
                      <a:pt x="0" y="342900"/>
                    </a:moveTo>
                    <a:lnTo>
                      <a:pt x="0" y="114300"/>
                    </a:lnTo>
                    <a:moveTo>
                      <a:pt x="114300" y="0"/>
                    </a:moveTo>
                    <a:lnTo>
                      <a:pt x="914400" y="0"/>
                    </a:lnTo>
                    <a:moveTo>
                      <a:pt x="114300" y="457200"/>
                    </a:moveTo>
                    <a:lnTo>
                      <a:pt x="57150" y="457200"/>
                    </a:lnTo>
                    <a:cubicBezTo>
                      <a:pt x="25587" y="457200"/>
                      <a:pt x="0" y="431612"/>
                      <a:pt x="0" y="400050"/>
                    </a:cubicBezTo>
                    <a:lnTo>
                      <a:pt x="0" y="342900"/>
                    </a:lnTo>
                    <a:moveTo>
                      <a:pt x="914400" y="0"/>
                    </a:moveTo>
                    <a:lnTo>
                      <a:pt x="971550" y="0"/>
                    </a:lnTo>
                    <a:cubicBezTo>
                      <a:pt x="1003112" y="0"/>
                      <a:pt x="1028700" y="25587"/>
                      <a:pt x="1028700" y="57150"/>
                    </a:cubicBezTo>
                    <a:lnTo>
                      <a:pt x="1028700" y="114300"/>
                    </a:lnTo>
                    <a:moveTo>
                      <a:pt x="114300" y="457200"/>
                    </a:moveTo>
                    <a:lnTo>
                      <a:pt x="914400" y="457200"/>
                    </a:lnTo>
                    <a:moveTo>
                      <a:pt x="1028700" y="342900"/>
                    </a:moveTo>
                    <a:lnTo>
                      <a:pt x="1028700" y="400050"/>
                    </a:lnTo>
                    <a:cubicBezTo>
                      <a:pt x="1028700" y="431612"/>
                      <a:pt x="1003112" y="457200"/>
                      <a:pt x="971550" y="457200"/>
                    </a:cubicBezTo>
                    <a:lnTo>
                      <a:pt x="914400" y="457200"/>
                    </a:lnTo>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60" name="Group 59"/>
            <p:cNvGrpSpPr/>
            <p:nvPr/>
          </p:nvGrpSpPr>
          <p:grpSpPr>
            <a:xfrm>
              <a:off x="6519608" y="2813050"/>
              <a:ext cx="2009422" cy="577850"/>
              <a:chOff x="400050" y="1714500"/>
              <a:chExt cx="1828800" cy="457200"/>
            </a:xfrm>
          </p:grpSpPr>
          <p:sp>
            <p:nvSpPr>
              <p:cNvPr id="61" name="Rounded Rectangle 7"/>
              <p:cNvSpPr/>
              <p:nvPr/>
            </p:nvSpPr>
            <p:spPr>
              <a:xfrm>
                <a:off x="400050" y="1714500"/>
                <a:ext cx="1828800" cy="457200"/>
              </a:xfrm>
              <a:custGeom>
                <a:avLst/>
                <a:gdLst/>
                <a:ahLst/>
                <a:cxnLst/>
                <a:rect l="0" t="0" r="0" b="0"/>
                <a:pathLst>
                  <a:path w="1828800" h="457200">
                    <a:moveTo>
                      <a:pt x="0" y="57150"/>
                    </a:moveTo>
                    <a:cubicBezTo>
                      <a:pt x="0" y="25587"/>
                      <a:pt x="25587" y="0"/>
                      <a:pt x="57150" y="0"/>
                    </a:cubicBezTo>
                    <a:lnTo>
                      <a:pt x="114300" y="0"/>
                    </a:lnTo>
                    <a:lnTo>
                      <a:pt x="114300" y="114300"/>
                    </a:lnTo>
                    <a:lnTo>
                      <a:pt x="0" y="114300"/>
                    </a:lnTo>
                    <a:close/>
                    <a:moveTo>
                      <a:pt x="1714500" y="0"/>
                    </a:moveTo>
                    <a:lnTo>
                      <a:pt x="1714500" y="114300"/>
                    </a:lnTo>
                    <a:lnTo>
                      <a:pt x="114300" y="114300"/>
                    </a:lnTo>
                    <a:lnTo>
                      <a:pt x="114300" y="0"/>
                    </a:lnTo>
                    <a:close/>
                    <a:moveTo>
                      <a:pt x="1828800" y="114300"/>
                    </a:moveTo>
                    <a:lnTo>
                      <a:pt x="1714500" y="114300"/>
                    </a:lnTo>
                    <a:lnTo>
                      <a:pt x="1714500" y="0"/>
                    </a:lnTo>
                    <a:lnTo>
                      <a:pt x="1771650" y="0"/>
                    </a:lnTo>
                    <a:cubicBezTo>
                      <a:pt x="1803212" y="0"/>
                      <a:pt x="1828800" y="25587"/>
                      <a:pt x="1828800" y="57150"/>
                    </a:cubicBezTo>
                    <a:close/>
                    <a:moveTo>
                      <a:pt x="1828800" y="342900"/>
                    </a:moveTo>
                    <a:lnTo>
                      <a:pt x="0" y="342900"/>
                    </a:lnTo>
                    <a:lnTo>
                      <a:pt x="0" y="114300"/>
                    </a:lnTo>
                    <a:lnTo>
                      <a:pt x="1828800" y="114300"/>
                    </a:lnTo>
                    <a:close/>
                    <a:moveTo>
                      <a:pt x="0" y="342900"/>
                    </a:moveTo>
                    <a:lnTo>
                      <a:pt x="114300" y="342900"/>
                    </a:lnTo>
                    <a:lnTo>
                      <a:pt x="114300" y="457200"/>
                    </a:lnTo>
                    <a:lnTo>
                      <a:pt x="57150" y="457200"/>
                    </a:lnTo>
                    <a:cubicBezTo>
                      <a:pt x="25587" y="457200"/>
                      <a:pt x="0" y="431612"/>
                      <a:pt x="0" y="400050"/>
                    </a:cubicBezTo>
                    <a:close/>
                    <a:moveTo>
                      <a:pt x="114300" y="457200"/>
                    </a:moveTo>
                    <a:lnTo>
                      <a:pt x="114300" y="342900"/>
                    </a:lnTo>
                    <a:lnTo>
                      <a:pt x="1714500" y="342900"/>
                    </a:lnTo>
                    <a:lnTo>
                      <a:pt x="1714500" y="457200"/>
                    </a:lnTo>
                    <a:close/>
                    <a:moveTo>
                      <a:pt x="1714500" y="457200"/>
                    </a:moveTo>
                    <a:lnTo>
                      <a:pt x="1714500" y="342900"/>
                    </a:lnTo>
                    <a:lnTo>
                      <a:pt x="1828800" y="342900"/>
                    </a:lnTo>
                    <a:lnTo>
                      <a:pt x="1828800" y="400050"/>
                    </a:lnTo>
                    <a:cubicBezTo>
                      <a:pt x="1828800" y="431612"/>
                      <a:pt x="1803212" y="457200"/>
                      <a:pt x="1771650" y="457200"/>
                    </a:cubicBezTo>
                    <a:close/>
                  </a:path>
                </a:pathLst>
              </a:custGeom>
              <a:solidFill>
                <a:srgbClr val="4877C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62" name="Rounded Rectangle 8"/>
              <p:cNvSpPr/>
              <p:nvPr/>
            </p:nvSpPr>
            <p:spPr>
              <a:xfrm>
                <a:off x="400050" y="1714500"/>
                <a:ext cx="1828800" cy="457200"/>
              </a:xfrm>
              <a:custGeom>
                <a:avLst/>
                <a:gdLst/>
                <a:ahLst/>
                <a:cxnLst/>
                <a:rect l="0" t="0" r="0" b="0"/>
                <a:pathLst>
                  <a:path w="1828800" h="457200">
                    <a:moveTo>
                      <a:pt x="0" y="114300"/>
                    </a:moveTo>
                    <a:lnTo>
                      <a:pt x="0" y="57150"/>
                    </a:lnTo>
                    <a:cubicBezTo>
                      <a:pt x="0" y="25587"/>
                      <a:pt x="25587" y="0"/>
                      <a:pt x="57150" y="0"/>
                    </a:cubicBezTo>
                    <a:lnTo>
                      <a:pt x="114300" y="0"/>
                    </a:lnTo>
                    <a:moveTo>
                      <a:pt x="1828800" y="342900"/>
                    </a:moveTo>
                    <a:lnTo>
                      <a:pt x="1828800" y="114300"/>
                    </a:lnTo>
                    <a:moveTo>
                      <a:pt x="0" y="342900"/>
                    </a:moveTo>
                    <a:lnTo>
                      <a:pt x="0" y="114300"/>
                    </a:lnTo>
                    <a:moveTo>
                      <a:pt x="114300" y="0"/>
                    </a:moveTo>
                    <a:lnTo>
                      <a:pt x="1714500" y="0"/>
                    </a:lnTo>
                    <a:moveTo>
                      <a:pt x="114300" y="457200"/>
                    </a:moveTo>
                    <a:lnTo>
                      <a:pt x="57150" y="457200"/>
                    </a:lnTo>
                    <a:cubicBezTo>
                      <a:pt x="25587" y="457200"/>
                      <a:pt x="0" y="431612"/>
                      <a:pt x="0" y="400050"/>
                    </a:cubicBezTo>
                    <a:lnTo>
                      <a:pt x="0" y="342900"/>
                    </a:lnTo>
                    <a:moveTo>
                      <a:pt x="1714500" y="0"/>
                    </a:moveTo>
                    <a:lnTo>
                      <a:pt x="1771650" y="0"/>
                    </a:lnTo>
                    <a:cubicBezTo>
                      <a:pt x="1803212" y="0"/>
                      <a:pt x="1828800" y="25587"/>
                      <a:pt x="1828800" y="57150"/>
                    </a:cubicBezTo>
                    <a:lnTo>
                      <a:pt x="1828800" y="114300"/>
                    </a:lnTo>
                    <a:moveTo>
                      <a:pt x="1714500" y="457200"/>
                    </a:moveTo>
                    <a:lnTo>
                      <a:pt x="114300" y="457200"/>
                    </a:lnTo>
                    <a:moveTo>
                      <a:pt x="1828800" y="342900"/>
                    </a:moveTo>
                    <a:lnTo>
                      <a:pt x="1828800" y="400050"/>
                    </a:lnTo>
                    <a:cubicBezTo>
                      <a:pt x="1828800" y="431612"/>
                      <a:pt x="1803212" y="457200"/>
                      <a:pt x="1771650" y="457200"/>
                    </a:cubicBezTo>
                    <a:lnTo>
                      <a:pt x="1714500" y="457200"/>
                    </a:lnTo>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63" name="Group 62"/>
            <p:cNvGrpSpPr/>
            <p:nvPr/>
          </p:nvGrpSpPr>
          <p:grpSpPr>
            <a:xfrm>
              <a:off x="8543819" y="2813050"/>
              <a:ext cx="1130300" cy="577850"/>
              <a:chOff x="2343150" y="1714500"/>
              <a:chExt cx="1028700" cy="457200"/>
            </a:xfrm>
          </p:grpSpPr>
          <p:sp>
            <p:nvSpPr>
              <p:cNvPr id="64" name="Rounded Rectangle 10"/>
              <p:cNvSpPr/>
              <p:nvPr/>
            </p:nvSpPr>
            <p:spPr>
              <a:xfrm>
                <a:off x="2343150" y="1714500"/>
                <a:ext cx="1028700" cy="457200"/>
              </a:xfrm>
              <a:custGeom>
                <a:avLst/>
                <a:gdLst/>
                <a:ahLst/>
                <a:cxnLst/>
                <a:rect l="0" t="0" r="0" b="0"/>
                <a:pathLst>
                  <a:path w="1028700" h="457200">
                    <a:moveTo>
                      <a:pt x="0" y="57150"/>
                    </a:moveTo>
                    <a:cubicBezTo>
                      <a:pt x="0" y="25587"/>
                      <a:pt x="25587" y="0"/>
                      <a:pt x="57150" y="0"/>
                    </a:cubicBezTo>
                    <a:lnTo>
                      <a:pt x="114300" y="0"/>
                    </a:lnTo>
                    <a:lnTo>
                      <a:pt x="114300" y="114300"/>
                    </a:lnTo>
                    <a:lnTo>
                      <a:pt x="0" y="114300"/>
                    </a:lnTo>
                    <a:close/>
                    <a:moveTo>
                      <a:pt x="914400" y="0"/>
                    </a:moveTo>
                    <a:lnTo>
                      <a:pt x="914400" y="114300"/>
                    </a:lnTo>
                    <a:lnTo>
                      <a:pt x="114300" y="114300"/>
                    </a:lnTo>
                    <a:lnTo>
                      <a:pt x="114300" y="0"/>
                    </a:lnTo>
                    <a:close/>
                    <a:moveTo>
                      <a:pt x="1028700" y="114300"/>
                    </a:moveTo>
                    <a:lnTo>
                      <a:pt x="914400" y="114300"/>
                    </a:lnTo>
                    <a:lnTo>
                      <a:pt x="914400" y="0"/>
                    </a:lnTo>
                    <a:lnTo>
                      <a:pt x="971550" y="0"/>
                    </a:lnTo>
                    <a:cubicBezTo>
                      <a:pt x="1003112" y="0"/>
                      <a:pt x="1028700" y="25587"/>
                      <a:pt x="1028700" y="57150"/>
                    </a:cubicBezTo>
                    <a:close/>
                    <a:moveTo>
                      <a:pt x="1028700" y="342900"/>
                    </a:moveTo>
                    <a:lnTo>
                      <a:pt x="0" y="342900"/>
                    </a:lnTo>
                    <a:lnTo>
                      <a:pt x="0" y="114300"/>
                    </a:lnTo>
                    <a:lnTo>
                      <a:pt x="1028700" y="114300"/>
                    </a:lnTo>
                    <a:close/>
                    <a:moveTo>
                      <a:pt x="0" y="342900"/>
                    </a:moveTo>
                    <a:lnTo>
                      <a:pt x="114300" y="342900"/>
                    </a:lnTo>
                    <a:lnTo>
                      <a:pt x="114300" y="457200"/>
                    </a:lnTo>
                    <a:lnTo>
                      <a:pt x="57150" y="457200"/>
                    </a:lnTo>
                    <a:cubicBezTo>
                      <a:pt x="25587" y="457200"/>
                      <a:pt x="0" y="431612"/>
                      <a:pt x="0" y="400050"/>
                    </a:cubicBezTo>
                    <a:close/>
                    <a:moveTo>
                      <a:pt x="114300" y="457200"/>
                    </a:moveTo>
                    <a:lnTo>
                      <a:pt x="114300" y="342900"/>
                    </a:lnTo>
                    <a:lnTo>
                      <a:pt x="914400" y="342900"/>
                    </a:lnTo>
                    <a:lnTo>
                      <a:pt x="914400" y="457200"/>
                    </a:lnTo>
                    <a:close/>
                    <a:moveTo>
                      <a:pt x="914400" y="457200"/>
                    </a:moveTo>
                    <a:lnTo>
                      <a:pt x="914400" y="342900"/>
                    </a:lnTo>
                    <a:lnTo>
                      <a:pt x="1028700" y="342900"/>
                    </a:lnTo>
                    <a:lnTo>
                      <a:pt x="1028700" y="400050"/>
                    </a:lnTo>
                    <a:cubicBezTo>
                      <a:pt x="1028700" y="431612"/>
                      <a:pt x="1003112" y="457200"/>
                      <a:pt x="971550" y="457200"/>
                    </a:cubicBezTo>
                    <a:close/>
                  </a:path>
                </a:pathLst>
              </a:custGeom>
              <a:solidFill>
                <a:srgbClr val="4877C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65" name="Rounded Rectangle 11"/>
              <p:cNvSpPr/>
              <p:nvPr/>
            </p:nvSpPr>
            <p:spPr>
              <a:xfrm>
                <a:off x="2343150" y="1714500"/>
                <a:ext cx="1028700" cy="457200"/>
              </a:xfrm>
              <a:custGeom>
                <a:avLst/>
                <a:gdLst/>
                <a:ahLst/>
                <a:cxnLst/>
                <a:rect l="0" t="0" r="0" b="0"/>
                <a:pathLst>
                  <a:path w="1028700" h="457200">
                    <a:moveTo>
                      <a:pt x="0" y="114300"/>
                    </a:moveTo>
                    <a:lnTo>
                      <a:pt x="0" y="57150"/>
                    </a:lnTo>
                    <a:cubicBezTo>
                      <a:pt x="0" y="25587"/>
                      <a:pt x="25587" y="0"/>
                      <a:pt x="57150" y="0"/>
                    </a:cubicBezTo>
                    <a:lnTo>
                      <a:pt x="114300" y="0"/>
                    </a:lnTo>
                    <a:moveTo>
                      <a:pt x="1028700" y="114300"/>
                    </a:moveTo>
                    <a:lnTo>
                      <a:pt x="1028700" y="342900"/>
                    </a:lnTo>
                    <a:moveTo>
                      <a:pt x="0" y="342900"/>
                    </a:moveTo>
                    <a:lnTo>
                      <a:pt x="0" y="114300"/>
                    </a:lnTo>
                    <a:moveTo>
                      <a:pt x="114300" y="0"/>
                    </a:moveTo>
                    <a:lnTo>
                      <a:pt x="914400" y="0"/>
                    </a:lnTo>
                    <a:moveTo>
                      <a:pt x="114300" y="457200"/>
                    </a:moveTo>
                    <a:lnTo>
                      <a:pt x="57150" y="457200"/>
                    </a:lnTo>
                    <a:cubicBezTo>
                      <a:pt x="25587" y="457200"/>
                      <a:pt x="0" y="431612"/>
                      <a:pt x="0" y="400050"/>
                    </a:cubicBezTo>
                    <a:lnTo>
                      <a:pt x="0" y="342900"/>
                    </a:lnTo>
                    <a:moveTo>
                      <a:pt x="914400" y="0"/>
                    </a:moveTo>
                    <a:lnTo>
                      <a:pt x="971550" y="0"/>
                    </a:lnTo>
                    <a:cubicBezTo>
                      <a:pt x="1003112" y="0"/>
                      <a:pt x="1028700" y="25587"/>
                      <a:pt x="1028700" y="57150"/>
                    </a:cubicBezTo>
                    <a:lnTo>
                      <a:pt x="1028700" y="114300"/>
                    </a:lnTo>
                    <a:moveTo>
                      <a:pt x="114300" y="457200"/>
                    </a:moveTo>
                    <a:lnTo>
                      <a:pt x="914400" y="457200"/>
                    </a:lnTo>
                    <a:moveTo>
                      <a:pt x="1028700" y="342900"/>
                    </a:moveTo>
                    <a:lnTo>
                      <a:pt x="1028700" y="400050"/>
                    </a:lnTo>
                    <a:cubicBezTo>
                      <a:pt x="1028700" y="431612"/>
                      <a:pt x="1003112" y="457200"/>
                      <a:pt x="971550" y="457200"/>
                    </a:cubicBezTo>
                    <a:lnTo>
                      <a:pt x="914400" y="457200"/>
                    </a:lnTo>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66" name="Group 65"/>
            <p:cNvGrpSpPr/>
            <p:nvPr/>
          </p:nvGrpSpPr>
          <p:grpSpPr>
            <a:xfrm>
              <a:off x="6519608" y="3384550"/>
              <a:ext cx="2009422" cy="577850"/>
              <a:chOff x="400050" y="2286000"/>
              <a:chExt cx="1828800" cy="457200"/>
            </a:xfrm>
          </p:grpSpPr>
          <p:sp>
            <p:nvSpPr>
              <p:cNvPr id="67" name="Rounded Rectangle 13"/>
              <p:cNvSpPr/>
              <p:nvPr/>
            </p:nvSpPr>
            <p:spPr>
              <a:xfrm>
                <a:off x="400050" y="2286000"/>
                <a:ext cx="1828800" cy="457200"/>
              </a:xfrm>
              <a:custGeom>
                <a:avLst/>
                <a:gdLst/>
                <a:ahLst/>
                <a:cxnLst/>
                <a:rect l="0" t="0" r="0" b="0"/>
                <a:pathLst>
                  <a:path w="1828800" h="457200">
                    <a:moveTo>
                      <a:pt x="0" y="57150"/>
                    </a:moveTo>
                    <a:cubicBezTo>
                      <a:pt x="0" y="25587"/>
                      <a:pt x="25587" y="0"/>
                      <a:pt x="57150" y="0"/>
                    </a:cubicBezTo>
                    <a:lnTo>
                      <a:pt x="114300" y="0"/>
                    </a:lnTo>
                    <a:lnTo>
                      <a:pt x="114300" y="114300"/>
                    </a:lnTo>
                    <a:lnTo>
                      <a:pt x="0" y="114300"/>
                    </a:lnTo>
                    <a:close/>
                    <a:moveTo>
                      <a:pt x="1714500" y="0"/>
                    </a:moveTo>
                    <a:lnTo>
                      <a:pt x="1714500" y="114300"/>
                    </a:lnTo>
                    <a:lnTo>
                      <a:pt x="114300" y="114300"/>
                    </a:lnTo>
                    <a:lnTo>
                      <a:pt x="114300" y="0"/>
                    </a:lnTo>
                    <a:close/>
                    <a:moveTo>
                      <a:pt x="1828800" y="114300"/>
                    </a:moveTo>
                    <a:lnTo>
                      <a:pt x="1714500" y="114300"/>
                    </a:lnTo>
                    <a:lnTo>
                      <a:pt x="1714500" y="0"/>
                    </a:lnTo>
                    <a:lnTo>
                      <a:pt x="1771650" y="0"/>
                    </a:lnTo>
                    <a:cubicBezTo>
                      <a:pt x="1803212" y="0"/>
                      <a:pt x="1828800" y="25587"/>
                      <a:pt x="1828800" y="57150"/>
                    </a:cubicBezTo>
                    <a:close/>
                    <a:moveTo>
                      <a:pt x="1828800" y="342900"/>
                    </a:moveTo>
                    <a:lnTo>
                      <a:pt x="0" y="342900"/>
                    </a:lnTo>
                    <a:lnTo>
                      <a:pt x="0" y="114300"/>
                    </a:lnTo>
                    <a:lnTo>
                      <a:pt x="1828800" y="114300"/>
                    </a:lnTo>
                    <a:close/>
                    <a:moveTo>
                      <a:pt x="0" y="342900"/>
                    </a:moveTo>
                    <a:lnTo>
                      <a:pt x="114300" y="342900"/>
                    </a:lnTo>
                    <a:lnTo>
                      <a:pt x="114300" y="457200"/>
                    </a:lnTo>
                    <a:lnTo>
                      <a:pt x="57150" y="457200"/>
                    </a:lnTo>
                    <a:cubicBezTo>
                      <a:pt x="25587" y="457200"/>
                      <a:pt x="0" y="431612"/>
                      <a:pt x="0" y="400050"/>
                    </a:cubicBezTo>
                    <a:close/>
                    <a:moveTo>
                      <a:pt x="114300" y="457200"/>
                    </a:moveTo>
                    <a:lnTo>
                      <a:pt x="114300" y="342900"/>
                    </a:lnTo>
                    <a:lnTo>
                      <a:pt x="1714500" y="342900"/>
                    </a:lnTo>
                    <a:lnTo>
                      <a:pt x="1714500" y="457200"/>
                    </a:lnTo>
                    <a:close/>
                    <a:moveTo>
                      <a:pt x="1714500" y="457200"/>
                    </a:moveTo>
                    <a:lnTo>
                      <a:pt x="1714500" y="342900"/>
                    </a:lnTo>
                    <a:lnTo>
                      <a:pt x="1828800" y="342900"/>
                    </a:lnTo>
                    <a:lnTo>
                      <a:pt x="1828800" y="400050"/>
                    </a:lnTo>
                    <a:cubicBezTo>
                      <a:pt x="1828800" y="431612"/>
                      <a:pt x="1803212" y="457200"/>
                      <a:pt x="1771650" y="457200"/>
                    </a:cubicBezTo>
                    <a:close/>
                  </a:path>
                </a:pathLst>
              </a:custGeom>
              <a:solidFill>
                <a:srgbClr val="4F85DC"/>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68" name="Rounded Rectangle 14"/>
              <p:cNvSpPr/>
              <p:nvPr/>
            </p:nvSpPr>
            <p:spPr>
              <a:xfrm>
                <a:off x="400050" y="2286000"/>
                <a:ext cx="1828800" cy="457200"/>
              </a:xfrm>
              <a:custGeom>
                <a:avLst/>
                <a:gdLst/>
                <a:ahLst/>
                <a:cxnLst/>
                <a:rect l="0" t="0" r="0" b="0"/>
                <a:pathLst>
                  <a:path w="1828800" h="457200">
                    <a:moveTo>
                      <a:pt x="0" y="114300"/>
                    </a:moveTo>
                    <a:lnTo>
                      <a:pt x="0" y="57150"/>
                    </a:lnTo>
                    <a:cubicBezTo>
                      <a:pt x="0" y="25587"/>
                      <a:pt x="25587" y="0"/>
                      <a:pt x="57150" y="0"/>
                    </a:cubicBezTo>
                    <a:lnTo>
                      <a:pt x="114300" y="0"/>
                    </a:lnTo>
                    <a:moveTo>
                      <a:pt x="1828800" y="342900"/>
                    </a:moveTo>
                    <a:lnTo>
                      <a:pt x="1828800" y="114300"/>
                    </a:lnTo>
                    <a:moveTo>
                      <a:pt x="0" y="342900"/>
                    </a:moveTo>
                    <a:lnTo>
                      <a:pt x="0" y="114300"/>
                    </a:lnTo>
                    <a:moveTo>
                      <a:pt x="114300" y="0"/>
                    </a:moveTo>
                    <a:lnTo>
                      <a:pt x="1714500" y="0"/>
                    </a:lnTo>
                    <a:moveTo>
                      <a:pt x="114300" y="457200"/>
                    </a:moveTo>
                    <a:lnTo>
                      <a:pt x="57150" y="457200"/>
                    </a:lnTo>
                    <a:cubicBezTo>
                      <a:pt x="25587" y="457200"/>
                      <a:pt x="0" y="431612"/>
                      <a:pt x="0" y="400050"/>
                    </a:cubicBezTo>
                    <a:lnTo>
                      <a:pt x="0" y="342900"/>
                    </a:lnTo>
                    <a:moveTo>
                      <a:pt x="1714500" y="0"/>
                    </a:moveTo>
                    <a:lnTo>
                      <a:pt x="1771650" y="0"/>
                    </a:lnTo>
                    <a:cubicBezTo>
                      <a:pt x="1803212" y="0"/>
                      <a:pt x="1828800" y="25587"/>
                      <a:pt x="1828800" y="57150"/>
                    </a:cubicBezTo>
                    <a:lnTo>
                      <a:pt x="1828800" y="114300"/>
                    </a:lnTo>
                    <a:moveTo>
                      <a:pt x="1714500" y="457200"/>
                    </a:moveTo>
                    <a:lnTo>
                      <a:pt x="114300" y="457200"/>
                    </a:lnTo>
                    <a:moveTo>
                      <a:pt x="1828800" y="342900"/>
                    </a:moveTo>
                    <a:lnTo>
                      <a:pt x="1828800" y="400050"/>
                    </a:lnTo>
                    <a:cubicBezTo>
                      <a:pt x="1828800" y="431612"/>
                      <a:pt x="1803212" y="457200"/>
                      <a:pt x="1771650" y="457200"/>
                    </a:cubicBezTo>
                    <a:lnTo>
                      <a:pt x="1714500" y="457200"/>
                    </a:lnTo>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69" name="Group 68"/>
            <p:cNvGrpSpPr/>
            <p:nvPr/>
          </p:nvGrpSpPr>
          <p:grpSpPr>
            <a:xfrm>
              <a:off x="8543819" y="3398023"/>
              <a:ext cx="1130300" cy="577850"/>
              <a:chOff x="2343150" y="2286000"/>
              <a:chExt cx="1028700" cy="457200"/>
            </a:xfrm>
          </p:grpSpPr>
          <p:sp>
            <p:nvSpPr>
              <p:cNvPr id="70" name="Rounded Rectangle 16"/>
              <p:cNvSpPr/>
              <p:nvPr/>
            </p:nvSpPr>
            <p:spPr>
              <a:xfrm>
                <a:off x="2343150" y="2286000"/>
                <a:ext cx="1028700" cy="457200"/>
              </a:xfrm>
              <a:custGeom>
                <a:avLst/>
                <a:gdLst/>
                <a:ahLst/>
                <a:cxnLst/>
                <a:rect l="0" t="0" r="0" b="0"/>
                <a:pathLst>
                  <a:path w="1028700" h="457200">
                    <a:moveTo>
                      <a:pt x="0" y="57150"/>
                    </a:moveTo>
                    <a:cubicBezTo>
                      <a:pt x="0" y="25587"/>
                      <a:pt x="25587" y="0"/>
                      <a:pt x="57150" y="0"/>
                    </a:cubicBezTo>
                    <a:lnTo>
                      <a:pt x="114300" y="0"/>
                    </a:lnTo>
                    <a:lnTo>
                      <a:pt x="114300" y="114300"/>
                    </a:lnTo>
                    <a:lnTo>
                      <a:pt x="0" y="114300"/>
                    </a:lnTo>
                    <a:close/>
                    <a:moveTo>
                      <a:pt x="914400" y="0"/>
                    </a:moveTo>
                    <a:lnTo>
                      <a:pt x="914400" y="114300"/>
                    </a:lnTo>
                    <a:lnTo>
                      <a:pt x="114300" y="114300"/>
                    </a:lnTo>
                    <a:lnTo>
                      <a:pt x="114300" y="0"/>
                    </a:lnTo>
                    <a:close/>
                    <a:moveTo>
                      <a:pt x="1028700" y="114300"/>
                    </a:moveTo>
                    <a:lnTo>
                      <a:pt x="914400" y="114300"/>
                    </a:lnTo>
                    <a:lnTo>
                      <a:pt x="914400" y="0"/>
                    </a:lnTo>
                    <a:lnTo>
                      <a:pt x="971550" y="0"/>
                    </a:lnTo>
                    <a:cubicBezTo>
                      <a:pt x="1003112" y="0"/>
                      <a:pt x="1028700" y="25587"/>
                      <a:pt x="1028700" y="57150"/>
                    </a:cubicBezTo>
                    <a:close/>
                    <a:moveTo>
                      <a:pt x="1028700" y="342900"/>
                    </a:moveTo>
                    <a:lnTo>
                      <a:pt x="0" y="342900"/>
                    </a:lnTo>
                    <a:lnTo>
                      <a:pt x="0" y="114300"/>
                    </a:lnTo>
                    <a:lnTo>
                      <a:pt x="1028700" y="114300"/>
                    </a:lnTo>
                    <a:close/>
                    <a:moveTo>
                      <a:pt x="0" y="342900"/>
                    </a:moveTo>
                    <a:lnTo>
                      <a:pt x="114300" y="342900"/>
                    </a:lnTo>
                    <a:lnTo>
                      <a:pt x="114300" y="457200"/>
                    </a:lnTo>
                    <a:lnTo>
                      <a:pt x="57150" y="457200"/>
                    </a:lnTo>
                    <a:cubicBezTo>
                      <a:pt x="25587" y="457200"/>
                      <a:pt x="0" y="431612"/>
                      <a:pt x="0" y="400050"/>
                    </a:cubicBezTo>
                    <a:close/>
                    <a:moveTo>
                      <a:pt x="114300" y="457200"/>
                    </a:moveTo>
                    <a:lnTo>
                      <a:pt x="114300" y="342900"/>
                    </a:lnTo>
                    <a:lnTo>
                      <a:pt x="914400" y="342900"/>
                    </a:lnTo>
                    <a:lnTo>
                      <a:pt x="914400" y="457200"/>
                    </a:lnTo>
                    <a:close/>
                    <a:moveTo>
                      <a:pt x="914400" y="457200"/>
                    </a:moveTo>
                    <a:lnTo>
                      <a:pt x="914400" y="342900"/>
                    </a:lnTo>
                    <a:lnTo>
                      <a:pt x="1028700" y="342900"/>
                    </a:lnTo>
                    <a:lnTo>
                      <a:pt x="1028700" y="400050"/>
                    </a:lnTo>
                    <a:cubicBezTo>
                      <a:pt x="1028700" y="431612"/>
                      <a:pt x="1003112" y="457200"/>
                      <a:pt x="971550" y="457200"/>
                    </a:cubicBezTo>
                    <a:close/>
                  </a:path>
                </a:pathLst>
              </a:custGeom>
              <a:solidFill>
                <a:srgbClr val="4F85DC"/>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71" name="Rounded Rectangle 17"/>
              <p:cNvSpPr/>
              <p:nvPr/>
            </p:nvSpPr>
            <p:spPr>
              <a:xfrm>
                <a:off x="2343150" y="2286000"/>
                <a:ext cx="1028700" cy="457200"/>
              </a:xfrm>
              <a:custGeom>
                <a:avLst/>
                <a:gdLst/>
                <a:ahLst/>
                <a:cxnLst/>
                <a:rect l="0" t="0" r="0" b="0"/>
                <a:pathLst>
                  <a:path w="1028700" h="457200">
                    <a:moveTo>
                      <a:pt x="0" y="114300"/>
                    </a:moveTo>
                    <a:lnTo>
                      <a:pt x="0" y="57150"/>
                    </a:lnTo>
                    <a:cubicBezTo>
                      <a:pt x="0" y="25587"/>
                      <a:pt x="25587" y="0"/>
                      <a:pt x="57150" y="0"/>
                    </a:cubicBezTo>
                    <a:lnTo>
                      <a:pt x="114300" y="0"/>
                    </a:lnTo>
                    <a:moveTo>
                      <a:pt x="1028700" y="114300"/>
                    </a:moveTo>
                    <a:lnTo>
                      <a:pt x="1028700" y="342900"/>
                    </a:lnTo>
                    <a:moveTo>
                      <a:pt x="0" y="342900"/>
                    </a:moveTo>
                    <a:lnTo>
                      <a:pt x="0" y="114300"/>
                    </a:lnTo>
                    <a:moveTo>
                      <a:pt x="114300" y="0"/>
                    </a:moveTo>
                    <a:lnTo>
                      <a:pt x="914400" y="0"/>
                    </a:lnTo>
                    <a:moveTo>
                      <a:pt x="114300" y="457200"/>
                    </a:moveTo>
                    <a:lnTo>
                      <a:pt x="57150" y="457200"/>
                    </a:lnTo>
                    <a:cubicBezTo>
                      <a:pt x="25587" y="457200"/>
                      <a:pt x="0" y="431612"/>
                      <a:pt x="0" y="400050"/>
                    </a:cubicBezTo>
                    <a:lnTo>
                      <a:pt x="0" y="342900"/>
                    </a:lnTo>
                    <a:moveTo>
                      <a:pt x="914400" y="0"/>
                    </a:moveTo>
                    <a:lnTo>
                      <a:pt x="971550" y="0"/>
                    </a:lnTo>
                    <a:cubicBezTo>
                      <a:pt x="1003112" y="0"/>
                      <a:pt x="1028700" y="25587"/>
                      <a:pt x="1028700" y="57150"/>
                    </a:cubicBezTo>
                    <a:lnTo>
                      <a:pt x="1028700" y="114300"/>
                    </a:lnTo>
                    <a:moveTo>
                      <a:pt x="114300" y="457200"/>
                    </a:moveTo>
                    <a:lnTo>
                      <a:pt x="914400" y="457200"/>
                    </a:lnTo>
                    <a:moveTo>
                      <a:pt x="1028700" y="342900"/>
                    </a:moveTo>
                    <a:lnTo>
                      <a:pt x="1028700" y="400050"/>
                    </a:lnTo>
                    <a:cubicBezTo>
                      <a:pt x="1028700" y="431612"/>
                      <a:pt x="1003112" y="457200"/>
                      <a:pt x="971550" y="457200"/>
                    </a:cubicBezTo>
                    <a:lnTo>
                      <a:pt x="914400" y="457200"/>
                    </a:lnTo>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72" name="Group 71"/>
            <p:cNvGrpSpPr/>
            <p:nvPr/>
          </p:nvGrpSpPr>
          <p:grpSpPr>
            <a:xfrm>
              <a:off x="6523400" y="3956050"/>
              <a:ext cx="2009422" cy="577850"/>
              <a:chOff x="400050" y="2857500"/>
              <a:chExt cx="1828800" cy="457200"/>
            </a:xfrm>
          </p:grpSpPr>
          <p:sp>
            <p:nvSpPr>
              <p:cNvPr id="73" name="Rounded Rectangle 19"/>
              <p:cNvSpPr/>
              <p:nvPr/>
            </p:nvSpPr>
            <p:spPr>
              <a:xfrm>
                <a:off x="400050" y="2857500"/>
                <a:ext cx="1828800" cy="457200"/>
              </a:xfrm>
              <a:custGeom>
                <a:avLst/>
                <a:gdLst/>
                <a:ahLst/>
                <a:cxnLst/>
                <a:rect l="0" t="0" r="0" b="0"/>
                <a:pathLst>
                  <a:path w="1828800" h="457200">
                    <a:moveTo>
                      <a:pt x="0" y="57150"/>
                    </a:moveTo>
                    <a:cubicBezTo>
                      <a:pt x="0" y="25587"/>
                      <a:pt x="25587" y="0"/>
                      <a:pt x="57150" y="0"/>
                    </a:cubicBezTo>
                    <a:lnTo>
                      <a:pt x="114300" y="0"/>
                    </a:lnTo>
                    <a:lnTo>
                      <a:pt x="114300" y="114300"/>
                    </a:lnTo>
                    <a:lnTo>
                      <a:pt x="0" y="114300"/>
                    </a:lnTo>
                    <a:close/>
                    <a:moveTo>
                      <a:pt x="1714500" y="0"/>
                    </a:moveTo>
                    <a:lnTo>
                      <a:pt x="1714500" y="114300"/>
                    </a:lnTo>
                    <a:lnTo>
                      <a:pt x="114300" y="114300"/>
                    </a:lnTo>
                    <a:lnTo>
                      <a:pt x="114300" y="0"/>
                    </a:lnTo>
                    <a:close/>
                    <a:moveTo>
                      <a:pt x="1828800" y="114300"/>
                    </a:moveTo>
                    <a:lnTo>
                      <a:pt x="1714500" y="114300"/>
                    </a:lnTo>
                    <a:lnTo>
                      <a:pt x="1714500" y="0"/>
                    </a:lnTo>
                    <a:lnTo>
                      <a:pt x="1771650" y="0"/>
                    </a:lnTo>
                    <a:cubicBezTo>
                      <a:pt x="1803212" y="0"/>
                      <a:pt x="1828800" y="25587"/>
                      <a:pt x="1828800" y="57150"/>
                    </a:cubicBezTo>
                    <a:close/>
                    <a:moveTo>
                      <a:pt x="1828800" y="342900"/>
                    </a:moveTo>
                    <a:lnTo>
                      <a:pt x="0" y="342900"/>
                    </a:lnTo>
                    <a:lnTo>
                      <a:pt x="0" y="114300"/>
                    </a:lnTo>
                    <a:lnTo>
                      <a:pt x="1828800" y="114300"/>
                    </a:lnTo>
                    <a:close/>
                    <a:moveTo>
                      <a:pt x="0" y="342900"/>
                    </a:moveTo>
                    <a:lnTo>
                      <a:pt x="114300" y="342900"/>
                    </a:lnTo>
                    <a:lnTo>
                      <a:pt x="114300" y="457200"/>
                    </a:lnTo>
                    <a:lnTo>
                      <a:pt x="57150" y="457200"/>
                    </a:lnTo>
                    <a:cubicBezTo>
                      <a:pt x="25587" y="457200"/>
                      <a:pt x="0" y="431612"/>
                      <a:pt x="0" y="400050"/>
                    </a:cubicBezTo>
                    <a:close/>
                    <a:moveTo>
                      <a:pt x="114300" y="457200"/>
                    </a:moveTo>
                    <a:lnTo>
                      <a:pt x="114300" y="342900"/>
                    </a:lnTo>
                    <a:lnTo>
                      <a:pt x="1714500" y="342900"/>
                    </a:lnTo>
                    <a:lnTo>
                      <a:pt x="1714500" y="457200"/>
                    </a:lnTo>
                    <a:close/>
                    <a:moveTo>
                      <a:pt x="1714500" y="457200"/>
                    </a:moveTo>
                    <a:lnTo>
                      <a:pt x="1714500" y="342900"/>
                    </a:lnTo>
                    <a:lnTo>
                      <a:pt x="1828800" y="342900"/>
                    </a:lnTo>
                    <a:lnTo>
                      <a:pt x="1828800" y="400050"/>
                    </a:lnTo>
                    <a:cubicBezTo>
                      <a:pt x="1828800" y="431612"/>
                      <a:pt x="1803212" y="457200"/>
                      <a:pt x="1771650" y="457200"/>
                    </a:cubicBezTo>
                    <a:close/>
                  </a:path>
                </a:pathLst>
              </a:custGeom>
              <a:solidFill>
                <a:srgbClr val="4E8CF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74" name="Rounded Rectangle 20"/>
              <p:cNvSpPr/>
              <p:nvPr/>
            </p:nvSpPr>
            <p:spPr>
              <a:xfrm>
                <a:off x="400050" y="2857500"/>
                <a:ext cx="1828800" cy="457200"/>
              </a:xfrm>
              <a:custGeom>
                <a:avLst/>
                <a:gdLst/>
                <a:ahLst/>
                <a:cxnLst/>
                <a:rect l="0" t="0" r="0" b="0"/>
                <a:pathLst>
                  <a:path w="1828800" h="457200">
                    <a:moveTo>
                      <a:pt x="0" y="114300"/>
                    </a:moveTo>
                    <a:lnTo>
                      <a:pt x="0" y="57150"/>
                    </a:lnTo>
                    <a:cubicBezTo>
                      <a:pt x="0" y="25587"/>
                      <a:pt x="25587" y="0"/>
                      <a:pt x="57150" y="0"/>
                    </a:cubicBezTo>
                    <a:lnTo>
                      <a:pt x="114300" y="0"/>
                    </a:lnTo>
                    <a:moveTo>
                      <a:pt x="1828800" y="342900"/>
                    </a:moveTo>
                    <a:lnTo>
                      <a:pt x="1828800" y="114300"/>
                    </a:lnTo>
                    <a:moveTo>
                      <a:pt x="0" y="342900"/>
                    </a:moveTo>
                    <a:lnTo>
                      <a:pt x="0" y="114300"/>
                    </a:lnTo>
                    <a:moveTo>
                      <a:pt x="114300" y="0"/>
                    </a:moveTo>
                    <a:lnTo>
                      <a:pt x="1714500" y="0"/>
                    </a:lnTo>
                    <a:moveTo>
                      <a:pt x="114300" y="457200"/>
                    </a:moveTo>
                    <a:lnTo>
                      <a:pt x="57150" y="457200"/>
                    </a:lnTo>
                    <a:cubicBezTo>
                      <a:pt x="25587" y="457200"/>
                      <a:pt x="0" y="431612"/>
                      <a:pt x="0" y="400050"/>
                    </a:cubicBezTo>
                    <a:lnTo>
                      <a:pt x="0" y="342900"/>
                    </a:lnTo>
                    <a:moveTo>
                      <a:pt x="1714500" y="0"/>
                    </a:moveTo>
                    <a:lnTo>
                      <a:pt x="1771650" y="0"/>
                    </a:lnTo>
                    <a:cubicBezTo>
                      <a:pt x="1803212" y="0"/>
                      <a:pt x="1828800" y="25587"/>
                      <a:pt x="1828800" y="57150"/>
                    </a:cubicBezTo>
                    <a:lnTo>
                      <a:pt x="1828800" y="114300"/>
                    </a:lnTo>
                    <a:moveTo>
                      <a:pt x="1714500" y="457200"/>
                    </a:moveTo>
                    <a:lnTo>
                      <a:pt x="114300" y="457200"/>
                    </a:lnTo>
                    <a:moveTo>
                      <a:pt x="1828800" y="342900"/>
                    </a:moveTo>
                    <a:lnTo>
                      <a:pt x="1828800" y="400050"/>
                    </a:lnTo>
                    <a:cubicBezTo>
                      <a:pt x="1828800" y="431612"/>
                      <a:pt x="1803212" y="457200"/>
                      <a:pt x="1771650" y="457200"/>
                    </a:cubicBezTo>
                    <a:lnTo>
                      <a:pt x="1714500" y="457200"/>
                    </a:lnTo>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75" name="Group 74"/>
            <p:cNvGrpSpPr/>
            <p:nvPr/>
          </p:nvGrpSpPr>
          <p:grpSpPr>
            <a:xfrm>
              <a:off x="8529030" y="3956050"/>
              <a:ext cx="1130300" cy="577850"/>
              <a:chOff x="2343150" y="2857500"/>
              <a:chExt cx="1028700" cy="457200"/>
            </a:xfrm>
          </p:grpSpPr>
          <p:sp>
            <p:nvSpPr>
              <p:cNvPr id="76" name="Rounded Rectangle 22"/>
              <p:cNvSpPr/>
              <p:nvPr/>
            </p:nvSpPr>
            <p:spPr>
              <a:xfrm>
                <a:off x="2343150" y="2857500"/>
                <a:ext cx="1028700" cy="457200"/>
              </a:xfrm>
              <a:custGeom>
                <a:avLst/>
                <a:gdLst/>
                <a:ahLst/>
                <a:cxnLst/>
                <a:rect l="0" t="0" r="0" b="0"/>
                <a:pathLst>
                  <a:path w="1028700" h="457200">
                    <a:moveTo>
                      <a:pt x="0" y="57150"/>
                    </a:moveTo>
                    <a:cubicBezTo>
                      <a:pt x="0" y="25587"/>
                      <a:pt x="25587" y="0"/>
                      <a:pt x="57150" y="0"/>
                    </a:cubicBezTo>
                    <a:lnTo>
                      <a:pt x="114300" y="0"/>
                    </a:lnTo>
                    <a:lnTo>
                      <a:pt x="114300" y="114300"/>
                    </a:lnTo>
                    <a:lnTo>
                      <a:pt x="0" y="114300"/>
                    </a:lnTo>
                    <a:close/>
                    <a:moveTo>
                      <a:pt x="914400" y="0"/>
                    </a:moveTo>
                    <a:lnTo>
                      <a:pt x="914400" y="114300"/>
                    </a:lnTo>
                    <a:lnTo>
                      <a:pt x="114300" y="114300"/>
                    </a:lnTo>
                    <a:lnTo>
                      <a:pt x="114300" y="0"/>
                    </a:lnTo>
                    <a:close/>
                    <a:moveTo>
                      <a:pt x="1028700" y="114300"/>
                    </a:moveTo>
                    <a:lnTo>
                      <a:pt x="914400" y="114300"/>
                    </a:lnTo>
                    <a:lnTo>
                      <a:pt x="914400" y="0"/>
                    </a:lnTo>
                    <a:lnTo>
                      <a:pt x="971550" y="0"/>
                    </a:lnTo>
                    <a:cubicBezTo>
                      <a:pt x="1003112" y="0"/>
                      <a:pt x="1028700" y="25587"/>
                      <a:pt x="1028700" y="57150"/>
                    </a:cubicBezTo>
                    <a:close/>
                    <a:moveTo>
                      <a:pt x="1028700" y="342900"/>
                    </a:moveTo>
                    <a:lnTo>
                      <a:pt x="0" y="342900"/>
                    </a:lnTo>
                    <a:lnTo>
                      <a:pt x="0" y="114300"/>
                    </a:lnTo>
                    <a:lnTo>
                      <a:pt x="1028700" y="114300"/>
                    </a:lnTo>
                    <a:close/>
                    <a:moveTo>
                      <a:pt x="0" y="342900"/>
                    </a:moveTo>
                    <a:lnTo>
                      <a:pt x="114300" y="342900"/>
                    </a:lnTo>
                    <a:lnTo>
                      <a:pt x="114300" y="457200"/>
                    </a:lnTo>
                    <a:lnTo>
                      <a:pt x="57150" y="457200"/>
                    </a:lnTo>
                    <a:cubicBezTo>
                      <a:pt x="25587" y="457200"/>
                      <a:pt x="0" y="431612"/>
                      <a:pt x="0" y="400050"/>
                    </a:cubicBezTo>
                    <a:close/>
                    <a:moveTo>
                      <a:pt x="114300" y="457200"/>
                    </a:moveTo>
                    <a:lnTo>
                      <a:pt x="114300" y="342900"/>
                    </a:lnTo>
                    <a:lnTo>
                      <a:pt x="914400" y="342900"/>
                    </a:lnTo>
                    <a:lnTo>
                      <a:pt x="914400" y="457200"/>
                    </a:lnTo>
                    <a:close/>
                    <a:moveTo>
                      <a:pt x="914400" y="457200"/>
                    </a:moveTo>
                    <a:lnTo>
                      <a:pt x="914400" y="342900"/>
                    </a:lnTo>
                    <a:lnTo>
                      <a:pt x="1028700" y="342900"/>
                    </a:lnTo>
                    <a:lnTo>
                      <a:pt x="1028700" y="400050"/>
                    </a:lnTo>
                    <a:cubicBezTo>
                      <a:pt x="1028700" y="431612"/>
                      <a:pt x="1003112" y="457200"/>
                      <a:pt x="971550" y="457200"/>
                    </a:cubicBezTo>
                    <a:close/>
                  </a:path>
                </a:pathLst>
              </a:custGeom>
              <a:solidFill>
                <a:srgbClr val="4E8CF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77" name="Rounded Rectangle 23"/>
              <p:cNvSpPr/>
              <p:nvPr/>
            </p:nvSpPr>
            <p:spPr>
              <a:xfrm>
                <a:off x="2343150" y="2857500"/>
                <a:ext cx="1028700" cy="457200"/>
              </a:xfrm>
              <a:custGeom>
                <a:avLst/>
                <a:gdLst/>
                <a:ahLst/>
                <a:cxnLst/>
                <a:rect l="0" t="0" r="0" b="0"/>
                <a:pathLst>
                  <a:path w="1028700" h="457200">
                    <a:moveTo>
                      <a:pt x="0" y="114300"/>
                    </a:moveTo>
                    <a:lnTo>
                      <a:pt x="0" y="57150"/>
                    </a:lnTo>
                    <a:cubicBezTo>
                      <a:pt x="0" y="25587"/>
                      <a:pt x="25587" y="0"/>
                      <a:pt x="57150" y="0"/>
                    </a:cubicBezTo>
                    <a:lnTo>
                      <a:pt x="114300" y="0"/>
                    </a:lnTo>
                    <a:moveTo>
                      <a:pt x="1028700" y="114300"/>
                    </a:moveTo>
                    <a:lnTo>
                      <a:pt x="1028700" y="342900"/>
                    </a:lnTo>
                    <a:moveTo>
                      <a:pt x="0" y="342900"/>
                    </a:moveTo>
                    <a:lnTo>
                      <a:pt x="0" y="114300"/>
                    </a:lnTo>
                    <a:moveTo>
                      <a:pt x="114300" y="0"/>
                    </a:moveTo>
                    <a:lnTo>
                      <a:pt x="914400" y="0"/>
                    </a:lnTo>
                    <a:moveTo>
                      <a:pt x="114300" y="457200"/>
                    </a:moveTo>
                    <a:lnTo>
                      <a:pt x="57150" y="457200"/>
                    </a:lnTo>
                    <a:cubicBezTo>
                      <a:pt x="25587" y="457200"/>
                      <a:pt x="0" y="431612"/>
                      <a:pt x="0" y="400050"/>
                    </a:cubicBezTo>
                    <a:lnTo>
                      <a:pt x="0" y="342900"/>
                    </a:lnTo>
                    <a:moveTo>
                      <a:pt x="914400" y="0"/>
                    </a:moveTo>
                    <a:lnTo>
                      <a:pt x="971550" y="0"/>
                    </a:lnTo>
                    <a:cubicBezTo>
                      <a:pt x="1003112" y="0"/>
                      <a:pt x="1028700" y="25587"/>
                      <a:pt x="1028700" y="57150"/>
                    </a:cubicBezTo>
                    <a:lnTo>
                      <a:pt x="1028700" y="114300"/>
                    </a:lnTo>
                    <a:moveTo>
                      <a:pt x="114300" y="457200"/>
                    </a:moveTo>
                    <a:lnTo>
                      <a:pt x="914400" y="457200"/>
                    </a:lnTo>
                    <a:moveTo>
                      <a:pt x="1028700" y="342900"/>
                    </a:moveTo>
                    <a:lnTo>
                      <a:pt x="1028700" y="400050"/>
                    </a:lnTo>
                    <a:cubicBezTo>
                      <a:pt x="1028700" y="431612"/>
                      <a:pt x="1003112" y="457200"/>
                      <a:pt x="971550" y="457200"/>
                    </a:cubicBezTo>
                    <a:lnTo>
                      <a:pt x="914400" y="457200"/>
                    </a:lnTo>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78" name="Group 77"/>
            <p:cNvGrpSpPr/>
            <p:nvPr/>
          </p:nvGrpSpPr>
          <p:grpSpPr>
            <a:xfrm>
              <a:off x="6524761" y="4534286"/>
              <a:ext cx="2009422" cy="577850"/>
              <a:chOff x="400050" y="3429000"/>
              <a:chExt cx="1828800" cy="457200"/>
            </a:xfrm>
          </p:grpSpPr>
          <p:sp>
            <p:nvSpPr>
              <p:cNvPr id="79" name="Rounded Rectangle 25"/>
              <p:cNvSpPr/>
              <p:nvPr/>
            </p:nvSpPr>
            <p:spPr>
              <a:xfrm>
                <a:off x="400050" y="3429000"/>
                <a:ext cx="1828800" cy="457200"/>
              </a:xfrm>
              <a:custGeom>
                <a:avLst/>
                <a:gdLst/>
                <a:ahLst/>
                <a:cxnLst/>
                <a:rect l="0" t="0" r="0" b="0"/>
                <a:pathLst>
                  <a:path w="1828800" h="457200">
                    <a:moveTo>
                      <a:pt x="0" y="57150"/>
                    </a:moveTo>
                    <a:cubicBezTo>
                      <a:pt x="0" y="25587"/>
                      <a:pt x="25587" y="0"/>
                      <a:pt x="57150" y="0"/>
                    </a:cubicBezTo>
                    <a:lnTo>
                      <a:pt x="114300" y="0"/>
                    </a:lnTo>
                    <a:lnTo>
                      <a:pt x="114300" y="114300"/>
                    </a:lnTo>
                    <a:lnTo>
                      <a:pt x="0" y="114300"/>
                    </a:lnTo>
                    <a:close/>
                    <a:moveTo>
                      <a:pt x="1714500" y="0"/>
                    </a:moveTo>
                    <a:lnTo>
                      <a:pt x="1714500" y="114300"/>
                    </a:lnTo>
                    <a:lnTo>
                      <a:pt x="114300" y="114300"/>
                    </a:lnTo>
                    <a:lnTo>
                      <a:pt x="114300" y="0"/>
                    </a:lnTo>
                    <a:close/>
                    <a:moveTo>
                      <a:pt x="1828800" y="114300"/>
                    </a:moveTo>
                    <a:lnTo>
                      <a:pt x="1714500" y="114300"/>
                    </a:lnTo>
                    <a:lnTo>
                      <a:pt x="1714500" y="0"/>
                    </a:lnTo>
                    <a:lnTo>
                      <a:pt x="1771650" y="0"/>
                    </a:lnTo>
                    <a:cubicBezTo>
                      <a:pt x="1803212" y="0"/>
                      <a:pt x="1828800" y="25587"/>
                      <a:pt x="1828800" y="57150"/>
                    </a:cubicBezTo>
                    <a:close/>
                    <a:moveTo>
                      <a:pt x="1828800" y="342900"/>
                    </a:moveTo>
                    <a:lnTo>
                      <a:pt x="0" y="342900"/>
                    </a:lnTo>
                    <a:lnTo>
                      <a:pt x="0" y="114300"/>
                    </a:lnTo>
                    <a:lnTo>
                      <a:pt x="1828800" y="114300"/>
                    </a:lnTo>
                    <a:close/>
                    <a:moveTo>
                      <a:pt x="0" y="342900"/>
                    </a:moveTo>
                    <a:lnTo>
                      <a:pt x="114300" y="342900"/>
                    </a:lnTo>
                    <a:lnTo>
                      <a:pt x="114300" y="457200"/>
                    </a:lnTo>
                    <a:lnTo>
                      <a:pt x="57150" y="457200"/>
                    </a:lnTo>
                    <a:cubicBezTo>
                      <a:pt x="25587" y="457200"/>
                      <a:pt x="0" y="431612"/>
                      <a:pt x="0" y="400050"/>
                    </a:cubicBezTo>
                    <a:close/>
                    <a:moveTo>
                      <a:pt x="114300" y="457200"/>
                    </a:moveTo>
                    <a:lnTo>
                      <a:pt x="114300" y="342900"/>
                    </a:lnTo>
                    <a:lnTo>
                      <a:pt x="1714500" y="342900"/>
                    </a:lnTo>
                    <a:lnTo>
                      <a:pt x="1714500" y="457200"/>
                    </a:lnTo>
                    <a:close/>
                    <a:moveTo>
                      <a:pt x="1714500" y="457200"/>
                    </a:moveTo>
                    <a:lnTo>
                      <a:pt x="1714500" y="342900"/>
                    </a:lnTo>
                    <a:lnTo>
                      <a:pt x="1828800" y="342900"/>
                    </a:lnTo>
                    <a:lnTo>
                      <a:pt x="1828800" y="400050"/>
                    </a:lnTo>
                    <a:cubicBezTo>
                      <a:pt x="1828800" y="431612"/>
                      <a:pt x="1803212" y="457200"/>
                      <a:pt x="1771650" y="457200"/>
                    </a:cubicBezTo>
                    <a:close/>
                  </a:path>
                </a:pathLst>
              </a:custGeom>
              <a:solidFill>
                <a:srgbClr val="5D9B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80" name="Rounded Rectangle 26"/>
              <p:cNvSpPr/>
              <p:nvPr/>
            </p:nvSpPr>
            <p:spPr>
              <a:xfrm>
                <a:off x="400050" y="3429000"/>
                <a:ext cx="1828800" cy="457200"/>
              </a:xfrm>
              <a:custGeom>
                <a:avLst/>
                <a:gdLst/>
                <a:ahLst/>
                <a:cxnLst/>
                <a:rect l="0" t="0" r="0" b="0"/>
                <a:pathLst>
                  <a:path w="1828800" h="457200">
                    <a:moveTo>
                      <a:pt x="0" y="114300"/>
                    </a:moveTo>
                    <a:lnTo>
                      <a:pt x="0" y="57150"/>
                    </a:lnTo>
                    <a:cubicBezTo>
                      <a:pt x="0" y="25587"/>
                      <a:pt x="25587" y="0"/>
                      <a:pt x="57150" y="0"/>
                    </a:cubicBezTo>
                    <a:lnTo>
                      <a:pt x="114300" y="0"/>
                    </a:lnTo>
                    <a:moveTo>
                      <a:pt x="1828800" y="342900"/>
                    </a:moveTo>
                    <a:lnTo>
                      <a:pt x="1828800" y="114300"/>
                    </a:lnTo>
                    <a:moveTo>
                      <a:pt x="0" y="342900"/>
                    </a:moveTo>
                    <a:lnTo>
                      <a:pt x="0" y="114300"/>
                    </a:lnTo>
                    <a:moveTo>
                      <a:pt x="114300" y="0"/>
                    </a:moveTo>
                    <a:lnTo>
                      <a:pt x="1714500" y="0"/>
                    </a:lnTo>
                    <a:moveTo>
                      <a:pt x="114300" y="457200"/>
                    </a:moveTo>
                    <a:lnTo>
                      <a:pt x="57150" y="457200"/>
                    </a:lnTo>
                    <a:cubicBezTo>
                      <a:pt x="25587" y="457200"/>
                      <a:pt x="0" y="431612"/>
                      <a:pt x="0" y="400050"/>
                    </a:cubicBezTo>
                    <a:lnTo>
                      <a:pt x="0" y="342900"/>
                    </a:lnTo>
                    <a:moveTo>
                      <a:pt x="1714500" y="0"/>
                    </a:moveTo>
                    <a:lnTo>
                      <a:pt x="1771650" y="0"/>
                    </a:lnTo>
                    <a:cubicBezTo>
                      <a:pt x="1803212" y="0"/>
                      <a:pt x="1828800" y="25587"/>
                      <a:pt x="1828800" y="57150"/>
                    </a:cubicBezTo>
                    <a:lnTo>
                      <a:pt x="1828800" y="114300"/>
                    </a:lnTo>
                    <a:moveTo>
                      <a:pt x="1714500" y="457200"/>
                    </a:moveTo>
                    <a:lnTo>
                      <a:pt x="114300" y="457200"/>
                    </a:lnTo>
                    <a:moveTo>
                      <a:pt x="1828800" y="342900"/>
                    </a:moveTo>
                    <a:lnTo>
                      <a:pt x="1828800" y="400050"/>
                    </a:lnTo>
                    <a:cubicBezTo>
                      <a:pt x="1828800" y="431612"/>
                      <a:pt x="1803212" y="457200"/>
                      <a:pt x="1771650" y="457200"/>
                    </a:cubicBezTo>
                    <a:lnTo>
                      <a:pt x="1714500" y="457200"/>
                    </a:lnTo>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81" name="Group 80"/>
            <p:cNvGrpSpPr/>
            <p:nvPr/>
          </p:nvGrpSpPr>
          <p:grpSpPr>
            <a:xfrm>
              <a:off x="8543819" y="4527743"/>
              <a:ext cx="1130300" cy="577850"/>
              <a:chOff x="2343150" y="3429000"/>
              <a:chExt cx="1028700" cy="457200"/>
            </a:xfrm>
          </p:grpSpPr>
          <p:sp>
            <p:nvSpPr>
              <p:cNvPr id="82" name="Rounded Rectangle 28"/>
              <p:cNvSpPr/>
              <p:nvPr/>
            </p:nvSpPr>
            <p:spPr>
              <a:xfrm>
                <a:off x="2343150" y="3429000"/>
                <a:ext cx="1028700" cy="457200"/>
              </a:xfrm>
              <a:custGeom>
                <a:avLst/>
                <a:gdLst/>
                <a:ahLst/>
                <a:cxnLst/>
                <a:rect l="0" t="0" r="0" b="0"/>
                <a:pathLst>
                  <a:path w="1028700" h="457200">
                    <a:moveTo>
                      <a:pt x="0" y="57150"/>
                    </a:moveTo>
                    <a:cubicBezTo>
                      <a:pt x="0" y="25587"/>
                      <a:pt x="25587" y="0"/>
                      <a:pt x="57150" y="0"/>
                    </a:cubicBezTo>
                    <a:lnTo>
                      <a:pt x="114300" y="0"/>
                    </a:lnTo>
                    <a:lnTo>
                      <a:pt x="114300" y="114300"/>
                    </a:lnTo>
                    <a:lnTo>
                      <a:pt x="0" y="114300"/>
                    </a:lnTo>
                    <a:close/>
                    <a:moveTo>
                      <a:pt x="914400" y="0"/>
                    </a:moveTo>
                    <a:lnTo>
                      <a:pt x="914400" y="114300"/>
                    </a:lnTo>
                    <a:lnTo>
                      <a:pt x="114300" y="114300"/>
                    </a:lnTo>
                    <a:lnTo>
                      <a:pt x="114300" y="0"/>
                    </a:lnTo>
                    <a:close/>
                    <a:moveTo>
                      <a:pt x="1028700" y="114300"/>
                    </a:moveTo>
                    <a:lnTo>
                      <a:pt x="914400" y="114300"/>
                    </a:lnTo>
                    <a:lnTo>
                      <a:pt x="914400" y="0"/>
                    </a:lnTo>
                    <a:lnTo>
                      <a:pt x="971550" y="0"/>
                    </a:lnTo>
                    <a:cubicBezTo>
                      <a:pt x="1003112" y="0"/>
                      <a:pt x="1028700" y="25587"/>
                      <a:pt x="1028700" y="57150"/>
                    </a:cubicBezTo>
                    <a:close/>
                    <a:moveTo>
                      <a:pt x="1028700" y="342900"/>
                    </a:moveTo>
                    <a:lnTo>
                      <a:pt x="0" y="342900"/>
                    </a:lnTo>
                    <a:lnTo>
                      <a:pt x="0" y="114300"/>
                    </a:lnTo>
                    <a:lnTo>
                      <a:pt x="1028700" y="114300"/>
                    </a:lnTo>
                    <a:close/>
                    <a:moveTo>
                      <a:pt x="0" y="342900"/>
                    </a:moveTo>
                    <a:lnTo>
                      <a:pt x="114300" y="342900"/>
                    </a:lnTo>
                    <a:lnTo>
                      <a:pt x="114300" y="457200"/>
                    </a:lnTo>
                    <a:lnTo>
                      <a:pt x="57150" y="457200"/>
                    </a:lnTo>
                    <a:cubicBezTo>
                      <a:pt x="25587" y="457200"/>
                      <a:pt x="0" y="431612"/>
                      <a:pt x="0" y="400050"/>
                    </a:cubicBezTo>
                    <a:close/>
                    <a:moveTo>
                      <a:pt x="114300" y="457200"/>
                    </a:moveTo>
                    <a:lnTo>
                      <a:pt x="114300" y="342900"/>
                    </a:lnTo>
                    <a:lnTo>
                      <a:pt x="914400" y="342900"/>
                    </a:lnTo>
                    <a:lnTo>
                      <a:pt x="914400" y="457200"/>
                    </a:lnTo>
                    <a:close/>
                    <a:moveTo>
                      <a:pt x="914400" y="457200"/>
                    </a:moveTo>
                    <a:lnTo>
                      <a:pt x="914400" y="342900"/>
                    </a:lnTo>
                    <a:lnTo>
                      <a:pt x="1028700" y="342900"/>
                    </a:lnTo>
                    <a:lnTo>
                      <a:pt x="1028700" y="400050"/>
                    </a:lnTo>
                    <a:cubicBezTo>
                      <a:pt x="1028700" y="431612"/>
                      <a:pt x="1003112" y="457200"/>
                      <a:pt x="971550" y="457200"/>
                    </a:cubicBezTo>
                    <a:close/>
                  </a:path>
                </a:pathLst>
              </a:custGeom>
              <a:solidFill>
                <a:srgbClr val="5D9B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83" name="Rounded Rectangle 29"/>
              <p:cNvSpPr/>
              <p:nvPr/>
            </p:nvSpPr>
            <p:spPr>
              <a:xfrm>
                <a:off x="2343150" y="3429000"/>
                <a:ext cx="1028700" cy="457200"/>
              </a:xfrm>
              <a:custGeom>
                <a:avLst/>
                <a:gdLst/>
                <a:ahLst/>
                <a:cxnLst/>
                <a:rect l="0" t="0" r="0" b="0"/>
                <a:pathLst>
                  <a:path w="1028700" h="457200">
                    <a:moveTo>
                      <a:pt x="0" y="114300"/>
                    </a:moveTo>
                    <a:lnTo>
                      <a:pt x="0" y="57150"/>
                    </a:lnTo>
                    <a:cubicBezTo>
                      <a:pt x="0" y="25587"/>
                      <a:pt x="25587" y="0"/>
                      <a:pt x="57150" y="0"/>
                    </a:cubicBezTo>
                    <a:lnTo>
                      <a:pt x="114300" y="0"/>
                    </a:lnTo>
                    <a:moveTo>
                      <a:pt x="1028700" y="114300"/>
                    </a:moveTo>
                    <a:lnTo>
                      <a:pt x="1028700" y="342900"/>
                    </a:lnTo>
                    <a:moveTo>
                      <a:pt x="0" y="342900"/>
                    </a:moveTo>
                    <a:lnTo>
                      <a:pt x="0" y="114300"/>
                    </a:lnTo>
                    <a:moveTo>
                      <a:pt x="114300" y="0"/>
                    </a:moveTo>
                    <a:lnTo>
                      <a:pt x="914400" y="0"/>
                    </a:lnTo>
                    <a:moveTo>
                      <a:pt x="114300" y="457200"/>
                    </a:moveTo>
                    <a:lnTo>
                      <a:pt x="57150" y="457200"/>
                    </a:lnTo>
                    <a:cubicBezTo>
                      <a:pt x="25587" y="457200"/>
                      <a:pt x="0" y="431612"/>
                      <a:pt x="0" y="400050"/>
                    </a:cubicBezTo>
                    <a:lnTo>
                      <a:pt x="0" y="342900"/>
                    </a:lnTo>
                    <a:moveTo>
                      <a:pt x="914400" y="0"/>
                    </a:moveTo>
                    <a:lnTo>
                      <a:pt x="971550" y="0"/>
                    </a:lnTo>
                    <a:cubicBezTo>
                      <a:pt x="1003112" y="0"/>
                      <a:pt x="1028700" y="25587"/>
                      <a:pt x="1028700" y="57150"/>
                    </a:cubicBezTo>
                    <a:lnTo>
                      <a:pt x="1028700" y="114300"/>
                    </a:lnTo>
                    <a:moveTo>
                      <a:pt x="114300" y="457200"/>
                    </a:moveTo>
                    <a:lnTo>
                      <a:pt x="914400" y="457200"/>
                    </a:lnTo>
                    <a:moveTo>
                      <a:pt x="1028700" y="342900"/>
                    </a:moveTo>
                    <a:lnTo>
                      <a:pt x="1028700" y="400050"/>
                    </a:lnTo>
                    <a:cubicBezTo>
                      <a:pt x="1028700" y="431612"/>
                      <a:pt x="1003112" y="457200"/>
                      <a:pt x="971550" y="457200"/>
                    </a:cubicBezTo>
                    <a:lnTo>
                      <a:pt x="914400" y="457200"/>
                    </a:lnTo>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
          <p:nvSpPr>
            <p:cNvPr id="90" name="TextBox 37"/>
            <p:cNvSpPr txBox="1"/>
            <p:nvPr/>
          </p:nvSpPr>
          <p:spPr>
            <a:xfrm>
              <a:off x="8914791" y="3541712"/>
              <a:ext cx="573767" cy="241710"/>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a:solidFill>
                    <a:srgbClr val="FFFFFF"/>
                  </a:solidFill>
                </a:rPr>
                <a:t>10%</a:t>
              </a:r>
            </a:p>
          </p:txBody>
        </p:sp>
        <p:sp>
          <p:nvSpPr>
            <p:cNvPr id="91" name="TextBox 38"/>
            <p:cNvSpPr txBox="1"/>
            <p:nvPr/>
          </p:nvSpPr>
          <p:spPr>
            <a:xfrm>
              <a:off x="6646168" y="3517707"/>
              <a:ext cx="3241786" cy="241710"/>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b="1" dirty="0">
                  <a:solidFill>
                    <a:srgbClr val="FFFFFF"/>
                  </a:solidFill>
                </a:rPr>
                <a:t>50 Lakh - 1 Crore</a:t>
              </a:r>
            </a:p>
          </p:txBody>
        </p:sp>
        <p:sp>
          <p:nvSpPr>
            <p:cNvPr id="92" name="TextBox 39"/>
            <p:cNvSpPr txBox="1"/>
            <p:nvPr/>
          </p:nvSpPr>
          <p:spPr>
            <a:xfrm>
              <a:off x="6652958" y="4089593"/>
              <a:ext cx="3098344" cy="241710"/>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b="1" dirty="0">
                  <a:solidFill>
                    <a:srgbClr val="FFFFFF"/>
                  </a:solidFill>
                </a:rPr>
                <a:t>1 Crore - 2 Crore</a:t>
              </a:r>
            </a:p>
          </p:txBody>
        </p:sp>
        <p:sp>
          <p:nvSpPr>
            <p:cNvPr id="93" name="TextBox 40"/>
            <p:cNvSpPr txBox="1"/>
            <p:nvPr/>
          </p:nvSpPr>
          <p:spPr>
            <a:xfrm>
              <a:off x="8908150" y="2969231"/>
              <a:ext cx="401638" cy="241710"/>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0%</a:t>
              </a:r>
            </a:p>
          </p:txBody>
        </p:sp>
        <p:sp>
          <p:nvSpPr>
            <p:cNvPr id="94" name="TextBox 41"/>
            <p:cNvSpPr txBox="1"/>
            <p:nvPr/>
          </p:nvSpPr>
          <p:spPr>
            <a:xfrm>
              <a:off x="8914791" y="4113212"/>
              <a:ext cx="573767" cy="241710"/>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a:solidFill>
                    <a:srgbClr val="FFFFFF"/>
                  </a:solidFill>
                </a:rPr>
                <a:t>15%</a:t>
              </a:r>
            </a:p>
          </p:txBody>
        </p:sp>
        <p:sp>
          <p:nvSpPr>
            <p:cNvPr id="95" name="TextBox 42"/>
            <p:cNvSpPr txBox="1"/>
            <p:nvPr/>
          </p:nvSpPr>
          <p:spPr>
            <a:xfrm>
              <a:off x="6749733" y="2946207"/>
              <a:ext cx="1549172" cy="241710"/>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en-US" b="1" dirty="0">
                  <a:solidFill>
                    <a:srgbClr val="FFFFFF"/>
                  </a:solidFill>
                </a:rPr>
                <a:t>Up to </a:t>
              </a:r>
              <a:r>
                <a:rPr b="1" dirty="0">
                  <a:solidFill>
                    <a:srgbClr val="FFFFFF"/>
                  </a:solidFill>
                </a:rPr>
                <a:t>50 Lakh</a:t>
              </a:r>
            </a:p>
          </p:txBody>
        </p:sp>
        <p:sp>
          <p:nvSpPr>
            <p:cNvPr id="97" name="TextBox 44"/>
            <p:cNvSpPr txBox="1"/>
            <p:nvPr/>
          </p:nvSpPr>
          <p:spPr>
            <a:xfrm>
              <a:off x="8610575" y="2374707"/>
              <a:ext cx="996787" cy="241710"/>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FFFFFF"/>
                  </a:solidFill>
                </a:rPr>
                <a:t>Tax Rate</a:t>
              </a:r>
            </a:p>
          </p:txBody>
        </p:sp>
        <p:sp>
          <p:nvSpPr>
            <p:cNvPr id="98" name="TextBox 45"/>
            <p:cNvSpPr txBox="1"/>
            <p:nvPr/>
          </p:nvSpPr>
          <p:spPr>
            <a:xfrm>
              <a:off x="8914791" y="4684712"/>
              <a:ext cx="573767" cy="241710"/>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a:solidFill>
                    <a:srgbClr val="FFFFFF"/>
                  </a:solidFill>
                </a:rPr>
                <a:t>25%</a:t>
              </a:r>
            </a:p>
          </p:txBody>
        </p:sp>
        <p:sp>
          <p:nvSpPr>
            <p:cNvPr id="99" name="TextBox 46"/>
            <p:cNvSpPr txBox="1"/>
            <p:nvPr/>
          </p:nvSpPr>
          <p:spPr>
            <a:xfrm>
              <a:off x="6646168" y="2374900"/>
              <a:ext cx="1773943" cy="241710"/>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b="1" dirty="0">
                  <a:solidFill>
                    <a:srgbClr val="FFFFFF"/>
                  </a:solidFill>
                </a:rPr>
                <a:t>Income </a:t>
              </a:r>
              <a:r>
                <a:rPr lang="en-US" b="1" dirty="0">
                  <a:solidFill>
                    <a:srgbClr val="FFFFFF"/>
                  </a:solidFill>
                </a:rPr>
                <a:t>Range</a:t>
              </a:r>
              <a:endParaRPr b="1" dirty="0">
                <a:solidFill>
                  <a:srgbClr val="FFFFFF"/>
                </a:solidFill>
              </a:endParaRPr>
            </a:p>
          </p:txBody>
        </p:sp>
        <p:sp>
          <p:nvSpPr>
            <p:cNvPr id="101" name="TextBox 49"/>
            <p:cNvSpPr txBox="1"/>
            <p:nvPr/>
          </p:nvSpPr>
          <p:spPr>
            <a:xfrm>
              <a:off x="6646168" y="4660900"/>
              <a:ext cx="3098344" cy="241710"/>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en-US" b="1" dirty="0">
                  <a:solidFill>
                    <a:srgbClr val="FFFFFF"/>
                  </a:solidFill>
                </a:rPr>
                <a:t>Above </a:t>
              </a:r>
              <a:r>
                <a:rPr b="1" dirty="0">
                  <a:solidFill>
                    <a:srgbClr val="FFFFFF"/>
                  </a:solidFill>
                </a:rPr>
                <a:t>2 Crore</a:t>
              </a:r>
            </a:p>
          </p:txBody>
        </p:sp>
      </p:grpSp>
      <p:sp>
        <p:nvSpPr>
          <p:cNvPr id="87" name="TextBox 86">
            <a:extLst>
              <a:ext uri="{FF2B5EF4-FFF2-40B4-BE49-F238E27FC236}">
                <a16:creationId xmlns:a16="http://schemas.microsoft.com/office/drawing/2014/main" id="{1BDD2DD5-B43F-E92D-6EE3-C28E200BDB9B}"/>
              </a:ext>
            </a:extLst>
          </p:cNvPr>
          <p:cNvSpPr txBox="1"/>
          <p:nvPr/>
        </p:nvSpPr>
        <p:spPr>
          <a:xfrm>
            <a:off x="3663271" y="274828"/>
            <a:ext cx="4865457" cy="646331"/>
          </a:xfrm>
          <a:prstGeom prst="rect">
            <a:avLst/>
          </a:prstGeom>
          <a:noFill/>
        </p:spPr>
        <p:txBody>
          <a:bodyPr wrap="square" rtlCol="0">
            <a:spAutoFit/>
          </a:bodyPr>
          <a:lstStyle/>
          <a:p>
            <a:pPr algn="ctr"/>
            <a:r>
              <a:rPr lang="en-US" sz="3600" b="1" u="sng" dirty="0">
                <a:solidFill>
                  <a:srgbClr val="484848"/>
                </a:solidFill>
              </a:rPr>
              <a:t>Surcharge</a:t>
            </a:r>
            <a:endParaRPr lang="en-US" sz="2000" b="1" u="sng" dirty="0">
              <a:solidFill>
                <a:srgbClr val="484848"/>
              </a:solidFill>
            </a:endParaRPr>
          </a:p>
        </p:txBody>
      </p:sp>
    </p:spTree>
    <p:extLst>
      <p:ext uri="{BB962C8B-B14F-4D97-AF65-F5344CB8AC3E}">
        <p14:creationId xmlns:p14="http://schemas.microsoft.com/office/powerpoint/2010/main" val="3777844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10"/>
                                        <p:tgtEl>
                                          <p:spTgt spid="52"/>
                                        </p:tgtEl>
                                      </p:cBhvr>
                                    </p:animEffect>
                                    <p:anim calcmode="lin" valueType="num">
                                      <p:cBhvr>
                                        <p:cTn id="8" dur="10" fill="hold"/>
                                        <p:tgtEl>
                                          <p:spTgt spid="52"/>
                                        </p:tgtEl>
                                        <p:attrNameLst>
                                          <p:attrName>ppt_x</p:attrName>
                                        </p:attrNameLst>
                                      </p:cBhvr>
                                      <p:tavLst>
                                        <p:tav tm="0">
                                          <p:val>
                                            <p:strVal val="#ppt_x"/>
                                          </p:val>
                                        </p:tav>
                                        <p:tav tm="100000">
                                          <p:val>
                                            <p:strVal val="#ppt_x"/>
                                          </p:val>
                                        </p:tav>
                                      </p:tavLst>
                                    </p:anim>
                                    <p:anim calcmode="lin" valueType="num">
                                      <p:cBhvr>
                                        <p:cTn id="9" dur="10" fill="hold"/>
                                        <p:tgtEl>
                                          <p:spTgt spid="52"/>
                                        </p:tgtEl>
                                        <p:attrNameLst>
                                          <p:attrName>ppt_y</p:attrName>
                                        </p:attrNameLst>
                                      </p:cBhvr>
                                      <p:tavLst>
                                        <p:tav tm="0">
                                          <p:val>
                                            <p:strVal val="#ppt_y-.1"/>
                                          </p:val>
                                        </p:tav>
                                        <p:tav tm="100000">
                                          <p:val>
                                            <p:strVal val="#ppt_y"/>
                                          </p:val>
                                        </p:tav>
                                      </p:tavLst>
                                    </p:anim>
                                  </p:childTnLst>
                                </p:cTn>
                              </p:par>
                            </p:childTnLst>
                          </p:cTn>
                        </p:par>
                        <p:par>
                          <p:cTn id="10" fill="hold">
                            <p:stCondLst>
                              <p:cond delay="10"/>
                            </p:stCondLst>
                            <p:childTnLst>
                              <p:par>
                                <p:cTn id="11" presetID="47" presetClass="entr" presetSubtype="0" fill="hold" grpId="0" nodeType="afterEffect">
                                  <p:stCondLst>
                                    <p:cond delay="0"/>
                                  </p:stCondLst>
                                  <p:childTnLst>
                                    <p:set>
                                      <p:cBhvr>
                                        <p:cTn id="12" dur="1" fill="hold">
                                          <p:stCondLst>
                                            <p:cond delay="0"/>
                                          </p:stCondLst>
                                        </p:cTn>
                                        <p:tgtEl>
                                          <p:spTgt spid="53"/>
                                        </p:tgtEl>
                                        <p:attrNameLst>
                                          <p:attrName>style.visibility</p:attrName>
                                        </p:attrNameLst>
                                      </p:cBhvr>
                                      <p:to>
                                        <p:strVal val="visible"/>
                                      </p:to>
                                    </p:set>
                                    <p:animEffect transition="in" filter="fade">
                                      <p:cBhvr>
                                        <p:cTn id="13" dur="10"/>
                                        <p:tgtEl>
                                          <p:spTgt spid="53"/>
                                        </p:tgtEl>
                                      </p:cBhvr>
                                    </p:animEffect>
                                    <p:anim calcmode="lin" valueType="num">
                                      <p:cBhvr>
                                        <p:cTn id="14" dur="10" fill="hold"/>
                                        <p:tgtEl>
                                          <p:spTgt spid="53"/>
                                        </p:tgtEl>
                                        <p:attrNameLst>
                                          <p:attrName>ppt_x</p:attrName>
                                        </p:attrNameLst>
                                      </p:cBhvr>
                                      <p:tavLst>
                                        <p:tav tm="0">
                                          <p:val>
                                            <p:strVal val="#ppt_x"/>
                                          </p:val>
                                        </p:tav>
                                        <p:tav tm="100000">
                                          <p:val>
                                            <p:strVal val="#ppt_x"/>
                                          </p:val>
                                        </p:tav>
                                      </p:tavLst>
                                    </p:anim>
                                    <p:anim calcmode="lin" valueType="num">
                                      <p:cBhvr>
                                        <p:cTn id="15" dur="10" fill="hold"/>
                                        <p:tgtEl>
                                          <p:spTgt spid="5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just">
              <a:buNone/>
            </a:pPr>
            <a:r>
              <a:rPr lang="en-US" b="1" dirty="0">
                <a:cs typeface="Times New Roman" panose="02020603050405020304" pitchFamily="18" charset="0"/>
              </a:rPr>
              <a:t>Example for Surcharge:</a:t>
            </a:r>
          </a:p>
          <a:p>
            <a:pPr algn="just"/>
            <a:r>
              <a:rPr lang="en-US" dirty="0">
                <a:cs typeface="Times New Roman" panose="02020603050405020304" pitchFamily="18" charset="0"/>
              </a:rPr>
              <a:t>Annual Income from Salary: 55,00,000</a:t>
            </a:r>
          </a:p>
          <a:p>
            <a:pPr algn="just"/>
            <a:r>
              <a:rPr lang="en-US" dirty="0">
                <a:cs typeface="Times New Roman" panose="02020603050405020304" pitchFamily="18" charset="0"/>
              </a:rPr>
              <a:t>No any deductions claimed</a:t>
            </a:r>
          </a:p>
          <a:p>
            <a:pPr algn="just"/>
            <a:endParaRPr lang="en-US" dirty="0">
              <a:cs typeface="Times New Roman" panose="02020603050405020304" pitchFamily="18" charset="0"/>
            </a:endParaRPr>
          </a:p>
          <a:p>
            <a:pPr marL="0" indent="0" algn="just">
              <a:buNone/>
            </a:pPr>
            <a:r>
              <a:rPr lang="en-US" dirty="0">
                <a:cs typeface="Times New Roman" panose="02020603050405020304" pitchFamily="18" charset="0"/>
              </a:rPr>
              <a:t>Calculate the Income tax in both Old and New regimes and suggest the optimal tax slab for this salary.</a:t>
            </a:r>
          </a:p>
        </p:txBody>
      </p:sp>
      <p:sp>
        <p:nvSpPr>
          <p:cNvPr id="4" name="Title 3"/>
          <p:cNvSpPr>
            <a:spLocks noGrp="1"/>
          </p:cNvSpPr>
          <p:nvPr>
            <p:ph type="title"/>
          </p:nvPr>
        </p:nvSpPr>
        <p:spPr/>
        <p:txBody>
          <a:bodyPr>
            <a:normAutofit/>
          </a:bodyPr>
          <a:lstStyle/>
          <a:p>
            <a:r>
              <a:rPr lang="en-US" b="1" dirty="0">
                <a:cs typeface="Times New Roman" panose="02020603050405020304" pitchFamily="18" charset="0"/>
              </a:rPr>
              <a:t>Example</a:t>
            </a:r>
            <a:r>
              <a:rPr lang="en-US" dirty="0">
                <a:cs typeface="Times New Roman" panose="02020603050405020304" pitchFamily="18" charset="0"/>
              </a:rPr>
              <a:t> </a:t>
            </a:r>
            <a:r>
              <a:rPr lang="en-US" b="1" dirty="0">
                <a:cs typeface="Times New Roman" panose="02020603050405020304" pitchFamily="18" charset="0"/>
              </a:rPr>
              <a:t>5</a:t>
            </a:r>
          </a:p>
        </p:txBody>
      </p:sp>
    </p:spTree>
    <p:extLst>
      <p:ext uri="{BB962C8B-B14F-4D97-AF65-F5344CB8AC3E}">
        <p14:creationId xmlns:p14="http://schemas.microsoft.com/office/powerpoint/2010/main" val="16081482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idx="4294967295"/>
          </p:nvPr>
        </p:nvSpPr>
        <p:spPr>
          <a:xfrm>
            <a:off x="838200" y="0"/>
            <a:ext cx="10515600" cy="590550"/>
          </a:xfrm>
        </p:spPr>
        <p:txBody>
          <a:bodyPr>
            <a:normAutofit fontScale="90000"/>
          </a:bodyPr>
          <a:lstStyle/>
          <a:p>
            <a:pPr algn="ctr"/>
            <a:br>
              <a:rPr lang="en-US" sz="2800" b="1" u="sng" dirty="0">
                <a:cs typeface="Times New Roman" panose="02020603050405020304" pitchFamily="18" charset="0"/>
              </a:rPr>
            </a:br>
            <a:r>
              <a:rPr lang="en-US" sz="2800" b="1" u="sng" dirty="0">
                <a:cs typeface="Times New Roman" panose="02020603050405020304" pitchFamily="18" charset="0"/>
              </a:rPr>
              <a:t>Tax Calculation as per Old Slab:</a:t>
            </a:r>
          </a:p>
        </p:txBody>
      </p:sp>
      <p:graphicFrame>
        <p:nvGraphicFramePr>
          <p:cNvPr id="5" name="Table 4"/>
          <p:cNvGraphicFramePr>
            <a:graphicFrameLocks noGrp="1"/>
          </p:cNvGraphicFramePr>
          <p:nvPr>
            <p:extLst>
              <p:ext uri="{D42A27DB-BD31-4B8C-83A1-F6EECF244321}">
                <p14:modId xmlns:p14="http://schemas.microsoft.com/office/powerpoint/2010/main" val="1277941602"/>
              </p:ext>
            </p:extLst>
          </p:nvPr>
        </p:nvGraphicFramePr>
        <p:xfrm>
          <a:off x="376561" y="820179"/>
          <a:ext cx="2676525" cy="5198889"/>
        </p:xfrm>
        <a:graphic>
          <a:graphicData uri="http://schemas.openxmlformats.org/drawingml/2006/table">
            <a:tbl>
              <a:tblPr firstRow="1" bandRow="1">
                <a:tableStyleId>{073A0DAA-6AF3-43AB-8588-CEC1D06C72B9}</a:tableStyleId>
              </a:tblPr>
              <a:tblGrid>
                <a:gridCol w="1333500">
                  <a:extLst>
                    <a:ext uri="{9D8B030D-6E8A-4147-A177-3AD203B41FA5}">
                      <a16:colId xmlns:a16="http://schemas.microsoft.com/office/drawing/2014/main" val="20000"/>
                    </a:ext>
                  </a:extLst>
                </a:gridCol>
                <a:gridCol w="1343025">
                  <a:extLst>
                    <a:ext uri="{9D8B030D-6E8A-4147-A177-3AD203B41FA5}">
                      <a16:colId xmlns:a16="http://schemas.microsoft.com/office/drawing/2014/main" val="20001"/>
                    </a:ext>
                  </a:extLst>
                </a:gridCol>
              </a:tblGrid>
              <a:tr h="576765">
                <a:tc>
                  <a:txBody>
                    <a:bodyPr/>
                    <a:lstStyle/>
                    <a:p>
                      <a:pPr algn="ctr"/>
                      <a:r>
                        <a:rPr lang="en-US" dirty="0"/>
                        <a:t>Particulars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76765">
                <a:tc>
                  <a:txBody>
                    <a:bodyPr/>
                    <a:lstStyle/>
                    <a:p>
                      <a:pPr algn="ctr"/>
                      <a:r>
                        <a:rPr lang="en-US" dirty="0"/>
                        <a:t>Annual Salary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55,00,000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995511">
                <a:tc>
                  <a:txBody>
                    <a:bodyPr/>
                    <a:lstStyle/>
                    <a:p>
                      <a:pPr algn="ctr"/>
                      <a:r>
                        <a:rPr lang="en-US" dirty="0"/>
                        <a:t>Deductions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Not Claimed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995511">
                <a:tc>
                  <a:txBody>
                    <a:bodyPr/>
                    <a:lstStyle/>
                    <a:p>
                      <a:pPr algn="ctr"/>
                      <a:r>
                        <a:rPr lang="en-US" dirty="0"/>
                        <a:t>Standard</a:t>
                      </a:r>
                      <a:r>
                        <a:rPr lang="en-US" baseline="0" dirty="0"/>
                        <a:t> Deduction</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995511">
                <a:tc>
                  <a:txBody>
                    <a:bodyPr/>
                    <a:lstStyle/>
                    <a:p>
                      <a:pPr algn="ctr"/>
                      <a:r>
                        <a:rPr lang="en-US" b="1" dirty="0"/>
                        <a:t>Total Deduction</a:t>
                      </a:r>
                      <a:r>
                        <a:rPr lang="en-US" b="1" baseline="0" dirty="0"/>
                        <a:t> </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995511">
                <a:tc>
                  <a:txBody>
                    <a:bodyPr/>
                    <a:lstStyle/>
                    <a:p>
                      <a:pPr algn="ctr"/>
                      <a:r>
                        <a:rPr lang="en-US" b="1" u="none" dirty="0"/>
                        <a:t>Taxable Income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u="sng" dirty="0"/>
                        <a:t>54,50,000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428683690"/>
              </p:ext>
            </p:extLst>
          </p:nvPr>
        </p:nvGraphicFramePr>
        <p:xfrm>
          <a:off x="3185335" y="820179"/>
          <a:ext cx="8430740" cy="5217642"/>
        </p:xfrm>
        <a:graphic>
          <a:graphicData uri="http://schemas.openxmlformats.org/drawingml/2006/table">
            <a:tbl>
              <a:tblPr firstRow="1" bandRow="1">
                <a:tableStyleId>{073A0DAA-6AF3-43AB-8588-CEC1D06C72B9}</a:tableStyleId>
              </a:tblPr>
              <a:tblGrid>
                <a:gridCol w="2436326">
                  <a:extLst>
                    <a:ext uri="{9D8B030D-6E8A-4147-A177-3AD203B41FA5}">
                      <a16:colId xmlns:a16="http://schemas.microsoft.com/office/drawing/2014/main" val="20000"/>
                    </a:ext>
                  </a:extLst>
                </a:gridCol>
                <a:gridCol w="635000">
                  <a:extLst>
                    <a:ext uri="{9D8B030D-6E8A-4147-A177-3AD203B41FA5}">
                      <a16:colId xmlns:a16="http://schemas.microsoft.com/office/drawing/2014/main" val="20001"/>
                    </a:ext>
                  </a:extLst>
                </a:gridCol>
                <a:gridCol w="1282700">
                  <a:extLst>
                    <a:ext uri="{9D8B030D-6E8A-4147-A177-3AD203B41FA5}">
                      <a16:colId xmlns:a16="http://schemas.microsoft.com/office/drawing/2014/main" val="20002"/>
                    </a:ext>
                  </a:extLst>
                </a:gridCol>
                <a:gridCol w="2717800">
                  <a:extLst>
                    <a:ext uri="{9D8B030D-6E8A-4147-A177-3AD203B41FA5}">
                      <a16:colId xmlns:a16="http://schemas.microsoft.com/office/drawing/2014/main" val="20003"/>
                    </a:ext>
                  </a:extLst>
                </a:gridCol>
                <a:gridCol w="1358914">
                  <a:extLst>
                    <a:ext uri="{9D8B030D-6E8A-4147-A177-3AD203B41FA5}">
                      <a16:colId xmlns:a16="http://schemas.microsoft.com/office/drawing/2014/main" val="20004"/>
                    </a:ext>
                  </a:extLst>
                </a:gridCol>
              </a:tblGrid>
              <a:tr h="621325">
                <a:tc>
                  <a:txBody>
                    <a:bodyPr/>
                    <a:lstStyle/>
                    <a:p>
                      <a:pPr algn="ctr"/>
                      <a:r>
                        <a:rPr lang="en-US" dirty="0"/>
                        <a:t>Range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dirty="0"/>
                        <a:t>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Taxable 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10455">
                <a:tc>
                  <a:txBody>
                    <a:bodyPr/>
                    <a:lstStyle/>
                    <a:p>
                      <a:pPr algn="ctr"/>
                      <a:r>
                        <a:rPr lang="en-US" dirty="0"/>
                        <a:t>Up to 2,50,000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10455">
                <a:tc>
                  <a:txBody>
                    <a:bodyPr/>
                    <a:lstStyle/>
                    <a:p>
                      <a:pPr algn="ctr"/>
                      <a:r>
                        <a:rPr lang="en-US" dirty="0"/>
                        <a:t>2,50,001</a:t>
                      </a:r>
                      <a:r>
                        <a:rPr lang="en-US" baseline="0" dirty="0"/>
                        <a:t> – 5,00,000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(5,00,000 – 2,50,000)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77632">
                <a:tc>
                  <a:txBody>
                    <a:bodyPr/>
                    <a:lstStyle/>
                    <a:p>
                      <a:pPr algn="ctr"/>
                      <a:r>
                        <a:rPr lang="en-US" dirty="0"/>
                        <a:t>5,00,001</a:t>
                      </a:r>
                      <a:r>
                        <a:rPr lang="en-US" baseline="0" dirty="0"/>
                        <a:t> – 10,00,000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5,00,000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(10,00,000 – 5,00,000)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10455">
                <a:tc>
                  <a:txBody>
                    <a:bodyPr/>
                    <a:lstStyle/>
                    <a:p>
                      <a:pPr algn="ctr"/>
                      <a:r>
                        <a:rPr lang="en-US" baseline="0" dirty="0"/>
                        <a:t>Above 10,00,000 </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44,50,000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(54,50,000</a:t>
                      </a:r>
                      <a:r>
                        <a:rPr lang="en-US" baseline="0" dirty="0"/>
                        <a:t> – 10,00,000</a:t>
                      </a: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13,35,000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10455">
                <a:tc gridSpan="4">
                  <a:txBody>
                    <a:bodyPr/>
                    <a:lstStyle/>
                    <a:p>
                      <a:pPr algn="ctr"/>
                      <a:r>
                        <a:rPr lang="en-US" b="1" dirty="0"/>
                        <a:t>Tax 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14,47,500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510455">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 Surcharge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1,44,750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510455">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Amount before 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a:r>
                        <a:rPr lang="en-US" dirty="0"/>
                        <a:t>15,92,250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510455">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 Health and Education Cess</a:t>
                      </a:r>
                      <a:r>
                        <a:rPr lang="en-US" baseline="0" dirty="0"/>
                        <a:t> (4%)</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63,690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526745">
                <a:tc gridSpan="4">
                  <a:txBody>
                    <a:bodyPr/>
                    <a:lstStyle/>
                    <a:p>
                      <a:pPr algn="ctr"/>
                      <a:r>
                        <a:rPr lang="en-US" sz="2000" b="1" dirty="0"/>
                        <a:t>Total Payable Tax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pPr algn="ctr"/>
                      <a:endParaRPr lang="en-US" sz="2000" b="1" u="sn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u="sng" dirty="0"/>
                        <a:t>16,55,940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4131975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idx="4294967295"/>
          </p:nvPr>
        </p:nvSpPr>
        <p:spPr>
          <a:xfrm>
            <a:off x="559293" y="55272"/>
            <a:ext cx="10515600" cy="578091"/>
          </a:xfrm>
        </p:spPr>
        <p:txBody>
          <a:bodyPr>
            <a:normAutofit/>
          </a:bodyPr>
          <a:lstStyle/>
          <a:p>
            <a:pPr algn="ctr"/>
            <a:r>
              <a:rPr lang="en-US" sz="2800" b="1" u="sng" dirty="0">
                <a:cs typeface="Times New Roman" panose="02020603050405020304" pitchFamily="18" charset="0"/>
              </a:rPr>
              <a:t>Tax Calculation as per New Slab:</a:t>
            </a:r>
          </a:p>
        </p:txBody>
      </p:sp>
      <p:graphicFrame>
        <p:nvGraphicFramePr>
          <p:cNvPr id="5" name="Table 4"/>
          <p:cNvGraphicFramePr>
            <a:graphicFrameLocks noGrp="1"/>
          </p:cNvGraphicFramePr>
          <p:nvPr>
            <p:extLst>
              <p:ext uri="{D42A27DB-BD31-4B8C-83A1-F6EECF244321}">
                <p14:modId xmlns:p14="http://schemas.microsoft.com/office/powerpoint/2010/main" val="2578617726"/>
              </p:ext>
            </p:extLst>
          </p:nvPr>
        </p:nvGraphicFramePr>
        <p:xfrm>
          <a:off x="393191" y="633363"/>
          <a:ext cx="2676525" cy="5829302"/>
        </p:xfrm>
        <a:graphic>
          <a:graphicData uri="http://schemas.openxmlformats.org/drawingml/2006/table">
            <a:tbl>
              <a:tblPr firstRow="1" bandRow="1">
                <a:tableStyleId>{073A0DAA-6AF3-43AB-8588-CEC1D06C72B9}</a:tableStyleId>
              </a:tblPr>
              <a:tblGrid>
                <a:gridCol w="1333500">
                  <a:extLst>
                    <a:ext uri="{9D8B030D-6E8A-4147-A177-3AD203B41FA5}">
                      <a16:colId xmlns:a16="http://schemas.microsoft.com/office/drawing/2014/main" val="20000"/>
                    </a:ext>
                  </a:extLst>
                </a:gridCol>
                <a:gridCol w="1343025">
                  <a:extLst>
                    <a:ext uri="{9D8B030D-6E8A-4147-A177-3AD203B41FA5}">
                      <a16:colId xmlns:a16="http://schemas.microsoft.com/office/drawing/2014/main" val="20001"/>
                    </a:ext>
                  </a:extLst>
                </a:gridCol>
              </a:tblGrid>
              <a:tr h="646703">
                <a:tc>
                  <a:txBody>
                    <a:bodyPr/>
                    <a:lstStyle/>
                    <a:p>
                      <a:pPr algn="ctr"/>
                      <a:r>
                        <a:rPr lang="en-US" dirty="0"/>
                        <a:t>Particulars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17695">
                <a:tc>
                  <a:txBody>
                    <a:bodyPr/>
                    <a:lstStyle/>
                    <a:p>
                      <a:pPr algn="ctr"/>
                      <a:r>
                        <a:rPr lang="en-US" dirty="0"/>
                        <a:t>Annual Salary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55,00,000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116226">
                <a:tc>
                  <a:txBody>
                    <a:bodyPr/>
                    <a:lstStyle/>
                    <a:p>
                      <a:pPr algn="ctr"/>
                      <a:r>
                        <a:rPr lang="en-US" dirty="0"/>
                        <a:t>Deductions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Not Claimed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116226">
                <a:tc>
                  <a:txBody>
                    <a:bodyPr/>
                    <a:lstStyle/>
                    <a:p>
                      <a:pPr algn="ctr"/>
                      <a:r>
                        <a:rPr lang="en-US" dirty="0"/>
                        <a:t>Standard</a:t>
                      </a:r>
                      <a:r>
                        <a:rPr lang="en-US" baseline="0" dirty="0"/>
                        <a:t> Deduction</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75,000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116226">
                <a:tc>
                  <a:txBody>
                    <a:bodyPr/>
                    <a:lstStyle/>
                    <a:p>
                      <a:pPr algn="ctr"/>
                      <a:r>
                        <a:rPr lang="en-US" b="1" dirty="0"/>
                        <a:t>Total Deduction</a:t>
                      </a:r>
                      <a:r>
                        <a:rPr lang="en-US" b="1" baseline="0" dirty="0"/>
                        <a:t> </a:t>
                      </a: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75,000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116226">
                <a:tc>
                  <a:txBody>
                    <a:bodyPr/>
                    <a:lstStyle/>
                    <a:p>
                      <a:pPr algn="ctr"/>
                      <a:r>
                        <a:rPr lang="en-US" b="1" u="none" dirty="0"/>
                        <a:t>Taxable Income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u="sng" dirty="0"/>
                        <a:t>54,25,000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639555983"/>
              </p:ext>
            </p:extLst>
          </p:nvPr>
        </p:nvGraphicFramePr>
        <p:xfrm>
          <a:off x="3201965" y="633363"/>
          <a:ext cx="8430742" cy="5842396"/>
        </p:xfrm>
        <a:graphic>
          <a:graphicData uri="http://schemas.openxmlformats.org/drawingml/2006/table">
            <a:tbl>
              <a:tblPr firstRow="1" bandRow="1">
                <a:tableStyleId>{073A0DAA-6AF3-43AB-8588-CEC1D06C72B9}</a:tableStyleId>
              </a:tblPr>
              <a:tblGrid>
                <a:gridCol w="2329971">
                  <a:extLst>
                    <a:ext uri="{9D8B030D-6E8A-4147-A177-3AD203B41FA5}">
                      <a16:colId xmlns:a16="http://schemas.microsoft.com/office/drawing/2014/main" val="20000"/>
                    </a:ext>
                  </a:extLst>
                </a:gridCol>
                <a:gridCol w="679442">
                  <a:extLst>
                    <a:ext uri="{9D8B030D-6E8A-4147-A177-3AD203B41FA5}">
                      <a16:colId xmlns:a16="http://schemas.microsoft.com/office/drawing/2014/main" val="20001"/>
                    </a:ext>
                  </a:extLst>
                </a:gridCol>
                <a:gridCol w="1333500">
                  <a:extLst>
                    <a:ext uri="{9D8B030D-6E8A-4147-A177-3AD203B41FA5}">
                      <a16:colId xmlns:a16="http://schemas.microsoft.com/office/drawing/2014/main" val="20002"/>
                    </a:ext>
                  </a:extLst>
                </a:gridCol>
                <a:gridCol w="2679700">
                  <a:extLst>
                    <a:ext uri="{9D8B030D-6E8A-4147-A177-3AD203B41FA5}">
                      <a16:colId xmlns:a16="http://schemas.microsoft.com/office/drawing/2014/main" val="20003"/>
                    </a:ext>
                  </a:extLst>
                </a:gridCol>
                <a:gridCol w="1408129">
                  <a:extLst>
                    <a:ext uri="{9D8B030D-6E8A-4147-A177-3AD203B41FA5}">
                      <a16:colId xmlns:a16="http://schemas.microsoft.com/office/drawing/2014/main" val="20004"/>
                    </a:ext>
                  </a:extLst>
                </a:gridCol>
              </a:tblGrid>
              <a:tr h="630169">
                <a:tc>
                  <a:txBody>
                    <a:bodyPr/>
                    <a:lstStyle/>
                    <a:p>
                      <a:pPr algn="ctr"/>
                      <a:r>
                        <a:rPr lang="en-US" dirty="0"/>
                        <a:t>Range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dirty="0"/>
                        <a:t>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Taxable 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80900">
                <a:tc>
                  <a:txBody>
                    <a:bodyPr/>
                    <a:lstStyle/>
                    <a:p>
                      <a:pPr algn="ctr"/>
                      <a:r>
                        <a:rPr lang="en-US" dirty="0"/>
                        <a:t>Up to 3,00,000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80900">
                <a:tc>
                  <a:txBody>
                    <a:bodyPr/>
                    <a:lstStyle/>
                    <a:p>
                      <a:pPr algn="ctr"/>
                      <a:r>
                        <a:rPr lang="en-US" dirty="0"/>
                        <a:t>3,00,001</a:t>
                      </a:r>
                      <a:r>
                        <a:rPr lang="en-US" baseline="0" dirty="0"/>
                        <a:t> – 7,00,000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4,00,000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(7,00,000 – 3,00,000)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30169">
                <a:tc>
                  <a:txBody>
                    <a:bodyPr/>
                    <a:lstStyle/>
                    <a:p>
                      <a:pPr algn="ctr"/>
                      <a:r>
                        <a:rPr lang="en-US" dirty="0"/>
                        <a:t>7,00,001</a:t>
                      </a:r>
                      <a:r>
                        <a:rPr lang="en-US" baseline="0" dirty="0"/>
                        <a:t> – 10,00,000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(10,00,000 – 7,00,000)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30169">
                <a:tc>
                  <a:txBody>
                    <a:bodyPr/>
                    <a:lstStyle/>
                    <a:p>
                      <a:pPr algn="ctr"/>
                      <a:r>
                        <a:rPr lang="en-US" baseline="0" dirty="0"/>
                        <a:t>10,00,001 – 12,00,000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(12,00,000</a:t>
                      </a:r>
                      <a:r>
                        <a:rPr lang="en-US" baseline="0" dirty="0"/>
                        <a:t> – 10,00,000</a:t>
                      </a: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30169">
                <a:tc>
                  <a:txBody>
                    <a:bodyPr/>
                    <a:lstStyle/>
                    <a:p>
                      <a:pPr algn="ctr"/>
                      <a:r>
                        <a:rPr lang="en-US" dirty="0"/>
                        <a:t>12,00,001 – 15,00,000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(15,00,000</a:t>
                      </a:r>
                      <a:r>
                        <a:rPr lang="en-US" baseline="0" dirty="0"/>
                        <a:t> – 12,00,000</a:t>
                      </a: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60,000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630169">
                <a:tc>
                  <a:txBody>
                    <a:bodyPr/>
                    <a:lstStyle/>
                    <a:p>
                      <a:pPr algn="ctr"/>
                      <a:r>
                        <a:rPr lang="en-US" dirty="0"/>
                        <a:t>Above 15,00,000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39,25,000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(54,25,000</a:t>
                      </a:r>
                      <a:r>
                        <a:rPr lang="en-US" baseline="0" dirty="0"/>
                        <a:t> – 15,00,000</a:t>
                      </a:r>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11,77,500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80900">
                <a:tc gridSpan="4">
                  <a:txBody>
                    <a:bodyPr/>
                    <a:lstStyle/>
                    <a:p>
                      <a:pPr algn="ctr"/>
                      <a:r>
                        <a:rPr lang="en-US" b="1" dirty="0"/>
                        <a:t>Tax Amount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13,17,500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80900">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 Surcharge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1,31,750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80900">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Amount before 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a:r>
                        <a:rPr lang="en-US" dirty="0"/>
                        <a:t>14,49,250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80900">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 Health and Education Cess</a:t>
                      </a:r>
                      <a:r>
                        <a:rPr lang="en-US" baseline="0" dirty="0"/>
                        <a:t> (4%)</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57,970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393058">
                <a:tc gridSpan="4">
                  <a:txBody>
                    <a:bodyPr/>
                    <a:lstStyle/>
                    <a:p>
                      <a:pPr algn="ctr"/>
                      <a:r>
                        <a:rPr lang="en-US" sz="2000" b="1" dirty="0"/>
                        <a:t>Total Payable Tax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pPr algn="ctr"/>
                      <a:endParaRPr lang="en-US" sz="2000" b="1" u="sng"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u="sng" dirty="0"/>
                        <a:t>15,07,220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7206066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05522" y="207963"/>
            <a:ext cx="9610078" cy="1325562"/>
          </a:xfrm>
        </p:spPr>
        <p:txBody>
          <a:bodyPr/>
          <a:lstStyle/>
          <a:p>
            <a:r>
              <a:rPr lang="en-US" b="1" dirty="0">
                <a:cs typeface="Times New Roman" panose="02020603050405020304" pitchFamily="18" charset="0"/>
              </a:rPr>
              <a:t>Comparison</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1989300244"/>
              </p:ext>
            </p:extLst>
          </p:nvPr>
        </p:nvGraphicFramePr>
        <p:xfrm>
          <a:off x="905522" y="1390653"/>
          <a:ext cx="10515600" cy="4238622"/>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470958">
                <a:tc>
                  <a:txBody>
                    <a:bodyPr/>
                    <a:lstStyle/>
                    <a:p>
                      <a:pPr algn="ctr"/>
                      <a:r>
                        <a:rPr lang="en-US" sz="2000" dirty="0"/>
                        <a:t>Particulars</a:t>
                      </a:r>
                    </a:p>
                  </a:txBody>
                  <a:tcPr/>
                </a:tc>
                <a:tc>
                  <a:txBody>
                    <a:bodyPr/>
                    <a:lstStyle/>
                    <a:p>
                      <a:pPr algn="ctr"/>
                      <a:r>
                        <a:rPr lang="en-US" sz="2000" dirty="0"/>
                        <a:t>Old</a:t>
                      </a:r>
                      <a:r>
                        <a:rPr lang="en-US" sz="2000" baseline="0" dirty="0"/>
                        <a:t> Slab </a:t>
                      </a:r>
                      <a:endParaRPr lang="en-US" sz="2000" dirty="0"/>
                    </a:p>
                  </a:txBody>
                  <a:tcPr/>
                </a:tc>
                <a:tc>
                  <a:txBody>
                    <a:bodyPr/>
                    <a:lstStyle/>
                    <a:p>
                      <a:pPr algn="ctr"/>
                      <a:r>
                        <a:rPr lang="en-US" sz="2000" dirty="0"/>
                        <a:t>New Slab</a:t>
                      </a:r>
                    </a:p>
                  </a:txBody>
                  <a:tcPr/>
                </a:tc>
                <a:extLst>
                  <a:ext uri="{0D108BD9-81ED-4DB2-BD59-A6C34878D82A}">
                    <a16:rowId xmlns:a16="http://schemas.microsoft.com/office/drawing/2014/main" val="10000"/>
                  </a:ext>
                </a:extLst>
              </a:tr>
              <a:tr h="470958">
                <a:tc>
                  <a:txBody>
                    <a:bodyPr/>
                    <a:lstStyle/>
                    <a:p>
                      <a:pPr algn="ctr"/>
                      <a:r>
                        <a:rPr lang="en-US" sz="2000" dirty="0"/>
                        <a:t>Income</a:t>
                      </a:r>
                    </a:p>
                  </a:txBody>
                  <a:tcPr/>
                </a:tc>
                <a:tc>
                  <a:txBody>
                    <a:bodyPr/>
                    <a:lstStyle/>
                    <a:p>
                      <a:pPr algn="ctr"/>
                      <a:r>
                        <a:rPr lang="en-US" sz="2000" dirty="0"/>
                        <a:t>55,00,000</a:t>
                      </a:r>
                    </a:p>
                  </a:txBody>
                  <a:tcPr/>
                </a:tc>
                <a:tc>
                  <a:txBody>
                    <a:bodyPr/>
                    <a:lstStyle/>
                    <a:p>
                      <a:pPr algn="ctr"/>
                      <a:r>
                        <a:rPr lang="en-US" sz="2000" dirty="0"/>
                        <a:t>55,00,000</a:t>
                      </a:r>
                    </a:p>
                  </a:txBody>
                  <a:tcPr/>
                </a:tc>
                <a:extLst>
                  <a:ext uri="{0D108BD9-81ED-4DB2-BD59-A6C34878D82A}">
                    <a16:rowId xmlns:a16="http://schemas.microsoft.com/office/drawing/2014/main" val="10001"/>
                  </a:ext>
                </a:extLst>
              </a:tr>
              <a:tr h="470958">
                <a:tc>
                  <a:txBody>
                    <a:bodyPr/>
                    <a:lstStyle/>
                    <a:p>
                      <a:pPr algn="ctr"/>
                      <a:r>
                        <a:rPr lang="en-US" sz="2000" dirty="0"/>
                        <a:t>Deductions</a:t>
                      </a:r>
                    </a:p>
                  </a:txBody>
                  <a:tcPr/>
                </a:tc>
                <a:tc>
                  <a:txBody>
                    <a:bodyPr/>
                    <a:lstStyle/>
                    <a:p>
                      <a:pPr algn="ctr"/>
                      <a:r>
                        <a:rPr lang="en-US" sz="2000" dirty="0"/>
                        <a:t>Not</a:t>
                      </a:r>
                      <a:r>
                        <a:rPr lang="en-US" sz="2000" baseline="0" dirty="0"/>
                        <a:t> claimed</a:t>
                      </a:r>
                      <a:endParaRPr lang="en-US" sz="2000" dirty="0"/>
                    </a:p>
                  </a:txBody>
                  <a:tcPr/>
                </a:tc>
                <a:tc>
                  <a:txBody>
                    <a:bodyPr/>
                    <a:lstStyle/>
                    <a:p>
                      <a:pPr algn="ctr"/>
                      <a:r>
                        <a:rPr lang="en-US" sz="2000" dirty="0"/>
                        <a:t>Not Claimed </a:t>
                      </a:r>
                    </a:p>
                  </a:txBody>
                  <a:tcPr/>
                </a:tc>
                <a:extLst>
                  <a:ext uri="{0D108BD9-81ED-4DB2-BD59-A6C34878D82A}">
                    <a16:rowId xmlns:a16="http://schemas.microsoft.com/office/drawing/2014/main" val="10002"/>
                  </a:ext>
                </a:extLst>
              </a:tr>
              <a:tr h="470958">
                <a:tc>
                  <a:txBody>
                    <a:bodyPr/>
                    <a:lstStyle/>
                    <a:p>
                      <a:pPr algn="ctr"/>
                      <a:r>
                        <a:rPr lang="en-US" sz="2000" dirty="0"/>
                        <a:t>Standard</a:t>
                      </a:r>
                      <a:r>
                        <a:rPr lang="en-US" sz="2000" baseline="0" dirty="0"/>
                        <a:t> Deduction</a:t>
                      </a:r>
                      <a:endParaRPr lang="en-US" sz="2000" dirty="0"/>
                    </a:p>
                  </a:txBody>
                  <a:tcPr/>
                </a:tc>
                <a:tc>
                  <a:txBody>
                    <a:bodyPr/>
                    <a:lstStyle/>
                    <a:p>
                      <a:pPr algn="ctr"/>
                      <a:r>
                        <a:rPr lang="en-US" sz="2000" dirty="0"/>
                        <a:t>50,000</a:t>
                      </a:r>
                    </a:p>
                  </a:txBody>
                  <a:tcPr/>
                </a:tc>
                <a:tc>
                  <a:txBody>
                    <a:bodyPr/>
                    <a:lstStyle/>
                    <a:p>
                      <a:pPr algn="ctr"/>
                      <a:r>
                        <a:rPr lang="en-US" sz="2000" dirty="0"/>
                        <a:t>75,000</a:t>
                      </a:r>
                    </a:p>
                  </a:txBody>
                  <a:tcPr/>
                </a:tc>
                <a:extLst>
                  <a:ext uri="{0D108BD9-81ED-4DB2-BD59-A6C34878D82A}">
                    <a16:rowId xmlns:a16="http://schemas.microsoft.com/office/drawing/2014/main" val="10003"/>
                  </a:ext>
                </a:extLst>
              </a:tr>
              <a:tr h="470958">
                <a:tc>
                  <a:txBody>
                    <a:bodyPr/>
                    <a:lstStyle/>
                    <a:p>
                      <a:pPr algn="ctr"/>
                      <a:r>
                        <a:rPr lang="en-US" sz="2000" dirty="0"/>
                        <a:t>Taxable Income</a:t>
                      </a:r>
                    </a:p>
                  </a:txBody>
                  <a:tcPr/>
                </a:tc>
                <a:tc>
                  <a:txBody>
                    <a:bodyPr/>
                    <a:lstStyle/>
                    <a:p>
                      <a:pPr algn="ctr"/>
                      <a:r>
                        <a:rPr lang="en-US" sz="2000" dirty="0"/>
                        <a:t>54,50,000</a:t>
                      </a:r>
                    </a:p>
                  </a:txBody>
                  <a:tcPr/>
                </a:tc>
                <a:tc>
                  <a:txBody>
                    <a:bodyPr/>
                    <a:lstStyle/>
                    <a:p>
                      <a:pPr algn="ctr"/>
                      <a:r>
                        <a:rPr lang="en-US" sz="2000" dirty="0"/>
                        <a:t>54,25,000</a:t>
                      </a:r>
                    </a:p>
                  </a:txBody>
                  <a:tcPr/>
                </a:tc>
                <a:extLst>
                  <a:ext uri="{0D108BD9-81ED-4DB2-BD59-A6C34878D82A}">
                    <a16:rowId xmlns:a16="http://schemas.microsoft.com/office/drawing/2014/main" val="10004"/>
                  </a:ext>
                </a:extLst>
              </a:tr>
              <a:tr h="4709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t>Tax Amount</a:t>
                      </a:r>
                    </a:p>
                  </a:txBody>
                  <a:tcPr/>
                </a:tc>
                <a:tc>
                  <a:txBody>
                    <a:bodyPr/>
                    <a:lstStyle/>
                    <a:p>
                      <a:pPr algn="ctr"/>
                      <a:r>
                        <a:rPr lang="en-US" sz="2000" dirty="0"/>
                        <a:t>14,47,500</a:t>
                      </a:r>
                    </a:p>
                  </a:txBody>
                  <a:tcPr/>
                </a:tc>
                <a:tc>
                  <a:txBody>
                    <a:bodyPr/>
                    <a:lstStyle/>
                    <a:p>
                      <a:pPr algn="ctr"/>
                      <a:r>
                        <a:rPr lang="en-US" sz="2000" dirty="0"/>
                        <a:t>13,17,500</a:t>
                      </a:r>
                    </a:p>
                  </a:txBody>
                  <a:tcPr/>
                </a:tc>
                <a:extLst>
                  <a:ext uri="{0D108BD9-81ED-4DB2-BD59-A6C34878D82A}">
                    <a16:rowId xmlns:a16="http://schemas.microsoft.com/office/drawing/2014/main" val="10005"/>
                  </a:ext>
                </a:extLst>
              </a:tr>
              <a:tr h="470958">
                <a:tc>
                  <a:txBody>
                    <a:bodyPr/>
                    <a:lstStyle/>
                    <a:p>
                      <a:pPr algn="ctr"/>
                      <a:r>
                        <a:rPr lang="en-US" sz="2000" dirty="0"/>
                        <a:t>Surcharge</a:t>
                      </a:r>
                    </a:p>
                  </a:txBody>
                  <a:tcPr/>
                </a:tc>
                <a:tc>
                  <a:txBody>
                    <a:bodyPr/>
                    <a:lstStyle/>
                    <a:p>
                      <a:pPr algn="ctr"/>
                      <a:r>
                        <a:rPr lang="en-US" sz="2000" dirty="0"/>
                        <a:t>1,44,750</a:t>
                      </a:r>
                    </a:p>
                  </a:txBody>
                  <a:tcPr/>
                </a:tc>
                <a:tc>
                  <a:txBody>
                    <a:bodyPr/>
                    <a:lstStyle/>
                    <a:p>
                      <a:pPr algn="ctr"/>
                      <a:r>
                        <a:rPr lang="en-US" sz="2000" dirty="0"/>
                        <a:t>1,31,750</a:t>
                      </a:r>
                    </a:p>
                  </a:txBody>
                  <a:tcPr/>
                </a:tc>
                <a:extLst>
                  <a:ext uri="{0D108BD9-81ED-4DB2-BD59-A6C34878D82A}">
                    <a16:rowId xmlns:a16="http://schemas.microsoft.com/office/drawing/2014/main" val="10006"/>
                  </a:ext>
                </a:extLst>
              </a:tr>
              <a:tr h="470958">
                <a:tc>
                  <a:txBody>
                    <a:bodyPr/>
                    <a:lstStyle/>
                    <a:p>
                      <a:pPr algn="ctr"/>
                      <a:r>
                        <a:rPr lang="en-US" sz="2000" dirty="0"/>
                        <a:t>HEC</a:t>
                      </a:r>
                    </a:p>
                  </a:txBody>
                  <a:tcPr/>
                </a:tc>
                <a:tc>
                  <a:txBody>
                    <a:bodyPr/>
                    <a:lstStyle/>
                    <a:p>
                      <a:pPr algn="ctr"/>
                      <a:r>
                        <a:rPr lang="en-US" sz="2000" dirty="0"/>
                        <a:t>63,690</a:t>
                      </a:r>
                    </a:p>
                  </a:txBody>
                  <a:tcPr/>
                </a:tc>
                <a:tc>
                  <a:txBody>
                    <a:bodyPr/>
                    <a:lstStyle/>
                    <a:p>
                      <a:pPr algn="ctr"/>
                      <a:r>
                        <a:rPr lang="en-US" sz="2000" dirty="0"/>
                        <a:t>57,970</a:t>
                      </a:r>
                    </a:p>
                  </a:txBody>
                  <a:tcPr/>
                </a:tc>
                <a:extLst>
                  <a:ext uri="{0D108BD9-81ED-4DB2-BD59-A6C34878D82A}">
                    <a16:rowId xmlns:a16="http://schemas.microsoft.com/office/drawing/2014/main" val="10007"/>
                  </a:ext>
                </a:extLst>
              </a:tr>
              <a:tr h="470958">
                <a:tc>
                  <a:txBody>
                    <a:bodyPr/>
                    <a:lstStyle/>
                    <a:p>
                      <a:pPr algn="ctr"/>
                      <a:r>
                        <a:rPr lang="en-US" sz="2000" b="1" dirty="0"/>
                        <a:t>Total Tax Amount</a:t>
                      </a:r>
                    </a:p>
                  </a:txBody>
                  <a:tcPr/>
                </a:tc>
                <a:tc>
                  <a:txBody>
                    <a:bodyPr/>
                    <a:lstStyle/>
                    <a:p>
                      <a:pPr algn="ctr"/>
                      <a:r>
                        <a:rPr lang="en-US" sz="2000" b="1" dirty="0"/>
                        <a:t>16,55,940</a:t>
                      </a:r>
                    </a:p>
                  </a:txBody>
                  <a:tcPr/>
                </a:tc>
                <a:tc>
                  <a:txBody>
                    <a:bodyPr/>
                    <a:lstStyle/>
                    <a:p>
                      <a:pPr algn="ctr"/>
                      <a:r>
                        <a:rPr lang="en-US" sz="2000" b="1" dirty="0"/>
                        <a:t>15,07,220</a:t>
                      </a:r>
                    </a:p>
                  </a:txBody>
                  <a:tcPr/>
                </a:tc>
                <a:extLst>
                  <a:ext uri="{0D108BD9-81ED-4DB2-BD59-A6C34878D82A}">
                    <a16:rowId xmlns:a16="http://schemas.microsoft.com/office/drawing/2014/main" val="10008"/>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709020179"/>
              </p:ext>
            </p:extLst>
          </p:nvPr>
        </p:nvGraphicFramePr>
        <p:xfrm>
          <a:off x="838200" y="5629275"/>
          <a:ext cx="10515600" cy="822960"/>
        </p:xfrm>
        <a:graphic>
          <a:graphicData uri="http://schemas.openxmlformats.org/drawingml/2006/table">
            <a:tbl>
              <a:tblPr firstRow="1" bandRow="1">
                <a:tableStyleId>{5C22544A-7EE6-4342-B048-85BDC9FD1C3A}</a:tableStyleId>
              </a:tblPr>
              <a:tblGrid>
                <a:gridCol w="10515600">
                  <a:extLst>
                    <a:ext uri="{9D8B030D-6E8A-4147-A177-3AD203B41FA5}">
                      <a16:colId xmlns:a16="http://schemas.microsoft.com/office/drawing/2014/main" val="20000"/>
                    </a:ext>
                  </a:extLst>
                </a:gridCol>
              </a:tblGrid>
              <a:tr h="566209">
                <a:tc>
                  <a:txBody>
                    <a:bodyPr/>
                    <a:lstStyle/>
                    <a:p>
                      <a:pPr algn="just"/>
                      <a:r>
                        <a:rPr lang="en-US" sz="2400" dirty="0">
                          <a:solidFill>
                            <a:schemeClr val="tx1"/>
                          </a:solidFill>
                          <a:latin typeface="+mn-lt"/>
                          <a:cs typeface="Times New Roman" panose="02020603050405020304" pitchFamily="18" charset="0"/>
                        </a:rPr>
                        <a:t>Here we can see that</a:t>
                      </a:r>
                      <a:r>
                        <a:rPr lang="en-US" sz="2400" baseline="0" dirty="0">
                          <a:solidFill>
                            <a:schemeClr val="tx1"/>
                          </a:solidFill>
                          <a:latin typeface="+mn-lt"/>
                          <a:cs typeface="Times New Roman" panose="02020603050405020304" pitchFamily="18" charset="0"/>
                        </a:rPr>
                        <a:t> the Total tax amount in New slab is less than the Old slab, So here the New slab is Optimal regime.</a:t>
                      </a:r>
                      <a:endParaRPr lang="en-US" sz="2400" dirty="0">
                        <a:solidFill>
                          <a:schemeClr val="tx1"/>
                        </a:solidFill>
                        <a:latin typeface="+mn-lt"/>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2884635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178694"/>
            <a:ext cx="10515600" cy="1325563"/>
          </a:xfrm>
        </p:spPr>
        <p:txBody>
          <a:bodyPr>
            <a:normAutofit fontScale="90000"/>
          </a:bodyPr>
          <a:lstStyle/>
          <a:p>
            <a:pPr algn="ctr"/>
            <a:r>
              <a:rPr lang="en-US" sz="4800" b="1" u="sng" dirty="0">
                <a:cs typeface="Times New Roman" panose="02020603050405020304" pitchFamily="18" charset="0"/>
              </a:rPr>
              <a:t>Special rates of tax in respect of Certain Incomes</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738882042"/>
              </p:ext>
            </p:extLst>
          </p:nvPr>
        </p:nvGraphicFramePr>
        <p:xfrm>
          <a:off x="838200" y="1504257"/>
          <a:ext cx="10515600" cy="4727114"/>
        </p:xfrm>
        <a:graphic>
          <a:graphicData uri="http://schemas.openxmlformats.org/drawingml/2006/table">
            <a:tbl>
              <a:tblPr firstRow="1" bandRow="1">
                <a:tableStyleId>{00A15C55-8517-42AA-B614-E9B94910E393}</a:tableStyleId>
              </a:tblPr>
              <a:tblGrid>
                <a:gridCol w="858078">
                  <a:extLst>
                    <a:ext uri="{9D8B030D-6E8A-4147-A177-3AD203B41FA5}">
                      <a16:colId xmlns:a16="http://schemas.microsoft.com/office/drawing/2014/main" val="20000"/>
                    </a:ext>
                  </a:extLst>
                </a:gridCol>
                <a:gridCol w="901148">
                  <a:extLst>
                    <a:ext uri="{9D8B030D-6E8A-4147-A177-3AD203B41FA5}">
                      <a16:colId xmlns:a16="http://schemas.microsoft.com/office/drawing/2014/main" val="20001"/>
                    </a:ext>
                  </a:extLst>
                </a:gridCol>
                <a:gridCol w="5367131">
                  <a:extLst>
                    <a:ext uri="{9D8B030D-6E8A-4147-A177-3AD203B41FA5}">
                      <a16:colId xmlns:a16="http://schemas.microsoft.com/office/drawing/2014/main" val="20002"/>
                    </a:ext>
                  </a:extLst>
                </a:gridCol>
                <a:gridCol w="3389243">
                  <a:extLst>
                    <a:ext uri="{9D8B030D-6E8A-4147-A177-3AD203B41FA5}">
                      <a16:colId xmlns:a16="http://schemas.microsoft.com/office/drawing/2014/main" val="20003"/>
                    </a:ext>
                  </a:extLst>
                </a:gridCol>
              </a:tblGrid>
              <a:tr h="481285">
                <a:tc>
                  <a:txBody>
                    <a:bodyPr/>
                    <a:lstStyle/>
                    <a:p>
                      <a:pPr algn="ctr"/>
                      <a:r>
                        <a:rPr lang="en-US" dirty="0"/>
                        <a:t>Sr. No.</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t>Section</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t>Income</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t>Rate of Tax</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830712">
                <a:tc rowSpan="5">
                  <a:txBody>
                    <a:bodyPr/>
                    <a:lstStyle/>
                    <a:p>
                      <a:pPr algn="ctr"/>
                      <a:r>
                        <a:rPr lang="en-US" dirty="0"/>
                        <a:t>(a)</a:t>
                      </a:r>
                      <a:endParaRPr lang="en-US" dirty="0">
                        <a:latin typeface="Times New Roman" panose="02020603050405020304" pitchFamily="18" charset="0"/>
                        <a:cs typeface="Times New Roman" panose="02020603050405020304" pitchFamily="18" charset="0"/>
                      </a:endParaRPr>
                    </a:p>
                  </a:txBody>
                  <a:tcPr anchor="ctr"/>
                </a:tc>
                <a:tc rowSpan="5">
                  <a:txBody>
                    <a:bodyPr/>
                    <a:lstStyle/>
                    <a:p>
                      <a:pPr algn="ctr"/>
                      <a:r>
                        <a:rPr lang="en-US" dirty="0"/>
                        <a:t>112</a:t>
                      </a:r>
                      <a:endParaRPr lang="en-US" dirty="0">
                        <a:latin typeface="Times New Roman" panose="02020603050405020304" pitchFamily="18" charset="0"/>
                        <a:cs typeface="Times New Roman" panose="02020603050405020304" pitchFamily="18" charset="0"/>
                      </a:endParaRPr>
                    </a:p>
                  </a:txBody>
                  <a:tcPr anchor="ctr"/>
                </a:tc>
                <a:tc>
                  <a:txBody>
                    <a:bodyPr/>
                    <a:lstStyle/>
                    <a:p>
                      <a:pPr algn="just"/>
                      <a:r>
                        <a:rPr lang="en-US" sz="1800" b="1" u="none" strike="noStrike" kern="1200" baseline="0" dirty="0">
                          <a:solidFill>
                            <a:schemeClr val="dk1"/>
                          </a:solidFill>
                        </a:rPr>
                        <a:t>1. Long term capital gains [other than LTCG taxable as per section 112A and mentioned in (2) below] arising - </a:t>
                      </a:r>
                      <a:endParaRPr lang="en-US" sz="1800" b="1"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ct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830712">
                <a:tc vMerge="1">
                  <a:txBody>
                    <a:bodyPr/>
                    <a:lstStyle/>
                    <a:p>
                      <a:pPr algn="ctr"/>
                      <a:endParaRPr lang="en-US" dirty="0">
                        <a:latin typeface="Times New Roman" panose="02020603050405020304" pitchFamily="18" charset="0"/>
                        <a:cs typeface="Times New Roman" panose="02020603050405020304" pitchFamily="18" charset="0"/>
                      </a:endParaRPr>
                    </a:p>
                  </a:txBody>
                  <a:tcPr anchor="ctr"/>
                </a:tc>
                <a:tc vMerge="1">
                  <a:txBody>
                    <a:bodyPr/>
                    <a:lstStyle/>
                    <a:p>
                      <a:pPr algn="ctr"/>
                      <a:endParaRPr lang="en-US" dirty="0">
                        <a:latin typeface="Times New Roman" panose="02020603050405020304" pitchFamily="18" charset="0"/>
                        <a:cs typeface="Times New Roman" panose="02020603050405020304" pitchFamily="18" charset="0"/>
                      </a:endParaRP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u="none" strike="noStrike" kern="1200" baseline="0" dirty="0">
                          <a:solidFill>
                            <a:schemeClr val="dk1"/>
                          </a:solidFill>
                        </a:rPr>
                        <a:t>a) from transfer of capital asset which takes place    before 23.7.2024 </a:t>
                      </a:r>
                      <a:endPar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1" u="none" strike="noStrike" kern="1200" baseline="0" dirty="0">
                        <a:solidFill>
                          <a:schemeClr val="dk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u="none" strike="noStrike" kern="1200" baseline="0" dirty="0">
                          <a:solidFill>
                            <a:schemeClr val="dk1"/>
                          </a:solidFill>
                        </a:rPr>
                        <a:t>      20% with indexation 	</a:t>
                      </a:r>
                    </a:p>
                    <a:p>
                      <a:pPr algn="ctr"/>
                      <a:endParaRPr lang="en-US"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r h="830712">
                <a:tc vMerge="1">
                  <a:txBody>
                    <a:bodyPr/>
                    <a:lstStyle/>
                    <a:p>
                      <a:pPr algn="ctr"/>
                      <a:endParaRPr lang="en-US" dirty="0">
                        <a:latin typeface="Times New Roman" panose="02020603050405020304" pitchFamily="18" charset="0"/>
                        <a:cs typeface="Times New Roman" panose="02020603050405020304" pitchFamily="18" charset="0"/>
                      </a:endParaRPr>
                    </a:p>
                  </a:txBody>
                  <a:tcPr anchor="ctr"/>
                </a:tc>
                <a:tc vMerge="1">
                  <a:txBody>
                    <a:bodyPr/>
                    <a:lstStyle/>
                    <a:p>
                      <a:pPr algn="ctr"/>
                      <a:endParaRPr lang="en-US" dirty="0">
                        <a:latin typeface="Times New Roman" panose="02020603050405020304" pitchFamily="18" charset="0"/>
                        <a:cs typeface="Times New Roman" panose="02020603050405020304" pitchFamily="18" charset="0"/>
                      </a:endParaRP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u="none" strike="noStrike" kern="1200" baseline="0" dirty="0">
                          <a:solidFill>
                            <a:schemeClr val="dk1"/>
                          </a:solidFill>
                        </a:rPr>
                        <a:t>b)  from transfer of capital asset which takes place on or after 23.7.2024-</a:t>
                      </a:r>
                      <a:endPar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ct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3"/>
                  </a:ext>
                </a:extLst>
              </a:tr>
              <a:tr h="1186731">
                <a:tc vMerge="1">
                  <a:txBody>
                    <a:bodyPr/>
                    <a:lstStyle/>
                    <a:p>
                      <a:pPr algn="ctr"/>
                      <a:endParaRPr lang="en-US" dirty="0">
                        <a:latin typeface="Times New Roman" panose="02020603050405020304" pitchFamily="18" charset="0"/>
                        <a:cs typeface="Times New Roman" panose="02020603050405020304" pitchFamily="18" charset="0"/>
                      </a:endParaRPr>
                    </a:p>
                  </a:txBody>
                  <a:tcPr anchor="ctr"/>
                </a:tc>
                <a:tc vMerge="1">
                  <a:txBody>
                    <a:bodyPr/>
                    <a:lstStyle/>
                    <a:p>
                      <a:pPr algn="ctr"/>
                      <a:endParaRPr lang="en-US" dirty="0">
                        <a:latin typeface="Times New Roman" panose="02020603050405020304" pitchFamily="18" charset="0"/>
                        <a:cs typeface="Times New Roman" panose="02020603050405020304" pitchFamily="18" charset="0"/>
                      </a:endParaRPr>
                    </a:p>
                  </a:txBody>
                  <a:tcPr anchor="ctr"/>
                </a:tc>
                <a:tc>
                  <a:txBody>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u="none" strike="noStrike" kern="1200" baseline="0" dirty="0">
                          <a:solidFill>
                            <a:schemeClr val="dk1"/>
                          </a:solidFill>
                        </a:rPr>
                        <a:t>from transfer of any land or building or both by an individual or a HUF, being a resident</a:t>
                      </a:r>
                      <a:endPar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US" sz="1800" b="1" u="none" strike="noStrike" kern="1200" baseline="0" dirty="0">
                          <a:solidFill>
                            <a:schemeClr val="dk1"/>
                          </a:solidFill>
                        </a:rPr>
                        <a:t>Lower of </a:t>
                      </a:r>
                    </a:p>
                    <a:p>
                      <a:pPr algn="ctr"/>
                      <a:r>
                        <a:rPr lang="en-US" sz="1800" b="1" u="none" strike="noStrike" kern="1200" baseline="0" dirty="0">
                          <a:solidFill>
                            <a:schemeClr val="dk1"/>
                          </a:solidFill>
                        </a:rPr>
                        <a:t>20% with indexation </a:t>
                      </a:r>
                    </a:p>
                    <a:p>
                      <a:pPr algn="ctr"/>
                      <a:r>
                        <a:rPr lang="en-US" sz="1800" b="1" u="none" strike="noStrike" kern="1200" baseline="0" dirty="0">
                          <a:solidFill>
                            <a:schemeClr val="dk1"/>
                          </a:solidFill>
                        </a:rPr>
                        <a:t>or </a:t>
                      </a:r>
                    </a:p>
                    <a:p>
                      <a:pPr algn="ctr"/>
                      <a:r>
                        <a:rPr lang="en-US" sz="1800" b="1" u="none" strike="noStrike" kern="1200" baseline="0" dirty="0">
                          <a:solidFill>
                            <a:schemeClr val="dk1"/>
                          </a:solidFill>
                        </a:rPr>
                        <a:t>12.5% without indexation 	</a:t>
                      </a:r>
                      <a:endParaRPr lang="en-US" sz="1800" b="1"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10004"/>
                  </a:ext>
                </a:extLst>
              </a:tr>
              <a:tr h="481285">
                <a:tc vMerge="1">
                  <a:txBody>
                    <a:bodyPr/>
                    <a:lstStyle/>
                    <a:p>
                      <a:pPr algn="ctr"/>
                      <a:endParaRPr lang="en-US" dirty="0">
                        <a:latin typeface="Times New Roman" panose="02020603050405020304" pitchFamily="18" charset="0"/>
                        <a:cs typeface="Times New Roman" panose="02020603050405020304" pitchFamily="18" charset="0"/>
                      </a:endParaRPr>
                    </a:p>
                  </a:txBody>
                  <a:tcPr anchor="ctr"/>
                </a:tc>
                <a:tc vMerge="1">
                  <a:txBody>
                    <a:bodyPr/>
                    <a:lstStyle/>
                    <a:p>
                      <a:pPr algn="ctr"/>
                      <a:endParaRPr lang="en-US" dirty="0">
                        <a:latin typeface="Times New Roman" panose="02020603050405020304" pitchFamily="18" charset="0"/>
                        <a:cs typeface="Times New Roman" panose="02020603050405020304" pitchFamily="18" charset="0"/>
                      </a:endParaRP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u="none" strike="noStrike" kern="1200" baseline="0" dirty="0">
                          <a:solidFill>
                            <a:schemeClr val="dk1"/>
                          </a:solidFill>
                        </a:rPr>
                        <a:t>from transfer of other capital asset </a:t>
                      </a:r>
                      <a:endPar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u="none" strike="noStrike" kern="1200" baseline="0" dirty="0">
                          <a:solidFill>
                            <a:schemeClr val="dk1"/>
                          </a:solidFill>
                        </a:rPr>
                        <a:t>12.5% without indexation 	</a:t>
                      </a:r>
                      <a:endParaRPr lang="en-US" sz="1800" b="1"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6014185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p:cNvGraphicFramePr>
            <a:graphicFrameLocks noGrp="1"/>
          </p:cNvGraphicFramePr>
          <p:nvPr>
            <p:ph idx="1"/>
            <p:extLst>
              <p:ext uri="{D42A27DB-BD31-4B8C-83A1-F6EECF244321}">
                <p14:modId xmlns:p14="http://schemas.microsoft.com/office/powerpoint/2010/main" val="1779798686"/>
              </p:ext>
            </p:extLst>
          </p:nvPr>
        </p:nvGraphicFramePr>
        <p:xfrm>
          <a:off x="677517" y="569014"/>
          <a:ext cx="10836966" cy="5136754"/>
        </p:xfrm>
        <a:graphic>
          <a:graphicData uri="http://schemas.openxmlformats.org/drawingml/2006/table">
            <a:tbl>
              <a:tblPr firstRow="1" bandRow="1">
                <a:tableStyleId>{00A15C55-8517-42AA-B614-E9B94910E393}</a:tableStyleId>
              </a:tblPr>
              <a:tblGrid>
                <a:gridCol w="884302">
                  <a:extLst>
                    <a:ext uri="{9D8B030D-6E8A-4147-A177-3AD203B41FA5}">
                      <a16:colId xmlns:a16="http://schemas.microsoft.com/office/drawing/2014/main" val="20000"/>
                    </a:ext>
                  </a:extLst>
                </a:gridCol>
                <a:gridCol w="928688">
                  <a:extLst>
                    <a:ext uri="{9D8B030D-6E8A-4147-A177-3AD203B41FA5}">
                      <a16:colId xmlns:a16="http://schemas.microsoft.com/office/drawing/2014/main" val="20001"/>
                    </a:ext>
                  </a:extLst>
                </a:gridCol>
                <a:gridCol w="5419501">
                  <a:extLst>
                    <a:ext uri="{9D8B030D-6E8A-4147-A177-3AD203B41FA5}">
                      <a16:colId xmlns:a16="http://schemas.microsoft.com/office/drawing/2014/main" val="20002"/>
                    </a:ext>
                  </a:extLst>
                </a:gridCol>
                <a:gridCol w="3604475">
                  <a:extLst>
                    <a:ext uri="{9D8B030D-6E8A-4147-A177-3AD203B41FA5}">
                      <a16:colId xmlns:a16="http://schemas.microsoft.com/office/drawing/2014/main" val="20003"/>
                    </a:ext>
                  </a:extLst>
                </a:gridCol>
              </a:tblGrid>
              <a:tr h="527919">
                <a:tc>
                  <a:txBody>
                    <a:bodyPr/>
                    <a:lstStyle/>
                    <a:p>
                      <a:pPr algn="ctr"/>
                      <a:r>
                        <a:rPr lang="en-US" dirty="0"/>
                        <a:t>Sr. No.</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t>Section</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t>Income</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t>Rate of Tax</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1399237">
                <a:tc rowSpan="3">
                  <a:txBody>
                    <a:bodyPr/>
                    <a:lstStyle/>
                    <a:p>
                      <a:pPr algn="ctr"/>
                      <a:r>
                        <a:rPr lang="en-US" dirty="0"/>
                        <a:t>(a)</a:t>
                      </a:r>
                      <a:endParaRPr lang="en-US" dirty="0">
                        <a:latin typeface="Times New Roman" panose="02020603050405020304" pitchFamily="18" charset="0"/>
                        <a:cs typeface="Times New Roman" panose="02020603050405020304" pitchFamily="18" charset="0"/>
                      </a:endParaRPr>
                    </a:p>
                  </a:txBody>
                  <a:tcPr anchor="ctr"/>
                </a:tc>
                <a:tc rowSpan="3">
                  <a:txBody>
                    <a:bodyPr/>
                    <a:lstStyle/>
                    <a:p>
                      <a:pPr algn="ctr"/>
                      <a:r>
                        <a:rPr lang="en-US" dirty="0"/>
                        <a:t>112</a:t>
                      </a:r>
                      <a:endParaRPr lang="en-US" dirty="0">
                        <a:latin typeface="Times New Roman" panose="02020603050405020304" pitchFamily="18" charset="0"/>
                        <a:cs typeface="Times New Roman" panose="02020603050405020304" pitchFamily="18" charset="0"/>
                      </a:endParaRPr>
                    </a:p>
                  </a:txBody>
                  <a:tcPr anchor="ctr"/>
                </a:tc>
                <a:tc>
                  <a:txBody>
                    <a:bodyPr/>
                    <a:lstStyle/>
                    <a:p>
                      <a:pPr algn="just"/>
                      <a:r>
                        <a:rPr lang="en-US" sz="1800" b="1" u="none" strike="noStrike" kern="1200" baseline="0" dirty="0">
                          <a:solidFill>
                            <a:schemeClr val="dk1"/>
                          </a:solidFill>
                        </a:rPr>
                        <a:t>2. Long-term capital gains arising from transfer of unlisted securities or shares of company in which public are not substantially interested by non-resident </a:t>
                      </a:r>
                      <a:r>
                        <a:rPr lang="en-US" sz="1800" b="1" u="none" strike="noStrike" kern="1200" baseline="0" dirty="0" err="1">
                          <a:solidFill>
                            <a:schemeClr val="dk1"/>
                          </a:solidFill>
                        </a:rPr>
                        <a:t>assessee</a:t>
                      </a:r>
                      <a:r>
                        <a:rPr lang="en-US" sz="1800" b="1" u="none" strike="noStrike" kern="1200" baseline="0" dirty="0">
                          <a:solidFill>
                            <a:schemeClr val="dk1"/>
                          </a:solidFill>
                        </a:rPr>
                        <a:t>- 	</a:t>
                      </a:r>
                      <a:endParaRPr lang="en-US" sz="1800" b="1"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1604799">
                <a:tc vMerge="1">
                  <a:txBody>
                    <a:bodyPr/>
                    <a:lstStyle/>
                    <a:p>
                      <a:pPr algn="ctr"/>
                      <a:endParaRPr lang="en-US" dirty="0">
                        <a:latin typeface="Times New Roman" panose="02020603050405020304" pitchFamily="18" charset="0"/>
                        <a:cs typeface="Times New Roman" panose="02020603050405020304" pitchFamily="18" charset="0"/>
                      </a:endParaRPr>
                    </a:p>
                  </a:txBody>
                  <a:tcPr anchor="ctr"/>
                </a:tc>
                <a:tc vMerge="1">
                  <a:txBody>
                    <a:bodyPr/>
                    <a:lstStyle/>
                    <a:p>
                      <a:pPr algn="ctr"/>
                      <a:endParaRPr lang="en-US" dirty="0">
                        <a:latin typeface="Times New Roman" panose="02020603050405020304" pitchFamily="18" charset="0"/>
                        <a:cs typeface="Times New Roman" panose="02020603050405020304" pitchFamily="18" charset="0"/>
                      </a:endParaRPr>
                    </a:p>
                  </a:txBody>
                  <a:tcPr anchor="ctr"/>
                </a:tc>
                <a:tc>
                  <a:txBody>
                    <a:bodyPr/>
                    <a:lstStyle/>
                    <a:p>
                      <a:r>
                        <a:rPr lang="en-US" sz="1800" b="0" u="none" strike="noStrike" kern="1200" baseline="0" dirty="0">
                          <a:solidFill>
                            <a:schemeClr val="dk1"/>
                          </a:solidFill>
                        </a:rPr>
                        <a:t>- If transfer takes place before 23.7.2024 	</a:t>
                      </a:r>
                      <a:endPar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ctr"/>
                      <a:endParaRPr lang="en-US" sz="1800" b="1" u="none" strike="noStrike" kern="1200" baseline="0" dirty="0">
                        <a:solidFill>
                          <a:schemeClr val="dk1"/>
                        </a:solidFill>
                      </a:endParaRPr>
                    </a:p>
                    <a:p>
                      <a:pPr algn="ctr"/>
                      <a:r>
                        <a:rPr lang="en-US" sz="1800" b="1" u="none" strike="noStrike" kern="1200" baseline="0" dirty="0">
                          <a:solidFill>
                            <a:schemeClr val="dk1"/>
                          </a:solidFill>
                        </a:rPr>
                        <a:t>10% without indexation </a:t>
                      </a:r>
                    </a:p>
                    <a:p>
                      <a:pPr algn="ctr"/>
                      <a:r>
                        <a:rPr lang="en-US" sz="1800" b="1" u="none" strike="noStrike" kern="1200" baseline="0" dirty="0">
                          <a:solidFill>
                            <a:schemeClr val="dk1"/>
                          </a:solidFill>
                        </a:rPr>
                        <a:t>and </a:t>
                      </a:r>
                    </a:p>
                    <a:p>
                      <a:pPr algn="ctr"/>
                      <a:r>
                        <a:rPr lang="en-US" sz="1800" b="1" u="none" strike="noStrike" kern="1200" baseline="0" dirty="0">
                          <a:solidFill>
                            <a:schemeClr val="dk1"/>
                          </a:solidFill>
                        </a:rPr>
                        <a:t>foreign currency fluctuation	</a:t>
                      </a:r>
                      <a:endParaRPr lang="en-US" sz="1800" b="1"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10002"/>
                  </a:ext>
                </a:extLst>
              </a:tr>
              <a:tr h="1604799">
                <a:tc vMerge="1">
                  <a:txBody>
                    <a:bodyPr/>
                    <a:lstStyle/>
                    <a:p>
                      <a:pPr algn="ctr"/>
                      <a:endParaRPr lang="en-US" dirty="0">
                        <a:latin typeface="Times New Roman" panose="02020603050405020304" pitchFamily="18" charset="0"/>
                        <a:cs typeface="Times New Roman" panose="02020603050405020304" pitchFamily="18" charset="0"/>
                      </a:endParaRPr>
                    </a:p>
                  </a:txBody>
                  <a:tcPr anchor="ctr"/>
                </a:tc>
                <a:tc vMerge="1">
                  <a:txBody>
                    <a:bodyPr/>
                    <a:lstStyle/>
                    <a:p>
                      <a:pPr algn="ctr"/>
                      <a:endParaRPr lang="en-US" dirty="0">
                        <a:latin typeface="Times New Roman" panose="02020603050405020304" pitchFamily="18" charset="0"/>
                        <a:cs typeface="Times New Roman" panose="02020603050405020304" pitchFamily="18" charset="0"/>
                      </a:endParaRPr>
                    </a:p>
                  </a:txBody>
                  <a:tcPr anchor="ctr"/>
                </a:tc>
                <a:tc>
                  <a:txBody>
                    <a:bodyPr/>
                    <a:lstStyle/>
                    <a:p>
                      <a:r>
                        <a:rPr lang="en-US" sz="1800" b="0" u="none" strike="noStrike" kern="1200" baseline="0" dirty="0">
                          <a:solidFill>
                            <a:schemeClr val="dk1"/>
                          </a:solidFill>
                        </a:rPr>
                        <a:t>- If transfer takes place on or after 23.7.2024 	</a:t>
                      </a:r>
                      <a:endPar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ctr"/>
                      <a:endParaRPr lang="en-US" sz="1800" b="1" u="none" strike="noStrike" kern="1200" baseline="0" dirty="0">
                        <a:solidFill>
                          <a:schemeClr val="dk1"/>
                        </a:solidFill>
                      </a:endParaRPr>
                    </a:p>
                    <a:p>
                      <a:pPr algn="ctr"/>
                      <a:r>
                        <a:rPr lang="en-US" sz="1800" b="1" u="none" strike="noStrike" kern="1200" baseline="0" dirty="0">
                          <a:solidFill>
                            <a:schemeClr val="dk1"/>
                          </a:solidFill>
                        </a:rPr>
                        <a:t>12.5% without indexation </a:t>
                      </a:r>
                    </a:p>
                    <a:p>
                      <a:pPr algn="ctr"/>
                      <a:r>
                        <a:rPr lang="en-US" sz="1800" b="1" u="none" strike="noStrike" kern="1200" baseline="0" dirty="0">
                          <a:solidFill>
                            <a:schemeClr val="dk1"/>
                          </a:solidFill>
                        </a:rPr>
                        <a:t>and </a:t>
                      </a:r>
                    </a:p>
                    <a:p>
                      <a:pPr algn="ctr"/>
                      <a:r>
                        <a:rPr lang="en-US" sz="1800" b="1" u="none" strike="noStrike" kern="1200" baseline="0" dirty="0">
                          <a:solidFill>
                            <a:schemeClr val="dk1"/>
                          </a:solidFill>
                        </a:rPr>
                        <a:t>foreign currency fluctuation	</a:t>
                      </a:r>
                      <a:endParaRPr lang="en-US" sz="1800" b="1"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013136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p:cNvGraphicFramePr>
            <a:graphicFrameLocks noGrp="1"/>
          </p:cNvGraphicFramePr>
          <p:nvPr>
            <p:ph idx="1"/>
            <p:extLst>
              <p:ext uri="{D42A27DB-BD31-4B8C-83A1-F6EECF244321}">
                <p14:modId xmlns:p14="http://schemas.microsoft.com/office/powerpoint/2010/main" val="2071559810"/>
              </p:ext>
            </p:extLst>
          </p:nvPr>
        </p:nvGraphicFramePr>
        <p:xfrm>
          <a:off x="677517" y="311689"/>
          <a:ext cx="10836966" cy="5684206"/>
        </p:xfrm>
        <a:graphic>
          <a:graphicData uri="http://schemas.openxmlformats.org/drawingml/2006/table">
            <a:tbl>
              <a:tblPr firstRow="1" bandRow="1">
                <a:tableStyleId>{00A15C55-8517-42AA-B614-E9B94910E393}</a:tableStyleId>
              </a:tblPr>
              <a:tblGrid>
                <a:gridCol w="884302">
                  <a:extLst>
                    <a:ext uri="{9D8B030D-6E8A-4147-A177-3AD203B41FA5}">
                      <a16:colId xmlns:a16="http://schemas.microsoft.com/office/drawing/2014/main" val="20000"/>
                    </a:ext>
                  </a:extLst>
                </a:gridCol>
                <a:gridCol w="928688">
                  <a:extLst>
                    <a:ext uri="{9D8B030D-6E8A-4147-A177-3AD203B41FA5}">
                      <a16:colId xmlns:a16="http://schemas.microsoft.com/office/drawing/2014/main" val="20001"/>
                    </a:ext>
                  </a:extLst>
                </a:gridCol>
                <a:gridCol w="5419501">
                  <a:extLst>
                    <a:ext uri="{9D8B030D-6E8A-4147-A177-3AD203B41FA5}">
                      <a16:colId xmlns:a16="http://schemas.microsoft.com/office/drawing/2014/main" val="20002"/>
                    </a:ext>
                  </a:extLst>
                </a:gridCol>
                <a:gridCol w="3604475">
                  <a:extLst>
                    <a:ext uri="{9D8B030D-6E8A-4147-A177-3AD203B41FA5}">
                      <a16:colId xmlns:a16="http://schemas.microsoft.com/office/drawing/2014/main" val="20003"/>
                    </a:ext>
                  </a:extLst>
                </a:gridCol>
              </a:tblGrid>
              <a:tr h="322502">
                <a:tc>
                  <a:txBody>
                    <a:bodyPr/>
                    <a:lstStyle/>
                    <a:p>
                      <a:pPr algn="ctr"/>
                      <a:r>
                        <a:rPr lang="en-US" dirty="0"/>
                        <a:t>Sr. No.</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t>Section</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t>Income</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t>Rate of Tax</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2659223">
                <a:tc rowSpan="2">
                  <a:txBody>
                    <a:bodyPr/>
                    <a:lstStyle/>
                    <a:p>
                      <a:pPr algn="ctr"/>
                      <a:r>
                        <a:rPr lang="en-US" dirty="0"/>
                        <a:t>(b)</a:t>
                      </a:r>
                      <a:endParaRPr lang="en-US" dirty="0">
                        <a:latin typeface="Times New Roman" panose="02020603050405020304" pitchFamily="18" charset="0"/>
                        <a:cs typeface="Times New Roman" panose="02020603050405020304" pitchFamily="18" charset="0"/>
                      </a:endParaRPr>
                    </a:p>
                  </a:txBody>
                  <a:tcPr anchor="ctr"/>
                </a:tc>
                <a:tc rowSpan="2">
                  <a:txBody>
                    <a:bodyPr/>
                    <a:lstStyle/>
                    <a:p>
                      <a:pPr algn="ctr"/>
                      <a:r>
                        <a:rPr lang="en-US" dirty="0"/>
                        <a:t>112A</a:t>
                      </a:r>
                      <a:endParaRPr lang="en-US" dirty="0">
                        <a:latin typeface="Times New Roman" panose="02020603050405020304" pitchFamily="18" charset="0"/>
                        <a:cs typeface="Times New Roman" panose="02020603050405020304" pitchFamily="18" charset="0"/>
                      </a:endParaRPr>
                    </a:p>
                  </a:txBody>
                  <a:tcPr anchor="ctr"/>
                </a:tc>
                <a:tc rowSpan="2">
                  <a:txBody>
                    <a:bodyPr/>
                    <a:lstStyle/>
                    <a:p>
                      <a:r>
                        <a:rPr lang="en-US" sz="1800" b="0" u="none" strike="noStrike" kern="1200" baseline="0" dirty="0">
                          <a:solidFill>
                            <a:schemeClr val="dk1"/>
                          </a:solidFill>
                        </a:rPr>
                        <a:t>LTCGs on transfer of – </a:t>
                      </a:r>
                    </a:p>
                    <a:p>
                      <a:r>
                        <a:rPr lang="en-US" sz="1800" b="0" u="none" strike="noStrike" kern="1200" baseline="0" dirty="0">
                          <a:solidFill>
                            <a:schemeClr val="dk1"/>
                          </a:solidFill>
                        </a:rPr>
                        <a:t>• Equity share in a company </a:t>
                      </a:r>
                    </a:p>
                    <a:p>
                      <a:r>
                        <a:rPr lang="en-US" sz="1800" b="0" u="none" strike="noStrike" kern="1200" baseline="0" dirty="0">
                          <a:solidFill>
                            <a:schemeClr val="dk1"/>
                          </a:solidFill>
                        </a:rPr>
                        <a:t>• Unit of an equity oriented fund </a:t>
                      </a:r>
                    </a:p>
                    <a:p>
                      <a:r>
                        <a:rPr lang="en-US" sz="1800" b="0" u="none" strike="noStrike" kern="1200" baseline="0" dirty="0">
                          <a:solidFill>
                            <a:schemeClr val="dk1"/>
                          </a:solidFill>
                        </a:rPr>
                        <a:t>• Unit of business trust </a:t>
                      </a:r>
                    </a:p>
                    <a:p>
                      <a:endParaRPr lang="en-US" sz="1800" b="0" u="none" strike="noStrike" kern="1200" baseline="0" dirty="0">
                        <a:solidFill>
                          <a:schemeClr val="dk1"/>
                        </a:solidFill>
                      </a:endParaRPr>
                    </a:p>
                    <a:p>
                      <a:r>
                        <a:rPr lang="en-US" sz="1800" b="0" u="none" strike="noStrike" kern="1200" baseline="0" dirty="0">
                          <a:solidFill>
                            <a:schemeClr val="dk1"/>
                          </a:solidFill>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u="none" strike="noStrike" kern="1200" baseline="0" dirty="0">
                          <a:solidFill>
                            <a:schemeClr val="dk1"/>
                          </a:solidFill>
                        </a:rPr>
                        <a:t>Note</a:t>
                      </a:r>
                      <a:r>
                        <a:rPr lang="en-US" sz="1800" b="0" u="none" strike="noStrike" kern="1200" baseline="0" dirty="0">
                          <a:solidFill>
                            <a:schemeClr val="dk1"/>
                          </a:solidFill>
                        </a:rPr>
                        <a:t>: LTCG up to 1.25 lakh is exempt. LTCG exceeding 1.25 lakh is taxable 	</a:t>
                      </a:r>
                      <a:endPar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US" sz="1800" b="1" u="none" strike="noStrike" kern="1200" baseline="0" dirty="0">
                          <a:solidFill>
                            <a:schemeClr val="dk1"/>
                          </a:solidFill>
                        </a:rPr>
                        <a:t>10% on LTCG &gt; 1.25 lakhs </a:t>
                      </a:r>
                    </a:p>
                    <a:p>
                      <a:pPr algn="ctr"/>
                      <a:r>
                        <a:rPr lang="en-US" sz="1800" b="1" u="none" strike="noStrike" kern="1200" baseline="0" dirty="0">
                          <a:solidFill>
                            <a:schemeClr val="dk1"/>
                          </a:solidFill>
                        </a:rPr>
                        <a:t>if transfer takes place before               23.7.2024 	</a:t>
                      </a:r>
                      <a:endParaRPr lang="en-US" sz="1800" b="1"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10001"/>
                  </a:ext>
                </a:extLst>
              </a:tr>
              <a:tr h="2659223">
                <a:tc vMerge="1">
                  <a:txBody>
                    <a:bodyPr/>
                    <a:lstStyle/>
                    <a:p>
                      <a:pPr algn="ctr"/>
                      <a:endParaRPr lang="en-US" dirty="0">
                        <a:latin typeface="Times New Roman" panose="02020603050405020304" pitchFamily="18" charset="0"/>
                        <a:cs typeface="Times New Roman" panose="02020603050405020304" pitchFamily="18" charset="0"/>
                      </a:endParaRPr>
                    </a:p>
                  </a:txBody>
                  <a:tcPr anchor="ctr"/>
                </a:tc>
                <a:tc vMerge="1">
                  <a:txBody>
                    <a:bodyPr/>
                    <a:lstStyle/>
                    <a:p>
                      <a:pPr algn="ctr"/>
                      <a:endParaRPr lang="en-US" dirty="0">
                        <a:latin typeface="Times New Roman" panose="02020603050405020304" pitchFamily="18" charset="0"/>
                        <a:cs typeface="Times New Roman" panose="02020603050405020304" pitchFamily="18" charset="0"/>
                      </a:endParaRPr>
                    </a:p>
                  </a:txBody>
                  <a:tcPr anchor="ctr"/>
                </a:tc>
                <a:tc vMerge="1">
                  <a:txBody>
                    <a:bodyPr/>
                    <a:lstStyle/>
                    <a:p>
                      <a:endParaRPr dirty="0"/>
                    </a:p>
                  </a:txBody>
                  <a:tcPr anchor="ctr"/>
                </a:tc>
                <a:tc>
                  <a:txBody>
                    <a:bodyPr/>
                    <a:lstStyle/>
                    <a:p>
                      <a:pPr algn="ctr"/>
                      <a:r>
                        <a:rPr lang="en-US" sz="1800" b="1" u="none" strike="noStrike" kern="1200" baseline="0" dirty="0">
                          <a:solidFill>
                            <a:schemeClr val="dk1"/>
                          </a:solidFill>
                        </a:rPr>
                        <a:t>12.5% on LTCG &gt; 1.25 lakhs </a:t>
                      </a:r>
                    </a:p>
                    <a:p>
                      <a:pPr algn="ctr"/>
                      <a:r>
                        <a:rPr lang="en-US" sz="1800" b="1" u="none" strike="noStrike" kern="1200" baseline="0" dirty="0">
                          <a:solidFill>
                            <a:schemeClr val="dk1"/>
                          </a:solidFill>
                        </a:rPr>
                        <a:t>if transfer takes place on or after </a:t>
                      </a:r>
                    </a:p>
                    <a:p>
                      <a:pPr algn="ctr"/>
                      <a:r>
                        <a:rPr lang="en-US" sz="1800" b="1" u="none" strike="noStrike" kern="1200" baseline="0" dirty="0">
                          <a:solidFill>
                            <a:schemeClr val="dk1"/>
                          </a:solidFill>
                        </a:rPr>
                        <a:t>       23.7.2024 	</a:t>
                      </a:r>
                      <a:endParaRPr lang="en-US" sz="1800" b="1"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2442716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p:cNvGraphicFramePr>
            <a:graphicFrameLocks noGrp="1"/>
          </p:cNvGraphicFramePr>
          <p:nvPr>
            <p:ph idx="1"/>
            <p:extLst>
              <p:ext uri="{D42A27DB-BD31-4B8C-83A1-F6EECF244321}">
                <p14:modId xmlns:p14="http://schemas.microsoft.com/office/powerpoint/2010/main" val="3334811252"/>
              </p:ext>
            </p:extLst>
          </p:nvPr>
        </p:nvGraphicFramePr>
        <p:xfrm>
          <a:off x="824947" y="497992"/>
          <a:ext cx="10836966" cy="5409322"/>
        </p:xfrm>
        <a:graphic>
          <a:graphicData uri="http://schemas.openxmlformats.org/drawingml/2006/table">
            <a:tbl>
              <a:tblPr firstRow="1" bandRow="1">
                <a:tableStyleId>{00A15C55-8517-42AA-B614-E9B94910E393}</a:tableStyleId>
              </a:tblPr>
              <a:tblGrid>
                <a:gridCol w="884302">
                  <a:extLst>
                    <a:ext uri="{9D8B030D-6E8A-4147-A177-3AD203B41FA5}">
                      <a16:colId xmlns:a16="http://schemas.microsoft.com/office/drawing/2014/main" val="20000"/>
                    </a:ext>
                  </a:extLst>
                </a:gridCol>
                <a:gridCol w="928688">
                  <a:extLst>
                    <a:ext uri="{9D8B030D-6E8A-4147-A177-3AD203B41FA5}">
                      <a16:colId xmlns:a16="http://schemas.microsoft.com/office/drawing/2014/main" val="20001"/>
                    </a:ext>
                  </a:extLst>
                </a:gridCol>
                <a:gridCol w="5419501">
                  <a:extLst>
                    <a:ext uri="{9D8B030D-6E8A-4147-A177-3AD203B41FA5}">
                      <a16:colId xmlns:a16="http://schemas.microsoft.com/office/drawing/2014/main" val="20002"/>
                    </a:ext>
                  </a:extLst>
                </a:gridCol>
                <a:gridCol w="3604475">
                  <a:extLst>
                    <a:ext uri="{9D8B030D-6E8A-4147-A177-3AD203B41FA5}">
                      <a16:colId xmlns:a16="http://schemas.microsoft.com/office/drawing/2014/main" val="20003"/>
                    </a:ext>
                  </a:extLst>
                </a:gridCol>
              </a:tblGrid>
              <a:tr h="677802">
                <a:tc>
                  <a:txBody>
                    <a:bodyPr/>
                    <a:lstStyle/>
                    <a:p>
                      <a:pPr algn="ctr"/>
                      <a:r>
                        <a:rPr lang="en-US" dirty="0"/>
                        <a:t>Sr. No.</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t>Section</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t>Income</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t>Rate of Tax</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2365760">
                <a:tc rowSpan="2">
                  <a:txBody>
                    <a:bodyPr/>
                    <a:lstStyle/>
                    <a:p>
                      <a:pPr algn="ctr"/>
                      <a:r>
                        <a:rPr lang="en-US" dirty="0"/>
                        <a:t>(c)</a:t>
                      </a:r>
                      <a:endParaRPr lang="en-US" dirty="0">
                        <a:latin typeface="Times New Roman" panose="02020603050405020304" pitchFamily="18" charset="0"/>
                        <a:cs typeface="Times New Roman" panose="02020603050405020304" pitchFamily="18" charset="0"/>
                      </a:endParaRPr>
                    </a:p>
                  </a:txBody>
                  <a:tcPr anchor="ctr"/>
                </a:tc>
                <a:tc rowSpan="2">
                  <a:txBody>
                    <a:bodyPr/>
                    <a:lstStyle/>
                    <a:p>
                      <a:pPr algn="ctr"/>
                      <a:r>
                        <a:rPr lang="en-US" dirty="0"/>
                        <a:t>111A</a:t>
                      </a:r>
                      <a:endParaRPr lang="en-US" dirty="0">
                        <a:latin typeface="Times New Roman" panose="02020603050405020304" pitchFamily="18" charset="0"/>
                        <a:cs typeface="Times New Roman" panose="02020603050405020304" pitchFamily="18" charset="0"/>
                      </a:endParaRPr>
                    </a:p>
                  </a:txBody>
                  <a:tcPr anchor="ctr"/>
                </a:tc>
                <a:tc rowSpan="2">
                  <a:txBody>
                    <a:bodyPr/>
                    <a:lstStyle/>
                    <a:p>
                      <a:r>
                        <a:rPr lang="en-US" sz="1800" b="0" u="none" strike="noStrike" kern="1200" baseline="0" dirty="0">
                          <a:solidFill>
                            <a:schemeClr val="dk1"/>
                          </a:solidFill>
                        </a:rPr>
                        <a:t>Short-term capital gains on transfer of – </a:t>
                      </a:r>
                    </a:p>
                    <a:p>
                      <a:r>
                        <a:rPr lang="en-US" sz="1800" b="0" u="none" strike="noStrike" kern="1200" baseline="0" dirty="0">
                          <a:solidFill>
                            <a:schemeClr val="dk1"/>
                          </a:solidFill>
                        </a:rPr>
                        <a:t>• Equity shares in a company </a:t>
                      </a:r>
                    </a:p>
                    <a:p>
                      <a:r>
                        <a:rPr lang="en-US" sz="1800" b="0" u="none" strike="noStrike" kern="1200" baseline="0" dirty="0">
                          <a:solidFill>
                            <a:schemeClr val="dk1"/>
                          </a:solidFill>
                        </a:rPr>
                        <a:t>• Unit of an equity oriented fund </a:t>
                      </a:r>
                    </a:p>
                    <a:p>
                      <a:r>
                        <a:rPr lang="en-US" sz="1800" b="0" u="none" strike="noStrike" kern="1200" baseline="0" dirty="0">
                          <a:solidFill>
                            <a:schemeClr val="dk1"/>
                          </a:solidFill>
                        </a:rPr>
                        <a:t>• Unit of business trust </a:t>
                      </a:r>
                    </a:p>
                    <a:p>
                      <a:endParaRPr lang="en-US" sz="1800" b="0" u="none" strike="noStrike" kern="1200" baseline="0" dirty="0">
                        <a:solidFill>
                          <a:schemeClr val="dk1"/>
                        </a:solidFill>
                      </a:endParaRPr>
                    </a:p>
                  </a:txBody>
                  <a:tcPr anchor="ctr"/>
                </a:tc>
                <a:tc>
                  <a:txBody>
                    <a:bodyPr/>
                    <a:lstStyle/>
                    <a:p>
                      <a:pPr algn="ctr"/>
                      <a:r>
                        <a:rPr lang="en-US" sz="1800" b="1" u="none" strike="noStrike" kern="1200" baseline="0" dirty="0">
                          <a:solidFill>
                            <a:schemeClr val="dk1"/>
                          </a:solidFill>
                        </a:rPr>
                        <a:t>15% if transfer takes place </a:t>
                      </a:r>
                    </a:p>
                    <a:p>
                      <a:pPr algn="ctr"/>
                      <a:r>
                        <a:rPr lang="en-US" sz="1800" b="1" u="none" strike="noStrike" kern="1200" baseline="0" dirty="0">
                          <a:solidFill>
                            <a:schemeClr val="dk1"/>
                          </a:solidFill>
                        </a:rPr>
                        <a:t>before 23.7.2024 	</a:t>
                      </a:r>
                    </a:p>
                    <a:p>
                      <a:pPr algn="ctr"/>
                      <a:endParaRPr lang="en-US"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2365760">
                <a:tc vMerge="1">
                  <a:txBody>
                    <a:bodyPr/>
                    <a:lstStyle/>
                    <a:p>
                      <a:pPr algn="ctr"/>
                      <a:endParaRPr lang="en-US" dirty="0">
                        <a:latin typeface="Times New Roman" panose="02020603050405020304" pitchFamily="18" charset="0"/>
                        <a:cs typeface="Times New Roman" panose="02020603050405020304" pitchFamily="18" charset="0"/>
                      </a:endParaRPr>
                    </a:p>
                  </a:txBody>
                  <a:tcPr anchor="ctr"/>
                </a:tc>
                <a:tc vMerge="1">
                  <a:txBody>
                    <a:bodyPr/>
                    <a:lstStyle/>
                    <a:p>
                      <a:pPr algn="ctr"/>
                      <a:endParaRPr lang="en-US" dirty="0">
                        <a:latin typeface="Times New Roman" panose="02020603050405020304" pitchFamily="18" charset="0"/>
                        <a:cs typeface="Times New Roman" panose="02020603050405020304" pitchFamily="18" charset="0"/>
                      </a:endParaRPr>
                    </a:p>
                  </a:txBody>
                  <a:tcPr anchor="ctr"/>
                </a:tc>
                <a:tc vMerge="1">
                  <a:txBody>
                    <a:bodyPr/>
                    <a:lstStyle/>
                    <a:p>
                      <a:endParaRPr dirty="0"/>
                    </a:p>
                  </a:txBody>
                  <a:tcPr anchor="ctr"/>
                </a:tc>
                <a:tc>
                  <a:txBody>
                    <a:bodyPr/>
                    <a:lstStyle/>
                    <a:p>
                      <a:pPr algn="ctr"/>
                      <a:endParaRPr lang="en-US" sz="1800" b="1" u="none" strike="noStrike" kern="1200" baseline="0" dirty="0">
                        <a:solidFill>
                          <a:schemeClr val="dk1"/>
                        </a:solidFill>
                      </a:endParaRPr>
                    </a:p>
                    <a:p>
                      <a:pPr algn="ctr"/>
                      <a:r>
                        <a:rPr lang="en-US" sz="1800" b="1" u="none" strike="noStrike" kern="1200" baseline="0" dirty="0">
                          <a:solidFill>
                            <a:schemeClr val="dk1"/>
                          </a:solidFill>
                        </a:rPr>
                        <a:t>20% if transfer takes </a:t>
                      </a:r>
                    </a:p>
                    <a:p>
                      <a:pPr algn="ctr"/>
                      <a:r>
                        <a:rPr lang="en-US" sz="1800" b="1" u="none" strike="noStrike" kern="1200" baseline="0" dirty="0">
                          <a:solidFill>
                            <a:schemeClr val="dk1"/>
                          </a:solidFill>
                        </a:rPr>
                        <a:t>place on or after 23.7.2024 	</a:t>
                      </a:r>
                      <a:endParaRPr lang="en-US" sz="1800" b="1"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4747101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2D9B4B-18C5-261F-3C7B-0663B70F9B0C}"/>
              </a:ext>
            </a:extLst>
          </p:cNvPr>
          <p:cNvPicPr>
            <a:picLocks noChangeAspect="1"/>
          </p:cNvPicPr>
          <p:nvPr/>
        </p:nvPicPr>
        <p:blipFill>
          <a:blip r:embed="rId2">
            <a:extLst>
              <a:ext uri="{28A0092B-C50C-407E-A947-70E740481C1C}">
                <a14:useLocalDpi xmlns:a14="http://schemas.microsoft.com/office/drawing/2010/main" val="0"/>
              </a:ext>
            </a:extLst>
          </a:blip>
          <a:srcRect l="1283" t="-2" b="47558"/>
          <a:stretch>
            <a:fillRect/>
          </a:stretch>
        </p:blipFill>
        <p:spPr>
          <a:xfrm>
            <a:off x="2000531" y="28852"/>
            <a:ext cx="8190938" cy="6027938"/>
          </a:xfrm>
          <a:prstGeom prst="rect">
            <a:avLst/>
          </a:prstGeom>
        </p:spPr>
      </p:pic>
    </p:spTree>
    <p:extLst>
      <p:ext uri="{BB962C8B-B14F-4D97-AF65-F5344CB8AC3E}">
        <p14:creationId xmlns:p14="http://schemas.microsoft.com/office/powerpoint/2010/main" val="35564975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p:cNvGraphicFramePr>
            <a:graphicFrameLocks noGrp="1"/>
          </p:cNvGraphicFramePr>
          <p:nvPr>
            <p:ph idx="1"/>
            <p:extLst>
              <p:ext uri="{D42A27DB-BD31-4B8C-83A1-F6EECF244321}">
                <p14:modId xmlns:p14="http://schemas.microsoft.com/office/powerpoint/2010/main" val="940780776"/>
              </p:ext>
            </p:extLst>
          </p:nvPr>
        </p:nvGraphicFramePr>
        <p:xfrm>
          <a:off x="824947" y="497992"/>
          <a:ext cx="10836966" cy="5786694"/>
        </p:xfrm>
        <a:graphic>
          <a:graphicData uri="http://schemas.openxmlformats.org/drawingml/2006/table">
            <a:tbl>
              <a:tblPr firstRow="1" bandRow="1">
                <a:tableStyleId>{00A15C55-8517-42AA-B614-E9B94910E393}</a:tableStyleId>
              </a:tblPr>
              <a:tblGrid>
                <a:gridCol w="884302">
                  <a:extLst>
                    <a:ext uri="{9D8B030D-6E8A-4147-A177-3AD203B41FA5}">
                      <a16:colId xmlns:a16="http://schemas.microsoft.com/office/drawing/2014/main" val="20000"/>
                    </a:ext>
                  </a:extLst>
                </a:gridCol>
                <a:gridCol w="1033951">
                  <a:extLst>
                    <a:ext uri="{9D8B030D-6E8A-4147-A177-3AD203B41FA5}">
                      <a16:colId xmlns:a16="http://schemas.microsoft.com/office/drawing/2014/main" val="20001"/>
                    </a:ext>
                  </a:extLst>
                </a:gridCol>
                <a:gridCol w="5314238">
                  <a:extLst>
                    <a:ext uri="{9D8B030D-6E8A-4147-A177-3AD203B41FA5}">
                      <a16:colId xmlns:a16="http://schemas.microsoft.com/office/drawing/2014/main" val="20002"/>
                    </a:ext>
                  </a:extLst>
                </a:gridCol>
                <a:gridCol w="3604475">
                  <a:extLst>
                    <a:ext uri="{9D8B030D-6E8A-4147-A177-3AD203B41FA5}">
                      <a16:colId xmlns:a16="http://schemas.microsoft.com/office/drawing/2014/main" val="20003"/>
                    </a:ext>
                  </a:extLst>
                </a:gridCol>
              </a:tblGrid>
              <a:tr h="572818">
                <a:tc>
                  <a:txBody>
                    <a:bodyPr/>
                    <a:lstStyle/>
                    <a:p>
                      <a:pPr algn="ctr"/>
                      <a:r>
                        <a:rPr lang="en-US" dirty="0"/>
                        <a:t>Sr. No.</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t>Section</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t>Income</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t>Rate of Tax</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2480422">
                <a:tc>
                  <a:txBody>
                    <a:bodyPr/>
                    <a:lstStyle/>
                    <a:p>
                      <a:pPr algn="ctr"/>
                      <a:r>
                        <a:rPr lang="en-US" dirty="0"/>
                        <a:t>(d)</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t>115BB</a:t>
                      </a:r>
                      <a:endParaRPr lang="en-US" dirty="0">
                        <a:latin typeface="Times New Roman" panose="02020603050405020304" pitchFamily="18" charset="0"/>
                        <a:cs typeface="Times New Roman" panose="02020603050405020304" pitchFamily="18" charset="0"/>
                      </a:endParaRPr>
                    </a:p>
                  </a:txBody>
                  <a:tcPr anchor="ctr"/>
                </a:tc>
                <a:tc>
                  <a:txBody>
                    <a:bodyPr/>
                    <a:lstStyle/>
                    <a:p>
                      <a:r>
                        <a:rPr lang="en-US" sz="1800" b="0" u="none" strike="noStrike" kern="1200" baseline="0" dirty="0">
                          <a:solidFill>
                            <a:schemeClr val="dk1"/>
                          </a:solidFill>
                        </a:rPr>
                        <a:t>Winnings from </a:t>
                      </a:r>
                    </a:p>
                    <a:p>
                      <a:r>
                        <a:rPr lang="en-US" sz="1800" b="0" u="none" strike="noStrike" kern="1200" baseline="0" dirty="0">
                          <a:solidFill>
                            <a:schemeClr val="dk1"/>
                          </a:solidFill>
                        </a:rPr>
                        <a:t>• Lotteries; </a:t>
                      </a:r>
                    </a:p>
                    <a:p>
                      <a:r>
                        <a:rPr lang="en-US" sz="1800" b="0" u="none" strike="noStrike" kern="1200" baseline="0" dirty="0">
                          <a:solidFill>
                            <a:schemeClr val="dk1"/>
                          </a:solidFill>
                        </a:rPr>
                        <a:t>• Crossword puzzles; </a:t>
                      </a:r>
                    </a:p>
                    <a:p>
                      <a:r>
                        <a:rPr lang="en-US" sz="1800" b="0" u="none" strike="noStrike" kern="1200" baseline="0" dirty="0">
                          <a:solidFill>
                            <a:schemeClr val="dk1"/>
                          </a:solidFill>
                        </a:rPr>
                        <a:t>• Races including horse races; </a:t>
                      </a:r>
                    </a:p>
                    <a:p>
                      <a:r>
                        <a:rPr lang="en-US" sz="1800" b="0" u="none" strike="noStrike" kern="1200" baseline="0" dirty="0">
                          <a:solidFill>
                            <a:schemeClr val="dk1"/>
                          </a:solidFill>
                        </a:rPr>
                        <a:t>• Card games and other games of any sort; </a:t>
                      </a:r>
                    </a:p>
                    <a:p>
                      <a:r>
                        <a:rPr lang="en-US" sz="1800" b="0" u="none" strike="noStrike" kern="1200" baseline="0" dirty="0">
                          <a:solidFill>
                            <a:schemeClr val="dk1"/>
                          </a:solidFill>
                        </a:rPr>
                        <a:t>• Gambling or betting of any form or nature </a:t>
                      </a:r>
                    </a:p>
                    <a:p>
                      <a:endParaRPr lang="en-US" sz="1800" b="0" u="none" strike="noStrike" kern="1200" baseline="0" dirty="0">
                        <a:solidFill>
                          <a:schemeClr val="dk1"/>
                        </a:solidFill>
                      </a:endParaRPr>
                    </a:p>
                    <a:p>
                      <a:r>
                        <a:rPr lang="en-US" sz="1800" b="0" u="none" strike="noStrike" kern="1200" baseline="0" dirty="0">
                          <a:solidFill>
                            <a:schemeClr val="dk1"/>
                          </a:solidFill>
                        </a:rPr>
                        <a:t>(other than winning from any online game) </a:t>
                      </a:r>
                      <a:r>
                        <a:rPr lang="en-US" sz="1800" b="1" u="none" strike="noStrike" kern="1200" baseline="0" dirty="0">
                          <a:solidFill>
                            <a:schemeClr val="dk1"/>
                          </a:solidFill>
                        </a:rPr>
                        <a:t>	</a:t>
                      </a:r>
                      <a:endParaRPr lang="en-US" sz="1800" b="1"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u="none" strike="noStrike" kern="1200" baseline="0" dirty="0">
                          <a:solidFill>
                            <a:schemeClr val="dk1"/>
                          </a:solidFill>
                        </a:rPr>
                        <a:t>30% 	</a:t>
                      </a:r>
                    </a:p>
                    <a:p>
                      <a:pPr algn="ctr"/>
                      <a:endParaRPr lang="en-US"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992169">
                <a:tc>
                  <a:txBody>
                    <a:bodyPr/>
                    <a:lstStyle/>
                    <a:p>
                      <a:pPr algn="ctr"/>
                      <a:r>
                        <a:rPr lang="en-US" dirty="0"/>
                        <a:t>(e)</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t>115BBJ</a:t>
                      </a:r>
                      <a:endParaRPr lang="en-US"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u="none" strike="noStrike" kern="1200" baseline="0" dirty="0">
                          <a:solidFill>
                            <a:schemeClr val="dk1"/>
                          </a:solidFill>
                        </a:rPr>
                        <a:t>Net winnings from online games 		</a:t>
                      </a:r>
                      <a:endPar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ctr"/>
                      <a:endParaRPr lang="en-US" sz="1800" b="1" u="none" strike="noStrike" kern="1200" baseline="0" dirty="0">
                        <a:solidFill>
                          <a:schemeClr val="dk1"/>
                        </a:solidFill>
                      </a:endParaRPr>
                    </a:p>
                    <a:p>
                      <a:pPr algn="ctr"/>
                      <a:r>
                        <a:rPr lang="en-US" sz="1800" b="1" u="none" strike="noStrike" kern="1200" baseline="0" dirty="0">
                          <a:solidFill>
                            <a:schemeClr val="dk1"/>
                          </a:solidFill>
                        </a:rPr>
                        <a:t>30% 	</a:t>
                      </a:r>
                    </a:p>
                    <a:p>
                      <a:pPr algn="ctr"/>
                      <a:r>
                        <a:rPr lang="en-US" sz="1800" b="1" u="none" strike="noStrike" kern="1200" baseline="0" dirty="0">
                          <a:solidFill>
                            <a:schemeClr val="dk1"/>
                          </a:solidFill>
                        </a:rPr>
                        <a:t>	</a:t>
                      </a:r>
                      <a:endParaRPr lang="en-US" sz="1800" b="1"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10002"/>
                  </a:ext>
                </a:extLst>
              </a:tr>
              <a:tr h="1741285">
                <a:tc>
                  <a:txBody>
                    <a:bodyPr/>
                    <a:lstStyle/>
                    <a:p>
                      <a:pPr algn="ctr"/>
                      <a:r>
                        <a:rPr lang="en-US" dirty="0"/>
                        <a:t>(f)</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t>115BBE</a:t>
                      </a:r>
                      <a:endParaRPr lang="en-US"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u="none" strike="noStrike" kern="1200" baseline="0" dirty="0">
                          <a:solidFill>
                            <a:schemeClr val="dk1"/>
                          </a:solidFill>
                        </a:rPr>
                        <a:t>Unexplained money, investment, expenditure, etc. deemed as income under section 68 or section 69 or section 69A or section 69B or section 69C or section 69D. 		</a:t>
                      </a:r>
                      <a:endPar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ctr"/>
                      <a:endParaRPr lang="en-US" sz="1800" b="1" u="none" strike="noStrike" kern="1200" baseline="0" dirty="0">
                        <a:solidFill>
                          <a:schemeClr val="dk1"/>
                        </a:solidFill>
                      </a:endParaRPr>
                    </a:p>
                    <a:p>
                      <a:pPr algn="ctr"/>
                      <a:r>
                        <a:rPr lang="en-US" sz="1800" b="1" u="none" strike="noStrike" kern="1200" baseline="0" dirty="0">
                          <a:solidFill>
                            <a:schemeClr val="dk1"/>
                          </a:solidFill>
                        </a:rPr>
                        <a:t>60% 	</a:t>
                      </a:r>
                    </a:p>
                    <a:p>
                      <a:pPr algn="ctr"/>
                      <a:r>
                        <a:rPr lang="en-US" sz="1800" b="1" u="none" strike="noStrike" kern="1200" baseline="0" dirty="0">
                          <a:solidFill>
                            <a:schemeClr val="dk1"/>
                          </a:solidFill>
                        </a:rPr>
                        <a:t>	</a:t>
                      </a:r>
                      <a:endParaRPr lang="en-US" sz="1800" b="1"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3650301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a:xfrm>
            <a:off x="831850" y="963289"/>
            <a:ext cx="10515600" cy="2852737"/>
          </a:xfrm>
        </p:spPr>
        <p:txBody>
          <a:bodyPr/>
          <a:lstStyle/>
          <a:p>
            <a:r>
              <a:rPr lang="en-US" dirty="0"/>
              <a:t>Residential Status</a:t>
            </a:r>
          </a:p>
        </p:txBody>
      </p:sp>
    </p:spTree>
    <p:extLst>
      <p:ext uri="{BB962C8B-B14F-4D97-AF65-F5344CB8AC3E}">
        <p14:creationId xmlns:p14="http://schemas.microsoft.com/office/powerpoint/2010/main" val="26316189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BD0437-5275-49FA-93B5-94D7BFBE21B9}"/>
              </a:ext>
            </a:extLst>
          </p:cNvPr>
          <p:cNvSpPr>
            <a:spLocks noGrp="1"/>
          </p:cNvSpPr>
          <p:nvPr>
            <p:ph type="title"/>
          </p:nvPr>
        </p:nvSpPr>
        <p:spPr/>
        <p:txBody>
          <a:bodyPr/>
          <a:lstStyle/>
          <a:p>
            <a:r>
              <a:rPr lang="en-US" sz="3600" dirty="0"/>
              <a:t>Introduction</a:t>
            </a:r>
            <a:endParaRPr lang="en-IN" dirty="0"/>
          </a:p>
        </p:txBody>
      </p:sp>
      <p:sp>
        <p:nvSpPr>
          <p:cNvPr id="3" name="Content Placeholder 2">
            <a:extLst>
              <a:ext uri="{FF2B5EF4-FFF2-40B4-BE49-F238E27FC236}">
                <a16:creationId xmlns:a16="http://schemas.microsoft.com/office/drawing/2014/main" id="{122D3FBB-04DF-45E5-8ADC-9FDCC6FD0ABF}"/>
              </a:ext>
            </a:extLst>
          </p:cNvPr>
          <p:cNvSpPr>
            <a:spLocks noGrp="1"/>
          </p:cNvSpPr>
          <p:nvPr>
            <p:ph idx="1"/>
          </p:nvPr>
        </p:nvSpPr>
        <p:spPr/>
        <p:txBody>
          <a:bodyPr/>
          <a:lstStyle/>
          <a:p>
            <a:r>
              <a:rPr lang="en-US" sz="2800" dirty="0"/>
              <a:t>According to the Income Tax Act, 1961, </a:t>
            </a:r>
            <a:r>
              <a:rPr lang="en-US" sz="2800" b="1" dirty="0">
                <a:solidFill>
                  <a:srgbClr val="C00000"/>
                </a:solidFill>
              </a:rPr>
              <a:t>taxation</a:t>
            </a:r>
            <a:r>
              <a:rPr lang="en-US" sz="2800" dirty="0"/>
              <a:t> depends on an </a:t>
            </a:r>
            <a:r>
              <a:rPr lang="en-US" sz="2800" b="1" dirty="0">
                <a:solidFill>
                  <a:srgbClr val="C00000"/>
                </a:solidFill>
              </a:rPr>
              <a:t>assessee’s residential </a:t>
            </a:r>
            <a:r>
              <a:rPr lang="en-US" sz="2800" dirty="0"/>
              <a:t>status.</a:t>
            </a:r>
          </a:p>
          <a:p>
            <a:r>
              <a:rPr lang="en-US" sz="2800" dirty="0"/>
              <a:t>Residential Status</a:t>
            </a:r>
            <a:r>
              <a:rPr lang="en-US" sz="2800" dirty="0">
                <a:latin typeface="+mj-lt"/>
              </a:rPr>
              <a:t> is computed </a:t>
            </a:r>
            <a:r>
              <a:rPr lang="en-US" sz="2800" b="1" dirty="0">
                <a:solidFill>
                  <a:srgbClr val="C00000"/>
                </a:solidFill>
                <a:latin typeface="+mj-lt"/>
              </a:rPr>
              <a:t>separately for each previous year for every assessee</a:t>
            </a:r>
            <a:r>
              <a:rPr lang="en-US" sz="2800" dirty="0">
                <a:latin typeface="+mj-lt"/>
              </a:rPr>
              <a:t>.</a:t>
            </a:r>
          </a:p>
          <a:p>
            <a:r>
              <a:rPr lang="en-US" dirty="0"/>
              <a:t>The Residential Status of an Individual is to be determined based on the </a:t>
            </a:r>
            <a:r>
              <a:rPr lang="en-US" b="1" dirty="0">
                <a:solidFill>
                  <a:srgbClr val="C00000"/>
                </a:solidFill>
              </a:rPr>
              <a:t>period of stay </a:t>
            </a:r>
            <a:r>
              <a:rPr lang="en-US" dirty="0"/>
              <a:t>of the taxpayer </a:t>
            </a:r>
            <a:r>
              <a:rPr lang="en-US" b="1" dirty="0">
                <a:solidFill>
                  <a:srgbClr val="C00000"/>
                </a:solidFill>
              </a:rPr>
              <a:t>in India</a:t>
            </a:r>
            <a:r>
              <a:rPr lang="en-US" dirty="0">
                <a:solidFill>
                  <a:srgbClr val="C00000"/>
                </a:solidFill>
              </a:rPr>
              <a:t>.</a:t>
            </a:r>
          </a:p>
          <a:p>
            <a:endParaRPr lang="en-IN" sz="2800" dirty="0">
              <a:latin typeface="+mj-lt"/>
            </a:endParaRPr>
          </a:p>
        </p:txBody>
      </p:sp>
      <p:pic>
        <p:nvPicPr>
          <p:cNvPr id="2" name="Picture 2" descr="Indian tax laws">
            <a:extLst>
              <a:ext uri="{FF2B5EF4-FFF2-40B4-BE49-F238E27FC236}">
                <a16:creationId xmlns:a16="http://schemas.microsoft.com/office/drawing/2014/main" id="{2BA14B66-4032-DBD4-A656-38821104A5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6480" y="3418450"/>
            <a:ext cx="4932783" cy="30355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5928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C0608-5169-4F54-A02F-4D67FE82003B}"/>
              </a:ext>
            </a:extLst>
          </p:cNvPr>
          <p:cNvSpPr>
            <a:spLocks noGrp="1"/>
          </p:cNvSpPr>
          <p:nvPr>
            <p:ph type="title"/>
          </p:nvPr>
        </p:nvSpPr>
        <p:spPr/>
        <p:txBody>
          <a:bodyPr/>
          <a:lstStyle/>
          <a:p>
            <a:r>
              <a:rPr lang="en-US" dirty="0"/>
              <a:t>Meaning of Residential Status </a:t>
            </a:r>
          </a:p>
        </p:txBody>
      </p:sp>
      <p:sp>
        <p:nvSpPr>
          <p:cNvPr id="3" name="Content Placeholder 2">
            <a:extLst>
              <a:ext uri="{FF2B5EF4-FFF2-40B4-BE49-F238E27FC236}">
                <a16:creationId xmlns:a16="http://schemas.microsoft.com/office/drawing/2014/main" id="{9D3157CF-1A6C-4E1F-937A-BA00D3922802}"/>
              </a:ext>
            </a:extLst>
          </p:cNvPr>
          <p:cNvSpPr>
            <a:spLocks noGrp="1"/>
          </p:cNvSpPr>
          <p:nvPr>
            <p:ph idx="1"/>
          </p:nvPr>
        </p:nvSpPr>
        <p:spPr>
          <a:xfrm>
            <a:off x="131180" y="863444"/>
            <a:ext cx="11718697" cy="5590565"/>
          </a:xfrm>
        </p:spPr>
        <p:txBody>
          <a:bodyPr/>
          <a:lstStyle/>
          <a:p>
            <a:r>
              <a:rPr lang="en-US" dirty="0">
                <a:latin typeface="+mj-lt"/>
              </a:rPr>
              <a:t>Residential Status means the status of a person with reference to how long the person has </a:t>
            </a:r>
            <a:r>
              <a:rPr lang="en-US" b="1" dirty="0">
                <a:solidFill>
                  <a:srgbClr val="C00000"/>
                </a:solidFill>
                <a:latin typeface="+mj-lt"/>
              </a:rPr>
              <a:t>stayed in India</a:t>
            </a:r>
            <a:r>
              <a:rPr lang="en-US" dirty="0">
                <a:latin typeface="+mj-lt"/>
              </a:rPr>
              <a:t>. </a:t>
            </a:r>
          </a:p>
          <a:p>
            <a:r>
              <a:rPr lang="en-US" dirty="0">
                <a:latin typeface="+mj-lt"/>
              </a:rPr>
              <a:t>The </a:t>
            </a:r>
            <a:r>
              <a:rPr lang="en-US" b="1" dirty="0">
                <a:solidFill>
                  <a:srgbClr val="C00000"/>
                </a:solidFill>
                <a:latin typeface="+mj-lt"/>
              </a:rPr>
              <a:t>period of stay </a:t>
            </a:r>
            <a:r>
              <a:rPr lang="en-US" dirty="0">
                <a:latin typeface="+mj-lt"/>
              </a:rPr>
              <a:t>is calculated in the form of number of </a:t>
            </a:r>
            <a:r>
              <a:rPr lang="en-US" b="1" dirty="0">
                <a:solidFill>
                  <a:srgbClr val="C00000"/>
                </a:solidFill>
                <a:latin typeface="+mj-lt"/>
              </a:rPr>
              <a:t>days</a:t>
            </a:r>
            <a:r>
              <a:rPr lang="en-US" dirty="0">
                <a:latin typeface="+mj-lt"/>
              </a:rPr>
              <a:t> for </a:t>
            </a:r>
            <a:r>
              <a:rPr lang="en-US" b="1" i="1" dirty="0">
                <a:solidFill>
                  <a:srgbClr val="C00000"/>
                </a:solidFill>
                <a:latin typeface="+mj-lt"/>
              </a:rPr>
              <a:t>each financial year</a:t>
            </a:r>
            <a:r>
              <a:rPr lang="en-US" b="1" dirty="0">
                <a:latin typeface="+mj-lt"/>
              </a:rPr>
              <a:t> </a:t>
            </a:r>
            <a:r>
              <a:rPr lang="en-US" b="1" dirty="0">
                <a:solidFill>
                  <a:srgbClr val="C00000"/>
                </a:solidFill>
                <a:latin typeface="+mj-lt"/>
              </a:rPr>
              <a:t>in India</a:t>
            </a:r>
            <a:r>
              <a:rPr lang="en-US" dirty="0">
                <a:latin typeface="+mj-lt"/>
              </a:rPr>
              <a:t>. </a:t>
            </a:r>
          </a:p>
          <a:p>
            <a:endParaRPr lang="en-US" sz="3200" b="1" dirty="0">
              <a:latin typeface="+mj-lt"/>
            </a:endParaRPr>
          </a:p>
        </p:txBody>
      </p:sp>
      <p:pic>
        <p:nvPicPr>
          <p:cNvPr id="6" name="Picture 5">
            <a:extLst>
              <a:ext uri="{FF2B5EF4-FFF2-40B4-BE49-F238E27FC236}">
                <a16:creationId xmlns:a16="http://schemas.microsoft.com/office/drawing/2014/main" id="{69A4E33C-4E93-C200-8E6F-24FCD1B668B4}"/>
              </a:ext>
            </a:extLst>
          </p:cNvPr>
          <p:cNvPicPr>
            <a:picLocks noChangeAspect="1"/>
          </p:cNvPicPr>
          <p:nvPr/>
        </p:nvPicPr>
        <p:blipFill>
          <a:blip r:embed="rId2"/>
          <a:stretch>
            <a:fillRect/>
          </a:stretch>
        </p:blipFill>
        <p:spPr>
          <a:xfrm>
            <a:off x="2416629" y="2338887"/>
            <a:ext cx="8245150" cy="4182184"/>
          </a:xfrm>
          <a:prstGeom prst="rect">
            <a:avLst/>
          </a:prstGeom>
        </p:spPr>
      </p:pic>
    </p:spTree>
    <p:extLst>
      <p:ext uri="{BB962C8B-B14F-4D97-AF65-F5344CB8AC3E}">
        <p14:creationId xmlns:p14="http://schemas.microsoft.com/office/powerpoint/2010/main" val="4027436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131180" y="863444"/>
          <a:ext cx="11929641" cy="55905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a:extLst>
              <a:ext uri="{FF2B5EF4-FFF2-40B4-BE49-F238E27FC236}">
                <a16:creationId xmlns:a16="http://schemas.microsoft.com/office/drawing/2014/main" id="{57717E1A-6BAC-4039-A80F-2BB39DD3BF13}"/>
              </a:ext>
            </a:extLst>
          </p:cNvPr>
          <p:cNvSpPr>
            <a:spLocks noGrp="1"/>
          </p:cNvSpPr>
          <p:nvPr>
            <p:ph type="title"/>
          </p:nvPr>
        </p:nvSpPr>
        <p:spPr/>
        <p:txBody>
          <a:bodyPr/>
          <a:lstStyle/>
          <a:p>
            <a:r>
              <a:rPr lang="en-US" sz="3200" dirty="0"/>
              <a:t>Classification of Assessees Based on Residential Status</a:t>
            </a:r>
            <a:endParaRPr lang="en-IN" dirty="0"/>
          </a:p>
        </p:txBody>
      </p:sp>
      <p:pic>
        <p:nvPicPr>
          <p:cNvPr id="6" name="Picture 5">
            <a:extLst>
              <a:ext uri="{FF2B5EF4-FFF2-40B4-BE49-F238E27FC236}">
                <a16:creationId xmlns:a16="http://schemas.microsoft.com/office/drawing/2014/main" id="{1EAD36C0-0633-415D-9665-694BC9F50D74}"/>
              </a:ext>
            </a:extLst>
          </p:cNvPr>
          <p:cNvPicPr>
            <a:picLocks noChangeAspect="1"/>
          </p:cNvPicPr>
          <p:nvPr/>
        </p:nvPicPr>
        <p:blipFill>
          <a:blip r:embed="rId7"/>
          <a:stretch>
            <a:fillRect/>
          </a:stretch>
        </p:blipFill>
        <p:spPr>
          <a:xfrm>
            <a:off x="131179" y="863444"/>
            <a:ext cx="2742649" cy="2193265"/>
          </a:xfrm>
          <a:prstGeom prst="rect">
            <a:avLst/>
          </a:prstGeom>
        </p:spPr>
      </p:pic>
    </p:spTree>
    <p:extLst>
      <p:ext uri="{BB962C8B-B14F-4D97-AF65-F5344CB8AC3E}">
        <p14:creationId xmlns:p14="http://schemas.microsoft.com/office/powerpoint/2010/main" val="2662985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5">
                                            <p:graphicEl>
                                              <a:dgm id="{B718A287-2E83-42D1-B9C5-FCB5D636D2AE}"/>
                                            </p:graphicEl>
                                          </p:spTgt>
                                        </p:tgtEl>
                                        <p:attrNameLst>
                                          <p:attrName>style.visibility</p:attrName>
                                        </p:attrNameLst>
                                      </p:cBhvr>
                                      <p:to>
                                        <p:strVal val="visible"/>
                                      </p:to>
                                    </p:set>
                                    <p:anim calcmode="lin" valueType="num">
                                      <p:cBhvr additive="base">
                                        <p:cTn id="14" dur="500" fill="hold"/>
                                        <p:tgtEl>
                                          <p:spTgt spid="5">
                                            <p:graphicEl>
                                              <a:dgm id="{B718A287-2E83-42D1-B9C5-FCB5D636D2AE}"/>
                                            </p:graphicEl>
                                          </p:spTgt>
                                        </p:tgtEl>
                                        <p:attrNameLst>
                                          <p:attrName>ppt_x</p:attrName>
                                        </p:attrNameLst>
                                      </p:cBhvr>
                                      <p:tavLst>
                                        <p:tav tm="0">
                                          <p:val>
                                            <p:strVal val="#ppt_x"/>
                                          </p:val>
                                        </p:tav>
                                        <p:tav tm="100000">
                                          <p:val>
                                            <p:strVal val="#ppt_x"/>
                                          </p:val>
                                        </p:tav>
                                      </p:tavLst>
                                    </p:anim>
                                    <p:anim calcmode="lin" valueType="num">
                                      <p:cBhvr additive="base">
                                        <p:cTn id="15" dur="500" fill="hold"/>
                                        <p:tgtEl>
                                          <p:spTgt spid="5">
                                            <p:graphicEl>
                                              <a:dgm id="{B718A287-2E83-42D1-B9C5-FCB5D636D2AE}"/>
                                            </p:graphic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5">
                                            <p:graphicEl>
                                              <a:dgm id="{0D130D26-C9B9-44B1-A1F1-05B379066A06}"/>
                                            </p:graphicEl>
                                          </p:spTgt>
                                        </p:tgtEl>
                                        <p:attrNameLst>
                                          <p:attrName>style.visibility</p:attrName>
                                        </p:attrNameLst>
                                      </p:cBhvr>
                                      <p:to>
                                        <p:strVal val="visible"/>
                                      </p:to>
                                    </p:set>
                                    <p:anim calcmode="lin" valueType="num">
                                      <p:cBhvr additive="base">
                                        <p:cTn id="20" dur="500" fill="hold"/>
                                        <p:tgtEl>
                                          <p:spTgt spid="5">
                                            <p:graphicEl>
                                              <a:dgm id="{0D130D26-C9B9-44B1-A1F1-05B379066A06}"/>
                                            </p:graphicEl>
                                          </p:spTgt>
                                        </p:tgtEl>
                                        <p:attrNameLst>
                                          <p:attrName>ppt_x</p:attrName>
                                        </p:attrNameLst>
                                      </p:cBhvr>
                                      <p:tavLst>
                                        <p:tav tm="0">
                                          <p:val>
                                            <p:strVal val="#ppt_x"/>
                                          </p:val>
                                        </p:tav>
                                        <p:tav tm="100000">
                                          <p:val>
                                            <p:strVal val="#ppt_x"/>
                                          </p:val>
                                        </p:tav>
                                      </p:tavLst>
                                    </p:anim>
                                    <p:anim calcmode="lin" valueType="num">
                                      <p:cBhvr additive="base">
                                        <p:cTn id="21" dur="500" fill="hold"/>
                                        <p:tgtEl>
                                          <p:spTgt spid="5">
                                            <p:graphicEl>
                                              <a:dgm id="{0D130D26-C9B9-44B1-A1F1-05B379066A06}"/>
                                            </p:graphicEl>
                                          </p:spTgt>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5">
                                            <p:graphicEl>
                                              <a:dgm id="{73DA7729-D25C-4A9C-810E-01E0FF0E10F9}"/>
                                            </p:graphicEl>
                                          </p:spTgt>
                                        </p:tgtEl>
                                        <p:attrNameLst>
                                          <p:attrName>style.visibility</p:attrName>
                                        </p:attrNameLst>
                                      </p:cBhvr>
                                      <p:to>
                                        <p:strVal val="visible"/>
                                      </p:to>
                                    </p:set>
                                    <p:anim calcmode="lin" valueType="num">
                                      <p:cBhvr additive="base">
                                        <p:cTn id="24" dur="500" fill="hold"/>
                                        <p:tgtEl>
                                          <p:spTgt spid="5">
                                            <p:graphicEl>
                                              <a:dgm id="{73DA7729-D25C-4A9C-810E-01E0FF0E10F9}"/>
                                            </p:graphicEl>
                                          </p:spTgt>
                                        </p:tgtEl>
                                        <p:attrNameLst>
                                          <p:attrName>ppt_x</p:attrName>
                                        </p:attrNameLst>
                                      </p:cBhvr>
                                      <p:tavLst>
                                        <p:tav tm="0">
                                          <p:val>
                                            <p:strVal val="#ppt_x"/>
                                          </p:val>
                                        </p:tav>
                                        <p:tav tm="100000">
                                          <p:val>
                                            <p:strVal val="#ppt_x"/>
                                          </p:val>
                                        </p:tav>
                                      </p:tavLst>
                                    </p:anim>
                                    <p:anim calcmode="lin" valueType="num">
                                      <p:cBhvr additive="base">
                                        <p:cTn id="25" dur="500" fill="hold"/>
                                        <p:tgtEl>
                                          <p:spTgt spid="5">
                                            <p:graphicEl>
                                              <a:dgm id="{73DA7729-D25C-4A9C-810E-01E0FF0E10F9}"/>
                                            </p:graphic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5">
                                            <p:graphicEl>
                                              <a:dgm id="{1C901967-64B6-4A13-8775-944A71240344}"/>
                                            </p:graphicEl>
                                          </p:spTgt>
                                        </p:tgtEl>
                                        <p:attrNameLst>
                                          <p:attrName>style.visibility</p:attrName>
                                        </p:attrNameLst>
                                      </p:cBhvr>
                                      <p:to>
                                        <p:strVal val="visible"/>
                                      </p:to>
                                    </p:set>
                                    <p:anim calcmode="lin" valueType="num">
                                      <p:cBhvr additive="base">
                                        <p:cTn id="30" dur="500" fill="hold"/>
                                        <p:tgtEl>
                                          <p:spTgt spid="5">
                                            <p:graphicEl>
                                              <a:dgm id="{1C901967-64B6-4A13-8775-944A71240344}"/>
                                            </p:graphicEl>
                                          </p:spTgt>
                                        </p:tgtEl>
                                        <p:attrNameLst>
                                          <p:attrName>ppt_x</p:attrName>
                                        </p:attrNameLst>
                                      </p:cBhvr>
                                      <p:tavLst>
                                        <p:tav tm="0">
                                          <p:val>
                                            <p:strVal val="#ppt_x"/>
                                          </p:val>
                                        </p:tav>
                                        <p:tav tm="100000">
                                          <p:val>
                                            <p:strVal val="#ppt_x"/>
                                          </p:val>
                                        </p:tav>
                                      </p:tavLst>
                                    </p:anim>
                                    <p:anim calcmode="lin" valueType="num">
                                      <p:cBhvr additive="base">
                                        <p:cTn id="31" dur="500" fill="hold"/>
                                        <p:tgtEl>
                                          <p:spTgt spid="5">
                                            <p:graphicEl>
                                              <a:dgm id="{1C901967-64B6-4A13-8775-944A71240344}"/>
                                            </p:graphicEl>
                                          </p:spTgt>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5">
                                            <p:graphicEl>
                                              <a:dgm id="{1E0A877C-65A2-48AD-AE3D-2FAFA315355A}"/>
                                            </p:graphicEl>
                                          </p:spTgt>
                                        </p:tgtEl>
                                        <p:attrNameLst>
                                          <p:attrName>style.visibility</p:attrName>
                                        </p:attrNameLst>
                                      </p:cBhvr>
                                      <p:to>
                                        <p:strVal val="visible"/>
                                      </p:to>
                                    </p:set>
                                    <p:anim calcmode="lin" valueType="num">
                                      <p:cBhvr additive="base">
                                        <p:cTn id="34" dur="500" fill="hold"/>
                                        <p:tgtEl>
                                          <p:spTgt spid="5">
                                            <p:graphicEl>
                                              <a:dgm id="{1E0A877C-65A2-48AD-AE3D-2FAFA315355A}"/>
                                            </p:graphicEl>
                                          </p:spTgt>
                                        </p:tgtEl>
                                        <p:attrNameLst>
                                          <p:attrName>ppt_x</p:attrName>
                                        </p:attrNameLst>
                                      </p:cBhvr>
                                      <p:tavLst>
                                        <p:tav tm="0">
                                          <p:val>
                                            <p:strVal val="#ppt_x"/>
                                          </p:val>
                                        </p:tav>
                                        <p:tav tm="100000">
                                          <p:val>
                                            <p:strVal val="#ppt_x"/>
                                          </p:val>
                                        </p:tav>
                                      </p:tavLst>
                                    </p:anim>
                                    <p:anim calcmode="lin" valueType="num">
                                      <p:cBhvr additive="base">
                                        <p:cTn id="35" dur="500" fill="hold"/>
                                        <p:tgtEl>
                                          <p:spTgt spid="5">
                                            <p:graphicEl>
                                              <a:dgm id="{1E0A877C-65A2-48AD-AE3D-2FAFA315355A}"/>
                                            </p:graphic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5">
                                            <p:graphicEl>
                                              <a:dgm id="{9E55D6DF-EB83-4E76-A559-7A1EF3C5D979}"/>
                                            </p:graphicEl>
                                          </p:spTgt>
                                        </p:tgtEl>
                                        <p:attrNameLst>
                                          <p:attrName>style.visibility</p:attrName>
                                        </p:attrNameLst>
                                      </p:cBhvr>
                                      <p:to>
                                        <p:strVal val="visible"/>
                                      </p:to>
                                    </p:set>
                                    <p:anim calcmode="lin" valueType="num">
                                      <p:cBhvr additive="base">
                                        <p:cTn id="40" dur="500" fill="hold"/>
                                        <p:tgtEl>
                                          <p:spTgt spid="5">
                                            <p:graphicEl>
                                              <a:dgm id="{9E55D6DF-EB83-4E76-A559-7A1EF3C5D979}"/>
                                            </p:graphicEl>
                                          </p:spTgt>
                                        </p:tgtEl>
                                        <p:attrNameLst>
                                          <p:attrName>ppt_x</p:attrName>
                                        </p:attrNameLst>
                                      </p:cBhvr>
                                      <p:tavLst>
                                        <p:tav tm="0">
                                          <p:val>
                                            <p:strVal val="#ppt_x"/>
                                          </p:val>
                                        </p:tav>
                                        <p:tav tm="100000">
                                          <p:val>
                                            <p:strVal val="#ppt_x"/>
                                          </p:val>
                                        </p:tav>
                                      </p:tavLst>
                                    </p:anim>
                                    <p:anim calcmode="lin" valueType="num">
                                      <p:cBhvr additive="base">
                                        <p:cTn id="41" dur="500" fill="hold"/>
                                        <p:tgtEl>
                                          <p:spTgt spid="5">
                                            <p:graphicEl>
                                              <a:dgm id="{9E55D6DF-EB83-4E76-A559-7A1EF3C5D979}"/>
                                            </p:graphicEl>
                                          </p:spTgt>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5">
                                            <p:graphicEl>
                                              <a:dgm id="{EF72ED76-7C3A-4067-9160-635C35DE9200}"/>
                                            </p:graphicEl>
                                          </p:spTgt>
                                        </p:tgtEl>
                                        <p:attrNameLst>
                                          <p:attrName>style.visibility</p:attrName>
                                        </p:attrNameLst>
                                      </p:cBhvr>
                                      <p:to>
                                        <p:strVal val="visible"/>
                                      </p:to>
                                    </p:set>
                                    <p:anim calcmode="lin" valueType="num">
                                      <p:cBhvr additive="base">
                                        <p:cTn id="44" dur="500" fill="hold"/>
                                        <p:tgtEl>
                                          <p:spTgt spid="5">
                                            <p:graphicEl>
                                              <a:dgm id="{EF72ED76-7C3A-4067-9160-635C35DE9200}"/>
                                            </p:graphicEl>
                                          </p:spTgt>
                                        </p:tgtEl>
                                        <p:attrNameLst>
                                          <p:attrName>ppt_x</p:attrName>
                                        </p:attrNameLst>
                                      </p:cBhvr>
                                      <p:tavLst>
                                        <p:tav tm="0">
                                          <p:val>
                                            <p:strVal val="#ppt_x"/>
                                          </p:val>
                                        </p:tav>
                                        <p:tav tm="100000">
                                          <p:val>
                                            <p:strVal val="#ppt_x"/>
                                          </p:val>
                                        </p:tav>
                                      </p:tavLst>
                                    </p:anim>
                                    <p:anim calcmode="lin" valueType="num">
                                      <p:cBhvr additive="base">
                                        <p:cTn id="45" dur="500" fill="hold"/>
                                        <p:tgtEl>
                                          <p:spTgt spid="5">
                                            <p:graphicEl>
                                              <a:dgm id="{EF72ED76-7C3A-4067-9160-635C35DE9200}"/>
                                            </p:graphicEl>
                                          </p:spTgt>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5">
                                            <p:graphicEl>
                                              <a:dgm id="{719C759C-7F28-44AB-A7CB-A2F529EA8B25}"/>
                                            </p:graphicEl>
                                          </p:spTgt>
                                        </p:tgtEl>
                                        <p:attrNameLst>
                                          <p:attrName>style.visibility</p:attrName>
                                        </p:attrNameLst>
                                      </p:cBhvr>
                                      <p:to>
                                        <p:strVal val="visible"/>
                                      </p:to>
                                    </p:set>
                                    <p:anim calcmode="lin" valueType="num">
                                      <p:cBhvr additive="base">
                                        <p:cTn id="50" dur="500" fill="hold"/>
                                        <p:tgtEl>
                                          <p:spTgt spid="5">
                                            <p:graphicEl>
                                              <a:dgm id="{719C759C-7F28-44AB-A7CB-A2F529EA8B25}"/>
                                            </p:graphicEl>
                                          </p:spTgt>
                                        </p:tgtEl>
                                        <p:attrNameLst>
                                          <p:attrName>ppt_x</p:attrName>
                                        </p:attrNameLst>
                                      </p:cBhvr>
                                      <p:tavLst>
                                        <p:tav tm="0">
                                          <p:val>
                                            <p:strVal val="#ppt_x"/>
                                          </p:val>
                                        </p:tav>
                                        <p:tav tm="100000">
                                          <p:val>
                                            <p:strVal val="#ppt_x"/>
                                          </p:val>
                                        </p:tav>
                                      </p:tavLst>
                                    </p:anim>
                                    <p:anim calcmode="lin" valueType="num">
                                      <p:cBhvr additive="base">
                                        <p:cTn id="51" dur="500" fill="hold"/>
                                        <p:tgtEl>
                                          <p:spTgt spid="5">
                                            <p:graphicEl>
                                              <a:dgm id="{719C759C-7F28-44AB-A7CB-A2F529EA8B25}"/>
                                            </p:graphicEl>
                                          </p:spTgt>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5">
                                            <p:graphicEl>
                                              <a:dgm id="{4A5DA781-9EDD-4109-B0CD-FE3EF5B3EFD3}"/>
                                            </p:graphicEl>
                                          </p:spTgt>
                                        </p:tgtEl>
                                        <p:attrNameLst>
                                          <p:attrName>style.visibility</p:attrName>
                                        </p:attrNameLst>
                                      </p:cBhvr>
                                      <p:to>
                                        <p:strVal val="visible"/>
                                      </p:to>
                                    </p:set>
                                    <p:anim calcmode="lin" valueType="num">
                                      <p:cBhvr additive="base">
                                        <p:cTn id="54" dur="500" fill="hold"/>
                                        <p:tgtEl>
                                          <p:spTgt spid="5">
                                            <p:graphicEl>
                                              <a:dgm id="{4A5DA781-9EDD-4109-B0CD-FE3EF5B3EFD3}"/>
                                            </p:graphicEl>
                                          </p:spTgt>
                                        </p:tgtEl>
                                        <p:attrNameLst>
                                          <p:attrName>ppt_x</p:attrName>
                                        </p:attrNameLst>
                                      </p:cBhvr>
                                      <p:tavLst>
                                        <p:tav tm="0">
                                          <p:val>
                                            <p:strVal val="#ppt_x"/>
                                          </p:val>
                                        </p:tav>
                                        <p:tav tm="100000">
                                          <p:val>
                                            <p:strVal val="#ppt_x"/>
                                          </p:val>
                                        </p:tav>
                                      </p:tavLst>
                                    </p:anim>
                                    <p:anim calcmode="lin" valueType="num">
                                      <p:cBhvr additive="base">
                                        <p:cTn id="55" dur="500" fill="hold"/>
                                        <p:tgtEl>
                                          <p:spTgt spid="5">
                                            <p:graphicEl>
                                              <a:dgm id="{4A5DA781-9EDD-4109-B0CD-FE3EF5B3EFD3}"/>
                                            </p:graphicEl>
                                          </p:spTgt>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5">
                                            <p:graphicEl>
                                              <a:dgm id="{A6D9ABDD-5A81-46FB-B2CE-119AF5310082}"/>
                                            </p:graphicEl>
                                          </p:spTgt>
                                        </p:tgtEl>
                                        <p:attrNameLst>
                                          <p:attrName>style.visibility</p:attrName>
                                        </p:attrNameLst>
                                      </p:cBhvr>
                                      <p:to>
                                        <p:strVal val="visible"/>
                                      </p:to>
                                    </p:set>
                                    <p:anim calcmode="lin" valueType="num">
                                      <p:cBhvr additive="base">
                                        <p:cTn id="60" dur="500" fill="hold"/>
                                        <p:tgtEl>
                                          <p:spTgt spid="5">
                                            <p:graphicEl>
                                              <a:dgm id="{A6D9ABDD-5A81-46FB-B2CE-119AF5310082}"/>
                                            </p:graphicEl>
                                          </p:spTgt>
                                        </p:tgtEl>
                                        <p:attrNameLst>
                                          <p:attrName>ppt_x</p:attrName>
                                        </p:attrNameLst>
                                      </p:cBhvr>
                                      <p:tavLst>
                                        <p:tav tm="0">
                                          <p:val>
                                            <p:strVal val="#ppt_x"/>
                                          </p:val>
                                        </p:tav>
                                        <p:tav tm="100000">
                                          <p:val>
                                            <p:strVal val="#ppt_x"/>
                                          </p:val>
                                        </p:tav>
                                      </p:tavLst>
                                    </p:anim>
                                    <p:anim calcmode="lin" valueType="num">
                                      <p:cBhvr additive="base">
                                        <p:cTn id="61" dur="500" fill="hold"/>
                                        <p:tgtEl>
                                          <p:spTgt spid="5">
                                            <p:graphicEl>
                                              <a:dgm id="{A6D9ABDD-5A81-46FB-B2CE-119AF5310082}"/>
                                            </p:graphicEl>
                                          </p:spTgt>
                                        </p:tgtEl>
                                        <p:attrNameLst>
                                          <p:attrName>ppt_y</p:attrName>
                                        </p:attrNameLst>
                                      </p:cBhvr>
                                      <p:tavLst>
                                        <p:tav tm="0">
                                          <p:val>
                                            <p:strVal val="1+#ppt_h/2"/>
                                          </p:val>
                                        </p:tav>
                                        <p:tav tm="100000">
                                          <p:val>
                                            <p:strVal val="#ppt_y"/>
                                          </p:val>
                                        </p:tav>
                                      </p:tavLst>
                                    </p:anim>
                                  </p:childTnLst>
                                </p:cTn>
                              </p:par>
                              <p:par>
                                <p:cTn id="62" presetID="2" presetClass="entr" presetSubtype="4" fill="hold" grpId="0" nodeType="withEffect">
                                  <p:stCondLst>
                                    <p:cond delay="0"/>
                                  </p:stCondLst>
                                  <p:childTnLst>
                                    <p:set>
                                      <p:cBhvr>
                                        <p:cTn id="63" dur="1" fill="hold">
                                          <p:stCondLst>
                                            <p:cond delay="0"/>
                                          </p:stCondLst>
                                        </p:cTn>
                                        <p:tgtEl>
                                          <p:spTgt spid="5">
                                            <p:graphicEl>
                                              <a:dgm id="{C1DF3746-3AF5-4104-B672-3B07115607AD}"/>
                                            </p:graphicEl>
                                          </p:spTgt>
                                        </p:tgtEl>
                                        <p:attrNameLst>
                                          <p:attrName>style.visibility</p:attrName>
                                        </p:attrNameLst>
                                      </p:cBhvr>
                                      <p:to>
                                        <p:strVal val="visible"/>
                                      </p:to>
                                    </p:set>
                                    <p:anim calcmode="lin" valueType="num">
                                      <p:cBhvr additive="base">
                                        <p:cTn id="64" dur="500" fill="hold"/>
                                        <p:tgtEl>
                                          <p:spTgt spid="5">
                                            <p:graphicEl>
                                              <a:dgm id="{C1DF3746-3AF5-4104-B672-3B07115607AD}"/>
                                            </p:graphicEl>
                                          </p:spTgt>
                                        </p:tgtEl>
                                        <p:attrNameLst>
                                          <p:attrName>ppt_x</p:attrName>
                                        </p:attrNameLst>
                                      </p:cBhvr>
                                      <p:tavLst>
                                        <p:tav tm="0">
                                          <p:val>
                                            <p:strVal val="#ppt_x"/>
                                          </p:val>
                                        </p:tav>
                                        <p:tav tm="100000">
                                          <p:val>
                                            <p:strVal val="#ppt_x"/>
                                          </p:val>
                                        </p:tav>
                                      </p:tavLst>
                                    </p:anim>
                                    <p:anim calcmode="lin" valueType="num">
                                      <p:cBhvr additive="base">
                                        <p:cTn id="65" dur="500" fill="hold"/>
                                        <p:tgtEl>
                                          <p:spTgt spid="5">
                                            <p:graphicEl>
                                              <a:dgm id="{C1DF3746-3AF5-4104-B672-3B07115607AD}"/>
                                            </p:graphicEl>
                                          </p:spTgt>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5">
                                            <p:graphicEl>
                                              <a:dgm id="{054C5256-B922-42DA-8014-D3FB09A5CC40}"/>
                                            </p:graphicEl>
                                          </p:spTgt>
                                        </p:tgtEl>
                                        <p:attrNameLst>
                                          <p:attrName>style.visibility</p:attrName>
                                        </p:attrNameLst>
                                      </p:cBhvr>
                                      <p:to>
                                        <p:strVal val="visible"/>
                                      </p:to>
                                    </p:set>
                                    <p:anim calcmode="lin" valueType="num">
                                      <p:cBhvr additive="base">
                                        <p:cTn id="70" dur="500" fill="hold"/>
                                        <p:tgtEl>
                                          <p:spTgt spid="5">
                                            <p:graphicEl>
                                              <a:dgm id="{054C5256-B922-42DA-8014-D3FB09A5CC40}"/>
                                            </p:graphicEl>
                                          </p:spTgt>
                                        </p:tgtEl>
                                        <p:attrNameLst>
                                          <p:attrName>ppt_x</p:attrName>
                                        </p:attrNameLst>
                                      </p:cBhvr>
                                      <p:tavLst>
                                        <p:tav tm="0">
                                          <p:val>
                                            <p:strVal val="#ppt_x"/>
                                          </p:val>
                                        </p:tav>
                                        <p:tav tm="100000">
                                          <p:val>
                                            <p:strVal val="#ppt_x"/>
                                          </p:val>
                                        </p:tav>
                                      </p:tavLst>
                                    </p:anim>
                                    <p:anim calcmode="lin" valueType="num">
                                      <p:cBhvr additive="base">
                                        <p:cTn id="71" dur="500" fill="hold"/>
                                        <p:tgtEl>
                                          <p:spTgt spid="5">
                                            <p:graphicEl>
                                              <a:dgm id="{054C5256-B922-42DA-8014-D3FB09A5CC40}"/>
                                            </p:graphicEl>
                                          </p:spTgt>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5">
                                            <p:graphicEl>
                                              <a:dgm id="{7DF4D8D8-FCCE-44A8-8D6E-1BEB51DE6C89}"/>
                                            </p:graphicEl>
                                          </p:spTgt>
                                        </p:tgtEl>
                                        <p:attrNameLst>
                                          <p:attrName>style.visibility</p:attrName>
                                        </p:attrNameLst>
                                      </p:cBhvr>
                                      <p:to>
                                        <p:strVal val="visible"/>
                                      </p:to>
                                    </p:set>
                                    <p:anim calcmode="lin" valueType="num">
                                      <p:cBhvr additive="base">
                                        <p:cTn id="74" dur="500" fill="hold"/>
                                        <p:tgtEl>
                                          <p:spTgt spid="5">
                                            <p:graphicEl>
                                              <a:dgm id="{7DF4D8D8-FCCE-44A8-8D6E-1BEB51DE6C89}"/>
                                            </p:graphicEl>
                                          </p:spTgt>
                                        </p:tgtEl>
                                        <p:attrNameLst>
                                          <p:attrName>ppt_x</p:attrName>
                                        </p:attrNameLst>
                                      </p:cBhvr>
                                      <p:tavLst>
                                        <p:tav tm="0">
                                          <p:val>
                                            <p:strVal val="#ppt_x"/>
                                          </p:val>
                                        </p:tav>
                                        <p:tav tm="100000">
                                          <p:val>
                                            <p:strVal val="#ppt_x"/>
                                          </p:val>
                                        </p:tav>
                                      </p:tavLst>
                                    </p:anim>
                                    <p:anim calcmode="lin" valueType="num">
                                      <p:cBhvr additive="base">
                                        <p:cTn id="75" dur="500" fill="hold"/>
                                        <p:tgtEl>
                                          <p:spTgt spid="5">
                                            <p:graphicEl>
                                              <a:dgm id="{7DF4D8D8-FCCE-44A8-8D6E-1BEB51DE6C89}"/>
                                            </p:graphicEl>
                                          </p:spTgt>
                                        </p:tgtEl>
                                        <p:attrNameLst>
                                          <p:attrName>ppt_y</p:attrName>
                                        </p:attrNameLst>
                                      </p:cBhvr>
                                      <p:tavLst>
                                        <p:tav tm="0">
                                          <p:val>
                                            <p:strVal val="1+#ppt_h/2"/>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grpId="0" nodeType="clickEffect">
                                  <p:stCondLst>
                                    <p:cond delay="0"/>
                                  </p:stCondLst>
                                  <p:childTnLst>
                                    <p:set>
                                      <p:cBhvr>
                                        <p:cTn id="79" dur="1" fill="hold">
                                          <p:stCondLst>
                                            <p:cond delay="0"/>
                                          </p:stCondLst>
                                        </p:cTn>
                                        <p:tgtEl>
                                          <p:spTgt spid="5">
                                            <p:graphicEl>
                                              <a:dgm id="{ADD8EFF3-8289-4923-AA8D-4F8F9EA3A82C}"/>
                                            </p:graphicEl>
                                          </p:spTgt>
                                        </p:tgtEl>
                                        <p:attrNameLst>
                                          <p:attrName>style.visibility</p:attrName>
                                        </p:attrNameLst>
                                      </p:cBhvr>
                                      <p:to>
                                        <p:strVal val="visible"/>
                                      </p:to>
                                    </p:set>
                                    <p:anim calcmode="lin" valueType="num">
                                      <p:cBhvr additive="base">
                                        <p:cTn id="80" dur="500" fill="hold"/>
                                        <p:tgtEl>
                                          <p:spTgt spid="5">
                                            <p:graphicEl>
                                              <a:dgm id="{ADD8EFF3-8289-4923-AA8D-4F8F9EA3A82C}"/>
                                            </p:graphicEl>
                                          </p:spTgt>
                                        </p:tgtEl>
                                        <p:attrNameLst>
                                          <p:attrName>ppt_x</p:attrName>
                                        </p:attrNameLst>
                                      </p:cBhvr>
                                      <p:tavLst>
                                        <p:tav tm="0">
                                          <p:val>
                                            <p:strVal val="#ppt_x"/>
                                          </p:val>
                                        </p:tav>
                                        <p:tav tm="100000">
                                          <p:val>
                                            <p:strVal val="#ppt_x"/>
                                          </p:val>
                                        </p:tav>
                                      </p:tavLst>
                                    </p:anim>
                                    <p:anim calcmode="lin" valueType="num">
                                      <p:cBhvr additive="base">
                                        <p:cTn id="81" dur="500" fill="hold"/>
                                        <p:tgtEl>
                                          <p:spTgt spid="5">
                                            <p:graphicEl>
                                              <a:dgm id="{ADD8EFF3-8289-4923-AA8D-4F8F9EA3A82C}"/>
                                            </p:graphicEl>
                                          </p:spTgt>
                                        </p:tgtEl>
                                        <p:attrNameLst>
                                          <p:attrName>ppt_y</p:attrName>
                                        </p:attrNameLst>
                                      </p:cBhvr>
                                      <p:tavLst>
                                        <p:tav tm="0">
                                          <p:val>
                                            <p:strVal val="1+#ppt_h/2"/>
                                          </p:val>
                                        </p:tav>
                                        <p:tav tm="100000">
                                          <p:val>
                                            <p:strVal val="#ppt_y"/>
                                          </p:val>
                                        </p:tav>
                                      </p:tavLst>
                                    </p:anim>
                                  </p:childTnLst>
                                </p:cTn>
                              </p:par>
                              <p:par>
                                <p:cTn id="82" presetID="2" presetClass="entr" presetSubtype="4" fill="hold" grpId="0" nodeType="withEffect">
                                  <p:stCondLst>
                                    <p:cond delay="0"/>
                                  </p:stCondLst>
                                  <p:childTnLst>
                                    <p:set>
                                      <p:cBhvr>
                                        <p:cTn id="83" dur="1" fill="hold">
                                          <p:stCondLst>
                                            <p:cond delay="0"/>
                                          </p:stCondLst>
                                        </p:cTn>
                                        <p:tgtEl>
                                          <p:spTgt spid="5">
                                            <p:graphicEl>
                                              <a:dgm id="{2BA2ED6F-083B-4557-BE6F-5179B0A00F11}"/>
                                            </p:graphicEl>
                                          </p:spTgt>
                                        </p:tgtEl>
                                        <p:attrNameLst>
                                          <p:attrName>style.visibility</p:attrName>
                                        </p:attrNameLst>
                                      </p:cBhvr>
                                      <p:to>
                                        <p:strVal val="visible"/>
                                      </p:to>
                                    </p:set>
                                    <p:anim calcmode="lin" valueType="num">
                                      <p:cBhvr additive="base">
                                        <p:cTn id="84" dur="500" fill="hold"/>
                                        <p:tgtEl>
                                          <p:spTgt spid="5">
                                            <p:graphicEl>
                                              <a:dgm id="{2BA2ED6F-083B-4557-BE6F-5179B0A00F11}"/>
                                            </p:graphicEl>
                                          </p:spTgt>
                                        </p:tgtEl>
                                        <p:attrNameLst>
                                          <p:attrName>ppt_x</p:attrName>
                                        </p:attrNameLst>
                                      </p:cBhvr>
                                      <p:tavLst>
                                        <p:tav tm="0">
                                          <p:val>
                                            <p:strVal val="#ppt_x"/>
                                          </p:val>
                                        </p:tav>
                                        <p:tav tm="100000">
                                          <p:val>
                                            <p:strVal val="#ppt_x"/>
                                          </p:val>
                                        </p:tav>
                                      </p:tavLst>
                                    </p:anim>
                                    <p:anim calcmode="lin" valueType="num">
                                      <p:cBhvr additive="base">
                                        <p:cTn id="85" dur="500" fill="hold"/>
                                        <p:tgtEl>
                                          <p:spTgt spid="5">
                                            <p:graphicEl>
                                              <a:dgm id="{2BA2ED6F-083B-4557-BE6F-5179B0A00F11}"/>
                                            </p:graphicEl>
                                          </p:spTgt>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2" presetClass="entr" presetSubtype="4" fill="hold" grpId="0" nodeType="clickEffect">
                                  <p:stCondLst>
                                    <p:cond delay="0"/>
                                  </p:stCondLst>
                                  <p:childTnLst>
                                    <p:set>
                                      <p:cBhvr>
                                        <p:cTn id="89" dur="1" fill="hold">
                                          <p:stCondLst>
                                            <p:cond delay="0"/>
                                          </p:stCondLst>
                                        </p:cTn>
                                        <p:tgtEl>
                                          <p:spTgt spid="5">
                                            <p:graphicEl>
                                              <a:dgm id="{91F0E686-CB02-47C3-B132-64356D2CE30F}"/>
                                            </p:graphicEl>
                                          </p:spTgt>
                                        </p:tgtEl>
                                        <p:attrNameLst>
                                          <p:attrName>style.visibility</p:attrName>
                                        </p:attrNameLst>
                                      </p:cBhvr>
                                      <p:to>
                                        <p:strVal val="visible"/>
                                      </p:to>
                                    </p:set>
                                    <p:anim calcmode="lin" valueType="num">
                                      <p:cBhvr additive="base">
                                        <p:cTn id="90" dur="500" fill="hold"/>
                                        <p:tgtEl>
                                          <p:spTgt spid="5">
                                            <p:graphicEl>
                                              <a:dgm id="{91F0E686-CB02-47C3-B132-64356D2CE30F}"/>
                                            </p:graphicEl>
                                          </p:spTgt>
                                        </p:tgtEl>
                                        <p:attrNameLst>
                                          <p:attrName>ppt_x</p:attrName>
                                        </p:attrNameLst>
                                      </p:cBhvr>
                                      <p:tavLst>
                                        <p:tav tm="0">
                                          <p:val>
                                            <p:strVal val="#ppt_x"/>
                                          </p:val>
                                        </p:tav>
                                        <p:tav tm="100000">
                                          <p:val>
                                            <p:strVal val="#ppt_x"/>
                                          </p:val>
                                        </p:tav>
                                      </p:tavLst>
                                    </p:anim>
                                    <p:anim calcmode="lin" valueType="num">
                                      <p:cBhvr additive="base">
                                        <p:cTn id="91" dur="500" fill="hold"/>
                                        <p:tgtEl>
                                          <p:spTgt spid="5">
                                            <p:graphicEl>
                                              <a:dgm id="{91F0E686-CB02-47C3-B132-64356D2CE30F}"/>
                                            </p:graphicEl>
                                          </p:spTgt>
                                        </p:tgtEl>
                                        <p:attrNameLst>
                                          <p:attrName>ppt_y</p:attrName>
                                        </p:attrNameLst>
                                      </p:cBhvr>
                                      <p:tavLst>
                                        <p:tav tm="0">
                                          <p:val>
                                            <p:strVal val="1+#ppt_h/2"/>
                                          </p:val>
                                        </p:tav>
                                        <p:tav tm="100000">
                                          <p:val>
                                            <p:strVal val="#ppt_y"/>
                                          </p:val>
                                        </p:tav>
                                      </p:tavLst>
                                    </p:anim>
                                  </p:childTnLst>
                                </p:cTn>
                              </p:par>
                              <p:par>
                                <p:cTn id="92" presetID="2" presetClass="entr" presetSubtype="4" fill="hold" grpId="0" nodeType="withEffect">
                                  <p:stCondLst>
                                    <p:cond delay="0"/>
                                  </p:stCondLst>
                                  <p:childTnLst>
                                    <p:set>
                                      <p:cBhvr>
                                        <p:cTn id="93" dur="1" fill="hold">
                                          <p:stCondLst>
                                            <p:cond delay="0"/>
                                          </p:stCondLst>
                                        </p:cTn>
                                        <p:tgtEl>
                                          <p:spTgt spid="5">
                                            <p:graphicEl>
                                              <a:dgm id="{5C774FB7-832E-4D8C-8F29-1A2B3836EB18}"/>
                                            </p:graphicEl>
                                          </p:spTgt>
                                        </p:tgtEl>
                                        <p:attrNameLst>
                                          <p:attrName>style.visibility</p:attrName>
                                        </p:attrNameLst>
                                      </p:cBhvr>
                                      <p:to>
                                        <p:strVal val="visible"/>
                                      </p:to>
                                    </p:set>
                                    <p:anim calcmode="lin" valueType="num">
                                      <p:cBhvr additive="base">
                                        <p:cTn id="94" dur="500" fill="hold"/>
                                        <p:tgtEl>
                                          <p:spTgt spid="5">
                                            <p:graphicEl>
                                              <a:dgm id="{5C774FB7-832E-4D8C-8F29-1A2B3836EB18}"/>
                                            </p:graphicEl>
                                          </p:spTgt>
                                        </p:tgtEl>
                                        <p:attrNameLst>
                                          <p:attrName>ppt_x</p:attrName>
                                        </p:attrNameLst>
                                      </p:cBhvr>
                                      <p:tavLst>
                                        <p:tav tm="0">
                                          <p:val>
                                            <p:strVal val="#ppt_x"/>
                                          </p:val>
                                        </p:tav>
                                        <p:tav tm="100000">
                                          <p:val>
                                            <p:strVal val="#ppt_x"/>
                                          </p:val>
                                        </p:tav>
                                      </p:tavLst>
                                    </p:anim>
                                    <p:anim calcmode="lin" valueType="num">
                                      <p:cBhvr additive="base">
                                        <p:cTn id="95" dur="500" fill="hold"/>
                                        <p:tgtEl>
                                          <p:spTgt spid="5">
                                            <p:graphicEl>
                                              <a:dgm id="{5C774FB7-832E-4D8C-8F29-1A2B3836EB18}"/>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EDDB8ED-331D-44B8-AEE5-A6D2383FFD79}"/>
              </a:ext>
            </a:extLst>
          </p:cNvPr>
          <p:cNvSpPr>
            <a:spLocks noGrp="1"/>
          </p:cNvSpPr>
          <p:nvPr>
            <p:ph type="title"/>
          </p:nvPr>
        </p:nvSpPr>
        <p:spPr/>
        <p:txBody>
          <a:bodyPr/>
          <a:lstStyle/>
          <a:p>
            <a:r>
              <a:rPr lang="en-IN" dirty="0"/>
              <a:t>How to Determine the Residential Status of Individual? </a:t>
            </a:r>
          </a:p>
        </p:txBody>
      </p:sp>
      <p:graphicFrame>
        <p:nvGraphicFramePr>
          <p:cNvPr id="9" name="Diagram 8">
            <a:extLst>
              <a:ext uri="{FF2B5EF4-FFF2-40B4-BE49-F238E27FC236}">
                <a16:creationId xmlns:a16="http://schemas.microsoft.com/office/drawing/2014/main" id="{22D50934-85F4-4E46-9E0E-2A6E038D0F17}"/>
              </a:ext>
            </a:extLst>
          </p:cNvPr>
          <p:cNvGraphicFramePr/>
          <p:nvPr>
            <p:extLst>
              <p:ext uri="{D42A27DB-BD31-4B8C-83A1-F6EECF244321}">
                <p14:modId xmlns:p14="http://schemas.microsoft.com/office/powerpoint/2010/main" val="3565803450"/>
              </p:ext>
            </p:extLst>
          </p:nvPr>
        </p:nvGraphicFramePr>
        <p:xfrm>
          <a:off x="141983" y="913132"/>
          <a:ext cx="11929641" cy="55905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73674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graphicEl>
                                              <a:dgm id="{AE0D2DE3-AB66-4449-B037-0B52484D3464}"/>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graphicEl>
                                              <a:dgm id="{47DF7EC6-876B-42CF-8336-8F4A72AF203F}"/>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graphicEl>
                                              <a:dgm id="{214A8BE0-D20D-4A0C-A1B8-4030C6E56735}"/>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graphicEl>
                                              <a:dgm id="{C16F07EE-650B-4B2B-B258-D106F791BFFA}"/>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graphicEl>
                                              <a:dgm id="{3CC949C9-AF4D-49E6-AC3E-50D93A05AAF3}"/>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graphicEl>
                                              <a:dgm id="{A9DBD3E8-2207-4B57-BC9C-E309666AABA2}"/>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graphicEl>
                                              <a:dgm id="{62450B96-5570-4479-A12D-A3A8A04E06AA}"/>
                                            </p:graphic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graphicEl>
                                              <a:dgm id="{0278DCAA-81FA-4C66-BD99-85A9A04C9C90}"/>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graphicEl>
                                              <a:dgm id="{D36D722C-AAC9-4960-BC31-7BBE5F16A345}"/>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graphicEl>
                                              <a:dgm id="{2BF3CE7D-9D00-4E96-87B9-0215A021C7A2}"/>
                                            </p:graphic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
                                            <p:graphicEl>
                                              <a:dgm id="{2355E9DF-BF42-47F8-B1F7-D2F6C7C073ED}"/>
                                            </p:graphic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9">
                                            <p:graphicEl>
                                              <a:dgm id="{62AC6E0A-40E1-4CCF-8D4C-EFF0FC59CC1C}"/>
                                            </p:graphic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
                                            <p:graphicEl>
                                              <a:dgm id="{FC529527-9F96-4627-B4CF-8084C3890873}"/>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Sub>
          <a:bldDgm bld="one"/>
        </p:bldSub>
      </p:bldGraphic>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3064" y="231410"/>
            <a:ext cx="11825056" cy="5453270"/>
          </a:xfrm>
        </p:spPr>
        <p:txBody>
          <a:bodyPr>
            <a:normAutofit/>
          </a:bodyPr>
          <a:lstStyle/>
          <a:p>
            <a:pPr marL="0" indent="0">
              <a:buNone/>
            </a:pPr>
            <a:r>
              <a:rPr lang="en-US" sz="3200" b="1" dirty="0">
                <a:cs typeface="Times New Roman" panose="02020603050405020304" pitchFamily="18" charset="0"/>
              </a:rPr>
              <a:t>For Resident (Basic Conditions):</a:t>
            </a:r>
          </a:p>
          <a:p>
            <a:pPr algn="just"/>
            <a:r>
              <a:rPr lang="en-US" sz="2400" dirty="0">
                <a:cs typeface="Times New Roman" panose="02020603050405020304" pitchFamily="18" charset="0"/>
              </a:rPr>
              <a:t>An individual is said to be resident in India in any previous year, if he satisfies any one of the following conditions - </a:t>
            </a:r>
          </a:p>
          <a:p>
            <a:pPr lvl="1" algn="just"/>
            <a:r>
              <a:rPr lang="en-US" dirty="0">
                <a:cs typeface="Times New Roman" panose="02020603050405020304" pitchFamily="18" charset="0"/>
              </a:rPr>
              <a:t>He has been in India during the previous year for minimum 182 days, </a:t>
            </a:r>
          </a:p>
          <a:p>
            <a:pPr marL="457200" lvl="1" indent="0" algn="ctr">
              <a:buNone/>
            </a:pPr>
            <a:r>
              <a:rPr lang="en-US" b="1" dirty="0">
                <a:solidFill>
                  <a:srgbClr val="C00000"/>
                </a:solidFill>
                <a:cs typeface="Times New Roman" panose="02020603050405020304" pitchFamily="18" charset="0"/>
              </a:rPr>
              <a:t>OR</a:t>
            </a:r>
          </a:p>
          <a:p>
            <a:pPr lvl="1" algn="just"/>
            <a:r>
              <a:rPr lang="en-US" dirty="0">
                <a:cs typeface="Times New Roman" panose="02020603050405020304" pitchFamily="18" charset="0"/>
              </a:rPr>
              <a:t>He has been in India for minimum 365 days during the 4 years immediately preceding the previous year </a:t>
            </a:r>
            <a:r>
              <a:rPr lang="en-US" b="1" dirty="0">
                <a:cs typeface="Times New Roman" panose="02020603050405020304" pitchFamily="18" charset="0"/>
              </a:rPr>
              <a:t>AND</a:t>
            </a:r>
            <a:r>
              <a:rPr lang="en-US" dirty="0">
                <a:cs typeface="Times New Roman" panose="02020603050405020304" pitchFamily="18" charset="0"/>
              </a:rPr>
              <a:t> has been in India for minimum 60 days in the relevant previous year.</a:t>
            </a:r>
          </a:p>
        </p:txBody>
      </p:sp>
      <p:grpSp>
        <p:nvGrpSpPr>
          <p:cNvPr id="4" name="Group 3"/>
          <p:cNvGrpSpPr/>
          <p:nvPr/>
        </p:nvGrpSpPr>
        <p:grpSpPr>
          <a:xfrm>
            <a:off x="7200829" y="3871954"/>
            <a:ext cx="1028700" cy="1028700"/>
            <a:chOff x="4057649" y="1371600"/>
            <a:chExt cx="1028700" cy="1028700"/>
          </a:xfrm>
        </p:grpSpPr>
        <p:sp>
          <p:nvSpPr>
            <p:cNvPr id="14" name="Rounded Rectangle 1"/>
            <p:cNvSpPr/>
            <p:nvPr/>
          </p:nvSpPr>
          <p:spPr>
            <a:xfrm>
              <a:off x="4057649" y="1371600"/>
              <a:ext cx="1028700" cy="1028700"/>
            </a:xfrm>
            <a:custGeom>
              <a:avLst/>
              <a:gdLst/>
              <a:ahLst/>
              <a:cxnLst/>
              <a:rect l="0" t="0" r="0" b="0"/>
              <a:pathLst>
                <a:path w="1028700" h="1028700">
                  <a:moveTo>
                    <a:pt x="0" y="514350"/>
                  </a:moveTo>
                  <a:cubicBezTo>
                    <a:pt x="0" y="230282"/>
                    <a:pt x="230282" y="0"/>
                    <a:pt x="514350" y="0"/>
                  </a:cubicBezTo>
                  <a:cubicBezTo>
                    <a:pt x="798417" y="0"/>
                    <a:pt x="1028700" y="230282"/>
                    <a:pt x="1028700" y="514350"/>
                  </a:cubicBezTo>
                  <a:cubicBezTo>
                    <a:pt x="1028700" y="798417"/>
                    <a:pt x="798417" y="1028700"/>
                    <a:pt x="514350" y="1028700"/>
                  </a:cubicBezTo>
                  <a:cubicBezTo>
                    <a:pt x="230282" y="1028700"/>
                    <a:pt x="0" y="798417"/>
                    <a:pt x="0" y="514350"/>
                  </a:cubicBezTo>
                </a:path>
              </a:pathLst>
            </a:custGeom>
            <a:solidFill>
              <a:srgbClr val="E5575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5" name="Rounded Rectangle 2"/>
            <p:cNvSpPr/>
            <p:nvPr/>
          </p:nvSpPr>
          <p:spPr>
            <a:xfrm>
              <a:off x="4057649" y="1371600"/>
              <a:ext cx="1028700" cy="1028700"/>
            </a:xfrm>
            <a:custGeom>
              <a:avLst/>
              <a:gdLst/>
              <a:ahLst/>
              <a:cxnLst/>
              <a:rect l="0" t="0" r="0" b="0"/>
              <a:pathLst>
                <a:path w="1028700" h="1028700">
                  <a:moveTo>
                    <a:pt x="0" y="514350"/>
                  </a:moveTo>
                  <a:cubicBezTo>
                    <a:pt x="0" y="230282"/>
                    <a:pt x="230282" y="0"/>
                    <a:pt x="514350" y="0"/>
                  </a:cubicBezTo>
                  <a:cubicBezTo>
                    <a:pt x="798417" y="0"/>
                    <a:pt x="1028700" y="230282"/>
                    <a:pt x="1028700" y="514350"/>
                  </a:cubicBezTo>
                  <a:cubicBezTo>
                    <a:pt x="1028700" y="798417"/>
                    <a:pt x="798417" y="1028700"/>
                    <a:pt x="514350" y="1028700"/>
                  </a:cubicBezTo>
                  <a:cubicBezTo>
                    <a:pt x="230282" y="1028700"/>
                    <a:pt x="0" y="798417"/>
                    <a:pt x="0" y="514350"/>
                  </a:cubicBezTo>
                </a:path>
              </a:pathLst>
            </a:custGeom>
            <a:noFill/>
            <a:ln w="1428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5" name="Group 4"/>
          <p:cNvGrpSpPr/>
          <p:nvPr/>
        </p:nvGrpSpPr>
        <p:grpSpPr>
          <a:xfrm>
            <a:off x="4114729" y="3871954"/>
            <a:ext cx="1028700" cy="1028700"/>
            <a:chOff x="971549" y="1371600"/>
            <a:chExt cx="1028700" cy="1028700"/>
          </a:xfrm>
        </p:grpSpPr>
        <p:sp>
          <p:nvSpPr>
            <p:cNvPr id="12" name="Rounded Rectangle 4"/>
            <p:cNvSpPr/>
            <p:nvPr/>
          </p:nvSpPr>
          <p:spPr>
            <a:xfrm>
              <a:off x="971549" y="1371600"/>
              <a:ext cx="1028700" cy="1028700"/>
            </a:xfrm>
            <a:custGeom>
              <a:avLst/>
              <a:gdLst/>
              <a:ahLst/>
              <a:cxnLst/>
              <a:rect l="0" t="0" r="0" b="0"/>
              <a:pathLst>
                <a:path w="1028700" h="1028700">
                  <a:moveTo>
                    <a:pt x="0" y="514350"/>
                  </a:moveTo>
                  <a:cubicBezTo>
                    <a:pt x="0" y="230282"/>
                    <a:pt x="230282" y="0"/>
                    <a:pt x="514350" y="0"/>
                  </a:cubicBezTo>
                  <a:cubicBezTo>
                    <a:pt x="798417" y="0"/>
                    <a:pt x="1028700" y="230282"/>
                    <a:pt x="1028700" y="514350"/>
                  </a:cubicBezTo>
                  <a:cubicBezTo>
                    <a:pt x="1028700" y="798417"/>
                    <a:pt x="798417" y="1028700"/>
                    <a:pt x="514350" y="1028700"/>
                  </a:cubicBezTo>
                  <a:cubicBezTo>
                    <a:pt x="230282" y="1028700"/>
                    <a:pt x="0" y="798417"/>
                    <a:pt x="0" y="514350"/>
                  </a:cubicBezTo>
                </a:path>
              </a:pathLst>
            </a:custGeom>
            <a:solidFill>
              <a:srgbClr val="3CC58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3" name="Rounded Rectangle 5"/>
            <p:cNvSpPr/>
            <p:nvPr/>
          </p:nvSpPr>
          <p:spPr>
            <a:xfrm>
              <a:off x="971549" y="1371600"/>
              <a:ext cx="1028700" cy="1028700"/>
            </a:xfrm>
            <a:custGeom>
              <a:avLst/>
              <a:gdLst/>
              <a:ahLst/>
              <a:cxnLst/>
              <a:rect l="0" t="0" r="0" b="0"/>
              <a:pathLst>
                <a:path w="1028700" h="1028700">
                  <a:moveTo>
                    <a:pt x="0" y="514350"/>
                  </a:moveTo>
                  <a:cubicBezTo>
                    <a:pt x="0" y="230282"/>
                    <a:pt x="230282" y="0"/>
                    <a:pt x="514350" y="0"/>
                  </a:cubicBezTo>
                  <a:cubicBezTo>
                    <a:pt x="798417" y="0"/>
                    <a:pt x="1028700" y="230282"/>
                    <a:pt x="1028700" y="514350"/>
                  </a:cubicBezTo>
                  <a:cubicBezTo>
                    <a:pt x="1028700" y="798417"/>
                    <a:pt x="798417" y="1028700"/>
                    <a:pt x="514350" y="1028700"/>
                  </a:cubicBezTo>
                  <a:cubicBezTo>
                    <a:pt x="230282" y="1028700"/>
                    <a:pt x="0" y="798417"/>
                    <a:pt x="0" y="514350"/>
                  </a:cubicBezTo>
                </a:path>
              </a:pathLst>
            </a:custGeom>
            <a:noFill/>
            <a:ln w="1428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
        <p:nvSpPr>
          <p:cNvPr id="6" name="TextBox 8"/>
          <p:cNvSpPr txBox="1"/>
          <p:nvPr/>
        </p:nvSpPr>
        <p:spPr>
          <a:xfrm>
            <a:off x="4096985" y="4984890"/>
            <a:ext cx="1083631"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3CC583"/>
                </a:solidFill>
                <a:latin typeface="Roboto"/>
              </a:rPr>
              <a:t>Resident</a:t>
            </a:r>
          </a:p>
        </p:txBody>
      </p:sp>
      <p:sp>
        <p:nvSpPr>
          <p:cNvPr id="7" name="TextBox 9"/>
          <p:cNvSpPr txBox="1"/>
          <p:nvPr/>
        </p:nvSpPr>
        <p:spPr>
          <a:xfrm>
            <a:off x="6960578" y="4984890"/>
            <a:ext cx="1582164"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E55753"/>
                </a:solidFill>
                <a:latin typeface="Roboto"/>
              </a:rPr>
              <a:t>Non-resident</a:t>
            </a:r>
          </a:p>
        </p:txBody>
      </p:sp>
      <p:sp>
        <p:nvSpPr>
          <p:cNvPr id="8" name="TextBox 10"/>
          <p:cNvSpPr txBox="1"/>
          <p:nvPr/>
        </p:nvSpPr>
        <p:spPr>
          <a:xfrm>
            <a:off x="3403757" y="5376904"/>
            <a:ext cx="2579232" cy="615553"/>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0" dirty="0">
                <a:solidFill>
                  <a:srgbClr val="484848"/>
                </a:solidFill>
                <a:latin typeface="Roboto"/>
              </a:rPr>
              <a:t>Fulfills both or any one
conditions.</a:t>
            </a:r>
          </a:p>
        </p:txBody>
      </p:sp>
      <p:sp>
        <p:nvSpPr>
          <p:cNvPr id="9" name="TextBox 11"/>
          <p:cNvSpPr txBox="1"/>
          <p:nvPr/>
        </p:nvSpPr>
        <p:spPr>
          <a:xfrm>
            <a:off x="6704098" y="5376904"/>
            <a:ext cx="2095125" cy="615553"/>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0">
                <a:solidFill>
                  <a:srgbClr val="484848"/>
                </a:solidFill>
                <a:latin typeface="Roboto"/>
              </a:rPr>
              <a:t>Does not fulfill any
condition.</a:t>
            </a:r>
          </a:p>
        </p:txBody>
      </p:sp>
      <p:sp>
        <p:nvSpPr>
          <p:cNvPr id="10" name="Rounded Rectangle 12"/>
          <p:cNvSpPr/>
          <p:nvPr/>
        </p:nvSpPr>
        <p:spPr>
          <a:xfrm>
            <a:off x="4307554" y="4061454"/>
            <a:ext cx="643051" cy="646318"/>
          </a:xfrm>
          <a:custGeom>
            <a:avLst/>
            <a:gdLst/>
            <a:ahLst/>
            <a:cxnLst/>
            <a:rect l="0" t="0" r="0" b="0"/>
            <a:pathLst>
              <a:path w="643051" h="646318">
                <a:moveTo>
                  <a:pt x="643051" y="376284"/>
                </a:moveTo>
                <a:lnTo>
                  <a:pt x="643051" y="617743"/>
                </a:lnTo>
                <a:cubicBezTo>
                  <a:pt x="643051" y="633525"/>
                  <a:pt x="630258" y="646318"/>
                  <a:pt x="614476" y="646318"/>
                </a:cubicBezTo>
                <a:lnTo>
                  <a:pt x="341014" y="646318"/>
                </a:lnTo>
                <a:cubicBezTo>
                  <a:pt x="325232" y="646318"/>
                  <a:pt x="312439" y="633525"/>
                  <a:pt x="312439" y="617743"/>
                </a:cubicBezTo>
                <a:lnTo>
                  <a:pt x="312439" y="311991"/>
                </a:lnTo>
                <a:cubicBezTo>
                  <a:pt x="312439" y="296209"/>
                  <a:pt x="325232" y="283416"/>
                  <a:pt x="341014" y="283416"/>
                </a:cubicBezTo>
                <a:lnTo>
                  <a:pt x="545868" y="283416"/>
                </a:lnTo>
                <a:close/>
                <a:moveTo>
                  <a:pt x="411079" y="499043"/>
                </a:moveTo>
                <a:lnTo>
                  <a:pt x="458114" y="546106"/>
                </a:lnTo>
                <a:lnTo>
                  <a:pt x="545296" y="406631"/>
                </a:lnTo>
                <a:moveTo>
                  <a:pt x="214312" y="476297"/>
                </a:moveTo>
                <a:lnTo>
                  <a:pt x="128587" y="476297"/>
                </a:lnTo>
                <a:cubicBezTo>
                  <a:pt x="104915" y="476297"/>
                  <a:pt x="85725" y="457107"/>
                  <a:pt x="85725" y="433434"/>
                </a:cubicBezTo>
                <a:lnTo>
                  <a:pt x="85725" y="153399"/>
                </a:lnTo>
                <a:moveTo>
                  <a:pt x="0" y="225837"/>
                </a:moveTo>
                <a:lnTo>
                  <a:pt x="250917" y="13525"/>
                </a:lnTo>
                <a:cubicBezTo>
                  <a:pt x="266898" y="0"/>
                  <a:pt x="290313" y="0"/>
                  <a:pt x="306295" y="13525"/>
                </a:cubicBezTo>
                <a:lnTo>
                  <a:pt x="514464" y="189661"/>
                </a:lnTo>
                <a:moveTo>
                  <a:pt x="428625" y="114623"/>
                </a:moveTo>
                <a:lnTo>
                  <a:pt x="428625" y="11525"/>
                </a:lnTo>
                <a:lnTo>
                  <a:pt x="514350" y="11525"/>
                </a:lnTo>
                <a:lnTo>
                  <a:pt x="514350" y="189633"/>
                </a:lnTo>
              </a:path>
            </a:pathLst>
          </a:custGeom>
          <a:noFill/>
          <a:ln w="1428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1" name="Rounded Rectangle 14"/>
          <p:cNvSpPr/>
          <p:nvPr/>
        </p:nvSpPr>
        <p:spPr>
          <a:xfrm>
            <a:off x="7386567" y="4055747"/>
            <a:ext cx="657225" cy="659169"/>
          </a:xfrm>
          <a:custGeom>
            <a:avLst/>
            <a:gdLst/>
            <a:ahLst/>
            <a:cxnLst/>
            <a:rect l="0" t="0" r="0" b="0"/>
            <a:pathLst>
              <a:path w="657225" h="659169">
                <a:moveTo>
                  <a:pt x="657225" y="487719"/>
                </a:moveTo>
                <a:cubicBezTo>
                  <a:pt x="657225" y="582408"/>
                  <a:pt x="580464" y="659169"/>
                  <a:pt x="485775" y="659169"/>
                </a:cubicBezTo>
                <a:cubicBezTo>
                  <a:pt x="391085" y="659169"/>
                  <a:pt x="314325" y="582408"/>
                  <a:pt x="314325" y="487719"/>
                </a:cubicBezTo>
                <a:cubicBezTo>
                  <a:pt x="314325" y="393029"/>
                  <a:pt x="391085" y="316269"/>
                  <a:pt x="485775" y="316269"/>
                </a:cubicBezTo>
                <a:cubicBezTo>
                  <a:pt x="580464" y="316269"/>
                  <a:pt x="657225" y="393029"/>
                  <a:pt x="657225" y="487719"/>
                </a:cubicBezTo>
                <a:close/>
                <a:moveTo>
                  <a:pt x="425195" y="548298"/>
                </a:moveTo>
                <a:lnTo>
                  <a:pt x="546354" y="427140"/>
                </a:lnTo>
                <a:moveTo>
                  <a:pt x="425195" y="427140"/>
                </a:moveTo>
                <a:lnTo>
                  <a:pt x="546354" y="548298"/>
                </a:lnTo>
                <a:moveTo>
                  <a:pt x="257175" y="559156"/>
                </a:moveTo>
                <a:lnTo>
                  <a:pt x="128587" y="559156"/>
                </a:lnTo>
                <a:cubicBezTo>
                  <a:pt x="120696" y="559156"/>
                  <a:pt x="114300" y="552759"/>
                  <a:pt x="114300" y="544869"/>
                </a:cubicBezTo>
                <a:lnTo>
                  <a:pt x="114300" y="185395"/>
                </a:lnTo>
                <a:moveTo>
                  <a:pt x="542925" y="259119"/>
                </a:moveTo>
                <a:lnTo>
                  <a:pt x="542925" y="185395"/>
                </a:lnTo>
                <a:moveTo>
                  <a:pt x="0" y="287694"/>
                </a:moveTo>
                <a:lnTo>
                  <a:pt x="312324" y="8230"/>
                </a:lnTo>
                <a:cubicBezTo>
                  <a:pt x="321623" y="0"/>
                  <a:pt x="335601" y="0"/>
                  <a:pt x="344900" y="8230"/>
                </a:cubicBezTo>
                <a:lnTo>
                  <a:pt x="657225" y="287694"/>
                </a:lnTo>
                <a:moveTo>
                  <a:pt x="300037" y="144819"/>
                </a:moveTo>
                <a:cubicBezTo>
                  <a:pt x="285750" y="144819"/>
                  <a:pt x="285750" y="159106"/>
                  <a:pt x="285750" y="159106"/>
                </a:cubicBezTo>
                <a:lnTo>
                  <a:pt x="285750" y="216256"/>
                </a:lnTo>
                <a:cubicBezTo>
                  <a:pt x="285750" y="230544"/>
                  <a:pt x="300037" y="230544"/>
                  <a:pt x="300037" y="230544"/>
                </a:cubicBezTo>
                <a:lnTo>
                  <a:pt x="357187" y="230544"/>
                </a:lnTo>
                <a:cubicBezTo>
                  <a:pt x="371475" y="230544"/>
                  <a:pt x="371475" y="216256"/>
                  <a:pt x="371475" y="216256"/>
                </a:cubicBezTo>
                <a:lnTo>
                  <a:pt x="371475" y="159106"/>
                </a:lnTo>
                <a:cubicBezTo>
                  <a:pt x="371475" y="144819"/>
                  <a:pt x="357187" y="144819"/>
                  <a:pt x="357187" y="144819"/>
                </a:cubicBezTo>
                <a:lnTo>
                  <a:pt x="300037" y="144819"/>
                </a:lnTo>
              </a:path>
            </a:pathLst>
          </a:custGeom>
          <a:noFill/>
          <a:ln w="1428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Tree>
    <p:extLst>
      <p:ext uri="{BB962C8B-B14F-4D97-AF65-F5344CB8AC3E}">
        <p14:creationId xmlns:p14="http://schemas.microsoft.com/office/powerpoint/2010/main" val="23502912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AC8B8-1E50-4094-8A33-E509710DB85E}"/>
              </a:ext>
            </a:extLst>
          </p:cNvPr>
          <p:cNvSpPr>
            <a:spLocks noGrp="1"/>
          </p:cNvSpPr>
          <p:nvPr>
            <p:ph type="title"/>
          </p:nvPr>
        </p:nvSpPr>
        <p:spPr/>
        <p:txBody>
          <a:bodyPr>
            <a:normAutofit fontScale="90000"/>
          </a:bodyPr>
          <a:lstStyle/>
          <a:p>
            <a:r>
              <a:rPr lang="en-US" sz="3600" dirty="0"/>
              <a:t>Basic Conditions to Determine Residential Status of an Individual</a:t>
            </a:r>
            <a:endParaRPr lang="en-IN" dirty="0"/>
          </a:p>
        </p:txBody>
      </p:sp>
      <p:graphicFrame>
        <p:nvGraphicFramePr>
          <p:cNvPr id="4" name="Diagram 3">
            <a:extLst>
              <a:ext uri="{FF2B5EF4-FFF2-40B4-BE49-F238E27FC236}">
                <a16:creationId xmlns:a16="http://schemas.microsoft.com/office/drawing/2014/main" id="{77AFA921-2130-4EFD-9E62-50E0802647B7}"/>
              </a:ext>
            </a:extLst>
          </p:cNvPr>
          <p:cNvGraphicFramePr/>
          <p:nvPr>
            <p:extLst>
              <p:ext uri="{D42A27DB-BD31-4B8C-83A1-F6EECF244321}">
                <p14:modId xmlns:p14="http://schemas.microsoft.com/office/powerpoint/2010/main" val="644692429"/>
              </p:ext>
            </p:extLst>
          </p:nvPr>
        </p:nvGraphicFramePr>
        <p:xfrm>
          <a:off x="0" y="711201"/>
          <a:ext cx="11952969" cy="58865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12064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Graphic spid="4" grpId="0">
        <p:bldAsOne/>
      </p:bldGraphic>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38200" y="206730"/>
            <a:ext cx="10515600" cy="1951037"/>
          </a:xfrm>
        </p:spPr>
        <p:txBody>
          <a:bodyPr/>
          <a:lstStyle/>
          <a:p>
            <a:pPr marL="0" indent="0" algn="just">
              <a:buNone/>
            </a:pPr>
            <a:r>
              <a:rPr lang="en-US" b="1" dirty="0">
                <a:cs typeface="Times New Roman" panose="02020603050405020304" pitchFamily="18" charset="0"/>
              </a:rPr>
              <a:t>Example: 1 </a:t>
            </a:r>
            <a:r>
              <a:rPr lang="en-US" dirty="0">
                <a:cs typeface="Times New Roman" panose="02020603050405020304" pitchFamily="18" charset="0"/>
              </a:rPr>
              <a:t>Deepak is an Indian working in Dubai since 2017. He visits India every year for 90 days. In FY 2024-25, he stayed in India for 80 days.</a:t>
            </a:r>
          </a:p>
          <a:p>
            <a:pPr marL="0" indent="0">
              <a:lnSpc>
                <a:spcPct val="150000"/>
              </a:lnSpc>
              <a:buNone/>
            </a:pPr>
            <a:r>
              <a:rPr lang="en-US" sz="2400" b="1" dirty="0">
                <a:cs typeface="Times New Roman" panose="02020603050405020304" pitchFamily="18" charset="0"/>
              </a:rPr>
              <a:t>Days Stayed in India;</a:t>
            </a:r>
          </a:p>
          <a:p>
            <a:pPr marL="0" indent="0">
              <a:lnSpc>
                <a:spcPct val="150000"/>
              </a:lnSpc>
              <a:buNone/>
            </a:pPr>
            <a:endParaRPr lang="en-US" sz="2400" b="1" dirty="0">
              <a:cs typeface="Times New Roman" panose="02020603050405020304" pitchFamily="18" charset="0"/>
            </a:endParaRPr>
          </a:p>
          <a:p>
            <a:pPr marL="0" indent="0">
              <a:buNone/>
            </a:pPr>
            <a:endParaRPr lang="en-US" dirty="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2960135283"/>
              </p:ext>
            </p:extLst>
          </p:nvPr>
        </p:nvGraphicFramePr>
        <p:xfrm>
          <a:off x="1818481" y="2277281"/>
          <a:ext cx="8555038" cy="3566160"/>
        </p:xfrm>
        <a:graphic>
          <a:graphicData uri="http://schemas.openxmlformats.org/drawingml/2006/table">
            <a:tbl>
              <a:tblPr firstRow="1" bandRow="1">
                <a:tableStyleId>{073A0DAA-6AF3-43AB-8588-CEC1D06C72B9}</a:tableStyleId>
              </a:tblPr>
              <a:tblGrid>
                <a:gridCol w="2851679">
                  <a:extLst>
                    <a:ext uri="{9D8B030D-6E8A-4147-A177-3AD203B41FA5}">
                      <a16:colId xmlns:a16="http://schemas.microsoft.com/office/drawing/2014/main" val="20000"/>
                    </a:ext>
                  </a:extLst>
                </a:gridCol>
                <a:gridCol w="2274359">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370840">
                <a:tc>
                  <a:txBody>
                    <a:bodyPr/>
                    <a:lstStyle/>
                    <a:p>
                      <a:pPr algn="ctr"/>
                      <a:r>
                        <a:rPr lang="en-US" sz="2000" dirty="0"/>
                        <a:t>FY/PY</a:t>
                      </a:r>
                    </a:p>
                  </a:txBody>
                  <a:tcPr anchor="ctr"/>
                </a:tc>
                <a:tc>
                  <a:txBody>
                    <a:bodyPr/>
                    <a:lstStyle/>
                    <a:p>
                      <a:pPr algn="ctr"/>
                      <a:r>
                        <a:rPr lang="en-US" sz="2000" dirty="0"/>
                        <a:t>Days Stayed</a:t>
                      </a:r>
                    </a:p>
                  </a:txBody>
                  <a:tcPr anchor="ctr"/>
                </a:tc>
                <a:tc>
                  <a:txBody>
                    <a:bodyPr/>
                    <a:lstStyle/>
                    <a:p>
                      <a:pPr algn="ctr"/>
                      <a:r>
                        <a:rPr lang="en-US" sz="2000" dirty="0"/>
                        <a:t>Total Days Stayed</a:t>
                      </a:r>
                      <a:r>
                        <a:rPr lang="en-US" sz="2000" baseline="0" dirty="0"/>
                        <a:t> in India</a:t>
                      </a:r>
                      <a:endParaRPr lang="en-US" sz="2000" dirty="0"/>
                    </a:p>
                  </a:txBody>
                  <a:tcPr anchor="ctr"/>
                </a:tc>
                <a:extLst>
                  <a:ext uri="{0D108BD9-81ED-4DB2-BD59-A6C34878D82A}">
                    <a16:rowId xmlns:a16="http://schemas.microsoft.com/office/drawing/2014/main" val="10000"/>
                  </a:ext>
                </a:extLst>
              </a:tr>
              <a:tr h="370840">
                <a:tc>
                  <a:txBody>
                    <a:bodyPr/>
                    <a:lstStyle/>
                    <a:p>
                      <a:pPr algn="ctr"/>
                      <a:r>
                        <a:rPr lang="en-US" sz="2000" dirty="0"/>
                        <a:t>2017-’18</a:t>
                      </a:r>
                    </a:p>
                  </a:txBody>
                  <a:tcPr anchor="ctr"/>
                </a:tc>
                <a:tc>
                  <a:txBody>
                    <a:bodyPr/>
                    <a:lstStyle/>
                    <a:p>
                      <a:pPr algn="ctr"/>
                      <a:r>
                        <a:rPr lang="en-US" sz="2000" dirty="0"/>
                        <a:t>90</a:t>
                      </a:r>
                    </a:p>
                  </a:txBody>
                  <a:tcPr anchor="ctr"/>
                </a:tc>
                <a:tc>
                  <a:txBody>
                    <a:bodyPr/>
                    <a:lstStyle/>
                    <a:p>
                      <a:pPr algn="ctr"/>
                      <a:r>
                        <a:rPr lang="en-US" sz="2000" dirty="0"/>
                        <a:t>90</a:t>
                      </a:r>
                    </a:p>
                  </a:txBody>
                  <a:tcPr anchor="ctr"/>
                </a:tc>
                <a:extLst>
                  <a:ext uri="{0D108BD9-81ED-4DB2-BD59-A6C34878D82A}">
                    <a16:rowId xmlns:a16="http://schemas.microsoft.com/office/drawing/2014/main" val="10001"/>
                  </a:ext>
                </a:extLst>
              </a:tr>
              <a:tr h="370840">
                <a:tc>
                  <a:txBody>
                    <a:bodyPr/>
                    <a:lstStyle/>
                    <a:p>
                      <a:pPr algn="ctr"/>
                      <a:r>
                        <a:rPr lang="en-US" sz="2000" dirty="0"/>
                        <a:t>2018-’19</a:t>
                      </a:r>
                    </a:p>
                  </a:txBody>
                  <a:tcPr anchor="ctr"/>
                </a:tc>
                <a:tc>
                  <a:txBody>
                    <a:bodyPr/>
                    <a:lstStyle/>
                    <a:p>
                      <a:pPr algn="ctr"/>
                      <a:r>
                        <a:rPr lang="en-US" sz="2000" dirty="0"/>
                        <a:t>90</a:t>
                      </a:r>
                    </a:p>
                  </a:txBody>
                  <a:tcPr anchor="ctr"/>
                </a:tc>
                <a:tc>
                  <a:txBody>
                    <a:bodyPr/>
                    <a:lstStyle/>
                    <a:p>
                      <a:pPr algn="ctr"/>
                      <a:r>
                        <a:rPr lang="en-US" sz="2000" dirty="0"/>
                        <a:t>180</a:t>
                      </a:r>
                    </a:p>
                  </a:txBody>
                  <a:tcPr anchor="ctr"/>
                </a:tc>
                <a:extLst>
                  <a:ext uri="{0D108BD9-81ED-4DB2-BD59-A6C34878D82A}">
                    <a16:rowId xmlns:a16="http://schemas.microsoft.com/office/drawing/2014/main" val="10002"/>
                  </a:ext>
                </a:extLst>
              </a:tr>
              <a:tr h="370840">
                <a:tc>
                  <a:txBody>
                    <a:bodyPr/>
                    <a:lstStyle/>
                    <a:p>
                      <a:pPr algn="ctr"/>
                      <a:r>
                        <a:rPr lang="en-US" sz="2000" dirty="0"/>
                        <a:t>2019-’20</a:t>
                      </a:r>
                    </a:p>
                  </a:txBody>
                  <a:tcPr anchor="ctr"/>
                </a:tc>
                <a:tc>
                  <a:txBody>
                    <a:bodyPr/>
                    <a:lstStyle/>
                    <a:p>
                      <a:pPr algn="ctr"/>
                      <a:r>
                        <a:rPr lang="en-US" sz="2000" dirty="0"/>
                        <a:t>90</a:t>
                      </a:r>
                    </a:p>
                  </a:txBody>
                  <a:tcPr anchor="ctr"/>
                </a:tc>
                <a:tc>
                  <a:txBody>
                    <a:bodyPr/>
                    <a:lstStyle/>
                    <a:p>
                      <a:pPr algn="ctr"/>
                      <a:r>
                        <a:rPr lang="en-US" sz="2000" dirty="0"/>
                        <a:t>270</a:t>
                      </a:r>
                    </a:p>
                  </a:txBody>
                  <a:tcPr anchor="ctr"/>
                </a:tc>
                <a:extLst>
                  <a:ext uri="{0D108BD9-81ED-4DB2-BD59-A6C34878D82A}">
                    <a16:rowId xmlns:a16="http://schemas.microsoft.com/office/drawing/2014/main" val="10003"/>
                  </a:ext>
                </a:extLst>
              </a:tr>
              <a:tr h="370840">
                <a:tc>
                  <a:txBody>
                    <a:bodyPr/>
                    <a:lstStyle/>
                    <a:p>
                      <a:pPr algn="ctr"/>
                      <a:r>
                        <a:rPr lang="en-US" sz="2000" dirty="0"/>
                        <a:t>2020-’21</a:t>
                      </a:r>
                    </a:p>
                  </a:txBody>
                  <a:tcPr anchor="ctr"/>
                </a:tc>
                <a:tc>
                  <a:txBody>
                    <a:bodyPr/>
                    <a:lstStyle/>
                    <a:p>
                      <a:pPr algn="ctr"/>
                      <a:r>
                        <a:rPr lang="en-US" sz="2000" dirty="0"/>
                        <a:t>90</a:t>
                      </a:r>
                    </a:p>
                  </a:txBody>
                  <a:tcPr anchor="ctr"/>
                </a:tc>
                <a:tc>
                  <a:txBody>
                    <a:bodyPr/>
                    <a:lstStyle/>
                    <a:p>
                      <a:pPr algn="ctr"/>
                      <a:r>
                        <a:rPr lang="en-US" sz="2000" dirty="0"/>
                        <a:t>360</a:t>
                      </a:r>
                    </a:p>
                  </a:txBody>
                  <a:tcPr anchor="ctr"/>
                </a:tc>
                <a:extLst>
                  <a:ext uri="{0D108BD9-81ED-4DB2-BD59-A6C34878D82A}">
                    <a16:rowId xmlns:a16="http://schemas.microsoft.com/office/drawing/2014/main" val="10004"/>
                  </a:ext>
                </a:extLst>
              </a:tr>
              <a:tr h="370840">
                <a:tc>
                  <a:txBody>
                    <a:bodyPr/>
                    <a:lstStyle/>
                    <a:p>
                      <a:pPr algn="ctr"/>
                      <a:r>
                        <a:rPr lang="en-US" sz="2000" dirty="0"/>
                        <a:t>2021-’22</a:t>
                      </a:r>
                    </a:p>
                  </a:txBody>
                  <a:tcPr anchor="ctr"/>
                </a:tc>
                <a:tc>
                  <a:txBody>
                    <a:bodyPr/>
                    <a:lstStyle/>
                    <a:p>
                      <a:pPr algn="ctr"/>
                      <a:r>
                        <a:rPr lang="en-US" sz="2000" dirty="0"/>
                        <a:t>90</a:t>
                      </a:r>
                    </a:p>
                  </a:txBody>
                  <a:tcPr anchor="ctr"/>
                </a:tc>
                <a:tc>
                  <a:txBody>
                    <a:bodyPr/>
                    <a:lstStyle/>
                    <a:p>
                      <a:pPr algn="ctr"/>
                      <a:r>
                        <a:rPr lang="en-US" sz="2000" dirty="0"/>
                        <a:t>450</a:t>
                      </a:r>
                    </a:p>
                  </a:txBody>
                  <a:tcPr anchor="ctr"/>
                </a:tc>
                <a:extLst>
                  <a:ext uri="{0D108BD9-81ED-4DB2-BD59-A6C34878D82A}">
                    <a16:rowId xmlns:a16="http://schemas.microsoft.com/office/drawing/2014/main" val="10005"/>
                  </a:ext>
                </a:extLst>
              </a:tr>
              <a:tr h="370840">
                <a:tc>
                  <a:txBody>
                    <a:bodyPr/>
                    <a:lstStyle/>
                    <a:p>
                      <a:pPr algn="ctr"/>
                      <a:r>
                        <a:rPr lang="en-US" sz="2000" dirty="0"/>
                        <a:t>2022-’23</a:t>
                      </a:r>
                    </a:p>
                  </a:txBody>
                  <a:tcPr anchor="ctr"/>
                </a:tc>
                <a:tc>
                  <a:txBody>
                    <a:bodyPr/>
                    <a:lstStyle/>
                    <a:p>
                      <a:pPr algn="ctr"/>
                      <a:r>
                        <a:rPr lang="en-US" sz="2000" dirty="0"/>
                        <a:t>90</a:t>
                      </a:r>
                    </a:p>
                  </a:txBody>
                  <a:tcPr anchor="ctr"/>
                </a:tc>
                <a:tc>
                  <a:txBody>
                    <a:bodyPr/>
                    <a:lstStyle/>
                    <a:p>
                      <a:pPr algn="ctr"/>
                      <a:r>
                        <a:rPr lang="en-US" sz="2000" dirty="0"/>
                        <a:t>540</a:t>
                      </a:r>
                    </a:p>
                  </a:txBody>
                  <a:tcPr anchor="ctr"/>
                </a:tc>
                <a:extLst>
                  <a:ext uri="{0D108BD9-81ED-4DB2-BD59-A6C34878D82A}">
                    <a16:rowId xmlns:a16="http://schemas.microsoft.com/office/drawing/2014/main" val="10006"/>
                  </a:ext>
                </a:extLst>
              </a:tr>
              <a:tr h="370840">
                <a:tc>
                  <a:txBody>
                    <a:bodyPr/>
                    <a:lstStyle/>
                    <a:p>
                      <a:pPr algn="ctr"/>
                      <a:r>
                        <a:rPr lang="en-US" sz="2000" dirty="0"/>
                        <a:t>2023-’24</a:t>
                      </a:r>
                    </a:p>
                  </a:txBody>
                  <a:tcPr anchor="ctr"/>
                </a:tc>
                <a:tc>
                  <a:txBody>
                    <a:bodyPr/>
                    <a:lstStyle/>
                    <a:p>
                      <a:pPr algn="ctr"/>
                      <a:r>
                        <a:rPr lang="en-US" sz="2000" dirty="0"/>
                        <a:t>90</a:t>
                      </a:r>
                    </a:p>
                  </a:txBody>
                  <a:tcPr anchor="ctr"/>
                </a:tc>
                <a:tc>
                  <a:txBody>
                    <a:bodyPr/>
                    <a:lstStyle/>
                    <a:p>
                      <a:pPr algn="ctr"/>
                      <a:r>
                        <a:rPr lang="en-US" sz="2000" dirty="0"/>
                        <a:t>630</a:t>
                      </a:r>
                    </a:p>
                  </a:txBody>
                  <a:tcPr anchor="ctr"/>
                </a:tc>
                <a:extLst>
                  <a:ext uri="{0D108BD9-81ED-4DB2-BD59-A6C34878D82A}">
                    <a16:rowId xmlns:a16="http://schemas.microsoft.com/office/drawing/2014/main" val="10007"/>
                  </a:ext>
                </a:extLst>
              </a:tr>
              <a:tr h="370840">
                <a:tc>
                  <a:txBody>
                    <a:bodyPr/>
                    <a:lstStyle/>
                    <a:p>
                      <a:pPr algn="ctr"/>
                      <a:r>
                        <a:rPr lang="en-US" sz="2000" dirty="0"/>
                        <a:t>2024-’25</a:t>
                      </a:r>
                    </a:p>
                  </a:txBody>
                  <a:tcPr anchor="ctr"/>
                </a:tc>
                <a:tc>
                  <a:txBody>
                    <a:bodyPr/>
                    <a:lstStyle/>
                    <a:p>
                      <a:pPr algn="ctr"/>
                      <a:r>
                        <a:rPr lang="en-US" sz="2000" dirty="0"/>
                        <a:t>80</a:t>
                      </a:r>
                    </a:p>
                  </a:txBody>
                  <a:tcPr anchor="ctr"/>
                </a:tc>
                <a:tc>
                  <a:txBody>
                    <a:bodyPr/>
                    <a:lstStyle/>
                    <a:p>
                      <a:pPr algn="ctr"/>
                      <a:r>
                        <a:rPr lang="en-US" sz="2000" dirty="0"/>
                        <a:t>710</a:t>
                      </a:r>
                    </a:p>
                  </a:txBody>
                  <a:tcPr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5546877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47737" y="122238"/>
            <a:ext cx="10515600" cy="658812"/>
          </a:xfrm>
        </p:spPr>
        <p:txBody>
          <a:bodyPr/>
          <a:lstStyle/>
          <a:p>
            <a:pPr algn="just"/>
            <a:r>
              <a:rPr lang="en-US" sz="2800" b="1" dirty="0">
                <a:latin typeface="+mn-lt"/>
                <a:cs typeface="Times New Roman" panose="02020603050405020304" pitchFamily="18" charset="0"/>
              </a:rPr>
              <a:t>ANS:</a:t>
            </a:r>
            <a:endParaRPr lang="en-US" b="1" dirty="0">
              <a:latin typeface="+mn-lt"/>
              <a:cs typeface="Times New Roman" panose="02020603050405020304" pitchFamily="18" charset="0"/>
            </a:endParaRP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1660135143"/>
              </p:ext>
            </p:extLst>
          </p:nvPr>
        </p:nvGraphicFramePr>
        <p:xfrm>
          <a:off x="947737" y="860949"/>
          <a:ext cx="10515600" cy="3689352"/>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595847">
                <a:tc>
                  <a:txBody>
                    <a:bodyPr/>
                    <a:lstStyle/>
                    <a:p>
                      <a:pPr algn="ctr"/>
                      <a:r>
                        <a:rPr lang="en-US" sz="2000" dirty="0"/>
                        <a:t>Basic Conditions</a:t>
                      </a:r>
                    </a:p>
                  </a:txBody>
                  <a:tcPr anchor="ctr"/>
                </a:tc>
                <a:tc>
                  <a:txBody>
                    <a:bodyPr/>
                    <a:lstStyle/>
                    <a:p>
                      <a:pPr algn="ctr"/>
                      <a:r>
                        <a:rPr lang="en-US" sz="2000" dirty="0"/>
                        <a:t>In Actual</a:t>
                      </a:r>
                    </a:p>
                  </a:txBody>
                  <a:tcPr anchor="ctr"/>
                </a:tc>
                <a:tc>
                  <a:txBody>
                    <a:bodyPr/>
                    <a:lstStyle/>
                    <a:p>
                      <a:pPr algn="ctr"/>
                      <a:r>
                        <a:rPr lang="en-US" sz="2000" dirty="0"/>
                        <a:t>Result (Fulfillment)</a:t>
                      </a:r>
                    </a:p>
                  </a:txBody>
                  <a:tcPr anchor="ctr"/>
                </a:tc>
                <a:extLst>
                  <a:ext uri="{0D108BD9-81ED-4DB2-BD59-A6C34878D82A}">
                    <a16:rowId xmlns:a16="http://schemas.microsoft.com/office/drawing/2014/main" val="10000"/>
                  </a:ext>
                </a:extLst>
              </a:tr>
              <a:tr h="1028448">
                <a:tc>
                  <a:txBody>
                    <a:bodyPr/>
                    <a:lstStyle/>
                    <a:p>
                      <a:pPr algn="ctr"/>
                      <a:r>
                        <a:rPr lang="en-US" dirty="0"/>
                        <a:t>Must stay</a:t>
                      </a:r>
                      <a:r>
                        <a:rPr lang="en-US" baseline="0" dirty="0"/>
                        <a:t> of 182 Days or more in India during the FY.</a:t>
                      </a:r>
                      <a:endParaRPr lang="en-US" dirty="0"/>
                    </a:p>
                  </a:txBody>
                  <a:tcPr anchor="ctr"/>
                </a:tc>
                <a:tc>
                  <a:txBody>
                    <a:bodyPr/>
                    <a:lstStyle/>
                    <a:p>
                      <a:pPr algn="ctr"/>
                      <a:r>
                        <a:rPr lang="en-US" dirty="0"/>
                        <a:t>He</a:t>
                      </a:r>
                      <a:r>
                        <a:rPr lang="en-US" baseline="0" dirty="0"/>
                        <a:t> stayed only 80 days in India during FY 2024-’25 </a:t>
                      </a:r>
                      <a:endParaRPr lang="en-US" dirty="0"/>
                    </a:p>
                  </a:txBody>
                  <a:tcPr anchor="ctr"/>
                </a:tc>
                <a:tc>
                  <a:txBody>
                    <a:bodyPr/>
                    <a:lstStyle/>
                    <a:p>
                      <a:pPr algn="ctr"/>
                      <a:r>
                        <a:rPr lang="en-US" dirty="0"/>
                        <a:t>Condition not Fulfilled</a:t>
                      </a:r>
                    </a:p>
                  </a:txBody>
                  <a:tcPr anchor="ctr"/>
                </a:tc>
                <a:extLst>
                  <a:ext uri="{0D108BD9-81ED-4DB2-BD59-A6C34878D82A}">
                    <a16:rowId xmlns:a16="http://schemas.microsoft.com/office/drawing/2014/main" val="10001"/>
                  </a:ext>
                </a:extLst>
              </a:tr>
              <a:tr h="595847">
                <a:tc gridSpan="3">
                  <a:txBody>
                    <a:bodyPr/>
                    <a:lstStyle/>
                    <a:p>
                      <a:pPr algn="ctr"/>
                      <a:r>
                        <a:rPr lang="en-US" dirty="0"/>
                        <a:t>OR</a:t>
                      </a:r>
                    </a:p>
                  </a:txBody>
                  <a:tcPr anchor="ct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2"/>
                  </a:ext>
                </a:extLst>
              </a:tr>
              <a:tr h="1469210">
                <a:tc>
                  <a:txBody>
                    <a:bodyPr/>
                    <a:lstStyle/>
                    <a:p>
                      <a:pPr algn="ctr"/>
                      <a:r>
                        <a:rPr lang="en-US" dirty="0"/>
                        <a:t>Must stay of 60 days or more in India During the FY and 365 days or more in the 4</a:t>
                      </a:r>
                      <a:r>
                        <a:rPr lang="en-US" baseline="0" dirty="0"/>
                        <a:t> Preceding FY.</a:t>
                      </a:r>
                      <a:endParaRPr lang="en-US" dirty="0"/>
                    </a:p>
                  </a:txBody>
                  <a:tcPr anchor="ctr"/>
                </a:tc>
                <a:tc>
                  <a:txBody>
                    <a:bodyPr/>
                    <a:lstStyle/>
                    <a:p>
                      <a:pPr algn="ctr"/>
                      <a:r>
                        <a:rPr lang="en-US" dirty="0"/>
                        <a:t>He</a:t>
                      </a:r>
                      <a:r>
                        <a:rPr lang="en-US" baseline="0" dirty="0"/>
                        <a:t> stayed 80 days during FY 24-25 but in 4 preceding FY he stayed only for 360 days,</a:t>
                      </a:r>
                      <a:endParaRPr lang="en-US" dirty="0"/>
                    </a:p>
                  </a:txBody>
                  <a:tcPr anchor="ctr"/>
                </a:tc>
                <a:tc>
                  <a:txBody>
                    <a:bodyPr/>
                    <a:lstStyle/>
                    <a:p>
                      <a:pPr algn="ctr"/>
                      <a:r>
                        <a:rPr lang="en-US" dirty="0"/>
                        <a:t>Condition not Fulfilled.</a:t>
                      </a:r>
                    </a:p>
                  </a:txBody>
                  <a:tcPr anchor="ctr"/>
                </a:tc>
                <a:extLst>
                  <a:ext uri="{0D108BD9-81ED-4DB2-BD59-A6C34878D82A}">
                    <a16:rowId xmlns:a16="http://schemas.microsoft.com/office/drawing/2014/main" val="10003"/>
                  </a:ext>
                </a:extLst>
              </a:tr>
            </a:tbl>
          </a:graphicData>
        </a:graphic>
      </p:graphicFrame>
      <p:sp>
        <p:nvSpPr>
          <p:cNvPr id="5" name="Content Placeholder 2"/>
          <p:cNvSpPr txBox="1">
            <a:spLocks/>
          </p:cNvSpPr>
          <p:nvPr/>
        </p:nvSpPr>
        <p:spPr>
          <a:xfrm>
            <a:off x="838200" y="4470588"/>
            <a:ext cx="10406063" cy="12174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0050" indent="-400050" algn="just">
              <a:lnSpc>
                <a:spcPct val="150000"/>
              </a:lnSpc>
              <a:buFont typeface="Wingdings" panose="05000000000000000000" pitchFamily="2" charset="2"/>
              <a:buChar char="ü"/>
            </a:pPr>
            <a:r>
              <a:rPr lang="en-US" sz="2400" b="1" dirty="0">
                <a:cs typeface="Times New Roman" panose="02020603050405020304" pitchFamily="18" charset="0"/>
              </a:rPr>
              <a:t>Here Deepak has not Fulfilled any Basic Conditions, So we can say that Deepak is ‘Non-Resident’.</a:t>
            </a:r>
          </a:p>
          <a:p>
            <a:pPr marL="0" indent="0">
              <a:buFont typeface="Arial" panose="020B0604020202020204" pitchFamily="34" charset="0"/>
              <a:buNone/>
            </a:pPr>
            <a:endParaRPr lang="en-US" dirty="0">
              <a:cs typeface="Times New Roman" panose="02020603050405020304" pitchFamily="18" charset="0"/>
            </a:endParaRPr>
          </a:p>
        </p:txBody>
      </p:sp>
    </p:spTree>
    <p:extLst>
      <p:ext uri="{BB962C8B-B14F-4D97-AF65-F5344CB8AC3E}">
        <p14:creationId xmlns:p14="http://schemas.microsoft.com/office/powerpoint/2010/main" val="5228080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A91EF6-1933-92F7-4B8F-A62E16DD0BE7}"/>
              </a:ext>
            </a:extLst>
          </p:cNvPr>
          <p:cNvSpPr>
            <a:spLocks noGrp="1"/>
          </p:cNvSpPr>
          <p:nvPr>
            <p:ph idx="1"/>
          </p:nvPr>
        </p:nvSpPr>
        <p:spPr/>
        <p:txBody>
          <a:bodyPr/>
          <a:lstStyle/>
          <a:p>
            <a:r>
              <a:rPr lang="en-US" dirty="0">
                <a:cs typeface="Times New Roman" panose="02020603050405020304" pitchFamily="18" charset="0"/>
              </a:rPr>
              <a:t>Mr. Shyam, an Indian Citizen is employed in the Canada for the last 12 years. He returned to India and stayed for 185 Days in previous year. Determine, is he Resident or Non Resident of India for the assessment year 2025-26?</a:t>
            </a:r>
            <a:endParaRPr lang="en-US" dirty="0"/>
          </a:p>
        </p:txBody>
      </p:sp>
      <p:sp>
        <p:nvSpPr>
          <p:cNvPr id="3" name="Title 2">
            <a:extLst>
              <a:ext uri="{FF2B5EF4-FFF2-40B4-BE49-F238E27FC236}">
                <a16:creationId xmlns:a16="http://schemas.microsoft.com/office/drawing/2014/main" id="{878B4228-BFA9-7F51-B155-E615C3F56AE8}"/>
              </a:ext>
            </a:extLst>
          </p:cNvPr>
          <p:cNvSpPr>
            <a:spLocks noGrp="1"/>
          </p:cNvSpPr>
          <p:nvPr>
            <p:ph type="title"/>
          </p:nvPr>
        </p:nvSpPr>
        <p:spPr/>
        <p:txBody>
          <a:bodyPr/>
          <a:lstStyle/>
          <a:p>
            <a:r>
              <a:rPr lang="en-IN" dirty="0"/>
              <a:t>Example 2</a:t>
            </a:r>
            <a:endParaRPr lang="en-US" dirty="0"/>
          </a:p>
        </p:txBody>
      </p:sp>
    </p:spTree>
    <p:extLst>
      <p:ext uri="{BB962C8B-B14F-4D97-AF65-F5344CB8AC3E}">
        <p14:creationId xmlns:p14="http://schemas.microsoft.com/office/powerpoint/2010/main" val="33015632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 name="Table 47"/>
          <p:cNvGraphicFramePr>
            <a:graphicFrameLocks noGrp="1"/>
          </p:cNvGraphicFramePr>
          <p:nvPr>
            <p:extLst>
              <p:ext uri="{D42A27DB-BD31-4B8C-83A1-F6EECF244321}">
                <p14:modId xmlns:p14="http://schemas.microsoft.com/office/powerpoint/2010/main" val="2622900108"/>
              </p:ext>
            </p:extLst>
          </p:nvPr>
        </p:nvGraphicFramePr>
        <p:xfrm>
          <a:off x="246086" y="2948831"/>
          <a:ext cx="11650867" cy="640736"/>
        </p:xfrm>
        <a:graphic>
          <a:graphicData uri="http://schemas.openxmlformats.org/drawingml/2006/table">
            <a:tbl>
              <a:tblPr bandRow="1">
                <a:tableStyleId>{93296810-A885-4BE3-A3E7-6D5BEEA58F35}</a:tableStyleId>
              </a:tblPr>
              <a:tblGrid>
                <a:gridCol w="6568021">
                  <a:extLst>
                    <a:ext uri="{9D8B030D-6E8A-4147-A177-3AD203B41FA5}">
                      <a16:colId xmlns:a16="http://schemas.microsoft.com/office/drawing/2014/main" val="2837289582"/>
                    </a:ext>
                  </a:extLst>
                </a:gridCol>
                <a:gridCol w="2516053">
                  <a:extLst>
                    <a:ext uri="{9D8B030D-6E8A-4147-A177-3AD203B41FA5}">
                      <a16:colId xmlns:a16="http://schemas.microsoft.com/office/drawing/2014/main" val="3823530211"/>
                    </a:ext>
                  </a:extLst>
                </a:gridCol>
                <a:gridCol w="2566793">
                  <a:extLst>
                    <a:ext uri="{9D8B030D-6E8A-4147-A177-3AD203B41FA5}">
                      <a16:colId xmlns:a16="http://schemas.microsoft.com/office/drawing/2014/main" val="3984413072"/>
                    </a:ext>
                  </a:extLst>
                </a:gridCol>
              </a:tblGrid>
              <a:tr h="640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t>1) Stayed in India for </a:t>
                      </a:r>
                      <a:r>
                        <a:rPr lang="en-US" sz="2400" dirty="0"/>
                        <a:t>182 days or more during PY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t>PY. 2024-’25 </a:t>
                      </a:r>
                      <a:r>
                        <a:rPr lang="en-IN" sz="2400" b="1" dirty="0">
                          <a:solidFill>
                            <a:srgbClr val="C00000"/>
                          </a:solidFill>
                        </a:rPr>
                        <a:t>= 185</a:t>
                      </a:r>
                      <a:endParaRPr lang="en-IN"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t>Yes</a:t>
                      </a:r>
                      <a:endParaRPr lang="en-IN"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7448841"/>
                  </a:ext>
                </a:extLst>
              </a:tr>
            </a:tbl>
          </a:graphicData>
        </a:graphic>
      </p:graphicFrame>
      <p:sp>
        <p:nvSpPr>
          <p:cNvPr id="2" name="Title 1"/>
          <p:cNvSpPr>
            <a:spLocks noGrp="1"/>
          </p:cNvSpPr>
          <p:nvPr>
            <p:ph type="title"/>
          </p:nvPr>
        </p:nvSpPr>
        <p:spPr/>
        <p:txBody>
          <a:bodyPr/>
          <a:lstStyle/>
          <a:p>
            <a:r>
              <a:rPr lang="en-IN" dirty="0"/>
              <a:t>Answer</a:t>
            </a:r>
          </a:p>
        </p:txBody>
      </p:sp>
      <p:sp>
        <p:nvSpPr>
          <p:cNvPr id="4" name="Content Placeholder 2"/>
          <p:cNvSpPr txBox="1">
            <a:spLocks/>
          </p:cNvSpPr>
          <p:nvPr/>
        </p:nvSpPr>
        <p:spPr>
          <a:xfrm>
            <a:off x="2042467" y="1088812"/>
            <a:ext cx="1510962" cy="380524"/>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6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4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2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3" panose="05040102010807070707" pitchFamily="18" charset="2"/>
              <a:buNone/>
            </a:pPr>
            <a:endParaRPr lang="en-IN" sz="2000" b="1" dirty="0">
              <a:solidFill>
                <a:srgbClr val="C00000"/>
              </a:solidFill>
            </a:endParaRPr>
          </a:p>
        </p:txBody>
      </p:sp>
      <p:sp>
        <p:nvSpPr>
          <p:cNvPr id="6" name="Content Placeholder 2"/>
          <p:cNvSpPr txBox="1">
            <a:spLocks/>
          </p:cNvSpPr>
          <p:nvPr/>
        </p:nvSpPr>
        <p:spPr>
          <a:xfrm>
            <a:off x="175518" y="1525545"/>
            <a:ext cx="2843237" cy="32511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6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4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2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3" panose="05040102010807070707" pitchFamily="18" charset="2"/>
              <a:buNone/>
            </a:pPr>
            <a:r>
              <a:rPr lang="en-IN" sz="2000" dirty="0"/>
              <a:t>  </a:t>
            </a:r>
          </a:p>
        </p:txBody>
      </p:sp>
      <p:sp>
        <p:nvSpPr>
          <p:cNvPr id="7" name="Content Placeholder 2"/>
          <p:cNvSpPr txBox="1">
            <a:spLocks/>
          </p:cNvSpPr>
          <p:nvPr/>
        </p:nvSpPr>
        <p:spPr>
          <a:xfrm>
            <a:off x="2042465" y="1601269"/>
            <a:ext cx="1510962" cy="305596"/>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6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4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2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3" panose="05040102010807070707" pitchFamily="18" charset="2"/>
              <a:buNone/>
            </a:pPr>
            <a:endParaRPr lang="en-IN" sz="2000" b="1" dirty="0">
              <a:solidFill>
                <a:srgbClr val="C00000"/>
              </a:solidFill>
            </a:endParaRPr>
          </a:p>
        </p:txBody>
      </p:sp>
      <p:graphicFrame>
        <p:nvGraphicFramePr>
          <p:cNvPr id="11" name="Content Placeholder 3"/>
          <p:cNvGraphicFramePr>
            <a:graphicFrameLocks/>
          </p:cNvGraphicFramePr>
          <p:nvPr>
            <p:extLst>
              <p:ext uri="{D42A27DB-BD31-4B8C-83A1-F6EECF244321}">
                <p14:modId xmlns:p14="http://schemas.microsoft.com/office/powerpoint/2010/main" val="1322325305"/>
              </p:ext>
            </p:extLst>
          </p:nvPr>
        </p:nvGraphicFramePr>
        <p:xfrm>
          <a:off x="4829941" y="1045009"/>
          <a:ext cx="5116039" cy="457200"/>
        </p:xfrm>
        <a:graphic>
          <a:graphicData uri="http://schemas.openxmlformats.org/drawingml/2006/table">
            <a:tbl>
              <a:tblPr firstRow="1" bandRow="1">
                <a:tableStyleId>{1E171933-4619-4E11-9A3F-F7608DF75F80}</a:tableStyleId>
              </a:tblPr>
              <a:tblGrid>
                <a:gridCol w="2873016">
                  <a:extLst>
                    <a:ext uri="{9D8B030D-6E8A-4147-A177-3AD203B41FA5}">
                      <a16:colId xmlns:a16="http://schemas.microsoft.com/office/drawing/2014/main" val="3901577694"/>
                    </a:ext>
                  </a:extLst>
                </a:gridCol>
                <a:gridCol w="2243023">
                  <a:extLst>
                    <a:ext uri="{9D8B030D-6E8A-4147-A177-3AD203B41FA5}">
                      <a16:colId xmlns:a16="http://schemas.microsoft.com/office/drawing/2014/main" val="3985697907"/>
                    </a:ext>
                  </a:extLst>
                </a:gridCol>
              </a:tblGrid>
              <a:tr h="370840">
                <a:tc>
                  <a:txBody>
                    <a:bodyPr/>
                    <a:lstStyle/>
                    <a:p>
                      <a:pPr algn="ctr"/>
                      <a:r>
                        <a:rPr lang="en-US" sz="2400" dirty="0"/>
                        <a:t>Y</a:t>
                      </a:r>
                      <a:r>
                        <a:rPr lang="en-IN" sz="2400" dirty="0"/>
                        <a:t>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a:t>Stayed</a:t>
                      </a:r>
                      <a:r>
                        <a:rPr lang="en-IN" sz="2400" baseline="0" dirty="0"/>
                        <a:t> in India</a:t>
                      </a:r>
                      <a:endParaRPr lang="en-IN"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9939178"/>
                  </a:ext>
                </a:extLst>
              </a:tr>
            </a:tbl>
          </a:graphicData>
        </a:graphic>
      </p:graphicFrame>
      <p:graphicFrame>
        <p:nvGraphicFramePr>
          <p:cNvPr id="23" name="Table 22"/>
          <p:cNvGraphicFramePr>
            <a:graphicFrameLocks noGrp="1"/>
          </p:cNvGraphicFramePr>
          <p:nvPr>
            <p:extLst>
              <p:ext uri="{D42A27DB-BD31-4B8C-83A1-F6EECF244321}">
                <p14:modId xmlns:p14="http://schemas.microsoft.com/office/powerpoint/2010/main" val="1300438131"/>
              </p:ext>
            </p:extLst>
          </p:nvPr>
        </p:nvGraphicFramePr>
        <p:xfrm>
          <a:off x="246086" y="2314274"/>
          <a:ext cx="11650867" cy="640736"/>
        </p:xfrm>
        <a:graphic>
          <a:graphicData uri="http://schemas.openxmlformats.org/drawingml/2006/table">
            <a:tbl>
              <a:tblPr firstRow="1" bandRow="1">
                <a:tableStyleId>{93296810-A885-4BE3-A3E7-6D5BEEA58F35}</a:tableStyleId>
              </a:tblPr>
              <a:tblGrid>
                <a:gridCol w="6568021">
                  <a:extLst>
                    <a:ext uri="{9D8B030D-6E8A-4147-A177-3AD203B41FA5}">
                      <a16:colId xmlns:a16="http://schemas.microsoft.com/office/drawing/2014/main" val="3961777739"/>
                    </a:ext>
                  </a:extLst>
                </a:gridCol>
                <a:gridCol w="2534714">
                  <a:extLst>
                    <a:ext uri="{9D8B030D-6E8A-4147-A177-3AD203B41FA5}">
                      <a16:colId xmlns:a16="http://schemas.microsoft.com/office/drawing/2014/main" val="3625537817"/>
                    </a:ext>
                  </a:extLst>
                </a:gridCol>
                <a:gridCol w="2548132">
                  <a:extLst>
                    <a:ext uri="{9D8B030D-6E8A-4147-A177-3AD203B41FA5}">
                      <a16:colId xmlns:a16="http://schemas.microsoft.com/office/drawing/2014/main" val="2857441593"/>
                    </a:ext>
                  </a:extLst>
                </a:gridCol>
              </a:tblGrid>
              <a:tr h="6407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b="1" dirty="0">
                          <a:solidFill>
                            <a:schemeClr val="bg1"/>
                          </a:solidFill>
                        </a:rPr>
                        <a:t>Basic Conditions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b="1" dirty="0">
                          <a:solidFill>
                            <a:schemeClr val="bg1"/>
                          </a:solidFill>
                        </a:rPr>
                        <a:t>Stayed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b="1" dirty="0">
                          <a:solidFill>
                            <a:schemeClr val="bg1"/>
                          </a:solidFill>
                        </a:rPr>
                        <a:t>Is it satisfied?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5258555"/>
                  </a:ext>
                </a:extLst>
              </a:tr>
            </a:tbl>
          </a:graphicData>
        </a:graphic>
      </p:graphicFrame>
      <p:sp>
        <p:nvSpPr>
          <p:cNvPr id="25" name="Content Placeholder 2"/>
          <p:cNvSpPr txBox="1">
            <a:spLocks/>
          </p:cNvSpPr>
          <p:nvPr/>
        </p:nvSpPr>
        <p:spPr>
          <a:xfrm>
            <a:off x="246086" y="3774671"/>
            <a:ext cx="11834848" cy="179189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6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4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2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Mr. Shyam Sharma </a:t>
            </a:r>
            <a:r>
              <a:rPr lang="en-IN" sz="2400" b="1" dirty="0">
                <a:solidFill>
                  <a:srgbClr val="C00000"/>
                </a:solidFill>
              </a:rPr>
              <a:t>satisfies the first basic condition,</a:t>
            </a:r>
            <a:r>
              <a:rPr lang="en-IN" sz="2400" dirty="0"/>
              <a:t> means he is Resident of India and </a:t>
            </a:r>
          </a:p>
          <a:p>
            <a:r>
              <a:rPr lang="en-IN" sz="2400" dirty="0"/>
              <a:t>Therefore, there is need to check the additional conditions to determine his final </a:t>
            </a:r>
            <a:r>
              <a:rPr lang="en-IN" sz="2400" b="1" dirty="0">
                <a:solidFill>
                  <a:srgbClr val="C00000"/>
                </a:solidFill>
              </a:rPr>
              <a:t>Residential status </a:t>
            </a:r>
            <a:r>
              <a:rPr lang="en-IN" sz="2400" dirty="0"/>
              <a:t>as per the Income Tax Act, 1961. </a:t>
            </a:r>
          </a:p>
        </p:txBody>
      </p:sp>
      <p:graphicFrame>
        <p:nvGraphicFramePr>
          <p:cNvPr id="46" name="Table 45"/>
          <p:cNvGraphicFramePr>
            <a:graphicFrameLocks noGrp="1"/>
          </p:cNvGraphicFramePr>
          <p:nvPr>
            <p:extLst>
              <p:ext uri="{D42A27DB-BD31-4B8C-83A1-F6EECF244321}">
                <p14:modId xmlns:p14="http://schemas.microsoft.com/office/powerpoint/2010/main" val="255588794"/>
              </p:ext>
            </p:extLst>
          </p:nvPr>
        </p:nvGraphicFramePr>
        <p:xfrm>
          <a:off x="4839272" y="1519214"/>
          <a:ext cx="5106708" cy="457200"/>
        </p:xfrm>
        <a:graphic>
          <a:graphicData uri="http://schemas.openxmlformats.org/drawingml/2006/table">
            <a:tbl>
              <a:tblPr bandRow="1">
                <a:tableStyleId>{1E171933-4619-4E11-9A3F-F7608DF75F80}</a:tableStyleId>
              </a:tblPr>
              <a:tblGrid>
                <a:gridCol w="2867776">
                  <a:extLst>
                    <a:ext uri="{9D8B030D-6E8A-4147-A177-3AD203B41FA5}">
                      <a16:colId xmlns:a16="http://schemas.microsoft.com/office/drawing/2014/main" val="1822376042"/>
                    </a:ext>
                  </a:extLst>
                </a:gridCol>
                <a:gridCol w="2238932">
                  <a:extLst>
                    <a:ext uri="{9D8B030D-6E8A-4147-A177-3AD203B41FA5}">
                      <a16:colId xmlns:a16="http://schemas.microsoft.com/office/drawing/2014/main" val="3555394240"/>
                    </a:ext>
                  </a:extLst>
                </a:gridCol>
              </a:tblGrid>
              <a:tr h="370840">
                <a:tc>
                  <a:txBody>
                    <a:bodyPr/>
                    <a:lstStyle/>
                    <a:p>
                      <a:r>
                        <a:rPr lang="en-IN" sz="2400" dirty="0"/>
                        <a:t>1</a:t>
                      </a:r>
                      <a:r>
                        <a:rPr lang="en-IN" sz="2400" baseline="30000" dirty="0"/>
                        <a:t>st</a:t>
                      </a:r>
                      <a:r>
                        <a:rPr lang="en-IN" sz="2400" dirty="0"/>
                        <a:t> April</a:t>
                      </a:r>
                      <a:r>
                        <a:rPr lang="en-IN" sz="2400" baseline="0" dirty="0"/>
                        <a:t> to 31</a:t>
                      </a:r>
                      <a:r>
                        <a:rPr lang="en-IN" sz="2400" baseline="30000" dirty="0"/>
                        <a:t>th</a:t>
                      </a:r>
                      <a:r>
                        <a:rPr lang="en-IN" sz="2400" baseline="0" dirty="0"/>
                        <a:t> March</a:t>
                      </a:r>
                      <a:endParaRPr lang="en-IN"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dirty="0"/>
                        <a:t>185 Days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0927416"/>
                  </a:ext>
                </a:extLst>
              </a:tr>
            </a:tbl>
          </a:graphicData>
        </a:graphic>
      </p:graphicFrame>
      <p:sp>
        <p:nvSpPr>
          <p:cNvPr id="52" name="TextBox 51">
            <a:extLst>
              <a:ext uri="{FF2B5EF4-FFF2-40B4-BE49-F238E27FC236}">
                <a16:creationId xmlns:a16="http://schemas.microsoft.com/office/drawing/2014/main" id="{1A15BCC5-0259-4A66-8233-5599D99E8427}"/>
              </a:ext>
            </a:extLst>
          </p:cNvPr>
          <p:cNvSpPr txBox="1"/>
          <p:nvPr/>
        </p:nvSpPr>
        <p:spPr>
          <a:xfrm>
            <a:off x="175518" y="1088812"/>
            <a:ext cx="4265331" cy="830997"/>
          </a:xfrm>
          <a:prstGeom prst="rect">
            <a:avLst/>
          </a:prstGeom>
          <a:noFill/>
        </p:spPr>
        <p:txBody>
          <a:bodyPr wrap="square">
            <a:spAutoFit/>
          </a:bodyPr>
          <a:lstStyle/>
          <a:p>
            <a:r>
              <a:rPr lang="en-IN" sz="2400" dirty="0"/>
              <a:t>Assessment Year: </a:t>
            </a:r>
            <a:r>
              <a:rPr lang="en-IN" sz="2400" b="1" dirty="0">
                <a:solidFill>
                  <a:srgbClr val="C00000"/>
                </a:solidFill>
              </a:rPr>
              <a:t>2025-’26</a:t>
            </a:r>
          </a:p>
          <a:p>
            <a:r>
              <a:rPr lang="en-IN" sz="2400" dirty="0"/>
              <a:t>Previous Year: </a:t>
            </a:r>
            <a:r>
              <a:rPr lang="en-IN" sz="2400" b="1" dirty="0">
                <a:solidFill>
                  <a:srgbClr val="C00000"/>
                </a:solidFill>
              </a:rPr>
              <a:t>2024-’25</a:t>
            </a:r>
          </a:p>
        </p:txBody>
      </p:sp>
    </p:spTree>
    <p:extLst>
      <p:ext uri="{BB962C8B-B14F-4D97-AF65-F5344CB8AC3E}">
        <p14:creationId xmlns:p14="http://schemas.microsoft.com/office/powerpoint/2010/main" val="3343586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nodePh="1">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0-#ppt_w/2"/>
                                          </p:val>
                                        </p:tav>
                                        <p:tav tm="100000">
                                          <p:val>
                                            <p:strVal val="#ppt_x"/>
                                          </p:val>
                                        </p:tav>
                                      </p:tavLst>
                                    </p:anim>
                                    <p:anim calcmode="lin" valueType="num">
                                      <p:cBhvr additive="base">
                                        <p:cTn id="2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46"/>
                                        </p:tgtEl>
                                        <p:attrNameLst>
                                          <p:attrName>style.visibility</p:attrName>
                                        </p:attrNameLst>
                                      </p:cBhvr>
                                      <p:to>
                                        <p:strVal val="visible"/>
                                      </p:to>
                                    </p:set>
                                    <p:anim calcmode="lin" valueType="num">
                                      <p:cBhvr additive="base">
                                        <p:cTn id="29" dur="500" fill="hold"/>
                                        <p:tgtEl>
                                          <p:spTgt spid="46"/>
                                        </p:tgtEl>
                                        <p:attrNameLst>
                                          <p:attrName>ppt_x</p:attrName>
                                        </p:attrNameLst>
                                      </p:cBhvr>
                                      <p:tavLst>
                                        <p:tav tm="0">
                                          <p:val>
                                            <p:strVal val="0-#ppt_w/2"/>
                                          </p:val>
                                        </p:tav>
                                        <p:tav tm="100000">
                                          <p:val>
                                            <p:strVal val="#ppt_x"/>
                                          </p:val>
                                        </p:tav>
                                      </p:tavLst>
                                    </p:anim>
                                    <p:anim calcmode="lin" valueType="num">
                                      <p:cBhvr additive="base">
                                        <p:cTn id="30" dur="5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5">
                                            <p:txEl>
                                              <p:pRg st="0" end="0"/>
                                            </p:txEl>
                                          </p:spTgt>
                                        </p:tgtEl>
                                        <p:attrNameLst>
                                          <p:attrName>style.visibility</p:attrName>
                                        </p:attrNameLst>
                                      </p:cBhvr>
                                      <p:to>
                                        <p:strVal val="visible"/>
                                      </p:to>
                                    </p:set>
                                    <p:animEffect transition="in" filter="fade">
                                      <p:cBhvr>
                                        <p:cTn id="35" dur="500"/>
                                        <p:tgtEl>
                                          <p:spTgt spid="25">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23"/>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48"/>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5">
                                            <p:txEl>
                                              <p:pRg st="1" end="1"/>
                                            </p:txEl>
                                          </p:spTgt>
                                        </p:tgtEl>
                                        <p:attrNameLst>
                                          <p:attrName>style.visibility</p:attrName>
                                        </p:attrNameLst>
                                      </p:cBhvr>
                                      <p:to>
                                        <p:strVal val="visible"/>
                                      </p:to>
                                    </p:set>
                                    <p:animEffect transition="in" filter="fade">
                                      <p:cBhvr>
                                        <p:cTn id="48" dur="500"/>
                                        <p:tgtEl>
                                          <p:spTgt spid="2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25" grpId="0" uiExpand="1" build="p"/>
      <p:bldP spid="5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IN" sz="2400" dirty="0">
                <a:cs typeface="Times New Roman" panose="02020603050405020304" pitchFamily="18" charset="0"/>
              </a:rPr>
              <a:t>An individual shall be termed as </a:t>
            </a:r>
            <a:r>
              <a:rPr lang="en-IN" sz="2400" b="1" dirty="0">
                <a:cs typeface="Times New Roman" panose="02020603050405020304" pitchFamily="18" charset="0"/>
              </a:rPr>
              <a:t>“Resident and ordinary resident (ROR)” </a:t>
            </a:r>
            <a:r>
              <a:rPr lang="en-IN" sz="2400" dirty="0">
                <a:cs typeface="Times New Roman" panose="02020603050405020304" pitchFamily="18" charset="0"/>
              </a:rPr>
              <a:t>if he satisfies the following additional conditions:</a:t>
            </a:r>
          </a:p>
          <a:p>
            <a:pPr lvl="1" algn="just"/>
            <a:r>
              <a:rPr lang="en-IN" dirty="0">
                <a:cs typeface="Times New Roman" panose="02020603050405020304" pitchFamily="18" charset="0"/>
              </a:rPr>
              <a:t>He is resident in India for </a:t>
            </a:r>
            <a:r>
              <a:rPr lang="en-IN" b="1" dirty="0">
                <a:cs typeface="Times New Roman" panose="02020603050405020304" pitchFamily="18" charset="0"/>
              </a:rPr>
              <a:t>minimum 2 years </a:t>
            </a:r>
            <a:r>
              <a:rPr lang="en-IN" dirty="0">
                <a:cs typeface="Times New Roman" panose="02020603050405020304" pitchFamily="18" charset="0"/>
              </a:rPr>
              <a:t>out of the </a:t>
            </a:r>
            <a:r>
              <a:rPr lang="en-IN" b="1" dirty="0">
                <a:cs typeface="Times New Roman" panose="02020603050405020304" pitchFamily="18" charset="0"/>
              </a:rPr>
              <a:t>10 years </a:t>
            </a:r>
            <a:r>
              <a:rPr lang="en-IN" dirty="0">
                <a:cs typeface="Times New Roman" panose="02020603050405020304" pitchFamily="18" charset="0"/>
              </a:rPr>
              <a:t>preceding the relevant previous year; </a:t>
            </a:r>
            <a:r>
              <a:rPr lang="en-IN" b="1" dirty="0">
                <a:cs typeface="Times New Roman" panose="02020603050405020304" pitchFamily="18" charset="0"/>
              </a:rPr>
              <a:t>AND</a:t>
            </a:r>
          </a:p>
          <a:p>
            <a:pPr lvl="1" algn="just"/>
            <a:r>
              <a:rPr lang="en-IN" dirty="0">
                <a:cs typeface="Times New Roman" panose="02020603050405020304" pitchFamily="18" charset="0"/>
              </a:rPr>
              <a:t>He has been in India for a </a:t>
            </a:r>
            <a:r>
              <a:rPr lang="en-IN" b="1" dirty="0">
                <a:cs typeface="Times New Roman" panose="02020603050405020304" pitchFamily="18" charset="0"/>
              </a:rPr>
              <a:t>minimum period of 730 days </a:t>
            </a:r>
            <a:r>
              <a:rPr lang="en-IN" dirty="0">
                <a:cs typeface="Times New Roman" panose="02020603050405020304" pitchFamily="18" charset="0"/>
              </a:rPr>
              <a:t>in the </a:t>
            </a:r>
            <a:r>
              <a:rPr lang="en-IN" b="1" dirty="0">
                <a:cs typeface="Times New Roman" panose="02020603050405020304" pitchFamily="18" charset="0"/>
              </a:rPr>
              <a:t>7 years </a:t>
            </a:r>
            <a:r>
              <a:rPr lang="en-IN" dirty="0">
                <a:cs typeface="Times New Roman" panose="02020603050405020304" pitchFamily="18" charset="0"/>
              </a:rPr>
              <a:t>preceding the relevant previous year.</a:t>
            </a:r>
          </a:p>
          <a:p>
            <a:pPr marL="0" indent="0" algn="just">
              <a:buNone/>
            </a:pPr>
            <a:endParaRPr lang="en-US" sz="2400" dirty="0">
              <a:cs typeface="Times New Roman" panose="02020603050405020304" pitchFamily="18" charset="0"/>
            </a:endParaRPr>
          </a:p>
        </p:txBody>
      </p:sp>
      <p:sp>
        <p:nvSpPr>
          <p:cNvPr id="2" name="Title 1">
            <a:extLst>
              <a:ext uri="{FF2B5EF4-FFF2-40B4-BE49-F238E27FC236}">
                <a16:creationId xmlns:a16="http://schemas.microsoft.com/office/drawing/2014/main" id="{8A9376FC-B78E-4123-51B9-ABF9BC85BE32}"/>
              </a:ext>
            </a:extLst>
          </p:cNvPr>
          <p:cNvSpPr>
            <a:spLocks noGrp="1"/>
          </p:cNvSpPr>
          <p:nvPr>
            <p:ph type="title"/>
          </p:nvPr>
        </p:nvSpPr>
        <p:spPr/>
        <p:txBody>
          <a:bodyPr/>
          <a:lstStyle/>
          <a:p>
            <a:r>
              <a:rPr lang="en-US" sz="3600" dirty="0">
                <a:cs typeface="Times New Roman" panose="02020603050405020304" pitchFamily="18" charset="0"/>
              </a:rPr>
              <a:t>For Resident</a:t>
            </a:r>
            <a:r>
              <a:rPr lang="en-IN" sz="3600" dirty="0">
                <a:cs typeface="Times New Roman" panose="02020603050405020304" pitchFamily="18" charset="0"/>
              </a:rPr>
              <a:t> and Ordinary Resident</a:t>
            </a:r>
            <a:r>
              <a:rPr lang="en-US" sz="3600" dirty="0">
                <a:cs typeface="Times New Roman" panose="02020603050405020304" pitchFamily="18" charset="0"/>
              </a:rPr>
              <a:t> (Additional Conditions)</a:t>
            </a:r>
            <a:endParaRPr lang="en-US" dirty="0"/>
          </a:p>
        </p:txBody>
      </p:sp>
    </p:spTree>
    <p:extLst>
      <p:ext uri="{BB962C8B-B14F-4D97-AF65-F5344CB8AC3E}">
        <p14:creationId xmlns:p14="http://schemas.microsoft.com/office/powerpoint/2010/main" val="6893951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dirty="0">
                <a:cs typeface="Times New Roman" panose="02020603050405020304" pitchFamily="18" charset="0"/>
              </a:rPr>
              <a:t>Pooja was in the US for 3 years. She returned to India on 1st July 2024 and stayed till 31st March 2025.</a:t>
            </a:r>
          </a:p>
          <a:p>
            <a:pPr marL="0" indent="0" algn="just">
              <a:buNone/>
            </a:pPr>
            <a:r>
              <a:rPr lang="en-US" sz="2400" b="1" dirty="0">
                <a:cs typeface="Times New Roman" panose="02020603050405020304" pitchFamily="18" charset="0"/>
              </a:rPr>
              <a:t>Days Stayed in India;</a:t>
            </a:r>
          </a:p>
          <a:p>
            <a:pPr marL="0" indent="0">
              <a:lnSpc>
                <a:spcPct val="150000"/>
              </a:lnSpc>
              <a:buNone/>
            </a:pPr>
            <a:endParaRPr lang="en-US" sz="2400" b="1" dirty="0">
              <a:cs typeface="Times New Roman" panose="02020603050405020304" pitchFamily="18" charset="0"/>
            </a:endParaRPr>
          </a:p>
          <a:p>
            <a:pPr marL="0" indent="0">
              <a:buNone/>
            </a:pPr>
            <a:endParaRPr lang="en-US" dirty="0">
              <a:cs typeface="Times New Roman" panose="02020603050405020304" pitchFamily="18" charset="0"/>
            </a:endParaRPr>
          </a:p>
        </p:txBody>
      </p:sp>
      <p:sp>
        <p:nvSpPr>
          <p:cNvPr id="4" name="Title 3"/>
          <p:cNvSpPr>
            <a:spLocks noGrp="1"/>
          </p:cNvSpPr>
          <p:nvPr>
            <p:ph type="title"/>
          </p:nvPr>
        </p:nvSpPr>
        <p:spPr/>
        <p:txBody>
          <a:bodyPr>
            <a:normAutofit fontScale="90000"/>
          </a:bodyPr>
          <a:lstStyle/>
          <a:p>
            <a:r>
              <a:rPr lang="en-US" sz="4000" b="1" dirty="0">
                <a:cs typeface="Times New Roman" panose="02020603050405020304" pitchFamily="18" charset="0"/>
              </a:rPr>
              <a:t>Example 3</a:t>
            </a:r>
          </a:p>
        </p:txBody>
      </p:sp>
      <p:graphicFrame>
        <p:nvGraphicFramePr>
          <p:cNvPr id="5" name="Table 4"/>
          <p:cNvGraphicFramePr>
            <a:graphicFrameLocks noGrp="1"/>
          </p:cNvGraphicFramePr>
          <p:nvPr>
            <p:extLst>
              <p:ext uri="{D42A27DB-BD31-4B8C-83A1-F6EECF244321}">
                <p14:modId xmlns:p14="http://schemas.microsoft.com/office/powerpoint/2010/main" val="1826803910"/>
              </p:ext>
            </p:extLst>
          </p:nvPr>
        </p:nvGraphicFramePr>
        <p:xfrm>
          <a:off x="1818481" y="2224998"/>
          <a:ext cx="8555038" cy="3962400"/>
        </p:xfrm>
        <a:graphic>
          <a:graphicData uri="http://schemas.openxmlformats.org/drawingml/2006/table">
            <a:tbl>
              <a:tblPr firstRow="1" bandRow="1">
                <a:tableStyleId>{F5AB1C69-6EDB-4FF4-983F-18BD219EF322}</a:tableStyleId>
              </a:tblPr>
              <a:tblGrid>
                <a:gridCol w="2851679">
                  <a:extLst>
                    <a:ext uri="{9D8B030D-6E8A-4147-A177-3AD203B41FA5}">
                      <a16:colId xmlns:a16="http://schemas.microsoft.com/office/drawing/2014/main" val="20000"/>
                    </a:ext>
                  </a:extLst>
                </a:gridCol>
                <a:gridCol w="2274359">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370840">
                <a:tc>
                  <a:txBody>
                    <a:bodyPr/>
                    <a:lstStyle/>
                    <a:p>
                      <a:pPr algn="ctr"/>
                      <a:r>
                        <a:rPr lang="en-US" sz="2000" dirty="0"/>
                        <a:t>FY/PY</a:t>
                      </a:r>
                    </a:p>
                  </a:txBody>
                  <a:tcPr anchor="ctr"/>
                </a:tc>
                <a:tc>
                  <a:txBody>
                    <a:bodyPr/>
                    <a:lstStyle/>
                    <a:p>
                      <a:pPr algn="ctr"/>
                      <a:r>
                        <a:rPr lang="en-US" sz="2000" dirty="0"/>
                        <a:t>Days Stayed</a:t>
                      </a:r>
                    </a:p>
                  </a:txBody>
                  <a:tcPr anchor="ctr"/>
                </a:tc>
                <a:tc>
                  <a:txBody>
                    <a:bodyPr/>
                    <a:lstStyle/>
                    <a:p>
                      <a:pPr algn="ctr"/>
                      <a:r>
                        <a:rPr lang="en-US" sz="2000" dirty="0"/>
                        <a:t>Total Days Stayed</a:t>
                      </a:r>
                      <a:r>
                        <a:rPr lang="en-US" sz="2000" baseline="0" dirty="0"/>
                        <a:t> in India</a:t>
                      </a:r>
                      <a:endParaRPr lang="en-US" sz="2000" dirty="0"/>
                    </a:p>
                  </a:txBody>
                  <a:tcPr anchor="ctr"/>
                </a:tc>
                <a:extLst>
                  <a:ext uri="{0D108BD9-81ED-4DB2-BD59-A6C34878D82A}">
                    <a16:rowId xmlns:a16="http://schemas.microsoft.com/office/drawing/2014/main" val="10000"/>
                  </a:ext>
                </a:extLst>
              </a:tr>
              <a:tr h="370840">
                <a:tc>
                  <a:txBody>
                    <a:bodyPr/>
                    <a:lstStyle/>
                    <a:p>
                      <a:pPr algn="ctr"/>
                      <a:r>
                        <a:rPr lang="en-US" sz="2000" dirty="0"/>
                        <a:t>July</a:t>
                      </a:r>
                      <a:r>
                        <a:rPr lang="en-US" sz="2000" baseline="0" dirty="0"/>
                        <a:t> 2024</a:t>
                      </a:r>
                      <a:endParaRPr lang="en-US" sz="2000" dirty="0"/>
                    </a:p>
                  </a:txBody>
                  <a:tcPr anchor="ctr"/>
                </a:tc>
                <a:tc>
                  <a:txBody>
                    <a:bodyPr/>
                    <a:lstStyle/>
                    <a:p>
                      <a:pPr algn="ctr"/>
                      <a:r>
                        <a:rPr lang="en-US" sz="2000" dirty="0"/>
                        <a:t>31</a:t>
                      </a:r>
                    </a:p>
                  </a:txBody>
                  <a:tcPr anchor="ctr"/>
                </a:tc>
                <a:tc>
                  <a:txBody>
                    <a:bodyPr/>
                    <a:lstStyle/>
                    <a:p>
                      <a:pPr algn="ctr"/>
                      <a:r>
                        <a:rPr lang="en-US" sz="2000" dirty="0"/>
                        <a:t>31</a:t>
                      </a:r>
                    </a:p>
                  </a:txBody>
                  <a:tcPr anchor="ctr"/>
                </a:tc>
                <a:extLst>
                  <a:ext uri="{0D108BD9-81ED-4DB2-BD59-A6C34878D82A}">
                    <a16:rowId xmlns:a16="http://schemas.microsoft.com/office/drawing/2014/main" val="10001"/>
                  </a:ext>
                </a:extLst>
              </a:tr>
              <a:tr h="370840">
                <a:tc>
                  <a:txBody>
                    <a:bodyPr/>
                    <a:lstStyle/>
                    <a:p>
                      <a:pPr algn="ctr"/>
                      <a:r>
                        <a:rPr lang="en-US" sz="2000" dirty="0"/>
                        <a:t>August</a:t>
                      </a:r>
                      <a:r>
                        <a:rPr lang="en-US" sz="2000" baseline="0" dirty="0"/>
                        <a:t> 2024</a:t>
                      </a:r>
                      <a:endParaRPr lang="en-US" sz="2000" dirty="0"/>
                    </a:p>
                  </a:txBody>
                  <a:tcPr anchor="ctr"/>
                </a:tc>
                <a:tc>
                  <a:txBody>
                    <a:bodyPr/>
                    <a:lstStyle/>
                    <a:p>
                      <a:pPr algn="ctr"/>
                      <a:r>
                        <a:rPr lang="en-US" sz="2000" dirty="0"/>
                        <a:t>31</a:t>
                      </a:r>
                    </a:p>
                  </a:txBody>
                  <a:tcPr anchor="ctr"/>
                </a:tc>
                <a:tc>
                  <a:txBody>
                    <a:bodyPr/>
                    <a:lstStyle/>
                    <a:p>
                      <a:pPr algn="ctr"/>
                      <a:r>
                        <a:rPr lang="en-US" sz="2000" dirty="0"/>
                        <a:t>62</a:t>
                      </a:r>
                    </a:p>
                  </a:txBody>
                  <a:tcPr anchor="ctr"/>
                </a:tc>
                <a:extLst>
                  <a:ext uri="{0D108BD9-81ED-4DB2-BD59-A6C34878D82A}">
                    <a16:rowId xmlns:a16="http://schemas.microsoft.com/office/drawing/2014/main" val="10002"/>
                  </a:ext>
                </a:extLst>
              </a:tr>
              <a:tr h="370840">
                <a:tc>
                  <a:txBody>
                    <a:bodyPr/>
                    <a:lstStyle/>
                    <a:p>
                      <a:pPr algn="ctr"/>
                      <a:r>
                        <a:rPr lang="en-US" sz="2000" dirty="0"/>
                        <a:t>September</a:t>
                      </a:r>
                      <a:r>
                        <a:rPr lang="en-US" sz="2000" baseline="0" dirty="0"/>
                        <a:t> 2024</a:t>
                      </a:r>
                      <a:endParaRPr lang="en-US" sz="2000" dirty="0"/>
                    </a:p>
                  </a:txBody>
                  <a:tcPr anchor="ctr"/>
                </a:tc>
                <a:tc>
                  <a:txBody>
                    <a:bodyPr/>
                    <a:lstStyle/>
                    <a:p>
                      <a:pPr algn="ctr"/>
                      <a:r>
                        <a:rPr lang="en-US" sz="2000" dirty="0"/>
                        <a:t>30</a:t>
                      </a:r>
                    </a:p>
                  </a:txBody>
                  <a:tcPr anchor="ctr"/>
                </a:tc>
                <a:tc>
                  <a:txBody>
                    <a:bodyPr/>
                    <a:lstStyle/>
                    <a:p>
                      <a:pPr algn="ctr"/>
                      <a:r>
                        <a:rPr lang="en-US" sz="2000" dirty="0"/>
                        <a:t>92</a:t>
                      </a:r>
                    </a:p>
                  </a:txBody>
                  <a:tcPr anchor="ctr"/>
                </a:tc>
                <a:extLst>
                  <a:ext uri="{0D108BD9-81ED-4DB2-BD59-A6C34878D82A}">
                    <a16:rowId xmlns:a16="http://schemas.microsoft.com/office/drawing/2014/main" val="10003"/>
                  </a:ext>
                </a:extLst>
              </a:tr>
              <a:tr h="370840">
                <a:tc>
                  <a:txBody>
                    <a:bodyPr/>
                    <a:lstStyle/>
                    <a:p>
                      <a:pPr algn="ctr"/>
                      <a:r>
                        <a:rPr lang="en-US" sz="2000" dirty="0"/>
                        <a:t>October</a:t>
                      </a:r>
                      <a:r>
                        <a:rPr lang="en-US" sz="2000" baseline="0" dirty="0"/>
                        <a:t> 2024</a:t>
                      </a:r>
                      <a:endParaRPr lang="en-US" sz="2000" dirty="0"/>
                    </a:p>
                  </a:txBody>
                  <a:tcPr anchor="ctr"/>
                </a:tc>
                <a:tc>
                  <a:txBody>
                    <a:bodyPr/>
                    <a:lstStyle/>
                    <a:p>
                      <a:pPr algn="ctr"/>
                      <a:r>
                        <a:rPr lang="en-US" sz="2000" dirty="0"/>
                        <a:t>31</a:t>
                      </a:r>
                    </a:p>
                  </a:txBody>
                  <a:tcPr anchor="ctr"/>
                </a:tc>
                <a:tc>
                  <a:txBody>
                    <a:bodyPr/>
                    <a:lstStyle/>
                    <a:p>
                      <a:pPr algn="ctr"/>
                      <a:r>
                        <a:rPr lang="en-US" sz="2000" dirty="0"/>
                        <a:t>123</a:t>
                      </a:r>
                    </a:p>
                  </a:txBody>
                  <a:tcPr anchor="ctr"/>
                </a:tc>
                <a:extLst>
                  <a:ext uri="{0D108BD9-81ED-4DB2-BD59-A6C34878D82A}">
                    <a16:rowId xmlns:a16="http://schemas.microsoft.com/office/drawing/2014/main" val="10004"/>
                  </a:ext>
                </a:extLst>
              </a:tr>
              <a:tr h="370840">
                <a:tc>
                  <a:txBody>
                    <a:bodyPr/>
                    <a:lstStyle/>
                    <a:p>
                      <a:pPr algn="ctr"/>
                      <a:r>
                        <a:rPr lang="en-US" sz="2000" dirty="0"/>
                        <a:t>November</a:t>
                      </a:r>
                      <a:r>
                        <a:rPr lang="en-US" sz="2000" baseline="0" dirty="0"/>
                        <a:t> 2024</a:t>
                      </a:r>
                      <a:endParaRPr lang="en-US" sz="2000" dirty="0"/>
                    </a:p>
                  </a:txBody>
                  <a:tcPr anchor="ctr"/>
                </a:tc>
                <a:tc>
                  <a:txBody>
                    <a:bodyPr/>
                    <a:lstStyle/>
                    <a:p>
                      <a:pPr algn="ctr"/>
                      <a:r>
                        <a:rPr lang="en-US" sz="2000" dirty="0"/>
                        <a:t>30</a:t>
                      </a:r>
                    </a:p>
                  </a:txBody>
                  <a:tcPr anchor="ctr"/>
                </a:tc>
                <a:tc>
                  <a:txBody>
                    <a:bodyPr/>
                    <a:lstStyle/>
                    <a:p>
                      <a:pPr algn="ctr"/>
                      <a:r>
                        <a:rPr lang="en-US" sz="2000" dirty="0"/>
                        <a:t>153</a:t>
                      </a:r>
                    </a:p>
                  </a:txBody>
                  <a:tcPr anchor="ctr"/>
                </a:tc>
                <a:extLst>
                  <a:ext uri="{0D108BD9-81ED-4DB2-BD59-A6C34878D82A}">
                    <a16:rowId xmlns:a16="http://schemas.microsoft.com/office/drawing/2014/main" val="10005"/>
                  </a:ext>
                </a:extLst>
              </a:tr>
              <a:tr h="370840">
                <a:tc>
                  <a:txBody>
                    <a:bodyPr/>
                    <a:lstStyle/>
                    <a:p>
                      <a:pPr algn="ctr"/>
                      <a:r>
                        <a:rPr lang="en-US" sz="2000" dirty="0"/>
                        <a:t>December</a:t>
                      </a:r>
                      <a:r>
                        <a:rPr lang="en-US" sz="2000" baseline="0" dirty="0"/>
                        <a:t> 2024</a:t>
                      </a:r>
                      <a:endParaRPr lang="en-US" sz="2000" dirty="0"/>
                    </a:p>
                  </a:txBody>
                  <a:tcPr anchor="ctr"/>
                </a:tc>
                <a:tc>
                  <a:txBody>
                    <a:bodyPr/>
                    <a:lstStyle/>
                    <a:p>
                      <a:pPr algn="ctr"/>
                      <a:r>
                        <a:rPr lang="en-US" sz="2000" dirty="0"/>
                        <a:t>31</a:t>
                      </a:r>
                    </a:p>
                  </a:txBody>
                  <a:tcPr anchor="ctr"/>
                </a:tc>
                <a:tc>
                  <a:txBody>
                    <a:bodyPr/>
                    <a:lstStyle/>
                    <a:p>
                      <a:pPr algn="ctr"/>
                      <a:r>
                        <a:rPr lang="en-US" sz="2000" dirty="0"/>
                        <a:t>184</a:t>
                      </a:r>
                    </a:p>
                  </a:txBody>
                  <a:tcPr anchor="ctr"/>
                </a:tc>
                <a:extLst>
                  <a:ext uri="{0D108BD9-81ED-4DB2-BD59-A6C34878D82A}">
                    <a16:rowId xmlns:a16="http://schemas.microsoft.com/office/drawing/2014/main" val="10006"/>
                  </a:ext>
                </a:extLst>
              </a:tr>
              <a:tr h="370840">
                <a:tc>
                  <a:txBody>
                    <a:bodyPr/>
                    <a:lstStyle/>
                    <a:p>
                      <a:pPr algn="ctr"/>
                      <a:r>
                        <a:rPr lang="en-US" sz="2000" dirty="0"/>
                        <a:t>January 2025</a:t>
                      </a:r>
                    </a:p>
                  </a:txBody>
                  <a:tcPr anchor="ctr"/>
                </a:tc>
                <a:tc>
                  <a:txBody>
                    <a:bodyPr/>
                    <a:lstStyle/>
                    <a:p>
                      <a:pPr algn="ctr"/>
                      <a:r>
                        <a:rPr lang="en-US" sz="2000" dirty="0"/>
                        <a:t>31</a:t>
                      </a:r>
                    </a:p>
                  </a:txBody>
                  <a:tcPr anchor="ctr"/>
                </a:tc>
                <a:tc>
                  <a:txBody>
                    <a:bodyPr/>
                    <a:lstStyle/>
                    <a:p>
                      <a:pPr algn="ctr"/>
                      <a:r>
                        <a:rPr lang="en-US" sz="2000" dirty="0"/>
                        <a:t>215</a:t>
                      </a:r>
                    </a:p>
                  </a:txBody>
                  <a:tcPr anchor="ctr"/>
                </a:tc>
                <a:extLst>
                  <a:ext uri="{0D108BD9-81ED-4DB2-BD59-A6C34878D82A}">
                    <a16:rowId xmlns:a16="http://schemas.microsoft.com/office/drawing/2014/main" val="10007"/>
                  </a:ext>
                </a:extLst>
              </a:tr>
              <a:tr h="370840">
                <a:tc>
                  <a:txBody>
                    <a:bodyPr/>
                    <a:lstStyle/>
                    <a:p>
                      <a:pPr algn="ctr"/>
                      <a:r>
                        <a:rPr lang="en-US" sz="2000" dirty="0"/>
                        <a:t>Febru</a:t>
                      </a:r>
                      <a:r>
                        <a:rPr lang="en-US" sz="2000" baseline="0" dirty="0"/>
                        <a:t>ary 2025</a:t>
                      </a:r>
                      <a:endParaRPr lang="en-US" sz="2000" dirty="0"/>
                    </a:p>
                  </a:txBody>
                  <a:tcPr anchor="ctr"/>
                </a:tc>
                <a:tc>
                  <a:txBody>
                    <a:bodyPr/>
                    <a:lstStyle/>
                    <a:p>
                      <a:pPr algn="ctr"/>
                      <a:r>
                        <a:rPr lang="en-US" sz="2000" dirty="0"/>
                        <a:t>28</a:t>
                      </a:r>
                    </a:p>
                  </a:txBody>
                  <a:tcPr anchor="ctr"/>
                </a:tc>
                <a:tc>
                  <a:txBody>
                    <a:bodyPr/>
                    <a:lstStyle/>
                    <a:p>
                      <a:pPr algn="ctr"/>
                      <a:r>
                        <a:rPr lang="en-US" sz="2000" dirty="0"/>
                        <a:t>243</a:t>
                      </a:r>
                    </a:p>
                  </a:txBody>
                  <a:tcPr anchor="ctr"/>
                </a:tc>
                <a:extLst>
                  <a:ext uri="{0D108BD9-81ED-4DB2-BD59-A6C34878D82A}">
                    <a16:rowId xmlns:a16="http://schemas.microsoft.com/office/drawing/2014/main" val="10008"/>
                  </a:ext>
                </a:extLst>
              </a:tr>
              <a:tr h="370840">
                <a:tc>
                  <a:txBody>
                    <a:bodyPr/>
                    <a:lstStyle/>
                    <a:p>
                      <a:pPr algn="ctr"/>
                      <a:r>
                        <a:rPr lang="en-US" sz="2000" dirty="0"/>
                        <a:t>March 2025</a:t>
                      </a:r>
                    </a:p>
                  </a:txBody>
                  <a:tcPr anchor="ctr"/>
                </a:tc>
                <a:tc>
                  <a:txBody>
                    <a:bodyPr/>
                    <a:lstStyle/>
                    <a:p>
                      <a:pPr algn="ctr"/>
                      <a:r>
                        <a:rPr lang="en-US" sz="2000" dirty="0"/>
                        <a:t>31</a:t>
                      </a:r>
                    </a:p>
                  </a:txBody>
                  <a:tcPr anchor="ctr"/>
                </a:tc>
                <a:tc>
                  <a:txBody>
                    <a:bodyPr/>
                    <a:lstStyle/>
                    <a:p>
                      <a:pPr algn="ctr"/>
                      <a:r>
                        <a:rPr lang="en-US" sz="2000" dirty="0"/>
                        <a:t>274</a:t>
                      </a:r>
                    </a:p>
                  </a:txBody>
                  <a:tcPr anchor="ct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4189190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131763" y="3349672"/>
            <a:ext cx="11928474" cy="130222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0050" indent="-400050" algn="just">
              <a:lnSpc>
                <a:spcPct val="150000"/>
              </a:lnSpc>
              <a:buFont typeface="Wingdings" panose="05000000000000000000" pitchFamily="2" charset="2"/>
              <a:buChar char="ü"/>
            </a:pPr>
            <a:r>
              <a:rPr lang="en-US" sz="2400" b="1" dirty="0">
                <a:cs typeface="Times New Roman" panose="02020603050405020304" pitchFamily="18" charset="0"/>
              </a:rPr>
              <a:t>Here Pooja has Fulfilled First Basic Condition, So we can say that Pooja is ‘Resident for FY 2024-’25’.</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370953151"/>
              </p:ext>
            </p:extLst>
          </p:nvPr>
        </p:nvGraphicFramePr>
        <p:xfrm>
          <a:off x="131763" y="863600"/>
          <a:ext cx="11928474" cy="2220142"/>
        </p:xfrm>
        <a:graphic>
          <a:graphicData uri="http://schemas.openxmlformats.org/drawingml/2006/table">
            <a:tbl>
              <a:tblPr firstRow="1" bandRow="1">
                <a:tableStyleId>{F5AB1C69-6EDB-4FF4-983F-18BD219EF322}</a:tableStyleId>
              </a:tblPr>
              <a:tblGrid>
                <a:gridCol w="3976158">
                  <a:extLst>
                    <a:ext uri="{9D8B030D-6E8A-4147-A177-3AD203B41FA5}">
                      <a16:colId xmlns:a16="http://schemas.microsoft.com/office/drawing/2014/main" val="20000"/>
                    </a:ext>
                  </a:extLst>
                </a:gridCol>
                <a:gridCol w="3976158">
                  <a:extLst>
                    <a:ext uri="{9D8B030D-6E8A-4147-A177-3AD203B41FA5}">
                      <a16:colId xmlns:a16="http://schemas.microsoft.com/office/drawing/2014/main" val="20001"/>
                    </a:ext>
                  </a:extLst>
                </a:gridCol>
                <a:gridCol w="3976158">
                  <a:extLst>
                    <a:ext uri="{9D8B030D-6E8A-4147-A177-3AD203B41FA5}">
                      <a16:colId xmlns:a16="http://schemas.microsoft.com/office/drawing/2014/main" val="20002"/>
                    </a:ext>
                  </a:extLst>
                </a:gridCol>
              </a:tblGrid>
              <a:tr h="595847">
                <a:tc>
                  <a:txBody>
                    <a:bodyPr/>
                    <a:lstStyle/>
                    <a:p>
                      <a:pPr algn="ctr"/>
                      <a:r>
                        <a:rPr lang="en-US" sz="2000" dirty="0"/>
                        <a:t>Basic Conditions</a:t>
                      </a:r>
                    </a:p>
                  </a:txBody>
                  <a:tcPr anchor="ctr"/>
                </a:tc>
                <a:tc>
                  <a:txBody>
                    <a:bodyPr/>
                    <a:lstStyle/>
                    <a:p>
                      <a:pPr algn="ctr"/>
                      <a:r>
                        <a:rPr lang="en-US" sz="2000" dirty="0"/>
                        <a:t>In Actual</a:t>
                      </a:r>
                    </a:p>
                  </a:txBody>
                  <a:tcPr anchor="ctr"/>
                </a:tc>
                <a:tc>
                  <a:txBody>
                    <a:bodyPr/>
                    <a:lstStyle/>
                    <a:p>
                      <a:pPr algn="ctr"/>
                      <a:r>
                        <a:rPr lang="en-US" sz="2000" dirty="0"/>
                        <a:t>Result (Fulfillment)</a:t>
                      </a:r>
                    </a:p>
                  </a:txBody>
                  <a:tcPr anchor="ctr"/>
                </a:tc>
                <a:extLst>
                  <a:ext uri="{0D108BD9-81ED-4DB2-BD59-A6C34878D82A}">
                    <a16:rowId xmlns:a16="http://schemas.microsoft.com/office/drawing/2014/main" val="10000"/>
                  </a:ext>
                </a:extLst>
              </a:tr>
              <a:tr h="1028448">
                <a:tc>
                  <a:txBody>
                    <a:bodyPr/>
                    <a:lstStyle/>
                    <a:p>
                      <a:pPr algn="ctr"/>
                      <a:r>
                        <a:rPr lang="en-US" dirty="0"/>
                        <a:t>Must stay</a:t>
                      </a:r>
                      <a:r>
                        <a:rPr lang="en-US" baseline="0" dirty="0"/>
                        <a:t> of 182 Days or more in India during the FY.</a:t>
                      </a:r>
                      <a:endParaRPr lang="en-US" dirty="0"/>
                    </a:p>
                  </a:txBody>
                  <a:tcPr anchor="ctr"/>
                </a:tc>
                <a:tc>
                  <a:txBody>
                    <a:bodyPr/>
                    <a:lstStyle/>
                    <a:p>
                      <a:pPr algn="ctr"/>
                      <a:r>
                        <a:rPr lang="en-US" dirty="0"/>
                        <a:t>She</a:t>
                      </a:r>
                      <a:r>
                        <a:rPr lang="en-US" baseline="0" dirty="0"/>
                        <a:t> stayed 274 days in India during FY 2024-’25 </a:t>
                      </a:r>
                      <a:endParaRPr lang="en-US" dirty="0"/>
                    </a:p>
                  </a:txBody>
                  <a:tcPr anchor="ctr"/>
                </a:tc>
                <a:tc>
                  <a:txBody>
                    <a:bodyPr/>
                    <a:lstStyle/>
                    <a:p>
                      <a:pPr algn="ctr"/>
                      <a:r>
                        <a:rPr lang="en-US" dirty="0"/>
                        <a:t>Condition Fulfilled</a:t>
                      </a:r>
                    </a:p>
                  </a:txBody>
                  <a:tcPr anchor="ctr"/>
                </a:tc>
                <a:extLst>
                  <a:ext uri="{0D108BD9-81ED-4DB2-BD59-A6C34878D82A}">
                    <a16:rowId xmlns:a16="http://schemas.microsoft.com/office/drawing/2014/main" val="10001"/>
                  </a:ext>
                </a:extLst>
              </a:tr>
              <a:tr h="595847">
                <a:tc gridSpan="3">
                  <a:txBody>
                    <a:bodyPr/>
                    <a:lstStyle/>
                    <a:p>
                      <a:pPr algn="ctr"/>
                      <a:r>
                        <a:rPr lang="en-US" sz="2400" b="1" dirty="0"/>
                        <a:t>She</a:t>
                      </a:r>
                      <a:r>
                        <a:rPr lang="en-US" sz="2400" b="1" baseline="0" dirty="0"/>
                        <a:t> is Resident</a:t>
                      </a:r>
                      <a:endParaRPr lang="en-US" b="1" dirty="0">
                        <a:latin typeface="Times New Roman" panose="02020603050405020304" pitchFamily="18" charset="0"/>
                        <a:cs typeface="Times New Roman" panose="02020603050405020304" pitchFamily="18" charset="0"/>
                      </a:endParaRPr>
                    </a:p>
                  </a:txBody>
                  <a:tcPr anchor="ct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2"/>
                  </a:ext>
                </a:extLst>
              </a:tr>
            </a:tbl>
          </a:graphicData>
        </a:graphic>
      </p:graphicFrame>
      <p:sp>
        <p:nvSpPr>
          <p:cNvPr id="2" name="Title 1"/>
          <p:cNvSpPr>
            <a:spLocks noGrp="1"/>
          </p:cNvSpPr>
          <p:nvPr>
            <p:ph type="title"/>
          </p:nvPr>
        </p:nvSpPr>
        <p:spPr/>
        <p:txBody>
          <a:bodyPr>
            <a:normAutofit/>
          </a:bodyPr>
          <a:lstStyle/>
          <a:p>
            <a:pPr algn="just"/>
            <a:r>
              <a:rPr lang="en-US" b="1" dirty="0">
                <a:cs typeface="Times New Roman" panose="02020603050405020304" pitchFamily="18" charset="0"/>
              </a:rPr>
              <a:t>Ans</a:t>
            </a:r>
            <a:r>
              <a:rPr lang="en-US" dirty="0">
                <a:cs typeface="Times New Roman" panose="02020603050405020304" pitchFamily="18" charset="0"/>
              </a:rPr>
              <a:t>wer</a:t>
            </a:r>
            <a:endParaRPr lang="en-US" b="1" dirty="0">
              <a:cs typeface="Times New Roman" panose="02020603050405020304" pitchFamily="18" charset="0"/>
            </a:endParaRPr>
          </a:p>
        </p:txBody>
      </p:sp>
    </p:spTree>
    <p:extLst>
      <p:ext uri="{BB962C8B-B14F-4D97-AF65-F5344CB8AC3E}">
        <p14:creationId xmlns:p14="http://schemas.microsoft.com/office/powerpoint/2010/main" val="2282285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131763" y="4634196"/>
            <a:ext cx="11928474" cy="20437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0050" indent="-400050" algn="just">
              <a:lnSpc>
                <a:spcPct val="150000"/>
              </a:lnSpc>
              <a:buFont typeface="Wingdings" panose="05000000000000000000" pitchFamily="2" charset="2"/>
              <a:buChar char="ü"/>
            </a:pPr>
            <a:r>
              <a:rPr lang="en-US" sz="2400" b="1" dirty="0">
                <a:cs typeface="Times New Roman" panose="02020603050405020304" pitchFamily="18" charset="0"/>
              </a:rPr>
              <a:t>Here Pooja has Fulfilled First Basic Condition, but not fulfilled Additional conditions, So we can say that Pooja is ‘Resident but Not Ordinary Resident for FY 2024-’25’.</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51873813"/>
              </p:ext>
            </p:extLst>
          </p:nvPr>
        </p:nvGraphicFramePr>
        <p:xfrm>
          <a:off x="131763" y="863600"/>
          <a:ext cx="11928474" cy="3770596"/>
        </p:xfrm>
        <a:graphic>
          <a:graphicData uri="http://schemas.openxmlformats.org/drawingml/2006/table">
            <a:tbl>
              <a:tblPr firstRow="1" bandRow="1">
                <a:tableStyleId>{F5AB1C69-6EDB-4FF4-983F-18BD219EF322}</a:tableStyleId>
              </a:tblPr>
              <a:tblGrid>
                <a:gridCol w="3976158">
                  <a:extLst>
                    <a:ext uri="{9D8B030D-6E8A-4147-A177-3AD203B41FA5}">
                      <a16:colId xmlns:a16="http://schemas.microsoft.com/office/drawing/2014/main" val="20000"/>
                    </a:ext>
                  </a:extLst>
                </a:gridCol>
                <a:gridCol w="3976158">
                  <a:extLst>
                    <a:ext uri="{9D8B030D-6E8A-4147-A177-3AD203B41FA5}">
                      <a16:colId xmlns:a16="http://schemas.microsoft.com/office/drawing/2014/main" val="20001"/>
                    </a:ext>
                  </a:extLst>
                </a:gridCol>
                <a:gridCol w="3976158">
                  <a:extLst>
                    <a:ext uri="{9D8B030D-6E8A-4147-A177-3AD203B41FA5}">
                      <a16:colId xmlns:a16="http://schemas.microsoft.com/office/drawing/2014/main" val="20002"/>
                    </a:ext>
                  </a:extLst>
                </a:gridCol>
              </a:tblGrid>
              <a:tr h="595847">
                <a:tc>
                  <a:txBody>
                    <a:bodyPr/>
                    <a:lstStyle/>
                    <a:p>
                      <a:pPr algn="ctr"/>
                      <a:r>
                        <a:rPr lang="en-US" sz="2000" dirty="0"/>
                        <a:t>Additional Conditions</a:t>
                      </a:r>
                    </a:p>
                  </a:txBody>
                  <a:tcPr anchor="ctr"/>
                </a:tc>
                <a:tc>
                  <a:txBody>
                    <a:bodyPr/>
                    <a:lstStyle/>
                    <a:p>
                      <a:pPr algn="ctr"/>
                      <a:r>
                        <a:rPr lang="en-US" sz="2000" dirty="0"/>
                        <a:t>In Actual</a:t>
                      </a:r>
                    </a:p>
                  </a:txBody>
                  <a:tcPr anchor="ctr"/>
                </a:tc>
                <a:tc>
                  <a:txBody>
                    <a:bodyPr/>
                    <a:lstStyle/>
                    <a:p>
                      <a:pPr algn="ctr"/>
                      <a:r>
                        <a:rPr lang="en-US" sz="2000" dirty="0"/>
                        <a:t>Result (Fulfillment)</a:t>
                      </a:r>
                    </a:p>
                  </a:txBody>
                  <a:tcPr anchor="ctr"/>
                </a:tc>
                <a:extLst>
                  <a:ext uri="{0D108BD9-81ED-4DB2-BD59-A6C34878D82A}">
                    <a16:rowId xmlns:a16="http://schemas.microsoft.com/office/drawing/2014/main" val="10000"/>
                  </a:ext>
                </a:extLst>
              </a:tr>
              <a:tr h="1028448">
                <a:tc>
                  <a:txBody>
                    <a:bodyPr/>
                    <a:lstStyle/>
                    <a:p>
                      <a:pPr algn="ctr"/>
                      <a:r>
                        <a:rPr lang="en-US" dirty="0"/>
                        <a:t>Must be</a:t>
                      </a:r>
                      <a:r>
                        <a:rPr lang="en-US" baseline="0" dirty="0"/>
                        <a:t> Resident in India for at least 2 Out of 10 preceding FY.</a:t>
                      </a:r>
                      <a:endParaRPr lang="en-US" dirty="0"/>
                    </a:p>
                  </a:txBody>
                  <a:tcPr anchor="ctr"/>
                </a:tc>
                <a:tc>
                  <a:txBody>
                    <a:bodyPr/>
                    <a:lstStyle/>
                    <a:p>
                      <a:pPr algn="ctr"/>
                      <a:r>
                        <a:rPr lang="en-US" dirty="0"/>
                        <a:t>She</a:t>
                      </a:r>
                      <a:r>
                        <a:rPr lang="en-US" baseline="0" dirty="0"/>
                        <a:t> is resident for only 1 FY which is FY 2024-’25.</a:t>
                      </a:r>
                      <a:endParaRPr lang="en-US" dirty="0"/>
                    </a:p>
                  </a:txBody>
                  <a:tcPr anchor="ctr"/>
                </a:tc>
                <a:tc>
                  <a:txBody>
                    <a:bodyPr/>
                    <a:lstStyle/>
                    <a:p>
                      <a:pPr algn="ctr"/>
                      <a:r>
                        <a:rPr lang="en-US" dirty="0"/>
                        <a:t>Condition not Fulfilled</a:t>
                      </a:r>
                    </a:p>
                  </a:txBody>
                  <a:tcPr anchor="ctr"/>
                </a:tc>
                <a:extLst>
                  <a:ext uri="{0D108BD9-81ED-4DB2-BD59-A6C34878D82A}">
                    <a16:rowId xmlns:a16="http://schemas.microsoft.com/office/drawing/2014/main" val="10001"/>
                  </a:ext>
                </a:extLst>
              </a:tr>
              <a:tr h="522006">
                <a:tc gridSpan="3">
                  <a:txBody>
                    <a:bodyPr/>
                    <a:lstStyle/>
                    <a:p>
                      <a:pPr algn="ctr"/>
                      <a:r>
                        <a:rPr lang="en-US" sz="2400" b="1" dirty="0"/>
                        <a:t>And</a:t>
                      </a:r>
                      <a:endParaRPr lang="en-US" sz="2400" b="1" dirty="0">
                        <a:latin typeface="Times New Roman" panose="02020603050405020304" pitchFamily="18" charset="0"/>
                        <a:cs typeface="Times New Roman" panose="02020603050405020304" pitchFamily="18" charset="0"/>
                      </a:endParaRPr>
                    </a:p>
                  </a:txBody>
                  <a:tcPr anchor="ctr"/>
                </a:tc>
                <a:tc hMerge="1">
                  <a:txBody>
                    <a:bodyPr/>
                    <a:lstStyle/>
                    <a:p>
                      <a:pPr algn="ctr"/>
                      <a:endParaRPr lang="en-US" dirty="0"/>
                    </a:p>
                  </a:txBody>
                  <a:tcPr anchor="ctr"/>
                </a:tc>
                <a:tc hMerge="1">
                  <a:txBody>
                    <a:bodyPr/>
                    <a:lstStyle/>
                    <a:p>
                      <a:pPr algn="ctr"/>
                      <a:endParaRPr lang="en-US" dirty="0"/>
                    </a:p>
                  </a:txBody>
                  <a:tcPr anchor="ctr"/>
                </a:tc>
                <a:extLst>
                  <a:ext uri="{0D108BD9-81ED-4DB2-BD59-A6C34878D82A}">
                    <a16:rowId xmlns:a16="http://schemas.microsoft.com/office/drawing/2014/main" val="10002"/>
                  </a:ext>
                </a:extLst>
              </a:tr>
              <a:tr h="1028448">
                <a:tc>
                  <a:txBody>
                    <a:bodyPr/>
                    <a:lstStyle/>
                    <a:p>
                      <a:pPr algn="ctr"/>
                      <a:r>
                        <a:rPr lang="en-US" dirty="0"/>
                        <a:t>Must stayed in India for at least 730 days in</a:t>
                      </a:r>
                      <a:r>
                        <a:rPr lang="en-US" baseline="0" dirty="0"/>
                        <a:t> last 7 FY.</a:t>
                      </a:r>
                      <a:endParaRPr lang="en-US" dirty="0"/>
                    </a:p>
                  </a:txBody>
                  <a:tcPr anchor="ctr"/>
                </a:tc>
                <a:tc>
                  <a:txBody>
                    <a:bodyPr/>
                    <a:lstStyle/>
                    <a:p>
                      <a:pPr algn="ctr"/>
                      <a:r>
                        <a:rPr lang="en-US" dirty="0"/>
                        <a:t>She stayed only 274 days</a:t>
                      </a:r>
                      <a:r>
                        <a:rPr lang="en-US" baseline="0" dirty="0"/>
                        <a:t> in India.</a:t>
                      </a:r>
                      <a:endParaRPr 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a:p>
                      <a:pPr marL="0" marR="0" lvl="0" indent="0" algn="ctr" defTabSz="914400" rtl="0" eaLnBrk="1" fontAlgn="auto" latinLnBrk="0" hangingPunct="1">
                        <a:lnSpc>
                          <a:spcPct val="100000"/>
                        </a:lnSpc>
                        <a:spcBef>
                          <a:spcPts val="0"/>
                        </a:spcBef>
                        <a:spcAft>
                          <a:spcPts val="0"/>
                        </a:spcAft>
                        <a:buClrTx/>
                        <a:buSzTx/>
                        <a:buFontTx/>
                        <a:buNone/>
                        <a:tabLst/>
                        <a:defRPr/>
                      </a:pPr>
                      <a:r>
                        <a:rPr lang="en-US"/>
                        <a:t>Condition </a:t>
                      </a:r>
                      <a:r>
                        <a:rPr lang="en-US" dirty="0"/>
                        <a:t>not Fulfilled</a:t>
                      </a:r>
                    </a:p>
                    <a:p>
                      <a:pPr algn="ctr"/>
                      <a:endParaRPr lang="en-US" dirty="0"/>
                    </a:p>
                  </a:txBody>
                  <a:tcPr anchor="ctr"/>
                </a:tc>
                <a:extLst>
                  <a:ext uri="{0D108BD9-81ED-4DB2-BD59-A6C34878D82A}">
                    <a16:rowId xmlns:a16="http://schemas.microsoft.com/office/drawing/2014/main" val="10003"/>
                  </a:ext>
                </a:extLst>
              </a:tr>
              <a:tr h="595847">
                <a:tc gridSpan="3">
                  <a:txBody>
                    <a:bodyPr/>
                    <a:lstStyle/>
                    <a:p>
                      <a:pPr algn="ctr"/>
                      <a:r>
                        <a:rPr lang="en-US" sz="2400" b="1" dirty="0"/>
                        <a:t>She</a:t>
                      </a:r>
                      <a:r>
                        <a:rPr lang="en-US" sz="2400" b="1" baseline="0" dirty="0"/>
                        <a:t> is Resident but Not Ordinary Resident (RNOR)</a:t>
                      </a:r>
                      <a:endParaRPr lang="en-US" b="1" dirty="0">
                        <a:latin typeface="Times New Roman" panose="02020603050405020304" pitchFamily="18" charset="0"/>
                        <a:cs typeface="Times New Roman" panose="02020603050405020304" pitchFamily="18" charset="0"/>
                      </a:endParaRPr>
                    </a:p>
                  </a:txBody>
                  <a:tcPr anchor="ct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4"/>
                  </a:ext>
                </a:extLst>
              </a:tr>
            </a:tbl>
          </a:graphicData>
        </a:graphic>
      </p:graphicFrame>
      <p:sp>
        <p:nvSpPr>
          <p:cNvPr id="2" name="Title 1"/>
          <p:cNvSpPr>
            <a:spLocks noGrp="1"/>
          </p:cNvSpPr>
          <p:nvPr>
            <p:ph type="title"/>
          </p:nvPr>
        </p:nvSpPr>
        <p:spPr/>
        <p:txBody>
          <a:bodyPr>
            <a:normAutofit/>
          </a:bodyPr>
          <a:lstStyle/>
          <a:p>
            <a:pPr algn="just"/>
            <a:r>
              <a:rPr lang="en-US" dirty="0">
                <a:cs typeface="Times New Roman" panose="02020603050405020304" pitchFamily="18" charset="0"/>
              </a:rPr>
              <a:t>Answer</a:t>
            </a:r>
            <a:endParaRPr lang="en-US" b="1" dirty="0">
              <a:cs typeface="Times New Roman" panose="02020603050405020304" pitchFamily="18" charset="0"/>
            </a:endParaRPr>
          </a:p>
        </p:txBody>
      </p:sp>
    </p:spTree>
    <p:extLst>
      <p:ext uri="{BB962C8B-B14F-4D97-AF65-F5344CB8AC3E}">
        <p14:creationId xmlns:p14="http://schemas.microsoft.com/office/powerpoint/2010/main" val="26375712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D18B2-2738-55F2-A349-F5DA2E0B68DE}"/>
              </a:ext>
            </a:extLst>
          </p:cNvPr>
          <p:cNvSpPr>
            <a:spLocks noGrp="1"/>
          </p:cNvSpPr>
          <p:nvPr>
            <p:ph type="title"/>
          </p:nvPr>
        </p:nvSpPr>
        <p:spPr/>
        <p:txBody>
          <a:bodyPr/>
          <a:lstStyle/>
          <a:p>
            <a:r>
              <a:rPr lang="en-IN" dirty="0"/>
              <a:t>Example 4</a:t>
            </a:r>
          </a:p>
        </p:txBody>
      </p:sp>
      <p:sp>
        <p:nvSpPr>
          <p:cNvPr id="3" name="Content Placeholder 2">
            <a:extLst>
              <a:ext uri="{FF2B5EF4-FFF2-40B4-BE49-F238E27FC236}">
                <a16:creationId xmlns:a16="http://schemas.microsoft.com/office/drawing/2014/main" id="{5042CF85-F710-96B2-D703-ECE4BD9DFDA5}"/>
              </a:ext>
            </a:extLst>
          </p:cNvPr>
          <p:cNvSpPr>
            <a:spLocks noGrp="1"/>
          </p:cNvSpPr>
          <p:nvPr>
            <p:ph idx="1"/>
          </p:nvPr>
        </p:nvSpPr>
        <p:spPr/>
        <p:txBody>
          <a:bodyPr/>
          <a:lstStyle/>
          <a:p>
            <a:pPr marL="0" indent="0">
              <a:buNone/>
            </a:pPr>
            <a:r>
              <a:rPr lang="en-US" dirty="0"/>
              <a:t>Mrs. Simona is a </a:t>
            </a:r>
            <a:r>
              <a:rPr lang="en-US" b="1" dirty="0">
                <a:solidFill>
                  <a:srgbClr val="C00000"/>
                </a:solidFill>
              </a:rPr>
              <a:t>Foreign Citizen</a:t>
            </a:r>
            <a:r>
              <a:rPr lang="en-US" dirty="0"/>
              <a:t>. She came to India and stayed for 110 Days in PY and in 4 Preceding PY she had stayed in India for 405 Days. Determine, is she Resident or Non Resident of India for the Assessment Year 2025-26?</a:t>
            </a:r>
          </a:p>
          <a:p>
            <a:pPr marL="0" indent="0">
              <a:buNone/>
            </a:pPr>
            <a:endParaRPr lang="en-IN" dirty="0"/>
          </a:p>
        </p:txBody>
      </p:sp>
    </p:spTree>
    <p:extLst>
      <p:ext uri="{BB962C8B-B14F-4D97-AF65-F5344CB8AC3E}">
        <p14:creationId xmlns:p14="http://schemas.microsoft.com/office/powerpoint/2010/main" val="215344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Answer</a:t>
            </a:r>
          </a:p>
        </p:txBody>
      </p:sp>
      <p:graphicFrame>
        <p:nvGraphicFramePr>
          <p:cNvPr id="11" name="Content Placeholder 3"/>
          <p:cNvGraphicFramePr>
            <a:graphicFrameLocks/>
          </p:cNvGraphicFramePr>
          <p:nvPr>
            <p:extLst>
              <p:ext uri="{D42A27DB-BD31-4B8C-83A1-F6EECF244321}">
                <p14:modId xmlns:p14="http://schemas.microsoft.com/office/powerpoint/2010/main" val="3495442057"/>
              </p:ext>
            </p:extLst>
          </p:nvPr>
        </p:nvGraphicFramePr>
        <p:xfrm>
          <a:off x="5850294" y="947016"/>
          <a:ext cx="5048342" cy="457200"/>
        </p:xfrm>
        <a:graphic>
          <a:graphicData uri="http://schemas.openxmlformats.org/drawingml/2006/table">
            <a:tbl>
              <a:tblPr firstRow="1" bandRow="1">
                <a:tableStyleId>{1E171933-4619-4E11-9A3F-F7608DF75F80}</a:tableStyleId>
              </a:tblPr>
              <a:tblGrid>
                <a:gridCol w="2834999">
                  <a:extLst>
                    <a:ext uri="{9D8B030D-6E8A-4147-A177-3AD203B41FA5}">
                      <a16:colId xmlns:a16="http://schemas.microsoft.com/office/drawing/2014/main" val="3901577694"/>
                    </a:ext>
                  </a:extLst>
                </a:gridCol>
                <a:gridCol w="2213343">
                  <a:extLst>
                    <a:ext uri="{9D8B030D-6E8A-4147-A177-3AD203B41FA5}">
                      <a16:colId xmlns:a16="http://schemas.microsoft.com/office/drawing/2014/main" val="3985697907"/>
                    </a:ext>
                  </a:extLst>
                </a:gridCol>
              </a:tblGrid>
              <a:tr h="370840">
                <a:tc>
                  <a:txBody>
                    <a:bodyPr/>
                    <a:lstStyle/>
                    <a:p>
                      <a:pPr algn="ctr"/>
                      <a:r>
                        <a:rPr lang="en-US" sz="2400" dirty="0"/>
                        <a:t>Y</a:t>
                      </a:r>
                      <a:r>
                        <a:rPr lang="en-IN" sz="2400" dirty="0"/>
                        <a:t>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a:t>Stayed</a:t>
                      </a:r>
                      <a:r>
                        <a:rPr lang="en-IN" sz="2400" baseline="0" dirty="0"/>
                        <a:t> in India</a:t>
                      </a:r>
                      <a:endParaRPr lang="en-IN"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9939178"/>
                  </a:ext>
                </a:extLst>
              </a:tr>
            </a:tbl>
          </a:graphicData>
        </a:graphic>
      </p:graphicFrame>
      <p:graphicFrame>
        <p:nvGraphicFramePr>
          <p:cNvPr id="23" name="Table 22"/>
          <p:cNvGraphicFramePr>
            <a:graphicFrameLocks noGrp="1"/>
          </p:cNvGraphicFramePr>
          <p:nvPr>
            <p:extLst>
              <p:ext uri="{D42A27DB-BD31-4B8C-83A1-F6EECF244321}">
                <p14:modId xmlns:p14="http://schemas.microsoft.com/office/powerpoint/2010/main" val="3094203314"/>
              </p:ext>
            </p:extLst>
          </p:nvPr>
        </p:nvGraphicFramePr>
        <p:xfrm>
          <a:off x="403819" y="2588526"/>
          <a:ext cx="11334465" cy="3154199"/>
        </p:xfrm>
        <a:graphic>
          <a:graphicData uri="http://schemas.openxmlformats.org/drawingml/2006/table">
            <a:tbl>
              <a:tblPr firstRow="1" bandRow="1">
                <a:tableStyleId>{93296810-A885-4BE3-A3E7-6D5BEEA58F35}</a:tableStyleId>
              </a:tblPr>
              <a:tblGrid>
                <a:gridCol w="6644872">
                  <a:extLst>
                    <a:ext uri="{9D8B030D-6E8A-4147-A177-3AD203B41FA5}">
                      <a16:colId xmlns:a16="http://schemas.microsoft.com/office/drawing/2014/main" val="3961777739"/>
                    </a:ext>
                  </a:extLst>
                </a:gridCol>
                <a:gridCol w="2965888">
                  <a:extLst>
                    <a:ext uri="{9D8B030D-6E8A-4147-A177-3AD203B41FA5}">
                      <a16:colId xmlns:a16="http://schemas.microsoft.com/office/drawing/2014/main" val="3625537817"/>
                    </a:ext>
                  </a:extLst>
                </a:gridCol>
                <a:gridCol w="1723705">
                  <a:extLst>
                    <a:ext uri="{9D8B030D-6E8A-4147-A177-3AD203B41FA5}">
                      <a16:colId xmlns:a16="http://schemas.microsoft.com/office/drawing/2014/main" val="2857441593"/>
                    </a:ext>
                  </a:extLst>
                </a:gridCol>
              </a:tblGrid>
              <a:tr h="101359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b="1" dirty="0">
                          <a:solidFill>
                            <a:schemeClr val="bg1"/>
                          </a:solidFill>
                        </a:rPr>
                        <a:t>Basic Conditions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b="1" dirty="0">
                          <a:solidFill>
                            <a:schemeClr val="bg1"/>
                          </a:solidFill>
                        </a:rPr>
                        <a:t>Stayed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400" b="1" dirty="0">
                          <a:solidFill>
                            <a:schemeClr val="bg1"/>
                          </a:solidFill>
                        </a:rPr>
                        <a:t>Is it satisfied?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5258555"/>
                  </a:ext>
                </a:extLst>
              </a:tr>
              <a:tr h="7891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t>1) Stayed in India for </a:t>
                      </a:r>
                      <a:r>
                        <a:rPr lang="en-US" sz="2400" dirty="0"/>
                        <a:t>182 days or more during PY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t>PY. 2024-’25 </a:t>
                      </a:r>
                      <a:r>
                        <a:rPr lang="en-IN" sz="2400" b="1" dirty="0">
                          <a:solidFill>
                            <a:srgbClr val="C00000"/>
                          </a:solidFill>
                        </a:rPr>
                        <a:t>= 110 D</a:t>
                      </a:r>
                      <a:endParaRPr lang="en-IN"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No</a:t>
                      </a:r>
                      <a:endParaRPr kumimoji="0" lang="en-IN" sz="2400" b="0" i="0" u="none" strike="noStrike" kern="1200" cap="none" spc="0" normalizeH="0" baseline="0" noProof="0" dirty="0">
                        <a:ln>
                          <a:noFill/>
                        </a:ln>
                        <a:solidFill>
                          <a:schemeClr val="tx1"/>
                        </a:solidFill>
                        <a:effectLst/>
                        <a:uLnTx/>
                        <a:uFillTx/>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2389092"/>
                  </a:ext>
                </a:extLst>
              </a:tr>
              <a:tr h="1351453">
                <a:tc>
                  <a:txBody>
                    <a:bodyPr/>
                    <a:lstStyle/>
                    <a:p>
                      <a:pPr algn="l"/>
                      <a:r>
                        <a:rPr lang="en-IN" sz="2400" dirty="0"/>
                        <a:t>2) </a:t>
                      </a:r>
                      <a:r>
                        <a:rPr lang="en-IN" sz="2400" b="0" dirty="0">
                          <a:solidFill>
                            <a:schemeClr val="tx1"/>
                          </a:solidFill>
                        </a:rPr>
                        <a:t>Stayed in India for </a:t>
                      </a:r>
                      <a:r>
                        <a:rPr lang="en-US" sz="2400" b="0" dirty="0">
                          <a:solidFill>
                            <a:schemeClr val="tx1"/>
                          </a:solidFill>
                        </a:rPr>
                        <a:t>60 Days or more in PY &amp; </a:t>
                      </a:r>
                    </a:p>
                    <a:p>
                      <a:pPr algn="l"/>
                      <a:r>
                        <a:rPr lang="en-US" sz="2400" b="0" dirty="0">
                          <a:solidFill>
                            <a:schemeClr val="tx1"/>
                          </a:solidFill>
                        </a:rPr>
                        <a:t>    365 days or more in 4 Preceding PY</a:t>
                      </a:r>
                      <a:endParaRPr lang="en-IN"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srgbClr val="C00000"/>
                          </a:solidFill>
                          <a:effectLst/>
                          <a:uLnTx/>
                          <a:uFillTx/>
                          <a:latin typeface="+mn-lt"/>
                          <a:ea typeface="+mn-ea"/>
                          <a:cs typeface="+mn-cs"/>
                        </a:rPr>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3580763"/>
                  </a:ext>
                </a:extLst>
              </a:tr>
            </a:tbl>
          </a:graphicData>
        </a:graphic>
      </p:graphicFrame>
      <p:graphicFrame>
        <p:nvGraphicFramePr>
          <p:cNvPr id="46" name="Table 45"/>
          <p:cNvGraphicFramePr>
            <a:graphicFrameLocks noGrp="1"/>
          </p:cNvGraphicFramePr>
          <p:nvPr>
            <p:extLst>
              <p:ext uri="{D42A27DB-BD31-4B8C-83A1-F6EECF244321}">
                <p14:modId xmlns:p14="http://schemas.microsoft.com/office/powerpoint/2010/main" val="1877945565"/>
              </p:ext>
            </p:extLst>
          </p:nvPr>
        </p:nvGraphicFramePr>
        <p:xfrm>
          <a:off x="5850293" y="1421216"/>
          <a:ext cx="5048342" cy="457200"/>
        </p:xfrm>
        <a:graphic>
          <a:graphicData uri="http://schemas.openxmlformats.org/drawingml/2006/table">
            <a:tbl>
              <a:tblPr bandRow="1">
                <a:tableStyleId>{1E171933-4619-4E11-9A3F-F7608DF75F80}</a:tableStyleId>
              </a:tblPr>
              <a:tblGrid>
                <a:gridCol w="2834999">
                  <a:extLst>
                    <a:ext uri="{9D8B030D-6E8A-4147-A177-3AD203B41FA5}">
                      <a16:colId xmlns:a16="http://schemas.microsoft.com/office/drawing/2014/main" val="1822376042"/>
                    </a:ext>
                  </a:extLst>
                </a:gridCol>
                <a:gridCol w="2213343">
                  <a:extLst>
                    <a:ext uri="{9D8B030D-6E8A-4147-A177-3AD203B41FA5}">
                      <a16:colId xmlns:a16="http://schemas.microsoft.com/office/drawing/2014/main" val="3555394240"/>
                    </a:ext>
                  </a:extLst>
                </a:gridCol>
              </a:tblGrid>
              <a:tr h="370840">
                <a:tc>
                  <a:txBody>
                    <a:bodyPr/>
                    <a:lstStyle/>
                    <a:p>
                      <a:r>
                        <a:rPr lang="en-IN" sz="2400" dirty="0"/>
                        <a:t>1</a:t>
                      </a:r>
                      <a:r>
                        <a:rPr lang="en-IN" sz="2400" baseline="30000" dirty="0"/>
                        <a:t>st</a:t>
                      </a:r>
                      <a:r>
                        <a:rPr lang="en-IN" sz="2400" dirty="0"/>
                        <a:t> April</a:t>
                      </a:r>
                      <a:r>
                        <a:rPr lang="en-IN" sz="2400" baseline="0" dirty="0"/>
                        <a:t> to 31</a:t>
                      </a:r>
                      <a:r>
                        <a:rPr lang="en-IN" sz="2400" baseline="30000" dirty="0"/>
                        <a:t>th</a:t>
                      </a:r>
                      <a:r>
                        <a:rPr lang="en-IN" sz="2400" baseline="0" dirty="0"/>
                        <a:t> March</a:t>
                      </a:r>
                      <a:endParaRPr lang="en-IN"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dirty="0"/>
                        <a:t>110 Days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0927416"/>
                  </a:ext>
                </a:extLst>
              </a:tr>
            </a:tbl>
          </a:graphicData>
        </a:graphic>
      </p:graphicFrame>
      <p:graphicFrame>
        <p:nvGraphicFramePr>
          <p:cNvPr id="47" name="Table 46"/>
          <p:cNvGraphicFramePr>
            <a:graphicFrameLocks noGrp="1"/>
          </p:cNvGraphicFramePr>
          <p:nvPr>
            <p:extLst>
              <p:ext uri="{D42A27DB-BD31-4B8C-83A1-F6EECF244321}">
                <p14:modId xmlns:p14="http://schemas.microsoft.com/office/powerpoint/2010/main" val="3548776777"/>
              </p:ext>
            </p:extLst>
          </p:nvPr>
        </p:nvGraphicFramePr>
        <p:xfrm>
          <a:off x="5850293" y="1887816"/>
          <a:ext cx="5048342" cy="457200"/>
        </p:xfrm>
        <a:graphic>
          <a:graphicData uri="http://schemas.openxmlformats.org/drawingml/2006/table">
            <a:tbl>
              <a:tblPr bandRow="1">
                <a:tableStyleId>{1E171933-4619-4E11-9A3F-F7608DF75F80}</a:tableStyleId>
              </a:tblPr>
              <a:tblGrid>
                <a:gridCol w="2834999">
                  <a:extLst>
                    <a:ext uri="{9D8B030D-6E8A-4147-A177-3AD203B41FA5}">
                      <a16:colId xmlns:a16="http://schemas.microsoft.com/office/drawing/2014/main" val="1822376042"/>
                    </a:ext>
                  </a:extLst>
                </a:gridCol>
                <a:gridCol w="2213343">
                  <a:extLst>
                    <a:ext uri="{9D8B030D-6E8A-4147-A177-3AD203B41FA5}">
                      <a16:colId xmlns:a16="http://schemas.microsoft.com/office/drawing/2014/main" val="3555394240"/>
                    </a:ext>
                  </a:extLst>
                </a:gridCol>
              </a:tblGrid>
              <a:tr h="370840">
                <a:tc>
                  <a:txBody>
                    <a:bodyPr/>
                    <a:lstStyle/>
                    <a:p>
                      <a:r>
                        <a:rPr lang="en-IN" sz="2400" dirty="0"/>
                        <a:t>4 Preceding  PY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dirty="0"/>
                        <a:t>405 Days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7465627"/>
                  </a:ext>
                </a:extLst>
              </a:tr>
            </a:tbl>
          </a:graphicData>
        </a:graphic>
      </p:graphicFrame>
      <p:sp>
        <p:nvSpPr>
          <p:cNvPr id="67" name="Rectangle 66">
            <a:extLst>
              <a:ext uri="{FF2B5EF4-FFF2-40B4-BE49-F238E27FC236}">
                <a16:creationId xmlns:a16="http://schemas.microsoft.com/office/drawing/2014/main" id="{8AA386DB-C47D-407E-B294-FAACC180B00F}"/>
              </a:ext>
            </a:extLst>
          </p:cNvPr>
          <p:cNvSpPr/>
          <p:nvPr/>
        </p:nvSpPr>
        <p:spPr>
          <a:xfrm>
            <a:off x="7274841" y="4317166"/>
            <a:ext cx="1386918" cy="461665"/>
          </a:xfrm>
          <a:prstGeom prst="rect">
            <a:avLst/>
          </a:prstGeom>
        </p:spPr>
        <p:txBody>
          <a:bodyPr wrap="none">
            <a:spAutoFit/>
          </a:bodyPr>
          <a:lstStyle/>
          <a:p>
            <a:r>
              <a:rPr lang="en-IN" sz="2400" dirty="0"/>
              <a:t>2023-24   </a:t>
            </a:r>
            <a:endParaRPr lang="en-IN" sz="2400" b="1" dirty="0">
              <a:solidFill>
                <a:srgbClr val="C00000"/>
              </a:solidFill>
            </a:endParaRPr>
          </a:p>
        </p:txBody>
      </p:sp>
      <p:sp>
        <p:nvSpPr>
          <p:cNvPr id="68" name="Rectangle 67">
            <a:extLst>
              <a:ext uri="{FF2B5EF4-FFF2-40B4-BE49-F238E27FC236}">
                <a16:creationId xmlns:a16="http://schemas.microsoft.com/office/drawing/2014/main" id="{82AAFBEE-86E6-407B-B9D5-34D30E37AF8F}"/>
              </a:ext>
            </a:extLst>
          </p:cNvPr>
          <p:cNvSpPr/>
          <p:nvPr/>
        </p:nvSpPr>
        <p:spPr>
          <a:xfrm>
            <a:off x="8938565" y="4661744"/>
            <a:ext cx="1202171" cy="461665"/>
          </a:xfrm>
          <a:prstGeom prst="rect">
            <a:avLst/>
          </a:prstGeom>
        </p:spPr>
        <p:txBody>
          <a:bodyPr wrap="square">
            <a:spAutoFit/>
          </a:bodyPr>
          <a:lstStyle/>
          <a:p>
            <a:r>
              <a:rPr lang="en-IN" sz="2400" b="1" dirty="0">
                <a:solidFill>
                  <a:srgbClr val="C00000"/>
                </a:solidFill>
              </a:rPr>
              <a:t>= 405 D</a:t>
            </a:r>
          </a:p>
        </p:txBody>
      </p:sp>
      <p:sp>
        <p:nvSpPr>
          <p:cNvPr id="69" name="Rectangle 68">
            <a:extLst>
              <a:ext uri="{FF2B5EF4-FFF2-40B4-BE49-F238E27FC236}">
                <a16:creationId xmlns:a16="http://schemas.microsoft.com/office/drawing/2014/main" id="{CCFFDF48-95A2-45F9-A5E6-B2CE3B3B970B}"/>
              </a:ext>
            </a:extLst>
          </p:cNvPr>
          <p:cNvSpPr/>
          <p:nvPr/>
        </p:nvSpPr>
        <p:spPr>
          <a:xfrm>
            <a:off x="7284570" y="4648763"/>
            <a:ext cx="1386918" cy="461665"/>
          </a:xfrm>
          <a:prstGeom prst="rect">
            <a:avLst/>
          </a:prstGeom>
        </p:spPr>
        <p:txBody>
          <a:bodyPr wrap="none">
            <a:spAutoFit/>
          </a:bodyPr>
          <a:lstStyle/>
          <a:p>
            <a:r>
              <a:rPr lang="en-IN" sz="2400" dirty="0"/>
              <a:t>2022-23   </a:t>
            </a:r>
            <a:endParaRPr lang="en-IN" sz="2400" b="1" dirty="0">
              <a:solidFill>
                <a:srgbClr val="C00000"/>
              </a:solidFill>
            </a:endParaRPr>
          </a:p>
        </p:txBody>
      </p:sp>
      <p:sp>
        <p:nvSpPr>
          <p:cNvPr id="71" name="Rectangle 70">
            <a:extLst>
              <a:ext uri="{FF2B5EF4-FFF2-40B4-BE49-F238E27FC236}">
                <a16:creationId xmlns:a16="http://schemas.microsoft.com/office/drawing/2014/main" id="{26747F71-B367-4E6A-8221-2B371D8B1596}"/>
              </a:ext>
            </a:extLst>
          </p:cNvPr>
          <p:cNvSpPr/>
          <p:nvPr/>
        </p:nvSpPr>
        <p:spPr>
          <a:xfrm>
            <a:off x="7304022" y="5016352"/>
            <a:ext cx="1386918" cy="461665"/>
          </a:xfrm>
          <a:prstGeom prst="rect">
            <a:avLst/>
          </a:prstGeom>
        </p:spPr>
        <p:txBody>
          <a:bodyPr wrap="none">
            <a:spAutoFit/>
          </a:bodyPr>
          <a:lstStyle/>
          <a:p>
            <a:r>
              <a:rPr lang="en-IN" sz="2400" dirty="0"/>
              <a:t>2021-22   </a:t>
            </a:r>
            <a:endParaRPr lang="en-IN" sz="2400" b="1" dirty="0">
              <a:solidFill>
                <a:srgbClr val="C00000"/>
              </a:solidFill>
            </a:endParaRPr>
          </a:p>
        </p:txBody>
      </p:sp>
      <p:sp>
        <p:nvSpPr>
          <p:cNvPr id="73" name="Rectangle 72">
            <a:extLst>
              <a:ext uri="{FF2B5EF4-FFF2-40B4-BE49-F238E27FC236}">
                <a16:creationId xmlns:a16="http://schemas.microsoft.com/office/drawing/2014/main" id="{B1F4EEB4-DAA4-495F-BEA4-D5BE2D21529B}"/>
              </a:ext>
            </a:extLst>
          </p:cNvPr>
          <p:cNvSpPr/>
          <p:nvPr/>
        </p:nvSpPr>
        <p:spPr>
          <a:xfrm>
            <a:off x="7294295" y="5353938"/>
            <a:ext cx="1386918" cy="461665"/>
          </a:xfrm>
          <a:prstGeom prst="rect">
            <a:avLst/>
          </a:prstGeom>
        </p:spPr>
        <p:txBody>
          <a:bodyPr wrap="none">
            <a:spAutoFit/>
          </a:bodyPr>
          <a:lstStyle/>
          <a:p>
            <a:r>
              <a:rPr lang="en-IN" sz="2400" dirty="0"/>
              <a:t>2020-21   </a:t>
            </a:r>
            <a:endParaRPr lang="en-IN" sz="2400" b="1" dirty="0">
              <a:solidFill>
                <a:srgbClr val="C00000"/>
              </a:solidFill>
            </a:endParaRPr>
          </a:p>
        </p:txBody>
      </p:sp>
      <p:sp>
        <p:nvSpPr>
          <p:cNvPr id="79" name="Content Placeholder 2">
            <a:extLst>
              <a:ext uri="{FF2B5EF4-FFF2-40B4-BE49-F238E27FC236}">
                <a16:creationId xmlns:a16="http://schemas.microsoft.com/office/drawing/2014/main" id="{87318918-894E-4FCA-921F-DACA4E938416}"/>
              </a:ext>
            </a:extLst>
          </p:cNvPr>
          <p:cNvSpPr txBox="1">
            <a:spLocks/>
          </p:cNvSpPr>
          <p:nvPr/>
        </p:nvSpPr>
        <p:spPr>
          <a:xfrm>
            <a:off x="0" y="5932117"/>
            <a:ext cx="11827363" cy="903667"/>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6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4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2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5113" marR="0" lvl="0" indent="-265113"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Char char=""/>
              <a:tabLst/>
              <a:defRPr/>
            </a:pPr>
            <a:r>
              <a:rPr kumimoji="0" lang="en-US" sz="2400" b="0" i="0" u="none" strike="noStrike" kern="1200" cap="none" spc="0" normalizeH="0" baseline="0" noProof="0" dirty="0">
                <a:ln>
                  <a:noFill/>
                </a:ln>
                <a:solidFill>
                  <a:srgbClr val="212121"/>
                </a:solidFill>
                <a:effectLst/>
                <a:uLnTx/>
                <a:uFillTx/>
                <a:latin typeface="Roboto Condensed"/>
                <a:ea typeface="+mn-ea"/>
                <a:cs typeface="+mn-cs"/>
              </a:rPr>
              <a:t>She </a:t>
            </a:r>
            <a:r>
              <a:rPr kumimoji="0" lang="en-IN" sz="2400" b="1" i="0" u="none" strike="noStrike" kern="1200" cap="none" spc="0" normalizeH="0" baseline="0" noProof="0" dirty="0">
                <a:ln>
                  <a:noFill/>
                </a:ln>
                <a:solidFill>
                  <a:srgbClr val="C00000"/>
                </a:solidFill>
                <a:effectLst/>
                <a:uLnTx/>
                <a:uFillTx/>
                <a:latin typeface="Roboto Condensed"/>
                <a:ea typeface="+mn-ea"/>
                <a:cs typeface="+mn-cs"/>
              </a:rPr>
              <a:t>satisfies the second </a:t>
            </a:r>
            <a:r>
              <a:rPr lang="en-IN" sz="2400" b="1" dirty="0">
                <a:solidFill>
                  <a:srgbClr val="C00000"/>
                </a:solidFill>
                <a:latin typeface="Roboto Condensed"/>
              </a:rPr>
              <a:t>b</a:t>
            </a:r>
            <a:r>
              <a:rPr kumimoji="0" lang="en-IN" sz="2400" b="1" i="0" u="none" strike="noStrike" kern="1200" cap="none" spc="0" normalizeH="0" baseline="0" noProof="0" dirty="0" err="1">
                <a:ln>
                  <a:noFill/>
                </a:ln>
                <a:solidFill>
                  <a:srgbClr val="C00000"/>
                </a:solidFill>
                <a:effectLst/>
                <a:uLnTx/>
                <a:uFillTx/>
                <a:latin typeface="Roboto Condensed"/>
                <a:ea typeface="+mn-ea"/>
                <a:cs typeface="+mn-cs"/>
              </a:rPr>
              <a:t>asic</a:t>
            </a:r>
            <a:r>
              <a:rPr kumimoji="0" lang="en-IN" sz="2400" b="1" i="0" u="none" strike="noStrike" kern="1200" cap="none" spc="0" normalizeH="0" baseline="0" noProof="0" dirty="0">
                <a:ln>
                  <a:noFill/>
                </a:ln>
                <a:solidFill>
                  <a:srgbClr val="C00000"/>
                </a:solidFill>
                <a:effectLst/>
                <a:uLnTx/>
                <a:uFillTx/>
                <a:latin typeface="Roboto Condensed"/>
                <a:ea typeface="+mn-ea"/>
                <a:cs typeface="+mn-cs"/>
              </a:rPr>
              <a:t> </a:t>
            </a:r>
            <a:r>
              <a:rPr lang="en-IN" sz="2400" b="1" dirty="0">
                <a:solidFill>
                  <a:srgbClr val="C00000"/>
                </a:solidFill>
                <a:latin typeface="Roboto Condensed"/>
              </a:rPr>
              <a:t>c</a:t>
            </a:r>
            <a:r>
              <a:rPr kumimoji="0" lang="en-IN" sz="2400" b="1" i="0" u="none" strike="noStrike" kern="1200" cap="none" spc="0" normalizeH="0" baseline="0" noProof="0" dirty="0" err="1">
                <a:ln>
                  <a:noFill/>
                </a:ln>
                <a:solidFill>
                  <a:srgbClr val="C00000"/>
                </a:solidFill>
                <a:effectLst/>
                <a:uLnTx/>
                <a:uFillTx/>
                <a:latin typeface="Roboto Condensed"/>
                <a:ea typeface="+mn-ea"/>
                <a:cs typeface="+mn-cs"/>
              </a:rPr>
              <a:t>ondition</a:t>
            </a:r>
            <a:r>
              <a:rPr kumimoji="0" lang="en-IN" sz="2400" b="1" i="0" u="none" strike="noStrike" kern="1200" cap="none" spc="0" normalizeH="0" baseline="0" noProof="0" dirty="0">
                <a:ln>
                  <a:noFill/>
                </a:ln>
                <a:solidFill>
                  <a:srgbClr val="C00000"/>
                </a:solidFill>
                <a:effectLst/>
                <a:uLnTx/>
                <a:uFillTx/>
                <a:latin typeface="Roboto Condensed"/>
                <a:ea typeface="+mn-ea"/>
                <a:cs typeface="+mn-cs"/>
              </a:rPr>
              <a:t>,</a:t>
            </a:r>
            <a:r>
              <a:rPr kumimoji="0" lang="en-IN" sz="2400" b="0" i="0" u="none" strike="noStrike" kern="1200" cap="none" spc="0" normalizeH="0" baseline="0" noProof="0" dirty="0">
                <a:ln>
                  <a:noFill/>
                </a:ln>
                <a:solidFill>
                  <a:srgbClr val="212121"/>
                </a:solidFill>
                <a:effectLst/>
                <a:uLnTx/>
                <a:uFillTx/>
                <a:latin typeface="Roboto Condensed"/>
                <a:ea typeface="+mn-ea"/>
                <a:cs typeface="+mn-cs"/>
              </a:rPr>
              <a:t> means she is resident of India.</a:t>
            </a:r>
          </a:p>
        </p:txBody>
      </p:sp>
      <p:sp>
        <p:nvSpPr>
          <p:cNvPr id="5" name="Right Brace 4">
            <a:extLst>
              <a:ext uri="{FF2B5EF4-FFF2-40B4-BE49-F238E27FC236}">
                <a16:creationId xmlns:a16="http://schemas.microsoft.com/office/drawing/2014/main" id="{FE5B4700-AFAE-42EE-9C14-0164A59BF373}"/>
              </a:ext>
            </a:extLst>
          </p:cNvPr>
          <p:cNvSpPr/>
          <p:nvPr/>
        </p:nvSpPr>
        <p:spPr>
          <a:xfrm>
            <a:off x="8515922" y="4459371"/>
            <a:ext cx="539379" cy="1134034"/>
          </a:xfrm>
          <a:prstGeom prst="rightBrace">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IN" dirty="0"/>
          </a:p>
        </p:txBody>
      </p:sp>
      <p:sp>
        <p:nvSpPr>
          <p:cNvPr id="3" name="TextBox 2">
            <a:extLst>
              <a:ext uri="{FF2B5EF4-FFF2-40B4-BE49-F238E27FC236}">
                <a16:creationId xmlns:a16="http://schemas.microsoft.com/office/drawing/2014/main" id="{E9885AB1-A69C-5745-FA7E-818096ED1626}"/>
              </a:ext>
            </a:extLst>
          </p:cNvPr>
          <p:cNvSpPr txBox="1"/>
          <p:nvPr/>
        </p:nvSpPr>
        <p:spPr>
          <a:xfrm>
            <a:off x="241357" y="1115275"/>
            <a:ext cx="4265331" cy="830997"/>
          </a:xfrm>
          <a:prstGeom prst="rect">
            <a:avLst/>
          </a:prstGeom>
          <a:noFill/>
        </p:spPr>
        <p:txBody>
          <a:bodyPr wrap="square">
            <a:spAutoFit/>
          </a:bodyPr>
          <a:lstStyle/>
          <a:p>
            <a:r>
              <a:rPr lang="en-IN" sz="2400" dirty="0"/>
              <a:t>Assessment Year: </a:t>
            </a:r>
            <a:r>
              <a:rPr lang="en-IN" sz="2400" b="1" dirty="0">
                <a:solidFill>
                  <a:srgbClr val="C00000"/>
                </a:solidFill>
              </a:rPr>
              <a:t>2025-’26</a:t>
            </a:r>
          </a:p>
          <a:p>
            <a:r>
              <a:rPr lang="en-IN" sz="2400" dirty="0"/>
              <a:t>Previous Year: </a:t>
            </a:r>
            <a:r>
              <a:rPr lang="en-IN" sz="2400" b="1" dirty="0">
                <a:solidFill>
                  <a:srgbClr val="C00000"/>
                </a:solidFill>
              </a:rPr>
              <a:t>2024-’25</a:t>
            </a:r>
          </a:p>
        </p:txBody>
      </p:sp>
    </p:spTree>
    <p:extLst>
      <p:ext uri="{BB962C8B-B14F-4D97-AF65-F5344CB8AC3E}">
        <p14:creationId xmlns:p14="http://schemas.microsoft.com/office/powerpoint/2010/main" val="2026037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6"/>
                                        </p:tgtEl>
                                        <p:attrNameLst>
                                          <p:attrName>style.visibility</p:attrName>
                                        </p:attrNameLst>
                                      </p:cBhvr>
                                      <p:to>
                                        <p:strVal val="visible"/>
                                      </p:to>
                                    </p:set>
                                    <p:anim calcmode="lin" valueType="num">
                                      <p:cBhvr additive="base">
                                        <p:cTn id="13" dur="500" fill="hold"/>
                                        <p:tgtEl>
                                          <p:spTgt spid="46"/>
                                        </p:tgtEl>
                                        <p:attrNameLst>
                                          <p:attrName>ppt_x</p:attrName>
                                        </p:attrNameLst>
                                      </p:cBhvr>
                                      <p:tavLst>
                                        <p:tav tm="0">
                                          <p:val>
                                            <p:strVal val="0-#ppt_w/2"/>
                                          </p:val>
                                        </p:tav>
                                        <p:tav tm="100000">
                                          <p:val>
                                            <p:strVal val="#ppt_x"/>
                                          </p:val>
                                        </p:tav>
                                      </p:tavLst>
                                    </p:anim>
                                    <p:anim calcmode="lin" valueType="num">
                                      <p:cBhvr additive="base">
                                        <p:cTn id="14" dur="5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7"/>
                                        </p:tgtEl>
                                        <p:attrNameLst>
                                          <p:attrName>style.visibility</p:attrName>
                                        </p:attrNameLst>
                                      </p:cBhvr>
                                      <p:to>
                                        <p:strVal val="visible"/>
                                      </p:to>
                                    </p:set>
                                    <p:anim calcmode="lin" valueType="num">
                                      <p:cBhvr additive="base">
                                        <p:cTn id="19" dur="500" fill="hold"/>
                                        <p:tgtEl>
                                          <p:spTgt spid="47"/>
                                        </p:tgtEl>
                                        <p:attrNameLst>
                                          <p:attrName>ppt_x</p:attrName>
                                        </p:attrNameLst>
                                      </p:cBhvr>
                                      <p:tavLst>
                                        <p:tav tm="0">
                                          <p:val>
                                            <p:strVal val="0-#ppt_w/2"/>
                                          </p:val>
                                        </p:tav>
                                        <p:tav tm="100000">
                                          <p:val>
                                            <p:strVal val="#ppt_x"/>
                                          </p:val>
                                        </p:tav>
                                      </p:tavLst>
                                    </p:anim>
                                    <p:anim calcmode="lin" valueType="num">
                                      <p:cBhvr additive="base">
                                        <p:cTn id="20" dur="500" fill="hold"/>
                                        <p:tgtEl>
                                          <p:spTgt spid="4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1">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6" presetClass="entr" presetSubtype="0" fill="hold" grpId="0" nodeType="clickEffect">
                                  <p:stCondLst>
                                    <p:cond delay="0"/>
                                  </p:stCondLst>
                                  <p:childTnLst>
                                    <p:set>
                                      <p:cBhvr>
                                        <p:cTn id="48" dur="1" fill="hold">
                                          <p:stCondLst>
                                            <p:cond delay="0"/>
                                          </p:stCondLst>
                                        </p:cTn>
                                        <p:tgtEl>
                                          <p:spTgt spid="68"/>
                                        </p:tgtEl>
                                        <p:attrNameLst>
                                          <p:attrName>style.visibility</p:attrName>
                                        </p:attrNameLst>
                                      </p:cBhvr>
                                      <p:to>
                                        <p:strVal val="visible"/>
                                      </p:to>
                                    </p:set>
                                    <p:animEffect transition="in" filter="wipe(down)">
                                      <p:cBhvr>
                                        <p:cTn id="49" dur="580">
                                          <p:stCondLst>
                                            <p:cond delay="0"/>
                                          </p:stCondLst>
                                        </p:cTn>
                                        <p:tgtEl>
                                          <p:spTgt spid="68"/>
                                        </p:tgtEl>
                                      </p:cBhvr>
                                    </p:animEffect>
                                    <p:anim calcmode="lin" valueType="num">
                                      <p:cBhvr>
                                        <p:cTn id="50" dur="1822" tmFilter="0,0; 0.14,0.36; 0.43,0.73; 0.71,0.91; 1.0,1.0">
                                          <p:stCondLst>
                                            <p:cond delay="0"/>
                                          </p:stCondLst>
                                        </p:cTn>
                                        <p:tgtEl>
                                          <p:spTgt spid="68"/>
                                        </p:tgtEl>
                                        <p:attrNameLst>
                                          <p:attrName>ppt_x</p:attrName>
                                        </p:attrNameLst>
                                      </p:cBhvr>
                                      <p:tavLst>
                                        <p:tav tm="0">
                                          <p:val>
                                            <p:strVal val="#ppt_x-0.25"/>
                                          </p:val>
                                        </p:tav>
                                        <p:tav tm="100000">
                                          <p:val>
                                            <p:strVal val="#ppt_x"/>
                                          </p:val>
                                        </p:tav>
                                      </p:tavLst>
                                    </p:anim>
                                    <p:anim calcmode="lin" valueType="num">
                                      <p:cBhvr>
                                        <p:cTn id="51" dur="664" tmFilter="0.0,0.0; 0.25,0.07; 0.50,0.2; 0.75,0.467; 1.0,1.0">
                                          <p:stCondLst>
                                            <p:cond delay="0"/>
                                          </p:stCondLst>
                                        </p:cTn>
                                        <p:tgtEl>
                                          <p:spTgt spid="68"/>
                                        </p:tgtEl>
                                        <p:attrNameLst>
                                          <p:attrName>ppt_y</p:attrName>
                                        </p:attrNameLst>
                                      </p:cBhvr>
                                      <p:tavLst>
                                        <p:tav tm="0" fmla="#ppt_y-sin(pi*$)/3">
                                          <p:val>
                                            <p:fltVal val="0.5"/>
                                          </p:val>
                                        </p:tav>
                                        <p:tav tm="100000">
                                          <p:val>
                                            <p:fltVal val="1"/>
                                          </p:val>
                                        </p:tav>
                                      </p:tavLst>
                                    </p:anim>
                                    <p:anim calcmode="lin" valueType="num">
                                      <p:cBhvr>
                                        <p:cTn id="52" dur="664" tmFilter="0, 0; 0.125,0.2665; 0.25,0.4; 0.375,0.465; 0.5,0.5;  0.625,0.535; 0.75,0.6; 0.875,0.7335; 1,1">
                                          <p:stCondLst>
                                            <p:cond delay="664"/>
                                          </p:stCondLst>
                                        </p:cTn>
                                        <p:tgtEl>
                                          <p:spTgt spid="68"/>
                                        </p:tgtEl>
                                        <p:attrNameLst>
                                          <p:attrName>ppt_y</p:attrName>
                                        </p:attrNameLst>
                                      </p:cBhvr>
                                      <p:tavLst>
                                        <p:tav tm="0" fmla="#ppt_y-sin(pi*$)/9">
                                          <p:val>
                                            <p:fltVal val="0"/>
                                          </p:val>
                                        </p:tav>
                                        <p:tav tm="100000">
                                          <p:val>
                                            <p:fltVal val="1"/>
                                          </p:val>
                                        </p:tav>
                                      </p:tavLst>
                                    </p:anim>
                                    <p:anim calcmode="lin" valueType="num">
                                      <p:cBhvr>
                                        <p:cTn id="53" dur="332" tmFilter="0, 0; 0.125,0.2665; 0.25,0.4; 0.375,0.465; 0.5,0.5;  0.625,0.535; 0.75,0.6; 0.875,0.7335; 1,1">
                                          <p:stCondLst>
                                            <p:cond delay="1324"/>
                                          </p:stCondLst>
                                        </p:cTn>
                                        <p:tgtEl>
                                          <p:spTgt spid="68"/>
                                        </p:tgtEl>
                                        <p:attrNameLst>
                                          <p:attrName>ppt_y</p:attrName>
                                        </p:attrNameLst>
                                      </p:cBhvr>
                                      <p:tavLst>
                                        <p:tav tm="0" fmla="#ppt_y-sin(pi*$)/27">
                                          <p:val>
                                            <p:fltVal val="0"/>
                                          </p:val>
                                        </p:tav>
                                        <p:tav tm="100000">
                                          <p:val>
                                            <p:fltVal val="1"/>
                                          </p:val>
                                        </p:tav>
                                      </p:tavLst>
                                    </p:anim>
                                    <p:anim calcmode="lin" valueType="num">
                                      <p:cBhvr>
                                        <p:cTn id="54" dur="164" tmFilter="0, 0; 0.125,0.2665; 0.25,0.4; 0.375,0.465; 0.5,0.5;  0.625,0.535; 0.75,0.6; 0.875,0.7335; 1,1">
                                          <p:stCondLst>
                                            <p:cond delay="1656"/>
                                          </p:stCondLst>
                                        </p:cTn>
                                        <p:tgtEl>
                                          <p:spTgt spid="68"/>
                                        </p:tgtEl>
                                        <p:attrNameLst>
                                          <p:attrName>ppt_y</p:attrName>
                                        </p:attrNameLst>
                                      </p:cBhvr>
                                      <p:tavLst>
                                        <p:tav tm="0" fmla="#ppt_y-sin(pi*$)/81">
                                          <p:val>
                                            <p:fltVal val="0"/>
                                          </p:val>
                                        </p:tav>
                                        <p:tav tm="100000">
                                          <p:val>
                                            <p:fltVal val="1"/>
                                          </p:val>
                                        </p:tav>
                                      </p:tavLst>
                                    </p:anim>
                                    <p:animScale>
                                      <p:cBhvr>
                                        <p:cTn id="55" dur="26">
                                          <p:stCondLst>
                                            <p:cond delay="650"/>
                                          </p:stCondLst>
                                        </p:cTn>
                                        <p:tgtEl>
                                          <p:spTgt spid="68"/>
                                        </p:tgtEl>
                                      </p:cBhvr>
                                      <p:to x="100000" y="60000"/>
                                    </p:animScale>
                                    <p:animScale>
                                      <p:cBhvr>
                                        <p:cTn id="56" dur="166" decel="50000">
                                          <p:stCondLst>
                                            <p:cond delay="676"/>
                                          </p:stCondLst>
                                        </p:cTn>
                                        <p:tgtEl>
                                          <p:spTgt spid="68"/>
                                        </p:tgtEl>
                                      </p:cBhvr>
                                      <p:to x="100000" y="100000"/>
                                    </p:animScale>
                                    <p:animScale>
                                      <p:cBhvr>
                                        <p:cTn id="57" dur="26">
                                          <p:stCondLst>
                                            <p:cond delay="1312"/>
                                          </p:stCondLst>
                                        </p:cTn>
                                        <p:tgtEl>
                                          <p:spTgt spid="68"/>
                                        </p:tgtEl>
                                      </p:cBhvr>
                                      <p:to x="100000" y="80000"/>
                                    </p:animScale>
                                    <p:animScale>
                                      <p:cBhvr>
                                        <p:cTn id="58" dur="166" decel="50000">
                                          <p:stCondLst>
                                            <p:cond delay="1338"/>
                                          </p:stCondLst>
                                        </p:cTn>
                                        <p:tgtEl>
                                          <p:spTgt spid="68"/>
                                        </p:tgtEl>
                                      </p:cBhvr>
                                      <p:to x="100000" y="100000"/>
                                    </p:animScale>
                                    <p:animScale>
                                      <p:cBhvr>
                                        <p:cTn id="59" dur="26">
                                          <p:stCondLst>
                                            <p:cond delay="1642"/>
                                          </p:stCondLst>
                                        </p:cTn>
                                        <p:tgtEl>
                                          <p:spTgt spid="68"/>
                                        </p:tgtEl>
                                      </p:cBhvr>
                                      <p:to x="100000" y="90000"/>
                                    </p:animScale>
                                    <p:animScale>
                                      <p:cBhvr>
                                        <p:cTn id="60" dur="166" decel="50000">
                                          <p:stCondLst>
                                            <p:cond delay="1668"/>
                                          </p:stCondLst>
                                        </p:cTn>
                                        <p:tgtEl>
                                          <p:spTgt spid="68"/>
                                        </p:tgtEl>
                                      </p:cBhvr>
                                      <p:to x="100000" y="100000"/>
                                    </p:animScale>
                                    <p:animScale>
                                      <p:cBhvr>
                                        <p:cTn id="61" dur="26">
                                          <p:stCondLst>
                                            <p:cond delay="1808"/>
                                          </p:stCondLst>
                                        </p:cTn>
                                        <p:tgtEl>
                                          <p:spTgt spid="68"/>
                                        </p:tgtEl>
                                      </p:cBhvr>
                                      <p:to x="100000" y="95000"/>
                                    </p:animScale>
                                    <p:animScale>
                                      <p:cBhvr>
                                        <p:cTn id="62" dur="166" decel="50000">
                                          <p:stCondLst>
                                            <p:cond delay="1834"/>
                                          </p:stCondLst>
                                        </p:cTn>
                                        <p:tgtEl>
                                          <p:spTgt spid="68"/>
                                        </p:tgtEl>
                                      </p:cBhvr>
                                      <p:to x="100000" y="100000"/>
                                    </p:animScale>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79">
                                            <p:txEl>
                                              <p:pRg st="0" end="0"/>
                                            </p:txEl>
                                          </p:spTgt>
                                        </p:tgtEl>
                                        <p:attrNameLst>
                                          <p:attrName>style.visibility</p:attrName>
                                        </p:attrNameLst>
                                      </p:cBhvr>
                                      <p:to>
                                        <p:strVal val="visible"/>
                                      </p:to>
                                    </p:set>
                                    <p:animEffect transition="in" filter="fade">
                                      <p:cBhvr>
                                        <p:cTn id="67" dur="500"/>
                                        <p:tgtEl>
                                          <p:spTgt spid="79">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68" grpId="0"/>
      <p:bldP spid="69" grpId="0"/>
      <p:bldP spid="73" grpId="0"/>
      <p:bldP spid="79" grpId="0" uiExpand="1" build="p"/>
      <p:bldP spid="5" grpId="0" animBg="1"/>
      <p:bldP spid="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2601B-4A50-47FD-9642-A695665EEF4D}"/>
              </a:ext>
            </a:extLst>
          </p:cNvPr>
          <p:cNvSpPr>
            <a:spLocks noGrp="1"/>
          </p:cNvSpPr>
          <p:nvPr>
            <p:ph type="title"/>
          </p:nvPr>
        </p:nvSpPr>
        <p:spPr/>
        <p:txBody>
          <a:bodyPr/>
          <a:lstStyle/>
          <a:p>
            <a:r>
              <a:rPr lang="en-US" dirty="0"/>
              <a:t>Residential Status of Other Persons</a:t>
            </a:r>
            <a:endParaRPr lang="en-IN" dirty="0"/>
          </a:p>
        </p:txBody>
      </p:sp>
      <p:sp>
        <p:nvSpPr>
          <p:cNvPr id="3" name="Content Placeholder 2">
            <a:extLst>
              <a:ext uri="{FF2B5EF4-FFF2-40B4-BE49-F238E27FC236}">
                <a16:creationId xmlns:a16="http://schemas.microsoft.com/office/drawing/2014/main" id="{0161324E-BCD7-4594-AB51-A88AAB992546}"/>
              </a:ext>
            </a:extLst>
          </p:cNvPr>
          <p:cNvSpPr>
            <a:spLocks noGrp="1"/>
          </p:cNvSpPr>
          <p:nvPr>
            <p:ph idx="1"/>
          </p:nvPr>
        </p:nvSpPr>
        <p:spPr/>
        <p:txBody>
          <a:bodyPr/>
          <a:lstStyle/>
          <a:p>
            <a:r>
              <a:rPr lang="en-US" b="1" dirty="0"/>
              <a:t>Hindu Undivided Families (HUFs)</a:t>
            </a:r>
          </a:p>
          <a:p>
            <a:pPr lvl="1"/>
            <a:r>
              <a:rPr lang="en-US" b="1" dirty="0"/>
              <a:t>Basic Conditions:</a:t>
            </a:r>
          </a:p>
          <a:p>
            <a:pPr lvl="2"/>
            <a:r>
              <a:rPr lang="en-US" dirty="0"/>
              <a:t>An HUF is considered a resident in India if the control and management of its affairs are wholly or partially </a:t>
            </a:r>
            <a:r>
              <a:rPr lang="en-US" b="1" dirty="0">
                <a:solidFill>
                  <a:srgbClr val="C00000"/>
                </a:solidFill>
              </a:rPr>
              <a:t>situated in India</a:t>
            </a:r>
            <a:r>
              <a:rPr lang="en-US" dirty="0"/>
              <a:t>. </a:t>
            </a:r>
          </a:p>
          <a:p>
            <a:pPr lvl="2"/>
            <a:r>
              <a:rPr lang="en-US" dirty="0"/>
              <a:t>The </a:t>
            </a:r>
            <a:r>
              <a:rPr lang="en-US" b="1" dirty="0">
                <a:solidFill>
                  <a:srgbClr val="C00000"/>
                </a:solidFill>
              </a:rPr>
              <a:t>residential status of the Karta</a:t>
            </a:r>
            <a:r>
              <a:rPr lang="en-US" b="1" dirty="0"/>
              <a:t> </a:t>
            </a:r>
            <a:r>
              <a:rPr lang="en-US" dirty="0"/>
              <a:t>(the head of the HUF) plays a significant role in determining the HUF's status.</a:t>
            </a:r>
          </a:p>
          <a:p>
            <a:pPr marL="457200" lvl="1" indent="0">
              <a:buNone/>
            </a:pPr>
            <a:endParaRPr lang="en-US" dirty="0"/>
          </a:p>
        </p:txBody>
      </p:sp>
    </p:spTree>
    <p:extLst>
      <p:ext uri="{BB962C8B-B14F-4D97-AF65-F5344CB8AC3E}">
        <p14:creationId xmlns:p14="http://schemas.microsoft.com/office/powerpoint/2010/main" val="1082745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cs typeface="Times New Roman" panose="02020603050405020304" pitchFamily="18" charset="0"/>
              </a:rPr>
              <a:t>Residential status of HUF (Additional Conditions):</a:t>
            </a:r>
          </a:p>
        </p:txBody>
      </p:sp>
      <p:grpSp>
        <p:nvGrpSpPr>
          <p:cNvPr id="3" name="Group 2">
            <a:extLst>
              <a:ext uri="{FF2B5EF4-FFF2-40B4-BE49-F238E27FC236}">
                <a16:creationId xmlns:a16="http://schemas.microsoft.com/office/drawing/2014/main" id="{CC01971F-5D7E-1700-FCD0-32A4224A37F6}"/>
              </a:ext>
            </a:extLst>
          </p:cNvPr>
          <p:cNvGrpSpPr/>
          <p:nvPr/>
        </p:nvGrpSpPr>
        <p:grpSpPr>
          <a:xfrm>
            <a:off x="1971885" y="902274"/>
            <a:ext cx="8248230" cy="5278591"/>
            <a:chOff x="1987491" y="1225066"/>
            <a:chExt cx="8248230" cy="5278591"/>
          </a:xfrm>
        </p:grpSpPr>
        <p:grpSp>
          <p:nvGrpSpPr>
            <p:cNvPr id="4" name="Group 3"/>
            <p:cNvGrpSpPr/>
            <p:nvPr/>
          </p:nvGrpSpPr>
          <p:grpSpPr>
            <a:xfrm>
              <a:off x="1987491" y="1225066"/>
              <a:ext cx="8248230" cy="569447"/>
              <a:chOff x="1636668" y="782988"/>
              <a:chExt cx="1139384" cy="569447"/>
            </a:xfrm>
          </p:grpSpPr>
          <p:sp>
            <p:nvSpPr>
              <p:cNvPr id="89" name="Rounded Rectangle 1"/>
              <p:cNvSpPr/>
              <p:nvPr/>
            </p:nvSpPr>
            <p:spPr>
              <a:xfrm>
                <a:off x="1636668" y="782988"/>
                <a:ext cx="1138893" cy="569446"/>
              </a:xfrm>
              <a:custGeom>
                <a:avLst/>
                <a:gdLst/>
                <a:ahLst/>
                <a:cxnLst/>
                <a:rect l="0" t="0" r="0" b="0"/>
                <a:pathLst>
                  <a:path w="1138893" h="569446">
                    <a:moveTo>
                      <a:pt x="71180" y="0"/>
                    </a:moveTo>
                    <a:lnTo>
                      <a:pt x="1067712" y="0"/>
                    </a:lnTo>
                    <a:cubicBezTo>
                      <a:pt x="1067712" y="0"/>
                      <a:pt x="1138893" y="0"/>
                      <a:pt x="1138893" y="71180"/>
                    </a:cubicBezTo>
                    <a:lnTo>
                      <a:pt x="1138893" y="498265"/>
                    </a:lnTo>
                    <a:cubicBezTo>
                      <a:pt x="1138893" y="498265"/>
                      <a:pt x="1138893" y="569446"/>
                      <a:pt x="1067712" y="569446"/>
                    </a:cubicBezTo>
                    <a:lnTo>
                      <a:pt x="71180" y="569446"/>
                    </a:lnTo>
                    <a:cubicBezTo>
                      <a:pt x="71180" y="569446"/>
                      <a:pt x="0" y="569446"/>
                      <a:pt x="0" y="498265"/>
                    </a:cubicBezTo>
                    <a:lnTo>
                      <a:pt x="0" y="71180"/>
                    </a:lnTo>
                    <a:cubicBezTo>
                      <a:pt x="0" y="71180"/>
                      <a:pt x="0" y="0"/>
                      <a:pt x="71180" y="0"/>
                    </a:cubicBezTo>
                  </a:path>
                </a:pathLst>
              </a:custGeom>
              <a:solidFill>
                <a:srgbClr val="969696"/>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90" name="Rounded Rectangle 2"/>
              <p:cNvSpPr/>
              <p:nvPr/>
            </p:nvSpPr>
            <p:spPr>
              <a:xfrm>
                <a:off x="1637159" y="782989"/>
                <a:ext cx="1138893" cy="569446"/>
              </a:xfrm>
              <a:custGeom>
                <a:avLst/>
                <a:gdLst/>
                <a:ahLst/>
                <a:cxnLst/>
                <a:rect l="0" t="0" r="0" b="0"/>
                <a:pathLst>
                  <a:path w="1138893" h="569446">
                    <a:moveTo>
                      <a:pt x="71180" y="0"/>
                    </a:moveTo>
                    <a:lnTo>
                      <a:pt x="1067712" y="0"/>
                    </a:lnTo>
                    <a:cubicBezTo>
                      <a:pt x="1067712" y="0"/>
                      <a:pt x="1138893" y="0"/>
                      <a:pt x="1138893" y="71180"/>
                    </a:cubicBezTo>
                    <a:lnTo>
                      <a:pt x="1138893" y="498265"/>
                    </a:lnTo>
                    <a:cubicBezTo>
                      <a:pt x="1138893" y="498265"/>
                      <a:pt x="1138893" y="569446"/>
                      <a:pt x="1067712" y="569446"/>
                    </a:cubicBezTo>
                    <a:lnTo>
                      <a:pt x="71180" y="569446"/>
                    </a:lnTo>
                    <a:cubicBezTo>
                      <a:pt x="71180" y="569446"/>
                      <a:pt x="0" y="569446"/>
                      <a:pt x="0" y="498265"/>
                    </a:cubicBezTo>
                    <a:lnTo>
                      <a:pt x="0" y="71180"/>
                    </a:lnTo>
                    <a:cubicBezTo>
                      <a:pt x="0" y="71180"/>
                      <a:pt x="0" y="0"/>
                      <a:pt x="71180" y="0"/>
                    </a:cubicBezTo>
                  </a:path>
                </a:pathLst>
              </a:custGeom>
              <a:noFill/>
              <a:ln w="889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6" name="Group 5"/>
            <p:cNvGrpSpPr/>
            <p:nvPr/>
          </p:nvGrpSpPr>
          <p:grpSpPr>
            <a:xfrm>
              <a:off x="7963398" y="3467901"/>
              <a:ext cx="1880828" cy="860102"/>
              <a:chOff x="2212537" y="2301513"/>
              <a:chExt cx="1067712" cy="569446"/>
            </a:xfrm>
          </p:grpSpPr>
          <p:sp>
            <p:nvSpPr>
              <p:cNvPr id="85" name="Rounded Rectangle 7"/>
              <p:cNvSpPr/>
              <p:nvPr/>
            </p:nvSpPr>
            <p:spPr>
              <a:xfrm>
                <a:off x="2212537" y="2301513"/>
                <a:ext cx="1067712" cy="569446"/>
              </a:xfrm>
              <a:custGeom>
                <a:avLst/>
                <a:gdLst/>
                <a:ahLst/>
                <a:cxnLst/>
                <a:rect l="0" t="0" r="0" b="0"/>
                <a:pathLst>
                  <a:path w="1067712" h="569446">
                    <a:moveTo>
                      <a:pt x="71180" y="0"/>
                    </a:moveTo>
                    <a:lnTo>
                      <a:pt x="996531" y="0"/>
                    </a:lnTo>
                    <a:cubicBezTo>
                      <a:pt x="996531" y="0"/>
                      <a:pt x="1067712" y="0"/>
                      <a:pt x="1067712" y="71180"/>
                    </a:cubicBezTo>
                    <a:lnTo>
                      <a:pt x="1067712" y="498265"/>
                    </a:lnTo>
                    <a:cubicBezTo>
                      <a:pt x="1067712" y="498265"/>
                      <a:pt x="1067712" y="569446"/>
                      <a:pt x="996531" y="569446"/>
                    </a:cubicBezTo>
                    <a:lnTo>
                      <a:pt x="71180" y="569446"/>
                    </a:lnTo>
                    <a:cubicBezTo>
                      <a:pt x="71180" y="569446"/>
                      <a:pt x="0" y="569446"/>
                      <a:pt x="0" y="498265"/>
                    </a:cubicBezTo>
                    <a:lnTo>
                      <a:pt x="0" y="71180"/>
                    </a:lnTo>
                    <a:cubicBezTo>
                      <a:pt x="0" y="71180"/>
                      <a:pt x="0" y="0"/>
                      <a:pt x="71180" y="0"/>
                    </a:cubicBezTo>
                  </a:path>
                </a:pathLst>
              </a:custGeom>
              <a:solidFill>
                <a:srgbClr val="1EABDA"/>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86" name="Rounded Rectangle 8"/>
              <p:cNvSpPr/>
              <p:nvPr/>
            </p:nvSpPr>
            <p:spPr>
              <a:xfrm>
                <a:off x="2212537" y="2301513"/>
                <a:ext cx="1067712" cy="569446"/>
              </a:xfrm>
              <a:custGeom>
                <a:avLst/>
                <a:gdLst/>
                <a:ahLst/>
                <a:cxnLst/>
                <a:rect l="0" t="0" r="0" b="0"/>
                <a:pathLst>
                  <a:path w="1067712" h="569446">
                    <a:moveTo>
                      <a:pt x="71180" y="0"/>
                    </a:moveTo>
                    <a:lnTo>
                      <a:pt x="996531" y="0"/>
                    </a:lnTo>
                    <a:cubicBezTo>
                      <a:pt x="996531" y="0"/>
                      <a:pt x="1067712" y="0"/>
                      <a:pt x="1067712" y="71180"/>
                    </a:cubicBezTo>
                    <a:lnTo>
                      <a:pt x="1067712" y="498265"/>
                    </a:lnTo>
                    <a:cubicBezTo>
                      <a:pt x="1067712" y="498265"/>
                      <a:pt x="1067712" y="569446"/>
                      <a:pt x="996531" y="569446"/>
                    </a:cubicBezTo>
                    <a:lnTo>
                      <a:pt x="71180" y="569446"/>
                    </a:lnTo>
                    <a:cubicBezTo>
                      <a:pt x="71180" y="569446"/>
                      <a:pt x="0" y="569446"/>
                      <a:pt x="0" y="498265"/>
                    </a:cubicBezTo>
                    <a:lnTo>
                      <a:pt x="0" y="71180"/>
                    </a:lnTo>
                    <a:cubicBezTo>
                      <a:pt x="0" y="71180"/>
                      <a:pt x="0" y="0"/>
                      <a:pt x="71180" y="0"/>
                    </a:cubicBezTo>
                  </a:path>
                </a:pathLst>
              </a:custGeom>
              <a:noFill/>
              <a:ln w="889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7" name="Group 6"/>
            <p:cNvGrpSpPr/>
            <p:nvPr/>
          </p:nvGrpSpPr>
          <p:grpSpPr>
            <a:xfrm>
              <a:off x="1987491" y="3204469"/>
              <a:ext cx="5035826" cy="1561221"/>
              <a:chOff x="1097371" y="2301513"/>
              <a:chExt cx="996531" cy="569446"/>
            </a:xfrm>
          </p:grpSpPr>
          <p:sp>
            <p:nvSpPr>
              <p:cNvPr id="83" name="Rounded Rectangle 10"/>
              <p:cNvSpPr/>
              <p:nvPr/>
            </p:nvSpPr>
            <p:spPr>
              <a:xfrm>
                <a:off x="1097371" y="2301513"/>
                <a:ext cx="996531" cy="569446"/>
              </a:xfrm>
              <a:custGeom>
                <a:avLst/>
                <a:gdLst/>
                <a:ahLst/>
                <a:cxnLst/>
                <a:rect l="0" t="0" r="0" b="0"/>
                <a:pathLst>
                  <a:path w="996531" h="569446">
                    <a:moveTo>
                      <a:pt x="71180" y="0"/>
                    </a:moveTo>
                    <a:lnTo>
                      <a:pt x="925350" y="0"/>
                    </a:lnTo>
                    <a:cubicBezTo>
                      <a:pt x="925350" y="0"/>
                      <a:pt x="996531" y="0"/>
                      <a:pt x="996531" y="71180"/>
                    </a:cubicBezTo>
                    <a:lnTo>
                      <a:pt x="996531" y="498265"/>
                    </a:lnTo>
                    <a:cubicBezTo>
                      <a:pt x="996531" y="498265"/>
                      <a:pt x="996531" y="569446"/>
                      <a:pt x="925350" y="569446"/>
                    </a:cubicBezTo>
                    <a:lnTo>
                      <a:pt x="71180" y="569446"/>
                    </a:lnTo>
                    <a:cubicBezTo>
                      <a:pt x="71180" y="569446"/>
                      <a:pt x="0" y="569446"/>
                      <a:pt x="0" y="498265"/>
                    </a:cubicBezTo>
                    <a:lnTo>
                      <a:pt x="0" y="71180"/>
                    </a:lnTo>
                    <a:cubicBezTo>
                      <a:pt x="0" y="71180"/>
                      <a:pt x="0" y="0"/>
                      <a:pt x="71180" y="0"/>
                    </a:cubicBezTo>
                  </a:path>
                </a:pathLst>
              </a:custGeom>
              <a:solidFill>
                <a:srgbClr val="1EABDA"/>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84" name="Rounded Rectangle 11"/>
              <p:cNvSpPr/>
              <p:nvPr/>
            </p:nvSpPr>
            <p:spPr>
              <a:xfrm>
                <a:off x="1097371" y="2301513"/>
                <a:ext cx="996531" cy="569446"/>
              </a:xfrm>
              <a:custGeom>
                <a:avLst/>
                <a:gdLst/>
                <a:ahLst/>
                <a:cxnLst/>
                <a:rect l="0" t="0" r="0" b="0"/>
                <a:pathLst>
                  <a:path w="996531" h="569446">
                    <a:moveTo>
                      <a:pt x="71180" y="0"/>
                    </a:moveTo>
                    <a:lnTo>
                      <a:pt x="925350" y="0"/>
                    </a:lnTo>
                    <a:cubicBezTo>
                      <a:pt x="925350" y="0"/>
                      <a:pt x="996531" y="0"/>
                      <a:pt x="996531" y="71180"/>
                    </a:cubicBezTo>
                    <a:lnTo>
                      <a:pt x="996531" y="498265"/>
                    </a:lnTo>
                    <a:cubicBezTo>
                      <a:pt x="996531" y="498265"/>
                      <a:pt x="996531" y="569446"/>
                      <a:pt x="925350" y="569446"/>
                    </a:cubicBezTo>
                    <a:lnTo>
                      <a:pt x="71180" y="569446"/>
                    </a:lnTo>
                    <a:cubicBezTo>
                      <a:pt x="71180" y="569446"/>
                      <a:pt x="0" y="569446"/>
                      <a:pt x="0" y="498265"/>
                    </a:cubicBezTo>
                    <a:lnTo>
                      <a:pt x="0" y="71180"/>
                    </a:lnTo>
                    <a:cubicBezTo>
                      <a:pt x="0" y="71180"/>
                      <a:pt x="0" y="0"/>
                      <a:pt x="71180" y="0"/>
                    </a:cubicBezTo>
                  </a:path>
                </a:pathLst>
              </a:custGeom>
              <a:noFill/>
              <a:ln w="889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8" name="Group 7"/>
            <p:cNvGrpSpPr/>
            <p:nvPr/>
          </p:nvGrpSpPr>
          <p:grpSpPr>
            <a:xfrm>
              <a:off x="5204565" y="5996623"/>
              <a:ext cx="1818752" cy="483110"/>
              <a:chOff x="1257528" y="5338562"/>
              <a:chExt cx="1067712" cy="320313"/>
            </a:xfrm>
          </p:grpSpPr>
          <p:sp>
            <p:nvSpPr>
              <p:cNvPr id="81" name="Rounded Rectangle 13"/>
              <p:cNvSpPr/>
              <p:nvPr/>
            </p:nvSpPr>
            <p:spPr>
              <a:xfrm>
                <a:off x="1257528" y="5338562"/>
                <a:ext cx="1067712" cy="320313"/>
              </a:xfrm>
              <a:custGeom>
                <a:avLst/>
                <a:gdLst/>
                <a:ahLst/>
                <a:cxnLst/>
                <a:rect l="0" t="0" r="0" b="0"/>
                <a:pathLst>
                  <a:path w="1067712" h="320313">
                    <a:moveTo>
                      <a:pt x="71180" y="0"/>
                    </a:moveTo>
                    <a:lnTo>
                      <a:pt x="996531" y="0"/>
                    </a:lnTo>
                    <a:cubicBezTo>
                      <a:pt x="996531" y="0"/>
                      <a:pt x="1067712" y="0"/>
                      <a:pt x="1067712" y="71180"/>
                    </a:cubicBezTo>
                    <a:lnTo>
                      <a:pt x="1067712" y="249132"/>
                    </a:lnTo>
                    <a:cubicBezTo>
                      <a:pt x="1067712" y="249132"/>
                      <a:pt x="1067712" y="320313"/>
                      <a:pt x="996531" y="320313"/>
                    </a:cubicBezTo>
                    <a:lnTo>
                      <a:pt x="71180" y="320313"/>
                    </a:lnTo>
                    <a:cubicBezTo>
                      <a:pt x="71180" y="320313"/>
                      <a:pt x="0" y="320313"/>
                      <a:pt x="0" y="249132"/>
                    </a:cubicBezTo>
                    <a:lnTo>
                      <a:pt x="0" y="71180"/>
                    </a:lnTo>
                    <a:cubicBezTo>
                      <a:pt x="0" y="71180"/>
                      <a:pt x="0" y="0"/>
                      <a:pt x="71180" y="0"/>
                    </a:cubicBezTo>
                  </a:path>
                </a:pathLst>
              </a:custGeom>
              <a:solidFill>
                <a:srgbClr val="1EABDA"/>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82" name="Rounded Rectangle 14"/>
              <p:cNvSpPr/>
              <p:nvPr/>
            </p:nvSpPr>
            <p:spPr>
              <a:xfrm>
                <a:off x="1257528" y="5338562"/>
                <a:ext cx="1067712" cy="320313"/>
              </a:xfrm>
              <a:custGeom>
                <a:avLst/>
                <a:gdLst/>
                <a:ahLst/>
                <a:cxnLst/>
                <a:rect l="0" t="0" r="0" b="0"/>
                <a:pathLst>
                  <a:path w="1067712" h="320313">
                    <a:moveTo>
                      <a:pt x="71180" y="0"/>
                    </a:moveTo>
                    <a:lnTo>
                      <a:pt x="996531" y="0"/>
                    </a:lnTo>
                    <a:cubicBezTo>
                      <a:pt x="996531" y="0"/>
                      <a:pt x="1067712" y="0"/>
                      <a:pt x="1067712" y="71180"/>
                    </a:cubicBezTo>
                    <a:lnTo>
                      <a:pt x="1067712" y="249132"/>
                    </a:lnTo>
                    <a:cubicBezTo>
                      <a:pt x="1067712" y="249132"/>
                      <a:pt x="1067712" y="320313"/>
                      <a:pt x="996531" y="320313"/>
                    </a:cubicBezTo>
                    <a:lnTo>
                      <a:pt x="71180" y="320313"/>
                    </a:lnTo>
                    <a:cubicBezTo>
                      <a:pt x="71180" y="320313"/>
                      <a:pt x="0" y="320313"/>
                      <a:pt x="0" y="249132"/>
                    </a:cubicBezTo>
                    <a:lnTo>
                      <a:pt x="0" y="71180"/>
                    </a:lnTo>
                    <a:cubicBezTo>
                      <a:pt x="0" y="71180"/>
                      <a:pt x="0" y="0"/>
                      <a:pt x="71180" y="0"/>
                    </a:cubicBezTo>
                  </a:path>
                </a:pathLst>
              </a:custGeom>
              <a:noFill/>
              <a:ln w="889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9" name="Group 8"/>
            <p:cNvGrpSpPr/>
            <p:nvPr/>
          </p:nvGrpSpPr>
          <p:grpSpPr>
            <a:xfrm>
              <a:off x="1987491" y="5996623"/>
              <a:ext cx="1822317" cy="507034"/>
              <a:chOff x="142361" y="5338562"/>
              <a:chExt cx="996531" cy="320313"/>
            </a:xfrm>
          </p:grpSpPr>
          <p:sp>
            <p:nvSpPr>
              <p:cNvPr id="79" name="Rounded Rectangle 16"/>
              <p:cNvSpPr/>
              <p:nvPr/>
            </p:nvSpPr>
            <p:spPr>
              <a:xfrm>
                <a:off x="142361" y="5338562"/>
                <a:ext cx="996531" cy="320313"/>
              </a:xfrm>
              <a:custGeom>
                <a:avLst/>
                <a:gdLst/>
                <a:ahLst/>
                <a:cxnLst/>
                <a:rect l="0" t="0" r="0" b="0"/>
                <a:pathLst>
                  <a:path w="996531" h="320313">
                    <a:moveTo>
                      <a:pt x="71180" y="0"/>
                    </a:moveTo>
                    <a:lnTo>
                      <a:pt x="925350" y="0"/>
                    </a:lnTo>
                    <a:cubicBezTo>
                      <a:pt x="925350" y="0"/>
                      <a:pt x="996531" y="0"/>
                      <a:pt x="996531" y="71180"/>
                    </a:cubicBezTo>
                    <a:lnTo>
                      <a:pt x="996531" y="249132"/>
                    </a:lnTo>
                    <a:cubicBezTo>
                      <a:pt x="996531" y="249132"/>
                      <a:pt x="996531" y="320313"/>
                      <a:pt x="925350" y="320313"/>
                    </a:cubicBezTo>
                    <a:lnTo>
                      <a:pt x="71180" y="320313"/>
                    </a:lnTo>
                    <a:cubicBezTo>
                      <a:pt x="71180" y="320313"/>
                      <a:pt x="0" y="320313"/>
                      <a:pt x="0" y="249132"/>
                    </a:cubicBezTo>
                    <a:lnTo>
                      <a:pt x="0" y="71180"/>
                    </a:lnTo>
                    <a:cubicBezTo>
                      <a:pt x="0" y="71180"/>
                      <a:pt x="0" y="0"/>
                      <a:pt x="71180" y="0"/>
                    </a:cubicBezTo>
                  </a:path>
                </a:pathLst>
              </a:custGeom>
              <a:solidFill>
                <a:srgbClr val="1EABDA"/>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80" name="Rounded Rectangle 17"/>
              <p:cNvSpPr/>
              <p:nvPr/>
            </p:nvSpPr>
            <p:spPr>
              <a:xfrm>
                <a:off x="142361" y="5338562"/>
                <a:ext cx="996531" cy="320313"/>
              </a:xfrm>
              <a:custGeom>
                <a:avLst/>
                <a:gdLst/>
                <a:ahLst/>
                <a:cxnLst/>
                <a:rect l="0" t="0" r="0" b="0"/>
                <a:pathLst>
                  <a:path w="996531" h="320313">
                    <a:moveTo>
                      <a:pt x="71180" y="0"/>
                    </a:moveTo>
                    <a:lnTo>
                      <a:pt x="925350" y="0"/>
                    </a:lnTo>
                    <a:cubicBezTo>
                      <a:pt x="925350" y="0"/>
                      <a:pt x="996531" y="0"/>
                      <a:pt x="996531" y="71180"/>
                    </a:cubicBezTo>
                    <a:lnTo>
                      <a:pt x="996531" y="249132"/>
                    </a:lnTo>
                    <a:cubicBezTo>
                      <a:pt x="996531" y="249132"/>
                      <a:pt x="996531" y="320313"/>
                      <a:pt x="925350" y="320313"/>
                    </a:cubicBezTo>
                    <a:lnTo>
                      <a:pt x="71180" y="320313"/>
                    </a:lnTo>
                    <a:cubicBezTo>
                      <a:pt x="71180" y="320313"/>
                      <a:pt x="0" y="320313"/>
                      <a:pt x="0" y="249132"/>
                    </a:cubicBezTo>
                    <a:lnTo>
                      <a:pt x="0" y="71180"/>
                    </a:lnTo>
                    <a:cubicBezTo>
                      <a:pt x="0" y="71180"/>
                      <a:pt x="0" y="0"/>
                      <a:pt x="71180" y="0"/>
                    </a:cubicBezTo>
                  </a:path>
                </a:pathLst>
              </a:custGeom>
              <a:noFill/>
              <a:ln w="889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5" name="Group 14"/>
            <p:cNvGrpSpPr/>
            <p:nvPr/>
          </p:nvGrpSpPr>
          <p:grpSpPr>
            <a:xfrm>
              <a:off x="8518174" y="2226018"/>
              <a:ext cx="747398" cy="569446"/>
              <a:chOff x="2532851" y="1684613"/>
              <a:chExt cx="427085" cy="284723"/>
            </a:xfrm>
          </p:grpSpPr>
          <p:sp>
            <p:nvSpPr>
              <p:cNvPr id="67" name="Rounded Rectangle 34"/>
              <p:cNvSpPr/>
              <p:nvPr/>
            </p:nvSpPr>
            <p:spPr>
              <a:xfrm>
                <a:off x="2532851" y="1684613"/>
                <a:ext cx="427085" cy="284723"/>
              </a:xfrm>
              <a:custGeom>
                <a:avLst/>
                <a:gdLst/>
                <a:ahLst/>
                <a:cxnLst/>
                <a:rect l="0" t="0" r="0" b="0"/>
                <a:pathLst>
                  <a:path w="427085" h="284723">
                    <a:moveTo>
                      <a:pt x="213542" y="0"/>
                    </a:moveTo>
                    <a:lnTo>
                      <a:pt x="427085" y="142361"/>
                    </a:lnTo>
                    <a:lnTo>
                      <a:pt x="213542" y="284723"/>
                    </a:lnTo>
                    <a:lnTo>
                      <a:pt x="0" y="142361"/>
                    </a:ln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68" name="Rounded Rectangle 35"/>
              <p:cNvSpPr/>
              <p:nvPr/>
            </p:nvSpPr>
            <p:spPr>
              <a:xfrm>
                <a:off x="2532851" y="1684613"/>
                <a:ext cx="427085" cy="284723"/>
              </a:xfrm>
              <a:custGeom>
                <a:avLst/>
                <a:gdLst/>
                <a:ahLst/>
                <a:cxnLst/>
                <a:rect l="0" t="0" r="0" b="0"/>
                <a:pathLst>
                  <a:path w="427085" h="284723">
                    <a:moveTo>
                      <a:pt x="213542" y="0"/>
                    </a:moveTo>
                    <a:lnTo>
                      <a:pt x="427085" y="142361"/>
                    </a:lnTo>
                    <a:lnTo>
                      <a:pt x="213542" y="284723"/>
                    </a:lnTo>
                    <a:lnTo>
                      <a:pt x="0" y="142361"/>
                    </a:lnTo>
                    <a:close/>
                  </a:path>
                </a:pathLst>
              </a:custGeom>
              <a:noFill/>
              <a:ln w="889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
          <p:nvSpPr>
            <p:cNvPr id="27" name="Rounded Rectangle 71"/>
            <p:cNvSpPr/>
            <p:nvPr/>
          </p:nvSpPr>
          <p:spPr>
            <a:xfrm>
              <a:off x="2142515" y="4141216"/>
              <a:ext cx="324252" cy="444448"/>
            </a:xfrm>
            <a:custGeom>
              <a:avLst/>
              <a:gdLst/>
              <a:ahLst/>
              <a:cxnLst/>
              <a:rect l="0" t="0" r="0" b="0"/>
              <a:pathLst>
                <a:path w="177952" h="177952">
                  <a:moveTo>
                    <a:pt x="139025" y="111220"/>
                  </a:moveTo>
                  <a:cubicBezTo>
                    <a:pt x="139025" y="113741"/>
                    <a:pt x="140433" y="115075"/>
                    <a:pt x="144215" y="117893"/>
                  </a:cubicBezTo>
                  <a:cubicBezTo>
                    <a:pt x="149885" y="121087"/>
                    <a:pt x="153523" y="126964"/>
                    <a:pt x="153854" y="133464"/>
                  </a:cubicBezTo>
                  <a:cubicBezTo>
                    <a:pt x="153813" y="140613"/>
                    <a:pt x="148028" y="146399"/>
                    <a:pt x="140878" y="146439"/>
                  </a:cubicBezTo>
                  <a:lnTo>
                    <a:pt x="133464" y="146439"/>
                  </a:lnTo>
                  <a:cubicBezTo>
                    <a:pt x="130392" y="146439"/>
                    <a:pt x="127903" y="143949"/>
                    <a:pt x="127903" y="140878"/>
                  </a:cubicBezTo>
                  <a:cubicBezTo>
                    <a:pt x="127903" y="137807"/>
                    <a:pt x="130392" y="135317"/>
                    <a:pt x="133464" y="135317"/>
                  </a:cubicBezTo>
                  <a:lnTo>
                    <a:pt x="140878" y="135317"/>
                  </a:lnTo>
                  <a:cubicBezTo>
                    <a:pt x="141902" y="135317"/>
                    <a:pt x="142732" y="134487"/>
                    <a:pt x="142732" y="133464"/>
                  </a:cubicBezTo>
                  <a:cubicBezTo>
                    <a:pt x="142732" y="130943"/>
                    <a:pt x="141323" y="129608"/>
                    <a:pt x="137542" y="126790"/>
                  </a:cubicBezTo>
                  <a:cubicBezTo>
                    <a:pt x="131872" y="123596"/>
                    <a:pt x="128234" y="117719"/>
                    <a:pt x="127903" y="111220"/>
                  </a:cubicBezTo>
                  <a:cubicBezTo>
                    <a:pt x="127943" y="104070"/>
                    <a:pt x="133729" y="98284"/>
                    <a:pt x="140878" y="98244"/>
                  </a:cubicBezTo>
                  <a:lnTo>
                    <a:pt x="148293" y="98244"/>
                  </a:lnTo>
                  <a:cubicBezTo>
                    <a:pt x="151364" y="98244"/>
                    <a:pt x="153854" y="100734"/>
                    <a:pt x="153854" y="103805"/>
                  </a:cubicBezTo>
                  <a:cubicBezTo>
                    <a:pt x="153854" y="106876"/>
                    <a:pt x="151364" y="109366"/>
                    <a:pt x="148293" y="109366"/>
                  </a:cubicBezTo>
                  <a:lnTo>
                    <a:pt x="140878" y="109366"/>
                  </a:lnTo>
                  <a:cubicBezTo>
                    <a:pt x="139854" y="109366"/>
                    <a:pt x="139025" y="110196"/>
                    <a:pt x="139025" y="111220"/>
                  </a:cubicBezTo>
                  <a:close/>
                  <a:moveTo>
                    <a:pt x="100098" y="76000"/>
                  </a:moveTo>
                  <a:cubicBezTo>
                    <a:pt x="113389" y="76041"/>
                    <a:pt x="124155" y="86806"/>
                    <a:pt x="124195" y="100098"/>
                  </a:cubicBezTo>
                  <a:lnTo>
                    <a:pt x="124195" y="122342"/>
                  </a:lnTo>
                  <a:cubicBezTo>
                    <a:pt x="124195" y="135650"/>
                    <a:pt x="113406" y="146439"/>
                    <a:pt x="100098" y="146439"/>
                  </a:cubicBezTo>
                  <a:cubicBezTo>
                    <a:pt x="86789" y="146439"/>
                    <a:pt x="76000" y="135650"/>
                    <a:pt x="76000" y="122342"/>
                  </a:cubicBezTo>
                  <a:lnTo>
                    <a:pt x="76000" y="100098"/>
                  </a:lnTo>
                  <a:cubicBezTo>
                    <a:pt x="76041" y="86806"/>
                    <a:pt x="86806" y="76041"/>
                    <a:pt x="100098" y="76000"/>
                  </a:cubicBezTo>
                  <a:close/>
                  <a:moveTo>
                    <a:pt x="113073" y="100098"/>
                  </a:moveTo>
                  <a:cubicBezTo>
                    <a:pt x="113073" y="92931"/>
                    <a:pt x="107264" y="87122"/>
                    <a:pt x="100098" y="87122"/>
                  </a:cubicBezTo>
                  <a:cubicBezTo>
                    <a:pt x="92931" y="87122"/>
                    <a:pt x="87122" y="92931"/>
                    <a:pt x="87122" y="100098"/>
                  </a:cubicBezTo>
                  <a:lnTo>
                    <a:pt x="87122" y="122342"/>
                  </a:lnTo>
                  <a:cubicBezTo>
                    <a:pt x="87122" y="129508"/>
                    <a:pt x="92931" y="135317"/>
                    <a:pt x="100098" y="135317"/>
                  </a:cubicBezTo>
                  <a:cubicBezTo>
                    <a:pt x="107264" y="135317"/>
                    <a:pt x="113073" y="129508"/>
                    <a:pt x="113073" y="122342"/>
                  </a:cubicBezTo>
                  <a:close/>
                  <a:moveTo>
                    <a:pt x="71254" y="80597"/>
                  </a:moveTo>
                  <a:cubicBezTo>
                    <a:pt x="72886" y="83392"/>
                    <a:pt x="72886" y="86848"/>
                    <a:pt x="71254" y="89643"/>
                  </a:cubicBezTo>
                  <a:lnTo>
                    <a:pt x="49678" y="143103"/>
                  </a:lnTo>
                  <a:cubicBezTo>
                    <a:pt x="48810" y="145205"/>
                    <a:pt x="46762" y="146580"/>
                    <a:pt x="44488" y="146588"/>
                  </a:cubicBezTo>
                  <a:cubicBezTo>
                    <a:pt x="43780" y="146572"/>
                    <a:pt x="43080" y="146447"/>
                    <a:pt x="42411" y="146217"/>
                  </a:cubicBezTo>
                  <a:cubicBezTo>
                    <a:pt x="41006" y="145658"/>
                    <a:pt x="39884" y="144557"/>
                    <a:pt x="39299" y="143163"/>
                  </a:cubicBezTo>
                  <a:cubicBezTo>
                    <a:pt x="38713" y="141768"/>
                    <a:pt x="38713" y="140197"/>
                    <a:pt x="39297" y="138802"/>
                  </a:cubicBezTo>
                  <a:lnTo>
                    <a:pt x="59020" y="89643"/>
                  </a:lnTo>
                  <a:cubicBezTo>
                    <a:pt x="59275" y="89103"/>
                    <a:pt x="59275" y="88478"/>
                    <a:pt x="59020" y="87937"/>
                  </a:cubicBezTo>
                  <a:cubicBezTo>
                    <a:pt x="58663" y="87431"/>
                    <a:pt x="58083" y="87128"/>
                    <a:pt x="57463" y="87122"/>
                  </a:cubicBezTo>
                  <a:lnTo>
                    <a:pt x="37073" y="87122"/>
                  </a:lnTo>
                  <a:cubicBezTo>
                    <a:pt x="36049" y="87122"/>
                    <a:pt x="35219" y="87952"/>
                    <a:pt x="35219" y="88976"/>
                  </a:cubicBezTo>
                  <a:lnTo>
                    <a:pt x="35219" y="92683"/>
                  </a:lnTo>
                  <a:cubicBezTo>
                    <a:pt x="35219" y="95754"/>
                    <a:pt x="32729" y="98244"/>
                    <a:pt x="29658" y="98244"/>
                  </a:cubicBezTo>
                  <a:cubicBezTo>
                    <a:pt x="26587" y="98244"/>
                    <a:pt x="24097" y="95754"/>
                    <a:pt x="24097" y="92683"/>
                  </a:cubicBezTo>
                  <a:lnTo>
                    <a:pt x="24097" y="85268"/>
                  </a:lnTo>
                  <a:cubicBezTo>
                    <a:pt x="24095" y="80263"/>
                    <a:pt x="28066" y="76160"/>
                    <a:pt x="33069" y="76000"/>
                  </a:cubicBezTo>
                  <a:lnTo>
                    <a:pt x="62728" y="76000"/>
                  </a:lnTo>
                  <a:cubicBezTo>
                    <a:pt x="66189" y="75889"/>
                    <a:pt x="69445" y="77644"/>
                    <a:pt x="71254" y="80597"/>
                  </a:cubicBezTo>
                  <a:close/>
                  <a:moveTo>
                    <a:pt x="177952" y="163122"/>
                  </a:moveTo>
                  <a:cubicBezTo>
                    <a:pt x="177952" y="171312"/>
                    <a:pt x="171312" y="177952"/>
                    <a:pt x="163122" y="177952"/>
                  </a:cubicBezTo>
                  <a:lnTo>
                    <a:pt x="14829" y="177952"/>
                  </a:lnTo>
                  <a:cubicBezTo>
                    <a:pt x="6639" y="177952"/>
                    <a:pt x="0" y="171312"/>
                    <a:pt x="0" y="163122"/>
                  </a:cubicBezTo>
                  <a:lnTo>
                    <a:pt x="0" y="37073"/>
                  </a:lnTo>
                  <a:cubicBezTo>
                    <a:pt x="0" y="28883"/>
                    <a:pt x="6639" y="22244"/>
                    <a:pt x="14829" y="22244"/>
                  </a:cubicBezTo>
                  <a:lnTo>
                    <a:pt x="25951" y="22244"/>
                  </a:lnTo>
                  <a:cubicBezTo>
                    <a:pt x="27998" y="22244"/>
                    <a:pt x="29658" y="23903"/>
                    <a:pt x="29658" y="25951"/>
                  </a:cubicBezTo>
                  <a:lnTo>
                    <a:pt x="29658" y="35219"/>
                  </a:lnTo>
                  <a:cubicBezTo>
                    <a:pt x="29658" y="38290"/>
                    <a:pt x="32148" y="40780"/>
                    <a:pt x="35219" y="40780"/>
                  </a:cubicBezTo>
                  <a:cubicBezTo>
                    <a:pt x="38290" y="40780"/>
                    <a:pt x="40780" y="38290"/>
                    <a:pt x="40780" y="35219"/>
                  </a:cubicBezTo>
                  <a:lnTo>
                    <a:pt x="40780" y="7414"/>
                  </a:lnTo>
                  <a:cubicBezTo>
                    <a:pt x="40780" y="3319"/>
                    <a:pt x="44100" y="0"/>
                    <a:pt x="48195" y="0"/>
                  </a:cubicBezTo>
                  <a:cubicBezTo>
                    <a:pt x="52290" y="0"/>
                    <a:pt x="55610" y="3319"/>
                    <a:pt x="55610" y="7414"/>
                  </a:cubicBezTo>
                  <a:lnTo>
                    <a:pt x="55610" y="20390"/>
                  </a:lnTo>
                  <a:cubicBezTo>
                    <a:pt x="55610" y="21414"/>
                    <a:pt x="56439" y="22244"/>
                    <a:pt x="57463" y="22244"/>
                  </a:cubicBezTo>
                  <a:lnTo>
                    <a:pt x="111220" y="22244"/>
                  </a:lnTo>
                  <a:cubicBezTo>
                    <a:pt x="113267" y="22244"/>
                    <a:pt x="114927" y="23903"/>
                    <a:pt x="114927" y="25951"/>
                  </a:cubicBezTo>
                  <a:lnTo>
                    <a:pt x="114927" y="35219"/>
                  </a:lnTo>
                  <a:cubicBezTo>
                    <a:pt x="114927" y="38290"/>
                    <a:pt x="117417" y="40780"/>
                    <a:pt x="120488" y="40780"/>
                  </a:cubicBezTo>
                  <a:cubicBezTo>
                    <a:pt x="123559" y="40780"/>
                    <a:pt x="126049" y="38290"/>
                    <a:pt x="126049" y="35219"/>
                  </a:cubicBezTo>
                  <a:lnTo>
                    <a:pt x="126049" y="7414"/>
                  </a:lnTo>
                  <a:cubicBezTo>
                    <a:pt x="126049" y="3319"/>
                    <a:pt x="129369" y="0"/>
                    <a:pt x="133464" y="0"/>
                  </a:cubicBezTo>
                  <a:cubicBezTo>
                    <a:pt x="137559" y="0"/>
                    <a:pt x="140878" y="3319"/>
                    <a:pt x="140878" y="7414"/>
                  </a:cubicBezTo>
                  <a:lnTo>
                    <a:pt x="140878" y="20390"/>
                  </a:lnTo>
                  <a:cubicBezTo>
                    <a:pt x="140878" y="21414"/>
                    <a:pt x="141708" y="22244"/>
                    <a:pt x="142732" y="22244"/>
                  </a:cubicBezTo>
                  <a:lnTo>
                    <a:pt x="163122" y="22244"/>
                  </a:lnTo>
                  <a:cubicBezTo>
                    <a:pt x="171312" y="22244"/>
                    <a:pt x="177952" y="28883"/>
                    <a:pt x="177952" y="37073"/>
                  </a:cubicBezTo>
                  <a:close/>
                  <a:moveTo>
                    <a:pt x="163122" y="63024"/>
                  </a:moveTo>
                  <a:cubicBezTo>
                    <a:pt x="163122" y="60977"/>
                    <a:pt x="161462" y="59317"/>
                    <a:pt x="159415" y="59317"/>
                  </a:cubicBezTo>
                  <a:lnTo>
                    <a:pt x="18536" y="59317"/>
                  </a:lnTo>
                  <a:cubicBezTo>
                    <a:pt x="16489" y="59317"/>
                    <a:pt x="14829" y="60977"/>
                    <a:pt x="14829" y="63024"/>
                  </a:cubicBezTo>
                  <a:lnTo>
                    <a:pt x="14829" y="159415"/>
                  </a:lnTo>
                  <a:cubicBezTo>
                    <a:pt x="14829" y="161462"/>
                    <a:pt x="16489" y="163122"/>
                    <a:pt x="18536" y="163122"/>
                  </a:cubicBezTo>
                  <a:lnTo>
                    <a:pt x="159415" y="163122"/>
                  </a:lnTo>
                  <a:cubicBezTo>
                    <a:pt x="161462" y="163122"/>
                    <a:pt x="163122" y="161462"/>
                    <a:pt x="163122" y="159415"/>
                  </a:cubicBezTo>
                  <a:close/>
                </a:path>
              </a:pathLst>
            </a:custGeom>
            <a:solidFill>
              <a:srgbClr val="FFFF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8" name="Rounded Rectangle 72"/>
            <p:cNvSpPr/>
            <p:nvPr/>
          </p:nvSpPr>
          <p:spPr>
            <a:xfrm>
              <a:off x="8068046" y="3662838"/>
              <a:ext cx="373091" cy="469418"/>
            </a:xfrm>
            <a:custGeom>
              <a:avLst/>
              <a:gdLst/>
              <a:ahLst/>
              <a:cxnLst/>
              <a:rect l="0" t="0" r="0" b="0"/>
              <a:pathLst>
                <a:path w="176909" h="178762">
                  <a:moveTo>
                    <a:pt x="81546" y="163858"/>
                  </a:moveTo>
                  <a:cubicBezTo>
                    <a:pt x="82361" y="164968"/>
                    <a:pt x="82479" y="166442"/>
                    <a:pt x="81851" y="167667"/>
                  </a:cubicBezTo>
                  <a:cubicBezTo>
                    <a:pt x="81223" y="168891"/>
                    <a:pt x="79957" y="169656"/>
                    <a:pt x="78581" y="169642"/>
                  </a:cubicBezTo>
                  <a:lnTo>
                    <a:pt x="29866" y="169642"/>
                  </a:lnTo>
                  <a:cubicBezTo>
                    <a:pt x="25771" y="169642"/>
                    <a:pt x="22451" y="166322"/>
                    <a:pt x="22451" y="162227"/>
                  </a:cubicBezTo>
                  <a:lnTo>
                    <a:pt x="22451" y="88896"/>
                  </a:lnTo>
                  <a:cubicBezTo>
                    <a:pt x="22471" y="87920"/>
                    <a:pt x="22097" y="86976"/>
                    <a:pt x="21414" y="86279"/>
                  </a:cubicBezTo>
                  <a:cubicBezTo>
                    <a:pt x="20730" y="85582"/>
                    <a:pt x="19795" y="85189"/>
                    <a:pt x="18818" y="85189"/>
                  </a:cubicBezTo>
                  <a:lnTo>
                    <a:pt x="3989" y="85189"/>
                  </a:lnTo>
                  <a:cubicBezTo>
                    <a:pt x="2483" y="85212"/>
                    <a:pt x="1118" y="84304"/>
                    <a:pt x="559" y="82905"/>
                  </a:cubicBezTo>
                  <a:cubicBezTo>
                    <a:pt x="0" y="81507"/>
                    <a:pt x="361" y="79908"/>
                    <a:pt x="1468" y="78886"/>
                  </a:cubicBezTo>
                  <a:lnTo>
                    <a:pt x="80953" y="3776"/>
                  </a:lnTo>
                  <a:cubicBezTo>
                    <a:pt x="85175" y="0"/>
                    <a:pt x="91561" y="0"/>
                    <a:pt x="95783" y="3776"/>
                  </a:cubicBezTo>
                  <a:lnTo>
                    <a:pt x="175268" y="78886"/>
                  </a:lnTo>
                  <a:cubicBezTo>
                    <a:pt x="176375" y="79908"/>
                    <a:pt x="176736" y="81507"/>
                    <a:pt x="176177" y="82905"/>
                  </a:cubicBezTo>
                  <a:cubicBezTo>
                    <a:pt x="175618" y="84304"/>
                    <a:pt x="174253" y="85212"/>
                    <a:pt x="172747" y="85189"/>
                  </a:cubicBezTo>
                  <a:lnTo>
                    <a:pt x="168817" y="85189"/>
                  </a:lnTo>
                  <a:cubicBezTo>
                    <a:pt x="167943" y="85200"/>
                    <a:pt x="167096" y="84883"/>
                    <a:pt x="166444" y="84299"/>
                  </a:cubicBezTo>
                  <a:cubicBezTo>
                    <a:pt x="148984" y="69621"/>
                    <a:pt x="124598" y="66398"/>
                    <a:pt x="103924" y="76035"/>
                  </a:cubicBezTo>
                  <a:cubicBezTo>
                    <a:pt x="83250" y="85672"/>
                    <a:pt x="70039" y="106422"/>
                    <a:pt x="70054" y="129232"/>
                  </a:cubicBezTo>
                  <a:cubicBezTo>
                    <a:pt x="70075" y="141707"/>
                    <a:pt x="74104" y="153846"/>
                    <a:pt x="81546" y="163858"/>
                  </a:cubicBezTo>
                  <a:close/>
                  <a:moveTo>
                    <a:pt x="176454" y="129232"/>
                  </a:moveTo>
                  <a:cubicBezTo>
                    <a:pt x="176909" y="156081"/>
                    <a:pt x="155551" y="178234"/>
                    <a:pt x="128704" y="178762"/>
                  </a:cubicBezTo>
                  <a:cubicBezTo>
                    <a:pt x="101856" y="178234"/>
                    <a:pt x="80498" y="156081"/>
                    <a:pt x="80953" y="129232"/>
                  </a:cubicBezTo>
                  <a:cubicBezTo>
                    <a:pt x="80498" y="102383"/>
                    <a:pt x="101856" y="80229"/>
                    <a:pt x="128704" y="79702"/>
                  </a:cubicBezTo>
                  <a:cubicBezTo>
                    <a:pt x="155551" y="80229"/>
                    <a:pt x="176909" y="102383"/>
                    <a:pt x="176454" y="129232"/>
                  </a:cubicBezTo>
                  <a:close/>
                  <a:moveTo>
                    <a:pt x="128704" y="94383"/>
                  </a:moveTo>
                  <a:cubicBezTo>
                    <a:pt x="110022" y="94988"/>
                    <a:pt x="95325" y="110546"/>
                    <a:pt x="95783" y="129232"/>
                  </a:cubicBezTo>
                  <a:cubicBezTo>
                    <a:pt x="95743" y="133954"/>
                    <a:pt x="96625" y="138638"/>
                    <a:pt x="98378" y="143023"/>
                  </a:cubicBezTo>
                  <a:cubicBezTo>
                    <a:pt x="98867" y="144166"/>
                    <a:pt x="99896" y="144988"/>
                    <a:pt x="101119" y="145212"/>
                  </a:cubicBezTo>
                  <a:cubicBezTo>
                    <a:pt x="102342" y="145435"/>
                    <a:pt x="103596" y="145031"/>
                    <a:pt x="104458" y="144135"/>
                  </a:cubicBezTo>
                  <a:lnTo>
                    <a:pt x="143311" y="103503"/>
                  </a:lnTo>
                  <a:cubicBezTo>
                    <a:pt x="144147" y="102664"/>
                    <a:pt x="144521" y="101470"/>
                    <a:pt x="144315" y="100304"/>
                  </a:cubicBezTo>
                  <a:cubicBezTo>
                    <a:pt x="144108" y="99138"/>
                    <a:pt x="143346" y="98146"/>
                    <a:pt x="142273" y="97645"/>
                  </a:cubicBezTo>
                  <a:cubicBezTo>
                    <a:pt x="138045" y="95589"/>
                    <a:pt x="133405" y="94524"/>
                    <a:pt x="128704" y="94531"/>
                  </a:cubicBezTo>
                  <a:close/>
                  <a:moveTo>
                    <a:pt x="128704" y="163933"/>
                  </a:moveTo>
                  <a:cubicBezTo>
                    <a:pt x="147326" y="163407"/>
                    <a:pt x="162065" y="148007"/>
                    <a:pt x="161773" y="129380"/>
                  </a:cubicBezTo>
                  <a:cubicBezTo>
                    <a:pt x="161781" y="124695"/>
                    <a:pt x="160848" y="120055"/>
                    <a:pt x="159030" y="115737"/>
                  </a:cubicBezTo>
                  <a:cubicBezTo>
                    <a:pt x="158561" y="114595"/>
                    <a:pt x="157544" y="113769"/>
                    <a:pt x="156330" y="113544"/>
                  </a:cubicBezTo>
                  <a:cubicBezTo>
                    <a:pt x="155116" y="113319"/>
                    <a:pt x="153870" y="113726"/>
                    <a:pt x="153024" y="114625"/>
                  </a:cubicBezTo>
                  <a:lnTo>
                    <a:pt x="114097" y="155257"/>
                  </a:lnTo>
                  <a:cubicBezTo>
                    <a:pt x="113298" y="156121"/>
                    <a:pt x="112956" y="157311"/>
                    <a:pt x="113176" y="158467"/>
                  </a:cubicBezTo>
                  <a:cubicBezTo>
                    <a:pt x="113395" y="159622"/>
                    <a:pt x="114150" y="160605"/>
                    <a:pt x="115209" y="161115"/>
                  </a:cubicBezTo>
                  <a:cubicBezTo>
                    <a:pt x="119409" y="163172"/>
                    <a:pt x="124026" y="164238"/>
                    <a:pt x="128704" y="164229"/>
                  </a:cubicBezTo>
                  <a:close/>
                </a:path>
              </a:pathLst>
            </a:custGeom>
            <a:solidFill>
              <a:srgbClr val="FFFF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9" name="Rounded Rectangle 73"/>
            <p:cNvSpPr/>
            <p:nvPr/>
          </p:nvSpPr>
          <p:spPr>
            <a:xfrm>
              <a:off x="2096087" y="3315308"/>
              <a:ext cx="449714" cy="383535"/>
            </a:xfrm>
            <a:custGeom>
              <a:avLst/>
              <a:gdLst/>
              <a:ahLst/>
              <a:cxnLst/>
              <a:rect l="0" t="0" r="0" b="0"/>
              <a:pathLst>
                <a:path w="162222" h="178414">
                  <a:moveTo>
                    <a:pt x="0" y="391"/>
                  </a:moveTo>
                  <a:moveTo>
                    <a:pt x="161936" y="66159"/>
                  </a:moveTo>
                  <a:cubicBezTo>
                    <a:pt x="161602" y="68932"/>
                    <a:pt x="159740" y="71282"/>
                    <a:pt x="157116" y="72239"/>
                  </a:cubicBezTo>
                  <a:lnTo>
                    <a:pt x="102619" y="92259"/>
                  </a:lnTo>
                  <a:lnTo>
                    <a:pt x="106845" y="104197"/>
                  </a:lnTo>
                  <a:lnTo>
                    <a:pt x="108476" y="103603"/>
                  </a:lnTo>
                  <a:cubicBezTo>
                    <a:pt x="111561" y="102478"/>
                    <a:pt x="115002" y="102950"/>
                    <a:pt x="117670" y="104864"/>
                  </a:cubicBezTo>
                  <a:lnTo>
                    <a:pt x="120710" y="107014"/>
                  </a:lnTo>
                  <a:cubicBezTo>
                    <a:pt x="123898" y="109366"/>
                    <a:pt x="125384" y="113387"/>
                    <a:pt x="124492" y="117246"/>
                  </a:cubicBezTo>
                  <a:lnTo>
                    <a:pt x="123825" y="120064"/>
                  </a:lnTo>
                  <a:cubicBezTo>
                    <a:pt x="123590" y="121023"/>
                    <a:pt x="123974" y="122027"/>
                    <a:pt x="124788" y="122585"/>
                  </a:cubicBezTo>
                  <a:lnTo>
                    <a:pt x="127087" y="124290"/>
                  </a:lnTo>
                  <a:cubicBezTo>
                    <a:pt x="130319" y="126611"/>
                    <a:pt x="131839" y="130646"/>
                    <a:pt x="130943" y="134523"/>
                  </a:cubicBezTo>
                  <a:lnTo>
                    <a:pt x="130053" y="138452"/>
                  </a:lnTo>
                  <a:cubicBezTo>
                    <a:pt x="129866" y="139176"/>
                    <a:pt x="130031" y="139945"/>
                    <a:pt x="130498" y="140528"/>
                  </a:cubicBezTo>
                  <a:lnTo>
                    <a:pt x="132796" y="143420"/>
                  </a:lnTo>
                  <a:cubicBezTo>
                    <a:pt x="134741" y="145773"/>
                    <a:pt x="135456" y="148909"/>
                    <a:pt x="134724" y="151873"/>
                  </a:cubicBezTo>
                  <a:lnTo>
                    <a:pt x="132870" y="159658"/>
                  </a:lnTo>
                  <a:cubicBezTo>
                    <a:pt x="132576" y="160889"/>
                    <a:pt x="131685" y="161891"/>
                    <a:pt x="130498" y="162328"/>
                  </a:cubicBezTo>
                  <a:lnTo>
                    <a:pt x="84972" y="178343"/>
                  </a:lnTo>
                  <a:cubicBezTo>
                    <a:pt x="84554" y="178414"/>
                    <a:pt x="84128" y="178414"/>
                    <a:pt x="83711" y="178343"/>
                  </a:cubicBezTo>
                  <a:lnTo>
                    <a:pt x="24394" y="178343"/>
                  </a:lnTo>
                  <a:cubicBezTo>
                    <a:pt x="22346" y="178343"/>
                    <a:pt x="20686" y="176683"/>
                    <a:pt x="20686" y="174636"/>
                  </a:cubicBezTo>
                  <a:lnTo>
                    <a:pt x="20686" y="163959"/>
                  </a:lnTo>
                  <a:cubicBezTo>
                    <a:pt x="20692" y="162776"/>
                    <a:pt x="21272" y="161669"/>
                    <a:pt x="22244" y="160993"/>
                  </a:cubicBezTo>
                  <a:lnTo>
                    <a:pt x="54571" y="137266"/>
                  </a:lnTo>
                  <a:cubicBezTo>
                    <a:pt x="55092" y="136878"/>
                    <a:pt x="55417" y="136282"/>
                    <a:pt x="55461" y="135635"/>
                  </a:cubicBezTo>
                  <a:lnTo>
                    <a:pt x="57167" y="119841"/>
                  </a:lnTo>
                  <a:cubicBezTo>
                    <a:pt x="57408" y="117734"/>
                    <a:pt x="58317" y="115760"/>
                    <a:pt x="59762" y="114206"/>
                  </a:cubicBezTo>
                  <a:lnTo>
                    <a:pt x="76074" y="101527"/>
                  </a:lnTo>
                  <a:cubicBezTo>
                    <a:pt x="76989" y="100850"/>
                    <a:pt x="78165" y="100632"/>
                    <a:pt x="79262" y="100934"/>
                  </a:cubicBezTo>
                  <a:cubicBezTo>
                    <a:pt x="80394" y="101214"/>
                    <a:pt x="81328" y="102011"/>
                    <a:pt x="81783" y="103084"/>
                  </a:cubicBezTo>
                  <a:lnTo>
                    <a:pt x="85491" y="111908"/>
                  </a:lnTo>
                  <a:lnTo>
                    <a:pt x="92016" y="109461"/>
                  </a:lnTo>
                  <a:lnTo>
                    <a:pt x="85565" y="91517"/>
                  </a:lnTo>
                  <a:lnTo>
                    <a:pt x="85120" y="90554"/>
                  </a:lnTo>
                  <a:cubicBezTo>
                    <a:pt x="85094" y="90158"/>
                    <a:pt x="85094" y="89762"/>
                    <a:pt x="85120" y="89367"/>
                  </a:cubicBezTo>
                  <a:lnTo>
                    <a:pt x="64730" y="33090"/>
                  </a:lnTo>
                  <a:cubicBezTo>
                    <a:pt x="64401" y="31901"/>
                    <a:pt x="64401" y="30645"/>
                    <a:pt x="64730" y="29457"/>
                  </a:cubicBezTo>
                  <a:cubicBezTo>
                    <a:pt x="65127" y="26786"/>
                    <a:pt x="66945" y="24542"/>
                    <a:pt x="69475" y="23599"/>
                  </a:cubicBezTo>
                  <a:lnTo>
                    <a:pt x="131462" y="836"/>
                  </a:lnTo>
                  <a:cubicBezTo>
                    <a:pt x="134058" y="0"/>
                    <a:pt x="136904" y="656"/>
                    <a:pt x="138872" y="2546"/>
                  </a:cubicBezTo>
                  <a:cubicBezTo>
                    <a:pt x="140839" y="4436"/>
                    <a:pt x="141610" y="7254"/>
                    <a:pt x="140878" y="9882"/>
                  </a:cubicBezTo>
                  <a:lnTo>
                    <a:pt x="131832" y="41468"/>
                  </a:lnTo>
                  <a:lnTo>
                    <a:pt x="158006" y="58893"/>
                  </a:lnTo>
                  <a:cubicBezTo>
                    <a:pt x="160669" y="60293"/>
                    <a:pt x="162222" y="63164"/>
                    <a:pt x="161936" y="66159"/>
                  </a:cubicBezTo>
                  <a:close/>
                </a:path>
              </a:pathLst>
            </a:custGeom>
            <a:solidFill>
              <a:srgbClr val="FFFF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0" name="Rounded Rectangle 74"/>
            <p:cNvSpPr/>
            <p:nvPr/>
          </p:nvSpPr>
          <p:spPr>
            <a:xfrm>
              <a:off x="2096088" y="1328700"/>
              <a:ext cx="341118" cy="362178"/>
            </a:xfrm>
            <a:custGeom>
              <a:avLst/>
              <a:gdLst/>
              <a:ahLst/>
              <a:cxnLst/>
              <a:rect l="0" t="0" r="0" b="0"/>
              <a:pathLst>
                <a:path w="180237" h="180217">
                  <a:moveTo>
                    <a:pt x="67043" y="18128"/>
                  </a:moveTo>
                  <a:cubicBezTo>
                    <a:pt x="50055" y="23405"/>
                    <a:pt x="35522" y="34599"/>
                    <a:pt x="26084" y="49678"/>
                  </a:cubicBezTo>
                  <a:lnTo>
                    <a:pt x="49826" y="49678"/>
                  </a:lnTo>
                  <a:cubicBezTo>
                    <a:pt x="53726" y="38704"/>
                    <a:pt x="59480" y="28138"/>
                    <a:pt x="67043" y="18128"/>
                  </a:cubicBezTo>
                  <a:close/>
                  <a:moveTo>
                    <a:pt x="18959" y="64507"/>
                  </a:moveTo>
                  <a:cubicBezTo>
                    <a:pt x="16215" y="72373"/>
                    <a:pt x="14819" y="80645"/>
                    <a:pt x="14829" y="88976"/>
                  </a:cubicBezTo>
                  <a:cubicBezTo>
                    <a:pt x="14819" y="97304"/>
                    <a:pt x="16216" y="105573"/>
                    <a:pt x="18959" y="113437"/>
                  </a:cubicBezTo>
                  <a:lnTo>
                    <a:pt x="47394" y="113437"/>
                  </a:lnTo>
                  <a:cubicBezTo>
                    <a:pt x="44986" y="104162"/>
                    <a:pt x="43755" y="94621"/>
                    <a:pt x="43731" y="85038"/>
                  </a:cubicBezTo>
                  <a:cubicBezTo>
                    <a:pt x="43731" y="78098"/>
                    <a:pt x="44399" y="71247"/>
                    <a:pt x="45733" y="64507"/>
                  </a:cubicBezTo>
                  <a:lnTo>
                    <a:pt x="18966" y="64507"/>
                  </a:lnTo>
                  <a:close/>
                  <a:moveTo>
                    <a:pt x="26077" y="128266"/>
                  </a:moveTo>
                  <a:cubicBezTo>
                    <a:pt x="35950" y="144047"/>
                    <a:pt x="51387" y="155547"/>
                    <a:pt x="69334" y="160490"/>
                  </a:cubicBezTo>
                  <a:cubicBezTo>
                    <a:pt x="62097" y="149857"/>
                    <a:pt x="56358" y="139084"/>
                    <a:pt x="52169" y="128266"/>
                  </a:cubicBezTo>
                  <a:lnTo>
                    <a:pt x="26084" y="128266"/>
                  </a:lnTo>
                  <a:close/>
                  <a:moveTo>
                    <a:pt x="158985" y="64507"/>
                  </a:moveTo>
                  <a:lnTo>
                    <a:pt x="132322" y="64507"/>
                  </a:lnTo>
                  <a:cubicBezTo>
                    <a:pt x="133600" y="70955"/>
                    <a:pt x="134270" y="77509"/>
                    <a:pt x="134324" y="84082"/>
                  </a:cubicBezTo>
                  <a:cubicBezTo>
                    <a:pt x="131107" y="85803"/>
                    <a:pt x="128163" y="87992"/>
                    <a:pt x="125589" y="90577"/>
                  </a:cubicBezTo>
                  <a:cubicBezTo>
                    <a:pt x="123995" y="92164"/>
                    <a:pt x="122749" y="93973"/>
                    <a:pt x="121860" y="95901"/>
                  </a:cubicBezTo>
                  <a:lnTo>
                    <a:pt x="119146" y="93187"/>
                  </a:lnTo>
                  <a:cubicBezTo>
                    <a:pt x="119383" y="90444"/>
                    <a:pt x="119502" y="87730"/>
                    <a:pt x="119502" y="85031"/>
                  </a:cubicBezTo>
                  <a:cubicBezTo>
                    <a:pt x="119502" y="78113"/>
                    <a:pt x="118723" y="71254"/>
                    <a:pt x="117151" y="64507"/>
                  </a:cubicBezTo>
                  <a:lnTo>
                    <a:pt x="60911" y="64507"/>
                  </a:lnTo>
                  <a:cubicBezTo>
                    <a:pt x="59339" y="71262"/>
                    <a:pt x="58553" y="78120"/>
                    <a:pt x="58553" y="85038"/>
                  </a:cubicBezTo>
                  <a:cubicBezTo>
                    <a:pt x="58596" y="94658"/>
                    <a:pt x="60019" y="104221"/>
                    <a:pt x="62780" y="113437"/>
                  </a:cubicBezTo>
                  <a:lnTo>
                    <a:pt x="87322" y="113437"/>
                  </a:lnTo>
                  <a:cubicBezTo>
                    <a:pt x="87917" y="114265"/>
                    <a:pt x="88579" y="115044"/>
                    <a:pt x="89302" y="115765"/>
                  </a:cubicBezTo>
                  <a:lnTo>
                    <a:pt x="95656" y="122119"/>
                  </a:lnTo>
                  <a:cubicBezTo>
                    <a:pt x="93721" y="123009"/>
                    <a:pt x="91912" y="124255"/>
                    <a:pt x="90325" y="125841"/>
                  </a:cubicBezTo>
                  <a:cubicBezTo>
                    <a:pt x="89539" y="126627"/>
                    <a:pt x="88805" y="127435"/>
                    <a:pt x="88108" y="128266"/>
                  </a:cubicBezTo>
                  <a:lnTo>
                    <a:pt x="68214" y="128266"/>
                  </a:lnTo>
                  <a:cubicBezTo>
                    <a:pt x="71439" y="135517"/>
                    <a:pt x="75243" y="142497"/>
                    <a:pt x="79589" y="149138"/>
                  </a:cubicBezTo>
                  <a:cubicBezTo>
                    <a:pt x="78740" y="159804"/>
                    <a:pt x="82556" y="170315"/>
                    <a:pt x="90051" y="177952"/>
                  </a:cubicBezTo>
                  <a:lnTo>
                    <a:pt x="88976" y="177952"/>
                  </a:lnTo>
                  <a:cubicBezTo>
                    <a:pt x="39839" y="177952"/>
                    <a:pt x="0" y="138113"/>
                    <a:pt x="0" y="88976"/>
                  </a:cubicBezTo>
                  <a:cubicBezTo>
                    <a:pt x="0" y="39839"/>
                    <a:pt x="39839" y="0"/>
                    <a:pt x="88976" y="0"/>
                  </a:cubicBezTo>
                  <a:cubicBezTo>
                    <a:pt x="138113" y="0"/>
                    <a:pt x="177952" y="39839"/>
                    <a:pt x="177952" y="88976"/>
                  </a:cubicBezTo>
                  <a:lnTo>
                    <a:pt x="177944" y="90533"/>
                  </a:lnTo>
                  <a:cubicBezTo>
                    <a:pt x="173699" y="86288"/>
                    <a:pt x="168481" y="83144"/>
                    <a:pt x="162744" y="81376"/>
                  </a:cubicBezTo>
                  <a:cubicBezTo>
                    <a:pt x="162151" y="75525"/>
                    <a:pt x="160876" y="69875"/>
                    <a:pt x="159000" y="64507"/>
                  </a:cubicBezTo>
                  <a:close/>
                  <a:moveTo>
                    <a:pt x="151874" y="49678"/>
                  </a:moveTo>
                  <a:cubicBezTo>
                    <a:pt x="142461" y="34637"/>
                    <a:pt x="127977" y="23459"/>
                    <a:pt x="111042" y="18165"/>
                  </a:cubicBezTo>
                  <a:cubicBezTo>
                    <a:pt x="118597" y="28160"/>
                    <a:pt x="124344" y="38711"/>
                    <a:pt x="128244" y="49678"/>
                  </a:cubicBezTo>
                  <a:close/>
                  <a:moveTo>
                    <a:pt x="65723" y="49678"/>
                  </a:moveTo>
                  <a:lnTo>
                    <a:pt x="112347" y="49678"/>
                  </a:lnTo>
                  <a:cubicBezTo>
                    <a:pt x="107297" y="37666"/>
                    <a:pt x="99549" y="26114"/>
                    <a:pt x="89020" y="15274"/>
                  </a:cubicBezTo>
                  <a:cubicBezTo>
                    <a:pt x="78506" y="26114"/>
                    <a:pt x="70773" y="37666"/>
                    <a:pt x="65731" y="49678"/>
                  </a:cubicBezTo>
                  <a:close/>
                  <a:moveTo>
                    <a:pt x="107653" y="97413"/>
                  </a:moveTo>
                  <a:lnTo>
                    <a:pt x="121066" y="110827"/>
                  </a:lnTo>
                  <a:lnTo>
                    <a:pt x="133456" y="98437"/>
                  </a:lnTo>
                  <a:cubicBezTo>
                    <a:pt x="143579" y="88314"/>
                    <a:pt x="159991" y="88314"/>
                    <a:pt x="170114" y="98437"/>
                  </a:cubicBezTo>
                  <a:cubicBezTo>
                    <a:pt x="180237" y="108560"/>
                    <a:pt x="180237" y="124972"/>
                    <a:pt x="170114" y="135095"/>
                  </a:cubicBezTo>
                  <a:lnTo>
                    <a:pt x="157717" y="147477"/>
                  </a:lnTo>
                  <a:lnTo>
                    <a:pt x="171130" y="160898"/>
                  </a:lnTo>
                  <a:cubicBezTo>
                    <a:pt x="173103" y="162748"/>
                    <a:pt x="173912" y="165527"/>
                    <a:pt x="173241" y="168147"/>
                  </a:cubicBezTo>
                  <a:cubicBezTo>
                    <a:pt x="172569" y="170768"/>
                    <a:pt x="170524" y="172814"/>
                    <a:pt x="167904" y="173488"/>
                  </a:cubicBezTo>
                  <a:cubicBezTo>
                    <a:pt x="165284" y="174161"/>
                    <a:pt x="162505" y="173354"/>
                    <a:pt x="160653" y="171382"/>
                  </a:cubicBezTo>
                  <a:lnTo>
                    <a:pt x="115906" y="126635"/>
                  </a:lnTo>
                  <a:lnTo>
                    <a:pt x="115831" y="126561"/>
                  </a:lnTo>
                  <a:lnTo>
                    <a:pt x="115757" y="126486"/>
                  </a:lnTo>
                  <a:lnTo>
                    <a:pt x="97176" y="107905"/>
                  </a:lnTo>
                  <a:cubicBezTo>
                    <a:pt x="94279" y="105010"/>
                    <a:pt x="94277" y="100314"/>
                    <a:pt x="97172" y="97417"/>
                  </a:cubicBezTo>
                  <a:cubicBezTo>
                    <a:pt x="100068" y="94520"/>
                    <a:pt x="104763" y="94518"/>
                    <a:pt x="107660" y="97413"/>
                  </a:cubicBezTo>
                  <a:close/>
                  <a:moveTo>
                    <a:pt x="147247" y="136993"/>
                  </a:moveTo>
                  <a:lnTo>
                    <a:pt x="159630" y="124603"/>
                  </a:lnTo>
                  <a:cubicBezTo>
                    <a:pt x="163777" y="120243"/>
                    <a:pt x="163691" y="113370"/>
                    <a:pt x="159436" y="109115"/>
                  </a:cubicBezTo>
                  <a:cubicBezTo>
                    <a:pt x="155181" y="104860"/>
                    <a:pt x="148308" y="104774"/>
                    <a:pt x="143948" y="108921"/>
                  </a:cubicBezTo>
                  <a:lnTo>
                    <a:pt x="131558" y="121318"/>
                  </a:lnTo>
                  <a:lnTo>
                    <a:pt x="147240" y="136993"/>
                  </a:lnTo>
                  <a:close/>
                  <a:moveTo>
                    <a:pt x="98199" y="133708"/>
                  </a:moveTo>
                  <a:cubicBezTo>
                    <a:pt x="101109" y="130898"/>
                    <a:pt x="105733" y="130938"/>
                    <a:pt x="108593" y="133799"/>
                  </a:cubicBezTo>
                  <a:cubicBezTo>
                    <a:pt x="111454" y="136659"/>
                    <a:pt x="111494" y="141283"/>
                    <a:pt x="108684" y="144193"/>
                  </a:cubicBezTo>
                  <a:cubicBezTo>
                    <a:pt x="105764" y="146969"/>
                    <a:pt x="104580" y="151111"/>
                    <a:pt x="105590" y="155011"/>
                  </a:cubicBezTo>
                  <a:cubicBezTo>
                    <a:pt x="106601" y="158912"/>
                    <a:pt x="109647" y="161958"/>
                    <a:pt x="113547" y="162968"/>
                  </a:cubicBezTo>
                  <a:cubicBezTo>
                    <a:pt x="117447" y="163978"/>
                    <a:pt x="121589" y="162794"/>
                    <a:pt x="124366" y="159875"/>
                  </a:cubicBezTo>
                  <a:cubicBezTo>
                    <a:pt x="126227" y="157947"/>
                    <a:pt x="128984" y="157174"/>
                    <a:pt x="131577" y="157853"/>
                  </a:cubicBezTo>
                  <a:cubicBezTo>
                    <a:pt x="134169" y="158531"/>
                    <a:pt x="136193" y="160556"/>
                    <a:pt x="136872" y="163148"/>
                  </a:cubicBezTo>
                  <a:cubicBezTo>
                    <a:pt x="137551" y="165741"/>
                    <a:pt x="136778" y="168497"/>
                    <a:pt x="134850" y="170359"/>
                  </a:cubicBezTo>
                  <a:cubicBezTo>
                    <a:pt x="124685" y="180217"/>
                    <a:pt x="108490" y="180093"/>
                    <a:pt x="98477" y="170082"/>
                  </a:cubicBezTo>
                  <a:cubicBezTo>
                    <a:pt x="88463" y="160070"/>
                    <a:pt x="88336" y="143875"/>
                    <a:pt x="98192" y="133708"/>
                  </a:cubicBezTo>
                  <a:close/>
                </a:path>
              </a:pathLst>
            </a:custGeom>
            <a:solidFill>
              <a:srgbClr val="FFFF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1" name="Rounded Rectangle 75"/>
            <p:cNvSpPr/>
            <p:nvPr/>
          </p:nvSpPr>
          <p:spPr>
            <a:xfrm>
              <a:off x="2070358" y="6103395"/>
              <a:ext cx="348460" cy="280860"/>
            </a:xfrm>
            <a:custGeom>
              <a:avLst/>
              <a:gdLst/>
              <a:ahLst/>
              <a:cxnLst/>
              <a:rect l="0" t="0" r="0" b="0"/>
              <a:pathLst>
                <a:path w="179180" h="177952">
                  <a:moveTo>
                    <a:pt x="103983" y="170537"/>
                  </a:moveTo>
                  <a:lnTo>
                    <a:pt x="103983" y="126049"/>
                  </a:lnTo>
                  <a:cubicBezTo>
                    <a:pt x="103983" y="124001"/>
                    <a:pt x="102324" y="122342"/>
                    <a:pt x="100276" y="122342"/>
                  </a:cubicBezTo>
                  <a:lnTo>
                    <a:pt x="78032" y="122342"/>
                  </a:lnTo>
                  <a:cubicBezTo>
                    <a:pt x="75985" y="122342"/>
                    <a:pt x="74325" y="124001"/>
                    <a:pt x="74325" y="126049"/>
                  </a:cubicBezTo>
                  <a:lnTo>
                    <a:pt x="74325" y="170537"/>
                  </a:lnTo>
                  <a:cubicBezTo>
                    <a:pt x="74325" y="174632"/>
                    <a:pt x="71005" y="177952"/>
                    <a:pt x="66910" y="177952"/>
                  </a:cubicBezTo>
                  <a:lnTo>
                    <a:pt x="33544" y="177952"/>
                  </a:lnTo>
                  <a:cubicBezTo>
                    <a:pt x="27402" y="177952"/>
                    <a:pt x="22422" y="172972"/>
                    <a:pt x="22422" y="166830"/>
                  </a:cubicBezTo>
                  <a:lnTo>
                    <a:pt x="22422" y="99504"/>
                  </a:lnTo>
                  <a:cubicBezTo>
                    <a:pt x="22409" y="98829"/>
                    <a:pt x="22043" y="98211"/>
                    <a:pt x="21458" y="97873"/>
                  </a:cubicBezTo>
                  <a:cubicBezTo>
                    <a:pt x="20875" y="97582"/>
                    <a:pt x="20188" y="97582"/>
                    <a:pt x="19605" y="97873"/>
                  </a:cubicBezTo>
                  <a:lnTo>
                    <a:pt x="11374" y="102767"/>
                  </a:lnTo>
                  <a:cubicBezTo>
                    <a:pt x="7909" y="104333"/>
                    <a:pt x="3822" y="103024"/>
                    <a:pt x="1911" y="99737"/>
                  </a:cubicBezTo>
                  <a:cubicBezTo>
                    <a:pt x="0" y="96450"/>
                    <a:pt x="885" y="92250"/>
                    <a:pt x="3960" y="90014"/>
                  </a:cubicBezTo>
                  <a:lnTo>
                    <a:pt x="85521" y="41818"/>
                  </a:lnTo>
                  <a:cubicBezTo>
                    <a:pt x="87815" y="40494"/>
                    <a:pt x="90642" y="40494"/>
                    <a:pt x="92936" y="41818"/>
                  </a:cubicBezTo>
                  <a:lnTo>
                    <a:pt x="108581" y="51087"/>
                  </a:lnTo>
                  <a:cubicBezTo>
                    <a:pt x="109164" y="51378"/>
                    <a:pt x="109851" y="51378"/>
                    <a:pt x="110434" y="51087"/>
                  </a:cubicBezTo>
                  <a:cubicBezTo>
                    <a:pt x="111030" y="50761"/>
                    <a:pt x="111400" y="50135"/>
                    <a:pt x="111398" y="49455"/>
                  </a:cubicBezTo>
                  <a:lnTo>
                    <a:pt x="111398" y="7414"/>
                  </a:lnTo>
                  <a:cubicBezTo>
                    <a:pt x="111398" y="3319"/>
                    <a:pt x="114718" y="0"/>
                    <a:pt x="118813" y="0"/>
                  </a:cubicBezTo>
                  <a:cubicBezTo>
                    <a:pt x="122908" y="0"/>
                    <a:pt x="126228" y="3319"/>
                    <a:pt x="126228" y="7414"/>
                  </a:cubicBezTo>
                  <a:lnTo>
                    <a:pt x="126228" y="60429"/>
                  </a:lnTo>
                  <a:cubicBezTo>
                    <a:pt x="126239" y="61086"/>
                    <a:pt x="126571" y="61695"/>
                    <a:pt x="127117" y="62060"/>
                  </a:cubicBezTo>
                  <a:lnTo>
                    <a:pt x="174497" y="90014"/>
                  </a:lnTo>
                  <a:cubicBezTo>
                    <a:pt x="178018" y="92102"/>
                    <a:pt x="179180" y="96650"/>
                    <a:pt x="177092" y="100172"/>
                  </a:cubicBezTo>
                  <a:cubicBezTo>
                    <a:pt x="175757" y="102424"/>
                    <a:pt x="173333" y="103804"/>
                    <a:pt x="170716" y="103805"/>
                  </a:cubicBezTo>
                  <a:cubicBezTo>
                    <a:pt x="169385" y="103805"/>
                    <a:pt x="168079" y="103446"/>
                    <a:pt x="166934" y="102767"/>
                  </a:cubicBezTo>
                  <a:lnTo>
                    <a:pt x="158704" y="97873"/>
                  </a:lnTo>
                  <a:cubicBezTo>
                    <a:pt x="158120" y="97582"/>
                    <a:pt x="157434" y="97582"/>
                    <a:pt x="156850" y="97873"/>
                  </a:cubicBezTo>
                  <a:cubicBezTo>
                    <a:pt x="156265" y="98211"/>
                    <a:pt x="155900" y="98829"/>
                    <a:pt x="155886" y="99504"/>
                  </a:cubicBezTo>
                  <a:lnTo>
                    <a:pt x="155886" y="166830"/>
                  </a:lnTo>
                  <a:cubicBezTo>
                    <a:pt x="155886" y="172972"/>
                    <a:pt x="150907" y="177952"/>
                    <a:pt x="144764" y="177952"/>
                  </a:cubicBezTo>
                  <a:lnTo>
                    <a:pt x="111398" y="177952"/>
                  </a:lnTo>
                  <a:cubicBezTo>
                    <a:pt x="107303" y="177952"/>
                    <a:pt x="103983" y="174632"/>
                    <a:pt x="103983" y="170537"/>
                  </a:cubicBezTo>
                  <a:close/>
                  <a:moveTo>
                    <a:pt x="178278" y="50049"/>
                  </a:moveTo>
                  <a:cubicBezTo>
                    <a:pt x="178278" y="52096"/>
                    <a:pt x="176619" y="53756"/>
                    <a:pt x="174571" y="53756"/>
                  </a:cubicBezTo>
                  <a:lnTo>
                    <a:pt x="159742" y="53756"/>
                  </a:lnTo>
                  <a:cubicBezTo>
                    <a:pt x="156162" y="53828"/>
                    <a:pt x="153042" y="51332"/>
                    <a:pt x="152327" y="47824"/>
                  </a:cubicBezTo>
                  <a:cubicBezTo>
                    <a:pt x="152154" y="46974"/>
                    <a:pt x="151415" y="46358"/>
                    <a:pt x="150548" y="46341"/>
                  </a:cubicBezTo>
                  <a:lnTo>
                    <a:pt x="137350" y="46341"/>
                  </a:lnTo>
                  <a:cubicBezTo>
                    <a:pt x="135302" y="46341"/>
                    <a:pt x="133642" y="44681"/>
                    <a:pt x="133642" y="42634"/>
                  </a:cubicBezTo>
                  <a:lnTo>
                    <a:pt x="133642" y="12975"/>
                  </a:lnTo>
                  <a:cubicBezTo>
                    <a:pt x="133642" y="10928"/>
                    <a:pt x="135302" y="9268"/>
                    <a:pt x="137350" y="9268"/>
                  </a:cubicBezTo>
                  <a:lnTo>
                    <a:pt x="148472" y="9268"/>
                  </a:lnTo>
                  <a:cubicBezTo>
                    <a:pt x="152763" y="9269"/>
                    <a:pt x="156667" y="11755"/>
                    <a:pt x="158481" y="15644"/>
                  </a:cubicBezTo>
                  <a:cubicBezTo>
                    <a:pt x="158800" y="16258"/>
                    <a:pt x="159422" y="16654"/>
                    <a:pt x="160113" y="16683"/>
                  </a:cubicBezTo>
                  <a:lnTo>
                    <a:pt x="174423" y="16683"/>
                  </a:lnTo>
                  <a:cubicBezTo>
                    <a:pt x="176470" y="16683"/>
                    <a:pt x="178130" y="18342"/>
                    <a:pt x="178130" y="20390"/>
                  </a:cubicBezTo>
                  <a:close/>
                </a:path>
              </a:pathLst>
            </a:custGeom>
            <a:solidFill>
              <a:srgbClr val="FFFF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2" name="Rounded Rectangle 76"/>
            <p:cNvSpPr/>
            <p:nvPr/>
          </p:nvSpPr>
          <p:spPr>
            <a:xfrm>
              <a:off x="5304589" y="6074320"/>
              <a:ext cx="221231" cy="308280"/>
            </a:xfrm>
            <a:custGeom>
              <a:avLst/>
              <a:gdLst/>
              <a:ahLst/>
              <a:cxnLst/>
              <a:rect l="0" t="0" r="0" b="0"/>
              <a:pathLst>
                <a:path w="120258" h="177358">
                  <a:moveTo>
                    <a:pt x="69898" y="22548"/>
                  </a:moveTo>
                  <a:lnTo>
                    <a:pt x="47357" y="22548"/>
                  </a:lnTo>
                  <a:cubicBezTo>
                    <a:pt x="41344" y="22548"/>
                    <a:pt x="36087" y="17283"/>
                    <a:pt x="36087" y="11270"/>
                  </a:cubicBezTo>
                  <a:cubicBezTo>
                    <a:pt x="36087" y="5264"/>
                    <a:pt x="41344" y="0"/>
                    <a:pt x="47357" y="0"/>
                  </a:cubicBezTo>
                  <a:lnTo>
                    <a:pt x="69905" y="0"/>
                  </a:lnTo>
                  <a:cubicBezTo>
                    <a:pt x="76667" y="748"/>
                    <a:pt x="81175" y="5264"/>
                    <a:pt x="81175" y="11277"/>
                  </a:cubicBezTo>
                  <a:cubicBezTo>
                    <a:pt x="81175" y="17283"/>
                    <a:pt x="75911" y="22548"/>
                    <a:pt x="69905" y="22548"/>
                  </a:cubicBezTo>
                  <a:close/>
                  <a:moveTo>
                    <a:pt x="43375" y="51850"/>
                  </a:moveTo>
                  <a:lnTo>
                    <a:pt x="20827" y="51850"/>
                  </a:lnTo>
                  <a:cubicBezTo>
                    <a:pt x="14821" y="51850"/>
                    <a:pt x="9557" y="46586"/>
                    <a:pt x="9557" y="40580"/>
                  </a:cubicBezTo>
                  <a:cubicBezTo>
                    <a:pt x="9557" y="34567"/>
                    <a:pt x="14814" y="29310"/>
                    <a:pt x="20835" y="29310"/>
                  </a:cubicBezTo>
                  <a:lnTo>
                    <a:pt x="43368" y="29310"/>
                  </a:lnTo>
                  <a:cubicBezTo>
                    <a:pt x="49381" y="30051"/>
                    <a:pt x="54638" y="34567"/>
                    <a:pt x="54638" y="40580"/>
                  </a:cubicBezTo>
                  <a:cubicBezTo>
                    <a:pt x="54638" y="46586"/>
                    <a:pt x="49381" y="51850"/>
                    <a:pt x="43368" y="51850"/>
                  </a:cubicBezTo>
                  <a:close/>
                  <a:moveTo>
                    <a:pt x="91689" y="177358"/>
                  </a:moveTo>
                  <a:lnTo>
                    <a:pt x="28561" y="177358"/>
                  </a:lnTo>
                  <a:cubicBezTo>
                    <a:pt x="11270" y="166088"/>
                    <a:pt x="0" y="145038"/>
                    <a:pt x="0" y="121734"/>
                  </a:cubicBezTo>
                  <a:cubicBezTo>
                    <a:pt x="0" y="105199"/>
                    <a:pt x="6013" y="93929"/>
                    <a:pt x="15029" y="82658"/>
                  </a:cubicBezTo>
                  <a:cubicBezTo>
                    <a:pt x="10521" y="81153"/>
                    <a:pt x="7518" y="76645"/>
                    <a:pt x="7518" y="72129"/>
                  </a:cubicBezTo>
                  <a:cubicBezTo>
                    <a:pt x="7518" y="66124"/>
                    <a:pt x="12775" y="60859"/>
                    <a:pt x="18788" y="60859"/>
                  </a:cubicBezTo>
                  <a:lnTo>
                    <a:pt x="101477" y="60859"/>
                  </a:lnTo>
                  <a:cubicBezTo>
                    <a:pt x="107483" y="60859"/>
                    <a:pt x="112747" y="66124"/>
                    <a:pt x="112747" y="72129"/>
                  </a:cubicBezTo>
                  <a:cubicBezTo>
                    <a:pt x="112747" y="76645"/>
                    <a:pt x="109737" y="81153"/>
                    <a:pt x="105229" y="82658"/>
                  </a:cubicBezTo>
                  <a:cubicBezTo>
                    <a:pt x="114994" y="94677"/>
                    <a:pt x="120258" y="105206"/>
                    <a:pt x="120258" y="121741"/>
                  </a:cubicBezTo>
                  <a:cubicBezTo>
                    <a:pt x="120258" y="145038"/>
                    <a:pt x="108988" y="166088"/>
                    <a:pt x="91697" y="177358"/>
                  </a:cubicBezTo>
                  <a:close/>
                  <a:moveTo>
                    <a:pt x="60132" y="91378"/>
                  </a:moveTo>
                  <a:cubicBezTo>
                    <a:pt x="57061" y="91378"/>
                    <a:pt x="54571" y="93868"/>
                    <a:pt x="54571" y="96939"/>
                  </a:cubicBezTo>
                  <a:lnTo>
                    <a:pt x="54571" y="117678"/>
                  </a:lnTo>
                  <a:lnTo>
                    <a:pt x="41640" y="117678"/>
                  </a:lnTo>
                  <a:lnTo>
                    <a:pt x="41640" y="99193"/>
                  </a:lnTo>
                  <a:cubicBezTo>
                    <a:pt x="41640" y="96122"/>
                    <a:pt x="39151" y="93632"/>
                    <a:pt x="36079" y="93632"/>
                  </a:cubicBezTo>
                  <a:cubicBezTo>
                    <a:pt x="33008" y="93632"/>
                    <a:pt x="30518" y="96122"/>
                    <a:pt x="30518" y="99193"/>
                  </a:cubicBezTo>
                  <a:lnTo>
                    <a:pt x="30518" y="123231"/>
                  </a:lnTo>
                  <a:cubicBezTo>
                    <a:pt x="30518" y="126308"/>
                    <a:pt x="33010" y="128792"/>
                    <a:pt x="36079" y="128792"/>
                  </a:cubicBezTo>
                  <a:lnTo>
                    <a:pt x="54571" y="128792"/>
                  </a:lnTo>
                  <a:lnTo>
                    <a:pt x="54571" y="143992"/>
                  </a:lnTo>
                  <a:lnTo>
                    <a:pt x="39090" y="143992"/>
                  </a:lnTo>
                  <a:cubicBezTo>
                    <a:pt x="36018" y="143992"/>
                    <a:pt x="33529" y="146482"/>
                    <a:pt x="33529" y="149553"/>
                  </a:cubicBezTo>
                  <a:cubicBezTo>
                    <a:pt x="33529" y="152625"/>
                    <a:pt x="36018" y="155114"/>
                    <a:pt x="39090" y="155114"/>
                  </a:cubicBezTo>
                  <a:lnTo>
                    <a:pt x="60132" y="155114"/>
                  </a:lnTo>
                  <a:cubicBezTo>
                    <a:pt x="63204" y="155114"/>
                    <a:pt x="65693" y="152625"/>
                    <a:pt x="65693" y="149553"/>
                  </a:cubicBezTo>
                  <a:lnTo>
                    <a:pt x="65693" y="128815"/>
                  </a:lnTo>
                  <a:lnTo>
                    <a:pt x="78625" y="128815"/>
                  </a:lnTo>
                  <a:lnTo>
                    <a:pt x="78625" y="147299"/>
                  </a:lnTo>
                  <a:cubicBezTo>
                    <a:pt x="78625" y="150371"/>
                    <a:pt x="81114" y="152860"/>
                    <a:pt x="84186" y="152860"/>
                  </a:cubicBezTo>
                  <a:cubicBezTo>
                    <a:pt x="87257" y="152860"/>
                    <a:pt x="89747" y="150371"/>
                    <a:pt x="89747" y="147299"/>
                  </a:cubicBezTo>
                  <a:lnTo>
                    <a:pt x="89747" y="123246"/>
                  </a:lnTo>
                  <a:cubicBezTo>
                    <a:pt x="89747" y="120175"/>
                    <a:pt x="87257" y="117685"/>
                    <a:pt x="84186" y="117685"/>
                  </a:cubicBezTo>
                  <a:lnTo>
                    <a:pt x="65693" y="117685"/>
                  </a:lnTo>
                  <a:lnTo>
                    <a:pt x="65693" y="102507"/>
                  </a:lnTo>
                  <a:lnTo>
                    <a:pt x="81175" y="102507"/>
                  </a:lnTo>
                  <a:cubicBezTo>
                    <a:pt x="84247" y="102507"/>
                    <a:pt x="86736" y="100018"/>
                    <a:pt x="86736" y="96946"/>
                  </a:cubicBezTo>
                  <a:cubicBezTo>
                    <a:pt x="86736" y="93875"/>
                    <a:pt x="84247" y="91385"/>
                    <a:pt x="81175" y="91385"/>
                  </a:cubicBezTo>
                  <a:lnTo>
                    <a:pt x="60132" y="91385"/>
                  </a:lnTo>
                  <a:close/>
                  <a:moveTo>
                    <a:pt x="76890" y="29310"/>
                  </a:moveTo>
                  <a:lnTo>
                    <a:pt x="99445" y="29310"/>
                  </a:lnTo>
                  <a:cubicBezTo>
                    <a:pt x="105451" y="29310"/>
                    <a:pt x="110715" y="34567"/>
                    <a:pt x="110715" y="40580"/>
                  </a:cubicBezTo>
                  <a:cubicBezTo>
                    <a:pt x="110715" y="46586"/>
                    <a:pt x="105451" y="51850"/>
                    <a:pt x="99445" y="51850"/>
                  </a:cubicBezTo>
                  <a:lnTo>
                    <a:pt x="76890" y="51850"/>
                  </a:lnTo>
                  <a:cubicBezTo>
                    <a:pt x="70884" y="51850"/>
                    <a:pt x="65619" y="46586"/>
                    <a:pt x="65619" y="40580"/>
                  </a:cubicBezTo>
                  <a:cubicBezTo>
                    <a:pt x="65619" y="34567"/>
                    <a:pt x="70876" y="30051"/>
                    <a:pt x="76890" y="29310"/>
                  </a:cubicBezTo>
                  <a:close/>
                </a:path>
              </a:pathLst>
            </a:custGeom>
            <a:solidFill>
              <a:srgbClr val="FFFF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6" name="TextBox 80"/>
            <p:cNvSpPr txBox="1"/>
            <p:nvPr/>
          </p:nvSpPr>
          <p:spPr>
            <a:xfrm>
              <a:off x="8538102" y="3620953"/>
              <a:ext cx="1165383" cy="553998"/>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HUF is
Non</a:t>
              </a:r>
              <a:r>
                <a:rPr lang="en-IN" b="0" dirty="0">
                  <a:solidFill>
                    <a:srgbClr val="FFFFFF"/>
                  </a:solidFill>
                </a:rPr>
                <a:t> </a:t>
              </a:r>
              <a:r>
                <a:rPr b="0" dirty="0">
                  <a:solidFill>
                    <a:srgbClr val="FFFFFF"/>
                  </a:solidFill>
                </a:rPr>
                <a:t>resident</a:t>
              </a:r>
            </a:p>
          </p:txBody>
        </p:sp>
        <p:sp>
          <p:nvSpPr>
            <p:cNvPr id="40" name="TextBox 84"/>
            <p:cNvSpPr txBox="1"/>
            <p:nvPr/>
          </p:nvSpPr>
          <p:spPr>
            <a:xfrm>
              <a:off x="2545801" y="3287515"/>
              <a:ext cx="4331742" cy="1384995"/>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chemeClr val="bg1"/>
                  </a:solidFill>
                  <a:cs typeface="Times New Roman" panose="02020603050405020304" pitchFamily="18" charset="0"/>
                </a:rPr>
                <a:t>Is Karta resident in India in any 2 PYs out of 10 PYs preceding the relevant PY? </a:t>
              </a:r>
            </a:p>
            <a:p>
              <a:pPr algn="ctr"/>
              <a:r>
                <a:rPr lang="en-US" b="1" dirty="0">
                  <a:solidFill>
                    <a:schemeClr val="bg1"/>
                  </a:solidFill>
                  <a:cs typeface="Times New Roman" panose="02020603050405020304" pitchFamily="18" charset="0"/>
                </a:rPr>
                <a:t>(+)</a:t>
              </a:r>
              <a:r>
                <a:rPr lang="en-US" dirty="0">
                  <a:solidFill>
                    <a:schemeClr val="bg1"/>
                  </a:solidFill>
                  <a:cs typeface="Times New Roman" panose="02020603050405020304" pitchFamily="18" charset="0"/>
                </a:rPr>
                <a:t> </a:t>
              </a:r>
            </a:p>
            <a:p>
              <a:pPr algn="ctr"/>
              <a:r>
                <a:rPr lang="en-US" dirty="0">
                  <a:solidFill>
                    <a:schemeClr val="bg1"/>
                  </a:solidFill>
                  <a:cs typeface="Times New Roman" panose="02020603050405020304" pitchFamily="18" charset="0"/>
                </a:rPr>
                <a:t>Is his stay in India for 730 days or more during the 7 PYs preceding the relevant PY?</a:t>
              </a:r>
            </a:p>
          </p:txBody>
        </p:sp>
        <p:sp>
          <p:nvSpPr>
            <p:cNvPr id="41" name="TextBox 85"/>
            <p:cNvSpPr txBox="1"/>
            <p:nvPr/>
          </p:nvSpPr>
          <p:spPr>
            <a:xfrm>
              <a:off x="2577172" y="1347287"/>
              <a:ext cx="7267054" cy="553998"/>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chemeClr val="bg1"/>
                  </a:solidFill>
                  <a:cs typeface="Times New Roman" panose="02020603050405020304" pitchFamily="18" charset="0"/>
                </a:rPr>
                <a:t>Is the control and management of its affairs situated wholly or partly in India? </a:t>
              </a:r>
            </a:p>
            <a:p>
              <a:pPr algn="ctr"/>
              <a:endParaRPr b="0" dirty="0">
                <a:solidFill>
                  <a:schemeClr val="bg1"/>
                </a:solidFill>
                <a:cs typeface="Times New Roman" panose="02020603050405020304" pitchFamily="18" charset="0"/>
              </a:endParaRPr>
            </a:p>
          </p:txBody>
        </p:sp>
        <p:sp>
          <p:nvSpPr>
            <p:cNvPr id="42" name="TextBox 86"/>
            <p:cNvSpPr txBox="1"/>
            <p:nvPr/>
          </p:nvSpPr>
          <p:spPr>
            <a:xfrm>
              <a:off x="8750808" y="2366764"/>
              <a:ext cx="282129"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NO</a:t>
              </a:r>
              <a:endParaRPr sz="900" b="0" dirty="0">
                <a:solidFill>
                  <a:srgbClr val="FFFFFF"/>
                </a:solidFill>
              </a:endParaRPr>
            </a:p>
          </p:txBody>
        </p:sp>
        <p:sp>
          <p:nvSpPr>
            <p:cNvPr id="43" name="TextBox 87"/>
            <p:cNvSpPr txBox="1"/>
            <p:nvPr/>
          </p:nvSpPr>
          <p:spPr>
            <a:xfrm>
              <a:off x="2598947" y="6107256"/>
              <a:ext cx="1030731"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cs typeface="Times New Roman" panose="02020603050405020304" pitchFamily="18" charset="0"/>
                </a:rPr>
                <a:t>HUF is ROR</a:t>
              </a:r>
            </a:p>
          </p:txBody>
        </p:sp>
        <p:sp>
          <p:nvSpPr>
            <p:cNvPr id="44" name="TextBox 88"/>
            <p:cNvSpPr txBox="1"/>
            <p:nvPr/>
          </p:nvSpPr>
          <p:spPr>
            <a:xfrm>
              <a:off x="5625844" y="6099678"/>
              <a:ext cx="1173398"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b="0" dirty="0">
                  <a:solidFill>
                    <a:srgbClr val="FFFFFF"/>
                  </a:solidFill>
                  <a:cs typeface="Times New Roman" panose="02020603050405020304" pitchFamily="18" charset="0"/>
                </a:rPr>
                <a:t>HUF is RNOR</a:t>
              </a:r>
            </a:p>
          </p:txBody>
        </p:sp>
        <p:grpSp>
          <p:nvGrpSpPr>
            <p:cNvPr id="107" name="Group 106"/>
            <p:cNvGrpSpPr/>
            <p:nvPr/>
          </p:nvGrpSpPr>
          <p:grpSpPr>
            <a:xfrm>
              <a:off x="3343343" y="2226018"/>
              <a:ext cx="747398" cy="569446"/>
              <a:chOff x="2532851" y="1684613"/>
              <a:chExt cx="427085" cy="284723"/>
            </a:xfrm>
          </p:grpSpPr>
          <p:sp>
            <p:nvSpPr>
              <p:cNvPr id="108" name="Rounded Rectangle 34"/>
              <p:cNvSpPr/>
              <p:nvPr/>
            </p:nvSpPr>
            <p:spPr>
              <a:xfrm>
                <a:off x="2532851" y="1684613"/>
                <a:ext cx="427085" cy="284723"/>
              </a:xfrm>
              <a:custGeom>
                <a:avLst/>
                <a:gdLst/>
                <a:ahLst/>
                <a:cxnLst/>
                <a:rect l="0" t="0" r="0" b="0"/>
                <a:pathLst>
                  <a:path w="427085" h="284723">
                    <a:moveTo>
                      <a:pt x="213542" y="0"/>
                    </a:moveTo>
                    <a:lnTo>
                      <a:pt x="427085" y="142361"/>
                    </a:lnTo>
                    <a:lnTo>
                      <a:pt x="213542" y="284723"/>
                    </a:lnTo>
                    <a:lnTo>
                      <a:pt x="0" y="142361"/>
                    </a:ln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09" name="Rounded Rectangle 35"/>
              <p:cNvSpPr/>
              <p:nvPr/>
            </p:nvSpPr>
            <p:spPr>
              <a:xfrm>
                <a:off x="2532851" y="1684613"/>
                <a:ext cx="427085" cy="284723"/>
              </a:xfrm>
              <a:custGeom>
                <a:avLst/>
                <a:gdLst/>
                <a:ahLst/>
                <a:cxnLst/>
                <a:rect l="0" t="0" r="0" b="0"/>
                <a:pathLst>
                  <a:path w="427085" h="284723">
                    <a:moveTo>
                      <a:pt x="213542" y="0"/>
                    </a:moveTo>
                    <a:lnTo>
                      <a:pt x="427085" y="142361"/>
                    </a:lnTo>
                    <a:lnTo>
                      <a:pt x="213542" y="284723"/>
                    </a:lnTo>
                    <a:lnTo>
                      <a:pt x="0" y="142361"/>
                    </a:lnTo>
                    <a:close/>
                  </a:path>
                </a:pathLst>
              </a:custGeom>
              <a:noFill/>
              <a:ln w="889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
          <p:nvSpPr>
            <p:cNvPr id="110" name="TextBox 86"/>
            <p:cNvSpPr txBox="1"/>
            <p:nvPr/>
          </p:nvSpPr>
          <p:spPr>
            <a:xfrm>
              <a:off x="3538308" y="2366764"/>
              <a:ext cx="357469"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rgbClr val="FFFFFF"/>
                  </a:solidFill>
                </a:rPr>
                <a:t>YES</a:t>
              </a:r>
              <a:endParaRPr sz="900" b="0" dirty="0">
                <a:solidFill>
                  <a:srgbClr val="FFFFFF"/>
                </a:solidFill>
              </a:endParaRPr>
            </a:p>
          </p:txBody>
        </p:sp>
        <p:grpSp>
          <p:nvGrpSpPr>
            <p:cNvPr id="111" name="Group 110"/>
            <p:cNvGrpSpPr/>
            <p:nvPr/>
          </p:nvGrpSpPr>
          <p:grpSpPr>
            <a:xfrm>
              <a:off x="2595945" y="5105158"/>
              <a:ext cx="747398" cy="569446"/>
              <a:chOff x="2532851" y="1684613"/>
              <a:chExt cx="427085" cy="284723"/>
            </a:xfrm>
          </p:grpSpPr>
          <p:sp>
            <p:nvSpPr>
              <p:cNvPr id="112" name="Rounded Rectangle 34"/>
              <p:cNvSpPr/>
              <p:nvPr/>
            </p:nvSpPr>
            <p:spPr>
              <a:xfrm>
                <a:off x="2532851" y="1684613"/>
                <a:ext cx="427085" cy="284723"/>
              </a:xfrm>
              <a:custGeom>
                <a:avLst/>
                <a:gdLst/>
                <a:ahLst/>
                <a:cxnLst/>
                <a:rect l="0" t="0" r="0" b="0"/>
                <a:pathLst>
                  <a:path w="427085" h="284723">
                    <a:moveTo>
                      <a:pt x="213542" y="0"/>
                    </a:moveTo>
                    <a:lnTo>
                      <a:pt x="427085" y="142361"/>
                    </a:lnTo>
                    <a:lnTo>
                      <a:pt x="213542" y="284723"/>
                    </a:lnTo>
                    <a:lnTo>
                      <a:pt x="0" y="142361"/>
                    </a:ln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13" name="Rounded Rectangle 35"/>
              <p:cNvSpPr/>
              <p:nvPr/>
            </p:nvSpPr>
            <p:spPr>
              <a:xfrm>
                <a:off x="2532851" y="1684613"/>
                <a:ext cx="427085" cy="284723"/>
              </a:xfrm>
              <a:custGeom>
                <a:avLst/>
                <a:gdLst/>
                <a:ahLst/>
                <a:cxnLst/>
                <a:rect l="0" t="0" r="0" b="0"/>
                <a:pathLst>
                  <a:path w="427085" h="284723">
                    <a:moveTo>
                      <a:pt x="213542" y="0"/>
                    </a:moveTo>
                    <a:lnTo>
                      <a:pt x="427085" y="142361"/>
                    </a:lnTo>
                    <a:lnTo>
                      <a:pt x="213542" y="284723"/>
                    </a:lnTo>
                    <a:lnTo>
                      <a:pt x="0" y="142361"/>
                    </a:lnTo>
                    <a:close/>
                  </a:path>
                </a:pathLst>
              </a:custGeom>
              <a:noFill/>
              <a:ln w="889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
          <p:nvSpPr>
            <p:cNvPr id="114" name="TextBox 86"/>
            <p:cNvSpPr txBox="1"/>
            <p:nvPr/>
          </p:nvSpPr>
          <p:spPr>
            <a:xfrm>
              <a:off x="2790910" y="5245904"/>
              <a:ext cx="357469"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rgbClr val="FFFFFF"/>
                  </a:solidFill>
                </a:rPr>
                <a:t>YES</a:t>
              </a:r>
              <a:endParaRPr sz="900" b="0" dirty="0">
                <a:solidFill>
                  <a:srgbClr val="FFFFFF"/>
                </a:solidFill>
              </a:endParaRPr>
            </a:p>
          </p:txBody>
        </p:sp>
        <p:grpSp>
          <p:nvGrpSpPr>
            <p:cNvPr id="115" name="Group 114"/>
            <p:cNvGrpSpPr/>
            <p:nvPr/>
          </p:nvGrpSpPr>
          <p:grpSpPr>
            <a:xfrm>
              <a:off x="5735552" y="5105158"/>
              <a:ext cx="747398" cy="569446"/>
              <a:chOff x="2532851" y="1684613"/>
              <a:chExt cx="427085" cy="284723"/>
            </a:xfrm>
          </p:grpSpPr>
          <p:sp>
            <p:nvSpPr>
              <p:cNvPr id="116" name="Rounded Rectangle 34"/>
              <p:cNvSpPr/>
              <p:nvPr/>
            </p:nvSpPr>
            <p:spPr>
              <a:xfrm>
                <a:off x="2532851" y="1684613"/>
                <a:ext cx="427085" cy="284723"/>
              </a:xfrm>
              <a:custGeom>
                <a:avLst/>
                <a:gdLst/>
                <a:ahLst/>
                <a:cxnLst/>
                <a:rect l="0" t="0" r="0" b="0"/>
                <a:pathLst>
                  <a:path w="427085" h="284723">
                    <a:moveTo>
                      <a:pt x="213542" y="0"/>
                    </a:moveTo>
                    <a:lnTo>
                      <a:pt x="427085" y="142361"/>
                    </a:lnTo>
                    <a:lnTo>
                      <a:pt x="213542" y="284723"/>
                    </a:lnTo>
                    <a:lnTo>
                      <a:pt x="0" y="142361"/>
                    </a:ln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17" name="Rounded Rectangle 35"/>
              <p:cNvSpPr/>
              <p:nvPr/>
            </p:nvSpPr>
            <p:spPr>
              <a:xfrm>
                <a:off x="2532851" y="1684613"/>
                <a:ext cx="427085" cy="284723"/>
              </a:xfrm>
              <a:custGeom>
                <a:avLst/>
                <a:gdLst/>
                <a:ahLst/>
                <a:cxnLst/>
                <a:rect l="0" t="0" r="0" b="0"/>
                <a:pathLst>
                  <a:path w="427085" h="284723">
                    <a:moveTo>
                      <a:pt x="213542" y="0"/>
                    </a:moveTo>
                    <a:lnTo>
                      <a:pt x="427085" y="142361"/>
                    </a:lnTo>
                    <a:lnTo>
                      <a:pt x="213542" y="284723"/>
                    </a:lnTo>
                    <a:lnTo>
                      <a:pt x="0" y="142361"/>
                    </a:lnTo>
                    <a:close/>
                  </a:path>
                </a:pathLst>
              </a:custGeom>
              <a:noFill/>
              <a:ln w="889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
          <p:nvSpPr>
            <p:cNvPr id="118" name="TextBox 86"/>
            <p:cNvSpPr txBox="1"/>
            <p:nvPr/>
          </p:nvSpPr>
          <p:spPr>
            <a:xfrm>
              <a:off x="5968186" y="5245904"/>
              <a:ext cx="282129"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NO</a:t>
              </a:r>
              <a:endParaRPr sz="900" b="0" dirty="0">
                <a:solidFill>
                  <a:srgbClr val="FFFFFF"/>
                </a:solidFill>
              </a:endParaRPr>
            </a:p>
          </p:txBody>
        </p:sp>
        <p:cxnSp>
          <p:nvCxnSpPr>
            <p:cNvPr id="120" name="Straight Connector 119"/>
            <p:cNvCxnSpPr/>
            <p:nvPr/>
          </p:nvCxnSpPr>
          <p:spPr>
            <a:xfrm>
              <a:off x="6109252" y="1794512"/>
              <a:ext cx="0" cy="21981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a:off x="3717042" y="2014330"/>
              <a:ext cx="5174831" cy="0"/>
            </a:xfrm>
            <a:prstGeom prst="line">
              <a:avLst/>
            </a:prstGeom>
            <a:ln/>
          </p:spPr>
          <p:style>
            <a:lnRef idx="1">
              <a:schemeClr val="dk1"/>
            </a:lnRef>
            <a:fillRef idx="0">
              <a:schemeClr val="dk1"/>
            </a:fillRef>
            <a:effectRef idx="0">
              <a:schemeClr val="dk1"/>
            </a:effectRef>
            <a:fontRef idx="minor">
              <a:schemeClr val="tx1"/>
            </a:fontRef>
          </p:style>
        </p:cxnSp>
        <p:cxnSp>
          <p:nvCxnSpPr>
            <p:cNvPr id="123" name="Straight Connector 122"/>
            <p:cNvCxnSpPr/>
            <p:nvPr/>
          </p:nvCxnSpPr>
          <p:spPr>
            <a:xfrm>
              <a:off x="3717042" y="2028717"/>
              <a:ext cx="0" cy="21981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a:off x="8891873" y="2014330"/>
              <a:ext cx="0" cy="21981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flipH="1">
              <a:off x="2968487" y="4765690"/>
              <a:ext cx="1" cy="33946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a:off x="8891873" y="2795464"/>
              <a:ext cx="0" cy="67243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a:xfrm>
              <a:off x="3717042" y="2795464"/>
              <a:ext cx="0" cy="4090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flipH="1">
              <a:off x="6109251" y="4783139"/>
              <a:ext cx="1" cy="33946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flipH="1">
              <a:off x="2968486" y="5675188"/>
              <a:ext cx="1" cy="33946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flipH="1">
              <a:off x="6109251" y="5666967"/>
              <a:ext cx="1" cy="33946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429596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0F4D7-3A9E-DDD9-B400-4703C6101C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DB2D4-FB74-47D4-8BEC-CF5C1729E4BB}"/>
              </a:ext>
            </a:extLst>
          </p:cNvPr>
          <p:cNvSpPr>
            <a:spLocks noGrp="1"/>
          </p:cNvSpPr>
          <p:nvPr>
            <p:ph type="title"/>
          </p:nvPr>
        </p:nvSpPr>
        <p:spPr/>
        <p:txBody>
          <a:bodyPr/>
          <a:lstStyle/>
          <a:p>
            <a:r>
              <a:rPr lang="en-US" dirty="0"/>
              <a:t>Residential Status of Other Persons</a:t>
            </a:r>
            <a:endParaRPr lang="en-IN" dirty="0"/>
          </a:p>
        </p:txBody>
      </p:sp>
      <p:sp>
        <p:nvSpPr>
          <p:cNvPr id="3" name="Content Placeholder 2">
            <a:extLst>
              <a:ext uri="{FF2B5EF4-FFF2-40B4-BE49-F238E27FC236}">
                <a16:creationId xmlns:a16="http://schemas.microsoft.com/office/drawing/2014/main" id="{A255A2F8-9B0B-AC4F-EAB5-94310551AF16}"/>
              </a:ext>
            </a:extLst>
          </p:cNvPr>
          <p:cNvSpPr>
            <a:spLocks noGrp="1"/>
          </p:cNvSpPr>
          <p:nvPr>
            <p:ph idx="1"/>
          </p:nvPr>
        </p:nvSpPr>
        <p:spPr/>
        <p:txBody>
          <a:bodyPr/>
          <a:lstStyle/>
          <a:p>
            <a:r>
              <a:rPr lang="en-US" b="1" dirty="0"/>
              <a:t>Firms and Association of Persons (AOPs)</a:t>
            </a:r>
          </a:p>
          <a:p>
            <a:pPr lvl="1"/>
            <a:r>
              <a:rPr lang="en-US" dirty="0"/>
              <a:t>The residential status of a firm or AOP </a:t>
            </a:r>
            <a:r>
              <a:rPr lang="en-US" b="1" dirty="0">
                <a:solidFill>
                  <a:srgbClr val="C00000"/>
                </a:solidFill>
              </a:rPr>
              <a:t>depends on the residential status of its partners or members</a:t>
            </a:r>
            <a:r>
              <a:rPr lang="en-US" dirty="0"/>
              <a:t>. </a:t>
            </a:r>
          </a:p>
          <a:p>
            <a:pPr lvl="1"/>
            <a:r>
              <a:rPr lang="en-US" dirty="0"/>
              <a:t>If all the partners/members </a:t>
            </a:r>
            <a:r>
              <a:rPr lang="en-US" b="1" dirty="0">
                <a:solidFill>
                  <a:srgbClr val="C00000"/>
                </a:solidFill>
              </a:rPr>
              <a:t>are residents</a:t>
            </a:r>
            <a:r>
              <a:rPr lang="en-US" dirty="0"/>
              <a:t>, the firm/AOP is </a:t>
            </a:r>
            <a:r>
              <a:rPr lang="en-US" b="1" dirty="0">
                <a:solidFill>
                  <a:srgbClr val="C00000"/>
                </a:solidFill>
              </a:rPr>
              <a:t>considered a resident</a:t>
            </a:r>
            <a:r>
              <a:rPr lang="en-US" dirty="0"/>
              <a:t>; </a:t>
            </a:r>
          </a:p>
          <a:p>
            <a:pPr lvl="1"/>
            <a:r>
              <a:rPr lang="en-US" dirty="0"/>
              <a:t>if </a:t>
            </a:r>
            <a:r>
              <a:rPr lang="en-US" b="1" dirty="0">
                <a:solidFill>
                  <a:srgbClr val="C00000"/>
                </a:solidFill>
              </a:rPr>
              <a:t>any</a:t>
            </a:r>
            <a:r>
              <a:rPr lang="en-US" dirty="0"/>
              <a:t> partner/member is </a:t>
            </a:r>
            <a:r>
              <a:rPr lang="en-US" b="1" dirty="0">
                <a:solidFill>
                  <a:srgbClr val="C00000"/>
                </a:solidFill>
              </a:rPr>
              <a:t>a non-resident</a:t>
            </a:r>
            <a:r>
              <a:rPr lang="en-US" dirty="0"/>
              <a:t>, the firm/AOP is treated as </a:t>
            </a:r>
            <a:r>
              <a:rPr lang="en-US" b="1" dirty="0">
                <a:solidFill>
                  <a:srgbClr val="C00000"/>
                </a:solidFill>
              </a:rPr>
              <a:t>a non-resident</a:t>
            </a:r>
            <a:r>
              <a:rPr lang="en-US" dirty="0"/>
              <a:t>.</a:t>
            </a:r>
            <a:endParaRPr lang="en-IN" dirty="0"/>
          </a:p>
        </p:txBody>
      </p:sp>
    </p:spTree>
    <p:extLst>
      <p:ext uri="{BB962C8B-B14F-4D97-AF65-F5344CB8AC3E}">
        <p14:creationId xmlns:p14="http://schemas.microsoft.com/office/powerpoint/2010/main" val="2203806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2601B-4A50-47FD-9642-A695665EEF4D}"/>
              </a:ext>
            </a:extLst>
          </p:cNvPr>
          <p:cNvSpPr>
            <a:spLocks noGrp="1"/>
          </p:cNvSpPr>
          <p:nvPr>
            <p:ph type="title"/>
          </p:nvPr>
        </p:nvSpPr>
        <p:spPr/>
        <p:txBody>
          <a:bodyPr/>
          <a:lstStyle/>
          <a:p>
            <a:r>
              <a:rPr lang="en-US" dirty="0"/>
              <a:t>Residential Status of Other Persons </a:t>
            </a:r>
            <a:r>
              <a:rPr lang="en-US" sz="2400" dirty="0"/>
              <a:t>(Contd.)</a:t>
            </a:r>
            <a:endParaRPr lang="en-IN" dirty="0"/>
          </a:p>
        </p:txBody>
      </p:sp>
      <p:sp>
        <p:nvSpPr>
          <p:cNvPr id="3" name="Content Placeholder 2">
            <a:extLst>
              <a:ext uri="{FF2B5EF4-FFF2-40B4-BE49-F238E27FC236}">
                <a16:creationId xmlns:a16="http://schemas.microsoft.com/office/drawing/2014/main" id="{0161324E-BCD7-4594-AB51-A88AAB992546}"/>
              </a:ext>
            </a:extLst>
          </p:cNvPr>
          <p:cNvSpPr>
            <a:spLocks noGrp="1"/>
          </p:cNvSpPr>
          <p:nvPr>
            <p:ph idx="1"/>
          </p:nvPr>
        </p:nvSpPr>
        <p:spPr/>
        <p:txBody>
          <a:bodyPr/>
          <a:lstStyle/>
          <a:p>
            <a:r>
              <a:rPr lang="en-US" b="1" dirty="0"/>
              <a:t>Companies</a:t>
            </a:r>
            <a:endParaRPr lang="en-US" dirty="0"/>
          </a:p>
          <a:p>
            <a:pPr lvl="1"/>
            <a:r>
              <a:rPr lang="en-US" dirty="0"/>
              <a:t>Companies in India are classified as resident or non-resident based on different criteria. </a:t>
            </a:r>
          </a:p>
          <a:p>
            <a:pPr lvl="1"/>
            <a:r>
              <a:rPr lang="en-US" dirty="0"/>
              <a:t>A company is considered a </a:t>
            </a:r>
            <a:r>
              <a:rPr lang="en-US" b="1" dirty="0">
                <a:solidFill>
                  <a:srgbClr val="C00000"/>
                </a:solidFill>
              </a:rPr>
              <a:t>resident</a:t>
            </a:r>
            <a:r>
              <a:rPr lang="en-US" dirty="0"/>
              <a:t> </a:t>
            </a:r>
            <a:r>
              <a:rPr lang="en-US" b="1" dirty="0">
                <a:solidFill>
                  <a:srgbClr val="C00000"/>
                </a:solidFill>
              </a:rPr>
              <a:t>if it is an Indian company (i.e. registered in India)</a:t>
            </a:r>
            <a:r>
              <a:rPr lang="en-US" dirty="0"/>
              <a:t> or </a:t>
            </a:r>
            <a:r>
              <a:rPr lang="en-US" b="1" dirty="0">
                <a:solidFill>
                  <a:srgbClr val="C00000"/>
                </a:solidFill>
              </a:rPr>
              <a:t>if its place of effective management is situated in India</a:t>
            </a:r>
            <a:r>
              <a:rPr lang="en-US" dirty="0"/>
              <a:t> during the relevant previous year.</a:t>
            </a:r>
          </a:p>
          <a:p>
            <a:pPr marL="457200" lvl="1" indent="0">
              <a:buNone/>
            </a:pPr>
            <a:endParaRPr lang="en-US" dirty="0"/>
          </a:p>
          <a:p>
            <a:r>
              <a:rPr lang="en-US" b="1" dirty="0"/>
              <a:t>Trusts and Other Organizations</a:t>
            </a:r>
            <a:endParaRPr lang="en-US" dirty="0"/>
          </a:p>
          <a:p>
            <a:pPr lvl="1"/>
            <a:r>
              <a:rPr lang="en-US" dirty="0"/>
              <a:t>The residential status of trusts, charitable institutions, and other organizations shall be determined </a:t>
            </a:r>
            <a:r>
              <a:rPr lang="en-US" b="1" dirty="0">
                <a:solidFill>
                  <a:srgbClr val="C00000"/>
                </a:solidFill>
              </a:rPr>
              <a:t>based on the residential status of the individuals who control and manage them.</a:t>
            </a:r>
          </a:p>
          <a:p>
            <a:pPr marL="457200" lvl="1" indent="0">
              <a:buNone/>
            </a:pPr>
            <a:endParaRPr lang="en-US" dirty="0"/>
          </a:p>
        </p:txBody>
      </p:sp>
    </p:spTree>
    <p:extLst>
      <p:ext uri="{BB962C8B-B14F-4D97-AF65-F5344CB8AC3E}">
        <p14:creationId xmlns:p14="http://schemas.microsoft.com/office/powerpoint/2010/main" val="3944572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838200" y="374930"/>
            <a:ext cx="10515600" cy="1325563"/>
          </a:xfrm>
        </p:spPr>
        <p:txBody>
          <a:bodyPr/>
          <a:lstStyle/>
          <a:p>
            <a:r>
              <a:rPr lang="en-US" b="1" dirty="0">
                <a:cs typeface="Times New Roman" panose="02020603050405020304" pitchFamily="18" charset="0"/>
              </a:rPr>
              <a:t>Residential status of Company:</a:t>
            </a:r>
          </a:p>
        </p:txBody>
      </p:sp>
      <p:sp>
        <p:nvSpPr>
          <p:cNvPr id="4" name="TextBox 2"/>
          <p:cNvSpPr txBox="1"/>
          <p:nvPr/>
        </p:nvSpPr>
        <p:spPr>
          <a:xfrm>
            <a:off x="1043126" y="2232590"/>
            <a:ext cx="1214601" cy="1846659"/>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000000"/>
                </a:solidFill>
                <a:latin typeface="Roboto"/>
              </a:rPr>
              <a:t>Is the
company an
Indian
Company?</a:t>
            </a:r>
          </a:p>
        </p:txBody>
      </p:sp>
      <p:sp>
        <p:nvSpPr>
          <p:cNvPr id="5" name="TextBox 3"/>
          <p:cNvSpPr txBox="1"/>
          <p:nvPr/>
        </p:nvSpPr>
        <p:spPr>
          <a:xfrm>
            <a:off x="3548008" y="2021452"/>
            <a:ext cx="442685"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2000" b="1" dirty="0">
                <a:solidFill>
                  <a:srgbClr val="000000"/>
                </a:solidFill>
                <a:latin typeface="Roboto"/>
              </a:rPr>
              <a:t>Yes</a:t>
            </a:r>
          </a:p>
        </p:txBody>
      </p:sp>
      <p:sp>
        <p:nvSpPr>
          <p:cNvPr id="6" name="TextBox 4"/>
          <p:cNvSpPr txBox="1"/>
          <p:nvPr/>
        </p:nvSpPr>
        <p:spPr>
          <a:xfrm>
            <a:off x="8658462" y="2075130"/>
            <a:ext cx="1938031" cy="923330"/>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000000"/>
                </a:solidFill>
                <a:latin typeface="Roboto"/>
              </a:rPr>
              <a:t>The company is
a resident in
India</a:t>
            </a:r>
          </a:p>
        </p:txBody>
      </p:sp>
      <p:sp>
        <p:nvSpPr>
          <p:cNvPr id="7" name="TextBox 5"/>
          <p:cNvSpPr txBox="1"/>
          <p:nvPr/>
        </p:nvSpPr>
        <p:spPr>
          <a:xfrm>
            <a:off x="7477738" y="4654342"/>
            <a:ext cx="343043"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2000" b="1" dirty="0">
                <a:solidFill>
                  <a:srgbClr val="000000"/>
                </a:solidFill>
                <a:latin typeface="Roboto"/>
              </a:rPr>
              <a:t>No</a:t>
            </a:r>
            <a:endParaRPr sz="1100" b="1" dirty="0">
              <a:solidFill>
                <a:srgbClr val="000000"/>
              </a:solidFill>
              <a:latin typeface="Roboto"/>
            </a:endParaRPr>
          </a:p>
        </p:txBody>
      </p:sp>
      <p:sp>
        <p:nvSpPr>
          <p:cNvPr id="8" name="TextBox 6"/>
          <p:cNvSpPr txBox="1"/>
          <p:nvPr/>
        </p:nvSpPr>
        <p:spPr>
          <a:xfrm>
            <a:off x="8658462" y="4500453"/>
            <a:ext cx="1938031" cy="615553"/>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2000" b="1" dirty="0">
                <a:solidFill>
                  <a:srgbClr val="000000"/>
                </a:solidFill>
                <a:latin typeface="Roboto"/>
              </a:rPr>
              <a:t>The company is
a Non-resident</a:t>
            </a:r>
          </a:p>
        </p:txBody>
      </p:sp>
      <p:sp>
        <p:nvSpPr>
          <p:cNvPr id="9" name="TextBox 7"/>
          <p:cNvSpPr txBox="1"/>
          <p:nvPr/>
        </p:nvSpPr>
        <p:spPr>
          <a:xfrm>
            <a:off x="7427916" y="2942976"/>
            <a:ext cx="442685"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2000" b="1" dirty="0">
                <a:solidFill>
                  <a:srgbClr val="000000"/>
                </a:solidFill>
                <a:latin typeface="Roboto"/>
              </a:rPr>
              <a:t>Yes</a:t>
            </a:r>
            <a:endParaRPr sz="1100" b="1" dirty="0">
              <a:solidFill>
                <a:srgbClr val="000000"/>
              </a:solidFill>
              <a:latin typeface="Roboto"/>
            </a:endParaRPr>
          </a:p>
        </p:txBody>
      </p:sp>
      <p:sp>
        <p:nvSpPr>
          <p:cNvPr id="10" name="TextBox 8"/>
          <p:cNvSpPr txBox="1"/>
          <p:nvPr/>
        </p:nvSpPr>
        <p:spPr>
          <a:xfrm>
            <a:off x="4754365" y="3412811"/>
            <a:ext cx="1613235" cy="1231106"/>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000000"/>
                </a:solidFill>
                <a:latin typeface="Roboto"/>
              </a:rPr>
              <a:t>Is POEM of the
company in India?</a:t>
            </a:r>
          </a:p>
        </p:txBody>
      </p:sp>
      <p:sp>
        <p:nvSpPr>
          <p:cNvPr id="11" name="TextBox 9"/>
          <p:cNvSpPr txBox="1"/>
          <p:nvPr/>
        </p:nvSpPr>
        <p:spPr>
          <a:xfrm>
            <a:off x="3548008" y="3874477"/>
            <a:ext cx="343043"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2000" b="1" dirty="0">
                <a:solidFill>
                  <a:srgbClr val="000000"/>
                </a:solidFill>
                <a:latin typeface="Roboto"/>
              </a:rPr>
              <a:t>No</a:t>
            </a:r>
          </a:p>
        </p:txBody>
      </p:sp>
      <p:grpSp>
        <p:nvGrpSpPr>
          <p:cNvPr id="12" name="Group 11"/>
          <p:cNvGrpSpPr/>
          <p:nvPr/>
        </p:nvGrpSpPr>
        <p:grpSpPr>
          <a:xfrm>
            <a:off x="6360290" y="4037890"/>
            <a:ext cx="1050298" cy="813480"/>
            <a:chOff x="4324350" y="2457450"/>
            <a:chExt cx="520065" cy="502920"/>
          </a:xfrm>
        </p:grpSpPr>
        <p:sp>
          <p:nvSpPr>
            <p:cNvPr id="34" name="Rounded Rectangle 10"/>
            <p:cNvSpPr/>
            <p:nvPr/>
          </p:nvSpPr>
          <p:spPr>
            <a:xfrm>
              <a:off x="4324350" y="2457450"/>
              <a:ext cx="506444" cy="476250"/>
            </a:xfrm>
            <a:custGeom>
              <a:avLst/>
              <a:gdLst/>
              <a:ahLst/>
              <a:cxnLst/>
              <a:rect l="0" t="0" r="0" b="0"/>
              <a:pathLst>
                <a:path w="506444" h="476250">
                  <a:moveTo>
                    <a:pt x="0" y="0"/>
                  </a:moveTo>
                  <a:lnTo>
                    <a:pt x="133350" y="0"/>
                  </a:lnTo>
                  <a:lnTo>
                    <a:pt x="266700" y="0"/>
                  </a:lnTo>
                  <a:lnTo>
                    <a:pt x="266700" y="238125"/>
                  </a:lnTo>
                  <a:lnTo>
                    <a:pt x="266700" y="476250"/>
                  </a:lnTo>
                  <a:lnTo>
                    <a:pt x="400050" y="476250"/>
                  </a:lnTo>
                  <a:lnTo>
                    <a:pt x="506444" y="476250"/>
                  </a:lnTo>
                </a:path>
              </a:pathLst>
            </a:custGeom>
            <a:noFill/>
            <a:ln w="28575">
              <a:solidFill>
                <a:schemeClr val="tx1">
                  <a:lumMod val="95000"/>
                  <a:lumOff val="5000"/>
                </a:schemeClr>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5" name="Rounded Rectangle 11"/>
            <p:cNvSpPr/>
            <p:nvPr/>
          </p:nvSpPr>
          <p:spPr>
            <a:xfrm>
              <a:off x="4796790" y="2907030"/>
              <a:ext cx="47625" cy="53340"/>
            </a:xfrm>
            <a:custGeom>
              <a:avLst/>
              <a:gdLst/>
              <a:ahLst/>
              <a:cxnLst/>
              <a:rect l="0" t="0" r="0" b="0"/>
              <a:pathLst>
                <a:path w="47625" h="53340">
                  <a:moveTo>
                    <a:pt x="47625" y="26670"/>
                  </a:moveTo>
                  <a:lnTo>
                    <a:pt x="0" y="53340"/>
                  </a:lnTo>
                  <a:lnTo>
                    <a:pt x="0" y="0"/>
                  </a:lnTo>
                  <a:close/>
                </a:path>
              </a:pathLst>
            </a:custGeom>
            <a:noFill/>
            <a:ln w="28575">
              <a:solidFill>
                <a:schemeClr val="tx1">
                  <a:lumMod val="95000"/>
                  <a:lumOff val="5000"/>
                </a:schemeClr>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3" name="Group 12"/>
          <p:cNvGrpSpPr/>
          <p:nvPr/>
        </p:nvGrpSpPr>
        <p:grpSpPr>
          <a:xfrm>
            <a:off x="4008649" y="4001695"/>
            <a:ext cx="634365" cy="77554"/>
            <a:chOff x="2305050" y="2430780"/>
            <a:chExt cx="634365" cy="53339"/>
          </a:xfrm>
        </p:grpSpPr>
        <p:sp>
          <p:nvSpPr>
            <p:cNvPr id="32" name="Rounded Rectangle 13"/>
            <p:cNvSpPr/>
            <p:nvPr/>
          </p:nvSpPr>
          <p:spPr>
            <a:xfrm>
              <a:off x="2305050" y="2457450"/>
              <a:ext cx="620744" cy="9525"/>
            </a:xfrm>
            <a:custGeom>
              <a:avLst/>
              <a:gdLst/>
              <a:ahLst/>
              <a:cxnLst/>
              <a:rect l="0" t="0" r="0" b="0"/>
              <a:pathLst>
                <a:path w="620744" h="9525">
                  <a:moveTo>
                    <a:pt x="0" y="0"/>
                  </a:moveTo>
                  <a:lnTo>
                    <a:pt x="323850" y="0"/>
                  </a:lnTo>
                  <a:lnTo>
                    <a:pt x="620744" y="0"/>
                  </a:lnTo>
                </a:path>
              </a:pathLst>
            </a:custGeom>
            <a:noFill/>
            <a:ln w="28575">
              <a:solidFill>
                <a:schemeClr val="tx1">
                  <a:lumMod val="95000"/>
                  <a:lumOff val="5000"/>
                </a:schemeClr>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3" name="Rounded Rectangle 14"/>
            <p:cNvSpPr/>
            <p:nvPr/>
          </p:nvSpPr>
          <p:spPr>
            <a:xfrm>
              <a:off x="2891790" y="2430780"/>
              <a:ext cx="47625" cy="53339"/>
            </a:xfrm>
            <a:custGeom>
              <a:avLst/>
              <a:gdLst/>
              <a:ahLst/>
              <a:cxnLst/>
              <a:rect l="0" t="0" r="0" b="0"/>
              <a:pathLst>
                <a:path w="47625" h="53339">
                  <a:moveTo>
                    <a:pt x="47625" y="26669"/>
                  </a:moveTo>
                  <a:lnTo>
                    <a:pt x="0" y="53339"/>
                  </a:lnTo>
                  <a:lnTo>
                    <a:pt x="0" y="0"/>
                  </a:lnTo>
                  <a:close/>
                </a:path>
              </a:pathLst>
            </a:custGeom>
            <a:noFill/>
            <a:ln w="28575">
              <a:solidFill>
                <a:schemeClr val="tx1">
                  <a:lumMod val="95000"/>
                  <a:lumOff val="5000"/>
                </a:schemeClr>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4" name="Group 13"/>
          <p:cNvGrpSpPr/>
          <p:nvPr/>
        </p:nvGrpSpPr>
        <p:grpSpPr>
          <a:xfrm>
            <a:off x="6355274" y="3043526"/>
            <a:ext cx="1055314" cy="1010601"/>
            <a:chOff x="4324350" y="1954530"/>
            <a:chExt cx="520065" cy="502920"/>
          </a:xfrm>
        </p:grpSpPr>
        <p:sp>
          <p:nvSpPr>
            <p:cNvPr id="30" name="Rounded Rectangle 16"/>
            <p:cNvSpPr/>
            <p:nvPr/>
          </p:nvSpPr>
          <p:spPr>
            <a:xfrm>
              <a:off x="4324350" y="1981200"/>
              <a:ext cx="506444" cy="476250"/>
            </a:xfrm>
            <a:custGeom>
              <a:avLst/>
              <a:gdLst/>
              <a:ahLst/>
              <a:cxnLst/>
              <a:rect l="0" t="0" r="0" b="0"/>
              <a:pathLst>
                <a:path w="506444" h="476250">
                  <a:moveTo>
                    <a:pt x="506444" y="0"/>
                  </a:moveTo>
                  <a:lnTo>
                    <a:pt x="400050" y="0"/>
                  </a:lnTo>
                  <a:lnTo>
                    <a:pt x="266700" y="0"/>
                  </a:lnTo>
                  <a:lnTo>
                    <a:pt x="266700" y="238125"/>
                  </a:lnTo>
                  <a:lnTo>
                    <a:pt x="266700" y="476250"/>
                  </a:lnTo>
                  <a:lnTo>
                    <a:pt x="133350" y="476250"/>
                  </a:lnTo>
                  <a:lnTo>
                    <a:pt x="0" y="476250"/>
                  </a:lnTo>
                </a:path>
              </a:pathLst>
            </a:custGeom>
            <a:noFill/>
            <a:ln w="28575">
              <a:solidFill>
                <a:schemeClr val="tx1">
                  <a:lumMod val="95000"/>
                  <a:lumOff val="5000"/>
                </a:schemeClr>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1" name="Rounded Rectangle 17"/>
            <p:cNvSpPr/>
            <p:nvPr/>
          </p:nvSpPr>
          <p:spPr>
            <a:xfrm>
              <a:off x="4796790" y="1954530"/>
              <a:ext cx="47625" cy="53339"/>
            </a:xfrm>
            <a:custGeom>
              <a:avLst/>
              <a:gdLst/>
              <a:ahLst/>
              <a:cxnLst/>
              <a:rect l="0" t="0" r="0" b="0"/>
              <a:pathLst>
                <a:path w="47625" h="53339">
                  <a:moveTo>
                    <a:pt x="47625" y="26669"/>
                  </a:moveTo>
                  <a:lnTo>
                    <a:pt x="0" y="53339"/>
                  </a:lnTo>
                  <a:lnTo>
                    <a:pt x="0" y="0"/>
                  </a:lnTo>
                  <a:close/>
                </a:path>
              </a:pathLst>
            </a:custGeom>
            <a:noFill/>
            <a:ln w="28575">
              <a:solidFill>
                <a:schemeClr val="tx1">
                  <a:lumMod val="95000"/>
                  <a:lumOff val="5000"/>
                </a:schemeClr>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5" name="Group 14"/>
          <p:cNvGrpSpPr/>
          <p:nvPr/>
        </p:nvGrpSpPr>
        <p:grpSpPr>
          <a:xfrm>
            <a:off x="2369706" y="3119726"/>
            <a:ext cx="1060704" cy="959523"/>
            <a:chOff x="1428750" y="1981200"/>
            <a:chExt cx="520065" cy="502919"/>
          </a:xfrm>
        </p:grpSpPr>
        <p:sp>
          <p:nvSpPr>
            <p:cNvPr id="28" name="Rounded Rectangle 19"/>
            <p:cNvSpPr/>
            <p:nvPr/>
          </p:nvSpPr>
          <p:spPr>
            <a:xfrm>
              <a:off x="1428750" y="1981200"/>
              <a:ext cx="506444" cy="476250"/>
            </a:xfrm>
            <a:custGeom>
              <a:avLst/>
              <a:gdLst/>
              <a:ahLst/>
              <a:cxnLst/>
              <a:rect l="0" t="0" r="0" b="0"/>
              <a:pathLst>
                <a:path w="506444" h="476250">
                  <a:moveTo>
                    <a:pt x="0" y="0"/>
                  </a:moveTo>
                  <a:lnTo>
                    <a:pt x="133350" y="0"/>
                  </a:lnTo>
                  <a:lnTo>
                    <a:pt x="266700" y="0"/>
                  </a:lnTo>
                  <a:lnTo>
                    <a:pt x="266700" y="238125"/>
                  </a:lnTo>
                  <a:lnTo>
                    <a:pt x="266700" y="476250"/>
                  </a:lnTo>
                  <a:lnTo>
                    <a:pt x="400050" y="476250"/>
                  </a:lnTo>
                  <a:lnTo>
                    <a:pt x="506444" y="476250"/>
                  </a:lnTo>
                </a:path>
              </a:pathLst>
            </a:custGeom>
            <a:noFill/>
            <a:ln w="28575">
              <a:solidFill>
                <a:schemeClr val="tx1">
                  <a:lumMod val="95000"/>
                  <a:lumOff val="5000"/>
                </a:schemeClr>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9" name="Rounded Rectangle 20"/>
            <p:cNvSpPr/>
            <p:nvPr/>
          </p:nvSpPr>
          <p:spPr>
            <a:xfrm>
              <a:off x="1901190" y="2430780"/>
              <a:ext cx="47625" cy="53339"/>
            </a:xfrm>
            <a:custGeom>
              <a:avLst/>
              <a:gdLst/>
              <a:ahLst/>
              <a:cxnLst/>
              <a:rect l="0" t="0" r="0" b="0"/>
              <a:pathLst>
                <a:path w="47625" h="53339">
                  <a:moveTo>
                    <a:pt x="47625" y="26669"/>
                  </a:moveTo>
                  <a:lnTo>
                    <a:pt x="0" y="53339"/>
                  </a:lnTo>
                  <a:lnTo>
                    <a:pt x="0" y="0"/>
                  </a:lnTo>
                  <a:close/>
                </a:path>
              </a:pathLst>
            </a:custGeom>
            <a:noFill/>
            <a:ln w="28575">
              <a:solidFill>
                <a:schemeClr val="tx1">
                  <a:lumMod val="95000"/>
                  <a:lumOff val="5000"/>
                </a:schemeClr>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6" name="Group 15"/>
          <p:cNvGrpSpPr/>
          <p:nvPr/>
        </p:nvGrpSpPr>
        <p:grpSpPr>
          <a:xfrm>
            <a:off x="7915569" y="2468845"/>
            <a:ext cx="602793" cy="628274"/>
            <a:chOff x="5314950" y="1687830"/>
            <a:chExt cx="520065" cy="293370"/>
          </a:xfrm>
        </p:grpSpPr>
        <p:sp>
          <p:nvSpPr>
            <p:cNvPr id="26" name="Rounded Rectangle 22"/>
            <p:cNvSpPr/>
            <p:nvPr/>
          </p:nvSpPr>
          <p:spPr>
            <a:xfrm>
              <a:off x="5314950" y="1714500"/>
              <a:ext cx="506444" cy="266700"/>
            </a:xfrm>
            <a:custGeom>
              <a:avLst/>
              <a:gdLst/>
              <a:ahLst/>
              <a:cxnLst/>
              <a:rect l="0" t="0" r="0" b="0"/>
              <a:pathLst>
                <a:path w="506444" h="266700">
                  <a:moveTo>
                    <a:pt x="506444" y="0"/>
                  </a:moveTo>
                  <a:lnTo>
                    <a:pt x="400050" y="0"/>
                  </a:lnTo>
                  <a:lnTo>
                    <a:pt x="266700" y="0"/>
                  </a:lnTo>
                  <a:lnTo>
                    <a:pt x="266700" y="133350"/>
                  </a:lnTo>
                  <a:lnTo>
                    <a:pt x="266700" y="266700"/>
                  </a:lnTo>
                  <a:lnTo>
                    <a:pt x="133350" y="266700"/>
                  </a:lnTo>
                  <a:lnTo>
                    <a:pt x="0" y="266700"/>
                  </a:lnTo>
                </a:path>
              </a:pathLst>
            </a:custGeom>
            <a:noFill/>
            <a:ln w="28575">
              <a:solidFill>
                <a:schemeClr val="tx1">
                  <a:lumMod val="95000"/>
                  <a:lumOff val="5000"/>
                </a:schemeClr>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7" name="Rounded Rectangle 23"/>
            <p:cNvSpPr/>
            <p:nvPr/>
          </p:nvSpPr>
          <p:spPr>
            <a:xfrm>
              <a:off x="5787390" y="1687830"/>
              <a:ext cx="47625" cy="53339"/>
            </a:xfrm>
            <a:custGeom>
              <a:avLst/>
              <a:gdLst/>
              <a:ahLst/>
              <a:cxnLst/>
              <a:rect l="0" t="0" r="0" b="0"/>
              <a:pathLst>
                <a:path w="47625" h="53339">
                  <a:moveTo>
                    <a:pt x="47625" y="26669"/>
                  </a:moveTo>
                  <a:lnTo>
                    <a:pt x="0" y="53339"/>
                  </a:lnTo>
                  <a:lnTo>
                    <a:pt x="0" y="0"/>
                  </a:lnTo>
                  <a:close/>
                </a:path>
              </a:pathLst>
            </a:custGeom>
            <a:noFill/>
            <a:ln w="28575">
              <a:solidFill>
                <a:schemeClr val="tx1">
                  <a:lumMod val="95000"/>
                  <a:lumOff val="5000"/>
                </a:schemeClr>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7" name="Group 16"/>
          <p:cNvGrpSpPr/>
          <p:nvPr/>
        </p:nvGrpSpPr>
        <p:grpSpPr>
          <a:xfrm>
            <a:off x="4008649" y="2170879"/>
            <a:ext cx="4540133" cy="384871"/>
            <a:chOff x="2419350" y="1504950"/>
            <a:chExt cx="3415665" cy="236219"/>
          </a:xfrm>
        </p:grpSpPr>
        <p:sp>
          <p:nvSpPr>
            <p:cNvPr id="24" name="Rounded Rectangle 25"/>
            <p:cNvSpPr/>
            <p:nvPr/>
          </p:nvSpPr>
          <p:spPr>
            <a:xfrm>
              <a:off x="2419350" y="1504950"/>
              <a:ext cx="3402044" cy="209550"/>
            </a:xfrm>
            <a:custGeom>
              <a:avLst/>
              <a:gdLst/>
              <a:ahLst/>
              <a:cxnLst/>
              <a:rect l="0" t="0" r="0" b="0"/>
              <a:pathLst>
                <a:path w="3402044" h="209550">
                  <a:moveTo>
                    <a:pt x="0" y="0"/>
                  </a:moveTo>
                  <a:lnTo>
                    <a:pt x="1581150" y="0"/>
                  </a:lnTo>
                  <a:lnTo>
                    <a:pt x="3162300" y="0"/>
                  </a:lnTo>
                  <a:lnTo>
                    <a:pt x="3162300" y="104775"/>
                  </a:lnTo>
                  <a:lnTo>
                    <a:pt x="3162300" y="209550"/>
                  </a:lnTo>
                  <a:lnTo>
                    <a:pt x="3295650" y="209550"/>
                  </a:lnTo>
                  <a:lnTo>
                    <a:pt x="3402044" y="209550"/>
                  </a:lnTo>
                </a:path>
              </a:pathLst>
            </a:custGeom>
            <a:noFill/>
            <a:ln w="28575">
              <a:solidFill>
                <a:schemeClr val="tx1">
                  <a:lumMod val="95000"/>
                  <a:lumOff val="5000"/>
                </a:schemeClr>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5" name="Rounded Rectangle 26"/>
            <p:cNvSpPr/>
            <p:nvPr/>
          </p:nvSpPr>
          <p:spPr>
            <a:xfrm>
              <a:off x="5787390" y="1687830"/>
              <a:ext cx="47625" cy="53339"/>
            </a:xfrm>
            <a:custGeom>
              <a:avLst/>
              <a:gdLst/>
              <a:ahLst/>
              <a:cxnLst/>
              <a:rect l="0" t="0" r="0" b="0"/>
              <a:pathLst>
                <a:path w="47625" h="53339">
                  <a:moveTo>
                    <a:pt x="47625" y="26669"/>
                  </a:moveTo>
                  <a:lnTo>
                    <a:pt x="0" y="53339"/>
                  </a:lnTo>
                  <a:lnTo>
                    <a:pt x="0" y="0"/>
                  </a:lnTo>
                  <a:close/>
                </a:path>
              </a:pathLst>
            </a:custGeom>
            <a:noFill/>
            <a:ln w="28575">
              <a:solidFill>
                <a:schemeClr val="tx1">
                  <a:lumMod val="95000"/>
                  <a:lumOff val="5000"/>
                </a:schemeClr>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8" name="Group 17"/>
          <p:cNvGrpSpPr/>
          <p:nvPr/>
        </p:nvGrpSpPr>
        <p:grpSpPr>
          <a:xfrm>
            <a:off x="2357610" y="2122457"/>
            <a:ext cx="1072800" cy="997268"/>
            <a:chOff x="1428750" y="1478280"/>
            <a:chExt cx="520065" cy="502920"/>
          </a:xfrm>
        </p:grpSpPr>
        <p:sp>
          <p:nvSpPr>
            <p:cNvPr id="22" name="Rounded Rectangle 28"/>
            <p:cNvSpPr/>
            <p:nvPr/>
          </p:nvSpPr>
          <p:spPr>
            <a:xfrm>
              <a:off x="1428750" y="1504950"/>
              <a:ext cx="506444" cy="476250"/>
            </a:xfrm>
            <a:custGeom>
              <a:avLst/>
              <a:gdLst/>
              <a:ahLst/>
              <a:cxnLst/>
              <a:rect l="0" t="0" r="0" b="0"/>
              <a:pathLst>
                <a:path w="506444" h="476250">
                  <a:moveTo>
                    <a:pt x="506444" y="0"/>
                  </a:moveTo>
                  <a:lnTo>
                    <a:pt x="400050" y="0"/>
                  </a:lnTo>
                  <a:lnTo>
                    <a:pt x="266700" y="0"/>
                  </a:lnTo>
                  <a:lnTo>
                    <a:pt x="266700" y="238125"/>
                  </a:lnTo>
                  <a:lnTo>
                    <a:pt x="266700" y="476250"/>
                  </a:lnTo>
                  <a:lnTo>
                    <a:pt x="133350" y="476250"/>
                  </a:lnTo>
                  <a:lnTo>
                    <a:pt x="0" y="476250"/>
                  </a:lnTo>
                </a:path>
              </a:pathLst>
            </a:custGeom>
            <a:noFill/>
            <a:ln w="28575">
              <a:solidFill>
                <a:schemeClr val="tx1">
                  <a:lumMod val="95000"/>
                  <a:lumOff val="5000"/>
                </a:schemeClr>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3" name="Rounded Rectangle 29"/>
            <p:cNvSpPr/>
            <p:nvPr/>
          </p:nvSpPr>
          <p:spPr>
            <a:xfrm>
              <a:off x="1901190" y="1478280"/>
              <a:ext cx="47625" cy="53339"/>
            </a:xfrm>
            <a:custGeom>
              <a:avLst/>
              <a:gdLst/>
              <a:ahLst/>
              <a:cxnLst/>
              <a:rect l="0" t="0" r="0" b="0"/>
              <a:pathLst>
                <a:path w="47625" h="53339">
                  <a:moveTo>
                    <a:pt x="47625" y="26669"/>
                  </a:moveTo>
                  <a:lnTo>
                    <a:pt x="0" y="53339"/>
                  </a:lnTo>
                  <a:lnTo>
                    <a:pt x="0" y="0"/>
                  </a:lnTo>
                  <a:close/>
                </a:path>
              </a:pathLst>
            </a:custGeom>
            <a:noFill/>
            <a:ln w="28575">
              <a:solidFill>
                <a:schemeClr val="tx1">
                  <a:lumMod val="95000"/>
                  <a:lumOff val="5000"/>
                </a:schemeClr>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9" name="Group 18"/>
          <p:cNvGrpSpPr/>
          <p:nvPr/>
        </p:nvGrpSpPr>
        <p:grpSpPr>
          <a:xfrm>
            <a:off x="7884251" y="4781560"/>
            <a:ext cx="634365" cy="53340"/>
            <a:chOff x="5200650" y="2907030"/>
            <a:chExt cx="634365" cy="53340"/>
          </a:xfrm>
        </p:grpSpPr>
        <p:sp>
          <p:nvSpPr>
            <p:cNvPr id="20" name="Rounded Rectangle 31"/>
            <p:cNvSpPr/>
            <p:nvPr/>
          </p:nvSpPr>
          <p:spPr>
            <a:xfrm>
              <a:off x="5200650" y="2933700"/>
              <a:ext cx="620744" cy="9525"/>
            </a:xfrm>
            <a:custGeom>
              <a:avLst/>
              <a:gdLst/>
              <a:ahLst/>
              <a:cxnLst/>
              <a:rect l="0" t="0" r="0" b="0"/>
              <a:pathLst>
                <a:path w="620744" h="9525">
                  <a:moveTo>
                    <a:pt x="0" y="0"/>
                  </a:moveTo>
                  <a:lnTo>
                    <a:pt x="323850" y="0"/>
                  </a:lnTo>
                  <a:lnTo>
                    <a:pt x="620744" y="0"/>
                  </a:lnTo>
                </a:path>
              </a:pathLst>
            </a:custGeom>
            <a:noFill/>
            <a:ln w="28575">
              <a:solidFill>
                <a:schemeClr val="tx1">
                  <a:lumMod val="95000"/>
                  <a:lumOff val="5000"/>
                </a:schemeClr>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1" name="Rounded Rectangle 32"/>
            <p:cNvSpPr/>
            <p:nvPr/>
          </p:nvSpPr>
          <p:spPr>
            <a:xfrm>
              <a:off x="5787390" y="2907030"/>
              <a:ext cx="47625" cy="53340"/>
            </a:xfrm>
            <a:custGeom>
              <a:avLst/>
              <a:gdLst/>
              <a:ahLst/>
              <a:cxnLst/>
              <a:rect l="0" t="0" r="0" b="0"/>
              <a:pathLst>
                <a:path w="47625" h="53340">
                  <a:moveTo>
                    <a:pt x="47625" y="26670"/>
                  </a:moveTo>
                  <a:lnTo>
                    <a:pt x="0" y="53340"/>
                  </a:lnTo>
                  <a:lnTo>
                    <a:pt x="0" y="0"/>
                  </a:lnTo>
                  <a:close/>
                </a:path>
              </a:pathLst>
            </a:custGeom>
            <a:noFill/>
            <a:ln w="28575">
              <a:solidFill>
                <a:schemeClr val="tx1">
                  <a:lumMod val="95000"/>
                  <a:lumOff val="5000"/>
                </a:schemeClr>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Tree>
    <p:extLst>
      <p:ext uri="{BB962C8B-B14F-4D97-AF65-F5344CB8AC3E}">
        <p14:creationId xmlns:p14="http://schemas.microsoft.com/office/powerpoint/2010/main" val="54106855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81A2E-4ECD-4BDA-BC57-763D856F439C}"/>
              </a:ext>
            </a:extLst>
          </p:cNvPr>
          <p:cNvSpPr>
            <a:spLocks noGrp="1"/>
          </p:cNvSpPr>
          <p:nvPr>
            <p:ph type="title"/>
          </p:nvPr>
        </p:nvSpPr>
        <p:spPr/>
        <p:txBody>
          <a:bodyPr>
            <a:normAutofit/>
          </a:bodyPr>
          <a:lstStyle/>
          <a:p>
            <a:r>
              <a:rPr lang="en-IN" dirty="0"/>
              <a:t>Scope of Total Income</a:t>
            </a:r>
          </a:p>
        </p:txBody>
      </p:sp>
      <p:graphicFrame>
        <p:nvGraphicFramePr>
          <p:cNvPr id="4" name="Content Placeholder 3">
            <a:extLst>
              <a:ext uri="{FF2B5EF4-FFF2-40B4-BE49-F238E27FC236}">
                <a16:creationId xmlns:a16="http://schemas.microsoft.com/office/drawing/2014/main" id="{646E155D-01A6-4689-8671-ADE8A7FDFFBB}"/>
              </a:ext>
            </a:extLst>
          </p:cNvPr>
          <p:cNvGraphicFramePr>
            <a:graphicFrameLocks/>
          </p:cNvGraphicFramePr>
          <p:nvPr>
            <p:extLst>
              <p:ext uri="{D42A27DB-BD31-4B8C-83A1-F6EECF244321}">
                <p14:modId xmlns:p14="http://schemas.microsoft.com/office/powerpoint/2010/main" val="3361900264"/>
              </p:ext>
            </p:extLst>
          </p:nvPr>
        </p:nvGraphicFramePr>
        <p:xfrm>
          <a:off x="425622" y="1212190"/>
          <a:ext cx="11929641" cy="47535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04786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graphicEl>
                                              <a:dgm id="{665728E8-5ACF-46DC-B714-0C84E8832275}"/>
                                            </p:graphicEl>
                                          </p:spTgt>
                                        </p:tgtEl>
                                        <p:attrNameLst>
                                          <p:attrName>style.visibility</p:attrName>
                                        </p:attrNameLst>
                                      </p:cBhvr>
                                      <p:to>
                                        <p:strVal val="visible"/>
                                      </p:to>
                                    </p:set>
                                    <p:anim calcmode="lin" valueType="num">
                                      <p:cBhvr additive="base">
                                        <p:cTn id="7" dur="500" fill="hold"/>
                                        <p:tgtEl>
                                          <p:spTgt spid="4">
                                            <p:graphicEl>
                                              <a:dgm id="{665728E8-5ACF-46DC-B714-0C84E8832275}"/>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665728E8-5ACF-46DC-B714-0C84E8832275}"/>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graphicEl>
                                              <a:dgm id="{634E2A9D-F993-4F51-A5DB-39237D0E3251}"/>
                                            </p:graphicEl>
                                          </p:spTgt>
                                        </p:tgtEl>
                                        <p:attrNameLst>
                                          <p:attrName>style.visibility</p:attrName>
                                        </p:attrNameLst>
                                      </p:cBhvr>
                                      <p:to>
                                        <p:strVal val="visible"/>
                                      </p:to>
                                    </p:set>
                                    <p:anim calcmode="lin" valueType="num">
                                      <p:cBhvr additive="base">
                                        <p:cTn id="13" dur="500" fill="hold"/>
                                        <p:tgtEl>
                                          <p:spTgt spid="4">
                                            <p:graphicEl>
                                              <a:dgm id="{634E2A9D-F993-4F51-A5DB-39237D0E3251}"/>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graphicEl>
                                              <a:dgm id="{634E2A9D-F993-4F51-A5DB-39237D0E3251}"/>
                                            </p:graphic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
                                            <p:graphicEl>
                                              <a:dgm id="{AE6206BF-878C-43E8-A09B-66E0ECC78DCD}"/>
                                            </p:graphicEl>
                                          </p:spTgt>
                                        </p:tgtEl>
                                        <p:attrNameLst>
                                          <p:attrName>style.visibility</p:attrName>
                                        </p:attrNameLst>
                                      </p:cBhvr>
                                      <p:to>
                                        <p:strVal val="visible"/>
                                      </p:to>
                                    </p:set>
                                    <p:anim calcmode="lin" valueType="num">
                                      <p:cBhvr additive="base">
                                        <p:cTn id="17" dur="500" fill="hold"/>
                                        <p:tgtEl>
                                          <p:spTgt spid="4">
                                            <p:graphicEl>
                                              <a:dgm id="{AE6206BF-878C-43E8-A09B-66E0ECC78DCD}"/>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graphicEl>
                                              <a:dgm id="{AE6206BF-878C-43E8-A09B-66E0ECC78DCD}"/>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graphicEl>
                                              <a:dgm id="{C7854E2E-8170-4ED3-9E71-D3518952FDD0}"/>
                                            </p:graphicEl>
                                          </p:spTgt>
                                        </p:tgtEl>
                                        <p:attrNameLst>
                                          <p:attrName>style.visibility</p:attrName>
                                        </p:attrNameLst>
                                      </p:cBhvr>
                                      <p:to>
                                        <p:strVal val="visible"/>
                                      </p:to>
                                    </p:set>
                                    <p:anim calcmode="lin" valueType="num">
                                      <p:cBhvr additive="base">
                                        <p:cTn id="23" dur="500" fill="hold"/>
                                        <p:tgtEl>
                                          <p:spTgt spid="4">
                                            <p:graphicEl>
                                              <a:dgm id="{C7854E2E-8170-4ED3-9E71-D3518952FDD0}"/>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graphicEl>
                                              <a:dgm id="{C7854E2E-8170-4ED3-9E71-D3518952FDD0}"/>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
                                            <p:graphicEl>
                                              <a:dgm id="{A392F6A9-3C51-4479-AC56-813C01C91E9F}"/>
                                            </p:graphicEl>
                                          </p:spTgt>
                                        </p:tgtEl>
                                        <p:attrNameLst>
                                          <p:attrName>style.visibility</p:attrName>
                                        </p:attrNameLst>
                                      </p:cBhvr>
                                      <p:to>
                                        <p:strVal val="visible"/>
                                      </p:to>
                                    </p:set>
                                    <p:anim calcmode="lin" valueType="num">
                                      <p:cBhvr additive="base">
                                        <p:cTn id="27" dur="500" fill="hold"/>
                                        <p:tgtEl>
                                          <p:spTgt spid="4">
                                            <p:graphicEl>
                                              <a:dgm id="{A392F6A9-3C51-4479-AC56-813C01C91E9F}"/>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graphicEl>
                                              <a:dgm id="{A392F6A9-3C51-4479-AC56-813C01C91E9F}"/>
                                            </p:graphic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4">
                                            <p:graphicEl>
                                              <a:dgm id="{BE9ADFA0-D73B-4CFA-96A3-2C52AC9882BA}"/>
                                            </p:graphicEl>
                                          </p:spTgt>
                                        </p:tgtEl>
                                        <p:attrNameLst>
                                          <p:attrName>style.visibility</p:attrName>
                                        </p:attrNameLst>
                                      </p:cBhvr>
                                      <p:to>
                                        <p:strVal val="visible"/>
                                      </p:to>
                                    </p:set>
                                    <p:anim calcmode="lin" valueType="num">
                                      <p:cBhvr additive="base">
                                        <p:cTn id="33" dur="500" fill="hold"/>
                                        <p:tgtEl>
                                          <p:spTgt spid="4">
                                            <p:graphicEl>
                                              <a:dgm id="{BE9ADFA0-D73B-4CFA-96A3-2C52AC9882BA}"/>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graphicEl>
                                              <a:dgm id="{BE9ADFA0-D73B-4CFA-96A3-2C52AC9882BA}"/>
                                            </p:graphic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
                                            <p:graphicEl>
                                              <a:dgm id="{90155E1D-BA1F-4213-8EFB-27F2DAEBD074}"/>
                                            </p:graphicEl>
                                          </p:spTgt>
                                        </p:tgtEl>
                                        <p:attrNameLst>
                                          <p:attrName>style.visibility</p:attrName>
                                        </p:attrNameLst>
                                      </p:cBhvr>
                                      <p:to>
                                        <p:strVal val="visible"/>
                                      </p:to>
                                    </p:set>
                                    <p:anim calcmode="lin" valueType="num">
                                      <p:cBhvr additive="base">
                                        <p:cTn id="37" dur="500" fill="hold"/>
                                        <p:tgtEl>
                                          <p:spTgt spid="4">
                                            <p:graphicEl>
                                              <a:dgm id="{90155E1D-BA1F-4213-8EFB-27F2DAEBD074}"/>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graphicEl>
                                              <a:dgm id="{90155E1D-BA1F-4213-8EFB-27F2DAEBD074}"/>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graphicEl>
                                              <a:dgm id="{61684DB0-B6D1-4DCA-AD18-3ABF628F0EF3}"/>
                                            </p:graphicEl>
                                          </p:spTgt>
                                        </p:tgtEl>
                                        <p:attrNameLst>
                                          <p:attrName>style.visibility</p:attrName>
                                        </p:attrNameLst>
                                      </p:cBhvr>
                                      <p:to>
                                        <p:strVal val="visible"/>
                                      </p:to>
                                    </p:set>
                                    <p:anim calcmode="lin" valueType="num">
                                      <p:cBhvr additive="base">
                                        <p:cTn id="43" dur="500" fill="hold"/>
                                        <p:tgtEl>
                                          <p:spTgt spid="4">
                                            <p:graphicEl>
                                              <a:dgm id="{61684DB0-B6D1-4DCA-AD18-3ABF628F0EF3}"/>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graphicEl>
                                              <a:dgm id="{61684DB0-B6D1-4DCA-AD18-3ABF628F0EF3}"/>
                                            </p:graphic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4">
                                            <p:graphicEl>
                                              <a:dgm id="{1B5217A1-8D62-4042-87A2-EAEB7BA6CFC9}"/>
                                            </p:graphicEl>
                                          </p:spTgt>
                                        </p:tgtEl>
                                        <p:attrNameLst>
                                          <p:attrName>style.visibility</p:attrName>
                                        </p:attrNameLst>
                                      </p:cBhvr>
                                      <p:to>
                                        <p:strVal val="visible"/>
                                      </p:to>
                                    </p:set>
                                    <p:anim calcmode="lin" valueType="num">
                                      <p:cBhvr additive="base">
                                        <p:cTn id="47" dur="500" fill="hold"/>
                                        <p:tgtEl>
                                          <p:spTgt spid="4">
                                            <p:graphicEl>
                                              <a:dgm id="{1B5217A1-8D62-4042-87A2-EAEB7BA6CFC9}"/>
                                            </p:graphicEl>
                                          </p:spTgt>
                                        </p:tgtEl>
                                        <p:attrNameLst>
                                          <p:attrName>ppt_x</p:attrName>
                                        </p:attrNameLst>
                                      </p:cBhvr>
                                      <p:tavLst>
                                        <p:tav tm="0">
                                          <p:val>
                                            <p:strVal val="#ppt_x"/>
                                          </p:val>
                                        </p:tav>
                                        <p:tav tm="100000">
                                          <p:val>
                                            <p:strVal val="#ppt_x"/>
                                          </p:val>
                                        </p:tav>
                                      </p:tavLst>
                                    </p:anim>
                                    <p:anim calcmode="lin" valueType="num">
                                      <p:cBhvr additive="base">
                                        <p:cTn id="48" dur="500" fill="hold"/>
                                        <p:tgtEl>
                                          <p:spTgt spid="4">
                                            <p:graphicEl>
                                              <a:dgm id="{1B5217A1-8D62-4042-87A2-EAEB7BA6CFC9}"/>
                                            </p:graphic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4">
                                            <p:graphicEl>
                                              <a:dgm id="{57658BDC-54CE-4F87-B710-E9C2521A6A3B}"/>
                                            </p:graphicEl>
                                          </p:spTgt>
                                        </p:tgtEl>
                                        <p:attrNameLst>
                                          <p:attrName>style.visibility</p:attrName>
                                        </p:attrNameLst>
                                      </p:cBhvr>
                                      <p:to>
                                        <p:strVal val="visible"/>
                                      </p:to>
                                    </p:set>
                                    <p:anim calcmode="lin" valueType="num">
                                      <p:cBhvr additive="base">
                                        <p:cTn id="53" dur="500" fill="hold"/>
                                        <p:tgtEl>
                                          <p:spTgt spid="4">
                                            <p:graphicEl>
                                              <a:dgm id="{57658BDC-54CE-4F87-B710-E9C2521A6A3B}"/>
                                            </p:graphicEl>
                                          </p:spTgt>
                                        </p:tgtEl>
                                        <p:attrNameLst>
                                          <p:attrName>ppt_x</p:attrName>
                                        </p:attrNameLst>
                                      </p:cBhvr>
                                      <p:tavLst>
                                        <p:tav tm="0">
                                          <p:val>
                                            <p:strVal val="#ppt_x"/>
                                          </p:val>
                                        </p:tav>
                                        <p:tav tm="100000">
                                          <p:val>
                                            <p:strVal val="#ppt_x"/>
                                          </p:val>
                                        </p:tav>
                                      </p:tavLst>
                                    </p:anim>
                                    <p:anim calcmode="lin" valueType="num">
                                      <p:cBhvr additive="base">
                                        <p:cTn id="54" dur="500" fill="hold"/>
                                        <p:tgtEl>
                                          <p:spTgt spid="4">
                                            <p:graphicEl>
                                              <a:dgm id="{57658BDC-54CE-4F87-B710-E9C2521A6A3B}"/>
                                            </p:graphic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4">
                                            <p:graphicEl>
                                              <a:dgm id="{02F4BF10-8DA6-4493-93B2-B809BC82B59C}"/>
                                            </p:graphicEl>
                                          </p:spTgt>
                                        </p:tgtEl>
                                        <p:attrNameLst>
                                          <p:attrName>style.visibility</p:attrName>
                                        </p:attrNameLst>
                                      </p:cBhvr>
                                      <p:to>
                                        <p:strVal val="visible"/>
                                      </p:to>
                                    </p:set>
                                    <p:anim calcmode="lin" valueType="num">
                                      <p:cBhvr additive="base">
                                        <p:cTn id="57" dur="500" fill="hold"/>
                                        <p:tgtEl>
                                          <p:spTgt spid="4">
                                            <p:graphicEl>
                                              <a:dgm id="{02F4BF10-8DA6-4493-93B2-B809BC82B59C}"/>
                                            </p:graphicEl>
                                          </p:spTgt>
                                        </p:tgtEl>
                                        <p:attrNameLst>
                                          <p:attrName>ppt_x</p:attrName>
                                        </p:attrNameLst>
                                      </p:cBhvr>
                                      <p:tavLst>
                                        <p:tav tm="0">
                                          <p:val>
                                            <p:strVal val="#ppt_x"/>
                                          </p:val>
                                        </p:tav>
                                        <p:tav tm="100000">
                                          <p:val>
                                            <p:strVal val="#ppt_x"/>
                                          </p:val>
                                        </p:tav>
                                      </p:tavLst>
                                    </p:anim>
                                    <p:anim calcmode="lin" valueType="num">
                                      <p:cBhvr additive="base">
                                        <p:cTn id="58" dur="500" fill="hold"/>
                                        <p:tgtEl>
                                          <p:spTgt spid="4">
                                            <p:graphicEl>
                                              <a:dgm id="{02F4BF10-8DA6-4493-93B2-B809BC82B59C}"/>
                                            </p:graphic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4">
                                            <p:graphicEl>
                                              <a:dgm id="{B01DFB2A-6551-4409-B75F-A1595EEAA8C1}"/>
                                            </p:graphicEl>
                                          </p:spTgt>
                                        </p:tgtEl>
                                        <p:attrNameLst>
                                          <p:attrName>style.visibility</p:attrName>
                                        </p:attrNameLst>
                                      </p:cBhvr>
                                      <p:to>
                                        <p:strVal val="visible"/>
                                      </p:to>
                                    </p:set>
                                    <p:anim calcmode="lin" valueType="num">
                                      <p:cBhvr additive="base">
                                        <p:cTn id="63" dur="500" fill="hold"/>
                                        <p:tgtEl>
                                          <p:spTgt spid="4">
                                            <p:graphicEl>
                                              <a:dgm id="{B01DFB2A-6551-4409-B75F-A1595EEAA8C1}"/>
                                            </p:graphicEl>
                                          </p:spTgt>
                                        </p:tgtEl>
                                        <p:attrNameLst>
                                          <p:attrName>ppt_x</p:attrName>
                                        </p:attrNameLst>
                                      </p:cBhvr>
                                      <p:tavLst>
                                        <p:tav tm="0">
                                          <p:val>
                                            <p:strVal val="#ppt_x"/>
                                          </p:val>
                                        </p:tav>
                                        <p:tav tm="100000">
                                          <p:val>
                                            <p:strVal val="#ppt_x"/>
                                          </p:val>
                                        </p:tav>
                                      </p:tavLst>
                                    </p:anim>
                                    <p:anim calcmode="lin" valueType="num">
                                      <p:cBhvr additive="base">
                                        <p:cTn id="64" dur="500" fill="hold"/>
                                        <p:tgtEl>
                                          <p:spTgt spid="4">
                                            <p:graphicEl>
                                              <a:dgm id="{B01DFB2A-6551-4409-B75F-A1595EEAA8C1}"/>
                                            </p:graphicEl>
                                          </p:spTgt>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4">
                                            <p:graphicEl>
                                              <a:dgm id="{068AFA6E-8947-4017-A6F8-AA65A453679E}"/>
                                            </p:graphicEl>
                                          </p:spTgt>
                                        </p:tgtEl>
                                        <p:attrNameLst>
                                          <p:attrName>style.visibility</p:attrName>
                                        </p:attrNameLst>
                                      </p:cBhvr>
                                      <p:to>
                                        <p:strVal val="visible"/>
                                      </p:to>
                                    </p:set>
                                    <p:anim calcmode="lin" valueType="num">
                                      <p:cBhvr additive="base">
                                        <p:cTn id="67" dur="500" fill="hold"/>
                                        <p:tgtEl>
                                          <p:spTgt spid="4">
                                            <p:graphicEl>
                                              <a:dgm id="{068AFA6E-8947-4017-A6F8-AA65A453679E}"/>
                                            </p:graphicEl>
                                          </p:spTgt>
                                        </p:tgtEl>
                                        <p:attrNameLst>
                                          <p:attrName>ppt_x</p:attrName>
                                        </p:attrNameLst>
                                      </p:cBhvr>
                                      <p:tavLst>
                                        <p:tav tm="0">
                                          <p:val>
                                            <p:strVal val="#ppt_x"/>
                                          </p:val>
                                        </p:tav>
                                        <p:tav tm="100000">
                                          <p:val>
                                            <p:strVal val="#ppt_x"/>
                                          </p:val>
                                        </p:tav>
                                      </p:tavLst>
                                    </p:anim>
                                    <p:anim calcmode="lin" valueType="num">
                                      <p:cBhvr additive="base">
                                        <p:cTn id="68" dur="500" fill="hold"/>
                                        <p:tgtEl>
                                          <p:spTgt spid="4">
                                            <p:graphicEl>
                                              <a:dgm id="{068AFA6E-8947-4017-A6F8-AA65A453679E}"/>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AEF21-A04B-452E-8FAA-8C4BC062CE5D}"/>
              </a:ext>
            </a:extLst>
          </p:cNvPr>
          <p:cNvSpPr>
            <a:spLocks noGrp="1"/>
          </p:cNvSpPr>
          <p:nvPr>
            <p:ph type="title"/>
          </p:nvPr>
        </p:nvSpPr>
        <p:spPr/>
        <p:txBody>
          <a:bodyPr>
            <a:normAutofit/>
          </a:bodyPr>
          <a:lstStyle/>
          <a:p>
            <a:r>
              <a:rPr lang="en-US" dirty="0"/>
              <a:t>Scope of Income/ Incidence of Tax Based on Residential Status </a:t>
            </a:r>
            <a:endParaRPr lang="en-IN" dirty="0"/>
          </a:p>
        </p:txBody>
      </p:sp>
      <p:graphicFrame>
        <p:nvGraphicFramePr>
          <p:cNvPr id="4" name="Table 4">
            <a:extLst>
              <a:ext uri="{FF2B5EF4-FFF2-40B4-BE49-F238E27FC236}">
                <a16:creationId xmlns:a16="http://schemas.microsoft.com/office/drawing/2014/main" id="{8CF64FB6-FC76-479D-AA58-CCAF01BD3BA6}"/>
              </a:ext>
            </a:extLst>
          </p:cNvPr>
          <p:cNvGraphicFramePr>
            <a:graphicFrameLocks noGrp="1"/>
          </p:cNvGraphicFramePr>
          <p:nvPr>
            <p:ph idx="1"/>
          </p:nvPr>
        </p:nvGraphicFramePr>
        <p:xfrm>
          <a:off x="131763" y="1285913"/>
          <a:ext cx="11928473" cy="4876800"/>
        </p:xfrm>
        <a:graphic>
          <a:graphicData uri="http://schemas.openxmlformats.org/drawingml/2006/table">
            <a:tbl>
              <a:tblPr firstRow="1" bandRow="1">
                <a:tableStyleId>{17292A2E-F333-43FB-9621-5CBBE7FDCDCB}</a:tableStyleId>
              </a:tblPr>
              <a:tblGrid>
                <a:gridCol w="4554537">
                  <a:extLst>
                    <a:ext uri="{9D8B030D-6E8A-4147-A177-3AD203B41FA5}">
                      <a16:colId xmlns:a16="http://schemas.microsoft.com/office/drawing/2014/main" val="4199562285"/>
                    </a:ext>
                  </a:extLst>
                </a:gridCol>
                <a:gridCol w="2171700">
                  <a:extLst>
                    <a:ext uri="{9D8B030D-6E8A-4147-A177-3AD203B41FA5}">
                      <a16:colId xmlns:a16="http://schemas.microsoft.com/office/drawing/2014/main" val="3422241427"/>
                    </a:ext>
                  </a:extLst>
                </a:gridCol>
                <a:gridCol w="3000375">
                  <a:extLst>
                    <a:ext uri="{9D8B030D-6E8A-4147-A177-3AD203B41FA5}">
                      <a16:colId xmlns:a16="http://schemas.microsoft.com/office/drawing/2014/main" val="3110041566"/>
                    </a:ext>
                  </a:extLst>
                </a:gridCol>
                <a:gridCol w="2201861">
                  <a:extLst>
                    <a:ext uri="{9D8B030D-6E8A-4147-A177-3AD203B41FA5}">
                      <a16:colId xmlns:a16="http://schemas.microsoft.com/office/drawing/2014/main" val="1601726406"/>
                    </a:ext>
                  </a:extLst>
                </a:gridCol>
              </a:tblGrid>
              <a:tr h="370840">
                <a:tc>
                  <a:txBody>
                    <a:bodyPr/>
                    <a:lstStyle/>
                    <a:p>
                      <a:pPr algn="ctr"/>
                      <a:r>
                        <a:rPr lang="en-US" sz="2800" dirty="0"/>
                        <a:t>Income</a:t>
                      </a:r>
                      <a:endParaRPr lang="en-IN" sz="2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t>Res. &amp; Ordinary Res.</a:t>
                      </a:r>
                      <a:endParaRPr lang="en-IN" sz="2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t>Res. (but Not Ordinary Res.)</a:t>
                      </a:r>
                      <a:endParaRPr lang="en-IN" sz="2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dirty="0"/>
                        <a:t>Non Res.</a:t>
                      </a:r>
                      <a:endParaRPr lang="en-IN" sz="28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9544917"/>
                  </a:ext>
                </a:extLst>
              </a:tr>
              <a:tr h="851903">
                <a:tc>
                  <a:txBody>
                    <a:bodyPr/>
                    <a:lstStyle/>
                    <a:p>
                      <a:pPr algn="l"/>
                      <a:endParaRPr lang="en-IN" dirty="0"/>
                    </a:p>
                    <a:p>
                      <a:pPr algn="l"/>
                      <a:endParaRPr lang="en-IN" dirty="0"/>
                    </a:p>
                    <a:p>
                      <a:pPr algn="l"/>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2945414"/>
                  </a:ext>
                </a:extLst>
              </a:tr>
              <a:tr h="702911">
                <a:tc>
                  <a:txBody>
                    <a:bodyPr/>
                    <a:lstStyle/>
                    <a:p>
                      <a:pPr algn="l"/>
                      <a:endParaRPr lang="en-IN" dirty="0"/>
                    </a:p>
                    <a:p>
                      <a:pPr algn="l"/>
                      <a:endParaRPr lang="en-IN" dirty="0"/>
                    </a:p>
                    <a:p>
                      <a:pPr algn="l"/>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202632"/>
                  </a:ext>
                </a:extLst>
              </a:tr>
              <a:tr h="641684">
                <a:tc>
                  <a:txBody>
                    <a:bodyPr/>
                    <a:lstStyle/>
                    <a:p>
                      <a:pPr algn="l"/>
                      <a:endParaRPr lang="en-IN" dirty="0"/>
                    </a:p>
                    <a:p>
                      <a:pPr algn="l"/>
                      <a:endParaRPr lang="en-IN" dirty="0"/>
                    </a:p>
                    <a:p>
                      <a:pPr algn="l"/>
                      <a:endParaRPr lang="en-IN" dirty="0"/>
                    </a:p>
                    <a:p>
                      <a:pPr algn="l"/>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3486534"/>
                  </a:ext>
                </a:extLst>
              </a:tr>
              <a:tr h="673769">
                <a:tc>
                  <a:txBody>
                    <a:bodyPr/>
                    <a:lstStyle/>
                    <a:p>
                      <a:pPr algn="l"/>
                      <a:endParaRPr lang="en-IN" dirty="0"/>
                    </a:p>
                    <a:p>
                      <a:pPr algn="l"/>
                      <a:endParaRPr lang="en-IN" dirty="0"/>
                    </a:p>
                    <a:p>
                      <a:pPr algn="l"/>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9364722"/>
                  </a:ext>
                </a:extLst>
              </a:tr>
            </a:tbl>
          </a:graphicData>
        </a:graphic>
      </p:graphicFrame>
      <p:sp>
        <p:nvSpPr>
          <p:cNvPr id="5" name="TextBox 4">
            <a:extLst>
              <a:ext uri="{FF2B5EF4-FFF2-40B4-BE49-F238E27FC236}">
                <a16:creationId xmlns:a16="http://schemas.microsoft.com/office/drawing/2014/main" id="{B3FBB727-8031-443A-84A8-2E54B5EB6FD5}"/>
              </a:ext>
            </a:extLst>
          </p:cNvPr>
          <p:cNvSpPr txBox="1"/>
          <p:nvPr/>
        </p:nvSpPr>
        <p:spPr>
          <a:xfrm>
            <a:off x="214604" y="2341479"/>
            <a:ext cx="4404940" cy="769441"/>
          </a:xfrm>
          <a:prstGeom prst="rect">
            <a:avLst/>
          </a:prstGeom>
          <a:noFill/>
        </p:spPr>
        <p:txBody>
          <a:bodyPr wrap="square">
            <a:spAutoFit/>
          </a:bodyPr>
          <a:lstStyle/>
          <a:p>
            <a:pPr algn="l"/>
            <a:r>
              <a:rPr lang="en-US" sz="2200" dirty="0"/>
              <a:t>1. Income </a:t>
            </a:r>
            <a:r>
              <a:rPr lang="en-US" sz="2200" b="1" dirty="0">
                <a:solidFill>
                  <a:srgbClr val="C00000"/>
                </a:solidFill>
              </a:rPr>
              <a:t>Received in India</a:t>
            </a:r>
            <a:r>
              <a:rPr lang="en-US" sz="2200" dirty="0"/>
              <a:t>, Earned in India or elsewhere.</a:t>
            </a:r>
            <a:endParaRPr lang="en-IN" sz="2200" dirty="0"/>
          </a:p>
        </p:txBody>
      </p:sp>
      <p:sp>
        <p:nvSpPr>
          <p:cNvPr id="6" name="TextBox 5">
            <a:extLst>
              <a:ext uri="{FF2B5EF4-FFF2-40B4-BE49-F238E27FC236}">
                <a16:creationId xmlns:a16="http://schemas.microsoft.com/office/drawing/2014/main" id="{C7675752-C4E9-41AE-8217-ABBDC6F850B9}"/>
              </a:ext>
            </a:extLst>
          </p:cNvPr>
          <p:cNvSpPr txBox="1"/>
          <p:nvPr/>
        </p:nvSpPr>
        <p:spPr>
          <a:xfrm>
            <a:off x="4991879" y="2423908"/>
            <a:ext cx="1436915" cy="523220"/>
          </a:xfrm>
          <a:prstGeom prst="rect">
            <a:avLst/>
          </a:prstGeom>
          <a:noFill/>
        </p:spPr>
        <p:txBody>
          <a:bodyPr wrap="square">
            <a:spAutoFit/>
          </a:bodyPr>
          <a:lstStyle/>
          <a:p>
            <a:r>
              <a:rPr lang="en-US" sz="2800" b="1" dirty="0"/>
              <a:t>Taxable </a:t>
            </a:r>
            <a:endParaRPr lang="en-IN" sz="2800" b="1" dirty="0"/>
          </a:p>
        </p:txBody>
      </p:sp>
      <p:sp>
        <p:nvSpPr>
          <p:cNvPr id="7" name="TextBox 6">
            <a:extLst>
              <a:ext uri="{FF2B5EF4-FFF2-40B4-BE49-F238E27FC236}">
                <a16:creationId xmlns:a16="http://schemas.microsoft.com/office/drawing/2014/main" id="{36186DC3-8053-4920-9FA3-7BA846FE9B96}"/>
              </a:ext>
            </a:extLst>
          </p:cNvPr>
          <p:cNvSpPr txBox="1"/>
          <p:nvPr/>
        </p:nvSpPr>
        <p:spPr>
          <a:xfrm>
            <a:off x="7538646" y="2395915"/>
            <a:ext cx="1436914" cy="523220"/>
          </a:xfrm>
          <a:prstGeom prst="rect">
            <a:avLst/>
          </a:prstGeom>
          <a:noFill/>
        </p:spPr>
        <p:txBody>
          <a:bodyPr wrap="square">
            <a:spAutoFit/>
          </a:bodyPr>
          <a:lstStyle/>
          <a:p>
            <a:r>
              <a:rPr lang="en-US" sz="2800" b="1" dirty="0"/>
              <a:t>Taxable </a:t>
            </a:r>
            <a:endParaRPr lang="en-IN" sz="2800" b="1" dirty="0"/>
          </a:p>
        </p:txBody>
      </p:sp>
      <p:sp>
        <p:nvSpPr>
          <p:cNvPr id="8" name="TextBox 7">
            <a:extLst>
              <a:ext uri="{FF2B5EF4-FFF2-40B4-BE49-F238E27FC236}">
                <a16:creationId xmlns:a16="http://schemas.microsoft.com/office/drawing/2014/main" id="{3D7FB261-8338-43D5-BBBD-353EDB036DDD}"/>
              </a:ext>
            </a:extLst>
          </p:cNvPr>
          <p:cNvSpPr txBox="1"/>
          <p:nvPr/>
        </p:nvSpPr>
        <p:spPr>
          <a:xfrm>
            <a:off x="10141399" y="2414577"/>
            <a:ext cx="1397974" cy="523220"/>
          </a:xfrm>
          <a:prstGeom prst="rect">
            <a:avLst/>
          </a:prstGeom>
          <a:noFill/>
        </p:spPr>
        <p:txBody>
          <a:bodyPr wrap="square">
            <a:spAutoFit/>
          </a:bodyPr>
          <a:lstStyle/>
          <a:p>
            <a:r>
              <a:rPr lang="en-US" sz="2800" b="1" dirty="0"/>
              <a:t>Taxable </a:t>
            </a:r>
            <a:endParaRPr lang="en-IN" sz="2800" b="1" dirty="0"/>
          </a:p>
        </p:txBody>
      </p:sp>
      <p:sp>
        <p:nvSpPr>
          <p:cNvPr id="9" name="TextBox 8">
            <a:extLst>
              <a:ext uri="{FF2B5EF4-FFF2-40B4-BE49-F238E27FC236}">
                <a16:creationId xmlns:a16="http://schemas.microsoft.com/office/drawing/2014/main" id="{93FEE81A-1964-4317-B81E-22E593DF9B5F}"/>
              </a:ext>
            </a:extLst>
          </p:cNvPr>
          <p:cNvSpPr txBox="1"/>
          <p:nvPr/>
        </p:nvSpPr>
        <p:spPr>
          <a:xfrm>
            <a:off x="4992686" y="3391676"/>
            <a:ext cx="1436915" cy="523220"/>
          </a:xfrm>
          <a:prstGeom prst="rect">
            <a:avLst/>
          </a:prstGeom>
          <a:noFill/>
        </p:spPr>
        <p:txBody>
          <a:bodyPr wrap="square">
            <a:spAutoFit/>
          </a:bodyPr>
          <a:lstStyle/>
          <a:p>
            <a:r>
              <a:rPr lang="en-US" sz="2800" b="1" dirty="0"/>
              <a:t>Taxable </a:t>
            </a:r>
            <a:endParaRPr lang="en-IN" sz="2800" b="1" dirty="0"/>
          </a:p>
        </p:txBody>
      </p:sp>
      <p:sp>
        <p:nvSpPr>
          <p:cNvPr id="10" name="TextBox 9">
            <a:extLst>
              <a:ext uri="{FF2B5EF4-FFF2-40B4-BE49-F238E27FC236}">
                <a16:creationId xmlns:a16="http://schemas.microsoft.com/office/drawing/2014/main" id="{A3F8B13A-EBD9-4F6A-B132-7698745A138D}"/>
              </a:ext>
            </a:extLst>
          </p:cNvPr>
          <p:cNvSpPr txBox="1"/>
          <p:nvPr/>
        </p:nvSpPr>
        <p:spPr>
          <a:xfrm>
            <a:off x="7572459" y="3373014"/>
            <a:ext cx="1422570" cy="523220"/>
          </a:xfrm>
          <a:prstGeom prst="rect">
            <a:avLst/>
          </a:prstGeom>
          <a:noFill/>
        </p:spPr>
        <p:txBody>
          <a:bodyPr wrap="square">
            <a:spAutoFit/>
          </a:bodyPr>
          <a:lstStyle/>
          <a:p>
            <a:r>
              <a:rPr lang="en-US" sz="2800" b="1" dirty="0"/>
              <a:t>Taxable </a:t>
            </a:r>
            <a:endParaRPr lang="en-IN" sz="2800" b="1" dirty="0"/>
          </a:p>
        </p:txBody>
      </p:sp>
      <p:sp>
        <p:nvSpPr>
          <p:cNvPr id="11" name="TextBox 10">
            <a:extLst>
              <a:ext uri="{FF2B5EF4-FFF2-40B4-BE49-F238E27FC236}">
                <a16:creationId xmlns:a16="http://schemas.microsoft.com/office/drawing/2014/main" id="{5B6B6EEC-20DA-493C-B408-F8DBDCADE34B}"/>
              </a:ext>
            </a:extLst>
          </p:cNvPr>
          <p:cNvSpPr txBox="1"/>
          <p:nvPr/>
        </p:nvSpPr>
        <p:spPr>
          <a:xfrm>
            <a:off x="10147219" y="3373014"/>
            <a:ext cx="1383630" cy="523220"/>
          </a:xfrm>
          <a:prstGeom prst="rect">
            <a:avLst/>
          </a:prstGeom>
          <a:noFill/>
        </p:spPr>
        <p:txBody>
          <a:bodyPr wrap="square">
            <a:spAutoFit/>
          </a:bodyPr>
          <a:lstStyle/>
          <a:p>
            <a:r>
              <a:rPr lang="en-US" sz="2800" b="1" dirty="0"/>
              <a:t>Taxable </a:t>
            </a:r>
            <a:endParaRPr lang="en-IN" sz="2800" b="1" dirty="0"/>
          </a:p>
        </p:txBody>
      </p:sp>
      <p:sp>
        <p:nvSpPr>
          <p:cNvPr id="12" name="TextBox 11">
            <a:extLst>
              <a:ext uri="{FF2B5EF4-FFF2-40B4-BE49-F238E27FC236}">
                <a16:creationId xmlns:a16="http://schemas.microsoft.com/office/drawing/2014/main" id="{25441DF0-0C29-4C2F-A965-92A24E5D3684}"/>
              </a:ext>
            </a:extLst>
          </p:cNvPr>
          <p:cNvSpPr txBox="1"/>
          <p:nvPr/>
        </p:nvSpPr>
        <p:spPr>
          <a:xfrm>
            <a:off x="4983356" y="4460591"/>
            <a:ext cx="1417446" cy="523220"/>
          </a:xfrm>
          <a:prstGeom prst="rect">
            <a:avLst/>
          </a:prstGeom>
          <a:noFill/>
        </p:spPr>
        <p:txBody>
          <a:bodyPr wrap="square">
            <a:spAutoFit/>
          </a:bodyPr>
          <a:lstStyle/>
          <a:p>
            <a:r>
              <a:rPr lang="en-US" sz="2800" b="1" dirty="0"/>
              <a:t>Taxable </a:t>
            </a:r>
            <a:endParaRPr lang="en-IN" sz="2800" b="1" dirty="0"/>
          </a:p>
        </p:txBody>
      </p:sp>
      <p:sp>
        <p:nvSpPr>
          <p:cNvPr id="13" name="TextBox 12">
            <a:extLst>
              <a:ext uri="{FF2B5EF4-FFF2-40B4-BE49-F238E27FC236}">
                <a16:creationId xmlns:a16="http://schemas.microsoft.com/office/drawing/2014/main" id="{32A60E7F-F753-4335-B48B-997447030A49}"/>
              </a:ext>
            </a:extLst>
          </p:cNvPr>
          <p:cNvSpPr txBox="1"/>
          <p:nvPr/>
        </p:nvSpPr>
        <p:spPr>
          <a:xfrm>
            <a:off x="7566639" y="4395273"/>
            <a:ext cx="1436914" cy="523220"/>
          </a:xfrm>
          <a:prstGeom prst="rect">
            <a:avLst/>
          </a:prstGeom>
          <a:noFill/>
        </p:spPr>
        <p:txBody>
          <a:bodyPr wrap="square">
            <a:spAutoFit/>
          </a:bodyPr>
          <a:lstStyle/>
          <a:p>
            <a:r>
              <a:rPr lang="en-US" sz="2800" b="1" dirty="0"/>
              <a:t>Taxable </a:t>
            </a:r>
            <a:endParaRPr lang="en-IN" sz="2800" b="1" dirty="0"/>
          </a:p>
        </p:txBody>
      </p:sp>
      <p:sp>
        <p:nvSpPr>
          <p:cNvPr id="14" name="TextBox 13">
            <a:extLst>
              <a:ext uri="{FF2B5EF4-FFF2-40B4-BE49-F238E27FC236}">
                <a16:creationId xmlns:a16="http://schemas.microsoft.com/office/drawing/2014/main" id="{E7709AFF-C4FA-43A1-9E19-1744AF0B9452}"/>
              </a:ext>
            </a:extLst>
          </p:cNvPr>
          <p:cNvSpPr txBox="1"/>
          <p:nvPr/>
        </p:nvSpPr>
        <p:spPr>
          <a:xfrm>
            <a:off x="9959541" y="4356894"/>
            <a:ext cx="1929648" cy="523220"/>
          </a:xfrm>
          <a:prstGeom prst="rect">
            <a:avLst/>
          </a:prstGeom>
          <a:noFill/>
        </p:spPr>
        <p:txBody>
          <a:bodyPr wrap="square">
            <a:spAutoFit/>
          </a:bodyPr>
          <a:lstStyle/>
          <a:p>
            <a:r>
              <a:rPr lang="en-US" sz="2800" b="1" dirty="0"/>
              <a:t>Not Taxable </a:t>
            </a:r>
            <a:endParaRPr lang="en-IN" sz="2800" b="1" dirty="0"/>
          </a:p>
        </p:txBody>
      </p:sp>
      <p:sp>
        <p:nvSpPr>
          <p:cNvPr id="15" name="TextBox 14">
            <a:extLst>
              <a:ext uri="{FF2B5EF4-FFF2-40B4-BE49-F238E27FC236}">
                <a16:creationId xmlns:a16="http://schemas.microsoft.com/office/drawing/2014/main" id="{55B1A688-81A7-49EE-9EBF-A9CD4F85580D}"/>
              </a:ext>
            </a:extLst>
          </p:cNvPr>
          <p:cNvSpPr txBox="1"/>
          <p:nvPr/>
        </p:nvSpPr>
        <p:spPr>
          <a:xfrm>
            <a:off x="4993494" y="5456351"/>
            <a:ext cx="1417446" cy="523220"/>
          </a:xfrm>
          <a:prstGeom prst="rect">
            <a:avLst/>
          </a:prstGeom>
          <a:noFill/>
        </p:spPr>
        <p:txBody>
          <a:bodyPr wrap="square">
            <a:spAutoFit/>
          </a:bodyPr>
          <a:lstStyle/>
          <a:p>
            <a:r>
              <a:rPr lang="en-US" sz="2800" b="1" dirty="0"/>
              <a:t>Taxable </a:t>
            </a:r>
            <a:endParaRPr lang="en-IN" sz="2800" b="1" dirty="0"/>
          </a:p>
        </p:txBody>
      </p:sp>
      <p:sp>
        <p:nvSpPr>
          <p:cNvPr id="16" name="TextBox 15">
            <a:extLst>
              <a:ext uri="{FF2B5EF4-FFF2-40B4-BE49-F238E27FC236}">
                <a16:creationId xmlns:a16="http://schemas.microsoft.com/office/drawing/2014/main" id="{6E93B2EC-E750-4EA5-A183-AF38DF5BF081}"/>
              </a:ext>
            </a:extLst>
          </p:cNvPr>
          <p:cNvSpPr txBox="1"/>
          <p:nvPr/>
        </p:nvSpPr>
        <p:spPr>
          <a:xfrm>
            <a:off x="7341531" y="5447022"/>
            <a:ext cx="1964582" cy="523220"/>
          </a:xfrm>
          <a:prstGeom prst="rect">
            <a:avLst/>
          </a:prstGeom>
          <a:noFill/>
        </p:spPr>
        <p:txBody>
          <a:bodyPr wrap="square">
            <a:spAutoFit/>
          </a:bodyPr>
          <a:lstStyle/>
          <a:p>
            <a:r>
              <a:rPr lang="en-US" sz="2800" b="1" dirty="0"/>
              <a:t>Not Taxable</a:t>
            </a:r>
            <a:endParaRPr lang="en-IN" sz="2800" b="1" dirty="0"/>
          </a:p>
        </p:txBody>
      </p:sp>
      <p:sp>
        <p:nvSpPr>
          <p:cNvPr id="17" name="TextBox 16">
            <a:extLst>
              <a:ext uri="{FF2B5EF4-FFF2-40B4-BE49-F238E27FC236}">
                <a16:creationId xmlns:a16="http://schemas.microsoft.com/office/drawing/2014/main" id="{124FF37E-EF0C-4F66-992B-F17035D55B6B}"/>
              </a:ext>
            </a:extLst>
          </p:cNvPr>
          <p:cNvSpPr txBox="1"/>
          <p:nvPr/>
        </p:nvSpPr>
        <p:spPr>
          <a:xfrm>
            <a:off x="9940879" y="5456350"/>
            <a:ext cx="2096945" cy="523220"/>
          </a:xfrm>
          <a:prstGeom prst="rect">
            <a:avLst/>
          </a:prstGeom>
          <a:noFill/>
        </p:spPr>
        <p:txBody>
          <a:bodyPr wrap="square">
            <a:spAutoFit/>
          </a:bodyPr>
          <a:lstStyle/>
          <a:p>
            <a:r>
              <a:rPr lang="en-US" sz="2800" b="1" dirty="0"/>
              <a:t>Not Taxable</a:t>
            </a:r>
            <a:endParaRPr lang="en-IN" sz="2800" b="1" dirty="0"/>
          </a:p>
        </p:txBody>
      </p:sp>
      <p:sp>
        <p:nvSpPr>
          <p:cNvPr id="18" name="TextBox 17">
            <a:extLst>
              <a:ext uri="{FF2B5EF4-FFF2-40B4-BE49-F238E27FC236}">
                <a16:creationId xmlns:a16="http://schemas.microsoft.com/office/drawing/2014/main" id="{954E0A89-6710-4C52-A860-CBFF770909F8}"/>
              </a:ext>
            </a:extLst>
          </p:cNvPr>
          <p:cNvSpPr txBox="1"/>
          <p:nvPr/>
        </p:nvSpPr>
        <p:spPr>
          <a:xfrm>
            <a:off x="214604" y="3261978"/>
            <a:ext cx="4404940" cy="769441"/>
          </a:xfrm>
          <a:prstGeom prst="rect">
            <a:avLst/>
          </a:prstGeom>
          <a:noFill/>
        </p:spPr>
        <p:txBody>
          <a:bodyPr wrap="square">
            <a:spAutoFit/>
          </a:bodyPr>
          <a:lstStyle/>
          <a:p>
            <a:pPr algn="just"/>
            <a:r>
              <a:rPr lang="en-US" sz="2200" dirty="0"/>
              <a:t>2. Income </a:t>
            </a:r>
            <a:r>
              <a:rPr lang="en-US" sz="2200" b="1" dirty="0">
                <a:solidFill>
                  <a:srgbClr val="C00000"/>
                </a:solidFill>
              </a:rPr>
              <a:t>to be Received in India</a:t>
            </a:r>
            <a:r>
              <a:rPr lang="en-US" sz="2200" dirty="0"/>
              <a:t>, Earned in India or elsewhere.</a:t>
            </a:r>
            <a:endParaRPr lang="en-IN" sz="2200" dirty="0"/>
          </a:p>
        </p:txBody>
      </p:sp>
      <p:sp>
        <p:nvSpPr>
          <p:cNvPr id="19" name="TextBox 18">
            <a:extLst>
              <a:ext uri="{FF2B5EF4-FFF2-40B4-BE49-F238E27FC236}">
                <a16:creationId xmlns:a16="http://schemas.microsoft.com/office/drawing/2014/main" id="{31B6A6E8-8C72-4A7C-9C9C-F8AA7DCF57B8}"/>
              </a:ext>
            </a:extLst>
          </p:cNvPr>
          <p:cNvSpPr txBox="1"/>
          <p:nvPr/>
        </p:nvSpPr>
        <p:spPr>
          <a:xfrm>
            <a:off x="214604" y="4163815"/>
            <a:ext cx="4404940" cy="1107996"/>
          </a:xfrm>
          <a:prstGeom prst="rect">
            <a:avLst/>
          </a:prstGeom>
          <a:noFill/>
        </p:spPr>
        <p:txBody>
          <a:bodyPr wrap="square">
            <a:spAutoFit/>
          </a:bodyPr>
          <a:lstStyle/>
          <a:p>
            <a:pPr algn="just"/>
            <a:r>
              <a:rPr lang="en-US" sz="2200" dirty="0"/>
              <a:t>3. Income received </a:t>
            </a:r>
            <a:r>
              <a:rPr lang="en-US" sz="2200" b="1" dirty="0">
                <a:solidFill>
                  <a:srgbClr val="C00000"/>
                </a:solidFill>
              </a:rPr>
              <a:t>from Business outside India</a:t>
            </a:r>
            <a:r>
              <a:rPr lang="en-US" sz="2200" dirty="0"/>
              <a:t>, Business control and managed in India.</a:t>
            </a:r>
            <a:endParaRPr lang="en-IN" sz="2200" dirty="0"/>
          </a:p>
        </p:txBody>
      </p:sp>
      <p:sp>
        <p:nvSpPr>
          <p:cNvPr id="20" name="TextBox 19">
            <a:extLst>
              <a:ext uri="{FF2B5EF4-FFF2-40B4-BE49-F238E27FC236}">
                <a16:creationId xmlns:a16="http://schemas.microsoft.com/office/drawing/2014/main" id="{65C3869F-92A8-4033-AD09-00EC80EEB2C3}"/>
              </a:ext>
            </a:extLst>
          </p:cNvPr>
          <p:cNvSpPr txBox="1"/>
          <p:nvPr/>
        </p:nvSpPr>
        <p:spPr>
          <a:xfrm>
            <a:off x="247486" y="5365279"/>
            <a:ext cx="4352589" cy="769441"/>
          </a:xfrm>
          <a:prstGeom prst="rect">
            <a:avLst/>
          </a:prstGeom>
          <a:noFill/>
        </p:spPr>
        <p:txBody>
          <a:bodyPr wrap="square">
            <a:spAutoFit/>
          </a:bodyPr>
          <a:lstStyle/>
          <a:p>
            <a:pPr algn="l"/>
            <a:r>
              <a:rPr lang="en-US" sz="2200" dirty="0"/>
              <a:t>4. Income </a:t>
            </a:r>
            <a:r>
              <a:rPr lang="en-US" sz="2200" b="1" dirty="0">
                <a:solidFill>
                  <a:srgbClr val="C00000"/>
                </a:solidFill>
              </a:rPr>
              <a:t>received outside of India from other sources</a:t>
            </a:r>
            <a:r>
              <a:rPr lang="en-US" sz="2200" dirty="0"/>
              <a:t>.</a:t>
            </a:r>
            <a:endParaRPr lang="en-IN" sz="2200" dirty="0"/>
          </a:p>
        </p:txBody>
      </p:sp>
    </p:spTree>
    <p:extLst>
      <p:ext uri="{BB962C8B-B14F-4D97-AF65-F5344CB8AC3E}">
        <p14:creationId xmlns:p14="http://schemas.microsoft.com/office/powerpoint/2010/main" val="928166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cs typeface="Times New Roman" panose="02020603050405020304" pitchFamily="18" charset="0"/>
              </a:rPr>
              <a:t>Heads Of Income:</a:t>
            </a:r>
          </a:p>
        </p:txBody>
      </p:sp>
      <p:grpSp>
        <p:nvGrpSpPr>
          <p:cNvPr id="4" name="Group 3"/>
          <p:cNvGrpSpPr/>
          <p:nvPr/>
        </p:nvGrpSpPr>
        <p:grpSpPr>
          <a:xfrm>
            <a:off x="1368564" y="2171700"/>
            <a:ext cx="1638300" cy="1579908"/>
            <a:chOff x="342900" y="942975"/>
            <a:chExt cx="1371600" cy="1285875"/>
          </a:xfrm>
        </p:grpSpPr>
        <p:sp>
          <p:nvSpPr>
            <p:cNvPr id="47" name="Rounded Rectangle 1"/>
            <p:cNvSpPr/>
            <p:nvPr/>
          </p:nvSpPr>
          <p:spPr>
            <a:xfrm>
              <a:off x="342900" y="942975"/>
              <a:ext cx="1371600" cy="1285875"/>
            </a:xfrm>
            <a:custGeom>
              <a:avLst/>
              <a:gdLst/>
              <a:ahLst/>
              <a:cxnLst/>
              <a:rect l="0" t="0" r="0" b="0"/>
              <a:pathLst>
                <a:path w="1371600" h="1285875">
                  <a:moveTo>
                    <a:pt x="0" y="171450"/>
                  </a:moveTo>
                  <a:cubicBezTo>
                    <a:pt x="0" y="76761"/>
                    <a:pt x="76761" y="0"/>
                    <a:pt x="171450" y="0"/>
                  </a:cubicBezTo>
                  <a:lnTo>
                    <a:pt x="171450" y="85725"/>
                  </a:lnTo>
                  <a:cubicBezTo>
                    <a:pt x="124105" y="85725"/>
                    <a:pt x="85725" y="124105"/>
                    <a:pt x="85725" y="171450"/>
                  </a:cubicBezTo>
                  <a:close/>
                  <a:moveTo>
                    <a:pt x="171450" y="85725"/>
                  </a:moveTo>
                  <a:lnTo>
                    <a:pt x="171450" y="0"/>
                  </a:lnTo>
                  <a:lnTo>
                    <a:pt x="1200150" y="0"/>
                  </a:lnTo>
                  <a:lnTo>
                    <a:pt x="1200150" y="85725"/>
                  </a:lnTo>
                  <a:close/>
                  <a:moveTo>
                    <a:pt x="1200150" y="0"/>
                  </a:moveTo>
                  <a:cubicBezTo>
                    <a:pt x="1294838" y="0"/>
                    <a:pt x="1371600" y="76761"/>
                    <a:pt x="1371600" y="171450"/>
                  </a:cubicBezTo>
                  <a:lnTo>
                    <a:pt x="1285875" y="171450"/>
                  </a:lnTo>
                  <a:cubicBezTo>
                    <a:pt x="1285875" y="124105"/>
                    <a:pt x="1247494" y="85725"/>
                    <a:pt x="1200150" y="85725"/>
                  </a:cubicBezTo>
                  <a:close/>
                  <a:moveTo>
                    <a:pt x="1285875" y="1114425"/>
                  </a:moveTo>
                  <a:lnTo>
                    <a:pt x="1285875" y="171450"/>
                  </a:lnTo>
                  <a:lnTo>
                    <a:pt x="1371600" y="171450"/>
                  </a:lnTo>
                  <a:lnTo>
                    <a:pt x="1371600" y="1114425"/>
                  </a:lnTo>
                  <a:close/>
                  <a:moveTo>
                    <a:pt x="85725" y="171450"/>
                  </a:moveTo>
                  <a:lnTo>
                    <a:pt x="85725" y="1114425"/>
                  </a:lnTo>
                  <a:lnTo>
                    <a:pt x="0" y="1114425"/>
                  </a:lnTo>
                  <a:lnTo>
                    <a:pt x="0" y="171450"/>
                  </a:lnTo>
                  <a:close/>
                  <a:moveTo>
                    <a:pt x="171450" y="1285875"/>
                  </a:moveTo>
                  <a:lnTo>
                    <a:pt x="0" y="1285875"/>
                  </a:lnTo>
                  <a:lnTo>
                    <a:pt x="0" y="1114425"/>
                  </a:lnTo>
                  <a:lnTo>
                    <a:pt x="85725" y="1114425"/>
                  </a:lnTo>
                  <a:cubicBezTo>
                    <a:pt x="85725" y="1161769"/>
                    <a:pt x="124105" y="1200150"/>
                    <a:pt x="171450" y="1200150"/>
                  </a:cubicBezTo>
                  <a:close/>
                  <a:moveTo>
                    <a:pt x="1371600" y="1285875"/>
                  </a:moveTo>
                  <a:lnTo>
                    <a:pt x="1200150" y="1285875"/>
                  </a:lnTo>
                  <a:lnTo>
                    <a:pt x="1200150" y="1200150"/>
                  </a:lnTo>
                  <a:cubicBezTo>
                    <a:pt x="1247494" y="1200150"/>
                    <a:pt x="1285875" y="1161769"/>
                    <a:pt x="1285875" y="1114425"/>
                  </a:cubicBezTo>
                  <a:lnTo>
                    <a:pt x="1371600" y="1114425"/>
                  </a:lnTo>
                  <a:close/>
                  <a:moveTo>
                    <a:pt x="171450" y="1200150"/>
                  </a:moveTo>
                  <a:lnTo>
                    <a:pt x="600075" y="1200150"/>
                  </a:lnTo>
                  <a:lnTo>
                    <a:pt x="665594" y="1265669"/>
                  </a:lnTo>
                  <a:cubicBezTo>
                    <a:pt x="676753" y="1276828"/>
                    <a:pt x="694846" y="1276828"/>
                    <a:pt x="706005" y="1265669"/>
                  </a:cubicBezTo>
                  <a:lnTo>
                    <a:pt x="771525" y="1200150"/>
                  </a:lnTo>
                  <a:lnTo>
                    <a:pt x="1200150" y="1200150"/>
                  </a:lnTo>
                  <a:lnTo>
                    <a:pt x="1200150" y="1285875"/>
                  </a:lnTo>
                  <a:lnTo>
                    <a:pt x="171450" y="1285875"/>
                  </a:ln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8" name="Rounded Rectangle 2"/>
            <p:cNvSpPr/>
            <p:nvPr/>
          </p:nvSpPr>
          <p:spPr>
            <a:xfrm>
              <a:off x="342900" y="942975"/>
              <a:ext cx="1371600" cy="1285875"/>
            </a:xfrm>
            <a:custGeom>
              <a:avLst/>
              <a:gdLst/>
              <a:ahLst/>
              <a:cxnLst/>
              <a:rect l="0" t="0" r="0" b="0"/>
              <a:pathLst>
                <a:path w="1371600" h="1285875">
                  <a:moveTo>
                    <a:pt x="0" y="171450"/>
                  </a:moveTo>
                  <a:cubicBezTo>
                    <a:pt x="0" y="76761"/>
                    <a:pt x="76761" y="0"/>
                    <a:pt x="171450" y="0"/>
                  </a:cubicBezTo>
                  <a:moveTo>
                    <a:pt x="1200150" y="0"/>
                  </a:moveTo>
                  <a:lnTo>
                    <a:pt x="171450" y="0"/>
                  </a:lnTo>
                  <a:moveTo>
                    <a:pt x="1200150" y="0"/>
                  </a:moveTo>
                  <a:cubicBezTo>
                    <a:pt x="1294838" y="0"/>
                    <a:pt x="1371600" y="76761"/>
                    <a:pt x="1371600" y="171450"/>
                  </a:cubicBezTo>
                  <a:moveTo>
                    <a:pt x="1371600" y="171450"/>
                  </a:moveTo>
                  <a:lnTo>
                    <a:pt x="1371600" y="1285875"/>
                  </a:lnTo>
                  <a:moveTo>
                    <a:pt x="0" y="1285875"/>
                  </a:moveTo>
                  <a:lnTo>
                    <a:pt x="0" y="171450"/>
                  </a:lnTo>
                  <a:moveTo>
                    <a:pt x="85725" y="171450"/>
                  </a:moveTo>
                  <a:cubicBezTo>
                    <a:pt x="85725" y="124105"/>
                    <a:pt x="124105" y="85725"/>
                    <a:pt x="171450" y="85725"/>
                  </a:cubicBezTo>
                  <a:moveTo>
                    <a:pt x="1200150" y="85725"/>
                  </a:moveTo>
                  <a:lnTo>
                    <a:pt x="171450" y="85725"/>
                  </a:lnTo>
                  <a:moveTo>
                    <a:pt x="1200150" y="85725"/>
                  </a:moveTo>
                  <a:cubicBezTo>
                    <a:pt x="1247494" y="85725"/>
                    <a:pt x="1285875" y="124105"/>
                    <a:pt x="1285875" y="171450"/>
                  </a:cubicBezTo>
                  <a:moveTo>
                    <a:pt x="1285875" y="1114422"/>
                  </a:moveTo>
                  <a:lnTo>
                    <a:pt x="1285875" y="171450"/>
                  </a:lnTo>
                  <a:moveTo>
                    <a:pt x="1285875" y="1114425"/>
                  </a:moveTo>
                  <a:cubicBezTo>
                    <a:pt x="1285875" y="1161769"/>
                    <a:pt x="1247494" y="1200150"/>
                    <a:pt x="1200150" y="1200150"/>
                  </a:cubicBezTo>
                  <a:moveTo>
                    <a:pt x="1200150" y="1200150"/>
                  </a:moveTo>
                  <a:lnTo>
                    <a:pt x="771525" y="1200150"/>
                  </a:lnTo>
                  <a:lnTo>
                    <a:pt x="706005" y="1265669"/>
                  </a:lnTo>
                  <a:cubicBezTo>
                    <a:pt x="694846" y="1276828"/>
                    <a:pt x="676753" y="1276828"/>
                    <a:pt x="665594" y="1265669"/>
                  </a:cubicBezTo>
                  <a:lnTo>
                    <a:pt x="600074" y="1200150"/>
                  </a:lnTo>
                  <a:lnTo>
                    <a:pt x="171449" y="1200150"/>
                  </a:lnTo>
                  <a:moveTo>
                    <a:pt x="171450" y="1200150"/>
                  </a:moveTo>
                  <a:cubicBezTo>
                    <a:pt x="124105" y="1200150"/>
                    <a:pt x="85725" y="1161769"/>
                    <a:pt x="85725" y="1114425"/>
                  </a:cubicBezTo>
                  <a:moveTo>
                    <a:pt x="85725" y="1114422"/>
                  </a:moveTo>
                  <a:lnTo>
                    <a:pt x="85725" y="171450"/>
                  </a:lnTo>
                </a:path>
              </a:pathLst>
            </a:custGeom>
            <a:noFill/>
            <a:ln w="1071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5" name="Group 4"/>
          <p:cNvGrpSpPr/>
          <p:nvPr/>
        </p:nvGrpSpPr>
        <p:grpSpPr>
          <a:xfrm>
            <a:off x="3319464" y="2171700"/>
            <a:ext cx="1638300" cy="1579908"/>
            <a:chOff x="1885950" y="942975"/>
            <a:chExt cx="1371600" cy="1285875"/>
          </a:xfrm>
        </p:grpSpPr>
        <p:sp>
          <p:nvSpPr>
            <p:cNvPr id="45" name="Rounded Rectangle 4"/>
            <p:cNvSpPr/>
            <p:nvPr/>
          </p:nvSpPr>
          <p:spPr>
            <a:xfrm>
              <a:off x="1885950" y="942975"/>
              <a:ext cx="1371600" cy="1285875"/>
            </a:xfrm>
            <a:custGeom>
              <a:avLst/>
              <a:gdLst/>
              <a:ahLst/>
              <a:cxnLst/>
              <a:rect l="0" t="0" r="0" b="0"/>
              <a:pathLst>
                <a:path w="1371600" h="1285875">
                  <a:moveTo>
                    <a:pt x="0" y="171450"/>
                  </a:moveTo>
                  <a:cubicBezTo>
                    <a:pt x="0" y="76761"/>
                    <a:pt x="76761" y="0"/>
                    <a:pt x="171450" y="0"/>
                  </a:cubicBezTo>
                  <a:lnTo>
                    <a:pt x="171450" y="85725"/>
                  </a:lnTo>
                  <a:cubicBezTo>
                    <a:pt x="124105" y="85725"/>
                    <a:pt x="85725" y="124105"/>
                    <a:pt x="85725" y="171450"/>
                  </a:cubicBezTo>
                  <a:close/>
                  <a:moveTo>
                    <a:pt x="171450" y="85725"/>
                  </a:moveTo>
                  <a:lnTo>
                    <a:pt x="171450" y="0"/>
                  </a:lnTo>
                  <a:lnTo>
                    <a:pt x="1200150" y="0"/>
                  </a:lnTo>
                  <a:lnTo>
                    <a:pt x="1200150" y="85725"/>
                  </a:lnTo>
                  <a:close/>
                  <a:moveTo>
                    <a:pt x="1200150" y="0"/>
                  </a:moveTo>
                  <a:cubicBezTo>
                    <a:pt x="1294838" y="0"/>
                    <a:pt x="1371600" y="76761"/>
                    <a:pt x="1371600" y="171450"/>
                  </a:cubicBezTo>
                  <a:lnTo>
                    <a:pt x="1285875" y="171450"/>
                  </a:lnTo>
                  <a:cubicBezTo>
                    <a:pt x="1285875" y="124105"/>
                    <a:pt x="1247494" y="85725"/>
                    <a:pt x="1200150" y="85725"/>
                  </a:cubicBezTo>
                  <a:close/>
                  <a:moveTo>
                    <a:pt x="1285875" y="1114425"/>
                  </a:moveTo>
                  <a:lnTo>
                    <a:pt x="1285875" y="171450"/>
                  </a:lnTo>
                  <a:lnTo>
                    <a:pt x="1371600" y="171450"/>
                  </a:lnTo>
                  <a:lnTo>
                    <a:pt x="1371600" y="1114425"/>
                  </a:lnTo>
                  <a:close/>
                  <a:moveTo>
                    <a:pt x="85725" y="171450"/>
                  </a:moveTo>
                  <a:lnTo>
                    <a:pt x="85725" y="1114425"/>
                  </a:lnTo>
                  <a:lnTo>
                    <a:pt x="0" y="1114425"/>
                  </a:lnTo>
                  <a:lnTo>
                    <a:pt x="0" y="171450"/>
                  </a:lnTo>
                  <a:close/>
                  <a:moveTo>
                    <a:pt x="171450" y="1285875"/>
                  </a:moveTo>
                  <a:lnTo>
                    <a:pt x="0" y="1285875"/>
                  </a:lnTo>
                  <a:lnTo>
                    <a:pt x="0" y="1114425"/>
                  </a:lnTo>
                  <a:lnTo>
                    <a:pt x="85725" y="1114425"/>
                  </a:lnTo>
                  <a:cubicBezTo>
                    <a:pt x="85725" y="1161769"/>
                    <a:pt x="124105" y="1200150"/>
                    <a:pt x="171450" y="1200150"/>
                  </a:cubicBezTo>
                  <a:close/>
                  <a:moveTo>
                    <a:pt x="1371600" y="1285875"/>
                  </a:moveTo>
                  <a:lnTo>
                    <a:pt x="1200150" y="1285875"/>
                  </a:lnTo>
                  <a:lnTo>
                    <a:pt x="1200150" y="1200150"/>
                  </a:lnTo>
                  <a:cubicBezTo>
                    <a:pt x="1247494" y="1200150"/>
                    <a:pt x="1285875" y="1161769"/>
                    <a:pt x="1285875" y="1114425"/>
                  </a:cubicBezTo>
                  <a:lnTo>
                    <a:pt x="1371600" y="1114425"/>
                  </a:lnTo>
                  <a:close/>
                  <a:moveTo>
                    <a:pt x="171450" y="1200150"/>
                  </a:moveTo>
                  <a:lnTo>
                    <a:pt x="600075" y="1200150"/>
                  </a:lnTo>
                  <a:lnTo>
                    <a:pt x="665594" y="1265669"/>
                  </a:lnTo>
                  <a:cubicBezTo>
                    <a:pt x="676753" y="1276828"/>
                    <a:pt x="694846" y="1276828"/>
                    <a:pt x="706005" y="1265669"/>
                  </a:cubicBezTo>
                  <a:lnTo>
                    <a:pt x="771525" y="1200150"/>
                  </a:lnTo>
                  <a:lnTo>
                    <a:pt x="1200150" y="1200150"/>
                  </a:lnTo>
                  <a:lnTo>
                    <a:pt x="1200150" y="1285875"/>
                  </a:lnTo>
                  <a:lnTo>
                    <a:pt x="171450" y="1285875"/>
                  </a:ln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6" name="Rounded Rectangle 5"/>
            <p:cNvSpPr/>
            <p:nvPr/>
          </p:nvSpPr>
          <p:spPr>
            <a:xfrm>
              <a:off x="1885950" y="942975"/>
              <a:ext cx="1371600" cy="1285875"/>
            </a:xfrm>
            <a:custGeom>
              <a:avLst/>
              <a:gdLst/>
              <a:ahLst/>
              <a:cxnLst/>
              <a:rect l="0" t="0" r="0" b="0"/>
              <a:pathLst>
                <a:path w="1371600" h="1285875">
                  <a:moveTo>
                    <a:pt x="0" y="171450"/>
                  </a:moveTo>
                  <a:cubicBezTo>
                    <a:pt x="0" y="76761"/>
                    <a:pt x="76761" y="0"/>
                    <a:pt x="171450" y="0"/>
                  </a:cubicBezTo>
                  <a:moveTo>
                    <a:pt x="1200150" y="0"/>
                  </a:moveTo>
                  <a:lnTo>
                    <a:pt x="171450" y="0"/>
                  </a:lnTo>
                  <a:moveTo>
                    <a:pt x="1200150" y="0"/>
                  </a:moveTo>
                  <a:cubicBezTo>
                    <a:pt x="1294838" y="0"/>
                    <a:pt x="1371600" y="76761"/>
                    <a:pt x="1371600" y="171450"/>
                  </a:cubicBezTo>
                  <a:moveTo>
                    <a:pt x="1371600" y="171450"/>
                  </a:moveTo>
                  <a:lnTo>
                    <a:pt x="1371600" y="1285875"/>
                  </a:lnTo>
                  <a:moveTo>
                    <a:pt x="0" y="1285875"/>
                  </a:moveTo>
                  <a:lnTo>
                    <a:pt x="0" y="171450"/>
                  </a:lnTo>
                  <a:moveTo>
                    <a:pt x="85725" y="171450"/>
                  </a:moveTo>
                  <a:cubicBezTo>
                    <a:pt x="85725" y="124105"/>
                    <a:pt x="124105" y="85725"/>
                    <a:pt x="171450" y="85725"/>
                  </a:cubicBezTo>
                  <a:moveTo>
                    <a:pt x="1200150" y="85725"/>
                  </a:moveTo>
                  <a:lnTo>
                    <a:pt x="171450" y="85725"/>
                  </a:lnTo>
                  <a:moveTo>
                    <a:pt x="1200150" y="85725"/>
                  </a:moveTo>
                  <a:cubicBezTo>
                    <a:pt x="1247494" y="85725"/>
                    <a:pt x="1285875" y="124105"/>
                    <a:pt x="1285875" y="171450"/>
                  </a:cubicBezTo>
                  <a:moveTo>
                    <a:pt x="1285875" y="1114422"/>
                  </a:moveTo>
                  <a:lnTo>
                    <a:pt x="1285875" y="171450"/>
                  </a:lnTo>
                  <a:moveTo>
                    <a:pt x="1285875" y="1114425"/>
                  </a:moveTo>
                  <a:cubicBezTo>
                    <a:pt x="1285875" y="1161769"/>
                    <a:pt x="1247494" y="1200150"/>
                    <a:pt x="1200150" y="1200150"/>
                  </a:cubicBezTo>
                  <a:moveTo>
                    <a:pt x="1200150" y="1200150"/>
                  </a:moveTo>
                  <a:lnTo>
                    <a:pt x="771525" y="1200150"/>
                  </a:lnTo>
                  <a:lnTo>
                    <a:pt x="706005" y="1265669"/>
                  </a:lnTo>
                  <a:cubicBezTo>
                    <a:pt x="694846" y="1276828"/>
                    <a:pt x="676753" y="1276828"/>
                    <a:pt x="665594" y="1265669"/>
                  </a:cubicBezTo>
                  <a:lnTo>
                    <a:pt x="600075" y="1200150"/>
                  </a:lnTo>
                  <a:lnTo>
                    <a:pt x="171450" y="1200150"/>
                  </a:lnTo>
                  <a:moveTo>
                    <a:pt x="171450" y="1200150"/>
                  </a:moveTo>
                  <a:cubicBezTo>
                    <a:pt x="124105" y="1200150"/>
                    <a:pt x="85725" y="1161769"/>
                    <a:pt x="85725" y="1114425"/>
                  </a:cubicBezTo>
                  <a:moveTo>
                    <a:pt x="85725" y="1114422"/>
                  </a:moveTo>
                  <a:lnTo>
                    <a:pt x="85725" y="171450"/>
                  </a:lnTo>
                </a:path>
              </a:pathLst>
            </a:custGeom>
            <a:noFill/>
            <a:ln w="1071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6" name="Group 5"/>
          <p:cNvGrpSpPr/>
          <p:nvPr/>
        </p:nvGrpSpPr>
        <p:grpSpPr>
          <a:xfrm>
            <a:off x="5270364" y="2171700"/>
            <a:ext cx="1789128" cy="1579908"/>
            <a:chOff x="3429000" y="942975"/>
            <a:chExt cx="1371600" cy="1285875"/>
          </a:xfrm>
        </p:grpSpPr>
        <p:sp>
          <p:nvSpPr>
            <p:cNvPr id="43" name="Rounded Rectangle 7"/>
            <p:cNvSpPr/>
            <p:nvPr/>
          </p:nvSpPr>
          <p:spPr>
            <a:xfrm>
              <a:off x="3429000" y="942975"/>
              <a:ext cx="1371600" cy="1285875"/>
            </a:xfrm>
            <a:custGeom>
              <a:avLst/>
              <a:gdLst/>
              <a:ahLst/>
              <a:cxnLst/>
              <a:rect l="0" t="0" r="0" b="0"/>
              <a:pathLst>
                <a:path w="1371600" h="1285875">
                  <a:moveTo>
                    <a:pt x="0" y="171450"/>
                  </a:moveTo>
                  <a:cubicBezTo>
                    <a:pt x="0" y="76761"/>
                    <a:pt x="76761" y="0"/>
                    <a:pt x="171450" y="0"/>
                  </a:cubicBezTo>
                  <a:lnTo>
                    <a:pt x="171450" y="85725"/>
                  </a:lnTo>
                  <a:cubicBezTo>
                    <a:pt x="124105" y="85725"/>
                    <a:pt x="85725" y="124105"/>
                    <a:pt x="85725" y="171450"/>
                  </a:cubicBezTo>
                  <a:close/>
                  <a:moveTo>
                    <a:pt x="171450" y="85725"/>
                  </a:moveTo>
                  <a:lnTo>
                    <a:pt x="171450" y="0"/>
                  </a:lnTo>
                  <a:lnTo>
                    <a:pt x="1200150" y="0"/>
                  </a:lnTo>
                  <a:lnTo>
                    <a:pt x="1200150" y="85725"/>
                  </a:lnTo>
                  <a:close/>
                  <a:moveTo>
                    <a:pt x="1200150" y="0"/>
                  </a:moveTo>
                  <a:cubicBezTo>
                    <a:pt x="1294838" y="0"/>
                    <a:pt x="1371600" y="76761"/>
                    <a:pt x="1371600" y="171450"/>
                  </a:cubicBezTo>
                  <a:lnTo>
                    <a:pt x="1285875" y="171450"/>
                  </a:lnTo>
                  <a:cubicBezTo>
                    <a:pt x="1285875" y="124105"/>
                    <a:pt x="1247494" y="85725"/>
                    <a:pt x="1200150" y="85725"/>
                  </a:cubicBezTo>
                  <a:close/>
                  <a:moveTo>
                    <a:pt x="1285875" y="1114425"/>
                  </a:moveTo>
                  <a:lnTo>
                    <a:pt x="1285875" y="171450"/>
                  </a:lnTo>
                  <a:lnTo>
                    <a:pt x="1371600" y="171450"/>
                  </a:lnTo>
                  <a:lnTo>
                    <a:pt x="1371600" y="1114425"/>
                  </a:lnTo>
                  <a:close/>
                  <a:moveTo>
                    <a:pt x="85725" y="171450"/>
                  </a:moveTo>
                  <a:lnTo>
                    <a:pt x="85725" y="1114425"/>
                  </a:lnTo>
                  <a:lnTo>
                    <a:pt x="0" y="1114425"/>
                  </a:lnTo>
                  <a:lnTo>
                    <a:pt x="0" y="171450"/>
                  </a:lnTo>
                  <a:close/>
                  <a:moveTo>
                    <a:pt x="171450" y="1285875"/>
                  </a:moveTo>
                  <a:lnTo>
                    <a:pt x="0" y="1285875"/>
                  </a:lnTo>
                  <a:lnTo>
                    <a:pt x="0" y="1114425"/>
                  </a:lnTo>
                  <a:lnTo>
                    <a:pt x="85725" y="1114425"/>
                  </a:lnTo>
                  <a:cubicBezTo>
                    <a:pt x="85725" y="1161769"/>
                    <a:pt x="124105" y="1200150"/>
                    <a:pt x="171450" y="1200150"/>
                  </a:cubicBezTo>
                  <a:close/>
                  <a:moveTo>
                    <a:pt x="1371600" y="1285875"/>
                  </a:moveTo>
                  <a:lnTo>
                    <a:pt x="1200150" y="1285875"/>
                  </a:lnTo>
                  <a:lnTo>
                    <a:pt x="1200150" y="1200150"/>
                  </a:lnTo>
                  <a:cubicBezTo>
                    <a:pt x="1247494" y="1200150"/>
                    <a:pt x="1285875" y="1161769"/>
                    <a:pt x="1285875" y="1114425"/>
                  </a:cubicBezTo>
                  <a:lnTo>
                    <a:pt x="1371600" y="1114425"/>
                  </a:lnTo>
                  <a:close/>
                  <a:moveTo>
                    <a:pt x="171450" y="1200150"/>
                  </a:moveTo>
                  <a:lnTo>
                    <a:pt x="600075" y="1200150"/>
                  </a:lnTo>
                  <a:lnTo>
                    <a:pt x="665594" y="1265669"/>
                  </a:lnTo>
                  <a:cubicBezTo>
                    <a:pt x="676753" y="1276828"/>
                    <a:pt x="694846" y="1276828"/>
                    <a:pt x="706005" y="1265669"/>
                  </a:cubicBezTo>
                  <a:lnTo>
                    <a:pt x="771525" y="1200150"/>
                  </a:lnTo>
                  <a:lnTo>
                    <a:pt x="1200150" y="1200150"/>
                  </a:lnTo>
                  <a:lnTo>
                    <a:pt x="1200150" y="1285875"/>
                  </a:lnTo>
                  <a:lnTo>
                    <a:pt x="171450" y="1285875"/>
                  </a:lnTo>
                  <a:close/>
                </a:path>
              </a:pathLst>
            </a:custGeom>
            <a:solidFill>
              <a:srgbClr val="E5575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4" name="Rounded Rectangle 8"/>
            <p:cNvSpPr/>
            <p:nvPr/>
          </p:nvSpPr>
          <p:spPr>
            <a:xfrm>
              <a:off x="3429000" y="942975"/>
              <a:ext cx="1371600" cy="1285875"/>
            </a:xfrm>
            <a:custGeom>
              <a:avLst/>
              <a:gdLst/>
              <a:ahLst/>
              <a:cxnLst/>
              <a:rect l="0" t="0" r="0" b="0"/>
              <a:pathLst>
                <a:path w="1371600" h="1285875">
                  <a:moveTo>
                    <a:pt x="0" y="171450"/>
                  </a:moveTo>
                  <a:cubicBezTo>
                    <a:pt x="0" y="76761"/>
                    <a:pt x="76761" y="0"/>
                    <a:pt x="171450" y="0"/>
                  </a:cubicBezTo>
                  <a:moveTo>
                    <a:pt x="1200150" y="0"/>
                  </a:moveTo>
                  <a:lnTo>
                    <a:pt x="171450" y="0"/>
                  </a:lnTo>
                  <a:moveTo>
                    <a:pt x="1200150" y="0"/>
                  </a:moveTo>
                  <a:cubicBezTo>
                    <a:pt x="1294838" y="0"/>
                    <a:pt x="1371600" y="76761"/>
                    <a:pt x="1371600" y="171450"/>
                  </a:cubicBezTo>
                  <a:moveTo>
                    <a:pt x="1371600" y="171450"/>
                  </a:moveTo>
                  <a:lnTo>
                    <a:pt x="1371600" y="1285875"/>
                  </a:lnTo>
                  <a:moveTo>
                    <a:pt x="0" y="1285875"/>
                  </a:moveTo>
                  <a:lnTo>
                    <a:pt x="0" y="171450"/>
                  </a:lnTo>
                  <a:moveTo>
                    <a:pt x="85725" y="171450"/>
                  </a:moveTo>
                  <a:cubicBezTo>
                    <a:pt x="85725" y="124105"/>
                    <a:pt x="124105" y="85725"/>
                    <a:pt x="171450" y="85725"/>
                  </a:cubicBezTo>
                  <a:moveTo>
                    <a:pt x="1200150" y="85725"/>
                  </a:moveTo>
                  <a:lnTo>
                    <a:pt x="171450" y="85725"/>
                  </a:lnTo>
                  <a:moveTo>
                    <a:pt x="1200150" y="85725"/>
                  </a:moveTo>
                  <a:cubicBezTo>
                    <a:pt x="1247494" y="85725"/>
                    <a:pt x="1285875" y="124105"/>
                    <a:pt x="1285875" y="171450"/>
                  </a:cubicBezTo>
                  <a:moveTo>
                    <a:pt x="1285875" y="1114422"/>
                  </a:moveTo>
                  <a:lnTo>
                    <a:pt x="1285875" y="171450"/>
                  </a:lnTo>
                  <a:moveTo>
                    <a:pt x="1285875" y="1114425"/>
                  </a:moveTo>
                  <a:cubicBezTo>
                    <a:pt x="1285875" y="1161769"/>
                    <a:pt x="1247494" y="1200150"/>
                    <a:pt x="1200150" y="1200150"/>
                  </a:cubicBezTo>
                  <a:moveTo>
                    <a:pt x="1200150" y="1200150"/>
                  </a:moveTo>
                  <a:lnTo>
                    <a:pt x="771525" y="1200150"/>
                  </a:lnTo>
                  <a:lnTo>
                    <a:pt x="706005" y="1265669"/>
                  </a:lnTo>
                  <a:cubicBezTo>
                    <a:pt x="694846" y="1276828"/>
                    <a:pt x="676753" y="1276828"/>
                    <a:pt x="665594" y="1265669"/>
                  </a:cubicBezTo>
                  <a:lnTo>
                    <a:pt x="600075" y="1200150"/>
                  </a:lnTo>
                  <a:lnTo>
                    <a:pt x="171450" y="1200150"/>
                  </a:lnTo>
                  <a:moveTo>
                    <a:pt x="171450" y="1200150"/>
                  </a:moveTo>
                  <a:cubicBezTo>
                    <a:pt x="124105" y="1200150"/>
                    <a:pt x="85725" y="1161769"/>
                    <a:pt x="85725" y="1114425"/>
                  </a:cubicBezTo>
                  <a:moveTo>
                    <a:pt x="85725" y="1114422"/>
                  </a:moveTo>
                  <a:lnTo>
                    <a:pt x="85725" y="171450"/>
                  </a:lnTo>
                </a:path>
              </a:pathLst>
            </a:custGeom>
            <a:noFill/>
            <a:ln w="1071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7" name="Group 6"/>
          <p:cNvGrpSpPr/>
          <p:nvPr/>
        </p:nvGrpSpPr>
        <p:grpSpPr>
          <a:xfrm>
            <a:off x="7383599" y="2171700"/>
            <a:ext cx="1638300" cy="1579908"/>
            <a:chOff x="4972050" y="942975"/>
            <a:chExt cx="1371600" cy="1285875"/>
          </a:xfrm>
        </p:grpSpPr>
        <p:sp>
          <p:nvSpPr>
            <p:cNvPr id="41" name="Rounded Rectangle 10"/>
            <p:cNvSpPr/>
            <p:nvPr/>
          </p:nvSpPr>
          <p:spPr>
            <a:xfrm>
              <a:off x="4972050" y="942975"/>
              <a:ext cx="1371600" cy="1285875"/>
            </a:xfrm>
            <a:custGeom>
              <a:avLst/>
              <a:gdLst/>
              <a:ahLst/>
              <a:cxnLst/>
              <a:rect l="0" t="0" r="0" b="0"/>
              <a:pathLst>
                <a:path w="1371600" h="1285875">
                  <a:moveTo>
                    <a:pt x="0" y="171450"/>
                  </a:moveTo>
                  <a:cubicBezTo>
                    <a:pt x="0" y="76761"/>
                    <a:pt x="76761" y="0"/>
                    <a:pt x="171450" y="0"/>
                  </a:cubicBezTo>
                  <a:lnTo>
                    <a:pt x="171450" y="85725"/>
                  </a:lnTo>
                  <a:cubicBezTo>
                    <a:pt x="124105" y="85725"/>
                    <a:pt x="85725" y="124105"/>
                    <a:pt x="85725" y="171450"/>
                  </a:cubicBezTo>
                  <a:close/>
                  <a:moveTo>
                    <a:pt x="171450" y="85725"/>
                  </a:moveTo>
                  <a:lnTo>
                    <a:pt x="171450" y="0"/>
                  </a:lnTo>
                  <a:lnTo>
                    <a:pt x="1200150" y="0"/>
                  </a:lnTo>
                  <a:lnTo>
                    <a:pt x="1200150" y="85725"/>
                  </a:lnTo>
                  <a:close/>
                  <a:moveTo>
                    <a:pt x="1200150" y="0"/>
                  </a:moveTo>
                  <a:cubicBezTo>
                    <a:pt x="1294838" y="0"/>
                    <a:pt x="1371600" y="76761"/>
                    <a:pt x="1371600" y="171450"/>
                  </a:cubicBezTo>
                  <a:lnTo>
                    <a:pt x="1285875" y="171450"/>
                  </a:lnTo>
                  <a:cubicBezTo>
                    <a:pt x="1285875" y="124105"/>
                    <a:pt x="1247494" y="85725"/>
                    <a:pt x="1200150" y="85725"/>
                  </a:cubicBezTo>
                  <a:close/>
                  <a:moveTo>
                    <a:pt x="1285875" y="1114425"/>
                  </a:moveTo>
                  <a:lnTo>
                    <a:pt x="1285875" y="171450"/>
                  </a:lnTo>
                  <a:lnTo>
                    <a:pt x="1371600" y="171450"/>
                  </a:lnTo>
                  <a:lnTo>
                    <a:pt x="1371600" y="1114425"/>
                  </a:lnTo>
                  <a:close/>
                  <a:moveTo>
                    <a:pt x="85725" y="171450"/>
                  </a:moveTo>
                  <a:lnTo>
                    <a:pt x="85725" y="1114425"/>
                  </a:lnTo>
                  <a:lnTo>
                    <a:pt x="0" y="1114425"/>
                  </a:lnTo>
                  <a:lnTo>
                    <a:pt x="0" y="171450"/>
                  </a:lnTo>
                  <a:close/>
                  <a:moveTo>
                    <a:pt x="171450" y="1285875"/>
                  </a:moveTo>
                  <a:lnTo>
                    <a:pt x="0" y="1285875"/>
                  </a:lnTo>
                  <a:lnTo>
                    <a:pt x="0" y="1114425"/>
                  </a:lnTo>
                  <a:lnTo>
                    <a:pt x="85725" y="1114425"/>
                  </a:lnTo>
                  <a:cubicBezTo>
                    <a:pt x="85725" y="1161769"/>
                    <a:pt x="124105" y="1200150"/>
                    <a:pt x="171450" y="1200150"/>
                  </a:cubicBezTo>
                  <a:close/>
                  <a:moveTo>
                    <a:pt x="1371600" y="1285875"/>
                  </a:moveTo>
                  <a:lnTo>
                    <a:pt x="1200150" y="1285875"/>
                  </a:lnTo>
                  <a:lnTo>
                    <a:pt x="1200150" y="1200150"/>
                  </a:lnTo>
                  <a:cubicBezTo>
                    <a:pt x="1247494" y="1200150"/>
                    <a:pt x="1285875" y="1161769"/>
                    <a:pt x="1285875" y="1114425"/>
                  </a:cubicBezTo>
                  <a:lnTo>
                    <a:pt x="1371600" y="1114425"/>
                  </a:lnTo>
                  <a:close/>
                  <a:moveTo>
                    <a:pt x="171450" y="1200150"/>
                  </a:moveTo>
                  <a:lnTo>
                    <a:pt x="600075" y="1200150"/>
                  </a:lnTo>
                  <a:lnTo>
                    <a:pt x="665594" y="1265669"/>
                  </a:lnTo>
                  <a:cubicBezTo>
                    <a:pt x="676753" y="1276828"/>
                    <a:pt x="694846" y="1276828"/>
                    <a:pt x="706005" y="1265669"/>
                  </a:cubicBezTo>
                  <a:lnTo>
                    <a:pt x="771525" y="1200150"/>
                  </a:lnTo>
                  <a:lnTo>
                    <a:pt x="1200150" y="1200150"/>
                  </a:lnTo>
                  <a:lnTo>
                    <a:pt x="1200150" y="1285875"/>
                  </a:lnTo>
                  <a:lnTo>
                    <a:pt x="171450" y="1285875"/>
                  </a:lnTo>
                  <a:close/>
                </a:path>
              </a:pathLst>
            </a:custGeom>
            <a:solidFill>
              <a:srgbClr val="DE58A9"/>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2" name="Rounded Rectangle 11"/>
            <p:cNvSpPr/>
            <p:nvPr/>
          </p:nvSpPr>
          <p:spPr>
            <a:xfrm>
              <a:off x="4972050" y="942975"/>
              <a:ext cx="1371600" cy="1285875"/>
            </a:xfrm>
            <a:custGeom>
              <a:avLst/>
              <a:gdLst/>
              <a:ahLst/>
              <a:cxnLst/>
              <a:rect l="0" t="0" r="0" b="0"/>
              <a:pathLst>
                <a:path w="1371600" h="1285875">
                  <a:moveTo>
                    <a:pt x="0" y="171450"/>
                  </a:moveTo>
                  <a:cubicBezTo>
                    <a:pt x="0" y="76761"/>
                    <a:pt x="76761" y="0"/>
                    <a:pt x="171450" y="0"/>
                  </a:cubicBezTo>
                  <a:moveTo>
                    <a:pt x="1200150" y="0"/>
                  </a:moveTo>
                  <a:lnTo>
                    <a:pt x="171450" y="0"/>
                  </a:lnTo>
                  <a:moveTo>
                    <a:pt x="1200150" y="0"/>
                  </a:moveTo>
                  <a:cubicBezTo>
                    <a:pt x="1294838" y="0"/>
                    <a:pt x="1371600" y="76761"/>
                    <a:pt x="1371600" y="171450"/>
                  </a:cubicBezTo>
                  <a:moveTo>
                    <a:pt x="1371600" y="171450"/>
                  </a:moveTo>
                  <a:lnTo>
                    <a:pt x="1371600" y="1285875"/>
                  </a:lnTo>
                  <a:moveTo>
                    <a:pt x="0" y="1285875"/>
                  </a:moveTo>
                  <a:lnTo>
                    <a:pt x="0" y="171450"/>
                  </a:lnTo>
                  <a:moveTo>
                    <a:pt x="85725" y="171450"/>
                  </a:moveTo>
                  <a:cubicBezTo>
                    <a:pt x="85725" y="124105"/>
                    <a:pt x="124105" y="85725"/>
                    <a:pt x="171450" y="85725"/>
                  </a:cubicBezTo>
                  <a:moveTo>
                    <a:pt x="1200150" y="85725"/>
                  </a:moveTo>
                  <a:lnTo>
                    <a:pt x="171450" y="85725"/>
                  </a:lnTo>
                  <a:moveTo>
                    <a:pt x="1200150" y="85725"/>
                  </a:moveTo>
                  <a:cubicBezTo>
                    <a:pt x="1247494" y="85725"/>
                    <a:pt x="1285875" y="124105"/>
                    <a:pt x="1285875" y="171450"/>
                  </a:cubicBezTo>
                  <a:moveTo>
                    <a:pt x="1285875" y="1114422"/>
                  </a:moveTo>
                  <a:lnTo>
                    <a:pt x="1285875" y="171450"/>
                  </a:lnTo>
                  <a:moveTo>
                    <a:pt x="1285875" y="1114425"/>
                  </a:moveTo>
                  <a:cubicBezTo>
                    <a:pt x="1285875" y="1161769"/>
                    <a:pt x="1247494" y="1200150"/>
                    <a:pt x="1200150" y="1200150"/>
                  </a:cubicBezTo>
                  <a:moveTo>
                    <a:pt x="1200150" y="1200150"/>
                  </a:moveTo>
                  <a:lnTo>
                    <a:pt x="771525" y="1200150"/>
                  </a:lnTo>
                  <a:lnTo>
                    <a:pt x="706005" y="1265669"/>
                  </a:lnTo>
                  <a:cubicBezTo>
                    <a:pt x="694846" y="1276828"/>
                    <a:pt x="676753" y="1276828"/>
                    <a:pt x="665594" y="1265669"/>
                  </a:cubicBezTo>
                  <a:lnTo>
                    <a:pt x="600075" y="1200150"/>
                  </a:lnTo>
                  <a:lnTo>
                    <a:pt x="171450" y="1200150"/>
                  </a:lnTo>
                  <a:moveTo>
                    <a:pt x="171450" y="1200150"/>
                  </a:moveTo>
                  <a:cubicBezTo>
                    <a:pt x="124105" y="1200150"/>
                    <a:pt x="85725" y="1161769"/>
                    <a:pt x="85725" y="1114425"/>
                  </a:cubicBezTo>
                  <a:moveTo>
                    <a:pt x="85725" y="1114422"/>
                  </a:moveTo>
                  <a:lnTo>
                    <a:pt x="85725" y="171450"/>
                  </a:lnTo>
                </a:path>
              </a:pathLst>
            </a:custGeom>
            <a:noFill/>
            <a:ln w="1071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8" name="Group 7"/>
          <p:cNvGrpSpPr/>
          <p:nvPr/>
        </p:nvGrpSpPr>
        <p:grpSpPr>
          <a:xfrm>
            <a:off x="9334500" y="2171700"/>
            <a:ext cx="1638300" cy="1579908"/>
            <a:chOff x="6515100" y="942975"/>
            <a:chExt cx="1371600" cy="1285875"/>
          </a:xfrm>
        </p:grpSpPr>
        <p:sp>
          <p:nvSpPr>
            <p:cNvPr id="39" name="Rounded Rectangle 13"/>
            <p:cNvSpPr/>
            <p:nvPr/>
          </p:nvSpPr>
          <p:spPr>
            <a:xfrm>
              <a:off x="6515100" y="942975"/>
              <a:ext cx="1371600" cy="1285875"/>
            </a:xfrm>
            <a:custGeom>
              <a:avLst/>
              <a:gdLst/>
              <a:ahLst/>
              <a:cxnLst/>
              <a:rect l="0" t="0" r="0" b="0"/>
              <a:pathLst>
                <a:path w="1371600" h="1285875">
                  <a:moveTo>
                    <a:pt x="0" y="171450"/>
                  </a:moveTo>
                  <a:cubicBezTo>
                    <a:pt x="0" y="76761"/>
                    <a:pt x="76761" y="0"/>
                    <a:pt x="171450" y="0"/>
                  </a:cubicBezTo>
                  <a:lnTo>
                    <a:pt x="171450" y="85725"/>
                  </a:lnTo>
                  <a:cubicBezTo>
                    <a:pt x="124105" y="85725"/>
                    <a:pt x="85725" y="124105"/>
                    <a:pt x="85725" y="171450"/>
                  </a:cubicBezTo>
                  <a:close/>
                  <a:moveTo>
                    <a:pt x="171450" y="85725"/>
                  </a:moveTo>
                  <a:lnTo>
                    <a:pt x="171450" y="0"/>
                  </a:lnTo>
                  <a:lnTo>
                    <a:pt x="1200150" y="0"/>
                  </a:lnTo>
                  <a:lnTo>
                    <a:pt x="1200150" y="85725"/>
                  </a:lnTo>
                  <a:close/>
                  <a:moveTo>
                    <a:pt x="1200150" y="0"/>
                  </a:moveTo>
                  <a:cubicBezTo>
                    <a:pt x="1294838" y="0"/>
                    <a:pt x="1371600" y="76761"/>
                    <a:pt x="1371600" y="171450"/>
                  </a:cubicBezTo>
                  <a:lnTo>
                    <a:pt x="1285875" y="171450"/>
                  </a:lnTo>
                  <a:cubicBezTo>
                    <a:pt x="1285875" y="124105"/>
                    <a:pt x="1247494" y="85725"/>
                    <a:pt x="1200150" y="85725"/>
                  </a:cubicBezTo>
                  <a:close/>
                  <a:moveTo>
                    <a:pt x="1285875" y="1114425"/>
                  </a:moveTo>
                  <a:lnTo>
                    <a:pt x="1285875" y="171450"/>
                  </a:lnTo>
                  <a:lnTo>
                    <a:pt x="1371600" y="171450"/>
                  </a:lnTo>
                  <a:lnTo>
                    <a:pt x="1371600" y="1114425"/>
                  </a:lnTo>
                  <a:close/>
                  <a:moveTo>
                    <a:pt x="85725" y="171450"/>
                  </a:moveTo>
                  <a:lnTo>
                    <a:pt x="85725" y="1114425"/>
                  </a:lnTo>
                  <a:lnTo>
                    <a:pt x="0" y="1114425"/>
                  </a:lnTo>
                  <a:lnTo>
                    <a:pt x="0" y="171450"/>
                  </a:lnTo>
                  <a:close/>
                  <a:moveTo>
                    <a:pt x="171450" y="1285875"/>
                  </a:moveTo>
                  <a:lnTo>
                    <a:pt x="0" y="1285875"/>
                  </a:lnTo>
                  <a:lnTo>
                    <a:pt x="0" y="1114425"/>
                  </a:lnTo>
                  <a:lnTo>
                    <a:pt x="85725" y="1114425"/>
                  </a:lnTo>
                  <a:cubicBezTo>
                    <a:pt x="85725" y="1161769"/>
                    <a:pt x="124105" y="1200150"/>
                    <a:pt x="171450" y="1200150"/>
                  </a:cubicBezTo>
                  <a:close/>
                  <a:moveTo>
                    <a:pt x="1371600" y="1285875"/>
                  </a:moveTo>
                  <a:lnTo>
                    <a:pt x="1200150" y="1285875"/>
                  </a:lnTo>
                  <a:lnTo>
                    <a:pt x="1200150" y="1200150"/>
                  </a:lnTo>
                  <a:cubicBezTo>
                    <a:pt x="1247494" y="1200150"/>
                    <a:pt x="1285875" y="1161769"/>
                    <a:pt x="1285875" y="1114425"/>
                  </a:cubicBezTo>
                  <a:lnTo>
                    <a:pt x="1371600" y="1114425"/>
                  </a:lnTo>
                  <a:close/>
                  <a:moveTo>
                    <a:pt x="171450" y="1200150"/>
                  </a:moveTo>
                  <a:lnTo>
                    <a:pt x="600075" y="1200150"/>
                  </a:lnTo>
                  <a:lnTo>
                    <a:pt x="665594" y="1265669"/>
                  </a:lnTo>
                  <a:cubicBezTo>
                    <a:pt x="676753" y="1276828"/>
                    <a:pt x="694846" y="1276828"/>
                    <a:pt x="706005" y="1265669"/>
                  </a:cubicBezTo>
                  <a:lnTo>
                    <a:pt x="771525" y="1200150"/>
                  </a:lnTo>
                  <a:lnTo>
                    <a:pt x="1200150" y="1200150"/>
                  </a:lnTo>
                  <a:lnTo>
                    <a:pt x="1200150" y="1285875"/>
                  </a:lnTo>
                  <a:lnTo>
                    <a:pt x="171450" y="1285875"/>
                  </a:lnTo>
                  <a:close/>
                </a:path>
              </a:pathLst>
            </a:custGeom>
            <a:solidFill>
              <a:srgbClr val="BA5DE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0" name="Rounded Rectangle 14"/>
            <p:cNvSpPr/>
            <p:nvPr/>
          </p:nvSpPr>
          <p:spPr>
            <a:xfrm>
              <a:off x="6515100" y="942975"/>
              <a:ext cx="1371600" cy="1285875"/>
            </a:xfrm>
            <a:custGeom>
              <a:avLst/>
              <a:gdLst/>
              <a:ahLst/>
              <a:cxnLst/>
              <a:rect l="0" t="0" r="0" b="0"/>
              <a:pathLst>
                <a:path w="1371600" h="1285875">
                  <a:moveTo>
                    <a:pt x="0" y="171450"/>
                  </a:moveTo>
                  <a:cubicBezTo>
                    <a:pt x="0" y="76761"/>
                    <a:pt x="76761" y="0"/>
                    <a:pt x="171450" y="0"/>
                  </a:cubicBezTo>
                  <a:moveTo>
                    <a:pt x="1200150" y="0"/>
                  </a:moveTo>
                  <a:lnTo>
                    <a:pt x="171450" y="0"/>
                  </a:lnTo>
                  <a:moveTo>
                    <a:pt x="1200150" y="0"/>
                  </a:moveTo>
                  <a:cubicBezTo>
                    <a:pt x="1294838" y="0"/>
                    <a:pt x="1371600" y="76761"/>
                    <a:pt x="1371600" y="171450"/>
                  </a:cubicBezTo>
                  <a:moveTo>
                    <a:pt x="1371600" y="171450"/>
                  </a:moveTo>
                  <a:lnTo>
                    <a:pt x="1371600" y="1285875"/>
                  </a:lnTo>
                  <a:moveTo>
                    <a:pt x="0" y="1285875"/>
                  </a:moveTo>
                  <a:lnTo>
                    <a:pt x="0" y="171450"/>
                  </a:lnTo>
                  <a:moveTo>
                    <a:pt x="85725" y="171450"/>
                  </a:moveTo>
                  <a:cubicBezTo>
                    <a:pt x="85725" y="124105"/>
                    <a:pt x="124105" y="85725"/>
                    <a:pt x="171450" y="85725"/>
                  </a:cubicBezTo>
                  <a:moveTo>
                    <a:pt x="1200150" y="85725"/>
                  </a:moveTo>
                  <a:lnTo>
                    <a:pt x="171450" y="85725"/>
                  </a:lnTo>
                  <a:moveTo>
                    <a:pt x="1200150" y="85725"/>
                  </a:moveTo>
                  <a:cubicBezTo>
                    <a:pt x="1247494" y="85725"/>
                    <a:pt x="1285875" y="124105"/>
                    <a:pt x="1285875" y="171450"/>
                  </a:cubicBezTo>
                  <a:moveTo>
                    <a:pt x="1285875" y="1114422"/>
                  </a:moveTo>
                  <a:lnTo>
                    <a:pt x="1285875" y="171450"/>
                  </a:lnTo>
                  <a:moveTo>
                    <a:pt x="1285875" y="1114425"/>
                  </a:moveTo>
                  <a:cubicBezTo>
                    <a:pt x="1285875" y="1161769"/>
                    <a:pt x="1247494" y="1200150"/>
                    <a:pt x="1200150" y="1200150"/>
                  </a:cubicBezTo>
                  <a:moveTo>
                    <a:pt x="1200150" y="1200150"/>
                  </a:moveTo>
                  <a:lnTo>
                    <a:pt x="771525" y="1200150"/>
                  </a:lnTo>
                  <a:lnTo>
                    <a:pt x="706005" y="1265669"/>
                  </a:lnTo>
                  <a:cubicBezTo>
                    <a:pt x="694846" y="1276828"/>
                    <a:pt x="676753" y="1276828"/>
                    <a:pt x="665594" y="1265669"/>
                  </a:cubicBezTo>
                  <a:lnTo>
                    <a:pt x="600075" y="1200150"/>
                  </a:lnTo>
                  <a:lnTo>
                    <a:pt x="171450" y="1200150"/>
                  </a:lnTo>
                  <a:moveTo>
                    <a:pt x="171450" y="1200150"/>
                  </a:moveTo>
                  <a:cubicBezTo>
                    <a:pt x="124105" y="1200150"/>
                    <a:pt x="85725" y="1161769"/>
                    <a:pt x="85725" y="1114425"/>
                  </a:cubicBezTo>
                  <a:moveTo>
                    <a:pt x="85725" y="1114422"/>
                  </a:moveTo>
                  <a:lnTo>
                    <a:pt x="85725" y="171450"/>
                  </a:lnTo>
                </a:path>
              </a:pathLst>
            </a:custGeom>
            <a:noFill/>
            <a:ln w="1071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9" name="Group 8"/>
          <p:cNvGrpSpPr/>
          <p:nvPr/>
        </p:nvGrpSpPr>
        <p:grpSpPr>
          <a:xfrm>
            <a:off x="1368564" y="3457575"/>
            <a:ext cx="1638300" cy="2422525"/>
            <a:chOff x="342900" y="2228850"/>
            <a:chExt cx="1371600" cy="1971675"/>
          </a:xfrm>
        </p:grpSpPr>
        <p:sp>
          <p:nvSpPr>
            <p:cNvPr id="37" name="Rounded Rectangle 16"/>
            <p:cNvSpPr/>
            <p:nvPr/>
          </p:nvSpPr>
          <p:spPr>
            <a:xfrm>
              <a:off x="342900" y="2228850"/>
              <a:ext cx="1371600" cy="1971675"/>
            </a:xfrm>
            <a:custGeom>
              <a:avLst/>
              <a:gdLst/>
              <a:ahLst/>
              <a:cxnLst/>
              <a:rect l="0" t="0" r="0" b="0"/>
              <a:pathLst>
                <a:path w="1371600" h="1971675">
                  <a:moveTo>
                    <a:pt x="1371600" y="0"/>
                  </a:moveTo>
                  <a:lnTo>
                    <a:pt x="1371600" y="1800225"/>
                  </a:lnTo>
                  <a:lnTo>
                    <a:pt x="0" y="1800225"/>
                  </a:lnTo>
                  <a:lnTo>
                    <a:pt x="0" y="0"/>
                  </a:lnTo>
                  <a:close/>
                  <a:moveTo>
                    <a:pt x="171450" y="1971675"/>
                  </a:moveTo>
                  <a:cubicBezTo>
                    <a:pt x="76761" y="1971675"/>
                    <a:pt x="0" y="1894913"/>
                    <a:pt x="0" y="1800225"/>
                  </a:cubicBezTo>
                  <a:lnTo>
                    <a:pt x="171450" y="1800225"/>
                  </a:lnTo>
                  <a:close/>
                  <a:moveTo>
                    <a:pt x="1200150" y="1971675"/>
                  </a:moveTo>
                  <a:lnTo>
                    <a:pt x="1200150" y="1800225"/>
                  </a:lnTo>
                  <a:lnTo>
                    <a:pt x="1371600" y="1800225"/>
                  </a:lnTo>
                  <a:cubicBezTo>
                    <a:pt x="1371600" y="1894913"/>
                    <a:pt x="1294838" y="1971675"/>
                    <a:pt x="1200150" y="1971675"/>
                  </a:cubicBezTo>
                  <a:close/>
                  <a:moveTo>
                    <a:pt x="171450" y="1971675"/>
                  </a:moveTo>
                  <a:lnTo>
                    <a:pt x="171450" y="1800225"/>
                  </a:lnTo>
                  <a:lnTo>
                    <a:pt x="1200150" y="1800225"/>
                  </a:lnTo>
                  <a:lnTo>
                    <a:pt x="1200150" y="1971675"/>
                  </a:ln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8" name="Rounded Rectangle 17"/>
            <p:cNvSpPr/>
            <p:nvPr/>
          </p:nvSpPr>
          <p:spPr>
            <a:xfrm>
              <a:off x="342900" y="2228850"/>
              <a:ext cx="1371600" cy="1971675"/>
            </a:xfrm>
            <a:custGeom>
              <a:avLst/>
              <a:gdLst/>
              <a:ahLst/>
              <a:cxnLst/>
              <a:rect l="0" t="0" r="0" b="0"/>
              <a:pathLst>
                <a:path w="1371600" h="1971675">
                  <a:moveTo>
                    <a:pt x="1371600" y="1800225"/>
                  </a:moveTo>
                  <a:lnTo>
                    <a:pt x="1371600" y="0"/>
                  </a:lnTo>
                  <a:moveTo>
                    <a:pt x="1371600" y="1800225"/>
                  </a:moveTo>
                  <a:cubicBezTo>
                    <a:pt x="1371600" y="1894913"/>
                    <a:pt x="1294838" y="1971675"/>
                    <a:pt x="1200150" y="1971675"/>
                  </a:cubicBezTo>
                  <a:moveTo>
                    <a:pt x="171450" y="1971675"/>
                  </a:moveTo>
                  <a:lnTo>
                    <a:pt x="600075" y="1971675"/>
                  </a:lnTo>
                  <a:lnTo>
                    <a:pt x="771525" y="1971675"/>
                  </a:lnTo>
                  <a:lnTo>
                    <a:pt x="1200150" y="1971675"/>
                  </a:lnTo>
                  <a:moveTo>
                    <a:pt x="171450" y="1971675"/>
                  </a:moveTo>
                  <a:cubicBezTo>
                    <a:pt x="76761" y="1971675"/>
                    <a:pt x="0" y="1894913"/>
                    <a:pt x="0" y="1800225"/>
                  </a:cubicBezTo>
                  <a:moveTo>
                    <a:pt x="0" y="1800225"/>
                  </a:moveTo>
                  <a:lnTo>
                    <a:pt x="0" y="0"/>
                  </a:lnTo>
                </a:path>
              </a:pathLst>
            </a:custGeom>
            <a:noFill/>
            <a:ln w="1071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0" name="Group 9"/>
          <p:cNvGrpSpPr/>
          <p:nvPr/>
        </p:nvGrpSpPr>
        <p:grpSpPr>
          <a:xfrm>
            <a:off x="3319464" y="3457575"/>
            <a:ext cx="1638300" cy="2422525"/>
            <a:chOff x="1885950" y="2228850"/>
            <a:chExt cx="1371600" cy="1971675"/>
          </a:xfrm>
        </p:grpSpPr>
        <p:sp>
          <p:nvSpPr>
            <p:cNvPr id="35" name="Rounded Rectangle 19"/>
            <p:cNvSpPr/>
            <p:nvPr/>
          </p:nvSpPr>
          <p:spPr>
            <a:xfrm>
              <a:off x="1885950" y="2228850"/>
              <a:ext cx="1371600" cy="1971675"/>
            </a:xfrm>
            <a:custGeom>
              <a:avLst/>
              <a:gdLst/>
              <a:ahLst/>
              <a:cxnLst/>
              <a:rect l="0" t="0" r="0" b="0"/>
              <a:pathLst>
                <a:path w="1371600" h="1971675">
                  <a:moveTo>
                    <a:pt x="1371600" y="0"/>
                  </a:moveTo>
                  <a:lnTo>
                    <a:pt x="1371600" y="1800225"/>
                  </a:lnTo>
                  <a:lnTo>
                    <a:pt x="0" y="1800225"/>
                  </a:lnTo>
                  <a:lnTo>
                    <a:pt x="0" y="0"/>
                  </a:lnTo>
                  <a:close/>
                  <a:moveTo>
                    <a:pt x="171450" y="1971675"/>
                  </a:moveTo>
                  <a:cubicBezTo>
                    <a:pt x="76761" y="1971675"/>
                    <a:pt x="0" y="1894913"/>
                    <a:pt x="0" y="1800225"/>
                  </a:cubicBezTo>
                  <a:lnTo>
                    <a:pt x="171450" y="1800225"/>
                  </a:lnTo>
                  <a:close/>
                  <a:moveTo>
                    <a:pt x="1200150" y="1971675"/>
                  </a:moveTo>
                  <a:lnTo>
                    <a:pt x="1200150" y="1800225"/>
                  </a:lnTo>
                  <a:lnTo>
                    <a:pt x="1371600" y="1800225"/>
                  </a:lnTo>
                  <a:cubicBezTo>
                    <a:pt x="1371600" y="1894913"/>
                    <a:pt x="1294838" y="1971675"/>
                    <a:pt x="1200150" y="1971675"/>
                  </a:cubicBezTo>
                  <a:close/>
                  <a:moveTo>
                    <a:pt x="171450" y="1971675"/>
                  </a:moveTo>
                  <a:lnTo>
                    <a:pt x="171450" y="1800225"/>
                  </a:lnTo>
                  <a:lnTo>
                    <a:pt x="1200150" y="1800225"/>
                  </a:lnTo>
                  <a:lnTo>
                    <a:pt x="1200150" y="1971675"/>
                  </a:ln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6" name="Rounded Rectangle 20"/>
            <p:cNvSpPr/>
            <p:nvPr/>
          </p:nvSpPr>
          <p:spPr>
            <a:xfrm>
              <a:off x="1885950" y="2228850"/>
              <a:ext cx="1371600" cy="1971675"/>
            </a:xfrm>
            <a:custGeom>
              <a:avLst/>
              <a:gdLst/>
              <a:ahLst/>
              <a:cxnLst/>
              <a:rect l="0" t="0" r="0" b="0"/>
              <a:pathLst>
                <a:path w="1371600" h="1971675">
                  <a:moveTo>
                    <a:pt x="1371600" y="1800225"/>
                  </a:moveTo>
                  <a:lnTo>
                    <a:pt x="1371600" y="0"/>
                  </a:lnTo>
                  <a:moveTo>
                    <a:pt x="1371600" y="1800225"/>
                  </a:moveTo>
                  <a:cubicBezTo>
                    <a:pt x="1371600" y="1894913"/>
                    <a:pt x="1294838" y="1971675"/>
                    <a:pt x="1200150" y="1971675"/>
                  </a:cubicBezTo>
                  <a:moveTo>
                    <a:pt x="171450" y="1971675"/>
                  </a:moveTo>
                  <a:lnTo>
                    <a:pt x="600075" y="1971675"/>
                  </a:lnTo>
                  <a:lnTo>
                    <a:pt x="771525" y="1971675"/>
                  </a:lnTo>
                  <a:lnTo>
                    <a:pt x="1200150" y="1971675"/>
                  </a:lnTo>
                  <a:moveTo>
                    <a:pt x="171450" y="1971675"/>
                  </a:moveTo>
                  <a:cubicBezTo>
                    <a:pt x="76761" y="1971675"/>
                    <a:pt x="0" y="1894913"/>
                    <a:pt x="0" y="1800225"/>
                  </a:cubicBezTo>
                  <a:moveTo>
                    <a:pt x="0" y="1800225"/>
                  </a:moveTo>
                  <a:lnTo>
                    <a:pt x="0" y="0"/>
                  </a:lnTo>
                </a:path>
              </a:pathLst>
            </a:custGeom>
            <a:noFill/>
            <a:ln w="1071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1" name="Group 10"/>
          <p:cNvGrpSpPr/>
          <p:nvPr/>
        </p:nvGrpSpPr>
        <p:grpSpPr>
          <a:xfrm>
            <a:off x="5270364" y="3457575"/>
            <a:ext cx="1789128" cy="2422525"/>
            <a:chOff x="3429000" y="2228850"/>
            <a:chExt cx="1371600" cy="1971675"/>
          </a:xfrm>
        </p:grpSpPr>
        <p:sp>
          <p:nvSpPr>
            <p:cNvPr id="33" name="Rounded Rectangle 22"/>
            <p:cNvSpPr/>
            <p:nvPr/>
          </p:nvSpPr>
          <p:spPr>
            <a:xfrm>
              <a:off x="3429000" y="2228850"/>
              <a:ext cx="1371600" cy="1971675"/>
            </a:xfrm>
            <a:custGeom>
              <a:avLst/>
              <a:gdLst/>
              <a:ahLst/>
              <a:cxnLst/>
              <a:rect l="0" t="0" r="0" b="0"/>
              <a:pathLst>
                <a:path w="1371600" h="1971675">
                  <a:moveTo>
                    <a:pt x="1371600" y="0"/>
                  </a:moveTo>
                  <a:lnTo>
                    <a:pt x="1371600" y="1800225"/>
                  </a:lnTo>
                  <a:lnTo>
                    <a:pt x="0" y="1800225"/>
                  </a:lnTo>
                  <a:lnTo>
                    <a:pt x="0" y="0"/>
                  </a:lnTo>
                  <a:close/>
                  <a:moveTo>
                    <a:pt x="171450" y="1971675"/>
                  </a:moveTo>
                  <a:cubicBezTo>
                    <a:pt x="76761" y="1971675"/>
                    <a:pt x="0" y="1894913"/>
                    <a:pt x="0" y="1800225"/>
                  </a:cubicBezTo>
                  <a:lnTo>
                    <a:pt x="171450" y="1800225"/>
                  </a:lnTo>
                  <a:close/>
                  <a:moveTo>
                    <a:pt x="1200150" y="1971675"/>
                  </a:moveTo>
                  <a:lnTo>
                    <a:pt x="1200150" y="1800225"/>
                  </a:lnTo>
                  <a:lnTo>
                    <a:pt x="1371600" y="1800225"/>
                  </a:lnTo>
                  <a:cubicBezTo>
                    <a:pt x="1371600" y="1894913"/>
                    <a:pt x="1294838" y="1971675"/>
                    <a:pt x="1200150" y="1971675"/>
                  </a:cubicBezTo>
                  <a:close/>
                  <a:moveTo>
                    <a:pt x="171450" y="1971675"/>
                  </a:moveTo>
                  <a:lnTo>
                    <a:pt x="171450" y="1800225"/>
                  </a:lnTo>
                  <a:lnTo>
                    <a:pt x="1200150" y="1800225"/>
                  </a:lnTo>
                  <a:lnTo>
                    <a:pt x="1200150" y="1971675"/>
                  </a:lnTo>
                  <a:close/>
                </a:path>
              </a:pathLst>
            </a:custGeom>
            <a:solidFill>
              <a:srgbClr val="E5575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4" name="Rounded Rectangle 23"/>
            <p:cNvSpPr/>
            <p:nvPr/>
          </p:nvSpPr>
          <p:spPr>
            <a:xfrm>
              <a:off x="3429000" y="2228850"/>
              <a:ext cx="1371600" cy="1971675"/>
            </a:xfrm>
            <a:custGeom>
              <a:avLst/>
              <a:gdLst/>
              <a:ahLst/>
              <a:cxnLst/>
              <a:rect l="0" t="0" r="0" b="0"/>
              <a:pathLst>
                <a:path w="1371600" h="1971675">
                  <a:moveTo>
                    <a:pt x="1371600" y="1800225"/>
                  </a:moveTo>
                  <a:lnTo>
                    <a:pt x="1371600" y="0"/>
                  </a:lnTo>
                  <a:moveTo>
                    <a:pt x="1371600" y="1800225"/>
                  </a:moveTo>
                  <a:cubicBezTo>
                    <a:pt x="1371600" y="1894913"/>
                    <a:pt x="1294838" y="1971675"/>
                    <a:pt x="1200150" y="1971675"/>
                  </a:cubicBezTo>
                  <a:moveTo>
                    <a:pt x="171450" y="1971675"/>
                  </a:moveTo>
                  <a:lnTo>
                    <a:pt x="600075" y="1971675"/>
                  </a:lnTo>
                  <a:lnTo>
                    <a:pt x="771525" y="1971675"/>
                  </a:lnTo>
                  <a:lnTo>
                    <a:pt x="1200150" y="1971675"/>
                  </a:lnTo>
                  <a:moveTo>
                    <a:pt x="171450" y="1971675"/>
                  </a:moveTo>
                  <a:cubicBezTo>
                    <a:pt x="76761" y="1971675"/>
                    <a:pt x="0" y="1894913"/>
                    <a:pt x="0" y="1800225"/>
                  </a:cubicBezTo>
                  <a:moveTo>
                    <a:pt x="0" y="1800225"/>
                  </a:moveTo>
                  <a:lnTo>
                    <a:pt x="0" y="0"/>
                  </a:lnTo>
                </a:path>
              </a:pathLst>
            </a:custGeom>
            <a:noFill/>
            <a:ln w="1071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2" name="Group 11"/>
          <p:cNvGrpSpPr/>
          <p:nvPr/>
        </p:nvGrpSpPr>
        <p:grpSpPr>
          <a:xfrm>
            <a:off x="7383599" y="3457575"/>
            <a:ext cx="1638300" cy="2422525"/>
            <a:chOff x="4972050" y="2228850"/>
            <a:chExt cx="1371600" cy="1971675"/>
          </a:xfrm>
        </p:grpSpPr>
        <p:sp>
          <p:nvSpPr>
            <p:cNvPr id="31" name="Rounded Rectangle 25"/>
            <p:cNvSpPr/>
            <p:nvPr/>
          </p:nvSpPr>
          <p:spPr>
            <a:xfrm>
              <a:off x="4972050" y="2228850"/>
              <a:ext cx="1371600" cy="1971675"/>
            </a:xfrm>
            <a:custGeom>
              <a:avLst/>
              <a:gdLst/>
              <a:ahLst/>
              <a:cxnLst/>
              <a:rect l="0" t="0" r="0" b="0"/>
              <a:pathLst>
                <a:path w="1371600" h="1971675">
                  <a:moveTo>
                    <a:pt x="1371600" y="0"/>
                  </a:moveTo>
                  <a:lnTo>
                    <a:pt x="1371600" y="1800225"/>
                  </a:lnTo>
                  <a:lnTo>
                    <a:pt x="0" y="1800225"/>
                  </a:lnTo>
                  <a:lnTo>
                    <a:pt x="0" y="0"/>
                  </a:lnTo>
                  <a:close/>
                  <a:moveTo>
                    <a:pt x="171450" y="1971675"/>
                  </a:moveTo>
                  <a:cubicBezTo>
                    <a:pt x="76761" y="1971675"/>
                    <a:pt x="0" y="1894913"/>
                    <a:pt x="0" y="1800225"/>
                  </a:cubicBezTo>
                  <a:lnTo>
                    <a:pt x="171450" y="1800225"/>
                  </a:lnTo>
                  <a:close/>
                  <a:moveTo>
                    <a:pt x="1200150" y="1971675"/>
                  </a:moveTo>
                  <a:lnTo>
                    <a:pt x="1200150" y="1800225"/>
                  </a:lnTo>
                  <a:lnTo>
                    <a:pt x="1371600" y="1800225"/>
                  </a:lnTo>
                  <a:cubicBezTo>
                    <a:pt x="1371600" y="1894913"/>
                    <a:pt x="1294838" y="1971675"/>
                    <a:pt x="1200150" y="1971675"/>
                  </a:cubicBezTo>
                  <a:close/>
                  <a:moveTo>
                    <a:pt x="171450" y="1971675"/>
                  </a:moveTo>
                  <a:lnTo>
                    <a:pt x="171450" y="1800225"/>
                  </a:lnTo>
                  <a:lnTo>
                    <a:pt x="1200150" y="1800225"/>
                  </a:lnTo>
                  <a:lnTo>
                    <a:pt x="1200150" y="1971675"/>
                  </a:lnTo>
                  <a:close/>
                </a:path>
              </a:pathLst>
            </a:custGeom>
            <a:solidFill>
              <a:srgbClr val="DE58A9"/>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2" name="Rounded Rectangle 26"/>
            <p:cNvSpPr/>
            <p:nvPr/>
          </p:nvSpPr>
          <p:spPr>
            <a:xfrm>
              <a:off x="4972050" y="2228850"/>
              <a:ext cx="1371600" cy="1971675"/>
            </a:xfrm>
            <a:custGeom>
              <a:avLst/>
              <a:gdLst/>
              <a:ahLst/>
              <a:cxnLst/>
              <a:rect l="0" t="0" r="0" b="0"/>
              <a:pathLst>
                <a:path w="1371600" h="1971675">
                  <a:moveTo>
                    <a:pt x="1371600" y="1800225"/>
                  </a:moveTo>
                  <a:lnTo>
                    <a:pt x="1371600" y="0"/>
                  </a:lnTo>
                  <a:moveTo>
                    <a:pt x="1371600" y="1800225"/>
                  </a:moveTo>
                  <a:cubicBezTo>
                    <a:pt x="1371600" y="1894913"/>
                    <a:pt x="1294838" y="1971675"/>
                    <a:pt x="1200150" y="1971675"/>
                  </a:cubicBezTo>
                  <a:moveTo>
                    <a:pt x="171450" y="1971675"/>
                  </a:moveTo>
                  <a:lnTo>
                    <a:pt x="600075" y="1971675"/>
                  </a:lnTo>
                  <a:lnTo>
                    <a:pt x="771525" y="1971675"/>
                  </a:lnTo>
                  <a:lnTo>
                    <a:pt x="1200150" y="1971675"/>
                  </a:lnTo>
                  <a:moveTo>
                    <a:pt x="171450" y="1971675"/>
                  </a:moveTo>
                  <a:cubicBezTo>
                    <a:pt x="76761" y="1971675"/>
                    <a:pt x="0" y="1894913"/>
                    <a:pt x="0" y="1800225"/>
                  </a:cubicBezTo>
                  <a:moveTo>
                    <a:pt x="0" y="1800225"/>
                  </a:moveTo>
                  <a:lnTo>
                    <a:pt x="0" y="0"/>
                  </a:lnTo>
                </a:path>
              </a:pathLst>
            </a:custGeom>
            <a:noFill/>
            <a:ln w="1071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3" name="Group 12"/>
          <p:cNvGrpSpPr/>
          <p:nvPr/>
        </p:nvGrpSpPr>
        <p:grpSpPr>
          <a:xfrm>
            <a:off x="9334500" y="3457575"/>
            <a:ext cx="1638300" cy="2422525"/>
            <a:chOff x="6515100" y="2228850"/>
            <a:chExt cx="1371600" cy="1971675"/>
          </a:xfrm>
        </p:grpSpPr>
        <p:sp>
          <p:nvSpPr>
            <p:cNvPr id="29" name="Rounded Rectangle 28"/>
            <p:cNvSpPr/>
            <p:nvPr/>
          </p:nvSpPr>
          <p:spPr>
            <a:xfrm>
              <a:off x="6515100" y="2228850"/>
              <a:ext cx="1371600" cy="1971675"/>
            </a:xfrm>
            <a:custGeom>
              <a:avLst/>
              <a:gdLst/>
              <a:ahLst/>
              <a:cxnLst/>
              <a:rect l="0" t="0" r="0" b="0"/>
              <a:pathLst>
                <a:path w="1371600" h="1971675">
                  <a:moveTo>
                    <a:pt x="1371600" y="0"/>
                  </a:moveTo>
                  <a:lnTo>
                    <a:pt x="1371600" y="1800225"/>
                  </a:lnTo>
                  <a:lnTo>
                    <a:pt x="0" y="1800225"/>
                  </a:lnTo>
                  <a:lnTo>
                    <a:pt x="0" y="0"/>
                  </a:lnTo>
                  <a:close/>
                  <a:moveTo>
                    <a:pt x="171450" y="1971675"/>
                  </a:moveTo>
                  <a:cubicBezTo>
                    <a:pt x="76761" y="1971675"/>
                    <a:pt x="0" y="1894913"/>
                    <a:pt x="0" y="1800225"/>
                  </a:cubicBezTo>
                  <a:lnTo>
                    <a:pt x="171450" y="1800225"/>
                  </a:lnTo>
                  <a:close/>
                  <a:moveTo>
                    <a:pt x="1200150" y="1971675"/>
                  </a:moveTo>
                  <a:lnTo>
                    <a:pt x="1200150" y="1800225"/>
                  </a:lnTo>
                  <a:lnTo>
                    <a:pt x="1371600" y="1800225"/>
                  </a:lnTo>
                  <a:cubicBezTo>
                    <a:pt x="1371600" y="1894913"/>
                    <a:pt x="1294838" y="1971675"/>
                    <a:pt x="1200150" y="1971675"/>
                  </a:cubicBezTo>
                  <a:close/>
                  <a:moveTo>
                    <a:pt x="171450" y="1971675"/>
                  </a:moveTo>
                  <a:lnTo>
                    <a:pt x="171450" y="1800225"/>
                  </a:lnTo>
                  <a:lnTo>
                    <a:pt x="1200150" y="1800225"/>
                  </a:lnTo>
                  <a:lnTo>
                    <a:pt x="1200150" y="1971675"/>
                  </a:lnTo>
                  <a:close/>
                </a:path>
              </a:pathLst>
            </a:custGeom>
            <a:solidFill>
              <a:srgbClr val="BA5DE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0" name="Rounded Rectangle 29"/>
            <p:cNvSpPr/>
            <p:nvPr/>
          </p:nvSpPr>
          <p:spPr>
            <a:xfrm>
              <a:off x="6515100" y="2228850"/>
              <a:ext cx="1371600" cy="1971675"/>
            </a:xfrm>
            <a:custGeom>
              <a:avLst/>
              <a:gdLst/>
              <a:ahLst/>
              <a:cxnLst/>
              <a:rect l="0" t="0" r="0" b="0"/>
              <a:pathLst>
                <a:path w="1371600" h="1971675">
                  <a:moveTo>
                    <a:pt x="1371600" y="1800225"/>
                  </a:moveTo>
                  <a:lnTo>
                    <a:pt x="1371600" y="0"/>
                  </a:lnTo>
                  <a:moveTo>
                    <a:pt x="1371600" y="1800225"/>
                  </a:moveTo>
                  <a:cubicBezTo>
                    <a:pt x="1371600" y="1894913"/>
                    <a:pt x="1294838" y="1971675"/>
                    <a:pt x="1200150" y="1971675"/>
                  </a:cubicBezTo>
                  <a:moveTo>
                    <a:pt x="171450" y="1971675"/>
                  </a:moveTo>
                  <a:lnTo>
                    <a:pt x="600075" y="1971675"/>
                  </a:lnTo>
                  <a:lnTo>
                    <a:pt x="771525" y="1971675"/>
                  </a:lnTo>
                  <a:lnTo>
                    <a:pt x="1200150" y="1971675"/>
                  </a:lnTo>
                  <a:moveTo>
                    <a:pt x="171450" y="1971675"/>
                  </a:moveTo>
                  <a:cubicBezTo>
                    <a:pt x="76761" y="1971675"/>
                    <a:pt x="0" y="1894913"/>
                    <a:pt x="0" y="1800225"/>
                  </a:cubicBezTo>
                  <a:moveTo>
                    <a:pt x="0" y="1800225"/>
                  </a:moveTo>
                  <a:lnTo>
                    <a:pt x="0" y="0"/>
                  </a:lnTo>
                </a:path>
              </a:pathLst>
            </a:custGeom>
            <a:noFill/>
            <a:ln w="1071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
        <p:nvSpPr>
          <p:cNvPr id="14" name="TextBox 31"/>
          <p:cNvSpPr txBox="1"/>
          <p:nvPr/>
        </p:nvSpPr>
        <p:spPr>
          <a:xfrm>
            <a:off x="1696394" y="2786062"/>
            <a:ext cx="982641"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E0CB15"/>
                </a:solidFill>
                <a:latin typeface="Roboto"/>
              </a:rPr>
              <a:t>Salaries</a:t>
            </a:r>
          </a:p>
        </p:txBody>
      </p:sp>
      <p:sp>
        <p:nvSpPr>
          <p:cNvPr id="15" name="TextBox 32"/>
          <p:cNvSpPr txBox="1"/>
          <p:nvPr/>
        </p:nvSpPr>
        <p:spPr>
          <a:xfrm>
            <a:off x="9582980" y="3554015"/>
            <a:ext cx="1141338" cy="2215991"/>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latin typeface="Roboto"/>
              </a:rPr>
              <a:t>Income not
taxable
under the
first four
heads will
be taxed
under this
head.</a:t>
            </a:r>
          </a:p>
        </p:txBody>
      </p:sp>
      <p:sp>
        <p:nvSpPr>
          <p:cNvPr id="16" name="TextBox 33"/>
          <p:cNvSpPr txBox="1"/>
          <p:nvPr/>
        </p:nvSpPr>
        <p:spPr>
          <a:xfrm>
            <a:off x="5370984" y="2786062"/>
            <a:ext cx="1603533" cy="615553"/>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E55753"/>
                </a:solidFill>
                <a:latin typeface="Roboto"/>
              </a:rPr>
              <a:t>Business or
Profession</a:t>
            </a:r>
          </a:p>
        </p:txBody>
      </p:sp>
      <p:sp>
        <p:nvSpPr>
          <p:cNvPr id="17" name="TextBox 34"/>
          <p:cNvSpPr txBox="1"/>
          <p:nvPr/>
        </p:nvSpPr>
        <p:spPr>
          <a:xfrm>
            <a:off x="7779271" y="2786062"/>
            <a:ext cx="854401" cy="615553"/>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DE58A9"/>
                </a:solidFill>
                <a:latin typeface="Roboto"/>
              </a:rPr>
              <a:t>Capital
Gains</a:t>
            </a:r>
          </a:p>
        </p:txBody>
      </p:sp>
      <p:sp>
        <p:nvSpPr>
          <p:cNvPr id="18" name="TextBox 35"/>
          <p:cNvSpPr txBox="1"/>
          <p:nvPr/>
        </p:nvSpPr>
        <p:spPr>
          <a:xfrm>
            <a:off x="9647100" y="2786062"/>
            <a:ext cx="1013099" cy="615553"/>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BA5DE5"/>
                </a:solidFill>
                <a:latin typeface="Roboto"/>
              </a:rPr>
              <a:t>Other
Sources</a:t>
            </a:r>
          </a:p>
        </p:txBody>
      </p:sp>
      <p:sp>
        <p:nvSpPr>
          <p:cNvPr id="19" name="TextBox 36"/>
          <p:cNvSpPr txBox="1"/>
          <p:nvPr/>
        </p:nvSpPr>
        <p:spPr>
          <a:xfrm>
            <a:off x="1564038" y="3554015"/>
            <a:ext cx="1243930" cy="1661993"/>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latin typeface="Roboto"/>
              </a:rPr>
              <a:t>Salary,
pension etc.
earned is
taxable
under this
head.</a:t>
            </a:r>
          </a:p>
        </p:txBody>
      </p:sp>
      <p:sp>
        <p:nvSpPr>
          <p:cNvPr id="20" name="TextBox 37"/>
          <p:cNvSpPr txBox="1"/>
          <p:nvPr/>
        </p:nvSpPr>
        <p:spPr>
          <a:xfrm>
            <a:off x="3632231" y="3575446"/>
            <a:ext cx="1013098" cy="1384995"/>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latin typeface="Roboto"/>
              </a:rPr>
              <a:t>Rental
income is
taxable
under this
head.</a:t>
            </a:r>
          </a:p>
        </p:txBody>
      </p:sp>
      <p:sp>
        <p:nvSpPr>
          <p:cNvPr id="21" name="TextBox 38"/>
          <p:cNvSpPr txBox="1"/>
          <p:nvPr/>
        </p:nvSpPr>
        <p:spPr>
          <a:xfrm>
            <a:off x="5449464" y="3554015"/>
            <a:ext cx="1470489" cy="2215991"/>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latin typeface="Roboto"/>
              </a:rPr>
              <a:t>Income
derived from
carrying on
any business
or profession
is taxable
under this
head.</a:t>
            </a:r>
          </a:p>
        </p:txBody>
      </p:sp>
      <p:sp>
        <p:nvSpPr>
          <p:cNvPr id="22" name="TextBox 39"/>
          <p:cNvSpPr txBox="1"/>
          <p:nvPr/>
        </p:nvSpPr>
        <p:spPr>
          <a:xfrm>
            <a:off x="7670551" y="3575446"/>
            <a:ext cx="1064395" cy="1938992"/>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latin typeface="Roboto"/>
              </a:rPr>
              <a:t>Profit from
sale of a
capital
asset is
taxable
under this
head.</a:t>
            </a:r>
          </a:p>
        </p:txBody>
      </p:sp>
      <p:sp>
        <p:nvSpPr>
          <p:cNvPr id="23" name="TextBox 41"/>
          <p:cNvSpPr txBox="1"/>
          <p:nvPr/>
        </p:nvSpPr>
        <p:spPr>
          <a:xfrm>
            <a:off x="3613748" y="2786062"/>
            <a:ext cx="1054776" cy="615553"/>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DE8431"/>
                </a:solidFill>
                <a:latin typeface="Roboto"/>
              </a:rPr>
              <a:t>House
Property</a:t>
            </a:r>
          </a:p>
        </p:txBody>
      </p:sp>
      <p:sp>
        <p:nvSpPr>
          <p:cNvPr id="24" name="Rounded Rectangle 42"/>
          <p:cNvSpPr/>
          <p:nvPr/>
        </p:nvSpPr>
        <p:spPr>
          <a:xfrm>
            <a:off x="9992915" y="2346325"/>
            <a:ext cx="321468" cy="310753"/>
          </a:xfrm>
          <a:custGeom>
            <a:avLst/>
            <a:gdLst/>
            <a:ahLst/>
            <a:cxnLst/>
            <a:rect l="0" t="0" r="0" b="0"/>
            <a:pathLst>
              <a:path w="321468" h="310753">
                <a:moveTo>
                  <a:pt x="92211" y="117871"/>
                </a:moveTo>
                <a:lnTo>
                  <a:pt x="227942" y="117871"/>
                </a:lnTo>
                <a:cubicBezTo>
                  <a:pt x="227942" y="117871"/>
                  <a:pt x="245802" y="117871"/>
                  <a:pt x="245802" y="135731"/>
                </a:cubicBezTo>
                <a:lnTo>
                  <a:pt x="245802" y="292893"/>
                </a:lnTo>
                <a:cubicBezTo>
                  <a:pt x="245802" y="292893"/>
                  <a:pt x="245802" y="310753"/>
                  <a:pt x="227942" y="310753"/>
                </a:cubicBezTo>
                <a:lnTo>
                  <a:pt x="92211" y="310753"/>
                </a:lnTo>
                <a:cubicBezTo>
                  <a:pt x="92211" y="310753"/>
                  <a:pt x="74352" y="310753"/>
                  <a:pt x="74352" y="292893"/>
                </a:cubicBezTo>
                <a:lnTo>
                  <a:pt x="74352" y="135731"/>
                </a:lnTo>
                <a:cubicBezTo>
                  <a:pt x="74352" y="135731"/>
                  <a:pt x="74352" y="117871"/>
                  <a:pt x="92211" y="117871"/>
                </a:cubicBezTo>
                <a:moveTo>
                  <a:pt x="160077" y="0"/>
                </a:moveTo>
                <a:lnTo>
                  <a:pt x="160077" y="30961"/>
                </a:lnTo>
                <a:moveTo>
                  <a:pt x="274391" y="47077"/>
                </a:moveTo>
                <a:lnTo>
                  <a:pt x="252502" y="68965"/>
                </a:lnTo>
                <a:moveTo>
                  <a:pt x="321468" y="160734"/>
                </a:moveTo>
                <a:lnTo>
                  <a:pt x="290507" y="160734"/>
                </a:lnTo>
                <a:moveTo>
                  <a:pt x="30961" y="160734"/>
                </a:moveTo>
                <a:lnTo>
                  <a:pt x="0" y="160734"/>
                </a:lnTo>
                <a:moveTo>
                  <a:pt x="68965" y="68965"/>
                </a:moveTo>
                <a:lnTo>
                  <a:pt x="47077" y="47077"/>
                </a:lnTo>
                <a:moveTo>
                  <a:pt x="160077" y="219670"/>
                </a:moveTo>
                <a:cubicBezTo>
                  <a:pt x="174872" y="219670"/>
                  <a:pt x="186866" y="207676"/>
                  <a:pt x="186866" y="192881"/>
                </a:cubicBezTo>
                <a:cubicBezTo>
                  <a:pt x="186866" y="178086"/>
                  <a:pt x="174872" y="166092"/>
                  <a:pt x="160077" y="166092"/>
                </a:cubicBezTo>
                <a:cubicBezTo>
                  <a:pt x="145281" y="166092"/>
                  <a:pt x="133288" y="178086"/>
                  <a:pt x="133288" y="192881"/>
                </a:cubicBezTo>
                <a:moveTo>
                  <a:pt x="160077" y="251817"/>
                </a:moveTo>
                <a:cubicBezTo>
                  <a:pt x="157118" y="251817"/>
                  <a:pt x="154719" y="254215"/>
                  <a:pt x="154719" y="257175"/>
                </a:cubicBezTo>
                <a:cubicBezTo>
                  <a:pt x="154719" y="260134"/>
                  <a:pt x="157118" y="262532"/>
                  <a:pt x="160077" y="262532"/>
                </a:cubicBezTo>
                <a:cubicBezTo>
                  <a:pt x="163036" y="262532"/>
                  <a:pt x="165434" y="260134"/>
                  <a:pt x="165434" y="257175"/>
                </a:cubicBezTo>
                <a:cubicBezTo>
                  <a:pt x="165434" y="254215"/>
                  <a:pt x="163036" y="251817"/>
                  <a:pt x="160077" y="251817"/>
                </a:cubicBezTo>
                <a:lnTo>
                  <a:pt x="160077" y="251817"/>
                </a:lnTo>
              </a:path>
            </a:pathLst>
          </a:custGeom>
          <a:noFill/>
          <a:ln w="10715">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5" name="Rounded Rectangle 43"/>
          <p:cNvSpPr/>
          <p:nvPr/>
        </p:nvSpPr>
        <p:spPr>
          <a:xfrm>
            <a:off x="8036657" y="2330605"/>
            <a:ext cx="332184" cy="332184"/>
          </a:xfrm>
          <a:custGeom>
            <a:avLst/>
            <a:gdLst/>
            <a:ahLst/>
            <a:cxnLst/>
            <a:rect l="0" t="0" r="0" b="0"/>
            <a:pathLst>
              <a:path w="332184" h="332184">
                <a:moveTo>
                  <a:pt x="332184" y="100726"/>
                </a:moveTo>
                <a:lnTo>
                  <a:pt x="187880" y="222170"/>
                </a:lnTo>
                <a:lnTo>
                  <a:pt x="147875" y="175021"/>
                </a:lnTo>
                <a:lnTo>
                  <a:pt x="10715" y="283606"/>
                </a:lnTo>
                <a:moveTo>
                  <a:pt x="0" y="0"/>
                </a:moveTo>
                <a:moveTo>
                  <a:pt x="46434" y="326469"/>
                </a:moveTo>
                <a:lnTo>
                  <a:pt x="46434" y="255277"/>
                </a:lnTo>
                <a:moveTo>
                  <a:pt x="46434" y="210740"/>
                </a:moveTo>
                <a:lnTo>
                  <a:pt x="46434" y="83581"/>
                </a:lnTo>
                <a:moveTo>
                  <a:pt x="117871" y="10715"/>
                </a:moveTo>
                <a:lnTo>
                  <a:pt x="117871" y="140731"/>
                </a:lnTo>
                <a:moveTo>
                  <a:pt x="189309" y="146446"/>
                </a:moveTo>
                <a:lnTo>
                  <a:pt x="189309" y="55006"/>
                </a:lnTo>
                <a:moveTo>
                  <a:pt x="260746" y="55006"/>
                </a:moveTo>
                <a:lnTo>
                  <a:pt x="260746" y="10715"/>
                </a:lnTo>
                <a:moveTo>
                  <a:pt x="0" y="0"/>
                </a:moveTo>
                <a:moveTo>
                  <a:pt x="117871" y="272176"/>
                </a:moveTo>
                <a:lnTo>
                  <a:pt x="117871" y="199132"/>
                </a:lnTo>
                <a:moveTo>
                  <a:pt x="0" y="0"/>
                </a:moveTo>
                <a:moveTo>
                  <a:pt x="189309" y="289321"/>
                </a:moveTo>
                <a:lnTo>
                  <a:pt x="189309" y="221233"/>
                </a:lnTo>
                <a:moveTo>
                  <a:pt x="0" y="0"/>
                </a:moveTo>
                <a:moveTo>
                  <a:pt x="260746" y="332184"/>
                </a:moveTo>
                <a:lnTo>
                  <a:pt x="260746" y="160734"/>
                </a:lnTo>
                <a:moveTo>
                  <a:pt x="267890" y="100726"/>
                </a:moveTo>
                <a:lnTo>
                  <a:pt x="332184" y="100726"/>
                </a:lnTo>
                <a:lnTo>
                  <a:pt x="332184" y="160734"/>
                </a:lnTo>
              </a:path>
            </a:pathLst>
          </a:custGeom>
          <a:noFill/>
          <a:ln w="10715">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6" name="Rounded Rectangle 44"/>
          <p:cNvSpPr/>
          <p:nvPr/>
        </p:nvSpPr>
        <p:spPr>
          <a:xfrm>
            <a:off x="6052133" y="2350502"/>
            <a:ext cx="358865" cy="325569"/>
          </a:xfrm>
          <a:custGeom>
            <a:avLst/>
            <a:gdLst/>
            <a:ahLst/>
            <a:cxnLst/>
            <a:rect l="0" t="0" r="0" b="0"/>
            <a:pathLst>
              <a:path w="328612" h="325569">
                <a:moveTo>
                  <a:pt x="74737" y="313081"/>
                </a:moveTo>
                <a:lnTo>
                  <a:pt x="49434" y="318154"/>
                </a:lnTo>
                <a:lnTo>
                  <a:pt x="0" y="71294"/>
                </a:lnTo>
                <a:lnTo>
                  <a:pt x="188766" y="33489"/>
                </a:lnTo>
                <a:lnTo>
                  <a:pt x="202982" y="104455"/>
                </a:lnTo>
                <a:moveTo>
                  <a:pt x="133659" y="96569"/>
                </a:moveTo>
                <a:lnTo>
                  <a:pt x="163906" y="90511"/>
                </a:lnTo>
                <a:moveTo>
                  <a:pt x="170192" y="125287"/>
                </a:moveTo>
                <a:lnTo>
                  <a:pt x="139931" y="131344"/>
                </a:lnTo>
                <a:moveTo>
                  <a:pt x="61532" y="150541"/>
                </a:moveTo>
                <a:lnTo>
                  <a:pt x="102761" y="142284"/>
                </a:lnTo>
                <a:lnTo>
                  <a:pt x="94504" y="101054"/>
                </a:lnTo>
                <a:lnTo>
                  <a:pt x="53275" y="109311"/>
                </a:lnTo>
                <a:close/>
                <a:moveTo>
                  <a:pt x="248516" y="108799"/>
                </a:moveTo>
                <a:lnTo>
                  <a:pt x="252388" y="7343"/>
                </a:lnTo>
                <a:lnTo>
                  <a:pt x="60007" y="0"/>
                </a:lnTo>
                <a:lnTo>
                  <a:pt x="57721" y="59736"/>
                </a:lnTo>
                <a:moveTo>
                  <a:pt x="129659" y="180951"/>
                </a:moveTo>
                <a:lnTo>
                  <a:pt x="313796" y="180951"/>
                </a:lnTo>
                <a:cubicBezTo>
                  <a:pt x="313796" y="180951"/>
                  <a:pt x="328612" y="180951"/>
                  <a:pt x="328612" y="195767"/>
                </a:cubicBezTo>
                <a:lnTo>
                  <a:pt x="328612" y="310753"/>
                </a:lnTo>
                <a:cubicBezTo>
                  <a:pt x="328612" y="310753"/>
                  <a:pt x="328612" y="325569"/>
                  <a:pt x="313796" y="325569"/>
                </a:cubicBezTo>
                <a:lnTo>
                  <a:pt x="129659" y="325569"/>
                </a:lnTo>
                <a:cubicBezTo>
                  <a:pt x="129659" y="325569"/>
                  <a:pt x="114842" y="325569"/>
                  <a:pt x="114842" y="310753"/>
                </a:cubicBezTo>
                <a:lnTo>
                  <a:pt x="114842" y="195767"/>
                </a:lnTo>
                <a:cubicBezTo>
                  <a:pt x="114842" y="195767"/>
                  <a:pt x="114842" y="180951"/>
                  <a:pt x="129659" y="180951"/>
                </a:cubicBezTo>
                <a:moveTo>
                  <a:pt x="206782" y="243816"/>
                </a:moveTo>
                <a:lnTo>
                  <a:pt x="114842" y="243816"/>
                </a:lnTo>
                <a:moveTo>
                  <a:pt x="328612" y="243816"/>
                </a:moveTo>
                <a:lnTo>
                  <a:pt x="236672" y="243816"/>
                </a:lnTo>
                <a:moveTo>
                  <a:pt x="198810" y="147847"/>
                </a:moveTo>
                <a:lnTo>
                  <a:pt x="244644" y="147847"/>
                </a:lnTo>
                <a:cubicBezTo>
                  <a:pt x="252827" y="147847"/>
                  <a:pt x="259461" y="154480"/>
                  <a:pt x="259461" y="162663"/>
                </a:cubicBezTo>
                <a:lnTo>
                  <a:pt x="259461" y="180951"/>
                </a:lnTo>
                <a:lnTo>
                  <a:pt x="259461" y="180951"/>
                </a:lnTo>
                <a:lnTo>
                  <a:pt x="183994" y="180951"/>
                </a:lnTo>
                <a:lnTo>
                  <a:pt x="183994" y="180951"/>
                </a:lnTo>
                <a:lnTo>
                  <a:pt x="183994" y="162663"/>
                </a:lnTo>
                <a:cubicBezTo>
                  <a:pt x="183994" y="154480"/>
                  <a:pt x="190627" y="147847"/>
                  <a:pt x="198810" y="147847"/>
                </a:cubicBezTo>
                <a:close/>
                <a:moveTo>
                  <a:pt x="214183" y="224956"/>
                </a:moveTo>
                <a:cubicBezTo>
                  <a:pt x="206782" y="224956"/>
                  <a:pt x="206782" y="232357"/>
                  <a:pt x="206782" y="232357"/>
                </a:cubicBezTo>
                <a:lnTo>
                  <a:pt x="206782" y="255274"/>
                </a:lnTo>
                <a:cubicBezTo>
                  <a:pt x="206782" y="262675"/>
                  <a:pt x="214183" y="262675"/>
                  <a:pt x="214183" y="262675"/>
                </a:cubicBezTo>
                <a:lnTo>
                  <a:pt x="229271" y="262675"/>
                </a:lnTo>
                <a:cubicBezTo>
                  <a:pt x="236672" y="262675"/>
                  <a:pt x="236672" y="255274"/>
                  <a:pt x="236672" y="255274"/>
                </a:cubicBezTo>
                <a:lnTo>
                  <a:pt x="236672" y="232357"/>
                </a:lnTo>
                <a:cubicBezTo>
                  <a:pt x="236672" y="224956"/>
                  <a:pt x="229271" y="224956"/>
                  <a:pt x="229271" y="224956"/>
                </a:cubicBezTo>
                <a:lnTo>
                  <a:pt x="214183" y="224956"/>
                </a:lnTo>
              </a:path>
            </a:pathLst>
          </a:custGeom>
          <a:noFill/>
          <a:ln w="10715">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7" name="Rounded Rectangle 45"/>
          <p:cNvSpPr/>
          <p:nvPr/>
        </p:nvSpPr>
        <p:spPr>
          <a:xfrm>
            <a:off x="3970736" y="2350502"/>
            <a:ext cx="335756" cy="341316"/>
          </a:xfrm>
          <a:custGeom>
            <a:avLst/>
            <a:gdLst/>
            <a:ahLst/>
            <a:cxnLst/>
            <a:rect l="0" t="0" r="0" b="0"/>
            <a:pathLst>
              <a:path w="335756" h="341316">
                <a:moveTo>
                  <a:pt x="234457" y="263747"/>
                </a:moveTo>
                <a:cubicBezTo>
                  <a:pt x="227478" y="256785"/>
                  <a:pt x="216179" y="256795"/>
                  <a:pt x="209211" y="263768"/>
                </a:cubicBezTo>
                <a:cubicBezTo>
                  <a:pt x="202244" y="270741"/>
                  <a:pt x="202244" y="282041"/>
                  <a:pt x="209211" y="289014"/>
                </a:cubicBezTo>
                <a:cubicBezTo>
                  <a:pt x="216179" y="295988"/>
                  <a:pt x="227478" y="295997"/>
                  <a:pt x="234457" y="289036"/>
                </a:cubicBezTo>
                <a:cubicBezTo>
                  <a:pt x="241299" y="281994"/>
                  <a:pt x="241299" y="270788"/>
                  <a:pt x="234457" y="263747"/>
                </a:cubicBezTo>
                <a:close/>
                <a:moveTo>
                  <a:pt x="0" y="0"/>
                </a:moveTo>
                <a:moveTo>
                  <a:pt x="251519" y="326021"/>
                </a:moveTo>
                <a:cubicBezTo>
                  <a:pt x="228838" y="341316"/>
                  <a:pt x="198499" y="338394"/>
                  <a:pt x="179154" y="319050"/>
                </a:cubicBezTo>
                <a:cubicBezTo>
                  <a:pt x="159810" y="299705"/>
                  <a:pt x="156888" y="269366"/>
                  <a:pt x="172183" y="246685"/>
                </a:cubicBezTo>
                <a:cubicBezTo>
                  <a:pt x="187479" y="224004"/>
                  <a:pt x="216703" y="215343"/>
                  <a:pt x="241887" y="226028"/>
                </a:cubicBezTo>
                <a:lnTo>
                  <a:pt x="307181" y="164306"/>
                </a:lnTo>
                <a:lnTo>
                  <a:pt x="335756" y="164306"/>
                </a:lnTo>
                <a:lnTo>
                  <a:pt x="335756" y="192881"/>
                </a:lnTo>
                <a:lnTo>
                  <a:pt x="272176" y="256317"/>
                </a:lnTo>
                <a:cubicBezTo>
                  <a:pt x="282861" y="281501"/>
                  <a:pt x="274200" y="310725"/>
                  <a:pt x="251519" y="326021"/>
                </a:cubicBezTo>
                <a:close/>
                <a:moveTo>
                  <a:pt x="135731" y="285750"/>
                </a:moveTo>
                <a:lnTo>
                  <a:pt x="71437" y="285750"/>
                </a:lnTo>
                <a:cubicBezTo>
                  <a:pt x="67492" y="285750"/>
                  <a:pt x="64293" y="282551"/>
                  <a:pt x="64293" y="278606"/>
                </a:cubicBezTo>
                <a:lnTo>
                  <a:pt x="64293" y="98869"/>
                </a:lnTo>
                <a:moveTo>
                  <a:pt x="278606" y="150018"/>
                </a:moveTo>
                <a:lnTo>
                  <a:pt x="278606" y="98869"/>
                </a:lnTo>
                <a:moveTo>
                  <a:pt x="7143" y="150018"/>
                </a:moveTo>
                <a:lnTo>
                  <a:pt x="163306" y="10286"/>
                </a:lnTo>
                <a:cubicBezTo>
                  <a:pt x="167955" y="6171"/>
                  <a:pt x="174944" y="6171"/>
                  <a:pt x="179593" y="10286"/>
                </a:cubicBezTo>
                <a:lnTo>
                  <a:pt x="320754" y="136588"/>
                </a:lnTo>
                <a:moveTo>
                  <a:pt x="157162" y="78581"/>
                </a:moveTo>
                <a:cubicBezTo>
                  <a:pt x="150018" y="78581"/>
                  <a:pt x="150018" y="85725"/>
                  <a:pt x="150018" y="85725"/>
                </a:cubicBezTo>
                <a:lnTo>
                  <a:pt x="150018" y="114300"/>
                </a:lnTo>
                <a:cubicBezTo>
                  <a:pt x="150018" y="121443"/>
                  <a:pt x="157162" y="121443"/>
                  <a:pt x="157162" y="121443"/>
                </a:cubicBezTo>
                <a:lnTo>
                  <a:pt x="185737" y="121443"/>
                </a:lnTo>
                <a:cubicBezTo>
                  <a:pt x="192881" y="121443"/>
                  <a:pt x="192881" y="114300"/>
                  <a:pt x="192881" y="114300"/>
                </a:cubicBezTo>
                <a:lnTo>
                  <a:pt x="192881" y="85725"/>
                </a:lnTo>
                <a:cubicBezTo>
                  <a:pt x="192881" y="78581"/>
                  <a:pt x="185737" y="78581"/>
                  <a:pt x="185737" y="78581"/>
                </a:cubicBezTo>
                <a:lnTo>
                  <a:pt x="157162" y="78581"/>
                </a:lnTo>
              </a:path>
            </a:pathLst>
          </a:custGeom>
          <a:noFill/>
          <a:ln w="10715">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8" name="Rounded Rectangle 46"/>
          <p:cNvSpPr/>
          <p:nvPr/>
        </p:nvSpPr>
        <p:spPr>
          <a:xfrm>
            <a:off x="2082416" y="2350502"/>
            <a:ext cx="210597" cy="329598"/>
          </a:xfrm>
          <a:custGeom>
            <a:avLst/>
            <a:gdLst/>
            <a:ahLst/>
            <a:cxnLst/>
            <a:rect l="0" t="0" r="0" b="0"/>
            <a:pathLst>
              <a:path w="210597" h="329598">
                <a:moveTo>
                  <a:pt x="98155" y="57150"/>
                </a:moveTo>
                <a:lnTo>
                  <a:pt x="70437" y="10858"/>
                </a:lnTo>
                <a:cubicBezTo>
                  <a:pt x="69073" y="8621"/>
                  <a:pt x="69073" y="5809"/>
                  <a:pt x="70437" y="3571"/>
                </a:cubicBezTo>
                <a:cubicBezTo>
                  <a:pt x="71773" y="1373"/>
                  <a:pt x="74151" y="21"/>
                  <a:pt x="76723" y="0"/>
                </a:cubicBezTo>
                <a:lnTo>
                  <a:pt x="166020" y="0"/>
                </a:lnTo>
                <a:cubicBezTo>
                  <a:pt x="168542" y="70"/>
                  <a:pt x="170855" y="1415"/>
                  <a:pt x="172164" y="3571"/>
                </a:cubicBezTo>
                <a:cubicBezTo>
                  <a:pt x="173384" y="5796"/>
                  <a:pt x="173384" y="8490"/>
                  <a:pt x="172164" y="10715"/>
                </a:cubicBezTo>
                <a:lnTo>
                  <a:pt x="144875" y="57150"/>
                </a:lnTo>
                <a:moveTo>
                  <a:pt x="151304" y="142875"/>
                </a:moveTo>
                <a:cubicBezTo>
                  <a:pt x="163448" y="152733"/>
                  <a:pt x="210597" y="184737"/>
                  <a:pt x="210597" y="242887"/>
                </a:cubicBezTo>
                <a:cubicBezTo>
                  <a:pt x="210597" y="289893"/>
                  <a:pt x="165877" y="328612"/>
                  <a:pt x="116871" y="328612"/>
                </a:cubicBezTo>
                <a:cubicBezTo>
                  <a:pt x="68099" y="329598"/>
                  <a:pt x="27389" y="291611"/>
                  <a:pt x="25003" y="242887"/>
                </a:cubicBezTo>
                <a:cubicBezTo>
                  <a:pt x="25003" y="182308"/>
                  <a:pt x="73152" y="150590"/>
                  <a:pt x="84439" y="142875"/>
                </a:cubicBezTo>
                <a:moveTo>
                  <a:pt x="0" y="42862"/>
                </a:moveTo>
                <a:lnTo>
                  <a:pt x="28575" y="42862"/>
                </a:lnTo>
                <a:cubicBezTo>
                  <a:pt x="30505" y="42734"/>
                  <a:pt x="32398" y="43446"/>
                  <a:pt x="33766" y="44814"/>
                </a:cubicBezTo>
                <a:cubicBezTo>
                  <a:pt x="35134" y="46183"/>
                  <a:pt x="35846" y="48075"/>
                  <a:pt x="35718" y="50006"/>
                </a:cubicBezTo>
                <a:lnTo>
                  <a:pt x="35718" y="135731"/>
                </a:lnTo>
                <a:cubicBezTo>
                  <a:pt x="35846" y="137662"/>
                  <a:pt x="35134" y="139554"/>
                  <a:pt x="33766" y="140922"/>
                </a:cubicBezTo>
                <a:cubicBezTo>
                  <a:pt x="32398" y="142291"/>
                  <a:pt x="30505" y="143002"/>
                  <a:pt x="28575" y="142875"/>
                </a:cubicBezTo>
                <a:lnTo>
                  <a:pt x="0" y="142875"/>
                </a:lnTo>
                <a:moveTo>
                  <a:pt x="80438" y="27289"/>
                </a:moveTo>
                <a:lnTo>
                  <a:pt x="64293" y="50006"/>
                </a:lnTo>
                <a:cubicBezTo>
                  <a:pt x="60787" y="54340"/>
                  <a:pt x="55577" y="56945"/>
                  <a:pt x="50006" y="57150"/>
                </a:cubicBezTo>
                <a:lnTo>
                  <a:pt x="35718" y="57150"/>
                </a:lnTo>
                <a:moveTo>
                  <a:pt x="98155" y="57150"/>
                </a:moveTo>
                <a:lnTo>
                  <a:pt x="164306" y="57150"/>
                </a:lnTo>
                <a:cubicBezTo>
                  <a:pt x="178593" y="57150"/>
                  <a:pt x="185737" y="64293"/>
                  <a:pt x="185737" y="71437"/>
                </a:cubicBezTo>
                <a:cubicBezTo>
                  <a:pt x="185737" y="71437"/>
                  <a:pt x="178593" y="107156"/>
                  <a:pt x="171450" y="128587"/>
                </a:cubicBezTo>
                <a:cubicBezTo>
                  <a:pt x="166878" y="142160"/>
                  <a:pt x="164306" y="142875"/>
                  <a:pt x="150018" y="142875"/>
                </a:cubicBezTo>
                <a:lnTo>
                  <a:pt x="92868" y="142875"/>
                </a:lnTo>
                <a:cubicBezTo>
                  <a:pt x="76009" y="142875"/>
                  <a:pt x="64293" y="135731"/>
                  <a:pt x="35718" y="121443"/>
                </a:cubicBezTo>
                <a:moveTo>
                  <a:pt x="117729" y="271462"/>
                </a:moveTo>
                <a:lnTo>
                  <a:pt x="117729" y="257175"/>
                </a:lnTo>
                <a:moveTo>
                  <a:pt x="117729" y="185737"/>
                </a:moveTo>
                <a:lnTo>
                  <a:pt x="117729" y="200025"/>
                </a:lnTo>
                <a:moveTo>
                  <a:pt x="146304" y="200025"/>
                </a:moveTo>
                <a:lnTo>
                  <a:pt x="103441" y="200025"/>
                </a:lnTo>
                <a:cubicBezTo>
                  <a:pt x="95550" y="200025"/>
                  <a:pt x="89154" y="206421"/>
                  <a:pt x="89154" y="214312"/>
                </a:cubicBezTo>
                <a:cubicBezTo>
                  <a:pt x="89154" y="222203"/>
                  <a:pt x="95550" y="228600"/>
                  <a:pt x="103441" y="228600"/>
                </a:cubicBezTo>
                <a:lnTo>
                  <a:pt x="132016" y="228600"/>
                </a:lnTo>
                <a:cubicBezTo>
                  <a:pt x="139907" y="228600"/>
                  <a:pt x="146304" y="234996"/>
                  <a:pt x="146304" y="242887"/>
                </a:cubicBezTo>
                <a:cubicBezTo>
                  <a:pt x="146304" y="250778"/>
                  <a:pt x="139907" y="257175"/>
                  <a:pt x="132016" y="257175"/>
                </a:cubicBezTo>
                <a:lnTo>
                  <a:pt x="89154" y="257175"/>
                </a:lnTo>
              </a:path>
            </a:pathLst>
          </a:custGeom>
          <a:noFill/>
          <a:ln w="10715">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Tree>
    <p:extLst>
      <p:ext uri="{BB962C8B-B14F-4D97-AF65-F5344CB8AC3E}">
        <p14:creationId xmlns:p14="http://schemas.microsoft.com/office/powerpoint/2010/main" val="333228100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E26A43D-FAF9-F00E-3000-0F2A882246A3}"/>
              </a:ext>
            </a:extLst>
          </p:cNvPr>
          <p:cNvSpPr txBox="1">
            <a:spLocks/>
          </p:cNvSpPr>
          <p:nvPr/>
        </p:nvSpPr>
        <p:spPr>
          <a:xfrm>
            <a:off x="341790" y="0"/>
            <a:ext cx="9601200" cy="7822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u="sng" dirty="0">
                <a:latin typeface="+mn-lt"/>
                <a:cs typeface="Times New Roman" panose="02020603050405020304" pitchFamily="18" charset="0"/>
              </a:rPr>
              <a:t>Income from Salary:</a:t>
            </a:r>
          </a:p>
        </p:txBody>
      </p:sp>
      <p:sp>
        <p:nvSpPr>
          <p:cNvPr id="6" name="Content Placeholder 2">
            <a:extLst>
              <a:ext uri="{FF2B5EF4-FFF2-40B4-BE49-F238E27FC236}">
                <a16:creationId xmlns:a16="http://schemas.microsoft.com/office/drawing/2014/main" id="{BC70F2B7-AF1C-F280-FCD3-CB80E35B685A}"/>
              </a:ext>
            </a:extLst>
          </p:cNvPr>
          <p:cNvSpPr txBox="1">
            <a:spLocks/>
          </p:cNvSpPr>
          <p:nvPr/>
        </p:nvSpPr>
        <p:spPr>
          <a:xfrm>
            <a:off x="257452" y="782221"/>
            <a:ext cx="11592758" cy="5885279"/>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cs typeface="Times New Roman" panose="02020603050405020304" pitchFamily="18" charset="0"/>
              </a:rPr>
              <a:t>"Salary is the payment received by an individual for rendering services under an employer-employee relationship.“</a:t>
            </a:r>
          </a:p>
          <a:p>
            <a:pPr algn="just"/>
            <a:r>
              <a:rPr lang="en-US" dirty="0">
                <a:cs typeface="Times New Roman" panose="02020603050405020304" pitchFamily="18" charset="0"/>
              </a:rPr>
              <a:t>Section </a:t>
            </a:r>
            <a:r>
              <a:rPr lang="en-US" b="1" dirty="0">
                <a:cs typeface="Times New Roman" panose="02020603050405020304" pitchFamily="18" charset="0"/>
              </a:rPr>
              <a:t>15 to 17</a:t>
            </a:r>
            <a:r>
              <a:rPr lang="en-US" dirty="0">
                <a:cs typeface="Times New Roman" panose="02020603050405020304" pitchFamily="18" charset="0"/>
              </a:rPr>
              <a:t> of the </a:t>
            </a:r>
            <a:r>
              <a:rPr lang="en-US" b="1" dirty="0">
                <a:cs typeface="Times New Roman" panose="02020603050405020304" pitchFamily="18" charset="0"/>
              </a:rPr>
              <a:t>Income Tax Act, 1961</a:t>
            </a:r>
            <a:r>
              <a:rPr lang="en-US" dirty="0">
                <a:cs typeface="Times New Roman" panose="02020603050405020304" pitchFamily="18" charset="0"/>
              </a:rPr>
              <a:t> governs </a:t>
            </a:r>
            <a:r>
              <a:rPr lang="en-US" b="1" dirty="0">
                <a:cs typeface="Times New Roman" panose="02020603050405020304" pitchFamily="18" charset="0"/>
              </a:rPr>
              <a:t>Income from Salary</a:t>
            </a:r>
            <a:r>
              <a:rPr lang="en-US" dirty="0">
                <a:cs typeface="Times New Roman" panose="02020603050405020304" pitchFamily="18" charset="0"/>
              </a:rPr>
              <a:t>.</a:t>
            </a:r>
          </a:p>
          <a:p>
            <a:pPr marL="0" indent="0" algn="just">
              <a:lnSpc>
                <a:spcPct val="150000"/>
              </a:lnSpc>
              <a:buFont typeface="Arial" panose="020B0604020202020204" pitchFamily="34" charset="0"/>
              <a:buNone/>
            </a:pPr>
            <a:r>
              <a:rPr lang="en-US" sz="3600" b="1" dirty="0">
                <a:cs typeface="Times New Roman" panose="02020603050405020304" pitchFamily="18" charset="0"/>
              </a:rPr>
              <a:t>Components of the salary:</a:t>
            </a:r>
          </a:p>
          <a:p>
            <a:pPr marL="457200" indent="-457200" algn="just">
              <a:buFont typeface="Arial" panose="020B0604020202020204" pitchFamily="34" charset="0"/>
              <a:buAutoNum type="arabicPeriod"/>
            </a:pPr>
            <a:r>
              <a:rPr lang="en-US" sz="2400" b="1" dirty="0">
                <a:cs typeface="Times New Roman" panose="02020603050405020304" pitchFamily="18" charset="0"/>
              </a:rPr>
              <a:t>Basic Salary:</a:t>
            </a:r>
          </a:p>
          <a:p>
            <a:pPr marL="0" indent="0" algn="just">
              <a:buFont typeface="Arial" panose="020B0604020202020204" pitchFamily="34" charset="0"/>
              <a:buNone/>
            </a:pPr>
            <a:r>
              <a:rPr lang="en-US" sz="2000" dirty="0">
                <a:cs typeface="Times New Roman" panose="02020603050405020304" pitchFamily="18" charset="0"/>
              </a:rPr>
              <a:t>Fixed Monthly Pay = Fully Taxable</a:t>
            </a:r>
          </a:p>
          <a:p>
            <a:pPr marL="457200" indent="-457200" algn="just">
              <a:buFont typeface="Arial" panose="020B0604020202020204" pitchFamily="34" charset="0"/>
              <a:buAutoNum type="arabicPeriod" startAt="2"/>
            </a:pPr>
            <a:r>
              <a:rPr lang="en-US" sz="2400" b="1" dirty="0">
                <a:cs typeface="Times New Roman" panose="02020603050405020304" pitchFamily="18" charset="0"/>
              </a:rPr>
              <a:t>Allowances: </a:t>
            </a:r>
          </a:p>
          <a:p>
            <a:pPr algn="just"/>
            <a:r>
              <a:rPr lang="en-US" sz="2200" dirty="0">
                <a:cs typeface="Times New Roman" panose="02020603050405020304" pitchFamily="18" charset="0"/>
              </a:rPr>
              <a:t>HRA (House Rent Allowance</a:t>
            </a:r>
          </a:p>
          <a:p>
            <a:pPr algn="just"/>
            <a:r>
              <a:rPr lang="en-US" sz="2200" dirty="0">
                <a:cs typeface="Times New Roman" panose="02020603050405020304" pitchFamily="18" charset="0"/>
              </a:rPr>
              <a:t>DA (Dearness Allowance</a:t>
            </a:r>
          </a:p>
          <a:p>
            <a:pPr algn="just"/>
            <a:r>
              <a:rPr lang="en-US" sz="2200" dirty="0">
                <a:cs typeface="Times New Roman" panose="02020603050405020304" pitchFamily="18" charset="0"/>
              </a:rPr>
              <a:t>Transport Allowance </a:t>
            </a:r>
          </a:p>
          <a:p>
            <a:pPr algn="just"/>
            <a:r>
              <a:rPr lang="en-US" sz="2200" dirty="0">
                <a:cs typeface="Times New Roman" panose="02020603050405020304" pitchFamily="18" charset="0"/>
              </a:rPr>
              <a:t>Children Education Allowance</a:t>
            </a:r>
            <a:endParaRPr lang="en-US" sz="2400" b="1" dirty="0">
              <a:cs typeface="Times New Roman" panose="02020603050405020304" pitchFamily="18" charset="0"/>
            </a:endParaRPr>
          </a:p>
        </p:txBody>
      </p:sp>
      <p:sp>
        <p:nvSpPr>
          <p:cNvPr id="7" name="TextBox 6">
            <a:extLst>
              <a:ext uri="{FF2B5EF4-FFF2-40B4-BE49-F238E27FC236}">
                <a16:creationId xmlns:a16="http://schemas.microsoft.com/office/drawing/2014/main" id="{17BD5BB3-60F9-25E8-6FCA-056DB6E55190}"/>
              </a:ext>
            </a:extLst>
          </p:cNvPr>
          <p:cNvSpPr txBox="1"/>
          <p:nvPr/>
        </p:nvSpPr>
        <p:spPr>
          <a:xfrm>
            <a:off x="5697614" y="3001269"/>
            <a:ext cx="4991100" cy="3785652"/>
          </a:xfrm>
          <a:prstGeom prst="rect">
            <a:avLst/>
          </a:prstGeom>
          <a:noFill/>
        </p:spPr>
        <p:txBody>
          <a:bodyPr wrap="square" rtlCol="0">
            <a:spAutoFit/>
          </a:bodyPr>
          <a:lstStyle/>
          <a:p>
            <a:r>
              <a:rPr lang="en-US" sz="2400" b="1" dirty="0">
                <a:cs typeface="Times New Roman" panose="02020603050405020304" pitchFamily="18" charset="0"/>
              </a:rPr>
              <a:t>3.  Perquisites &amp; Benefits:</a:t>
            </a:r>
          </a:p>
          <a:p>
            <a:pPr marL="342900" indent="-342900">
              <a:lnSpc>
                <a:spcPct val="150000"/>
              </a:lnSpc>
              <a:buFont typeface="Wingdings" panose="05000000000000000000" pitchFamily="2" charset="2"/>
              <a:buChar char="§"/>
            </a:pPr>
            <a:r>
              <a:rPr lang="en-US" sz="2200" dirty="0">
                <a:cs typeface="Times New Roman" panose="02020603050405020304" pitchFamily="18" charset="0"/>
              </a:rPr>
              <a:t>Rent-free Accommodation </a:t>
            </a:r>
          </a:p>
          <a:p>
            <a:pPr marL="342900" indent="-342900">
              <a:lnSpc>
                <a:spcPct val="150000"/>
              </a:lnSpc>
              <a:buFont typeface="Wingdings" panose="05000000000000000000" pitchFamily="2" charset="2"/>
              <a:buChar char="§"/>
            </a:pPr>
            <a:r>
              <a:rPr lang="en-US" sz="2200" dirty="0">
                <a:cs typeface="Times New Roman" panose="02020603050405020304" pitchFamily="18" charset="0"/>
              </a:rPr>
              <a:t>Motor Car Facility </a:t>
            </a:r>
          </a:p>
          <a:p>
            <a:pPr marL="342900" indent="-342900">
              <a:lnSpc>
                <a:spcPct val="150000"/>
              </a:lnSpc>
              <a:buFont typeface="Wingdings" panose="05000000000000000000" pitchFamily="2" charset="2"/>
              <a:buChar char="§"/>
            </a:pPr>
            <a:r>
              <a:rPr lang="en-US" sz="2200" dirty="0">
                <a:cs typeface="Times New Roman" panose="02020603050405020304" pitchFamily="18" charset="0"/>
              </a:rPr>
              <a:t>Employee Stock Options (ESOPs) </a:t>
            </a:r>
          </a:p>
          <a:p>
            <a:pPr marL="342900" indent="-342900">
              <a:lnSpc>
                <a:spcPct val="150000"/>
              </a:lnSpc>
              <a:buFont typeface="Wingdings" panose="05000000000000000000" pitchFamily="2" charset="2"/>
              <a:buChar char="§"/>
            </a:pPr>
            <a:r>
              <a:rPr lang="en-US" sz="2200" dirty="0">
                <a:cs typeface="Times New Roman" panose="02020603050405020304" pitchFamily="18" charset="0"/>
              </a:rPr>
              <a:t>Interest-free/Concessional Loans </a:t>
            </a:r>
          </a:p>
          <a:p>
            <a:pPr marL="342900" indent="-342900">
              <a:lnSpc>
                <a:spcPct val="150000"/>
              </a:lnSpc>
              <a:buFont typeface="Wingdings" panose="05000000000000000000" pitchFamily="2" charset="2"/>
              <a:buChar char="§"/>
            </a:pPr>
            <a:r>
              <a:rPr lang="en-US" sz="2200" dirty="0">
                <a:cs typeface="Times New Roman" panose="02020603050405020304" pitchFamily="18" charset="0"/>
              </a:rPr>
              <a:t>Club/Meal/Refreshment Facility </a:t>
            </a:r>
          </a:p>
          <a:p>
            <a:pPr marL="342900" indent="-342900">
              <a:lnSpc>
                <a:spcPct val="150000"/>
              </a:lnSpc>
              <a:buFont typeface="Wingdings" panose="05000000000000000000" pitchFamily="2" charset="2"/>
              <a:buChar char="§"/>
            </a:pPr>
            <a:r>
              <a:rPr lang="en-US" sz="2200" dirty="0">
                <a:cs typeface="Times New Roman" panose="02020603050405020304" pitchFamily="18" charset="0"/>
              </a:rPr>
              <a:t>Medical Insurance by Employer </a:t>
            </a:r>
          </a:p>
          <a:p>
            <a:endParaRPr lang="en-US" dirty="0"/>
          </a:p>
        </p:txBody>
      </p:sp>
    </p:spTree>
    <p:extLst>
      <p:ext uri="{BB962C8B-B14F-4D97-AF65-F5344CB8AC3E}">
        <p14:creationId xmlns:p14="http://schemas.microsoft.com/office/powerpoint/2010/main" val="266011149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1677" y="243388"/>
            <a:ext cx="9601200" cy="704294"/>
          </a:xfrm>
        </p:spPr>
        <p:txBody>
          <a:bodyPr>
            <a:normAutofit/>
          </a:bodyPr>
          <a:lstStyle/>
          <a:p>
            <a:pPr marL="0" indent="0" algn="just">
              <a:buNone/>
            </a:pPr>
            <a:r>
              <a:rPr lang="en-US" sz="3600" b="1" dirty="0">
                <a:cs typeface="Times New Roman" panose="02020603050405020304" pitchFamily="18" charset="0"/>
              </a:rPr>
              <a:t>Other Inclusions: </a:t>
            </a:r>
          </a:p>
        </p:txBody>
      </p:sp>
      <p:grpSp>
        <p:nvGrpSpPr>
          <p:cNvPr id="2" name="Group 1">
            <a:extLst>
              <a:ext uri="{FF2B5EF4-FFF2-40B4-BE49-F238E27FC236}">
                <a16:creationId xmlns:a16="http://schemas.microsoft.com/office/drawing/2014/main" id="{68D01418-31C7-2CF1-05FD-6084296F87F1}"/>
              </a:ext>
            </a:extLst>
          </p:cNvPr>
          <p:cNvGrpSpPr/>
          <p:nvPr/>
        </p:nvGrpSpPr>
        <p:grpSpPr>
          <a:xfrm>
            <a:off x="1986820" y="1180731"/>
            <a:ext cx="8536514" cy="4964060"/>
            <a:chOff x="2041726" y="1823796"/>
            <a:chExt cx="7641318" cy="4288081"/>
          </a:xfrm>
        </p:grpSpPr>
        <p:grpSp>
          <p:nvGrpSpPr>
            <p:cNvPr id="4" name="Group 3"/>
            <p:cNvGrpSpPr/>
            <p:nvPr/>
          </p:nvGrpSpPr>
          <p:grpSpPr>
            <a:xfrm>
              <a:off x="4610880" y="2413640"/>
              <a:ext cx="1133313" cy="1206664"/>
              <a:chOff x="1880461" y="1916240"/>
              <a:chExt cx="1133313" cy="1206664"/>
            </a:xfrm>
          </p:grpSpPr>
          <p:sp>
            <p:nvSpPr>
              <p:cNvPr id="32" name="Rounded Rectangle 1"/>
              <p:cNvSpPr/>
              <p:nvPr/>
            </p:nvSpPr>
            <p:spPr>
              <a:xfrm>
                <a:off x="1880461" y="1916240"/>
                <a:ext cx="1133313" cy="1206664"/>
              </a:xfrm>
              <a:custGeom>
                <a:avLst/>
                <a:gdLst/>
                <a:ahLst/>
                <a:cxnLst/>
                <a:rect l="0" t="0" r="0" b="0"/>
                <a:pathLst>
                  <a:path w="1133313" h="1206664">
                    <a:moveTo>
                      <a:pt x="486043" y="189108"/>
                    </a:moveTo>
                    <a:cubicBezTo>
                      <a:pt x="682006" y="64331"/>
                      <a:pt x="899845" y="0"/>
                      <a:pt x="1133313" y="1993"/>
                    </a:cubicBezTo>
                    <a:lnTo>
                      <a:pt x="1133313" y="316803"/>
                    </a:lnTo>
                    <a:cubicBezTo>
                      <a:pt x="947887" y="315218"/>
                      <a:pt x="775684" y="368967"/>
                      <a:pt x="623958" y="474939"/>
                    </a:cubicBezTo>
                    <a:cubicBezTo>
                      <a:pt x="472232" y="580912"/>
                      <a:pt x="355765" y="730088"/>
                      <a:pt x="293822" y="904447"/>
                    </a:cubicBezTo>
                    <a:lnTo>
                      <a:pt x="0" y="799510"/>
                    </a:lnTo>
                    <a:cubicBezTo>
                      <a:pt x="77244" y="582084"/>
                      <a:pt x="214650" y="392564"/>
                      <a:pt x="396600" y="251950"/>
                    </a:cubicBezTo>
                    <a:lnTo>
                      <a:pt x="377055" y="132114"/>
                    </a:lnTo>
                    <a:close/>
                    <a:moveTo>
                      <a:pt x="952822" y="1135307"/>
                    </a:moveTo>
                    <a:cubicBezTo>
                      <a:pt x="969612" y="1093332"/>
                      <a:pt x="989548" y="1067368"/>
                      <a:pt x="1024179" y="1042963"/>
                    </a:cubicBezTo>
                    <a:cubicBezTo>
                      <a:pt x="1058810" y="1018556"/>
                      <a:pt x="1090946" y="1005219"/>
                      <a:pt x="1133313" y="1005186"/>
                    </a:cubicBezTo>
                    <a:lnTo>
                      <a:pt x="1133313" y="1206664"/>
                    </a:lnTo>
                    <a:close/>
                  </a:path>
                </a:pathLst>
              </a:custGeom>
              <a:solidFill>
                <a:srgbClr val="BA5DE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3" name="Rounded Rectangle 2"/>
              <p:cNvSpPr/>
              <p:nvPr/>
            </p:nvSpPr>
            <p:spPr>
              <a:xfrm>
                <a:off x="1880461" y="1916240"/>
                <a:ext cx="1133313" cy="1206664"/>
              </a:xfrm>
              <a:custGeom>
                <a:avLst/>
                <a:gdLst/>
                <a:ahLst/>
                <a:cxnLst/>
                <a:rect l="0" t="0" r="0" b="0"/>
                <a:pathLst>
                  <a:path w="1133313" h="1206664">
                    <a:moveTo>
                      <a:pt x="486043" y="189108"/>
                    </a:moveTo>
                    <a:cubicBezTo>
                      <a:pt x="682006" y="64331"/>
                      <a:pt x="899845" y="0"/>
                      <a:pt x="1133313" y="1993"/>
                    </a:cubicBezTo>
                    <a:lnTo>
                      <a:pt x="1133313" y="316803"/>
                    </a:lnTo>
                    <a:cubicBezTo>
                      <a:pt x="947887" y="315218"/>
                      <a:pt x="775684" y="368967"/>
                      <a:pt x="623958" y="474939"/>
                    </a:cubicBezTo>
                    <a:cubicBezTo>
                      <a:pt x="472232" y="580912"/>
                      <a:pt x="355765" y="730088"/>
                      <a:pt x="293822" y="904447"/>
                    </a:cubicBezTo>
                    <a:lnTo>
                      <a:pt x="0" y="799510"/>
                    </a:lnTo>
                    <a:cubicBezTo>
                      <a:pt x="77244" y="582084"/>
                      <a:pt x="214650" y="392564"/>
                      <a:pt x="396600" y="251950"/>
                    </a:cubicBezTo>
                    <a:lnTo>
                      <a:pt x="377055" y="132114"/>
                    </a:lnTo>
                    <a:close/>
                    <a:moveTo>
                      <a:pt x="952822" y="1135307"/>
                    </a:moveTo>
                    <a:cubicBezTo>
                      <a:pt x="969612" y="1093332"/>
                      <a:pt x="989548" y="1067368"/>
                      <a:pt x="1024179" y="1042963"/>
                    </a:cubicBezTo>
                    <a:cubicBezTo>
                      <a:pt x="1058810" y="1018556"/>
                      <a:pt x="1090946" y="1005219"/>
                      <a:pt x="1133313" y="1005186"/>
                    </a:cubicBezTo>
                    <a:lnTo>
                      <a:pt x="1133313" y="1206664"/>
                    </a:lnTo>
                    <a:close/>
                  </a:path>
                </a:pathLst>
              </a:custGeom>
              <a:noFill/>
              <a:ln w="1259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5" name="Group 4"/>
            <p:cNvGrpSpPr/>
            <p:nvPr/>
          </p:nvGrpSpPr>
          <p:grpSpPr>
            <a:xfrm>
              <a:off x="4484956" y="3213155"/>
              <a:ext cx="1259237" cy="1372568"/>
              <a:chOff x="1754537" y="2715755"/>
              <a:chExt cx="1259237" cy="1372568"/>
            </a:xfrm>
          </p:grpSpPr>
          <p:sp>
            <p:nvSpPr>
              <p:cNvPr id="30" name="Rounded Rectangle 4"/>
              <p:cNvSpPr/>
              <p:nvPr/>
            </p:nvSpPr>
            <p:spPr>
              <a:xfrm>
                <a:off x="1754537" y="2715755"/>
                <a:ext cx="1259237" cy="1372568"/>
              </a:xfrm>
              <a:custGeom>
                <a:avLst/>
                <a:gdLst/>
                <a:ahLst/>
                <a:cxnLst/>
                <a:rect l="0" t="0" r="0" b="0"/>
                <a:pathLst>
                  <a:path w="1259237" h="1372568">
                    <a:moveTo>
                      <a:pt x="0" y="768073"/>
                    </a:moveTo>
                    <a:lnTo>
                      <a:pt x="90086" y="682125"/>
                    </a:lnTo>
                    <a:cubicBezTo>
                      <a:pt x="35539" y="454002"/>
                      <a:pt x="46317" y="221761"/>
                      <a:pt x="125923" y="0"/>
                    </a:cubicBezTo>
                    <a:lnTo>
                      <a:pt x="419745" y="104936"/>
                    </a:lnTo>
                    <a:cubicBezTo>
                      <a:pt x="354676" y="286198"/>
                      <a:pt x="354186" y="477538"/>
                      <a:pt x="410335" y="661758"/>
                    </a:cubicBezTo>
                    <a:cubicBezTo>
                      <a:pt x="466484" y="845979"/>
                      <a:pt x="575248" y="1002369"/>
                      <a:pt x="730357" y="1116523"/>
                    </a:cubicBezTo>
                    <a:lnTo>
                      <a:pt x="545669" y="1372568"/>
                    </a:lnTo>
                    <a:cubicBezTo>
                      <a:pt x="345820" y="1225488"/>
                      <a:pt x="199921" y="1022721"/>
                      <a:pt x="120634" y="788210"/>
                    </a:cubicBezTo>
                    <a:close/>
                    <a:moveTo>
                      <a:pt x="1133313" y="554064"/>
                    </a:moveTo>
                    <a:cubicBezTo>
                      <a:pt x="1100622" y="527113"/>
                      <a:pt x="1084735" y="498312"/>
                      <a:pt x="1073507" y="457460"/>
                    </a:cubicBezTo>
                    <a:cubicBezTo>
                      <a:pt x="1062279" y="416607"/>
                      <a:pt x="1064419" y="375669"/>
                      <a:pt x="1078745" y="335796"/>
                    </a:cubicBezTo>
                    <a:lnTo>
                      <a:pt x="1259237" y="407153"/>
                    </a:lnTo>
                    <a:close/>
                  </a:path>
                </a:pathLst>
              </a:custGeom>
              <a:solidFill>
                <a:srgbClr val="DE58A9"/>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1" name="Rounded Rectangle 5"/>
              <p:cNvSpPr/>
              <p:nvPr/>
            </p:nvSpPr>
            <p:spPr>
              <a:xfrm>
                <a:off x="1754537" y="2715755"/>
                <a:ext cx="1259237" cy="1372568"/>
              </a:xfrm>
              <a:custGeom>
                <a:avLst/>
                <a:gdLst/>
                <a:ahLst/>
                <a:cxnLst/>
                <a:rect l="0" t="0" r="0" b="0"/>
                <a:pathLst>
                  <a:path w="1259237" h="1372568">
                    <a:moveTo>
                      <a:pt x="0" y="768073"/>
                    </a:moveTo>
                    <a:lnTo>
                      <a:pt x="90086" y="682125"/>
                    </a:lnTo>
                    <a:cubicBezTo>
                      <a:pt x="35539" y="454002"/>
                      <a:pt x="46317" y="221761"/>
                      <a:pt x="125923" y="0"/>
                    </a:cubicBezTo>
                    <a:lnTo>
                      <a:pt x="419745" y="104936"/>
                    </a:lnTo>
                    <a:cubicBezTo>
                      <a:pt x="354676" y="286198"/>
                      <a:pt x="354186" y="477538"/>
                      <a:pt x="410335" y="661758"/>
                    </a:cubicBezTo>
                    <a:cubicBezTo>
                      <a:pt x="466484" y="845979"/>
                      <a:pt x="575248" y="1002369"/>
                      <a:pt x="730357" y="1116523"/>
                    </a:cubicBezTo>
                    <a:lnTo>
                      <a:pt x="545669" y="1372568"/>
                    </a:lnTo>
                    <a:cubicBezTo>
                      <a:pt x="345820" y="1225488"/>
                      <a:pt x="199921" y="1022721"/>
                      <a:pt x="120634" y="788210"/>
                    </a:cubicBezTo>
                    <a:close/>
                    <a:moveTo>
                      <a:pt x="1133313" y="554064"/>
                    </a:moveTo>
                    <a:cubicBezTo>
                      <a:pt x="1100622" y="527113"/>
                      <a:pt x="1084735" y="498312"/>
                      <a:pt x="1073507" y="457460"/>
                    </a:cubicBezTo>
                    <a:cubicBezTo>
                      <a:pt x="1062279" y="416607"/>
                      <a:pt x="1064419" y="375669"/>
                      <a:pt x="1078745" y="335796"/>
                    </a:cubicBezTo>
                    <a:lnTo>
                      <a:pt x="1259237" y="407153"/>
                    </a:lnTo>
                    <a:close/>
                  </a:path>
                </a:pathLst>
              </a:custGeom>
              <a:noFill/>
              <a:ln w="1259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6" name="Group 5"/>
            <p:cNvGrpSpPr/>
            <p:nvPr/>
          </p:nvGrpSpPr>
          <p:grpSpPr>
            <a:xfrm>
              <a:off x="5030625" y="3620308"/>
              <a:ext cx="1435530" cy="1309442"/>
              <a:chOff x="2300206" y="3122908"/>
              <a:chExt cx="1435530" cy="1309442"/>
            </a:xfrm>
          </p:grpSpPr>
          <p:sp>
            <p:nvSpPr>
              <p:cNvPr id="28" name="Rounded Rectangle 7"/>
              <p:cNvSpPr/>
              <p:nvPr/>
            </p:nvSpPr>
            <p:spPr>
              <a:xfrm>
                <a:off x="2300206" y="3122908"/>
                <a:ext cx="1435530" cy="1309442"/>
              </a:xfrm>
              <a:custGeom>
                <a:avLst/>
                <a:gdLst/>
                <a:ahLst/>
                <a:cxnLst/>
                <a:rect l="0" t="0" r="0" b="0"/>
                <a:pathLst>
                  <a:path w="1435530" h="1309442">
                    <a:moveTo>
                      <a:pt x="715830" y="1309442"/>
                    </a:moveTo>
                    <a:lnTo>
                      <a:pt x="660096" y="1199833"/>
                    </a:lnTo>
                    <a:cubicBezTo>
                      <a:pt x="420014" y="1188308"/>
                      <a:pt x="193141" y="1109966"/>
                      <a:pt x="0" y="965415"/>
                    </a:cubicBezTo>
                    <a:lnTo>
                      <a:pt x="184688" y="709370"/>
                    </a:lnTo>
                    <a:cubicBezTo>
                      <a:pt x="339117" y="824948"/>
                      <a:pt x="525404" y="887458"/>
                      <a:pt x="718294" y="887382"/>
                    </a:cubicBezTo>
                    <a:cubicBezTo>
                      <a:pt x="911185" y="887307"/>
                      <a:pt x="1092306" y="829267"/>
                      <a:pt x="1246644" y="713567"/>
                    </a:cubicBezTo>
                    <a:lnTo>
                      <a:pt x="1435530" y="965415"/>
                    </a:lnTo>
                    <a:cubicBezTo>
                      <a:pt x="1240582" y="1111557"/>
                      <a:pt x="1012201" y="1189723"/>
                      <a:pt x="769574" y="1200115"/>
                    </a:cubicBezTo>
                    <a:close/>
                    <a:moveTo>
                      <a:pt x="843688" y="155305"/>
                    </a:moveTo>
                    <a:cubicBezTo>
                      <a:pt x="806839" y="185539"/>
                      <a:pt x="765168" y="201538"/>
                      <a:pt x="717504" y="201477"/>
                    </a:cubicBezTo>
                    <a:cubicBezTo>
                      <a:pt x="669839" y="201417"/>
                      <a:pt x="624416" y="177237"/>
                      <a:pt x="587644" y="146911"/>
                    </a:cubicBezTo>
                    <a:lnTo>
                      <a:pt x="713567" y="0"/>
                    </a:lnTo>
                    <a:close/>
                  </a:path>
                </a:pathLst>
              </a:custGeom>
              <a:solidFill>
                <a:srgbClr val="E5575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9" name="Rounded Rectangle 8"/>
              <p:cNvSpPr/>
              <p:nvPr/>
            </p:nvSpPr>
            <p:spPr>
              <a:xfrm>
                <a:off x="2300206" y="3122908"/>
                <a:ext cx="1435530" cy="1309442"/>
              </a:xfrm>
              <a:custGeom>
                <a:avLst/>
                <a:gdLst/>
                <a:ahLst/>
                <a:cxnLst/>
                <a:rect l="0" t="0" r="0" b="0"/>
                <a:pathLst>
                  <a:path w="1435530" h="1309442">
                    <a:moveTo>
                      <a:pt x="715830" y="1309442"/>
                    </a:moveTo>
                    <a:lnTo>
                      <a:pt x="660096" y="1199833"/>
                    </a:lnTo>
                    <a:cubicBezTo>
                      <a:pt x="420014" y="1188308"/>
                      <a:pt x="193141" y="1109966"/>
                      <a:pt x="0" y="965415"/>
                    </a:cubicBezTo>
                    <a:lnTo>
                      <a:pt x="184688" y="709370"/>
                    </a:lnTo>
                    <a:cubicBezTo>
                      <a:pt x="339117" y="824948"/>
                      <a:pt x="525404" y="887458"/>
                      <a:pt x="718294" y="887382"/>
                    </a:cubicBezTo>
                    <a:cubicBezTo>
                      <a:pt x="911185" y="887307"/>
                      <a:pt x="1092306" y="829267"/>
                      <a:pt x="1246644" y="713567"/>
                    </a:cubicBezTo>
                    <a:lnTo>
                      <a:pt x="1435530" y="965415"/>
                    </a:lnTo>
                    <a:cubicBezTo>
                      <a:pt x="1240582" y="1111557"/>
                      <a:pt x="1012201" y="1189723"/>
                      <a:pt x="769574" y="1200115"/>
                    </a:cubicBezTo>
                    <a:close/>
                    <a:moveTo>
                      <a:pt x="843688" y="155305"/>
                    </a:moveTo>
                    <a:cubicBezTo>
                      <a:pt x="806839" y="185539"/>
                      <a:pt x="765168" y="201538"/>
                      <a:pt x="717504" y="201477"/>
                    </a:cubicBezTo>
                    <a:cubicBezTo>
                      <a:pt x="669839" y="201417"/>
                      <a:pt x="624416" y="177237"/>
                      <a:pt x="587644" y="146911"/>
                    </a:cubicBezTo>
                    <a:lnTo>
                      <a:pt x="713567" y="0"/>
                    </a:lnTo>
                    <a:close/>
                  </a:path>
                </a:pathLst>
              </a:custGeom>
              <a:noFill/>
              <a:ln w="1259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7" name="Group 6"/>
            <p:cNvGrpSpPr/>
            <p:nvPr/>
          </p:nvGrpSpPr>
          <p:grpSpPr>
            <a:xfrm>
              <a:off x="5744193" y="3217352"/>
              <a:ext cx="1269456" cy="1368371"/>
              <a:chOff x="3013774" y="2719952"/>
              <a:chExt cx="1269456" cy="1368371"/>
            </a:xfrm>
          </p:grpSpPr>
          <p:sp>
            <p:nvSpPr>
              <p:cNvPr id="26" name="Rounded Rectangle 10"/>
              <p:cNvSpPr/>
              <p:nvPr/>
            </p:nvSpPr>
            <p:spPr>
              <a:xfrm>
                <a:off x="3013774" y="2719952"/>
                <a:ext cx="1269456" cy="1368371"/>
              </a:xfrm>
              <a:custGeom>
                <a:avLst/>
                <a:gdLst/>
                <a:ahLst/>
                <a:cxnLst/>
                <a:rect l="0" t="0" r="0" b="0"/>
                <a:pathLst>
                  <a:path w="1269456" h="1368371">
                    <a:moveTo>
                      <a:pt x="1269456" y="763876"/>
                    </a:moveTo>
                    <a:lnTo>
                      <a:pt x="1147029" y="784312"/>
                    </a:lnTo>
                    <a:cubicBezTo>
                      <a:pt x="1068010" y="1018035"/>
                      <a:pt x="920991" y="1221661"/>
                      <a:pt x="721962" y="1368371"/>
                    </a:cubicBezTo>
                    <a:lnTo>
                      <a:pt x="533077" y="1116523"/>
                    </a:lnTo>
                    <a:cubicBezTo>
                      <a:pt x="686989" y="1003070"/>
                      <a:pt x="801168" y="842935"/>
                      <a:pt x="857348" y="660166"/>
                    </a:cubicBezTo>
                    <a:cubicBezTo>
                      <a:pt x="913527" y="477397"/>
                      <a:pt x="911500" y="285252"/>
                      <a:pt x="847886" y="104936"/>
                    </a:cubicBezTo>
                    <a:lnTo>
                      <a:pt x="1141708" y="0"/>
                    </a:lnTo>
                    <a:cubicBezTo>
                      <a:pt x="1218961" y="218974"/>
                      <a:pt x="1231337" y="451727"/>
                      <a:pt x="1177956" y="676579"/>
                    </a:cubicBezTo>
                    <a:close/>
                    <a:moveTo>
                      <a:pt x="197769" y="339994"/>
                    </a:moveTo>
                    <a:cubicBezTo>
                      <a:pt x="212070" y="379874"/>
                      <a:pt x="209021" y="414803"/>
                      <a:pt x="197769" y="455649"/>
                    </a:cubicBezTo>
                    <a:cubicBezTo>
                      <a:pt x="186517" y="496496"/>
                      <a:pt x="162925" y="532870"/>
                      <a:pt x="130219" y="559802"/>
                    </a:cubicBezTo>
                    <a:lnTo>
                      <a:pt x="0" y="402955"/>
                    </a:ln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7" name="Rounded Rectangle 11"/>
              <p:cNvSpPr/>
              <p:nvPr/>
            </p:nvSpPr>
            <p:spPr>
              <a:xfrm>
                <a:off x="3013774" y="2719952"/>
                <a:ext cx="1269456" cy="1368371"/>
              </a:xfrm>
              <a:custGeom>
                <a:avLst/>
                <a:gdLst/>
                <a:ahLst/>
                <a:cxnLst/>
                <a:rect l="0" t="0" r="0" b="0"/>
                <a:pathLst>
                  <a:path w="1269456" h="1368371">
                    <a:moveTo>
                      <a:pt x="1269456" y="763876"/>
                    </a:moveTo>
                    <a:lnTo>
                      <a:pt x="1147029" y="784312"/>
                    </a:lnTo>
                    <a:cubicBezTo>
                      <a:pt x="1068010" y="1018035"/>
                      <a:pt x="920991" y="1221661"/>
                      <a:pt x="721962" y="1368371"/>
                    </a:cubicBezTo>
                    <a:lnTo>
                      <a:pt x="533077" y="1116523"/>
                    </a:lnTo>
                    <a:cubicBezTo>
                      <a:pt x="686989" y="1003070"/>
                      <a:pt x="801168" y="842935"/>
                      <a:pt x="857348" y="660166"/>
                    </a:cubicBezTo>
                    <a:cubicBezTo>
                      <a:pt x="913527" y="477397"/>
                      <a:pt x="911500" y="285252"/>
                      <a:pt x="847886" y="104936"/>
                    </a:cubicBezTo>
                    <a:lnTo>
                      <a:pt x="1141708" y="0"/>
                    </a:lnTo>
                    <a:cubicBezTo>
                      <a:pt x="1218961" y="218974"/>
                      <a:pt x="1231337" y="451727"/>
                      <a:pt x="1177956" y="676579"/>
                    </a:cubicBezTo>
                    <a:close/>
                    <a:moveTo>
                      <a:pt x="197769" y="339994"/>
                    </a:moveTo>
                    <a:cubicBezTo>
                      <a:pt x="212070" y="379874"/>
                      <a:pt x="209021" y="414803"/>
                      <a:pt x="197769" y="455649"/>
                    </a:cubicBezTo>
                    <a:cubicBezTo>
                      <a:pt x="186517" y="496496"/>
                      <a:pt x="162925" y="532870"/>
                      <a:pt x="130219" y="559802"/>
                    </a:cubicBezTo>
                    <a:lnTo>
                      <a:pt x="0" y="402955"/>
                    </a:lnTo>
                    <a:close/>
                  </a:path>
                </a:pathLst>
              </a:custGeom>
              <a:noFill/>
              <a:ln w="1259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8" name="Group 7"/>
            <p:cNvGrpSpPr/>
            <p:nvPr/>
          </p:nvGrpSpPr>
          <p:grpSpPr>
            <a:xfrm>
              <a:off x="5744193" y="2415514"/>
              <a:ext cx="1141708" cy="1204793"/>
              <a:chOff x="3013774" y="1918114"/>
              <a:chExt cx="1141708" cy="1204793"/>
            </a:xfrm>
          </p:grpSpPr>
          <p:sp>
            <p:nvSpPr>
              <p:cNvPr id="24" name="Rounded Rectangle 13"/>
              <p:cNvSpPr/>
              <p:nvPr/>
            </p:nvSpPr>
            <p:spPr>
              <a:xfrm>
                <a:off x="3013774" y="1918114"/>
                <a:ext cx="1141708" cy="1204793"/>
              </a:xfrm>
              <a:custGeom>
                <a:avLst/>
                <a:gdLst/>
                <a:ahLst/>
                <a:cxnLst/>
                <a:rect l="0" t="0" r="0" b="0"/>
                <a:pathLst>
                  <a:path w="1141708" h="1204793">
                    <a:moveTo>
                      <a:pt x="741804" y="252335"/>
                    </a:moveTo>
                    <a:cubicBezTo>
                      <a:pt x="925694" y="394683"/>
                      <a:pt x="1064356" y="581760"/>
                      <a:pt x="1141708" y="801837"/>
                    </a:cubicBezTo>
                    <a:lnTo>
                      <a:pt x="847886" y="906774"/>
                    </a:lnTo>
                    <a:cubicBezTo>
                      <a:pt x="786439" y="731951"/>
                      <a:pt x="669869" y="585454"/>
                      <a:pt x="518637" y="478368"/>
                    </a:cubicBezTo>
                    <a:cubicBezTo>
                      <a:pt x="367405" y="371282"/>
                      <a:pt x="185306" y="314833"/>
                      <a:pt x="0" y="314932"/>
                    </a:cubicBezTo>
                    <a:lnTo>
                      <a:pt x="0" y="123"/>
                    </a:lnTo>
                    <a:cubicBezTo>
                      <a:pt x="230484" y="0"/>
                      <a:pt x="456936" y="65020"/>
                      <a:pt x="650704" y="188297"/>
                    </a:cubicBezTo>
                    <a:lnTo>
                      <a:pt x="761717" y="130244"/>
                    </a:lnTo>
                    <a:close/>
                    <a:moveTo>
                      <a:pt x="0" y="1003315"/>
                    </a:moveTo>
                    <a:cubicBezTo>
                      <a:pt x="43232" y="1003315"/>
                      <a:pt x="85409" y="1016667"/>
                      <a:pt x="120766" y="1041543"/>
                    </a:cubicBezTo>
                    <a:cubicBezTo>
                      <a:pt x="156124" y="1066421"/>
                      <a:pt x="182678" y="1101140"/>
                      <a:pt x="197280" y="1141831"/>
                    </a:cubicBezTo>
                    <a:lnTo>
                      <a:pt x="0" y="1204793"/>
                    </a:ln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5" name="Rounded Rectangle 14"/>
              <p:cNvSpPr/>
              <p:nvPr/>
            </p:nvSpPr>
            <p:spPr>
              <a:xfrm>
                <a:off x="3013774" y="1918114"/>
                <a:ext cx="1141708" cy="1204793"/>
              </a:xfrm>
              <a:custGeom>
                <a:avLst/>
                <a:gdLst/>
                <a:ahLst/>
                <a:cxnLst/>
                <a:rect l="0" t="0" r="0" b="0"/>
                <a:pathLst>
                  <a:path w="1141708" h="1204793">
                    <a:moveTo>
                      <a:pt x="741804" y="252335"/>
                    </a:moveTo>
                    <a:cubicBezTo>
                      <a:pt x="925694" y="394683"/>
                      <a:pt x="1064356" y="581760"/>
                      <a:pt x="1141708" y="801837"/>
                    </a:cubicBezTo>
                    <a:lnTo>
                      <a:pt x="847886" y="906774"/>
                    </a:lnTo>
                    <a:cubicBezTo>
                      <a:pt x="786439" y="731951"/>
                      <a:pt x="669869" y="585454"/>
                      <a:pt x="518637" y="478368"/>
                    </a:cubicBezTo>
                    <a:cubicBezTo>
                      <a:pt x="367405" y="371282"/>
                      <a:pt x="185306" y="314833"/>
                      <a:pt x="0" y="314932"/>
                    </a:cubicBezTo>
                    <a:lnTo>
                      <a:pt x="0" y="123"/>
                    </a:lnTo>
                    <a:cubicBezTo>
                      <a:pt x="230484" y="0"/>
                      <a:pt x="456936" y="65020"/>
                      <a:pt x="650704" y="188297"/>
                    </a:cubicBezTo>
                    <a:lnTo>
                      <a:pt x="761717" y="130244"/>
                    </a:lnTo>
                    <a:close/>
                    <a:moveTo>
                      <a:pt x="0" y="1003315"/>
                    </a:moveTo>
                    <a:cubicBezTo>
                      <a:pt x="43232" y="1003315"/>
                      <a:pt x="85409" y="1016667"/>
                      <a:pt x="120766" y="1041543"/>
                    </a:cubicBezTo>
                    <a:cubicBezTo>
                      <a:pt x="156124" y="1066421"/>
                      <a:pt x="182678" y="1101140"/>
                      <a:pt x="197280" y="1141831"/>
                    </a:cubicBezTo>
                    <a:lnTo>
                      <a:pt x="0" y="1204793"/>
                    </a:lnTo>
                    <a:close/>
                  </a:path>
                </a:pathLst>
              </a:custGeom>
              <a:noFill/>
              <a:ln w="12591">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
          <p:nvSpPr>
            <p:cNvPr id="9" name="Rounded Rectangle 16"/>
            <p:cNvSpPr/>
            <p:nvPr/>
          </p:nvSpPr>
          <p:spPr>
            <a:xfrm>
              <a:off x="5312988" y="2978139"/>
              <a:ext cx="287735" cy="285361"/>
            </a:xfrm>
            <a:custGeom>
              <a:avLst/>
              <a:gdLst/>
              <a:ahLst/>
              <a:cxnLst/>
              <a:rect l="0" t="0" r="0" b="0"/>
              <a:pathLst>
                <a:path w="287735" h="285361">
                  <a:moveTo>
                    <a:pt x="110183" y="283328"/>
                  </a:moveTo>
                  <a:cubicBezTo>
                    <a:pt x="108120" y="284660"/>
                    <a:pt x="105713" y="285361"/>
                    <a:pt x="103257" y="285343"/>
                  </a:cubicBezTo>
                  <a:lnTo>
                    <a:pt x="12592" y="285343"/>
                  </a:lnTo>
                  <a:cubicBezTo>
                    <a:pt x="5637" y="285343"/>
                    <a:pt x="0" y="279705"/>
                    <a:pt x="0" y="272750"/>
                  </a:cubicBezTo>
                  <a:lnTo>
                    <a:pt x="0" y="178308"/>
                  </a:lnTo>
                  <a:cubicBezTo>
                    <a:pt x="0" y="164398"/>
                    <a:pt x="11275" y="153123"/>
                    <a:pt x="25184" y="153123"/>
                  </a:cubicBezTo>
                  <a:cubicBezTo>
                    <a:pt x="39093" y="153123"/>
                    <a:pt x="50369" y="164398"/>
                    <a:pt x="50369" y="178308"/>
                  </a:cubicBezTo>
                  <a:lnTo>
                    <a:pt x="50369" y="196063"/>
                  </a:lnTo>
                  <a:cubicBezTo>
                    <a:pt x="50438" y="217851"/>
                    <a:pt x="68121" y="235477"/>
                    <a:pt x="89909" y="235477"/>
                  </a:cubicBezTo>
                  <a:lnTo>
                    <a:pt x="137382" y="235477"/>
                  </a:lnTo>
                  <a:cubicBezTo>
                    <a:pt x="134414" y="254196"/>
                    <a:pt x="124749" y="271201"/>
                    <a:pt x="110183" y="283328"/>
                  </a:cubicBezTo>
                  <a:close/>
                  <a:moveTo>
                    <a:pt x="141812" y="61302"/>
                  </a:moveTo>
                  <a:cubicBezTo>
                    <a:pt x="135075" y="54564"/>
                    <a:pt x="131304" y="45416"/>
                    <a:pt x="131338" y="35888"/>
                  </a:cubicBezTo>
                  <a:cubicBezTo>
                    <a:pt x="131338" y="16067"/>
                    <a:pt x="147406" y="0"/>
                    <a:pt x="167226" y="0"/>
                  </a:cubicBezTo>
                  <a:cubicBezTo>
                    <a:pt x="187047" y="0"/>
                    <a:pt x="203114" y="16067"/>
                    <a:pt x="203114" y="35888"/>
                  </a:cubicBezTo>
                  <a:cubicBezTo>
                    <a:pt x="203114" y="55708"/>
                    <a:pt x="187047" y="71776"/>
                    <a:pt x="167226" y="71776"/>
                  </a:cubicBezTo>
                  <a:cubicBezTo>
                    <a:pt x="157698" y="71810"/>
                    <a:pt x="148550" y="68039"/>
                    <a:pt x="141812" y="61302"/>
                  </a:cubicBezTo>
                  <a:close/>
                  <a:moveTo>
                    <a:pt x="287232" y="96457"/>
                  </a:moveTo>
                  <a:cubicBezTo>
                    <a:pt x="287232" y="101673"/>
                    <a:pt x="283003" y="105901"/>
                    <a:pt x="277787" y="105901"/>
                  </a:cubicBezTo>
                  <a:cubicBezTo>
                    <a:pt x="272571" y="105901"/>
                    <a:pt x="268343" y="101673"/>
                    <a:pt x="268343" y="96457"/>
                  </a:cubicBezTo>
                  <a:cubicBezTo>
                    <a:pt x="268343" y="74798"/>
                    <a:pt x="257388" y="74798"/>
                    <a:pt x="252980" y="74798"/>
                  </a:cubicBezTo>
                  <a:cubicBezTo>
                    <a:pt x="248573" y="74798"/>
                    <a:pt x="240262" y="74924"/>
                    <a:pt x="238121" y="89154"/>
                  </a:cubicBezTo>
                  <a:cubicBezTo>
                    <a:pt x="237907" y="91583"/>
                    <a:pt x="237907" y="94027"/>
                    <a:pt x="238121" y="96457"/>
                  </a:cubicBezTo>
                  <a:lnTo>
                    <a:pt x="238121" y="109049"/>
                  </a:lnTo>
                  <a:cubicBezTo>
                    <a:pt x="241147" y="110674"/>
                    <a:pt x="243771" y="112954"/>
                    <a:pt x="245803" y="115723"/>
                  </a:cubicBezTo>
                  <a:cubicBezTo>
                    <a:pt x="248017" y="119182"/>
                    <a:pt x="249197" y="123202"/>
                    <a:pt x="249202" y="127308"/>
                  </a:cubicBezTo>
                  <a:cubicBezTo>
                    <a:pt x="249198" y="132761"/>
                    <a:pt x="247076" y="137998"/>
                    <a:pt x="243284" y="141916"/>
                  </a:cubicBezTo>
                  <a:cubicBezTo>
                    <a:pt x="241755" y="143383"/>
                    <a:pt x="240014" y="144614"/>
                    <a:pt x="238121" y="145567"/>
                  </a:cubicBezTo>
                  <a:lnTo>
                    <a:pt x="238121" y="273254"/>
                  </a:lnTo>
                  <a:cubicBezTo>
                    <a:pt x="238121" y="278470"/>
                    <a:pt x="233893" y="282698"/>
                    <a:pt x="228677" y="282698"/>
                  </a:cubicBezTo>
                  <a:cubicBezTo>
                    <a:pt x="223461" y="282698"/>
                    <a:pt x="219233" y="278470"/>
                    <a:pt x="219233" y="273254"/>
                  </a:cubicBezTo>
                  <a:lnTo>
                    <a:pt x="219233" y="147330"/>
                  </a:lnTo>
                  <a:lnTo>
                    <a:pt x="165463" y="147330"/>
                  </a:lnTo>
                  <a:cubicBezTo>
                    <a:pt x="161378" y="147322"/>
                    <a:pt x="157388" y="146094"/>
                    <a:pt x="154004" y="143804"/>
                  </a:cubicBezTo>
                  <a:lnTo>
                    <a:pt x="127056" y="125797"/>
                  </a:lnTo>
                  <a:cubicBezTo>
                    <a:pt x="117968" y="140623"/>
                    <a:pt x="112610" y="157431"/>
                    <a:pt x="111442" y="174782"/>
                  </a:cubicBezTo>
                  <a:lnTo>
                    <a:pt x="172263" y="174782"/>
                  </a:lnTo>
                  <a:cubicBezTo>
                    <a:pt x="182066" y="174809"/>
                    <a:pt x="190517" y="181685"/>
                    <a:pt x="192537" y="191278"/>
                  </a:cubicBezTo>
                  <a:lnTo>
                    <a:pt x="206262" y="260032"/>
                  </a:lnTo>
                  <a:cubicBezTo>
                    <a:pt x="207696" y="266180"/>
                    <a:pt x="206221" y="272646"/>
                    <a:pt x="202262" y="277564"/>
                  </a:cubicBezTo>
                  <a:cubicBezTo>
                    <a:pt x="198303" y="282482"/>
                    <a:pt x="192301" y="285304"/>
                    <a:pt x="185989" y="285217"/>
                  </a:cubicBezTo>
                  <a:cubicBezTo>
                    <a:pt x="176159" y="285215"/>
                    <a:pt x="167710" y="278245"/>
                    <a:pt x="165841" y="268595"/>
                  </a:cubicBezTo>
                  <a:lnTo>
                    <a:pt x="156019" y="216462"/>
                  </a:lnTo>
                  <a:lnTo>
                    <a:pt x="90539" y="216462"/>
                  </a:lnTo>
                  <a:cubicBezTo>
                    <a:pt x="79182" y="216463"/>
                    <a:pt x="69956" y="207293"/>
                    <a:pt x="69887" y="195937"/>
                  </a:cubicBezTo>
                  <a:cubicBezTo>
                    <a:pt x="69887" y="111694"/>
                    <a:pt x="109679" y="85376"/>
                    <a:pt x="114212" y="82605"/>
                  </a:cubicBezTo>
                  <a:cubicBezTo>
                    <a:pt x="117424" y="80733"/>
                    <a:pt x="121071" y="79734"/>
                    <a:pt x="124790" y="79709"/>
                  </a:cubicBezTo>
                  <a:cubicBezTo>
                    <a:pt x="128615" y="79654"/>
                    <a:pt x="132375" y="80704"/>
                    <a:pt x="135619" y="82731"/>
                  </a:cubicBezTo>
                  <a:lnTo>
                    <a:pt x="171633" y="106657"/>
                  </a:lnTo>
                  <a:lnTo>
                    <a:pt x="219736" y="106657"/>
                  </a:lnTo>
                  <a:lnTo>
                    <a:pt x="219736" y="96583"/>
                  </a:lnTo>
                  <a:lnTo>
                    <a:pt x="219736" y="87768"/>
                  </a:lnTo>
                  <a:cubicBezTo>
                    <a:pt x="219932" y="79061"/>
                    <a:pt x="223616" y="70797"/>
                    <a:pt x="229961" y="64831"/>
                  </a:cubicBezTo>
                  <a:cubicBezTo>
                    <a:pt x="236306" y="58865"/>
                    <a:pt x="244781" y="55696"/>
                    <a:pt x="253484" y="56036"/>
                  </a:cubicBezTo>
                  <a:cubicBezTo>
                    <a:pt x="263306" y="56036"/>
                    <a:pt x="287735" y="60065"/>
                    <a:pt x="287232" y="96457"/>
                  </a:cubicBezTo>
                  <a:close/>
                </a:path>
              </a:pathLst>
            </a:custGeom>
            <a:solidFill>
              <a:srgbClr val="484848"/>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0" name="Rounded Rectangle 17"/>
            <p:cNvSpPr/>
            <p:nvPr/>
          </p:nvSpPr>
          <p:spPr>
            <a:xfrm>
              <a:off x="5903690" y="2962566"/>
              <a:ext cx="302223" cy="299469"/>
            </a:xfrm>
            <a:custGeom>
              <a:avLst/>
              <a:gdLst/>
              <a:ahLst/>
              <a:cxnLst/>
              <a:rect l="0" t="0" r="0" b="0"/>
              <a:pathLst>
                <a:path w="302223" h="299469">
                  <a:moveTo>
                    <a:pt x="180706" y="40799"/>
                  </a:moveTo>
                  <a:cubicBezTo>
                    <a:pt x="180704" y="33912"/>
                    <a:pt x="186286" y="28328"/>
                    <a:pt x="193173" y="28328"/>
                  </a:cubicBezTo>
                  <a:cubicBezTo>
                    <a:pt x="200059" y="28328"/>
                    <a:pt x="205641" y="33912"/>
                    <a:pt x="205639" y="40799"/>
                  </a:cubicBezTo>
                  <a:cubicBezTo>
                    <a:pt x="205641" y="47685"/>
                    <a:pt x="200059" y="53269"/>
                    <a:pt x="193173" y="53269"/>
                  </a:cubicBezTo>
                  <a:cubicBezTo>
                    <a:pt x="186286" y="53269"/>
                    <a:pt x="180704" y="47685"/>
                    <a:pt x="180706" y="40799"/>
                  </a:cubicBezTo>
                  <a:moveTo>
                    <a:pt x="180706" y="75050"/>
                  </a:moveTo>
                  <a:cubicBezTo>
                    <a:pt x="180704" y="68164"/>
                    <a:pt x="186286" y="62580"/>
                    <a:pt x="193173" y="62580"/>
                  </a:cubicBezTo>
                  <a:cubicBezTo>
                    <a:pt x="200059" y="62580"/>
                    <a:pt x="205641" y="68164"/>
                    <a:pt x="205639" y="75050"/>
                  </a:cubicBezTo>
                  <a:cubicBezTo>
                    <a:pt x="205641" y="81937"/>
                    <a:pt x="200059" y="87520"/>
                    <a:pt x="193173" y="87520"/>
                  </a:cubicBezTo>
                  <a:cubicBezTo>
                    <a:pt x="186286" y="87520"/>
                    <a:pt x="180704" y="81937"/>
                    <a:pt x="180706" y="75050"/>
                  </a:cubicBezTo>
                  <a:moveTo>
                    <a:pt x="180706" y="109301"/>
                  </a:moveTo>
                  <a:cubicBezTo>
                    <a:pt x="180704" y="102415"/>
                    <a:pt x="186286" y="96831"/>
                    <a:pt x="193173" y="96831"/>
                  </a:cubicBezTo>
                  <a:cubicBezTo>
                    <a:pt x="200059" y="96831"/>
                    <a:pt x="205641" y="102415"/>
                    <a:pt x="205639" y="109301"/>
                  </a:cubicBezTo>
                  <a:cubicBezTo>
                    <a:pt x="205641" y="116188"/>
                    <a:pt x="200059" y="121772"/>
                    <a:pt x="193173" y="121772"/>
                  </a:cubicBezTo>
                  <a:cubicBezTo>
                    <a:pt x="186286" y="121772"/>
                    <a:pt x="180704" y="116188"/>
                    <a:pt x="180706" y="109301"/>
                  </a:cubicBezTo>
                  <a:moveTo>
                    <a:pt x="120893" y="193418"/>
                  </a:moveTo>
                  <a:cubicBezTo>
                    <a:pt x="121878" y="193534"/>
                    <a:pt x="122758" y="194089"/>
                    <a:pt x="123285" y="194929"/>
                  </a:cubicBezTo>
                  <a:cubicBezTo>
                    <a:pt x="123863" y="195631"/>
                    <a:pt x="124094" y="196556"/>
                    <a:pt x="123915" y="197448"/>
                  </a:cubicBezTo>
                  <a:cubicBezTo>
                    <a:pt x="122545" y="203403"/>
                    <a:pt x="121744" y="209475"/>
                    <a:pt x="121522" y="215581"/>
                  </a:cubicBezTo>
                  <a:cubicBezTo>
                    <a:pt x="121522" y="217250"/>
                    <a:pt x="120169" y="218603"/>
                    <a:pt x="118500" y="218603"/>
                  </a:cubicBezTo>
                  <a:lnTo>
                    <a:pt x="25191" y="218603"/>
                  </a:lnTo>
                  <a:cubicBezTo>
                    <a:pt x="11281" y="218603"/>
                    <a:pt x="6" y="207328"/>
                    <a:pt x="6" y="193418"/>
                  </a:cubicBezTo>
                  <a:lnTo>
                    <a:pt x="6" y="158789"/>
                  </a:lnTo>
                  <a:cubicBezTo>
                    <a:pt x="0" y="149368"/>
                    <a:pt x="7025" y="141424"/>
                    <a:pt x="16376" y="140279"/>
                  </a:cubicBezTo>
                  <a:cubicBezTo>
                    <a:pt x="31938" y="138254"/>
                    <a:pt x="43580" y="124994"/>
                    <a:pt x="43575" y="109301"/>
                  </a:cubicBezTo>
                  <a:cubicBezTo>
                    <a:pt x="43572" y="93635"/>
                    <a:pt x="31918" y="80416"/>
                    <a:pt x="16376" y="78450"/>
                  </a:cubicBezTo>
                  <a:cubicBezTo>
                    <a:pt x="7053" y="77251"/>
                    <a:pt x="55" y="69339"/>
                    <a:pt x="6" y="59939"/>
                  </a:cubicBezTo>
                  <a:lnTo>
                    <a:pt x="6" y="25184"/>
                  </a:lnTo>
                  <a:cubicBezTo>
                    <a:pt x="6" y="11275"/>
                    <a:pt x="11281" y="0"/>
                    <a:pt x="25191" y="0"/>
                  </a:cubicBezTo>
                  <a:lnTo>
                    <a:pt x="273638" y="0"/>
                  </a:lnTo>
                  <a:cubicBezTo>
                    <a:pt x="287547" y="0"/>
                    <a:pt x="298823" y="11275"/>
                    <a:pt x="298823" y="25184"/>
                  </a:cubicBezTo>
                  <a:lnTo>
                    <a:pt x="298823" y="59939"/>
                  </a:lnTo>
                  <a:cubicBezTo>
                    <a:pt x="298773" y="69339"/>
                    <a:pt x="291776" y="77251"/>
                    <a:pt x="282453" y="78450"/>
                  </a:cubicBezTo>
                  <a:cubicBezTo>
                    <a:pt x="266910" y="80416"/>
                    <a:pt x="255256" y="93635"/>
                    <a:pt x="255253" y="109301"/>
                  </a:cubicBezTo>
                  <a:cubicBezTo>
                    <a:pt x="255216" y="113008"/>
                    <a:pt x="255901" y="116686"/>
                    <a:pt x="257268" y="120131"/>
                  </a:cubicBezTo>
                  <a:cubicBezTo>
                    <a:pt x="257638" y="121278"/>
                    <a:pt x="257348" y="122536"/>
                    <a:pt x="256512" y="123405"/>
                  </a:cubicBezTo>
                  <a:cubicBezTo>
                    <a:pt x="255630" y="124216"/>
                    <a:pt x="254387" y="124503"/>
                    <a:pt x="253238" y="124160"/>
                  </a:cubicBezTo>
                  <a:cubicBezTo>
                    <a:pt x="246840" y="121886"/>
                    <a:pt x="240210" y="120323"/>
                    <a:pt x="233468" y="119501"/>
                  </a:cubicBezTo>
                  <a:cubicBezTo>
                    <a:pt x="232102" y="119295"/>
                    <a:pt x="231030" y="118223"/>
                    <a:pt x="230824" y="116857"/>
                  </a:cubicBezTo>
                  <a:cubicBezTo>
                    <a:pt x="230635" y="114342"/>
                    <a:pt x="230635" y="111816"/>
                    <a:pt x="230824" y="109301"/>
                  </a:cubicBezTo>
                  <a:cubicBezTo>
                    <a:pt x="230887" y="84058"/>
                    <a:pt x="247783" y="61959"/>
                    <a:pt x="272127" y="55280"/>
                  </a:cubicBezTo>
                  <a:cubicBezTo>
                    <a:pt x="273470" y="54888"/>
                    <a:pt x="274394" y="53657"/>
                    <a:pt x="274394" y="52258"/>
                  </a:cubicBezTo>
                  <a:lnTo>
                    <a:pt x="274394" y="28332"/>
                  </a:lnTo>
                  <a:cubicBezTo>
                    <a:pt x="274395" y="26642"/>
                    <a:pt x="273061" y="25252"/>
                    <a:pt x="271371" y="25184"/>
                  </a:cubicBezTo>
                  <a:lnTo>
                    <a:pt x="28339" y="25184"/>
                  </a:lnTo>
                  <a:cubicBezTo>
                    <a:pt x="26600" y="25184"/>
                    <a:pt x="25191" y="26594"/>
                    <a:pt x="25191" y="28332"/>
                  </a:cubicBezTo>
                  <a:lnTo>
                    <a:pt x="25191" y="52258"/>
                  </a:lnTo>
                  <a:cubicBezTo>
                    <a:pt x="25191" y="53657"/>
                    <a:pt x="26114" y="54888"/>
                    <a:pt x="27457" y="55280"/>
                  </a:cubicBezTo>
                  <a:cubicBezTo>
                    <a:pt x="51877" y="61900"/>
                    <a:pt x="68833" y="84063"/>
                    <a:pt x="68833" y="109364"/>
                  </a:cubicBezTo>
                  <a:cubicBezTo>
                    <a:pt x="68833" y="134666"/>
                    <a:pt x="51878" y="156829"/>
                    <a:pt x="27457" y="163448"/>
                  </a:cubicBezTo>
                  <a:cubicBezTo>
                    <a:pt x="26114" y="163840"/>
                    <a:pt x="25191" y="165072"/>
                    <a:pt x="25191" y="166471"/>
                  </a:cubicBezTo>
                  <a:lnTo>
                    <a:pt x="25191" y="190396"/>
                  </a:lnTo>
                  <a:cubicBezTo>
                    <a:pt x="25249" y="191992"/>
                    <a:pt x="26494" y="193292"/>
                    <a:pt x="28087" y="193418"/>
                  </a:cubicBezTo>
                  <a:lnTo>
                    <a:pt x="120893" y="193418"/>
                  </a:lnTo>
                  <a:close/>
                  <a:moveTo>
                    <a:pt x="302223" y="218351"/>
                  </a:moveTo>
                  <a:cubicBezTo>
                    <a:pt x="302223" y="263155"/>
                    <a:pt x="265890" y="299469"/>
                    <a:pt x="221086" y="299446"/>
                  </a:cubicBezTo>
                  <a:cubicBezTo>
                    <a:pt x="176282" y="299423"/>
                    <a:pt x="139987" y="263071"/>
                    <a:pt x="140033" y="218267"/>
                  </a:cubicBezTo>
                  <a:cubicBezTo>
                    <a:pt x="140079" y="173463"/>
                    <a:pt x="176450" y="137187"/>
                    <a:pt x="221254" y="137256"/>
                  </a:cubicBezTo>
                  <a:cubicBezTo>
                    <a:pt x="265963" y="137395"/>
                    <a:pt x="302154" y="173642"/>
                    <a:pt x="302223" y="218351"/>
                  </a:cubicBezTo>
                  <a:close/>
                  <a:moveTo>
                    <a:pt x="261172" y="218729"/>
                  </a:moveTo>
                  <a:cubicBezTo>
                    <a:pt x="261172" y="213583"/>
                    <a:pt x="257000" y="209411"/>
                    <a:pt x="251853" y="209411"/>
                  </a:cubicBezTo>
                  <a:lnTo>
                    <a:pt x="233720" y="209411"/>
                  </a:lnTo>
                  <a:cubicBezTo>
                    <a:pt x="231982" y="209411"/>
                    <a:pt x="230572" y="208001"/>
                    <a:pt x="230572" y="206263"/>
                  </a:cubicBezTo>
                  <a:lnTo>
                    <a:pt x="230572" y="187626"/>
                  </a:lnTo>
                  <a:cubicBezTo>
                    <a:pt x="230572" y="182480"/>
                    <a:pt x="226400" y="178307"/>
                    <a:pt x="221254" y="178307"/>
                  </a:cubicBezTo>
                  <a:cubicBezTo>
                    <a:pt x="216087" y="178307"/>
                    <a:pt x="211878" y="182459"/>
                    <a:pt x="211810" y="187626"/>
                  </a:cubicBezTo>
                  <a:lnTo>
                    <a:pt x="211810" y="205885"/>
                  </a:lnTo>
                  <a:cubicBezTo>
                    <a:pt x="211811" y="207575"/>
                    <a:pt x="210477" y="208965"/>
                    <a:pt x="208787" y="209033"/>
                  </a:cubicBezTo>
                  <a:lnTo>
                    <a:pt x="190025" y="209033"/>
                  </a:lnTo>
                  <a:cubicBezTo>
                    <a:pt x="184878" y="209033"/>
                    <a:pt x="180706" y="213205"/>
                    <a:pt x="180706" y="218351"/>
                  </a:cubicBezTo>
                  <a:cubicBezTo>
                    <a:pt x="180706" y="223518"/>
                    <a:pt x="184858" y="227727"/>
                    <a:pt x="190025" y="227796"/>
                  </a:cubicBezTo>
                  <a:lnTo>
                    <a:pt x="208787" y="227796"/>
                  </a:lnTo>
                  <a:cubicBezTo>
                    <a:pt x="210456" y="227796"/>
                    <a:pt x="211810" y="229149"/>
                    <a:pt x="211810" y="230818"/>
                  </a:cubicBezTo>
                  <a:lnTo>
                    <a:pt x="211810" y="249580"/>
                  </a:lnTo>
                  <a:cubicBezTo>
                    <a:pt x="211878" y="254747"/>
                    <a:pt x="216087" y="258899"/>
                    <a:pt x="221254" y="258899"/>
                  </a:cubicBezTo>
                  <a:cubicBezTo>
                    <a:pt x="226400" y="258899"/>
                    <a:pt x="230572" y="254727"/>
                    <a:pt x="230572" y="249580"/>
                  </a:cubicBezTo>
                  <a:lnTo>
                    <a:pt x="230572" y="230818"/>
                  </a:lnTo>
                  <a:cubicBezTo>
                    <a:pt x="230640" y="229128"/>
                    <a:pt x="232030" y="227794"/>
                    <a:pt x="233720" y="227796"/>
                  </a:cubicBezTo>
                  <a:lnTo>
                    <a:pt x="251853" y="227796"/>
                  </a:lnTo>
                  <a:cubicBezTo>
                    <a:pt x="256876" y="227733"/>
                    <a:pt x="260971" y="223749"/>
                    <a:pt x="261172" y="218729"/>
                  </a:cubicBezTo>
                  <a:close/>
                </a:path>
              </a:pathLst>
            </a:custGeom>
            <a:solidFill>
              <a:srgbClr val="484848"/>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1" name="Rounded Rectangle 18"/>
            <p:cNvSpPr/>
            <p:nvPr/>
          </p:nvSpPr>
          <p:spPr>
            <a:xfrm>
              <a:off x="5097785" y="3572820"/>
              <a:ext cx="303677" cy="303533"/>
            </a:xfrm>
            <a:custGeom>
              <a:avLst/>
              <a:gdLst/>
              <a:ahLst/>
              <a:cxnLst/>
              <a:rect l="0" t="0" r="0" b="0"/>
              <a:pathLst>
                <a:path w="303677" h="303533">
                  <a:moveTo>
                    <a:pt x="210922" y="23353"/>
                  </a:moveTo>
                  <a:lnTo>
                    <a:pt x="210922" y="10760"/>
                  </a:lnTo>
                  <a:cubicBezTo>
                    <a:pt x="210922" y="5544"/>
                    <a:pt x="215150" y="1316"/>
                    <a:pt x="220366" y="1316"/>
                  </a:cubicBezTo>
                  <a:cubicBezTo>
                    <a:pt x="225582" y="1316"/>
                    <a:pt x="229810" y="5544"/>
                    <a:pt x="229810" y="10760"/>
                  </a:cubicBezTo>
                  <a:lnTo>
                    <a:pt x="229810" y="23353"/>
                  </a:lnTo>
                  <a:cubicBezTo>
                    <a:pt x="229742" y="28540"/>
                    <a:pt x="225554" y="32729"/>
                    <a:pt x="220366" y="32797"/>
                  </a:cubicBezTo>
                  <a:cubicBezTo>
                    <a:pt x="215178" y="32729"/>
                    <a:pt x="210990" y="28540"/>
                    <a:pt x="210922" y="23353"/>
                  </a:cubicBezTo>
                  <a:close/>
                  <a:moveTo>
                    <a:pt x="254743" y="39849"/>
                  </a:moveTo>
                  <a:cubicBezTo>
                    <a:pt x="251061" y="36161"/>
                    <a:pt x="251061" y="30188"/>
                    <a:pt x="254743" y="26501"/>
                  </a:cubicBezTo>
                  <a:lnTo>
                    <a:pt x="273632" y="7234"/>
                  </a:lnTo>
                  <a:cubicBezTo>
                    <a:pt x="277349" y="4534"/>
                    <a:pt x="282469" y="4900"/>
                    <a:pt x="285764" y="8102"/>
                  </a:cubicBezTo>
                  <a:cubicBezTo>
                    <a:pt x="289059" y="11303"/>
                    <a:pt x="289572" y="16412"/>
                    <a:pt x="286980" y="20204"/>
                  </a:cubicBezTo>
                  <a:lnTo>
                    <a:pt x="268091" y="39093"/>
                  </a:lnTo>
                  <a:cubicBezTo>
                    <a:pt x="266394" y="41016"/>
                    <a:pt x="263980" y="42155"/>
                    <a:pt x="261417" y="42241"/>
                  </a:cubicBezTo>
                  <a:cubicBezTo>
                    <a:pt x="258964" y="42354"/>
                    <a:pt x="256566" y="41494"/>
                    <a:pt x="254743" y="39849"/>
                  </a:cubicBezTo>
                  <a:close/>
                  <a:moveTo>
                    <a:pt x="280180" y="54833"/>
                  </a:moveTo>
                  <a:lnTo>
                    <a:pt x="292772" y="54833"/>
                  </a:lnTo>
                  <a:cubicBezTo>
                    <a:pt x="297988" y="54833"/>
                    <a:pt x="302216" y="59062"/>
                    <a:pt x="302216" y="64278"/>
                  </a:cubicBezTo>
                  <a:cubicBezTo>
                    <a:pt x="302216" y="69494"/>
                    <a:pt x="297988" y="73722"/>
                    <a:pt x="292772" y="73722"/>
                  </a:cubicBezTo>
                  <a:lnTo>
                    <a:pt x="280180" y="73722"/>
                  </a:lnTo>
                  <a:cubicBezTo>
                    <a:pt x="274992" y="73654"/>
                    <a:pt x="270803" y="69465"/>
                    <a:pt x="270736" y="64278"/>
                  </a:cubicBezTo>
                  <a:cubicBezTo>
                    <a:pt x="270803" y="59090"/>
                    <a:pt x="274992" y="54901"/>
                    <a:pt x="280180" y="54833"/>
                  </a:cubicBezTo>
                  <a:close/>
                  <a:moveTo>
                    <a:pt x="0" y="1316"/>
                  </a:moveTo>
                  <a:moveTo>
                    <a:pt x="275395" y="160735"/>
                  </a:moveTo>
                  <a:cubicBezTo>
                    <a:pt x="281515" y="154615"/>
                    <a:pt x="291437" y="154615"/>
                    <a:pt x="297557" y="160735"/>
                  </a:cubicBezTo>
                  <a:cubicBezTo>
                    <a:pt x="303677" y="166855"/>
                    <a:pt x="303677" y="176778"/>
                    <a:pt x="297557" y="182898"/>
                  </a:cubicBezTo>
                  <a:lnTo>
                    <a:pt x="202233" y="278348"/>
                  </a:lnTo>
                  <a:cubicBezTo>
                    <a:pt x="193352" y="287061"/>
                    <a:pt x="182640" y="293686"/>
                    <a:pt x="170878" y="297740"/>
                  </a:cubicBezTo>
                  <a:lnTo>
                    <a:pt x="153501" y="303533"/>
                  </a:lnTo>
                  <a:lnTo>
                    <a:pt x="107538" y="303533"/>
                  </a:lnTo>
                  <a:lnTo>
                    <a:pt x="57169" y="253793"/>
                  </a:lnTo>
                  <a:cubicBezTo>
                    <a:pt x="54754" y="251302"/>
                    <a:pt x="54754" y="247343"/>
                    <a:pt x="57169" y="244852"/>
                  </a:cubicBezTo>
                  <a:lnTo>
                    <a:pt x="68502" y="233645"/>
                  </a:lnTo>
                  <a:cubicBezTo>
                    <a:pt x="79850" y="222281"/>
                    <a:pt x="86427" y="207010"/>
                    <a:pt x="86887" y="190957"/>
                  </a:cubicBezTo>
                  <a:lnTo>
                    <a:pt x="88776" y="125854"/>
                  </a:lnTo>
                  <a:cubicBezTo>
                    <a:pt x="89273" y="120251"/>
                    <a:pt x="91994" y="115081"/>
                    <a:pt x="96331" y="111499"/>
                  </a:cubicBezTo>
                  <a:cubicBezTo>
                    <a:pt x="98037" y="110050"/>
                    <a:pt x="100003" y="108939"/>
                    <a:pt x="102124" y="108225"/>
                  </a:cubicBezTo>
                  <a:lnTo>
                    <a:pt x="103005" y="108225"/>
                  </a:lnTo>
                  <a:cubicBezTo>
                    <a:pt x="105007" y="107592"/>
                    <a:pt x="107079" y="107211"/>
                    <a:pt x="109175" y="107092"/>
                  </a:cubicBezTo>
                  <a:lnTo>
                    <a:pt x="112072" y="107092"/>
                  </a:lnTo>
                  <a:cubicBezTo>
                    <a:pt x="122675" y="108248"/>
                    <a:pt x="130707" y="117203"/>
                    <a:pt x="130708" y="127869"/>
                  </a:cubicBezTo>
                  <a:lnTo>
                    <a:pt x="130708" y="172950"/>
                  </a:lnTo>
                  <a:cubicBezTo>
                    <a:pt x="130669" y="174216"/>
                    <a:pt x="131423" y="175372"/>
                    <a:pt x="132597" y="175846"/>
                  </a:cubicBezTo>
                  <a:cubicBezTo>
                    <a:pt x="133093" y="175969"/>
                    <a:pt x="133612" y="175969"/>
                    <a:pt x="134108" y="175846"/>
                  </a:cubicBezTo>
                  <a:cubicBezTo>
                    <a:pt x="134808" y="175735"/>
                    <a:pt x="135463" y="175430"/>
                    <a:pt x="135997" y="174965"/>
                  </a:cubicBezTo>
                  <a:lnTo>
                    <a:pt x="214070" y="97018"/>
                  </a:lnTo>
                  <a:lnTo>
                    <a:pt x="216966" y="93492"/>
                  </a:lnTo>
                  <a:lnTo>
                    <a:pt x="218855" y="92233"/>
                  </a:lnTo>
                  <a:cubicBezTo>
                    <a:pt x="225413" y="87299"/>
                    <a:pt x="234671" y="88283"/>
                    <a:pt x="240045" y="94486"/>
                  </a:cubicBezTo>
                  <a:cubicBezTo>
                    <a:pt x="245418" y="100689"/>
                    <a:pt x="245073" y="109993"/>
                    <a:pt x="239255" y="115781"/>
                  </a:cubicBezTo>
                  <a:lnTo>
                    <a:pt x="188507" y="167032"/>
                  </a:lnTo>
                  <a:cubicBezTo>
                    <a:pt x="186108" y="169480"/>
                    <a:pt x="186108" y="173398"/>
                    <a:pt x="188507" y="175846"/>
                  </a:cubicBezTo>
                  <a:cubicBezTo>
                    <a:pt x="189689" y="177038"/>
                    <a:pt x="191299" y="177709"/>
                    <a:pt x="192978" y="177709"/>
                  </a:cubicBezTo>
                  <a:cubicBezTo>
                    <a:pt x="194656" y="177709"/>
                    <a:pt x="196266" y="177038"/>
                    <a:pt x="197448" y="175846"/>
                  </a:cubicBezTo>
                  <a:lnTo>
                    <a:pt x="257514" y="115781"/>
                  </a:lnTo>
                  <a:cubicBezTo>
                    <a:pt x="263668" y="109626"/>
                    <a:pt x="273647" y="109626"/>
                    <a:pt x="279802" y="115781"/>
                  </a:cubicBezTo>
                  <a:cubicBezTo>
                    <a:pt x="285957" y="121935"/>
                    <a:pt x="285957" y="131914"/>
                    <a:pt x="279802" y="138069"/>
                  </a:cubicBezTo>
                  <a:lnTo>
                    <a:pt x="219736" y="198135"/>
                  </a:lnTo>
                  <a:cubicBezTo>
                    <a:pt x="218544" y="199317"/>
                    <a:pt x="217874" y="200926"/>
                    <a:pt x="217874" y="202605"/>
                  </a:cubicBezTo>
                  <a:cubicBezTo>
                    <a:pt x="217874" y="204284"/>
                    <a:pt x="218544" y="205893"/>
                    <a:pt x="219736" y="207075"/>
                  </a:cubicBezTo>
                  <a:cubicBezTo>
                    <a:pt x="222185" y="209475"/>
                    <a:pt x="226103" y="209475"/>
                    <a:pt x="228551" y="207075"/>
                  </a:cubicBezTo>
                  <a:lnTo>
                    <a:pt x="275395" y="160358"/>
                  </a:lnTo>
                  <a:close/>
                  <a:moveTo>
                    <a:pt x="0" y="1316"/>
                  </a:moveTo>
                  <a:moveTo>
                    <a:pt x="143301" y="149906"/>
                  </a:moveTo>
                  <a:lnTo>
                    <a:pt x="143301" y="139580"/>
                  </a:lnTo>
                  <a:lnTo>
                    <a:pt x="160552" y="132654"/>
                  </a:lnTo>
                  <a:close/>
                  <a:moveTo>
                    <a:pt x="72909" y="200653"/>
                  </a:moveTo>
                  <a:cubicBezTo>
                    <a:pt x="65537" y="202441"/>
                    <a:pt x="57946" y="203162"/>
                    <a:pt x="50369" y="202794"/>
                  </a:cubicBezTo>
                  <a:lnTo>
                    <a:pt x="26821" y="200527"/>
                  </a:lnTo>
                  <a:lnTo>
                    <a:pt x="6422" y="208838"/>
                  </a:lnTo>
                  <a:cubicBezTo>
                    <a:pt x="4237" y="209685"/>
                    <a:pt x="1763" y="209248"/>
                    <a:pt x="0" y="207705"/>
                  </a:cubicBezTo>
                  <a:lnTo>
                    <a:pt x="0" y="91477"/>
                  </a:lnTo>
                  <a:cubicBezTo>
                    <a:pt x="6055" y="85832"/>
                    <a:pt x="10970" y="79078"/>
                    <a:pt x="14481" y="71581"/>
                  </a:cubicBezTo>
                  <a:lnTo>
                    <a:pt x="41554" y="12523"/>
                  </a:lnTo>
                  <a:cubicBezTo>
                    <a:pt x="47186" y="3419"/>
                    <a:pt x="58759" y="0"/>
                    <a:pt x="68435" y="4579"/>
                  </a:cubicBezTo>
                  <a:cubicBezTo>
                    <a:pt x="78111" y="9159"/>
                    <a:pt x="82802" y="20277"/>
                    <a:pt x="79331" y="30404"/>
                  </a:cubicBezTo>
                  <a:lnTo>
                    <a:pt x="61828" y="72337"/>
                  </a:lnTo>
                  <a:cubicBezTo>
                    <a:pt x="61352" y="73558"/>
                    <a:pt x="61649" y="74945"/>
                    <a:pt x="62584" y="75863"/>
                  </a:cubicBezTo>
                  <a:cubicBezTo>
                    <a:pt x="63619" y="76527"/>
                    <a:pt x="64948" y="76527"/>
                    <a:pt x="65984" y="75863"/>
                  </a:cubicBezTo>
                  <a:lnTo>
                    <a:pt x="172641" y="32545"/>
                  </a:lnTo>
                  <a:cubicBezTo>
                    <a:pt x="180708" y="29276"/>
                    <a:pt x="189898" y="33166"/>
                    <a:pt x="193166" y="41234"/>
                  </a:cubicBezTo>
                  <a:cubicBezTo>
                    <a:pt x="196435" y="49301"/>
                    <a:pt x="192545" y="58491"/>
                    <a:pt x="184478" y="61759"/>
                  </a:cubicBezTo>
                  <a:lnTo>
                    <a:pt x="117486" y="89463"/>
                  </a:lnTo>
                  <a:cubicBezTo>
                    <a:pt x="115271" y="90236"/>
                    <a:pt x="113669" y="92177"/>
                    <a:pt x="113331" y="94499"/>
                  </a:cubicBezTo>
                  <a:lnTo>
                    <a:pt x="109427" y="94499"/>
                  </a:lnTo>
                  <a:cubicBezTo>
                    <a:pt x="101673" y="94479"/>
                    <a:pt x="94151" y="97149"/>
                    <a:pt x="88146" y="102055"/>
                  </a:cubicBezTo>
                  <a:cubicBezTo>
                    <a:pt x="81278" y="107860"/>
                    <a:pt x="76979" y="116141"/>
                    <a:pt x="76183" y="125099"/>
                  </a:cubicBezTo>
                  <a:lnTo>
                    <a:pt x="76183" y="125351"/>
                  </a:lnTo>
                  <a:lnTo>
                    <a:pt x="74294" y="190201"/>
                  </a:lnTo>
                  <a:cubicBezTo>
                    <a:pt x="74175" y="193722"/>
                    <a:pt x="73712" y="197223"/>
                    <a:pt x="72909" y="200653"/>
                  </a:cubicBezTo>
                  <a:close/>
                  <a:moveTo>
                    <a:pt x="0" y="1316"/>
                  </a:moveTo>
                  <a:moveTo>
                    <a:pt x="143049" y="126106"/>
                  </a:moveTo>
                  <a:cubicBezTo>
                    <a:pt x="142347" y="114714"/>
                    <a:pt x="135893" y="104463"/>
                    <a:pt x="125923" y="98907"/>
                  </a:cubicBezTo>
                  <a:lnTo>
                    <a:pt x="201477" y="68685"/>
                  </a:lnTo>
                  <a:cubicBezTo>
                    <a:pt x="209297" y="65808"/>
                    <a:pt x="217997" y="69576"/>
                    <a:pt x="221247" y="77248"/>
                  </a:cubicBezTo>
                  <a:cubicBezTo>
                    <a:pt x="216476" y="78522"/>
                    <a:pt x="212130" y="81043"/>
                    <a:pt x="208655" y="84551"/>
                  </a:cubicBezTo>
                  <a:lnTo>
                    <a:pt x="183470" y="109736"/>
                  </a:lnTo>
                  <a:lnTo>
                    <a:pt x="143049" y="126106"/>
                  </a:lnTo>
                  <a:close/>
                </a:path>
              </a:pathLst>
            </a:custGeom>
            <a:solidFill>
              <a:srgbClr val="484848"/>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2" name="Rounded Rectangle 19"/>
            <p:cNvSpPr/>
            <p:nvPr/>
          </p:nvSpPr>
          <p:spPr>
            <a:xfrm>
              <a:off x="6105171" y="3586015"/>
              <a:ext cx="302220" cy="261934"/>
            </a:xfrm>
            <a:custGeom>
              <a:avLst/>
              <a:gdLst/>
              <a:ahLst/>
              <a:cxnLst/>
              <a:rect l="0" t="0" r="0" b="0"/>
              <a:pathLst>
                <a:path w="302220" h="261934">
                  <a:moveTo>
                    <a:pt x="108549" y="193544"/>
                  </a:moveTo>
                  <a:cubicBezTo>
                    <a:pt x="101994" y="206532"/>
                    <a:pt x="101994" y="221860"/>
                    <a:pt x="108549" y="234847"/>
                  </a:cubicBezTo>
                  <a:cubicBezTo>
                    <a:pt x="109042" y="235794"/>
                    <a:pt x="109042" y="236922"/>
                    <a:pt x="108549" y="237869"/>
                  </a:cubicBezTo>
                  <a:cubicBezTo>
                    <a:pt x="108004" y="238813"/>
                    <a:pt x="106994" y="239390"/>
                    <a:pt x="105905" y="239381"/>
                  </a:cubicBezTo>
                  <a:lnTo>
                    <a:pt x="49239" y="239381"/>
                  </a:lnTo>
                  <a:cubicBezTo>
                    <a:pt x="41760" y="239351"/>
                    <a:pt x="34442" y="241543"/>
                    <a:pt x="28210" y="245677"/>
                  </a:cubicBezTo>
                  <a:lnTo>
                    <a:pt x="4914" y="261291"/>
                  </a:lnTo>
                  <a:cubicBezTo>
                    <a:pt x="3917" y="261934"/>
                    <a:pt x="2637" y="261934"/>
                    <a:pt x="1640" y="261291"/>
                  </a:cubicBezTo>
                  <a:cubicBezTo>
                    <a:pt x="628" y="260738"/>
                    <a:pt x="0" y="259675"/>
                    <a:pt x="3" y="258521"/>
                  </a:cubicBezTo>
                  <a:lnTo>
                    <a:pt x="3" y="140027"/>
                  </a:lnTo>
                  <a:cubicBezTo>
                    <a:pt x="3" y="137760"/>
                    <a:pt x="1136" y="137634"/>
                    <a:pt x="21787" y="120383"/>
                  </a:cubicBezTo>
                  <a:cubicBezTo>
                    <a:pt x="32384" y="111554"/>
                    <a:pt x="44445" y="104650"/>
                    <a:pt x="57424" y="99983"/>
                  </a:cubicBezTo>
                  <a:lnTo>
                    <a:pt x="109053" y="81220"/>
                  </a:lnTo>
                  <a:cubicBezTo>
                    <a:pt x="112911" y="79825"/>
                    <a:pt x="117207" y="80398"/>
                    <a:pt x="120566" y="82754"/>
                  </a:cubicBezTo>
                  <a:cubicBezTo>
                    <a:pt x="123924" y="85110"/>
                    <a:pt x="125925" y="88954"/>
                    <a:pt x="125926" y="93057"/>
                  </a:cubicBezTo>
                  <a:lnTo>
                    <a:pt x="125926" y="100487"/>
                  </a:lnTo>
                  <a:cubicBezTo>
                    <a:pt x="126195" y="104940"/>
                    <a:pt x="124088" y="109203"/>
                    <a:pt x="120386" y="111694"/>
                  </a:cubicBezTo>
                  <a:lnTo>
                    <a:pt x="82609" y="138642"/>
                  </a:lnTo>
                  <a:cubicBezTo>
                    <a:pt x="81960" y="139140"/>
                    <a:pt x="81513" y="139855"/>
                    <a:pt x="81349" y="140656"/>
                  </a:cubicBezTo>
                  <a:lnTo>
                    <a:pt x="77068" y="165841"/>
                  </a:lnTo>
                  <a:cubicBezTo>
                    <a:pt x="75978" y="172634"/>
                    <a:pt x="72156" y="178685"/>
                    <a:pt x="66490" y="182589"/>
                  </a:cubicBezTo>
                  <a:cubicBezTo>
                    <a:pt x="59571" y="186579"/>
                    <a:pt x="51802" y="188867"/>
                    <a:pt x="43824" y="189263"/>
                  </a:cubicBezTo>
                  <a:cubicBezTo>
                    <a:pt x="40347" y="189263"/>
                    <a:pt x="37528" y="192082"/>
                    <a:pt x="37528" y="195559"/>
                  </a:cubicBezTo>
                  <a:cubicBezTo>
                    <a:pt x="37528" y="199036"/>
                    <a:pt x="40347" y="201855"/>
                    <a:pt x="43824" y="201855"/>
                  </a:cubicBezTo>
                  <a:cubicBezTo>
                    <a:pt x="56569" y="202067"/>
                    <a:pt x="68990" y="197837"/>
                    <a:pt x="78957" y="189892"/>
                  </a:cubicBezTo>
                  <a:cubicBezTo>
                    <a:pt x="79555" y="189495"/>
                    <a:pt x="80254" y="189277"/>
                    <a:pt x="80972" y="189263"/>
                  </a:cubicBezTo>
                  <a:lnTo>
                    <a:pt x="106156" y="189263"/>
                  </a:lnTo>
                  <a:cubicBezTo>
                    <a:pt x="107260" y="189193"/>
                    <a:pt x="108300" y="189787"/>
                    <a:pt x="108801" y="190774"/>
                  </a:cubicBezTo>
                  <a:cubicBezTo>
                    <a:pt x="109294" y="191721"/>
                    <a:pt x="109294" y="192849"/>
                    <a:pt x="108801" y="193796"/>
                  </a:cubicBezTo>
                  <a:close/>
                  <a:moveTo>
                    <a:pt x="137637" y="189137"/>
                  </a:moveTo>
                  <a:cubicBezTo>
                    <a:pt x="138135" y="189024"/>
                    <a:pt x="138651" y="189024"/>
                    <a:pt x="139148" y="189137"/>
                  </a:cubicBezTo>
                  <a:lnTo>
                    <a:pt x="191155" y="189137"/>
                  </a:lnTo>
                  <a:cubicBezTo>
                    <a:pt x="192117" y="189147"/>
                    <a:pt x="193021" y="189597"/>
                    <a:pt x="193610" y="190358"/>
                  </a:cubicBezTo>
                  <a:cubicBezTo>
                    <a:pt x="194199" y="191118"/>
                    <a:pt x="194408" y="192107"/>
                    <a:pt x="194177" y="193041"/>
                  </a:cubicBezTo>
                  <a:lnTo>
                    <a:pt x="185362" y="230818"/>
                  </a:lnTo>
                  <a:cubicBezTo>
                    <a:pt x="183602" y="235853"/>
                    <a:pt x="178860" y="239233"/>
                    <a:pt x="173526" y="239255"/>
                  </a:cubicBezTo>
                  <a:lnTo>
                    <a:pt x="139148" y="239255"/>
                  </a:lnTo>
                  <a:cubicBezTo>
                    <a:pt x="129131" y="234907"/>
                    <a:pt x="122685" y="224990"/>
                    <a:pt x="122778" y="214070"/>
                  </a:cubicBezTo>
                  <a:cubicBezTo>
                    <a:pt x="122775" y="203660"/>
                    <a:pt x="128480" y="194087"/>
                    <a:pt x="137637" y="189137"/>
                  </a:cubicBezTo>
                  <a:close/>
                  <a:moveTo>
                    <a:pt x="192036" y="37147"/>
                  </a:moveTo>
                  <a:cubicBezTo>
                    <a:pt x="191966" y="38025"/>
                    <a:pt x="192266" y="38892"/>
                    <a:pt x="192864" y="39538"/>
                  </a:cubicBezTo>
                  <a:cubicBezTo>
                    <a:pt x="193463" y="40184"/>
                    <a:pt x="194304" y="40550"/>
                    <a:pt x="195184" y="40547"/>
                  </a:cubicBezTo>
                  <a:lnTo>
                    <a:pt x="198081" y="40547"/>
                  </a:lnTo>
                  <a:cubicBezTo>
                    <a:pt x="203297" y="40547"/>
                    <a:pt x="207525" y="44775"/>
                    <a:pt x="207525" y="49991"/>
                  </a:cubicBezTo>
                  <a:cubicBezTo>
                    <a:pt x="207525" y="55207"/>
                    <a:pt x="203297" y="59435"/>
                    <a:pt x="198081" y="59435"/>
                  </a:cubicBezTo>
                  <a:lnTo>
                    <a:pt x="177051" y="59435"/>
                  </a:lnTo>
                  <a:cubicBezTo>
                    <a:pt x="174687" y="59435"/>
                    <a:pt x="172770" y="61352"/>
                    <a:pt x="172770" y="63717"/>
                  </a:cubicBezTo>
                  <a:cubicBezTo>
                    <a:pt x="172744" y="65542"/>
                    <a:pt x="173846" y="67195"/>
                    <a:pt x="175540" y="67872"/>
                  </a:cubicBezTo>
                  <a:lnTo>
                    <a:pt x="196696" y="76687"/>
                  </a:lnTo>
                  <a:cubicBezTo>
                    <a:pt x="205562" y="80137"/>
                    <a:pt x="211375" y="88706"/>
                    <a:pt x="211303" y="98220"/>
                  </a:cubicBezTo>
                  <a:cubicBezTo>
                    <a:pt x="211296" y="108656"/>
                    <a:pt x="204350" y="117814"/>
                    <a:pt x="194303" y="120634"/>
                  </a:cubicBezTo>
                  <a:cubicBezTo>
                    <a:pt x="192960" y="121026"/>
                    <a:pt x="192036" y="122257"/>
                    <a:pt x="192036" y="123657"/>
                  </a:cubicBezTo>
                  <a:lnTo>
                    <a:pt x="192036" y="124916"/>
                  </a:lnTo>
                  <a:cubicBezTo>
                    <a:pt x="192036" y="130132"/>
                    <a:pt x="187808" y="134360"/>
                    <a:pt x="182592" y="134360"/>
                  </a:cubicBezTo>
                  <a:cubicBezTo>
                    <a:pt x="177376" y="134360"/>
                    <a:pt x="173148" y="130132"/>
                    <a:pt x="173148" y="124916"/>
                  </a:cubicBezTo>
                  <a:cubicBezTo>
                    <a:pt x="173218" y="124038"/>
                    <a:pt x="172918" y="123171"/>
                    <a:pt x="172320" y="122525"/>
                  </a:cubicBezTo>
                  <a:cubicBezTo>
                    <a:pt x="171722" y="121879"/>
                    <a:pt x="170880" y="121513"/>
                    <a:pt x="170000" y="121516"/>
                  </a:cubicBezTo>
                  <a:lnTo>
                    <a:pt x="167103" y="121516"/>
                  </a:lnTo>
                  <a:cubicBezTo>
                    <a:pt x="161888" y="121516"/>
                    <a:pt x="157659" y="117288"/>
                    <a:pt x="157659" y="112072"/>
                  </a:cubicBezTo>
                  <a:cubicBezTo>
                    <a:pt x="157659" y="106856"/>
                    <a:pt x="161888" y="102627"/>
                    <a:pt x="167103" y="102627"/>
                  </a:cubicBezTo>
                  <a:lnTo>
                    <a:pt x="188133" y="102627"/>
                  </a:lnTo>
                  <a:cubicBezTo>
                    <a:pt x="190167" y="102508"/>
                    <a:pt x="191855" y="101010"/>
                    <a:pt x="192214" y="99005"/>
                  </a:cubicBezTo>
                  <a:cubicBezTo>
                    <a:pt x="192573" y="96999"/>
                    <a:pt x="191510" y="95008"/>
                    <a:pt x="189644" y="94190"/>
                  </a:cubicBezTo>
                  <a:lnTo>
                    <a:pt x="168489" y="85754"/>
                  </a:lnTo>
                  <a:cubicBezTo>
                    <a:pt x="159173" y="82112"/>
                    <a:pt x="153246" y="72902"/>
                    <a:pt x="153789" y="62915"/>
                  </a:cubicBezTo>
                  <a:cubicBezTo>
                    <a:pt x="154333" y="52927"/>
                    <a:pt x="161225" y="44415"/>
                    <a:pt x="170881" y="41806"/>
                  </a:cubicBezTo>
                  <a:cubicBezTo>
                    <a:pt x="172224" y="41414"/>
                    <a:pt x="173148" y="40183"/>
                    <a:pt x="173148" y="38784"/>
                  </a:cubicBezTo>
                  <a:lnTo>
                    <a:pt x="173148" y="37525"/>
                  </a:lnTo>
                  <a:cubicBezTo>
                    <a:pt x="173148" y="32309"/>
                    <a:pt x="177376" y="28080"/>
                    <a:pt x="182592" y="28080"/>
                  </a:cubicBezTo>
                  <a:cubicBezTo>
                    <a:pt x="187664" y="28076"/>
                    <a:pt x="191834" y="32079"/>
                    <a:pt x="192036" y="37147"/>
                  </a:cubicBezTo>
                  <a:close/>
                  <a:moveTo>
                    <a:pt x="302220" y="144812"/>
                  </a:moveTo>
                  <a:cubicBezTo>
                    <a:pt x="302220" y="155244"/>
                    <a:pt x="293763" y="163700"/>
                    <a:pt x="283331" y="163700"/>
                  </a:cubicBezTo>
                  <a:lnTo>
                    <a:pt x="138519" y="163700"/>
                  </a:lnTo>
                  <a:cubicBezTo>
                    <a:pt x="131564" y="163700"/>
                    <a:pt x="125926" y="158063"/>
                    <a:pt x="125926" y="151108"/>
                  </a:cubicBezTo>
                  <a:cubicBezTo>
                    <a:pt x="125926" y="144153"/>
                    <a:pt x="131564" y="138516"/>
                    <a:pt x="138519" y="138516"/>
                  </a:cubicBezTo>
                  <a:lnTo>
                    <a:pt x="273887" y="138516"/>
                  </a:lnTo>
                  <a:cubicBezTo>
                    <a:pt x="275625" y="138516"/>
                    <a:pt x="277035" y="137106"/>
                    <a:pt x="277035" y="135368"/>
                  </a:cubicBezTo>
                  <a:lnTo>
                    <a:pt x="277035" y="28332"/>
                  </a:lnTo>
                  <a:cubicBezTo>
                    <a:pt x="277035" y="26594"/>
                    <a:pt x="275625" y="25184"/>
                    <a:pt x="273887" y="25184"/>
                  </a:cubicBezTo>
                  <a:lnTo>
                    <a:pt x="78705" y="25184"/>
                  </a:lnTo>
                  <a:cubicBezTo>
                    <a:pt x="76966" y="25184"/>
                    <a:pt x="75557" y="26594"/>
                    <a:pt x="75557" y="28332"/>
                  </a:cubicBezTo>
                  <a:lnTo>
                    <a:pt x="75557" y="50369"/>
                  </a:lnTo>
                  <a:cubicBezTo>
                    <a:pt x="75557" y="57324"/>
                    <a:pt x="69919" y="62961"/>
                    <a:pt x="62965" y="62961"/>
                  </a:cubicBezTo>
                  <a:cubicBezTo>
                    <a:pt x="56010" y="62961"/>
                    <a:pt x="50372" y="57324"/>
                    <a:pt x="50372" y="50369"/>
                  </a:cubicBezTo>
                  <a:lnTo>
                    <a:pt x="50372" y="18888"/>
                  </a:lnTo>
                  <a:cubicBezTo>
                    <a:pt x="50372" y="8456"/>
                    <a:pt x="58829" y="0"/>
                    <a:pt x="69261" y="0"/>
                  </a:cubicBezTo>
                  <a:lnTo>
                    <a:pt x="283331" y="0"/>
                  </a:lnTo>
                  <a:cubicBezTo>
                    <a:pt x="293763" y="0"/>
                    <a:pt x="302220" y="8456"/>
                    <a:pt x="302220" y="18888"/>
                  </a:cubicBezTo>
                  <a:close/>
                </a:path>
              </a:pathLst>
            </a:custGeom>
            <a:solidFill>
              <a:srgbClr val="484848"/>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3" name="Rounded Rectangle 20"/>
            <p:cNvSpPr/>
            <p:nvPr/>
          </p:nvSpPr>
          <p:spPr>
            <a:xfrm>
              <a:off x="5601480" y="4077831"/>
              <a:ext cx="302216" cy="302216"/>
            </a:xfrm>
            <a:custGeom>
              <a:avLst/>
              <a:gdLst/>
              <a:ahLst/>
              <a:cxnLst/>
              <a:rect l="0" t="0" r="0" b="0"/>
              <a:pathLst>
                <a:path w="302216" h="302216">
                  <a:moveTo>
                    <a:pt x="120509" y="207774"/>
                  </a:moveTo>
                  <a:cubicBezTo>
                    <a:pt x="119334" y="216128"/>
                    <a:pt x="119334" y="224605"/>
                    <a:pt x="120509" y="232958"/>
                  </a:cubicBezTo>
                  <a:lnTo>
                    <a:pt x="25184" y="232958"/>
                  </a:lnTo>
                  <a:cubicBezTo>
                    <a:pt x="11275" y="232958"/>
                    <a:pt x="0" y="221683"/>
                    <a:pt x="0" y="207774"/>
                  </a:cubicBezTo>
                  <a:lnTo>
                    <a:pt x="0" y="37777"/>
                  </a:lnTo>
                  <a:cubicBezTo>
                    <a:pt x="0" y="30822"/>
                    <a:pt x="5637" y="25184"/>
                    <a:pt x="12592" y="25184"/>
                  </a:cubicBezTo>
                  <a:lnTo>
                    <a:pt x="40925" y="25184"/>
                  </a:lnTo>
                  <a:cubicBezTo>
                    <a:pt x="44402" y="25184"/>
                    <a:pt x="47221" y="28003"/>
                    <a:pt x="47221" y="31480"/>
                  </a:cubicBezTo>
                  <a:lnTo>
                    <a:pt x="47221" y="56665"/>
                  </a:lnTo>
                  <a:cubicBezTo>
                    <a:pt x="47221" y="61881"/>
                    <a:pt x="51449" y="66109"/>
                    <a:pt x="56665" y="66109"/>
                  </a:cubicBezTo>
                  <a:cubicBezTo>
                    <a:pt x="61881" y="66109"/>
                    <a:pt x="66109" y="61881"/>
                    <a:pt x="66109" y="56665"/>
                  </a:cubicBezTo>
                  <a:lnTo>
                    <a:pt x="66109" y="9444"/>
                  </a:lnTo>
                  <a:cubicBezTo>
                    <a:pt x="66109" y="4228"/>
                    <a:pt x="70338" y="0"/>
                    <a:pt x="75554" y="0"/>
                  </a:cubicBezTo>
                  <a:cubicBezTo>
                    <a:pt x="80770" y="0"/>
                    <a:pt x="84998" y="4228"/>
                    <a:pt x="84998" y="9444"/>
                  </a:cubicBezTo>
                  <a:lnTo>
                    <a:pt x="84998" y="22036"/>
                  </a:lnTo>
                  <a:cubicBezTo>
                    <a:pt x="84998" y="23775"/>
                    <a:pt x="86407" y="25184"/>
                    <a:pt x="88146" y="25184"/>
                  </a:cubicBezTo>
                  <a:lnTo>
                    <a:pt x="141664" y="25184"/>
                  </a:lnTo>
                  <a:cubicBezTo>
                    <a:pt x="145141" y="25184"/>
                    <a:pt x="147960" y="28003"/>
                    <a:pt x="147960" y="31480"/>
                  </a:cubicBezTo>
                  <a:lnTo>
                    <a:pt x="147960" y="56665"/>
                  </a:lnTo>
                  <a:cubicBezTo>
                    <a:pt x="147960" y="61881"/>
                    <a:pt x="152188" y="66109"/>
                    <a:pt x="157404" y="66109"/>
                  </a:cubicBezTo>
                  <a:cubicBezTo>
                    <a:pt x="162620" y="66109"/>
                    <a:pt x="166848" y="61881"/>
                    <a:pt x="166848" y="56665"/>
                  </a:cubicBezTo>
                  <a:lnTo>
                    <a:pt x="166848" y="9444"/>
                  </a:lnTo>
                  <a:cubicBezTo>
                    <a:pt x="166848" y="4228"/>
                    <a:pt x="171077" y="0"/>
                    <a:pt x="176293" y="0"/>
                  </a:cubicBezTo>
                  <a:cubicBezTo>
                    <a:pt x="181509" y="0"/>
                    <a:pt x="185737" y="4228"/>
                    <a:pt x="185737" y="9444"/>
                  </a:cubicBezTo>
                  <a:lnTo>
                    <a:pt x="185737" y="22036"/>
                  </a:lnTo>
                  <a:cubicBezTo>
                    <a:pt x="185737" y="23775"/>
                    <a:pt x="187146" y="25184"/>
                    <a:pt x="188885" y="25184"/>
                  </a:cubicBezTo>
                  <a:lnTo>
                    <a:pt x="220366" y="25184"/>
                  </a:lnTo>
                  <a:cubicBezTo>
                    <a:pt x="227321" y="25184"/>
                    <a:pt x="232958" y="30822"/>
                    <a:pt x="232958" y="37777"/>
                  </a:cubicBezTo>
                  <a:lnTo>
                    <a:pt x="232958" y="120509"/>
                  </a:lnTo>
                  <a:cubicBezTo>
                    <a:pt x="224605" y="119334"/>
                    <a:pt x="216128" y="119334"/>
                    <a:pt x="207774" y="120509"/>
                  </a:cubicBezTo>
                  <a:lnTo>
                    <a:pt x="207774" y="94442"/>
                  </a:lnTo>
                  <a:cubicBezTo>
                    <a:pt x="207774" y="90965"/>
                    <a:pt x="204955" y="88146"/>
                    <a:pt x="201477" y="88146"/>
                  </a:cubicBezTo>
                  <a:lnTo>
                    <a:pt x="31480" y="88146"/>
                  </a:lnTo>
                  <a:cubicBezTo>
                    <a:pt x="28003" y="88146"/>
                    <a:pt x="25184" y="90965"/>
                    <a:pt x="25184" y="94442"/>
                  </a:cubicBezTo>
                  <a:lnTo>
                    <a:pt x="25184" y="201477"/>
                  </a:lnTo>
                  <a:cubicBezTo>
                    <a:pt x="25184" y="204955"/>
                    <a:pt x="28003" y="207774"/>
                    <a:pt x="31480" y="207774"/>
                  </a:cubicBezTo>
                  <a:lnTo>
                    <a:pt x="120509" y="207774"/>
                  </a:lnTo>
                  <a:close/>
                  <a:moveTo>
                    <a:pt x="302216" y="220366"/>
                  </a:moveTo>
                  <a:cubicBezTo>
                    <a:pt x="302216" y="265571"/>
                    <a:pt x="265571" y="302216"/>
                    <a:pt x="220366" y="302216"/>
                  </a:cubicBezTo>
                  <a:cubicBezTo>
                    <a:pt x="175161" y="302216"/>
                    <a:pt x="138516" y="265571"/>
                    <a:pt x="138516" y="220366"/>
                  </a:cubicBezTo>
                  <a:cubicBezTo>
                    <a:pt x="138516" y="175161"/>
                    <a:pt x="175161" y="138516"/>
                    <a:pt x="220366" y="138516"/>
                  </a:cubicBezTo>
                  <a:cubicBezTo>
                    <a:pt x="265542" y="138585"/>
                    <a:pt x="302147" y="175190"/>
                    <a:pt x="302216" y="220366"/>
                  </a:cubicBezTo>
                  <a:close/>
                  <a:moveTo>
                    <a:pt x="211300" y="273884"/>
                  </a:moveTo>
                  <a:cubicBezTo>
                    <a:pt x="211300" y="279100"/>
                    <a:pt x="215528" y="283328"/>
                    <a:pt x="220744" y="283328"/>
                  </a:cubicBezTo>
                  <a:cubicBezTo>
                    <a:pt x="225960" y="283328"/>
                    <a:pt x="230188" y="279100"/>
                    <a:pt x="230188" y="273884"/>
                  </a:cubicBezTo>
                  <a:lnTo>
                    <a:pt x="230188" y="267336"/>
                  </a:lnTo>
                  <a:cubicBezTo>
                    <a:pt x="242025" y="265892"/>
                    <a:pt x="251412" y="256670"/>
                    <a:pt x="253066" y="244860"/>
                  </a:cubicBezTo>
                  <a:cubicBezTo>
                    <a:pt x="254719" y="233050"/>
                    <a:pt x="248225" y="221605"/>
                    <a:pt x="237240" y="216966"/>
                  </a:cubicBezTo>
                  <a:lnTo>
                    <a:pt x="211300" y="206514"/>
                  </a:lnTo>
                  <a:cubicBezTo>
                    <a:pt x="208450" y="205408"/>
                    <a:pt x="206591" y="202645"/>
                    <a:pt x="206640" y="199589"/>
                  </a:cubicBezTo>
                  <a:cubicBezTo>
                    <a:pt x="206640" y="195485"/>
                    <a:pt x="209967" y="192159"/>
                    <a:pt x="214070" y="192159"/>
                  </a:cubicBezTo>
                  <a:lnTo>
                    <a:pt x="239255" y="192159"/>
                  </a:lnTo>
                  <a:cubicBezTo>
                    <a:pt x="244471" y="192159"/>
                    <a:pt x="248699" y="187931"/>
                    <a:pt x="248699" y="182715"/>
                  </a:cubicBezTo>
                  <a:cubicBezTo>
                    <a:pt x="248699" y="177499"/>
                    <a:pt x="244471" y="173271"/>
                    <a:pt x="239255" y="173271"/>
                  </a:cubicBezTo>
                  <a:lnTo>
                    <a:pt x="229433" y="173271"/>
                  </a:lnTo>
                  <a:lnTo>
                    <a:pt x="229433" y="166974"/>
                  </a:lnTo>
                  <a:cubicBezTo>
                    <a:pt x="229433" y="161758"/>
                    <a:pt x="225204" y="157530"/>
                    <a:pt x="219988" y="157530"/>
                  </a:cubicBezTo>
                  <a:cubicBezTo>
                    <a:pt x="214772" y="157530"/>
                    <a:pt x="210544" y="161758"/>
                    <a:pt x="210544" y="166974"/>
                  </a:cubicBezTo>
                  <a:lnTo>
                    <a:pt x="210544" y="173522"/>
                  </a:lnTo>
                  <a:cubicBezTo>
                    <a:pt x="198707" y="174966"/>
                    <a:pt x="189320" y="184188"/>
                    <a:pt x="187666" y="195998"/>
                  </a:cubicBezTo>
                  <a:cubicBezTo>
                    <a:pt x="186013" y="207808"/>
                    <a:pt x="192507" y="219253"/>
                    <a:pt x="203492" y="223892"/>
                  </a:cubicBezTo>
                  <a:lnTo>
                    <a:pt x="229433" y="234344"/>
                  </a:lnTo>
                  <a:cubicBezTo>
                    <a:pt x="232781" y="235643"/>
                    <a:pt x="234720" y="239151"/>
                    <a:pt x="234040" y="242678"/>
                  </a:cubicBezTo>
                  <a:cubicBezTo>
                    <a:pt x="233359" y="246204"/>
                    <a:pt x="230253" y="248739"/>
                    <a:pt x="226662" y="248699"/>
                  </a:cubicBezTo>
                  <a:lnTo>
                    <a:pt x="201477" y="248699"/>
                  </a:lnTo>
                  <a:cubicBezTo>
                    <a:pt x="196262" y="248699"/>
                    <a:pt x="192033" y="252927"/>
                    <a:pt x="192033" y="258143"/>
                  </a:cubicBezTo>
                  <a:cubicBezTo>
                    <a:pt x="192033" y="263359"/>
                    <a:pt x="196262" y="267588"/>
                    <a:pt x="201477" y="267588"/>
                  </a:cubicBezTo>
                  <a:lnTo>
                    <a:pt x="210922" y="267588"/>
                  </a:lnTo>
                  <a:close/>
                </a:path>
              </a:pathLst>
            </a:custGeom>
            <a:solidFill>
              <a:srgbClr val="484848"/>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4" name="TextBox 22"/>
            <p:cNvSpPr txBox="1"/>
            <p:nvPr/>
          </p:nvSpPr>
          <p:spPr>
            <a:xfrm>
              <a:off x="4047747" y="1823796"/>
              <a:ext cx="744713" cy="265866"/>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sz="2000" b="1" dirty="0">
                  <a:solidFill>
                    <a:srgbClr val="BA5DE5"/>
                  </a:solidFill>
                </a:rPr>
                <a:t>Pension</a:t>
              </a:r>
            </a:p>
          </p:txBody>
        </p:sp>
        <p:sp>
          <p:nvSpPr>
            <p:cNvPr id="15" name="TextBox 23"/>
            <p:cNvSpPr txBox="1"/>
            <p:nvPr/>
          </p:nvSpPr>
          <p:spPr>
            <a:xfrm>
              <a:off x="6776768" y="1823796"/>
              <a:ext cx="1602785" cy="265866"/>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2000" b="1">
                  <a:solidFill>
                    <a:srgbClr val="E0CB15"/>
                  </a:solidFill>
                </a:rPr>
                <a:t>Bonus/Incentives</a:t>
              </a:r>
            </a:p>
          </p:txBody>
        </p:sp>
        <p:sp>
          <p:nvSpPr>
            <p:cNvPr id="16" name="TextBox 24"/>
            <p:cNvSpPr txBox="1"/>
            <p:nvPr/>
          </p:nvSpPr>
          <p:spPr>
            <a:xfrm>
              <a:off x="2869030" y="2147000"/>
              <a:ext cx="1733361" cy="717836"/>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484848"/>
                  </a:solidFill>
                </a:rPr>
                <a:t>Periodic payments to
employees after their
retirement.</a:t>
              </a:r>
            </a:p>
          </p:txBody>
        </p:sp>
        <p:sp>
          <p:nvSpPr>
            <p:cNvPr id="17" name="TextBox 25"/>
            <p:cNvSpPr txBox="1"/>
            <p:nvPr/>
          </p:nvSpPr>
          <p:spPr>
            <a:xfrm>
              <a:off x="6882495" y="2135888"/>
              <a:ext cx="1759189" cy="717836"/>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484848"/>
                  </a:solidFill>
                </a:rPr>
                <a:t>Payments made to
employees exceeding
their salary.</a:t>
              </a:r>
            </a:p>
          </p:txBody>
        </p:sp>
        <p:sp>
          <p:nvSpPr>
            <p:cNvPr id="18" name="TextBox 26"/>
            <p:cNvSpPr txBox="1"/>
            <p:nvPr/>
          </p:nvSpPr>
          <p:spPr>
            <a:xfrm>
              <a:off x="3659217" y="3637098"/>
              <a:ext cx="731799" cy="265866"/>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sz="2000" b="1">
                  <a:solidFill>
                    <a:srgbClr val="DE58A9"/>
                  </a:solidFill>
                </a:rPr>
                <a:t>Gratuity</a:t>
              </a:r>
            </a:p>
          </p:txBody>
        </p:sp>
        <p:sp>
          <p:nvSpPr>
            <p:cNvPr id="19" name="TextBox 27"/>
            <p:cNvSpPr txBox="1"/>
            <p:nvPr/>
          </p:nvSpPr>
          <p:spPr>
            <a:xfrm>
              <a:off x="7338897" y="3650567"/>
              <a:ext cx="1139311" cy="265866"/>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2000" b="1" dirty="0">
                  <a:solidFill>
                    <a:srgbClr val="DE8431"/>
                  </a:solidFill>
                </a:rPr>
                <a:t>Commission</a:t>
              </a:r>
            </a:p>
          </p:txBody>
        </p:sp>
        <p:sp>
          <p:nvSpPr>
            <p:cNvPr id="20" name="TextBox 28"/>
            <p:cNvSpPr txBox="1"/>
            <p:nvPr/>
          </p:nvSpPr>
          <p:spPr>
            <a:xfrm>
              <a:off x="2041726" y="3960302"/>
              <a:ext cx="2281493" cy="47855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484848"/>
                  </a:solidFill>
                </a:rPr>
                <a:t>A lump sum payment to
employees upon</a:t>
              </a:r>
              <a:r>
                <a:rPr lang="en-US" b="0" dirty="0">
                  <a:solidFill>
                    <a:srgbClr val="484848"/>
                  </a:solidFill>
                </a:rPr>
                <a:t> </a:t>
              </a:r>
              <a:r>
                <a:rPr b="0" dirty="0">
                  <a:solidFill>
                    <a:srgbClr val="484848"/>
                  </a:solidFill>
                </a:rPr>
                <a:t>retirement.</a:t>
              </a:r>
            </a:p>
          </p:txBody>
        </p:sp>
        <p:sp>
          <p:nvSpPr>
            <p:cNvPr id="21" name="TextBox 29"/>
            <p:cNvSpPr txBox="1"/>
            <p:nvPr/>
          </p:nvSpPr>
          <p:spPr>
            <a:xfrm>
              <a:off x="7146139" y="3947454"/>
              <a:ext cx="2536905" cy="47855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484848"/>
                  </a:solidFill>
                </a:rPr>
                <a:t>Earning a percentage
from sales or</a:t>
              </a:r>
              <a:r>
                <a:rPr lang="en-US" b="0" dirty="0">
                  <a:solidFill>
                    <a:srgbClr val="484848"/>
                  </a:solidFill>
                </a:rPr>
                <a:t> </a:t>
              </a:r>
              <a:r>
                <a:rPr b="0" dirty="0">
                  <a:solidFill>
                    <a:srgbClr val="484848"/>
                  </a:solidFill>
                </a:rPr>
                <a:t>completed tasks.</a:t>
              </a:r>
            </a:p>
          </p:txBody>
        </p:sp>
        <p:sp>
          <p:nvSpPr>
            <p:cNvPr id="22" name="TextBox 30"/>
            <p:cNvSpPr txBox="1"/>
            <p:nvPr/>
          </p:nvSpPr>
          <p:spPr>
            <a:xfrm>
              <a:off x="5245391" y="5047444"/>
              <a:ext cx="1123527" cy="531730"/>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a:solidFill>
                    <a:srgbClr val="E55753"/>
                  </a:solidFill>
                </a:rPr>
                <a:t>Leave
Encashment</a:t>
              </a:r>
            </a:p>
          </p:txBody>
        </p:sp>
        <p:sp>
          <p:nvSpPr>
            <p:cNvPr id="23" name="TextBox 31"/>
            <p:cNvSpPr txBox="1"/>
            <p:nvPr/>
          </p:nvSpPr>
          <p:spPr>
            <a:xfrm>
              <a:off x="4768286" y="5633320"/>
              <a:ext cx="2077737" cy="47855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484848"/>
                  </a:solidFill>
                </a:rPr>
                <a:t>Converting unused leave
days into cash</a:t>
              </a:r>
              <a:r>
                <a:rPr lang="en-US" b="0" dirty="0">
                  <a:solidFill>
                    <a:srgbClr val="484848"/>
                  </a:solidFill>
                </a:rPr>
                <a:t> </a:t>
              </a:r>
              <a:r>
                <a:rPr b="0" dirty="0">
                  <a:solidFill>
                    <a:srgbClr val="484848"/>
                  </a:solidFill>
                </a:rPr>
                <a:t>payments.</a:t>
              </a:r>
            </a:p>
          </p:txBody>
        </p:sp>
      </p:grpSp>
    </p:spTree>
    <p:extLst>
      <p:ext uri="{BB962C8B-B14F-4D97-AF65-F5344CB8AC3E}">
        <p14:creationId xmlns:p14="http://schemas.microsoft.com/office/powerpoint/2010/main" val="30870675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079441048"/>
              </p:ext>
            </p:extLst>
          </p:nvPr>
        </p:nvGraphicFramePr>
        <p:xfrm>
          <a:off x="1504026" y="1313896"/>
          <a:ext cx="9183948" cy="4385941"/>
        </p:xfrm>
        <a:graphic>
          <a:graphicData uri="http://schemas.openxmlformats.org/drawingml/2006/table">
            <a:tbl>
              <a:tblPr firstRow="1" bandRow="1">
                <a:tableStyleId>{21E4AEA4-8DFA-4A89-87EB-49C32662AFE0}</a:tableStyleId>
              </a:tblPr>
              <a:tblGrid>
                <a:gridCol w="6227867">
                  <a:extLst>
                    <a:ext uri="{9D8B030D-6E8A-4147-A177-3AD203B41FA5}">
                      <a16:colId xmlns:a16="http://schemas.microsoft.com/office/drawing/2014/main" val="20000"/>
                    </a:ext>
                  </a:extLst>
                </a:gridCol>
                <a:gridCol w="1478041">
                  <a:extLst>
                    <a:ext uri="{9D8B030D-6E8A-4147-A177-3AD203B41FA5}">
                      <a16:colId xmlns:a16="http://schemas.microsoft.com/office/drawing/2014/main" val="20001"/>
                    </a:ext>
                  </a:extLst>
                </a:gridCol>
                <a:gridCol w="1478040">
                  <a:extLst>
                    <a:ext uri="{9D8B030D-6E8A-4147-A177-3AD203B41FA5}">
                      <a16:colId xmlns:a16="http://schemas.microsoft.com/office/drawing/2014/main" val="20002"/>
                    </a:ext>
                  </a:extLst>
                </a:gridCol>
              </a:tblGrid>
              <a:tr h="626563">
                <a:tc>
                  <a:txBody>
                    <a:bodyPr/>
                    <a:lstStyle/>
                    <a:p>
                      <a:pPr algn="ctr"/>
                      <a:r>
                        <a:rPr lang="en-US" sz="2400" dirty="0">
                          <a:latin typeface="+mn-lt"/>
                        </a:rPr>
                        <a:t>Income under the head “Salary”</a:t>
                      </a:r>
                      <a:endParaRPr lang="en-US" sz="2400" dirty="0">
                        <a:latin typeface="+mn-lt"/>
                        <a:cs typeface="Times New Roman" panose="02020603050405020304" pitchFamily="18" charset="0"/>
                      </a:endParaRPr>
                    </a:p>
                  </a:txBody>
                  <a:tcPr anchor="ctr"/>
                </a:tc>
                <a:tc>
                  <a:txBody>
                    <a:bodyPr/>
                    <a:lstStyle/>
                    <a:p>
                      <a:pPr algn="ctr"/>
                      <a:r>
                        <a:rPr lang="en-US" sz="2400" dirty="0">
                          <a:latin typeface="+mn-lt"/>
                        </a:rPr>
                        <a:t>Amount</a:t>
                      </a:r>
                      <a:endParaRPr lang="en-US" sz="2400" dirty="0">
                        <a:latin typeface="+mn-lt"/>
                        <a:cs typeface="Times New Roman" panose="02020603050405020304" pitchFamily="18" charset="0"/>
                      </a:endParaRPr>
                    </a:p>
                  </a:txBody>
                  <a:tcPr anchor="ctr"/>
                </a:tc>
                <a:tc>
                  <a:txBody>
                    <a:bodyPr/>
                    <a:lstStyle/>
                    <a:p>
                      <a:pPr algn="ctr"/>
                      <a:r>
                        <a:rPr lang="en-US" sz="2400" dirty="0">
                          <a:latin typeface="+mn-lt"/>
                        </a:rPr>
                        <a:t>Amount </a:t>
                      </a:r>
                      <a:endParaRPr lang="en-US" sz="2400" dirty="0">
                        <a:latin typeface="+mn-lt"/>
                        <a:cs typeface="Times New Roman" panose="02020603050405020304" pitchFamily="18" charset="0"/>
                      </a:endParaRPr>
                    </a:p>
                  </a:txBody>
                  <a:tcPr anchor="ctr"/>
                </a:tc>
                <a:extLst>
                  <a:ext uri="{0D108BD9-81ED-4DB2-BD59-A6C34878D82A}">
                    <a16:rowId xmlns:a16="http://schemas.microsoft.com/office/drawing/2014/main" val="10000"/>
                  </a:ext>
                </a:extLst>
              </a:tr>
              <a:tr h="626563">
                <a:tc>
                  <a:txBody>
                    <a:bodyPr/>
                    <a:lstStyle/>
                    <a:p>
                      <a:r>
                        <a:rPr lang="en-US" sz="2000" dirty="0">
                          <a:latin typeface="+mn-lt"/>
                        </a:rPr>
                        <a:t>Salary/Bonus/Commission etc.</a:t>
                      </a:r>
                      <a:endParaRPr lang="en-US" sz="2000" dirty="0">
                        <a:latin typeface="+mn-lt"/>
                        <a:cs typeface="Times New Roman" panose="02020603050405020304" pitchFamily="18" charset="0"/>
                      </a:endParaRPr>
                    </a:p>
                  </a:txBody>
                  <a:tcPr anchor="ctr"/>
                </a:tc>
                <a:tc>
                  <a:txBody>
                    <a:bodyPr/>
                    <a:lstStyle/>
                    <a:p>
                      <a:pPr algn="ctr"/>
                      <a:r>
                        <a:rPr lang="en-US" sz="2000" dirty="0">
                          <a:latin typeface="+mn-lt"/>
                        </a:rPr>
                        <a:t>A</a:t>
                      </a:r>
                      <a:endParaRPr lang="en-US" sz="2000" dirty="0">
                        <a:latin typeface="+mn-lt"/>
                        <a:cs typeface="Times New Roman" panose="02020603050405020304" pitchFamily="18" charset="0"/>
                      </a:endParaRPr>
                    </a:p>
                  </a:txBody>
                  <a:tcPr anchor="ctr"/>
                </a:tc>
                <a:tc>
                  <a:txBody>
                    <a:bodyPr/>
                    <a:lstStyle/>
                    <a:p>
                      <a:pPr algn="ctr"/>
                      <a:endParaRPr lang="en-US" sz="2000" dirty="0">
                        <a:latin typeface="+mn-lt"/>
                        <a:cs typeface="Times New Roman" panose="02020603050405020304" pitchFamily="18" charset="0"/>
                      </a:endParaRPr>
                    </a:p>
                  </a:txBody>
                  <a:tcPr anchor="ctr"/>
                </a:tc>
                <a:extLst>
                  <a:ext uri="{0D108BD9-81ED-4DB2-BD59-A6C34878D82A}">
                    <a16:rowId xmlns:a16="http://schemas.microsoft.com/office/drawing/2014/main" val="10001"/>
                  </a:ext>
                </a:extLst>
              </a:tr>
              <a:tr h="626563">
                <a:tc>
                  <a:txBody>
                    <a:bodyPr/>
                    <a:lstStyle/>
                    <a:p>
                      <a:r>
                        <a:rPr lang="en-US" sz="2000" dirty="0">
                          <a:latin typeface="+mn-lt"/>
                        </a:rPr>
                        <a:t>Taxable Allowance</a:t>
                      </a:r>
                      <a:endParaRPr lang="en-US" sz="2000" dirty="0">
                        <a:latin typeface="+mn-lt"/>
                        <a:cs typeface="Times New Roman" panose="02020603050405020304" pitchFamily="18" charset="0"/>
                      </a:endParaRPr>
                    </a:p>
                  </a:txBody>
                  <a:tcPr anchor="ctr"/>
                </a:tc>
                <a:tc>
                  <a:txBody>
                    <a:bodyPr/>
                    <a:lstStyle/>
                    <a:p>
                      <a:pPr algn="ctr"/>
                      <a:r>
                        <a:rPr lang="en-US" sz="2000" dirty="0">
                          <a:latin typeface="+mn-lt"/>
                        </a:rPr>
                        <a:t>B</a:t>
                      </a:r>
                      <a:endParaRPr lang="en-US" sz="2000" dirty="0">
                        <a:latin typeface="+mn-lt"/>
                        <a:cs typeface="Times New Roman" panose="02020603050405020304" pitchFamily="18" charset="0"/>
                      </a:endParaRPr>
                    </a:p>
                  </a:txBody>
                  <a:tcPr anchor="ctr"/>
                </a:tc>
                <a:tc>
                  <a:txBody>
                    <a:bodyPr/>
                    <a:lstStyle/>
                    <a:p>
                      <a:pPr algn="ctr"/>
                      <a:endParaRPr lang="en-US" sz="2000" dirty="0">
                        <a:latin typeface="+mn-lt"/>
                        <a:cs typeface="Times New Roman" panose="02020603050405020304" pitchFamily="18" charset="0"/>
                      </a:endParaRPr>
                    </a:p>
                  </a:txBody>
                  <a:tcPr anchor="ctr"/>
                </a:tc>
                <a:extLst>
                  <a:ext uri="{0D108BD9-81ED-4DB2-BD59-A6C34878D82A}">
                    <a16:rowId xmlns:a16="http://schemas.microsoft.com/office/drawing/2014/main" val="10002"/>
                  </a:ext>
                </a:extLst>
              </a:tr>
              <a:tr h="626563">
                <a:tc>
                  <a:txBody>
                    <a:bodyPr/>
                    <a:lstStyle/>
                    <a:p>
                      <a:r>
                        <a:rPr lang="en-US" sz="2000" dirty="0">
                          <a:latin typeface="+mn-lt"/>
                        </a:rPr>
                        <a:t>Value of Taxable perquisites </a:t>
                      </a:r>
                      <a:endParaRPr lang="en-US" sz="2000" dirty="0">
                        <a:latin typeface="+mn-lt"/>
                        <a:cs typeface="Times New Roman" panose="02020603050405020304" pitchFamily="18" charset="0"/>
                      </a:endParaRPr>
                    </a:p>
                  </a:txBody>
                  <a:tcPr anchor="ctr"/>
                </a:tc>
                <a:tc>
                  <a:txBody>
                    <a:bodyPr/>
                    <a:lstStyle/>
                    <a:p>
                      <a:pPr algn="ctr"/>
                      <a:r>
                        <a:rPr lang="en-US" sz="2000" dirty="0">
                          <a:latin typeface="+mn-lt"/>
                        </a:rPr>
                        <a:t>C</a:t>
                      </a:r>
                      <a:endParaRPr lang="en-US" sz="2000" dirty="0">
                        <a:latin typeface="+mn-lt"/>
                        <a:cs typeface="Times New Roman" panose="02020603050405020304" pitchFamily="18" charset="0"/>
                      </a:endParaRPr>
                    </a:p>
                  </a:txBody>
                  <a:tcPr anchor="ctr"/>
                </a:tc>
                <a:tc>
                  <a:txBody>
                    <a:bodyPr/>
                    <a:lstStyle/>
                    <a:p>
                      <a:pPr algn="ctr"/>
                      <a:endParaRPr lang="en-US" sz="2000" dirty="0">
                        <a:latin typeface="+mn-lt"/>
                        <a:cs typeface="Times New Roman" panose="02020603050405020304" pitchFamily="18" charset="0"/>
                      </a:endParaRPr>
                    </a:p>
                  </a:txBody>
                  <a:tcPr anchor="ctr"/>
                </a:tc>
                <a:extLst>
                  <a:ext uri="{0D108BD9-81ED-4DB2-BD59-A6C34878D82A}">
                    <a16:rowId xmlns:a16="http://schemas.microsoft.com/office/drawing/2014/main" val="10003"/>
                  </a:ext>
                </a:extLst>
              </a:tr>
              <a:tr h="626563">
                <a:tc>
                  <a:txBody>
                    <a:bodyPr/>
                    <a:lstStyle/>
                    <a:p>
                      <a:r>
                        <a:rPr lang="en-US" sz="2000" dirty="0">
                          <a:latin typeface="+mn-lt"/>
                        </a:rPr>
                        <a:t>Gross Salary (A+B+C)</a:t>
                      </a:r>
                      <a:endParaRPr lang="en-US" sz="2000" dirty="0">
                        <a:latin typeface="+mn-lt"/>
                        <a:cs typeface="Times New Roman" panose="02020603050405020304" pitchFamily="18" charset="0"/>
                      </a:endParaRPr>
                    </a:p>
                  </a:txBody>
                  <a:tcPr anchor="ctr"/>
                </a:tc>
                <a:tc>
                  <a:txBody>
                    <a:bodyPr/>
                    <a:lstStyle/>
                    <a:p>
                      <a:pPr algn="ctr"/>
                      <a:endParaRPr lang="en-US" sz="2000" dirty="0">
                        <a:latin typeface="+mn-lt"/>
                        <a:cs typeface="Times New Roman" panose="02020603050405020304" pitchFamily="18" charset="0"/>
                      </a:endParaRPr>
                    </a:p>
                  </a:txBody>
                  <a:tcPr anchor="ctr"/>
                </a:tc>
                <a:tc>
                  <a:txBody>
                    <a:bodyPr/>
                    <a:lstStyle/>
                    <a:p>
                      <a:pPr algn="ctr"/>
                      <a:r>
                        <a:rPr lang="en-US" sz="2000" dirty="0">
                          <a:latin typeface="+mn-lt"/>
                        </a:rPr>
                        <a:t>D</a:t>
                      </a:r>
                      <a:endParaRPr lang="en-US" sz="2000" dirty="0">
                        <a:latin typeface="+mn-lt"/>
                        <a:cs typeface="Times New Roman" panose="02020603050405020304" pitchFamily="18" charset="0"/>
                      </a:endParaRPr>
                    </a:p>
                  </a:txBody>
                  <a:tcPr anchor="ctr"/>
                </a:tc>
                <a:extLst>
                  <a:ext uri="{0D108BD9-81ED-4DB2-BD59-A6C34878D82A}">
                    <a16:rowId xmlns:a16="http://schemas.microsoft.com/office/drawing/2014/main" val="10004"/>
                  </a:ext>
                </a:extLst>
              </a:tr>
              <a:tr h="626563">
                <a:tc>
                  <a:txBody>
                    <a:bodyPr/>
                    <a:lstStyle/>
                    <a:p>
                      <a:r>
                        <a:rPr lang="en-US" sz="2000" dirty="0">
                          <a:latin typeface="+mn-lt"/>
                        </a:rPr>
                        <a:t>Less: Deductions</a:t>
                      </a:r>
                      <a:r>
                        <a:rPr lang="en-US" sz="2000" baseline="0" dirty="0">
                          <a:latin typeface="+mn-lt"/>
                        </a:rPr>
                        <a:t> under section 16</a:t>
                      </a:r>
                      <a:endParaRPr lang="en-US" sz="2000" i="1" dirty="0">
                        <a:latin typeface="+mn-lt"/>
                        <a:cs typeface="Times New Roman" panose="02020603050405020304" pitchFamily="18" charset="0"/>
                      </a:endParaRPr>
                    </a:p>
                  </a:txBody>
                  <a:tcPr anchor="ctr"/>
                </a:tc>
                <a:tc>
                  <a:txBody>
                    <a:bodyPr/>
                    <a:lstStyle/>
                    <a:p>
                      <a:pPr algn="ctr"/>
                      <a:endParaRPr lang="en-US" sz="2000" dirty="0">
                        <a:latin typeface="+mn-lt"/>
                        <a:cs typeface="Times New Roman" panose="02020603050405020304" pitchFamily="18" charset="0"/>
                      </a:endParaRPr>
                    </a:p>
                  </a:txBody>
                  <a:tcPr anchor="ctr"/>
                </a:tc>
                <a:tc>
                  <a:txBody>
                    <a:bodyPr/>
                    <a:lstStyle/>
                    <a:p>
                      <a:pPr algn="ctr"/>
                      <a:r>
                        <a:rPr lang="en-US" sz="2000" dirty="0">
                          <a:latin typeface="+mn-lt"/>
                        </a:rPr>
                        <a:t>E</a:t>
                      </a:r>
                      <a:endParaRPr lang="en-US" sz="2000" dirty="0">
                        <a:latin typeface="+mn-lt"/>
                        <a:cs typeface="Times New Roman" panose="02020603050405020304" pitchFamily="18" charset="0"/>
                      </a:endParaRPr>
                    </a:p>
                  </a:txBody>
                  <a:tcPr anchor="ctr"/>
                </a:tc>
                <a:extLst>
                  <a:ext uri="{0D108BD9-81ED-4DB2-BD59-A6C34878D82A}">
                    <a16:rowId xmlns:a16="http://schemas.microsoft.com/office/drawing/2014/main" val="10005"/>
                  </a:ext>
                </a:extLst>
              </a:tr>
              <a:tr h="626563">
                <a:tc>
                  <a:txBody>
                    <a:bodyPr/>
                    <a:lstStyle/>
                    <a:p>
                      <a:r>
                        <a:rPr lang="en-US" sz="2000" b="1" dirty="0">
                          <a:latin typeface="+mn-lt"/>
                        </a:rPr>
                        <a:t>Net Taxable Income from Salary (D-E)</a:t>
                      </a:r>
                      <a:endParaRPr lang="en-US" sz="2000" b="1" dirty="0">
                        <a:latin typeface="+mn-lt"/>
                        <a:cs typeface="Times New Roman" panose="02020603050405020304" pitchFamily="18" charset="0"/>
                      </a:endParaRPr>
                    </a:p>
                  </a:txBody>
                  <a:tcPr anchor="ctr"/>
                </a:tc>
                <a:tc>
                  <a:txBody>
                    <a:bodyPr/>
                    <a:lstStyle/>
                    <a:p>
                      <a:pPr algn="ctr"/>
                      <a:endParaRPr lang="en-US" sz="2000" b="1" dirty="0">
                        <a:latin typeface="+mn-lt"/>
                        <a:cs typeface="Times New Roman" panose="02020603050405020304" pitchFamily="18" charset="0"/>
                      </a:endParaRPr>
                    </a:p>
                  </a:txBody>
                  <a:tcPr anchor="ctr"/>
                </a:tc>
                <a:tc>
                  <a:txBody>
                    <a:bodyPr/>
                    <a:lstStyle/>
                    <a:p>
                      <a:pPr algn="ctr"/>
                      <a:r>
                        <a:rPr lang="en-US" sz="2000" b="1" dirty="0">
                          <a:latin typeface="+mn-lt"/>
                        </a:rPr>
                        <a:t>F</a:t>
                      </a:r>
                      <a:endParaRPr lang="en-US" sz="2000" b="1" dirty="0">
                        <a:latin typeface="+mn-lt"/>
                        <a:cs typeface="Times New Roman" panose="02020603050405020304" pitchFamily="18" charset="0"/>
                      </a:endParaRPr>
                    </a:p>
                  </a:txBody>
                  <a:tcPr anchor="ctr"/>
                </a:tc>
                <a:extLst>
                  <a:ext uri="{0D108BD9-81ED-4DB2-BD59-A6C34878D82A}">
                    <a16:rowId xmlns:a16="http://schemas.microsoft.com/office/drawing/2014/main" val="10006"/>
                  </a:ext>
                </a:extLst>
              </a:tr>
            </a:tbl>
          </a:graphicData>
        </a:graphic>
      </p:graphicFrame>
      <p:sp>
        <p:nvSpPr>
          <p:cNvPr id="3" name="Content Placeholder 2"/>
          <p:cNvSpPr txBox="1">
            <a:spLocks/>
          </p:cNvSpPr>
          <p:nvPr/>
        </p:nvSpPr>
        <p:spPr>
          <a:xfrm>
            <a:off x="1504026" y="549800"/>
            <a:ext cx="9601200" cy="688263"/>
          </a:xfrm>
          <a:prstGeom prst="rect">
            <a:avLst/>
          </a:prstGeom>
        </p:spPr>
        <p:txBody>
          <a:bodyPr>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buFont typeface="Franklin Gothic Book" panose="020B0503020102020204" pitchFamily="34" charset="0"/>
              <a:buNone/>
            </a:pPr>
            <a:r>
              <a:rPr lang="en-US" sz="3600" b="1" dirty="0">
                <a:cs typeface="Times New Roman" panose="02020603050405020304" pitchFamily="18" charset="0"/>
              </a:rPr>
              <a:t>Calculation of Salary:</a:t>
            </a:r>
          </a:p>
        </p:txBody>
      </p:sp>
    </p:spTree>
    <p:extLst>
      <p:ext uri="{BB962C8B-B14F-4D97-AF65-F5344CB8AC3E}">
        <p14:creationId xmlns:p14="http://schemas.microsoft.com/office/powerpoint/2010/main" val="20499929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BD0437-5275-49FA-93B5-94D7BFBE21B9}"/>
              </a:ext>
            </a:extLst>
          </p:cNvPr>
          <p:cNvSpPr>
            <a:spLocks noGrp="1"/>
          </p:cNvSpPr>
          <p:nvPr>
            <p:ph type="title"/>
          </p:nvPr>
        </p:nvSpPr>
        <p:spPr/>
        <p:txBody>
          <a:bodyPr>
            <a:normAutofit/>
          </a:bodyPr>
          <a:lstStyle/>
          <a:p>
            <a:r>
              <a:rPr lang="en-US" dirty="0"/>
              <a:t>Exercise</a:t>
            </a:r>
            <a:endParaRPr lang="en-IN" dirty="0"/>
          </a:p>
        </p:txBody>
      </p:sp>
      <p:sp>
        <p:nvSpPr>
          <p:cNvPr id="3" name="Content Placeholder 2">
            <a:extLst>
              <a:ext uri="{FF2B5EF4-FFF2-40B4-BE49-F238E27FC236}">
                <a16:creationId xmlns:a16="http://schemas.microsoft.com/office/drawing/2014/main" id="{122D3FBB-04DF-45E5-8ADC-9FDCC6FD0ABF}"/>
              </a:ext>
            </a:extLst>
          </p:cNvPr>
          <p:cNvSpPr>
            <a:spLocks noGrp="1"/>
          </p:cNvSpPr>
          <p:nvPr>
            <p:ph idx="1"/>
          </p:nvPr>
        </p:nvSpPr>
        <p:spPr/>
        <p:txBody>
          <a:bodyPr/>
          <a:lstStyle/>
          <a:p>
            <a:r>
              <a:rPr lang="en-IN" dirty="0"/>
              <a:t>Mr. Ritesh is the Manager of the production department of a reputed software company. He is getting following amount for the services rendered by him to the company -</a:t>
            </a:r>
          </a:p>
          <a:p>
            <a:pPr lvl="1"/>
            <a:r>
              <a:rPr lang="en-IN" dirty="0"/>
              <a:t>₹ 1,50,000 per month as </a:t>
            </a:r>
            <a:r>
              <a:rPr lang="en-IN" b="1" dirty="0">
                <a:solidFill>
                  <a:srgbClr val="C00000"/>
                </a:solidFill>
              </a:rPr>
              <a:t>Basic Salary (BS)</a:t>
            </a:r>
            <a:endParaRPr lang="en-IN" dirty="0"/>
          </a:p>
          <a:p>
            <a:pPr lvl="1"/>
            <a:r>
              <a:rPr lang="en-IN" dirty="0"/>
              <a:t>₹ 10% of Basic Salary as </a:t>
            </a:r>
            <a:r>
              <a:rPr lang="en-IN" b="1" dirty="0">
                <a:solidFill>
                  <a:srgbClr val="C00000"/>
                </a:solidFill>
              </a:rPr>
              <a:t>Dearness Allowances (DA)</a:t>
            </a:r>
            <a:endParaRPr lang="en-IN" dirty="0"/>
          </a:p>
          <a:p>
            <a:pPr lvl="1"/>
            <a:r>
              <a:rPr lang="en-IN" dirty="0"/>
              <a:t>₹ 10,000 (p.m.) as </a:t>
            </a:r>
            <a:r>
              <a:rPr lang="en-IN" b="1" dirty="0">
                <a:solidFill>
                  <a:srgbClr val="C00000"/>
                </a:solidFill>
              </a:rPr>
              <a:t>Servant Allowance</a:t>
            </a:r>
            <a:endParaRPr lang="en-IN" dirty="0"/>
          </a:p>
          <a:p>
            <a:pPr lvl="1"/>
            <a:r>
              <a:rPr lang="en-IN" dirty="0"/>
              <a:t>For perfectly performing the duty, company has provided additional ₹ 70,000 as </a:t>
            </a:r>
            <a:r>
              <a:rPr lang="en-IN" b="1" dirty="0">
                <a:solidFill>
                  <a:srgbClr val="C00000"/>
                </a:solidFill>
              </a:rPr>
              <a:t>Cash Allowance</a:t>
            </a:r>
            <a:endParaRPr lang="en-IN" dirty="0"/>
          </a:p>
          <a:p>
            <a:pPr marL="0" indent="0">
              <a:buNone/>
            </a:pPr>
            <a:r>
              <a:rPr lang="en-IN" dirty="0"/>
              <a:t>Compute the taxable salary of Mr. Ritesh Deshmukh for assessment year 2024-25.  </a:t>
            </a:r>
          </a:p>
          <a:p>
            <a:endParaRPr lang="en-IN" sz="2800" dirty="0">
              <a:latin typeface="+mj-lt"/>
            </a:endParaRPr>
          </a:p>
        </p:txBody>
      </p:sp>
    </p:spTree>
    <p:extLst>
      <p:ext uri="{BB962C8B-B14F-4D97-AF65-F5344CB8AC3E}">
        <p14:creationId xmlns:p14="http://schemas.microsoft.com/office/powerpoint/2010/main" val="30320151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D46CB8E-D830-400B-AE76-6F01456DA47C}"/>
              </a:ext>
            </a:extLst>
          </p:cNvPr>
          <p:cNvGraphicFramePr>
            <a:graphicFrameLocks noGrp="1"/>
          </p:cNvGraphicFramePr>
          <p:nvPr>
            <p:ph idx="1"/>
            <p:extLst>
              <p:ext uri="{D42A27DB-BD31-4B8C-83A1-F6EECF244321}">
                <p14:modId xmlns:p14="http://schemas.microsoft.com/office/powerpoint/2010/main" val="701686206"/>
              </p:ext>
            </p:extLst>
          </p:nvPr>
        </p:nvGraphicFramePr>
        <p:xfrm>
          <a:off x="902533" y="792579"/>
          <a:ext cx="10102850" cy="680085"/>
        </p:xfrm>
        <a:graphic>
          <a:graphicData uri="http://schemas.openxmlformats.org/drawingml/2006/table">
            <a:tbl>
              <a:tblPr firstRow="1" bandRow="1">
                <a:tableStyleId>{1E171933-4619-4E11-9A3F-F7608DF75F80}</a:tableStyleId>
              </a:tblPr>
              <a:tblGrid>
                <a:gridCol w="10102850">
                  <a:extLst>
                    <a:ext uri="{9D8B030D-6E8A-4147-A177-3AD203B41FA5}">
                      <a16:colId xmlns:a16="http://schemas.microsoft.com/office/drawing/2014/main" val="2979215846"/>
                    </a:ext>
                  </a:extLst>
                </a:gridCol>
              </a:tblGrid>
              <a:tr h="482833">
                <a:tc>
                  <a:txBody>
                    <a:bodyPr/>
                    <a:lstStyle/>
                    <a:p>
                      <a:pPr algn="ctr" fontAlgn="b"/>
                      <a:r>
                        <a:rPr lang="en-US" sz="2200" b="1" u="none" strike="noStrike" dirty="0">
                          <a:effectLst/>
                        </a:rPr>
                        <a:t>Statement Showing Computation of Income under the head Salary of Mr. Ritesh (Specified Employee)</a:t>
                      </a:r>
                      <a:endParaRPr lang="en-US" sz="22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9785743"/>
                  </a:ext>
                </a:extLst>
              </a:tr>
            </a:tbl>
          </a:graphicData>
        </a:graphic>
      </p:graphicFrame>
      <p:sp>
        <p:nvSpPr>
          <p:cNvPr id="2" name="Title 1">
            <a:extLst>
              <a:ext uri="{FF2B5EF4-FFF2-40B4-BE49-F238E27FC236}">
                <a16:creationId xmlns:a16="http://schemas.microsoft.com/office/drawing/2014/main" id="{26AF1697-3EB2-1B15-FE22-1D5800CA450C}"/>
              </a:ext>
            </a:extLst>
          </p:cNvPr>
          <p:cNvSpPr>
            <a:spLocks noGrp="1"/>
          </p:cNvSpPr>
          <p:nvPr>
            <p:ph type="title"/>
          </p:nvPr>
        </p:nvSpPr>
        <p:spPr/>
        <p:txBody>
          <a:bodyPr/>
          <a:lstStyle/>
          <a:p>
            <a:r>
              <a:rPr lang="en-IN" dirty="0"/>
              <a:t>Answer</a:t>
            </a:r>
            <a:endParaRPr lang="en-US" dirty="0"/>
          </a:p>
        </p:txBody>
      </p:sp>
      <p:graphicFrame>
        <p:nvGraphicFramePr>
          <p:cNvPr id="5" name="Table 4">
            <a:extLst>
              <a:ext uri="{FF2B5EF4-FFF2-40B4-BE49-F238E27FC236}">
                <a16:creationId xmlns:a16="http://schemas.microsoft.com/office/drawing/2014/main" id="{87E8F86F-B97A-4BBB-AC04-606F7C79C4FE}"/>
              </a:ext>
            </a:extLst>
          </p:cNvPr>
          <p:cNvGraphicFramePr>
            <a:graphicFrameLocks noGrp="1"/>
          </p:cNvGraphicFramePr>
          <p:nvPr>
            <p:extLst>
              <p:ext uri="{D42A27DB-BD31-4B8C-83A1-F6EECF244321}">
                <p14:modId xmlns:p14="http://schemas.microsoft.com/office/powerpoint/2010/main" val="2908089144"/>
              </p:ext>
            </p:extLst>
          </p:nvPr>
        </p:nvGraphicFramePr>
        <p:xfrm>
          <a:off x="902533" y="1472664"/>
          <a:ext cx="10102850" cy="680085"/>
        </p:xfrm>
        <a:graphic>
          <a:graphicData uri="http://schemas.openxmlformats.org/drawingml/2006/table">
            <a:tbl>
              <a:tblPr bandRow="1">
                <a:tableStyleId>{1E171933-4619-4E11-9A3F-F7608DF75F80}</a:tableStyleId>
              </a:tblPr>
              <a:tblGrid>
                <a:gridCol w="7801206">
                  <a:extLst>
                    <a:ext uri="{9D8B030D-6E8A-4147-A177-3AD203B41FA5}">
                      <a16:colId xmlns:a16="http://schemas.microsoft.com/office/drawing/2014/main" val="2037760277"/>
                    </a:ext>
                  </a:extLst>
                </a:gridCol>
                <a:gridCol w="2301644">
                  <a:extLst>
                    <a:ext uri="{9D8B030D-6E8A-4147-A177-3AD203B41FA5}">
                      <a16:colId xmlns:a16="http://schemas.microsoft.com/office/drawing/2014/main" val="1211986738"/>
                    </a:ext>
                  </a:extLst>
                </a:gridCol>
              </a:tblGrid>
              <a:tr h="600413">
                <a:tc>
                  <a:txBody>
                    <a:bodyPr/>
                    <a:lstStyle/>
                    <a:p>
                      <a:pPr algn="l" fontAlgn="b"/>
                      <a:r>
                        <a:rPr lang="en-IN" sz="2200" u="none" strike="noStrike" dirty="0">
                          <a:effectLst/>
                        </a:rPr>
                        <a:t> AY:2024-25</a:t>
                      </a:r>
                      <a:br>
                        <a:rPr lang="en-IN" sz="2200" u="none" strike="noStrike" dirty="0">
                          <a:effectLst/>
                        </a:rPr>
                      </a:br>
                      <a:r>
                        <a:rPr lang="en-IN" sz="2200" u="none" strike="noStrike" dirty="0">
                          <a:effectLst/>
                        </a:rPr>
                        <a:t> PY: 2023-24</a:t>
                      </a:r>
                      <a:endParaRPr lang="en-IN" sz="22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200" u="none" strike="noStrike" dirty="0">
                          <a:effectLst/>
                        </a:rPr>
                        <a:t> He is</a:t>
                      </a:r>
                      <a:br>
                        <a:rPr lang="en-IN" sz="2200" u="none" strike="noStrike" dirty="0">
                          <a:effectLst/>
                        </a:rPr>
                      </a:br>
                      <a:r>
                        <a:rPr lang="en-IN" sz="2200" u="none" strike="noStrike" dirty="0">
                          <a:effectLst/>
                        </a:rPr>
                        <a:t>ROR </a:t>
                      </a:r>
                      <a:endParaRPr lang="en-IN" sz="22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1082440"/>
                  </a:ext>
                </a:extLst>
              </a:tr>
            </a:tbl>
          </a:graphicData>
        </a:graphic>
      </p:graphicFrame>
      <p:graphicFrame>
        <p:nvGraphicFramePr>
          <p:cNvPr id="6" name="Table 5">
            <a:extLst>
              <a:ext uri="{FF2B5EF4-FFF2-40B4-BE49-F238E27FC236}">
                <a16:creationId xmlns:a16="http://schemas.microsoft.com/office/drawing/2014/main" id="{8503209C-3DD4-4CEB-AE80-0EBA87203321}"/>
              </a:ext>
            </a:extLst>
          </p:cNvPr>
          <p:cNvGraphicFramePr>
            <a:graphicFrameLocks noGrp="1"/>
          </p:cNvGraphicFramePr>
          <p:nvPr>
            <p:extLst>
              <p:ext uri="{D42A27DB-BD31-4B8C-83A1-F6EECF244321}">
                <p14:modId xmlns:p14="http://schemas.microsoft.com/office/powerpoint/2010/main" val="1132149888"/>
              </p:ext>
            </p:extLst>
          </p:nvPr>
        </p:nvGraphicFramePr>
        <p:xfrm>
          <a:off x="902533" y="2122269"/>
          <a:ext cx="10102850" cy="329565"/>
        </p:xfrm>
        <a:graphic>
          <a:graphicData uri="http://schemas.openxmlformats.org/drawingml/2006/table">
            <a:tbl>
              <a:tblPr firstRow="1" bandRow="1">
                <a:tableStyleId>{1E171933-4619-4E11-9A3F-F7608DF75F80}</a:tableStyleId>
              </a:tblPr>
              <a:tblGrid>
                <a:gridCol w="7801206">
                  <a:extLst>
                    <a:ext uri="{9D8B030D-6E8A-4147-A177-3AD203B41FA5}">
                      <a16:colId xmlns:a16="http://schemas.microsoft.com/office/drawing/2014/main" val="2200025698"/>
                    </a:ext>
                  </a:extLst>
                </a:gridCol>
                <a:gridCol w="2301644">
                  <a:extLst>
                    <a:ext uri="{9D8B030D-6E8A-4147-A177-3AD203B41FA5}">
                      <a16:colId xmlns:a16="http://schemas.microsoft.com/office/drawing/2014/main" val="2176050200"/>
                    </a:ext>
                  </a:extLst>
                </a:gridCol>
              </a:tblGrid>
              <a:tr h="285911">
                <a:tc>
                  <a:txBody>
                    <a:bodyPr/>
                    <a:lstStyle/>
                    <a:p>
                      <a:pPr algn="ctr" fontAlgn="ctr"/>
                      <a:r>
                        <a:rPr lang="en-IN" sz="2100" u="none" strike="noStrike" dirty="0">
                          <a:effectLst/>
                        </a:rPr>
                        <a:t> Components</a:t>
                      </a:r>
                      <a:endParaRPr lang="en-IN" sz="2100" b="1" i="0" u="none" strike="noStrike" dirty="0">
                        <a:solidFill>
                          <a:srgbClr val="FFFFFF"/>
                        </a:solidFill>
                        <a:effectLst/>
                        <a:latin typeface="Inheri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2100" u="none" strike="noStrike" dirty="0">
                          <a:effectLst/>
                        </a:rPr>
                        <a:t> Amount </a:t>
                      </a:r>
                      <a:r>
                        <a:rPr lang="en-IN" sz="2100" dirty="0"/>
                        <a:t>₹</a:t>
                      </a:r>
                      <a:endParaRPr lang="en-IN" sz="2100" b="1" i="0" u="none" strike="noStrike" dirty="0">
                        <a:solidFill>
                          <a:srgbClr val="FFFFFF"/>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8345471"/>
                  </a:ext>
                </a:extLst>
              </a:tr>
            </a:tbl>
          </a:graphicData>
        </a:graphic>
      </p:graphicFrame>
      <p:graphicFrame>
        <p:nvGraphicFramePr>
          <p:cNvPr id="7" name="Table 6">
            <a:extLst>
              <a:ext uri="{FF2B5EF4-FFF2-40B4-BE49-F238E27FC236}">
                <a16:creationId xmlns:a16="http://schemas.microsoft.com/office/drawing/2014/main" id="{06FA5B59-CC42-475C-A98F-00BB1B1D449F}"/>
              </a:ext>
            </a:extLst>
          </p:cNvPr>
          <p:cNvGraphicFramePr>
            <a:graphicFrameLocks noGrp="1"/>
          </p:cNvGraphicFramePr>
          <p:nvPr>
            <p:extLst>
              <p:ext uri="{D42A27DB-BD31-4B8C-83A1-F6EECF244321}">
                <p14:modId xmlns:p14="http://schemas.microsoft.com/office/powerpoint/2010/main" val="771296665"/>
              </p:ext>
            </p:extLst>
          </p:nvPr>
        </p:nvGraphicFramePr>
        <p:xfrm>
          <a:off x="902533" y="2470884"/>
          <a:ext cx="10102850" cy="344805"/>
        </p:xfrm>
        <a:graphic>
          <a:graphicData uri="http://schemas.openxmlformats.org/drawingml/2006/table">
            <a:tbl>
              <a:tblPr bandRow="1">
                <a:tableStyleId>{1E171933-4619-4E11-9A3F-F7608DF75F80}</a:tableStyleId>
              </a:tblPr>
              <a:tblGrid>
                <a:gridCol w="7801206">
                  <a:extLst>
                    <a:ext uri="{9D8B030D-6E8A-4147-A177-3AD203B41FA5}">
                      <a16:colId xmlns:a16="http://schemas.microsoft.com/office/drawing/2014/main" val="245564243"/>
                    </a:ext>
                  </a:extLst>
                </a:gridCol>
                <a:gridCol w="2301644">
                  <a:extLst>
                    <a:ext uri="{9D8B030D-6E8A-4147-A177-3AD203B41FA5}">
                      <a16:colId xmlns:a16="http://schemas.microsoft.com/office/drawing/2014/main" val="2305528235"/>
                    </a:ext>
                  </a:extLst>
                </a:gridCol>
              </a:tblGrid>
              <a:tr h="285911">
                <a:tc>
                  <a:txBody>
                    <a:bodyPr/>
                    <a:lstStyle/>
                    <a:p>
                      <a:pPr algn="just" fontAlgn="ctr"/>
                      <a:r>
                        <a:rPr lang="en-IN" sz="2200" b="1" u="none" strike="noStrike" dirty="0">
                          <a:effectLst/>
                        </a:rPr>
                        <a:t>Basic Salary (BS) (₹ 1,50,000 × 12 months)</a:t>
                      </a:r>
                      <a:endParaRPr lang="en-IN" sz="2200" b="1" i="0" u="none" strike="noStrike" dirty="0">
                        <a:solidFill>
                          <a:srgbClr val="000000"/>
                        </a:solidFill>
                        <a:effectLst/>
                        <a:latin typeface="Inheri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IN" sz="2200" b="1" u="none" strike="noStrike" dirty="0">
                          <a:effectLst/>
                        </a:rPr>
                        <a:t>        18,00,000 </a:t>
                      </a:r>
                      <a:endParaRPr lang="en-IN" sz="2200" b="1" i="0" u="none" strike="noStrike" dirty="0">
                        <a:solidFill>
                          <a:srgbClr val="000000"/>
                        </a:solidFill>
                        <a:effectLst/>
                        <a:latin typeface="Inheri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0476485"/>
                  </a:ext>
                </a:extLst>
              </a:tr>
            </a:tbl>
          </a:graphicData>
        </a:graphic>
      </p:graphicFrame>
      <p:graphicFrame>
        <p:nvGraphicFramePr>
          <p:cNvPr id="8" name="Table 7">
            <a:extLst>
              <a:ext uri="{FF2B5EF4-FFF2-40B4-BE49-F238E27FC236}">
                <a16:creationId xmlns:a16="http://schemas.microsoft.com/office/drawing/2014/main" id="{CC6D0F27-CCA9-4280-BB4F-2183E1C9A3BC}"/>
              </a:ext>
            </a:extLst>
          </p:cNvPr>
          <p:cNvGraphicFramePr>
            <a:graphicFrameLocks noGrp="1"/>
          </p:cNvGraphicFramePr>
          <p:nvPr>
            <p:extLst>
              <p:ext uri="{D42A27DB-BD31-4B8C-83A1-F6EECF244321}">
                <p14:modId xmlns:p14="http://schemas.microsoft.com/office/powerpoint/2010/main" val="3921548017"/>
              </p:ext>
            </p:extLst>
          </p:nvPr>
        </p:nvGraphicFramePr>
        <p:xfrm>
          <a:off x="902533" y="2819499"/>
          <a:ext cx="10102850" cy="344805"/>
        </p:xfrm>
        <a:graphic>
          <a:graphicData uri="http://schemas.openxmlformats.org/drawingml/2006/table">
            <a:tbl>
              <a:tblPr bandRow="1">
                <a:tableStyleId>{1E171933-4619-4E11-9A3F-F7608DF75F80}</a:tableStyleId>
              </a:tblPr>
              <a:tblGrid>
                <a:gridCol w="7801206">
                  <a:extLst>
                    <a:ext uri="{9D8B030D-6E8A-4147-A177-3AD203B41FA5}">
                      <a16:colId xmlns:a16="http://schemas.microsoft.com/office/drawing/2014/main" val="1460272321"/>
                    </a:ext>
                  </a:extLst>
                </a:gridCol>
                <a:gridCol w="2301644">
                  <a:extLst>
                    <a:ext uri="{9D8B030D-6E8A-4147-A177-3AD203B41FA5}">
                      <a16:colId xmlns:a16="http://schemas.microsoft.com/office/drawing/2014/main" val="760648726"/>
                    </a:ext>
                  </a:extLst>
                </a:gridCol>
              </a:tblGrid>
              <a:tr h="285911">
                <a:tc>
                  <a:txBody>
                    <a:bodyPr/>
                    <a:lstStyle/>
                    <a:p>
                      <a:pPr algn="just" fontAlgn="ctr"/>
                      <a:r>
                        <a:rPr lang="en-IN" sz="2200" b="1" u="none" strike="noStrike" dirty="0">
                          <a:effectLst/>
                        </a:rPr>
                        <a:t>Add:</a:t>
                      </a:r>
                      <a:endParaRPr lang="en-IN" sz="2200" b="1" i="0" u="none" strike="noStrike" dirty="0">
                        <a:solidFill>
                          <a:srgbClr val="000000"/>
                        </a:solidFill>
                        <a:effectLst/>
                        <a:latin typeface="Inheri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IN" sz="2200" b="1" u="none" strike="noStrike" dirty="0">
                          <a:effectLst/>
                        </a:rPr>
                        <a:t> </a:t>
                      </a:r>
                      <a:endParaRPr lang="en-IN" sz="2200" b="1" i="0" u="none" strike="noStrike" dirty="0">
                        <a:solidFill>
                          <a:srgbClr val="000000"/>
                        </a:solidFill>
                        <a:effectLst/>
                        <a:latin typeface="Inheri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882636"/>
                  </a:ext>
                </a:extLst>
              </a:tr>
            </a:tbl>
          </a:graphicData>
        </a:graphic>
      </p:graphicFrame>
      <p:graphicFrame>
        <p:nvGraphicFramePr>
          <p:cNvPr id="9" name="Table 8">
            <a:extLst>
              <a:ext uri="{FF2B5EF4-FFF2-40B4-BE49-F238E27FC236}">
                <a16:creationId xmlns:a16="http://schemas.microsoft.com/office/drawing/2014/main" id="{6B09787B-8322-407C-A8FA-83F1D7ABAD30}"/>
              </a:ext>
            </a:extLst>
          </p:cNvPr>
          <p:cNvGraphicFramePr>
            <a:graphicFrameLocks noGrp="1"/>
          </p:cNvGraphicFramePr>
          <p:nvPr>
            <p:extLst>
              <p:ext uri="{D42A27DB-BD31-4B8C-83A1-F6EECF244321}">
                <p14:modId xmlns:p14="http://schemas.microsoft.com/office/powerpoint/2010/main" val="652461714"/>
              </p:ext>
            </p:extLst>
          </p:nvPr>
        </p:nvGraphicFramePr>
        <p:xfrm>
          <a:off x="902533" y="3149064"/>
          <a:ext cx="10102850" cy="1379220"/>
        </p:xfrm>
        <a:graphic>
          <a:graphicData uri="http://schemas.openxmlformats.org/drawingml/2006/table">
            <a:tbl>
              <a:tblPr bandRow="1">
                <a:tableStyleId>{1E171933-4619-4E11-9A3F-F7608DF75F80}</a:tableStyleId>
              </a:tblPr>
              <a:tblGrid>
                <a:gridCol w="7801206">
                  <a:extLst>
                    <a:ext uri="{9D8B030D-6E8A-4147-A177-3AD203B41FA5}">
                      <a16:colId xmlns:a16="http://schemas.microsoft.com/office/drawing/2014/main" val="2618078774"/>
                    </a:ext>
                  </a:extLst>
                </a:gridCol>
                <a:gridCol w="2301644">
                  <a:extLst>
                    <a:ext uri="{9D8B030D-6E8A-4147-A177-3AD203B41FA5}">
                      <a16:colId xmlns:a16="http://schemas.microsoft.com/office/drawing/2014/main" val="53139067"/>
                    </a:ext>
                  </a:extLst>
                </a:gridCol>
              </a:tblGrid>
              <a:tr h="285911">
                <a:tc>
                  <a:txBody>
                    <a:bodyPr/>
                    <a:lstStyle/>
                    <a:p>
                      <a:pPr algn="just" fontAlgn="ctr"/>
                      <a:r>
                        <a:rPr lang="en-US" sz="2200" u="none" strike="noStrike" dirty="0">
                          <a:effectLst/>
                        </a:rPr>
                        <a:t>Dearness Allowances (DA) (10% of BS)</a:t>
                      </a:r>
                      <a:endParaRPr lang="en-US" sz="2200" b="0" i="0" u="none" strike="noStrike" dirty="0">
                        <a:solidFill>
                          <a:srgbClr val="000000"/>
                        </a:solidFill>
                        <a:effectLst/>
                        <a:latin typeface="Inheri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IN" sz="2200" u="none" strike="noStrike" dirty="0">
                          <a:effectLst/>
                        </a:rPr>
                        <a:t>          1,80,000 </a:t>
                      </a:r>
                      <a:endParaRPr lang="en-IN" sz="2200" b="0" i="0" u="none" strike="noStrike" dirty="0">
                        <a:solidFill>
                          <a:srgbClr val="000000"/>
                        </a:solidFill>
                        <a:effectLst/>
                        <a:latin typeface="Inheri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8673892"/>
                  </a:ext>
                </a:extLst>
              </a:tr>
              <a:tr h="285911">
                <a:tc>
                  <a:txBody>
                    <a:bodyPr/>
                    <a:lstStyle/>
                    <a:p>
                      <a:pPr algn="just" fontAlgn="ctr"/>
                      <a:r>
                        <a:rPr lang="en-IN" sz="2200" u="none" strike="noStrike" dirty="0">
                          <a:effectLst/>
                        </a:rPr>
                        <a:t>Servant Allowance (₹ 10,000 p.m.)</a:t>
                      </a:r>
                      <a:endParaRPr lang="en-IN" sz="2200" b="0" i="0" u="none" strike="noStrike" dirty="0">
                        <a:solidFill>
                          <a:srgbClr val="000000"/>
                        </a:solidFill>
                        <a:effectLst/>
                        <a:latin typeface="Inheri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IN" sz="2200" u="none" strike="noStrike" dirty="0">
                          <a:effectLst/>
                        </a:rPr>
                        <a:t>          1,20,000 </a:t>
                      </a:r>
                      <a:endParaRPr lang="en-IN" sz="2200" b="0" i="0" u="none" strike="noStrike" dirty="0">
                        <a:solidFill>
                          <a:srgbClr val="000000"/>
                        </a:solidFill>
                        <a:effectLst/>
                        <a:latin typeface="Inheri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8146075"/>
                  </a:ext>
                </a:extLst>
              </a:tr>
              <a:tr h="285911">
                <a:tc>
                  <a:txBody>
                    <a:bodyPr/>
                    <a:lstStyle/>
                    <a:p>
                      <a:pPr algn="just" fontAlgn="ctr"/>
                      <a:r>
                        <a:rPr lang="en-IN" sz="2200" u="none" strike="noStrike">
                          <a:effectLst/>
                        </a:rPr>
                        <a:t>Cash Allowance</a:t>
                      </a:r>
                      <a:endParaRPr lang="en-IN" sz="2200" b="0" i="0" u="none" strike="noStrike">
                        <a:solidFill>
                          <a:srgbClr val="000000"/>
                        </a:solidFill>
                        <a:effectLst/>
                        <a:latin typeface="Inheri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IN" sz="2200" u="none" strike="noStrike" dirty="0">
                          <a:effectLst/>
                        </a:rPr>
                        <a:t>             70,000 </a:t>
                      </a:r>
                      <a:endParaRPr lang="en-IN" sz="2200" b="0" i="0" u="none" strike="noStrike" dirty="0">
                        <a:solidFill>
                          <a:srgbClr val="000000"/>
                        </a:solidFill>
                        <a:effectLst/>
                        <a:latin typeface="Inheri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2763562"/>
                  </a:ext>
                </a:extLst>
              </a:tr>
              <a:tr h="285911">
                <a:tc>
                  <a:txBody>
                    <a:bodyPr/>
                    <a:lstStyle/>
                    <a:p>
                      <a:pPr algn="just" fontAlgn="ctr"/>
                      <a:r>
                        <a:rPr lang="en-IN" sz="2200" u="none" strike="noStrike" dirty="0">
                          <a:effectLst/>
                        </a:rPr>
                        <a:t> </a:t>
                      </a:r>
                      <a:endParaRPr lang="en-IN" sz="2200" b="0" i="0" u="none" strike="noStrike" dirty="0">
                        <a:solidFill>
                          <a:srgbClr val="000000"/>
                        </a:solidFill>
                        <a:effectLst/>
                        <a:latin typeface="Inheri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IN" sz="2200" u="none" strike="noStrike" dirty="0">
                          <a:effectLst/>
                        </a:rPr>
                        <a:t> </a:t>
                      </a:r>
                      <a:endParaRPr lang="en-IN" sz="2200" b="0" i="0" u="none" strike="noStrike" dirty="0">
                        <a:solidFill>
                          <a:srgbClr val="000000"/>
                        </a:solidFill>
                        <a:effectLst/>
                        <a:latin typeface="Inheri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5550074"/>
                  </a:ext>
                </a:extLst>
              </a:tr>
            </a:tbl>
          </a:graphicData>
        </a:graphic>
      </p:graphicFrame>
      <p:graphicFrame>
        <p:nvGraphicFramePr>
          <p:cNvPr id="10" name="Table 9">
            <a:extLst>
              <a:ext uri="{FF2B5EF4-FFF2-40B4-BE49-F238E27FC236}">
                <a16:creationId xmlns:a16="http://schemas.microsoft.com/office/drawing/2014/main" id="{06944697-73D8-4D66-B3E6-0CAE340809C1}"/>
              </a:ext>
            </a:extLst>
          </p:cNvPr>
          <p:cNvGraphicFramePr>
            <a:graphicFrameLocks noGrp="1"/>
          </p:cNvGraphicFramePr>
          <p:nvPr>
            <p:extLst>
              <p:ext uri="{D42A27DB-BD31-4B8C-83A1-F6EECF244321}">
                <p14:modId xmlns:p14="http://schemas.microsoft.com/office/powerpoint/2010/main" val="867485279"/>
              </p:ext>
            </p:extLst>
          </p:nvPr>
        </p:nvGraphicFramePr>
        <p:xfrm>
          <a:off x="902533" y="4529437"/>
          <a:ext cx="10102850" cy="344805"/>
        </p:xfrm>
        <a:graphic>
          <a:graphicData uri="http://schemas.openxmlformats.org/drawingml/2006/table">
            <a:tbl>
              <a:tblPr firstRow="1" bandRow="1">
                <a:tableStyleId>{1E171933-4619-4E11-9A3F-F7608DF75F80}</a:tableStyleId>
              </a:tblPr>
              <a:tblGrid>
                <a:gridCol w="7801206">
                  <a:extLst>
                    <a:ext uri="{9D8B030D-6E8A-4147-A177-3AD203B41FA5}">
                      <a16:colId xmlns:a16="http://schemas.microsoft.com/office/drawing/2014/main" val="2742436684"/>
                    </a:ext>
                  </a:extLst>
                </a:gridCol>
                <a:gridCol w="2301644">
                  <a:extLst>
                    <a:ext uri="{9D8B030D-6E8A-4147-A177-3AD203B41FA5}">
                      <a16:colId xmlns:a16="http://schemas.microsoft.com/office/drawing/2014/main" val="398919492"/>
                    </a:ext>
                  </a:extLst>
                </a:gridCol>
              </a:tblGrid>
              <a:tr h="285911">
                <a:tc>
                  <a:txBody>
                    <a:bodyPr/>
                    <a:lstStyle/>
                    <a:p>
                      <a:pPr algn="r" fontAlgn="ctr"/>
                      <a:r>
                        <a:rPr lang="en-IN" sz="2200" b="1" u="none" strike="noStrike" dirty="0">
                          <a:effectLst/>
                        </a:rPr>
                        <a:t>Gross Salary  </a:t>
                      </a:r>
                      <a:endParaRPr lang="en-IN" sz="2200" b="1" i="0" u="none" strike="noStrike" dirty="0">
                        <a:solidFill>
                          <a:srgbClr val="FFFFFF"/>
                        </a:solidFill>
                        <a:effectLst/>
                        <a:latin typeface="Inheri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IN" sz="2200" b="1" u="none" strike="noStrike" dirty="0">
                          <a:effectLst/>
                        </a:rPr>
                        <a:t>        21,70,000 </a:t>
                      </a:r>
                      <a:endParaRPr lang="en-IN" sz="2200" b="1" i="0" u="none" strike="noStrike" dirty="0">
                        <a:solidFill>
                          <a:srgbClr val="FFFFFF"/>
                        </a:solidFill>
                        <a:effectLst/>
                        <a:latin typeface="Inheri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385256"/>
                  </a:ext>
                </a:extLst>
              </a:tr>
            </a:tbl>
          </a:graphicData>
        </a:graphic>
      </p:graphicFrame>
      <p:graphicFrame>
        <p:nvGraphicFramePr>
          <p:cNvPr id="11" name="Table 10">
            <a:extLst>
              <a:ext uri="{FF2B5EF4-FFF2-40B4-BE49-F238E27FC236}">
                <a16:creationId xmlns:a16="http://schemas.microsoft.com/office/drawing/2014/main" id="{3FFE9831-A8F0-4E93-9C05-5F574F53A7D5}"/>
              </a:ext>
            </a:extLst>
          </p:cNvPr>
          <p:cNvGraphicFramePr>
            <a:graphicFrameLocks noGrp="1"/>
          </p:cNvGraphicFramePr>
          <p:nvPr>
            <p:extLst>
              <p:ext uri="{D42A27DB-BD31-4B8C-83A1-F6EECF244321}">
                <p14:modId xmlns:p14="http://schemas.microsoft.com/office/powerpoint/2010/main" val="2482757537"/>
              </p:ext>
            </p:extLst>
          </p:nvPr>
        </p:nvGraphicFramePr>
        <p:xfrm>
          <a:off x="902533" y="4886826"/>
          <a:ext cx="10102850" cy="344805"/>
        </p:xfrm>
        <a:graphic>
          <a:graphicData uri="http://schemas.openxmlformats.org/drawingml/2006/table">
            <a:tbl>
              <a:tblPr bandRow="1">
                <a:tableStyleId>{1E171933-4619-4E11-9A3F-F7608DF75F80}</a:tableStyleId>
              </a:tblPr>
              <a:tblGrid>
                <a:gridCol w="7801206">
                  <a:extLst>
                    <a:ext uri="{9D8B030D-6E8A-4147-A177-3AD203B41FA5}">
                      <a16:colId xmlns:a16="http://schemas.microsoft.com/office/drawing/2014/main" val="1230603942"/>
                    </a:ext>
                  </a:extLst>
                </a:gridCol>
                <a:gridCol w="2301644">
                  <a:extLst>
                    <a:ext uri="{9D8B030D-6E8A-4147-A177-3AD203B41FA5}">
                      <a16:colId xmlns:a16="http://schemas.microsoft.com/office/drawing/2014/main" val="4243147828"/>
                    </a:ext>
                  </a:extLst>
                </a:gridCol>
              </a:tblGrid>
              <a:tr h="285911">
                <a:tc>
                  <a:txBody>
                    <a:bodyPr/>
                    <a:lstStyle/>
                    <a:p>
                      <a:pPr algn="just" fontAlgn="ctr"/>
                      <a:r>
                        <a:rPr lang="en-IN" sz="2200" b="1" u="none" strike="noStrike" dirty="0">
                          <a:effectLst/>
                        </a:rPr>
                        <a:t>Less: Deductions from Salary</a:t>
                      </a:r>
                      <a:endParaRPr lang="en-IN" sz="2200" b="1" i="0" u="none" strike="noStrike" dirty="0">
                        <a:solidFill>
                          <a:srgbClr val="000000"/>
                        </a:solidFill>
                        <a:effectLst/>
                        <a:latin typeface="Inheri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IN" sz="2200" b="1" u="none" strike="noStrike" dirty="0">
                          <a:effectLst/>
                        </a:rPr>
                        <a:t> — </a:t>
                      </a:r>
                      <a:endParaRPr lang="en-IN" sz="2200" b="1" i="0" u="none" strike="noStrike" dirty="0">
                        <a:solidFill>
                          <a:srgbClr val="000000"/>
                        </a:solidFill>
                        <a:effectLst/>
                        <a:latin typeface="Inheri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7509597"/>
                  </a:ext>
                </a:extLst>
              </a:tr>
            </a:tbl>
          </a:graphicData>
        </a:graphic>
      </p:graphicFrame>
      <p:graphicFrame>
        <p:nvGraphicFramePr>
          <p:cNvPr id="12" name="Table 11">
            <a:extLst>
              <a:ext uri="{FF2B5EF4-FFF2-40B4-BE49-F238E27FC236}">
                <a16:creationId xmlns:a16="http://schemas.microsoft.com/office/drawing/2014/main" id="{09CBEFBA-19BC-4407-B79F-D05994ABADD8}"/>
              </a:ext>
            </a:extLst>
          </p:cNvPr>
          <p:cNvGraphicFramePr>
            <a:graphicFrameLocks noGrp="1"/>
          </p:cNvGraphicFramePr>
          <p:nvPr>
            <p:extLst>
              <p:ext uri="{D42A27DB-BD31-4B8C-83A1-F6EECF244321}">
                <p14:modId xmlns:p14="http://schemas.microsoft.com/office/powerpoint/2010/main" val="3993494558"/>
              </p:ext>
            </p:extLst>
          </p:nvPr>
        </p:nvGraphicFramePr>
        <p:xfrm>
          <a:off x="902533" y="5244215"/>
          <a:ext cx="10102850" cy="357389"/>
        </p:xfrm>
        <a:graphic>
          <a:graphicData uri="http://schemas.openxmlformats.org/drawingml/2006/table">
            <a:tbl>
              <a:tblPr bandRow="1">
                <a:tableStyleId>{1E171933-4619-4E11-9A3F-F7608DF75F80}</a:tableStyleId>
              </a:tblPr>
              <a:tblGrid>
                <a:gridCol w="7801206">
                  <a:extLst>
                    <a:ext uri="{9D8B030D-6E8A-4147-A177-3AD203B41FA5}">
                      <a16:colId xmlns:a16="http://schemas.microsoft.com/office/drawing/2014/main" val="2796746981"/>
                    </a:ext>
                  </a:extLst>
                </a:gridCol>
                <a:gridCol w="2301644">
                  <a:extLst>
                    <a:ext uri="{9D8B030D-6E8A-4147-A177-3AD203B41FA5}">
                      <a16:colId xmlns:a16="http://schemas.microsoft.com/office/drawing/2014/main" val="702725414"/>
                    </a:ext>
                  </a:extLst>
                </a:gridCol>
              </a:tblGrid>
              <a:tr h="357389">
                <a:tc>
                  <a:txBody>
                    <a:bodyPr/>
                    <a:lstStyle/>
                    <a:p>
                      <a:pPr marL="457200" indent="-457200" algn="just" fontAlgn="ctr">
                        <a:buFont typeface="+mj-lt"/>
                        <a:buAutoNum type="arabicPeriod"/>
                      </a:pPr>
                      <a:r>
                        <a:rPr lang="en-US" sz="2200" u="none" strike="noStrike" dirty="0">
                          <a:effectLst/>
                        </a:rPr>
                        <a:t>Standard Deduction u/s 16 (</a:t>
                      </a:r>
                      <a:r>
                        <a:rPr lang="en-US" sz="2200" u="none" strike="noStrike" dirty="0" err="1">
                          <a:effectLst/>
                        </a:rPr>
                        <a:t>upto</a:t>
                      </a:r>
                      <a:r>
                        <a:rPr lang="en-US" sz="2200" u="none" strike="noStrike" dirty="0">
                          <a:effectLst/>
                        </a:rPr>
                        <a:t> ₹ 50,000) </a:t>
                      </a:r>
                      <a:endParaRPr lang="en-US" sz="2200" b="0" i="0" u="none" strike="noStrike" dirty="0">
                        <a:solidFill>
                          <a:srgbClr val="000000"/>
                        </a:solidFill>
                        <a:effectLst/>
                        <a:latin typeface="Inheri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IN" sz="2200" u="none" strike="noStrike" dirty="0">
                          <a:effectLst/>
                        </a:rPr>
                        <a:t>            50,000 </a:t>
                      </a:r>
                      <a:endParaRPr lang="en-IN" sz="2200" b="0" i="0" u="none" strike="noStrike" dirty="0">
                        <a:solidFill>
                          <a:srgbClr val="000000"/>
                        </a:solidFill>
                        <a:effectLst/>
                        <a:latin typeface="Inheri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1158863"/>
                  </a:ext>
                </a:extLst>
              </a:tr>
            </a:tbl>
          </a:graphicData>
        </a:graphic>
      </p:graphicFrame>
      <p:graphicFrame>
        <p:nvGraphicFramePr>
          <p:cNvPr id="13" name="Table 12">
            <a:extLst>
              <a:ext uri="{FF2B5EF4-FFF2-40B4-BE49-F238E27FC236}">
                <a16:creationId xmlns:a16="http://schemas.microsoft.com/office/drawing/2014/main" id="{EA044B17-E0CA-49EC-92C3-9A1A2BBADEB5}"/>
              </a:ext>
            </a:extLst>
          </p:cNvPr>
          <p:cNvGraphicFramePr>
            <a:graphicFrameLocks noGrp="1"/>
          </p:cNvGraphicFramePr>
          <p:nvPr>
            <p:extLst>
              <p:ext uri="{D42A27DB-BD31-4B8C-83A1-F6EECF244321}">
                <p14:modId xmlns:p14="http://schemas.microsoft.com/office/powerpoint/2010/main" val="3781321114"/>
              </p:ext>
            </p:extLst>
          </p:nvPr>
        </p:nvGraphicFramePr>
        <p:xfrm>
          <a:off x="902533" y="5614188"/>
          <a:ext cx="10102850" cy="344805"/>
        </p:xfrm>
        <a:graphic>
          <a:graphicData uri="http://schemas.openxmlformats.org/drawingml/2006/table">
            <a:tbl>
              <a:tblPr firstRow="1" bandRow="1">
                <a:tableStyleId>{1E171933-4619-4E11-9A3F-F7608DF75F80}</a:tableStyleId>
              </a:tblPr>
              <a:tblGrid>
                <a:gridCol w="7801206">
                  <a:extLst>
                    <a:ext uri="{9D8B030D-6E8A-4147-A177-3AD203B41FA5}">
                      <a16:colId xmlns:a16="http://schemas.microsoft.com/office/drawing/2014/main" val="3030201988"/>
                    </a:ext>
                  </a:extLst>
                </a:gridCol>
                <a:gridCol w="2301644">
                  <a:extLst>
                    <a:ext uri="{9D8B030D-6E8A-4147-A177-3AD203B41FA5}">
                      <a16:colId xmlns:a16="http://schemas.microsoft.com/office/drawing/2014/main" val="3493569176"/>
                    </a:ext>
                  </a:extLst>
                </a:gridCol>
              </a:tblGrid>
              <a:tr h="285911">
                <a:tc>
                  <a:txBody>
                    <a:bodyPr/>
                    <a:lstStyle/>
                    <a:p>
                      <a:pPr algn="r" fontAlgn="ctr"/>
                      <a:r>
                        <a:rPr lang="en-IN" sz="2200" u="none" strike="noStrike" dirty="0">
                          <a:effectLst/>
                        </a:rPr>
                        <a:t>Net Salary/Taxable Salary income</a:t>
                      </a:r>
                      <a:endParaRPr lang="en-IN" sz="2200" b="1" i="0" u="none" strike="noStrike" dirty="0">
                        <a:solidFill>
                          <a:srgbClr val="000000"/>
                        </a:solidFill>
                        <a:effectLst/>
                        <a:latin typeface="Inheri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IN" sz="2200" u="none" strike="noStrike" dirty="0">
                          <a:effectLst/>
                        </a:rPr>
                        <a:t>        21,20,000 </a:t>
                      </a:r>
                      <a:endParaRPr lang="en-IN" sz="2200" b="0" i="0" u="none" strike="noStrike" dirty="0">
                        <a:solidFill>
                          <a:srgbClr val="000000"/>
                        </a:solidFill>
                        <a:effectLst/>
                        <a:latin typeface="Inheri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8187622"/>
                  </a:ext>
                </a:extLst>
              </a:tr>
            </a:tbl>
          </a:graphicData>
        </a:graphic>
      </p:graphicFrame>
    </p:spTree>
    <p:extLst>
      <p:ext uri="{BB962C8B-B14F-4D97-AF65-F5344CB8AC3E}">
        <p14:creationId xmlns:p14="http://schemas.microsoft.com/office/powerpoint/2010/main" val="9166802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dirty="0">
                <a:cs typeface="Times New Roman" panose="02020603050405020304" pitchFamily="18" charset="0"/>
              </a:rPr>
              <a:t>It refers to the </a:t>
            </a:r>
            <a:r>
              <a:rPr lang="en-US" b="1" dirty="0">
                <a:cs typeface="Times New Roman" panose="02020603050405020304" pitchFamily="18" charset="0"/>
              </a:rPr>
              <a:t>income earned by the owner</a:t>
            </a:r>
            <a:r>
              <a:rPr lang="en-US" dirty="0">
                <a:cs typeface="Times New Roman" panose="02020603050405020304" pitchFamily="18" charset="0"/>
              </a:rPr>
              <a:t> of a building or land attached to it (like a garden, garage, etc.) </a:t>
            </a:r>
            <a:r>
              <a:rPr lang="en-US" b="1" dirty="0">
                <a:cs typeface="Times New Roman" panose="02020603050405020304" pitchFamily="18" charset="0"/>
              </a:rPr>
              <a:t>by renting it out</a:t>
            </a:r>
            <a:r>
              <a:rPr lang="en-US" dirty="0">
                <a:cs typeface="Times New Roman" panose="02020603050405020304" pitchFamily="18" charset="0"/>
              </a:rPr>
              <a:t> or </a:t>
            </a:r>
            <a:r>
              <a:rPr lang="en-US" b="1" dirty="0">
                <a:cs typeface="Times New Roman" panose="02020603050405020304" pitchFamily="18" charset="0"/>
              </a:rPr>
              <a:t>deemed to be let out</a:t>
            </a:r>
            <a:r>
              <a:rPr lang="en-US" dirty="0">
                <a:cs typeface="Times New Roman" panose="02020603050405020304" pitchFamily="18" charset="0"/>
              </a:rPr>
              <a:t>.</a:t>
            </a:r>
          </a:p>
          <a:p>
            <a:pPr algn="just"/>
            <a:r>
              <a:rPr lang="en-US" b="1" dirty="0">
                <a:cs typeface="Times New Roman" panose="02020603050405020304" pitchFamily="18" charset="0"/>
              </a:rPr>
              <a:t>Only the owner</a:t>
            </a:r>
            <a:r>
              <a:rPr lang="en-US" dirty="0">
                <a:cs typeface="Times New Roman" panose="02020603050405020304" pitchFamily="18" charset="0"/>
              </a:rPr>
              <a:t> can be taxed under this head.</a:t>
            </a:r>
          </a:p>
          <a:p>
            <a:pPr marL="0" indent="0" algn="just">
              <a:lnSpc>
                <a:spcPct val="150000"/>
              </a:lnSpc>
              <a:buNone/>
            </a:pPr>
            <a:r>
              <a:rPr lang="en-US" sz="2800" b="1" dirty="0">
                <a:cs typeface="Times New Roman" panose="02020603050405020304" pitchFamily="18" charset="0"/>
              </a:rPr>
              <a:t>Conditions for Taxability:</a:t>
            </a:r>
          </a:p>
        </p:txBody>
      </p:sp>
      <p:sp>
        <p:nvSpPr>
          <p:cNvPr id="2" name="Title 1"/>
          <p:cNvSpPr>
            <a:spLocks noGrp="1"/>
          </p:cNvSpPr>
          <p:nvPr>
            <p:ph type="title"/>
          </p:nvPr>
        </p:nvSpPr>
        <p:spPr/>
        <p:txBody>
          <a:bodyPr/>
          <a:lstStyle/>
          <a:p>
            <a:r>
              <a:rPr lang="en-US" b="1" dirty="0">
                <a:cs typeface="Times New Roman" panose="02020603050405020304" pitchFamily="18" charset="0"/>
              </a:rPr>
              <a:t>Income from House property</a:t>
            </a:r>
          </a:p>
        </p:txBody>
      </p:sp>
      <p:grpSp>
        <p:nvGrpSpPr>
          <p:cNvPr id="5" name="Group 4"/>
          <p:cNvGrpSpPr/>
          <p:nvPr/>
        </p:nvGrpSpPr>
        <p:grpSpPr>
          <a:xfrm>
            <a:off x="2825750" y="3308350"/>
            <a:ext cx="1943100" cy="1828800"/>
            <a:chOff x="457200" y="1257300"/>
            <a:chExt cx="1943100" cy="1828800"/>
          </a:xfrm>
        </p:grpSpPr>
        <p:sp>
          <p:nvSpPr>
            <p:cNvPr id="24" name="Rounded Rectangle 1"/>
            <p:cNvSpPr/>
            <p:nvPr/>
          </p:nvSpPr>
          <p:spPr>
            <a:xfrm>
              <a:off x="457200" y="1257300"/>
              <a:ext cx="1943100" cy="1828800"/>
            </a:xfrm>
            <a:custGeom>
              <a:avLst/>
              <a:gdLst/>
              <a:ahLst/>
              <a:cxnLst/>
              <a:rect l="0" t="0" r="0" b="0"/>
              <a:pathLst>
                <a:path w="1943100" h="1828800">
                  <a:moveTo>
                    <a:pt x="0" y="0"/>
                  </a:moveTo>
                  <a:lnTo>
                    <a:pt x="1943100" y="0"/>
                  </a:lnTo>
                  <a:lnTo>
                    <a:pt x="1943100" y="1828800"/>
                  </a:lnTo>
                  <a:lnTo>
                    <a:pt x="0" y="1828800"/>
                  </a:lnTo>
                  <a:close/>
                </a:path>
              </a:pathLst>
            </a:custGeom>
            <a:solidFill>
              <a:srgbClr val="4F82D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5" name="Rounded Rectangle 2"/>
            <p:cNvSpPr/>
            <p:nvPr/>
          </p:nvSpPr>
          <p:spPr>
            <a:xfrm>
              <a:off x="581025" y="3076575"/>
              <a:ext cx="1695450" cy="9525"/>
            </a:xfrm>
            <a:custGeom>
              <a:avLst/>
              <a:gdLst/>
              <a:ahLst/>
              <a:cxnLst/>
              <a:rect l="0" t="0" r="0" b="0"/>
              <a:pathLst>
                <a:path w="1695450" h="9525">
                  <a:moveTo>
                    <a:pt x="0" y="0"/>
                  </a:moveTo>
                  <a:lnTo>
                    <a:pt x="1695450" y="0"/>
                  </a:lnTo>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6" name="Group 5"/>
          <p:cNvGrpSpPr/>
          <p:nvPr/>
        </p:nvGrpSpPr>
        <p:grpSpPr>
          <a:xfrm>
            <a:off x="4997450" y="3308350"/>
            <a:ext cx="1943100" cy="1828800"/>
            <a:chOff x="2628900" y="1257300"/>
            <a:chExt cx="1943100" cy="1828800"/>
          </a:xfrm>
        </p:grpSpPr>
        <p:sp>
          <p:nvSpPr>
            <p:cNvPr id="22" name="Rounded Rectangle 4"/>
            <p:cNvSpPr/>
            <p:nvPr/>
          </p:nvSpPr>
          <p:spPr>
            <a:xfrm>
              <a:off x="2628900" y="1257300"/>
              <a:ext cx="1943100" cy="1828800"/>
            </a:xfrm>
            <a:custGeom>
              <a:avLst/>
              <a:gdLst/>
              <a:ahLst/>
              <a:cxnLst/>
              <a:rect l="0" t="0" r="0" b="0"/>
              <a:pathLst>
                <a:path w="1943100" h="1828800">
                  <a:moveTo>
                    <a:pt x="0" y="0"/>
                  </a:moveTo>
                  <a:lnTo>
                    <a:pt x="1943100" y="0"/>
                  </a:lnTo>
                  <a:lnTo>
                    <a:pt x="1943100" y="1828800"/>
                  </a:lnTo>
                  <a:lnTo>
                    <a:pt x="0" y="1828800"/>
                  </a:lnTo>
                  <a:close/>
                </a:path>
              </a:pathLst>
            </a:custGeom>
            <a:solidFill>
              <a:srgbClr val="4E8FF7"/>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3" name="Rounded Rectangle 5"/>
            <p:cNvSpPr/>
            <p:nvPr/>
          </p:nvSpPr>
          <p:spPr>
            <a:xfrm>
              <a:off x="2752725" y="3076575"/>
              <a:ext cx="1695450" cy="9525"/>
            </a:xfrm>
            <a:custGeom>
              <a:avLst/>
              <a:gdLst/>
              <a:ahLst/>
              <a:cxnLst/>
              <a:rect l="0" t="0" r="0" b="0"/>
              <a:pathLst>
                <a:path w="1695450" h="9525">
                  <a:moveTo>
                    <a:pt x="0" y="0"/>
                  </a:moveTo>
                  <a:lnTo>
                    <a:pt x="1695450" y="0"/>
                  </a:lnTo>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7" name="Group 6"/>
          <p:cNvGrpSpPr/>
          <p:nvPr/>
        </p:nvGrpSpPr>
        <p:grpSpPr>
          <a:xfrm>
            <a:off x="7169150" y="3308350"/>
            <a:ext cx="1943100" cy="1828800"/>
            <a:chOff x="4800600" y="1257300"/>
            <a:chExt cx="1943100" cy="1828800"/>
          </a:xfrm>
          <a:solidFill>
            <a:srgbClr val="4F82D5"/>
          </a:solidFill>
        </p:grpSpPr>
        <p:sp>
          <p:nvSpPr>
            <p:cNvPr id="20" name="Rounded Rectangle 7"/>
            <p:cNvSpPr/>
            <p:nvPr/>
          </p:nvSpPr>
          <p:spPr>
            <a:xfrm>
              <a:off x="4800600" y="1257300"/>
              <a:ext cx="1943100" cy="1828800"/>
            </a:xfrm>
            <a:custGeom>
              <a:avLst/>
              <a:gdLst/>
              <a:ahLst/>
              <a:cxnLst/>
              <a:rect l="0" t="0" r="0" b="0"/>
              <a:pathLst>
                <a:path w="1943100" h="1828800">
                  <a:moveTo>
                    <a:pt x="0" y="0"/>
                  </a:moveTo>
                  <a:lnTo>
                    <a:pt x="1943100" y="0"/>
                  </a:lnTo>
                  <a:lnTo>
                    <a:pt x="1943100" y="1828800"/>
                  </a:lnTo>
                  <a:lnTo>
                    <a:pt x="0" y="1828800"/>
                  </a:lnTo>
                  <a:close/>
                </a:path>
              </a:pathLst>
            </a:custGeom>
            <a:grp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1" name="Rounded Rectangle 8"/>
            <p:cNvSpPr/>
            <p:nvPr/>
          </p:nvSpPr>
          <p:spPr>
            <a:xfrm>
              <a:off x="4924425" y="3076575"/>
              <a:ext cx="1695450" cy="9525"/>
            </a:xfrm>
            <a:custGeom>
              <a:avLst/>
              <a:gdLst/>
              <a:ahLst/>
              <a:cxnLst/>
              <a:rect l="0" t="0" r="0" b="0"/>
              <a:pathLst>
                <a:path w="1695450" h="9525">
                  <a:moveTo>
                    <a:pt x="0" y="0"/>
                  </a:moveTo>
                  <a:lnTo>
                    <a:pt x="1695450" y="0"/>
                  </a:lnTo>
                </a:path>
              </a:pathLst>
            </a:custGeom>
            <a:grp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
        <p:nvSpPr>
          <p:cNvPr id="8" name="Rounded Rectangle 10"/>
          <p:cNvSpPr/>
          <p:nvPr/>
        </p:nvSpPr>
        <p:spPr>
          <a:xfrm>
            <a:off x="2825750" y="5137150"/>
            <a:ext cx="1943100" cy="1339850"/>
          </a:xfrm>
          <a:custGeom>
            <a:avLst/>
            <a:gdLst/>
            <a:ahLst/>
            <a:cxnLst/>
            <a:rect l="0" t="0" r="0" b="0"/>
            <a:pathLst>
              <a:path w="1943100" h="1714500">
                <a:moveTo>
                  <a:pt x="0" y="0"/>
                </a:moveTo>
                <a:lnTo>
                  <a:pt x="1943100" y="0"/>
                </a:lnTo>
                <a:lnTo>
                  <a:pt x="1943100" y="228600"/>
                </a:lnTo>
                <a:lnTo>
                  <a:pt x="0" y="228600"/>
                </a:lnTo>
                <a:close/>
                <a:moveTo>
                  <a:pt x="0" y="228600"/>
                </a:moveTo>
                <a:lnTo>
                  <a:pt x="1943100" y="228600"/>
                </a:lnTo>
                <a:lnTo>
                  <a:pt x="1943100" y="1485900"/>
                </a:lnTo>
                <a:lnTo>
                  <a:pt x="0" y="1485900"/>
                </a:lnTo>
                <a:close/>
                <a:moveTo>
                  <a:pt x="0" y="1485900"/>
                </a:moveTo>
                <a:lnTo>
                  <a:pt x="1943100" y="1485900"/>
                </a:lnTo>
                <a:lnTo>
                  <a:pt x="1943100" y="1714500"/>
                </a:lnTo>
                <a:lnTo>
                  <a:pt x="0" y="1714500"/>
                </a:lnTo>
                <a:close/>
              </a:path>
            </a:pathLst>
          </a:custGeom>
          <a:solidFill>
            <a:srgbClr val="4F82D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9" name="Rounded Rectangle 11"/>
          <p:cNvSpPr/>
          <p:nvPr/>
        </p:nvSpPr>
        <p:spPr>
          <a:xfrm>
            <a:off x="4997450" y="5137150"/>
            <a:ext cx="1943100" cy="1339850"/>
          </a:xfrm>
          <a:custGeom>
            <a:avLst/>
            <a:gdLst/>
            <a:ahLst/>
            <a:cxnLst/>
            <a:rect l="0" t="0" r="0" b="0"/>
            <a:pathLst>
              <a:path w="1943100" h="1714500">
                <a:moveTo>
                  <a:pt x="0" y="0"/>
                </a:moveTo>
                <a:lnTo>
                  <a:pt x="1943100" y="0"/>
                </a:lnTo>
                <a:lnTo>
                  <a:pt x="1943100" y="228600"/>
                </a:lnTo>
                <a:lnTo>
                  <a:pt x="0" y="228600"/>
                </a:lnTo>
                <a:close/>
                <a:moveTo>
                  <a:pt x="0" y="228600"/>
                </a:moveTo>
                <a:lnTo>
                  <a:pt x="1943100" y="228600"/>
                </a:lnTo>
                <a:lnTo>
                  <a:pt x="1943100" y="1485900"/>
                </a:lnTo>
                <a:lnTo>
                  <a:pt x="0" y="1485900"/>
                </a:lnTo>
                <a:close/>
                <a:moveTo>
                  <a:pt x="0" y="1485900"/>
                </a:moveTo>
                <a:lnTo>
                  <a:pt x="1943100" y="1485900"/>
                </a:lnTo>
                <a:lnTo>
                  <a:pt x="1943100" y="1714500"/>
                </a:lnTo>
                <a:lnTo>
                  <a:pt x="0" y="1714500"/>
                </a:lnTo>
                <a:close/>
              </a:path>
            </a:pathLst>
          </a:custGeom>
          <a:solidFill>
            <a:srgbClr val="4E8FF7"/>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0" name="Rounded Rectangle 12"/>
          <p:cNvSpPr/>
          <p:nvPr/>
        </p:nvSpPr>
        <p:spPr>
          <a:xfrm>
            <a:off x="7169150" y="5137150"/>
            <a:ext cx="1943100" cy="1339850"/>
          </a:xfrm>
          <a:custGeom>
            <a:avLst/>
            <a:gdLst/>
            <a:ahLst/>
            <a:cxnLst/>
            <a:rect l="0" t="0" r="0" b="0"/>
            <a:pathLst>
              <a:path w="1943100" h="1714500">
                <a:moveTo>
                  <a:pt x="0" y="0"/>
                </a:moveTo>
                <a:lnTo>
                  <a:pt x="1943100" y="0"/>
                </a:lnTo>
                <a:lnTo>
                  <a:pt x="1943100" y="228600"/>
                </a:lnTo>
                <a:lnTo>
                  <a:pt x="0" y="228600"/>
                </a:lnTo>
                <a:close/>
                <a:moveTo>
                  <a:pt x="0" y="228600"/>
                </a:moveTo>
                <a:lnTo>
                  <a:pt x="1943100" y="228600"/>
                </a:lnTo>
                <a:lnTo>
                  <a:pt x="1943100" y="1485900"/>
                </a:lnTo>
                <a:lnTo>
                  <a:pt x="0" y="1485900"/>
                </a:lnTo>
                <a:close/>
                <a:moveTo>
                  <a:pt x="0" y="1485900"/>
                </a:moveTo>
                <a:lnTo>
                  <a:pt x="1943100" y="1485900"/>
                </a:lnTo>
                <a:lnTo>
                  <a:pt x="1943100" y="1714500"/>
                </a:lnTo>
                <a:lnTo>
                  <a:pt x="0" y="1714500"/>
                </a:lnTo>
                <a:close/>
              </a:path>
            </a:pathLst>
          </a:custGeom>
          <a:solidFill>
            <a:srgbClr val="4F82D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1" name="TextBox 14"/>
          <p:cNvSpPr txBox="1"/>
          <p:nvPr/>
        </p:nvSpPr>
        <p:spPr>
          <a:xfrm>
            <a:off x="3091878" y="4764781"/>
            <a:ext cx="1534587"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FFFFFF"/>
                </a:solidFill>
                <a:latin typeface="Roboto"/>
              </a:rPr>
              <a:t>Property Type</a:t>
            </a:r>
          </a:p>
        </p:txBody>
      </p:sp>
      <p:sp>
        <p:nvSpPr>
          <p:cNvPr id="12" name="TextBox 15"/>
          <p:cNvSpPr txBox="1"/>
          <p:nvPr/>
        </p:nvSpPr>
        <p:spPr>
          <a:xfrm>
            <a:off x="5389978" y="4764781"/>
            <a:ext cx="1192634"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a:solidFill>
                  <a:srgbClr val="FFFFFF"/>
                </a:solidFill>
                <a:latin typeface="Roboto"/>
              </a:rPr>
              <a:t>Ownership</a:t>
            </a:r>
          </a:p>
        </p:txBody>
      </p:sp>
      <p:sp>
        <p:nvSpPr>
          <p:cNvPr id="13" name="TextBox 16"/>
          <p:cNvSpPr txBox="1"/>
          <p:nvPr/>
        </p:nvSpPr>
        <p:spPr>
          <a:xfrm>
            <a:off x="7810889" y="4764781"/>
            <a:ext cx="692498"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a:solidFill>
                  <a:srgbClr val="FFFFFF"/>
                </a:solidFill>
                <a:latin typeface="Roboto"/>
              </a:rPr>
              <a:t>Usage</a:t>
            </a:r>
          </a:p>
        </p:txBody>
      </p:sp>
      <p:sp>
        <p:nvSpPr>
          <p:cNvPr id="14" name="TextBox 17"/>
          <p:cNvSpPr txBox="1"/>
          <p:nvPr/>
        </p:nvSpPr>
        <p:spPr>
          <a:xfrm>
            <a:off x="2888440" y="5276537"/>
            <a:ext cx="1818794" cy="984885"/>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600" b="0" dirty="0">
                <a:solidFill>
                  <a:srgbClr val="FFFFFF"/>
                </a:solidFill>
                <a:latin typeface="Roboto"/>
              </a:rPr>
              <a:t>The property must
consist of buildings or
land appurtenant.</a:t>
            </a:r>
          </a:p>
        </p:txBody>
      </p:sp>
      <p:sp>
        <p:nvSpPr>
          <p:cNvPr id="15" name="TextBox 18"/>
          <p:cNvSpPr txBox="1"/>
          <p:nvPr/>
        </p:nvSpPr>
        <p:spPr>
          <a:xfrm>
            <a:off x="5035992" y="5276537"/>
            <a:ext cx="1904558" cy="984885"/>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600" b="0" dirty="0">
                <a:solidFill>
                  <a:srgbClr val="FFFFFF"/>
                </a:solidFill>
                <a:latin typeface="Roboto"/>
              </a:rPr>
              <a:t>The </a:t>
            </a:r>
            <a:r>
              <a:rPr sz="1600" b="0" dirty="0" err="1">
                <a:solidFill>
                  <a:srgbClr val="FFFFFF"/>
                </a:solidFill>
                <a:latin typeface="Roboto"/>
              </a:rPr>
              <a:t>assessee</a:t>
            </a:r>
            <a:r>
              <a:rPr sz="1600" b="0" dirty="0">
                <a:solidFill>
                  <a:srgbClr val="FFFFFF"/>
                </a:solidFill>
                <a:latin typeface="Roboto"/>
              </a:rPr>
              <a:t> must be
the owner of the
property.</a:t>
            </a:r>
          </a:p>
        </p:txBody>
      </p:sp>
      <p:sp>
        <p:nvSpPr>
          <p:cNvPr id="16" name="TextBox 19"/>
          <p:cNvSpPr txBox="1"/>
          <p:nvPr/>
        </p:nvSpPr>
        <p:spPr>
          <a:xfrm>
            <a:off x="7305672" y="5191522"/>
            <a:ext cx="1682753" cy="1231106"/>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600" b="0" dirty="0">
                <a:solidFill>
                  <a:srgbClr val="FFFFFF"/>
                </a:solidFill>
                <a:latin typeface="Roboto"/>
              </a:rPr>
              <a:t>The property</a:t>
            </a:r>
            <a:r>
              <a:rPr lang="en-US" sz="1600" b="0" dirty="0">
                <a:solidFill>
                  <a:srgbClr val="FFFFFF"/>
                </a:solidFill>
                <a:latin typeface="Roboto"/>
              </a:rPr>
              <a:t> </a:t>
            </a:r>
            <a:r>
              <a:rPr sz="1600" b="0" dirty="0">
                <a:solidFill>
                  <a:srgbClr val="FFFFFF"/>
                </a:solidFill>
                <a:latin typeface="Roboto"/>
              </a:rPr>
              <a:t>should</a:t>
            </a:r>
            <a:r>
              <a:rPr lang="en-US" sz="1600" dirty="0">
                <a:solidFill>
                  <a:srgbClr val="FFFFFF"/>
                </a:solidFill>
                <a:latin typeface="Roboto"/>
              </a:rPr>
              <a:t> </a:t>
            </a:r>
            <a:r>
              <a:rPr sz="1600" b="0" dirty="0">
                <a:solidFill>
                  <a:srgbClr val="FFFFFF"/>
                </a:solidFill>
                <a:latin typeface="Roboto"/>
              </a:rPr>
              <a:t>not be used for own</a:t>
            </a:r>
            <a:r>
              <a:rPr lang="en-US" sz="1600" b="0" dirty="0">
                <a:solidFill>
                  <a:srgbClr val="FFFFFF"/>
                </a:solidFill>
                <a:latin typeface="Roboto"/>
              </a:rPr>
              <a:t> </a:t>
            </a:r>
            <a:r>
              <a:rPr sz="1600" b="0" dirty="0">
                <a:solidFill>
                  <a:srgbClr val="FFFFFF"/>
                </a:solidFill>
                <a:latin typeface="Roboto"/>
              </a:rPr>
              <a:t>business or
profession.</a:t>
            </a:r>
          </a:p>
        </p:txBody>
      </p:sp>
      <p:sp>
        <p:nvSpPr>
          <p:cNvPr id="17" name="Rounded Rectangle 20"/>
          <p:cNvSpPr/>
          <p:nvPr/>
        </p:nvSpPr>
        <p:spPr>
          <a:xfrm>
            <a:off x="3247122" y="3670240"/>
            <a:ext cx="1097865" cy="859784"/>
          </a:xfrm>
          <a:custGeom>
            <a:avLst/>
            <a:gdLst/>
            <a:ahLst/>
            <a:cxnLst/>
            <a:rect l="0" t="0" r="0" b="0"/>
            <a:pathLst>
              <a:path w="1097865" h="1100197">
                <a:moveTo>
                  <a:pt x="2490" y="1100197"/>
                </a:moveTo>
                <a:lnTo>
                  <a:pt x="1097865" y="1100197"/>
                </a:lnTo>
                <a:moveTo>
                  <a:pt x="50115" y="766822"/>
                </a:moveTo>
                <a:lnTo>
                  <a:pt x="50115" y="1100197"/>
                </a:lnTo>
                <a:moveTo>
                  <a:pt x="573990" y="766822"/>
                </a:moveTo>
                <a:lnTo>
                  <a:pt x="573990" y="1100197"/>
                </a:lnTo>
                <a:moveTo>
                  <a:pt x="240615" y="1100197"/>
                </a:moveTo>
                <a:lnTo>
                  <a:pt x="240615" y="909697"/>
                </a:lnTo>
                <a:cubicBezTo>
                  <a:pt x="240615" y="883395"/>
                  <a:pt x="261937" y="862072"/>
                  <a:pt x="288240" y="862072"/>
                </a:cubicBezTo>
                <a:lnTo>
                  <a:pt x="335865" y="862072"/>
                </a:lnTo>
                <a:cubicBezTo>
                  <a:pt x="362167" y="862072"/>
                  <a:pt x="383490" y="883395"/>
                  <a:pt x="383490" y="909697"/>
                </a:cubicBezTo>
                <a:lnTo>
                  <a:pt x="383490" y="1100197"/>
                </a:lnTo>
                <a:moveTo>
                  <a:pt x="1097865" y="790635"/>
                </a:moveTo>
                <a:cubicBezTo>
                  <a:pt x="1090867" y="889060"/>
                  <a:pt x="1005848" y="963452"/>
                  <a:pt x="907365" y="957322"/>
                </a:cubicBezTo>
                <a:cubicBezTo>
                  <a:pt x="808881" y="963452"/>
                  <a:pt x="723862" y="889060"/>
                  <a:pt x="716865" y="790635"/>
                </a:cubicBezTo>
                <a:cubicBezTo>
                  <a:pt x="716865" y="711958"/>
                  <a:pt x="855977" y="385203"/>
                  <a:pt x="896458" y="291811"/>
                </a:cubicBezTo>
                <a:cubicBezTo>
                  <a:pt x="898323" y="287442"/>
                  <a:pt x="902615" y="284608"/>
                  <a:pt x="907365" y="284608"/>
                </a:cubicBezTo>
                <a:cubicBezTo>
                  <a:pt x="912114" y="284608"/>
                  <a:pt x="916406" y="287442"/>
                  <a:pt x="918271" y="291811"/>
                </a:cubicBezTo>
                <a:cubicBezTo>
                  <a:pt x="958752" y="385203"/>
                  <a:pt x="1097865" y="711958"/>
                  <a:pt x="1097865" y="790635"/>
                </a:cubicBezTo>
                <a:close/>
                <a:moveTo>
                  <a:pt x="907365" y="1100197"/>
                </a:moveTo>
                <a:lnTo>
                  <a:pt x="907365" y="620995"/>
                </a:lnTo>
                <a:moveTo>
                  <a:pt x="907365" y="862072"/>
                </a:moveTo>
                <a:lnTo>
                  <a:pt x="835927" y="790635"/>
                </a:lnTo>
                <a:moveTo>
                  <a:pt x="2490" y="814447"/>
                </a:moveTo>
                <a:lnTo>
                  <a:pt x="295193" y="521744"/>
                </a:lnTo>
                <a:cubicBezTo>
                  <a:pt x="299660" y="517265"/>
                  <a:pt x="305726" y="514748"/>
                  <a:pt x="312052" y="514748"/>
                </a:cubicBezTo>
                <a:cubicBezTo>
                  <a:pt x="318378" y="514748"/>
                  <a:pt x="324444" y="517265"/>
                  <a:pt x="328911" y="521744"/>
                </a:cubicBezTo>
                <a:lnTo>
                  <a:pt x="621615" y="814447"/>
                </a:lnTo>
                <a:moveTo>
                  <a:pt x="287525" y="133410"/>
                </a:moveTo>
                <a:cubicBezTo>
                  <a:pt x="316164" y="99927"/>
                  <a:pt x="364030" y="90457"/>
                  <a:pt x="403261" y="110510"/>
                </a:cubicBezTo>
                <a:cubicBezTo>
                  <a:pt x="442493" y="130564"/>
                  <a:pt x="462851" y="174908"/>
                  <a:pt x="452485" y="217731"/>
                </a:cubicBezTo>
                <a:cubicBezTo>
                  <a:pt x="442120" y="260554"/>
                  <a:pt x="403737" y="290679"/>
                  <a:pt x="359677" y="290572"/>
                </a:cubicBezTo>
                <a:lnTo>
                  <a:pt x="145365" y="290572"/>
                </a:lnTo>
                <a:cubicBezTo>
                  <a:pt x="68314" y="290571"/>
                  <a:pt x="5143" y="229474"/>
                  <a:pt x="2571" y="152466"/>
                </a:cubicBezTo>
                <a:cubicBezTo>
                  <a:pt x="0" y="75458"/>
                  <a:pt x="58954" y="10282"/>
                  <a:pt x="135833" y="5141"/>
                </a:cubicBezTo>
                <a:cubicBezTo>
                  <a:pt x="212712" y="0"/>
                  <a:pt x="279820" y="56745"/>
                  <a:pt x="287525" y="133410"/>
                </a:cubicBezTo>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8" name="Rounded Rectangle 21"/>
          <p:cNvSpPr/>
          <p:nvPr/>
        </p:nvSpPr>
        <p:spPr>
          <a:xfrm>
            <a:off x="5397500" y="3651251"/>
            <a:ext cx="1119187" cy="859104"/>
          </a:xfrm>
          <a:custGeom>
            <a:avLst/>
            <a:gdLst/>
            <a:ahLst/>
            <a:cxnLst/>
            <a:rect l="0" t="0" r="0" b="0"/>
            <a:pathLst>
              <a:path w="1119187" h="1099327">
                <a:moveTo>
                  <a:pt x="547687" y="718327"/>
                </a:moveTo>
                <a:lnTo>
                  <a:pt x="190500" y="718327"/>
                </a:lnTo>
                <a:cubicBezTo>
                  <a:pt x="177348" y="718327"/>
                  <a:pt x="166687" y="707666"/>
                  <a:pt x="166687" y="694515"/>
                </a:cubicBezTo>
                <a:lnTo>
                  <a:pt x="166687" y="384952"/>
                </a:lnTo>
                <a:moveTo>
                  <a:pt x="23812" y="384952"/>
                </a:moveTo>
                <a:lnTo>
                  <a:pt x="397097" y="55578"/>
                </a:lnTo>
                <a:cubicBezTo>
                  <a:pt x="415106" y="39671"/>
                  <a:pt x="442143" y="39671"/>
                  <a:pt x="460152" y="55578"/>
                </a:cubicBezTo>
                <a:lnTo>
                  <a:pt x="833437" y="384952"/>
                </a:lnTo>
                <a:moveTo>
                  <a:pt x="357187" y="718327"/>
                </a:moveTo>
                <a:lnTo>
                  <a:pt x="357187" y="551640"/>
                </a:lnTo>
                <a:cubicBezTo>
                  <a:pt x="357187" y="512186"/>
                  <a:pt x="389171" y="480202"/>
                  <a:pt x="428625" y="480202"/>
                </a:cubicBezTo>
                <a:cubicBezTo>
                  <a:pt x="468078" y="480202"/>
                  <a:pt x="500062" y="512186"/>
                  <a:pt x="500062" y="551640"/>
                </a:cubicBezTo>
                <a:lnTo>
                  <a:pt x="500062" y="718327"/>
                </a:lnTo>
                <a:moveTo>
                  <a:pt x="0" y="0"/>
                </a:moveTo>
                <a:moveTo>
                  <a:pt x="547687" y="1099327"/>
                </a:moveTo>
                <a:lnTo>
                  <a:pt x="421338" y="928973"/>
                </a:lnTo>
                <a:cubicBezTo>
                  <a:pt x="396107" y="898633"/>
                  <a:pt x="400251" y="853584"/>
                  <a:pt x="430594" y="828357"/>
                </a:cubicBezTo>
                <a:cubicBezTo>
                  <a:pt x="460937" y="803130"/>
                  <a:pt x="505986" y="807281"/>
                  <a:pt x="531209" y="837628"/>
                </a:cubicBezTo>
                <a:lnTo>
                  <a:pt x="642937" y="972026"/>
                </a:lnTo>
                <a:lnTo>
                  <a:pt x="642937" y="504015"/>
                </a:lnTo>
                <a:cubicBezTo>
                  <a:pt x="642937" y="464561"/>
                  <a:pt x="674921" y="432577"/>
                  <a:pt x="714374" y="432577"/>
                </a:cubicBezTo>
                <a:cubicBezTo>
                  <a:pt x="753828" y="432577"/>
                  <a:pt x="785812" y="464561"/>
                  <a:pt x="785812" y="504015"/>
                </a:cubicBezTo>
                <a:lnTo>
                  <a:pt x="785812" y="813577"/>
                </a:lnTo>
                <a:lnTo>
                  <a:pt x="928687" y="813577"/>
                </a:lnTo>
                <a:cubicBezTo>
                  <a:pt x="1033897" y="813577"/>
                  <a:pt x="1119187" y="898867"/>
                  <a:pt x="1119187" y="1004077"/>
                </a:cubicBezTo>
                <a:lnTo>
                  <a:pt x="1119187" y="1099327"/>
                </a:lnTo>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9" name="Rounded Rectangle 22"/>
          <p:cNvSpPr/>
          <p:nvPr/>
        </p:nvSpPr>
        <p:spPr>
          <a:xfrm>
            <a:off x="7616825" y="3698827"/>
            <a:ext cx="1047750" cy="818849"/>
          </a:xfrm>
          <a:custGeom>
            <a:avLst/>
            <a:gdLst/>
            <a:ahLst/>
            <a:cxnLst/>
            <a:rect l="0" t="0" r="0" b="0"/>
            <a:pathLst>
              <a:path w="1047750" h="1047816">
                <a:moveTo>
                  <a:pt x="382476" y="665321"/>
                </a:moveTo>
                <a:cubicBezTo>
                  <a:pt x="289619" y="758237"/>
                  <a:pt x="139005" y="758237"/>
                  <a:pt x="46148" y="665321"/>
                </a:cubicBezTo>
                <a:lnTo>
                  <a:pt x="0" y="619172"/>
                </a:lnTo>
                <a:lnTo>
                  <a:pt x="428625" y="619172"/>
                </a:lnTo>
                <a:close/>
                <a:moveTo>
                  <a:pt x="1001601" y="665321"/>
                </a:moveTo>
                <a:cubicBezTo>
                  <a:pt x="908744" y="758237"/>
                  <a:pt x="758130" y="758237"/>
                  <a:pt x="665273" y="665321"/>
                </a:cubicBezTo>
                <a:lnTo>
                  <a:pt x="619125" y="619172"/>
                </a:lnTo>
                <a:lnTo>
                  <a:pt x="1047750" y="619172"/>
                </a:lnTo>
                <a:close/>
                <a:moveTo>
                  <a:pt x="392048" y="884300"/>
                </a:moveTo>
                <a:lnTo>
                  <a:pt x="305895" y="859678"/>
                </a:lnTo>
                <a:cubicBezTo>
                  <a:pt x="250508" y="843864"/>
                  <a:pt x="212837" y="792578"/>
                  <a:pt x="214312" y="734996"/>
                </a:cubicBezTo>
                <a:moveTo>
                  <a:pt x="833437" y="734996"/>
                </a:moveTo>
                <a:cubicBezTo>
                  <a:pt x="834918" y="792565"/>
                  <a:pt x="797270" y="843846"/>
                  <a:pt x="741902" y="859678"/>
                </a:cubicBezTo>
                <a:lnTo>
                  <a:pt x="655748" y="884300"/>
                </a:lnTo>
                <a:moveTo>
                  <a:pt x="214312" y="0"/>
                </a:moveTo>
                <a:cubicBezTo>
                  <a:pt x="273493" y="0"/>
                  <a:pt x="321468" y="47975"/>
                  <a:pt x="321468" y="107156"/>
                </a:cubicBezTo>
                <a:cubicBezTo>
                  <a:pt x="321468" y="166336"/>
                  <a:pt x="273493" y="214312"/>
                  <a:pt x="214312" y="214312"/>
                </a:cubicBezTo>
                <a:cubicBezTo>
                  <a:pt x="155131" y="214312"/>
                  <a:pt x="107156" y="166336"/>
                  <a:pt x="107156" y="107156"/>
                </a:cubicBezTo>
                <a:cubicBezTo>
                  <a:pt x="107156" y="47975"/>
                  <a:pt x="155131" y="0"/>
                  <a:pt x="214312" y="0"/>
                </a:cubicBezTo>
                <a:close/>
                <a:moveTo>
                  <a:pt x="357187" y="452485"/>
                </a:moveTo>
                <a:lnTo>
                  <a:pt x="357187" y="452485"/>
                </a:lnTo>
                <a:lnTo>
                  <a:pt x="285750" y="452485"/>
                </a:lnTo>
                <a:lnTo>
                  <a:pt x="261937" y="619172"/>
                </a:lnTo>
                <a:lnTo>
                  <a:pt x="166687" y="619172"/>
                </a:lnTo>
                <a:lnTo>
                  <a:pt x="142875" y="452485"/>
                </a:lnTo>
                <a:lnTo>
                  <a:pt x="71437" y="452485"/>
                </a:lnTo>
                <a:lnTo>
                  <a:pt x="71437" y="452485"/>
                </a:lnTo>
                <a:cubicBezTo>
                  <a:pt x="71437" y="373570"/>
                  <a:pt x="71437" y="261985"/>
                  <a:pt x="214312" y="261985"/>
                </a:cubicBezTo>
                <a:cubicBezTo>
                  <a:pt x="357187" y="261985"/>
                  <a:pt x="357187" y="373475"/>
                  <a:pt x="357187" y="452485"/>
                </a:cubicBezTo>
                <a:close/>
                <a:moveTo>
                  <a:pt x="718137" y="1011650"/>
                </a:moveTo>
                <a:lnTo>
                  <a:pt x="718804" y="1012888"/>
                </a:lnTo>
                <a:cubicBezTo>
                  <a:pt x="722694" y="1020274"/>
                  <a:pt x="722432" y="1029157"/>
                  <a:pt x="718114" y="1036301"/>
                </a:cubicBezTo>
                <a:cubicBezTo>
                  <a:pt x="713797" y="1043446"/>
                  <a:pt x="706053" y="1047807"/>
                  <a:pt x="697706" y="1047797"/>
                </a:cubicBezTo>
                <a:lnTo>
                  <a:pt x="350043" y="1047797"/>
                </a:lnTo>
                <a:cubicBezTo>
                  <a:pt x="341682" y="1047816"/>
                  <a:pt x="333923" y="1043448"/>
                  <a:pt x="329602" y="1036289"/>
                </a:cubicBezTo>
                <a:cubicBezTo>
                  <a:pt x="325281" y="1029130"/>
                  <a:pt x="325032" y="1020230"/>
                  <a:pt x="328945" y="1012840"/>
                </a:cubicBezTo>
                <a:lnTo>
                  <a:pt x="329612" y="1011602"/>
                </a:lnTo>
                <a:lnTo>
                  <a:pt x="415575" y="836342"/>
                </a:lnTo>
                <a:cubicBezTo>
                  <a:pt x="423602" y="820007"/>
                  <a:pt x="440237" y="809674"/>
                  <a:pt x="458438" y="809720"/>
                </a:cubicBezTo>
                <a:lnTo>
                  <a:pt x="589597" y="809720"/>
                </a:lnTo>
                <a:cubicBezTo>
                  <a:pt x="607798" y="809674"/>
                  <a:pt x="624433" y="820007"/>
                  <a:pt x="632459" y="836342"/>
                </a:cubicBezTo>
                <a:close/>
                <a:moveTo>
                  <a:pt x="809625" y="428672"/>
                </a:moveTo>
                <a:lnTo>
                  <a:pt x="890587" y="428672"/>
                </a:lnTo>
                <a:cubicBezTo>
                  <a:pt x="917990" y="428756"/>
                  <a:pt x="942188" y="410816"/>
                  <a:pt x="950071" y="384571"/>
                </a:cubicBezTo>
                <a:cubicBezTo>
                  <a:pt x="957954" y="358326"/>
                  <a:pt x="947647" y="330022"/>
                  <a:pt x="924734" y="314991"/>
                </a:cubicBezTo>
                <a:lnTo>
                  <a:pt x="837104" y="256555"/>
                </a:lnTo>
                <a:cubicBezTo>
                  <a:pt x="814191" y="241481"/>
                  <a:pt x="803928" y="213127"/>
                  <a:pt x="811881" y="186879"/>
                </a:cubicBezTo>
                <a:cubicBezTo>
                  <a:pt x="819835" y="160630"/>
                  <a:pt x="844110" y="142743"/>
                  <a:pt x="871537" y="142922"/>
                </a:cubicBezTo>
                <a:lnTo>
                  <a:pt x="952499" y="142922"/>
                </a:lnTo>
                <a:moveTo>
                  <a:pt x="904875" y="95345"/>
                </a:moveTo>
                <a:lnTo>
                  <a:pt x="904875" y="142970"/>
                </a:lnTo>
                <a:moveTo>
                  <a:pt x="857250" y="476345"/>
                </a:moveTo>
                <a:lnTo>
                  <a:pt x="857250" y="428720"/>
                </a:lnTo>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Tree>
    <p:extLst>
      <p:ext uri="{BB962C8B-B14F-4D97-AF65-F5344CB8AC3E}">
        <p14:creationId xmlns:p14="http://schemas.microsoft.com/office/powerpoint/2010/main" val="20493099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BB4606F-E6AC-9084-A4D8-65916B4F558A}"/>
              </a:ext>
            </a:extLst>
          </p:cNvPr>
          <p:cNvSpPr/>
          <p:nvPr/>
        </p:nvSpPr>
        <p:spPr>
          <a:xfrm>
            <a:off x="479394" y="2203878"/>
            <a:ext cx="2867488" cy="1664568"/>
          </a:xfrm>
          <a:prstGeom prst="round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Gross Annual Value </a:t>
            </a:r>
          </a:p>
        </p:txBody>
      </p:sp>
      <p:sp>
        <p:nvSpPr>
          <p:cNvPr id="3" name="Minus Sign 2">
            <a:extLst>
              <a:ext uri="{FF2B5EF4-FFF2-40B4-BE49-F238E27FC236}">
                <a16:creationId xmlns:a16="http://schemas.microsoft.com/office/drawing/2014/main" id="{1898584D-7778-B140-CC7C-DC323BF1EE7D}"/>
              </a:ext>
            </a:extLst>
          </p:cNvPr>
          <p:cNvSpPr/>
          <p:nvPr/>
        </p:nvSpPr>
        <p:spPr>
          <a:xfrm>
            <a:off x="3315810" y="2601155"/>
            <a:ext cx="1461856" cy="870012"/>
          </a:xfrm>
          <a:prstGeom prst="mathMinus">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6169EF84-37B1-B5C0-14A6-A97C2D190B9A}"/>
              </a:ext>
            </a:extLst>
          </p:cNvPr>
          <p:cNvSpPr/>
          <p:nvPr/>
        </p:nvSpPr>
        <p:spPr>
          <a:xfrm>
            <a:off x="4808738" y="2203877"/>
            <a:ext cx="2867488" cy="1664568"/>
          </a:xfrm>
          <a:prstGeom prst="round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Municipal taxes paid by the owner during the previous year </a:t>
            </a:r>
          </a:p>
        </p:txBody>
      </p:sp>
      <p:sp>
        <p:nvSpPr>
          <p:cNvPr id="5" name="Equals 4">
            <a:extLst>
              <a:ext uri="{FF2B5EF4-FFF2-40B4-BE49-F238E27FC236}">
                <a16:creationId xmlns:a16="http://schemas.microsoft.com/office/drawing/2014/main" id="{25443191-6E42-2066-F291-DA52F009EDF0}"/>
              </a:ext>
            </a:extLst>
          </p:cNvPr>
          <p:cNvSpPr/>
          <p:nvPr/>
        </p:nvSpPr>
        <p:spPr>
          <a:xfrm>
            <a:off x="7674745" y="2738759"/>
            <a:ext cx="1606858" cy="594803"/>
          </a:xfrm>
          <a:prstGeom prst="mathEqual">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66F94BA2-055D-6DBD-4F4A-C961E1B8BD5B}"/>
              </a:ext>
            </a:extLst>
          </p:cNvPr>
          <p:cNvSpPr/>
          <p:nvPr/>
        </p:nvSpPr>
        <p:spPr>
          <a:xfrm>
            <a:off x="9283084" y="2123977"/>
            <a:ext cx="2089212" cy="1980264"/>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dirty="0"/>
              <a:t>Net Annual Value</a:t>
            </a:r>
            <a:endParaRPr lang="en-US" sz="2800" dirty="0"/>
          </a:p>
        </p:txBody>
      </p:sp>
      <p:sp>
        <p:nvSpPr>
          <p:cNvPr id="8" name="TextBox 7">
            <a:extLst>
              <a:ext uri="{FF2B5EF4-FFF2-40B4-BE49-F238E27FC236}">
                <a16:creationId xmlns:a16="http://schemas.microsoft.com/office/drawing/2014/main" id="{8797F578-E7DF-9198-B107-2E3E679AA445}"/>
              </a:ext>
            </a:extLst>
          </p:cNvPr>
          <p:cNvSpPr txBox="1"/>
          <p:nvPr/>
        </p:nvSpPr>
        <p:spPr>
          <a:xfrm>
            <a:off x="417249" y="627640"/>
            <a:ext cx="8060925" cy="523220"/>
          </a:xfrm>
          <a:prstGeom prst="rect">
            <a:avLst/>
          </a:prstGeom>
          <a:noFill/>
        </p:spPr>
        <p:txBody>
          <a:bodyPr wrap="square">
            <a:spAutoFit/>
          </a:bodyPr>
          <a:lstStyle/>
          <a:p>
            <a:r>
              <a:rPr lang="en-US" sz="2800" b="1" i="0" u="none" strike="noStrike" baseline="0" dirty="0">
                <a:solidFill>
                  <a:srgbClr val="000000"/>
                </a:solidFill>
                <a:latin typeface="Poppins" panose="00000500000000000000" pitchFamily="2" charset="0"/>
              </a:rPr>
              <a:t>Annual Value of the let-out property </a:t>
            </a:r>
            <a:endParaRPr lang="en-US" sz="2800" dirty="0"/>
          </a:p>
        </p:txBody>
      </p:sp>
    </p:spTree>
    <p:extLst>
      <p:ext uri="{BB962C8B-B14F-4D97-AF65-F5344CB8AC3E}">
        <p14:creationId xmlns:p14="http://schemas.microsoft.com/office/powerpoint/2010/main" val="17472791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C865B-F88F-AE56-892C-EBDF3C56FCC7}"/>
              </a:ext>
            </a:extLst>
          </p:cNvPr>
          <p:cNvSpPr>
            <a:spLocks noGrp="1"/>
          </p:cNvSpPr>
          <p:nvPr>
            <p:ph type="title"/>
          </p:nvPr>
        </p:nvSpPr>
        <p:spPr/>
        <p:txBody>
          <a:bodyPr/>
          <a:lstStyle/>
          <a:p>
            <a:r>
              <a:rPr lang="en-US" dirty="0"/>
              <a:t>Deductions from Annual Value</a:t>
            </a:r>
            <a:endParaRPr lang="en-IN" dirty="0"/>
          </a:p>
        </p:txBody>
      </p:sp>
      <p:graphicFrame>
        <p:nvGraphicFramePr>
          <p:cNvPr id="4" name="Content Placeholder 3">
            <a:extLst>
              <a:ext uri="{FF2B5EF4-FFF2-40B4-BE49-F238E27FC236}">
                <a16:creationId xmlns:a16="http://schemas.microsoft.com/office/drawing/2014/main" id="{52EC86AE-FDCF-EA4D-BCF4-F4A8789851B6}"/>
              </a:ext>
            </a:extLst>
          </p:cNvPr>
          <p:cNvGraphicFramePr>
            <a:graphicFrameLocks noGrp="1"/>
          </p:cNvGraphicFramePr>
          <p:nvPr>
            <p:ph idx="1"/>
            <p:extLst>
              <p:ext uri="{D42A27DB-BD31-4B8C-83A1-F6EECF244321}">
                <p14:modId xmlns:p14="http://schemas.microsoft.com/office/powerpoint/2010/main" val="1998886346"/>
              </p:ext>
            </p:extLst>
          </p:nvPr>
        </p:nvGraphicFramePr>
        <p:xfrm>
          <a:off x="131180" y="807458"/>
          <a:ext cx="11929641" cy="55905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356761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15FE6-5DE9-539B-1EB1-6CC97EB3C6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478481-A356-1FC1-85D5-3D73F0FEE19C}"/>
              </a:ext>
            </a:extLst>
          </p:cNvPr>
          <p:cNvSpPr>
            <a:spLocks noGrp="1"/>
          </p:cNvSpPr>
          <p:nvPr>
            <p:ph type="title"/>
          </p:nvPr>
        </p:nvSpPr>
        <p:spPr>
          <a:xfrm>
            <a:off x="838200" y="490330"/>
            <a:ext cx="10515600" cy="814318"/>
          </a:xfrm>
        </p:spPr>
        <p:txBody>
          <a:bodyPr>
            <a:normAutofit/>
          </a:bodyPr>
          <a:lstStyle/>
          <a:p>
            <a:pPr algn="ctr"/>
            <a:r>
              <a:rPr lang="en-US" sz="3200" b="1" u="sng" dirty="0">
                <a:latin typeface="Times New Roman" panose="02020603050405020304" pitchFamily="18" charset="0"/>
                <a:cs typeface="Times New Roman" panose="02020603050405020304" pitchFamily="18" charset="0"/>
              </a:rPr>
              <a:t>Format</a:t>
            </a:r>
          </a:p>
        </p:txBody>
      </p:sp>
      <p:graphicFrame>
        <p:nvGraphicFramePr>
          <p:cNvPr id="4" name="Content Placeholder 3">
            <a:extLst>
              <a:ext uri="{FF2B5EF4-FFF2-40B4-BE49-F238E27FC236}">
                <a16:creationId xmlns:a16="http://schemas.microsoft.com/office/drawing/2014/main" id="{E7E7B691-A392-323B-58FF-88D578A5C4AE}"/>
              </a:ext>
            </a:extLst>
          </p:cNvPr>
          <p:cNvGraphicFramePr>
            <a:graphicFrameLocks noGrp="1"/>
          </p:cNvGraphicFramePr>
          <p:nvPr>
            <p:ph idx="1"/>
            <p:extLst>
              <p:ext uri="{D42A27DB-BD31-4B8C-83A1-F6EECF244321}">
                <p14:modId xmlns:p14="http://schemas.microsoft.com/office/powerpoint/2010/main" val="1639295703"/>
              </p:ext>
            </p:extLst>
          </p:nvPr>
        </p:nvGraphicFramePr>
        <p:xfrm>
          <a:off x="838200" y="1499059"/>
          <a:ext cx="10515600" cy="3481806"/>
        </p:xfrm>
        <a:graphic>
          <a:graphicData uri="http://schemas.openxmlformats.org/drawingml/2006/table">
            <a:tbl>
              <a:tblPr firstRow="1" bandRow="1">
                <a:tableStyleId>{00A15C55-8517-42AA-B614-E9B94910E393}</a:tableStyleId>
              </a:tblPr>
              <a:tblGrid>
                <a:gridCol w="7855226">
                  <a:extLst>
                    <a:ext uri="{9D8B030D-6E8A-4147-A177-3AD203B41FA5}">
                      <a16:colId xmlns:a16="http://schemas.microsoft.com/office/drawing/2014/main" val="20000"/>
                    </a:ext>
                  </a:extLst>
                </a:gridCol>
                <a:gridCol w="2660374">
                  <a:extLst>
                    <a:ext uri="{9D8B030D-6E8A-4147-A177-3AD203B41FA5}">
                      <a16:colId xmlns:a16="http://schemas.microsoft.com/office/drawing/2014/main" val="20001"/>
                    </a:ext>
                  </a:extLst>
                </a:gridCol>
              </a:tblGrid>
              <a:tr h="421910">
                <a:tc>
                  <a:txBody>
                    <a:bodyPr/>
                    <a:lstStyle/>
                    <a:p>
                      <a:pPr algn="ctr"/>
                      <a:r>
                        <a:rPr lang="en-US" sz="2400" b="1" dirty="0"/>
                        <a:t>Particular</a:t>
                      </a:r>
                      <a:endParaRPr lang="en-US" sz="2400" b="1" dirty="0">
                        <a:latin typeface="+mn-lt"/>
                        <a:cs typeface="Times New Roman" panose="02020603050405020304" pitchFamily="18" charset="0"/>
                      </a:endParaRPr>
                    </a:p>
                  </a:txBody>
                  <a:tcPr anchor="ctr"/>
                </a:tc>
                <a:tc>
                  <a:txBody>
                    <a:bodyPr/>
                    <a:lstStyle/>
                    <a:p>
                      <a:pPr algn="ctr"/>
                      <a:r>
                        <a:rPr lang="en-US" sz="2400" b="1" dirty="0"/>
                        <a:t>Amount</a:t>
                      </a:r>
                      <a:endParaRPr lang="en-US" sz="2400" b="1" dirty="0">
                        <a:latin typeface="+mn-lt"/>
                        <a:cs typeface="Times New Roman" panose="02020603050405020304" pitchFamily="18" charset="0"/>
                      </a:endParaRPr>
                    </a:p>
                  </a:txBody>
                  <a:tcPr anchor="ctr"/>
                </a:tc>
                <a:extLst>
                  <a:ext uri="{0D108BD9-81ED-4DB2-BD59-A6C34878D82A}">
                    <a16:rowId xmlns:a16="http://schemas.microsoft.com/office/drawing/2014/main" val="10000"/>
                  </a:ext>
                </a:extLst>
              </a:tr>
              <a:tr h="421910">
                <a:tc>
                  <a:txBody>
                    <a:bodyPr/>
                    <a:lstStyle/>
                    <a:p>
                      <a:pPr algn="l"/>
                      <a:r>
                        <a:rPr lang="en-US" sz="2400" b="0" dirty="0"/>
                        <a:t>Gross Annual</a:t>
                      </a:r>
                      <a:r>
                        <a:rPr lang="en-US" sz="2400" b="0" baseline="0" dirty="0"/>
                        <a:t> Value</a:t>
                      </a:r>
                      <a:endParaRPr lang="en-US" sz="2400" b="0" dirty="0">
                        <a:latin typeface="+mn-lt"/>
                        <a:cs typeface="Times New Roman" panose="02020603050405020304" pitchFamily="18" charset="0"/>
                      </a:endParaRPr>
                    </a:p>
                  </a:txBody>
                  <a:tcPr anchor="ctr"/>
                </a:tc>
                <a:tc>
                  <a:txBody>
                    <a:bodyPr/>
                    <a:lstStyle/>
                    <a:p>
                      <a:pPr algn="ctr"/>
                      <a:r>
                        <a:rPr lang="en-US" sz="2400" b="0" dirty="0"/>
                        <a:t>XXX</a:t>
                      </a:r>
                      <a:endParaRPr lang="en-US" sz="2400" b="0" dirty="0">
                        <a:latin typeface="+mn-lt"/>
                        <a:cs typeface="Times New Roman" panose="02020603050405020304" pitchFamily="18" charset="0"/>
                      </a:endParaRPr>
                    </a:p>
                  </a:txBody>
                  <a:tcPr anchor="ctr"/>
                </a:tc>
                <a:extLst>
                  <a:ext uri="{0D108BD9-81ED-4DB2-BD59-A6C34878D82A}">
                    <a16:rowId xmlns:a16="http://schemas.microsoft.com/office/drawing/2014/main" val="10001"/>
                  </a:ext>
                </a:extLst>
              </a:tr>
              <a:tr h="421910">
                <a:tc>
                  <a:txBody>
                    <a:bodyPr/>
                    <a:lstStyle/>
                    <a:p>
                      <a:pPr algn="l"/>
                      <a:r>
                        <a:rPr lang="en-US" sz="2400" b="0" dirty="0"/>
                        <a:t>Less: Municipal Tax</a:t>
                      </a:r>
                      <a:endParaRPr lang="en-US" sz="2400" b="0" dirty="0">
                        <a:latin typeface="+mn-lt"/>
                        <a:cs typeface="Times New Roman" panose="02020603050405020304" pitchFamily="18" charset="0"/>
                      </a:endParaRPr>
                    </a:p>
                  </a:txBody>
                  <a:tcPr anchor="ctr"/>
                </a:tc>
                <a:tc>
                  <a:txBody>
                    <a:bodyPr/>
                    <a:lstStyle/>
                    <a:p>
                      <a:pPr algn="ctr"/>
                      <a:r>
                        <a:rPr lang="en-US" sz="2400" b="0" dirty="0"/>
                        <a:t>XXX</a:t>
                      </a:r>
                      <a:endParaRPr lang="en-US" sz="2400" b="0" dirty="0">
                        <a:latin typeface="+mn-lt"/>
                        <a:cs typeface="Times New Roman" panose="02020603050405020304" pitchFamily="18" charset="0"/>
                      </a:endParaRPr>
                    </a:p>
                  </a:txBody>
                  <a:tcPr anchor="ctr"/>
                </a:tc>
                <a:extLst>
                  <a:ext uri="{0D108BD9-81ED-4DB2-BD59-A6C34878D82A}">
                    <a16:rowId xmlns:a16="http://schemas.microsoft.com/office/drawing/2014/main" val="10002"/>
                  </a:ext>
                </a:extLst>
              </a:tr>
              <a:tr h="421910">
                <a:tc>
                  <a:txBody>
                    <a:bodyPr/>
                    <a:lstStyle/>
                    <a:p>
                      <a:pPr algn="l"/>
                      <a:r>
                        <a:rPr lang="en-US" sz="2400" b="0" dirty="0"/>
                        <a:t>Net Annual Value (NAV)</a:t>
                      </a:r>
                      <a:endParaRPr lang="en-US" sz="2400" b="0" dirty="0">
                        <a:latin typeface="+mn-lt"/>
                        <a:cs typeface="Times New Roman" panose="02020603050405020304" pitchFamily="18" charset="0"/>
                      </a:endParaRPr>
                    </a:p>
                  </a:txBody>
                  <a:tcPr anchor="ctr"/>
                </a:tc>
                <a:tc>
                  <a:txBody>
                    <a:bodyPr/>
                    <a:lstStyle/>
                    <a:p>
                      <a:pPr algn="ctr"/>
                      <a:r>
                        <a:rPr lang="en-IN" sz="2400" b="1" dirty="0"/>
                        <a:t>X</a:t>
                      </a:r>
                      <a:r>
                        <a:rPr lang="en-US" sz="2400" b="1" dirty="0"/>
                        <a:t>XX</a:t>
                      </a:r>
                      <a:endParaRPr lang="en-US" sz="2400" b="1" dirty="0">
                        <a:latin typeface="+mn-lt"/>
                        <a:cs typeface="Times New Roman" panose="02020603050405020304" pitchFamily="18" charset="0"/>
                      </a:endParaRPr>
                    </a:p>
                  </a:txBody>
                  <a:tcPr anchor="ctr"/>
                </a:tc>
                <a:extLst>
                  <a:ext uri="{0D108BD9-81ED-4DB2-BD59-A6C34878D82A}">
                    <a16:rowId xmlns:a16="http://schemas.microsoft.com/office/drawing/2014/main" val="10003"/>
                  </a:ext>
                </a:extLst>
              </a:tr>
              <a:tr h="759439">
                <a:tc>
                  <a:txBody>
                    <a:bodyPr/>
                    <a:lstStyle/>
                    <a:p>
                      <a:pPr algn="l"/>
                      <a:r>
                        <a:rPr lang="en-US" sz="2400" b="0" dirty="0"/>
                        <a:t>Less: Standard</a:t>
                      </a:r>
                      <a:r>
                        <a:rPr lang="en-US" sz="2400" b="0" baseline="0" dirty="0"/>
                        <a:t> Deduction u/s 24(a) (30% of NAV) = (XXX)</a:t>
                      </a:r>
                    </a:p>
                    <a:p>
                      <a:pPr algn="l"/>
                      <a:r>
                        <a:rPr lang="en-US" sz="2400" b="0" dirty="0"/>
                        <a:t>          Deduction u/s 24(b)</a:t>
                      </a:r>
                      <a:r>
                        <a:rPr lang="en-US" sz="2400" b="0" baseline="0" dirty="0"/>
                        <a:t> </a:t>
                      </a:r>
                      <a:r>
                        <a:rPr lang="en-US" sz="2400" b="0" dirty="0"/>
                        <a:t>(Home Loan Interest) = (XXX) </a:t>
                      </a:r>
                      <a:endParaRPr lang="en-US" sz="2400" b="0" i="1" dirty="0">
                        <a:latin typeface="+mn-lt"/>
                        <a:cs typeface="Times New Roman" panose="02020603050405020304" pitchFamily="18" charset="0"/>
                      </a:endParaRPr>
                    </a:p>
                  </a:txBody>
                  <a:tcPr anchor="ctr"/>
                </a:tc>
                <a:tc>
                  <a:txBody>
                    <a:bodyPr/>
                    <a:lstStyle/>
                    <a:p>
                      <a:pPr algn="ctr"/>
                      <a:r>
                        <a:rPr lang="en-US" sz="2400" b="0" dirty="0"/>
                        <a:t>(XXX)</a:t>
                      </a:r>
                      <a:endParaRPr lang="en-US" sz="2400" b="0" dirty="0">
                        <a:latin typeface="+mn-lt"/>
                        <a:cs typeface="Times New Roman" panose="02020603050405020304" pitchFamily="18" charset="0"/>
                      </a:endParaRPr>
                    </a:p>
                  </a:txBody>
                  <a:tcPr anchor="ctr"/>
                </a:tc>
                <a:extLst>
                  <a:ext uri="{0D108BD9-81ED-4DB2-BD59-A6C34878D82A}">
                    <a16:rowId xmlns:a16="http://schemas.microsoft.com/office/drawing/2014/main" val="10004"/>
                  </a:ext>
                </a:extLst>
              </a:tr>
              <a:tr h="830046">
                <a:tc>
                  <a:txBody>
                    <a:bodyPr/>
                    <a:lstStyle/>
                    <a:p>
                      <a:pPr algn="ctr"/>
                      <a:r>
                        <a:rPr lang="en-US" sz="2400" b="1" u="none" dirty="0"/>
                        <a:t>Income from House Property</a:t>
                      </a:r>
                      <a:endParaRPr lang="en-US" sz="2400" b="1" u="none" dirty="0">
                        <a:latin typeface="+mn-lt"/>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1200" dirty="0">
                          <a:solidFill>
                            <a:schemeClr val="dk1"/>
                          </a:solidFill>
                        </a:rPr>
                        <a:t>(XXX)</a:t>
                      </a:r>
                      <a:endParaRPr lang="en-US" sz="2400" b="1" kern="1200" dirty="0">
                        <a:solidFill>
                          <a:schemeClr val="dk1"/>
                        </a:solidFill>
                        <a:latin typeface="+mn-lt"/>
                        <a:ea typeface="+mn-ea"/>
                        <a:cs typeface="Times New Roman" panose="02020603050405020304" pitchFamily="18" charset="0"/>
                      </a:endParaRP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22542967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just">
              <a:buNone/>
            </a:pPr>
            <a:r>
              <a:rPr lang="en-US" b="1" dirty="0">
                <a:cs typeface="Times New Roman" panose="02020603050405020304" pitchFamily="18" charset="0"/>
              </a:rPr>
              <a:t>Leased Property with Loan</a:t>
            </a:r>
          </a:p>
          <a:p>
            <a:pPr algn="just"/>
            <a:r>
              <a:rPr lang="en-US" dirty="0">
                <a:cs typeface="Times New Roman" panose="02020603050405020304" pitchFamily="18" charset="0"/>
              </a:rPr>
              <a:t>Rent: ₹25,000/month = ₹3,00,000</a:t>
            </a:r>
          </a:p>
          <a:p>
            <a:pPr algn="just"/>
            <a:r>
              <a:rPr lang="en-US" dirty="0">
                <a:cs typeface="Times New Roman" panose="02020603050405020304" pitchFamily="18" charset="0"/>
              </a:rPr>
              <a:t>Municipal Tax: ₹20,000</a:t>
            </a:r>
          </a:p>
          <a:p>
            <a:pPr algn="just"/>
            <a:r>
              <a:rPr lang="en-US" dirty="0">
                <a:cs typeface="Times New Roman" panose="02020603050405020304" pitchFamily="18" charset="0"/>
              </a:rPr>
              <a:t>Home Loan Interest: ₹2,00,000</a:t>
            </a:r>
          </a:p>
          <a:p>
            <a:pPr marL="0" indent="0" algn="just">
              <a:buNone/>
            </a:pPr>
            <a:r>
              <a:rPr lang="en-US" dirty="0">
                <a:cs typeface="Times New Roman" panose="02020603050405020304" pitchFamily="18" charset="0"/>
              </a:rPr>
              <a:t>Calculate the income from House property.</a:t>
            </a:r>
          </a:p>
        </p:txBody>
      </p:sp>
      <p:sp>
        <p:nvSpPr>
          <p:cNvPr id="2" name="Title 1"/>
          <p:cNvSpPr>
            <a:spLocks noGrp="1"/>
          </p:cNvSpPr>
          <p:nvPr>
            <p:ph type="title"/>
          </p:nvPr>
        </p:nvSpPr>
        <p:spPr/>
        <p:txBody>
          <a:bodyPr/>
          <a:lstStyle/>
          <a:p>
            <a:r>
              <a:rPr lang="en-US" b="1" dirty="0">
                <a:latin typeface="+mn-lt"/>
                <a:cs typeface="Times New Roman" panose="02020603050405020304" pitchFamily="18" charset="0"/>
              </a:rPr>
              <a:t>Example: 1</a:t>
            </a:r>
          </a:p>
        </p:txBody>
      </p:sp>
    </p:spTree>
    <p:extLst>
      <p:ext uri="{BB962C8B-B14F-4D97-AF65-F5344CB8AC3E}">
        <p14:creationId xmlns:p14="http://schemas.microsoft.com/office/powerpoint/2010/main" val="333533945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006949466"/>
              </p:ext>
            </p:extLst>
          </p:nvPr>
        </p:nvGraphicFramePr>
        <p:xfrm>
          <a:off x="131763" y="863600"/>
          <a:ext cx="11928474" cy="4660154"/>
        </p:xfrm>
        <a:graphic>
          <a:graphicData uri="http://schemas.openxmlformats.org/drawingml/2006/table">
            <a:tbl>
              <a:tblPr firstRow="1" bandRow="1">
                <a:tableStyleId>{00A15C55-8517-42AA-B614-E9B94910E393}</a:tableStyleId>
              </a:tblPr>
              <a:tblGrid>
                <a:gridCol w="8910653">
                  <a:extLst>
                    <a:ext uri="{9D8B030D-6E8A-4147-A177-3AD203B41FA5}">
                      <a16:colId xmlns:a16="http://schemas.microsoft.com/office/drawing/2014/main" val="20000"/>
                    </a:ext>
                  </a:extLst>
                </a:gridCol>
                <a:gridCol w="3017821">
                  <a:extLst>
                    <a:ext uri="{9D8B030D-6E8A-4147-A177-3AD203B41FA5}">
                      <a16:colId xmlns:a16="http://schemas.microsoft.com/office/drawing/2014/main" val="20001"/>
                    </a:ext>
                  </a:extLst>
                </a:gridCol>
              </a:tblGrid>
              <a:tr h="564293">
                <a:tc>
                  <a:txBody>
                    <a:bodyPr/>
                    <a:lstStyle/>
                    <a:p>
                      <a:pPr algn="ctr"/>
                      <a:r>
                        <a:rPr lang="en-US" sz="2400" b="1" dirty="0"/>
                        <a:t>Particular</a:t>
                      </a:r>
                      <a:endParaRPr lang="en-US" sz="24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b="1" dirty="0"/>
                        <a:t>Amount</a:t>
                      </a:r>
                      <a:endParaRPr lang="en-US" sz="24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564293">
                <a:tc>
                  <a:txBody>
                    <a:bodyPr/>
                    <a:lstStyle/>
                    <a:p>
                      <a:pPr algn="l"/>
                      <a:r>
                        <a:rPr lang="en-US" sz="2400" b="0" dirty="0"/>
                        <a:t>Gross Annual</a:t>
                      </a:r>
                      <a:r>
                        <a:rPr lang="en-US" sz="2400" b="0" baseline="0" dirty="0"/>
                        <a:t> Value (25,000*12)</a:t>
                      </a:r>
                      <a:endParaRPr lang="en-US" sz="2400" b="0"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b="0" dirty="0"/>
                        <a:t>3,00,000</a:t>
                      </a:r>
                      <a:endParaRPr lang="en-US" sz="2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564293">
                <a:tc>
                  <a:txBody>
                    <a:bodyPr/>
                    <a:lstStyle/>
                    <a:p>
                      <a:pPr algn="l"/>
                      <a:r>
                        <a:rPr lang="en-US" sz="2400" b="0" dirty="0"/>
                        <a:t>Less: Municipal Tax</a:t>
                      </a:r>
                      <a:endParaRPr lang="en-US" sz="2400" b="0"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b="0" dirty="0"/>
                        <a:t>(20,000)</a:t>
                      </a:r>
                      <a:endParaRPr lang="en-US" sz="2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r h="564293">
                <a:tc>
                  <a:txBody>
                    <a:bodyPr/>
                    <a:lstStyle/>
                    <a:p>
                      <a:pPr algn="l"/>
                      <a:r>
                        <a:rPr lang="en-US" sz="2400" b="0" dirty="0"/>
                        <a:t>Net Annual Value (NAV)</a:t>
                      </a:r>
                      <a:endParaRPr lang="en-US" sz="2400" b="0"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b="1" dirty="0"/>
                        <a:t>2,80,000</a:t>
                      </a:r>
                      <a:endParaRPr lang="en-US" sz="24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3"/>
                  </a:ext>
                </a:extLst>
              </a:tr>
              <a:tr h="1015729">
                <a:tc>
                  <a:txBody>
                    <a:bodyPr/>
                    <a:lstStyle/>
                    <a:p>
                      <a:pPr algn="l"/>
                      <a:r>
                        <a:rPr lang="en-US" sz="2400" b="0" dirty="0"/>
                        <a:t>Less: Standard</a:t>
                      </a:r>
                      <a:r>
                        <a:rPr lang="en-US" sz="2400" b="0" baseline="0" dirty="0"/>
                        <a:t> Deduction u/s 24(a) (30% of NAV) = (84,000)</a:t>
                      </a:r>
                    </a:p>
                    <a:p>
                      <a:pPr algn="l"/>
                      <a:r>
                        <a:rPr lang="en-US" sz="2400" b="0" dirty="0"/>
                        <a:t>          Deduction u/s 24(b)</a:t>
                      </a:r>
                      <a:r>
                        <a:rPr lang="en-US" sz="2400" b="0" baseline="0" dirty="0"/>
                        <a:t> </a:t>
                      </a:r>
                      <a:r>
                        <a:rPr lang="en-US" sz="2400" b="0" dirty="0"/>
                        <a:t>(Home Loan Interest) = (2,00,000) </a:t>
                      </a:r>
                      <a:endParaRPr lang="en-US" sz="2400" b="0" i="1"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b="0" dirty="0"/>
                        <a:t>(2,84,000)</a:t>
                      </a:r>
                      <a:endParaRPr lang="en-US" sz="2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4"/>
                  </a:ext>
                </a:extLst>
              </a:tr>
              <a:tr h="564293">
                <a:tc>
                  <a:txBody>
                    <a:bodyPr/>
                    <a:lstStyle/>
                    <a:p>
                      <a:pPr algn="ctr"/>
                      <a:r>
                        <a:rPr lang="en-US" sz="2400" b="1" u="none" dirty="0"/>
                        <a:t>Income from House Property</a:t>
                      </a:r>
                      <a:endParaRPr lang="en-US" sz="2400" b="1" u="none" dirty="0">
                        <a:latin typeface="Times New Roman" panose="02020603050405020304" pitchFamily="18" charset="0"/>
                        <a:cs typeface="Times New Roman" panose="02020603050405020304" pitchFamily="18" charset="0"/>
                      </a:endParaRPr>
                    </a:p>
                  </a:txBody>
                  <a:tcPr/>
                </a:tc>
                <a:tc>
                  <a:txBody>
                    <a:bodyPr/>
                    <a:lstStyle/>
                    <a:p>
                      <a:pPr algn="ctr"/>
                      <a:r>
                        <a:rPr lang="en-US" sz="2400" b="1" u="sng" dirty="0"/>
                        <a:t>(4,000)</a:t>
                      </a:r>
                      <a:endParaRPr lang="en-US" sz="2400" b="1" u="sng"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5"/>
                  </a:ext>
                </a:extLst>
              </a:tr>
              <a:tr h="564293">
                <a:tc gridSpan="2">
                  <a:txBody>
                    <a:bodyPr/>
                    <a:lstStyle/>
                    <a:p>
                      <a:pPr algn="just"/>
                      <a:r>
                        <a:rPr lang="en-US" sz="2400" b="0" u="none" dirty="0"/>
                        <a:t>There</a:t>
                      </a:r>
                      <a:r>
                        <a:rPr lang="en-US" sz="2400" b="0" u="none" baseline="0" dirty="0"/>
                        <a:t> is a loss in the calculation of income so this loss can be carry forward to other income head.</a:t>
                      </a:r>
                      <a:endParaRPr lang="en-US" sz="2400" b="0" u="none" dirty="0">
                        <a:latin typeface="Times New Roman" panose="02020603050405020304" pitchFamily="18" charset="0"/>
                        <a:cs typeface="Times New Roman" panose="02020603050405020304" pitchFamily="18" charset="0"/>
                      </a:endParaRPr>
                    </a:p>
                  </a:txBody>
                  <a:tcPr/>
                </a:tc>
                <a:tc hMerge="1">
                  <a:txBody>
                    <a:bodyPr/>
                    <a:lstStyle/>
                    <a:p>
                      <a:pPr algn="ctr"/>
                      <a:endParaRPr lang="en-US" sz="2400" b="1" u="sng"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6"/>
                  </a:ext>
                </a:extLst>
              </a:tr>
            </a:tbl>
          </a:graphicData>
        </a:graphic>
      </p:graphicFrame>
      <p:sp>
        <p:nvSpPr>
          <p:cNvPr id="6" name="Title 5">
            <a:extLst>
              <a:ext uri="{FF2B5EF4-FFF2-40B4-BE49-F238E27FC236}">
                <a16:creationId xmlns:a16="http://schemas.microsoft.com/office/drawing/2014/main" id="{02B85EA5-568D-9DA0-F42A-8E44FDB504FB}"/>
              </a:ext>
            </a:extLst>
          </p:cNvPr>
          <p:cNvSpPr>
            <a:spLocks noGrp="1"/>
          </p:cNvSpPr>
          <p:nvPr>
            <p:ph type="title"/>
          </p:nvPr>
        </p:nvSpPr>
        <p:spPr/>
        <p:txBody>
          <a:bodyPr/>
          <a:lstStyle/>
          <a:p>
            <a:r>
              <a:rPr lang="en-IN" dirty="0"/>
              <a:t>Answer</a:t>
            </a:r>
            <a:endParaRPr lang="en-US" dirty="0"/>
          </a:p>
        </p:txBody>
      </p:sp>
    </p:spTree>
    <p:extLst>
      <p:ext uri="{BB962C8B-B14F-4D97-AF65-F5344CB8AC3E}">
        <p14:creationId xmlns:p14="http://schemas.microsoft.com/office/powerpoint/2010/main" val="319701773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just">
              <a:buNone/>
            </a:pPr>
            <a:r>
              <a:rPr lang="en-US" b="1" dirty="0">
                <a:cs typeface="Times New Roman" panose="02020603050405020304" pitchFamily="18" charset="0"/>
              </a:rPr>
              <a:t>Leased Property with Loan</a:t>
            </a:r>
          </a:p>
          <a:p>
            <a:pPr algn="just"/>
            <a:r>
              <a:rPr lang="en-US" dirty="0">
                <a:cs typeface="Times New Roman" panose="02020603050405020304" pitchFamily="18" charset="0"/>
              </a:rPr>
              <a:t>Rent: ₹35,000/month = ₹4,20,000</a:t>
            </a:r>
          </a:p>
          <a:p>
            <a:pPr algn="just"/>
            <a:r>
              <a:rPr lang="en-US" dirty="0">
                <a:cs typeface="Times New Roman" panose="02020603050405020304" pitchFamily="18" charset="0"/>
              </a:rPr>
              <a:t>Municipal Tax: ₹20,000</a:t>
            </a:r>
          </a:p>
          <a:p>
            <a:pPr algn="just"/>
            <a:r>
              <a:rPr lang="en-US" dirty="0">
                <a:cs typeface="Times New Roman" panose="02020603050405020304" pitchFamily="18" charset="0"/>
              </a:rPr>
              <a:t>Home Loan Interest: ₹1,50,000</a:t>
            </a:r>
          </a:p>
          <a:p>
            <a:pPr marL="0" indent="0" algn="just">
              <a:buNone/>
            </a:pPr>
            <a:r>
              <a:rPr lang="en-US" dirty="0">
                <a:cs typeface="Times New Roman" panose="02020603050405020304" pitchFamily="18" charset="0"/>
              </a:rPr>
              <a:t>Calculate the income from House property.</a:t>
            </a:r>
          </a:p>
        </p:txBody>
      </p:sp>
      <p:sp>
        <p:nvSpPr>
          <p:cNvPr id="2" name="Title 1"/>
          <p:cNvSpPr>
            <a:spLocks noGrp="1"/>
          </p:cNvSpPr>
          <p:nvPr>
            <p:ph type="title"/>
          </p:nvPr>
        </p:nvSpPr>
        <p:spPr/>
        <p:txBody>
          <a:bodyPr/>
          <a:lstStyle/>
          <a:p>
            <a:r>
              <a:rPr lang="en-US" b="1" dirty="0">
                <a:cs typeface="Times New Roman" panose="02020603050405020304" pitchFamily="18" charset="0"/>
              </a:rPr>
              <a:t>Example 2</a:t>
            </a:r>
          </a:p>
        </p:txBody>
      </p:sp>
    </p:spTree>
    <p:extLst>
      <p:ext uri="{BB962C8B-B14F-4D97-AF65-F5344CB8AC3E}">
        <p14:creationId xmlns:p14="http://schemas.microsoft.com/office/powerpoint/2010/main" val="84301608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777305018"/>
              </p:ext>
            </p:extLst>
          </p:nvPr>
        </p:nvGraphicFramePr>
        <p:xfrm>
          <a:off x="131763" y="863600"/>
          <a:ext cx="11928474" cy="3837194"/>
        </p:xfrm>
        <a:graphic>
          <a:graphicData uri="http://schemas.openxmlformats.org/drawingml/2006/table">
            <a:tbl>
              <a:tblPr firstRow="1" bandRow="1">
                <a:tableStyleId>{00A15C55-8517-42AA-B614-E9B94910E393}</a:tableStyleId>
              </a:tblPr>
              <a:tblGrid>
                <a:gridCol w="9015882">
                  <a:extLst>
                    <a:ext uri="{9D8B030D-6E8A-4147-A177-3AD203B41FA5}">
                      <a16:colId xmlns:a16="http://schemas.microsoft.com/office/drawing/2014/main" val="20000"/>
                    </a:ext>
                  </a:extLst>
                </a:gridCol>
                <a:gridCol w="2912592">
                  <a:extLst>
                    <a:ext uri="{9D8B030D-6E8A-4147-A177-3AD203B41FA5}">
                      <a16:colId xmlns:a16="http://schemas.microsoft.com/office/drawing/2014/main" val="20001"/>
                    </a:ext>
                  </a:extLst>
                </a:gridCol>
              </a:tblGrid>
              <a:tr h="564293">
                <a:tc>
                  <a:txBody>
                    <a:bodyPr/>
                    <a:lstStyle/>
                    <a:p>
                      <a:pPr algn="ctr"/>
                      <a:r>
                        <a:rPr lang="en-US" sz="2400" b="1" dirty="0"/>
                        <a:t>Particular</a:t>
                      </a:r>
                      <a:endParaRPr lang="en-US" sz="24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b="1" dirty="0"/>
                        <a:t>Amount</a:t>
                      </a:r>
                      <a:endParaRPr lang="en-US" sz="24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564293">
                <a:tc>
                  <a:txBody>
                    <a:bodyPr/>
                    <a:lstStyle/>
                    <a:p>
                      <a:pPr algn="l"/>
                      <a:r>
                        <a:rPr lang="en-US" sz="2400" b="0" dirty="0"/>
                        <a:t>Gross Annual</a:t>
                      </a:r>
                      <a:r>
                        <a:rPr lang="en-US" sz="2400" b="0" baseline="0" dirty="0"/>
                        <a:t> Value (35,000*12)</a:t>
                      </a:r>
                      <a:endParaRPr lang="en-US" sz="2400" b="0"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b="0" dirty="0"/>
                        <a:t>4,20,000</a:t>
                      </a:r>
                      <a:endParaRPr lang="en-US" sz="2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564293">
                <a:tc>
                  <a:txBody>
                    <a:bodyPr/>
                    <a:lstStyle/>
                    <a:p>
                      <a:pPr algn="l"/>
                      <a:r>
                        <a:rPr lang="en-US" sz="2400" b="0" dirty="0"/>
                        <a:t>Less: Municipal Tax</a:t>
                      </a:r>
                      <a:endParaRPr lang="en-US" sz="2400" b="0"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b="0" dirty="0"/>
                        <a:t>(20,000)</a:t>
                      </a:r>
                      <a:endParaRPr lang="en-US" sz="2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r h="564293">
                <a:tc>
                  <a:txBody>
                    <a:bodyPr/>
                    <a:lstStyle/>
                    <a:p>
                      <a:pPr algn="l"/>
                      <a:r>
                        <a:rPr lang="en-US" sz="2400" b="0" dirty="0"/>
                        <a:t>Net Annual Value (NAV)</a:t>
                      </a:r>
                      <a:endParaRPr lang="en-US" sz="2400" b="0"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b="1" dirty="0"/>
                        <a:t>4,00,000</a:t>
                      </a:r>
                      <a:endParaRPr lang="en-US" sz="24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3"/>
                  </a:ext>
                </a:extLst>
              </a:tr>
              <a:tr h="1015729">
                <a:tc>
                  <a:txBody>
                    <a:bodyPr/>
                    <a:lstStyle/>
                    <a:p>
                      <a:pPr algn="l"/>
                      <a:r>
                        <a:rPr lang="en-US" sz="2400" b="0" dirty="0"/>
                        <a:t>Less: Standard</a:t>
                      </a:r>
                      <a:r>
                        <a:rPr lang="en-US" sz="2400" b="0" baseline="0" dirty="0"/>
                        <a:t> Deduction u/s 24(a) (30% of NAV) = (1,20,000)</a:t>
                      </a:r>
                    </a:p>
                    <a:p>
                      <a:pPr algn="l"/>
                      <a:r>
                        <a:rPr lang="en-US" sz="2400" b="0" dirty="0"/>
                        <a:t>          Deduction u/s 24(b)</a:t>
                      </a:r>
                      <a:r>
                        <a:rPr lang="en-US" sz="2400" b="0" baseline="0" dirty="0"/>
                        <a:t> </a:t>
                      </a:r>
                      <a:r>
                        <a:rPr lang="en-US" sz="2400" b="0" dirty="0"/>
                        <a:t>(Home Loan Interest) = (1,50,000) </a:t>
                      </a:r>
                      <a:endParaRPr lang="en-US" sz="2400" b="0" i="1"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b="0" dirty="0"/>
                        <a:t>(2,70,000)</a:t>
                      </a:r>
                      <a:endParaRPr lang="en-US" sz="2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4"/>
                  </a:ext>
                </a:extLst>
              </a:tr>
              <a:tr h="564293">
                <a:tc>
                  <a:txBody>
                    <a:bodyPr/>
                    <a:lstStyle/>
                    <a:p>
                      <a:pPr algn="ctr"/>
                      <a:r>
                        <a:rPr lang="en-US" sz="2400" b="1" u="none" dirty="0"/>
                        <a:t>Income from House Property</a:t>
                      </a:r>
                      <a:endParaRPr lang="en-US" sz="2400" b="1" u="none" dirty="0">
                        <a:latin typeface="Times New Roman" panose="02020603050405020304" pitchFamily="18" charset="0"/>
                        <a:cs typeface="Times New Roman" panose="02020603050405020304" pitchFamily="18" charset="0"/>
                      </a:endParaRPr>
                    </a:p>
                  </a:txBody>
                  <a:tcPr/>
                </a:tc>
                <a:tc>
                  <a:txBody>
                    <a:bodyPr/>
                    <a:lstStyle/>
                    <a:p>
                      <a:pPr algn="ctr"/>
                      <a:r>
                        <a:rPr lang="en-US" sz="2400" b="1" u="sng" dirty="0"/>
                        <a:t>1,30,000</a:t>
                      </a:r>
                      <a:endParaRPr lang="en-US" sz="2400" b="1" u="sng"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5"/>
                  </a:ext>
                </a:extLst>
              </a:tr>
            </a:tbl>
          </a:graphicData>
        </a:graphic>
      </p:graphicFrame>
      <p:sp>
        <p:nvSpPr>
          <p:cNvPr id="2" name="Title 1"/>
          <p:cNvSpPr>
            <a:spLocks noGrp="1"/>
          </p:cNvSpPr>
          <p:nvPr>
            <p:ph type="title"/>
          </p:nvPr>
        </p:nvSpPr>
        <p:spPr/>
        <p:txBody>
          <a:bodyPr>
            <a:normAutofit/>
          </a:bodyPr>
          <a:lstStyle/>
          <a:p>
            <a:r>
              <a:rPr lang="en-US" sz="3200" b="1" dirty="0">
                <a:cs typeface="Times New Roman" panose="02020603050405020304" pitchFamily="18" charset="0"/>
              </a:rPr>
              <a:t>Answer</a:t>
            </a:r>
          </a:p>
        </p:txBody>
      </p:sp>
    </p:spTree>
    <p:extLst>
      <p:ext uri="{BB962C8B-B14F-4D97-AF65-F5344CB8AC3E}">
        <p14:creationId xmlns:p14="http://schemas.microsoft.com/office/powerpoint/2010/main" val="159699286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b="1" dirty="0">
                <a:cs typeface="Times New Roman" panose="02020603050405020304" pitchFamily="18" charset="0"/>
              </a:rPr>
              <a:t>Two Rented Houses</a:t>
            </a:r>
          </a:p>
          <a:p>
            <a:r>
              <a:rPr lang="en-US" dirty="0">
                <a:cs typeface="Times New Roman" panose="02020603050405020304" pitchFamily="18" charset="0"/>
              </a:rPr>
              <a:t>House A rent: ₹12,000/month = ₹1,44,000</a:t>
            </a:r>
          </a:p>
          <a:p>
            <a:r>
              <a:rPr lang="en-US" dirty="0">
                <a:cs typeface="Times New Roman" panose="02020603050405020304" pitchFamily="18" charset="0"/>
              </a:rPr>
              <a:t>House B rent: ₹15,000/month = ₹1,80,000</a:t>
            </a:r>
          </a:p>
          <a:p>
            <a:r>
              <a:rPr lang="en-US" dirty="0">
                <a:cs typeface="Times New Roman" panose="02020603050405020304" pitchFamily="18" charset="0"/>
              </a:rPr>
              <a:t>Total Rent = ₹3,24,000</a:t>
            </a:r>
          </a:p>
          <a:p>
            <a:r>
              <a:rPr lang="en-US" dirty="0">
                <a:cs typeface="Times New Roman" panose="02020603050405020304" pitchFamily="18" charset="0"/>
              </a:rPr>
              <a:t>Municipal Tax: ₹24,000</a:t>
            </a:r>
          </a:p>
          <a:p>
            <a:r>
              <a:rPr lang="en-US" dirty="0">
                <a:cs typeface="Times New Roman" panose="02020603050405020304" pitchFamily="18" charset="0"/>
              </a:rPr>
              <a:t>Interest on Loan: ₹2,50,000</a:t>
            </a:r>
          </a:p>
          <a:p>
            <a:pPr marL="0" indent="0" algn="just">
              <a:buNone/>
            </a:pPr>
            <a:r>
              <a:rPr lang="en-US" dirty="0">
                <a:cs typeface="Times New Roman" panose="02020603050405020304" pitchFamily="18" charset="0"/>
              </a:rPr>
              <a:t>Calculate the income from House property.</a:t>
            </a:r>
          </a:p>
          <a:p>
            <a:pPr marL="0" indent="0" algn="just">
              <a:buNone/>
            </a:pPr>
            <a:endParaRPr lang="en-US" dirty="0">
              <a:cs typeface="Times New Roman" panose="02020603050405020304" pitchFamily="18" charset="0"/>
            </a:endParaRPr>
          </a:p>
        </p:txBody>
      </p:sp>
      <p:sp>
        <p:nvSpPr>
          <p:cNvPr id="2" name="Title 1"/>
          <p:cNvSpPr>
            <a:spLocks noGrp="1"/>
          </p:cNvSpPr>
          <p:nvPr>
            <p:ph type="title"/>
          </p:nvPr>
        </p:nvSpPr>
        <p:spPr/>
        <p:txBody>
          <a:bodyPr/>
          <a:lstStyle/>
          <a:p>
            <a:r>
              <a:rPr lang="en-US" b="1" dirty="0">
                <a:cs typeface="Times New Roman" panose="02020603050405020304" pitchFamily="18" charset="0"/>
              </a:rPr>
              <a:t>Example</a:t>
            </a:r>
            <a:r>
              <a:rPr lang="en-US" dirty="0">
                <a:cs typeface="Times New Roman" panose="02020603050405020304" pitchFamily="18" charset="0"/>
              </a:rPr>
              <a:t> </a:t>
            </a:r>
            <a:r>
              <a:rPr lang="en-US" b="1" dirty="0">
                <a:cs typeface="Times New Roman" panose="02020603050405020304" pitchFamily="18" charset="0"/>
              </a:rPr>
              <a:t>3</a:t>
            </a:r>
          </a:p>
        </p:txBody>
      </p:sp>
    </p:spTree>
    <p:extLst>
      <p:ext uri="{BB962C8B-B14F-4D97-AF65-F5344CB8AC3E}">
        <p14:creationId xmlns:p14="http://schemas.microsoft.com/office/powerpoint/2010/main" val="175007709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805599770"/>
              </p:ext>
            </p:extLst>
          </p:nvPr>
        </p:nvGraphicFramePr>
        <p:xfrm>
          <a:off x="131763" y="863600"/>
          <a:ext cx="11928474" cy="3837194"/>
        </p:xfrm>
        <a:graphic>
          <a:graphicData uri="http://schemas.openxmlformats.org/drawingml/2006/table">
            <a:tbl>
              <a:tblPr firstRow="1" bandRow="1">
                <a:tableStyleId>{00A15C55-8517-42AA-B614-E9B94910E393}</a:tableStyleId>
              </a:tblPr>
              <a:tblGrid>
                <a:gridCol w="9015882">
                  <a:extLst>
                    <a:ext uri="{9D8B030D-6E8A-4147-A177-3AD203B41FA5}">
                      <a16:colId xmlns:a16="http://schemas.microsoft.com/office/drawing/2014/main" val="20000"/>
                    </a:ext>
                  </a:extLst>
                </a:gridCol>
                <a:gridCol w="2912592">
                  <a:extLst>
                    <a:ext uri="{9D8B030D-6E8A-4147-A177-3AD203B41FA5}">
                      <a16:colId xmlns:a16="http://schemas.microsoft.com/office/drawing/2014/main" val="20001"/>
                    </a:ext>
                  </a:extLst>
                </a:gridCol>
              </a:tblGrid>
              <a:tr h="564293">
                <a:tc>
                  <a:txBody>
                    <a:bodyPr/>
                    <a:lstStyle/>
                    <a:p>
                      <a:pPr algn="ctr"/>
                      <a:r>
                        <a:rPr lang="en-US" sz="2400" b="1" dirty="0"/>
                        <a:t>Particular</a:t>
                      </a:r>
                      <a:endParaRPr lang="en-US" sz="24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b="1" dirty="0"/>
                        <a:t>Amount</a:t>
                      </a:r>
                      <a:endParaRPr lang="en-US" sz="24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564293">
                <a:tc>
                  <a:txBody>
                    <a:bodyPr/>
                    <a:lstStyle/>
                    <a:p>
                      <a:pPr algn="l"/>
                      <a:r>
                        <a:rPr lang="en-US" sz="2400" b="0" dirty="0"/>
                        <a:t>Gross Annual</a:t>
                      </a:r>
                      <a:r>
                        <a:rPr lang="en-US" sz="2400" b="0" baseline="0" dirty="0"/>
                        <a:t> Value (12,000 + 15000 = 27000*12)</a:t>
                      </a:r>
                      <a:endParaRPr lang="en-US" sz="2400" b="0"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b="0" dirty="0"/>
                        <a:t>3,24,000</a:t>
                      </a:r>
                      <a:endParaRPr lang="en-US" sz="2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564293">
                <a:tc>
                  <a:txBody>
                    <a:bodyPr/>
                    <a:lstStyle/>
                    <a:p>
                      <a:pPr algn="l"/>
                      <a:r>
                        <a:rPr lang="en-US" sz="2400" b="0" dirty="0"/>
                        <a:t>Less: Municipal Tax</a:t>
                      </a:r>
                      <a:endParaRPr lang="en-US" sz="2400" b="0"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b="0" dirty="0"/>
                        <a:t>(24,000)</a:t>
                      </a:r>
                      <a:endParaRPr lang="en-US" sz="2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r h="564293">
                <a:tc>
                  <a:txBody>
                    <a:bodyPr/>
                    <a:lstStyle/>
                    <a:p>
                      <a:pPr algn="l"/>
                      <a:r>
                        <a:rPr lang="en-US" sz="2400" b="0" dirty="0"/>
                        <a:t>Net Annual Value (NAV)</a:t>
                      </a:r>
                      <a:endParaRPr lang="en-US" sz="2400" b="0"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b="1" dirty="0"/>
                        <a:t>3,00,000</a:t>
                      </a:r>
                      <a:endParaRPr lang="en-US" sz="24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3"/>
                  </a:ext>
                </a:extLst>
              </a:tr>
              <a:tr h="1015729">
                <a:tc>
                  <a:txBody>
                    <a:bodyPr/>
                    <a:lstStyle/>
                    <a:p>
                      <a:pPr algn="l"/>
                      <a:r>
                        <a:rPr lang="en-US" sz="2400" b="0" dirty="0"/>
                        <a:t>Less: Standard</a:t>
                      </a:r>
                      <a:r>
                        <a:rPr lang="en-US" sz="2400" b="0" baseline="0" dirty="0"/>
                        <a:t> Deduction u/s 24(a) (30% of NAV) = (90,000)</a:t>
                      </a:r>
                    </a:p>
                    <a:p>
                      <a:pPr algn="l"/>
                      <a:r>
                        <a:rPr lang="en-US" sz="2400" b="0" dirty="0"/>
                        <a:t>          Home Loan Interest</a:t>
                      </a:r>
                      <a:r>
                        <a:rPr lang="en-US" sz="2400" b="0" baseline="0" dirty="0"/>
                        <a:t> (Maximum 2L allowed)</a:t>
                      </a:r>
                      <a:r>
                        <a:rPr lang="en-US" sz="2400" b="0" dirty="0"/>
                        <a:t>= (2,00,000) </a:t>
                      </a:r>
                      <a:endParaRPr lang="en-US" sz="2400" b="0" i="1"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b="0" dirty="0"/>
                        <a:t>(2,90,000)</a:t>
                      </a:r>
                      <a:endParaRPr lang="en-US" sz="2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4"/>
                  </a:ext>
                </a:extLst>
              </a:tr>
              <a:tr h="564293">
                <a:tc>
                  <a:txBody>
                    <a:bodyPr/>
                    <a:lstStyle/>
                    <a:p>
                      <a:pPr algn="ctr"/>
                      <a:r>
                        <a:rPr lang="en-US" sz="2400" b="1" u="none" dirty="0"/>
                        <a:t>Income from House Property</a:t>
                      </a:r>
                      <a:endParaRPr lang="en-US" sz="2400" b="1" u="none" dirty="0">
                        <a:latin typeface="Times New Roman" panose="02020603050405020304" pitchFamily="18" charset="0"/>
                        <a:cs typeface="Times New Roman" panose="02020603050405020304" pitchFamily="18" charset="0"/>
                      </a:endParaRPr>
                    </a:p>
                  </a:txBody>
                  <a:tcPr/>
                </a:tc>
                <a:tc>
                  <a:txBody>
                    <a:bodyPr/>
                    <a:lstStyle/>
                    <a:p>
                      <a:pPr algn="ctr"/>
                      <a:r>
                        <a:rPr lang="en-US" sz="2400" b="1" u="sng" dirty="0"/>
                        <a:t>10,000</a:t>
                      </a:r>
                      <a:endParaRPr lang="en-US" sz="2400" b="1" u="sng"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5"/>
                  </a:ext>
                </a:extLst>
              </a:tr>
            </a:tbl>
          </a:graphicData>
        </a:graphic>
      </p:graphicFrame>
      <p:sp>
        <p:nvSpPr>
          <p:cNvPr id="2" name="Title 1"/>
          <p:cNvSpPr>
            <a:spLocks noGrp="1"/>
          </p:cNvSpPr>
          <p:nvPr>
            <p:ph type="title"/>
          </p:nvPr>
        </p:nvSpPr>
        <p:spPr/>
        <p:txBody>
          <a:bodyPr>
            <a:normAutofit/>
          </a:bodyPr>
          <a:lstStyle/>
          <a:p>
            <a:r>
              <a:rPr lang="en-US" b="1" dirty="0">
                <a:cs typeface="Times New Roman" panose="02020603050405020304" pitchFamily="18" charset="0"/>
              </a:rPr>
              <a:t>Calculation as per Old Regime</a:t>
            </a:r>
          </a:p>
        </p:txBody>
      </p:sp>
    </p:spTree>
    <p:extLst>
      <p:ext uri="{BB962C8B-B14F-4D97-AF65-F5344CB8AC3E}">
        <p14:creationId xmlns:p14="http://schemas.microsoft.com/office/powerpoint/2010/main" val="25041303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46150" y="551908"/>
            <a:ext cx="10299700" cy="1485900"/>
          </a:xfrm>
        </p:spPr>
        <p:txBody>
          <a:bodyPr/>
          <a:lstStyle/>
          <a:p>
            <a:pPr algn="ctr"/>
            <a:r>
              <a:rPr lang="en-US" b="1" u="sng" dirty="0">
                <a:latin typeface="+mn-lt"/>
                <a:cs typeface="Times New Roman" panose="02020603050405020304" pitchFamily="18" charset="0"/>
              </a:rPr>
              <a:t>Profit &amp; Gain from Business or Profession</a:t>
            </a:r>
          </a:p>
        </p:txBody>
      </p:sp>
      <p:sp>
        <p:nvSpPr>
          <p:cNvPr id="4" name="Rounded Rectangle 10"/>
          <p:cNvSpPr/>
          <p:nvPr/>
        </p:nvSpPr>
        <p:spPr>
          <a:xfrm>
            <a:off x="2276304" y="3882568"/>
            <a:ext cx="45719" cy="879338"/>
          </a:xfrm>
          <a:custGeom>
            <a:avLst/>
            <a:gdLst/>
            <a:ahLst/>
            <a:cxnLst/>
            <a:rect l="0" t="0" r="0" b="0"/>
            <a:pathLst>
              <a:path w="9525" h="685800">
                <a:moveTo>
                  <a:pt x="0" y="0"/>
                </a:moveTo>
                <a:lnTo>
                  <a:pt x="0" y="685800"/>
                </a:lnTo>
              </a:path>
            </a:pathLst>
          </a:custGeom>
          <a:noFill/>
          <a:ln w="28575">
            <a:solidFill>
              <a:srgbClr val="878787"/>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5" name="Rounded Rectangle 11"/>
          <p:cNvSpPr/>
          <p:nvPr/>
        </p:nvSpPr>
        <p:spPr>
          <a:xfrm>
            <a:off x="5439429" y="2414766"/>
            <a:ext cx="45719" cy="948137"/>
          </a:xfrm>
          <a:custGeom>
            <a:avLst/>
            <a:gdLst/>
            <a:ahLst/>
            <a:cxnLst/>
            <a:rect l="0" t="0" r="0" b="0"/>
            <a:pathLst>
              <a:path w="9525" h="685800">
                <a:moveTo>
                  <a:pt x="0" y="0"/>
                </a:moveTo>
                <a:lnTo>
                  <a:pt x="0" y="685800"/>
                </a:lnTo>
              </a:path>
            </a:pathLst>
          </a:custGeom>
          <a:noFill/>
          <a:ln w="28575">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6" name="Rounded Rectangle 12"/>
          <p:cNvSpPr/>
          <p:nvPr/>
        </p:nvSpPr>
        <p:spPr>
          <a:xfrm flipH="1">
            <a:off x="8696741" y="3978076"/>
            <a:ext cx="45719" cy="810341"/>
          </a:xfrm>
          <a:custGeom>
            <a:avLst/>
            <a:gdLst/>
            <a:ahLst/>
            <a:cxnLst/>
            <a:rect l="0" t="0" r="0" b="0"/>
            <a:pathLst>
              <a:path w="9525" h="685800">
                <a:moveTo>
                  <a:pt x="0" y="0"/>
                </a:moveTo>
                <a:lnTo>
                  <a:pt x="0" y="685800"/>
                </a:lnTo>
              </a:path>
            </a:pathLst>
          </a:custGeom>
          <a:noFill/>
          <a:ln w="28575">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7" name="TextBox 14"/>
          <p:cNvSpPr txBox="1"/>
          <p:nvPr/>
        </p:nvSpPr>
        <p:spPr>
          <a:xfrm>
            <a:off x="2421503" y="3697902"/>
            <a:ext cx="1118896" cy="369332"/>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2400" b="1" dirty="0"/>
              <a:t>Business</a:t>
            </a:r>
          </a:p>
        </p:txBody>
      </p:sp>
      <p:sp>
        <p:nvSpPr>
          <p:cNvPr id="8" name="TextBox 15"/>
          <p:cNvSpPr txBox="1"/>
          <p:nvPr/>
        </p:nvSpPr>
        <p:spPr>
          <a:xfrm>
            <a:off x="2421503" y="4155359"/>
            <a:ext cx="2891748" cy="923330"/>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2000" b="0" dirty="0"/>
              <a:t>Trade, commerce, or manufacture</a:t>
            </a:r>
            <a:r>
              <a:rPr lang="en-US" sz="2000" b="0" dirty="0"/>
              <a:t> </a:t>
            </a:r>
            <a:r>
              <a:rPr sz="2000" b="0" dirty="0"/>
              <a:t>with profit intention</a:t>
            </a:r>
          </a:p>
        </p:txBody>
      </p:sp>
      <p:sp>
        <p:nvSpPr>
          <p:cNvPr id="9" name="TextBox 16"/>
          <p:cNvSpPr txBox="1"/>
          <p:nvPr/>
        </p:nvSpPr>
        <p:spPr>
          <a:xfrm>
            <a:off x="5610331" y="2222474"/>
            <a:ext cx="1341714" cy="369332"/>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2400" b="1" dirty="0"/>
              <a:t>Profession</a:t>
            </a:r>
          </a:p>
        </p:txBody>
      </p:sp>
      <p:sp>
        <p:nvSpPr>
          <p:cNvPr id="10" name="TextBox 17"/>
          <p:cNvSpPr txBox="1"/>
          <p:nvPr/>
        </p:nvSpPr>
        <p:spPr>
          <a:xfrm>
            <a:off x="5610331" y="2618214"/>
            <a:ext cx="2423202" cy="923330"/>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2000" b="0" dirty="0"/>
              <a:t>Services using intellectual or</a:t>
            </a:r>
            <a:r>
              <a:rPr lang="en-US" sz="2000" b="0" dirty="0"/>
              <a:t> </a:t>
            </a:r>
            <a:r>
              <a:rPr sz="2000" b="0" dirty="0"/>
              <a:t>specialized skills</a:t>
            </a:r>
          </a:p>
        </p:txBody>
      </p:sp>
      <p:sp>
        <p:nvSpPr>
          <p:cNvPr id="11" name="TextBox 18"/>
          <p:cNvSpPr txBox="1"/>
          <p:nvPr/>
        </p:nvSpPr>
        <p:spPr>
          <a:xfrm>
            <a:off x="8874721" y="3786027"/>
            <a:ext cx="1359346" cy="369332"/>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2400" b="1" dirty="0"/>
              <a:t>Profit/Gain</a:t>
            </a:r>
          </a:p>
        </p:txBody>
      </p:sp>
      <p:sp>
        <p:nvSpPr>
          <p:cNvPr id="12" name="TextBox 19"/>
          <p:cNvSpPr txBox="1"/>
          <p:nvPr/>
        </p:nvSpPr>
        <p:spPr>
          <a:xfrm>
            <a:off x="8874721" y="4155359"/>
            <a:ext cx="2288579" cy="923330"/>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2000" b="0" dirty="0"/>
              <a:t>Net income after deducting</a:t>
            </a:r>
            <a:r>
              <a:rPr lang="en-US" sz="2000" b="0" dirty="0"/>
              <a:t> </a:t>
            </a:r>
            <a:r>
              <a:rPr sz="2000" b="0" dirty="0"/>
              <a:t>expenses from receipts</a:t>
            </a:r>
          </a:p>
        </p:txBody>
      </p:sp>
      <p:sp>
        <p:nvSpPr>
          <p:cNvPr id="13" name="Rounded Rectangle 20"/>
          <p:cNvSpPr/>
          <p:nvPr/>
        </p:nvSpPr>
        <p:spPr>
          <a:xfrm>
            <a:off x="1204225" y="3849815"/>
            <a:ext cx="929537" cy="944844"/>
          </a:xfrm>
          <a:custGeom>
            <a:avLst/>
            <a:gdLst/>
            <a:ahLst/>
            <a:cxnLst/>
            <a:rect l="0" t="0" r="0" b="0"/>
            <a:pathLst>
              <a:path w="428853" h="412263">
                <a:moveTo>
                  <a:pt x="283902" y="253100"/>
                </a:moveTo>
                <a:cubicBezTo>
                  <a:pt x="283900" y="223798"/>
                  <a:pt x="307654" y="200043"/>
                  <a:pt x="336956" y="200043"/>
                </a:cubicBezTo>
                <a:cubicBezTo>
                  <a:pt x="366258" y="200043"/>
                  <a:pt x="390012" y="223798"/>
                  <a:pt x="390010" y="253100"/>
                </a:cubicBezTo>
                <a:cubicBezTo>
                  <a:pt x="390012" y="282402"/>
                  <a:pt x="366258" y="306157"/>
                  <a:pt x="336956" y="306157"/>
                </a:cubicBezTo>
                <a:cubicBezTo>
                  <a:pt x="307654" y="306157"/>
                  <a:pt x="283900" y="282402"/>
                  <a:pt x="283902" y="253100"/>
                </a:cubicBezTo>
                <a:moveTo>
                  <a:pt x="245059" y="412263"/>
                </a:moveTo>
                <a:cubicBezTo>
                  <a:pt x="251653" y="366581"/>
                  <a:pt x="290801" y="332678"/>
                  <a:pt x="336956" y="332678"/>
                </a:cubicBezTo>
                <a:cubicBezTo>
                  <a:pt x="383111" y="332678"/>
                  <a:pt x="422259" y="366581"/>
                  <a:pt x="428853" y="412263"/>
                </a:cubicBezTo>
                <a:close/>
                <a:moveTo>
                  <a:pt x="12896" y="40750"/>
                </a:moveTo>
                <a:lnTo>
                  <a:pt x="196653" y="40750"/>
                </a:lnTo>
                <a:cubicBezTo>
                  <a:pt x="196653" y="40750"/>
                  <a:pt x="209550" y="40750"/>
                  <a:pt x="209550" y="53646"/>
                </a:cubicBezTo>
                <a:lnTo>
                  <a:pt x="209550" y="165965"/>
                </a:lnTo>
                <a:cubicBezTo>
                  <a:pt x="209550" y="165965"/>
                  <a:pt x="209550" y="178862"/>
                  <a:pt x="196653" y="178862"/>
                </a:cubicBezTo>
                <a:lnTo>
                  <a:pt x="12896" y="178862"/>
                </a:lnTo>
                <a:cubicBezTo>
                  <a:pt x="12896" y="178862"/>
                  <a:pt x="0" y="178862"/>
                  <a:pt x="0" y="165965"/>
                </a:cubicBezTo>
                <a:lnTo>
                  <a:pt x="0" y="53646"/>
                </a:lnTo>
                <a:cubicBezTo>
                  <a:pt x="0" y="53646"/>
                  <a:pt x="0" y="40750"/>
                  <a:pt x="12896" y="40750"/>
                </a:cubicBezTo>
                <a:moveTo>
                  <a:pt x="50730" y="40750"/>
                </a:moveTo>
                <a:lnTo>
                  <a:pt x="69989" y="14080"/>
                </a:lnTo>
                <a:cubicBezTo>
                  <a:pt x="76224" y="4965"/>
                  <a:pt x="86952" y="0"/>
                  <a:pt x="97936" y="1145"/>
                </a:cubicBezTo>
                <a:lnTo>
                  <a:pt x="116566" y="1145"/>
                </a:lnTo>
                <a:cubicBezTo>
                  <a:pt x="127554" y="5"/>
                  <a:pt x="138285" y="4968"/>
                  <a:pt x="144532" y="14080"/>
                </a:cubicBezTo>
                <a:lnTo>
                  <a:pt x="163791" y="40750"/>
                </a:lnTo>
                <a:moveTo>
                  <a:pt x="81438" y="97900"/>
                </a:moveTo>
                <a:lnTo>
                  <a:pt x="0" y="97900"/>
                </a:lnTo>
                <a:moveTo>
                  <a:pt x="210026" y="97900"/>
                </a:moveTo>
                <a:lnTo>
                  <a:pt x="128587" y="97900"/>
                </a:lnTo>
                <a:moveTo>
                  <a:pt x="90963" y="88070"/>
                </a:moveTo>
                <a:cubicBezTo>
                  <a:pt x="81438" y="88070"/>
                  <a:pt x="81438" y="97595"/>
                  <a:pt x="81438" y="97595"/>
                </a:cubicBezTo>
                <a:lnTo>
                  <a:pt x="81438" y="121998"/>
                </a:lnTo>
                <a:cubicBezTo>
                  <a:pt x="81438" y="131523"/>
                  <a:pt x="90963" y="131523"/>
                  <a:pt x="90963" y="131523"/>
                </a:cubicBezTo>
                <a:lnTo>
                  <a:pt x="118605" y="131523"/>
                </a:lnTo>
                <a:cubicBezTo>
                  <a:pt x="128130" y="131523"/>
                  <a:pt x="128130" y="121998"/>
                  <a:pt x="128130" y="121998"/>
                </a:cubicBezTo>
                <a:lnTo>
                  <a:pt x="128130" y="97595"/>
                </a:lnTo>
                <a:cubicBezTo>
                  <a:pt x="128130" y="88070"/>
                  <a:pt x="118605" y="88070"/>
                  <a:pt x="118605" y="88070"/>
                </a:cubicBezTo>
                <a:lnTo>
                  <a:pt x="90963" y="88070"/>
                </a:lnTo>
                <a:moveTo>
                  <a:pt x="280987" y="56390"/>
                </a:moveTo>
                <a:lnTo>
                  <a:pt x="319087" y="56390"/>
                </a:lnTo>
                <a:cubicBezTo>
                  <a:pt x="363801" y="56390"/>
                  <a:pt x="400050" y="92638"/>
                  <a:pt x="400050" y="137352"/>
                </a:cubicBezTo>
                <a:moveTo>
                  <a:pt x="319087" y="18290"/>
                </a:moveTo>
                <a:lnTo>
                  <a:pt x="280987" y="56390"/>
                </a:lnTo>
                <a:lnTo>
                  <a:pt x="319087" y="94490"/>
                </a:lnTo>
                <a:moveTo>
                  <a:pt x="147637" y="342140"/>
                </a:moveTo>
                <a:lnTo>
                  <a:pt x="114300" y="342140"/>
                </a:lnTo>
                <a:cubicBezTo>
                  <a:pt x="66955" y="342140"/>
                  <a:pt x="28575" y="303759"/>
                  <a:pt x="28575" y="256415"/>
                </a:cubicBezTo>
                <a:moveTo>
                  <a:pt x="109537" y="380240"/>
                </a:moveTo>
                <a:lnTo>
                  <a:pt x="147637" y="342140"/>
                </a:lnTo>
                <a:lnTo>
                  <a:pt x="109537" y="304040"/>
                </a:lnTo>
                <a:moveTo>
                  <a:pt x="300037" y="215038"/>
                </a:moveTo>
                <a:cubicBezTo>
                  <a:pt x="320763" y="251042"/>
                  <a:pt x="356558" y="253138"/>
                  <a:pt x="390010" y="253138"/>
                </a:cubicBezTo>
              </a:path>
            </a:pathLst>
          </a:custGeom>
          <a:noFill/>
          <a:ln w="19050">
            <a:solidFill>
              <a:schemeClr val="tx1"/>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4" name="Rounded Rectangle 21"/>
          <p:cNvSpPr/>
          <p:nvPr/>
        </p:nvSpPr>
        <p:spPr>
          <a:xfrm>
            <a:off x="4385801" y="2414766"/>
            <a:ext cx="928445" cy="851300"/>
          </a:xfrm>
          <a:custGeom>
            <a:avLst/>
            <a:gdLst/>
            <a:ahLst/>
            <a:cxnLst/>
            <a:rect l="0" t="0" r="0" b="0"/>
            <a:pathLst>
              <a:path w="434477" h="428626">
                <a:moveTo>
                  <a:pt x="85725" y="100012"/>
                </a:moveTo>
                <a:cubicBezTo>
                  <a:pt x="85725" y="44777"/>
                  <a:pt x="130502" y="0"/>
                  <a:pt x="185737" y="0"/>
                </a:cubicBezTo>
                <a:cubicBezTo>
                  <a:pt x="240972" y="0"/>
                  <a:pt x="285750" y="44777"/>
                  <a:pt x="285750" y="100012"/>
                </a:cubicBezTo>
                <a:cubicBezTo>
                  <a:pt x="285750" y="155247"/>
                  <a:pt x="240972" y="200025"/>
                  <a:pt x="185737" y="200025"/>
                </a:cubicBezTo>
                <a:cubicBezTo>
                  <a:pt x="130502" y="200025"/>
                  <a:pt x="85725" y="155247"/>
                  <a:pt x="85725" y="100012"/>
                </a:cubicBezTo>
                <a:close/>
                <a:moveTo>
                  <a:pt x="0" y="428625"/>
                </a:moveTo>
                <a:cubicBezTo>
                  <a:pt x="0" y="360365"/>
                  <a:pt x="37442" y="297605"/>
                  <a:pt x="97509" y="265181"/>
                </a:cubicBezTo>
                <a:cubicBezTo>
                  <a:pt x="157576" y="232756"/>
                  <a:pt x="230589" y="235893"/>
                  <a:pt x="287655" y="273348"/>
                </a:cubicBezTo>
                <a:moveTo>
                  <a:pt x="114300" y="257175"/>
                </a:moveTo>
                <a:lnTo>
                  <a:pt x="114300" y="271462"/>
                </a:lnTo>
                <a:cubicBezTo>
                  <a:pt x="114300" y="310916"/>
                  <a:pt x="146283" y="342900"/>
                  <a:pt x="185737" y="342900"/>
                </a:cubicBezTo>
                <a:cubicBezTo>
                  <a:pt x="225191" y="342900"/>
                  <a:pt x="257175" y="310916"/>
                  <a:pt x="257175" y="271462"/>
                </a:cubicBezTo>
                <a:lnTo>
                  <a:pt x="257175" y="257175"/>
                </a:lnTo>
                <a:moveTo>
                  <a:pt x="71437" y="282130"/>
                </a:moveTo>
                <a:lnTo>
                  <a:pt x="71437" y="428625"/>
                </a:lnTo>
                <a:moveTo>
                  <a:pt x="152400" y="5714"/>
                </a:moveTo>
                <a:lnTo>
                  <a:pt x="152400" y="109537"/>
                </a:lnTo>
                <a:moveTo>
                  <a:pt x="219075" y="5714"/>
                </a:moveTo>
                <a:lnTo>
                  <a:pt x="219075" y="109537"/>
                </a:lnTo>
                <a:moveTo>
                  <a:pt x="284988" y="109537"/>
                </a:moveTo>
                <a:lnTo>
                  <a:pt x="57150" y="109537"/>
                </a:lnTo>
                <a:moveTo>
                  <a:pt x="314325" y="171183"/>
                </a:moveTo>
                <a:cubicBezTo>
                  <a:pt x="314275" y="143502"/>
                  <a:pt x="334100" y="119779"/>
                  <a:pt x="361350" y="114914"/>
                </a:cubicBezTo>
                <a:cubicBezTo>
                  <a:pt x="388599" y="110048"/>
                  <a:pt x="415410" y="125443"/>
                  <a:pt x="424943" y="151430"/>
                </a:cubicBezTo>
                <a:cubicBezTo>
                  <a:pt x="434477" y="177417"/>
                  <a:pt x="423981" y="206498"/>
                  <a:pt x="400050" y="220408"/>
                </a:cubicBezTo>
                <a:lnTo>
                  <a:pt x="400050" y="321983"/>
                </a:lnTo>
                <a:cubicBezTo>
                  <a:pt x="422450" y="334916"/>
                  <a:pt x="433372" y="361282"/>
                  <a:pt x="426677" y="386267"/>
                </a:cubicBezTo>
                <a:cubicBezTo>
                  <a:pt x="419982" y="411253"/>
                  <a:pt x="397341" y="428626"/>
                  <a:pt x="371475" y="428626"/>
                </a:cubicBezTo>
                <a:cubicBezTo>
                  <a:pt x="345608" y="428626"/>
                  <a:pt x="322967" y="411253"/>
                  <a:pt x="316272" y="386267"/>
                </a:cubicBezTo>
                <a:cubicBezTo>
                  <a:pt x="309577" y="361282"/>
                  <a:pt x="320499" y="334916"/>
                  <a:pt x="342900" y="321983"/>
                </a:cubicBezTo>
                <a:lnTo>
                  <a:pt x="342900" y="220408"/>
                </a:lnTo>
                <a:cubicBezTo>
                  <a:pt x="325263" y="210285"/>
                  <a:pt x="314369" y="191518"/>
                  <a:pt x="314325" y="171183"/>
                </a:cubicBezTo>
                <a:close/>
                <a:moveTo>
                  <a:pt x="371475" y="428358"/>
                </a:moveTo>
                <a:lnTo>
                  <a:pt x="371475" y="371208"/>
                </a:lnTo>
                <a:moveTo>
                  <a:pt x="371475" y="114033"/>
                </a:moveTo>
                <a:lnTo>
                  <a:pt x="371475" y="171183"/>
                </a:lnTo>
              </a:path>
            </a:pathLst>
          </a:custGeom>
          <a:noFill/>
          <a:ln w="19050">
            <a:solidFill>
              <a:schemeClr val="tx1"/>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5" name="Rounded Rectangle 22"/>
          <p:cNvSpPr/>
          <p:nvPr/>
        </p:nvSpPr>
        <p:spPr>
          <a:xfrm>
            <a:off x="7560601" y="3978077"/>
            <a:ext cx="928446" cy="810341"/>
          </a:xfrm>
          <a:custGeom>
            <a:avLst/>
            <a:gdLst/>
            <a:ahLst/>
            <a:cxnLst/>
            <a:rect l="0" t="0" r="0" b="0"/>
            <a:pathLst>
              <a:path w="419099" h="438150">
                <a:moveTo>
                  <a:pt x="257174" y="209550"/>
                </a:moveTo>
                <a:lnTo>
                  <a:pt x="409574" y="209550"/>
                </a:lnTo>
                <a:cubicBezTo>
                  <a:pt x="409574" y="209550"/>
                  <a:pt x="419099" y="209550"/>
                  <a:pt x="419099" y="219075"/>
                </a:cubicBezTo>
                <a:lnTo>
                  <a:pt x="419099" y="257175"/>
                </a:lnTo>
                <a:cubicBezTo>
                  <a:pt x="419099" y="257175"/>
                  <a:pt x="419099" y="266700"/>
                  <a:pt x="409574" y="266700"/>
                </a:cubicBezTo>
                <a:lnTo>
                  <a:pt x="257174" y="266700"/>
                </a:lnTo>
                <a:cubicBezTo>
                  <a:pt x="257174" y="266700"/>
                  <a:pt x="247649" y="266700"/>
                  <a:pt x="247649" y="257175"/>
                </a:cubicBezTo>
                <a:lnTo>
                  <a:pt x="247649" y="219075"/>
                </a:lnTo>
                <a:cubicBezTo>
                  <a:pt x="247649" y="219075"/>
                  <a:pt x="247649" y="209550"/>
                  <a:pt x="257174" y="209550"/>
                </a:cubicBezTo>
                <a:moveTo>
                  <a:pt x="238124" y="266700"/>
                </a:moveTo>
                <a:lnTo>
                  <a:pt x="390524" y="266700"/>
                </a:lnTo>
                <a:cubicBezTo>
                  <a:pt x="390524" y="266700"/>
                  <a:pt x="400049" y="266700"/>
                  <a:pt x="400049" y="276225"/>
                </a:cubicBezTo>
                <a:lnTo>
                  <a:pt x="400049" y="314325"/>
                </a:lnTo>
                <a:cubicBezTo>
                  <a:pt x="400049" y="314325"/>
                  <a:pt x="400049" y="323850"/>
                  <a:pt x="390524" y="323850"/>
                </a:cubicBezTo>
                <a:lnTo>
                  <a:pt x="238124" y="323850"/>
                </a:lnTo>
                <a:cubicBezTo>
                  <a:pt x="238124" y="323850"/>
                  <a:pt x="228599" y="323850"/>
                  <a:pt x="228599" y="314325"/>
                </a:cubicBezTo>
                <a:lnTo>
                  <a:pt x="228599" y="276225"/>
                </a:lnTo>
                <a:cubicBezTo>
                  <a:pt x="228599" y="276225"/>
                  <a:pt x="228599" y="266700"/>
                  <a:pt x="238124" y="266700"/>
                </a:cubicBezTo>
                <a:moveTo>
                  <a:pt x="257174" y="323850"/>
                </a:moveTo>
                <a:lnTo>
                  <a:pt x="409574" y="323850"/>
                </a:lnTo>
                <a:cubicBezTo>
                  <a:pt x="409574" y="323850"/>
                  <a:pt x="419099" y="323850"/>
                  <a:pt x="419099" y="333375"/>
                </a:cubicBezTo>
                <a:lnTo>
                  <a:pt x="419099" y="371475"/>
                </a:lnTo>
                <a:cubicBezTo>
                  <a:pt x="419099" y="371475"/>
                  <a:pt x="419099" y="381000"/>
                  <a:pt x="409574" y="381000"/>
                </a:cubicBezTo>
                <a:lnTo>
                  <a:pt x="257174" y="381000"/>
                </a:lnTo>
                <a:cubicBezTo>
                  <a:pt x="257174" y="381000"/>
                  <a:pt x="247649" y="381000"/>
                  <a:pt x="247649" y="371475"/>
                </a:cubicBezTo>
                <a:lnTo>
                  <a:pt x="247649" y="333375"/>
                </a:lnTo>
                <a:cubicBezTo>
                  <a:pt x="247649" y="333375"/>
                  <a:pt x="247649" y="323850"/>
                  <a:pt x="257174" y="323850"/>
                </a:cubicBezTo>
                <a:moveTo>
                  <a:pt x="238124" y="381000"/>
                </a:moveTo>
                <a:lnTo>
                  <a:pt x="390524" y="381000"/>
                </a:lnTo>
                <a:cubicBezTo>
                  <a:pt x="390524" y="381000"/>
                  <a:pt x="400049" y="381000"/>
                  <a:pt x="400049" y="390525"/>
                </a:cubicBezTo>
                <a:lnTo>
                  <a:pt x="400049" y="428625"/>
                </a:lnTo>
                <a:cubicBezTo>
                  <a:pt x="400049" y="428625"/>
                  <a:pt x="400049" y="438150"/>
                  <a:pt x="390524" y="438150"/>
                </a:cubicBezTo>
                <a:lnTo>
                  <a:pt x="238124" y="438150"/>
                </a:lnTo>
                <a:cubicBezTo>
                  <a:pt x="238124" y="438150"/>
                  <a:pt x="228599" y="438150"/>
                  <a:pt x="228599" y="428625"/>
                </a:cubicBezTo>
                <a:lnTo>
                  <a:pt x="228599" y="390525"/>
                </a:lnTo>
                <a:cubicBezTo>
                  <a:pt x="228599" y="390525"/>
                  <a:pt x="228599" y="381000"/>
                  <a:pt x="238124" y="381000"/>
                </a:cubicBezTo>
                <a:moveTo>
                  <a:pt x="9524" y="323850"/>
                </a:moveTo>
                <a:lnTo>
                  <a:pt x="161925" y="323850"/>
                </a:lnTo>
                <a:cubicBezTo>
                  <a:pt x="161925" y="323850"/>
                  <a:pt x="171450" y="323850"/>
                  <a:pt x="171450" y="333375"/>
                </a:cubicBezTo>
                <a:lnTo>
                  <a:pt x="171450" y="371475"/>
                </a:lnTo>
                <a:cubicBezTo>
                  <a:pt x="171450" y="371475"/>
                  <a:pt x="171450" y="381000"/>
                  <a:pt x="161925" y="381000"/>
                </a:cubicBezTo>
                <a:lnTo>
                  <a:pt x="9525" y="381000"/>
                </a:lnTo>
                <a:cubicBezTo>
                  <a:pt x="9525" y="381000"/>
                  <a:pt x="0" y="381000"/>
                  <a:pt x="0" y="371475"/>
                </a:cubicBezTo>
                <a:lnTo>
                  <a:pt x="0" y="333375"/>
                </a:lnTo>
                <a:cubicBezTo>
                  <a:pt x="0" y="333375"/>
                  <a:pt x="0" y="323850"/>
                  <a:pt x="9525" y="323850"/>
                </a:cubicBezTo>
                <a:moveTo>
                  <a:pt x="28574" y="381000"/>
                </a:moveTo>
                <a:lnTo>
                  <a:pt x="180975" y="381000"/>
                </a:lnTo>
                <a:cubicBezTo>
                  <a:pt x="180975" y="381000"/>
                  <a:pt x="190500" y="381000"/>
                  <a:pt x="190500" y="390525"/>
                </a:cubicBezTo>
                <a:lnTo>
                  <a:pt x="190500" y="428625"/>
                </a:lnTo>
                <a:cubicBezTo>
                  <a:pt x="190500" y="428625"/>
                  <a:pt x="190500" y="438150"/>
                  <a:pt x="180975" y="438150"/>
                </a:cubicBezTo>
                <a:lnTo>
                  <a:pt x="28575" y="438150"/>
                </a:lnTo>
                <a:cubicBezTo>
                  <a:pt x="28575" y="438150"/>
                  <a:pt x="19050" y="438150"/>
                  <a:pt x="19050" y="428625"/>
                </a:cubicBezTo>
                <a:lnTo>
                  <a:pt x="19050" y="390525"/>
                </a:lnTo>
                <a:cubicBezTo>
                  <a:pt x="19050" y="390525"/>
                  <a:pt x="19050" y="381000"/>
                  <a:pt x="28575" y="381000"/>
                </a:cubicBezTo>
                <a:moveTo>
                  <a:pt x="9448" y="247650"/>
                </a:moveTo>
                <a:lnTo>
                  <a:pt x="168916" y="88258"/>
                </a:lnTo>
                <a:cubicBezTo>
                  <a:pt x="175771" y="81424"/>
                  <a:pt x="186662" y="80818"/>
                  <a:pt x="194233" y="86848"/>
                </a:cubicBezTo>
                <a:lnTo>
                  <a:pt x="262413" y="141389"/>
                </a:lnTo>
                <a:cubicBezTo>
                  <a:pt x="270191" y="147582"/>
                  <a:pt x="281424" y="146752"/>
                  <a:pt x="288207" y="139484"/>
                </a:cubicBezTo>
                <a:lnTo>
                  <a:pt x="419023" y="0"/>
                </a:lnTo>
                <a:moveTo>
                  <a:pt x="285749" y="0"/>
                </a:moveTo>
                <a:lnTo>
                  <a:pt x="419099" y="0"/>
                </a:lnTo>
                <a:lnTo>
                  <a:pt x="419099" y="123825"/>
                </a:lnTo>
              </a:path>
            </a:pathLst>
          </a:custGeom>
          <a:noFill/>
          <a:ln w="19050">
            <a:solidFill>
              <a:schemeClr val="tx1"/>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Tree>
    <p:extLst>
      <p:ext uri="{BB962C8B-B14F-4D97-AF65-F5344CB8AC3E}">
        <p14:creationId xmlns:p14="http://schemas.microsoft.com/office/powerpoint/2010/main" val="189327653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5771637" y="2559638"/>
            <a:ext cx="1066808" cy="3124009"/>
            <a:chOff x="3009900" y="2171700"/>
            <a:chExt cx="1066800" cy="3124009"/>
          </a:xfrm>
        </p:grpSpPr>
        <p:sp>
          <p:nvSpPr>
            <p:cNvPr id="5" name="Rounded Rectangle 1"/>
            <p:cNvSpPr/>
            <p:nvPr/>
          </p:nvSpPr>
          <p:spPr>
            <a:xfrm>
              <a:off x="3009900" y="2171700"/>
              <a:ext cx="1066800" cy="3124009"/>
            </a:xfrm>
            <a:custGeom>
              <a:avLst/>
              <a:gdLst/>
              <a:ahLst/>
              <a:cxnLst/>
              <a:rect l="0" t="0" r="0" b="0"/>
              <a:pathLst>
                <a:path w="1066800" h="3124009">
                  <a:moveTo>
                    <a:pt x="0" y="2514600"/>
                  </a:moveTo>
                  <a:lnTo>
                    <a:pt x="266700" y="2628900"/>
                  </a:lnTo>
                  <a:lnTo>
                    <a:pt x="800100" y="2628900"/>
                  </a:lnTo>
                  <a:lnTo>
                    <a:pt x="1066800" y="2514600"/>
                  </a:lnTo>
                  <a:lnTo>
                    <a:pt x="640270" y="3093529"/>
                  </a:lnTo>
                  <a:lnTo>
                    <a:pt x="586930" y="3124009"/>
                  </a:lnTo>
                  <a:lnTo>
                    <a:pt x="571690" y="3078289"/>
                  </a:lnTo>
                  <a:lnTo>
                    <a:pt x="533400" y="3116389"/>
                  </a:lnTo>
                  <a:lnTo>
                    <a:pt x="495109" y="3078289"/>
                  </a:lnTo>
                  <a:lnTo>
                    <a:pt x="479869" y="3124009"/>
                  </a:lnTo>
                  <a:lnTo>
                    <a:pt x="426529" y="3093529"/>
                  </a:lnTo>
                  <a:close/>
                  <a:moveTo>
                    <a:pt x="1066800" y="2171700"/>
                  </a:moveTo>
                  <a:lnTo>
                    <a:pt x="800100" y="2286000"/>
                  </a:lnTo>
                  <a:lnTo>
                    <a:pt x="266700" y="2286000"/>
                  </a:lnTo>
                  <a:lnTo>
                    <a:pt x="0" y="2171700"/>
                  </a:lnTo>
                  <a:lnTo>
                    <a:pt x="266700" y="2057400"/>
                  </a:lnTo>
                  <a:lnTo>
                    <a:pt x="800100" y="2057400"/>
                  </a:lnTo>
                  <a:close/>
                  <a:moveTo>
                    <a:pt x="723900" y="2171700"/>
                  </a:moveTo>
                  <a:cubicBezTo>
                    <a:pt x="723900" y="2146458"/>
                    <a:pt x="638651" y="2125980"/>
                    <a:pt x="533400" y="2125980"/>
                  </a:cubicBezTo>
                  <a:cubicBezTo>
                    <a:pt x="428148" y="2125980"/>
                    <a:pt x="342900" y="2146458"/>
                    <a:pt x="342900" y="2171700"/>
                  </a:cubicBezTo>
                  <a:cubicBezTo>
                    <a:pt x="342900" y="2196941"/>
                    <a:pt x="428148" y="2217420"/>
                    <a:pt x="533400" y="2217420"/>
                  </a:cubicBezTo>
                  <a:cubicBezTo>
                    <a:pt x="638651" y="2217420"/>
                    <a:pt x="723900" y="2196941"/>
                    <a:pt x="723900" y="2171700"/>
                  </a:cubicBezTo>
                  <a:close/>
                  <a:moveTo>
                    <a:pt x="1066800" y="1485900"/>
                  </a:moveTo>
                  <a:lnTo>
                    <a:pt x="800100" y="1600200"/>
                  </a:lnTo>
                  <a:lnTo>
                    <a:pt x="266700" y="1600200"/>
                  </a:lnTo>
                  <a:lnTo>
                    <a:pt x="0" y="1485900"/>
                  </a:lnTo>
                  <a:lnTo>
                    <a:pt x="266700" y="1371600"/>
                  </a:lnTo>
                  <a:lnTo>
                    <a:pt x="800100" y="1371600"/>
                  </a:lnTo>
                  <a:close/>
                  <a:moveTo>
                    <a:pt x="723900" y="1485900"/>
                  </a:moveTo>
                  <a:cubicBezTo>
                    <a:pt x="723900" y="1460658"/>
                    <a:pt x="638651" y="1440180"/>
                    <a:pt x="533400" y="1440180"/>
                  </a:cubicBezTo>
                  <a:cubicBezTo>
                    <a:pt x="428148" y="1440180"/>
                    <a:pt x="342900" y="1460658"/>
                    <a:pt x="342900" y="1485900"/>
                  </a:cubicBezTo>
                  <a:cubicBezTo>
                    <a:pt x="342900" y="1511141"/>
                    <a:pt x="428148" y="1531620"/>
                    <a:pt x="533400" y="1531620"/>
                  </a:cubicBezTo>
                  <a:cubicBezTo>
                    <a:pt x="638651" y="1531620"/>
                    <a:pt x="723900" y="1511141"/>
                    <a:pt x="723900" y="1485900"/>
                  </a:cubicBezTo>
                  <a:close/>
                  <a:moveTo>
                    <a:pt x="1066800" y="800100"/>
                  </a:moveTo>
                  <a:lnTo>
                    <a:pt x="800100" y="914400"/>
                  </a:lnTo>
                  <a:lnTo>
                    <a:pt x="266700" y="914400"/>
                  </a:lnTo>
                  <a:lnTo>
                    <a:pt x="0" y="800100"/>
                  </a:lnTo>
                  <a:lnTo>
                    <a:pt x="266700" y="685800"/>
                  </a:lnTo>
                  <a:lnTo>
                    <a:pt x="800100" y="685800"/>
                  </a:lnTo>
                  <a:close/>
                  <a:moveTo>
                    <a:pt x="723900" y="800100"/>
                  </a:moveTo>
                  <a:cubicBezTo>
                    <a:pt x="723900" y="774858"/>
                    <a:pt x="638651" y="754379"/>
                    <a:pt x="533400" y="754379"/>
                  </a:cubicBezTo>
                  <a:cubicBezTo>
                    <a:pt x="428148" y="754379"/>
                    <a:pt x="342900" y="774858"/>
                    <a:pt x="342900" y="800100"/>
                  </a:cubicBezTo>
                  <a:cubicBezTo>
                    <a:pt x="342900" y="825341"/>
                    <a:pt x="428148" y="845820"/>
                    <a:pt x="533400" y="845820"/>
                  </a:cubicBezTo>
                  <a:cubicBezTo>
                    <a:pt x="638651" y="845820"/>
                    <a:pt x="723900" y="825341"/>
                    <a:pt x="723900" y="800100"/>
                  </a:cubicBezTo>
                  <a:close/>
                  <a:moveTo>
                    <a:pt x="1066800" y="114300"/>
                  </a:moveTo>
                  <a:lnTo>
                    <a:pt x="800100" y="228600"/>
                  </a:lnTo>
                  <a:lnTo>
                    <a:pt x="266700" y="228600"/>
                  </a:lnTo>
                  <a:lnTo>
                    <a:pt x="0" y="114300"/>
                  </a:lnTo>
                  <a:lnTo>
                    <a:pt x="266700" y="0"/>
                  </a:lnTo>
                  <a:lnTo>
                    <a:pt x="800100" y="0"/>
                  </a:lnTo>
                  <a:close/>
                  <a:moveTo>
                    <a:pt x="723900" y="114300"/>
                  </a:moveTo>
                  <a:cubicBezTo>
                    <a:pt x="723900" y="89058"/>
                    <a:pt x="638651" y="68579"/>
                    <a:pt x="533400" y="68579"/>
                  </a:cubicBezTo>
                  <a:cubicBezTo>
                    <a:pt x="428148" y="68579"/>
                    <a:pt x="342900" y="89058"/>
                    <a:pt x="342900" y="114300"/>
                  </a:cubicBezTo>
                  <a:cubicBezTo>
                    <a:pt x="342900" y="139541"/>
                    <a:pt x="428148" y="160020"/>
                    <a:pt x="533400" y="160020"/>
                  </a:cubicBezTo>
                  <a:cubicBezTo>
                    <a:pt x="638651" y="160020"/>
                    <a:pt x="723900" y="139541"/>
                    <a:pt x="723900" y="114300"/>
                  </a:cubicBezTo>
                  <a:close/>
                </a:path>
              </a:pathLst>
            </a:custGeom>
            <a:solidFill>
              <a:srgbClr val="484848"/>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sp>
          <p:nvSpPr>
            <p:cNvPr id="6" name="Rounded Rectangle 2"/>
            <p:cNvSpPr/>
            <p:nvPr/>
          </p:nvSpPr>
          <p:spPr>
            <a:xfrm>
              <a:off x="3009900" y="2171700"/>
              <a:ext cx="1066800" cy="3124009"/>
            </a:xfrm>
            <a:custGeom>
              <a:avLst/>
              <a:gdLst/>
              <a:ahLst/>
              <a:cxnLst/>
              <a:rect l="0" t="0" r="0" b="0"/>
              <a:pathLst>
                <a:path w="1066800" h="3124009">
                  <a:moveTo>
                    <a:pt x="0" y="2514600"/>
                  </a:moveTo>
                  <a:lnTo>
                    <a:pt x="266700" y="2628900"/>
                  </a:lnTo>
                  <a:lnTo>
                    <a:pt x="800100" y="2628900"/>
                  </a:lnTo>
                  <a:lnTo>
                    <a:pt x="1066800" y="2514600"/>
                  </a:lnTo>
                  <a:lnTo>
                    <a:pt x="640270" y="3093529"/>
                  </a:lnTo>
                  <a:lnTo>
                    <a:pt x="586930" y="3124009"/>
                  </a:lnTo>
                  <a:lnTo>
                    <a:pt x="571690" y="3078289"/>
                  </a:lnTo>
                  <a:lnTo>
                    <a:pt x="533400" y="3116389"/>
                  </a:lnTo>
                  <a:lnTo>
                    <a:pt x="495109" y="3078289"/>
                  </a:lnTo>
                  <a:lnTo>
                    <a:pt x="479869" y="3124009"/>
                  </a:lnTo>
                  <a:lnTo>
                    <a:pt x="426529" y="3093529"/>
                  </a:lnTo>
                  <a:close/>
                  <a:moveTo>
                    <a:pt x="1066800" y="2171700"/>
                  </a:moveTo>
                  <a:lnTo>
                    <a:pt x="800100" y="2286000"/>
                  </a:lnTo>
                  <a:lnTo>
                    <a:pt x="266700" y="2286000"/>
                  </a:lnTo>
                  <a:lnTo>
                    <a:pt x="0" y="2171700"/>
                  </a:lnTo>
                  <a:lnTo>
                    <a:pt x="266700" y="2057400"/>
                  </a:lnTo>
                  <a:lnTo>
                    <a:pt x="800100" y="2057400"/>
                  </a:lnTo>
                  <a:close/>
                  <a:moveTo>
                    <a:pt x="723900" y="2171700"/>
                  </a:moveTo>
                  <a:cubicBezTo>
                    <a:pt x="723900" y="2146458"/>
                    <a:pt x="638651" y="2125980"/>
                    <a:pt x="533400" y="2125980"/>
                  </a:cubicBezTo>
                  <a:cubicBezTo>
                    <a:pt x="428148" y="2125980"/>
                    <a:pt x="342900" y="2146458"/>
                    <a:pt x="342900" y="2171700"/>
                  </a:cubicBezTo>
                  <a:cubicBezTo>
                    <a:pt x="342900" y="2196941"/>
                    <a:pt x="428148" y="2217420"/>
                    <a:pt x="533400" y="2217420"/>
                  </a:cubicBezTo>
                  <a:cubicBezTo>
                    <a:pt x="638651" y="2217420"/>
                    <a:pt x="723900" y="2196941"/>
                    <a:pt x="723900" y="2171700"/>
                  </a:cubicBezTo>
                  <a:close/>
                  <a:moveTo>
                    <a:pt x="1066800" y="1485900"/>
                  </a:moveTo>
                  <a:lnTo>
                    <a:pt x="800100" y="1600200"/>
                  </a:lnTo>
                  <a:lnTo>
                    <a:pt x="266700" y="1600200"/>
                  </a:lnTo>
                  <a:lnTo>
                    <a:pt x="0" y="1485900"/>
                  </a:lnTo>
                  <a:lnTo>
                    <a:pt x="266700" y="1371600"/>
                  </a:lnTo>
                  <a:lnTo>
                    <a:pt x="800100" y="1371600"/>
                  </a:lnTo>
                  <a:close/>
                  <a:moveTo>
                    <a:pt x="723900" y="1485900"/>
                  </a:moveTo>
                  <a:cubicBezTo>
                    <a:pt x="723900" y="1460658"/>
                    <a:pt x="638651" y="1440180"/>
                    <a:pt x="533400" y="1440180"/>
                  </a:cubicBezTo>
                  <a:cubicBezTo>
                    <a:pt x="428148" y="1440180"/>
                    <a:pt x="342900" y="1460658"/>
                    <a:pt x="342900" y="1485900"/>
                  </a:cubicBezTo>
                  <a:cubicBezTo>
                    <a:pt x="342900" y="1511141"/>
                    <a:pt x="428148" y="1531620"/>
                    <a:pt x="533400" y="1531620"/>
                  </a:cubicBezTo>
                  <a:cubicBezTo>
                    <a:pt x="638651" y="1531620"/>
                    <a:pt x="723900" y="1511141"/>
                    <a:pt x="723900" y="1485900"/>
                  </a:cubicBezTo>
                  <a:close/>
                  <a:moveTo>
                    <a:pt x="1066800" y="800100"/>
                  </a:moveTo>
                  <a:lnTo>
                    <a:pt x="800100" y="914400"/>
                  </a:lnTo>
                  <a:lnTo>
                    <a:pt x="266700" y="914400"/>
                  </a:lnTo>
                  <a:lnTo>
                    <a:pt x="0" y="800100"/>
                  </a:lnTo>
                  <a:lnTo>
                    <a:pt x="266700" y="685800"/>
                  </a:lnTo>
                  <a:lnTo>
                    <a:pt x="800100" y="685800"/>
                  </a:lnTo>
                  <a:close/>
                  <a:moveTo>
                    <a:pt x="723900" y="800100"/>
                  </a:moveTo>
                  <a:cubicBezTo>
                    <a:pt x="723900" y="774858"/>
                    <a:pt x="638651" y="754379"/>
                    <a:pt x="533400" y="754379"/>
                  </a:cubicBezTo>
                  <a:cubicBezTo>
                    <a:pt x="428148" y="754379"/>
                    <a:pt x="342900" y="774858"/>
                    <a:pt x="342900" y="800100"/>
                  </a:cubicBezTo>
                  <a:cubicBezTo>
                    <a:pt x="342900" y="825341"/>
                    <a:pt x="428148" y="845820"/>
                    <a:pt x="533400" y="845820"/>
                  </a:cubicBezTo>
                  <a:cubicBezTo>
                    <a:pt x="638651" y="845820"/>
                    <a:pt x="723900" y="825341"/>
                    <a:pt x="723900" y="800100"/>
                  </a:cubicBezTo>
                  <a:close/>
                  <a:moveTo>
                    <a:pt x="1066800" y="114300"/>
                  </a:moveTo>
                  <a:lnTo>
                    <a:pt x="800100" y="228600"/>
                  </a:lnTo>
                  <a:lnTo>
                    <a:pt x="266700" y="228600"/>
                  </a:lnTo>
                  <a:lnTo>
                    <a:pt x="0" y="114300"/>
                  </a:lnTo>
                  <a:lnTo>
                    <a:pt x="266700" y="0"/>
                  </a:lnTo>
                  <a:lnTo>
                    <a:pt x="800100" y="0"/>
                  </a:lnTo>
                  <a:close/>
                  <a:moveTo>
                    <a:pt x="723900" y="114300"/>
                  </a:moveTo>
                  <a:cubicBezTo>
                    <a:pt x="723900" y="89058"/>
                    <a:pt x="638651" y="68579"/>
                    <a:pt x="533400" y="68579"/>
                  </a:cubicBezTo>
                  <a:cubicBezTo>
                    <a:pt x="428148" y="68579"/>
                    <a:pt x="342900" y="89058"/>
                    <a:pt x="342900" y="114300"/>
                  </a:cubicBezTo>
                  <a:cubicBezTo>
                    <a:pt x="342900" y="139541"/>
                    <a:pt x="428148" y="160020"/>
                    <a:pt x="533400" y="160020"/>
                  </a:cubicBezTo>
                  <a:cubicBezTo>
                    <a:pt x="638651" y="160020"/>
                    <a:pt x="723900" y="139541"/>
                    <a:pt x="723900" y="114300"/>
                  </a:cubicBezTo>
                  <a:close/>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grpSp>
      <p:grpSp>
        <p:nvGrpSpPr>
          <p:cNvPr id="7" name="Group 6"/>
          <p:cNvGrpSpPr/>
          <p:nvPr/>
        </p:nvGrpSpPr>
        <p:grpSpPr>
          <a:xfrm>
            <a:off x="5771639" y="1683338"/>
            <a:ext cx="1066800" cy="4114801"/>
            <a:chOff x="3009902" y="1295400"/>
            <a:chExt cx="1066800" cy="4114801"/>
          </a:xfrm>
        </p:grpSpPr>
        <p:sp>
          <p:nvSpPr>
            <p:cNvPr id="8" name="Rounded Rectangle 4"/>
            <p:cNvSpPr/>
            <p:nvPr/>
          </p:nvSpPr>
          <p:spPr>
            <a:xfrm>
              <a:off x="3009902" y="1295400"/>
              <a:ext cx="1066800" cy="4114801"/>
            </a:xfrm>
            <a:custGeom>
              <a:avLst/>
              <a:gdLst/>
              <a:ahLst/>
              <a:cxnLst/>
              <a:rect l="0" t="0" r="0" b="0"/>
              <a:pathLst>
                <a:path w="1066800" h="4114801">
                  <a:moveTo>
                    <a:pt x="426527" y="3969831"/>
                  </a:moveTo>
                  <a:lnTo>
                    <a:pt x="479867" y="4000311"/>
                  </a:lnTo>
                  <a:lnTo>
                    <a:pt x="495107" y="3954591"/>
                  </a:lnTo>
                  <a:lnTo>
                    <a:pt x="533397" y="3992691"/>
                  </a:lnTo>
                  <a:lnTo>
                    <a:pt x="571688" y="3954591"/>
                  </a:lnTo>
                  <a:lnTo>
                    <a:pt x="586928" y="4000311"/>
                  </a:lnTo>
                  <a:lnTo>
                    <a:pt x="640268" y="3969831"/>
                  </a:lnTo>
                  <a:lnTo>
                    <a:pt x="533397" y="4114801"/>
                  </a:lnTo>
                  <a:close/>
                  <a:moveTo>
                    <a:pt x="342897" y="3048001"/>
                  </a:moveTo>
                  <a:cubicBezTo>
                    <a:pt x="342897" y="3022751"/>
                    <a:pt x="428187" y="3002281"/>
                    <a:pt x="533397" y="3002281"/>
                  </a:cubicBezTo>
                  <a:cubicBezTo>
                    <a:pt x="638608" y="3002281"/>
                    <a:pt x="723897" y="3022751"/>
                    <a:pt x="723897" y="3048001"/>
                  </a:cubicBezTo>
                  <a:cubicBezTo>
                    <a:pt x="723897" y="3073252"/>
                    <a:pt x="638608" y="3093721"/>
                    <a:pt x="533397" y="3093721"/>
                  </a:cubicBezTo>
                  <a:cubicBezTo>
                    <a:pt x="428187" y="3093721"/>
                    <a:pt x="342897" y="3073252"/>
                    <a:pt x="342897" y="3048001"/>
                  </a:cubicBezTo>
                  <a:close/>
                  <a:moveTo>
                    <a:pt x="342897" y="2362201"/>
                  </a:moveTo>
                  <a:cubicBezTo>
                    <a:pt x="342897" y="2336951"/>
                    <a:pt x="428187" y="2316481"/>
                    <a:pt x="533397" y="2316481"/>
                  </a:cubicBezTo>
                  <a:cubicBezTo>
                    <a:pt x="638608" y="2316481"/>
                    <a:pt x="723897" y="2336951"/>
                    <a:pt x="723897" y="2362201"/>
                  </a:cubicBezTo>
                  <a:cubicBezTo>
                    <a:pt x="723897" y="2387452"/>
                    <a:pt x="638608" y="2407921"/>
                    <a:pt x="533397" y="2407921"/>
                  </a:cubicBezTo>
                  <a:cubicBezTo>
                    <a:pt x="428187" y="2407921"/>
                    <a:pt x="342897" y="2387452"/>
                    <a:pt x="342897" y="2362201"/>
                  </a:cubicBezTo>
                  <a:close/>
                  <a:moveTo>
                    <a:pt x="342897" y="1676401"/>
                  </a:moveTo>
                  <a:cubicBezTo>
                    <a:pt x="342897" y="1651151"/>
                    <a:pt x="428187" y="1630681"/>
                    <a:pt x="533397" y="1630681"/>
                  </a:cubicBezTo>
                  <a:cubicBezTo>
                    <a:pt x="638608" y="1630681"/>
                    <a:pt x="723897" y="1651151"/>
                    <a:pt x="723897" y="1676401"/>
                  </a:cubicBezTo>
                  <a:cubicBezTo>
                    <a:pt x="723897" y="1701652"/>
                    <a:pt x="638608" y="1722121"/>
                    <a:pt x="533397" y="1722121"/>
                  </a:cubicBezTo>
                  <a:cubicBezTo>
                    <a:pt x="428187" y="1722121"/>
                    <a:pt x="342897" y="1701652"/>
                    <a:pt x="342897" y="1676401"/>
                  </a:cubicBezTo>
                  <a:close/>
                  <a:moveTo>
                    <a:pt x="342897" y="990601"/>
                  </a:moveTo>
                  <a:cubicBezTo>
                    <a:pt x="342897" y="965351"/>
                    <a:pt x="428187" y="944881"/>
                    <a:pt x="533397" y="944881"/>
                  </a:cubicBezTo>
                  <a:cubicBezTo>
                    <a:pt x="638608" y="944881"/>
                    <a:pt x="723897" y="965351"/>
                    <a:pt x="723897" y="990601"/>
                  </a:cubicBezTo>
                  <a:cubicBezTo>
                    <a:pt x="723897" y="1015852"/>
                    <a:pt x="638608" y="1036321"/>
                    <a:pt x="533397" y="1036321"/>
                  </a:cubicBezTo>
                  <a:cubicBezTo>
                    <a:pt x="428187" y="1036321"/>
                    <a:pt x="342897" y="1015852"/>
                    <a:pt x="342897" y="990601"/>
                  </a:cubicBezTo>
                  <a:close/>
                  <a:moveTo>
                    <a:pt x="0" y="228600"/>
                  </a:moveTo>
                  <a:lnTo>
                    <a:pt x="266700" y="342900"/>
                  </a:lnTo>
                  <a:lnTo>
                    <a:pt x="800100" y="342900"/>
                  </a:lnTo>
                  <a:lnTo>
                    <a:pt x="1066800" y="228600"/>
                  </a:lnTo>
                  <a:lnTo>
                    <a:pt x="1066800" y="304800"/>
                  </a:lnTo>
                  <a:lnTo>
                    <a:pt x="800100" y="419100"/>
                  </a:lnTo>
                  <a:lnTo>
                    <a:pt x="266700" y="419100"/>
                  </a:lnTo>
                  <a:lnTo>
                    <a:pt x="0" y="304800"/>
                  </a:lnTo>
                  <a:close/>
                  <a:moveTo>
                    <a:pt x="0" y="152400"/>
                  </a:moveTo>
                  <a:lnTo>
                    <a:pt x="266700" y="266700"/>
                  </a:lnTo>
                  <a:lnTo>
                    <a:pt x="800100" y="266700"/>
                  </a:lnTo>
                  <a:lnTo>
                    <a:pt x="1066800" y="152400"/>
                  </a:lnTo>
                  <a:lnTo>
                    <a:pt x="1066800" y="228600"/>
                  </a:lnTo>
                  <a:lnTo>
                    <a:pt x="800100" y="342900"/>
                  </a:lnTo>
                  <a:lnTo>
                    <a:pt x="266700" y="342900"/>
                  </a:lnTo>
                  <a:lnTo>
                    <a:pt x="0" y="228600"/>
                  </a:lnTo>
                  <a:close/>
                  <a:moveTo>
                    <a:pt x="0" y="0"/>
                  </a:moveTo>
                  <a:lnTo>
                    <a:pt x="266700" y="114300"/>
                  </a:lnTo>
                  <a:lnTo>
                    <a:pt x="800100" y="114300"/>
                  </a:lnTo>
                  <a:lnTo>
                    <a:pt x="1066800" y="0"/>
                  </a:lnTo>
                  <a:lnTo>
                    <a:pt x="1066800" y="152400"/>
                  </a:lnTo>
                  <a:lnTo>
                    <a:pt x="800100" y="266700"/>
                  </a:lnTo>
                  <a:lnTo>
                    <a:pt x="266700" y="266700"/>
                  </a:lnTo>
                  <a:lnTo>
                    <a:pt x="0" y="152400"/>
                  </a:lnTo>
                  <a:close/>
                </a:path>
              </a:pathLst>
            </a:custGeom>
            <a:solidFill>
              <a:srgbClr val="484848"/>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sp>
          <p:nvSpPr>
            <p:cNvPr id="9" name="Rounded Rectangle 5"/>
            <p:cNvSpPr/>
            <p:nvPr/>
          </p:nvSpPr>
          <p:spPr>
            <a:xfrm>
              <a:off x="3009902" y="1295400"/>
              <a:ext cx="1066800" cy="4114801"/>
            </a:xfrm>
            <a:custGeom>
              <a:avLst/>
              <a:gdLst/>
              <a:ahLst/>
              <a:cxnLst/>
              <a:rect l="0" t="0" r="0" b="0"/>
              <a:pathLst>
                <a:path w="1066800" h="4114801">
                  <a:moveTo>
                    <a:pt x="426527" y="3969831"/>
                  </a:moveTo>
                  <a:lnTo>
                    <a:pt x="479867" y="4000311"/>
                  </a:lnTo>
                  <a:lnTo>
                    <a:pt x="495107" y="3954591"/>
                  </a:lnTo>
                  <a:lnTo>
                    <a:pt x="533397" y="3992691"/>
                  </a:lnTo>
                  <a:lnTo>
                    <a:pt x="571688" y="3954591"/>
                  </a:lnTo>
                  <a:lnTo>
                    <a:pt x="586928" y="4000311"/>
                  </a:lnTo>
                  <a:lnTo>
                    <a:pt x="640268" y="3969831"/>
                  </a:lnTo>
                  <a:lnTo>
                    <a:pt x="533397" y="4114801"/>
                  </a:lnTo>
                  <a:close/>
                  <a:moveTo>
                    <a:pt x="342897" y="3048001"/>
                  </a:moveTo>
                  <a:cubicBezTo>
                    <a:pt x="342897" y="3022751"/>
                    <a:pt x="428187" y="3002281"/>
                    <a:pt x="533397" y="3002281"/>
                  </a:cubicBezTo>
                  <a:cubicBezTo>
                    <a:pt x="638608" y="3002281"/>
                    <a:pt x="723897" y="3022751"/>
                    <a:pt x="723897" y="3048001"/>
                  </a:cubicBezTo>
                  <a:cubicBezTo>
                    <a:pt x="723897" y="3073252"/>
                    <a:pt x="638608" y="3093721"/>
                    <a:pt x="533397" y="3093721"/>
                  </a:cubicBezTo>
                  <a:cubicBezTo>
                    <a:pt x="428187" y="3093721"/>
                    <a:pt x="342897" y="3073252"/>
                    <a:pt x="342897" y="3048001"/>
                  </a:cubicBezTo>
                  <a:close/>
                  <a:moveTo>
                    <a:pt x="342897" y="2362201"/>
                  </a:moveTo>
                  <a:cubicBezTo>
                    <a:pt x="342897" y="2336951"/>
                    <a:pt x="428187" y="2316481"/>
                    <a:pt x="533397" y="2316481"/>
                  </a:cubicBezTo>
                  <a:cubicBezTo>
                    <a:pt x="638608" y="2316481"/>
                    <a:pt x="723897" y="2336951"/>
                    <a:pt x="723897" y="2362201"/>
                  </a:cubicBezTo>
                  <a:cubicBezTo>
                    <a:pt x="723897" y="2387452"/>
                    <a:pt x="638608" y="2407921"/>
                    <a:pt x="533397" y="2407921"/>
                  </a:cubicBezTo>
                  <a:cubicBezTo>
                    <a:pt x="428187" y="2407921"/>
                    <a:pt x="342897" y="2387452"/>
                    <a:pt x="342897" y="2362201"/>
                  </a:cubicBezTo>
                  <a:close/>
                  <a:moveTo>
                    <a:pt x="342897" y="1676401"/>
                  </a:moveTo>
                  <a:cubicBezTo>
                    <a:pt x="342897" y="1651151"/>
                    <a:pt x="428187" y="1630681"/>
                    <a:pt x="533397" y="1630681"/>
                  </a:cubicBezTo>
                  <a:cubicBezTo>
                    <a:pt x="638608" y="1630681"/>
                    <a:pt x="723897" y="1651151"/>
                    <a:pt x="723897" y="1676401"/>
                  </a:cubicBezTo>
                  <a:cubicBezTo>
                    <a:pt x="723897" y="1701652"/>
                    <a:pt x="638608" y="1722121"/>
                    <a:pt x="533397" y="1722121"/>
                  </a:cubicBezTo>
                  <a:cubicBezTo>
                    <a:pt x="428187" y="1722121"/>
                    <a:pt x="342897" y="1701652"/>
                    <a:pt x="342897" y="1676401"/>
                  </a:cubicBezTo>
                  <a:close/>
                  <a:moveTo>
                    <a:pt x="342897" y="990601"/>
                  </a:moveTo>
                  <a:cubicBezTo>
                    <a:pt x="342897" y="965351"/>
                    <a:pt x="428187" y="944881"/>
                    <a:pt x="533397" y="944881"/>
                  </a:cubicBezTo>
                  <a:cubicBezTo>
                    <a:pt x="638608" y="944881"/>
                    <a:pt x="723897" y="965351"/>
                    <a:pt x="723897" y="990601"/>
                  </a:cubicBezTo>
                  <a:cubicBezTo>
                    <a:pt x="723897" y="1015852"/>
                    <a:pt x="638608" y="1036321"/>
                    <a:pt x="533397" y="1036321"/>
                  </a:cubicBezTo>
                  <a:cubicBezTo>
                    <a:pt x="428187" y="1036321"/>
                    <a:pt x="342897" y="1015852"/>
                    <a:pt x="342897" y="990601"/>
                  </a:cubicBezTo>
                  <a:close/>
                  <a:moveTo>
                    <a:pt x="0" y="228600"/>
                  </a:moveTo>
                  <a:lnTo>
                    <a:pt x="266700" y="342900"/>
                  </a:lnTo>
                  <a:lnTo>
                    <a:pt x="800100" y="342900"/>
                  </a:lnTo>
                  <a:lnTo>
                    <a:pt x="1066800" y="228600"/>
                  </a:lnTo>
                  <a:lnTo>
                    <a:pt x="1066800" y="304800"/>
                  </a:lnTo>
                  <a:lnTo>
                    <a:pt x="800100" y="419100"/>
                  </a:lnTo>
                  <a:lnTo>
                    <a:pt x="266700" y="419100"/>
                  </a:lnTo>
                  <a:lnTo>
                    <a:pt x="0" y="304800"/>
                  </a:lnTo>
                  <a:close/>
                  <a:moveTo>
                    <a:pt x="0" y="152400"/>
                  </a:moveTo>
                  <a:lnTo>
                    <a:pt x="266700" y="266700"/>
                  </a:lnTo>
                  <a:lnTo>
                    <a:pt x="800100" y="266700"/>
                  </a:lnTo>
                  <a:lnTo>
                    <a:pt x="1066800" y="152400"/>
                  </a:lnTo>
                  <a:lnTo>
                    <a:pt x="1066800" y="228600"/>
                  </a:lnTo>
                  <a:lnTo>
                    <a:pt x="800100" y="342900"/>
                  </a:lnTo>
                  <a:lnTo>
                    <a:pt x="266700" y="342900"/>
                  </a:lnTo>
                  <a:lnTo>
                    <a:pt x="0" y="228600"/>
                  </a:lnTo>
                  <a:close/>
                  <a:moveTo>
                    <a:pt x="0" y="0"/>
                  </a:moveTo>
                  <a:lnTo>
                    <a:pt x="266700" y="114300"/>
                  </a:lnTo>
                  <a:lnTo>
                    <a:pt x="800100" y="114300"/>
                  </a:lnTo>
                  <a:lnTo>
                    <a:pt x="1066800" y="0"/>
                  </a:lnTo>
                  <a:lnTo>
                    <a:pt x="1066800" y="152400"/>
                  </a:lnTo>
                  <a:lnTo>
                    <a:pt x="800100" y="266700"/>
                  </a:lnTo>
                  <a:lnTo>
                    <a:pt x="266700" y="266700"/>
                  </a:lnTo>
                  <a:lnTo>
                    <a:pt x="0" y="152400"/>
                  </a:lnTo>
                  <a:close/>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grpSp>
      <p:grpSp>
        <p:nvGrpSpPr>
          <p:cNvPr id="10" name="Group 9"/>
          <p:cNvGrpSpPr/>
          <p:nvPr/>
        </p:nvGrpSpPr>
        <p:grpSpPr>
          <a:xfrm>
            <a:off x="6571737" y="4731338"/>
            <a:ext cx="266702" cy="457200"/>
            <a:chOff x="3810000" y="4343400"/>
            <a:chExt cx="266700" cy="457200"/>
          </a:xfrm>
        </p:grpSpPr>
        <p:sp>
          <p:nvSpPr>
            <p:cNvPr id="11" name="Rounded Rectangle 7"/>
            <p:cNvSpPr/>
            <p:nvPr/>
          </p:nvSpPr>
          <p:spPr>
            <a:xfrm>
              <a:off x="3810000" y="4343400"/>
              <a:ext cx="266700" cy="457200"/>
            </a:xfrm>
            <a:custGeom>
              <a:avLst/>
              <a:gdLst/>
              <a:ahLst/>
              <a:cxnLst/>
              <a:rect l="0" t="0" r="0" b="0"/>
              <a:pathLst>
                <a:path w="266700" h="457200">
                  <a:moveTo>
                    <a:pt x="0" y="114300"/>
                  </a:moveTo>
                  <a:lnTo>
                    <a:pt x="266700" y="0"/>
                  </a:lnTo>
                  <a:lnTo>
                    <a:pt x="266700" y="342900"/>
                  </a:lnTo>
                  <a:lnTo>
                    <a:pt x="0" y="457200"/>
                  </a:lnTo>
                  <a:close/>
                </a:path>
              </a:pathLst>
            </a:custGeom>
            <a:solidFill>
              <a:srgbClr val="95BD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sp>
          <p:nvSpPr>
            <p:cNvPr id="12" name="Rounded Rectangle 8"/>
            <p:cNvSpPr/>
            <p:nvPr/>
          </p:nvSpPr>
          <p:spPr>
            <a:xfrm>
              <a:off x="3810000" y="4343400"/>
              <a:ext cx="266700" cy="457200"/>
            </a:xfrm>
            <a:custGeom>
              <a:avLst/>
              <a:gdLst/>
              <a:ahLst/>
              <a:cxnLst/>
              <a:rect l="0" t="0" r="0" b="0"/>
              <a:pathLst>
                <a:path w="266700" h="457200">
                  <a:moveTo>
                    <a:pt x="0" y="114300"/>
                  </a:moveTo>
                  <a:lnTo>
                    <a:pt x="266700" y="0"/>
                  </a:lnTo>
                  <a:lnTo>
                    <a:pt x="266700" y="342900"/>
                  </a:lnTo>
                  <a:lnTo>
                    <a:pt x="0" y="457200"/>
                  </a:lnTo>
                  <a:close/>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grpSp>
      <p:grpSp>
        <p:nvGrpSpPr>
          <p:cNvPr id="13" name="Group 12"/>
          <p:cNvGrpSpPr/>
          <p:nvPr/>
        </p:nvGrpSpPr>
        <p:grpSpPr>
          <a:xfrm>
            <a:off x="6038337" y="4845638"/>
            <a:ext cx="533404" cy="342900"/>
            <a:chOff x="3276600" y="4457700"/>
            <a:chExt cx="533400" cy="342900"/>
          </a:xfrm>
        </p:grpSpPr>
        <p:sp>
          <p:nvSpPr>
            <p:cNvPr id="14" name="Rounded Rectangle 10"/>
            <p:cNvSpPr/>
            <p:nvPr/>
          </p:nvSpPr>
          <p:spPr>
            <a:xfrm>
              <a:off x="3276600" y="4457700"/>
              <a:ext cx="533400" cy="342900"/>
            </a:xfrm>
            <a:custGeom>
              <a:avLst/>
              <a:gdLst/>
              <a:ahLst/>
              <a:cxnLst/>
              <a:rect l="0" t="0" r="0" b="0"/>
              <a:pathLst>
                <a:path w="533400" h="342900">
                  <a:moveTo>
                    <a:pt x="533400" y="342900"/>
                  </a:moveTo>
                  <a:lnTo>
                    <a:pt x="0" y="342900"/>
                  </a:lnTo>
                  <a:lnTo>
                    <a:pt x="0" y="0"/>
                  </a:lnTo>
                  <a:lnTo>
                    <a:pt x="533400" y="0"/>
                  </a:lnTo>
                  <a:close/>
                </a:path>
              </a:pathLst>
            </a:custGeom>
            <a:solidFill>
              <a:srgbClr val="95BD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sp>
          <p:nvSpPr>
            <p:cNvPr id="15" name="Rounded Rectangle 11"/>
            <p:cNvSpPr/>
            <p:nvPr/>
          </p:nvSpPr>
          <p:spPr>
            <a:xfrm>
              <a:off x="3276600" y="4457700"/>
              <a:ext cx="533400" cy="342900"/>
            </a:xfrm>
            <a:custGeom>
              <a:avLst/>
              <a:gdLst/>
              <a:ahLst/>
              <a:cxnLst/>
              <a:rect l="0" t="0" r="0" b="0"/>
              <a:pathLst>
                <a:path w="533400" h="342900">
                  <a:moveTo>
                    <a:pt x="533400" y="342900"/>
                  </a:moveTo>
                  <a:lnTo>
                    <a:pt x="0" y="342900"/>
                  </a:lnTo>
                  <a:lnTo>
                    <a:pt x="0" y="0"/>
                  </a:lnTo>
                  <a:lnTo>
                    <a:pt x="533400" y="0"/>
                  </a:lnTo>
                  <a:close/>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grpSp>
      <p:grpSp>
        <p:nvGrpSpPr>
          <p:cNvPr id="16" name="Group 15"/>
          <p:cNvGrpSpPr/>
          <p:nvPr/>
        </p:nvGrpSpPr>
        <p:grpSpPr>
          <a:xfrm>
            <a:off x="5771637" y="4731338"/>
            <a:ext cx="266702" cy="457200"/>
            <a:chOff x="3009900" y="4343400"/>
            <a:chExt cx="266700" cy="457200"/>
          </a:xfrm>
        </p:grpSpPr>
        <p:sp>
          <p:nvSpPr>
            <p:cNvPr id="17" name="Rounded Rectangle 13"/>
            <p:cNvSpPr/>
            <p:nvPr/>
          </p:nvSpPr>
          <p:spPr>
            <a:xfrm>
              <a:off x="3009900" y="4343400"/>
              <a:ext cx="266700" cy="457200"/>
            </a:xfrm>
            <a:custGeom>
              <a:avLst/>
              <a:gdLst/>
              <a:ahLst/>
              <a:cxnLst/>
              <a:rect l="0" t="0" r="0" b="0"/>
              <a:pathLst>
                <a:path w="266700" h="457200">
                  <a:moveTo>
                    <a:pt x="266700" y="457200"/>
                  </a:moveTo>
                  <a:lnTo>
                    <a:pt x="0" y="342900"/>
                  </a:lnTo>
                  <a:lnTo>
                    <a:pt x="0" y="0"/>
                  </a:lnTo>
                  <a:lnTo>
                    <a:pt x="266700" y="114300"/>
                  </a:lnTo>
                  <a:close/>
                </a:path>
              </a:pathLst>
            </a:custGeom>
            <a:solidFill>
              <a:srgbClr val="95BD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sp>
          <p:nvSpPr>
            <p:cNvPr id="18" name="Rounded Rectangle 14"/>
            <p:cNvSpPr/>
            <p:nvPr/>
          </p:nvSpPr>
          <p:spPr>
            <a:xfrm>
              <a:off x="3009900" y="4343400"/>
              <a:ext cx="266700" cy="457200"/>
            </a:xfrm>
            <a:custGeom>
              <a:avLst/>
              <a:gdLst/>
              <a:ahLst/>
              <a:cxnLst/>
              <a:rect l="0" t="0" r="0" b="0"/>
              <a:pathLst>
                <a:path w="266700" h="457200">
                  <a:moveTo>
                    <a:pt x="266700" y="457200"/>
                  </a:moveTo>
                  <a:lnTo>
                    <a:pt x="0" y="342900"/>
                  </a:lnTo>
                  <a:lnTo>
                    <a:pt x="0" y="0"/>
                  </a:lnTo>
                  <a:lnTo>
                    <a:pt x="266700" y="114300"/>
                  </a:lnTo>
                  <a:close/>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grpSp>
      <p:grpSp>
        <p:nvGrpSpPr>
          <p:cNvPr id="19" name="Group 18"/>
          <p:cNvGrpSpPr/>
          <p:nvPr/>
        </p:nvGrpSpPr>
        <p:grpSpPr>
          <a:xfrm>
            <a:off x="6571737" y="4045538"/>
            <a:ext cx="266702" cy="457200"/>
            <a:chOff x="3810000" y="3657600"/>
            <a:chExt cx="266700" cy="457200"/>
          </a:xfrm>
        </p:grpSpPr>
        <p:sp>
          <p:nvSpPr>
            <p:cNvPr id="20" name="Rounded Rectangle 16"/>
            <p:cNvSpPr/>
            <p:nvPr/>
          </p:nvSpPr>
          <p:spPr>
            <a:xfrm>
              <a:off x="3810000" y="3657600"/>
              <a:ext cx="266700" cy="457200"/>
            </a:xfrm>
            <a:custGeom>
              <a:avLst/>
              <a:gdLst/>
              <a:ahLst/>
              <a:cxnLst/>
              <a:rect l="0" t="0" r="0" b="0"/>
              <a:pathLst>
                <a:path w="266700" h="457200">
                  <a:moveTo>
                    <a:pt x="0" y="114300"/>
                  </a:moveTo>
                  <a:lnTo>
                    <a:pt x="266700" y="0"/>
                  </a:lnTo>
                  <a:lnTo>
                    <a:pt x="266700" y="342900"/>
                  </a:lnTo>
                  <a:lnTo>
                    <a:pt x="0" y="457200"/>
                  </a:lnTo>
                  <a:close/>
                </a:path>
              </a:pathLst>
            </a:custGeom>
            <a:solidFill>
              <a:srgbClr val="5D9B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sp>
          <p:nvSpPr>
            <p:cNvPr id="21" name="Rounded Rectangle 17"/>
            <p:cNvSpPr/>
            <p:nvPr/>
          </p:nvSpPr>
          <p:spPr>
            <a:xfrm>
              <a:off x="3810000" y="3657600"/>
              <a:ext cx="266700" cy="457200"/>
            </a:xfrm>
            <a:custGeom>
              <a:avLst/>
              <a:gdLst/>
              <a:ahLst/>
              <a:cxnLst/>
              <a:rect l="0" t="0" r="0" b="0"/>
              <a:pathLst>
                <a:path w="266700" h="457200">
                  <a:moveTo>
                    <a:pt x="0" y="114300"/>
                  </a:moveTo>
                  <a:lnTo>
                    <a:pt x="266700" y="0"/>
                  </a:lnTo>
                  <a:lnTo>
                    <a:pt x="266700" y="342900"/>
                  </a:lnTo>
                  <a:lnTo>
                    <a:pt x="0" y="457200"/>
                  </a:lnTo>
                  <a:close/>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grpSp>
      <p:grpSp>
        <p:nvGrpSpPr>
          <p:cNvPr id="22" name="Group 21"/>
          <p:cNvGrpSpPr/>
          <p:nvPr/>
        </p:nvGrpSpPr>
        <p:grpSpPr>
          <a:xfrm>
            <a:off x="6038337" y="4159838"/>
            <a:ext cx="533404" cy="342900"/>
            <a:chOff x="3276600" y="3771900"/>
            <a:chExt cx="533400" cy="342900"/>
          </a:xfrm>
        </p:grpSpPr>
        <p:sp>
          <p:nvSpPr>
            <p:cNvPr id="23" name="Rounded Rectangle 19"/>
            <p:cNvSpPr/>
            <p:nvPr/>
          </p:nvSpPr>
          <p:spPr>
            <a:xfrm>
              <a:off x="3276600" y="3771900"/>
              <a:ext cx="533400" cy="342900"/>
            </a:xfrm>
            <a:custGeom>
              <a:avLst/>
              <a:gdLst/>
              <a:ahLst/>
              <a:cxnLst/>
              <a:rect l="0" t="0" r="0" b="0"/>
              <a:pathLst>
                <a:path w="533400" h="342900">
                  <a:moveTo>
                    <a:pt x="533400" y="342900"/>
                  </a:moveTo>
                  <a:lnTo>
                    <a:pt x="0" y="342900"/>
                  </a:lnTo>
                  <a:lnTo>
                    <a:pt x="0" y="0"/>
                  </a:lnTo>
                  <a:lnTo>
                    <a:pt x="533400" y="0"/>
                  </a:lnTo>
                  <a:close/>
                </a:path>
              </a:pathLst>
            </a:custGeom>
            <a:solidFill>
              <a:srgbClr val="5D9B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sp>
          <p:nvSpPr>
            <p:cNvPr id="24" name="Rounded Rectangle 20"/>
            <p:cNvSpPr/>
            <p:nvPr/>
          </p:nvSpPr>
          <p:spPr>
            <a:xfrm>
              <a:off x="3276600" y="3771900"/>
              <a:ext cx="533400" cy="342900"/>
            </a:xfrm>
            <a:custGeom>
              <a:avLst/>
              <a:gdLst/>
              <a:ahLst/>
              <a:cxnLst/>
              <a:rect l="0" t="0" r="0" b="0"/>
              <a:pathLst>
                <a:path w="533400" h="342900">
                  <a:moveTo>
                    <a:pt x="533400" y="342900"/>
                  </a:moveTo>
                  <a:lnTo>
                    <a:pt x="0" y="342900"/>
                  </a:lnTo>
                  <a:lnTo>
                    <a:pt x="0" y="0"/>
                  </a:lnTo>
                  <a:lnTo>
                    <a:pt x="533400" y="0"/>
                  </a:lnTo>
                  <a:close/>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grpSp>
      <p:grpSp>
        <p:nvGrpSpPr>
          <p:cNvPr id="25" name="Group 24"/>
          <p:cNvGrpSpPr/>
          <p:nvPr/>
        </p:nvGrpSpPr>
        <p:grpSpPr>
          <a:xfrm>
            <a:off x="5771637" y="4045538"/>
            <a:ext cx="266702" cy="457200"/>
            <a:chOff x="3009900" y="3657600"/>
            <a:chExt cx="266700" cy="457200"/>
          </a:xfrm>
        </p:grpSpPr>
        <p:sp>
          <p:nvSpPr>
            <p:cNvPr id="26" name="Rounded Rectangle 22"/>
            <p:cNvSpPr/>
            <p:nvPr/>
          </p:nvSpPr>
          <p:spPr>
            <a:xfrm>
              <a:off x="3009900" y="3657600"/>
              <a:ext cx="266700" cy="457200"/>
            </a:xfrm>
            <a:custGeom>
              <a:avLst/>
              <a:gdLst/>
              <a:ahLst/>
              <a:cxnLst/>
              <a:rect l="0" t="0" r="0" b="0"/>
              <a:pathLst>
                <a:path w="266700" h="457200">
                  <a:moveTo>
                    <a:pt x="266700" y="457200"/>
                  </a:moveTo>
                  <a:lnTo>
                    <a:pt x="0" y="342900"/>
                  </a:lnTo>
                  <a:lnTo>
                    <a:pt x="0" y="0"/>
                  </a:lnTo>
                  <a:lnTo>
                    <a:pt x="266700" y="114300"/>
                  </a:lnTo>
                  <a:close/>
                </a:path>
              </a:pathLst>
            </a:custGeom>
            <a:solidFill>
              <a:srgbClr val="5D9B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sp>
          <p:nvSpPr>
            <p:cNvPr id="27" name="Rounded Rectangle 23"/>
            <p:cNvSpPr/>
            <p:nvPr/>
          </p:nvSpPr>
          <p:spPr>
            <a:xfrm>
              <a:off x="3009900" y="3657600"/>
              <a:ext cx="266700" cy="457200"/>
            </a:xfrm>
            <a:custGeom>
              <a:avLst/>
              <a:gdLst/>
              <a:ahLst/>
              <a:cxnLst/>
              <a:rect l="0" t="0" r="0" b="0"/>
              <a:pathLst>
                <a:path w="266700" h="457200">
                  <a:moveTo>
                    <a:pt x="266700" y="457200"/>
                  </a:moveTo>
                  <a:lnTo>
                    <a:pt x="0" y="342900"/>
                  </a:lnTo>
                  <a:lnTo>
                    <a:pt x="0" y="0"/>
                  </a:lnTo>
                  <a:lnTo>
                    <a:pt x="266700" y="114300"/>
                  </a:lnTo>
                  <a:close/>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grpSp>
      <p:grpSp>
        <p:nvGrpSpPr>
          <p:cNvPr id="28" name="Group 27"/>
          <p:cNvGrpSpPr/>
          <p:nvPr/>
        </p:nvGrpSpPr>
        <p:grpSpPr>
          <a:xfrm>
            <a:off x="6571737" y="3359738"/>
            <a:ext cx="266702" cy="457200"/>
            <a:chOff x="3810000" y="2971800"/>
            <a:chExt cx="266700" cy="457200"/>
          </a:xfrm>
        </p:grpSpPr>
        <p:sp>
          <p:nvSpPr>
            <p:cNvPr id="29" name="Rounded Rectangle 25"/>
            <p:cNvSpPr/>
            <p:nvPr/>
          </p:nvSpPr>
          <p:spPr>
            <a:xfrm>
              <a:off x="3810000" y="2971800"/>
              <a:ext cx="266700" cy="457200"/>
            </a:xfrm>
            <a:custGeom>
              <a:avLst/>
              <a:gdLst/>
              <a:ahLst/>
              <a:cxnLst/>
              <a:rect l="0" t="0" r="0" b="0"/>
              <a:pathLst>
                <a:path w="266700" h="457200">
                  <a:moveTo>
                    <a:pt x="0" y="114300"/>
                  </a:moveTo>
                  <a:lnTo>
                    <a:pt x="266700" y="0"/>
                  </a:lnTo>
                  <a:lnTo>
                    <a:pt x="266700" y="342900"/>
                  </a:lnTo>
                  <a:lnTo>
                    <a:pt x="0" y="457200"/>
                  </a:lnTo>
                  <a:close/>
                </a:path>
              </a:pathLst>
            </a:custGeom>
            <a:solidFill>
              <a:srgbClr val="4E8CF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sp>
          <p:nvSpPr>
            <p:cNvPr id="30" name="Rounded Rectangle 26"/>
            <p:cNvSpPr/>
            <p:nvPr/>
          </p:nvSpPr>
          <p:spPr>
            <a:xfrm>
              <a:off x="3810000" y="2971800"/>
              <a:ext cx="266700" cy="457200"/>
            </a:xfrm>
            <a:custGeom>
              <a:avLst/>
              <a:gdLst/>
              <a:ahLst/>
              <a:cxnLst/>
              <a:rect l="0" t="0" r="0" b="0"/>
              <a:pathLst>
                <a:path w="266700" h="457200">
                  <a:moveTo>
                    <a:pt x="0" y="114300"/>
                  </a:moveTo>
                  <a:lnTo>
                    <a:pt x="266700" y="0"/>
                  </a:lnTo>
                  <a:lnTo>
                    <a:pt x="266700" y="342900"/>
                  </a:lnTo>
                  <a:lnTo>
                    <a:pt x="0" y="457200"/>
                  </a:lnTo>
                  <a:close/>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grpSp>
      <p:grpSp>
        <p:nvGrpSpPr>
          <p:cNvPr id="31" name="Group 30"/>
          <p:cNvGrpSpPr/>
          <p:nvPr/>
        </p:nvGrpSpPr>
        <p:grpSpPr>
          <a:xfrm>
            <a:off x="6038337" y="3474038"/>
            <a:ext cx="533404" cy="342900"/>
            <a:chOff x="3276600" y="3086100"/>
            <a:chExt cx="533400" cy="342900"/>
          </a:xfrm>
        </p:grpSpPr>
        <p:sp>
          <p:nvSpPr>
            <p:cNvPr id="32" name="Rounded Rectangle 28"/>
            <p:cNvSpPr/>
            <p:nvPr/>
          </p:nvSpPr>
          <p:spPr>
            <a:xfrm>
              <a:off x="3276600" y="3086100"/>
              <a:ext cx="533400" cy="342900"/>
            </a:xfrm>
            <a:custGeom>
              <a:avLst/>
              <a:gdLst/>
              <a:ahLst/>
              <a:cxnLst/>
              <a:rect l="0" t="0" r="0" b="0"/>
              <a:pathLst>
                <a:path w="533400" h="342900">
                  <a:moveTo>
                    <a:pt x="533400" y="342900"/>
                  </a:moveTo>
                  <a:lnTo>
                    <a:pt x="0" y="342900"/>
                  </a:lnTo>
                  <a:lnTo>
                    <a:pt x="0" y="0"/>
                  </a:lnTo>
                  <a:lnTo>
                    <a:pt x="533400" y="0"/>
                  </a:lnTo>
                  <a:close/>
                </a:path>
              </a:pathLst>
            </a:custGeom>
            <a:solidFill>
              <a:srgbClr val="4E8CF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sp>
          <p:nvSpPr>
            <p:cNvPr id="33" name="Rounded Rectangle 29"/>
            <p:cNvSpPr/>
            <p:nvPr/>
          </p:nvSpPr>
          <p:spPr>
            <a:xfrm>
              <a:off x="3276600" y="3086100"/>
              <a:ext cx="533400" cy="342900"/>
            </a:xfrm>
            <a:custGeom>
              <a:avLst/>
              <a:gdLst/>
              <a:ahLst/>
              <a:cxnLst/>
              <a:rect l="0" t="0" r="0" b="0"/>
              <a:pathLst>
                <a:path w="533400" h="342900">
                  <a:moveTo>
                    <a:pt x="533400" y="342900"/>
                  </a:moveTo>
                  <a:lnTo>
                    <a:pt x="0" y="342900"/>
                  </a:lnTo>
                  <a:lnTo>
                    <a:pt x="0" y="0"/>
                  </a:lnTo>
                  <a:lnTo>
                    <a:pt x="533400" y="0"/>
                  </a:lnTo>
                  <a:close/>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grpSp>
      <p:grpSp>
        <p:nvGrpSpPr>
          <p:cNvPr id="34" name="Group 33"/>
          <p:cNvGrpSpPr/>
          <p:nvPr/>
        </p:nvGrpSpPr>
        <p:grpSpPr>
          <a:xfrm>
            <a:off x="5771637" y="3359738"/>
            <a:ext cx="266702" cy="457200"/>
            <a:chOff x="3009900" y="2971800"/>
            <a:chExt cx="266700" cy="457200"/>
          </a:xfrm>
        </p:grpSpPr>
        <p:sp>
          <p:nvSpPr>
            <p:cNvPr id="35" name="Rounded Rectangle 31"/>
            <p:cNvSpPr/>
            <p:nvPr/>
          </p:nvSpPr>
          <p:spPr>
            <a:xfrm>
              <a:off x="3009900" y="2971800"/>
              <a:ext cx="266700" cy="457200"/>
            </a:xfrm>
            <a:custGeom>
              <a:avLst/>
              <a:gdLst/>
              <a:ahLst/>
              <a:cxnLst/>
              <a:rect l="0" t="0" r="0" b="0"/>
              <a:pathLst>
                <a:path w="266700" h="457200">
                  <a:moveTo>
                    <a:pt x="266700" y="457200"/>
                  </a:moveTo>
                  <a:lnTo>
                    <a:pt x="0" y="342900"/>
                  </a:lnTo>
                  <a:lnTo>
                    <a:pt x="0" y="0"/>
                  </a:lnTo>
                  <a:lnTo>
                    <a:pt x="266700" y="114300"/>
                  </a:lnTo>
                  <a:close/>
                </a:path>
              </a:pathLst>
            </a:custGeom>
            <a:solidFill>
              <a:srgbClr val="4E8CF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sp>
          <p:nvSpPr>
            <p:cNvPr id="36" name="Rounded Rectangle 32"/>
            <p:cNvSpPr/>
            <p:nvPr/>
          </p:nvSpPr>
          <p:spPr>
            <a:xfrm>
              <a:off x="3009900" y="2971800"/>
              <a:ext cx="266700" cy="457200"/>
            </a:xfrm>
            <a:custGeom>
              <a:avLst/>
              <a:gdLst/>
              <a:ahLst/>
              <a:cxnLst/>
              <a:rect l="0" t="0" r="0" b="0"/>
              <a:pathLst>
                <a:path w="266700" h="457200">
                  <a:moveTo>
                    <a:pt x="266700" y="457200"/>
                  </a:moveTo>
                  <a:lnTo>
                    <a:pt x="0" y="342900"/>
                  </a:lnTo>
                  <a:lnTo>
                    <a:pt x="0" y="0"/>
                  </a:lnTo>
                  <a:lnTo>
                    <a:pt x="266700" y="114300"/>
                  </a:lnTo>
                  <a:close/>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grpSp>
      <p:grpSp>
        <p:nvGrpSpPr>
          <p:cNvPr id="37" name="Group 36"/>
          <p:cNvGrpSpPr/>
          <p:nvPr/>
        </p:nvGrpSpPr>
        <p:grpSpPr>
          <a:xfrm>
            <a:off x="6571737" y="2673938"/>
            <a:ext cx="266702" cy="457200"/>
            <a:chOff x="3810000" y="2286000"/>
            <a:chExt cx="266700" cy="457200"/>
          </a:xfrm>
        </p:grpSpPr>
        <p:sp>
          <p:nvSpPr>
            <p:cNvPr id="38" name="Rounded Rectangle 34"/>
            <p:cNvSpPr/>
            <p:nvPr/>
          </p:nvSpPr>
          <p:spPr>
            <a:xfrm>
              <a:off x="3810000" y="2286000"/>
              <a:ext cx="266700" cy="457200"/>
            </a:xfrm>
            <a:custGeom>
              <a:avLst/>
              <a:gdLst/>
              <a:ahLst/>
              <a:cxnLst/>
              <a:rect l="0" t="0" r="0" b="0"/>
              <a:pathLst>
                <a:path w="266700" h="457200">
                  <a:moveTo>
                    <a:pt x="0" y="114300"/>
                  </a:moveTo>
                  <a:lnTo>
                    <a:pt x="266700" y="0"/>
                  </a:lnTo>
                  <a:lnTo>
                    <a:pt x="266700" y="342900"/>
                  </a:lnTo>
                  <a:lnTo>
                    <a:pt x="0" y="457200"/>
                  </a:lnTo>
                  <a:close/>
                </a:path>
              </a:pathLst>
            </a:custGeom>
            <a:solidFill>
              <a:srgbClr val="4F85DC"/>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sp>
          <p:nvSpPr>
            <p:cNvPr id="39" name="Rounded Rectangle 35"/>
            <p:cNvSpPr/>
            <p:nvPr/>
          </p:nvSpPr>
          <p:spPr>
            <a:xfrm>
              <a:off x="3810000" y="2286000"/>
              <a:ext cx="266700" cy="457200"/>
            </a:xfrm>
            <a:custGeom>
              <a:avLst/>
              <a:gdLst/>
              <a:ahLst/>
              <a:cxnLst/>
              <a:rect l="0" t="0" r="0" b="0"/>
              <a:pathLst>
                <a:path w="266700" h="457200">
                  <a:moveTo>
                    <a:pt x="0" y="114300"/>
                  </a:moveTo>
                  <a:lnTo>
                    <a:pt x="266700" y="0"/>
                  </a:lnTo>
                  <a:lnTo>
                    <a:pt x="266700" y="342900"/>
                  </a:lnTo>
                  <a:lnTo>
                    <a:pt x="0" y="457200"/>
                  </a:lnTo>
                  <a:close/>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grpSp>
      <p:grpSp>
        <p:nvGrpSpPr>
          <p:cNvPr id="40" name="Group 39"/>
          <p:cNvGrpSpPr/>
          <p:nvPr/>
        </p:nvGrpSpPr>
        <p:grpSpPr>
          <a:xfrm>
            <a:off x="6038337" y="2788238"/>
            <a:ext cx="533404" cy="342900"/>
            <a:chOff x="3276600" y="2400300"/>
            <a:chExt cx="533400" cy="342900"/>
          </a:xfrm>
        </p:grpSpPr>
        <p:sp>
          <p:nvSpPr>
            <p:cNvPr id="41" name="Rounded Rectangle 37"/>
            <p:cNvSpPr/>
            <p:nvPr/>
          </p:nvSpPr>
          <p:spPr>
            <a:xfrm>
              <a:off x="3276600" y="2400300"/>
              <a:ext cx="533400" cy="342900"/>
            </a:xfrm>
            <a:custGeom>
              <a:avLst/>
              <a:gdLst/>
              <a:ahLst/>
              <a:cxnLst/>
              <a:rect l="0" t="0" r="0" b="0"/>
              <a:pathLst>
                <a:path w="533400" h="342900">
                  <a:moveTo>
                    <a:pt x="533400" y="342900"/>
                  </a:moveTo>
                  <a:lnTo>
                    <a:pt x="0" y="342900"/>
                  </a:lnTo>
                  <a:lnTo>
                    <a:pt x="0" y="0"/>
                  </a:lnTo>
                  <a:lnTo>
                    <a:pt x="533400" y="0"/>
                  </a:lnTo>
                  <a:close/>
                </a:path>
              </a:pathLst>
            </a:custGeom>
            <a:solidFill>
              <a:srgbClr val="4F85DC"/>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sp>
          <p:nvSpPr>
            <p:cNvPr id="42" name="Rounded Rectangle 38"/>
            <p:cNvSpPr/>
            <p:nvPr/>
          </p:nvSpPr>
          <p:spPr>
            <a:xfrm>
              <a:off x="3276600" y="2400300"/>
              <a:ext cx="533400" cy="342900"/>
            </a:xfrm>
            <a:custGeom>
              <a:avLst/>
              <a:gdLst/>
              <a:ahLst/>
              <a:cxnLst/>
              <a:rect l="0" t="0" r="0" b="0"/>
              <a:pathLst>
                <a:path w="533400" h="342900">
                  <a:moveTo>
                    <a:pt x="533400" y="342900"/>
                  </a:moveTo>
                  <a:lnTo>
                    <a:pt x="0" y="342900"/>
                  </a:lnTo>
                  <a:lnTo>
                    <a:pt x="0" y="0"/>
                  </a:lnTo>
                  <a:lnTo>
                    <a:pt x="533400" y="0"/>
                  </a:lnTo>
                  <a:close/>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grpSp>
      <p:grpSp>
        <p:nvGrpSpPr>
          <p:cNvPr id="43" name="Group 42"/>
          <p:cNvGrpSpPr/>
          <p:nvPr/>
        </p:nvGrpSpPr>
        <p:grpSpPr>
          <a:xfrm>
            <a:off x="5771637" y="2673938"/>
            <a:ext cx="266702" cy="457200"/>
            <a:chOff x="3009900" y="2286000"/>
            <a:chExt cx="266700" cy="457200"/>
          </a:xfrm>
        </p:grpSpPr>
        <p:sp>
          <p:nvSpPr>
            <p:cNvPr id="44" name="Rounded Rectangle 40"/>
            <p:cNvSpPr/>
            <p:nvPr/>
          </p:nvSpPr>
          <p:spPr>
            <a:xfrm>
              <a:off x="3009900" y="2286000"/>
              <a:ext cx="266700" cy="457200"/>
            </a:xfrm>
            <a:custGeom>
              <a:avLst/>
              <a:gdLst/>
              <a:ahLst/>
              <a:cxnLst/>
              <a:rect l="0" t="0" r="0" b="0"/>
              <a:pathLst>
                <a:path w="266700" h="457200">
                  <a:moveTo>
                    <a:pt x="266700" y="457200"/>
                  </a:moveTo>
                  <a:lnTo>
                    <a:pt x="0" y="342900"/>
                  </a:lnTo>
                  <a:lnTo>
                    <a:pt x="0" y="0"/>
                  </a:lnTo>
                  <a:lnTo>
                    <a:pt x="266700" y="114300"/>
                  </a:lnTo>
                  <a:close/>
                </a:path>
              </a:pathLst>
            </a:custGeom>
            <a:solidFill>
              <a:srgbClr val="4F85DC"/>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sp>
          <p:nvSpPr>
            <p:cNvPr id="45" name="Rounded Rectangle 41"/>
            <p:cNvSpPr/>
            <p:nvPr/>
          </p:nvSpPr>
          <p:spPr>
            <a:xfrm>
              <a:off x="3009900" y="2286000"/>
              <a:ext cx="266700" cy="457200"/>
            </a:xfrm>
            <a:custGeom>
              <a:avLst/>
              <a:gdLst/>
              <a:ahLst/>
              <a:cxnLst/>
              <a:rect l="0" t="0" r="0" b="0"/>
              <a:pathLst>
                <a:path w="266700" h="457200">
                  <a:moveTo>
                    <a:pt x="266700" y="457200"/>
                  </a:moveTo>
                  <a:lnTo>
                    <a:pt x="0" y="342900"/>
                  </a:lnTo>
                  <a:lnTo>
                    <a:pt x="0" y="0"/>
                  </a:lnTo>
                  <a:lnTo>
                    <a:pt x="266700" y="114300"/>
                  </a:lnTo>
                  <a:close/>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grpSp>
      <p:grpSp>
        <p:nvGrpSpPr>
          <p:cNvPr id="46" name="Group 45"/>
          <p:cNvGrpSpPr/>
          <p:nvPr/>
        </p:nvGrpSpPr>
        <p:grpSpPr>
          <a:xfrm>
            <a:off x="6571739" y="1988138"/>
            <a:ext cx="266702" cy="457200"/>
            <a:chOff x="3810002" y="1600200"/>
            <a:chExt cx="266700" cy="457200"/>
          </a:xfrm>
        </p:grpSpPr>
        <p:sp>
          <p:nvSpPr>
            <p:cNvPr id="47" name="Rounded Rectangle 43"/>
            <p:cNvSpPr/>
            <p:nvPr/>
          </p:nvSpPr>
          <p:spPr>
            <a:xfrm>
              <a:off x="3810002" y="1600200"/>
              <a:ext cx="266700" cy="457200"/>
            </a:xfrm>
            <a:custGeom>
              <a:avLst/>
              <a:gdLst/>
              <a:ahLst/>
              <a:cxnLst/>
              <a:rect l="0" t="0" r="0" b="0"/>
              <a:pathLst>
                <a:path w="266700" h="457200">
                  <a:moveTo>
                    <a:pt x="0" y="114300"/>
                  </a:moveTo>
                  <a:lnTo>
                    <a:pt x="266700" y="0"/>
                  </a:lnTo>
                  <a:lnTo>
                    <a:pt x="266700" y="342900"/>
                  </a:lnTo>
                  <a:lnTo>
                    <a:pt x="0" y="457200"/>
                  </a:lnTo>
                  <a:close/>
                </a:path>
              </a:pathLst>
            </a:custGeom>
            <a:solidFill>
              <a:srgbClr val="4877C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sp>
          <p:nvSpPr>
            <p:cNvPr id="48" name="Rounded Rectangle 44"/>
            <p:cNvSpPr/>
            <p:nvPr/>
          </p:nvSpPr>
          <p:spPr>
            <a:xfrm>
              <a:off x="3810002" y="1600200"/>
              <a:ext cx="266700" cy="457200"/>
            </a:xfrm>
            <a:custGeom>
              <a:avLst/>
              <a:gdLst/>
              <a:ahLst/>
              <a:cxnLst/>
              <a:rect l="0" t="0" r="0" b="0"/>
              <a:pathLst>
                <a:path w="266700" h="457200">
                  <a:moveTo>
                    <a:pt x="0" y="114300"/>
                  </a:moveTo>
                  <a:lnTo>
                    <a:pt x="266700" y="0"/>
                  </a:lnTo>
                  <a:lnTo>
                    <a:pt x="266700" y="342900"/>
                  </a:lnTo>
                  <a:lnTo>
                    <a:pt x="0" y="457200"/>
                  </a:lnTo>
                  <a:close/>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grpSp>
      <p:grpSp>
        <p:nvGrpSpPr>
          <p:cNvPr id="49" name="Group 48"/>
          <p:cNvGrpSpPr/>
          <p:nvPr/>
        </p:nvGrpSpPr>
        <p:grpSpPr>
          <a:xfrm>
            <a:off x="6038339" y="2102438"/>
            <a:ext cx="533404" cy="342900"/>
            <a:chOff x="3276602" y="1714500"/>
            <a:chExt cx="533400" cy="342900"/>
          </a:xfrm>
        </p:grpSpPr>
        <p:sp>
          <p:nvSpPr>
            <p:cNvPr id="50" name="Rounded Rectangle 46"/>
            <p:cNvSpPr/>
            <p:nvPr/>
          </p:nvSpPr>
          <p:spPr>
            <a:xfrm>
              <a:off x="3276602" y="1714500"/>
              <a:ext cx="533400" cy="342900"/>
            </a:xfrm>
            <a:custGeom>
              <a:avLst/>
              <a:gdLst/>
              <a:ahLst/>
              <a:cxnLst/>
              <a:rect l="0" t="0" r="0" b="0"/>
              <a:pathLst>
                <a:path w="533400" h="342900">
                  <a:moveTo>
                    <a:pt x="533400" y="342900"/>
                  </a:moveTo>
                  <a:lnTo>
                    <a:pt x="0" y="342900"/>
                  </a:lnTo>
                  <a:lnTo>
                    <a:pt x="0" y="0"/>
                  </a:lnTo>
                  <a:lnTo>
                    <a:pt x="533400" y="0"/>
                  </a:lnTo>
                  <a:close/>
                </a:path>
              </a:pathLst>
            </a:custGeom>
            <a:solidFill>
              <a:srgbClr val="4877C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sp>
          <p:nvSpPr>
            <p:cNvPr id="51" name="Rounded Rectangle 47"/>
            <p:cNvSpPr/>
            <p:nvPr/>
          </p:nvSpPr>
          <p:spPr>
            <a:xfrm>
              <a:off x="3276602" y="1714500"/>
              <a:ext cx="533400" cy="342900"/>
            </a:xfrm>
            <a:custGeom>
              <a:avLst/>
              <a:gdLst/>
              <a:ahLst/>
              <a:cxnLst/>
              <a:rect l="0" t="0" r="0" b="0"/>
              <a:pathLst>
                <a:path w="533400" h="342900">
                  <a:moveTo>
                    <a:pt x="533400" y="342900"/>
                  </a:moveTo>
                  <a:lnTo>
                    <a:pt x="0" y="342900"/>
                  </a:lnTo>
                  <a:lnTo>
                    <a:pt x="0" y="0"/>
                  </a:lnTo>
                  <a:lnTo>
                    <a:pt x="533400" y="0"/>
                  </a:lnTo>
                  <a:close/>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grpSp>
      <p:grpSp>
        <p:nvGrpSpPr>
          <p:cNvPr id="52" name="Group 51"/>
          <p:cNvGrpSpPr/>
          <p:nvPr/>
        </p:nvGrpSpPr>
        <p:grpSpPr>
          <a:xfrm>
            <a:off x="5771639" y="1988138"/>
            <a:ext cx="266702" cy="457200"/>
            <a:chOff x="3009902" y="1600200"/>
            <a:chExt cx="266700" cy="457200"/>
          </a:xfrm>
        </p:grpSpPr>
        <p:sp>
          <p:nvSpPr>
            <p:cNvPr id="53" name="Rounded Rectangle 49"/>
            <p:cNvSpPr/>
            <p:nvPr/>
          </p:nvSpPr>
          <p:spPr>
            <a:xfrm>
              <a:off x="3009902" y="1600200"/>
              <a:ext cx="266700" cy="457200"/>
            </a:xfrm>
            <a:custGeom>
              <a:avLst/>
              <a:gdLst/>
              <a:ahLst/>
              <a:cxnLst/>
              <a:rect l="0" t="0" r="0" b="0"/>
              <a:pathLst>
                <a:path w="266700" h="457200">
                  <a:moveTo>
                    <a:pt x="266700" y="457200"/>
                  </a:moveTo>
                  <a:lnTo>
                    <a:pt x="0" y="342900"/>
                  </a:lnTo>
                  <a:lnTo>
                    <a:pt x="0" y="0"/>
                  </a:lnTo>
                  <a:lnTo>
                    <a:pt x="266700" y="114300"/>
                  </a:lnTo>
                  <a:close/>
                </a:path>
              </a:pathLst>
            </a:custGeom>
            <a:solidFill>
              <a:srgbClr val="4877C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sp>
          <p:nvSpPr>
            <p:cNvPr id="54" name="Rounded Rectangle 50"/>
            <p:cNvSpPr/>
            <p:nvPr/>
          </p:nvSpPr>
          <p:spPr>
            <a:xfrm>
              <a:off x="3009902" y="1600200"/>
              <a:ext cx="266700" cy="457200"/>
            </a:xfrm>
            <a:custGeom>
              <a:avLst/>
              <a:gdLst/>
              <a:ahLst/>
              <a:cxnLst/>
              <a:rect l="0" t="0" r="0" b="0"/>
              <a:pathLst>
                <a:path w="266700" h="457200">
                  <a:moveTo>
                    <a:pt x="266700" y="457200"/>
                  </a:moveTo>
                  <a:lnTo>
                    <a:pt x="0" y="342900"/>
                  </a:lnTo>
                  <a:lnTo>
                    <a:pt x="0" y="0"/>
                  </a:lnTo>
                  <a:lnTo>
                    <a:pt x="266700" y="114300"/>
                  </a:lnTo>
                  <a:close/>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grpSp>
      <p:grpSp>
        <p:nvGrpSpPr>
          <p:cNvPr id="55" name="Group 54"/>
          <p:cNvGrpSpPr/>
          <p:nvPr/>
        </p:nvGrpSpPr>
        <p:grpSpPr>
          <a:xfrm>
            <a:off x="5766590" y="1416638"/>
            <a:ext cx="1076904" cy="381000"/>
            <a:chOff x="3004853" y="1028700"/>
            <a:chExt cx="1076896" cy="381000"/>
          </a:xfrm>
        </p:grpSpPr>
        <p:sp>
          <p:nvSpPr>
            <p:cNvPr id="56" name="Rounded Rectangle 52"/>
            <p:cNvSpPr/>
            <p:nvPr/>
          </p:nvSpPr>
          <p:spPr>
            <a:xfrm>
              <a:off x="3004853" y="1028700"/>
              <a:ext cx="1076894" cy="381000"/>
            </a:xfrm>
            <a:custGeom>
              <a:avLst/>
              <a:gdLst/>
              <a:ahLst/>
              <a:cxnLst/>
              <a:rect l="0" t="0" r="0" b="0"/>
              <a:pathLst>
                <a:path w="1076894" h="381000">
                  <a:moveTo>
                    <a:pt x="5048" y="266700"/>
                  </a:moveTo>
                  <a:cubicBezTo>
                    <a:pt x="5048" y="266700"/>
                    <a:pt x="0" y="0"/>
                    <a:pt x="538448" y="0"/>
                  </a:cubicBezTo>
                  <a:cubicBezTo>
                    <a:pt x="1076894" y="0"/>
                    <a:pt x="1071846" y="266700"/>
                    <a:pt x="1071846" y="266700"/>
                  </a:cubicBezTo>
                  <a:lnTo>
                    <a:pt x="805148" y="381000"/>
                  </a:lnTo>
                  <a:lnTo>
                    <a:pt x="271748" y="381000"/>
                  </a:lnTo>
                  <a:close/>
                </a:path>
              </a:pathLst>
            </a:custGeom>
            <a:solidFill>
              <a:srgbClr val="4877C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sp>
          <p:nvSpPr>
            <p:cNvPr id="57" name="Rounded Rectangle 53"/>
            <p:cNvSpPr/>
            <p:nvPr/>
          </p:nvSpPr>
          <p:spPr>
            <a:xfrm>
              <a:off x="3004853" y="1028700"/>
              <a:ext cx="1076896" cy="381000"/>
            </a:xfrm>
            <a:custGeom>
              <a:avLst/>
              <a:gdLst/>
              <a:ahLst/>
              <a:cxnLst/>
              <a:rect l="0" t="0" r="0" b="0"/>
              <a:pathLst>
                <a:path w="1076896" h="381000">
                  <a:moveTo>
                    <a:pt x="5048" y="266700"/>
                  </a:moveTo>
                  <a:cubicBezTo>
                    <a:pt x="5048" y="266700"/>
                    <a:pt x="0" y="0"/>
                    <a:pt x="538448" y="0"/>
                  </a:cubicBezTo>
                  <a:cubicBezTo>
                    <a:pt x="1076896" y="0"/>
                    <a:pt x="1071848" y="266700"/>
                    <a:pt x="1071848" y="266700"/>
                  </a:cubicBezTo>
                  <a:lnTo>
                    <a:pt x="805148" y="381000"/>
                  </a:lnTo>
                  <a:lnTo>
                    <a:pt x="271748" y="381000"/>
                  </a:lnTo>
                  <a:close/>
                </a:path>
              </a:pathLst>
            </a:custGeom>
            <a:noFill/>
            <a:ln w="7143">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grpSp>
      <p:sp>
        <p:nvSpPr>
          <p:cNvPr id="58" name="TextBox 55"/>
          <p:cNvSpPr txBox="1"/>
          <p:nvPr/>
        </p:nvSpPr>
        <p:spPr>
          <a:xfrm>
            <a:off x="3275752" y="3287925"/>
            <a:ext cx="1824217"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b="1" dirty="0">
                <a:latin typeface="+mj-lt"/>
              </a:rPr>
              <a:t>Association Income</a:t>
            </a:r>
          </a:p>
        </p:txBody>
      </p:sp>
      <p:sp>
        <p:nvSpPr>
          <p:cNvPr id="59" name="TextBox 56"/>
          <p:cNvSpPr txBox="1"/>
          <p:nvPr/>
        </p:nvSpPr>
        <p:spPr>
          <a:xfrm>
            <a:off x="7505041" y="2981595"/>
            <a:ext cx="2204130" cy="492443"/>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600" b="0" dirty="0">
                <a:latin typeface="+mj-lt"/>
              </a:rPr>
              <a:t>Payments for contract
termination or modification</a:t>
            </a:r>
          </a:p>
        </p:txBody>
      </p:sp>
      <p:sp>
        <p:nvSpPr>
          <p:cNvPr id="60" name="TextBox 57"/>
          <p:cNvSpPr txBox="1"/>
          <p:nvPr/>
        </p:nvSpPr>
        <p:spPr>
          <a:xfrm>
            <a:off x="7508796" y="2396939"/>
            <a:ext cx="1327286" cy="553998"/>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b="1" dirty="0">
                <a:latin typeface="+mj-lt"/>
              </a:rPr>
              <a:t>Contract
Compensation</a:t>
            </a:r>
          </a:p>
        </p:txBody>
      </p:sp>
      <p:sp>
        <p:nvSpPr>
          <p:cNvPr id="61" name="TextBox 58"/>
          <p:cNvSpPr txBox="1"/>
          <p:nvPr/>
        </p:nvSpPr>
        <p:spPr>
          <a:xfrm>
            <a:off x="3060071" y="3611872"/>
            <a:ext cx="2080698" cy="492443"/>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sz="1600" b="0" dirty="0">
                <a:latin typeface="+mj-lt"/>
              </a:rPr>
              <a:t>Revenue from trade or
professional associations</a:t>
            </a:r>
          </a:p>
        </p:txBody>
      </p:sp>
      <p:sp>
        <p:nvSpPr>
          <p:cNvPr id="62" name="TextBox 59"/>
          <p:cNvSpPr txBox="1"/>
          <p:nvPr/>
        </p:nvSpPr>
        <p:spPr>
          <a:xfrm>
            <a:off x="3026973" y="2368114"/>
            <a:ext cx="2112758" cy="492443"/>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sz="1600" b="0" dirty="0">
                <a:latin typeface="+mj-lt"/>
              </a:rPr>
              <a:t>Earnings from business or
professional activities</a:t>
            </a:r>
          </a:p>
        </p:txBody>
      </p:sp>
      <p:sp>
        <p:nvSpPr>
          <p:cNvPr id="63" name="TextBox 60"/>
          <p:cNvSpPr txBox="1"/>
          <p:nvPr/>
        </p:nvSpPr>
        <p:spPr>
          <a:xfrm>
            <a:off x="7512662" y="4012200"/>
            <a:ext cx="1601400"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b="1" dirty="0">
                <a:latin typeface="+mj-lt"/>
              </a:rPr>
              <a:t>Export Incentives</a:t>
            </a:r>
          </a:p>
        </p:txBody>
      </p:sp>
      <p:sp>
        <p:nvSpPr>
          <p:cNvPr id="64" name="TextBox 61"/>
          <p:cNvSpPr txBox="1"/>
          <p:nvPr/>
        </p:nvSpPr>
        <p:spPr>
          <a:xfrm>
            <a:off x="2970993" y="4419572"/>
            <a:ext cx="2126427" cy="276999"/>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b="1" dirty="0">
                <a:latin typeface="+mj-lt"/>
              </a:rPr>
              <a:t>Government</a:t>
            </a:r>
            <a:r>
              <a:rPr lang="en-US" b="1" dirty="0">
                <a:latin typeface="+mj-lt"/>
              </a:rPr>
              <a:t> </a:t>
            </a:r>
            <a:r>
              <a:rPr b="1" dirty="0">
                <a:latin typeface="+mj-lt"/>
              </a:rPr>
              <a:t>Subsidies</a:t>
            </a:r>
          </a:p>
        </p:txBody>
      </p:sp>
      <p:sp>
        <p:nvSpPr>
          <p:cNvPr id="65" name="TextBox 62"/>
          <p:cNvSpPr txBox="1"/>
          <p:nvPr/>
        </p:nvSpPr>
        <p:spPr>
          <a:xfrm>
            <a:off x="7507223" y="4319605"/>
            <a:ext cx="2322379" cy="492443"/>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600" b="0" dirty="0">
                <a:latin typeface="+mj-lt"/>
              </a:rPr>
              <a:t>Benefits like Duty Drawback</a:t>
            </a:r>
            <a:r>
              <a:rPr lang="en-US" sz="1600" b="0" dirty="0">
                <a:latin typeface="+mj-lt"/>
              </a:rPr>
              <a:t> </a:t>
            </a:r>
            <a:r>
              <a:rPr sz="1600" b="0" dirty="0">
                <a:latin typeface="+mj-lt"/>
              </a:rPr>
              <a:t>for exports</a:t>
            </a:r>
          </a:p>
        </p:txBody>
      </p:sp>
      <p:sp>
        <p:nvSpPr>
          <p:cNvPr id="66" name="TextBox 63"/>
          <p:cNvSpPr txBox="1"/>
          <p:nvPr/>
        </p:nvSpPr>
        <p:spPr>
          <a:xfrm>
            <a:off x="3582184" y="2074095"/>
            <a:ext cx="1522853"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b="1" dirty="0">
                <a:latin typeface="+mj-lt"/>
              </a:rPr>
              <a:t>Business Profits</a:t>
            </a:r>
          </a:p>
        </p:txBody>
      </p:sp>
      <p:sp>
        <p:nvSpPr>
          <p:cNvPr id="67" name="TextBox 64"/>
          <p:cNvSpPr txBox="1"/>
          <p:nvPr/>
        </p:nvSpPr>
        <p:spPr>
          <a:xfrm>
            <a:off x="3495231" y="790765"/>
            <a:ext cx="5394105" cy="369332"/>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400" b="1" dirty="0">
                <a:latin typeface="+mj-lt"/>
                <a:cs typeface="Times New Roman" panose="02020603050405020304" pitchFamily="18" charset="0"/>
              </a:rPr>
              <a:t>Types of Incomes under this Head (Sec. 28)</a:t>
            </a:r>
            <a:endParaRPr sz="2400" b="1" dirty="0">
              <a:latin typeface="+mj-lt"/>
              <a:cs typeface="Times New Roman" panose="02020603050405020304" pitchFamily="18" charset="0"/>
            </a:endParaRPr>
          </a:p>
        </p:txBody>
      </p:sp>
      <p:sp>
        <p:nvSpPr>
          <p:cNvPr id="68" name="TextBox 65"/>
          <p:cNvSpPr txBox="1"/>
          <p:nvPr/>
        </p:nvSpPr>
        <p:spPr>
          <a:xfrm>
            <a:off x="2775293" y="5017088"/>
            <a:ext cx="2428550" cy="492443"/>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sz="1600" b="0" dirty="0">
                <a:latin typeface="+mj-lt"/>
              </a:rPr>
              <a:t>Cash subsidies or grants from
the government</a:t>
            </a:r>
          </a:p>
        </p:txBody>
      </p:sp>
      <p:sp>
        <p:nvSpPr>
          <p:cNvPr id="69" name="Rounded Rectangle 66"/>
          <p:cNvSpPr/>
          <p:nvPr/>
        </p:nvSpPr>
        <p:spPr>
          <a:xfrm>
            <a:off x="5208898" y="3404776"/>
            <a:ext cx="438150" cy="400050"/>
          </a:xfrm>
          <a:custGeom>
            <a:avLst/>
            <a:gdLst/>
            <a:ahLst/>
            <a:cxnLst/>
            <a:rect l="0" t="0" r="0" b="0"/>
            <a:pathLst>
              <a:path w="438150" h="400050">
                <a:moveTo>
                  <a:pt x="66675" y="180975"/>
                </a:moveTo>
                <a:cubicBezTo>
                  <a:pt x="85086" y="180975"/>
                  <a:pt x="100012" y="195900"/>
                  <a:pt x="100012" y="214312"/>
                </a:cubicBezTo>
                <a:cubicBezTo>
                  <a:pt x="100012" y="232724"/>
                  <a:pt x="85086" y="247650"/>
                  <a:pt x="66675" y="247650"/>
                </a:cubicBezTo>
                <a:cubicBezTo>
                  <a:pt x="48263" y="247650"/>
                  <a:pt x="33337" y="232724"/>
                  <a:pt x="33337" y="214312"/>
                </a:cubicBezTo>
                <a:cubicBezTo>
                  <a:pt x="33337" y="195900"/>
                  <a:pt x="48263" y="180975"/>
                  <a:pt x="66675" y="180975"/>
                </a:cubicBezTo>
                <a:close/>
                <a:moveTo>
                  <a:pt x="0" y="314325"/>
                </a:moveTo>
                <a:cubicBezTo>
                  <a:pt x="6884" y="287167"/>
                  <a:pt x="29595" y="266927"/>
                  <a:pt x="57364" y="263204"/>
                </a:cubicBezTo>
                <a:cubicBezTo>
                  <a:pt x="85132" y="259481"/>
                  <a:pt x="112373" y="273023"/>
                  <a:pt x="126168" y="297408"/>
                </a:cubicBezTo>
                <a:moveTo>
                  <a:pt x="371475" y="180975"/>
                </a:moveTo>
                <a:cubicBezTo>
                  <a:pt x="389886" y="180975"/>
                  <a:pt x="404812" y="195900"/>
                  <a:pt x="404812" y="214312"/>
                </a:cubicBezTo>
                <a:cubicBezTo>
                  <a:pt x="404812" y="232724"/>
                  <a:pt x="389886" y="247650"/>
                  <a:pt x="371475" y="247650"/>
                </a:cubicBezTo>
                <a:cubicBezTo>
                  <a:pt x="353063" y="247650"/>
                  <a:pt x="338137" y="232724"/>
                  <a:pt x="338137" y="214312"/>
                </a:cubicBezTo>
                <a:cubicBezTo>
                  <a:pt x="338137" y="195900"/>
                  <a:pt x="353063" y="180975"/>
                  <a:pt x="371475" y="180975"/>
                </a:cubicBezTo>
                <a:close/>
                <a:moveTo>
                  <a:pt x="311981" y="297408"/>
                </a:moveTo>
                <a:cubicBezTo>
                  <a:pt x="325776" y="273023"/>
                  <a:pt x="353017" y="259481"/>
                  <a:pt x="380786" y="263204"/>
                </a:cubicBezTo>
                <a:cubicBezTo>
                  <a:pt x="408554" y="266927"/>
                  <a:pt x="431265" y="287167"/>
                  <a:pt x="438150" y="314325"/>
                </a:cubicBezTo>
                <a:moveTo>
                  <a:pt x="185737" y="33337"/>
                </a:moveTo>
                <a:cubicBezTo>
                  <a:pt x="185737" y="14925"/>
                  <a:pt x="200663" y="0"/>
                  <a:pt x="219075" y="0"/>
                </a:cubicBezTo>
                <a:cubicBezTo>
                  <a:pt x="237486" y="0"/>
                  <a:pt x="252412" y="14925"/>
                  <a:pt x="252412" y="33337"/>
                </a:cubicBezTo>
                <a:cubicBezTo>
                  <a:pt x="252412" y="51749"/>
                  <a:pt x="237486" y="66675"/>
                  <a:pt x="219075" y="66675"/>
                </a:cubicBezTo>
                <a:cubicBezTo>
                  <a:pt x="200663" y="66675"/>
                  <a:pt x="185737" y="51749"/>
                  <a:pt x="185737" y="33337"/>
                </a:cubicBezTo>
                <a:close/>
                <a:moveTo>
                  <a:pt x="152400" y="133350"/>
                </a:moveTo>
                <a:cubicBezTo>
                  <a:pt x="160171" y="102871"/>
                  <a:pt x="187621" y="81543"/>
                  <a:pt x="219075" y="81543"/>
                </a:cubicBezTo>
                <a:cubicBezTo>
                  <a:pt x="250528" y="81543"/>
                  <a:pt x="277978" y="102871"/>
                  <a:pt x="285750" y="133350"/>
                </a:cubicBezTo>
                <a:moveTo>
                  <a:pt x="328593" y="377190"/>
                </a:moveTo>
                <a:cubicBezTo>
                  <a:pt x="329737" y="382792"/>
                  <a:pt x="328303" y="388611"/>
                  <a:pt x="324689" y="393042"/>
                </a:cubicBezTo>
                <a:cubicBezTo>
                  <a:pt x="321074" y="397472"/>
                  <a:pt x="315661" y="400045"/>
                  <a:pt x="309943" y="400050"/>
                </a:cubicBezTo>
                <a:lnTo>
                  <a:pt x="128206" y="400050"/>
                </a:lnTo>
                <a:cubicBezTo>
                  <a:pt x="122488" y="400045"/>
                  <a:pt x="117075" y="397472"/>
                  <a:pt x="113460" y="393042"/>
                </a:cubicBezTo>
                <a:cubicBezTo>
                  <a:pt x="109846" y="388611"/>
                  <a:pt x="108413" y="382792"/>
                  <a:pt x="109556" y="377190"/>
                </a:cubicBezTo>
                <a:lnTo>
                  <a:pt x="149237" y="186690"/>
                </a:lnTo>
                <a:cubicBezTo>
                  <a:pt x="151047" y="177826"/>
                  <a:pt x="158840" y="171457"/>
                  <a:pt x="167887" y="171450"/>
                </a:cubicBezTo>
                <a:lnTo>
                  <a:pt x="270262" y="171450"/>
                </a:lnTo>
                <a:cubicBezTo>
                  <a:pt x="279309" y="171457"/>
                  <a:pt x="287102" y="177826"/>
                  <a:pt x="288912" y="186690"/>
                </a:cubicBezTo>
                <a:close/>
                <a:moveTo>
                  <a:pt x="258337" y="303447"/>
                </a:moveTo>
                <a:cubicBezTo>
                  <a:pt x="257664" y="298756"/>
                  <a:pt x="253645" y="295274"/>
                  <a:pt x="248907" y="295275"/>
                </a:cubicBezTo>
                <a:lnTo>
                  <a:pt x="189242" y="295275"/>
                </a:lnTo>
                <a:cubicBezTo>
                  <a:pt x="184504" y="295274"/>
                  <a:pt x="180485" y="298756"/>
                  <a:pt x="179812" y="303447"/>
                </a:cubicBezTo>
                <a:lnTo>
                  <a:pt x="173012" y="351072"/>
                </a:lnTo>
                <a:cubicBezTo>
                  <a:pt x="172619" y="353806"/>
                  <a:pt x="173434" y="356576"/>
                  <a:pt x="175243" y="358664"/>
                </a:cubicBezTo>
                <a:cubicBezTo>
                  <a:pt x="177052" y="360751"/>
                  <a:pt x="179679" y="361950"/>
                  <a:pt x="182441" y="361950"/>
                </a:cubicBezTo>
                <a:lnTo>
                  <a:pt x="255708" y="361950"/>
                </a:lnTo>
                <a:cubicBezTo>
                  <a:pt x="258470" y="361950"/>
                  <a:pt x="261097" y="360751"/>
                  <a:pt x="262906" y="358664"/>
                </a:cubicBezTo>
                <a:cubicBezTo>
                  <a:pt x="264715" y="356576"/>
                  <a:pt x="265530" y="353806"/>
                  <a:pt x="265137" y="351072"/>
                </a:cubicBezTo>
                <a:close/>
              </a:path>
            </a:pathLst>
          </a:custGeom>
          <a:noFill/>
          <a:ln w="7143">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sp>
        <p:nvSpPr>
          <p:cNvPr id="70" name="Rounded Rectangle 67"/>
          <p:cNvSpPr/>
          <p:nvPr/>
        </p:nvSpPr>
        <p:spPr>
          <a:xfrm>
            <a:off x="7000981" y="2607790"/>
            <a:ext cx="438150" cy="439641"/>
          </a:xfrm>
          <a:custGeom>
            <a:avLst/>
            <a:gdLst/>
            <a:ahLst/>
            <a:cxnLst/>
            <a:rect l="0" t="0" r="0" b="0"/>
            <a:pathLst>
              <a:path w="438150" h="439641">
                <a:moveTo>
                  <a:pt x="306133" y="398906"/>
                </a:moveTo>
                <a:lnTo>
                  <a:pt x="381000" y="383857"/>
                </a:lnTo>
                <a:moveTo>
                  <a:pt x="314325" y="314325"/>
                </a:moveTo>
                <a:lnTo>
                  <a:pt x="279082" y="328802"/>
                </a:lnTo>
                <a:cubicBezTo>
                  <a:pt x="273464" y="331090"/>
                  <a:pt x="267174" y="331090"/>
                  <a:pt x="261556" y="328802"/>
                </a:cubicBezTo>
                <a:cubicBezTo>
                  <a:pt x="253322" y="325338"/>
                  <a:pt x="247861" y="317394"/>
                  <a:pt x="247574" y="308466"/>
                </a:cubicBezTo>
                <a:cubicBezTo>
                  <a:pt x="247287" y="299537"/>
                  <a:pt x="252228" y="291259"/>
                  <a:pt x="260222" y="287273"/>
                </a:cubicBezTo>
                <a:lnTo>
                  <a:pt x="295275" y="270128"/>
                </a:lnTo>
                <a:cubicBezTo>
                  <a:pt x="299626" y="267860"/>
                  <a:pt x="304464" y="266684"/>
                  <a:pt x="309372" y="266699"/>
                </a:cubicBezTo>
                <a:cubicBezTo>
                  <a:pt x="313076" y="266682"/>
                  <a:pt x="316753" y="267327"/>
                  <a:pt x="320230" y="268604"/>
                </a:cubicBezTo>
                <a:lnTo>
                  <a:pt x="384619" y="293179"/>
                </a:lnTo>
                <a:moveTo>
                  <a:pt x="292417" y="323278"/>
                </a:moveTo>
                <a:lnTo>
                  <a:pt x="328993" y="363664"/>
                </a:lnTo>
                <a:cubicBezTo>
                  <a:pt x="333311" y="369232"/>
                  <a:pt x="332471" y="377215"/>
                  <a:pt x="327088" y="381761"/>
                </a:cubicBezTo>
                <a:lnTo>
                  <a:pt x="260413" y="435102"/>
                </a:lnTo>
                <a:cubicBezTo>
                  <a:pt x="255088" y="439641"/>
                  <a:pt x="247100" y="439046"/>
                  <a:pt x="242506" y="433768"/>
                </a:cubicBezTo>
                <a:lnTo>
                  <a:pt x="198119" y="400050"/>
                </a:lnTo>
                <a:lnTo>
                  <a:pt x="171449" y="400050"/>
                </a:lnTo>
                <a:moveTo>
                  <a:pt x="171450" y="304800"/>
                </a:moveTo>
                <a:lnTo>
                  <a:pt x="225552" y="281749"/>
                </a:lnTo>
                <a:cubicBezTo>
                  <a:pt x="228809" y="280381"/>
                  <a:pt x="232305" y="279669"/>
                  <a:pt x="235838" y="279653"/>
                </a:cubicBezTo>
                <a:cubicBezTo>
                  <a:pt x="241817" y="279640"/>
                  <a:pt x="247637" y="281580"/>
                  <a:pt x="252412" y="285178"/>
                </a:cubicBezTo>
                <a:lnTo>
                  <a:pt x="257175" y="289178"/>
                </a:lnTo>
                <a:moveTo>
                  <a:pt x="114300" y="285750"/>
                </a:moveTo>
                <a:lnTo>
                  <a:pt x="152400" y="285750"/>
                </a:lnTo>
                <a:cubicBezTo>
                  <a:pt x="162921" y="285750"/>
                  <a:pt x="171450" y="294278"/>
                  <a:pt x="171450" y="304800"/>
                </a:cubicBezTo>
                <a:lnTo>
                  <a:pt x="171450" y="400050"/>
                </a:lnTo>
                <a:cubicBezTo>
                  <a:pt x="171450" y="410571"/>
                  <a:pt x="162921" y="419100"/>
                  <a:pt x="152400" y="419100"/>
                </a:cubicBezTo>
                <a:lnTo>
                  <a:pt x="114300" y="419100"/>
                </a:lnTo>
                <a:moveTo>
                  <a:pt x="438150" y="419100"/>
                </a:moveTo>
                <a:lnTo>
                  <a:pt x="400050" y="419100"/>
                </a:lnTo>
                <a:cubicBezTo>
                  <a:pt x="389528" y="419100"/>
                  <a:pt x="381000" y="410571"/>
                  <a:pt x="381000" y="400050"/>
                </a:cubicBezTo>
                <a:lnTo>
                  <a:pt x="381000" y="304800"/>
                </a:lnTo>
                <a:cubicBezTo>
                  <a:pt x="381000" y="294278"/>
                  <a:pt x="389528" y="285750"/>
                  <a:pt x="400050" y="285750"/>
                </a:cubicBezTo>
                <a:lnTo>
                  <a:pt x="438150" y="285750"/>
                </a:lnTo>
                <a:moveTo>
                  <a:pt x="66675" y="438150"/>
                </a:moveTo>
                <a:lnTo>
                  <a:pt x="9525" y="438150"/>
                </a:lnTo>
                <a:cubicBezTo>
                  <a:pt x="4264" y="438150"/>
                  <a:pt x="0" y="433885"/>
                  <a:pt x="0" y="428625"/>
                </a:cubicBezTo>
                <a:lnTo>
                  <a:pt x="0" y="57150"/>
                </a:lnTo>
                <a:cubicBezTo>
                  <a:pt x="0" y="25586"/>
                  <a:pt x="25586" y="0"/>
                  <a:pt x="57150" y="0"/>
                </a:cubicBezTo>
                <a:lnTo>
                  <a:pt x="314325" y="0"/>
                </a:lnTo>
                <a:moveTo>
                  <a:pt x="209550" y="76200"/>
                </a:moveTo>
                <a:lnTo>
                  <a:pt x="57150" y="76200"/>
                </a:lnTo>
                <a:moveTo>
                  <a:pt x="57150" y="133350"/>
                </a:moveTo>
                <a:lnTo>
                  <a:pt x="209550" y="133350"/>
                </a:lnTo>
                <a:moveTo>
                  <a:pt x="123825" y="190500"/>
                </a:moveTo>
                <a:lnTo>
                  <a:pt x="57150" y="190500"/>
                </a:lnTo>
                <a:moveTo>
                  <a:pt x="266700" y="238125"/>
                </a:moveTo>
                <a:lnTo>
                  <a:pt x="266700" y="47625"/>
                </a:lnTo>
                <a:cubicBezTo>
                  <a:pt x="266700" y="21322"/>
                  <a:pt x="288022" y="0"/>
                  <a:pt x="314325" y="0"/>
                </a:cubicBezTo>
                <a:cubicBezTo>
                  <a:pt x="340613" y="0"/>
                  <a:pt x="361950" y="21336"/>
                  <a:pt x="361950" y="57150"/>
                </a:cubicBezTo>
                <a:lnTo>
                  <a:pt x="266700" y="57150"/>
                </a:lnTo>
              </a:path>
            </a:pathLst>
          </a:custGeom>
          <a:noFill/>
          <a:ln w="7143">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sp>
        <p:nvSpPr>
          <p:cNvPr id="71" name="Rounded Rectangle 68"/>
          <p:cNvSpPr/>
          <p:nvPr/>
        </p:nvSpPr>
        <p:spPr>
          <a:xfrm>
            <a:off x="7000981" y="4012200"/>
            <a:ext cx="438150" cy="438150"/>
          </a:xfrm>
          <a:custGeom>
            <a:avLst/>
            <a:gdLst/>
            <a:ahLst/>
            <a:cxnLst/>
            <a:rect l="0" t="0" r="0" b="0"/>
            <a:pathLst>
              <a:path w="438150" h="438150">
                <a:moveTo>
                  <a:pt x="19050" y="228600"/>
                </a:moveTo>
                <a:lnTo>
                  <a:pt x="419100" y="228600"/>
                </a:lnTo>
                <a:cubicBezTo>
                  <a:pt x="419100" y="228600"/>
                  <a:pt x="438150" y="228600"/>
                  <a:pt x="438150" y="247650"/>
                </a:cubicBezTo>
                <a:lnTo>
                  <a:pt x="438150" y="419100"/>
                </a:lnTo>
                <a:cubicBezTo>
                  <a:pt x="438150" y="419100"/>
                  <a:pt x="438150" y="438150"/>
                  <a:pt x="419100" y="438150"/>
                </a:cubicBezTo>
                <a:lnTo>
                  <a:pt x="19050" y="438150"/>
                </a:lnTo>
                <a:cubicBezTo>
                  <a:pt x="19050" y="438150"/>
                  <a:pt x="0" y="438150"/>
                  <a:pt x="0" y="419100"/>
                </a:cubicBezTo>
                <a:lnTo>
                  <a:pt x="0" y="247650"/>
                </a:lnTo>
                <a:cubicBezTo>
                  <a:pt x="0" y="247650"/>
                  <a:pt x="0" y="228600"/>
                  <a:pt x="19050" y="228600"/>
                </a:cubicBezTo>
                <a:moveTo>
                  <a:pt x="38100" y="228600"/>
                </a:moveTo>
                <a:lnTo>
                  <a:pt x="171450" y="133350"/>
                </a:lnTo>
                <a:moveTo>
                  <a:pt x="400050" y="228600"/>
                </a:moveTo>
                <a:lnTo>
                  <a:pt x="286321" y="144589"/>
                </a:lnTo>
                <a:moveTo>
                  <a:pt x="76200" y="390525"/>
                </a:moveTo>
                <a:lnTo>
                  <a:pt x="76200" y="276225"/>
                </a:lnTo>
                <a:moveTo>
                  <a:pt x="171450" y="390525"/>
                </a:moveTo>
                <a:lnTo>
                  <a:pt x="171450" y="276225"/>
                </a:lnTo>
                <a:moveTo>
                  <a:pt x="266700" y="390525"/>
                </a:moveTo>
                <a:lnTo>
                  <a:pt x="266700" y="276225"/>
                </a:lnTo>
                <a:moveTo>
                  <a:pt x="361950" y="390525"/>
                </a:moveTo>
                <a:lnTo>
                  <a:pt x="361950" y="276225"/>
                </a:lnTo>
                <a:moveTo>
                  <a:pt x="266700" y="95250"/>
                </a:moveTo>
                <a:cubicBezTo>
                  <a:pt x="266700" y="116292"/>
                  <a:pt x="249642" y="133350"/>
                  <a:pt x="228600" y="133350"/>
                </a:cubicBezTo>
                <a:cubicBezTo>
                  <a:pt x="207557" y="133350"/>
                  <a:pt x="190500" y="116292"/>
                  <a:pt x="190500" y="95250"/>
                </a:cubicBezTo>
                <a:cubicBezTo>
                  <a:pt x="191025" y="79204"/>
                  <a:pt x="201181" y="65061"/>
                  <a:pt x="216217" y="59436"/>
                </a:cubicBezTo>
                <a:cubicBezTo>
                  <a:pt x="223620" y="56670"/>
                  <a:pt x="228546" y="49621"/>
                  <a:pt x="228600" y="41719"/>
                </a:cubicBezTo>
                <a:lnTo>
                  <a:pt x="228600" y="0"/>
                </a:lnTo>
              </a:path>
            </a:pathLst>
          </a:custGeom>
          <a:noFill/>
          <a:ln w="7143">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sp>
        <p:nvSpPr>
          <p:cNvPr id="72" name="Rounded Rectangle 69"/>
          <p:cNvSpPr/>
          <p:nvPr/>
        </p:nvSpPr>
        <p:spPr>
          <a:xfrm>
            <a:off x="5208898" y="4677698"/>
            <a:ext cx="438150" cy="438150"/>
          </a:xfrm>
          <a:custGeom>
            <a:avLst/>
            <a:gdLst/>
            <a:ahLst/>
            <a:cxnLst/>
            <a:rect l="0" t="0" r="0" b="0"/>
            <a:pathLst>
              <a:path w="438150" h="438150">
                <a:moveTo>
                  <a:pt x="119500" y="159334"/>
                </a:moveTo>
                <a:lnTo>
                  <a:pt x="318668" y="159334"/>
                </a:lnTo>
                <a:lnTo>
                  <a:pt x="318668" y="298742"/>
                </a:lnTo>
                <a:lnTo>
                  <a:pt x="119500" y="298742"/>
                </a:lnTo>
                <a:close/>
                <a:moveTo>
                  <a:pt x="0" y="159334"/>
                </a:moveTo>
                <a:lnTo>
                  <a:pt x="119500" y="159334"/>
                </a:lnTo>
                <a:lnTo>
                  <a:pt x="119500" y="298742"/>
                </a:lnTo>
                <a:lnTo>
                  <a:pt x="0" y="298742"/>
                </a:lnTo>
                <a:close/>
                <a:moveTo>
                  <a:pt x="318649" y="159334"/>
                </a:moveTo>
                <a:lnTo>
                  <a:pt x="438150" y="159334"/>
                </a:lnTo>
                <a:lnTo>
                  <a:pt x="438150" y="298742"/>
                </a:lnTo>
                <a:lnTo>
                  <a:pt x="318649" y="298742"/>
                </a:lnTo>
                <a:close/>
                <a:moveTo>
                  <a:pt x="119500" y="159334"/>
                </a:moveTo>
                <a:lnTo>
                  <a:pt x="219075" y="79667"/>
                </a:lnTo>
                <a:lnTo>
                  <a:pt x="318649" y="159334"/>
                </a:lnTo>
                <a:moveTo>
                  <a:pt x="0" y="159334"/>
                </a:moveTo>
                <a:lnTo>
                  <a:pt x="0" y="99574"/>
                </a:lnTo>
                <a:lnTo>
                  <a:pt x="194176" y="99574"/>
                </a:lnTo>
                <a:moveTo>
                  <a:pt x="243973" y="99574"/>
                </a:moveTo>
                <a:lnTo>
                  <a:pt x="438150" y="99574"/>
                </a:lnTo>
                <a:lnTo>
                  <a:pt x="438150" y="159334"/>
                </a:lnTo>
                <a:moveTo>
                  <a:pt x="80105" y="69703"/>
                </a:moveTo>
                <a:lnTo>
                  <a:pt x="80105" y="99574"/>
                </a:lnTo>
                <a:moveTo>
                  <a:pt x="348081" y="99574"/>
                </a:moveTo>
                <a:lnTo>
                  <a:pt x="348081" y="69703"/>
                </a:lnTo>
                <a:moveTo>
                  <a:pt x="219075" y="79667"/>
                </a:moveTo>
                <a:lnTo>
                  <a:pt x="219075" y="0"/>
                </a:lnTo>
                <a:lnTo>
                  <a:pt x="288531" y="0"/>
                </a:lnTo>
                <a:lnTo>
                  <a:pt x="288531" y="49796"/>
                </a:lnTo>
                <a:lnTo>
                  <a:pt x="219075" y="49796"/>
                </a:lnTo>
                <a:moveTo>
                  <a:pt x="185356" y="298742"/>
                </a:moveTo>
                <a:lnTo>
                  <a:pt x="185356" y="159334"/>
                </a:lnTo>
                <a:moveTo>
                  <a:pt x="252793" y="298742"/>
                </a:moveTo>
                <a:lnTo>
                  <a:pt x="252793" y="159334"/>
                </a:lnTo>
                <a:moveTo>
                  <a:pt x="149371" y="438150"/>
                </a:moveTo>
                <a:lnTo>
                  <a:pt x="288778" y="438150"/>
                </a:lnTo>
                <a:moveTo>
                  <a:pt x="219075" y="438150"/>
                </a:moveTo>
                <a:lnTo>
                  <a:pt x="219075" y="388353"/>
                </a:lnTo>
                <a:cubicBezTo>
                  <a:pt x="219075" y="348519"/>
                  <a:pt x="268871" y="348519"/>
                  <a:pt x="268871" y="388353"/>
                </a:cubicBezTo>
                <a:moveTo>
                  <a:pt x="169278" y="388353"/>
                </a:moveTo>
                <a:cubicBezTo>
                  <a:pt x="169278" y="348519"/>
                  <a:pt x="219075" y="348519"/>
                  <a:pt x="219075" y="388353"/>
                </a:cubicBezTo>
                <a:lnTo>
                  <a:pt x="219075" y="438150"/>
                </a:lnTo>
                <a:moveTo>
                  <a:pt x="252793" y="231400"/>
                </a:moveTo>
                <a:lnTo>
                  <a:pt x="438150" y="231400"/>
                </a:lnTo>
                <a:moveTo>
                  <a:pt x="185356" y="231400"/>
                </a:moveTo>
                <a:lnTo>
                  <a:pt x="0" y="231400"/>
                </a:lnTo>
                <a:moveTo>
                  <a:pt x="252793" y="245897"/>
                </a:moveTo>
                <a:cubicBezTo>
                  <a:pt x="252790" y="227277"/>
                  <a:pt x="237695" y="212183"/>
                  <a:pt x="219075" y="212183"/>
                </a:cubicBezTo>
                <a:cubicBezTo>
                  <a:pt x="200454" y="212183"/>
                  <a:pt x="185359" y="227277"/>
                  <a:pt x="185356" y="245897"/>
                </a:cubicBezTo>
                <a:moveTo>
                  <a:pt x="59740" y="200615"/>
                </a:moveTo>
                <a:lnTo>
                  <a:pt x="59740" y="229038"/>
                </a:lnTo>
                <a:moveTo>
                  <a:pt x="59740" y="270338"/>
                </a:moveTo>
                <a:lnTo>
                  <a:pt x="59740" y="298742"/>
                </a:lnTo>
                <a:moveTo>
                  <a:pt x="378409" y="229038"/>
                </a:moveTo>
                <a:lnTo>
                  <a:pt x="378409" y="200615"/>
                </a:lnTo>
                <a:moveTo>
                  <a:pt x="378409" y="270338"/>
                </a:moveTo>
                <a:lnTo>
                  <a:pt x="378409" y="298742"/>
                </a:lnTo>
              </a:path>
            </a:pathLst>
          </a:custGeom>
          <a:noFill/>
          <a:ln w="7143">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sp>
        <p:nvSpPr>
          <p:cNvPr id="73" name="Rounded Rectangle 70"/>
          <p:cNvSpPr/>
          <p:nvPr/>
        </p:nvSpPr>
        <p:spPr>
          <a:xfrm>
            <a:off x="5206517" y="2146523"/>
            <a:ext cx="442912" cy="442912"/>
          </a:xfrm>
          <a:custGeom>
            <a:avLst/>
            <a:gdLst/>
            <a:ahLst/>
            <a:cxnLst/>
            <a:rect l="0" t="0" r="0" b="0"/>
            <a:pathLst>
              <a:path w="442912" h="442912">
                <a:moveTo>
                  <a:pt x="442912" y="134302"/>
                </a:moveTo>
                <a:lnTo>
                  <a:pt x="250507" y="296227"/>
                </a:lnTo>
                <a:lnTo>
                  <a:pt x="197167" y="233362"/>
                </a:lnTo>
                <a:lnTo>
                  <a:pt x="14287" y="378142"/>
                </a:lnTo>
                <a:moveTo>
                  <a:pt x="0" y="0"/>
                </a:moveTo>
                <a:moveTo>
                  <a:pt x="61912" y="435292"/>
                </a:moveTo>
                <a:lnTo>
                  <a:pt x="61912" y="340370"/>
                </a:lnTo>
                <a:moveTo>
                  <a:pt x="61912" y="280987"/>
                </a:moveTo>
                <a:lnTo>
                  <a:pt x="61912" y="111442"/>
                </a:lnTo>
                <a:moveTo>
                  <a:pt x="157162" y="14287"/>
                </a:moveTo>
                <a:lnTo>
                  <a:pt x="157162" y="187642"/>
                </a:lnTo>
                <a:moveTo>
                  <a:pt x="252412" y="195262"/>
                </a:moveTo>
                <a:lnTo>
                  <a:pt x="252412" y="73342"/>
                </a:lnTo>
                <a:moveTo>
                  <a:pt x="347662" y="73342"/>
                </a:moveTo>
                <a:lnTo>
                  <a:pt x="347662" y="14287"/>
                </a:lnTo>
                <a:moveTo>
                  <a:pt x="0" y="0"/>
                </a:moveTo>
                <a:moveTo>
                  <a:pt x="157162" y="362902"/>
                </a:moveTo>
                <a:lnTo>
                  <a:pt x="157162" y="265509"/>
                </a:lnTo>
                <a:moveTo>
                  <a:pt x="0" y="0"/>
                </a:moveTo>
                <a:moveTo>
                  <a:pt x="252412" y="385762"/>
                </a:moveTo>
                <a:lnTo>
                  <a:pt x="252412" y="294977"/>
                </a:lnTo>
                <a:moveTo>
                  <a:pt x="0" y="0"/>
                </a:moveTo>
                <a:moveTo>
                  <a:pt x="347662" y="442912"/>
                </a:moveTo>
                <a:lnTo>
                  <a:pt x="347662" y="214312"/>
                </a:lnTo>
                <a:moveTo>
                  <a:pt x="357187" y="134302"/>
                </a:moveTo>
                <a:lnTo>
                  <a:pt x="442912" y="134302"/>
                </a:lnTo>
                <a:lnTo>
                  <a:pt x="442912" y="214312"/>
                </a:lnTo>
              </a:path>
            </a:pathLst>
          </a:custGeom>
          <a:noFill/>
          <a:ln w="7143">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latin typeface="+mj-lt"/>
            </a:endParaRPr>
          </a:p>
        </p:txBody>
      </p:sp>
    </p:spTree>
    <p:extLst>
      <p:ext uri="{BB962C8B-B14F-4D97-AF65-F5344CB8AC3E}">
        <p14:creationId xmlns:p14="http://schemas.microsoft.com/office/powerpoint/2010/main" val="167363691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4750269" y="1057234"/>
            <a:ext cx="2738365" cy="408926"/>
            <a:chOff x="310486" y="887104"/>
            <a:chExt cx="2217761" cy="354841"/>
          </a:xfrm>
        </p:grpSpPr>
        <p:sp>
          <p:nvSpPr>
            <p:cNvPr id="74" name="Rounded Rectangle 1"/>
            <p:cNvSpPr/>
            <p:nvPr/>
          </p:nvSpPr>
          <p:spPr>
            <a:xfrm>
              <a:off x="310486" y="887104"/>
              <a:ext cx="2217761" cy="354841"/>
            </a:xfrm>
            <a:custGeom>
              <a:avLst/>
              <a:gdLst/>
              <a:ahLst/>
              <a:cxnLst/>
              <a:rect l="0" t="0" r="0" b="0"/>
              <a:pathLst>
                <a:path w="2217761" h="354841">
                  <a:moveTo>
                    <a:pt x="0" y="44355"/>
                  </a:moveTo>
                  <a:cubicBezTo>
                    <a:pt x="0" y="19858"/>
                    <a:pt x="19858" y="0"/>
                    <a:pt x="44355" y="0"/>
                  </a:cubicBezTo>
                  <a:lnTo>
                    <a:pt x="88710" y="0"/>
                  </a:lnTo>
                  <a:lnTo>
                    <a:pt x="88710" y="88710"/>
                  </a:lnTo>
                  <a:lnTo>
                    <a:pt x="0" y="88710"/>
                  </a:lnTo>
                  <a:close/>
                  <a:moveTo>
                    <a:pt x="2129050" y="0"/>
                  </a:moveTo>
                  <a:lnTo>
                    <a:pt x="2129050" y="88710"/>
                  </a:lnTo>
                  <a:lnTo>
                    <a:pt x="88710" y="88710"/>
                  </a:lnTo>
                  <a:lnTo>
                    <a:pt x="88710" y="0"/>
                  </a:lnTo>
                  <a:close/>
                  <a:moveTo>
                    <a:pt x="2217761" y="88710"/>
                  </a:moveTo>
                  <a:lnTo>
                    <a:pt x="2129050" y="88710"/>
                  </a:lnTo>
                  <a:lnTo>
                    <a:pt x="2129050" y="0"/>
                  </a:lnTo>
                  <a:lnTo>
                    <a:pt x="2173405" y="0"/>
                  </a:lnTo>
                  <a:cubicBezTo>
                    <a:pt x="2197902" y="0"/>
                    <a:pt x="2217761" y="19858"/>
                    <a:pt x="2217761" y="44355"/>
                  </a:cubicBezTo>
                  <a:close/>
                  <a:moveTo>
                    <a:pt x="2217761" y="266131"/>
                  </a:moveTo>
                  <a:lnTo>
                    <a:pt x="0" y="266131"/>
                  </a:lnTo>
                  <a:lnTo>
                    <a:pt x="0" y="88710"/>
                  </a:lnTo>
                  <a:lnTo>
                    <a:pt x="2217761" y="88710"/>
                  </a:lnTo>
                  <a:close/>
                  <a:moveTo>
                    <a:pt x="0" y="266131"/>
                  </a:moveTo>
                  <a:lnTo>
                    <a:pt x="88710" y="266131"/>
                  </a:lnTo>
                  <a:lnTo>
                    <a:pt x="88710" y="354841"/>
                  </a:lnTo>
                  <a:lnTo>
                    <a:pt x="44355" y="354841"/>
                  </a:lnTo>
                  <a:cubicBezTo>
                    <a:pt x="19858" y="354841"/>
                    <a:pt x="0" y="334983"/>
                    <a:pt x="0" y="310486"/>
                  </a:cubicBezTo>
                  <a:close/>
                  <a:moveTo>
                    <a:pt x="88710" y="354841"/>
                  </a:moveTo>
                  <a:lnTo>
                    <a:pt x="88710" y="266131"/>
                  </a:lnTo>
                  <a:lnTo>
                    <a:pt x="2129050" y="266131"/>
                  </a:lnTo>
                  <a:lnTo>
                    <a:pt x="2129050" y="354841"/>
                  </a:lnTo>
                  <a:close/>
                  <a:moveTo>
                    <a:pt x="2129050" y="354841"/>
                  </a:moveTo>
                  <a:lnTo>
                    <a:pt x="2129050" y="266131"/>
                  </a:lnTo>
                  <a:lnTo>
                    <a:pt x="2217761" y="266131"/>
                  </a:lnTo>
                  <a:lnTo>
                    <a:pt x="2217761" y="310486"/>
                  </a:lnTo>
                  <a:cubicBezTo>
                    <a:pt x="2217761" y="334983"/>
                    <a:pt x="2197902" y="354841"/>
                    <a:pt x="2173405" y="354841"/>
                  </a:cubicBezTo>
                  <a:close/>
                </a:path>
              </a:pathLst>
            </a:custGeom>
            <a:solidFill>
              <a:srgbClr val="484848"/>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75" name="Rounded Rectangle 2"/>
            <p:cNvSpPr/>
            <p:nvPr/>
          </p:nvSpPr>
          <p:spPr>
            <a:xfrm>
              <a:off x="310486" y="887104"/>
              <a:ext cx="2217761" cy="354841"/>
            </a:xfrm>
            <a:custGeom>
              <a:avLst/>
              <a:gdLst/>
              <a:ahLst/>
              <a:cxnLst/>
              <a:rect l="0" t="0" r="0" b="0"/>
              <a:pathLst>
                <a:path w="2217761" h="354841">
                  <a:moveTo>
                    <a:pt x="0" y="88710"/>
                  </a:moveTo>
                  <a:lnTo>
                    <a:pt x="0" y="44355"/>
                  </a:lnTo>
                  <a:cubicBezTo>
                    <a:pt x="0" y="19858"/>
                    <a:pt x="19858" y="0"/>
                    <a:pt x="44355" y="0"/>
                  </a:cubicBezTo>
                  <a:lnTo>
                    <a:pt x="88710" y="0"/>
                  </a:lnTo>
                  <a:moveTo>
                    <a:pt x="2217761" y="266131"/>
                  </a:moveTo>
                  <a:lnTo>
                    <a:pt x="2217761" y="88710"/>
                  </a:lnTo>
                  <a:moveTo>
                    <a:pt x="0" y="266131"/>
                  </a:moveTo>
                  <a:lnTo>
                    <a:pt x="0" y="88710"/>
                  </a:lnTo>
                  <a:moveTo>
                    <a:pt x="88710" y="0"/>
                  </a:moveTo>
                  <a:lnTo>
                    <a:pt x="2129050" y="0"/>
                  </a:lnTo>
                  <a:moveTo>
                    <a:pt x="88710" y="354841"/>
                  </a:moveTo>
                  <a:lnTo>
                    <a:pt x="44355" y="354841"/>
                  </a:lnTo>
                  <a:cubicBezTo>
                    <a:pt x="19858" y="354841"/>
                    <a:pt x="0" y="334983"/>
                    <a:pt x="0" y="310486"/>
                  </a:cubicBezTo>
                  <a:lnTo>
                    <a:pt x="0" y="266131"/>
                  </a:lnTo>
                  <a:moveTo>
                    <a:pt x="2129050" y="0"/>
                  </a:moveTo>
                  <a:lnTo>
                    <a:pt x="2173405" y="0"/>
                  </a:lnTo>
                  <a:cubicBezTo>
                    <a:pt x="2197902" y="0"/>
                    <a:pt x="2217761" y="19858"/>
                    <a:pt x="2217761" y="44355"/>
                  </a:cubicBezTo>
                  <a:lnTo>
                    <a:pt x="2217761" y="88710"/>
                  </a:lnTo>
                  <a:moveTo>
                    <a:pt x="2129050" y="354841"/>
                  </a:moveTo>
                  <a:lnTo>
                    <a:pt x="88710" y="354841"/>
                  </a:lnTo>
                  <a:moveTo>
                    <a:pt x="2217761" y="266131"/>
                  </a:moveTo>
                  <a:lnTo>
                    <a:pt x="2217761" y="310486"/>
                  </a:lnTo>
                  <a:cubicBezTo>
                    <a:pt x="2217761" y="334983"/>
                    <a:pt x="2197902" y="354841"/>
                    <a:pt x="2173405" y="354841"/>
                  </a:cubicBezTo>
                  <a:lnTo>
                    <a:pt x="2129050" y="354841"/>
                  </a:lnTo>
                </a:path>
              </a:pathLst>
            </a:custGeom>
            <a:noFill/>
            <a:ln w="5544">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5" name="Group 4"/>
          <p:cNvGrpSpPr/>
          <p:nvPr/>
        </p:nvGrpSpPr>
        <p:grpSpPr>
          <a:xfrm>
            <a:off x="7704832" y="1056635"/>
            <a:ext cx="2527792" cy="408926"/>
            <a:chOff x="2616958" y="887104"/>
            <a:chExt cx="1241946" cy="354841"/>
          </a:xfrm>
        </p:grpSpPr>
        <p:sp>
          <p:nvSpPr>
            <p:cNvPr id="72" name="Rounded Rectangle 4"/>
            <p:cNvSpPr/>
            <p:nvPr/>
          </p:nvSpPr>
          <p:spPr>
            <a:xfrm>
              <a:off x="2616958" y="887104"/>
              <a:ext cx="1241946" cy="354841"/>
            </a:xfrm>
            <a:custGeom>
              <a:avLst/>
              <a:gdLst/>
              <a:ahLst/>
              <a:cxnLst/>
              <a:rect l="0" t="0" r="0" b="0"/>
              <a:pathLst>
                <a:path w="1241946" h="354841">
                  <a:moveTo>
                    <a:pt x="0" y="44355"/>
                  </a:moveTo>
                  <a:cubicBezTo>
                    <a:pt x="0" y="19858"/>
                    <a:pt x="19858" y="0"/>
                    <a:pt x="44355" y="0"/>
                  </a:cubicBezTo>
                  <a:lnTo>
                    <a:pt x="88710" y="0"/>
                  </a:lnTo>
                  <a:lnTo>
                    <a:pt x="88710" y="88710"/>
                  </a:lnTo>
                  <a:lnTo>
                    <a:pt x="0" y="88710"/>
                  </a:lnTo>
                  <a:close/>
                  <a:moveTo>
                    <a:pt x="1153235" y="0"/>
                  </a:moveTo>
                  <a:lnTo>
                    <a:pt x="1153235" y="88710"/>
                  </a:lnTo>
                  <a:lnTo>
                    <a:pt x="88710" y="88710"/>
                  </a:lnTo>
                  <a:lnTo>
                    <a:pt x="88710" y="0"/>
                  </a:lnTo>
                  <a:close/>
                  <a:moveTo>
                    <a:pt x="1241946" y="88710"/>
                  </a:moveTo>
                  <a:lnTo>
                    <a:pt x="1153235" y="88710"/>
                  </a:lnTo>
                  <a:lnTo>
                    <a:pt x="1153235" y="0"/>
                  </a:lnTo>
                  <a:lnTo>
                    <a:pt x="1197591" y="0"/>
                  </a:lnTo>
                  <a:cubicBezTo>
                    <a:pt x="1222087" y="0"/>
                    <a:pt x="1241946" y="19858"/>
                    <a:pt x="1241946" y="44355"/>
                  </a:cubicBezTo>
                  <a:close/>
                  <a:moveTo>
                    <a:pt x="1241946" y="266131"/>
                  </a:moveTo>
                  <a:lnTo>
                    <a:pt x="0" y="266131"/>
                  </a:lnTo>
                  <a:lnTo>
                    <a:pt x="0" y="88710"/>
                  </a:lnTo>
                  <a:lnTo>
                    <a:pt x="1241946" y="88710"/>
                  </a:lnTo>
                  <a:close/>
                  <a:moveTo>
                    <a:pt x="0" y="266131"/>
                  </a:moveTo>
                  <a:lnTo>
                    <a:pt x="88710" y="266131"/>
                  </a:lnTo>
                  <a:lnTo>
                    <a:pt x="88710" y="354841"/>
                  </a:lnTo>
                  <a:lnTo>
                    <a:pt x="44355" y="354841"/>
                  </a:lnTo>
                  <a:cubicBezTo>
                    <a:pt x="19858" y="354841"/>
                    <a:pt x="0" y="334983"/>
                    <a:pt x="0" y="310486"/>
                  </a:cubicBezTo>
                  <a:close/>
                  <a:moveTo>
                    <a:pt x="88710" y="354841"/>
                  </a:moveTo>
                  <a:lnTo>
                    <a:pt x="88710" y="266131"/>
                  </a:lnTo>
                  <a:lnTo>
                    <a:pt x="1153235" y="266131"/>
                  </a:lnTo>
                  <a:lnTo>
                    <a:pt x="1153235" y="354841"/>
                  </a:lnTo>
                  <a:close/>
                  <a:moveTo>
                    <a:pt x="1153235" y="354841"/>
                  </a:moveTo>
                  <a:lnTo>
                    <a:pt x="1153235" y="266131"/>
                  </a:lnTo>
                  <a:lnTo>
                    <a:pt x="1241946" y="266131"/>
                  </a:lnTo>
                  <a:lnTo>
                    <a:pt x="1241946" y="310486"/>
                  </a:lnTo>
                  <a:cubicBezTo>
                    <a:pt x="1241946" y="334983"/>
                    <a:pt x="1222087" y="354841"/>
                    <a:pt x="1197591" y="354841"/>
                  </a:cubicBezTo>
                  <a:close/>
                </a:path>
              </a:pathLst>
            </a:custGeom>
            <a:solidFill>
              <a:srgbClr val="484848"/>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73" name="Rounded Rectangle 5"/>
            <p:cNvSpPr/>
            <p:nvPr/>
          </p:nvSpPr>
          <p:spPr>
            <a:xfrm>
              <a:off x="2616958" y="887104"/>
              <a:ext cx="1241946" cy="354841"/>
            </a:xfrm>
            <a:custGeom>
              <a:avLst/>
              <a:gdLst/>
              <a:ahLst/>
              <a:cxnLst/>
              <a:rect l="0" t="0" r="0" b="0"/>
              <a:pathLst>
                <a:path w="1241946" h="354841">
                  <a:moveTo>
                    <a:pt x="0" y="88710"/>
                  </a:moveTo>
                  <a:lnTo>
                    <a:pt x="0" y="44355"/>
                  </a:lnTo>
                  <a:cubicBezTo>
                    <a:pt x="0" y="19858"/>
                    <a:pt x="19858" y="0"/>
                    <a:pt x="44355" y="0"/>
                  </a:cubicBezTo>
                  <a:lnTo>
                    <a:pt x="88710" y="0"/>
                  </a:lnTo>
                  <a:moveTo>
                    <a:pt x="1241946" y="88710"/>
                  </a:moveTo>
                  <a:lnTo>
                    <a:pt x="1241946" y="266131"/>
                  </a:lnTo>
                  <a:moveTo>
                    <a:pt x="0" y="266131"/>
                  </a:moveTo>
                  <a:lnTo>
                    <a:pt x="0" y="88710"/>
                  </a:lnTo>
                  <a:moveTo>
                    <a:pt x="88710" y="0"/>
                  </a:moveTo>
                  <a:lnTo>
                    <a:pt x="1153235" y="0"/>
                  </a:lnTo>
                  <a:moveTo>
                    <a:pt x="88710" y="354841"/>
                  </a:moveTo>
                  <a:lnTo>
                    <a:pt x="44355" y="354841"/>
                  </a:lnTo>
                  <a:cubicBezTo>
                    <a:pt x="19858" y="354841"/>
                    <a:pt x="0" y="334983"/>
                    <a:pt x="0" y="310486"/>
                  </a:cubicBezTo>
                  <a:lnTo>
                    <a:pt x="0" y="266131"/>
                  </a:lnTo>
                  <a:moveTo>
                    <a:pt x="1153235" y="0"/>
                  </a:moveTo>
                  <a:lnTo>
                    <a:pt x="1197591" y="0"/>
                  </a:lnTo>
                  <a:cubicBezTo>
                    <a:pt x="1222087" y="0"/>
                    <a:pt x="1241946" y="19858"/>
                    <a:pt x="1241946" y="44355"/>
                  </a:cubicBezTo>
                  <a:lnTo>
                    <a:pt x="1241946" y="88710"/>
                  </a:lnTo>
                  <a:moveTo>
                    <a:pt x="1153235" y="354841"/>
                  </a:moveTo>
                  <a:lnTo>
                    <a:pt x="88710" y="354841"/>
                  </a:lnTo>
                  <a:moveTo>
                    <a:pt x="1241946" y="266131"/>
                  </a:moveTo>
                  <a:lnTo>
                    <a:pt x="1241946" y="310486"/>
                  </a:lnTo>
                  <a:cubicBezTo>
                    <a:pt x="1241946" y="334983"/>
                    <a:pt x="1222087" y="354841"/>
                    <a:pt x="1197591" y="354841"/>
                  </a:cubicBezTo>
                  <a:lnTo>
                    <a:pt x="1153235" y="354841"/>
                  </a:lnTo>
                </a:path>
              </a:pathLst>
            </a:custGeom>
            <a:noFill/>
            <a:ln w="5544">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6" name="Group 5"/>
          <p:cNvGrpSpPr/>
          <p:nvPr/>
        </p:nvGrpSpPr>
        <p:grpSpPr>
          <a:xfrm>
            <a:off x="4750267" y="1552049"/>
            <a:ext cx="2738365" cy="511159"/>
            <a:chOff x="310486" y="1330656"/>
            <a:chExt cx="2217761" cy="443552"/>
          </a:xfrm>
        </p:grpSpPr>
        <p:sp>
          <p:nvSpPr>
            <p:cNvPr id="70" name="Rounded Rectangle 7"/>
            <p:cNvSpPr/>
            <p:nvPr/>
          </p:nvSpPr>
          <p:spPr>
            <a:xfrm>
              <a:off x="310486" y="1330656"/>
              <a:ext cx="2217761" cy="443552"/>
            </a:xfrm>
            <a:custGeom>
              <a:avLst/>
              <a:gdLst/>
              <a:ahLst/>
              <a:cxnLst/>
              <a:rect l="0" t="0" r="0" b="0"/>
              <a:pathLst>
                <a:path w="2217761" h="443552">
                  <a:moveTo>
                    <a:pt x="0" y="44355"/>
                  </a:moveTo>
                  <a:cubicBezTo>
                    <a:pt x="0" y="19858"/>
                    <a:pt x="19858" y="0"/>
                    <a:pt x="44355" y="0"/>
                  </a:cubicBezTo>
                  <a:lnTo>
                    <a:pt x="88710" y="0"/>
                  </a:lnTo>
                  <a:lnTo>
                    <a:pt x="88710" y="88710"/>
                  </a:lnTo>
                  <a:lnTo>
                    <a:pt x="0" y="88710"/>
                  </a:lnTo>
                  <a:close/>
                  <a:moveTo>
                    <a:pt x="2129050" y="0"/>
                  </a:moveTo>
                  <a:lnTo>
                    <a:pt x="2129050" y="88710"/>
                  </a:lnTo>
                  <a:lnTo>
                    <a:pt x="88710" y="88710"/>
                  </a:lnTo>
                  <a:lnTo>
                    <a:pt x="88710" y="0"/>
                  </a:lnTo>
                  <a:close/>
                  <a:moveTo>
                    <a:pt x="2217761" y="88710"/>
                  </a:moveTo>
                  <a:lnTo>
                    <a:pt x="2129050" y="88710"/>
                  </a:lnTo>
                  <a:lnTo>
                    <a:pt x="2129050" y="0"/>
                  </a:lnTo>
                  <a:lnTo>
                    <a:pt x="2173405" y="0"/>
                  </a:lnTo>
                  <a:cubicBezTo>
                    <a:pt x="2197902" y="0"/>
                    <a:pt x="2217761" y="19858"/>
                    <a:pt x="2217761" y="44355"/>
                  </a:cubicBezTo>
                  <a:close/>
                  <a:moveTo>
                    <a:pt x="2217761" y="354841"/>
                  </a:moveTo>
                  <a:lnTo>
                    <a:pt x="0" y="354841"/>
                  </a:lnTo>
                  <a:lnTo>
                    <a:pt x="0" y="88710"/>
                  </a:lnTo>
                  <a:lnTo>
                    <a:pt x="2217761" y="88710"/>
                  </a:lnTo>
                  <a:close/>
                  <a:moveTo>
                    <a:pt x="0" y="354841"/>
                  </a:moveTo>
                  <a:lnTo>
                    <a:pt x="88710" y="354841"/>
                  </a:lnTo>
                  <a:lnTo>
                    <a:pt x="88710" y="443552"/>
                  </a:lnTo>
                  <a:lnTo>
                    <a:pt x="44355" y="443552"/>
                  </a:lnTo>
                  <a:cubicBezTo>
                    <a:pt x="19858" y="443552"/>
                    <a:pt x="0" y="423693"/>
                    <a:pt x="0" y="399197"/>
                  </a:cubicBezTo>
                  <a:close/>
                  <a:moveTo>
                    <a:pt x="88710" y="443552"/>
                  </a:moveTo>
                  <a:lnTo>
                    <a:pt x="88710" y="354841"/>
                  </a:lnTo>
                  <a:lnTo>
                    <a:pt x="2129050" y="354841"/>
                  </a:lnTo>
                  <a:lnTo>
                    <a:pt x="2129050" y="443552"/>
                  </a:lnTo>
                  <a:close/>
                  <a:moveTo>
                    <a:pt x="2129050" y="443552"/>
                  </a:moveTo>
                  <a:lnTo>
                    <a:pt x="2129050" y="354841"/>
                  </a:lnTo>
                  <a:lnTo>
                    <a:pt x="2217761" y="354841"/>
                  </a:lnTo>
                  <a:lnTo>
                    <a:pt x="2217761" y="399197"/>
                  </a:lnTo>
                  <a:cubicBezTo>
                    <a:pt x="2217761" y="423693"/>
                    <a:pt x="2197902" y="443552"/>
                    <a:pt x="2173405" y="443552"/>
                  </a:cubicBezTo>
                  <a:close/>
                </a:path>
              </a:pathLst>
            </a:custGeom>
            <a:solidFill>
              <a:srgbClr val="436CA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71" name="Rounded Rectangle 8"/>
            <p:cNvSpPr/>
            <p:nvPr/>
          </p:nvSpPr>
          <p:spPr>
            <a:xfrm>
              <a:off x="310486" y="1330656"/>
              <a:ext cx="2217761" cy="443552"/>
            </a:xfrm>
            <a:custGeom>
              <a:avLst/>
              <a:gdLst/>
              <a:ahLst/>
              <a:cxnLst/>
              <a:rect l="0" t="0" r="0" b="0"/>
              <a:pathLst>
                <a:path w="2217761" h="443552">
                  <a:moveTo>
                    <a:pt x="0" y="88710"/>
                  </a:moveTo>
                  <a:lnTo>
                    <a:pt x="0" y="44355"/>
                  </a:lnTo>
                  <a:cubicBezTo>
                    <a:pt x="0" y="19858"/>
                    <a:pt x="19858" y="0"/>
                    <a:pt x="44355" y="0"/>
                  </a:cubicBezTo>
                  <a:lnTo>
                    <a:pt x="88710" y="0"/>
                  </a:lnTo>
                  <a:moveTo>
                    <a:pt x="2217761" y="88710"/>
                  </a:moveTo>
                  <a:lnTo>
                    <a:pt x="2217761" y="354841"/>
                  </a:lnTo>
                  <a:moveTo>
                    <a:pt x="0" y="354841"/>
                  </a:moveTo>
                  <a:lnTo>
                    <a:pt x="0" y="88710"/>
                  </a:lnTo>
                  <a:moveTo>
                    <a:pt x="88710" y="0"/>
                  </a:moveTo>
                  <a:lnTo>
                    <a:pt x="2129050" y="0"/>
                  </a:lnTo>
                  <a:moveTo>
                    <a:pt x="88710" y="443552"/>
                  </a:moveTo>
                  <a:lnTo>
                    <a:pt x="44355" y="443552"/>
                  </a:lnTo>
                  <a:cubicBezTo>
                    <a:pt x="19858" y="443552"/>
                    <a:pt x="0" y="423693"/>
                    <a:pt x="0" y="399197"/>
                  </a:cubicBezTo>
                  <a:lnTo>
                    <a:pt x="0" y="354841"/>
                  </a:lnTo>
                  <a:moveTo>
                    <a:pt x="2129050" y="0"/>
                  </a:moveTo>
                  <a:lnTo>
                    <a:pt x="2173405" y="0"/>
                  </a:lnTo>
                  <a:cubicBezTo>
                    <a:pt x="2197902" y="0"/>
                    <a:pt x="2217761" y="19858"/>
                    <a:pt x="2217761" y="44355"/>
                  </a:cubicBezTo>
                  <a:lnTo>
                    <a:pt x="2217761" y="88710"/>
                  </a:lnTo>
                  <a:moveTo>
                    <a:pt x="88710" y="443552"/>
                  </a:moveTo>
                  <a:lnTo>
                    <a:pt x="2129050" y="443552"/>
                  </a:lnTo>
                  <a:moveTo>
                    <a:pt x="2217761" y="354841"/>
                  </a:moveTo>
                  <a:lnTo>
                    <a:pt x="2217761" y="399197"/>
                  </a:lnTo>
                  <a:cubicBezTo>
                    <a:pt x="2217761" y="423693"/>
                    <a:pt x="2197902" y="443552"/>
                    <a:pt x="2173405" y="443552"/>
                  </a:cubicBezTo>
                  <a:lnTo>
                    <a:pt x="2129050" y="443552"/>
                  </a:lnTo>
                </a:path>
              </a:pathLst>
            </a:custGeom>
            <a:noFill/>
            <a:ln w="5544">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7" name="Group 6"/>
          <p:cNvGrpSpPr/>
          <p:nvPr/>
        </p:nvGrpSpPr>
        <p:grpSpPr>
          <a:xfrm>
            <a:off x="7704832" y="1562540"/>
            <a:ext cx="2527792" cy="511159"/>
            <a:chOff x="2616958" y="1330656"/>
            <a:chExt cx="1241946" cy="443552"/>
          </a:xfrm>
        </p:grpSpPr>
        <p:sp>
          <p:nvSpPr>
            <p:cNvPr id="68" name="Rounded Rectangle 10"/>
            <p:cNvSpPr/>
            <p:nvPr/>
          </p:nvSpPr>
          <p:spPr>
            <a:xfrm>
              <a:off x="2616958" y="1330656"/>
              <a:ext cx="1241946" cy="443552"/>
            </a:xfrm>
            <a:custGeom>
              <a:avLst/>
              <a:gdLst/>
              <a:ahLst/>
              <a:cxnLst/>
              <a:rect l="0" t="0" r="0" b="0"/>
              <a:pathLst>
                <a:path w="1241946" h="443552">
                  <a:moveTo>
                    <a:pt x="0" y="44355"/>
                  </a:moveTo>
                  <a:cubicBezTo>
                    <a:pt x="0" y="19858"/>
                    <a:pt x="19858" y="0"/>
                    <a:pt x="44355" y="0"/>
                  </a:cubicBezTo>
                  <a:lnTo>
                    <a:pt x="88710" y="0"/>
                  </a:lnTo>
                  <a:lnTo>
                    <a:pt x="88710" y="88710"/>
                  </a:lnTo>
                  <a:lnTo>
                    <a:pt x="0" y="88710"/>
                  </a:lnTo>
                  <a:close/>
                  <a:moveTo>
                    <a:pt x="1153235" y="0"/>
                  </a:moveTo>
                  <a:lnTo>
                    <a:pt x="1153235" y="88710"/>
                  </a:lnTo>
                  <a:lnTo>
                    <a:pt x="88710" y="88710"/>
                  </a:lnTo>
                  <a:lnTo>
                    <a:pt x="88710" y="0"/>
                  </a:lnTo>
                  <a:close/>
                  <a:moveTo>
                    <a:pt x="1241946" y="88710"/>
                  </a:moveTo>
                  <a:lnTo>
                    <a:pt x="1153235" y="88710"/>
                  </a:lnTo>
                  <a:lnTo>
                    <a:pt x="1153235" y="0"/>
                  </a:lnTo>
                  <a:lnTo>
                    <a:pt x="1197591" y="0"/>
                  </a:lnTo>
                  <a:cubicBezTo>
                    <a:pt x="1222087" y="0"/>
                    <a:pt x="1241946" y="19858"/>
                    <a:pt x="1241946" y="44355"/>
                  </a:cubicBezTo>
                  <a:close/>
                  <a:moveTo>
                    <a:pt x="1241946" y="354841"/>
                  </a:moveTo>
                  <a:lnTo>
                    <a:pt x="0" y="354841"/>
                  </a:lnTo>
                  <a:lnTo>
                    <a:pt x="0" y="88710"/>
                  </a:lnTo>
                  <a:lnTo>
                    <a:pt x="1241946" y="88710"/>
                  </a:lnTo>
                  <a:close/>
                  <a:moveTo>
                    <a:pt x="0" y="354841"/>
                  </a:moveTo>
                  <a:lnTo>
                    <a:pt x="88710" y="354841"/>
                  </a:lnTo>
                  <a:lnTo>
                    <a:pt x="88710" y="443552"/>
                  </a:lnTo>
                  <a:lnTo>
                    <a:pt x="44355" y="443552"/>
                  </a:lnTo>
                  <a:cubicBezTo>
                    <a:pt x="19858" y="443552"/>
                    <a:pt x="0" y="423693"/>
                    <a:pt x="0" y="399197"/>
                  </a:cubicBezTo>
                  <a:close/>
                  <a:moveTo>
                    <a:pt x="88710" y="443552"/>
                  </a:moveTo>
                  <a:lnTo>
                    <a:pt x="88710" y="354841"/>
                  </a:lnTo>
                  <a:lnTo>
                    <a:pt x="1153235" y="354841"/>
                  </a:lnTo>
                  <a:lnTo>
                    <a:pt x="1153235" y="443552"/>
                  </a:lnTo>
                  <a:close/>
                  <a:moveTo>
                    <a:pt x="1153235" y="443552"/>
                  </a:moveTo>
                  <a:lnTo>
                    <a:pt x="1153235" y="354841"/>
                  </a:lnTo>
                  <a:lnTo>
                    <a:pt x="1241946" y="354841"/>
                  </a:lnTo>
                  <a:lnTo>
                    <a:pt x="1241946" y="399197"/>
                  </a:lnTo>
                  <a:cubicBezTo>
                    <a:pt x="1241946" y="423693"/>
                    <a:pt x="1222087" y="443552"/>
                    <a:pt x="1197591" y="443552"/>
                  </a:cubicBezTo>
                  <a:close/>
                </a:path>
              </a:pathLst>
            </a:custGeom>
            <a:solidFill>
              <a:srgbClr val="436CA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69" name="Rounded Rectangle 11"/>
            <p:cNvSpPr/>
            <p:nvPr/>
          </p:nvSpPr>
          <p:spPr>
            <a:xfrm>
              <a:off x="2616958" y="1330656"/>
              <a:ext cx="1241946" cy="443552"/>
            </a:xfrm>
            <a:custGeom>
              <a:avLst/>
              <a:gdLst/>
              <a:ahLst/>
              <a:cxnLst/>
              <a:rect l="0" t="0" r="0" b="0"/>
              <a:pathLst>
                <a:path w="1241946" h="443552">
                  <a:moveTo>
                    <a:pt x="0" y="88710"/>
                  </a:moveTo>
                  <a:lnTo>
                    <a:pt x="0" y="44355"/>
                  </a:lnTo>
                  <a:cubicBezTo>
                    <a:pt x="0" y="19858"/>
                    <a:pt x="19858" y="0"/>
                    <a:pt x="44355" y="0"/>
                  </a:cubicBezTo>
                  <a:lnTo>
                    <a:pt x="88710" y="0"/>
                  </a:lnTo>
                  <a:moveTo>
                    <a:pt x="1241946" y="88710"/>
                  </a:moveTo>
                  <a:lnTo>
                    <a:pt x="1241946" y="354841"/>
                  </a:lnTo>
                  <a:moveTo>
                    <a:pt x="0" y="354841"/>
                  </a:moveTo>
                  <a:lnTo>
                    <a:pt x="0" y="88710"/>
                  </a:lnTo>
                  <a:moveTo>
                    <a:pt x="88710" y="0"/>
                  </a:moveTo>
                  <a:lnTo>
                    <a:pt x="1153235" y="0"/>
                  </a:lnTo>
                  <a:moveTo>
                    <a:pt x="88710" y="443552"/>
                  </a:moveTo>
                  <a:lnTo>
                    <a:pt x="44355" y="443552"/>
                  </a:lnTo>
                  <a:cubicBezTo>
                    <a:pt x="19858" y="443552"/>
                    <a:pt x="0" y="423693"/>
                    <a:pt x="0" y="399197"/>
                  </a:cubicBezTo>
                  <a:lnTo>
                    <a:pt x="0" y="354841"/>
                  </a:lnTo>
                  <a:moveTo>
                    <a:pt x="1153235" y="0"/>
                  </a:moveTo>
                  <a:lnTo>
                    <a:pt x="1197591" y="0"/>
                  </a:lnTo>
                  <a:cubicBezTo>
                    <a:pt x="1222087" y="0"/>
                    <a:pt x="1241946" y="19858"/>
                    <a:pt x="1241946" y="44355"/>
                  </a:cubicBezTo>
                  <a:lnTo>
                    <a:pt x="1241946" y="88710"/>
                  </a:lnTo>
                  <a:moveTo>
                    <a:pt x="1153235" y="443552"/>
                  </a:moveTo>
                  <a:lnTo>
                    <a:pt x="88710" y="443552"/>
                  </a:lnTo>
                  <a:moveTo>
                    <a:pt x="1241946" y="354841"/>
                  </a:moveTo>
                  <a:lnTo>
                    <a:pt x="1241946" y="399197"/>
                  </a:lnTo>
                  <a:cubicBezTo>
                    <a:pt x="1241946" y="423693"/>
                    <a:pt x="1222087" y="443552"/>
                    <a:pt x="1197591" y="443552"/>
                  </a:cubicBezTo>
                  <a:lnTo>
                    <a:pt x="1153235" y="443552"/>
                  </a:lnTo>
                </a:path>
              </a:pathLst>
            </a:custGeom>
            <a:noFill/>
            <a:ln w="5544">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8" name="Group 7"/>
          <p:cNvGrpSpPr/>
          <p:nvPr/>
        </p:nvGrpSpPr>
        <p:grpSpPr>
          <a:xfrm>
            <a:off x="4750267" y="2097834"/>
            <a:ext cx="2738365" cy="511159"/>
            <a:chOff x="310486" y="1862919"/>
            <a:chExt cx="2217761" cy="443552"/>
          </a:xfrm>
        </p:grpSpPr>
        <p:sp>
          <p:nvSpPr>
            <p:cNvPr id="66" name="Rounded Rectangle 13"/>
            <p:cNvSpPr/>
            <p:nvPr/>
          </p:nvSpPr>
          <p:spPr>
            <a:xfrm>
              <a:off x="310486" y="1862919"/>
              <a:ext cx="2217761" cy="443552"/>
            </a:xfrm>
            <a:custGeom>
              <a:avLst/>
              <a:gdLst/>
              <a:ahLst/>
              <a:cxnLst/>
              <a:rect l="0" t="0" r="0" b="0"/>
              <a:pathLst>
                <a:path w="2217761" h="443552">
                  <a:moveTo>
                    <a:pt x="0" y="44355"/>
                  </a:moveTo>
                  <a:cubicBezTo>
                    <a:pt x="0" y="19858"/>
                    <a:pt x="19858" y="0"/>
                    <a:pt x="44355" y="0"/>
                  </a:cubicBezTo>
                  <a:lnTo>
                    <a:pt x="88710" y="0"/>
                  </a:lnTo>
                  <a:lnTo>
                    <a:pt x="88710" y="88710"/>
                  </a:lnTo>
                  <a:lnTo>
                    <a:pt x="0" y="88710"/>
                  </a:lnTo>
                  <a:close/>
                  <a:moveTo>
                    <a:pt x="2129050" y="0"/>
                  </a:moveTo>
                  <a:lnTo>
                    <a:pt x="2129050" y="88710"/>
                  </a:lnTo>
                  <a:lnTo>
                    <a:pt x="88710" y="88710"/>
                  </a:lnTo>
                  <a:lnTo>
                    <a:pt x="88710" y="0"/>
                  </a:lnTo>
                  <a:close/>
                  <a:moveTo>
                    <a:pt x="2217761" y="88710"/>
                  </a:moveTo>
                  <a:lnTo>
                    <a:pt x="2129050" y="88710"/>
                  </a:lnTo>
                  <a:lnTo>
                    <a:pt x="2129050" y="0"/>
                  </a:lnTo>
                  <a:lnTo>
                    <a:pt x="2173405" y="0"/>
                  </a:lnTo>
                  <a:cubicBezTo>
                    <a:pt x="2197902" y="0"/>
                    <a:pt x="2217761" y="19858"/>
                    <a:pt x="2217761" y="44355"/>
                  </a:cubicBezTo>
                  <a:close/>
                  <a:moveTo>
                    <a:pt x="2217761" y="354841"/>
                  </a:moveTo>
                  <a:lnTo>
                    <a:pt x="0" y="354841"/>
                  </a:lnTo>
                  <a:lnTo>
                    <a:pt x="0" y="88710"/>
                  </a:lnTo>
                  <a:lnTo>
                    <a:pt x="2217761" y="88710"/>
                  </a:lnTo>
                  <a:close/>
                  <a:moveTo>
                    <a:pt x="0" y="354841"/>
                  </a:moveTo>
                  <a:lnTo>
                    <a:pt x="88710" y="354841"/>
                  </a:lnTo>
                  <a:lnTo>
                    <a:pt x="88710" y="443552"/>
                  </a:lnTo>
                  <a:lnTo>
                    <a:pt x="44355" y="443552"/>
                  </a:lnTo>
                  <a:cubicBezTo>
                    <a:pt x="19858" y="443552"/>
                    <a:pt x="0" y="423693"/>
                    <a:pt x="0" y="399197"/>
                  </a:cubicBezTo>
                  <a:close/>
                  <a:moveTo>
                    <a:pt x="88710" y="443552"/>
                  </a:moveTo>
                  <a:lnTo>
                    <a:pt x="88710" y="354841"/>
                  </a:lnTo>
                  <a:lnTo>
                    <a:pt x="2129050" y="354841"/>
                  </a:lnTo>
                  <a:lnTo>
                    <a:pt x="2129050" y="443552"/>
                  </a:lnTo>
                  <a:close/>
                  <a:moveTo>
                    <a:pt x="2129050" y="443552"/>
                  </a:moveTo>
                  <a:lnTo>
                    <a:pt x="2129050" y="354841"/>
                  </a:lnTo>
                  <a:lnTo>
                    <a:pt x="2217761" y="354841"/>
                  </a:lnTo>
                  <a:lnTo>
                    <a:pt x="2217761" y="399197"/>
                  </a:lnTo>
                  <a:cubicBezTo>
                    <a:pt x="2217761" y="423693"/>
                    <a:pt x="2197902" y="443552"/>
                    <a:pt x="2173405" y="443552"/>
                  </a:cubicBezTo>
                  <a:close/>
                </a:path>
              </a:pathLst>
            </a:custGeom>
            <a:solidFill>
              <a:srgbClr val="507FCC"/>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67" name="Rounded Rectangle 14"/>
            <p:cNvSpPr/>
            <p:nvPr/>
          </p:nvSpPr>
          <p:spPr>
            <a:xfrm>
              <a:off x="310486" y="1862919"/>
              <a:ext cx="2217761" cy="443552"/>
            </a:xfrm>
            <a:custGeom>
              <a:avLst/>
              <a:gdLst/>
              <a:ahLst/>
              <a:cxnLst/>
              <a:rect l="0" t="0" r="0" b="0"/>
              <a:pathLst>
                <a:path w="2217761" h="443552">
                  <a:moveTo>
                    <a:pt x="0" y="88710"/>
                  </a:moveTo>
                  <a:lnTo>
                    <a:pt x="0" y="44355"/>
                  </a:lnTo>
                  <a:cubicBezTo>
                    <a:pt x="0" y="19858"/>
                    <a:pt x="19858" y="0"/>
                    <a:pt x="44355" y="0"/>
                  </a:cubicBezTo>
                  <a:lnTo>
                    <a:pt x="88710" y="0"/>
                  </a:lnTo>
                  <a:moveTo>
                    <a:pt x="2217761" y="88710"/>
                  </a:moveTo>
                  <a:lnTo>
                    <a:pt x="2217761" y="354841"/>
                  </a:lnTo>
                  <a:moveTo>
                    <a:pt x="0" y="354841"/>
                  </a:moveTo>
                  <a:lnTo>
                    <a:pt x="0" y="88710"/>
                  </a:lnTo>
                  <a:moveTo>
                    <a:pt x="88710" y="0"/>
                  </a:moveTo>
                  <a:lnTo>
                    <a:pt x="2129050" y="0"/>
                  </a:lnTo>
                  <a:moveTo>
                    <a:pt x="88710" y="443552"/>
                  </a:moveTo>
                  <a:lnTo>
                    <a:pt x="44355" y="443552"/>
                  </a:lnTo>
                  <a:cubicBezTo>
                    <a:pt x="19858" y="443552"/>
                    <a:pt x="0" y="423693"/>
                    <a:pt x="0" y="399197"/>
                  </a:cubicBezTo>
                  <a:lnTo>
                    <a:pt x="0" y="354841"/>
                  </a:lnTo>
                  <a:moveTo>
                    <a:pt x="2129050" y="0"/>
                  </a:moveTo>
                  <a:lnTo>
                    <a:pt x="2173405" y="0"/>
                  </a:lnTo>
                  <a:cubicBezTo>
                    <a:pt x="2197902" y="0"/>
                    <a:pt x="2217761" y="19858"/>
                    <a:pt x="2217761" y="44355"/>
                  </a:cubicBezTo>
                  <a:lnTo>
                    <a:pt x="2217761" y="88710"/>
                  </a:lnTo>
                  <a:moveTo>
                    <a:pt x="88710" y="443552"/>
                  </a:moveTo>
                  <a:lnTo>
                    <a:pt x="2129050" y="443552"/>
                  </a:lnTo>
                  <a:moveTo>
                    <a:pt x="2217761" y="354841"/>
                  </a:moveTo>
                  <a:lnTo>
                    <a:pt x="2217761" y="399197"/>
                  </a:lnTo>
                  <a:cubicBezTo>
                    <a:pt x="2217761" y="423693"/>
                    <a:pt x="2197902" y="443552"/>
                    <a:pt x="2173405" y="443552"/>
                  </a:cubicBezTo>
                  <a:lnTo>
                    <a:pt x="2129050" y="443552"/>
                  </a:lnTo>
                </a:path>
              </a:pathLst>
            </a:custGeom>
            <a:noFill/>
            <a:ln w="5544">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9" name="Group 8"/>
          <p:cNvGrpSpPr/>
          <p:nvPr/>
        </p:nvGrpSpPr>
        <p:grpSpPr>
          <a:xfrm>
            <a:off x="7704832" y="2094803"/>
            <a:ext cx="2527792" cy="511159"/>
            <a:chOff x="2616958" y="1862919"/>
            <a:chExt cx="1241946" cy="443552"/>
          </a:xfrm>
        </p:grpSpPr>
        <p:sp>
          <p:nvSpPr>
            <p:cNvPr id="64" name="Rounded Rectangle 16"/>
            <p:cNvSpPr/>
            <p:nvPr/>
          </p:nvSpPr>
          <p:spPr>
            <a:xfrm>
              <a:off x="2616958" y="1862919"/>
              <a:ext cx="1241946" cy="443552"/>
            </a:xfrm>
            <a:custGeom>
              <a:avLst/>
              <a:gdLst/>
              <a:ahLst/>
              <a:cxnLst/>
              <a:rect l="0" t="0" r="0" b="0"/>
              <a:pathLst>
                <a:path w="1241946" h="443552">
                  <a:moveTo>
                    <a:pt x="0" y="44355"/>
                  </a:moveTo>
                  <a:cubicBezTo>
                    <a:pt x="0" y="19858"/>
                    <a:pt x="19858" y="0"/>
                    <a:pt x="44355" y="0"/>
                  </a:cubicBezTo>
                  <a:lnTo>
                    <a:pt x="88710" y="0"/>
                  </a:lnTo>
                  <a:lnTo>
                    <a:pt x="88710" y="88710"/>
                  </a:lnTo>
                  <a:lnTo>
                    <a:pt x="0" y="88710"/>
                  </a:lnTo>
                  <a:close/>
                  <a:moveTo>
                    <a:pt x="1153235" y="0"/>
                  </a:moveTo>
                  <a:lnTo>
                    <a:pt x="1153235" y="88710"/>
                  </a:lnTo>
                  <a:lnTo>
                    <a:pt x="88710" y="88710"/>
                  </a:lnTo>
                  <a:lnTo>
                    <a:pt x="88710" y="0"/>
                  </a:lnTo>
                  <a:close/>
                  <a:moveTo>
                    <a:pt x="1241946" y="88710"/>
                  </a:moveTo>
                  <a:lnTo>
                    <a:pt x="1153235" y="88710"/>
                  </a:lnTo>
                  <a:lnTo>
                    <a:pt x="1153235" y="0"/>
                  </a:lnTo>
                  <a:lnTo>
                    <a:pt x="1197591" y="0"/>
                  </a:lnTo>
                  <a:cubicBezTo>
                    <a:pt x="1222087" y="0"/>
                    <a:pt x="1241946" y="19858"/>
                    <a:pt x="1241946" y="44355"/>
                  </a:cubicBezTo>
                  <a:close/>
                  <a:moveTo>
                    <a:pt x="1241946" y="354841"/>
                  </a:moveTo>
                  <a:lnTo>
                    <a:pt x="0" y="354841"/>
                  </a:lnTo>
                  <a:lnTo>
                    <a:pt x="0" y="88710"/>
                  </a:lnTo>
                  <a:lnTo>
                    <a:pt x="1241946" y="88710"/>
                  </a:lnTo>
                  <a:close/>
                  <a:moveTo>
                    <a:pt x="0" y="354841"/>
                  </a:moveTo>
                  <a:lnTo>
                    <a:pt x="88710" y="354841"/>
                  </a:lnTo>
                  <a:lnTo>
                    <a:pt x="88710" y="443552"/>
                  </a:lnTo>
                  <a:lnTo>
                    <a:pt x="44355" y="443552"/>
                  </a:lnTo>
                  <a:cubicBezTo>
                    <a:pt x="19858" y="443552"/>
                    <a:pt x="0" y="423693"/>
                    <a:pt x="0" y="399197"/>
                  </a:cubicBezTo>
                  <a:close/>
                  <a:moveTo>
                    <a:pt x="88710" y="443552"/>
                  </a:moveTo>
                  <a:lnTo>
                    <a:pt x="88710" y="354841"/>
                  </a:lnTo>
                  <a:lnTo>
                    <a:pt x="1153235" y="354841"/>
                  </a:lnTo>
                  <a:lnTo>
                    <a:pt x="1153235" y="443552"/>
                  </a:lnTo>
                  <a:close/>
                  <a:moveTo>
                    <a:pt x="1153235" y="443552"/>
                  </a:moveTo>
                  <a:lnTo>
                    <a:pt x="1153235" y="354841"/>
                  </a:lnTo>
                  <a:lnTo>
                    <a:pt x="1241946" y="354841"/>
                  </a:lnTo>
                  <a:lnTo>
                    <a:pt x="1241946" y="399197"/>
                  </a:lnTo>
                  <a:cubicBezTo>
                    <a:pt x="1241946" y="423693"/>
                    <a:pt x="1222087" y="443552"/>
                    <a:pt x="1197591" y="443552"/>
                  </a:cubicBezTo>
                  <a:close/>
                </a:path>
              </a:pathLst>
            </a:custGeom>
            <a:solidFill>
              <a:srgbClr val="507FCC"/>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65" name="Rounded Rectangle 17"/>
            <p:cNvSpPr/>
            <p:nvPr/>
          </p:nvSpPr>
          <p:spPr>
            <a:xfrm>
              <a:off x="2616958" y="1862919"/>
              <a:ext cx="1241946" cy="443552"/>
            </a:xfrm>
            <a:custGeom>
              <a:avLst/>
              <a:gdLst/>
              <a:ahLst/>
              <a:cxnLst/>
              <a:rect l="0" t="0" r="0" b="0"/>
              <a:pathLst>
                <a:path w="1241946" h="443552">
                  <a:moveTo>
                    <a:pt x="0" y="88710"/>
                  </a:moveTo>
                  <a:lnTo>
                    <a:pt x="0" y="44355"/>
                  </a:lnTo>
                  <a:cubicBezTo>
                    <a:pt x="0" y="19858"/>
                    <a:pt x="19858" y="0"/>
                    <a:pt x="44355" y="0"/>
                  </a:cubicBezTo>
                  <a:lnTo>
                    <a:pt x="88710" y="0"/>
                  </a:lnTo>
                  <a:moveTo>
                    <a:pt x="1241946" y="88710"/>
                  </a:moveTo>
                  <a:lnTo>
                    <a:pt x="1241946" y="354841"/>
                  </a:lnTo>
                  <a:moveTo>
                    <a:pt x="0" y="354841"/>
                  </a:moveTo>
                  <a:lnTo>
                    <a:pt x="0" y="88710"/>
                  </a:lnTo>
                  <a:moveTo>
                    <a:pt x="88710" y="0"/>
                  </a:moveTo>
                  <a:lnTo>
                    <a:pt x="1153235" y="0"/>
                  </a:lnTo>
                  <a:moveTo>
                    <a:pt x="88710" y="443552"/>
                  </a:moveTo>
                  <a:lnTo>
                    <a:pt x="44355" y="443552"/>
                  </a:lnTo>
                  <a:cubicBezTo>
                    <a:pt x="19858" y="443552"/>
                    <a:pt x="0" y="423693"/>
                    <a:pt x="0" y="399197"/>
                  </a:cubicBezTo>
                  <a:lnTo>
                    <a:pt x="0" y="354841"/>
                  </a:lnTo>
                  <a:moveTo>
                    <a:pt x="1153235" y="0"/>
                  </a:moveTo>
                  <a:lnTo>
                    <a:pt x="1197591" y="0"/>
                  </a:lnTo>
                  <a:cubicBezTo>
                    <a:pt x="1222087" y="0"/>
                    <a:pt x="1241946" y="19858"/>
                    <a:pt x="1241946" y="44355"/>
                  </a:cubicBezTo>
                  <a:lnTo>
                    <a:pt x="1241946" y="88710"/>
                  </a:lnTo>
                  <a:moveTo>
                    <a:pt x="1153235" y="443552"/>
                  </a:moveTo>
                  <a:lnTo>
                    <a:pt x="88710" y="443552"/>
                  </a:lnTo>
                  <a:moveTo>
                    <a:pt x="1241946" y="354841"/>
                  </a:moveTo>
                  <a:lnTo>
                    <a:pt x="1241946" y="399197"/>
                  </a:lnTo>
                  <a:cubicBezTo>
                    <a:pt x="1241946" y="423693"/>
                    <a:pt x="1222087" y="443552"/>
                    <a:pt x="1197591" y="443552"/>
                  </a:cubicBezTo>
                  <a:lnTo>
                    <a:pt x="1153235" y="443552"/>
                  </a:lnTo>
                </a:path>
              </a:pathLst>
            </a:custGeom>
            <a:noFill/>
            <a:ln w="5544">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0" name="Group 9"/>
          <p:cNvGrpSpPr/>
          <p:nvPr/>
        </p:nvGrpSpPr>
        <p:grpSpPr>
          <a:xfrm>
            <a:off x="4750267" y="2627066"/>
            <a:ext cx="2738365" cy="511159"/>
            <a:chOff x="310486" y="2395182"/>
            <a:chExt cx="2217761" cy="443552"/>
          </a:xfrm>
        </p:grpSpPr>
        <p:sp>
          <p:nvSpPr>
            <p:cNvPr id="62" name="Rounded Rectangle 19"/>
            <p:cNvSpPr/>
            <p:nvPr/>
          </p:nvSpPr>
          <p:spPr>
            <a:xfrm>
              <a:off x="310486" y="2395182"/>
              <a:ext cx="2217761" cy="443552"/>
            </a:xfrm>
            <a:custGeom>
              <a:avLst/>
              <a:gdLst/>
              <a:ahLst/>
              <a:cxnLst/>
              <a:rect l="0" t="0" r="0" b="0"/>
              <a:pathLst>
                <a:path w="2217761" h="443552">
                  <a:moveTo>
                    <a:pt x="0" y="44355"/>
                  </a:moveTo>
                  <a:cubicBezTo>
                    <a:pt x="0" y="19858"/>
                    <a:pt x="19858" y="0"/>
                    <a:pt x="44355" y="0"/>
                  </a:cubicBezTo>
                  <a:lnTo>
                    <a:pt x="88710" y="0"/>
                  </a:lnTo>
                  <a:lnTo>
                    <a:pt x="88710" y="88710"/>
                  </a:lnTo>
                  <a:lnTo>
                    <a:pt x="0" y="88710"/>
                  </a:lnTo>
                  <a:close/>
                  <a:moveTo>
                    <a:pt x="2129050" y="0"/>
                  </a:moveTo>
                  <a:lnTo>
                    <a:pt x="2129050" y="88710"/>
                  </a:lnTo>
                  <a:lnTo>
                    <a:pt x="88710" y="88710"/>
                  </a:lnTo>
                  <a:lnTo>
                    <a:pt x="88710" y="0"/>
                  </a:lnTo>
                  <a:close/>
                  <a:moveTo>
                    <a:pt x="2217761" y="88710"/>
                  </a:moveTo>
                  <a:lnTo>
                    <a:pt x="2129050" y="88710"/>
                  </a:lnTo>
                  <a:lnTo>
                    <a:pt x="2129050" y="0"/>
                  </a:lnTo>
                  <a:lnTo>
                    <a:pt x="2173405" y="0"/>
                  </a:lnTo>
                  <a:cubicBezTo>
                    <a:pt x="2197902" y="0"/>
                    <a:pt x="2217761" y="19858"/>
                    <a:pt x="2217761" y="44355"/>
                  </a:cubicBezTo>
                  <a:close/>
                  <a:moveTo>
                    <a:pt x="2217761" y="354841"/>
                  </a:moveTo>
                  <a:lnTo>
                    <a:pt x="0" y="354841"/>
                  </a:lnTo>
                  <a:lnTo>
                    <a:pt x="0" y="88710"/>
                  </a:lnTo>
                  <a:lnTo>
                    <a:pt x="2217761" y="88710"/>
                  </a:lnTo>
                  <a:close/>
                  <a:moveTo>
                    <a:pt x="0" y="354841"/>
                  </a:moveTo>
                  <a:lnTo>
                    <a:pt x="88710" y="354841"/>
                  </a:lnTo>
                  <a:lnTo>
                    <a:pt x="88710" y="443552"/>
                  </a:lnTo>
                  <a:lnTo>
                    <a:pt x="44355" y="443552"/>
                  </a:lnTo>
                  <a:cubicBezTo>
                    <a:pt x="19858" y="443552"/>
                    <a:pt x="0" y="423693"/>
                    <a:pt x="0" y="399197"/>
                  </a:cubicBezTo>
                  <a:close/>
                  <a:moveTo>
                    <a:pt x="88710" y="443552"/>
                  </a:moveTo>
                  <a:lnTo>
                    <a:pt x="88710" y="354841"/>
                  </a:lnTo>
                  <a:lnTo>
                    <a:pt x="2129050" y="354841"/>
                  </a:lnTo>
                  <a:lnTo>
                    <a:pt x="2129050" y="443552"/>
                  </a:lnTo>
                  <a:close/>
                  <a:moveTo>
                    <a:pt x="2129050" y="443552"/>
                  </a:moveTo>
                  <a:lnTo>
                    <a:pt x="2129050" y="354841"/>
                  </a:lnTo>
                  <a:lnTo>
                    <a:pt x="2217761" y="354841"/>
                  </a:lnTo>
                  <a:lnTo>
                    <a:pt x="2217761" y="399197"/>
                  </a:lnTo>
                  <a:cubicBezTo>
                    <a:pt x="2217761" y="423693"/>
                    <a:pt x="2197902" y="443552"/>
                    <a:pt x="2173405" y="443552"/>
                  </a:cubicBezTo>
                  <a:close/>
                </a:path>
              </a:pathLst>
            </a:custGeom>
            <a:solidFill>
              <a:srgbClr val="4F84DA"/>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63" name="Rounded Rectangle 20"/>
            <p:cNvSpPr/>
            <p:nvPr/>
          </p:nvSpPr>
          <p:spPr>
            <a:xfrm>
              <a:off x="310486" y="2395182"/>
              <a:ext cx="2217761" cy="443552"/>
            </a:xfrm>
            <a:custGeom>
              <a:avLst/>
              <a:gdLst/>
              <a:ahLst/>
              <a:cxnLst/>
              <a:rect l="0" t="0" r="0" b="0"/>
              <a:pathLst>
                <a:path w="2217761" h="443552">
                  <a:moveTo>
                    <a:pt x="0" y="88710"/>
                  </a:moveTo>
                  <a:lnTo>
                    <a:pt x="0" y="44355"/>
                  </a:lnTo>
                  <a:cubicBezTo>
                    <a:pt x="0" y="19858"/>
                    <a:pt x="19858" y="0"/>
                    <a:pt x="44355" y="0"/>
                  </a:cubicBezTo>
                  <a:lnTo>
                    <a:pt x="88710" y="0"/>
                  </a:lnTo>
                  <a:moveTo>
                    <a:pt x="2217761" y="88710"/>
                  </a:moveTo>
                  <a:lnTo>
                    <a:pt x="2217761" y="354841"/>
                  </a:lnTo>
                  <a:moveTo>
                    <a:pt x="0" y="354841"/>
                  </a:moveTo>
                  <a:lnTo>
                    <a:pt x="0" y="88710"/>
                  </a:lnTo>
                  <a:moveTo>
                    <a:pt x="88710" y="0"/>
                  </a:moveTo>
                  <a:lnTo>
                    <a:pt x="2129050" y="0"/>
                  </a:lnTo>
                  <a:moveTo>
                    <a:pt x="88710" y="443552"/>
                  </a:moveTo>
                  <a:lnTo>
                    <a:pt x="44355" y="443552"/>
                  </a:lnTo>
                  <a:cubicBezTo>
                    <a:pt x="19858" y="443552"/>
                    <a:pt x="0" y="423693"/>
                    <a:pt x="0" y="399197"/>
                  </a:cubicBezTo>
                  <a:lnTo>
                    <a:pt x="0" y="354841"/>
                  </a:lnTo>
                  <a:moveTo>
                    <a:pt x="2129050" y="0"/>
                  </a:moveTo>
                  <a:lnTo>
                    <a:pt x="2173405" y="0"/>
                  </a:lnTo>
                  <a:cubicBezTo>
                    <a:pt x="2197902" y="0"/>
                    <a:pt x="2217761" y="19858"/>
                    <a:pt x="2217761" y="44355"/>
                  </a:cubicBezTo>
                  <a:lnTo>
                    <a:pt x="2217761" y="88710"/>
                  </a:lnTo>
                  <a:moveTo>
                    <a:pt x="88710" y="443552"/>
                  </a:moveTo>
                  <a:lnTo>
                    <a:pt x="2129050" y="443552"/>
                  </a:lnTo>
                  <a:moveTo>
                    <a:pt x="2217761" y="354841"/>
                  </a:moveTo>
                  <a:lnTo>
                    <a:pt x="2217761" y="399197"/>
                  </a:lnTo>
                  <a:cubicBezTo>
                    <a:pt x="2217761" y="423693"/>
                    <a:pt x="2197902" y="443552"/>
                    <a:pt x="2173405" y="443552"/>
                  </a:cubicBezTo>
                  <a:lnTo>
                    <a:pt x="2129050" y="443552"/>
                  </a:lnTo>
                </a:path>
              </a:pathLst>
            </a:custGeom>
            <a:noFill/>
            <a:ln w="5544">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1" name="Group 10"/>
          <p:cNvGrpSpPr/>
          <p:nvPr/>
        </p:nvGrpSpPr>
        <p:grpSpPr>
          <a:xfrm>
            <a:off x="7704832" y="2627066"/>
            <a:ext cx="2527792" cy="511159"/>
            <a:chOff x="2616958" y="2395182"/>
            <a:chExt cx="1241946" cy="443552"/>
          </a:xfrm>
        </p:grpSpPr>
        <p:sp>
          <p:nvSpPr>
            <p:cNvPr id="60" name="Rounded Rectangle 22"/>
            <p:cNvSpPr/>
            <p:nvPr/>
          </p:nvSpPr>
          <p:spPr>
            <a:xfrm>
              <a:off x="2616958" y="2395182"/>
              <a:ext cx="1241946" cy="443552"/>
            </a:xfrm>
            <a:custGeom>
              <a:avLst/>
              <a:gdLst/>
              <a:ahLst/>
              <a:cxnLst/>
              <a:rect l="0" t="0" r="0" b="0"/>
              <a:pathLst>
                <a:path w="1241946" h="443552">
                  <a:moveTo>
                    <a:pt x="0" y="44355"/>
                  </a:moveTo>
                  <a:cubicBezTo>
                    <a:pt x="0" y="19858"/>
                    <a:pt x="19858" y="0"/>
                    <a:pt x="44355" y="0"/>
                  </a:cubicBezTo>
                  <a:lnTo>
                    <a:pt x="88710" y="0"/>
                  </a:lnTo>
                  <a:lnTo>
                    <a:pt x="88710" y="88710"/>
                  </a:lnTo>
                  <a:lnTo>
                    <a:pt x="0" y="88710"/>
                  </a:lnTo>
                  <a:close/>
                  <a:moveTo>
                    <a:pt x="1153235" y="0"/>
                  </a:moveTo>
                  <a:lnTo>
                    <a:pt x="1153235" y="88710"/>
                  </a:lnTo>
                  <a:lnTo>
                    <a:pt x="88710" y="88710"/>
                  </a:lnTo>
                  <a:lnTo>
                    <a:pt x="88710" y="0"/>
                  </a:lnTo>
                  <a:close/>
                  <a:moveTo>
                    <a:pt x="1241946" y="88710"/>
                  </a:moveTo>
                  <a:lnTo>
                    <a:pt x="1153235" y="88710"/>
                  </a:lnTo>
                  <a:lnTo>
                    <a:pt x="1153235" y="0"/>
                  </a:lnTo>
                  <a:lnTo>
                    <a:pt x="1197591" y="0"/>
                  </a:lnTo>
                  <a:cubicBezTo>
                    <a:pt x="1222087" y="0"/>
                    <a:pt x="1241946" y="19858"/>
                    <a:pt x="1241946" y="44355"/>
                  </a:cubicBezTo>
                  <a:close/>
                  <a:moveTo>
                    <a:pt x="1241946" y="354841"/>
                  </a:moveTo>
                  <a:lnTo>
                    <a:pt x="0" y="354841"/>
                  </a:lnTo>
                  <a:lnTo>
                    <a:pt x="0" y="88710"/>
                  </a:lnTo>
                  <a:lnTo>
                    <a:pt x="1241946" y="88710"/>
                  </a:lnTo>
                  <a:close/>
                  <a:moveTo>
                    <a:pt x="0" y="354841"/>
                  </a:moveTo>
                  <a:lnTo>
                    <a:pt x="88710" y="354841"/>
                  </a:lnTo>
                  <a:lnTo>
                    <a:pt x="88710" y="443552"/>
                  </a:lnTo>
                  <a:lnTo>
                    <a:pt x="44355" y="443552"/>
                  </a:lnTo>
                  <a:cubicBezTo>
                    <a:pt x="19858" y="443552"/>
                    <a:pt x="0" y="423693"/>
                    <a:pt x="0" y="399197"/>
                  </a:cubicBezTo>
                  <a:close/>
                  <a:moveTo>
                    <a:pt x="88710" y="443552"/>
                  </a:moveTo>
                  <a:lnTo>
                    <a:pt x="88710" y="354841"/>
                  </a:lnTo>
                  <a:lnTo>
                    <a:pt x="1153235" y="354841"/>
                  </a:lnTo>
                  <a:lnTo>
                    <a:pt x="1153235" y="443552"/>
                  </a:lnTo>
                  <a:close/>
                  <a:moveTo>
                    <a:pt x="1153235" y="443552"/>
                  </a:moveTo>
                  <a:lnTo>
                    <a:pt x="1153235" y="354841"/>
                  </a:lnTo>
                  <a:lnTo>
                    <a:pt x="1241946" y="354841"/>
                  </a:lnTo>
                  <a:lnTo>
                    <a:pt x="1241946" y="399197"/>
                  </a:lnTo>
                  <a:cubicBezTo>
                    <a:pt x="1241946" y="423693"/>
                    <a:pt x="1222087" y="443552"/>
                    <a:pt x="1197591" y="443552"/>
                  </a:cubicBezTo>
                  <a:close/>
                </a:path>
              </a:pathLst>
            </a:custGeom>
            <a:solidFill>
              <a:srgbClr val="4F84DA"/>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61" name="Rounded Rectangle 23"/>
            <p:cNvSpPr/>
            <p:nvPr/>
          </p:nvSpPr>
          <p:spPr>
            <a:xfrm>
              <a:off x="2616958" y="2395182"/>
              <a:ext cx="1241946" cy="443552"/>
            </a:xfrm>
            <a:custGeom>
              <a:avLst/>
              <a:gdLst/>
              <a:ahLst/>
              <a:cxnLst/>
              <a:rect l="0" t="0" r="0" b="0"/>
              <a:pathLst>
                <a:path w="1241946" h="443552">
                  <a:moveTo>
                    <a:pt x="0" y="88710"/>
                  </a:moveTo>
                  <a:lnTo>
                    <a:pt x="0" y="44355"/>
                  </a:lnTo>
                  <a:cubicBezTo>
                    <a:pt x="0" y="19858"/>
                    <a:pt x="19858" y="0"/>
                    <a:pt x="44355" y="0"/>
                  </a:cubicBezTo>
                  <a:lnTo>
                    <a:pt x="88710" y="0"/>
                  </a:lnTo>
                  <a:moveTo>
                    <a:pt x="1241946" y="88710"/>
                  </a:moveTo>
                  <a:lnTo>
                    <a:pt x="1241946" y="354841"/>
                  </a:lnTo>
                  <a:moveTo>
                    <a:pt x="0" y="354841"/>
                  </a:moveTo>
                  <a:lnTo>
                    <a:pt x="0" y="88710"/>
                  </a:lnTo>
                  <a:moveTo>
                    <a:pt x="88710" y="0"/>
                  </a:moveTo>
                  <a:lnTo>
                    <a:pt x="1153235" y="0"/>
                  </a:lnTo>
                  <a:moveTo>
                    <a:pt x="88710" y="443552"/>
                  </a:moveTo>
                  <a:lnTo>
                    <a:pt x="44355" y="443552"/>
                  </a:lnTo>
                  <a:cubicBezTo>
                    <a:pt x="19858" y="443552"/>
                    <a:pt x="0" y="423693"/>
                    <a:pt x="0" y="399197"/>
                  </a:cubicBezTo>
                  <a:lnTo>
                    <a:pt x="0" y="354841"/>
                  </a:lnTo>
                  <a:moveTo>
                    <a:pt x="1153235" y="0"/>
                  </a:moveTo>
                  <a:lnTo>
                    <a:pt x="1197591" y="0"/>
                  </a:lnTo>
                  <a:cubicBezTo>
                    <a:pt x="1222087" y="0"/>
                    <a:pt x="1241946" y="19858"/>
                    <a:pt x="1241946" y="44355"/>
                  </a:cubicBezTo>
                  <a:lnTo>
                    <a:pt x="1241946" y="88710"/>
                  </a:lnTo>
                  <a:moveTo>
                    <a:pt x="1153235" y="443552"/>
                  </a:moveTo>
                  <a:lnTo>
                    <a:pt x="88710" y="443552"/>
                  </a:lnTo>
                  <a:moveTo>
                    <a:pt x="1241946" y="354841"/>
                  </a:moveTo>
                  <a:lnTo>
                    <a:pt x="1241946" y="399197"/>
                  </a:lnTo>
                  <a:cubicBezTo>
                    <a:pt x="1241946" y="423693"/>
                    <a:pt x="1222087" y="443552"/>
                    <a:pt x="1197591" y="443552"/>
                  </a:cubicBezTo>
                  <a:lnTo>
                    <a:pt x="1153235" y="443552"/>
                  </a:lnTo>
                </a:path>
              </a:pathLst>
            </a:custGeom>
            <a:noFill/>
            <a:ln w="5544">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2" name="Group 11"/>
          <p:cNvGrpSpPr/>
          <p:nvPr/>
        </p:nvGrpSpPr>
        <p:grpSpPr>
          <a:xfrm>
            <a:off x="4750267" y="3159329"/>
            <a:ext cx="2738365" cy="408926"/>
            <a:chOff x="310486" y="2927444"/>
            <a:chExt cx="2217761" cy="354841"/>
          </a:xfrm>
        </p:grpSpPr>
        <p:sp>
          <p:nvSpPr>
            <p:cNvPr id="58" name="Rounded Rectangle 25"/>
            <p:cNvSpPr/>
            <p:nvPr/>
          </p:nvSpPr>
          <p:spPr>
            <a:xfrm>
              <a:off x="310486" y="2927444"/>
              <a:ext cx="2217761" cy="354841"/>
            </a:xfrm>
            <a:custGeom>
              <a:avLst/>
              <a:gdLst/>
              <a:ahLst/>
              <a:cxnLst/>
              <a:rect l="0" t="0" r="0" b="0"/>
              <a:pathLst>
                <a:path w="2217761" h="354841">
                  <a:moveTo>
                    <a:pt x="0" y="44355"/>
                  </a:moveTo>
                  <a:cubicBezTo>
                    <a:pt x="0" y="19858"/>
                    <a:pt x="19858" y="0"/>
                    <a:pt x="44355" y="0"/>
                  </a:cubicBezTo>
                  <a:lnTo>
                    <a:pt x="88710" y="0"/>
                  </a:lnTo>
                  <a:lnTo>
                    <a:pt x="88710" y="88710"/>
                  </a:lnTo>
                  <a:lnTo>
                    <a:pt x="0" y="88710"/>
                  </a:lnTo>
                  <a:close/>
                  <a:moveTo>
                    <a:pt x="2129050" y="0"/>
                  </a:moveTo>
                  <a:lnTo>
                    <a:pt x="2129050" y="88710"/>
                  </a:lnTo>
                  <a:lnTo>
                    <a:pt x="88710" y="88710"/>
                  </a:lnTo>
                  <a:lnTo>
                    <a:pt x="88710" y="0"/>
                  </a:lnTo>
                  <a:close/>
                  <a:moveTo>
                    <a:pt x="2217761" y="88710"/>
                  </a:moveTo>
                  <a:lnTo>
                    <a:pt x="2129050" y="88710"/>
                  </a:lnTo>
                  <a:lnTo>
                    <a:pt x="2129050" y="0"/>
                  </a:lnTo>
                  <a:lnTo>
                    <a:pt x="2173405" y="0"/>
                  </a:lnTo>
                  <a:cubicBezTo>
                    <a:pt x="2197902" y="0"/>
                    <a:pt x="2217761" y="19858"/>
                    <a:pt x="2217761" y="44355"/>
                  </a:cubicBezTo>
                  <a:close/>
                  <a:moveTo>
                    <a:pt x="2217761" y="266131"/>
                  </a:moveTo>
                  <a:lnTo>
                    <a:pt x="0" y="266131"/>
                  </a:lnTo>
                  <a:lnTo>
                    <a:pt x="0" y="88710"/>
                  </a:lnTo>
                  <a:lnTo>
                    <a:pt x="2217761" y="88710"/>
                  </a:lnTo>
                  <a:close/>
                  <a:moveTo>
                    <a:pt x="0" y="266131"/>
                  </a:moveTo>
                  <a:lnTo>
                    <a:pt x="88710" y="266131"/>
                  </a:lnTo>
                  <a:lnTo>
                    <a:pt x="88710" y="354841"/>
                  </a:lnTo>
                  <a:lnTo>
                    <a:pt x="44355" y="354841"/>
                  </a:lnTo>
                  <a:cubicBezTo>
                    <a:pt x="19858" y="354841"/>
                    <a:pt x="0" y="334983"/>
                    <a:pt x="0" y="310486"/>
                  </a:cubicBezTo>
                  <a:close/>
                  <a:moveTo>
                    <a:pt x="88710" y="354841"/>
                  </a:moveTo>
                  <a:lnTo>
                    <a:pt x="88710" y="266131"/>
                  </a:lnTo>
                  <a:lnTo>
                    <a:pt x="2129050" y="266131"/>
                  </a:lnTo>
                  <a:lnTo>
                    <a:pt x="2129050" y="354841"/>
                  </a:lnTo>
                  <a:close/>
                  <a:moveTo>
                    <a:pt x="2129050" y="354841"/>
                  </a:moveTo>
                  <a:lnTo>
                    <a:pt x="2129050" y="266131"/>
                  </a:lnTo>
                  <a:lnTo>
                    <a:pt x="2217761" y="266131"/>
                  </a:lnTo>
                  <a:lnTo>
                    <a:pt x="2217761" y="310486"/>
                  </a:lnTo>
                  <a:cubicBezTo>
                    <a:pt x="2217761" y="334983"/>
                    <a:pt x="2197902" y="354841"/>
                    <a:pt x="2173405" y="354841"/>
                  </a:cubicBezTo>
                  <a:close/>
                </a:path>
              </a:pathLst>
            </a:custGeom>
            <a:solidFill>
              <a:srgbClr val="4E88E7"/>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59" name="Rounded Rectangle 26"/>
            <p:cNvSpPr/>
            <p:nvPr/>
          </p:nvSpPr>
          <p:spPr>
            <a:xfrm>
              <a:off x="310486" y="2927444"/>
              <a:ext cx="2217761" cy="354841"/>
            </a:xfrm>
            <a:custGeom>
              <a:avLst/>
              <a:gdLst/>
              <a:ahLst/>
              <a:cxnLst/>
              <a:rect l="0" t="0" r="0" b="0"/>
              <a:pathLst>
                <a:path w="2217761" h="354841">
                  <a:moveTo>
                    <a:pt x="0" y="88710"/>
                  </a:moveTo>
                  <a:lnTo>
                    <a:pt x="0" y="44355"/>
                  </a:lnTo>
                  <a:cubicBezTo>
                    <a:pt x="0" y="19858"/>
                    <a:pt x="19858" y="0"/>
                    <a:pt x="44355" y="0"/>
                  </a:cubicBezTo>
                  <a:lnTo>
                    <a:pt x="88710" y="0"/>
                  </a:lnTo>
                  <a:moveTo>
                    <a:pt x="2217761" y="266131"/>
                  </a:moveTo>
                  <a:lnTo>
                    <a:pt x="2217761" y="88710"/>
                  </a:lnTo>
                  <a:moveTo>
                    <a:pt x="0" y="266131"/>
                  </a:moveTo>
                  <a:lnTo>
                    <a:pt x="0" y="88710"/>
                  </a:lnTo>
                  <a:moveTo>
                    <a:pt x="88710" y="0"/>
                  </a:moveTo>
                  <a:lnTo>
                    <a:pt x="2129050" y="0"/>
                  </a:lnTo>
                  <a:moveTo>
                    <a:pt x="88710" y="354841"/>
                  </a:moveTo>
                  <a:lnTo>
                    <a:pt x="44355" y="354841"/>
                  </a:lnTo>
                  <a:cubicBezTo>
                    <a:pt x="19858" y="354841"/>
                    <a:pt x="0" y="334983"/>
                    <a:pt x="0" y="310486"/>
                  </a:cubicBezTo>
                  <a:lnTo>
                    <a:pt x="0" y="266131"/>
                  </a:lnTo>
                  <a:moveTo>
                    <a:pt x="2129050" y="0"/>
                  </a:moveTo>
                  <a:lnTo>
                    <a:pt x="2173405" y="0"/>
                  </a:lnTo>
                  <a:cubicBezTo>
                    <a:pt x="2197902" y="0"/>
                    <a:pt x="2217761" y="19858"/>
                    <a:pt x="2217761" y="44355"/>
                  </a:cubicBezTo>
                  <a:lnTo>
                    <a:pt x="2217761" y="88710"/>
                  </a:lnTo>
                  <a:moveTo>
                    <a:pt x="2129050" y="354841"/>
                  </a:moveTo>
                  <a:lnTo>
                    <a:pt x="88710" y="354841"/>
                  </a:lnTo>
                  <a:moveTo>
                    <a:pt x="2217761" y="266131"/>
                  </a:moveTo>
                  <a:lnTo>
                    <a:pt x="2217761" y="310486"/>
                  </a:lnTo>
                  <a:cubicBezTo>
                    <a:pt x="2217761" y="334983"/>
                    <a:pt x="2197902" y="354841"/>
                    <a:pt x="2173405" y="354841"/>
                  </a:cubicBezTo>
                  <a:lnTo>
                    <a:pt x="2129050" y="354841"/>
                  </a:lnTo>
                </a:path>
              </a:pathLst>
            </a:custGeom>
            <a:noFill/>
            <a:ln w="5544">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3" name="Group 12"/>
          <p:cNvGrpSpPr/>
          <p:nvPr/>
        </p:nvGrpSpPr>
        <p:grpSpPr>
          <a:xfrm>
            <a:off x="7704832" y="3159329"/>
            <a:ext cx="2527792" cy="408926"/>
            <a:chOff x="2616958" y="2927444"/>
            <a:chExt cx="1241946" cy="354841"/>
          </a:xfrm>
        </p:grpSpPr>
        <p:sp>
          <p:nvSpPr>
            <p:cNvPr id="56" name="Rounded Rectangle 28"/>
            <p:cNvSpPr/>
            <p:nvPr/>
          </p:nvSpPr>
          <p:spPr>
            <a:xfrm>
              <a:off x="2616958" y="2927444"/>
              <a:ext cx="1241946" cy="354841"/>
            </a:xfrm>
            <a:custGeom>
              <a:avLst/>
              <a:gdLst/>
              <a:ahLst/>
              <a:cxnLst/>
              <a:rect l="0" t="0" r="0" b="0"/>
              <a:pathLst>
                <a:path w="1241946" h="354841">
                  <a:moveTo>
                    <a:pt x="0" y="44355"/>
                  </a:moveTo>
                  <a:cubicBezTo>
                    <a:pt x="0" y="19858"/>
                    <a:pt x="19858" y="0"/>
                    <a:pt x="44355" y="0"/>
                  </a:cubicBezTo>
                  <a:lnTo>
                    <a:pt x="88710" y="0"/>
                  </a:lnTo>
                  <a:lnTo>
                    <a:pt x="88710" y="88710"/>
                  </a:lnTo>
                  <a:lnTo>
                    <a:pt x="0" y="88710"/>
                  </a:lnTo>
                  <a:close/>
                  <a:moveTo>
                    <a:pt x="1153235" y="0"/>
                  </a:moveTo>
                  <a:lnTo>
                    <a:pt x="1153235" y="88710"/>
                  </a:lnTo>
                  <a:lnTo>
                    <a:pt x="88710" y="88710"/>
                  </a:lnTo>
                  <a:lnTo>
                    <a:pt x="88710" y="0"/>
                  </a:lnTo>
                  <a:close/>
                  <a:moveTo>
                    <a:pt x="1241946" y="88710"/>
                  </a:moveTo>
                  <a:lnTo>
                    <a:pt x="1153235" y="88710"/>
                  </a:lnTo>
                  <a:lnTo>
                    <a:pt x="1153235" y="0"/>
                  </a:lnTo>
                  <a:lnTo>
                    <a:pt x="1197591" y="0"/>
                  </a:lnTo>
                  <a:cubicBezTo>
                    <a:pt x="1222087" y="0"/>
                    <a:pt x="1241946" y="19858"/>
                    <a:pt x="1241946" y="44355"/>
                  </a:cubicBezTo>
                  <a:close/>
                  <a:moveTo>
                    <a:pt x="1241946" y="266131"/>
                  </a:moveTo>
                  <a:lnTo>
                    <a:pt x="0" y="266131"/>
                  </a:lnTo>
                  <a:lnTo>
                    <a:pt x="0" y="88710"/>
                  </a:lnTo>
                  <a:lnTo>
                    <a:pt x="1241946" y="88710"/>
                  </a:lnTo>
                  <a:close/>
                  <a:moveTo>
                    <a:pt x="0" y="266131"/>
                  </a:moveTo>
                  <a:lnTo>
                    <a:pt x="88710" y="266131"/>
                  </a:lnTo>
                  <a:lnTo>
                    <a:pt x="88710" y="354841"/>
                  </a:lnTo>
                  <a:lnTo>
                    <a:pt x="44355" y="354841"/>
                  </a:lnTo>
                  <a:cubicBezTo>
                    <a:pt x="19858" y="354841"/>
                    <a:pt x="0" y="334983"/>
                    <a:pt x="0" y="310486"/>
                  </a:cubicBezTo>
                  <a:close/>
                  <a:moveTo>
                    <a:pt x="88710" y="354841"/>
                  </a:moveTo>
                  <a:lnTo>
                    <a:pt x="88710" y="266131"/>
                  </a:lnTo>
                  <a:lnTo>
                    <a:pt x="1153235" y="266131"/>
                  </a:lnTo>
                  <a:lnTo>
                    <a:pt x="1153235" y="354841"/>
                  </a:lnTo>
                  <a:close/>
                  <a:moveTo>
                    <a:pt x="1153235" y="354841"/>
                  </a:moveTo>
                  <a:lnTo>
                    <a:pt x="1153235" y="266131"/>
                  </a:lnTo>
                  <a:lnTo>
                    <a:pt x="1241946" y="266131"/>
                  </a:lnTo>
                  <a:lnTo>
                    <a:pt x="1241946" y="310486"/>
                  </a:lnTo>
                  <a:cubicBezTo>
                    <a:pt x="1241946" y="334983"/>
                    <a:pt x="1222087" y="354841"/>
                    <a:pt x="1197591" y="354841"/>
                  </a:cubicBezTo>
                  <a:close/>
                </a:path>
              </a:pathLst>
            </a:custGeom>
            <a:solidFill>
              <a:srgbClr val="4E88E7"/>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57" name="Rounded Rectangle 29"/>
            <p:cNvSpPr/>
            <p:nvPr/>
          </p:nvSpPr>
          <p:spPr>
            <a:xfrm>
              <a:off x="2616958" y="2927444"/>
              <a:ext cx="1241946" cy="354841"/>
            </a:xfrm>
            <a:custGeom>
              <a:avLst/>
              <a:gdLst/>
              <a:ahLst/>
              <a:cxnLst/>
              <a:rect l="0" t="0" r="0" b="0"/>
              <a:pathLst>
                <a:path w="1241946" h="354841">
                  <a:moveTo>
                    <a:pt x="0" y="88710"/>
                  </a:moveTo>
                  <a:lnTo>
                    <a:pt x="0" y="44355"/>
                  </a:lnTo>
                  <a:cubicBezTo>
                    <a:pt x="0" y="19858"/>
                    <a:pt x="19858" y="0"/>
                    <a:pt x="44355" y="0"/>
                  </a:cubicBezTo>
                  <a:lnTo>
                    <a:pt x="88710" y="0"/>
                  </a:lnTo>
                  <a:moveTo>
                    <a:pt x="1241946" y="88710"/>
                  </a:moveTo>
                  <a:lnTo>
                    <a:pt x="1241946" y="266131"/>
                  </a:lnTo>
                  <a:moveTo>
                    <a:pt x="0" y="266131"/>
                  </a:moveTo>
                  <a:lnTo>
                    <a:pt x="0" y="88710"/>
                  </a:lnTo>
                  <a:moveTo>
                    <a:pt x="88710" y="0"/>
                  </a:moveTo>
                  <a:lnTo>
                    <a:pt x="1153235" y="0"/>
                  </a:lnTo>
                  <a:moveTo>
                    <a:pt x="88710" y="354841"/>
                  </a:moveTo>
                  <a:lnTo>
                    <a:pt x="44355" y="354841"/>
                  </a:lnTo>
                  <a:cubicBezTo>
                    <a:pt x="19858" y="354841"/>
                    <a:pt x="0" y="334983"/>
                    <a:pt x="0" y="310486"/>
                  </a:cubicBezTo>
                  <a:lnTo>
                    <a:pt x="0" y="266131"/>
                  </a:lnTo>
                  <a:moveTo>
                    <a:pt x="1153235" y="0"/>
                  </a:moveTo>
                  <a:lnTo>
                    <a:pt x="1197591" y="0"/>
                  </a:lnTo>
                  <a:cubicBezTo>
                    <a:pt x="1222087" y="0"/>
                    <a:pt x="1241946" y="19858"/>
                    <a:pt x="1241946" y="44355"/>
                  </a:cubicBezTo>
                  <a:lnTo>
                    <a:pt x="1241946" y="88710"/>
                  </a:lnTo>
                  <a:moveTo>
                    <a:pt x="1153235" y="354841"/>
                  </a:moveTo>
                  <a:lnTo>
                    <a:pt x="88710" y="354841"/>
                  </a:lnTo>
                  <a:moveTo>
                    <a:pt x="1241946" y="266131"/>
                  </a:moveTo>
                  <a:lnTo>
                    <a:pt x="1241946" y="310486"/>
                  </a:lnTo>
                  <a:cubicBezTo>
                    <a:pt x="1241946" y="334983"/>
                    <a:pt x="1222087" y="354841"/>
                    <a:pt x="1197591" y="354841"/>
                  </a:cubicBezTo>
                  <a:lnTo>
                    <a:pt x="1153235" y="354841"/>
                  </a:lnTo>
                </a:path>
              </a:pathLst>
            </a:custGeom>
            <a:noFill/>
            <a:ln w="5544">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4" name="Group 13"/>
          <p:cNvGrpSpPr/>
          <p:nvPr/>
        </p:nvGrpSpPr>
        <p:grpSpPr>
          <a:xfrm>
            <a:off x="4750267" y="3602881"/>
            <a:ext cx="2738365" cy="511159"/>
            <a:chOff x="310486" y="3370997"/>
            <a:chExt cx="2217761" cy="443552"/>
          </a:xfrm>
        </p:grpSpPr>
        <p:sp>
          <p:nvSpPr>
            <p:cNvPr id="54" name="Rounded Rectangle 31"/>
            <p:cNvSpPr/>
            <p:nvPr/>
          </p:nvSpPr>
          <p:spPr>
            <a:xfrm>
              <a:off x="310486" y="3370997"/>
              <a:ext cx="2217761" cy="443552"/>
            </a:xfrm>
            <a:custGeom>
              <a:avLst/>
              <a:gdLst/>
              <a:ahLst/>
              <a:cxnLst/>
              <a:rect l="0" t="0" r="0" b="0"/>
              <a:pathLst>
                <a:path w="2217761" h="443552">
                  <a:moveTo>
                    <a:pt x="0" y="44355"/>
                  </a:moveTo>
                  <a:cubicBezTo>
                    <a:pt x="0" y="19858"/>
                    <a:pt x="19858" y="0"/>
                    <a:pt x="44355" y="0"/>
                  </a:cubicBezTo>
                  <a:lnTo>
                    <a:pt x="88710" y="0"/>
                  </a:lnTo>
                  <a:lnTo>
                    <a:pt x="88710" y="88710"/>
                  </a:lnTo>
                  <a:lnTo>
                    <a:pt x="0" y="88710"/>
                  </a:lnTo>
                  <a:close/>
                  <a:moveTo>
                    <a:pt x="2129050" y="0"/>
                  </a:moveTo>
                  <a:lnTo>
                    <a:pt x="2129050" y="88710"/>
                  </a:lnTo>
                  <a:lnTo>
                    <a:pt x="88710" y="88710"/>
                  </a:lnTo>
                  <a:lnTo>
                    <a:pt x="88710" y="0"/>
                  </a:lnTo>
                  <a:close/>
                  <a:moveTo>
                    <a:pt x="2217761" y="88710"/>
                  </a:moveTo>
                  <a:lnTo>
                    <a:pt x="2129050" y="88710"/>
                  </a:lnTo>
                  <a:lnTo>
                    <a:pt x="2129050" y="0"/>
                  </a:lnTo>
                  <a:lnTo>
                    <a:pt x="2173405" y="0"/>
                  </a:lnTo>
                  <a:cubicBezTo>
                    <a:pt x="2197902" y="0"/>
                    <a:pt x="2217761" y="19858"/>
                    <a:pt x="2217761" y="44355"/>
                  </a:cubicBezTo>
                  <a:close/>
                  <a:moveTo>
                    <a:pt x="2217761" y="354841"/>
                  </a:moveTo>
                  <a:lnTo>
                    <a:pt x="0" y="354841"/>
                  </a:lnTo>
                  <a:lnTo>
                    <a:pt x="0" y="88710"/>
                  </a:lnTo>
                  <a:lnTo>
                    <a:pt x="2217761" y="88710"/>
                  </a:lnTo>
                  <a:close/>
                  <a:moveTo>
                    <a:pt x="0" y="354841"/>
                  </a:moveTo>
                  <a:lnTo>
                    <a:pt x="88710" y="354841"/>
                  </a:lnTo>
                  <a:lnTo>
                    <a:pt x="88710" y="443552"/>
                  </a:lnTo>
                  <a:lnTo>
                    <a:pt x="44355" y="443552"/>
                  </a:lnTo>
                  <a:cubicBezTo>
                    <a:pt x="19858" y="443552"/>
                    <a:pt x="0" y="423693"/>
                    <a:pt x="0" y="399197"/>
                  </a:cubicBezTo>
                  <a:close/>
                  <a:moveTo>
                    <a:pt x="88710" y="443552"/>
                  </a:moveTo>
                  <a:lnTo>
                    <a:pt x="88710" y="354841"/>
                  </a:lnTo>
                  <a:lnTo>
                    <a:pt x="2129050" y="354841"/>
                  </a:lnTo>
                  <a:lnTo>
                    <a:pt x="2129050" y="443552"/>
                  </a:lnTo>
                  <a:close/>
                  <a:moveTo>
                    <a:pt x="2129050" y="443552"/>
                  </a:moveTo>
                  <a:lnTo>
                    <a:pt x="2129050" y="354841"/>
                  </a:lnTo>
                  <a:lnTo>
                    <a:pt x="2217761" y="354841"/>
                  </a:lnTo>
                  <a:lnTo>
                    <a:pt x="2217761" y="399197"/>
                  </a:lnTo>
                  <a:cubicBezTo>
                    <a:pt x="2217761" y="423693"/>
                    <a:pt x="2197902" y="443552"/>
                    <a:pt x="2173405" y="443552"/>
                  </a:cubicBezTo>
                  <a:close/>
                </a:path>
              </a:pathLst>
            </a:custGeom>
            <a:solidFill>
              <a:srgbClr val="4E8DF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55" name="Rounded Rectangle 32"/>
            <p:cNvSpPr/>
            <p:nvPr/>
          </p:nvSpPr>
          <p:spPr>
            <a:xfrm>
              <a:off x="310486" y="3370997"/>
              <a:ext cx="2217761" cy="443552"/>
            </a:xfrm>
            <a:custGeom>
              <a:avLst/>
              <a:gdLst/>
              <a:ahLst/>
              <a:cxnLst/>
              <a:rect l="0" t="0" r="0" b="0"/>
              <a:pathLst>
                <a:path w="2217761" h="443552">
                  <a:moveTo>
                    <a:pt x="0" y="88710"/>
                  </a:moveTo>
                  <a:lnTo>
                    <a:pt x="0" y="44355"/>
                  </a:lnTo>
                  <a:cubicBezTo>
                    <a:pt x="0" y="19858"/>
                    <a:pt x="19858" y="0"/>
                    <a:pt x="44355" y="0"/>
                  </a:cubicBezTo>
                  <a:lnTo>
                    <a:pt x="88710" y="0"/>
                  </a:lnTo>
                  <a:moveTo>
                    <a:pt x="2217761" y="88710"/>
                  </a:moveTo>
                  <a:lnTo>
                    <a:pt x="2217761" y="354841"/>
                  </a:lnTo>
                  <a:moveTo>
                    <a:pt x="0" y="354841"/>
                  </a:moveTo>
                  <a:lnTo>
                    <a:pt x="0" y="88710"/>
                  </a:lnTo>
                  <a:moveTo>
                    <a:pt x="88710" y="0"/>
                  </a:moveTo>
                  <a:lnTo>
                    <a:pt x="2129050" y="0"/>
                  </a:lnTo>
                  <a:moveTo>
                    <a:pt x="88710" y="443552"/>
                  </a:moveTo>
                  <a:lnTo>
                    <a:pt x="44355" y="443552"/>
                  </a:lnTo>
                  <a:cubicBezTo>
                    <a:pt x="19858" y="443552"/>
                    <a:pt x="0" y="423693"/>
                    <a:pt x="0" y="399197"/>
                  </a:cubicBezTo>
                  <a:lnTo>
                    <a:pt x="0" y="354841"/>
                  </a:lnTo>
                  <a:moveTo>
                    <a:pt x="2129050" y="0"/>
                  </a:moveTo>
                  <a:lnTo>
                    <a:pt x="2173405" y="0"/>
                  </a:lnTo>
                  <a:cubicBezTo>
                    <a:pt x="2197902" y="0"/>
                    <a:pt x="2217761" y="19858"/>
                    <a:pt x="2217761" y="44355"/>
                  </a:cubicBezTo>
                  <a:lnTo>
                    <a:pt x="2217761" y="88710"/>
                  </a:lnTo>
                  <a:moveTo>
                    <a:pt x="88710" y="443552"/>
                  </a:moveTo>
                  <a:lnTo>
                    <a:pt x="2129050" y="443552"/>
                  </a:lnTo>
                  <a:moveTo>
                    <a:pt x="2217761" y="354841"/>
                  </a:moveTo>
                  <a:lnTo>
                    <a:pt x="2217761" y="399197"/>
                  </a:lnTo>
                  <a:cubicBezTo>
                    <a:pt x="2217761" y="423693"/>
                    <a:pt x="2197902" y="443552"/>
                    <a:pt x="2173405" y="443552"/>
                  </a:cubicBezTo>
                  <a:lnTo>
                    <a:pt x="2129050" y="443552"/>
                  </a:lnTo>
                </a:path>
              </a:pathLst>
            </a:custGeom>
            <a:noFill/>
            <a:ln w="5544">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5" name="Group 14"/>
          <p:cNvGrpSpPr/>
          <p:nvPr/>
        </p:nvGrpSpPr>
        <p:grpSpPr>
          <a:xfrm>
            <a:off x="7704832" y="3602881"/>
            <a:ext cx="2527792" cy="511159"/>
            <a:chOff x="2616958" y="3370997"/>
            <a:chExt cx="1241946" cy="443552"/>
          </a:xfrm>
        </p:grpSpPr>
        <p:sp>
          <p:nvSpPr>
            <p:cNvPr id="52" name="Rounded Rectangle 34"/>
            <p:cNvSpPr/>
            <p:nvPr/>
          </p:nvSpPr>
          <p:spPr>
            <a:xfrm>
              <a:off x="2616958" y="3370997"/>
              <a:ext cx="1241946" cy="443552"/>
            </a:xfrm>
            <a:custGeom>
              <a:avLst/>
              <a:gdLst/>
              <a:ahLst/>
              <a:cxnLst/>
              <a:rect l="0" t="0" r="0" b="0"/>
              <a:pathLst>
                <a:path w="1241946" h="443552">
                  <a:moveTo>
                    <a:pt x="0" y="44355"/>
                  </a:moveTo>
                  <a:cubicBezTo>
                    <a:pt x="0" y="19858"/>
                    <a:pt x="19858" y="0"/>
                    <a:pt x="44355" y="0"/>
                  </a:cubicBezTo>
                  <a:lnTo>
                    <a:pt x="88710" y="0"/>
                  </a:lnTo>
                  <a:lnTo>
                    <a:pt x="88710" y="88710"/>
                  </a:lnTo>
                  <a:lnTo>
                    <a:pt x="0" y="88710"/>
                  </a:lnTo>
                  <a:close/>
                  <a:moveTo>
                    <a:pt x="1153235" y="0"/>
                  </a:moveTo>
                  <a:lnTo>
                    <a:pt x="1153235" y="88710"/>
                  </a:lnTo>
                  <a:lnTo>
                    <a:pt x="88710" y="88710"/>
                  </a:lnTo>
                  <a:lnTo>
                    <a:pt x="88710" y="0"/>
                  </a:lnTo>
                  <a:close/>
                  <a:moveTo>
                    <a:pt x="1241946" y="88710"/>
                  </a:moveTo>
                  <a:lnTo>
                    <a:pt x="1153235" y="88710"/>
                  </a:lnTo>
                  <a:lnTo>
                    <a:pt x="1153235" y="0"/>
                  </a:lnTo>
                  <a:lnTo>
                    <a:pt x="1197591" y="0"/>
                  </a:lnTo>
                  <a:cubicBezTo>
                    <a:pt x="1222087" y="0"/>
                    <a:pt x="1241946" y="19858"/>
                    <a:pt x="1241946" y="44355"/>
                  </a:cubicBezTo>
                  <a:close/>
                  <a:moveTo>
                    <a:pt x="1241946" y="354841"/>
                  </a:moveTo>
                  <a:lnTo>
                    <a:pt x="0" y="354841"/>
                  </a:lnTo>
                  <a:lnTo>
                    <a:pt x="0" y="88710"/>
                  </a:lnTo>
                  <a:lnTo>
                    <a:pt x="1241946" y="88710"/>
                  </a:lnTo>
                  <a:close/>
                  <a:moveTo>
                    <a:pt x="0" y="354841"/>
                  </a:moveTo>
                  <a:lnTo>
                    <a:pt x="88710" y="354841"/>
                  </a:lnTo>
                  <a:lnTo>
                    <a:pt x="88710" y="443552"/>
                  </a:lnTo>
                  <a:lnTo>
                    <a:pt x="44355" y="443552"/>
                  </a:lnTo>
                  <a:cubicBezTo>
                    <a:pt x="19858" y="443552"/>
                    <a:pt x="0" y="423693"/>
                    <a:pt x="0" y="399197"/>
                  </a:cubicBezTo>
                  <a:close/>
                  <a:moveTo>
                    <a:pt x="88710" y="443552"/>
                  </a:moveTo>
                  <a:lnTo>
                    <a:pt x="88710" y="354841"/>
                  </a:lnTo>
                  <a:lnTo>
                    <a:pt x="1153235" y="354841"/>
                  </a:lnTo>
                  <a:lnTo>
                    <a:pt x="1153235" y="443552"/>
                  </a:lnTo>
                  <a:close/>
                  <a:moveTo>
                    <a:pt x="1153235" y="443552"/>
                  </a:moveTo>
                  <a:lnTo>
                    <a:pt x="1153235" y="354841"/>
                  </a:lnTo>
                  <a:lnTo>
                    <a:pt x="1241946" y="354841"/>
                  </a:lnTo>
                  <a:lnTo>
                    <a:pt x="1241946" y="399197"/>
                  </a:lnTo>
                  <a:cubicBezTo>
                    <a:pt x="1241946" y="423693"/>
                    <a:pt x="1222087" y="443552"/>
                    <a:pt x="1197591" y="443552"/>
                  </a:cubicBezTo>
                  <a:close/>
                </a:path>
              </a:pathLst>
            </a:custGeom>
            <a:solidFill>
              <a:srgbClr val="4E8DF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53" name="Rounded Rectangle 35"/>
            <p:cNvSpPr/>
            <p:nvPr/>
          </p:nvSpPr>
          <p:spPr>
            <a:xfrm>
              <a:off x="2616958" y="3370997"/>
              <a:ext cx="1241946" cy="443552"/>
            </a:xfrm>
            <a:custGeom>
              <a:avLst/>
              <a:gdLst/>
              <a:ahLst/>
              <a:cxnLst/>
              <a:rect l="0" t="0" r="0" b="0"/>
              <a:pathLst>
                <a:path w="1241946" h="443552">
                  <a:moveTo>
                    <a:pt x="0" y="88710"/>
                  </a:moveTo>
                  <a:lnTo>
                    <a:pt x="0" y="44355"/>
                  </a:lnTo>
                  <a:cubicBezTo>
                    <a:pt x="0" y="19858"/>
                    <a:pt x="19858" y="0"/>
                    <a:pt x="44355" y="0"/>
                  </a:cubicBezTo>
                  <a:lnTo>
                    <a:pt x="88710" y="0"/>
                  </a:lnTo>
                  <a:moveTo>
                    <a:pt x="1241946" y="88710"/>
                  </a:moveTo>
                  <a:lnTo>
                    <a:pt x="1241946" y="354841"/>
                  </a:lnTo>
                  <a:moveTo>
                    <a:pt x="0" y="354841"/>
                  </a:moveTo>
                  <a:lnTo>
                    <a:pt x="0" y="88710"/>
                  </a:lnTo>
                  <a:moveTo>
                    <a:pt x="88710" y="0"/>
                  </a:moveTo>
                  <a:lnTo>
                    <a:pt x="1153235" y="0"/>
                  </a:lnTo>
                  <a:moveTo>
                    <a:pt x="88710" y="443552"/>
                  </a:moveTo>
                  <a:lnTo>
                    <a:pt x="44355" y="443552"/>
                  </a:lnTo>
                  <a:cubicBezTo>
                    <a:pt x="19858" y="443552"/>
                    <a:pt x="0" y="423693"/>
                    <a:pt x="0" y="399197"/>
                  </a:cubicBezTo>
                  <a:lnTo>
                    <a:pt x="0" y="354841"/>
                  </a:lnTo>
                  <a:moveTo>
                    <a:pt x="1153235" y="0"/>
                  </a:moveTo>
                  <a:lnTo>
                    <a:pt x="1197591" y="0"/>
                  </a:lnTo>
                  <a:cubicBezTo>
                    <a:pt x="1222087" y="0"/>
                    <a:pt x="1241946" y="19858"/>
                    <a:pt x="1241946" y="44355"/>
                  </a:cubicBezTo>
                  <a:lnTo>
                    <a:pt x="1241946" y="88710"/>
                  </a:lnTo>
                  <a:moveTo>
                    <a:pt x="1153235" y="443552"/>
                  </a:moveTo>
                  <a:lnTo>
                    <a:pt x="88710" y="443552"/>
                  </a:lnTo>
                  <a:moveTo>
                    <a:pt x="1241946" y="354841"/>
                  </a:moveTo>
                  <a:lnTo>
                    <a:pt x="1241946" y="399197"/>
                  </a:lnTo>
                  <a:cubicBezTo>
                    <a:pt x="1241946" y="423693"/>
                    <a:pt x="1222087" y="443552"/>
                    <a:pt x="1197591" y="443552"/>
                  </a:cubicBezTo>
                  <a:lnTo>
                    <a:pt x="1153235" y="443552"/>
                  </a:lnTo>
                </a:path>
              </a:pathLst>
            </a:custGeom>
            <a:noFill/>
            <a:ln w="5544">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6" name="Group 15"/>
          <p:cNvGrpSpPr/>
          <p:nvPr/>
        </p:nvGrpSpPr>
        <p:grpSpPr>
          <a:xfrm>
            <a:off x="4750267" y="4135143"/>
            <a:ext cx="2738365" cy="511159"/>
            <a:chOff x="310486" y="3903259"/>
            <a:chExt cx="2217761" cy="443552"/>
          </a:xfrm>
        </p:grpSpPr>
        <p:sp>
          <p:nvSpPr>
            <p:cNvPr id="50" name="Rounded Rectangle 37"/>
            <p:cNvSpPr/>
            <p:nvPr/>
          </p:nvSpPr>
          <p:spPr>
            <a:xfrm>
              <a:off x="310486" y="3903259"/>
              <a:ext cx="2217761" cy="443552"/>
            </a:xfrm>
            <a:custGeom>
              <a:avLst/>
              <a:gdLst/>
              <a:ahLst/>
              <a:cxnLst/>
              <a:rect l="0" t="0" r="0" b="0"/>
              <a:pathLst>
                <a:path w="2217761" h="443552">
                  <a:moveTo>
                    <a:pt x="0" y="44355"/>
                  </a:moveTo>
                  <a:cubicBezTo>
                    <a:pt x="0" y="19858"/>
                    <a:pt x="19858" y="0"/>
                    <a:pt x="44355" y="0"/>
                  </a:cubicBezTo>
                  <a:lnTo>
                    <a:pt x="88710" y="0"/>
                  </a:lnTo>
                  <a:lnTo>
                    <a:pt x="88710" y="88710"/>
                  </a:lnTo>
                  <a:lnTo>
                    <a:pt x="0" y="88710"/>
                  </a:lnTo>
                  <a:close/>
                  <a:moveTo>
                    <a:pt x="2129050" y="0"/>
                  </a:moveTo>
                  <a:lnTo>
                    <a:pt x="2129050" y="88710"/>
                  </a:lnTo>
                  <a:lnTo>
                    <a:pt x="88710" y="88710"/>
                  </a:lnTo>
                  <a:lnTo>
                    <a:pt x="88710" y="0"/>
                  </a:lnTo>
                  <a:close/>
                  <a:moveTo>
                    <a:pt x="2217761" y="88710"/>
                  </a:moveTo>
                  <a:lnTo>
                    <a:pt x="2129050" y="88710"/>
                  </a:lnTo>
                  <a:lnTo>
                    <a:pt x="2129050" y="0"/>
                  </a:lnTo>
                  <a:lnTo>
                    <a:pt x="2173405" y="0"/>
                  </a:lnTo>
                  <a:cubicBezTo>
                    <a:pt x="2197902" y="0"/>
                    <a:pt x="2217761" y="19858"/>
                    <a:pt x="2217761" y="44355"/>
                  </a:cubicBezTo>
                  <a:close/>
                  <a:moveTo>
                    <a:pt x="2217761" y="354841"/>
                  </a:moveTo>
                  <a:lnTo>
                    <a:pt x="0" y="354841"/>
                  </a:lnTo>
                  <a:lnTo>
                    <a:pt x="0" y="88710"/>
                  </a:lnTo>
                  <a:lnTo>
                    <a:pt x="2217761" y="88710"/>
                  </a:lnTo>
                  <a:close/>
                  <a:moveTo>
                    <a:pt x="0" y="354841"/>
                  </a:moveTo>
                  <a:lnTo>
                    <a:pt x="88710" y="354841"/>
                  </a:lnTo>
                  <a:lnTo>
                    <a:pt x="88710" y="443552"/>
                  </a:lnTo>
                  <a:lnTo>
                    <a:pt x="44355" y="443552"/>
                  </a:lnTo>
                  <a:cubicBezTo>
                    <a:pt x="19858" y="443552"/>
                    <a:pt x="0" y="423693"/>
                    <a:pt x="0" y="399197"/>
                  </a:cubicBezTo>
                  <a:close/>
                  <a:moveTo>
                    <a:pt x="88710" y="443552"/>
                  </a:moveTo>
                  <a:lnTo>
                    <a:pt x="88710" y="354841"/>
                  </a:lnTo>
                  <a:lnTo>
                    <a:pt x="2129050" y="354841"/>
                  </a:lnTo>
                  <a:lnTo>
                    <a:pt x="2129050" y="443552"/>
                  </a:lnTo>
                  <a:close/>
                  <a:moveTo>
                    <a:pt x="2129050" y="443552"/>
                  </a:moveTo>
                  <a:lnTo>
                    <a:pt x="2129050" y="354841"/>
                  </a:lnTo>
                  <a:lnTo>
                    <a:pt x="2217761" y="354841"/>
                  </a:lnTo>
                  <a:lnTo>
                    <a:pt x="2217761" y="399197"/>
                  </a:lnTo>
                  <a:cubicBezTo>
                    <a:pt x="2217761" y="423693"/>
                    <a:pt x="2197902" y="443552"/>
                    <a:pt x="2173405" y="443552"/>
                  </a:cubicBezTo>
                  <a:close/>
                </a:path>
              </a:pathLst>
            </a:custGeom>
            <a:solidFill>
              <a:srgbClr val="4F92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51" name="Rounded Rectangle 38"/>
            <p:cNvSpPr/>
            <p:nvPr/>
          </p:nvSpPr>
          <p:spPr>
            <a:xfrm>
              <a:off x="310486" y="3903259"/>
              <a:ext cx="2217761" cy="443552"/>
            </a:xfrm>
            <a:custGeom>
              <a:avLst/>
              <a:gdLst/>
              <a:ahLst/>
              <a:cxnLst/>
              <a:rect l="0" t="0" r="0" b="0"/>
              <a:pathLst>
                <a:path w="2217761" h="443552">
                  <a:moveTo>
                    <a:pt x="0" y="88710"/>
                  </a:moveTo>
                  <a:lnTo>
                    <a:pt x="0" y="44355"/>
                  </a:lnTo>
                  <a:cubicBezTo>
                    <a:pt x="0" y="19858"/>
                    <a:pt x="19858" y="0"/>
                    <a:pt x="44355" y="0"/>
                  </a:cubicBezTo>
                  <a:lnTo>
                    <a:pt x="88710" y="0"/>
                  </a:lnTo>
                  <a:moveTo>
                    <a:pt x="2217761" y="88710"/>
                  </a:moveTo>
                  <a:lnTo>
                    <a:pt x="2217761" y="354841"/>
                  </a:lnTo>
                  <a:moveTo>
                    <a:pt x="0" y="354841"/>
                  </a:moveTo>
                  <a:lnTo>
                    <a:pt x="0" y="88710"/>
                  </a:lnTo>
                  <a:moveTo>
                    <a:pt x="88710" y="0"/>
                  </a:moveTo>
                  <a:lnTo>
                    <a:pt x="2129050" y="0"/>
                  </a:lnTo>
                  <a:moveTo>
                    <a:pt x="88710" y="443552"/>
                  </a:moveTo>
                  <a:lnTo>
                    <a:pt x="44355" y="443552"/>
                  </a:lnTo>
                  <a:cubicBezTo>
                    <a:pt x="19858" y="443552"/>
                    <a:pt x="0" y="423693"/>
                    <a:pt x="0" y="399197"/>
                  </a:cubicBezTo>
                  <a:lnTo>
                    <a:pt x="0" y="354841"/>
                  </a:lnTo>
                  <a:moveTo>
                    <a:pt x="2129050" y="0"/>
                  </a:moveTo>
                  <a:lnTo>
                    <a:pt x="2173405" y="0"/>
                  </a:lnTo>
                  <a:cubicBezTo>
                    <a:pt x="2197902" y="0"/>
                    <a:pt x="2217761" y="19858"/>
                    <a:pt x="2217761" y="44355"/>
                  </a:cubicBezTo>
                  <a:lnTo>
                    <a:pt x="2217761" y="88710"/>
                  </a:lnTo>
                  <a:moveTo>
                    <a:pt x="88710" y="443552"/>
                  </a:moveTo>
                  <a:lnTo>
                    <a:pt x="2129050" y="443552"/>
                  </a:lnTo>
                  <a:moveTo>
                    <a:pt x="2217761" y="354841"/>
                  </a:moveTo>
                  <a:lnTo>
                    <a:pt x="2217761" y="399197"/>
                  </a:lnTo>
                  <a:cubicBezTo>
                    <a:pt x="2217761" y="423693"/>
                    <a:pt x="2197902" y="443552"/>
                    <a:pt x="2173405" y="443552"/>
                  </a:cubicBezTo>
                  <a:lnTo>
                    <a:pt x="2129050" y="443552"/>
                  </a:lnTo>
                </a:path>
              </a:pathLst>
            </a:custGeom>
            <a:noFill/>
            <a:ln w="5544">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7" name="Group 16"/>
          <p:cNvGrpSpPr/>
          <p:nvPr/>
        </p:nvGrpSpPr>
        <p:grpSpPr>
          <a:xfrm>
            <a:off x="7704832" y="4135143"/>
            <a:ext cx="2527792" cy="511159"/>
            <a:chOff x="2616958" y="3903259"/>
            <a:chExt cx="1241946" cy="443552"/>
          </a:xfrm>
        </p:grpSpPr>
        <p:sp>
          <p:nvSpPr>
            <p:cNvPr id="48" name="Rounded Rectangle 40"/>
            <p:cNvSpPr/>
            <p:nvPr/>
          </p:nvSpPr>
          <p:spPr>
            <a:xfrm>
              <a:off x="2616958" y="3903259"/>
              <a:ext cx="1241946" cy="443552"/>
            </a:xfrm>
            <a:custGeom>
              <a:avLst/>
              <a:gdLst/>
              <a:ahLst/>
              <a:cxnLst/>
              <a:rect l="0" t="0" r="0" b="0"/>
              <a:pathLst>
                <a:path w="1241946" h="443552">
                  <a:moveTo>
                    <a:pt x="0" y="44355"/>
                  </a:moveTo>
                  <a:cubicBezTo>
                    <a:pt x="0" y="19858"/>
                    <a:pt x="19858" y="0"/>
                    <a:pt x="44355" y="0"/>
                  </a:cubicBezTo>
                  <a:lnTo>
                    <a:pt x="88710" y="0"/>
                  </a:lnTo>
                  <a:lnTo>
                    <a:pt x="88710" y="88710"/>
                  </a:lnTo>
                  <a:lnTo>
                    <a:pt x="0" y="88710"/>
                  </a:lnTo>
                  <a:close/>
                  <a:moveTo>
                    <a:pt x="1153235" y="0"/>
                  </a:moveTo>
                  <a:lnTo>
                    <a:pt x="1153235" y="88710"/>
                  </a:lnTo>
                  <a:lnTo>
                    <a:pt x="88710" y="88710"/>
                  </a:lnTo>
                  <a:lnTo>
                    <a:pt x="88710" y="0"/>
                  </a:lnTo>
                  <a:close/>
                  <a:moveTo>
                    <a:pt x="1241946" y="88710"/>
                  </a:moveTo>
                  <a:lnTo>
                    <a:pt x="1153235" y="88710"/>
                  </a:lnTo>
                  <a:lnTo>
                    <a:pt x="1153235" y="0"/>
                  </a:lnTo>
                  <a:lnTo>
                    <a:pt x="1197591" y="0"/>
                  </a:lnTo>
                  <a:cubicBezTo>
                    <a:pt x="1222087" y="0"/>
                    <a:pt x="1241946" y="19858"/>
                    <a:pt x="1241946" y="44355"/>
                  </a:cubicBezTo>
                  <a:close/>
                  <a:moveTo>
                    <a:pt x="1241946" y="354841"/>
                  </a:moveTo>
                  <a:lnTo>
                    <a:pt x="0" y="354841"/>
                  </a:lnTo>
                  <a:lnTo>
                    <a:pt x="0" y="88710"/>
                  </a:lnTo>
                  <a:lnTo>
                    <a:pt x="1241946" y="88710"/>
                  </a:lnTo>
                  <a:close/>
                  <a:moveTo>
                    <a:pt x="0" y="354841"/>
                  </a:moveTo>
                  <a:lnTo>
                    <a:pt x="88710" y="354841"/>
                  </a:lnTo>
                  <a:lnTo>
                    <a:pt x="88710" y="443552"/>
                  </a:lnTo>
                  <a:lnTo>
                    <a:pt x="44355" y="443552"/>
                  </a:lnTo>
                  <a:cubicBezTo>
                    <a:pt x="19858" y="443552"/>
                    <a:pt x="0" y="423693"/>
                    <a:pt x="0" y="399197"/>
                  </a:cubicBezTo>
                  <a:close/>
                  <a:moveTo>
                    <a:pt x="88710" y="443552"/>
                  </a:moveTo>
                  <a:lnTo>
                    <a:pt x="88710" y="354841"/>
                  </a:lnTo>
                  <a:lnTo>
                    <a:pt x="1153235" y="354841"/>
                  </a:lnTo>
                  <a:lnTo>
                    <a:pt x="1153235" y="443552"/>
                  </a:lnTo>
                  <a:close/>
                  <a:moveTo>
                    <a:pt x="1153235" y="443552"/>
                  </a:moveTo>
                  <a:lnTo>
                    <a:pt x="1153235" y="354841"/>
                  </a:lnTo>
                  <a:lnTo>
                    <a:pt x="1241946" y="354841"/>
                  </a:lnTo>
                  <a:lnTo>
                    <a:pt x="1241946" y="399197"/>
                  </a:lnTo>
                  <a:cubicBezTo>
                    <a:pt x="1241946" y="423693"/>
                    <a:pt x="1222087" y="443552"/>
                    <a:pt x="1197591" y="443552"/>
                  </a:cubicBezTo>
                  <a:close/>
                </a:path>
              </a:pathLst>
            </a:custGeom>
            <a:solidFill>
              <a:srgbClr val="4F92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9" name="Rounded Rectangle 41"/>
            <p:cNvSpPr/>
            <p:nvPr/>
          </p:nvSpPr>
          <p:spPr>
            <a:xfrm>
              <a:off x="2616958" y="3903259"/>
              <a:ext cx="1241946" cy="443552"/>
            </a:xfrm>
            <a:custGeom>
              <a:avLst/>
              <a:gdLst/>
              <a:ahLst/>
              <a:cxnLst/>
              <a:rect l="0" t="0" r="0" b="0"/>
              <a:pathLst>
                <a:path w="1241946" h="443552">
                  <a:moveTo>
                    <a:pt x="0" y="88710"/>
                  </a:moveTo>
                  <a:lnTo>
                    <a:pt x="0" y="44355"/>
                  </a:lnTo>
                  <a:cubicBezTo>
                    <a:pt x="0" y="19858"/>
                    <a:pt x="19858" y="0"/>
                    <a:pt x="44355" y="0"/>
                  </a:cubicBezTo>
                  <a:lnTo>
                    <a:pt x="88710" y="0"/>
                  </a:lnTo>
                  <a:moveTo>
                    <a:pt x="1241946" y="88710"/>
                  </a:moveTo>
                  <a:lnTo>
                    <a:pt x="1241946" y="354841"/>
                  </a:lnTo>
                  <a:moveTo>
                    <a:pt x="0" y="354841"/>
                  </a:moveTo>
                  <a:lnTo>
                    <a:pt x="0" y="88710"/>
                  </a:lnTo>
                  <a:moveTo>
                    <a:pt x="88710" y="0"/>
                  </a:moveTo>
                  <a:lnTo>
                    <a:pt x="1153235" y="0"/>
                  </a:lnTo>
                  <a:moveTo>
                    <a:pt x="88710" y="443552"/>
                  </a:moveTo>
                  <a:lnTo>
                    <a:pt x="44355" y="443552"/>
                  </a:lnTo>
                  <a:cubicBezTo>
                    <a:pt x="19858" y="443552"/>
                    <a:pt x="0" y="423693"/>
                    <a:pt x="0" y="399197"/>
                  </a:cubicBezTo>
                  <a:lnTo>
                    <a:pt x="0" y="354841"/>
                  </a:lnTo>
                  <a:moveTo>
                    <a:pt x="1153235" y="0"/>
                  </a:moveTo>
                  <a:lnTo>
                    <a:pt x="1197591" y="0"/>
                  </a:lnTo>
                  <a:cubicBezTo>
                    <a:pt x="1222087" y="0"/>
                    <a:pt x="1241946" y="19858"/>
                    <a:pt x="1241946" y="44355"/>
                  </a:cubicBezTo>
                  <a:lnTo>
                    <a:pt x="1241946" y="88710"/>
                  </a:lnTo>
                  <a:moveTo>
                    <a:pt x="1153235" y="443552"/>
                  </a:moveTo>
                  <a:lnTo>
                    <a:pt x="88710" y="443552"/>
                  </a:lnTo>
                  <a:moveTo>
                    <a:pt x="1241946" y="354841"/>
                  </a:moveTo>
                  <a:lnTo>
                    <a:pt x="1241946" y="399197"/>
                  </a:lnTo>
                  <a:cubicBezTo>
                    <a:pt x="1241946" y="423693"/>
                    <a:pt x="1222087" y="443552"/>
                    <a:pt x="1197591" y="443552"/>
                  </a:cubicBezTo>
                  <a:lnTo>
                    <a:pt x="1153235" y="443552"/>
                  </a:lnTo>
                </a:path>
              </a:pathLst>
            </a:custGeom>
            <a:noFill/>
            <a:ln w="5544">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8" name="Group 17"/>
          <p:cNvGrpSpPr/>
          <p:nvPr/>
        </p:nvGrpSpPr>
        <p:grpSpPr>
          <a:xfrm>
            <a:off x="4750267" y="4667406"/>
            <a:ext cx="2738365" cy="511159"/>
            <a:chOff x="310486" y="4435522"/>
            <a:chExt cx="2217761" cy="443552"/>
          </a:xfrm>
        </p:grpSpPr>
        <p:sp>
          <p:nvSpPr>
            <p:cNvPr id="46" name="Rounded Rectangle 43"/>
            <p:cNvSpPr/>
            <p:nvPr/>
          </p:nvSpPr>
          <p:spPr>
            <a:xfrm>
              <a:off x="310486" y="4435522"/>
              <a:ext cx="2217761" cy="443552"/>
            </a:xfrm>
            <a:custGeom>
              <a:avLst/>
              <a:gdLst/>
              <a:ahLst/>
              <a:cxnLst/>
              <a:rect l="0" t="0" r="0" b="0"/>
              <a:pathLst>
                <a:path w="2217761" h="443552">
                  <a:moveTo>
                    <a:pt x="0" y="44355"/>
                  </a:moveTo>
                  <a:cubicBezTo>
                    <a:pt x="0" y="19858"/>
                    <a:pt x="19858" y="0"/>
                    <a:pt x="44355" y="0"/>
                  </a:cubicBezTo>
                  <a:lnTo>
                    <a:pt x="88710" y="0"/>
                  </a:lnTo>
                  <a:lnTo>
                    <a:pt x="88710" y="88710"/>
                  </a:lnTo>
                  <a:lnTo>
                    <a:pt x="0" y="88710"/>
                  </a:lnTo>
                  <a:close/>
                  <a:moveTo>
                    <a:pt x="2129050" y="0"/>
                  </a:moveTo>
                  <a:lnTo>
                    <a:pt x="2129050" y="88710"/>
                  </a:lnTo>
                  <a:lnTo>
                    <a:pt x="88710" y="88710"/>
                  </a:lnTo>
                  <a:lnTo>
                    <a:pt x="88710" y="0"/>
                  </a:lnTo>
                  <a:close/>
                  <a:moveTo>
                    <a:pt x="2217761" y="88710"/>
                  </a:moveTo>
                  <a:lnTo>
                    <a:pt x="2129050" y="88710"/>
                  </a:lnTo>
                  <a:lnTo>
                    <a:pt x="2129050" y="0"/>
                  </a:lnTo>
                  <a:lnTo>
                    <a:pt x="2173405" y="0"/>
                  </a:lnTo>
                  <a:cubicBezTo>
                    <a:pt x="2197902" y="0"/>
                    <a:pt x="2217761" y="19858"/>
                    <a:pt x="2217761" y="44355"/>
                  </a:cubicBezTo>
                  <a:close/>
                  <a:moveTo>
                    <a:pt x="2217761" y="354841"/>
                  </a:moveTo>
                  <a:lnTo>
                    <a:pt x="0" y="354841"/>
                  </a:lnTo>
                  <a:lnTo>
                    <a:pt x="0" y="88710"/>
                  </a:lnTo>
                  <a:lnTo>
                    <a:pt x="2217761" y="88710"/>
                  </a:lnTo>
                  <a:close/>
                  <a:moveTo>
                    <a:pt x="0" y="354841"/>
                  </a:moveTo>
                  <a:lnTo>
                    <a:pt x="88710" y="354841"/>
                  </a:lnTo>
                  <a:lnTo>
                    <a:pt x="88710" y="443552"/>
                  </a:lnTo>
                  <a:lnTo>
                    <a:pt x="44355" y="443552"/>
                  </a:lnTo>
                  <a:cubicBezTo>
                    <a:pt x="19858" y="443552"/>
                    <a:pt x="0" y="423693"/>
                    <a:pt x="0" y="399197"/>
                  </a:cubicBezTo>
                  <a:close/>
                  <a:moveTo>
                    <a:pt x="88710" y="443552"/>
                  </a:moveTo>
                  <a:lnTo>
                    <a:pt x="88710" y="354841"/>
                  </a:lnTo>
                  <a:lnTo>
                    <a:pt x="2129050" y="354841"/>
                  </a:lnTo>
                  <a:lnTo>
                    <a:pt x="2129050" y="443552"/>
                  </a:lnTo>
                  <a:close/>
                  <a:moveTo>
                    <a:pt x="2129050" y="443552"/>
                  </a:moveTo>
                  <a:lnTo>
                    <a:pt x="2129050" y="354841"/>
                  </a:lnTo>
                  <a:lnTo>
                    <a:pt x="2217761" y="354841"/>
                  </a:lnTo>
                  <a:lnTo>
                    <a:pt x="2217761" y="399197"/>
                  </a:lnTo>
                  <a:cubicBezTo>
                    <a:pt x="2217761" y="423693"/>
                    <a:pt x="2197902" y="443552"/>
                    <a:pt x="2173405" y="443552"/>
                  </a:cubicBezTo>
                  <a:close/>
                </a:path>
              </a:pathLst>
            </a:custGeom>
            <a:solidFill>
              <a:srgbClr val="72A8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7" name="Rounded Rectangle 44"/>
            <p:cNvSpPr/>
            <p:nvPr/>
          </p:nvSpPr>
          <p:spPr>
            <a:xfrm>
              <a:off x="310486" y="4435522"/>
              <a:ext cx="2217761" cy="443552"/>
            </a:xfrm>
            <a:custGeom>
              <a:avLst/>
              <a:gdLst/>
              <a:ahLst/>
              <a:cxnLst/>
              <a:rect l="0" t="0" r="0" b="0"/>
              <a:pathLst>
                <a:path w="2217761" h="443552">
                  <a:moveTo>
                    <a:pt x="0" y="88710"/>
                  </a:moveTo>
                  <a:lnTo>
                    <a:pt x="0" y="44355"/>
                  </a:lnTo>
                  <a:cubicBezTo>
                    <a:pt x="0" y="19858"/>
                    <a:pt x="19858" y="0"/>
                    <a:pt x="44355" y="0"/>
                  </a:cubicBezTo>
                  <a:lnTo>
                    <a:pt x="88710" y="0"/>
                  </a:lnTo>
                  <a:moveTo>
                    <a:pt x="2217761" y="88710"/>
                  </a:moveTo>
                  <a:lnTo>
                    <a:pt x="2217761" y="354841"/>
                  </a:lnTo>
                  <a:moveTo>
                    <a:pt x="0" y="354841"/>
                  </a:moveTo>
                  <a:lnTo>
                    <a:pt x="0" y="88710"/>
                  </a:lnTo>
                  <a:moveTo>
                    <a:pt x="88710" y="0"/>
                  </a:moveTo>
                  <a:lnTo>
                    <a:pt x="2129050" y="0"/>
                  </a:lnTo>
                  <a:moveTo>
                    <a:pt x="88710" y="443552"/>
                  </a:moveTo>
                  <a:lnTo>
                    <a:pt x="44355" y="443552"/>
                  </a:lnTo>
                  <a:cubicBezTo>
                    <a:pt x="19858" y="443552"/>
                    <a:pt x="0" y="423693"/>
                    <a:pt x="0" y="399197"/>
                  </a:cubicBezTo>
                  <a:lnTo>
                    <a:pt x="0" y="354841"/>
                  </a:lnTo>
                  <a:moveTo>
                    <a:pt x="2129050" y="0"/>
                  </a:moveTo>
                  <a:lnTo>
                    <a:pt x="2173405" y="0"/>
                  </a:lnTo>
                  <a:cubicBezTo>
                    <a:pt x="2197902" y="0"/>
                    <a:pt x="2217761" y="19858"/>
                    <a:pt x="2217761" y="44355"/>
                  </a:cubicBezTo>
                  <a:lnTo>
                    <a:pt x="2217761" y="88710"/>
                  </a:lnTo>
                  <a:moveTo>
                    <a:pt x="88710" y="443552"/>
                  </a:moveTo>
                  <a:lnTo>
                    <a:pt x="2129050" y="443552"/>
                  </a:lnTo>
                  <a:moveTo>
                    <a:pt x="2217761" y="354841"/>
                  </a:moveTo>
                  <a:lnTo>
                    <a:pt x="2217761" y="399197"/>
                  </a:lnTo>
                  <a:cubicBezTo>
                    <a:pt x="2217761" y="423693"/>
                    <a:pt x="2197902" y="443552"/>
                    <a:pt x="2173405" y="443552"/>
                  </a:cubicBezTo>
                  <a:lnTo>
                    <a:pt x="2129050" y="443552"/>
                  </a:lnTo>
                </a:path>
              </a:pathLst>
            </a:custGeom>
            <a:noFill/>
            <a:ln w="5544">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9" name="Group 18"/>
          <p:cNvGrpSpPr/>
          <p:nvPr/>
        </p:nvGrpSpPr>
        <p:grpSpPr>
          <a:xfrm>
            <a:off x="7704832" y="4667406"/>
            <a:ext cx="2527792" cy="511159"/>
            <a:chOff x="2616958" y="4435522"/>
            <a:chExt cx="1241946" cy="443552"/>
          </a:xfrm>
        </p:grpSpPr>
        <p:sp>
          <p:nvSpPr>
            <p:cNvPr id="44" name="Rounded Rectangle 46"/>
            <p:cNvSpPr/>
            <p:nvPr/>
          </p:nvSpPr>
          <p:spPr>
            <a:xfrm>
              <a:off x="2616958" y="4435522"/>
              <a:ext cx="1241946" cy="443552"/>
            </a:xfrm>
            <a:custGeom>
              <a:avLst/>
              <a:gdLst/>
              <a:ahLst/>
              <a:cxnLst/>
              <a:rect l="0" t="0" r="0" b="0"/>
              <a:pathLst>
                <a:path w="1241946" h="443552">
                  <a:moveTo>
                    <a:pt x="0" y="44355"/>
                  </a:moveTo>
                  <a:cubicBezTo>
                    <a:pt x="0" y="19858"/>
                    <a:pt x="19858" y="0"/>
                    <a:pt x="44355" y="0"/>
                  </a:cubicBezTo>
                  <a:lnTo>
                    <a:pt x="88710" y="0"/>
                  </a:lnTo>
                  <a:lnTo>
                    <a:pt x="88710" y="88710"/>
                  </a:lnTo>
                  <a:lnTo>
                    <a:pt x="0" y="88710"/>
                  </a:lnTo>
                  <a:close/>
                  <a:moveTo>
                    <a:pt x="1153235" y="0"/>
                  </a:moveTo>
                  <a:lnTo>
                    <a:pt x="1153235" y="88710"/>
                  </a:lnTo>
                  <a:lnTo>
                    <a:pt x="88710" y="88710"/>
                  </a:lnTo>
                  <a:lnTo>
                    <a:pt x="88710" y="0"/>
                  </a:lnTo>
                  <a:close/>
                  <a:moveTo>
                    <a:pt x="1241946" y="88710"/>
                  </a:moveTo>
                  <a:lnTo>
                    <a:pt x="1153235" y="88710"/>
                  </a:lnTo>
                  <a:lnTo>
                    <a:pt x="1153235" y="0"/>
                  </a:lnTo>
                  <a:lnTo>
                    <a:pt x="1197591" y="0"/>
                  </a:lnTo>
                  <a:cubicBezTo>
                    <a:pt x="1222087" y="0"/>
                    <a:pt x="1241946" y="19858"/>
                    <a:pt x="1241946" y="44355"/>
                  </a:cubicBezTo>
                  <a:close/>
                  <a:moveTo>
                    <a:pt x="1241946" y="354841"/>
                  </a:moveTo>
                  <a:lnTo>
                    <a:pt x="0" y="354841"/>
                  </a:lnTo>
                  <a:lnTo>
                    <a:pt x="0" y="88710"/>
                  </a:lnTo>
                  <a:lnTo>
                    <a:pt x="1241946" y="88710"/>
                  </a:lnTo>
                  <a:close/>
                  <a:moveTo>
                    <a:pt x="0" y="354841"/>
                  </a:moveTo>
                  <a:lnTo>
                    <a:pt x="88710" y="354841"/>
                  </a:lnTo>
                  <a:lnTo>
                    <a:pt x="88710" y="443552"/>
                  </a:lnTo>
                  <a:lnTo>
                    <a:pt x="44355" y="443552"/>
                  </a:lnTo>
                  <a:cubicBezTo>
                    <a:pt x="19858" y="443552"/>
                    <a:pt x="0" y="423693"/>
                    <a:pt x="0" y="399197"/>
                  </a:cubicBezTo>
                  <a:close/>
                  <a:moveTo>
                    <a:pt x="88710" y="443552"/>
                  </a:moveTo>
                  <a:lnTo>
                    <a:pt x="88710" y="354841"/>
                  </a:lnTo>
                  <a:lnTo>
                    <a:pt x="1153235" y="354841"/>
                  </a:lnTo>
                  <a:lnTo>
                    <a:pt x="1153235" y="443552"/>
                  </a:lnTo>
                  <a:close/>
                  <a:moveTo>
                    <a:pt x="1153235" y="443552"/>
                  </a:moveTo>
                  <a:lnTo>
                    <a:pt x="1153235" y="354841"/>
                  </a:lnTo>
                  <a:lnTo>
                    <a:pt x="1241946" y="354841"/>
                  </a:lnTo>
                  <a:lnTo>
                    <a:pt x="1241946" y="399197"/>
                  </a:lnTo>
                  <a:cubicBezTo>
                    <a:pt x="1241946" y="423693"/>
                    <a:pt x="1222087" y="443552"/>
                    <a:pt x="1197591" y="443552"/>
                  </a:cubicBezTo>
                  <a:close/>
                </a:path>
              </a:pathLst>
            </a:custGeom>
            <a:solidFill>
              <a:srgbClr val="72A8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5" name="Rounded Rectangle 47"/>
            <p:cNvSpPr/>
            <p:nvPr/>
          </p:nvSpPr>
          <p:spPr>
            <a:xfrm>
              <a:off x="2616958" y="4435522"/>
              <a:ext cx="1241946" cy="443552"/>
            </a:xfrm>
            <a:custGeom>
              <a:avLst/>
              <a:gdLst/>
              <a:ahLst/>
              <a:cxnLst/>
              <a:rect l="0" t="0" r="0" b="0"/>
              <a:pathLst>
                <a:path w="1241946" h="443552">
                  <a:moveTo>
                    <a:pt x="0" y="88710"/>
                  </a:moveTo>
                  <a:lnTo>
                    <a:pt x="0" y="44355"/>
                  </a:lnTo>
                  <a:cubicBezTo>
                    <a:pt x="0" y="19858"/>
                    <a:pt x="19858" y="0"/>
                    <a:pt x="44355" y="0"/>
                  </a:cubicBezTo>
                  <a:lnTo>
                    <a:pt x="88710" y="0"/>
                  </a:lnTo>
                  <a:moveTo>
                    <a:pt x="1241946" y="88710"/>
                  </a:moveTo>
                  <a:lnTo>
                    <a:pt x="1241946" y="354841"/>
                  </a:lnTo>
                  <a:moveTo>
                    <a:pt x="0" y="354841"/>
                  </a:moveTo>
                  <a:lnTo>
                    <a:pt x="0" y="88710"/>
                  </a:lnTo>
                  <a:moveTo>
                    <a:pt x="88710" y="0"/>
                  </a:moveTo>
                  <a:lnTo>
                    <a:pt x="1153235" y="0"/>
                  </a:lnTo>
                  <a:moveTo>
                    <a:pt x="88710" y="443552"/>
                  </a:moveTo>
                  <a:lnTo>
                    <a:pt x="44355" y="443552"/>
                  </a:lnTo>
                  <a:cubicBezTo>
                    <a:pt x="19858" y="443552"/>
                    <a:pt x="0" y="423693"/>
                    <a:pt x="0" y="399197"/>
                  </a:cubicBezTo>
                  <a:lnTo>
                    <a:pt x="0" y="354841"/>
                  </a:lnTo>
                  <a:moveTo>
                    <a:pt x="1153235" y="0"/>
                  </a:moveTo>
                  <a:lnTo>
                    <a:pt x="1197591" y="0"/>
                  </a:lnTo>
                  <a:cubicBezTo>
                    <a:pt x="1222087" y="0"/>
                    <a:pt x="1241946" y="19858"/>
                    <a:pt x="1241946" y="44355"/>
                  </a:cubicBezTo>
                  <a:lnTo>
                    <a:pt x="1241946" y="88710"/>
                  </a:lnTo>
                  <a:moveTo>
                    <a:pt x="1153235" y="443552"/>
                  </a:moveTo>
                  <a:lnTo>
                    <a:pt x="88710" y="443552"/>
                  </a:lnTo>
                  <a:moveTo>
                    <a:pt x="1241946" y="354841"/>
                  </a:moveTo>
                  <a:lnTo>
                    <a:pt x="1241946" y="399197"/>
                  </a:lnTo>
                  <a:cubicBezTo>
                    <a:pt x="1241946" y="423693"/>
                    <a:pt x="1222087" y="443552"/>
                    <a:pt x="1197591" y="443552"/>
                  </a:cubicBezTo>
                  <a:lnTo>
                    <a:pt x="1153235" y="443552"/>
                  </a:lnTo>
                </a:path>
              </a:pathLst>
            </a:custGeom>
            <a:noFill/>
            <a:ln w="5544">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20" name="Group 19"/>
          <p:cNvGrpSpPr/>
          <p:nvPr/>
        </p:nvGrpSpPr>
        <p:grpSpPr>
          <a:xfrm>
            <a:off x="4750267" y="5199670"/>
            <a:ext cx="2738365" cy="613390"/>
            <a:chOff x="310486" y="4967785"/>
            <a:chExt cx="2217761" cy="532262"/>
          </a:xfrm>
        </p:grpSpPr>
        <p:sp>
          <p:nvSpPr>
            <p:cNvPr id="42" name="Rounded Rectangle 49"/>
            <p:cNvSpPr/>
            <p:nvPr/>
          </p:nvSpPr>
          <p:spPr>
            <a:xfrm>
              <a:off x="310486" y="4967785"/>
              <a:ext cx="2217761" cy="532262"/>
            </a:xfrm>
            <a:custGeom>
              <a:avLst/>
              <a:gdLst/>
              <a:ahLst/>
              <a:cxnLst/>
              <a:rect l="0" t="0" r="0" b="0"/>
              <a:pathLst>
                <a:path w="2217761" h="532262">
                  <a:moveTo>
                    <a:pt x="0" y="44355"/>
                  </a:moveTo>
                  <a:cubicBezTo>
                    <a:pt x="0" y="19858"/>
                    <a:pt x="19858" y="0"/>
                    <a:pt x="44355" y="0"/>
                  </a:cubicBezTo>
                  <a:lnTo>
                    <a:pt x="88710" y="0"/>
                  </a:lnTo>
                  <a:lnTo>
                    <a:pt x="88710" y="88710"/>
                  </a:lnTo>
                  <a:lnTo>
                    <a:pt x="0" y="88710"/>
                  </a:lnTo>
                  <a:close/>
                  <a:moveTo>
                    <a:pt x="2129050" y="0"/>
                  </a:moveTo>
                  <a:lnTo>
                    <a:pt x="2129050" y="88710"/>
                  </a:lnTo>
                  <a:lnTo>
                    <a:pt x="88710" y="88710"/>
                  </a:lnTo>
                  <a:lnTo>
                    <a:pt x="88710" y="0"/>
                  </a:lnTo>
                  <a:close/>
                  <a:moveTo>
                    <a:pt x="2217761" y="88710"/>
                  </a:moveTo>
                  <a:lnTo>
                    <a:pt x="2129050" y="88710"/>
                  </a:lnTo>
                  <a:lnTo>
                    <a:pt x="2129050" y="0"/>
                  </a:lnTo>
                  <a:lnTo>
                    <a:pt x="2173405" y="0"/>
                  </a:lnTo>
                  <a:cubicBezTo>
                    <a:pt x="2197902" y="0"/>
                    <a:pt x="2217761" y="19858"/>
                    <a:pt x="2217761" y="44355"/>
                  </a:cubicBezTo>
                  <a:close/>
                  <a:moveTo>
                    <a:pt x="2217761" y="443552"/>
                  </a:moveTo>
                  <a:lnTo>
                    <a:pt x="0" y="443552"/>
                  </a:lnTo>
                  <a:lnTo>
                    <a:pt x="0" y="88710"/>
                  </a:lnTo>
                  <a:lnTo>
                    <a:pt x="2217761" y="88710"/>
                  </a:lnTo>
                  <a:close/>
                  <a:moveTo>
                    <a:pt x="0" y="443552"/>
                  </a:moveTo>
                  <a:lnTo>
                    <a:pt x="88710" y="443552"/>
                  </a:lnTo>
                  <a:lnTo>
                    <a:pt x="88710" y="532262"/>
                  </a:lnTo>
                  <a:lnTo>
                    <a:pt x="44355" y="532262"/>
                  </a:lnTo>
                  <a:cubicBezTo>
                    <a:pt x="19858" y="532262"/>
                    <a:pt x="0" y="512404"/>
                    <a:pt x="0" y="487907"/>
                  </a:cubicBezTo>
                  <a:close/>
                  <a:moveTo>
                    <a:pt x="88710" y="532262"/>
                  </a:moveTo>
                  <a:lnTo>
                    <a:pt x="88710" y="443552"/>
                  </a:lnTo>
                  <a:lnTo>
                    <a:pt x="2129050" y="443552"/>
                  </a:lnTo>
                  <a:lnTo>
                    <a:pt x="2129050" y="532262"/>
                  </a:lnTo>
                  <a:close/>
                  <a:moveTo>
                    <a:pt x="2129050" y="532262"/>
                  </a:moveTo>
                  <a:lnTo>
                    <a:pt x="2129050" y="443552"/>
                  </a:lnTo>
                  <a:lnTo>
                    <a:pt x="2217761" y="443552"/>
                  </a:lnTo>
                  <a:lnTo>
                    <a:pt x="2217761" y="487907"/>
                  </a:lnTo>
                  <a:cubicBezTo>
                    <a:pt x="2217761" y="512404"/>
                    <a:pt x="2197902" y="532262"/>
                    <a:pt x="2173405" y="532262"/>
                  </a:cubicBezTo>
                  <a:close/>
                </a:path>
              </a:pathLst>
            </a:custGeom>
            <a:solidFill>
              <a:srgbClr val="95BD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3" name="Rounded Rectangle 50"/>
            <p:cNvSpPr/>
            <p:nvPr/>
          </p:nvSpPr>
          <p:spPr>
            <a:xfrm>
              <a:off x="310486" y="4967785"/>
              <a:ext cx="2217761" cy="532262"/>
            </a:xfrm>
            <a:custGeom>
              <a:avLst/>
              <a:gdLst/>
              <a:ahLst/>
              <a:cxnLst/>
              <a:rect l="0" t="0" r="0" b="0"/>
              <a:pathLst>
                <a:path w="2217761" h="532262">
                  <a:moveTo>
                    <a:pt x="0" y="88710"/>
                  </a:moveTo>
                  <a:lnTo>
                    <a:pt x="0" y="44355"/>
                  </a:lnTo>
                  <a:cubicBezTo>
                    <a:pt x="0" y="19858"/>
                    <a:pt x="19858" y="0"/>
                    <a:pt x="44355" y="0"/>
                  </a:cubicBezTo>
                  <a:lnTo>
                    <a:pt x="88710" y="0"/>
                  </a:lnTo>
                  <a:moveTo>
                    <a:pt x="2217761" y="88710"/>
                  </a:moveTo>
                  <a:lnTo>
                    <a:pt x="2217761" y="443552"/>
                  </a:lnTo>
                  <a:moveTo>
                    <a:pt x="0" y="443552"/>
                  </a:moveTo>
                  <a:lnTo>
                    <a:pt x="0" y="88710"/>
                  </a:lnTo>
                  <a:moveTo>
                    <a:pt x="88710" y="0"/>
                  </a:moveTo>
                  <a:lnTo>
                    <a:pt x="2129050" y="0"/>
                  </a:lnTo>
                  <a:moveTo>
                    <a:pt x="88710" y="532262"/>
                  </a:moveTo>
                  <a:lnTo>
                    <a:pt x="44355" y="532262"/>
                  </a:lnTo>
                  <a:cubicBezTo>
                    <a:pt x="19858" y="532262"/>
                    <a:pt x="0" y="512404"/>
                    <a:pt x="0" y="487907"/>
                  </a:cubicBezTo>
                  <a:lnTo>
                    <a:pt x="0" y="443552"/>
                  </a:lnTo>
                  <a:moveTo>
                    <a:pt x="2129050" y="0"/>
                  </a:moveTo>
                  <a:lnTo>
                    <a:pt x="2173405" y="0"/>
                  </a:lnTo>
                  <a:cubicBezTo>
                    <a:pt x="2197902" y="0"/>
                    <a:pt x="2217761" y="19858"/>
                    <a:pt x="2217761" y="44355"/>
                  </a:cubicBezTo>
                  <a:lnTo>
                    <a:pt x="2217761" y="88710"/>
                  </a:lnTo>
                  <a:moveTo>
                    <a:pt x="2129050" y="532262"/>
                  </a:moveTo>
                  <a:lnTo>
                    <a:pt x="88710" y="532262"/>
                  </a:lnTo>
                  <a:moveTo>
                    <a:pt x="2217761" y="443552"/>
                  </a:moveTo>
                  <a:lnTo>
                    <a:pt x="2217761" y="487907"/>
                  </a:lnTo>
                  <a:cubicBezTo>
                    <a:pt x="2217761" y="512404"/>
                    <a:pt x="2197902" y="532262"/>
                    <a:pt x="2173405" y="532262"/>
                  </a:cubicBezTo>
                  <a:lnTo>
                    <a:pt x="2129050" y="532262"/>
                  </a:lnTo>
                </a:path>
              </a:pathLst>
            </a:custGeom>
            <a:noFill/>
            <a:ln w="5544">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21" name="Group 20"/>
          <p:cNvGrpSpPr/>
          <p:nvPr/>
        </p:nvGrpSpPr>
        <p:grpSpPr>
          <a:xfrm>
            <a:off x="7704832" y="5199670"/>
            <a:ext cx="2527792" cy="613390"/>
            <a:chOff x="2616958" y="4967785"/>
            <a:chExt cx="1241946" cy="532262"/>
          </a:xfrm>
        </p:grpSpPr>
        <p:sp>
          <p:nvSpPr>
            <p:cNvPr id="40" name="Rounded Rectangle 52"/>
            <p:cNvSpPr/>
            <p:nvPr/>
          </p:nvSpPr>
          <p:spPr>
            <a:xfrm>
              <a:off x="2616958" y="4967785"/>
              <a:ext cx="1241946" cy="532262"/>
            </a:xfrm>
            <a:custGeom>
              <a:avLst/>
              <a:gdLst/>
              <a:ahLst/>
              <a:cxnLst/>
              <a:rect l="0" t="0" r="0" b="0"/>
              <a:pathLst>
                <a:path w="1241946" h="532262">
                  <a:moveTo>
                    <a:pt x="0" y="44355"/>
                  </a:moveTo>
                  <a:cubicBezTo>
                    <a:pt x="0" y="19858"/>
                    <a:pt x="19858" y="0"/>
                    <a:pt x="44355" y="0"/>
                  </a:cubicBezTo>
                  <a:lnTo>
                    <a:pt x="88710" y="0"/>
                  </a:lnTo>
                  <a:lnTo>
                    <a:pt x="88710" y="88710"/>
                  </a:lnTo>
                  <a:lnTo>
                    <a:pt x="0" y="88710"/>
                  </a:lnTo>
                  <a:close/>
                  <a:moveTo>
                    <a:pt x="1153235" y="0"/>
                  </a:moveTo>
                  <a:lnTo>
                    <a:pt x="1153235" y="88710"/>
                  </a:lnTo>
                  <a:lnTo>
                    <a:pt x="88710" y="88710"/>
                  </a:lnTo>
                  <a:lnTo>
                    <a:pt x="88710" y="0"/>
                  </a:lnTo>
                  <a:close/>
                  <a:moveTo>
                    <a:pt x="1241946" y="88710"/>
                  </a:moveTo>
                  <a:lnTo>
                    <a:pt x="1153235" y="88710"/>
                  </a:lnTo>
                  <a:lnTo>
                    <a:pt x="1153235" y="0"/>
                  </a:lnTo>
                  <a:lnTo>
                    <a:pt x="1197591" y="0"/>
                  </a:lnTo>
                  <a:cubicBezTo>
                    <a:pt x="1222087" y="0"/>
                    <a:pt x="1241946" y="19858"/>
                    <a:pt x="1241946" y="44355"/>
                  </a:cubicBezTo>
                  <a:close/>
                  <a:moveTo>
                    <a:pt x="1241946" y="443552"/>
                  </a:moveTo>
                  <a:lnTo>
                    <a:pt x="0" y="443552"/>
                  </a:lnTo>
                  <a:lnTo>
                    <a:pt x="0" y="88710"/>
                  </a:lnTo>
                  <a:lnTo>
                    <a:pt x="1241946" y="88710"/>
                  </a:lnTo>
                  <a:close/>
                  <a:moveTo>
                    <a:pt x="0" y="443552"/>
                  </a:moveTo>
                  <a:lnTo>
                    <a:pt x="88710" y="443552"/>
                  </a:lnTo>
                  <a:lnTo>
                    <a:pt x="88710" y="532262"/>
                  </a:lnTo>
                  <a:lnTo>
                    <a:pt x="44355" y="532262"/>
                  </a:lnTo>
                  <a:cubicBezTo>
                    <a:pt x="19858" y="532262"/>
                    <a:pt x="0" y="512404"/>
                    <a:pt x="0" y="487907"/>
                  </a:cubicBezTo>
                  <a:close/>
                  <a:moveTo>
                    <a:pt x="88710" y="532262"/>
                  </a:moveTo>
                  <a:lnTo>
                    <a:pt x="88710" y="443552"/>
                  </a:lnTo>
                  <a:lnTo>
                    <a:pt x="1153235" y="443552"/>
                  </a:lnTo>
                  <a:lnTo>
                    <a:pt x="1153235" y="532262"/>
                  </a:lnTo>
                  <a:close/>
                  <a:moveTo>
                    <a:pt x="1153235" y="532262"/>
                  </a:moveTo>
                  <a:lnTo>
                    <a:pt x="1153235" y="443552"/>
                  </a:lnTo>
                  <a:lnTo>
                    <a:pt x="1241946" y="443552"/>
                  </a:lnTo>
                  <a:lnTo>
                    <a:pt x="1241946" y="487907"/>
                  </a:lnTo>
                  <a:cubicBezTo>
                    <a:pt x="1241946" y="512404"/>
                    <a:pt x="1222087" y="532262"/>
                    <a:pt x="1197591" y="532262"/>
                  </a:cubicBezTo>
                  <a:close/>
                </a:path>
              </a:pathLst>
            </a:custGeom>
            <a:solidFill>
              <a:srgbClr val="95BD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1" name="Rounded Rectangle 53"/>
            <p:cNvSpPr/>
            <p:nvPr/>
          </p:nvSpPr>
          <p:spPr>
            <a:xfrm>
              <a:off x="2616958" y="4967785"/>
              <a:ext cx="1241946" cy="532262"/>
            </a:xfrm>
            <a:custGeom>
              <a:avLst/>
              <a:gdLst/>
              <a:ahLst/>
              <a:cxnLst/>
              <a:rect l="0" t="0" r="0" b="0"/>
              <a:pathLst>
                <a:path w="1241946" h="532262">
                  <a:moveTo>
                    <a:pt x="0" y="88710"/>
                  </a:moveTo>
                  <a:lnTo>
                    <a:pt x="0" y="44355"/>
                  </a:lnTo>
                  <a:cubicBezTo>
                    <a:pt x="0" y="19858"/>
                    <a:pt x="19858" y="0"/>
                    <a:pt x="44355" y="0"/>
                  </a:cubicBezTo>
                  <a:lnTo>
                    <a:pt x="88710" y="0"/>
                  </a:lnTo>
                  <a:moveTo>
                    <a:pt x="1241946" y="88710"/>
                  </a:moveTo>
                  <a:lnTo>
                    <a:pt x="1241946" y="443552"/>
                  </a:lnTo>
                  <a:moveTo>
                    <a:pt x="0" y="443552"/>
                  </a:moveTo>
                  <a:lnTo>
                    <a:pt x="0" y="88710"/>
                  </a:lnTo>
                  <a:moveTo>
                    <a:pt x="88710" y="0"/>
                  </a:moveTo>
                  <a:lnTo>
                    <a:pt x="1153235" y="0"/>
                  </a:lnTo>
                  <a:moveTo>
                    <a:pt x="88710" y="532262"/>
                  </a:moveTo>
                  <a:lnTo>
                    <a:pt x="44355" y="532262"/>
                  </a:lnTo>
                  <a:cubicBezTo>
                    <a:pt x="19858" y="532262"/>
                    <a:pt x="0" y="512404"/>
                    <a:pt x="0" y="487907"/>
                  </a:cubicBezTo>
                  <a:lnTo>
                    <a:pt x="0" y="443552"/>
                  </a:lnTo>
                  <a:moveTo>
                    <a:pt x="1153235" y="0"/>
                  </a:moveTo>
                  <a:lnTo>
                    <a:pt x="1197591" y="0"/>
                  </a:lnTo>
                  <a:cubicBezTo>
                    <a:pt x="1222087" y="0"/>
                    <a:pt x="1241946" y="19858"/>
                    <a:pt x="1241946" y="44355"/>
                  </a:cubicBezTo>
                  <a:lnTo>
                    <a:pt x="1241946" y="88710"/>
                  </a:lnTo>
                  <a:moveTo>
                    <a:pt x="1153235" y="532262"/>
                  </a:moveTo>
                  <a:lnTo>
                    <a:pt x="88710" y="532262"/>
                  </a:lnTo>
                  <a:moveTo>
                    <a:pt x="1241946" y="443552"/>
                  </a:moveTo>
                  <a:lnTo>
                    <a:pt x="1241946" y="487907"/>
                  </a:lnTo>
                  <a:cubicBezTo>
                    <a:pt x="1241946" y="512404"/>
                    <a:pt x="1222087" y="532262"/>
                    <a:pt x="1197591" y="532262"/>
                  </a:cubicBezTo>
                  <a:lnTo>
                    <a:pt x="1153235" y="532262"/>
                  </a:lnTo>
                </a:path>
              </a:pathLst>
            </a:custGeom>
            <a:noFill/>
            <a:ln w="5544">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
        <p:nvSpPr>
          <p:cNvPr id="22" name="TextBox 55"/>
          <p:cNvSpPr txBox="1"/>
          <p:nvPr/>
        </p:nvSpPr>
        <p:spPr>
          <a:xfrm>
            <a:off x="4555464" y="3228927"/>
            <a:ext cx="3228349" cy="276999"/>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FFFFFF"/>
                </a:solidFill>
              </a:rPr>
              <a:t>Salary, bonus</a:t>
            </a:r>
          </a:p>
        </p:txBody>
      </p:sp>
      <p:sp>
        <p:nvSpPr>
          <p:cNvPr id="23" name="TextBox 56"/>
          <p:cNvSpPr txBox="1"/>
          <p:nvPr/>
        </p:nvSpPr>
        <p:spPr>
          <a:xfrm>
            <a:off x="7869711" y="5367865"/>
            <a:ext cx="2340782" cy="276999"/>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Print and digital ads</a:t>
            </a:r>
          </a:p>
        </p:txBody>
      </p:sp>
      <p:sp>
        <p:nvSpPr>
          <p:cNvPr id="24" name="TextBox 57"/>
          <p:cNvSpPr txBox="1"/>
          <p:nvPr/>
        </p:nvSpPr>
        <p:spPr>
          <a:xfrm>
            <a:off x="7925358" y="3223153"/>
            <a:ext cx="2119954" cy="276999"/>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Paid to employees</a:t>
            </a:r>
          </a:p>
        </p:txBody>
      </p:sp>
      <p:sp>
        <p:nvSpPr>
          <p:cNvPr id="25" name="TextBox 58"/>
          <p:cNvSpPr txBox="1"/>
          <p:nvPr/>
        </p:nvSpPr>
        <p:spPr>
          <a:xfrm>
            <a:off x="7753906" y="2744511"/>
            <a:ext cx="2429642" cy="276999"/>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Wear </a:t>
            </a:r>
            <a:r>
              <a:rPr lang="en-US" dirty="0">
                <a:solidFill>
                  <a:srgbClr val="FFFFFF"/>
                </a:solidFill>
              </a:rPr>
              <a:t>&amp;</a:t>
            </a:r>
            <a:r>
              <a:rPr b="0" dirty="0">
                <a:solidFill>
                  <a:srgbClr val="FFFFFF"/>
                </a:solidFill>
              </a:rPr>
              <a:t> tear on</a:t>
            </a:r>
            <a:r>
              <a:rPr lang="en-US" b="0" dirty="0">
                <a:solidFill>
                  <a:srgbClr val="FFFFFF"/>
                </a:solidFill>
              </a:rPr>
              <a:t> </a:t>
            </a:r>
            <a:r>
              <a:rPr b="0" dirty="0">
                <a:solidFill>
                  <a:srgbClr val="FFFFFF"/>
                </a:solidFill>
              </a:rPr>
              <a:t>assets</a:t>
            </a:r>
          </a:p>
        </p:txBody>
      </p:sp>
      <p:sp>
        <p:nvSpPr>
          <p:cNvPr id="26" name="TextBox 59"/>
          <p:cNvSpPr txBox="1"/>
          <p:nvPr/>
        </p:nvSpPr>
        <p:spPr>
          <a:xfrm>
            <a:off x="5123272" y="3716812"/>
            <a:ext cx="1992353" cy="276999"/>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FFFFFF"/>
                </a:solidFill>
              </a:rPr>
              <a:t>Interest on loans</a:t>
            </a:r>
          </a:p>
        </p:txBody>
      </p:sp>
      <p:sp>
        <p:nvSpPr>
          <p:cNvPr id="27" name="TextBox 61"/>
          <p:cNvSpPr txBox="1"/>
          <p:nvPr/>
        </p:nvSpPr>
        <p:spPr>
          <a:xfrm>
            <a:off x="7774229" y="3720555"/>
            <a:ext cx="2409319" cy="276999"/>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For business</a:t>
            </a:r>
            <a:r>
              <a:rPr lang="en-US" b="0" dirty="0">
                <a:solidFill>
                  <a:srgbClr val="FFFFFF"/>
                </a:solidFill>
              </a:rPr>
              <a:t> </a:t>
            </a:r>
            <a:r>
              <a:rPr b="0" dirty="0">
                <a:solidFill>
                  <a:srgbClr val="FFFFFF"/>
                </a:solidFill>
              </a:rPr>
              <a:t>purposes</a:t>
            </a:r>
          </a:p>
        </p:txBody>
      </p:sp>
      <p:sp>
        <p:nvSpPr>
          <p:cNvPr id="28" name="TextBox 62"/>
          <p:cNvSpPr txBox="1"/>
          <p:nvPr/>
        </p:nvSpPr>
        <p:spPr>
          <a:xfrm>
            <a:off x="4767614" y="2715697"/>
            <a:ext cx="2730261" cy="276999"/>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FFFFFF"/>
                </a:solidFill>
              </a:rPr>
              <a:t>Depreciation (Sec. 32)</a:t>
            </a:r>
          </a:p>
        </p:txBody>
      </p:sp>
      <p:sp>
        <p:nvSpPr>
          <p:cNvPr id="29" name="TextBox 63"/>
          <p:cNvSpPr txBox="1"/>
          <p:nvPr/>
        </p:nvSpPr>
        <p:spPr>
          <a:xfrm>
            <a:off x="4527793" y="4234544"/>
            <a:ext cx="3283690" cy="276999"/>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FFFFFF"/>
                </a:solidFill>
              </a:rPr>
              <a:t>Legal professional fees</a:t>
            </a:r>
          </a:p>
        </p:txBody>
      </p:sp>
      <p:sp>
        <p:nvSpPr>
          <p:cNvPr id="30" name="TextBox 64"/>
          <p:cNvSpPr txBox="1"/>
          <p:nvPr/>
        </p:nvSpPr>
        <p:spPr>
          <a:xfrm>
            <a:off x="5387381" y="1118222"/>
            <a:ext cx="1464133" cy="307777"/>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000" b="1" dirty="0">
                <a:solidFill>
                  <a:srgbClr val="FFFFFF"/>
                </a:solidFill>
              </a:rPr>
              <a:t>Expenses</a:t>
            </a:r>
            <a:endParaRPr sz="2000" b="1" dirty="0">
              <a:solidFill>
                <a:srgbClr val="FFFFFF"/>
              </a:solidFill>
            </a:endParaRPr>
          </a:p>
        </p:txBody>
      </p:sp>
      <p:sp>
        <p:nvSpPr>
          <p:cNvPr id="31" name="TextBox 65"/>
          <p:cNvSpPr txBox="1"/>
          <p:nvPr/>
        </p:nvSpPr>
        <p:spPr>
          <a:xfrm>
            <a:off x="7556769" y="4241355"/>
            <a:ext cx="2971104" cy="276999"/>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rgbClr val="FFFFFF"/>
                </a:solidFill>
              </a:rPr>
              <a:t>F</a:t>
            </a:r>
            <a:r>
              <a:rPr b="0" dirty="0">
                <a:solidFill>
                  <a:srgbClr val="FFFFFF"/>
                </a:solidFill>
              </a:rPr>
              <a:t>ees, audit</a:t>
            </a:r>
            <a:r>
              <a:rPr lang="en-US" b="0" dirty="0">
                <a:solidFill>
                  <a:srgbClr val="FFFFFF"/>
                </a:solidFill>
              </a:rPr>
              <a:t> </a:t>
            </a:r>
            <a:r>
              <a:rPr b="0" dirty="0">
                <a:solidFill>
                  <a:srgbClr val="FFFFFF"/>
                </a:solidFill>
              </a:rPr>
              <a:t>charges</a:t>
            </a:r>
          </a:p>
        </p:txBody>
      </p:sp>
      <p:sp>
        <p:nvSpPr>
          <p:cNvPr id="32" name="TextBox 66"/>
          <p:cNvSpPr txBox="1"/>
          <p:nvPr/>
        </p:nvSpPr>
        <p:spPr>
          <a:xfrm>
            <a:off x="7744322" y="2210116"/>
            <a:ext cx="2448811" cy="276999"/>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Machinery</a:t>
            </a:r>
            <a:r>
              <a:rPr lang="en-US" b="0" dirty="0">
                <a:solidFill>
                  <a:srgbClr val="FFFFFF"/>
                </a:solidFill>
              </a:rPr>
              <a:t> </a:t>
            </a:r>
            <a:r>
              <a:rPr b="0" dirty="0">
                <a:solidFill>
                  <a:srgbClr val="FFFFFF"/>
                </a:solidFill>
              </a:rPr>
              <a:t>maintenance</a:t>
            </a:r>
          </a:p>
        </p:txBody>
      </p:sp>
      <p:sp>
        <p:nvSpPr>
          <p:cNvPr id="33" name="TextBox 67"/>
          <p:cNvSpPr txBox="1"/>
          <p:nvPr/>
        </p:nvSpPr>
        <p:spPr>
          <a:xfrm>
            <a:off x="4813733" y="4780329"/>
            <a:ext cx="2711812" cy="276999"/>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FFFFFF"/>
                </a:solidFill>
              </a:rPr>
              <a:t>Bad debts (written off)</a:t>
            </a:r>
          </a:p>
        </p:txBody>
      </p:sp>
      <p:sp>
        <p:nvSpPr>
          <p:cNvPr id="34" name="TextBox 68"/>
          <p:cNvSpPr txBox="1"/>
          <p:nvPr/>
        </p:nvSpPr>
        <p:spPr>
          <a:xfrm>
            <a:off x="8158762" y="1104729"/>
            <a:ext cx="1767119" cy="307777"/>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FFFFFF"/>
                </a:solidFill>
              </a:rPr>
              <a:t>Example</a:t>
            </a:r>
          </a:p>
        </p:txBody>
      </p:sp>
      <p:sp>
        <p:nvSpPr>
          <p:cNvPr id="35" name="TextBox 69"/>
          <p:cNvSpPr txBox="1"/>
          <p:nvPr/>
        </p:nvSpPr>
        <p:spPr>
          <a:xfrm>
            <a:off x="7741745" y="4787140"/>
            <a:ext cx="2451388" cy="276999"/>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Irrecoverable</a:t>
            </a:r>
            <a:r>
              <a:rPr lang="en-US" dirty="0">
                <a:solidFill>
                  <a:srgbClr val="FFFFFF"/>
                </a:solidFill>
              </a:rPr>
              <a:t> </a:t>
            </a:r>
            <a:r>
              <a:rPr b="0" dirty="0">
                <a:solidFill>
                  <a:srgbClr val="FFFFFF"/>
                </a:solidFill>
              </a:rPr>
              <a:t>payments</a:t>
            </a:r>
          </a:p>
        </p:txBody>
      </p:sp>
      <p:sp>
        <p:nvSpPr>
          <p:cNvPr id="36" name="TextBox 70"/>
          <p:cNvSpPr txBox="1"/>
          <p:nvPr/>
        </p:nvSpPr>
        <p:spPr>
          <a:xfrm>
            <a:off x="4841405" y="2208735"/>
            <a:ext cx="2656470" cy="276999"/>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FFFFFF"/>
                </a:solidFill>
              </a:rPr>
              <a:t>Repairs and insurance</a:t>
            </a:r>
          </a:p>
        </p:txBody>
      </p:sp>
      <p:sp>
        <p:nvSpPr>
          <p:cNvPr id="37" name="TextBox 71"/>
          <p:cNvSpPr txBox="1"/>
          <p:nvPr/>
        </p:nvSpPr>
        <p:spPr>
          <a:xfrm>
            <a:off x="5145793" y="1660159"/>
            <a:ext cx="2047694" cy="276999"/>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FFFFFF"/>
                </a:solidFill>
              </a:rPr>
              <a:t>Rent, rates, taxes</a:t>
            </a:r>
          </a:p>
        </p:txBody>
      </p:sp>
      <p:sp>
        <p:nvSpPr>
          <p:cNvPr id="38" name="TextBox 72"/>
          <p:cNvSpPr txBox="1"/>
          <p:nvPr/>
        </p:nvSpPr>
        <p:spPr>
          <a:xfrm>
            <a:off x="7704832" y="1666872"/>
            <a:ext cx="2557551" cy="276999"/>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Office rent, property</a:t>
            </a:r>
            <a:r>
              <a:rPr lang="en-US" b="0" dirty="0">
                <a:solidFill>
                  <a:srgbClr val="FFFFFF"/>
                </a:solidFill>
              </a:rPr>
              <a:t> </a:t>
            </a:r>
            <a:r>
              <a:rPr b="0" dirty="0">
                <a:solidFill>
                  <a:srgbClr val="FFFFFF"/>
                </a:solidFill>
              </a:rPr>
              <a:t>tax</a:t>
            </a:r>
          </a:p>
        </p:txBody>
      </p:sp>
      <p:sp>
        <p:nvSpPr>
          <p:cNvPr id="39" name="TextBox 73"/>
          <p:cNvSpPr txBox="1"/>
          <p:nvPr/>
        </p:nvSpPr>
        <p:spPr>
          <a:xfrm>
            <a:off x="4966467" y="5212369"/>
            <a:ext cx="2305962" cy="553998"/>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FFFFFF"/>
                </a:solidFill>
              </a:rPr>
              <a:t>Advertisement and
marketing</a:t>
            </a:r>
          </a:p>
        </p:txBody>
      </p:sp>
      <p:sp>
        <p:nvSpPr>
          <p:cNvPr id="77" name="Rounded Rectangle 3"/>
          <p:cNvSpPr/>
          <p:nvPr/>
        </p:nvSpPr>
        <p:spPr>
          <a:xfrm>
            <a:off x="1733999" y="2804487"/>
            <a:ext cx="1754383" cy="954471"/>
          </a:xfrm>
          <a:custGeom>
            <a:avLst/>
            <a:gdLst/>
            <a:ahLst/>
            <a:cxnLst/>
            <a:rect l="0" t="0" r="0" b="0"/>
            <a:pathLst>
              <a:path w="1133498" h="697537">
                <a:moveTo>
                  <a:pt x="87192" y="0"/>
                </a:moveTo>
                <a:lnTo>
                  <a:pt x="1046306" y="0"/>
                </a:lnTo>
                <a:cubicBezTo>
                  <a:pt x="1046306" y="0"/>
                  <a:pt x="1133498" y="0"/>
                  <a:pt x="1133498" y="87192"/>
                </a:cubicBezTo>
                <a:lnTo>
                  <a:pt x="1133498" y="610345"/>
                </a:lnTo>
                <a:cubicBezTo>
                  <a:pt x="1133498" y="610345"/>
                  <a:pt x="1133498" y="697537"/>
                  <a:pt x="1046306" y="697537"/>
                </a:cubicBezTo>
                <a:lnTo>
                  <a:pt x="87192" y="697537"/>
                </a:lnTo>
                <a:cubicBezTo>
                  <a:pt x="87192" y="697537"/>
                  <a:pt x="0" y="697537"/>
                  <a:pt x="0" y="610345"/>
                </a:cubicBezTo>
                <a:lnTo>
                  <a:pt x="0" y="87192"/>
                </a:lnTo>
                <a:cubicBezTo>
                  <a:pt x="0" y="87192"/>
                  <a:pt x="0" y="0"/>
                  <a:pt x="87192" y="0"/>
                </a:cubicBezTo>
              </a:path>
            </a:pathLst>
          </a:custGeom>
          <a:solidFill>
            <a:srgbClr val="4F92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78" name="Rounded Rectangle 4"/>
          <p:cNvSpPr/>
          <p:nvPr/>
        </p:nvSpPr>
        <p:spPr>
          <a:xfrm>
            <a:off x="1734000" y="1519783"/>
            <a:ext cx="1754382" cy="655723"/>
          </a:xfrm>
          <a:custGeom>
            <a:avLst/>
            <a:gdLst/>
            <a:ahLst/>
            <a:cxnLst/>
            <a:rect l="0" t="0" r="0" b="0"/>
            <a:pathLst>
              <a:path w="1046306" h="523153">
                <a:moveTo>
                  <a:pt x="87192" y="0"/>
                </a:moveTo>
                <a:lnTo>
                  <a:pt x="959113" y="0"/>
                </a:lnTo>
                <a:cubicBezTo>
                  <a:pt x="959113" y="0"/>
                  <a:pt x="1046306" y="0"/>
                  <a:pt x="1046306" y="87192"/>
                </a:cubicBezTo>
                <a:lnTo>
                  <a:pt x="1046306" y="435960"/>
                </a:lnTo>
                <a:cubicBezTo>
                  <a:pt x="1046306" y="435960"/>
                  <a:pt x="1046306" y="523153"/>
                  <a:pt x="959113" y="523153"/>
                </a:cubicBezTo>
                <a:lnTo>
                  <a:pt x="87192" y="523153"/>
                </a:lnTo>
                <a:cubicBezTo>
                  <a:pt x="87192" y="523153"/>
                  <a:pt x="0" y="523153"/>
                  <a:pt x="0" y="435960"/>
                </a:cubicBezTo>
                <a:lnTo>
                  <a:pt x="0" y="87192"/>
                </a:lnTo>
                <a:cubicBezTo>
                  <a:pt x="0" y="87192"/>
                  <a:pt x="0" y="0"/>
                  <a:pt x="87192" y="0"/>
                </a:cubicBezTo>
              </a:path>
            </a:pathLst>
          </a:custGeom>
          <a:solidFill>
            <a:srgbClr val="4F92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79" name="Rounded Rectangle 5"/>
          <p:cNvSpPr/>
          <p:nvPr/>
        </p:nvSpPr>
        <p:spPr>
          <a:xfrm>
            <a:off x="1733999" y="4396987"/>
            <a:ext cx="1754384" cy="604814"/>
          </a:xfrm>
          <a:custGeom>
            <a:avLst/>
            <a:gdLst/>
            <a:ahLst/>
            <a:cxnLst/>
            <a:rect l="0" t="0" r="0" b="0"/>
            <a:pathLst>
              <a:path w="1133498" h="392364">
                <a:moveTo>
                  <a:pt x="87192" y="0"/>
                </a:moveTo>
                <a:lnTo>
                  <a:pt x="1046306" y="0"/>
                </a:lnTo>
                <a:cubicBezTo>
                  <a:pt x="1046306" y="0"/>
                  <a:pt x="1133498" y="0"/>
                  <a:pt x="1133498" y="87192"/>
                </a:cubicBezTo>
                <a:lnTo>
                  <a:pt x="1133498" y="305172"/>
                </a:lnTo>
                <a:cubicBezTo>
                  <a:pt x="1133498" y="305172"/>
                  <a:pt x="1133498" y="392364"/>
                  <a:pt x="1046306" y="392364"/>
                </a:cubicBezTo>
                <a:lnTo>
                  <a:pt x="87192" y="392364"/>
                </a:lnTo>
                <a:cubicBezTo>
                  <a:pt x="87192" y="392364"/>
                  <a:pt x="0" y="392364"/>
                  <a:pt x="0" y="305172"/>
                </a:cubicBezTo>
                <a:lnTo>
                  <a:pt x="0" y="87192"/>
                </a:lnTo>
                <a:cubicBezTo>
                  <a:pt x="0" y="87192"/>
                  <a:pt x="0" y="0"/>
                  <a:pt x="87192" y="0"/>
                </a:cubicBezTo>
              </a:path>
            </a:pathLst>
          </a:custGeom>
          <a:solidFill>
            <a:srgbClr val="4F92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80" name="TextBox 6"/>
          <p:cNvSpPr txBox="1"/>
          <p:nvPr/>
        </p:nvSpPr>
        <p:spPr>
          <a:xfrm>
            <a:off x="1665978" y="353861"/>
            <a:ext cx="1718419" cy="43088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800" b="1" dirty="0">
                <a:solidFill>
                  <a:srgbClr val="484848"/>
                </a:solidFill>
                <a:cs typeface="Times New Roman" panose="02020603050405020304" pitchFamily="18" charset="0"/>
              </a:rPr>
              <a:t>Calculation</a:t>
            </a:r>
            <a:r>
              <a:rPr lang="en-US" sz="2800" b="1" dirty="0">
                <a:solidFill>
                  <a:srgbClr val="484848"/>
                </a:solidFill>
                <a:cs typeface="Times New Roman" panose="02020603050405020304" pitchFamily="18" charset="0"/>
              </a:rPr>
              <a:t>:</a:t>
            </a:r>
            <a:endParaRPr sz="2800" b="1" dirty="0">
              <a:solidFill>
                <a:srgbClr val="484848"/>
              </a:solidFill>
              <a:cs typeface="Times New Roman" panose="02020603050405020304" pitchFamily="18" charset="0"/>
            </a:endParaRPr>
          </a:p>
        </p:txBody>
      </p:sp>
      <p:grpSp>
        <p:nvGrpSpPr>
          <p:cNvPr id="81" name="Group 80"/>
          <p:cNvGrpSpPr/>
          <p:nvPr/>
        </p:nvGrpSpPr>
        <p:grpSpPr>
          <a:xfrm>
            <a:off x="2497576" y="2294781"/>
            <a:ext cx="40689" cy="396725"/>
            <a:chOff x="1374729" y="1482266"/>
            <a:chExt cx="40689" cy="396725"/>
          </a:xfrm>
        </p:grpSpPr>
        <p:sp>
          <p:nvSpPr>
            <p:cNvPr id="91" name="Rounded Rectangle 7"/>
            <p:cNvSpPr/>
            <p:nvPr/>
          </p:nvSpPr>
          <p:spPr>
            <a:xfrm>
              <a:off x="1395074" y="1482266"/>
              <a:ext cx="7266" cy="386334"/>
            </a:xfrm>
            <a:custGeom>
              <a:avLst/>
              <a:gdLst/>
              <a:ahLst/>
              <a:cxnLst/>
              <a:rect l="0" t="0" r="0" b="0"/>
              <a:pathLst>
                <a:path w="7266" h="386334">
                  <a:moveTo>
                    <a:pt x="0" y="0"/>
                  </a:moveTo>
                  <a:lnTo>
                    <a:pt x="0" y="203448"/>
                  </a:lnTo>
                  <a:lnTo>
                    <a:pt x="0" y="386334"/>
                  </a:lnTo>
                </a:path>
              </a:pathLst>
            </a:custGeom>
            <a:noFill/>
            <a:ln w="5449">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92" name="Rounded Rectangle 8"/>
            <p:cNvSpPr/>
            <p:nvPr/>
          </p:nvSpPr>
          <p:spPr>
            <a:xfrm>
              <a:off x="1374729" y="1842661"/>
              <a:ext cx="40689" cy="36330"/>
            </a:xfrm>
            <a:custGeom>
              <a:avLst/>
              <a:gdLst/>
              <a:ahLst/>
              <a:cxnLst/>
              <a:rect l="0" t="0" r="0" b="0"/>
              <a:pathLst>
                <a:path w="40689" h="36330">
                  <a:moveTo>
                    <a:pt x="20344" y="36330"/>
                  </a:moveTo>
                  <a:lnTo>
                    <a:pt x="0" y="0"/>
                  </a:lnTo>
                  <a:lnTo>
                    <a:pt x="40689" y="0"/>
                  </a:lnTo>
                  <a:close/>
                </a:path>
              </a:pathLst>
            </a:custGeom>
            <a:noFill/>
            <a:ln w="5449">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82" name="Group 81"/>
          <p:cNvGrpSpPr/>
          <p:nvPr/>
        </p:nvGrpSpPr>
        <p:grpSpPr>
          <a:xfrm>
            <a:off x="2497577" y="3880988"/>
            <a:ext cx="40689" cy="396724"/>
            <a:chOff x="1374729" y="2586701"/>
            <a:chExt cx="40689" cy="396724"/>
          </a:xfrm>
        </p:grpSpPr>
        <p:sp>
          <p:nvSpPr>
            <p:cNvPr id="89" name="Rounded Rectangle 13"/>
            <p:cNvSpPr/>
            <p:nvPr/>
          </p:nvSpPr>
          <p:spPr>
            <a:xfrm>
              <a:off x="1395074" y="2586701"/>
              <a:ext cx="7266" cy="386334"/>
            </a:xfrm>
            <a:custGeom>
              <a:avLst/>
              <a:gdLst/>
              <a:ahLst/>
              <a:cxnLst/>
              <a:rect l="0" t="0" r="0" b="0"/>
              <a:pathLst>
                <a:path w="7266" h="386334">
                  <a:moveTo>
                    <a:pt x="0" y="0"/>
                  </a:moveTo>
                  <a:lnTo>
                    <a:pt x="0" y="203448"/>
                  </a:lnTo>
                  <a:lnTo>
                    <a:pt x="0" y="386334"/>
                  </a:lnTo>
                </a:path>
              </a:pathLst>
            </a:custGeom>
            <a:noFill/>
            <a:ln w="5449">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90" name="Rounded Rectangle 14"/>
            <p:cNvSpPr/>
            <p:nvPr/>
          </p:nvSpPr>
          <p:spPr>
            <a:xfrm>
              <a:off x="1374729" y="2947095"/>
              <a:ext cx="40689" cy="36330"/>
            </a:xfrm>
            <a:custGeom>
              <a:avLst/>
              <a:gdLst/>
              <a:ahLst/>
              <a:cxnLst/>
              <a:rect l="0" t="0" r="0" b="0"/>
              <a:pathLst>
                <a:path w="40689" h="36330">
                  <a:moveTo>
                    <a:pt x="20344" y="36330"/>
                  </a:moveTo>
                  <a:lnTo>
                    <a:pt x="0" y="0"/>
                  </a:lnTo>
                  <a:lnTo>
                    <a:pt x="40689" y="0"/>
                  </a:lnTo>
                  <a:close/>
                </a:path>
              </a:pathLst>
            </a:custGeom>
            <a:noFill/>
            <a:ln w="5449">
              <a:solidFill>
                <a:srgbClr val="484848"/>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
        <p:nvSpPr>
          <p:cNvPr id="83" name="TextBox 20"/>
          <p:cNvSpPr txBox="1"/>
          <p:nvPr/>
        </p:nvSpPr>
        <p:spPr>
          <a:xfrm>
            <a:off x="2319678" y="4556951"/>
            <a:ext cx="883254"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Net Profit</a:t>
            </a:r>
          </a:p>
        </p:txBody>
      </p:sp>
      <p:sp>
        <p:nvSpPr>
          <p:cNvPr id="84" name="TextBox 22"/>
          <p:cNvSpPr txBox="1"/>
          <p:nvPr/>
        </p:nvSpPr>
        <p:spPr>
          <a:xfrm>
            <a:off x="2316670" y="1570645"/>
            <a:ext cx="788677" cy="553998"/>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Gross
Receipts</a:t>
            </a:r>
          </a:p>
        </p:txBody>
      </p:sp>
      <p:sp>
        <p:nvSpPr>
          <p:cNvPr id="85" name="TextBox 23"/>
          <p:cNvSpPr txBox="1"/>
          <p:nvPr/>
        </p:nvSpPr>
        <p:spPr>
          <a:xfrm>
            <a:off x="2345157" y="2855552"/>
            <a:ext cx="891270" cy="83099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rgbClr val="FFFFFF"/>
                </a:solidFill>
              </a:rPr>
              <a:t>Less:</a:t>
            </a:r>
            <a:r>
              <a:rPr b="0" dirty="0">
                <a:solidFill>
                  <a:srgbClr val="FFFFFF"/>
                </a:solidFill>
              </a:rPr>
              <a:t>
Allowable
Expenses</a:t>
            </a:r>
          </a:p>
        </p:txBody>
      </p:sp>
      <p:sp>
        <p:nvSpPr>
          <p:cNvPr id="86" name="Rounded Rectangle 25"/>
          <p:cNvSpPr/>
          <p:nvPr/>
        </p:nvSpPr>
        <p:spPr>
          <a:xfrm>
            <a:off x="1796188" y="4530952"/>
            <a:ext cx="395505" cy="331964"/>
          </a:xfrm>
          <a:custGeom>
            <a:avLst/>
            <a:gdLst/>
            <a:ahLst/>
            <a:cxnLst/>
            <a:rect l="0" t="0" r="0" b="0"/>
            <a:pathLst>
              <a:path w="238443" h="208897">
                <a:moveTo>
                  <a:pt x="70480" y="145402"/>
                </a:moveTo>
                <a:cubicBezTo>
                  <a:pt x="0" y="107845"/>
                  <a:pt x="26366" y="0"/>
                  <a:pt x="106746" y="0"/>
                </a:cubicBezTo>
                <a:cubicBezTo>
                  <a:pt x="135568" y="62"/>
                  <a:pt x="161961" y="16156"/>
                  <a:pt x="175214" y="41750"/>
                </a:cubicBezTo>
                <a:cubicBezTo>
                  <a:pt x="188467" y="67344"/>
                  <a:pt x="186379" y="98186"/>
                  <a:pt x="169797" y="121760"/>
                </a:cubicBezTo>
                <a:moveTo>
                  <a:pt x="102178" y="118372"/>
                </a:moveTo>
                <a:lnTo>
                  <a:pt x="102178" y="108081"/>
                </a:lnTo>
                <a:moveTo>
                  <a:pt x="102178" y="46339"/>
                </a:moveTo>
                <a:lnTo>
                  <a:pt x="102178" y="36030"/>
                </a:lnTo>
                <a:moveTo>
                  <a:pt x="117645" y="61761"/>
                </a:moveTo>
                <a:cubicBezTo>
                  <a:pt x="117645" y="53233"/>
                  <a:pt x="110733" y="46320"/>
                  <a:pt x="102205" y="46320"/>
                </a:cubicBezTo>
                <a:cubicBezTo>
                  <a:pt x="93678" y="46320"/>
                  <a:pt x="86765" y="53233"/>
                  <a:pt x="86765" y="61761"/>
                </a:cubicBezTo>
                <a:cubicBezTo>
                  <a:pt x="86765" y="70288"/>
                  <a:pt x="93678" y="77201"/>
                  <a:pt x="102205" y="77201"/>
                </a:cubicBezTo>
                <a:cubicBezTo>
                  <a:pt x="110733" y="77201"/>
                  <a:pt x="117645" y="84114"/>
                  <a:pt x="117645" y="92641"/>
                </a:cubicBezTo>
                <a:cubicBezTo>
                  <a:pt x="117645" y="101169"/>
                  <a:pt x="110733" y="108081"/>
                  <a:pt x="102205" y="108081"/>
                </a:cubicBezTo>
                <a:cubicBezTo>
                  <a:pt x="93678" y="108081"/>
                  <a:pt x="86765" y="101169"/>
                  <a:pt x="86765" y="92641"/>
                </a:cubicBezTo>
                <a:moveTo>
                  <a:pt x="43169" y="208897"/>
                </a:moveTo>
                <a:lnTo>
                  <a:pt x="119180" y="141323"/>
                </a:lnTo>
                <a:cubicBezTo>
                  <a:pt x="122489" y="138385"/>
                  <a:pt x="127433" y="138258"/>
                  <a:pt x="130888" y="141024"/>
                </a:cubicBezTo>
                <a:lnTo>
                  <a:pt x="164193" y="167663"/>
                </a:lnTo>
                <a:cubicBezTo>
                  <a:pt x="167714" y="170479"/>
                  <a:pt x="172768" y="170286"/>
                  <a:pt x="176064" y="167209"/>
                </a:cubicBezTo>
                <a:lnTo>
                  <a:pt x="238443" y="108990"/>
                </a:lnTo>
                <a:moveTo>
                  <a:pt x="202086" y="108990"/>
                </a:moveTo>
                <a:lnTo>
                  <a:pt x="238416" y="108990"/>
                </a:lnTo>
                <a:lnTo>
                  <a:pt x="238416" y="145320"/>
                </a:lnTo>
              </a:path>
            </a:pathLst>
          </a:custGeom>
          <a:noFill/>
          <a:ln w="5449">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87" name="Rounded Rectangle 26"/>
          <p:cNvSpPr/>
          <p:nvPr/>
        </p:nvSpPr>
        <p:spPr>
          <a:xfrm>
            <a:off x="1835593" y="3088632"/>
            <a:ext cx="347056" cy="396707"/>
          </a:xfrm>
          <a:custGeom>
            <a:avLst/>
            <a:gdLst/>
            <a:ahLst/>
            <a:cxnLst/>
            <a:rect l="0" t="0" r="0" b="0"/>
            <a:pathLst>
              <a:path w="163485" h="208897">
                <a:moveTo>
                  <a:pt x="22706" y="0"/>
                </a:moveTo>
                <a:lnTo>
                  <a:pt x="140779" y="0"/>
                </a:lnTo>
                <a:cubicBezTo>
                  <a:pt x="140779" y="0"/>
                  <a:pt x="163485" y="0"/>
                  <a:pt x="163485" y="22706"/>
                </a:cubicBezTo>
                <a:lnTo>
                  <a:pt x="163485" y="186191"/>
                </a:lnTo>
                <a:cubicBezTo>
                  <a:pt x="163485" y="186191"/>
                  <a:pt x="163485" y="208897"/>
                  <a:pt x="140779" y="208897"/>
                </a:cubicBezTo>
                <a:lnTo>
                  <a:pt x="22706" y="208897"/>
                </a:lnTo>
                <a:cubicBezTo>
                  <a:pt x="22706" y="208897"/>
                  <a:pt x="0" y="208897"/>
                  <a:pt x="0" y="186191"/>
                </a:cubicBezTo>
                <a:lnTo>
                  <a:pt x="0" y="22706"/>
                </a:lnTo>
                <a:cubicBezTo>
                  <a:pt x="0" y="22706"/>
                  <a:pt x="0" y="0"/>
                  <a:pt x="22706" y="0"/>
                </a:cubicBezTo>
                <a:moveTo>
                  <a:pt x="163485" y="136237"/>
                </a:moveTo>
                <a:lnTo>
                  <a:pt x="0" y="136237"/>
                </a:lnTo>
                <a:moveTo>
                  <a:pt x="163485" y="72660"/>
                </a:moveTo>
                <a:lnTo>
                  <a:pt x="0" y="72660"/>
                </a:lnTo>
                <a:moveTo>
                  <a:pt x="81742" y="208897"/>
                </a:moveTo>
                <a:lnTo>
                  <a:pt x="81742" y="72660"/>
                </a:lnTo>
                <a:moveTo>
                  <a:pt x="49953" y="108990"/>
                </a:moveTo>
                <a:lnTo>
                  <a:pt x="22706" y="108990"/>
                </a:lnTo>
                <a:moveTo>
                  <a:pt x="136237" y="108990"/>
                </a:moveTo>
                <a:lnTo>
                  <a:pt x="108990" y="108990"/>
                </a:lnTo>
                <a:moveTo>
                  <a:pt x="136237" y="181650"/>
                </a:moveTo>
                <a:lnTo>
                  <a:pt x="108990" y="181650"/>
                </a:lnTo>
                <a:moveTo>
                  <a:pt x="136237" y="163485"/>
                </a:moveTo>
                <a:lnTo>
                  <a:pt x="108990" y="163485"/>
                </a:lnTo>
                <a:moveTo>
                  <a:pt x="36330" y="122613"/>
                </a:moveTo>
                <a:lnTo>
                  <a:pt x="36330" y="95366"/>
                </a:lnTo>
                <a:moveTo>
                  <a:pt x="49953" y="186191"/>
                </a:moveTo>
                <a:lnTo>
                  <a:pt x="22706" y="158944"/>
                </a:lnTo>
                <a:moveTo>
                  <a:pt x="22706" y="186191"/>
                </a:moveTo>
                <a:lnTo>
                  <a:pt x="49953" y="158944"/>
                </a:lnTo>
                <a:moveTo>
                  <a:pt x="127164" y="27247"/>
                </a:moveTo>
                <a:lnTo>
                  <a:pt x="127164" y="45412"/>
                </a:lnTo>
              </a:path>
            </a:pathLst>
          </a:custGeom>
          <a:noFill/>
          <a:ln w="5449">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88" name="Rounded Rectangle 28"/>
          <p:cNvSpPr/>
          <p:nvPr/>
        </p:nvSpPr>
        <p:spPr>
          <a:xfrm>
            <a:off x="1826400" y="1680045"/>
            <a:ext cx="347056" cy="343649"/>
          </a:xfrm>
          <a:custGeom>
            <a:avLst/>
            <a:gdLst/>
            <a:ahLst/>
            <a:cxnLst/>
            <a:rect l="0" t="0" r="0" b="0"/>
            <a:pathLst>
              <a:path w="208897" h="118072">
                <a:moveTo>
                  <a:pt x="208897" y="27247"/>
                </a:moveTo>
                <a:lnTo>
                  <a:pt x="154402" y="63577"/>
                </a:lnTo>
                <a:lnTo>
                  <a:pt x="108990" y="63577"/>
                </a:lnTo>
                <a:moveTo>
                  <a:pt x="208897" y="54495"/>
                </a:moveTo>
                <a:lnTo>
                  <a:pt x="154402" y="90825"/>
                </a:lnTo>
                <a:lnTo>
                  <a:pt x="108990" y="90825"/>
                </a:lnTo>
                <a:moveTo>
                  <a:pt x="208897" y="81742"/>
                </a:moveTo>
                <a:lnTo>
                  <a:pt x="154402" y="118072"/>
                </a:lnTo>
                <a:lnTo>
                  <a:pt x="108990" y="118072"/>
                </a:lnTo>
                <a:moveTo>
                  <a:pt x="108953" y="118072"/>
                </a:moveTo>
                <a:lnTo>
                  <a:pt x="45376" y="118072"/>
                </a:lnTo>
                <a:lnTo>
                  <a:pt x="45376" y="36330"/>
                </a:lnTo>
                <a:cubicBezTo>
                  <a:pt x="45376" y="33471"/>
                  <a:pt x="46722" y="30779"/>
                  <a:pt x="49009" y="29064"/>
                </a:cubicBezTo>
                <a:lnTo>
                  <a:pt x="90788" y="0"/>
                </a:lnTo>
                <a:lnTo>
                  <a:pt x="154366" y="0"/>
                </a:lnTo>
                <a:lnTo>
                  <a:pt x="112586" y="29064"/>
                </a:lnTo>
                <a:cubicBezTo>
                  <a:pt x="110299" y="30779"/>
                  <a:pt x="108953" y="33471"/>
                  <a:pt x="108953" y="36330"/>
                </a:cubicBezTo>
                <a:close/>
                <a:moveTo>
                  <a:pt x="45412" y="63577"/>
                </a:moveTo>
                <a:lnTo>
                  <a:pt x="0" y="63577"/>
                </a:lnTo>
                <a:moveTo>
                  <a:pt x="0" y="90825"/>
                </a:moveTo>
                <a:lnTo>
                  <a:pt x="45412" y="90825"/>
                </a:lnTo>
                <a:moveTo>
                  <a:pt x="45412" y="118072"/>
                </a:moveTo>
                <a:lnTo>
                  <a:pt x="0" y="118072"/>
                </a:lnTo>
                <a:moveTo>
                  <a:pt x="154402" y="0"/>
                </a:moveTo>
                <a:lnTo>
                  <a:pt x="208897" y="0"/>
                </a:lnTo>
                <a:lnTo>
                  <a:pt x="154402" y="36330"/>
                </a:lnTo>
                <a:lnTo>
                  <a:pt x="108990" y="36330"/>
                </a:lnTo>
                <a:moveTo>
                  <a:pt x="45412" y="36330"/>
                </a:moveTo>
                <a:lnTo>
                  <a:pt x="0" y="36330"/>
                </a:lnTo>
                <a:lnTo>
                  <a:pt x="54495" y="0"/>
                </a:lnTo>
                <a:lnTo>
                  <a:pt x="90825" y="0"/>
                </a:lnTo>
              </a:path>
            </a:pathLst>
          </a:custGeom>
          <a:noFill/>
          <a:ln w="5449">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93" name="TextBox 6"/>
          <p:cNvSpPr txBox="1"/>
          <p:nvPr/>
        </p:nvSpPr>
        <p:spPr>
          <a:xfrm>
            <a:off x="6049980" y="330506"/>
            <a:ext cx="2951128" cy="43088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800" b="1" dirty="0">
                <a:solidFill>
                  <a:srgbClr val="484848"/>
                </a:solidFill>
                <a:cs typeface="Times New Roman" panose="02020603050405020304" pitchFamily="18" charset="0"/>
              </a:rPr>
              <a:t>Allowable Expanses:</a:t>
            </a:r>
            <a:endParaRPr sz="2800" b="1" dirty="0">
              <a:solidFill>
                <a:srgbClr val="484848"/>
              </a:solidFill>
              <a:cs typeface="Times New Roman" panose="02020603050405020304" pitchFamily="18" charset="0"/>
            </a:endParaRPr>
          </a:p>
        </p:txBody>
      </p:sp>
    </p:spTree>
    <p:extLst>
      <p:ext uri="{BB962C8B-B14F-4D97-AF65-F5344CB8AC3E}">
        <p14:creationId xmlns:p14="http://schemas.microsoft.com/office/powerpoint/2010/main" val="386233829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b="1" dirty="0">
                <a:cs typeface="Times New Roman" panose="02020603050405020304" pitchFamily="18" charset="0"/>
              </a:rPr>
              <a:t>One business is having..</a:t>
            </a:r>
          </a:p>
          <a:p>
            <a:r>
              <a:rPr lang="en-US" dirty="0">
                <a:cs typeface="Times New Roman" panose="02020603050405020304" pitchFamily="18" charset="0"/>
              </a:rPr>
              <a:t>Receipts = ₹10,00,000</a:t>
            </a:r>
          </a:p>
          <a:p>
            <a:r>
              <a:rPr lang="en-US" dirty="0">
                <a:cs typeface="Times New Roman" panose="02020603050405020304" pitchFamily="18" charset="0"/>
              </a:rPr>
              <a:t>Expenses = ₹3,00,000</a:t>
            </a:r>
          </a:p>
          <a:p>
            <a:r>
              <a:rPr lang="en-US" dirty="0">
                <a:cs typeface="Times New Roman" panose="02020603050405020304" pitchFamily="18" charset="0"/>
              </a:rPr>
              <a:t>Depreciation = ₹50,000</a:t>
            </a:r>
          </a:p>
          <a:p>
            <a:r>
              <a:rPr lang="en-US" dirty="0">
                <a:cs typeface="Times New Roman" panose="02020603050405020304" pitchFamily="18" charset="0"/>
              </a:rPr>
              <a:t>Salary = ₹1,50,000</a:t>
            </a:r>
          </a:p>
          <a:p>
            <a:r>
              <a:rPr lang="en-US" dirty="0">
                <a:cs typeface="Times New Roman" panose="02020603050405020304" pitchFamily="18" charset="0"/>
              </a:rPr>
              <a:t>Interest on Loan = ₹2,00,000</a:t>
            </a:r>
          </a:p>
          <a:p>
            <a:pPr marL="0" indent="0">
              <a:lnSpc>
                <a:spcPct val="150000"/>
              </a:lnSpc>
              <a:buNone/>
            </a:pPr>
            <a:r>
              <a:rPr lang="en-US" dirty="0">
                <a:cs typeface="Times New Roman" panose="02020603050405020304" pitchFamily="18" charset="0"/>
              </a:rPr>
              <a:t>Calculate the Net Profit from above information.</a:t>
            </a:r>
          </a:p>
          <a:p>
            <a:pPr marL="0" indent="0">
              <a:buNone/>
            </a:pPr>
            <a:endParaRPr lang="en-US" dirty="0">
              <a:cs typeface="Times New Roman" panose="02020603050405020304" pitchFamily="18" charset="0"/>
            </a:endParaRPr>
          </a:p>
        </p:txBody>
      </p:sp>
      <p:sp>
        <p:nvSpPr>
          <p:cNvPr id="2" name="Title 1"/>
          <p:cNvSpPr>
            <a:spLocks noGrp="1"/>
          </p:cNvSpPr>
          <p:nvPr>
            <p:ph type="title"/>
          </p:nvPr>
        </p:nvSpPr>
        <p:spPr/>
        <p:txBody>
          <a:bodyPr/>
          <a:lstStyle/>
          <a:p>
            <a:r>
              <a:rPr lang="en-US" b="1" dirty="0">
                <a:cs typeface="Times New Roman" panose="02020603050405020304" pitchFamily="18" charset="0"/>
              </a:rPr>
              <a:t>Example</a:t>
            </a:r>
            <a:r>
              <a:rPr lang="en-US" dirty="0">
                <a:cs typeface="Times New Roman" panose="02020603050405020304" pitchFamily="18" charset="0"/>
              </a:rPr>
              <a:t> </a:t>
            </a:r>
            <a:r>
              <a:rPr lang="en-US" b="1" dirty="0">
                <a:cs typeface="Times New Roman" panose="02020603050405020304" pitchFamily="18" charset="0"/>
              </a:rPr>
              <a:t>1</a:t>
            </a:r>
          </a:p>
        </p:txBody>
      </p:sp>
    </p:spTree>
    <p:extLst>
      <p:ext uri="{BB962C8B-B14F-4D97-AF65-F5344CB8AC3E}">
        <p14:creationId xmlns:p14="http://schemas.microsoft.com/office/powerpoint/2010/main" val="338298884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311868558"/>
              </p:ext>
            </p:extLst>
          </p:nvPr>
        </p:nvGraphicFramePr>
        <p:xfrm>
          <a:off x="131763" y="863600"/>
          <a:ext cx="11928473" cy="4514344"/>
        </p:xfrm>
        <a:graphic>
          <a:graphicData uri="http://schemas.openxmlformats.org/drawingml/2006/table">
            <a:tbl>
              <a:tblPr firstRow="1" bandRow="1">
                <a:tableStyleId>{93296810-A885-4BE3-A3E7-6D5BEEA58F35}</a:tableStyleId>
              </a:tblPr>
              <a:tblGrid>
                <a:gridCol w="7246495">
                  <a:extLst>
                    <a:ext uri="{9D8B030D-6E8A-4147-A177-3AD203B41FA5}">
                      <a16:colId xmlns:a16="http://schemas.microsoft.com/office/drawing/2014/main" val="20000"/>
                    </a:ext>
                  </a:extLst>
                </a:gridCol>
                <a:gridCol w="2340989">
                  <a:extLst>
                    <a:ext uri="{9D8B030D-6E8A-4147-A177-3AD203B41FA5}">
                      <a16:colId xmlns:a16="http://schemas.microsoft.com/office/drawing/2014/main" val="20001"/>
                    </a:ext>
                  </a:extLst>
                </a:gridCol>
                <a:gridCol w="2340989">
                  <a:extLst>
                    <a:ext uri="{9D8B030D-6E8A-4147-A177-3AD203B41FA5}">
                      <a16:colId xmlns:a16="http://schemas.microsoft.com/office/drawing/2014/main" val="20002"/>
                    </a:ext>
                  </a:extLst>
                </a:gridCol>
              </a:tblGrid>
              <a:tr h="564293">
                <a:tc>
                  <a:txBody>
                    <a:bodyPr/>
                    <a:lstStyle/>
                    <a:p>
                      <a:pPr algn="ctr"/>
                      <a:r>
                        <a:rPr lang="en-US" sz="2400" b="1" dirty="0"/>
                        <a:t>Particular</a:t>
                      </a:r>
                      <a:endParaRPr lang="en-US" sz="2400" b="1" dirty="0">
                        <a:latin typeface="+mn-lt"/>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t>Amount</a:t>
                      </a:r>
                      <a:endParaRPr lang="en-US" sz="2400" b="1" dirty="0">
                        <a:latin typeface="+mn-lt"/>
                        <a:cs typeface="Times New Roman" panose="02020603050405020304" pitchFamily="18" charset="0"/>
                      </a:endParaRPr>
                    </a:p>
                  </a:txBody>
                  <a:tcPr anchor="ctr"/>
                </a:tc>
                <a:tc>
                  <a:txBody>
                    <a:bodyPr/>
                    <a:lstStyle/>
                    <a:p>
                      <a:pPr algn="ctr"/>
                      <a:r>
                        <a:rPr lang="en-US" sz="2400" b="1" dirty="0"/>
                        <a:t>Amount</a:t>
                      </a:r>
                      <a:endParaRPr lang="en-US" sz="2400" b="1" dirty="0">
                        <a:latin typeface="+mn-lt"/>
                        <a:cs typeface="Times New Roman" panose="02020603050405020304" pitchFamily="18" charset="0"/>
                      </a:endParaRPr>
                    </a:p>
                  </a:txBody>
                  <a:tcPr anchor="ctr"/>
                </a:tc>
                <a:extLst>
                  <a:ext uri="{0D108BD9-81ED-4DB2-BD59-A6C34878D82A}">
                    <a16:rowId xmlns:a16="http://schemas.microsoft.com/office/drawing/2014/main" val="10000"/>
                  </a:ext>
                </a:extLst>
              </a:tr>
              <a:tr h="564293">
                <a:tc>
                  <a:txBody>
                    <a:bodyPr/>
                    <a:lstStyle/>
                    <a:p>
                      <a:pPr algn="l"/>
                      <a:r>
                        <a:rPr lang="en-US" sz="2400" b="0" dirty="0"/>
                        <a:t>Gross Receipts </a:t>
                      </a:r>
                      <a:endParaRPr lang="en-US" sz="2400" b="0" dirty="0">
                        <a:latin typeface="+mn-lt"/>
                        <a:cs typeface="Times New Roman" panose="02020603050405020304" pitchFamily="18" charset="0"/>
                      </a:endParaRPr>
                    </a:p>
                  </a:txBody>
                  <a:tcPr anchor="ctr"/>
                </a:tc>
                <a:tc>
                  <a:txBody>
                    <a:bodyPr/>
                    <a:lstStyle/>
                    <a:p>
                      <a:pPr algn="ctr"/>
                      <a:endParaRPr lang="en-US" sz="2400" b="0" dirty="0">
                        <a:latin typeface="+mn-lt"/>
                        <a:cs typeface="Times New Roman" panose="02020603050405020304" pitchFamily="18" charset="0"/>
                      </a:endParaRPr>
                    </a:p>
                  </a:txBody>
                  <a:tcPr anchor="ctr"/>
                </a:tc>
                <a:tc>
                  <a:txBody>
                    <a:bodyPr/>
                    <a:lstStyle/>
                    <a:p>
                      <a:pPr algn="ctr"/>
                      <a:r>
                        <a:rPr lang="en-US" sz="2400" b="0" dirty="0"/>
                        <a:t>10,00,000</a:t>
                      </a:r>
                      <a:endParaRPr lang="en-US" sz="2400" b="0" dirty="0">
                        <a:latin typeface="+mn-lt"/>
                        <a:cs typeface="Times New Roman" panose="02020603050405020304" pitchFamily="18" charset="0"/>
                      </a:endParaRPr>
                    </a:p>
                  </a:txBody>
                  <a:tcPr anchor="ctr"/>
                </a:tc>
                <a:extLst>
                  <a:ext uri="{0D108BD9-81ED-4DB2-BD59-A6C34878D82A}">
                    <a16:rowId xmlns:a16="http://schemas.microsoft.com/office/drawing/2014/main" val="10001"/>
                  </a:ext>
                </a:extLst>
              </a:tr>
              <a:tr h="5642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t>Less: Allowable Expanses:</a:t>
                      </a:r>
                      <a:endParaRPr lang="en-US" sz="2400" b="0" dirty="0">
                        <a:latin typeface="+mn-lt"/>
                        <a:cs typeface="Times New Roman" panose="02020603050405020304" pitchFamily="18" charset="0"/>
                      </a:endParaRPr>
                    </a:p>
                  </a:txBody>
                  <a:tcPr anchor="ctr"/>
                </a:tc>
                <a:tc>
                  <a:txBody>
                    <a:bodyPr/>
                    <a:lstStyle/>
                    <a:p>
                      <a:pPr algn="ctr"/>
                      <a:endParaRPr lang="en-US" sz="2400" b="0" dirty="0">
                        <a:latin typeface="+mn-lt"/>
                        <a:cs typeface="Times New Roman" panose="02020603050405020304" pitchFamily="18" charset="0"/>
                      </a:endParaRPr>
                    </a:p>
                  </a:txBody>
                  <a:tcPr anchor="ctr"/>
                </a:tc>
                <a:tc row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dirty="0"/>
                        <a:t>(7,00,000)</a:t>
                      </a:r>
                      <a:endParaRPr lang="en-US" sz="2400" b="0" dirty="0">
                        <a:latin typeface="+mn-lt"/>
                        <a:cs typeface="Times New Roman" panose="02020603050405020304" pitchFamily="18" charset="0"/>
                      </a:endParaRPr>
                    </a:p>
                  </a:txBody>
                  <a:tcPr anchor="b"/>
                </a:tc>
                <a:extLst>
                  <a:ext uri="{0D108BD9-81ED-4DB2-BD59-A6C34878D82A}">
                    <a16:rowId xmlns:a16="http://schemas.microsoft.com/office/drawing/2014/main" val="10002"/>
                  </a:ext>
                </a:extLst>
              </a:tr>
              <a:tr h="5642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Business Expenses</a:t>
                      </a:r>
                      <a:endParaRPr lang="en-US" sz="2400" dirty="0">
                        <a:latin typeface="+mn-lt"/>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3,00,000</a:t>
                      </a:r>
                      <a:endParaRPr lang="en-US" sz="2400" dirty="0">
                        <a:latin typeface="+mn-lt"/>
                        <a:cs typeface="Times New Roman" panose="02020603050405020304" pitchFamily="18" charset="0"/>
                      </a:endParaRPr>
                    </a:p>
                  </a:txBody>
                  <a:tcPr anchor="ctr"/>
                </a:tc>
                <a:tc vMerge="1">
                  <a:txBody>
                    <a:bodyPr/>
                    <a:lstStyle/>
                    <a:p>
                      <a:pPr algn="ctr"/>
                      <a:endParaRPr lang="en-US" sz="2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3"/>
                  </a:ext>
                </a:extLst>
              </a:tr>
              <a:tr h="5642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Depreciation </a:t>
                      </a:r>
                      <a:endParaRPr lang="en-US" sz="2400" dirty="0">
                        <a:latin typeface="+mn-lt"/>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50,000</a:t>
                      </a:r>
                      <a:endParaRPr lang="en-US" sz="2400" dirty="0">
                        <a:latin typeface="+mn-lt"/>
                        <a:cs typeface="Times New Roman" panose="02020603050405020304" pitchFamily="18" charset="0"/>
                      </a:endParaRPr>
                    </a:p>
                  </a:txBody>
                  <a:tcPr anchor="ctr"/>
                </a:tc>
                <a:tc vMerge="1">
                  <a:txBody>
                    <a:bodyPr/>
                    <a:lstStyle/>
                    <a:p>
                      <a:pPr algn="ctr"/>
                      <a:endParaRPr lang="en-US" sz="2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4"/>
                  </a:ext>
                </a:extLst>
              </a:tr>
              <a:tr h="564293">
                <a:tc>
                  <a:txBody>
                    <a:bodyPr/>
                    <a:lstStyle/>
                    <a:p>
                      <a:pPr algn="l"/>
                      <a:r>
                        <a:rPr lang="en-US" sz="2400" dirty="0"/>
                        <a:t>Salary</a:t>
                      </a:r>
                      <a:endParaRPr lang="en-US" sz="2400" b="0" dirty="0">
                        <a:latin typeface="+mn-lt"/>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1,50,000</a:t>
                      </a:r>
                      <a:endParaRPr lang="en-US" sz="2400" dirty="0">
                        <a:latin typeface="+mn-lt"/>
                        <a:cs typeface="Times New Roman" panose="02020603050405020304" pitchFamily="18" charset="0"/>
                      </a:endParaRPr>
                    </a:p>
                  </a:txBody>
                  <a:tcPr anchor="ctr"/>
                </a:tc>
                <a:tc vMerge="1">
                  <a:txBody>
                    <a:bodyPr/>
                    <a:lstStyle/>
                    <a:p>
                      <a:pPr algn="ctr"/>
                      <a:endParaRPr lang="en-US" sz="2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5"/>
                  </a:ext>
                </a:extLst>
              </a:tr>
              <a:tr h="564293">
                <a:tc>
                  <a:txBody>
                    <a:bodyPr/>
                    <a:lstStyle/>
                    <a:p>
                      <a:pPr algn="l"/>
                      <a:r>
                        <a:rPr lang="en-US" sz="2400" dirty="0"/>
                        <a:t>Interest</a:t>
                      </a:r>
                      <a:r>
                        <a:rPr lang="en-US" sz="2400" baseline="0" dirty="0"/>
                        <a:t> on Loan</a:t>
                      </a:r>
                      <a:endParaRPr lang="en-US" sz="2400" b="0" dirty="0">
                        <a:latin typeface="+mn-lt"/>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2,00,000</a:t>
                      </a:r>
                      <a:endParaRPr lang="en-US" sz="2400" b="0" dirty="0">
                        <a:latin typeface="+mn-lt"/>
                        <a:cs typeface="Times New Roman" panose="02020603050405020304" pitchFamily="18" charset="0"/>
                      </a:endParaRPr>
                    </a:p>
                  </a:txBody>
                  <a:tcPr anchor="ctr"/>
                </a:tc>
                <a:tc vMerge="1">
                  <a:txBody>
                    <a:bodyPr/>
                    <a:lstStyle/>
                    <a:p>
                      <a:pPr algn="ctr"/>
                      <a:endParaRPr lang="en-US" sz="2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6"/>
                  </a:ext>
                </a:extLst>
              </a:tr>
              <a:tr h="564293">
                <a:tc>
                  <a:txBody>
                    <a:bodyPr/>
                    <a:lstStyle/>
                    <a:p>
                      <a:pPr algn="ctr"/>
                      <a:r>
                        <a:rPr lang="en-US" sz="2400" b="1" dirty="0"/>
                        <a:t>Net Profit</a:t>
                      </a:r>
                      <a:endParaRPr lang="en-US" sz="2400" b="1" dirty="0">
                        <a:latin typeface="+mn-lt"/>
                        <a:cs typeface="Times New Roman" panose="02020603050405020304" pitchFamily="18" charset="0"/>
                      </a:endParaRPr>
                    </a:p>
                  </a:txBody>
                  <a:tcPr anchor="ctr"/>
                </a:tc>
                <a:tc>
                  <a:txBody>
                    <a:bodyPr/>
                    <a:lstStyle/>
                    <a:p>
                      <a:pPr algn="ctr"/>
                      <a:endParaRPr lang="en-US" sz="2400" b="1" dirty="0">
                        <a:latin typeface="+mn-lt"/>
                        <a:cs typeface="Times New Roman" panose="02020603050405020304" pitchFamily="18" charset="0"/>
                      </a:endParaRPr>
                    </a:p>
                  </a:txBody>
                  <a:tcPr anchor="ctr"/>
                </a:tc>
                <a:tc>
                  <a:txBody>
                    <a:bodyPr/>
                    <a:lstStyle/>
                    <a:p>
                      <a:pPr algn="ctr"/>
                      <a:r>
                        <a:rPr lang="en-US" sz="2400" b="1" dirty="0"/>
                        <a:t>3,00,000</a:t>
                      </a:r>
                      <a:endParaRPr lang="en-US" sz="2400" b="1" dirty="0">
                        <a:latin typeface="+mn-lt"/>
                        <a:cs typeface="Times New Roman" panose="02020603050405020304" pitchFamily="18" charset="0"/>
                      </a:endParaRPr>
                    </a:p>
                  </a:txBody>
                  <a:tcPr anchor="ctr"/>
                </a:tc>
                <a:extLst>
                  <a:ext uri="{0D108BD9-81ED-4DB2-BD59-A6C34878D82A}">
                    <a16:rowId xmlns:a16="http://schemas.microsoft.com/office/drawing/2014/main" val="10007"/>
                  </a:ext>
                </a:extLst>
              </a:tr>
            </a:tbl>
          </a:graphicData>
        </a:graphic>
      </p:graphicFrame>
      <p:sp>
        <p:nvSpPr>
          <p:cNvPr id="2" name="Title 1"/>
          <p:cNvSpPr>
            <a:spLocks noGrp="1"/>
          </p:cNvSpPr>
          <p:nvPr>
            <p:ph type="title"/>
          </p:nvPr>
        </p:nvSpPr>
        <p:spPr/>
        <p:txBody>
          <a:bodyPr>
            <a:normAutofit/>
          </a:bodyPr>
          <a:lstStyle/>
          <a:p>
            <a:r>
              <a:rPr lang="en-US" b="1" dirty="0">
                <a:cs typeface="Times New Roman" panose="02020603050405020304" pitchFamily="18" charset="0"/>
              </a:rPr>
              <a:t>Calculation of Profit from Business</a:t>
            </a:r>
          </a:p>
        </p:txBody>
      </p:sp>
    </p:spTree>
    <p:extLst>
      <p:ext uri="{BB962C8B-B14F-4D97-AF65-F5344CB8AC3E}">
        <p14:creationId xmlns:p14="http://schemas.microsoft.com/office/powerpoint/2010/main" val="195169163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b="1" dirty="0">
                <a:cs typeface="Times New Roman" panose="02020603050405020304" pitchFamily="18" charset="0"/>
              </a:rPr>
              <a:t>One business is having..</a:t>
            </a:r>
          </a:p>
          <a:p>
            <a:r>
              <a:rPr lang="en-US" dirty="0">
                <a:cs typeface="Times New Roman" panose="02020603050405020304" pitchFamily="18" charset="0"/>
              </a:rPr>
              <a:t>Receipts = ₹20,00,000</a:t>
            </a:r>
          </a:p>
          <a:p>
            <a:r>
              <a:rPr lang="en-US" dirty="0">
                <a:cs typeface="Times New Roman" panose="02020603050405020304" pitchFamily="18" charset="0"/>
              </a:rPr>
              <a:t>Expenses = ₹5,00,000</a:t>
            </a:r>
          </a:p>
          <a:p>
            <a:r>
              <a:rPr lang="en-US" dirty="0">
                <a:cs typeface="Times New Roman" panose="02020603050405020304" pitchFamily="18" charset="0"/>
              </a:rPr>
              <a:t>Depreciation = ₹1,00,000</a:t>
            </a:r>
          </a:p>
          <a:p>
            <a:r>
              <a:rPr lang="en-US" dirty="0">
                <a:cs typeface="Times New Roman" panose="02020603050405020304" pitchFamily="18" charset="0"/>
              </a:rPr>
              <a:t>Salary = ₹2,50,000</a:t>
            </a:r>
          </a:p>
          <a:p>
            <a:r>
              <a:rPr lang="en-US" dirty="0">
                <a:cs typeface="Times New Roman" panose="02020603050405020304" pitchFamily="18" charset="0"/>
              </a:rPr>
              <a:t>Repairing Expenses = ₹50,000 </a:t>
            </a:r>
          </a:p>
          <a:p>
            <a:r>
              <a:rPr lang="en-US" dirty="0">
                <a:cs typeface="Times New Roman" panose="02020603050405020304" pitchFamily="18" charset="0"/>
              </a:rPr>
              <a:t>Rent Expenses = ₹ 4,80,000</a:t>
            </a:r>
          </a:p>
          <a:p>
            <a:pPr marL="0" indent="0">
              <a:lnSpc>
                <a:spcPct val="150000"/>
              </a:lnSpc>
              <a:buNone/>
            </a:pPr>
            <a:r>
              <a:rPr lang="en-US" dirty="0">
                <a:cs typeface="Times New Roman" panose="02020603050405020304" pitchFamily="18" charset="0"/>
              </a:rPr>
              <a:t>Calculate the Net Profit from above information.</a:t>
            </a:r>
          </a:p>
        </p:txBody>
      </p:sp>
      <p:sp>
        <p:nvSpPr>
          <p:cNvPr id="2" name="Title 1"/>
          <p:cNvSpPr>
            <a:spLocks noGrp="1"/>
          </p:cNvSpPr>
          <p:nvPr>
            <p:ph type="title"/>
          </p:nvPr>
        </p:nvSpPr>
        <p:spPr/>
        <p:txBody>
          <a:bodyPr/>
          <a:lstStyle/>
          <a:p>
            <a:r>
              <a:rPr lang="en-US" b="1" dirty="0">
                <a:cs typeface="Times New Roman" panose="02020603050405020304" pitchFamily="18" charset="0"/>
              </a:rPr>
              <a:t>Example: 2</a:t>
            </a:r>
          </a:p>
        </p:txBody>
      </p:sp>
    </p:spTree>
    <p:extLst>
      <p:ext uri="{BB962C8B-B14F-4D97-AF65-F5344CB8AC3E}">
        <p14:creationId xmlns:p14="http://schemas.microsoft.com/office/powerpoint/2010/main" val="123096352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441326225"/>
              </p:ext>
            </p:extLst>
          </p:nvPr>
        </p:nvGraphicFramePr>
        <p:xfrm>
          <a:off x="131763" y="863600"/>
          <a:ext cx="11928473" cy="5078637"/>
        </p:xfrm>
        <a:graphic>
          <a:graphicData uri="http://schemas.openxmlformats.org/drawingml/2006/table">
            <a:tbl>
              <a:tblPr firstRow="1" bandRow="1">
                <a:tableStyleId>{93296810-A885-4BE3-A3E7-6D5BEEA58F35}</a:tableStyleId>
              </a:tblPr>
              <a:tblGrid>
                <a:gridCol w="7246495">
                  <a:extLst>
                    <a:ext uri="{9D8B030D-6E8A-4147-A177-3AD203B41FA5}">
                      <a16:colId xmlns:a16="http://schemas.microsoft.com/office/drawing/2014/main" val="20000"/>
                    </a:ext>
                  </a:extLst>
                </a:gridCol>
                <a:gridCol w="2340989">
                  <a:extLst>
                    <a:ext uri="{9D8B030D-6E8A-4147-A177-3AD203B41FA5}">
                      <a16:colId xmlns:a16="http://schemas.microsoft.com/office/drawing/2014/main" val="20001"/>
                    </a:ext>
                  </a:extLst>
                </a:gridCol>
                <a:gridCol w="2340989">
                  <a:extLst>
                    <a:ext uri="{9D8B030D-6E8A-4147-A177-3AD203B41FA5}">
                      <a16:colId xmlns:a16="http://schemas.microsoft.com/office/drawing/2014/main" val="20002"/>
                    </a:ext>
                  </a:extLst>
                </a:gridCol>
              </a:tblGrid>
              <a:tr h="564293">
                <a:tc>
                  <a:txBody>
                    <a:bodyPr/>
                    <a:lstStyle/>
                    <a:p>
                      <a:pPr algn="ctr"/>
                      <a:r>
                        <a:rPr lang="en-US" sz="2400" b="1" dirty="0"/>
                        <a:t>Particular</a:t>
                      </a:r>
                      <a:endParaRPr lang="en-US" sz="2400" b="1" dirty="0">
                        <a:latin typeface="+mn-lt"/>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t>Amount</a:t>
                      </a:r>
                      <a:endParaRPr lang="en-US" sz="2400" b="1" dirty="0">
                        <a:latin typeface="+mn-lt"/>
                        <a:cs typeface="Times New Roman" panose="02020603050405020304" pitchFamily="18" charset="0"/>
                      </a:endParaRPr>
                    </a:p>
                  </a:txBody>
                  <a:tcPr anchor="ctr"/>
                </a:tc>
                <a:tc>
                  <a:txBody>
                    <a:bodyPr/>
                    <a:lstStyle/>
                    <a:p>
                      <a:pPr algn="ctr"/>
                      <a:r>
                        <a:rPr lang="en-US" sz="2400" b="1" dirty="0"/>
                        <a:t>Amount</a:t>
                      </a:r>
                      <a:endParaRPr lang="en-US" sz="2400" b="1" dirty="0">
                        <a:latin typeface="+mn-lt"/>
                        <a:cs typeface="Times New Roman" panose="02020603050405020304" pitchFamily="18" charset="0"/>
                      </a:endParaRPr>
                    </a:p>
                  </a:txBody>
                  <a:tcPr anchor="ctr"/>
                </a:tc>
                <a:extLst>
                  <a:ext uri="{0D108BD9-81ED-4DB2-BD59-A6C34878D82A}">
                    <a16:rowId xmlns:a16="http://schemas.microsoft.com/office/drawing/2014/main" val="10000"/>
                  </a:ext>
                </a:extLst>
              </a:tr>
              <a:tr h="564293">
                <a:tc>
                  <a:txBody>
                    <a:bodyPr/>
                    <a:lstStyle/>
                    <a:p>
                      <a:pPr algn="l"/>
                      <a:r>
                        <a:rPr lang="en-US" sz="2400" b="0" dirty="0"/>
                        <a:t>Gross Receipts </a:t>
                      </a:r>
                      <a:endParaRPr lang="en-US" sz="2400" b="0" dirty="0">
                        <a:latin typeface="+mn-lt"/>
                        <a:cs typeface="Times New Roman" panose="02020603050405020304" pitchFamily="18" charset="0"/>
                      </a:endParaRPr>
                    </a:p>
                  </a:txBody>
                  <a:tcPr anchor="ctr"/>
                </a:tc>
                <a:tc>
                  <a:txBody>
                    <a:bodyPr/>
                    <a:lstStyle/>
                    <a:p>
                      <a:pPr algn="ctr"/>
                      <a:endParaRPr lang="en-US" sz="2400" b="0" dirty="0">
                        <a:latin typeface="+mn-lt"/>
                        <a:cs typeface="Times New Roman" panose="02020603050405020304" pitchFamily="18" charset="0"/>
                      </a:endParaRPr>
                    </a:p>
                  </a:txBody>
                  <a:tcPr anchor="ctr"/>
                </a:tc>
                <a:tc>
                  <a:txBody>
                    <a:bodyPr/>
                    <a:lstStyle/>
                    <a:p>
                      <a:pPr algn="ctr"/>
                      <a:r>
                        <a:rPr lang="en-US" sz="2400" b="0" dirty="0"/>
                        <a:t>20,00,000</a:t>
                      </a:r>
                      <a:endParaRPr lang="en-US" sz="2400" b="0" dirty="0">
                        <a:latin typeface="+mn-lt"/>
                        <a:cs typeface="Times New Roman" panose="02020603050405020304" pitchFamily="18" charset="0"/>
                      </a:endParaRPr>
                    </a:p>
                  </a:txBody>
                  <a:tcPr anchor="ctr"/>
                </a:tc>
                <a:extLst>
                  <a:ext uri="{0D108BD9-81ED-4DB2-BD59-A6C34878D82A}">
                    <a16:rowId xmlns:a16="http://schemas.microsoft.com/office/drawing/2014/main" val="10001"/>
                  </a:ext>
                </a:extLst>
              </a:tr>
              <a:tr h="5642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t>Less: Allowable Expanses:</a:t>
                      </a:r>
                      <a:endParaRPr lang="en-US" sz="2400" b="0" dirty="0">
                        <a:latin typeface="+mn-lt"/>
                        <a:cs typeface="Times New Roman" panose="02020603050405020304" pitchFamily="18" charset="0"/>
                      </a:endParaRPr>
                    </a:p>
                  </a:txBody>
                  <a:tcPr anchor="ctr"/>
                </a:tc>
                <a:tc>
                  <a:txBody>
                    <a:bodyPr/>
                    <a:lstStyle/>
                    <a:p>
                      <a:pPr algn="ctr"/>
                      <a:endParaRPr lang="en-US" sz="2400" b="0" dirty="0">
                        <a:latin typeface="+mn-lt"/>
                        <a:cs typeface="Times New Roman" panose="02020603050405020304" pitchFamily="18" charset="0"/>
                      </a:endParaRPr>
                    </a:p>
                  </a:txBody>
                  <a:tcPr anchor="ctr"/>
                </a:tc>
                <a:tc row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dirty="0"/>
                        <a:t>(14,00,000)</a:t>
                      </a:r>
                      <a:endParaRPr lang="en-US" sz="2400" b="0" dirty="0">
                        <a:latin typeface="+mn-lt"/>
                        <a:cs typeface="Times New Roman" panose="02020603050405020304" pitchFamily="18" charset="0"/>
                      </a:endParaRPr>
                    </a:p>
                  </a:txBody>
                  <a:tcPr anchor="b"/>
                </a:tc>
                <a:extLst>
                  <a:ext uri="{0D108BD9-81ED-4DB2-BD59-A6C34878D82A}">
                    <a16:rowId xmlns:a16="http://schemas.microsoft.com/office/drawing/2014/main" val="10002"/>
                  </a:ext>
                </a:extLst>
              </a:tr>
              <a:tr h="5642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Business Expenses</a:t>
                      </a:r>
                      <a:endParaRPr lang="en-US" sz="2400" dirty="0">
                        <a:latin typeface="+mn-lt"/>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5,00,000</a:t>
                      </a:r>
                      <a:endParaRPr lang="en-US" sz="2400" dirty="0">
                        <a:latin typeface="+mn-lt"/>
                        <a:cs typeface="Times New Roman" panose="02020603050405020304" pitchFamily="18" charset="0"/>
                      </a:endParaRPr>
                    </a:p>
                  </a:txBody>
                  <a:tcPr anchor="ctr"/>
                </a:tc>
                <a:tc vMerge="1">
                  <a:txBody>
                    <a:bodyPr/>
                    <a:lstStyle/>
                    <a:p>
                      <a:pPr algn="ctr"/>
                      <a:endParaRPr lang="en-US" sz="2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3"/>
                  </a:ext>
                </a:extLst>
              </a:tr>
              <a:tr h="5642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Depreciation </a:t>
                      </a:r>
                      <a:endParaRPr lang="en-US" sz="2400" dirty="0">
                        <a:latin typeface="+mn-lt"/>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1,20,000</a:t>
                      </a:r>
                      <a:endParaRPr lang="en-US" sz="2400" dirty="0">
                        <a:latin typeface="+mn-lt"/>
                        <a:cs typeface="Times New Roman" panose="02020603050405020304" pitchFamily="18" charset="0"/>
                      </a:endParaRPr>
                    </a:p>
                  </a:txBody>
                  <a:tcPr anchor="ctr"/>
                </a:tc>
                <a:tc vMerge="1">
                  <a:txBody>
                    <a:bodyPr/>
                    <a:lstStyle/>
                    <a:p>
                      <a:pPr algn="ctr"/>
                      <a:endParaRPr lang="en-US" sz="2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4"/>
                  </a:ext>
                </a:extLst>
              </a:tr>
              <a:tr h="564293">
                <a:tc>
                  <a:txBody>
                    <a:bodyPr/>
                    <a:lstStyle/>
                    <a:p>
                      <a:pPr algn="l"/>
                      <a:r>
                        <a:rPr lang="en-US" sz="2400" dirty="0"/>
                        <a:t>Salary</a:t>
                      </a:r>
                      <a:endParaRPr lang="en-US" sz="2400" b="0" dirty="0">
                        <a:latin typeface="+mn-lt"/>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2,50,000</a:t>
                      </a:r>
                      <a:endParaRPr lang="en-US" sz="2400" dirty="0">
                        <a:latin typeface="+mn-lt"/>
                        <a:cs typeface="Times New Roman" panose="02020603050405020304" pitchFamily="18" charset="0"/>
                      </a:endParaRPr>
                    </a:p>
                  </a:txBody>
                  <a:tcPr anchor="ctr"/>
                </a:tc>
                <a:tc vMerge="1">
                  <a:txBody>
                    <a:bodyPr/>
                    <a:lstStyle/>
                    <a:p>
                      <a:pPr algn="ctr"/>
                      <a:endParaRPr lang="en-US" sz="2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5"/>
                  </a:ext>
                </a:extLst>
              </a:tr>
              <a:tr h="564293">
                <a:tc>
                  <a:txBody>
                    <a:bodyPr/>
                    <a:lstStyle/>
                    <a:p>
                      <a:pPr algn="l"/>
                      <a:r>
                        <a:rPr lang="en-US" sz="2400" dirty="0"/>
                        <a:t>Repairing Expenses</a:t>
                      </a:r>
                      <a:endParaRPr lang="en-US" sz="2400" b="0" dirty="0">
                        <a:latin typeface="+mn-lt"/>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50,000</a:t>
                      </a:r>
                      <a:endParaRPr lang="en-US" sz="2400" b="0" dirty="0">
                        <a:latin typeface="+mn-lt"/>
                        <a:cs typeface="Times New Roman" panose="02020603050405020304" pitchFamily="18" charset="0"/>
                      </a:endParaRPr>
                    </a:p>
                  </a:txBody>
                  <a:tcPr anchor="ctr"/>
                </a:tc>
                <a:tc vMerge="1">
                  <a:txBody>
                    <a:bodyPr/>
                    <a:lstStyle/>
                    <a:p>
                      <a:pPr algn="ctr"/>
                      <a:endParaRPr lang="en-US" sz="2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6"/>
                  </a:ext>
                </a:extLst>
              </a:tr>
              <a:tr h="564293">
                <a:tc>
                  <a:txBody>
                    <a:bodyPr/>
                    <a:lstStyle/>
                    <a:p>
                      <a:pPr algn="l"/>
                      <a:r>
                        <a:rPr lang="en-US" sz="2400" b="0" dirty="0"/>
                        <a:t>Rent</a:t>
                      </a:r>
                      <a:r>
                        <a:rPr lang="en-US" sz="2400" b="0" baseline="0" dirty="0"/>
                        <a:t> </a:t>
                      </a:r>
                      <a:endParaRPr lang="en-US" sz="2400" b="0" dirty="0">
                        <a:latin typeface="+mn-lt"/>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dirty="0"/>
                        <a:t>4,80,000</a:t>
                      </a:r>
                      <a:endParaRPr lang="en-US" sz="2400" b="0" dirty="0">
                        <a:latin typeface="+mn-lt"/>
                        <a:cs typeface="Times New Roman" panose="02020603050405020304" pitchFamily="18" charset="0"/>
                      </a:endParaRPr>
                    </a:p>
                  </a:txBody>
                  <a:tcPr anchor="ctr"/>
                </a:tc>
                <a:tc vMerge="1">
                  <a:txBody>
                    <a:bodyPr/>
                    <a:lstStyle/>
                    <a:p>
                      <a:pPr algn="ctr"/>
                      <a:endParaRPr lang="en-US" sz="2400" b="0" dirty="0">
                        <a:latin typeface="Times New Roman" panose="02020603050405020304" pitchFamily="18" charset="0"/>
                        <a:cs typeface="Times New Roman" panose="02020603050405020304" pitchFamily="18" charset="0"/>
                      </a:endParaRPr>
                    </a:p>
                  </a:txBody>
                  <a:tcPr anchor="b"/>
                </a:tc>
                <a:extLst>
                  <a:ext uri="{0D108BD9-81ED-4DB2-BD59-A6C34878D82A}">
                    <a16:rowId xmlns:a16="http://schemas.microsoft.com/office/drawing/2014/main" val="10007"/>
                  </a:ext>
                </a:extLst>
              </a:tr>
              <a:tr h="564293">
                <a:tc>
                  <a:txBody>
                    <a:bodyPr/>
                    <a:lstStyle/>
                    <a:p>
                      <a:pPr algn="ctr"/>
                      <a:r>
                        <a:rPr lang="en-US" sz="2400" b="1" dirty="0"/>
                        <a:t>Net Profit</a:t>
                      </a:r>
                      <a:endParaRPr lang="en-US" sz="2400" b="1" dirty="0">
                        <a:latin typeface="+mn-lt"/>
                        <a:cs typeface="Times New Roman" panose="02020603050405020304" pitchFamily="18" charset="0"/>
                      </a:endParaRPr>
                    </a:p>
                  </a:txBody>
                  <a:tcPr anchor="ctr"/>
                </a:tc>
                <a:tc>
                  <a:txBody>
                    <a:bodyPr/>
                    <a:lstStyle/>
                    <a:p>
                      <a:pPr algn="ctr"/>
                      <a:endParaRPr lang="en-US" sz="2400" b="1" dirty="0">
                        <a:latin typeface="+mn-lt"/>
                        <a:cs typeface="Times New Roman" panose="02020603050405020304" pitchFamily="18" charset="0"/>
                      </a:endParaRPr>
                    </a:p>
                  </a:txBody>
                  <a:tcPr anchor="ctr"/>
                </a:tc>
                <a:tc>
                  <a:txBody>
                    <a:bodyPr/>
                    <a:lstStyle/>
                    <a:p>
                      <a:pPr algn="ctr"/>
                      <a:r>
                        <a:rPr lang="en-US" sz="2400" b="1" dirty="0"/>
                        <a:t>6,00,000</a:t>
                      </a:r>
                      <a:endParaRPr lang="en-US" sz="2400" b="1" dirty="0">
                        <a:latin typeface="+mn-lt"/>
                        <a:cs typeface="Times New Roman" panose="02020603050405020304" pitchFamily="18" charset="0"/>
                      </a:endParaRPr>
                    </a:p>
                  </a:txBody>
                  <a:tcPr anchor="ctr"/>
                </a:tc>
                <a:extLst>
                  <a:ext uri="{0D108BD9-81ED-4DB2-BD59-A6C34878D82A}">
                    <a16:rowId xmlns:a16="http://schemas.microsoft.com/office/drawing/2014/main" val="10008"/>
                  </a:ext>
                </a:extLst>
              </a:tr>
            </a:tbl>
          </a:graphicData>
        </a:graphic>
      </p:graphicFrame>
      <p:sp>
        <p:nvSpPr>
          <p:cNvPr id="2" name="Title 1"/>
          <p:cNvSpPr>
            <a:spLocks noGrp="1"/>
          </p:cNvSpPr>
          <p:nvPr>
            <p:ph type="title"/>
          </p:nvPr>
        </p:nvSpPr>
        <p:spPr/>
        <p:txBody>
          <a:bodyPr>
            <a:normAutofit/>
          </a:bodyPr>
          <a:lstStyle/>
          <a:p>
            <a:r>
              <a:rPr lang="en-US" b="1" dirty="0">
                <a:cs typeface="Times New Roman" panose="02020603050405020304" pitchFamily="18" charset="0"/>
              </a:rPr>
              <a:t>Calculation of Profit from Business</a:t>
            </a:r>
          </a:p>
        </p:txBody>
      </p:sp>
    </p:spTree>
    <p:extLst>
      <p:ext uri="{BB962C8B-B14F-4D97-AF65-F5344CB8AC3E}">
        <p14:creationId xmlns:p14="http://schemas.microsoft.com/office/powerpoint/2010/main" val="85541261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b="1" dirty="0">
                <a:cs typeface="Times New Roman" panose="02020603050405020304" pitchFamily="18" charset="0"/>
              </a:rPr>
              <a:t>Capital Gain</a:t>
            </a:r>
            <a:r>
              <a:rPr lang="en-US" dirty="0">
                <a:cs typeface="Times New Roman" panose="02020603050405020304" pitchFamily="18" charset="0"/>
              </a:rPr>
              <a:t> is the profit earned when a </a:t>
            </a:r>
            <a:r>
              <a:rPr lang="en-US" b="1" dirty="0">
                <a:cs typeface="Times New Roman" panose="02020603050405020304" pitchFamily="18" charset="0"/>
              </a:rPr>
              <a:t>capital asset</a:t>
            </a:r>
            <a:r>
              <a:rPr lang="en-US" dirty="0">
                <a:cs typeface="Times New Roman" panose="02020603050405020304" pitchFamily="18" charset="0"/>
              </a:rPr>
              <a:t> is </a:t>
            </a:r>
            <a:r>
              <a:rPr lang="en-US" b="1" dirty="0">
                <a:cs typeface="Times New Roman" panose="02020603050405020304" pitchFamily="18" charset="0"/>
              </a:rPr>
              <a:t>sold for more than its purchase price</a:t>
            </a:r>
            <a:r>
              <a:rPr lang="en-US" dirty="0">
                <a:cs typeface="Times New Roman" panose="02020603050405020304" pitchFamily="18" charset="0"/>
              </a:rPr>
              <a:t>.</a:t>
            </a:r>
          </a:p>
          <a:p>
            <a:pPr marL="0" indent="0" algn="just">
              <a:lnSpc>
                <a:spcPct val="150000"/>
              </a:lnSpc>
              <a:buNone/>
            </a:pPr>
            <a:r>
              <a:rPr lang="en-US" sz="2800" b="1" dirty="0">
                <a:cs typeface="Times New Roman" panose="02020603050405020304" pitchFamily="18" charset="0"/>
              </a:rPr>
              <a:t>Formula:</a:t>
            </a:r>
          </a:p>
          <a:p>
            <a:pPr marL="0" indent="0" algn="just">
              <a:lnSpc>
                <a:spcPct val="100000"/>
              </a:lnSpc>
              <a:buNone/>
            </a:pPr>
            <a:r>
              <a:rPr lang="en-US" b="1" dirty="0">
                <a:cs typeface="Times New Roman" panose="02020603050405020304" pitchFamily="18" charset="0"/>
              </a:rPr>
              <a:t>Capital Gain = </a:t>
            </a:r>
            <a:r>
              <a:rPr lang="en-US" dirty="0">
                <a:cs typeface="Times New Roman" panose="02020603050405020304" pitchFamily="18" charset="0"/>
              </a:rPr>
              <a:t>Sale Price – (Purchase Price + Improvement Cost + Expenses on Sale)</a:t>
            </a:r>
          </a:p>
          <a:p>
            <a:pPr algn="just">
              <a:lnSpc>
                <a:spcPct val="100000"/>
              </a:lnSpc>
            </a:pPr>
            <a:r>
              <a:rPr lang="en-US" dirty="0">
                <a:cs typeface="Times New Roman" panose="02020603050405020304" pitchFamily="18" charset="0"/>
              </a:rPr>
              <a:t>It includes Capital assets, any property held by a person- movable or immovable or whether related to business or not.</a:t>
            </a:r>
          </a:p>
          <a:p>
            <a:pPr marL="0" indent="0" algn="just">
              <a:lnSpc>
                <a:spcPct val="150000"/>
              </a:lnSpc>
              <a:buNone/>
            </a:pPr>
            <a:endParaRPr lang="en-US" sz="3200" b="1" dirty="0">
              <a:cs typeface="Times New Roman" panose="02020603050405020304" pitchFamily="18" charset="0"/>
            </a:endParaRPr>
          </a:p>
          <a:p>
            <a:endParaRPr lang="en-US" dirty="0"/>
          </a:p>
        </p:txBody>
      </p:sp>
      <p:sp>
        <p:nvSpPr>
          <p:cNvPr id="2" name="Title 1"/>
          <p:cNvSpPr>
            <a:spLocks noGrp="1"/>
          </p:cNvSpPr>
          <p:nvPr>
            <p:ph type="title"/>
          </p:nvPr>
        </p:nvSpPr>
        <p:spPr/>
        <p:txBody>
          <a:bodyPr/>
          <a:lstStyle/>
          <a:p>
            <a:r>
              <a:rPr lang="en-US" b="1" dirty="0">
                <a:cs typeface="Times New Roman" panose="02020603050405020304" pitchFamily="18" charset="0"/>
              </a:rPr>
              <a:t>Income from Capital Gain:</a:t>
            </a:r>
          </a:p>
        </p:txBody>
      </p:sp>
      <p:sp>
        <p:nvSpPr>
          <p:cNvPr id="4" name="TextBox 1"/>
          <p:cNvSpPr txBox="1"/>
          <p:nvPr/>
        </p:nvSpPr>
        <p:spPr>
          <a:xfrm>
            <a:off x="2890800" y="5617889"/>
            <a:ext cx="1125333" cy="738523"/>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484848"/>
                </a:solidFill>
                <a:latin typeface="Roboto"/>
              </a:rPr>
              <a:t>Land and
Building</a:t>
            </a:r>
          </a:p>
        </p:txBody>
      </p:sp>
      <p:sp>
        <p:nvSpPr>
          <p:cNvPr id="5" name="TextBox 2"/>
          <p:cNvSpPr txBox="1"/>
          <p:nvPr/>
        </p:nvSpPr>
        <p:spPr>
          <a:xfrm>
            <a:off x="4726310" y="5617889"/>
            <a:ext cx="1635483" cy="738523"/>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a:solidFill>
                  <a:srgbClr val="484848"/>
                </a:solidFill>
                <a:latin typeface="Roboto"/>
              </a:rPr>
              <a:t>Shares &amp;
Mutual Funds</a:t>
            </a:r>
          </a:p>
        </p:txBody>
      </p:sp>
      <p:sp>
        <p:nvSpPr>
          <p:cNvPr id="6" name="TextBox 3"/>
          <p:cNvSpPr txBox="1"/>
          <p:nvPr/>
        </p:nvSpPr>
        <p:spPr>
          <a:xfrm>
            <a:off x="6921936" y="5617889"/>
            <a:ext cx="1125333" cy="369262"/>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a:solidFill>
                  <a:srgbClr val="484848"/>
                </a:solidFill>
                <a:latin typeface="Roboto"/>
              </a:rPr>
              <a:t>Jewellery</a:t>
            </a:r>
          </a:p>
        </p:txBody>
      </p:sp>
      <p:sp>
        <p:nvSpPr>
          <p:cNvPr id="7" name="TextBox 4"/>
          <p:cNvSpPr txBox="1"/>
          <p:nvPr/>
        </p:nvSpPr>
        <p:spPr>
          <a:xfrm>
            <a:off x="8689045" y="5597758"/>
            <a:ext cx="1005371" cy="369262"/>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484848"/>
                </a:solidFill>
                <a:latin typeface="Roboto"/>
              </a:rPr>
              <a:t>Vehicles</a:t>
            </a:r>
          </a:p>
        </p:txBody>
      </p:sp>
      <p:sp>
        <p:nvSpPr>
          <p:cNvPr id="8" name="Rounded Rectangle 5"/>
          <p:cNvSpPr/>
          <p:nvPr/>
        </p:nvSpPr>
        <p:spPr>
          <a:xfrm>
            <a:off x="3238824" y="4852858"/>
            <a:ext cx="508783" cy="646520"/>
          </a:xfrm>
          <a:custGeom>
            <a:avLst/>
            <a:gdLst/>
            <a:ahLst/>
            <a:cxnLst/>
            <a:rect l="0" t="0" r="0" b="0"/>
            <a:pathLst>
              <a:path w="328612" h="328612">
                <a:moveTo>
                  <a:pt x="14287" y="328612"/>
                </a:moveTo>
                <a:lnTo>
                  <a:pt x="14287" y="228600"/>
                </a:lnTo>
                <a:moveTo>
                  <a:pt x="114300" y="328612"/>
                </a:moveTo>
                <a:lnTo>
                  <a:pt x="114300" y="228600"/>
                </a:lnTo>
                <a:moveTo>
                  <a:pt x="214312" y="228600"/>
                </a:moveTo>
                <a:lnTo>
                  <a:pt x="214312" y="328612"/>
                </a:lnTo>
                <a:moveTo>
                  <a:pt x="314325" y="228600"/>
                </a:moveTo>
                <a:lnTo>
                  <a:pt x="314325" y="328612"/>
                </a:lnTo>
                <a:moveTo>
                  <a:pt x="14287" y="257175"/>
                </a:moveTo>
                <a:lnTo>
                  <a:pt x="314325" y="257175"/>
                </a:lnTo>
                <a:moveTo>
                  <a:pt x="314325" y="300037"/>
                </a:moveTo>
                <a:lnTo>
                  <a:pt x="14287" y="300037"/>
                </a:lnTo>
                <a:moveTo>
                  <a:pt x="0" y="175736"/>
                </a:moveTo>
                <a:lnTo>
                  <a:pt x="58950" y="128587"/>
                </a:lnTo>
                <a:cubicBezTo>
                  <a:pt x="74603" y="116065"/>
                  <a:pt x="96846" y="116065"/>
                  <a:pt x="112499" y="128587"/>
                </a:cubicBezTo>
                <a:lnTo>
                  <a:pt x="192881" y="192881"/>
                </a:lnTo>
                <a:moveTo>
                  <a:pt x="146075" y="155433"/>
                </a:moveTo>
                <a:lnTo>
                  <a:pt x="213998" y="118872"/>
                </a:lnTo>
                <a:cubicBezTo>
                  <a:pt x="227456" y="111624"/>
                  <a:pt x="243755" y="112093"/>
                  <a:pt x="256774" y="120100"/>
                </a:cubicBezTo>
                <a:lnTo>
                  <a:pt x="328612" y="164306"/>
                </a:lnTo>
                <a:moveTo>
                  <a:pt x="207168" y="0"/>
                </a:moveTo>
                <a:cubicBezTo>
                  <a:pt x="226895" y="0"/>
                  <a:pt x="242887" y="15991"/>
                  <a:pt x="242887" y="35718"/>
                </a:cubicBezTo>
                <a:cubicBezTo>
                  <a:pt x="242887" y="55445"/>
                  <a:pt x="226895" y="71437"/>
                  <a:pt x="207168" y="71437"/>
                </a:cubicBezTo>
                <a:cubicBezTo>
                  <a:pt x="187441" y="71437"/>
                  <a:pt x="171450" y="55445"/>
                  <a:pt x="171450" y="35718"/>
                </a:cubicBezTo>
                <a:cubicBezTo>
                  <a:pt x="171450" y="15991"/>
                  <a:pt x="187441" y="0"/>
                  <a:pt x="207168" y="0"/>
                </a:cubicBezTo>
                <a:close/>
              </a:path>
            </a:pathLst>
          </a:custGeom>
          <a:noFill/>
          <a:ln w="14287">
            <a:solidFill>
              <a:srgbClr val="E0CB15"/>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9" name="Rounded Rectangle 6"/>
          <p:cNvSpPr/>
          <p:nvPr/>
        </p:nvSpPr>
        <p:spPr>
          <a:xfrm>
            <a:off x="5274801" y="4843335"/>
            <a:ext cx="553916" cy="656042"/>
          </a:xfrm>
          <a:custGeom>
            <a:avLst/>
            <a:gdLst/>
            <a:ahLst/>
            <a:cxnLst/>
            <a:rect l="0" t="0" r="0" b="0"/>
            <a:pathLst>
              <a:path w="335756" h="335756">
                <a:moveTo>
                  <a:pt x="135731" y="252603"/>
                </a:moveTo>
                <a:lnTo>
                  <a:pt x="135731" y="335756"/>
                </a:lnTo>
                <a:lnTo>
                  <a:pt x="35718" y="335756"/>
                </a:lnTo>
                <a:lnTo>
                  <a:pt x="35718" y="252603"/>
                </a:lnTo>
                <a:moveTo>
                  <a:pt x="0" y="0"/>
                </a:moveTo>
                <a:moveTo>
                  <a:pt x="7143" y="278606"/>
                </a:moveTo>
                <a:lnTo>
                  <a:pt x="76152" y="215884"/>
                </a:lnTo>
                <a:cubicBezTo>
                  <a:pt x="81590" y="210976"/>
                  <a:pt x="89859" y="210976"/>
                  <a:pt x="95297" y="215884"/>
                </a:cubicBezTo>
                <a:lnTo>
                  <a:pt x="164306" y="278606"/>
                </a:lnTo>
                <a:moveTo>
                  <a:pt x="107156" y="7143"/>
                </a:moveTo>
                <a:lnTo>
                  <a:pt x="178593" y="7143"/>
                </a:lnTo>
                <a:lnTo>
                  <a:pt x="178593" y="78581"/>
                </a:lnTo>
                <a:moveTo>
                  <a:pt x="7143" y="178593"/>
                </a:moveTo>
                <a:lnTo>
                  <a:pt x="178593" y="7143"/>
                </a:lnTo>
                <a:moveTo>
                  <a:pt x="335756" y="335756"/>
                </a:moveTo>
                <a:lnTo>
                  <a:pt x="135731" y="335756"/>
                </a:lnTo>
                <a:moveTo>
                  <a:pt x="150018" y="214312"/>
                </a:moveTo>
                <a:lnTo>
                  <a:pt x="150018" y="121443"/>
                </a:lnTo>
                <a:cubicBezTo>
                  <a:pt x="150018" y="117498"/>
                  <a:pt x="153217" y="114300"/>
                  <a:pt x="157162" y="114300"/>
                </a:cubicBezTo>
                <a:lnTo>
                  <a:pt x="214312" y="114300"/>
                </a:lnTo>
                <a:cubicBezTo>
                  <a:pt x="218257" y="114300"/>
                  <a:pt x="221456" y="117498"/>
                  <a:pt x="221456" y="121443"/>
                </a:cubicBezTo>
                <a:lnTo>
                  <a:pt x="221456" y="335756"/>
                </a:lnTo>
                <a:moveTo>
                  <a:pt x="264318" y="335756"/>
                </a:moveTo>
                <a:lnTo>
                  <a:pt x="264318" y="28575"/>
                </a:lnTo>
                <a:cubicBezTo>
                  <a:pt x="264318" y="24629"/>
                  <a:pt x="267517" y="21431"/>
                  <a:pt x="271462" y="21431"/>
                </a:cubicBezTo>
                <a:lnTo>
                  <a:pt x="328612" y="21431"/>
                </a:lnTo>
                <a:cubicBezTo>
                  <a:pt x="332557" y="21431"/>
                  <a:pt x="335756" y="24629"/>
                  <a:pt x="335756" y="28575"/>
                </a:cubicBezTo>
                <a:lnTo>
                  <a:pt x="335756" y="335756"/>
                </a:lnTo>
              </a:path>
            </a:pathLst>
          </a:custGeom>
          <a:noFill/>
          <a:ln w="14287">
            <a:solidFill>
              <a:srgbClr val="DE8431"/>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0" name="Rounded Rectangle 7"/>
          <p:cNvSpPr/>
          <p:nvPr/>
        </p:nvSpPr>
        <p:spPr>
          <a:xfrm>
            <a:off x="7221926" y="4843336"/>
            <a:ext cx="530811" cy="656040"/>
          </a:xfrm>
          <a:custGeom>
            <a:avLst/>
            <a:gdLst/>
            <a:ahLst/>
            <a:cxnLst/>
            <a:rect l="0" t="0" r="0" b="0"/>
            <a:pathLst>
              <a:path w="332898" h="333613">
                <a:moveTo>
                  <a:pt x="121443" y="333613"/>
                </a:moveTo>
                <a:lnTo>
                  <a:pt x="121443" y="332184"/>
                </a:lnTo>
                <a:cubicBezTo>
                  <a:pt x="121443" y="315039"/>
                  <a:pt x="114300" y="299323"/>
                  <a:pt x="101441" y="289321"/>
                </a:cubicBezTo>
                <a:lnTo>
                  <a:pt x="20002" y="217884"/>
                </a:lnTo>
                <a:cubicBezTo>
                  <a:pt x="14287" y="212169"/>
                  <a:pt x="10001" y="205025"/>
                  <a:pt x="10001" y="196453"/>
                </a:cubicBezTo>
                <a:lnTo>
                  <a:pt x="10001" y="116443"/>
                </a:lnTo>
                <a:cubicBezTo>
                  <a:pt x="10001" y="100726"/>
                  <a:pt x="22859" y="87868"/>
                  <a:pt x="38576" y="87868"/>
                </a:cubicBezTo>
                <a:lnTo>
                  <a:pt x="50006" y="87868"/>
                </a:lnTo>
                <a:cubicBezTo>
                  <a:pt x="81438" y="87868"/>
                  <a:pt x="107156" y="62150"/>
                  <a:pt x="107156" y="30718"/>
                </a:cubicBezTo>
                <a:cubicBezTo>
                  <a:pt x="107156" y="19288"/>
                  <a:pt x="117157" y="9286"/>
                  <a:pt x="128587" y="9286"/>
                </a:cubicBezTo>
                <a:lnTo>
                  <a:pt x="214312" y="9286"/>
                </a:lnTo>
                <a:cubicBezTo>
                  <a:pt x="225742" y="9286"/>
                  <a:pt x="235743" y="17859"/>
                  <a:pt x="235743" y="30718"/>
                </a:cubicBezTo>
                <a:cubicBezTo>
                  <a:pt x="235743" y="62150"/>
                  <a:pt x="261461" y="87868"/>
                  <a:pt x="292893" y="87868"/>
                </a:cubicBezTo>
                <a:lnTo>
                  <a:pt x="304323" y="87868"/>
                </a:lnTo>
                <a:cubicBezTo>
                  <a:pt x="320039" y="87868"/>
                  <a:pt x="332898" y="100726"/>
                  <a:pt x="332898" y="116443"/>
                </a:cubicBezTo>
                <a:lnTo>
                  <a:pt x="332898" y="196453"/>
                </a:lnTo>
                <a:cubicBezTo>
                  <a:pt x="332898" y="205025"/>
                  <a:pt x="328612" y="212169"/>
                  <a:pt x="322897" y="217884"/>
                </a:cubicBezTo>
                <a:lnTo>
                  <a:pt x="241458" y="289321"/>
                </a:lnTo>
                <a:cubicBezTo>
                  <a:pt x="228599" y="300751"/>
                  <a:pt x="221456" y="316468"/>
                  <a:pt x="221456" y="332184"/>
                </a:cubicBezTo>
                <a:lnTo>
                  <a:pt x="221456" y="333613"/>
                </a:lnTo>
                <a:moveTo>
                  <a:pt x="0" y="0"/>
                </a:moveTo>
                <a:moveTo>
                  <a:pt x="67151" y="63579"/>
                </a:moveTo>
                <a:lnTo>
                  <a:pt x="171450" y="167878"/>
                </a:lnTo>
                <a:lnTo>
                  <a:pt x="275748" y="63579"/>
                </a:lnTo>
                <a:moveTo>
                  <a:pt x="172878" y="176450"/>
                </a:moveTo>
                <a:cubicBezTo>
                  <a:pt x="172878" y="176450"/>
                  <a:pt x="144303" y="210740"/>
                  <a:pt x="144303" y="226456"/>
                </a:cubicBezTo>
                <a:cubicBezTo>
                  <a:pt x="144303" y="242173"/>
                  <a:pt x="157162" y="255031"/>
                  <a:pt x="172878" y="255031"/>
                </a:cubicBezTo>
                <a:cubicBezTo>
                  <a:pt x="188594" y="255031"/>
                  <a:pt x="201453" y="242173"/>
                  <a:pt x="201453" y="226456"/>
                </a:cubicBezTo>
                <a:cubicBezTo>
                  <a:pt x="201453" y="210740"/>
                  <a:pt x="172878" y="176450"/>
                  <a:pt x="172878" y="176450"/>
                </a:cubicBezTo>
                <a:close/>
                <a:moveTo>
                  <a:pt x="44291" y="329326"/>
                </a:moveTo>
                <a:lnTo>
                  <a:pt x="300037" y="329326"/>
                </a:lnTo>
              </a:path>
            </a:pathLst>
          </a:custGeom>
          <a:noFill/>
          <a:ln w="14287">
            <a:solidFill>
              <a:srgbClr val="E55753"/>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1" name="Rounded Rectangle 8"/>
          <p:cNvSpPr/>
          <p:nvPr/>
        </p:nvSpPr>
        <p:spPr>
          <a:xfrm>
            <a:off x="8939307" y="4837149"/>
            <a:ext cx="583190" cy="641756"/>
          </a:xfrm>
          <a:custGeom>
            <a:avLst/>
            <a:gdLst/>
            <a:ahLst/>
            <a:cxnLst/>
            <a:rect l="0" t="0" r="0" b="0"/>
            <a:pathLst>
              <a:path w="280034" h="321468">
                <a:moveTo>
                  <a:pt x="111442" y="107156"/>
                </a:moveTo>
                <a:lnTo>
                  <a:pt x="90011" y="107156"/>
                </a:lnTo>
                <a:moveTo>
                  <a:pt x="218598" y="107156"/>
                </a:moveTo>
                <a:lnTo>
                  <a:pt x="197167" y="107156"/>
                </a:lnTo>
                <a:moveTo>
                  <a:pt x="68579" y="171450"/>
                </a:moveTo>
                <a:lnTo>
                  <a:pt x="68579" y="150018"/>
                </a:lnTo>
                <a:moveTo>
                  <a:pt x="240029" y="150018"/>
                </a:moveTo>
                <a:lnTo>
                  <a:pt x="240029" y="171450"/>
                </a:lnTo>
                <a:moveTo>
                  <a:pt x="202882" y="0"/>
                </a:moveTo>
                <a:cubicBezTo>
                  <a:pt x="211454" y="0"/>
                  <a:pt x="220027" y="5714"/>
                  <a:pt x="222884" y="14287"/>
                </a:cubicBezTo>
                <a:lnTo>
                  <a:pt x="240029" y="64293"/>
                </a:lnTo>
                <a:lnTo>
                  <a:pt x="257174" y="91439"/>
                </a:lnTo>
                <a:cubicBezTo>
                  <a:pt x="260032" y="94297"/>
                  <a:pt x="261461" y="98583"/>
                  <a:pt x="261461" y="102869"/>
                </a:cubicBezTo>
                <a:lnTo>
                  <a:pt x="261461" y="128587"/>
                </a:lnTo>
                <a:cubicBezTo>
                  <a:pt x="261461" y="140017"/>
                  <a:pt x="251459" y="150018"/>
                  <a:pt x="240029" y="150018"/>
                </a:cubicBezTo>
                <a:lnTo>
                  <a:pt x="68579" y="150018"/>
                </a:lnTo>
                <a:cubicBezTo>
                  <a:pt x="57149" y="150018"/>
                  <a:pt x="47148" y="140017"/>
                  <a:pt x="47148" y="128587"/>
                </a:cubicBezTo>
                <a:lnTo>
                  <a:pt x="47148" y="102869"/>
                </a:lnTo>
                <a:cubicBezTo>
                  <a:pt x="47148" y="98583"/>
                  <a:pt x="48577" y="94297"/>
                  <a:pt x="51434" y="91439"/>
                </a:cubicBezTo>
                <a:lnTo>
                  <a:pt x="68579" y="64293"/>
                </a:lnTo>
                <a:lnTo>
                  <a:pt x="85724" y="14287"/>
                </a:lnTo>
                <a:cubicBezTo>
                  <a:pt x="88582" y="5714"/>
                  <a:pt x="97154" y="0"/>
                  <a:pt x="105727" y="0"/>
                </a:cubicBezTo>
                <a:lnTo>
                  <a:pt x="202882" y="0"/>
                </a:lnTo>
                <a:close/>
                <a:moveTo>
                  <a:pt x="240029" y="64293"/>
                </a:moveTo>
                <a:lnTo>
                  <a:pt x="68579" y="64293"/>
                </a:lnTo>
                <a:moveTo>
                  <a:pt x="44291" y="214312"/>
                </a:moveTo>
                <a:cubicBezTo>
                  <a:pt x="44291" y="214312"/>
                  <a:pt x="10001" y="218598"/>
                  <a:pt x="10001" y="241458"/>
                </a:cubicBezTo>
                <a:cubicBezTo>
                  <a:pt x="10001" y="271462"/>
                  <a:pt x="102869" y="252888"/>
                  <a:pt x="102869" y="291464"/>
                </a:cubicBezTo>
                <a:cubicBezTo>
                  <a:pt x="102869" y="321468"/>
                  <a:pt x="0" y="321468"/>
                  <a:pt x="0" y="321468"/>
                </a:cubicBezTo>
                <a:moveTo>
                  <a:pt x="221456" y="214312"/>
                </a:moveTo>
                <a:cubicBezTo>
                  <a:pt x="221456" y="214312"/>
                  <a:pt x="187166" y="218598"/>
                  <a:pt x="187166" y="241458"/>
                </a:cubicBezTo>
                <a:cubicBezTo>
                  <a:pt x="187166" y="271462"/>
                  <a:pt x="280034" y="252888"/>
                  <a:pt x="280034" y="291464"/>
                </a:cubicBezTo>
                <a:cubicBezTo>
                  <a:pt x="280034" y="321468"/>
                  <a:pt x="177164" y="321468"/>
                  <a:pt x="177164" y="321468"/>
                </a:cubicBezTo>
              </a:path>
            </a:pathLst>
          </a:custGeom>
          <a:noFill/>
          <a:ln w="14287">
            <a:solidFill>
              <a:srgbClr val="DE58A9"/>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Tree>
    <p:extLst>
      <p:ext uri="{BB962C8B-B14F-4D97-AF65-F5344CB8AC3E}">
        <p14:creationId xmlns:p14="http://schemas.microsoft.com/office/powerpoint/2010/main" val="326528569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960290" y="169959"/>
            <a:ext cx="9601200" cy="4333875"/>
          </a:xfrm>
        </p:spPr>
        <p:txBody>
          <a:bodyPr>
            <a:normAutofit lnSpcReduction="10000"/>
          </a:bodyPr>
          <a:lstStyle/>
          <a:p>
            <a:pPr marL="0" indent="0" algn="just">
              <a:buNone/>
            </a:pPr>
            <a:r>
              <a:rPr lang="en-US" sz="3600" b="1" dirty="0">
                <a:cs typeface="Times New Roman" panose="02020603050405020304" pitchFamily="18" charset="0"/>
              </a:rPr>
              <a:t>Types of Capital Assets:</a:t>
            </a:r>
          </a:p>
          <a:p>
            <a:pPr marL="0" indent="0" algn="just">
              <a:buNone/>
            </a:pPr>
            <a:endParaRPr lang="en-US" sz="3600" b="1" dirty="0">
              <a:cs typeface="Times New Roman" panose="02020603050405020304" pitchFamily="18" charset="0"/>
            </a:endParaRPr>
          </a:p>
          <a:p>
            <a:pPr marL="0" indent="0" algn="just">
              <a:buNone/>
            </a:pPr>
            <a:endParaRPr lang="en-US" sz="3600" b="1" dirty="0">
              <a:cs typeface="Times New Roman" panose="02020603050405020304" pitchFamily="18" charset="0"/>
            </a:endParaRPr>
          </a:p>
          <a:p>
            <a:pPr marL="0" indent="0" algn="just">
              <a:buNone/>
            </a:pPr>
            <a:endParaRPr lang="en-US" sz="3600" b="1" dirty="0">
              <a:cs typeface="Times New Roman" panose="02020603050405020304" pitchFamily="18" charset="0"/>
            </a:endParaRPr>
          </a:p>
          <a:p>
            <a:pPr marL="0" indent="0" algn="just">
              <a:buNone/>
            </a:pPr>
            <a:endParaRPr lang="en-US" sz="3600" b="1" dirty="0">
              <a:cs typeface="Times New Roman" panose="02020603050405020304" pitchFamily="18" charset="0"/>
            </a:endParaRPr>
          </a:p>
          <a:p>
            <a:pPr marL="0" indent="0" algn="just">
              <a:buNone/>
            </a:pPr>
            <a:endParaRPr lang="en-US" sz="3600" b="1" dirty="0">
              <a:cs typeface="Times New Roman" panose="02020603050405020304" pitchFamily="18" charset="0"/>
            </a:endParaRPr>
          </a:p>
          <a:p>
            <a:pPr marL="0" indent="0" algn="just">
              <a:buNone/>
            </a:pPr>
            <a:endParaRPr lang="en-US" sz="1100" b="1" dirty="0">
              <a:cs typeface="Times New Roman" panose="02020603050405020304" pitchFamily="18" charset="0"/>
            </a:endParaRPr>
          </a:p>
          <a:p>
            <a:pPr marL="0" indent="0" algn="just">
              <a:buNone/>
            </a:pPr>
            <a:r>
              <a:rPr lang="en-US" sz="2800" b="1" dirty="0">
                <a:cs typeface="Times New Roman" panose="02020603050405020304" pitchFamily="18" charset="0"/>
              </a:rPr>
              <a:t>Rates:</a:t>
            </a:r>
            <a:endParaRPr lang="en-US" sz="3600" b="1" dirty="0">
              <a:cs typeface="Times New Roman" panose="02020603050405020304" pitchFamily="18" charset="0"/>
            </a:endParaRPr>
          </a:p>
        </p:txBody>
      </p:sp>
      <p:grpSp>
        <p:nvGrpSpPr>
          <p:cNvPr id="4" name="Group 3">
            <a:extLst>
              <a:ext uri="{FF2B5EF4-FFF2-40B4-BE49-F238E27FC236}">
                <a16:creationId xmlns:a16="http://schemas.microsoft.com/office/drawing/2014/main" id="{A5729C60-0ADF-B4CD-72E4-DB3089B7909D}"/>
              </a:ext>
            </a:extLst>
          </p:cNvPr>
          <p:cNvGrpSpPr/>
          <p:nvPr/>
        </p:nvGrpSpPr>
        <p:grpSpPr>
          <a:xfrm>
            <a:off x="1124218" y="4475719"/>
            <a:ext cx="9248537" cy="1732547"/>
            <a:chOff x="1920242" y="4708130"/>
            <a:chExt cx="9248537" cy="1732547"/>
          </a:xfrm>
        </p:grpSpPr>
        <p:grpSp>
          <p:nvGrpSpPr>
            <p:cNvPr id="40" name="Group 39"/>
            <p:cNvGrpSpPr/>
            <p:nvPr/>
          </p:nvGrpSpPr>
          <p:grpSpPr>
            <a:xfrm>
              <a:off x="1920242" y="4708130"/>
              <a:ext cx="1407694" cy="866273"/>
              <a:chOff x="378994" y="1082842"/>
              <a:chExt cx="1407694" cy="866273"/>
            </a:xfrm>
          </p:grpSpPr>
          <p:sp>
            <p:nvSpPr>
              <p:cNvPr id="78" name="Rounded Rectangle 1"/>
              <p:cNvSpPr/>
              <p:nvPr/>
            </p:nvSpPr>
            <p:spPr>
              <a:xfrm>
                <a:off x="378994" y="1082842"/>
                <a:ext cx="1407694" cy="866273"/>
              </a:xfrm>
              <a:custGeom>
                <a:avLst/>
                <a:gdLst/>
                <a:ahLst/>
                <a:cxnLst/>
                <a:rect l="0" t="0" r="0" b="0"/>
                <a:pathLst>
                  <a:path w="1407694" h="866273">
                    <a:moveTo>
                      <a:pt x="0" y="54142"/>
                    </a:moveTo>
                    <a:cubicBezTo>
                      <a:pt x="0" y="24240"/>
                      <a:pt x="24240" y="0"/>
                      <a:pt x="54142" y="0"/>
                    </a:cubicBezTo>
                    <a:lnTo>
                      <a:pt x="108284" y="0"/>
                    </a:lnTo>
                    <a:lnTo>
                      <a:pt x="108284" y="108284"/>
                    </a:lnTo>
                    <a:lnTo>
                      <a:pt x="0" y="108284"/>
                    </a:lnTo>
                    <a:close/>
                    <a:moveTo>
                      <a:pt x="1299410" y="0"/>
                    </a:moveTo>
                    <a:lnTo>
                      <a:pt x="1299410" y="108284"/>
                    </a:lnTo>
                    <a:lnTo>
                      <a:pt x="108284" y="108284"/>
                    </a:lnTo>
                    <a:lnTo>
                      <a:pt x="108284" y="0"/>
                    </a:lnTo>
                    <a:close/>
                    <a:moveTo>
                      <a:pt x="1407694" y="108284"/>
                    </a:moveTo>
                    <a:lnTo>
                      <a:pt x="1299410" y="108284"/>
                    </a:lnTo>
                    <a:lnTo>
                      <a:pt x="1299410" y="0"/>
                    </a:lnTo>
                    <a:lnTo>
                      <a:pt x="1353552" y="0"/>
                    </a:lnTo>
                    <a:cubicBezTo>
                      <a:pt x="1383454" y="0"/>
                      <a:pt x="1407694" y="24240"/>
                      <a:pt x="1407694" y="54142"/>
                    </a:cubicBezTo>
                    <a:close/>
                    <a:moveTo>
                      <a:pt x="1407694" y="757989"/>
                    </a:moveTo>
                    <a:lnTo>
                      <a:pt x="0" y="757989"/>
                    </a:lnTo>
                    <a:lnTo>
                      <a:pt x="0" y="108284"/>
                    </a:lnTo>
                    <a:lnTo>
                      <a:pt x="1407694" y="108284"/>
                    </a:lnTo>
                    <a:close/>
                    <a:moveTo>
                      <a:pt x="0" y="757989"/>
                    </a:moveTo>
                    <a:lnTo>
                      <a:pt x="108284" y="757989"/>
                    </a:lnTo>
                    <a:lnTo>
                      <a:pt x="108284" y="866273"/>
                    </a:lnTo>
                    <a:lnTo>
                      <a:pt x="54142" y="866273"/>
                    </a:lnTo>
                    <a:cubicBezTo>
                      <a:pt x="24240" y="866273"/>
                      <a:pt x="0" y="842033"/>
                      <a:pt x="0" y="812131"/>
                    </a:cubicBezTo>
                    <a:close/>
                    <a:moveTo>
                      <a:pt x="108284" y="866273"/>
                    </a:moveTo>
                    <a:lnTo>
                      <a:pt x="108284" y="757989"/>
                    </a:lnTo>
                    <a:lnTo>
                      <a:pt x="1299410" y="757989"/>
                    </a:lnTo>
                    <a:lnTo>
                      <a:pt x="1299410" y="866273"/>
                    </a:lnTo>
                    <a:close/>
                    <a:moveTo>
                      <a:pt x="1299410" y="866273"/>
                    </a:moveTo>
                    <a:lnTo>
                      <a:pt x="1299410" y="757989"/>
                    </a:lnTo>
                    <a:lnTo>
                      <a:pt x="1407694" y="757989"/>
                    </a:lnTo>
                    <a:lnTo>
                      <a:pt x="1407694" y="812131"/>
                    </a:lnTo>
                    <a:cubicBezTo>
                      <a:pt x="1407694" y="842033"/>
                      <a:pt x="1383454" y="866273"/>
                      <a:pt x="1353552" y="866273"/>
                    </a:cubicBezTo>
                    <a:close/>
                  </a:path>
                </a:pathLst>
              </a:custGeom>
              <a:solidFill>
                <a:srgbClr val="666666"/>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79" name="Rounded Rectangle 2"/>
              <p:cNvSpPr/>
              <p:nvPr/>
            </p:nvSpPr>
            <p:spPr>
              <a:xfrm>
                <a:off x="378994" y="1082842"/>
                <a:ext cx="1407694" cy="866273"/>
              </a:xfrm>
              <a:custGeom>
                <a:avLst/>
                <a:gdLst/>
                <a:ahLst/>
                <a:cxnLst/>
                <a:rect l="0" t="0" r="0" b="0"/>
                <a:pathLst>
                  <a:path w="1407694" h="866273">
                    <a:moveTo>
                      <a:pt x="0" y="108284"/>
                    </a:moveTo>
                    <a:lnTo>
                      <a:pt x="0" y="54142"/>
                    </a:lnTo>
                    <a:cubicBezTo>
                      <a:pt x="0" y="24240"/>
                      <a:pt x="24240" y="0"/>
                      <a:pt x="54142" y="0"/>
                    </a:cubicBezTo>
                    <a:lnTo>
                      <a:pt x="108284" y="0"/>
                    </a:lnTo>
                    <a:moveTo>
                      <a:pt x="1407694" y="108284"/>
                    </a:moveTo>
                    <a:lnTo>
                      <a:pt x="1407694" y="757989"/>
                    </a:lnTo>
                    <a:moveTo>
                      <a:pt x="0" y="757989"/>
                    </a:moveTo>
                    <a:lnTo>
                      <a:pt x="0" y="108284"/>
                    </a:lnTo>
                    <a:moveTo>
                      <a:pt x="108284" y="0"/>
                    </a:moveTo>
                    <a:lnTo>
                      <a:pt x="1299410" y="0"/>
                    </a:lnTo>
                    <a:moveTo>
                      <a:pt x="108284" y="866273"/>
                    </a:moveTo>
                    <a:lnTo>
                      <a:pt x="54142" y="866273"/>
                    </a:lnTo>
                    <a:cubicBezTo>
                      <a:pt x="24240" y="866273"/>
                      <a:pt x="0" y="842033"/>
                      <a:pt x="0" y="812131"/>
                    </a:cubicBezTo>
                    <a:lnTo>
                      <a:pt x="0" y="757989"/>
                    </a:lnTo>
                    <a:moveTo>
                      <a:pt x="1299410" y="0"/>
                    </a:moveTo>
                    <a:lnTo>
                      <a:pt x="1353552" y="0"/>
                    </a:lnTo>
                    <a:cubicBezTo>
                      <a:pt x="1383454" y="0"/>
                      <a:pt x="1407694" y="24240"/>
                      <a:pt x="1407694" y="54142"/>
                    </a:cubicBezTo>
                    <a:lnTo>
                      <a:pt x="1407694" y="108284"/>
                    </a:lnTo>
                    <a:moveTo>
                      <a:pt x="1299410" y="866273"/>
                    </a:moveTo>
                    <a:lnTo>
                      <a:pt x="108284" y="866273"/>
                    </a:lnTo>
                    <a:moveTo>
                      <a:pt x="1407694" y="757989"/>
                    </a:moveTo>
                    <a:lnTo>
                      <a:pt x="1407694" y="812131"/>
                    </a:lnTo>
                    <a:cubicBezTo>
                      <a:pt x="1407694" y="842033"/>
                      <a:pt x="1383454" y="866273"/>
                      <a:pt x="1353552" y="866273"/>
                    </a:cubicBezTo>
                    <a:lnTo>
                      <a:pt x="1299410" y="866273"/>
                    </a:lnTo>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41" name="Group 40"/>
            <p:cNvGrpSpPr/>
            <p:nvPr/>
          </p:nvGrpSpPr>
          <p:grpSpPr>
            <a:xfrm>
              <a:off x="3427807" y="4708130"/>
              <a:ext cx="1568664" cy="866273"/>
              <a:chOff x="1894973" y="1082842"/>
              <a:chExt cx="1407694" cy="866273"/>
            </a:xfrm>
          </p:grpSpPr>
          <p:sp>
            <p:nvSpPr>
              <p:cNvPr id="76" name="Rounded Rectangle 4"/>
              <p:cNvSpPr/>
              <p:nvPr/>
            </p:nvSpPr>
            <p:spPr>
              <a:xfrm>
                <a:off x="1894973" y="1082842"/>
                <a:ext cx="1407694" cy="866273"/>
              </a:xfrm>
              <a:custGeom>
                <a:avLst/>
                <a:gdLst/>
                <a:ahLst/>
                <a:cxnLst/>
                <a:rect l="0" t="0" r="0" b="0"/>
                <a:pathLst>
                  <a:path w="1407694" h="866273">
                    <a:moveTo>
                      <a:pt x="0" y="54142"/>
                    </a:moveTo>
                    <a:cubicBezTo>
                      <a:pt x="0" y="24240"/>
                      <a:pt x="24240" y="0"/>
                      <a:pt x="54142" y="0"/>
                    </a:cubicBezTo>
                    <a:lnTo>
                      <a:pt x="108284" y="0"/>
                    </a:lnTo>
                    <a:lnTo>
                      <a:pt x="108284" y="108284"/>
                    </a:lnTo>
                    <a:lnTo>
                      <a:pt x="0" y="108284"/>
                    </a:lnTo>
                    <a:close/>
                    <a:moveTo>
                      <a:pt x="1299410" y="0"/>
                    </a:moveTo>
                    <a:lnTo>
                      <a:pt x="1299410" y="108284"/>
                    </a:lnTo>
                    <a:lnTo>
                      <a:pt x="108284" y="108284"/>
                    </a:lnTo>
                    <a:lnTo>
                      <a:pt x="108284" y="0"/>
                    </a:lnTo>
                    <a:close/>
                    <a:moveTo>
                      <a:pt x="1407694" y="108284"/>
                    </a:moveTo>
                    <a:lnTo>
                      <a:pt x="1299410" y="108284"/>
                    </a:lnTo>
                    <a:lnTo>
                      <a:pt x="1299410" y="0"/>
                    </a:lnTo>
                    <a:lnTo>
                      <a:pt x="1353552" y="0"/>
                    </a:lnTo>
                    <a:cubicBezTo>
                      <a:pt x="1383454" y="0"/>
                      <a:pt x="1407694" y="24240"/>
                      <a:pt x="1407694" y="54142"/>
                    </a:cubicBezTo>
                    <a:close/>
                    <a:moveTo>
                      <a:pt x="1407694" y="757989"/>
                    </a:moveTo>
                    <a:lnTo>
                      <a:pt x="0" y="757989"/>
                    </a:lnTo>
                    <a:lnTo>
                      <a:pt x="0" y="108284"/>
                    </a:lnTo>
                    <a:lnTo>
                      <a:pt x="1407694" y="108284"/>
                    </a:lnTo>
                    <a:close/>
                    <a:moveTo>
                      <a:pt x="0" y="757989"/>
                    </a:moveTo>
                    <a:lnTo>
                      <a:pt x="108284" y="757989"/>
                    </a:lnTo>
                    <a:lnTo>
                      <a:pt x="108284" y="866273"/>
                    </a:lnTo>
                    <a:lnTo>
                      <a:pt x="54142" y="866273"/>
                    </a:lnTo>
                    <a:cubicBezTo>
                      <a:pt x="24240" y="866273"/>
                      <a:pt x="0" y="842033"/>
                      <a:pt x="0" y="812131"/>
                    </a:cubicBezTo>
                    <a:close/>
                    <a:moveTo>
                      <a:pt x="108284" y="866273"/>
                    </a:moveTo>
                    <a:lnTo>
                      <a:pt x="108284" y="757989"/>
                    </a:lnTo>
                    <a:lnTo>
                      <a:pt x="1299410" y="757989"/>
                    </a:lnTo>
                    <a:lnTo>
                      <a:pt x="1299410" y="866273"/>
                    </a:lnTo>
                    <a:close/>
                    <a:moveTo>
                      <a:pt x="1299410" y="866273"/>
                    </a:moveTo>
                    <a:lnTo>
                      <a:pt x="1299410" y="757989"/>
                    </a:lnTo>
                    <a:lnTo>
                      <a:pt x="1407694" y="757989"/>
                    </a:lnTo>
                    <a:lnTo>
                      <a:pt x="1407694" y="812131"/>
                    </a:lnTo>
                    <a:cubicBezTo>
                      <a:pt x="1407694" y="842033"/>
                      <a:pt x="1383454" y="866273"/>
                      <a:pt x="1353552" y="866273"/>
                    </a:cubicBezTo>
                    <a:close/>
                  </a:path>
                </a:pathLst>
              </a:custGeom>
              <a:solidFill>
                <a:srgbClr val="666666"/>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77" name="Rounded Rectangle 5"/>
              <p:cNvSpPr/>
              <p:nvPr/>
            </p:nvSpPr>
            <p:spPr>
              <a:xfrm>
                <a:off x="1894973" y="1082842"/>
                <a:ext cx="1407694" cy="866273"/>
              </a:xfrm>
              <a:custGeom>
                <a:avLst/>
                <a:gdLst/>
                <a:ahLst/>
                <a:cxnLst/>
                <a:rect l="0" t="0" r="0" b="0"/>
                <a:pathLst>
                  <a:path w="1407694" h="866273">
                    <a:moveTo>
                      <a:pt x="0" y="108284"/>
                    </a:moveTo>
                    <a:lnTo>
                      <a:pt x="0" y="54142"/>
                    </a:lnTo>
                    <a:cubicBezTo>
                      <a:pt x="0" y="24240"/>
                      <a:pt x="24240" y="0"/>
                      <a:pt x="54142" y="0"/>
                    </a:cubicBezTo>
                    <a:lnTo>
                      <a:pt x="108284" y="0"/>
                    </a:lnTo>
                    <a:moveTo>
                      <a:pt x="1407694" y="108284"/>
                    </a:moveTo>
                    <a:lnTo>
                      <a:pt x="1407694" y="757989"/>
                    </a:lnTo>
                    <a:moveTo>
                      <a:pt x="0" y="757989"/>
                    </a:moveTo>
                    <a:lnTo>
                      <a:pt x="0" y="108284"/>
                    </a:lnTo>
                    <a:moveTo>
                      <a:pt x="108284" y="0"/>
                    </a:moveTo>
                    <a:lnTo>
                      <a:pt x="1299410" y="0"/>
                    </a:lnTo>
                    <a:moveTo>
                      <a:pt x="108284" y="866273"/>
                    </a:moveTo>
                    <a:lnTo>
                      <a:pt x="54142" y="866273"/>
                    </a:lnTo>
                    <a:cubicBezTo>
                      <a:pt x="24240" y="866273"/>
                      <a:pt x="0" y="842033"/>
                      <a:pt x="0" y="812131"/>
                    </a:cubicBezTo>
                    <a:lnTo>
                      <a:pt x="0" y="757989"/>
                    </a:lnTo>
                    <a:moveTo>
                      <a:pt x="1299410" y="0"/>
                    </a:moveTo>
                    <a:lnTo>
                      <a:pt x="1353552" y="0"/>
                    </a:lnTo>
                    <a:cubicBezTo>
                      <a:pt x="1383454" y="0"/>
                      <a:pt x="1407694" y="24240"/>
                      <a:pt x="1407694" y="54142"/>
                    </a:cubicBezTo>
                    <a:lnTo>
                      <a:pt x="1407694" y="108284"/>
                    </a:lnTo>
                    <a:moveTo>
                      <a:pt x="1299410" y="866273"/>
                    </a:moveTo>
                    <a:lnTo>
                      <a:pt x="108284" y="866273"/>
                    </a:lnTo>
                    <a:moveTo>
                      <a:pt x="1407694" y="757989"/>
                    </a:moveTo>
                    <a:lnTo>
                      <a:pt x="1407694" y="812131"/>
                    </a:lnTo>
                    <a:cubicBezTo>
                      <a:pt x="1407694" y="842033"/>
                      <a:pt x="1383454" y="866273"/>
                      <a:pt x="1353552" y="866273"/>
                    </a:cubicBezTo>
                    <a:lnTo>
                      <a:pt x="1299410" y="866273"/>
                    </a:lnTo>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42" name="Group 41"/>
            <p:cNvGrpSpPr/>
            <p:nvPr/>
          </p:nvGrpSpPr>
          <p:grpSpPr>
            <a:xfrm>
              <a:off x="5093957" y="4708130"/>
              <a:ext cx="1368686" cy="816767"/>
              <a:chOff x="3410952" y="1082842"/>
              <a:chExt cx="1299410" cy="866273"/>
            </a:xfrm>
          </p:grpSpPr>
          <p:sp>
            <p:nvSpPr>
              <p:cNvPr id="74" name="Rounded Rectangle 7"/>
              <p:cNvSpPr/>
              <p:nvPr/>
            </p:nvSpPr>
            <p:spPr>
              <a:xfrm>
                <a:off x="3410952" y="1082842"/>
                <a:ext cx="1299410" cy="866273"/>
              </a:xfrm>
              <a:custGeom>
                <a:avLst/>
                <a:gdLst/>
                <a:ahLst/>
                <a:cxnLst/>
                <a:rect l="0" t="0" r="0" b="0"/>
                <a:pathLst>
                  <a:path w="1299410" h="866273">
                    <a:moveTo>
                      <a:pt x="0" y="54142"/>
                    </a:moveTo>
                    <a:cubicBezTo>
                      <a:pt x="0" y="24240"/>
                      <a:pt x="24240" y="0"/>
                      <a:pt x="54142" y="0"/>
                    </a:cubicBezTo>
                    <a:lnTo>
                      <a:pt x="108284" y="0"/>
                    </a:lnTo>
                    <a:lnTo>
                      <a:pt x="108284" y="108284"/>
                    </a:lnTo>
                    <a:lnTo>
                      <a:pt x="0" y="108284"/>
                    </a:lnTo>
                    <a:close/>
                    <a:moveTo>
                      <a:pt x="1191126" y="0"/>
                    </a:moveTo>
                    <a:lnTo>
                      <a:pt x="1191126" y="108284"/>
                    </a:lnTo>
                    <a:lnTo>
                      <a:pt x="108284" y="108284"/>
                    </a:lnTo>
                    <a:lnTo>
                      <a:pt x="108284" y="0"/>
                    </a:lnTo>
                    <a:close/>
                    <a:moveTo>
                      <a:pt x="1299410" y="108284"/>
                    </a:moveTo>
                    <a:lnTo>
                      <a:pt x="1191126" y="108284"/>
                    </a:lnTo>
                    <a:lnTo>
                      <a:pt x="1191126" y="0"/>
                    </a:lnTo>
                    <a:lnTo>
                      <a:pt x="1245268" y="0"/>
                    </a:lnTo>
                    <a:cubicBezTo>
                      <a:pt x="1275170" y="0"/>
                      <a:pt x="1299410" y="24240"/>
                      <a:pt x="1299410" y="54142"/>
                    </a:cubicBezTo>
                    <a:close/>
                    <a:moveTo>
                      <a:pt x="1299410" y="757989"/>
                    </a:moveTo>
                    <a:lnTo>
                      <a:pt x="0" y="757989"/>
                    </a:lnTo>
                    <a:lnTo>
                      <a:pt x="0" y="108284"/>
                    </a:lnTo>
                    <a:lnTo>
                      <a:pt x="1299410" y="108284"/>
                    </a:lnTo>
                    <a:close/>
                    <a:moveTo>
                      <a:pt x="0" y="757989"/>
                    </a:moveTo>
                    <a:lnTo>
                      <a:pt x="108284" y="757989"/>
                    </a:lnTo>
                    <a:lnTo>
                      <a:pt x="108284" y="866273"/>
                    </a:lnTo>
                    <a:lnTo>
                      <a:pt x="54142" y="866273"/>
                    </a:lnTo>
                    <a:cubicBezTo>
                      <a:pt x="24240" y="866273"/>
                      <a:pt x="0" y="842033"/>
                      <a:pt x="0" y="812131"/>
                    </a:cubicBezTo>
                    <a:close/>
                    <a:moveTo>
                      <a:pt x="108284" y="866273"/>
                    </a:moveTo>
                    <a:lnTo>
                      <a:pt x="108284" y="757989"/>
                    </a:lnTo>
                    <a:lnTo>
                      <a:pt x="1191126" y="757989"/>
                    </a:lnTo>
                    <a:lnTo>
                      <a:pt x="1191126" y="866273"/>
                    </a:lnTo>
                    <a:close/>
                    <a:moveTo>
                      <a:pt x="1191126" y="866273"/>
                    </a:moveTo>
                    <a:lnTo>
                      <a:pt x="1191126" y="757989"/>
                    </a:lnTo>
                    <a:lnTo>
                      <a:pt x="1299410" y="757989"/>
                    </a:lnTo>
                    <a:lnTo>
                      <a:pt x="1299410" y="812131"/>
                    </a:lnTo>
                    <a:cubicBezTo>
                      <a:pt x="1299410" y="842033"/>
                      <a:pt x="1275170" y="866273"/>
                      <a:pt x="1245268" y="866273"/>
                    </a:cubicBezTo>
                    <a:close/>
                  </a:path>
                </a:pathLst>
              </a:custGeom>
              <a:solidFill>
                <a:srgbClr val="666666"/>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75" name="Rounded Rectangle 8"/>
              <p:cNvSpPr/>
              <p:nvPr/>
            </p:nvSpPr>
            <p:spPr>
              <a:xfrm>
                <a:off x="3410952" y="1082842"/>
                <a:ext cx="1299410" cy="866273"/>
              </a:xfrm>
              <a:custGeom>
                <a:avLst/>
                <a:gdLst/>
                <a:ahLst/>
                <a:cxnLst/>
                <a:rect l="0" t="0" r="0" b="0"/>
                <a:pathLst>
                  <a:path w="1299410" h="866273">
                    <a:moveTo>
                      <a:pt x="0" y="108284"/>
                    </a:moveTo>
                    <a:lnTo>
                      <a:pt x="0" y="54142"/>
                    </a:lnTo>
                    <a:cubicBezTo>
                      <a:pt x="0" y="24240"/>
                      <a:pt x="24240" y="0"/>
                      <a:pt x="54142" y="0"/>
                    </a:cubicBezTo>
                    <a:lnTo>
                      <a:pt x="108284" y="0"/>
                    </a:lnTo>
                    <a:moveTo>
                      <a:pt x="1299410" y="108284"/>
                    </a:moveTo>
                    <a:lnTo>
                      <a:pt x="1299410" y="757989"/>
                    </a:lnTo>
                    <a:moveTo>
                      <a:pt x="0" y="757989"/>
                    </a:moveTo>
                    <a:lnTo>
                      <a:pt x="0" y="108284"/>
                    </a:lnTo>
                    <a:moveTo>
                      <a:pt x="108284" y="0"/>
                    </a:moveTo>
                    <a:lnTo>
                      <a:pt x="1191126" y="0"/>
                    </a:lnTo>
                    <a:moveTo>
                      <a:pt x="108284" y="866273"/>
                    </a:moveTo>
                    <a:lnTo>
                      <a:pt x="54142" y="866273"/>
                    </a:lnTo>
                    <a:cubicBezTo>
                      <a:pt x="24240" y="866273"/>
                      <a:pt x="0" y="842033"/>
                      <a:pt x="0" y="812131"/>
                    </a:cubicBezTo>
                    <a:lnTo>
                      <a:pt x="0" y="757989"/>
                    </a:lnTo>
                    <a:moveTo>
                      <a:pt x="1191126" y="0"/>
                    </a:moveTo>
                    <a:lnTo>
                      <a:pt x="1245268" y="0"/>
                    </a:lnTo>
                    <a:cubicBezTo>
                      <a:pt x="1275170" y="0"/>
                      <a:pt x="1299410" y="24240"/>
                      <a:pt x="1299410" y="54142"/>
                    </a:cubicBezTo>
                    <a:lnTo>
                      <a:pt x="1299410" y="108284"/>
                    </a:lnTo>
                    <a:moveTo>
                      <a:pt x="1191126" y="866273"/>
                    </a:moveTo>
                    <a:lnTo>
                      <a:pt x="108284" y="866273"/>
                    </a:lnTo>
                    <a:moveTo>
                      <a:pt x="1299410" y="757989"/>
                    </a:moveTo>
                    <a:lnTo>
                      <a:pt x="1299410" y="812131"/>
                    </a:lnTo>
                    <a:cubicBezTo>
                      <a:pt x="1299410" y="842033"/>
                      <a:pt x="1275170" y="866273"/>
                      <a:pt x="1245268" y="866273"/>
                    </a:cubicBezTo>
                    <a:lnTo>
                      <a:pt x="1191126" y="866273"/>
                    </a:lnTo>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43" name="Group 42"/>
            <p:cNvGrpSpPr/>
            <p:nvPr/>
          </p:nvGrpSpPr>
          <p:grpSpPr>
            <a:xfrm>
              <a:off x="6560128" y="4708130"/>
              <a:ext cx="1660358" cy="816767"/>
              <a:chOff x="4818647" y="1082842"/>
              <a:chExt cx="1407694" cy="866273"/>
            </a:xfrm>
          </p:grpSpPr>
          <p:sp>
            <p:nvSpPr>
              <p:cNvPr id="72" name="Rounded Rectangle 10"/>
              <p:cNvSpPr/>
              <p:nvPr/>
            </p:nvSpPr>
            <p:spPr>
              <a:xfrm>
                <a:off x="4818647" y="1082842"/>
                <a:ext cx="1407694" cy="866273"/>
              </a:xfrm>
              <a:custGeom>
                <a:avLst/>
                <a:gdLst/>
                <a:ahLst/>
                <a:cxnLst/>
                <a:rect l="0" t="0" r="0" b="0"/>
                <a:pathLst>
                  <a:path w="1407694" h="866273">
                    <a:moveTo>
                      <a:pt x="0" y="54142"/>
                    </a:moveTo>
                    <a:cubicBezTo>
                      <a:pt x="0" y="24240"/>
                      <a:pt x="24240" y="0"/>
                      <a:pt x="54142" y="0"/>
                    </a:cubicBezTo>
                    <a:lnTo>
                      <a:pt x="108284" y="0"/>
                    </a:lnTo>
                    <a:lnTo>
                      <a:pt x="108284" y="108284"/>
                    </a:lnTo>
                    <a:lnTo>
                      <a:pt x="0" y="108284"/>
                    </a:lnTo>
                    <a:close/>
                    <a:moveTo>
                      <a:pt x="1299410" y="0"/>
                    </a:moveTo>
                    <a:lnTo>
                      <a:pt x="1299410" y="108284"/>
                    </a:lnTo>
                    <a:lnTo>
                      <a:pt x="108284" y="108284"/>
                    </a:lnTo>
                    <a:lnTo>
                      <a:pt x="108284" y="0"/>
                    </a:lnTo>
                    <a:close/>
                    <a:moveTo>
                      <a:pt x="1407694" y="108284"/>
                    </a:moveTo>
                    <a:lnTo>
                      <a:pt x="1299410" y="108284"/>
                    </a:lnTo>
                    <a:lnTo>
                      <a:pt x="1299410" y="0"/>
                    </a:lnTo>
                    <a:lnTo>
                      <a:pt x="1353552" y="0"/>
                    </a:lnTo>
                    <a:cubicBezTo>
                      <a:pt x="1383454" y="0"/>
                      <a:pt x="1407694" y="24240"/>
                      <a:pt x="1407694" y="54142"/>
                    </a:cubicBezTo>
                    <a:close/>
                    <a:moveTo>
                      <a:pt x="1407694" y="757989"/>
                    </a:moveTo>
                    <a:lnTo>
                      <a:pt x="0" y="757989"/>
                    </a:lnTo>
                    <a:lnTo>
                      <a:pt x="0" y="108284"/>
                    </a:lnTo>
                    <a:lnTo>
                      <a:pt x="1407694" y="108284"/>
                    </a:lnTo>
                    <a:close/>
                    <a:moveTo>
                      <a:pt x="0" y="757989"/>
                    </a:moveTo>
                    <a:lnTo>
                      <a:pt x="108284" y="757989"/>
                    </a:lnTo>
                    <a:lnTo>
                      <a:pt x="108284" y="866273"/>
                    </a:lnTo>
                    <a:lnTo>
                      <a:pt x="54142" y="866273"/>
                    </a:lnTo>
                    <a:cubicBezTo>
                      <a:pt x="24240" y="866273"/>
                      <a:pt x="0" y="842033"/>
                      <a:pt x="0" y="812131"/>
                    </a:cubicBezTo>
                    <a:close/>
                    <a:moveTo>
                      <a:pt x="108284" y="866273"/>
                    </a:moveTo>
                    <a:lnTo>
                      <a:pt x="108284" y="757989"/>
                    </a:lnTo>
                    <a:lnTo>
                      <a:pt x="1299410" y="757989"/>
                    </a:lnTo>
                    <a:lnTo>
                      <a:pt x="1299410" y="866273"/>
                    </a:lnTo>
                    <a:close/>
                    <a:moveTo>
                      <a:pt x="1299410" y="866273"/>
                    </a:moveTo>
                    <a:lnTo>
                      <a:pt x="1299410" y="757989"/>
                    </a:lnTo>
                    <a:lnTo>
                      <a:pt x="1407694" y="757989"/>
                    </a:lnTo>
                    <a:lnTo>
                      <a:pt x="1407694" y="812131"/>
                    </a:lnTo>
                    <a:cubicBezTo>
                      <a:pt x="1407694" y="842033"/>
                      <a:pt x="1383454" y="866273"/>
                      <a:pt x="1353552" y="866273"/>
                    </a:cubicBezTo>
                    <a:close/>
                  </a:path>
                </a:pathLst>
              </a:custGeom>
              <a:solidFill>
                <a:srgbClr val="666666"/>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73" name="Rounded Rectangle 11"/>
              <p:cNvSpPr/>
              <p:nvPr/>
            </p:nvSpPr>
            <p:spPr>
              <a:xfrm>
                <a:off x="4818647" y="1082842"/>
                <a:ext cx="1407694" cy="866273"/>
              </a:xfrm>
              <a:custGeom>
                <a:avLst/>
                <a:gdLst/>
                <a:ahLst/>
                <a:cxnLst/>
                <a:rect l="0" t="0" r="0" b="0"/>
                <a:pathLst>
                  <a:path w="1407694" h="866273">
                    <a:moveTo>
                      <a:pt x="0" y="108284"/>
                    </a:moveTo>
                    <a:lnTo>
                      <a:pt x="0" y="54142"/>
                    </a:lnTo>
                    <a:cubicBezTo>
                      <a:pt x="0" y="24240"/>
                      <a:pt x="24240" y="0"/>
                      <a:pt x="54142" y="0"/>
                    </a:cubicBezTo>
                    <a:lnTo>
                      <a:pt x="108284" y="0"/>
                    </a:lnTo>
                    <a:moveTo>
                      <a:pt x="1407694" y="108284"/>
                    </a:moveTo>
                    <a:lnTo>
                      <a:pt x="1407694" y="757989"/>
                    </a:lnTo>
                    <a:moveTo>
                      <a:pt x="0" y="757989"/>
                    </a:moveTo>
                    <a:lnTo>
                      <a:pt x="0" y="108284"/>
                    </a:lnTo>
                    <a:moveTo>
                      <a:pt x="108284" y="0"/>
                    </a:moveTo>
                    <a:lnTo>
                      <a:pt x="1299410" y="0"/>
                    </a:lnTo>
                    <a:moveTo>
                      <a:pt x="108284" y="866273"/>
                    </a:moveTo>
                    <a:lnTo>
                      <a:pt x="54142" y="866273"/>
                    </a:lnTo>
                    <a:cubicBezTo>
                      <a:pt x="24240" y="866273"/>
                      <a:pt x="0" y="842033"/>
                      <a:pt x="0" y="812131"/>
                    </a:cubicBezTo>
                    <a:lnTo>
                      <a:pt x="0" y="757989"/>
                    </a:lnTo>
                    <a:moveTo>
                      <a:pt x="1299410" y="0"/>
                    </a:moveTo>
                    <a:lnTo>
                      <a:pt x="1353552" y="0"/>
                    </a:lnTo>
                    <a:cubicBezTo>
                      <a:pt x="1383454" y="0"/>
                      <a:pt x="1407694" y="24240"/>
                      <a:pt x="1407694" y="54142"/>
                    </a:cubicBezTo>
                    <a:lnTo>
                      <a:pt x="1407694" y="108284"/>
                    </a:lnTo>
                    <a:moveTo>
                      <a:pt x="1299410" y="866273"/>
                    </a:moveTo>
                    <a:lnTo>
                      <a:pt x="108284" y="866273"/>
                    </a:lnTo>
                    <a:moveTo>
                      <a:pt x="1407694" y="757989"/>
                    </a:moveTo>
                    <a:lnTo>
                      <a:pt x="1407694" y="812131"/>
                    </a:lnTo>
                    <a:cubicBezTo>
                      <a:pt x="1407694" y="842033"/>
                      <a:pt x="1383454" y="866273"/>
                      <a:pt x="1353552" y="866273"/>
                    </a:cubicBezTo>
                    <a:lnTo>
                      <a:pt x="1299410" y="866273"/>
                    </a:lnTo>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44" name="Group 43"/>
            <p:cNvGrpSpPr/>
            <p:nvPr/>
          </p:nvGrpSpPr>
          <p:grpSpPr>
            <a:xfrm>
              <a:off x="8317970" y="4708294"/>
              <a:ext cx="2820939" cy="816603"/>
              <a:chOff x="6334626" y="1082842"/>
              <a:chExt cx="1515978" cy="866273"/>
            </a:xfrm>
          </p:grpSpPr>
          <p:sp>
            <p:nvSpPr>
              <p:cNvPr id="70" name="Rounded Rectangle 13"/>
              <p:cNvSpPr/>
              <p:nvPr/>
            </p:nvSpPr>
            <p:spPr>
              <a:xfrm>
                <a:off x="6334626" y="1082842"/>
                <a:ext cx="1515978" cy="866273"/>
              </a:xfrm>
              <a:custGeom>
                <a:avLst/>
                <a:gdLst/>
                <a:ahLst/>
                <a:cxnLst/>
                <a:rect l="0" t="0" r="0" b="0"/>
                <a:pathLst>
                  <a:path w="1515978" h="866273">
                    <a:moveTo>
                      <a:pt x="0" y="54142"/>
                    </a:moveTo>
                    <a:cubicBezTo>
                      <a:pt x="0" y="24240"/>
                      <a:pt x="24240" y="0"/>
                      <a:pt x="54142" y="0"/>
                    </a:cubicBezTo>
                    <a:lnTo>
                      <a:pt x="108284" y="0"/>
                    </a:lnTo>
                    <a:lnTo>
                      <a:pt x="108284" y="108284"/>
                    </a:lnTo>
                    <a:lnTo>
                      <a:pt x="0" y="108284"/>
                    </a:lnTo>
                    <a:close/>
                    <a:moveTo>
                      <a:pt x="1407694" y="0"/>
                    </a:moveTo>
                    <a:lnTo>
                      <a:pt x="1407694" y="108284"/>
                    </a:lnTo>
                    <a:lnTo>
                      <a:pt x="108284" y="108284"/>
                    </a:lnTo>
                    <a:lnTo>
                      <a:pt x="108284" y="0"/>
                    </a:lnTo>
                    <a:close/>
                    <a:moveTo>
                      <a:pt x="1515978" y="108284"/>
                    </a:moveTo>
                    <a:lnTo>
                      <a:pt x="1407694" y="108284"/>
                    </a:lnTo>
                    <a:lnTo>
                      <a:pt x="1407694" y="0"/>
                    </a:lnTo>
                    <a:lnTo>
                      <a:pt x="1461836" y="0"/>
                    </a:lnTo>
                    <a:cubicBezTo>
                      <a:pt x="1491738" y="0"/>
                      <a:pt x="1515978" y="24240"/>
                      <a:pt x="1515978" y="54142"/>
                    </a:cubicBezTo>
                    <a:close/>
                    <a:moveTo>
                      <a:pt x="1515978" y="757989"/>
                    </a:moveTo>
                    <a:lnTo>
                      <a:pt x="0" y="757989"/>
                    </a:lnTo>
                    <a:lnTo>
                      <a:pt x="0" y="108284"/>
                    </a:lnTo>
                    <a:lnTo>
                      <a:pt x="1515978" y="108284"/>
                    </a:lnTo>
                    <a:close/>
                    <a:moveTo>
                      <a:pt x="0" y="757989"/>
                    </a:moveTo>
                    <a:lnTo>
                      <a:pt x="108284" y="757989"/>
                    </a:lnTo>
                    <a:lnTo>
                      <a:pt x="108284" y="866273"/>
                    </a:lnTo>
                    <a:lnTo>
                      <a:pt x="54142" y="866273"/>
                    </a:lnTo>
                    <a:cubicBezTo>
                      <a:pt x="24240" y="866273"/>
                      <a:pt x="0" y="842033"/>
                      <a:pt x="0" y="812131"/>
                    </a:cubicBezTo>
                    <a:close/>
                    <a:moveTo>
                      <a:pt x="108284" y="866273"/>
                    </a:moveTo>
                    <a:lnTo>
                      <a:pt x="108284" y="757989"/>
                    </a:lnTo>
                    <a:lnTo>
                      <a:pt x="1407694" y="757989"/>
                    </a:lnTo>
                    <a:lnTo>
                      <a:pt x="1407694" y="866273"/>
                    </a:lnTo>
                    <a:close/>
                    <a:moveTo>
                      <a:pt x="1407694" y="866273"/>
                    </a:moveTo>
                    <a:lnTo>
                      <a:pt x="1407694" y="757989"/>
                    </a:lnTo>
                    <a:lnTo>
                      <a:pt x="1515978" y="757989"/>
                    </a:lnTo>
                    <a:lnTo>
                      <a:pt x="1515978" y="812131"/>
                    </a:lnTo>
                    <a:cubicBezTo>
                      <a:pt x="1515978" y="842033"/>
                      <a:pt x="1491738" y="866273"/>
                      <a:pt x="1461836" y="866273"/>
                    </a:cubicBezTo>
                    <a:close/>
                  </a:path>
                </a:pathLst>
              </a:custGeom>
              <a:solidFill>
                <a:srgbClr val="666666"/>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71" name="Rounded Rectangle 14"/>
              <p:cNvSpPr/>
              <p:nvPr/>
            </p:nvSpPr>
            <p:spPr>
              <a:xfrm>
                <a:off x="6334626" y="1082842"/>
                <a:ext cx="1515978" cy="866273"/>
              </a:xfrm>
              <a:custGeom>
                <a:avLst/>
                <a:gdLst/>
                <a:ahLst/>
                <a:cxnLst/>
                <a:rect l="0" t="0" r="0" b="0"/>
                <a:pathLst>
                  <a:path w="1515978" h="866273">
                    <a:moveTo>
                      <a:pt x="0" y="108284"/>
                    </a:moveTo>
                    <a:lnTo>
                      <a:pt x="0" y="54142"/>
                    </a:lnTo>
                    <a:cubicBezTo>
                      <a:pt x="0" y="24240"/>
                      <a:pt x="24240" y="0"/>
                      <a:pt x="54142" y="0"/>
                    </a:cubicBezTo>
                    <a:lnTo>
                      <a:pt x="108284" y="0"/>
                    </a:lnTo>
                    <a:moveTo>
                      <a:pt x="1515978" y="108284"/>
                    </a:moveTo>
                    <a:lnTo>
                      <a:pt x="1515978" y="757989"/>
                    </a:lnTo>
                    <a:moveTo>
                      <a:pt x="0" y="757989"/>
                    </a:moveTo>
                    <a:lnTo>
                      <a:pt x="0" y="108284"/>
                    </a:lnTo>
                    <a:moveTo>
                      <a:pt x="108284" y="0"/>
                    </a:moveTo>
                    <a:lnTo>
                      <a:pt x="1407694" y="0"/>
                    </a:lnTo>
                    <a:moveTo>
                      <a:pt x="108284" y="866273"/>
                    </a:moveTo>
                    <a:lnTo>
                      <a:pt x="54142" y="866273"/>
                    </a:lnTo>
                    <a:cubicBezTo>
                      <a:pt x="24240" y="866273"/>
                      <a:pt x="0" y="842033"/>
                      <a:pt x="0" y="812131"/>
                    </a:cubicBezTo>
                    <a:lnTo>
                      <a:pt x="0" y="757989"/>
                    </a:lnTo>
                    <a:moveTo>
                      <a:pt x="1407694" y="0"/>
                    </a:moveTo>
                    <a:lnTo>
                      <a:pt x="1461836" y="0"/>
                    </a:lnTo>
                    <a:cubicBezTo>
                      <a:pt x="1491738" y="0"/>
                      <a:pt x="1515978" y="24240"/>
                      <a:pt x="1515978" y="54142"/>
                    </a:cubicBezTo>
                    <a:lnTo>
                      <a:pt x="1515978" y="108284"/>
                    </a:lnTo>
                    <a:moveTo>
                      <a:pt x="1407694" y="866273"/>
                    </a:moveTo>
                    <a:lnTo>
                      <a:pt x="108284" y="866273"/>
                    </a:lnTo>
                    <a:moveTo>
                      <a:pt x="1515978" y="757989"/>
                    </a:moveTo>
                    <a:lnTo>
                      <a:pt x="1515978" y="812131"/>
                    </a:lnTo>
                    <a:cubicBezTo>
                      <a:pt x="1515978" y="842033"/>
                      <a:pt x="1491738" y="866273"/>
                      <a:pt x="1461836" y="866273"/>
                    </a:cubicBezTo>
                    <a:lnTo>
                      <a:pt x="1407694" y="866273"/>
                    </a:lnTo>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45" name="Group 44"/>
            <p:cNvGrpSpPr/>
            <p:nvPr/>
          </p:nvGrpSpPr>
          <p:grpSpPr>
            <a:xfrm>
              <a:off x="1920242" y="5682688"/>
              <a:ext cx="1407694" cy="757989"/>
              <a:chOff x="378994" y="2057400"/>
              <a:chExt cx="1407694" cy="757989"/>
            </a:xfrm>
          </p:grpSpPr>
          <p:sp>
            <p:nvSpPr>
              <p:cNvPr id="68" name="Rounded Rectangle 16"/>
              <p:cNvSpPr/>
              <p:nvPr/>
            </p:nvSpPr>
            <p:spPr>
              <a:xfrm>
                <a:off x="378994" y="2057400"/>
                <a:ext cx="1407694" cy="757989"/>
              </a:xfrm>
              <a:custGeom>
                <a:avLst/>
                <a:gdLst/>
                <a:ahLst/>
                <a:cxnLst/>
                <a:rect l="0" t="0" r="0" b="0"/>
                <a:pathLst>
                  <a:path w="1407694" h="757989">
                    <a:moveTo>
                      <a:pt x="0" y="54142"/>
                    </a:moveTo>
                    <a:cubicBezTo>
                      <a:pt x="0" y="24240"/>
                      <a:pt x="24240" y="0"/>
                      <a:pt x="54142" y="0"/>
                    </a:cubicBezTo>
                    <a:lnTo>
                      <a:pt x="108284" y="0"/>
                    </a:lnTo>
                    <a:lnTo>
                      <a:pt x="108284" y="108284"/>
                    </a:lnTo>
                    <a:lnTo>
                      <a:pt x="0" y="108284"/>
                    </a:lnTo>
                    <a:close/>
                    <a:moveTo>
                      <a:pt x="1299410" y="0"/>
                    </a:moveTo>
                    <a:lnTo>
                      <a:pt x="1299410" y="108284"/>
                    </a:lnTo>
                    <a:lnTo>
                      <a:pt x="108284" y="108284"/>
                    </a:lnTo>
                    <a:lnTo>
                      <a:pt x="108284" y="0"/>
                    </a:lnTo>
                    <a:close/>
                    <a:moveTo>
                      <a:pt x="1407694" y="108284"/>
                    </a:moveTo>
                    <a:lnTo>
                      <a:pt x="1299410" y="108284"/>
                    </a:lnTo>
                    <a:lnTo>
                      <a:pt x="1299410" y="0"/>
                    </a:lnTo>
                    <a:lnTo>
                      <a:pt x="1353552" y="0"/>
                    </a:lnTo>
                    <a:cubicBezTo>
                      <a:pt x="1383454" y="0"/>
                      <a:pt x="1407694" y="24240"/>
                      <a:pt x="1407694" y="54142"/>
                    </a:cubicBezTo>
                    <a:close/>
                    <a:moveTo>
                      <a:pt x="1407694" y="649705"/>
                    </a:moveTo>
                    <a:lnTo>
                      <a:pt x="0" y="649705"/>
                    </a:lnTo>
                    <a:lnTo>
                      <a:pt x="0" y="108284"/>
                    </a:lnTo>
                    <a:lnTo>
                      <a:pt x="1407694" y="108284"/>
                    </a:lnTo>
                    <a:close/>
                    <a:moveTo>
                      <a:pt x="0" y="649705"/>
                    </a:moveTo>
                    <a:lnTo>
                      <a:pt x="108284" y="649705"/>
                    </a:lnTo>
                    <a:lnTo>
                      <a:pt x="108284" y="757989"/>
                    </a:lnTo>
                    <a:lnTo>
                      <a:pt x="54142" y="757989"/>
                    </a:lnTo>
                    <a:cubicBezTo>
                      <a:pt x="24240" y="757989"/>
                      <a:pt x="0" y="733749"/>
                      <a:pt x="0" y="703847"/>
                    </a:cubicBezTo>
                    <a:close/>
                    <a:moveTo>
                      <a:pt x="108284" y="757989"/>
                    </a:moveTo>
                    <a:lnTo>
                      <a:pt x="108284" y="649705"/>
                    </a:lnTo>
                    <a:lnTo>
                      <a:pt x="1299410" y="649705"/>
                    </a:lnTo>
                    <a:lnTo>
                      <a:pt x="1299410" y="757989"/>
                    </a:lnTo>
                    <a:close/>
                    <a:moveTo>
                      <a:pt x="1299410" y="757989"/>
                    </a:moveTo>
                    <a:lnTo>
                      <a:pt x="1299410" y="649705"/>
                    </a:lnTo>
                    <a:lnTo>
                      <a:pt x="1407694" y="649705"/>
                    </a:lnTo>
                    <a:lnTo>
                      <a:pt x="1407694" y="703847"/>
                    </a:lnTo>
                    <a:cubicBezTo>
                      <a:pt x="1407694" y="733749"/>
                      <a:pt x="1383454" y="757989"/>
                      <a:pt x="1353552" y="757989"/>
                    </a:cubicBez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69" name="Rounded Rectangle 17"/>
              <p:cNvSpPr/>
              <p:nvPr/>
            </p:nvSpPr>
            <p:spPr>
              <a:xfrm>
                <a:off x="378994" y="2057400"/>
                <a:ext cx="1407694" cy="757989"/>
              </a:xfrm>
              <a:custGeom>
                <a:avLst/>
                <a:gdLst/>
                <a:ahLst/>
                <a:cxnLst/>
                <a:rect l="0" t="0" r="0" b="0"/>
                <a:pathLst>
                  <a:path w="1407694" h="757989">
                    <a:moveTo>
                      <a:pt x="0" y="108284"/>
                    </a:moveTo>
                    <a:lnTo>
                      <a:pt x="0" y="54142"/>
                    </a:lnTo>
                    <a:cubicBezTo>
                      <a:pt x="0" y="24240"/>
                      <a:pt x="24240" y="0"/>
                      <a:pt x="54142" y="0"/>
                    </a:cubicBezTo>
                    <a:lnTo>
                      <a:pt x="108284" y="0"/>
                    </a:lnTo>
                    <a:moveTo>
                      <a:pt x="1407694" y="108284"/>
                    </a:moveTo>
                    <a:lnTo>
                      <a:pt x="1407694" y="649705"/>
                    </a:lnTo>
                    <a:moveTo>
                      <a:pt x="0" y="649705"/>
                    </a:moveTo>
                    <a:lnTo>
                      <a:pt x="0" y="108284"/>
                    </a:lnTo>
                    <a:moveTo>
                      <a:pt x="108284" y="0"/>
                    </a:moveTo>
                    <a:lnTo>
                      <a:pt x="1299410" y="0"/>
                    </a:lnTo>
                    <a:moveTo>
                      <a:pt x="108284" y="757989"/>
                    </a:moveTo>
                    <a:lnTo>
                      <a:pt x="54142" y="757989"/>
                    </a:lnTo>
                    <a:cubicBezTo>
                      <a:pt x="24240" y="757989"/>
                      <a:pt x="0" y="733749"/>
                      <a:pt x="0" y="703847"/>
                    </a:cubicBezTo>
                    <a:lnTo>
                      <a:pt x="0" y="649705"/>
                    </a:lnTo>
                    <a:moveTo>
                      <a:pt x="1299410" y="0"/>
                    </a:moveTo>
                    <a:lnTo>
                      <a:pt x="1353552" y="0"/>
                    </a:lnTo>
                    <a:cubicBezTo>
                      <a:pt x="1383454" y="0"/>
                      <a:pt x="1407694" y="24240"/>
                      <a:pt x="1407694" y="54142"/>
                    </a:cubicBezTo>
                    <a:lnTo>
                      <a:pt x="1407694" y="108284"/>
                    </a:lnTo>
                    <a:moveTo>
                      <a:pt x="1299410" y="757989"/>
                    </a:moveTo>
                    <a:lnTo>
                      <a:pt x="108284" y="757989"/>
                    </a:lnTo>
                    <a:moveTo>
                      <a:pt x="1407694" y="649705"/>
                    </a:moveTo>
                    <a:lnTo>
                      <a:pt x="1407694" y="703847"/>
                    </a:lnTo>
                    <a:cubicBezTo>
                      <a:pt x="1407694" y="733749"/>
                      <a:pt x="1383454" y="757989"/>
                      <a:pt x="1353552" y="757989"/>
                    </a:cubicBezTo>
                    <a:lnTo>
                      <a:pt x="1299410" y="757989"/>
                    </a:lnTo>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46" name="Group 45"/>
            <p:cNvGrpSpPr/>
            <p:nvPr/>
          </p:nvGrpSpPr>
          <p:grpSpPr>
            <a:xfrm>
              <a:off x="3433757" y="5682688"/>
              <a:ext cx="1562713" cy="757989"/>
              <a:chOff x="1894973" y="2057400"/>
              <a:chExt cx="1407694" cy="757989"/>
            </a:xfrm>
          </p:grpSpPr>
          <p:sp>
            <p:nvSpPr>
              <p:cNvPr id="66" name="Rounded Rectangle 19"/>
              <p:cNvSpPr/>
              <p:nvPr/>
            </p:nvSpPr>
            <p:spPr>
              <a:xfrm>
                <a:off x="1894973" y="2057400"/>
                <a:ext cx="1407694" cy="757989"/>
              </a:xfrm>
              <a:custGeom>
                <a:avLst/>
                <a:gdLst/>
                <a:ahLst/>
                <a:cxnLst/>
                <a:rect l="0" t="0" r="0" b="0"/>
                <a:pathLst>
                  <a:path w="1407694" h="757989">
                    <a:moveTo>
                      <a:pt x="0" y="54142"/>
                    </a:moveTo>
                    <a:cubicBezTo>
                      <a:pt x="0" y="24240"/>
                      <a:pt x="24240" y="0"/>
                      <a:pt x="54142" y="0"/>
                    </a:cubicBezTo>
                    <a:lnTo>
                      <a:pt x="108284" y="0"/>
                    </a:lnTo>
                    <a:lnTo>
                      <a:pt x="108284" y="108284"/>
                    </a:lnTo>
                    <a:lnTo>
                      <a:pt x="0" y="108284"/>
                    </a:lnTo>
                    <a:close/>
                    <a:moveTo>
                      <a:pt x="1299410" y="0"/>
                    </a:moveTo>
                    <a:lnTo>
                      <a:pt x="1299410" y="108284"/>
                    </a:lnTo>
                    <a:lnTo>
                      <a:pt x="108284" y="108284"/>
                    </a:lnTo>
                    <a:lnTo>
                      <a:pt x="108284" y="0"/>
                    </a:lnTo>
                    <a:close/>
                    <a:moveTo>
                      <a:pt x="1407694" y="108284"/>
                    </a:moveTo>
                    <a:lnTo>
                      <a:pt x="1299410" y="108284"/>
                    </a:lnTo>
                    <a:lnTo>
                      <a:pt x="1299410" y="0"/>
                    </a:lnTo>
                    <a:lnTo>
                      <a:pt x="1353552" y="0"/>
                    </a:lnTo>
                    <a:cubicBezTo>
                      <a:pt x="1383454" y="0"/>
                      <a:pt x="1407694" y="24240"/>
                      <a:pt x="1407694" y="54142"/>
                    </a:cubicBezTo>
                    <a:close/>
                    <a:moveTo>
                      <a:pt x="1407694" y="649705"/>
                    </a:moveTo>
                    <a:lnTo>
                      <a:pt x="0" y="649705"/>
                    </a:lnTo>
                    <a:lnTo>
                      <a:pt x="0" y="108284"/>
                    </a:lnTo>
                    <a:lnTo>
                      <a:pt x="1407694" y="108284"/>
                    </a:lnTo>
                    <a:close/>
                    <a:moveTo>
                      <a:pt x="0" y="649705"/>
                    </a:moveTo>
                    <a:lnTo>
                      <a:pt x="108284" y="649705"/>
                    </a:lnTo>
                    <a:lnTo>
                      <a:pt x="108284" y="757989"/>
                    </a:lnTo>
                    <a:lnTo>
                      <a:pt x="54142" y="757989"/>
                    </a:lnTo>
                    <a:cubicBezTo>
                      <a:pt x="24240" y="757989"/>
                      <a:pt x="0" y="733749"/>
                      <a:pt x="0" y="703847"/>
                    </a:cubicBezTo>
                    <a:close/>
                    <a:moveTo>
                      <a:pt x="108284" y="757989"/>
                    </a:moveTo>
                    <a:lnTo>
                      <a:pt x="108284" y="649705"/>
                    </a:lnTo>
                    <a:lnTo>
                      <a:pt x="1299410" y="649705"/>
                    </a:lnTo>
                    <a:lnTo>
                      <a:pt x="1299410" y="757989"/>
                    </a:lnTo>
                    <a:close/>
                    <a:moveTo>
                      <a:pt x="1299410" y="757989"/>
                    </a:moveTo>
                    <a:lnTo>
                      <a:pt x="1299410" y="649705"/>
                    </a:lnTo>
                    <a:lnTo>
                      <a:pt x="1407694" y="649705"/>
                    </a:lnTo>
                    <a:lnTo>
                      <a:pt x="1407694" y="703847"/>
                    </a:lnTo>
                    <a:cubicBezTo>
                      <a:pt x="1407694" y="733749"/>
                      <a:pt x="1383454" y="757989"/>
                      <a:pt x="1353552" y="757989"/>
                    </a:cubicBez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67" name="Rounded Rectangle 20"/>
              <p:cNvSpPr/>
              <p:nvPr/>
            </p:nvSpPr>
            <p:spPr>
              <a:xfrm>
                <a:off x="1894973" y="2057400"/>
                <a:ext cx="1407694" cy="757989"/>
              </a:xfrm>
              <a:custGeom>
                <a:avLst/>
                <a:gdLst/>
                <a:ahLst/>
                <a:cxnLst/>
                <a:rect l="0" t="0" r="0" b="0"/>
                <a:pathLst>
                  <a:path w="1407694" h="757989">
                    <a:moveTo>
                      <a:pt x="0" y="108284"/>
                    </a:moveTo>
                    <a:lnTo>
                      <a:pt x="0" y="54142"/>
                    </a:lnTo>
                    <a:cubicBezTo>
                      <a:pt x="0" y="24240"/>
                      <a:pt x="24240" y="0"/>
                      <a:pt x="54142" y="0"/>
                    </a:cubicBezTo>
                    <a:lnTo>
                      <a:pt x="108284" y="0"/>
                    </a:lnTo>
                    <a:moveTo>
                      <a:pt x="1407694" y="108284"/>
                    </a:moveTo>
                    <a:lnTo>
                      <a:pt x="1407694" y="649705"/>
                    </a:lnTo>
                    <a:moveTo>
                      <a:pt x="0" y="649705"/>
                    </a:moveTo>
                    <a:lnTo>
                      <a:pt x="0" y="108284"/>
                    </a:lnTo>
                    <a:moveTo>
                      <a:pt x="108284" y="0"/>
                    </a:moveTo>
                    <a:lnTo>
                      <a:pt x="1299410" y="0"/>
                    </a:lnTo>
                    <a:moveTo>
                      <a:pt x="108284" y="757989"/>
                    </a:moveTo>
                    <a:lnTo>
                      <a:pt x="54142" y="757989"/>
                    </a:lnTo>
                    <a:cubicBezTo>
                      <a:pt x="24240" y="757989"/>
                      <a:pt x="0" y="733749"/>
                      <a:pt x="0" y="703847"/>
                    </a:cubicBezTo>
                    <a:lnTo>
                      <a:pt x="0" y="649705"/>
                    </a:lnTo>
                    <a:moveTo>
                      <a:pt x="1299410" y="0"/>
                    </a:moveTo>
                    <a:lnTo>
                      <a:pt x="1353552" y="0"/>
                    </a:lnTo>
                    <a:cubicBezTo>
                      <a:pt x="1383454" y="0"/>
                      <a:pt x="1407694" y="24240"/>
                      <a:pt x="1407694" y="54142"/>
                    </a:cubicBezTo>
                    <a:lnTo>
                      <a:pt x="1407694" y="108284"/>
                    </a:lnTo>
                    <a:moveTo>
                      <a:pt x="1299410" y="757989"/>
                    </a:moveTo>
                    <a:lnTo>
                      <a:pt x="108284" y="757989"/>
                    </a:lnTo>
                    <a:moveTo>
                      <a:pt x="1407694" y="649705"/>
                    </a:moveTo>
                    <a:lnTo>
                      <a:pt x="1407694" y="703847"/>
                    </a:lnTo>
                    <a:cubicBezTo>
                      <a:pt x="1407694" y="733749"/>
                      <a:pt x="1383454" y="757989"/>
                      <a:pt x="1353552" y="757989"/>
                    </a:cubicBezTo>
                    <a:lnTo>
                      <a:pt x="1299410" y="757989"/>
                    </a:lnTo>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47" name="Group 46"/>
            <p:cNvGrpSpPr/>
            <p:nvPr/>
          </p:nvGrpSpPr>
          <p:grpSpPr>
            <a:xfrm>
              <a:off x="5103885" y="5682688"/>
              <a:ext cx="1358757" cy="757989"/>
              <a:chOff x="3410952" y="2057400"/>
              <a:chExt cx="1299410" cy="757989"/>
            </a:xfrm>
          </p:grpSpPr>
          <p:sp>
            <p:nvSpPr>
              <p:cNvPr id="64" name="Rounded Rectangle 22"/>
              <p:cNvSpPr/>
              <p:nvPr/>
            </p:nvSpPr>
            <p:spPr>
              <a:xfrm>
                <a:off x="3410952" y="2057400"/>
                <a:ext cx="1299410" cy="757989"/>
              </a:xfrm>
              <a:custGeom>
                <a:avLst/>
                <a:gdLst/>
                <a:ahLst/>
                <a:cxnLst/>
                <a:rect l="0" t="0" r="0" b="0"/>
                <a:pathLst>
                  <a:path w="1299410" h="757989">
                    <a:moveTo>
                      <a:pt x="0" y="54142"/>
                    </a:moveTo>
                    <a:cubicBezTo>
                      <a:pt x="0" y="24240"/>
                      <a:pt x="24240" y="0"/>
                      <a:pt x="54142" y="0"/>
                    </a:cubicBezTo>
                    <a:lnTo>
                      <a:pt x="108284" y="0"/>
                    </a:lnTo>
                    <a:lnTo>
                      <a:pt x="108284" y="108284"/>
                    </a:lnTo>
                    <a:lnTo>
                      <a:pt x="0" y="108284"/>
                    </a:lnTo>
                    <a:close/>
                    <a:moveTo>
                      <a:pt x="1191126" y="0"/>
                    </a:moveTo>
                    <a:lnTo>
                      <a:pt x="1191126" y="108284"/>
                    </a:lnTo>
                    <a:lnTo>
                      <a:pt x="108284" y="108284"/>
                    </a:lnTo>
                    <a:lnTo>
                      <a:pt x="108284" y="0"/>
                    </a:lnTo>
                    <a:close/>
                    <a:moveTo>
                      <a:pt x="1299410" y="108284"/>
                    </a:moveTo>
                    <a:lnTo>
                      <a:pt x="1191126" y="108284"/>
                    </a:lnTo>
                    <a:lnTo>
                      <a:pt x="1191126" y="0"/>
                    </a:lnTo>
                    <a:lnTo>
                      <a:pt x="1245268" y="0"/>
                    </a:lnTo>
                    <a:cubicBezTo>
                      <a:pt x="1275170" y="0"/>
                      <a:pt x="1299410" y="24240"/>
                      <a:pt x="1299410" y="54142"/>
                    </a:cubicBezTo>
                    <a:close/>
                    <a:moveTo>
                      <a:pt x="1299410" y="649705"/>
                    </a:moveTo>
                    <a:lnTo>
                      <a:pt x="0" y="649705"/>
                    </a:lnTo>
                    <a:lnTo>
                      <a:pt x="0" y="108284"/>
                    </a:lnTo>
                    <a:lnTo>
                      <a:pt x="1299410" y="108284"/>
                    </a:lnTo>
                    <a:close/>
                    <a:moveTo>
                      <a:pt x="0" y="649705"/>
                    </a:moveTo>
                    <a:lnTo>
                      <a:pt x="108284" y="649705"/>
                    </a:lnTo>
                    <a:lnTo>
                      <a:pt x="108284" y="757989"/>
                    </a:lnTo>
                    <a:lnTo>
                      <a:pt x="54142" y="757989"/>
                    </a:lnTo>
                    <a:cubicBezTo>
                      <a:pt x="24240" y="757989"/>
                      <a:pt x="0" y="733749"/>
                      <a:pt x="0" y="703847"/>
                    </a:cubicBezTo>
                    <a:close/>
                    <a:moveTo>
                      <a:pt x="108284" y="757989"/>
                    </a:moveTo>
                    <a:lnTo>
                      <a:pt x="108284" y="649705"/>
                    </a:lnTo>
                    <a:lnTo>
                      <a:pt x="1191126" y="649705"/>
                    </a:lnTo>
                    <a:lnTo>
                      <a:pt x="1191126" y="757989"/>
                    </a:lnTo>
                    <a:close/>
                    <a:moveTo>
                      <a:pt x="1191126" y="757989"/>
                    </a:moveTo>
                    <a:lnTo>
                      <a:pt x="1191126" y="649705"/>
                    </a:lnTo>
                    <a:lnTo>
                      <a:pt x="1299410" y="649705"/>
                    </a:lnTo>
                    <a:lnTo>
                      <a:pt x="1299410" y="703847"/>
                    </a:lnTo>
                    <a:cubicBezTo>
                      <a:pt x="1299410" y="733749"/>
                      <a:pt x="1275170" y="757989"/>
                      <a:pt x="1245268" y="757989"/>
                    </a:cubicBez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65" name="Rounded Rectangle 23"/>
              <p:cNvSpPr/>
              <p:nvPr/>
            </p:nvSpPr>
            <p:spPr>
              <a:xfrm>
                <a:off x="3410952" y="2057400"/>
                <a:ext cx="1299410" cy="757989"/>
              </a:xfrm>
              <a:custGeom>
                <a:avLst/>
                <a:gdLst/>
                <a:ahLst/>
                <a:cxnLst/>
                <a:rect l="0" t="0" r="0" b="0"/>
                <a:pathLst>
                  <a:path w="1299410" h="757989">
                    <a:moveTo>
                      <a:pt x="0" y="108284"/>
                    </a:moveTo>
                    <a:lnTo>
                      <a:pt x="0" y="54142"/>
                    </a:lnTo>
                    <a:cubicBezTo>
                      <a:pt x="0" y="24240"/>
                      <a:pt x="24240" y="0"/>
                      <a:pt x="54142" y="0"/>
                    </a:cubicBezTo>
                    <a:lnTo>
                      <a:pt x="108284" y="0"/>
                    </a:lnTo>
                    <a:moveTo>
                      <a:pt x="1299410" y="108284"/>
                    </a:moveTo>
                    <a:lnTo>
                      <a:pt x="1299410" y="649705"/>
                    </a:lnTo>
                    <a:moveTo>
                      <a:pt x="0" y="649705"/>
                    </a:moveTo>
                    <a:lnTo>
                      <a:pt x="0" y="108284"/>
                    </a:lnTo>
                    <a:moveTo>
                      <a:pt x="108284" y="0"/>
                    </a:moveTo>
                    <a:lnTo>
                      <a:pt x="1191126" y="0"/>
                    </a:lnTo>
                    <a:moveTo>
                      <a:pt x="108284" y="757989"/>
                    </a:moveTo>
                    <a:lnTo>
                      <a:pt x="54142" y="757989"/>
                    </a:lnTo>
                    <a:cubicBezTo>
                      <a:pt x="24240" y="757989"/>
                      <a:pt x="0" y="733749"/>
                      <a:pt x="0" y="703847"/>
                    </a:cubicBezTo>
                    <a:lnTo>
                      <a:pt x="0" y="649705"/>
                    </a:lnTo>
                    <a:moveTo>
                      <a:pt x="1191126" y="0"/>
                    </a:moveTo>
                    <a:lnTo>
                      <a:pt x="1245268" y="0"/>
                    </a:lnTo>
                    <a:cubicBezTo>
                      <a:pt x="1275170" y="0"/>
                      <a:pt x="1299410" y="24240"/>
                      <a:pt x="1299410" y="54142"/>
                    </a:cubicBezTo>
                    <a:lnTo>
                      <a:pt x="1299410" y="108284"/>
                    </a:lnTo>
                    <a:moveTo>
                      <a:pt x="1191126" y="757989"/>
                    </a:moveTo>
                    <a:lnTo>
                      <a:pt x="108284" y="757989"/>
                    </a:lnTo>
                    <a:moveTo>
                      <a:pt x="1299410" y="649705"/>
                    </a:moveTo>
                    <a:lnTo>
                      <a:pt x="1299410" y="703847"/>
                    </a:lnTo>
                    <a:cubicBezTo>
                      <a:pt x="1299410" y="733749"/>
                      <a:pt x="1275170" y="757989"/>
                      <a:pt x="1245268" y="757989"/>
                    </a:cubicBezTo>
                    <a:lnTo>
                      <a:pt x="1191126" y="757989"/>
                    </a:lnTo>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48" name="Group 47"/>
            <p:cNvGrpSpPr/>
            <p:nvPr/>
          </p:nvGrpSpPr>
          <p:grpSpPr>
            <a:xfrm>
              <a:off x="6570054" y="5682688"/>
              <a:ext cx="1650431" cy="757989"/>
              <a:chOff x="4818647" y="2057400"/>
              <a:chExt cx="1407694" cy="757989"/>
            </a:xfrm>
          </p:grpSpPr>
          <p:sp>
            <p:nvSpPr>
              <p:cNvPr id="62" name="Rounded Rectangle 25"/>
              <p:cNvSpPr/>
              <p:nvPr/>
            </p:nvSpPr>
            <p:spPr>
              <a:xfrm>
                <a:off x="4818647" y="2057400"/>
                <a:ext cx="1407694" cy="757989"/>
              </a:xfrm>
              <a:custGeom>
                <a:avLst/>
                <a:gdLst/>
                <a:ahLst/>
                <a:cxnLst/>
                <a:rect l="0" t="0" r="0" b="0"/>
                <a:pathLst>
                  <a:path w="1407694" h="757989">
                    <a:moveTo>
                      <a:pt x="0" y="54142"/>
                    </a:moveTo>
                    <a:cubicBezTo>
                      <a:pt x="0" y="24240"/>
                      <a:pt x="24240" y="0"/>
                      <a:pt x="54142" y="0"/>
                    </a:cubicBezTo>
                    <a:lnTo>
                      <a:pt x="108284" y="0"/>
                    </a:lnTo>
                    <a:lnTo>
                      <a:pt x="108284" y="108284"/>
                    </a:lnTo>
                    <a:lnTo>
                      <a:pt x="0" y="108284"/>
                    </a:lnTo>
                    <a:close/>
                    <a:moveTo>
                      <a:pt x="1299410" y="0"/>
                    </a:moveTo>
                    <a:lnTo>
                      <a:pt x="1299410" y="108284"/>
                    </a:lnTo>
                    <a:lnTo>
                      <a:pt x="108284" y="108284"/>
                    </a:lnTo>
                    <a:lnTo>
                      <a:pt x="108284" y="0"/>
                    </a:lnTo>
                    <a:close/>
                    <a:moveTo>
                      <a:pt x="1407694" y="108284"/>
                    </a:moveTo>
                    <a:lnTo>
                      <a:pt x="1299410" y="108284"/>
                    </a:lnTo>
                    <a:lnTo>
                      <a:pt x="1299410" y="0"/>
                    </a:lnTo>
                    <a:lnTo>
                      <a:pt x="1353552" y="0"/>
                    </a:lnTo>
                    <a:cubicBezTo>
                      <a:pt x="1383454" y="0"/>
                      <a:pt x="1407694" y="24240"/>
                      <a:pt x="1407694" y="54142"/>
                    </a:cubicBezTo>
                    <a:close/>
                    <a:moveTo>
                      <a:pt x="1407694" y="649705"/>
                    </a:moveTo>
                    <a:lnTo>
                      <a:pt x="0" y="649705"/>
                    </a:lnTo>
                    <a:lnTo>
                      <a:pt x="0" y="108284"/>
                    </a:lnTo>
                    <a:lnTo>
                      <a:pt x="1407694" y="108284"/>
                    </a:lnTo>
                    <a:close/>
                    <a:moveTo>
                      <a:pt x="0" y="649705"/>
                    </a:moveTo>
                    <a:lnTo>
                      <a:pt x="108284" y="649705"/>
                    </a:lnTo>
                    <a:lnTo>
                      <a:pt x="108284" y="757989"/>
                    </a:lnTo>
                    <a:lnTo>
                      <a:pt x="54142" y="757989"/>
                    </a:lnTo>
                    <a:cubicBezTo>
                      <a:pt x="24240" y="757989"/>
                      <a:pt x="0" y="733749"/>
                      <a:pt x="0" y="703847"/>
                    </a:cubicBezTo>
                    <a:close/>
                    <a:moveTo>
                      <a:pt x="108284" y="757989"/>
                    </a:moveTo>
                    <a:lnTo>
                      <a:pt x="108284" y="649705"/>
                    </a:lnTo>
                    <a:lnTo>
                      <a:pt x="1299410" y="649705"/>
                    </a:lnTo>
                    <a:lnTo>
                      <a:pt x="1299410" y="757989"/>
                    </a:lnTo>
                    <a:close/>
                    <a:moveTo>
                      <a:pt x="1299410" y="757989"/>
                    </a:moveTo>
                    <a:lnTo>
                      <a:pt x="1299410" y="649705"/>
                    </a:lnTo>
                    <a:lnTo>
                      <a:pt x="1407694" y="649705"/>
                    </a:lnTo>
                    <a:lnTo>
                      <a:pt x="1407694" y="703847"/>
                    </a:lnTo>
                    <a:cubicBezTo>
                      <a:pt x="1407694" y="733749"/>
                      <a:pt x="1383454" y="757989"/>
                      <a:pt x="1353552" y="757989"/>
                    </a:cubicBez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63" name="Rounded Rectangle 26"/>
              <p:cNvSpPr/>
              <p:nvPr/>
            </p:nvSpPr>
            <p:spPr>
              <a:xfrm>
                <a:off x="4818647" y="2057400"/>
                <a:ext cx="1407694" cy="757989"/>
              </a:xfrm>
              <a:custGeom>
                <a:avLst/>
                <a:gdLst/>
                <a:ahLst/>
                <a:cxnLst/>
                <a:rect l="0" t="0" r="0" b="0"/>
                <a:pathLst>
                  <a:path w="1407694" h="757989">
                    <a:moveTo>
                      <a:pt x="0" y="108284"/>
                    </a:moveTo>
                    <a:lnTo>
                      <a:pt x="0" y="54142"/>
                    </a:lnTo>
                    <a:cubicBezTo>
                      <a:pt x="0" y="24240"/>
                      <a:pt x="24240" y="0"/>
                      <a:pt x="54142" y="0"/>
                    </a:cubicBezTo>
                    <a:lnTo>
                      <a:pt x="108284" y="0"/>
                    </a:lnTo>
                    <a:moveTo>
                      <a:pt x="1407694" y="108284"/>
                    </a:moveTo>
                    <a:lnTo>
                      <a:pt x="1407694" y="649705"/>
                    </a:lnTo>
                    <a:moveTo>
                      <a:pt x="0" y="649705"/>
                    </a:moveTo>
                    <a:lnTo>
                      <a:pt x="0" y="108284"/>
                    </a:lnTo>
                    <a:moveTo>
                      <a:pt x="108284" y="0"/>
                    </a:moveTo>
                    <a:lnTo>
                      <a:pt x="1299410" y="0"/>
                    </a:lnTo>
                    <a:moveTo>
                      <a:pt x="108284" y="757989"/>
                    </a:moveTo>
                    <a:lnTo>
                      <a:pt x="54142" y="757989"/>
                    </a:lnTo>
                    <a:cubicBezTo>
                      <a:pt x="24240" y="757989"/>
                      <a:pt x="0" y="733749"/>
                      <a:pt x="0" y="703847"/>
                    </a:cubicBezTo>
                    <a:lnTo>
                      <a:pt x="0" y="649705"/>
                    </a:lnTo>
                    <a:moveTo>
                      <a:pt x="1299410" y="0"/>
                    </a:moveTo>
                    <a:lnTo>
                      <a:pt x="1353552" y="0"/>
                    </a:lnTo>
                    <a:cubicBezTo>
                      <a:pt x="1383454" y="0"/>
                      <a:pt x="1407694" y="24240"/>
                      <a:pt x="1407694" y="54142"/>
                    </a:cubicBezTo>
                    <a:lnTo>
                      <a:pt x="1407694" y="108284"/>
                    </a:lnTo>
                    <a:moveTo>
                      <a:pt x="1299410" y="757989"/>
                    </a:moveTo>
                    <a:lnTo>
                      <a:pt x="108284" y="757989"/>
                    </a:lnTo>
                    <a:moveTo>
                      <a:pt x="1407694" y="649705"/>
                    </a:moveTo>
                    <a:lnTo>
                      <a:pt x="1407694" y="703847"/>
                    </a:lnTo>
                    <a:cubicBezTo>
                      <a:pt x="1407694" y="733749"/>
                      <a:pt x="1383454" y="757989"/>
                      <a:pt x="1353552" y="757989"/>
                    </a:cubicBezTo>
                    <a:lnTo>
                      <a:pt x="1299410" y="757989"/>
                    </a:lnTo>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49" name="Group 48"/>
            <p:cNvGrpSpPr/>
            <p:nvPr/>
          </p:nvGrpSpPr>
          <p:grpSpPr>
            <a:xfrm>
              <a:off x="8327897" y="5682688"/>
              <a:ext cx="2840882" cy="757989"/>
              <a:chOff x="6334626" y="2057400"/>
              <a:chExt cx="1515978" cy="757989"/>
            </a:xfrm>
          </p:grpSpPr>
          <p:sp>
            <p:nvSpPr>
              <p:cNvPr id="60" name="Rounded Rectangle 28"/>
              <p:cNvSpPr/>
              <p:nvPr/>
            </p:nvSpPr>
            <p:spPr>
              <a:xfrm>
                <a:off x="6334626" y="2057400"/>
                <a:ext cx="1515978" cy="757989"/>
              </a:xfrm>
              <a:custGeom>
                <a:avLst/>
                <a:gdLst/>
                <a:ahLst/>
                <a:cxnLst/>
                <a:rect l="0" t="0" r="0" b="0"/>
                <a:pathLst>
                  <a:path w="1515978" h="757989">
                    <a:moveTo>
                      <a:pt x="0" y="54142"/>
                    </a:moveTo>
                    <a:cubicBezTo>
                      <a:pt x="0" y="24240"/>
                      <a:pt x="24240" y="0"/>
                      <a:pt x="54142" y="0"/>
                    </a:cubicBezTo>
                    <a:lnTo>
                      <a:pt x="108284" y="0"/>
                    </a:lnTo>
                    <a:lnTo>
                      <a:pt x="108284" y="108284"/>
                    </a:lnTo>
                    <a:lnTo>
                      <a:pt x="0" y="108284"/>
                    </a:lnTo>
                    <a:close/>
                    <a:moveTo>
                      <a:pt x="1407694" y="0"/>
                    </a:moveTo>
                    <a:lnTo>
                      <a:pt x="1407694" y="108284"/>
                    </a:lnTo>
                    <a:lnTo>
                      <a:pt x="108284" y="108284"/>
                    </a:lnTo>
                    <a:lnTo>
                      <a:pt x="108284" y="0"/>
                    </a:lnTo>
                    <a:close/>
                    <a:moveTo>
                      <a:pt x="1515978" y="108284"/>
                    </a:moveTo>
                    <a:lnTo>
                      <a:pt x="1407694" y="108284"/>
                    </a:lnTo>
                    <a:lnTo>
                      <a:pt x="1407694" y="0"/>
                    </a:lnTo>
                    <a:lnTo>
                      <a:pt x="1461836" y="0"/>
                    </a:lnTo>
                    <a:cubicBezTo>
                      <a:pt x="1491738" y="0"/>
                      <a:pt x="1515978" y="24240"/>
                      <a:pt x="1515978" y="54142"/>
                    </a:cubicBezTo>
                    <a:close/>
                    <a:moveTo>
                      <a:pt x="1515978" y="649705"/>
                    </a:moveTo>
                    <a:lnTo>
                      <a:pt x="0" y="649705"/>
                    </a:lnTo>
                    <a:lnTo>
                      <a:pt x="0" y="108284"/>
                    </a:lnTo>
                    <a:lnTo>
                      <a:pt x="1515978" y="108284"/>
                    </a:lnTo>
                    <a:close/>
                    <a:moveTo>
                      <a:pt x="0" y="649705"/>
                    </a:moveTo>
                    <a:lnTo>
                      <a:pt x="108284" y="649705"/>
                    </a:lnTo>
                    <a:lnTo>
                      <a:pt x="108284" y="757989"/>
                    </a:lnTo>
                    <a:lnTo>
                      <a:pt x="54142" y="757989"/>
                    </a:lnTo>
                    <a:cubicBezTo>
                      <a:pt x="24240" y="757989"/>
                      <a:pt x="0" y="733749"/>
                      <a:pt x="0" y="703847"/>
                    </a:cubicBezTo>
                    <a:close/>
                    <a:moveTo>
                      <a:pt x="108284" y="757989"/>
                    </a:moveTo>
                    <a:lnTo>
                      <a:pt x="108284" y="649705"/>
                    </a:lnTo>
                    <a:lnTo>
                      <a:pt x="1407694" y="649705"/>
                    </a:lnTo>
                    <a:lnTo>
                      <a:pt x="1407694" y="757989"/>
                    </a:lnTo>
                    <a:close/>
                    <a:moveTo>
                      <a:pt x="1407694" y="757989"/>
                    </a:moveTo>
                    <a:lnTo>
                      <a:pt x="1407694" y="649705"/>
                    </a:lnTo>
                    <a:lnTo>
                      <a:pt x="1515978" y="649705"/>
                    </a:lnTo>
                    <a:lnTo>
                      <a:pt x="1515978" y="703847"/>
                    </a:lnTo>
                    <a:cubicBezTo>
                      <a:pt x="1515978" y="733749"/>
                      <a:pt x="1491738" y="757989"/>
                      <a:pt x="1461836" y="757989"/>
                    </a:cubicBez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61" name="Rounded Rectangle 29"/>
              <p:cNvSpPr/>
              <p:nvPr/>
            </p:nvSpPr>
            <p:spPr>
              <a:xfrm>
                <a:off x="6334626" y="2057400"/>
                <a:ext cx="1515978" cy="757989"/>
              </a:xfrm>
              <a:custGeom>
                <a:avLst/>
                <a:gdLst/>
                <a:ahLst/>
                <a:cxnLst/>
                <a:rect l="0" t="0" r="0" b="0"/>
                <a:pathLst>
                  <a:path w="1515978" h="757989">
                    <a:moveTo>
                      <a:pt x="0" y="108284"/>
                    </a:moveTo>
                    <a:lnTo>
                      <a:pt x="0" y="54142"/>
                    </a:lnTo>
                    <a:cubicBezTo>
                      <a:pt x="0" y="24240"/>
                      <a:pt x="24240" y="0"/>
                      <a:pt x="54142" y="0"/>
                    </a:cubicBezTo>
                    <a:lnTo>
                      <a:pt x="108284" y="0"/>
                    </a:lnTo>
                    <a:moveTo>
                      <a:pt x="1515978" y="108284"/>
                    </a:moveTo>
                    <a:lnTo>
                      <a:pt x="1515978" y="649705"/>
                    </a:lnTo>
                    <a:moveTo>
                      <a:pt x="0" y="649705"/>
                    </a:moveTo>
                    <a:lnTo>
                      <a:pt x="0" y="108284"/>
                    </a:lnTo>
                    <a:moveTo>
                      <a:pt x="108284" y="0"/>
                    </a:moveTo>
                    <a:lnTo>
                      <a:pt x="1407694" y="0"/>
                    </a:lnTo>
                    <a:moveTo>
                      <a:pt x="108284" y="757989"/>
                    </a:moveTo>
                    <a:lnTo>
                      <a:pt x="54142" y="757989"/>
                    </a:lnTo>
                    <a:cubicBezTo>
                      <a:pt x="24240" y="757989"/>
                      <a:pt x="0" y="733749"/>
                      <a:pt x="0" y="703847"/>
                    </a:cubicBezTo>
                    <a:lnTo>
                      <a:pt x="0" y="649705"/>
                    </a:lnTo>
                    <a:moveTo>
                      <a:pt x="1407694" y="0"/>
                    </a:moveTo>
                    <a:lnTo>
                      <a:pt x="1461836" y="0"/>
                    </a:lnTo>
                    <a:cubicBezTo>
                      <a:pt x="1491738" y="0"/>
                      <a:pt x="1515978" y="24240"/>
                      <a:pt x="1515978" y="54142"/>
                    </a:cubicBezTo>
                    <a:lnTo>
                      <a:pt x="1515978" y="108284"/>
                    </a:lnTo>
                    <a:moveTo>
                      <a:pt x="1407694" y="757989"/>
                    </a:moveTo>
                    <a:lnTo>
                      <a:pt x="108284" y="757989"/>
                    </a:lnTo>
                    <a:moveTo>
                      <a:pt x="1515978" y="649705"/>
                    </a:moveTo>
                    <a:lnTo>
                      <a:pt x="1515978" y="703847"/>
                    </a:lnTo>
                    <a:cubicBezTo>
                      <a:pt x="1515978" y="733749"/>
                      <a:pt x="1491738" y="757989"/>
                      <a:pt x="1461836" y="757989"/>
                    </a:cubicBezTo>
                    <a:lnTo>
                      <a:pt x="1407694" y="757989"/>
                    </a:lnTo>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
          <p:nvSpPr>
            <p:cNvPr id="50" name="TextBox 32"/>
            <p:cNvSpPr txBox="1"/>
            <p:nvPr/>
          </p:nvSpPr>
          <p:spPr>
            <a:xfrm>
              <a:off x="3608119" y="4866136"/>
              <a:ext cx="1208664" cy="553998"/>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FFFFFF"/>
                  </a:solidFill>
                </a:rPr>
                <a:t>STCG Shares
(STT paid)</a:t>
              </a:r>
            </a:p>
          </p:txBody>
        </p:sp>
        <p:sp>
          <p:nvSpPr>
            <p:cNvPr id="51" name="TextBox 33"/>
            <p:cNvSpPr txBox="1"/>
            <p:nvPr/>
          </p:nvSpPr>
          <p:spPr>
            <a:xfrm>
              <a:off x="5253222" y="4845425"/>
              <a:ext cx="1080424" cy="553998"/>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FFFFFF"/>
                  </a:solidFill>
                </a:rPr>
                <a:t>STCG Other
assets</a:t>
              </a:r>
            </a:p>
          </p:txBody>
        </p:sp>
        <p:sp>
          <p:nvSpPr>
            <p:cNvPr id="52" name="TextBox 34"/>
            <p:cNvSpPr txBox="1"/>
            <p:nvPr/>
          </p:nvSpPr>
          <p:spPr>
            <a:xfrm>
              <a:off x="6787924" y="4725766"/>
              <a:ext cx="1208664" cy="83099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FFFFFF"/>
                  </a:solidFill>
                </a:rPr>
                <a:t>LTCG Shares
(above ₹1.25
lakh)</a:t>
              </a:r>
            </a:p>
          </p:txBody>
        </p:sp>
        <p:sp>
          <p:nvSpPr>
            <p:cNvPr id="53" name="TextBox 35"/>
            <p:cNvSpPr txBox="1"/>
            <p:nvPr/>
          </p:nvSpPr>
          <p:spPr>
            <a:xfrm>
              <a:off x="8390128" y="4719825"/>
              <a:ext cx="2584480" cy="830997"/>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FFFFFF"/>
                  </a:solidFill>
                </a:rPr>
                <a:t>LTCG
Land/building,
gold, etc.</a:t>
              </a:r>
            </a:p>
          </p:txBody>
        </p:sp>
        <p:sp>
          <p:nvSpPr>
            <p:cNvPr id="54" name="TextBox 36"/>
            <p:cNvSpPr txBox="1"/>
            <p:nvPr/>
          </p:nvSpPr>
          <p:spPr>
            <a:xfrm>
              <a:off x="1973160" y="5002766"/>
              <a:ext cx="1117294"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b="1" dirty="0">
                  <a:solidFill>
                    <a:srgbClr val="FFFFFF"/>
                  </a:solidFill>
                </a:rPr>
                <a:t>Capital Gain</a:t>
              </a:r>
              <a:endParaRPr b="1" dirty="0">
                <a:solidFill>
                  <a:srgbClr val="FFFFFF"/>
                </a:solidFill>
              </a:endParaRPr>
            </a:p>
          </p:txBody>
        </p:sp>
        <p:sp>
          <p:nvSpPr>
            <p:cNvPr id="55" name="TextBox 37"/>
            <p:cNvSpPr txBox="1"/>
            <p:nvPr/>
          </p:nvSpPr>
          <p:spPr>
            <a:xfrm>
              <a:off x="8372433" y="5764632"/>
              <a:ext cx="2766477" cy="553998"/>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20% with indexation</a:t>
              </a:r>
              <a:r>
                <a:rPr lang="en-US" b="0" dirty="0">
                  <a:solidFill>
                    <a:srgbClr val="FFFFFF"/>
                  </a:solidFill>
                </a:rPr>
                <a:t> </a:t>
              </a:r>
              <a:r>
                <a:rPr b="0" dirty="0">
                  <a:solidFill>
                    <a:srgbClr val="FFFFFF"/>
                  </a:solidFill>
                </a:rPr>
                <a:t>&amp; 12.5% without</a:t>
              </a:r>
              <a:r>
                <a:rPr lang="en-US" dirty="0">
                  <a:solidFill>
                    <a:srgbClr val="FFFFFF"/>
                  </a:solidFill>
                </a:rPr>
                <a:t> </a:t>
              </a:r>
              <a:r>
                <a:rPr b="0" dirty="0">
                  <a:solidFill>
                    <a:srgbClr val="FFFFFF"/>
                  </a:solidFill>
                </a:rPr>
                <a:t>indexation</a:t>
              </a:r>
            </a:p>
          </p:txBody>
        </p:sp>
        <p:sp>
          <p:nvSpPr>
            <p:cNvPr id="56" name="TextBox 38"/>
            <p:cNvSpPr txBox="1"/>
            <p:nvPr/>
          </p:nvSpPr>
          <p:spPr>
            <a:xfrm>
              <a:off x="2190847" y="5917168"/>
              <a:ext cx="795089"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b="0" dirty="0">
                  <a:solidFill>
                    <a:srgbClr val="FFFFFF"/>
                  </a:solidFill>
                </a:rPr>
                <a:t>Tax Rate</a:t>
              </a:r>
            </a:p>
          </p:txBody>
        </p:sp>
        <p:sp>
          <p:nvSpPr>
            <p:cNvPr id="57" name="TextBox 39"/>
            <p:cNvSpPr txBox="1"/>
            <p:nvPr/>
          </p:nvSpPr>
          <p:spPr>
            <a:xfrm>
              <a:off x="4025938" y="5917168"/>
              <a:ext cx="373500"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20%</a:t>
              </a:r>
            </a:p>
          </p:txBody>
        </p:sp>
        <p:sp>
          <p:nvSpPr>
            <p:cNvPr id="58" name="TextBox 40"/>
            <p:cNvSpPr txBox="1"/>
            <p:nvPr/>
          </p:nvSpPr>
          <p:spPr>
            <a:xfrm>
              <a:off x="5606932" y="5867662"/>
              <a:ext cx="373500"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20%</a:t>
              </a:r>
            </a:p>
          </p:txBody>
        </p:sp>
        <p:sp>
          <p:nvSpPr>
            <p:cNvPr id="59" name="TextBox 41"/>
            <p:cNvSpPr txBox="1"/>
            <p:nvPr/>
          </p:nvSpPr>
          <p:spPr>
            <a:xfrm>
              <a:off x="7121692" y="5917168"/>
              <a:ext cx="548227"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12.5%</a:t>
              </a:r>
            </a:p>
          </p:txBody>
        </p:sp>
      </p:grpSp>
      <p:grpSp>
        <p:nvGrpSpPr>
          <p:cNvPr id="2" name="Group 1">
            <a:extLst>
              <a:ext uri="{FF2B5EF4-FFF2-40B4-BE49-F238E27FC236}">
                <a16:creationId xmlns:a16="http://schemas.microsoft.com/office/drawing/2014/main" id="{DB94B916-CA96-1B54-CFDE-A44A7C6785BF}"/>
              </a:ext>
            </a:extLst>
          </p:cNvPr>
          <p:cNvGrpSpPr/>
          <p:nvPr/>
        </p:nvGrpSpPr>
        <p:grpSpPr>
          <a:xfrm>
            <a:off x="1124218" y="815521"/>
            <a:ext cx="9070085" cy="2822040"/>
            <a:chOff x="1919510" y="1116693"/>
            <a:chExt cx="9070085" cy="2822040"/>
          </a:xfrm>
        </p:grpSpPr>
        <p:grpSp>
          <p:nvGrpSpPr>
            <p:cNvPr id="10" name="Group 9"/>
            <p:cNvGrpSpPr/>
            <p:nvPr/>
          </p:nvGrpSpPr>
          <p:grpSpPr>
            <a:xfrm>
              <a:off x="1919510" y="3481533"/>
              <a:ext cx="3471987" cy="457200"/>
              <a:chOff x="400050" y="2286000"/>
              <a:chExt cx="1600200" cy="571500"/>
            </a:xfrm>
          </p:grpSpPr>
          <p:sp>
            <p:nvSpPr>
              <p:cNvPr id="26" name="Rounded Rectangle 19"/>
              <p:cNvSpPr/>
              <p:nvPr/>
            </p:nvSpPr>
            <p:spPr>
              <a:xfrm>
                <a:off x="400050" y="2286000"/>
                <a:ext cx="1600200" cy="571500"/>
              </a:xfrm>
              <a:custGeom>
                <a:avLst/>
                <a:gdLst/>
                <a:ahLst/>
                <a:cxnLst/>
                <a:rect l="0" t="0" r="0" b="0"/>
                <a:pathLst>
                  <a:path w="1600200" h="571500">
                    <a:moveTo>
                      <a:pt x="0" y="57150"/>
                    </a:moveTo>
                    <a:cubicBezTo>
                      <a:pt x="0" y="25587"/>
                      <a:pt x="25587" y="0"/>
                      <a:pt x="57150" y="0"/>
                    </a:cubicBezTo>
                    <a:lnTo>
                      <a:pt x="114300" y="0"/>
                    </a:lnTo>
                    <a:lnTo>
                      <a:pt x="114300" y="114300"/>
                    </a:lnTo>
                    <a:lnTo>
                      <a:pt x="0" y="114300"/>
                    </a:lnTo>
                    <a:close/>
                    <a:moveTo>
                      <a:pt x="1485900" y="0"/>
                    </a:moveTo>
                    <a:lnTo>
                      <a:pt x="1485900" y="114300"/>
                    </a:lnTo>
                    <a:lnTo>
                      <a:pt x="114300" y="114300"/>
                    </a:lnTo>
                    <a:lnTo>
                      <a:pt x="114300" y="0"/>
                    </a:lnTo>
                    <a:close/>
                    <a:moveTo>
                      <a:pt x="1600200" y="114300"/>
                    </a:moveTo>
                    <a:lnTo>
                      <a:pt x="1485900" y="114300"/>
                    </a:lnTo>
                    <a:lnTo>
                      <a:pt x="1485900" y="0"/>
                    </a:lnTo>
                    <a:lnTo>
                      <a:pt x="1543050" y="0"/>
                    </a:lnTo>
                    <a:cubicBezTo>
                      <a:pt x="1574612" y="0"/>
                      <a:pt x="1600200" y="25587"/>
                      <a:pt x="1600200" y="57150"/>
                    </a:cubicBezTo>
                    <a:close/>
                    <a:moveTo>
                      <a:pt x="1600200" y="457200"/>
                    </a:moveTo>
                    <a:lnTo>
                      <a:pt x="0" y="457200"/>
                    </a:lnTo>
                    <a:lnTo>
                      <a:pt x="0" y="114300"/>
                    </a:lnTo>
                    <a:lnTo>
                      <a:pt x="1600200" y="114300"/>
                    </a:lnTo>
                    <a:close/>
                    <a:moveTo>
                      <a:pt x="0" y="457200"/>
                    </a:moveTo>
                    <a:lnTo>
                      <a:pt x="114300" y="457200"/>
                    </a:lnTo>
                    <a:lnTo>
                      <a:pt x="114300" y="571500"/>
                    </a:lnTo>
                    <a:lnTo>
                      <a:pt x="57150" y="571500"/>
                    </a:lnTo>
                    <a:cubicBezTo>
                      <a:pt x="25587" y="571500"/>
                      <a:pt x="0" y="545912"/>
                      <a:pt x="0" y="514350"/>
                    </a:cubicBezTo>
                    <a:close/>
                    <a:moveTo>
                      <a:pt x="114300" y="571500"/>
                    </a:moveTo>
                    <a:lnTo>
                      <a:pt x="114300" y="457200"/>
                    </a:lnTo>
                    <a:lnTo>
                      <a:pt x="1485900" y="457200"/>
                    </a:lnTo>
                    <a:lnTo>
                      <a:pt x="1485900" y="571500"/>
                    </a:lnTo>
                    <a:close/>
                    <a:moveTo>
                      <a:pt x="1485900" y="571500"/>
                    </a:moveTo>
                    <a:lnTo>
                      <a:pt x="1485900" y="457200"/>
                    </a:lnTo>
                    <a:lnTo>
                      <a:pt x="1600200" y="457200"/>
                    </a:lnTo>
                    <a:lnTo>
                      <a:pt x="1600200" y="514350"/>
                    </a:lnTo>
                    <a:cubicBezTo>
                      <a:pt x="1600200" y="545912"/>
                      <a:pt x="1574612" y="571500"/>
                      <a:pt x="1543050" y="571500"/>
                    </a:cubicBez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7" name="Rounded Rectangle 20"/>
              <p:cNvSpPr/>
              <p:nvPr/>
            </p:nvSpPr>
            <p:spPr>
              <a:xfrm>
                <a:off x="400050" y="2286000"/>
                <a:ext cx="1600200" cy="571500"/>
              </a:xfrm>
              <a:custGeom>
                <a:avLst/>
                <a:gdLst/>
                <a:ahLst/>
                <a:cxnLst/>
                <a:rect l="0" t="0" r="0" b="0"/>
                <a:pathLst>
                  <a:path w="1600200" h="571500">
                    <a:moveTo>
                      <a:pt x="0" y="114300"/>
                    </a:moveTo>
                    <a:lnTo>
                      <a:pt x="0" y="57150"/>
                    </a:lnTo>
                    <a:cubicBezTo>
                      <a:pt x="0" y="25587"/>
                      <a:pt x="25587" y="0"/>
                      <a:pt x="57150" y="0"/>
                    </a:cubicBezTo>
                    <a:lnTo>
                      <a:pt x="114300" y="0"/>
                    </a:lnTo>
                    <a:moveTo>
                      <a:pt x="1600200" y="114300"/>
                    </a:moveTo>
                    <a:lnTo>
                      <a:pt x="1600200" y="457200"/>
                    </a:lnTo>
                    <a:moveTo>
                      <a:pt x="0" y="457200"/>
                    </a:moveTo>
                    <a:lnTo>
                      <a:pt x="0" y="114300"/>
                    </a:lnTo>
                    <a:moveTo>
                      <a:pt x="114300" y="0"/>
                    </a:moveTo>
                    <a:lnTo>
                      <a:pt x="1485900" y="0"/>
                    </a:lnTo>
                    <a:moveTo>
                      <a:pt x="114300" y="571500"/>
                    </a:moveTo>
                    <a:lnTo>
                      <a:pt x="57150" y="571500"/>
                    </a:lnTo>
                    <a:cubicBezTo>
                      <a:pt x="25587" y="571500"/>
                      <a:pt x="0" y="545912"/>
                      <a:pt x="0" y="514350"/>
                    </a:cubicBezTo>
                    <a:lnTo>
                      <a:pt x="0" y="457200"/>
                    </a:lnTo>
                    <a:moveTo>
                      <a:pt x="1485900" y="0"/>
                    </a:moveTo>
                    <a:lnTo>
                      <a:pt x="1543050" y="0"/>
                    </a:lnTo>
                    <a:cubicBezTo>
                      <a:pt x="1574612" y="0"/>
                      <a:pt x="1600200" y="25587"/>
                      <a:pt x="1600200" y="57150"/>
                    </a:cubicBezTo>
                    <a:lnTo>
                      <a:pt x="1600200" y="114300"/>
                    </a:lnTo>
                    <a:moveTo>
                      <a:pt x="1485900" y="571500"/>
                    </a:moveTo>
                    <a:lnTo>
                      <a:pt x="114300" y="571500"/>
                    </a:lnTo>
                    <a:moveTo>
                      <a:pt x="1600200" y="457200"/>
                    </a:moveTo>
                    <a:lnTo>
                      <a:pt x="1600200" y="514350"/>
                    </a:lnTo>
                    <a:cubicBezTo>
                      <a:pt x="1600200" y="545912"/>
                      <a:pt x="1574612" y="571500"/>
                      <a:pt x="1543050" y="571500"/>
                    </a:cubicBezTo>
                    <a:lnTo>
                      <a:pt x="1485900" y="571500"/>
                    </a:lnTo>
                  </a:path>
                </a:pathLst>
              </a:custGeom>
              <a:noFill/>
              <a:ln w="1428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1" name="Group 10"/>
            <p:cNvGrpSpPr/>
            <p:nvPr/>
          </p:nvGrpSpPr>
          <p:grpSpPr>
            <a:xfrm>
              <a:off x="5509230" y="3476418"/>
              <a:ext cx="2704235" cy="462315"/>
              <a:chOff x="2114550" y="2286000"/>
              <a:chExt cx="1600200" cy="571500"/>
            </a:xfrm>
          </p:grpSpPr>
          <p:sp>
            <p:nvSpPr>
              <p:cNvPr id="24" name="Rounded Rectangle 22"/>
              <p:cNvSpPr/>
              <p:nvPr/>
            </p:nvSpPr>
            <p:spPr>
              <a:xfrm>
                <a:off x="2114550" y="2286000"/>
                <a:ext cx="1600200" cy="571500"/>
              </a:xfrm>
              <a:custGeom>
                <a:avLst/>
                <a:gdLst/>
                <a:ahLst/>
                <a:cxnLst/>
                <a:rect l="0" t="0" r="0" b="0"/>
                <a:pathLst>
                  <a:path w="1600200" h="571500">
                    <a:moveTo>
                      <a:pt x="0" y="57150"/>
                    </a:moveTo>
                    <a:cubicBezTo>
                      <a:pt x="0" y="25587"/>
                      <a:pt x="25587" y="0"/>
                      <a:pt x="57150" y="0"/>
                    </a:cubicBezTo>
                    <a:lnTo>
                      <a:pt x="114300" y="0"/>
                    </a:lnTo>
                    <a:lnTo>
                      <a:pt x="114300" y="114300"/>
                    </a:lnTo>
                    <a:lnTo>
                      <a:pt x="0" y="114300"/>
                    </a:lnTo>
                    <a:close/>
                    <a:moveTo>
                      <a:pt x="1485900" y="0"/>
                    </a:moveTo>
                    <a:lnTo>
                      <a:pt x="1485900" y="114300"/>
                    </a:lnTo>
                    <a:lnTo>
                      <a:pt x="114300" y="114300"/>
                    </a:lnTo>
                    <a:lnTo>
                      <a:pt x="114300" y="0"/>
                    </a:lnTo>
                    <a:close/>
                    <a:moveTo>
                      <a:pt x="1600200" y="114300"/>
                    </a:moveTo>
                    <a:lnTo>
                      <a:pt x="1485900" y="114300"/>
                    </a:lnTo>
                    <a:lnTo>
                      <a:pt x="1485900" y="0"/>
                    </a:lnTo>
                    <a:lnTo>
                      <a:pt x="1543050" y="0"/>
                    </a:lnTo>
                    <a:cubicBezTo>
                      <a:pt x="1574612" y="0"/>
                      <a:pt x="1600200" y="25587"/>
                      <a:pt x="1600200" y="57150"/>
                    </a:cubicBezTo>
                    <a:close/>
                    <a:moveTo>
                      <a:pt x="1600200" y="457200"/>
                    </a:moveTo>
                    <a:lnTo>
                      <a:pt x="0" y="457200"/>
                    </a:lnTo>
                    <a:lnTo>
                      <a:pt x="0" y="114300"/>
                    </a:lnTo>
                    <a:lnTo>
                      <a:pt x="1600200" y="114300"/>
                    </a:lnTo>
                    <a:close/>
                    <a:moveTo>
                      <a:pt x="0" y="457200"/>
                    </a:moveTo>
                    <a:lnTo>
                      <a:pt x="114300" y="457200"/>
                    </a:lnTo>
                    <a:lnTo>
                      <a:pt x="114300" y="571500"/>
                    </a:lnTo>
                    <a:lnTo>
                      <a:pt x="57150" y="571500"/>
                    </a:lnTo>
                    <a:cubicBezTo>
                      <a:pt x="25587" y="571500"/>
                      <a:pt x="0" y="545912"/>
                      <a:pt x="0" y="514350"/>
                    </a:cubicBezTo>
                    <a:close/>
                    <a:moveTo>
                      <a:pt x="114300" y="571500"/>
                    </a:moveTo>
                    <a:lnTo>
                      <a:pt x="114300" y="457200"/>
                    </a:lnTo>
                    <a:lnTo>
                      <a:pt x="1485900" y="457200"/>
                    </a:lnTo>
                    <a:lnTo>
                      <a:pt x="1485900" y="571500"/>
                    </a:lnTo>
                    <a:close/>
                    <a:moveTo>
                      <a:pt x="1485900" y="571500"/>
                    </a:moveTo>
                    <a:lnTo>
                      <a:pt x="1485900" y="457200"/>
                    </a:lnTo>
                    <a:lnTo>
                      <a:pt x="1600200" y="457200"/>
                    </a:lnTo>
                    <a:lnTo>
                      <a:pt x="1600200" y="514350"/>
                    </a:lnTo>
                    <a:cubicBezTo>
                      <a:pt x="1600200" y="545912"/>
                      <a:pt x="1574612" y="571500"/>
                      <a:pt x="1543050" y="571500"/>
                    </a:cubicBez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5" name="Rounded Rectangle 23"/>
              <p:cNvSpPr/>
              <p:nvPr/>
            </p:nvSpPr>
            <p:spPr>
              <a:xfrm>
                <a:off x="2114550" y="2286000"/>
                <a:ext cx="1600200" cy="571500"/>
              </a:xfrm>
              <a:custGeom>
                <a:avLst/>
                <a:gdLst/>
                <a:ahLst/>
                <a:cxnLst/>
                <a:rect l="0" t="0" r="0" b="0"/>
                <a:pathLst>
                  <a:path w="1600200" h="571500">
                    <a:moveTo>
                      <a:pt x="0" y="114300"/>
                    </a:moveTo>
                    <a:lnTo>
                      <a:pt x="0" y="57150"/>
                    </a:lnTo>
                    <a:cubicBezTo>
                      <a:pt x="0" y="25587"/>
                      <a:pt x="25587" y="0"/>
                      <a:pt x="57150" y="0"/>
                    </a:cubicBezTo>
                    <a:lnTo>
                      <a:pt x="114300" y="0"/>
                    </a:lnTo>
                    <a:moveTo>
                      <a:pt x="1600200" y="114300"/>
                    </a:moveTo>
                    <a:lnTo>
                      <a:pt x="1600200" y="457200"/>
                    </a:lnTo>
                    <a:moveTo>
                      <a:pt x="0" y="457200"/>
                    </a:moveTo>
                    <a:lnTo>
                      <a:pt x="0" y="114300"/>
                    </a:lnTo>
                    <a:moveTo>
                      <a:pt x="114300" y="0"/>
                    </a:moveTo>
                    <a:lnTo>
                      <a:pt x="1485900" y="0"/>
                    </a:lnTo>
                    <a:moveTo>
                      <a:pt x="114300" y="571500"/>
                    </a:moveTo>
                    <a:lnTo>
                      <a:pt x="57150" y="571500"/>
                    </a:lnTo>
                    <a:cubicBezTo>
                      <a:pt x="25587" y="571500"/>
                      <a:pt x="0" y="545912"/>
                      <a:pt x="0" y="514350"/>
                    </a:cubicBezTo>
                    <a:lnTo>
                      <a:pt x="0" y="457200"/>
                    </a:lnTo>
                    <a:moveTo>
                      <a:pt x="1485900" y="0"/>
                    </a:moveTo>
                    <a:lnTo>
                      <a:pt x="1543050" y="0"/>
                    </a:lnTo>
                    <a:cubicBezTo>
                      <a:pt x="1574612" y="0"/>
                      <a:pt x="1600200" y="25587"/>
                      <a:pt x="1600200" y="57150"/>
                    </a:cubicBezTo>
                    <a:lnTo>
                      <a:pt x="1600200" y="114300"/>
                    </a:lnTo>
                    <a:moveTo>
                      <a:pt x="1485900" y="571500"/>
                    </a:moveTo>
                    <a:lnTo>
                      <a:pt x="114300" y="571500"/>
                    </a:lnTo>
                    <a:moveTo>
                      <a:pt x="1600200" y="457200"/>
                    </a:moveTo>
                    <a:lnTo>
                      <a:pt x="1600200" y="514350"/>
                    </a:lnTo>
                    <a:cubicBezTo>
                      <a:pt x="1600200" y="545912"/>
                      <a:pt x="1574612" y="571500"/>
                      <a:pt x="1543050" y="571500"/>
                    </a:cubicBezTo>
                    <a:lnTo>
                      <a:pt x="1485900" y="571500"/>
                    </a:lnTo>
                  </a:path>
                </a:pathLst>
              </a:custGeom>
              <a:noFill/>
              <a:ln w="1428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2" name="Group 11"/>
            <p:cNvGrpSpPr/>
            <p:nvPr/>
          </p:nvGrpSpPr>
          <p:grpSpPr>
            <a:xfrm>
              <a:off x="8327897" y="3483645"/>
              <a:ext cx="2661698" cy="455088"/>
              <a:chOff x="3829050" y="2286000"/>
              <a:chExt cx="1600200" cy="571500"/>
            </a:xfrm>
          </p:grpSpPr>
          <p:sp>
            <p:nvSpPr>
              <p:cNvPr id="22" name="Rounded Rectangle 25"/>
              <p:cNvSpPr/>
              <p:nvPr/>
            </p:nvSpPr>
            <p:spPr>
              <a:xfrm>
                <a:off x="3829050" y="2286000"/>
                <a:ext cx="1600200" cy="571500"/>
              </a:xfrm>
              <a:custGeom>
                <a:avLst/>
                <a:gdLst/>
                <a:ahLst/>
                <a:cxnLst/>
                <a:rect l="0" t="0" r="0" b="0"/>
                <a:pathLst>
                  <a:path w="1600200" h="571500">
                    <a:moveTo>
                      <a:pt x="0" y="57150"/>
                    </a:moveTo>
                    <a:cubicBezTo>
                      <a:pt x="0" y="25587"/>
                      <a:pt x="25587" y="0"/>
                      <a:pt x="57150" y="0"/>
                    </a:cubicBezTo>
                    <a:lnTo>
                      <a:pt x="114300" y="0"/>
                    </a:lnTo>
                    <a:lnTo>
                      <a:pt x="114300" y="114300"/>
                    </a:lnTo>
                    <a:lnTo>
                      <a:pt x="0" y="114300"/>
                    </a:lnTo>
                    <a:close/>
                    <a:moveTo>
                      <a:pt x="1485900" y="0"/>
                    </a:moveTo>
                    <a:lnTo>
                      <a:pt x="1485900" y="114300"/>
                    </a:lnTo>
                    <a:lnTo>
                      <a:pt x="114300" y="114300"/>
                    </a:lnTo>
                    <a:lnTo>
                      <a:pt x="114300" y="0"/>
                    </a:lnTo>
                    <a:close/>
                    <a:moveTo>
                      <a:pt x="1600200" y="114300"/>
                    </a:moveTo>
                    <a:lnTo>
                      <a:pt x="1485900" y="114300"/>
                    </a:lnTo>
                    <a:lnTo>
                      <a:pt x="1485900" y="0"/>
                    </a:lnTo>
                    <a:lnTo>
                      <a:pt x="1543050" y="0"/>
                    </a:lnTo>
                    <a:cubicBezTo>
                      <a:pt x="1574612" y="0"/>
                      <a:pt x="1600200" y="25587"/>
                      <a:pt x="1600200" y="57150"/>
                    </a:cubicBezTo>
                    <a:close/>
                    <a:moveTo>
                      <a:pt x="1600200" y="457200"/>
                    </a:moveTo>
                    <a:lnTo>
                      <a:pt x="0" y="457200"/>
                    </a:lnTo>
                    <a:lnTo>
                      <a:pt x="0" y="114300"/>
                    </a:lnTo>
                    <a:lnTo>
                      <a:pt x="1600200" y="114300"/>
                    </a:lnTo>
                    <a:close/>
                    <a:moveTo>
                      <a:pt x="0" y="457200"/>
                    </a:moveTo>
                    <a:lnTo>
                      <a:pt x="114300" y="457200"/>
                    </a:lnTo>
                    <a:lnTo>
                      <a:pt x="114300" y="571500"/>
                    </a:lnTo>
                    <a:lnTo>
                      <a:pt x="57150" y="571500"/>
                    </a:lnTo>
                    <a:cubicBezTo>
                      <a:pt x="25587" y="571500"/>
                      <a:pt x="0" y="545912"/>
                      <a:pt x="0" y="514350"/>
                    </a:cubicBezTo>
                    <a:close/>
                    <a:moveTo>
                      <a:pt x="114300" y="571500"/>
                    </a:moveTo>
                    <a:lnTo>
                      <a:pt x="114300" y="457200"/>
                    </a:lnTo>
                    <a:lnTo>
                      <a:pt x="1485900" y="457200"/>
                    </a:lnTo>
                    <a:lnTo>
                      <a:pt x="1485900" y="571500"/>
                    </a:lnTo>
                    <a:close/>
                    <a:moveTo>
                      <a:pt x="1485900" y="571500"/>
                    </a:moveTo>
                    <a:lnTo>
                      <a:pt x="1485900" y="457200"/>
                    </a:lnTo>
                    <a:lnTo>
                      <a:pt x="1600200" y="457200"/>
                    </a:lnTo>
                    <a:lnTo>
                      <a:pt x="1600200" y="514350"/>
                    </a:lnTo>
                    <a:cubicBezTo>
                      <a:pt x="1600200" y="545912"/>
                      <a:pt x="1574612" y="571500"/>
                      <a:pt x="1543050" y="571500"/>
                    </a:cubicBez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3" name="Rounded Rectangle 26"/>
              <p:cNvSpPr/>
              <p:nvPr/>
            </p:nvSpPr>
            <p:spPr>
              <a:xfrm>
                <a:off x="3829050" y="2286000"/>
                <a:ext cx="1600200" cy="571500"/>
              </a:xfrm>
              <a:custGeom>
                <a:avLst/>
                <a:gdLst/>
                <a:ahLst/>
                <a:cxnLst/>
                <a:rect l="0" t="0" r="0" b="0"/>
                <a:pathLst>
                  <a:path w="1600200" h="571500">
                    <a:moveTo>
                      <a:pt x="0" y="114300"/>
                    </a:moveTo>
                    <a:lnTo>
                      <a:pt x="0" y="57150"/>
                    </a:lnTo>
                    <a:cubicBezTo>
                      <a:pt x="0" y="25587"/>
                      <a:pt x="25587" y="0"/>
                      <a:pt x="57150" y="0"/>
                    </a:cubicBezTo>
                    <a:lnTo>
                      <a:pt x="114300" y="0"/>
                    </a:lnTo>
                    <a:moveTo>
                      <a:pt x="1600200" y="114300"/>
                    </a:moveTo>
                    <a:lnTo>
                      <a:pt x="1600200" y="457200"/>
                    </a:lnTo>
                    <a:moveTo>
                      <a:pt x="0" y="457200"/>
                    </a:moveTo>
                    <a:lnTo>
                      <a:pt x="0" y="114300"/>
                    </a:lnTo>
                    <a:moveTo>
                      <a:pt x="114300" y="0"/>
                    </a:moveTo>
                    <a:lnTo>
                      <a:pt x="1485900" y="0"/>
                    </a:lnTo>
                    <a:moveTo>
                      <a:pt x="114300" y="571500"/>
                    </a:moveTo>
                    <a:lnTo>
                      <a:pt x="57150" y="571500"/>
                    </a:lnTo>
                    <a:cubicBezTo>
                      <a:pt x="25587" y="571500"/>
                      <a:pt x="0" y="545912"/>
                      <a:pt x="0" y="514350"/>
                    </a:cubicBezTo>
                    <a:lnTo>
                      <a:pt x="0" y="457200"/>
                    </a:lnTo>
                    <a:moveTo>
                      <a:pt x="1485900" y="0"/>
                    </a:moveTo>
                    <a:lnTo>
                      <a:pt x="1543050" y="0"/>
                    </a:lnTo>
                    <a:cubicBezTo>
                      <a:pt x="1574612" y="0"/>
                      <a:pt x="1600200" y="25587"/>
                      <a:pt x="1600200" y="57150"/>
                    </a:cubicBezTo>
                    <a:lnTo>
                      <a:pt x="1600200" y="114300"/>
                    </a:lnTo>
                    <a:moveTo>
                      <a:pt x="1485900" y="571500"/>
                    </a:moveTo>
                    <a:lnTo>
                      <a:pt x="114300" y="571500"/>
                    </a:lnTo>
                    <a:moveTo>
                      <a:pt x="1600200" y="457200"/>
                    </a:moveTo>
                    <a:lnTo>
                      <a:pt x="1600200" y="514350"/>
                    </a:lnTo>
                    <a:cubicBezTo>
                      <a:pt x="1600200" y="545912"/>
                      <a:pt x="1574612" y="571500"/>
                      <a:pt x="1543050" y="571500"/>
                    </a:cubicBezTo>
                    <a:lnTo>
                      <a:pt x="1485900" y="571500"/>
                    </a:lnTo>
                  </a:path>
                </a:pathLst>
              </a:custGeom>
              <a:noFill/>
              <a:ln w="1428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
          <p:nvSpPr>
            <p:cNvPr id="19" name="TextBox 35"/>
            <p:cNvSpPr txBox="1"/>
            <p:nvPr/>
          </p:nvSpPr>
          <p:spPr>
            <a:xfrm>
              <a:off x="2511217" y="3557649"/>
              <a:ext cx="2288568" cy="307777"/>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FFFFFF"/>
                  </a:solidFill>
                </a:rPr>
                <a:t>Example</a:t>
              </a:r>
            </a:p>
          </p:txBody>
        </p:sp>
        <p:sp>
          <p:nvSpPr>
            <p:cNvPr id="20" name="TextBox 36"/>
            <p:cNvSpPr txBox="1"/>
            <p:nvPr/>
          </p:nvSpPr>
          <p:spPr>
            <a:xfrm>
              <a:off x="5509230" y="3557649"/>
              <a:ext cx="2772702" cy="276999"/>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Shares sold within a</a:t>
              </a:r>
              <a:r>
                <a:rPr lang="en-US" b="0" dirty="0">
                  <a:solidFill>
                    <a:srgbClr val="FFFFFF"/>
                  </a:solidFill>
                </a:rPr>
                <a:t> </a:t>
              </a:r>
              <a:r>
                <a:rPr b="0" dirty="0">
                  <a:solidFill>
                    <a:srgbClr val="FFFFFF"/>
                  </a:solidFill>
                </a:rPr>
                <a:t>year</a:t>
              </a:r>
            </a:p>
          </p:txBody>
        </p:sp>
        <p:sp>
          <p:nvSpPr>
            <p:cNvPr id="21" name="TextBox 37"/>
            <p:cNvSpPr txBox="1"/>
            <p:nvPr/>
          </p:nvSpPr>
          <p:spPr>
            <a:xfrm>
              <a:off x="8682087" y="3573743"/>
              <a:ext cx="1910779"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Land held for 4 years</a:t>
              </a:r>
            </a:p>
          </p:txBody>
        </p:sp>
        <p:grpSp>
          <p:nvGrpSpPr>
            <p:cNvPr id="80" name="Group 79"/>
            <p:cNvGrpSpPr/>
            <p:nvPr/>
          </p:nvGrpSpPr>
          <p:grpSpPr>
            <a:xfrm>
              <a:off x="1921738" y="1121631"/>
              <a:ext cx="3471987" cy="651243"/>
              <a:chOff x="400050" y="1143000"/>
              <a:chExt cx="2857500" cy="685800"/>
            </a:xfrm>
          </p:grpSpPr>
          <p:sp>
            <p:nvSpPr>
              <p:cNvPr id="114" name="Rounded Rectangle 1"/>
              <p:cNvSpPr/>
              <p:nvPr/>
            </p:nvSpPr>
            <p:spPr>
              <a:xfrm>
                <a:off x="400050" y="1143000"/>
                <a:ext cx="2857500" cy="685800"/>
              </a:xfrm>
              <a:custGeom>
                <a:avLst/>
                <a:gdLst/>
                <a:ahLst/>
                <a:cxnLst/>
                <a:rect l="0" t="0" r="0" b="0"/>
                <a:pathLst>
                  <a:path w="2857500" h="685800">
                    <a:moveTo>
                      <a:pt x="0" y="57150"/>
                    </a:moveTo>
                    <a:cubicBezTo>
                      <a:pt x="0" y="25587"/>
                      <a:pt x="25587" y="0"/>
                      <a:pt x="57150" y="0"/>
                    </a:cubicBezTo>
                    <a:lnTo>
                      <a:pt x="114300" y="0"/>
                    </a:lnTo>
                    <a:lnTo>
                      <a:pt x="114300" y="114300"/>
                    </a:lnTo>
                    <a:lnTo>
                      <a:pt x="0" y="114300"/>
                    </a:lnTo>
                    <a:close/>
                    <a:moveTo>
                      <a:pt x="2743200" y="0"/>
                    </a:moveTo>
                    <a:lnTo>
                      <a:pt x="2743200" y="114300"/>
                    </a:lnTo>
                    <a:lnTo>
                      <a:pt x="114300" y="114300"/>
                    </a:lnTo>
                    <a:lnTo>
                      <a:pt x="114300" y="0"/>
                    </a:lnTo>
                    <a:close/>
                    <a:moveTo>
                      <a:pt x="2857500" y="114300"/>
                    </a:moveTo>
                    <a:lnTo>
                      <a:pt x="2743200" y="114300"/>
                    </a:lnTo>
                    <a:lnTo>
                      <a:pt x="2743200" y="0"/>
                    </a:lnTo>
                    <a:lnTo>
                      <a:pt x="2800350" y="0"/>
                    </a:lnTo>
                    <a:cubicBezTo>
                      <a:pt x="2831912" y="0"/>
                      <a:pt x="2857500" y="25587"/>
                      <a:pt x="2857500" y="57150"/>
                    </a:cubicBezTo>
                    <a:close/>
                    <a:moveTo>
                      <a:pt x="2857500" y="571500"/>
                    </a:moveTo>
                    <a:lnTo>
                      <a:pt x="0" y="571500"/>
                    </a:lnTo>
                    <a:lnTo>
                      <a:pt x="0" y="114300"/>
                    </a:lnTo>
                    <a:lnTo>
                      <a:pt x="2857500" y="114300"/>
                    </a:lnTo>
                    <a:close/>
                    <a:moveTo>
                      <a:pt x="0" y="571500"/>
                    </a:moveTo>
                    <a:lnTo>
                      <a:pt x="114300" y="571500"/>
                    </a:lnTo>
                    <a:lnTo>
                      <a:pt x="114300" y="685800"/>
                    </a:lnTo>
                    <a:lnTo>
                      <a:pt x="57150" y="685800"/>
                    </a:lnTo>
                    <a:cubicBezTo>
                      <a:pt x="25587" y="685800"/>
                      <a:pt x="0" y="660212"/>
                      <a:pt x="0" y="628650"/>
                    </a:cubicBezTo>
                    <a:close/>
                    <a:moveTo>
                      <a:pt x="114300" y="685800"/>
                    </a:moveTo>
                    <a:lnTo>
                      <a:pt x="114300" y="571500"/>
                    </a:lnTo>
                    <a:lnTo>
                      <a:pt x="2743200" y="571500"/>
                    </a:lnTo>
                    <a:lnTo>
                      <a:pt x="2743200" y="685800"/>
                    </a:lnTo>
                    <a:close/>
                    <a:moveTo>
                      <a:pt x="2743200" y="685800"/>
                    </a:moveTo>
                    <a:lnTo>
                      <a:pt x="2743200" y="571500"/>
                    </a:lnTo>
                    <a:lnTo>
                      <a:pt x="2857500" y="571500"/>
                    </a:lnTo>
                    <a:lnTo>
                      <a:pt x="2857500" y="628650"/>
                    </a:lnTo>
                    <a:cubicBezTo>
                      <a:pt x="2857500" y="660212"/>
                      <a:pt x="2831912" y="685800"/>
                      <a:pt x="2800350" y="685800"/>
                    </a:cubicBezTo>
                    <a:close/>
                  </a:path>
                </a:pathLst>
              </a:custGeom>
              <a:solidFill>
                <a:srgbClr val="666666"/>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15" name="Rounded Rectangle 2"/>
              <p:cNvSpPr/>
              <p:nvPr/>
            </p:nvSpPr>
            <p:spPr>
              <a:xfrm>
                <a:off x="400050" y="1143000"/>
                <a:ext cx="2857500" cy="685800"/>
              </a:xfrm>
              <a:custGeom>
                <a:avLst/>
                <a:gdLst/>
                <a:ahLst/>
                <a:cxnLst/>
                <a:rect l="0" t="0" r="0" b="0"/>
                <a:pathLst>
                  <a:path w="2857500" h="685800">
                    <a:moveTo>
                      <a:pt x="0" y="114300"/>
                    </a:moveTo>
                    <a:lnTo>
                      <a:pt x="0" y="57150"/>
                    </a:lnTo>
                    <a:cubicBezTo>
                      <a:pt x="0" y="25587"/>
                      <a:pt x="25587" y="0"/>
                      <a:pt x="57150" y="0"/>
                    </a:cubicBezTo>
                    <a:lnTo>
                      <a:pt x="114300" y="0"/>
                    </a:lnTo>
                    <a:moveTo>
                      <a:pt x="2857500" y="114300"/>
                    </a:moveTo>
                    <a:lnTo>
                      <a:pt x="2857500" y="571500"/>
                    </a:lnTo>
                    <a:moveTo>
                      <a:pt x="0" y="571500"/>
                    </a:moveTo>
                    <a:lnTo>
                      <a:pt x="0" y="114300"/>
                    </a:lnTo>
                    <a:moveTo>
                      <a:pt x="114300" y="0"/>
                    </a:moveTo>
                    <a:lnTo>
                      <a:pt x="2743200" y="0"/>
                    </a:lnTo>
                    <a:moveTo>
                      <a:pt x="114300" y="685800"/>
                    </a:moveTo>
                    <a:lnTo>
                      <a:pt x="57150" y="685800"/>
                    </a:lnTo>
                    <a:cubicBezTo>
                      <a:pt x="25587" y="685800"/>
                      <a:pt x="0" y="660212"/>
                      <a:pt x="0" y="628650"/>
                    </a:cubicBezTo>
                    <a:lnTo>
                      <a:pt x="0" y="571500"/>
                    </a:lnTo>
                    <a:moveTo>
                      <a:pt x="2743200" y="0"/>
                    </a:moveTo>
                    <a:lnTo>
                      <a:pt x="2800350" y="0"/>
                    </a:lnTo>
                    <a:cubicBezTo>
                      <a:pt x="2831912" y="0"/>
                      <a:pt x="2857500" y="25587"/>
                      <a:pt x="2857500" y="57150"/>
                    </a:cubicBezTo>
                    <a:lnTo>
                      <a:pt x="2857500" y="114300"/>
                    </a:lnTo>
                    <a:moveTo>
                      <a:pt x="2743200" y="685800"/>
                    </a:moveTo>
                    <a:lnTo>
                      <a:pt x="114300" y="685800"/>
                    </a:lnTo>
                    <a:moveTo>
                      <a:pt x="2857500" y="571500"/>
                    </a:moveTo>
                    <a:lnTo>
                      <a:pt x="2857500" y="628650"/>
                    </a:lnTo>
                    <a:cubicBezTo>
                      <a:pt x="2857500" y="660212"/>
                      <a:pt x="2831912" y="685800"/>
                      <a:pt x="2800350" y="685800"/>
                    </a:cubicBezTo>
                    <a:lnTo>
                      <a:pt x="2743200" y="685800"/>
                    </a:lnTo>
                  </a:path>
                </a:pathLst>
              </a:custGeom>
              <a:noFill/>
              <a:ln w="1428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81" name="Group 80"/>
            <p:cNvGrpSpPr/>
            <p:nvPr/>
          </p:nvGrpSpPr>
          <p:grpSpPr>
            <a:xfrm>
              <a:off x="5512520" y="1116693"/>
              <a:ext cx="2700945" cy="655293"/>
              <a:chOff x="3371850" y="1143000"/>
              <a:chExt cx="1485900" cy="685800"/>
            </a:xfrm>
          </p:grpSpPr>
          <p:sp>
            <p:nvSpPr>
              <p:cNvPr id="112" name="Rounded Rectangle 4"/>
              <p:cNvSpPr/>
              <p:nvPr/>
            </p:nvSpPr>
            <p:spPr>
              <a:xfrm>
                <a:off x="3371850" y="1143000"/>
                <a:ext cx="1485900" cy="685800"/>
              </a:xfrm>
              <a:custGeom>
                <a:avLst/>
                <a:gdLst/>
                <a:ahLst/>
                <a:cxnLst/>
                <a:rect l="0" t="0" r="0" b="0"/>
                <a:pathLst>
                  <a:path w="1485900" h="685800">
                    <a:moveTo>
                      <a:pt x="0" y="57150"/>
                    </a:moveTo>
                    <a:cubicBezTo>
                      <a:pt x="0" y="25587"/>
                      <a:pt x="25587" y="0"/>
                      <a:pt x="57150" y="0"/>
                    </a:cubicBezTo>
                    <a:lnTo>
                      <a:pt x="114300" y="0"/>
                    </a:lnTo>
                    <a:lnTo>
                      <a:pt x="114300" y="114300"/>
                    </a:lnTo>
                    <a:lnTo>
                      <a:pt x="0" y="114300"/>
                    </a:lnTo>
                    <a:close/>
                    <a:moveTo>
                      <a:pt x="1371600" y="0"/>
                    </a:moveTo>
                    <a:lnTo>
                      <a:pt x="1371600" y="114300"/>
                    </a:lnTo>
                    <a:lnTo>
                      <a:pt x="114300" y="114300"/>
                    </a:lnTo>
                    <a:lnTo>
                      <a:pt x="114300" y="0"/>
                    </a:lnTo>
                    <a:close/>
                    <a:moveTo>
                      <a:pt x="1485900" y="114300"/>
                    </a:moveTo>
                    <a:lnTo>
                      <a:pt x="1371600" y="114300"/>
                    </a:lnTo>
                    <a:lnTo>
                      <a:pt x="1371600" y="0"/>
                    </a:lnTo>
                    <a:lnTo>
                      <a:pt x="1428750" y="0"/>
                    </a:lnTo>
                    <a:cubicBezTo>
                      <a:pt x="1460312" y="0"/>
                      <a:pt x="1485900" y="25587"/>
                      <a:pt x="1485900" y="57150"/>
                    </a:cubicBezTo>
                    <a:close/>
                    <a:moveTo>
                      <a:pt x="1485900" y="571500"/>
                    </a:moveTo>
                    <a:lnTo>
                      <a:pt x="0" y="571500"/>
                    </a:lnTo>
                    <a:lnTo>
                      <a:pt x="0" y="114300"/>
                    </a:lnTo>
                    <a:lnTo>
                      <a:pt x="1485900" y="114300"/>
                    </a:lnTo>
                    <a:close/>
                    <a:moveTo>
                      <a:pt x="0" y="571500"/>
                    </a:moveTo>
                    <a:lnTo>
                      <a:pt x="114300" y="571500"/>
                    </a:lnTo>
                    <a:lnTo>
                      <a:pt x="114300" y="685800"/>
                    </a:lnTo>
                    <a:lnTo>
                      <a:pt x="57150" y="685800"/>
                    </a:lnTo>
                    <a:cubicBezTo>
                      <a:pt x="25587" y="685800"/>
                      <a:pt x="0" y="660212"/>
                      <a:pt x="0" y="628650"/>
                    </a:cubicBezTo>
                    <a:close/>
                    <a:moveTo>
                      <a:pt x="114300" y="685800"/>
                    </a:moveTo>
                    <a:lnTo>
                      <a:pt x="114300" y="571500"/>
                    </a:lnTo>
                    <a:lnTo>
                      <a:pt x="1371600" y="571500"/>
                    </a:lnTo>
                    <a:lnTo>
                      <a:pt x="1371600" y="685800"/>
                    </a:lnTo>
                    <a:close/>
                    <a:moveTo>
                      <a:pt x="1371600" y="685800"/>
                    </a:moveTo>
                    <a:lnTo>
                      <a:pt x="1371600" y="571500"/>
                    </a:lnTo>
                    <a:lnTo>
                      <a:pt x="1485900" y="571500"/>
                    </a:lnTo>
                    <a:lnTo>
                      <a:pt x="1485900" y="628650"/>
                    </a:lnTo>
                    <a:cubicBezTo>
                      <a:pt x="1485900" y="660212"/>
                      <a:pt x="1460312" y="685800"/>
                      <a:pt x="1428750" y="685800"/>
                    </a:cubicBezTo>
                    <a:close/>
                  </a:path>
                </a:pathLst>
              </a:custGeom>
              <a:solidFill>
                <a:srgbClr val="666666"/>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13" name="Rounded Rectangle 5"/>
              <p:cNvSpPr/>
              <p:nvPr/>
            </p:nvSpPr>
            <p:spPr>
              <a:xfrm>
                <a:off x="3371850" y="1143000"/>
                <a:ext cx="1485900" cy="685800"/>
              </a:xfrm>
              <a:custGeom>
                <a:avLst/>
                <a:gdLst/>
                <a:ahLst/>
                <a:cxnLst/>
                <a:rect l="0" t="0" r="0" b="0"/>
                <a:pathLst>
                  <a:path w="1485900" h="685800">
                    <a:moveTo>
                      <a:pt x="0" y="114300"/>
                    </a:moveTo>
                    <a:lnTo>
                      <a:pt x="0" y="57150"/>
                    </a:lnTo>
                    <a:cubicBezTo>
                      <a:pt x="0" y="25587"/>
                      <a:pt x="25587" y="0"/>
                      <a:pt x="57150" y="0"/>
                    </a:cubicBezTo>
                    <a:lnTo>
                      <a:pt x="114300" y="0"/>
                    </a:lnTo>
                    <a:moveTo>
                      <a:pt x="1485900" y="114300"/>
                    </a:moveTo>
                    <a:lnTo>
                      <a:pt x="1485900" y="571500"/>
                    </a:lnTo>
                    <a:moveTo>
                      <a:pt x="0" y="571500"/>
                    </a:moveTo>
                    <a:lnTo>
                      <a:pt x="0" y="114300"/>
                    </a:lnTo>
                    <a:moveTo>
                      <a:pt x="114300" y="0"/>
                    </a:moveTo>
                    <a:lnTo>
                      <a:pt x="1371600" y="0"/>
                    </a:lnTo>
                    <a:moveTo>
                      <a:pt x="114300" y="685800"/>
                    </a:moveTo>
                    <a:lnTo>
                      <a:pt x="57150" y="685800"/>
                    </a:lnTo>
                    <a:cubicBezTo>
                      <a:pt x="25587" y="685800"/>
                      <a:pt x="0" y="660212"/>
                      <a:pt x="0" y="628650"/>
                    </a:cubicBezTo>
                    <a:lnTo>
                      <a:pt x="0" y="571500"/>
                    </a:lnTo>
                    <a:moveTo>
                      <a:pt x="1371600" y="0"/>
                    </a:moveTo>
                    <a:lnTo>
                      <a:pt x="1428750" y="0"/>
                    </a:lnTo>
                    <a:cubicBezTo>
                      <a:pt x="1460312" y="0"/>
                      <a:pt x="1485900" y="25587"/>
                      <a:pt x="1485900" y="57150"/>
                    </a:cubicBezTo>
                    <a:lnTo>
                      <a:pt x="1485900" y="114300"/>
                    </a:lnTo>
                    <a:moveTo>
                      <a:pt x="1371600" y="685800"/>
                    </a:moveTo>
                    <a:lnTo>
                      <a:pt x="114300" y="685800"/>
                    </a:lnTo>
                    <a:moveTo>
                      <a:pt x="1485900" y="571500"/>
                    </a:moveTo>
                    <a:lnTo>
                      <a:pt x="1485900" y="628650"/>
                    </a:lnTo>
                    <a:cubicBezTo>
                      <a:pt x="1485900" y="660212"/>
                      <a:pt x="1460312" y="685800"/>
                      <a:pt x="1428750" y="685800"/>
                    </a:cubicBezTo>
                    <a:lnTo>
                      <a:pt x="1371600" y="685800"/>
                    </a:lnTo>
                  </a:path>
                </a:pathLst>
              </a:custGeom>
              <a:noFill/>
              <a:ln w="1428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82" name="Group 81"/>
            <p:cNvGrpSpPr/>
            <p:nvPr/>
          </p:nvGrpSpPr>
          <p:grpSpPr>
            <a:xfrm>
              <a:off x="8335464" y="1120490"/>
              <a:ext cx="2635387" cy="649466"/>
              <a:chOff x="4972050" y="1143000"/>
              <a:chExt cx="1485900" cy="685800"/>
            </a:xfrm>
          </p:grpSpPr>
          <p:sp>
            <p:nvSpPr>
              <p:cNvPr id="110" name="Rounded Rectangle 7"/>
              <p:cNvSpPr/>
              <p:nvPr/>
            </p:nvSpPr>
            <p:spPr>
              <a:xfrm>
                <a:off x="4972050" y="1143000"/>
                <a:ext cx="1485900" cy="685800"/>
              </a:xfrm>
              <a:custGeom>
                <a:avLst/>
                <a:gdLst/>
                <a:ahLst/>
                <a:cxnLst/>
                <a:rect l="0" t="0" r="0" b="0"/>
                <a:pathLst>
                  <a:path w="1485900" h="685800">
                    <a:moveTo>
                      <a:pt x="0" y="57150"/>
                    </a:moveTo>
                    <a:cubicBezTo>
                      <a:pt x="0" y="25587"/>
                      <a:pt x="25587" y="0"/>
                      <a:pt x="57150" y="0"/>
                    </a:cubicBezTo>
                    <a:lnTo>
                      <a:pt x="114300" y="0"/>
                    </a:lnTo>
                    <a:lnTo>
                      <a:pt x="114300" y="114300"/>
                    </a:lnTo>
                    <a:lnTo>
                      <a:pt x="0" y="114300"/>
                    </a:lnTo>
                    <a:close/>
                    <a:moveTo>
                      <a:pt x="1371600" y="0"/>
                    </a:moveTo>
                    <a:lnTo>
                      <a:pt x="1371600" y="114300"/>
                    </a:lnTo>
                    <a:lnTo>
                      <a:pt x="114300" y="114300"/>
                    </a:lnTo>
                    <a:lnTo>
                      <a:pt x="114300" y="0"/>
                    </a:lnTo>
                    <a:close/>
                    <a:moveTo>
                      <a:pt x="1485900" y="114300"/>
                    </a:moveTo>
                    <a:lnTo>
                      <a:pt x="1371600" y="114300"/>
                    </a:lnTo>
                    <a:lnTo>
                      <a:pt x="1371600" y="0"/>
                    </a:lnTo>
                    <a:lnTo>
                      <a:pt x="1428750" y="0"/>
                    </a:lnTo>
                    <a:cubicBezTo>
                      <a:pt x="1460312" y="0"/>
                      <a:pt x="1485900" y="25587"/>
                      <a:pt x="1485900" y="57150"/>
                    </a:cubicBezTo>
                    <a:close/>
                    <a:moveTo>
                      <a:pt x="1485900" y="571500"/>
                    </a:moveTo>
                    <a:lnTo>
                      <a:pt x="0" y="571500"/>
                    </a:lnTo>
                    <a:lnTo>
                      <a:pt x="0" y="114300"/>
                    </a:lnTo>
                    <a:lnTo>
                      <a:pt x="1485900" y="114300"/>
                    </a:lnTo>
                    <a:close/>
                    <a:moveTo>
                      <a:pt x="0" y="571500"/>
                    </a:moveTo>
                    <a:lnTo>
                      <a:pt x="114300" y="571500"/>
                    </a:lnTo>
                    <a:lnTo>
                      <a:pt x="114300" y="685800"/>
                    </a:lnTo>
                    <a:lnTo>
                      <a:pt x="57150" y="685800"/>
                    </a:lnTo>
                    <a:cubicBezTo>
                      <a:pt x="25587" y="685800"/>
                      <a:pt x="0" y="660212"/>
                      <a:pt x="0" y="628650"/>
                    </a:cubicBezTo>
                    <a:close/>
                    <a:moveTo>
                      <a:pt x="114300" y="685800"/>
                    </a:moveTo>
                    <a:lnTo>
                      <a:pt x="114300" y="571500"/>
                    </a:lnTo>
                    <a:lnTo>
                      <a:pt x="1371600" y="571500"/>
                    </a:lnTo>
                    <a:lnTo>
                      <a:pt x="1371600" y="685800"/>
                    </a:lnTo>
                    <a:close/>
                    <a:moveTo>
                      <a:pt x="1371600" y="685800"/>
                    </a:moveTo>
                    <a:lnTo>
                      <a:pt x="1371600" y="571500"/>
                    </a:lnTo>
                    <a:lnTo>
                      <a:pt x="1485900" y="571500"/>
                    </a:lnTo>
                    <a:lnTo>
                      <a:pt x="1485900" y="628650"/>
                    </a:lnTo>
                    <a:cubicBezTo>
                      <a:pt x="1485900" y="660212"/>
                      <a:pt x="1460312" y="685800"/>
                      <a:pt x="1428750" y="685800"/>
                    </a:cubicBezTo>
                    <a:close/>
                  </a:path>
                </a:pathLst>
              </a:custGeom>
              <a:solidFill>
                <a:srgbClr val="666666"/>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11" name="Rounded Rectangle 8"/>
              <p:cNvSpPr/>
              <p:nvPr/>
            </p:nvSpPr>
            <p:spPr>
              <a:xfrm>
                <a:off x="4972050" y="1143000"/>
                <a:ext cx="1485900" cy="685800"/>
              </a:xfrm>
              <a:custGeom>
                <a:avLst/>
                <a:gdLst/>
                <a:ahLst/>
                <a:cxnLst/>
                <a:rect l="0" t="0" r="0" b="0"/>
                <a:pathLst>
                  <a:path w="1485900" h="685800">
                    <a:moveTo>
                      <a:pt x="0" y="114300"/>
                    </a:moveTo>
                    <a:lnTo>
                      <a:pt x="0" y="57150"/>
                    </a:lnTo>
                    <a:cubicBezTo>
                      <a:pt x="0" y="25587"/>
                      <a:pt x="25587" y="0"/>
                      <a:pt x="57150" y="0"/>
                    </a:cubicBezTo>
                    <a:lnTo>
                      <a:pt x="114300" y="0"/>
                    </a:lnTo>
                    <a:moveTo>
                      <a:pt x="1485900" y="114300"/>
                    </a:moveTo>
                    <a:lnTo>
                      <a:pt x="1485900" y="571500"/>
                    </a:lnTo>
                    <a:moveTo>
                      <a:pt x="0" y="571500"/>
                    </a:moveTo>
                    <a:lnTo>
                      <a:pt x="0" y="114300"/>
                    </a:lnTo>
                    <a:moveTo>
                      <a:pt x="114300" y="0"/>
                    </a:moveTo>
                    <a:lnTo>
                      <a:pt x="1371600" y="0"/>
                    </a:lnTo>
                    <a:moveTo>
                      <a:pt x="114300" y="685800"/>
                    </a:moveTo>
                    <a:lnTo>
                      <a:pt x="57150" y="685800"/>
                    </a:lnTo>
                    <a:cubicBezTo>
                      <a:pt x="25587" y="685800"/>
                      <a:pt x="0" y="660212"/>
                      <a:pt x="0" y="628650"/>
                    </a:cubicBezTo>
                    <a:lnTo>
                      <a:pt x="0" y="571500"/>
                    </a:lnTo>
                    <a:moveTo>
                      <a:pt x="1371600" y="0"/>
                    </a:moveTo>
                    <a:lnTo>
                      <a:pt x="1428750" y="0"/>
                    </a:lnTo>
                    <a:cubicBezTo>
                      <a:pt x="1460312" y="0"/>
                      <a:pt x="1485900" y="25587"/>
                      <a:pt x="1485900" y="57150"/>
                    </a:cubicBezTo>
                    <a:lnTo>
                      <a:pt x="1485900" y="114300"/>
                    </a:lnTo>
                    <a:moveTo>
                      <a:pt x="1371600" y="685800"/>
                    </a:moveTo>
                    <a:lnTo>
                      <a:pt x="114300" y="685800"/>
                    </a:lnTo>
                    <a:moveTo>
                      <a:pt x="1485900" y="571500"/>
                    </a:moveTo>
                    <a:lnTo>
                      <a:pt x="1485900" y="628650"/>
                    </a:lnTo>
                    <a:cubicBezTo>
                      <a:pt x="1485900" y="660212"/>
                      <a:pt x="1460312" y="685800"/>
                      <a:pt x="1428750" y="685800"/>
                    </a:cubicBezTo>
                    <a:lnTo>
                      <a:pt x="1371600" y="685800"/>
                    </a:lnTo>
                  </a:path>
                </a:pathLst>
              </a:custGeom>
              <a:noFill/>
              <a:ln w="1428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83" name="Group 82"/>
            <p:cNvGrpSpPr/>
            <p:nvPr/>
          </p:nvGrpSpPr>
          <p:grpSpPr>
            <a:xfrm>
              <a:off x="1919511" y="1902906"/>
              <a:ext cx="3471987" cy="912955"/>
              <a:chOff x="400050" y="1943100"/>
              <a:chExt cx="2857500" cy="914400"/>
            </a:xfrm>
          </p:grpSpPr>
          <p:sp>
            <p:nvSpPr>
              <p:cNvPr id="108" name="Rounded Rectangle 10"/>
              <p:cNvSpPr/>
              <p:nvPr/>
            </p:nvSpPr>
            <p:spPr>
              <a:xfrm>
                <a:off x="400050" y="1943100"/>
                <a:ext cx="2857500" cy="914400"/>
              </a:xfrm>
              <a:custGeom>
                <a:avLst/>
                <a:gdLst/>
                <a:ahLst/>
                <a:cxnLst/>
                <a:rect l="0" t="0" r="0" b="0"/>
                <a:pathLst>
                  <a:path w="2857500" h="914400">
                    <a:moveTo>
                      <a:pt x="0" y="57150"/>
                    </a:moveTo>
                    <a:cubicBezTo>
                      <a:pt x="0" y="25587"/>
                      <a:pt x="25587" y="0"/>
                      <a:pt x="57150" y="0"/>
                    </a:cubicBezTo>
                    <a:lnTo>
                      <a:pt x="114300" y="0"/>
                    </a:lnTo>
                    <a:lnTo>
                      <a:pt x="114300" y="114300"/>
                    </a:lnTo>
                    <a:lnTo>
                      <a:pt x="0" y="114300"/>
                    </a:lnTo>
                    <a:close/>
                    <a:moveTo>
                      <a:pt x="2743200" y="0"/>
                    </a:moveTo>
                    <a:lnTo>
                      <a:pt x="2743200" y="114300"/>
                    </a:lnTo>
                    <a:lnTo>
                      <a:pt x="114300" y="114300"/>
                    </a:lnTo>
                    <a:lnTo>
                      <a:pt x="114300" y="0"/>
                    </a:lnTo>
                    <a:close/>
                    <a:moveTo>
                      <a:pt x="2857500" y="114300"/>
                    </a:moveTo>
                    <a:lnTo>
                      <a:pt x="2743200" y="114300"/>
                    </a:lnTo>
                    <a:lnTo>
                      <a:pt x="2743200" y="0"/>
                    </a:lnTo>
                    <a:lnTo>
                      <a:pt x="2800350" y="0"/>
                    </a:lnTo>
                    <a:cubicBezTo>
                      <a:pt x="2831912" y="0"/>
                      <a:pt x="2857500" y="25587"/>
                      <a:pt x="2857500" y="57150"/>
                    </a:cubicBezTo>
                    <a:close/>
                    <a:moveTo>
                      <a:pt x="2857500" y="800100"/>
                    </a:moveTo>
                    <a:lnTo>
                      <a:pt x="0" y="800100"/>
                    </a:lnTo>
                    <a:lnTo>
                      <a:pt x="0" y="114300"/>
                    </a:lnTo>
                    <a:lnTo>
                      <a:pt x="2857500" y="114300"/>
                    </a:lnTo>
                    <a:close/>
                    <a:moveTo>
                      <a:pt x="0" y="800100"/>
                    </a:moveTo>
                    <a:lnTo>
                      <a:pt x="114300" y="800100"/>
                    </a:lnTo>
                    <a:lnTo>
                      <a:pt x="114300" y="914400"/>
                    </a:lnTo>
                    <a:lnTo>
                      <a:pt x="57150" y="914400"/>
                    </a:lnTo>
                    <a:cubicBezTo>
                      <a:pt x="25587" y="914400"/>
                      <a:pt x="0" y="888812"/>
                      <a:pt x="0" y="857250"/>
                    </a:cubicBezTo>
                    <a:close/>
                    <a:moveTo>
                      <a:pt x="114300" y="914400"/>
                    </a:moveTo>
                    <a:lnTo>
                      <a:pt x="114300" y="800100"/>
                    </a:lnTo>
                    <a:lnTo>
                      <a:pt x="2743200" y="800100"/>
                    </a:lnTo>
                    <a:lnTo>
                      <a:pt x="2743200" y="914400"/>
                    </a:lnTo>
                    <a:close/>
                    <a:moveTo>
                      <a:pt x="2743200" y="914400"/>
                    </a:moveTo>
                    <a:lnTo>
                      <a:pt x="2743200" y="800100"/>
                    </a:lnTo>
                    <a:lnTo>
                      <a:pt x="2857500" y="800100"/>
                    </a:lnTo>
                    <a:lnTo>
                      <a:pt x="2857500" y="857250"/>
                    </a:lnTo>
                    <a:cubicBezTo>
                      <a:pt x="2857500" y="888812"/>
                      <a:pt x="2831912" y="914400"/>
                      <a:pt x="2800350" y="914400"/>
                    </a:cubicBez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09" name="Rounded Rectangle 11"/>
              <p:cNvSpPr/>
              <p:nvPr/>
            </p:nvSpPr>
            <p:spPr>
              <a:xfrm>
                <a:off x="400050" y="1943100"/>
                <a:ext cx="2857500" cy="914400"/>
              </a:xfrm>
              <a:custGeom>
                <a:avLst/>
                <a:gdLst/>
                <a:ahLst/>
                <a:cxnLst/>
                <a:rect l="0" t="0" r="0" b="0"/>
                <a:pathLst>
                  <a:path w="2857500" h="914400">
                    <a:moveTo>
                      <a:pt x="0" y="114300"/>
                    </a:moveTo>
                    <a:lnTo>
                      <a:pt x="0" y="57150"/>
                    </a:lnTo>
                    <a:cubicBezTo>
                      <a:pt x="0" y="25587"/>
                      <a:pt x="25587" y="0"/>
                      <a:pt x="57150" y="0"/>
                    </a:cubicBezTo>
                    <a:lnTo>
                      <a:pt x="114300" y="0"/>
                    </a:lnTo>
                    <a:moveTo>
                      <a:pt x="2857500" y="114300"/>
                    </a:moveTo>
                    <a:lnTo>
                      <a:pt x="2857500" y="800100"/>
                    </a:lnTo>
                    <a:moveTo>
                      <a:pt x="0" y="800100"/>
                    </a:moveTo>
                    <a:lnTo>
                      <a:pt x="0" y="114300"/>
                    </a:lnTo>
                    <a:moveTo>
                      <a:pt x="114300" y="0"/>
                    </a:moveTo>
                    <a:lnTo>
                      <a:pt x="2743200" y="0"/>
                    </a:lnTo>
                    <a:moveTo>
                      <a:pt x="114300" y="914400"/>
                    </a:moveTo>
                    <a:lnTo>
                      <a:pt x="57150" y="914400"/>
                    </a:lnTo>
                    <a:cubicBezTo>
                      <a:pt x="25587" y="914400"/>
                      <a:pt x="0" y="888812"/>
                      <a:pt x="0" y="857250"/>
                    </a:cubicBezTo>
                    <a:lnTo>
                      <a:pt x="0" y="800100"/>
                    </a:lnTo>
                    <a:moveTo>
                      <a:pt x="2743200" y="0"/>
                    </a:moveTo>
                    <a:lnTo>
                      <a:pt x="2800350" y="0"/>
                    </a:lnTo>
                    <a:cubicBezTo>
                      <a:pt x="2831912" y="0"/>
                      <a:pt x="2857500" y="25587"/>
                      <a:pt x="2857500" y="57150"/>
                    </a:cubicBezTo>
                    <a:lnTo>
                      <a:pt x="2857500" y="114300"/>
                    </a:lnTo>
                    <a:moveTo>
                      <a:pt x="2743200" y="914400"/>
                    </a:moveTo>
                    <a:lnTo>
                      <a:pt x="114300" y="914400"/>
                    </a:lnTo>
                    <a:moveTo>
                      <a:pt x="2857500" y="800100"/>
                    </a:moveTo>
                    <a:lnTo>
                      <a:pt x="2857500" y="857250"/>
                    </a:lnTo>
                    <a:cubicBezTo>
                      <a:pt x="2857500" y="888812"/>
                      <a:pt x="2831912" y="914400"/>
                      <a:pt x="2800350" y="914400"/>
                    </a:cubicBezTo>
                    <a:lnTo>
                      <a:pt x="2743200" y="914400"/>
                    </a:lnTo>
                  </a:path>
                </a:pathLst>
              </a:custGeom>
              <a:noFill/>
              <a:ln w="1428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84" name="Group 83"/>
            <p:cNvGrpSpPr/>
            <p:nvPr/>
          </p:nvGrpSpPr>
          <p:grpSpPr>
            <a:xfrm>
              <a:off x="5510293" y="1902109"/>
              <a:ext cx="2678003" cy="912864"/>
              <a:chOff x="3371850" y="1943100"/>
              <a:chExt cx="1485900" cy="914400"/>
            </a:xfrm>
          </p:grpSpPr>
          <p:sp>
            <p:nvSpPr>
              <p:cNvPr id="106" name="Rounded Rectangle 13"/>
              <p:cNvSpPr/>
              <p:nvPr/>
            </p:nvSpPr>
            <p:spPr>
              <a:xfrm>
                <a:off x="3371850" y="1943100"/>
                <a:ext cx="1485900" cy="914400"/>
              </a:xfrm>
              <a:custGeom>
                <a:avLst/>
                <a:gdLst/>
                <a:ahLst/>
                <a:cxnLst/>
                <a:rect l="0" t="0" r="0" b="0"/>
                <a:pathLst>
                  <a:path w="1485900" h="914400">
                    <a:moveTo>
                      <a:pt x="0" y="57150"/>
                    </a:moveTo>
                    <a:cubicBezTo>
                      <a:pt x="0" y="25587"/>
                      <a:pt x="25587" y="0"/>
                      <a:pt x="57150" y="0"/>
                    </a:cubicBezTo>
                    <a:lnTo>
                      <a:pt x="114300" y="0"/>
                    </a:lnTo>
                    <a:lnTo>
                      <a:pt x="114300" y="114300"/>
                    </a:lnTo>
                    <a:lnTo>
                      <a:pt x="0" y="114300"/>
                    </a:lnTo>
                    <a:close/>
                    <a:moveTo>
                      <a:pt x="1371600" y="0"/>
                    </a:moveTo>
                    <a:lnTo>
                      <a:pt x="1371600" y="114300"/>
                    </a:lnTo>
                    <a:lnTo>
                      <a:pt x="114300" y="114300"/>
                    </a:lnTo>
                    <a:lnTo>
                      <a:pt x="114300" y="0"/>
                    </a:lnTo>
                    <a:close/>
                    <a:moveTo>
                      <a:pt x="1485900" y="114300"/>
                    </a:moveTo>
                    <a:lnTo>
                      <a:pt x="1371600" y="114300"/>
                    </a:lnTo>
                    <a:lnTo>
                      <a:pt x="1371600" y="0"/>
                    </a:lnTo>
                    <a:lnTo>
                      <a:pt x="1428750" y="0"/>
                    </a:lnTo>
                    <a:cubicBezTo>
                      <a:pt x="1460312" y="0"/>
                      <a:pt x="1485900" y="25587"/>
                      <a:pt x="1485900" y="57150"/>
                    </a:cubicBezTo>
                    <a:close/>
                    <a:moveTo>
                      <a:pt x="1485900" y="800100"/>
                    </a:moveTo>
                    <a:lnTo>
                      <a:pt x="0" y="800100"/>
                    </a:lnTo>
                    <a:lnTo>
                      <a:pt x="0" y="114300"/>
                    </a:lnTo>
                    <a:lnTo>
                      <a:pt x="1485900" y="114300"/>
                    </a:lnTo>
                    <a:close/>
                    <a:moveTo>
                      <a:pt x="0" y="800100"/>
                    </a:moveTo>
                    <a:lnTo>
                      <a:pt x="114300" y="800100"/>
                    </a:lnTo>
                    <a:lnTo>
                      <a:pt x="114300" y="914400"/>
                    </a:lnTo>
                    <a:lnTo>
                      <a:pt x="57150" y="914400"/>
                    </a:lnTo>
                    <a:cubicBezTo>
                      <a:pt x="25587" y="914400"/>
                      <a:pt x="0" y="888812"/>
                      <a:pt x="0" y="857250"/>
                    </a:cubicBezTo>
                    <a:close/>
                    <a:moveTo>
                      <a:pt x="114300" y="914400"/>
                    </a:moveTo>
                    <a:lnTo>
                      <a:pt x="114300" y="800100"/>
                    </a:lnTo>
                    <a:lnTo>
                      <a:pt x="1371600" y="800100"/>
                    </a:lnTo>
                    <a:lnTo>
                      <a:pt x="1371600" y="914400"/>
                    </a:lnTo>
                    <a:close/>
                    <a:moveTo>
                      <a:pt x="1371600" y="914400"/>
                    </a:moveTo>
                    <a:lnTo>
                      <a:pt x="1371600" y="800100"/>
                    </a:lnTo>
                    <a:lnTo>
                      <a:pt x="1485900" y="800100"/>
                    </a:lnTo>
                    <a:lnTo>
                      <a:pt x="1485900" y="857250"/>
                    </a:lnTo>
                    <a:cubicBezTo>
                      <a:pt x="1485900" y="888812"/>
                      <a:pt x="1460312" y="914400"/>
                      <a:pt x="1428750" y="914400"/>
                    </a:cubicBez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07" name="Rounded Rectangle 14"/>
              <p:cNvSpPr/>
              <p:nvPr/>
            </p:nvSpPr>
            <p:spPr>
              <a:xfrm>
                <a:off x="3371850" y="1943100"/>
                <a:ext cx="1485900" cy="914400"/>
              </a:xfrm>
              <a:custGeom>
                <a:avLst/>
                <a:gdLst/>
                <a:ahLst/>
                <a:cxnLst/>
                <a:rect l="0" t="0" r="0" b="0"/>
                <a:pathLst>
                  <a:path w="1485900" h="914400">
                    <a:moveTo>
                      <a:pt x="0" y="114300"/>
                    </a:moveTo>
                    <a:lnTo>
                      <a:pt x="0" y="57150"/>
                    </a:lnTo>
                    <a:cubicBezTo>
                      <a:pt x="0" y="25587"/>
                      <a:pt x="25587" y="0"/>
                      <a:pt x="57150" y="0"/>
                    </a:cubicBezTo>
                    <a:lnTo>
                      <a:pt x="114300" y="0"/>
                    </a:lnTo>
                    <a:moveTo>
                      <a:pt x="1485900" y="114300"/>
                    </a:moveTo>
                    <a:lnTo>
                      <a:pt x="1485900" y="800100"/>
                    </a:lnTo>
                    <a:moveTo>
                      <a:pt x="0" y="800100"/>
                    </a:moveTo>
                    <a:lnTo>
                      <a:pt x="0" y="114300"/>
                    </a:lnTo>
                    <a:moveTo>
                      <a:pt x="114300" y="0"/>
                    </a:moveTo>
                    <a:lnTo>
                      <a:pt x="1371600" y="0"/>
                    </a:lnTo>
                    <a:moveTo>
                      <a:pt x="114300" y="914400"/>
                    </a:moveTo>
                    <a:lnTo>
                      <a:pt x="57150" y="914400"/>
                    </a:lnTo>
                    <a:cubicBezTo>
                      <a:pt x="25587" y="914400"/>
                      <a:pt x="0" y="888812"/>
                      <a:pt x="0" y="857250"/>
                    </a:cubicBezTo>
                    <a:lnTo>
                      <a:pt x="0" y="800100"/>
                    </a:lnTo>
                    <a:moveTo>
                      <a:pt x="1371600" y="0"/>
                    </a:moveTo>
                    <a:lnTo>
                      <a:pt x="1428750" y="0"/>
                    </a:lnTo>
                    <a:cubicBezTo>
                      <a:pt x="1460312" y="0"/>
                      <a:pt x="1485900" y="25587"/>
                      <a:pt x="1485900" y="57150"/>
                    </a:cubicBezTo>
                    <a:lnTo>
                      <a:pt x="1485900" y="114300"/>
                    </a:lnTo>
                    <a:moveTo>
                      <a:pt x="1371600" y="914400"/>
                    </a:moveTo>
                    <a:lnTo>
                      <a:pt x="114300" y="914400"/>
                    </a:lnTo>
                    <a:moveTo>
                      <a:pt x="1485900" y="800100"/>
                    </a:moveTo>
                    <a:lnTo>
                      <a:pt x="1485900" y="857250"/>
                    </a:lnTo>
                    <a:cubicBezTo>
                      <a:pt x="1485900" y="888812"/>
                      <a:pt x="1460312" y="914400"/>
                      <a:pt x="1428750" y="914400"/>
                    </a:cubicBezTo>
                    <a:lnTo>
                      <a:pt x="1371600" y="914400"/>
                    </a:lnTo>
                  </a:path>
                </a:pathLst>
              </a:custGeom>
              <a:noFill/>
              <a:ln w="1428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85" name="Group 84"/>
            <p:cNvGrpSpPr/>
            <p:nvPr/>
          </p:nvGrpSpPr>
          <p:grpSpPr>
            <a:xfrm>
              <a:off x="8332259" y="1901822"/>
              <a:ext cx="2635387" cy="913077"/>
              <a:chOff x="4972050" y="1943100"/>
              <a:chExt cx="1485900" cy="914400"/>
            </a:xfrm>
          </p:grpSpPr>
          <p:sp>
            <p:nvSpPr>
              <p:cNvPr id="104" name="Rounded Rectangle 16"/>
              <p:cNvSpPr/>
              <p:nvPr/>
            </p:nvSpPr>
            <p:spPr>
              <a:xfrm>
                <a:off x="4972050" y="1943100"/>
                <a:ext cx="1485900" cy="914400"/>
              </a:xfrm>
              <a:custGeom>
                <a:avLst/>
                <a:gdLst/>
                <a:ahLst/>
                <a:cxnLst/>
                <a:rect l="0" t="0" r="0" b="0"/>
                <a:pathLst>
                  <a:path w="1485900" h="914400">
                    <a:moveTo>
                      <a:pt x="0" y="57150"/>
                    </a:moveTo>
                    <a:cubicBezTo>
                      <a:pt x="0" y="25587"/>
                      <a:pt x="25587" y="0"/>
                      <a:pt x="57150" y="0"/>
                    </a:cubicBezTo>
                    <a:lnTo>
                      <a:pt x="114300" y="0"/>
                    </a:lnTo>
                    <a:lnTo>
                      <a:pt x="114300" y="114300"/>
                    </a:lnTo>
                    <a:lnTo>
                      <a:pt x="0" y="114300"/>
                    </a:lnTo>
                    <a:close/>
                    <a:moveTo>
                      <a:pt x="1371600" y="0"/>
                    </a:moveTo>
                    <a:lnTo>
                      <a:pt x="1371600" y="114300"/>
                    </a:lnTo>
                    <a:lnTo>
                      <a:pt x="114300" y="114300"/>
                    </a:lnTo>
                    <a:lnTo>
                      <a:pt x="114300" y="0"/>
                    </a:lnTo>
                    <a:close/>
                    <a:moveTo>
                      <a:pt x="1485900" y="114300"/>
                    </a:moveTo>
                    <a:lnTo>
                      <a:pt x="1371600" y="114300"/>
                    </a:lnTo>
                    <a:lnTo>
                      <a:pt x="1371600" y="0"/>
                    </a:lnTo>
                    <a:lnTo>
                      <a:pt x="1428750" y="0"/>
                    </a:lnTo>
                    <a:cubicBezTo>
                      <a:pt x="1460312" y="0"/>
                      <a:pt x="1485900" y="25587"/>
                      <a:pt x="1485900" y="57150"/>
                    </a:cubicBezTo>
                    <a:close/>
                    <a:moveTo>
                      <a:pt x="1485900" y="800100"/>
                    </a:moveTo>
                    <a:lnTo>
                      <a:pt x="0" y="800100"/>
                    </a:lnTo>
                    <a:lnTo>
                      <a:pt x="0" y="114300"/>
                    </a:lnTo>
                    <a:lnTo>
                      <a:pt x="1485900" y="114300"/>
                    </a:lnTo>
                    <a:close/>
                    <a:moveTo>
                      <a:pt x="0" y="800100"/>
                    </a:moveTo>
                    <a:lnTo>
                      <a:pt x="114300" y="800100"/>
                    </a:lnTo>
                    <a:lnTo>
                      <a:pt x="114300" y="914400"/>
                    </a:lnTo>
                    <a:lnTo>
                      <a:pt x="57150" y="914400"/>
                    </a:lnTo>
                    <a:cubicBezTo>
                      <a:pt x="25587" y="914400"/>
                      <a:pt x="0" y="888812"/>
                      <a:pt x="0" y="857250"/>
                    </a:cubicBezTo>
                    <a:close/>
                    <a:moveTo>
                      <a:pt x="114300" y="914400"/>
                    </a:moveTo>
                    <a:lnTo>
                      <a:pt x="114300" y="800100"/>
                    </a:lnTo>
                    <a:lnTo>
                      <a:pt x="1371600" y="800100"/>
                    </a:lnTo>
                    <a:lnTo>
                      <a:pt x="1371600" y="914400"/>
                    </a:lnTo>
                    <a:close/>
                    <a:moveTo>
                      <a:pt x="1371600" y="914400"/>
                    </a:moveTo>
                    <a:lnTo>
                      <a:pt x="1371600" y="800100"/>
                    </a:lnTo>
                    <a:lnTo>
                      <a:pt x="1485900" y="800100"/>
                    </a:lnTo>
                    <a:lnTo>
                      <a:pt x="1485900" y="857250"/>
                    </a:lnTo>
                    <a:cubicBezTo>
                      <a:pt x="1485900" y="888812"/>
                      <a:pt x="1460312" y="914400"/>
                      <a:pt x="1428750" y="914400"/>
                    </a:cubicBez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05" name="Rounded Rectangle 17"/>
              <p:cNvSpPr/>
              <p:nvPr/>
            </p:nvSpPr>
            <p:spPr>
              <a:xfrm>
                <a:off x="4972050" y="1943100"/>
                <a:ext cx="1485900" cy="914400"/>
              </a:xfrm>
              <a:custGeom>
                <a:avLst/>
                <a:gdLst/>
                <a:ahLst/>
                <a:cxnLst/>
                <a:rect l="0" t="0" r="0" b="0"/>
                <a:pathLst>
                  <a:path w="1485900" h="914400">
                    <a:moveTo>
                      <a:pt x="0" y="114300"/>
                    </a:moveTo>
                    <a:lnTo>
                      <a:pt x="0" y="57150"/>
                    </a:lnTo>
                    <a:cubicBezTo>
                      <a:pt x="0" y="25587"/>
                      <a:pt x="25587" y="0"/>
                      <a:pt x="57150" y="0"/>
                    </a:cubicBezTo>
                    <a:lnTo>
                      <a:pt x="114300" y="0"/>
                    </a:lnTo>
                    <a:moveTo>
                      <a:pt x="1485900" y="114300"/>
                    </a:moveTo>
                    <a:lnTo>
                      <a:pt x="1485900" y="800100"/>
                    </a:lnTo>
                    <a:moveTo>
                      <a:pt x="0" y="800100"/>
                    </a:moveTo>
                    <a:lnTo>
                      <a:pt x="0" y="114300"/>
                    </a:lnTo>
                    <a:moveTo>
                      <a:pt x="114300" y="0"/>
                    </a:moveTo>
                    <a:lnTo>
                      <a:pt x="1371600" y="0"/>
                    </a:lnTo>
                    <a:moveTo>
                      <a:pt x="114300" y="914400"/>
                    </a:moveTo>
                    <a:lnTo>
                      <a:pt x="57150" y="914400"/>
                    </a:lnTo>
                    <a:cubicBezTo>
                      <a:pt x="25587" y="914400"/>
                      <a:pt x="0" y="888812"/>
                      <a:pt x="0" y="857250"/>
                    </a:cubicBezTo>
                    <a:lnTo>
                      <a:pt x="0" y="800100"/>
                    </a:lnTo>
                    <a:moveTo>
                      <a:pt x="1371600" y="0"/>
                    </a:moveTo>
                    <a:lnTo>
                      <a:pt x="1428750" y="0"/>
                    </a:lnTo>
                    <a:cubicBezTo>
                      <a:pt x="1460312" y="0"/>
                      <a:pt x="1485900" y="25587"/>
                      <a:pt x="1485900" y="57150"/>
                    </a:cubicBezTo>
                    <a:lnTo>
                      <a:pt x="1485900" y="114300"/>
                    </a:lnTo>
                    <a:moveTo>
                      <a:pt x="1371600" y="914400"/>
                    </a:moveTo>
                    <a:lnTo>
                      <a:pt x="114300" y="914400"/>
                    </a:lnTo>
                    <a:moveTo>
                      <a:pt x="1485900" y="800100"/>
                    </a:moveTo>
                    <a:lnTo>
                      <a:pt x="1485900" y="857250"/>
                    </a:lnTo>
                    <a:cubicBezTo>
                      <a:pt x="1485900" y="888812"/>
                      <a:pt x="1460312" y="914400"/>
                      <a:pt x="1428750" y="914400"/>
                    </a:cubicBezTo>
                    <a:lnTo>
                      <a:pt x="1371600" y="914400"/>
                    </a:lnTo>
                  </a:path>
                </a:pathLst>
              </a:custGeom>
              <a:noFill/>
              <a:ln w="1428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86" name="Group 85"/>
            <p:cNvGrpSpPr/>
            <p:nvPr/>
          </p:nvGrpSpPr>
          <p:grpSpPr>
            <a:xfrm>
              <a:off x="1919511" y="2929022"/>
              <a:ext cx="3471987" cy="434162"/>
              <a:chOff x="400050" y="2971800"/>
              <a:chExt cx="2857500" cy="457200"/>
            </a:xfrm>
          </p:grpSpPr>
          <p:sp>
            <p:nvSpPr>
              <p:cNvPr id="102" name="Rounded Rectangle 19"/>
              <p:cNvSpPr/>
              <p:nvPr/>
            </p:nvSpPr>
            <p:spPr>
              <a:xfrm>
                <a:off x="400050" y="2971800"/>
                <a:ext cx="2857500" cy="457200"/>
              </a:xfrm>
              <a:custGeom>
                <a:avLst/>
                <a:gdLst/>
                <a:ahLst/>
                <a:cxnLst/>
                <a:rect l="0" t="0" r="0" b="0"/>
                <a:pathLst>
                  <a:path w="2857500" h="457200">
                    <a:moveTo>
                      <a:pt x="0" y="57150"/>
                    </a:moveTo>
                    <a:cubicBezTo>
                      <a:pt x="0" y="25587"/>
                      <a:pt x="25587" y="0"/>
                      <a:pt x="57150" y="0"/>
                    </a:cubicBezTo>
                    <a:lnTo>
                      <a:pt x="114300" y="0"/>
                    </a:lnTo>
                    <a:lnTo>
                      <a:pt x="114300" y="114300"/>
                    </a:lnTo>
                    <a:lnTo>
                      <a:pt x="0" y="114300"/>
                    </a:lnTo>
                    <a:close/>
                    <a:moveTo>
                      <a:pt x="2743200" y="0"/>
                    </a:moveTo>
                    <a:lnTo>
                      <a:pt x="2743200" y="114300"/>
                    </a:lnTo>
                    <a:lnTo>
                      <a:pt x="114300" y="114300"/>
                    </a:lnTo>
                    <a:lnTo>
                      <a:pt x="114300" y="0"/>
                    </a:lnTo>
                    <a:close/>
                    <a:moveTo>
                      <a:pt x="2857500" y="114300"/>
                    </a:moveTo>
                    <a:lnTo>
                      <a:pt x="2743200" y="114300"/>
                    </a:lnTo>
                    <a:lnTo>
                      <a:pt x="2743200" y="0"/>
                    </a:lnTo>
                    <a:lnTo>
                      <a:pt x="2800350" y="0"/>
                    </a:lnTo>
                    <a:cubicBezTo>
                      <a:pt x="2831912" y="0"/>
                      <a:pt x="2857500" y="25587"/>
                      <a:pt x="2857500" y="57150"/>
                    </a:cubicBezTo>
                    <a:close/>
                    <a:moveTo>
                      <a:pt x="2857500" y="342900"/>
                    </a:moveTo>
                    <a:lnTo>
                      <a:pt x="0" y="342900"/>
                    </a:lnTo>
                    <a:lnTo>
                      <a:pt x="0" y="114300"/>
                    </a:lnTo>
                    <a:lnTo>
                      <a:pt x="2857500" y="114300"/>
                    </a:lnTo>
                    <a:close/>
                    <a:moveTo>
                      <a:pt x="0" y="342900"/>
                    </a:moveTo>
                    <a:lnTo>
                      <a:pt x="114300" y="342900"/>
                    </a:lnTo>
                    <a:lnTo>
                      <a:pt x="114300" y="457200"/>
                    </a:lnTo>
                    <a:lnTo>
                      <a:pt x="57150" y="457200"/>
                    </a:lnTo>
                    <a:cubicBezTo>
                      <a:pt x="25587" y="457200"/>
                      <a:pt x="0" y="431612"/>
                      <a:pt x="0" y="400050"/>
                    </a:cubicBezTo>
                    <a:close/>
                    <a:moveTo>
                      <a:pt x="114300" y="457200"/>
                    </a:moveTo>
                    <a:lnTo>
                      <a:pt x="114300" y="342900"/>
                    </a:lnTo>
                    <a:lnTo>
                      <a:pt x="2743200" y="342900"/>
                    </a:lnTo>
                    <a:lnTo>
                      <a:pt x="2743200" y="457200"/>
                    </a:lnTo>
                    <a:close/>
                    <a:moveTo>
                      <a:pt x="2743200" y="457200"/>
                    </a:moveTo>
                    <a:lnTo>
                      <a:pt x="2743200" y="342900"/>
                    </a:lnTo>
                    <a:lnTo>
                      <a:pt x="2857500" y="342900"/>
                    </a:lnTo>
                    <a:lnTo>
                      <a:pt x="2857500" y="400050"/>
                    </a:lnTo>
                    <a:cubicBezTo>
                      <a:pt x="2857500" y="431612"/>
                      <a:pt x="2831912" y="457200"/>
                      <a:pt x="2800350" y="457200"/>
                    </a:cubicBez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03" name="Rounded Rectangle 20"/>
              <p:cNvSpPr/>
              <p:nvPr/>
            </p:nvSpPr>
            <p:spPr>
              <a:xfrm>
                <a:off x="400050" y="2971800"/>
                <a:ext cx="2857500" cy="457200"/>
              </a:xfrm>
              <a:custGeom>
                <a:avLst/>
                <a:gdLst/>
                <a:ahLst/>
                <a:cxnLst/>
                <a:rect l="0" t="0" r="0" b="0"/>
                <a:pathLst>
                  <a:path w="2857500" h="457200">
                    <a:moveTo>
                      <a:pt x="0" y="114300"/>
                    </a:moveTo>
                    <a:lnTo>
                      <a:pt x="0" y="57150"/>
                    </a:lnTo>
                    <a:cubicBezTo>
                      <a:pt x="0" y="25587"/>
                      <a:pt x="25587" y="0"/>
                      <a:pt x="57150" y="0"/>
                    </a:cubicBezTo>
                    <a:lnTo>
                      <a:pt x="114300" y="0"/>
                    </a:lnTo>
                    <a:moveTo>
                      <a:pt x="2857500" y="342900"/>
                    </a:moveTo>
                    <a:lnTo>
                      <a:pt x="2857500" y="114300"/>
                    </a:lnTo>
                    <a:moveTo>
                      <a:pt x="0" y="342900"/>
                    </a:moveTo>
                    <a:lnTo>
                      <a:pt x="0" y="114300"/>
                    </a:lnTo>
                    <a:moveTo>
                      <a:pt x="114300" y="0"/>
                    </a:moveTo>
                    <a:lnTo>
                      <a:pt x="2743200" y="0"/>
                    </a:lnTo>
                    <a:moveTo>
                      <a:pt x="114300" y="457200"/>
                    </a:moveTo>
                    <a:lnTo>
                      <a:pt x="57150" y="457200"/>
                    </a:lnTo>
                    <a:cubicBezTo>
                      <a:pt x="25587" y="457200"/>
                      <a:pt x="0" y="431612"/>
                      <a:pt x="0" y="400050"/>
                    </a:cubicBezTo>
                    <a:lnTo>
                      <a:pt x="0" y="342900"/>
                    </a:lnTo>
                    <a:moveTo>
                      <a:pt x="2743200" y="0"/>
                    </a:moveTo>
                    <a:lnTo>
                      <a:pt x="2800350" y="0"/>
                    </a:lnTo>
                    <a:cubicBezTo>
                      <a:pt x="2831912" y="0"/>
                      <a:pt x="2857500" y="25587"/>
                      <a:pt x="2857500" y="57150"/>
                    </a:cubicBezTo>
                    <a:lnTo>
                      <a:pt x="2857500" y="114300"/>
                    </a:lnTo>
                    <a:moveTo>
                      <a:pt x="2743200" y="457200"/>
                    </a:moveTo>
                    <a:lnTo>
                      <a:pt x="114300" y="457200"/>
                    </a:lnTo>
                    <a:moveTo>
                      <a:pt x="2857500" y="342900"/>
                    </a:moveTo>
                    <a:lnTo>
                      <a:pt x="2857500" y="400050"/>
                    </a:lnTo>
                    <a:cubicBezTo>
                      <a:pt x="2857500" y="431612"/>
                      <a:pt x="2831912" y="457200"/>
                      <a:pt x="2800350" y="457200"/>
                    </a:cubicBezTo>
                    <a:lnTo>
                      <a:pt x="2743200" y="457200"/>
                    </a:lnTo>
                  </a:path>
                </a:pathLst>
              </a:custGeom>
              <a:noFill/>
              <a:ln w="1428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87" name="Group 86"/>
            <p:cNvGrpSpPr/>
            <p:nvPr/>
          </p:nvGrpSpPr>
          <p:grpSpPr>
            <a:xfrm>
              <a:off x="5510293" y="2929095"/>
              <a:ext cx="2678003" cy="433201"/>
              <a:chOff x="3371850" y="2971800"/>
              <a:chExt cx="1485900" cy="457200"/>
            </a:xfrm>
          </p:grpSpPr>
          <p:sp>
            <p:nvSpPr>
              <p:cNvPr id="100" name="Rounded Rectangle 22"/>
              <p:cNvSpPr/>
              <p:nvPr/>
            </p:nvSpPr>
            <p:spPr>
              <a:xfrm>
                <a:off x="3371850" y="2971800"/>
                <a:ext cx="1485900" cy="457200"/>
              </a:xfrm>
              <a:custGeom>
                <a:avLst/>
                <a:gdLst/>
                <a:ahLst/>
                <a:cxnLst/>
                <a:rect l="0" t="0" r="0" b="0"/>
                <a:pathLst>
                  <a:path w="1485900" h="457200">
                    <a:moveTo>
                      <a:pt x="0" y="57150"/>
                    </a:moveTo>
                    <a:cubicBezTo>
                      <a:pt x="0" y="25587"/>
                      <a:pt x="25587" y="0"/>
                      <a:pt x="57150" y="0"/>
                    </a:cubicBezTo>
                    <a:lnTo>
                      <a:pt x="114300" y="0"/>
                    </a:lnTo>
                    <a:lnTo>
                      <a:pt x="114300" y="114300"/>
                    </a:lnTo>
                    <a:lnTo>
                      <a:pt x="0" y="114300"/>
                    </a:lnTo>
                    <a:close/>
                    <a:moveTo>
                      <a:pt x="1371600" y="0"/>
                    </a:moveTo>
                    <a:lnTo>
                      <a:pt x="1371600" y="114300"/>
                    </a:lnTo>
                    <a:lnTo>
                      <a:pt x="114300" y="114300"/>
                    </a:lnTo>
                    <a:lnTo>
                      <a:pt x="114300" y="0"/>
                    </a:lnTo>
                    <a:close/>
                    <a:moveTo>
                      <a:pt x="1485900" y="114300"/>
                    </a:moveTo>
                    <a:lnTo>
                      <a:pt x="1371600" y="114300"/>
                    </a:lnTo>
                    <a:lnTo>
                      <a:pt x="1371600" y="0"/>
                    </a:lnTo>
                    <a:lnTo>
                      <a:pt x="1428750" y="0"/>
                    </a:lnTo>
                    <a:cubicBezTo>
                      <a:pt x="1460312" y="0"/>
                      <a:pt x="1485900" y="25587"/>
                      <a:pt x="1485900" y="57150"/>
                    </a:cubicBezTo>
                    <a:close/>
                    <a:moveTo>
                      <a:pt x="1485900" y="342900"/>
                    </a:moveTo>
                    <a:lnTo>
                      <a:pt x="0" y="342900"/>
                    </a:lnTo>
                    <a:lnTo>
                      <a:pt x="0" y="114300"/>
                    </a:lnTo>
                    <a:lnTo>
                      <a:pt x="1485900" y="114300"/>
                    </a:lnTo>
                    <a:close/>
                    <a:moveTo>
                      <a:pt x="0" y="342900"/>
                    </a:moveTo>
                    <a:lnTo>
                      <a:pt x="114300" y="342900"/>
                    </a:lnTo>
                    <a:lnTo>
                      <a:pt x="114300" y="457200"/>
                    </a:lnTo>
                    <a:lnTo>
                      <a:pt x="57150" y="457200"/>
                    </a:lnTo>
                    <a:cubicBezTo>
                      <a:pt x="25587" y="457200"/>
                      <a:pt x="0" y="431612"/>
                      <a:pt x="0" y="400050"/>
                    </a:cubicBezTo>
                    <a:close/>
                    <a:moveTo>
                      <a:pt x="114300" y="457200"/>
                    </a:moveTo>
                    <a:lnTo>
                      <a:pt x="114300" y="342900"/>
                    </a:lnTo>
                    <a:lnTo>
                      <a:pt x="1371600" y="342900"/>
                    </a:lnTo>
                    <a:lnTo>
                      <a:pt x="1371600" y="457200"/>
                    </a:lnTo>
                    <a:close/>
                    <a:moveTo>
                      <a:pt x="1371600" y="457200"/>
                    </a:moveTo>
                    <a:lnTo>
                      <a:pt x="1371600" y="342900"/>
                    </a:lnTo>
                    <a:lnTo>
                      <a:pt x="1485900" y="342900"/>
                    </a:lnTo>
                    <a:lnTo>
                      <a:pt x="1485900" y="400050"/>
                    </a:lnTo>
                    <a:cubicBezTo>
                      <a:pt x="1485900" y="431612"/>
                      <a:pt x="1460312" y="457200"/>
                      <a:pt x="1428750" y="457200"/>
                    </a:cubicBez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01" name="Rounded Rectangle 23"/>
              <p:cNvSpPr/>
              <p:nvPr/>
            </p:nvSpPr>
            <p:spPr>
              <a:xfrm>
                <a:off x="3371850" y="2971800"/>
                <a:ext cx="1485900" cy="457200"/>
              </a:xfrm>
              <a:custGeom>
                <a:avLst/>
                <a:gdLst/>
                <a:ahLst/>
                <a:cxnLst/>
                <a:rect l="0" t="0" r="0" b="0"/>
                <a:pathLst>
                  <a:path w="1485900" h="457200">
                    <a:moveTo>
                      <a:pt x="0" y="114300"/>
                    </a:moveTo>
                    <a:lnTo>
                      <a:pt x="0" y="57150"/>
                    </a:lnTo>
                    <a:cubicBezTo>
                      <a:pt x="0" y="25587"/>
                      <a:pt x="25587" y="0"/>
                      <a:pt x="57150" y="0"/>
                    </a:cubicBezTo>
                    <a:lnTo>
                      <a:pt x="114300" y="0"/>
                    </a:lnTo>
                    <a:moveTo>
                      <a:pt x="1485900" y="114300"/>
                    </a:moveTo>
                    <a:lnTo>
                      <a:pt x="1485900" y="342900"/>
                    </a:lnTo>
                    <a:moveTo>
                      <a:pt x="0" y="342900"/>
                    </a:moveTo>
                    <a:lnTo>
                      <a:pt x="0" y="114300"/>
                    </a:lnTo>
                    <a:moveTo>
                      <a:pt x="114300" y="0"/>
                    </a:moveTo>
                    <a:lnTo>
                      <a:pt x="1371600" y="0"/>
                    </a:lnTo>
                    <a:moveTo>
                      <a:pt x="114300" y="457200"/>
                    </a:moveTo>
                    <a:lnTo>
                      <a:pt x="57150" y="457200"/>
                    </a:lnTo>
                    <a:cubicBezTo>
                      <a:pt x="25587" y="457200"/>
                      <a:pt x="0" y="431612"/>
                      <a:pt x="0" y="400050"/>
                    </a:cubicBezTo>
                    <a:lnTo>
                      <a:pt x="0" y="342900"/>
                    </a:lnTo>
                    <a:moveTo>
                      <a:pt x="1371600" y="0"/>
                    </a:moveTo>
                    <a:lnTo>
                      <a:pt x="1428750" y="0"/>
                    </a:lnTo>
                    <a:cubicBezTo>
                      <a:pt x="1460312" y="0"/>
                      <a:pt x="1485900" y="25587"/>
                      <a:pt x="1485900" y="57150"/>
                    </a:cubicBezTo>
                    <a:lnTo>
                      <a:pt x="1485900" y="114300"/>
                    </a:lnTo>
                    <a:moveTo>
                      <a:pt x="1371600" y="457200"/>
                    </a:moveTo>
                    <a:lnTo>
                      <a:pt x="114300" y="457200"/>
                    </a:lnTo>
                    <a:moveTo>
                      <a:pt x="1485900" y="342900"/>
                    </a:moveTo>
                    <a:lnTo>
                      <a:pt x="1485900" y="400050"/>
                    </a:lnTo>
                    <a:cubicBezTo>
                      <a:pt x="1485900" y="431612"/>
                      <a:pt x="1460312" y="457200"/>
                      <a:pt x="1428750" y="457200"/>
                    </a:cubicBezTo>
                    <a:lnTo>
                      <a:pt x="1371600" y="457200"/>
                    </a:lnTo>
                  </a:path>
                </a:pathLst>
              </a:custGeom>
              <a:noFill/>
              <a:ln w="1428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88" name="Group 87"/>
            <p:cNvGrpSpPr/>
            <p:nvPr/>
          </p:nvGrpSpPr>
          <p:grpSpPr>
            <a:xfrm>
              <a:off x="8332259" y="2929022"/>
              <a:ext cx="2635387" cy="428572"/>
              <a:chOff x="4972050" y="2971800"/>
              <a:chExt cx="1485900" cy="457200"/>
            </a:xfrm>
          </p:grpSpPr>
          <p:sp>
            <p:nvSpPr>
              <p:cNvPr id="98" name="Rounded Rectangle 25"/>
              <p:cNvSpPr/>
              <p:nvPr/>
            </p:nvSpPr>
            <p:spPr>
              <a:xfrm>
                <a:off x="4972050" y="2971800"/>
                <a:ext cx="1485900" cy="457200"/>
              </a:xfrm>
              <a:custGeom>
                <a:avLst/>
                <a:gdLst/>
                <a:ahLst/>
                <a:cxnLst/>
                <a:rect l="0" t="0" r="0" b="0"/>
                <a:pathLst>
                  <a:path w="1485900" h="457200">
                    <a:moveTo>
                      <a:pt x="0" y="57150"/>
                    </a:moveTo>
                    <a:cubicBezTo>
                      <a:pt x="0" y="25587"/>
                      <a:pt x="25587" y="0"/>
                      <a:pt x="57150" y="0"/>
                    </a:cubicBezTo>
                    <a:lnTo>
                      <a:pt x="114300" y="0"/>
                    </a:lnTo>
                    <a:lnTo>
                      <a:pt x="114300" y="114300"/>
                    </a:lnTo>
                    <a:lnTo>
                      <a:pt x="0" y="114300"/>
                    </a:lnTo>
                    <a:close/>
                    <a:moveTo>
                      <a:pt x="1371600" y="0"/>
                    </a:moveTo>
                    <a:lnTo>
                      <a:pt x="1371600" y="114300"/>
                    </a:lnTo>
                    <a:lnTo>
                      <a:pt x="114300" y="114300"/>
                    </a:lnTo>
                    <a:lnTo>
                      <a:pt x="114300" y="0"/>
                    </a:lnTo>
                    <a:close/>
                    <a:moveTo>
                      <a:pt x="1485900" y="114300"/>
                    </a:moveTo>
                    <a:lnTo>
                      <a:pt x="1371600" y="114300"/>
                    </a:lnTo>
                    <a:lnTo>
                      <a:pt x="1371600" y="0"/>
                    </a:lnTo>
                    <a:lnTo>
                      <a:pt x="1428750" y="0"/>
                    </a:lnTo>
                    <a:cubicBezTo>
                      <a:pt x="1460312" y="0"/>
                      <a:pt x="1485900" y="25587"/>
                      <a:pt x="1485900" y="57150"/>
                    </a:cubicBezTo>
                    <a:close/>
                    <a:moveTo>
                      <a:pt x="1485900" y="342900"/>
                    </a:moveTo>
                    <a:lnTo>
                      <a:pt x="0" y="342900"/>
                    </a:lnTo>
                    <a:lnTo>
                      <a:pt x="0" y="114300"/>
                    </a:lnTo>
                    <a:lnTo>
                      <a:pt x="1485900" y="114300"/>
                    </a:lnTo>
                    <a:close/>
                    <a:moveTo>
                      <a:pt x="0" y="342900"/>
                    </a:moveTo>
                    <a:lnTo>
                      <a:pt x="114300" y="342900"/>
                    </a:lnTo>
                    <a:lnTo>
                      <a:pt x="114300" y="457200"/>
                    </a:lnTo>
                    <a:lnTo>
                      <a:pt x="57150" y="457200"/>
                    </a:lnTo>
                    <a:cubicBezTo>
                      <a:pt x="25587" y="457200"/>
                      <a:pt x="0" y="431612"/>
                      <a:pt x="0" y="400050"/>
                    </a:cubicBezTo>
                    <a:close/>
                    <a:moveTo>
                      <a:pt x="114300" y="457200"/>
                    </a:moveTo>
                    <a:lnTo>
                      <a:pt x="114300" y="342900"/>
                    </a:lnTo>
                    <a:lnTo>
                      <a:pt x="1371600" y="342900"/>
                    </a:lnTo>
                    <a:lnTo>
                      <a:pt x="1371600" y="457200"/>
                    </a:lnTo>
                    <a:close/>
                    <a:moveTo>
                      <a:pt x="1371600" y="457200"/>
                    </a:moveTo>
                    <a:lnTo>
                      <a:pt x="1371600" y="342900"/>
                    </a:lnTo>
                    <a:lnTo>
                      <a:pt x="1485900" y="342900"/>
                    </a:lnTo>
                    <a:lnTo>
                      <a:pt x="1485900" y="400050"/>
                    </a:lnTo>
                    <a:cubicBezTo>
                      <a:pt x="1485900" y="431612"/>
                      <a:pt x="1460312" y="457200"/>
                      <a:pt x="1428750" y="457200"/>
                    </a:cubicBez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99" name="Rounded Rectangle 26"/>
              <p:cNvSpPr/>
              <p:nvPr/>
            </p:nvSpPr>
            <p:spPr>
              <a:xfrm>
                <a:off x="4972050" y="2971800"/>
                <a:ext cx="1485900" cy="457200"/>
              </a:xfrm>
              <a:custGeom>
                <a:avLst/>
                <a:gdLst/>
                <a:ahLst/>
                <a:cxnLst/>
                <a:rect l="0" t="0" r="0" b="0"/>
                <a:pathLst>
                  <a:path w="1485900" h="457200">
                    <a:moveTo>
                      <a:pt x="0" y="114300"/>
                    </a:moveTo>
                    <a:lnTo>
                      <a:pt x="0" y="57150"/>
                    </a:lnTo>
                    <a:cubicBezTo>
                      <a:pt x="0" y="25587"/>
                      <a:pt x="25587" y="0"/>
                      <a:pt x="57150" y="0"/>
                    </a:cubicBezTo>
                    <a:lnTo>
                      <a:pt x="114300" y="0"/>
                    </a:lnTo>
                    <a:moveTo>
                      <a:pt x="1485900" y="114300"/>
                    </a:moveTo>
                    <a:lnTo>
                      <a:pt x="1485900" y="342900"/>
                    </a:lnTo>
                    <a:moveTo>
                      <a:pt x="0" y="342900"/>
                    </a:moveTo>
                    <a:lnTo>
                      <a:pt x="0" y="114300"/>
                    </a:lnTo>
                    <a:moveTo>
                      <a:pt x="114300" y="0"/>
                    </a:moveTo>
                    <a:lnTo>
                      <a:pt x="1371600" y="0"/>
                    </a:lnTo>
                    <a:moveTo>
                      <a:pt x="114300" y="457200"/>
                    </a:moveTo>
                    <a:lnTo>
                      <a:pt x="57150" y="457200"/>
                    </a:lnTo>
                    <a:cubicBezTo>
                      <a:pt x="25587" y="457200"/>
                      <a:pt x="0" y="431612"/>
                      <a:pt x="0" y="400050"/>
                    </a:cubicBezTo>
                    <a:lnTo>
                      <a:pt x="0" y="342900"/>
                    </a:lnTo>
                    <a:moveTo>
                      <a:pt x="1371600" y="0"/>
                    </a:moveTo>
                    <a:lnTo>
                      <a:pt x="1428750" y="0"/>
                    </a:lnTo>
                    <a:cubicBezTo>
                      <a:pt x="1460312" y="0"/>
                      <a:pt x="1485900" y="25587"/>
                      <a:pt x="1485900" y="57150"/>
                    </a:cubicBezTo>
                    <a:lnTo>
                      <a:pt x="1485900" y="114300"/>
                    </a:lnTo>
                    <a:moveTo>
                      <a:pt x="1371600" y="457200"/>
                    </a:moveTo>
                    <a:lnTo>
                      <a:pt x="114300" y="457200"/>
                    </a:lnTo>
                    <a:moveTo>
                      <a:pt x="1485900" y="342900"/>
                    </a:moveTo>
                    <a:lnTo>
                      <a:pt x="1485900" y="400050"/>
                    </a:lnTo>
                    <a:cubicBezTo>
                      <a:pt x="1485900" y="431612"/>
                      <a:pt x="1460312" y="457200"/>
                      <a:pt x="1428750" y="457200"/>
                    </a:cubicBezTo>
                    <a:lnTo>
                      <a:pt x="1371600" y="457200"/>
                    </a:lnTo>
                  </a:path>
                </a:pathLst>
              </a:custGeom>
              <a:noFill/>
              <a:ln w="1428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
          <p:nvSpPr>
            <p:cNvPr id="89" name="TextBox 29"/>
            <p:cNvSpPr txBox="1"/>
            <p:nvPr/>
          </p:nvSpPr>
          <p:spPr>
            <a:xfrm>
              <a:off x="2712770" y="1293923"/>
              <a:ext cx="1885466" cy="307777"/>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FFFFFF"/>
                  </a:solidFill>
                </a:rPr>
                <a:t>Asset Type</a:t>
              </a:r>
            </a:p>
          </p:txBody>
        </p:sp>
        <p:sp>
          <p:nvSpPr>
            <p:cNvPr id="90" name="TextBox 30"/>
            <p:cNvSpPr txBox="1"/>
            <p:nvPr/>
          </p:nvSpPr>
          <p:spPr>
            <a:xfrm>
              <a:off x="5556423" y="1179868"/>
              <a:ext cx="2605459" cy="615553"/>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FFFFFF"/>
                  </a:solidFill>
                </a:rPr>
                <a:t>STCA Holding
Period</a:t>
              </a:r>
            </a:p>
          </p:txBody>
        </p:sp>
        <p:sp>
          <p:nvSpPr>
            <p:cNvPr id="91" name="TextBox 31"/>
            <p:cNvSpPr txBox="1"/>
            <p:nvPr/>
          </p:nvSpPr>
          <p:spPr>
            <a:xfrm>
              <a:off x="8747137" y="1178906"/>
              <a:ext cx="1765615" cy="615553"/>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FFFFFF"/>
                  </a:solidFill>
                </a:rPr>
                <a:t>LTCA Holding
Period</a:t>
              </a:r>
            </a:p>
          </p:txBody>
        </p:sp>
        <p:sp>
          <p:nvSpPr>
            <p:cNvPr id="92" name="TextBox 32"/>
            <p:cNvSpPr txBox="1"/>
            <p:nvPr/>
          </p:nvSpPr>
          <p:spPr>
            <a:xfrm>
              <a:off x="2262546" y="1964110"/>
              <a:ext cx="2785913" cy="830997"/>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Listed Security, Equity Fund</a:t>
              </a:r>
              <a:r>
                <a:rPr lang="en-US" b="0" dirty="0">
                  <a:solidFill>
                    <a:srgbClr val="FFFFFF"/>
                  </a:solidFill>
                </a:rPr>
                <a:t> </a:t>
              </a:r>
              <a:r>
                <a:rPr b="0" dirty="0">
                  <a:solidFill>
                    <a:srgbClr val="FFFFFF"/>
                  </a:solidFill>
                </a:rPr>
                <a:t>Unit, Unit of UTI, Zero Coupon</a:t>
              </a:r>
              <a:r>
                <a:rPr lang="en-US" b="0" dirty="0">
                  <a:solidFill>
                    <a:srgbClr val="FFFFFF"/>
                  </a:solidFill>
                </a:rPr>
                <a:t> </a:t>
              </a:r>
              <a:r>
                <a:rPr b="0" dirty="0">
                  <a:solidFill>
                    <a:srgbClr val="FFFFFF"/>
                  </a:solidFill>
                </a:rPr>
                <a:t>Bond</a:t>
              </a:r>
            </a:p>
          </p:txBody>
        </p:sp>
        <p:sp>
          <p:nvSpPr>
            <p:cNvPr id="93" name="TextBox 33"/>
            <p:cNvSpPr txBox="1"/>
            <p:nvPr/>
          </p:nvSpPr>
          <p:spPr>
            <a:xfrm>
              <a:off x="6158440" y="2222404"/>
              <a:ext cx="1381708" cy="276999"/>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 12 months</a:t>
              </a:r>
            </a:p>
          </p:txBody>
        </p:sp>
        <p:sp>
          <p:nvSpPr>
            <p:cNvPr id="94" name="TextBox 34"/>
            <p:cNvSpPr txBox="1"/>
            <p:nvPr/>
          </p:nvSpPr>
          <p:spPr>
            <a:xfrm>
              <a:off x="8934007" y="2241110"/>
              <a:ext cx="1337531" cy="276999"/>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&gt; 12 months</a:t>
              </a:r>
            </a:p>
          </p:txBody>
        </p:sp>
        <p:sp>
          <p:nvSpPr>
            <p:cNvPr id="95" name="TextBox 35"/>
            <p:cNvSpPr txBox="1"/>
            <p:nvPr/>
          </p:nvSpPr>
          <p:spPr>
            <a:xfrm>
              <a:off x="2489258" y="3007196"/>
              <a:ext cx="2332487" cy="276999"/>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FFFFFF"/>
                  </a:solidFill>
                </a:rPr>
                <a:t>Other Capital</a:t>
              </a:r>
              <a:r>
                <a:rPr lang="en-US" b="1" dirty="0">
                  <a:solidFill>
                    <a:srgbClr val="FFFFFF"/>
                  </a:solidFill>
                </a:rPr>
                <a:t> </a:t>
              </a:r>
              <a:r>
                <a:rPr b="1" dirty="0">
                  <a:solidFill>
                    <a:srgbClr val="FFFFFF"/>
                  </a:solidFill>
                </a:rPr>
                <a:t>Assets</a:t>
              </a:r>
            </a:p>
          </p:txBody>
        </p:sp>
        <p:sp>
          <p:nvSpPr>
            <p:cNvPr id="96" name="TextBox 36"/>
            <p:cNvSpPr txBox="1"/>
            <p:nvPr/>
          </p:nvSpPr>
          <p:spPr>
            <a:xfrm>
              <a:off x="6168299" y="3007196"/>
              <a:ext cx="1381708" cy="276999"/>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 24 months</a:t>
              </a:r>
            </a:p>
          </p:txBody>
        </p:sp>
        <p:sp>
          <p:nvSpPr>
            <p:cNvPr id="97" name="TextBox 37"/>
            <p:cNvSpPr txBox="1"/>
            <p:nvPr/>
          </p:nvSpPr>
          <p:spPr>
            <a:xfrm>
              <a:off x="8951329" y="3001319"/>
              <a:ext cx="1337531" cy="276999"/>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&gt; 24 months</a:t>
              </a:r>
            </a:p>
          </p:txBody>
        </p:sp>
      </p:grpSp>
    </p:spTree>
    <p:extLst>
      <p:ext uri="{BB962C8B-B14F-4D97-AF65-F5344CB8AC3E}">
        <p14:creationId xmlns:p14="http://schemas.microsoft.com/office/powerpoint/2010/main" val="122074765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532711386"/>
              </p:ext>
            </p:extLst>
          </p:nvPr>
        </p:nvGraphicFramePr>
        <p:xfrm>
          <a:off x="131763" y="863600"/>
          <a:ext cx="11928474" cy="4826001"/>
        </p:xfrm>
        <a:graphic>
          <a:graphicData uri="http://schemas.openxmlformats.org/drawingml/2006/table">
            <a:tbl>
              <a:tblPr firstRow="1" bandRow="1">
                <a:tableStyleId>{7DF18680-E054-41AD-8BC1-D1AEF772440D}</a:tableStyleId>
              </a:tblPr>
              <a:tblGrid>
                <a:gridCol w="9148270">
                  <a:extLst>
                    <a:ext uri="{9D8B030D-6E8A-4147-A177-3AD203B41FA5}">
                      <a16:colId xmlns:a16="http://schemas.microsoft.com/office/drawing/2014/main" val="20000"/>
                    </a:ext>
                  </a:extLst>
                </a:gridCol>
                <a:gridCol w="1397868">
                  <a:extLst>
                    <a:ext uri="{9D8B030D-6E8A-4147-A177-3AD203B41FA5}">
                      <a16:colId xmlns:a16="http://schemas.microsoft.com/office/drawing/2014/main" val="20001"/>
                    </a:ext>
                  </a:extLst>
                </a:gridCol>
                <a:gridCol w="1382336">
                  <a:extLst>
                    <a:ext uri="{9D8B030D-6E8A-4147-A177-3AD203B41FA5}">
                      <a16:colId xmlns:a16="http://schemas.microsoft.com/office/drawing/2014/main" val="20002"/>
                    </a:ext>
                  </a:extLst>
                </a:gridCol>
              </a:tblGrid>
              <a:tr h="461123">
                <a:tc>
                  <a:txBody>
                    <a:bodyPr/>
                    <a:lstStyle/>
                    <a:p>
                      <a:pPr algn="ctr"/>
                      <a:r>
                        <a:rPr lang="en-US" dirty="0"/>
                        <a:t>Particulars</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t>Amount</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t>Amount</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4611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u="none" strike="noStrike" kern="1200" baseline="0" dirty="0">
                          <a:solidFill>
                            <a:schemeClr val="dk1"/>
                          </a:solidFill>
                        </a:rPr>
                        <a:t>Full value of consideration received or accruing as a result of transfer </a:t>
                      </a:r>
                      <a:endPar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US" dirty="0"/>
                        <a:t>xxx</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en-US">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1137017">
                <a:tc>
                  <a:txBody>
                    <a:bodyPr/>
                    <a:lstStyle/>
                    <a:p>
                      <a:r>
                        <a:rPr lang="en-US" sz="1800" b="1" u="none" strike="noStrike" kern="1200" baseline="0" dirty="0">
                          <a:solidFill>
                            <a:schemeClr val="dk1"/>
                          </a:solidFill>
                        </a:rPr>
                        <a:t>Less: </a:t>
                      </a:r>
                      <a:r>
                        <a:rPr lang="en-US" sz="1800" b="0" u="none" strike="noStrike" kern="1200" baseline="0" dirty="0">
                          <a:solidFill>
                            <a:schemeClr val="dk1"/>
                          </a:solidFill>
                        </a:rPr>
                        <a:t>Expenditure incurred wholly and exclusively in connection with such transfer (for e.g., brokerage on sale) </a:t>
                      </a:r>
                    </a:p>
                    <a:p>
                      <a:r>
                        <a:rPr lang="en-US" sz="1800" b="0" u="none" strike="noStrike" kern="1200" baseline="0" dirty="0">
                          <a:solidFill>
                            <a:schemeClr val="dk1"/>
                          </a:solidFill>
                        </a:rPr>
                        <a:t>(Note: Deduction on account of STT paid will not be allowed) 	</a:t>
                      </a:r>
                      <a:endPar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US" dirty="0"/>
                        <a:t>xxx</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en-US">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r h="4611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u="none" strike="noStrike" kern="1200" baseline="0" dirty="0">
                          <a:solidFill>
                            <a:schemeClr val="dk1"/>
                          </a:solidFill>
                        </a:rPr>
                        <a:t>Net Sale Consideration </a:t>
                      </a:r>
                      <a:r>
                        <a:rPr lang="en-US" sz="1800" b="0" u="none" strike="noStrike" kern="1200" baseline="0" dirty="0">
                          <a:solidFill>
                            <a:schemeClr val="dk1"/>
                          </a:solidFill>
                        </a:rPr>
                        <a:t>	</a:t>
                      </a:r>
                      <a:endPar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ct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b="1" dirty="0"/>
                        <a:t>xxx</a:t>
                      </a:r>
                      <a:endParaRPr lang="en-US"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3"/>
                  </a:ext>
                </a:extLst>
              </a:tr>
              <a:tr h="4611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u="none" strike="noStrike" kern="1200" baseline="0" dirty="0">
                          <a:solidFill>
                            <a:schemeClr val="dk1"/>
                          </a:solidFill>
                        </a:rPr>
                        <a:t>Less</a:t>
                      </a:r>
                      <a:r>
                        <a:rPr lang="en-US" sz="1800" b="0" u="none" strike="noStrike" kern="1200" baseline="0" dirty="0">
                          <a:solidFill>
                            <a:schemeClr val="dk1"/>
                          </a:solidFill>
                        </a:rPr>
                        <a:t>: Cost of acquisition 	</a:t>
                      </a:r>
                      <a:endPar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US" dirty="0"/>
                        <a:t>xxx</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4"/>
                  </a:ext>
                </a:extLst>
              </a:tr>
              <a:tr h="4611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u="none" strike="noStrike" kern="1200" baseline="0" dirty="0">
                          <a:solidFill>
                            <a:schemeClr val="dk1"/>
                          </a:solidFill>
                        </a:rPr>
                        <a:t>          Cost of improvement 	</a:t>
                      </a:r>
                      <a:endPar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US" dirty="0"/>
                        <a:t>xxx</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t>xxx</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5"/>
                  </a:ext>
                </a:extLst>
              </a:tr>
              <a:tr h="4611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u="none" strike="noStrike" kern="1200" baseline="0" dirty="0">
                          <a:solidFill>
                            <a:schemeClr val="dk1"/>
                          </a:solidFill>
                        </a:rPr>
                        <a:t>Short-term capital gain (STCG) </a:t>
                      </a:r>
                      <a:r>
                        <a:rPr lang="en-US" sz="1800" b="0" u="none" strike="noStrike" kern="1200" baseline="0" dirty="0">
                          <a:solidFill>
                            <a:schemeClr val="dk1"/>
                          </a:solidFill>
                        </a:rPr>
                        <a:t>	</a:t>
                      </a:r>
                      <a:endPar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ct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b="1" dirty="0"/>
                        <a:t>xxx</a:t>
                      </a:r>
                      <a:endParaRPr lang="en-US"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6"/>
                  </a:ext>
                </a:extLst>
              </a:tr>
              <a:tr h="4611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u="none" strike="noStrike" kern="1200" baseline="0" dirty="0">
                          <a:solidFill>
                            <a:schemeClr val="dk1"/>
                          </a:solidFill>
                        </a:rPr>
                        <a:t>Less: </a:t>
                      </a:r>
                      <a:r>
                        <a:rPr lang="en-US" sz="1800" b="0" u="none" strike="noStrike" kern="1200" baseline="0" dirty="0">
                          <a:solidFill>
                            <a:schemeClr val="dk1"/>
                          </a:solidFill>
                        </a:rPr>
                        <a:t>Exemption under section 54B/ 54D 	</a:t>
                      </a:r>
                      <a:endPar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ct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t>xxx</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7"/>
                  </a:ext>
                </a:extLst>
              </a:tr>
              <a:tr h="461123">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000" b="1" u="sng" strike="noStrike" kern="1200" baseline="0" dirty="0">
                          <a:solidFill>
                            <a:schemeClr val="dk1"/>
                          </a:solidFill>
                        </a:rPr>
                        <a:t>Short-term capital gain chargeable to tax </a:t>
                      </a:r>
                      <a:r>
                        <a:rPr lang="en-US" sz="2000" b="0" u="sng" strike="noStrike" kern="1200" baseline="0" dirty="0">
                          <a:solidFill>
                            <a:schemeClr val="dk1"/>
                          </a:solidFill>
                        </a:rPr>
                        <a:t>	</a:t>
                      </a:r>
                      <a:endParaRPr lang="en-US" sz="2000" b="0" i="0" u="sng"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ctr"/>
                      <a:endParaRPr lang="en-US" sz="2000" u="sng" dirty="0">
                        <a:latin typeface="Times New Roman" panose="02020603050405020304" pitchFamily="18" charset="0"/>
                        <a:cs typeface="Times New Roman" panose="02020603050405020304" pitchFamily="18" charset="0"/>
                      </a:endParaRPr>
                    </a:p>
                  </a:txBody>
                  <a:tcPr anchor="ctr"/>
                </a:tc>
                <a:tc>
                  <a:txBody>
                    <a:bodyPr/>
                    <a:lstStyle/>
                    <a:p>
                      <a:pPr algn="ctr"/>
                      <a:r>
                        <a:rPr lang="en-US" sz="2000" b="1" u="sng" dirty="0"/>
                        <a:t>xxx</a:t>
                      </a:r>
                      <a:endParaRPr lang="en-US" sz="2000" b="1" u="sng"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8"/>
                  </a:ext>
                </a:extLst>
              </a:tr>
            </a:tbl>
          </a:graphicData>
        </a:graphic>
      </p:graphicFrame>
      <p:sp>
        <p:nvSpPr>
          <p:cNvPr id="2" name="Title 1"/>
          <p:cNvSpPr>
            <a:spLocks noGrp="1"/>
          </p:cNvSpPr>
          <p:nvPr>
            <p:ph type="title"/>
          </p:nvPr>
        </p:nvSpPr>
        <p:spPr/>
        <p:txBody>
          <a:bodyPr>
            <a:normAutofit/>
          </a:bodyPr>
          <a:lstStyle/>
          <a:p>
            <a:r>
              <a:rPr lang="en-US" b="1" dirty="0">
                <a:cs typeface="Times New Roman" panose="02020603050405020304" pitchFamily="18" charset="0"/>
              </a:rPr>
              <a:t>Computation of Short Term Capital Gain</a:t>
            </a:r>
          </a:p>
        </p:txBody>
      </p:sp>
    </p:spTree>
    <p:extLst>
      <p:ext uri="{BB962C8B-B14F-4D97-AF65-F5344CB8AC3E}">
        <p14:creationId xmlns:p14="http://schemas.microsoft.com/office/powerpoint/2010/main" val="68050108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rmAutofit/>
          </a:bodyPr>
          <a:lstStyle/>
          <a:p>
            <a:r>
              <a:rPr lang="en-US" b="1" dirty="0">
                <a:cs typeface="Times New Roman" panose="02020603050405020304" pitchFamily="18" charset="0"/>
              </a:rPr>
              <a:t>Computation of Long Term Capital Gain</a:t>
            </a:r>
          </a:p>
        </p:txBody>
      </p:sp>
      <p:graphicFrame>
        <p:nvGraphicFramePr>
          <p:cNvPr id="7" name="Content Placeholder 3"/>
          <p:cNvGraphicFramePr>
            <a:graphicFrameLocks/>
          </p:cNvGraphicFramePr>
          <p:nvPr>
            <p:extLst>
              <p:ext uri="{D42A27DB-BD31-4B8C-83A1-F6EECF244321}">
                <p14:modId xmlns:p14="http://schemas.microsoft.com/office/powerpoint/2010/main" val="1599352848"/>
              </p:ext>
            </p:extLst>
          </p:nvPr>
        </p:nvGraphicFramePr>
        <p:xfrm>
          <a:off x="288524" y="859222"/>
          <a:ext cx="11572043" cy="5139556"/>
        </p:xfrm>
        <a:graphic>
          <a:graphicData uri="http://schemas.openxmlformats.org/drawingml/2006/table">
            <a:tbl>
              <a:tblPr firstRow="1" bandRow="1">
                <a:tableStyleId>{7DF18680-E054-41AD-8BC1-D1AEF772440D}</a:tableStyleId>
              </a:tblPr>
              <a:tblGrid>
                <a:gridCol w="8874913">
                  <a:extLst>
                    <a:ext uri="{9D8B030D-6E8A-4147-A177-3AD203B41FA5}">
                      <a16:colId xmlns:a16="http://schemas.microsoft.com/office/drawing/2014/main" val="20000"/>
                    </a:ext>
                  </a:extLst>
                </a:gridCol>
                <a:gridCol w="1356099">
                  <a:extLst>
                    <a:ext uri="{9D8B030D-6E8A-4147-A177-3AD203B41FA5}">
                      <a16:colId xmlns:a16="http://schemas.microsoft.com/office/drawing/2014/main" val="20001"/>
                    </a:ext>
                  </a:extLst>
                </a:gridCol>
                <a:gridCol w="1341031">
                  <a:extLst>
                    <a:ext uri="{9D8B030D-6E8A-4147-A177-3AD203B41FA5}">
                      <a16:colId xmlns:a16="http://schemas.microsoft.com/office/drawing/2014/main" val="20002"/>
                    </a:ext>
                  </a:extLst>
                </a:gridCol>
              </a:tblGrid>
              <a:tr h="491083">
                <a:tc>
                  <a:txBody>
                    <a:bodyPr/>
                    <a:lstStyle/>
                    <a:p>
                      <a:pPr algn="ctr"/>
                      <a:r>
                        <a:rPr lang="en-US" dirty="0"/>
                        <a:t>Particulars</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t>Amount</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t>Amount</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4910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u="none" strike="noStrike" kern="1200" baseline="0" dirty="0">
                          <a:solidFill>
                            <a:schemeClr val="dk1"/>
                          </a:solidFill>
                        </a:rPr>
                        <a:t>Full value of consideration received or accruing as a result of transfer </a:t>
                      </a:r>
                      <a:endPar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US" dirty="0"/>
                        <a:t>xxx</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en-US">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1210892">
                <a:tc>
                  <a:txBody>
                    <a:bodyPr/>
                    <a:lstStyle/>
                    <a:p>
                      <a:r>
                        <a:rPr lang="en-US" sz="1800" b="1" u="none" strike="noStrike" kern="1200" baseline="0" dirty="0">
                          <a:solidFill>
                            <a:schemeClr val="dk1"/>
                          </a:solidFill>
                        </a:rPr>
                        <a:t>Less: </a:t>
                      </a:r>
                      <a:r>
                        <a:rPr lang="en-US" sz="1800" b="0" u="none" strike="noStrike" kern="1200" baseline="0" dirty="0">
                          <a:solidFill>
                            <a:schemeClr val="dk1"/>
                          </a:solidFill>
                        </a:rPr>
                        <a:t>Expenditure incurred wholly and exclusively in connection with such transfer (for e.g., brokerage on sale) </a:t>
                      </a:r>
                    </a:p>
                    <a:p>
                      <a:r>
                        <a:rPr lang="en-US" sz="1800" b="0" u="none" strike="noStrike" kern="1200" baseline="0" dirty="0">
                          <a:solidFill>
                            <a:schemeClr val="dk1"/>
                          </a:solidFill>
                        </a:rPr>
                        <a:t>(Note: Deduction on account of STT paid will not be allowed) 	</a:t>
                      </a:r>
                      <a:endPar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US" dirty="0"/>
                        <a:t>xxx</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en-US">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r h="4910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u="none" strike="noStrike" kern="1200" baseline="0" dirty="0">
                          <a:solidFill>
                            <a:schemeClr val="dk1"/>
                          </a:solidFill>
                        </a:rPr>
                        <a:t>Net Sale Consideration </a:t>
                      </a:r>
                      <a:r>
                        <a:rPr lang="en-US" sz="1800" b="0" u="none" strike="noStrike" kern="1200" baseline="0" dirty="0">
                          <a:solidFill>
                            <a:schemeClr val="dk1"/>
                          </a:solidFill>
                        </a:rPr>
                        <a:t>	</a:t>
                      </a:r>
                      <a:endPar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ct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b="1" dirty="0"/>
                        <a:t>xxx</a:t>
                      </a:r>
                      <a:endParaRPr lang="en-US"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3"/>
                  </a:ext>
                </a:extLst>
              </a:tr>
              <a:tr h="4910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u="none" strike="noStrike" kern="1200" baseline="0" dirty="0">
                          <a:solidFill>
                            <a:schemeClr val="dk1"/>
                          </a:solidFill>
                        </a:rPr>
                        <a:t>Less</a:t>
                      </a:r>
                      <a:r>
                        <a:rPr lang="en-US" sz="1800" b="0" u="none" strike="noStrike" kern="1200" baseline="0" dirty="0">
                          <a:solidFill>
                            <a:schemeClr val="dk1"/>
                          </a:solidFill>
                        </a:rPr>
                        <a:t>: Cost of acquisition 	</a:t>
                      </a:r>
                      <a:endPar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US" dirty="0"/>
                        <a:t>xxx</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4"/>
                  </a:ext>
                </a:extLst>
              </a:tr>
              <a:tr h="4910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u="none" strike="noStrike" kern="1200" baseline="0" dirty="0">
                          <a:solidFill>
                            <a:schemeClr val="dk1"/>
                          </a:solidFill>
                        </a:rPr>
                        <a:t>          Cost of improvement 	</a:t>
                      </a:r>
                      <a:endPar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US" dirty="0"/>
                        <a:t>xxx</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t>xxx</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5"/>
                  </a:ext>
                </a:extLst>
              </a:tr>
              <a:tr h="4910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u="none" strike="noStrike" kern="1200" baseline="0" dirty="0">
                          <a:solidFill>
                            <a:schemeClr val="dk1"/>
                          </a:solidFill>
                        </a:rPr>
                        <a:t>Long-term capital gain (STCG) </a:t>
                      </a:r>
                      <a:r>
                        <a:rPr lang="en-US" sz="1800" b="0" u="none" strike="noStrike" kern="1200" baseline="0" dirty="0">
                          <a:solidFill>
                            <a:schemeClr val="dk1"/>
                          </a:solidFill>
                        </a:rPr>
                        <a:t>	</a:t>
                      </a:r>
                      <a:endPar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ct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b="1" dirty="0"/>
                        <a:t>xxx</a:t>
                      </a:r>
                      <a:endParaRPr lang="en-US"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6"/>
                  </a:ext>
                </a:extLst>
              </a:tr>
              <a:tr h="4910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u="none" strike="noStrike" kern="1200" baseline="0" dirty="0">
                          <a:solidFill>
                            <a:schemeClr val="dk1"/>
                          </a:solidFill>
                        </a:rPr>
                        <a:t>Less: </a:t>
                      </a:r>
                      <a:r>
                        <a:rPr lang="en-US" sz="1800" b="0" u="none" strike="noStrike" kern="1200" baseline="0" dirty="0">
                          <a:solidFill>
                            <a:schemeClr val="dk1"/>
                          </a:solidFill>
                        </a:rPr>
                        <a:t>Exemption under section 54/54B/54D/54EC/54F 	 	</a:t>
                      </a:r>
                      <a:endPar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ct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t>xxx</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7"/>
                  </a:ext>
                </a:extLst>
              </a:tr>
              <a:tr h="491083">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000" b="1" u="sng" strike="noStrike" kern="1200" baseline="0" dirty="0">
                          <a:solidFill>
                            <a:schemeClr val="dk1"/>
                          </a:solidFill>
                        </a:rPr>
                        <a:t>Long-term capital gain chargeable to tax </a:t>
                      </a:r>
                      <a:r>
                        <a:rPr lang="en-US" sz="2000" b="0" u="sng" strike="noStrike" kern="1200" baseline="0" dirty="0">
                          <a:solidFill>
                            <a:schemeClr val="dk1"/>
                          </a:solidFill>
                        </a:rPr>
                        <a:t>	</a:t>
                      </a:r>
                      <a:endParaRPr lang="en-US" sz="2000" b="0" i="0" u="sng"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ctr"/>
                      <a:endParaRPr lang="en-US" sz="2000" u="sng" dirty="0">
                        <a:latin typeface="Times New Roman" panose="02020603050405020304" pitchFamily="18" charset="0"/>
                        <a:cs typeface="Times New Roman" panose="02020603050405020304" pitchFamily="18" charset="0"/>
                      </a:endParaRPr>
                    </a:p>
                  </a:txBody>
                  <a:tcPr anchor="ctr"/>
                </a:tc>
                <a:tc>
                  <a:txBody>
                    <a:bodyPr/>
                    <a:lstStyle/>
                    <a:p>
                      <a:pPr algn="ctr"/>
                      <a:r>
                        <a:rPr lang="en-US" sz="2000" b="1" u="sng" dirty="0"/>
                        <a:t>xxx</a:t>
                      </a:r>
                      <a:endParaRPr lang="en-US" sz="2000" b="1" u="sng"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38336394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l">
              <a:lnSpc>
                <a:spcPct val="150000"/>
              </a:lnSpc>
              <a:buNone/>
            </a:pPr>
            <a:r>
              <a:rPr lang="en-US" b="1" dirty="0">
                <a:cs typeface="Times New Roman" panose="02020603050405020304" pitchFamily="18" charset="0"/>
              </a:rPr>
              <a:t>Asset Sold:</a:t>
            </a:r>
            <a:r>
              <a:rPr lang="en-US" dirty="0">
                <a:cs typeface="Times New Roman" panose="02020603050405020304" pitchFamily="18" charset="0"/>
              </a:rPr>
              <a:t> Equity Shares (sold within 10 months)</a:t>
            </a:r>
            <a:br>
              <a:rPr lang="en-US" dirty="0">
                <a:cs typeface="Times New Roman" panose="02020603050405020304" pitchFamily="18" charset="0"/>
              </a:rPr>
            </a:br>
            <a:r>
              <a:rPr lang="en-US" b="1" dirty="0">
                <a:cs typeface="Times New Roman" panose="02020603050405020304" pitchFamily="18" charset="0"/>
              </a:rPr>
              <a:t>Date of Purchase:</a:t>
            </a:r>
            <a:r>
              <a:rPr lang="en-US" dirty="0">
                <a:cs typeface="Times New Roman" panose="02020603050405020304" pitchFamily="18" charset="0"/>
              </a:rPr>
              <a:t> 01-Aug-2024</a:t>
            </a:r>
            <a:br>
              <a:rPr lang="en-US" dirty="0">
                <a:cs typeface="Times New Roman" panose="02020603050405020304" pitchFamily="18" charset="0"/>
              </a:rPr>
            </a:br>
            <a:r>
              <a:rPr lang="en-US" b="1" dirty="0">
                <a:cs typeface="Times New Roman" panose="02020603050405020304" pitchFamily="18" charset="0"/>
              </a:rPr>
              <a:t>Date of Sale:</a:t>
            </a:r>
            <a:r>
              <a:rPr lang="en-US" dirty="0">
                <a:cs typeface="Times New Roman" panose="02020603050405020304" pitchFamily="18" charset="0"/>
              </a:rPr>
              <a:t> 20-May-2025</a:t>
            </a:r>
            <a:br>
              <a:rPr lang="en-US" dirty="0">
                <a:cs typeface="Times New Roman" panose="02020603050405020304" pitchFamily="18" charset="0"/>
              </a:rPr>
            </a:br>
            <a:r>
              <a:rPr lang="en-US" b="1" dirty="0">
                <a:cs typeface="Times New Roman" panose="02020603050405020304" pitchFamily="18" charset="0"/>
              </a:rPr>
              <a:t>Sale Consideration:</a:t>
            </a:r>
            <a:r>
              <a:rPr lang="en-US" dirty="0">
                <a:cs typeface="Times New Roman" panose="02020603050405020304" pitchFamily="18" charset="0"/>
              </a:rPr>
              <a:t> ₹1,50,000</a:t>
            </a:r>
            <a:br>
              <a:rPr lang="en-US" dirty="0">
                <a:cs typeface="Times New Roman" panose="02020603050405020304" pitchFamily="18" charset="0"/>
              </a:rPr>
            </a:br>
            <a:r>
              <a:rPr lang="en-US" b="1" dirty="0">
                <a:cs typeface="Times New Roman" panose="02020603050405020304" pitchFamily="18" charset="0"/>
              </a:rPr>
              <a:t>Purchase Price:</a:t>
            </a:r>
            <a:r>
              <a:rPr lang="en-US" dirty="0">
                <a:cs typeface="Times New Roman" panose="02020603050405020304" pitchFamily="18" charset="0"/>
              </a:rPr>
              <a:t> ₹1,00,000</a:t>
            </a:r>
            <a:br>
              <a:rPr lang="en-US" dirty="0">
                <a:cs typeface="Times New Roman" panose="02020603050405020304" pitchFamily="18" charset="0"/>
              </a:rPr>
            </a:br>
            <a:r>
              <a:rPr lang="en-US" b="1" dirty="0">
                <a:cs typeface="Times New Roman" panose="02020603050405020304" pitchFamily="18" charset="0"/>
              </a:rPr>
              <a:t>Expenses on Transfer:</a:t>
            </a:r>
            <a:r>
              <a:rPr lang="en-US" dirty="0">
                <a:cs typeface="Times New Roman" panose="02020603050405020304" pitchFamily="18" charset="0"/>
              </a:rPr>
              <a:t> ₹2,000</a:t>
            </a:r>
          </a:p>
          <a:p>
            <a:pPr marL="0" indent="0" algn="l">
              <a:lnSpc>
                <a:spcPct val="150000"/>
              </a:lnSpc>
              <a:buNone/>
            </a:pPr>
            <a:r>
              <a:rPr lang="en-US" dirty="0">
                <a:cs typeface="Times New Roman" panose="02020603050405020304" pitchFamily="18" charset="0"/>
              </a:rPr>
              <a:t>Calculate the short term capital gain and also calculate the tax on it.</a:t>
            </a:r>
          </a:p>
        </p:txBody>
      </p:sp>
      <p:sp>
        <p:nvSpPr>
          <p:cNvPr id="2" name="Title 1"/>
          <p:cNvSpPr>
            <a:spLocks noGrp="1"/>
          </p:cNvSpPr>
          <p:nvPr>
            <p:ph type="title"/>
          </p:nvPr>
        </p:nvSpPr>
        <p:spPr/>
        <p:txBody>
          <a:bodyPr/>
          <a:lstStyle/>
          <a:p>
            <a:r>
              <a:rPr lang="en-US" b="1" dirty="0">
                <a:cs typeface="Times New Roman" panose="02020603050405020304" pitchFamily="18" charset="0"/>
              </a:rPr>
              <a:t>Example 1</a:t>
            </a:r>
          </a:p>
        </p:txBody>
      </p:sp>
    </p:spTree>
    <p:extLst>
      <p:ext uri="{BB962C8B-B14F-4D97-AF65-F5344CB8AC3E}">
        <p14:creationId xmlns:p14="http://schemas.microsoft.com/office/powerpoint/2010/main" val="415098633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261926364"/>
              </p:ext>
            </p:extLst>
          </p:nvPr>
        </p:nvGraphicFramePr>
        <p:xfrm>
          <a:off x="131763" y="863600"/>
          <a:ext cx="11928473" cy="5078637"/>
        </p:xfrm>
        <a:graphic>
          <a:graphicData uri="http://schemas.openxmlformats.org/drawingml/2006/table">
            <a:tbl>
              <a:tblPr firstRow="1" bandRow="1">
                <a:tableStyleId>{7DF18680-E054-41AD-8BC1-D1AEF772440D}</a:tableStyleId>
              </a:tblPr>
              <a:tblGrid>
                <a:gridCol w="7246495">
                  <a:extLst>
                    <a:ext uri="{9D8B030D-6E8A-4147-A177-3AD203B41FA5}">
                      <a16:colId xmlns:a16="http://schemas.microsoft.com/office/drawing/2014/main" val="20000"/>
                    </a:ext>
                  </a:extLst>
                </a:gridCol>
                <a:gridCol w="2340989">
                  <a:extLst>
                    <a:ext uri="{9D8B030D-6E8A-4147-A177-3AD203B41FA5}">
                      <a16:colId xmlns:a16="http://schemas.microsoft.com/office/drawing/2014/main" val="20001"/>
                    </a:ext>
                  </a:extLst>
                </a:gridCol>
                <a:gridCol w="2340989">
                  <a:extLst>
                    <a:ext uri="{9D8B030D-6E8A-4147-A177-3AD203B41FA5}">
                      <a16:colId xmlns:a16="http://schemas.microsoft.com/office/drawing/2014/main" val="20002"/>
                    </a:ext>
                  </a:extLst>
                </a:gridCol>
              </a:tblGrid>
              <a:tr h="564293">
                <a:tc>
                  <a:txBody>
                    <a:bodyPr/>
                    <a:lstStyle/>
                    <a:p>
                      <a:pPr algn="ctr"/>
                      <a:r>
                        <a:rPr lang="en-US" sz="2400" b="1" dirty="0"/>
                        <a:t>Particular</a:t>
                      </a:r>
                      <a:endParaRPr lang="en-US" sz="2400" b="1"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t>Amount</a:t>
                      </a:r>
                      <a:endParaRPr lang="en-US" sz="24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b="1" dirty="0"/>
                        <a:t>Amount</a:t>
                      </a:r>
                      <a:endParaRPr lang="en-US" sz="24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564293">
                <a:tc>
                  <a:txBody>
                    <a:bodyPr/>
                    <a:lstStyle/>
                    <a:p>
                      <a:pPr algn="l"/>
                      <a:r>
                        <a:rPr lang="en-US" sz="2400" dirty="0"/>
                        <a:t>Full Value of Consideration (Sell</a:t>
                      </a:r>
                      <a:r>
                        <a:rPr lang="en-US" sz="2400" baseline="0" dirty="0"/>
                        <a:t> value</a:t>
                      </a:r>
                      <a:r>
                        <a:rPr lang="en-US" sz="2400" dirty="0"/>
                        <a:t>)</a:t>
                      </a:r>
                      <a:endParaRPr lang="en-US" sz="2400" b="0"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dirty="0"/>
                        <a:t>1,50,000</a:t>
                      </a:r>
                      <a:endParaRPr lang="en-US" sz="2400" b="0" dirty="0">
                        <a:latin typeface="Times New Roman" panose="02020603050405020304" pitchFamily="18" charset="0"/>
                        <a:cs typeface="Times New Roman" panose="02020603050405020304" pitchFamily="18" charset="0"/>
                      </a:endParaRPr>
                    </a:p>
                  </a:txBody>
                  <a:tcPr anchor="ctr"/>
                </a:tc>
                <a:tc>
                  <a:txBody>
                    <a:bodyPr/>
                    <a:lstStyle/>
                    <a:p>
                      <a:endParaRPr lang="en-US" dirty="0"/>
                    </a:p>
                  </a:txBody>
                  <a:tcPr anchor="ctr"/>
                </a:tc>
                <a:extLst>
                  <a:ext uri="{0D108BD9-81ED-4DB2-BD59-A6C34878D82A}">
                    <a16:rowId xmlns:a16="http://schemas.microsoft.com/office/drawing/2014/main" val="10001"/>
                  </a:ext>
                </a:extLst>
              </a:tr>
              <a:tr h="5642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Less: Expenses on Transfer</a:t>
                      </a:r>
                      <a:endParaRPr lang="en-US" sz="2400" b="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(2,000)</a:t>
                      </a:r>
                      <a:endParaRPr lang="en-US" sz="2400" b="0" dirty="0">
                        <a:latin typeface="Times New Roman" panose="02020603050405020304" pitchFamily="18" charset="0"/>
                        <a:cs typeface="Times New Roman" panose="02020603050405020304" pitchFamily="18" charset="0"/>
                      </a:endParaRPr>
                    </a:p>
                  </a:txBody>
                  <a:tcPr anchor="ctr"/>
                </a:tc>
                <a:tc>
                  <a:txBody>
                    <a:bodyPr/>
                    <a:lstStyle/>
                    <a:p>
                      <a:endParaRPr lang="en-US" dirty="0"/>
                    </a:p>
                  </a:txBody>
                  <a:tcPr anchor="ctr"/>
                </a:tc>
                <a:extLst>
                  <a:ext uri="{0D108BD9-81ED-4DB2-BD59-A6C34878D82A}">
                    <a16:rowId xmlns:a16="http://schemas.microsoft.com/office/drawing/2014/main" val="10002"/>
                  </a:ext>
                </a:extLst>
              </a:tr>
              <a:tr h="5642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t>Net Sale Consideration</a:t>
                      </a:r>
                      <a:endParaRPr lang="en-US" sz="2400" b="1" dirty="0">
                        <a:latin typeface="Times New Roman" panose="02020603050405020304" pitchFamily="18" charset="0"/>
                        <a:cs typeface="Times New Roman" panose="02020603050405020304" pitchFamily="18" charset="0"/>
                      </a:endParaRPr>
                    </a:p>
                  </a:txBody>
                  <a:tcPr anchor="ctr"/>
                </a:tc>
                <a:tc>
                  <a:txBody>
                    <a:bodyPr/>
                    <a:lstStyle/>
                    <a:p>
                      <a:endParaRPr lang="en-US" b="1"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b="1" dirty="0"/>
                        <a:t>1,48,000</a:t>
                      </a:r>
                      <a:endParaRPr lang="en-US" sz="24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3"/>
                  </a:ext>
                </a:extLst>
              </a:tr>
              <a:tr h="5642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Less: Cost of Acquisition (Purchase)</a:t>
                      </a:r>
                      <a:endParaRPr lang="en-US" sz="24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b="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(1,00,000)</a:t>
                      </a:r>
                      <a:endParaRPr lang="en-US" sz="2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4"/>
                  </a:ext>
                </a:extLst>
              </a:tr>
              <a:tr h="564293">
                <a:tc>
                  <a:txBody>
                    <a:bodyPr/>
                    <a:lstStyle/>
                    <a:p>
                      <a:pPr algn="ctr"/>
                      <a:r>
                        <a:rPr lang="en-US" sz="2400" b="1" dirty="0"/>
                        <a:t>Short Term Capital Gain</a:t>
                      </a:r>
                      <a:endParaRPr lang="en-US" sz="2400" b="1" dirty="0">
                        <a:latin typeface="Times New Roman" panose="02020603050405020304" pitchFamily="18" charset="0"/>
                        <a:cs typeface="Times New Roman" panose="02020603050405020304" pitchFamily="18" charset="0"/>
                      </a:endParaRPr>
                    </a:p>
                  </a:txBody>
                  <a:tcPr anchor="ctr"/>
                </a:tc>
                <a:tc>
                  <a:txBody>
                    <a:bodyPr/>
                    <a:lstStyle/>
                    <a:p>
                      <a:pPr algn="ctr"/>
                      <a:endParaRPr lang="en-US" b="1"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b="1" dirty="0"/>
                        <a:t>48,000</a:t>
                      </a:r>
                      <a:endParaRPr lang="en-US" sz="24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5"/>
                  </a:ext>
                </a:extLst>
              </a:tr>
              <a:tr h="564293">
                <a:tc>
                  <a:txBody>
                    <a:bodyPr/>
                    <a:lstStyle/>
                    <a:p>
                      <a:pPr algn="l"/>
                      <a:r>
                        <a:rPr lang="en-US" sz="2400" dirty="0"/>
                        <a:t>Tax (20%)</a:t>
                      </a:r>
                      <a:endParaRPr lang="en-US" sz="2400" b="0" dirty="0">
                        <a:latin typeface="Times New Roman" panose="02020603050405020304" pitchFamily="18" charset="0"/>
                        <a:cs typeface="Times New Roman" panose="02020603050405020304" pitchFamily="18" charset="0"/>
                      </a:endParaRPr>
                    </a:p>
                  </a:txBody>
                  <a:tcPr anchor="ctr"/>
                </a:tc>
                <a:tc>
                  <a:txBody>
                    <a:bodyPr/>
                    <a:lstStyle/>
                    <a:p>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b="0" dirty="0"/>
                        <a:t>9,600</a:t>
                      </a:r>
                      <a:endParaRPr lang="en-US" sz="2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6"/>
                  </a:ext>
                </a:extLst>
              </a:tr>
              <a:tr h="564293">
                <a:tc>
                  <a:txBody>
                    <a:bodyPr/>
                    <a:lstStyle/>
                    <a:p>
                      <a:pPr algn="l"/>
                      <a:r>
                        <a:rPr lang="en-US" sz="2400" dirty="0"/>
                        <a:t>Add: Cess (4%)</a:t>
                      </a:r>
                      <a:endParaRPr lang="en-US" sz="2400" b="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b="0"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b="0" dirty="0"/>
                        <a:t>384</a:t>
                      </a:r>
                      <a:endParaRPr lang="en-US" sz="2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7"/>
                  </a:ext>
                </a:extLst>
              </a:tr>
              <a:tr h="564293">
                <a:tc>
                  <a:txBody>
                    <a:bodyPr/>
                    <a:lstStyle/>
                    <a:p>
                      <a:pPr algn="l"/>
                      <a:r>
                        <a:rPr lang="en-US" sz="2400" b="1" dirty="0"/>
                        <a:t>Total Tax on STCG</a:t>
                      </a:r>
                      <a:endParaRPr lang="en-US" sz="2400" b="1" dirty="0">
                        <a:latin typeface="Times New Roman" panose="02020603050405020304" pitchFamily="18" charset="0"/>
                        <a:cs typeface="Times New Roman" panose="02020603050405020304" pitchFamily="18" charset="0"/>
                      </a:endParaRPr>
                    </a:p>
                  </a:txBody>
                  <a:tcPr anchor="ctr"/>
                </a:tc>
                <a:tc>
                  <a:txBody>
                    <a:bodyPr/>
                    <a:lstStyle/>
                    <a:p>
                      <a:pPr algn="ctr"/>
                      <a:endParaRPr lang="en-US" sz="24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b="1" dirty="0"/>
                        <a:t>9,984</a:t>
                      </a:r>
                      <a:endParaRPr lang="en-US" sz="24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8"/>
                  </a:ext>
                </a:extLst>
              </a:tr>
            </a:tbl>
          </a:graphicData>
        </a:graphic>
      </p:graphicFrame>
      <p:sp>
        <p:nvSpPr>
          <p:cNvPr id="2" name="Title 1"/>
          <p:cNvSpPr>
            <a:spLocks noGrp="1"/>
          </p:cNvSpPr>
          <p:nvPr>
            <p:ph type="title"/>
          </p:nvPr>
        </p:nvSpPr>
        <p:spPr/>
        <p:txBody>
          <a:bodyPr>
            <a:normAutofit/>
          </a:bodyPr>
          <a:lstStyle/>
          <a:p>
            <a:r>
              <a:rPr lang="en-US" b="1" dirty="0">
                <a:cs typeface="Times New Roman" panose="02020603050405020304" pitchFamily="18" charset="0"/>
              </a:rPr>
              <a:t>Calculation of Short Term Capital Gain</a:t>
            </a:r>
          </a:p>
        </p:txBody>
      </p:sp>
    </p:spTree>
    <p:extLst>
      <p:ext uri="{BB962C8B-B14F-4D97-AF65-F5344CB8AC3E}">
        <p14:creationId xmlns:p14="http://schemas.microsoft.com/office/powerpoint/2010/main" val="162768056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b="1" dirty="0">
                <a:cs typeface="Times New Roman" panose="02020603050405020304" pitchFamily="18" charset="0"/>
              </a:rPr>
              <a:t>STCG on Equity</a:t>
            </a:r>
          </a:p>
          <a:p>
            <a:r>
              <a:rPr lang="en-US" dirty="0">
                <a:cs typeface="Times New Roman" panose="02020603050405020304" pitchFamily="18" charset="0"/>
              </a:rPr>
              <a:t>Date of Purchase: 01-May-2024</a:t>
            </a:r>
          </a:p>
          <a:p>
            <a:r>
              <a:rPr lang="en-US" dirty="0">
                <a:cs typeface="Times New Roman" panose="02020603050405020304" pitchFamily="18" charset="0"/>
              </a:rPr>
              <a:t>Date of Sale: 20-Fab-2025</a:t>
            </a:r>
            <a:endParaRPr lang="en-US" b="1" dirty="0">
              <a:cs typeface="Times New Roman" panose="02020603050405020304" pitchFamily="18" charset="0"/>
            </a:endParaRPr>
          </a:p>
          <a:p>
            <a:r>
              <a:rPr lang="en-US" dirty="0">
                <a:cs typeface="Times New Roman" panose="02020603050405020304" pitchFamily="18" charset="0"/>
              </a:rPr>
              <a:t>Buy Price: ₹80,000</a:t>
            </a:r>
          </a:p>
          <a:p>
            <a:r>
              <a:rPr lang="en-US" dirty="0">
                <a:cs typeface="Times New Roman" panose="02020603050405020304" pitchFamily="18" charset="0"/>
              </a:rPr>
              <a:t>Sell Price: ₹1,20,000</a:t>
            </a:r>
          </a:p>
          <a:p>
            <a:pPr marL="0" indent="0">
              <a:lnSpc>
                <a:spcPct val="150000"/>
              </a:lnSpc>
              <a:buNone/>
            </a:pPr>
            <a:r>
              <a:rPr lang="en-US" dirty="0">
                <a:cs typeface="Times New Roman" panose="02020603050405020304" pitchFamily="18" charset="0"/>
              </a:rPr>
              <a:t>Calculate the short term capital gain and also calculate the tax on it.</a:t>
            </a:r>
          </a:p>
        </p:txBody>
      </p:sp>
      <p:sp>
        <p:nvSpPr>
          <p:cNvPr id="2" name="Title 1"/>
          <p:cNvSpPr>
            <a:spLocks noGrp="1"/>
          </p:cNvSpPr>
          <p:nvPr>
            <p:ph type="title"/>
          </p:nvPr>
        </p:nvSpPr>
        <p:spPr/>
        <p:txBody>
          <a:bodyPr/>
          <a:lstStyle/>
          <a:p>
            <a:r>
              <a:rPr lang="en-US" b="1" dirty="0">
                <a:cs typeface="Times New Roman" panose="02020603050405020304" pitchFamily="18" charset="0"/>
              </a:rPr>
              <a:t>Example</a:t>
            </a:r>
            <a:r>
              <a:rPr lang="en-US" dirty="0">
                <a:cs typeface="Times New Roman" panose="02020603050405020304" pitchFamily="18" charset="0"/>
              </a:rPr>
              <a:t> </a:t>
            </a:r>
            <a:r>
              <a:rPr lang="en-US" b="1" dirty="0">
                <a:cs typeface="Times New Roman" panose="02020603050405020304" pitchFamily="18" charset="0"/>
              </a:rPr>
              <a:t>2</a:t>
            </a:r>
          </a:p>
        </p:txBody>
      </p:sp>
    </p:spTree>
    <p:extLst>
      <p:ext uri="{BB962C8B-B14F-4D97-AF65-F5344CB8AC3E}">
        <p14:creationId xmlns:p14="http://schemas.microsoft.com/office/powerpoint/2010/main" val="335255169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529562329"/>
              </p:ext>
            </p:extLst>
          </p:nvPr>
        </p:nvGraphicFramePr>
        <p:xfrm>
          <a:off x="131763" y="863600"/>
          <a:ext cx="11928473" cy="5078637"/>
        </p:xfrm>
        <a:graphic>
          <a:graphicData uri="http://schemas.openxmlformats.org/drawingml/2006/table">
            <a:tbl>
              <a:tblPr firstRow="1" bandRow="1">
                <a:tableStyleId>{7DF18680-E054-41AD-8BC1-D1AEF772440D}</a:tableStyleId>
              </a:tblPr>
              <a:tblGrid>
                <a:gridCol w="7246495">
                  <a:extLst>
                    <a:ext uri="{9D8B030D-6E8A-4147-A177-3AD203B41FA5}">
                      <a16:colId xmlns:a16="http://schemas.microsoft.com/office/drawing/2014/main" val="20000"/>
                    </a:ext>
                  </a:extLst>
                </a:gridCol>
                <a:gridCol w="2340989">
                  <a:extLst>
                    <a:ext uri="{9D8B030D-6E8A-4147-A177-3AD203B41FA5}">
                      <a16:colId xmlns:a16="http://schemas.microsoft.com/office/drawing/2014/main" val="20001"/>
                    </a:ext>
                  </a:extLst>
                </a:gridCol>
                <a:gridCol w="2340989">
                  <a:extLst>
                    <a:ext uri="{9D8B030D-6E8A-4147-A177-3AD203B41FA5}">
                      <a16:colId xmlns:a16="http://schemas.microsoft.com/office/drawing/2014/main" val="20002"/>
                    </a:ext>
                  </a:extLst>
                </a:gridCol>
              </a:tblGrid>
              <a:tr h="564293">
                <a:tc>
                  <a:txBody>
                    <a:bodyPr/>
                    <a:lstStyle/>
                    <a:p>
                      <a:pPr algn="ctr"/>
                      <a:r>
                        <a:rPr lang="en-US" sz="2400" b="1" dirty="0"/>
                        <a:t>Particular</a:t>
                      </a:r>
                      <a:endParaRPr lang="en-US" sz="2400" b="1"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t>Amount</a:t>
                      </a:r>
                      <a:endParaRPr lang="en-US" sz="24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b="1" dirty="0"/>
                        <a:t>Amount</a:t>
                      </a:r>
                      <a:endParaRPr lang="en-US" sz="24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564293">
                <a:tc>
                  <a:txBody>
                    <a:bodyPr/>
                    <a:lstStyle/>
                    <a:p>
                      <a:pPr algn="l"/>
                      <a:r>
                        <a:rPr lang="en-US" sz="2400" dirty="0"/>
                        <a:t>Full Value of Consideration (Sell</a:t>
                      </a:r>
                      <a:r>
                        <a:rPr lang="en-US" sz="2400" baseline="0" dirty="0"/>
                        <a:t> value</a:t>
                      </a:r>
                      <a:r>
                        <a:rPr lang="en-US" sz="2400" dirty="0"/>
                        <a:t>)</a:t>
                      </a:r>
                      <a:endParaRPr lang="en-US" sz="2400" b="0"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dirty="0"/>
                        <a:t>1,20,000</a:t>
                      </a:r>
                      <a:endParaRPr lang="en-US" sz="2400" b="0" dirty="0">
                        <a:latin typeface="Times New Roman" panose="02020603050405020304" pitchFamily="18" charset="0"/>
                        <a:cs typeface="Times New Roman" panose="02020603050405020304" pitchFamily="18" charset="0"/>
                      </a:endParaRPr>
                    </a:p>
                  </a:txBody>
                  <a:tcPr anchor="ctr"/>
                </a:tc>
                <a:tc>
                  <a:txBody>
                    <a:bodyPr/>
                    <a:lstStyle/>
                    <a:p>
                      <a:endParaRPr lang="en-US" dirty="0"/>
                    </a:p>
                  </a:txBody>
                  <a:tcPr anchor="ctr"/>
                </a:tc>
                <a:extLst>
                  <a:ext uri="{0D108BD9-81ED-4DB2-BD59-A6C34878D82A}">
                    <a16:rowId xmlns:a16="http://schemas.microsoft.com/office/drawing/2014/main" val="10001"/>
                  </a:ext>
                </a:extLst>
              </a:tr>
              <a:tr h="5642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Less: Expenses on Transfer</a:t>
                      </a:r>
                      <a:endParaRPr lang="en-US" sz="2400" b="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a:t>
                      </a:r>
                      <a:endParaRPr lang="en-US" sz="2400" b="0" dirty="0">
                        <a:latin typeface="Times New Roman" panose="02020603050405020304" pitchFamily="18" charset="0"/>
                        <a:cs typeface="Times New Roman" panose="02020603050405020304" pitchFamily="18" charset="0"/>
                      </a:endParaRPr>
                    </a:p>
                  </a:txBody>
                  <a:tcPr anchor="ctr"/>
                </a:tc>
                <a:tc>
                  <a:txBody>
                    <a:bodyPr/>
                    <a:lstStyle/>
                    <a:p>
                      <a:endParaRPr lang="en-US" dirty="0"/>
                    </a:p>
                  </a:txBody>
                  <a:tcPr anchor="ctr"/>
                </a:tc>
                <a:extLst>
                  <a:ext uri="{0D108BD9-81ED-4DB2-BD59-A6C34878D82A}">
                    <a16:rowId xmlns:a16="http://schemas.microsoft.com/office/drawing/2014/main" val="10002"/>
                  </a:ext>
                </a:extLst>
              </a:tr>
              <a:tr h="5642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t>Net Sale Consideration</a:t>
                      </a:r>
                      <a:endParaRPr lang="en-US" sz="2400" b="1" dirty="0">
                        <a:latin typeface="Times New Roman" panose="02020603050405020304" pitchFamily="18" charset="0"/>
                        <a:cs typeface="Times New Roman" panose="02020603050405020304" pitchFamily="18" charset="0"/>
                      </a:endParaRPr>
                    </a:p>
                  </a:txBody>
                  <a:tcPr anchor="ctr"/>
                </a:tc>
                <a:tc>
                  <a:txBody>
                    <a:bodyPr/>
                    <a:lstStyle/>
                    <a:p>
                      <a:endParaRPr lang="en-US" b="1"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b="1" dirty="0"/>
                        <a:t>1,20,000</a:t>
                      </a:r>
                      <a:endParaRPr lang="en-US" sz="24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3"/>
                  </a:ext>
                </a:extLst>
              </a:tr>
              <a:tr h="5642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Less: Cost of Acquisition (Purchase)</a:t>
                      </a:r>
                      <a:endParaRPr lang="en-US" sz="24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b="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(80,000)</a:t>
                      </a:r>
                      <a:endParaRPr lang="en-US" sz="2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4"/>
                  </a:ext>
                </a:extLst>
              </a:tr>
              <a:tr h="564293">
                <a:tc>
                  <a:txBody>
                    <a:bodyPr/>
                    <a:lstStyle/>
                    <a:p>
                      <a:pPr algn="ctr"/>
                      <a:r>
                        <a:rPr lang="en-US" sz="2400" b="1" dirty="0"/>
                        <a:t>Short Term Capital Gain</a:t>
                      </a:r>
                      <a:endParaRPr lang="en-US" sz="2400" b="1" dirty="0">
                        <a:latin typeface="Times New Roman" panose="02020603050405020304" pitchFamily="18" charset="0"/>
                        <a:cs typeface="Times New Roman" panose="02020603050405020304" pitchFamily="18" charset="0"/>
                      </a:endParaRPr>
                    </a:p>
                  </a:txBody>
                  <a:tcPr anchor="ctr"/>
                </a:tc>
                <a:tc>
                  <a:txBody>
                    <a:bodyPr/>
                    <a:lstStyle/>
                    <a:p>
                      <a:pPr algn="ctr"/>
                      <a:endParaRPr lang="en-US" b="1"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b="1" dirty="0"/>
                        <a:t>40,000</a:t>
                      </a:r>
                      <a:endParaRPr lang="en-US" sz="24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5"/>
                  </a:ext>
                </a:extLst>
              </a:tr>
              <a:tr h="564293">
                <a:tc>
                  <a:txBody>
                    <a:bodyPr/>
                    <a:lstStyle/>
                    <a:p>
                      <a:pPr algn="l"/>
                      <a:r>
                        <a:rPr lang="en-US" sz="2400" dirty="0"/>
                        <a:t>Tax (20%)</a:t>
                      </a:r>
                      <a:endParaRPr lang="en-US" sz="2400" b="0" dirty="0">
                        <a:latin typeface="Times New Roman" panose="02020603050405020304" pitchFamily="18" charset="0"/>
                        <a:cs typeface="Times New Roman" panose="02020603050405020304" pitchFamily="18" charset="0"/>
                      </a:endParaRPr>
                    </a:p>
                  </a:txBody>
                  <a:tcPr anchor="ctr"/>
                </a:tc>
                <a:tc>
                  <a:txBody>
                    <a:bodyPr/>
                    <a:lstStyle/>
                    <a:p>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b="0" dirty="0"/>
                        <a:t>8,000</a:t>
                      </a:r>
                      <a:endParaRPr lang="en-US" sz="2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6"/>
                  </a:ext>
                </a:extLst>
              </a:tr>
              <a:tr h="564293">
                <a:tc>
                  <a:txBody>
                    <a:bodyPr/>
                    <a:lstStyle/>
                    <a:p>
                      <a:pPr algn="l"/>
                      <a:r>
                        <a:rPr lang="en-US" sz="2400" dirty="0"/>
                        <a:t>Add: Cess (4%)</a:t>
                      </a:r>
                      <a:endParaRPr lang="en-US" sz="2400" b="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b="0"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b="0" dirty="0"/>
                        <a:t>320</a:t>
                      </a:r>
                      <a:endParaRPr lang="en-US" sz="24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7"/>
                  </a:ext>
                </a:extLst>
              </a:tr>
              <a:tr h="564293">
                <a:tc>
                  <a:txBody>
                    <a:bodyPr/>
                    <a:lstStyle/>
                    <a:p>
                      <a:pPr algn="l"/>
                      <a:r>
                        <a:rPr lang="en-US" sz="2400" b="1" dirty="0"/>
                        <a:t>Total Tax on STCG</a:t>
                      </a:r>
                      <a:endParaRPr lang="en-US" sz="2400" b="1" dirty="0">
                        <a:latin typeface="Times New Roman" panose="02020603050405020304" pitchFamily="18" charset="0"/>
                        <a:cs typeface="Times New Roman" panose="02020603050405020304" pitchFamily="18" charset="0"/>
                      </a:endParaRPr>
                    </a:p>
                  </a:txBody>
                  <a:tcPr anchor="ctr"/>
                </a:tc>
                <a:tc>
                  <a:txBody>
                    <a:bodyPr/>
                    <a:lstStyle/>
                    <a:p>
                      <a:pPr algn="ctr"/>
                      <a:endParaRPr lang="en-US" sz="24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2400" b="1" dirty="0"/>
                        <a:t>8,320</a:t>
                      </a:r>
                      <a:endParaRPr lang="en-US" sz="24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8"/>
                  </a:ext>
                </a:extLst>
              </a:tr>
            </a:tbl>
          </a:graphicData>
        </a:graphic>
      </p:graphicFrame>
      <p:sp>
        <p:nvSpPr>
          <p:cNvPr id="2" name="Title 1"/>
          <p:cNvSpPr>
            <a:spLocks noGrp="1"/>
          </p:cNvSpPr>
          <p:nvPr>
            <p:ph type="title"/>
          </p:nvPr>
        </p:nvSpPr>
        <p:spPr/>
        <p:txBody>
          <a:bodyPr>
            <a:normAutofit/>
          </a:bodyPr>
          <a:lstStyle/>
          <a:p>
            <a:r>
              <a:rPr lang="en-US" b="1" dirty="0">
                <a:cs typeface="Times New Roman" panose="02020603050405020304" pitchFamily="18" charset="0"/>
              </a:rPr>
              <a:t>Calculation of Short Term Capital Gain</a:t>
            </a:r>
          </a:p>
        </p:txBody>
      </p:sp>
    </p:spTree>
    <p:extLst>
      <p:ext uri="{BB962C8B-B14F-4D97-AF65-F5344CB8AC3E}">
        <p14:creationId xmlns:p14="http://schemas.microsoft.com/office/powerpoint/2010/main" val="219200286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l">
              <a:lnSpc>
                <a:spcPct val="150000"/>
              </a:lnSpc>
              <a:buNone/>
            </a:pPr>
            <a:r>
              <a:rPr lang="en-US" b="1" dirty="0">
                <a:cs typeface="Times New Roman" panose="02020603050405020304" pitchFamily="18" charset="0"/>
              </a:rPr>
              <a:t>Asset Sold:</a:t>
            </a:r>
            <a:r>
              <a:rPr lang="en-US" dirty="0">
                <a:cs typeface="Times New Roman" panose="02020603050405020304" pitchFamily="18" charset="0"/>
              </a:rPr>
              <a:t> Listed Shares</a:t>
            </a:r>
            <a:br>
              <a:rPr lang="en-US" dirty="0">
                <a:cs typeface="Times New Roman" panose="02020603050405020304" pitchFamily="18" charset="0"/>
              </a:rPr>
            </a:br>
            <a:r>
              <a:rPr lang="en-US" b="1" dirty="0">
                <a:cs typeface="Times New Roman" panose="02020603050405020304" pitchFamily="18" charset="0"/>
              </a:rPr>
              <a:t>Purchase Date:</a:t>
            </a:r>
            <a:r>
              <a:rPr lang="en-US" dirty="0">
                <a:cs typeface="Times New Roman" panose="02020603050405020304" pitchFamily="18" charset="0"/>
              </a:rPr>
              <a:t> 01-Jan-2022</a:t>
            </a:r>
            <a:br>
              <a:rPr lang="en-US" dirty="0">
                <a:cs typeface="Times New Roman" panose="02020603050405020304" pitchFamily="18" charset="0"/>
              </a:rPr>
            </a:br>
            <a:r>
              <a:rPr lang="en-US" b="1" dirty="0">
                <a:cs typeface="Times New Roman" panose="02020603050405020304" pitchFamily="18" charset="0"/>
              </a:rPr>
              <a:t>Sale Date:</a:t>
            </a:r>
            <a:r>
              <a:rPr lang="en-US" dirty="0">
                <a:cs typeface="Times New Roman" panose="02020603050405020304" pitchFamily="18" charset="0"/>
              </a:rPr>
              <a:t> 10-Feb-2025</a:t>
            </a:r>
            <a:br>
              <a:rPr lang="en-US" dirty="0">
                <a:cs typeface="Times New Roman" panose="02020603050405020304" pitchFamily="18" charset="0"/>
              </a:rPr>
            </a:br>
            <a:r>
              <a:rPr lang="en-US" b="1" dirty="0">
                <a:cs typeface="Times New Roman" panose="02020603050405020304" pitchFamily="18" charset="0"/>
              </a:rPr>
              <a:t>Purchase Price:</a:t>
            </a:r>
            <a:r>
              <a:rPr lang="en-US" dirty="0">
                <a:cs typeface="Times New Roman" panose="02020603050405020304" pitchFamily="18" charset="0"/>
              </a:rPr>
              <a:t> ₹1,00,000</a:t>
            </a:r>
            <a:br>
              <a:rPr lang="en-US" dirty="0">
                <a:cs typeface="Times New Roman" panose="02020603050405020304" pitchFamily="18" charset="0"/>
              </a:rPr>
            </a:br>
            <a:r>
              <a:rPr lang="en-US" b="1" dirty="0">
                <a:cs typeface="Times New Roman" panose="02020603050405020304" pitchFamily="18" charset="0"/>
              </a:rPr>
              <a:t>Sale Price:</a:t>
            </a:r>
            <a:r>
              <a:rPr lang="en-US" dirty="0">
                <a:cs typeface="Times New Roman" panose="02020603050405020304" pitchFamily="18" charset="0"/>
              </a:rPr>
              <a:t> ₹2,35,000</a:t>
            </a:r>
            <a:br>
              <a:rPr lang="en-US" dirty="0">
                <a:cs typeface="Times New Roman" panose="02020603050405020304" pitchFamily="18" charset="0"/>
              </a:rPr>
            </a:br>
            <a:r>
              <a:rPr lang="en-US" b="1" dirty="0">
                <a:cs typeface="Times New Roman" panose="02020603050405020304" pitchFamily="18" charset="0"/>
              </a:rPr>
              <a:t>Transfer Expenses:</a:t>
            </a:r>
            <a:r>
              <a:rPr lang="en-US" dirty="0">
                <a:cs typeface="Times New Roman" panose="02020603050405020304" pitchFamily="18" charset="0"/>
              </a:rPr>
              <a:t> ₹1,000</a:t>
            </a:r>
          </a:p>
          <a:p>
            <a:pPr marL="0" indent="0">
              <a:lnSpc>
                <a:spcPct val="150000"/>
              </a:lnSpc>
              <a:buNone/>
            </a:pPr>
            <a:r>
              <a:rPr lang="en-US" dirty="0">
                <a:cs typeface="Times New Roman" panose="02020603050405020304" pitchFamily="18" charset="0"/>
              </a:rPr>
              <a:t>Calculate the long term capital gain and also calculate the tax on it.</a:t>
            </a:r>
          </a:p>
        </p:txBody>
      </p:sp>
      <p:sp>
        <p:nvSpPr>
          <p:cNvPr id="2" name="Title 1"/>
          <p:cNvSpPr>
            <a:spLocks noGrp="1"/>
          </p:cNvSpPr>
          <p:nvPr>
            <p:ph type="title"/>
          </p:nvPr>
        </p:nvSpPr>
        <p:spPr/>
        <p:txBody>
          <a:bodyPr/>
          <a:lstStyle/>
          <a:p>
            <a:r>
              <a:rPr lang="en-US" b="1" dirty="0">
                <a:cs typeface="Times New Roman" panose="02020603050405020304" pitchFamily="18" charset="0"/>
              </a:rPr>
              <a:t>Example: 3</a:t>
            </a:r>
          </a:p>
        </p:txBody>
      </p:sp>
    </p:spTree>
    <p:extLst>
      <p:ext uri="{BB962C8B-B14F-4D97-AF65-F5344CB8AC3E}">
        <p14:creationId xmlns:p14="http://schemas.microsoft.com/office/powerpoint/2010/main" val="68314754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191479668"/>
              </p:ext>
            </p:extLst>
          </p:nvPr>
        </p:nvGraphicFramePr>
        <p:xfrm>
          <a:off x="131763" y="863600"/>
          <a:ext cx="11928473" cy="5745509"/>
        </p:xfrm>
        <a:graphic>
          <a:graphicData uri="http://schemas.openxmlformats.org/drawingml/2006/table">
            <a:tbl>
              <a:tblPr firstRow="1" bandRow="1">
                <a:tableStyleId>{7DF18680-E054-41AD-8BC1-D1AEF772440D}</a:tableStyleId>
              </a:tblPr>
              <a:tblGrid>
                <a:gridCol w="7246495">
                  <a:extLst>
                    <a:ext uri="{9D8B030D-6E8A-4147-A177-3AD203B41FA5}">
                      <a16:colId xmlns:a16="http://schemas.microsoft.com/office/drawing/2014/main" val="20000"/>
                    </a:ext>
                  </a:extLst>
                </a:gridCol>
                <a:gridCol w="2340989">
                  <a:extLst>
                    <a:ext uri="{9D8B030D-6E8A-4147-A177-3AD203B41FA5}">
                      <a16:colId xmlns:a16="http://schemas.microsoft.com/office/drawing/2014/main" val="20001"/>
                    </a:ext>
                  </a:extLst>
                </a:gridCol>
                <a:gridCol w="2340989">
                  <a:extLst>
                    <a:ext uri="{9D8B030D-6E8A-4147-A177-3AD203B41FA5}">
                      <a16:colId xmlns:a16="http://schemas.microsoft.com/office/drawing/2014/main" val="20002"/>
                    </a:ext>
                  </a:extLst>
                </a:gridCol>
              </a:tblGrid>
              <a:tr h="522319">
                <a:tc>
                  <a:txBody>
                    <a:bodyPr/>
                    <a:lstStyle/>
                    <a:p>
                      <a:pPr algn="ctr"/>
                      <a:r>
                        <a:rPr lang="en-US" sz="2400" b="1" dirty="0">
                          <a:latin typeface="+mn-lt"/>
                        </a:rPr>
                        <a:t>Particular</a:t>
                      </a:r>
                      <a:endParaRPr lang="en-US" sz="2400" b="1" dirty="0">
                        <a:latin typeface="+mn-lt"/>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latin typeface="+mn-lt"/>
                        </a:rPr>
                        <a:t>Amount</a:t>
                      </a:r>
                      <a:endParaRPr lang="en-US" sz="2400" b="1" dirty="0">
                        <a:latin typeface="+mn-lt"/>
                        <a:cs typeface="Times New Roman" panose="02020603050405020304" pitchFamily="18" charset="0"/>
                      </a:endParaRPr>
                    </a:p>
                  </a:txBody>
                  <a:tcPr anchor="ctr"/>
                </a:tc>
                <a:tc>
                  <a:txBody>
                    <a:bodyPr/>
                    <a:lstStyle/>
                    <a:p>
                      <a:pPr algn="ctr"/>
                      <a:r>
                        <a:rPr lang="en-US" sz="2400" b="1" dirty="0">
                          <a:latin typeface="+mn-lt"/>
                        </a:rPr>
                        <a:t>Amount</a:t>
                      </a:r>
                      <a:endParaRPr lang="en-US" sz="2400" b="1" dirty="0">
                        <a:latin typeface="+mn-lt"/>
                        <a:cs typeface="Times New Roman" panose="02020603050405020304" pitchFamily="18" charset="0"/>
                      </a:endParaRPr>
                    </a:p>
                  </a:txBody>
                  <a:tcPr anchor="ctr"/>
                </a:tc>
                <a:extLst>
                  <a:ext uri="{0D108BD9-81ED-4DB2-BD59-A6C34878D82A}">
                    <a16:rowId xmlns:a16="http://schemas.microsoft.com/office/drawing/2014/main" val="10000"/>
                  </a:ext>
                </a:extLst>
              </a:tr>
              <a:tr h="522319">
                <a:tc>
                  <a:txBody>
                    <a:bodyPr/>
                    <a:lstStyle/>
                    <a:p>
                      <a:pPr algn="l"/>
                      <a:r>
                        <a:rPr lang="en-US" sz="2400" dirty="0">
                          <a:latin typeface="+mn-lt"/>
                        </a:rPr>
                        <a:t>Full Value of Consideration (Sell</a:t>
                      </a:r>
                      <a:r>
                        <a:rPr lang="en-US" sz="2400" baseline="0" dirty="0">
                          <a:latin typeface="+mn-lt"/>
                        </a:rPr>
                        <a:t> value</a:t>
                      </a:r>
                      <a:r>
                        <a:rPr lang="en-US" sz="2400" dirty="0">
                          <a:latin typeface="+mn-lt"/>
                        </a:rPr>
                        <a:t>)</a:t>
                      </a:r>
                      <a:endParaRPr lang="en-US" sz="2400" b="0" dirty="0">
                        <a:latin typeface="+mn-lt"/>
                        <a:cs typeface="Times New Roman" panose="02020603050405020304" pitchFamily="18" charset="0"/>
                      </a:endParaRPr>
                    </a:p>
                  </a:txBody>
                  <a:tcPr anchor="ctr"/>
                </a:tc>
                <a:tc>
                  <a:txBody>
                    <a:bodyPr/>
                    <a:lstStyle/>
                    <a:p>
                      <a:pPr algn="ctr"/>
                      <a:r>
                        <a:rPr lang="en-US" sz="2400" dirty="0">
                          <a:latin typeface="+mn-lt"/>
                        </a:rPr>
                        <a:t>2,35,000</a:t>
                      </a:r>
                      <a:endParaRPr lang="en-US" sz="2400" b="0" dirty="0">
                        <a:latin typeface="+mn-lt"/>
                        <a:cs typeface="Times New Roman" panose="02020603050405020304" pitchFamily="18" charset="0"/>
                      </a:endParaRPr>
                    </a:p>
                  </a:txBody>
                  <a:tcPr anchor="ctr"/>
                </a:tc>
                <a:tc>
                  <a:txBody>
                    <a:bodyPr/>
                    <a:lstStyle/>
                    <a:p>
                      <a:endParaRPr lang="en-US" dirty="0">
                        <a:latin typeface="+mn-lt"/>
                      </a:endParaRPr>
                    </a:p>
                  </a:txBody>
                  <a:tcPr anchor="ctr"/>
                </a:tc>
                <a:extLst>
                  <a:ext uri="{0D108BD9-81ED-4DB2-BD59-A6C34878D82A}">
                    <a16:rowId xmlns:a16="http://schemas.microsoft.com/office/drawing/2014/main" val="10001"/>
                  </a:ext>
                </a:extLst>
              </a:tr>
              <a:tr h="5223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mn-lt"/>
                        </a:rPr>
                        <a:t>Less: Expenses on Transfer</a:t>
                      </a:r>
                      <a:endParaRPr lang="en-US" sz="2400" b="0" dirty="0">
                        <a:latin typeface="+mn-lt"/>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mn-lt"/>
                        </a:rPr>
                        <a:t>(1,000)</a:t>
                      </a:r>
                      <a:endParaRPr lang="en-US" sz="2400" b="0" dirty="0">
                        <a:latin typeface="+mn-lt"/>
                        <a:cs typeface="Times New Roman" panose="02020603050405020304" pitchFamily="18" charset="0"/>
                      </a:endParaRPr>
                    </a:p>
                  </a:txBody>
                  <a:tcPr anchor="ctr"/>
                </a:tc>
                <a:tc>
                  <a:txBody>
                    <a:bodyPr/>
                    <a:lstStyle/>
                    <a:p>
                      <a:endParaRPr lang="en-US" dirty="0">
                        <a:latin typeface="+mn-lt"/>
                      </a:endParaRPr>
                    </a:p>
                  </a:txBody>
                  <a:tcPr anchor="ctr"/>
                </a:tc>
                <a:extLst>
                  <a:ext uri="{0D108BD9-81ED-4DB2-BD59-A6C34878D82A}">
                    <a16:rowId xmlns:a16="http://schemas.microsoft.com/office/drawing/2014/main" val="10002"/>
                  </a:ext>
                </a:extLst>
              </a:tr>
              <a:tr h="5223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latin typeface="+mn-lt"/>
                        </a:rPr>
                        <a:t>Net Sale Consideration</a:t>
                      </a:r>
                      <a:endParaRPr lang="en-US" sz="2400" b="1" dirty="0">
                        <a:latin typeface="+mn-lt"/>
                        <a:cs typeface="Times New Roman" panose="02020603050405020304" pitchFamily="18" charset="0"/>
                      </a:endParaRPr>
                    </a:p>
                  </a:txBody>
                  <a:tcPr anchor="ctr"/>
                </a:tc>
                <a:tc>
                  <a:txBody>
                    <a:bodyPr/>
                    <a:lstStyle/>
                    <a:p>
                      <a:endParaRPr lang="en-US" b="1" dirty="0">
                        <a:latin typeface="+mn-lt"/>
                        <a:cs typeface="Times New Roman" panose="02020603050405020304" pitchFamily="18" charset="0"/>
                      </a:endParaRPr>
                    </a:p>
                  </a:txBody>
                  <a:tcPr anchor="ctr"/>
                </a:tc>
                <a:tc>
                  <a:txBody>
                    <a:bodyPr/>
                    <a:lstStyle/>
                    <a:p>
                      <a:pPr algn="ctr"/>
                      <a:r>
                        <a:rPr lang="en-US" sz="2400" b="1" dirty="0">
                          <a:latin typeface="+mn-lt"/>
                        </a:rPr>
                        <a:t>2,34,000</a:t>
                      </a:r>
                      <a:endParaRPr lang="en-US" sz="2400" b="1" dirty="0">
                        <a:latin typeface="+mn-lt"/>
                        <a:cs typeface="Times New Roman" panose="02020603050405020304" pitchFamily="18" charset="0"/>
                      </a:endParaRPr>
                    </a:p>
                  </a:txBody>
                  <a:tcPr anchor="ctr"/>
                </a:tc>
                <a:extLst>
                  <a:ext uri="{0D108BD9-81ED-4DB2-BD59-A6C34878D82A}">
                    <a16:rowId xmlns:a16="http://schemas.microsoft.com/office/drawing/2014/main" val="10003"/>
                  </a:ext>
                </a:extLst>
              </a:tr>
              <a:tr h="5223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mn-lt"/>
                        </a:rPr>
                        <a:t>Less: Cost of Acquisition (Purchase)</a:t>
                      </a:r>
                      <a:endParaRPr lang="en-US" sz="2400" dirty="0">
                        <a:latin typeface="+mn-lt"/>
                        <a:cs typeface="Times New Roman" panose="02020603050405020304" pitchFamily="18" charset="0"/>
                      </a:endParaRPr>
                    </a:p>
                  </a:txBody>
                  <a:tcPr anchor="ctr"/>
                </a:tc>
                <a:tc>
                  <a:txBody>
                    <a:bodyPr/>
                    <a:lstStyle/>
                    <a:p>
                      <a:pPr algn="ctr"/>
                      <a:endParaRPr lang="en-US" dirty="0">
                        <a:latin typeface="+mn-lt"/>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mn-lt"/>
                        </a:rPr>
                        <a:t>(1,00,000)</a:t>
                      </a:r>
                      <a:endParaRPr lang="en-US" sz="2400" dirty="0">
                        <a:latin typeface="+mn-lt"/>
                        <a:cs typeface="Times New Roman" panose="02020603050405020304" pitchFamily="18" charset="0"/>
                      </a:endParaRPr>
                    </a:p>
                  </a:txBody>
                  <a:tcPr anchor="ctr"/>
                </a:tc>
                <a:extLst>
                  <a:ext uri="{0D108BD9-81ED-4DB2-BD59-A6C34878D82A}">
                    <a16:rowId xmlns:a16="http://schemas.microsoft.com/office/drawing/2014/main" val="10004"/>
                  </a:ext>
                </a:extLst>
              </a:tr>
              <a:tr h="522319">
                <a:tc>
                  <a:txBody>
                    <a:bodyPr/>
                    <a:lstStyle/>
                    <a:p>
                      <a:pPr algn="ctr"/>
                      <a:r>
                        <a:rPr lang="en-US" sz="2400" b="1" dirty="0">
                          <a:latin typeface="+mn-lt"/>
                        </a:rPr>
                        <a:t>Long Term Capital Gain</a:t>
                      </a:r>
                      <a:endParaRPr lang="en-US" sz="2400" b="1" dirty="0">
                        <a:latin typeface="+mn-lt"/>
                        <a:cs typeface="Times New Roman" panose="02020603050405020304" pitchFamily="18" charset="0"/>
                      </a:endParaRPr>
                    </a:p>
                  </a:txBody>
                  <a:tcPr anchor="ctr"/>
                </a:tc>
                <a:tc>
                  <a:txBody>
                    <a:bodyPr/>
                    <a:lstStyle/>
                    <a:p>
                      <a:pPr algn="ctr"/>
                      <a:endParaRPr lang="en-US" b="1" dirty="0">
                        <a:latin typeface="+mn-lt"/>
                        <a:cs typeface="Times New Roman" panose="02020603050405020304" pitchFamily="18" charset="0"/>
                      </a:endParaRPr>
                    </a:p>
                  </a:txBody>
                  <a:tcPr anchor="ctr"/>
                </a:tc>
                <a:tc>
                  <a:txBody>
                    <a:bodyPr/>
                    <a:lstStyle/>
                    <a:p>
                      <a:pPr algn="ctr"/>
                      <a:r>
                        <a:rPr lang="en-US" sz="2400" b="1" dirty="0">
                          <a:latin typeface="+mn-lt"/>
                        </a:rPr>
                        <a:t>1,34,000</a:t>
                      </a:r>
                      <a:endParaRPr lang="en-US" sz="2400" b="1" dirty="0">
                        <a:latin typeface="+mn-lt"/>
                        <a:cs typeface="Times New Roman" panose="02020603050405020304" pitchFamily="18" charset="0"/>
                      </a:endParaRPr>
                    </a:p>
                  </a:txBody>
                  <a:tcPr anchor="ctr"/>
                </a:tc>
                <a:extLst>
                  <a:ext uri="{0D108BD9-81ED-4DB2-BD59-A6C34878D82A}">
                    <a16:rowId xmlns:a16="http://schemas.microsoft.com/office/drawing/2014/main" val="10005"/>
                  </a:ext>
                </a:extLst>
              </a:tr>
              <a:tr h="522319">
                <a:tc>
                  <a:txBody>
                    <a:bodyPr/>
                    <a:lstStyle/>
                    <a:p>
                      <a:pPr algn="l"/>
                      <a:r>
                        <a:rPr lang="en-US" sz="2400" dirty="0">
                          <a:latin typeface="+mn-lt"/>
                        </a:rPr>
                        <a:t>Less: Exemption</a:t>
                      </a:r>
                      <a:endParaRPr lang="en-US" sz="2400" b="1" dirty="0">
                        <a:latin typeface="+mn-lt"/>
                        <a:cs typeface="Times New Roman" panose="02020603050405020304" pitchFamily="18" charset="0"/>
                      </a:endParaRPr>
                    </a:p>
                  </a:txBody>
                  <a:tcPr anchor="ctr"/>
                </a:tc>
                <a:tc>
                  <a:txBody>
                    <a:bodyPr/>
                    <a:lstStyle/>
                    <a:p>
                      <a:pPr algn="ctr"/>
                      <a:endParaRPr lang="en-US" sz="2400" b="0" dirty="0">
                        <a:latin typeface="+mn-lt"/>
                        <a:cs typeface="Times New Roman" panose="02020603050405020304" pitchFamily="18" charset="0"/>
                      </a:endParaRPr>
                    </a:p>
                  </a:txBody>
                  <a:tcPr anchor="ctr"/>
                </a:tc>
                <a:tc>
                  <a:txBody>
                    <a:bodyPr/>
                    <a:lstStyle/>
                    <a:p>
                      <a:pPr algn="ctr"/>
                      <a:r>
                        <a:rPr lang="en-US" sz="2400" dirty="0">
                          <a:latin typeface="+mn-lt"/>
                        </a:rPr>
                        <a:t>(1,25,000)</a:t>
                      </a:r>
                      <a:endParaRPr lang="en-US" sz="2400" b="0" dirty="0">
                        <a:latin typeface="+mn-lt"/>
                        <a:cs typeface="Times New Roman" panose="02020603050405020304" pitchFamily="18" charset="0"/>
                      </a:endParaRPr>
                    </a:p>
                  </a:txBody>
                  <a:tcPr anchor="ctr"/>
                </a:tc>
                <a:extLst>
                  <a:ext uri="{0D108BD9-81ED-4DB2-BD59-A6C34878D82A}">
                    <a16:rowId xmlns:a16="http://schemas.microsoft.com/office/drawing/2014/main" val="10006"/>
                  </a:ext>
                </a:extLst>
              </a:tr>
              <a:tr h="522319">
                <a:tc>
                  <a:txBody>
                    <a:bodyPr/>
                    <a:lstStyle/>
                    <a:p>
                      <a:pPr algn="l"/>
                      <a:r>
                        <a:rPr lang="en-US" sz="2400" b="1" dirty="0">
                          <a:latin typeface="+mn-lt"/>
                        </a:rPr>
                        <a:t>Taxable LTCG</a:t>
                      </a:r>
                      <a:endParaRPr lang="en-US" sz="2400" b="1" dirty="0">
                        <a:latin typeface="+mn-lt"/>
                        <a:cs typeface="Times New Roman" panose="02020603050405020304" pitchFamily="18" charset="0"/>
                      </a:endParaRPr>
                    </a:p>
                  </a:txBody>
                  <a:tcPr anchor="ctr"/>
                </a:tc>
                <a:tc>
                  <a:txBody>
                    <a:bodyPr/>
                    <a:lstStyle/>
                    <a:p>
                      <a:pPr algn="ctr"/>
                      <a:endParaRPr lang="en-US" b="1" dirty="0">
                        <a:latin typeface="+mn-lt"/>
                        <a:cs typeface="Times New Roman" panose="02020603050405020304" pitchFamily="18" charset="0"/>
                      </a:endParaRPr>
                    </a:p>
                  </a:txBody>
                  <a:tcPr anchor="ctr"/>
                </a:tc>
                <a:tc>
                  <a:txBody>
                    <a:bodyPr/>
                    <a:lstStyle/>
                    <a:p>
                      <a:pPr algn="ctr"/>
                      <a:r>
                        <a:rPr lang="en-US" sz="2400" b="1" dirty="0">
                          <a:latin typeface="+mn-lt"/>
                        </a:rPr>
                        <a:t>9,000</a:t>
                      </a:r>
                      <a:endParaRPr lang="en-US" sz="2400" b="1" dirty="0">
                        <a:latin typeface="+mn-lt"/>
                        <a:cs typeface="Times New Roman" panose="02020603050405020304" pitchFamily="18" charset="0"/>
                      </a:endParaRPr>
                    </a:p>
                  </a:txBody>
                  <a:tcPr anchor="ctr"/>
                </a:tc>
                <a:extLst>
                  <a:ext uri="{0D108BD9-81ED-4DB2-BD59-A6C34878D82A}">
                    <a16:rowId xmlns:a16="http://schemas.microsoft.com/office/drawing/2014/main" val="10007"/>
                  </a:ext>
                </a:extLst>
              </a:tr>
              <a:tr h="522319">
                <a:tc>
                  <a:txBody>
                    <a:bodyPr/>
                    <a:lstStyle/>
                    <a:p>
                      <a:pPr algn="l"/>
                      <a:r>
                        <a:rPr lang="en-US" sz="2400" dirty="0">
                          <a:latin typeface="+mn-lt"/>
                        </a:rPr>
                        <a:t>Tax (12.5% without Indexation)</a:t>
                      </a:r>
                      <a:endParaRPr lang="en-US" sz="2400" b="0" dirty="0">
                        <a:latin typeface="+mn-lt"/>
                        <a:cs typeface="Times New Roman" panose="02020603050405020304" pitchFamily="18" charset="0"/>
                      </a:endParaRPr>
                    </a:p>
                  </a:txBody>
                  <a:tcPr anchor="ctr"/>
                </a:tc>
                <a:tc>
                  <a:txBody>
                    <a:bodyPr/>
                    <a:lstStyle/>
                    <a:p>
                      <a:endParaRPr lang="en-US" dirty="0">
                        <a:latin typeface="+mn-lt"/>
                        <a:cs typeface="Times New Roman" panose="02020603050405020304" pitchFamily="18" charset="0"/>
                      </a:endParaRPr>
                    </a:p>
                  </a:txBody>
                  <a:tcPr anchor="ctr"/>
                </a:tc>
                <a:tc>
                  <a:txBody>
                    <a:bodyPr/>
                    <a:lstStyle/>
                    <a:p>
                      <a:pPr algn="ctr"/>
                      <a:r>
                        <a:rPr lang="en-US" sz="2400" dirty="0">
                          <a:latin typeface="+mn-lt"/>
                        </a:rPr>
                        <a:t>1,125</a:t>
                      </a:r>
                      <a:endParaRPr lang="en-US" sz="2400" b="0" dirty="0">
                        <a:latin typeface="+mn-lt"/>
                        <a:cs typeface="Times New Roman" panose="02020603050405020304" pitchFamily="18" charset="0"/>
                      </a:endParaRPr>
                    </a:p>
                  </a:txBody>
                  <a:tcPr anchor="ctr"/>
                </a:tc>
                <a:extLst>
                  <a:ext uri="{0D108BD9-81ED-4DB2-BD59-A6C34878D82A}">
                    <a16:rowId xmlns:a16="http://schemas.microsoft.com/office/drawing/2014/main" val="10008"/>
                  </a:ext>
                </a:extLst>
              </a:tr>
              <a:tr h="522319">
                <a:tc>
                  <a:txBody>
                    <a:bodyPr/>
                    <a:lstStyle/>
                    <a:p>
                      <a:pPr algn="l"/>
                      <a:r>
                        <a:rPr lang="en-US" sz="2400" dirty="0">
                          <a:latin typeface="+mn-lt"/>
                        </a:rPr>
                        <a:t>Add: Cess (4%)</a:t>
                      </a:r>
                      <a:endParaRPr lang="en-US" sz="2400" b="0" dirty="0">
                        <a:latin typeface="+mn-lt"/>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b="0" dirty="0">
                        <a:latin typeface="+mn-lt"/>
                        <a:cs typeface="Times New Roman" panose="02020603050405020304" pitchFamily="18" charset="0"/>
                      </a:endParaRPr>
                    </a:p>
                  </a:txBody>
                  <a:tcPr anchor="ctr"/>
                </a:tc>
                <a:tc>
                  <a:txBody>
                    <a:bodyPr/>
                    <a:lstStyle/>
                    <a:p>
                      <a:pPr algn="ctr"/>
                      <a:r>
                        <a:rPr lang="en-US" sz="2400" b="0" dirty="0">
                          <a:latin typeface="+mn-lt"/>
                        </a:rPr>
                        <a:t>45</a:t>
                      </a:r>
                      <a:endParaRPr lang="en-US" sz="2400" b="0" dirty="0">
                        <a:latin typeface="+mn-lt"/>
                        <a:cs typeface="Times New Roman" panose="02020603050405020304" pitchFamily="18" charset="0"/>
                      </a:endParaRPr>
                    </a:p>
                  </a:txBody>
                  <a:tcPr anchor="ctr"/>
                </a:tc>
                <a:extLst>
                  <a:ext uri="{0D108BD9-81ED-4DB2-BD59-A6C34878D82A}">
                    <a16:rowId xmlns:a16="http://schemas.microsoft.com/office/drawing/2014/main" val="10009"/>
                  </a:ext>
                </a:extLst>
              </a:tr>
              <a:tr h="522319">
                <a:tc>
                  <a:txBody>
                    <a:bodyPr/>
                    <a:lstStyle/>
                    <a:p>
                      <a:pPr algn="l"/>
                      <a:r>
                        <a:rPr lang="en-US" sz="2400" b="1" dirty="0">
                          <a:latin typeface="+mn-lt"/>
                        </a:rPr>
                        <a:t>Total Tax on LTCG</a:t>
                      </a:r>
                      <a:endParaRPr lang="en-US" sz="2400" b="1" dirty="0">
                        <a:latin typeface="+mn-lt"/>
                        <a:cs typeface="Times New Roman" panose="02020603050405020304" pitchFamily="18" charset="0"/>
                      </a:endParaRPr>
                    </a:p>
                  </a:txBody>
                  <a:tcPr anchor="ctr"/>
                </a:tc>
                <a:tc>
                  <a:txBody>
                    <a:bodyPr/>
                    <a:lstStyle/>
                    <a:p>
                      <a:pPr algn="ctr"/>
                      <a:endParaRPr lang="en-US" sz="2400" b="1" dirty="0">
                        <a:latin typeface="+mn-lt"/>
                        <a:cs typeface="Times New Roman" panose="02020603050405020304" pitchFamily="18" charset="0"/>
                      </a:endParaRPr>
                    </a:p>
                  </a:txBody>
                  <a:tcPr anchor="ctr"/>
                </a:tc>
                <a:tc>
                  <a:txBody>
                    <a:bodyPr/>
                    <a:lstStyle/>
                    <a:p>
                      <a:pPr algn="ctr"/>
                      <a:r>
                        <a:rPr lang="en-US" sz="2400" b="1" dirty="0">
                          <a:latin typeface="+mn-lt"/>
                        </a:rPr>
                        <a:t>1,170</a:t>
                      </a:r>
                      <a:endParaRPr lang="en-US" sz="2400" b="1" dirty="0">
                        <a:latin typeface="+mn-lt"/>
                        <a:cs typeface="Times New Roman" panose="02020603050405020304" pitchFamily="18" charset="0"/>
                      </a:endParaRPr>
                    </a:p>
                  </a:txBody>
                  <a:tcPr anchor="ctr"/>
                </a:tc>
                <a:extLst>
                  <a:ext uri="{0D108BD9-81ED-4DB2-BD59-A6C34878D82A}">
                    <a16:rowId xmlns:a16="http://schemas.microsoft.com/office/drawing/2014/main" val="10010"/>
                  </a:ext>
                </a:extLst>
              </a:tr>
            </a:tbl>
          </a:graphicData>
        </a:graphic>
      </p:graphicFrame>
      <p:sp>
        <p:nvSpPr>
          <p:cNvPr id="2" name="Title 1"/>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Calculation of Long Term Capital Gain</a:t>
            </a:r>
          </a:p>
        </p:txBody>
      </p:sp>
    </p:spTree>
    <p:extLst>
      <p:ext uri="{BB962C8B-B14F-4D97-AF65-F5344CB8AC3E}">
        <p14:creationId xmlns:p14="http://schemas.microsoft.com/office/powerpoint/2010/main" val="53264468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b="1" dirty="0">
                <a:cs typeface="Times New Roman" panose="02020603050405020304" pitchFamily="18" charset="0"/>
              </a:rPr>
              <a:t>LTCG on Land with Indexation </a:t>
            </a:r>
          </a:p>
          <a:p>
            <a:r>
              <a:rPr lang="en-US" dirty="0">
                <a:cs typeface="Times New Roman" panose="02020603050405020304" pitchFamily="18" charset="0"/>
              </a:rPr>
              <a:t>Bought: ₹ 3L in FY 2008-09 (CII=137)</a:t>
            </a:r>
          </a:p>
          <a:p>
            <a:r>
              <a:rPr lang="en-US" dirty="0">
                <a:cs typeface="Times New Roman" panose="02020603050405020304" pitchFamily="18" charset="0"/>
              </a:rPr>
              <a:t>Sold: ₹ 15L in FY 2024-25 (CII=363)</a:t>
            </a:r>
          </a:p>
          <a:p>
            <a:r>
              <a:rPr lang="en-US" dirty="0">
                <a:cs typeface="Times New Roman" panose="02020603050405020304" pitchFamily="18" charset="0"/>
              </a:rPr>
              <a:t>Indexed Cost = ₹3L × 363/137 = ₹7,94,891/-</a:t>
            </a:r>
          </a:p>
          <a:p>
            <a:r>
              <a:rPr lang="en-US" dirty="0">
                <a:cs typeface="Times New Roman" panose="02020603050405020304" pitchFamily="18" charset="0"/>
              </a:rPr>
              <a:t>Exemption u/s 54 = Rs.1,25,000/-</a:t>
            </a:r>
          </a:p>
          <a:p>
            <a:pPr marL="0" indent="0">
              <a:lnSpc>
                <a:spcPct val="150000"/>
              </a:lnSpc>
              <a:buNone/>
            </a:pPr>
            <a:r>
              <a:rPr lang="en-US" dirty="0">
                <a:cs typeface="Times New Roman" panose="02020603050405020304" pitchFamily="18" charset="0"/>
              </a:rPr>
              <a:t>Calculate the long term capital gain and also calculate the tax on it.</a:t>
            </a:r>
          </a:p>
        </p:txBody>
      </p:sp>
      <p:sp>
        <p:nvSpPr>
          <p:cNvPr id="2" name="Title 1"/>
          <p:cNvSpPr>
            <a:spLocks noGrp="1"/>
          </p:cNvSpPr>
          <p:nvPr>
            <p:ph type="title"/>
          </p:nvPr>
        </p:nvSpPr>
        <p:spPr/>
        <p:txBody>
          <a:bodyPr/>
          <a:lstStyle/>
          <a:p>
            <a:r>
              <a:rPr lang="en-US" b="1" dirty="0">
                <a:cs typeface="Times New Roman" panose="02020603050405020304" pitchFamily="18" charset="0"/>
              </a:rPr>
              <a:t>Example: 4</a:t>
            </a:r>
          </a:p>
        </p:txBody>
      </p:sp>
    </p:spTree>
    <p:extLst>
      <p:ext uri="{BB962C8B-B14F-4D97-AF65-F5344CB8AC3E}">
        <p14:creationId xmlns:p14="http://schemas.microsoft.com/office/powerpoint/2010/main" val="223769145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205164088"/>
              </p:ext>
            </p:extLst>
          </p:nvPr>
        </p:nvGraphicFramePr>
        <p:xfrm>
          <a:off x="131763" y="863600"/>
          <a:ext cx="11928473" cy="5745509"/>
        </p:xfrm>
        <a:graphic>
          <a:graphicData uri="http://schemas.openxmlformats.org/drawingml/2006/table">
            <a:tbl>
              <a:tblPr firstRow="1" bandRow="1">
                <a:tableStyleId>{7DF18680-E054-41AD-8BC1-D1AEF772440D}</a:tableStyleId>
              </a:tblPr>
              <a:tblGrid>
                <a:gridCol w="7858362">
                  <a:extLst>
                    <a:ext uri="{9D8B030D-6E8A-4147-A177-3AD203B41FA5}">
                      <a16:colId xmlns:a16="http://schemas.microsoft.com/office/drawing/2014/main" val="20000"/>
                    </a:ext>
                  </a:extLst>
                </a:gridCol>
                <a:gridCol w="1954255">
                  <a:extLst>
                    <a:ext uri="{9D8B030D-6E8A-4147-A177-3AD203B41FA5}">
                      <a16:colId xmlns:a16="http://schemas.microsoft.com/office/drawing/2014/main" val="20001"/>
                    </a:ext>
                  </a:extLst>
                </a:gridCol>
                <a:gridCol w="2115856">
                  <a:extLst>
                    <a:ext uri="{9D8B030D-6E8A-4147-A177-3AD203B41FA5}">
                      <a16:colId xmlns:a16="http://schemas.microsoft.com/office/drawing/2014/main" val="20002"/>
                    </a:ext>
                  </a:extLst>
                </a:gridCol>
              </a:tblGrid>
              <a:tr h="522319">
                <a:tc>
                  <a:txBody>
                    <a:bodyPr/>
                    <a:lstStyle/>
                    <a:p>
                      <a:pPr algn="ctr"/>
                      <a:r>
                        <a:rPr lang="en-US" sz="2400" b="1" dirty="0"/>
                        <a:t>Particular</a:t>
                      </a:r>
                      <a:endParaRPr lang="en-US" sz="2400" b="1" dirty="0">
                        <a:latin typeface="+mn-lt"/>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t>Amount</a:t>
                      </a:r>
                      <a:endParaRPr lang="en-US" sz="2400" b="1" dirty="0">
                        <a:latin typeface="+mn-lt"/>
                        <a:cs typeface="Times New Roman" panose="02020603050405020304" pitchFamily="18" charset="0"/>
                      </a:endParaRPr>
                    </a:p>
                  </a:txBody>
                  <a:tcPr anchor="ctr"/>
                </a:tc>
                <a:tc>
                  <a:txBody>
                    <a:bodyPr/>
                    <a:lstStyle/>
                    <a:p>
                      <a:pPr algn="ctr"/>
                      <a:r>
                        <a:rPr lang="en-US" sz="2400" b="1" dirty="0"/>
                        <a:t>Amount</a:t>
                      </a:r>
                      <a:endParaRPr lang="en-US" sz="2400" b="1" dirty="0">
                        <a:latin typeface="+mn-lt"/>
                        <a:cs typeface="Times New Roman" panose="02020603050405020304" pitchFamily="18" charset="0"/>
                      </a:endParaRPr>
                    </a:p>
                  </a:txBody>
                  <a:tcPr anchor="ctr"/>
                </a:tc>
                <a:extLst>
                  <a:ext uri="{0D108BD9-81ED-4DB2-BD59-A6C34878D82A}">
                    <a16:rowId xmlns:a16="http://schemas.microsoft.com/office/drawing/2014/main" val="10000"/>
                  </a:ext>
                </a:extLst>
              </a:tr>
              <a:tr h="522319">
                <a:tc>
                  <a:txBody>
                    <a:bodyPr/>
                    <a:lstStyle/>
                    <a:p>
                      <a:pPr algn="l"/>
                      <a:r>
                        <a:rPr lang="en-US" sz="2400" dirty="0"/>
                        <a:t>Full Value of Consideration (Sell</a:t>
                      </a:r>
                      <a:r>
                        <a:rPr lang="en-US" sz="2400" baseline="0" dirty="0"/>
                        <a:t> value</a:t>
                      </a:r>
                      <a:r>
                        <a:rPr lang="en-US" sz="2400" dirty="0"/>
                        <a:t>)</a:t>
                      </a:r>
                      <a:endParaRPr lang="en-US" sz="2400" b="0" dirty="0">
                        <a:latin typeface="+mn-lt"/>
                        <a:cs typeface="Times New Roman" panose="02020603050405020304" pitchFamily="18" charset="0"/>
                      </a:endParaRPr>
                    </a:p>
                  </a:txBody>
                  <a:tcPr anchor="ctr"/>
                </a:tc>
                <a:tc>
                  <a:txBody>
                    <a:bodyPr/>
                    <a:lstStyle/>
                    <a:p>
                      <a:pPr algn="ctr"/>
                      <a:r>
                        <a:rPr lang="en-US" sz="2400" dirty="0"/>
                        <a:t>15,00,000</a:t>
                      </a:r>
                      <a:endParaRPr lang="en-US" sz="2400" b="0" dirty="0">
                        <a:latin typeface="+mn-lt"/>
                        <a:cs typeface="Times New Roman" panose="02020603050405020304" pitchFamily="18" charset="0"/>
                      </a:endParaRPr>
                    </a:p>
                  </a:txBody>
                  <a:tcPr anchor="ctr"/>
                </a:tc>
                <a:tc>
                  <a:txBody>
                    <a:bodyPr/>
                    <a:lstStyle/>
                    <a:p>
                      <a:endParaRPr lang="en-US" dirty="0">
                        <a:latin typeface="+mn-lt"/>
                      </a:endParaRPr>
                    </a:p>
                  </a:txBody>
                  <a:tcPr anchor="ctr"/>
                </a:tc>
                <a:extLst>
                  <a:ext uri="{0D108BD9-81ED-4DB2-BD59-A6C34878D82A}">
                    <a16:rowId xmlns:a16="http://schemas.microsoft.com/office/drawing/2014/main" val="10001"/>
                  </a:ext>
                </a:extLst>
              </a:tr>
              <a:tr h="5223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Less: Expenses on Transfer</a:t>
                      </a:r>
                      <a:endParaRPr lang="en-US" sz="2400" b="0" dirty="0">
                        <a:latin typeface="+mn-lt"/>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a:t>
                      </a:r>
                      <a:endParaRPr lang="en-US" sz="2400" b="0" dirty="0">
                        <a:latin typeface="+mn-lt"/>
                        <a:cs typeface="Times New Roman" panose="02020603050405020304" pitchFamily="18" charset="0"/>
                      </a:endParaRPr>
                    </a:p>
                  </a:txBody>
                  <a:tcPr anchor="ctr"/>
                </a:tc>
                <a:tc>
                  <a:txBody>
                    <a:bodyPr/>
                    <a:lstStyle/>
                    <a:p>
                      <a:endParaRPr lang="en-US" dirty="0">
                        <a:latin typeface="+mn-lt"/>
                      </a:endParaRPr>
                    </a:p>
                  </a:txBody>
                  <a:tcPr anchor="ctr"/>
                </a:tc>
                <a:extLst>
                  <a:ext uri="{0D108BD9-81ED-4DB2-BD59-A6C34878D82A}">
                    <a16:rowId xmlns:a16="http://schemas.microsoft.com/office/drawing/2014/main" val="10002"/>
                  </a:ext>
                </a:extLst>
              </a:tr>
              <a:tr h="5223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t>Net Sale Consideration</a:t>
                      </a:r>
                      <a:endParaRPr lang="en-US" sz="2400" b="1" dirty="0">
                        <a:latin typeface="+mn-lt"/>
                        <a:cs typeface="Times New Roman" panose="02020603050405020304" pitchFamily="18" charset="0"/>
                      </a:endParaRPr>
                    </a:p>
                  </a:txBody>
                  <a:tcPr anchor="ctr"/>
                </a:tc>
                <a:tc>
                  <a:txBody>
                    <a:bodyPr/>
                    <a:lstStyle/>
                    <a:p>
                      <a:endParaRPr lang="en-US" b="1" dirty="0">
                        <a:latin typeface="+mn-lt"/>
                        <a:cs typeface="Times New Roman" panose="02020603050405020304" pitchFamily="18" charset="0"/>
                      </a:endParaRPr>
                    </a:p>
                  </a:txBody>
                  <a:tcPr anchor="ctr"/>
                </a:tc>
                <a:tc>
                  <a:txBody>
                    <a:bodyPr/>
                    <a:lstStyle/>
                    <a:p>
                      <a:pPr algn="ctr"/>
                      <a:r>
                        <a:rPr lang="en-US" sz="2400" b="1" dirty="0"/>
                        <a:t>15,00,000</a:t>
                      </a:r>
                      <a:endParaRPr lang="en-US" sz="2400" b="1" dirty="0">
                        <a:latin typeface="+mn-lt"/>
                        <a:cs typeface="Times New Roman" panose="02020603050405020304" pitchFamily="18" charset="0"/>
                      </a:endParaRPr>
                    </a:p>
                  </a:txBody>
                  <a:tcPr anchor="ctr"/>
                </a:tc>
                <a:extLst>
                  <a:ext uri="{0D108BD9-81ED-4DB2-BD59-A6C34878D82A}">
                    <a16:rowId xmlns:a16="http://schemas.microsoft.com/office/drawing/2014/main" val="10003"/>
                  </a:ext>
                </a:extLst>
              </a:tr>
              <a:tr h="5223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Less: Cost of Acquisition (Purchase)(with</a:t>
                      </a:r>
                      <a:r>
                        <a:rPr lang="en-US" sz="2400" baseline="0" dirty="0"/>
                        <a:t> Indexation</a:t>
                      </a:r>
                      <a:r>
                        <a:rPr lang="en-US" sz="2400" dirty="0"/>
                        <a:t>)</a:t>
                      </a:r>
                      <a:endParaRPr lang="en-US" sz="2400" dirty="0">
                        <a:latin typeface="+mn-lt"/>
                        <a:cs typeface="Times New Roman" panose="02020603050405020304" pitchFamily="18" charset="0"/>
                      </a:endParaRPr>
                    </a:p>
                  </a:txBody>
                  <a:tcPr anchor="ctr"/>
                </a:tc>
                <a:tc>
                  <a:txBody>
                    <a:bodyPr/>
                    <a:lstStyle/>
                    <a:p>
                      <a:pPr algn="ctr"/>
                      <a:endParaRPr lang="en-US" dirty="0">
                        <a:latin typeface="+mn-lt"/>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(7,94,891)</a:t>
                      </a:r>
                      <a:endParaRPr lang="en-US" sz="2400" dirty="0">
                        <a:latin typeface="+mn-lt"/>
                        <a:cs typeface="Times New Roman" panose="02020603050405020304" pitchFamily="18" charset="0"/>
                      </a:endParaRPr>
                    </a:p>
                  </a:txBody>
                  <a:tcPr anchor="ctr"/>
                </a:tc>
                <a:extLst>
                  <a:ext uri="{0D108BD9-81ED-4DB2-BD59-A6C34878D82A}">
                    <a16:rowId xmlns:a16="http://schemas.microsoft.com/office/drawing/2014/main" val="10004"/>
                  </a:ext>
                </a:extLst>
              </a:tr>
              <a:tr h="522319">
                <a:tc>
                  <a:txBody>
                    <a:bodyPr/>
                    <a:lstStyle/>
                    <a:p>
                      <a:pPr algn="ctr"/>
                      <a:r>
                        <a:rPr lang="en-US" sz="2400" b="1" dirty="0"/>
                        <a:t>Long Term Capital Gain</a:t>
                      </a:r>
                      <a:endParaRPr lang="en-US" sz="2400" b="1" dirty="0">
                        <a:latin typeface="+mn-lt"/>
                        <a:cs typeface="Times New Roman" panose="02020603050405020304" pitchFamily="18" charset="0"/>
                      </a:endParaRPr>
                    </a:p>
                  </a:txBody>
                  <a:tcPr anchor="ctr"/>
                </a:tc>
                <a:tc>
                  <a:txBody>
                    <a:bodyPr/>
                    <a:lstStyle/>
                    <a:p>
                      <a:pPr algn="ctr"/>
                      <a:endParaRPr lang="en-US" b="1" dirty="0">
                        <a:latin typeface="+mn-lt"/>
                        <a:cs typeface="Times New Roman" panose="02020603050405020304" pitchFamily="18" charset="0"/>
                      </a:endParaRPr>
                    </a:p>
                  </a:txBody>
                  <a:tcPr anchor="ctr"/>
                </a:tc>
                <a:tc>
                  <a:txBody>
                    <a:bodyPr/>
                    <a:lstStyle/>
                    <a:p>
                      <a:pPr algn="ctr"/>
                      <a:r>
                        <a:rPr lang="en-US" sz="2400" b="1" dirty="0"/>
                        <a:t>7,05,109</a:t>
                      </a:r>
                      <a:endParaRPr lang="en-US" sz="2400" b="1" dirty="0">
                        <a:latin typeface="+mn-lt"/>
                        <a:cs typeface="Times New Roman" panose="02020603050405020304" pitchFamily="18" charset="0"/>
                      </a:endParaRPr>
                    </a:p>
                  </a:txBody>
                  <a:tcPr anchor="ctr"/>
                </a:tc>
                <a:extLst>
                  <a:ext uri="{0D108BD9-81ED-4DB2-BD59-A6C34878D82A}">
                    <a16:rowId xmlns:a16="http://schemas.microsoft.com/office/drawing/2014/main" val="10005"/>
                  </a:ext>
                </a:extLst>
              </a:tr>
              <a:tr h="522319">
                <a:tc>
                  <a:txBody>
                    <a:bodyPr/>
                    <a:lstStyle/>
                    <a:p>
                      <a:pPr algn="l"/>
                      <a:r>
                        <a:rPr lang="en-US" sz="2400" dirty="0"/>
                        <a:t>Less: Exemption</a:t>
                      </a:r>
                      <a:endParaRPr lang="en-US" sz="2400" b="1" dirty="0">
                        <a:latin typeface="+mn-lt"/>
                        <a:cs typeface="Times New Roman" panose="02020603050405020304" pitchFamily="18" charset="0"/>
                      </a:endParaRPr>
                    </a:p>
                  </a:txBody>
                  <a:tcPr anchor="ctr"/>
                </a:tc>
                <a:tc>
                  <a:txBody>
                    <a:bodyPr/>
                    <a:lstStyle/>
                    <a:p>
                      <a:pPr algn="ctr"/>
                      <a:endParaRPr lang="en-US" sz="2400" b="0" dirty="0">
                        <a:latin typeface="+mn-lt"/>
                        <a:cs typeface="Times New Roman" panose="02020603050405020304" pitchFamily="18" charset="0"/>
                      </a:endParaRPr>
                    </a:p>
                  </a:txBody>
                  <a:tcPr anchor="ctr"/>
                </a:tc>
                <a:tc>
                  <a:txBody>
                    <a:bodyPr/>
                    <a:lstStyle/>
                    <a:p>
                      <a:pPr algn="ctr"/>
                      <a:r>
                        <a:rPr lang="en-US" sz="2400" dirty="0"/>
                        <a:t>(1,25,000)</a:t>
                      </a:r>
                      <a:endParaRPr lang="en-US" sz="2400" b="0" dirty="0">
                        <a:latin typeface="+mn-lt"/>
                        <a:cs typeface="Times New Roman" panose="02020603050405020304" pitchFamily="18" charset="0"/>
                      </a:endParaRPr>
                    </a:p>
                  </a:txBody>
                  <a:tcPr anchor="ctr"/>
                </a:tc>
                <a:extLst>
                  <a:ext uri="{0D108BD9-81ED-4DB2-BD59-A6C34878D82A}">
                    <a16:rowId xmlns:a16="http://schemas.microsoft.com/office/drawing/2014/main" val="10006"/>
                  </a:ext>
                </a:extLst>
              </a:tr>
              <a:tr h="522319">
                <a:tc>
                  <a:txBody>
                    <a:bodyPr/>
                    <a:lstStyle/>
                    <a:p>
                      <a:pPr algn="l"/>
                      <a:r>
                        <a:rPr lang="en-US" sz="2400" b="1" dirty="0"/>
                        <a:t>Taxable LTCG</a:t>
                      </a:r>
                      <a:endParaRPr lang="en-US" sz="2400" b="1" dirty="0">
                        <a:latin typeface="+mn-lt"/>
                        <a:cs typeface="Times New Roman" panose="02020603050405020304" pitchFamily="18" charset="0"/>
                      </a:endParaRPr>
                    </a:p>
                  </a:txBody>
                  <a:tcPr anchor="ctr"/>
                </a:tc>
                <a:tc>
                  <a:txBody>
                    <a:bodyPr/>
                    <a:lstStyle/>
                    <a:p>
                      <a:pPr algn="ctr"/>
                      <a:endParaRPr lang="en-US" b="1" dirty="0">
                        <a:latin typeface="+mn-lt"/>
                        <a:cs typeface="Times New Roman" panose="02020603050405020304" pitchFamily="18" charset="0"/>
                      </a:endParaRPr>
                    </a:p>
                  </a:txBody>
                  <a:tcPr anchor="ctr"/>
                </a:tc>
                <a:tc>
                  <a:txBody>
                    <a:bodyPr/>
                    <a:lstStyle/>
                    <a:p>
                      <a:pPr algn="ctr"/>
                      <a:r>
                        <a:rPr lang="en-US" sz="2400" b="1" dirty="0"/>
                        <a:t>5,80,109</a:t>
                      </a:r>
                      <a:endParaRPr lang="en-US" sz="2400" b="1" dirty="0">
                        <a:latin typeface="+mn-lt"/>
                        <a:cs typeface="Times New Roman" panose="02020603050405020304" pitchFamily="18" charset="0"/>
                      </a:endParaRPr>
                    </a:p>
                  </a:txBody>
                  <a:tcPr anchor="ctr"/>
                </a:tc>
                <a:extLst>
                  <a:ext uri="{0D108BD9-81ED-4DB2-BD59-A6C34878D82A}">
                    <a16:rowId xmlns:a16="http://schemas.microsoft.com/office/drawing/2014/main" val="10007"/>
                  </a:ext>
                </a:extLst>
              </a:tr>
              <a:tr h="522319">
                <a:tc>
                  <a:txBody>
                    <a:bodyPr/>
                    <a:lstStyle/>
                    <a:p>
                      <a:pPr algn="l"/>
                      <a:r>
                        <a:rPr lang="en-US" sz="2400" dirty="0"/>
                        <a:t>Tax (20%</a:t>
                      </a:r>
                      <a:r>
                        <a:rPr lang="en-US" sz="2400" baseline="0" dirty="0"/>
                        <a:t> with Indexation</a:t>
                      </a:r>
                      <a:r>
                        <a:rPr lang="en-US" sz="2400" dirty="0"/>
                        <a:t>)</a:t>
                      </a:r>
                      <a:endParaRPr lang="en-US" sz="2400" b="0" dirty="0">
                        <a:latin typeface="+mn-lt"/>
                        <a:cs typeface="Times New Roman" panose="02020603050405020304" pitchFamily="18" charset="0"/>
                      </a:endParaRPr>
                    </a:p>
                  </a:txBody>
                  <a:tcPr anchor="ctr"/>
                </a:tc>
                <a:tc>
                  <a:txBody>
                    <a:bodyPr/>
                    <a:lstStyle/>
                    <a:p>
                      <a:endParaRPr lang="en-US" dirty="0">
                        <a:latin typeface="+mn-lt"/>
                        <a:cs typeface="Times New Roman" panose="02020603050405020304" pitchFamily="18" charset="0"/>
                      </a:endParaRPr>
                    </a:p>
                  </a:txBody>
                  <a:tcPr anchor="ctr"/>
                </a:tc>
                <a:tc>
                  <a:txBody>
                    <a:bodyPr/>
                    <a:lstStyle/>
                    <a:p>
                      <a:pPr algn="ctr"/>
                      <a:r>
                        <a:rPr lang="en-US" sz="2400" b="0" dirty="0"/>
                        <a:t>1,16,022</a:t>
                      </a:r>
                      <a:endParaRPr lang="en-US" sz="2400" b="0" dirty="0">
                        <a:latin typeface="+mn-lt"/>
                        <a:cs typeface="Times New Roman" panose="02020603050405020304" pitchFamily="18" charset="0"/>
                      </a:endParaRPr>
                    </a:p>
                  </a:txBody>
                  <a:tcPr anchor="ctr"/>
                </a:tc>
                <a:extLst>
                  <a:ext uri="{0D108BD9-81ED-4DB2-BD59-A6C34878D82A}">
                    <a16:rowId xmlns:a16="http://schemas.microsoft.com/office/drawing/2014/main" val="10008"/>
                  </a:ext>
                </a:extLst>
              </a:tr>
              <a:tr h="522319">
                <a:tc>
                  <a:txBody>
                    <a:bodyPr/>
                    <a:lstStyle/>
                    <a:p>
                      <a:pPr algn="l"/>
                      <a:r>
                        <a:rPr lang="en-US" sz="2400" dirty="0"/>
                        <a:t>Add: Cess (4%)</a:t>
                      </a:r>
                      <a:endParaRPr lang="en-US" sz="2400" b="0" dirty="0">
                        <a:latin typeface="+mn-lt"/>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b="0" dirty="0">
                        <a:latin typeface="+mn-lt"/>
                        <a:cs typeface="Times New Roman" panose="02020603050405020304" pitchFamily="18" charset="0"/>
                      </a:endParaRPr>
                    </a:p>
                  </a:txBody>
                  <a:tcPr anchor="ctr"/>
                </a:tc>
                <a:tc>
                  <a:txBody>
                    <a:bodyPr/>
                    <a:lstStyle/>
                    <a:p>
                      <a:pPr algn="ctr"/>
                      <a:r>
                        <a:rPr lang="en-US" sz="2400" b="0" dirty="0"/>
                        <a:t>4641</a:t>
                      </a:r>
                      <a:endParaRPr lang="en-US" sz="2400" b="0" dirty="0">
                        <a:latin typeface="+mn-lt"/>
                        <a:cs typeface="Times New Roman" panose="02020603050405020304" pitchFamily="18" charset="0"/>
                      </a:endParaRPr>
                    </a:p>
                  </a:txBody>
                  <a:tcPr anchor="ctr"/>
                </a:tc>
                <a:extLst>
                  <a:ext uri="{0D108BD9-81ED-4DB2-BD59-A6C34878D82A}">
                    <a16:rowId xmlns:a16="http://schemas.microsoft.com/office/drawing/2014/main" val="10009"/>
                  </a:ext>
                </a:extLst>
              </a:tr>
              <a:tr h="522319">
                <a:tc>
                  <a:txBody>
                    <a:bodyPr/>
                    <a:lstStyle/>
                    <a:p>
                      <a:pPr algn="l"/>
                      <a:r>
                        <a:rPr lang="en-US" sz="2400" b="1" dirty="0"/>
                        <a:t>Total Tax on LTCG</a:t>
                      </a:r>
                      <a:endParaRPr lang="en-US" sz="2400" b="1" dirty="0">
                        <a:latin typeface="+mn-lt"/>
                        <a:cs typeface="Times New Roman" panose="02020603050405020304" pitchFamily="18" charset="0"/>
                      </a:endParaRPr>
                    </a:p>
                  </a:txBody>
                  <a:tcPr anchor="ctr"/>
                </a:tc>
                <a:tc>
                  <a:txBody>
                    <a:bodyPr/>
                    <a:lstStyle/>
                    <a:p>
                      <a:pPr algn="ctr"/>
                      <a:endParaRPr lang="en-US" sz="2400" b="1" dirty="0">
                        <a:latin typeface="+mn-lt"/>
                        <a:cs typeface="Times New Roman" panose="02020603050405020304" pitchFamily="18" charset="0"/>
                      </a:endParaRPr>
                    </a:p>
                  </a:txBody>
                  <a:tcPr anchor="ctr"/>
                </a:tc>
                <a:tc>
                  <a:txBody>
                    <a:bodyPr/>
                    <a:lstStyle/>
                    <a:p>
                      <a:pPr algn="ctr"/>
                      <a:r>
                        <a:rPr lang="en-US" sz="2400" b="1" dirty="0"/>
                        <a:t>1,20,663</a:t>
                      </a:r>
                      <a:endParaRPr lang="en-US" sz="2400" b="1" dirty="0">
                        <a:latin typeface="+mn-lt"/>
                        <a:cs typeface="Times New Roman" panose="02020603050405020304" pitchFamily="18" charset="0"/>
                      </a:endParaRPr>
                    </a:p>
                  </a:txBody>
                  <a:tcPr anchor="ctr"/>
                </a:tc>
                <a:extLst>
                  <a:ext uri="{0D108BD9-81ED-4DB2-BD59-A6C34878D82A}">
                    <a16:rowId xmlns:a16="http://schemas.microsoft.com/office/drawing/2014/main" val="10010"/>
                  </a:ext>
                </a:extLst>
              </a:tr>
            </a:tbl>
          </a:graphicData>
        </a:graphic>
      </p:graphicFrame>
      <p:sp>
        <p:nvSpPr>
          <p:cNvPr id="2" name="Title 1"/>
          <p:cNvSpPr>
            <a:spLocks noGrp="1"/>
          </p:cNvSpPr>
          <p:nvPr>
            <p:ph type="title"/>
          </p:nvPr>
        </p:nvSpPr>
        <p:spPr/>
        <p:txBody>
          <a:bodyPr>
            <a:normAutofit/>
          </a:bodyPr>
          <a:lstStyle/>
          <a:p>
            <a:r>
              <a:rPr lang="en-US" b="1" dirty="0">
                <a:cs typeface="Times New Roman" panose="02020603050405020304" pitchFamily="18" charset="0"/>
              </a:rPr>
              <a:t>Calculation of Long Term Capital Gain</a:t>
            </a:r>
          </a:p>
        </p:txBody>
      </p:sp>
    </p:spTree>
    <p:extLst>
      <p:ext uri="{BB962C8B-B14F-4D97-AF65-F5344CB8AC3E}">
        <p14:creationId xmlns:p14="http://schemas.microsoft.com/office/powerpoint/2010/main" val="415427454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292100" indent="-268288" algn="just"/>
            <a:r>
              <a:rPr lang="en-US" sz="2400" dirty="0">
                <a:cs typeface="Times New Roman" panose="02020603050405020304" pitchFamily="18" charset="0"/>
              </a:rPr>
              <a:t>"Income from Other Sources" is like a </a:t>
            </a:r>
            <a:r>
              <a:rPr lang="en-US" sz="2400" b="1" dirty="0">
                <a:cs typeface="Times New Roman" panose="02020603050405020304" pitchFamily="18" charset="0"/>
              </a:rPr>
              <a:t>miscellaneous income basket</a:t>
            </a:r>
            <a:r>
              <a:rPr lang="en-US" sz="2400" dirty="0">
                <a:cs typeface="Times New Roman" panose="02020603050405020304" pitchFamily="18" charset="0"/>
              </a:rPr>
              <a:t>. If income doesn’t fall under other heads (like Salary, House Property, Business/Profession, or Capital Gains), it gets taxed here.</a:t>
            </a:r>
          </a:p>
          <a:p>
            <a:pPr marL="23812" indent="0" algn="just">
              <a:buNone/>
            </a:pPr>
            <a:r>
              <a:rPr lang="en-US" altLang="en-US" sz="2400" dirty="0">
                <a:solidFill>
                  <a:schemeClr val="tx1"/>
                </a:solidFill>
                <a:cs typeface="Times New Roman" panose="02020603050405020304" pitchFamily="18" charset="0"/>
              </a:rPr>
              <a:t>As per Section </a:t>
            </a:r>
            <a:r>
              <a:rPr lang="en-US" altLang="en-US" sz="2400" b="1" dirty="0">
                <a:solidFill>
                  <a:schemeClr val="tx1"/>
                </a:solidFill>
                <a:cs typeface="Times New Roman" panose="02020603050405020304" pitchFamily="18" charset="0"/>
              </a:rPr>
              <a:t>56(1)</a:t>
            </a:r>
            <a:r>
              <a:rPr lang="en-US" altLang="en-US" sz="2400" dirty="0">
                <a:solidFill>
                  <a:schemeClr val="tx1"/>
                </a:solidFill>
                <a:cs typeface="Times New Roman" panose="02020603050405020304" pitchFamily="18" charset="0"/>
              </a:rPr>
              <a:t> of the </a:t>
            </a:r>
            <a:r>
              <a:rPr lang="en-US" altLang="en-US" sz="2400" b="1" dirty="0">
                <a:solidFill>
                  <a:schemeClr val="tx1"/>
                </a:solidFill>
                <a:cs typeface="Times New Roman" panose="02020603050405020304" pitchFamily="18" charset="0"/>
              </a:rPr>
              <a:t>Income Tax Act, 1961</a:t>
            </a:r>
            <a:r>
              <a:rPr lang="en-US" altLang="en-US" sz="2400" dirty="0">
                <a:solidFill>
                  <a:schemeClr val="tx1"/>
                </a:solidFill>
                <a:cs typeface="Times New Roman" panose="02020603050405020304" pitchFamily="18" charset="0"/>
              </a:rPr>
              <a:t>:</a:t>
            </a:r>
          </a:p>
          <a:p>
            <a:pPr marL="292100" indent="-268288" algn="just"/>
            <a:r>
              <a:rPr lang="en-US" altLang="en-US" sz="2400" dirty="0">
                <a:solidFill>
                  <a:schemeClr val="tx1"/>
                </a:solidFill>
                <a:cs typeface="Times New Roman" panose="02020603050405020304" pitchFamily="18" charset="0"/>
              </a:rPr>
              <a:t>“Income which is not chargeable to tax under any of the first four heads shall be chargeable under the head ‘Income from Other Sources’.”</a:t>
            </a:r>
            <a:endParaRPr lang="en-US" sz="2400" dirty="0">
              <a:cs typeface="Times New Roman" panose="02020603050405020304" pitchFamily="18" charset="0"/>
            </a:endParaRPr>
          </a:p>
          <a:p>
            <a:pPr marL="292100" indent="-268288" algn="just"/>
            <a:endParaRPr lang="en-US" sz="2400" dirty="0">
              <a:cs typeface="Times New Roman" panose="02020603050405020304" pitchFamily="18" charset="0"/>
            </a:endParaRPr>
          </a:p>
        </p:txBody>
      </p:sp>
      <p:sp>
        <p:nvSpPr>
          <p:cNvPr id="2" name="Title 1"/>
          <p:cNvSpPr>
            <a:spLocks noGrp="1"/>
          </p:cNvSpPr>
          <p:nvPr>
            <p:ph type="title"/>
          </p:nvPr>
        </p:nvSpPr>
        <p:spPr/>
        <p:txBody>
          <a:bodyPr/>
          <a:lstStyle/>
          <a:p>
            <a:pPr algn="just"/>
            <a:r>
              <a:rPr lang="en-US" b="1" dirty="0">
                <a:cs typeface="Times New Roman" panose="02020603050405020304" pitchFamily="18" charset="0"/>
              </a:rPr>
              <a:t>Income from Other Sources:</a:t>
            </a:r>
          </a:p>
        </p:txBody>
      </p:sp>
      <p:grpSp>
        <p:nvGrpSpPr>
          <p:cNvPr id="5" name="Group 4"/>
          <p:cNvGrpSpPr/>
          <p:nvPr/>
        </p:nvGrpSpPr>
        <p:grpSpPr>
          <a:xfrm>
            <a:off x="2257291" y="3429000"/>
            <a:ext cx="1707872" cy="1081141"/>
            <a:chOff x="401852" y="1105093"/>
            <a:chExt cx="1707872" cy="1607409"/>
          </a:xfrm>
        </p:grpSpPr>
        <p:sp>
          <p:nvSpPr>
            <p:cNvPr id="31" name="Rounded Rectangle 1"/>
            <p:cNvSpPr/>
            <p:nvPr/>
          </p:nvSpPr>
          <p:spPr>
            <a:xfrm>
              <a:off x="401852" y="1105093"/>
              <a:ext cx="1707872" cy="1607409"/>
            </a:xfrm>
            <a:custGeom>
              <a:avLst/>
              <a:gdLst/>
              <a:ahLst/>
              <a:cxnLst/>
              <a:rect l="0" t="0" r="0" b="0"/>
              <a:pathLst>
                <a:path w="1707872" h="1607409">
                  <a:moveTo>
                    <a:pt x="0" y="0"/>
                  </a:moveTo>
                  <a:lnTo>
                    <a:pt x="1707872" y="0"/>
                  </a:lnTo>
                  <a:lnTo>
                    <a:pt x="1707872" y="1607409"/>
                  </a:lnTo>
                  <a:lnTo>
                    <a:pt x="0" y="1607409"/>
                  </a:ln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2" name="Rounded Rectangle 2"/>
            <p:cNvSpPr/>
            <p:nvPr/>
          </p:nvSpPr>
          <p:spPr>
            <a:xfrm>
              <a:off x="510687" y="2704131"/>
              <a:ext cx="1490202" cy="8371"/>
            </a:xfrm>
            <a:custGeom>
              <a:avLst/>
              <a:gdLst/>
              <a:ahLst/>
              <a:cxnLst/>
              <a:rect l="0" t="0" r="0" b="0"/>
              <a:pathLst>
                <a:path w="1490202" h="8371">
                  <a:moveTo>
                    <a:pt x="0" y="0"/>
                  </a:moveTo>
                  <a:lnTo>
                    <a:pt x="1490202" y="0"/>
                  </a:lnTo>
                </a:path>
              </a:pathLst>
            </a:custGeom>
            <a:noFill/>
            <a:ln w="1255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6" name="Group 5"/>
          <p:cNvGrpSpPr/>
          <p:nvPr/>
        </p:nvGrpSpPr>
        <p:grpSpPr>
          <a:xfrm>
            <a:off x="4166089" y="3429000"/>
            <a:ext cx="1707872" cy="1081141"/>
            <a:chOff x="2310650" y="1105093"/>
            <a:chExt cx="1707872" cy="1607409"/>
          </a:xfrm>
        </p:grpSpPr>
        <p:sp>
          <p:nvSpPr>
            <p:cNvPr id="29" name="Rounded Rectangle 4"/>
            <p:cNvSpPr/>
            <p:nvPr/>
          </p:nvSpPr>
          <p:spPr>
            <a:xfrm>
              <a:off x="2310650" y="1105093"/>
              <a:ext cx="1707872" cy="1607409"/>
            </a:xfrm>
            <a:custGeom>
              <a:avLst/>
              <a:gdLst/>
              <a:ahLst/>
              <a:cxnLst/>
              <a:rect l="0" t="0" r="0" b="0"/>
              <a:pathLst>
                <a:path w="1707872" h="1607409">
                  <a:moveTo>
                    <a:pt x="0" y="0"/>
                  </a:moveTo>
                  <a:lnTo>
                    <a:pt x="1707872" y="0"/>
                  </a:lnTo>
                  <a:lnTo>
                    <a:pt x="1707872" y="1607409"/>
                  </a:lnTo>
                  <a:lnTo>
                    <a:pt x="0" y="1607409"/>
                  </a:ln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0" name="Rounded Rectangle 5"/>
            <p:cNvSpPr/>
            <p:nvPr/>
          </p:nvSpPr>
          <p:spPr>
            <a:xfrm>
              <a:off x="2419485" y="2704131"/>
              <a:ext cx="1490202" cy="8371"/>
            </a:xfrm>
            <a:custGeom>
              <a:avLst/>
              <a:gdLst/>
              <a:ahLst/>
              <a:cxnLst/>
              <a:rect l="0" t="0" r="0" b="0"/>
              <a:pathLst>
                <a:path w="1490202" h="8371">
                  <a:moveTo>
                    <a:pt x="0" y="0"/>
                  </a:moveTo>
                  <a:lnTo>
                    <a:pt x="1490202" y="0"/>
                  </a:lnTo>
                </a:path>
              </a:pathLst>
            </a:custGeom>
            <a:noFill/>
            <a:ln w="1255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7" name="Group 6"/>
          <p:cNvGrpSpPr/>
          <p:nvPr/>
        </p:nvGrpSpPr>
        <p:grpSpPr>
          <a:xfrm>
            <a:off x="6074888" y="3429000"/>
            <a:ext cx="1707872" cy="1081141"/>
            <a:chOff x="4219449" y="1105093"/>
            <a:chExt cx="1707872" cy="1607409"/>
          </a:xfrm>
        </p:grpSpPr>
        <p:sp>
          <p:nvSpPr>
            <p:cNvPr id="27" name="Rounded Rectangle 7"/>
            <p:cNvSpPr/>
            <p:nvPr/>
          </p:nvSpPr>
          <p:spPr>
            <a:xfrm>
              <a:off x="4219449" y="1105093"/>
              <a:ext cx="1707872" cy="1607409"/>
            </a:xfrm>
            <a:custGeom>
              <a:avLst/>
              <a:gdLst/>
              <a:ahLst/>
              <a:cxnLst/>
              <a:rect l="0" t="0" r="0" b="0"/>
              <a:pathLst>
                <a:path w="1707872" h="1607409">
                  <a:moveTo>
                    <a:pt x="0" y="0"/>
                  </a:moveTo>
                  <a:lnTo>
                    <a:pt x="1707872" y="0"/>
                  </a:lnTo>
                  <a:lnTo>
                    <a:pt x="1707872" y="1607409"/>
                  </a:lnTo>
                  <a:lnTo>
                    <a:pt x="0" y="1607409"/>
                  </a:lnTo>
                  <a:close/>
                </a:path>
              </a:pathLst>
            </a:custGeom>
            <a:solidFill>
              <a:srgbClr val="E5575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8" name="Rounded Rectangle 8"/>
            <p:cNvSpPr/>
            <p:nvPr/>
          </p:nvSpPr>
          <p:spPr>
            <a:xfrm>
              <a:off x="4328284" y="2704131"/>
              <a:ext cx="1490202" cy="8371"/>
            </a:xfrm>
            <a:custGeom>
              <a:avLst/>
              <a:gdLst/>
              <a:ahLst/>
              <a:cxnLst/>
              <a:rect l="0" t="0" r="0" b="0"/>
              <a:pathLst>
                <a:path w="1490202" h="8371">
                  <a:moveTo>
                    <a:pt x="0" y="0"/>
                  </a:moveTo>
                  <a:lnTo>
                    <a:pt x="1490202" y="0"/>
                  </a:lnTo>
                </a:path>
              </a:pathLst>
            </a:custGeom>
            <a:noFill/>
            <a:ln w="1255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8" name="Group 7"/>
          <p:cNvGrpSpPr/>
          <p:nvPr/>
        </p:nvGrpSpPr>
        <p:grpSpPr>
          <a:xfrm>
            <a:off x="7983686" y="3429000"/>
            <a:ext cx="1707872" cy="1081141"/>
            <a:chOff x="6128247" y="1105093"/>
            <a:chExt cx="1707872" cy="1607409"/>
          </a:xfrm>
        </p:grpSpPr>
        <p:sp>
          <p:nvSpPr>
            <p:cNvPr id="25" name="Rounded Rectangle 10"/>
            <p:cNvSpPr/>
            <p:nvPr/>
          </p:nvSpPr>
          <p:spPr>
            <a:xfrm>
              <a:off x="6128247" y="1105093"/>
              <a:ext cx="1707872" cy="1607409"/>
            </a:xfrm>
            <a:custGeom>
              <a:avLst/>
              <a:gdLst/>
              <a:ahLst/>
              <a:cxnLst/>
              <a:rect l="0" t="0" r="0" b="0"/>
              <a:pathLst>
                <a:path w="1707872" h="1607409">
                  <a:moveTo>
                    <a:pt x="0" y="0"/>
                  </a:moveTo>
                  <a:lnTo>
                    <a:pt x="1707872" y="0"/>
                  </a:lnTo>
                  <a:lnTo>
                    <a:pt x="1707872" y="1607409"/>
                  </a:lnTo>
                  <a:lnTo>
                    <a:pt x="0" y="1607409"/>
                  </a:lnTo>
                  <a:close/>
                </a:path>
              </a:pathLst>
            </a:custGeom>
            <a:solidFill>
              <a:srgbClr val="DE58A9"/>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6" name="Rounded Rectangle 11"/>
            <p:cNvSpPr/>
            <p:nvPr/>
          </p:nvSpPr>
          <p:spPr>
            <a:xfrm>
              <a:off x="6237082" y="2704131"/>
              <a:ext cx="1490202" cy="8371"/>
            </a:xfrm>
            <a:custGeom>
              <a:avLst/>
              <a:gdLst/>
              <a:ahLst/>
              <a:cxnLst/>
              <a:rect l="0" t="0" r="0" b="0"/>
              <a:pathLst>
                <a:path w="1490202" h="8371">
                  <a:moveTo>
                    <a:pt x="0" y="0"/>
                  </a:moveTo>
                  <a:lnTo>
                    <a:pt x="1490202" y="0"/>
                  </a:lnTo>
                </a:path>
              </a:pathLst>
            </a:custGeom>
            <a:noFill/>
            <a:ln w="1255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
        <p:nvSpPr>
          <p:cNvPr id="9" name="Rounded Rectangle 13"/>
          <p:cNvSpPr/>
          <p:nvPr/>
        </p:nvSpPr>
        <p:spPr>
          <a:xfrm>
            <a:off x="2257291" y="4504511"/>
            <a:ext cx="1707872" cy="1406483"/>
          </a:xfrm>
          <a:custGeom>
            <a:avLst/>
            <a:gdLst/>
            <a:ahLst/>
            <a:cxnLst/>
            <a:rect l="0" t="0" r="0" b="0"/>
            <a:pathLst>
              <a:path w="1707872" h="1406483">
                <a:moveTo>
                  <a:pt x="0" y="0"/>
                </a:moveTo>
                <a:lnTo>
                  <a:pt x="1707872" y="0"/>
                </a:lnTo>
                <a:lnTo>
                  <a:pt x="1707872" y="200926"/>
                </a:lnTo>
                <a:lnTo>
                  <a:pt x="0" y="200926"/>
                </a:lnTo>
                <a:close/>
                <a:moveTo>
                  <a:pt x="0" y="200926"/>
                </a:moveTo>
                <a:lnTo>
                  <a:pt x="1707872" y="200926"/>
                </a:lnTo>
                <a:lnTo>
                  <a:pt x="1707872" y="1205556"/>
                </a:lnTo>
                <a:lnTo>
                  <a:pt x="0" y="1205556"/>
                </a:lnTo>
                <a:close/>
                <a:moveTo>
                  <a:pt x="0" y="1205556"/>
                </a:moveTo>
                <a:lnTo>
                  <a:pt x="1707872" y="1205556"/>
                </a:lnTo>
                <a:lnTo>
                  <a:pt x="1707872" y="1406483"/>
                </a:lnTo>
                <a:lnTo>
                  <a:pt x="0" y="1406483"/>
                </a:ln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0" name="Rounded Rectangle 14"/>
          <p:cNvSpPr/>
          <p:nvPr/>
        </p:nvSpPr>
        <p:spPr>
          <a:xfrm>
            <a:off x="4166089" y="4504511"/>
            <a:ext cx="1707872" cy="1406483"/>
          </a:xfrm>
          <a:custGeom>
            <a:avLst/>
            <a:gdLst/>
            <a:ahLst/>
            <a:cxnLst/>
            <a:rect l="0" t="0" r="0" b="0"/>
            <a:pathLst>
              <a:path w="1707872" h="1406483">
                <a:moveTo>
                  <a:pt x="0" y="0"/>
                </a:moveTo>
                <a:lnTo>
                  <a:pt x="1707872" y="0"/>
                </a:lnTo>
                <a:lnTo>
                  <a:pt x="1707872" y="200926"/>
                </a:lnTo>
                <a:lnTo>
                  <a:pt x="0" y="200926"/>
                </a:lnTo>
                <a:close/>
                <a:moveTo>
                  <a:pt x="0" y="200926"/>
                </a:moveTo>
                <a:lnTo>
                  <a:pt x="1707872" y="200926"/>
                </a:lnTo>
                <a:lnTo>
                  <a:pt x="1707872" y="1205556"/>
                </a:lnTo>
                <a:lnTo>
                  <a:pt x="0" y="1205556"/>
                </a:lnTo>
                <a:close/>
                <a:moveTo>
                  <a:pt x="0" y="1205556"/>
                </a:moveTo>
                <a:lnTo>
                  <a:pt x="1707872" y="1205556"/>
                </a:lnTo>
                <a:lnTo>
                  <a:pt x="1707872" y="1406483"/>
                </a:lnTo>
                <a:lnTo>
                  <a:pt x="0" y="1406483"/>
                </a:ln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1" name="Rounded Rectangle 15"/>
          <p:cNvSpPr/>
          <p:nvPr/>
        </p:nvSpPr>
        <p:spPr>
          <a:xfrm>
            <a:off x="6074888" y="4504511"/>
            <a:ext cx="1707872" cy="1406483"/>
          </a:xfrm>
          <a:custGeom>
            <a:avLst/>
            <a:gdLst/>
            <a:ahLst/>
            <a:cxnLst/>
            <a:rect l="0" t="0" r="0" b="0"/>
            <a:pathLst>
              <a:path w="1707872" h="1406483">
                <a:moveTo>
                  <a:pt x="0" y="0"/>
                </a:moveTo>
                <a:lnTo>
                  <a:pt x="1707872" y="0"/>
                </a:lnTo>
                <a:lnTo>
                  <a:pt x="1707872" y="200926"/>
                </a:lnTo>
                <a:lnTo>
                  <a:pt x="0" y="200926"/>
                </a:lnTo>
                <a:close/>
                <a:moveTo>
                  <a:pt x="0" y="200926"/>
                </a:moveTo>
                <a:lnTo>
                  <a:pt x="1707872" y="200926"/>
                </a:lnTo>
                <a:lnTo>
                  <a:pt x="1707872" y="1205556"/>
                </a:lnTo>
                <a:lnTo>
                  <a:pt x="0" y="1205556"/>
                </a:lnTo>
                <a:close/>
                <a:moveTo>
                  <a:pt x="0" y="1205556"/>
                </a:moveTo>
                <a:lnTo>
                  <a:pt x="1707872" y="1205556"/>
                </a:lnTo>
                <a:lnTo>
                  <a:pt x="1707872" y="1406483"/>
                </a:lnTo>
                <a:lnTo>
                  <a:pt x="0" y="1406483"/>
                </a:lnTo>
                <a:close/>
              </a:path>
            </a:pathLst>
          </a:custGeom>
          <a:solidFill>
            <a:srgbClr val="E5575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2" name="Rounded Rectangle 16"/>
          <p:cNvSpPr/>
          <p:nvPr/>
        </p:nvSpPr>
        <p:spPr>
          <a:xfrm>
            <a:off x="7983686" y="4504511"/>
            <a:ext cx="1707872" cy="1406483"/>
          </a:xfrm>
          <a:custGeom>
            <a:avLst/>
            <a:gdLst/>
            <a:ahLst/>
            <a:cxnLst/>
            <a:rect l="0" t="0" r="0" b="0"/>
            <a:pathLst>
              <a:path w="1707872" h="1406483">
                <a:moveTo>
                  <a:pt x="0" y="0"/>
                </a:moveTo>
                <a:lnTo>
                  <a:pt x="1707872" y="0"/>
                </a:lnTo>
                <a:lnTo>
                  <a:pt x="1707872" y="200926"/>
                </a:lnTo>
                <a:lnTo>
                  <a:pt x="0" y="200926"/>
                </a:lnTo>
                <a:close/>
                <a:moveTo>
                  <a:pt x="0" y="200926"/>
                </a:moveTo>
                <a:lnTo>
                  <a:pt x="1707872" y="200926"/>
                </a:lnTo>
                <a:lnTo>
                  <a:pt x="1707872" y="1205556"/>
                </a:lnTo>
                <a:lnTo>
                  <a:pt x="0" y="1205556"/>
                </a:lnTo>
                <a:close/>
                <a:moveTo>
                  <a:pt x="0" y="1205556"/>
                </a:moveTo>
                <a:lnTo>
                  <a:pt x="1707872" y="1205556"/>
                </a:lnTo>
                <a:lnTo>
                  <a:pt x="1707872" y="1406483"/>
                </a:lnTo>
                <a:lnTo>
                  <a:pt x="0" y="1406483"/>
                </a:lnTo>
                <a:close/>
              </a:path>
            </a:pathLst>
          </a:custGeom>
          <a:solidFill>
            <a:srgbClr val="DE58A9"/>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3" name="Rounded Rectangle 17"/>
          <p:cNvSpPr/>
          <p:nvPr/>
        </p:nvSpPr>
        <p:spPr>
          <a:xfrm>
            <a:off x="2693975" y="3725853"/>
            <a:ext cx="885081" cy="617406"/>
          </a:xfrm>
          <a:custGeom>
            <a:avLst/>
            <a:gdLst/>
            <a:ahLst/>
            <a:cxnLst/>
            <a:rect l="0" t="0" r="0" b="0"/>
            <a:pathLst>
              <a:path w="1013180" h="974930">
                <a:moveTo>
                  <a:pt x="694958" y="388896"/>
                </a:moveTo>
                <a:cubicBezTo>
                  <a:pt x="856787" y="388896"/>
                  <a:pt x="987975" y="520084"/>
                  <a:pt x="987975" y="681913"/>
                </a:cubicBezTo>
                <a:cubicBezTo>
                  <a:pt x="987975" y="843742"/>
                  <a:pt x="856787" y="974930"/>
                  <a:pt x="694958" y="974930"/>
                </a:cubicBezTo>
                <a:lnTo>
                  <a:pt x="318221" y="974930"/>
                </a:lnTo>
                <a:cubicBezTo>
                  <a:pt x="156392" y="974930"/>
                  <a:pt x="25204" y="843742"/>
                  <a:pt x="25204" y="681913"/>
                </a:cubicBezTo>
                <a:cubicBezTo>
                  <a:pt x="25204" y="520084"/>
                  <a:pt x="156392" y="388896"/>
                  <a:pt x="318221" y="388896"/>
                </a:cubicBezTo>
                <a:lnTo>
                  <a:pt x="694958" y="388896"/>
                </a:lnTo>
                <a:close/>
                <a:moveTo>
                  <a:pt x="996766" y="359175"/>
                </a:moveTo>
                <a:cubicBezTo>
                  <a:pt x="1013180" y="375590"/>
                  <a:pt x="1013180" y="402202"/>
                  <a:pt x="996766" y="418616"/>
                </a:cubicBezTo>
                <a:cubicBezTo>
                  <a:pt x="980352" y="435030"/>
                  <a:pt x="953739" y="435030"/>
                  <a:pt x="937325" y="418616"/>
                </a:cubicBezTo>
                <a:cubicBezTo>
                  <a:pt x="878014" y="358870"/>
                  <a:pt x="797142" y="325526"/>
                  <a:pt x="712958" y="326106"/>
                </a:cubicBezTo>
                <a:lnTo>
                  <a:pt x="300222" y="326106"/>
                </a:lnTo>
                <a:cubicBezTo>
                  <a:pt x="216037" y="325526"/>
                  <a:pt x="135166" y="358870"/>
                  <a:pt x="75854" y="418616"/>
                </a:cubicBezTo>
                <a:cubicBezTo>
                  <a:pt x="59440" y="435030"/>
                  <a:pt x="32828" y="435030"/>
                  <a:pt x="16414" y="418616"/>
                </a:cubicBezTo>
                <a:cubicBezTo>
                  <a:pt x="0" y="402202"/>
                  <a:pt x="0" y="375590"/>
                  <a:pt x="16414" y="359175"/>
                </a:cubicBezTo>
                <a:cubicBezTo>
                  <a:pt x="87740" y="288030"/>
                  <a:pt x="183231" y="246336"/>
                  <a:pt x="283897" y="242387"/>
                </a:cubicBezTo>
                <a:cubicBezTo>
                  <a:pt x="287829" y="241981"/>
                  <a:pt x="291291" y="239620"/>
                  <a:pt x="293106" y="236108"/>
                </a:cubicBezTo>
                <a:cubicBezTo>
                  <a:pt x="294408" y="232166"/>
                  <a:pt x="293444" y="227826"/>
                  <a:pt x="290594" y="224806"/>
                </a:cubicBezTo>
                <a:cubicBezTo>
                  <a:pt x="242880" y="175303"/>
                  <a:pt x="243846" y="96634"/>
                  <a:pt x="292760" y="48317"/>
                </a:cubicBezTo>
                <a:cubicBezTo>
                  <a:pt x="341674" y="0"/>
                  <a:pt x="420348" y="0"/>
                  <a:pt x="469262" y="48317"/>
                </a:cubicBezTo>
                <a:cubicBezTo>
                  <a:pt x="518176" y="96634"/>
                  <a:pt x="519141" y="175303"/>
                  <a:pt x="471428" y="224806"/>
                </a:cubicBezTo>
                <a:cubicBezTo>
                  <a:pt x="468538" y="227819"/>
                  <a:pt x="467716" y="232261"/>
                  <a:pt x="469335" y="236108"/>
                </a:cubicBezTo>
                <a:cubicBezTo>
                  <a:pt x="471004" y="239934"/>
                  <a:pt x="474788" y="242402"/>
                  <a:pt x="478962" y="242387"/>
                </a:cubicBezTo>
                <a:lnTo>
                  <a:pt x="534217" y="242387"/>
                </a:lnTo>
                <a:cubicBezTo>
                  <a:pt x="538391" y="242402"/>
                  <a:pt x="542175" y="239934"/>
                  <a:pt x="543845" y="236108"/>
                </a:cubicBezTo>
                <a:cubicBezTo>
                  <a:pt x="545464" y="232261"/>
                  <a:pt x="544641" y="227819"/>
                  <a:pt x="541752" y="224806"/>
                </a:cubicBezTo>
                <a:cubicBezTo>
                  <a:pt x="519213" y="201422"/>
                  <a:pt x="506610" y="170216"/>
                  <a:pt x="506590" y="137738"/>
                </a:cubicBezTo>
                <a:cubicBezTo>
                  <a:pt x="506171" y="80999"/>
                  <a:pt x="543850" y="31028"/>
                  <a:pt x="598515" y="15824"/>
                </a:cubicBezTo>
                <a:cubicBezTo>
                  <a:pt x="653180" y="620"/>
                  <a:pt x="711250" y="23960"/>
                  <a:pt x="740186" y="72768"/>
                </a:cubicBezTo>
                <a:cubicBezTo>
                  <a:pt x="769123" y="121575"/>
                  <a:pt x="761737" y="183722"/>
                  <a:pt x="722167" y="224388"/>
                </a:cubicBezTo>
                <a:cubicBezTo>
                  <a:pt x="719317" y="227408"/>
                  <a:pt x="718353" y="231747"/>
                  <a:pt x="719655" y="235690"/>
                </a:cubicBezTo>
                <a:cubicBezTo>
                  <a:pt x="721294" y="239418"/>
                  <a:pt x="724812" y="241977"/>
                  <a:pt x="728864" y="242387"/>
                </a:cubicBezTo>
                <a:cubicBezTo>
                  <a:pt x="829411" y="247378"/>
                  <a:pt x="924676" y="288907"/>
                  <a:pt x="996766" y="359176"/>
                </a:cubicBezTo>
                <a:close/>
                <a:moveTo>
                  <a:pt x="590309" y="137738"/>
                </a:moveTo>
                <a:cubicBezTo>
                  <a:pt x="590309" y="160857"/>
                  <a:pt x="609050" y="179598"/>
                  <a:pt x="632168" y="179598"/>
                </a:cubicBezTo>
                <a:cubicBezTo>
                  <a:pt x="655287" y="179598"/>
                  <a:pt x="674028" y="160857"/>
                  <a:pt x="674028" y="137738"/>
                </a:cubicBezTo>
                <a:cubicBezTo>
                  <a:pt x="674028" y="114620"/>
                  <a:pt x="655287" y="95879"/>
                  <a:pt x="632168" y="95879"/>
                </a:cubicBezTo>
                <a:cubicBezTo>
                  <a:pt x="609050" y="95879"/>
                  <a:pt x="590309" y="114620"/>
                  <a:pt x="590309" y="137738"/>
                </a:cubicBezTo>
                <a:close/>
                <a:moveTo>
                  <a:pt x="339151" y="137738"/>
                </a:moveTo>
                <a:cubicBezTo>
                  <a:pt x="339151" y="160857"/>
                  <a:pt x="357892" y="179598"/>
                  <a:pt x="381011" y="179598"/>
                </a:cubicBezTo>
                <a:cubicBezTo>
                  <a:pt x="404129" y="179598"/>
                  <a:pt x="422870" y="160857"/>
                  <a:pt x="422870" y="137738"/>
                </a:cubicBezTo>
                <a:cubicBezTo>
                  <a:pt x="422870" y="114620"/>
                  <a:pt x="404129" y="95879"/>
                  <a:pt x="381011" y="95879"/>
                </a:cubicBezTo>
                <a:cubicBezTo>
                  <a:pt x="357892" y="95879"/>
                  <a:pt x="339151" y="114620"/>
                  <a:pt x="339151" y="137738"/>
                </a:cubicBezTo>
                <a:close/>
              </a:path>
            </a:pathLst>
          </a:custGeom>
          <a:solidFill>
            <a:srgbClr val="FFFF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4" name="Rounded Rectangle 18"/>
          <p:cNvSpPr/>
          <p:nvPr/>
        </p:nvSpPr>
        <p:spPr>
          <a:xfrm>
            <a:off x="4607048" y="3717083"/>
            <a:ext cx="877612" cy="636214"/>
          </a:xfrm>
          <a:custGeom>
            <a:avLst/>
            <a:gdLst/>
            <a:ahLst/>
            <a:cxnLst/>
            <a:rect l="0" t="0" r="0" b="0"/>
            <a:pathLst>
              <a:path w="1004630" h="1004630">
                <a:moveTo>
                  <a:pt x="575569" y="554639"/>
                </a:moveTo>
                <a:cubicBezTo>
                  <a:pt x="575569" y="600876"/>
                  <a:pt x="538087" y="638359"/>
                  <a:pt x="491850" y="638359"/>
                </a:cubicBezTo>
                <a:lnTo>
                  <a:pt x="455013" y="638359"/>
                </a:lnTo>
                <a:cubicBezTo>
                  <a:pt x="437675" y="638359"/>
                  <a:pt x="423619" y="624303"/>
                  <a:pt x="423619" y="606964"/>
                </a:cubicBezTo>
                <a:cubicBezTo>
                  <a:pt x="423619" y="589625"/>
                  <a:pt x="437675" y="575569"/>
                  <a:pt x="455013" y="575569"/>
                </a:cubicBezTo>
                <a:lnTo>
                  <a:pt x="491850" y="575569"/>
                </a:lnTo>
                <a:cubicBezTo>
                  <a:pt x="503409" y="575569"/>
                  <a:pt x="512780" y="566199"/>
                  <a:pt x="512780" y="554639"/>
                </a:cubicBezTo>
                <a:cubicBezTo>
                  <a:pt x="512780" y="543080"/>
                  <a:pt x="503409" y="533710"/>
                  <a:pt x="491850" y="533710"/>
                </a:cubicBezTo>
                <a:lnTo>
                  <a:pt x="460455" y="533710"/>
                </a:lnTo>
                <a:cubicBezTo>
                  <a:pt x="443211" y="533484"/>
                  <a:pt x="429286" y="519559"/>
                  <a:pt x="429060" y="502315"/>
                </a:cubicBezTo>
                <a:lnTo>
                  <a:pt x="429060" y="397666"/>
                </a:lnTo>
                <a:cubicBezTo>
                  <a:pt x="429286" y="380421"/>
                  <a:pt x="443211" y="366497"/>
                  <a:pt x="460455" y="366271"/>
                </a:cubicBezTo>
                <a:lnTo>
                  <a:pt x="544174" y="366271"/>
                </a:lnTo>
                <a:cubicBezTo>
                  <a:pt x="561513" y="366271"/>
                  <a:pt x="575569" y="380327"/>
                  <a:pt x="575569" y="397666"/>
                </a:cubicBezTo>
                <a:cubicBezTo>
                  <a:pt x="575569" y="415005"/>
                  <a:pt x="561513" y="429061"/>
                  <a:pt x="544174" y="429061"/>
                </a:cubicBezTo>
                <a:lnTo>
                  <a:pt x="502315" y="429061"/>
                </a:lnTo>
                <a:cubicBezTo>
                  <a:pt x="496535" y="429061"/>
                  <a:pt x="491850" y="433746"/>
                  <a:pt x="491850" y="439525"/>
                </a:cubicBezTo>
                <a:lnTo>
                  <a:pt x="491850" y="460455"/>
                </a:lnTo>
                <a:cubicBezTo>
                  <a:pt x="491811" y="465778"/>
                  <a:pt x="495775" y="470282"/>
                  <a:pt x="501059" y="470920"/>
                </a:cubicBezTo>
                <a:cubicBezTo>
                  <a:pt x="543667" y="475635"/>
                  <a:pt x="575829" y="511772"/>
                  <a:pt x="575569" y="554639"/>
                </a:cubicBezTo>
                <a:close/>
                <a:moveTo>
                  <a:pt x="1004630" y="502315"/>
                </a:moveTo>
                <a:cubicBezTo>
                  <a:pt x="1004630" y="779736"/>
                  <a:pt x="779736" y="1004630"/>
                  <a:pt x="502315" y="1004630"/>
                </a:cubicBezTo>
                <a:cubicBezTo>
                  <a:pt x="224894" y="1004630"/>
                  <a:pt x="0" y="779736"/>
                  <a:pt x="0" y="502315"/>
                </a:cubicBezTo>
                <a:cubicBezTo>
                  <a:pt x="0" y="224894"/>
                  <a:pt x="224894" y="0"/>
                  <a:pt x="502315" y="0"/>
                </a:cubicBezTo>
                <a:cubicBezTo>
                  <a:pt x="779736" y="0"/>
                  <a:pt x="1004630" y="224894"/>
                  <a:pt x="1004630" y="502315"/>
                </a:cubicBezTo>
                <a:close/>
                <a:moveTo>
                  <a:pt x="654684" y="267064"/>
                </a:moveTo>
                <a:cubicBezTo>
                  <a:pt x="653135" y="271625"/>
                  <a:pt x="654648" y="276666"/>
                  <a:pt x="658451" y="279622"/>
                </a:cubicBezTo>
                <a:cubicBezTo>
                  <a:pt x="684437" y="297650"/>
                  <a:pt x="706979" y="320193"/>
                  <a:pt x="725008" y="346179"/>
                </a:cubicBezTo>
                <a:cubicBezTo>
                  <a:pt x="727964" y="349982"/>
                  <a:pt x="733005" y="351494"/>
                  <a:pt x="737566" y="349946"/>
                </a:cubicBezTo>
                <a:lnTo>
                  <a:pt x="855191" y="299296"/>
                </a:lnTo>
                <a:cubicBezTo>
                  <a:pt x="858022" y="298238"/>
                  <a:pt x="860192" y="295913"/>
                  <a:pt x="861052" y="293017"/>
                </a:cubicBezTo>
                <a:cubicBezTo>
                  <a:pt x="862111" y="290182"/>
                  <a:pt x="862111" y="287061"/>
                  <a:pt x="861052" y="284226"/>
                </a:cubicBezTo>
                <a:cubicBezTo>
                  <a:pt x="825921" y="226905"/>
                  <a:pt x="777725" y="178709"/>
                  <a:pt x="720404" y="143578"/>
                </a:cubicBezTo>
                <a:cubicBezTo>
                  <a:pt x="717569" y="142519"/>
                  <a:pt x="714448" y="142519"/>
                  <a:pt x="711613" y="143578"/>
                </a:cubicBezTo>
                <a:cubicBezTo>
                  <a:pt x="708399" y="144195"/>
                  <a:pt x="705719" y="146402"/>
                  <a:pt x="704497" y="149438"/>
                </a:cubicBezTo>
                <a:close/>
                <a:moveTo>
                  <a:pt x="460455" y="146508"/>
                </a:moveTo>
                <a:cubicBezTo>
                  <a:pt x="460455" y="169627"/>
                  <a:pt x="479196" y="188368"/>
                  <a:pt x="502315" y="188368"/>
                </a:cubicBezTo>
                <a:cubicBezTo>
                  <a:pt x="525433" y="188368"/>
                  <a:pt x="544174" y="169627"/>
                  <a:pt x="544174" y="146508"/>
                </a:cubicBezTo>
                <a:cubicBezTo>
                  <a:pt x="544174" y="123390"/>
                  <a:pt x="525433" y="104649"/>
                  <a:pt x="502315" y="104649"/>
                </a:cubicBezTo>
                <a:cubicBezTo>
                  <a:pt x="479196" y="104649"/>
                  <a:pt x="460455" y="123390"/>
                  <a:pt x="460455" y="146508"/>
                </a:cubicBezTo>
                <a:close/>
                <a:moveTo>
                  <a:pt x="285063" y="144415"/>
                </a:moveTo>
                <a:cubicBezTo>
                  <a:pt x="227533" y="179205"/>
                  <a:pt x="179050" y="227114"/>
                  <a:pt x="143578" y="284226"/>
                </a:cubicBezTo>
                <a:cubicBezTo>
                  <a:pt x="142519" y="287061"/>
                  <a:pt x="142519" y="290182"/>
                  <a:pt x="143578" y="293017"/>
                </a:cubicBezTo>
                <a:cubicBezTo>
                  <a:pt x="144195" y="296231"/>
                  <a:pt x="146402" y="298911"/>
                  <a:pt x="149438" y="300133"/>
                </a:cubicBezTo>
                <a:lnTo>
                  <a:pt x="267064" y="349946"/>
                </a:lnTo>
                <a:cubicBezTo>
                  <a:pt x="271625" y="351494"/>
                  <a:pt x="276666" y="349982"/>
                  <a:pt x="279622" y="346179"/>
                </a:cubicBezTo>
                <a:cubicBezTo>
                  <a:pt x="297650" y="320193"/>
                  <a:pt x="320193" y="297650"/>
                  <a:pt x="346178" y="279622"/>
                </a:cubicBezTo>
                <a:cubicBezTo>
                  <a:pt x="349982" y="276666"/>
                  <a:pt x="351494" y="271625"/>
                  <a:pt x="349946" y="267064"/>
                </a:cubicBezTo>
                <a:lnTo>
                  <a:pt x="300133" y="152368"/>
                </a:lnTo>
                <a:cubicBezTo>
                  <a:pt x="299075" y="149538"/>
                  <a:pt x="296751" y="147368"/>
                  <a:pt x="293854" y="146508"/>
                </a:cubicBezTo>
                <a:cubicBezTo>
                  <a:pt x="291019" y="145449"/>
                  <a:pt x="287898" y="145449"/>
                  <a:pt x="285063" y="146508"/>
                </a:cubicBezTo>
                <a:close/>
                <a:moveTo>
                  <a:pt x="146508" y="544174"/>
                </a:moveTo>
                <a:cubicBezTo>
                  <a:pt x="169626" y="544174"/>
                  <a:pt x="188368" y="525433"/>
                  <a:pt x="188368" y="502315"/>
                </a:cubicBezTo>
                <a:cubicBezTo>
                  <a:pt x="188368" y="479196"/>
                  <a:pt x="169626" y="460455"/>
                  <a:pt x="146508" y="460455"/>
                </a:cubicBezTo>
                <a:cubicBezTo>
                  <a:pt x="123390" y="460455"/>
                  <a:pt x="104648" y="479196"/>
                  <a:pt x="104648" y="502315"/>
                </a:cubicBezTo>
                <a:cubicBezTo>
                  <a:pt x="104648" y="525433"/>
                  <a:pt x="123390" y="544174"/>
                  <a:pt x="146508" y="544174"/>
                </a:cubicBezTo>
                <a:close/>
                <a:moveTo>
                  <a:pt x="350783" y="738403"/>
                </a:moveTo>
                <a:cubicBezTo>
                  <a:pt x="352331" y="733842"/>
                  <a:pt x="350819" y="728801"/>
                  <a:pt x="347016" y="725845"/>
                </a:cubicBezTo>
                <a:cubicBezTo>
                  <a:pt x="321030" y="707816"/>
                  <a:pt x="298488" y="685274"/>
                  <a:pt x="280459" y="659288"/>
                </a:cubicBezTo>
                <a:cubicBezTo>
                  <a:pt x="277503" y="655485"/>
                  <a:pt x="272462" y="653973"/>
                  <a:pt x="267901" y="655521"/>
                </a:cubicBezTo>
                <a:lnTo>
                  <a:pt x="150275" y="705334"/>
                </a:lnTo>
                <a:cubicBezTo>
                  <a:pt x="147445" y="706391"/>
                  <a:pt x="145275" y="708716"/>
                  <a:pt x="144415" y="711613"/>
                </a:cubicBezTo>
                <a:cubicBezTo>
                  <a:pt x="143356" y="714447"/>
                  <a:pt x="143356" y="717569"/>
                  <a:pt x="144415" y="720403"/>
                </a:cubicBezTo>
                <a:cubicBezTo>
                  <a:pt x="179546" y="777725"/>
                  <a:pt x="227742" y="825920"/>
                  <a:pt x="285063" y="861052"/>
                </a:cubicBezTo>
                <a:cubicBezTo>
                  <a:pt x="287898" y="862111"/>
                  <a:pt x="291019" y="862111"/>
                  <a:pt x="293854" y="861052"/>
                </a:cubicBezTo>
                <a:cubicBezTo>
                  <a:pt x="296751" y="860192"/>
                  <a:pt x="299075" y="858022"/>
                  <a:pt x="300133" y="855191"/>
                </a:cubicBezTo>
                <a:close/>
                <a:moveTo>
                  <a:pt x="544174" y="858122"/>
                </a:moveTo>
                <a:cubicBezTo>
                  <a:pt x="544174" y="835003"/>
                  <a:pt x="525433" y="816262"/>
                  <a:pt x="502315" y="816262"/>
                </a:cubicBezTo>
                <a:cubicBezTo>
                  <a:pt x="479196" y="816262"/>
                  <a:pt x="460455" y="835003"/>
                  <a:pt x="460455" y="858122"/>
                </a:cubicBezTo>
                <a:cubicBezTo>
                  <a:pt x="460455" y="881240"/>
                  <a:pt x="479196" y="899981"/>
                  <a:pt x="502315" y="899981"/>
                </a:cubicBezTo>
                <a:cubicBezTo>
                  <a:pt x="525433" y="899981"/>
                  <a:pt x="544174" y="881240"/>
                  <a:pt x="544174" y="858122"/>
                </a:cubicBezTo>
                <a:close/>
                <a:moveTo>
                  <a:pt x="690683" y="502315"/>
                </a:moveTo>
                <a:cubicBezTo>
                  <a:pt x="690683" y="398282"/>
                  <a:pt x="606348" y="313947"/>
                  <a:pt x="502315" y="313947"/>
                </a:cubicBezTo>
                <a:cubicBezTo>
                  <a:pt x="398282" y="313947"/>
                  <a:pt x="313947" y="398282"/>
                  <a:pt x="313947" y="502315"/>
                </a:cubicBezTo>
                <a:cubicBezTo>
                  <a:pt x="313947" y="606348"/>
                  <a:pt x="398282" y="690683"/>
                  <a:pt x="502315" y="690683"/>
                </a:cubicBezTo>
                <a:cubicBezTo>
                  <a:pt x="606252" y="690453"/>
                  <a:pt x="690453" y="606252"/>
                  <a:pt x="690683" y="502315"/>
                </a:cubicBezTo>
                <a:close/>
                <a:moveTo>
                  <a:pt x="719566" y="860215"/>
                </a:moveTo>
                <a:cubicBezTo>
                  <a:pt x="777289" y="824951"/>
                  <a:pt x="825788" y="776452"/>
                  <a:pt x="861052" y="718729"/>
                </a:cubicBezTo>
                <a:cubicBezTo>
                  <a:pt x="862111" y="715895"/>
                  <a:pt x="862111" y="712773"/>
                  <a:pt x="861052" y="709939"/>
                </a:cubicBezTo>
                <a:cubicBezTo>
                  <a:pt x="860192" y="707042"/>
                  <a:pt x="858022" y="704717"/>
                  <a:pt x="855191" y="703660"/>
                </a:cubicBezTo>
                <a:lnTo>
                  <a:pt x="737566" y="653847"/>
                </a:lnTo>
                <a:cubicBezTo>
                  <a:pt x="733005" y="652298"/>
                  <a:pt x="727963" y="653811"/>
                  <a:pt x="725008" y="657614"/>
                </a:cubicBezTo>
                <a:cubicBezTo>
                  <a:pt x="706979" y="683600"/>
                  <a:pt x="684437" y="706142"/>
                  <a:pt x="658451" y="724171"/>
                </a:cubicBezTo>
                <a:cubicBezTo>
                  <a:pt x="654648" y="727126"/>
                  <a:pt x="653135" y="732168"/>
                  <a:pt x="654684" y="736729"/>
                </a:cubicBezTo>
                <a:lnTo>
                  <a:pt x="704497" y="854354"/>
                </a:lnTo>
                <a:cubicBezTo>
                  <a:pt x="705554" y="857185"/>
                  <a:pt x="707879" y="859355"/>
                  <a:pt x="710775" y="860215"/>
                </a:cubicBezTo>
                <a:cubicBezTo>
                  <a:pt x="713610" y="861274"/>
                  <a:pt x="716732" y="861274"/>
                  <a:pt x="719566" y="860214"/>
                </a:cubicBezTo>
                <a:close/>
                <a:moveTo>
                  <a:pt x="899981" y="502315"/>
                </a:moveTo>
                <a:cubicBezTo>
                  <a:pt x="899981" y="479196"/>
                  <a:pt x="881240" y="460455"/>
                  <a:pt x="858121" y="460455"/>
                </a:cubicBezTo>
                <a:cubicBezTo>
                  <a:pt x="835003" y="460455"/>
                  <a:pt x="816262" y="479196"/>
                  <a:pt x="816262" y="502315"/>
                </a:cubicBezTo>
                <a:cubicBezTo>
                  <a:pt x="816262" y="525433"/>
                  <a:pt x="835003" y="544174"/>
                  <a:pt x="858121" y="544174"/>
                </a:cubicBezTo>
                <a:cubicBezTo>
                  <a:pt x="881240" y="544174"/>
                  <a:pt x="899981" y="525433"/>
                  <a:pt x="899981" y="502315"/>
                </a:cubicBezTo>
                <a:close/>
              </a:path>
            </a:pathLst>
          </a:custGeom>
          <a:solidFill>
            <a:srgbClr val="FFFF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5" name="Rounded Rectangle 19"/>
          <p:cNvSpPr/>
          <p:nvPr/>
        </p:nvSpPr>
        <p:spPr>
          <a:xfrm>
            <a:off x="6547242" y="3748477"/>
            <a:ext cx="822762" cy="596451"/>
          </a:xfrm>
          <a:custGeom>
            <a:avLst/>
            <a:gdLst/>
            <a:ahLst/>
            <a:cxnLst/>
            <a:rect l="0" t="0" r="0" b="0"/>
            <a:pathLst>
              <a:path w="941841" h="941841">
                <a:moveTo>
                  <a:pt x="426968" y="217167"/>
                </a:moveTo>
                <a:cubicBezTo>
                  <a:pt x="385443" y="177149"/>
                  <a:pt x="339690" y="153875"/>
                  <a:pt x="293561" y="149815"/>
                </a:cubicBezTo>
                <a:cubicBezTo>
                  <a:pt x="245004" y="145545"/>
                  <a:pt x="200549" y="163001"/>
                  <a:pt x="167145" y="196447"/>
                </a:cubicBezTo>
                <a:cubicBezTo>
                  <a:pt x="133699" y="229892"/>
                  <a:pt x="116244" y="274306"/>
                  <a:pt x="120513" y="322863"/>
                </a:cubicBezTo>
                <a:cubicBezTo>
                  <a:pt x="124699" y="370541"/>
                  <a:pt x="149438" y="417842"/>
                  <a:pt x="191968" y="460455"/>
                </a:cubicBezTo>
                <a:lnTo>
                  <a:pt x="0" y="460455"/>
                </a:lnTo>
                <a:lnTo>
                  <a:pt x="0" y="125578"/>
                </a:lnTo>
                <a:cubicBezTo>
                  <a:pt x="0" y="54417"/>
                  <a:pt x="54417" y="0"/>
                  <a:pt x="125578" y="0"/>
                </a:cubicBezTo>
                <a:lnTo>
                  <a:pt x="426968" y="0"/>
                </a:lnTo>
                <a:close/>
                <a:moveTo>
                  <a:pt x="409177" y="544174"/>
                </a:moveTo>
                <a:cubicBezTo>
                  <a:pt x="394150" y="579002"/>
                  <a:pt x="378201" y="601355"/>
                  <a:pt x="359239" y="617052"/>
                </a:cubicBezTo>
                <a:cubicBezTo>
                  <a:pt x="331863" y="639740"/>
                  <a:pt x="292054" y="653554"/>
                  <a:pt x="221269" y="661633"/>
                </a:cubicBezTo>
                <a:cubicBezTo>
                  <a:pt x="198290" y="664268"/>
                  <a:pt x="181797" y="685033"/>
                  <a:pt x="184433" y="708013"/>
                </a:cubicBezTo>
                <a:cubicBezTo>
                  <a:pt x="187068" y="730993"/>
                  <a:pt x="207834" y="747485"/>
                  <a:pt x="230813" y="744849"/>
                </a:cubicBezTo>
                <a:cubicBezTo>
                  <a:pt x="306537" y="736185"/>
                  <a:pt x="366229" y="719943"/>
                  <a:pt x="412610" y="681558"/>
                </a:cubicBezTo>
                <a:cubicBezTo>
                  <a:pt x="417590" y="677422"/>
                  <a:pt x="422380" y="673065"/>
                  <a:pt x="426968" y="668498"/>
                </a:cubicBezTo>
                <a:lnTo>
                  <a:pt x="426968" y="941841"/>
                </a:lnTo>
                <a:lnTo>
                  <a:pt x="125578" y="941841"/>
                </a:lnTo>
                <a:cubicBezTo>
                  <a:pt x="54417" y="941841"/>
                  <a:pt x="0" y="887423"/>
                  <a:pt x="0" y="816262"/>
                </a:cubicBezTo>
                <a:lnTo>
                  <a:pt x="0" y="544174"/>
                </a:lnTo>
                <a:close/>
                <a:moveTo>
                  <a:pt x="510687" y="667995"/>
                </a:moveTo>
                <a:cubicBezTo>
                  <a:pt x="515440" y="672746"/>
                  <a:pt x="520413" y="677272"/>
                  <a:pt x="525589" y="681558"/>
                </a:cubicBezTo>
                <a:cubicBezTo>
                  <a:pt x="572011" y="719943"/>
                  <a:pt x="631661" y="736185"/>
                  <a:pt x="707427" y="744849"/>
                </a:cubicBezTo>
                <a:cubicBezTo>
                  <a:pt x="730410" y="747479"/>
                  <a:pt x="751172" y="730977"/>
                  <a:pt x="753796" y="707993"/>
                </a:cubicBezTo>
                <a:cubicBezTo>
                  <a:pt x="756421" y="685010"/>
                  <a:pt x="739913" y="664252"/>
                  <a:pt x="716929" y="661632"/>
                </a:cubicBezTo>
                <a:cubicBezTo>
                  <a:pt x="646145" y="653554"/>
                  <a:pt x="606378" y="639740"/>
                  <a:pt x="578960" y="617010"/>
                </a:cubicBezTo>
                <a:cubicBezTo>
                  <a:pt x="559997" y="601355"/>
                  <a:pt x="544091" y="579002"/>
                  <a:pt x="529021" y="544174"/>
                </a:cubicBezTo>
                <a:lnTo>
                  <a:pt x="941841" y="544174"/>
                </a:lnTo>
                <a:lnTo>
                  <a:pt x="941841" y="816262"/>
                </a:lnTo>
                <a:cubicBezTo>
                  <a:pt x="941841" y="887423"/>
                  <a:pt x="887423" y="941841"/>
                  <a:pt x="816262" y="941841"/>
                </a:cubicBezTo>
                <a:lnTo>
                  <a:pt x="510687" y="941841"/>
                </a:lnTo>
                <a:close/>
                <a:moveTo>
                  <a:pt x="746231" y="460455"/>
                </a:moveTo>
                <a:cubicBezTo>
                  <a:pt x="788760" y="417842"/>
                  <a:pt x="813499" y="370541"/>
                  <a:pt x="817685" y="322863"/>
                </a:cubicBezTo>
                <a:cubicBezTo>
                  <a:pt x="821997" y="274306"/>
                  <a:pt x="804499" y="229892"/>
                  <a:pt x="771054" y="196447"/>
                </a:cubicBezTo>
                <a:cubicBezTo>
                  <a:pt x="737650" y="163001"/>
                  <a:pt x="693195" y="145545"/>
                  <a:pt x="644638" y="149815"/>
                </a:cubicBezTo>
                <a:cubicBezTo>
                  <a:pt x="598341" y="153917"/>
                  <a:pt x="552337" y="177359"/>
                  <a:pt x="510687" y="217669"/>
                </a:cubicBezTo>
                <a:lnTo>
                  <a:pt x="510687" y="0"/>
                </a:lnTo>
                <a:lnTo>
                  <a:pt x="816262" y="0"/>
                </a:lnTo>
                <a:cubicBezTo>
                  <a:pt x="883237" y="0"/>
                  <a:pt x="941841" y="54417"/>
                  <a:pt x="941841" y="125578"/>
                </a:cubicBezTo>
                <a:lnTo>
                  <a:pt x="941841" y="460455"/>
                </a:lnTo>
                <a:close/>
                <a:moveTo>
                  <a:pt x="226334" y="255636"/>
                </a:moveTo>
                <a:cubicBezTo>
                  <a:pt x="243162" y="238850"/>
                  <a:pt x="263589" y="231190"/>
                  <a:pt x="286194" y="233199"/>
                </a:cubicBezTo>
                <a:cubicBezTo>
                  <a:pt x="309551" y="235292"/>
                  <a:pt x="339607" y="248101"/>
                  <a:pt x="372257" y="280752"/>
                </a:cubicBezTo>
                <a:cubicBezTo>
                  <a:pt x="399550" y="308044"/>
                  <a:pt x="414954" y="358653"/>
                  <a:pt x="422112" y="410684"/>
                </a:cubicBezTo>
                <a:cubicBezTo>
                  <a:pt x="424540" y="428307"/>
                  <a:pt x="425879" y="444925"/>
                  <a:pt x="426549" y="459032"/>
                </a:cubicBezTo>
                <a:cubicBezTo>
                  <a:pt x="411034" y="457897"/>
                  <a:pt x="395575" y="456109"/>
                  <a:pt x="380210" y="453674"/>
                </a:cubicBezTo>
                <a:cubicBezTo>
                  <a:pt x="329393" y="445511"/>
                  <a:pt x="279203" y="429312"/>
                  <a:pt x="251450" y="401559"/>
                </a:cubicBezTo>
                <a:cubicBezTo>
                  <a:pt x="218800" y="368908"/>
                  <a:pt x="205949" y="338853"/>
                  <a:pt x="203898" y="315495"/>
                </a:cubicBezTo>
                <a:cubicBezTo>
                  <a:pt x="201888" y="292891"/>
                  <a:pt x="209549" y="272464"/>
                  <a:pt x="226334" y="255636"/>
                </a:cubicBezTo>
                <a:close/>
                <a:moveTo>
                  <a:pt x="652047" y="233199"/>
                </a:moveTo>
                <a:cubicBezTo>
                  <a:pt x="674651" y="231190"/>
                  <a:pt x="695078" y="238850"/>
                  <a:pt x="711906" y="255636"/>
                </a:cubicBezTo>
                <a:cubicBezTo>
                  <a:pt x="728650" y="272464"/>
                  <a:pt x="736310" y="292891"/>
                  <a:pt x="734301" y="315495"/>
                </a:cubicBezTo>
                <a:cubicBezTo>
                  <a:pt x="732208" y="338853"/>
                  <a:pt x="719399" y="368908"/>
                  <a:pt x="686748" y="401559"/>
                </a:cubicBezTo>
                <a:cubicBezTo>
                  <a:pt x="658995" y="429312"/>
                  <a:pt x="608806" y="445511"/>
                  <a:pt x="557988" y="453674"/>
                </a:cubicBezTo>
                <a:cubicBezTo>
                  <a:pt x="542624" y="456109"/>
                  <a:pt x="527164" y="457897"/>
                  <a:pt x="511650" y="459032"/>
                </a:cubicBezTo>
                <a:cubicBezTo>
                  <a:pt x="512361" y="444925"/>
                  <a:pt x="513659" y="428349"/>
                  <a:pt x="516087" y="410684"/>
                </a:cubicBezTo>
                <a:cubicBezTo>
                  <a:pt x="523203" y="358653"/>
                  <a:pt x="538691" y="308044"/>
                  <a:pt x="565941" y="280752"/>
                </a:cubicBezTo>
                <a:cubicBezTo>
                  <a:pt x="598592" y="248102"/>
                  <a:pt x="628647" y="235251"/>
                  <a:pt x="652005" y="233199"/>
                </a:cubicBezTo>
                <a:close/>
              </a:path>
            </a:pathLst>
          </a:custGeom>
          <a:solidFill>
            <a:srgbClr val="FFFF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6" name="Rounded Rectangle 20"/>
          <p:cNvSpPr/>
          <p:nvPr/>
        </p:nvSpPr>
        <p:spPr>
          <a:xfrm>
            <a:off x="8424690" y="3717083"/>
            <a:ext cx="877573" cy="636214"/>
          </a:xfrm>
          <a:custGeom>
            <a:avLst/>
            <a:gdLst/>
            <a:ahLst/>
            <a:cxnLst/>
            <a:rect l="0" t="0" r="0" b="0"/>
            <a:pathLst>
              <a:path w="1004585" h="1004630">
                <a:moveTo>
                  <a:pt x="345296" y="0"/>
                </a:moveTo>
                <a:cubicBezTo>
                  <a:pt x="368414" y="0"/>
                  <a:pt x="387155" y="18741"/>
                  <a:pt x="387155" y="41859"/>
                </a:cubicBezTo>
                <a:lnTo>
                  <a:pt x="387155" y="414326"/>
                </a:lnTo>
                <a:cubicBezTo>
                  <a:pt x="387155" y="437444"/>
                  <a:pt x="368414" y="456186"/>
                  <a:pt x="345296" y="456186"/>
                </a:cubicBezTo>
                <a:cubicBezTo>
                  <a:pt x="322177" y="456186"/>
                  <a:pt x="303436" y="437444"/>
                  <a:pt x="303436" y="414326"/>
                </a:cubicBezTo>
                <a:lnTo>
                  <a:pt x="303436" y="41859"/>
                </a:lnTo>
                <a:cubicBezTo>
                  <a:pt x="303436" y="18741"/>
                  <a:pt x="322177" y="0"/>
                  <a:pt x="345296" y="0"/>
                </a:cubicBezTo>
                <a:close/>
                <a:moveTo>
                  <a:pt x="177857" y="593946"/>
                </a:moveTo>
                <a:cubicBezTo>
                  <a:pt x="177857" y="617064"/>
                  <a:pt x="159116" y="635805"/>
                  <a:pt x="135998" y="635805"/>
                </a:cubicBezTo>
                <a:cubicBezTo>
                  <a:pt x="112879" y="635805"/>
                  <a:pt x="94138" y="617064"/>
                  <a:pt x="94138" y="593946"/>
                </a:cubicBezTo>
                <a:lnTo>
                  <a:pt x="94138" y="250613"/>
                </a:lnTo>
                <a:cubicBezTo>
                  <a:pt x="94138" y="227495"/>
                  <a:pt x="112879" y="208753"/>
                  <a:pt x="135998" y="208753"/>
                </a:cubicBezTo>
                <a:cubicBezTo>
                  <a:pt x="159116" y="208753"/>
                  <a:pt x="177857" y="227495"/>
                  <a:pt x="177857" y="250613"/>
                </a:cubicBezTo>
                <a:close/>
                <a:moveTo>
                  <a:pt x="951758" y="493859"/>
                </a:moveTo>
                <a:lnTo>
                  <a:pt x="880764" y="427596"/>
                </a:lnTo>
                <a:lnTo>
                  <a:pt x="805752" y="490720"/>
                </a:lnTo>
                <a:lnTo>
                  <a:pt x="805752" y="962771"/>
                </a:lnTo>
                <a:cubicBezTo>
                  <a:pt x="805752" y="985889"/>
                  <a:pt x="787010" y="1004630"/>
                  <a:pt x="763892" y="1004630"/>
                </a:cubicBezTo>
                <a:cubicBezTo>
                  <a:pt x="740774" y="1004630"/>
                  <a:pt x="722032" y="985889"/>
                  <a:pt x="722032" y="962771"/>
                </a:cubicBezTo>
                <a:lnTo>
                  <a:pt x="722032" y="561170"/>
                </a:lnTo>
                <a:lnTo>
                  <a:pt x="596454" y="666865"/>
                </a:lnTo>
                <a:lnTo>
                  <a:pt x="596454" y="839996"/>
                </a:lnTo>
                <a:cubicBezTo>
                  <a:pt x="596454" y="863115"/>
                  <a:pt x="577712" y="881856"/>
                  <a:pt x="554594" y="881856"/>
                </a:cubicBezTo>
                <a:cubicBezTo>
                  <a:pt x="531475" y="881856"/>
                  <a:pt x="512734" y="863115"/>
                  <a:pt x="512734" y="839996"/>
                </a:cubicBezTo>
                <a:lnTo>
                  <a:pt x="512734" y="671218"/>
                </a:lnTo>
                <a:lnTo>
                  <a:pt x="427466" y="570714"/>
                </a:lnTo>
                <a:lnTo>
                  <a:pt x="387155" y="602611"/>
                </a:lnTo>
                <a:lnTo>
                  <a:pt x="387155" y="790853"/>
                </a:lnTo>
                <a:cubicBezTo>
                  <a:pt x="387155" y="813972"/>
                  <a:pt x="368414" y="832713"/>
                  <a:pt x="345296" y="832713"/>
                </a:cubicBezTo>
                <a:cubicBezTo>
                  <a:pt x="322177" y="832713"/>
                  <a:pt x="303436" y="813972"/>
                  <a:pt x="303436" y="790853"/>
                </a:cubicBezTo>
                <a:lnTo>
                  <a:pt x="303436" y="668916"/>
                </a:lnTo>
                <a:lnTo>
                  <a:pt x="177857" y="768333"/>
                </a:lnTo>
                <a:lnTo>
                  <a:pt x="177857" y="946404"/>
                </a:lnTo>
                <a:cubicBezTo>
                  <a:pt x="177857" y="969522"/>
                  <a:pt x="159116" y="988263"/>
                  <a:pt x="135998" y="988263"/>
                </a:cubicBezTo>
                <a:cubicBezTo>
                  <a:pt x="112879" y="988263"/>
                  <a:pt x="94138" y="969522"/>
                  <a:pt x="94138" y="946404"/>
                </a:cubicBezTo>
                <a:lnTo>
                  <a:pt x="94138" y="834597"/>
                </a:lnTo>
                <a:lnTo>
                  <a:pt x="72371" y="851843"/>
                </a:lnTo>
                <a:cubicBezTo>
                  <a:pt x="54222" y="865684"/>
                  <a:pt x="28330" y="862433"/>
                  <a:pt x="14165" y="844535"/>
                </a:cubicBezTo>
                <a:cubicBezTo>
                  <a:pt x="0" y="826638"/>
                  <a:pt x="2784" y="800692"/>
                  <a:pt x="20423" y="786207"/>
                </a:cubicBezTo>
                <a:lnTo>
                  <a:pt x="314194" y="553635"/>
                </a:lnTo>
                <a:cubicBezTo>
                  <a:pt x="317346" y="550110"/>
                  <a:pt x="321068" y="547138"/>
                  <a:pt x="325203" y="544844"/>
                </a:cubicBezTo>
                <a:lnTo>
                  <a:pt x="407248" y="479962"/>
                </a:lnTo>
                <a:cubicBezTo>
                  <a:pt x="424938" y="465961"/>
                  <a:pt x="450541" y="468497"/>
                  <a:pt x="465140" y="485697"/>
                </a:cubicBezTo>
                <a:lnTo>
                  <a:pt x="555347" y="592020"/>
                </a:lnTo>
                <a:lnTo>
                  <a:pt x="819105" y="370080"/>
                </a:lnTo>
                <a:lnTo>
                  <a:pt x="763431" y="318049"/>
                </a:lnTo>
                <a:cubicBezTo>
                  <a:pt x="754018" y="309253"/>
                  <a:pt x="750934" y="295598"/>
                  <a:pt x="755653" y="283609"/>
                </a:cubicBezTo>
                <a:cubicBezTo>
                  <a:pt x="760373" y="271621"/>
                  <a:pt x="771938" y="263733"/>
                  <a:pt x="784822" y="263715"/>
                </a:cubicBezTo>
                <a:lnTo>
                  <a:pt x="973190" y="263715"/>
                </a:lnTo>
                <a:cubicBezTo>
                  <a:pt x="990529" y="263715"/>
                  <a:pt x="1004585" y="277771"/>
                  <a:pt x="1004585" y="295110"/>
                </a:cubicBezTo>
                <a:lnTo>
                  <a:pt x="1004585" y="470920"/>
                </a:lnTo>
                <a:cubicBezTo>
                  <a:pt x="1004584" y="483424"/>
                  <a:pt x="997164" y="494735"/>
                  <a:pt x="985695" y="499715"/>
                </a:cubicBezTo>
                <a:cubicBezTo>
                  <a:pt x="974225" y="504695"/>
                  <a:pt x="960895" y="502395"/>
                  <a:pt x="951758" y="493859"/>
                </a:cubicBezTo>
                <a:close/>
                <a:moveTo>
                  <a:pt x="596454" y="168694"/>
                </a:moveTo>
                <a:lnTo>
                  <a:pt x="596454" y="430693"/>
                </a:lnTo>
                <a:cubicBezTo>
                  <a:pt x="596454" y="453811"/>
                  <a:pt x="577712" y="472553"/>
                  <a:pt x="554594" y="472553"/>
                </a:cubicBezTo>
                <a:cubicBezTo>
                  <a:pt x="531475" y="472553"/>
                  <a:pt x="512734" y="453811"/>
                  <a:pt x="512734" y="430693"/>
                </a:cubicBezTo>
                <a:lnTo>
                  <a:pt x="512734" y="168736"/>
                </a:lnTo>
                <a:cubicBezTo>
                  <a:pt x="512734" y="145617"/>
                  <a:pt x="531475" y="126876"/>
                  <a:pt x="554594" y="126876"/>
                </a:cubicBezTo>
                <a:cubicBezTo>
                  <a:pt x="577712" y="126876"/>
                  <a:pt x="596454" y="145617"/>
                  <a:pt x="596454" y="168736"/>
                </a:cubicBezTo>
                <a:close/>
                <a:moveTo>
                  <a:pt x="763892" y="0"/>
                </a:moveTo>
                <a:cubicBezTo>
                  <a:pt x="787010" y="0"/>
                  <a:pt x="805752" y="18741"/>
                  <a:pt x="805752" y="41859"/>
                </a:cubicBezTo>
                <a:lnTo>
                  <a:pt x="805752" y="168736"/>
                </a:lnTo>
                <a:cubicBezTo>
                  <a:pt x="805752" y="191854"/>
                  <a:pt x="787010" y="210595"/>
                  <a:pt x="763892" y="210595"/>
                </a:cubicBezTo>
                <a:cubicBezTo>
                  <a:pt x="740774" y="210595"/>
                  <a:pt x="722032" y="191854"/>
                  <a:pt x="722032" y="168736"/>
                </a:cubicBezTo>
                <a:lnTo>
                  <a:pt x="722032" y="41859"/>
                </a:lnTo>
                <a:cubicBezTo>
                  <a:pt x="722032" y="18741"/>
                  <a:pt x="740774" y="0"/>
                  <a:pt x="763892" y="0"/>
                </a:cubicBezTo>
                <a:close/>
              </a:path>
            </a:pathLst>
          </a:custGeom>
          <a:solidFill>
            <a:srgbClr val="FFFFFF"/>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7" name="TextBox 22"/>
          <p:cNvSpPr txBox="1"/>
          <p:nvPr/>
        </p:nvSpPr>
        <p:spPr>
          <a:xfrm>
            <a:off x="2716641" y="4606457"/>
            <a:ext cx="833562"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FFFFFF"/>
                </a:solidFill>
                <a:latin typeface="Roboto"/>
              </a:rPr>
              <a:t>Interest</a:t>
            </a:r>
          </a:p>
        </p:txBody>
      </p:sp>
      <p:sp>
        <p:nvSpPr>
          <p:cNvPr id="18" name="TextBox 23"/>
          <p:cNvSpPr txBox="1"/>
          <p:nvPr/>
        </p:nvSpPr>
        <p:spPr>
          <a:xfrm>
            <a:off x="4307465" y="4606353"/>
            <a:ext cx="1487588" cy="553998"/>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FFFFFF"/>
                </a:solidFill>
                <a:latin typeface="Roboto"/>
              </a:rPr>
              <a:t>Lottery/Game
show</a:t>
            </a:r>
          </a:p>
        </p:txBody>
      </p:sp>
      <p:sp>
        <p:nvSpPr>
          <p:cNvPr id="19" name="TextBox 24"/>
          <p:cNvSpPr txBox="1"/>
          <p:nvPr/>
        </p:nvSpPr>
        <p:spPr>
          <a:xfrm>
            <a:off x="6665931" y="4614736"/>
            <a:ext cx="525785"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FFFFFF"/>
                </a:solidFill>
                <a:latin typeface="Roboto"/>
              </a:rPr>
              <a:t>Gifts</a:t>
            </a:r>
          </a:p>
        </p:txBody>
      </p:sp>
      <p:sp>
        <p:nvSpPr>
          <p:cNvPr id="20" name="TextBox 25"/>
          <p:cNvSpPr txBox="1"/>
          <p:nvPr/>
        </p:nvSpPr>
        <p:spPr>
          <a:xfrm>
            <a:off x="8312043" y="4606353"/>
            <a:ext cx="1102866"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FFFFFF"/>
                </a:solidFill>
                <a:latin typeface="Roboto"/>
              </a:rPr>
              <a:t>Dividends</a:t>
            </a:r>
          </a:p>
        </p:txBody>
      </p:sp>
      <p:sp>
        <p:nvSpPr>
          <p:cNvPr id="21" name="TextBox 26"/>
          <p:cNvSpPr txBox="1"/>
          <p:nvPr/>
        </p:nvSpPr>
        <p:spPr>
          <a:xfrm>
            <a:off x="2297543" y="4979772"/>
            <a:ext cx="1715406" cy="492443"/>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600" b="0" dirty="0">
                <a:solidFill>
                  <a:srgbClr val="FFFFFF"/>
                </a:solidFill>
                <a:latin typeface="Roboto"/>
              </a:rPr>
              <a:t>Fully taxable income.</a:t>
            </a:r>
          </a:p>
        </p:txBody>
      </p:sp>
      <p:sp>
        <p:nvSpPr>
          <p:cNvPr id="22" name="TextBox 27"/>
          <p:cNvSpPr txBox="1"/>
          <p:nvPr/>
        </p:nvSpPr>
        <p:spPr>
          <a:xfrm>
            <a:off x="6054376" y="4908922"/>
            <a:ext cx="1814232" cy="984885"/>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600" b="0" dirty="0">
                <a:solidFill>
                  <a:srgbClr val="FFFFFF"/>
                </a:solidFill>
                <a:latin typeface="Roboto"/>
              </a:rPr>
              <a:t>Taxable if</a:t>
            </a:r>
            <a:r>
              <a:rPr lang="en-US" sz="1600" b="0" dirty="0">
                <a:solidFill>
                  <a:srgbClr val="FFFFFF"/>
                </a:solidFill>
                <a:latin typeface="Roboto"/>
              </a:rPr>
              <a:t> </a:t>
            </a:r>
            <a:r>
              <a:rPr sz="1600" b="0" dirty="0">
                <a:solidFill>
                  <a:srgbClr val="FFFFFF"/>
                </a:solidFill>
                <a:latin typeface="Roboto"/>
              </a:rPr>
              <a:t>aggregate</a:t>
            </a:r>
            <a:r>
              <a:rPr lang="en-US" sz="1600" dirty="0">
                <a:solidFill>
                  <a:srgbClr val="FFFFFF"/>
                </a:solidFill>
                <a:latin typeface="Roboto"/>
              </a:rPr>
              <a:t> </a:t>
            </a:r>
            <a:r>
              <a:rPr sz="1600" b="0" dirty="0">
                <a:solidFill>
                  <a:srgbClr val="FFFFFF"/>
                </a:solidFill>
                <a:latin typeface="Roboto"/>
              </a:rPr>
              <a:t>value exceeds ₹50,000</a:t>
            </a:r>
            <a:r>
              <a:rPr lang="en-US" sz="1600" b="0" dirty="0">
                <a:solidFill>
                  <a:srgbClr val="FFFFFF"/>
                </a:solidFill>
                <a:latin typeface="Roboto"/>
              </a:rPr>
              <a:t> </a:t>
            </a:r>
            <a:r>
              <a:rPr sz="1600" b="0" dirty="0">
                <a:solidFill>
                  <a:srgbClr val="FFFFFF"/>
                </a:solidFill>
                <a:latin typeface="Roboto"/>
              </a:rPr>
              <a:t>annually.</a:t>
            </a:r>
          </a:p>
        </p:txBody>
      </p:sp>
      <p:sp>
        <p:nvSpPr>
          <p:cNvPr id="23" name="TextBox 28"/>
          <p:cNvSpPr txBox="1"/>
          <p:nvPr/>
        </p:nvSpPr>
        <p:spPr>
          <a:xfrm>
            <a:off x="7981025" y="4908922"/>
            <a:ext cx="1710533" cy="492443"/>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600" b="0" dirty="0">
                <a:solidFill>
                  <a:srgbClr val="FFFFFF"/>
                </a:solidFill>
                <a:latin typeface="Roboto"/>
              </a:rPr>
              <a:t>Taxable in the</a:t>
            </a:r>
            <a:r>
              <a:rPr lang="en-US" sz="1600" b="0" dirty="0">
                <a:solidFill>
                  <a:srgbClr val="FFFFFF"/>
                </a:solidFill>
                <a:latin typeface="Roboto"/>
              </a:rPr>
              <a:t> </a:t>
            </a:r>
            <a:r>
              <a:rPr sz="1600" b="0" dirty="0">
                <a:solidFill>
                  <a:srgbClr val="FFFFFF"/>
                </a:solidFill>
                <a:latin typeface="Roboto"/>
              </a:rPr>
              <a:t>recipient's hands</a:t>
            </a:r>
            <a:r>
              <a:rPr lang="en-IN" sz="1600" dirty="0">
                <a:solidFill>
                  <a:srgbClr val="FFFFFF"/>
                </a:solidFill>
                <a:latin typeface="Roboto"/>
              </a:rPr>
              <a:t>.</a:t>
            </a:r>
            <a:r>
              <a:rPr lang="en-US" sz="1600" b="0" dirty="0">
                <a:solidFill>
                  <a:srgbClr val="FFFFFF"/>
                </a:solidFill>
                <a:latin typeface="Roboto"/>
              </a:rPr>
              <a:t> </a:t>
            </a:r>
            <a:endParaRPr sz="1600" b="0" dirty="0">
              <a:solidFill>
                <a:srgbClr val="FFFFFF"/>
              </a:solidFill>
              <a:latin typeface="Roboto"/>
            </a:endParaRPr>
          </a:p>
        </p:txBody>
      </p:sp>
      <p:sp>
        <p:nvSpPr>
          <p:cNvPr id="24" name="TextBox 29"/>
          <p:cNvSpPr txBox="1"/>
          <p:nvPr/>
        </p:nvSpPr>
        <p:spPr>
          <a:xfrm>
            <a:off x="4130510" y="5182586"/>
            <a:ext cx="1770825" cy="492443"/>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600" b="0" dirty="0">
                <a:solidFill>
                  <a:srgbClr val="FFFFFF"/>
                </a:solidFill>
                <a:latin typeface="Roboto"/>
              </a:rPr>
              <a:t>Taxed at 30% flat rate</a:t>
            </a:r>
            <a:r>
              <a:rPr lang="en-US" sz="1600" dirty="0">
                <a:solidFill>
                  <a:srgbClr val="FFFFFF"/>
                </a:solidFill>
                <a:latin typeface="Roboto"/>
              </a:rPr>
              <a:t> (+) </a:t>
            </a:r>
            <a:r>
              <a:rPr sz="1600" b="0" dirty="0" err="1">
                <a:solidFill>
                  <a:srgbClr val="FFFFFF"/>
                </a:solidFill>
                <a:latin typeface="Roboto"/>
              </a:rPr>
              <a:t>cess</a:t>
            </a:r>
            <a:r>
              <a:rPr sz="1600" b="0" dirty="0">
                <a:solidFill>
                  <a:srgbClr val="FFFFFF"/>
                </a:solidFill>
                <a:latin typeface="Roboto"/>
              </a:rPr>
              <a:t>.</a:t>
            </a:r>
          </a:p>
        </p:txBody>
      </p:sp>
    </p:spTree>
    <p:extLst>
      <p:ext uri="{BB962C8B-B14F-4D97-AF65-F5344CB8AC3E}">
        <p14:creationId xmlns:p14="http://schemas.microsoft.com/office/powerpoint/2010/main" val="236034193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141987" y="396291"/>
            <a:ext cx="9601200" cy="3581400"/>
          </a:xfrm>
        </p:spPr>
        <p:txBody>
          <a:bodyPr>
            <a:normAutofit/>
          </a:bodyPr>
          <a:lstStyle/>
          <a:p>
            <a:pPr marL="0" indent="0" algn="just">
              <a:buNone/>
            </a:pPr>
            <a:r>
              <a:rPr lang="en-US" sz="3600" b="1" dirty="0">
                <a:cs typeface="Times New Roman" panose="02020603050405020304" pitchFamily="18" charset="0"/>
              </a:rPr>
              <a:t>Common Examples: </a:t>
            </a:r>
          </a:p>
        </p:txBody>
      </p:sp>
      <p:grpSp>
        <p:nvGrpSpPr>
          <p:cNvPr id="4" name="Group 3"/>
          <p:cNvGrpSpPr/>
          <p:nvPr/>
        </p:nvGrpSpPr>
        <p:grpSpPr>
          <a:xfrm>
            <a:off x="6558057" y="4085975"/>
            <a:ext cx="1091866" cy="757989"/>
            <a:chOff x="4863765" y="3356810"/>
            <a:chExt cx="1091866" cy="757989"/>
          </a:xfrm>
        </p:grpSpPr>
        <p:sp>
          <p:nvSpPr>
            <p:cNvPr id="59" name="Rounded Rectangle 1"/>
            <p:cNvSpPr/>
            <p:nvPr/>
          </p:nvSpPr>
          <p:spPr>
            <a:xfrm>
              <a:off x="5197642" y="3356810"/>
              <a:ext cx="757989" cy="757989"/>
            </a:xfrm>
            <a:custGeom>
              <a:avLst/>
              <a:gdLst/>
              <a:ahLst/>
              <a:cxnLst/>
              <a:rect l="0" t="0" r="0" b="0"/>
              <a:pathLst>
                <a:path w="757989" h="757989">
                  <a:moveTo>
                    <a:pt x="0" y="378994"/>
                  </a:moveTo>
                  <a:cubicBezTo>
                    <a:pt x="0" y="169681"/>
                    <a:pt x="169681" y="0"/>
                    <a:pt x="378994" y="0"/>
                  </a:cubicBezTo>
                  <a:cubicBezTo>
                    <a:pt x="588307" y="0"/>
                    <a:pt x="757989" y="169681"/>
                    <a:pt x="757989" y="378994"/>
                  </a:cubicBezTo>
                  <a:cubicBezTo>
                    <a:pt x="757989" y="588307"/>
                    <a:pt x="588307" y="757989"/>
                    <a:pt x="378994" y="757989"/>
                  </a:cubicBezTo>
                  <a:cubicBezTo>
                    <a:pt x="169681" y="757989"/>
                    <a:pt x="0" y="588307"/>
                    <a:pt x="0" y="378994"/>
                  </a:cubicBezTo>
                </a:path>
              </a:pathLst>
            </a:custGeom>
            <a:solidFill>
              <a:srgbClr val="E5575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60" name="Rounded Rectangle 2"/>
            <p:cNvSpPr/>
            <p:nvPr/>
          </p:nvSpPr>
          <p:spPr>
            <a:xfrm>
              <a:off x="4863765" y="3356810"/>
              <a:ext cx="252663" cy="234615"/>
            </a:xfrm>
            <a:custGeom>
              <a:avLst/>
              <a:gdLst/>
              <a:ahLst/>
              <a:cxnLst/>
              <a:rect l="0" t="0" r="0" b="0"/>
              <a:pathLst>
                <a:path w="252663" h="234615">
                  <a:moveTo>
                    <a:pt x="0" y="994"/>
                  </a:moveTo>
                  <a:lnTo>
                    <a:pt x="252663" y="0"/>
                  </a:lnTo>
                  <a:cubicBezTo>
                    <a:pt x="252663" y="0"/>
                    <a:pt x="211610" y="43409"/>
                    <a:pt x="176472" y="109084"/>
                  </a:cubicBezTo>
                  <a:cubicBezTo>
                    <a:pt x="141333" y="174759"/>
                    <a:pt x="127136" y="234615"/>
                    <a:pt x="127136" y="234615"/>
                  </a:cubicBezTo>
                  <a:close/>
                </a:path>
              </a:pathLst>
            </a:custGeom>
            <a:solidFill>
              <a:srgbClr val="E5575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61" name="Rounded Rectangle 3"/>
            <p:cNvSpPr/>
            <p:nvPr/>
          </p:nvSpPr>
          <p:spPr>
            <a:xfrm>
              <a:off x="5197642" y="3356810"/>
              <a:ext cx="757989" cy="757989"/>
            </a:xfrm>
            <a:custGeom>
              <a:avLst/>
              <a:gdLst/>
              <a:ahLst/>
              <a:cxnLst/>
              <a:rect l="0" t="0" r="0" b="0"/>
              <a:pathLst>
                <a:path w="757989" h="757989">
                  <a:moveTo>
                    <a:pt x="0" y="378994"/>
                  </a:moveTo>
                  <a:cubicBezTo>
                    <a:pt x="0" y="169681"/>
                    <a:pt x="169681" y="0"/>
                    <a:pt x="378994" y="0"/>
                  </a:cubicBezTo>
                  <a:cubicBezTo>
                    <a:pt x="588307" y="0"/>
                    <a:pt x="757989" y="169681"/>
                    <a:pt x="757989" y="378994"/>
                  </a:cubicBezTo>
                  <a:cubicBezTo>
                    <a:pt x="757989" y="588307"/>
                    <a:pt x="588307" y="757989"/>
                    <a:pt x="378994" y="757989"/>
                  </a:cubicBezTo>
                  <a:cubicBezTo>
                    <a:pt x="169681" y="757989"/>
                    <a:pt x="0" y="588307"/>
                    <a:pt x="0" y="378994"/>
                  </a:cubicBezTo>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62" name="Rounded Rectangle 4"/>
            <p:cNvSpPr/>
            <p:nvPr/>
          </p:nvSpPr>
          <p:spPr>
            <a:xfrm>
              <a:off x="4863765" y="3356810"/>
              <a:ext cx="252663" cy="234615"/>
            </a:xfrm>
            <a:custGeom>
              <a:avLst/>
              <a:gdLst/>
              <a:ahLst/>
              <a:cxnLst/>
              <a:rect l="0" t="0" r="0" b="0"/>
              <a:pathLst>
                <a:path w="252663" h="234615">
                  <a:moveTo>
                    <a:pt x="0" y="994"/>
                  </a:moveTo>
                  <a:lnTo>
                    <a:pt x="252663" y="0"/>
                  </a:lnTo>
                  <a:cubicBezTo>
                    <a:pt x="252663" y="0"/>
                    <a:pt x="211610" y="43409"/>
                    <a:pt x="176472" y="109084"/>
                  </a:cubicBezTo>
                  <a:cubicBezTo>
                    <a:pt x="141333" y="174759"/>
                    <a:pt x="127136" y="234615"/>
                    <a:pt x="127136" y="234615"/>
                  </a:cubicBezTo>
                  <a:close/>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5" name="Group 4"/>
          <p:cNvGrpSpPr/>
          <p:nvPr/>
        </p:nvGrpSpPr>
        <p:grpSpPr>
          <a:xfrm>
            <a:off x="6729507" y="3165559"/>
            <a:ext cx="1191126" cy="757989"/>
            <a:chOff x="5035215" y="2436394"/>
            <a:chExt cx="1191126" cy="757989"/>
          </a:xfrm>
        </p:grpSpPr>
        <p:sp>
          <p:nvSpPr>
            <p:cNvPr id="55" name="Rounded Rectangle 6"/>
            <p:cNvSpPr/>
            <p:nvPr/>
          </p:nvSpPr>
          <p:spPr>
            <a:xfrm>
              <a:off x="5468352" y="2436394"/>
              <a:ext cx="757989" cy="757989"/>
            </a:xfrm>
            <a:custGeom>
              <a:avLst/>
              <a:gdLst/>
              <a:ahLst/>
              <a:cxnLst/>
              <a:rect l="0" t="0" r="0" b="0"/>
              <a:pathLst>
                <a:path w="757989" h="757989">
                  <a:moveTo>
                    <a:pt x="0" y="378994"/>
                  </a:moveTo>
                  <a:cubicBezTo>
                    <a:pt x="0" y="169681"/>
                    <a:pt x="169681" y="0"/>
                    <a:pt x="378994" y="0"/>
                  </a:cubicBezTo>
                  <a:cubicBezTo>
                    <a:pt x="588307" y="0"/>
                    <a:pt x="757989" y="169681"/>
                    <a:pt x="757989" y="378994"/>
                  </a:cubicBezTo>
                  <a:cubicBezTo>
                    <a:pt x="757989" y="588307"/>
                    <a:pt x="588307" y="757989"/>
                    <a:pt x="378994" y="757989"/>
                  </a:cubicBezTo>
                  <a:cubicBezTo>
                    <a:pt x="169681" y="757989"/>
                    <a:pt x="0" y="588307"/>
                    <a:pt x="0" y="378994"/>
                  </a:cubicBezTo>
                </a:path>
              </a:pathLst>
            </a:custGeom>
            <a:solidFill>
              <a:srgbClr val="7F64EA"/>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56" name="Rounded Rectangle 7"/>
            <p:cNvSpPr/>
            <p:nvPr/>
          </p:nvSpPr>
          <p:spPr>
            <a:xfrm>
              <a:off x="5035215" y="2698081"/>
              <a:ext cx="252663" cy="234615"/>
            </a:xfrm>
            <a:custGeom>
              <a:avLst/>
              <a:gdLst/>
              <a:ahLst/>
              <a:cxnLst/>
              <a:rect l="0" t="0" r="0" b="0"/>
              <a:pathLst>
                <a:path w="252663" h="234615">
                  <a:moveTo>
                    <a:pt x="252663" y="0"/>
                  </a:moveTo>
                  <a:cubicBezTo>
                    <a:pt x="252663" y="0"/>
                    <a:pt x="234539" y="51562"/>
                    <a:pt x="234146" y="117237"/>
                  </a:cubicBezTo>
                  <a:cubicBezTo>
                    <a:pt x="233754" y="182912"/>
                    <a:pt x="251261" y="234615"/>
                    <a:pt x="251261" y="234615"/>
                  </a:cubicBezTo>
                  <a:lnTo>
                    <a:pt x="0" y="116328"/>
                  </a:lnTo>
                  <a:close/>
                </a:path>
              </a:pathLst>
            </a:custGeom>
            <a:solidFill>
              <a:srgbClr val="7F64EA"/>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57" name="Rounded Rectangle 8"/>
            <p:cNvSpPr/>
            <p:nvPr/>
          </p:nvSpPr>
          <p:spPr>
            <a:xfrm>
              <a:off x="5468352" y="2436394"/>
              <a:ext cx="757989" cy="757989"/>
            </a:xfrm>
            <a:custGeom>
              <a:avLst/>
              <a:gdLst/>
              <a:ahLst/>
              <a:cxnLst/>
              <a:rect l="0" t="0" r="0" b="0"/>
              <a:pathLst>
                <a:path w="757989" h="757989">
                  <a:moveTo>
                    <a:pt x="0" y="378994"/>
                  </a:moveTo>
                  <a:cubicBezTo>
                    <a:pt x="0" y="169681"/>
                    <a:pt x="169681" y="0"/>
                    <a:pt x="378994" y="0"/>
                  </a:cubicBezTo>
                  <a:cubicBezTo>
                    <a:pt x="588307" y="0"/>
                    <a:pt x="757989" y="169681"/>
                    <a:pt x="757989" y="378994"/>
                  </a:cubicBezTo>
                  <a:cubicBezTo>
                    <a:pt x="757989" y="588307"/>
                    <a:pt x="588307" y="757989"/>
                    <a:pt x="378994" y="757989"/>
                  </a:cubicBezTo>
                  <a:cubicBezTo>
                    <a:pt x="169681" y="757989"/>
                    <a:pt x="0" y="588307"/>
                    <a:pt x="0" y="378994"/>
                  </a:cubicBezTo>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58" name="Rounded Rectangle 9"/>
            <p:cNvSpPr/>
            <p:nvPr/>
          </p:nvSpPr>
          <p:spPr>
            <a:xfrm>
              <a:off x="5035215" y="2698081"/>
              <a:ext cx="252663" cy="234615"/>
            </a:xfrm>
            <a:custGeom>
              <a:avLst/>
              <a:gdLst/>
              <a:ahLst/>
              <a:cxnLst/>
              <a:rect l="0" t="0" r="0" b="0"/>
              <a:pathLst>
                <a:path w="252663" h="234615">
                  <a:moveTo>
                    <a:pt x="252663" y="0"/>
                  </a:moveTo>
                  <a:cubicBezTo>
                    <a:pt x="252663" y="0"/>
                    <a:pt x="234539" y="51562"/>
                    <a:pt x="234146" y="117237"/>
                  </a:cubicBezTo>
                  <a:cubicBezTo>
                    <a:pt x="233754" y="182912"/>
                    <a:pt x="251261" y="234615"/>
                    <a:pt x="251261" y="234615"/>
                  </a:cubicBezTo>
                  <a:lnTo>
                    <a:pt x="0" y="116328"/>
                  </a:lnTo>
                  <a:close/>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6" name="Group 5"/>
          <p:cNvGrpSpPr/>
          <p:nvPr/>
        </p:nvGrpSpPr>
        <p:grpSpPr>
          <a:xfrm>
            <a:off x="6558057" y="2245143"/>
            <a:ext cx="1091866" cy="757989"/>
            <a:chOff x="4863765" y="1515978"/>
            <a:chExt cx="1091866" cy="757989"/>
          </a:xfrm>
        </p:grpSpPr>
        <p:sp>
          <p:nvSpPr>
            <p:cNvPr id="51" name="Rounded Rectangle 11"/>
            <p:cNvSpPr/>
            <p:nvPr/>
          </p:nvSpPr>
          <p:spPr>
            <a:xfrm>
              <a:off x="5197642" y="1515978"/>
              <a:ext cx="757989" cy="757989"/>
            </a:xfrm>
            <a:custGeom>
              <a:avLst/>
              <a:gdLst/>
              <a:ahLst/>
              <a:cxnLst/>
              <a:rect l="0" t="0" r="0" b="0"/>
              <a:pathLst>
                <a:path w="757989" h="757989">
                  <a:moveTo>
                    <a:pt x="0" y="378994"/>
                  </a:moveTo>
                  <a:cubicBezTo>
                    <a:pt x="0" y="169681"/>
                    <a:pt x="169681" y="0"/>
                    <a:pt x="378994" y="0"/>
                  </a:cubicBezTo>
                  <a:cubicBezTo>
                    <a:pt x="588307" y="0"/>
                    <a:pt x="757989" y="169681"/>
                    <a:pt x="757989" y="378994"/>
                  </a:cubicBezTo>
                  <a:cubicBezTo>
                    <a:pt x="757989" y="588307"/>
                    <a:pt x="588307" y="757989"/>
                    <a:pt x="378994" y="757989"/>
                  </a:cubicBezTo>
                  <a:cubicBezTo>
                    <a:pt x="169681" y="757989"/>
                    <a:pt x="0" y="588307"/>
                    <a:pt x="0" y="378994"/>
                  </a:cubicBezTo>
                </a:path>
              </a:pathLst>
            </a:custGeom>
            <a:solidFill>
              <a:srgbClr val="1EABDA"/>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52" name="Rounded Rectangle 12"/>
            <p:cNvSpPr/>
            <p:nvPr/>
          </p:nvSpPr>
          <p:spPr>
            <a:xfrm>
              <a:off x="4863765" y="2039352"/>
              <a:ext cx="252663" cy="234615"/>
            </a:xfrm>
            <a:custGeom>
              <a:avLst/>
              <a:gdLst/>
              <a:ahLst/>
              <a:cxnLst/>
              <a:rect l="0" t="0" r="0" b="0"/>
              <a:pathLst>
                <a:path w="252663" h="234615">
                  <a:moveTo>
                    <a:pt x="127136" y="0"/>
                  </a:moveTo>
                  <a:cubicBezTo>
                    <a:pt x="127136" y="0"/>
                    <a:pt x="141333" y="59855"/>
                    <a:pt x="176472" y="125531"/>
                  </a:cubicBezTo>
                  <a:cubicBezTo>
                    <a:pt x="211610" y="191206"/>
                    <a:pt x="252663" y="234615"/>
                    <a:pt x="252663" y="234615"/>
                  </a:cubicBezTo>
                  <a:lnTo>
                    <a:pt x="0" y="233621"/>
                  </a:lnTo>
                  <a:close/>
                </a:path>
              </a:pathLst>
            </a:custGeom>
            <a:solidFill>
              <a:srgbClr val="1EABDA"/>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53" name="Rounded Rectangle 13"/>
            <p:cNvSpPr/>
            <p:nvPr/>
          </p:nvSpPr>
          <p:spPr>
            <a:xfrm>
              <a:off x="5197642" y="1515978"/>
              <a:ext cx="757989" cy="757989"/>
            </a:xfrm>
            <a:custGeom>
              <a:avLst/>
              <a:gdLst/>
              <a:ahLst/>
              <a:cxnLst/>
              <a:rect l="0" t="0" r="0" b="0"/>
              <a:pathLst>
                <a:path w="757989" h="757989">
                  <a:moveTo>
                    <a:pt x="0" y="378994"/>
                  </a:moveTo>
                  <a:cubicBezTo>
                    <a:pt x="0" y="169681"/>
                    <a:pt x="169681" y="0"/>
                    <a:pt x="378994" y="0"/>
                  </a:cubicBezTo>
                  <a:cubicBezTo>
                    <a:pt x="588307" y="0"/>
                    <a:pt x="757989" y="169681"/>
                    <a:pt x="757989" y="378994"/>
                  </a:cubicBezTo>
                  <a:cubicBezTo>
                    <a:pt x="757989" y="588307"/>
                    <a:pt x="588307" y="757989"/>
                    <a:pt x="378994" y="757989"/>
                  </a:cubicBezTo>
                  <a:cubicBezTo>
                    <a:pt x="169681" y="757989"/>
                    <a:pt x="0" y="588307"/>
                    <a:pt x="0" y="378994"/>
                  </a:cubicBezTo>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54" name="Rounded Rectangle 14"/>
            <p:cNvSpPr/>
            <p:nvPr/>
          </p:nvSpPr>
          <p:spPr>
            <a:xfrm>
              <a:off x="4863765" y="2039352"/>
              <a:ext cx="252663" cy="234615"/>
            </a:xfrm>
            <a:custGeom>
              <a:avLst/>
              <a:gdLst/>
              <a:ahLst/>
              <a:cxnLst/>
              <a:rect l="0" t="0" r="0" b="0"/>
              <a:pathLst>
                <a:path w="252663" h="234615">
                  <a:moveTo>
                    <a:pt x="127136" y="0"/>
                  </a:moveTo>
                  <a:cubicBezTo>
                    <a:pt x="127136" y="0"/>
                    <a:pt x="141333" y="59855"/>
                    <a:pt x="176472" y="125531"/>
                  </a:cubicBezTo>
                  <a:cubicBezTo>
                    <a:pt x="211610" y="191206"/>
                    <a:pt x="252663" y="234615"/>
                    <a:pt x="252663" y="234615"/>
                  </a:cubicBezTo>
                  <a:lnTo>
                    <a:pt x="0" y="233621"/>
                  </a:lnTo>
                  <a:close/>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7" name="Group 6"/>
          <p:cNvGrpSpPr/>
          <p:nvPr/>
        </p:nvGrpSpPr>
        <p:grpSpPr>
          <a:xfrm>
            <a:off x="4130686" y="1956386"/>
            <a:ext cx="1010653" cy="839201"/>
            <a:chOff x="2436394" y="1227221"/>
            <a:chExt cx="1010653" cy="839201"/>
          </a:xfrm>
        </p:grpSpPr>
        <p:sp>
          <p:nvSpPr>
            <p:cNvPr id="47" name="Rounded Rectangle 16"/>
            <p:cNvSpPr/>
            <p:nvPr/>
          </p:nvSpPr>
          <p:spPr>
            <a:xfrm>
              <a:off x="2436394" y="1227221"/>
              <a:ext cx="757989" cy="757989"/>
            </a:xfrm>
            <a:custGeom>
              <a:avLst/>
              <a:gdLst/>
              <a:ahLst/>
              <a:cxnLst/>
              <a:rect l="0" t="0" r="0" b="0"/>
              <a:pathLst>
                <a:path w="757989" h="757989">
                  <a:moveTo>
                    <a:pt x="0" y="378994"/>
                  </a:moveTo>
                  <a:cubicBezTo>
                    <a:pt x="0" y="169681"/>
                    <a:pt x="169681" y="0"/>
                    <a:pt x="378994" y="0"/>
                  </a:cubicBezTo>
                  <a:cubicBezTo>
                    <a:pt x="588307" y="0"/>
                    <a:pt x="757989" y="169681"/>
                    <a:pt x="757989" y="378994"/>
                  </a:cubicBezTo>
                  <a:cubicBezTo>
                    <a:pt x="757989" y="588307"/>
                    <a:pt x="588307" y="757989"/>
                    <a:pt x="378994" y="757989"/>
                  </a:cubicBezTo>
                  <a:cubicBezTo>
                    <a:pt x="169681" y="757989"/>
                    <a:pt x="0" y="588307"/>
                    <a:pt x="0" y="378994"/>
                  </a:cubicBezTo>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8" name="Rounded Rectangle 17"/>
            <p:cNvSpPr/>
            <p:nvPr/>
          </p:nvSpPr>
          <p:spPr>
            <a:xfrm>
              <a:off x="3194384" y="1831807"/>
              <a:ext cx="252663" cy="234615"/>
            </a:xfrm>
            <a:custGeom>
              <a:avLst/>
              <a:gdLst/>
              <a:ahLst/>
              <a:cxnLst/>
              <a:rect l="0" t="0" r="0" b="0"/>
              <a:pathLst>
                <a:path w="252663" h="234615">
                  <a:moveTo>
                    <a:pt x="252663" y="234615"/>
                  </a:moveTo>
                  <a:lnTo>
                    <a:pt x="0" y="196041"/>
                  </a:lnTo>
                  <a:cubicBezTo>
                    <a:pt x="0" y="196041"/>
                    <a:pt x="47472" y="162555"/>
                    <a:pt x="92338" y="107677"/>
                  </a:cubicBezTo>
                  <a:cubicBezTo>
                    <a:pt x="137205" y="52801"/>
                    <a:pt x="160278" y="0"/>
                    <a:pt x="160278" y="0"/>
                  </a:cubicBez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9" name="Rounded Rectangle 18"/>
            <p:cNvSpPr/>
            <p:nvPr/>
          </p:nvSpPr>
          <p:spPr>
            <a:xfrm>
              <a:off x="2436394" y="1227221"/>
              <a:ext cx="757989" cy="757989"/>
            </a:xfrm>
            <a:custGeom>
              <a:avLst/>
              <a:gdLst/>
              <a:ahLst/>
              <a:cxnLst/>
              <a:rect l="0" t="0" r="0" b="0"/>
              <a:pathLst>
                <a:path w="757989" h="757989">
                  <a:moveTo>
                    <a:pt x="0" y="378994"/>
                  </a:moveTo>
                  <a:cubicBezTo>
                    <a:pt x="0" y="169681"/>
                    <a:pt x="169681" y="0"/>
                    <a:pt x="378994" y="0"/>
                  </a:cubicBezTo>
                  <a:cubicBezTo>
                    <a:pt x="588307" y="0"/>
                    <a:pt x="757989" y="169681"/>
                    <a:pt x="757989" y="378994"/>
                  </a:cubicBezTo>
                  <a:cubicBezTo>
                    <a:pt x="757989" y="588307"/>
                    <a:pt x="588307" y="757989"/>
                    <a:pt x="378994" y="757989"/>
                  </a:cubicBezTo>
                  <a:cubicBezTo>
                    <a:pt x="169681" y="757989"/>
                    <a:pt x="0" y="588307"/>
                    <a:pt x="0" y="378994"/>
                  </a:cubicBezTo>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50" name="Rounded Rectangle 19"/>
            <p:cNvSpPr/>
            <p:nvPr/>
          </p:nvSpPr>
          <p:spPr>
            <a:xfrm>
              <a:off x="3194384" y="1831807"/>
              <a:ext cx="252663" cy="234615"/>
            </a:xfrm>
            <a:custGeom>
              <a:avLst/>
              <a:gdLst/>
              <a:ahLst/>
              <a:cxnLst/>
              <a:rect l="0" t="0" r="0" b="0"/>
              <a:pathLst>
                <a:path w="252663" h="234615">
                  <a:moveTo>
                    <a:pt x="252663" y="234615"/>
                  </a:moveTo>
                  <a:lnTo>
                    <a:pt x="0" y="196041"/>
                  </a:lnTo>
                  <a:cubicBezTo>
                    <a:pt x="0" y="196041"/>
                    <a:pt x="47472" y="162555"/>
                    <a:pt x="92338" y="107677"/>
                  </a:cubicBezTo>
                  <a:cubicBezTo>
                    <a:pt x="137205" y="52801"/>
                    <a:pt x="160278" y="0"/>
                    <a:pt x="160278" y="0"/>
                  </a:cubicBezTo>
                  <a:close/>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8" name="Group 7"/>
          <p:cNvGrpSpPr/>
          <p:nvPr/>
        </p:nvGrpSpPr>
        <p:grpSpPr>
          <a:xfrm>
            <a:off x="3697549" y="2723399"/>
            <a:ext cx="1209174" cy="757989"/>
            <a:chOff x="2003257" y="1994234"/>
            <a:chExt cx="1209174" cy="757989"/>
          </a:xfrm>
        </p:grpSpPr>
        <p:sp>
          <p:nvSpPr>
            <p:cNvPr id="43" name="Rounded Rectangle 21"/>
            <p:cNvSpPr/>
            <p:nvPr/>
          </p:nvSpPr>
          <p:spPr>
            <a:xfrm>
              <a:off x="2003257" y="1994234"/>
              <a:ext cx="757989" cy="757989"/>
            </a:xfrm>
            <a:custGeom>
              <a:avLst/>
              <a:gdLst/>
              <a:ahLst/>
              <a:cxnLst/>
              <a:rect l="0" t="0" r="0" b="0"/>
              <a:pathLst>
                <a:path w="757989" h="757989">
                  <a:moveTo>
                    <a:pt x="0" y="378994"/>
                  </a:moveTo>
                  <a:cubicBezTo>
                    <a:pt x="0" y="169681"/>
                    <a:pt x="169681" y="0"/>
                    <a:pt x="378994" y="0"/>
                  </a:cubicBezTo>
                  <a:cubicBezTo>
                    <a:pt x="588307" y="0"/>
                    <a:pt x="757989" y="169681"/>
                    <a:pt x="757989" y="378994"/>
                  </a:cubicBezTo>
                  <a:cubicBezTo>
                    <a:pt x="757989" y="588307"/>
                    <a:pt x="588307" y="757989"/>
                    <a:pt x="378994" y="757989"/>
                  </a:cubicBezTo>
                  <a:cubicBezTo>
                    <a:pt x="169681" y="757989"/>
                    <a:pt x="0" y="588307"/>
                    <a:pt x="0" y="378994"/>
                  </a:cubicBezTo>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4" name="Rounded Rectangle 22"/>
            <p:cNvSpPr/>
            <p:nvPr/>
          </p:nvSpPr>
          <p:spPr>
            <a:xfrm>
              <a:off x="2959768" y="2337134"/>
              <a:ext cx="252663" cy="234615"/>
            </a:xfrm>
            <a:custGeom>
              <a:avLst/>
              <a:gdLst/>
              <a:ahLst/>
              <a:cxnLst/>
              <a:rect l="0" t="0" r="0" b="0"/>
              <a:pathLst>
                <a:path w="252663" h="234615">
                  <a:moveTo>
                    <a:pt x="252663" y="149788"/>
                  </a:moveTo>
                  <a:lnTo>
                    <a:pt x="0" y="234615"/>
                  </a:lnTo>
                  <a:cubicBezTo>
                    <a:pt x="0" y="234615"/>
                    <a:pt x="25752" y="185278"/>
                    <a:pt x="37704" y="119603"/>
                  </a:cubicBezTo>
                  <a:cubicBezTo>
                    <a:pt x="49657" y="53928"/>
                    <a:pt x="42698" y="0"/>
                    <a:pt x="42698" y="0"/>
                  </a:cubicBez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5" name="Rounded Rectangle 23"/>
            <p:cNvSpPr/>
            <p:nvPr/>
          </p:nvSpPr>
          <p:spPr>
            <a:xfrm>
              <a:off x="2003257" y="1994234"/>
              <a:ext cx="757989" cy="757989"/>
            </a:xfrm>
            <a:custGeom>
              <a:avLst/>
              <a:gdLst/>
              <a:ahLst/>
              <a:cxnLst/>
              <a:rect l="0" t="0" r="0" b="0"/>
              <a:pathLst>
                <a:path w="757989" h="757989">
                  <a:moveTo>
                    <a:pt x="0" y="378994"/>
                  </a:moveTo>
                  <a:cubicBezTo>
                    <a:pt x="0" y="169681"/>
                    <a:pt x="169681" y="0"/>
                    <a:pt x="378994" y="0"/>
                  </a:cubicBezTo>
                  <a:cubicBezTo>
                    <a:pt x="588307" y="0"/>
                    <a:pt x="757989" y="169681"/>
                    <a:pt x="757989" y="378994"/>
                  </a:cubicBezTo>
                  <a:cubicBezTo>
                    <a:pt x="757989" y="588307"/>
                    <a:pt x="588307" y="757989"/>
                    <a:pt x="378994" y="757989"/>
                  </a:cubicBezTo>
                  <a:cubicBezTo>
                    <a:pt x="169681" y="757989"/>
                    <a:pt x="0" y="588307"/>
                    <a:pt x="0" y="378994"/>
                  </a:cubicBezTo>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6" name="Rounded Rectangle 24"/>
            <p:cNvSpPr/>
            <p:nvPr/>
          </p:nvSpPr>
          <p:spPr>
            <a:xfrm>
              <a:off x="2959768" y="2337134"/>
              <a:ext cx="252663" cy="234615"/>
            </a:xfrm>
            <a:custGeom>
              <a:avLst/>
              <a:gdLst/>
              <a:ahLst/>
              <a:cxnLst/>
              <a:rect l="0" t="0" r="0" b="0"/>
              <a:pathLst>
                <a:path w="252663" h="234615">
                  <a:moveTo>
                    <a:pt x="252663" y="149788"/>
                  </a:moveTo>
                  <a:lnTo>
                    <a:pt x="0" y="234615"/>
                  </a:lnTo>
                  <a:cubicBezTo>
                    <a:pt x="0" y="234615"/>
                    <a:pt x="25752" y="185278"/>
                    <a:pt x="37704" y="119603"/>
                  </a:cubicBezTo>
                  <a:cubicBezTo>
                    <a:pt x="49657" y="53928"/>
                    <a:pt x="42698" y="0"/>
                    <a:pt x="42698" y="0"/>
                  </a:cubicBezTo>
                  <a:close/>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9" name="Group 8"/>
          <p:cNvGrpSpPr/>
          <p:nvPr/>
        </p:nvGrpSpPr>
        <p:grpSpPr>
          <a:xfrm>
            <a:off x="3697549" y="3589672"/>
            <a:ext cx="1209174" cy="757989"/>
            <a:chOff x="2003257" y="2860507"/>
            <a:chExt cx="1209174" cy="757989"/>
          </a:xfrm>
        </p:grpSpPr>
        <p:sp>
          <p:nvSpPr>
            <p:cNvPr id="39" name="Rounded Rectangle 26"/>
            <p:cNvSpPr/>
            <p:nvPr/>
          </p:nvSpPr>
          <p:spPr>
            <a:xfrm>
              <a:off x="2003257" y="2860507"/>
              <a:ext cx="757989" cy="757989"/>
            </a:xfrm>
            <a:custGeom>
              <a:avLst/>
              <a:gdLst/>
              <a:ahLst/>
              <a:cxnLst/>
              <a:rect l="0" t="0" r="0" b="0"/>
              <a:pathLst>
                <a:path w="757989" h="757989">
                  <a:moveTo>
                    <a:pt x="0" y="378994"/>
                  </a:moveTo>
                  <a:cubicBezTo>
                    <a:pt x="0" y="169681"/>
                    <a:pt x="169681" y="0"/>
                    <a:pt x="378994" y="0"/>
                  </a:cubicBezTo>
                  <a:cubicBezTo>
                    <a:pt x="588307" y="0"/>
                    <a:pt x="757989" y="169681"/>
                    <a:pt x="757989" y="378994"/>
                  </a:cubicBezTo>
                  <a:cubicBezTo>
                    <a:pt x="757989" y="588307"/>
                    <a:pt x="588307" y="757989"/>
                    <a:pt x="378994" y="757989"/>
                  </a:cubicBezTo>
                  <a:cubicBezTo>
                    <a:pt x="169681" y="757989"/>
                    <a:pt x="0" y="588307"/>
                    <a:pt x="0" y="378994"/>
                  </a:cubicBezTo>
                </a:path>
              </a:pathLst>
            </a:custGeom>
            <a:solidFill>
              <a:srgbClr val="92BD39"/>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0" name="Rounded Rectangle 27"/>
            <p:cNvSpPr/>
            <p:nvPr/>
          </p:nvSpPr>
          <p:spPr>
            <a:xfrm>
              <a:off x="2959768" y="3040981"/>
              <a:ext cx="252663" cy="234615"/>
            </a:xfrm>
            <a:custGeom>
              <a:avLst/>
              <a:gdLst/>
              <a:ahLst/>
              <a:cxnLst/>
              <a:rect l="0" t="0" r="0" b="0"/>
              <a:pathLst>
                <a:path w="252663" h="234615">
                  <a:moveTo>
                    <a:pt x="42698" y="234615"/>
                  </a:moveTo>
                  <a:cubicBezTo>
                    <a:pt x="42698" y="234615"/>
                    <a:pt x="49657" y="180687"/>
                    <a:pt x="37704" y="115012"/>
                  </a:cubicBezTo>
                  <a:cubicBezTo>
                    <a:pt x="25752" y="49336"/>
                    <a:pt x="0" y="0"/>
                    <a:pt x="0" y="0"/>
                  </a:cubicBezTo>
                  <a:lnTo>
                    <a:pt x="252663" y="84827"/>
                  </a:lnTo>
                  <a:close/>
                </a:path>
              </a:pathLst>
            </a:custGeom>
            <a:solidFill>
              <a:srgbClr val="92BD39"/>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1" name="Rounded Rectangle 28"/>
            <p:cNvSpPr/>
            <p:nvPr/>
          </p:nvSpPr>
          <p:spPr>
            <a:xfrm>
              <a:off x="2003257" y="2860507"/>
              <a:ext cx="757989" cy="757989"/>
            </a:xfrm>
            <a:custGeom>
              <a:avLst/>
              <a:gdLst/>
              <a:ahLst/>
              <a:cxnLst/>
              <a:rect l="0" t="0" r="0" b="0"/>
              <a:pathLst>
                <a:path w="757989" h="757989">
                  <a:moveTo>
                    <a:pt x="0" y="378994"/>
                  </a:moveTo>
                  <a:cubicBezTo>
                    <a:pt x="0" y="169681"/>
                    <a:pt x="169681" y="0"/>
                    <a:pt x="378994" y="0"/>
                  </a:cubicBezTo>
                  <a:cubicBezTo>
                    <a:pt x="588307" y="0"/>
                    <a:pt x="757989" y="169681"/>
                    <a:pt x="757989" y="378994"/>
                  </a:cubicBezTo>
                  <a:cubicBezTo>
                    <a:pt x="757989" y="588307"/>
                    <a:pt x="588307" y="757989"/>
                    <a:pt x="378994" y="757989"/>
                  </a:cubicBezTo>
                  <a:cubicBezTo>
                    <a:pt x="169681" y="757989"/>
                    <a:pt x="0" y="588307"/>
                    <a:pt x="0" y="378994"/>
                  </a:cubicBezTo>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42" name="Rounded Rectangle 29"/>
            <p:cNvSpPr/>
            <p:nvPr/>
          </p:nvSpPr>
          <p:spPr>
            <a:xfrm>
              <a:off x="2959768" y="3040981"/>
              <a:ext cx="252663" cy="234615"/>
            </a:xfrm>
            <a:custGeom>
              <a:avLst/>
              <a:gdLst/>
              <a:ahLst/>
              <a:cxnLst/>
              <a:rect l="0" t="0" r="0" b="0"/>
              <a:pathLst>
                <a:path w="252663" h="234615">
                  <a:moveTo>
                    <a:pt x="42698" y="234615"/>
                  </a:moveTo>
                  <a:cubicBezTo>
                    <a:pt x="42698" y="234615"/>
                    <a:pt x="49657" y="180687"/>
                    <a:pt x="37704" y="115012"/>
                  </a:cubicBezTo>
                  <a:cubicBezTo>
                    <a:pt x="25752" y="49336"/>
                    <a:pt x="0" y="0"/>
                    <a:pt x="0" y="0"/>
                  </a:cubicBezTo>
                  <a:lnTo>
                    <a:pt x="252663" y="84827"/>
                  </a:lnTo>
                  <a:close/>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0" name="Group 9"/>
          <p:cNvGrpSpPr/>
          <p:nvPr/>
        </p:nvGrpSpPr>
        <p:grpSpPr>
          <a:xfrm>
            <a:off x="4130686" y="4275472"/>
            <a:ext cx="1010653" cy="839203"/>
            <a:chOff x="2436394" y="3546307"/>
            <a:chExt cx="1010653" cy="839203"/>
          </a:xfrm>
        </p:grpSpPr>
        <p:sp>
          <p:nvSpPr>
            <p:cNvPr id="35" name="Rounded Rectangle 31"/>
            <p:cNvSpPr/>
            <p:nvPr/>
          </p:nvSpPr>
          <p:spPr>
            <a:xfrm>
              <a:off x="2436394" y="3627521"/>
              <a:ext cx="757989" cy="757989"/>
            </a:xfrm>
            <a:custGeom>
              <a:avLst/>
              <a:gdLst/>
              <a:ahLst/>
              <a:cxnLst/>
              <a:rect l="0" t="0" r="0" b="0"/>
              <a:pathLst>
                <a:path w="757989" h="757989">
                  <a:moveTo>
                    <a:pt x="0" y="378994"/>
                  </a:moveTo>
                  <a:cubicBezTo>
                    <a:pt x="0" y="169681"/>
                    <a:pt x="169681" y="0"/>
                    <a:pt x="378994" y="0"/>
                  </a:cubicBezTo>
                  <a:cubicBezTo>
                    <a:pt x="588307" y="0"/>
                    <a:pt x="757989" y="169681"/>
                    <a:pt x="757989" y="378994"/>
                  </a:cubicBezTo>
                  <a:cubicBezTo>
                    <a:pt x="757989" y="588307"/>
                    <a:pt x="588307" y="757989"/>
                    <a:pt x="378994" y="757989"/>
                  </a:cubicBezTo>
                  <a:cubicBezTo>
                    <a:pt x="169681" y="757989"/>
                    <a:pt x="0" y="588307"/>
                    <a:pt x="0" y="378994"/>
                  </a:cubicBezTo>
                </a:path>
              </a:pathLst>
            </a:custGeom>
            <a:solidFill>
              <a:srgbClr val="4E88E7"/>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6" name="Rounded Rectangle 32"/>
            <p:cNvSpPr/>
            <p:nvPr/>
          </p:nvSpPr>
          <p:spPr>
            <a:xfrm>
              <a:off x="3194384" y="3546307"/>
              <a:ext cx="252663" cy="234615"/>
            </a:xfrm>
            <a:custGeom>
              <a:avLst/>
              <a:gdLst/>
              <a:ahLst/>
              <a:cxnLst/>
              <a:rect l="0" t="0" r="0" b="0"/>
              <a:pathLst>
                <a:path w="252663" h="234615">
                  <a:moveTo>
                    <a:pt x="160278" y="234615"/>
                  </a:moveTo>
                  <a:cubicBezTo>
                    <a:pt x="160278" y="234615"/>
                    <a:pt x="137205" y="181814"/>
                    <a:pt x="92338" y="126937"/>
                  </a:cubicBezTo>
                  <a:cubicBezTo>
                    <a:pt x="47472" y="72060"/>
                    <a:pt x="0" y="38574"/>
                    <a:pt x="0" y="38574"/>
                  </a:cubicBezTo>
                  <a:lnTo>
                    <a:pt x="252663" y="0"/>
                  </a:lnTo>
                  <a:close/>
                </a:path>
              </a:pathLst>
            </a:custGeom>
            <a:solidFill>
              <a:srgbClr val="4E88E7"/>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7" name="Rounded Rectangle 33"/>
            <p:cNvSpPr/>
            <p:nvPr/>
          </p:nvSpPr>
          <p:spPr>
            <a:xfrm>
              <a:off x="2436394" y="3627521"/>
              <a:ext cx="757989" cy="757989"/>
            </a:xfrm>
            <a:custGeom>
              <a:avLst/>
              <a:gdLst/>
              <a:ahLst/>
              <a:cxnLst/>
              <a:rect l="0" t="0" r="0" b="0"/>
              <a:pathLst>
                <a:path w="757989" h="757989">
                  <a:moveTo>
                    <a:pt x="0" y="378994"/>
                  </a:moveTo>
                  <a:cubicBezTo>
                    <a:pt x="0" y="169681"/>
                    <a:pt x="169681" y="0"/>
                    <a:pt x="378994" y="0"/>
                  </a:cubicBezTo>
                  <a:cubicBezTo>
                    <a:pt x="588307" y="0"/>
                    <a:pt x="757989" y="169681"/>
                    <a:pt x="757989" y="378994"/>
                  </a:cubicBezTo>
                  <a:cubicBezTo>
                    <a:pt x="757989" y="588307"/>
                    <a:pt x="588307" y="757989"/>
                    <a:pt x="378994" y="757989"/>
                  </a:cubicBezTo>
                  <a:cubicBezTo>
                    <a:pt x="169681" y="757989"/>
                    <a:pt x="0" y="588307"/>
                    <a:pt x="0" y="378994"/>
                  </a:cubicBezTo>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8" name="Rounded Rectangle 34"/>
            <p:cNvSpPr/>
            <p:nvPr/>
          </p:nvSpPr>
          <p:spPr>
            <a:xfrm>
              <a:off x="3194384" y="3546307"/>
              <a:ext cx="252663" cy="234615"/>
            </a:xfrm>
            <a:custGeom>
              <a:avLst/>
              <a:gdLst/>
              <a:ahLst/>
              <a:cxnLst/>
              <a:rect l="0" t="0" r="0" b="0"/>
              <a:pathLst>
                <a:path w="252663" h="234615">
                  <a:moveTo>
                    <a:pt x="160278" y="234615"/>
                  </a:moveTo>
                  <a:cubicBezTo>
                    <a:pt x="160278" y="234615"/>
                    <a:pt x="137205" y="181814"/>
                    <a:pt x="92338" y="126937"/>
                  </a:cubicBezTo>
                  <a:cubicBezTo>
                    <a:pt x="47472" y="72060"/>
                    <a:pt x="0" y="38574"/>
                    <a:pt x="0" y="38574"/>
                  </a:cubicBezTo>
                  <a:lnTo>
                    <a:pt x="252663" y="0"/>
                  </a:lnTo>
                  <a:close/>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11" name="Group 10"/>
          <p:cNvGrpSpPr/>
          <p:nvPr/>
        </p:nvGrpSpPr>
        <p:grpSpPr>
          <a:xfrm>
            <a:off x="5051102" y="2777541"/>
            <a:ext cx="1515978" cy="1515978"/>
            <a:chOff x="3356810" y="2048376"/>
            <a:chExt cx="1515978" cy="1515978"/>
          </a:xfrm>
        </p:grpSpPr>
        <p:sp>
          <p:nvSpPr>
            <p:cNvPr id="33" name="Rounded Rectangle 36"/>
            <p:cNvSpPr/>
            <p:nvPr/>
          </p:nvSpPr>
          <p:spPr>
            <a:xfrm>
              <a:off x="3356810" y="2048376"/>
              <a:ext cx="1515978" cy="1515978"/>
            </a:xfrm>
            <a:custGeom>
              <a:avLst/>
              <a:gdLst/>
              <a:ahLst/>
              <a:cxnLst/>
              <a:rect l="0" t="0" r="0" b="0"/>
              <a:pathLst>
                <a:path w="1515978" h="1515978">
                  <a:moveTo>
                    <a:pt x="0" y="757989"/>
                  </a:moveTo>
                  <a:cubicBezTo>
                    <a:pt x="0" y="339363"/>
                    <a:pt x="339363" y="0"/>
                    <a:pt x="757989" y="0"/>
                  </a:cubicBezTo>
                  <a:cubicBezTo>
                    <a:pt x="1176615" y="0"/>
                    <a:pt x="1515978" y="339363"/>
                    <a:pt x="1515978" y="757989"/>
                  </a:cubicBezTo>
                  <a:cubicBezTo>
                    <a:pt x="1515978" y="1176615"/>
                    <a:pt x="1176615" y="1515978"/>
                    <a:pt x="757989" y="1515978"/>
                  </a:cubicBezTo>
                  <a:cubicBezTo>
                    <a:pt x="339363" y="1515978"/>
                    <a:pt x="0" y="1176615"/>
                    <a:pt x="0" y="757989"/>
                  </a:cubicBezTo>
                </a:path>
              </a:pathLst>
            </a:custGeom>
            <a:solidFill>
              <a:srgbClr val="3CC58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34" name="Rounded Rectangle 37"/>
            <p:cNvSpPr/>
            <p:nvPr/>
          </p:nvSpPr>
          <p:spPr>
            <a:xfrm>
              <a:off x="3356810" y="2048376"/>
              <a:ext cx="1515978" cy="1515978"/>
            </a:xfrm>
            <a:custGeom>
              <a:avLst/>
              <a:gdLst/>
              <a:ahLst/>
              <a:cxnLst/>
              <a:rect l="0" t="0" r="0" b="0"/>
              <a:pathLst>
                <a:path w="1515978" h="1515978">
                  <a:moveTo>
                    <a:pt x="0" y="757989"/>
                  </a:moveTo>
                  <a:cubicBezTo>
                    <a:pt x="0" y="339363"/>
                    <a:pt x="339363" y="0"/>
                    <a:pt x="757989" y="0"/>
                  </a:cubicBezTo>
                  <a:cubicBezTo>
                    <a:pt x="1176615" y="0"/>
                    <a:pt x="1515978" y="339363"/>
                    <a:pt x="1515978" y="757989"/>
                  </a:cubicBezTo>
                  <a:cubicBezTo>
                    <a:pt x="1515978" y="1176615"/>
                    <a:pt x="1176615" y="1515978"/>
                    <a:pt x="757989" y="1515978"/>
                  </a:cubicBezTo>
                  <a:cubicBezTo>
                    <a:pt x="339363" y="1515978"/>
                    <a:pt x="0" y="1176615"/>
                    <a:pt x="0" y="757989"/>
                  </a:cubicBezTo>
                </a:path>
              </a:pathLst>
            </a:custGeom>
            <a:noFill/>
            <a:ln w="13535">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
        <p:nvSpPr>
          <p:cNvPr id="12" name="TextBox 39"/>
          <p:cNvSpPr txBox="1"/>
          <p:nvPr/>
        </p:nvSpPr>
        <p:spPr>
          <a:xfrm>
            <a:off x="7220136" y="2502318"/>
            <a:ext cx="110608" cy="261610"/>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700" b="1">
                <a:solidFill>
                  <a:srgbClr val="FFFFFF"/>
                </a:solidFill>
              </a:rPr>
              <a:t>5</a:t>
            </a:r>
          </a:p>
        </p:txBody>
      </p:sp>
      <p:sp>
        <p:nvSpPr>
          <p:cNvPr id="13" name="TextBox 40"/>
          <p:cNvSpPr txBox="1"/>
          <p:nvPr/>
        </p:nvSpPr>
        <p:spPr>
          <a:xfrm>
            <a:off x="7806018" y="2373481"/>
            <a:ext cx="1990331" cy="492443"/>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sz="1600" b="0" dirty="0">
                <a:solidFill>
                  <a:srgbClr val="484848"/>
                </a:solidFill>
              </a:rPr>
              <a:t>Income after death
of a salaried person</a:t>
            </a:r>
          </a:p>
        </p:txBody>
      </p:sp>
      <p:sp>
        <p:nvSpPr>
          <p:cNvPr id="14" name="TextBox 41"/>
          <p:cNvSpPr txBox="1"/>
          <p:nvPr/>
        </p:nvSpPr>
        <p:spPr>
          <a:xfrm>
            <a:off x="3001603" y="2681820"/>
            <a:ext cx="493725"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sz="2000" b="1" dirty="0">
                <a:solidFill>
                  <a:srgbClr val="E0CB15"/>
                </a:solidFill>
              </a:rPr>
              <a:t>Gifts</a:t>
            </a:r>
          </a:p>
        </p:txBody>
      </p:sp>
      <p:sp>
        <p:nvSpPr>
          <p:cNvPr id="15" name="TextBox 42"/>
          <p:cNvSpPr txBox="1"/>
          <p:nvPr/>
        </p:nvSpPr>
        <p:spPr>
          <a:xfrm>
            <a:off x="7816036" y="2059186"/>
            <a:ext cx="1566134"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2000" b="1" dirty="0">
                <a:solidFill>
                  <a:srgbClr val="1EABDA"/>
                </a:solidFill>
              </a:rPr>
              <a:t>Family Pension</a:t>
            </a:r>
          </a:p>
        </p:txBody>
      </p:sp>
      <p:sp>
        <p:nvSpPr>
          <p:cNvPr id="16" name="TextBox 43"/>
          <p:cNvSpPr txBox="1"/>
          <p:nvPr/>
        </p:nvSpPr>
        <p:spPr>
          <a:xfrm>
            <a:off x="1141987" y="2985538"/>
            <a:ext cx="2291157" cy="492443"/>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sz="1600" b="0" dirty="0">
                <a:solidFill>
                  <a:srgbClr val="484848"/>
                </a:solidFill>
              </a:rPr>
              <a:t>Received gifts</a:t>
            </a:r>
            <a:r>
              <a:rPr lang="en-US" sz="1600" b="0" dirty="0">
                <a:solidFill>
                  <a:srgbClr val="484848"/>
                </a:solidFill>
              </a:rPr>
              <a:t> </a:t>
            </a:r>
          </a:p>
          <a:p>
            <a:pPr algn="r"/>
            <a:r>
              <a:rPr sz="1600" b="0" dirty="0">
                <a:solidFill>
                  <a:srgbClr val="484848"/>
                </a:solidFill>
              </a:rPr>
              <a:t>exceeding</a:t>
            </a:r>
            <a:r>
              <a:rPr lang="en-US" sz="1600" b="0" dirty="0">
                <a:solidFill>
                  <a:srgbClr val="484848"/>
                </a:solidFill>
              </a:rPr>
              <a:t> </a:t>
            </a:r>
            <a:r>
              <a:rPr sz="1600" b="0" dirty="0">
                <a:solidFill>
                  <a:srgbClr val="484848"/>
                </a:solidFill>
              </a:rPr>
              <a:t>a</a:t>
            </a:r>
            <a:r>
              <a:rPr lang="en-US" sz="1600" dirty="0">
                <a:solidFill>
                  <a:srgbClr val="484848"/>
                </a:solidFill>
              </a:rPr>
              <a:t> </a:t>
            </a:r>
            <a:r>
              <a:rPr sz="1600" b="0" dirty="0">
                <a:solidFill>
                  <a:srgbClr val="484848"/>
                </a:solidFill>
              </a:rPr>
              <a:t>threshold</a:t>
            </a:r>
          </a:p>
        </p:txBody>
      </p:sp>
      <p:sp>
        <p:nvSpPr>
          <p:cNvPr id="17" name="TextBox 44"/>
          <p:cNvSpPr txBox="1"/>
          <p:nvPr/>
        </p:nvSpPr>
        <p:spPr>
          <a:xfrm>
            <a:off x="4025751" y="2989597"/>
            <a:ext cx="110608" cy="261610"/>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700" b="1">
                <a:solidFill>
                  <a:srgbClr val="FFFFFF"/>
                </a:solidFill>
              </a:rPr>
              <a:t>3</a:t>
            </a:r>
          </a:p>
        </p:txBody>
      </p:sp>
      <p:sp>
        <p:nvSpPr>
          <p:cNvPr id="18" name="TextBox 45"/>
          <p:cNvSpPr txBox="1"/>
          <p:nvPr/>
        </p:nvSpPr>
        <p:spPr>
          <a:xfrm>
            <a:off x="4458888" y="2231608"/>
            <a:ext cx="110608" cy="261610"/>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700" b="1">
                <a:solidFill>
                  <a:srgbClr val="FFFFFF"/>
                </a:solidFill>
              </a:rPr>
              <a:t>4</a:t>
            </a:r>
          </a:p>
        </p:txBody>
      </p:sp>
      <p:sp>
        <p:nvSpPr>
          <p:cNvPr id="19" name="TextBox 46"/>
          <p:cNvSpPr txBox="1"/>
          <p:nvPr/>
        </p:nvSpPr>
        <p:spPr>
          <a:xfrm>
            <a:off x="5490093" y="3244471"/>
            <a:ext cx="637995" cy="600164"/>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300" b="1" dirty="0">
                <a:solidFill>
                  <a:srgbClr val="FFFFFF"/>
                </a:solidFill>
              </a:rPr>
              <a:t>Taxable
Income</a:t>
            </a:r>
            <a:endParaRPr lang="en-US" sz="1300" b="1" dirty="0">
              <a:solidFill>
                <a:srgbClr val="FFFFFF"/>
              </a:solidFill>
            </a:endParaRPr>
          </a:p>
          <a:p>
            <a:pPr algn="ctr"/>
            <a:r>
              <a:rPr lang="en-US" sz="1300" b="1" dirty="0">
                <a:solidFill>
                  <a:srgbClr val="FFFFFF"/>
                </a:solidFill>
              </a:rPr>
              <a:t>Examples</a:t>
            </a:r>
            <a:endParaRPr sz="1300" b="1" dirty="0">
              <a:solidFill>
                <a:srgbClr val="FFFFFF"/>
              </a:solidFill>
            </a:endParaRPr>
          </a:p>
        </p:txBody>
      </p:sp>
      <p:sp>
        <p:nvSpPr>
          <p:cNvPr id="20" name="TextBox 47"/>
          <p:cNvSpPr txBox="1"/>
          <p:nvPr/>
        </p:nvSpPr>
        <p:spPr>
          <a:xfrm>
            <a:off x="8101107" y="3165559"/>
            <a:ext cx="1471557"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2000" b="1" dirty="0">
                <a:solidFill>
                  <a:srgbClr val="7F64EA"/>
                </a:solidFill>
              </a:rPr>
              <a:t>Rental Income</a:t>
            </a:r>
          </a:p>
        </p:txBody>
      </p:sp>
      <p:sp>
        <p:nvSpPr>
          <p:cNvPr id="21" name="TextBox 48"/>
          <p:cNvSpPr txBox="1"/>
          <p:nvPr/>
        </p:nvSpPr>
        <p:spPr>
          <a:xfrm>
            <a:off x="7490846" y="3422734"/>
            <a:ext cx="110608" cy="261610"/>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700" b="1">
                <a:solidFill>
                  <a:srgbClr val="FFFFFF"/>
                </a:solidFill>
              </a:rPr>
              <a:t>6</a:t>
            </a:r>
          </a:p>
        </p:txBody>
      </p:sp>
      <p:sp>
        <p:nvSpPr>
          <p:cNvPr id="22" name="TextBox 49"/>
          <p:cNvSpPr txBox="1"/>
          <p:nvPr/>
        </p:nvSpPr>
        <p:spPr>
          <a:xfrm>
            <a:off x="1105855" y="2114642"/>
            <a:ext cx="2927351" cy="246221"/>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600" b="0" dirty="0">
                <a:solidFill>
                  <a:srgbClr val="484848"/>
                </a:solidFill>
              </a:rPr>
              <a:t>Income from</a:t>
            </a:r>
            <a:r>
              <a:rPr lang="en-US" sz="1600" b="0" dirty="0">
                <a:solidFill>
                  <a:srgbClr val="484848"/>
                </a:solidFill>
              </a:rPr>
              <a:t> </a:t>
            </a:r>
            <a:r>
              <a:rPr sz="1600" b="0" dirty="0">
                <a:solidFill>
                  <a:srgbClr val="484848"/>
                </a:solidFill>
              </a:rPr>
              <a:t>lotteries</a:t>
            </a:r>
            <a:r>
              <a:rPr lang="en-US" sz="1600" b="0" dirty="0">
                <a:solidFill>
                  <a:srgbClr val="484848"/>
                </a:solidFill>
              </a:rPr>
              <a:t> &amp;</a:t>
            </a:r>
            <a:r>
              <a:rPr lang="en-US" sz="1600" dirty="0">
                <a:solidFill>
                  <a:srgbClr val="484848"/>
                </a:solidFill>
              </a:rPr>
              <a:t> </a:t>
            </a:r>
            <a:r>
              <a:rPr sz="1600" b="0" dirty="0">
                <a:solidFill>
                  <a:srgbClr val="484848"/>
                </a:solidFill>
              </a:rPr>
              <a:t>games</a:t>
            </a:r>
          </a:p>
        </p:txBody>
      </p:sp>
      <p:sp>
        <p:nvSpPr>
          <p:cNvPr id="23" name="TextBox 50"/>
          <p:cNvSpPr txBox="1"/>
          <p:nvPr/>
        </p:nvSpPr>
        <p:spPr>
          <a:xfrm>
            <a:off x="8101107" y="3450762"/>
            <a:ext cx="1641475" cy="492443"/>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sz="1600" b="0" dirty="0">
                <a:solidFill>
                  <a:srgbClr val="484848"/>
                </a:solidFill>
              </a:rPr>
              <a:t>Income from renting
out assets</a:t>
            </a:r>
          </a:p>
        </p:txBody>
      </p:sp>
      <p:sp>
        <p:nvSpPr>
          <p:cNvPr id="24" name="TextBox 51"/>
          <p:cNvSpPr txBox="1"/>
          <p:nvPr/>
        </p:nvSpPr>
        <p:spPr>
          <a:xfrm>
            <a:off x="2557680" y="3696984"/>
            <a:ext cx="1008288"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sz="2000" b="1" dirty="0">
                <a:solidFill>
                  <a:srgbClr val="92BD39"/>
                </a:solidFill>
              </a:rPr>
              <a:t>Dividends</a:t>
            </a:r>
          </a:p>
        </p:txBody>
      </p:sp>
      <p:sp>
        <p:nvSpPr>
          <p:cNvPr id="25" name="TextBox 52"/>
          <p:cNvSpPr txBox="1"/>
          <p:nvPr/>
        </p:nvSpPr>
        <p:spPr>
          <a:xfrm>
            <a:off x="4025751" y="3855871"/>
            <a:ext cx="110608" cy="261610"/>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700" b="1">
                <a:solidFill>
                  <a:srgbClr val="FFFFFF"/>
                </a:solidFill>
              </a:rPr>
              <a:t>2</a:t>
            </a:r>
          </a:p>
        </p:txBody>
      </p:sp>
      <p:sp>
        <p:nvSpPr>
          <p:cNvPr id="26" name="TextBox 54"/>
          <p:cNvSpPr txBox="1"/>
          <p:nvPr/>
        </p:nvSpPr>
        <p:spPr>
          <a:xfrm>
            <a:off x="7731137" y="4532624"/>
            <a:ext cx="2620797" cy="246221"/>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600" b="0" dirty="0">
                <a:solidFill>
                  <a:srgbClr val="484848"/>
                </a:solidFill>
              </a:rPr>
              <a:t>Income from</a:t>
            </a:r>
            <a:r>
              <a:rPr lang="en-US" sz="1600" b="0" dirty="0">
                <a:solidFill>
                  <a:srgbClr val="484848"/>
                </a:solidFill>
              </a:rPr>
              <a:t> </a:t>
            </a:r>
            <a:r>
              <a:rPr sz="1600" b="0" dirty="0">
                <a:solidFill>
                  <a:srgbClr val="484848"/>
                </a:solidFill>
              </a:rPr>
              <a:t>canceled deals</a:t>
            </a:r>
          </a:p>
        </p:txBody>
      </p:sp>
      <p:sp>
        <p:nvSpPr>
          <p:cNvPr id="27" name="TextBox 56"/>
          <p:cNvSpPr txBox="1"/>
          <p:nvPr/>
        </p:nvSpPr>
        <p:spPr>
          <a:xfrm>
            <a:off x="7220136" y="4343150"/>
            <a:ext cx="110608" cy="261610"/>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700" b="1">
                <a:solidFill>
                  <a:srgbClr val="FFFFFF"/>
                </a:solidFill>
              </a:rPr>
              <a:t>7</a:t>
            </a:r>
          </a:p>
        </p:txBody>
      </p:sp>
      <p:sp>
        <p:nvSpPr>
          <p:cNvPr id="28" name="TextBox 57"/>
          <p:cNvSpPr txBox="1"/>
          <p:nvPr/>
        </p:nvSpPr>
        <p:spPr>
          <a:xfrm>
            <a:off x="7816036" y="4223183"/>
            <a:ext cx="2510077" cy="307777"/>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sz="2000" b="1" dirty="0">
                <a:solidFill>
                  <a:srgbClr val="E55753"/>
                </a:solidFill>
              </a:rPr>
              <a:t>Advance</a:t>
            </a:r>
            <a:r>
              <a:rPr lang="en-US" sz="2000" b="1" dirty="0">
                <a:solidFill>
                  <a:srgbClr val="E55753"/>
                </a:solidFill>
              </a:rPr>
              <a:t> </a:t>
            </a:r>
            <a:r>
              <a:rPr sz="2000" b="1" dirty="0">
                <a:solidFill>
                  <a:srgbClr val="E55753"/>
                </a:solidFill>
              </a:rPr>
              <a:t>Forfeited</a:t>
            </a:r>
          </a:p>
        </p:txBody>
      </p:sp>
      <p:sp>
        <p:nvSpPr>
          <p:cNvPr id="29" name="TextBox 58"/>
          <p:cNvSpPr txBox="1"/>
          <p:nvPr/>
        </p:nvSpPr>
        <p:spPr>
          <a:xfrm>
            <a:off x="3210789" y="4692932"/>
            <a:ext cx="801501"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sz="2000" b="1" dirty="0">
                <a:solidFill>
                  <a:srgbClr val="4E88E7"/>
                </a:solidFill>
              </a:rPr>
              <a:t>Interest</a:t>
            </a:r>
          </a:p>
        </p:txBody>
      </p:sp>
      <p:sp>
        <p:nvSpPr>
          <p:cNvPr id="30" name="TextBox 59"/>
          <p:cNvSpPr txBox="1"/>
          <p:nvPr/>
        </p:nvSpPr>
        <p:spPr>
          <a:xfrm>
            <a:off x="4458888" y="4613861"/>
            <a:ext cx="110608" cy="261610"/>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700" b="1">
                <a:solidFill>
                  <a:srgbClr val="FFFFFF"/>
                </a:solidFill>
              </a:rPr>
              <a:t>1</a:t>
            </a:r>
          </a:p>
        </p:txBody>
      </p:sp>
      <p:sp>
        <p:nvSpPr>
          <p:cNvPr id="31" name="TextBox 60"/>
          <p:cNvSpPr txBox="1"/>
          <p:nvPr/>
        </p:nvSpPr>
        <p:spPr>
          <a:xfrm>
            <a:off x="2243640" y="5013494"/>
            <a:ext cx="2000521" cy="492443"/>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600" b="0" dirty="0">
                <a:solidFill>
                  <a:srgbClr val="484848"/>
                </a:solidFill>
              </a:rPr>
              <a:t>Income from bank
deposits and</a:t>
            </a:r>
            <a:r>
              <a:rPr lang="en-US" sz="1600" b="0" dirty="0">
                <a:solidFill>
                  <a:srgbClr val="484848"/>
                </a:solidFill>
              </a:rPr>
              <a:t> </a:t>
            </a:r>
            <a:r>
              <a:rPr sz="1600" b="0" dirty="0">
                <a:solidFill>
                  <a:srgbClr val="484848"/>
                </a:solidFill>
              </a:rPr>
              <a:t>savings</a:t>
            </a:r>
          </a:p>
        </p:txBody>
      </p:sp>
      <p:sp>
        <p:nvSpPr>
          <p:cNvPr id="32" name="TextBox 61"/>
          <p:cNvSpPr txBox="1"/>
          <p:nvPr/>
        </p:nvSpPr>
        <p:spPr>
          <a:xfrm>
            <a:off x="3066003" y="1797841"/>
            <a:ext cx="947375" cy="307777"/>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sz="2000" b="1" dirty="0">
                <a:solidFill>
                  <a:srgbClr val="DE8431"/>
                </a:solidFill>
              </a:rPr>
              <a:t>Winnings</a:t>
            </a:r>
          </a:p>
        </p:txBody>
      </p:sp>
      <p:sp>
        <p:nvSpPr>
          <p:cNvPr id="63" name="TextBox 62"/>
          <p:cNvSpPr txBox="1"/>
          <p:nvPr/>
        </p:nvSpPr>
        <p:spPr>
          <a:xfrm>
            <a:off x="1942879" y="4006348"/>
            <a:ext cx="1617429" cy="492443"/>
          </a:xfrm>
          <a:prstGeom prst="rect">
            <a:avLst/>
          </a:prstGeom>
          <a:noFill/>
          <a:ln>
            <a:noFill/>
          </a:ln>
        </p:spPr>
        <p:txBody>
          <a:bodyPr wrap="none" lIns="0" tIns="0" rIns="0" bIns="0" anchor="t">
            <a:spAutoFit/>
          </a:bodyPr>
          <a:lstStyle/>
          <a:p>
            <a:pPr algn="r"/>
            <a:r>
              <a:rPr sz="1600" b="0" dirty="0">
                <a:solidFill>
                  <a:srgbClr val="484848"/>
                </a:solidFill>
              </a:rPr>
              <a:t>Income from shares
in companies</a:t>
            </a:r>
          </a:p>
        </p:txBody>
      </p:sp>
    </p:spTree>
    <p:extLst>
      <p:ext uri="{BB962C8B-B14F-4D97-AF65-F5344CB8AC3E}">
        <p14:creationId xmlns:p14="http://schemas.microsoft.com/office/powerpoint/2010/main" val="304906683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026693" y="454326"/>
            <a:ext cx="9601200" cy="3581400"/>
          </a:xfrm>
        </p:spPr>
        <p:txBody>
          <a:bodyPr>
            <a:normAutofit/>
          </a:bodyPr>
          <a:lstStyle/>
          <a:p>
            <a:pPr marL="0" indent="0">
              <a:buNone/>
            </a:pPr>
            <a:r>
              <a:rPr lang="en-US" sz="3600" b="1" dirty="0">
                <a:cs typeface="Times New Roman" panose="02020603050405020304" pitchFamily="18" charset="0"/>
              </a:rPr>
              <a:t>Tax on Gifts:</a:t>
            </a:r>
          </a:p>
        </p:txBody>
      </p:sp>
      <p:grpSp>
        <p:nvGrpSpPr>
          <p:cNvPr id="4" name="Group 3"/>
          <p:cNvGrpSpPr/>
          <p:nvPr/>
        </p:nvGrpSpPr>
        <p:grpSpPr>
          <a:xfrm>
            <a:off x="3052763" y="3022600"/>
            <a:ext cx="1828800" cy="3397886"/>
            <a:chOff x="685800" y="2628900"/>
            <a:chExt cx="1828800" cy="2201830"/>
          </a:xfrm>
        </p:grpSpPr>
        <p:sp>
          <p:nvSpPr>
            <p:cNvPr id="23" name="Rounded Rectangle 1"/>
            <p:cNvSpPr/>
            <p:nvPr/>
          </p:nvSpPr>
          <p:spPr>
            <a:xfrm>
              <a:off x="685800" y="2628900"/>
              <a:ext cx="1828800" cy="2057400"/>
            </a:xfrm>
            <a:custGeom>
              <a:avLst/>
              <a:gdLst/>
              <a:ahLst/>
              <a:cxnLst/>
              <a:rect l="0" t="0" r="0" b="0"/>
              <a:pathLst>
                <a:path w="1828800" h="2057400">
                  <a:moveTo>
                    <a:pt x="1714500" y="0"/>
                  </a:moveTo>
                  <a:cubicBezTo>
                    <a:pt x="1777625" y="0"/>
                    <a:pt x="1828800" y="51174"/>
                    <a:pt x="1828800" y="114300"/>
                  </a:cubicBezTo>
                  <a:lnTo>
                    <a:pt x="1828800" y="342900"/>
                  </a:lnTo>
                  <a:lnTo>
                    <a:pt x="1714500" y="342900"/>
                  </a:lnTo>
                  <a:close/>
                  <a:moveTo>
                    <a:pt x="0" y="114300"/>
                  </a:moveTo>
                  <a:cubicBezTo>
                    <a:pt x="0" y="51174"/>
                    <a:pt x="51174" y="0"/>
                    <a:pt x="114300" y="0"/>
                  </a:cubicBezTo>
                  <a:lnTo>
                    <a:pt x="1714500" y="0"/>
                  </a:lnTo>
                  <a:lnTo>
                    <a:pt x="1714500" y="342900"/>
                  </a:lnTo>
                  <a:lnTo>
                    <a:pt x="0" y="342900"/>
                  </a:lnTo>
                  <a:close/>
                  <a:moveTo>
                    <a:pt x="1828800" y="1257300"/>
                  </a:moveTo>
                  <a:lnTo>
                    <a:pt x="0" y="1257300"/>
                  </a:lnTo>
                  <a:lnTo>
                    <a:pt x="0" y="342900"/>
                  </a:lnTo>
                  <a:lnTo>
                    <a:pt x="1828800" y="342900"/>
                  </a:lnTo>
                  <a:close/>
                  <a:moveTo>
                    <a:pt x="1828800" y="1257300"/>
                  </a:moveTo>
                  <a:lnTo>
                    <a:pt x="1828800" y="1714500"/>
                  </a:lnTo>
                  <a:cubicBezTo>
                    <a:pt x="1828800" y="1777650"/>
                    <a:pt x="1777650" y="1828800"/>
                    <a:pt x="1714500" y="1828800"/>
                  </a:cubicBezTo>
                  <a:lnTo>
                    <a:pt x="1237773" y="1828800"/>
                  </a:lnTo>
                  <a:cubicBezTo>
                    <a:pt x="1190720" y="1961959"/>
                    <a:pt x="1063656" y="2057400"/>
                    <a:pt x="914400" y="2057400"/>
                  </a:cubicBezTo>
                  <a:cubicBezTo>
                    <a:pt x="765143" y="2057400"/>
                    <a:pt x="638079" y="1961959"/>
                    <a:pt x="591026" y="1828800"/>
                  </a:cubicBezTo>
                  <a:lnTo>
                    <a:pt x="114300" y="1828800"/>
                  </a:lnTo>
                  <a:cubicBezTo>
                    <a:pt x="51149" y="1828800"/>
                    <a:pt x="0" y="1777650"/>
                    <a:pt x="0" y="1714500"/>
                  </a:cubicBezTo>
                  <a:lnTo>
                    <a:pt x="0" y="1257300"/>
                  </a:lnTo>
                  <a:close/>
                </a:path>
              </a:pathLst>
            </a:custGeom>
            <a:solidFill>
              <a:srgbClr val="E0CB15"/>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4" name="Rounded Rectangle 2"/>
            <p:cNvSpPr/>
            <p:nvPr/>
          </p:nvSpPr>
          <p:spPr>
            <a:xfrm>
              <a:off x="685800" y="2628900"/>
              <a:ext cx="1828800" cy="2201830"/>
            </a:xfrm>
            <a:custGeom>
              <a:avLst/>
              <a:gdLst/>
              <a:ahLst/>
              <a:cxnLst/>
              <a:rect l="0" t="0" r="0" b="0"/>
              <a:pathLst>
                <a:path w="1828800" h="2057400">
                  <a:moveTo>
                    <a:pt x="1714500" y="342900"/>
                  </a:moveTo>
                  <a:lnTo>
                    <a:pt x="1714500" y="0"/>
                  </a:lnTo>
                  <a:lnTo>
                    <a:pt x="1724025" y="0"/>
                  </a:lnTo>
                  <a:cubicBezTo>
                    <a:pt x="1781890" y="0"/>
                    <a:pt x="1828800" y="46909"/>
                    <a:pt x="1828800" y="104775"/>
                  </a:cubicBezTo>
                  <a:lnTo>
                    <a:pt x="1828800" y="342900"/>
                  </a:lnTo>
                  <a:moveTo>
                    <a:pt x="0" y="342900"/>
                  </a:moveTo>
                  <a:lnTo>
                    <a:pt x="0" y="104775"/>
                  </a:lnTo>
                  <a:cubicBezTo>
                    <a:pt x="0" y="46909"/>
                    <a:pt x="46909" y="0"/>
                    <a:pt x="104775" y="0"/>
                  </a:cubicBezTo>
                  <a:lnTo>
                    <a:pt x="114300" y="0"/>
                  </a:lnTo>
                  <a:lnTo>
                    <a:pt x="114300" y="342900"/>
                  </a:lnTo>
                  <a:moveTo>
                    <a:pt x="1828800" y="342900"/>
                  </a:moveTo>
                  <a:lnTo>
                    <a:pt x="1828800" y="1257300"/>
                  </a:lnTo>
                  <a:moveTo>
                    <a:pt x="1714500" y="342900"/>
                  </a:moveTo>
                  <a:lnTo>
                    <a:pt x="1714500" y="1257300"/>
                  </a:lnTo>
                  <a:moveTo>
                    <a:pt x="114300" y="342900"/>
                  </a:moveTo>
                  <a:lnTo>
                    <a:pt x="114300" y="1257300"/>
                  </a:lnTo>
                  <a:moveTo>
                    <a:pt x="0" y="342900"/>
                  </a:moveTo>
                  <a:lnTo>
                    <a:pt x="0" y="1257300"/>
                  </a:lnTo>
                  <a:moveTo>
                    <a:pt x="114300" y="1257300"/>
                  </a:moveTo>
                  <a:lnTo>
                    <a:pt x="114300" y="1600200"/>
                  </a:lnTo>
                  <a:lnTo>
                    <a:pt x="591026" y="1600200"/>
                  </a:lnTo>
                  <a:cubicBezTo>
                    <a:pt x="638079" y="1467040"/>
                    <a:pt x="765143" y="1371600"/>
                    <a:pt x="914400" y="1371600"/>
                  </a:cubicBezTo>
                  <a:cubicBezTo>
                    <a:pt x="1063656" y="1371600"/>
                    <a:pt x="1190720" y="1467040"/>
                    <a:pt x="1237773" y="1600200"/>
                  </a:cubicBezTo>
                  <a:lnTo>
                    <a:pt x="1714500" y="1600200"/>
                  </a:lnTo>
                  <a:lnTo>
                    <a:pt x="1714500" y="1257300"/>
                  </a:lnTo>
                  <a:moveTo>
                    <a:pt x="1828800" y="1257300"/>
                  </a:moveTo>
                  <a:lnTo>
                    <a:pt x="1828800" y="1714500"/>
                  </a:lnTo>
                  <a:cubicBezTo>
                    <a:pt x="1828800" y="1777650"/>
                    <a:pt x="1777650" y="1828800"/>
                    <a:pt x="1714500" y="1828800"/>
                  </a:cubicBezTo>
                  <a:lnTo>
                    <a:pt x="1237773" y="1828800"/>
                  </a:lnTo>
                  <a:cubicBezTo>
                    <a:pt x="1190720" y="1961959"/>
                    <a:pt x="1063656" y="2057400"/>
                    <a:pt x="914400" y="2057400"/>
                  </a:cubicBezTo>
                  <a:cubicBezTo>
                    <a:pt x="765143" y="2057400"/>
                    <a:pt x="638079" y="1961959"/>
                    <a:pt x="591026" y="1828800"/>
                  </a:cubicBezTo>
                  <a:lnTo>
                    <a:pt x="114300" y="1828800"/>
                  </a:lnTo>
                  <a:cubicBezTo>
                    <a:pt x="51149" y="1828800"/>
                    <a:pt x="0" y="1777650"/>
                    <a:pt x="0" y="1714500"/>
                  </a:cubicBezTo>
                  <a:lnTo>
                    <a:pt x="0" y="1257300"/>
                  </a:lnTo>
                </a:path>
              </a:pathLst>
            </a:custGeom>
            <a:noFill/>
            <a:ln w="1428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5" name="Group 4"/>
          <p:cNvGrpSpPr/>
          <p:nvPr/>
        </p:nvGrpSpPr>
        <p:grpSpPr>
          <a:xfrm>
            <a:off x="5110163" y="3022599"/>
            <a:ext cx="1828800" cy="3415508"/>
            <a:chOff x="2743200" y="2628899"/>
            <a:chExt cx="1828800" cy="2213249"/>
          </a:xfrm>
        </p:grpSpPr>
        <p:sp>
          <p:nvSpPr>
            <p:cNvPr id="21" name="Rounded Rectangle 4"/>
            <p:cNvSpPr/>
            <p:nvPr/>
          </p:nvSpPr>
          <p:spPr>
            <a:xfrm>
              <a:off x="2743200" y="2628900"/>
              <a:ext cx="1828800" cy="2057400"/>
            </a:xfrm>
            <a:custGeom>
              <a:avLst/>
              <a:gdLst/>
              <a:ahLst/>
              <a:cxnLst/>
              <a:rect l="0" t="0" r="0" b="0"/>
              <a:pathLst>
                <a:path w="1828800" h="2057400">
                  <a:moveTo>
                    <a:pt x="1714500" y="0"/>
                  </a:moveTo>
                  <a:cubicBezTo>
                    <a:pt x="1777625" y="0"/>
                    <a:pt x="1828800" y="51174"/>
                    <a:pt x="1828800" y="114300"/>
                  </a:cubicBezTo>
                  <a:lnTo>
                    <a:pt x="1828800" y="342900"/>
                  </a:lnTo>
                  <a:lnTo>
                    <a:pt x="1714500" y="342900"/>
                  </a:lnTo>
                  <a:close/>
                  <a:moveTo>
                    <a:pt x="0" y="114300"/>
                  </a:moveTo>
                  <a:cubicBezTo>
                    <a:pt x="0" y="51174"/>
                    <a:pt x="51174" y="0"/>
                    <a:pt x="114300" y="0"/>
                  </a:cubicBezTo>
                  <a:lnTo>
                    <a:pt x="1714500" y="0"/>
                  </a:lnTo>
                  <a:lnTo>
                    <a:pt x="1714500" y="342900"/>
                  </a:lnTo>
                  <a:lnTo>
                    <a:pt x="0" y="342900"/>
                  </a:lnTo>
                  <a:close/>
                  <a:moveTo>
                    <a:pt x="1828800" y="1257300"/>
                  </a:moveTo>
                  <a:lnTo>
                    <a:pt x="0" y="1257300"/>
                  </a:lnTo>
                  <a:lnTo>
                    <a:pt x="0" y="342900"/>
                  </a:lnTo>
                  <a:lnTo>
                    <a:pt x="1828800" y="342900"/>
                  </a:lnTo>
                  <a:close/>
                  <a:moveTo>
                    <a:pt x="1828800" y="1257300"/>
                  </a:moveTo>
                  <a:lnTo>
                    <a:pt x="1828800" y="1714500"/>
                  </a:lnTo>
                  <a:cubicBezTo>
                    <a:pt x="1828800" y="1777650"/>
                    <a:pt x="1777650" y="1828800"/>
                    <a:pt x="1714500" y="1828800"/>
                  </a:cubicBezTo>
                  <a:lnTo>
                    <a:pt x="1237773" y="1828800"/>
                  </a:lnTo>
                  <a:cubicBezTo>
                    <a:pt x="1190720" y="1961959"/>
                    <a:pt x="1063656" y="2057400"/>
                    <a:pt x="914400" y="2057400"/>
                  </a:cubicBezTo>
                  <a:cubicBezTo>
                    <a:pt x="765143" y="2057400"/>
                    <a:pt x="638079" y="1961959"/>
                    <a:pt x="591026" y="1828800"/>
                  </a:cubicBezTo>
                  <a:lnTo>
                    <a:pt x="114300" y="1828800"/>
                  </a:lnTo>
                  <a:cubicBezTo>
                    <a:pt x="51149" y="1828800"/>
                    <a:pt x="0" y="1777650"/>
                    <a:pt x="0" y="1714500"/>
                  </a:cubicBezTo>
                  <a:lnTo>
                    <a:pt x="0" y="1257300"/>
                  </a:lnTo>
                  <a:close/>
                </a:path>
              </a:pathLst>
            </a:custGeom>
            <a:solidFill>
              <a:srgbClr val="DE8431"/>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2" name="Rounded Rectangle 5"/>
            <p:cNvSpPr/>
            <p:nvPr/>
          </p:nvSpPr>
          <p:spPr>
            <a:xfrm>
              <a:off x="2743200" y="2628899"/>
              <a:ext cx="1828800" cy="2213249"/>
            </a:xfrm>
            <a:custGeom>
              <a:avLst/>
              <a:gdLst/>
              <a:ahLst/>
              <a:cxnLst/>
              <a:rect l="0" t="0" r="0" b="0"/>
              <a:pathLst>
                <a:path w="1828800" h="2057400">
                  <a:moveTo>
                    <a:pt x="1714500" y="342900"/>
                  </a:moveTo>
                  <a:lnTo>
                    <a:pt x="1714500" y="0"/>
                  </a:lnTo>
                  <a:lnTo>
                    <a:pt x="1724025" y="0"/>
                  </a:lnTo>
                  <a:cubicBezTo>
                    <a:pt x="1781890" y="0"/>
                    <a:pt x="1828800" y="46909"/>
                    <a:pt x="1828800" y="104775"/>
                  </a:cubicBezTo>
                  <a:lnTo>
                    <a:pt x="1828800" y="342900"/>
                  </a:lnTo>
                  <a:moveTo>
                    <a:pt x="0" y="342900"/>
                  </a:moveTo>
                  <a:lnTo>
                    <a:pt x="0" y="104775"/>
                  </a:lnTo>
                  <a:cubicBezTo>
                    <a:pt x="0" y="46909"/>
                    <a:pt x="46909" y="0"/>
                    <a:pt x="104775" y="0"/>
                  </a:cubicBezTo>
                  <a:lnTo>
                    <a:pt x="114300" y="0"/>
                  </a:lnTo>
                  <a:lnTo>
                    <a:pt x="114300" y="342900"/>
                  </a:lnTo>
                  <a:moveTo>
                    <a:pt x="1828800" y="342900"/>
                  </a:moveTo>
                  <a:lnTo>
                    <a:pt x="1828800" y="1257300"/>
                  </a:lnTo>
                  <a:moveTo>
                    <a:pt x="1714500" y="342900"/>
                  </a:moveTo>
                  <a:lnTo>
                    <a:pt x="1714500" y="1257300"/>
                  </a:lnTo>
                  <a:moveTo>
                    <a:pt x="114300" y="342900"/>
                  </a:moveTo>
                  <a:lnTo>
                    <a:pt x="114300" y="1257300"/>
                  </a:lnTo>
                  <a:moveTo>
                    <a:pt x="0" y="342900"/>
                  </a:moveTo>
                  <a:lnTo>
                    <a:pt x="0" y="1257300"/>
                  </a:lnTo>
                  <a:moveTo>
                    <a:pt x="114300" y="1257300"/>
                  </a:moveTo>
                  <a:lnTo>
                    <a:pt x="114300" y="1600200"/>
                  </a:lnTo>
                  <a:lnTo>
                    <a:pt x="591026" y="1600200"/>
                  </a:lnTo>
                  <a:cubicBezTo>
                    <a:pt x="638079" y="1467040"/>
                    <a:pt x="765143" y="1371600"/>
                    <a:pt x="914400" y="1371600"/>
                  </a:cubicBezTo>
                  <a:cubicBezTo>
                    <a:pt x="1063656" y="1371600"/>
                    <a:pt x="1190720" y="1467040"/>
                    <a:pt x="1237773" y="1600200"/>
                  </a:cubicBezTo>
                  <a:lnTo>
                    <a:pt x="1714500" y="1600200"/>
                  </a:lnTo>
                  <a:lnTo>
                    <a:pt x="1714500" y="1257300"/>
                  </a:lnTo>
                  <a:moveTo>
                    <a:pt x="1828800" y="1257300"/>
                  </a:moveTo>
                  <a:lnTo>
                    <a:pt x="1828800" y="1714500"/>
                  </a:lnTo>
                  <a:cubicBezTo>
                    <a:pt x="1828800" y="1777650"/>
                    <a:pt x="1777650" y="1828800"/>
                    <a:pt x="1714500" y="1828800"/>
                  </a:cubicBezTo>
                  <a:lnTo>
                    <a:pt x="1237773" y="1828800"/>
                  </a:lnTo>
                  <a:cubicBezTo>
                    <a:pt x="1190720" y="1961959"/>
                    <a:pt x="1063656" y="2057400"/>
                    <a:pt x="914400" y="2057400"/>
                  </a:cubicBezTo>
                  <a:cubicBezTo>
                    <a:pt x="765143" y="2057400"/>
                    <a:pt x="638079" y="1961959"/>
                    <a:pt x="591026" y="1828800"/>
                  </a:cubicBezTo>
                  <a:lnTo>
                    <a:pt x="114300" y="1828800"/>
                  </a:lnTo>
                  <a:cubicBezTo>
                    <a:pt x="51149" y="1828800"/>
                    <a:pt x="0" y="1777650"/>
                    <a:pt x="0" y="1714500"/>
                  </a:cubicBezTo>
                  <a:lnTo>
                    <a:pt x="0" y="1257300"/>
                  </a:lnTo>
                </a:path>
              </a:pathLst>
            </a:custGeom>
            <a:noFill/>
            <a:ln w="1428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6" name="Group 5"/>
          <p:cNvGrpSpPr/>
          <p:nvPr/>
        </p:nvGrpSpPr>
        <p:grpSpPr>
          <a:xfrm>
            <a:off x="7167563" y="3022600"/>
            <a:ext cx="1828800" cy="3416299"/>
            <a:chOff x="4800600" y="2628900"/>
            <a:chExt cx="1828800" cy="2213762"/>
          </a:xfrm>
        </p:grpSpPr>
        <p:sp>
          <p:nvSpPr>
            <p:cNvPr id="19" name="Rounded Rectangle 7"/>
            <p:cNvSpPr/>
            <p:nvPr/>
          </p:nvSpPr>
          <p:spPr>
            <a:xfrm>
              <a:off x="4800600" y="2628900"/>
              <a:ext cx="1828800" cy="2057400"/>
            </a:xfrm>
            <a:custGeom>
              <a:avLst/>
              <a:gdLst/>
              <a:ahLst/>
              <a:cxnLst/>
              <a:rect l="0" t="0" r="0" b="0"/>
              <a:pathLst>
                <a:path w="1828800" h="2057400">
                  <a:moveTo>
                    <a:pt x="1714500" y="0"/>
                  </a:moveTo>
                  <a:cubicBezTo>
                    <a:pt x="1777625" y="0"/>
                    <a:pt x="1828800" y="51174"/>
                    <a:pt x="1828800" y="114300"/>
                  </a:cubicBezTo>
                  <a:lnTo>
                    <a:pt x="1828800" y="342900"/>
                  </a:lnTo>
                  <a:lnTo>
                    <a:pt x="1714500" y="342900"/>
                  </a:lnTo>
                  <a:close/>
                  <a:moveTo>
                    <a:pt x="0" y="114300"/>
                  </a:moveTo>
                  <a:cubicBezTo>
                    <a:pt x="0" y="51174"/>
                    <a:pt x="51174" y="0"/>
                    <a:pt x="114300" y="0"/>
                  </a:cubicBezTo>
                  <a:lnTo>
                    <a:pt x="1714500" y="0"/>
                  </a:lnTo>
                  <a:lnTo>
                    <a:pt x="1714500" y="342900"/>
                  </a:lnTo>
                  <a:lnTo>
                    <a:pt x="0" y="342900"/>
                  </a:lnTo>
                  <a:close/>
                  <a:moveTo>
                    <a:pt x="1828800" y="1257300"/>
                  </a:moveTo>
                  <a:lnTo>
                    <a:pt x="0" y="1257300"/>
                  </a:lnTo>
                  <a:lnTo>
                    <a:pt x="0" y="342900"/>
                  </a:lnTo>
                  <a:lnTo>
                    <a:pt x="1828800" y="342900"/>
                  </a:lnTo>
                  <a:close/>
                  <a:moveTo>
                    <a:pt x="1828800" y="1257300"/>
                  </a:moveTo>
                  <a:lnTo>
                    <a:pt x="1828800" y="1714500"/>
                  </a:lnTo>
                  <a:cubicBezTo>
                    <a:pt x="1828800" y="1777650"/>
                    <a:pt x="1777650" y="1828800"/>
                    <a:pt x="1714500" y="1828800"/>
                  </a:cubicBezTo>
                  <a:lnTo>
                    <a:pt x="1237773" y="1828800"/>
                  </a:lnTo>
                  <a:cubicBezTo>
                    <a:pt x="1190720" y="1961959"/>
                    <a:pt x="1063656" y="2057400"/>
                    <a:pt x="914400" y="2057400"/>
                  </a:cubicBezTo>
                  <a:cubicBezTo>
                    <a:pt x="765143" y="2057400"/>
                    <a:pt x="638079" y="1961959"/>
                    <a:pt x="591026" y="1828800"/>
                  </a:cubicBezTo>
                  <a:lnTo>
                    <a:pt x="114300" y="1828800"/>
                  </a:lnTo>
                  <a:cubicBezTo>
                    <a:pt x="51149" y="1828800"/>
                    <a:pt x="0" y="1777650"/>
                    <a:pt x="0" y="1714500"/>
                  </a:cubicBezTo>
                  <a:lnTo>
                    <a:pt x="0" y="1257300"/>
                  </a:lnTo>
                  <a:close/>
                </a:path>
              </a:pathLst>
            </a:custGeom>
            <a:solidFill>
              <a:srgbClr val="E55753"/>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20" name="Rounded Rectangle 8"/>
            <p:cNvSpPr/>
            <p:nvPr/>
          </p:nvSpPr>
          <p:spPr>
            <a:xfrm>
              <a:off x="4800600" y="2628900"/>
              <a:ext cx="1828800" cy="2213762"/>
            </a:xfrm>
            <a:custGeom>
              <a:avLst/>
              <a:gdLst/>
              <a:ahLst/>
              <a:cxnLst/>
              <a:rect l="0" t="0" r="0" b="0"/>
              <a:pathLst>
                <a:path w="1828800" h="2057400">
                  <a:moveTo>
                    <a:pt x="1714500" y="342900"/>
                  </a:moveTo>
                  <a:lnTo>
                    <a:pt x="1714500" y="0"/>
                  </a:lnTo>
                  <a:lnTo>
                    <a:pt x="1724025" y="0"/>
                  </a:lnTo>
                  <a:cubicBezTo>
                    <a:pt x="1781890" y="0"/>
                    <a:pt x="1828800" y="46909"/>
                    <a:pt x="1828800" y="104775"/>
                  </a:cubicBezTo>
                  <a:lnTo>
                    <a:pt x="1828800" y="342900"/>
                  </a:lnTo>
                  <a:moveTo>
                    <a:pt x="0" y="342900"/>
                  </a:moveTo>
                  <a:lnTo>
                    <a:pt x="0" y="104775"/>
                  </a:lnTo>
                  <a:cubicBezTo>
                    <a:pt x="0" y="46909"/>
                    <a:pt x="46909" y="0"/>
                    <a:pt x="104775" y="0"/>
                  </a:cubicBezTo>
                  <a:lnTo>
                    <a:pt x="114300" y="0"/>
                  </a:lnTo>
                  <a:lnTo>
                    <a:pt x="114300" y="342900"/>
                  </a:lnTo>
                  <a:moveTo>
                    <a:pt x="1828800" y="342900"/>
                  </a:moveTo>
                  <a:lnTo>
                    <a:pt x="1828800" y="1257300"/>
                  </a:lnTo>
                  <a:moveTo>
                    <a:pt x="1714500" y="342900"/>
                  </a:moveTo>
                  <a:lnTo>
                    <a:pt x="1714500" y="1257300"/>
                  </a:lnTo>
                  <a:moveTo>
                    <a:pt x="114300" y="342900"/>
                  </a:moveTo>
                  <a:lnTo>
                    <a:pt x="114300" y="1257300"/>
                  </a:lnTo>
                  <a:moveTo>
                    <a:pt x="0" y="342900"/>
                  </a:moveTo>
                  <a:lnTo>
                    <a:pt x="0" y="1257300"/>
                  </a:lnTo>
                  <a:moveTo>
                    <a:pt x="114300" y="1257300"/>
                  </a:moveTo>
                  <a:lnTo>
                    <a:pt x="114300" y="1600200"/>
                  </a:lnTo>
                  <a:lnTo>
                    <a:pt x="591026" y="1600200"/>
                  </a:lnTo>
                  <a:cubicBezTo>
                    <a:pt x="638079" y="1467040"/>
                    <a:pt x="765143" y="1371600"/>
                    <a:pt x="914400" y="1371600"/>
                  </a:cubicBezTo>
                  <a:cubicBezTo>
                    <a:pt x="1063656" y="1371600"/>
                    <a:pt x="1190720" y="1467040"/>
                    <a:pt x="1237773" y="1600200"/>
                  </a:cubicBezTo>
                  <a:lnTo>
                    <a:pt x="1714500" y="1600200"/>
                  </a:lnTo>
                  <a:lnTo>
                    <a:pt x="1714500" y="1257300"/>
                  </a:lnTo>
                  <a:moveTo>
                    <a:pt x="1828800" y="1257300"/>
                  </a:moveTo>
                  <a:lnTo>
                    <a:pt x="1828800" y="1714500"/>
                  </a:lnTo>
                  <a:cubicBezTo>
                    <a:pt x="1828800" y="1777650"/>
                    <a:pt x="1777650" y="1828800"/>
                    <a:pt x="1714500" y="1828800"/>
                  </a:cubicBezTo>
                  <a:lnTo>
                    <a:pt x="1237773" y="1828800"/>
                  </a:lnTo>
                  <a:cubicBezTo>
                    <a:pt x="1190720" y="1961959"/>
                    <a:pt x="1063656" y="2057400"/>
                    <a:pt x="914400" y="2057400"/>
                  </a:cubicBezTo>
                  <a:cubicBezTo>
                    <a:pt x="765143" y="2057400"/>
                    <a:pt x="638079" y="1961959"/>
                    <a:pt x="591026" y="1828800"/>
                  </a:cubicBezTo>
                  <a:lnTo>
                    <a:pt x="114300" y="1828800"/>
                  </a:lnTo>
                  <a:cubicBezTo>
                    <a:pt x="51149" y="1828800"/>
                    <a:pt x="0" y="1777650"/>
                    <a:pt x="0" y="1714500"/>
                  </a:cubicBezTo>
                  <a:lnTo>
                    <a:pt x="0" y="1257300"/>
                  </a:lnTo>
                </a:path>
              </a:pathLst>
            </a:custGeom>
            <a:noFill/>
            <a:ln w="14287">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
        <p:nvSpPr>
          <p:cNvPr id="7" name="Rounded Rectangle 10"/>
          <p:cNvSpPr/>
          <p:nvPr/>
        </p:nvSpPr>
        <p:spPr>
          <a:xfrm>
            <a:off x="3395663" y="1628675"/>
            <a:ext cx="1143000" cy="1171039"/>
          </a:xfrm>
          <a:custGeom>
            <a:avLst/>
            <a:gdLst/>
            <a:ahLst/>
            <a:cxnLst/>
            <a:rect l="0" t="0" r="0" b="0"/>
            <a:pathLst>
              <a:path w="1143000" h="1171039">
                <a:moveTo>
                  <a:pt x="1071562" y="289977"/>
                </a:moveTo>
                <a:cubicBezTo>
                  <a:pt x="1111016" y="289977"/>
                  <a:pt x="1143000" y="321960"/>
                  <a:pt x="1143000" y="361414"/>
                </a:cubicBezTo>
                <a:lnTo>
                  <a:pt x="1143000" y="480477"/>
                </a:lnTo>
                <a:cubicBezTo>
                  <a:pt x="1143000" y="506779"/>
                  <a:pt x="1121677" y="528102"/>
                  <a:pt x="1095375" y="528102"/>
                </a:cubicBezTo>
                <a:lnTo>
                  <a:pt x="1071562" y="528102"/>
                </a:lnTo>
                <a:cubicBezTo>
                  <a:pt x="1058411" y="528102"/>
                  <a:pt x="1047750" y="538763"/>
                  <a:pt x="1047750" y="551914"/>
                </a:cubicBezTo>
                <a:lnTo>
                  <a:pt x="1047750" y="1099602"/>
                </a:lnTo>
                <a:cubicBezTo>
                  <a:pt x="1047750" y="1139055"/>
                  <a:pt x="1015766" y="1171039"/>
                  <a:pt x="976312" y="1171039"/>
                </a:cubicBezTo>
                <a:lnTo>
                  <a:pt x="166687" y="1171039"/>
                </a:lnTo>
                <a:cubicBezTo>
                  <a:pt x="127233" y="1171039"/>
                  <a:pt x="95250" y="1139055"/>
                  <a:pt x="95250" y="1099602"/>
                </a:cubicBezTo>
                <a:lnTo>
                  <a:pt x="95250" y="551914"/>
                </a:lnTo>
                <a:cubicBezTo>
                  <a:pt x="95250" y="538763"/>
                  <a:pt x="84588" y="528102"/>
                  <a:pt x="71437" y="528102"/>
                </a:cubicBezTo>
                <a:lnTo>
                  <a:pt x="47625" y="528102"/>
                </a:lnTo>
                <a:cubicBezTo>
                  <a:pt x="21322" y="528102"/>
                  <a:pt x="0" y="506779"/>
                  <a:pt x="0" y="480477"/>
                </a:cubicBezTo>
                <a:lnTo>
                  <a:pt x="0" y="361414"/>
                </a:lnTo>
                <a:cubicBezTo>
                  <a:pt x="0" y="321960"/>
                  <a:pt x="31983" y="289977"/>
                  <a:pt x="71437" y="289977"/>
                </a:cubicBezTo>
                <a:lnTo>
                  <a:pt x="250031" y="289977"/>
                </a:lnTo>
                <a:cubicBezTo>
                  <a:pt x="254394" y="289988"/>
                  <a:pt x="258414" y="287613"/>
                  <a:pt x="260508" y="283785"/>
                </a:cubicBezTo>
                <a:cubicBezTo>
                  <a:pt x="262938" y="280015"/>
                  <a:pt x="262938" y="275173"/>
                  <a:pt x="260508" y="271403"/>
                </a:cubicBezTo>
                <a:cubicBezTo>
                  <a:pt x="211256" y="203378"/>
                  <a:pt x="222576" y="108920"/>
                  <a:pt x="286507" y="54460"/>
                </a:cubicBezTo>
                <a:cubicBezTo>
                  <a:pt x="350439" y="0"/>
                  <a:pt x="445496" y="3841"/>
                  <a:pt x="504825" y="63281"/>
                </a:cubicBezTo>
                <a:cubicBezTo>
                  <a:pt x="529130" y="93791"/>
                  <a:pt x="547981" y="128270"/>
                  <a:pt x="560546" y="165199"/>
                </a:cubicBezTo>
                <a:cubicBezTo>
                  <a:pt x="562416" y="169589"/>
                  <a:pt x="566727" y="172439"/>
                  <a:pt x="571500" y="172439"/>
                </a:cubicBezTo>
                <a:cubicBezTo>
                  <a:pt x="576272" y="172439"/>
                  <a:pt x="580583" y="169589"/>
                  <a:pt x="582453" y="165199"/>
                </a:cubicBezTo>
                <a:cubicBezTo>
                  <a:pt x="595018" y="128270"/>
                  <a:pt x="613869" y="93791"/>
                  <a:pt x="638175" y="63281"/>
                </a:cubicBezTo>
                <a:cubicBezTo>
                  <a:pt x="697960" y="6491"/>
                  <a:pt x="790992" y="4062"/>
                  <a:pt x="853660" y="57654"/>
                </a:cubicBezTo>
                <a:cubicBezTo>
                  <a:pt x="916327" y="111247"/>
                  <a:pt x="928364" y="203529"/>
                  <a:pt x="881538" y="271403"/>
                </a:cubicBezTo>
                <a:cubicBezTo>
                  <a:pt x="879109" y="275173"/>
                  <a:pt x="879109" y="280015"/>
                  <a:pt x="881538" y="283785"/>
                </a:cubicBezTo>
                <a:cubicBezTo>
                  <a:pt x="883632" y="287613"/>
                  <a:pt x="887653" y="289988"/>
                  <a:pt x="892016" y="289976"/>
                </a:cubicBezTo>
                <a:lnTo>
                  <a:pt x="1071562" y="289976"/>
                </a:lnTo>
                <a:close/>
                <a:moveTo>
                  <a:pt x="344328" y="223302"/>
                </a:moveTo>
                <a:cubicBezTo>
                  <a:pt x="386793" y="247610"/>
                  <a:pt x="432727" y="265277"/>
                  <a:pt x="480536" y="275689"/>
                </a:cubicBezTo>
                <a:cubicBezTo>
                  <a:pt x="484815" y="277005"/>
                  <a:pt x="489469" y="275702"/>
                  <a:pt x="492442" y="272355"/>
                </a:cubicBezTo>
                <a:cubicBezTo>
                  <a:pt x="495352" y="269120"/>
                  <a:pt x="496265" y="264555"/>
                  <a:pt x="494823" y="260449"/>
                </a:cubicBezTo>
                <a:cubicBezTo>
                  <a:pt x="482040" y="214688"/>
                  <a:pt x="462626" y="171045"/>
                  <a:pt x="437197" y="130909"/>
                </a:cubicBezTo>
                <a:cubicBezTo>
                  <a:pt x="411540" y="105294"/>
                  <a:pt x="369986" y="105294"/>
                  <a:pt x="344328" y="130909"/>
                </a:cubicBezTo>
                <a:cubicBezTo>
                  <a:pt x="319029" y="156511"/>
                  <a:pt x="319029" y="197700"/>
                  <a:pt x="344328" y="223302"/>
                </a:cubicBezTo>
                <a:close/>
                <a:moveTo>
                  <a:pt x="273843" y="528102"/>
                </a:moveTo>
                <a:cubicBezTo>
                  <a:pt x="273843" y="580707"/>
                  <a:pt x="316488" y="623352"/>
                  <a:pt x="369093" y="623352"/>
                </a:cubicBezTo>
                <a:cubicBezTo>
                  <a:pt x="421698" y="623352"/>
                  <a:pt x="464343" y="580707"/>
                  <a:pt x="464343" y="528102"/>
                </a:cubicBezTo>
                <a:cubicBezTo>
                  <a:pt x="464343" y="475496"/>
                  <a:pt x="421698" y="432852"/>
                  <a:pt x="369093" y="432852"/>
                </a:cubicBezTo>
                <a:cubicBezTo>
                  <a:pt x="316488" y="432852"/>
                  <a:pt x="273843" y="475496"/>
                  <a:pt x="273843" y="528102"/>
                </a:cubicBezTo>
                <a:close/>
                <a:moveTo>
                  <a:pt x="500062" y="790039"/>
                </a:moveTo>
                <a:cubicBezTo>
                  <a:pt x="500062" y="717707"/>
                  <a:pt x="441425" y="659070"/>
                  <a:pt x="369093" y="659070"/>
                </a:cubicBezTo>
                <a:cubicBezTo>
                  <a:pt x="296761" y="659070"/>
                  <a:pt x="238125" y="717707"/>
                  <a:pt x="238125" y="790039"/>
                </a:cubicBezTo>
                <a:lnTo>
                  <a:pt x="238125" y="885289"/>
                </a:lnTo>
                <a:cubicBezTo>
                  <a:pt x="238125" y="891865"/>
                  <a:pt x="243455" y="897195"/>
                  <a:pt x="250031" y="897195"/>
                </a:cubicBezTo>
                <a:lnTo>
                  <a:pt x="278129" y="897195"/>
                </a:lnTo>
                <a:cubicBezTo>
                  <a:pt x="290059" y="897348"/>
                  <a:pt x="300035" y="906306"/>
                  <a:pt x="301466" y="918150"/>
                </a:cubicBezTo>
                <a:lnTo>
                  <a:pt x="321468" y="1077694"/>
                </a:lnTo>
                <a:cubicBezTo>
                  <a:pt x="322412" y="1083517"/>
                  <a:pt x="327476" y="1087771"/>
                  <a:pt x="333374" y="1087695"/>
                </a:cubicBezTo>
                <a:lnTo>
                  <a:pt x="404812" y="1087695"/>
                </a:lnTo>
                <a:cubicBezTo>
                  <a:pt x="410710" y="1087771"/>
                  <a:pt x="415775" y="1083517"/>
                  <a:pt x="416718" y="1077694"/>
                </a:cubicBezTo>
                <a:lnTo>
                  <a:pt x="436721" y="918150"/>
                </a:lnTo>
                <a:cubicBezTo>
                  <a:pt x="438152" y="906306"/>
                  <a:pt x="448127" y="897348"/>
                  <a:pt x="460057" y="897195"/>
                </a:cubicBezTo>
                <a:lnTo>
                  <a:pt x="488156" y="897195"/>
                </a:lnTo>
                <a:cubicBezTo>
                  <a:pt x="494731" y="897195"/>
                  <a:pt x="500062" y="891865"/>
                  <a:pt x="500062" y="885289"/>
                </a:cubicBezTo>
                <a:close/>
                <a:moveTo>
                  <a:pt x="773906" y="432852"/>
                </a:moveTo>
                <a:cubicBezTo>
                  <a:pt x="721301" y="432852"/>
                  <a:pt x="678656" y="475496"/>
                  <a:pt x="678656" y="528102"/>
                </a:cubicBezTo>
                <a:cubicBezTo>
                  <a:pt x="678656" y="580707"/>
                  <a:pt x="721301" y="623352"/>
                  <a:pt x="773906" y="623352"/>
                </a:cubicBezTo>
                <a:cubicBezTo>
                  <a:pt x="826511" y="623352"/>
                  <a:pt x="869156" y="580707"/>
                  <a:pt x="869156" y="528102"/>
                </a:cubicBezTo>
                <a:cubicBezTo>
                  <a:pt x="869156" y="475496"/>
                  <a:pt x="826511" y="432852"/>
                  <a:pt x="773906" y="432852"/>
                </a:cubicBezTo>
                <a:close/>
                <a:moveTo>
                  <a:pt x="652938" y="272355"/>
                </a:moveTo>
                <a:cubicBezTo>
                  <a:pt x="655912" y="275702"/>
                  <a:pt x="660565" y="277005"/>
                  <a:pt x="664845" y="275689"/>
                </a:cubicBezTo>
                <a:cubicBezTo>
                  <a:pt x="712766" y="264932"/>
                  <a:pt x="758720" y="246776"/>
                  <a:pt x="801052" y="221873"/>
                </a:cubicBezTo>
                <a:cubicBezTo>
                  <a:pt x="819961" y="203028"/>
                  <a:pt x="825483" y="174566"/>
                  <a:pt x="814992" y="150018"/>
                </a:cubicBezTo>
                <a:cubicBezTo>
                  <a:pt x="804502" y="125470"/>
                  <a:pt x="780115" y="109789"/>
                  <a:pt x="753427" y="110430"/>
                </a:cubicBezTo>
                <a:cubicBezTo>
                  <a:pt x="735607" y="109956"/>
                  <a:pt x="718379" y="116847"/>
                  <a:pt x="705802" y="129480"/>
                </a:cubicBezTo>
                <a:cubicBezTo>
                  <a:pt x="680246" y="170059"/>
                  <a:pt x="660828" y="214192"/>
                  <a:pt x="648176" y="260449"/>
                </a:cubicBezTo>
                <a:cubicBezTo>
                  <a:pt x="647308" y="265007"/>
                  <a:pt x="649167" y="269653"/>
                  <a:pt x="652938" y="272355"/>
                </a:cubicBezTo>
                <a:close/>
                <a:moveTo>
                  <a:pt x="904875" y="790039"/>
                </a:moveTo>
                <a:cubicBezTo>
                  <a:pt x="904875" y="717707"/>
                  <a:pt x="846238" y="659070"/>
                  <a:pt x="773906" y="659070"/>
                </a:cubicBezTo>
                <a:cubicBezTo>
                  <a:pt x="701574" y="659070"/>
                  <a:pt x="642937" y="717707"/>
                  <a:pt x="642937" y="790039"/>
                </a:cubicBezTo>
                <a:lnTo>
                  <a:pt x="642937" y="885289"/>
                </a:lnTo>
                <a:cubicBezTo>
                  <a:pt x="642937" y="891865"/>
                  <a:pt x="648268" y="897195"/>
                  <a:pt x="654843" y="897195"/>
                </a:cubicBezTo>
                <a:lnTo>
                  <a:pt x="682942" y="897195"/>
                </a:lnTo>
                <a:cubicBezTo>
                  <a:pt x="694872" y="897348"/>
                  <a:pt x="704848" y="906306"/>
                  <a:pt x="706278" y="918150"/>
                </a:cubicBezTo>
                <a:lnTo>
                  <a:pt x="726281" y="1077694"/>
                </a:lnTo>
                <a:cubicBezTo>
                  <a:pt x="727224" y="1083517"/>
                  <a:pt x="732289" y="1087771"/>
                  <a:pt x="738187" y="1087695"/>
                </a:cubicBezTo>
                <a:lnTo>
                  <a:pt x="809625" y="1087695"/>
                </a:lnTo>
                <a:cubicBezTo>
                  <a:pt x="815523" y="1087771"/>
                  <a:pt x="820587" y="1083517"/>
                  <a:pt x="821531" y="1077694"/>
                </a:cubicBezTo>
                <a:lnTo>
                  <a:pt x="841533" y="918150"/>
                </a:lnTo>
                <a:cubicBezTo>
                  <a:pt x="842964" y="906306"/>
                  <a:pt x="852940" y="897348"/>
                  <a:pt x="864870" y="897195"/>
                </a:cubicBezTo>
                <a:lnTo>
                  <a:pt x="892968" y="897195"/>
                </a:lnTo>
                <a:cubicBezTo>
                  <a:pt x="899544" y="897195"/>
                  <a:pt x="904875" y="891865"/>
                  <a:pt x="904875" y="885289"/>
                </a:cubicBezTo>
                <a:close/>
              </a:path>
            </a:pathLst>
          </a:custGeom>
          <a:solidFill>
            <a:srgbClr val="484848"/>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8" name="Rounded Rectangle 11"/>
          <p:cNvSpPr/>
          <p:nvPr/>
        </p:nvSpPr>
        <p:spPr>
          <a:xfrm>
            <a:off x="5486400" y="1707959"/>
            <a:ext cx="1097756" cy="1074134"/>
          </a:xfrm>
          <a:custGeom>
            <a:avLst/>
            <a:gdLst/>
            <a:ahLst/>
            <a:cxnLst/>
            <a:rect l="0" t="0" r="0" b="0"/>
            <a:pathLst>
              <a:path w="1097756" h="1074134">
                <a:moveTo>
                  <a:pt x="283702" y="801385"/>
                </a:moveTo>
                <a:cubicBezTo>
                  <a:pt x="269626" y="813652"/>
                  <a:pt x="249681" y="816562"/>
                  <a:pt x="232687" y="808830"/>
                </a:cubicBezTo>
                <a:cubicBezTo>
                  <a:pt x="215693" y="801097"/>
                  <a:pt x="204785" y="784147"/>
                  <a:pt x="204787" y="765476"/>
                </a:cubicBezTo>
                <a:lnTo>
                  <a:pt x="204787" y="547782"/>
                </a:lnTo>
                <a:lnTo>
                  <a:pt x="529875" y="358568"/>
                </a:lnTo>
                <a:cubicBezTo>
                  <a:pt x="545496" y="401573"/>
                  <a:pt x="562260" y="449627"/>
                  <a:pt x="580358" y="503348"/>
                </a:cubicBezTo>
                <a:cubicBezTo>
                  <a:pt x="586501" y="521541"/>
                  <a:pt x="581120" y="541924"/>
                  <a:pt x="566642" y="554545"/>
                </a:cubicBezTo>
                <a:close/>
                <a:moveTo>
                  <a:pt x="295227" y="1476"/>
                </a:moveTo>
                <a:cubicBezTo>
                  <a:pt x="363712" y="9096"/>
                  <a:pt x="415861" y="58912"/>
                  <a:pt x="508730" y="301990"/>
                </a:cubicBezTo>
                <a:lnTo>
                  <a:pt x="200596" y="481298"/>
                </a:lnTo>
                <a:lnTo>
                  <a:pt x="138112" y="481298"/>
                </a:lnTo>
                <a:cubicBezTo>
                  <a:pt x="61912" y="481298"/>
                  <a:pt x="0" y="419385"/>
                  <a:pt x="0" y="343185"/>
                </a:cubicBezTo>
                <a:lnTo>
                  <a:pt x="0" y="319373"/>
                </a:lnTo>
                <a:cubicBezTo>
                  <a:pt x="0" y="290798"/>
                  <a:pt x="14287" y="266985"/>
                  <a:pt x="38100" y="257460"/>
                </a:cubicBezTo>
                <a:lnTo>
                  <a:pt x="271462" y="138398"/>
                </a:lnTo>
                <a:lnTo>
                  <a:pt x="271462" y="24098"/>
                </a:lnTo>
                <a:cubicBezTo>
                  <a:pt x="271462" y="10953"/>
                  <a:pt x="282178" y="0"/>
                  <a:pt x="295275" y="1476"/>
                </a:cubicBezTo>
                <a:close/>
                <a:moveTo>
                  <a:pt x="860488" y="537543"/>
                </a:moveTo>
                <a:lnTo>
                  <a:pt x="931354" y="445103"/>
                </a:lnTo>
                <a:cubicBezTo>
                  <a:pt x="947589" y="425033"/>
                  <a:pt x="976857" y="421551"/>
                  <a:pt x="997348" y="437251"/>
                </a:cubicBezTo>
                <a:cubicBezTo>
                  <a:pt x="1017838" y="452951"/>
                  <a:pt x="1022090" y="482118"/>
                  <a:pt x="1006935" y="503015"/>
                </a:cubicBezTo>
                <a:lnTo>
                  <a:pt x="937879" y="593121"/>
                </a:lnTo>
                <a:lnTo>
                  <a:pt x="1035843" y="593121"/>
                </a:lnTo>
                <a:cubicBezTo>
                  <a:pt x="1074705" y="593121"/>
                  <a:pt x="1097756" y="624840"/>
                  <a:pt x="1097756" y="655034"/>
                </a:cubicBezTo>
                <a:lnTo>
                  <a:pt x="1097756" y="801481"/>
                </a:lnTo>
                <a:lnTo>
                  <a:pt x="889396" y="801481"/>
                </a:lnTo>
                <a:lnTo>
                  <a:pt x="889396" y="599074"/>
                </a:lnTo>
                <a:lnTo>
                  <a:pt x="829865" y="599074"/>
                </a:lnTo>
                <a:lnTo>
                  <a:pt x="829865" y="801481"/>
                </a:lnTo>
                <a:lnTo>
                  <a:pt x="616743" y="801481"/>
                </a:lnTo>
                <a:lnTo>
                  <a:pt x="616743" y="655034"/>
                </a:lnTo>
                <a:cubicBezTo>
                  <a:pt x="616743" y="616172"/>
                  <a:pt x="648462" y="593121"/>
                  <a:pt x="678656" y="593121"/>
                </a:cubicBezTo>
                <a:lnTo>
                  <a:pt x="783145" y="593121"/>
                </a:lnTo>
                <a:lnTo>
                  <a:pt x="716470" y="502205"/>
                </a:lnTo>
                <a:cubicBezTo>
                  <a:pt x="701968" y="480997"/>
                  <a:pt x="706902" y="452109"/>
                  <a:pt x="727621" y="436916"/>
                </a:cubicBezTo>
                <a:cubicBezTo>
                  <a:pt x="748340" y="421724"/>
                  <a:pt x="777375" y="425704"/>
                  <a:pt x="793242" y="445912"/>
                </a:cubicBezTo>
                <a:close/>
                <a:moveTo>
                  <a:pt x="616743" y="1012221"/>
                </a:moveTo>
                <a:lnTo>
                  <a:pt x="616743" y="861012"/>
                </a:lnTo>
                <a:lnTo>
                  <a:pt x="829865" y="861012"/>
                </a:lnTo>
                <a:lnTo>
                  <a:pt x="829865" y="1074134"/>
                </a:lnTo>
                <a:lnTo>
                  <a:pt x="678656" y="1074134"/>
                </a:lnTo>
                <a:cubicBezTo>
                  <a:pt x="639794" y="1074134"/>
                  <a:pt x="616743" y="1042416"/>
                  <a:pt x="616743" y="1012221"/>
                </a:cubicBezTo>
                <a:close/>
                <a:moveTo>
                  <a:pt x="889396" y="1045559"/>
                </a:moveTo>
                <a:lnTo>
                  <a:pt x="889396" y="861012"/>
                </a:lnTo>
                <a:lnTo>
                  <a:pt x="1097756" y="861012"/>
                </a:lnTo>
                <a:lnTo>
                  <a:pt x="1097756" y="1012221"/>
                </a:lnTo>
                <a:cubicBezTo>
                  <a:pt x="1097756" y="1051083"/>
                  <a:pt x="1066038" y="1074134"/>
                  <a:pt x="1035843" y="1074134"/>
                </a:cubicBezTo>
                <a:lnTo>
                  <a:pt x="889396" y="1074134"/>
                </a:lnTo>
                <a:close/>
              </a:path>
            </a:pathLst>
          </a:custGeom>
          <a:solidFill>
            <a:srgbClr val="484848"/>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9" name="Rounded Rectangle 12"/>
          <p:cNvSpPr/>
          <p:nvPr/>
        </p:nvSpPr>
        <p:spPr>
          <a:xfrm>
            <a:off x="7510463" y="1752917"/>
            <a:ext cx="1163368" cy="939641"/>
          </a:xfrm>
          <a:custGeom>
            <a:avLst/>
            <a:gdLst/>
            <a:ahLst/>
            <a:cxnLst/>
            <a:rect l="0" t="0" r="0" b="0"/>
            <a:pathLst>
              <a:path w="1163368" h="939641">
                <a:moveTo>
                  <a:pt x="738187" y="570547"/>
                </a:moveTo>
                <a:cubicBezTo>
                  <a:pt x="738187" y="774392"/>
                  <a:pt x="572938" y="939641"/>
                  <a:pt x="369093" y="939641"/>
                </a:cubicBezTo>
                <a:cubicBezTo>
                  <a:pt x="165248" y="939641"/>
                  <a:pt x="0" y="774392"/>
                  <a:pt x="0" y="570547"/>
                </a:cubicBezTo>
                <a:cubicBezTo>
                  <a:pt x="0" y="366702"/>
                  <a:pt x="165248" y="201453"/>
                  <a:pt x="369093" y="201453"/>
                </a:cubicBezTo>
                <a:cubicBezTo>
                  <a:pt x="378454" y="200978"/>
                  <a:pt x="387832" y="200978"/>
                  <a:pt x="397192" y="201453"/>
                </a:cubicBezTo>
                <a:cubicBezTo>
                  <a:pt x="419209" y="201877"/>
                  <a:pt x="439194" y="214419"/>
                  <a:pt x="449149" y="234062"/>
                </a:cubicBezTo>
                <a:cubicBezTo>
                  <a:pt x="459104" y="253704"/>
                  <a:pt x="457402" y="277237"/>
                  <a:pt x="444726" y="295243"/>
                </a:cubicBezTo>
                <a:cubicBezTo>
                  <a:pt x="432049" y="313250"/>
                  <a:pt x="410468" y="322787"/>
                  <a:pt x="388620" y="320040"/>
                </a:cubicBezTo>
                <a:lnTo>
                  <a:pt x="369093" y="320040"/>
                </a:lnTo>
                <a:cubicBezTo>
                  <a:pt x="262769" y="320174"/>
                  <a:pt x="168159" y="387537"/>
                  <a:pt x="133244" y="487966"/>
                </a:cubicBezTo>
                <a:cubicBezTo>
                  <a:pt x="98329" y="588394"/>
                  <a:pt x="130747" y="699920"/>
                  <a:pt x="214058" y="765983"/>
                </a:cubicBezTo>
                <a:cubicBezTo>
                  <a:pt x="297368" y="832045"/>
                  <a:pt x="413347" y="838194"/>
                  <a:pt x="503176" y="781311"/>
                </a:cubicBezTo>
                <a:cubicBezTo>
                  <a:pt x="593005" y="724427"/>
                  <a:pt x="637034" y="616955"/>
                  <a:pt x="612933" y="513397"/>
                </a:cubicBezTo>
                <a:cubicBezTo>
                  <a:pt x="608097" y="482536"/>
                  <a:pt x="627938" y="453185"/>
                  <a:pt x="658378" y="446170"/>
                </a:cubicBezTo>
                <a:cubicBezTo>
                  <a:pt x="688818" y="439155"/>
                  <a:pt x="719504" y="456862"/>
                  <a:pt x="728662" y="486727"/>
                </a:cubicBezTo>
                <a:cubicBezTo>
                  <a:pt x="734973" y="514221"/>
                  <a:pt x="738168" y="542338"/>
                  <a:pt x="738187" y="570547"/>
                </a:cubicBezTo>
                <a:close/>
                <a:moveTo>
                  <a:pt x="890111" y="219551"/>
                </a:moveTo>
                <a:cubicBezTo>
                  <a:pt x="1060107" y="277889"/>
                  <a:pt x="1163368" y="450194"/>
                  <a:pt x="1134661" y="627614"/>
                </a:cubicBezTo>
                <a:cubicBezTo>
                  <a:pt x="1105954" y="805034"/>
                  <a:pt x="953624" y="935983"/>
                  <a:pt x="773906" y="937736"/>
                </a:cubicBezTo>
                <a:cubicBezTo>
                  <a:pt x="764546" y="938210"/>
                  <a:pt x="755167" y="938210"/>
                  <a:pt x="745807" y="937736"/>
                </a:cubicBezTo>
                <a:cubicBezTo>
                  <a:pt x="730044" y="936761"/>
                  <a:pt x="715328" y="929513"/>
                  <a:pt x="704947" y="917610"/>
                </a:cubicBezTo>
                <a:cubicBezTo>
                  <a:pt x="694567" y="905708"/>
                  <a:pt x="689386" y="890144"/>
                  <a:pt x="690562" y="874395"/>
                </a:cubicBezTo>
                <a:cubicBezTo>
                  <a:pt x="693587" y="841983"/>
                  <a:pt x="721902" y="817894"/>
                  <a:pt x="754379" y="820102"/>
                </a:cubicBezTo>
                <a:lnTo>
                  <a:pt x="773906" y="820102"/>
                </a:lnTo>
                <a:cubicBezTo>
                  <a:pt x="911994" y="820102"/>
                  <a:pt x="1023937" y="708159"/>
                  <a:pt x="1023937" y="570071"/>
                </a:cubicBezTo>
                <a:cubicBezTo>
                  <a:pt x="1023937" y="431982"/>
                  <a:pt x="911994" y="320040"/>
                  <a:pt x="773906" y="320040"/>
                </a:cubicBezTo>
                <a:cubicBezTo>
                  <a:pt x="635817" y="320040"/>
                  <a:pt x="523874" y="431982"/>
                  <a:pt x="523874" y="570071"/>
                </a:cubicBezTo>
                <a:cubicBezTo>
                  <a:pt x="523870" y="589972"/>
                  <a:pt x="526268" y="609800"/>
                  <a:pt x="531018" y="629126"/>
                </a:cubicBezTo>
                <a:cubicBezTo>
                  <a:pt x="538777" y="661083"/>
                  <a:pt x="519161" y="693280"/>
                  <a:pt x="487203" y="701040"/>
                </a:cubicBezTo>
                <a:cubicBezTo>
                  <a:pt x="455246" y="708799"/>
                  <a:pt x="423049" y="689182"/>
                  <a:pt x="415289" y="657225"/>
                </a:cubicBezTo>
                <a:cubicBezTo>
                  <a:pt x="408260" y="628709"/>
                  <a:pt x="404741" y="599441"/>
                  <a:pt x="404812" y="570071"/>
                </a:cubicBezTo>
                <a:cubicBezTo>
                  <a:pt x="404875" y="412380"/>
                  <a:pt x="504863" y="272052"/>
                  <a:pt x="653891" y="220503"/>
                </a:cubicBezTo>
                <a:cubicBezTo>
                  <a:pt x="657591" y="219475"/>
                  <a:pt x="660482" y="216583"/>
                  <a:pt x="661511" y="212883"/>
                </a:cubicBezTo>
                <a:cubicBezTo>
                  <a:pt x="663374" y="209470"/>
                  <a:pt x="663374" y="205343"/>
                  <a:pt x="661511" y="201929"/>
                </a:cubicBezTo>
                <a:lnTo>
                  <a:pt x="593883" y="114300"/>
                </a:lnTo>
                <a:cubicBezTo>
                  <a:pt x="587096" y="108245"/>
                  <a:pt x="583214" y="99582"/>
                  <a:pt x="583214" y="90487"/>
                </a:cubicBezTo>
                <a:cubicBezTo>
                  <a:pt x="583214" y="81392"/>
                  <a:pt x="587096" y="72729"/>
                  <a:pt x="593883" y="66675"/>
                </a:cubicBezTo>
                <a:lnTo>
                  <a:pt x="661034" y="8096"/>
                </a:lnTo>
                <a:cubicBezTo>
                  <a:pt x="666784" y="2908"/>
                  <a:pt x="674245" y="25"/>
                  <a:pt x="681989" y="0"/>
                </a:cubicBezTo>
                <a:lnTo>
                  <a:pt x="865822" y="0"/>
                </a:lnTo>
                <a:cubicBezTo>
                  <a:pt x="873566" y="25"/>
                  <a:pt x="881028" y="2908"/>
                  <a:pt x="886777" y="8096"/>
                </a:cubicBezTo>
                <a:lnTo>
                  <a:pt x="952499" y="66198"/>
                </a:lnTo>
                <a:cubicBezTo>
                  <a:pt x="959287" y="72252"/>
                  <a:pt x="963168" y="80916"/>
                  <a:pt x="963168" y="90011"/>
                </a:cubicBezTo>
                <a:cubicBezTo>
                  <a:pt x="963168" y="99106"/>
                  <a:pt x="959287" y="107769"/>
                  <a:pt x="952499" y="113823"/>
                </a:cubicBezTo>
                <a:lnTo>
                  <a:pt x="882490" y="200977"/>
                </a:lnTo>
                <a:cubicBezTo>
                  <a:pt x="880871" y="204282"/>
                  <a:pt x="880871" y="208150"/>
                  <a:pt x="882490" y="211454"/>
                </a:cubicBezTo>
                <a:cubicBezTo>
                  <a:pt x="883833" y="215071"/>
                  <a:pt x="886582" y="217992"/>
                  <a:pt x="890110" y="219551"/>
                </a:cubicBezTo>
                <a:close/>
              </a:path>
            </a:pathLst>
          </a:custGeom>
          <a:solidFill>
            <a:srgbClr val="484848"/>
          </a:solid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0" name="TextBox 14"/>
          <p:cNvSpPr txBox="1"/>
          <p:nvPr/>
        </p:nvSpPr>
        <p:spPr>
          <a:xfrm>
            <a:off x="3537612" y="3141275"/>
            <a:ext cx="852798"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FFFFFF"/>
                </a:solidFill>
              </a:rPr>
              <a:t>Relatives</a:t>
            </a:r>
          </a:p>
        </p:txBody>
      </p:sp>
      <p:sp>
        <p:nvSpPr>
          <p:cNvPr id="11" name="TextBox 15"/>
          <p:cNvSpPr txBox="1"/>
          <p:nvPr/>
        </p:nvSpPr>
        <p:spPr>
          <a:xfrm>
            <a:off x="5243262" y="3100793"/>
            <a:ext cx="1584031" cy="553998"/>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FFFFFF"/>
                </a:solidFill>
              </a:rPr>
              <a:t>Friends</a:t>
            </a:r>
            <a:r>
              <a:rPr lang="en-US" b="1" dirty="0">
                <a:solidFill>
                  <a:srgbClr val="FFFFFF"/>
                </a:solidFill>
              </a:rPr>
              <a:t> or </a:t>
            </a:r>
            <a:r>
              <a:rPr b="1" dirty="0">
                <a:solidFill>
                  <a:srgbClr val="FFFFFF"/>
                </a:solidFill>
              </a:rPr>
              <a:t>Others</a:t>
            </a:r>
          </a:p>
        </p:txBody>
      </p:sp>
      <p:sp>
        <p:nvSpPr>
          <p:cNvPr id="12" name="TextBox 16"/>
          <p:cNvSpPr txBox="1"/>
          <p:nvPr/>
        </p:nvSpPr>
        <p:spPr>
          <a:xfrm>
            <a:off x="7136695" y="3100366"/>
            <a:ext cx="1910904" cy="553998"/>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1" dirty="0">
                <a:solidFill>
                  <a:srgbClr val="FFFFFF"/>
                </a:solidFill>
              </a:rPr>
              <a:t>Marriage</a:t>
            </a:r>
            <a:r>
              <a:rPr lang="en-US" b="1" dirty="0">
                <a:solidFill>
                  <a:srgbClr val="FFFFFF"/>
                </a:solidFill>
              </a:rPr>
              <a:t> or </a:t>
            </a:r>
            <a:r>
              <a:rPr b="1" dirty="0">
                <a:solidFill>
                  <a:srgbClr val="FFFFFF"/>
                </a:solidFill>
              </a:rPr>
              <a:t>Inheritance</a:t>
            </a:r>
          </a:p>
        </p:txBody>
      </p:sp>
      <p:sp>
        <p:nvSpPr>
          <p:cNvPr id="13" name="TextBox 17"/>
          <p:cNvSpPr txBox="1"/>
          <p:nvPr/>
        </p:nvSpPr>
        <p:spPr>
          <a:xfrm>
            <a:off x="3216857" y="3654364"/>
            <a:ext cx="1510135" cy="830997"/>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Gifts received</a:t>
            </a:r>
            <a:r>
              <a:rPr lang="en-US" b="0" dirty="0">
                <a:solidFill>
                  <a:srgbClr val="FFFFFF"/>
                </a:solidFill>
              </a:rPr>
              <a:t> </a:t>
            </a:r>
            <a:r>
              <a:rPr b="0" dirty="0">
                <a:solidFill>
                  <a:srgbClr val="FFFFFF"/>
                </a:solidFill>
              </a:rPr>
              <a:t>from</a:t>
            </a:r>
            <a:r>
              <a:rPr lang="en-US" dirty="0">
                <a:solidFill>
                  <a:srgbClr val="FFFFFF"/>
                </a:solidFill>
              </a:rPr>
              <a:t> </a:t>
            </a:r>
            <a:r>
              <a:rPr b="0" dirty="0">
                <a:solidFill>
                  <a:srgbClr val="FFFFFF"/>
                </a:solidFill>
              </a:rPr>
              <a:t>relatives</a:t>
            </a:r>
            <a:r>
              <a:rPr lang="en-US" b="0" dirty="0">
                <a:solidFill>
                  <a:srgbClr val="FFFFFF"/>
                </a:solidFill>
              </a:rPr>
              <a:t> </a:t>
            </a:r>
            <a:r>
              <a:rPr b="0" dirty="0">
                <a:solidFill>
                  <a:srgbClr val="FFFFFF"/>
                </a:solidFill>
              </a:rPr>
              <a:t>are not</a:t>
            </a:r>
            <a:r>
              <a:rPr lang="en-US" dirty="0">
                <a:solidFill>
                  <a:srgbClr val="FFFFFF"/>
                </a:solidFill>
              </a:rPr>
              <a:t> </a:t>
            </a:r>
            <a:r>
              <a:rPr b="0" dirty="0">
                <a:solidFill>
                  <a:srgbClr val="FFFFFF"/>
                </a:solidFill>
              </a:rPr>
              <a:t>taxable.</a:t>
            </a:r>
          </a:p>
        </p:txBody>
      </p:sp>
      <p:sp>
        <p:nvSpPr>
          <p:cNvPr id="14" name="TextBox 18"/>
          <p:cNvSpPr txBox="1"/>
          <p:nvPr/>
        </p:nvSpPr>
        <p:spPr>
          <a:xfrm>
            <a:off x="5243262" y="3654364"/>
            <a:ext cx="1584031" cy="1384995"/>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Gifts from</a:t>
            </a:r>
            <a:r>
              <a:rPr lang="en-US" b="0" dirty="0">
                <a:solidFill>
                  <a:srgbClr val="FFFFFF"/>
                </a:solidFill>
              </a:rPr>
              <a:t> </a:t>
            </a:r>
            <a:r>
              <a:rPr b="0" dirty="0">
                <a:solidFill>
                  <a:srgbClr val="FFFFFF"/>
                </a:solidFill>
              </a:rPr>
              <a:t>friends or</a:t>
            </a:r>
            <a:r>
              <a:rPr lang="en-US" b="0" dirty="0">
                <a:solidFill>
                  <a:srgbClr val="FFFFFF"/>
                </a:solidFill>
              </a:rPr>
              <a:t> </a:t>
            </a:r>
            <a:r>
              <a:rPr b="0" dirty="0">
                <a:solidFill>
                  <a:srgbClr val="FFFFFF"/>
                </a:solidFill>
              </a:rPr>
              <a:t>others are</a:t>
            </a:r>
            <a:r>
              <a:rPr lang="en-US" b="0" dirty="0">
                <a:solidFill>
                  <a:srgbClr val="FFFFFF"/>
                </a:solidFill>
              </a:rPr>
              <a:t> </a:t>
            </a:r>
            <a:r>
              <a:rPr b="0" dirty="0">
                <a:solidFill>
                  <a:srgbClr val="FFFFFF"/>
                </a:solidFill>
              </a:rPr>
              <a:t>taxable if</a:t>
            </a:r>
            <a:r>
              <a:rPr lang="en-US" b="0" dirty="0">
                <a:solidFill>
                  <a:srgbClr val="FFFFFF"/>
                </a:solidFill>
              </a:rPr>
              <a:t> </a:t>
            </a:r>
            <a:r>
              <a:rPr b="0" dirty="0">
                <a:solidFill>
                  <a:srgbClr val="FFFFFF"/>
                </a:solidFill>
              </a:rPr>
              <a:t>the</a:t>
            </a:r>
            <a:r>
              <a:rPr lang="en-US" b="0" dirty="0">
                <a:solidFill>
                  <a:srgbClr val="FFFFFF"/>
                </a:solidFill>
              </a:rPr>
              <a:t> </a:t>
            </a:r>
            <a:r>
              <a:rPr b="0" dirty="0">
                <a:solidFill>
                  <a:srgbClr val="FFFFFF"/>
                </a:solidFill>
              </a:rPr>
              <a:t>value exceeds</a:t>
            </a:r>
            <a:r>
              <a:rPr lang="en-US" b="0" dirty="0">
                <a:solidFill>
                  <a:srgbClr val="FFFFFF"/>
                </a:solidFill>
              </a:rPr>
              <a:t> </a:t>
            </a:r>
            <a:r>
              <a:rPr b="0" dirty="0">
                <a:solidFill>
                  <a:srgbClr val="FFFFFF"/>
                </a:solidFill>
              </a:rPr>
              <a:t>₹50,000.</a:t>
            </a:r>
          </a:p>
        </p:txBody>
      </p:sp>
      <p:sp>
        <p:nvSpPr>
          <p:cNvPr id="15" name="TextBox 19"/>
          <p:cNvSpPr txBox="1"/>
          <p:nvPr/>
        </p:nvSpPr>
        <p:spPr>
          <a:xfrm>
            <a:off x="7326312" y="3732130"/>
            <a:ext cx="1511301" cy="1384995"/>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rPr>
              <a:t>Gifts received</a:t>
            </a:r>
            <a:r>
              <a:rPr lang="en-US" b="0" dirty="0">
                <a:solidFill>
                  <a:srgbClr val="FFFFFF"/>
                </a:solidFill>
              </a:rPr>
              <a:t> </a:t>
            </a:r>
            <a:r>
              <a:rPr b="0" dirty="0">
                <a:solidFill>
                  <a:srgbClr val="FFFFFF"/>
                </a:solidFill>
              </a:rPr>
              <a:t>on</a:t>
            </a:r>
            <a:r>
              <a:rPr lang="en-US" dirty="0">
                <a:solidFill>
                  <a:srgbClr val="FFFFFF"/>
                </a:solidFill>
              </a:rPr>
              <a:t> </a:t>
            </a:r>
            <a:r>
              <a:rPr b="0" dirty="0">
                <a:solidFill>
                  <a:srgbClr val="FFFFFF"/>
                </a:solidFill>
              </a:rPr>
              <a:t>marriage or</a:t>
            </a:r>
            <a:r>
              <a:rPr lang="en-US" b="0" dirty="0">
                <a:solidFill>
                  <a:srgbClr val="FFFFFF"/>
                </a:solidFill>
              </a:rPr>
              <a:t> </a:t>
            </a:r>
            <a:r>
              <a:rPr b="0" dirty="0">
                <a:solidFill>
                  <a:srgbClr val="FFFFFF"/>
                </a:solidFill>
              </a:rPr>
              <a:t>through</a:t>
            </a:r>
            <a:r>
              <a:rPr lang="en-US" dirty="0">
                <a:solidFill>
                  <a:srgbClr val="FFFFFF"/>
                </a:solidFill>
              </a:rPr>
              <a:t> </a:t>
            </a:r>
            <a:r>
              <a:rPr b="0" dirty="0">
                <a:solidFill>
                  <a:srgbClr val="FFFFFF"/>
                </a:solidFill>
              </a:rPr>
              <a:t>inheritance are</a:t>
            </a:r>
            <a:r>
              <a:rPr lang="en-US" b="0" dirty="0">
                <a:solidFill>
                  <a:srgbClr val="FFFFFF"/>
                </a:solidFill>
              </a:rPr>
              <a:t> </a:t>
            </a:r>
            <a:r>
              <a:rPr b="0" dirty="0">
                <a:solidFill>
                  <a:srgbClr val="FFFFFF"/>
                </a:solidFill>
              </a:rPr>
              <a:t>not</a:t>
            </a:r>
            <a:r>
              <a:rPr lang="en-US" dirty="0">
                <a:solidFill>
                  <a:srgbClr val="FFFFFF"/>
                </a:solidFill>
              </a:rPr>
              <a:t> </a:t>
            </a:r>
            <a:r>
              <a:rPr b="0" dirty="0">
                <a:solidFill>
                  <a:srgbClr val="FFFFFF"/>
                </a:solidFill>
              </a:rPr>
              <a:t>taxable.</a:t>
            </a:r>
          </a:p>
        </p:txBody>
      </p:sp>
      <p:sp>
        <p:nvSpPr>
          <p:cNvPr id="16" name="TextBox 20"/>
          <p:cNvSpPr txBox="1"/>
          <p:nvPr/>
        </p:nvSpPr>
        <p:spPr>
          <a:xfrm>
            <a:off x="3913415" y="5620463"/>
            <a:ext cx="117020"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800" b="1" dirty="0">
                <a:solidFill>
                  <a:srgbClr val="FFFFFF"/>
                </a:solidFill>
              </a:rPr>
              <a:t>1</a:t>
            </a:r>
          </a:p>
        </p:txBody>
      </p:sp>
      <p:sp>
        <p:nvSpPr>
          <p:cNvPr id="17" name="TextBox 21"/>
          <p:cNvSpPr txBox="1"/>
          <p:nvPr/>
        </p:nvSpPr>
        <p:spPr>
          <a:xfrm>
            <a:off x="5970815" y="5620463"/>
            <a:ext cx="117020"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800" b="1">
                <a:solidFill>
                  <a:srgbClr val="FFFFFF"/>
                </a:solidFill>
              </a:rPr>
              <a:t>2</a:t>
            </a:r>
          </a:p>
        </p:txBody>
      </p:sp>
      <p:sp>
        <p:nvSpPr>
          <p:cNvPr id="18" name="TextBox 22"/>
          <p:cNvSpPr txBox="1"/>
          <p:nvPr/>
        </p:nvSpPr>
        <p:spPr>
          <a:xfrm>
            <a:off x="8028215" y="5620463"/>
            <a:ext cx="117020"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800" b="1">
                <a:solidFill>
                  <a:srgbClr val="FFFFFF"/>
                </a:solidFill>
              </a:rPr>
              <a:t>3</a:t>
            </a:r>
          </a:p>
        </p:txBody>
      </p:sp>
    </p:spTree>
    <p:extLst>
      <p:ext uri="{BB962C8B-B14F-4D97-AF65-F5344CB8AC3E}">
        <p14:creationId xmlns:p14="http://schemas.microsoft.com/office/powerpoint/2010/main" val="140745749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1180" y="863445"/>
            <a:ext cx="11929641" cy="711200"/>
          </a:xfrm>
        </p:spPr>
        <p:txBody>
          <a:bodyPr/>
          <a:lstStyle/>
          <a:p>
            <a:r>
              <a:rPr lang="en-US" dirty="0">
                <a:cs typeface="Times New Roman" panose="02020603050405020304" pitchFamily="18" charset="0"/>
              </a:rPr>
              <a:t>Raj won ₹1,00,000 in a Diwali lucky draw and ₹50,000 in a TV quiz show</a:t>
            </a:r>
          </a:p>
        </p:txBody>
      </p:sp>
      <p:sp>
        <p:nvSpPr>
          <p:cNvPr id="2" name="Title 1"/>
          <p:cNvSpPr>
            <a:spLocks noGrp="1"/>
          </p:cNvSpPr>
          <p:nvPr>
            <p:ph type="title"/>
          </p:nvPr>
        </p:nvSpPr>
        <p:spPr/>
        <p:txBody>
          <a:bodyPr>
            <a:normAutofit/>
          </a:bodyPr>
          <a:lstStyle/>
          <a:p>
            <a:r>
              <a:rPr lang="en-US" b="1" dirty="0">
                <a:latin typeface="+mn-lt"/>
                <a:cs typeface="Times New Roman" panose="02020603050405020304" pitchFamily="18" charset="0"/>
              </a:rPr>
              <a:t>Example</a:t>
            </a:r>
            <a:r>
              <a:rPr lang="en-US" dirty="0">
                <a:latin typeface="+mn-lt"/>
                <a:cs typeface="Times New Roman" panose="02020603050405020304" pitchFamily="18" charset="0"/>
              </a:rPr>
              <a:t> </a:t>
            </a:r>
            <a:r>
              <a:rPr lang="en-US" b="1" dirty="0">
                <a:latin typeface="+mn-lt"/>
                <a:cs typeface="Times New Roman" panose="02020603050405020304" pitchFamily="18" charset="0"/>
              </a:rPr>
              <a:t>1</a:t>
            </a:r>
          </a:p>
        </p:txBody>
      </p:sp>
      <p:sp>
        <p:nvSpPr>
          <p:cNvPr id="4" name="Title 1"/>
          <p:cNvSpPr txBox="1">
            <a:spLocks/>
          </p:cNvSpPr>
          <p:nvPr/>
        </p:nvSpPr>
        <p:spPr>
          <a:xfrm>
            <a:off x="838200" y="1448594"/>
            <a:ext cx="10515600" cy="5565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latin typeface="+mn-lt"/>
                <a:cs typeface="Times New Roman" panose="02020603050405020304" pitchFamily="18" charset="0"/>
              </a:rPr>
              <a:t>Computation of income from other sources:</a:t>
            </a:r>
          </a:p>
        </p:txBody>
      </p:sp>
      <p:graphicFrame>
        <p:nvGraphicFramePr>
          <p:cNvPr id="5" name="Table 4"/>
          <p:cNvGraphicFramePr>
            <a:graphicFrameLocks noGrp="1"/>
          </p:cNvGraphicFramePr>
          <p:nvPr>
            <p:extLst>
              <p:ext uri="{D42A27DB-BD31-4B8C-83A1-F6EECF244321}">
                <p14:modId xmlns:p14="http://schemas.microsoft.com/office/powerpoint/2010/main" val="60399530"/>
              </p:ext>
            </p:extLst>
          </p:nvPr>
        </p:nvGraphicFramePr>
        <p:xfrm>
          <a:off x="2032000" y="2087969"/>
          <a:ext cx="8128000" cy="2415070"/>
        </p:xfrm>
        <a:graphic>
          <a:graphicData uri="http://schemas.openxmlformats.org/drawingml/2006/table">
            <a:tbl>
              <a:tblPr firstRow="1" bandRow="1">
                <a:tableStyleId>{F5AB1C69-6EDB-4FF4-983F-18BD219EF322}</a:tableStyleId>
              </a:tblPr>
              <a:tblGrid>
                <a:gridCol w="4859130">
                  <a:extLst>
                    <a:ext uri="{9D8B030D-6E8A-4147-A177-3AD203B41FA5}">
                      <a16:colId xmlns:a16="http://schemas.microsoft.com/office/drawing/2014/main" val="20000"/>
                    </a:ext>
                  </a:extLst>
                </a:gridCol>
                <a:gridCol w="3268870">
                  <a:extLst>
                    <a:ext uri="{9D8B030D-6E8A-4147-A177-3AD203B41FA5}">
                      <a16:colId xmlns:a16="http://schemas.microsoft.com/office/drawing/2014/main" val="20001"/>
                    </a:ext>
                  </a:extLst>
                </a:gridCol>
              </a:tblGrid>
              <a:tr h="483014">
                <a:tc>
                  <a:txBody>
                    <a:bodyPr/>
                    <a:lstStyle/>
                    <a:p>
                      <a:pPr algn="ctr"/>
                      <a:r>
                        <a:rPr lang="en-US" sz="2400" dirty="0"/>
                        <a:t>Particulars</a:t>
                      </a:r>
                      <a:endParaRPr lang="en-US"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t>Amount</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483014">
                <a:tc>
                  <a:txBody>
                    <a:bodyPr/>
                    <a:lstStyle/>
                    <a:p>
                      <a:pPr algn="l"/>
                      <a:r>
                        <a:rPr lang="en-US" sz="2400" dirty="0"/>
                        <a:t>Lottery Winnings</a:t>
                      </a:r>
                      <a:endParaRPr lang="en-US"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t>1,00,000</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483014">
                <a:tc>
                  <a:txBody>
                    <a:bodyPr/>
                    <a:lstStyle/>
                    <a:p>
                      <a:pPr algn="l"/>
                      <a:r>
                        <a:rPr lang="en-US" sz="2400" dirty="0"/>
                        <a:t>Quiz show Winning</a:t>
                      </a:r>
                      <a:endParaRPr lang="en-US"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t>50,000</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483014">
                <a:tc>
                  <a:txBody>
                    <a:bodyPr/>
                    <a:lstStyle/>
                    <a:p>
                      <a:pPr algn="ctr"/>
                      <a:r>
                        <a:rPr lang="en-US" sz="2400" b="1" dirty="0"/>
                        <a:t>Total Income from Other Sources</a:t>
                      </a:r>
                      <a:endParaRPr lang="en-US" sz="2400" b="1" dirty="0">
                        <a:latin typeface="Times New Roman" panose="02020603050405020304" pitchFamily="18" charset="0"/>
                        <a:cs typeface="Times New Roman" panose="02020603050405020304" pitchFamily="18" charset="0"/>
                      </a:endParaRPr>
                    </a:p>
                  </a:txBody>
                  <a:tcPr/>
                </a:tc>
                <a:tc>
                  <a:txBody>
                    <a:bodyPr/>
                    <a:lstStyle/>
                    <a:p>
                      <a:pPr algn="ctr"/>
                      <a:r>
                        <a:rPr lang="en-US" sz="2400" b="1" dirty="0"/>
                        <a:t>1,50,000</a:t>
                      </a:r>
                      <a:endParaRPr lang="en-US" sz="24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483014">
                <a:tc>
                  <a:txBody>
                    <a:bodyPr/>
                    <a:lstStyle/>
                    <a:p>
                      <a:pPr algn="l"/>
                      <a:r>
                        <a:rPr lang="en-US" sz="2400" dirty="0"/>
                        <a:t>Tax (30%)</a:t>
                      </a:r>
                      <a:endParaRPr lang="en-US"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t>45,000</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42705263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cs typeface="Times New Roman" panose="02020603050405020304" pitchFamily="18" charset="0"/>
              </a:rPr>
              <a:t>Suresh receives ₹1,20,000 per year as family pension after the death of his wife (a govt. employee).</a:t>
            </a:r>
          </a:p>
        </p:txBody>
      </p:sp>
      <p:sp>
        <p:nvSpPr>
          <p:cNvPr id="2" name="Title 1"/>
          <p:cNvSpPr>
            <a:spLocks noGrp="1"/>
          </p:cNvSpPr>
          <p:nvPr>
            <p:ph type="title"/>
          </p:nvPr>
        </p:nvSpPr>
        <p:spPr/>
        <p:txBody>
          <a:bodyPr>
            <a:normAutofit/>
          </a:bodyPr>
          <a:lstStyle/>
          <a:p>
            <a:r>
              <a:rPr lang="en-US" b="1" dirty="0">
                <a:cs typeface="Times New Roman" panose="02020603050405020304" pitchFamily="18" charset="0"/>
              </a:rPr>
              <a:t>Example</a:t>
            </a:r>
            <a:r>
              <a:rPr lang="en-US" dirty="0">
                <a:cs typeface="Times New Roman" panose="02020603050405020304" pitchFamily="18" charset="0"/>
              </a:rPr>
              <a:t> </a:t>
            </a:r>
            <a:r>
              <a:rPr lang="en-US" b="1" dirty="0">
                <a:cs typeface="Times New Roman" panose="02020603050405020304" pitchFamily="18" charset="0"/>
              </a:rPr>
              <a:t>2</a:t>
            </a:r>
          </a:p>
        </p:txBody>
      </p:sp>
      <p:sp>
        <p:nvSpPr>
          <p:cNvPr id="4" name="Title 1"/>
          <p:cNvSpPr txBox="1">
            <a:spLocks/>
          </p:cNvSpPr>
          <p:nvPr/>
        </p:nvSpPr>
        <p:spPr>
          <a:xfrm>
            <a:off x="838199" y="1934258"/>
            <a:ext cx="10515600" cy="5565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latin typeface="+mn-lt"/>
                <a:cs typeface="Times New Roman" panose="02020603050405020304" pitchFamily="18" charset="0"/>
              </a:rPr>
              <a:t>Computation of income from other sources:</a:t>
            </a:r>
          </a:p>
        </p:txBody>
      </p:sp>
      <p:graphicFrame>
        <p:nvGraphicFramePr>
          <p:cNvPr id="5" name="Table 4"/>
          <p:cNvGraphicFramePr>
            <a:graphicFrameLocks noGrp="1"/>
          </p:cNvGraphicFramePr>
          <p:nvPr>
            <p:extLst>
              <p:ext uri="{D42A27DB-BD31-4B8C-83A1-F6EECF244321}">
                <p14:modId xmlns:p14="http://schemas.microsoft.com/office/powerpoint/2010/main" val="841323523"/>
              </p:ext>
            </p:extLst>
          </p:nvPr>
        </p:nvGraphicFramePr>
        <p:xfrm>
          <a:off x="1744868" y="2643091"/>
          <a:ext cx="8702261" cy="2574095"/>
        </p:xfrm>
        <a:graphic>
          <a:graphicData uri="http://schemas.openxmlformats.org/drawingml/2006/table">
            <a:tbl>
              <a:tblPr firstRow="1" bandRow="1">
                <a:tableStyleId>{F5AB1C69-6EDB-4FF4-983F-18BD219EF322}</a:tableStyleId>
              </a:tblPr>
              <a:tblGrid>
                <a:gridCol w="5756763">
                  <a:extLst>
                    <a:ext uri="{9D8B030D-6E8A-4147-A177-3AD203B41FA5}">
                      <a16:colId xmlns:a16="http://schemas.microsoft.com/office/drawing/2014/main" val="20000"/>
                    </a:ext>
                  </a:extLst>
                </a:gridCol>
                <a:gridCol w="2945498">
                  <a:extLst>
                    <a:ext uri="{9D8B030D-6E8A-4147-A177-3AD203B41FA5}">
                      <a16:colId xmlns:a16="http://schemas.microsoft.com/office/drawing/2014/main" val="20001"/>
                    </a:ext>
                  </a:extLst>
                </a:gridCol>
              </a:tblGrid>
              <a:tr h="514819">
                <a:tc>
                  <a:txBody>
                    <a:bodyPr/>
                    <a:lstStyle/>
                    <a:p>
                      <a:pPr algn="ctr"/>
                      <a:r>
                        <a:rPr lang="en-US" sz="2400" dirty="0"/>
                        <a:t>Particulars</a:t>
                      </a:r>
                      <a:endParaRPr lang="en-US" sz="2400" dirty="0">
                        <a:latin typeface="+mn-lt"/>
                        <a:cs typeface="Times New Roman" panose="02020603050405020304" pitchFamily="18" charset="0"/>
                      </a:endParaRPr>
                    </a:p>
                  </a:txBody>
                  <a:tcPr/>
                </a:tc>
                <a:tc>
                  <a:txBody>
                    <a:bodyPr/>
                    <a:lstStyle/>
                    <a:p>
                      <a:pPr algn="ctr"/>
                      <a:r>
                        <a:rPr lang="en-US" sz="2400" dirty="0"/>
                        <a:t>Amount</a:t>
                      </a:r>
                      <a:endParaRPr lang="en-US" sz="2400" dirty="0">
                        <a:latin typeface="+mn-lt"/>
                        <a:cs typeface="Times New Roman" panose="02020603050405020304" pitchFamily="18" charset="0"/>
                      </a:endParaRPr>
                    </a:p>
                  </a:txBody>
                  <a:tcPr/>
                </a:tc>
                <a:extLst>
                  <a:ext uri="{0D108BD9-81ED-4DB2-BD59-A6C34878D82A}">
                    <a16:rowId xmlns:a16="http://schemas.microsoft.com/office/drawing/2014/main" val="10000"/>
                  </a:ext>
                </a:extLst>
              </a:tr>
              <a:tr h="514819">
                <a:tc>
                  <a:txBody>
                    <a:bodyPr/>
                    <a:lstStyle/>
                    <a:p>
                      <a:pPr algn="l"/>
                      <a:r>
                        <a:rPr lang="en-US" sz="2400" dirty="0"/>
                        <a:t>Family Pension Received</a:t>
                      </a:r>
                      <a:endParaRPr lang="en-US" sz="2400" dirty="0">
                        <a:latin typeface="+mn-lt"/>
                        <a:cs typeface="Times New Roman" panose="02020603050405020304" pitchFamily="18" charset="0"/>
                      </a:endParaRPr>
                    </a:p>
                  </a:txBody>
                  <a:tcPr/>
                </a:tc>
                <a:tc>
                  <a:txBody>
                    <a:bodyPr/>
                    <a:lstStyle/>
                    <a:p>
                      <a:pPr algn="ctr"/>
                      <a:r>
                        <a:rPr lang="en-US" sz="2400" dirty="0"/>
                        <a:t>1,20,000</a:t>
                      </a:r>
                      <a:endParaRPr lang="en-US" sz="2400" dirty="0">
                        <a:latin typeface="+mn-lt"/>
                        <a:cs typeface="Times New Roman" panose="02020603050405020304" pitchFamily="18" charset="0"/>
                      </a:endParaRPr>
                    </a:p>
                  </a:txBody>
                  <a:tcPr/>
                </a:tc>
                <a:extLst>
                  <a:ext uri="{0D108BD9-81ED-4DB2-BD59-A6C34878D82A}">
                    <a16:rowId xmlns:a16="http://schemas.microsoft.com/office/drawing/2014/main" val="10001"/>
                  </a:ext>
                </a:extLst>
              </a:tr>
              <a:tr h="514819">
                <a:tc>
                  <a:txBody>
                    <a:bodyPr/>
                    <a:lstStyle/>
                    <a:p>
                      <a:pPr algn="l"/>
                      <a:r>
                        <a:rPr lang="en-US" sz="2400" dirty="0"/>
                        <a:t>Less: Deduction (1/3 of pension or ₹15,000)</a:t>
                      </a:r>
                      <a:endParaRPr lang="en-US" sz="2400" dirty="0">
                        <a:latin typeface="+mn-lt"/>
                        <a:cs typeface="Times New Roman" panose="02020603050405020304" pitchFamily="18" charset="0"/>
                      </a:endParaRPr>
                    </a:p>
                  </a:txBody>
                  <a:tcPr/>
                </a:tc>
                <a:tc>
                  <a:txBody>
                    <a:bodyPr/>
                    <a:lstStyle/>
                    <a:p>
                      <a:pPr algn="ctr"/>
                      <a:r>
                        <a:rPr lang="en-US" sz="2400" dirty="0"/>
                        <a:t>15,000</a:t>
                      </a:r>
                      <a:endParaRPr lang="en-US" sz="2400" dirty="0">
                        <a:latin typeface="+mn-lt"/>
                        <a:cs typeface="Times New Roman" panose="02020603050405020304" pitchFamily="18" charset="0"/>
                      </a:endParaRPr>
                    </a:p>
                  </a:txBody>
                  <a:tcPr/>
                </a:tc>
                <a:extLst>
                  <a:ext uri="{0D108BD9-81ED-4DB2-BD59-A6C34878D82A}">
                    <a16:rowId xmlns:a16="http://schemas.microsoft.com/office/drawing/2014/main" val="10002"/>
                  </a:ext>
                </a:extLst>
              </a:tr>
              <a:tr h="514819">
                <a:tc>
                  <a:txBody>
                    <a:bodyPr/>
                    <a:lstStyle/>
                    <a:p>
                      <a:pPr algn="ctr"/>
                      <a:r>
                        <a:rPr lang="en-US" sz="2400" b="1" dirty="0"/>
                        <a:t>Taxable Family Pension</a:t>
                      </a:r>
                      <a:endParaRPr lang="en-US" sz="2400" b="1" dirty="0">
                        <a:latin typeface="+mn-lt"/>
                        <a:cs typeface="Times New Roman" panose="02020603050405020304" pitchFamily="18" charset="0"/>
                      </a:endParaRPr>
                    </a:p>
                  </a:txBody>
                  <a:tcPr/>
                </a:tc>
                <a:tc>
                  <a:txBody>
                    <a:bodyPr/>
                    <a:lstStyle/>
                    <a:p>
                      <a:pPr algn="ctr"/>
                      <a:r>
                        <a:rPr lang="en-US" sz="2400" b="1" dirty="0"/>
                        <a:t>1,05,000</a:t>
                      </a:r>
                      <a:endParaRPr lang="en-US" sz="2400" b="1" dirty="0">
                        <a:latin typeface="+mn-lt"/>
                        <a:cs typeface="Times New Roman" panose="02020603050405020304" pitchFamily="18" charset="0"/>
                      </a:endParaRPr>
                    </a:p>
                  </a:txBody>
                  <a:tcPr/>
                </a:tc>
                <a:extLst>
                  <a:ext uri="{0D108BD9-81ED-4DB2-BD59-A6C34878D82A}">
                    <a16:rowId xmlns:a16="http://schemas.microsoft.com/office/drawing/2014/main" val="10003"/>
                  </a:ext>
                </a:extLst>
              </a:tr>
              <a:tr h="514819">
                <a:tc>
                  <a:txBody>
                    <a:bodyPr/>
                    <a:lstStyle/>
                    <a:p>
                      <a:pPr algn="l"/>
                      <a:r>
                        <a:rPr lang="en-US" sz="2400" dirty="0"/>
                        <a:t>Tax (30%)</a:t>
                      </a:r>
                      <a:endParaRPr lang="en-US" sz="2400" dirty="0">
                        <a:latin typeface="+mn-lt"/>
                        <a:cs typeface="Times New Roman" panose="02020603050405020304" pitchFamily="18" charset="0"/>
                      </a:endParaRPr>
                    </a:p>
                  </a:txBody>
                  <a:tcPr/>
                </a:tc>
                <a:tc>
                  <a:txBody>
                    <a:bodyPr/>
                    <a:lstStyle/>
                    <a:p>
                      <a:pPr algn="ctr"/>
                      <a:r>
                        <a:rPr lang="en-US" sz="2400" dirty="0"/>
                        <a:t>15,750</a:t>
                      </a:r>
                      <a:endParaRPr lang="en-US" sz="2400" dirty="0">
                        <a:latin typeface="+mn-lt"/>
                        <a:cs typeface="Times New Roman" panose="02020603050405020304" pitchFamily="18" charset="0"/>
                      </a:endParaRP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57145545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C80D3-0D87-4E5F-2935-6C1EA16BCC59}"/>
              </a:ext>
            </a:extLst>
          </p:cNvPr>
          <p:cNvSpPr>
            <a:spLocks noGrp="1"/>
          </p:cNvSpPr>
          <p:nvPr>
            <p:ph type="title"/>
          </p:nvPr>
        </p:nvSpPr>
        <p:spPr/>
        <p:txBody>
          <a:bodyPr/>
          <a:lstStyle/>
          <a:p>
            <a:r>
              <a:rPr lang="en-US" dirty="0" err="1"/>
              <a:t>Assessees</a:t>
            </a:r>
            <a:r>
              <a:rPr lang="en-US" dirty="0"/>
              <a:t> Required to file Return of Income Compulsorily </a:t>
            </a:r>
          </a:p>
        </p:txBody>
      </p:sp>
    </p:spTree>
    <p:extLst>
      <p:ext uri="{BB962C8B-B14F-4D97-AF65-F5344CB8AC3E}">
        <p14:creationId xmlns:p14="http://schemas.microsoft.com/office/powerpoint/2010/main" val="103583443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D5105F42-0C97-5FB3-1071-EC3F1A5C8B75}"/>
              </a:ext>
            </a:extLst>
          </p:cNvPr>
          <p:cNvGraphicFramePr>
            <a:graphicFrameLocks noGrp="1"/>
          </p:cNvGraphicFramePr>
          <p:nvPr>
            <p:ph idx="4294967295"/>
            <p:extLst>
              <p:ext uri="{D42A27DB-BD31-4B8C-83A1-F6EECF244321}">
                <p14:modId xmlns:p14="http://schemas.microsoft.com/office/powerpoint/2010/main" val="3082385884"/>
              </p:ext>
            </p:extLst>
          </p:nvPr>
        </p:nvGraphicFramePr>
        <p:xfrm>
          <a:off x="0" y="633412"/>
          <a:ext cx="11928475" cy="5591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325ADA96-C8F5-0B50-9041-CEA30BB19E97}"/>
              </a:ext>
            </a:extLst>
          </p:cNvPr>
          <p:cNvSpPr txBox="1"/>
          <p:nvPr/>
        </p:nvSpPr>
        <p:spPr>
          <a:xfrm>
            <a:off x="630314" y="355107"/>
            <a:ext cx="870012" cy="769441"/>
          </a:xfrm>
          <a:prstGeom prst="rect">
            <a:avLst/>
          </a:prstGeom>
          <a:noFill/>
        </p:spPr>
        <p:txBody>
          <a:bodyPr wrap="square" rtlCol="0">
            <a:spAutoFit/>
          </a:bodyPr>
          <a:lstStyle/>
          <a:p>
            <a:r>
              <a:rPr lang="en-US" sz="4400" b="1" dirty="0"/>
              <a:t>01</a:t>
            </a:r>
          </a:p>
        </p:txBody>
      </p:sp>
    </p:spTree>
    <p:extLst>
      <p:ext uri="{BB962C8B-B14F-4D97-AF65-F5344CB8AC3E}">
        <p14:creationId xmlns:p14="http://schemas.microsoft.com/office/powerpoint/2010/main" val="196415841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2764972" y="1371601"/>
            <a:ext cx="6867331" cy="1475766"/>
            <a:chOff x="685725" y="1485900"/>
            <a:chExt cx="4114874" cy="914400"/>
          </a:xfrm>
          <a:solidFill>
            <a:schemeClr val="tx2"/>
          </a:solidFill>
        </p:grpSpPr>
        <p:sp>
          <p:nvSpPr>
            <p:cNvPr id="2" name="Rounded Rectangle 1"/>
            <p:cNvSpPr/>
            <p:nvPr/>
          </p:nvSpPr>
          <p:spPr>
            <a:xfrm>
              <a:off x="685725" y="1485900"/>
              <a:ext cx="4114874" cy="914400"/>
            </a:xfrm>
            <a:custGeom>
              <a:avLst/>
              <a:gdLst/>
              <a:ahLst/>
              <a:cxnLst/>
              <a:rect l="0" t="0" r="0" b="0"/>
              <a:pathLst>
                <a:path w="4114874" h="914400">
                  <a:moveTo>
                    <a:pt x="114374" y="447675"/>
                  </a:moveTo>
                  <a:lnTo>
                    <a:pt x="74" y="447675"/>
                  </a:lnTo>
                  <a:cubicBezTo>
                    <a:pt x="1407" y="324612"/>
                    <a:pt x="52176" y="213264"/>
                    <a:pt x="133900" y="132492"/>
                  </a:cubicBezTo>
                  <a:cubicBezTo>
                    <a:pt x="216577" y="50577"/>
                    <a:pt x="330877" y="0"/>
                    <a:pt x="457179" y="0"/>
                  </a:cubicBezTo>
                  <a:lnTo>
                    <a:pt x="3657579" y="0"/>
                  </a:lnTo>
                  <a:cubicBezTo>
                    <a:pt x="3908467" y="0"/>
                    <a:pt x="4112112" y="200025"/>
                    <a:pt x="4114683" y="447675"/>
                  </a:cubicBezTo>
                  <a:lnTo>
                    <a:pt x="799983" y="447675"/>
                  </a:lnTo>
                  <a:cubicBezTo>
                    <a:pt x="797412" y="262509"/>
                    <a:pt x="644916" y="113156"/>
                    <a:pt x="457179" y="113156"/>
                  </a:cubicBezTo>
                  <a:cubicBezTo>
                    <a:pt x="269441" y="113156"/>
                    <a:pt x="116946" y="262509"/>
                    <a:pt x="114374" y="447675"/>
                  </a:cubicBezTo>
                  <a:close/>
                  <a:moveTo>
                    <a:pt x="114377" y="457200"/>
                  </a:moveTo>
                  <a:lnTo>
                    <a:pt x="74" y="457200"/>
                  </a:lnTo>
                  <a:lnTo>
                    <a:pt x="74" y="447675"/>
                  </a:lnTo>
                  <a:lnTo>
                    <a:pt x="114377" y="447675"/>
                  </a:lnTo>
                  <a:close/>
                  <a:moveTo>
                    <a:pt x="4114874" y="457200"/>
                  </a:moveTo>
                  <a:lnTo>
                    <a:pt x="800192" y="457200"/>
                  </a:lnTo>
                  <a:lnTo>
                    <a:pt x="800192" y="447675"/>
                  </a:lnTo>
                  <a:lnTo>
                    <a:pt x="4114874" y="447675"/>
                  </a:lnTo>
                  <a:close/>
                  <a:moveTo>
                    <a:pt x="4114704" y="457200"/>
                  </a:moveTo>
                  <a:cubicBezTo>
                    <a:pt x="4114704" y="458819"/>
                    <a:pt x="4114800" y="460343"/>
                    <a:pt x="4114800" y="461962"/>
                  </a:cubicBezTo>
                  <a:cubicBezTo>
                    <a:pt x="4114800" y="587025"/>
                    <a:pt x="4063650" y="700087"/>
                    <a:pt x="3980878" y="781907"/>
                  </a:cubicBezTo>
                  <a:cubicBezTo>
                    <a:pt x="3898201" y="863822"/>
                    <a:pt x="3783901" y="914400"/>
                    <a:pt x="3657600" y="914400"/>
                  </a:cubicBezTo>
                  <a:lnTo>
                    <a:pt x="457200" y="914400"/>
                  </a:lnTo>
                  <a:cubicBezTo>
                    <a:pt x="204692" y="914400"/>
                    <a:pt x="0" y="711803"/>
                    <a:pt x="0" y="461962"/>
                  </a:cubicBezTo>
                  <a:cubicBezTo>
                    <a:pt x="0" y="460343"/>
                    <a:pt x="95" y="458819"/>
                    <a:pt x="95" y="457200"/>
                  </a:cubicBezTo>
                  <a:lnTo>
                    <a:pt x="114395" y="457200"/>
                  </a:lnTo>
                  <a:cubicBezTo>
                    <a:pt x="114395" y="458819"/>
                    <a:pt x="114300" y="460343"/>
                    <a:pt x="114300" y="461962"/>
                  </a:cubicBezTo>
                  <a:cubicBezTo>
                    <a:pt x="114300" y="649319"/>
                    <a:pt x="267843" y="801243"/>
                    <a:pt x="457200" y="801243"/>
                  </a:cubicBezTo>
                  <a:cubicBezTo>
                    <a:pt x="646557" y="801243"/>
                    <a:pt x="800100" y="649319"/>
                    <a:pt x="800100" y="461962"/>
                  </a:cubicBezTo>
                  <a:cubicBezTo>
                    <a:pt x="800100" y="460343"/>
                    <a:pt x="800004" y="458819"/>
                    <a:pt x="800004" y="457200"/>
                  </a:cubicBezTo>
                  <a:close/>
                </a:path>
              </a:pathLst>
            </a:custGeom>
            <a:grpFill/>
            <a:ln>
              <a:noFill/>
            </a:ln>
          </p:spPr>
          <p:txBody>
            <a:bodyPr rtlCol="0" anchor="ctr"/>
            <a:lstStyle/>
            <a:p>
              <a:pPr algn="ctr"/>
              <a:endParaRPr/>
            </a:p>
          </p:txBody>
        </p:sp>
        <p:sp>
          <p:nvSpPr>
            <p:cNvPr id="3" name="Rounded Rectangle 2"/>
            <p:cNvSpPr/>
            <p:nvPr/>
          </p:nvSpPr>
          <p:spPr>
            <a:xfrm>
              <a:off x="685725" y="1485900"/>
              <a:ext cx="4114874" cy="914400"/>
            </a:xfrm>
            <a:custGeom>
              <a:avLst/>
              <a:gdLst/>
              <a:ahLst/>
              <a:cxnLst/>
              <a:rect l="0" t="0" r="0" b="0"/>
              <a:pathLst>
                <a:path w="4114874" h="914400">
                  <a:moveTo>
                    <a:pt x="799983" y="447675"/>
                  </a:moveTo>
                  <a:cubicBezTo>
                    <a:pt x="797412" y="262509"/>
                    <a:pt x="644916" y="113156"/>
                    <a:pt x="457179" y="113156"/>
                  </a:cubicBezTo>
                  <a:cubicBezTo>
                    <a:pt x="269441" y="113156"/>
                    <a:pt x="116946" y="262509"/>
                    <a:pt x="114374" y="447675"/>
                  </a:cubicBezTo>
                  <a:moveTo>
                    <a:pt x="74" y="447675"/>
                  </a:moveTo>
                  <a:cubicBezTo>
                    <a:pt x="1407" y="324612"/>
                    <a:pt x="52176" y="213264"/>
                    <a:pt x="133900" y="132492"/>
                  </a:cubicBezTo>
                  <a:cubicBezTo>
                    <a:pt x="216577" y="50577"/>
                    <a:pt x="330877" y="0"/>
                    <a:pt x="457179" y="0"/>
                  </a:cubicBezTo>
                  <a:lnTo>
                    <a:pt x="3657579" y="0"/>
                  </a:lnTo>
                  <a:cubicBezTo>
                    <a:pt x="3908467" y="0"/>
                    <a:pt x="4112112" y="200025"/>
                    <a:pt x="4114683" y="447675"/>
                  </a:cubicBezTo>
                  <a:moveTo>
                    <a:pt x="114374" y="447675"/>
                  </a:moveTo>
                  <a:lnTo>
                    <a:pt x="114374" y="457200"/>
                  </a:lnTo>
                  <a:moveTo>
                    <a:pt x="74" y="457200"/>
                  </a:moveTo>
                  <a:lnTo>
                    <a:pt x="74" y="447675"/>
                  </a:lnTo>
                  <a:moveTo>
                    <a:pt x="4114874" y="457200"/>
                  </a:moveTo>
                  <a:lnTo>
                    <a:pt x="4114874" y="447675"/>
                  </a:lnTo>
                  <a:moveTo>
                    <a:pt x="800174" y="457200"/>
                  </a:moveTo>
                  <a:lnTo>
                    <a:pt x="800174" y="447675"/>
                  </a:lnTo>
                  <a:moveTo>
                    <a:pt x="114395" y="457200"/>
                  </a:moveTo>
                  <a:cubicBezTo>
                    <a:pt x="114395" y="458819"/>
                    <a:pt x="114300" y="460343"/>
                    <a:pt x="114300" y="461962"/>
                  </a:cubicBezTo>
                  <a:cubicBezTo>
                    <a:pt x="114300" y="649319"/>
                    <a:pt x="267843" y="801243"/>
                    <a:pt x="457200" y="801243"/>
                  </a:cubicBezTo>
                  <a:cubicBezTo>
                    <a:pt x="646557" y="801243"/>
                    <a:pt x="800100" y="649319"/>
                    <a:pt x="800100" y="461962"/>
                  </a:cubicBezTo>
                  <a:cubicBezTo>
                    <a:pt x="800100" y="460343"/>
                    <a:pt x="800004" y="458819"/>
                    <a:pt x="800004" y="457200"/>
                  </a:cubicBezTo>
                  <a:moveTo>
                    <a:pt x="4114704" y="457200"/>
                  </a:moveTo>
                  <a:cubicBezTo>
                    <a:pt x="4114704" y="458819"/>
                    <a:pt x="4114800" y="460343"/>
                    <a:pt x="4114800" y="461962"/>
                  </a:cubicBezTo>
                  <a:cubicBezTo>
                    <a:pt x="4114800" y="587025"/>
                    <a:pt x="4063650" y="700087"/>
                    <a:pt x="3980878" y="781907"/>
                  </a:cubicBezTo>
                  <a:cubicBezTo>
                    <a:pt x="3898201" y="863822"/>
                    <a:pt x="3783901" y="914400"/>
                    <a:pt x="3657600" y="914400"/>
                  </a:cubicBezTo>
                  <a:lnTo>
                    <a:pt x="457200" y="914400"/>
                  </a:lnTo>
                  <a:cubicBezTo>
                    <a:pt x="204692" y="914400"/>
                    <a:pt x="0" y="711803"/>
                    <a:pt x="0" y="461962"/>
                  </a:cubicBezTo>
                  <a:cubicBezTo>
                    <a:pt x="0" y="460343"/>
                    <a:pt x="95" y="458819"/>
                    <a:pt x="95" y="457200"/>
                  </a:cubicBezTo>
                </a:path>
              </a:pathLst>
            </a:custGeom>
            <a:grpFill/>
            <a:ln w="14287">
              <a:solidFill>
                <a:srgbClr val="FFFFFF"/>
              </a:solidFill>
            </a:ln>
          </p:spPr>
          <p:txBody>
            <a:bodyPr rtlCol="0" anchor="ctr"/>
            <a:lstStyle/>
            <a:p>
              <a:pPr algn="ctr"/>
              <a:endParaRPr/>
            </a:p>
          </p:txBody>
        </p:sp>
      </p:grpSp>
      <p:grpSp>
        <p:nvGrpSpPr>
          <p:cNvPr id="7" name="Group 6"/>
          <p:cNvGrpSpPr/>
          <p:nvPr/>
        </p:nvGrpSpPr>
        <p:grpSpPr>
          <a:xfrm>
            <a:off x="2764972" y="3216307"/>
            <a:ext cx="6867331" cy="1844707"/>
            <a:chOff x="685725" y="2628899"/>
            <a:chExt cx="4114874" cy="1143000"/>
          </a:xfrm>
          <a:solidFill>
            <a:srgbClr val="607D8B"/>
          </a:solidFill>
        </p:grpSpPr>
        <p:sp>
          <p:nvSpPr>
            <p:cNvPr id="5" name="Rounded Rectangle 4"/>
            <p:cNvSpPr/>
            <p:nvPr/>
          </p:nvSpPr>
          <p:spPr>
            <a:xfrm>
              <a:off x="685725" y="2628899"/>
              <a:ext cx="4114874" cy="1143000"/>
            </a:xfrm>
            <a:custGeom>
              <a:avLst/>
              <a:gdLst/>
              <a:ahLst/>
              <a:cxnLst/>
              <a:rect l="0" t="0" r="0" b="0"/>
              <a:pathLst>
                <a:path w="4114874" h="1143000">
                  <a:moveTo>
                    <a:pt x="114374" y="447675"/>
                  </a:moveTo>
                  <a:lnTo>
                    <a:pt x="74" y="447675"/>
                  </a:lnTo>
                  <a:cubicBezTo>
                    <a:pt x="1407" y="324612"/>
                    <a:pt x="52176" y="213264"/>
                    <a:pt x="133900" y="132492"/>
                  </a:cubicBezTo>
                  <a:cubicBezTo>
                    <a:pt x="216577" y="50577"/>
                    <a:pt x="330877" y="0"/>
                    <a:pt x="457179" y="0"/>
                  </a:cubicBezTo>
                  <a:lnTo>
                    <a:pt x="3657579" y="0"/>
                  </a:lnTo>
                  <a:cubicBezTo>
                    <a:pt x="3908467" y="0"/>
                    <a:pt x="4112112" y="200025"/>
                    <a:pt x="4114683" y="447675"/>
                  </a:cubicBezTo>
                  <a:lnTo>
                    <a:pt x="799983" y="447675"/>
                  </a:lnTo>
                  <a:cubicBezTo>
                    <a:pt x="797412" y="262509"/>
                    <a:pt x="644916" y="113156"/>
                    <a:pt x="457179" y="113156"/>
                  </a:cubicBezTo>
                  <a:cubicBezTo>
                    <a:pt x="269441" y="113156"/>
                    <a:pt x="116946" y="262509"/>
                    <a:pt x="114374" y="447675"/>
                  </a:cubicBezTo>
                  <a:close/>
                  <a:moveTo>
                    <a:pt x="114377" y="685800"/>
                  </a:moveTo>
                  <a:lnTo>
                    <a:pt x="74" y="685800"/>
                  </a:lnTo>
                  <a:lnTo>
                    <a:pt x="74" y="447675"/>
                  </a:lnTo>
                  <a:lnTo>
                    <a:pt x="114377" y="447675"/>
                  </a:lnTo>
                  <a:close/>
                  <a:moveTo>
                    <a:pt x="4114874" y="685800"/>
                  </a:moveTo>
                  <a:lnTo>
                    <a:pt x="800192" y="685800"/>
                  </a:lnTo>
                  <a:lnTo>
                    <a:pt x="800192" y="447675"/>
                  </a:lnTo>
                  <a:lnTo>
                    <a:pt x="4114874" y="447675"/>
                  </a:lnTo>
                  <a:close/>
                  <a:moveTo>
                    <a:pt x="4114704" y="685800"/>
                  </a:moveTo>
                  <a:cubicBezTo>
                    <a:pt x="4114704" y="687419"/>
                    <a:pt x="4114800" y="688943"/>
                    <a:pt x="4114800" y="690562"/>
                  </a:cubicBezTo>
                  <a:cubicBezTo>
                    <a:pt x="4114800" y="815625"/>
                    <a:pt x="4063650" y="928687"/>
                    <a:pt x="3980878" y="1010507"/>
                  </a:cubicBezTo>
                  <a:cubicBezTo>
                    <a:pt x="3898201" y="1092422"/>
                    <a:pt x="3783901" y="1143000"/>
                    <a:pt x="3657600" y="1143000"/>
                  </a:cubicBezTo>
                  <a:lnTo>
                    <a:pt x="457200" y="1143000"/>
                  </a:lnTo>
                  <a:cubicBezTo>
                    <a:pt x="204692" y="1143000"/>
                    <a:pt x="0" y="940403"/>
                    <a:pt x="0" y="690562"/>
                  </a:cubicBezTo>
                  <a:cubicBezTo>
                    <a:pt x="0" y="688943"/>
                    <a:pt x="95" y="687419"/>
                    <a:pt x="95" y="685800"/>
                  </a:cubicBezTo>
                  <a:lnTo>
                    <a:pt x="114395" y="685800"/>
                  </a:lnTo>
                  <a:cubicBezTo>
                    <a:pt x="114395" y="687419"/>
                    <a:pt x="114300" y="688943"/>
                    <a:pt x="114300" y="690562"/>
                  </a:cubicBezTo>
                  <a:cubicBezTo>
                    <a:pt x="114300" y="877919"/>
                    <a:pt x="267843" y="1029843"/>
                    <a:pt x="457200" y="1029843"/>
                  </a:cubicBezTo>
                  <a:cubicBezTo>
                    <a:pt x="646557" y="1029843"/>
                    <a:pt x="800100" y="877919"/>
                    <a:pt x="800100" y="690562"/>
                  </a:cubicBezTo>
                  <a:cubicBezTo>
                    <a:pt x="800100" y="688943"/>
                    <a:pt x="800004" y="687419"/>
                    <a:pt x="800004" y="685800"/>
                  </a:cubicBezTo>
                  <a:close/>
                </a:path>
              </a:pathLst>
            </a:custGeom>
            <a:grpFill/>
            <a:ln>
              <a:noFill/>
            </a:ln>
          </p:spPr>
          <p:txBody>
            <a:bodyPr rtlCol="0" anchor="ctr"/>
            <a:lstStyle/>
            <a:p>
              <a:pPr algn="ctr"/>
              <a:endParaRPr/>
            </a:p>
          </p:txBody>
        </p:sp>
        <p:sp>
          <p:nvSpPr>
            <p:cNvPr id="6" name="Rounded Rectangle 5"/>
            <p:cNvSpPr/>
            <p:nvPr/>
          </p:nvSpPr>
          <p:spPr>
            <a:xfrm>
              <a:off x="685725" y="2628899"/>
              <a:ext cx="4114874" cy="1143000"/>
            </a:xfrm>
            <a:custGeom>
              <a:avLst/>
              <a:gdLst/>
              <a:ahLst/>
              <a:cxnLst/>
              <a:rect l="0" t="0" r="0" b="0"/>
              <a:pathLst>
                <a:path w="4114874" h="1143000">
                  <a:moveTo>
                    <a:pt x="799983" y="447675"/>
                  </a:moveTo>
                  <a:cubicBezTo>
                    <a:pt x="797412" y="262509"/>
                    <a:pt x="644916" y="113157"/>
                    <a:pt x="457179" y="113157"/>
                  </a:cubicBezTo>
                  <a:cubicBezTo>
                    <a:pt x="269441" y="113157"/>
                    <a:pt x="116946" y="262509"/>
                    <a:pt x="114374" y="447675"/>
                  </a:cubicBezTo>
                  <a:moveTo>
                    <a:pt x="74" y="447675"/>
                  </a:moveTo>
                  <a:cubicBezTo>
                    <a:pt x="1407" y="324612"/>
                    <a:pt x="52176" y="213264"/>
                    <a:pt x="133900" y="132492"/>
                  </a:cubicBezTo>
                  <a:cubicBezTo>
                    <a:pt x="216577" y="50577"/>
                    <a:pt x="330877" y="0"/>
                    <a:pt x="457179" y="0"/>
                  </a:cubicBezTo>
                  <a:lnTo>
                    <a:pt x="3657579" y="0"/>
                  </a:lnTo>
                  <a:cubicBezTo>
                    <a:pt x="3908467" y="0"/>
                    <a:pt x="4112112" y="200025"/>
                    <a:pt x="4114683" y="447675"/>
                  </a:cubicBezTo>
                  <a:moveTo>
                    <a:pt x="114374" y="447675"/>
                  </a:moveTo>
                  <a:lnTo>
                    <a:pt x="114374" y="685800"/>
                  </a:lnTo>
                  <a:moveTo>
                    <a:pt x="74" y="685800"/>
                  </a:moveTo>
                  <a:lnTo>
                    <a:pt x="74" y="447675"/>
                  </a:lnTo>
                  <a:moveTo>
                    <a:pt x="4114874" y="447675"/>
                  </a:moveTo>
                  <a:lnTo>
                    <a:pt x="4114874" y="685800"/>
                  </a:lnTo>
                  <a:moveTo>
                    <a:pt x="800174" y="447675"/>
                  </a:moveTo>
                  <a:lnTo>
                    <a:pt x="800174" y="685800"/>
                  </a:lnTo>
                  <a:moveTo>
                    <a:pt x="114395" y="685800"/>
                  </a:moveTo>
                  <a:cubicBezTo>
                    <a:pt x="114395" y="687419"/>
                    <a:pt x="114300" y="688943"/>
                    <a:pt x="114300" y="690562"/>
                  </a:cubicBezTo>
                  <a:cubicBezTo>
                    <a:pt x="114300" y="877919"/>
                    <a:pt x="267843" y="1029843"/>
                    <a:pt x="457200" y="1029843"/>
                  </a:cubicBezTo>
                  <a:cubicBezTo>
                    <a:pt x="646557" y="1029843"/>
                    <a:pt x="800100" y="877919"/>
                    <a:pt x="800100" y="690562"/>
                  </a:cubicBezTo>
                  <a:cubicBezTo>
                    <a:pt x="800100" y="688943"/>
                    <a:pt x="800004" y="687419"/>
                    <a:pt x="800004" y="685800"/>
                  </a:cubicBezTo>
                  <a:moveTo>
                    <a:pt x="4114704" y="685800"/>
                  </a:moveTo>
                  <a:cubicBezTo>
                    <a:pt x="4114704" y="687419"/>
                    <a:pt x="4114800" y="688943"/>
                    <a:pt x="4114800" y="690562"/>
                  </a:cubicBezTo>
                  <a:cubicBezTo>
                    <a:pt x="4114800" y="815625"/>
                    <a:pt x="4063650" y="928687"/>
                    <a:pt x="3980878" y="1010507"/>
                  </a:cubicBezTo>
                  <a:cubicBezTo>
                    <a:pt x="3898201" y="1092422"/>
                    <a:pt x="3783901" y="1143000"/>
                    <a:pt x="3657600" y="1143000"/>
                  </a:cubicBezTo>
                  <a:lnTo>
                    <a:pt x="457200" y="1143000"/>
                  </a:lnTo>
                  <a:cubicBezTo>
                    <a:pt x="204692" y="1143000"/>
                    <a:pt x="0" y="940403"/>
                    <a:pt x="0" y="690562"/>
                  </a:cubicBezTo>
                  <a:cubicBezTo>
                    <a:pt x="0" y="688943"/>
                    <a:pt x="95" y="687419"/>
                    <a:pt x="95" y="685800"/>
                  </a:cubicBezTo>
                </a:path>
              </a:pathLst>
            </a:custGeom>
            <a:grpFill/>
            <a:ln w="14287">
              <a:solidFill>
                <a:srgbClr val="FFFFFF"/>
              </a:solidFill>
            </a:ln>
          </p:spPr>
          <p:txBody>
            <a:bodyPr rtlCol="0" anchor="ctr"/>
            <a:lstStyle/>
            <a:p>
              <a:pPr algn="ctr"/>
              <a:endParaRPr/>
            </a:p>
          </p:txBody>
        </p:sp>
      </p:grpSp>
      <p:sp>
        <p:nvSpPr>
          <p:cNvPr id="9" name="TextBox 8"/>
          <p:cNvSpPr txBox="1"/>
          <p:nvPr/>
        </p:nvSpPr>
        <p:spPr>
          <a:xfrm>
            <a:off x="4348199" y="1622271"/>
            <a:ext cx="3361498" cy="307777"/>
          </a:xfrm>
          <a:prstGeom prst="rect">
            <a:avLst/>
          </a:prstGeom>
          <a:noFill/>
          <a:ln>
            <a:noFill/>
          </a:ln>
        </p:spPr>
        <p:txBody>
          <a:bodyPr wrap="none" lIns="0" tIns="0" rIns="0" bIns="0" anchor="t">
            <a:spAutoFit/>
          </a:bodyPr>
          <a:lstStyle/>
          <a:p>
            <a:pPr algn="l"/>
            <a:r>
              <a:rPr sz="2000" b="1" dirty="0">
                <a:solidFill>
                  <a:srgbClr val="FFFFFF"/>
                </a:solidFill>
                <a:latin typeface="Roboto"/>
              </a:rPr>
              <a:t>Resident with Foreign Assets</a:t>
            </a:r>
          </a:p>
        </p:txBody>
      </p:sp>
      <p:sp>
        <p:nvSpPr>
          <p:cNvPr id="10" name="TextBox 9"/>
          <p:cNvSpPr txBox="1"/>
          <p:nvPr/>
        </p:nvSpPr>
        <p:spPr>
          <a:xfrm>
            <a:off x="4348200" y="1985740"/>
            <a:ext cx="5147243" cy="615553"/>
          </a:xfrm>
          <a:prstGeom prst="rect">
            <a:avLst/>
          </a:prstGeom>
          <a:noFill/>
          <a:ln>
            <a:noFill/>
          </a:ln>
        </p:spPr>
        <p:txBody>
          <a:bodyPr wrap="none" lIns="0" tIns="0" rIns="0" bIns="0" anchor="t">
            <a:spAutoFit/>
          </a:bodyPr>
          <a:lstStyle/>
          <a:p>
            <a:pPr algn="l"/>
            <a:r>
              <a:rPr sz="2000" dirty="0">
                <a:solidFill>
                  <a:srgbClr val="FFFFFF"/>
                </a:solidFill>
                <a:latin typeface="Roboto"/>
              </a:rPr>
              <a:t>Individuals residing outside India with foreign
assets or signing authority.</a:t>
            </a:r>
          </a:p>
        </p:txBody>
      </p:sp>
      <p:sp>
        <p:nvSpPr>
          <p:cNvPr id="11" name="TextBox 10"/>
          <p:cNvSpPr txBox="1"/>
          <p:nvPr/>
        </p:nvSpPr>
        <p:spPr>
          <a:xfrm>
            <a:off x="4352926" y="3429001"/>
            <a:ext cx="2778005" cy="307777"/>
          </a:xfrm>
          <a:prstGeom prst="rect">
            <a:avLst/>
          </a:prstGeom>
          <a:noFill/>
          <a:ln>
            <a:noFill/>
          </a:ln>
        </p:spPr>
        <p:txBody>
          <a:bodyPr wrap="none" lIns="0" tIns="0" rIns="0" bIns="0" anchor="t">
            <a:spAutoFit/>
          </a:bodyPr>
          <a:lstStyle/>
          <a:p>
            <a:pPr algn="l"/>
            <a:r>
              <a:rPr sz="2000" b="1" dirty="0">
                <a:solidFill>
                  <a:srgbClr val="FFFFFF"/>
                </a:solidFill>
                <a:latin typeface="Roboto"/>
              </a:rPr>
              <a:t>High Income Individuals</a:t>
            </a:r>
          </a:p>
        </p:txBody>
      </p:sp>
      <p:sp>
        <p:nvSpPr>
          <p:cNvPr id="12" name="TextBox 11"/>
          <p:cNvSpPr txBox="1"/>
          <p:nvPr/>
        </p:nvSpPr>
        <p:spPr>
          <a:xfrm>
            <a:off x="4352926" y="3795267"/>
            <a:ext cx="5047857" cy="923330"/>
          </a:xfrm>
          <a:prstGeom prst="rect">
            <a:avLst/>
          </a:prstGeom>
          <a:noFill/>
          <a:ln>
            <a:noFill/>
          </a:ln>
        </p:spPr>
        <p:txBody>
          <a:bodyPr wrap="none" lIns="0" tIns="0" rIns="0" bIns="0" anchor="t">
            <a:spAutoFit/>
          </a:bodyPr>
          <a:lstStyle/>
          <a:p>
            <a:pPr algn="l"/>
            <a:r>
              <a:rPr sz="2000" dirty="0">
                <a:solidFill>
                  <a:srgbClr val="FFFFFF"/>
                </a:solidFill>
                <a:latin typeface="Roboto"/>
              </a:rPr>
              <a:t>Individuals, HUFs, AOPs, BOIs, and artificial
juridical persons exceeding basic exemption
limit.</a:t>
            </a:r>
          </a:p>
        </p:txBody>
      </p:sp>
      <p:sp>
        <p:nvSpPr>
          <p:cNvPr id="13" name="Rounded Rectangle 12"/>
          <p:cNvSpPr/>
          <p:nvPr/>
        </p:nvSpPr>
        <p:spPr>
          <a:xfrm>
            <a:off x="3289190" y="1801707"/>
            <a:ext cx="574550" cy="615553"/>
          </a:xfrm>
          <a:custGeom>
            <a:avLst/>
            <a:gdLst/>
            <a:ahLst/>
            <a:cxnLst/>
            <a:rect l="0" t="0" r="0" b="0"/>
            <a:pathLst>
              <a:path w="447675" h="455120">
                <a:moveTo>
                  <a:pt x="312515" y="351720"/>
                </a:moveTo>
                <a:cubicBezTo>
                  <a:pt x="303215" y="342422"/>
                  <a:pt x="288139" y="342423"/>
                  <a:pt x="278840" y="351723"/>
                </a:cubicBezTo>
                <a:cubicBezTo>
                  <a:pt x="269542" y="361022"/>
                  <a:pt x="269542" y="376098"/>
                  <a:pt x="278840" y="385397"/>
                </a:cubicBezTo>
                <a:cubicBezTo>
                  <a:pt x="288139" y="394696"/>
                  <a:pt x="303215" y="394698"/>
                  <a:pt x="312515" y="385400"/>
                </a:cubicBezTo>
                <a:cubicBezTo>
                  <a:pt x="321807" y="376096"/>
                  <a:pt x="321807" y="361024"/>
                  <a:pt x="312515" y="351720"/>
                </a:cubicBezTo>
                <a:close/>
                <a:moveTo>
                  <a:pt x="0" y="0"/>
                </a:moveTo>
                <a:moveTo>
                  <a:pt x="362883" y="341795"/>
                </a:moveTo>
                <a:cubicBezTo>
                  <a:pt x="377126" y="375370"/>
                  <a:pt x="365581" y="414330"/>
                  <a:pt x="335345" y="434725"/>
                </a:cubicBezTo>
                <a:cubicBezTo>
                  <a:pt x="305109" y="455120"/>
                  <a:pt x="264660" y="451230"/>
                  <a:pt x="238865" y="425447"/>
                </a:cubicBezTo>
                <a:cubicBezTo>
                  <a:pt x="213070" y="399664"/>
                  <a:pt x="209161" y="359217"/>
                  <a:pt x="229541" y="328972"/>
                </a:cubicBezTo>
                <a:cubicBezTo>
                  <a:pt x="249922" y="298726"/>
                  <a:pt x="288877" y="287162"/>
                  <a:pt x="322459" y="301390"/>
                </a:cubicBezTo>
                <a:lnTo>
                  <a:pt x="406831" y="221684"/>
                </a:lnTo>
                <a:cubicBezTo>
                  <a:pt x="408601" y="220008"/>
                  <a:pt x="410947" y="219074"/>
                  <a:pt x="413385" y="219075"/>
                </a:cubicBezTo>
                <a:lnTo>
                  <a:pt x="438150" y="219075"/>
                </a:lnTo>
                <a:cubicBezTo>
                  <a:pt x="443410" y="219075"/>
                  <a:pt x="447675" y="223339"/>
                  <a:pt x="447675" y="228600"/>
                </a:cubicBezTo>
                <a:lnTo>
                  <a:pt x="447675" y="253231"/>
                </a:lnTo>
                <a:cubicBezTo>
                  <a:pt x="447674" y="255762"/>
                  <a:pt x="446666" y="258188"/>
                  <a:pt x="444874" y="259975"/>
                </a:cubicBezTo>
                <a:lnTo>
                  <a:pt x="362864" y="341795"/>
                </a:lnTo>
                <a:close/>
                <a:moveTo>
                  <a:pt x="45719" y="173354"/>
                </a:moveTo>
                <a:cubicBezTo>
                  <a:pt x="56364" y="155856"/>
                  <a:pt x="61661" y="135627"/>
                  <a:pt x="60959" y="115157"/>
                </a:cubicBezTo>
                <a:lnTo>
                  <a:pt x="60959" y="91439"/>
                </a:lnTo>
                <a:cubicBezTo>
                  <a:pt x="60959" y="46199"/>
                  <a:pt x="97634" y="9524"/>
                  <a:pt x="142874" y="9524"/>
                </a:cubicBezTo>
                <a:cubicBezTo>
                  <a:pt x="188115" y="9524"/>
                  <a:pt x="224789" y="46199"/>
                  <a:pt x="224789" y="91439"/>
                </a:cubicBezTo>
                <a:lnTo>
                  <a:pt x="224789" y="115176"/>
                </a:lnTo>
                <a:cubicBezTo>
                  <a:pt x="224082" y="135641"/>
                  <a:pt x="229379" y="155865"/>
                  <a:pt x="240029" y="173354"/>
                </a:cubicBezTo>
                <a:moveTo>
                  <a:pt x="224789" y="104889"/>
                </a:moveTo>
                <a:cubicBezTo>
                  <a:pt x="193331" y="104863"/>
                  <a:pt x="163437" y="91167"/>
                  <a:pt x="142875" y="67360"/>
                </a:cubicBezTo>
                <a:cubicBezTo>
                  <a:pt x="122310" y="91165"/>
                  <a:pt x="92417" y="104861"/>
                  <a:pt x="60960" y="104889"/>
                </a:cubicBezTo>
                <a:moveTo>
                  <a:pt x="70751" y="104451"/>
                </a:moveTo>
                <a:cubicBezTo>
                  <a:pt x="72524" y="143006"/>
                  <a:pt x="104298" y="173353"/>
                  <a:pt x="142894" y="173353"/>
                </a:cubicBezTo>
                <a:cubicBezTo>
                  <a:pt x="181489" y="173353"/>
                  <a:pt x="213263" y="143006"/>
                  <a:pt x="215036" y="104451"/>
                </a:cubicBezTo>
                <a:moveTo>
                  <a:pt x="161925" y="333375"/>
                </a:moveTo>
                <a:lnTo>
                  <a:pt x="9525" y="333375"/>
                </a:lnTo>
                <a:cubicBezTo>
                  <a:pt x="9524" y="277316"/>
                  <a:pt x="44583" y="227242"/>
                  <a:pt x="97261" y="208066"/>
                </a:cubicBezTo>
                <a:cubicBezTo>
                  <a:pt x="149938" y="188891"/>
                  <a:pt x="208984" y="204709"/>
                  <a:pt x="245021" y="247650"/>
                </a:cubicBezTo>
              </a:path>
            </a:pathLst>
          </a:custGeom>
          <a:noFill/>
          <a:ln w="14287">
            <a:solidFill>
              <a:srgbClr val="484848"/>
            </a:solidFill>
          </a:ln>
        </p:spPr>
        <p:txBody>
          <a:bodyPr rtlCol="0" anchor="ctr"/>
          <a:lstStyle/>
          <a:p>
            <a:pPr algn="ctr"/>
            <a:endParaRPr dirty="0"/>
          </a:p>
        </p:txBody>
      </p:sp>
      <p:sp>
        <p:nvSpPr>
          <p:cNvPr id="14" name="Rounded Rectangle 13"/>
          <p:cNvSpPr/>
          <p:nvPr/>
        </p:nvSpPr>
        <p:spPr>
          <a:xfrm>
            <a:off x="3271734" y="3731975"/>
            <a:ext cx="574431" cy="637461"/>
          </a:xfrm>
          <a:custGeom>
            <a:avLst/>
            <a:gdLst/>
            <a:ahLst/>
            <a:cxnLst/>
            <a:rect l="0" t="0" r="0" b="0"/>
            <a:pathLst>
              <a:path w="438226" h="438150">
                <a:moveTo>
                  <a:pt x="76" y="38100"/>
                </a:moveTo>
                <a:cubicBezTo>
                  <a:pt x="76" y="59142"/>
                  <a:pt x="64043" y="76200"/>
                  <a:pt x="142951" y="76200"/>
                </a:cubicBezTo>
                <a:cubicBezTo>
                  <a:pt x="221858" y="76200"/>
                  <a:pt x="285826" y="59142"/>
                  <a:pt x="285826" y="38100"/>
                </a:cubicBezTo>
                <a:cubicBezTo>
                  <a:pt x="285826" y="17057"/>
                  <a:pt x="221858" y="0"/>
                  <a:pt x="142951" y="0"/>
                </a:cubicBezTo>
                <a:cubicBezTo>
                  <a:pt x="64043" y="0"/>
                  <a:pt x="76" y="17057"/>
                  <a:pt x="76" y="38100"/>
                </a:cubicBezTo>
                <a:close/>
                <a:moveTo>
                  <a:pt x="285750" y="38100"/>
                </a:moveTo>
                <a:lnTo>
                  <a:pt x="285750" y="95250"/>
                </a:lnTo>
                <a:cubicBezTo>
                  <a:pt x="285750" y="116300"/>
                  <a:pt x="221799" y="133350"/>
                  <a:pt x="142875" y="133350"/>
                </a:cubicBezTo>
                <a:cubicBezTo>
                  <a:pt x="63950" y="133350"/>
                  <a:pt x="0" y="116300"/>
                  <a:pt x="0" y="95250"/>
                </a:cubicBezTo>
                <a:lnTo>
                  <a:pt x="0" y="38100"/>
                </a:lnTo>
                <a:moveTo>
                  <a:pt x="285750" y="95250"/>
                </a:moveTo>
                <a:lnTo>
                  <a:pt x="285750" y="152400"/>
                </a:lnTo>
                <a:cubicBezTo>
                  <a:pt x="285750" y="173450"/>
                  <a:pt x="221799" y="190500"/>
                  <a:pt x="142875" y="190500"/>
                </a:cubicBezTo>
                <a:cubicBezTo>
                  <a:pt x="63950" y="190500"/>
                  <a:pt x="0" y="173450"/>
                  <a:pt x="0" y="152400"/>
                </a:cubicBezTo>
                <a:lnTo>
                  <a:pt x="0" y="95250"/>
                </a:lnTo>
                <a:moveTo>
                  <a:pt x="152476" y="285750"/>
                </a:moveTo>
                <a:cubicBezTo>
                  <a:pt x="152476" y="306792"/>
                  <a:pt x="216443" y="323850"/>
                  <a:pt x="295351" y="323850"/>
                </a:cubicBezTo>
                <a:cubicBezTo>
                  <a:pt x="374258" y="323850"/>
                  <a:pt x="438226" y="306792"/>
                  <a:pt x="438226" y="285750"/>
                </a:cubicBezTo>
                <a:cubicBezTo>
                  <a:pt x="438226" y="264707"/>
                  <a:pt x="374258" y="247650"/>
                  <a:pt x="295351" y="247650"/>
                </a:cubicBezTo>
                <a:cubicBezTo>
                  <a:pt x="216443" y="247650"/>
                  <a:pt x="152476" y="264707"/>
                  <a:pt x="152476" y="285750"/>
                </a:cubicBezTo>
                <a:close/>
                <a:moveTo>
                  <a:pt x="438150" y="285750"/>
                </a:moveTo>
                <a:lnTo>
                  <a:pt x="438150" y="342900"/>
                </a:lnTo>
                <a:cubicBezTo>
                  <a:pt x="438150" y="363950"/>
                  <a:pt x="374199" y="381000"/>
                  <a:pt x="295275" y="381000"/>
                </a:cubicBezTo>
                <a:cubicBezTo>
                  <a:pt x="216350" y="381000"/>
                  <a:pt x="152400" y="363950"/>
                  <a:pt x="152400" y="342900"/>
                </a:cubicBezTo>
                <a:lnTo>
                  <a:pt x="152400" y="285750"/>
                </a:lnTo>
                <a:moveTo>
                  <a:pt x="438150" y="342900"/>
                </a:moveTo>
                <a:lnTo>
                  <a:pt x="438150" y="400050"/>
                </a:lnTo>
                <a:cubicBezTo>
                  <a:pt x="438150" y="421100"/>
                  <a:pt x="374199" y="438150"/>
                  <a:pt x="295275" y="438150"/>
                </a:cubicBezTo>
                <a:cubicBezTo>
                  <a:pt x="216350" y="438150"/>
                  <a:pt x="152400" y="421100"/>
                  <a:pt x="152400" y="400050"/>
                </a:cubicBezTo>
                <a:lnTo>
                  <a:pt x="152400" y="342900"/>
                </a:lnTo>
                <a:moveTo>
                  <a:pt x="285750" y="152400"/>
                </a:moveTo>
                <a:lnTo>
                  <a:pt x="285750" y="209550"/>
                </a:lnTo>
                <a:cubicBezTo>
                  <a:pt x="285750" y="230600"/>
                  <a:pt x="221799" y="247650"/>
                  <a:pt x="142875" y="247650"/>
                </a:cubicBezTo>
                <a:cubicBezTo>
                  <a:pt x="63950" y="247650"/>
                  <a:pt x="0" y="230600"/>
                  <a:pt x="0" y="209550"/>
                </a:cubicBezTo>
                <a:lnTo>
                  <a:pt x="0" y="152400"/>
                </a:lnTo>
                <a:moveTo>
                  <a:pt x="152400" y="304800"/>
                </a:moveTo>
                <a:lnTo>
                  <a:pt x="142875" y="304800"/>
                </a:lnTo>
                <a:cubicBezTo>
                  <a:pt x="63969" y="304800"/>
                  <a:pt x="0" y="287750"/>
                  <a:pt x="0" y="266700"/>
                </a:cubicBezTo>
                <a:lnTo>
                  <a:pt x="0" y="209550"/>
                </a:lnTo>
                <a:moveTo>
                  <a:pt x="152400" y="361950"/>
                </a:moveTo>
                <a:lnTo>
                  <a:pt x="142875" y="361950"/>
                </a:lnTo>
                <a:cubicBezTo>
                  <a:pt x="63969" y="361950"/>
                  <a:pt x="0" y="344900"/>
                  <a:pt x="0" y="323850"/>
                </a:cubicBezTo>
                <a:lnTo>
                  <a:pt x="0" y="266700"/>
                </a:lnTo>
                <a:moveTo>
                  <a:pt x="285826" y="209550"/>
                </a:moveTo>
                <a:lnTo>
                  <a:pt x="285826" y="247650"/>
                </a:lnTo>
              </a:path>
            </a:pathLst>
          </a:custGeom>
          <a:noFill/>
          <a:ln w="14287">
            <a:solidFill>
              <a:srgbClr val="484848"/>
            </a:solidFill>
          </a:ln>
        </p:spPr>
        <p:txBody>
          <a:bodyPr rtlCol="0" anchor="ctr"/>
          <a:lstStyle/>
          <a:p>
            <a:pPr algn="ctr"/>
            <a:endParaRPr sz="2800"/>
          </a:p>
        </p:txBody>
      </p:sp>
      <p:sp>
        <p:nvSpPr>
          <p:cNvPr id="8" name="TextBox 7">
            <a:extLst>
              <a:ext uri="{FF2B5EF4-FFF2-40B4-BE49-F238E27FC236}">
                <a16:creationId xmlns:a16="http://schemas.microsoft.com/office/drawing/2014/main" id="{E3521D32-AAC3-3EDD-F055-3509D7C8A415}"/>
              </a:ext>
            </a:extLst>
          </p:cNvPr>
          <p:cNvSpPr txBox="1"/>
          <p:nvPr/>
        </p:nvSpPr>
        <p:spPr>
          <a:xfrm>
            <a:off x="630314" y="355107"/>
            <a:ext cx="870012" cy="769441"/>
          </a:xfrm>
          <a:prstGeom prst="rect">
            <a:avLst/>
          </a:prstGeom>
          <a:noFill/>
        </p:spPr>
        <p:txBody>
          <a:bodyPr wrap="square" rtlCol="0">
            <a:spAutoFit/>
          </a:bodyPr>
          <a:lstStyle/>
          <a:p>
            <a:r>
              <a:rPr lang="en-US" sz="4400" b="1" dirty="0"/>
              <a:t>02</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2671665" y="1106586"/>
            <a:ext cx="6848671" cy="1379922"/>
            <a:chOff x="685725" y="1485900"/>
            <a:chExt cx="4114874" cy="914400"/>
          </a:xfrm>
          <a:solidFill>
            <a:schemeClr val="accent3">
              <a:lumMod val="75000"/>
            </a:schemeClr>
          </a:solidFill>
        </p:grpSpPr>
        <p:sp>
          <p:nvSpPr>
            <p:cNvPr id="2" name="Rounded Rectangle 1"/>
            <p:cNvSpPr/>
            <p:nvPr/>
          </p:nvSpPr>
          <p:spPr>
            <a:xfrm>
              <a:off x="685725" y="1485900"/>
              <a:ext cx="4114874" cy="914400"/>
            </a:xfrm>
            <a:custGeom>
              <a:avLst/>
              <a:gdLst/>
              <a:ahLst/>
              <a:cxnLst/>
              <a:rect l="0" t="0" r="0" b="0"/>
              <a:pathLst>
                <a:path w="4114874" h="914400">
                  <a:moveTo>
                    <a:pt x="114374" y="447675"/>
                  </a:moveTo>
                  <a:lnTo>
                    <a:pt x="74" y="447675"/>
                  </a:lnTo>
                  <a:cubicBezTo>
                    <a:pt x="1407" y="324612"/>
                    <a:pt x="52176" y="213264"/>
                    <a:pt x="133900" y="132492"/>
                  </a:cubicBezTo>
                  <a:cubicBezTo>
                    <a:pt x="216577" y="50577"/>
                    <a:pt x="330877" y="0"/>
                    <a:pt x="457179" y="0"/>
                  </a:cubicBezTo>
                  <a:lnTo>
                    <a:pt x="3657579" y="0"/>
                  </a:lnTo>
                  <a:cubicBezTo>
                    <a:pt x="3908467" y="0"/>
                    <a:pt x="4112112" y="200025"/>
                    <a:pt x="4114683" y="447675"/>
                  </a:cubicBezTo>
                  <a:lnTo>
                    <a:pt x="799983" y="447675"/>
                  </a:lnTo>
                  <a:cubicBezTo>
                    <a:pt x="797412" y="262509"/>
                    <a:pt x="644916" y="113156"/>
                    <a:pt x="457179" y="113156"/>
                  </a:cubicBezTo>
                  <a:cubicBezTo>
                    <a:pt x="269441" y="113156"/>
                    <a:pt x="116946" y="262509"/>
                    <a:pt x="114374" y="447675"/>
                  </a:cubicBezTo>
                  <a:close/>
                  <a:moveTo>
                    <a:pt x="114377" y="457200"/>
                  </a:moveTo>
                  <a:lnTo>
                    <a:pt x="74" y="457200"/>
                  </a:lnTo>
                  <a:lnTo>
                    <a:pt x="74" y="447675"/>
                  </a:lnTo>
                  <a:lnTo>
                    <a:pt x="114377" y="447675"/>
                  </a:lnTo>
                  <a:close/>
                  <a:moveTo>
                    <a:pt x="4114874" y="457200"/>
                  </a:moveTo>
                  <a:lnTo>
                    <a:pt x="800192" y="457200"/>
                  </a:lnTo>
                  <a:lnTo>
                    <a:pt x="800192" y="447675"/>
                  </a:lnTo>
                  <a:lnTo>
                    <a:pt x="4114874" y="447675"/>
                  </a:lnTo>
                  <a:close/>
                  <a:moveTo>
                    <a:pt x="4114704" y="457200"/>
                  </a:moveTo>
                  <a:cubicBezTo>
                    <a:pt x="4114704" y="458819"/>
                    <a:pt x="4114800" y="460343"/>
                    <a:pt x="4114800" y="461962"/>
                  </a:cubicBezTo>
                  <a:cubicBezTo>
                    <a:pt x="4114800" y="587025"/>
                    <a:pt x="4063650" y="700087"/>
                    <a:pt x="3980878" y="781907"/>
                  </a:cubicBezTo>
                  <a:cubicBezTo>
                    <a:pt x="3898201" y="863822"/>
                    <a:pt x="3783901" y="914400"/>
                    <a:pt x="3657600" y="914400"/>
                  </a:cubicBezTo>
                  <a:lnTo>
                    <a:pt x="457200" y="914400"/>
                  </a:lnTo>
                  <a:cubicBezTo>
                    <a:pt x="204692" y="914400"/>
                    <a:pt x="0" y="711803"/>
                    <a:pt x="0" y="461962"/>
                  </a:cubicBezTo>
                  <a:cubicBezTo>
                    <a:pt x="0" y="460343"/>
                    <a:pt x="95" y="458819"/>
                    <a:pt x="95" y="457200"/>
                  </a:cubicBezTo>
                  <a:lnTo>
                    <a:pt x="114395" y="457200"/>
                  </a:lnTo>
                  <a:cubicBezTo>
                    <a:pt x="114395" y="458819"/>
                    <a:pt x="114300" y="460343"/>
                    <a:pt x="114300" y="461962"/>
                  </a:cubicBezTo>
                  <a:cubicBezTo>
                    <a:pt x="114300" y="649319"/>
                    <a:pt x="267843" y="801243"/>
                    <a:pt x="457200" y="801243"/>
                  </a:cubicBezTo>
                  <a:cubicBezTo>
                    <a:pt x="646557" y="801243"/>
                    <a:pt x="800100" y="649319"/>
                    <a:pt x="800100" y="461962"/>
                  </a:cubicBezTo>
                  <a:cubicBezTo>
                    <a:pt x="800100" y="460343"/>
                    <a:pt x="800004" y="458819"/>
                    <a:pt x="800004" y="457200"/>
                  </a:cubicBezTo>
                  <a:close/>
                </a:path>
              </a:pathLst>
            </a:custGeom>
            <a:grpFill/>
            <a:ln>
              <a:noFill/>
            </a:ln>
          </p:spPr>
          <p:txBody>
            <a:bodyPr rtlCol="0" anchor="ctr"/>
            <a:lstStyle/>
            <a:p>
              <a:pPr algn="ctr"/>
              <a:endParaRPr/>
            </a:p>
          </p:txBody>
        </p:sp>
        <p:sp>
          <p:nvSpPr>
            <p:cNvPr id="3" name="Rounded Rectangle 2"/>
            <p:cNvSpPr/>
            <p:nvPr/>
          </p:nvSpPr>
          <p:spPr>
            <a:xfrm>
              <a:off x="685725" y="1485900"/>
              <a:ext cx="4114874" cy="914400"/>
            </a:xfrm>
            <a:custGeom>
              <a:avLst/>
              <a:gdLst/>
              <a:ahLst/>
              <a:cxnLst/>
              <a:rect l="0" t="0" r="0" b="0"/>
              <a:pathLst>
                <a:path w="4114874" h="914400">
                  <a:moveTo>
                    <a:pt x="799983" y="447675"/>
                  </a:moveTo>
                  <a:cubicBezTo>
                    <a:pt x="797412" y="262509"/>
                    <a:pt x="644916" y="113156"/>
                    <a:pt x="457179" y="113156"/>
                  </a:cubicBezTo>
                  <a:cubicBezTo>
                    <a:pt x="269441" y="113156"/>
                    <a:pt x="116946" y="262509"/>
                    <a:pt x="114374" y="447675"/>
                  </a:cubicBezTo>
                  <a:moveTo>
                    <a:pt x="74" y="447675"/>
                  </a:moveTo>
                  <a:cubicBezTo>
                    <a:pt x="1407" y="324612"/>
                    <a:pt x="52176" y="213264"/>
                    <a:pt x="133900" y="132492"/>
                  </a:cubicBezTo>
                  <a:cubicBezTo>
                    <a:pt x="216577" y="50577"/>
                    <a:pt x="330877" y="0"/>
                    <a:pt x="457179" y="0"/>
                  </a:cubicBezTo>
                  <a:lnTo>
                    <a:pt x="3657579" y="0"/>
                  </a:lnTo>
                  <a:cubicBezTo>
                    <a:pt x="3908467" y="0"/>
                    <a:pt x="4112112" y="200025"/>
                    <a:pt x="4114683" y="447675"/>
                  </a:cubicBezTo>
                  <a:moveTo>
                    <a:pt x="114374" y="447675"/>
                  </a:moveTo>
                  <a:lnTo>
                    <a:pt x="114374" y="457200"/>
                  </a:lnTo>
                  <a:moveTo>
                    <a:pt x="74" y="457200"/>
                  </a:moveTo>
                  <a:lnTo>
                    <a:pt x="74" y="447675"/>
                  </a:lnTo>
                  <a:moveTo>
                    <a:pt x="4114874" y="457200"/>
                  </a:moveTo>
                  <a:lnTo>
                    <a:pt x="4114874" y="447675"/>
                  </a:lnTo>
                  <a:moveTo>
                    <a:pt x="800174" y="457200"/>
                  </a:moveTo>
                  <a:lnTo>
                    <a:pt x="800174" y="447675"/>
                  </a:lnTo>
                  <a:moveTo>
                    <a:pt x="114395" y="457200"/>
                  </a:moveTo>
                  <a:cubicBezTo>
                    <a:pt x="114395" y="458819"/>
                    <a:pt x="114300" y="460343"/>
                    <a:pt x="114300" y="461962"/>
                  </a:cubicBezTo>
                  <a:cubicBezTo>
                    <a:pt x="114300" y="649319"/>
                    <a:pt x="267843" y="801243"/>
                    <a:pt x="457200" y="801243"/>
                  </a:cubicBezTo>
                  <a:cubicBezTo>
                    <a:pt x="646557" y="801243"/>
                    <a:pt x="800100" y="649319"/>
                    <a:pt x="800100" y="461962"/>
                  </a:cubicBezTo>
                  <a:cubicBezTo>
                    <a:pt x="800100" y="460343"/>
                    <a:pt x="800004" y="458819"/>
                    <a:pt x="800004" y="457200"/>
                  </a:cubicBezTo>
                  <a:moveTo>
                    <a:pt x="4114704" y="457200"/>
                  </a:moveTo>
                  <a:cubicBezTo>
                    <a:pt x="4114704" y="458819"/>
                    <a:pt x="4114800" y="460343"/>
                    <a:pt x="4114800" y="461962"/>
                  </a:cubicBezTo>
                  <a:cubicBezTo>
                    <a:pt x="4114800" y="587025"/>
                    <a:pt x="4063650" y="700087"/>
                    <a:pt x="3980878" y="781907"/>
                  </a:cubicBezTo>
                  <a:cubicBezTo>
                    <a:pt x="3898201" y="863822"/>
                    <a:pt x="3783901" y="914400"/>
                    <a:pt x="3657600" y="914400"/>
                  </a:cubicBezTo>
                  <a:lnTo>
                    <a:pt x="457200" y="914400"/>
                  </a:lnTo>
                  <a:cubicBezTo>
                    <a:pt x="204692" y="914400"/>
                    <a:pt x="0" y="711803"/>
                    <a:pt x="0" y="461962"/>
                  </a:cubicBezTo>
                  <a:cubicBezTo>
                    <a:pt x="0" y="460343"/>
                    <a:pt x="95" y="458819"/>
                    <a:pt x="95" y="457200"/>
                  </a:cubicBezTo>
                </a:path>
              </a:pathLst>
            </a:custGeom>
            <a:grpFill/>
            <a:ln w="14287">
              <a:solidFill>
                <a:srgbClr val="FFFFFF"/>
              </a:solidFill>
            </a:ln>
          </p:spPr>
          <p:txBody>
            <a:bodyPr rtlCol="0" anchor="ctr"/>
            <a:lstStyle/>
            <a:p>
              <a:pPr algn="ctr"/>
              <a:endParaRPr/>
            </a:p>
          </p:txBody>
        </p:sp>
      </p:grpSp>
      <p:grpSp>
        <p:nvGrpSpPr>
          <p:cNvPr id="7" name="Group 6"/>
          <p:cNvGrpSpPr/>
          <p:nvPr/>
        </p:nvGrpSpPr>
        <p:grpSpPr>
          <a:xfrm>
            <a:off x="2671665" y="2831486"/>
            <a:ext cx="6848671" cy="1379922"/>
            <a:chOff x="685725" y="2628899"/>
            <a:chExt cx="4114874" cy="914400"/>
          </a:xfrm>
          <a:solidFill>
            <a:schemeClr val="accent3">
              <a:lumMod val="60000"/>
              <a:lumOff val="40000"/>
            </a:schemeClr>
          </a:solidFill>
        </p:grpSpPr>
        <p:sp>
          <p:nvSpPr>
            <p:cNvPr id="5" name="Rounded Rectangle 4"/>
            <p:cNvSpPr/>
            <p:nvPr/>
          </p:nvSpPr>
          <p:spPr>
            <a:xfrm>
              <a:off x="685725" y="2628899"/>
              <a:ext cx="4114874" cy="914400"/>
            </a:xfrm>
            <a:custGeom>
              <a:avLst/>
              <a:gdLst/>
              <a:ahLst/>
              <a:cxnLst/>
              <a:rect l="0" t="0" r="0" b="0"/>
              <a:pathLst>
                <a:path w="4114874" h="914400">
                  <a:moveTo>
                    <a:pt x="114374" y="447675"/>
                  </a:moveTo>
                  <a:lnTo>
                    <a:pt x="74" y="447675"/>
                  </a:lnTo>
                  <a:cubicBezTo>
                    <a:pt x="1407" y="324612"/>
                    <a:pt x="52176" y="213264"/>
                    <a:pt x="133900" y="132492"/>
                  </a:cubicBezTo>
                  <a:cubicBezTo>
                    <a:pt x="216577" y="50577"/>
                    <a:pt x="330877" y="0"/>
                    <a:pt x="457179" y="0"/>
                  </a:cubicBezTo>
                  <a:lnTo>
                    <a:pt x="3657579" y="0"/>
                  </a:lnTo>
                  <a:cubicBezTo>
                    <a:pt x="3908467" y="0"/>
                    <a:pt x="4112112" y="200025"/>
                    <a:pt x="4114683" y="447675"/>
                  </a:cubicBezTo>
                  <a:lnTo>
                    <a:pt x="799983" y="447675"/>
                  </a:lnTo>
                  <a:cubicBezTo>
                    <a:pt x="797412" y="262509"/>
                    <a:pt x="644916" y="113156"/>
                    <a:pt x="457179" y="113156"/>
                  </a:cubicBezTo>
                  <a:cubicBezTo>
                    <a:pt x="269441" y="113156"/>
                    <a:pt x="116946" y="262509"/>
                    <a:pt x="114374" y="447675"/>
                  </a:cubicBezTo>
                  <a:close/>
                  <a:moveTo>
                    <a:pt x="114377" y="457200"/>
                  </a:moveTo>
                  <a:lnTo>
                    <a:pt x="74" y="457200"/>
                  </a:lnTo>
                  <a:lnTo>
                    <a:pt x="74" y="447675"/>
                  </a:lnTo>
                  <a:lnTo>
                    <a:pt x="114377" y="447675"/>
                  </a:lnTo>
                  <a:close/>
                  <a:moveTo>
                    <a:pt x="4114874" y="457200"/>
                  </a:moveTo>
                  <a:lnTo>
                    <a:pt x="800192" y="457200"/>
                  </a:lnTo>
                  <a:lnTo>
                    <a:pt x="800192" y="447675"/>
                  </a:lnTo>
                  <a:lnTo>
                    <a:pt x="4114874" y="447675"/>
                  </a:lnTo>
                  <a:close/>
                  <a:moveTo>
                    <a:pt x="4114704" y="457200"/>
                  </a:moveTo>
                  <a:cubicBezTo>
                    <a:pt x="4114704" y="458819"/>
                    <a:pt x="4114800" y="460343"/>
                    <a:pt x="4114800" y="461962"/>
                  </a:cubicBezTo>
                  <a:cubicBezTo>
                    <a:pt x="4114800" y="587025"/>
                    <a:pt x="4063650" y="700087"/>
                    <a:pt x="3980878" y="781907"/>
                  </a:cubicBezTo>
                  <a:cubicBezTo>
                    <a:pt x="3898201" y="863822"/>
                    <a:pt x="3783901" y="914400"/>
                    <a:pt x="3657600" y="914400"/>
                  </a:cubicBezTo>
                  <a:lnTo>
                    <a:pt x="457200" y="914400"/>
                  </a:lnTo>
                  <a:cubicBezTo>
                    <a:pt x="204692" y="914400"/>
                    <a:pt x="0" y="711803"/>
                    <a:pt x="0" y="461962"/>
                  </a:cubicBezTo>
                  <a:cubicBezTo>
                    <a:pt x="0" y="460343"/>
                    <a:pt x="95" y="458819"/>
                    <a:pt x="95" y="457200"/>
                  </a:cubicBezTo>
                  <a:lnTo>
                    <a:pt x="114395" y="457200"/>
                  </a:lnTo>
                  <a:cubicBezTo>
                    <a:pt x="114395" y="458819"/>
                    <a:pt x="114300" y="460343"/>
                    <a:pt x="114300" y="461962"/>
                  </a:cubicBezTo>
                  <a:cubicBezTo>
                    <a:pt x="114300" y="649319"/>
                    <a:pt x="267843" y="801243"/>
                    <a:pt x="457200" y="801243"/>
                  </a:cubicBezTo>
                  <a:cubicBezTo>
                    <a:pt x="646557" y="801243"/>
                    <a:pt x="800100" y="649319"/>
                    <a:pt x="800100" y="461962"/>
                  </a:cubicBezTo>
                  <a:cubicBezTo>
                    <a:pt x="800100" y="460343"/>
                    <a:pt x="800004" y="458819"/>
                    <a:pt x="800004" y="457200"/>
                  </a:cubicBezTo>
                  <a:close/>
                </a:path>
              </a:pathLst>
            </a:custGeom>
            <a:grpFill/>
            <a:ln>
              <a:noFill/>
            </a:ln>
          </p:spPr>
          <p:txBody>
            <a:bodyPr rtlCol="0" anchor="ctr"/>
            <a:lstStyle/>
            <a:p>
              <a:pPr algn="ctr"/>
              <a:endParaRPr/>
            </a:p>
          </p:txBody>
        </p:sp>
        <p:sp>
          <p:nvSpPr>
            <p:cNvPr id="6" name="Rounded Rectangle 5"/>
            <p:cNvSpPr/>
            <p:nvPr/>
          </p:nvSpPr>
          <p:spPr>
            <a:xfrm>
              <a:off x="685725" y="2628899"/>
              <a:ext cx="4114874" cy="914400"/>
            </a:xfrm>
            <a:custGeom>
              <a:avLst/>
              <a:gdLst/>
              <a:ahLst/>
              <a:cxnLst/>
              <a:rect l="0" t="0" r="0" b="0"/>
              <a:pathLst>
                <a:path w="4114874" h="914400">
                  <a:moveTo>
                    <a:pt x="799983" y="447675"/>
                  </a:moveTo>
                  <a:cubicBezTo>
                    <a:pt x="797412" y="262509"/>
                    <a:pt x="644916" y="113157"/>
                    <a:pt x="457179" y="113157"/>
                  </a:cubicBezTo>
                  <a:cubicBezTo>
                    <a:pt x="269441" y="113157"/>
                    <a:pt x="116946" y="262509"/>
                    <a:pt x="114374" y="447675"/>
                  </a:cubicBezTo>
                  <a:moveTo>
                    <a:pt x="74" y="447675"/>
                  </a:moveTo>
                  <a:cubicBezTo>
                    <a:pt x="1407" y="324612"/>
                    <a:pt x="52176" y="213264"/>
                    <a:pt x="133900" y="132492"/>
                  </a:cubicBezTo>
                  <a:cubicBezTo>
                    <a:pt x="216577" y="50577"/>
                    <a:pt x="330877" y="0"/>
                    <a:pt x="457179" y="0"/>
                  </a:cubicBezTo>
                  <a:lnTo>
                    <a:pt x="3657579" y="0"/>
                  </a:lnTo>
                  <a:cubicBezTo>
                    <a:pt x="3908467" y="0"/>
                    <a:pt x="4112112" y="200025"/>
                    <a:pt x="4114683" y="447675"/>
                  </a:cubicBezTo>
                  <a:moveTo>
                    <a:pt x="114374" y="447675"/>
                  </a:moveTo>
                  <a:lnTo>
                    <a:pt x="114374" y="457200"/>
                  </a:lnTo>
                  <a:moveTo>
                    <a:pt x="74" y="457200"/>
                  </a:moveTo>
                  <a:lnTo>
                    <a:pt x="74" y="447675"/>
                  </a:lnTo>
                  <a:moveTo>
                    <a:pt x="4114874" y="457200"/>
                  </a:moveTo>
                  <a:lnTo>
                    <a:pt x="4114874" y="447675"/>
                  </a:lnTo>
                  <a:moveTo>
                    <a:pt x="800174" y="457200"/>
                  </a:moveTo>
                  <a:lnTo>
                    <a:pt x="800174" y="447675"/>
                  </a:lnTo>
                  <a:moveTo>
                    <a:pt x="114395" y="457200"/>
                  </a:moveTo>
                  <a:cubicBezTo>
                    <a:pt x="114395" y="458819"/>
                    <a:pt x="114300" y="460343"/>
                    <a:pt x="114300" y="461962"/>
                  </a:cubicBezTo>
                  <a:cubicBezTo>
                    <a:pt x="114300" y="649319"/>
                    <a:pt x="267843" y="801243"/>
                    <a:pt x="457200" y="801243"/>
                  </a:cubicBezTo>
                  <a:cubicBezTo>
                    <a:pt x="646557" y="801243"/>
                    <a:pt x="800100" y="649319"/>
                    <a:pt x="800100" y="461962"/>
                  </a:cubicBezTo>
                  <a:cubicBezTo>
                    <a:pt x="800100" y="460343"/>
                    <a:pt x="800004" y="458819"/>
                    <a:pt x="800004" y="457200"/>
                  </a:cubicBezTo>
                  <a:moveTo>
                    <a:pt x="4114704" y="457200"/>
                  </a:moveTo>
                  <a:cubicBezTo>
                    <a:pt x="4114704" y="458819"/>
                    <a:pt x="4114800" y="460343"/>
                    <a:pt x="4114800" y="461962"/>
                  </a:cubicBezTo>
                  <a:cubicBezTo>
                    <a:pt x="4114800" y="587025"/>
                    <a:pt x="4063650" y="700087"/>
                    <a:pt x="3980878" y="781907"/>
                  </a:cubicBezTo>
                  <a:cubicBezTo>
                    <a:pt x="3898201" y="863822"/>
                    <a:pt x="3783901" y="914400"/>
                    <a:pt x="3657600" y="914400"/>
                  </a:cubicBezTo>
                  <a:lnTo>
                    <a:pt x="457200" y="914400"/>
                  </a:lnTo>
                  <a:cubicBezTo>
                    <a:pt x="204692" y="914400"/>
                    <a:pt x="0" y="711803"/>
                    <a:pt x="0" y="461962"/>
                  </a:cubicBezTo>
                  <a:cubicBezTo>
                    <a:pt x="0" y="460343"/>
                    <a:pt x="95" y="458819"/>
                    <a:pt x="95" y="457200"/>
                  </a:cubicBezTo>
                </a:path>
              </a:pathLst>
            </a:custGeom>
            <a:grpFill/>
            <a:ln w="14287">
              <a:solidFill>
                <a:srgbClr val="FFFFFF"/>
              </a:solidFill>
            </a:ln>
          </p:spPr>
          <p:txBody>
            <a:bodyPr rtlCol="0" anchor="ctr"/>
            <a:lstStyle/>
            <a:p>
              <a:pPr algn="ctr"/>
              <a:endParaRPr/>
            </a:p>
          </p:txBody>
        </p:sp>
      </p:grpSp>
      <p:grpSp>
        <p:nvGrpSpPr>
          <p:cNvPr id="10" name="Group 9"/>
          <p:cNvGrpSpPr/>
          <p:nvPr/>
        </p:nvGrpSpPr>
        <p:grpSpPr>
          <a:xfrm>
            <a:off x="2671665" y="4556388"/>
            <a:ext cx="6848671" cy="1379922"/>
            <a:chOff x="685725" y="3771899"/>
            <a:chExt cx="4114874" cy="914400"/>
          </a:xfrm>
          <a:solidFill>
            <a:schemeClr val="accent3">
              <a:lumMod val="40000"/>
              <a:lumOff val="60000"/>
            </a:schemeClr>
          </a:solidFill>
        </p:grpSpPr>
        <p:sp>
          <p:nvSpPr>
            <p:cNvPr id="8" name="Rounded Rectangle 7"/>
            <p:cNvSpPr/>
            <p:nvPr/>
          </p:nvSpPr>
          <p:spPr>
            <a:xfrm>
              <a:off x="685725" y="3771899"/>
              <a:ext cx="4114874" cy="914400"/>
            </a:xfrm>
            <a:custGeom>
              <a:avLst/>
              <a:gdLst/>
              <a:ahLst/>
              <a:cxnLst/>
              <a:rect l="0" t="0" r="0" b="0"/>
              <a:pathLst>
                <a:path w="4114874" h="914400">
                  <a:moveTo>
                    <a:pt x="114374" y="447675"/>
                  </a:moveTo>
                  <a:lnTo>
                    <a:pt x="74" y="447675"/>
                  </a:lnTo>
                  <a:cubicBezTo>
                    <a:pt x="1407" y="324612"/>
                    <a:pt x="52176" y="213264"/>
                    <a:pt x="133900" y="132492"/>
                  </a:cubicBezTo>
                  <a:cubicBezTo>
                    <a:pt x="216577" y="50577"/>
                    <a:pt x="330877" y="0"/>
                    <a:pt x="457179" y="0"/>
                  </a:cubicBezTo>
                  <a:lnTo>
                    <a:pt x="3657579" y="0"/>
                  </a:lnTo>
                  <a:cubicBezTo>
                    <a:pt x="3908467" y="0"/>
                    <a:pt x="4112112" y="200025"/>
                    <a:pt x="4114683" y="447675"/>
                  </a:cubicBezTo>
                  <a:lnTo>
                    <a:pt x="799983" y="447675"/>
                  </a:lnTo>
                  <a:cubicBezTo>
                    <a:pt x="797412" y="262509"/>
                    <a:pt x="644916" y="113156"/>
                    <a:pt x="457179" y="113156"/>
                  </a:cubicBezTo>
                  <a:cubicBezTo>
                    <a:pt x="269441" y="113156"/>
                    <a:pt x="116946" y="262509"/>
                    <a:pt x="114374" y="447675"/>
                  </a:cubicBezTo>
                  <a:close/>
                  <a:moveTo>
                    <a:pt x="114377" y="457200"/>
                  </a:moveTo>
                  <a:lnTo>
                    <a:pt x="74" y="457200"/>
                  </a:lnTo>
                  <a:lnTo>
                    <a:pt x="74" y="447675"/>
                  </a:lnTo>
                  <a:lnTo>
                    <a:pt x="114377" y="447675"/>
                  </a:lnTo>
                  <a:close/>
                  <a:moveTo>
                    <a:pt x="4114874" y="457200"/>
                  </a:moveTo>
                  <a:lnTo>
                    <a:pt x="800192" y="457200"/>
                  </a:lnTo>
                  <a:lnTo>
                    <a:pt x="800192" y="447675"/>
                  </a:lnTo>
                  <a:lnTo>
                    <a:pt x="4114874" y="447675"/>
                  </a:lnTo>
                  <a:close/>
                  <a:moveTo>
                    <a:pt x="4114704" y="457200"/>
                  </a:moveTo>
                  <a:cubicBezTo>
                    <a:pt x="4114704" y="458819"/>
                    <a:pt x="4114800" y="460343"/>
                    <a:pt x="4114800" y="461962"/>
                  </a:cubicBezTo>
                  <a:cubicBezTo>
                    <a:pt x="4114800" y="587025"/>
                    <a:pt x="4063650" y="700087"/>
                    <a:pt x="3980878" y="781907"/>
                  </a:cubicBezTo>
                  <a:cubicBezTo>
                    <a:pt x="3898201" y="863822"/>
                    <a:pt x="3783901" y="914400"/>
                    <a:pt x="3657600" y="914400"/>
                  </a:cubicBezTo>
                  <a:lnTo>
                    <a:pt x="457200" y="914400"/>
                  </a:lnTo>
                  <a:cubicBezTo>
                    <a:pt x="204692" y="914400"/>
                    <a:pt x="0" y="711803"/>
                    <a:pt x="0" y="461962"/>
                  </a:cubicBezTo>
                  <a:cubicBezTo>
                    <a:pt x="0" y="460343"/>
                    <a:pt x="95" y="458819"/>
                    <a:pt x="95" y="457200"/>
                  </a:cubicBezTo>
                  <a:lnTo>
                    <a:pt x="114395" y="457200"/>
                  </a:lnTo>
                  <a:cubicBezTo>
                    <a:pt x="114395" y="458819"/>
                    <a:pt x="114300" y="460343"/>
                    <a:pt x="114300" y="461962"/>
                  </a:cubicBezTo>
                  <a:cubicBezTo>
                    <a:pt x="114300" y="649319"/>
                    <a:pt x="267843" y="801243"/>
                    <a:pt x="457200" y="801243"/>
                  </a:cubicBezTo>
                  <a:cubicBezTo>
                    <a:pt x="646557" y="801243"/>
                    <a:pt x="800100" y="649319"/>
                    <a:pt x="800100" y="461962"/>
                  </a:cubicBezTo>
                  <a:cubicBezTo>
                    <a:pt x="800100" y="460343"/>
                    <a:pt x="800004" y="458819"/>
                    <a:pt x="800004" y="457200"/>
                  </a:cubicBezTo>
                  <a:close/>
                </a:path>
              </a:pathLst>
            </a:custGeom>
            <a:grpFill/>
            <a:ln>
              <a:noFill/>
            </a:ln>
          </p:spPr>
          <p:txBody>
            <a:bodyPr rtlCol="0" anchor="ctr"/>
            <a:lstStyle/>
            <a:p>
              <a:pPr algn="ctr"/>
              <a:endParaRPr/>
            </a:p>
          </p:txBody>
        </p:sp>
        <p:sp>
          <p:nvSpPr>
            <p:cNvPr id="9" name="Rounded Rectangle 8"/>
            <p:cNvSpPr/>
            <p:nvPr/>
          </p:nvSpPr>
          <p:spPr>
            <a:xfrm>
              <a:off x="685725" y="3771899"/>
              <a:ext cx="4114874" cy="914400"/>
            </a:xfrm>
            <a:custGeom>
              <a:avLst/>
              <a:gdLst/>
              <a:ahLst/>
              <a:cxnLst/>
              <a:rect l="0" t="0" r="0" b="0"/>
              <a:pathLst>
                <a:path w="4114874" h="914400">
                  <a:moveTo>
                    <a:pt x="799983" y="447675"/>
                  </a:moveTo>
                  <a:cubicBezTo>
                    <a:pt x="797412" y="262509"/>
                    <a:pt x="644916" y="113157"/>
                    <a:pt x="457179" y="113157"/>
                  </a:cubicBezTo>
                  <a:cubicBezTo>
                    <a:pt x="269441" y="113157"/>
                    <a:pt x="116946" y="262509"/>
                    <a:pt x="114374" y="447675"/>
                  </a:cubicBezTo>
                  <a:moveTo>
                    <a:pt x="74" y="447675"/>
                  </a:moveTo>
                  <a:cubicBezTo>
                    <a:pt x="1407" y="324612"/>
                    <a:pt x="52176" y="213264"/>
                    <a:pt x="133900" y="132492"/>
                  </a:cubicBezTo>
                  <a:cubicBezTo>
                    <a:pt x="216577" y="50577"/>
                    <a:pt x="330877" y="0"/>
                    <a:pt x="457179" y="0"/>
                  </a:cubicBezTo>
                  <a:lnTo>
                    <a:pt x="3657579" y="0"/>
                  </a:lnTo>
                  <a:cubicBezTo>
                    <a:pt x="3908467" y="0"/>
                    <a:pt x="4112112" y="200025"/>
                    <a:pt x="4114683" y="447675"/>
                  </a:cubicBezTo>
                  <a:moveTo>
                    <a:pt x="114374" y="447675"/>
                  </a:moveTo>
                  <a:lnTo>
                    <a:pt x="114374" y="457200"/>
                  </a:lnTo>
                  <a:moveTo>
                    <a:pt x="74" y="457200"/>
                  </a:moveTo>
                  <a:lnTo>
                    <a:pt x="74" y="447675"/>
                  </a:lnTo>
                  <a:moveTo>
                    <a:pt x="4114874" y="457200"/>
                  </a:moveTo>
                  <a:lnTo>
                    <a:pt x="4114874" y="447675"/>
                  </a:lnTo>
                  <a:moveTo>
                    <a:pt x="800174" y="457200"/>
                  </a:moveTo>
                  <a:lnTo>
                    <a:pt x="800174" y="447675"/>
                  </a:lnTo>
                  <a:moveTo>
                    <a:pt x="114395" y="457200"/>
                  </a:moveTo>
                  <a:cubicBezTo>
                    <a:pt x="114395" y="458819"/>
                    <a:pt x="114300" y="460343"/>
                    <a:pt x="114300" y="461962"/>
                  </a:cubicBezTo>
                  <a:cubicBezTo>
                    <a:pt x="114300" y="649319"/>
                    <a:pt x="267843" y="801243"/>
                    <a:pt x="457200" y="801243"/>
                  </a:cubicBezTo>
                  <a:cubicBezTo>
                    <a:pt x="646557" y="801243"/>
                    <a:pt x="800100" y="649319"/>
                    <a:pt x="800100" y="461962"/>
                  </a:cubicBezTo>
                  <a:cubicBezTo>
                    <a:pt x="800100" y="460343"/>
                    <a:pt x="800004" y="458819"/>
                    <a:pt x="800004" y="457200"/>
                  </a:cubicBezTo>
                  <a:moveTo>
                    <a:pt x="4114704" y="457200"/>
                  </a:moveTo>
                  <a:cubicBezTo>
                    <a:pt x="4114704" y="458819"/>
                    <a:pt x="4114800" y="460343"/>
                    <a:pt x="4114800" y="461962"/>
                  </a:cubicBezTo>
                  <a:cubicBezTo>
                    <a:pt x="4114800" y="587025"/>
                    <a:pt x="4063650" y="700087"/>
                    <a:pt x="3980878" y="781907"/>
                  </a:cubicBezTo>
                  <a:cubicBezTo>
                    <a:pt x="3898201" y="863822"/>
                    <a:pt x="3783901" y="914400"/>
                    <a:pt x="3657600" y="914400"/>
                  </a:cubicBezTo>
                  <a:lnTo>
                    <a:pt x="457200" y="914400"/>
                  </a:lnTo>
                  <a:cubicBezTo>
                    <a:pt x="204692" y="914400"/>
                    <a:pt x="0" y="711803"/>
                    <a:pt x="0" y="461962"/>
                  </a:cubicBezTo>
                  <a:cubicBezTo>
                    <a:pt x="0" y="460343"/>
                    <a:pt x="95" y="458819"/>
                    <a:pt x="95" y="457200"/>
                  </a:cubicBezTo>
                </a:path>
              </a:pathLst>
            </a:custGeom>
            <a:grpFill/>
            <a:ln w="14287">
              <a:solidFill>
                <a:srgbClr val="FFFFFF"/>
              </a:solidFill>
            </a:ln>
          </p:spPr>
          <p:txBody>
            <a:bodyPr rtlCol="0" anchor="ctr"/>
            <a:lstStyle/>
            <a:p>
              <a:pPr algn="ctr"/>
              <a:endParaRPr/>
            </a:p>
          </p:txBody>
        </p:sp>
      </p:grpSp>
      <p:sp>
        <p:nvSpPr>
          <p:cNvPr id="12" name="TextBox 11"/>
          <p:cNvSpPr txBox="1"/>
          <p:nvPr/>
        </p:nvSpPr>
        <p:spPr>
          <a:xfrm>
            <a:off x="4399683" y="1205814"/>
            <a:ext cx="1942840" cy="369332"/>
          </a:xfrm>
          <a:prstGeom prst="rect">
            <a:avLst/>
          </a:prstGeom>
          <a:noFill/>
          <a:ln>
            <a:noFill/>
          </a:ln>
        </p:spPr>
        <p:txBody>
          <a:bodyPr wrap="none" lIns="0" tIns="0" rIns="0" bIns="0" anchor="t">
            <a:spAutoFit/>
          </a:bodyPr>
          <a:lstStyle/>
          <a:p>
            <a:pPr algn="l"/>
            <a:r>
              <a:rPr sz="2400" b="1" dirty="0">
                <a:solidFill>
                  <a:srgbClr val="FFFFFF"/>
                </a:solidFill>
                <a:latin typeface="Roboto"/>
              </a:rPr>
              <a:t>High Deposits</a:t>
            </a:r>
          </a:p>
        </p:txBody>
      </p:sp>
      <p:sp>
        <p:nvSpPr>
          <p:cNvPr id="13" name="TextBox 12"/>
          <p:cNvSpPr txBox="1"/>
          <p:nvPr/>
        </p:nvSpPr>
        <p:spPr>
          <a:xfrm>
            <a:off x="4399683" y="1674374"/>
            <a:ext cx="4451353" cy="615553"/>
          </a:xfrm>
          <a:prstGeom prst="rect">
            <a:avLst/>
          </a:prstGeom>
          <a:noFill/>
          <a:ln>
            <a:noFill/>
          </a:ln>
        </p:spPr>
        <p:txBody>
          <a:bodyPr wrap="square" lIns="0" tIns="0" rIns="0" bIns="0" anchor="t">
            <a:spAutoFit/>
          </a:bodyPr>
          <a:lstStyle/>
          <a:p>
            <a:pPr algn="l"/>
            <a:r>
              <a:rPr sz="2000" dirty="0">
                <a:solidFill>
                  <a:srgbClr val="FFFFFF"/>
                </a:solidFill>
                <a:latin typeface="Roboto"/>
              </a:rPr>
              <a:t>Deposited over Rs. 1 crore in current
accounts.</a:t>
            </a:r>
          </a:p>
        </p:txBody>
      </p:sp>
      <p:sp>
        <p:nvSpPr>
          <p:cNvPr id="14" name="TextBox 13"/>
          <p:cNvSpPr txBox="1"/>
          <p:nvPr/>
        </p:nvSpPr>
        <p:spPr>
          <a:xfrm>
            <a:off x="4399683" y="2908490"/>
            <a:ext cx="2000548" cy="369332"/>
          </a:xfrm>
          <a:prstGeom prst="rect">
            <a:avLst/>
          </a:prstGeom>
          <a:noFill/>
          <a:ln>
            <a:noFill/>
          </a:ln>
        </p:spPr>
        <p:txBody>
          <a:bodyPr wrap="none" lIns="0" tIns="0" rIns="0" bIns="0" anchor="t">
            <a:spAutoFit/>
          </a:bodyPr>
          <a:lstStyle/>
          <a:p>
            <a:pPr algn="l"/>
            <a:r>
              <a:rPr sz="2400" b="1" dirty="0">
                <a:solidFill>
                  <a:srgbClr val="FFFFFF"/>
                </a:solidFill>
                <a:latin typeface="Roboto"/>
              </a:rPr>
              <a:t>Foreign Travel</a:t>
            </a:r>
          </a:p>
        </p:txBody>
      </p:sp>
      <p:sp>
        <p:nvSpPr>
          <p:cNvPr id="15" name="TextBox 14"/>
          <p:cNvSpPr txBox="1"/>
          <p:nvPr/>
        </p:nvSpPr>
        <p:spPr>
          <a:xfrm>
            <a:off x="4399683" y="3343284"/>
            <a:ext cx="4028330" cy="615553"/>
          </a:xfrm>
          <a:prstGeom prst="rect">
            <a:avLst/>
          </a:prstGeom>
          <a:noFill/>
          <a:ln>
            <a:noFill/>
          </a:ln>
        </p:spPr>
        <p:txBody>
          <a:bodyPr wrap="square" lIns="0" tIns="0" rIns="0" bIns="0" anchor="t">
            <a:spAutoFit/>
          </a:bodyPr>
          <a:lstStyle/>
          <a:p>
            <a:pPr algn="l"/>
            <a:r>
              <a:rPr sz="2000" dirty="0">
                <a:solidFill>
                  <a:srgbClr val="FFFFFF"/>
                </a:solidFill>
                <a:latin typeface="Roboto"/>
              </a:rPr>
              <a:t>Incurred expenses over Rs. 2 lakh for foreign</a:t>
            </a:r>
            <a:r>
              <a:rPr lang="en-US" sz="2000" dirty="0">
                <a:solidFill>
                  <a:srgbClr val="FFFFFF"/>
                </a:solidFill>
                <a:latin typeface="Roboto"/>
              </a:rPr>
              <a:t> </a:t>
            </a:r>
            <a:r>
              <a:rPr sz="2000" dirty="0">
                <a:solidFill>
                  <a:srgbClr val="FFFFFF"/>
                </a:solidFill>
                <a:latin typeface="Roboto"/>
              </a:rPr>
              <a:t>travel.</a:t>
            </a:r>
          </a:p>
        </p:txBody>
      </p:sp>
      <p:sp>
        <p:nvSpPr>
          <p:cNvPr id="16" name="TextBox 15"/>
          <p:cNvSpPr txBox="1"/>
          <p:nvPr/>
        </p:nvSpPr>
        <p:spPr>
          <a:xfrm>
            <a:off x="4399683" y="4734137"/>
            <a:ext cx="3310202" cy="369332"/>
          </a:xfrm>
          <a:prstGeom prst="rect">
            <a:avLst/>
          </a:prstGeom>
          <a:noFill/>
          <a:ln>
            <a:noFill/>
          </a:ln>
        </p:spPr>
        <p:txBody>
          <a:bodyPr wrap="none" lIns="0" tIns="0" rIns="0" bIns="0" anchor="t">
            <a:spAutoFit/>
          </a:bodyPr>
          <a:lstStyle/>
          <a:p>
            <a:pPr algn="l"/>
            <a:r>
              <a:rPr sz="2400" b="1" dirty="0">
                <a:solidFill>
                  <a:srgbClr val="FFFFFF"/>
                </a:solidFill>
                <a:latin typeface="Roboto"/>
              </a:rPr>
              <a:t>Electricity Consumption</a:t>
            </a:r>
          </a:p>
        </p:txBody>
      </p:sp>
      <p:sp>
        <p:nvSpPr>
          <p:cNvPr id="17" name="TextBox 16"/>
          <p:cNvSpPr txBox="1"/>
          <p:nvPr/>
        </p:nvSpPr>
        <p:spPr>
          <a:xfrm>
            <a:off x="4399683" y="5183626"/>
            <a:ext cx="4807406" cy="615553"/>
          </a:xfrm>
          <a:prstGeom prst="rect">
            <a:avLst/>
          </a:prstGeom>
          <a:noFill/>
          <a:ln>
            <a:noFill/>
          </a:ln>
        </p:spPr>
        <p:txBody>
          <a:bodyPr wrap="none" lIns="0" tIns="0" rIns="0" bIns="0" anchor="t">
            <a:spAutoFit/>
          </a:bodyPr>
          <a:lstStyle/>
          <a:p>
            <a:pPr algn="l"/>
            <a:r>
              <a:rPr sz="2000" dirty="0">
                <a:solidFill>
                  <a:srgbClr val="FFFFFF"/>
                </a:solidFill>
                <a:latin typeface="Roboto"/>
              </a:rPr>
              <a:t>Incurred expenses over Rs. 1 lakh towards
electricity.</a:t>
            </a:r>
          </a:p>
        </p:txBody>
      </p:sp>
      <p:sp>
        <p:nvSpPr>
          <p:cNvPr id="18" name="Rounded Rectangle 17"/>
          <p:cNvSpPr/>
          <p:nvPr/>
        </p:nvSpPr>
        <p:spPr>
          <a:xfrm>
            <a:off x="3248417" y="1580759"/>
            <a:ext cx="342900" cy="431576"/>
          </a:xfrm>
          <a:custGeom>
            <a:avLst/>
            <a:gdLst/>
            <a:ahLst/>
            <a:cxnLst/>
            <a:rect l="0" t="0" r="0" b="0"/>
            <a:pathLst>
              <a:path w="342900" h="431576">
                <a:moveTo>
                  <a:pt x="238201" y="107726"/>
                </a:moveTo>
                <a:lnTo>
                  <a:pt x="104851" y="107726"/>
                </a:lnTo>
                <a:moveTo>
                  <a:pt x="132892" y="107726"/>
                </a:moveTo>
                <a:cubicBezTo>
                  <a:pt x="128060" y="107764"/>
                  <a:pt x="123966" y="104177"/>
                  <a:pt x="123367" y="99383"/>
                </a:cubicBezTo>
                <a:cubicBezTo>
                  <a:pt x="119250" y="74483"/>
                  <a:pt x="111463" y="50332"/>
                  <a:pt x="100260" y="27716"/>
                </a:cubicBezTo>
                <a:cubicBezTo>
                  <a:pt x="98292" y="24147"/>
                  <a:pt x="98814" y="19722"/>
                  <a:pt x="101557" y="16708"/>
                </a:cubicBezTo>
                <a:cubicBezTo>
                  <a:pt x="104300" y="13694"/>
                  <a:pt x="108656" y="12759"/>
                  <a:pt x="112394" y="14381"/>
                </a:cubicBezTo>
                <a:lnTo>
                  <a:pt x="152400" y="31526"/>
                </a:lnTo>
                <a:lnTo>
                  <a:pt x="162686" y="5999"/>
                </a:lnTo>
                <a:cubicBezTo>
                  <a:pt x="164130" y="2377"/>
                  <a:pt x="167635" y="0"/>
                  <a:pt x="171535" y="0"/>
                </a:cubicBezTo>
                <a:cubicBezTo>
                  <a:pt x="175435" y="0"/>
                  <a:pt x="178941" y="2377"/>
                  <a:pt x="180384" y="5999"/>
                </a:cubicBezTo>
                <a:lnTo>
                  <a:pt x="190614" y="31469"/>
                </a:lnTo>
                <a:lnTo>
                  <a:pt x="230619" y="14324"/>
                </a:lnTo>
                <a:cubicBezTo>
                  <a:pt x="234357" y="12701"/>
                  <a:pt x="238714" y="13637"/>
                  <a:pt x="241457" y="16651"/>
                </a:cubicBezTo>
                <a:cubicBezTo>
                  <a:pt x="244199" y="19665"/>
                  <a:pt x="244721" y="24090"/>
                  <a:pt x="242754" y="27659"/>
                </a:cubicBezTo>
                <a:cubicBezTo>
                  <a:pt x="231576" y="50293"/>
                  <a:pt x="223833" y="74467"/>
                  <a:pt x="219779" y="99383"/>
                </a:cubicBezTo>
                <a:cubicBezTo>
                  <a:pt x="219180" y="104177"/>
                  <a:pt x="215086" y="107764"/>
                  <a:pt x="210254" y="107726"/>
                </a:cubicBezTo>
                <a:moveTo>
                  <a:pt x="209550" y="107726"/>
                </a:moveTo>
                <a:cubicBezTo>
                  <a:pt x="209550" y="107726"/>
                  <a:pt x="342900" y="212501"/>
                  <a:pt x="342900" y="304208"/>
                </a:cubicBezTo>
                <a:cubicBezTo>
                  <a:pt x="342900" y="398906"/>
                  <a:pt x="266147" y="431576"/>
                  <a:pt x="171450" y="431576"/>
                </a:cubicBezTo>
                <a:cubicBezTo>
                  <a:pt x="76752" y="431576"/>
                  <a:pt x="0" y="398906"/>
                  <a:pt x="0" y="304208"/>
                </a:cubicBezTo>
                <a:cubicBezTo>
                  <a:pt x="0" y="212501"/>
                  <a:pt x="133350" y="107726"/>
                  <a:pt x="133350" y="107726"/>
                </a:cubicBezTo>
                <a:moveTo>
                  <a:pt x="153581" y="364901"/>
                </a:moveTo>
                <a:lnTo>
                  <a:pt x="153581" y="212501"/>
                </a:lnTo>
                <a:moveTo>
                  <a:pt x="220256" y="212501"/>
                </a:moveTo>
                <a:lnTo>
                  <a:pt x="153581" y="212501"/>
                </a:lnTo>
                <a:moveTo>
                  <a:pt x="220256" y="269651"/>
                </a:moveTo>
                <a:lnTo>
                  <a:pt x="153581" y="269651"/>
                </a:lnTo>
                <a:moveTo>
                  <a:pt x="191681" y="324820"/>
                </a:moveTo>
                <a:lnTo>
                  <a:pt x="125006" y="324820"/>
                </a:lnTo>
              </a:path>
            </a:pathLst>
          </a:custGeom>
          <a:noFill/>
          <a:ln w="14287">
            <a:solidFill>
              <a:srgbClr val="484848"/>
            </a:solidFill>
          </a:ln>
        </p:spPr>
        <p:txBody>
          <a:bodyPr rtlCol="0" anchor="ctr"/>
          <a:lstStyle/>
          <a:p>
            <a:pPr algn="ctr"/>
            <a:endParaRPr/>
          </a:p>
        </p:txBody>
      </p:sp>
      <p:sp>
        <p:nvSpPr>
          <p:cNvPr id="19" name="Rounded Rectangle 18"/>
          <p:cNvSpPr/>
          <p:nvPr/>
        </p:nvSpPr>
        <p:spPr>
          <a:xfrm>
            <a:off x="3179560" y="3304946"/>
            <a:ext cx="449232" cy="433001"/>
          </a:xfrm>
          <a:custGeom>
            <a:avLst/>
            <a:gdLst/>
            <a:ahLst/>
            <a:cxnLst/>
            <a:rect l="0" t="0" r="0" b="0"/>
            <a:pathLst>
              <a:path w="449232" h="433001">
                <a:moveTo>
                  <a:pt x="412160" y="249974"/>
                </a:moveTo>
                <a:cubicBezTo>
                  <a:pt x="424559" y="244773"/>
                  <a:pt x="438827" y="250607"/>
                  <a:pt x="444029" y="263005"/>
                </a:cubicBezTo>
                <a:cubicBezTo>
                  <a:pt x="449232" y="275403"/>
                  <a:pt x="443399" y="289672"/>
                  <a:pt x="431001" y="294875"/>
                </a:cubicBezTo>
                <a:lnTo>
                  <a:pt x="365240" y="323926"/>
                </a:lnTo>
                <a:lnTo>
                  <a:pt x="313805" y="417805"/>
                </a:lnTo>
                <a:cubicBezTo>
                  <a:pt x="312887" y="419436"/>
                  <a:pt x="311509" y="420762"/>
                  <a:pt x="309843" y="421615"/>
                </a:cubicBezTo>
                <a:lnTo>
                  <a:pt x="291421" y="431140"/>
                </a:lnTo>
                <a:cubicBezTo>
                  <a:pt x="287905" y="433001"/>
                  <a:pt x="283603" y="432482"/>
                  <a:pt x="280632" y="429837"/>
                </a:cubicBezTo>
                <a:cubicBezTo>
                  <a:pt x="277660" y="427192"/>
                  <a:pt x="276645" y="422979"/>
                  <a:pt x="278086" y="419272"/>
                </a:cubicBezTo>
                <a:lnTo>
                  <a:pt x="305728" y="347491"/>
                </a:lnTo>
                <a:lnTo>
                  <a:pt x="223813" y="379876"/>
                </a:lnTo>
                <a:cubicBezTo>
                  <a:pt x="220960" y="380999"/>
                  <a:pt x="217741" y="380680"/>
                  <a:pt x="215164" y="379019"/>
                </a:cubicBezTo>
                <a:lnTo>
                  <a:pt x="145498" y="334061"/>
                </a:lnTo>
                <a:cubicBezTo>
                  <a:pt x="142703" y="332260"/>
                  <a:pt x="141050" y="329132"/>
                  <a:pt x="141135" y="325809"/>
                </a:cubicBezTo>
                <a:cubicBezTo>
                  <a:pt x="141221" y="322485"/>
                  <a:pt x="143033" y="319447"/>
                  <a:pt x="145917" y="317792"/>
                </a:cubicBezTo>
                <a:lnTo>
                  <a:pt x="166358" y="306038"/>
                </a:lnTo>
                <a:cubicBezTo>
                  <a:pt x="168999" y="304521"/>
                  <a:pt x="172206" y="304358"/>
                  <a:pt x="174987" y="305600"/>
                </a:cubicBezTo>
                <a:lnTo>
                  <a:pt x="221146" y="326250"/>
                </a:lnTo>
                <a:close/>
                <a:moveTo>
                  <a:pt x="296165" y="296209"/>
                </a:moveTo>
                <a:lnTo>
                  <a:pt x="239224" y="258337"/>
                </a:lnTo>
                <a:cubicBezTo>
                  <a:pt x="236411" y="256467"/>
                  <a:pt x="234798" y="253247"/>
                  <a:pt x="234986" y="249874"/>
                </a:cubicBezTo>
                <a:cubicBezTo>
                  <a:pt x="235175" y="246502"/>
                  <a:pt x="237135" y="243481"/>
                  <a:pt x="240139" y="241935"/>
                </a:cubicBezTo>
                <a:lnTo>
                  <a:pt x="259684" y="231839"/>
                </a:lnTo>
                <a:cubicBezTo>
                  <a:pt x="262702" y="230259"/>
                  <a:pt x="266334" y="230412"/>
                  <a:pt x="269209" y="232239"/>
                </a:cubicBezTo>
                <a:lnTo>
                  <a:pt x="342113" y="277959"/>
                </a:lnTo>
                <a:moveTo>
                  <a:pt x="123172" y="287579"/>
                </a:moveTo>
                <a:cubicBezTo>
                  <a:pt x="49476" y="272609"/>
                  <a:pt x="0" y="203076"/>
                  <a:pt x="10010" y="128545"/>
                </a:cubicBezTo>
                <a:cubicBezTo>
                  <a:pt x="20020" y="54013"/>
                  <a:pt x="86090" y="0"/>
                  <a:pt x="161124" y="5005"/>
                </a:cubicBezTo>
                <a:cubicBezTo>
                  <a:pt x="236157" y="10011"/>
                  <a:pt x="294467" y="72323"/>
                  <a:pt x="294488" y="147523"/>
                </a:cubicBezTo>
                <a:moveTo>
                  <a:pt x="62612" y="259175"/>
                </a:moveTo>
                <a:lnTo>
                  <a:pt x="75413" y="195148"/>
                </a:lnTo>
                <a:lnTo>
                  <a:pt x="89129" y="195148"/>
                </a:lnTo>
                <a:cubicBezTo>
                  <a:pt x="94993" y="195147"/>
                  <a:pt x="100529" y="192445"/>
                  <a:pt x="104138" y="187824"/>
                </a:cubicBezTo>
                <a:cubicBezTo>
                  <a:pt x="107747" y="183203"/>
                  <a:pt x="109027" y="177177"/>
                  <a:pt x="107608" y="171488"/>
                </a:cubicBezTo>
                <a:lnTo>
                  <a:pt x="98083" y="133388"/>
                </a:lnTo>
                <a:cubicBezTo>
                  <a:pt x="95967" y="124905"/>
                  <a:pt x="88348" y="118951"/>
                  <a:pt x="79604" y="118948"/>
                </a:cubicBezTo>
                <a:lnTo>
                  <a:pt x="11615" y="118948"/>
                </a:lnTo>
                <a:moveTo>
                  <a:pt x="265723" y="61798"/>
                </a:moveTo>
                <a:lnTo>
                  <a:pt x="214116" y="61798"/>
                </a:lnTo>
                <a:cubicBezTo>
                  <a:pt x="205373" y="61801"/>
                  <a:pt x="197754" y="67755"/>
                  <a:pt x="195638" y="76238"/>
                </a:cubicBezTo>
                <a:lnTo>
                  <a:pt x="186113" y="114338"/>
                </a:lnTo>
                <a:cubicBezTo>
                  <a:pt x="184694" y="120027"/>
                  <a:pt x="185974" y="126053"/>
                  <a:pt x="189583" y="130674"/>
                </a:cubicBezTo>
                <a:cubicBezTo>
                  <a:pt x="193192" y="135295"/>
                  <a:pt x="198728" y="137997"/>
                  <a:pt x="204591" y="137998"/>
                </a:cubicBezTo>
                <a:lnTo>
                  <a:pt x="224651" y="137998"/>
                </a:lnTo>
                <a:lnTo>
                  <a:pt x="234690" y="198292"/>
                </a:lnTo>
              </a:path>
            </a:pathLst>
          </a:custGeom>
          <a:noFill/>
          <a:ln w="14287">
            <a:solidFill>
              <a:srgbClr val="484848"/>
            </a:solidFill>
          </a:ln>
        </p:spPr>
        <p:txBody>
          <a:bodyPr rtlCol="0" anchor="ctr"/>
          <a:lstStyle/>
          <a:p>
            <a:pPr algn="ctr"/>
            <a:endParaRPr/>
          </a:p>
        </p:txBody>
      </p:sp>
      <p:sp>
        <p:nvSpPr>
          <p:cNvPr id="20" name="Rounded Rectangle 19"/>
          <p:cNvSpPr/>
          <p:nvPr/>
        </p:nvSpPr>
        <p:spPr>
          <a:xfrm>
            <a:off x="3286517" y="5027274"/>
            <a:ext cx="304800" cy="438150"/>
          </a:xfrm>
          <a:custGeom>
            <a:avLst/>
            <a:gdLst/>
            <a:ahLst/>
            <a:cxnLst/>
            <a:rect l="0" t="0" r="0" b="0"/>
            <a:pathLst>
              <a:path w="304800" h="438150">
                <a:moveTo>
                  <a:pt x="152400" y="0"/>
                </a:moveTo>
                <a:cubicBezTo>
                  <a:pt x="236568" y="0"/>
                  <a:pt x="304800" y="68231"/>
                  <a:pt x="304800" y="152400"/>
                </a:cubicBezTo>
                <a:cubicBezTo>
                  <a:pt x="304800" y="236568"/>
                  <a:pt x="236568" y="304800"/>
                  <a:pt x="152400" y="304800"/>
                </a:cubicBezTo>
                <a:cubicBezTo>
                  <a:pt x="68231" y="304800"/>
                  <a:pt x="0" y="236568"/>
                  <a:pt x="0" y="152400"/>
                </a:cubicBezTo>
                <a:cubicBezTo>
                  <a:pt x="0" y="68231"/>
                  <a:pt x="68231" y="0"/>
                  <a:pt x="152400" y="0"/>
                </a:cubicBezTo>
                <a:close/>
                <a:moveTo>
                  <a:pt x="104775" y="342900"/>
                </a:moveTo>
                <a:lnTo>
                  <a:pt x="200025" y="342900"/>
                </a:lnTo>
                <a:moveTo>
                  <a:pt x="104775" y="381000"/>
                </a:moveTo>
                <a:lnTo>
                  <a:pt x="200025" y="381000"/>
                </a:lnTo>
                <a:moveTo>
                  <a:pt x="104775" y="419100"/>
                </a:moveTo>
                <a:lnTo>
                  <a:pt x="200025" y="419100"/>
                </a:lnTo>
                <a:moveTo>
                  <a:pt x="152400" y="419100"/>
                </a:moveTo>
                <a:lnTo>
                  <a:pt x="152400" y="438150"/>
                </a:lnTo>
                <a:moveTo>
                  <a:pt x="95250" y="209550"/>
                </a:moveTo>
                <a:lnTo>
                  <a:pt x="117081" y="231381"/>
                </a:lnTo>
                <a:cubicBezTo>
                  <a:pt x="120800" y="235099"/>
                  <a:pt x="126830" y="235099"/>
                  <a:pt x="130549" y="231381"/>
                </a:cubicBezTo>
                <a:lnTo>
                  <a:pt x="152400" y="209550"/>
                </a:lnTo>
                <a:lnTo>
                  <a:pt x="174231" y="231381"/>
                </a:lnTo>
                <a:cubicBezTo>
                  <a:pt x="177950" y="235099"/>
                  <a:pt x="183980" y="235099"/>
                  <a:pt x="187699" y="231381"/>
                </a:cubicBezTo>
                <a:lnTo>
                  <a:pt x="209550" y="209550"/>
                </a:lnTo>
                <a:moveTo>
                  <a:pt x="152400" y="304800"/>
                </a:moveTo>
                <a:lnTo>
                  <a:pt x="152400" y="209550"/>
                </a:lnTo>
              </a:path>
            </a:pathLst>
          </a:custGeom>
          <a:noFill/>
          <a:ln w="14287">
            <a:solidFill>
              <a:srgbClr val="484848"/>
            </a:solidFill>
          </a:ln>
        </p:spPr>
        <p:txBody>
          <a:bodyPr rtlCol="0" anchor="ctr"/>
          <a:lstStyle/>
          <a:p>
            <a:pPr algn="ctr"/>
            <a:endParaRPr/>
          </a:p>
        </p:txBody>
      </p:sp>
      <p:sp>
        <p:nvSpPr>
          <p:cNvPr id="11" name="TextBox 10">
            <a:extLst>
              <a:ext uri="{FF2B5EF4-FFF2-40B4-BE49-F238E27FC236}">
                <a16:creationId xmlns:a16="http://schemas.microsoft.com/office/drawing/2014/main" id="{22B55B0C-BC4B-873B-8912-F9A04FFFA301}"/>
              </a:ext>
            </a:extLst>
          </p:cNvPr>
          <p:cNvSpPr txBox="1"/>
          <p:nvPr/>
        </p:nvSpPr>
        <p:spPr>
          <a:xfrm>
            <a:off x="630314" y="355107"/>
            <a:ext cx="870012" cy="769441"/>
          </a:xfrm>
          <a:prstGeom prst="rect">
            <a:avLst/>
          </a:prstGeom>
          <a:noFill/>
        </p:spPr>
        <p:txBody>
          <a:bodyPr wrap="square" rtlCol="0">
            <a:spAutoFit/>
          </a:bodyPr>
          <a:lstStyle/>
          <a:p>
            <a:r>
              <a:rPr lang="en-US" sz="4400" b="1" dirty="0"/>
              <a:t>03</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2774302" y="844420"/>
            <a:ext cx="6643396" cy="1088243"/>
            <a:chOff x="602665" y="1305918"/>
            <a:chExt cx="3616452" cy="803641"/>
          </a:xfrm>
          <a:solidFill>
            <a:schemeClr val="tx2">
              <a:lumMod val="75000"/>
            </a:schemeClr>
          </a:solidFill>
        </p:grpSpPr>
        <p:sp>
          <p:nvSpPr>
            <p:cNvPr id="2" name="Rounded Rectangle 1"/>
            <p:cNvSpPr/>
            <p:nvPr/>
          </p:nvSpPr>
          <p:spPr>
            <a:xfrm>
              <a:off x="602665" y="1305918"/>
              <a:ext cx="3616452" cy="803641"/>
            </a:xfrm>
            <a:custGeom>
              <a:avLst/>
              <a:gdLst/>
              <a:ahLst/>
              <a:cxnLst/>
              <a:rect l="0" t="0" r="0" b="0"/>
              <a:pathLst>
                <a:path w="3616452" h="803641">
                  <a:moveTo>
                    <a:pt x="100520" y="393449"/>
                  </a:moveTo>
                  <a:lnTo>
                    <a:pt x="65" y="393449"/>
                  </a:lnTo>
                  <a:cubicBezTo>
                    <a:pt x="1237" y="285292"/>
                    <a:pt x="45856" y="187432"/>
                    <a:pt x="117681" y="116444"/>
                  </a:cubicBezTo>
                  <a:cubicBezTo>
                    <a:pt x="190344" y="44451"/>
                    <a:pt x="290799" y="0"/>
                    <a:pt x="401802" y="0"/>
                  </a:cubicBezTo>
                  <a:lnTo>
                    <a:pt x="3214548" y="0"/>
                  </a:lnTo>
                  <a:cubicBezTo>
                    <a:pt x="3435047" y="0"/>
                    <a:pt x="3614025" y="175796"/>
                    <a:pt x="3616285" y="393449"/>
                  </a:cubicBezTo>
                  <a:lnTo>
                    <a:pt x="703084" y="393449"/>
                  </a:lnTo>
                  <a:cubicBezTo>
                    <a:pt x="700824" y="230712"/>
                    <a:pt x="566800" y="99450"/>
                    <a:pt x="401802" y="99450"/>
                  </a:cubicBezTo>
                  <a:cubicBezTo>
                    <a:pt x="236804" y="99450"/>
                    <a:pt x="102780" y="230712"/>
                    <a:pt x="100520" y="393449"/>
                  </a:cubicBezTo>
                  <a:close/>
                  <a:moveTo>
                    <a:pt x="100523" y="401820"/>
                  </a:moveTo>
                  <a:lnTo>
                    <a:pt x="65" y="401820"/>
                  </a:lnTo>
                  <a:lnTo>
                    <a:pt x="65" y="393449"/>
                  </a:lnTo>
                  <a:lnTo>
                    <a:pt x="100523" y="393449"/>
                  </a:lnTo>
                  <a:close/>
                  <a:moveTo>
                    <a:pt x="3616452" y="401820"/>
                  </a:moveTo>
                  <a:lnTo>
                    <a:pt x="703267" y="401820"/>
                  </a:lnTo>
                  <a:lnTo>
                    <a:pt x="703267" y="393449"/>
                  </a:lnTo>
                  <a:lnTo>
                    <a:pt x="3616452" y="393449"/>
                  </a:lnTo>
                  <a:close/>
                  <a:moveTo>
                    <a:pt x="3616303" y="401820"/>
                  </a:moveTo>
                  <a:cubicBezTo>
                    <a:pt x="3616303" y="403243"/>
                    <a:pt x="3616387" y="404583"/>
                    <a:pt x="3616387" y="406006"/>
                  </a:cubicBezTo>
                  <a:cubicBezTo>
                    <a:pt x="3616387" y="515921"/>
                    <a:pt x="3571433" y="615288"/>
                    <a:pt x="3498687" y="687197"/>
                  </a:cubicBezTo>
                  <a:cubicBezTo>
                    <a:pt x="3426024" y="759190"/>
                    <a:pt x="3325569" y="803641"/>
                    <a:pt x="3214566" y="803641"/>
                  </a:cubicBezTo>
                  <a:lnTo>
                    <a:pt x="401820" y="803641"/>
                  </a:lnTo>
                  <a:cubicBezTo>
                    <a:pt x="179898" y="803641"/>
                    <a:pt x="0" y="625584"/>
                    <a:pt x="0" y="406006"/>
                  </a:cubicBezTo>
                  <a:cubicBezTo>
                    <a:pt x="0" y="404583"/>
                    <a:pt x="83" y="403243"/>
                    <a:pt x="83" y="401820"/>
                  </a:cubicBezTo>
                  <a:lnTo>
                    <a:pt x="100538" y="401820"/>
                  </a:lnTo>
                  <a:cubicBezTo>
                    <a:pt x="100538" y="403243"/>
                    <a:pt x="100455" y="404583"/>
                    <a:pt x="100455" y="406006"/>
                  </a:cubicBezTo>
                  <a:cubicBezTo>
                    <a:pt x="100455" y="570669"/>
                    <a:pt x="235400" y="704191"/>
                    <a:pt x="401820" y="704191"/>
                  </a:cubicBezTo>
                  <a:cubicBezTo>
                    <a:pt x="568241" y="704191"/>
                    <a:pt x="703186" y="570669"/>
                    <a:pt x="703186" y="406006"/>
                  </a:cubicBezTo>
                  <a:cubicBezTo>
                    <a:pt x="703186" y="404583"/>
                    <a:pt x="703102" y="403243"/>
                    <a:pt x="703102" y="401820"/>
                  </a:cubicBezTo>
                  <a:close/>
                </a:path>
              </a:pathLst>
            </a:custGeom>
            <a:grpFill/>
            <a:ln>
              <a:noFill/>
            </a:ln>
          </p:spPr>
          <p:txBody>
            <a:bodyPr rtlCol="0" anchor="ctr"/>
            <a:lstStyle/>
            <a:p>
              <a:pPr algn="ctr"/>
              <a:endParaRPr/>
            </a:p>
          </p:txBody>
        </p:sp>
        <p:sp>
          <p:nvSpPr>
            <p:cNvPr id="3" name="Rounded Rectangle 2"/>
            <p:cNvSpPr/>
            <p:nvPr/>
          </p:nvSpPr>
          <p:spPr>
            <a:xfrm>
              <a:off x="602665" y="1305918"/>
              <a:ext cx="3616452" cy="803641"/>
            </a:xfrm>
            <a:custGeom>
              <a:avLst/>
              <a:gdLst/>
              <a:ahLst/>
              <a:cxnLst/>
              <a:rect l="0" t="0" r="0" b="0"/>
              <a:pathLst>
                <a:path w="3616452" h="803641">
                  <a:moveTo>
                    <a:pt x="703084" y="393449"/>
                  </a:moveTo>
                  <a:cubicBezTo>
                    <a:pt x="700824" y="230712"/>
                    <a:pt x="566800" y="99450"/>
                    <a:pt x="401802" y="99450"/>
                  </a:cubicBezTo>
                  <a:cubicBezTo>
                    <a:pt x="236804" y="99450"/>
                    <a:pt x="102780" y="230712"/>
                    <a:pt x="100520" y="393449"/>
                  </a:cubicBezTo>
                  <a:moveTo>
                    <a:pt x="65" y="393449"/>
                  </a:moveTo>
                  <a:cubicBezTo>
                    <a:pt x="1237" y="285292"/>
                    <a:pt x="45856" y="187432"/>
                    <a:pt x="117681" y="116444"/>
                  </a:cubicBezTo>
                  <a:cubicBezTo>
                    <a:pt x="190344" y="44451"/>
                    <a:pt x="290799" y="0"/>
                    <a:pt x="401802" y="0"/>
                  </a:cubicBezTo>
                  <a:lnTo>
                    <a:pt x="3214548" y="0"/>
                  </a:lnTo>
                  <a:cubicBezTo>
                    <a:pt x="3435047" y="0"/>
                    <a:pt x="3614025" y="175796"/>
                    <a:pt x="3616285" y="393449"/>
                  </a:cubicBezTo>
                  <a:moveTo>
                    <a:pt x="100520" y="393449"/>
                  </a:moveTo>
                  <a:lnTo>
                    <a:pt x="100520" y="401820"/>
                  </a:lnTo>
                  <a:moveTo>
                    <a:pt x="65" y="401820"/>
                  </a:moveTo>
                  <a:lnTo>
                    <a:pt x="65" y="393449"/>
                  </a:lnTo>
                  <a:moveTo>
                    <a:pt x="3616452" y="401820"/>
                  </a:moveTo>
                  <a:lnTo>
                    <a:pt x="3616452" y="393449"/>
                  </a:lnTo>
                  <a:moveTo>
                    <a:pt x="703251" y="401820"/>
                  </a:moveTo>
                  <a:lnTo>
                    <a:pt x="703251" y="393449"/>
                  </a:lnTo>
                  <a:moveTo>
                    <a:pt x="100538" y="401820"/>
                  </a:moveTo>
                  <a:cubicBezTo>
                    <a:pt x="100538" y="403243"/>
                    <a:pt x="100455" y="404583"/>
                    <a:pt x="100455" y="406006"/>
                  </a:cubicBezTo>
                  <a:cubicBezTo>
                    <a:pt x="100455" y="570669"/>
                    <a:pt x="235400" y="704191"/>
                    <a:pt x="401820" y="704191"/>
                  </a:cubicBezTo>
                  <a:cubicBezTo>
                    <a:pt x="568241" y="704191"/>
                    <a:pt x="703186" y="570669"/>
                    <a:pt x="703186" y="406006"/>
                  </a:cubicBezTo>
                  <a:cubicBezTo>
                    <a:pt x="703186" y="404583"/>
                    <a:pt x="703102" y="403243"/>
                    <a:pt x="703102" y="401820"/>
                  </a:cubicBezTo>
                  <a:moveTo>
                    <a:pt x="3616303" y="401820"/>
                  </a:moveTo>
                  <a:cubicBezTo>
                    <a:pt x="3616303" y="403243"/>
                    <a:pt x="3616387" y="404583"/>
                    <a:pt x="3616387" y="406006"/>
                  </a:cubicBezTo>
                  <a:cubicBezTo>
                    <a:pt x="3616387" y="515921"/>
                    <a:pt x="3571433" y="615288"/>
                    <a:pt x="3498687" y="687197"/>
                  </a:cubicBezTo>
                  <a:cubicBezTo>
                    <a:pt x="3426024" y="759190"/>
                    <a:pt x="3325569" y="803641"/>
                    <a:pt x="3214566" y="803641"/>
                  </a:cubicBezTo>
                  <a:lnTo>
                    <a:pt x="401820" y="803641"/>
                  </a:lnTo>
                  <a:cubicBezTo>
                    <a:pt x="179898" y="803641"/>
                    <a:pt x="0" y="625584"/>
                    <a:pt x="0" y="406006"/>
                  </a:cubicBezTo>
                  <a:cubicBezTo>
                    <a:pt x="0" y="404583"/>
                    <a:pt x="83" y="403243"/>
                    <a:pt x="83" y="401820"/>
                  </a:cubicBezTo>
                </a:path>
              </a:pathLst>
            </a:custGeom>
            <a:grpFill/>
            <a:ln w="12556">
              <a:solidFill>
                <a:srgbClr val="FFFFFF"/>
              </a:solidFill>
            </a:ln>
          </p:spPr>
          <p:txBody>
            <a:bodyPr rtlCol="0" anchor="ctr"/>
            <a:lstStyle/>
            <a:p>
              <a:pPr algn="ctr"/>
              <a:endParaRPr/>
            </a:p>
          </p:txBody>
        </p:sp>
      </p:grpSp>
      <p:grpSp>
        <p:nvGrpSpPr>
          <p:cNvPr id="7" name="Group 6"/>
          <p:cNvGrpSpPr/>
          <p:nvPr/>
        </p:nvGrpSpPr>
        <p:grpSpPr>
          <a:xfrm>
            <a:off x="2774302" y="2204725"/>
            <a:ext cx="6643396" cy="1088243"/>
            <a:chOff x="602665" y="2310470"/>
            <a:chExt cx="3616452" cy="803641"/>
          </a:xfrm>
          <a:solidFill>
            <a:schemeClr val="tx2">
              <a:lumMod val="60000"/>
              <a:lumOff val="40000"/>
            </a:schemeClr>
          </a:solidFill>
        </p:grpSpPr>
        <p:sp>
          <p:nvSpPr>
            <p:cNvPr id="5" name="Rounded Rectangle 4"/>
            <p:cNvSpPr/>
            <p:nvPr/>
          </p:nvSpPr>
          <p:spPr>
            <a:xfrm>
              <a:off x="602665" y="2310470"/>
              <a:ext cx="3616452" cy="803641"/>
            </a:xfrm>
            <a:custGeom>
              <a:avLst/>
              <a:gdLst/>
              <a:ahLst/>
              <a:cxnLst/>
              <a:rect l="0" t="0" r="0" b="0"/>
              <a:pathLst>
                <a:path w="3616452" h="803641">
                  <a:moveTo>
                    <a:pt x="100520" y="393449"/>
                  </a:moveTo>
                  <a:lnTo>
                    <a:pt x="65" y="393449"/>
                  </a:lnTo>
                  <a:cubicBezTo>
                    <a:pt x="1237" y="285292"/>
                    <a:pt x="45856" y="187432"/>
                    <a:pt x="117681" y="116444"/>
                  </a:cubicBezTo>
                  <a:cubicBezTo>
                    <a:pt x="190344" y="44451"/>
                    <a:pt x="290799" y="0"/>
                    <a:pt x="401802" y="0"/>
                  </a:cubicBezTo>
                  <a:lnTo>
                    <a:pt x="3214548" y="0"/>
                  </a:lnTo>
                  <a:cubicBezTo>
                    <a:pt x="3435047" y="0"/>
                    <a:pt x="3614025" y="175796"/>
                    <a:pt x="3616285" y="393449"/>
                  </a:cubicBezTo>
                  <a:lnTo>
                    <a:pt x="703084" y="393449"/>
                  </a:lnTo>
                  <a:cubicBezTo>
                    <a:pt x="700824" y="230712"/>
                    <a:pt x="566800" y="99450"/>
                    <a:pt x="401802" y="99450"/>
                  </a:cubicBezTo>
                  <a:cubicBezTo>
                    <a:pt x="236804" y="99450"/>
                    <a:pt x="102780" y="230712"/>
                    <a:pt x="100520" y="393449"/>
                  </a:cubicBezTo>
                  <a:close/>
                  <a:moveTo>
                    <a:pt x="100523" y="401820"/>
                  </a:moveTo>
                  <a:lnTo>
                    <a:pt x="65" y="401820"/>
                  </a:lnTo>
                  <a:lnTo>
                    <a:pt x="65" y="393449"/>
                  </a:lnTo>
                  <a:lnTo>
                    <a:pt x="100523" y="393449"/>
                  </a:lnTo>
                  <a:close/>
                  <a:moveTo>
                    <a:pt x="3616452" y="401820"/>
                  </a:moveTo>
                  <a:lnTo>
                    <a:pt x="703267" y="401820"/>
                  </a:lnTo>
                  <a:lnTo>
                    <a:pt x="703267" y="393449"/>
                  </a:lnTo>
                  <a:lnTo>
                    <a:pt x="3616452" y="393449"/>
                  </a:lnTo>
                  <a:close/>
                  <a:moveTo>
                    <a:pt x="3616303" y="401820"/>
                  </a:moveTo>
                  <a:cubicBezTo>
                    <a:pt x="3616303" y="403243"/>
                    <a:pt x="3616387" y="404583"/>
                    <a:pt x="3616387" y="406006"/>
                  </a:cubicBezTo>
                  <a:cubicBezTo>
                    <a:pt x="3616387" y="515921"/>
                    <a:pt x="3571433" y="615288"/>
                    <a:pt x="3498687" y="687197"/>
                  </a:cubicBezTo>
                  <a:cubicBezTo>
                    <a:pt x="3426024" y="759190"/>
                    <a:pt x="3325569" y="803641"/>
                    <a:pt x="3214566" y="803641"/>
                  </a:cubicBezTo>
                  <a:lnTo>
                    <a:pt x="401820" y="803641"/>
                  </a:lnTo>
                  <a:cubicBezTo>
                    <a:pt x="179898" y="803641"/>
                    <a:pt x="0" y="625584"/>
                    <a:pt x="0" y="406006"/>
                  </a:cubicBezTo>
                  <a:cubicBezTo>
                    <a:pt x="0" y="404583"/>
                    <a:pt x="83" y="403243"/>
                    <a:pt x="83" y="401820"/>
                  </a:cubicBezTo>
                  <a:lnTo>
                    <a:pt x="100538" y="401820"/>
                  </a:lnTo>
                  <a:cubicBezTo>
                    <a:pt x="100538" y="403243"/>
                    <a:pt x="100455" y="404583"/>
                    <a:pt x="100455" y="406006"/>
                  </a:cubicBezTo>
                  <a:cubicBezTo>
                    <a:pt x="100455" y="570669"/>
                    <a:pt x="235400" y="704191"/>
                    <a:pt x="401820" y="704191"/>
                  </a:cubicBezTo>
                  <a:cubicBezTo>
                    <a:pt x="568241" y="704191"/>
                    <a:pt x="703186" y="570669"/>
                    <a:pt x="703186" y="406006"/>
                  </a:cubicBezTo>
                  <a:cubicBezTo>
                    <a:pt x="703186" y="404583"/>
                    <a:pt x="703102" y="403243"/>
                    <a:pt x="703102" y="401820"/>
                  </a:cubicBezTo>
                  <a:close/>
                </a:path>
              </a:pathLst>
            </a:custGeom>
            <a:grpFill/>
            <a:ln>
              <a:noFill/>
            </a:ln>
          </p:spPr>
          <p:txBody>
            <a:bodyPr rtlCol="0" anchor="ctr"/>
            <a:lstStyle/>
            <a:p>
              <a:pPr algn="ctr"/>
              <a:endParaRPr/>
            </a:p>
          </p:txBody>
        </p:sp>
        <p:sp>
          <p:nvSpPr>
            <p:cNvPr id="6" name="Rounded Rectangle 5"/>
            <p:cNvSpPr/>
            <p:nvPr/>
          </p:nvSpPr>
          <p:spPr>
            <a:xfrm>
              <a:off x="602665" y="2310470"/>
              <a:ext cx="3616452" cy="803641"/>
            </a:xfrm>
            <a:custGeom>
              <a:avLst/>
              <a:gdLst/>
              <a:ahLst/>
              <a:cxnLst/>
              <a:rect l="0" t="0" r="0" b="0"/>
              <a:pathLst>
                <a:path w="3616452" h="803641">
                  <a:moveTo>
                    <a:pt x="703084" y="393449"/>
                  </a:moveTo>
                  <a:cubicBezTo>
                    <a:pt x="700824" y="230712"/>
                    <a:pt x="566800" y="99450"/>
                    <a:pt x="401802" y="99450"/>
                  </a:cubicBezTo>
                  <a:cubicBezTo>
                    <a:pt x="236804" y="99450"/>
                    <a:pt x="102780" y="230712"/>
                    <a:pt x="100520" y="393449"/>
                  </a:cubicBezTo>
                  <a:moveTo>
                    <a:pt x="65" y="393449"/>
                  </a:moveTo>
                  <a:cubicBezTo>
                    <a:pt x="1237" y="285292"/>
                    <a:pt x="45856" y="187432"/>
                    <a:pt x="117681" y="116444"/>
                  </a:cubicBezTo>
                  <a:cubicBezTo>
                    <a:pt x="190344" y="44451"/>
                    <a:pt x="290799" y="0"/>
                    <a:pt x="401802" y="0"/>
                  </a:cubicBezTo>
                  <a:lnTo>
                    <a:pt x="3214548" y="0"/>
                  </a:lnTo>
                  <a:cubicBezTo>
                    <a:pt x="3435047" y="0"/>
                    <a:pt x="3614025" y="175796"/>
                    <a:pt x="3616285" y="393449"/>
                  </a:cubicBezTo>
                  <a:moveTo>
                    <a:pt x="100520" y="393449"/>
                  </a:moveTo>
                  <a:lnTo>
                    <a:pt x="100520" y="401820"/>
                  </a:lnTo>
                  <a:moveTo>
                    <a:pt x="65" y="401820"/>
                  </a:moveTo>
                  <a:lnTo>
                    <a:pt x="65" y="393449"/>
                  </a:lnTo>
                  <a:moveTo>
                    <a:pt x="3616452" y="401820"/>
                  </a:moveTo>
                  <a:lnTo>
                    <a:pt x="3616452" y="393449"/>
                  </a:lnTo>
                  <a:moveTo>
                    <a:pt x="703251" y="401820"/>
                  </a:moveTo>
                  <a:lnTo>
                    <a:pt x="703251" y="393449"/>
                  </a:lnTo>
                  <a:moveTo>
                    <a:pt x="100538" y="401820"/>
                  </a:moveTo>
                  <a:cubicBezTo>
                    <a:pt x="100538" y="403243"/>
                    <a:pt x="100455" y="404583"/>
                    <a:pt x="100455" y="406006"/>
                  </a:cubicBezTo>
                  <a:cubicBezTo>
                    <a:pt x="100455" y="570669"/>
                    <a:pt x="235400" y="704191"/>
                    <a:pt x="401820" y="704191"/>
                  </a:cubicBezTo>
                  <a:cubicBezTo>
                    <a:pt x="568241" y="704191"/>
                    <a:pt x="703186" y="570669"/>
                    <a:pt x="703186" y="406006"/>
                  </a:cubicBezTo>
                  <a:cubicBezTo>
                    <a:pt x="703186" y="404583"/>
                    <a:pt x="703102" y="403243"/>
                    <a:pt x="703102" y="401820"/>
                  </a:cubicBezTo>
                  <a:moveTo>
                    <a:pt x="3616303" y="401820"/>
                  </a:moveTo>
                  <a:cubicBezTo>
                    <a:pt x="3616303" y="403243"/>
                    <a:pt x="3616387" y="404583"/>
                    <a:pt x="3616387" y="406006"/>
                  </a:cubicBezTo>
                  <a:cubicBezTo>
                    <a:pt x="3616387" y="515921"/>
                    <a:pt x="3571433" y="615288"/>
                    <a:pt x="3498687" y="687197"/>
                  </a:cubicBezTo>
                  <a:cubicBezTo>
                    <a:pt x="3426024" y="759190"/>
                    <a:pt x="3325569" y="803641"/>
                    <a:pt x="3214566" y="803641"/>
                  </a:cubicBezTo>
                  <a:lnTo>
                    <a:pt x="401820" y="803641"/>
                  </a:lnTo>
                  <a:cubicBezTo>
                    <a:pt x="179898" y="803641"/>
                    <a:pt x="0" y="625584"/>
                    <a:pt x="0" y="406006"/>
                  </a:cubicBezTo>
                  <a:cubicBezTo>
                    <a:pt x="0" y="404583"/>
                    <a:pt x="83" y="403243"/>
                    <a:pt x="83" y="401820"/>
                  </a:cubicBezTo>
                </a:path>
              </a:pathLst>
            </a:custGeom>
            <a:grpFill/>
            <a:ln w="12556">
              <a:solidFill>
                <a:srgbClr val="FFFFFF"/>
              </a:solidFill>
            </a:ln>
          </p:spPr>
          <p:txBody>
            <a:bodyPr rtlCol="0" anchor="ctr"/>
            <a:lstStyle/>
            <a:p>
              <a:pPr algn="ctr"/>
              <a:endParaRPr/>
            </a:p>
          </p:txBody>
        </p:sp>
      </p:grpSp>
      <p:grpSp>
        <p:nvGrpSpPr>
          <p:cNvPr id="10" name="Group 9"/>
          <p:cNvGrpSpPr/>
          <p:nvPr/>
        </p:nvGrpSpPr>
        <p:grpSpPr>
          <a:xfrm>
            <a:off x="2774302" y="3565030"/>
            <a:ext cx="6643396" cy="1088244"/>
            <a:chOff x="602665" y="3315022"/>
            <a:chExt cx="3616452" cy="1004552"/>
          </a:xfrm>
          <a:solidFill>
            <a:schemeClr val="tx2">
              <a:lumMod val="40000"/>
              <a:lumOff val="60000"/>
            </a:schemeClr>
          </a:solidFill>
        </p:grpSpPr>
        <p:sp>
          <p:nvSpPr>
            <p:cNvPr id="8" name="Rounded Rectangle 7"/>
            <p:cNvSpPr/>
            <p:nvPr/>
          </p:nvSpPr>
          <p:spPr>
            <a:xfrm>
              <a:off x="602665" y="3315022"/>
              <a:ext cx="3616452" cy="1004552"/>
            </a:xfrm>
            <a:custGeom>
              <a:avLst/>
              <a:gdLst/>
              <a:ahLst/>
              <a:cxnLst/>
              <a:rect l="0" t="0" r="0" b="0"/>
              <a:pathLst>
                <a:path w="3616452" h="1004552">
                  <a:moveTo>
                    <a:pt x="100520" y="393449"/>
                  </a:moveTo>
                  <a:lnTo>
                    <a:pt x="65" y="393449"/>
                  </a:lnTo>
                  <a:cubicBezTo>
                    <a:pt x="1237" y="285292"/>
                    <a:pt x="45856" y="187432"/>
                    <a:pt x="117681" y="116444"/>
                  </a:cubicBezTo>
                  <a:cubicBezTo>
                    <a:pt x="190344" y="44451"/>
                    <a:pt x="290799" y="0"/>
                    <a:pt x="401802" y="0"/>
                  </a:cubicBezTo>
                  <a:lnTo>
                    <a:pt x="3214548" y="0"/>
                  </a:lnTo>
                  <a:cubicBezTo>
                    <a:pt x="3435047" y="0"/>
                    <a:pt x="3614025" y="175796"/>
                    <a:pt x="3616285" y="393449"/>
                  </a:cubicBezTo>
                  <a:lnTo>
                    <a:pt x="703084" y="393449"/>
                  </a:lnTo>
                  <a:cubicBezTo>
                    <a:pt x="700824" y="230712"/>
                    <a:pt x="566800" y="99450"/>
                    <a:pt x="401802" y="99450"/>
                  </a:cubicBezTo>
                  <a:cubicBezTo>
                    <a:pt x="236804" y="99450"/>
                    <a:pt x="102780" y="230712"/>
                    <a:pt x="100520" y="393449"/>
                  </a:cubicBezTo>
                  <a:close/>
                  <a:moveTo>
                    <a:pt x="100523" y="602731"/>
                  </a:moveTo>
                  <a:lnTo>
                    <a:pt x="65" y="602731"/>
                  </a:lnTo>
                  <a:lnTo>
                    <a:pt x="65" y="393449"/>
                  </a:lnTo>
                  <a:lnTo>
                    <a:pt x="100523" y="393449"/>
                  </a:lnTo>
                  <a:close/>
                  <a:moveTo>
                    <a:pt x="3616452" y="602731"/>
                  </a:moveTo>
                  <a:lnTo>
                    <a:pt x="703267" y="602731"/>
                  </a:lnTo>
                  <a:lnTo>
                    <a:pt x="703267" y="393449"/>
                  </a:lnTo>
                  <a:lnTo>
                    <a:pt x="3616452" y="393449"/>
                  </a:lnTo>
                  <a:close/>
                  <a:moveTo>
                    <a:pt x="3616303" y="602731"/>
                  </a:moveTo>
                  <a:cubicBezTo>
                    <a:pt x="3616303" y="604154"/>
                    <a:pt x="3616387" y="605493"/>
                    <a:pt x="3616387" y="606916"/>
                  </a:cubicBezTo>
                  <a:cubicBezTo>
                    <a:pt x="3616387" y="716831"/>
                    <a:pt x="3571433" y="816198"/>
                    <a:pt x="3498687" y="888107"/>
                  </a:cubicBezTo>
                  <a:cubicBezTo>
                    <a:pt x="3426024" y="960100"/>
                    <a:pt x="3325569" y="1004552"/>
                    <a:pt x="3214566" y="1004552"/>
                  </a:cubicBezTo>
                  <a:lnTo>
                    <a:pt x="401820" y="1004552"/>
                  </a:lnTo>
                  <a:cubicBezTo>
                    <a:pt x="179898" y="1004552"/>
                    <a:pt x="0" y="826495"/>
                    <a:pt x="0" y="606916"/>
                  </a:cubicBezTo>
                  <a:cubicBezTo>
                    <a:pt x="0" y="605493"/>
                    <a:pt x="83" y="604154"/>
                    <a:pt x="83" y="602731"/>
                  </a:cubicBezTo>
                  <a:lnTo>
                    <a:pt x="100538" y="602731"/>
                  </a:lnTo>
                  <a:cubicBezTo>
                    <a:pt x="100538" y="604154"/>
                    <a:pt x="100455" y="605493"/>
                    <a:pt x="100455" y="606916"/>
                  </a:cubicBezTo>
                  <a:cubicBezTo>
                    <a:pt x="100455" y="771579"/>
                    <a:pt x="235400" y="905101"/>
                    <a:pt x="401820" y="905101"/>
                  </a:cubicBezTo>
                  <a:cubicBezTo>
                    <a:pt x="568241" y="905101"/>
                    <a:pt x="703186" y="771579"/>
                    <a:pt x="703186" y="606916"/>
                  </a:cubicBezTo>
                  <a:cubicBezTo>
                    <a:pt x="703186" y="605493"/>
                    <a:pt x="703102" y="604154"/>
                    <a:pt x="703102" y="602731"/>
                  </a:cubicBezTo>
                  <a:close/>
                </a:path>
              </a:pathLst>
            </a:custGeom>
            <a:grpFill/>
            <a:ln>
              <a:noFill/>
            </a:ln>
          </p:spPr>
          <p:txBody>
            <a:bodyPr rtlCol="0" anchor="ctr"/>
            <a:lstStyle/>
            <a:p>
              <a:pPr algn="ctr"/>
              <a:endParaRPr/>
            </a:p>
          </p:txBody>
        </p:sp>
        <p:sp>
          <p:nvSpPr>
            <p:cNvPr id="9" name="Rounded Rectangle 8"/>
            <p:cNvSpPr/>
            <p:nvPr/>
          </p:nvSpPr>
          <p:spPr>
            <a:xfrm>
              <a:off x="602665" y="3315022"/>
              <a:ext cx="3616452" cy="1004552"/>
            </a:xfrm>
            <a:custGeom>
              <a:avLst/>
              <a:gdLst/>
              <a:ahLst/>
              <a:cxnLst/>
              <a:rect l="0" t="0" r="0" b="0"/>
              <a:pathLst>
                <a:path w="3616452" h="1004552">
                  <a:moveTo>
                    <a:pt x="703084" y="393449"/>
                  </a:moveTo>
                  <a:cubicBezTo>
                    <a:pt x="700824" y="230712"/>
                    <a:pt x="566800" y="99450"/>
                    <a:pt x="401802" y="99450"/>
                  </a:cubicBezTo>
                  <a:cubicBezTo>
                    <a:pt x="236804" y="99450"/>
                    <a:pt x="102780" y="230712"/>
                    <a:pt x="100520" y="393449"/>
                  </a:cubicBezTo>
                  <a:moveTo>
                    <a:pt x="65" y="393449"/>
                  </a:moveTo>
                  <a:cubicBezTo>
                    <a:pt x="1237" y="285292"/>
                    <a:pt x="45856" y="187432"/>
                    <a:pt x="117681" y="116444"/>
                  </a:cubicBezTo>
                  <a:cubicBezTo>
                    <a:pt x="190344" y="44451"/>
                    <a:pt x="290799" y="0"/>
                    <a:pt x="401802" y="0"/>
                  </a:cubicBezTo>
                  <a:lnTo>
                    <a:pt x="3214548" y="0"/>
                  </a:lnTo>
                  <a:cubicBezTo>
                    <a:pt x="3435047" y="0"/>
                    <a:pt x="3614025" y="175796"/>
                    <a:pt x="3616285" y="393449"/>
                  </a:cubicBezTo>
                  <a:moveTo>
                    <a:pt x="100520" y="393449"/>
                  </a:moveTo>
                  <a:lnTo>
                    <a:pt x="100520" y="602731"/>
                  </a:lnTo>
                  <a:moveTo>
                    <a:pt x="65" y="602731"/>
                  </a:moveTo>
                  <a:lnTo>
                    <a:pt x="65" y="393449"/>
                  </a:lnTo>
                  <a:moveTo>
                    <a:pt x="3616452" y="393449"/>
                  </a:moveTo>
                  <a:lnTo>
                    <a:pt x="3616452" y="602731"/>
                  </a:lnTo>
                  <a:moveTo>
                    <a:pt x="703251" y="393449"/>
                  </a:moveTo>
                  <a:lnTo>
                    <a:pt x="703251" y="602731"/>
                  </a:lnTo>
                  <a:moveTo>
                    <a:pt x="100538" y="602731"/>
                  </a:moveTo>
                  <a:cubicBezTo>
                    <a:pt x="100538" y="604154"/>
                    <a:pt x="100455" y="605493"/>
                    <a:pt x="100455" y="606916"/>
                  </a:cubicBezTo>
                  <a:cubicBezTo>
                    <a:pt x="100455" y="771579"/>
                    <a:pt x="235400" y="905101"/>
                    <a:pt x="401820" y="905101"/>
                  </a:cubicBezTo>
                  <a:cubicBezTo>
                    <a:pt x="568241" y="905101"/>
                    <a:pt x="703186" y="771579"/>
                    <a:pt x="703186" y="606916"/>
                  </a:cubicBezTo>
                  <a:cubicBezTo>
                    <a:pt x="703186" y="605493"/>
                    <a:pt x="703102" y="604154"/>
                    <a:pt x="703102" y="602731"/>
                  </a:cubicBezTo>
                  <a:moveTo>
                    <a:pt x="3616303" y="602731"/>
                  </a:moveTo>
                  <a:cubicBezTo>
                    <a:pt x="3616303" y="604154"/>
                    <a:pt x="3616387" y="605493"/>
                    <a:pt x="3616387" y="606916"/>
                  </a:cubicBezTo>
                  <a:cubicBezTo>
                    <a:pt x="3616387" y="716831"/>
                    <a:pt x="3571433" y="816198"/>
                    <a:pt x="3498687" y="888107"/>
                  </a:cubicBezTo>
                  <a:cubicBezTo>
                    <a:pt x="3426024" y="960100"/>
                    <a:pt x="3325569" y="1004552"/>
                    <a:pt x="3214566" y="1004552"/>
                  </a:cubicBezTo>
                  <a:lnTo>
                    <a:pt x="401820" y="1004552"/>
                  </a:lnTo>
                  <a:cubicBezTo>
                    <a:pt x="179898" y="1004552"/>
                    <a:pt x="0" y="826495"/>
                    <a:pt x="0" y="606916"/>
                  </a:cubicBezTo>
                  <a:cubicBezTo>
                    <a:pt x="0" y="605493"/>
                    <a:pt x="83" y="604154"/>
                    <a:pt x="83" y="602731"/>
                  </a:cubicBezTo>
                </a:path>
              </a:pathLst>
            </a:custGeom>
            <a:grpFill/>
            <a:ln w="12556">
              <a:solidFill>
                <a:srgbClr val="FFFFFF"/>
              </a:solidFill>
            </a:ln>
          </p:spPr>
          <p:txBody>
            <a:bodyPr rtlCol="0" anchor="ctr"/>
            <a:lstStyle/>
            <a:p>
              <a:pPr algn="ctr"/>
              <a:endParaRPr/>
            </a:p>
          </p:txBody>
        </p:sp>
      </p:grpSp>
      <p:grpSp>
        <p:nvGrpSpPr>
          <p:cNvPr id="13" name="Group 12"/>
          <p:cNvGrpSpPr/>
          <p:nvPr/>
        </p:nvGrpSpPr>
        <p:grpSpPr>
          <a:xfrm>
            <a:off x="2774302" y="4925337"/>
            <a:ext cx="6643396" cy="1088243"/>
            <a:chOff x="602665" y="4319575"/>
            <a:chExt cx="3616452" cy="803641"/>
          </a:xfrm>
          <a:solidFill>
            <a:schemeClr val="tx2"/>
          </a:solidFill>
        </p:grpSpPr>
        <p:sp>
          <p:nvSpPr>
            <p:cNvPr id="11" name="Rounded Rectangle 10"/>
            <p:cNvSpPr/>
            <p:nvPr/>
          </p:nvSpPr>
          <p:spPr>
            <a:xfrm>
              <a:off x="602665" y="4319575"/>
              <a:ext cx="3616452" cy="803641"/>
            </a:xfrm>
            <a:custGeom>
              <a:avLst/>
              <a:gdLst/>
              <a:ahLst/>
              <a:cxnLst/>
              <a:rect l="0" t="0" r="0" b="0"/>
              <a:pathLst>
                <a:path w="3616452" h="803641">
                  <a:moveTo>
                    <a:pt x="100520" y="393449"/>
                  </a:moveTo>
                  <a:lnTo>
                    <a:pt x="65" y="393449"/>
                  </a:lnTo>
                  <a:cubicBezTo>
                    <a:pt x="1237" y="285292"/>
                    <a:pt x="45856" y="187432"/>
                    <a:pt x="117681" y="116444"/>
                  </a:cubicBezTo>
                  <a:cubicBezTo>
                    <a:pt x="190344" y="44451"/>
                    <a:pt x="290799" y="0"/>
                    <a:pt x="401802" y="0"/>
                  </a:cubicBezTo>
                  <a:lnTo>
                    <a:pt x="3214548" y="0"/>
                  </a:lnTo>
                  <a:cubicBezTo>
                    <a:pt x="3435047" y="0"/>
                    <a:pt x="3614025" y="175796"/>
                    <a:pt x="3616285" y="393449"/>
                  </a:cubicBezTo>
                  <a:lnTo>
                    <a:pt x="703084" y="393449"/>
                  </a:lnTo>
                  <a:cubicBezTo>
                    <a:pt x="700824" y="230712"/>
                    <a:pt x="566800" y="99450"/>
                    <a:pt x="401802" y="99450"/>
                  </a:cubicBezTo>
                  <a:cubicBezTo>
                    <a:pt x="236804" y="99450"/>
                    <a:pt x="102780" y="230712"/>
                    <a:pt x="100520" y="393449"/>
                  </a:cubicBezTo>
                  <a:close/>
                  <a:moveTo>
                    <a:pt x="100523" y="401820"/>
                  </a:moveTo>
                  <a:lnTo>
                    <a:pt x="65" y="401820"/>
                  </a:lnTo>
                  <a:lnTo>
                    <a:pt x="65" y="393449"/>
                  </a:lnTo>
                  <a:lnTo>
                    <a:pt x="100523" y="393449"/>
                  </a:lnTo>
                  <a:close/>
                  <a:moveTo>
                    <a:pt x="3616452" y="401820"/>
                  </a:moveTo>
                  <a:lnTo>
                    <a:pt x="703267" y="401820"/>
                  </a:lnTo>
                  <a:lnTo>
                    <a:pt x="703267" y="393449"/>
                  </a:lnTo>
                  <a:lnTo>
                    <a:pt x="3616452" y="393449"/>
                  </a:lnTo>
                  <a:close/>
                  <a:moveTo>
                    <a:pt x="3616303" y="401820"/>
                  </a:moveTo>
                  <a:cubicBezTo>
                    <a:pt x="3616303" y="403243"/>
                    <a:pt x="3616387" y="404583"/>
                    <a:pt x="3616387" y="406006"/>
                  </a:cubicBezTo>
                  <a:cubicBezTo>
                    <a:pt x="3616387" y="515921"/>
                    <a:pt x="3571433" y="615288"/>
                    <a:pt x="3498687" y="687197"/>
                  </a:cubicBezTo>
                  <a:cubicBezTo>
                    <a:pt x="3426024" y="759190"/>
                    <a:pt x="3325569" y="803641"/>
                    <a:pt x="3214566" y="803641"/>
                  </a:cubicBezTo>
                  <a:lnTo>
                    <a:pt x="401820" y="803641"/>
                  </a:lnTo>
                  <a:cubicBezTo>
                    <a:pt x="179898" y="803641"/>
                    <a:pt x="0" y="625584"/>
                    <a:pt x="0" y="406006"/>
                  </a:cubicBezTo>
                  <a:cubicBezTo>
                    <a:pt x="0" y="404583"/>
                    <a:pt x="83" y="403243"/>
                    <a:pt x="83" y="401820"/>
                  </a:cubicBezTo>
                  <a:lnTo>
                    <a:pt x="100538" y="401820"/>
                  </a:lnTo>
                  <a:cubicBezTo>
                    <a:pt x="100538" y="403243"/>
                    <a:pt x="100455" y="404583"/>
                    <a:pt x="100455" y="406006"/>
                  </a:cubicBezTo>
                  <a:cubicBezTo>
                    <a:pt x="100455" y="570669"/>
                    <a:pt x="235400" y="704191"/>
                    <a:pt x="401820" y="704191"/>
                  </a:cubicBezTo>
                  <a:cubicBezTo>
                    <a:pt x="568241" y="704191"/>
                    <a:pt x="703186" y="570669"/>
                    <a:pt x="703186" y="406006"/>
                  </a:cubicBezTo>
                  <a:cubicBezTo>
                    <a:pt x="703186" y="404583"/>
                    <a:pt x="703102" y="403243"/>
                    <a:pt x="703102" y="401820"/>
                  </a:cubicBezTo>
                  <a:close/>
                </a:path>
              </a:pathLst>
            </a:custGeom>
            <a:grpFill/>
            <a:ln>
              <a:noFill/>
            </a:ln>
          </p:spPr>
          <p:txBody>
            <a:bodyPr rtlCol="0" anchor="ctr"/>
            <a:lstStyle/>
            <a:p>
              <a:pPr algn="ctr"/>
              <a:endParaRPr/>
            </a:p>
          </p:txBody>
        </p:sp>
        <p:sp>
          <p:nvSpPr>
            <p:cNvPr id="12" name="Rounded Rectangle 11"/>
            <p:cNvSpPr/>
            <p:nvPr/>
          </p:nvSpPr>
          <p:spPr>
            <a:xfrm>
              <a:off x="602665" y="4319575"/>
              <a:ext cx="3616452" cy="803641"/>
            </a:xfrm>
            <a:custGeom>
              <a:avLst/>
              <a:gdLst/>
              <a:ahLst/>
              <a:cxnLst/>
              <a:rect l="0" t="0" r="0" b="0"/>
              <a:pathLst>
                <a:path w="3616452" h="803641">
                  <a:moveTo>
                    <a:pt x="703084" y="393449"/>
                  </a:moveTo>
                  <a:cubicBezTo>
                    <a:pt x="700824" y="230712"/>
                    <a:pt x="566800" y="99450"/>
                    <a:pt x="401802" y="99450"/>
                  </a:cubicBezTo>
                  <a:cubicBezTo>
                    <a:pt x="236804" y="99450"/>
                    <a:pt x="102780" y="230712"/>
                    <a:pt x="100520" y="393449"/>
                  </a:cubicBezTo>
                  <a:moveTo>
                    <a:pt x="65" y="393449"/>
                  </a:moveTo>
                  <a:cubicBezTo>
                    <a:pt x="1237" y="285292"/>
                    <a:pt x="45856" y="187432"/>
                    <a:pt x="117681" y="116444"/>
                  </a:cubicBezTo>
                  <a:cubicBezTo>
                    <a:pt x="190344" y="44451"/>
                    <a:pt x="290799" y="0"/>
                    <a:pt x="401802" y="0"/>
                  </a:cubicBezTo>
                  <a:lnTo>
                    <a:pt x="3214548" y="0"/>
                  </a:lnTo>
                  <a:cubicBezTo>
                    <a:pt x="3435047" y="0"/>
                    <a:pt x="3614025" y="175796"/>
                    <a:pt x="3616285" y="393449"/>
                  </a:cubicBezTo>
                  <a:moveTo>
                    <a:pt x="100520" y="393449"/>
                  </a:moveTo>
                  <a:lnTo>
                    <a:pt x="100520" y="401820"/>
                  </a:lnTo>
                  <a:moveTo>
                    <a:pt x="65" y="401820"/>
                  </a:moveTo>
                  <a:lnTo>
                    <a:pt x="65" y="393449"/>
                  </a:lnTo>
                  <a:moveTo>
                    <a:pt x="3616452" y="401820"/>
                  </a:moveTo>
                  <a:lnTo>
                    <a:pt x="3616452" y="393449"/>
                  </a:lnTo>
                  <a:moveTo>
                    <a:pt x="703251" y="401820"/>
                  </a:moveTo>
                  <a:lnTo>
                    <a:pt x="703251" y="393449"/>
                  </a:lnTo>
                  <a:moveTo>
                    <a:pt x="100538" y="401820"/>
                  </a:moveTo>
                  <a:cubicBezTo>
                    <a:pt x="100538" y="403243"/>
                    <a:pt x="100455" y="404583"/>
                    <a:pt x="100455" y="406006"/>
                  </a:cubicBezTo>
                  <a:cubicBezTo>
                    <a:pt x="100455" y="570669"/>
                    <a:pt x="235400" y="704191"/>
                    <a:pt x="401820" y="704191"/>
                  </a:cubicBezTo>
                  <a:cubicBezTo>
                    <a:pt x="568241" y="704191"/>
                    <a:pt x="703186" y="570669"/>
                    <a:pt x="703186" y="406006"/>
                  </a:cubicBezTo>
                  <a:cubicBezTo>
                    <a:pt x="703186" y="404583"/>
                    <a:pt x="703102" y="403243"/>
                    <a:pt x="703102" y="401820"/>
                  </a:cubicBezTo>
                  <a:moveTo>
                    <a:pt x="3616303" y="401820"/>
                  </a:moveTo>
                  <a:cubicBezTo>
                    <a:pt x="3616303" y="403243"/>
                    <a:pt x="3616387" y="404583"/>
                    <a:pt x="3616387" y="406006"/>
                  </a:cubicBezTo>
                  <a:cubicBezTo>
                    <a:pt x="3616387" y="515921"/>
                    <a:pt x="3571433" y="615288"/>
                    <a:pt x="3498687" y="687197"/>
                  </a:cubicBezTo>
                  <a:cubicBezTo>
                    <a:pt x="3426024" y="759190"/>
                    <a:pt x="3325569" y="803641"/>
                    <a:pt x="3214566" y="803641"/>
                  </a:cubicBezTo>
                  <a:lnTo>
                    <a:pt x="401820" y="803641"/>
                  </a:lnTo>
                  <a:cubicBezTo>
                    <a:pt x="179898" y="803641"/>
                    <a:pt x="0" y="625584"/>
                    <a:pt x="0" y="406006"/>
                  </a:cubicBezTo>
                  <a:cubicBezTo>
                    <a:pt x="0" y="404583"/>
                    <a:pt x="83" y="403243"/>
                    <a:pt x="83" y="401820"/>
                  </a:cubicBezTo>
                </a:path>
              </a:pathLst>
            </a:custGeom>
            <a:grpFill/>
            <a:ln w="12556">
              <a:solidFill>
                <a:srgbClr val="FFFFFF"/>
              </a:solidFill>
            </a:ln>
          </p:spPr>
          <p:txBody>
            <a:bodyPr rtlCol="0" anchor="ctr"/>
            <a:lstStyle/>
            <a:p>
              <a:pPr algn="ctr"/>
              <a:endParaRPr/>
            </a:p>
          </p:txBody>
        </p:sp>
      </p:grpSp>
      <p:sp>
        <p:nvSpPr>
          <p:cNvPr id="14" name="Rounded Rectangle 13"/>
          <p:cNvSpPr/>
          <p:nvPr/>
        </p:nvSpPr>
        <p:spPr>
          <a:xfrm>
            <a:off x="3205476" y="1133485"/>
            <a:ext cx="517272" cy="510114"/>
          </a:xfrm>
          <a:custGeom>
            <a:avLst/>
            <a:gdLst/>
            <a:ahLst/>
            <a:cxnLst/>
            <a:rect l="0" t="0" r="0" b="0"/>
            <a:pathLst>
              <a:path w="301365" h="376707">
                <a:moveTo>
                  <a:pt x="301365" y="297012"/>
                </a:moveTo>
                <a:cubicBezTo>
                  <a:pt x="301365" y="352095"/>
                  <a:pt x="244106" y="376707"/>
                  <a:pt x="187181" y="376707"/>
                </a:cubicBezTo>
                <a:cubicBezTo>
                  <a:pt x="135614" y="376707"/>
                  <a:pt x="75341" y="355778"/>
                  <a:pt x="75341" y="297012"/>
                </a:cubicBezTo>
                <a:cubicBezTo>
                  <a:pt x="77362" y="255145"/>
                  <a:pt x="93603" y="215220"/>
                  <a:pt x="121383" y="183833"/>
                </a:cubicBezTo>
                <a:cubicBezTo>
                  <a:pt x="122434" y="182663"/>
                  <a:pt x="124034" y="182151"/>
                  <a:pt x="125569" y="182493"/>
                </a:cubicBezTo>
                <a:cubicBezTo>
                  <a:pt x="131080" y="183605"/>
                  <a:pt x="136688" y="184166"/>
                  <a:pt x="142311" y="184167"/>
                </a:cubicBezTo>
                <a:lnTo>
                  <a:pt x="209281" y="184167"/>
                </a:lnTo>
                <a:cubicBezTo>
                  <a:pt x="220320" y="185709"/>
                  <a:pt x="231487" y="182414"/>
                  <a:pt x="239920" y="175126"/>
                </a:cubicBezTo>
                <a:cubicBezTo>
                  <a:pt x="240762" y="174277"/>
                  <a:pt x="241905" y="173795"/>
                  <a:pt x="243101" y="173787"/>
                </a:cubicBezTo>
                <a:cubicBezTo>
                  <a:pt x="244247" y="173802"/>
                  <a:pt x="245336" y="174286"/>
                  <a:pt x="246115" y="175126"/>
                </a:cubicBezTo>
                <a:cubicBezTo>
                  <a:pt x="267880" y="198566"/>
                  <a:pt x="301365" y="245110"/>
                  <a:pt x="301365" y="297012"/>
                </a:cubicBezTo>
                <a:close/>
                <a:moveTo>
                  <a:pt x="195720" y="291654"/>
                </a:moveTo>
                <a:cubicBezTo>
                  <a:pt x="197143" y="292756"/>
                  <a:pt x="197741" y="294618"/>
                  <a:pt x="197227" y="296342"/>
                </a:cubicBezTo>
                <a:cubicBezTo>
                  <a:pt x="196706" y="298128"/>
                  <a:pt x="195069" y="299356"/>
                  <a:pt x="193208" y="299356"/>
                </a:cubicBezTo>
                <a:lnTo>
                  <a:pt x="167425" y="299356"/>
                </a:lnTo>
                <a:cubicBezTo>
                  <a:pt x="160490" y="299356"/>
                  <a:pt x="154868" y="304978"/>
                  <a:pt x="154868" y="311913"/>
                </a:cubicBezTo>
                <a:cubicBezTo>
                  <a:pt x="154868" y="318848"/>
                  <a:pt x="160490" y="324470"/>
                  <a:pt x="167425" y="324470"/>
                </a:cubicBezTo>
                <a:lnTo>
                  <a:pt x="175796" y="324470"/>
                </a:lnTo>
                <a:cubicBezTo>
                  <a:pt x="178108" y="324470"/>
                  <a:pt x="179982" y="326344"/>
                  <a:pt x="179982" y="328656"/>
                </a:cubicBezTo>
                <a:lnTo>
                  <a:pt x="179982" y="330665"/>
                </a:lnTo>
                <a:cubicBezTo>
                  <a:pt x="179982" y="337600"/>
                  <a:pt x="185604" y="343222"/>
                  <a:pt x="192539" y="343222"/>
                </a:cubicBezTo>
                <a:cubicBezTo>
                  <a:pt x="199474" y="343222"/>
                  <a:pt x="205096" y="337600"/>
                  <a:pt x="205096" y="330665"/>
                </a:cubicBezTo>
                <a:lnTo>
                  <a:pt x="205096" y="327316"/>
                </a:lnTo>
                <a:cubicBezTo>
                  <a:pt x="205093" y="325715"/>
                  <a:pt x="206343" y="324391"/>
                  <a:pt x="207942" y="324302"/>
                </a:cubicBezTo>
                <a:cubicBezTo>
                  <a:pt x="214256" y="324094"/>
                  <a:pt x="220209" y="321309"/>
                  <a:pt x="224416" y="316596"/>
                </a:cubicBezTo>
                <a:cubicBezTo>
                  <a:pt x="228623" y="311883"/>
                  <a:pt x="230716" y="305653"/>
                  <a:pt x="230209" y="299356"/>
                </a:cubicBezTo>
                <a:cubicBezTo>
                  <a:pt x="230209" y="284455"/>
                  <a:pt x="215309" y="274410"/>
                  <a:pt x="199571" y="263695"/>
                </a:cubicBezTo>
                <a:lnTo>
                  <a:pt x="189190" y="256663"/>
                </a:lnTo>
                <a:cubicBezTo>
                  <a:pt x="187677" y="255627"/>
                  <a:pt x="187057" y="253698"/>
                  <a:pt x="187683" y="251975"/>
                </a:cubicBezTo>
                <a:cubicBezTo>
                  <a:pt x="188264" y="250255"/>
                  <a:pt x="189887" y="249106"/>
                  <a:pt x="191702" y="249129"/>
                </a:cubicBezTo>
                <a:lnTo>
                  <a:pt x="217652" y="249129"/>
                </a:lnTo>
                <a:cubicBezTo>
                  <a:pt x="224587" y="249129"/>
                  <a:pt x="230209" y="243507"/>
                  <a:pt x="230209" y="236572"/>
                </a:cubicBezTo>
                <a:cubicBezTo>
                  <a:pt x="230209" y="229637"/>
                  <a:pt x="224587" y="224015"/>
                  <a:pt x="217652" y="224015"/>
                </a:cubicBezTo>
                <a:lnTo>
                  <a:pt x="209281" y="224015"/>
                </a:lnTo>
                <a:cubicBezTo>
                  <a:pt x="206970" y="224015"/>
                  <a:pt x="205096" y="222141"/>
                  <a:pt x="205096" y="219829"/>
                </a:cubicBezTo>
                <a:lnTo>
                  <a:pt x="205096" y="217653"/>
                </a:lnTo>
                <a:cubicBezTo>
                  <a:pt x="205096" y="210718"/>
                  <a:pt x="199474" y="205096"/>
                  <a:pt x="192539" y="205096"/>
                </a:cubicBezTo>
                <a:cubicBezTo>
                  <a:pt x="185604" y="205096"/>
                  <a:pt x="179982" y="210718"/>
                  <a:pt x="179982" y="217653"/>
                </a:cubicBezTo>
                <a:lnTo>
                  <a:pt x="179982" y="219996"/>
                </a:lnTo>
                <a:cubicBezTo>
                  <a:pt x="179913" y="222153"/>
                  <a:pt x="178275" y="223934"/>
                  <a:pt x="176131" y="224182"/>
                </a:cubicBezTo>
                <a:cubicBezTo>
                  <a:pt x="169925" y="224467"/>
                  <a:pt x="164115" y="227312"/>
                  <a:pt x="160085" y="232040"/>
                </a:cubicBezTo>
                <a:cubicBezTo>
                  <a:pt x="156055" y="236768"/>
                  <a:pt x="154166" y="242956"/>
                  <a:pt x="154868" y="249129"/>
                </a:cubicBezTo>
                <a:cubicBezTo>
                  <a:pt x="154868" y="263862"/>
                  <a:pt x="169769" y="273908"/>
                  <a:pt x="185507" y="284623"/>
                </a:cubicBezTo>
                <a:cubicBezTo>
                  <a:pt x="188520" y="286632"/>
                  <a:pt x="192371" y="288808"/>
                  <a:pt x="195720" y="291655"/>
                </a:cubicBezTo>
                <a:close/>
                <a:moveTo>
                  <a:pt x="159723" y="50227"/>
                </a:moveTo>
                <a:cubicBezTo>
                  <a:pt x="158323" y="50214"/>
                  <a:pt x="157015" y="49529"/>
                  <a:pt x="156207" y="48385"/>
                </a:cubicBezTo>
                <a:lnTo>
                  <a:pt x="132935" y="12724"/>
                </a:lnTo>
                <a:cubicBezTo>
                  <a:pt x="131507" y="10057"/>
                  <a:pt x="131507" y="6852"/>
                  <a:pt x="132935" y="4185"/>
                </a:cubicBezTo>
                <a:cubicBezTo>
                  <a:pt x="134500" y="1609"/>
                  <a:pt x="137287" y="25"/>
                  <a:pt x="140302" y="0"/>
                </a:cubicBezTo>
                <a:lnTo>
                  <a:pt x="244775" y="0"/>
                </a:lnTo>
                <a:cubicBezTo>
                  <a:pt x="247790" y="25"/>
                  <a:pt x="250577" y="1609"/>
                  <a:pt x="252142" y="4185"/>
                </a:cubicBezTo>
                <a:cubicBezTo>
                  <a:pt x="253637" y="6775"/>
                  <a:pt x="253637" y="9966"/>
                  <a:pt x="252142" y="12556"/>
                </a:cubicBezTo>
                <a:lnTo>
                  <a:pt x="231046" y="48218"/>
                </a:lnTo>
                <a:cubicBezTo>
                  <a:pt x="230238" y="49553"/>
                  <a:pt x="228754" y="50328"/>
                  <a:pt x="227196" y="50227"/>
                </a:cubicBezTo>
                <a:close/>
                <a:moveTo>
                  <a:pt x="77685" y="143483"/>
                </a:moveTo>
                <a:cubicBezTo>
                  <a:pt x="76247" y="142824"/>
                  <a:pt x="75329" y="141382"/>
                  <a:pt x="75341" y="139800"/>
                </a:cubicBezTo>
                <a:lnTo>
                  <a:pt x="75341" y="71155"/>
                </a:lnTo>
                <a:cubicBezTo>
                  <a:pt x="75341" y="68844"/>
                  <a:pt x="77215" y="66970"/>
                  <a:pt x="79527" y="66970"/>
                </a:cubicBezTo>
                <a:lnTo>
                  <a:pt x="92083" y="66970"/>
                </a:lnTo>
                <a:cubicBezTo>
                  <a:pt x="98617" y="66752"/>
                  <a:pt x="104731" y="63695"/>
                  <a:pt x="108826" y="58598"/>
                </a:cubicBezTo>
                <a:lnTo>
                  <a:pt x="123559" y="38507"/>
                </a:lnTo>
                <a:cubicBezTo>
                  <a:pt x="124347" y="37341"/>
                  <a:pt x="125668" y="36649"/>
                  <a:pt x="127075" y="36666"/>
                </a:cubicBezTo>
                <a:cubicBezTo>
                  <a:pt x="128464" y="36712"/>
                  <a:pt x="129730" y="37471"/>
                  <a:pt x="130424" y="38675"/>
                </a:cubicBezTo>
                <a:lnTo>
                  <a:pt x="147166" y="65128"/>
                </a:lnTo>
                <a:cubicBezTo>
                  <a:pt x="147974" y="66272"/>
                  <a:pt x="149282" y="66957"/>
                  <a:pt x="150682" y="66970"/>
                </a:cubicBezTo>
                <a:lnTo>
                  <a:pt x="226024" y="66970"/>
                </a:lnTo>
                <a:cubicBezTo>
                  <a:pt x="242766" y="66970"/>
                  <a:pt x="251138" y="75341"/>
                  <a:pt x="251138" y="83712"/>
                </a:cubicBezTo>
                <a:cubicBezTo>
                  <a:pt x="251138" y="83712"/>
                  <a:pt x="242766" y="125569"/>
                  <a:pt x="234395" y="150682"/>
                </a:cubicBezTo>
                <a:cubicBezTo>
                  <a:pt x="229037" y="166588"/>
                  <a:pt x="226024" y="167425"/>
                  <a:pt x="209281" y="167425"/>
                </a:cubicBezTo>
                <a:lnTo>
                  <a:pt x="142311" y="167425"/>
                </a:lnTo>
                <a:cubicBezTo>
                  <a:pt x="123057" y="167425"/>
                  <a:pt x="108993" y="159221"/>
                  <a:pt x="77685" y="143483"/>
                </a:cubicBezTo>
                <a:close/>
                <a:moveTo>
                  <a:pt x="47939" y="60886"/>
                </a:moveTo>
                <a:cubicBezTo>
                  <a:pt x="49543" y="62490"/>
                  <a:pt x="50377" y="64707"/>
                  <a:pt x="50227" y="66970"/>
                </a:cubicBezTo>
                <a:lnTo>
                  <a:pt x="50227" y="150682"/>
                </a:lnTo>
                <a:cubicBezTo>
                  <a:pt x="50377" y="152945"/>
                  <a:pt x="49543" y="155162"/>
                  <a:pt x="47939" y="156766"/>
                </a:cubicBezTo>
                <a:cubicBezTo>
                  <a:pt x="46336" y="158369"/>
                  <a:pt x="44119" y="159203"/>
                  <a:pt x="41856" y="159054"/>
                </a:cubicBezTo>
                <a:lnTo>
                  <a:pt x="4185" y="159054"/>
                </a:lnTo>
                <a:cubicBezTo>
                  <a:pt x="1873" y="159054"/>
                  <a:pt x="0" y="157180"/>
                  <a:pt x="0" y="154868"/>
                </a:cubicBezTo>
                <a:lnTo>
                  <a:pt x="0" y="62784"/>
                </a:lnTo>
                <a:cubicBezTo>
                  <a:pt x="0" y="60472"/>
                  <a:pt x="1873" y="58598"/>
                  <a:pt x="4185" y="58598"/>
                </a:cubicBezTo>
                <a:lnTo>
                  <a:pt x="41856" y="58598"/>
                </a:lnTo>
                <a:cubicBezTo>
                  <a:pt x="44119" y="58449"/>
                  <a:pt x="46336" y="59282"/>
                  <a:pt x="47939" y="60886"/>
                </a:cubicBezTo>
                <a:close/>
              </a:path>
            </a:pathLst>
          </a:custGeom>
          <a:solidFill>
            <a:srgbClr val="484848"/>
          </a:solidFill>
          <a:ln>
            <a:noFill/>
          </a:ln>
        </p:spPr>
        <p:txBody>
          <a:bodyPr rtlCol="0" anchor="ctr"/>
          <a:lstStyle/>
          <a:p>
            <a:pPr algn="ctr"/>
            <a:endParaRPr/>
          </a:p>
        </p:txBody>
      </p:sp>
      <p:sp>
        <p:nvSpPr>
          <p:cNvPr id="15" name="Rounded Rectangle 14"/>
          <p:cNvSpPr/>
          <p:nvPr/>
        </p:nvSpPr>
        <p:spPr>
          <a:xfrm>
            <a:off x="3132374" y="2476559"/>
            <a:ext cx="664051" cy="544575"/>
          </a:xfrm>
          <a:custGeom>
            <a:avLst/>
            <a:gdLst/>
            <a:ahLst/>
            <a:cxnLst/>
            <a:rect l="0" t="0" r="0" b="0"/>
            <a:pathLst>
              <a:path w="386879" h="402155">
                <a:moveTo>
                  <a:pt x="124962" y="364652"/>
                </a:moveTo>
                <a:cubicBezTo>
                  <a:pt x="125465" y="363476"/>
                  <a:pt x="125465" y="362145"/>
                  <a:pt x="124962" y="360969"/>
                </a:cubicBezTo>
                <a:cubicBezTo>
                  <a:pt x="124462" y="359828"/>
                  <a:pt x="123481" y="358968"/>
                  <a:pt x="122283" y="358625"/>
                </a:cubicBezTo>
                <a:lnTo>
                  <a:pt x="112573" y="355778"/>
                </a:lnTo>
                <a:cubicBezTo>
                  <a:pt x="89454" y="349043"/>
                  <a:pt x="72423" y="329392"/>
                  <a:pt x="69042" y="305551"/>
                </a:cubicBezTo>
                <a:cubicBezTo>
                  <a:pt x="68744" y="303807"/>
                  <a:pt x="67420" y="302418"/>
                  <a:pt x="65694" y="302035"/>
                </a:cubicBezTo>
                <a:cubicBezTo>
                  <a:pt x="48350" y="298457"/>
                  <a:pt x="32449" y="289837"/>
                  <a:pt x="19986" y="277256"/>
                </a:cubicBezTo>
                <a:lnTo>
                  <a:pt x="3244" y="260513"/>
                </a:lnTo>
                <a:cubicBezTo>
                  <a:pt x="742" y="258213"/>
                  <a:pt x="0" y="254567"/>
                  <a:pt x="1402" y="251472"/>
                </a:cubicBezTo>
                <a:cubicBezTo>
                  <a:pt x="2686" y="248346"/>
                  <a:pt x="5724" y="246299"/>
                  <a:pt x="9104" y="246282"/>
                </a:cubicBezTo>
                <a:lnTo>
                  <a:pt x="160289" y="246282"/>
                </a:lnTo>
                <a:cubicBezTo>
                  <a:pt x="163668" y="246299"/>
                  <a:pt x="166706" y="248346"/>
                  <a:pt x="167990" y="251472"/>
                </a:cubicBezTo>
                <a:cubicBezTo>
                  <a:pt x="169393" y="254567"/>
                  <a:pt x="168650" y="258213"/>
                  <a:pt x="166149" y="260513"/>
                </a:cubicBezTo>
                <a:lnTo>
                  <a:pt x="149406" y="277256"/>
                </a:lnTo>
                <a:cubicBezTo>
                  <a:pt x="137606" y="289200"/>
                  <a:pt x="122703" y="297609"/>
                  <a:pt x="106378" y="301532"/>
                </a:cubicBezTo>
                <a:cubicBezTo>
                  <a:pt x="105095" y="301890"/>
                  <a:pt x="104046" y="302815"/>
                  <a:pt x="103532" y="304044"/>
                </a:cubicBezTo>
                <a:cubicBezTo>
                  <a:pt x="102936" y="305140"/>
                  <a:pt x="102936" y="306463"/>
                  <a:pt x="103532" y="307560"/>
                </a:cubicBezTo>
                <a:cubicBezTo>
                  <a:pt x="106507" y="315607"/>
                  <a:pt x="113072" y="321800"/>
                  <a:pt x="121279" y="324302"/>
                </a:cubicBezTo>
                <a:lnTo>
                  <a:pt x="140198" y="329325"/>
                </a:lnTo>
                <a:cubicBezTo>
                  <a:pt x="142091" y="329953"/>
                  <a:pt x="144157" y="329098"/>
                  <a:pt x="145053" y="327316"/>
                </a:cubicBezTo>
                <a:lnTo>
                  <a:pt x="150076" y="318442"/>
                </a:lnTo>
                <a:cubicBezTo>
                  <a:pt x="152992" y="313112"/>
                  <a:pt x="158567" y="309781"/>
                  <a:pt x="164642" y="309736"/>
                </a:cubicBezTo>
                <a:lnTo>
                  <a:pt x="221734" y="309736"/>
                </a:lnTo>
                <a:cubicBezTo>
                  <a:pt x="227809" y="309781"/>
                  <a:pt x="233384" y="313112"/>
                  <a:pt x="236300" y="318442"/>
                </a:cubicBezTo>
                <a:lnTo>
                  <a:pt x="241323" y="327316"/>
                </a:lnTo>
                <a:cubicBezTo>
                  <a:pt x="242218" y="329098"/>
                  <a:pt x="244285" y="329953"/>
                  <a:pt x="246178" y="329325"/>
                </a:cubicBezTo>
                <a:lnTo>
                  <a:pt x="265097" y="323967"/>
                </a:lnTo>
                <a:cubicBezTo>
                  <a:pt x="273304" y="321466"/>
                  <a:pt x="279869" y="315272"/>
                  <a:pt x="282844" y="307225"/>
                </a:cubicBezTo>
                <a:cubicBezTo>
                  <a:pt x="283339" y="306105"/>
                  <a:pt x="283339" y="304829"/>
                  <a:pt x="282844" y="303709"/>
                </a:cubicBezTo>
                <a:cubicBezTo>
                  <a:pt x="282289" y="302645"/>
                  <a:pt x="281320" y="301858"/>
                  <a:pt x="280165" y="301532"/>
                </a:cubicBezTo>
                <a:cubicBezTo>
                  <a:pt x="264075" y="297665"/>
                  <a:pt x="249362" y="289439"/>
                  <a:pt x="237639" y="277758"/>
                </a:cubicBezTo>
                <a:lnTo>
                  <a:pt x="220897" y="261016"/>
                </a:lnTo>
                <a:cubicBezTo>
                  <a:pt x="218395" y="258716"/>
                  <a:pt x="217653" y="255070"/>
                  <a:pt x="219055" y="251975"/>
                </a:cubicBezTo>
                <a:cubicBezTo>
                  <a:pt x="220339" y="248848"/>
                  <a:pt x="223377" y="246801"/>
                  <a:pt x="226757" y="246784"/>
                </a:cubicBezTo>
                <a:lnTo>
                  <a:pt x="377774" y="246784"/>
                </a:lnTo>
                <a:cubicBezTo>
                  <a:pt x="381154" y="246801"/>
                  <a:pt x="384192" y="248848"/>
                  <a:pt x="385476" y="251975"/>
                </a:cubicBezTo>
                <a:cubicBezTo>
                  <a:pt x="386879" y="255070"/>
                  <a:pt x="386136" y="258716"/>
                  <a:pt x="383634" y="261016"/>
                </a:cubicBezTo>
                <a:lnTo>
                  <a:pt x="366892" y="277758"/>
                </a:lnTo>
                <a:cubicBezTo>
                  <a:pt x="354429" y="290339"/>
                  <a:pt x="338528" y="298959"/>
                  <a:pt x="321185" y="302537"/>
                </a:cubicBezTo>
                <a:cubicBezTo>
                  <a:pt x="319458" y="302920"/>
                  <a:pt x="318134" y="304309"/>
                  <a:pt x="317836" y="306053"/>
                </a:cubicBezTo>
                <a:cubicBezTo>
                  <a:pt x="314455" y="329894"/>
                  <a:pt x="297424" y="349545"/>
                  <a:pt x="274306" y="356281"/>
                </a:cubicBezTo>
                <a:lnTo>
                  <a:pt x="264595" y="359127"/>
                </a:lnTo>
                <a:cubicBezTo>
                  <a:pt x="263398" y="359471"/>
                  <a:pt x="262416" y="360330"/>
                  <a:pt x="261916" y="361471"/>
                </a:cubicBezTo>
                <a:cubicBezTo>
                  <a:pt x="261414" y="362647"/>
                  <a:pt x="261414" y="363978"/>
                  <a:pt x="261916" y="365154"/>
                </a:cubicBezTo>
                <a:lnTo>
                  <a:pt x="268613" y="377209"/>
                </a:lnTo>
                <a:cubicBezTo>
                  <a:pt x="271604" y="382389"/>
                  <a:pt x="271604" y="388771"/>
                  <a:pt x="268613" y="393951"/>
                </a:cubicBezTo>
                <a:cubicBezTo>
                  <a:pt x="265598" y="399036"/>
                  <a:pt x="260126" y="402154"/>
                  <a:pt x="254214" y="402155"/>
                </a:cubicBezTo>
                <a:lnTo>
                  <a:pt x="131994" y="402155"/>
                </a:lnTo>
                <a:cubicBezTo>
                  <a:pt x="126083" y="402154"/>
                  <a:pt x="120610" y="399036"/>
                  <a:pt x="117595" y="393951"/>
                </a:cubicBezTo>
                <a:cubicBezTo>
                  <a:pt x="114605" y="388771"/>
                  <a:pt x="114605" y="382389"/>
                  <a:pt x="117595" y="377209"/>
                </a:cubicBezTo>
                <a:close/>
                <a:moveTo>
                  <a:pt x="42589" y="42358"/>
                </a:moveTo>
                <a:cubicBezTo>
                  <a:pt x="42589" y="19242"/>
                  <a:pt x="61329" y="502"/>
                  <a:pt x="84445" y="502"/>
                </a:cubicBezTo>
                <a:cubicBezTo>
                  <a:pt x="107562" y="502"/>
                  <a:pt x="126302" y="19242"/>
                  <a:pt x="126302" y="42358"/>
                </a:cubicBezTo>
                <a:cubicBezTo>
                  <a:pt x="126302" y="65475"/>
                  <a:pt x="107562" y="84214"/>
                  <a:pt x="84445" y="84214"/>
                </a:cubicBezTo>
                <a:cubicBezTo>
                  <a:pt x="61329" y="84214"/>
                  <a:pt x="42589" y="65475"/>
                  <a:pt x="42589" y="42358"/>
                </a:cubicBezTo>
                <a:moveTo>
                  <a:pt x="84445" y="83880"/>
                </a:moveTo>
                <a:cubicBezTo>
                  <a:pt x="140533" y="83880"/>
                  <a:pt x="143044" y="126071"/>
                  <a:pt x="143044" y="158049"/>
                </a:cubicBezTo>
                <a:cubicBezTo>
                  <a:pt x="143009" y="159158"/>
                  <a:pt x="142596" y="160222"/>
                  <a:pt x="141872" y="161063"/>
                </a:cubicBezTo>
                <a:cubicBezTo>
                  <a:pt x="141076" y="161858"/>
                  <a:pt x="139983" y="162283"/>
                  <a:pt x="138858" y="162235"/>
                </a:cubicBezTo>
                <a:lnTo>
                  <a:pt x="117428" y="162235"/>
                </a:lnTo>
                <a:cubicBezTo>
                  <a:pt x="115326" y="162291"/>
                  <a:pt x="113565" y="163841"/>
                  <a:pt x="113242" y="165918"/>
                </a:cubicBezTo>
                <a:lnTo>
                  <a:pt x="104536" y="227028"/>
                </a:lnTo>
                <a:cubicBezTo>
                  <a:pt x="104213" y="229106"/>
                  <a:pt x="102452" y="230656"/>
                  <a:pt x="100351" y="230712"/>
                </a:cubicBezTo>
                <a:lnTo>
                  <a:pt x="68540" y="230712"/>
                </a:lnTo>
                <a:cubicBezTo>
                  <a:pt x="66438" y="230656"/>
                  <a:pt x="64677" y="229106"/>
                  <a:pt x="64354" y="227028"/>
                </a:cubicBezTo>
                <a:lnTo>
                  <a:pt x="55648" y="165918"/>
                </a:lnTo>
                <a:cubicBezTo>
                  <a:pt x="55325" y="163841"/>
                  <a:pt x="53564" y="162291"/>
                  <a:pt x="51462" y="162235"/>
                </a:cubicBezTo>
                <a:lnTo>
                  <a:pt x="30032" y="162235"/>
                </a:lnTo>
                <a:cubicBezTo>
                  <a:pt x="28908" y="162283"/>
                  <a:pt x="27814" y="161858"/>
                  <a:pt x="27018" y="161063"/>
                </a:cubicBezTo>
                <a:cubicBezTo>
                  <a:pt x="26295" y="160222"/>
                  <a:pt x="25881" y="159158"/>
                  <a:pt x="25846" y="158049"/>
                </a:cubicBezTo>
                <a:cubicBezTo>
                  <a:pt x="25846" y="126071"/>
                  <a:pt x="28358" y="83880"/>
                  <a:pt x="84445" y="83880"/>
                </a:cubicBezTo>
                <a:close/>
                <a:moveTo>
                  <a:pt x="281170" y="210621"/>
                </a:moveTo>
                <a:lnTo>
                  <a:pt x="281170" y="207774"/>
                </a:lnTo>
                <a:cubicBezTo>
                  <a:pt x="281170" y="205463"/>
                  <a:pt x="279296" y="203589"/>
                  <a:pt x="276984" y="203589"/>
                </a:cubicBezTo>
                <a:lnTo>
                  <a:pt x="268613" y="203589"/>
                </a:lnTo>
                <a:cubicBezTo>
                  <a:pt x="257055" y="203589"/>
                  <a:pt x="247685" y="194219"/>
                  <a:pt x="247685" y="182661"/>
                </a:cubicBezTo>
                <a:cubicBezTo>
                  <a:pt x="247685" y="171102"/>
                  <a:pt x="257055" y="161732"/>
                  <a:pt x="268613" y="161732"/>
                </a:cubicBezTo>
                <a:lnTo>
                  <a:pt x="313985" y="161732"/>
                </a:lnTo>
                <a:cubicBezTo>
                  <a:pt x="318914" y="161733"/>
                  <a:pt x="322935" y="157787"/>
                  <a:pt x="323026" y="152859"/>
                </a:cubicBezTo>
                <a:cubicBezTo>
                  <a:pt x="323113" y="149139"/>
                  <a:pt x="320825" y="145775"/>
                  <a:pt x="317334" y="144488"/>
                </a:cubicBezTo>
                <a:lnTo>
                  <a:pt x="271292" y="126071"/>
                </a:lnTo>
                <a:cubicBezTo>
                  <a:pt x="249979" y="118569"/>
                  <a:pt x="236299" y="97759"/>
                  <a:pt x="237861" y="75219"/>
                </a:cubicBezTo>
                <a:cubicBezTo>
                  <a:pt x="239424" y="52678"/>
                  <a:pt x="255845" y="33956"/>
                  <a:pt x="277989" y="29466"/>
                </a:cubicBezTo>
                <a:cubicBezTo>
                  <a:pt x="279809" y="28959"/>
                  <a:pt x="281094" y="27336"/>
                  <a:pt x="281170" y="25448"/>
                </a:cubicBezTo>
                <a:lnTo>
                  <a:pt x="281170" y="20928"/>
                </a:lnTo>
                <a:cubicBezTo>
                  <a:pt x="281170" y="9369"/>
                  <a:pt x="290540" y="0"/>
                  <a:pt x="302098" y="0"/>
                </a:cubicBezTo>
                <a:cubicBezTo>
                  <a:pt x="313656" y="0"/>
                  <a:pt x="323026" y="9369"/>
                  <a:pt x="323026" y="20928"/>
                </a:cubicBezTo>
                <a:lnTo>
                  <a:pt x="323026" y="23606"/>
                </a:lnTo>
                <a:cubicBezTo>
                  <a:pt x="323026" y="25918"/>
                  <a:pt x="324900" y="27792"/>
                  <a:pt x="327212" y="27792"/>
                </a:cubicBezTo>
                <a:lnTo>
                  <a:pt x="335583" y="27792"/>
                </a:lnTo>
                <a:cubicBezTo>
                  <a:pt x="347141" y="27792"/>
                  <a:pt x="356511" y="37162"/>
                  <a:pt x="356511" y="48720"/>
                </a:cubicBezTo>
                <a:cubicBezTo>
                  <a:pt x="356511" y="60279"/>
                  <a:pt x="347141" y="69648"/>
                  <a:pt x="335583" y="69648"/>
                </a:cubicBezTo>
                <a:lnTo>
                  <a:pt x="290211" y="69648"/>
                </a:lnTo>
                <a:cubicBezTo>
                  <a:pt x="285218" y="69648"/>
                  <a:pt x="281170" y="73696"/>
                  <a:pt x="281170" y="78689"/>
                </a:cubicBezTo>
                <a:cubicBezTo>
                  <a:pt x="281083" y="82410"/>
                  <a:pt x="283371" y="85774"/>
                  <a:pt x="286862" y="87061"/>
                </a:cubicBezTo>
                <a:lnTo>
                  <a:pt x="332904" y="105477"/>
                </a:lnTo>
                <a:cubicBezTo>
                  <a:pt x="354217" y="112979"/>
                  <a:pt x="367897" y="133789"/>
                  <a:pt x="366335" y="156329"/>
                </a:cubicBezTo>
                <a:cubicBezTo>
                  <a:pt x="364772" y="178870"/>
                  <a:pt x="348351" y="197593"/>
                  <a:pt x="326207" y="202082"/>
                </a:cubicBezTo>
                <a:cubicBezTo>
                  <a:pt x="324387" y="202589"/>
                  <a:pt x="323102" y="204212"/>
                  <a:pt x="323026" y="206100"/>
                </a:cubicBezTo>
                <a:lnTo>
                  <a:pt x="323026" y="210621"/>
                </a:lnTo>
                <a:cubicBezTo>
                  <a:pt x="323026" y="222179"/>
                  <a:pt x="313656" y="231549"/>
                  <a:pt x="302098" y="231549"/>
                </a:cubicBezTo>
                <a:cubicBezTo>
                  <a:pt x="290540" y="231549"/>
                  <a:pt x="281170" y="222179"/>
                  <a:pt x="281170" y="210621"/>
                </a:cubicBezTo>
                <a:close/>
              </a:path>
            </a:pathLst>
          </a:custGeom>
          <a:solidFill>
            <a:srgbClr val="484848"/>
          </a:solidFill>
          <a:ln>
            <a:noFill/>
          </a:ln>
        </p:spPr>
        <p:txBody>
          <a:bodyPr rtlCol="0" anchor="ctr"/>
          <a:lstStyle/>
          <a:p>
            <a:pPr algn="ctr"/>
            <a:endParaRPr/>
          </a:p>
        </p:txBody>
      </p:sp>
      <p:sp>
        <p:nvSpPr>
          <p:cNvPr id="16" name="Rounded Rectangle 15"/>
          <p:cNvSpPr/>
          <p:nvPr/>
        </p:nvSpPr>
        <p:spPr>
          <a:xfrm>
            <a:off x="3144841" y="3839585"/>
            <a:ext cx="638629" cy="539134"/>
          </a:xfrm>
          <a:custGeom>
            <a:avLst/>
            <a:gdLst/>
            <a:ahLst/>
            <a:cxnLst/>
            <a:rect l="0" t="0" r="0" b="0"/>
            <a:pathLst>
              <a:path w="372068" h="398137">
                <a:moveTo>
                  <a:pt x="215978" y="35159"/>
                </a:moveTo>
                <a:lnTo>
                  <a:pt x="215978" y="96771"/>
                </a:lnTo>
                <a:cubicBezTo>
                  <a:pt x="215978" y="146999"/>
                  <a:pt x="174959" y="192371"/>
                  <a:pt x="127578" y="210788"/>
                </a:cubicBezTo>
                <a:lnTo>
                  <a:pt x="117700" y="214639"/>
                </a:lnTo>
                <a:cubicBezTo>
                  <a:pt x="111237" y="217144"/>
                  <a:pt x="104071" y="217144"/>
                  <a:pt x="97608" y="214639"/>
                </a:cubicBezTo>
                <a:lnTo>
                  <a:pt x="87563" y="210788"/>
                </a:lnTo>
                <a:cubicBezTo>
                  <a:pt x="40349" y="192874"/>
                  <a:pt x="0" y="146999"/>
                  <a:pt x="0" y="96771"/>
                </a:cubicBezTo>
                <a:lnTo>
                  <a:pt x="0" y="34657"/>
                </a:lnTo>
                <a:cubicBezTo>
                  <a:pt x="167" y="27370"/>
                  <a:pt x="4542" y="20841"/>
                  <a:pt x="11217" y="17914"/>
                </a:cubicBezTo>
                <a:cubicBezTo>
                  <a:pt x="42047" y="6276"/>
                  <a:pt x="74701" y="210"/>
                  <a:pt x="107654" y="0"/>
                </a:cubicBezTo>
                <a:cubicBezTo>
                  <a:pt x="140823" y="226"/>
                  <a:pt x="173694" y="6290"/>
                  <a:pt x="204761" y="17914"/>
                </a:cubicBezTo>
                <a:cubicBezTo>
                  <a:pt x="211601" y="20915"/>
                  <a:pt x="216007" y="27689"/>
                  <a:pt x="215978" y="35159"/>
                </a:cubicBezTo>
                <a:close/>
                <a:moveTo>
                  <a:pt x="171610" y="66467"/>
                </a:moveTo>
                <a:cubicBezTo>
                  <a:pt x="173793" y="63939"/>
                  <a:pt x="174879" y="60646"/>
                  <a:pt x="174628" y="57316"/>
                </a:cubicBezTo>
                <a:cubicBezTo>
                  <a:pt x="174377" y="53985"/>
                  <a:pt x="172809" y="50892"/>
                  <a:pt x="170271" y="48720"/>
                </a:cubicBezTo>
                <a:cubicBezTo>
                  <a:pt x="164888" y="44349"/>
                  <a:pt x="156995" y="45094"/>
                  <a:pt x="152524" y="50395"/>
                </a:cubicBezTo>
                <a:lnTo>
                  <a:pt x="91749" y="121885"/>
                </a:lnTo>
                <a:lnTo>
                  <a:pt x="75006" y="108826"/>
                </a:lnTo>
                <a:cubicBezTo>
                  <a:pt x="69458" y="104665"/>
                  <a:pt x="61587" y="105789"/>
                  <a:pt x="57426" y="111337"/>
                </a:cubicBezTo>
                <a:cubicBezTo>
                  <a:pt x="53265" y="116885"/>
                  <a:pt x="54390" y="124756"/>
                  <a:pt x="59938" y="128917"/>
                </a:cubicBezTo>
                <a:lnTo>
                  <a:pt x="81870" y="145660"/>
                </a:lnTo>
                <a:cubicBezTo>
                  <a:pt x="85214" y="148138"/>
                  <a:pt x="89261" y="149487"/>
                  <a:pt x="93423" y="149510"/>
                </a:cubicBezTo>
                <a:cubicBezTo>
                  <a:pt x="99192" y="149517"/>
                  <a:pt x="104661" y="146937"/>
                  <a:pt x="108324" y="142478"/>
                </a:cubicBezTo>
                <a:lnTo>
                  <a:pt x="171276" y="66467"/>
                </a:lnTo>
                <a:close/>
                <a:moveTo>
                  <a:pt x="211960" y="398137"/>
                </a:moveTo>
                <a:lnTo>
                  <a:pt x="140972" y="398137"/>
                </a:lnTo>
                <a:lnTo>
                  <a:pt x="140972" y="254653"/>
                </a:lnTo>
                <a:cubicBezTo>
                  <a:pt x="140972" y="241431"/>
                  <a:pt x="151691" y="230712"/>
                  <a:pt x="164913" y="230712"/>
                </a:cubicBezTo>
                <a:lnTo>
                  <a:pt x="211960" y="230712"/>
                </a:lnTo>
                <a:lnTo>
                  <a:pt x="211960" y="275749"/>
                </a:lnTo>
                <a:lnTo>
                  <a:pt x="189023" y="275749"/>
                </a:lnTo>
                <a:cubicBezTo>
                  <a:pt x="182088" y="275749"/>
                  <a:pt x="176466" y="281371"/>
                  <a:pt x="176466" y="288306"/>
                </a:cubicBezTo>
                <a:cubicBezTo>
                  <a:pt x="176466" y="295241"/>
                  <a:pt x="182088" y="300863"/>
                  <a:pt x="189023" y="300863"/>
                </a:cubicBezTo>
                <a:lnTo>
                  <a:pt x="211960" y="300863"/>
                </a:lnTo>
                <a:lnTo>
                  <a:pt x="211960" y="330497"/>
                </a:lnTo>
                <a:lnTo>
                  <a:pt x="189023" y="330497"/>
                </a:lnTo>
                <a:cubicBezTo>
                  <a:pt x="182088" y="330497"/>
                  <a:pt x="176466" y="336119"/>
                  <a:pt x="176466" y="343054"/>
                </a:cubicBezTo>
                <a:cubicBezTo>
                  <a:pt x="176466" y="349989"/>
                  <a:pt x="182088" y="355611"/>
                  <a:pt x="189023" y="355611"/>
                </a:cubicBezTo>
                <a:lnTo>
                  <a:pt x="211960" y="355611"/>
                </a:lnTo>
                <a:close/>
                <a:moveTo>
                  <a:pt x="353434" y="155035"/>
                </a:moveTo>
                <a:cubicBezTo>
                  <a:pt x="358330" y="154852"/>
                  <a:pt x="363087" y="156681"/>
                  <a:pt x="366598" y="160098"/>
                </a:cubicBezTo>
                <a:cubicBezTo>
                  <a:pt x="370109" y="163514"/>
                  <a:pt x="372068" y="168219"/>
                  <a:pt x="372019" y="173117"/>
                </a:cubicBezTo>
                <a:lnTo>
                  <a:pt x="372019" y="398137"/>
                </a:lnTo>
                <a:lnTo>
                  <a:pt x="237074" y="398137"/>
                </a:lnTo>
                <a:lnTo>
                  <a:pt x="237074" y="173117"/>
                </a:lnTo>
                <a:cubicBezTo>
                  <a:pt x="237029" y="168337"/>
                  <a:pt x="238897" y="163737"/>
                  <a:pt x="242261" y="160342"/>
                </a:cubicBezTo>
                <a:cubicBezTo>
                  <a:pt x="245626" y="156946"/>
                  <a:pt x="250208" y="155035"/>
                  <a:pt x="254988" y="155035"/>
                </a:cubicBezTo>
                <a:lnTo>
                  <a:pt x="353434" y="155035"/>
                </a:lnTo>
                <a:close/>
                <a:moveTo>
                  <a:pt x="332506" y="335352"/>
                </a:moveTo>
                <a:cubicBezTo>
                  <a:pt x="332506" y="328417"/>
                  <a:pt x="326884" y="322796"/>
                  <a:pt x="319949" y="322796"/>
                </a:cubicBezTo>
                <a:lnTo>
                  <a:pt x="289980" y="322796"/>
                </a:lnTo>
                <a:cubicBezTo>
                  <a:pt x="283045" y="322796"/>
                  <a:pt x="277423" y="328417"/>
                  <a:pt x="277423" y="335352"/>
                </a:cubicBezTo>
                <a:cubicBezTo>
                  <a:pt x="277423" y="342287"/>
                  <a:pt x="283045" y="347909"/>
                  <a:pt x="289980" y="347909"/>
                </a:cubicBezTo>
                <a:lnTo>
                  <a:pt x="319949" y="347909"/>
                </a:lnTo>
                <a:cubicBezTo>
                  <a:pt x="326884" y="347909"/>
                  <a:pt x="332506" y="342287"/>
                  <a:pt x="332506" y="335352"/>
                </a:cubicBezTo>
                <a:close/>
                <a:moveTo>
                  <a:pt x="332506" y="272233"/>
                </a:moveTo>
                <a:cubicBezTo>
                  <a:pt x="332506" y="265298"/>
                  <a:pt x="326884" y="259676"/>
                  <a:pt x="319949" y="259676"/>
                </a:cubicBezTo>
                <a:lnTo>
                  <a:pt x="289980" y="259676"/>
                </a:lnTo>
                <a:cubicBezTo>
                  <a:pt x="283045" y="259676"/>
                  <a:pt x="277423" y="265298"/>
                  <a:pt x="277423" y="272233"/>
                </a:cubicBezTo>
                <a:cubicBezTo>
                  <a:pt x="277423" y="279168"/>
                  <a:pt x="283045" y="284790"/>
                  <a:pt x="289980" y="284790"/>
                </a:cubicBezTo>
                <a:lnTo>
                  <a:pt x="319949" y="284790"/>
                </a:lnTo>
                <a:cubicBezTo>
                  <a:pt x="326884" y="284790"/>
                  <a:pt x="332506" y="279168"/>
                  <a:pt x="332506" y="272233"/>
                </a:cubicBezTo>
                <a:close/>
                <a:moveTo>
                  <a:pt x="332506" y="209281"/>
                </a:moveTo>
                <a:cubicBezTo>
                  <a:pt x="332506" y="202346"/>
                  <a:pt x="326884" y="196724"/>
                  <a:pt x="319949" y="196724"/>
                </a:cubicBezTo>
                <a:lnTo>
                  <a:pt x="289980" y="196724"/>
                </a:lnTo>
                <a:cubicBezTo>
                  <a:pt x="283045" y="196724"/>
                  <a:pt x="277423" y="202346"/>
                  <a:pt x="277423" y="209281"/>
                </a:cubicBezTo>
                <a:cubicBezTo>
                  <a:pt x="277423" y="216216"/>
                  <a:pt x="283045" y="221838"/>
                  <a:pt x="289980" y="221838"/>
                </a:cubicBezTo>
                <a:lnTo>
                  <a:pt x="319949" y="221838"/>
                </a:lnTo>
                <a:cubicBezTo>
                  <a:pt x="326884" y="221838"/>
                  <a:pt x="332506" y="216216"/>
                  <a:pt x="332506" y="209281"/>
                </a:cubicBezTo>
                <a:close/>
              </a:path>
            </a:pathLst>
          </a:custGeom>
          <a:solidFill>
            <a:srgbClr val="484848"/>
          </a:solidFill>
          <a:ln>
            <a:noFill/>
          </a:ln>
        </p:spPr>
        <p:txBody>
          <a:bodyPr rtlCol="0" anchor="ctr"/>
          <a:lstStyle/>
          <a:p>
            <a:pPr algn="ctr"/>
            <a:endParaRPr/>
          </a:p>
        </p:txBody>
      </p:sp>
      <p:sp>
        <p:nvSpPr>
          <p:cNvPr id="17" name="Rounded Rectangle 16"/>
          <p:cNvSpPr/>
          <p:nvPr/>
        </p:nvSpPr>
        <p:spPr>
          <a:xfrm>
            <a:off x="3122961" y="5191143"/>
            <a:ext cx="681405" cy="550374"/>
          </a:xfrm>
          <a:custGeom>
            <a:avLst/>
            <a:gdLst/>
            <a:ahLst/>
            <a:cxnLst/>
            <a:rect l="0" t="0" r="0" b="0"/>
            <a:pathLst>
              <a:path w="396990" h="406438">
                <a:moveTo>
                  <a:pt x="396987" y="172042"/>
                </a:moveTo>
                <a:lnTo>
                  <a:pt x="396987" y="206365"/>
                </a:lnTo>
                <a:cubicBezTo>
                  <a:pt x="396987" y="220235"/>
                  <a:pt x="385744" y="231478"/>
                  <a:pt x="371874" y="231478"/>
                </a:cubicBezTo>
                <a:lnTo>
                  <a:pt x="351113" y="231478"/>
                </a:lnTo>
                <a:cubicBezTo>
                  <a:pt x="349579" y="231474"/>
                  <a:pt x="348166" y="232309"/>
                  <a:pt x="347429" y="233655"/>
                </a:cubicBezTo>
                <a:cubicBezTo>
                  <a:pt x="336463" y="252912"/>
                  <a:pt x="321298" y="269450"/>
                  <a:pt x="303062" y="282041"/>
                </a:cubicBezTo>
                <a:cubicBezTo>
                  <a:pt x="301577" y="283099"/>
                  <a:pt x="300909" y="284970"/>
                  <a:pt x="301387" y="286729"/>
                </a:cubicBezTo>
                <a:lnTo>
                  <a:pt x="312270" y="324232"/>
                </a:lnTo>
                <a:cubicBezTo>
                  <a:pt x="316083" y="337438"/>
                  <a:pt x="308646" y="351270"/>
                  <a:pt x="295528" y="355373"/>
                </a:cubicBezTo>
                <a:cubicBezTo>
                  <a:pt x="293293" y="355990"/>
                  <a:pt x="290980" y="356272"/>
                  <a:pt x="288663" y="356210"/>
                </a:cubicBezTo>
                <a:cubicBezTo>
                  <a:pt x="277046" y="356091"/>
                  <a:pt x="267048" y="347969"/>
                  <a:pt x="264554" y="336622"/>
                </a:cubicBezTo>
                <a:lnTo>
                  <a:pt x="256350" y="308494"/>
                </a:lnTo>
                <a:cubicBezTo>
                  <a:pt x="256079" y="307404"/>
                  <a:pt x="255345" y="306487"/>
                  <a:pt x="254341" y="305983"/>
                </a:cubicBezTo>
                <a:cubicBezTo>
                  <a:pt x="253322" y="305564"/>
                  <a:pt x="252179" y="305564"/>
                  <a:pt x="251160" y="305983"/>
                </a:cubicBezTo>
                <a:cubicBezTo>
                  <a:pt x="233554" y="311506"/>
                  <a:pt x="215199" y="314273"/>
                  <a:pt x="196747" y="314187"/>
                </a:cubicBezTo>
                <a:cubicBezTo>
                  <a:pt x="194435" y="314187"/>
                  <a:pt x="192561" y="312313"/>
                  <a:pt x="192561" y="310001"/>
                </a:cubicBezTo>
                <a:lnTo>
                  <a:pt x="192561" y="188785"/>
                </a:lnTo>
                <a:cubicBezTo>
                  <a:pt x="192561" y="146929"/>
                  <a:pt x="113536" y="146929"/>
                  <a:pt x="83735" y="146929"/>
                </a:cubicBezTo>
                <a:cubicBezTo>
                  <a:pt x="68190" y="146719"/>
                  <a:pt x="52647" y="147446"/>
                  <a:pt x="37190" y="149105"/>
                </a:cubicBezTo>
                <a:cubicBezTo>
                  <a:pt x="35813" y="149328"/>
                  <a:pt x="34419" y="148821"/>
                  <a:pt x="33507" y="147766"/>
                </a:cubicBezTo>
                <a:cubicBezTo>
                  <a:pt x="32595" y="146707"/>
                  <a:pt x="32224" y="145285"/>
                  <a:pt x="32502" y="143915"/>
                </a:cubicBezTo>
                <a:cubicBezTo>
                  <a:pt x="39876" y="113936"/>
                  <a:pt x="57163" y="87327"/>
                  <a:pt x="81558" y="68406"/>
                </a:cubicBezTo>
                <a:cubicBezTo>
                  <a:pt x="123998" y="35681"/>
                  <a:pt x="178448" y="22754"/>
                  <a:pt x="231069" y="32912"/>
                </a:cubicBezTo>
                <a:cubicBezTo>
                  <a:pt x="232587" y="33227"/>
                  <a:pt x="234150" y="32640"/>
                  <a:pt x="235087" y="31405"/>
                </a:cubicBezTo>
                <a:cubicBezTo>
                  <a:pt x="251379" y="9718"/>
                  <a:pt x="279145" y="0"/>
                  <a:pt x="305406" y="6794"/>
                </a:cubicBezTo>
                <a:cubicBezTo>
                  <a:pt x="311278" y="8321"/>
                  <a:pt x="315865" y="12906"/>
                  <a:pt x="317394" y="18779"/>
                </a:cubicBezTo>
                <a:cubicBezTo>
                  <a:pt x="318923" y="24651"/>
                  <a:pt x="317155" y="30891"/>
                  <a:pt x="312772" y="35089"/>
                </a:cubicBezTo>
                <a:cubicBezTo>
                  <a:pt x="306628" y="40968"/>
                  <a:pt x="302028" y="48271"/>
                  <a:pt x="299378" y="56352"/>
                </a:cubicBezTo>
                <a:cubicBezTo>
                  <a:pt x="298900" y="58111"/>
                  <a:pt x="299568" y="59982"/>
                  <a:pt x="301053" y="61039"/>
                </a:cubicBezTo>
                <a:cubicBezTo>
                  <a:pt x="330623" y="80124"/>
                  <a:pt x="351907" y="109659"/>
                  <a:pt x="360656" y="143748"/>
                </a:cubicBezTo>
                <a:cubicBezTo>
                  <a:pt x="361163" y="145568"/>
                  <a:pt x="362786" y="146853"/>
                  <a:pt x="364674" y="146929"/>
                </a:cubicBezTo>
                <a:lnTo>
                  <a:pt x="372376" y="146929"/>
                </a:lnTo>
                <a:cubicBezTo>
                  <a:pt x="386049" y="147202"/>
                  <a:pt x="396990" y="158366"/>
                  <a:pt x="396987" y="172042"/>
                </a:cubicBezTo>
                <a:close/>
                <a:moveTo>
                  <a:pt x="297034" y="163671"/>
                </a:moveTo>
                <a:cubicBezTo>
                  <a:pt x="306281" y="163671"/>
                  <a:pt x="313777" y="156175"/>
                  <a:pt x="313777" y="146929"/>
                </a:cubicBezTo>
                <a:cubicBezTo>
                  <a:pt x="313777" y="137682"/>
                  <a:pt x="306281" y="130186"/>
                  <a:pt x="297034" y="130186"/>
                </a:cubicBezTo>
                <a:cubicBezTo>
                  <a:pt x="287788" y="130186"/>
                  <a:pt x="280292" y="137682"/>
                  <a:pt x="280292" y="146929"/>
                </a:cubicBezTo>
                <a:cubicBezTo>
                  <a:pt x="280292" y="156175"/>
                  <a:pt x="287788" y="163671"/>
                  <a:pt x="297034" y="163671"/>
                </a:cubicBezTo>
                <a:close/>
                <a:moveTo>
                  <a:pt x="128772" y="115118"/>
                </a:moveTo>
                <a:cubicBezTo>
                  <a:pt x="150739" y="98999"/>
                  <a:pt x="177802" y="91386"/>
                  <a:pt x="204950" y="93687"/>
                </a:cubicBezTo>
                <a:cubicBezTo>
                  <a:pt x="211828" y="93984"/>
                  <a:pt x="217725" y="88824"/>
                  <a:pt x="218345" y="81968"/>
                </a:cubicBezTo>
                <a:cubicBezTo>
                  <a:pt x="218729" y="75059"/>
                  <a:pt x="213523" y="69109"/>
                  <a:pt x="206625" y="68574"/>
                </a:cubicBezTo>
                <a:cubicBezTo>
                  <a:pt x="173645" y="66287"/>
                  <a:pt x="140949" y="75977"/>
                  <a:pt x="114541" y="95864"/>
                </a:cubicBezTo>
                <a:cubicBezTo>
                  <a:pt x="109502" y="99957"/>
                  <a:pt x="108413" y="107215"/>
                  <a:pt x="112029" y="112606"/>
                </a:cubicBezTo>
                <a:cubicBezTo>
                  <a:pt x="114383" y="115789"/>
                  <a:pt x="118116" y="117656"/>
                  <a:pt x="122075" y="117629"/>
                </a:cubicBezTo>
                <a:cubicBezTo>
                  <a:pt x="124786" y="117595"/>
                  <a:pt x="127419" y="116717"/>
                  <a:pt x="129609" y="115118"/>
                </a:cubicBezTo>
                <a:close/>
                <a:moveTo>
                  <a:pt x="165271" y="267307"/>
                </a:moveTo>
                <a:cubicBezTo>
                  <a:pt x="139381" y="277631"/>
                  <a:pt x="111572" y="282257"/>
                  <a:pt x="83735" y="280869"/>
                </a:cubicBezTo>
                <a:cubicBezTo>
                  <a:pt x="55970" y="282203"/>
                  <a:pt x="28238" y="277638"/>
                  <a:pt x="2366" y="267475"/>
                </a:cubicBezTo>
                <a:cubicBezTo>
                  <a:pt x="955" y="266784"/>
                  <a:pt x="50" y="265362"/>
                  <a:pt x="22" y="263792"/>
                </a:cubicBezTo>
                <a:lnTo>
                  <a:pt x="22" y="223944"/>
                </a:lnTo>
                <a:cubicBezTo>
                  <a:pt x="0" y="222581"/>
                  <a:pt x="700" y="221307"/>
                  <a:pt x="1864" y="220596"/>
                </a:cubicBezTo>
                <a:cubicBezTo>
                  <a:pt x="3055" y="219908"/>
                  <a:pt x="4523" y="219908"/>
                  <a:pt x="5714" y="220596"/>
                </a:cubicBezTo>
                <a:cubicBezTo>
                  <a:pt x="31046" y="228001"/>
                  <a:pt x="57346" y="231557"/>
                  <a:pt x="83735" y="231144"/>
                </a:cubicBezTo>
                <a:cubicBezTo>
                  <a:pt x="110177" y="231546"/>
                  <a:pt x="136531" y="227990"/>
                  <a:pt x="161922" y="220596"/>
                </a:cubicBezTo>
                <a:cubicBezTo>
                  <a:pt x="163122" y="219941"/>
                  <a:pt x="164573" y="219941"/>
                  <a:pt x="165773" y="220596"/>
                </a:cubicBezTo>
                <a:cubicBezTo>
                  <a:pt x="166827" y="221386"/>
                  <a:pt x="167447" y="222627"/>
                  <a:pt x="167447" y="223944"/>
                </a:cubicBezTo>
                <a:lnTo>
                  <a:pt x="167447" y="263624"/>
                </a:lnTo>
                <a:cubicBezTo>
                  <a:pt x="167490" y="265168"/>
                  <a:pt x="166644" y="266600"/>
                  <a:pt x="165271" y="267307"/>
                </a:cubicBezTo>
                <a:close/>
                <a:moveTo>
                  <a:pt x="83735" y="364582"/>
                </a:moveTo>
                <a:cubicBezTo>
                  <a:pt x="110152" y="365147"/>
                  <a:pt x="136506" y="361761"/>
                  <a:pt x="161922" y="354536"/>
                </a:cubicBezTo>
                <a:cubicBezTo>
                  <a:pt x="163122" y="353881"/>
                  <a:pt x="164573" y="353881"/>
                  <a:pt x="165773" y="354536"/>
                </a:cubicBezTo>
                <a:cubicBezTo>
                  <a:pt x="166827" y="355327"/>
                  <a:pt x="167447" y="356567"/>
                  <a:pt x="167447" y="357885"/>
                </a:cubicBezTo>
                <a:lnTo>
                  <a:pt x="167447" y="389695"/>
                </a:lnTo>
                <a:cubicBezTo>
                  <a:pt x="167447" y="398904"/>
                  <a:pt x="129944" y="406438"/>
                  <a:pt x="83735" y="406438"/>
                </a:cubicBezTo>
                <a:cubicBezTo>
                  <a:pt x="37525" y="406438"/>
                  <a:pt x="22" y="398904"/>
                  <a:pt x="22" y="389695"/>
                </a:cubicBezTo>
                <a:lnTo>
                  <a:pt x="22" y="357382"/>
                </a:lnTo>
                <a:cubicBezTo>
                  <a:pt x="0" y="356019"/>
                  <a:pt x="700" y="354745"/>
                  <a:pt x="1864" y="354034"/>
                </a:cubicBezTo>
                <a:cubicBezTo>
                  <a:pt x="3055" y="353346"/>
                  <a:pt x="4523" y="353346"/>
                  <a:pt x="5714" y="354034"/>
                </a:cubicBezTo>
                <a:cubicBezTo>
                  <a:pt x="31046" y="361439"/>
                  <a:pt x="57346" y="364995"/>
                  <a:pt x="83735" y="364582"/>
                </a:cubicBezTo>
                <a:close/>
                <a:moveTo>
                  <a:pt x="83735" y="172042"/>
                </a:moveTo>
                <a:cubicBezTo>
                  <a:pt x="129944" y="172042"/>
                  <a:pt x="167447" y="179577"/>
                  <a:pt x="167447" y="188785"/>
                </a:cubicBezTo>
                <a:lnTo>
                  <a:pt x="167447" y="196654"/>
                </a:lnTo>
                <a:cubicBezTo>
                  <a:pt x="167490" y="198198"/>
                  <a:pt x="166644" y="199630"/>
                  <a:pt x="165271" y="200337"/>
                </a:cubicBezTo>
                <a:cubicBezTo>
                  <a:pt x="139381" y="210661"/>
                  <a:pt x="111572" y="215286"/>
                  <a:pt x="83735" y="213899"/>
                </a:cubicBezTo>
                <a:cubicBezTo>
                  <a:pt x="55970" y="215233"/>
                  <a:pt x="28238" y="210668"/>
                  <a:pt x="2366" y="200505"/>
                </a:cubicBezTo>
                <a:cubicBezTo>
                  <a:pt x="955" y="199814"/>
                  <a:pt x="50" y="198392"/>
                  <a:pt x="22" y="196821"/>
                </a:cubicBezTo>
                <a:lnTo>
                  <a:pt x="22" y="188785"/>
                </a:lnTo>
                <a:cubicBezTo>
                  <a:pt x="22" y="179577"/>
                  <a:pt x="37525" y="172042"/>
                  <a:pt x="83735" y="172042"/>
                </a:cubicBezTo>
                <a:close/>
                <a:moveTo>
                  <a:pt x="167447" y="330594"/>
                </a:moveTo>
                <a:cubicBezTo>
                  <a:pt x="167490" y="332138"/>
                  <a:pt x="166644" y="333570"/>
                  <a:pt x="165271" y="334278"/>
                </a:cubicBezTo>
                <a:cubicBezTo>
                  <a:pt x="139381" y="344601"/>
                  <a:pt x="111572" y="349227"/>
                  <a:pt x="83735" y="347839"/>
                </a:cubicBezTo>
                <a:cubicBezTo>
                  <a:pt x="55970" y="349173"/>
                  <a:pt x="28238" y="344608"/>
                  <a:pt x="2366" y="334445"/>
                </a:cubicBezTo>
                <a:cubicBezTo>
                  <a:pt x="955" y="333754"/>
                  <a:pt x="50" y="332332"/>
                  <a:pt x="22" y="330762"/>
                </a:cubicBezTo>
                <a:lnTo>
                  <a:pt x="22" y="290914"/>
                </a:lnTo>
                <a:cubicBezTo>
                  <a:pt x="0" y="289551"/>
                  <a:pt x="700" y="288277"/>
                  <a:pt x="1864" y="287566"/>
                </a:cubicBezTo>
                <a:cubicBezTo>
                  <a:pt x="3055" y="286878"/>
                  <a:pt x="4523" y="286878"/>
                  <a:pt x="5714" y="287566"/>
                </a:cubicBezTo>
                <a:cubicBezTo>
                  <a:pt x="31046" y="294971"/>
                  <a:pt x="57346" y="298527"/>
                  <a:pt x="83735" y="298114"/>
                </a:cubicBezTo>
                <a:cubicBezTo>
                  <a:pt x="110177" y="298516"/>
                  <a:pt x="136531" y="294961"/>
                  <a:pt x="161922" y="287566"/>
                </a:cubicBezTo>
                <a:cubicBezTo>
                  <a:pt x="163122" y="286911"/>
                  <a:pt x="164573" y="286911"/>
                  <a:pt x="165773" y="287566"/>
                </a:cubicBezTo>
                <a:cubicBezTo>
                  <a:pt x="166827" y="288356"/>
                  <a:pt x="167447" y="289597"/>
                  <a:pt x="167447" y="290914"/>
                </a:cubicBezTo>
                <a:close/>
              </a:path>
            </a:pathLst>
          </a:custGeom>
          <a:solidFill>
            <a:srgbClr val="484848"/>
          </a:solidFill>
          <a:ln>
            <a:noFill/>
          </a:ln>
        </p:spPr>
        <p:txBody>
          <a:bodyPr rtlCol="0" anchor="ctr"/>
          <a:lstStyle/>
          <a:p>
            <a:pPr algn="ctr"/>
            <a:endParaRPr/>
          </a:p>
        </p:txBody>
      </p:sp>
      <p:sp>
        <p:nvSpPr>
          <p:cNvPr id="19" name="TextBox 18"/>
          <p:cNvSpPr txBox="1"/>
          <p:nvPr/>
        </p:nvSpPr>
        <p:spPr>
          <a:xfrm>
            <a:off x="4182547" y="899522"/>
            <a:ext cx="2106346" cy="369332"/>
          </a:xfrm>
          <a:prstGeom prst="rect">
            <a:avLst/>
          </a:prstGeom>
          <a:noFill/>
          <a:ln>
            <a:noFill/>
          </a:ln>
        </p:spPr>
        <p:txBody>
          <a:bodyPr wrap="none" lIns="0" tIns="0" rIns="0" bIns="0" anchor="t">
            <a:spAutoFit/>
          </a:bodyPr>
          <a:lstStyle/>
          <a:p>
            <a:pPr algn="l"/>
            <a:r>
              <a:rPr sz="2400" b="1" dirty="0">
                <a:solidFill>
                  <a:srgbClr val="FFFFFF"/>
                </a:solidFill>
                <a:latin typeface="Roboto"/>
              </a:rPr>
              <a:t>Business Sales</a:t>
            </a:r>
          </a:p>
        </p:txBody>
      </p:sp>
      <p:sp>
        <p:nvSpPr>
          <p:cNvPr id="20" name="TextBox 19"/>
          <p:cNvSpPr txBox="1"/>
          <p:nvPr/>
        </p:nvSpPr>
        <p:spPr>
          <a:xfrm>
            <a:off x="4182547" y="1294376"/>
            <a:ext cx="4485202" cy="553998"/>
          </a:xfrm>
          <a:prstGeom prst="rect">
            <a:avLst/>
          </a:prstGeom>
          <a:noFill/>
          <a:ln>
            <a:noFill/>
          </a:ln>
        </p:spPr>
        <p:txBody>
          <a:bodyPr wrap="none" lIns="0" tIns="0" rIns="0" bIns="0" anchor="t">
            <a:spAutoFit/>
          </a:bodyPr>
          <a:lstStyle/>
          <a:p>
            <a:pPr algn="l"/>
            <a:r>
              <a:rPr dirty="0">
                <a:solidFill>
                  <a:srgbClr val="FFFFFF"/>
                </a:solidFill>
                <a:latin typeface="Roboto"/>
              </a:rPr>
              <a:t>Total sales, turnover or gross receipts in the</a:t>
            </a:r>
            <a:endParaRPr lang="en-US" dirty="0">
              <a:solidFill>
                <a:srgbClr val="FFFFFF"/>
              </a:solidFill>
              <a:latin typeface="Roboto"/>
            </a:endParaRPr>
          </a:p>
          <a:p>
            <a:pPr algn="l"/>
            <a:r>
              <a:rPr lang="en-US" dirty="0">
                <a:solidFill>
                  <a:srgbClr val="FFFFFF"/>
                </a:solidFill>
                <a:latin typeface="Roboto"/>
              </a:rPr>
              <a:t> </a:t>
            </a:r>
            <a:r>
              <a:rPr dirty="0">
                <a:solidFill>
                  <a:srgbClr val="FFFFFF"/>
                </a:solidFill>
                <a:latin typeface="Roboto"/>
              </a:rPr>
              <a:t>business are greater than Rs. 60 lakhs.</a:t>
            </a:r>
          </a:p>
        </p:txBody>
      </p:sp>
      <p:sp>
        <p:nvSpPr>
          <p:cNvPr id="21" name="TextBox 20"/>
          <p:cNvSpPr txBox="1"/>
          <p:nvPr/>
        </p:nvSpPr>
        <p:spPr>
          <a:xfrm>
            <a:off x="4182547" y="2297504"/>
            <a:ext cx="3039294" cy="369332"/>
          </a:xfrm>
          <a:prstGeom prst="rect">
            <a:avLst/>
          </a:prstGeom>
          <a:noFill/>
          <a:ln>
            <a:noFill/>
          </a:ln>
        </p:spPr>
        <p:txBody>
          <a:bodyPr wrap="none" lIns="0" tIns="0" rIns="0" bIns="0" anchor="t">
            <a:spAutoFit/>
          </a:bodyPr>
          <a:lstStyle/>
          <a:p>
            <a:pPr algn="l"/>
            <a:r>
              <a:rPr sz="2400" b="1" dirty="0">
                <a:solidFill>
                  <a:srgbClr val="FFFFFF"/>
                </a:solidFill>
                <a:latin typeface="Roboto"/>
              </a:rPr>
              <a:t>Professional Receipts</a:t>
            </a:r>
          </a:p>
        </p:txBody>
      </p:sp>
      <p:sp>
        <p:nvSpPr>
          <p:cNvPr id="22" name="TextBox 21"/>
          <p:cNvSpPr txBox="1"/>
          <p:nvPr/>
        </p:nvSpPr>
        <p:spPr>
          <a:xfrm>
            <a:off x="4182547" y="2677288"/>
            <a:ext cx="3659656" cy="523220"/>
          </a:xfrm>
          <a:prstGeom prst="rect">
            <a:avLst/>
          </a:prstGeom>
          <a:noFill/>
          <a:ln>
            <a:noFill/>
          </a:ln>
        </p:spPr>
        <p:txBody>
          <a:bodyPr wrap="none" lIns="0" tIns="0" rIns="0" bIns="0" anchor="t">
            <a:spAutoFit/>
          </a:bodyPr>
          <a:lstStyle/>
          <a:p>
            <a:pPr algn="l"/>
            <a:r>
              <a:rPr sz="1700" dirty="0">
                <a:solidFill>
                  <a:srgbClr val="FFFFFF"/>
                </a:solidFill>
                <a:latin typeface="Roboto"/>
              </a:rPr>
              <a:t>Total gross receipts in profession are </a:t>
            </a:r>
            <a:endParaRPr lang="en-US" sz="1700" dirty="0">
              <a:solidFill>
                <a:srgbClr val="FFFFFF"/>
              </a:solidFill>
              <a:latin typeface="Roboto"/>
            </a:endParaRPr>
          </a:p>
          <a:p>
            <a:pPr algn="l"/>
            <a:r>
              <a:rPr sz="1700" dirty="0">
                <a:solidFill>
                  <a:srgbClr val="FFFFFF"/>
                </a:solidFill>
                <a:latin typeface="Roboto"/>
              </a:rPr>
              <a:t>greater</a:t>
            </a:r>
            <a:r>
              <a:rPr lang="en-US" sz="1700" dirty="0">
                <a:solidFill>
                  <a:srgbClr val="FFFFFF"/>
                </a:solidFill>
                <a:latin typeface="Roboto"/>
              </a:rPr>
              <a:t> </a:t>
            </a:r>
            <a:r>
              <a:rPr sz="1700" dirty="0">
                <a:solidFill>
                  <a:srgbClr val="FFFFFF"/>
                </a:solidFill>
                <a:latin typeface="Roboto"/>
              </a:rPr>
              <a:t>than Rs. 10 lakhs.</a:t>
            </a:r>
          </a:p>
        </p:txBody>
      </p:sp>
      <p:sp>
        <p:nvSpPr>
          <p:cNvPr id="23" name="TextBox 22"/>
          <p:cNvSpPr txBox="1"/>
          <p:nvPr/>
        </p:nvSpPr>
        <p:spPr>
          <a:xfrm>
            <a:off x="4182547" y="3654919"/>
            <a:ext cx="2192908" cy="369332"/>
          </a:xfrm>
          <a:prstGeom prst="rect">
            <a:avLst/>
          </a:prstGeom>
          <a:noFill/>
          <a:ln>
            <a:noFill/>
          </a:ln>
        </p:spPr>
        <p:txBody>
          <a:bodyPr wrap="none" lIns="0" tIns="0" rIns="0" bIns="0" anchor="t">
            <a:spAutoFit/>
          </a:bodyPr>
          <a:lstStyle/>
          <a:p>
            <a:pPr algn="l"/>
            <a:r>
              <a:rPr sz="2400" b="1" dirty="0">
                <a:solidFill>
                  <a:srgbClr val="FFFFFF"/>
                </a:solidFill>
                <a:latin typeface="Roboto"/>
              </a:rPr>
              <a:t>TDS/TCS Credit</a:t>
            </a:r>
          </a:p>
        </p:txBody>
      </p:sp>
      <p:sp>
        <p:nvSpPr>
          <p:cNvPr id="24" name="TextBox 23"/>
          <p:cNvSpPr txBox="1"/>
          <p:nvPr/>
        </p:nvSpPr>
        <p:spPr>
          <a:xfrm>
            <a:off x="4154008" y="4118905"/>
            <a:ext cx="4936571" cy="492443"/>
          </a:xfrm>
          <a:prstGeom prst="rect">
            <a:avLst/>
          </a:prstGeom>
          <a:noFill/>
          <a:ln>
            <a:noFill/>
          </a:ln>
        </p:spPr>
        <p:txBody>
          <a:bodyPr wrap="square" lIns="0" tIns="0" rIns="0" bIns="0" anchor="t">
            <a:spAutoFit/>
          </a:bodyPr>
          <a:lstStyle/>
          <a:p>
            <a:pPr algn="l"/>
            <a:r>
              <a:rPr sz="1600" dirty="0">
                <a:solidFill>
                  <a:srgbClr val="FFFFFF"/>
                </a:solidFill>
                <a:latin typeface="Roboto"/>
              </a:rPr>
              <a:t>Aggregate TDS and TCS credit is greater than</a:t>
            </a:r>
            <a:r>
              <a:rPr lang="en-US" sz="1600" dirty="0">
                <a:solidFill>
                  <a:srgbClr val="FFFFFF"/>
                </a:solidFill>
                <a:latin typeface="Roboto"/>
              </a:rPr>
              <a:t> </a:t>
            </a:r>
          </a:p>
          <a:p>
            <a:pPr algn="l"/>
            <a:r>
              <a:rPr sz="1600" dirty="0">
                <a:solidFill>
                  <a:srgbClr val="FFFFFF"/>
                </a:solidFill>
                <a:latin typeface="Roboto"/>
              </a:rPr>
              <a:t>or equal to Rs. 25,000 (Rs. 50,000 for senior</a:t>
            </a:r>
            <a:r>
              <a:rPr lang="en-US" sz="1600" dirty="0">
                <a:solidFill>
                  <a:srgbClr val="FFFFFF"/>
                </a:solidFill>
                <a:latin typeface="Roboto"/>
              </a:rPr>
              <a:t> </a:t>
            </a:r>
            <a:r>
              <a:rPr sz="1600" dirty="0">
                <a:solidFill>
                  <a:srgbClr val="FFFFFF"/>
                </a:solidFill>
                <a:latin typeface="Roboto"/>
              </a:rPr>
              <a:t>citizens).</a:t>
            </a:r>
          </a:p>
        </p:txBody>
      </p:sp>
      <p:sp>
        <p:nvSpPr>
          <p:cNvPr id="25" name="TextBox 24"/>
          <p:cNvSpPr txBox="1"/>
          <p:nvPr/>
        </p:nvSpPr>
        <p:spPr>
          <a:xfrm>
            <a:off x="4182547" y="5006477"/>
            <a:ext cx="2234586" cy="369332"/>
          </a:xfrm>
          <a:prstGeom prst="rect">
            <a:avLst/>
          </a:prstGeom>
          <a:noFill/>
          <a:ln>
            <a:noFill/>
          </a:ln>
        </p:spPr>
        <p:txBody>
          <a:bodyPr wrap="none" lIns="0" tIns="0" rIns="0" bIns="0" anchor="t">
            <a:spAutoFit/>
          </a:bodyPr>
          <a:lstStyle/>
          <a:p>
            <a:pPr algn="l"/>
            <a:r>
              <a:rPr sz="2400" b="1" dirty="0">
                <a:solidFill>
                  <a:srgbClr val="FFFFFF"/>
                </a:solidFill>
                <a:latin typeface="Roboto"/>
              </a:rPr>
              <a:t>Savings Deposit</a:t>
            </a:r>
          </a:p>
        </p:txBody>
      </p:sp>
      <p:sp>
        <p:nvSpPr>
          <p:cNvPr id="26" name="TextBox 25"/>
          <p:cNvSpPr txBox="1"/>
          <p:nvPr/>
        </p:nvSpPr>
        <p:spPr>
          <a:xfrm>
            <a:off x="4182548" y="5480227"/>
            <a:ext cx="5017399" cy="492443"/>
          </a:xfrm>
          <a:prstGeom prst="rect">
            <a:avLst/>
          </a:prstGeom>
          <a:noFill/>
          <a:ln>
            <a:noFill/>
          </a:ln>
        </p:spPr>
        <p:txBody>
          <a:bodyPr wrap="none" lIns="0" tIns="0" rIns="0" bIns="0" anchor="t">
            <a:spAutoFit/>
          </a:bodyPr>
          <a:lstStyle/>
          <a:p>
            <a:pPr algn="l"/>
            <a:r>
              <a:rPr sz="1600" dirty="0">
                <a:solidFill>
                  <a:srgbClr val="FFFFFF"/>
                </a:solidFill>
                <a:latin typeface="Roboto"/>
              </a:rPr>
              <a:t>Deposit in one or more savings bank</a:t>
            </a:r>
            <a:r>
              <a:rPr lang="en-US" sz="1600" dirty="0">
                <a:solidFill>
                  <a:srgbClr val="FFFFFF"/>
                </a:solidFill>
                <a:latin typeface="Roboto"/>
              </a:rPr>
              <a:t> </a:t>
            </a:r>
            <a:r>
              <a:rPr sz="1600" dirty="0">
                <a:solidFill>
                  <a:srgbClr val="FFFFFF"/>
                </a:solidFill>
                <a:latin typeface="Roboto"/>
              </a:rPr>
              <a:t>account</a:t>
            </a:r>
            <a:r>
              <a:rPr lang="en-US" sz="1600" dirty="0">
                <a:solidFill>
                  <a:srgbClr val="FFFFFF"/>
                </a:solidFill>
                <a:latin typeface="Roboto"/>
              </a:rPr>
              <a:t> </a:t>
            </a:r>
            <a:r>
              <a:rPr sz="1600" dirty="0">
                <a:solidFill>
                  <a:srgbClr val="FFFFFF"/>
                </a:solidFill>
                <a:latin typeface="Roboto"/>
              </a:rPr>
              <a:t>is greater</a:t>
            </a:r>
            <a:endParaRPr lang="en-US" sz="1600" dirty="0">
              <a:solidFill>
                <a:srgbClr val="FFFFFF"/>
              </a:solidFill>
              <a:latin typeface="Roboto"/>
            </a:endParaRPr>
          </a:p>
          <a:p>
            <a:pPr algn="l"/>
            <a:r>
              <a:rPr sz="1600" dirty="0">
                <a:solidFill>
                  <a:srgbClr val="FFFFFF"/>
                </a:solidFill>
                <a:latin typeface="Roboto"/>
              </a:rPr>
              <a:t> than or equal to Rs. 50 lakhs.</a:t>
            </a:r>
          </a:p>
        </p:txBody>
      </p:sp>
      <p:sp>
        <p:nvSpPr>
          <p:cNvPr id="27" name="TextBox 26">
            <a:extLst>
              <a:ext uri="{FF2B5EF4-FFF2-40B4-BE49-F238E27FC236}">
                <a16:creationId xmlns:a16="http://schemas.microsoft.com/office/drawing/2014/main" id="{D9915FD0-63F5-EFF7-BA9E-5805D5EAAFEF}"/>
              </a:ext>
            </a:extLst>
          </p:cNvPr>
          <p:cNvSpPr txBox="1"/>
          <p:nvPr/>
        </p:nvSpPr>
        <p:spPr>
          <a:xfrm>
            <a:off x="630314" y="355107"/>
            <a:ext cx="870012" cy="769441"/>
          </a:xfrm>
          <a:prstGeom prst="rect">
            <a:avLst/>
          </a:prstGeom>
          <a:noFill/>
        </p:spPr>
        <p:txBody>
          <a:bodyPr wrap="square" rtlCol="0">
            <a:spAutoFit/>
          </a:bodyPr>
          <a:lstStyle/>
          <a:p>
            <a:r>
              <a:rPr lang="en-US" sz="4400" b="1" dirty="0"/>
              <a:t>04</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4665285" y="214442"/>
            <a:ext cx="2697853" cy="1200329"/>
          </a:xfrm>
          <a:prstGeom prst="rect">
            <a:avLst/>
          </a:prstGeom>
          <a:noFill/>
          <a:ln>
            <a:noFill/>
          </a:ln>
        </p:spPr>
        <p:txBody>
          <a:bodyPr wrap="none" lIns="0" tIns="0" rIns="0" bIns="0" anchor="t">
            <a:spAutoFit/>
          </a:bodyPr>
          <a:lstStyle/>
          <a:p>
            <a:pPr algn="ctr"/>
            <a:r>
              <a:rPr sz="6000" b="1" dirty="0">
                <a:solidFill>
                  <a:srgbClr val="484848"/>
                </a:solidFill>
                <a:latin typeface="Roboto"/>
              </a:rPr>
              <a:t>ITR-1</a:t>
            </a:r>
            <a:endParaRPr lang="en-IN" sz="6000" b="1" dirty="0">
              <a:solidFill>
                <a:srgbClr val="484848"/>
              </a:solidFill>
              <a:latin typeface="Roboto"/>
            </a:endParaRPr>
          </a:p>
          <a:p>
            <a:pPr algn="ctr"/>
            <a:r>
              <a:rPr lang="en-US" b="1" dirty="0"/>
              <a:t>Applicable only for Individual</a:t>
            </a:r>
            <a:endParaRPr sz="1700" b="1" dirty="0">
              <a:solidFill>
                <a:srgbClr val="484848"/>
              </a:solidFill>
              <a:latin typeface="Roboto"/>
            </a:endParaRPr>
          </a:p>
        </p:txBody>
      </p:sp>
      <p:grpSp>
        <p:nvGrpSpPr>
          <p:cNvPr id="4" name="Group 3"/>
          <p:cNvGrpSpPr/>
          <p:nvPr/>
        </p:nvGrpSpPr>
        <p:grpSpPr>
          <a:xfrm>
            <a:off x="2082918" y="1799330"/>
            <a:ext cx="1384755" cy="1374890"/>
            <a:chOff x="534389" y="1184563"/>
            <a:chExt cx="1282535" cy="1282535"/>
          </a:xfrm>
        </p:grpSpPr>
        <p:sp>
          <p:nvSpPr>
            <p:cNvPr id="2" name="Rounded Rectangle 1"/>
            <p:cNvSpPr/>
            <p:nvPr/>
          </p:nvSpPr>
          <p:spPr>
            <a:xfrm>
              <a:off x="534389" y="1184563"/>
              <a:ext cx="1282535" cy="1282535"/>
            </a:xfrm>
            <a:custGeom>
              <a:avLst/>
              <a:gdLst/>
              <a:ahLst/>
              <a:cxnLst/>
              <a:rect l="0" t="0" r="0" b="0"/>
              <a:pathLst>
                <a:path w="1282535" h="1282535">
                  <a:moveTo>
                    <a:pt x="1282535" y="641267"/>
                  </a:moveTo>
                  <a:cubicBezTo>
                    <a:pt x="1282535" y="995429"/>
                    <a:pt x="995429" y="1282535"/>
                    <a:pt x="641267" y="1282535"/>
                  </a:cubicBezTo>
                  <a:cubicBezTo>
                    <a:pt x="287105" y="1282535"/>
                    <a:pt x="0" y="995429"/>
                    <a:pt x="0" y="641267"/>
                  </a:cubicBezTo>
                  <a:cubicBezTo>
                    <a:pt x="0" y="287105"/>
                    <a:pt x="287105" y="0"/>
                    <a:pt x="641267" y="0"/>
                  </a:cubicBezTo>
                  <a:cubicBezTo>
                    <a:pt x="995429" y="0"/>
                    <a:pt x="1282535" y="287105"/>
                    <a:pt x="1282535" y="641267"/>
                  </a:cubicBezTo>
                  <a:close/>
                </a:path>
              </a:pathLst>
            </a:custGeom>
            <a:solidFill>
              <a:srgbClr val="E0CB15"/>
            </a:solidFill>
            <a:ln>
              <a:noFill/>
            </a:ln>
          </p:spPr>
          <p:txBody>
            <a:bodyPr rtlCol="0" anchor="ctr"/>
            <a:lstStyle/>
            <a:p>
              <a:pPr algn="ctr"/>
              <a:endParaRPr/>
            </a:p>
          </p:txBody>
        </p:sp>
        <p:sp>
          <p:nvSpPr>
            <p:cNvPr id="3" name="Rounded Rectangle 2"/>
            <p:cNvSpPr/>
            <p:nvPr/>
          </p:nvSpPr>
          <p:spPr>
            <a:xfrm>
              <a:off x="534389" y="1184563"/>
              <a:ext cx="1282535" cy="1282535"/>
            </a:xfrm>
            <a:custGeom>
              <a:avLst/>
              <a:gdLst/>
              <a:ahLst/>
              <a:cxnLst/>
              <a:rect l="0" t="0" r="0" b="0"/>
              <a:pathLst>
                <a:path w="1282535" h="1282535">
                  <a:moveTo>
                    <a:pt x="1282535" y="641267"/>
                  </a:moveTo>
                  <a:cubicBezTo>
                    <a:pt x="1282535" y="995429"/>
                    <a:pt x="995429" y="1282535"/>
                    <a:pt x="641267" y="1282535"/>
                  </a:cubicBezTo>
                  <a:cubicBezTo>
                    <a:pt x="287105" y="1282535"/>
                    <a:pt x="0" y="995429"/>
                    <a:pt x="0" y="641267"/>
                  </a:cubicBezTo>
                  <a:cubicBezTo>
                    <a:pt x="0" y="287105"/>
                    <a:pt x="287105" y="0"/>
                    <a:pt x="641267" y="0"/>
                  </a:cubicBezTo>
                  <a:cubicBezTo>
                    <a:pt x="995429" y="0"/>
                    <a:pt x="1282535" y="287105"/>
                    <a:pt x="1282535" y="641267"/>
                  </a:cubicBezTo>
                  <a:close/>
                </a:path>
              </a:pathLst>
            </a:custGeom>
            <a:noFill/>
            <a:ln w="13359">
              <a:solidFill>
                <a:srgbClr val="FFFFFF"/>
              </a:solidFill>
            </a:ln>
          </p:spPr>
          <p:txBody>
            <a:bodyPr rtlCol="0" anchor="ctr"/>
            <a:lstStyle/>
            <a:p>
              <a:pPr algn="ctr"/>
              <a:endParaRPr/>
            </a:p>
          </p:txBody>
        </p:sp>
      </p:grpSp>
      <p:sp>
        <p:nvSpPr>
          <p:cNvPr id="5" name="Rounded Rectangle 4"/>
          <p:cNvSpPr/>
          <p:nvPr/>
        </p:nvSpPr>
        <p:spPr>
          <a:xfrm>
            <a:off x="1967522" y="1669220"/>
            <a:ext cx="1631193" cy="1972844"/>
          </a:xfrm>
          <a:custGeom>
            <a:avLst/>
            <a:gdLst/>
            <a:ahLst/>
            <a:cxnLst/>
            <a:rect l="0" t="0" r="0" b="0"/>
            <a:pathLst>
              <a:path w="1510782" h="1840322">
                <a:moveTo>
                  <a:pt x="0" y="762637"/>
                </a:moveTo>
                <a:cubicBezTo>
                  <a:pt x="0" y="614668"/>
                  <a:pt x="43877" y="470022"/>
                  <a:pt x="126085" y="346989"/>
                </a:cubicBezTo>
                <a:cubicBezTo>
                  <a:pt x="208292" y="223958"/>
                  <a:pt x="325136" y="128066"/>
                  <a:pt x="461842" y="71441"/>
                </a:cubicBezTo>
                <a:cubicBezTo>
                  <a:pt x="598548" y="14815"/>
                  <a:pt x="748975" y="0"/>
                  <a:pt x="894101" y="28867"/>
                </a:cubicBezTo>
                <a:cubicBezTo>
                  <a:pt x="1039227" y="57734"/>
                  <a:pt x="1172534" y="128989"/>
                  <a:pt x="1277164" y="233619"/>
                </a:cubicBezTo>
                <a:cubicBezTo>
                  <a:pt x="1381794" y="338249"/>
                  <a:pt x="1453048" y="471556"/>
                  <a:pt x="1481915" y="616682"/>
                </a:cubicBezTo>
                <a:cubicBezTo>
                  <a:pt x="1510782" y="761808"/>
                  <a:pt x="1495966" y="912235"/>
                  <a:pt x="1439341" y="1048940"/>
                </a:cubicBezTo>
                <a:cubicBezTo>
                  <a:pt x="1382716" y="1185646"/>
                  <a:pt x="1286824" y="1302490"/>
                  <a:pt x="1163792" y="1384697"/>
                </a:cubicBezTo>
                <a:cubicBezTo>
                  <a:pt x="1040760" y="1466904"/>
                  <a:pt x="900567" y="1510782"/>
                  <a:pt x="752598" y="1510782"/>
                </a:cubicBezTo>
                <a:lnTo>
                  <a:pt x="752599" y="1840322"/>
                </a:lnTo>
                <a:moveTo>
                  <a:pt x="621713" y="1709906"/>
                </a:moveTo>
                <a:lnTo>
                  <a:pt x="752599" y="1840322"/>
                </a:lnTo>
                <a:moveTo>
                  <a:pt x="883486" y="1709906"/>
                </a:moveTo>
                <a:lnTo>
                  <a:pt x="752599" y="1840322"/>
                </a:lnTo>
              </a:path>
            </a:pathLst>
          </a:custGeom>
          <a:noFill/>
          <a:ln w="13359">
            <a:solidFill>
              <a:srgbClr val="484848"/>
            </a:solidFill>
          </a:ln>
        </p:spPr>
        <p:txBody>
          <a:bodyPr rtlCol="0" anchor="ctr"/>
          <a:lstStyle/>
          <a:p>
            <a:pPr algn="ctr"/>
            <a:endParaRPr/>
          </a:p>
        </p:txBody>
      </p:sp>
      <p:grpSp>
        <p:nvGrpSpPr>
          <p:cNvPr id="8" name="Group 7"/>
          <p:cNvGrpSpPr/>
          <p:nvPr/>
        </p:nvGrpSpPr>
        <p:grpSpPr>
          <a:xfrm>
            <a:off x="3698465" y="1799330"/>
            <a:ext cx="1384755" cy="1374890"/>
            <a:chOff x="2030680" y="1184563"/>
            <a:chExt cx="1282535" cy="1282535"/>
          </a:xfrm>
        </p:grpSpPr>
        <p:sp>
          <p:nvSpPr>
            <p:cNvPr id="6" name="Rounded Rectangle 5"/>
            <p:cNvSpPr/>
            <p:nvPr/>
          </p:nvSpPr>
          <p:spPr>
            <a:xfrm>
              <a:off x="2030680" y="1184563"/>
              <a:ext cx="1282535" cy="1282535"/>
            </a:xfrm>
            <a:custGeom>
              <a:avLst/>
              <a:gdLst/>
              <a:ahLst/>
              <a:cxnLst/>
              <a:rect l="0" t="0" r="0" b="0"/>
              <a:pathLst>
                <a:path w="1282535" h="1282535">
                  <a:moveTo>
                    <a:pt x="1282535" y="641267"/>
                  </a:moveTo>
                  <a:cubicBezTo>
                    <a:pt x="1282535" y="995429"/>
                    <a:pt x="995429" y="1282535"/>
                    <a:pt x="641267" y="1282535"/>
                  </a:cubicBezTo>
                  <a:cubicBezTo>
                    <a:pt x="287105" y="1282535"/>
                    <a:pt x="0" y="995429"/>
                    <a:pt x="0" y="641267"/>
                  </a:cubicBezTo>
                  <a:cubicBezTo>
                    <a:pt x="0" y="287105"/>
                    <a:pt x="287105" y="0"/>
                    <a:pt x="641267" y="0"/>
                  </a:cubicBezTo>
                  <a:cubicBezTo>
                    <a:pt x="995429" y="0"/>
                    <a:pt x="1282535" y="287105"/>
                    <a:pt x="1282535" y="641267"/>
                  </a:cubicBezTo>
                  <a:close/>
                </a:path>
              </a:pathLst>
            </a:custGeom>
            <a:solidFill>
              <a:srgbClr val="DE8431"/>
            </a:solidFill>
            <a:ln>
              <a:noFill/>
            </a:ln>
          </p:spPr>
          <p:txBody>
            <a:bodyPr rtlCol="0" anchor="ctr"/>
            <a:lstStyle/>
            <a:p>
              <a:pPr algn="ctr"/>
              <a:endParaRPr/>
            </a:p>
          </p:txBody>
        </p:sp>
        <p:sp>
          <p:nvSpPr>
            <p:cNvPr id="7" name="Rounded Rectangle 6"/>
            <p:cNvSpPr/>
            <p:nvPr/>
          </p:nvSpPr>
          <p:spPr>
            <a:xfrm>
              <a:off x="2030680" y="1184563"/>
              <a:ext cx="1282535" cy="1282535"/>
            </a:xfrm>
            <a:custGeom>
              <a:avLst/>
              <a:gdLst/>
              <a:ahLst/>
              <a:cxnLst/>
              <a:rect l="0" t="0" r="0" b="0"/>
              <a:pathLst>
                <a:path w="1282535" h="1282535">
                  <a:moveTo>
                    <a:pt x="1282535" y="641267"/>
                  </a:moveTo>
                  <a:cubicBezTo>
                    <a:pt x="1282535" y="995429"/>
                    <a:pt x="995429" y="1282535"/>
                    <a:pt x="641267" y="1282535"/>
                  </a:cubicBezTo>
                  <a:cubicBezTo>
                    <a:pt x="287105" y="1282535"/>
                    <a:pt x="0" y="995429"/>
                    <a:pt x="0" y="641267"/>
                  </a:cubicBezTo>
                  <a:cubicBezTo>
                    <a:pt x="0" y="287105"/>
                    <a:pt x="287105" y="0"/>
                    <a:pt x="641267" y="0"/>
                  </a:cubicBezTo>
                  <a:cubicBezTo>
                    <a:pt x="995429" y="0"/>
                    <a:pt x="1282535" y="287105"/>
                    <a:pt x="1282535" y="641267"/>
                  </a:cubicBezTo>
                  <a:close/>
                </a:path>
              </a:pathLst>
            </a:custGeom>
            <a:noFill/>
            <a:ln w="13359">
              <a:solidFill>
                <a:srgbClr val="FFFFFF"/>
              </a:solidFill>
            </a:ln>
          </p:spPr>
          <p:txBody>
            <a:bodyPr rtlCol="0" anchor="ctr"/>
            <a:lstStyle/>
            <a:p>
              <a:pPr algn="ctr"/>
              <a:endParaRPr/>
            </a:p>
          </p:txBody>
        </p:sp>
      </p:grpSp>
      <p:sp>
        <p:nvSpPr>
          <p:cNvPr id="9" name="Rounded Rectangle 8"/>
          <p:cNvSpPr/>
          <p:nvPr/>
        </p:nvSpPr>
        <p:spPr>
          <a:xfrm>
            <a:off x="3583069" y="1669220"/>
            <a:ext cx="1631193" cy="1972844"/>
          </a:xfrm>
          <a:custGeom>
            <a:avLst/>
            <a:gdLst/>
            <a:ahLst/>
            <a:cxnLst/>
            <a:rect l="0" t="0" r="0" b="0"/>
            <a:pathLst>
              <a:path w="1510782" h="1840322">
                <a:moveTo>
                  <a:pt x="0" y="762637"/>
                </a:moveTo>
                <a:cubicBezTo>
                  <a:pt x="0" y="614668"/>
                  <a:pt x="43877" y="470022"/>
                  <a:pt x="126085" y="346989"/>
                </a:cubicBezTo>
                <a:cubicBezTo>
                  <a:pt x="208292" y="223958"/>
                  <a:pt x="325136" y="128066"/>
                  <a:pt x="461842" y="71441"/>
                </a:cubicBezTo>
                <a:cubicBezTo>
                  <a:pt x="598548" y="14815"/>
                  <a:pt x="748975" y="0"/>
                  <a:pt x="894101" y="28867"/>
                </a:cubicBezTo>
                <a:cubicBezTo>
                  <a:pt x="1039227" y="57734"/>
                  <a:pt x="1172534" y="128989"/>
                  <a:pt x="1277164" y="233619"/>
                </a:cubicBezTo>
                <a:cubicBezTo>
                  <a:pt x="1381794" y="338249"/>
                  <a:pt x="1453048" y="471556"/>
                  <a:pt x="1481915" y="616682"/>
                </a:cubicBezTo>
                <a:cubicBezTo>
                  <a:pt x="1510782" y="761808"/>
                  <a:pt x="1495966" y="912235"/>
                  <a:pt x="1439341" y="1048940"/>
                </a:cubicBezTo>
                <a:cubicBezTo>
                  <a:pt x="1382716" y="1185646"/>
                  <a:pt x="1286824" y="1302490"/>
                  <a:pt x="1163792" y="1384697"/>
                </a:cubicBezTo>
                <a:cubicBezTo>
                  <a:pt x="1040760" y="1466904"/>
                  <a:pt x="900567" y="1510782"/>
                  <a:pt x="752598" y="1510782"/>
                </a:cubicBezTo>
                <a:lnTo>
                  <a:pt x="752599" y="1840322"/>
                </a:lnTo>
                <a:moveTo>
                  <a:pt x="621713" y="1709906"/>
                </a:moveTo>
                <a:lnTo>
                  <a:pt x="752599" y="1840322"/>
                </a:lnTo>
                <a:moveTo>
                  <a:pt x="883486" y="1709906"/>
                </a:moveTo>
                <a:lnTo>
                  <a:pt x="752599" y="1840322"/>
                </a:lnTo>
              </a:path>
            </a:pathLst>
          </a:custGeom>
          <a:noFill/>
          <a:ln w="13359">
            <a:solidFill>
              <a:srgbClr val="484848"/>
            </a:solidFill>
          </a:ln>
        </p:spPr>
        <p:txBody>
          <a:bodyPr rtlCol="0" anchor="ctr"/>
          <a:lstStyle/>
          <a:p>
            <a:pPr algn="ctr"/>
            <a:endParaRPr/>
          </a:p>
        </p:txBody>
      </p:sp>
      <p:grpSp>
        <p:nvGrpSpPr>
          <p:cNvPr id="12" name="Group 11"/>
          <p:cNvGrpSpPr/>
          <p:nvPr/>
        </p:nvGrpSpPr>
        <p:grpSpPr>
          <a:xfrm>
            <a:off x="5314013" y="1799330"/>
            <a:ext cx="1384755" cy="1374890"/>
            <a:chOff x="3526971" y="1184563"/>
            <a:chExt cx="1282535" cy="1282535"/>
          </a:xfrm>
        </p:grpSpPr>
        <p:sp>
          <p:nvSpPr>
            <p:cNvPr id="10" name="Rounded Rectangle 9"/>
            <p:cNvSpPr/>
            <p:nvPr/>
          </p:nvSpPr>
          <p:spPr>
            <a:xfrm>
              <a:off x="3526971" y="1184563"/>
              <a:ext cx="1282535" cy="1282535"/>
            </a:xfrm>
            <a:custGeom>
              <a:avLst/>
              <a:gdLst/>
              <a:ahLst/>
              <a:cxnLst/>
              <a:rect l="0" t="0" r="0" b="0"/>
              <a:pathLst>
                <a:path w="1282535" h="1282535">
                  <a:moveTo>
                    <a:pt x="1282535" y="641267"/>
                  </a:moveTo>
                  <a:cubicBezTo>
                    <a:pt x="1282535" y="995429"/>
                    <a:pt x="995429" y="1282535"/>
                    <a:pt x="641267" y="1282535"/>
                  </a:cubicBezTo>
                  <a:cubicBezTo>
                    <a:pt x="287105" y="1282535"/>
                    <a:pt x="0" y="995429"/>
                    <a:pt x="0" y="641267"/>
                  </a:cubicBezTo>
                  <a:cubicBezTo>
                    <a:pt x="0" y="287105"/>
                    <a:pt x="287105" y="0"/>
                    <a:pt x="641267" y="0"/>
                  </a:cubicBezTo>
                  <a:cubicBezTo>
                    <a:pt x="995429" y="0"/>
                    <a:pt x="1282535" y="287105"/>
                    <a:pt x="1282535" y="641267"/>
                  </a:cubicBezTo>
                  <a:close/>
                </a:path>
              </a:pathLst>
            </a:custGeom>
            <a:solidFill>
              <a:srgbClr val="E55753"/>
            </a:solidFill>
            <a:ln>
              <a:noFill/>
            </a:ln>
          </p:spPr>
          <p:txBody>
            <a:bodyPr rtlCol="0" anchor="ctr"/>
            <a:lstStyle/>
            <a:p>
              <a:pPr algn="ctr"/>
              <a:endParaRPr/>
            </a:p>
          </p:txBody>
        </p:sp>
        <p:sp>
          <p:nvSpPr>
            <p:cNvPr id="11" name="Rounded Rectangle 10"/>
            <p:cNvSpPr/>
            <p:nvPr/>
          </p:nvSpPr>
          <p:spPr>
            <a:xfrm>
              <a:off x="3526971" y="1184563"/>
              <a:ext cx="1282535" cy="1282535"/>
            </a:xfrm>
            <a:custGeom>
              <a:avLst/>
              <a:gdLst/>
              <a:ahLst/>
              <a:cxnLst/>
              <a:rect l="0" t="0" r="0" b="0"/>
              <a:pathLst>
                <a:path w="1282535" h="1282535">
                  <a:moveTo>
                    <a:pt x="1282535" y="641267"/>
                  </a:moveTo>
                  <a:cubicBezTo>
                    <a:pt x="1282535" y="995429"/>
                    <a:pt x="995429" y="1282535"/>
                    <a:pt x="641267" y="1282535"/>
                  </a:cubicBezTo>
                  <a:cubicBezTo>
                    <a:pt x="287105" y="1282535"/>
                    <a:pt x="0" y="995429"/>
                    <a:pt x="0" y="641267"/>
                  </a:cubicBezTo>
                  <a:cubicBezTo>
                    <a:pt x="0" y="287105"/>
                    <a:pt x="287105" y="0"/>
                    <a:pt x="641267" y="0"/>
                  </a:cubicBezTo>
                  <a:cubicBezTo>
                    <a:pt x="995429" y="0"/>
                    <a:pt x="1282535" y="287105"/>
                    <a:pt x="1282535" y="641267"/>
                  </a:cubicBezTo>
                  <a:close/>
                </a:path>
              </a:pathLst>
            </a:custGeom>
            <a:noFill/>
            <a:ln w="13359">
              <a:solidFill>
                <a:srgbClr val="FFFFFF"/>
              </a:solidFill>
            </a:ln>
          </p:spPr>
          <p:txBody>
            <a:bodyPr rtlCol="0" anchor="ctr"/>
            <a:lstStyle/>
            <a:p>
              <a:pPr algn="ctr"/>
              <a:endParaRPr/>
            </a:p>
          </p:txBody>
        </p:sp>
      </p:grpSp>
      <p:sp>
        <p:nvSpPr>
          <p:cNvPr id="13" name="Rounded Rectangle 12"/>
          <p:cNvSpPr/>
          <p:nvPr/>
        </p:nvSpPr>
        <p:spPr>
          <a:xfrm>
            <a:off x="5198616" y="1669220"/>
            <a:ext cx="1631193" cy="1972844"/>
          </a:xfrm>
          <a:custGeom>
            <a:avLst/>
            <a:gdLst/>
            <a:ahLst/>
            <a:cxnLst/>
            <a:rect l="0" t="0" r="0" b="0"/>
            <a:pathLst>
              <a:path w="1510782" h="1840322">
                <a:moveTo>
                  <a:pt x="0" y="762637"/>
                </a:moveTo>
                <a:cubicBezTo>
                  <a:pt x="0" y="614668"/>
                  <a:pt x="43877" y="470022"/>
                  <a:pt x="126085" y="346989"/>
                </a:cubicBezTo>
                <a:cubicBezTo>
                  <a:pt x="208292" y="223958"/>
                  <a:pt x="325136" y="128066"/>
                  <a:pt x="461842" y="71441"/>
                </a:cubicBezTo>
                <a:cubicBezTo>
                  <a:pt x="598548" y="14815"/>
                  <a:pt x="748975" y="0"/>
                  <a:pt x="894101" y="28867"/>
                </a:cubicBezTo>
                <a:cubicBezTo>
                  <a:pt x="1039227" y="57734"/>
                  <a:pt x="1172534" y="128989"/>
                  <a:pt x="1277164" y="233619"/>
                </a:cubicBezTo>
                <a:cubicBezTo>
                  <a:pt x="1381794" y="338249"/>
                  <a:pt x="1453048" y="471556"/>
                  <a:pt x="1481915" y="616682"/>
                </a:cubicBezTo>
                <a:cubicBezTo>
                  <a:pt x="1510782" y="761808"/>
                  <a:pt x="1495966" y="912235"/>
                  <a:pt x="1439341" y="1048940"/>
                </a:cubicBezTo>
                <a:cubicBezTo>
                  <a:pt x="1382716" y="1185646"/>
                  <a:pt x="1286824" y="1302490"/>
                  <a:pt x="1163792" y="1384697"/>
                </a:cubicBezTo>
                <a:cubicBezTo>
                  <a:pt x="1040760" y="1466904"/>
                  <a:pt x="900567" y="1510782"/>
                  <a:pt x="752598" y="1510782"/>
                </a:cubicBezTo>
                <a:lnTo>
                  <a:pt x="752599" y="1840322"/>
                </a:lnTo>
                <a:moveTo>
                  <a:pt x="621713" y="1709906"/>
                </a:moveTo>
                <a:lnTo>
                  <a:pt x="752599" y="1840322"/>
                </a:lnTo>
                <a:moveTo>
                  <a:pt x="883486" y="1709906"/>
                </a:moveTo>
                <a:lnTo>
                  <a:pt x="752599" y="1840322"/>
                </a:lnTo>
              </a:path>
            </a:pathLst>
          </a:custGeom>
          <a:noFill/>
          <a:ln w="13359">
            <a:solidFill>
              <a:srgbClr val="484848"/>
            </a:solidFill>
          </a:ln>
        </p:spPr>
        <p:txBody>
          <a:bodyPr rtlCol="0" anchor="ctr"/>
          <a:lstStyle/>
          <a:p>
            <a:pPr algn="ctr"/>
            <a:endParaRPr/>
          </a:p>
        </p:txBody>
      </p:sp>
      <p:grpSp>
        <p:nvGrpSpPr>
          <p:cNvPr id="16" name="Group 15"/>
          <p:cNvGrpSpPr/>
          <p:nvPr/>
        </p:nvGrpSpPr>
        <p:grpSpPr>
          <a:xfrm>
            <a:off x="6929560" y="1799330"/>
            <a:ext cx="1384755" cy="1374890"/>
            <a:chOff x="5023262" y="1184563"/>
            <a:chExt cx="1282535" cy="1282535"/>
          </a:xfrm>
        </p:grpSpPr>
        <p:sp>
          <p:nvSpPr>
            <p:cNvPr id="14" name="Rounded Rectangle 13"/>
            <p:cNvSpPr/>
            <p:nvPr/>
          </p:nvSpPr>
          <p:spPr>
            <a:xfrm>
              <a:off x="5023262" y="1184563"/>
              <a:ext cx="1282535" cy="1282535"/>
            </a:xfrm>
            <a:custGeom>
              <a:avLst/>
              <a:gdLst/>
              <a:ahLst/>
              <a:cxnLst/>
              <a:rect l="0" t="0" r="0" b="0"/>
              <a:pathLst>
                <a:path w="1282535" h="1282535">
                  <a:moveTo>
                    <a:pt x="1282535" y="641267"/>
                  </a:moveTo>
                  <a:cubicBezTo>
                    <a:pt x="1282535" y="995429"/>
                    <a:pt x="995429" y="1282535"/>
                    <a:pt x="641267" y="1282535"/>
                  </a:cubicBezTo>
                  <a:cubicBezTo>
                    <a:pt x="287105" y="1282535"/>
                    <a:pt x="0" y="995429"/>
                    <a:pt x="0" y="641267"/>
                  </a:cubicBezTo>
                  <a:cubicBezTo>
                    <a:pt x="0" y="287105"/>
                    <a:pt x="287105" y="0"/>
                    <a:pt x="641267" y="0"/>
                  </a:cubicBezTo>
                  <a:cubicBezTo>
                    <a:pt x="995429" y="0"/>
                    <a:pt x="1282535" y="287105"/>
                    <a:pt x="1282535" y="641267"/>
                  </a:cubicBezTo>
                  <a:close/>
                </a:path>
              </a:pathLst>
            </a:custGeom>
            <a:solidFill>
              <a:srgbClr val="3CC583"/>
            </a:solidFill>
            <a:ln>
              <a:noFill/>
            </a:ln>
          </p:spPr>
          <p:txBody>
            <a:bodyPr rtlCol="0" anchor="ctr"/>
            <a:lstStyle/>
            <a:p>
              <a:pPr algn="ctr"/>
              <a:endParaRPr/>
            </a:p>
          </p:txBody>
        </p:sp>
        <p:sp>
          <p:nvSpPr>
            <p:cNvPr id="15" name="Rounded Rectangle 14"/>
            <p:cNvSpPr/>
            <p:nvPr/>
          </p:nvSpPr>
          <p:spPr>
            <a:xfrm>
              <a:off x="5023262" y="1184563"/>
              <a:ext cx="1282535" cy="1282535"/>
            </a:xfrm>
            <a:custGeom>
              <a:avLst/>
              <a:gdLst/>
              <a:ahLst/>
              <a:cxnLst/>
              <a:rect l="0" t="0" r="0" b="0"/>
              <a:pathLst>
                <a:path w="1282535" h="1282535">
                  <a:moveTo>
                    <a:pt x="1282535" y="641267"/>
                  </a:moveTo>
                  <a:cubicBezTo>
                    <a:pt x="1282535" y="995429"/>
                    <a:pt x="995429" y="1282535"/>
                    <a:pt x="641267" y="1282535"/>
                  </a:cubicBezTo>
                  <a:cubicBezTo>
                    <a:pt x="287105" y="1282535"/>
                    <a:pt x="0" y="995429"/>
                    <a:pt x="0" y="641267"/>
                  </a:cubicBezTo>
                  <a:cubicBezTo>
                    <a:pt x="0" y="287105"/>
                    <a:pt x="287105" y="0"/>
                    <a:pt x="641267" y="0"/>
                  </a:cubicBezTo>
                  <a:cubicBezTo>
                    <a:pt x="995429" y="0"/>
                    <a:pt x="1282535" y="287105"/>
                    <a:pt x="1282535" y="641267"/>
                  </a:cubicBezTo>
                  <a:close/>
                </a:path>
              </a:pathLst>
            </a:custGeom>
            <a:noFill/>
            <a:ln w="13359">
              <a:solidFill>
                <a:srgbClr val="FFFFFF"/>
              </a:solidFill>
            </a:ln>
          </p:spPr>
          <p:txBody>
            <a:bodyPr rtlCol="0" anchor="ctr"/>
            <a:lstStyle/>
            <a:p>
              <a:pPr algn="ctr"/>
              <a:endParaRPr/>
            </a:p>
          </p:txBody>
        </p:sp>
      </p:grpSp>
      <p:sp>
        <p:nvSpPr>
          <p:cNvPr id="17" name="Rounded Rectangle 16"/>
          <p:cNvSpPr/>
          <p:nvPr/>
        </p:nvSpPr>
        <p:spPr>
          <a:xfrm>
            <a:off x="6814164" y="1669220"/>
            <a:ext cx="1631193" cy="1972844"/>
          </a:xfrm>
          <a:custGeom>
            <a:avLst/>
            <a:gdLst/>
            <a:ahLst/>
            <a:cxnLst/>
            <a:rect l="0" t="0" r="0" b="0"/>
            <a:pathLst>
              <a:path w="1510782" h="1840322">
                <a:moveTo>
                  <a:pt x="0" y="762637"/>
                </a:moveTo>
                <a:cubicBezTo>
                  <a:pt x="0" y="614668"/>
                  <a:pt x="43877" y="470022"/>
                  <a:pt x="126085" y="346989"/>
                </a:cubicBezTo>
                <a:cubicBezTo>
                  <a:pt x="208292" y="223958"/>
                  <a:pt x="325136" y="128066"/>
                  <a:pt x="461842" y="71441"/>
                </a:cubicBezTo>
                <a:cubicBezTo>
                  <a:pt x="598548" y="14815"/>
                  <a:pt x="748975" y="0"/>
                  <a:pt x="894101" y="28867"/>
                </a:cubicBezTo>
                <a:cubicBezTo>
                  <a:pt x="1039227" y="57734"/>
                  <a:pt x="1172534" y="128989"/>
                  <a:pt x="1277164" y="233619"/>
                </a:cubicBezTo>
                <a:cubicBezTo>
                  <a:pt x="1381794" y="338249"/>
                  <a:pt x="1453048" y="471556"/>
                  <a:pt x="1481915" y="616682"/>
                </a:cubicBezTo>
                <a:cubicBezTo>
                  <a:pt x="1510782" y="761808"/>
                  <a:pt x="1495966" y="912235"/>
                  <a:pt x="1439341" y="1048940"/>
                </a:cubicBezTo>
                <a:cubicBezTo>
                  <a:pt x="1382716" y="1185646"/>
                  <a:pt x="1286824" y="1302490"/>
                  <a:pt x="1163792" y="1384697"/>
                </a:cubicBezTo>
                <a:cubicBezTo>
                  <a:pt x="1040760" y="1466904"/>
                  <a:pt x="900567" y="1510782"/>
                  <a:pt x="752598" y="1510782"/>
                </a:cubicBezTo>
                <a:lnTo>
                  <a:pt x="752599" y="1840322"/>
                </a:lnTo>
                <a:moveTo>
                  <a:pt x="621713" y="1709906"/>
                </a:moveTo>
                <a:lnTo>
                  <a:pt x="752599" y="1840322"/>
                </a:lnTo>
                <a:moveTo>
                  <a:pt x="883486" y="1709906"/>
                </a:moveTo>
                <a:lnTo>
                  <a:pt x="752599" y="1840322"/>
                </a:lnTo>
              </a:path>
            </a:pathLst>
          </a:custGeom>
          <a:noFill/>
          <a:ln w="13359">
            <a:solidFill>
              <a:srgbClr val="484848"/>
            </a:solidFill>
          </a:ln>
        </p:spPr>
        <p:txBody>
          <a:bodyPr rtlCol="0" anchor="ctr"/>
          <a:lstStyle/>
          <a:p>
            <a:pPr algn="ctr"/>
            <a:endParaRPr/>
          </a:p>
        </p:txBody>
      </p:sp>
      <p:grpSp>
        <p:nvGrpSpPr>
          <p:cNvPr id="20" name="Group 19"/>
          <p:cNvGrpSpPr/>
          <p:nvPr/>
        </p:nvGrpSpPr>
        <p:grpSpPr>
          <a:xfrm>
            <a:off x="8545107" y="1799330"/>
            <a:ext cx="1384755" cy="1374890"/>
            <a:chOff x="6519553" y="1184563"/>
            <a:chExt cx="1282535" cy="1282535"/>
          </a:xfrm>
        </p:grpSpPr>
        <p:sp>
          <p:nvSpPr>
            <p:cNvPr id="18" name="Rounded Rectangle 17"/>
            <p:cNvSpPr/>
            <p:nvPr/>
          </p:nvSpPr>
          <p:spPr>
            <a:xfrm>
              <a:off x="6519553" y="1184563"/>
              <a:ext cx="1282535" cy="1282535"/>
            </a:xfrm>
            <a:custGeom>
              <a:avLst/>
              <a:gdLst/>
              <a:ahLst/>
              <a:cxnLst/>
              <a:rect l="0" t="0" r="0" b="0"/>
              <a:pathLst>
                <a:path w="1282535" h="1282535">
                  <a:moveTo>
                    <a:pt x="1282535" y="641267"/>
                  </a:moveTo>
                  <a:cubicBezTo>
                    <a:pt x="1282535" y="995429"/>
                    <a:pt x="995429" y="1282535"/>
                    <a:pt x="641267" y="1282535"/>
                  </a:cubicBezTo>
                  <a:cubicBezTo>
                    <a:pt x="287105" y="1282535"/>
                    <a:pt x="0" y="995429"/>
                    <a:pt x="0" y="641267"/>
                  </a:cubicBezTo>
                  <a:cubicBezTo>
                    <a:pt x="0" y="287105"/>
                    <a:pt x="287105" y="0"/>
                    <a:pt x="641267" y="0"/>
                  </a:cubicBezTo>
                  <a:cubicBezTo>
                    <a:pt x="995429" y="0"/>
                    <a:pt x="1282535" y="287105"/>
                    <a:pt x="1282535" y="641267"/>
                  </a:cubicBezTo>
                  <a:close/>
                </a:path>
              </a:pathLst>
            </a:custGeom>
            <a:solidFill>
              <a:srgbClr val="4E88E7"/>
            </a:solidFill>
            <a:ln>
              <a:noFill/>
            </a:ln>
          </p:spPr>
          <p:txBody>
            <a:bodyPr rtlCol="0" anchor="ctr"/>
            <a:lstStyle/>
            <a:p>
              <a:pPr algn="ctr"/>
              <a:endParaRPr/>
            </a:p>
          </p:txBody>
        </p:sp>
        <p:sp>
          <p:nvSpPr>
            <p:cNvPr id="19" name="Rounded Rectangle 18"/>
            <p:cNvSpPr/>
            <p:nvPr/>
          </p:nvSpPr>
          <p:spPr>
            <a:xfrm>
              <a:off x="6519553" y="1184563"/>
              <a:ext cx="1282535" cy="1282535"/>
            </a:xfrm>
            <a:custGeom>
              <a:avLst/>
              <a:gdLst/>
              <a:ahLst/>
              <a:cxnLst/>
              <a:rect l="0" t="0" r="0" b="0"/>
              <a:pathLst>
                <a:path w="1282535" h="1282535">
                  <a:moveTo>
                    <a:pt x="1282535" y="641267"/>
                  </a:moveTo>
                  <a:cubicBezTo>
                    <a:pt x="1282535" y="995429"/>
                    <a:pt x="995429" y="1282535"/>
                    <a:pt x="641267" y="1282535"/>
                  </a:cubicBezTo>
                  <a:cubicBezTo>
                    <a:pt x="287105" y="1282535"/>
                    <a:pt x="0" y="995429"/>
                    <a:pt x="0" y="641267"/>
                  </a:cubicBezTo>
                  <a:cubicBezTo>
                    <a:pt x="0" y="287105"/>
                    <a:pt x="287105" y="0"/>
                    <a:pt x="641267" y="0"/>
                  </a:cubicBezTo>
                  <a:cubicBezTo>
                    <a:pt x="995429" y="0"/>
                    <a:pt x="1282535" y="287105"/>
                    <a:pt x="1282535" y="641267"/>
                  </a:cubicBezTo>
                  <a:close/>
                </a:path>
              </a:pathLst>
            </a:custGeom>
            <a:noFill/>
            <a:ln w="13359">
              <a:solidFill>
                <a:srgbClr val="FFFFFF"/>
              </a:solidFill>
            </a:ln>
          </p:spPr>
          <p:txBody>
            <a:bodyPr rtlCol="0" anchor="ctr"/>
            <a:lstStyle/>
            <a:p>
              <a:pPr algn="ctr"/>
              <a:endParaRPr/>
            </a:p>
          </p:txBody>
        </p:sp>
      </p:grpSp>
      <p:sp>
        <p:nvSpPr>
          <p:cNvPr id="21" name="Rounded Rectangle 20"/>
          <p:cNvSpPr/>
          <p:nvPr/>
        </p:nvSpPr>
        <p:spPr>
          <a:xfrm>
            <a:off x="8429711" y="1669220"/>
            <a:ext cx="1631193" cy="1972844"/>
          </a:xfrm>
          <a:custGeom>
            <a:avLst/>
            <a:gdLst/>
            <a:ahLst/>
            <a:cxnLst/>
            <a:rect l="0" t="0" r="0" b="0"/>
            <a:pathLst>
              <a:path w="1510782" h="1840322">
                <a:moveTo>
                  <a:pt x="0" y="762637"/>
                </a:moveTo>
                <a:cubicBezTo>
                  <a:pt x="0" y="614668"/>
                  <a:pt x="43877" y="470022"/>
                  <a:pt x="126085" y="346989"/>
                </a:cubicBezTo>
                <a:cubicBezTo>
                  <a:pt x="208292" y="223958"/>
                  <a:pt x="325136" y="128066"/>
                  <a:pt x="461842" y="71441"/>
                </a:cubicBezTo>
                <a:cubicBezTo>
                  <a:pt x="598548" y="14815"/>
                  <a:pt x="748975" y="0"/>
                  <a:pt x="894101" y="28867"/>
                </a:cubicBezTo>
                <a:cubicBezTo>
                  <a:pt x="1039227" y="57734"/>
                  <a:pt x="1172534" y="128989"/>
                  <a:pt x="1277164" y="233619"/>
                </a:cubicBezTo>
                <a:cubicBezTo>
                  <a:pt x="1381794" y="338249"/>
                  <a:pt x="1453048" y="471556"/>
                  <a:pt x="1481915" y="616682"/>
                </a:cubicBezTo>
                <a:cubicBezTo>
                  <a:pt x="1510782" y="761808"/>
                  <a:pt x="1495966" y="912235"/>
                  <a:pt x="1439341" y="1048940"/>
                </a:cubicBezTo>
                <a:cubicBezTo>
                  <a:pt x="1382716" y="1185646"/>
                  <a:pt x="1286824" y="1302490"/>
                  <a:pt x="1163792" y="1384697"/>
                </a:cubicBezTo>
                <a:cubicBezTo>
                  <a:pt x="1040760" y="1466904"/>
                  <a:pt x="900567" y="1510782"/>
                  <a:pt x="752598" y="1510782"/>
                </a:cubicBezTo>
                <a:lnTo>
                  <a:pt x="752599" y="1840322"/>
                </a:lnTo>
                <a:moveTo>
                  <a:pt x="621713" y="1709906"/>
                </a:moveTo>
                <a:lnTo>
                  <a:pt x="752599" y="1840322"/>
                </a:lnTo>
                <a:moveTo>
                  <a:pt x="883486" y="1709906"/>
                </a:moveTo>
                <a:lnTo>
                  <a:pt x="752599" y="1840322"/>
                </a:lnTo>
              </a:path>
            </a:pathLst>
          </a:custGeom>
          <a:noFill/>
          <a:ln w="13359">
            <a:solidFill>
              <a:srgbClr val="484848"/>
            </a:solidFill>
          </a:ln>
        </p:spPr>
        <p:txBody>
          <a:bodyPr rtlCol="0" anchor="ctr"/>
          <a:lstStyle/>
          <a:p>
            <a:pPr algn="ctr"/>
            <a:endParaRPr/>
          </a:p>
        </p:txBody>
      </p:sp>
      <p:sp>
        <p:nvSpPr>
          <p:cNvPr id="22" name="Rounded Rectangle 21"/>
          <p:cNvSpPr/>
          <p:nvPr/>
        </p:nvSpPr>
        <p:spPr>
          <a:xfrm>
            <a:off x="8905719" y="2133346"/>
            <a:ext cx="664164" cy="687604"/>
          </a:xfrm>
          <a:custGeom>
            <a:avLst/>
            <a:gdLst/>
            <a:ahLst/>
            <a:cxnLst/>
            <a:rect l="0" t="0" r="0" b="0"/>
            <a:pathLst>
              <a:path w="615137" h="641416">
                <a:moveTo>
                  <a:pt x="476141" y="86452"/>
                </a:moveTo>
                <a:cubicBezTo>
                  <a:pt x="478687" y="83855"/>
                  <a:pt x="478687" y="79698"/>
                  <a:pt x="476141" y="77100"/>
                </a:cubicBezTo>
                <a:lnTo>
                  <a:pt x="433390" y="34349"/>
                </a:lnTo>
                <a:cubicBezTo>
                  <a:pt x="427584" y="28626"/>
                  <a:pt x="425886" y="19925"/>
                  <a:pt x="429114" y="12439"/>
                </a:cubicBezTo>
                <a:cubicBezTo>
                  <a:pt x="432171" y="4960"/>
                  <a:pt x="439471" y="93"/>
                  <a:pt x="447551" y="148"/>
                </a:cubicBezTo>
                <a:lnTo>
                  <a:pt x="594508" y="148"/>
                </a:lnTo>
                <a:cubicBezTo>
                  <a:pt x="605724" y="0"/>
                  <a:pt x="614935" y="8972"/>
                  <a:pt x="615082" y="20188"/>
                </a:cubicBezTo>
                <a:lnTo>
                  <a:pt x="615082" y="167145"/>
                </a:lnTo>
                <a:cubicBezTo>
                  <a:pt x="615137" y="175224"/>
                  <a:pt x="610270" y="182524"/>
                  <a:pt x="602791" y="185581"/>
                </a:cubicBezTo>
                <a:cubicBezTo>
                  <a:pt x="595305" y="188810"/>
                  <a:pt x="586605" y="187112"/>
                  <a:pt x="580881" y="181306"/>
                </a:cubicBezTo>
                <a:lnTo>
                  <a:pt x="542939" y="143364"/>
                </a:lnTo>
                <a:cubicBezTo>
                  <a:pt x="541710" y="142033"/>
                  <a:pt x="539936" y="141343"/>
                  <a:pt x="538130" y="141494"/>
                </a:cubicBezTo>
                <a:cubicBezTo>
                  <a:pt x="536287" y="141449"/>
                  <a:pt x="534522" y="142234"/>
                  <a:pt x="533320" y="143632"/>
                </a:cubicBezTo>
                <a:lnTo>
                  <a:pt x="440871" y="243295"/>
                </a:lnTo>
                <a:cubicBezTo>
                  <a:pt x="417062" y="269918"/>
                  <a:pt x="376608" y="273318"/>
                  <a:pt x="348689" y="251044"/>
                </a:cubicBezTo>
                <a:lnTo>
                  <a:pt x="271737" y="189322"/>
                </a:lnTo>
                <a:cubicBezTo>
                  <a:pt x="266652" y="184733"/>
                  <a:pt x="258920" y="184733"/>
                  <a:pt x="253835" y="189322"/>
                </a:cubicBezTo>
                <a:lnTo>
                  <a:pt x="88441" y="355784"/>
                </a:lnTo>
                <a:cubicBezTo>
                  <a:pt x="72793" y="371413"/>
                  <a:pt x="47444" y="371413"/>
                  <a:pt x="31796" y="355784"/>
                </a:cubicBezTo>
                <a:cubicBezTo>
                  <a:pt x="24224" y="348305"/>
                  <a:pt x="19963" y="338105"/>
                  <a:pt x="19963" y="327462"/>
                </a:cubicBezTo>
                <a:cubicBezTo>
                  <a:pt x="19963" y="316819"/>
                  <a:pt x="24224" y="306619"/>
                  <a:pt x="31796" y="299139"/>
                </a:cubicBezTo>
                <a:lnTo>
                  <a:pt x="215359" y="115576"/>
                </a:lnTo>
                <a:cubicBezTo>
                  <a:pt x="239459" y="91536"/>
                  <a:pt x="277783" y="89465"/>
                  <a:pt x="304334" y="110767"/>
                </a:cubicBezTo>
                <a:lnTo>
                  <a:pt x="380485" y="170351"/>
                </a:lnTo>
                <a:cubicBezTo>
                  <a:pt x="385609" y="175103"/>
                  <a:pt x="393530" y="175103"/>
                  <a:pt x="398654" y="170351"/>
                </a:cubicBezTo>
                <a:close/>
                <a:moveTo>
                  <a:pt x="587828" y="601336"/>
                </a:moveTo>
                <a:cubicBezTo>
                  <a:pt x="587828" y="623472"/>
                  <a:pt x="569884" y="641416"/>
                  <a:pt x="547749" y="641416"/>
                </a:cubicBezTo>
                <a:lnTo>
                  <a:pt x="360712" y="641416"/>
                </a:lnTo>
                <a:cubicBezTo>
                  <a:pt x="338577" y="641416"/>
                  <a:pt x="320633" y="623472"/>
                  <a:pt x="320633" y="601336"/>
                </a:cubicBezTo>
                <a:cubicBezTo>
                  <a:pt x="320633" y="579201"/>
                  <a:pt x="338577" y="561257"/>
                  <a:pt x="360712" y="561257"/>
                </a:cubicBezTo>
                <a:lnTo>
                  <a:pt x="547749" y="561257"/>
                </a:lnTo>
                <a:cubicBezTo>
                  <a:pt x="569884" y="561257"/>
                  <a:pt x="587828" y="579201"/>
                  <a:pt x="587828" y="601336"/>
                </a:cubicBezTo>
                <a:close/>
                <a:moveTo>
                  <a:pt x="26719" y="601336"/>
                </a:moveTo>
                <a:cubicBezTo>
                  <a:pt x="26719" y="579201"/>
                  <a:pt x="44663" y="561257"/>
                  <a:pt x="66798" y="561257"/>
                </a:cubicBezTo>
                <a:lnTo>
                  <a:pt x="253835" y="561257"/>
                </a:lnTo>
                <a:cubicBezTo>
                  <a:pt x="275970" y="561257"/>
                  <a:pt x="293914" y="579201"/>
                  <a:pt x="293914" y="601336"/>
                </a:cubicBezTo>
                <a:cubicBezTo>
                  <a:pt x="293914" y="623472"/>
                  <a:pt x="275970" y="641416"/>
                  <a:pt x="253835" y="641416"/>
                </a:cubicBezTo>
                <a:lnTo>
                  <a:pt x="66798" y="641416"/>
                </a:lnTo>
                <a:cubicBezTo>
                  <a:pt x="44663" y="641416"/>
                  <a:pt x="26719" y="623472"/>
                  <a:pt x="26719" y="601336"/>
                </a:cubicBezTo>
                <a:close/>
                <a:moveTo>
                  <a:pt x="40079" y="521178"/>
                </a:moveTo>
                <a:cubicBezTo>
                  <a:pt x="17944" y="521178"/>
                  <a:pt x="0" y="503234"/>
                  <a:pt x="0" y="481099"/>
                </a:cubicBezTo>
                <a:cubicBezTo>
                  <a:pt x="0" y="458964"/>
                  <a:pt x="17944" y="441019"/>
                  <a:pt x="40079" y="441019"/>
                </a:cubicBezTo>
                <a:lnTo>
                  <a:pt x="227115" y="441019"/>
                </a:lnTo>
                <a:cubicBezTo>
                  <a:pt x="249250" y="441019"/>
                  <a:pt x="267194" y="458964"/>
                  <a:pt x="267194" y="481099"/>
                </a:cubicBezTo>
                <a:cubicBezTo>
                  <a:pt x="267194" y="503234"/>
                  <a:pt x="249250" y="521178"/>
                  <a:pt x="227115" y="521178"/>
                </a:cubicBezTo>
                <a:close/>
                <a:moveTo>
                  <a:pt x="574468" y="521178"/>
                </a:moveTo>
                <a:lnTo>
                  <a:pt x="387432" y="521178"/>
                </a:lnTo>
                <a:cubicBezTo>
                  <a:pt x="365297" y="521178"/>
                  <a:pt x="347353" y="503234"/>
                  <a:pt x="347353" y="481099"/>
                </a:cubicBezTo>
                <a:cubicBezTo>
                  <a:pt x="347353" y="458964"/>
                  <a:pt x="365297" y="441019"/>
                  <a:pt x="387432" y="441019"/>
                </a:cubicBezTo>
                <a:lnTo>
                  <a:pt x="574468" y="441019"/>
                </a:lnTo>
                <a:cubicBezTo>
                  <a:pt x="596603" y="441019"/>
                  <a:pt x="614548" y="458964"/>
                  <a:pt x="614548" y="481099"/>
                </a:cubicBezTo>
                <a:cubicBezTo>
                  <a:pt x="614548" y="503234"/>
                  <a:pt x="596603" y="521178"/>
                  <a:pt x="574468" y="521178"/>
                </a:cubicBezTo>
                <a:close/>
                <a:moveTo>
                  <a:pt x="320633" y="360861"/>
                </a:moveTo>
                <a:cubicBezTo>
                  <a:pt x="320633" y="338726"/>
                  <a:pt x="338577" y="320782"/>
                  <a:pt x="360712" y="320782"/>
                </a:cubicBezTo>
                <a:lnTo>
                  <a:pt x="547749" y="320782"/>
                </a:lnTo>
                <a:cubicBezTo>
                  <a:pt x="569884" y="320782"/>
                  <a:pt x="587828" y="338726"/>
                  <a:pt x="587828" y="360861"/>
                </a:cubicBezTo>
                <a:cubicBezTo>
                  <a:pt x="587828" y="382996"/>
                  <a:pt x="569884" y="400940"/>
                  <a:pt x="547749" y="400940"/>
                </a:cubicBezTo>
                <a:lnTo>
                  <a:pt x="360712" y="400940"/>
                </a:lnTo>
                <a:cubicBezTo>
                  <a:pt x="338577" y="400940"/>
                  <a:pt x="320633" y="382996"/>
                  <a:pt x="320633" y="360861"/>
                </a:cubicBezTo>
                <a:close/>
              </a:path>
            </a:pathLst>
          </a:custGeom>
          <a:solidFill>
            <a:srgbClr val="FFFFFF"/>
          </a:solidFill>
          <a:ln>
            <a:noFill/>
          </a:ln>
        </p:spPr>
        <p:txBody>
          <a:bodyPr rtlCol="0" anchor="ctr"/>
          <a:lstStyle/>
          <a:p>
            <a:pPr algn="ctr"/>
            <a:endParaRPr/>
          </a:p>
        </p:txBody>
      </p:sp>
      <p:sp>
        <p:nvSpPr>
          <p:cNvPr id="23" name="Rounded Rectangle 22"/>
          <p:cNvSpPr/>
          <p:nvPr/>
        </p:nvSpPr>
        <p:spPr>
          <a:xfrm>
            <a:off x="2429104" y="2144690"/>
            <a:ext cx="692978" cy="656673"/>
          </a:xfrm>
          <a:custGeom>
            <a:avLst/>
            <a:gdLst/>
            <a:ahLst/>
            <a:cxnLst/>
            <a:rect l="0" t="0" r="0" b="0"/>
            <a:pathLst>
              <a:path w="641824" h="612562">
                <a:moveTo>
                  <a:pt x="409611" y="116752"/>
                </a:moveTo>
                <a:cubicBezTo>
                  <a:pt x="409506" y="64321"/>
                  <a:pt x="446827" y="19280"/>
                  <a:pt x="498364" y="9640"/>
                </a:cubicBezTo>
                <a:cubicBezTo>
                  <a:pt x="549900" y="0"/>
                  <a:pt x="600978" y="28504"/>
                  <a:pt x="619833" y="77428"/>
                </a:cubicBezTo>
                <a:cubicBezTo>
                  <a:pt x="638687" y="126351"/>
                  <a:pt x="619949" y="181762"/>
                  <a:pt x="575272" y="209201"/>
                </a:cubicBezTo>
                <a:cubicBezTo>
                  <a:pt x="573303" y="210516"/>
                  <a:pt x="572105" y="212712"/>
                  <a:pt x="572066" y="215079"/>
                </a:cubicBezTo>
                <a:cubicBezTo>
                  <a:pt x="572154" y="217431"/>
                  <a:pt x="573474" y="219562"/>
                  <a:pt x="575539" y="220690"/>
                </a:cubicBezTo>
                <a:cubicBezTo>
                  <a:pt x="616361" y="243163"/>
                  <a:pt x="641743" y="286046"/>
                  <a:pt x="641803" y="332645"/>
                </a:cubicBezTo>
                <a:lnTo>
                  <a:pt x="641803" y="408795"/>
                </a:lnTo>
                <a:cubicBezTo>
                  <a:pt x="641824" y="412281"/>
                  <a:pt x="640482" y="415637"/>
                  <a:pt x="638063" y="418147"/>
                </a:cubicBezTo>
                <a:cubicBezTo>
                  <a:pt x="635549" y="420757"/>
                  <a:pt x="632066" y="422208"/>
                  <a:pt x="628444" y="422155"/>
                </a:cubicBezTo>
                <a:lnTo>
                  <a:pt x="589700" y="422155"/>
                </a:lnTo>
                <a:cubicBezTo>
                  <a:pt x="586303" y="422131"/>
                  <a:pt x="583428" y="424660"/>
                  <a:pt x="583021" y="428033"/>
                </a:cubicBezTo>
                <a:lnTo>
                  <a:pt x="565653" y="600374"/>
                </a:lnTo>
                <a:cubicBezTo>
                  <a:pt x="565088" y="607289"/>
                  <a:pt x="559229" y="612562"/>
                  <a:pt x="552293" y="612398"/>
                </a:cubicBezTo>
                <a:lnTo>
                  <a:pt x="476410" y="612398"/>
                </a:lnTo>
                <a:cubicBezTo>
                  <a:pt x="469474" y="612562"/>
                  <a:pt x="463614" y="607289"/>
                  <a:pt x="463050" y="600374"/>
                </a:cubicBezTo>
                <a:lnTo>
                  <a:pt x="445682" y="428033"/>
                </a:lnTo>
                <a:cubicBezTo>
                  <a:pt x="445275" y="424660"/>
                  <a:pt x="442400" y="422131"/>
                  <a:pt x="439003" y="422155"/>
                </a:cubicBezTo>
                <a:lnTo>
                  <a:pt x="400259" y="422155"/>
                </a:lnTo>
                <a:cubicBezTo>
                  <a:pt x="396636" y="422208"/>
                  <a:pt x="393154" y="420757"/>
                  <a:pt x="390640" y="418147"/>
                </a:cubicBezTo>
                <a:cubicBezTo>
                  <a:pt x="388221" y="415637"/>
                  <a:pt x="386879" y="412281"/>
                  <a:pt x="386900" y="408795"/>
                </a:cubicBezTo>
                <a:lnTo>
                  <a:pt x="386900" y="332645"/>
                </a:lnTo>
                <a:cubicBezTo>
                  <a:pt x="386905" y="284317"/>
                  <a:pt x="414358" y="240186"/>
                  <a:pt x="457706" y="218820"/>
                </a:cubicBezTo>
                <a:cubicBezTo>
                  <a:pt x="459915" y="217809"/>
                  <a:pt x="461364" y="215637"/>
                  <a:pt x="461447" y="213209"/>
                </a:cubicBezTo>
                <a:cubicBezTo>
                  <a:pt x="461608" y="210788"/>
                  <a:pt x="460494" y="208458"/>
                  <a:pt x="458508" y="207063"/>
                </a:cubicBezTo>
                <a:cubicBezTo>
                  <a:pt x="427866" y="187276"/>
                  <a:pt x="409431" y="153227"/>
                  <a:pt x="409611" y="116752"/>
                </a:cubicBezTo>
                <a:close/>
                <a:moveTo>
                  <a:pt x="534391" y="265846"/>
                </a:moveTo>
                <a:cubicBezTo>
                  <a:pt x="534391" y="254779"/>
                  <a:pt x="525419" y="245807"/>
                  <a:pt x="514351" y="245807"/>
                </a:cubicBezTo>
                <a:cubicBezTo>
                  <a:pt x="503284" y="245807"/>
                  <a:pt x="494312" y="254779"/>
                  <a:pt x="494312" y="265846"/>
                </a:cubicBezTo>
                <a:lnTo>
                  <a:pt x="494312" y="310201"/>
                </a:lnTo>
                <a:cubicBezTo>
                  <a:pt x="494312" y="321268"/>
                  <a:pt x="503284" y="330240"/>
                  <a:pt x="514351" y="330240"/>
                </a:cubicBezTo>
                <a:cubicBezTo>
                  <a:pt x="525419" y="330240"/>
                  <a:pt x="534391" y="321268"/>
                  <a:pt x="534391" y="310201"/>
                </a:cubicBezTo>
                <a:close/>
                <a:moveTo>
                  <a:pt x="466524" y="96445"/>
                </a:moveTo>
                <a:cubicBezTo>
                  <a:pt x="464377" y="102362"/>
                  <a:pt x="463204" y="108588"/>
                  <a:pt x="463050" y="114881"/>
                </a:cubicBezTo>
                <a:cubicBezTo>
                  <a:pt x="462534" y="145428"/>
                  <a:pt x="486878" y="170609"/>
                  <a:pt x="517424" y="171126"/>
                </a:cubicBezTo>
                <a:cubicBezTo>
                  <a:pt x="547971" y="171642"/>
                  <a:pt x="573152" y="147298"/>
                  <a:pt x="573669" y="116752"/>
                </a:cubicBezTo>
                <a:cubicBezTo>
                  <a:pt x="573733" y="114770"/>
                  <a:pt x="572837" y="112880"/>
                  <a:pt x="571264" y="111675"/>
                </a:cubicBezTo>
                <a:cubicBezTo>
                  <a:pt x="569821" y="110353"/>
                  <a:pt x="567853" y="109763"/>
                  <a:pt x="565920" y="110072"/>
                </a:cubicBezTo>
                <a:cubicBezTo>
                  <a:pt x="559295" y="111146"/>
                  <a:pt x="552593" y="111683"/>
                  <a:pt x="545880" y="111675"/>
                </a:cubicBezTo>
                <a:cubicBezTo>
                  <a:pt x="521331" y="111623"/>
                  <a:pt x="497246" y="104979"/>
                  <a:pt x="476143" y="92437"/>
                </a:cubicBezTo>
                <a:cubicBezTo>
                  <a:pt x="474355" y="91648"/>
                  <a:pt x="472319" y="91648"/>
                  <a:pt x="470532" y="92437"/>
                </a:cubicBezTo>
                <a:cubicBezTo>
                  <a:pt x="468766" y="93260"/>
                  <a:pt x="467347" y="94679"/>
                  <a:pt x="466524" y="96445"/>
                </a:cubicBezTo>
                <a:close/>
                <a:moveTo>
                  <a:pt x="1" y="371923"/>
                </a:moveTo>
                <a:lnTo>
                  <a:pt x="1" y="225767"/>
                </a:lnTo>
                <a:cubicBezTo>
                  <a:pt x="0" y="203839"/>
                  <a:pt x="17620" y="185980"/>
                  <a:pt x="39546" y="185688"/>
                </a:cubicBezTo>
                <a:lnTo>
                  <a:pt x="44890" y="185688"/>
                </a:lnTo>
                <a:cubicBezTo>
                  <a:pt x="47631" y="185734"/>
                  <a:pt x="50143" y="184164"/>
                  <a:pt x="51303" y="181680"/>
                </a:cubicBezTo>
                <a:lnTo>
                  <a:pt x="51303" y="179809"/>
                </a:lnTo>
                <a:lnTo>
                  <a:pt x="117033" y="49418"/>
                </a:lnTo>
                <a:cubicBezTo>
                  <a:pt x="121743" y="39862"/>
                  <a:pt x="130133" y="32630"/>
                  <a:pt x="140279" y="29379"/>
                </a:cubicBezTo>
                <a:cubicBezTo>
                  <a:pt x="150389" y="25909"/>
                  <a:pt x="161474" y="26680"/>
                  <a:pt x="171006" y="31516"/>
                </a:cubicBezTo>
                <a:lnTo>
                  <a:pt x="378349" y="136791"/>
                </a:lnTo>
                <a:cubicBezTo>
                  <a:pt x="397730" y="146889"/>
                  <a:pt x="405548" y="170581"/>
                  <a:pt x="395984" y="190230"/>
                </a:cubicBezTo>
                <a:lnTo>
                  <a:pt x="330254" y="320621"/>
                </a:lnTo>
                <a:cubicBezTo>
                  <a:pt x="326921" y="327318"/>
                  <a:pt x="321602" y="332824"/>
                  <a:pt x="315024" y="336386"/>
                </a:cubicBezTo>
                <a:cubicBezTo>
                  <a:pt x="313056" y="337700"/>
                  <a:pt x="311858" y="339897"/>
                  <a:pt x="311818" y="342264"/>
                </a:cubicBezTo>
                <a:lnTo>
                  <a:pt x="311818" y="371923"/>
                </a:lnTo>
                <a:cubicBezTo>
                  <a:pt x="311818" y="394058"/>
                  <a:pt x="293874" y="412002"/>
                  <a:pt x="271739" y="412002"/>
                </a:cubicBezTo>
                <a:lnTo>
                  <a:pt x="39546" y="412002"/>
                </a:lnTo>
                <a:cubicBezTo>
                  <a:pt x="17620" y="411709"/>
                  <a:pt x="0" y="393851"/>
                  <a:pt x="1" y="371923"/>
                </a:cubicBezTo>
                <a:close/>
                <a:moveTo>
                  <a:pt x="113292" y="183283"/>
                </a:moveTo>
                <a:cubicBezTo>
                  <a:pt x="114514" y="185183"/>
                  <a:pt x="116646" y="186299"/>
                  <a:pt x="118903" y="186222"/>
                </a:cubicBezTo>
                <a:lnTo>
                  <a:pt x="271739" y="186222"/>
                </a:lnTo>
                <a:cubicBezTo>
                  <a:pt x="293874" y="186222"/>
                  <a:pt x="311818" y="204166"/>
                  <a:pt x="311818" y="226301"/>
                </a:cubicBezTo>
                <a:cubicBezTo>
                  <a:pt x="311794" y="227737"/>
                  <a:pt x="312811" y="228980"/>
                  <a:pt x="314223" y="229241"/>
                </a:cubicBezTo>
                <a:cubicBezTo>
                  <a:pt x="315544" y="229609"/>
                  <a:pt x="316930" y="228916"/>
                  <a:pt x="317429" y="227637"/>
                </a:cubicBezTo>
                <a:lnTo>
                  <a:pt x="339339" y="184619"/>
                </a:lnTo>
                <a:cubicBezTo>
                  <a:pt x="340925" y="181291"/>
                  <a:pt x="339635" y="177303"/>
                  <a:pt x="336400" y="175534"/>
                </a:cubicBezTo>
                <a:lnTo>
                  <a:pt x="164861" y="88963"/>
                </a:lnTo>
                <a:cubicBezTo>
                  <a:pt x="161532" y="87377"/>
                  <a:pt x="157545" y="88667"/>
                  <a:pt x="155776" y="91902"/>
                </a:cubicBezTo>
                <a:lnTo>
                  <a:pt x="113025" y="176603"/>
                </a:lnTo>
                <a:cubicBezTo>
                  <a:pt x="111913" y="178717"/>
                  <a:pt x="112015" y="181264"/>
                  <a:pt x="113292" y="183283"/>
                </a:cubicBezTo>
                <a:close/>
                <a:moveTo>
                  <a:pt x="53440" y="351883"/>
                </a:moveTo>
                <a:cubicBezTo>
                  <a:pt x="53216" y="353699"/>
                  <a:pt x="53747" y="355528"/>
                  <a:pt x="54908" y="356942"/>
                </a:cubicBezTo>
                <a:cubicBezTo>
                  <a:pt x="56070" y="358356"/>
                  <a:pt x="57761" y="359232"/>
                  <a:pt x="59586" y="359364"/>
                </a:cubicBezTo>
                <a:lnTo>
                  <a:pt x="251699" y="359364"/>
                </a:lnTo>
                <a:cubicBezTo>
                  <a:pt x="255388" y="359364"/>
                  <a:pt x="258379" y="356374"/>
                  <a:pt x="258379" y="352685"/>
                </a:cubicBezTo>
                <a:lnTo>
                  <a:pt x="258379" y="245807"/>
                </a:lnTo>
                <a:cubicBezTo>
                  <a:pt x="258379" y="242117"/>
                  <a:pt x="255388" y="239127"/>
                  <a:pt x="251699" y="239127"/>
                </a:cubicBezTo>
                <a:lnTo>
                  <a:pt x="60120" y="239127"/>
                </a:lnTo>
                <a:cubicBezTo>
                  <a:pt x="56431" y="239127"/>
                  <a:pt x="53441" y="242117"/>
                  <a:pt x="53441" y="245807"/>
                </a:cubicBezTo>
                <a:close/>
                <a:moveTo>
                  <a:pt x="126117" y="301650"/>
                </a:moveTo>
                <a:cubicBezTo>
                  <a:pt x="126117" y="283795"/>
                  <a:pt x="140592" y="269320"/>
                  <a:pt x="158448" y="269320"/>
                </a:cubicBezTo>
                <a:cubicBezTo>
                  <a:pt x="176304" y="269320"/>
                  <a:pt x="190779" y="283795"/>
                  <a:pt x="190779" y="301650"/>
                </a:cubicBezTo>
                <a:cubicBezTo>
                  <a:pt x="190779" y="319506"/>
                  <a:pt x="176304" y="333981"/>
                  <a:pt x="158448" y="333981"/>
                </a:cubicBezTo>
                <a:cubicBezTo>
                  <a:pt x="140592" y="333981"/>
                  <a:pt x="126117" y="319506"/>
                  <a:pt x="126117" y="301650"/>
                </a:cubicBezTo>
              </a:path>
            </a:pathLst>
          </a:custGeom>
          <a:solidFill>
            <a:srgbClr val="FFFFFF"/>
          </a:solidFill>
          <a:ln>
            <a:noFill/>
          </a:ln>
        </p:spPr>
        <p:txBody>
          <a:bodyPr rtlCol="0" anchor="ctr"/>
          <a:lstStyle/>
          <a:p>
            <a:pPr algn="ctr"/>
            <a:endParaRPr/>
          </a:p>
        </p:txBody>
      </p:sp>
      <p:sp>
        <p:nvSpPr>
          <p:cNvPr id="24" name="Rounded Rectangle 23"/>
          <p:cNvSpPr/>
          <p:nvPr/>
        </p:nvSpPr>
        <p:spPr>
          <a:xfrm>
            <a:off x="4042550" y="2133340"/>
            <a:ext cx="696238" cy="687611"/>
          </a:xfrm>
          <a:custGeom>
            <a:avLst/>
            <a:gdLst/>
            <a:ahLst/>
            <a:cxnLst/>
            <a:rect l="0" t="0" r="0" b="0"/>
            <a:pathLst>
              <a:path w="644843" h="641422">
                <a:moveTo>
                  <a:pt x="1947" y="154"/>
                </a:moveTo>
                <a:moveTo>
                  <a:pt x="613289" y="327468"/>
                </a:moveTo>
                <a:cubicBezTo>
                  <a:pt x="619932" y="335210"/>
                  <a:pt x="621587" y="346058"/>
                  <a:pt x="617555" y="355429"/>
                </a:cubicBezTo>
                <a:cubicBezTo>
                  <a:pt x="613523" y="364799"/>
                  <a:pt x="604507" y="371056"/>
                  <a:pt x="594318" y="371555"/>
                </a:cubicBezTo>
                <a:lnTo>
                  <a:pt x="550231" y="371555"/>
                </a:lnTo>
                <a:cubicBezTo>
                  <a:pt x="546542" y="371555"/>
                  <a:pt x="543551" y="374546"/>
                  <a:pt x="543551" y="378235"/>
                </a:cubicBezTo>
                <a:lnTo>
                  <a:pt x="543551" y="602412"/>
                </a:lnTo>
                <a:cubicBezTo>
                  <a:pt x="543406" y="623896"/>
                  <a:pt x="526025" y="641276"/>
                  <a:pt x="504541" y="641422"/>
                </a:cubicBezTo>
                <a:lnTo>
                  <a:pt x="388846" y="641422"/>
                </a:lnTo>
                <a:cubicBezTo>
                  <a:pt x="374089" y="641422"/>
                  <a:pt x="362126" y="629459"/>
                  <a:pt x="362126" y="614703"/>
                </a:cubicBezTo>
                <a:lnTo>
                  <a:pt x="362126" y="512367"/>
                </a:lnTo>
                <a:cubicBezTo>
                  <a:pt x="360191" y="485683"/>
                  <a:pt x="337979" y="465023"/>
                  <a:pt x="311225" y="465023"/>
                </a:cubicBezTo>
                <a:cubicBezTo>
                  <a:pt x="284472" y="465023"/>
                  <a:pt x="262259" y="485683"/>
                  <a:pt x="260325" y="512367"/>
                </a:cubicBezTo>
                <a:lnTo>
                  <a:pt x="260325" y="614703"/>
                </a:lnTo>
                <a:cubicBezTo>
                  <a:pt x="260325" y="629459"/>
                  <a:pt x="248362" y="641422"/>
                  <a:pt x="233605" y="641422"/>
                </a:cubicBezTo>
                <a:lnTo>
                  <a:pt x="118177" y="641422"/>
                </a:lnTo>
                <a:cubicBezTo>
                  <a:pt x="96632" y="641422"/>
                  <a:pt x="79167" y="623956"/>
                  <a:pt x="79167" y="602412"/>
                </a:cubicBezTo>
                <a:lnTo>
                  <a:pt x="79167" y="378235"/>
                </a:lnTo>
                <a:cubicBezTo>
                  <a:pt x="79030" y="374604"/>
                  <a:pt x="76118" y="371692"/>
                  <a:pt x="72487" y="371555"/>
                </a:cubicBezTo>
                <a:lnTo>
                  <a:pt x="28133" y="371555"/>
                </a:lnTo>
                <a:cubicBezTo>
                  <a:pt x="17731" y="371429"/>
                  <a:pt x="8349" y="365278"/>
                  <a:pt x="4085" y="355791"/>
                </a:cubicBezTo>
                <a:cubicBezTo>
                  <a:pt x="0" y="346093"/>
                  <a:pt x="1987" y="334900"/>
                  <a:pt x="9162" y="327201"/>
                </a:cubicBezTo>
                <a:lnTo>
                  <a:pt x="291854" y="31951"/>
                </a:lnTo>
                <a:cubicBezTo>
                  <a:pt x="296871" y="26892"/>
                  <a:pt x="303700" y="24047"/>
                  <a:pt x="310825" y="24047"/>
                </a:cubicBezTo>
                <a:cubicBezTo>
                  <a:pt x="317949" y="24047"/>
                  <a:pt x="324778" y="26892"/>
                  <a:pt x="329795" y="31951"/>
                </a:cubicBezTo>
                <a:lnTo>
                  <a:pt x="416367" y="122530"/>
                </a:lnTo>
                <a:cubicBezTo>
                  <a:pt x="418861" y="125167"/>
                  <a:pt x="422357" y="126623"/>
                  <a:pt x="425986" y="126538"/>
                </a:cubicBezTo>
                <a:lnTo>
                  <a:pt x="516832" y="126538"/>
                </a:lnTo>
                <a:cubicBezTo>
                  <a:pt x="524210" y="126538"/>
                  <a:pt x="530192" y="132519"/>
                  <a:pt x="530192" y="139897"/>
                </a:cubicBezTo>
                <a:lnTo>
                  <a:pt x="530192" y="238225"/>
                </a:lnTo>
                <a:cubicBezTo>
                  <a:pt x="530084" y="239946"/>
                  <a:pt x="530774" y="241621"/>
                  <a:pt x="532062" y="242767"/>
                </a:cubicBezTo>
                <a:lnTo>
                  <a:pt x="612220" y="327468"/>
                </a:lnTo>
                <a:close/>
                <a:moveTo>
                  <a:pt x="634398" y="44509"/>
                </a:moveTo>
                <a:lnTo>
                  <a:pt x="609014" y="69625"/>
                </a:lnTo>
                <a:cubicBezTo>
                  <a:pt x="584626" y="93878"/>
                  <a:pt x="545228" y="93878"/>
                  <a:pt x="520840" y="69625"/>
                </a:cubicBezTo>
                <a:cubicBezTo>
                  <a:pt x="517295" y="66092"/>
                  <a:pt x="511560" y="66092"/>
                  <a:pt x="508014" y="69625"/>
                </a:cubicBezTo>
                <a:lnTo>
                  <a:pt x="482898" y="96345"/>
                </a:lnTo>
                <a:cubicBezTo>
                  <a:pt x="478338" y="101585"/>
                  <a:pt x="471917" y="104843"/>
                  <a:pt x="464996" y="105429"/>
                </a:cubicBezTo>
                <a:cubicBezTo>
                  <a:pt x="454190" y="105384"/>
                  <a:pt x="444474" y="98834"/>
                  <a:pt x="440380" y="88832"/>
                </a:cubicBezTo>
                <a:cubicBezTo>
                  <a:pt x="436286" y="78831"/>
                  <a:pt x="438620" y="67349"/>
                  <a:pt x="446292" y="59739"/>
                </a:cubicBezTo>
                <a:lnTo>
                  <a:pt x="471409" y="34623"/>
                </a:lnTo>
                <a:cubicBezTo>
                  <a:pt x="495797" y="10370"/>
                  <a:pt x="535195" y="10370"/>
                  <a:pt x="559583" y="34623"/>
                </a:cubicBezTo>
                <a:cubicBezTo>
                  <a:pt x="563128" y="38155"/>
                  <a:pt x="568863" y="38155"/>
                  <a:pt x="572408" y="34623"/>
                </a:cubicBezTo>
                <a:lnTo>
                  <a:pt x="597525" y="7903"/>
                </a:lnTo>
                <a:cubicBezTo>
                  <a:pt x="602542" y="2845"/>
                  <a:pt x="609371" y="0"/>
                  <a:pt x="616495" y="0"/>
                </a:cubicBezTo>
                <a:cubicBezTo>
                  <a:pt x="623620" y="0"/>
                  <a:pt x="630449" y="2845"/>
                  <a:pt x="635466" y="7903"/>
                </a:cubicBezTo>
                <a:cubicBezTo>
                  <a:pt x="644843" y="18469"/>
                  <a:pt x="644374" y="34508"/>
                  <a:pt x="634398" y="44509"/>
                </a:cubicBezTo>
                <a:close/>
              </a:path>
            </a:pathLst>
          </a:custGeom>
          <a:solidFill>
            <a:srgbClr val="FFFFFF"/>
          </a:solidFill>
          <a:ln>
            <a:noFill/>
          </a:ln>
        </p:spPr>
        <p:txBody>
          <a:bodyPr rtlCol="0" anchor="ctr"/>
          <a:lstStyle/>
          <a:p>
            <a:pPr algn="ctr"/>
            <a:endParaRPr/>
          </a:p>
        </p:txBody>
      </p:sp>
      <p:sp>
        <p:nvSpPr>
          <p:cNvPr id="25" name="Rounded Rectangle 24"/>
          <p:cNvSpPr/>
          <p:nvPr/>
        </p:nvSpPr>
        <p:spPr>
          <a:xfrm>
            <a:off x="5746747" y="2154987"/>
            <a:ext cx="519282" cy="644480"/>
          </a:xfrm>
          <a:custGeom>
            <a:avLst/>
            <a:gdLst/>
            <a:ahLst/>
            <a:cxnLst/>
            <a:rect l="0" t="0" r="0" b="0"/>
            <a:pathLst>
              <a:path w="480950" h="601188">
                <a:moveTo>
                  <a:pt x="480950" y="474003"/>
                </a:moveTo>
                <a:cubicBezTo>
                  <a:pt x="480950" y="561910"/>
                  <a:pt x="389570" y="601188"/>
                  <a:pt x="298723" y="601188"/>
                </a:cubicBezTo>
                <a:cubicBezTo>
                  <a:pt x="216427" y="601188"/>
                  <a:pt x="120237" y="567788"/>
                  <a:pt x="120237" y="474003"/>
                </a:cubicBezTo>
                <a:cubicBezTo>
                  <a:pt x="123462" y="407188"/>
                  <a:pt x="149382" y="343471"/>
                  <a:pt x="193716" y="293379"/>
                </a:cubicBezTo>
                <a:cubicBezTo>
                  <a:pt x="195393" y="291513"/>
                  <a:pt x="197946" y="290696"/>
                  <a:pt x="200396" y="291242"/>
                </a:cubicBezTo>
                <a:cubicBezTo>
                  <a:pt x="209191" y="293017"/>
                  <a:pt x="218142" y="293912"/>
                  <a:pt x="227115" y="293914"/>
                </a:cubicBezTo>
                <a:lnTo>
                  <a:pt x="333993" y="293914"/>
                </a:lnTo>
                <a:cubicBezTo>
                  <a:pt x="351610" y="296375"/>
                  <a:pt x="369431" y="291116"/>
                  <a:pt x="382890" y="279485"/>
                </a:cubicBezTo>
                <a:cubicBezTo>
                  <a:pt x="384233" y="278129"/>
                  <a:pt x="386058" y="277361"/>
                  <a:pt x="387966" y="277348"/>
                </a:cubicBezTo>
                <a:cubicBezTo>
                  <a:pt x="389795" y="277372"/>
                  <a:pt x="391533" y="278145"/>
                  <a:pt x="392776" y="279485"/>
                </a:cubicBezTo>
                <a:cubicBezTo>
                  <a:pt x="427511" y="316893"/>
                  <a:pt x="480950" y="391173"/>
                  <a:pt x="480950" y="474003"/>
                </a:cubicBezTo>
                <a:close/>
                <a:moveTo>
                  <a:pt x="312350" y="465453"/>
                </a:moveTo>
                <a:cubicBezTo>
                  <a:pt x="314621" y="467210"/>
                  <a:pt x="315576" y="470183"/>
                  <a:pt x="314755" y="472934"/>
                </a:cubicBezTo>
                <a:cubicBezTo>
                  <a:pt x="313924" y="475784"/>
                  <a:pt x="311311" y="477744"/>
                  <a:pt x="308342" y="477744"/>
                </a:cubicBezTo>
                <a:lnTo>
                  <a:pt x="267194" y="477744"/>
                </a:lnTo>
                <a:cubicBezTo>
                  <a:pt x="256127" y="477744"/>
                  <a:pt x="247155" y="486716"/>
                  <a:pt x="247155" y="497783"/>
                </a:cubicBezTo>
                <a:cubicBezTo>
                  <a:pt x="247155" y="508851"/>
                  <a:pt x="256127" y="517823"/>
                  <a:pt x="267194" y="517823"/>
                </a:cubicBezTo>
                <a:lnTo>
                  <a:pt x="280554" y="517823"/>
                </a:lnTo>
                <a:cubicBezTo>
                  <a:pt x="284243" y="517823"/>
                  <a:pt x="287234" y="520814"/>
                  <a:pt x="287234" y="524503"/>
                </a:cubicBezTo>
                <a:lnTo>
                  <a:pt x="287234" y="527709"/>
                </a:lnTo>
                <a:cubicBezTo>
                  <a:pt x="287234" y="538777"/>
                  <a:pt x="296206" y="547749"/>
                  <a:pt x="307274" y="547749"/>
                </a:cubicBezTo>
                <a:cubicBezTo>
                  <a:pt x="318341" y="547749"/>
                  <a:pt x="327313" y="538777"/>
                  <a:pt x="327313" y="527709"/>
                </a:cubicBezTo>
                <a:lnTo>
                  <a:pt x="327313" y="522365"/>
                </a:lnTo>
                <a:cubicBezTo>
                  <a:pt x="327309" y="519810"/>
                  <a:pt x="329304" y="517698"/>
                  <a:pt x="331855" y="517556"/>
                </a:cubicBezTo>
                <a:cubicBezTo>
                  <a:pt x="341932" y="517223"/>
                  <a:pt x="351433" y="512779"/>
                  <a:pt x="358147" y="505257"/>
                </a:cubicBezTo>
                <a:cubicBezTo>
                  <a:pt x="364860" y="497736"/>
                  <a:pt x="368202" y="487793"/>
                  <a:pt x="367392" y="477744"/>
                </a:cubicBezTo>
                <a:cubicBezTo>
                  <a:pt x="367392" y="453963"/>
                  <a:pt x="343612" y="437932"/>
                  <a:pt x="318496" y="420831"/>
                </a:cubicBezTo>
                <a:lnTo>
                  <a:pt x="301930" y="409609"/>
                </a:lnTo>
                <a:cubicBezTo>
                  <a:pt x="299515" y="407956"/>
                  <a:pt x="298525" y="404878"/>
                  <a:pt x="299525" y="402128"/>
                </a:cubicBezTo>
                <a:cubicBezTo>
                  <a:pt x="300451" y="399383"/>
                  <a:pt x="303041" y="397549"/>
                  <a:pt x="305937" y="397585"/>
                </a:cubicBezTo>
                <a:lnTo>
                  <a:pt x="347353" y="397585"/>
                </a:lnTo>
                <a:cubicBezTo>
                  <a:pt x="358420" y="397585"/>
                  <a:pt x="367392" y="388613"/>
                  <a:pt x="367392" y="377546"/>
                </a:cubicBezTo>
                <a:cubicBezTo>
                  <a:pt x="367392" y="366478"/>
                  <a:pt x="358420" y="357506"/>
                  <a:pt x="347353" y="357506"/>
                </a:cubicBezTo>
                <a:lnTo>
                  <a:pt x="333993" y="357506"/>
                </a:lnTo>
                <a:cubicBezTo>
                  <a:pt x="330304" y="357506"/>
                  <a:pt x="327313" y="354515"/>
                  <a:pt x="327313" y="350826"/>
                </a:cubicBezTo>
                <a:lnTo>
                  <a:pt x="327313" y="347353"/>
                </a:lnTo>
                <a:cubicBezTo>
                  <a:pt x="327313" y="336285"/>
                  <a:pt x="318341" y="327313"/>
                  <a:pt x="307273" y="327313"/>
                </a:cubicBezTo>
                <a:cubicBezTo>
                  <a:pt x="296206" y="327313"/>
                  <a:pt x="287234" y="336285"/>
                  <a:pt x="287234" y="347353"/>
                </a:cubicBezTo>
                <a:lnTo>
                  <a:pt x="287234" y="351093"/>
                </a:lnTo>
                <a:cubicBezTo>
                  <a:pt x="287124" y="354536"/>
                  <a:pt x="284509" y="357378"/>
                  <a:pt x="281088" y="357773"/>
                </a:cubicBezTo>
                <a:cubicBezTo>
                  <a:pt x="271184" y="358228"/>
                  <a:pt x="261912" y="362769"/>
                  <a:pt x="255480" y="370314"/>
                </a:cubicBezTo>
                <a:cubicBezTo>
                  <a:pt x="249049" y="377860"/>
                  <a:pt x="246034" y="387734"/>
                  <a:pt x="247155" y="397585"/>
                </a:cubicBezTo>
                <a:cubicBezTo>
                  <a:pt x="247155" y="421099"/>
                  <a:pt x="270935" y="437130"/>
                  <a:pt x="296051" y="454231"/>
                </a:cubicBezTo>
                <a:cubicBezTo>
                  <a:pt x="300861" y="457437"/>
                  <a:pt x="307006" y="460911"/>
                  <a:pt x="312350" y="465453"/>
                </a:cubicBezTo>
                <a:close/>
                <a:moveTo>
                  <a:pt x="254903" y="80158"/>
                </a:moveTo>
                <a:cubicBezTo>
                  <a:pt x="252669" y="80138"/>
                  <a:pt x="250581" y="79044"/>
                  <a:pt x="249292" y="77219"/>
                </a:cubicBezTo>
                <a:lnTo>
                  <a:pt x="212152" y="20306"/>
                </a:lnTo>
                <a:cubicBezTo>
                  <a:pt x="209872" y="16050"/>
                  <a:pt x="209872" y="10936"/>
                  <a:pt x="212152" y="6679"/>
                </a:cubicBezTo>
                <a:cubicBezTo>
                  <a:pt x="214650" y="2567"/>
                  <a:pt x="219098" y="40"/>
                  <a:pt x="223909" y="0"/>
                </a:cubicBezTo>
                <a:lnTo>
                  <a:pt x="390638" y="0"/>
                </a:lnTo>
                <a:cubicBezTo>
                  <a:pt x="395449" y="40"/>
                  <a:pt x="399897" y="2567"/>
                  <a:pt x="402395" y="6679"/>
                </a:cubicBezTo>
                <a:cubicBezTo>
                  <a:pt x="404781" y="10813"/>
                  <a:pt x="404781" y="15906"/>
                  <a:pt x="402395" y="20039"/>
                </a:cubicBezTo>
                <a:lnTo>
                  <a:pt x="368728" y="76952"/>
                </a:lnTo>
                <a:cubicBezTo>
                  <a:pt x="367438" y="79083"/>
                  <a:pt x="365069" y="80319"/>
                  <a:pt x="362583" y="80158"/>
                </a:cubicBezTo>
                <a:close/>
                <a:moveTo>
                  <a:pt x="123978" y="228985"/>
                </a:moveTo>
                <a:cubicBezTo>
                  <a:pt x="121682" y="227933"/>
                  <a:pt x="120218" y="225632"/>
                  <a:pt x="120237" y="223107"/>
                </a:cubicBezTo>
                <a:lnTo>
                  <a:pt x="120237" y="113557"/>
                </a:lnTo>
                <a:cubicBezTo>
                  <a:pt x="120237" y="109868"/>
                  <a:pt x="123228" y="106877"/>
                  <a:pt x="126917" y="106877"/>
                </a:cubicBezTo>
                <a:lnTo>
                  <a:pt x="146957" y="106877"/>
                </a:lnTo>
                <a:cubicBezTo>
                  <a:pt x="157384" y="106530"/>
                  <a:pt x="167142" y="101651"/>
                  <a:pt x="173676" y="93518"/>
                </a:cubicBezTo>
                <a:lnTo>
                  <a:pt x="197189" y="61454"/>
                </a:lnTo>
                <a:cubicBezTo>
                  <a:pt x="198447" y="59594"/>
                  <a:pt x="200555" y="58489"/>
                  <a:pt x="202800" y="58515"/>
                </a:cubicBezTo>
                <a:cubicBezTo>
                  <a:pt x="205016" y="58588"/>
                  <a:pt x="207037" y="59801"/>
                  <a:pt x="208144" y="61722"/>
                </a:cubicBezTo>
                <a:lnTo>
                  <a:pt x="234864" y="103938"/>
                </a:lnTo>
                <a:cubicBezTo>
                  <a:pt x="236153" y="105763"/>
                  <a:pt x="238241" y="106857"/>
                  <a:pt x="240475" y="106877"/>
                </a:cubicBezTo>
                <a:lnTo>
                  <a:pt x="360712" y="106877"/>
                </a:lnTo>
                <a:cubicBezTo>
                  <a:pt x="387432" y="106877"/>
                  <a:pt x="400792" y="120237"/>
                  <a:pt x="400792" y="133597"/>
                </a:cubicBezTo>
                <a:cubicBezTo>
                  <a:pt x="400792" y="133597"/>
                  <a:pt x="387432" y="200396"/>
                  <a:pt x="374072" y="240475"/>
                </a:cubicBezTo>
                <a:cubicBezTo>
                  <a:pt x="365522" y="265858"/>
                  <a:pt x="360712" y="267194"/>
                  <a:pt x="333993" y="267194"/>
                </a:cubicBezTo>
                <a:lnTo>
                  <a:pt x="227115" y="267194"/>
                </a:lnTo>
                <a:cubicBezTo>
                  <a:pt x="196388" y="267194"/>
                  <a:pt x="173943" y="254102"/>
                  <a:pt x="123978" y="228985"/>
                </a:cubicBezTo>
                <a:close/>
                <a:moveTo>
                  <a:pt x="76507" y="97168"/>
                </a:moveTo>
                <a:cubicBezTo>
                  <a:pt x="79066" y="99727"/>
                  <a:pt x="80397" y="103266"/>
                  <a:pt x="80158" y="106877"/>
                </a:cubicBezTo>
                <a:lnTo>
                  <a:pt x="80158" y="240475"/>
                </a:lnTo>
                <a:cubicBezTo>
                  <a:pt x="80397" y="244086"/>
                  <a:pt x="79066" y="247625"/>
                  <a:pt x="76507" y="250184"/>
                </a:cubicBezTo>
                <a:cubicBezTo>
                  <a:pt x="73948" y="252743"/>
                  <a:pt x="70409" y="254073"/>
                  <a:pt x="66798" y="253835"/>
                </a:cubicBezTo>
                <a:lnTo>
                  <a:pt x="6679" y="253835"/>
                </a:lnTo>
                <a:cubicBezTo>
                  <a:pt x="2990" y="253835"/>
                  <a:pt x="0" y="250844"/>
                  <a:pt x="0" y="247155"/>
                </a:cubicBezTo>
                <a:lnTo>
                  <a:pt x="0" y="100198"/>
                </a:lnTo>
                <a:cubicBezTo>
                  <a:pt x="0" y="96508"/>
                  <a:pt x="2990" y="93518"/>
                  <a:pt x="6679" y="93518"/>
                </a:cubicBezTo>
                <a:lnTo>
                  <a:pt x="66798" y="93518"/>
                </a:lnTo>
                <a:cubicBezTo>
                  <a:pt x="70409" y="93279"/>
                  <a:pt x="73948" y="94609"/>
                  <a:pt x="76507" y="97168"/>
                </a:cubicBezTo>
                <a:close/>
              </a:path>
            </a:pathLst>
          </a:custGeom>
          <a:solidFill>
            <a:srgbClr val="FFFFFF"/>
          </a:solidFill>
          <a:ln>
            <a:noFill/>
          </a:ln>
        </p:spPr>
        <p:txBody>
          <a:bodyPr rtlCol="0" anchor="ctr"/>
          <a:lstStyle/>
          <a:p>
            <a:pPr algn="ctr"/>
            <a:endParaRPr/>
          </a:p>
        </p:txBody>
      </p:sp>
      <p:sp>
        <p:nvSpPr>
          <p:cNvPr id="26" name="Rounded Rectangle 25"/>
          <p:cNvSpPr/>
          <p:nvPr/>
        </p:nvSpPr>
        <p:spPr>
          <a:xfrm>
            <a:off x="7292034" y="2144962"/>
            <a:ext cx="657037" cy="664558"/>
          </a:xfrm>
          <a:custGeom>
            <a:avLst/>
            <a:gdLst/>
            <a:ahLst/>
            <a:cxnLst/>
            <a:rect l="0" t="0" r="0" b="0"/>
            <a:pathLst>
              <a:path w="608536" h="619918">
                <a:moveTo>
                  <a:pt x="419375" y="0"/>
                </a:moveTo>
                <a:cubicBezTo>
                  <a:pt x="419375" y="0"/>
                  <a:pt x="476207" y="24929"/>
                  <a:pt x="479974" y="89964"/>
                </a:cubicBezTo>
                <a:cubicBezTo>
                  <a:pt x="460549" y="94293"/>
                  <a:pt x="445266" y="100999"/>
                  <a:pt x="433242" y="110004"/>
                </a:cubicBezTo>
                <a:cubicBezTo>
                  <a:pt x="428152" y="113815"/>
                  <a:pt x="423509" y="118189"/>
                  <a:pt x="419401" y="123043"/>
                </a:cubicBezTo>
                <a:cubicBezTo>
                  <a:pt x="415848" y="118821"/>
                  <a:pt x="411305" y="114305"/>
                  <a:pt x="405561" y="110004"/>
                </a:cubicBezTo>
                <a:cubicBezTo>
                  <a:pt x="393537" y="100999"/>
                  <a:pt x="378253" y="94293"/>
                  <a:pt x="358855" y="89937"/>
                </a:cubicBezTo>
                <a:cubicBezTo>
                  <a:pt x="362622" y="24955"/>
                  <a:pt x="419401" y="0"/>
                  <a:pt x="419401" y="0"/>
                </a:cubicBezTo>
                <a:close/>
                <a:moveTo>
                  <a:pt x="248691" y="63218"/>
                </a:moveTo>
                <a:cubicBezTo>
                  <a:pt x="259588" y="61310"/>
                  <a:pt x="269969" y="68594"/>
                  <a:pt x="271883" y="79490"/>
                </a:cubicBezTo>
                <a:lnTo>
                  <a:pt x="272364" y="82322"/>
                </a:lnTo>
                <a:cubicBezTo>
                  <a:pt x="273860" y="90632"/>
                  <a:pt x="275544" y="100411"/>
                  <a:pt x="277334" y="109656"/>
                </a:cubicBezTo>
                <a:cubicBezTo>
                  <a:pt x="296312" y="109289"/>
                  <a:pt x="315292" y="110343"/>
                  <a:pt x="334113" y="112809"/>
                </a:cubicBezTo>
                <a:cubicBezTo>
                  <a:pt x="361260" y="116149"/>
                  <a:pt x="378333" y="123016"/>
                  <a:pt x="389556" y="131433"/>
                </a:cubicBezTo>
                <a:cubicBezTo>
                  <a:pt x="399469" y="138834"/>
                  <a:pt x="404064" y="147090"/>
                  <a:pt x="406362" y="151205"/>
                </a:cubicBezTo>
                <a:cubicBezTo>
                  <a:pt x="406683" y="151793"/>
                  <a:pt x="406950" y="152301"/>
                  <a:pt x="407217" y="152701"/>
                </a:cubicBezTo>
                <a:cubicBezTo>
                  <a:pt x="409514" y="156885"/>
                  <a:pt x="411359" y="161300"/>
                  <a:pt x="412721" y="165874"/>
                </a:cubicBezTo>
                <a:cubicBezTo>
                  <a:pt x="414514" y="171495"/>
                  <a:pt x="415986" y="177213"/>
                  <a:pt x="417130" y="183001"/>
                </a:cubicBezTo>
                <a:cubicBezTo>
                  <a:pt x="418384" y="189129"/>
                  <a:pt x="419135" y="195348"/>
                  <a:pt x="419374" y="201598"/>
                </a:cubicBezTo>
                <a:cubicBezTo>
                  <a:pt x="419535" y="207263"/>
                  <a:pt x="419107" y="214236"/>
                  <a:pt x="416409" y="220168"/>
                </a:cubicBezTo>
                <a:cubicBezTo>
                  <a:pt x="414106" y="224845"/>
                  <a:pt x="410240" y="228569"/>
                  <a:pt x="405480" y="230695"/>
                </a:cubicBezTo>
                <a:cubicBezTo>
                  <a:pt x="401601" y="232478"/>
                  <a:pt x="397505" y="233744"/>
                  <a:pt x="393296" y="234463"/>
                </a:cubicBezTo>
                <a:cubicBezTo>
                  <a:pt x="383613" y="236060"/>
                  <a:pt x="373792" y="236669"/>
                  <a:pt x="363985" y="236280"/>
                </a:cubicBezTo>
                <a:cubicBezTo>
                  <a:pt x="342770" y="235745"/>
                  <a:pt x="317627" y="232165"/>
                  <a:pt x="299030" y="226340"/>
                </a:cubicBezTo>
                <a:cubicBezTo>
                  <a:pt x="286632" y="222466"/>
                  <a:pt x="277147" y="213328"/>
                  <a:pt x="270066" y="203762"/>
                </a:cubicBezTo>
                <a:cubicBezTo>
                  <a:pt x="262932" y="194063"/>
                  <a:pt x="257321" y="182654"/>
                  <a:pt x="253046" y="172073"/>
                </a:cubicBezTo>
                <a:cubicBezTo>
                  <a:pt x="248083" y="159585"/>
                  <a:pt x="244133" y="146718"/>
                  <a:pt x="241236" y="133597"/>
                </a:cubicBezTo>
                <a:lnTo>
                  <a:pt x="240594" y="130497"/>
                </a:lnTo>
                <a:lnTo>
                  <a:pt x="240594" y="130417"/>
                </a:lnTo>
                <a:lnTo>
                  <a:pt x="240381" y="129188"/>
                </a:lnTo>
                <a:cubicBezTo>
                  <a:pt x="237629" y="116229"/>
                  <a:pt x="234957" y="100972"/>
                  <a:pt x="232953" y="89590"/>
                </a:cubicBezTo>
                <a:lnTo>
                  <a:pt x="232418" y="86437"/>
                </a:lnTo>
                <a:cubicBezTo>
                  <a:pt x="230493" y="75539"/>
                  <a:pt x="237766" y="65144"/>
                  <a:pt x="248664" y="63218"/>
                </a:cubicBezTo>
                <a:close/>
                <a:moveTo>
                  <a:pt x="590139" y="63218"/>
                </a:moveTo>
                <a:cubicBezTo>
                  <a:pt x="601047" y="65132"/>
                  <a:pt x="608335" y="75531"/>
                  <a:pt x="606411" y="86437"/>
                </a:cubicBezTo>
                <a:lnTo>
                  <a:pt x="605877" y="89590"/>
                </a:lnTo>
                <a:cubicBezTo>
                  <a:pt x="603873" y="100972"/>
                  <a:pt x="601201" y="116229"/>
                  <a:pt x="598449" y="129188"/>
                </a:cubicBezTo>
                <a:lnTo>
                  <a:pt x="598235" y="130417"/>
                </a:lnTo>
                <a:lnTo>
                  <a:pt x="598235" y="130497"/>
                </a:lnTo>
                <a:lnTo>
                  <a:pt x="597567" y="133597"/>
                </a:lnTo>
                <a:cubicBezTo>
                  <a:pt x="594668" y="146718"/>
                  <a:pt x="590719" y="159585"/>
                  <a:pt x="585757" y="172073"/>
                </a:cubicBezTo>
                <a:cubicBezTo>
                  <a:pt x="581482" y="182654"/>
                  <a:pt x="575897" y="194063"/>
                  <a:pt x="568736" y="203762"/>
                </a:cubicBezTo>
                <a:cubicBezTo>
                  <a:pt x="561683" y="213328"/>
                  <a:pt x="552170" y="222466"/>
                  <a:pt x="539799" y="226340"/>
                </a:cubicBezTo>
                <a:cubicBezTo>
                  <a:pt x="521176" y="232165"/>
                  <a:pt x="496059" y="235745"/>
                  <a:pt x="474817" y="236280"/>
                </a:cubicBezTo>
                <a:cubicBezTo>
                  <a:pt x="465020" y="236667"/>
                  <a:pt x="455208" y="236058"/>
                  <a:pt x="445533" y="234463"/>
                </a:cubicBezTo>
                <a:cubicBezTo>
                  <a:pt x="441316" y="233745"/>
                  <a:pt x="437211" y="232479"/>
                  <a:pt x="433322" y="230695"/>
                </a:cubicBezTo>
                <a:cubicBezTo>
                  <a:pt x="428564" y="228567"/>
                  <a:pt x="424698" y="224843"/>
                  <a:pt x="422394" y="220168"/>
                </a:cubicBezTo>
                <a:cubicBezTo>
                  <a:pt x="419695" y="214236"/>
                  <a:pt x="419294" y="207263"/>
                  <a:pt x="419455" y="201598"/>
                </a:cubicBezTo>
                <a:cubicBezTo>
                  <a:pt x="419615" y="195533"/>
                  <a:pt x="420524" y="189040"/>
                  <a:pt x="421699" y="183001"/>
                </a:cubicBezTo>
                <a:cubicBezTo>
                  <a:pt x="422902" y="176909"/>
                  <a:pt x="424478" y="170951"/>
                  <a:pt x="426108" y="165874"/>
                </a:cubicBezTo>
                <a:cubicBezTo>
                  <a:pt x="427631" y="161065"/>
                  <a:pt x="429528" y="156175"/>
                  <a:pt x="431612" y="152701"/>
                </a:cubicBezTo>
                <a:lnTo>
                  <a:pt x="432467" y="151205"/>
                </a:lnTo>
                <a:cubicBezTo>
                  <a:pt x="436511" y="143442"/>
                  <a:pt x="442245" y="136685"/>
                  <a:pt x="449247" y="131433"/>
                </a:cubicBezTo>
                <a:cubicBezTo>
                  <a:pt x="460469" y="123016"/>
                  <a:pt x="477570" y="116149"/>
                  <a:pt x="504690" y="112809"/>
                </a:cubicBezTo>
                <a:cubicBezTo>
                  <a:pt x="523520" y="110343"/>
                  <a:pt x="542508" y="109290"/>
                  <a:pt x="561495" y="109656"/>
                </a:cubicBezTo>
                <a:cubicBezTo>
                  <a:pt x="563259" y="100411"/>
                  <a:pt x="564969" y="90632"/>
                  <a:pt x="566439" y="82322"/>
                </a:cubicBezTo>
                <a:lnTo>
                  <a:pt x="566946" y="79490"/>
                </a:lnTo>
                <a:cubicBezTo>
                  <a:pt x="568860" y="68594"/>
                  <a:pt x="579242" y="61310"/>
                  <a:pt x="590139" y="63218"/>
                </a:cubicBezTo>
                <a:close/>
                <a:moveTo>
                  <a:pt x="248691" y="214263"/>
                </a:moveTo>
                <a:cubicBezTo>
                  <a:pt x="259596" y="212357"/>
                  <a:pt x="269982" y="219655"/>
                  <a:pt x="271883" y="230562"/>
                </a:cubicBezTo>
                <a:lnTo>
                  <a:pt x="272391" y="233367"/>
                </a:lnTo>
                <a:cubicBezTo>
                  <a:pt x="273834" y="241650"/>
                  <a:pt x="275544" y="251403"/>
                  <a:pt x="277307" y="260621"/>
                </a:cubicBezTo>
                <a:cubicBezTo>
                  <a:pt x="296296" y="260326"/>
                  <a:pt x="315282" y="261416"/>
                  <a:pt x="334113" y="263881"/>
                </a:cubicBezTo>
                <a:cubicBezTo>
                  <a:pt x="361260" y="267194"/>
                  <a:pt x="378333" y="274061"/>
                  <a:pt x="389556" y="282478"/>
                </a:cubicBezTo>
                <a:cubicBezTo>
                  <a:pt x="396556" y="287740"/>
                  <a:pt x="402297" y="294494"/>
                  <a:pt x="406362" y="302250"/>
                </a:cubicBezTo>
                <a:cubicBezTo>
                  <a:pt x="406621" y="302772"/>
                  <a:pt x="406907" y="303280"/>
                  <a:pt x="407217" y="303773"/>
                </a:cubicBezTo>
                <a:cubicBezTo>
                  <a:pt x="409514" y="307957"/>
                  <a:pt x="411359" y="312372"/>
                  <a:pt x="412721" y="316946"/>
                </a:cubicBezTo>
                <a:cubicBezTo>
                  <a:pt x="414513" y="322558"/>
                  <a:pt x="415985" y="328267"/>
                  <a:pt x="417130" y="334046"/>
                </a:cubicBezTo>
                <a:cubicBezTo>
                  <a:pt x="418386" y="340183"/>
                  <a:pt x="419136" y="346411"/>
                  <a:pt x="419375" y="352670"/>
                </a:cubicBezTo>
                <a:cubicBezTo>
                  <a:pt x="419535" y="358334"/>
                  <a:pt x="419107" y="365308"/>
                  <a:pt x="416436" y="371240"/>
                </a:cubicBezTo>
                <a:cubicBezTo>
                  <a:pt x="414124" y="375920"/>
                  <a:pt x="410249" y="379644"/>
                  <a:pt x="405481" y="381767"/>
                </a:cubicBezTo>
                <a:cubicBezTo>
                  <a:pt x="401713" y="383584"/>
                  <a:pt x="397465" y="384733"/>
                  <a:pt x="393296" y="385535"/>
                </a:cubicBezTo>
                <a:cubicBezTo>
                  <a:pt x="383612" y="387120"/>
                  <a:pt x="373791" y="387719"/>
                  <a:pt x="363985" y="387325"/>
                </a:cubicBezTo>
                <a:cubicBezTo>
                  <a:pt x="342770" y="386791"/>
                  <a:pt x="317627" y="383210"/>
                  <a:pt x="299030" y="377412"/>
                </a:cubicBezTo>
                <a:cubicBezTo>
                  <a:pt x="286632" y="373511"/>
                  <a:pt x="277147" y="364426"/>
                  <a:pt x="270120" y="354861"/>
                </a:cubicBezTo>
                <a:cubicBezTo>
                  <a:pt x="262986" y="345162"/>
                  <a:pt x="257455" y="333779"/>
                  <a:pt x="253206" y="323198"/>
                </a:cubicBezTo>
                <a:cubicBezTo>
                  <a:pt x="248236" y="310774"/>
                  <a:pt x="244816" y="298777"/>
                  <a:pt x="242759" y="290654"/>
                </a:cubicBezTo>
                <a:cubicBezTo>
                  <a:pt x="241977" y="287589"/>
                  <a:pt x="241265" y="284506"/>
                  <a:pt x="240621" y="281409"/>
                </a:cubicBezTo>
                <a:cubicBezTo>
                  <a:pt x="237789" y="268236"/>
                  <a:pt x="235010" y="252392"/>
                  <a:pt x="232953" y="240635"/>
                </a:cubicBezTo>
                <a:lnTo>
                  <a:pt x="232418" y="237482"/>
                </a:lnTo>
                <a:cubicBezTo>
                  <a:pt x="230510" y="226594"/>
                  <a:pt x="237779" y="216217"/>
                  <a:pt x="248664" y="214290"/>
                </a:cubicBezTo>
                <a:close/>
                <a:moveTo>
                  <a:pt x="605850" y="240635"/>
                </a:moveTo>
                <a:cubicBezTo>
                  <a:pt x="603792" y="252392"/>
                  <a:pt x="601014" y="268236"/>
                  <a:pt x="598181" y="281409"/>
                </a:cubicBezTo>
                <a:cubicBezTo>
                  <a:pt x="597592" y="284235"/>
                  <a:pt x="596950" y="287050"/>
                  <a:pt x="596258" y="289852"/>
                </a:cubicBezTo>
                <a:lnTo>
                  <a:pt x="596204" y="290120"/>
                </a:lnTo>
                <a:lnTo>
                  <a:pt x="596044" y="290654"/>
                </a:lnTo>
                <a:cubicBezTo>
                  <a:pt x="594013" y="298777"/>
                  <a:pt x="590566" y="310774"/>
                  <a:pt x="585596" y="323198"/>
                </a:cubicBezTo>
                <a:cubicBezTo>
                  <a:pt x="581291" y="334412"/>
                  <a:pt x="575610" y="345048"/>
                  <a:pt x="568683" y="354861"/>
                </a:cubicBezTo>
                <a:cubicBezTo>
                  <a:pt x="561656" y="364426"/>
                  <a:pt x="552197" y="373511"/>
                  <a:pt x="539799" y="377412"/>
                </a:cubicBezTo>
                <a:cubicBezTo>
                  <a:pt x="521176" y="383210"/>
                  <a:pt x="496059" y="386791"/>
                  <a:pt x="474817" y="387325"/>
                </a:cubicBezTo>
                <a:cubicBezTo>
                  <a:pt x="464210" y="387592"/>
                  <a:pt x="453896" y="387138"/>
                  <a:pt x="445533" y="385535"/>
                </a:cubicBezTo>
                <a:cubicBezTo>
                  <a:pt x="441365" y="384760"/>
                  <a:pt x="437090" y="383584"/>
                  <a:pt x="433349" y="381767"/>
                </a:cubicBezTo>
                <a:cubicBezTo>
                  <a:pt x="429795" y="380057"/>
                  <a:pt x="424986" y="376904"/>
                  <a:pt x="422394" y="371240"/>
                </a:cubicBezTo>
                <a:cubicBezTo>
                  <a:pt x="419695" y="365308"/>
                  <a:pt x="419294" y="358334"/>
                  <a:pt x="419428" y="352670"/>
                </a:cubicBezTo>
                <a:cubicBezTo>
                  <a:pt x="419615" y="346605"/>
                  <a:pt x="420497" y="340112"/>
                  <a:pt x="421699" y="334046"/>
                </a:cubicBezTo>
                <a:cubicBezTo>
                  <a:pt x="422901" y="327981"/>
                  <a:pt x="424478" y="321996"/>
                  <a:pt x="426108" y="316919"/>
                </a:cubicBezTo>
                <a:cubicBezTo>
                  <a:pt x="427631" y="312136"/>
                  <a:pt x="429528" y="307247"/>
                  <a:pt x="431612" y="303773"/>
                </a:cubicBezTo>
                <a:lnTo>
                  <a:pt x="432467" y="302250"/>
                </a:lnTo>
                <a:cubicBezTo>
                  <a:pt x="434738" y="298162"/>
                  <a:pt x="439361" y="289879"/>
                  <a:pt x="449247" y="282478"/>
                </a:cubicBezTo>
                <a:cubicBezTo>
                  <a:pt x="460496" y="274061"/>
                  <a:pt x="477543" y="267194"/>
                  <a:pt x="504690" y="263881"/>
                </a:cubicBezTo>
                <a:cubicBezTo>
                  <a:pt x="523529" y="261414"/>
                  <a:pt x="542524" y="260325"/>
                  <a:pt x="561522" y="260621"/>
                </a:cubicBezTo>
                <a:cubicBezTo>
                  <a:pt x="563286" y="251403"/>
                  <a:pt x="564996" y="241650"/>
                  <a:pt x="566438" y="233367"/>
                </a:cubicBezTo>
                <a:lnTo>
                  <a:pt x="566946" y="230535"/>
                </a:lnTo>
                <a:cubicBezTo>
                  <a:pt x="569049" y="219826"/>
                  <a:pt x="579336" y="212769"/>
                  <a:pt x="590084" y="214661"/>
                </a:cubicBezTo>
                <a:cubicBezTo>
                  <a:pt x="600833" y="216553"/>
                  <a:pt x="608091" y="226699"/>
                  <a:pt x="606411" y="237482"/>
                </a:cubicBezTo>
                <a:close/>
                <a:moveTo>
                  <a:pt x="606598" y="388741"/>
                </a:moveTo>
                <a:lnTo>
                  <a:pt x="606063" y="391894"/>
                </a:lnTo>
                <a:cubicBezTo>
                  <a:pt x="603979" y="403731"/>
                  <a:pt x="601201" y="419736"/>
                  <a:pt x="598315" y="432962"/>
                </a:cubicBezTo>
                <a:lnTo>
                  <a:pt x="598235" y="433496"/>
                </a:lnTo>
                <a:cubicBezTo>
                  <a:pt x="597807" y="436008"/>
                  <a:pt x="597059" y="439375"/>
                  <a:pt x="596070" y="443222"/>
                </a:cubicBezTo>
                <a:cubicBezTo>
                  <a:pt x="593501" y="453112"/>
                  <a:pt x="590288" y="462822"/>
                  <a:pt x="586452" y="472293"/>
                </a:cubicBezTo>
                <a:cubicBezTo>
                  <a:pt x="582070" y="483034"/>
                  <a:pt x="576298" y="494711"/>
                  <a:pt x="569030" y="504624"/>
                </a:cubicBezTo>
                <a:cubicBezTo>
                  <a:pt x="561870" y="514323"/>
                  <a:pt x="552277" y="523701"/>
                  <a:pt x="539799" y="527602"/>
                </a:cubicBezTo>
                <a:cubicBezTo>
                  <a:pt x="521176" y="533427"/>
                  <a:pt x="496060" y="536981"/>
                  <a:pt x="474817" y="537515"/>
                </a:cubicBezTo>
                <a:cubicBezTo>
                  <a:pt x="464210" y="537782"/>
                  <a:pt x="453896" y="537328"/>
                  <a:pt x="445533" y="535725"/>
                </a:cubicBezTo>
                <a:cubicBezTo>
                  <a:pt x="442380" y="535137"/>
                  <a:pt x="439201" y="534335"/>
                  <a:pt x="436208" y="533187"/>
                </a:cubicBezTo>
                <a:lnTo>
                  <a:pt x="436208" y="599878"/>
                </a:lnTo>
                <a:cubicBezTo>
                  <a:pt x="436208" y="610946"/>
                  <a:pt x="427236" y="619918"/>
                  <a:pt x="416168" y="619918"/>
                </a:cubicBezTo>
                <a:cubicBezTo>
                  <a:pt x="405101" y="619918"/>
                  <a:pt x="396129" y="610946"/>
                  <a:pt x="396129" y="599878"/>
                </a:cubicBezTo>
                <a:lnTo>
                  <a:pt x="396129" y="535137"/>
                </a:lnTo>
                <a:cubicBezTo>
                  <a:pt x="395167" y="535351"/>
                  <a:pt x="394232" y="535565"/>
                  <a:pt x="393297" y="535725"/>
                </a:cubicBezTo>
                <a:cubicBezTo>
                  <a:pt x="384907" y="537328"/>
                  <a:pt x="374620" y="537782"/>
                  <a:pt x="363985" y="537515"/>
                </a:cubicBezTo>
                <a:cubicBezTo>
                  <a:pt x="342770" y="537008"/>
                  <a:pt x="317627" y="533427"/>
                  <a:pt x="299030" y="527602"/>
                </a:cubicBezTo>
                <a:cubicBezTo>
                  <a:pt x="286552" y="523701"/>
                  <a:pt x="276933" y="514323"/>
                  <a:pt x="269799" y="504597"/>
                </a:cubicBezTo>
                <a:cubicBezTo>
                  <a:pt x="262531" y="494711"/>
                  <a:pt x="256733" y="483061"/>
                  <a:pt x="252378" y="472266"/>
                </a:cubicBezTo>
                <a:cubicBezTo>
                  <a:pt x="247943" y="461418"/>
                  <a:pt x="244736" y="450971"/>
                  <a:pt x="242759" y="443222"/>
                </a:cubicBezTo>
                <a:cubicBezTo>
                  <a:pt x="241744" y="439375"/>
                  <a:pt x="241022" y="436008"/>
                  <a:pt x="240568" y="433496"/>
                </a:cubicBezTo>
                <a:lnTo>
                  <a:pt x="240488" y="432989"/>
                </a:lnTo>
                <a:cubicBezTo>
                  <a:pt x="237629" y="419736"/>
                  <a:pt x="234823" y="403731"/>
                  <a:pt x="232739" y="391867"/>
                </a:cubicBezTo>
                <a:lnTo>
                  <a:pt x="232205" y="388741"/>
                </a:lnTo>
                <a:cubicBezTo>
                  <a:pt x="230807" y="381624"/>
                  <a:pt x="233364" y="374306"/>
                  <a:pt x="238892" y="369609"/>
                </a:cubicBezTo>
                <a:cubicBezTo>
                  <a:pt x="244419" y="364912"/>
                  <a:pt x="252053" y="363568"/>
                  <a:pt x="258851" y="366096"/>
                </a:cubicBezTo>
                <a:cubicBezTo>
                  <a:pt x="265650" y="368623"/>
                  <a:pt x="270553" y="374627"/>
                  <a:pt x="271669" y="381794"/>
                </a:cubicBezTo>
                <a:lnTo>
                  <a:pt x="272177" y="384626"/>
                </a:lnTo>
                <a:cubicBezTo>
                  <a:pt x="273647" y="392963"/>
                  <a:pt x="275330" y="402689"/>
                  <a:pt x="277120" y="411934"/>
                </a:cubicBezTo>
                <a:cubicBezTo>
                  <a:pt x="290827" y="411079"/>
                  <a:pt x="309798" y="411105"/>
                  <a:pt x="334113" y="414071"/>
                </a:cubicBezTo>
                <a:cubicBezTo>
                  <a:pt x="361260" y="417411"/>
                  <a:pt x="378334" y="424251"/>
                  <a:pt x="389556" y="432695"/>
                </a:cubicBezTo>
                <a:cubicBezTo>
                  <a:pt x="399469" y="440096"/>
                  <a:pt x="404064" y="448352"/>
                  <a:pt x="406362" y="452467"/>
                </a:cubicBezTo>
                <a:cubicBezTo>
                  <a:pt x="406683" y="453055"/>
                  <a:pt x="406950" y="453563"/>
                  <a:pt x="407217" y="453963"/>
                </a:cubicBezTo>
                <a:cubicBezTo>
                  <a:pt x="409514" y="458147"/>
                  <a:pt x="411359" y="462563"/>
                  <a:pt x="412722" y="467136"/>
                </a:cubicBezTo>
                <a:cubicBezTo>
                  <a:pt x="414514" y="472757"/>
                  <a:pt x="415986" y="478475"/>
                  <a:pt x="417130" y="484263"/>
                </a:cubicBezTo>
                <a:cubicBezTo>
                  <a:pt x="418386" y="490399"/>
                  <a:pt x="419137" y="496628"/>
                  <a:pt x="419375" y="502887"/>
                </a:cubicBezTo>
                <a:lnTo>
                  <a:pt x="419428" y="504223"/>
                </a:lnTo>
                <a:lnTo>
                  <a:pt x="419428" y="503421"/>
                </a:lnTo>
                <a:lnTo>
                  <a:pt x="419428" y="502860"/>
                </a:lnTo>
                <a:cubicBezTo>
                  <a:pt x="419675" y="496601"/>
                  <a:pt x="420435" y="490372"/>
                  <a:pt x="421699" y="484237"/>
                </a:cubicBezTo>
                <a:cubicBezTo>
                  <a:pt x="422902" y="478171"/>
                  <a:pt x="424478" y="472213"/>
                  <a:pt x="426108" y="467136"/>
                </a:cubicBezTo>
                <a:cubicBezTo>
                  <a:pt x="427631" y="462353"/>
                  <a:pt x="429528" y="457437"/>
                  <a:pt x="431612" y="453963"/>
                </a:cubicBezTo>
                <a:lnTo>
                  <a:pt x="432467" y="452440"/>
                </a:lnTo>
                <a:cubicBezTo>
                  <a:pt x="434738" y="448352"/>
                  <a:pt x="439361" y="440096"/>
                  <a:pt x="449247" y="432668"/>
                </a:cubicBezTo>
                <a:cubicBezTo>
                  <a:pt x="460496" y="424278"/>
                  <a:pt x="477543" y="417411"/>
                  <a:pt x="504690" y="414071"/>
                </a:cubicBezTo>
                <a:cubicBezTo>
                  <a:pt x="523590" y="411606"/>
                  <a:pt x="542678" y="410891"/>
                  <a:pt x="561709" y="411934"/>
                </a:cubicBezTo>
                <a:cubicBezTo>
                  <a:pt x="563473" y="402689"/>
                  <a:pt x="565183" y="392936"/>
                  <a:pt x="566652" y="384626"/>
                </a:cubicBezTo>
                <a:lnTo>
                  <a:pt x="567133" y="381794"/>
                </a:lnTo>
                <a:cubicBezTo>
                  <a:pt x="569044" y="370889"/>
                  <a:pt x="579434" y="363598"/>
                  <a:pt x="590339" y="365509"/>
                </a:cubicBezTo>
                <a:cubicBezTo>
                  <a:pt x="601245" y="367420"/>
                  <a:pt x="608536" y="377809"/>
                  <a:pt x="606625" y="388715"/>
                </a:cubicBezTo>
                <a:close/>
                <a:moveTo>
                  <a:pt x="59143" y="298643"/>
                </a:moveTo>
                <a:cubicBezTo>
                  <a:pt x="70194" y="298129"/>
                  <a:pt x="79571" y="306669"/>
                  <a:pt x="80091" y="317721"/>
                </a:cubicBezTo>
                <a:lnTo>
                  <a:pt x="80197" y="320099"/>
                </a:lnTo>
                <a:cubicBezTo>
                  <a:pt x="80518" y="327580"/>
                  <a:pt x="80919" y="336344"/>
                  <a:pt x="81453" y="344547"/>
                </a:cubicBezTo>
                <a:cubicBezTo>
                  <a:pt x="96315" y="346060"/>
                  <a:pt x="111037" y="348722"/>
                  <a:pt x="125487" y="352510"/>
                </a:cubicBezTo>
                <a:cubicBezTo>
                  <a:pt x="148118" y="358281"/>
                  <a:pt x="162039" y="366003"/>
                  <a:pt x="170883" y="374580"/>
                </a:cubicBezTo>
                <a:cubicBezTo>
                  <a:pt x="176746" y="380272"/>
                  <a:pt x="181186" y="387266"/>
                  <a:pt x="183842" y="394994"/>
                </a:cubicBezTo>
                <a:cubicBezTo>
                  <a:pt x="187583" y="403464"/>
                  <a:pt x="189587" y="414526"/>
                  <a:pt x="189988" y="424572"/>
                </a:cubicBezTo>
                <a:cubicBezTo>
                  <a:pt x="190175" y="429702"/>
                  <a:pt x="189988" y="434966"/>
                  <a:pt x="189186" y="439856"/>
                </a:cubicBezTo>
                <a:cubicBezTo>
                  <a:pt x="188438" y="444612"/>
                  <a:pt x="186969" y="449902"/>
                  <a:pt x="184163" y="454444"/>
                </a:cubicBezTo>
                <a:cubicBezTo>
                  <a:pt x="181467" y="458521"/>
                  <a:pt x="177432" y="461527"/>
                  <a:pt x="172754" y="462941"/>
                </a:cubicBezTo>
                <a:cubicBezTo>
                  <a:pt x="169173" y="464144"/>
                  <a:pt x="165272" y="464678"/>
                  <a:pt x="161612" y="464918"/>
                </a:cubicBezTo>
                <a:cubicBezTo>
                  <a:pt x="154210" y="465346"/>
                  <a:pt x="145366" y="464598"/>
                  <a:pt x="136415" y="463262"/>
                </a:cubicBezTo>
                <a:cubicBezTo>
                  <a:pt x="118540" y="460483"/>
                  <a:pt x="97672" y="454738"/>
                  <a:pt x="82495" y="447765"/>
                </a:cubicBezTo>
                <a:cubicBezTo>
                  <a:pt x="71914" y="442902"/>
                  <a:pt x="64620" y="433657"/>
                  <a:pt x="59570" y="424599"/>
                </a:cubicBezTo>
                <a:cubicBezTo>
                  <a:pt x="54440" y="415381"/>
                  <a:pt x="50833" y="404880"/>
                  <a:pt x="48294" y="395341"/>
                </a:cubicBezTo>
                <a:cubicBezTo>
                  <a:pt x="45756" y="385722"/>
                  <a:pt x="44206" y="376584"/>
                  <a:pt x="43325" y="369770"/>
                </a:cubicBezTo>
                <a:cubicBezTo>
                  <a:pt x="42924" y="366350"/>
                  <a:pt x="42657" y="363411"/>
                  <a:pt x="42523" y="361167"/>
                </a:cubicBezTo>
                <a:lnTo>
                  <a:pt x="42496" y="360499"/>
                </a:lnTo>
                <a:cubicBezTo>
                  <a:pt x="41374" y="348502"/>
                  <a:pt x="40679" y="333245"/>
                  <a:pt x="40172" y="322290"/>
                </a:cubicBezTo>
                <a:lnTo>
                  <a:pt x="40038" y="319565"/>
                </a:lnTo>
                <a:cubicBezTo>
                  <a:pt x="39540" y="308513"/>
                  <a:pt x="48091" y="299148"/>
                  <a:pt x="59143" y="298643"/>
                </a:cubicBezTo>
                <a:close/>
                <a:moveTo>
                  <a:pt x="14147" y="474671"/>
                </a:moveTo>
                <a:cubicBezTo>
                  <a:pt x="24115" y="469870"/>
                  <a:pt x="36088" y="474057"/>
                  <a:pt x="40893" y="484023"/>
                </a:cubicBezTo>
                <a:lnTo>
                  <a:pt x="41935" y="486160"/>
                </a:lnTo>
                <a:cubicBezTo>
                  <a:pt x="45195" y="492894"/>
                  <a:pt x="49016" y="500803"/>
                  <a:pt x="52730" y="508124"/>
                </a:cubicBezTo>
                <a:cubicBezTo>
                  <a:pt x="63551" y="504677"/>
                  <a:pt x="77980" y="500990"/>
                  <a:pt x="96336" y="498131"/>
                </a:cubicBezTo>
                <a:cubicBezTo>
                  <a:pt x="119395" y="494524"/>
                  <a:pt x="135266" y="496127"/>
                  <a:pt x="146756" y="500562"/>
                </a:cubicBezTo>
                <a:cubicBezTo>
                  <a:pt x="156989" y="504463"/>
                  <a:pt x="162948" y="510448"/>
                  <a:pt x="165727" y="513227"/>
                </a:cubicBezTo>
                <a:lnTo>
                  <a:pt x="166715" y="514216"/>
                </a:lnTo>
                <a:cubicBezTo>
                  <a:pt x="173448" y="520548"/>
                  <a:pt x="179674" y="529900"/>
                  <a:pt x="183976" y="538985"/>
                </a:cubicBezTo>
                <a:cubicBezTo>
                  <a:pt x="186203" y="543593"/>
                  <a:pt x="187975" y="548407"/>
                  <a:pt x="189266" y="553360"/>
                </a:cubicBezTo>
                <a:cubicBezTo>
                  <a:pt x="190622" y="558380"/>
                  <a:pt x="190994" y="563616"/>
                  <a:pt x="190362" y="568777"/>
                </a:cubicBezTo>
                <a:cubicBezTo>
                  <a:pt x="189496" y="573577"/>
                  <a:pt x="186982" y="577923"/>
                  <a:pt x="183255" y="581068"/>
                </a:cubicBezTo>
                <a:cubicBezTo>
                  <a:pt x="180422" y="583580"/>
                  <a:pt x="177056" y="585610"/>
                  <a:pt x="173742" y="587240"/>
                </a:cubicBezTo>
                <a:cubicBezTo>
                  <a:pt x="166120" y="590835"/>
                  <a:pt x="158152" y="593646"/>
                  <a:pt x="149962" y="595630"/>
                </a:cubicBezTo>
                <a:cubicBezTo>
                  <a:pt x="132434" y="600119"/>
                  <a:pt x="110978" y="603058"/>
                  <a:pt x="94305" y="602631"/>
                </a:cubicBezTo>
                <a:cubicBezTo>
                  <a:pt x="82629" y="602283"/>
                  <a:pt x="72289" y="596672"/>
                  <a:pt x="64112" y="590340"/>
                </a:cubicBezTo>
                <a:cubicBezTo>
                  <a:pt x="55749" y="583900"/>
                  <a:pt x="48294" y="575644"/>
                  <a:pt x="42229" y="567869"/>
                </a:cubicBezTo>
                <a:cubicBezTo>
                  <a:pt x="36110" y="560040"/>
                  <a:pt x="31087" y="552238"/>
                  <a:pt x="27614" y="546306"/>
                </a:cubicBezTo>
                <a:cubicBezTo>
                  <a:pt x="25877" y="543340"/>
                  <a:pt x="24461" y="540749"/>
                  <a:pt x="23472" y="538718"/>
                </a:cubicBezTo>
                <a:lnTo>
                  <a:pt x="23178" y="538103"/>
                </a:lnTo>
                <a:cubicBezTo>
                  <a:pt x="17433" y="527549"/>
                  <a:pt x="10780" y="513788"/>
                  <a:pt x="5997" y="503902"/>
                </a:cubicBezTo>
                <a:lnTo>
                  <a:pt x="4822" y="501471"/>
                </a:lnTo>
                <a:cubicBezTo>
                  <a:pt x="0" y="491503"/>
                  <a:pt x="4176" y="479513"/>
                  <a:pt x="14147" y="474698"/>
                </a:cubicBezTo>
                <a:close/>
              </a:path>
            </a:pathLst>
          </a:custGeom>
          <a:solidFill>
            <a:srgbClr val="FFFFFF"/>
          </a:solidFill>
          <a:ln>
            <a:noFill/>
          </a:ln>
        </p:spPr>
        <p:txBody>
          <a:bodyPr rtlCol="0" anchor="ctr"/>
          <a:lstStyle/>
          <a:p>
            <a:pPr algn="ctr"/>
            <a:endParaRPr/>
          </a:p>
        </p:txBody>
      </p:sp>
      <p:sp>
        <p:nvSpPr>
          <p:cNvPr id="28" name="TextBox 27"/>
          <p:cNvSpPr txBox="1"/>
          <p:nvPr/>
        </p:nvSpPr>
        <p:spPr>
          <a:xfrm>
            <a:off x="7137949" y="4985901"/>
            <a:ext cx="1171796" cy="984885"/>
          </a:xfrm>
          <a:prstGeom prst="rect">
            <a:avLst/>
          </a:prstGeom>
          <a:noFill/>
          <a:ln>
            <a:noFill/>
          </a:ln>
        </p:spPr>
        <p:txBody>
          <a:bodyPr wrap="none" lIns="0" tIns="0" rIns="0" bIns="0" anchor="t">
            <a:spAutoFit/>
          </a:bodyPr>
          <a:lstStyle/>
          <a:p>
            <a:pPr algn="ctr"/>
            <a:r>
              <a:rPr sz="1600" dirty="0">
                <a:solidFill>
                  <a:srgbClr val="484848"/>
                </a:solidFill>
                <a:latin typeface="Roboto"/>
              </a:rPr>
              <a:t>Income from
agriculture </a:t>
            </a:r>
            <a:endParaRPr lang="en-IN" sz="1600" dirty="0">
              <a:solidFill>
                <a:srgbClr val="484848"/>
              </a:solidFill>
              <a:latin typeface="Roboto"/>
            </a:endParaRPr>
          </a:p>
          <a:p>
            <a:pPr algn="ctr"/>
            <a:r>
              <a:rPr sz="1600" dirty="0">
                <a:solidFill>
                  <a:srgbClr val="484848"/>
                </a:solidFill>
                <a:latin typeface="Roboto"/>
              </a:rPr>
              <a:t>up to ₹
5,000.</a:t>
            </a:r>
          </a:p>
        </p:txBody>
      </p:sp>
      <p:sp>
        <p:nvSpPr>
          <p:cNvPr id="29" name="TextBox 28"/>
          <p:cNvSpPr txBox="1"/>
          <p:nvPr/>
        </p:nvSpPr>
        <p:spPr>
          <a:xfrm>
            <a:off x="1960831" y="3985789"/>
            <a:ext cx="1755289" cy="307777"/>
          </a:xfrm>
          <a:prstGeom prst="rect">
            <a:avLst/>
          </a:prstGeom>
          <a:noFill/>
          <a:ln>
            <a:noFill/>
          </a:ln>
        </p:spPr>
        <p:txBody>
          <a:bodyPr wrap="none" lIns="0" tIns="0" rIns="0" bIns="0" anchor="t">
            <a:spAutoFit/>
          </a:bodyPr>
          <a:lstStyle/>
          <a:p>
            <a:pPr algn="ctr"/>
            <a:r>
              <a:rPr sz="2000" b="1" dirty="0">
                <a:solidFill>
                  <a:srgbClr val="E0CB15"/>
                </a:solidFill>
                <a:latin typeface="Roboto"/>
              </a:rPr>
              <a:t>Salary/Pension</a:t>
            </a:r>
          </a:p>
        </p:txBody>
      </p:sp>
      <p:sp>
        <p:nvSpPr>
          <p:cNvPr id="30" name="TextBox 29"/>
          <p:cNvSpPr txBox="1"/>
          <p:nvPr/>
        </p:nvSpPr>
        <p:spPr>
          <a:xfrm>
            <a:off x="3943274" y="3985789"/>
            <a:ext cx="997068" cy="615553"/>
          </a:xfrm>
          <a:prstGeom prst="rect">
            <a:avLst/>
          </a:prstGeom>
          <a:noFill/>
          <a:ln>
            <a:noFill/>
          </a:ln>
        </p:spPr>
        <p:txBody>
          <a:bodyPr wrap="none" lIns="0" tIns="0" rIns="0" bIns="0" anchor="t">
            <a:spAutoFit/>
          </a:bodyPr>
          <a:lstStyle/>
          <a:p>
            <a:pPr algn="ctr"/>
            <a:r>
              <a:rPr sz="2000" b="1" dirty="0">
                <a:solidFill>
                  <a:srgbClr val="DE8431"/>
                </a:solidFill>
                <a:latin typeface="Roboto"/>
              </a:rPr>
              <a:t>House
Property</a:t>
            </a:r>
          </a:p>
        </p:txBody>
      </p:sp>
      <p:sp>
        <p:nvSpPr>
          <p:cNvPr id="31" name="TextBox 30"/>
          <p:cNvSpPr txBox="1"/>
          <p:nvPr/>
        </p:nvSpPr>
        <p:spPr>
          <a:xfrm>
            <a:off x="5252615" y="3985789"/>
            <a:ext cx="1620636" cy="307777"/>
          </a:xfrm>
          <a:prstGeom prst="rect">
            <a:avLst/>
          </a:prstGeom>
          <a:noFill/>
          <a:ln>
            <a:noFill/>
          </a:ln>
        </p:spPr>
        <p:txBody>
          <a:bodyPr wrap="none" lIns="0" tIns="0" rIns="0" bIns="0" anchor="t">
            <a:spAutoFit/>
          </a:bodyPr>
          <a:lstStyle/>
          <a:p>
            <a:pPr algn="ctr"/>
            <a:r>
              <a:rPr sz="2000" b="1">
                <a:solidFill>
                  <a:srgbClr val="E55753"/>
                </a:solidFill>
                <a:latin typeface="Roboto"/>
              </a:rPr>
              <a:t>Other sources</a:t>
            </a:r>
          </a:p>
        </p:txBody>
      </p:sp>
      <p:sp>
        <p:nvSpPr>
          <p:cNvPr id="32" name="TextBox 31"/>
          <p:cNvSpPr txBox="1"/>
          <p:nvPr/>
        </p:nvSpPr>
        <p:spPr>
          <a:xfrm>
            <a:off x="6961465" y="3985789"/>
            <a:ext cx="1356140" cy="615553"/>
          </a:xfrm>
          <a:prstGeom prst="rect">
            <a:avLst/>
          </a:prstGeom>
          <a:noFill/>
          <a:ln>
            <a:noFill/>
          </a:ln>
        </p:spPr>
        <p:txBody>
          <a:bodyPr wrap="none" lIns="0" tIns="0" rIns="0" bIns="0" anchor="t">
            <a:spAutoFit/>
          </a:bodyPr>
          <a:lstStyle/>
          <a:p>
            <a:pPr algn="ctr"/>
            <a:r>
              <a:rPr sz="2000" b="1">
                <a:solidFill>
                  <a:srgbClr val="3CC583"/>
                </a:solidFill>
                <a:latin typeface="Roboto"/>
              </a:rPr>
              <a:t>Agricultural
Income</a:t>
            </a:r>
          </a:p>
        </p:txBody>
      </p:sp>
      <p:sp>
        <p:nvSpPr>
          <p:cNvPr id="33" name="TextBox 32"/>
          <p:cNvSpPr txBox="1"/>
          <p:nvPr/>
        </p:nvSpPr>
        <p:spPr>
          <a:xfrm>
            <a:off x="8584733" y="3985789"/>
            <a:ext cx="1397819" cy="307777"/>
          </a:xfrm>
          <a:prstGeom prst="rect">
            <a:avLst/>
          </a:prstGeom>
          <a:noFill/>
          <a:ln>
            <a:noFill/>
          </a:ln>
        </p:spPr>
        <p:txBody>
          <a:bodyPr wrap="none" lIns="0" tIns="0" rIns="0" bIns="0" anchor="t">
            <a:spAutoFit/>
          </a:bodyPr>
          <a:lstStyle/>
          <a:p>
            <a:pPr algn="ctr"/>
            <a:r>
              <a:rPr sz="2000" b="1">
                <a:solidFill>
                  <a:srgbClr val="4E88E7"/>
                </a:solidFill>
                <a:latin typeface="Roboto"/>
              </a:rPr>
              <a:t>Capital Gain</a:t>
            </a:r>
          </a:p>
        </p:txBody>
      </p:sp>
      <p:sp>
        <p:nvSpPr>
          <p:cNvPr id="34" name="TextBox 33"/>
          <p:cNvSpPr txBox="1"/>
          <p:nvPr/>
        </p:nvSpPr>
        <p:spPr>
          <a:xfrm>
            <a:off x="1980731" y="4420267"/>
            <a:ext cx="1769715" cy="492443"/>
          </a:xfrm>
          <a:prstGeom prst="rect">
            <a:avLst/>
          </a:prstGeom>
          <a:noFill/>
          <a:ln>
            <a:noFill/>
          </a:ln>
        </p:spPr>
        <p:txBody>
          <a:bodyPr wrap="none" lIns="0" tIns="0" rIns="0" bIns="0" anchor="t">
            <a:spAutoFit/>
          </a:bodyPr>
          <a:lstStyle/>
          <a:p>
            <a:pPr algn="ctr"/>
            <a:r>
              <a:rPr sz="1600" dirty="0">
                <a:solidFill>
                  <a:srgbClr val="484848"/>
                </a:solidFill>
                <a:latin typeface="Roboto"/>
              </a:rPr>
              <a:t>Income from salary
or pension.</a:t>
            </a:r>
          </a:p>
        </p:txBody>
      </p:sp>
      <p:sp>
        <p:nvSpPr>
          <p:cNvPr id="35" name="TextBox 34"/>
          <p:cNvSpPr txBox="1"/>
          <p:nvPr/>
        </p:nvSpPr>
        <p:spPr>
          <a:xfrm>
            <a:off x="5461486" y="4420266"/>
            <a:ext cx="1343316" cy="1231106"/>
          </a:xfrm>
          <a:prstGeom prst="rect">
            <a:avLst/>
          </a:prstGeom>
          <a:noFill/>
          <a:ln>
            <a:noFill/>
          </a:ln>
        </p:spPr>
        <p:txBody>
          <a:bodyPr wrap="none" lIns="0" tIns="0" rIns="0" bIns="0" anchor="t">
            <a:spAutoFit/>
          </a:bodyPr>
          <a:lstStyle/>
          <a:p>
            <a:pPr algn="ctr"/>
            <a:r>
              <a:rPr sz="1600" dirty="0">
                <a:solidFill>
                  <a:srgbClr val="484848"/>
                </a:solidFill>
                <a:latin typeface="Roboto"/>
              </a:rPr>
              <a:t>Income from
interest, family
pension, </a:t>
            </a:r>
            <a:endParaRPr lang="en-IN" sz="1600" dirty="0">
              <a:solidFill>
                <a:srgbClr val="484848"/>
              </a:solidFill>
              <a:latin typeface="Roboto"/>
            </a:endParaRPr>
          </a:p>
          <a:p>
            <a:pPr algn="ctr"/>
            <a:r>
              <a:rPr sz="1600" dirty="0">
                <a:solidFill>
                  <a:srgbClr val="484848"/>
                </a:solidFill>
                <a:latin typeface="Roboto"/>
              </a:rPr>
              <a:t>dividends
etc.</a:t>
            </a:r>
          </a:p>
        </p:txBody>
      </p:sp>
      <p:sp>
        <p:nvSpPr>
          <p:cNvPr id="36" name="TextBox 35"/>
          <p:cNvSpPr txBox="1"/>
          <p:nvPr/>
        </p:nvSpPr>
        <p:spPr>
          <a:xfrm>
            <a:off x="8458542" y="4420266"/>
            <a:ext cx="1833835" cy="738664"/>
          </a:xfrm>
          <a:prstGeom prst="rect">
            <a:avLst/>
          </a:prstGeom>
          <a:noFill/>
          <a:ln>
            <a:noFill/>
          </a:ln>
        </p:spPr>
        <p:txBody>
          <a:bodyPr wrap="none" lIns="0" tIns="0" rIns="0" bIns="0" anchor="t">
            <a:spAutoFit/>
          </a:bodyPr>
          <a:lstStyle/>
          <a:p>
            <a:pPr algn="ctr"/>
            <a:r>
              <a:rPr sz="1600" dirty="0">
                <a:solidFill>
                  <a:srgbClr val="484848"/>
                </a:solidFill>
                <a:latin typeface="Roboto"/>
              </a:rPr>
              <a:t>Capital Gain income
u/s 112A up to </a:t>
            </a:r>
            <a:endParaRPr lang="en-IN" sz="1600" dirty="0">
              <a:solidFill>
                <a:srgbClr val="484848"/>
              </a:solidFill>
              <a:latin typeface="Roboto"/>
            </a:endParaRPr>
          </a:p>
          <a:p>
            <a:pPr algn="ctr"/>
            <a:r>
              <a:rPr sz="1600" dirty="0">
                <a:solidFill>
                  <a:srgbClr val="484848"/>
                </a:solidFill>
                <a:latin typeface="Roboto"/>
              </a:rPr>
              <a:t>Rs.125000</a:t>
            </a:r>
          </a:p>
        </p:txBody>
      </p:sp>
      <p:sp>
        <p:nvSpPr>
          <p:cNvPr id="37" name="TextBox 36"/>
          <p:cNvSpPr txBox="1"/>
          <p:nvPr/>
        </p:nvSpPr>
        <p:spPr>
          <a:xfrm>
            <a:off x="3698464" y="4985900"/>
            <a:ext cx="1577356" cy="738664"/>
          </a:xfrm>
          <a:prstGeom prst="rect">
            <a:avLst/>
          </a:prstGeom>
          <a:noFill/>
          <a:ln>
            <a:noFill/>
          </a:ln>
        </p:spPr>
        <p:txBody>
          <a:bodyPr wrap="none" lIns="0" tIns="0" rIns="0" bIns="0" anchor="t">
            <a:spAutoFit/>
          </a:bodyPr>
          <a:lstStyle/>
          <a:p>
            <a:pPr algn="ctr"/>
            <a:r>
              <a:rPr sz="1600" dirty="0">
                <a:solidFill>
                  <a:srgbClr val="484848"/>
                </a:solidFill>
                <a:latin typeface="Roboto"/>
              </a:rPr>
              <a:t>Income from one
house property is
included.</a:t>
            </a:r>
          </a:p>
        </p:txBody>
      </p:sp>
      <p:sp>
        <p:nvSpPr>
          <p:cNvPr id="39" name="TextBox 38">
            <a:extLst>
              <a:ext uri="{FF2B5EF4-FFF2-40B4-BE49-F238E27FC236}">
                <a16:creationId xmlns:a16="http://schemas.microsoft.com/office/drawing/2014/main" id="{1C3FF862-6EE3-FA45-A86A-C37DC648C00B}"/>
              </a:ext>
            </a:extLst>
          </p:cNvPr>
          <p:cNvSpPr txBox="1"/>
          <p:nvPr/>
        </p:nvSpPr>
        <p:spPr>
          <a:xfrm>
            <a:off x="320746" y="5970786"/>
            <a:ext cx="1984070" cy="369332"/>
          </a:xfrm>
          <a:prstGeom prst="rect">
            <a:avLst/>
          </a:prstGeom>
          <a:noFill/>
        </p:spPr>
        <p:txBody>
          <a:bodyPr wrap="square">
            <a:spAutoFit/>
          </a:bodyPr>
          <a:lstStyle/>
          <a:p>
            <a:pPr algn="l">
              <a:spcBef>
                <a:spcPts val="2400"/>
              </a:spcBef>
              <a:spcAft>
                <a:spcPts val="1800"/>
              </a:spcAft>
              <a:buNone/>
            </a:pPr>
            <a:r>
              <a:rPr lang="en-US" b="1" i="0" dirty="0">
                <a:effectLst/>
                <a:latin typeface="Roboto" panose="02000000000000000000" pitchFamily="2" charset="0"/>
              </a:rPr>
              <a:t>For AY 2025-26</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3C7A7-DAAF-179F-A106-0D53DD366819}"/>
            </a:ext>
          </a:extLst>
        </p:cNvPr>
        <p:cNvGrpSpPr/>
        <p:nvPr/>
      </p:nvGrpSpPr>
      <p:grpSpPr>
        <a:xfrm>
          <a:off x="0" y="0"/>
          <a:ext cx="0" cy="0"/>
          <a:chOff x="0" y="0"/>
          <a:chExt cx="0" cy="0"/>
        </a:xfrm>
      </p:grpSpPr>
      <p:sp>
        <p:nvSpPr>
          <p:cNvPr id="27" name="TextBox 26">
            <a:extLst>
              <a:ext uri="{FF2B5EF4-FFF2-40B4-BE49-F238E27FC236}">
                <a16:creationId xmlns:a16="http://schemas.microsoft.com/office/drawing/2014/main" id="{DF3FF2C7-471C-2315-3139-90AA95E82E48}"/>
              </a:ext>
            </a:extLst>
          </p:cNvPr>
          <p:cNvSpPr txBox="1"/>
          <p:nvPr/>
        </p:nvSpPr>
        <p:spPr>
          <a:xfrm>
            <a:off x="3411737" y="214442"/>
            <a:ext cx="5204950" cy="1200329"/>
          </a:xfrm>
          <a:prstGeom prst="rect">
            <a:avLst/>
          </a:prstGeom>
          <a:noFill/>
          <a:ln>
            <a:noFill/>
          </a:ln>
        </p:spPr>
        <p:txBody>
          <a:bodyPr wrap="none" lIns="0" tIns="0" rIns="0" bIns="0" anchor="t">
            <a:spAutoFit/>
          </a:bodyPr>
          <a:lstStyle/>
          <a:p>
            <a:pPr algn="ctr"/>
            <a:r>
              <a:rPr sz="6000" b="1" dirty="0">
                <a:solidFill>
                  <a:srgbClr val="484848"/>
                </a:solidFill>
                <a:latin typeface="Roboto"/>
              </a:rPr>
              <a:t>ITR-</a:t>
            </a:r>
            <a:r>
              <a:rPr lang="en-IN" sz="6000" b="1" dirty="0">
                <a:solidFill>
                  <a:srgbClr val="484848"/>
                </a:solidFill>
                <a:latin typeface="Roboto"/>
              </a:rPr>
              <a:t>2</a:t>
            </a:r>
          </a:p>
          <a:p>
            <a:pPr algn="ctr"/>
            <a:r>
              <a:rPr lang="en-US" b="1" dirty="0"/>
              <a:t>Applicable for Individual (Not eligible for ITR 1) and HUF</a:t>
            </a:r>
            <a:endParaRPr sz="1700" b="1" dirty="0">
              <a:solidFill>
                <a:srgbClr val="484848"/>
              </a:solidFill>
              <a:latin typeface="Roboto"/>
            </a:endParaRPr>
          </a:p>
        </p:txBody>
      </p:sp>
      <p:sp>
        <p:nvSpPr>
          <p:cNvPr id="39" name="TextBox 38">
            <a:extLst>
              <a:ext uri="{FF2B5EF4-FFF2-40B4-BE49-F238E27FC236}">
                <a16:creationId xmlns:a16="http://schemas.microsoft.com/office/drawing/2014/main" id="{72AE3FEB-195D-30B2-CD22-976A2879AEC3}"/>
              </a:ext>
            </a:extLst>
          </p:cNvPr>
          <p:cNvSpPr txBox="1"/>
          <p:nvPr/>
        </p:nvSpPr>
        <p:spPr>
          <a:xfrm>
            <a:off x="320746" y="5970786"/>
            <a:ext cx="1984070" cy="369332"/>
          </a:xfrm>
          <a:prstGeom prst="rect">
            <a:avLst/>
          </a:prstGeom>
          <a:noFill/>
        </p:spPr>
        <p:txBody>
          <a:bodyPr wrap="square">
            <a:spAutoFit/>
          </a:bodyPr>
          <a:lstStyle/>
          <a:p>
            <a:pPr algn="l">
              <a:spcBef>
                <a:spcPts val="2400"/>
              </a:spcBef>
              <a:spcAft>
                <a:spcPts val="1800"/>
              </a:spcAft>
              <a:buNone/>
            </a:pPr>
            <a:r>
              <a:rPr lang="en-US" b="1" i="0" dirty="0">
                <a:effectLst/>
                <a:latin typeface="Roboto" panose="02000000000000000000" pitchFamily="2" charset="0"/>
              </a:rPr>
              <a:t>For AY 2025-26</a:t>
            </a:r>
          </a:p>
        </p:txBody>
      </p:sp>
      <p:grpSp>
        <p:nvGrpSpPr>
          <p:cNvPr id="38" name="Group 37">
            <a:extLst>
              <a:ext uri="{FF2B5EF4-FFF2-40B4-BE49-F238E27FC236}">
                <a16:creationId xmlns:a16="http://schemas.microsoft.com/office/drawing/2014/main" id="{1CF07D61-6573-97D2-5FFC-DE18BF5AEFD5}"/>
              </a:ext>
            </a:extLst>
          </p:cNvPr>
          <p:cNvGrpSpPr/>
          <p:nvPr/>
        </p:nvGrpSpPr>
        <p:grpSpPr>
          <a:xfrm>
            <a:off x="3857298" y="1704979"/>
            <a:ext cx="4313827" cy="3920285"/>
            <a:chOff x="2964051" y="2107291"/>
            <a:chExt cx="3328226" cy="3411161"/>
          </a:xfrm>
        </p:grpSpPr>
        <p:grpSp>
          <p:nvGrpSpPr>
            <p:cNvPr id="40" name="Group 39">
              <a:extLst>
                <a:ext uri="{FF2B5EF4-FFF2-40B4-BE49-F238E27FC236}">
                  <a16:creationId xmlns:a16="http://schemas.microsoft.com/office/drawing/2014/main" id="{5B1023AB-47EF-0624-948E-AE75B90850FA}"/>
                </a:ext>
              </a:extLst>
            </p:cNvPr>
            <p:cNvGrpSpPr/>
            <p:nvPr/>
          </p:nvGrpSpPr>
          <p:grpSpPr>
            <a:xfrm>
              <a:off x="3078351" y="2237090"/>
              <a:ext cx="1371600" cy="1371600"/>
              <a:chOff x="571500" y="1266825"/>
              <a:chExt cx="1371600" cy="1371600"/>
            </a:xfrm>
          </p:grpSpPr>
          <p:sp>
            <p:nvSpPr>
              <p:cNvPr id="52" name="Rounded Rectangle 1">
                <a:extLst>
                  <a:ext uri="{FF2B5EF4-FFF2-40B4-BE49-F238E27FC236}">
                    <a16:creationId xmlns:a16="http://schemas.microsoft.com/office/drawing/2014/main" id="{10E6A6A7-33CC-83F3-F223-92556BA7B159}"/>
                  </a:ext>
                </a:extLst>
              </p:cNvPr>
              <p:cNvSpPr/>
              <p:nvPr/>
            </p:nvSpPr>
            <p:spPr>
              <a:xfrm>
                <a:off x="571500" y="1266825"/>
                <a:ext cx="1371600" cy="1371600"/>
              </a:xfrm>
              <a:custGeom>
                <a:avLst/>
                <a:gdLst/>
                <a:ahLst/>
                <a:cxnLst/>
                <a:rect l="0" t="0" r="0" b="0"/>
                <a:pathLst>
                  <a:path w="1371600" h="1371600">
                    <a:moveTo>
                      <a:pt x="1371600" y="685800"/>
                    </a:moveTo>
                    <a:cubicBezTo>
                      <a:pt x="1371600" y="1064556"/>
                      <a:pt x="1064556" y="1371600"/>
                      <a:pt x="685800" y="1371600"/>
                    </a:cubicBezTo>
                    <a:cubicBezTo>
                      <a:pt x="307043" y="1371600"/>
                      <a:pt x="0" y="1064556"/>
                      <a:pt x="0" y="685800"/>
                    </a:cubicBezTo>
                    <a:cubicBezTo>
                      <a:pt x="0" y="307043"/>
                      <a:pt x="307043" y="0"/>
                      <a:pt x="685800" y="0"/>
                    </a:cubicBezTo>
                    <a:cubicBezTo>
                      <a:pt x="1064556" y="0"/>
                      <a:pt x="1371600" y="307043"/>
                      <a:pt x="1371600" y="685800"/>
                    </a:cubicBezTo>
                    <a:close/>
                  </a:path>
                </a:pathLst>
              </a:custGeom>
              <a:solidFill>
                <a:srgbClr val="E0CB15"/>
              </a:solidFill>
              <a:ln>
                <a:noFill/>
              </a:ln>
            </p:spPr>
            <p:txBody>
              <a:bodyPr rtlCol="0" anchor="ctr"/>
              <a:lstStyle/>
              <a:p>
                <a:pPr algn="ctr"/>
                <a:endParaRPr/>
              </a:p>
            </p:txBody>
          </p:sp>
          <p:sp>
            <p:nvSpPr>
              <p:cNvPr id="53" name="Rounded Rectangle 2">
                <a:extLst>
                  <a:ext uri="{FF2B5EF4-FFF2-40B4-BE49-F238E27FC236}">
                    <a16:creationId xmlns:a16="http://schemas.microsoft.com/office/drawing/2014/main" id="{9AA8397B-A5CA-E00C-29AD-0929DC08539B}"/>
                  </a:ext>
                </a:extLst>
              </p:cNvPr>
              <p:cNvSpPr/>
              <p:nvPr/>
            </p:nvSpPr>
            <p:spPr>
              <a:xfrm>
                <a:off x="571500" y="1266825"/>
                <a:ext cx="1371600" cy="1371600"/>
              </a:xfrm>
              <a:custGeom>
                <a:avLst/>
                <a:gdLst/>
                <a:ahLst/>
                <a:cxnLst/>
                <a:rect l="0" t="0" r="0" b="0"/>
                <a:pathLst>
                  <a:path w="1371600" h="1371600">
                    <a:moveTo>
                      <a:pt x="1371600" y="685800"/>
                    </a:moveTo>
                    <a:cubicBezTo>
                      <a:pt x="1371600" y="1064556"/>
                      <a:pt x="1064556" y="1371600"/>
                      <a:pt x="685800" y="1371600"/>
                    </a:cubicBezTo>
                    <a:cubicBezTo>
                      <a:pt x="307043" y="1371600"/>
                      <a:pt x="0" y="1064556"/>
                      <a:pt x="0" y="685800"/>
                    </a:cubicBezTo>
                    <a:cubicBezTo>
                      <a:pt x="0" y="307043"/>
                      <a:pt x="307043" y="0"/>
                      <a:pt x="685800" y="0"/>
                    </a:cubicBezTo>
                    <a:cubicBezTo>
                      <a:pt x="1064556" y="0"/>
                      <a:pt x="1371600" y="307043"/>
                      <a:pt x="1371600" y="685800"/>
                    </a:cubicBezTo>
                    <a:close/>
                  </a:path>
                </a:pathLst>
              </a:custGeom>
              <a:noFill/>
              <a:ln w="14287">
                <a:solidFill>
                  <a:srgbClr val="FFFFFF"/>
                </a:solidFill>
              </a:ln>
            </p:spPr>
            <p:txBody>
              <a:bodyPr rtlCol="0" anchor="ctr"/>
              <a:lstStyle/>
              <a:p>
                <a:pPr algn="ctr"/>
                <a:endParaRPr/>
              </a:p>
            </p:txBody>
          </p:sp>
        </p:grpSp>
        <p:sp>
          <p:nvSpPr>
            <p:cNvPr id="41" name="Rounded Rectangle 4">
              <a:extLst>
                <a:ext uri="{FF2B5EF4-FFF2-40B4-BE49-F238E27FC236}">
                  <a16:creationId xmlns:a16="http://schemas.microsoft.com/office/drawing/2014/main" id="{512C42B8-B129-BF94-F0F2-3CBD86DFD32C}"/>
                </a:ext>
              </a:extLst>
            </p:cNvPr>
            <p:cNvSpPr/>
            <p:nvPr/>
          </p:nvSpPr>
          <p:spPr>
            <a:xfrm>
              <a:off x="2964051" y="2107291"/>
              <a:ext cx="1615698" cy="1968123"/>
            </a:xfrm>
            <a:custGeom>
              <a:avLst/>
              <a:gdLst/>
              <a:ahLst/>
              <a:cxnLst/>
              <a:rect l="0" t="0" r="0" b="0"/>
              <a:pathLst>
                <a:path w="1615698" h="1968123">
                  <a:moveTo>
                    <a:pt x="0" y="815598"/>
                  </a:moveTo>
                  <a:cubicBezTo>
                    <a:pt x="0" y="657353"/>
                    <a:pt x="46924" y="502662"/>
                    <a:pt x="134841" y="371086"/>
                  </a:cubicBezTo>
                  <a:cubicBezTo>
                    <a:pt x="222757" y="239510"/>
                    <a:pt x="347715" y="136959"/>
                    <a:pt x="493915" y="76402"/>
                  </a:cubicBezTo>
                  <a:cubicBezTo>
                    <a:pt x="640114" y="15844"/>
                    <a:pt x="800987" y="0"/>
                    <a:pt x="956191" y="30872"/>
                  </a:cubicBezTo>
                  <a:cubicBezTo>
                    <a:pt x="1111396" y="61743"/>
                    <a:pt x="1253960" y="137946"/>
                    <a:pt x="1365856" y="249842"/>
                  </a:cubicBezTo>
                  <a:cubicBezTo>
                    <a:pt x="1477752" y="361738"/>
                    <a:pt x="1553954" y="504303"/>
                    <a:pt x="1584826" y="659507"/>
                  </a:cubicBezTo>
                  <a:cubicBezTo>
                    <a:pt x="1615698" y="814711"/>
                    <a:pt x="1599853" y="975584"/>
                    <a:pt x="1539296" y="1121784"/>
                  </a:cubicBezTo>
                  <a:cubicBezTo>
                    <a:pt x="1478738" y="1267983"/>
                    <a:pt x="1376187" y="1392940"/>
                    <a:pt x="1244611" y="1480857"/>
                  </a:cubicBezTo>
                  <a:cubicBezTo>
                    <a:pt x="1113035" y="1568773"/>
                    <a:pt x="963107" y="1615698"/>
                    <a:pt x="804862" y="1615698"/>
                  </a:cubicBezTo>
                  <a:lnTo>
                    <a:pt x="804863" y="1968123"/>
                  </a:lnTo>
                  <a:moveTo>
                    <a:pt x="664887" y="1828649"/>
                  </a:moveTo>
                  <a:lnTo>
                    <a:pt x="804863" y="1968123"/>
                  </a:lnTo>
                  <a:moveTo>
                    <a:pt x="944839" y="1828649"/>
                  </a:moveTo>
                  <a:lnTo>
                    <a:pt x="804863" y="1968123"/>
                  </a:lnTo>
                </a:path>
              </a:pathLst>
            </a:custGeom>
            <a:noFill/>
            <a:ln w="14287">
              <a:solidFill>
                <a:srgbClr val="484848"/>
              </a:solidFill>
            </a:ln>
          </p:spPr>
          <p:txBody>
            <a:bodyPr rtlCol="0" anchor="ctr"/>
            <a:lstStyle/>
            <a:p>
              <a:pPr algn="ctr"/>
              <a:endParaRPr/>
            </a:p>
          </p:txBody>
        </p:sp>
        <p:grpSp>
          <p:nvGrpSpPr>
            <p:cNvPr id="42" name="Group 41">
              <a:extLst>
                <a:ext uri="{FF2B5EF4-FFF2-40B4-BE49-F238E27FC236}">
                  <a16:creationId xmlns:a16="http://schemas.microsoft.com/office/drawing/2014/main" id="{7C69A74A-45B7-51D8-9CC6-3804D70E9EC0}"/>
                </a:ext>
              </a:extLst>
            </p:cNvPr>
            <p:cNvGrpSpPr/>
            <p:nvPr/>
          </p:nvGrpSpPr>
          <p:grpSpPr>
            <a:xfrm>
              <a:off x="4678551" y="2237090"/>
              <a:ext cx="1371600" cy="1371600"/>
              <a:chOff x="2171700" y="1266825"/>
              <a:chExt cx="1371600" cy="1371600"/>
            </a:xfrm>
          </p:grpSpPr>
          <p:sp>
            <p:nvSpPr>
              <p:cNvPr id="50" name="Rounded Rectangle 5">
                <a:extLst>
                  <a:ext uri="{FF2B5EF4-FFF2-40B4-BE49-F238E27FC236}">
                    <a16:creationId xmlns:a16="http://schemas.microsoft.com/office/drawing/2014/main" id="{FCD14B14-9CA0-1EEF-257A-0A88DBF4F80D}"/>
                  </a:ext>
                </a:extLst>
              </p:cNvPr>
              <p:cNvSpPr/>
              <p:nvPr/>
            </p:nvSpPr>
            <p:spPr>
              <a:xfrm>
                <a:off x="2171700" y="1266825"/>
                <a:ext cx="1371600" cy="1371600"/>
              </a:xfrm>
              <a:custGeom>
                <a:avLst/>
                <a:gdLst/>
                <a:ahLst/>
                <a:cxnLst/>
                <a:rect l="0" t="0" r="0" b="0"/>
                <a:pathLst>
                  <a:path w="1371600" h="1371600">
                    <a:moveTo>
                      <a:pt x="1371600" y="685800"/>
                    </a:moveTo>
                    <a:cubicBezTo>
                      <a:pt x="1371600" y="1064556"/>
                      <a:pt x="1064556" y="1371600"/>
                      <a:pt x="685800" y="1371600"/>
                    </a:cubicBezTo>
                    <a:cubicBezTo>
                      <a:pt x="307043" y="1371600"/>
                      <a:pt x="0" y="1064556"/>
                      <a:pt x="0" y="685800"/>
                    </a:cubicBezTo>
                    <a:cubicBezTo>
                      <a:pt x="0" y="307043"/>
                      <a:pt x="307043" y="0"/>
                      <a:pt x="685800" y="0"/>
                    </a:cubicBezTo>
                    <a:cubicBezTo>
                      <a:pt x="1064556" y="0"/>
                      <a:pt x="1371600" y="307043"/>
                      <a:pt x="1371600" y="685800"/>
                    </a:cubicBezTo>
                    <a:close/>
                  </a:path>
                </a:pathLst>
              </a:custGeom>
              <a:solidFill>
                <a:srgbClr val="DE8431"/>
              </a:solidFill>
              <a:ln>
                <a:noFill/>
              </a:ln>
            </p:spPr>
            <p:txBody>
              <a:bodyPr rtlCol="0" anchor="ctr"/>
              <a:lstStyle/>
              <a:p>
                <a:pPr algn="ctr"/>
                <a:endParaRPr/>
              </a:p>
            </p:txBody>
          </p:sp>
          <p:sp>
            <p:nvSpPr>
              <p:cNvPr id="51" name="Rounded Rectangle 6">
                <a:extLst>
                  <a:ext uri="{FF2B5EF4-FFF2-40B4-BE49-F238E27FC236}">
                    <a16:creationId xmlns:a16="http://schemas.microsoft.com/office/drawing/2014/main" id="{9D5927E8-29EA-F99F-1F08-002801C68C14}"/>
                  </a:ext>
                </a:extLst>
              </p:cNvPr>
              <p:cNvSpPr/>
              <p:nvPr/>
            </p:nvSpPr>
            <p:spPr>
              <a:xfrm>
                <a:off x="2171700" y="1266825"/>
                <a:ext cx="1371600" cy="1371600"/>
              </a:xfrm>
              <a:custGeom>
                <a:avLst/>
                <a:gdLst/>
                <a:ahLst/>
                <a:cxnLst/>
                <a:rect l="0" t="0" r="0" b="0"/>
                <a:pathLst>
                  <a:path w="1371600" h="1371600">
                    <a:moveTo>
                      <a:pt x="1371600" y="685800"/>
                    </a:moveTo>
                    <a:cubicBezTo>
                      <a:pt x="1371600" y="1064556"/>
                      <a:pt x="1064556" y="1371600"/>
                      <a:pt x="685800" y="1371600"/>
                    </a:cubicBezTo>
                    <a:cubicBezTo>
                      <a:pt x="307043" y="1371600"/>
                      <a:pt x="0" y="1064556"/>
                      <a:pt x="0" y="685800"/>
                    </a:cubicBezTo>
                    <a:cubicBezTo>
                      <a:pt x="0" y="307043"/>
                      <a:pt x="307043" y="0"/>
                      <a:pt x="685800" y="0"/>
                    </a:cubicBezTo>
                    <a:cubicBezTo>
                      <a:pt x="1064556" y="0"/>
                      <a:pt x="1371600" y="307043"/>
                      <a:pt x="1371600" y="685800"/>
                    </a:cubicBezTo>
                    <a:close/>
                  </a:path>
                </a:pathLst>
              </a:custGeom>
              <a:noFill/>
              <a:ln w="14287">
                <a:solidFill>
                  <a:srgbClr val="FFFFFF"/>
                </a:solidFill>
              </a:ln>
            </p:spPr>
            <p:txBody>
              <a:bodyPr rtlCol="0" anchor="ctr"/>
              <a:lstStyle/>
              <a:p>
                <a:pPr algn="ctr"/>
                <a:endParaRPr/>
              </a:p>
            </p:txBody>
          </p:sp>
        </p:grpSp>
        <p:sp>
          <p:nvSpPr>
            <p:cNvPr id="43" name="Rounded Rectangle 8">
              <a:extLst>
                <a:ext uri="{FF2B5EF4-FFF2-40B4-BE49-F238E27FC236}">
                  <a16:creationId xmlns:a16="http://schemas.microsoft.com/office/drawing/2014/main" id="{89933CE1-5E61-420A-1B3F-BD4B73D36CAA}"/>
                </a:ext>
              </a:extLst>
            </p:cNvPr>
            <p:cNvSpPr/>
            <p:nvPr/>
          </p:nvSpPr>
          <p:spPr>
            <a:xfrm>
              <a:off x="4564251" y="2107291"/>
              <a:ext cx="1615698" cy="1968123"/>
            </a:xfrm>
            <a:custGeom>
              <a:avLst/>
              <a:gdLst/>
              <a:ahLst/>
              <a:cxnLst/>
              <a:rect l="0" t="0" r="0" b="0"/>
              <a:pathLst>
                <a:path w="1615698" h="1968123">
                  <a:moveTo>
                    <a:pt x="0" y="815598"/>
                  </a:moveTo>
                  <a:cubicBezTo>
                    <a:pt x="0" y="657353"/>
                    <a:pt x="46924" y="502662"/>
                    <a:pt x="134841" y="371086"/>
                  </a:cubicBezTo>
                  <a:cubicBezTo>
                    <a:pt x="222757" y="239510"/>
                    <a:pt x="347715" y="136959"/>
                    <a:pt x="493915" y="76402"/>
                  </a:cubicBezTo>
                  <a:cubicBezTo>
                    <a:pt x="640114" y="15844"/>
                    <a:pt x="800987" y="0"/>
                    <a:pt x="956191" y="30872"/>
                  </a:cubicBezTo>
                  <a:cubicBezTo>
                    <a:pt x="1111396" y="61743"/>
                    <a:pt x="1253960" y="137946"/>
                    <a:pt x="1365856" y="249842"/>
                  </a:cubicBezTo>
                  <a:cubicBezTo>
                    <a:pt x="1477752" y="361738"/>
                    <a:pt x="1553954" y="504303"/>
                    <a:pt x="1584826" y="659507"/>
                  </a:cubicBezTo>
                  <a:cubicBezTo>
                    <a:pt x="1615698" y="814711"/>
                    <a:pt x="1599853" y="975584"/>
                    <a:pt x="1539296" y="1121784"/>
                  </a:cubicBezTo>
                  <a:cubicBezTo>
                    <a:pt x="1478738" y="1267983"/>
                    <a:pt x="1376187" y="1392940"/>
                    <a:pt x="1244611" y="1480857"/>
                  </a:cubicBezTo>
                  <a:cubicBezTo>
                    <a:pt x="1113035" y="1568773"/>
                    <a:pt x="963107" y="1615698"/>
                    <a:pt x="804862" y="1615698"/>
                  </a:cubicBezTo>
                  <a:lnTo>
                    <a:pt x="804863" y="1968123"/>
                  </a:lnTo>
                  <a:moveTo>
                    <a:pt x="664887" y="1828649"/>
                  </a:moveTo>
                  <a:lnTo>
                    <a:pt x="804863" y="1968123"/>
                  </a:lnTo>
                  <a:moveTo>
                    <a:pt x="944839" y="1828649"/>
                  </a:moveTo>
                  <a:lnTo>
                    <a:pt x="804863" y="1968123"/>
                  </a:lnTo>
                </a:path>
              </a:pathLst>
            </a:custGeom>
            <a:noFill/>
            <a:ln w="14287">
              <a:solidFill>
                <a:srgbClr val="484848"/>
              </a:solidFill>
            </a:ln>
          </p:spPr>
          <p:txBody>
            <a:bodyPr rtlCol="0" anchor="ctr"/>
            <a:lstStyle/>
            <a:p>
              <a:pPr algn="ctr"/>
              <a:endParaRPr/>
            </a:p>
          </p:txBody>
        </p:sp>
        <p:sp>
          <p:nvSpPr>
            <p:cNvPr id="44" name="Rounded Rectangle 9">
              <a:extLst>
                <a:ext uri="{FF2B5EF4-FFF2-40B4-BE49-F238E27FC236}">
                  <a16:creationId xmlns:a16="http://schemas.microsoft.com/office/drawing/2014/main" id="{EDE05F86-739B-84A2-298E-39DACB3F2F96}"/>
                </a:ext>
              </a:extLst>
            </p:cNvPr>
            <p:cNvSpPr/>
            <p:nvPr/>
          </p:nvSpPr>
          <p:spPr>
            <a:xfrm>
              <a:off x="3511547" y="2570635"/>
              <a:ext cx="505206" cy="685629"/>
            </a:xfrm>
            <a:custGeom>
              <a:avLst/>
              <a:gdLst/>
              <a:ahLst/>
              <a:cxnLst/>
              <a:rect l="0" t="0" r="0" b="0"/>
              <a:pathLst>
                <a:path w="505206" h="685629">
                  <a:moveTo>
                    <a:pt x="138303" y="199854"/>
                  </a:moveTo>
                  <a:cubicBezTo>
                    <a:pt x="138303" y="184073"/>
                    <a:pt x="151096" y="171279"/>
                    <a:pt x="166878" y="171279"/>
                  </a:cubicBezTo>
                  <a:lnTo>
                    <a:pt x="338328" y="171279"/>
                  </a:lnTo>
                  <a:cubicBezTo>
                    <a:pt x="354109" y="171279"/>
                    <a:pt x="366903" y="184073"/>
                    <a:pt x="366903" y="199854"/>
                  </a:cubicBezTo>
                  <a:cubicBezTo>
                    <a:pt x="366903" y="215636"/>
                    <a:pt x="354109" y="228429"/>
                    <a:pt x="338328" y="228429"/>
                  </a:cubicBezTo>
                  <a:lnTo>
                    <a:pt x="166878" y="228429"/>
                  </a:lnTo>
                  <a:cubicBezTo>
                    <a:pt x="151096" y="228429"/>
                    <a:pt x="138303" y="215636"/>
                    <a:pt x="138303" y="199854"/>
                  </a:cubicBezTo>
                  <a:close/>
                  <a:moveTo>
                    <a:pt x="146018" y="41263"/>
                  </a:moveTo>
                  <a:cubicBezTo>
                    <a:pt x="142904" y="36010"/>
                    <a:pt x="143726" y="29318"/>
                    <a:pt x="148018" y="24975"/>
                  </a:cubicBezTo>
                  <a:cubicBezTo>
                    <a:pt x="152036" y="20488"/>
                    <a:pt x="158436" y="19002"/>
                    <a:pt x="164020" y="21260"/>
                  </a:cubicBezTo>
                  <a:lnTo>
                    <a:pt x="217170" y="44120"/>
                  </a:lnTo>
                  <a:cubicBezTo>
                    <a:pt x="218975" y="44992"/>
                    <a:pt x="221079" y="44992"/>
                    <a:pt x="222885" y="44120"/>
                  </a:cubicBezTo>
                  <a:cubicBezTo>
                    <a:pt x="224657" y="43461"/>
                    <a:pt x="226096" y="42125"/>
                    <a:pt x="226885" y="40406"/>
                  </a:cubicBezTo>
                  <a:lnTo>
                    <a:pt x="239458" y="8687"/>
                  </a:lnTo>
                  <a:cubicBezTo>
                    <a:pt x="241702" y="3419"/>
                    <a:pt x="246876" y="0"/>
                    <a:pt x="252602" y="0"/>
                  </a:cubicBezTo>
                  <a:cubicBezTo>
                    <a:pt x="258329" y="0"/>
                    <a:pt x="263503" y="3419"/>
                    <a:pt x="265747" y="8687"/>
                  </a:cubicBezTo>
                  <a:lnTo>
                    <a:pt x="278320" y="40406"/>
                  </a:lnTo>
                  <a:cubicBezTo>
                    <a:pt x="279109" y="42125"/>
                    <a:pt x="280548" y="43461"/>
                    <a:pt x="282320" y="44120"/>
                  </a:cubicBezTo>
                  <a:cubicBezTo>
                    <a:pt x="284126" y="44992"/>
                    <a:pt x="286230" y="44992"/>
                    <a:pt x="288035" y="44120"/>
                  </a:cubicBezTo>
                  <a:lnTo>
                    <a:pt x="341185" y="21260"/>
                  </a:lnTo>
                  <a:cubicBezTo>
                    <a:pt x="346810" y="19724"/>
                    <a:pt x="352804" y="21760"/>
                    <a:pt x="356330" y="26404"/>
                  </a:cubicBezTo>
                  <a:cubicBezTo>
                    <a:pt x="360622" y="30747"/>
                    <a:pt x="361443" y="37439"/>
                    <a:pt x="358330" y="42692"/>
                  </a:cubicBezTo>
                  <a:cubicBezTo>
                    <a:pt x="341916" y="69012"/>
                    <a:pt x="330306" y="98037"/>
                    <a:pt x="324040" y="128417"/>
                  </a:cubicBezTo>
                  <a:cubicBezTo>
                    <a:pt x="323049" y="135568"/>
                    <a:pt x="316972" y="140916"/>
                    <a:pt x="309752" y="140990"/>
                  </a:cubicBezTo>
                  <a:lnTo>
                    <a:pt x="194595" y="140990"/>
                  </a:lnTo>
                  <a:cubicBezTo>
                    <a:pt x="187328" y="141042"/>
                    <a:pt x="181180" y="135631"/>
                    <a:pt x="180308" y="128417"/>
                  </a:cubicBezTo>
                  <a:cubicBezTo>
                    <a:pt x="174204" y="97542"/>
                    <a:pt x="162589" y="68019"/>
                    <a:pt x="146018" y="41263"/>
                  </a:cubicBezTo>
                  <a:close/>
                  <a:moveTo>
                    <a:pt x="505206" y="500463"/>
                  </a:moveTo>
                  <a:cubicBezTo>
                    <a:pt x="505206" y="621335"/>
                    <a:pt x="437768" y="685629"/>
                    <a:pt x="252602" y="685629"/>
                  </a:cubicBezTo>
                  <a:cubicBezTo>
                    <a:pt x="67436" y="685629"/>
                    <a:pt x="0" y="621335"/>
                    <a:pt x="0" y="500463"/>
                  </a:cubicBezTo>
                  <a:cubicBezTo>
                    <a:pt x="0" y="414738"/>
                    <a:pt x="81438" y="317583"/>
                    <a:pt x="154305" y="260433"/>
                  </a:cubicBezTo>
                  <a:cubicBezTo>
                    <a:pt x="157252" y="258169"/>
                    <a:pt x="160875" y="256961"/>
                    <a:pt x="164592" y="257004"/>
                  </a:cubicBezTo>
                  <a:lnTo>
                    <a:pt x="340614" y="257004"/>
                  </a:lnTo>
                  <a:cubicBezTo>
                    <a:pt x="344330" y="256961"/>
                    <a:pt x="347953" y="258169"/>
                    <a:pt x="350901" y="260433"/>
                  </a:cubicBezTo>
                  <a:cubicBezTo>
                    <a:pt x="424053" y="316154"/>
                    <a:pt x="505206" y="414738"/>
                    <a:pt x="505206" y="500463"/>
                  </a:cubicBezTo>
                  <a:close/>
                  <a:moveTo>
                    <a:pt x="326612" y="364446"/>
                  </a:moveTo>
                  <a:cubicBezTo>
                    <a:pt x="326612" y="352610"/>
                    <a:pt x="317017" y="343015"/>
                    <a:pt x="305181" y="343015"/>
                  </a:cubicBezTo>
                  <a:cubicBezTo>
                    <a:pt x="293344" y="343015"/>
                    <a:pt x="283749" y="352610"/>
                    <a:pt x="283749" y="364446"/>
                  </a:cubicBezTo>
                  <a:lnTo>
                    <a:pt x="283749" y="407309"/>
                  </a:lnTo>
                  <a:cubicBezTo>
                    <a:pt x="283749" y="427036"/>
                    <a:pt x="267757" y="443027"/>
                    <a:pt x="248031" y="443027"/>
                  </a:cubicBezTo>
                  <a:cubicBezTo>
                    <a:pt x="228304" y="443027"/>
                    <a:pt x="212312" y="427036"/>
                    <a:pt x="212312" y="407309"/>
                  </a:cubicBezTo>
                  <a:lnTo>
                    <a:pt x="212312" y="364446"/>
                  </a:lnTo>
                  <a:cubicBezTo>
                    <a:pt x="212312" y="352610"/>
                    <a:pt x="202717" y="343015"/>
                    <a:pt x="190881" y="343015"/>
                  </a:cubicBezTo>
                  <a:cubicBezTo>
                    <a:pt x="179044" y="343015"/>
                    <a:pt x="169449" y="352610"/>
                    <a:pt x="169449" y="364446"/>
                  </a:cubicBezTo>
                  <a:lnTo>
                    <a:pt x="169449" y="407309"/>
                  </a:lnTo>
                  <a:cubicBezTo>
                    <a:pt x="169491" y="442467"/>
                    <a:pt x="192800" y="473351"/>
                    <a:pt x="226599" y="483032"/>
                  </a:cubicBezTo>
                  <a:lnTo>
                    <a:pt x="226599" y="514465"/>
                  </a:lnTo>
                  <a:lnTo>
                    <a:pt x="190881" y="514465"/>
                  </a:lnTo>
                  <a:cubicBezTo>
                    <a:pt x="179044" y="514465"/>
                    <a:pt x="169449" y="524060"/>
                    <a:pt x="169449" y="535896"/>
                  </a:cubicBezTo>
                  <a:cubicBezTo>
                    <a:pt x="169449" y="547732"/>
                    <a:pt x="179044" y="557327"/>
                    <a:pt x="190881" y="557327"/>
                  </a:cubicBezTo>
                  <a:lnTo>
                    <a:pt x="226599" y="557327"/>
                  </a:lnTo>
                  <a:lnTo>
                    <a:pt x="226599" y="592760"/>
                  </a:lnTo>
                  <a:cubicBezTo>
                    <a:pt x="226599" y="604597"/>
                    <a:pt x="236194" y="614192"/>
                    <a:pt x="248031" y="614192"/>
                  </a:cubicBezTo>
                  <a:cubicBezTo>
                    <a:pt x="259867" y="614192"/>
                    <a:pt x="269462" y="604597"/>
                    <a:pt x="269462" y="592760"/>
                  </a:cubicBezTo>
                  <a:lnTo>
                    <a:pt x="269462" y="557042"/>
                  </a:lnTo>
                  <a:lnTo>
                    <a:pt x="305181" y="557042"/>
                  </a:lnTo>
                  <a:cubicBezTo>
                    <a:pt x="317017" y="557042"/>
                    <a:pt x="326612" y="547447"/>
                    <a:pt x="326612" y="535610"/>
                  </a:cubicBezTo>
                  <a:cubicBezTo>
                    <a:pt x="326612" y="523774"/>
                    <a:pt x="317017" y="514179"/>
                    <a:pt x="305181" y="514179"/>
                  </a:cubicBezTo>
                  <a:lnTo>
                    <a:pt x="269462" y="514179"/>
                  </a:lnTo>
                  <a:lnTo>
                    <a:pt x="269462" y="483032"/>
                  </a:lnTo>
                  <a:cubicBezTo>
                    <a:pt x="303261" y="473351"/>
                    <a:pt x="326570" y="442467"/>
                    <a:pt x="326612" y="407309"/>
                  </a:cubicBezTo>
                  <a:close/>
                </a:path>
              </a:pathLst>
            </a:custGeom>
            <a:solidFill>
              <a:srgbClr val="FFFFFF"/>
            </a:solidFill>
            <a:ln>
              <a:noFill/>
            </a:ln>
          </p:spPr>
          <p:txBody>
            <a:bodyPr rtlCol="0" anchor="ctr"/>
            <a:lstStyle/>
            <a:p>
              <a:pPr algn="ctr"/>
              <a:endParaRPr/>
            </a:p>
          </p:txBody>
        </p:sp>
        <p:sp>
          <p:nvSpPr>
            <p:cNvPr id="45" name="Rounded Rectangle 10">
              <a:extLst>
                <a:ext uri="{FF2B5EF4-FFF2-40B4-BE49-F238E27FC236}">
                  <a16:creationId xmlns:a16="http://schemas.microsoft.com/office/drawing/2014/main" id="{8963F574-179A-B3C7-69EC-34FA8CBEF659}"/>
                </a:ext>
              </a:extLst>
            </p:cNvPr>
            <p:cNvSpPr/>
            <p:nvPr/>
          </p:nvSpPr>
          <p:spPr>
            <a:xfrm>
              <a:off x="5021451" y="2570453"/>
              <a:ext cx="683914" cy="671524"/>
            </a:xfrm>
            <a:custGeom>
              <a:avLst/>
              <a:gdLst/>
              <a:ahLst/>
              <a:cxnLst/>
              <a:rect l="0" t="0" r="0" b="0"/>
              <a:pathLst>
                <a:path w="683914" h="671524">
                  <a:moveTo>
                    <a:pt x="128609" y="88594"/>
                  </a:moveTo>
                  <a:cubicBezTo>
                    <a:pt x="128609" y="39680"/>
                    <a:pt x="168255" y="23"/>
                    <a:pt x="217170" y="11"/>
                  </a:cubicBezTo>
                  <a:cubicBezTo>
                    <a:pt x="266101" y="0"/>
                    <a:pt x="305774" y="39663"/>
                    <a:pt x="305774" y="88594"/>
                  </a:cubicBezTo>
                  <a:cubicBezTo>
                    <a:pt x="305774" y="137525"/>
                    <a:pt x="266101" y="177188"/>
                    <a:pt x="217170" y="177176"/>
                  </a:cubicBezTo>
                  <a:cubicBezTo>
                    <a:pt x="168255" y="177165"/>
                    <a:pt x="128609" y="137508"/>
                    <a:pt x="128609" y="88594"/>
                  </a:cubicBezTo>
                  <a:close/>
                  <a:moveTo>
                    <a:pt x="71437" y="554366"/>
                  </a:moveTo>
                  <a:lnTo>
                    <a:pt x="28575" y="554366"/>
                  </a:lnTo>
                  <a:cubicBezTo>
                    <a:pt x="12793" y="554366"/>
                    <a:pt x="0" y="541573"/>
                    <a:pt x="0" y="525791"/>
                  </a:cubicBezTo>
                  <a:cubicBezTo>
                    <a:pt x="0" y="510010"/>
                    <a:pt x="12793" y="497216"/>
                    <a:pt x="28575" y="497216"/>
                  </a:cubicBezTo>
                  <a:lnTo>
                    <a:pt x="76466" y="497216"/>
                  </a:lnTo>
                  <a:cubicBezTo>
                    <a:pt x="73113" y="506369"/>
                    <a:pt x="71410" y="516044"/>
                    <a:pt x="71437" y="525791"/>
                  </a:cubicBezTo>
                  <a:close/>
                  <a:moveTo>
                    <a:pt x="362902" y="525791"/>
                  </a:moveTo>
                  <a:cubicBezTo>
                    <a:pt x="362902" y="515676"/>
                    <a:pt x="361130" y="506046"/>
                    <a:pt x="357873" y="497216"/>
                  </a:cubicBezTo>
                  <a:lnTo>
                    <a:pt x="655339" y="497216"/>
                  </a:lnTo>
                  <a:cubicBezTo>
                    <a:pt x="671120" y="497216"/>
                    <a:pt x="683914" y="510010"/>
                    <a:pt x="683914" y="525791"/>
                  </a:cubicBezTo>
                  <a:cubicBezTo>
                    <a:pt x="683914" y="541573"/>
                    <a:pt x="671120" y="554366"/>
                    <a:pt x="655339" y="554366"/>
                  </a:cubicBezTo>
                  <a:lnTo>
                    <a:pt x="362902" y="554366"/>
                  </a:lnTo>
                  <a:close/>
                  <a:moveTo>
                    <a:pt x="282892" y="445781"/>
                  </a:moveTo>
                  <a:cubicBezTo>
                    <a:pt x="256775" y="445480"/>
                    <a:pt x="232187" y="458073"/>
                    <a:pt x="217170" y="479443"/>
                  </a:cubicBezTo>
                  <a:cubicBezTo>
                    <a:pt x="202882" y="458926"/>
                    <a:pt x="179050" y="445781"/>
                    <a:pt x="151447" y="445781"/>
                  </a:cubicBezTo>
                  <a:cubicBezTo>
                    <a:pt x="143332" y="445781"/>
                    <a:pt x="135502" y="446924"/>
                    <a:pt x="128187" y="449039"/>
                  </a:cubicBezTo>
                  <a:lnTo>
                    <a:pt x="288207" y="289019"/>
                  </a:lnTo>
                  <a:cubicBezTo>
                    <a:pt x="277501" y="276280"/>
                    <a:pt x="263594" y="266623"/>
                    <a:pt x="247916" y="261044"/>
                  </a:cubicBezTo>
                  <a:lnTo>
                    <a:pt x="124301" y="386860"/>
                  </a:lnTo>
                  <a:lnTo>
                    <a:pt x="124301" y="450296"/>
                  </a:lnTo>
                  <a:cubicBezTo>
                    <a:pt x="106049" y="456594"/>
                    <a:pt x="90778" y="469431"/>
                    <a:pt x="81438" y="486329"/>
                  </a:cubicBezTo>
                  <a:lnTo>
                    <a:pt x="81438" y="348626"/>
                  </a:lnTo>
                  <a:cubicBezTo>
                    <a:pt x="81627" y="273742"/>
                    <a:pt x="142285" y="213084"/>
                    <a:pt x="217170" y="212895"/>
                  </a:cubicBezTo>
                  <a:cubicBezTo>
                    <a:pt x="292054" y="213084"/>
                    <a:pt x="352712" y="273742"/>
                    <a:pt x="352901" y="348626"/>
                  </a:cubicBezTo>
                  <a:lnTo>
                    <a:pt x="352901" y="486329"/>
                  </a:lnTo>
                  <a:cubicBezTo>
                    <a:pt x="339385" y="461898"/>
                    <a:pt x="313467" y="445781"/>
                    <a:pt x="282892" y="445781"/>
                  </a:cubicBezTo>
                  <a:close/>
                  <a:moveTo>
                    <a:pt x="202882" y="525534"/>
                  </a:moveTo>
                  <a:lnTo>
                    <a:pt x="202882" y="525791"/>
                  </a:lnTo>
                  <a:lnTo>
                    <a:pt x="202882" y="620089"/>
                  </a:lnTo>
                  <a:lnTo>
                    <a:pt x="202882" y="620346"/>
                  </a:lnTo>
                  <a:cubicBezTo>
                    <a:pt x="202768" y="649464"/>
                    <a:pt x="180622" y="671524"/>
                    <a:pt x="151447" y="671524"/>
                  </a:cubicBezTo>
                  <a:cubicBezTo>
                    <a:pt x="122186" y="671524"/>
                    <a:pt x="100012" y="649350"/>
                    <a:pt x="100012" y="620089"/>
                  </a:cubicBezTo>
                  <a:lnTo>
                    <a:pt x="100012" y="525791"/>
                  </a:lnTo>
                  <a:cubicBezTo>
                    <a:pt x="100012" y="496531"/>
                    <a:pt x="122186" y="474356"/>
                    <a:pt x="151447" y="474356"/>
                  </a:cubicBezTo>
                  <a:cubicBezTo>
                    <a:pt x="180622" y="474356"/>
                    <a:pt x="202768" y="496388"/>
                    <a:pt x="202882" y="525534"/>
                  </a:cubicBezTo>
                  <a:close/>
                  <a:moveTo>
                    <a:pt x="282892" y="671524"/>
                  </a:moveTo>
                  <a:cubicBezTo>
                    <a:pt x="253717" y="671524"/>
                    <a:pt x="231571" y="649464"/>
                    <a:pt x="231457" y="620346"/>
                  </a:cubicBezTo>
                  <a:lnTo>
                    <a:pt x="231457" y="620089"/>
                  </a:lnTo>
                  <a:lnTo>
                    <a:pt x="231457" y="525791"/>
                  </a:lnTo>
                  <a:lnTo>
                    <a:pt x="231457" y="525534"/>
                  </a:lnTo>
                  <a:cubicBezTo>
                    <a:pt x="231571" y="496388"/>
                    <a:pt x="253717" y="474357"/>
                    <a:pt x="282892" y="474357"/>
                  </a:cubicBezTo>
                  <a:cubicBezTo>
                    <a:pt x="312153" y="474357"/>
                    <a:pt x="334327" y="496531"/>
                    <a:pt x="334327" y="525791"/>
                  </a:cubicBezTo>
                  <a:lnTo>
                    <a:pt x="334327" y="620089"/>
                  </a:lnTo>
                  <a:cubicBezTo>
                    <a:pt x="334327" y="649350"/>
                    <a:pt x="312153" y="671524"/>
                    <a:pt x="282892" y="671524"/>
                  </a:cubicBezTo>
                  <a:close/>
                  <a:moveTo>
                    <a:pt x="434311" y="324795"/>
                  </a:moveTo>
                  <a:lnTo>
                    <a:pt x="528637" y="230440"/>
                  </a:lnTo>
                  <a:lnTo>
                    <a:pt x="622963" y="324795"/>
                  </a:lnTo>
                  <a:cubicBezTo>
                    <a:pt x="599074" y="360628"/>
                    <a:pt x="565642" y="382916"/>
                    <a:pt x="528637" y="382916"/>
                  </a:cubicBezTo>
                  <a:cubicBezTo>
                    <a:pt x="491632" y="382916"/>
                    <a:pt x="458200" y="360628"/>
                    <a:pt x="434311" y="324795"/>
                  </a:cubicBezTo>
                  <a:close/>
                  <a:moveTo>
                    <a:pt x="397192" y="191464"/>
                  </a:moveTo>
                  <a:cubicBezTo>
                    <a:pt x="397092" y="164217"/>
                    <a:pt x="401178" y="137117"/>
                    <a:pt x="409308" y="111111"/>
                  </a:cubicBezTo>
                  <a:lnTo>
                    <a:pt x="488232" y="190035"/>
                  </a:lnTo>
                  <a:lnTo>
                    <a:pt x="408622" y="269645"/>
                  </a:lnTo>
                  <a:cubicBezTo>
                    <a:pt x="401278" y="245756"/>
                    <a:pt x="397192" y="219325"/>
                    <a:pt x="397192" y="191464"/>
                  </a:cubicBezTo>
                  <a:close/>
                  <a:moveTo>
                    <a:pt x="528637" y="149630"/>
                  </a:moveTo>
                  <a:lnTo>
                    <a:pt x="435454" y="56447"/>
                  </a:lnTo>
                  <a:cubicBezTo>
                    <a:pt x="459257" y="21586"/>
                    <a:pt x="492204" y="11"/>
                    <a:pt x="528637" y="11"/>
                  </a:cubicBezTo>
                  <a:cubicBezTo>
                    <a:pt x="565042" y="11"/>
                    <a:pt x="598017" y="21586"/>
                    <a:pt x="621820" y="56447"/>
                  </a:cubicBezTo>
                  <a:lnTo>
                    <a:pt x="528637" y="149602"/>
                  </a:lnTo>
                  <a:close/>
                  <a:moveTo>
                    <a:pt x="569042" y="190035"/>
                  </a:moveTo>
                  <a:lnTo>
                    <a:pt x="647966" y="111111"/>
                  </a:lnTo>
                  <a:cubicBezTo>
                    <a:pt x="655739" y="135543"/>
                    <a:pt x="660082" y="162775"/>
                    <a:pt x="660082" y="191464"/>
                  </a:cubicBezTo>
                  <a:cubicBezTo>
                    <a:pt x="660082" y="219325"/>
                    <a:pt x="655996" y="245756"/>
                    <a:pt x="648652" y="269645"/>
                  </a:cubicBezTo>
                  <a:close/>
                </a:path>
              </a:pathLst>
            </a:custGeom>
            <a:solidFill>
              <a:srgbClr val="FFFFFF"/>
            </a:solidFill>
            <a:ln>
              <a:noFill/>
            </a:ln>
          </p:spPr>
          <p:txBody>
            <a:bodyPr rtlCol="0" anchor="ctr"/>
            <a:lstStyle/>
            <a:p>
              <a:pPr algn="ctr"/>
              <a:endParaRPr/>
            </a:p>
          </p:txBody>
        </p:sp>
        <p:sp>
          <p:nvSpPr>
            <p:cNvPr id="46" name="TextBox 45">
              <a:extLst>
                <a:ext uri="{FF2B5EF4-FFF2-40B4-BE49-F238E27FC236}">
                  <a16:creationId xmlns:a16="http://schemas.microsoft.com/office/drawing/2014/main" id="{D4226B0C-F51D-CCBD-1F73-6C90E0B711C2}"/>
                </a:ext>
              </a:extLst>
            </p:cNvPr>
            <p:cNvSpPr txBox="1"/>
            <p:nvPr/>
          </p:nvSpPr>
          <p:spPr>
            <a:xfrm>
              <a:off x="2975317" y="4418315"/>
              <a:ext cx="1734450" cy="307777"/>
            </a:xfrm>
            <a:prstGeom prst="rect">
              <a:avLst/>
            </a:prstGeom>
            <a:noFill/>
            <a:ln>
              <a:noFill/>
            </a:ln>
          </p:spPr>
          <p:txBody>
            <a:bodyPr wrap="none" lIns="0" tIns="0" rIns="0" bIns="0" anchor="t">
              <a:spAutoFit/>
            </a:bodyPr>
            <a:lstStyle/>
            <a:p>
              <a:pPr algn="ctr"/>
              <a:r>
                <a:rPr sz="2000" b="1" dirty="0">
                  <a:solidFill>
                    <a:srgbClr val="E0CB15"/>
                  </a:solidFill>
                  <a:latin typeface="Roboto"/>
                </a:rPr>
                <a:t>Income Source</a:t>
              </a:r>
            </a:p>
          </p:txBody>
        </p:sp>
        <p:sp>
          <p:nvSpPr>
            <p:cNvPr id="47" name="TextBox 46">
              <a:extLst>
                <a:ext uri="{FF2B5EF4-FFF2-40B4-BE49-F238E27FC236}">
                  <a16:creationId xmlns:a16="http://schemas.microsoft.com/office/drawing/2014/main" id="{D5865427-B07C-1BDF-26DB-59AB1425969F}"/>
                </a:ext>
              </a:extLst>
            </p:cNvPr>
            <p:cNvSpPr txBox="1"/>
            <p:nvPr/>
          </p:nvSpPr>
          <p:spPr>
            <a:xfrm>
              <a:off x="4525768" y="4418315"/>
              <a:ext cx="1766509" cy="307777"/>
            </a:xfrm>
            <a:prstGeom prst="rect">
              <a:avLst/>
            </a:prstGeom>
            <a:noFill/>
            <a:ln>
              <a:noFill/>
            </a:ln>
          </p:spPr>
          <p:txBody>
            <a:bodyPr wrap="none" lIns="0" tIns="0" rIns="0" bIns="0" anchor="t">
              <a:spAutoFit/>
            </a:bodyPr>
            <a:lstStyle/>
            <a:p>
              <a:pPr algn="ctr"/>
              <a:r>
                <a:rPr sz="2000" b="1" dirty="0">
                  <a:solidFill>
                    <a:srgbClr val="DE8431"/>
                  </a:solidFill>
                  <a:latin typeface="Roboto"/>
                </a:rPr>
                <a:t>ITR-1 Ineligible</a:t>
              </a:r>
            </a:p>
          </p:txBody>
        </p:sp>
        <p:sp>
          <p:nvSpPr>
            <p:cNvPr id="48" name="TextBox 47">
              <a:extLst>
                <a:ext uri="{FF2B5EF4-FFF2-40B4-BE49-F238E27FC236}">
                  <a16:creationId xmlns:a16="http://schemas.microsoft.com/office/drawing/2014/main" id="{D1530728-EA9A-17C4-FD51-4E9EDFAA9C9E}"/>
                </a:ext>
              </a:extLst>
            </p:cNvPr>
            <p:cNvSpPr txBox="1"/>
            <p:nvPr/>
          </p:nvSpPr>
          <p:spPr>
            <a:xfrm>
              <a:off x="3050484" y="4779788"/>
              <a:ext cx="1521250" cy="738664"/>
            </a:xfrm>
            <a:prstGeom prst="rect">
              <a:avLst/>
            </a:prstGeom>
            <a:noFill/>
            <a:ln>
              <a:noFill/>
            </a:ln>
          </p:spPr>
          <p:txBody>
            <a:bodyPr wrap="none" lIns="0" tIns="0" rIns="0" bIns="0" anchor="t">
              <a:spAutoFit/>
            </a:bodyPr>
            <a:lstStyle/>
            <a:p>
              <a:pPr algn="ctr"/>
              <a:r>
                <a:rPr sz="1600" b="0" dirty="0">
                  <a:solidFill>
                    <a:srgbClr val="484848"/>
                  </a:solidFill>
                  <a:latin typeface="Roboto"/>
                </a:rPr>
                <a:t>Income not from
business or
profession.</a:t>
              </a:r>
            </a:p>
          </p:txBody>
        </p:sp>
        <p:sp>
          <p:nvSpPr>
            <p:cNvPr id="49" name="TextBox 48">
              <a:extLst>
                <a:ext uri="{FF2B5EF4-FFF2-40B4-BE49-F238E27FC236}">
                  <a16:creationId xmlns:a16="http://schemas.microsoft.com/office/drawing/2014/main" id="{684F9E4A-5803-4B11-3C98-18501F3F5F51}"/>
                </a:ext>
              </a:extLst>
            </p:cNvPr>
            <p:cNvSpPr txBox="1"/>
            <p:nvPr/>
          </p:nvSpPr>
          <p:spPr>
            <a:xfrm>
              <a:off x="4646541" y="4751213"/>
              <a:ext cx="1596592" cy="492443"/>
            </a:xfrm>
            <a:prstGeom prst="rect">
              <a:avLst/>
            </a:prstGeom>
            <a:noFill/>
            <a:ln>
              <a:noFill/>
            </a:ln>
          </p:spPr>
          <p:txBody>
            <a:bodyPr wrap="none" lIns="0" tIns="0" rIns="0" bIns="0" anchor="t">
              <a:spAutoFit/>
            </a:bodyPr>
            <a:lstStyle/>
            <a:p>
              <a:pPr algn="ctr"/>
              <a:r>
                <a:rPr sz="1600" b="0">
                  <a:solidFill>
                    <a:srgbClr val="484848"/>
                  </a:solidFill>
                  <a:latin typeface="Roboto"/>
                </a:rPr>
                <a:t>Not eligible to file
ITR-1 form.</a:t>
              </a:r>
            </a:p>
          </p:txBody>
        </p:sp>
      </p:grpSp>
    </p:spTree>
    <p:extLst>
      <p:ext uri="{BB962C8B-B14F-4D97-AF65-F5344CB8AC3E}">
        <p14:creationId xmlns:p14="http://schemas.microsoft.com/office/powerpoint/2010/main" val="142777454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01547-9704-B7A1-0116-737648E57AAF}"/>
            </a:ext>
          </a:extLst>
        </p:cNvPr>
        <p:cNvGrpSpPr/>
        <p:nvPr/>
      </p:nvGrpSpPr>
      <p:grpSpPr>
        <a:xfrm>
          <a:off x="0" y="0"/>
          <a:ext cx="0" cy="0"/>
          <a:chOff x="0" y="0"/>
          <a:chExt cx="0" cy="0"/>
        </a:xfrm>
      </p:grpSpPr>
      <p:sp>
        <p:nvSpPr>
          <p:cNvPr id="27" name="TextBox 26">
            <a:extLst>
              <a:ext uri="{FF2B5EF4-FFF2-40B4-BE49-F238E27FC236}">
                <a16:creationId xmlns:a16="http://schemas.microsoft.com/office/drawing/2014/main" id="{CDD911DB-3CEE-3BD4-C76E-E85BBB15E9B2}"/>
              </a:ext>
            </a:extLst>
          </p:cNvPr>
          <p:cNvSpPr txBox="1"/>
          <p:nvPr/>
        </p:nvSpPr>
        <p:spPr>
          <a:xfrm>
            <a:off x="5093513" y="275676"/>
            <a:ext cx="1938031" cy="923330"/>
          </a:xfrm>
          <a:prstGeom prst="rect">
            <a:avLst/>
          </a:prstGeom>
          <a:noFill/>
          <a:ln>
            <a:noFill/>
          </a:ln>
        </p:spPr>
        <p:txBody>
          <a:bodyPr wrap="none" lIns="0" tIns="0" rIns="0" bIns="0" anchor="t">
            <a:spAutoFit/>
          </a:bodyPr>
          <a:lstStyle/>
          <a:p>
            <a:pPr algn="ctr"/>
            <a:r>
              <a:rPr sz="6000" b="1" dirty="0">
                <a:solidFill>
                  <a:srgbClr val="484848"/>
                </a:solidFill>
                <a:latin typeface="Roboto"/>
              </a:rPr>
              <a:t>ITR-</a:t>
            </a:r>
            <a:r>
              <a:rPr lang="en-IN" sz="6000" b="1" dirty="0">
                <a:solidFill>
                  <a:srgbClr val="484848"/>
                </a:solidFill>
                <a:latin typeface="Roboto"/>
              </a:rPr>
              <a:t>3</a:t>
            </a:r>
          </a:p>
        </p:txBody>
      </p:sp>
      <p:sp>
        <p:nvSpPr>
          <p:cNvPr id="39" name="TextBox 38">
            <a:extLst>
              <a:ext uri="{FF2B5EF4-FFF2-40B4-BE49-F238E27FC236}">
                <a16:creationId xmlns:a16="http://schemas.microsoft.com/office/drawing/2014/main" id="{C3B51D89-46E2-000B-4BF5-70A27DC0D042}"/>
              </a:ext>
            </a:extLst>
          </p:cNvPr>
          <p:cNvSpPr txBox="1"/>
          <p:nvPr/>
        </p:nvSpPr>
        <p:spPr>
          <a:xfrm>
            <a:off x="320746" y="5970786"/>
            <a:ext cx="1984070" cy="369332"/>
          </a:xfrm>
          <a:prstGeom prst="rect">
            <a:avLst/>
          </a:prstGeom>
          <a:noFill/>
        </p:spPr>
        <p:txBody>
          <a:bodyPr wrap="square">
            <a:spAutoFit/>
          </a:bodyPr>
          <a:lstStyle/>
          <a:p>
            <a:pPr algn="l">
              <a:spcBef>
                <a:spcPts val="2400"/>
              </a:spcBef>
              <a:spcAft>
                <a:spcPts val="1800"/>
              </a:spcAft>
              <a:buNone/>
            </a:pPr>
            <a:r>
              <a:rPr lang="en-US" b="1" i="0" dirty="0">
                <a:effectLst/>
                <a:latin typeface="Roboto" panose="02000000000000000000" pitchFamily="2" charset="0"/>
              </a:rPr>
              <a:t>For AY 2025-26</a:t>
            </a:r>
          </a:p>
        </p:txBody>
      </p:sp>
      <p:grpSp>
        <p:nvGrpSpPr>
          <p:cNvPr id="2" name="Group 1">
            <a:extLst>
              <a:ext uri="{FF2B5EF4-FFF2-40B4-BE49-F238E27FC236}">
                <a16:creationId xmlns:a16="http://schemas.microsoft.com/office/drawing/2014/main" id="{D7A3A34D-FD01-BD30-6865-4B5DCAC391FD}"/>
              </a:ext>
            </a:extLst>
          </p:cNvPr>
          <p:cNvGrpSpPr/>
          <p:nvPr/>
        </p:nvGrpSpPr>
        <p:grpSpPr>
          <a:xfrm>
            <a:off x="3875849" y="1578776"/>
            <a:ext cx="4267173" cy="3868686"/>
            <a:chOff x="2284355" y="1250302"/>
            <a:chExt cx="4267173" cy="3868686"/>
          </a:xfrm>
        </p:grpSpPr>
        <p:grpSp>
          <p:nvGrpSpPr>
            <p:cNvPr id="3" name="Group 2">
              <a:extLst>
                <a:ext uri="{FF2B5EF4-FFF2-40B4-BE49-F238E27FC236}">
                  <a16:creationId xmlns:a16="http://schemas.microsoft.com/office/drawing/2014/main" id="{6A024800-FE50-5384-E452-76311A6D6541}"/>
                </a:ext>
              </a:extLst>
            </p:cNvPr>
            <p:cNvGrpSpPr/>
            <p:nvPr/>
          </p:nvGrpSpPr>
          <p:grpSpPr>
            <a:xfrm>
              <a:off x="2436020" y="1414091"/>
              <a:ext cx="1819975" cy="1730781"/>
              <a:chOff x="571500" y="1266825"/>
              <a:chExt cx="1371600" cy="1371600"/>
            </a:xfrm>
          </p:grpSpPr>
          <p:sp>
            <p:nvSpPr>
              <p:cNvPr id="15" name="Rounded Rectangle 1">
                <a:extLst>
                  <a:ext uri="{FF2B5EF4-FFF2-40B4-BE49-F238E27FC236}">
                    <a16:creationId xmlns:a16="http://schemas.microsoft.com/office/drawing/2014/main" id="{00693914-CCF5-3440-E471-52C42FE6D335}"/>
                  </a:ext>
                </a:extLst>
              </p:cNvPr>
              <p:cNvSpPr/>
              <p:nvPr/>
            </p:nvSpPr>
            <p:spPr>
              <a:xfrm>
                <a:off x="571500" y="1266825"/>
                <a:ext cx="1371600" cy="1371600"/>
              </a:xfrm>
              <a:custGeom>
                <a:avLst/>
                <a:gdLst/>
                <a:ahLst/>
                <a:cxnLst/>
                <a:rect l="0" t="0" r="0" b="0"/>
                <a:pathLst>
                  <a:path w="1371600" h="1371600">
                    <a:moveTo>
                      <a:pt x="1371600" y="685800"/>
                    </a:moveTo>
                    <a:cubicBezTo>
                      <a:pt x="1371600" y="1064556"/>
                      <a:pt x="1064556" y="1371600"/>
                      <a:pt x="685800" y="1371600"/>
                    </a:cubicBezTo>
                    <a:cubicBezTo>
                      <a:pt x="307043" y="1371600"/>
                      <a:pt x="0" y="1064556"/>
                      <a:pt x="0" y="685800"/>
                    </a:cubicBezTo>
                    <a:cubicBezTo>
                      <a:pt x="0" y="307043"/>
                      <a:pt x="307043" y="0"/>
                      <a:pt x="685800" y="0"/>
                    </a:cubicBezTo>
                    <a:cubicBezTo>
                      <a:pt x="1064556" y="0"/>
                      <a:pt x="1371600" y="307043"/>
                      <a:pt x="1371600" y="685800"/>
                    </a:cubicBezTo>
                    <a:close/>
                  </a:path>
                </a:pathLst>
              </a:custGeom>
              <a:solidFill>
                <a:srgbClr val="E0CB15"/>
              </a:solidFill>
              <a:ln>
                <a:noFill/>
              </a:ln>
            </p:spPr>
            <p:txBody>
              <a:bodyPr rtlCol="0" anchor="ctr"/>
              <a:lstStyle/>
              <a:p>
                <a:pPr algn="ctr"/>
                <a:endParaRPr/>
              </a:p>
            </p:txBody>
          </p:sp>
          <p:sp>
            <p:nvSpPr>
              <p:cNvPr id="16" name="Rounded Rectangle 2">
                <a:extLst>
                  <a:ext uri="{FF2B5EF4-FFF2-40B4-BE49-F238E27FC236}">
                    <a16:creationId xmlns:a16="http://schemas.microsoft.com/office/drawing/2014/main" id="{5256729D-D5D2-A40C-6CA4-7F59FC50ABFE}"/>
                  </a:ext>
                </a:extLst>
              </p:cNvPr>
              <p:cNvSpPr/>
              <p:nvPr/>
            </p:nvSpPr>
            <p:spPr>
              <a:xfrm>
                <a:off x="571500" y="1266825"/>
                <a:ext cx="1371600" cy="1371600"/>
              </a:xfrm>
              <a:custGeom>
                <a:avLst/>
                <a:gdLst/>
                <a:ahLst/>
                <a:cxnLst/>
                <a:rect l="0" t="0" r="0" b="0"/>
                <a:pathLst>
                  <a:path w="1371600" h="1371600">
                    <a:moveTo>
                      <a:pt x="1371600" y="685800"/>
                    </a:moveTo>
                    <a:cubicBezTo>
                      <a:pt x="1371600" y="1064556"/>
                      <a:pt x="1064556" y="1371600"/>
                      <a:pt x="685800" y="1371600"/>
                    </a:cubicBezTo>
                    <a:cubicBezTo>
                      <a:pt x="307043" y="1371600"/>
                      <a:pt x="0" y="1064556"/>
                      <a:pt x="0" y="685800"/>
                    </a:cubicBezTo>
                    <a:cubicBezTo>
                      <a:pt x="0" y="307043"/>
                      <a:pt x="307043" y="0"/>
                      <a:pt x="685800" y="0"/>
                    </a:cubicBezTo>
                    <a:cubicBezTo>
                      <a:pt x="1064556" y="0"/>
                      <a:pt x="1371600" y="307043"/>
                      <a:pt x="1371600" y="685800"/>
                    </a:cubicBezTo>
                    <a:close/>
                  </a:path>
                </a:pathLst>
              </a:custGeom>
              <a:noFill/>
              <a:ln w="14287">
                <a:solidFill>
                  <a:srgbClr val="FFFFFF"/>
                </a:solidFill>
              </a:ln>
            </p:spPr>
            <p:txBody>
              <a:bodyPr rtlCol="0" anchor="ctr"/>
              <a:lstStyle/>
              <a:p>
                <a:pPr algn="ctr"/>
                <a:endParaRPr/>
              </a:p>
            </p:txBody>
          </p:sp>
        </p:grpSp>
        <p:sp>
          <p:nvSpPr>
            <p:cNvPr id="4" name="Rounded Rectangle 4">
              <a:extLst>
                <a:ext uri="{FF2B5EF4-FFF2-40B4-BE49-F238E27FC236}">
                  <a16:creationId xmlns:a16="http://schemas.microsoft.com/office/drawing/2014/main" id="{C9939127-270B-2C09-C7C9-E75303776FFC}"/>
                </a:ext>
              </a:extLst>
            </p:cNvPr>
            <p:cNvSpPr/>
            <p:nvPr/>
          </p:nvSpPr>
          <p:spPr>
            <a:xfrm>
              <a:off x="2284355" y="1250302"/>
              <a:ext cx="2143869" cy="2483516"/>
            </a:xfrm>
            <a:custGeom>
              <a:avLst/>
              <a:gdLst/>
              <a:ahLst/>
              <a:cxnLst/>
              <a:rect l="0" t="0" r="0" b="0"/>
              <a:pathLst>
                <a:path w="1615698" h="1968123">
                  <a:moveTo>
                    <a:pt x="0" y="815598"/>
                  </a:moveTo>
                  <a:cubicBezTo>
                    <a:pt x="0" y="657353"/>
                    <a:pt x="46924" y="502662"/>
                    <a:pt x="134841" y="371086"/>
                  </a:cubicBezTo>
                  <a:cubicBezTo>
                    <a:pt x="222757" y="239510"/>
                    <a:pt x="347715" y="136959"/>
                    <a:pt x="493915" y="76402"/>
                  </a:cubicBezTo>
                  <a:cubicBezTo>
                    <a:pt x="640114" y="15844"/>
                    <a:pt x="800987" y="0"/>
                    <a:pt x="956191" y="30872"/>
                  </a:cubicBezTo>
                  <a:cubicBezTo>
                    <a:pt x="1111396" y="61743"/>
                    <a:pt x="1253960" y="137946"/>
                    <a:pt x="1365856" y="249842"/>
                  </a:cubicBezTo>
                  <a:cubicBezTo>
                    <a:pt x="1477752" y="361738"/>
                    <a:pt x="1553954" y="504303"/>
                    <a:pt x="1584826" y="659507"/>
                  </a:cubicBezTo>
                  <a:cubicBezTo>
                    <a:pt x="1615698" y="814711"/>
                    <a:pt x="1599853" y="975584"/>
                    <a:pt x="1539296" y="1121784"/>
                  </a:cubicBezTo>
                  <a:cubicBezTo>
                    <a:pt x="1478738" y="1267983"/>
                    <a:pt x="1376187" y="1392940"/>
                    <a:pt x="1244611" y="1480857"/>
                  </a:cubicBezTo>
                  <a:cubicBezTo>
                    <a:pt x="1113035" y="1568773"/>
                    <a:pt x="963107" y="1615698"/>
                    <a:pt x="804862" y="1615698"/>
                  </a:cubicBezTo>
                  <a:lnTo>
                    <a:pt x="804863" y="1968123"/>
                  </a:lnTo>
                  <a:moveTo>
                    <a:pt x="664887" y="1828649"/>
                  </a:moveTo>
                  <a:lnTo>
                    <a:pt x="804863" y="1968123"/>
                  </a:lnTo>
                  <a:moveTo>
                    <a:pt x="944839" y="1828649"/>
                  </a:moveTo>
                  <a:lnTo>
                    <a:pt x="804863" y="1968123"/>
                  </a:lnTo>
                </a:path>
              </a:pathLst>
            </a:custGeom>
            <a:noFill/>
            <a:ln w="14287">
              <a:solidFill>
                <a:srgbClr val="484848"/>
              </a:solidFill>
            </a:ln>
          </p:spPr>
          <p:txBody>
            <a:bodyPr rtlCol="0" anchor="ctr"/>
            <a:lstStyle/>
            <a:p>
              <a:pPr algn="ctr"/>
              <a:endParaRPr/>
            </a:p>
          </p:txBody>
        </p:sp>
        <p:grpSp>
          <p:nvGrpSpPr>
            <p:cNvPr id="5" name="Group 4">
              <a:extLst>
                <a:ext uri="{FF2B5EF4-FFF2-40B4-BE49-F238E27FC236}">
                  <a16:creationId xmlns:a16="http://schemas.microsoft.com/office/drawing/2014/main" id="{63245C4F-39D1-D36C-3D87-FCFA3357D88E}"/>
                </a:ext>
              </a:extLst>
            </p:cNvPr>
            <p:cNvGrpSpPr/>
            <p:nvPr/>
          </p:nvGrpSpPr>
          <p:grpSpPr>
            <a:xfrm>
              <a:off x="4559324" y="1414091"/>
              <a:ext cx="1819975" cy="1730781"/>
              <a:chOff x="2171700" y="1266825"/>
              <a:chExt cx="1371600" cy="1371600"/>
            </a:xfrm>
          </p:grpSpPr>
          <p:sp>
            <p:nvSpPr>
              <p:cNvPr id="13" name="Rounded Rectangle 5">
                <a:extLst>
                  <a:ext uri="{FF2B5EF4-FFF2-40B4-BE49-F238E27FC236}">
                    <a16:creationId xmlns:a16="http://schemas.microsoft.com/office/drawing/2014/main" id="{1EE8151C-1A8A-3A97-5C29-E3E456AA7382}"/>
                  </a:ext>
                </a:extLst>
              </p:cNvPr>
              <p:cNvSpPr/>
              <p:nvPr/>
            </p:nvSpPr>
            <p:spPr>
              <a:xfrm>
                <a:off x="2171700" y="1266825"/>
                <a:ext cx="1371600" cy="1371600"/>
              </a:xfrm>
              <a:custGeom>
                <a:avLst/>
                <a:gdLst/>
                <a:ahLst/>
                <a:cxnLst/>
                <a:rect l="0" t="0" r="0" b="0"/>
                <a:pathLst>
                  <a:path w="1371600" h="1371600">
                    <a:moveTo>
                      <a:pt x="1371600" y="685800"/>
                    </a:moveTo>
                    <a:cubicBezTo>
                      <a:pt x="1371600" y="1064556"/>
                      <a:pt x="1064556" y="1371600"/>
                      <a:pt x="685800" y="1371600"/>
                    </a:cubicBezTo>
                    <a:cubicBezTo>
                      <a:pt x="307043" y="1371600"/>
                      <a:pt x="0" y="1064556"/>
                      <a:pt x="0" y="685800"/>
                    </a:cubicBezTo>
                    <a:cubicBezTo>
                      <a:pt x="0" y="307043"/>
                      <a:pt x="307043" y="0"/>
                      <a:pt x="685800" y="0"/>
                    </a:cubicBezTo>
                    <a:cubicBezTo>
                      <a:pt x="1064556" y="0"/>
                      <a:pt x="1371600" y="307043"/>
                      <a:pt x="1371600" y="685800"/>
                    </a:cubicBezTo>
                    <a:close/>
                  </a:path>
                </a:pathLst>
              </a:custGeom>
              <a:solidFill>
                <a:srgbClr val="DE8431"/>
              </a:solidFill>
              <a:ln>
                <a:noFill/>
              </a:ln>
            </p:spPr>
            <p:txBody>
              <a:bodyPr rtlCol="0" anchor="ctr"/>
              <a:lstStyle/>
              <a:p>
                <a:pPr algn="ctr"/>
                <a:endParaRPr/>
              </a:p>
            </p:txBody>
          </p:sp>
          <p:sp>
            <p:nvSpPr>
              <p:cNvPr id="14" name="Rounded Rectangle 6">
                <a:extLst>
                  <a:ext uri="{FF2B5EF4-FFF2-40B4-BE49-F238E27FC236}">
                    <a16:creationId xmlns:a16="http://schemas.microsoft.com/office/drawing/2014/main" id="{1EA56DB0-9060-DA5A-96C8-E4B02F3D068E}"/>
                  </a:ext>
                </a:extLst>
              </p:cNvPr>
              <p:cNvSpPr/>
              <p:nvPr/>
            </p:nvSpPr>
            <p:spPr>
              <a:xfrm>
                <a:off x="2171700" y="1266825"/>
                <a:ext cx="1371600" cy="1371600"/>
              </a:xfrm>
              <a:custGeom>
                <a:avLst/>
                <a:gdLst/>
                <a:ahLst/>
                <a:cxnLst/>
                <a:rect l="0" t="0" r="0" b="0"/>
                <a:pathLst>
                  <a:path w="1371600" h="1371600">
                    <a:moveTo>
                      <a:pt x="1371600" y="685800"/>
                    </a:moveTo>
                    <a:cubicBezTo>
                      <a:pt x="1371600" y="1064556"/>
                      <a:pt x="1064556" y="1371600"/>
                      <a:pt x="685800" y="1371600"/>
                    </a:cubicBezTo>
                    <a:cubicBezTo>
                      <a:pt x="307043" y="1371600"/>
                      <a:pt x="0" y="1064556"/>
                      <a:pt x="0" y="685800"/>
                    </a:cubicBezTo>
                    <a:cubicBezTo>
                      <a:pt x="0" y="307043"/>
                      <a:pt x="307043" y="0"/>
                      <a:pt x="685800" y="0"/>
                    </a:cubicBezTo>
                    <a:cubicBezTo>
                      <a:pt x="1064556" y="0"/>
                      <a:pt x="1371600" y="307043"/>
                      <a:pt x="1371600" y="685800"/>
                    </a:cubicBezTo>
                    <a:close/>
                  </a:path>
                </a:pathLst>
              </a:custGeom>
              <a:noFill/>
              <a:ln w="14287">
                <a:solidFill>
                  <a:srgbClr val="FFFFFF"/>
                </a:solidFill>
              </a:ln>
            </p:spPr>
            <p:txBody>
              <a:bodyPr rtlCol="0" anchor="ctr"/>
              <a:lstStyle/>
              <a:p>
                <a:pPr algn="ctr"/>
                <a:endParaRPr/>
              </a:p>
            </p:txBody>
          </p:sp>
        </p:grpSp>
        <p:sp>
          <p:nvSpPr>
            <p:cNvPr id="6" name="Rounded Rectangle 8">
              <a:extLst>
                <a:ext uri="{FF2B5EF4-FFF2-40B4-BE49-F238E27FC236}">
                  <a16:creationId xmlns:a16="http://schemas.microsoft.com/office/drawing/2014/main" id="{2C1C09CC-7DE9-CB94-8634-8BF4C7E9A652}"/>
                </a:ext>
              </a:extLst>
            </p:cNvPr>
            <p:cNvSpPr/>
            <p:nvPr/>
          </p:nvSpPr>
          <p:spPr>
            <a:xfrm>
              <a:off x="4407659" y="1250302"/>
              <a:ext cx="2143869" cy="2483516"/>
            </a:xfrm>
            <a:custGeom>
              <a:avLst/>
              <a:gdLst/>
              <a:ahLst/>
              <a:cxnLst/>
              <a:rect l="0" t="0" r="0" b="0"/>
              <a:pathLst>
                <a:path w="1615698" h="1968123">
                  <a:moveTo>
                    <a:pt x="0" y="815598"/>
                  </a:moveTo>
                  <a:cubicBezTo>
                    <a:pt x="0" y="657353"/>
                    <a:pt x="46924" y="502662"/>
                    <a:pt x="134841" y="371086"/>
                  </a:cubicBezTo>
                  <a:cubicBezTo>
                    <a:pt x="222757" y="239510"/>
                    <a:pt x="347715" y="136959"/>
                    <a:pt x="493915" y="76402"/>
                  </a:cubicBezTo>
                  <a:cubicBezTo>
                    <a:pt x="640114" y="15844"/>
                    <a:pt x="800987" y="0"/>
                    <a:pt x="956191" y="30872"/>
                  </a:cubicBezTo>
                  <a:cubicBezTo>
                    <a:pt x="1111396" y="61743"/>
                    <a:pt x="1253960" y="137946"/>
                    <a:pt x="1365856" y="249842"/>
                  </a:cubicBezTo>
                  <a:cubicBezTo>
                    <a:pt x="1477752" y="361738"/>
                    <a:pt x="1553954" y="504303"/>
                    <a:pt x="1584826" y="659507"/>
                  </a:cubicBezTo>
                  <a:cubicBezTo>
                    <a:pt x="1615698" y="814711"/>
                    <a:pt x="1599853" y="975584"/>
                    <a:pt x="1539296" y="1121784"/>
                  </a:cubicBezTo>
                  <a:cubicBezTo>
                    <a:pt x="1478738" y="1267983"/>
                    <a:pt x="1376187" y="1392940"/>
                    <a:pt x="1244611" y="1480857"/>
                  </a:cubicBezTo>
                  <a:cubicBezTo>
                    <a:pt x="1113035" y="1568773"/>
                    <a:pt x="963107" y="1615698"/>
                    <a:pt x="804862" y="1615698"/>
                  </a:cubicBezTo>
                  <a:lnTo>
                    <a:pt x="804863" y="1968123"/>
                  </a:lnTo>
                  <a:moveTo>
                    <a:pt x="664887" y="1828649"/>
                  </a:moveTo>
                  <a:lnTo>
                    <a:pt x="804863" y="1968123"/>
                  </a:lnTo>
                  <a:moveTo>
                    <a:pt x="944839" y="1828649"/>
                  </a:moveTo>
                  <a:lnTo>
                    <a:pt x="804863" y="1968123"/>
                  </a:lnTo>
                </a:path>
              </a:pathLst>
            </a:custGeom>
            <a:noFill/>
            <a:ln w="14287">
              <a:solidFill>
                <a:srgbClr val="484848"/>
              </a:solidFill>
            </a:ln>
          </p:spPr>
          <p:txBody>
            <a:bodyPr rtlCol="0" anchor="ctr"/>
            <a:lstStyle/>
            <a:p>
              <a:pPr algn="ctr"/>
              <a:endParaRPr/>
            </a:p>
          </p:txBody>
        </p:sp>
        <p:sp>
          <p:nvSpPr>
            <p:cNvPr id="7" name="Rounded Rectangle 9">
              <a:extLst>
                <a:ext uri="{FF2B5EF4-FFF2-40B4-BE49-F238E27FC236}">
                  <a16:creationId xmlns:a16="http://schemas.microsoft.com/office/drawing/2014/main" id="{0CC044B6-6F05-2D57-6188-DD85791ADA06}"/>
                </a:ext>
              </a:extLst>
            </p:cNvPr>
            <p:cNvSpPr/>
            <p:nvPr/>
          </p:nvSpPr>
          <p:spPr>
            <a:xfrm>
              <a:off x="2889020" y="1834743"/>
              <a:ext cx="912225" cy="865413"/>
            </a:xfrm>
            <a:custGeom>
              <a:avLst/>
              <a:gdLst/>
              <a:ahLst/>
              <a:cxnLst/>
              <a:rect l="0" t="0" r="0" b="0"/>
              <a:pathLst>
                <a:path w="687486" h="685818">
                  <a:moveTo>
                    <a:pt x="228386" y="364349"/>
                  </a:moveTo>
                  <a:cubicBezTo>
                    <a:pt x="227283" y="362663"/>
                    <a:pt x="225519" y="361522"/>
                    <a:pt x="223529" y="361206"/>
                  </a:cubicBezTo>
                  <a:cubicBezTo>
                    <a:pt x="221779" y="360548"/>
                    <a:pt x="219849" y="360548"/>
                    <a:pt x="218099" y="361206"/>
                  </a:cubicBezTo>
                  <a:cubicBezTo>
                    <a:pt x="213232" y="364895"/>
                    <a:pt x="208177" y="368328"/>
                    <a:pt x="202955" y="371493"/>
                  </a:cubicBezTo>
                  <a:cubicBezTo>
                    <a:pt x="200433" y="372428"/>
                    <a:pt x="198735" y="374805"/>
                    <a:pt x="198668" y="377494"/>
                  </a:cubicBezTo>
                  <a:cubicBezTo>
                    <a:pt x="198770" y="380239"/>
                    <a:pt x="200436" y="382683"/>
                    <a:pt x="202955" y="383780"/>
                  </a:cubicBezTo>
                  <a:cubicBezTo>
                    <a:pt x="254903" y="406452"/>
                    <a:pt x="288537" y="457688"/>
                    <a:pt x="288680" y="514368"/>
                  </a:cubicBezTo>
                  <a:lnTo>
                    <a:pt x="288680" y="521512"/>
                  </a:lnTo>
                  <a:cubicBezTo>
                    <a:pt x="288680" y="525457"/>
                    <a:pt x="285481" y="528656"/>
                    <a:pt x="281536" y="528656"/>
                  </a:cubicBezTo>
                  <a:lnTo>
                    <a:pt x="10073" y="528656"/>
                  </a:lnTo>
                  <a:cubicBezTo>
                    <a:pt x="6128" y="528656"/>
                    <a:pt x="2930" y="525457"/>
                    <a:pt x="2930" y="521512"/>
                  </a:cubicBezTo>
                  <a:lnTo>
                    <a:pt x="2930" y="514368"/>
                  </a:lnTo>
                  <a:cubicBezTo>
                    <a:pt x="2403" y="457306"/>
                    <a:pt x="35882" y="405403"/>
                    <a:pt x="88083" y="382352"/>
                  </a:cubicBezTo>
                  <a:cubicBezTo>
                    <a:pt x="90446" y="381075"/>
                    <a:pt x="92044" y="378731"/>
                    <a:pt x="92369" y="376065"/>
                  </a:cubicBezTo>
                  <a:cubicBezTo>
                    <a:pt x="92419" y="373362"/>
                    <a:pt x="90997" y="370844"/>
                    <a:pt x="88655" y="369493"/>
                  </a:cubicBezTo>
                  <a:cubicBezTo>
                    <a:pt x="83297" y="366397"/>
                    <a:pt x="78143" y="362961"/>
                    <a:pt x="73224" y="359206"/>
                  </a:cubicBezTo>
                  <a:cubicBezTo>
                    <a:pt x="71485" y="358491"/>
                    <a:pt x="69534" y="358491"/>
                    <a:pt x="67795" y="359206"/>
                  </a:cubicBezTo>
                  <a:cubicBezTo>
                    <a:pt x="65805" y="359522"/>
                    <a:pt x="64041" y="360663"/>
                    <a:pt x="62937" y="362349"/>
                  </a:cubicBezTo>
                  <a:cubicBezTo>
                    <a:pt x="59220" y="367772"/>
                    <a:pt x="55011" y="372842"/>
                    <a:pt x="50364" y="377494"/>
                  </a:cubicBezTo>
                  <a:cubicBezTo>
                    <a:pt x="44972" y="382843"/>
                    <a:pt x="37671" y="385824"/>
                    <a:pt x="30076" y="385781"/>
                  </a:cubicBezTo>
                  <a:cubicBezTo>
                    <a:pt x="18695" y="385509"/>
                    <a:pt x="8562" y="378508"/>
                    <a:pt x="4281" y="367960"/>
                  </a:cubicBezTo>
                  <a:cubicBezTo>
                    <a:pt x="0" y="357412"/>
                    <a:pt x="2387" y="345329"/>
                    <a:pt x="10359" y="337203"/>
                  </a:cubicBezTo>
                  <a:cubicBezTo>
                    <a:pt x="14931" y="332631"/>
                    <a:pt x="28647" y="319201"/>
                    <a:pt x="28647" y="268909"/>
                  </a:cubicBezTo>
                  <a:cubicBezTo>
                    <a:pt x="26510" y="225620"/>
                    <a:pt x="48388" y="184673"/>
                    <a:pt x="85561" y="162388"/>
                  </a:cubicBezTo>
                  <a:cubicBezTo>
                    <a:pt x="122735" y="140103"/>
                    <a:pt x="169160" y="140103"/>
                    <a:pt x="206334" y="162388"/>
                  </a:cubicBezTo>
                  <a:cubicBezTo>
                    <a:pt x="243507" y="184673"/>
                    <a:pt x="265385" y="225620"/>
                    <a:pt x="263248" y="268909"/>
                  </a:cubicBezTo>
                  <a:cubicBezTo>
                    <a:pt x="263248" y="319201"/>
                    <a:pt x="276964" y="332631"/>
                    <a:pt x="281536" y="337203"/>
                  </a:cubicBezTo>
                  <a:cubicBezTo>
                    <a:pt x="292615" y="348348"/>
                    <a:pt x="292615" y="366348"/>
                    <a:pt x="281536" y="377494"/>
                  </a:cubicBezTo>
                  <a:cubicBezTo>
                    <a:pt x="270391" y="388573"/>
                    <a:pt x="252390" y="388573"/>
                    <a:pt x="241245" y="377494"/>
                  </a:cubicBezTo>
                  <a:cubicBezTo>
                    <a:pt x="236533" y="373550"/>
                    <a:pt x="232226" y="369147"/>
                    <a:pt x="228386" y="364349"/>
                  </a:cubicBezTo>
                  <a:close/>
                  <a:moveTo>
                    <a:pt x="145805" y="328631"/>
                  </a:moveTo>
                  <a:cubicBezTo>
                    <a:pt x="173624" y="328796"/>
                    <a:pt x="197945" y="309906"/>
                    <a:pt x="204669" y="282911"/>
                  </a:cubicBezTo>
                  <a:cubicBezTo>
                    <a:pt x="205595" y="279215"/>
                    <a:pt x="203458" y="275443"/>
                    <a:pt x="199811" y="274338"/>
                  </a:cubicBezTo>
                  <a:cubicBezTo>
                    <a:pt x="191981" y="271956"/>
                    <a:pt x="184561" y="268390"/>
                    <a:pt x="177809" y="263765"/>
                  </a:cubicBezTo>
                  <a:cubicBezTo>
                    <a:pt x="168344" y="257769"/>
                    <a:pt x="159863" y="250347"/>
                    <a:pt x="152663" y="241763"/>
                  </a:cubicBezTo>
                  <a:cubicBezTo>
                    <a:pt x="151254" y="239881"/>
                    <a:pt x="149011" y="238812"/>
                    <a:pt x="146662" y="238905"/>
                  </a:cubicBezTo>
                  <a:cubicBezTo>
                    <a:pt x="144510" y="239201"/>
                    <a:pt x="142561" y="240330"/>
                    <a:pt x="141233" y="242048"/>
                  </a:cubicBezTo>
                  <a:cubicBezTo>
                    <a:pt x="134305" y="251372"/>
                    <a:pt x="125174" y="258833"/>
                    <a:pt x="114658" y="263765"/>
                  </a:cubicBezTo>
                  <a:cubicBezTo>
                    <a:pt x="107695" y="267167"/>
                    <a:pt x="100288" y="269572"/>
                    <a:pt x="92655" y="270909"/>
                  </a:cubicBezTo>
                  <a:cubicBezTo>
                    <a:pt x="88913" y="271764"/>
                    <a:pt x="86515" y="275424"/>
                    <a:pt x="87226" y="279196"/>
                  </a:cubicBezTo>
                  <a:cubicBezTo>
                    <a:pt x="92417" y="307563"/>
                    <a:pt x="116969" y="328282"/>
                    <a:pt x="145805" y="328631"/>
                  </a:cubicBezTo>
                  <a:close/>
                  <a:moveTo>
                    <a:pt x="415838" y="535799"/>
                  </a:moveTo>
                  <a:cubicBezTo>
                    <a:pt x="415838" y="539745"/>
                    <a:pt x="419037" y="542943"/>
                    <a:pt x="422982" y="542943"/>
                  </a:cubicBezTo>
                  <a:lnTo>
                    <a:pt x="444413" y="542943"/>
                  </a:lnTo>
                  <a:cubicBezTo>
                    <a:pt x="460195" y="542943"/>
                    <a:pt x="472988" y="555737"/>
                    <a:pt x="472988" y="571518"/>
                  </a:cubicBezTo>
                  <a:cubicBezTo>
                    <a:pt x="472988" y="587300"/>
                    <a:pt x="460195" y="600093"/>
                    <a:pt x="444413" y="600093"/>
                  </a:cubicBezTo>
                  <a:lnTo>
                    <a:pt x="401551" y="600093"/>
                  </a:lnTo>
                  <a:cubicBezTo>
                    <a:pt x="377879" y="600093"/>
                    <a:pt x="358688" y="580903"/>
                    <a:pt x="358688" y="557231"/>
                  </a:cubicBezTo>
                  <a:lnTo>
                    <a:pt x="358688" y="378637"/>
                  </a:lnTo>
                  <a:cubicBezTo>
                    <a:pt x="358688" y="374691"/>
                    <a:pt x="355490" y="371493"/>
                    <a:pt x="351545" y="371493"/>
                  </a:cubicBezTo>
                  <a:lnTo>
                    <a:pt x="344401" y="371493"/>
                  </a:lnTo>
                  <a:cubicBezTo>
                    <a:pt x="328619" y="371493"/>
                    <a:pt x="315826" y="358700"/>
                    <a:pt x="315826" y="342918"/>
                  </a:cubicBezTo>
                  <a:cubicBezTo>
                    <a:pt x="315826" y="327136"/>
                    <a:pt x="328619" y="314343"/>
                    <a:pt x="344401" y="314343"/>
                  </a:cubicBezTo>
                  <a:lnTo>
                    <a:pt x="351545" y="314343"/>
                  </a:lnTo>
                  <a:cubicBezTo>
                    <a:pt x="355490" y="314343"/>
                    <a:pt x="358688" y="311145"/>
                    <a:pt x="358688" y="307199"/>
                  </a:cubicBezTo>
                  <a:lnTo>
                    <a:pt x="358688" y="128606"/>
                  </a:lnTo>
                  <a:cubicBezTo>
                    <a:pt x="358688" y="104933"/>
                    <a:pt x="377879" y="85743"/>
                    <a:pt x="401551" y="85743"/>
                  </a:cubicBezTo>
                  <a:lnTo>
                    <a:pt x="444413" y="85743"/>
                  </a:lnTo>
                  <a:cubicBezTo>
                    <a:pt x="460195" y="85743"/>
                    <a:pt x="472988" y="98536"/>
                    <a:pt x="472988" y="114318"/>
                  </a:cubicBezTo>
                  <a:cubicBezTo>
                    <a:pt x="472988" y="130100"/>
                    <a:pt x="460195" y="142893"/>
                    <a:pt x="444413" y="142893"/>
                  </a:cubicBezTo>
                  <a:lnTo>
                    <a:pt x="422982" y="142893"/>
                  </a:lnTo>
                  <a:cubicBezTo>
                    <a:pt x="419037" y="142893"/>
                    <a:pt x="415838" y="146091"/>
                    <a:pt x="415838" y="150037"/>
                  </a:cubicBezTo>
                  <a:close/>
                  <a:moveTo>
                    <a:pt x="531853" y="512654"/>
                  </a:moveTo>
                  <a:cubicBezTo>
                    <a:pt x="531843" y="482030"/>
                    <a:pt x="556665" y="457200"/>
                    <a:pt x="587288" y="457200"/>
                  </a:cubicBezTo>
                  <a:cubicBezTo>
                    <a:pt x="617912" y="457200"/>
                    <a:pt x="642734" y="482030"/>
                    <a:pt x="642724" y="512654"/>
                  </a:cubicBezTo>
                  <a:cubicBezTo>
                    <a:pt x="642734" y="543277"/>
                    <a:pt x="617912" y="568108"/>
                    <a:pt x="587288" y="568108"/>
                  </a:cubicBezTo>
                  <a:cubicBezTo>
                    <a:pt x="556665" y="568108"/>
                    <a:pt x="531843" y="543277"/>
                    <a:pt x="531853" y="512654"/>
                  </a:cubicBezTo>
                  <a:moveTo>
                    <a:pt x="686729" y="678103"/>
                  </a:moveTo>
                  <a:cubicBezTo>
                    <a:pt x="687057" y="680082"/>
                    <a:pt x="686420" y="682100"/>
                    <a:pt x="685015" y="683532"/>
                  </a:cubicBezTo>
                  <a:cubicBezTo>
                    <a:pt x="683649" y="684915"/>
                    <a:pt x="681813" y="685731"/>
                    <a:pt x="679871" y="685818"/>
                  </a:cubicBezTo>
                  <a:lnTo>
                    <a:pt x="494420" y="685818"/>
                  </a:lnTo>
                  <a:cubicBezTo>
                    <a:pt x="492465" y="685792"/>
                    <a:pt x="490606" y="684966"/>
                    <a:pt x="489276" y="683532"/>
                  </a:cubicBezTo>
                  <a:cubicBezTo>
                    <a:pt x="487903" y="682067"/>
                    <a:pt x="487182" y="680109"/>
                    <a:pt x="487276" y="678103"/>
                  </a:cubicBezTo>
                  <a:cubicBezTo>
                    <a:pt x="491315" y="625901"/>
                    <a:pt x="534931" y="585650"/>
                    <a:pt x="587288" y="585806"/>
                  </a:cubicBezTo>
                  <a:cubicBezTo>
                    <a:pt x="639480" y="585810"/>
                    <a:pt x="682841" y="626056"/>
                    <a:pt x="686729" y="678103"/>
                  </a:cubicBezTo>
                  <a:close/>
                  <a:moveTo>
                    <a:pt x="531853" y="55454"/>
                  </a:moveTo>
                  <a:cubicBezTo>
                    <a:pt x="531843" y="24830"/>
                    <a:pt x="556665" y="0"/>
                    <a:pt x="587288" y="0"/>
                  </a:cubicBezTo>
                  <a:cubicBezTo>
                    <a:pt x="617912" y="0"/>
                    <a:pt x="642734" y="24830"/>
                    <a:pt x="642724" y="55454"/>
                  </a:cubicBezTo>
                  <a:cubicBezTo>
                    <a:pt x="642734" y="86077"/>
                    <a:pt x="617912" y="110908"/>
                    <a:pt x="587288" y="110908"/>
                  </a:cubicBezTo>
                  <a:cubicBezTo>
                    <a:pt x="556665" y="110908"/>
                    <a:pt x="531843" y="86077"/>
                    <a:pt x="531853" y="55454"/>
                  </a:cubicBezTo>
                  <a:moveTo>
                    <a:pt x="687301" y="220903"/>
                  </a:moveTo>
                  <a:cubicBezTo>
                    <a:pt x="687486" y="222980"/>
                    <a:pt x="686630" y="225013"/>
                    <a:pt x="685015" y="226332"/>
                  </a:cubicBezTo>
                  <a:cubicBezTo>
                    <a:pt x="683649" y="227715"/>
                    <a:pt x="681813" y="228531"/>
                    <a:pt x="679871" y="228618"/>
                  </a:cubicBezTo>
                  <a:lnTo>
                    <a:pt x="494420" y="228618"/>
                  </a:lnTo>
                  <a:cubicBezTo>
                    <a:pt x="492465" y="228592"/>
                    <a:pt x="490606" y="227766"/>
                    <a:pt x="489276" y="226332"/>
                  </a:cubicBezTo>
                  <a:cubicBezTo>
                    <a:pt x="487903" y="224867"/>
                    <a:pt x="487182" y="222909"/>
                    <a:pt x="487276" y="220903"/>
                  </a:cubicBezTo>
                  <a:cubicBezTo>
                    <a:pt x="491315" y="168701"/>
                    <a:pt x="534931" y="128450"/>
                    <a:pt x="587288" y="128606"/>
                  </a:cubicBezTo>
                  <a:cubicBezTo>
                    <a:pt x="639700" y="128310"/>
                    <a:pt x="683397" y="168636"/>
                    <a:pt x="687301" y="220903"/>
                  </a:cubicBezTo>
                  <a:close/>
                </a:path>
              </a:pathLst>
            </a:custGeom>
            <a:solidFill>
              <a:srgbClr val="FFFFFF"/>
            </a:solidFill>
            <a:ln>
              <a:noFill/>
            </a:ln>
          </p:spPr>
          <p:txBody>
            <a:bodyPr rtlCol="0" anchor="ctr"/>
            <a:lstStyle/>
            <a:p>
              <a:pPr algn="ctr"/>
              <a:endParaRPr/>
            </a:p>
          </p:txBody>
        </p:sp>
        <p:sp>
          <p:nvSpPr>
            <p:cNvPr id="8" name="Rounded Rectangle 10">
              <a:extLst>
                <a:ext uri="{FF2B5EF4-FFF2-40B4-BE49-F238E27FC236}">
                  <a16:creationId xmlns:a16="http://schemas.microsoft.com/office/drawing/2014/main" id="{9A7633DF-BE31-4414-D744-68CD3ABAF23D}"/>
                </a:ext>
              </a:extLst>
            </p:cNvPr>
            <p:cNvSpPr/>
            <p:nvPr/>
          </p:nvSpPr>
          <p:spPr>
            <a:xfrm>
              <a:off x="5020222" y="1834086"/>
              <a:ext cx="917282" cy="866360"/>
            </a:xfrm>
            <a:custGeom>
              <a:avLst/>
              <a:gdLst/>
              <a:ahLst/>
              <a:cxnLst/>
              <a:rect l="0" t="0" r="0" b="0"/>
              <a:pathLst>
                <a:path w="691297" h="686568">
                  <a:moveTo>
                    <a:pt x="667510" y="132637"/>
                  </a:moveTo>
                  <a:cubicBezTo>
                    <a:pt x="691297" y="211500"/>
                    <a:pt x="660301" y="296608"/>
                    <a:pt x="591370" y="341704"/>
                  </a:cubicBezTo>
                  <a:cubicBezTo>
                    <a:pt x="522439" y="386799"/>
                    <a:pt x="432041" y="381108"/>
                    <a:pt x="369310" y="327723"/>
                  </a:cubicBezTo>
                  <a:cubicBezTo>
                    <a:pt x="369745" y="321921"/>
                    <a:pt x="369745" y="316095"/>
                    <a:pt x="369310" y="310292"/>
                  </a:cubicBezTo>
                  <a:cubicBezTo>
                    <a:pt x="369310" y="262162"/>
                    <a:pt x="344029" y="217568"/>
                    <a:pt x="302730" y="192849"/>
                  </a:cubicBezTo>
                  <a:lnTo>
                    <a:pt x="302730" y="186277"/>
                  </a:lnTo>
                  <a:cubicBezTo>
                    <a:pt x="302888" y="83762"/>
                    <a:pt x="385953" y="697"/>
                    <a:pt x="488468" y="539"/>
                  </a:cubicBezTo>
                  <a:cubicBezTo>
                    <a:pt x="570838" y="0"/>
                    <a:pt x="643724" y="53775"/>
                    <a:pt x="667510" y="132637"/>
                  </a:cubicBezTo>
                  <a:close/>
                  <a:moveTo>
                    <a:pt x="510756" y="292576"/>
                  </a:moveTo>
                  <a:cubicBezTo>
                    <a:pt x="537617" y="289300"/>
                    <a:pt x="558919" y="268372"/>
                    <a:pt x="562671" y="241574"/>
                  </a:cubicBezTo>
                  <a:cubicBezTo>
                    <a:pt x="566423" y="214775"/>
                    <a:pt x="551687" y="188803"/>
                    <a:pt x="526759" y="178276"/>
                  </a:cubicBezTo>
                  <a:lnTo>
                    <a:pt x="467894" y="154559"/>
                  </a:lnTo>
                  <a:cubicBezTo>
                    <a:pt x="460296" y="151610"/>
                    <a:pt x="455895" y="143649"/>
                    <a:pt x="457439" y="135647"/>
                  </a:cubicBezTo>
                  <a:cubicBezTo>
                    <a:pt x="458984" y="127645"/>
                    <a:pt x="466031" y="121893"/>
                    <a:pt x="474180" y="121983"/>
                  </a:cubicBezTo>
                  <a:lnTo>
                    <a:pt x="531330" y="121983"/>
                  </a:lnTo>
                  <a:cubicBezTo>
                    <a:pt x="543167" y="121983"/>
                    <a:pt x="552762" y="112388"/>
                    <a:pt x="552762" y="100552"/>
                  </a:cubicBezTo>
                  <a:cubicBezTo>
                    <a:pt x="552762" y="88716"/>
                    <a:pt x="543167" y="79121"/>
                    <a:pt x="531330" y="79121"/>
                  </a:cubicBezTo>
                  <a:lnTo>
                    <a:pt x="509899" y="79121"/>
                  </a:lnTo>
                  <a:lnTo>
                    <a:pt x="509899" y="64833"/>
                  </a:lnTo>
                  <a:cubicBezTo>
                    <a:pt x="509899" y="52997"/>
                    <a:pt x="500304" y="43402"/>
                    <a:pt x="488468" y="43402"/>
                  </a:cubicBezTo>
                  <a:cubicBezTo>
                    <a:pt x="476632" y="43402"/>
                    <a:pt x="467037" y="52997"/>
                    <a:pt x="467037" y="64833"/>
                  </a:cubicBezTo>
                  <a:lnTo>
                    <a:pt x="467037" y="79978"/>
                  </a:lnTo>
                  <a:cubicBezTo>
                    <a:pt x="440176" y="83254"/>
                    <a:pt x="418874" y="104181"/>
                    <a:pt x="415122" y="130980"/>
                  </a:cubicBezTo>
                  <a:cubicBezTo>
                    <a:pt x="411371" y="157779"/>
                    <a:pt x="426106" y="183751"/>
                    <a:pt x="451035" y="194278"/>
                  </a:cubicBezTo>
                  <a:lnTo>
                    <a:pt x="509899" y="217995"/>
                  </a:lnTo>
                  <a:cubicBezTo>
                    <a:pt x="516028" y="220775"/>
                    <a:pt x="519868" y="226986"/>
                    <a:pt x="519615" y="233712"/>
                  </a:cubicBezTo>
                  <a:cubicBezTo>
                    <a:pt x="519615" y="243023"/>
                    <a:pt x="512066" y="250571"/>
                    <a:pt x="502755" y="250571"/>
                  </a:cubicBezTo>
                  <a:lnTo>
                    <a:pt x="445605" y="250571"/>
                  </a:lnTo>
                  <a:cubicBezTo>
                    <a:pt x="433769" y="250571"/>
                    <a:pt x="424174" y="260166"/>
                    <a:pt x="424174" y="272002"/>
                  </a:cubicBezTo>
                  <a:cubicBezTo>
                    <a:pt x="424174" y="283838"/>
                    <a:pt x="433769" y="293433"/>
                    <a:pt x="445605" y="293433"/>
                  </a:cubicBezTo>
                  <a:lnTo>
                    <a:pt x="467037" y="293433"/>
                  </a:lnTo>
                  <a:lnTo>
                    <a:pt x="467037" y="307721"/>
                  </a:lnTo>
                  <a:cubicBezTo>
                    <a:pt x="467037" y="319557"/>
                    <a:pt x="476632" y="329152"/>
                    <a:pt x="488468" y="329152"/>
                  </a:cubicBezTo>
                  <a:cubicBezTo>
                    <a:pt x="500304" y="329152"/>
                    <a:pt x="509899" y="319557"/>
                    <a:pt x="509899" y="307721"/>
                  </a:cubicBezTo>
                  <a:lnTo>
                    <a:pt x="509899" y="293148"/>
                  </a:lnTo>
                  <a:close/>
                  <a:moveTo>
                    <a:pt x="124137" y="310292"/>
                  </a:moveTo>
                  <a:cubicBezTo>
                    <a:pt x="124126" y="250473"/>
                    <a:pt x="172617" y="201974"/>
                    <a:pt x="232436" y="201974"/>
                  </a:cubicBezTo>
                  <a:cubicBezTo>
                    <a:pt x="292255" y="201974"/>
                    <a:pt x="340746" y="250473"/>
                    <a:pt x="340735" y="310292"/>
                  </a:cubicBezTo>
                  <a:cubicBezTo>
                    <a:pt x="340746" y="370112"/>
                    <a:pt x="292255" y="418611"/>
                    <a:pt x="232436" y="418611"/>
                  </a:cubicBezTo>
                  <a:cubicBezTo>
                    <a:pt x="172617" y="418611"/>
                    <a:pt x="124126" y="370112"/>
                    <a:pt x="124137" y="310292"/>
                  </a:cubicBezTo>
                  <a:moveTo>
                    <a:pt x="237579" y="686339"/>
                  </a:moveTo>
                  <a:lnTo>
                    <a:pt x="224149" y="686339"/>
                  </a:lnTo>
                  <a:cubicBezTo>
                    <a:pt x="165869" y="686340"/>
                    <a:pt x="118579" y="639178"/>
                    <a:pt x="118422" y="580898"/>
                  </a:cubicBezTo>
                  <a:cubicBezTo>
                    <a:pt x="118422" y="565116"/>
                    <a:pt x="131215" y="552323"/>
                    <a:pt x="146997" y="552323"/>
                  </a:cubicBezTo>
                  <a:lnTo>
                    <a:pt x="315303" y="552323"/>
                  </a:lnTo>
                  <a:cubicBezTo>
                    <a:pt x="331085" y="552323"/>
                    <a:pt x="343878" y="565116"/>
                    <a:pt x="343878" y="580898"/>
                  </a:cubicBezTo>
                  <a:cubicBezTo>
                    <a:pt x="343879" y="609012"/>
                    <a:pt x="332653" y="635962"/>
                    <a:pt x="312693" y="655761"/>
                  </a:cubicBezTo>
                  <a:cubicBezTo>
                    <a:pt x="292733" y="675560"/>
                    <a:pt x="265693" y="686568"/>
                    <a:pt x="237579" y="686339"/>
                  </a:cubicBezTo>
                  <a:close/>
                  <a:moveTo>
                    <a:pt x="442748" y="488886"/>
                  </a:moveTo>
                  <a:cubicBezTo>
                    <a:pt x="459654" y="504357"/>
                    <a:pt x="468149" y="526976"/>
                    <a:pt x="465608" y="549751"/>
                  </a:cubicBezTo>
                  <a:cubicBezTo>
                    <a:pt x="463519" y="571668"/>
                    <a:pt x="451119" y="591280"/>
                    <a:pt x="432216" y="602565"/>
                  </a:cubicBezTo>
                  <a:cubicBezTo>
                    <a:pt x="413313" y="613851"/>
                    <a:pt x="390165" y="615461"/>
                    <a:pt x="369882" y="606901"/>
                  </a:cubicBezTo>
                  <a:cubicBezTo>
                    <a:pt x="371601" y="598244"/>
                    <a:pt x="372462" y="589438"/>
                    <a:pt x="372453" y="580612"/>
                  </a:cubicBezTo>
                  <a:cubicBezTo>
                    <a:pt x="372453" y="549049"/>
                    <a:pt x="346866" y="523462"/>
                    <a:pt x="315303" y="523462"/>
                  </a:cubicBezTo>
                  <a:lnTo>
                    <a:pt x="146997" y="523462"/>
                  </a:lnTo>
                  <a:cubicBezTo>
                    <a:pt x="115434" y="523462"/>
                    <a:pt x="89847" y="549049"/>
                    <a:pt x="89847" y="580612"/>
                  </a:cubicBezTo>
                  <a:cubicBezTo>
                    <a:pt x="89851" y="590223"/>
                    <a:pt x="90905" y="599805"/>
                    <a:pt x="92990" y="609187"/>
                  </a:cubicBezTo>
                  <a:cubicBezTo>
                    <a:pt x="72777" y="615723"/>
                    <a:pt x="50684" y="612646"/>
                    <a:pt x="33026" y="600837"/>
                  </a:cubicBezTo>
                  <a:cubicBezTo>
                    <a:pt x="15368" y="589028"/>
                    <a:pt x="4087" y="569785"/>
                    <a:pt x="2407" y="548608"/>
                  </a:cubicBezTo>
                  <a:cubicBezTo>
                    <a:pt x="0" y="526046"/>
                    <a:pt x="8239" y="503650"/>
                    <a:pt x="24696" y="488029"/>
                  </a:cubicBezTo>
                  <a:cubicBezTo>
                    <a:pt x="58369" y="455841"/>
                    <a:pt x="96952" y="429219"/>
                    <a:pt x="138996" y="409162"/>
                  </a:cubicBezTo>
                  <a:cubicBezTo>
                    <a:pt x="191639" y="459309"/>
                    <a:pt x="274375" y="459309"/>
                    <a:pt x="327019" y="409162"/>
                  </a:cubicBezTo>
                  <a:cubicBezTo>
                    <a:pt x="369622" y="429357"/>
                    <a:pt x="408698" y="456276"/>
                    <a:pt x="442748" y="488886"/>
                  </a:cubicBezTo>
                  <a:close/>
                </a:path>
              </a:pathLst>
            </a:custGeom>
            <a:solidFill>
              <a:srgbClr val="FFFFFF"/>
            </a:solidFill>
            <a:ln>
              <a:noFill/>
            </a:ln>
          </p:spPr>
          <p:txBody>
            <a:bodyPr rtlCol="0" anchor="ctr"/>
            <a:lstStyle/>
            <a:p>
              <a:pPr algn="ctr"/>
              <a:endParaRPr/>
            </a:p>
          </p:txBody>
        </p:sp>
        <p:sp>
          <p:nvSpPr>
            <p:cNvPr id="9" name="TextBox 8">
              <a:extLst>
                <a:ext uri="{FF2B5EF4-FFF2-40B4-BE49-F238E27FC236}">
                  <a16:creationId xmlns:a16="http://schemas.microsoft.com/office/drawing/2014/main" id="{09CD7351-375F-46B3-5575-7D85BFB62A56}"/>
                </a:ext>
              </a:extLst>
            </p:cNvPr>
            <p:cNvSpPr txBox="1"/>
            <p:nvPr/>
          </p:nvSpPr>
          <p:spPr>
            <a:xfrm>
              <a:off x="2515652" y="3857016"/>
              <a:ext cx="1660711" cy="307777"/>
            </a:xfrm>
            <a:prstGeom prst="rect">
              <a:avLst/>
            </a:prstGeom>
            <a:noFill/>
            <a:ln>
              <a:noFill/>
            </a:ln>
          </p:spPr>
          <p:txBody>
            <a:bodyPr wrap="none" lIns="0" tIns="0" rIns="0" bIns="0" anchor="t">
              <a:spAutoFit/>
            </a:bodyPr>
            <a:lstStyle/>
            <a:p>
              <a:pPr algn="ctr"/>
              <a:r>
                <a:rPr sz="2000" b="1" dirty="0">
                  <a:solidFill>
                    <a:srgbClr val="E0CB15"/>
                  </a:solidFill>
                  <a:latin typeface="Roboto"/>
                </a:rPr>
                <a:t>Applicable For</a:t>
              </a:r>
            </a:p>
          </p:txBody>
        </p:sp>
        <p:sp>
          <p:nvSpPr>
            <p:cNvPr id="10" name="TextBox 9">
              <a:extLst>
                <a:ext uri="{FF2B5EF4-FFF2-40B4-BE49-F238E27FC236}">
                  <a16:creationId xmlns:a16="http://schemas.microsoft.com/office/drawing/2014/main" id="{291C7FDC-35D5-35C1-E5A5-96055F349722}"/>
                </a:ext>
              </a:extLst>
            </p:cNvPr>
            <p:cNvSpPr txBox="1"/>
            <p:nvPr/>
          </p:nvSpPr>
          <p:spPr>
            <a:xfrm>
              <a:off x="4706103" y="3870454"/>
              <a:ext cx="1734449" cy="307777"/>
            </a:xfrm>
            <a:prstGeom prst="rect">
              <a:avLst/>
            </a:prstGeom>
            <a:noFill/>
            <a:ln>
              <a:noFill/>
            </a:ln>
          </p:spPr>
          <p:txBody>
            <a:bodyPr wrap="none" lIns="0" tIns="0" rIns="0" bIns="0" anchor="t">
              <a:spAutoFit/>
            </a:bodyPr>
            <a:lstStyle/>
            <a:p>
              <a:pPr algn="ctr"/>
              <a:r>
                <a:rPr sz="2000" b="1" dirty="0">
                  <a:solidFill>
                    <a:srgbClr val="DE8431"/>
                  </a:solidFill>
                  <a:latin typeface="Roboto"/>
                </a:rPr>
                <a:t>Income Source</a:t>
              </a:r>
            </a:p>
          </p:txBody>
        </p:sp>
        <p:sp>
          <p:nvSpPr>
            <p:cNvPr id="11" name="TextBox 10">
              <a:extLst>
                <a:ext uri="{FF2B5EF4-FFF2-40B4-BE49-F238E27FC236}">
                  <a16:creationId xmlns:a16="http://schemas.microsoft.com/office/drawing/2014/main" id="{67DFF487-788F-5A3F-E87A-A24578AB2500}"/>
                </a:ext>
              </a:extLst>
            </p:cNvPr>
            <p:cNvSpPr txBox="1"/>
            <p:nvPr/>
          </p:nvSpPr>
          <p:spPr>
            <a:xfrm>
              <a:off x="2309044" y="4287991"/>
              <a:ext cx="2087110" cy="830997"/>
            </a:xfrm>
            <a:prstGeom prst="rect">
              <a:avLst/>
            </a:prstGeom>
            <a:noFill/>
            <a:ln>
              <a:noFill/>
            </a:ln>
          </p:spPr>
          <p:txBody>
            <a:bodyPr wrap="none" lIns="0" tIns="0" rIns="0" bIns="0" anchor="t">
              <a:spAutoFit/>
            </a:bodyPr>
            <a:lstStyle/>
            <a:p>
              <a:pPr algn="ctr"/>
              <a:r>
                <a:rPr b="0" dirty="0">
                  <a:solidFill>
                    <a:srgbClr val="484848"/>
                  </a:solidFill>
                  <a:latin typeface="Roboto"/>
                </a:rPr>
                <a:t>Individual and Hindu
Undivided Family
(HUF).</a:t>
              </a:r>
            </a:p>
          </p:txBody>
        </p:sp>
        <p:sp>
          <p:nvSpPr>
            <p:cNvPr id="12" name="TextBox 11">
              <a:extLst>
                <a:ext uri="{FF2B5EF4-FFF2-40B4-BE49-F238E27FC236}">
                  <a16:creationId xmlns:a16="http://schemas.microsoft.com/office/drawing/2014/main" id="{E7E89651-3609-E58D-C1B4-EF4EA97E6656}"/>
                </a:ext>
              </a:extLst>
            </p:cNvPr>
            <p:cNvSpPr txBox="1"/>
            <p:nvPr/>
          </p:nvSpPr>
          <p:spPr>
            <a:xfrm>
              <a:off x="4609923" y="4287991"/>
              <a:ext cx="1830629" cy="830997"/>
            </a:xfrm>
            <a:prstGeom prst="rect">
              <a:avLst/>
            </a:prstGeom>
            <a:noFill/>
            <a:ln>
              <a:noFill/>
            </a:ln>
          </p:spPr>
          <p:txBody>
            <a:bodyPr wrap="none" lIns="0" tIns="0" rIns="0" bIns="0" anchor="t">
              <a:spAutoFit/>
            </a:bodyPr>
            <a:lstStyle/>
            <a:p>
              <a:pPr algn="ctr"/>
              <a:r>
                <a:rPr b="0" dirty="0">
                  <a:solidFill>
                    <a:srgbClr val="484848"/>
                  </a:solidFill>
                  <a:latin typeface="Roboto"/>
                </a:rPr>
                <a:t>Having Income
under the head
Profits and Gains.</a:t>
              </a:r>
            </a:p>
          </p:txBody>
        </p:sp>
      </p:grpSp>
    </p:spTree>
    <p:extLst>
      <p:ext uri="{BB962C8B-B14F-4D97-AF65-F5344CB8AC3E}">
        <p14:creationId xmlns:p14="http://schemas.microsoft.com/office/powerpoint/2010/main" val="336274059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B73DD-608D-5597-4DF5-00633BB4E933}"/>
            </a:ext>
          </a:extLst>
        </p:cNvPr>
        <p:cNvGrpSpPr/>
        <p:nvPr/>
      </p:nvGrpSpPr>
      <p:grpSpPr>
        <a:xfrm>
          <a:off x="0" y="0"/>
          <a:ext cx="0" cy="0"/>
          <a:chOff x="0" y="0"/>
          <a:chExt cx="0" cy="0"/>
        </a:xfrm>
      </p:grpSpPr>
      <p:sp>
        <p:nvSpPr>
          <p:cNvPr id="27" name="TextBox 26">
            <a:extLst>
              <a:ext uri="{FF2B5EF4-FFF2-40B4-BE49-F238E27FC236}">
                <a16:creationId xmlns:a16="http://schemas.microsoft.com/office/drawing/2014/main" id="{7FA3B5C2-5205-21D7-11A3-65741D37047D}"/>
              </a:ext>
            </a:extLst>
          </p:cNvPr>
          <p:cNvSpPr txBox="1"/>
          <p:nvPr/>
        </p:nvSpPr>
        <p:spPr>
          <a:xfrm>
            <a:off x="3414382" y="34385"/>
            <a:ext cx="5163272" cy="1200329"/>
          </a:xfrm>
          <a:prstGeom prst="rect">
            <a:avLst/>
          </a:prstGeom>
          <a:noFill/>
          <a:ln>
            <a:noFill/>
          </a:ln>
        </p:spPr>
        <p:txBody>
          <a:bodyPr wrap="none" lIns="0" tIns="0" rIns="0" bIns="0" anchor="t">
            <a:spAutoFit/>
          </a:bodyPr>
          <a:lstStyle/>
          <a:p>
            <a:pPr algn="ctr"/>
            <a:r>
              <a:rPr sz="6000" b="1" dirty="0">
                <a:solidFill>
                  <a:srgbClr val="484848"/>
                </a:solidFill>
                <a:latin typeface="Roboto"/>
              </a:rPr>
              <a:t>ITR-</a:t>
            </a:r>
            <a:r>
              <a:rPr lang="en-IN" sz="6000" b="1" dirty="0">
                <a:solidFill>
                  <a:srgbClr val="484848"/>
                </a:solidFill>
                <a:latin typeface="Roboto"/>
              </a:rPr>
              <a:t>4</a:t>
            </a:r>
          </a:p>
          <a:p>
            <a:pPr algn="ctr"/>
            <a:r>
              <a:rPr lang="en-US" b="1" dirty="0"/>
              <a:t>Applicable for Individual, HUF and Firm (other than LLP)</a:t>
            </a:r>
            <a:endParaRPr sz="1700" b="1" dirty="0">
              <a:solidFill>
                <a:srgbClr val="484848"/>
              </a:solidFill>
              <a:latin typeface="Roboto"/>
            </a:endParaRPr>
          </a:p>
        </p:txBody>
      </p:sp>
      <p:sp>
        <p:nvSpPr>
          <p:cNvPr id="39" name="TextBox 38">
            <a:extLst>
              <a:ext uri="{FF2B5EF4-FFF2-40B4-BE49-F238E27FC236}">
                <a16:creationId xmlns:a16="http://schemas.microsoft.com/office/drawing/2014/main" id="{AA4D4AE5-93B9-F5C6-EADC-7951A60E435F}"/>
              </a:ext>
            </a:extLst>
          </p:cNvPr>
          <p:cNvSpPr txBox="1"/>
          <p:nvPr/>
        </p:nvSpPr>
        <p:spPr>
          <a:xfrm>
            <a:off x="0" y="6181077"/>
            <a:ext cx="1984070" cy="369332"/>
          </a:xfrm>
          <a:prstGeom prst="rect">
            <a:avLst/>
          </a:prstGeom>
          <a:noFill/>
        </p:spPr>
        <p:txBody>
          <a:bodyPr wrap="square">
            <a:spAutoFit/>
          </a:bodyPr>
          <a:lstStyle/>
          <a:p>
            <a:pPr algn="l">
              <a:spcBef>
                <a:spcPts val="2400"/>
              </a:spcBef>
              <a:spcAft>
                <a:spcPts val="1800"/>
              </a:spcAft>
              <a:buNone/>
            </a:pPr>
            <a:r>
              <a:rPr lang="en-US" b="1" i="0" dirty="0">
                <a:effectLst/>
                <a:latin typeface="Roboto" panose="02000000000000000000" pitchFamily="2" charset="0"/>
              </a:rPr>
              <a:t>For AY 2025-26</a:t>
            </a:r>
          </a:p>
        </p:txBody>
      </p:sp>
      <p:grpSp>
        <p:nvGrpSpPr>
          <p:cNvPr id="2" name="Group 1">
            <a:extLst>
              <a:ext uri="{FF2B5EF4-FFF2-40B4-BE49-F238E27FC236}">
                <a16:creationId xmlns:a16="http://schemas.microsoft.com/office/drawing/2014/main" id="{7F2C7679-E6DD-491E-E931-676B801AFC90}"/>
              </a:ext>
            </a:extLst>
          </p:cNvPr>
          <p:cNvGrpSpPr/>
          <p:nvPr/>
        </p:nvGrpSpPr>
        <p:grpSpPr>
          <a:xfrm>
            <a:off x="1651989" y="1373716"/>
            <a:ext cx="8888022" cy="4882173"/>
            <a:chOff x="127989" y="1586204"/>
            <a:chExt cx="8888022" cy="4882173"/>
          </a:xfrm>
        </p:grpSpPr>
        <p:grpSp>
          <p:nvGrpSpPr>
            <p:cNvPr id="3" name="Group 2">
              <a:extLst>
                <a:ext uri="{FF2B5EF4-FFF2-40B4-BE49-F238E27FC236}">
                  <a16:creationId xmlns:a16="http://schemas.microsoft.com/office/drawing/2014/main" id="{65B9B6F2-EF39-4F54-2C52-29C8B8A08245}"/>
                </a:ext>
              </a:extLst>
            </p:cNvPr>
            <p:cNvGrpSpPr/>
            <p:nvPr/>
          </p:nvGrpSpPr>
          <p:grpSpPr>
            <a:xfrm>
              <a:off x="666361" y="1719130"/>
              <a:ext cx="1386036" cy="1404642"/>
              <a:chOff x="534389" y="1184563"/>
              <a:chExt cx="1282535" cy="1282535"/>
            </a:xfrm>
          </p:grpSpPr>
          <p:sp>
            <p:nvSpPr>
              <p:cNvPr id="37" name="Rounded Rectangle 1">
                <a:extLst>
                  <a:ext uri="{FF2B5EF4-FFF2-40B4-BE49-F238E27FC236}">
                    <a16:creationId xmlns:a16="http://schemas.microsoft.com/office/drawing/2014/main" id="{AA537A24-2EBB-C64F-238E-1DBBAC7B3C77}"/>
                  </a:ext>
                </a:extLst>
              </p:cNvPr>
              <p:cNvSpPr/>
              <p:nvPr/>
            </p:nvSpPr>
            <p:spPr>
              <a:xfrm>
                <a:off x="534389" y="1184563"/>
                <a:ext cx="1282535" cy="1282535"/>
              </a:xfrm>
              <a:custGeom>
                <a:avLst/>
                <a:gdLst/>
                <a:ahLst/>
                <a:cxnLst/>
                <a:rect l="0" t="0" r="0" b="0"/>
                <a:pathLst>
                  <a:path w="1282535" h="1282535">
                    <a:moveTo>
                      <a:pt x="1282535" y="641267"/>
                    </a:moveTo>
                    <a:cubicBezTo>
                      <a:pt x="1282535" y="995429"/>
                      <a:pt x="995429" y="1282535"/>
                      <a:pt x="641267" y="1282535"/>
                    </a:cubicBezTo>
                    <a:cubicBezTo>
                      <a:pt x="287105" y="1282535"/>
                      <a:pt x="0" y="995429"/>
                      <a:pt x="0" y="641267"/>
                    </a:cubicBezTo>
                    <a:cubicBezTo>
                      <a:pt x="0" y="287105"/>
                      <a:pt x="287105" y="0"/>
                      <a:pt x="641267" y="0"/>
                    </a:cubicBezTo>
                    <a:cubicBezTo>
                      <a:pt x="995429" y="0"/>
                      <a:pt x="1282535" y="287105"/>
                      <a:pt x="1282535" y="641267"/>
                    </a:cubicBezTo>
                    <a:close/>
                  </a:path>
                </a:pathLst>
              </a:custGeom>
              <a:solidFill>
                <a:srgbClr val="E0CB15"/>
              </a:solidFill>
              <a:ln>
                <a:noFill/>
              </a:ln>
            </p:spPr>
            <p:txBody>
              <a:bodyPr rtlCol="0" anchor="ctr"/>
              <a:lstStyle/>
              <a:p>
                <a:pPr algn="ctr"/>
                <a:endParaRPr/>
              </a:p>
            </p:txBody>
          </p:sp>
          <p:sp>
            <p:nvSpPr>
              <p:cNvPr id="54" name="Rounded Rectangle 2">
                <a:extLst>
                  <a:ext uri="{FF2B5EF4-FFF2-40B4-BE49-F238E27FC236}">
                    <a16:creationId xmlns:a16="http://schemas.microsoft.com/office/drawing/2014/main" id="{738CA56B-6DD1-F8CC-0857-8F95BF1CBA69}"/>
                  </a:ext>
                </a:extLst>
              </p:cNvPr>
              <p:cNvSpPr/>
              <p:nvPr/>
            </p:nvSpPr>
            <p:spPr>
              <a:xfrm>
                <a:off x="534389" y="1184563"/>
                <a:ext cx="1282535" cy="1282535"/>
              </a:xfrm>
              <a:custGeom>
                <a:avLst/>
                <a:gdLst/>
                <a:ahLst/>
                <a:cxnLst/>
                <a:rect l="0" t="0" r="0" b="0"/>
                <a:pathLst>
                  <a:path w="1282535" h="1282535">
                    <a:moveTo>
                      <a:pt x="1282535" y="641267"/>
                    </a:moveTo>
                    <a:cubicBezTo>
                      <a:pt x="1282535" y="995429"/>
                      <a:pt x="995429" y="1282535"/>
                      <a:pt x="641267" y="1282535"/>
                    </a:cubicBezTo>
                    <a:cubicBezTo>
                      <a:pt x="287105" y="1282535"/>
                      <a:pt x="0" y="995429"/>
                      <a:pt x="0" y="641267"/>
                    </a:cubicBezTo>
                    <a:cubicBezTo>
                      <a:pt x="0" y="287105"/>
                      <a:pt x="287105" y="0"/>
                      <a:pt x="641267" y="0"/>
                    </a:cubicBezTo>
                    <a:cubicBezTo>
                      <a:pt x="995429" y="0"/>
                      <a:pt x="1282535" y="287105"/>
                      <a:pt x="1282535" y="641267"/>
                    </a:cubicBezTo>
                    <a:close/>
                  </a:path>
                </a:pathLst>
              </a:custGeom>
              <a:noFill/>
              <a:ln w="13359">
                <a:solidFill>
                  <a:srgbClr val="FFFFFF"/>
                </a:solidFill>
              </a:ln>
            </p:spPr>
            <p:txBody>
              <a:bodyPr rtlCol="0" anchor="ctr"/>
              <a:lstStyle/>
              <a:p>
                <a:pPr algn="ctr"/>
                <a:endParaRPr/>
              </a:p>
            </p:txBody>
          </p:sp>
        </p:grpSp>
        <p:sp>
          <p:nvSpPr>
            <p:cNvPr id="4" name="Rounded Rectangle 4">
              <a:extLst>
                <a:ext uri="{FF2B5EF4-FFF2-40B4-BE49-F238E27FC236}">
                  <a16:creationId xmlns:a16="http://schemas.microsoft.com/office/drawing/2014/main" id="{2050A739-CDB7-A625-F233-2AC3DD8FBEDF}"/>
                </a:ext>
              </a:extLst>
            </p:cNvPr>
            <p:cNvSpPr/>
            <p:nvPr/>
          </p:nvSpPr>
          <p:spPr>
            <a:xfrm>
              <a:off x="550859" y="1586204"/>
              <a:ext cx="1632703" cy="2015535"/>
            </a:xfrm>
            <a:custGeom>
              <a:avLst/>
              <a:gdLst/>
              <a:ahLst/>
              <a:cxnLst/>
              <a:rect l="0" t="0" r="0" b="0"/>
              <a:pathLst>
                <a:path w="1510782" h="1840322">
                  <a:moveTo>
                    <a:pt x="0" y="762637"/>
                  </a:moveTo>
                  <a:cubicBezTo>
                    <a:pt x="0" y="614668"/>
                    <a:pt x="43877" y="470022"/>
                    <a:pt x="126085" y="346989"/>
                  </a:cubicBezTo>
                  <a:cubicBezTo>
                    <a:pt x="208292" y="223958"/>
                    <a:pt x="325136" y="128066"/>
                    <a:pt x="461842" y="71441"/>
                  </a:cubicBezTo>
                  <a:cubicBezTo>
                    <a:pt x="598548" y="14815"/>
                    <a:pt x="748975" y="0"/>
                    <a:pt x="894101" y="28867"/>
                  </a:cubicBezTo>
                  <a:cubicBezTo>
                    <a:pt x="1039227" y="57734"/>
                    <a:pt x="1172534" y="128989"/>
                    <a:pt x="1277164" y="233619"/>
                  </a:cubicBezTo>
                  <a:cubicBezTo>
                    <a:pt x="1381794" y="338249"/>
                    <a:pt x="1453048" y="471556"/>
                    <a:pt x="1481915" y="616682"/>
                  </a:cubicBezTo>
                  <a:cubicBezTo>
                    <a:pt x="1510782" y="761808"/>
                    <a:pt x="1495966" y="912235"/>
                    <a:pt x="1439341" y="1048940"/>
                  </a:cubicBezTo>
                  <a:cubicBezTo>
                    <a:pt x="1382716" y="1185646"/>
                    <a:pt x="1286824" y="1302490"/>
                    <a:pt x="1163792" y="1384697"/>
                  </a:cubicBezTo>
                  <a:cubicBezTo>
                    <a:pt x="1040760" y="1466904"/>
                    <a:pt x="900567" y="1510782"/>
                    <a:pt x="752598" y="1510782"/>
                  </a:cubicBezTo>
                  <a:lnTo>
                    <a:pt x="752599" y="1840322"/>
                  </a:lnTo>
                  <a:moveTo>
                    <a:pt x="621713" y="1709906"/>
                  </a:moveTo>
                  <a:lnTo>
                    <a:pt x="752599" y="1840322"/>
                  </a:lnTo>
                  <a:moveTo>
                    <a:pt x="883486" y="1709906"/>
                  </a:moveTo>
                  <a:lnTo>
                    <a:pt x="752599" y="1840322"/>
                  </a:lnTo>
                </a:path>
              </a:pathLst>
            </a:custGeom>
            <a:noFill/>
            <a:ln w="13359">
              <a:solidFill>
                <a:srgbClr val="484848"/>
              </a:solidFill>
            </a:ln>
          </p:spPr>
          <p:txBody>
            <a:bodyPr rtlCol="0" anchor="ctr"/>
            <a:lstStyle/>
            <a:p>
              <a:pPr algn="ctr"/>
              <a:endParaRPr/>
            </a:p>
          </p:txBody>
        </p:sp>
        <p:grpSp>
          <p:nvGrpSpPr>
            <p:cNvPr id="5" name="Group 4">
              <a:extLst>
                <a:ext uri="{FF2B5EF4-FFF2-40B4-BE49-F238E27FC236}">
                  <a16:creationId xmlns:a16="http://schemas.microsoft.com/office/drawing/2014/main" id="{8707C108-F592-2BF4-2A52-6D522FE51109}"/>
                </a:ext>
              </a:extLst>
            </p:cNvPr>
            <p:cNvGrpSpPr/>
            <p:nvPr/>
          </p:nvGrpSpPr>
          <p:grpSpPr>
            <a:xfrm>
              <a:off x="2283404" y="1719130"/>
              <a:ext cx="1386036" cy="1404642"/>
              <a:chOff x="2030680" y="1184563"/>
              <a:chExt cx="1282535" cy="1282535"/>
            </a:xfrm>
          </p:grpSpPr>
          <p:sp>
            <p:nvSpPr>
              <p:cNvPr id="35" name="Rounded Rectangle 5">
                <a:extLst>
                  <a:ext uri="{FF2B5EF4-FFF2-40B4-BE49-F238E27FC236}">
                    <a16:creationId xmlns:a16="http://schemas.microsoft.com/office/drawing/2014/main" id="{4A4CC6DD-8943-B631-B810-64F06D2AD5D3}"/>
                  </a:ext>
                </a:extLst>
              </p:cNvPr>
              <p:cNvSpPr/>
              <p:nvPr/>
            </p:nvSpPr>
            <p:spPr>
              <a:xfrm>
                <a:off x="2030680" y="1184563"/>
                <a:ext cx="1282535" cy="1282535"/>
              </a:xfrm>
              <a:custGeom>
                <a:avLst/>
                <a:gdLst/>
                <a:ahLst/>
                <a:cxnLst/>
                <a:rect l="0" t="0" r="0" b="0"/>
                <a:pathLst>
                  <a:path w="1282535" h="1282535">
                    <a:moveTo>
                      <a:pt x="1282535" y="641267"/>
                    </a:moveTo>
                    <a:cubicBezTo>
                      <a:pt x="1282535" y="995429"/>
                      <a:pt x="995429" y="1282535"/>
                      <a:pt x="641267" y="1282535"/>
                    </a:cubicBezTo>
                    <a:cubicBezTo>
                      <a:pt x="287105" y="1282535"/>
                      <a:pt x="0" y="995429"/>
                      <a:pt x="0" y="641267"/>
                    </a:cubicBezTo>
                    <a:cubicBezTo>
                      <a:pt x="0" y="287105"/>
                      <a:pt x="287105" y="0"/>
                      <a:pt x="641267" y="0"/>
                    </a:cubicBezTo>
                    <a:cubicBezTo>
                      <a:pt x="995429" y="0"/>
                      <a:pt x="1282535" y="287105"/>
                      <a:pt x="1282535" y="641267"/>
                    </a:cubicBezTo>
                    <a:close/>
                  </a:path>
                </a:pathLst>
              </a:custGeom>
              <a:solidFill>
                <a:srgbClr val="DE8431"/>
              </a:solidFill>
              <a:ln>
                <a:noFill/>
              </a:ln>
            </p:spPr>
            <p:txBody>
              <a:bodyPr rtlCol="0" anchor="ctr"/>
              <a:lstStyle/>
              <a:p>
                <a:pPr algn="ctr"/>
                <a:endParaRPr/>
              </a:p>
            </p:txBody>
          </p:sp>
          <p:sp>
            <p:nvSpPr>
              <p:cNvPr id="36" name="Rounded Rectangle 6">
                <a:extLst>
                  <a:ext uri="{FF2B5EF4-FFF2-40B4-BE49-F238E27FC236}">
                    <a16:creationId xmlns:a16="http://schemas.microsoft.com/office/drawing/2014/main" id="{9D0A8D1C-2FAE-7444-C2D4-AB1540F22C0D}"/>
                  </a:ext>
                </a:extLst>
              </p:cNvPr>
              <p:cNvSpPr/>
              <p:nvPr/>
            </p:nvSpPr>
            <p:spPr>
              <a:xfrm>
                <a:off x="2030680" y="1184563"/>
                <a:ext cx="1282535" cy="1282535"/>
              </a:xfrm>
              <a:custGeom>
                <a:avLst/>
                <a:gdLst/>
                <a:ahLst/>
                <a:cxnLst/>
                <a:rect l="0" t="0" r="0" b="0"/>
                <a:pathLst>
                  <a:path w="1282535" h="1282535">
                    <a:moveTo>
                      <a:pt x="1282535" y="641267"/>
                    </a:moveTo>
                    <a:cubicBezTo>
                      <a:pt x="1282535" y="995429"/>
                      <a:pt x="995429" y="1282535"/>
                      <a:pt x="641267" y="1282535"/>
                    </a:cubicBezTo>
                    <a:cubicBezTo>
                      <a:pt x="287105" y="1282535"/>
                      <a:pt x="0" y="995429"/>
                      <a:pt x="0" y="641267"/>
                    </a:cubicBezTo>
                    <a:cubicBezTo>
                      <a:pt x="0" y="287105"/>
                      <a:pt x="287105" y="0"/>
                      <a:pt x="641267" y="0"/>
                    </a:cubicBezTo>
                    <a:cubicBezTo>
                      <a:pt x="995429" y="0"/>
                      <a:pt x="1282535" y="287105"/>
                      <a:pt x="1282535" y="641267"/>
                    </a:cubicBezTo>
                    <a:close/>
                  </a:path>
                </a:pathLst>
              </a:custGeom>
              <a:noFill/>
              <a:ln w="13359">
                <a:solidFill>
                  <a:srgbClr val="FFFFFF"/>
                </a:solidFill>
              </a:ln>
            </p:spPr>
            <p:txBody>
              <a:bodyPr rtlCol="0" anchor="ctr"/>
              <a:lstStyle/>
              <a:p>
                <a:pPr algn="ctr"/>
                <a:endParaRPr/>
              </a:p>
            </p:txBody>
          </p:sp>
        </p:grpSp>
        <p:sp>
          <p:nvSpPr>
            <p:cNvPr id="6" name="Rounded Rectangle 8">
              <a:extLst>
                <a:ext uri="{FF2B5EF4-FFF2-40B4-BE49-F238E27FC236}">
                  <a16:creationId xmlns:a16="http://schemas.microsoft.com/office/drawing/2014/main" id="{DCDC9367-2019-6A7E-B914-164D9ED1BE29}"/>
                </a:ext>
              </a:extLst>
            </p:cNvPr>
            <p:cNvSpPr/>
            <p:nvPr/>
          </p:nvSpPr>
          <p:spPr>
            <a:xfrm>
              <a:off x="2167900" y="1586204"/>
              <a:ext cx="1632703" cy="2015535"/>
            </a:xfrm>
            <a:custGeom>
              <a:avLst/>
              <a:gdLst/>
              <a:ahLst/>
              <a:cxnLst/>
              <a:rect l="0" t="0" r="0" b="0"/>
              <a:pathLst>
                <a:path w="1510782" h="1840322">
                  <a:moveTo>
                    <a:pt x="0" y="762637"/>
                  </a:moveTo>
                  <a:cubicBezTo>
                    <a:pt x="0" y="614668"/>
                    <a:pt x="43877" y="470022"/>
                    <a:pt x="126085" y="346989"/>
                  </a:cubicBezTo>
                  <a:cubicBezTo>
                    <a:pt x="208292" y="223958"/>
                    <a:pt x="325136" y="128066"/>
                    <a:pt x="461842" y="71441"/>
                  </a:cubicBezTo>
                  <a:cubicBezTo>
                    <a:pt x="598548" y="14815"/>
                    <a:pt x="748975" y="0"/>
                    <a:pt x="894101" y="28867"/>
                  </a:cubicBezTo>
                  <a:cubicBezTo>
                    <a:pt x="1039227" y="57734"/>
                    <a:pt x="1172534" y="128989"/>
                    <a:pt x="1277164" y="233619"/>
                  </a:cubicBezTo>
                  <a:cubicBezTo>
                    <a:pt x="1381794" y="338249"/>
                    <a:pt x="1453048" y="471556"/>
                    <a:pt x="1481915" y="616682"/>
                  </a:cubicBezTo>
                  <a:cubicBezTo>
                    <a:pt x="1510782" y="761808"/>
                    <a:pt x="1495966" y="912235"/>
                    <a:pt x="1439341" y="1048940"/>
                  </a:cubicBezTo>
                  <a:cubicBezTo>
                    <a:pt x="1382716" y="1185646"/>
                    <a:pt x="1286824" y="1302490"/>
                    <a:pt x="1163792" y="1384697"/>
                  </a:cubicBezTo>
                  <a:cubicBezTo>
                    <a:pt x="1040760" y="1466904"/>
                    <a:pt x="900567" y="1510782"/>
                    <a:pt x="752598" y="1510782"/>
                  </a:cubicBezTo>
                  <a:lnTo>
                    <a:pt x="752599" y="1840322"/>
                  </a:lnTo>
                  <a:moveTo>
                    <a:pt x="621713" y="1709906"/>
                  </a:moveTo>
                  <a:lnTo>
                    <a:pt x="752599" y="1840322"/>
                  </a:lnTo>
                  <a:moveTo>
                    <a:pt x="883486" y="1709906"/>
                  </a:moveTo>
                  <a:lnTo>
                    <a:pt x="752599" y="1840322"/>
                  </a:lnTo>
                </a:path>
              </a:pathLst>
            </a:custGeom>
            <a:noFill/>
            <a:ln w="13359">
              <a:solidFill>
                <a:srgbClr val="484848"/>
              </a:solidFill>
            </a:ln>
          </p:spPr>
          <p:txBody>
            <a:bodyPr rtlCol="0" anchor="ctr"/>
            <a:lstStyle/>
            <a:p>
              <a:pPr algn="ctr"/>
              <a:endParaRPr/>
            </a:p>
          </p:txBody>
        </p:sp>
        <p:grpSp>
          <p:nvGrpSpPr>
            <p:cNvPr id="7" name="Group 6">
              <a:extLst>
                <a:ext uri="{FF2B5EF4-FFF2-40B4-BE49-F238E27FC236}">
                  <a16:creationId xmlns:a16="http://schemas.microsoft.com/office/drawing/2014/main" id="{4B3D22EF-021C-19A3-C036-138CFFC4A85F}"/>
                </a:ext>
              </a:extLst>
            </p:cNvPr>
            <p:cNvGrpSpPr/>
            <p:nvPr/>
          </p:nvGrpSpPr>
          <p:grpSpPr>
            <a:xfrm>
              <a:off x="3900446" y="1719130"/>
              <a:ext cx="1386036" cy="1404642"/>
              <a:chOff x="3526971" y="1184563"/>
              <a:chExt cx="1282535" cy="1282535"/>
            </a:xfrm>
          </p:grpSpPr>
          <p:sp>
            <p:nvSpPr>
              <p:cNvPr id="33" name="Rounded Rectangle 9">
                <a:extLst>
                  <a:ext uri="{FF2B5EF4-FFF2-40B4-BE49-F238E27FC236}">
                    <a16:creationId xmlns:a16="http://schemas.microsoft.com/office/drawing/2014/main" id="{2DE87CFF-1175-9835-0178-63A775A1EC31}"/>
                  </a:ext>
                </a:extLst>
              </p:cNvPr>
              <p:cNvSpPr/>
              <p:nvPr/>
            </p:nvSpPr>
            <p:spPr>
              <a:xfrm>
                <a:off x="3526971" y="1184563"/>
                <a:ext cx="1282535" cy="1282535"/>
              </a:xfrm>
              <a:custGeom>
                <a:avLst/>
                <a:gdLst/>
                <a:ahLst/>
                <a:cxnLst/>
                <a:rect l="0" t="0" r="0" b="0"/>
                <a:pathLst>
                  <a:path w="1282535" h="1282535">
                    <a:moveTo>
                      <a:pt x="1282535" y="641267"/>
                    </a:moveTo>
                    <a:cubicBezTo>
                      <a:pt x="1282535" y="995429"/>
                      <a:pt x="995429" y="1282535"/>
                      <a:pt x="641267" y="1282535"/>
                    </a:cubicBezTo>
                    <a:cubicBezTo>
                      <a:pt x="287105" y="1282535"/>
                      <a:pt x="0" y="995429"/>
                      <a:pt x="0" y="641267"/>
                    </a:cubicBezTo>
                    <a:cubicBezTo>
                      <a:pt x="0" y="287105"/>
                      <a:pt x="287105" y="0"/>
                      <a:pt x="641267" y="0"/>
                    </a:cubicBezTo>
                    <a:cubicBezTo>
                      <a:pt x="995429" y="0"/>
                      <a:pt x="1282535" y="287105"/>
                      <a:pt x="1282535" y="641267"/>
                    </a:cubicBezTo>
                    <a:close/>
                  </a:path>
                </a:pathLst>
              </a:custGeom>
              <a:solidFill>
                <a:srgbClr val="E55753"/>
              </a:solidFill>
              <a:ln>
                <a:noFill/>
              </a:ln>
            </p:spPr>
            <p:txBody>
              <a:bodyPr rtlCol="0" anchor="ctr"/>
              <a:lstStyle/>
              <a:p>
                <a:pPr algn="ctr"/>
                <a:endParaRPr/>
              </a:p>
            </p:txBody>
          </p:sp>
          <p:sp>
            <p:nvSpPr>
              <p:cNvPr id="34" name="Rounded Rectangle 10">
                <a:extLst>
                  <a:ext uri="{FF2B5EF4-FFF2-40B4-BE49-F238E27FC236}">
                    <a16:creationId xmlns:a16="http://schemas.microsoft.com/office/drawing/2014/main" id="{7A1BEF4A-FDDD-03C9-D434-633063898DDD}"/>
                  </a:ext>
                </a:extLst>
              </p:cNvPr>
              <p:cNvSpPr/>
              <p:nvPr/>
            </p:nvSpPr>
            <p:spPr>
              <a:xfrm>
                <a:off x="3526971" y="1184563"/>
                <a:ext cx="1282535" cy="1282535"/>
              </a:xfrm>
              <a:custGeom>
                <a:avLst/>
                <a:gdLst/>
                <a:ahLst/>
                <a:cxnLst/>
                <a:rect l="0" t="0" r="0" b="0"/>
                <a:pathLst>
                  <a:path w="1282535" h="1282535">
                    <a:moveTo>
                      <a:pt x="1282535" y="641267"/>
                    </a:moveTo>
                    <a:cubicBezTo>
                      <a:pt x="1282535" y="995429"/>
                      <a:pt x="995429" y="1282535"/>
                      <a:pt x="641267" y="1282535"/>
                    </a:cubicBezTo>
                    <a:cubicBezTo>
                      <a:pt x="287105" y="1282535"/>
                      <a:pt x="0" y="995429"/>
                      <a:pt x="0" y="641267"/>
                    </a:cubicBezTo>
                    <a:cubicBezTo>
                      <a:pt x="0" y="287105"/>
                      <a:pt x="287105" y="0"/>
                      <a:pt x="641267" y="0"/>
                    </a:cubicBezTo>
                    <a:cubicBezTo>
                      <a:pt x="995429" y="0"/>
                      <a:pt x="1282535" y="287105"/>
                      <a:pt x="1282535" y="641267"/>
                    </a:cubicBezTo>
                    <a:close/>
                  </a:path>
                </a:pathLst>
              </a:custGeom>
              <a:noFill/>
              <a:ln w="13359">
                <a:solidFill>
                  <a:srgbClr val="FFFFFF"/>
                </a:solidFill>
              </a:ln>
            </p:spPr>
            <p:txBody>
              <a:bodyPr rtlCol="0" anchor="ctr"/>
              <a:lstStyle/>
              <a:p>
                <a:pPr algn="ctr"/>
                <a:endParaRPr/>
              </a:p>
            </p:txBody>
          </p:sp>
        </p:grpSp>
        <p:sp>
          <p:nvSpPr>
            <p:cNvPr id="8" name="Rounded Rectangle 12">
              <a:extLst>
                <a:ext uri="{FF2B5EF4-FFF2-40B4-BE49-F238E27FC236}">
                  <a16:creationId xmlns:a16="http://schemas.microsoft.com/office/drawing/2014/main" id="{AF818109-DB68-08B8-8619-74F859ED138F}"/>
                </a:ext>
              </a:extLst>
            </p:cNvPr>
            <p:cNvSpPr/>
            <p:nvPr/>
          </p:nvSpPr>
          <p:spPr>
            <a:xfrm>
              <a:off x="3784943" y="1586204"/>
              <a:ext cx="1632703" cy="2015535"/>
            </a:xfrm>
            <a:custGeom>
              <a:avLst/>
              <a:gdLst/>
              <a:ahLst/>
              <a:cxnLst/>
              <a:rect l="0" t="0" r="0" b="0"/>
              <a:pathLst>
                <a:path w="1510782" h="1840322">
                  <a:moveTo>
                    <a:pt x="0" y="762637"/>
                  </a:moveTo>
                  <a:cubicBezTo>
                    <a:pt x="0" y="614668"/>
                    <a:pt x="43877" y="470022"/>
                    <a:pt x="126085" y="346989"/>
                  </a:cubicBezTo>
                  <a:cubicBezTo>
                    <a:pt x="208292" y="223958"/>
                    <a:pt x="325136" y="128066"/>
                    <a:pt x="461842" y="71441"/>
                  </a:cubicBezTo>
                  <a:cubicBezTo>
                    <a:pt x="598548" y="14815"/>
                    <a:pt x="748975" y="0"/>
                    <a:pt x="894101" y="28867"/>
                  </a:cubicBezTo>
                  <a:cubicBezTo>
                    <a:pt x="1039227" y="57734"/>
                    <a:pt x="1172534" y="128989"/>
                    <a:pt x="1277164" y="233619"/>
                  </a:cubicBezTo>
                  <a:cubicBezTo>
                    <a:pt x="1381794" y="338249"/>
                    <a:pt x="1453048" y="471556"/>
                    <a:pt x="1481915" y="616682"/>
                  </a:cubicBezTo>
                  <a:cubicBezTo>
                    <a:pt x="1510782" y="761808"/>
                    <a:pt x="1495966" y="912235"/>
                    <a:pt x="1439341" y="1048940"/>
                  </a:cubicBezTo>
                  <a:cubicBezTo>
                    <a:pt x="1382716" y="1185646"/>
                    <a:pt x="1286824" y="1302490"/>
                    <a:pt x="1163792" y="1384697"/>
                  </a:cubicBezTo>
                  <a:cubicBezTo>
                    <a:pt x="1040760" y="1466904"/>
                    <a:pt x="900567" y="1510782"/>
                    <a:pt x="752598" y="1510782"/>
                  </a:cubicBezTo>
                  <a:lnTo>
                    <a:pt x="752599" y="1840322"/>
                  </a:lnTo>
                  <a:moveTo>
                    <a:pt x="621713" y="1709906"/>
                  </a:moveTo>
                  <a:lnTo>
                    <a:pt x="752599" y="1840322"/>
                  </a:lnTo>
                  <a:moveTo>
                    <a:pt x="883486" y="1709906"/>
                  </a:moveTo>
                  <a:lnTo>
                    <a:pt x="752599" y="1840322"/>
                  </a:lnTo>
                </a:path>
              </a:pathLst>
            </a:custGeom>
            <a:noFill/>
            <a:ln w="13359">
              <a:solidFill>
                <a:srgbClr val="484848"/>
              </a:solidFill>
            </a:ln>
          </p:spPr>
          <p:txBody>
            <a:bodyPr rtlCol="0" anchor="ctr"/>
            <a:lstStyle/>
            <a:p>
              <a:pPr algn="ctr"/>
              <a:endParaRPr/>
            </a:p>
          </p:txBody>
        </p:sp>
        <p:grpSp>
          <p:nvGrpSpPr>
            <p:cNvPr id="9" name="Group 8">
              <a:extLst>
                <a:ext uri="{FF2B5EF4-FFF2-40B4-BE49-F238E27FC236}">
                  <a16:creationId xmlns:a16="http://schemas.microsoft.com/office/drawing/2014/main" id="{17BC35E4-5DA4-5A1C-C995-5EB86CF03E64}"/>
                </a:ext>
              </a:extLst>
            </p:cNvPr>
            <p:cNvGrpSpPr/>
            <p:nvPr/>
          </p:nvGrpSpPr>
          <p:grpSpPr>
            <a:xfrm>
              <a:off x="5517488" y="1719130"/>
              <a:ext cx="1386036" cy="1404642"/>
              <a:chOff x="5023262" y="1184563"/>
              <a:chExt cx="1282535" cy="1282535"/>
            </a:xfrm>
          </p:grpSpPr>
          <p:sp>
            <p:nvSpPr>
              <p:cNvPr id="31" name="Rounded Rectangle 13">
                <a:extLst>
                  <a:ext uri="{FF2B5EF4-FFF2-40B4-BE49-F238E27FC236}">
                    <a16:creationId xmlns:a16="http://schemas.microsoft.com/office/drawing/2014/main" id="{480E1B8C-10B8-5D61-4C40-419E01DED237}"/>
                  </a:ext>
                </a:extLst>
              </p:cNvPr>
              <p:cNvSpPr/>
              <p:nvPr/>
            </p:nvSpPr>
            <p:spPr>
              <a:xfrm>
                <a:off x="5023262" y="1184563"/>
                <a:ext cx="1282535" cy="1282535"/>
              </a:xfrm>
              <a:custGeom>
                <a:avLst/>
                <a:gdLst/>
                <a:ahLst/>
                <a:cxnLst/>
                <a:rect l="0" t="0" r="0" b="0"/>
                <a:pathLst>
                  <a:path w="1282535" h="1282535">
                    <a:moveTo>
                      <a:pt x="1282535" y="641267"/>
                    </a:moveTo>
                    <a:cubicBezTo>
                      <a:pt x="1282535" y="995429"/>
                      <a:pt x="995429" y="1282535"/>
                      <a:pt x="641267" y="1282535"/>
                    </a:cubicBezTo>
                    <a:cubicBezTo>
                      <a:pt x="287105" y="1282535"/>
                      <a:pt x="0" y="995429"/>
                      <a:pt x="0" y="641267"/>
                    </a:cubicBezTo>
                    <a:cubicBezTo>
                      <a:pt x="0" y="287105"/>
                      <a:pt x="287105" y="0"/>
                      <a:pt x="641267" y="0"/>
                    </a:cubicBezTo>
                    <a:cubicBezTo>
                      <a:pt x="995429" y="0"/>
                      <a:pt x="1282535" y="287105"/>
                      <a:pt x="1282535" y="641267"/>
                    </a:cubicBezTo>
                    <a:close/>
                  </a:path>
                </a:pathLst>
              </a:custGeom>
              <a:solidFill>
                <a:srgbClr val="4E88E7"/>
              </a:solidFill>
              <a:ln>
                <a:noFill/>
              </a:ln>
            </p:spPr>
            <p:txBody>
              <a:bodyPr rtlCol="0" anchor="ctr"/>
              <a:lstStyle/>
              <a:p>
                <a:pPr algn="ctr"/>
                <a:endParaRPr/>
              </a:p>
            </p:txBody>
          </p:sp>
          <p:sp>
            <p:nvSpPr>
              <p:cNvPr id="32" name="Rounded Rectangle 14">
                <a:extLst>
                  <a:ext uri="{FF2B5EF4-FFF2-40B4-BE49-F238E27FC236}">
                    <a16:creationId xmlns:a16="http://schemas.microsoft.com/office/drawing/2014/main" id="{4A0D1C78-8B6D-BCC4-8828-BB5E26E23649}"/>
                  </a:ext>
                </a:extLst>
              </p:cNvPr>
              <p:cNvSpPr/>
              <p:nvPr/>
            </p:nvSpPr>
            <p:spPr>
              <a:xfrm>
                <a:off x="5023262" y="1184563"/>
                <a:ext cx="1282535" cy="1282535"/>
              </a:xfrm>
              <a:custGeom>
                <a:avLst/>
                <a:gdLst/>
                <a:ahLst/>
                <a:cxnLst/>
                <a:rect l="0" t="0" r="0" b="0"/>
                <a:pathLst>
                  <a:path w="1282535" h="1282535">
                    <a:moveTo>
                      <a:pt x="1282535" y="641267"/>
                    </a:moveTo>
                    <a:cubicBezTo>
                      <a:pt x="1282535" y="995429"/>
                      <a:pt x="995429" y="1282535"/>
                      <a:pt x="641267" y="1282535"/>
                    </a:cubicBezTo>
                    <a:cubicBezTo>
                      <a:pt x="287105" y="1282535"/>
                      <a:pt x="0" y="995429"/>
                      <a:pt x="0" y="641267"/>
                    </a:cubicBezTo>
                    <a:cubicBezTo>
                      <a:pt x="0" y="287105"/>
                      <a:pt x="287105" y="0"/>
                      <a:pt x="641267" y="0"/>
                    </a:cubicBezTo>
                    <a:cubicBezTo>
                      <a:pt x="995429" y="0"/>
                      <a:pt x="1282535" y="287105"/>
                      <a:pt x="1282535" y="641267"/>
                    </a:cubicBezTo>
                    <a:close/>
                  </a:path>
                </a:pathLst>
              </a:custGeom>
              <a:noFill/>
              <a:ln w="13359">
                <a:solidFill>
                  <a:srgbClr val="FFFFFF"/>
                </a:solidFill>
              </a:ln>
            </p:spPr>
            <p:txBody>
              <a:bodyPr rtlCol="0" anchor="ctr"/>
              <a:lstStyle/>
              <a:p>
                <a:pPr algn="ctr"/>
                <a:endParaRPr/>
              </a:p>
            </p:txBody>
          </p:sp>
        </p:grpSp>
        <p:sp>
          <p:nvSpPr>
            <p:cNvPr id="10" name="Rounded Rectangle 16">
              <a:extLst>
                <a:ext uri="{FF2B5EF4-FFF2-40B4-BE49-F238E27FC236}">
                  <a16:creationId xmlns:a16="http://schemas.microsoft.com/office/drawing/2014/main" id="{5E7F1561-9D1E-5BE5-2A69-6F0F65C69029}"/>
                </a:ext>
              </a:extLst>
            </p:cNvPr>
            <p:cNvSpPr/>
            <p:nvPr/>
          </p:nvSpPr>
          <p:spPr>
            <a:xfrm>
              <a:off x="5401985" y="1586204"/>
              <a:ext cx="1632703" cy="2015535"/>
            </a:xfrm>
            <a:custGeom>
              <a:avLst/>
              <a:gdLst/>
              <a:ahLst/>
              <a:cxnLst/>
              <a:rect l="0" t="0" r="0" b="0"/>
              <a:pathLst>
                <a:path w="1510782" h="1840322">
                  <a:moveTo>
                    <a:pt x="0" y="762637"/>
                  </a:moveTo>
                  <a:cubicBezTo>
                    <a:pt x="0" y="614668"/>
                    <a:pt x="43877" y="470022"/>
                    <a:pt x="126085" y="346989"/>
                  </a:cubicBezTo>
                  <a:cubicBezTo>
                    <a:pt x="208292" y="223958"/>
                    <a:pt x="325136" y="128066"/>
                    <a:pt x="461842" y="71441"/>
                  </a:cubicBezTo>
                  <a:cubicBezTo>
                    <a:pt x="598548" y="14815"/>
                    <a:pt x="748975" y="0"/>
                    <a:pt x="894101" y="28867"/>
                  </a:cubicBezTo>
                  <a:cubicBezTo>
                    <a:pt x="1039227" y="57734"/>
                    <a:pt x="1172534" y="128989"/>
                    <a:pt x="1277164" y="233619"/>
                  </a:cubicBezTo>
                  <a:cubicBezTo>
                    <a:pt x="1381794" y="338249"/>
                    <a:pt x="1453048" y="471556"/>
                    <a:pt x="1481915" y="616682"/>
                  </a:cubicBezTo>
                  <a:cubicBezTo>
                    <a:pt x="1510782" y="761808"/>
                    <a:pt x="1495966" y="912235"/>
                    <a:pt x="1439341" y="1048940"/>
                  </a:cubicBezTo>
                  <a:cubicBezTo>
                    <a:pt x="1382716" y="1185646"/>
                    <a:pt x="1286824" y="1302490"/>
                    <a:pt x="1163792" y="1384697"/>
                  </a:cubicBezTo>
                  <a:cubicBezTo>
                    <a:pt x="1040760" y="1466904"/>
                    <a:pt x="900567" y="1510782"/>
                    <a:pt x="752598" y="1510782"/>
                  </a:cubicBezTo>
                  <a:lnTo>
                    <a:pt x="752599" y="1840322"/>
                  </a:lnTo>
                  <a:moveTo>
                    <a:pt x="621713" y="1709906"/>
                  </a:moveTo>
                  <a:lnTo>
                    <a:pt x="752599" y="1840322"/>
                  </a:lnTo>
                  <a:moveTo>
                    <a:pt x="883486" y="1709906"/>
                  </a:moveTo>
                  <a:lnTo>
                    <a:pt x="752599" y="1840322"/>
                  </a:lnTo>
                </a:path>
              </a:pathLst>
            </a:custGeom>
            <a:noFill/>
            <a:ln w="13359">
              <a:solidFill>
                <a:srgbClr val="484848"/>
              </a:solidFill>
            </a:ln>
          </p:spPr>
          <p:txBody>
            <a:bodyPr rtlCol="0" anchor="ctr"/>
            <a:lstStyle/>
            <a:p>
              <a:pPr algn="ctr"/>
              <a:endParaRPr/>
            </a:p>
          </p:txBody>
        </p:sp>
        <p:grpSp>
          <p:nvGrpSpPr>
            <p:cNvPr id="11" name="Group 10">
              <a:extLst>
                <a:ext uri="{FF2B5EF4-FFF2-40B4-BE49-F238E27FC236}">
                  <a16:creationId xmlns:a16="http://schemas.microsoft.com/office/drawing/2014/main" id="{071C5A58-C93C-CD88-B803-78CF13F5F50C}"/>
                </a:ext>
              </a:extLst>
            </p:cNvPr>
            <p:cNvGrpSpPr/>
            <p:nvPr/>
          </p:nvGrpSpPr>
          <p:grpSpPr>
            <a:xfrm>
              <a:off x="7134530" y="1719130"/>
              <a:ext cx="1386036" cy="1404642"/>
              <a:chOff x="6519553" y="1184563"/>
              <a:chExt cx="1282535" cy="1282535"/>
            </a:xfrm>
          </p:grpSpPr>
          <p:sp>
            <p:nvSpPr>
              <p:cNvPr id="29" name="Rounded Rectangle 17">
                <a:extLst>
                  <a:ext uri="{FF2B5EF4-FFF2-40B4-BE49-F238E27FC236}">
                    <a16:creationId xmlns:a16="http://schemas.microsoft.com/office/drawing/2014/main" id="{E6F4DDD7-641F-001B-DBCA-2E43F48CA119}"/>
                  </a:ext>
                </a:extLst>
              </p:cNvPr>
              <p:cNvSpPr/>
              <p:nvPr/>
            </p:nvSpPr>
            <p:spPr>
              <a:xfrm>
                <a:off x="6519553" y="1184563"/>
                <a:ext cx="1282535" cy="1282535"/>
              </a:xfrm>
              <a:custGeom>
                <a:avLst/>
                <a:gdLst/>
                <a:ahLst/>
                <a:cxnLst/>
                <a:rect l="0" t="0" r="0" b="0"/>
                <a:pathLst>
                  <a:path w="1282535" h="1282535">
                    <a:moveTo>
                      <a:pt x="1282535" y="641267"/>
                    </a:moveTo>
                    <a:cubicBezTo>
                      <a:pt x="1282535" y="995429"/>
                      <a:pt x="995429" y="1282535"/>
                      <a:pt x="641267" y="1282535"/>
                    </a:cubicBezTo>
                    <a:cubicBezTo>
                      <a:pt x="287105" y="1282535"/>
                      <a:pt x="0" y="995429"/>
                      <a:pt x="0" y="641267"/>
                    </a:cubicBezTo>
                    <a:cubicBezTo>
                      <a:pt x="0" y="287105"/>
                      <a:pt x="287105" y="0"/>
                      <a:pt x="641267" y="0"/>
                    </a:cubicBezTo>
                    <a:cubicBezTo>
                      <a:pt x="995429" y="0"/>
                      <a:pt x="1282535" y="287105"/>
                      <a:pt x="1282535" y="641267"/>
                    </a:cubicBezTo>
                    <a:close/>
                  </a:path>
                </a:pathLst>
              </a:custGeom>
              <a:solidFill>
                <a:srgbClr val="3CC583"/>
              </a:solidFill>
              <a:ln>
                <a:noFill/>
              </a:ln>
            </p:spPr>
            <p:txBody>
              <a:bodyPr rtlCol="0" anchor="ctr"/>
              <a:lstStyle/>
              <a:p>
                <a:pPr algn="ctr"/>
                <a:endParaRPr/>
              </a:p>
            </p:txBody>
          </p:sp>
          <p:sp>
            <p:nvSpPr>
              <p:cNvPr id="30" name="Rounded Rectangle 18">
                <a:extLst>
                  <a:ext uri="{FF2B5EF4-FFF2-40B4-BE49-F238E27FC236}">
                    <a16:creationId xmlns:a16="http://schemas.microsoft.com/office/drawing/2014/main" id="{A7F115CB-6A18-0CE1-DC22-6965DDAD2CCA}"/>
                  </a:ext>
                </a:extLst>
              </p:cNvPr>
              <p:cNvSpPr/>
              <p:nvPr/>
            </p:nvSpPr>
            <p:spPr>
              <a:xfrm>
                <a:off x="6519553" y="1184563"/>
                <a:ext cx="1282535" cy="1282535"/>
              </a:xfrm>
              <a:custGeom>
                <a:avLst/>
                <a:gdLst/>
                <a:ahLst/>
                <a:cxnLst/>
                <a:rect l="0" t="0" r="0" b="0"/>
                <a:pathLst>
                  <a:path w="1282535" h="1282535">
                    <a:moveTo>
                      <a:pt x="1282535" y="641267"/>
                    </a:moveTo>
                    <a:cubicBezTo>
                      <a:pt x="1282535" y="995429"/>
                      <a:pt x="995429" y="1282535"/>
                      <a:pt x="641267" y="1282535"/>
                    </a:cubicBezTo>
                    <a:cubicBezTo>
                      <a:pt x="287105" y="1282535"/>
                      <a:pt x="0" y="995429"/>
                      <a:pt x="0" y="641267"/>
                    </a:cubicBezTo>
                    <a:cubicBezTo>
                      <a:pt x="0" y="287105"/>
                      <a:pt x="287105" y="0"/>
                      <a:pt x="641267" y="0"/>
                    </a:cubicBezTo>
                    <a:cubicBezTo>
                      <a:pt x="995429" y="0"/>
                      <a:pt x="1282535" y="287105"/>
                      <a:pt x="1282535" y="641267"/>
                    </a:cubicBezTo>
                    <a:close/>
                  </a:path>
                </a:pathLst>
              </a:custGeom>
              <a:noFill/>
              <a:ln w="13359">
                <a:solidFill>
                  <a:srgbClr val="FFFFFF"/>
                </a:solidFill>
              </a:ln>
            </p:spPr>
            <p:txBody>
              <a:bodyPr rtlCol="0" anchor="ctr"/>
              <a:lstStyle/>
              <a:p>
                <a:pPr algn="ctr"/>
                <a:endParaRPr/>
              </a:p>
            </p:txBody>
          </p:sp>
        </p:grpSp>
        <p:sp>
          <p:nvSpPr>
            <p:cNvPr id="12" name="Rounded Rectangle 20">
              <a:extLst>
                <a:ext uri="{FF2B5EF4-FFF2-40B4-BE49-F238E27FC236}">
                  <a16:creationId xmlns:a16="http://schemas.microsoft.com/office/drawing/2014/main" id="{A37C48E6-4275-BCA0-81D9-F02B4DF88D0F}"/>
                </a:ext>
              </a:extLst>
            </p:cNvPr>
            <p:cNvSpPr/>
            <p:nvPr/>
          </p:nvSpPr>
          <p:spPr>
            <a:xfrm>
              <a:off x="7019027" y="1586204"/>
              <a:ext cx="1632703" cy="2015535"/>
            </a:xfrm>
            <a:custGeom>
              <a:avLst/>
              <a:gdLst/>
              <a:ahLst/>
              <a:cxnLst/>
              <a:rect l="0" t="0" r="0" b="0"/>
              <a:pathLst>
                <a:path w="1510782" h="1840322">
                  <a:moveTo>
                    <a:pt x="0" y="762637"/>
                  </a:moveTo>
                  <a:cubicBezTo>
                    <a:pt x="0" y="614668"/>
                    <a:pt x="43877" y="470022"/>
                    <a:pt x="126085" y="346989"/>
                  </a:cubicBezTo>
                  <a:cubicBezTo>
                    <a:pt x="208292" y="223958"/>
                    <a:pt x="325136" y="128066"/>
                    <a:pt x="461842" y="71441"/>
                  </a:cubicBezTo>
                  <a:cubicBezTo>
                    <a:pt x="598548" y="14815"/>
                    <a:pt x="748975" y="0"/>
                    <a:pt x="894101" y="28867"/>
                  </a:cubicBezTo>
                  <a:cubicBezTo>
                    <a:pt x="1039227" y="57734"/>
                    <a:pt x="1172534" y="128989"/>
                    <a:pt x="1277164" y="233619"/>
                  </a:cubicBezTo>
                  <a:cubicBezTo>
                    <a:pt x="1381794" y="338249"/>
                    <a:pt x="1453048" y="471556"/>
                    <a:pt x="1481915" y="616682"/>
                  </a:cubicBezTo>
                  <a:cubicBezTo>
                    <a:pt x="1510782" y="761808"/>
                    <a:pt x="1495966" y="912235"/>
                    <a:pt x="1439341" y="1048940"/>
                  </a:cubicBezTo>
                  <a:cubicBezTo>
                    <a:pt x="1382716" y="1185646"/>
                    <a:pt x="1286824" y="1302490"/>
                    <a:pt x="1163792" y="1384697"/>
                  </a:cubicBezTo>
                  <a:cubicBezTo>
                    <a:pt x="1040760" y="1466904"/>
                    <a:pt x="900567" y="1510782"/>
                    <a:pt x="752598" y="1510782"/>
                  </a:cubicBezTo>
                  <a:lnTo>
                    <a:pt x="752599" y="1840322"/>
                  </a:lnTo>
                  <a:moveTo>
                    <a:pt x="621713" y="1709906"/>
                  </a:moveTo>
                  <a:lnTo>
                    <a:pt x="752599" y="1840322"/>
                  </a:lnTo>
                  <a:moveTo>
                    <a:pt x="883486" y="1709906"/>
                  </a:moveTo>
                  <a:lnTo>
                    <a:pt x="752599" y="1840322"/>
                  </a:lnTo>
                </a:path>
              </a:pathLst>
            </a:custGeom>
            <a:noFill/>
            <a:ln w="13359">
              <a:solidFill>
                <a:srgbClr val="484848"/>
              </a:solidFill>
            </a:ln>
          </p:spPr>
          <p:txBody>
            <a:bodyPr rtlCol="0" anchor="ctr"/>
            <a:lstStyle/>
            <a:p>
              <a:pPr algn="ctr"/>
              <a:endParaRPr/>
            </a:p>
          </p:txBody>
        </p:sp>
        <p:sp>
          <p:nvSpPr>
            <p:cNvPr id="13" name="Rounded Rectangle 21">
              <a:extLst>
                <a:ext uri="{FF2B5EF4-FFF2-40B4-BE49-F238E27FC236}">
                  <a16:creationId xmlns:a16="http://schemas.microsoft.com/office/drawing/2014/main" id="{C310D8F9-7762-F78F-13A4-BCF7A9C15CC3}"/>
                </a:ext>
              </a:extLst>
            </p:cNvPr>
            <p:cNvSpPr/>
            <p:nvPr/>
          </p:nvSpPr>
          <p:spPr>
            <a:xfrm>
              <a:off x="7485370" y="2082191"/>
              <a:ext cx="687871" cy="673350"/>
            </a:xfrm>
            <a:custGeom>
              <a:avLst/>
              <a:gdLst/>
              <a:ahLst/>
              <a:cxnLst/>
              <a:rect l="0" t="0" r="0" b="0"/>
              <a:pathLst>
                <a:path w="636505" h="614815">
                  <a:moveTo>
                    <a:pt x="633251" y="140544"/>
                  </a:moveTo>
                  <a:cubicBezTo>
                    <a:pt x="636505" y="201672"/>
                    <a:pt x="598910" y="257574"/>
                    <a:pt x="541069" y="277615"/>
                  </a:cubicBezTo>
                  <a:lnTo>
                    <a:pt x="541069" y="588095"/>
                  </a:lnTo>
                  <a:cubicBezTo>
                    <a:pt x="541069" y="602852"/>
                    <a:pt x="529106" y="614815"/>
                    <a:pt x="514349" y="614815"/>
                  </a:cubicBezTo>
                  <a:cubicBezTo>
                    <a:pt x="499593" y="614815"/>
                    <a:pt x="487630" y="602852"/>
                    <a:pt x="487630" y="588095"/>
                  </a:cubicBezTo>
                  <a:lnTo>
                    <a:pt x="487630" y="277081"/>
                  </a:lnTo>
                  <a:cubicBezTo>
                    <a:pt x="430573" y="256555"/>
                    <a:pt x="393675" y="201101"/>
                    <a:pt x="396784" y="140544"/>
                  </a:cubicBezTo>
                  <a:cubicBezTo>
                    <a:pt x="396784" y="63325"/>
                    <a:pt x="450490" y="0"/>
                    <a:pt x="515151" y="0"/>
                  </a:cubicBezTo>
                  <a:cubicBezTo>
                    <a:pt x="579812" y="0"/>
                    <a:pt x="633251" y="63057"/>
                    <a:pt x="633251" y="140544"/>
                  </a:cubicBezTo>
                  <a:close/>
                  <a:moveTo>
                    <a:pt x="240475" y="160584"/>
                  </a:moveTo>
                  <a:cubicBezTo>
                    <a:pt x="240407" y="216685"/>
                    <a:pt x="201633" y="265318"/>
                    <a:pt x="146957" y="277882"/>
                  </a:cubicBezTo>
                  <a:lnTo>
                    <a:pt x="146957" y="588095"/>
                  </a:lnTo>
                  <a:cubicBezTo>
                    <a:pt x="146957" y="602852"/>
                    <a:pt x="134994" y="614815"/>
                    <a:pt x="120237" y="614815"/>
                  </a:cubicBezTo>
                  <a:cubicBezTo>
                    <a:pt x="105480" y="614815"/>
                    <a:pt x="93518" y="602852"/>
                    <a:pt x="93518" y="588095"/>
                  </a:cubicBezTo>
                  <a:lnTo>
                    <a:pt x="93518" y="277882"/>
                  </a:lnTo>
                  <a:cubicBezTo>
                    <a:pt x="38841" y="265318"/>
                    <a:pt x="67" y="216685"/>
                    <a:pt x="0" y="160584"/>
                  </a:cubicBezTo>
                  <a:lnTo>
                    <a:pt x="0" y="40346"/>
                  </a:lnTo>
                  <a:cubicBezTo>
                    <a:pt x="0" y="25589"/>
                    <a:pt x="11962" y="13626"/>
                    <a:pt x="26719" y="13626"/>
                  </a:cubicBezTo>
                  <a:cubicBezTo>
                    <a:pt x="41476" y="13626"/>
                    <a:pt x="53438" y="25589"/>
                    <a:pt x="53438" y="40346"/>
                  </a:cubicBezTo>
                  <a:lnTo>
                    <a:pt x="53438" y="159515"/>
                  </a:lnTo>
                  <a:cubicBezTo>
                    <a:pt x="53452" y="186063"/>
                    <a:pt x="69186" y="210083"/>
                    <a:pt x="93518" y="220702"/>
                  </a:cubicBezTo>
                  <a:lnTo>
                    <a:pt x="93518" y="40346"/>
                  </a:lnTo>
                  <a:cubicBezTo>
                    <a:pt x="93518" y="25589"/>
                    <a:pt x="105480" y="13626"/>
                    <a:pt x="120237" y="13626"/>
                  </a:cubicBezTo>
                  <a:cubicBezTo>
                    <a:pt x="134994" y="13626"/>
                    <a:pt x="146957" y="25589"/>
                    <a:pt x="146957" y="40346"/>
                  </a:cubicBezTo>
                  <a:lnTo>
                    <a:pt x="146957" y="220702"/>
                  </a:lnTo>
                  <a:cubicBezTo>
                    <a:pt x="170892" y="210187"/>
                    <a:pt x="186536" y="186722"/>
                    <a:pt x="187036" y="160584"/>
                  </a:cubicBezTo>
                  <a:lnTo>
                    <a:pt x="187036" y="40346"/>
                  </a:lnTo>
                  <a:cubicBezTo>
                    <a:pt x="187036" y="25589"/>
                    <a:pt x="198999" y="13626"/>
                    <a:pt x="213755" y="13626"/>
                  </a:cubicBezTo>
                  <a:cubicBezTo>
                    <a:pt x="228512" y="13626"/>
                    <a:pt x="240475" y="25589"/>
                    <a:pt x="240475" y="40346"/>
                  </a:cubicBezTo>
                  <a:lnTo>
                    <a:pt x="240475" y="160584"/>
                  </a:lnTo>
                  <a:close/>
                  <a:moveTo>
                    <a:pt x="442945" y="379566"/>
                  </a:moveTo>
                  <a:cubicBezTo>
                    <a:pt x="445892" y="382255"/>
                    <a:pt x="447483" y="386120"/>
                    <a:pt x="447284" y="390104"/>
                  </a:cubicBezTo>
                  <a:cubicBezTo>
                    <a:pt x="447636" y="421543"/>
                    <a:pt x="436522" y="452035"/>
                    <a:pt x="416022" y="475873"/>
                  </a:cubicBezTo>
                  <a:cubicBezTo>
                    <a:pt x="395817" y="493762"/>
                    <a:pt x="370266" y="504471"/>
                    <a:pt x="343345" y="506334"/>
                  </a:cubicBezTo>
                  <a:lnTo>
                    <a:pt x="343345" y="568056"/>
                  </a:lnTo>
                  <a:cubicBezTo>
                    <a:pt x="343345" y="582812"/>
                    <a:pt x="331382" y="594775"/>
                    <a:pt x="316625" y="594775"/>
                  </a:cubicBezTo>
                  <a:cubicBezTo>
                    <a:pt x="301868" y="594775"/>
                    <a:pt x="289906" y="582812"/>
                    <a:pt x="289906" y="568056"/>
                  </a:cubicBezTo>
                  <a:lnTo>
                    <a:pt x="289906" y="506334"/>
                  </a:lnTo>
                  <a:cubicBezTo>
                    <a:pt x="262648" y="505062"/>
                    <a:pt x="236597" y="494717"/>
                    <a:pt x="215893" y="476942"/>
                  </a:cubicBezTo>
                  <a:cubicBezTo>
                    <a:pt x="195444" y="453055"/>
                    <a:pt x="184255" y="422617"/>
                    <a:pt x="184364" y="391173"/>
                  </a:cubicBezTo>
                  <a:cubicBezTo>
                    <a:pt x="184287" y="387418"/>
                    <a:pt x="185764" y="383798"/>
                    <a:pt x="188444" y="381168"/>
                  </a:cubicBezTo>
                  <a:cubicBezTo>
                    <a:pt x="191125" y="378538"/>
                    <a:pt x="194773" y="377130"/>
                    <a:pt x="198525" y="377279"/>
                  </a:cubicBezTo>
                  <a:cubicBezTo>
                    <a:pt x="227858" y="377182"/>
                    <a:pt x="256439" y="386553"/>
                    <a:pt x="280020" y="403998"/>
                  </a:cubicBezTo>
                  <a:cubicBezTo>
                    <a:pt x="270799" y="389013"/>
                    <a:pt x="265642" y="371884"/>
                    <a:pt x="265057" y="354300"/>
                  </a:cubicBezTo>
                  <a:cubicBezTo>
                    <a:pt x="267648" y="323276"/>
                    <a:pt x="281528" y="294280"/>
                    <a:pt x="304067" y="272805"/>
                  </a:cubicBezTo>
                  <a:cubicBezTo>
                    <a:pt x="306945" y="269749"/>
                    <a:pt x="310957" y="268016"/>
                    <a:pt x="315156" y="268016"/>
                  </a:cubicBezTo>
                  <a:cubicBezTo>
                    <a:pt x="319354" y="268016"/>
                    <a:pt x="323366" y="269749"/>
                    <a:pt x="326244" y="272805"/>
                  </a:cubicBezTo>
                  <a:cubicBezTo>
                    <a:pt x="348965" y="294178"/>
                    <a:pt x="362958" y="323212"/>
                    <a:pt x="365522" y="354300"/>
                  </a:cubicBezTo>
                  <a:cubicBezTo>
                    <a:pt x="364754" y="371519"/>
                    <a:pt x="359604" y="388257"/>
                    <a:pt x="350559" y="402929"/>
                  </a:cubicBezTo>
                  <a:cubicBezTo>
                    <a:pt x="374122" y="385449"/>
                    <a:pt x="402715" y="376075"/>
                    <a:pt x="432053" y="376210"/>
                  </a:cubicBezTo>
                  <a:cubicBezTo>
                    <a:pt x="436003" y="375646"/>
                    <a:pt x="439997" y="376877"/>
                    <a:pt x="442944" y="379566"/>
                  </a:cubicBezTo>
                  <a:close/>
                </a:path>
              </a:pathLst>
            </a:custGeom>
            <a:solidFill>
              <a:srgbClr val="FFFFFF"/>
            </a:solidFill>
            <a:ln>
              <a:noFill/>
            </a:ln>
          </p:spPr>
          <p:txBody>
            <a:bodyPr rtlCol="0" anchor="ctr"/>
            <a:lstStyle/>
            <a:p>
              <a:pPr algn="ctr"/>
              <a:endParaRPr/>
            </a:p>
          </p:txBody>
        </p:sp>
        <p:sp>
          <p:nvSpPr>
            <p:cNvPr id="14" name="Rounded Rectangle 22">
              <a:extLst>
                <a:ext uri="{FF2B5EF4-FFF2-40B4-BE49-F238E27FC236}">
                  <a16:creationId xmlns:a16="http://schemas.microsoft.com/office/drawing/2014/main" id="{B8D71132-9303-3BF4-92B8-D92256EB6C2E}"/>
                </a:ext>
              </a:extLst>
            </p:cNvPr>
            <p:cNvSpPr/>
            <p:nvPr/>
          </p:nvSpPr>
          <p:spPr>
            <a:xfrm>
              <a:off x="5950624" y="2082483"/>
              <a:ext cx="519763" cy="658425"/>
            </a:xfrm>
            <a:custGeom>
              <a:avLst/>
              <a:gdLst/>
              <a:ahLst/>
              <a:cxnLst/>
              <a:rect l="0" t="0" r="0" b="0"/>
              <a:pathLst>
                <a:path w="480950" h="601188">
                  <a:moveTo>
                    <a:pt x="480950" y="474003"/>
                  </a:moveTo>
                  <a:cubicBezTo>
                    <a:pt x="480950" y="561910"/>
                    <a:pt x="389570" y="601188"/>
                    <a:pt x="298723" y="601188"/>
                  </a:cubicBezTo>
                  <a:cubicBezTo>
                    <a:pt x="216427" y="601188"/>
                    <a:pt x="120237" y="567788"/>
                    <a:pt x="120237" y="474003"/>
                  </a:cubicBezTo>
                  <a:cubicBezTo>
                    <a:pt x="123462" y="407188"/>
                    <a:pt x="149382" y="343471"/>
                    <a:pt x="193716" y="293379"/>
                  </a:cubicBezTo>
                  <a:cubicBezTo>
                    <a:pt x="195393" y="291513"/>
                    <a:pt x="197946" y="290696"/>
                    <a:pt x="200396" y="291242"/>
                  </a:cubicBezTo>
                  <a:cubicBezTo>
                    <a:pt x="209191" y="293017"/>
                    <a:pt x="218142" y="293912"/>
                    <a:pt x="227115" y="293914"/>
                  </a:cubicBezTo>
                  <a:lnTo>
                    <a:pt x="333993" y="293914"/>
                  </a:lnTo>
                  <a:cubicBezTo>
                    <a:pt x="351610" y="296375"/>
                    <a:pt x="369431" y="291116"/>
                    <a:pt x="382890" y="279485"/>
                  </a:cubicBezTo>
                  <a:cubicBezTo>
                    <a:pt x="384233" y="278129"/>
                    <a:pt x="386058" y="277361"/>
                    <a:pt x="387966" y="277348"/>
                  </a:cubicBezTo>
                  <a:cubicBezTo>
                    <a:pt x="389795" y="277372"/>
                    <a:pt x="391533" y="278145"/>
                    <a:pt x="392776" y="279485"/>
                  </a:cubicBezTo>
                  <a:cubicBezTo>
                    <a:pt x="427511" y="316893"/>
                    <a:pt x="480950" y="391173"/>
                    <a:pt x="480950" y="474003"/>
                  </a:cubicBezTo>
                  <a:close/>
                  <a:moveTo>
                    <a:pt x="312350" y="465453"/>
                  </a:moveTo>
                  <a:cubicBezTo>
                    <a:pt x="314621" y="467210"/>
                    <a:pt x="315576" y="470183"/>
                    <a:pt x="314755" y="472934"/>
                  </a:cubicBezTo>
                  <a:cubicBezTo>
                    <a:pt x="313924" y="475784"/>
                    <a:pt x="311311" y="477744"/>
                    <a:pt x="308342" y="477744"/>
                  </a:cubicBezTo>
                  <a:lnTo>
                    <a:pt x="267194" y="477744"/>
                  </a:lnTo>
                  <a:cubicBezTo>
                    <a:pt x="256127" y="477744"/>
                    <a:pt x="247155" y="486716"/>
                    <a:pt x="247155" y="497783"/>
                  </a:cubicBezTo>
                  <a:cubicBezTo>
                    <a:pt x="247155" y="508851"/>
                    <a:pt x="256127" y="517823"/>
                    <a:pt x="267194" y="517823"/>
                  </a:cubicBezTo>
                  <a:lnTo>
                    <a:pt x="280554" y="517823"/>
                  </a:lnTo>
                  <a:cubicBezTo>
                    <a:pt x="284243" y="517823"/>
                    <a:pt x="287234" y="520814"/>
                    <a:pt x="287234" y="524503"/>
                  </a:cubicBezTo>
                  <a:lnTo>
                    <a:pt x="287234" y="527709"/>
                  </a:lnTo>
                  <a:cubicBezTo>
                    <a:pt x="287234" y="538777"/>
                    <a:pt x="296206" y="547749"/>
                    <a:pt x="307274" y="547749"/>
                  </a:cubicBezTo>
                  <a:cubicBezTo>
                    <a:pt x="318341" y="547749"/>
                    <a:pt x="327313" y="538777"/>
                    <a:pt x="327313" y="527709"/>
                  </a:cubicBezTo>
                  <a:lnTo>
                    <a:pt x="327313" y="522365"/>
                  </a:lnTo>
                  <a:cubicBezTo>
                    <a:pt x="327309" y="519810"/>
                    <a:pt x="329304" y="517698"/>
                    <a:pt x="331855" y="517556"/>
                  </a:cubicBezTo>
                  <a:cubicBezTo>
                    <a:pt x="341932" y="517223"/>
                    <a:pt x="351433" y="512779"/>
                    <a:pt x="358147" y="505257"/>
                  </a:cubicBezTo>
                  <a:cubicBezTo>
                    <a:pt x="364860" y="497736"/>
                    <a:pt x="368202" y="487793"/>
                    <a:pt x="367392" y="477744"/>
                  </a:cubicBezTo>
                  <a:cubicBezTo>
                    <a:pt x="367392" y="453963"/>
                    <a:pt x="343612" y="437932"/>
                    <a:pt x="318496" y="420831"/>
                  </a:cubicBezTo>
                  <a:lnTo>
                    <a:pt x="301930" y="409609"/>
                  </a:lnTo>
                  <a:cubicBezTo>
                    <a:pt x="299515" y="407956"/>
                    <a:pt x="298525" y="404878"/>
                    <a:pt x="299525" y="402128"/>
                  </a:cubicBezTo>
                  <a:cubicBezTo>
                    <a:pt x="300451" y="399383"/>
                    <a:pt x="303041" y="397549"/>
                    <a:pt x="305937" y="397585"/>
                  </a:cubicBezTo>
                  <a:lnTo>
                    <a:pt x="347353" y="397585"/>
                  </a:lnTo>
                  <a:cubicBezTo>
                    <a:pt x="358420" y="397585"/>
                    <a:pt x="367392" y="388613"/>
                    <a:pt x="367392" y="377546"/>
                  </a:cubicBezTo>
                  <a:cubicBezTo>
                    <a:pt x="367392" y="366478"/>
                    <a:pt x="358420" y="357506"/>
                    <a:pt x="347353" y="357506"/>
                  </a:cubicBezTo>
                  <a:lnTo>
                    <a:pt x="333993" y="357506"/>
                  </a:lnTo>
                  <a:cubicBezTo>
                    <a:pt x="330304" y="357506"/>
                    <a:pt x="327313" y="354515"/>
                    <a:pt x="327313" y="350826"/>
                  </a:cubicBezTo>
                  <a:lnTo>
                    <a:pt x="327313" y="347353"/>
                  </a:lnTo>
                  <a:cubicBezTo>
                    <a:pt x="327313" y="336285"/>
                    <a:pt x="318341" y="327313"/>
                    <a:pt x="307273" y="327313"/>
                  </a:cubicBezTo>
                  <a:cubicBezTo>
                    <a:pt x="296206" y="327313"/>
                    <a:pt x="287234" y="336285"/>
                    <a:pt x="287234" y="347353"/>
                  </a:cubicBezTo>
                  <a:lnTo>
                    <a:pt x="287234" y="351093"/>
                  </a:lnTo>
                  <a:cubicBezTo>
                    <a:pt x="287124" y="354536"/>
                    <a:pt x="284509" y="357378"/>
                    <a:pt x="281088" y="357773"/>
                  </a:cubicBezTo>
                  <a:cubicBezTo>
                    <a:pt x="271184" y="358228"/>
                    <a:pt x="261912" y="362769"/>
                    <a:pt x="255480" y="370314"/>
                  </a:cubicBezTo>
                  <a:cubicBezTo>
                    <a:pt x="249049" y="377860"/>
                    <a:pt x="246034" y="387734"/>
                    <a:pt x="247155" y="397585"/>
                  </a:cubicBezTo>
                  <a:cubicBezTo>
                    <a:pt x="247155" y="421099"/>
                    <a:pt x="270935" y="437130"/>
                    <a:pt x="296051" y="454231"/>
                  </a:cubicBezTo>
                  <a:cubicBezTo>
                    <a:pt x="300861" y="457437"/>
                    <a:pt x="307006" y="460911"/>
                    <a:pt x="312350" y="465453"/>
                  </a:cubicBezTo>
                  <a:close/>
                  <a:moveTo>
                    <a:pt x="254903" y="80158"/>
                  </a:moveTo>
                  <a:cubicBezTo>
                    <a:pt x="252669" y="80138"/>
                    <a:pt x="250581" y="79044"/>
                    <a:pt x="249292" y="77219"/>
                  </a:cubicBezTo>
                  <a:lnTo>
                    <a:pt x="212152" y="20306"/>
                  </a:lnTo>
                  <a:cubicBezTo>
                    <a:pt x="209872" y="16050"/>
                    <a:pt x="209872" y="10936"/>
                    <a:pt x="212152" y="6679"/>
                  </a:cubicBezTo>
                  <a:cubicBezTo>
                    <a:pt x="214650" y="2567"/>
                    <a:pt x="219098" y="40"/>
                    <a:pt x="223909" y="0"/>
                  </a:cubicBezTo>
                  <a:lnTo>
                    <a:pt x="390638" y="0"/>
                  </a:lnTo>
                  <a:cubicBezTo>
                    <a:pt x="395449" y="40"/>
                    <a:pt x="399897" y="2567"/>
                    <a:pt x="402395" y="6679"/>
                  </a:cubicBezTo>
                  <a:cubicBezTo>
                    <a:pt x="404781" y="10813"/>
                    <a:pt x="404781" y="15906"/>
                    <a:pt x="402395" y="20039"/>
                  </a:cubicBezTo>
                  <a:lnTo>
                    <a:pt x="368728" y="76952"/>
                  </a:lnTo>
                  <a:cubicBezTo>
                    <a:pt x="367438" y="79083"/>
                    <a:pt x="365069" y="80319"/>
                    <a:pt x="362583" y="80158"/>
                  </a:cubicBezTo>
                  <a:close/>
                  <a:moveTo>
                    <a:pt x="123978" y="228985"/>
                  </a:moveTo>
                  <a:cubicBezTo>
                    <a:pt x="121682" y="227933"/>
                    <a:pt x="120218" y="225632"/>
                    <a:pt x="120237" y="223107"/>
                  </a:cubicBezTo>
                  <a:lnTo>
                    <a:pt x="120237" y="113557"/>
                  </a:lnTo>
                  <a:cubicBezTo>
                    <a:pt x="120237" y="109868"/>
                    <a:pt x="123228" y="106877"/>
                    <a:pt x="126917" y="106877"/>
                  </a:cubicBezTo>
                  <a:lnTo>
                    <a:pt x="146957" y="106877"/>
                  </a:lnTo>
                  <a:cubicBezTo>
                    <a:pt x="157384" y="106530"/>
                    <a:pt x="167142" y="101651"/>
                    <a:pt x="173676" y="93518"/>
                  </a:cubicBezTo>
                  <a:lnTo>
                    <a:pt x="197189" y="61454"/>
                  </a:lnTo>
                  <a:cubicBezTo>
                    <a:pt x="198447" y="59594"/>
                    <a:pt x="200555" y="58489"/>
                    <a:pt x="202800" y="58515"/>
                  </a:cubicBezTo>
                  <a:cubicBezTo>
                    <a:pt x="205016" y="58588"/>
                    <a:pt x="207037" y="59801"/>
                    <a:pt x="208144" y="61722"/>
                  </a:cubicBezTo>
                  <a:lnTo>
                    <a:pt x="234864" y="103938"/>
                  </a:lnTo>
                  <a:cubicBezTo>
                    <a:pt x="236153" y="105763"/>
                    <a:pt x="238241" y="106857"/>
                    <a:pt x="240475" y="106877"/>
                  </a:cubicBezTo>
                  <a:lnTo>
                    <a:pt x="360712" y="106877"/>
                  </a:lnTo>
                  <a:cubicBezTo>
                    <a:pt x="387432" y="106877"/>
                    <a:pt x="400792" y="120237"/>
                    <a:pt x="400792" y="133597"/>
                  </a:cubicBezTo>
                  <a:cubicBezTo>
                    <a:pt x="400792" y="133597"/>
                    <a:pt x="387432" y="200396"/>
                    <a:pt x="374072" y="240475"/>
                  </a:cubicBezTo>
                  <a:cubicBezTo>
                    <a:pt x="365522" y="265858"/>
                    <a:pt x="360712" y="267194"/>
                    <a:pt x="333993" y="267194"/>
                  </a:cubicBezTo>
                  <a:lnTo>
                    <a:pt x="227115" y="267194"/>
                  </a:lnTo>
                  <a:cubicBezTo>
                    <a:pt x="196388" y="267194"/>
                    <a:pt x="173943" y="254102"/>
                    <a:pt x="123978" y="228985"/>
                  </a:cubicBezTo>
                  <a:close/>
                  <a:moveTo>
                    <a:pt x="76507" y="97168"/>
                  </a:moveTo>
                  <a:cubicBezTo>
                    <a:pt x="79066" y="99727"/>
                    <a:pt x="80397" y="103266"/>
                    <a:pt x="80158" y="106877"/>
                  </a:cubicBezTo>
                  <a:lnTo>
                    <a:pt x="80158" y="240475"/>
                  </a:lnTo>
                  <a:cubicBezTo>
                    <a:pt x="80397" y="244086"/>
                    <a:pt x="79066" y="247625"/>
                    <a:pt x="76507" y="250184"/>
                  </a:cubicBezTo>
                  <a:cubicBezTo>
                    <a:pt x="73948" y="252743"/>
                    <a:pt x="70409" y="254073"/>
                    <a:pt x="66798" y="253835"/>
                  </a:cubicBezTo>
                  <a:lnTo>
                    <a:pt x="6679" y="253835"/>
                  </a:lnTo>
                  <a:cubicBezTo>
                    <a:pt x="2990" y="253835"/>
                    <a:pt x="0" y="250844"/>
                    <a:pt x="0" y="247155"/>
                  </a:cubicBezTo>
                  <a:lnTo>
                    <a:pt x="0" y="100198"/>
                  </a:lnTo>
                  <a:cubicBezTo>
                    <a:pt x="0" y="96508"/>
                    <a:pt x="2990" y="93518"/>
                    <a:pt x="6679" y="93518"/>
                  </a:cubicBezTo>
                  <a:lnTo>
                    <a:pt x="66798" y="93518"/>
                  </a:lnTo>
                  <a:cubicBezTo>
                    <a:pt x="70409" y="93279"/>
                    <a:pt x="73948" y="94609"/>
                    <a:pt x="76507" y="97168"/>
                  </a:cubicBezTo>
                  <a:close/>
                </a:path>
              </a:pathLst>
            </a:custGeom>
            <a:solidFill>
              <a:srgbClr val="FFFFFF"/>
            </a:solidFill>
            <a:ln>
              <a:noFill/>
            </a:ln>
          </p:spPr>
          <p:txBody>
            <a:bodyPr rtlCol="0" anchor="ctr"/>
            <a:lstStyle/>
            <a:p>
              <a:pPr algn="ctr"/>
              <a:endParaRPr/>
            </a:p>
          </p:txBody>
        </p:sp>
        <p:sp>
          <p:nvSpPr>
            <p:cNvPr id="15" name="Rounded Rectangle 23">
              <a:extLst>
                <a:ext uri="{FF2B5EF4-FFF2-40B4-BE49-F238E27FC236}">
                  <a16:creationId xmlns:a16="http://schemas.microsoft.com/office/drawing/2014/main" id="{FEBF01F9-1A26-5DE4-06DB-10F792D7F7F7}"/>
                </a:ext>
              </a:extLst>
            </p:cNvPr>
            <p:cNvSpPr/>
            <p:nvPr/>
          </p:nvSpPr>
          <p:spPr>
            <a:xfrm>
              <a:off x="1021481" y="2063755"/>
              <a:ext cx="674013" cy="695882"/>
            </a:xfrm>
            <a:custGeom>
              <a:avLst/>
              <a:gdLst/>
              <a:ahLst/>
              <a:cxnLst/>
              <a:rect l="0" t="0" r="0" b="0"/>
              <a:pathLst>
                <a:path w="623681" h="635389">
                  <a:moveTo>
                    <a:pt x="623681" y="595844"/>
                  </a:moveTo>
                  <a:cubicBezTo>
                    <a:pt x="619802" y="615859"/>
                    <a:pt x="604151" y="631509"/>
                    <a:pt x="584137" y="635389"/>
                  </a:cubicBezTo>
                  <a:lnTo>
                    <a:pt x="345799" y="635389"/>
                  </a:lnTo>
                  <a:cubicBezTo>
                    <a:pt x="325680" y="631607"/>
                    <a:pt x="309904" y="615936"/>
                    <a:pt x="305987" y="595844"/>
                  </a:cubicBezTo>
                  <a:lnTo>
                    <a:pt x="305987" y="303800"/>
                  </a:lnTo>
                  <a:cubicBezTo>
                    <a:pt x="309904" y="283707"/>
                    <a:pt x="325680" y="268037"/>
                    <a:pt x="345799" y="264255"/>
                  </a:cubicBezTo>
                  <a:lnTo>
                    <a:pt x="584137" y="264255"/>
                  </a:lnTo>
                  <a:cubicBezTo>
                    <a:pt x="604307" y="268209"/>
                    <a:pt x="619998" y="284112"/>
                    <a:pt x="623681" y="304334"/>
                  </a:cubicBezTo>
                  <a:close/>
                  <a:moveTo>
                    <a:pt x="372251" y="397585"/>
                  </a:moveTo>
                  <a:cubicBezTo>
                    <a:pt x="372020" y="401218"/>
                    <a:pt x="373344" y="404778"/>
                    <a:pt x="375892" y="407378"/>
                  </a:cubicBezTo>
                  <a:cubicBezTo>
                    <a:pt x="378441" y="409977"/>
                    <a:pt x="381974" y="411371"/>
                    <a:pt x="385611" y="411212"/>
                  </a:cubicBezTo>
                  <a:lnTo>
                    <a:pt x="544324" y="411212"/>
                  </a:lnTo>
                  <a:cubicBezTo>
                    <a:pt x="547936" y="411451"/>
                    <a:pt x="551474" y="410121"/>
                    <a:pt x="554033" y="407562"/>
                  </a:cubicBezTo>
                  <a:cubicBezTo>
                    <a:pt x="556592" y="405003"/>
                    <a:pt x="557923" y="401464"/>
                    <a:pt x="557684" y="397853"/>
                  </a:cubicBezTo>
                  <a:lnTo>
                    <a:pt x="557684" y="344414"/>
                  </a:lnTo>
                  <a:cubicBezTo>
                    <a:pt x="557933" y="340823"/>
                    <a:pt x="556596" y="337304"/>
                    <a:pt x="554026" y="334785"/>
                  </a:cubicBezTo>
                  <a:cubicBezTo>
                    <a:pt x="551455" y="332265"/>
                    <a:pt x="547909" y="331000"/>
                    <a:pt x="544324" y="331321"/>
                  </a:cubicBezTo>
                  <a:lnTo>
                    <a:pt x="385611" y="331321"/>
                  </a:lnTo>
                  <a:cubicBezTo>
                    <a:pt x="382026" y="330999"/>
                    <a:pt x="378480" y="332265"/>
                    <a:pt x="375910" y="334785"/>
                  </a:cubicBezTo>
                  <a:cubicBezTo>
                    <a:pt x="373339" y="337304"/>
                    <a:pt x="372002" y="340823"/>
                    <a:pt x="372251" y="344414"/>
                  </a:cubicBezTo>
                  <a:close/>
                  <a:moveTo>
                    <a:pt x="412597" y="549619"/>
                  </a:moveTo>
                  <a:cubicBezTo>
                    <a:pt x="412597" y="538699"/>
                    <a:pt x="403745" y="529847"/>
                    <a:pt x="392825" y="529847"/>
                  </a:cubicBezTo>
                  <a:cubicBezTo>
                    <a:pt x="381861" y="529846"/>
                    <a:pt x="372932" y="538656"/>
                    <a:pt x="372785" y="549619"/>
                  </a:cubicBezTo>
                  <a:cubicBezTo>
                    <a:pt x="372929" y="560627"/>
                    <a:pt x="381818" y="569515"/>
                    <a:pt x="392825" y="569659"/>
                  </a:cubicBezTo>
                  <a:cubicBezTo>
                    <a:pt x="403788" y="569513"/>
                    <a:pt x="412598" y="560583"/>
                    <a:pt x="412597" y="549619"/>
                  </a:cubicBezTo>
                  <a:close/>
                  <a:moveTo>
                    <a:pt x="412597" y="483088"/>
                  </a:moveTo>
                  <a:cubicBezTo>
                    <a:pt x="412597" y="472168"/>
                    <a:pt x="403745" y="463315"/>
                    <a:pt x="392825" y="463315"/>
                  </a:cubicBezTo>
                  <a:cubicBezTo>
                    <a:pt x="381861" y="463314"/>
                    <a:pt x="372932" y="472125"/>
                    <a:pt x="372785" y="483088"/>
                  </a:cubicBezTo>
                  <a:cubicBezTo>
                    <a:pt x="372929" y="494095"/>
                    <a:pt x="381818" y="502983"/>
                    <a:pt x="392825" y="503127"/>
                  </a:cubicBezTo>
                  <a:cubicBezTo>
                    <a:pt x="403788" y="502981"/>
                    <a:pt x="412598" y="494052"/>
                    <a:pt x="412597" y="483088"/>
                  </a:cubicBezTo>
                  <a:close/>
                  <a:moveTo>
                    <a:pt x="467105" y="569659"/>
                  </a:moveTo>
                  <a:cubicBezTo>
                    <a:pt x="478321" y="569807"/>
                    <a:pt x="487533" y="560835"/>
                    <a:pt x="487679" y="549619"/>
                  </a:cubicBezTo>
                  <a:cubicBezTo>
                    <a:pt x="487533" y="538656"/>
                    <a:pt x="478604" y="529846"/>
                    <a:pt x="467640" y="529847"/>
                  </a:cubicBezTo>
                  <a:cubicBezTo>
                    <a:pt x="456720" y="529847"/>
                    <a:pt x="447867" y="538699"/>
                    <a:pt x="447867" y="549619"/>
                  </a:cubicBezTo>
                  <a:cubicBezTo>
                    <a:pt x="447866" y="560583"/>
                    <a:pt x="456677" y="569513"/>
                    <a:pt x="467640" y="569659"/>
                  </a:cubicBezTo>
                  <a:close/>
                  <a:moveTo>
                    <a:pt x="467105" y="503127"/>
                  </a:moveTo>
                  <a:cubicBezTo>
                    <a:pt x="478321" y="503276"/>
                    <a:pt x="487533" y="494303"/>
                    <a:pt x="487679" y="483088"/>
                  </a:cubicBezTo>
                  <a:cubicBezTo>
                    <a:pt x="487533" y="472125"/>
                    <a:pt x="478604" y="463314"/>
                    <a:pt x="467640" y="463315"/>
                  </a:cubicBezTo>
                  <a:cubicBezTo>
                    <a:pt x="456720" y="463315"/>
                    <a:pt x="447867" y="472168"/>
                    <a:pt x="447867" y="483088"/>
                  </a:cubicBezTo>
                  <a:cubicBezTo>
                    <a:pt x="447866" y="494052"/>
                    <a:pt x="456677" y="502981"/>
                    <a:pt x="467640" y="503127"/>
                  </a:cubicBezTo>
                  <a:close/>
                  <a:moveTo>
                    <a:pt x="544324" y="569659"/>
                  </a:moveTo>
                  <a:cubicBezTo>
                    <a:pt x="555540" y="569807"/>
                    <a:pt x="564752" y="560835"/>
                    <a:pt x="564898" y="549619"/>
                  </a:cubicBezTo>
                  <a:cubicBezTo>
                    <a:pt x="564752" y="538656"/>
                    <a:pt x="555823" y="529846"/>
                    <a:pt x="544859" y="529847"/>
                  </a:cubicBezTo>
                  <a:cubicBezTo>
                    <a:pt x="533939" y="529847"/>
                    <a:pt x="525087" y="538699"/>
                    <a:pt x="525087" y="549619"/>
                  </a:cubicBezTo>
                  <a:cubicBezTo>
                    <a:pt x="525086" y="560583"/>
                    <a:pt x="533896" y="569513"/>
                    <a:pt x="544859" y="569659"/>
                  </a:cubicBezTo>
                  <a:close/>
                  <a:moveTo>
                    <a:pt x="544324" y="503127"/>
                  </a:moveTo>
                  <a:cubicBezTo>
                    <a:pt x="555540" y="503276"/>
                    <a:pt x="564752" y="494303"/>
                    <a:pt x="564898" y="483088"/>
                  </a:cubicBezTo>
                  <a:cubicBezTo>
                    <a:pt x="564752" y="472125"/>
                    <a:pt x="555823" y="463314"/>
                    <a:pt x="544859" y="463315"/>
                  </a:cubicBezTo>
                  <a:cubicBezTo>
                    <a:pt x="533939" y="463315"/>
                    <a:pt x="525087" y="472168"/>
                    <a:pt x="525087" y="483088"/>
                  </a:cubicBezTo>
                  <a:cubicBezTo>
                    <a:pt x="525086" y="494052"/>
                    <a:pt x="533896" y="502981"/>
                    <a:pt x="544859" y="503127"/>
                  </a:cubicBezTo>
                  <a:close/>
                  <a:moveTo>
                    <a:pt x="451875" y="54774"/>
                  </a:moveTo>
                  <a:cubicBezTo>
                    <a:pt x="453202" y="53634"/>
                    <a:pt x="453979" y="51981"/>
                    <a:pt x="454013" y="50232"/>
                  </a:cubicBezTo>
                  <a:cubicBezTo>
                    <a:pt x="453988" y="48404"/>
                    <a:pt x="453216" y="46666"/>
                    <a:pt x="451875" y="45423"/>
                  </a:cubicBezTo>
                  <a:lnTo>
                    <a:pt x="429164" y="22444"/>
                  </a:lnTo>
                  <a:cubicBezTo>
                    <a:pt x="425316" y="18693"/>
                    <a:pt x="424151" y="12972"/>
                    <a:pt x="426224" y="8015"/>
                  </a:cubicBezTo>
                  <a:cubicBezTo>
                    <a:pt x="428410" y="3177"/>
                    <a:pt x="433207" y="49"/>
                    <a:pt x="438515" y="0"/>
                  </a:cubicBezTo>
                  <a:lnTo>
                    <a:pt x="531232" y="0"/>
                  </a:lnTo>
                  <a:cubicBezTo>
                    <a:pt x="538463" y="0"/>
                    <a:pt x="544324" y="5861"/>
                    <a:pt x="544324" y="13092"/>
                  </a:cubicBezTo>
                  <a:lnTo>
                    <a:pt x="544324" y="106877"/>
                  </a:lnTo>
                  <a:cubicBezTo>
                    <a:pt x="544275" y="112186"/>
                    <a:pt x="541147" y="116983"/>
                    <a:pt x="536309" y="119168"/>
                  </a:cubicBezTo>
                  <a:cubicBezTo>
                    <a:pt x="534635" y="119522"/>
                    <a:pt x="532906" y="119522"/>
                    <a:pt x="531232" y="119168"/>
                  </a:cubicBezTo>
                  <a:cubicBezTo>
                    <a:pt x="527689" y="119212"/>
                    <a:pt x="524292" y="117756"/>
                    <a:pt x="521880" y="115160"/>
                  </a:cubicBezTo>
                  <a:lnTo>
                    <a:pt x="498901" y="92449"/>
                  </a:lnTo>
                  <a:cubicBezTo>
                    <a:pt x="497658" y="91108"/>
                    <a:pt x="495920" y="90336"/>
                    <a:pt x="494092" y="90311"/>
                  </a:cubicBezTo>
                  <a:cubicBezTo>
                    <a:pt x="492343" y="90345"/>
                    <a:pt x="490690" y="91122"/>
                    <a:pt x="489550" y="92449"/>
                  </a:cubicBezTo>
                  <a:lnTo>
                    <a:pt x="402979" y="178753"/>
                  </a:lnTo>
                  <a:cubicBezTo>
                    <a:pt x="382199" y="199121"/>
                    <a:pt x="348943" y="199121"/>
                    <a:pt x="328164" y="178753"/>
                  </a:cubicBezTo>
                  <a:lnTo>
                    <a:pt x="304116" y="154705"/>
                  </a:lnTo>
                  <a:cubicBezTo>
                    <a:pt x="302846" y="153436"/>
                    <a:pt x="301101" y="152757"/>
                    <a:pt x="299307" y="152835"/>
                  </a:cubicBezTo>
                  <a:cubicBezTo>
                    <a:pt x="297592" y="152766"/>
                    <a:pt x="295933" y="153449"/>
                    <a:pt x="294765" y="154705"/>
                  </a:cubicBezTo>
                  <a:lnTo>
                    <a:pt x="46808" y="402662"/>
                  </a:lnTo>
                  <a:cubicBezTo>
                    <a:pt x="41831" y="407598"/>
                    <a:pt x="35114" y="410381"/>
                    <a:pt x="28104" y="410411"/>
                  </a:cubicBezTo>
                  <a:cubicBezTo>
                    <a:pt x="17529" y="410162"/>
                    <a:pt x="8096" y="403697"/>
                    <a:pt x="4048" y="393923"/>
                  </a:cubicBezTo>
                  <a:cubicBezTo>
                    <a:pt x="0" y="384150"/>
                    <a:pt x="2098" y="372909"/>
                    <a:pt x="9401" y="365255"/>
                  </a:cubicBezTo>
                  <a:lnTo>
                    <a:pt x="261900" y="112489"/>
                  </a:lnTo>
                  <a:cubicBezTo>
                    <a:pt x="282711" y="91945"/>
                    <a:pt x="316170" y="91945"/>
                    <a:pt x="336981" y="112489"/>
                  </a:cubicBezTo>
                  <a:lnTo>
                    <a:pt x="361029" y="136536"/>
                  </a:lnTo>
                  <a:cubicBezTo>
                    <a:pt x="362197" y="137793"/>
                    <a:pt x="363857" y="138476"/>
                    <a:pt x="365571" y="138406"/>
                  </a:cubicBezTo>
                  <a:cubicBezTo>
                    <a:pt x="367366" y="138484"/>
                    <a:pt x="369110" y="137805"/>
                    <a:pt x="370381" y="136536"/>
                  </a:cubicBezTo>
                  <a:close/>
                </a:path>
              </a:pathLst>
            </a:custGeom>
            <a:solidFill>
              <a:srgbClr val="FFFFFF"/>
            </a:solidFill>
            <a:ln>
              <a:noFill/>
            </a:ln>
          </p:spPr>
          <p:txBody>
            <a:bodyPr rtlCol="0" anchor="ctr"/>
            <a:lstStyle/>
            <a:p>
              <a:pPr algn="ctr"/>
              <a:endParaRPr/>
            </a:p>
          </p:txBody>
        </p:sp>
        <p:sp>
          <p:nvSpPr>
            <p:cNvPr id="16" name="Rounded Rectangle 24">
              <a:extLst>
                <a:ext uri="{FF2B5EF4-FFF2-40B4-BE49-F238E27FC236}">
                  <a16:creationId xmlns:a16="http://schemas.microsoft.com/office/drawing/2014/main" id="{FAE3ADE9-8D9B-0401-394D-5AB213E99900}"/>
                </a:ext>
              </a:extLst>
            </p:cNvPr>
            <p:cNvSpPr/>
            <p:nvPr/>
          </p:nvSpPr>
          <p:spPr>
            <a:xfrm>
              <a:off x="2629911" y="2071961"/>
              <a:ext cx="693619" cy="670883"/>
            </a:xfrm>
            <a:custGeom>
              <a:avLst/>
              <a:gdLst/>
              <a:ahLst/>
              <a:cxnLst/>
              <a:rect l="0" t="0" r="0" b="0"/>
              <a:pathLst>
                <a:path w="641824" h="612562">
                  <a:moveTo>
                    <a:pt x="409611" y="116752"/>
                  </a:moveTo>
                  <a:cubicBezTo>
                    <a:pt x="409506" y="64321"/>
                    <a:pt x="446827" y="19280"/>
                    <a:pt x="498364" y="9640"/>
                  </a:cubicBezTo>
                  <a:cubicBezTo>
                    <a:pt x="549900" y="0"/>
                    <a:pt x="600978" y="28504"/>
                    <a:pt x="619833" y="77428"/>
                  </a:cubicBezTo>
                  <a:cubicBezTo>
                    <a:pt x="638687" y="126351"/>
                    <a:pt x="619949" y="181762"/>
                    <a:pt x="575272" y="209201"/>
                  </a:cubicBezTo>
                  <a:cubicBezTo>
                    <a:pt x="573303" y="210516"/>
                    <a:pt x="572105" y="212712"/>
                    <a:pt x="572066" y="215079"/>
                  </a:cubicBezTo>
                  <a:cubicBezTo>
                    <a:pt x="572154" y="217431"/>
                    <a:pt x="573474" y="219562"/>
                    <a:pt x="575539" y="220690"/>
                  </a:cubicBezTo>
                  <a:cubicBezTo>
                    <a:pt x="616361" y="243163"/>
                    <a:pt x="641743" y="286046"/>
                    <a:pt x="641803" y="332645"/>
                  </a:cubicBezTo>
                  <a:lnTo>
                    <a:pt x="641803" y="408795"/>
                  </a:lnTo>
                  <a:cubicBezTo>
                    <a:pt x="641824" y="412281"/>
                    <a:pt x="640482" y="415637"/>
                    <a:pt x="638063" y="418147"/>
                  </a:cubicBezTo>
                  <a:cubicBezTo>
                    <a:pt x="635549" y="420757"/>
                    <a:pt x="632066" y="422208"/>
                    <a:pt x="628444" y="422155"/>
                  </a:cubicBezTo>
                  <a:lnTo>
                    <a:pt x="589700" y="422155"/>
                  </a:lnTo>
                  <a:cubicBezTo>
                    <a:pt x="586303" y="422131"/>
                    <a:pt x="583428" y="424660"/>
                    <a:pt x="583021" y="428033"/>
                  </a:cubicBezTo>
                  <a:lnTo>
                    <a:pt x="565653" y="600374"/>
                  </a:lnTo>
                  <a:cubicBezTo>
                    <a:pt x="565088" y="607289"/>
                    <a:pt x="559229" y="612562"/>
                    <a:pt x="552293" y="612398"/>
                  </a:cubicBezTo>
                  <a:lnTo>
                    <a:pt x="476410" y="612398"/>
                  </a:lnTo>
                  <a:cubicBezTo>
                    <a:pt x="469474" y="612562"/>
                    <a:pt x="463614" y="607289"/>
                    <a:pt x="463050" y="600374"/>
                  </a:cubicBezTo>
                  <a:lnTo>
                    <a:pt x="445682" y="428033"/>
                  </a:lnTo>
                  <a:cubicBezTo>
                    <a:pt x="445275" y="424660"/>
                    <a:pt x="442400" y="422131"/>
                    <a:pt x="439003" y="422155"/>
                  </a:cubicBezTo>
                  <a:lnTo>
                    <a:pt x="400259" y="422155"/>
                  </a:lnTo>
                  <a:cubicBezTo>
                    <a:pt x="396636" y="422208"/>
                    <a:pt x="393154" y="420757"/>
                    <a:pt x="390640" y="418147"/>
                  </a:cubicBezTo>
                  <a:cubicBezTo>
                    <a:pt x="388221" y="415637"/>
                    <a:pt x="386879" y="412281"/>
                    <a:pt x="386900" y="408795"/>
                  </a:cubicBezTo>
                  <a:lnTo>
                    <a:pt x="386900" y="332645"/>
                  </a:lnTo>
                  <a:cubicBezTo>
                    <a:pt x="386905" y="284317"/>
                    <a:pt x="414358" y="240186"/>
                    <a:pt x="457706" y="218820"/>
                  </a:cubicBezTo>
                  <a:cubicBezTo>
                    <a:pt x="459915" y="217809"/>
                    <a:pt x="461364" y="215637"/>
                    <a:pt x="461447" y="213209"/>
                  </a:cubicBezTo>
                  <a:cubicBezTo>
                    <a:pt x="461608" y="210788"/>
                    <a:pt x="460494" y="208458"/>
                    <a:pt x="458508" y="207063"/>
                  </a:cubicBezTo>
                  <a:cubicBezTo>
                    <a:pt x="427866" y="187276"/>
                    <a:pt x="409431" y="153227"/>
                    <a:pt x="409611" y="116752"/>
                  </a:cubicBezTo>
                  <a:close/>
                  <a:moveTo>
                    <a:pt x="534391" y="265846"/>
                  </a:moveTo>
                  <a:cubicBezTo>
                    <a:pt x="534391" y="254779"/>
                    <a:pt x="525419" y="245807"/>
                    <a:pt x="514351" y="245807"/>
                  </a:cubicBezTo>
                  <a:cubicBezTo>
                    <a:pt x="503284" y="245807"/>
                    <a:pt x="494312" y="254779"/>
                    <a:pt x="494312" y="265846"/>
                  </a:cubicBezTo>
                  <a:lnTo>
                    <a:pt x="494312" y="310201"/>
                  </a:lnTo>
                  <a:cubicBezTo>
                    <a:pt x="494312" y="321268"/>
                    <a:pt x="503284" y="330240"/>
                    <a:pt x="514351" y="330240"/>
                  </a:cubicBezTo>
                  <a:cubicBezTo>
                    <a:pt x="525419" y="330240"/>
                    <a:pt x="534391" y="321268"/>
                    <a:pt x="534391" y="310201"/>
                  </a:cubicBezTo>
                  <a:close/>
                  <a:moveTo>
                    <a:pt x="466524" y="96445"/>
                  </a:moveTo>
                  <a:cubicBezTo>
                    <a:pt x="464377" y="102362"/>
                    <a:pt x="463204" y="108588"/>
                    <a:pt x="463050" y="114881"/>
                  </a:cubicBezTo>
                  <a:cubicBezTo>
                    <a:pt x="462534" y="145428"/>
                    <a:pt x="486878" y="170609"/>
                    <a:pt x="517424" y="171126"/>
                  </a:cubicBezTo>
                  <a:cubicBezTo>
                    <a:pt x="547971" y="171642"/>
                    <a:pt x="573152" y="147298"/>
                    <a:pt x="573669" y="116752"/>
                  </a:cubicBezTo>
                  <a:cubicBezTo>
                    <a:pt x="573733" y="114770"/>
                    <a:pt x="572837" y="112880"/>
                    <a:pt x="571264" y="111675"/>
                  </a:cubicBezTo>
                  <a:cubicBezTo>
                    <a:pt x="569821" y="110353"/>
                    <a:pt x="567853" y="109763"/>
                    <a:pt x="565920" y="110072"/>
                  </a:cubicBezTo>
                  <a:cubicBezTo>
                    <a:pt x="559295" y="111146"/>
                    <a:pt x="552593" y="111683"/>
                    <a:pt x="545880" y="111675"/>
                  </a:cubicBezTo>
                  <a:cubicBezTo>
                    <a:pt x="521331" y="111623"/>
                    <a:pt x="497246" y="104979"/>
                    <a:pt x="476143" y="92437"/>
                  </a:cubicBezTo>
                  <a:cubicBezTo>
                    <a:pt x="474355" y="91648"/>
                    <a:pt x="472319" y="91648"/>
                    <a:pt x="470532" y="92437"/>
                  </a:cubicBezTo>
                  <a:cubicBezTo>
                    <a:pt x="468766" y="93260"/>
                    <a:pt x="467347" y="94679"/>
                    <a:pt x="466524" y="96445"/>
                  </a:cubicBezTo>
                  <a:close/>
                  <a:moveTo>
                    <a:pt x="1" y="371923"/>
                  </a:moveTo>
                  <a:lnTo>
                    <a:pt x="1" y="225767"/>
                  </a:lnTo>
                  <a:cubicBezTo>
                    <a:pt x="0" y="203839"/>
                    <a:pt x="17620" y="185980"/>
                    <a:pt x="39546" y="185688"/>
                  </a:cubicBezTo>
                  <a:lnTo>
                    <a:pt x="44890" y="185688"/>
                  </a:lnTo>
                  <a:cubicBezTo>
                    <a:pt x="47631" y="185734"/>
                    <a:pt x="50143" y="184164"/>
                    <a:pt x="51303" y="181680"/>
                  </a:cubicBezTo>
                  <a:lnTo>
                    <a:pt x="51303" y="179809"/>
                  </a:lnTo>
                  <a:lnTo>
                    <a:pt x="117033" y="49418"/>
                  </a:lnTo>
                  <a:cubicBezTo>
                    <a:pt x="121743" y="39862"/>
                    <a:pt x="130133" y="32630"/>
                    <a:pt x="140279" y="29379"/>
                  </a:cubicBezTo>
                  <a:cubicBezTo>
                    <a:pt x="150389" y="25909"/>
                    <a:pt x="161474" y="26680"/>
                    <a:pt x="171006" y="31516"/>
                  </a:cubicBezTo>
                  <a:lnTo>
                    <a:pt x="378349" y="136791"/>
                  </a:lnTo>
                  <a:cubicBezTo>
                    <a:pt x="397730" y="146889"/>
                    <a:pt x="405548" y="170581"/>
                    <a:pt x="395984" y="190230"/>
                  </a:cubicBezTo>
                  <a:lnTo>
                    <a:pt x="330254" y="320621"/>
                  </a:lnTo>
                  <a:cubicBezTo>
                    <a:pt x="326921" y="327318"/>
                    <a:pt x="321602" y="332824"/>
                    <a:pt x="315024" y="336386"/>
                  </a:cubicBezTo>
                  <a:cubicBezTo>
                    <a:pt x="313056" y="337700"/>
                    <a:pt x="311858" y="339897"/>
                    <a:pt x="311818" y="342264"/>
                  </a:cubicBezTo>
                  <a:lnTo>
                    <a:pt x="311818" y="371923"/>
                  </a:lnTo>
                  <a:cubicBezTo>
                    <a:pt x="311818" y="394058"/>
                    <a:pt x="293874" y="412002"/>
                    <a:pt x="271739" y="412002"/>
                  </a:cubicBezTo>
                  <a:lnTo>
                    <a:pt x="39546" y="412002"/>
                  </a:lnTo>
                  <a:cubicBezTo>
                    <a:pt x="17620" y="411709"/>
                    <a:pt x="0" y="393851"/>
                    <a:pt x="1" y="371923"/>
                  </a:cubicBezTo>
                  <a:close/>
                  <a:moveTo>
                    <a:pt x="113292" y="183283"/>
                  </a:moveTo>
                  <a:cubicBezTo>
                    <a:pt x="114514" y="185183"/>
                    <a:pt x="116646" y="186299"/>
                    <a:pt x="118903" y="186222"/>
                  </a:cubicBezTo>
                  <a:lnTo>
                    <a:pt x="271739" y="186222"/>
                  </a:lnTo>
                  <a:cubicBezTo>
                    <a:pt x="293874" y="186222"/>
                    <a:pt x="311818" y="204166"/>
                    <a:pt x="311818" y="226301"/>
                  </a:cubicBezTo>
                  <a:cubicBezTo>
                    <a:pt x="311794" y="227737"/>
                    <a:pt x="312811" y="228980"/>
                    <a:pt x="314223" y="229241"/>
                  </a:cubicBezTo>
                  <a:cubicBezTo>
                    <a:pt x="315544" y="229609"/>
                    <a:pt x="316930" y="228916"/>
                    <a:pt x="317429" y="227637"/>
                  </a:cubicBezTo>
                  <a:lnTo>
                    <a:pt x="339339" y="184619"/>
                  </a:lnTo>
                  <a:cubicBezTo>
                    <a:pt x="340925" y="181291"/>
                    <a:pt x="339635" y="177303"/>
                    <a:pt x="336400" y="175534"/>
                  </a:cubicBezTo>
                  <a:lnTo>
                    <a:pt x="164861" y="88963"/>
                  </a:lnTo>
                  <a:cubicBezTo>
                    <a:pt x="161532" y="87377"/>
                    <a:pt x="157545" y="88667"/>
                    <a:pt x="155776" y="91902"/>
                  </a:cubicBezTo>
                  <a:lnTo>
                    <a:pt x="113025" y="176603"/>
                  </a:lnTo>
                  <a:cubicBezTo>
                    <a:pt x="111913" y="178717"/>
                    <a:pt x="112015" y="181264"/>
                    <a:pt x="113292" y="183283"/>
                  </a:cubicBezTo>
                  <a:close/>
                  <a:moveTo>
                    <a:pt x="53440" y="351883"/>
                  </a:moveTo>
                  <a:cubicBezTo>
                    <a:pt x="53216" y="353699"/>
                    <a:pt x="53747" y="355528"/>
                    <a:pt x="54908" y="356942"/>
                  </a:cubicBezTo>
                  <a:cubicBezTo>
                    <a:pt x="56070" y="358356"/>
                    <a:pt x="57761" y="359232"/>
                    <a:pt x="59586" y="359364"/>
                  </a:cubicBezTo>
                  <a:lnTo>
                    <a:pt x="251699" y="359364"/>
                  </a:lnTo>
                  <a:cubicBezTo>
                    <a:pt x="255388" y="359364"/>
                    <a:pt x="258379" y="356374"/>
                    <a:pt x="258379" y="352685"/>
                  </a:cubicBezTo>
                  <a:lnTo>
                    <a:pt x="258379" y="245807"/>
                  </a:lnTo>
                  <a:cubicBezTo>
                    <a:pt x="258379" y="242117"/>
                    <a:pt x="255388" y="239127"/>
                    <a:pt x="251699" y="239127"/>
                  </a:cubicBezTo>
                  <a:lnTo>
                    <a:pt x="60120" y="239127"/>
                  </a:lnTo>
                  <a:cubicBezTo>
                    <a:pt x="56431" y="239127"/>
                    <a:pt x="53441" y="242117"/>
                    <a:pt x="53441" y="245807"/>
                  </a:cubicBezTo>
                  <a:close/>
                  <a:moveTo>
                    <a:pt x="126117" y="301650"/>
                  </a:moveTo>
                  <a:cubicBezTo>
                    <a:pt x="126117" y="283795"/>
                    <a:pt x="140592" y="269320"/>
                    <a:pt x="158448" y="269320"/>
                  </a:cubicBezTo>
                  <a:cubicBezTo>
                    <a:pt x="176304" y="269320"/>
                    <a:pt x="190779" y="283795"/>
                    <a:pt x="190779" y="301650"/>
                  </a:cubicBezTo>
                  <a:cubicBezTo>
                    <a:pt x="190779" y="319506"/>
                    <a:pt x="176304" y="333981"/>
                    <a:pt x="158448" y="333981"/>
                  </a:cubicBezTo>
                  <a:cubicBezTo>
                    <a:pt x="140592" y="333981"/>
                    <a:pt x="126117" y="319506"/>
                    <a:pt x="126117" y="301650"/>
                  </a:cubicBezTo>
                </a:path>
              </a:pathLst>
            </a:custGeom>
            <a:solidFill>
              <a:srgbClr val="FFFFFF"/>
            </a:solidFill>
            <a:ln>
              <a:noFill/>
            </a:ln>
          </p:spPr>
          <p:txBody>
            <a:bodyPr rtlCol="0" anchor="ctr"/>
            <a:lstStyle/>
            <a:p>
              <a:pPr algn="ctr"/>
              <a:endParaRPr/>
            </a:p>
          </p:txBody>
        </p:sp>
        <p:sp>
          <p:nvSpPr>
            <p:cNvPr id="17" name="Rounded Rectangle 25">
              <a:extLst>
                <a:ext uri="{FF2B5EF4-FFF2-40B4-BE49-F238E27FC236}">
                  <a16:creationId xmlns:a16="http://schemas.microsoft.com/office/drawing/2014/main" id="{6924671D-4056-F6E2-5809-EB078EB732E4}"/>
                </a:ext>
              </a:extLst>
            </p:cNvPr>
            <p:cNvSpPr/>
            <p:nvPr/>
          </p:nvSpPr>
          <p:spPr>
            <a:xfrm>
              <a:off x="4244850" y="2060367"/>
              <a:ext cx="696882" cy="702490"/>
            </a:xfrm>
            <a:custGeom>
              <a:avLst/>
              <a:gdLst/>
              <a:ahLst/>
              <a:cxnLst/>
              <a:rect l="0" t="0" r="0" b="0"/>
              <a:pathLst>
                <a:path w="644843" h="641422">
                  <a:moveTo>
                    <a:pt x="1947" y="154"/>
                  </a:moveTo>
                  <a:moveTo>
                    <a:pt x="613289" y="327468"/>
                  </a:moveTo>
                  <a:cubicBezTo>
                    <a:pt x="619932" y="335210"/>
                    <a:pt x="621587" y="346058"/>
                    <a:pt x="617555" y="355429"/>
                  </a:cubicBezTo>
                  <a:cubicBezTo>
                    <a:pt x="613523" y="364799"/>
                    <a:pt x="604507" y="371056"/>
                    <a:pt x="594318" y="371555"/>
                  </a:cubicBezTo>
                  <a:lnTo>
                    <a:pt x="550231" y="371555"/>
                  </a:lnTo>
                  <a:cubicBezTo>
                    <a:pt x="546542" y="371555"/>
                    <a:pt x="543551" y="374546"/>
                    <a:pt x="543551" y="378235"/>
                  </a:cubicBezTo>
                  <a:lnTo>
                    <a:pt x="543551" y="602412"/>
                  </a:lnTo>
                  <a:cubicBezTo>
                    <a:pt x="543406" y="623896"/>
                    <a:pt x="526025" y="641276"/>
                    <a:pt x="504541" y="641422"/>
                  </a:cubicBezTo>
                  <a:lnTo>
                    <a:pt x="388846" y="641422"/>
                  </a:lnTo>
                  <a:cubicBezTo>
                    <a:pt x="374089" y="641422"/>
                    <a:pt x="362126" y="629459"/>
                    <a:pt x="362126" y="614703"/>
                  </a:cubicBezTo>
                  <a:lnTo>
                    <a:pt x="362126" y="512367"/>
                  </a:lnTo>
                  <a:cubicBezTo>
                    <a:pt x="360191" y="485683"/>
                    <a:pt x="337979" y="465023"/>
                    <a:pt x="311225" y="465023"/>
                  </a:cubicBezTo>
                  <a:cubicBezTo>
                    <a:pt x="284472" y="465023"/>
                    <a:pt x="262259" y="485683"/>
                    <a:pt x="260325" y="512367"/>
                  </a:cubicBezTo>
                  <a:lnTo>
                    <a:pt x="260325" y="614703"/>
                  </a:lnTo>
                  <a:cubicBezTo>
                    <a:pt x="260325" y="629459"/>
                    <a:pt x="248362" y="641422"/>
                    <a:pt x="233605" y="641422"/>
                  </a:cubicBezTo>
                  <a:lnTo>
                    <a:pt x="118177" y="641422"/>
                  </a:lnTo>
                  <a:cubicBezTo>
                    <a:pt x="96632" y="641422"/>
                    <a:pt x="79167" y="623956"/>
                    <a:pt x="79167" y="602412"/>
                  </a:cubicBezTo>
                  <a:lnTo>
                    <a:pt x="79167" y="378235"/>
                  </a:lnTo>
                  <a:cubicBezTo>
                    <a:pt x="79030" y="374604"/>
                    <a:pt x="76118" y="371692"/>
                    <a:pt x="72487" y="371555"/>
                  </a:cubicBezTo>
                  <a:lnTo>
                    <a:pt x="28133" y="371555"/>
                  </a:lnTo>
                  <a:cubicBezTo>
                    <a:pt x="17731" y="371429"/>
                    <a:pt x="8349" y="365278"/>
                    <a:pt x="4085" y="355791"/>
                  </a:cubicBezTo>
                  <a:cubicBezTo>
                    <a:pt x="0" y="346093"/>
                    <a:pt x="1987" y="334900"/>
                    <a:pt x="9162" y="327201"/>
                  </a:cubicBezTo>
                  <a:lnTo>
                    <a:pt x="291854" y="31951"/>
                  </a:lnTo>
                  <a:cubicBezTo>
                    <a:pt x="296871" y="26892"/>
                    <a:pt x="303700" y="24047"/>
                    <a:pt x="310825" y="24047"/>
                  </a:cubicBezTo>
                  <a:cubicBezTo>
                    <a:pt x="317949" y="24047"/>
                    <a:pt x="324778" y="26892"/>
                    <a:pt x="329795" y="31951"/>
                  </a:cubicBezTo>
                  <a:lnTo>
                    <a:pt x="416367" y="122530"/>
                  </a:lnTo>
                  <a:cubicBezTo>
                    <a:pt x="418861" y="125167"/>
                    <a:pt x="422357" y="126623"/>
                    <a:pt x="425986" y="126538"/>
                  </a:cubicBezTo>
                  <a:lnTo>
                    <a:pt x="516832" y="126538"/>
                  </a:lnTo>
                  <a:cubicBezTo>
                    <a:pt x="524210" y="126538"/>
                    <a:pt x="530192" y="132519"/>
                    <a:pt x="530192" y="139897"/>
                  </a:cubicBezTo>
                  <a:lnTo>
                    <a:pt x="530192" y="238225"/>
                  </a:lnTo>
                  <a:cubicBezTo>
                    <a:pt x="530084" y="239946"/>
                    <a:pt x="530774" y="241621"/>
                    <a:pt x="532062" y="242767"/>
                  </a:cubicBezTo>
                  <a:lnTo>
                    <a:pt x="612220" y="327468"/>
                  </a:lnTo>
                  <a:close/>
                  <a:moveTo>
                    <a:pt x="634398" y="44509"/>
                  </a:moveTo>
                  <a:lnTo>
                    <a:pt x="609014" y="69625"/>
                  </a:lnTo>
                  <a:cubicBezTo>
                    <a:pt x="584626" y="93878"/>
                    <a:pt x="545228" y="93878"/>
                    <a:pt x="520840" y="69625"/>
                  </a:cubicBezTo>
                  <a:cubicBezTo>
                    <a:pt x="517295" y="66092"/>
                    <a:pt x="511560" y="66092"/>
                    <a:pt x="508014" y="69625"/>
                  </a:cubicBezTo>
                  <a:lnTo>
                    <a:pt x="482898" y="96345"/>
                  </a:lnTo>
                  <a:cubicBezTo>
                    <a:pt x="478338" y="101585"/>
                    <a:pt x="471917" y="104843"/>
                    <a:pt x="464996" y="105429"/>
                  </a:cubicBezTo>
                  <a:cubicBezTo>
                    <a:pt x="454190" y="105384"/>
                    <a:pt x="444474" y="98834"/>
                    <a:pt x="440380" y="88832"/>
                  </a:cubicBezTo>
                  <a:cubicBezTo>
                    <a:pt x="436286" y="78831"/>
                    <a:pt x="438620" y="67349"/>
                    <a:pt x="446292" y="59739"/>
                  </a:cubicBezTo>
                  <a:lnTo>
                    <a:pt x="471409" y="34623"/>
                  </a:lnTo>
                  <a:cubicBezTo>
                    <a:pt x="495797" y="10370"/>
                    <a:pt x="535195" y="10370"/>
                    <a:pt x="559583" y="34623"/>
                  </a:cubicBezTo>
                  <a:cubicBezTo>
                    <a:pt x="563128" y="38155"/>
                    <a:pt x="568863" y="38155"/>
                    <a:pt x="572408" y="34623"/>
                  </a:cubicBezTo>
                  <a:lnTo>
                    <a:pt x="597525" y="7903"/>
                  </a:lnTo>
                  <a:cubicBezTo>
                    <a:pt x="602542" y="2845"/>
                    <a:pt x="609371" y="0"/>
                    <a:pt x="616495" y="0"/>
                  </a:cubicBezTo>
                  <a:cubicBezTo>
                    <a:pt x="623620" y="0"/>
                    <a:pt x="630449" y="2845"/>
                    <a:pt x="635466" y="7903"/>
                  </a:cubicBezTo>
                  <a:cubicBezTo>
                    <a:pt x="644843" y="18469"/>
                    <a:pt x="644374" y="34508"/>
                    <a:pt x="634398" y="44509"/>
                  </a:cubicBezTo>
                  <a:close/>
                </a:path>
              </a:pathLst>
            </a:custGeom>
            <a:solidFill>
              <a:srgbClr val="FFFFFF"/>
            </a:solidFill>
            <a:ln>
              <a:noFill/>
            </a:ln>
          </p:spPr>
          <p:txBody>
            <a:bodyPr rtlCol="0" anchor="ctr"/>
            <a:lstStyle/>
            <a:p>
              <a:pPr algn="ctr"/>
              <a:endParaRPr/>
            </a:p>
          </p:txBody>
        </p:sp>
        <p:sp>
          <p:nvSpPr>
            <p:cNvPr id="18" name="TextBox 17">
              <a:extLst>
                <a:ext uri="{FF2B5EF4-FFF2-40B4-BE49-F238E27FC236}">
                  <a16:creationId xmlns:a16="http://schemas.microsoft.com/office/drawing/2014/main" id="{2CC28D10-3BC0-4EE7-2AB5-B75A2CB1F327}"/>
                </a:ext>
              </a:extLst>
            </p:cNvPr>
            <p:cNvSpPr txBox="1"/>
            <p:nvPr/>
          </p:nvSpPr>
          <p:spPr>
            <a:xfrm>
              <a:off x="3821179" y="5360381"/>
              <a:ext cx="1617430" cy="553998"/>
            </a:xfrm>
            <a:prstGeom prst="rect">
              <a:avLst/>
            </a:prstGeom>
            <a:noFill/>
            <a:ln>
              <a:noFill/>
            </a:ln>
          </p:spPr>
          <p:txBody>
            <a:bodyPr wrap="none" lIns="0" tIns="0" rIns="0" bIns="0" anchor="t">
              <a:spAutoFit/>
            </a:bodyPr>
            <a:lstStyle/>
            <a:p>
              <a:pPr algn="ctr"/>
              <a:r>
                <a:rPr b="0" dirty="0">
                  <a:solidFill>
                    <a:srgbClr val="484848"/>
                  </a:solidFill>
                  <a:latin typeface="Roboto"/>
                </a:rPr>
                <a:t>Income a single
house property.</a:t>
              </a:r>
            </a:p>
          </p:txBody>
        </p:sp>
        <p:sp>
          <p:nvSpPr>
            <p:cNvPr id="19" name="TextBox 18">
              <a:extLst>
                <a:ext uri="{FF2B5EF4-FFF2-40B4-BE49-F238E27FC236}">
                  <a16:creationId xmlns:a16="http://schemas.microsoft.com/office/drawing/2014/main" id="{83298446-76E4-2247-F527-47D30A96C279}"/>
                </a:ext>
              </a:extLst>
            </p:cNvPr>
            <p:cNvSpPr txBox="1"/>
            <p:nvPr/>
          </p:nvSpPr>
          <p:spPr>
            <a:xfrm>
              <a:off x="812471" y="3952900"/>
              <a:ext cx="1191032" cy="877163"/>
            </a:xfrm>
            <a:prstGeom prst="rect">
              <a:avLst/>
            </a:prstGeom>
            <a:noFill/>
            <a:ln>
              <a:noFill/>
            </a:ln>
          </p:spPr>
          <p:txBody>
            <a:bodyPr wrap="none" lIns="0" tIns="0" rIns="0" bIns="0" anchor="t">
              <a:spAutoFit/>
            </a:bodyPr>
            <a:lstStyle/>
            <a:p>
              <a:pPr algn="ctr"/>
              <a:r>
                <a:rPr sz="1900" b="1" dirty="0">
                  <a:solidFill>
                    <a:srgbClr val="E0CB15"/>
                  </a:solidFill>
                  <a:latin typeface="Roboto"/>
                </a:rPr>
                <a:t>Business/</a:t>
              </a:r>
              <a:endParaRPr lang="en-IN" sz="1900" b="1" dirty="0">
                <a:solidFill>
                  <a:srgbClr val="E0CB15"/>
                </a:solidFill>
                <a:latin typeface="Roboto"/>
              </a:endParaRPr>
            </a:p>
            <a:p>
              <a:pPr algn="ctr"/>
              <a:r>
                <a:rPr sz="1900" b="1" dirty="0">
                  <a:solidFill>
                    <a:srgbClr val="E0CB15"/>
                  </a:solidFill>
                  <a:latin typeface="Roboto"/>
                </a:rPr>
                <a:t>Profession
Income</a:t>
              </a:r>
            </a:p>
          </p:txBody>
        </p:sp>
        <p:sp>
          <p:nvSpPr>
            <p:cNvPr id="20" name="TextBox 19">
              <a:extLst>
                <a:ext uri="{FF2B5EF4-FFF2-40B4-BE49-F238E27FC236}">
                  <a16:creationId xmlns:a16="http://schemas.microsoft.com/office/drawing/2014/main" id="{0467DAF0-B30D-B34E-114A-E22F004408AC}"/>
                </a:ext>
              </a:extLst>
            </p:cNvPr>
            <p:cNvSpPr txBox="1"/>
            <p:nvPr/>
          </p:nvSpPr>
          <p:spPr>
            <a:xfrm>
              <a:off x="2194484" y="3952900"/>
              <a:ext cx="1665520" cy="584775"/>
            </a:xfrm>
            <a:prstGeom prst="rect">
              <a:avLst/>
            </a:prstGeom>
            <a:noFill/>
            <a:ln>
              <a:noFill/>
            </a:ln>
          </p:spPr>
          <p:txBody>
            <a:bodyPr wrap="none" lIns="0" tIns="0" rIns="0" bIns="0" anchor="t">
              <a:spAutoFit/>
            </a:bodyPr>
            <a:lstStyle/>
            <a:p>
              <a:pPr algn="ctr"/>
              <a:r>
                <a:rPr sz="1900" b="1">
                  <a:solidFill>
                    <a:srgbClr val="DE8431"/>
                  </a:solidFill>
                  <a:latin typeface="Roboto"/>
                </a:rPr>
                <a:t>Salary/Pension
Income</a:t>
              </a:r>
            </a:p>
          </p:txBody>
        </p:sp>
        <p:sp>
          <p:nvSpPr>
            <p:cNvPr id="21" name="TextBox 20">
              <a:extLst>
                <a:ext uri="{FF2B5EF4-FFF2-40B4-BE49-F238E27FC236}">
                  <a16:creationId xmlns:a16="http://schemas.microsoft.com/office/drawing/2014/main" id="{3AA8D5DC-C9FC-D899-4A25-6B3D35773FD7}"/>
                </a:ext>
              </a:extLst>
            </p:cNvPr>
            <p:cNvSpPr txBox="1"/>
            <p:nvPr/>
          </p:nvSpPr>
          <p:spPr>
            <a:xfrm>
              <a:off x="4146020" y="3952900"/>
              <a:ext cx="948978" cy="877163"/>
            </a:xfrm>
            <a:prstGeom prst="rect">
              <a:avLst/>
            </a:prstGeom>
            <a:noFill/>
            <a:ln>
              <a:noFill/>
            </a:ln>
          </p:spPr>
          <p:txBody>
            <a:bodyPr wrap="none" lIns="0" tIns="0" rIns="0" bIns="0" anchor="t">
              <a:spAutoFit/>
            </a:bodyPr>
            <a:lstStyle/>
            <a:p>
              <a:pPr algn="ctr"/>
              <a:r>
                <a:rPr sz="1900" b="1">
                  <a:solidFill>
                    <a:srgbClr val="E55753"/>
                  </a:solidFill>
                  <a:latin typeface="Roboto"/>
                </a:rPr>
                <a:t>House
Property
Income</a:t>
              </a:r>
            </a:p>
          </p:txBody>
        </p:sp>
        <p:sp>
          <p:nvSpPr>
            <p:cNvPr id="22" name="TextBox 21">
              <a:extLst>
                <a:ext uri="{FF2B5EF4-FFF2-40B4-BE49-F238E27FC236}">
                  <a16:creationId xmlns:a16="http://schemas.microsoft.com/office/drawing/2014/main" id="{BBE4D2CC-A605-4D23-82CB-A1476CD8D873}"/>
                </a:ext>
              </a:extLst>
            </p:cNvPr>
            <p:cNvSpPr txBox="1"/>
            <p:nvPr/>
          </p:nvSpPr>
          <p:spPr>
            <a:xfrm>
              <a:off x="5471812" y="3952900"/>
              <a:ext cx="1566134" cy="584775"/>
            </a:xfrm>
            <a:prstGeom prst="rect">
              <a:avLst/>
            </a:prstGeom>
            <a:noFill/>
            <a:ln>
              <a:noFill/>
            </a:ln>
          </p:spPr>
          <p:txBody>
            <a:bodyPr wrap="none" lIns="0" tIns="0" rIns="0" bIns="0" anchor="t">
              <a:spAutoFit/>
            </a:bodyPr>
            <a:lstStyle/>
            <a:p>
              <a:pPr algn="ctr"/>
              <a:r>
                <a:rPr sz="1900" b="1">
                  <a:solidFill>
                    <a:srgbClr val="4E88E7"/>
                  </a:solidFill>
                  <a:latin typeface="Roboto"/>
                </a:rPr>
                <a:t>Other Sources
Income</a:t>
              </a:r>
            </a:p>
          </p:txBody>
        </p:sp>
        <p:sp>
          <p:nvSpPr>
            <p:cNvPr id="23" name="TextBox 22">
              <a:extLst>
                <a:ext uri="{FF2B5EF4-FFF2-40B4-BE49-F238E27FC236}">
                  <a16:creationId xmlns:a16="http://schemas.microsoft.com/office/drawing/2014/main" id="{C7C2F491-50E1-39F3-0BF3-36934EF6CB97}"/>
                </a:ext>
              </a:extLst>
            </p:cNvPr>
            <p:cNvSpPr txBox="1"/>
            <p:nvPr/>
          </p:nvSpPr>
          <p:spPr>
            <a:xfrm>
              <a:off x="7202357" y="3952900"/>
              <a:ext cx="1285608" cy="584775"/>
            </a:xfrm>
            <a:prstGeom prst="rect">
              <a:avLst/>
            </a:prstGeom>
            <a:noFill/>
            <a:ln>
              <a:noFill/>
            </a:ln>
          </p:spPr>
          <p:txBody>
            <a:bodyPr wrap="none" lIns="0" tIns="0" rIns="0" bIns="0" anchor="t">
              <a:spAutoFit/>
            </a:bodyPr>
            <a:lstStyle/>
            <a:p>
              <a:pPr algn="ctr"/>
              <a:r>
                <a:rPr sz="1900" b="1">
                  <a:solidFill>
                    <a:srgbClr val="3CC583"/>
                  </a:solidFill>
                  <a:latin typeface="Roboto"/>
                </a:rPr>
                <a:t>Agricultural
Income</a:t>
              </a:r>
            </a:p>
          </p:txBody>
        </p:sp>
        <p:sp>
          <p:nvSpPr>
            <p:cNvPr id="24" name="TextBox 23">
              <a:extLst>
                <a:ext uri="{FF2B5EF4-FFF2-40B4-BE49-F238E27FC236}">
                  <a16:creationId xmlns:a16="http://schemas.microsoft.com/office/drawing/2014/main" id="{271D2BF8-1D6B-0A4B-5019-6F53D626725A}"/>
                </a:ext>
              </a:extLst>
            </p:cNvPr>
            <p:cNvSpPr txBox="1"/>
            <p:nvPr/>
          </p:nvSpPr>
          <p:spPr>
            <a:xfrm>
              <a:off x="127989" y="5301559"/>
              <a:ext cx="2559995" cy="1107996"/>
            </a:xfrm>
            <a:prstGeom prst="rect">
              <a:avLst/>
            </a:prstGeom>
            <a:noFill/>
            <a:ln>
              <a:noFill/>
            </a:ln>
          </p:spPr>
          <p:txBody>
            <a:bodyPr wrap="none" lIns="0" tIns="0" rIns="0" bIns="0" anchor="t">
              <a:spAutoFit/>
            </a:bodyPr>
            <a:lstStyle/>
            <a:p>
              <a:pPr algn="ctr"/>
              <a:r>
                <a:rPr b="0" dirty="0">
                  <a:solidFill>
                    <a:srgbClr val="484848"/>
                  </a:solidFill>
                  <a:latin typeface="Roboto"/>
                </a:rPr>
                <a:t>Income from</a:t>
              </a:r>
              <a:r>
                <a:rPr lang="en-IN" b="0" dirty="0">
                  <a:solidFill>
                    <a:srgbClr val="484848"/>
                  </a:solidFill>
                  <a:latin typeface="Roboto"/>
                </a:rPr>
                <a:t> </a:t>
              </a:r>
              <a:r>
                <a:rPr b="0" dirty="0">
                  <a:solidFill>
                    <a:srgbClr val="484848"/>
                  </a:solidFill>
                  <a:latin typeface="Roboto"/>
                </a:rPr>
                <a:t>business or
profession</a:t>
              </a:r>
              <a:r>
                <a:rPr lang="en-IN" b="0" dirty="0">
                  <a:solidFill>
                    <a:srgbClr val="484848"/>
                  </a:solidFill>
                  <a:latin typeface="Roboto"/>
                </a:rPr>
                <a:t> </a:t>
              </a:r>
              <a:r>
                <a:rPr b="0" dirty="0">
                  <a:solidFill>
                    <a:srgbClr val="484848"/>
                  </a:solidFill>
                  <a:latin typeface="Roboto"/>
                </a:rPr>
                <a:t>computed
presumptively under
specified sections.</a:t>
              </a:r>
            </a:p>
          </p:txBody>
        </p:sp>
        <p:sp>
          <p:nvSpPr>
            <p:cNvPr id="25" name="TextBox 24">
              <a:extLst>
                <a:ext uri="{FF2B5EF4-FFF2-40B4-BE49-F238E27FC236}">
                  <a16:creationId xmlns:a16="http://schemas.microsoft.com/office/drawing/2014/main" id="{5825A9A9-FE8B-206E-60D4-27DC8704381F}"/>
                </a:ext>
              </a:extLst>
            </p:cNvPr>
            <p:cNvSpPr txBox="1"/>
            <p:nvPr/>
          </p:nvSpPr>
          <p:spPr>
            <a:xfrm>
              <a:off x="2055615" y="4674479"/>
              <a:ext cx="1987724" cy="553998"/>
            </a:xfrm>
            <a:prstGeom prst="rect">
              <a:avLst/>
            </a:prstGeom>
            <a:noFill/>
            <a:ln>
              <a:noFill/>
            </a:ln>
          </p:spPr>
          <p:txBody>
            <a:bodyPr wrap="none" lIns="0" tIns="0" rIns="0" bIns="0" anchor="t">
              <a:spAutoFit/>
            </a:bodyPr>
            <a:lstStyle/>
            <a:p>
              <a:pPr algn="ctr"/>
              <a:r>
                <a:rPr b="0" dirty="0">
                  <a:solidFill>
                    <a:srgbClr val="484848"/>
                  </a:solidFill>
                  <a:latin typeface="Roboto"/>
                </a:rPr>
                <a:t>Income received as
salary or pension.</a:t>
              </a:r>
            </a:p>
          </p:txBody>
        </p:sp>
        <p:sp>
          <p:nvSpPr>
            <p:cNvPr id="26" name="TextBox 25">
              <a:extLst>
                <a:ext uri="{FF2B5EF4-FFF2-40B4-BE49-F238E27FC236}">
                  <a16:creationId xmlns:a16="http://schemas.microsoft.com/office/drawing/2014/main" id="{318483A0-B858-3205-B1C5-01A7FF6C44B9}"/>
                </a:ext>
              </a:extLst>
            </p:cNvPr>
            <p:cNvSpPr txBox="1"/>
            <p:nvPr/>
          </p:nvSpPr>
          <p:spPr>
            <a:xfrm>
              <a:off x="4955155" y="4670417"/>
              <a:ext cx="2678618" cy="830997"/>
            </a:xfrm>
            <a:prstGeom prst="rect">
              <a:avLst/>
            </a:prstGeom>
            <a:noFill/>
            <a:ln>
              <a:noFill/>
            </a:ln>
          </p:spPr>
          <p:txBody>
            <a:bodyPr wrap="none" lIns="0" tIns="0" rIns="0" bIns="0" anchor="t">
              <a:spAutoFit/>
            </a:bodyPr>
            <a:lstStyle/>
            <a:p>
              <a:pPr algn="ctr"/>
              <a:r>
                <a:rPr b="0" dirty="0">
                  <a:solidFill>
                    <a:srgbClr val="484848"/>
                  </a:solidFill>
                  <a:latin typeface="Roboto"/>
                </a:rPr>
                <a:t>Income from</a:t>
              </a:r>
              <a:r>
                <a:rPr lang="en-IN" b="0" dirty="0">
                  <a:solidFill>
                    <a:srgbClr val="484848"/>
                  </a:solidFill>
                  <a:latin typeface="Roboto"/>
                </a:rPr>
                <a:t> </a:t>
              </a:r>
              <a:r>
                <a:rPr b="0" dirty="0">
                  <a:solidFill>
                    <a:srgbClr val="484848"/>
                  </a:solidFill>
                  <a:latin typeface="Roboto"/>
                </a:rPr>
                <a:t>interest, </a:t>
              </a:r>
              <a:endParaRPr lang="en-IN" b="0" dirty="0">
                <a:solidFill>
                  <a:srgbClr val="484848"/>
                </a:solidFill>
                <a:latin typeface="Roboto"/>
              </a:endParaRPr>
            </a:p>
            <a:p>
              <a:pPr algn="ctr"/>
              <a:r>
                <a:rPr lang="en-US" b="0" dirty="0">
                  <a:solidFill>
                    <a:srgbClr val="484848"/>
                  </a:solidFill>
                  <a:latin typeface="Roboto"/>
                </a:rPr>
                <a:t>F</a:t>
              </a:r>
              <a:r>
                <a:rPr b="0" dirty="0">
                  <a:solidFill>
                    <a:srgbClr val="484848"/>
                  </a:solidFill>
                  <a:latin typeface="Roboto"/>
                </a:rPr>
                <a:t>amily</a:t>
              </a:r>
              <a:r>
                <a:rPr lang="en-IN" dirty="0">
                  <a:solidFill>
                    <a:srgbClr val="484848"/>
                  </a:solidFill>
                  <a:latin typeface="Roboto"/>
                </a:rPr>
                <a:t> </a:t>
              </a:r>
              <a:r>
                <a:rPr b="0" dirty="0">
                  <a:solidFill>
                    <a:srgbClr val="484848"/>
                  </a:solidFill>
                  <a:latin typeface="Roboto"/>
                </a:rPr>
                <a:t>pension, dividends,
etc.</a:t>
              </a:r>
            </a:p>
          </p:txBody>
        </p:sp>
        <p:sp>
          <p:nvSpPr>
            <p:cNvPr id="28" name="TextBox 27">
              <a:extLst>
                <a:ext uri="{FF2B5EF4-FFF2-40B4-BE49-F238E27FC236}">
                  <a16:creationId xmlns:a16="http://schemas.microsoft.com/office/drawing/2014/main" id="{0575F03F-6983-1DA0-0288-49A9592262D8}"/>
                </a:ext>
              </a:extLst>
            </p:cNvPr>
            <p:cNvSpPr txBox="1"/>
            <p:nvPr/>
          </p:nvSpPr>
          <p:spPr>
            <a:xfrm>
              <a:off x="6936916" y="5360381"/>
              <a:ext cx="2079095" cy="1107996"/>
            </a:xfrm>
            <a:prstGeom prst="rect">
              <a:avLst/>
            </a:prstGeom>
            <a:noFill/>
            <a:ln>
              <a:noFill/>
            </a:ln>
          </p:spPr>
          <p:txBody>
            <a:bodyPr wrap="none" lIns="0" tIns="0" rIns="0" bIns="0" anchor="t">
              <a:spAutoFit/>
            </a:bodyPr>
            <a:lstStyle/>
            <a:p>
              <a:pPr algn="ctr"/>
              <a:r>
                <a:rPr b="0" dirty="0">
                  <a:solidFill>
                    <a:srgbClr val="484848"/>
                  </a:solidFill>
                  <a:latin typeface="Roboto"/>
                </a:rPr>
                <a:t>Income earned from
agricultural
activities, up to ₹
5,000.</a:t>
              </a:r>
            </a:p>
          </p:txBody>
        </p:sp>
      </p:grpSp>
    </p:spTree>
    <p:extLst>
      <p:ext uri="{BB962C8B-B14F-4D97-AF65-F5344CB8AC3E}">
        <p14:creationId xmlns:p14="http://schemas.microsoft.com/office/powerpoint/2010/main" val="124242747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a:extLst>
              <a:ext uri="{FF2B5EF4-FFF2-40B4-BE49-F238E27FC236}">
                <a16:creationId xmlns:a16="http://schemas.microsoft.com/office/drawing/2014/main" id="{5BC9D051-BAD9-0441-251A-164A808A4E37}"/>
              </a:ext>
            </a:extLst>
          </p:cNvPr>
          <p:cNvGraphicFramePr/>
          <p:nvPr>
            <p:extLst>
              <p:ext uri="{D42A27DB-BD31-4B8C-83A1-F6EECF244321}">
                <p14:modId xmlns:p14="http://schemas.microsoft.com/office/powerpoint/2010/main" val="1682833057"/>
              </p:ext>
            </p:extLst>
          </p:nvPr>
        </p:nvGraphicFramePr>
        <p:xfrm>
          <a:off x="1" y="150920"/>
          <a:ext cx="10644325" cy="63038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a:extLst>
              <a:ext uri="{FF2B5EF4-FFF2-40B4-BE49-F238E27FC236}">
                <a16:creationId xmlns:a16="http://schemas.microsoft.com/office/drawing/2014/main" id="{A563E38B-D144-51A8-DCCF-8115FD7EC47B}"/>
              </a:ext>
            </a:extLst>
          </p:cNvPr>
          <p:cNvSpPr txBox="1"/>
          <p:nvPr/>
        </p:nvSpPr>
        <p:spPr>
          <a:xfrm>
            <a:off x="10207929" y="150920"/>
            <a:ext cx="1984070" cy="369332"/>
          </a:xfrm>
          <a:prstGeom prst="rect">
            <a:avLst/>
          </a:prstGeom>
          <a:noFill/>
        </p:spPr>
        <p:txBody>
          <a:bodyPr wrap="square">
            <a:spAutoFit/>
          </a:bodyPr>
          <a:lstStyle/>
          <a:p>
            <a:pPr algn="l">
              <a:spcBef>
                <a:spcPts val="2400"/>
              </a:spcBef>
              <a:spcAft>
                <a:spcPts val="1800"/>
              </a:spcAft>
              <a:buNone/>
            </a:pPr>
            <a:r>
              <a:rPr lang="en-US" b="1" i="0" dirty="0">
                <a:effectLst/>
                <a:latin typeface="Roboto" panose="02000000000000000000" pitchFamily="2" charset="0"/>
              </a:rPr>
              <a:t>For AY 2025-26</a:t>
            </a:r>
          </a:p>
        </p:txBody>
      </p:sp>
    </p:spTree>
    <p:extLst>
      <p:ext uri="{BB962C8B-B14F-4D97-AF65-F5344CB8AC3E}">
        <p14:creationId xmlns:p14="http://schemas.microsoft.com/office/powerpoint/2010/main" val="392885035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88CC9-9BDD-E783-A11C-9B3B3F2ED358}"/>
            </a:ext>
          </a:extLst>
        </p:cNvPr>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DFEFA5D9-4EAA-AA6B-2753-330C39DE968D}"/>
              </a:ext>
            </a:extLst>
          </p:cNvPr>
          <p:cNvGraphicFramePr/>
          <p:nvPr>
            <p:extLst>
              <p:ext uri="{D42A27DB-BD31-4B8C-83A1-F6EECF244321}">
                <p14:modId xmlns:p14="http://schemas.microsoft.com/office/powerpoint/2010/main" val="1717685711"/>
              </p:ext>
            </p:extLst>
          </p:nvPr>
        </p:nvGraphicFramePr>
        <p:xfrm>
          <a:off x="479395" y="124287"/>
          <a:ext cx="10040644" cy="63038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F909790F-68D5-F7D5-01B8-4D76352316F5}"/>
              </a:ext>
            </a:extLst>
          </p:cNvPr>
          <p:cNvSpPr txBox="1"/>
          <p:nvPr/>
        </p:nvSpPr>
        <p:spPr>
          <a:xfrm>
            <a:off x="320746" y="5970786"/>
            <a:ext cx="1984070" cy="369332"/>
          </a:xfrm>
          <a:prstGeom prst="rect">
            <a:avLst/>
          </a:prstGeom>
          <a:noFill/>
        </p:spPr>
        <p:txBody>
          <a:bodyPr wrap="square">
            <a:spAutoFit/>
          </a:bodyPr>
          <a:lstStyle/>
          <a:p>
            <a:pPr algn="l">
              <a:spcBef>
                <a:spcPts val="2400"/>
              </a:spcBef>
              <a:spcAft>
                <a:spcPts val="1800"/>
              </a:spcAft>
              <a:buNone/>
            </a:pPr>
            <a:r>
              <a:rPr lang="en-US" b="1" i="0" dirty="0">
                <a:effectLst/>
                <a:latin typeface="Roboto" panose="02000000000000000000" pitchFamily="2" charset="0"/>
              </a:rPr>
              <a:t>For AY 2025-26</a:t>
            </a:r>
          </a:p>
        </p:txBody>
      </p:sp>
    </p:spTree>
    <p:extLst>
      <p:ext uri="{BB962C8B-B14F-4D97-AF65-F5344CB8AC3E}">
        <p14:creationId xmlns:p14="http://schemas.microsoft.com/office/powerpoint/2010/main" val="319781228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1DA38-E058-2D49-54DD-F904848F9635}"/>
            </a:ext>
          </a:extLst>
        </p:cNvPr>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4E565B8B-0457-C3AD-9F08-02AD4C099F22}"/>
              </a:ext>
            </a:extLst>
          </p:cNvPr>
          <p:cNvGraphicFramePr/>
          <p:nvPr>
            <p:extLst>
              <p:ext uri="{D42A27DB-BD31-4B8C-83A1-F6EECF244321}">
                <p14:modId xmlns:p14="http://schemas.microsoft.com/office/powerpoint/2010/main" val="4093481723"/>
              </p:ext>
            </p:extLst>
          </p:nvPr>
        </p:nvGraphicFramePr>
        <p:xfrm>
          <a:off x="479395" y="124287"/>
          <a:ext cx="10040644" cy="63038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0A265E05-61A7-684E-394F-F75FBC184EF0}"/>
              </a:ext>
            </a:extLst>
          </p:cNvPr>
          <p:cNvSpPr txBox="1"/>
          <p:nvPr/>
        </p:nvSpPr>
        <p:spPr>
          <a:xfrm>
            <a:off x="320746" y="5970786"/>
            <a:ext cx="1984070" cy="369332"/>
          </a:xfrm>
          <a:prstGeom prst="rect">
            <a:avLst/>
          </a:prstGeom>
          <a:noFill/>
        </p:spPr>
        <p:txBody>
          <a:bodyPr wrap="square">
            <a:spAutoFit/>
          </a:bodyPr>
          <a:lstStyle/>
          <a:p>
            <a:pPr algn="l">
              <a:spcBef>
                <a:spcPts val="2400"/>
              </a:spcBef>
              <a:spcAft>
                <a:spcPts val="1800"/>
              </a:spcAft>
              <a:buNone/>
            </a:pPr>
            <a:r>
              <a:rPr lang="en-US" b="1" i="0" dirty="0">
                <a:effectLst/>
                <a:latin typeface="Roboto" panose="02000000000000000000" pitchFamily="2" charset="0"/>
              </a:rPr>
              <a:t>For AY 2025-26</a:t>
            </a:r>
          </a:p>
        </p:txBody>
      </p:sp>
    </p:spTree>
    <p:extLst>
      <p:ext uri="{BB962C8B-B14F-4D97-AF65-F5344CB8AC3E}">
        <p14:creationId xmlns:p14="http://schemas.microsoft.com/office/powerpoint/2010/main" val="290647439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r>
              <a:rPr lang="en-US" b="1" dirty="0">
                <a:latin typeface="Times New Roman" panose="02020603050405020304" pitchFamily="18" charset="0"/>
                <a:cs typeface="Times New Roman" panose="02020603050405020304" pitchFamily="18" charset="0"/>
              </a:rPr>
              <a:t>Due Dates:</a:t>
            </a:r>
          </a:p>
        </p:txBody>
      </p:sp>
      <p:grpSp>
        <p:nvGrpSpPr>
          <p:cNvPr id="4" name="Group 3"/>
          <p:cNvGrpSpPr/>
          <p:nvPr/>
        </p:nvGrpSpPr>
        <p:grpSpPr>
          <a:xfrm>
            <a:off x="3454400" y="1834004"/>
            <a:ext cx="5344499" cy="1779893"/>
            <a:chOff x="391885" y="1175657"/>
            <a:chExt cx="3526971" cy="1371600"/>
          </a:xfrm>
          <a:solidFill>
            <a:schemeClr val="tx2"/>
          </a:solidFill>
        </p:grpSpPr>
        <p:sp>
          <p:nvSpPr>
            <p:cNvPr id="12" name="Rounded Rectangle 1"/>
            <p:cNvSpPr/>
            <p:nvPr/>
          </p:nvSpPr>
          <p:spPr>
            <a:xfrm>
              <a:off x="391885" y="1175657"/>
              <a:ext cx="3526971" cy="1371600"/>
            </a:xfrm>
            <a:custGeom>
              <a:avLst/>
              <a:gdLst/>
              <a:ahLst/>
              <a:cxnLst/>
              <a:rect l="0" t="0" r="0" b="0"/>
              <a:pathLst>
                <a:path w="3526971" h="1371600">
                  <a:moveTo>
                    <a:pt x="1371600" y="195942"/>
                  </a:moveTo>
                  <a:cubicBezTo>
                    <a:pt x="1371600" y="160264"/>
                    <a:pt x="1362047" y="126791"/>
                    <a:pt x="1345229" y="97971"/>
                  </a:cubicBezTo>
                  <a:lnTo>
                    <a:pt x="3327354" y="97971"/>
                  </a:lnTo>
                  <a:cubicBezTo>
                    <a:pt x="3437572" y="97971"/>
                    <a:pt x="3526971" y="171041"/>
                    <a:pt x="3526971" y="261257"/>
                  </a:cubicBezTo>
                  <a:lnTo>
                    <a:pt x="3526971" y="293914"/>
                  </a:lnTo>
                  <a:lnTo>
                    <a:pt x="1371600" y="293914"/>
                  </a:lnTo>
                  <a:close/>
                  <a:moveTo>
                    <a:pt x="1371600" y="293914"/>
                  </a:moveTo>
                  <a:lnTo>
                    <a:pt x="0" y="293914"/>
                  </a:lnTo>
                  <a:lnTo>
                    <a:pt x="0" y="195942"/>
                  </a:lnTo>
                  <a:cubicBezTo>
                    <a:pt x="0" y="87766"/>
                    <a:pt x="87766" y="0"/>
                    <a:pt x="195942" y="0"/>
                  </a:cubicBezTo>
                  <a:lnTo>
                    <a:pt x="1175657" y="0"/>
                  </a:lnTo>
                  <a:cubicBezTo>
                    <a:pt x="1248156" y="0"/>
                    <a:pt x="1311429" y="39433"/>
                    <a:pt x="1345229" y="97971"/>
                  </a:cubicBezTo>
                  <a:cubicBezTo>
                    <a:pt x="1362047" y="126791"/>
                    <a:pt x="1371600" y="160264"/>
                    <a:pt x="1371600" y="195942"/>
                  </a:cubicBezTo>
                  <a:close/>
                  <a:moveTo>
                    <a:pt x="3526971" y="1077685"/>
                  </a:moveTo>
                  <a:lnTo>
                    <a:pt x="1371600" y="1077685"/>
                  </a:lnTo>
                  <a:lnTo>
                    <a:pt x="1371600" y="293914"/>
                  </a:lnTo>
                  <a:lnTo>
                    <a:pt x="3526971" y="293914"/>
                  </a:lnTo>
                  <a:close/>
                  <a:moveTo>
                    <a:pt x="1371600" y="1077685"/>
                  </a:moveTo>
                  <a:lnTo>
                    <a:pt x="0" y="1077685"/>
                  </a:lnTo>
                  <a:lnTo>
                    <a:pt x="0" y="293914"/>
                  </a:lnTo>
                  <a:lnTo>
                    <a:pt x="1371600" y="293914"/>
                  </a:lnTo>
                  <a:close/>
                  <a:moveTo>
                    <a:pt x="1371600" y="1077685"/>
                  </a:moveTo>
                  <a:lnTo>
                    <a:pt x="3526971" y="1077685"/>
                  </a:lnTo>
                  <a:lnTo>
                    <a:pt x="3526971" y="1110342"/>
                  </a:lnTo>
                  <a:cubicBezTo>
                    <a:pt x="3526971" y="1200558"/>
                    <a:pt x="3437572" y="1273628"/>
                    <a:pt x="3327354" y="1273628"/>
                  </a:cubicBezTo>
                  <a:lnTo>
                    <a:pt x="1345229" y="1273628"/>
                  </a:lnTo>
                  <a:cubicBezTo>
                    <a:pt x="1362047" y="1244808"/>
                    <a:pt x="1371600" y="1211335"/>
                    <a:pt x="1371600" y="1175657"/>
                  </a:cubicBezTo>
                  <a:close/>
                  <a:moveTo>
                    <a:pt x="1371600" y="1175657"/>
                  </a:moveTo>
                  <a:cubicBezTo>
                    <a:pt x="1371600" y="1211335"/>
                    <a:pt x="1362047" y="1244808"/>
                    <a:pt x="1345229" y="1273628"/>
                  </a:cubicBezTo>
                  <a:cubicBezTo>
                    <a:pt x="1311429" y="1332166"/>
                    <a:pt x="1248156" y="1371600"/>
                    <a:pt x="1175657" y="1371600"/>
                  </a:cubicBezTo>
                  <a:lnTo>
                    <a:pt x="195942" y="1371600"/>
                  </a:lnTo>
                  <a:cubicBezTo>
                    <a:pt x="87766" y="1371600"/>
                    <a:pt x="0" y="1283833"/>
                    <a:pt x="0" y="1175657"/>
                  </a:cubicBezTo>
                  <a:lnTo>
                    <a:pt x="0" y="1077685"/>
                  </a:lnTo>
                  <a:lnTo>
                    <a:pt x="1371600" y="1077685"/>
                  </a:lnTo>
                  <a:close/>
                </a:path>
              </a:pathLst>
            </a:custGeom>
            <a:grp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3" name="Rounded Rectangle 2"/>
            <p:cNvSpPr/>
            <p:nvPr/>
          </p:nvSpPr>
          <p:spPr>
            <a:xfrm>
              <a:off x="391885" y="1175657"/>
              <a:ext cx="1371600" cy="1371600"/>
            </a:xfrm>
            <a:custGeom>
              <a:avLst/>
              <a:gdLst/>
              <a:ahLst/>
              <a:cxnLst/>
              <a:rect l="0" t="0" r="0" b="0"/>
              <a:pathLst>
                <a:path w="1371600" h="1371600">
                  <a:moveTo>
                    <a:pt x="0" y="293914"/>
                  </a:moveTo>
                  <a:lnTo>
                    <a:pt x="0" y="195942"/>
                  </a:lnTo>
                  <a:cubicBezTo>
                    <a:pt x="0" y="87766"/>
                    <a:pt x="87766" y="0"/>
                    <a:pt x="195942" y="0"/>
                  </a:cubicBezTo>
                  <a:lnTo>
                    <a:pt x="1175657" y="0"/>
                  </a:lnTo>
                  <a:cubicBezTo>
                    <a:pt x="1248156" y="0"/>
                    <a:pt x="1311429" y="39433"/>
                    <a:pt x="1345229" y="97971"/>
                  </a:cubicBezTo>
                  <a:cubicBezTo>
                    <a:pt x="1362047" y="126791"/>
                    <a:pt x="1371600" y="160264"/>
                    <a:pt x="1371600" y="195942"/>
                  </a:cubicBezTo>
                  <a:lnTo>
                    <a:pt x="1371600" y="293914"/>
                  </a:lnTo>
                  <a:moveTo>
                    <a:pt x="1371600" y="1077685"/>
                  </a:moveTo>
                  <a:lnTo>
                    <a:pt x="1371600" y="293914"/>
                  </a:lnTo>
                  <a:moveTo>
                    <a:pt x="0" y="293914"/>
                  </a:moveTo>
                  <a:lnTo>
                    <a:pt x="0" y="1077685"/>
                  </a:lnTo>
                  <a:moveTo>
                    <a:pt x="1371600" y="1077685"/>
                  </a:moveTo>
                  <a:lnTo>
                    <a:pt x="1371600" y="1175657"/>
                  </a:lnTo>
                  <a:cubicBezTo>
                    <a:pt x="1371600" y="1211335"/>
                    <a:pt x="1362047" y="1244808"/>
                    <a:pt x="1345229" y="1273628"/>
                  </a:cubicBezTo>
                  <a:cubicBezTo>
                    <a:pt x="1311429" y="1332166"/>
                    <a:pt x="1248156" y="1371600"/>
                    <a:pt x="1175657" y="1371600"/>
                  </a:cubicBezTo>
                  <a:lnTo>
                    <a:pt x="195942" y="1371600"/>
                  </a:lnTo>
                  <a:cubicBezTo>
                    <a:pt x="87766" y="1371600"/>
                    <a:pt x="0" y="1283833"/>
                    <a:pt x="0" y="1175657"/>
                  </a:cubicBezTo>
                  <a:lnTo>
                    <a:pt x="0" y="1077685"/>
                  </a:lnTo>
                </a:path>
              </a:pathLst>
            </a:custGeom>
            <a:grpFill/>
            <a:ln w="12246">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grpSp>
        <p:nvGrpSpPr>
          <p:cNvPr id="5" name="Group 4"/>
          <p:cNvGrpSpPr/>
          <p:nvPr/>
        </p:nvGrpSpPr>
        <p:grpSpPr>
          <a:xfrm>
            <a:off x="3464562" y="3948620"/>
            <a:ext cx="5344499" cy="1779893"/>
            <a:chOff x="4310742" y="1175657"/>
            <a:chExt cx="3526971" cy="1371600"/>
          </a:xfrm>
          <a:solidFill>
            <a:schemeClr val="accent3">
              <a:lumMod val="75000"/>
            </a:schemeClr>
          </a:solidFill>
        </p:grpSpPr>
        <p:sp>
          <p:nvSpPr>
            <p:cNvPr id="10" name="Rounded Rectangle 4"/>
            <p:cNvSpPr/>
            <p:nvPr/>
          </p:nvSpPr>
          <p:spPr>
            <a:xfrm>
              <a:off x="4310742" y="1175657"/>
              <a:ext cx="3526971" cy="1371600"/>
            </a:xfrm>
            <a:custGeom>
              <a:avLst/>
              <a:gdLst/>
              <a:ahLst/>
              <a:cxnLst/>
              <a:rect l="0" t="0" r="0" b="0"/>
              <a:pathLst>
                <a:path w="3526971" h="1371600">
                  <a:moveTo>
                    <a:pt x="1371600" y="195942"/>
                  </a:moveTo>
                  <a:cubicBezTo>
                    <a:pt x="1371600" y="160264"/>
                    <a:pt x="1362047" y="126791"/>
                    <a:pt x="1345229" y="97971"/>
                  </a:cubicBezTo>
                  <a:lnTo>
                    <a:pt x="3327354" y="97971"/>
                  </a:lnTo>
                  <a:cubicBezTo>
                    <a:pt x="3437572" y="97971"/>
                    <a:pt x="3526971" y="171041"/>
                    <a:pt x="3526971" y="261257"/>
                  </a:cubicBezTo>
                  <a:lnTo>
                    <a:pt x="3526971" y="293914"/>
                  </a:lnTo>
                  <a:lnTo>
                    <a:pt x="1371600" y="293914"/>
                  </a:lnTo>
                  <a:close/>
                  <a:moveTo>
                    <a:pt x="1371600" y="293914"/>
                  </a:moveTo>
                  <a:lnTo>
                    <a:pt x="0" y="293914"/>
                  </a:lnTo>
                  <a:lnTo>
                    <a:pt x="0" y="195942"/>
                  </a:lnTo>
                  <a:cubicBezTo>
                    <a:pt x="0" y="87766"/>
                    <a:pt x="87766" y="0"/>
                    <a:pt x="195942" y="0"/>
                  </a:cubicBezTo>
                  <a:lnTo>
                    <a:pt x="1175657" y="0"/>
                  </a:lnTo>
                  <a:cubicBezTo>
                    <a:pt x="1248156" y="0"/>
                    <a:pt x="1311429" y="39433"/>
                    <a:pt x="1345229" y="97971"/>
                  </a:cubicBezTo>
                  <a:cubicBezTo>
                    <a:pt x="1362047" y="126791"/>
                    <a:pt x="1371600" y="160264"/>
                    <a:pt x="1371600" y="195942"/>
                  </a:cubicBezTo>
                  <a:close/>
                  <a:moveTo>
                    <a:pt x="3526971" y="1077685"/>
                  </a:moveTo>
                  <a:lnTo>
                    <a:pt x="1371600" y="1077685"/>
                  </a:lnTo>
                  <a:lnTo>
                    <a:pt x="1371600" y="293914"/>
                  </a:lnTo>
                  <a:lnTo>
                    <a:pt x="3526971" y="293914"/>
                  </a:lnTo>
                  <a:close/>
                  <a:moveTo>
                    <a:pt x="1371600" y="1077685"/>
                  </a:moveTo>
                  <a:lnTo>
                    <a:pt x="0" y="1077685"/>
                  </a:lnTo>
                  <a:lnTo>
                    <a:pt x="0" y="293914"/>
                  </a:lnTo>
                  <a:lnTo>
                    <a:pt x="1371600" y="293914"/>
                  </a:lnTo>
                  <a:close/>
                  <a:moveTo>
                    <a:pt x="1371600" y="1077685"/>
                  </a:moveTo>
                  <a:lnTo>
                    <a:pt x="3526971" y="1077685"/>
                  </a:lnTo>
                  <a:lnTo>
                    <a:pt x="3526971" y="1110342"/>
                  </a:lnTo>
                  <a:cubicBezTo>
                    <a:pt x="3526971" y="1200558"/>
                    <a:pt x="3437572" y="1273628"/>
                    <a:pt x="3327354" y="1273628"/>
                  </a:cubicBezTo>
                  <a:lnTo>
                    <a:pt x="1345229" y="1273628"/>
                  </a:lnTo>
                  <a:cubicBezTo>
                    <a:pt x="1362047" y="1244808"/>
                    <a:pt x="1371600" y="1211335"/>
                    <a:pt x="1371600" y="1175657"/>
                  </a:cubicBezTo>
                  <a:close/>
                  <a:moveTo>
                    <a:pt x="1371600" y="1175657"/>
                  </a:moveTo>
                  <a:cubicBezTo>
                    <a:pt x="1371600" y="1211335"/>
                    <a:pt x="1362047" y="1244808"/>
                    <a:pt x="1345229" y="1273628"/>
                  </a:cubicBezTo>
                  <a:cubicBezTo>
                    <a:pt x="1311429" y="1332166"/>
                    <a:pt x="1248156" y="1371600"/>
                    <a:pt x="1175657" y="1371600"/>
                  </a:cubicBezTo>
                  <a:lnTo>
                    <a:pt x="195942" y="1371600"/>
                  </a:lnTo>
                  <a:cubicBezTo>
                    <a:pt x="87766" y="1371600"/>
                    <a:pt x="0" y="1283833"/>
                    <a:pt x="0" y="1175657"/>
                  </a:cubicBezTo>
                  <a:lnTo>
                    <a:pt x="0" y="1077685"/>
                  </a:lnTo>
                  <a:lnTo>
                    <a:pt x="1371600" y="1077685"/>
                  </a:lnTo>
                  <a:close/>
                </a:path>
              </a:pathLst>
            </a:custGeom>
            <a:grpFill/>
            <a:ln>
              <a:no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1" name="Rounded Rectangle 5"/>
            <p:cNvSpPr/>
            <p:nvPr/>
          </p:nvSpPr>
          <p:spPr>
            <a:xfrm>
              <a:off x="4310742" y="1175657"/>
              <a:ext cx="1371600" cy="1371600"/>
            </a:xfrm>
            <a:custGeom>
              <a:avLst/>
              <a:gdLst/>
              <a:ahLst/>
              <a:cxnLst/>
              <a:rect l="0" t="0" r="0" b="0"/>
              <a:pathLst>
                <a:path w="1371600" h="1371600">
                  <a:moveTo>
                    <a:pt x="0" y="293914"/>
                  </a:moveTo>
                  <a:lnTo>
                    <a:pt x="0" y="195942"/>
                  </a:lnTo>
                  <a:cubicBezTo>
                    <a:pt x="0" y="87766"/>
                    <a:pt x="87766" y="0"/>
                    <a:pt x="195942" y="0"/>
                  </a:cubicBezTo>
                  <a:lnTo>
                    <a:pt x="1175657" y="0"/>
                  </a:lnTo>
                  <a:cubicBezTo>
                    <a:pt x="1248156" y="0"/>
                    <a:pt x="1311429" y="39433"/>
                    <a:pt x="1345229" y="97971"/>
                  </a:cubicBezTo>
                  <a:cubicBezTo>
                    <a:pt x="1362047" y="126791"/>
                    <a:pt x="1371600" y="160264"/>
                    <a:pt x="1371600" y="195942"/>
                  </a:cubicBezTo>
                  <a:lnTo>
                    <a:pt x="1371600" y="293914"/>
                  </a:lnTo>
                  <a:moveTo>
                    <a:pt x="1371600" y="1077685"/>
                  </a:moveTo>
                  <a:lnTo>
                    <a:pt x="1371600" y="293914"/>
                  </a:lnTo>
                  <a:moveTo>
                    <a:pt x="0" y="293914"/>
                  </a:moveTo>
                  <a:lnTo>
                    <a:pt x="0" y="1077685"/>
                  </a:lnTo>
                  <a:moveTo>
                    <a:pt x="1371600" y="1077685"/>
                  </a:moveTo>
                  <a:lnTo>
                    <a:pt x="1371600" y="1175657"/>
                  </a:lnTo>
                  <a:cubicBezTo>
                    <a:pt x="1371600" y="1211335"/>
                    <a:pt x="1362047" y="1244808"/>
                    <a:pt x="1345229" y="1273628"/>
                  </a:cubicBezTo>
                  <a:cubicBezTo>
                    <a:pt x="1311429" y="1332166"/>
                    <a:pt x="1248156" y="1371600"/>
                    <a:pt x="1175657" y="1371600"/>
                  </a:cubicBezTo>
                  <a:lnTo>
                    <a:pt x="195942" y="1371600"/>
                  </a:lnTo>
                  <a:cubicBezTo>
                    <a:pt x="87766" y="1371600"/>
                    <a:pt x="0" y="1283833"/>
                    <a:pt x="0" y="1175657"/>
                  </a:cubicBezTo>
                  <a:lnTo>
                    <a:pt x="0" y="1077685"/>
                  </a:lnTo>
                </a:path>
              </a:pathLst>
            </a:custGeom>
            <a:grpFill/>
            <a:ln w="12246">
              <a:solidFill>
                <a:srgbClr val="FFFFFF"/>
              </a:solidFill>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grpSp>
      <p:sp>
        <p:nvSpPr>
          <p:cNvPr id="6" name="TextBox 8"/>
          <p:cNvSpPr txBox="1"/>
          <p:nvPr/>
        </p:nvSpPr>
        <p:spPr>
          <a:xfrm>
            <a:off x="3554248" y="2257151"/>
            <a:ext cx="1878720" cy="923330"/>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FFFFFF"/>
                </a:solidFill>
                <a:latin typeface="Roboto"/>
              </a:rPr>
              <a:t>31st October of
assessment
year</a:t>
            </a:r>
          </a:p>
        </p:txBody>
      </p:sp>
      <p:sp>
        <p:nvSpPr>
          <p:cNvPr id="7" name="TextBox 9"/>
          <p:cNvSpPr txBox="1"/>
          <p:nvPr/>
        </p:nvSpPr>
        <p:spPr>
          <a:xfrm>
            <a:off x="5580084" y="2303317"/>
            <a:ext cx="3171548" cy="830997"/>
          </a:xfrm>
          <a:prstGeom prst="rect">
            <a:avLst/>
          </a:prstGeom>
          <a:noFill/>
          <a:ln>
            <a:noFill/>
          </a:ln>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latin typeface="Roboto"/>
              </a:rPr>
              <a:t>for Companies, individuals required</a:t>
            </a:r>
            <a:r>
              <a:rPr lang="en-US" b="0" dirty="0">
                <a:solidFill>
                  <a:srgbClr val="FFFFFF"/>
                </a:solidFill>
                <a:latin typeface="Roboto"/>
              </a:rPr>
              <a:t> </a:t>
            </a:r>
            <a:r>
              <a:rPr b="0" dirty="0">
                <a:solidFill>
                  <a:srgbClr val="FFFFFF"/>
                </a:solidFill>
                <a:latin typeface="Roboto"/>
              </a:rPr>
              <a:t>audit, and Partners </a:t>
            </a:r>
            <a:endParaRPr lang="en-US" b="0" dirty="0">
              <a:solidFill>
                <a:srgbClr val="FFFFFF"/>
              </a:solidFill>
              <a:latin typeface="Roboto"/>
            </a:endParaRPr>
          </a:p>
          <a:p>
            <a:pPr algn="ctr"/>
            <a:r>
              <a:rPr b="0" dirty="0">
                <a:solidFill>
                  <a:srgbClr val="FFFFFF"/>
                </a:solidFill>
                <a:latin typeface="Roboto"/>
              </a:rPr>
              <a:t>of firms requires</a:t>
            </a:r>
            <a:r>
              <a:rPr lang="en-US" b="0" dirty="0">
                <a:solidFill>
                  <a:srgbClr val="FFFFFF"/>
                </a:solidFill>
                <a:latin typeface="Roboto"/>
              </a:rPr>
              <a:t> </a:t>
            </a:r>
            <a:r>
              <a:rPr b="0" dirty="0">
                <a:solidFill>
                  <a:srgbClr val="FFFFFF"/>
                </a:solidFill>
                <a:latin typeface="Roboto"/>
              </a:rPr>
              <a:t>audit in firms.</a:t>
            </a:r>
          </a:p>
        </p:txBody>
      </p:sp>
      <p:sp>
        <p:nvSpPr>
          <p:cNvPr id="8" name="TextBox 10"/>
          <p:cNvSpPr txBox="1"/>
          <p:nvPr/>
        </p:nvSpPr>
        <p:spPr>
          <a:xfrm>
            <a:off x="3769594" y="4376901"/>
            <a:ext cx="1468351" cy="923330"/>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2000" b="1" dirty="0">
                <a:solidFill>
                  <a:srgbClr val="FFFFFF"/>
                </a:solidFill>
                <a:latin typeface="Roboto"/>
              </a:rPr>
              <a:t>31st July of
assessment
year</a:t>
            </a:r>
          </a:p>
        </p:txBody>
      </p:sp>
      <p:sp>
        <p:nvSpPr>
          <p:cNvPr id="9" name="TextBox 11"/>
          <p:cNvSpPr txBox="1"/>
          <p:nvPr/>
        </p:nvSpPr>
        <p:spPr>
          <a:xfrm>
            <a:off x="5848011" y="4700066"/>
            <a:ext cx="2385333" cy="276999"/>
          </a:xfrm>
          <a:prstGeom prst="rect">
            <a:avLst/>
          </a:prstGeom>
          <a:noFill/>
          <a:ln>
            <a:noFill/>
          </a:ln>
        </p:spPr>
        <p:txBody>
          <a:bodyPr wrap="non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b="0" dirty="0">
                <a:solidFill>
                  <a:srgbClr val="FFFFFF"/>
                </a:solidFill>
                <a:latin typeface="Roboto"/>
              </a:rPr>
              <a:t>for All other </a:t>
            </a:r>
            <a:r>
              <a:rPr b="0" dirty="0" err="1">
                <a:solidFill>
                  <a:srgbClr val="FFFFFF"/>
                </a:solidFill>
                <a:latin typeface="Roboto"/>
              </a:rPr>
              <a:t>assessees</a:t>
            </a:r>
            <a:r>
              <a:rPr b="0" dirty="0">
                <a:solidFill>
                  <a:srgbClr val="FFFFFF"/>
                </a:solidFill>
                <a:latin typeface="Roboto"/>
              </a:rPr>
              <a:t>.</a:t>
            </a:r>
          </a:p>
        </p:txBody>
      </p:sp>
    </p:spTree>
    <p:extLst>
      <p:ext uri="{BB962C8B-B14F-4D97-AF65-F5344CB8AC3E}">
        <p14:creationId xmlns:p14="http://schemas.microsoft.com/office/powerpoint/2010/main" val="415264963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711200"/>
            <a:ext cx="9601200" cy="1104900"/>
          </a:xfrm>
        </p:spPr>
        <p:txBody>
          <a:bodyPr/>
          <a:lstStyle/>
          <a:p>
            <a:r>
              <a:rPr lang="en-US" b="1" dirty="0">
                <a:latin typeface="+mn-lt"/>
                <a:cs typeface="Times New Roman" panose="02020603050405020304" pitchFamily="18" charset="0"/>
              </a:rPr>
              <a:t>Belated Return of Income: u/s 139(4)</a:t>
            </a:r>
          </a:p>
        </p:txBody>
      </p:sp>
      <p:sp>
        <p:nvSpPr>
          <p:cNvPr id="3" name="Content Placeholder 2"/>
          <p:cNvSpPr>
            <a:spLocks noGrp="1"/>
          </p:cNvSpPr>
          <p:nvPr>
            <p:ph idx="1"/>
          </p:nvPr>
        </p:nvSpPr>
        <p:spPr>
          <a:xfrm>
            <a:off x="1371600" y="2032000"/>
            <a:ext cx="9601200" cy="3581400"/>
          </a:xfrm>
        </p:spPr>
        <p:txBody>
          <a:bodyPr>
            <a:normAutofit/>
          </a:bodyPr>
          <a:lstStyle/>
          <a:p>
            <a:pPr marL="0" indent="0" algn="just">
              <a:buNone/>
            </a:pPr>
            <a:r>
              <a:rPr lang="en-US" sz="2400" dirty="0">
                <a:cs typeface="Times New Roman" panose="02020603050405020304" pitchFamily="18" charset="0"/>
              </a:rPr>
              <a:t>A return of income for any previous year, which has not been furnished within the time allowed u/s 139(1), may be furnished at any time before: </a:t>
            </a:r>
          </a:p>
        </p:txBody>
      </p:sp>
      <p:sp>
        <p:nvSpPr>
          <p:cNvPr id="4" name="Rounded Rectangle 3"/>
          <p:cNvSpPr/>
          <p:nvPr/>
        </p:nvSpPr>
        <p:spPr>
          <a:xfrm>
            <a:off x="1612900" y="3381514"/>
            <a:ext cx="3949700" cy="927100"/>
          </a:xfrm>
          <a:prstGeom prst="roundRect">
            <a:avLst>
              <a:gd name="adj" fmla="val 19928"/>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p:cNvSpPr txBox="1"/>
          <p:nvPr/>
        </p:nvSpPr>
        <p:spPr>
          <a:xfrm>
            <a:off x="1752600" y="3483114"/>
            <a:ext cx="3708400" cy="707886"/>
          </a:xfrm>
          <a:prstGeom prst="rect">
            <a:avLst/>
          </a:prstGeom>
          <a:solidFill>
            <a:schemeClr val="accent4">
              <a:lumMod val="75000"/>
            </a:schemeClr>
          </a:solidFill>
        </p:spPr>
        <p:txBody>
          <a:bodyPr wrap="square" rtlCol="0">
            <a:spAutoFit/>
          </a:bodyPr>
          <a:lstStyle/>
          <a:p>
            <a:pPr algn="ctr"/>
            <a:r>
              <a:rPr lang="en-US" sz="2000" b="1" dirty="0">
                <a:solidFill>
                  <a:schemeClr val="bg1"/>
                </a:solidFill>
                <a:cs typeface="Times New Roman" panose="02020603050405020304" pitchFamily="18" charset="0"/>
              </a:rPr>
              <a:t>Three months prior to the end of the relevant assessment year </a:t>
            </a:r>
          </a:p>
        </p:txBody>
      </p:sp>
      <p:sp>
        <p:nvSpPr>
          <p:cNvPr id="6" name="TextBox 5"/>
          <p:cNvSpPr txBox="1"/>
          <p:nvPr/>
        </p:nvSpPr>
        <p:spPr>
          <a:xfrm>
            <a:off x="5702300" y="3606224"/>
            <a:ext cx="647700" cy="461665"/>
          </a:xfrm>
          <a:prstGeom prst="rect">
            <a:avLst/>
          </a:prstGeom>
          <a:solidFill>
            <a:schemeClr val="accent4">
              <a:lumMod val="75000"/>
            </a:schemeClr>
          </a:solidFill>
        </p:spPr>
        <p:txBody>
          <a:bodyPr wrap="square" rtlCol="0">
            <a:spAutoFit/>
          </a:bodyPr>
          <a:lstStyle/>
          <a:p>
            <a:pPr algn="ctr"/>
            <a:r>
              <a:rPr lang="en-US" sz="2400" b="1" dirty="0"/>
              <a:t>OR</a:t>
            </a:r>
          </a:p>
        </p:txBody>
      </p:sp>
      <p:sp>
        <p:nvSpPr>
          <p:cNvPr id="7" name="Rounded Rectangle 6"/>
          <p:cNvSpPr/>
          <p:nvPr/>
        </p:nvSpPr>
        <p:spPr>
          <a:xfrm>
            <a:off x="6489700" y="3381514"/>
            <a:ext cx="3949700" cy="927100"/>
          </a:xfrm>
          <a:prstGeom prst="roundRect">
            <a:avLst>
              <a:gd name="adj" fmla="val 19928"/>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p:cNvSpPr txBox="1"/>
          <p:nvPr/>
        </p:nvSpPr>
        <p:spPr>
          <a:xfrm>
            <a:off x="6610350" y="3637001"/>
            <a:ext cx="3708400" cy="430887"/>
          </a:xfrm>
          <a:prstGeom prst="rect">
            <a:avLst/>
          </a:prstGeom>
          <a:solidFill>
            <a:schemeClr val="accent4">
              <a:lumMod val="75000"/>
            </a:schemeClr>
          </a:solidFill>
        </p:spPr>
        <p:txBody>
          <a:bodyPr wrap="square" rtlCol="0">
            <a:spAutoFit/>
          </a:bodyPr>
          <a:lstStyle/>
          <a:p>
            <a:pPr algn="ctr"/>
            <a:r>
              <a:rPr lang="en-US" sz="2200" b="1" dirty="0">
                <a:solidFill>
                  <a:schemeClr val="bg1"/>
                </a:solidFill>
                <a:cs typeface="Times New Roman" panose="02020603050405020304" pitchFamily="18" charset="0"/>
              </a:rPr>
              <a:t>Completion of the assessment </a:t>
            </a:r>
          </a:p>
        </p:txBody>
      </p:sp>
      <p:sp>
        <p:nvSpPr>
          <p:cNvPr id="9" name="Left Brace 8"/>
          <p:cNvSpPr/>
          <p:nvPr/>
        </p:nvSpPr>
        <p:spPr>
          <a:xfrm rot="16200000">
            <a:off x="5816600" y="1778000"/>
            <a:ext cx="749300" cy="6007100"/>
          </a:xfrm>
          <a:prstGeom prst="leftBrace">
            <a:avLst>
              <a:gd name="adj1" fmla="val 21892"/>
              <a:gd name="adj2" fmla="val 47886"/>
            </a:avLst>
          </a:prstGeom>
          <a:solidFill>
            <a:schemeClr val="accent4">
              <a:lumMod val="75000"/>
            </a:schemeClr>
          </a:solidFill>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Rectangle 9"/>
          <p:cNvSpPr/>
          <p:nvPr/>
        </p:nvSpPr>
        <p:spPr>
          <a:xfrm>
            <a:off x="4457700" y="5156200"/>
            <a:ext cx="3136900" cy="609600"/>
          </a:xfrm>
          <a:prstGeom prst="rect">
            <a:avLst/>
          </a:prstGeom>
          <a:solidFill>
            <a:schemeClr val="accent4">
              <a:lumMod val="75000"/>
            </a:schemeClr>
          </a:solidFill>
        </p:spPr>
        <p:style>
          <a:lnRef idx="3">
            <a:schemeClr val="lt1"/>
          </a:lnRef>
          <a:fillRef idx="1">
            <a:schemeClr val="dk1"/>
          </a:fillRef>
          <a:effectRef idx="1">
            <a:schemeClr val="dk1"/>
          </a:effectRef>
          <a:fontRef idx="minor">
            <a:schemeClr val="lt1"/>
          </a:fontRef>
        </p:style>
        <p:txBody>
          <a:bodyPr rtlCol="0" anchor="ctr"/>
          <a:lstStyle/>
          <a:p>
            <a:pPr algn="ctr"/>
            <a:r>
              <a:rPr lang="en-US" sz="2000" dirty="0">
                <a:cs typeface="Times New Roman" panose="02020603050405020304" pitchFamily="18" charset="0"/>
              </a:rPr>
              <a:t>whichever is earlier </a:t>
            </a:r>
          </a:p>
        </p:txBody>
      </p:sp>
    </p:spTree>
    <p:extLst>
      <p:ext uri="{BB962C8B-B14F-4D97-AF65-F5344CB8AC3E}">
        <p14:creationId xmlns:p14="http://schemas.microsoft.com/office/powerpoint/2010/main" val="214759086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1600" y="1930400"/>
            <a:ext cx="9601200" cy="3581400"/>
          </a:xfrm>
        </p:spPr>
        <p:txBody>
          <a:bodyPr>
            <a:normAutofit/>
          </a:bodyPr>
          <a:lstStyle/>
          <a:p>
            <a:pPr marL="0" indent="0" algn="just">
              <a:buNone/>
            </a:pPr>
            <a:r>
              <a:rPr lang="en-US" sz="2400" dirty="0">
                <a:cs typeface="Times New Roman" panose="02020603050405020304" pitchFamily="18" charset="0"/>
              </a:rPr>
              <a:t>Return filed u/s 139(1) or u/s 139(4) can be revised u/s 139(5), if any omission or any wrong statement is discovered by the </a:t>
            </a:r>
            <a:r>
              <a:rPr lang="en-US" sz="2400" dirty="0" err="1">
                <a:cs typeface="Times New Roman" panose="02020603050405020304" pitchFamily="18" charset="0"/>
              </a:rPr>
              <a:t>assessee</a:t>
            </a:r>
            <a:r>
              <a:rPr lang="en-US" sz="2400" dirty="0">
                <a:cs typeface="Times New Roman" panose="02020603050405020304" pitchFamily="18" charset="0"/>
              </a:rPr>
              <a:t>, at any time before: </a:t>
            </a:r>
          </a:p>
        </p:txBody>
      </p:sp>
      <p:sp>
        <p:nvSpPr>
          <p:cNvPr id="4" name="Title 1"/>
          <p:cNvSpPr>
            <a:spLocks noGrp="1"/>
          </p:cNvSpPr>
          <p:nvPr>
            <p:ph type="title"/>
          </p:nvPr>
        </p:nvSpPr>
        <p:spPr>
          <a:xfrm>
            <a:off x="1371600" y="524669"/>
            <a:ext cx="10515600" cy="1325563"/>
          </a:xfrm>
        </p:spPr>
        <p:txBody>
          <a:bodyPr/>
          <a:lstStyle/>
          <a:p>
            <a:r>
              <a:rPr lang="en-US" b="1" dirty="0">
                <a:latin typeface="+mn-lt"/>
                <a:cs typeface="Times New Roman" panose="02020603050405020304" pitchFamily="18" charset="0"/>
              </a:rPr>
              <a:t>Revised Return of Income: u/s 139(5)</a:t>
            </a:r>
          </a:p>
        </p:txBody>
      </p:sp>
      <p:sp>
        <p:nvSpPr>
          <p:cNvPr id="5" name="Rounded Rectangle 4"/>
          <p:cNvSpPr/>
          <p:nvPr/>
        </p:nvSpPr>
        <p:spPr>
          <a:xfrm>
            <a:off x="1803400" y="3416300"/>
            <a:ext cx="3949700" cy="927100"/>
          </a:xfrm>
          <a:prstGeom prst="roundRect">
            <a:avLst>
              <a:gd name="adj" fmla="val 19928"/>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1943100" y="3517900"/>
            <a:ext cx="3708400" cy="707886"/>
          </a:xfrm>
          <a:prstGeom prst="rect">
            <a:avLst/>
          </a:prstGeom>
          <a:solidFill>
            <a:schemeClr val="accent4">
              <a:lumMod val="75000"/>
            </a:schemeClr>
          </a:solidFill>
        </p:spPr>
        <p:txBody>
          <a:bodyPr wrap="square" rtlCol="0">
            <a:spAutoFit/>
          </a:bodyPr>
          <a:lstStyle/>
          <a:p>
            <a:pPr algn="ctr"/>
            <a:r>
              <a:rPr lang="en-US" sz="2000" b="1" dirty="0">
                <a:solidFill>
                  <a:schemeClr val="bg1"/>
                </a:solidFill>
                <a:cs typeface="Times New Roman" panose="02020603050405020304" pitchFamily="18" charset="0"/>
              </a:rPr>
              <a:t>Three months prior to the end of the relevant assessment year </a:t>
            </a:r>
          </a:p>
        </p:txBody>
      </p:sp>
      <p:sp>
        <p:nvSpPr>
          <p:cNvPr id="7" name="TextBox 6"/>
          <p:cNvSpPr txBox="1"/>
          <p:nvPr/>
        </p:nvSpPr>
        <p:spPr>
          <a:xfrm>
            <a:off x="5892800" y="3641010"/>
            <a:ext cx="647700" cy="461665"/>
          </a:xfrm>
          <a:prstGeom prst="rect">
            <a:avLst/>
          </a:prstGeom>
          <a:solidFill>
            <a:schemeClr val="accent4">
              <a:lumMod val="75000"/>
            </a:schemeClr>
          </a:solidFill>
        </p:spPr>
        <p:txBody>
          <a:bodyPr wrap="square" rtlCol="0">
            <a:spAutoFit/>
          </a:bodyPr>
          <a:lstStyle/>
          <a:p>
            <a:pPr algn="ctr"/>
            <a:r>
              <a:rPr lang="en-US" sz="2400" b="1" dirty="0"/>
              <a:t>OR</a:t>
            </a:r>
          </a:p>
        </p:txBody>
      </p:sp>
      <p:sp>
        <p:nvSpPr>
          <p:cNvPr id="8" name="Rounded Rectangle 7"/>
          <p:cNvSpPr/>
          <p:nvPr/>
        </p:nvSpPr>
        <p:spPr>
          <a:xfrm>
            <a:off x="6680200" y="3416300"/>
            <a:ext cx="3949700" cy="927100"/>
          </a:xfrm>
          <a:prstGeom prst="roundRect">
            <a:avLst>
              <a:gd name="adj" fmla="val 19928"/>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p:cNvSpPr txBox="1"/>
          <p:nvPr/>
        </p:nvSpPr>
        <p:spPr>
          <a:xfrm>
            <a:off x="6800850" y="3671787"/>
            <a:ext cx="3708400" cy="430887"/>
          </a:xfrm>
          <a:prstGeom prst="rect">
            <a:avLst/>
          </a:prstGeom>
          <a:solidFill>
            <a:schemeClr val="accent4">
              <a:lumMod val="75000"/>
            </a:schemeClr>
          </a:solidFill>
        </p:spPr>
        <p:txBody>
          <a:bodyPr wrap="square" rtlCol="0">
            <a:spAutoFit/>
          </a:bodyPr>
          <a:lstStyle/>
          <a:p>
            <a:pPr algn="ctr"/>
            <a:r>
              <a:rPr lang="en-US" sz="2200" b="1" dirty="0">
                <a:solidFill>
                  <a:schemeClr val="bg1"/>
                </a:solidFill>
                <a:cs typeface="Times New Roman" panose="02020603050405020304" pitchFamily="18" charset="0"/>
              </a:rPr>
              <a:t>Completion of the assessment </a:t>
            </a:r>
          </a:p>
        </p:txBody>
      </p:sp>
      <p:sp>
        <p:nvSpPr>
          <p:cNvPr id="10" name="Left Brace 9"/>
          <p:cNvSpPr/>
          <p:nvPr/>
        </p:nvSpPr>
        <p:spPr>
          <a:xfrm rot="16200000">
            <a:off x="6007100" y="1812786"/>
            <a:ext cx="749300" cy="6007100"/>
          </a:xfrm>
          <a:prstGeom prst="leftBrace">
            <a:avLst>
              <a:gd name="adj1" fmla="val 21892"/>
              <a:gd name="adj2" fmla="val 47886"/>
            </a:avLst>
          </a:prstGeom>
          <a:solidFill>
            <a:schemeClr val="accent4">
              <a:lumMod val="75000"/>
            </a:schemeClr>
          </a:solidFill>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Rectangle 10"/>
          <p:cNvSpPr/>
          <p:nvPr/>
        </p:nvSpPr>
        <p:spPr>
          <a:xfrm>
            <a:off x="4648200" y="5190986"/>
            <a:ext cx="3136900" cy="609600"/>
          </a:xfrm>
          <a:prstGeom prst="rect">
            <a:avLst/>
          </a:prstGeom>
          <a:solidFill>
            <a:schemeClr val="accent4">
              <a:lumMod val="75000"/>
            </a:schemeClr>
          </a:solidFill>
        </p:spPr>
        <p:style>
          <a:lnRef idx="3">
            <a:schemeClr val="lt1"/>
          </a:lnRef>
          <a:fillRef idx="1">
            <a:schemeClr val="dk1"/>
          </a:fillRef>
          <a:effectRef idx="1">
            <a:schemeClr val="dk1"/>
          </a:effectRef>
          <a:fontRef idx="minor">
            <a:schemeClr val="lt1"/>
          </a:fontRef>
        </p:style>
        <p:txBody>
          <a:bodyPr rtlCol="0" anchor="ctr"/>
          <a:lstStyle/>
          <a:p>
            <a:pPr algn="ctr"/>
            <a:r>
              <a:rPr lang="en-US" sz="2000" dirty="0">
                <a:cs typeface="Times New Roman" panose="02020603050405020304" pitchFamily="18" charset="0"/>
              </a:rPr>
              <a:t>whichever is earlier </a:t>
            </a:r>
          </a:p>
        </p:txBody>
      </p:sp>
    </p:spTree>
    <p:extLst>
      <p:ext uri="{BB962C8B-B14F-4D97-AF65-F5344CB8AC3E}">
        <p14:creationId xmlns:p14="http://schemas.microsoft.com/office/powerpoint/2010/main" val="153025954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17626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8.6|28|37.4|16.4|14.6|13.1"/>
</p:tagLst>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7631</TotalTime>
  <Words>8563</Words>
  <Application>Microsoft Office PowerPoint</Application>
  <PresentationFormat>Widescreen</PresentationFormat>
  <Paragraphs>1826</Paragraphs>
  <Slides>123</Slides>
  <Notes>4</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123</vt:i4>
      </vt:variant>
    </vt:vector>
  </HeadingPairs>
  <TitlesOfParts>
    <vt:vector size="136" baseType="lpstr">
      <vt:lpstr>Wingdings 3</vt:lpstr>
      <vt:lpstr>Roboto Condensed Light</vt:lpstr>
      <vt:lpstr>Inherit</vt:lpstr>
      <vt:lpstr>Poppins</vt:lpstr>
      <vt:lpstr>Roboto</vt:lpstr>
      <vt:lpstr>Calibri</vt:lpstr>
      <vt:lpstr>Wingdings 2</vt:lpstr>
      <vt:lpstr>Roboto Condensed</vt:lpstr>
      <vt:lpstr>Arial</vt:lpstr>
      <vt:lpstr>Times New Roman</vt:lpstr>
      <vt:lpstr>Wingdings</vt:lpstr>
      <vt:lpstr>Franklin Gothic Book</vt:lpstr>
      <vt:lpstr>Office Theme</vt:lpstr>
      <vt:lpstr>Unit-3  Direct Tax</vt:lpstr>
      <vt:lpstr>PowerPoint Presentation</vt:lpstr>
      <vt:lpstr>Introduction</vt:lpstr>
      <vt:lpstr>Types of Taxes</vt:lpstr>
      <vt:lpstr>Direct Tax</vt:lpstr>
      <vt:lpstr>Introduction to Income Tax Act</vt:lpstr>
      <vt:lpstr>Definitions</vt:lpstr>
      <vt:lpstr>PowerPoint Presentation</vt:lpstr>
      <vt:lpstr>PowerPoint Presentation</vt:lpstr>
      <vt:lpstr>PowerPoint Presentation</vt:lpstr>
      <vt:lpstr>Other Definitions </vt:lpstr>
      <vt:lpstr>Previous Year &amp; Assessment Year</vt:lpstr>
      <vt:lpstr>PowerPoint Presentation</vt:lpstr>
      <vt:lpstr> Previous Year         Assessment Year </vt:lpstr>
      <vt:lpstr>For the purpose of our study</vt:lpstr>
      <vt:lpstr>PowerPoint Presentation</vt:lpstr>
      <vt:lpstr>Income Tax Slab Rate for Individuals in Old Tax Regime </vt:lpstr>
      <vt:lpstr>Income Tax Slab Rate for Individuals in Old Tax Regime (Contd.)</vt:lpstr>
      <vt:lpstr>Income Tax Slab Rate for Individuals in Old Tax Regime (Contd.)</vt:lpstr>
      <vt:lpstr>Income Tax Slab Rate for Individuals in New Tax Regime </vt:lpstr>
      <vt:lpstr>Rebate under section 87A</vt:lpstr>
      <vt:lpstr>Health and Education Cess</vt:lpstr>
      <vt:lpstr>Health and Education Cess (Cont.)</vt:lpstr>
      <vt:lpstr>PowerPoint Presentation</vt:lpstr>
      <vt:lpstr>PowerPoint Presentation</vt:lpstr>
      <vt:lpstr>PowerPoint Presentation</vt:lpstr>
      <vt:lpstr>PowerPoint Presentation</vt:lpstr>
      <vt:lpstr>Example 03</vt:lpstr>
      <vt:lpstr>Tax Calculation as per Old Slab:</vt:lpstr>
      <vt:lpstr>Tax Calculation as per New Slab:</vt:lpstr>
      <vt:lpstr>PowerPoint Presentation</vt:lpstr>
      <vt:lpstr>PowerPoint Presentation</vt:lpstr>
      <vt:lpstr>PowerPoint Presentation</vt:lpstr>
      <vt:lpstr>Example 5</vt:lpstr>
      <vt:lpstr> Tax Calculation as per Old Slab:</vt:lpstr>
      <vt:lpstr>Tax Calculation as per New Slab:</vt:lpstr>
      <vt:lpstr>Comparison</vt:lpstr>
      <vt:lpstr>Special rates of tax in respect of Certain Incomes</vt:lpstr>
      <vt:lpstr>PowerPoint Presentation</vt:lpstr>
      <vt:lpstr>PowerPoint Presentation</vt:lpstr>
      <vt:lpstr>PowerPoint Presentation</vt:lpstr>
      <vt:lpstr>PowerPoint Presentation</vt:lpstr>
      <vt:lpstr>PowerPoint Presentation</vt:lpstr>
      <vt:lpstr>Residential Status</vt:lpstr>
      <vt:lpstr>Introduction</vt:lpstr>
      <vt:lpstr>Meaning of Residential Status </vt:lpstr>
      <vt:lpstr>Classification of Assessees Based on Residential Status</vt:lpstr>
      <vt:lpstr>How to Determine the Residential Status of Individual? </vt:lpstr>
      <vt:lpstr>PowerPoint Presentation</vt:lpstr>
      <vt:lpstr>Basic Conditions to Determine Residential Status of an Individual</vt:lpstr>
      <vt:lpstr>PowerPoint Presentation</vt:lpstr>
      <vt:lpstr>ANS:</vt:lpstr>
      <vt:lpstr>Example 2</vt:lpstr>
      <vt:lpstr>Answer</vt:lpstr>
      <vt:lpstr>For Resident and Ordinary Resident (Additional Conditions)</vt:lpstr>
      <vt:lpstr>Example 3</vt:lpstr>
      <vt:lpstr>Answer</vt:lpstr>
      <vt:lpstr>Answer</vt:lpstr>
      <vt:lpstr>Example 4</vt:lpstr>
      <vt:lpstr>Answer</vt:lpstr>
      <vt:lpstr>Residential Status of Other Persons</vt:lpstr>
      <vt:lpstr>Residential status of HUF (Additional Conditions):</vt:lpstr>
      <vt:lpstr>Residential Status of Other Persons</vt:lpstr>
      <vt:lpstr>Residential Status of Other Persons (Contd.)</vt:lpstr>
      <vt:lpstr>Residential status of Company:</vt:lpstr>
      <vt:lpstr>Scope of Total Income</vt:lpstr>
      <vt:lpstr>Scope of Income/ Incidence of Tax Based on Residential Status </vt:lpstr>
      <vt:lpstr>Heads Of Income:</vt:lpstr>
      <vt:lpstr>PowerPoint Presentation</vt:lpstr>
      <vt:lpstr>PowerPoint Presentation</vt:lpstr>
      <vt:lpstr>PowerPoint Presentation</vt:lpstr>
      <vt:lpstr>Exercise</vt:lpstr>
      <vt:lpstr>Answer</vt:lpstr>
      <vt:lpstr>Income from House property</vt:lpstr>
      <vt:lpstr>PowerPoint Presentation</vt:lpstr>
      <vt:lpstr>Deductions from Annual Value</vt:lpstr>
      <vt:lpstr>Format</vt:lpstr>
      <vt:lpstr>Example: 1</vt:lpstr>
      <vt:lpstr>Answer</vt:lpstr>
      <vt:lpstr>Example 2</vt:lpstr>
      <vt:lpstr>Answer</vt:lpstr>
      <vt:lpstr>Example 3</vt:lpstr>
      <vt:lpstr>Calculation as per Old Regime</vt:lpstr>
      <vt:lpstr>Profit &amp; Gain from Business or Profession</vt:lpstr>
      <vt:lpstr>PowerPoint Presentation</vt:lpstr>
      <vt:lpstr>PowerPoint Presentation</vt:lpstr>
      <vt:lpstr>Example 1</vt:lpstr>
      <vt:lpstr>Calculation of Profit from Business</vt:lpstr>
      <vt:lpstr>Example: 2</vt:lpstr>
      <vt:lpstr>Calculation of Profit from Business</vt:lpstr>
      <vt:lpstr>Income from Capital Gain:</vt:lpstr>
      <vt:lpstr>PowerPoint Presentation</vt:lpstr>
      <vt:lpstr>Computation of Short Term Capital Gain</vt:lpstr>
      <vt:lpstr>Computation of Long Term Capital Gain</vt:lpstr>
      <vt:lpstr>Example 1</vt:lpstr>
      <vt:lpstr>Calculation of Short Term Capital Gain</vt:lpstr>
      <vt:lpstr>Example 2</vt:lpstr>
      <vt:lpstr>Calculation of Short Term Capital Gain</vt:lpstr>
      <vt:lpstr>Example: 3</vt:lpstr>
      <vt:lpstr>Calculation of Long Term Capital Gain</vt:lpstr>
      <vt:lpstr>Example: 4</vt:lpstr>
      <vt:lpstr>Calculation of Long Term Capital Gain</vt:lpstr>
      <vt:lpstr>Income from Other Sources:</vt:lpstr>
      <vt:lpstr>PowerPoint Presentation</vt:lpstr>
      <vt:lpstr>PowerPoint Presentation</vt:lpstr>
      <vt:lpstr>Example 1</vt:lpstr>
      <vt:lpstr>Example 2</vt:lpstr>
      <vt:lpstr>Assessees Required to file Return of Income Compulsorily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Due Dates:</vt:lpstr>
      <vt:lpstr>Belated Return of Income: u/s 139(4)</vt:lpstr>
      <vt:lpstr>Revised Return of Income: u/s 139(5)</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Neha Doshi</cp:lastModifiedBy>
  <cp:revision>598</cp:revision>
  <dcterms:created xsi:type="dcterms:W3CDTF">2020-05-01T05:09:15Z</dcterms:created>
  <dcterms:modified xsi:type="dcterms:W3CDTF">2025-08-21T06:14:58Z</dcterms:modified>
</cp:coreProperties>
</file>