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63"/>
  </p:notesMasterIdLst>
  <p:sldIdLst>
    <p:sldId id="334" r:id="rId2"/>
    <p:sldId id="335" r:id="rId3"/>
    <p:sldId id="336" r:id="rId4"/>
    <p:sldId id="337" r:id="rId5"/>
    <p:sldId id="338" r:id="rId6"/>
    <p:sldId id="339" r:id="rId7"/>
    <p:sldId id="340"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36"/>
    <p:sldId id="369" r:id="rId37"/>
    <p:sldId id="370" r:id="rId38"/>
    <p:sldId id="371" r:id="rId39"/>
    <p:sldId id="372" r:id="rId40"/>
    <p:sldId id="373" r:id="rId41"/>
    <p:sldId id="374" r:id="rId42"/>
    <p:sldId id="375" r:id="rId43"/>
    <p:sldId id="376" r:id="rId44"/>
    <p:sldId id="377" r:id="rId45"/>
    <p:sldId id="378" r:id="rId46"/>
    <p:sldId id="379" r:id="rId47"/>
    <p:sldId id="380" r:id="rId48"/>
    <p:sldId id="381" r:id="rId49"/>
    <p:sldId id="382" r:id="rId50"/>
    <p:sldId id="383" r:id="rId51"/>
    <p:sldId id="389" r:id="rId52"/>
    <p:sldId id="391" r:id="rId53"/>
    <p:sldId id="390" r:id="rId54"/>
    <p:sldId id="392" r:id="rId55"/>
    <p:sldId id="394" r:id="rId56"/>
    <p:sldId id="388" r:id="rId57"/>
    <p:sldId id="384" r:id="rId58"/>
    <p:sldId id="385" r:id="rId59"/>
    <p:sldId id="386" r:id="rId60"/>
    <p:sldId id="387" r:id="rId61"/>
    <p:sldId id="329" r:id="rId62"/>
  </p:sldIdLst>
  <p:sldSz cx="12192000" cy="6858000"/>
  <p:notesSz cx="6858000" cy="9144000"/>
  <p:embeddedFontLst>
    <p:embeddedFont>
      <p:font typeface="Roboto Condensed" panose="02000000000000000000" pitchFamily="2" charset="0"/>
      <p:regular r:id="rId64"/>
      <p:bold r:id="rId65"/>
      <p:italic r:id="rId66"/>
      <p:boldItalic r:id="rId67"/>
    </p:embeddedFont>
    <p:embeddedFont>
      <p:font typeface="Roboto Condensed Light" panose="02000000000000000000" pitchFamily="2" charset="0"/>
      <p:regular r:id="rId68"/>
      <p:bold r:id="rId69"/>
      <p:italic r:id="rId70"/>
      <p:boldItalic r:id="rId71"/>
    </p:embeddedFont>
    <p:embeddedFont>
      <p:font typeface="Wingdings 2" panose="05020102010507070707" pitchFamily="18" charset="2"/>
      <p:regular r:id="rId72"/>
    </p:embeddedFont>
    <p:embeddedFont>
      <p:font typeface="Wingdings 3" panose="05040102010807070707" pitchFamily="18" charset="2"/>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24F"/>
    <a:srgbClr val="301B92"/>
    <a:srgbClr val="562C32"/>
    <a:srgbClr val="7B3E47"/>
    <a:srgbClr val="D10233"/>
    <a:srgbClr val="B71B1C"/>
    <a:srgbClr val="5E3037"/>
    <a:srgbClr val="673BB7"/>
    <a:srgbClr val="607D8B"/>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92" autoAdjust="0"/>
    <p:restoredTop sz="83727" autoAdjust="0"/>
  </p:normalViewPr>
  <p:slideViewPr>
    <p:cSldViewPr snapToGrid="0">
      <p:cViewPr>
        <p:scale>
          <a:sx n="75" d="100"/>
          <a:sy n="75" d="100"/>
        </p:scale>
        <p:origin x="96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3.fntdata"/><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s>
</file>

<file path=ppt/diagrams/_rels/data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image" Target="../media/image16.png"/></Relationships>
</file>

<file path=ppt/diagrams/_rels/drawing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B62382-DE14-4DC8-A945-3D2755C9321E}" type="doc">
      <dgm:prSet loTypeId="urn:microsoft.com/office/officeart/2008/layout/VerticalCurvedList" loCatId="list" qsTypeId="urn:microsoft.com/office/officeart/2005/8/quickstyle/simple1" qsCatId="simple" csTypeId="urn:microsoft.com/office/officeart/2005/8/colors/colorful5" csCatId="colorful" phldr="1"/>
      <dgm:spPr/>
      <dgm:t>
        <a:bodyPr/>
        <a:lstStyle/>
        <a:p>
          <a:endParaRPr lang="en-US"/>
        </a:p>
      </dgm:t>
    </dgm:pt>
    <dgm:pt modelId="{3ADA87D0-2E2B-401E-8B0E-97054CA7877E}">
      <dgm:prSet phldrT="[Text]"/>
      <dgm:spPr/>
      <dgm:t>
        <a:bodyPr/>
        <a:lstStyle/>
        <a:p>
          <a:r>
            <a:rPr lang="en-US" b="1" dirty="0"/>
            <a:t>Provides Safety and Security to Individuals and Businesses</a:t>
          </a:r>
          <a:endParaRPr lang="en-US" dirty="0"/>
        </a:p>
      </dgm:t>
    </dgm:pt>
    <dgm:pt modelId="{765137AF-6339-4A04-A526-3A2242E2CC9F}" type="parTrans" cxnId="{C0FD08E8-0138-4DE7-9F7F-C3374C2ED94E}">
      <dgm:prSet/>
      <dgm:spPr/>
      <dgm:t>
        <a:bodyPr/>
        <a:lstStyle/>
        <a:p>
          <a:endParaRPr lang="en-US"/>
        </a:p>
      </dgm:t>
    </dgm:pt>
    <dgm:pt modelId="{287AEC80-E349-4883-A651-A70B05EEDC17}" type="sibTrans" cxnId="{C0FD08E8-0138-4DE7-9F7F-C3374C2ED94E}">
      <dgm:prSet/>
      <dgm:spPr/>
      <dgm:t>
        <a:bodyPr/>
        <a:lstStyle/>
        <a:p>
          <a:endParaRPr lang="en-US"/>
        </a:p>
      </dgm:t>
    </dgm:pt>
    <dgm:pt modelId="{B2466DE3-7D7D-4E7C-900F-EC7A1D5565D5}">
      <dgm:prSet/>
      <dgm:spPr/>
      <dgm:t>
        <a:bodyPr/>
        <a:lstStyle/>
        <a:p>
          <a:r>
            <a:rPr lang="en-US" b="1"/>
            <a:t>Generates Long-term Financial Resources</a:t>
          </a:r>
          <a:endParaRPr lang="en-US" b="1" dirty="0"/>
        </a:p>
      </dgm:t>
    </dgm:pt>
    <dgm:pt modelId="{91221980-C164-483A-9B22-87702482A67F}" type="parTrans" cxnId="{5F1974DD-525C-4729-B2CC-D4E6B1C712DA}">
      <dgm:prSet/>
      <dgm:spPr/>
      <dgm:t>
        <a:bodyPr/>
        <a:lstStyle/>
        <a:p>
          <a:endParaRPr lang="en-US"/>
        </a:p>
      </dgm:t>
    </dgm:pt>
    <dgm:pt modelId="{7C9C9A1C-7730-4256-A2F3-E87F1F6C4681}" type="sibTrans" cxnId="{5F1974DD-525C-4729-B2CC-D4E6B1C712DA}">
      <dgm:prSet/>
      <dgm:spPr/>
      <dgm:t>
        <a:bodyPr/>
        <a:lstStyle/>
        <a:p>
          <a:endParaRPr lang="en-US"/>
        </a:p>
      </dgm:t>
    </dgm:pt>
    <dgm:pt modelId="{F12886A1-0354-4F84-A624-4DFDE9A2B6DF}">
      <dgm:prSet/>
      <dgm:spPr/>
      <dgm:t>
        <a:bodyPr/>
        <a:lstStyle/>
        <a:p>
          <a:r>
            <a:rPr lang="en-US" b="1"/>
            <a:t>Promotes Economic Growth</a:t>
          </a:r>
          <a:endParaRPr lang="en-US" b="1" dirty="0"/>
        </a:p>
      </dgm:t>
    </dgm:pt>
    <dgm:pt modelId="{40490DF4-8F73-49ED-B606-89733F929252}" type="parTrans" cxnId="{97F3F32B-813F-457D-8810-AA1A77122E72}">
      <dgm:prSet/>
      <dgm:spPr/>
      <dgm:t>
        <a:bodyPr/>
        <a:lstStyle/>
        <a:p>
          <a:endParaRPr lang="en-US"/>
        </a:p>
      </dgm:t>
    </dgm:pt>
    <dgm:pt modelId="{A6688969-1E75-411C-9E09-26F8FA8F90B1}" type="sibTrans" cxnId="{97F3F32B-813F-457D-8810-AA1A77122E72}">
      <dgm:prSet/>
      <dgm:spPr/>
      <dgm:t>
        <a:bodyPr/>
        <a:lstStyle/>
        <a:p>
          <a:endParaRPr lang="en-US"/>
        </a:p>
      </dgm:t>
    </dgm:pt>
    <dgm:pt modelId="{D70460BC-4821-4A5D-A413-5B490E73B721}">
      <dgm:prSet/>
      <dgm:spPr/>
      <dgm:t>
        <a:bodyPr/>
        <a:lstStyle/>
        <a:p>
          <a:r>
            <a:rPr lang="en-US" b="1"/>
            <a:t>Provides Support to Families during Medical Emergencies</a:t>
          </a:r>
          <a:endParaRPr lang="en-US" b="1" dirty="0"/>
        </a:p>
      </dgm:t>
    </dgm:pt>
    <dgm:pt modelId="{06E846A8-8A9B-4430-A93A-281E01D8D0EA}" type="parTrans" cxnId="{C515BA04-E5BF-427A-8A73-79E481ADD381}">
      <dgm:prSet/>
      <dgm:spPr/>
      <dgm:t>
        <a:bodyPr/>
        <a:lstStyle/>
        <a:p>
          <a:endParaRPr lang="en-US"/>
        </a:p>
      </dgm:t>
    </dgm:pt>
    <dgm:pt modelId="{8624EFB8-483D-4CBB-B969-C1F3EE97E1E1}" type="sibTrans" cxnId="{C515BA04-E5BF-427A-8A73-79E481ADD381}">
      <dgm:prSet/>
      <dgm:spPr/>
      <dgm:t>
        <a:bodyPr/>
        <a:lstStyle/>
        <a:p>
          <a:endParaRPr lang="en-US"/>
        </a:p>
      </dgm:t>
    </dgm:pt>
    <dgm:pt modelId="{9CD21E18-AA90-4EDD-A635-A97A18C89E73}">
      <dgm:prSet/>
      <dgm:spPr/>
      <dgm:t>
        <a:bodyPr/>
        <a:lstStyle/>
        <a:p>
          <a:r>
            <a:rPr lang="en-US" b="1"/>
            <a:t>Spreads Risk</a:t>
          </a:r>
          <a:endParaRPr lang="en-US" b="1" dirty="0"/>
        </a:p>
      </dgm:t>
    </dgm:pt>
    <dgm:pt modelId="{0C2E2E42-AFE2-414D-8750-BA7C14C69127}" type="parTrans" cxnId="{F3C16BD7-EB88-4D2B-8A8B-7B641A550F2A}">
      <dgm:prSet/>
      <dgm:spPr/>
      <dgm:t>
        <a:bodyPr/>
        <a:lstStyle/>
        <a:p>
          <a:endParaRPr lang="en-US"/>
        </a:p>
      </dgm:t>
    </dgm:pt>
    <dgm:pt modelId="{FABA5297-F396-4CBF-A67D-2242F09B41AD}" type="sibTrans" cxnId="{F3C16BD7-EB88-4D2B-8A8B-7B641A550F2A}">
      <dgm:prSet/>
      <dgm:spPr/>
      <dgm:t>
        <a:bodyPr/>
        <a:lstStyle/>
        <a:p>
          <a:endParaRPr lang="en-US"/>
        </a:p>
      </dgm:t>
    </dgm:pt>
    <dgm:pt modelId="{1D652C38-C7A5-4E1A-9347-01E86EAF37AF}" type="pres">
      <dgm:prSet presAssocID="{50B62382-DE14-4DC8-A945-3D2755C9321E}" presName="Name0" presStyleCnt="0">
        <dgm:presLayoutVars>
          <dgm:chMax val="7"/>
          <dgm:chPref val="7"/>
          <dgm:dir/>
        </dgm:presLayoutVars>
      </dgm:prSet>
      <dgm:spPr/>
    </dgm:pt>
    <dgm:pt modelId="{E897A655-A02F-4787-AC7B-91E96DE6ADC2}" type="pres">
      <dgm:prSet presAssocID="{50B62382-DE14-4DC8-A945-3D2755C9321E}" presName="Name1" presStyleCnt="0"/>
      <dgm:spPr/>
    </dgm:pt>
    <dgm:pt modelId="{9B088746-DA3A-4B6C-B57F-C1255610E1DA}" type="pres">
      <dgm:prSet presAssocID="{50B62382-DE14-4DC8-A945-3D2755C9321E}" presName="cycle" presStyleCnt="0"/>
      <dgm:spPr/>
    </dgm:pt>
    <dgm:pt modelId="{3CE5F8F6-BAF6-472A-93D8-06B881E69A39}" type="pres">
      <dgm:prSet presAssocID="{50B62382-DE14-4DC8-A945-3D2755C9321E}" presName="srcNode" presStyleLbl="node1" presStyleIdx="0" presStyleCnt="5"/>
      <dgm:spPr/>
    </dgm:pt>
    <dgm:pt modelId="{30BFB9E8-462C-400B-B868-FD6E58D17B23}" type="pres">
      <dgm:prSet presAssocID="{50B62382-DE14-4DC8-A945-3D2755C9321E}" presName="conn" presStyleLbl="parChTrans1D2" presStyleIdx="0" presStyleCnt="1"/>
      <dgm:spPr/>
    </dgm:pt>
    <dgm:pt modelId="{7998299C-4B44-4FA2-B9A3-E09BE5BDE62C}" type="pres">
      <dgm:prSet presAssocID="{50B62382-DE14-4DC8-A945-3D2755C9321E}" presName="extraNode" presStyleLbl="node1" presStyleIdx="0" presStyleCnt="5"/>
      <dgm:spPr/>
    </dgm:pt>
    <dgm:pt modelId="{8A2AA74A-F433-48AC-B9B3-C3304D79BD52}" type="pres">
      <dgm:prSet presAssocID="{50B62382-DE14-4DC8-A945-3D2755C9321E}" presName="dstNode" presStyleLbl="node1" presStyleIdx="0" presStyleCnt="5"/>
      <dgm:spPr/>
    </dgm:pt>
    <dgm:pt modelId="{33020116-68FA-4B75-8BD6-40DE4D95D50A}" type="pres">
      <dgm:prSet presAssocID="{3ADA87D0-2E2B-401E-8B0E-97054CA7877E}" presName="text_1" presStyleLbl="node1" presStyleIdx="0" presStyleCnt="5">
        <dgm:presLayoutVars>
          <dgm:bulletEnabled val="1"/>
        </dgm:presLayoutVars>
      </dgm:prSet>
      <dgm:spPr/>
    </dgm:pt>
    <dgm:pt modelId="{5E4E6228-FAA3-4409-AB6D-5B7CAABFA53E}" type="pres">
      <dgm:prSet presAssocID="{3ADA87D0-2E2B-401E-8B0E-97054CA7877E}" presName="accent_1" presStyleCnt="0"/>
      <dgm:spPr/>
    </dgm:pt>
    <dgm:pt modelId="{80C3CF91-4DAE-4CAA-892A-22AC26EBD0B1}" type="pres">
      <dgm:prSet presAssocID="{3ADA87D0-2E2B-401E-8B0E-97054CA7877E}" presName="accentRepeatNode" presStyleLbl="solidFgAcc1" presStyleIdx="0" presStyleCnt="5"/>
      <dgm:spPr/>
    </dgm:pt>
    <dgm:pt modelId="{79FC1697-08E9-4873-8335-C4ECA382D1CC}" type="pres">
      <dgm:prSet presAssocID="{B2466DE3-7D7D-4E7C-900F-EC7A1D5565D5}" presName="text_2" presStyleLbl="node1" presStyleIdx="1" presStyleCnt="5">
        <dgm:presLayoutVars>
          <dgm:bulletEnabled val="1"/>
        </dgm:presLayoutVars>
      </dgm:prSet>
      <dgm:spPr/>
    </dgm:pt>
    <dgm:pt modelId="{BC67C8A7-B19C-4172-9FE0-8E51F887451A}" type="pres">
      <dgm:prSet presAssocID="{B2466DE3-7D7D-4E7C-900F-EC7A1D5565D5}" presName="accent_2" presStyleCnt="0"/>
      <dgm:spPr/>
    </dgm:pt>
    <dgm:pt modelId="{F3D36274-2167-4EB8-AF94-DD9FEF25515F}" type="pres">
      <dgm:prSet presAssocID="{B2466DE3-7D7D-4E7C-900F-EC7A1D5565D5}" presName="accentRepeatNode" presStyleLbl="solidFgAcc1" presStyleIdx="1" presStyleCnt="5"/>
      <dgm:spPr/>
    </dgm:pt>
    <dgm:pt modelId="{50817225-DFEE-4662-8F10-241301302562}" type="pres">
      <dgm:prSet presAssocID="{F12886A1-0354-4F84-A624-4DFDE9A2B6DF}" presName="text_3" presStyleLbl="node1" presStyleIdx="2" presStyleCnt="5">
        <dgm:presLayoutVars>
          <dgm:bulletEnabled val="1"/>
        </dgm:presLayoutVars>
      </dgm:prSet>
      <dgm:spPr/>
    </dgm:pt>
    <dgm:pt modelId="{EED12F38-B6E4-46C4-BCCD-F295DE4B84E2}" type="pres">
      <dgm:prSet presAssocID="{F12886A1-0354-4F84-A624-4DFDE9A2B6DF}" presName="accent_3" presStyleCnt="0"/>
      <dgm:spPr/>
    </dgm:pt>
    <dgm:pt modelId="{0CC9E902-A03D-44E4-9F43-182A63F8C038}" type="pres">
      <dgm:prSet presAssocID="{F12886A1-0354-4F84-A624-4DFDE9A2B6DF}" presName="accentRepeatNode" presStyleLbl="solidFgAcc1" presStyleIdx="2" presStyleCnt="5"/>
      <dgm:spPr/>
    </dgm:pt>
    <dgm:pt modelId="{7A5CA38E-7BAF-4C34-8822-A4C8725A6867}" type="pres">
      <dgm:prSet presAssocID="{D70460BC-4821-4A5D-A413-5B490E73B721}" presName="text_4" presStyleLbl="node1" presStyleIdx="3" presStyleCnt="5">
        <dgm:presLayoutVars>
          <dgm:bulletEnabled val="1"/>
        </dgm:presLayoutVars>
      </dgm:prSet>
      <dgm:spPr/>
    </dgm:pt>
    <dgm:pt modelId="{E99D90D7-5CE1-4B43-BB16-324D3A509006}" type="pres">
      <dgm:prSet presAssocID="{D70460BC-4821-4A5D-A413-5B490E73B721}" presName="accent_4" presStyleCnt="0"/>
      <dgm:spPr/>
    </dgm:pt>
    <dgm:pt modelId="{C5994692-AB49-42AD-91EE-E9D053FE7A6D}" type="pres">
      <dgm:prSet presAssocID="{D70460BC-4821-4A5D-A413-5B490E73B721}" presName="accentRepeatNode" presStyleLbl="solidFgAcc1" presStyleIdx="3" presStyleCnt="5"/>
      <dgm:spPr/>
    </dgm:pt>
    <dgm:pt modelId="{2D2E1EF0-82E2-4069-AE01-54743B7150F5}" type="pres">
      <dgm:prSet presAssocID="{9CD21E18-AA90-4EDD-A635-A97A18C89E73}" presName="text_5" presStyleLbl="node1" presStyleIdx="4" presStyleCnt="5">
        <dgm:presLayoutVars>
          <dgm:bulletEnabled val="1"/>
        </dgm:presLayoutVars>
      </dgm:prSet>
      <dgm:spPr/>
    </dgm:pt>
    <dgm:pt modelId="{AA88AA81-D822-4EE8-8D82-9ACBD5812EB0}" type="pres">
      <dgm:prSet presAssocID="{9CD21E18-AA90-4EDD-A635-A97A18C89E73}" presName="accent_5" presStyleCnt="0"/>
      <dgm:spPr/>
    </dgm:pt>
    <dgm:pt modelId="{23C61BA5-B403-48B9-B1C4-273399E42E6C}" type="pres">
      <dgm:prSet presAssocID="{9CD21E18-AA90-4EDD-A635-A97A18C89E73}" presName="accentRepeatNode" presStyleLbl="solidFgAcc1" presStyleIdx="4" presStyleCnt="5"/>
      <dgm:spPr/>
    </dgm:pt>
  </dgm:ptLst>
  <dgm:cxnLst>
    <dgm:cxn modelId="{C515BA04-E5BF-427A-8A73-79E481ADD381}" srcId="{50B62382-DE14-4DC8-A945-3D2755C9321E}" destId="{D70460BC-4821-4A5D-A413-5B490E73B721}" srcOrd="3" destOrd="0" parTransId="{06E846A8-8A9B-4430-A93A-281E01D8D0EA}" sibTransId="{8624EFB8-483D-4CBB-B969-C1F3EE97E1E1}"/>
    <dgm:cxn modelId="{9286A32B-23FA-4E54-B3EA-9B755831B0A5}" type="presOf" srcId="{B2466DE3-7D7D-4E7C-900F-EC7A1D5565D5}" destId="{79FC1697-08E9-4873-8335-C4ECA382D1CC}" srcOrd="0" destOrd="0" presId="urn:microsoft.com/office/officeart/2008/layout/VerticalCurvedList"/>
    <dgm:cxn modelId="{97F3F32B-813F-457D-8810-AA1A77122E72}" srcId="{50B62382-DE14-4DC8-A945-3D2755C9321E}" destId="{F12886A1-0354-4F84-A624-4DFDE9A2B6DF}" srcOrd="2" destOrd="0" parTransId="{40490DF4-8F73-49ED-B606-89733F929252}" sibTransId="{A6688969-1E75-411C-9E09-26F8FA8F90B1}"/>
    <dgm:cxn modelId="{D4E22257-7CD3-4CA3-A493-9E38BB9ACD89}" type="presOf" srcId="{D70460BC-4821-4A5D-A413-5B490E73B721}" destId="{7A5CA38E-7BAF-4C34-8822-A4C8725A6867}" srcOrd="0" destOrd="0" presId="urn:microsoft.com/office/officeart/2008/layout/VerticalCurvedList"/>
    <dgm:cxn modelId="{467EBF9C-9371-478F-8266-E577197E1ED4}" type="presOf" srcId="{9CD21E18-AA90-4EDD-A635-A97A18C89E73}" destId="{2D2E1EF0-82E2-4069-AE01-54743B7150F5}" srcOrd="0" destOrd="0" presId="urn:microsoft.com/office/officeart/2008/layout/VerticalCurvedList"/>
    <dgm:cxn modelId="{C2336ECA-AFFE-4A40-A636-AC9988FF2351}" type="presOf" srcId="{287AEC80-E349-4883-A651-A70B05EEDC17}" destId="{30BFB9E8-462C-400B-B868-FD6E58D17B23}" srcOrd="0" destOrd="0" presId="urn:microsoft.com/office/officeart/2008/layout/VerticalCurvedList"/>
    <dgm:cxn modelId="{F3C16BD7-EB88-4D2B-8A8B-7B641A550F2A}" srcId="{50B62382-DE14-4DC8-A945-3D2755C9321E}" destId="{9CD21E18-AA90-4EDD-A635-A97A18C89E73}" srcOrd="4" destOrd="0" parTransId="{0C2E2E42-AFE2-414D-8750-BA7C14C69127}" sibTransId="{FABA5297-F396-4CBF-A67D-2242F09B41AD}"/>
    <dgm:cxn modelId="{5F1974DD-525C-4729-B2CC-D4E6B1C712DA}" srcId="{50B62382-DE14-4DC8-A945-3D2755C9321E}" destId="{B2466DE3-7D7D-4E7C-900F-EC7A1D5565D5}" srcOrd="1" destOrd="0" parTransId="{91221980-C164-483A-9B22-87702482A67F}" sibTransId="{7C9C9A1C-7730-4256-A2F3-E87F1F6C4681}"/>
    <dgm:cxn modelId="{C0FD08E8-0138-4DE7-9F7F-C3374C2ED94E}" srcId="{50B62382-DE14-4DC8-A945-3D2755C9321E}" destId="{3ADA87D0-2E2B-401E-8B0E-97054CA7877E}" srcOrd="0" destOrd="0" parTransId="{765137AF-6339-4A04-A526-3A2242E2CC9F}" sibTransId="{287AEC80-E349-4883-A651-A70B05EEDC17}"/>
    <dgm:cxn modelId="{EE6890E8-5068-4C97-8F92-6B36C3418A4E}" type="presOf" srcId="{F12886A1-0354-4F84-A624-4DFDE9A2B6DF}" destId="{50817225-DFEE-4662-8F10-241301302562}" srcOrd="0" destOrd="0" presId="urn:microsoft.com/office/officeart/2008/layout/VerticalCurvedList"/>
    <dgm:cxn modelId="{F0CF6CEE-CA3C-4E7E-9ABB-9743FE7A5F37}" type="presOf" srcId="{50B62382-DE14-4DC8-A945-3D2755C9321E}" destId="{1D652C38-C7A5-4E1A-9347-01E86EAF37AF}" srcOrd="0" destOrd="0" presId="urn:microsoft.com/office/officeart/2008/layout/VerticalCurvedList"/>
    <dgm:cxn modelId="{AC5543F7-EA6D-4908-B981-3DBF8F1789F5}" type="presOf" srcId="{3ADA87D0-2E2B-401E-8B0E-97054CA7877E}" destId="{33020116-68FA-4B75-8BD6-40DE4D95D50A}" srcOrd="0" destOrd="0" presId="urn:microsoft.com/office/officeart/2008/layout/VerticalCurvedList"/>
    <dgm:cxn modelId="{7AA731DA-617C-40B5-B9C0-1038B5D029EA}" type="presParOf" srcId="{1D652C38-C7A5-4E1A-9347-01E86EAF37AF}" destId="{E897A655-A02F-4787-AC7B-91E96DE6ADC2}" srcOrd="0" destOrd="0" presId="urn:microsoft.com/office/officeart/2008/layout/VerticalCurvedList"/>
    <dgm:cxn modelId="{4D2C4400-3EBC-4659-9B96-BA39DE868D23}" type="presParOf" srcId="{E897A655-A02F-4787-AC7B-91E96DE6ADC2}" destId="{9B088746-DA3A-4B6C-B57F-C1255610E1DA}" srcOrd="0" destOrd="0" presId="urn:microsoft.com/office/officeart/2008/layout/VerticalCurvedList"/>
    <dgm:cxn modelId="{82521147-64DF-44F2-A1AA-700A888E3F89}" type="presParOf" srcId="{9B088746-DA3A-4B6C-B57F-C1255610E1DA}" destId="{3CE5F8F6-BAF6-472A-93D8-06B881E69A39}" srcOrd="0" destOrd="0" presId="urn:microsoft.com/office/officeart/2008/layout/VerticalCurvedList"/>
    <dgm:cxn modelId="{E2DF1CE9-3DCE-4E3F-B2E6-0DDBC3062944}" type="presParOf" srcId="{9B088746-DA3A-4B6C-B57F-C1255610E1DA}" destId="{30BFB9E8-462C-400B-B868-FD6E58D17B23}" srcOrd="1" destOrd="0" presId="urn:microsoft.com/office/officeart/2008/layout/VerticalCurvedList"/>
    <dgm:cxn modelId="{5B31892A-B4B5-4997-8FCA-74A027B92648}" type="presParOf" srcId="{9B088746-DA3A-4B6C-B57F-C1255610E1DA}" destId="{7998299C-4B44-4FA2-B9A3-E09BE5BDE62C}" srcOrd="2" destOrd="0" presId="urn:microsoft.com/office/officeart/2008/layout/VerticalCurvedList"/>
    <dgm:cxn modelId="{AC727603-6983-4E34-BCAD-7E18F66067D8}" type="presParOf" srcId="{9B088746-DA3A-4B6C-B57F-C1255610E1DA}" destId="{8A2AA74A-F433-48AC-B9B3-C3304D79BD52}" srcOrd="3" destOrd="0" presId="urn:microsoft.com/office/officeart/2008/layout/VerticalCurvedList"/>
    <dgm:cxn modelId="{D31D0967-0AB5-417B-87E3-89404BCB8D9F}" type="presParOf" srcId="{E897A655-A02F-4787-AC7B-91E96DE6ADC2}" destId="{33020116-68FA-4B75-8BD6-40DE4D95D50A}" srcOrd="1" destOrd="0" presId="urn:microsoft.com/office/officeart/2008/layout/VerticalCurvedList"/>
    <dgm:cxn modelId="{8A21784D-751F-42DD-B819-BA72E583958D}" type="presParOf" srcId="{E897A655-A02F-4787-AC7B-91E96DE6ADC2}" destId="{5E4E6228-FAA3-4409-AB6D-5B7CAABFA53E}" srcOrd="2" destOrd="0" presId="urn:microsoft.com/office/officeart/2008/layout/VerticalCurvedList"/>
    <dgm:cxn modelId="{FEA91D41-5F6D-4E49-AAF0-3A53710F8E9A}" type="presParOf" srcId="{5E4E6228-FAA3-4409-AB6D-5B7CAABFA53E}" destId="{80C3CF91-4DAE-4CAA-892A-22AC26EBD0B1}" srcOrd="0" destOrd="0" presId="urn:microsoft.com/office/officeart/2008/layout/VerticalCurvedList"/>
    <dgm:cxn modelId="{26AB3416-A72F-4365-8C78-2E3AA54E7A1A}" type="presParOf" srcId="{E897A655-A02F-4787-AC7B-91E96DE6ADC2}" destId="{79FC1697-08E9-4873-8335-C4ECA382D1CC}" srcOrd="3" destOrd="0" presId="urn:microsoft.com/office/officeart/2008/layout/VerticalCurvedList"/>
    <dgm:cxn modelId="{CC8BFE48-9BB1-477F-AD11-52BDD1913E80}" type="presParOf" srcId="{E897A655-A02F-4787-AC7B-91E96DE6ADC2}" destId="{BC67C8A7-B19C-4172-9FE0-8E51F887451A}" srcOrd="4" destOrd="0" presId="urn:microsoft.com/office/officeart/2008/layout/VerticalCurvedList"/>
    <dgm:cxn modelId="{9A654D90-9DCE-45B2-B346-97EBE2970FBD}" type="presParOf" srcId="{BC67C8A7-B19C-4172-9FE0-8E51F887451A}" destId="{F3D36274-2167-4EB8-AF94-DD9FEF25515F}" srcOrd="0" destOrd="0" presId="urn:microsoft.com/office/officeart/2008/layout/VerticalCurvedList"/>
    <dgm:cxn modelId="{DE629D5E-D018-4BF8-9AB1-6464D58BF33D}" type="presParOf" srcId="{E897A655-A02F-4787-AC7B-91E96DE6ADC2}" destId="{50817225-DFEE-4662-8F10-241301302562}" srcOrd="5" destOrd="0" presId="urn:microsoft.com/office/officeart/2008/layout/VerticalCurvedList"/>
    <dgm:cxn modelId="{40CEDC88-F940-4C76-9AB9-2E8D7E398366}" type="presParOf" srcId="{E897A655-A02F-4787-AC7B-91E96DE6ADC2}" destId="{EED12F38-B6E4-46C4-BCCD-F295DE4B84E2}" srcOrd="6" destOrd="0" presId="urn:microsoft.com/office/officeart/2008/layout/VerticalCurvedList"/>
    <dgm:cxn modelId="{5C122B92-CB9A-4494-950A-CF79BEF187DF}" type="presParOf" srcId="{EED12F38-B6E4-46C4-BCCD-F295DE4B84E2}" destId="{0CC9E902-A03D-44E4-9F43-182A63F8C038}" srcOrd="0" destOrd="0" presId="urn:microsoft.com/office/officeart/2008/layout/VerticalCurvedList"/>
    <dgm:cxn modelId="{897D407D-5FFD-4BCF-B568-B163138945DD}" type="presParOf" srcId="{E897A655-A02F-4787-AC7B-91E96DE6ADC2}" destId="{7A5CA38E-7BAF-4C34-8822-A4C8725A6867}" srcOrd="7" destOrd="0" presId="urn:microsoft.com/office/officeart/2008/layout/VerticalCurvedList"/>
    <dgm:cxn modelId="{EE834D7A-98EA-4D88-9329-1CD772CA6AE9}" type="presParOf" srcId="{E897A655-A02F-4787-AC7B-91E96DE6ADC2}" destId="{E99D90D7-5CE1-4B43-BB16-324D3A509006}" srcOrd="8" destOrd="0" presId="urn:microsoft.com/office/officeart/2008/layout/VerticalCurvedList"/>
    <dgm:cxn modelId="{AEC721D4-081D-4689-8223-EF1747578254}" type="presParOf" srcId="{E99D90D7-5CE1-4B43-BB16-324D3A509006}" destId="{C5994692-AB49-42AD-91EE-E9D053FE7A6D}" srcOrd="0" destOrd="0" presId="urn:microsoft.com/office/officeart/2008/layout/VerticalCurvedList"/>
    <dgm:cxn modelId="{DBA32F76-7B09-4A8C-9FC5-EE23E4865CE2}" type="presParOf" srcId="{E897A655-A02F-4787-AC7B-91E96DE6ADC2}" destId="{2D2E1EF0-82E2-4069-AE01-54743B7150F5}" srcOrd="9" destOrd="0" presId="urn:microsoft.com/office/officeart/2008/layout/VerticalCurvedList"/>
    <dgm:cxn modelId="{487BE555-D7F1-4544-A7AB-B0E60D061D72}" type="presParOf" srcId="{E897A655-A02F-4787-AC7B-91E96DE6ADC2}" destId="{AA88AA81-D822-4EE8-8D82-9ACBD5812EB0}" srcOrd="10" destOrd="0" presId="urn:microsoft.com/office/officeart/2008/layout/VerticalCurvedList"/>
    <dgm:cxn modelId="{E8454D22-E77C-4116-99F6-F33C5059817B}" type="presParOf" srcId="{AA88AA81-D822-4EE8-8D82-9ACBD5812EB0}" destId="{23C61BA5-B403-48B9-B1C4-273399E42E6C}"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1AEAAC-4135-40DA-99D0-573B909A943F}" type="doc">
      <dgm:prSet loTypeId="urn:microsoft.com/office/officeart/2008/layout/HorizontalMultiLevelHierarchy" loCatId="hierarchy" qsTypeId="urn:microsoft.com/office/officeart/2005/8/quickstyle/simple1" qsCatId="simple" csTypeId="urn:microsoft.com/office/officeart/2005/8/colors/colorful3" csCatId="colorful" phldr="1"/>
      <dgm:spPr/>
      <dgm:t>
        <a:bodyPr/>
        <a:lstStyle/>
        <a:p>
          <a:endParaRPr lang="en-US"/>
        </a:p>
      </dgm:t>
    </dgm:pt>
    <dgm:pt modelId="{FAC2C857-1FBD-463C-81C9-6A3C1C1B6F14}">
      <dgm:prSet phldrT="[Text]" custT="1"/>
      <dgm:spPr/>
      <dgm:t>
        <a:bodyPr/>
        <a:lstStyle/>
        <a:p>
          <a:r>
            <a:rPr lang="en-US" sz="2800" dirty="0"/>
            <a:t>Life Insurance</a:t>
          </a:r>
        </a:p>
      </dgm:t>
    </dgm:pt>
    <dgm:pt modelId="{93145E85-D08C-4AC6-942C-FD0D93DA5606}" type="parTrans" cxnId="{A8C106CA-2C5E-46B8-A0B4-3C6432DDAD5D}">
      <dgm:prSet/>
      <dgm:spPr/>
      <dgm:t>
        <a:bodyPr/>
        <a:lstStyle/>
        <a:p>
          <a:endParaRPr lang="en-US"/>
        </a:p>
      </dgm:t>
    </dgm:pt>
    <dgm:pt modelId="{6F8D2940-B4B5-437B-99FA-96591F3AEB06}" type="sibTrans" cxnId="{A8C106CA-2C5E-46B8-A0B4-3C6432DDAD5D}">
      <dgm:prSet/>
      <dgm:spPr/>
      <dgm:t>
        <a:bodyPr/>
        <a:lstStyle/>
        <a:p>
          <a:endParaRPr lang="en-US"/>
        </a:p>
      </dgm:t>
    </dgm:pt>
    <dgm:pt modelId="{4C4DFF2F-8568-420A-A91E-4F64171F45BC}">
      <dgm:prSet phldrT="[Text]" custT="1"/>
      <dgm:spPr/>
      <dgm:t>
        <a:bodyPr/>
        <a:lstStyle/>
        <a:p>
          <a:r>
            <a:rPr lang="en-US" sz="2800" b="0" dirty="0"/>
            <a:t>Term Insurance</a:t>
          </a:r>
        </a:p>
      </dgm:t>
    </dgm:pt>
    <dgm:pt modelId="{2328BFEE-B426-466C-AB23-5BC34BA638D3}" type="parTrans" cxnId="{FA542CDE-FD22-4B73-ACAF-D1F0C7AAF3EA}">
      <dgm:prSet/>
      <dgm:spPr/>
      <dgm:t>
        <a:bodyPr/>
        <a:lstStyle/>
        <a:p>
          <a:endParaRPr lang="en-US"/>
        </a:p>
      </dgm:t>
    </dgm:pt>
    <dgm:pt modelId="{19B69984-4331-4BAA-92AB-CA852E0A4FDD}" type="sibTrans" cxnId="{FA542CDE-FD22-4B73-ACAF-D1F0C7AAF3EA}">
      <dgm:prSet/>
      <dgm:spPr/>
      <dgm:t>
        <a:bodyPr/>
        <a:lstStyle/>
        <a:p>
          <a:endParaRPr lang="en-US"/>
        </a:p>
      </dgm:t>
    </dgm:pt>
    <dgm:pt modelId="{E5805A69-672B-4241-9FCA-F8094A74A545}">
      <dgm:prSet phldrT="[Text]" custT="1"/>
      <dgm:spPr/>
      <dgm:t>
        <a:bodyPr/>
        <a:lstStyle/>
        <a:p>
          <a:r>
            <a:rPr lang="en-IN" sz="2800" b="0" i="0" dirty="0"/>
            <a:t>Whole Life Insurance</a:t>
          </a:r>
          <a:endParaRPr lang="en-US" sz="2800" b="0" dirty="0"/>
        </a:p>
      </dgm:t>
    </dgm:pt>
    <dgm:pt modelId="{ED2BA78F-AC6A-4969-8326-3234567DC5B4}" type="parTrans" cxnId="{71E383B4-BC08-418B-9FBE-E3583C5B59BA}">
      <dgm:prSet/>
      <dgm:spPr/>
      <dgm:t>
        <a:bodyPr/>
        <a:lstStyle/>
        <a:p>
          <a:endParaRPr lang="en-US"/>
        </a:p>
      </dgm:t>
    </dgm:pt>
    <dgm:pt modelId="{E9CE0E5A-63FE-49F2-9577-5089BB09C4EE}" type="sibTrans" cxnId="{71E383B4-BC08-418B-9FBE-E3583C5B59BA}">
      <dgm:prSet/>
      <dgm:spPr/>
      <dgm:t>
        <a:bodyPr/>
        <a:lstStyle/>
        <a:p>
          <a:endParaRPr lang="en-US"/>
        </a:p>
      </dgm:t>
    </dgm:pt>
    <dgm:pt modelId="{03116427-EC92-4B11-9B56-CD513FF7EC88}">
      <dgm:prSet phldrT="[Text]" custT="1"/>
      <dgm:spPr/>
      <dgm:t>
        <a:bodyPr/>
        <a:lstStyle/>
        <a:p>
          <a:r>
            <a:rPr lang="en-IN" sz="2800" b="0" i="0" dirty="0"/>
            <a:t>Endowment Policy</a:t>
          </a:r>
          <a:endParaRPr lang="en-US" sz="2800" b="0" dirty="0"/>
        </a:p>
      </dgm:t>
    </dgm:pt>
    <dgm:pt modelId="{643E4121-E8A3-4A48-9F79-34A518C54DE3}" type="parTrans" cxnId="{C5A0B7D7-225F-4E3A-9E2D-8FB631930EB9}">
      <dgm:prSet/>
      <dgm:spPr/>
      <dgm:t>
        <a:bodyPr/>
        <a:lstStyle/>
        <a:p>
          <a:endParaRPr lang="en-US"/>
        </a:p>
      </dgm:t>
    </dgm:pt>
    <dgm:pt modelId="{BD5CA715-64CF-4118-98C8-35B6FAEBA900}" type="sibTrans" cxnId="{C5A0B7D7-225F-4E3A-9E2D-8FB631930EB9}">
      <dgm:prSet/>
      <dgm:spPr/>
      <dgm:t>
        <a:bodyPr/>
        <a:lstStyle/>
        <a:p>
          <a:endParaRPr lang="en-US"/>
        </a:p>
      </dgm:t>
    </dgm:pt>
    <dgm:pt modelId="{9076C04F-30A8-4803-941F-0706FA735F96}">
      <dgm:prSet phldrT="[Text]" custT="1"/>
      <dgm:spPr/>
      <dgm:t>
        <a:bodyPr/>
        <a:lstStyle/>
        <a:p>
          <a:r>
            <a:rPr lang="en-IN" sz="2800" b="0" i="0" dirty="0"/>
            <a:t>Unit-Linked Insurance Plans (ULIPs)</a:t>
          </a:r>
          <a:endParaRPr lang="en-US" sz="2800" b="0" dirty="0"/>
        </a:p>
      </dgm:t>
    </dgm:pt>
    <dgm:pt modelId="{82D22340-456E-4F06-983D-B386418C5FE8}" type="parTrans" cxnId="{0F4A380C-52D1-470C-B78D-201917D05C86}">
      <dgm:prSet/>
      <dgm:spPr/>
      <dgm:t>
        <a:bodyPr/>
        <a:lstStyle/>
        <a:p>
          <a:endParaRPr lang="en-US"/>
        </a:p>
      </dgm:t>
    </dgm:pt>
    <dgm:pt modelId="{8EEE9353-51C4-4937-B68E-45AD48787369}" type="sibTrans" cxnId="{0F4A380C-52D1-470C-B78D-201917D05C86}">
      <dgm:prSet/>
      <dgm:spPr/>
      <dgm:t>
        <a:bodyPr/>
        <a:lstStyle/>
        <a:p>
          <a:endParaRPr lang="en-US"/>
        </a:p>
      </dgm:t>
    </dgm:pt>
    <dgm:pt modelId="{5C989D9A-99BF-40DE-8760-0A9044B6FF4D}">
      <dgm:prSet phldrT="[Text]" custT="1"/>
      <dgm:spPr/>
      <dgm:t>
        <a:bodyPr/>
        <a:lstStyle/>
        <a:p>
          <a:r>
            <a:rPr lang="en-IN" sz="2800" b="0" i="0" dirty="0"/>
            <a:t>Money-Back Policy</a:t>
          </a:r>
          <a:endParaRPr lang="en-US" sz="2800" b="0" dirty="0"/>
        </a:p>
      </dgm:t>
    </dgm:pt>
    <dgm:pt modelId="{99DEC612-0323-48D8-8EAF-C595024FC709}" type="parTrans" cxnId="{558DFEEF-5F5A-4FAE-88C7-B8137637B0CE}">
      <dgm:prSet/>
      <dgm:spPr/>
      <dgm:t>
        <a:bodyPr/>
        <a:lstStyle/>
        <a:p>
          <a:endParaRPr lang="en-US"/>
        </a:p>
      </dgm:t>
    </dgm:pt>
    <dgm:pt modelId="{A92981C8-36A4-444C-B687-305139725221}" type="sibTrans" cxnId="{558DFEEF-5F5A-4FAE-88C7-B8137637B0CE}">
      <dgm:prSet/>
      <dgm:spPr/>
      <dgm:t>
        <a:bodyPr/>
        <a:lstStyle/>
        <a:p>
          <a:endParaRPr lang="en-US"/>
        </a:p>
      </dgm:t>
    </dgm:pt>
    <dgm:pt modelId="{A967E0AE-03C9-4B36-A84F-746FC725108A}">
      <dgm:prSet phldrT="[Text]" custT="1"/>
      <dgm:spPr/>
      <dgm:t>
        <a:bodyPr/>
        <a:lstStyle/>
        <a:p>
          <a:r>
            <a:rPr lang="en-IN" sz="2800" b="0" i="0" dirty="0"/>
            <a:t>Children's Insurance</a:t>
          </a:r>
          <a:endParaRPr lang="en-US" sz="2800" dirty="0"/>
        </a:p>
      </dgm:t>
    </dgm:pt>
    <dgm:pt modelId="{110EDB14-87B2-4112-9C8B-E917B3134B0B}" type="parTrans" cxnId="{56496536-643F-4D75-BD45-5A176E61FC1F}">
      <dgm:prSet/>
      <dgm:spPr/>
      <dgm:t>
        <a:bodyPr/>
        <a:lstStyle/>
        <a:p>
          <a:endParaRPr lang="en-US"/>
        </a:p>
      </dgm:t>
    </dgm:pt>
    <dgm:pt modelId="{3BA7C172-94D0-4273-A2B7-D885381FF7E8}" type="sibTrans" cxnId="{56496536-643F-4D75-BD45-5A176E61FC1F}">
      <dgm:prSet/>
      <dgm:spPr/>
      <dgm:t>
        <a:bodyPr/>
        <a:lstStyle/>
        <a:p>
          <a:endParaRPr lang="en-US"/>
        </a:p>
      </dgm:t>
    </dgm:pt>
    <dgm:pt modelId="{47DAFC51-CADC-44C8-A48E-4D558EF5FC6D}">
      <dgm:prSet phldrT="[Text]" custT="1"/>
      <dgm:spPr/>
      <dgm:t>
        <a:bodyPr/>
        <a:lstStyle/>
        <a:p>
          <a:r>
            <a:rPr lang="en-IN" sz="2800" b="0" i="0" dirty="0"/>
            <a:t>Retirement Plans</a:t>
          </a:r>
          <a:endParaRPr lang="en-US" sz="2800" dirty="0"/>
        </a:p>
      </dgm:t>
    </dgm:pt>
    <dgm:pt modelId="{8127F7D7-B9F6-4A7E-A460-F408CF89B853}" type="parTrans" cxnId="{5CA8F950-6E93-43C9-8DB2-9E7549CF357F}">
      <dgm:prSet/>
      <dgm:spPr/>
      <dgm:t>
        <a:bodyPr/>
        <a:lstStyle/>
        <a:p>
          <a:endParaRPr lang="en-US"/>
        </a:p>
      </dgm:t>
    </dgm:pt>
    <dgm:pt modelId="{F1C622CA-FF83-4D3F-95C1-A6D0DB6890A5}" type="sibTrans" cxnId="{5CA8F950-6E93-43C9-8DB2-9E7549CF357F}">
      <dgm:prSet/>
      <dgm:spPr/>
      <dgm:t>
        <a:bodyPr/>
        <a:lstStyle/>
        <a:p>
          <a:endParaRPr lang="en-US"/>
        </a:p>
      </dgm:t>
    </dgm:pt>
    <dgm:pt modelId="{192DC5C2-3D61-49F0-8382-5C24B7718A86}" type="pres">
      <dgm:prSet presAssocID="{BF1AEAAC-4135-40DA-99D0-573B909A943F}" presName="Name0" presStyleCnt="0">
        <dgm:presLayoutVars>
          <dgm:chPref val="1"/>
          <dgm:dir/>
          <dgm:animOne val="branch"/>
          <dgm:animLvl val="lvl"/>
          <dgm:resizeHandles val="exact"/>
        </dgm:presLayoutVars>
      </dgm:prSet>
      <dgm:spPr/>
    </dgm:pt>
    <dgm:pt modelId="{E5AFFB34-77DD-4CAF-8FC8-6E79FA7FEC9E}" type="pres">
      <dgm:prSet presAssocID="{FAC2C857-1FBD-463C-81C9-6A3C1C1B6F14}" presName="root1" presStyleCnt="0"/>
      <dgm:spPr/>
    </dgm:pt>
    <dgm:pt modelId="{4AC434EF-1906-4F66-A965-ACE8A057BE4D}" type="pres">
      <dgm:prSet presAssocID="{FAC2C857-1FBD-463C-81C9-6A3C1C1B6F14}" presName="LevelOneTextNode" presStyleLbl="node0" presStyleIdx="0" presStyleCnt="1">
        <dgm:presLayoutVars>
          <dgm:chPref val="3"/>
        </dgm:presLayoutVars>
      </dgm:prSet>
      <dgm:spPr/>
    </dgm:pt>
    <dgm:pt modelId="{547AFEFE-38BE-4E65-8C61-E57206B9C88F}" type="pres">
      <dgm:prSet presAssocID="{FAC2C857-1FBD-463C-81C9-6A3C1C1B6F14}" presName="level2hierChild" presStyleCnt="0"/>
      <dgm:spPr/>
    </dgm:pt>
    <dgm:pt modelId="{D762645A-AB79-4803-8BB0-100808D161A9}" type="pres">
      <dgm:prSet presAssocID="{2328BFEE-B426-466C-AB23-5BC34BA638D3}" presName="conn2-1" presStyleLbl="parChTrans1D2" presStyleIdx="0" presStyleCnt="7"/>
      <dgm:spPr/>
    </dgm:pt>
    <dgm:pt modelId="{16838FF8-3DB0-4D39-A72D-4A610D2B1A4A}" type="pres">
      <dgm:prSet presAssocID="{2328BFEE-B426-466C-AB23-5BC34BA638D3}" presName="connTx" presStyleLbl="parChTrans1D2" presStyleIdx="0" presStyleCnt="7"/>
      <dgm:spPr/>
    </dgm:pt>
    <dgm:pt modelId="{AC1981D0-DB28-46F0-890E-6BFA3CAF33B5}" type="pres">
      <dgm:prSet presAssocID="{4C4DFF2F-8568-420A-A91E-4F64171F45BC}" presName="root2" presStyleCnt="0"/>
      <dgm:spPr/>
    </dgm:pt>
    <dgm:pt modelId="{E4BF40DB-FFEA-419A-A25D-7D872AD14DC5}" type="pres">
      <dgm:prSet presAssocID="{4C4DFF2F-8568-420A-A91E-4F64171F45BC}" presName="LevelTwoTextNode" presStyleLbl="node2" presStyleIdx="0" presStyleCnt="7" custScaleX="140266">
        <dgm:presLayoutVars>
          <dgm:chPref val="3"/>
        </dgm:presLayoutVars>
      </dgm:prSet>
      <dgm:spPr/>
    </dgm:pt>
    <dgm:pt modelId="{74EAC984-BF0F-4F0D-9B34-FC8D8318F34B}" type="pres">
      <dgm:prSet presAssocID="{4C4DFF2F-8568-420A-A91E-4F64171F45BC}" presName="level3hierChild" presStyleCnt="0"/>
      <dgm:spPr/>
    </dgm:pt>
    <dgm:pt modelId="{2C52AF65-7EA8-473B-B0EA-3C41ECF0D911}" type="pres">
      <dgm:prSet presAssocID="{ED2BA78F-AC6A-4969-8326-3234567DC5B4}" presName="conn2-1" presStyleLbl="parChTrans1D2" presStyleIdx="1" presStyleCnt="7"/>
      <dgm:spPr/>
    </dgm:pt>
    <dgm:pt modelId="{26CF2914-E372-4131-981E-F5CE59C633D3}" type="pres">
      <dgm:prSet presAssocID="{ED2BA78F-AC6A-4969-8326-3234567DC5B4}" presName="connTx" presStyleLbl="parChTrans1D2" presStyleIdx="1" presStyleCnt="7"/>
      <dgm:spPr/>
    </dgm:pt>
    <dgm:pt modelId="{C25C8A0A-F872-4219-9B0E-1E6A6DFEAD15}" type="pres">
      <dgm:prSet presAssocID="{E5805A69-672B-4241-9FCA-F8094A74A545}" presName="root2" presStyleCnt="0"/>
      <dgm:spPr/>
    </dgm:pt>
    <dgm:pt modelId="{149AA204-22AF-45BF-A35F-B55F32A2D2BB}" type="pres">
      <dgm:prSet presAssocID="{E5805A69-672B-4241-9FCA-F8094A74A545}" presName="LevelTwoTextNode" presStyleLbl="node2" presStyleIdx="1" presStyleCnt="7" custScaleX="140266">
        <dgm:presLayoutVars>
          <dgm:chPref val="3"/>
        </dgm:presLayoutVars>
      </dgm:prSet>
      <dgm:spPr/>
    </dgm:pt>
    <dgm:pt modelId="{90D81531-289E-4505-BE6A-2044CD113591}" type="pres">
      <dgm:prSet presAssocID="{E5805A69-672B-4241-9FCA-F8094A74A545}" presName="level3hierChild" presStyleCnt="0"/>
      <dgm:spPr/>
    </dgm:pt>
    <dgm:pt modelId="{3694D593-EB77-4CB9-9B2E-E44E9A2ACC6D}" type="pres">
      <dgm:prSet presAssocID="{643E4121-E8A3-4A48-9F79-34A518C54DE3}" presName="conn2-1" presStyleLbl="parChTrans1D2" presStyleIdx="2" presStyleCnt="7"/>
      <dgm:spPr/>
    </dgm:pt>
    <dgm:pt modelId="{424B47B4-A043-4889-B3E1-A27510F456F2}" type="pres">
      <dgm:prSet presAssocID="{643E4121-E8A3-4A48-9F79-34A518C54DE3}" presName="connTx" presStyleLbl="parChTrans1D2" presStyleIdx="2" presStyleCnt="7"/>
      <dgm:spPr/>
    </dgm:pt>
    <dgm:pt modelId="{8BB1C038-B235-4A94-990B-01F89F7A4230}" type="pres">
      <dgm:prSet presAssocID="{03116427-EC92-4B11-9B56-CD513FF7EC88}" presName="root2" presStyleCnt="0"/>
      <dgm:spPr/>
    </dgm:pt>
    <dgm:pt modelId="{248D16B3-26E7-45F4-BB9D-7FD96AF3E486}" type="pres">
      <dgm:prSet presAssocID="{03116427-EC92-4B11-9B56-CD513FF7EC88}" presName="LevelTwoTextNode" presStyleLbl="node2" presStyleIdx="2" presStyleCnt="7" custScaleX="140266">
        <dgm:presLayoutVars>
          <dgm:chPref val="3"/>
        </dgm:presLayoutVars>
      </dgm:prSet>
      <dgm:spPr/>
    </dgm:pt>
    <dgm:pt modelId="{03DE1E45-A5A7-42CF-BF66-DE7BAA786BF9}" type="pres">
      <dgm:prSet presAssocID="{03116427-EC92-4B11-9B56-CD513FF7EC88}" presName="level3hierChild" presStyleCnt="0"/>
      <dgm:spPr/>
    </dgm:pt>
    <dgm:pt modelId="{F70B2577-1D35-42E5-AC14-5AB8C2C0462D}" type="pres">
      <dgm:prSet presAssocID="{82D22340-456E-4F06-983D-B386418C5FE8}" presName="conn2-1" presStyleLbl="parChTrans1D2" presStyleIdx="3" presStyleCnt="7"/>
      <dgm:spPr/>
    </dgm:pt>
    <dgm:pt modelId="{8AEFAF91-E6C4-4DAD-903E-DA647604BEF0}" type="pres">
      <dgm:prSet presAssocID="{82D22340-456E-4F06-983D-B386418C5FE8}" presName="connTx" presStyleLbl="parChTrans1D2" presStyleIdx="3" presStyleCnt="7"/>
      <dgm:spPr/>
    </dgm:pt>
    <dgm:pt modelId="{143284CB-E2D2-4A8F-A0CB-BF2A92233EED}" type="pres">
      <dgm:prSet presAssocID="{9076C04F-30A8-4803-941F-0706FA735F96}" presName="root2" presStyleCnt="0"/>
      <dgm:spPr/>
    </dgm:pt>
    <dgm:pt modelId="{2BBDD5A8-DDAF-44ED-93CB-086052BFEE37}" type="pres">
      <dgm:prSet presAssocID="{9076C04F-30A8-4803-941F-0706FA735F96}" presName="LevelTwoTextNode" presStyleLbl="node2" presStyleIdx="3" presStyleCnt="7" custScaleX="140266">
        <dgm:presLayoutVars>
          <dgm:chPref val="3"/>
        </dgm:presLayoutVars>
      </dgm:prSet>
      <dgm:spPr/>
    </dgm:pt>
    <dgm:pt modelId="{B2E20A51-09B2-4156-8554-6344EF290CE7}" type="pres">
      <dgm:prSet presAssocID="{9076C04F-30A8-4803-941F-0706FA735F96}" presName="level3hierChild" presStyleCnt="0"/>
      <dgm:spPr/>
    </dgm:pt>
    <dgm:pt modelId="{83F9C73D-8641-4ACD-AE0A-CB5CE828DB1D}" type="pres">
      <dgm:prSet presAssocID="{99DEC612-0323-48D8-8EAF-C595024FC709}" presName="conn2-1" presStyleLbl="parChTrans1D2" presStyleIdx="4" presStyleCnt="7"/>
      <dgm:spPr/>
    </dgm:pt>
    <dgm:pt modelId="{B39AA854-88C2-41A6-B96C-998AD542D0D7}" type="pres">
      <dgm:prSet presAssocID="{99DEC612-0323-48D8-8EAF-C595024FC709}" presName="connTx" presStyleLbl="parChTrans1D2" presStyleIdx="4" presStyleCnt="7"/>
      <dgm:spPr/>
    </dgm:pt>
    <dgm:pt modelId="{61BBB879-FA19-4A2B-AEEF-0C999C624F77}" type="pres">
      <dgm:prSet presAssocID="{5C989D9A-99BF-40DE-8760-0A9044B6FF4D}" presName="root2" presStyleCnt="0"/>
      <dgm:spPr/>
    </dgm:pt>
    <dgm:pt modelId="{8001DC4D-2C61-4578-BEBE-E853A3A7C941}" type="pres">
      <dgm:prSet presAssocID="{5C989D9A-99BF-40DE-8760-0A9044B6FF4D}" presName="LevelTwoTextNode" presStyleLbl="node2" presStyleIdx="4" presStyleCnt="7" custScaleX="140266">
        <dgm:presLayoutVars>
          <dgm:chPref val="3"/>
        </dgm:presLayoutVars>
      </dgm:prSet>
      <dgm:spPr/>
    </dgm:pt>
    <dgm:pt modelId="{B067B95C-C0AC-41D2-B7EF-AF5599100287}" type="pres">
      <dgm:prSet presAssocID="{5C989D9A-99BF-40DE-8760-0A9044B6FF4D}" presName="level3hierChild" presStyleCnt="0"/>
      <dgm:spPr/>
    </dgm:pt>
    <dgm:pt modelId="{893B6892-6119-4EAF-98B8-A1074A032873}" type="pres">
      <dgm:prSet presAssocID="{110EDB14-87B2-4112-9C8B-E917B3134B0B}" presName="conn2-1" presStyleLbl="parChTrans1D2" presStyleIdx="5" presStyleCnt="7"/>
      <dgm:spPr/>
    </dgm:pt>
    <dgm:pt modelId="{7300F4A0-ABC0-403A-BFA9-6D7DCEFEB556}" type="pres">
      <dgm:prSet presAssocID="{110EDB14-87B2-4112-9C8B-E917B3134B0B}" presName="connTx" presStyleLbl="parChTrans1D2" presStyleIdx="5" presStyleCnt="7"/>
      <dgm:spPr/>
    </dgm:pt>
    <dgm:pt modelId="{20391969-31F9-4E7D-9C56-B32AC61D7F4C}" type="pres">
      <dgm:prSet presAssocID="{A967E0AE-03C9-4B36-A84F-746FC725108A}" presName="root2" presStyleCnt="0"/>
      <dgm:spPr/>
    </dgm:pt>
    <dgm:pt modelId="{344F5AC7-8C6F-4D02-AD99-2A0E4E6ED4A2}" type="pres">
      <dgm:prSet presAssocID="{A967E0AE-03C9-4B36-A84F-746FC725108A}" presName="LevelTwoTextNode" presStyleLbl="node2" presStyleIdx="5" presStyleCnt="7" custScaleX="140266">
        <dgm:presLayoutVars>
          <dgm:chPref val="3"/>
        </dgm:presLayoutVars>
      </dgm:prSet>
      <dgm:spPr/>
    </dgm:pt>
    <dgm:pt modelId="{88F3B59E-7139-4BBD-A936-3B503C0ED9BE}" type="pres">
      <dgm:prSet presAssocID="{A967E0AE-03C9-4B36-A84F-746FC725108A}" presName="level3hierChild" presStyleCnt="0"/>
      <dgm:spPr/>
    </dgm:pt>
    <dgm:pt modelId="{38B17016-14FD-490B-A8FB-6AEDB0897734}" type="pres">
      <dgm:prSet presAssocID="{8127F7D7-B9F6-4A7E-A460-F408CF89B853}" presName="conn2-1" presStyleLbl="parChTrans1D2" presStyleIdx="6" presStyleCnt="7"/>
      <dgm:spPr/>
    </dgm:pt>
    <dgm:pt modelId="{343FE7B9-9316-4D11-AC91-0715B2669CD9}" type="pres">
      <dgm:prSet presAssocID="{8127F7D7-B9F6-4A7E-A460-F408CF89B853}" presName="connTx" presStyleLbl="parChTrans1D2" presStyleIdx="6" presStyleCnt="7"/>
      <dgm:spPr/>
    </dgm:pt>
    <dgm:pt modelId="{84B09CB2-B9B9-4BB5-BAC8-AD143DA87DBD}" type="pres">
      <dgm:prSet presAssocID="{47DAFC51-CADC-44C8-A48E-4D558EF5FC6D}" presName="root2" presStyleCnt="0"/>
      <dgm:spPr/>
    </dgm:pt>
    <dgm:pt modelId="{C1570DCA-1678-492E-8024-80AB2D48A3A8}" type="pres">
      <dgm:prSet presAssocID="{47DAFC51-CADC-44C8-A48E-4D558EF5FC6D}" presName="LevelTwoTextNode" presStyleLbl="node2" presStyleIdx="6" presStyleCnt="7" custScaleX="140266">
        <dgm:presLayoutVars>
          <dgm:chPref val="3"/>
        </dgm:presLayoutVars>
      </dgm:prSet>
      <dgm:spPr/>
    </dgm:pt>
    <dgm:pt modelId="{53EC409D-D067-4967-9B1C-5896C74EB825}" type="pres">
      <dgm:prSet presAssocID="{47DAFC51-CADC-44C8-A48E-4D558EF5FC6D}" presName="level3hierChild" presStyleCnt="0"/>
      <dgm:spPr/>
    </dgm:pt>
  </dgm:ptLst>
  <dgm:cxnLst>
    <dgm:cxn modelId="{B1C10300-F2DE-4C63-9A22-965FD0C5FAC0}" type="presOf" srcId="{99DEC612-0323-48D8-8EAF-C595024FC709}" destId="{83F9C73D-8641-4ACD-AE0A-CB5CE828DB1D}" srcOrd="0" destOrd="0" presId="urn:microsoft.com/office/officeart/2008/layout/HorizontalMultiLevelHierarchy"/>
    <dgm:cxn modelId="{CE594A01-4C37-417E-A388-F37EE07EC236}" type="presOf" srcId="{110EDB14-87B2-4112-9C8B-E917B3134B0B}" destId="{893B6892-6119-4EAF-98B8-A1074A032873}" srcOrd="0" destOrd="0" presId="urn:microsoft.com/office/officeart/2008/layout/HorizontalMultiLevelHierarchy"/>
    <dgm:cxn modelId="{0F4A380C-52D1-470C-B78D-201917D05C86}" srcId="{FAC2C857-1FBD-463C-81C9-6A3C1C1B6F14}" destId="{9076C04F-30A8-4803-941F-0706FA735F96}" srcOrd="3" destOrd="0" parTransId="{82D22340-456E-4F06-983D-B386418C5FE8}" sibTransId="{8EEE9353-51C4-4937-B68E-45AD48787369}"/>
    <dgm:cxn modelId="{16516312-83A7-40CD-87F4-3F372061AC7A}" type="presOf" srcId="{2328BFEE-B426-466C-AB23-5BC34BA638D3}" destId="{16838FF8-3DB0-4D39-A72D-4A610D2B1A4A}" srcOrd="1" destOrd="0" presId="urn:microsoft.com/office/officeart/2008/layout/HorizontalMultiLevelHierarchy"/>
    <dgm:cxn modelId="{05F66919-89EE-4CB9-857B-D36457DC81FF}" type="presOf" srcId="{FAC2C857-1FBD-463C-81C9-6A3C1C1B6F14}" destId="{4AC434EF-1906-4F66-A965-ACE8A057BE4D}" srcOrd="0" destOrd="0" presId="urn:microsoft.com/office/officeart/2008/layout/HorizontalMultiLevelHierarchy"/>
    <dgm:cxn modelId="{B3C76321-62E0-4270-80B7-69D550D2E1C1}" type="presOf" srcId="{110EDB14-87B2-4112-9C8B-E917B3134B0B}" destId="{7300F4A0-ABC0-403A-BFA9-6D7DCEFEB556}" srcOrd="1" destOrd="0" presId="urn:microsoft.com/office/officeart/2008/layout/HorizontalMultiLevelHierarchy"/>
    <dgm:cxn modelId="{C83BEE29-627F-40FF-BFD7-BB9B25832641}" type="presOf" srcId="{47DAFC51-CADC-44C8-A48E-4D558EF5FC6D}" destId="{C1570DCA-1678-492E-8024-80AB2D48A3A8}" srcOrd="0" destOrd="0" presId="urn:microsoft.com/office/officeart/2008/layout/HorizontalMultiLevelHierarchy"/>
    <dgm:cxn modelId="{39D5012A-98B6-4713-A42F-1EAD4DF5954F}" type="presOf" srcId="{E5805A69-672B-4241-9FCA-F8094A74A545}" destId="{149AA204-22AF-45BF-A35F-B55F32A2D2BB}" srcOrd="0" destOrd="0" presId="urn:microsoft.com/office/officeart/2008/layout/HorizontalMultiLevelHierarchy"/>
    <dgm:cxn modelId="{56496536-643F-4D75-BD45-5A176E61FC1F}" srcId="{FAC2C857-1FBD-463C-81C9-6A3C1C1B6F14}" destId="{A967E0AE-03C9-4B36-A84F-746FC725108A}" srcOrd="5" destOrd="0" parTransId="{110EDB14-87B2-4112-9C8B-E917B3134B0B}" sibTransId="{3BA7C172-94D0-4273-A2B7-D885381FF7E8}"/>
    <dgm:cxn modelId="{A7F4413F-E937-495A-BAF1-F0AB6F6F5B98}" type="presOf" srcId="{8127F7D7-B9F6-4A7E-A460-F408CF89B853}" destId="{343FE7B9-9316-4D11-AC91-0715B2669CD9}" srcOrd="1" destOrd="0" presId="urn:microsoft.com/office/officeart/2008/layout/HorizontalMultiLevelHierarchy"/>
    <dgm:cxn modelId="{110B295B-5745-40C2-BB07-03EA81AA1695}" type="presOf" srcId="{9076C04F-30A8-4803-941F-0706FA735F96}" destId="{2BBDD5A8-DDAF-44ED-93CB-086052BFEE37}" srcOrd="0" destOrd="0" presId="urn:microsoft.com/office/officeart/2008/layout/HorizontalMultiLevelHierarchy"/>
    <dgm:cxn modelId="{4CC1FC43-3F44-4569-BD99-877B15363BD1}" type="presOf" srcId="{ED2BA78F-AC6A-4969-8326-3234567DC5B4}" destId="{26CF2914-E372-4131-981E-F5CE59C633D3}" srcOrd="1" destOrd="0" presId="urn:microsoft.com/office/officeart/2008/layout/HorizontalMultiLevelHierarchy"/>
    <dgm:cxn modelId="{D77D0A6B-1836-4FDB-A1CA-D5DC4663307A}" type="presOf" srcId="{A967E0AE-03C9-4B36-A84F-746FC725108A}" destId="{344F5AC7-8C6F-4D02-AD99-2A0E4E6ED4A2}" srcOrd="0" destOrd="0" presId="urn:microsoft.com/office/officeart/2008/layout/HorizontalMultiLevelHierarchy"/>
    <dgm:cxn modelId="{A344AE4F-FB8E-44D3-B36D-C481ECE20761}" type="presOf" srcId="{8127F7D7-B9F6-4A7E-A460-F408CF89B853}" destId="{38B17016-14FD-490B-A8FB-6AEDB0897734}" srcOrd="0" destOrd="0" presId="urn:microsoft.com/office/officeart/2008/layout/HorizontalMultiLevelHierarchy"/>
    <dgm:cxn modelId="{5CA8F950-6E93-43C9-8DB2-9E7549CF357F}" srcId="{FAC2C857-1FBD-463C-81C9-6A3C1C1B6F14}" destId="{47DAFC51-CADC-44C8-A48E-4D558EF5FC6D}" srcOrd="6" destOrd="0" parTransId="{8127F7D7-B9F6-4A7E-A460-F408CF89B853}" sibTransId="{F1C622CA-FF83-4D3F-95C1-A6D0DB6890A5}"/>
    <dgm:cxn modelId="{3527565A-EF65-45A8-BD4B-74A82F97EE18}" type="presOf" srcId="{99DEC612-0323-48D8-8EAF-C595024FC709}" destId="{B39AA854-88C2-41A6-B96C-998AD542D0D7}" srcOrd="1" destOrd="0" presId="urn:microsoft.com/office/officeart/2008/layout/HorizontalMultiLevelHierarchy"/>
    <dgm:cxn modelId="{F882E482-20F2-41D2-8009-C86AD1407042}" type="presOf" srcId="{82D22340-456E-4F06-983D-B386418C5FE8}" destId="{F70B2577-1D35-42E5-AC14-5AB8C2C0462D}" srcOrd="0" destOrd="0" presId="urn:microsoft.com/office/officeart/2008/layout/HorizontalMultiLevelHierarchy"/>
    <dgm:cxn modelId="{3BDC9988-7EB5-4680-A991-C99CCB256032}" type="presOf" srcId="{643E4121-E8A3-4A48-9F79-34A518C54DE3}" destId="{3694D593-EB77-4CB9-9B2E-E44E9A2ACC6D}" srcOrd="0" destOrd="0" presId="urn:microsoft.com/office/officeart/2008/layout/HorizontalMultiLevelHierarchy"/>
    <dgm:cxn modelId="{0CB3E198-4F68-4822-A625-093B8CA003B3}" type="presOf" srcId="{643E4121-E8A3-4A48-9F79-34A518C54DE3}" destId="{424B47B4-A043-4889-B3E1-A27510F456F2}" srcOrd="1" destOrd="0" presId="urn:microsoft.com/office/officeart/2008/layout/HorizontalMultiLevelHierarchy"/>
    <dgm:cxn modelId="{DA807EB3-1027-4B75-B17E-A1BE230A173C}" type="presOf" srcId="{03116427-EC92-4B11-9B56-CD513FF7EC88}" destId="{248D16B3-26E7-45F4-BB9D-7FD96AF3E486}" srcOrd="0" destOrd="0" presId="urn:microsoft.com/office/officeart/2008/layout/HorizontalMultiLevelHierarchy"/>
    <dgm:cxn modelId="{286C65B4-276B-410F-BAA3-FD8283E3C84B}" type="presOf" srcId="{5C989D9A-99BF-40DE-8760-0A9044B6FF4D}" destId="{8001DC4D-2C61-4578-BEBE-E853A3A7C941}" srcOrd="0" destOrd="0" presId="urn:microsoft.com/office/officeart/2008/layout/HorizontalMultiLevelHierarchy"/>
    <dgm:cxn modelId="{71E383B4-BC08-418B-9FBE-E3583C5B59BA}" srcId="{FAC2C857-1FBD-463C-81C9-6A3C1C1B6F14}" destId="{E5805A69-672B-4241-9FCA-F8094A74A545}" srcOrd="1" destOrd="0" parTransId="{ED2BA78F-AC6A-4969-8326-3234567DC5B4}" sibTransId="{E9CE0E5A-63FE-49F2-9577-5089BB09C4EE}"/>
    <dgm:cxn modelId="{C6D7EBB4-A63E-4331-8218-BE6499CCE9F3}" type="presOf" srcId="{BF1AEAAC-4135-40DA-99D0-573B909A943F}" destId="{192DC5C2-3D61-49F0-8382-5C24B7718A86}" srcOrd="0" destOrd="0" presId="urn:microsoft.com/office/officeart/2008/layout/HorizontalMultiLevelHierarchy"/>
    <dgm:cxn modelId="{FA0EA8B8-A357-4BD4-893B-577561CB3F36}" type="presOf" srcId="{82D22340-456E-4F06-983D-B386418C5FE8}" destId="{8AEFAF91-E6C4-4DAD-903E-DA647604BEF0}" srcOrd="1" destOrd="0" presId="urn:microsoft.com/office/officeart/2008/layout/HorizontalMultiLevelHierarchy"/>
    <dgm:cxn modelId="{3481A0BE-89BF-4451-8958-A557F1E71D3D}" type="presOf" srcId="{ED2BA78F-AC6A-4969-8326-3234567DC5B4}" destId="{2C52AF65-7EA8-473B-B0EA-3C41ECF0D911}" srcOrd="0" destOrd="0" presId="urn:microsoft.com/office/officeart/2008/layout/HorizontalMultiLevelHierarchy"/>
    <dgm:cxn modelId="{8628F2C2-3198-4B13-A5E0-E815B6D4CFE9}" type="presOf" srcId="{4C4DFF2F-8568-420A-A91E-4F64171F45BC}" destId="{E4BF40DB-FFEA-419A-A25D-7D872AD14DC5}" srcOrd="0" destOrd="0" presId="urn:microsoft.com/office/officeart/2008/layout/HorizontalMultiLevelHierarchy"/>
    <dgm:cxn modelId="{A8C106CA-2C5E-46B8-A0B4-3C6432DDAD5D}" srcId="{BF1AEAAC-4135-40DA-99D0-573B909A943F}" destId="{FAC2C857-1FBD-463C-81C9-6A3C1C1B6F14}" srcOrd="0" destOrd="0" parTransId="{93145E85-D08C-4AC6-942C-FD0D93DA5606}" sibTransId="{6F8D2940-B4B5-437B-99FA-96591F3AEB06}"/>
    <dgm:cxn modelId="{C5A0B7D7-225F-4E3A-9E2D-8FB631930EB9}" srcId="{FAC2C857-1FBD-463C-81C9-6A3C1C1B6F14}" destId="{03116427-EC92-4B11-9B56-CD513FF7EC88}" srcOrd="2" destOrd="0" parTransId="{643E4121-E8A3-4A48-9F79-34A518C54DE3}" sibTransId="{BD5CA715-64CF-4118-98C8-35B6FAEBA900}"/>
    <dgm:cxn modelId="{FA542CDE-FD22-4B73-ACAF-D1F0C7AAF3EA}" srcId="{FAC2C857-1FBD-463C-81C9-6A3C1C1B6F14}" destId="{4C4DFF2F-8568-420A-A91E-4F64171F45BC}" srcOrd="0" destOrd="0" parTransId="{2328BFEE-B426-466C-AB23-5BC34BA638D3}" sibTransId="{19B69984-4331-4BAA-92AB-CA852E0A4FDD}"/>
    <dgm:cxn modelId="{558DFEEF-5F5A-4FAE-88C7-B8137637B0CE}" srcId="{FAC2C857-1FBD-463C-81C9-6A3C1C1B6F14}" destId="{5C989D9A-99BF-40DE-8760-0A9044B6FF4D}" srcOrd="4" destOrd="0" parTransId="{99DEC612-0323-48D8-8EAF-C595024FC709}" sibTransId="{A92981C8-36A4-444C-B687-305139725221}"/>
    <dgm:cxn modelId="{04569BFC-5E25-4F55-8B1F-3A7C20D88D01}" type="presOf" srcId="{2328BFEE-B426-466C-AB23-5BC34BA638D3}" destId="{D762645A-AB79-4803-8BB0-100808D161A9}" srcOrd="0" destOrd="0" presId="urn:microsoft.com/office/officeart/2008/layout/HorizontalMultiLevelHierarchy"/>
    <dgm:cxn modelId="{00B8A530-1317-48D7-987D-395263170E71}" type="presParOf" srcId="{192DC5C2-3D61-49F0-8382-5C24B7718A86}" destId="{E5AFFB34-77DD-4CAF-8FC8-6E79FA7FEC9E}" srcOrd="0" destOrd="0" presId="urn:microsoft.com/office/officeart/2008/layout/HorizontalMultiLevelHierarchy"/>
    <dgm:cxn modelId="{B69BD2E1-0378-46A4-86D3-E21441C2386B}" type="presParOf" srcId="{E5AFFB34-77DD-4CAF-8FC8-6E79FA7FEC9E}" destId="{4AC434EF-1906-4F66-A965-ACE8A057BE4D}" srcOrd="0" destOrd="0" presId="urn:microsoft.com/office/officeart/2008/layout/HorizontalMultiLevelHierarchy"/>
    <dgm:cxn modelId="{A2A406B0-3A06-4218-B2B2-2733B3937AD3}" type="presParOf" srcId="{E5AFFB34-77DD-4CAF-8FC8-6E79FA7FEC9E}" destId="{547AFEFE-38BE-4E65-8C61-E57206B9C88F}" srcOrd="1" destOrd="0" presId="urn:microsoft.com/office/officeart/2008/layout/HorizontalMultiLevelHierarchy"/>
    <dgm:cxn modelId="{5C7F841A-8A96-48D7-B51A-C8A3601C34D8}" type="presParOf" srcId="{547AFEFE-38BE-4E65-8C61-E57206B9C88F}" destId="{D762645A-AB79-4803-8BB0-100808D161A9}" srcOrd="0" destOrd="0" presId="urn:microsoft.com/office/officeart/2008/layout/HorizontalMultiLevelHierarchy"/>
    <dgm:cxn modelId="{3A683A1A-4684-4C58-A4EE-C342F51AACC4}" type="presParOf" srcId="{D762645A-AB79-4803-8BB0-100808D161A9}" destId="{16838FF8-3DB0-4D39-A72D-4A610D2B1A4A}" srcOrd="0" destOrd="0" presId="urn:microsoft.com/office/officeart/2008/layout/HorizontalMultiLevelHierarchy"/>
    <dgm:cxn modelId="{AAD88C0E-220E-406F-9290-6BA31B8F8513}" type="presParOf" srcId="{547AFEFE-38BE-4E65-8C61-E57206B9C88F}" destId="{AC1981D0-DB28-46F0-890E-6BFA3CAF33B5}" srcOrd="1" destOrd="0" presId="urn:microsoft.com/office/officeart/2008/layout/HorizontalMultiLevelHierarchy"/>
    <dgm:cxn modelId="{A0184301-A2A1-4A66-97FF-365B34849B40}" type="presParOf" srcId="{AC1981D0-DB28-46F0-890E-6BFA3CAF33B5}" destId="{E4BF40DB-FFEA-419A-A25D-7D872AD14DC5}" srcOrd="0" destOrd="0" presId="urn:microsoft.com/office/officeart/2008/layout/HorizontalMultiLevelHierarchy"/>
    <dgm:cxn modelId="{ACD462CF-B9E9-4812-B161-FC97FDB0AB0F}" type="presParOf" srcId="{AC1981D0-DB28-46F0-890E-6BFA3CAF33B5}" destId="{74EAC984-BF0F-4F0D-9B34-FC8D8318F34B}" srcOrd="1" destOrd="0" presId="urn:microsoft.com/office/officeart/2008/layout/HorizontalMultiLevelHierarchy"/>
    <dgm:cxn modelId="{8B642F2F-48C4-4C08-B6FE-6C57EDCEFD80}" type="presParOf" srcId="{547AFEFE-38BE-4E65-8C61-E57206B9C88F}" destId="{2C52AF65-7EA8-473B-B0EA-3C41ECF0D911}" srcOrd="2" destOrd="0" presId="urn:microsoft.com/office/officeart/2008/layout/HorizontalMultiLevelHierarchy"/>
    <dgm:cxn modelId="{13233312-A7F0-442A-9B58-98F2FCB83FB9}" type="presParOf" srcId="{2C52AF65-7EA8-473B-B0EA-3C41ECF0D911}" destId="{26CF2914-E372-4131-981E-F5CE59C633D3}" srcOrd="0" destOrd="0" presId="urn:microsoft.com/office/officeart/2008/layout/HorizontalMultiLevelHierarchy"/>
    <dgm:cxn modelId="{71AA9889-2186-49C4-9261-91ABD7FC069B}" type="presParOf" srcId="{547AFEFE-38BE-4E65-8C61-E57206B9C88F}" destId="{C25C8A0A-F872-4219-9B0E-1E6A6DFEAD15}" srcOrd="3" destOrd="0" presId="urn:microsoft.com/office/officeart/2008/layout/HorizontalMultiLevelHierarchy"/>
    <dgm:cxn modelId="{F2F5D80F-91CB-42B9-9A4E-2CD02E132FE9}" type="presParOf" srcId="{C25C8A0A-F872-4219-9B0E-1E6A6DFEAD15}" destId="{149AA204-22AF-45BF-A35F-B55F32A2D2BB}" srcOrd="0" destOrd="0" presId="urn:microsoft.com/office/officeart/2008/layout/HorizontalMultiLevelHierarchy"/>
    <dgm:cxn modelId="{822ED174-10E2-49FF-8CB3-3187868F83DE}" type="presParOf" srcId="{C25C8A0A-F872-4219-9B0E-1E6A6DFEAD15}" destId="{90D81531-289E-4505-BE6A-2044CD113591}" srcOrd="1" destOrd="0" presId="urn:microsoft.com/office/officeart/2008/layout/HorizontalMultiLevelHierarchy"/>
    <dgm:cxn modelId="{B556A42C-0AC6-4A58-BF27-E4B1FA51B880}" type="presParOf" srcId="{547AFEFE-38BE-4E65-8C61-E57206B9C88F}" destId="{3694D593-EB77-4CB9-9B2E-E44E9A2ACC6D}" srcOrd="4" destOrd="0" presId="urn:microsoft.com/office/officeart/2008/layout/HorizontalMultiLevelHierarchy"/>
    <dgm:cxn modelId="{F74BD235-A2BA-41A9-9F9A-893DB6EC034F}" type="presParOf" srcId="{3694D593-EB77-4CB9-9B2E-E44E9A2ACC6D}" destId="{424B47B4-A043-4889-B3E1-A27510F456F2}" srcOrd="0" destOrd="0" presId="urn:microsoft.com/office/officeart/2008/layout/HorizontalMultiLevelHierarchy"/>
    <dgm:cxn modelId="{7074F56B-E8F0-413C-AEA4-9629F8D900CA}" type="presParOf" srcId="{547AFEFE-38BE-4E65-8C61-E57206B9C88F}" destId="{8BB1C038-B235-4A94-990B-01F89F7A4230}" srcOrd="5" destOrd="0" presId="urn:microsoft.com/office/officeart/2008/layout/HorizontalMultiLevelHierarchy"/>
    <dgm:cxn modelId="{BCF95D35-3BC8-4BA3-835F-8B24CFB72DC8}" type="presParOf" srcId="{8BB1C038-B235-4A94-990B-01F89F7A4230}" destId="{248D16B3-26E7-45F4-BB9D-7FD96AF3E486}" srcOrd="0" destOrd="0" presId="urn:microsoft.com/office/officeart/2008/layout/HorizontalMultiLevelHierarchy"/>
    <dgm:cxn modelId="{9C0AF5EB-6F20-408E-B201-35261133917F}" type="presParOf" srcId="{8BB1C038-B235-4A94-990B-01F89F7A4230}" destId="{03DE1E45-A5A7-42CF-BF66-DE7BAA786BF9}" srcOrd="1" destOrd="0" presId="urn:microsoft.com/office/officeart/2008/layout/HorizontalMultiLevelHierarchy"/>
    <dgm:cxn modelId="{F97921A4-2E4F-475D-BA9E-8D3CAF8DFAC7}" type="presParOf" srcId="{547AFEFE-38BE-4E65-8C61-E57206B9C88F}" destId="{F70B2577-1D35-42E5-AC14-5AB8C2C0462D}" srcOrd="6" destOrd="0" presId="urn:microsoft.com/office/officeart/2008/layout/HorizontalMultiLevelHierarchy"/>
    <dgm:cxn modelId="{2704390D-F2A3-4573-9D5D-7095824C985C}" type="presParOf" srcId="{F70B2577-1D35-42E5-AC14-5AB8C2C0462D}" destId="{8AEFAF91-E6C4-4DAD-903E-DA647604BEF0}" srcOrd="0" destOrd="0" presId="urn:microsoft.com/office/officeart/2008/layout/HorizontalMultiLevelHierarchy"/>
    <dgm:cxn modelId="{19BC138E-D2F9-46A2-9F6D-9781643D7DC9}" type="presParOf" srcId="{547AFEFE-38BE-4E65-8C61-E57206B9C88F}" destId="{143284CB-E2D2-4A8F-A0CB-BF2A92233EED}" srcOrd="7" destOrd="0" presId="urn:microsoft.com/office/officeart/2008/layout/HorizontalMultiLevelHierarchy"/>
    <dgm:cxn modelId="{C55B57F2-115B-43D6-AD68-B3A798E63C0F}" type="presParOf" srcId="{143284CB-E2D2-4A8F-A0CB-BF2A92233EED}" destId="{2BBDD5A8-DDAF-44ED-93CB-086052BFEE37}" srcOrd="0" destOrd="0" presId="urn:microsoft.com/office/officeart/2008/layout/HorizontalMultiLevelHierarchy"/>
    <dgm:cxn modelId="{3EA0532A-4DB8-4AD5-A56F-70E66D097FF3}" type="presParOf" srcId="{143284CB-E2D2-4A8F-A0CB-BF2A92233EED}" destId="{B2E20A51-09B2-4156-8554-6344EF290CE7}" srcOrd="1" destOrd="0" presId="urn:microsoft.com/office/officeart/2008/layout/HorizontalMultiLevelHierarchy"/>
    <dgm:cxn modelId="{E0DE56B0-7762-42FB-809D-7E8799990545}" type="presParOf" srcId="{547AFEFE-38BE-4E65-8C61-E57206B9C88F}" destId="{83F9C73D-8641-4ACD-AE0A-CB5CE828DB1D}" srcOrd="8" destOrd="0" presId="urn:microsoft.com/office/officeart/2008/layout/HorizontalMultiLevelHierarchy"/>
    <dgm:cxn modelId="{E5C8FB57-1EA2-4430-B405-E02488F45E32}" type="presParOf" srcId="{83F9C73D-8641-4ACD-AE0A-CB5CE828DB1D}" destId="{B39AA854-88C2-41A6-B96C-998AD542D0D7}" srcOrd="0" destOrd="0" presId="urn:microsoft.com/office/officeart/2008/layout/HorizontalMultiLevelHierarchy"/>
    <dgm:cxn modelId="{0A25665D-5845-453E-9373-42475597B6B3}" type="presParOf" srcId="{547AFEFE-38BE-4E65-8C61-E57206B9C88F}" destId="{61BBB879-FA19-4A2B-AEEF-0C999C624F77}" srcOrd="9" destOrd="0" presId="urn:microsoft.com/office/officeart/2008/layout/HorizontalMultiLevelHierarchy"/>
    <dgm:cxn modelId="{78E07DE4-80E5-4AAB-A980-FD616561457B}" type="presParOf" srcId="{61BBB879-FA19-4A2B-AEEF-0C999C624F77}" destId="{8001DC4D-2C61-4578-BEBE-E853A3A7C941}" srcOrd="0" destOrd="0" presId="urn:microsoft.com/office/officeart/2008/layout/HorizontalMultiLevelHierarchy"/>
    <dgm:cxn modelId="{D86857C4-A8E8-47A8-8189-662662990A14}" type="presParOf" srcId="{61BBB879-FA19-4A2B-AEEF-0C999C624F77}" destId="{B067B95C-C0AC-41D2-B7EF-AF5599100287}" srcOrd="1" destOrd="0" presId="urn:microsoft.com/office/officeart/2008/layout/HorizontalMultiLevelHierarchy"/>
    <dgm:cxn modelId="{33C8DF54-561E-49AF-9009-11F8BE40DE6E}" type="presParOf" srcId="{547AFEFE-38BE-4E65-8C61-E57206B9C88F}" destId="{893B6892-6119-4EAF-98B8-A1074A032873}" srcOrd="10" destOrd="0" presId="urn:microsoft.com/office/officeart/2008/layout/HorizontalMultiLevelHierarchy"/>
    <dgm:cxn modelId="{68A43D83-E692-4D27-9A02-E1390AFF9EC5}" type="presParOf" srcId="{893B6892-6119-4EAF-98B8-A1074A032873}" destId="{7300F4A0-ABC0-403A-BFA9-6D7DCEFEB556}" srcOrd="0" destOrd="0" presId="urn:microsoft.com/office/officeart/2008/layout/HorizontalMultiLevelHierarchy"/>
    <dgm:cxn modelId="{C23B3228-483C-42FA-B9FA-35ACF3FC6045}" type="presParOf" srcId="{547AFEFE-38BE-4E65-8C61-E57206B9C88F}" destId="{20391969-31F9-4E7D-9C56-B32AC61D7F4C}" srcOrd="11" destOrd="0" presId="urn:microsoft.com/office/officeart/2008/layout/HorizontalMultiLevelHierarchy"/>
    <dgm:cxn modelId="{B21C06E1-569C-423F-BA36-D69628006F50}" type="presParOf" srcId="{20391969-31F9-4E7D-9C56-B32AC61D7F4C}" destId="{344F5AC7-8C6F-4D02-AD99-2A0E4E6ED4A2}" srcOrd="0" destOrd="0" presId="urn:microsoft.com/office/officeart/2008/layout/HorizontalMultiLevelHierarchy"/>
    <dgm:cxn modelId="{1DD576C0-F88F-426C-98A1-F8EB629F6106}" type="presParOf" srcId="{20391969-31F9-4E7D-9C56-B32AC61D7F4C}" destId="{88F3B59E-7139-4BBD-A936-3B503C0ED9BE}" srcOrd="1" destOrd="0" presId="urn:microsoft.com/office/officeart/2008/layout/HorizontalMultiLevelHierarchy"/>
    <dgm:cxn modelId="{28FAAEF8-9B8F-48E0-A052-168C357F7FA4}" type="presParOf" srcId="{547AFEFE-38BE-4E65-8C61-E57206B9C88F}" destId="{38B17016-14FD-490B-A8FB-6AEDB0897734}" srcOrd="12" destOrd="0" presId="urn:microsoft.com/office/officeart/2008/layout/HorizontalMultiLevelHierarchy"/>
    <dgm:cxn modelId="{F7C68DBA-AB08-4FA1-916F-798608473084}" type="presParOf" srcId="{38B17016-14FD-490B-A8FB-6AEDB0897734}" destId="{343FE7B9-9316-4D11-AC91-0715B2669CD9}" srcOrd="0" destOrd="0" presId="urn:microsoft.com/office/officeart/2008/layout/HorizontalMultiLevelHierarchy"/>
    <dgm:cxn modelId="{85194C48-7CE1-411E-9FCE-388DBFCE76AC}" type="presParOf" srcId="{547AFEFE-38BE-4E65-8C61-E57206B9C88F}" destId="{84B09CB2-B9B9-4BB5-BAC8-AD143DA87DBD}" srcOrd="13" destOrd="0" presId="urn:microsoft.com/office/officeart/2008/layout/HorizontalMultiLevelHierarchy"/>
    <dgm:cxn modelId="{54C4596E-A568-449C-A8A6-FD7D4AD065A8}" type="presParOf" srcId="{84B09CB2-B9B9-4BB5-BAC8-AD143DA87DBD}" destId="{C1570DCA-1678-492E-8024-80AB2D48A3A8}" srcOrd="0" destOrd="0" presId="urn:microsoft.com/office/officeart/2008/layout/HorizontalMultiLevelHierarchy"/>
    <dgm:cxn modelId="{6655DDF9-464A-4C71-8B9C-3D317A22BFBC}" type="presParOf" srcId="{84B09CB2-B9B9-4BB5-BAC8-AD143DA87DBD}" destId="{53EC409D-D067-4967-9B1C-5896C74EB825}"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1AEAAC-4135-40DA-99D0-573B909A943F}" type="doc">
      <dgm:prSet loTypeId="urn:microsoft.com/office/officeart/2008/layout/HorizontalMultiLevelHierarchy" loCatId="hierarchy" qsTypeId="urn:microsoft.com/office/officeart/2005/8/quickstyle/simple1" qsCatId="simple" csTypeId="urn:microsoft.com/office/officeart/2005/8/colors/colorful4" csCatId="colorful" phldr="1"/>
      <dgm:spPr/>
      <dgm:t>
        <a:bodyPr/>
        <a:lstStyle/>
        <a:p>
          <a:endParaRPr lang="en-US"/>
        </a:p>
      </dgm:t>
    </dgm:pt>
    <dgm:pt modelId="{CD957264-88F5-4308-8DF8-44F8F1302909}">
      <dgm:prSet phldrT="[Text]" custT="1"/>
      <dgm:spPr/>
      <dgm:t>
        <a:bodyPr/>
        <a:lstStyle/>
        <a:p>
          <a:r>
            <a:rPr lang="en-US" sz="2800" dirty="0"/>
            <a:t>Non-Life / General Insurance</a:t>
          </a:r>
        </a:p>
      </dgm:t>
    </dgm:pt>
    <dgm:pt modelId="{69B37CAC-9A9F-4C4E-B827-082D4001160C}" type="parTrans" cxnId="{36D9658A-0082-42CA-AB06-E3EC8B3998EA}">
      <dgm:prSet/>
      <dgm:spPr/>
      <dgm:t>
        <a:bodyPr/>
        <a:lstStyle/>
        <a:p>
          <a:endParaRPr lang="en-US"/>
        </a:p>
      </dgm:t>
    </dgm:pt>
    <dgm:pt modelId="{194992D8-F272-4077-A2AE-F989E29ED58D}" type="sibTrans" cxnId="{36D9658A-0082-42CA-AB06-E3EC8B3998EA}">
      <dgm:prSet/>
      <dgm:spPr/>
      <dgm:t>
        <a:bodyPr/>
        <a:lstStyle/>
        <a:p>
          <a:endParaRPr lang="en-US"/>
        </a:p>
      </dgm:t>
    </dgm:pt>
    <dgm:pt modelId="{951BEE37-BE6E-4BE9-A828-E8F7196DA245}">
      <dgm:prSet phldrT="[Text]" custT="1"/>
      <dgm:spPr/>
      <dgm:t>
        <a:bodyPr/>
        <a:lstStyle/>
        <a:p>
          <a:r>
            <a:rPr lang="en-IN" sz="2800" b="0" i="0" dirty="0"/>
            <a:t>Motor insurance</a:t>
          </a:r>
          <a:endParaRPr lang="en-US" sz="2800" dirty="0"/>
        </a:p>
      </dgm:t>
    </dgm:pt>
    <dgm:pt modelId="{B1D0E4F2-8D5D-4B29-8BF2-9C2DCD2D820F}" type="parTrans" cxnId="{F22C8204-268B-410F-9531-9FA81424A364}">
      <dgm:prSet/>
      <dgm:spPr/>
      <dgm:t>
        <a:bodyPr/>
        <a:lstStyle/>
        <a:p>
          <a:endParaRPr lang="en-US"/>
        </a:p>
      </dgm:t>
    </dgm:pt>
    <dgm:pt modelId="{4CC437F9-D0B6-4DE9-BC82-3691D9091A46}" type="sibTrans" cxnId="{F22C8204-268B-410F-9531-9FA81424A364}">
      <dgm:prSet/>
      <dgm:spPr/>
      <dgm:t>
        <a:bodyPr/>
        <a:lstStyle/>
        <a:p>
          <a:endParaRPr lang="en-US"/>
        </a:p>
      </dgm:t>
    </dgm:pt>
    <dgm:pt modelId="{A5FDF1F0-09DC-4375-95EC-40D561495CE9}">
      <dgm:prSet phldrT="[Text]" custT="1"/>
      <dgm:spPr/>
      <dgm:t>
        <a:bodyPr/>
        <a:lstStyle/>
        <a:p>
          <a:r>
            <a:rPr lang="en-IN" sz="2800" b="0" i="0" dirty="0"/>
            <a:t>Health insurance</a:t>
          </a:r>
          <a:endParaRPr lang="en-US" sz="2800" dirty="0"/>
        </a:p>
      </dgm:t>
    </dgm:pt>
    <dgm:pt modelId="{4E065FAE-AD52-4606-BC2F-0D82449190FE}" type="parTrans" cxnId="{764D82CE-F50B-417F-8282-BE436F57E365}">
      <dgm:prSet/>
      <dgm:spPr/>
      <dgm:t>
        <a:bodyPr/>
        <a:lstStyle/>
        <a:p>
          <a:endParaRPr lang="en-US"/>
        </a:p>
      </dgm:t>
    </dgm:pt>
    <dgm:pt modelId="{64BFBEF8-19AC-4FCE-B2CE-ABF0252CA85E}" type="sibTrans" cxnId="{764D82CE-F50B-417F-8282-BE436F57E365}">
      <dgm:prSet/>
      <dgm:spPr/>
      <dgm:t>
        <a:bodyPr/>
        <a:lstStyle/>
        <a:p>
          <a:endParaRPr lang="en-US"/>
        </a:p>
      </dgm:t>
    </dgm:pt>
    <dgm:pt modelId="{9EAF1B90-3685-4DC1-A8E8-F60DB0CACD7E}">
      <dgm:prSet phldrT="[Text]" custT="1"/>
      <dgm:spPr/>
      <dgm:t>
        <a:bodyPr/>
        <a:lstStyle/>
        <a:p>
          <a:r>
            <a:rPr lang="en-IN" sz="2800" b="0" i="0" dirty="0"/>
            <a:t>Travel insurance</a:t>
          </a:r>
          <a:endParaRPr lang="en-US" sz="2800" dirty="0"/>
        </a:p>
      </dgm:t>
    </dgm:pt>
    <dgm:pt modelId="{EF1BCDFF-7574-434B-B98F-2C6886A11E0E}" type="parTrans" cxnId="{19BEB427-DCCF-49E3-9A7A-233000546EF4}">
      <dgm:prSet/>
      <dgm:spPr/>
      <dgm:t>
        <a:bodyPr/>
        <a:lstStyle/>
        <a:p>
          <a:endParaRPr lang="en-US"/>
        </a:p>
      </dgm:t>
    </dgm:pt>
    <dgm:pt modelId="{70A996C5-0755-4C79-A730-02F32FB7484F}" type="sibTrans" cxnId="{19BEB427-DCCF-49E3-9A7A-233000546EF4}">
      <dgm:prSet/>
      <dgm:spPr/>
      <dgm:t>
        <a:bodyPr/>
        <a:lstStyle/>
        <a:p>
          <a:endParaRPr lang="en-US"/>
        </a:p>
      </dgm:t>
    </dgm:pt>
    <dgm:pt modelId="{20288A5E-0ADE-423C-8A14-A51247057CD1}">
      <dgm:prSet phldrT="[Text]" custT="1"/>
      <dgm:spPr/>
      <dgm:t>
        <a:bodyPr/>
        <a:lstStyle/>
        <a:p>
          <a:r>
            <a:rPr lang="en-IN" sz="2800" b="0" i="0" dirty="0"/>
            <a:t>Fire insurance</a:t>
          </a:r>
          <a:endParaRPr lang="en-US" sz="2800" dirty="0"/>
        </a:p>
      </dgm:t>
    </dgm:pt>
    <dgm:pt modelId="{C1E899D0-BA9C-4692-9101-051C87B7913B}" type="parTrans" cxnId="{3278A91D-8DBF-49EB-9A22-7F6B6FB13286}">
      <dgm:prSet/>
      <dgm:spPr/>
      <dgm:t>
        <a:bodyPr/>
        <a:lstStyle/>
        <a:p>
          <a:endParaRPr lang="en-US"/>
        </a:p>
      </dgm:t>
    </dgm:pt>
    <dgm:pt modelId="{809F5CF9-594C-4191-9089-433922E437BD}" type="sibTrans" cxnId="{3278A91D-8DBF-49EB-9A22-7F6B6FB13286}">
      <dgm:prSet/>
      <dgm:spPr/>
      <dgm:t>
        <a:bodyPr/>
        <a:lstStyle/>
        <a:p>
          <a:endParaRPr lang="en-US"/>
        </a:p>
      </dgm:t>
    </dgm:pt>
    <dgm:pt modelId="{138A41AC-667E-4E37-9BE3-F9BEE2D90721}">
      <dgm:prSet phldrT="[Text]" custT="1"/>
      <dgm:spPr/>
      <dgm:t>
        <a:bodyPr/>
        <a:lstStyle/>
        <a:p>
          <a:r>
            <a:rPr lang="en-IN" sz="2800" b="0" i="0" dirty="0"/>
            <a:t>Home insurance</a:t>
          </a:r>
          <a:endParaRPr lang="en-US" sz="2800" dirty="0"/>
        </a:p>
      </dgm:t>
    </dgm:pt>
    <dgm:pt modelId="{522BCA49-5805-4DB5-A090-EE675B6D0EBC}" type="parTrans" cxnId="{71B77EF1-CD4A-45A4-B1BB-52CEECF636EB}">
      <dgm:prSet/>
      <dgm:spPr/>
      <dgm:t>
        <a:bodyPr/>
        <a:lstStyle/>
        <a:p>
          <a:endParaRPr lang="en-US"/>
        </a:p>
      </dgm:t>
    </dgm:pt>
    <dgm:pt modelId="{DDA5236E-7693-4CCD-935C-959FE6BE535B}" type="sibTrans" cxnId="{71B77EF1-CD4A-45A4-B1BB-52CEECF636EB}">
      <dgm:prSet/>
      <dgm:spPr/>
      <dgm:t>
        <a:bodyPr/>
        <a:lstStyle/>
        <a:p>
          <a:endParaRPr lang="en-US"/>
        </a:p>
      </dgm:t>
    </dgm:pt>
    <dgm:pt modelId="{70F0C5AC-DFB2-4C1D-B355-B217AAC29344}">
      <dgm:prSet phldrT="[Text]" custT="1"/>
      <dgm:spPr/>
      <dgm:t>
        <a:bodyPr/>
        <a:lstStyle/>
        <a:p>
          <a:r>
            <a:rPr lang="en-IN" sz="2800" b="0" i="0" dirty="0"/>
            <a:t>Marine insurance</a:t>
          </a:r>
          <a:endParaRPr lang="en-US" sz="2800" dirty="0"/>
        </a:p>
      </dgm:t>
    </dgm:pt>
    <dgm:pt modelId="{9B5EDBE4-09B4-41F1-88EA-2A042000E6BB}" type="parTrans" cxnId="{78D19F36-B4ED-4ECF-9FDA-8907E3C768FF}">
      <dgm:prSet/>
      <dgm:spPr/>
      <dgm:t>
        <a:bodyPr/>
        <a:lstStyle/>
        <a:p>
          <a:endParaRPr lang="en-US"/>
        </a:p>
      </dgm:t>
    </dgm:pt>
    <dgm:pt modelId="{95B2BA00-22C5-425F-9BB1-B361C3E4D0A2}" type="sibTrans" cxnId="{78D19F36-B4ED-4ECF-9FDA-8907E3C768FF}">
      <dgm:prSet/>
      <dgm:spPr/>
      <dgm:t>
        <a:bodyPr/>
        <a:lstStyle/>
        <a:p>
          <a:endParaRPr lang="en-US"/>
        </a:p>
      </dgm:t>
    </dgm:pt>
    <dgm:pt modelId="{964AE29E-21CA-42DA-8F7D-372E248B65E5}">
      <dgm:prSet phldrT="[Text]" custT="1"/>
      <dgm:spPr/>
      <dgm:t>
        <a:bodyPr/>
        <a:lstStyle/>
        <a:p>
          <a:r>
            <a:rPr lang="en-IN" sz="2800" b="0" i="0" dirty="0"/>
            <a:t>Business insurance</a:t>
          </a:r>
          <a:endParaRPr lang="en-US" sz="2800" dirty="0"/>
        </a:p>
      </dgm:t>
    </dgm:pt>
    <dgm:pt modelId="{6C107595-5E0B-40A9-A2E5-4032DAF76CFF}" type="parTrans" cxnId="{83116E1B-DC49-40D4-923C-74B0B21811A9}">
      <dgm:prSet/>
      <dgm:spPr/>
      <dgm:t>
        <a:bodyPr/>
        <a:lstStyle/>
        <a:p>
          <a:endParaRPr lang="en-US"/>
        </a:p>
      </dgm:t>
    </dgm:pt>
    <dgm:pt modelId="{58C92B9D-5CF5-45C2-B29E-0A4D7062939D}" type="sibTrans" cxnId="{83116E1B-DC49-40D4-923C-74B0B21811A9}">
      <dgm:prSet/>
      <dgm:spPr/>
      <dgm:t>
        <a:bodyPr/>
        <a:lstStyle/>
        <a:p>
          <a:endParaRPr lang="en-US"/>
        </a:p>
      </dgm:t>
    </dgm:pt>
    <dgm:pt modelId="{E413E120-B153-43B5-85CE-78F14BE0D487}">
      <dgm:prSet phldrT="[Text]" custT="1"/>
      <dgm:spPr/>
      <dgm:t>
        <a:bodyPr/>
        <a:lstStyle/>
        <a:p>
          <a:r>
            <a:rPr lang="en-IN" sz="2800" b="0" i="0" dirty="0"/>
            <a:t>Personal Accident Insurance</a:t>
          </a:r>
          <a:endParaRPr lang="en-US" sz="2800" b="0" dirty="0"/>
        </a:p>
      </dgm:t>
    </dgm:pt>
    <dgm:pt modelId="{E3AF5966-AB97-402B-8C84-436B69D520BE}" type="parTrans" cxnId="{BA87D24C-CDBB-4297-8F02-5BAA1143DBAF}">
      <dgm:prSet/>
      <dgm:spPr/>
      <dgm:t>
        <a:bodyPr/>
        <a:lstStyle/>
        <a:p>
          <a:endParaRPr lang="en-US"/>
        </a:p>
      </dgm:t>
    </dgm:pt>
    <dgm:pt modelId="{4D01E859-A0B3-4814-9C2A-B7E1BD6CDD2B}" type="sibTrans" cxnId="{BA87D24C-CDBB-4297-8F02-5BAA1143DBAF}">
      <dgm:prSet/>
      <dgm:spPr/>
      <dgm:t>
        <a:bodyPr/>
        <a:lstStyle/>
        <a:p>
          <a:endParaRPr lang="en-US"/>
        </a:p>
      </dgm:t>
    </dgm:pt>
    <dgm:pt modelId="{3FA7975E-9F9A-4A79-8CDD-294F327189B0}">
      <dgm:prSet phldrT="[Text]" custT="1"/>
      <dgm:spPr/>
      <dgm:t>
        <a:bodyPr/>
        <a:lstStyle/>
        <a:p>
          <a:r>
            <a:rPr lang="en-IN" sz="2800" b="0" i="0" dirty="0"/>
            <a:t>Rural and Agricultural Insurance</a:t>
          </a:r>
          <a:endParaRPr lang="en-US" sz="2800" b="0" dirty="0"/>
        </a:p>
      </dgm:t>
    </dgm:pt>
    <dgm:pt modelId="{3B6BB166-06DF-4171-B468-850C0C10E7F1}" type="parTrans" cxnId="{0F418677-C5E4-4395-BDBB-984854F1C4E5}">
      <dgm:prSet/>
      <dgm:spPr/>
      <dgm:t>
        <a:bodyPr/>
        <a:lstStyle/>
        <a:p>
          <a:endParaRPr lang="en-US"/>
        </a:p>
      </dgm:t>
    </dgm:pt>
    <dgm:pt modelId="{E095D1BE-4916-47C9-8984-997687472617}" type="sibTrans" cxnId="{0F418677-C5E4-4395-BDBB-984854F1C4E5}">
      <dgm:prSet/>
      <dgm:spPr/>
      <dgm:t>
        <a:bodyPr/>
        <a:lstStyle/>
        <a:p>
          <a:endParaRPr lang="en-US"/>
        </a:p>
      </dgm:t>
    </dgm:pt>
    <dgm:pt modelId="{4995644A-FE3E-446B-9ED9-42A381792BE5}" type="pres">
      <dgm:prSet presAssocID="{BF1AEAAC-4135-40DA-99D0-573B909A943F}" presName="Name0" presStyleCnt="0">
        <dgm:presLayoutVars>
          <dgm:chPref val="1"/>
          <dgm:dir/>
          <dgm:animOne val="branch"/>
          <dgm:animLvl val="lvl"/>
          <dgm:resizeHandles val="exact"/>
        </dgm:presLayoutVars>
      </dgm:prSet>
      <dgm:spPr/>
    </dgm:pt>
    <dgm:pt modelId="{B15BF649-B1D0-41CA-B6AB-B6B340C5E6B7}" type="pres">
      <dgm:prSet presAssocID="{CD957264-88F5-4308-8DF8-44F8F1302909}" presName="root1" presStyleCnt="0"/>
      <dgm:spPr/>
    </dgm:pt>
    <dgm:pt modelId="{905843B0-1F3E-4EC9-BE11-102173184D71}" type="pres">
      <dgm:prSet presAssocID="{CD957264-88F5-4308-8DF8-44F8F1302909}" presName="LevelOneTextNode" presStyleLbl="node0" presStyleIdx="0" presStyleCnt="1" custScaleY="154630">
        <dgm:presLayoutVars>
          <dgm:chPref val="3"/>
        </dgm:presLayoutVars>
      </dgm:prSet>
      <dgm:spPr/>
    </dgm:pt>
    <dgm:pt modelId="{95A3278A-6B64-4CA9-ADC9-083099AB9542}" type="pres">
      <dgm:prSet presAssocID="{CD957264-88F5-4308-8DF8-44F8F1302909}" presName="level2hierChild" presStyleCnt="0"/>
      <dgm:spPr/>
    </dgm:pt>
    <dgm:pt modelId="{B04C93EE-4F9C-49D2-A1F0-1CC29283632E}" type="pres">
      <dgm:prSet presAssocID="{B1D0E4F2-8D5D-4B29-8BF2-9C2DCD2D820F}" presName="conn2-1" presStyleLbl="parChTrans1D2" presStyleIdx="0" presStyleCnt="9"/>
      <dgm:spPr/>
    </dgm:pt>
    <dgm:pt modelId="{0ECBCEA8-FE4C-47FA-AF4E-C90F3629B908}" type="pres">
      <dgm:prSet presAssocID="{B1D0E4F2-8D5D-4B29-8BF2-9C2DCD2D820F}" presName="connTx" presStyleLbl="parChTrans1D2" presStyleIdx="0" presStyleCnt="9"/>
      <dgm:spPr/>
    </dgm:pt>
    <dgm:pt modelId="{3AD042D6-4845-406C-A9AD-35E2C03B8BCF}" type="pres">
      <dgm:prSet presAssocID="{951BEE37-BE6E-4BE9-A828-E8F7196DA245}" presName="root2" presStyleCnt="0"/>
      <dgm:spPr/>
    </dgm:pt>
    <dgm:pt modelId="{842F60E2-5D4E-435A-BB5A-E2B47AD4EDAE}" type="pres">
      <dgm:prSet presAssocID="{951BEE37-BE6E-4BE9-A828-E8F7196DA245}" presName="LevelTwoTextNode" presStyleLbl="node2" presStyleIdx="0" presStyleCnt="9" custScaleX="307156">
        <dgm:presLayoutVars>
          <dgm:chPref val="3"/>
        </dgm:presLayoutVars>
      </dgm:prSet>
      <dgm:spPr/>
    </dgm:pt>
    <dgm:pt modelId="{1F916C5E-0128-4DF0-BB53-E58EA8BA8FF0}" type="pres">
      <dgm:prSet presAssocID="{951BEE37-BE6E-4BE9-A828-E8F7196DA245}" presName="level3hierChild" presStyleCnt="0"/>
      <dgm:spPr/>
    </dgm:pt>
    <dgm:pt modelId="{4E7B1E02-3B83-41F7-B887-8F5BEDF79406}" type="pres">
      <dgm:prSet presAssocID="{4E065FAE-AD52-4606-BC2F-0D82449190FE}" presName="conn2-1" presStyleLbl="parChTrans1D2" presStyleIdx="1" presStyleCnt="9"/>
      <dgm:spPr/>
    </dgm:pt>
    <dgm:pt modelId="{DFEDB264-9B4B-4BF3-AD53-55E059CAC560}" type="pres">
      <dgm:prSet presAssocID="{4E065FAE-AD52-4606-BC2F-0D82449190FE}" presName="connTx" presStyleLbl="parChTrans1D2" presStyleIdx="1" presStyleCnt="9"/>
      <dgm:spPr/>
    </dgm:pt>
    <dgm:pt modelId="{7169B2B2-21A6-4B98-A17D-8980307E17C7}" type="pres">
      <dgm:prSet presAssocID="{A5FDF1F0-09DC-4375-95EC-40D561495CE9}" presName="root2" presStyleCnt="0"/>
      <dgm:spPr/>
    </dgm:pt>
    <dgm:pt modelId="{913E8391-6E94-49DE-B4BA-06308F050B72}" type="pres">
      <dgm:prSet presAssocID="{A5FDF1F0-09DC-4375-95EC-40D561495CE9}" presName="LevelTwoTextNode" presStyleLbl="node2" presStyleIdx="1" presStyleCnt="9" custScaleX="307156">
        <dgm:presLayoutVars>
          <dgm:chPref val="3"/>
        </dgm:presLayoutVars>
      </dgm:prSet>
      <dgm:spPr/>
    </dgm:pt>
    <dgm:pt modelId="{54C202C9-D948-49A3-93FE-50DBF82F6D63}" type="pres">
      <dgm:prSet presAssocID="{A5FDF1F0-09DC-4375-95EC-40D561495CE9}" presName="level3hierChild" presStyleCnt="0"/>
      <dgm:spPr/>
    </dgm:pt>
    <dgm:pt modelId="{FFD0C7D2-C01B-4920-80E7-EB5D9B544217}" type="pres">
      <dgm:prSet presAssocID="{EF1BCDFF-7574-434B-B98F-2C6886A11E0E}" presName="conn2-1" presStyleLbl="parChTrans1D2" presStyleIdx="2" presStyleCnt="9"/>
      <dgm:spPr/>
    </dgm:pt>
    <dgm:pt modelId="{D053AAA8-5C01-46F4-8134-9EACD706D9B3}" type="pres">
      <dgm:prSet presAssocID="{EF1BCDFF-7574-434B-B98F-2C6886A11E0E}" presName="connTx" presStyleLbl="parChTrans1D2" presStyleIdx="2" presStyleCnt="9"/>
      <dgm:spPr/>
    </dgm:pt>
    <dgm:pt modelId="{6762F3F1-EA74-4B29-B1F6-EA791A828B04}" type="pres">
      <dgm:prSet presAssocID="{9EAF1B90-3685-4DC1-A8E8-F60DB0CACD7E}" presName="root2" presStyleCnt="0"/>
      <dgm:spPr/>
    </dgm:pt>
    <dgm:pt modelId="{4FD90DD9-C8C2-4768-BF47-AF19605C71E9}" type="pres">
      <dgm:prSet presAssocID="{9EAF1B90-3685-4DC1-A8E8-F60DB0CACD7E}" presName="LevelTwoTextNode" presStyleLbl="node2" presStyleIdx="2" presStyleCnt="9" custScaleX="307156">
        <dgm:presLayoutVars>
          <dgm:chPref val="3"/>
        </dgm:presLayoutVars>
      </dgm:prSet>
      <dgm:spPr/>
    </dgm:pt>
    <dgm:pt modelId="{A595CA7D-E060-407F-95E6-05ADFF1633BC}" type="pres">
      <dgm:prSet presAssocID="{9EAF1B90-3685-4DC1-A8E8-F60DB0CACD7E}" presName="level3hierChild" presStyleCnt="0"/>
      <dgm:spPr/>
    </dgm:pt>
    <dgm:pt modelId="{24A6DECC-16AF-4577-8A1F-25A54D138DC5}" type="pres">
      <dgm:prSet presAssocID="{E3AF5966-AB97-402B-8C84-436B69D520BE}" presName="conn2-1" presStyleLbl="parChTrans1D2" presStyleIdx="3" presStyleCnt="9"/>
      <dgm:spPr/>
    </dgm:pt>
    <dgm:pt modelId="{932C9667-2D53-4B09-9236-A1C6DCA71FA2}" type="pres">
      <dgm:prSet presAssocID="{E3AF5966-AB97-402B-8C84-436B69D520BE}" presName="connTx" presStyleLbl="parChTrans1D2" presStyleIdx="3" presStyleCnt="9"/>
      <dgm:spPr/>
    </dgm:pt>
    <dgm:pt modelId="{5CC3FE6E-783F-4243-80BB-2DE47D5659C5}" type="pres">
      <dgm:prSet presAssocID="{E413E120-B153-43B5-85CE-78F14BE0D487}" presName="root2" presStyleCnt="0"/>
      <dgm:spPr/>
    </dgm:pt>
    <dgm:pt modelId="{0D4D3215-415F-463C-9D0B-7E559462068C}" type="pres">
      <dgm:prSet presAssocID="{E413E120-B153-43B5-85CE-78F14BE0D487}" presName="LevelTwoTextNode" presStyleLbl="node2" presStyleIdx="3" presStyleCnt="9" custScaleX="307156">
        <dgm:presLayoutVars>
          <dgm:chPref val="3"/>
        </dgm:presLayoutVars>
      </dgm:prSet>
      <dgm:spPr/>
    </dgm:pt>
    <dgm:pt modelId="{E94EDF85-C816-42C1-8C40-CA6AC73C2F8C}" type="pres">
      <dgm:prSet presAssocID="{E413E120-B153-43B5-85CE-78F14BE0D487}" presName="level3hierChild" presStyleCnt="0"/>
      <dgm:spPr/>
    </dgm:pt>
    <dgm:pt modelId="{47EBE12C-4C82-437D-867D-FAB4E5567CF7}" type="pres">
      <dgm:prSet presAssocID="{C1E899D0-BA9C-4692-9101-051C87B7913B}" presName="conn2-1" presStyleLbl="parChTrans1D2" presStyleIdx="4" presStyleCnt="9"/>
      <dgm:spPr/>
    </dgm:pt>
    <dgm:pt modelId="{71B5F959-578D-4344-A4EF-35F574709158}" type="pres">
      <dgm:prSet presAssocID="{C1E899D0-BA9C-4692-9101-051C87B7913B}" presName="connTx" presStyleLbl="parChTrans1D2" presStyleIdx="4" presStyleCnt="9"/>
      <dgm:spPr/>
    </dgm:pt>
    <dgm:pt modelId="{44B25506-8E9B-42B9-AEB2-5B4A649501CB}" type="pres">
      <dgm:prSet presAssocID="{20288A5E-0ADE-423C-8A14-A51247057CD1}" presName="root2" presStyleCnt="0"/>
      <dgm:spPr/>
    </dgm:pt>
    <dgm:pt modelId="{C31E10A1-ECC7-474D-B6E4-9AC39E71FA76}" type="pres">
      <dgm:prSet presAssocID="{20288A5E-0ADE-423C-8A14-A51247057CD1}" presName="LevelTwoTextNode" presStyleLbl="node2" presStyleIdx="4" presStyleCnt="9" custScaleX="307156">
        <dgm:presLayoutVars>
          <dgm:chPref val="3"/>
        </dgm:presLayoutVars>
      </dgm:prSet>
      <dgm:spPr/>
    </dgm:pt>
    <dgm:pt modelId="{1261B45D-8556-4B9C-BC4C-FC9B504042BE}" type="pres">
      <dgm:prSet presAssocID="{20288A5E-0ADE-423C-8A14-A51247057CD1}" presName="level3hierChild" presStyleCnt="0"/>
      <dgm:spPr/>
    </dgm:pt>
    <dgm:pt modelId="{3E46C6E2-2F04-4072-811B-179BA9341917}" type="pres">
      <dgm:prSet presAssocID="{522BCA49-5805-4DB5-A090-EE675B6D0EBC}" presName="conn2-1" presStyleLbl="parChTrans1D2" presStyleIdx="5" presStyleCnt="9"/>
      <dgm:spPr/>
    </dgm:pt>
    <dgm:pt modelId="{EAACB0FB-3604-45BB-B27C-87D3313289BA}" type="pres">
      <dgm:prSet presAssocID="{522BCA49-5805-4DB5-A090-EE675B6D0EBC}" presName="connTx" presStyleLbl="parChTrans1D2" presStyleIdx="5" presStyleCnt="9"/>
      <dgm:spPr/>
    </dgm:pt>
    <dgm:pt modelId="{9F2BB9C2-24C0-4835-8E39-2645B567E13C}" type="pres">
      <dgm:prSet presAssocID="{138A41AC-667E-4E37-9BE3-F9BEE2D90721}" presName="root2" presStyleCnt="0"/>
      <dgm:spPr/>
    </dgm:pt>
    <dgm:pt modelId="{4048B6C1-863F-4986-9230-A54C06D7EC17}" type="pres">
      <dgm:prSet presAssocID="{138A41AC-667E-4E37-9BE3-F9BEE2D90721}" presName="LevelTwoTextNode" presStyleLbl="node2" presStyleIdx="5" presStyleCnt="9" custScaleX="307156">
        <dgm:presLayoutVars>
          <dgm:chPref val="3"/>
        </dgm:presLayoutVars>
      </dgm:prSet>
      <dgm:spPr/>
    </dgm:pt>
    <dgm:pt modelId="{2016251B-699B-4C66-BAD3-6765A4113162}" type="pres">
      <dgm:prSet presAssocID="{138A41AC-667E-4E37-9BE3-F9BEE2D90721}" presName="level3hierChild" presStyleCnt="0"/>
      <dgm:spPr/>
    </dgm:pt>
    <dgm:pt modelId="{E4F960E2-4958-4B03-846F-42D93FFF23BA}" type="pres">
      <dgm:prSet presAssocID="{9B5EDBE4-09B4-41F1-88EA-2A042000E6BB}" presName="conn2-1" presStyleLbl="parChTrans1D2" presStyleIdx="6" presStyleCnt="9"/>
      <dgm:spPr/>
    </dgm:pt>
    <dgm:pt modelId="{4E1B9B4B-3032-4F9B-9F8A-6072EA6E9E27}" type="pres">
      <dgm:prSet presAssocID="{9B5EDBE4-09B4-41F1-88EA-2A042000E6BB}" presName="connTx" presStyleLbl="parChTrans1D2" presStyleIdx="6" presStyleCnt="9"/>
      <dgm:spPr/>
    </dgm:pt>
    <dgm:pt modelId="{C15DE406-2BF8-40EB-96CE-29BD29C59661}" type="pres">
      <dgm:prSet presAssocID="{70F0C5AC-DFB2-4C1D-B355-B217AAC29344}" presName="root2" presStyleCnt="0"/>
      <dgm:spPr/>
    </dgm:pt>
    <dgm:pt modelId="{4ECB98E3-24F5-4831-86A2-4BB9B0C2A6FE}" type="pres">
      <dgm:prSet presAssocID="{70F0C5AC-DFB2-4C1D-B355-B217AAC29344}" presName="LevelTwoTextNode" presStyleLbl="node2" presStyleIdx="6" presStyleCnt="9" custScaleX="307156">
        <dgm:presLayoutVars>
          <dgm:chPref val="3"/>
        </dgm:presLayoutVars>
      </dgm:prSet>
      <dgm:spPr/>
    </dgm:pt>
    <dgm:pt modelId="{B83717D1-48CC-4F6C-9DE7-BB2DCAF39221}" type="pres">
      <dgm:prSet presAssocID="{70F0C5AC-DFB2-4C1D-B355-B217AAC29344}" presName="level3hierChild" presStyleCnt="0"/>
      <dgm:spPr/>
    </dgm:pt>
    <dgm:pt modelId="{C1F5F6C1-CCC8-407B-9B72-CF81BA4ACB8A}" type="pres">
      <dgm:prSet presAssocID="{6C107595-5E0B-40A9-A2E5-4032DAF76CFF}" presName="conn2-1" presStyleLbl="parChTrans1D2" presStyleIdx="7" presStyleCnt="9"/>
      <dgm:spPr/>
    </dgm:pt>
    <dgm:pt modelId="{0589575D-69E5-4D08-9D19-816E2B98700F}" type="pres">
      <dgm:prSet presAssocID="{6C107595-5E0B-40A9-A2E5-4032DAF76CFF}" presName="connTx" presStyleLbl="parChTrans1D2" presStyleIdx="7" presStyleCnt="9"/>
      <dgm:spPr/>
    </dgm:pt>
    <dgm:pt modelId="{F56639BF-75E5-4397-8296-27388566D2BC}" type="pres">
      <dgm:prSet presAssocID="{964AE29E-21CA-42DA-8F7D-372E248B65E5}" presName="root2" presStyleCnt="0"/>
      <dgm:spPr/>
    </dgm:pt>
    <dgm:pt modelId="{FBA79142-102A-4FDD-B361-D4924C6D5505}" type="pres">
      <dgm:prSet presAssocID="{964AE29E-21CA-42DA-8F7D-372E248B65E5}" presName="LevelTwoTextNode" presStyleLbl="node2" presStyleIdx="7" presStyleCnt="9" custScaleX="307156">
        <dgm:presLayoutVars>
          <dgm:chPref val="3"/>
        </dgm:presLayoutVars>
      </dgm:prSet>
      <dgm:spPr/>
    </dgm:pt>
    <dgm:pt modelId="{F6FB0BF5-CA9E-4C8F-8D8F-050A1B9BDDAF}" type="pres">
      <dgm:prSet presAssocID="{964AE29E-21CA-42DA-8F7D-372E248B65E5}" presName="level3hierChild" presStyleCnt="0"/>
      <dgm:spPr/>
    </dgm:pt>
    <dgm:pt modelId="{67CCC8CD-9772-4926-869E-A98E86131DAC}" type="pres">
      <dgm:prSet presAssocID="{3B6BB166-06DF-4171-B468-850C0C10E7F1}" presName="conn2-1" presStyleLbl="parChTrans1D2" presStyleIdx="8" presStyleCnt="9"/>
      <dgm:spPr/>
    </dgm:pt>
    <dgm:pt modelId="{D6DB8711-AFD8-4950-8D2E-07DEDD8DED95}" type="pres">
      <dgm:prSet presAssocID="{3B6BB166-06DF-4171-B468-850C0C10E7F1}" presName="connTx" presStyleLbl="parChTrans1D2" presStyleIdx="8" presStyleCnt="9"/>
      <dgm:spPr/>
    </dgm:pt>
    <dgm:pt modelId="{AF139851-1C5E-4854-A8A9-3B1907A31965}" type="pres">
      <dgm:prSet presAssocID="{3FA7975E-9F9A-4A79-8CDD-294F327189B0}" presName="root2" presStyleCnt="0"/>
      <dgm:spPr/>
    </dgm:pt>
    <dgm:pt modelId="{FB9A792E-565C-4D6B-8B8C-0CB6FD2B1EA2}" type="pres">
      <dgm:prSet presAssocID="{3FA7975E-9F9A-4A79-8CDD-294F327189B0}" presName="LevelTwoTextNode" presStyleLbl="node2" presStyleIdx="8" presStyleCnt="9" custScaleX="307156">
        <dgm:presLayoutVars>
          <dgm:chPref val="3"/>
        </dgm:presLayoutVars>
      </dgm:prSet>
      <dgm:spPr/>
    </dgm:pt>
    <dgm:pt modelId="{9165893C-1152-4EF0-8AF6-E0568003FC7A}" type="pres">
      <dgm:prSet presAssocID="{3FA7975E-9F9A-4A79-8CDD-294F327189B0}" presName="level3hierChild" presStyleCnt="0"/>
      <dgm:spPr/>
    </dgm:pt>
  </dgm:ptLst>
  <dgm:cxnLst>
    <dgm:cxn modelId="{F22C8204-268B-410F-9531-9FA81424A364}" srcId="{CD957264-88F5-4308-8DF8-44F8F1302909}" destId="{951BEE37-BE6E-4BE9-A828-E8F7196DA245}" srcOrd="0" destOrd="0" parTransId="{B1D0E4F2-8D5D-4B29-8BF2-9C2DCD2D820F}" sibTransId="{4CC437F9-D0B6-4DE9-BC82-3691D9091A46}"/>
    <dgm:cxn modelId="{5341BF06-41F1-49AA-9C3E-D67052C912D1}" type="presOf" srcId="{9B5EDBE4-09B4-41F1-88EA-2A042000E6BB}" destId="{E4F960E2-4958-4B03-846F-42D93FFF23BA}" srcOrd="0" destOrd="0" presId="urn:microsoft.com/office/officeart/2008/layout/HorizontalMultiLevelHierarchy"/>
    <dgm:cxn modelId="{5E391916-02D4-4DF3-95DA-99B3A445FEDD}" type="presOf" srcId="{A5FDF1F0-09DC-4375-95EC-40D561495CE9}" destId="{913E8391-6E94-49DE-B4BA-06308F050B72}" srcOrd="0" destOrd="0" presId="urn:microsoft.com/office/officeart/2008/layout/HorizontalMultiLevelHierarchy"/>
    <dgm:cxn modelId="{83116E1B-DC49-40D4-923C-74B0B21811A9}" srcId="{CD957264-88F5-4308-8DF8-44F8F1302909}" destId="{964AE29E-21CA-42DA-8F7D-372E248B65E5}" srcOrd="7" destOrd="0" parTransId="{6C107595-5E0B-40A9-A2E5-4032DAF76CFF}" sibTransId="{58C92B9D-5CF5-45C2-B29E-0A4D7062939D}"/>
    <dgm:cxn modelId="{3278A91D-8DBF-49EB-9A22-7F6B6FB13286}" srcId="{CD957264-88F5-4308-8DF8-44F8F1302909}" destId="{20288A5E-0ADE-423C-8A14-A51247057CD1}" srcOrd="4" destOrd="0" parTransId="{C1E899D0-BA9C-4692-9101-051C87B7913B}" sibTransId="{809F5CF9-594C-4191-9089-433922E437BD}"/>
    <dgm:cxn modelId="{7A33DF24-7C65-474F-ADA9-9DDE04F779D4}" type="presOf" srcId="{138A41AC-667E-4E37-9BE3-F9BEE2D90721}" destId="{4048B6C1-863F-4986-9230-A54C06D7EC17}" srcOrd="0" destOrd="0" presId="urn:microsoft.com/office/officeart/2008/layout/HorizontalMultiLevelHierarchy"/>
    <dgm:cxn modelId="{19BEB427-DCCF-49E3-9A7A-233000546EF4}" srcId="{CD957264-88F5-4308-8DF8-44F8F1302909}" destId="{9EAF1B90-3685-4DC1-A8E8-F60DB0CACD7E}" srcOrd="2" destOrd="0" parTransId="{EF1BCDFF-7574-434B-B98F-2C6886A11E0E}" sibTransId="{70A996C5-0755-4C79-A730-02F32FB7484F}"/>
    <dgm:cxn modelId="{996AD328-4874-46BA-989A-6497D1467B08}" type="presOf" srcId="{E413E120-B153-43B5-85CE-78F14BE0D487}" destId="{0D4D3215-415F-463C-9D0B-7E559462068C}" srcOrd="0" destOrd="0" presId="urn:microsoft.com/office/officeart/2008/layout/HorizontalMultiLevelHierarchy"/>
    <dgm:cxn modelId="{AE672A29-5D7A-416E-9A30-CE72904E0117}" type="presOf" srcId="{E3AF5966-AB97-402B-8C84-436B69D520BE}" destId="{24A6DECC-16AF-4577-8A1F-25A54D138DC5}" srcOrd="0" destOrd="0" presId="urn:microsoft.com/office/officeart/2008/layout/HorizontalMultiLevelHierarchy"/>
    <dgm:cxn modelId="{ABC8932A-0CB6-4FCE-B6F6-785AA0818F3D}" type="presOf" srcId="{C1E899D0-BA9C-4692-9101-051C87B7913B}" destId="{71B5F959-578D-4344-A4EF-35F574709158}" srcOrd="1" destOrd="0" presId="urn:microsoft.com/office/officeart/2008/layout/HorizontalMultiLevelHierarchy"/>
    <dgm:cxn modelId="{4262B72D-9794-4661-BC9F-B5C1A91C21FF}" type="presOf" srcId="{BF1AEAAC-4135-40DA-99D0-573B909A943F}" destId="{4995644A-FE3E-446B-9ED9-42A381792BE5}" srcOrd="0" destOrd="0" presId="urn:microsoft.com/office/officeart/2008/layout/HorizontalMultiLevelHierarchy"/>
    <dgm:cxn modelId="{BC2A8135-66DF-4604-8BFD-33105B39DDF2}" type="presOf" srcId="{3B6BB166-06DF-4171-B468-850C0C10E7F1}" destId="{67CCC8CD-9772-4926-869E-A98E86131DAC}" srcOrd="0" destOrd="0" presId="urn:microsoft.com/office/officeart/2008/layout/HorizontalMultiLevelHierarchy"/>
    <dgm:cxn modelId="{78D19F36-B4ED-4ECF-9FDA-8907E3C768FF}" srcId="{CD957264-88F5-4308-8DF8-44F8F1302909}" destId="{70F0C5AC-DFB2-4C1D-B355-B217AAC29344}" srcOrd="6" destOrd="0" parTransId="{9B5EDBE4-09B4-41F1-88EA-2A042000E6BB}" sibTransId="{95B2BA00-22C5-425F-9BB1-B361C3E4D0A2}"/>
    <dgm:cxn modelId="{A8A24238-7DB8-4245-B346-650F5910CEA3}" type="presOf" srcId="{522BCA49-5805-4DB5-A090-EE675B6D0EBC}" destId="{3E46C6E2-2F04-4072-811B-179BA9341917}" srcOrd="0" destOrd="0" presId="urn:microsoft.com/office/officeart/2008/layout/HorizontalMultiLevelHierarchy"/>
    <dgm:cxn modelId="{BAE06644-029B-4673-91F6-CDC49F1C7ED6}" type="presOf" srcId="{6C107595-5E0B-40A9-A2E5-4032DAF76CFF}" destId="{0589575D-69E5-4D08-9D19-816E2B98700F}" srcOrd="1" destOrd="0" presId="urn:microsoft.com/office/officeart/2008/layout/HorizontalMultiLevelHierarchy"/>
    <dgm:cxn modelId="{1DB6E644-419C-44D5-9BA7-425CF0705F40}" type="presOf" srcId="{9B5EDBE4-09B4-41F1-88EA-2A042000E6BB}" destId="{4E1B9B4B-3032-4F9B-9F8A-6072EA6E9E27}" srcOrd="1" destOrd="0" presId="urn:microsoft.com/office/officeart/2008/layout/HorizontalMultiLevelHierarchy"/>
    <dgm:cxn modelId="{07C14D46-6F39-44E0-9899-C5B5B9DBCA30}" type="presOf" srcId="{C1E899D0-BA9C-4692-9101-051C87B7913B}" destId="{47EBE12C-4C82-437D-867D-FAB4E5567CF7}" srcOrd="0" destOrd="0" presId="urn:microsoft.com/office/officeart/2008/layout/HorizontalMultiLevelHierarchy"/>
    <dgm:cxn modelId="{6E9C694A-28FE-4BD6-B08E-6BF7D788DEDB}" type="presOf" srcId="{E3AF5966-AB97-402B-8C84-436B69D520BE}" destId="{932C9667-2D53-4B09-9236-A1C6DCA71FA2}" srcOrd="1" destOrd="0" presId="urn:microsoft.com/office/officeart/2008/layout/HorizontalMultiLevelHierarchy"/>
    <dgm:cxn modelId="{2586B24B-A994-4416-B0C9-B14EB8091684}" type="presOf" srcId="{EF1BCDFF-7574-434B-B98F-2C6886A11E0E}" destId="{D053AAA8-5C01-46F4-8134-9EACD706D9B3}" srcOrd="1" destOrd="0" presId="urn:microsoft.com/office/officeart/2008/layout/HorizontalMultiLevelHierarchy"/>
    <dgm:cxn modelId="{BA87D24C-CDBB-4297-8F02-5BAA1143DBAF}" srcId="{CD957264-88F5-4308-8DF8-44F8F1302909}" destId="{E413E120-B153-43B5-85CE-78F14BE0D487}" srcOrd="3" destOrd="0" parTransId="{E3AF5966-AB97-402B-8C84-436B69D520BE}" sibTransId="{4D01E859-A0B3-4814-9C2A-B7E1BD6CDD2B}"/>
    <dgm:cxn modelId="{9D6E336F-7DC5-4C5B-B631-EA0F1C13F3A0}" type="presOf" srcId="{3FA7975E-9F9A-4A79-8CDD-294F327189B0}" destId="{FB9A792E-565C-4D6B-8B8C-0CB6FD2B1EA2}" srcOrd="0" destOrd="0" presId="urn:microsoft.com/office/officeart/2008/layout/HorizontalMultiLevelHierarchy"/>
    <dgm:cxn modelId="{80E46E51-3E75-4557-997A-BC2D4E61FDE0}" type="presOf" srcId="{9EAF1B90-3685-4DC1-A8E8-F60DB0CACD7E}" destId="{4FD90DD9-C8C2-4768-BF47-AF19605C71E9}" srcOrd="0" destOrd="0" presId="urn:microsoft.com/office/officeart/2008/layout/HorizontalMultiLevelHierarchy"/>
    <dgm:cxn modelId="{E54F2552-1EE3-4B79-87AD-CF001D82C189}" type="presOf" srcId="{522BCA49-5805-4DB5-A090-EE675B6D0EBC}" destId="{EAACB0FB-3604-45BB-B27C-87D3313289BA}" srcOrd="1" destOrd="0" presId="urn:microsoft.com/office/officeart/2008/layout/HorizontalMultiLevelHierarchy"/>
    <dgm:cxn modelId="{0F418677-C5E4-4395-BDBB-984854F1C4E5}" srcId="{CD957264-88F5-4308-8DF8-44F8F1302909}" destId="{3FA7975E-9F9A-4A79-8CDD-294F327189B0}" srcOrd="8" destOrd="0" parTransId="{3B6BB166-06DF-4171-B468-850C0C10E7F1}" sibTransId="{E095D1BE-4916-47C9-8984-997687472617}"/>
    <dgm:cxn modelId="{349CA259-DEB4-417A-84C1-FB1C4B4AA48C}" type="presOf" srcId="{CD957264-88F5-4308-8DF8-44F8F1302909}" destId="{905843B0-1F3E-4EC9-BE11-102173184D71}" srcOrd="0" destOrd="0" presId="urn:microsoft.com/office/officeart/2008/layout/HorizontalMultiLevelHierarchy"/>
    <dgm:cxn modelId="{B1D1B659-9138-44AD-972C-1E99A9084891}" type="presOf" srcId="{EF1BCDFF-7574-434B-B98F-2C6886A11E0E}" destId="{FFD0C7D2-C01B-4920-80E7-EB5D9B544217}" srcOrd="0" destOrd="0" presId="urn:microsoft.com/office/officeart/2008/layout/HorizontalMultiLevelHierarchy"/>
    <dgm:cxn modelId="{D3778B7F-3A25-44E6-BBAE-168A73EB0269}" type="presOf" srcId="{3B6BB166-06DF-4171-B468-850C0C10E7F1}" destId="{D6DB8711-AFD8-4950-8D2E-07DEDD8DED95}" srcOrd="1" destOrd="0" presId="urn:microsoft.com/office/officeart/2008/layout/HorizontalMultiLevelHierarchy"/>
    <dgm:cxn modelId="{36D9658A-0082-42CA-AB06-E3EC8B3998EA}" srcId="{BF1AEAAC-4135-40DA-99D0-573B909A943F}" destId="{CD957264-88F5-4308-8DF8-44F8F1302909}" srcOrd="0" destOrd="0" parTransId="{69B37CAC-9A9F-4C4E-B827-082D4001160C}" sibTransId="{194992D8-F272-4077-A2AE-F989E29ED58D}"/>
    <dgm:cxn modelId="{C8A42F95-C1C0-4C8A-B244-62D18C9C3296}" type="presOf" srcId="{4E065FAE-AD52-4606-BC2F-0D82449190FE}" destId="{4E7B1E02-3B83-41F7-B887-8F5BEDF79406}" srcOrd="0" destOrd="0" presId="urn:microsoft.com/office/officeart/2008/layout/HorizontalMultiLevelHierarchy"/>
    <dgm:cxn modelId="{D7C4DA9E-E958-49BF-9545-B1026194196D}" type="presOf" srcId="{6C107595-5E0B-40A9-A2E5-4032DAF76CFF}" destId="{C1F5F6C1-CCC8-407B-9B72-CF81BA4ACB8A}" srcOrd="0" destOrd="0" presId="urn:microsoft.com/office/officeart/2008/layout/HorizontalMultiLevelHierarchy"/>
    <dgm:cxn modelId="{392487B1-1301-4641-8351-3E322F76E66C}" type="presOf" srcId="{70F0C5AC-DFB2-4C1D-B355-B217AAC29344}" destId="{4ECB98E3-24F5-4831-86A2-4BB9B0C2A6FE}" srcOrd="0" destOrd="0" presId="urn:microsoft.com/office/officeart/2008/layout/HorizontalMultiLevelHierarchy"/>
    <dgm:cxn modelId="{28AABBC3-D5E3-4AEC-B34D-C95E8BCD537E}" type="presOf" srcId="{20288A5E-0ADE-423C-8A14-A51247057CD1}" destId="{C31E10A1-ECC7-474D-B6E4-9AC39E71FA76}" srcOrd="0" destOrd="0" presId="urn:microsoft.com/office/officeart/2008/layout/HorizontalMultiLevelHierarchy"/>
    <dgm:cxn modelId="{764D82CE-F50B-417F-8282-BE436F57E365}" srcId="{CD957264-88F5-4308-8DF8-44F8F1302909}" destId="{A5FDF1F0-09DC-4375-95EC-40D561495CE9}" srcOrd="1" destOrd="0" parTransId="{4E065FAE-AD52-4606-BC2F-0D82449190FE}" sibTransId="{64BFBEF8-19AC-4FCE-B2CE-ABF0252CA85E}"/>
    <dgm:cxn modelId="{550B41D9-DD97-49CF-8013-984283F05ADD}" type="presOf" srcId="{964AE29E-21CA-42DA-8F7D-372E248B65E5}" destId="{FBA79142-102A-4FDD-B361-D4924C6D5505}" srcOrd="0" destOrd="0" presId="urn:microsoft.com/office/officeart/2008/layout/HorizontalMultiLevelHierarchy"/>
    <dgm:cxn modelId="{1F2A08DB-23AB-4611-A321-37A4C9D2D675}" type="presOf" srcId="{951BEE37-BE6E-4BE9-A828-E8F7196DA245}" destId="{842F60E2-5D4E-435A-BB5A-E2B47AD4EDAE}" srcOrd="0" destOrd="0" presId="urn:microsoft.com/office/officeart/2008/layout/HorizontalMultiLevelHierarchy"/>
    <dgm:cxn modelId="{79D014DF-9401-4BD6-90D1-2F39813908C6}" type="presOf" srcId="{B1D0E4F2-8D5D-4B29-8BF2-9C2DCD2D820F}" destId="{0ECBCEA8-FE4C-47FA-AF4E-C90F3629B908}" srcOrd="1" destOrd="0" presId="urn:microsoft.com/office/officeart/2008/layout/HorizontalMultiLevelHierarchy"/>
    <dgm:cxn modelId="{71B77EF1-CD4A-45A4-B1BB-52CEECF636EB}" srcId="{CD957264-88F5-4308-8DF8-44F8F1302909}" destId="{138A41AC-667E-4E37-9BE3-F9BEE2D90721}" srcOrd="5" destOrd="0" parTransId="{522BCA49-5805-4DB5-A090-EE675B6D0EBC}" sibTransId="{DDA5236E-7693-4CCD-935C-959FE6BE535B}"/>
    <dgm:cxn modelId="{A8FB01F2-9CCA-4481-9550-C2ACE60C16EF}" type="presOf" srcId="{B1D0E4F2-8D5D-4B29-8BF2-9C2DCD2D820F}" destId="{B04C93EE-4F9C-49D2-A1F0-1CC29283632E}" srcOrd="0" destOrd="0" presId="urn:microsoft.com/office/officeart/2008/layout/HorizontalMultiLevelHierarchy"/>
    <dgm:cxn modelId="{BB7E8AFF-8DB0-48B6-992A-4983AE86C1CE}" type="presOf" srcId="{4E065FAE-AD52-4606-BC2F-0D82449190FE}" destId="{DFEDB264-9B4B-4BF3-AD53-55E059CAC560}" srcOrd="1" destOrd="0" presId="urn:microsoft.com/office/officeart/2008/layout/HorizontalMultiLevelHierarchy"/>
    <dgm:cxn modelId="{8DE4F3D4-CF5C-481F-AE39-5567A1DA942C}" type="presParOf" srcId="{4995644A-FE3E-446B-9ED9-42A381792BE5}" destId="{B15BF649-B1D0-41CA-B6AB-B6B340C5E6B7}" srcOrd="0" destOrd="0" presId="urn:microsoft.com/office/officeart/2008/layout/HorizontalMultiLevelHierarchy"/>
    <dgm:cxn modelId="{1D037A87-7C1A-4BA9-8DB5-3D673C835AC9}" type="presParOf" srcId="{B15BF649-B1D0-41CA-B6AB-B6B340C5E6B7}" destId="{905843B0-1F3E-4EC9-BE11-102173184D71}" srcOrd="0" destOrd="0" presId="urn:microsoft.com/office/officeart/2008/layout/HorizontalMultiLevelHierarchy"/>
    <dgm:cxn modelId="{D1C40221-D0C1-4E0C-82EA-306C66C47E1D}" type="presParOf" srcId="{B15BF649-B1D0-41CA-B6AB-B6B340C5E6B7}" destId="{95A3278A-6B64-4CA9-ADC9-083099AB9542}" srcOrd="1" destOrd="0" presId="urn:microsoft.com/office/officeart/2008/layout/HorizontalMultiLevelHierarchy"/>
    <dgm:cxn modelId="{98206314-01E6-44E7-9D35-CE5B05F3FD13}" type="presParOf" srcId="{95A3278A-6B64-4CA9-ADC9-083099AB9542}" destId="{B04C93EE-4F9C-49D2-A1F0-1CC29283632E}" srcOrd="0" destOrd="0" presId="urn:microsoft.com/office/officeart/2008/layout/HorizontalMultiLevelHierarchy"/>
    <dgm:cxn modelId="{D1E7AE21-8CDE-4B72-B3C8-11D5A25E1BDC}" type="presParOf" srcId="{B04C93EE-4F9C-49D2-A1F0-1CC29283632E}" destId="{0ECBCEA8-FE4C-47FA-AF4E-C90F3629B908}" srcOrd="0" destOrd="0" presId="urn:microsoft.com/office/officeart/2008/layout/HorizontalMultiLevelHierarchy"/>
    <dgm:cxn modelId="{1B37BEC1-0B9A-4C52-A83E-BA3AE0A2DAAE}" type="presParOf" srcId="{95A3278A-6B64-4CA9-ADC9-083099AB9542}" destId="{3AD042D6-4845-406C-A9AD-35E2C03B8BCF}" srcOrd="1" destOrd="0" presId="urn:microsoft.com/office/officeart/2008/layout/HorizontalMultiLevelHierarchy"/>
    <dgm:cxn modelId="{D5BE7193-F765-4795-9FE2-983FDC885CC7}" type="presParOf" srcId="{3AD042D6-4845-406C-A9AD-35E2C03B8BCF}" destId="{842F60E2-5D4E-435A-BB5A-E2B47AD4EDAE}" srcOrd="0" destOrd="0" presId="urn:microsoft.com/office/officeart/2008/layout/HorizontalMultiLevelHierarchy"/>
    <dgm:cxn modelId="{317FC787-51EE-497F-9BDC-92CF8502A1DD}" type="presParOf" srcId="{3AD042D6-4845-406C-A9AD-35E2C03B8BCF}" destId="{1F916C5E-0128-4DF0-BB53-E58EA8BA8FF0}" srcOrd="1" destOrd="0" presId="urn:microsoft.com/office/officeart/2008/layout/HorizontalMultiLevelHierarchy"/>
    <dgm:cxn modelId="{15395B16-7B7B-4B15-9CB2-85585D24C359}" type="presParOf" srcId="{95A3278A-6B64-4CA9-ADC9-083099AB9542}" destId="{4E7B1E02-3B83-41F7-B887-8F5BEDF79406}" srcOrd="2" destOrd="0" presId="urn:microsoft.com/office/officeart/2008/layout/HorizontalMultiLevelHierarchy"/>
    <dgm:cxn modelId="{35507388-F80D-4958-B5D3-7A3889A2D067}" type="presParOf" srcId="{4E7B1E02-3B83-41F7-B887-8F5BEDF79406}" destId="{DFEDB264-9B4B-4BF3-AD53-55E059CAC560}" srcOrd="0" destOrd="0" presId="urn:microsoft.com/office/officeart/2008/layout/HorizontalMultiLevelHierarchy"/>
    <dgm:cxn modelId="{35136207-34C1-43C1-A22B-415166DBB462}" type="presParOf" srcId="{95A3278A-6B64-4CA9-ADC9-083099AB9542}" destId="{7169B2B2-21A6-4B98-A17D-8980307E17C7}" srcOrd="3" destOrd="0" presId="urn:microsoft.com/office/officeart/2008/layout/HorizontalMultiLevelHierarchy"/>
    <dgm:cxn modelId="{054699E3-0764-40CF-B674-F1B515B8F4FD}" type="presParOf" srcId="{7169B2B2-21A6-4B98-A17D-8980307E17C7}" destId="{913E8391-6E94-49DE-B4BA-06308F050B72}" srcOrd="0" destOrd="0" presId="urn:microsoft.com/office/officeart/2008/layout/HorizontalMultiLevelHierarchy"/>
    <dgm:cxn modelId="{36676962-6AA2-47D2-8DB3-AC934FE65A31}" type="presParOf" srcId="{7169B2B2-21A6-4B98-A17D-8980307E17C7}" destId="{54C202C9-D948-49A3-93FE-50DBF82F6D63}" srcOrd="1" destOrd="0" presId="urn:microsoft.com/office/officeart/2008/layout/HorizontalMultiLevelHierarchy"/>
    <dgm:cxn modelId="{96498348-D609-4613-AAE2-FCF0DD7EB09D}" type="presParOf" srcId="{95A3278A-6B64-4CA9-ADC9-083099AB9542}" destId="{FFD0C7D2-C01B-4920-80E7-EB5D9B544217}" srcOrd="4" destOrd="0" presId="urn:microsoft.com/office/officeart/2008/layout/HorizontalMultiLevelHierarchy"/>
    <dgm:cxn modelId="{CF1872A0-7D40-4285-AE88-54407D2AEA71}" type="presParOf" srcId="{FFD0C7D2-C01B-4920-80E7-EB5D9B544217}" destId="{D053AAA8-5C01-46F4-8134-9EACD706D9B3}" srcOrd="0" destOrd="0" presId="urn:microsoft.com/office/officeart/2008/layout/HorizontalMultiLevelHierarchy"/>
    <dgm:cxn modelId="{392B38F9-A4FF-4F4B-99CC-5A68B82F409A}" type="presParOf" srcId="{95A3278A-6B64-4CA9-ADC9-083099AB9542}" destId="{6762F3F1-EA74-4B29-B1F6-EA791A828B04}" srcOrd="5" destOrd="0" presId="urn:microsoft.com/office/officeart/2008/layout/HorizontalMultiLevelHierarchy"/>
    <dgm:cxn modelId="{8318B131-20A7-481A-83C4-E98596EF3F8A}" type="presParOf" srcId="{6762F3F1-EA74-4B29-B1F6-EA791A828B04}" destId="{4FD90DD9-C8C2-4768-BF47-AF19605C71E9}" srcOrd="0" destOrd="0" presId="urn:microsoft.com/office/officeart/2008/layout/HorizontalMultiLevelHierarchy"/>
    <dgm:cxn modelId="{26373004-3D29-43DA-956C-6D2D2F9878C6}" type="presParOf" srcId="{6762F3F1-EA74-4B29-B1F6-EA791A828B04}" destId="{A595CA7D-E060-407F-95E6-05ADFF1633BC}" srcOrd="1" destOrd="0" presId="urn:microsoft.com/office/officeart/2008/layout/HorizontalMultiLevelHierarchy"/>
    <dgm:cxn modelId="{04723B90-9A6A-4666-846E-FD35760B80BE}" type="presParOf" srcId="{95A3278A-6B64-4CA9-ADC9-083099AB9542}" destId="{24A6DECC-16AF-4577-8A1F-25A54D138DC5}" srcOrd="6" destOrd="0" presId="urn:microsoft.com/office/officeart/2008/layout/HorizontalMultiLevelHierarchy"/>
    <dgm:cxn modelId="{CA9B4EE0-8CF7-42D9-99CB-C455B4C61F6C}" type="presParOf" srcId="{24A6DECC-16AF-4577-8A1F-25A54D138DC5}" destId="{932C9667-2D53-4B09-9236-A1C6DCA71FA2}" srcOrd="0" destOrd="0" presId="urn:microsoft.com/office/officeart/2008/layout/HorizontalMultiLevelHierarchy"/>
    <dgm:cxn modelId="{B24F2FD8-50A0-4826-8465-E95448DBCB1E}" type="presParOf" srcId="{95A3278A-6B64-4CA9-ADC9-083099AB9542}" destId="{5CC3FE6E-783F-4243-80BB-2DE47D5659C5}" srcOrd="7" destOrd="0" presId="urn:microsoft.com/office/officeart/2008/layout/HorizontalMultiLevelHierarchy"/>
    <dgm:cxn modelId="{9582DC54-8CC1-4930-A3A6-46D2A7E3F68D}" type="presParOf" srcId="{5CC3FE6E-783F-4243-80BB-2DE47D5659C5}" destId="{0D4D3215-415F-463C-9D0B-7E559462068C}" srcOrd="0" destOrd="0" presId="urn:microsoft.com/office/officeart/2008/layout/HorizontalMultiLevelHierarchy"/>
    <dgm:cxn modelId="{C0860BE9-3BEF-430E-A3CE-CDACB73E71D0}" type="presParOf" srcId="{5CC3FE6E-783F-4243-80BB-2DE47D5659C5}" destId="{E94EDF85-C816-42C1-8C40-CA6AC73C2F8C}" srcOrd="1" destOrd="0" presId="urn:microsoft.com/office/officeart/2008/layout/HorizontalMultiLevelHierarchy"/>
    <dgm:cxn modelId="{F2ADCBAC-7972-4FC2-8BE5-6B5E548FA37C}" type="presParOf" srcId="{95A3278A-6B64-4CA9-ADC9-083099AB9542}" destId="{47EBE12C-4C82-437D-867D-FAB4E5567CF7}" srcOrd="8" destOrd="0" presId="urn:microsoft.com/office/officeart/2008/layout/HorizontalMultiLevelHierarchy"/>
    <dgm:cxn modelId="{0F058ACD-EC60-4C95-80C8-0F8DC54A7AA8}" type="presParOf" srcId="{47EBE12C-4C82-437D-867D-FAB4E5567CF7}" destId="{71B5F959-578D-4344-A4EF-35F574709158}" srcOrd="0" destOrd="0" presId="urn:microsoft.com/office/officeart/2008/layout/HorizontalMultiLevelHierarchy"/>
    <dgm:cxn modelId="{191EFB88-0FCC-4FE5-898B-595D4B390321}" type="presParOf" srcId="{95A3278A-6B64-4CA9-ADC9-083099AB9542}" destId="{44B25506-8E9B-42B9-AEB2-5B4A649501CB}" srcOrd="9" destOrd="0" presId="urn:microsoft.com/office/officeart/2008/layout/HorizontalMultiLevelHierarchy"/>
    <dgm:cxn modelId="{E3C17144-568A-4DCC-B435-79086A2C4F36}" type="presParOf" srcId="{44B25506-8E9B-42B9-AEB2-5B4A649501CB}" destId="{C31E10A1-ECC7-474D-B6E4-9AC39E71FA76}" srcOrd="0" destOrd="0" presId="urn:microsoft.com/office/officeart/2008/layout/HorizontalMultiLevelHierarchy"/>
    <dgm:cxn modelId="{3746E55E-2AF7-4C39-BC3A-F2B12C1F13FD}" type="presParOf" srcId="{44B25506-8E9B-42B9-AEB2-5B4A649501CB}" destId="{1261B45D-8556-4B9C-BC4C-FC9B504042BE}" srcOrd="1" destOrd="0" presId="urn:microsoft.com/office/officeart/2008/layout/HorizontalMultiLevelHierarchy"/>
    <dgm:cxn modelId="{42D4F613-F577-4EA1-9F01-1312330B1639}" type="presParOf" srcId="{95A3278A-6B64-4CA9-ADC9-083099AB9542}" destId="{3E46C6E2-2F04-4072-811B-179BA9341917}" srcOrd="10" destOrd="0" presId="urn:microsoft.com/office/officeart/2008/layout/HorizontalMultiLevelHierarchy"/>
    <dgm:cxn modelId="{C5FAD065-4B0C-4C4E-9B4F-46A43EA32AA3}" type="presParOf" srcId="{3E46C6E2-2F04-4072-811B-179BA9341917}" destId="{EAACB0FB-3604-45BB-B27C-87D3313289BA}" srcOrd="0" destOrd="0" presId="urn:microsoft.com/office/officeart/2008/layout/HorizontalMultiLevelHierarchy"/>
    <dgm:cxn modelId="{8D67528F-6D3F-4FEA-A3C9-0800A1B0E0FD}" type="presParOf" srcId="{95A3278A-6B64-4CA9-ADC9-083099AB9542}" destId="{9F2BB9C2-24C0-4835-8E39-2645B567E13C}" srcOrd="11" destOrd="0" presId="urn:microsoft.com/office/officeart/2008/layout/HorizontalMultiLevelHierarchy"/>
    <dgm:cxn modelId="{149DA92B-388B-4BF6-B758-0F2308400F49}" type="presParOf" srcId="{9F2BB9C2-24C0-4835-8E39-2645B567E13C}" destId="{4048B6C1-863F-4986-9230-A54C06D7EC17}" srcOrd="0" destOrd="0" presId="urn:microsoft.com/office/officeart/2008/layout/HorizontalMultiLevelHierarchy"/>
    <dgm:cxn modelId="{6F9003C3-AC2B-418D-BC58-FC90B00D9FE9}" type="presParOf" srcId="{9F2BB9C2-24C0-4835-8E39-2645B567E13C}" destId="{2016251B-699B-4C66-BAD3-6765A4113162}" srcOrd="1" destOrd="0" presId="urn:microsoft.com/office/officeart/2008/layout/HorizontalMultiLevelHierarchy"/>
    <dgm:cxn modelId="{BC5E373C-6811-4014-AFE8-65E74BD4A048}" type="presParOf" srcId="{95A3278A-6B64-4CA9-ADC9-083099AB9542}" destId="{E4F960E2-4958-4B03-846F-42D93FFF23BA}" srcOrd="12" destOrd="0" presId="urn:microsoft.com/office/officeart/2008/layout/HorizontalMultiLevelHierarchy"/>
    <dgm:cxn modelId="{D195BCD9-6D28-4A26-B6EE-9EAE069DDDCA}" type="presParOf" srcId="{E4F960E2-4958-4B03-846F-42D93FFF23BA}" destId="{4E1B9B4B-3032-4F9B-9F8A-6072EA6E9E27}" srcOrd="0" destOrd="0" presId="urn:microsoft.com/office/officeart/2008/layout/HorizontalMultiLevelHierarchy"/>
    <dgm:cxn modelId="{7814473E-E4BC-4430-89E7-9DAFA33D1288}" type="presParOf" srcId="{95A3278A-6B64-4CA9-ADC9-083099AB9542}" destId="{C15DE406-2BF8-40EB-96CE-29BD29C59661}" srcOrd="13" destOrd="0" presId="urn:microsoft.com/office/officeart/2008/layout/HorizontalMultiLevelHierarchy"/>
    <dgm:cxn modelId="{3206A168-CB51-4FF6-964A-E5DD730C1AFA}" type="presParOf" srcId="{C15DE406-2BF8-40EB-96CE-29BD29C59661}" destId="{4ECB98E3-24F5-4831-86A2-4BB9B0C2A6FE}" srcOrd="0" destOrd="0" presId="urn:microsoft.com/office/officeart/2008/layout/HorizontalMultiLevelHierarchy"/>
    <dgm:cxn modelId="{9F64EBB4-9DC9-49C0-8A23-D94BAB3B78EE}" type="presParOf" srcId="{C15DE406-2BF8-40EB-96CE-29BD29C59661}" destId="{B83717D1-48CC-4F6C-9DE7-BB2DCAF39221}" srcOrd="1" destOrd="0" presId="urn:microsoft.com/office/officeart/2008/layout/HorizontalMultiLevelHierarchy"/>
    <dgm:cxn modelId="{F7A3EB53-7056-4B1D-8F21-B41C88C71681}" type="presParOf" srcId="{95A3278A-6B64-4CA9-ADC9-083099AB9542}" destId="{C1F5F6C1-CCC8-407B-9B72-CF81BA4ACB8A}" srcOrd="14" destOrd="0" presId="urn:microsoft.com/office/officeart/2008/layout/HorizontalMultiLevelHierarchy"/>
    <dgm:cxn modelId="{A2DE5BD5-1719-4750-B7BF-E6DD55A73C69}" type="presParOf" srcId="{C1F5F6C1-CCC8-407B-9B72-CF81BA4ACB8A}" destId="{0589575D-69E5-4D08-9D19-816E2B98700F}" srcOrd="0" destOrd="0" presId="urn:microsoft.com/office/officeart/2008/layout/HorizontalMultiLevelHierarchy"/>
    <dgm:cxn modelId="{69E20036-94A2-408C-AC98-0A82017683F4}" type="presParOf" srcId="{95A3278A-6B64-4CA9-ADC9-083099AB9542}" destId="{F56639BF-75E5-4397-8296-27388566D2BC}" srcOrd="15" destOrd="0" presId="urn:microsoft.com/office/officeart/2008/layout/HorizontalMultiLevelHierarchy"/>
    <dgm:cxn modelId="{AE81D2C3-6633-497D-A05D-F2FB1675CDC9}" type="presParOf" srcId="{F56639BF-75E5-4397-8296-27388566D2BC}" destId="{FBA79142-102A-4FDD-B361-D4924C6D5505}" srcOrd="0" destOrd="0" presId="urn:microsoft.com/office/officeart/2008/layout/HorizontalMultiLevelHierarchy"/>
    <dgm:cxn modelId="{4085BF3E-7B47-4284-8C4A-670CFC32B697}" type="presParOf" srcId="{F56639BF-75E5-4397-8296-27388566D2BC}" destId="{F6FB0BF5-CA9E-4C8F-8D8F-050A1B9BDDAF}" srcOrd="1" destOrd="0" presId="urn:microsoft.com/office/officeart/2008/layout/HorizontalMultiLevelHierarchy"/>
    <dgm:cxn modelId="{E0B5AFB2-B89F-433F-A760-05BCC26F56DB}" type="presParOf" srcId="{95A3278A-6B64-4CA9-ADC9-083099AB9542}" destId="{67CCC8CD-9772-4926-869E-A98E86131DAC}" srcOrd="16" destOrd="0" presId="urn:microsoft.com/office/officeart/2008/layout/HorizontalMultiLevelHierarchy"/>
    <dgm:cxn modelId="{C4A3B463-CB9E-4A10-9CE8-BA3AC9B77FB4}" type="presParOf" srcId="{67CCC8CD-9772-4926-869E-A98E86131DAC}" destId="{D6DB8711-AFD8-4950-8D2E-07DEDD8DED95}" srcOrd="0" destOrd="0" presId="urn:microsoft.com/office/officeart/2008/layout/HorizontalMultiLevelHierarchy"/>
    <dgm:cxn modelId="{6C95B50D-2ED5-4B88-9C11-FDB3527408FA}" type="presParOf" srcId="{95A3278A-6B64-4CA9-ADC9-083099AB9542}" destId="{AF139851-1C5E-4854-A8A9-3B1907A31965}" srcOrd="17" destOrd="0" presId="urn:microsoft.com/office/officeart/2008/layout/HorizontalMultiLevelHierarchy"/>
    <dgm:cxn modelId="{F044CEB9-B747-4A11-B320-28CF2D1006B5}" type="presParOf" srcId="{AF139851-1C5E-4854-A8A9-3B1907A31965}" destId="{FB9A792E-565C-4D6B-8B8C-0CB6FD2B1EA2}" srcOrd="0" destOrd="0" presId="urn:microsoft.com/office/officeart/2008/layout/HorizontalMultiLevelHierarchy"/>
    <dgm:cxn modelId="{98161E96-E4F8-4D4A-BCEF-C06B68531F7C}" type="presParOf" srcId="{AF139851-1C5E-4854-A8A9-3B1907A31965}" destId="{9165893C-1152-4EF0-8AF6-E0568003FC7A}" srcOrd="1" destOrd="0" presId="urn:microsoft.com/office/officeart/2008/layout/HorizontalMultiLevelHierarchy"/>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1AEAAC-4135-40DA-99D0-573B909A943F}"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endParaRPr lang="en-US"/>
        </a:p>
      </dgm:t>
    </dgm:pt>
    <dgm:pt modelId="{FAC2C857-1FBD-463C-81C9-6A3C1C1B6F14}">
      <dgm:prSet phldrT="[Text]" custT="1"/>
      <dgm:spPr/>
      <dgm:t>
        <a:bodyPr/>
        <a:lstStyle/>
        <a:p>
          <a:r>
            <a:rPr lang="en-US" sz="2000" dirty="0"/>
            <a:t>Life </a:t>
          </a:r>
        </a:p>
        <a:p>
          <a:r>
            <a:rPr lang="en-US" sz="2000" dirty="0"/>
            <a:t>Insurance</a:t>
          </a:r>
        </a:p>
      </dgm:t>
    </dgm:pt>
    <dgm:pt modelId="{93145E85-D08C-4AC6-942C-FD0D93DA5606}" type="parTrans" cxnId="{A8C106CA-2C5E-46B8-A0B4-3C6432DDAD5D}">
      <dgm:prSet/>
      <dgm:spPr/>
      <dgm:t>
        <a:bodyPr/>
        <a:lstStyle/>
        <a:p>
          <a:endParaRPr lang="en-US"/>
        </a:p>
      </dgm:t>
    </dgm:pt>
    <dgm:pt modelId="{6F8D2940-B4B5-437B-99FA-96591F3AEB06}" type="sibTrans" cxnId="{A8C106CA-2C5E-46B8-A0B4-3C6432DDAD5D}">
      <dgm:prSet/>
      <dgm:spPr/>
      <dgm:t>
        <a:bodyPr/>
        <a:lstStyle/>
        <a:p>
          <a:endParaRPr lang="en-US"/>
        </a:p>
      </dgm:t>
    </dgm:pt>
    <dgm:pt modelId="{4C4DFF2F-8568-420A-A91E-4F64171F45BC}">
      <dgm:prSet phldrT="[Text]" custT="1"/>
      <dgm:spPr/>
      <dgm:t>
        <a:bodyPr/>
        <a:lstStyle/>
        <a:p>
          <a:r>
            <a:rPr lang="en-US" sz="2000" b="0" dirty="0"/>
            <a:t>Term Insurance</a:t>
          </a:r>
        </a:p>
      </dgm:t>
    </dgm:pt>
    <dgm:pt modelId="{2328BFEE-B426-466C-AB23-5BC34BA638D3}" type="parTrans" cxnId="{FA542CDE-FD22-4B73-ACAF-D1F0C7AAF3EA}">
      <dgm:prSet/>
      <dgm:spPr/>
      <dgm:t>
        <a:bodyPr/>
        <a:lstStyle/>
        <a:p>
          <a:endParaRPr lang="en-US"/>
        </a:p>
      </dgm:t>
    </dgm:pt>
    <dgm:pt modelId="{19B69984-4331-4BAA-92AB-CA852E0A4FDD}" type="sibTrans" cxnId="{FA542CDE-FD22-4B73-ACAF-D1F0C7AAF3EA}">
      <dgm:prSet/>
      <dgm:spPr/>
      <dgm:t>
        <a:bodyPr/>
        <a:lstStyle/>
        <a:p>
          <a:endParaRPr lang="en-US"/>
        </a:p>
      </dgm:t>
    </dgm:pt>
    <dgm:pt modelId="{E5805A69-672B-4241-9FCA-F8094A74A545}">
      <dgm:prSet phldrT="[Text]" custT="1"/>
      <dgm:spPr/>
      <dgm:t>
        <a:bodyPr/>
        <a:lstStyle/>
        <a:p>
          <a:r>
            <a:rPr lang="en-IN" sz="2000" b="0" i="0" dirty="0"/>
            <a:t>Whole Life Insurance</a:t>
          </a:r>
          <a:endParaRPr lang="en-US" sz="2000" b="0" dirty="0"/>
        </a:p>
      </dgm:t>
    </dgm:pt>
    <dgm:pt modelId="{ED2BA78F-AC6A-4969-8326-3234567DC5B4}" type="parTrans" cxnId="{71E383B4-BC08-418B-9FBE-E3583C5B59BA}">
      <dgm:prSet/>
      <dgm:spPr/>
      <dgm:t>
        <a:bodyPr/>
        <a:lstStyle/>
        <a:p>
          <a:endParaRPr lang="en-US"/>
        </a:p>
      </dgm:t>
    </dgm:pt>
    <dgm:pt modelId="{E9CE0E5A-63FE-49F2-9577-5089BB09C4EE}" type="sibTrans" cxnId="{71E383B4-BC08-418B-9FBE-E3583C5B59BA}">
      <dgm:prSet/>
      <dgm:spPr/>
      <dgm:t>
        <a:bodyPr/>
        <a:lstStyle/>
        <a:p>
          <a:endParaRPr lang="en-US"/>
        </a:p>
      </dgm:t>
    </dgm:pt>
    <dgm:pt modelId="{03116427-EC92-4B11-9B56-CD513FF7EC88}">
      <dgm:prSet phldrT="[Text]" custT="1"/>
      <dgm:spPr/>
      <dgm:t>
        <a:bodyPr/>
        <a:lstStyle/>
        <a:p>
          <a:r>
            <a:rPr lang="en-IN" sz="2000" b="0" i="0" dirty="0"/>
            <a:t>Endowment Policy</a:t>
          </a:r>
          <a:endParaRPr lang="en-US" sz="2000" b="0" dirty="0"/>
        </a:p>
      </dgm:t>
    </dgm:pt>
    <dgm:pt modelId="{643E4121-E8A3-4A48-9F79-34A518C54DE3}" type="parTrans" cxnId="{C5A0B7D7-225F-4E3A-9E2D-8FB631930EB9}">
      <dgm:prSet/>
      <dgm:spPr/>
      <dgm:t>
        <a:bodyPr/>
        <a:lstStyle/>
        <a:p>
          <a:endParaRPr lang="en-US"/>
        </a:p>
      </dgm:t>
    </dgm:pt>
    <dgm:pt modelId="{BD5CA715-64CF-4118-98C8-35B6FAEBA900}" type="sibTrans" cxnId="{C5A0B7D7-225F-4E3A-9E2D-8FB631930EB9}">
      <dgm:prSet/>
      <dgm:spPr/>
      <dgm:t>
        <a:bodyPr/>
        <a:lstStyle/>
        <a:p>
          <a:endParaRPr lang="en-US"/>
        </a:p>
      </dgm:t>
    </dgm:pt>
    <dgm:pt modelId="{9076C04F-30A8-4803-941F-0706FA735F96}">
      <dgm:prSet phldrT="[Text]" custT="1"/>
      <dgm:spPr/>
      <dgm:t>
        <a:bodyPr/>
        <a:lstStyle/>
        <a:p>
          <a:r>
            <a:rPr lang="en-IN" sz="2000" b="0" i="0" dirty="0"/>
            <a:t>Unit-Linked Insurance Plans (ULIPs)</a:t>
          </a:r>
          <a:endParaRPr lang="en-US" sz="2000" b="0" dirty="0"/>
        </a:p>
      </dgm:t>
    </dgm:pt>
    <dgm:pt modelId="{82D22340-456E-4F06-983D-B386418C5FE8}" type="parTrans" cxnId="{0F4A380C-52D1-470C-B78D-201917D05C86}">
      <dgm:prSet/>
      <dgm:spPr/>
      <dgm:t>
        <a:bodyPr/>
        <a:lstStyle/>
        <a:p>
          <a:endParaRPr lang="en-US"/>
        </a:p>
      </dgm:t>
    </dgm:pt>
    <dgm:pt modelId="{8EEE9353-51C4-4937-B68E-45AD48787369}" type="sibTrans" cxnId="{0F4A380C-52D1-470C-B78D-201917D05C86}">
      <dgm:prSet/>
      <dgm:spPr/>
      <dgm:t>
        <a:bodyPr/>
        <a:lstStyle/>
        <a:p>
          <a:endParaRPr lang="en-US"/>
        </a:p>
      </dgm:t>
    </dgm:pt>
    <dgm:pt modelId="{5C989D9A-99BF-40DE-8760-0A9044B6FF4D}">
      <dgm:prSet phldrT="[Text]" custT="1"/>
      <dgm:spPr/>
      <dgm:t>
        <a:bodyPr/>
        <a:lstStyle/>
        <a:p>
          <a:r>
            <a:rPr lang="en-IN" sz="2000" b="0" i="0" dirty="0"/>
            <a:t>Money-Back Policy</a:t>
          </a:r>
          <a:endParaRPr lang="en-US" sz="2000" b="0" dirty="0"/>
        </a:p>
      </dgm:t>
    </dgm:pt>
    <dgm:pt modelId="{99DEC612-0323-48D8-8EAF-C595024FC709}" type="parTrans" cxnId="{558DFEEF-5F5A-4FAE-88C7-B8137637B0CE}">
      <dgm:prSet/>
      <dgm:spPr/>
      <dgm:t>
        <a:bodyPr/>
        <a:lstStyle/>
        <a:p>
          <a:endParaRPr lang="en-US"/>
        </a:p>
      </dgm:t>
    </dgm:pt>
    <dgm:pt modelId="{A92981C8-36A4-444C-B687-305139725221}" type="sibTrans" cxnId="{558DFEEF-5F5A-4FAE-88C7-B8137637B0CE}">
      <dgm:prSet/>
      <dgm:spPr/>
      <dgm:t>
        <a:bodyPr/>
        <a:lstStyle/>
        <a:p>
          <a:endParaRPr lang="en-US"/>
        </a:p>
      </dgm:t>
    </dgm:pt>
    <dgm:pt modelId="{A967E0AE-03C9-4B36-A84F-746FC725108A}">
      <dgm:prSet phldrT="[Text]" custT="1"/>
      <dgm:spPr/>
      <dgm:t>
        <a:bodyPr/>
        <a:lstStyle/>
        <a:p>
          <a:r>
            <a:rPr lang="en-IN" sz="2000" b="0" i="0" dirty="0"/>
            <a:t>Children's Insurance</a:t>
          </a:r>
          <a:endParaRPr lang="en-US" sz="2000" dirty="0"/>
        </a:p>
      </dgm:t>
    </dgm:pt>
    <dgm:pt modelId="{110EDB14-87B2-4112-9C8B-E917B3134B0B}" type="parTrans" cxnId="{56496536-643F-4D75-BD45-5A176E61FC1F}">
      <dgm:prSet/>
      <dgm:spPr/>
      <dgm:t>
        <a:bodyPr/>
        <a:lstStyle/>
        <a:p>
          <a:endParaRPr lang="en-US"/>
        </a:p>
      </dgm:t>
    </dgm:pt>
    <dgm:pt modelId="{3BA7C172-94D0-4273-A2B7-D885381FF7E8}" type="sibTrans" cxnId="{56496536-643F-4D75-BD45-5A176E61FC1F}">
      <dgm:prSet/>
      <dgm:spPr/>
      <dgm:t>
        <a:bodyPr/>
        <a:lstStyle/>
        <a:p>
          <a:endParaRPr lang="en-US"/>
        </a:p>
      </dgm:t>
    </dgm:pt>
    <dgm:pt modelId="{47DAFC51-CADC-44C8-A48E-4D558EF5FC6D}">
      <dgm:prSet phldrT="[Text]" custT="1"/>
      <dgm:spPr/>
      <dgm:t>
        <a:bodyPr/>
        <a:lstStyle/>
        <a:p>
          <a:r>
            <a:rPr lang="en-IN" sz="2000" b="0" i="0" dirty="0"/>
            <a:t>Retirement Plans</a:t>
          </a:r>
          <a:endParaRPr lang="en-US" sz="2000" dirty="0"/>
        </a:p>
      </dgm:t>
    </dgm:pt>
    <dgm:pt modelId="{8127F7D7-B9F6-4A7E-A460-F408CF89B853}" type="parTrans" cxnId="{5CA8F950-6E93-43C9-8DB2-9E7549CF357F}">
      <dgm:prSet/>
      <dgm:spPr/>
      <dgm:t>
        <a:bodyPr/>
        <a:lstStyle/>
        <a:p>
          <a:endParaRPr lang="en-US"/>
        </a:p>
      </dgm:t>
    </dgm:pt>
    <dgm:pt modelId="{F1C622CA-FF83-4D3F-95C1-A6D0DB6890A5}" type="sibTrans" cxnId="{5CA8F950-6E93-43C9-8DB2-9E7549CF357F}">
      <dgm:prSet/>
      <dgm:spPr/>
      <dgm:t>
        <a:bodyPr/>
        <a:lstStyle/>
        <a:p>
          <a:endParaRPr lang="en-US"/>
        </a:p>
      </dgm:t>
    </dgm:pt>
    <dgm:pt modelId="{4667223C-A288-4669-9831-B0003C7EE2A4}" type="pres">
      <dgm:prSet presAssocID="{BF1AEAAC-4135-40DA-99D0-573B909A943F}" presName="hierChild1" presStyleCnt="0">
        <dgm:presLayoutVars>
          <dgm:orgChart val="1"/>
          <dgm:chPref val="1"/>
          <dgm:dir/>
          <dgm:animOne val="branch"/>
          <dgm:animLvl val="lvl"/>
          <dgm:resizeHandles/>
        </dgm:presLayoutVars>
      </dgm:prSet>
      <dgm:spPr/>
    </dgm:pt>
    <dgm:pt modelId="{AC4FEFF0-787A-423E-BDD7-207F01622F12}" type="pres">
      <dgm:prSet presAssocID="{FAC2C857-1FBD-463C-81C9-6A3C1C1B6F14}" presName="hierRoot1" presStyleCnt="0">
        <dgm:presLayoutVars>
          <dgm:hierBranch val="init"/>
        </dgm:presLayoutVars>
      </dgm:prSet>
      <dgm:spPr/>
    </dgm:pt>
    <dgm:pt modelId="{53B9EF42-ABF9-4E52-A348-92B11C4CF4F2}" type="pres">
      <dgm:prSet presAssocID="{FAC2C857-1FBD-463C-81C9-6A3C1C1B6F14}" presName="rootComposite1" presStyleCnt="0"/>
      <dgm:spPr/>
    </dgm:pt>
    <dgm:pt modelId="{E0F31C58-CE29-4FE2-BF10-C3EF096D455C}" type="pres">
      <dgm:prSet presAssocID="{FAC2C857-1FBD-463C-81C9-6A3C1C1B6F14}" presName="rootText1" presStyleLbl="node0" presStyleIdx="0" presStyleCnt="1">
        <dgm:presLayoutVars>
          <dgm:chPref val="3"/>
        </dgm:presLayoutVars>
      </dgm:prSet>
      <dgm:spPr/>
    </dgm:pt>
    <dgm:pt modelId="{EF1B9742-A220-402B-97E7-195B0680795B}" type="pres">
      <dgm:prSet presAssocID="{FAC2C857-1FBD-463C-81C9-6A3C1C1B6F14}" presName="rootConnector1" presStyleLbl="node1" presStyleIdx="0" presStyleCnt="0"/>
      <dgm:spPr/>
    </dgm:pt>
    <dgm:pt modelId="{79F4A3C2-3F62-45DA-BF47-89834879FCB5}" type="pres">
      <dgm:prSet presAssocID="{FAC2C857-1FBD-463C-81C9-6A3C1C1B6F14}" presName="hierChild2" presStyleCnt="0"/>
      <dgm:spPr/>
    </dgm:pt>
    <dgm:pt modelId="{0894E664-4CE7-421D-BABC-62BA606B592B}" type="pres">
      <dgm:prSet presAssocID="{2328BFEE-B426-466C-AB23-5BC34BA638D3}" presName="Name37" presStyleLbl="parChTrans1D2" presStyleIdx="0" presStyleCnt="7"/>
      <dgm:spPr/>
    </dgm:pt>
    <dgm:pt modelId="{6CAFC097-D587-4B1B-AA34-E5D6FB8BFE35}" type="pres">
      <dgm:prSet presAssocID="{4C4DFF2F-8568-420A-A91E-4F64171F45BC}" presName="hierRoot2" presStyleCnt="0">
        <dgm:presLayoutVars>
          <dgm:hierBranch val="init"/>
        </dgm:presLayoutVars>
      </dgm:prSet>
      <dgm:spPr/>
    </dgm:pt>
    <dgm:pt modelId="{0EA1ECC2-DA15-4A9C-9524-9ECA36AC1012}" type="pres">
      <dgm:prSet presAssocID="{4C4DFF2F-8568-420A-A91E-4F64171F45BC}" presName="rootComposite" presStyleCnt="0"/>
      <dgm:spPr/>
    </dgm:pt>
    <dgm:pt modelId="{5C687C42-A91D-4D49-B6D9-206F6EE15781}" type="pres">
      <dgm:prSet presAssocID="{4C4DFF2F-8568-420A-A91E-4F64171F45BC}" presName="rootText" presStyleLbl="node2" presStyleIdx="0" presStyleCnt="7">
        <dgm:presLayoutVars>
          <dgm:chPref val="3"/>
        </dgm:presLayoutVars>
      </dgm:prSet>
      <dgm:spPr/>
    </dgm:pt>
    <dgm:pt modelId="{5CE94F9D-6ABD-4396-9946-7F7F6FACCFDE}" type="pres">
      <dgm:prSet presAssocID="{4C4DFF2F-8568-420A-A91E-4F64171F45BC}" presName="rootConnector" presStyleLbl="node2" presStyleIdx="0" presStyleCnt="7"/>
      <dgm:spPr/>
    </dgm:pt>
    <dgm:pt modelId="{BF3F0C71-E968-4EE4-BC97-A8C4DDF44BC6}" type="pres">
      <dgm:prSet presAssocID="{4C4DFF2F-8568-420A-A91E-4F64171F45BC}" presName="hierChild4" presStyleCnt="0"/>
      <dgm:spPr/>
    </dgm:pt>
    <dgm:pt modelId="{7CC5278A-1D32-42C6-BDF4-F69E7185AECA}" type="pres">
      <dgm:prSet presAssocID="{4C4DFF2F-8568-420A-A91E-4F64171F45BC}" presName="hierChild5" presStyleCnt="0"/>
      <dgm:spPr/>
    </dgm:pt>
    <dgm:pt modelId="{CB702E69-5553-4D94-A2CC-F997EE996FEB}" type="pres">
      <dgm:prSet presAssocID="{ED2BA78F-AC6A-4969-8326-3234567DC5B4}" presName="Name37" presStyleLbl="parChTrans1D2" presStyleIdx="1" presStyleCnt="7"/>
      <dgm:spPr/>
    </dgm:pt>
    <dgm:pt modelId="{F0CE7E80-298D-4CB4-882B-D9343F9EDE35}" type="pres">
      <dgm:prSet presAssocID="{E5805A69-672B-4241-9FCA-F8094A74A545}" presName="hierRoot2" presStyleCnt="0">
        <dgm:presLayoutVars>
          <dgm:hierBranch val="init"/>
        </dgm:presLayoutVars>
      </dgm:prSet>
      <dgm:spPr/>
    </dgm:pt>
    <dgm:pt modelId="{B75CBE0A-5705-485F-BB5D-0AA98888705F}" type="pres">
      <dgm:prSet presAssocID="{E5805A69-672B-4241-9FCA-F8094A74A545}" presName="rootComposite" presStyleCnt="0"/>
      <dgm:spPr/>
    </dgm:pt>
    <dgm:pt modelId="{5888542A-C483-4367-B2AD-21875108D618}" type="pres">
      <dgm:prSet presAssocID="{E5805A69-672B-4241-9FCA-F8094A74A545}" presName="rootText" presStyleLbl="node2" presStyleIdx="1" presStyleCnt="7">
        <dgm:presLayoutVars>
          <dgm:chPref val="3"/>
        </dgm:presLayoutVars>
      </dgm:prSet>
      <dgm:spPr/>
    </dgm:pt>
    <dgm:pt modelId="{15521B68-0C57-4C47-8F0D-2DAE46A2D09E}" type="pres">
      <dgm:prSet presAssocID="{E5805A69-672B-4241-9FCA-F8094A74A545}" presName="rootConnector" presStyleLbl="node2" presStyleIdx="1" presStyleCnt="7"/>
      <dgm:spPr/>
    </dgm:pt>
    <dgm:pt modelId="{61F8B4E5-025D-40A8-9044-40D654FD694F}" type="pres">
      <dgm:prSet presAssocID="{E5805A69-672B-4241-9FCA-F8094A74A545}" presName="hierChild4" presStyleCnt="0"/>
      <dgm:spPr/>
    </dgm:pt>
    <dgm:pt modelId="{FB03CF0E-F98C-4C6B-A468-760126D9AF7C}" type="pres">
      <dgm:prSet presAssocID="{E5805A69-672B-4241-9FCA-F8094A74A545}" presName="hierChild5" presStyleCnt="0"/>
      <dgm:spPr/>
    </dgm:pt>
    <dgm:pt modelId="{5AC85147-BDEC-4A35-AE95-BEFA872BFCA9}" type="pres">
      <dgm:prSet presAssocID="{643E4121-E8A3-4A48-9F79-34A518C54DE3}" presName="Name37" presStyleLbl="parChTrans1D2" presStyleIdx="2" presStyleCnt="7"/>
      <dgm:spPr/>
    </dgm:pt>
    <dgm:pt modelId="{624E764C-945A-49C3-B767-1C8DC61DB29C}" type="pres">
      <dgm:prSet presAssocID="{03116427-EC92-4B11-9B56-CD513FF7EC88}" presName="hierRoot2" presStyleCnt="0">
        <dgm:presLayoutVars>
          <dgm:hierBranch val="init"/>
        </dgm:presLayoutVars>
      </dgm:prSet>
      <dgm:spPr/>
    </dgm:pt>
    <dgm:pt modelId="{68663607-90DB-42D8-96A0-18245412E63F}" type="pres">
      <dgm:prSet presAssocID="{03116427-EC92-4B11-9B56-CD513FF7EC88}" presName="rootComposite" presStyleCnt="0"/>
      <dgm:spPr/>
    </dgm:pt>
    <dgm:pt modelId="{9EC9EAF9-B0A3-40CF-ABF5-D4EEF91EE7B4}" type="pres">
      <dgm:prSet presAssocID="{03116427-EC92-4B11-9B56-CD513FF7EC88}" presName="rootText" presStyleLbl="node2" presStyleIdx="2" presStyleCnt="7">
        <dgm:presLayoutVars>
          <dgm:chPref val="3"/>
        </dgm:presLayoutVars>
      </dgm:prSet>
      <dgm:spPr/>
    </dgm:pt>
    <dgm:pt modelId="{4F469D99-BE1C-4C22-B9B0-1386C7F1DF79}" type="pres">
      <dgm:prSet presAssocID="{03116427-EC92-4B11-9B56-CD513FF7EC88}" presName="rootConnector" presStyleLbl="node2" presStyleIdx="2" presStyleCnt="7"/>
      <dgm:spPr/>
    </dgm:pt>
    <dgm:pt modelId="{4871D0A5-E333-411A-927A-81D5732080E5}" type="pres">
      <dgm:prSet presAssocID="{03116427-EC92-4B11-9B56-CD513FF7EC88}" presName="hierChild4" presStyleCnt="0"/>
      <dgm:spPr/>
    </dgm:pt>
    <dgm:pt modelId="{17D19D8D-5DC8-42C6-AB31-A5D9A2258DE3}" type="pres">
      <dgm:prSet presAssocID="{03116427-EC92-4B11-9B56-CD513FF7EC88}" presName="hierChild5" presStyleCnt="0"/>
      <dgm:spPr/>
    </dgm:pt>
    <dgm:pt modelId="{19D7C271-DD9F-4C03-8B09-7E44BA1C9747}" type="pres">
      <dgm:prSet presAssocID="{82D22340-456E-4F06-983D-B386418C5FE8}" presName="Name37" presStyleLbl="parChTrans1D2" presStyleIdx="3" presStyleCnt="7"/>
      <dgm:spPr/>
    </dgm:pt>
    <dgm:pt modelId="{E9498F48-0F7A-4051-AC93-8CE3FF6B443D}" type="pres">
      <dgm:prSet presAssocID="{9076C04F-30A8-4803-941F-0706FA735F96}" presName="hierRoot2" presStyleCnt="0">
        <dgm:presLayoutVars>
          <dgm:hierBranch val="init"/>
        </dgm:presLayoutVars>
      </dgm:prSet>
      <dgm:spPr/>
    </dgm:pt>
    <dgm:pt modelId="{8B5C9E77-FAB7-4DB8-A087-0B3AD17DB8B2}" type="pres">
      <dgm:prSet presAssocID="{9076C04F-30A8-4803-941F-0706FA735F96}" presName="rootComposite" presStyleCnt="0"/>
      <dgm:spPr/>
    </dgm:pt>
    <dgm:pt modelId="{3C5770E1-07AE-4D9B-A14C-B250C77FD80B}" type="pres">
      <dgm:prSet presAssocID="{9076C04F-30A8-4803-941F-0706FA735F96}" presName="rootText" presStyleLbl="node2" presStyleIdx="3" presStyleCnt="7">
        <dgm:presLayoutVars>
          <dgm:chPref val="3"/>
        </dgm:presLayoutVars>
      </dgm:prSet>
      <dgm:spPr/>
    </dgm:pt>
    <dgm:pt modelId="{0E9CC5DB-EC90-49E4-B272-52FD479F2879}" type="pres">
      <dgm:prSet presAssocID="{9076C04F-30A8-4803-941F-0706FA735F96}" presName="rootConnector" presStyleLbl="node2" presStyleIdx="3" presStyleCnt="7"/>
      <dgm:spPr/>
    </dgm:pt>
    <dgm:pt modelId="{07D6E755-DDD1-4D9D-AACD-E6EB3EAC717E}" type="pres">
      <dgm:prSet presAssocID="{9076C04F-30A8-4803-941F-0706FA735F96}" presName="hierChild4" presStyleCnt="0"/>
      <dgm:spPr/>
    </dgm:pt>
    <dgm:pt modelId="{CD28D6E9-147B-41F2-A355-F8E0524785A4}" type="pres">
      <dgm:prSet presAssocID="{9076C04F-30A8-4803-941F-0706FA735F96}" presName="hierChild5" presStyleCnt="0"/>
      <dgm:spPr/>
    </dgm:pt>
    <dgm:pt modelId="{DE7CA7B6-1B7E-43DE-90C1-443227A2BA86}" type="pres">
      <dgm:prSet presAssocID="{99DEC612-0323-48D8-8EAF-C595024FC709}" presName="Name37" presStyleLbl="parChTrans1D2" presStyleIdx="4" presStyleCnt="7"/>
      <dgm:spPr/>
    </dgm:pt>
    <dgm:pt modelId="{AC434BDA-6D80-4646-896D-B934A0E23D46}" type="pres">
      <dgm:prSet presAssocID="{5C989D9A-99BF-40DE-8760-0A9044B6FF4D}" presName="hierRoot2" presStyleCnt="0">
        <dgm:presLayoutVars>
          <dgm:hierBranch val="init"/>
        </dgm:presLayoutVars>
      </dgm:prSet>
      <dgm:spPr/>
    </dgm:pt>
    <dgm:pt modelId="{0750C503-3457-4162-8708-09B062A09229}" type="pres">
      <dgm:prSet presAssocID="{5C989D9A-99BF-40DE-8760-0A9044B6FF4D}" presName="rootComposite" presStyleCnt="0"/>
      <dgm:spPr/>
    </dgm:pt>
    <dgm:pt modelId="{E20E77C9-ADF0-4C3C-AAA5-9BFFEE1599A2}" type="pres">
      <dgm:prSet presAssocID="{5C989D9A-99BF-40DE-8760-0A9044B6FF4D}" presName="rootText" presStyleLbl="node2" presStyleIdx="4" presStyleCnt="7">
        <dgm:presLayoutVars>
          <dgm:chPref val="3"/>
        </dgm:presLayoutVars>
      </dgm:prSet>
      <dgm:spPr/>
    </dgm:pt>
    <dgm:pt modelId="{E1E6A1D6-2F6F-4CB4-A6D2-B9D1807CA334}" type="pres">
      <dgm:prSet presAssocID="{5C989D9A-99BF-40DE-8760-0A9044B6FF4D}" presName="rootConnector" presStyleLbl="node2" presStyleIdx="4" presStyleCnt="7"/>
      <dgm:spPr/>
    </dgm:pt>
    <dgm:pt modelId="{3397CBE6-8BAB-4825-BFDC-BF0D67CA0196}" type="pres">
      <dgm:prSet presAssocID="{5C989D9A-99BF-40DE-8760-0A9044B6FF4D}" presName="hierChild4" presStyleCnt="0"/>
      <dgm:spPr/>
    </dgm:pt>
    <dgm:pt modelId="{2DA821E3-380F-41A6-AB05-EF238811C873}" type="pres">
      <dgm:prSet presAssocID="{5C989D9A-99BF-40DE-8760-0A9044B6FF4D}" presName="hierChild5" presStyleCnt="0"/>
      <dgm:spPr/>
    </dgm:pt>
    <dgm:pt modelId="{98C750FA-4E97-486E-8A5B-809A86F6FBFE}" type="pres">
      <dgm:prSet presAssocID="{110EDB14-87B2-4112-9C8B-E917B3134B0B}" presName="Name37" presStyleLbl="parChTrans1D2" presStyleIdx="5" presStyleCnt="7"/>
      <dgm:spPr/>
    </dgm:pt>
    <dgm:pt modelId="{72189F3A-5548-47D9-AA3A-041A34559015}" type="pres">
      <dgm:prSet presAssocID="{A967E0AE-03C9-4B36-A84F-746FC725108A}" presName="hierRoot2" presStyleCnt="0">
        <dgm:presLayoutVars>
          <dgm:hierBranch val="init"/>
        </dgm:presLayoutVars>
      </dgm:prSet>
      <dgm:spPr/>
    </dgm:pt>
    <dgm:pt modelId="{6C126611-D473-411C-8777-348080D14EB8}" type="pres">
      <dgm:prSet presAssocID="{A967E0AE-03C9-4B36-A84F-746FC725108A}" presName="rootComposite" presStyleCnt="0"/>
      <dgm:spPr/>
    </dgm:pt>
    <dgm:pt modelId="{121229CC-85C0-41FD-BB22-F41EC02B9F61}" type="pres">
      <dgm:prSet presAssocID="{A967E0AE-03C9-4B36-A84F-746FC725108A}" presName="rootText" presStyleLbl="node2" presStyleIdx="5" presStyleCnt="7">
        <dgm:presLayoutVars>
          <dgm:chPref val="3"/>
        </dgm:presLayoutVars>
      </dgm:prSet>
      <dgm:spPr/>
    </dgm:pt>
    <dgm:pt modelId="{DAB3B009-681B-455C-B8EC-469B827C910D}" type="pres">
      <dgm:prSet presAssocID="{A967E0AE-03C9-4B36-A84F-746FC725108A}" presName="rootConnector" presStyleLbl="node2" presStyleIdx="5" presStyleCnt="7"/>
      <dgm:spPr/>
    </dgm:pt>
    <dgm:pt modelId="{7DA13F54-3FB8-4114-9ED0-503977B520EF}" type="pres">
      <dgm:prSet presAssocID="{A967E0AE-03C9-4B36-A84F-746FC725108A}" presName="hierChild4" presStyleCnt="0"/>
      <dgm:spPr/>
    </dgm:pt>
    <dgm:pt modelId="{577969E8-179B-4BC2-B68A-E367F208845F}" type="pres">
      <dgm:prSet presAssocID="{A967E0AE-03C9-4B36-A84F-746FC725108A}" presName="hierChild5" presStyleCnt="0"/>
      <dgm:spPr/>
    </dgm:pt>
    <dgm:pt modelId="{8A69FD44-54DC-471D-BBF5-124B69D8C80E}" type="pres">
      <dgm:prSet presAssocID="{8127F7D7-B9F6-4A7E-A460-F408CF89B853}" presName="Name37" presStyleLbl="parChTrans1D2" presStyleIdx="6" presStyleCnt="7"/>
      <dgm:spPr/>
    </dgm:pt>
    <dgm:pt modelId="{9D00AB86-50BB-4596-8365-FCED7B8743D0}" type="pres">
      <dgm:prSet presAssocID="{47DAFC51-CADC-44C8-A48E-4D558EF5FC6D}" presName="hierRoot2" presStyleCnt="0">
        <dgm:presLayoutVars>
          <dgm:hierBranch val="init"/>
        </dgm:presLayoutVars>
      </dgm:prSet>
      <dgm:spPr/>
    </dgm:pt>
    <dgm:pt modelId="{4EC6236F-46EE-4194-8A41-2CFCF2DEDC06}" type="pres">
      <dgm:prSet presAssocID="{47DAFC51-CADC-44C8-A48E-4D558EF5FC6D}" presName="rootComposite" presStyleCnt="0"/>
      <dgm:spPr/>
    </dgm:pt>
    <dgm:pt modelId="{79656BB0-7E0D-4789-8ECB-E2A524C689A0}" type="pres">
      <dgm:prSet presAssocID="{47DAFC51-CADC-44C8-A48E-4D558EF5FC6D}" presName="rootText" presStyleLbl="node2" presStyleIdx="6" presStyleCnt="7">
        <dgm:presLayoutVars>
          <dgm:chPref val="3"/>
        </dgm:presLayoutVars>
      </dgm:prSet>
      <dgm:spPr/>
    </dgm:pt>
    <dgm:pt modelId="{4120A316-7603-41C6-A0D2-3224D573A917}" type="pres">
      <dgm:prSet presAssocID="{47DAFC51-CADC-44C8-A48E-4D558EF5FC6D}" presName="rootConnector" presStyleLbl="node2" presStyleIdx="6" presStyleCnt="7"/>
      <dgm:spPr/>
    </dgm:pt>
    <dgm:pt modelId="{ABA87BC0-B5B2-423D-A533-4EFC08936209}" type="pres">
      <dgm:prSet presAssocID="{47DAFC51-CADC-44C8-A48E-4D558EF5FC6D}" presName="hierChild4" presStyleCnt="0"/>
      <dgm:spPr/>
    </dgm:pt>
    <dgm:pt modelId="{7A0A6CA9-A0F1-40CD-BB29-46A47A1F865A}" type="pres">
      <dgm:prSet presAssocID="{47DAFC51-CADC-44C8-A48E-4D558EF5FC6D}" presName="hierChild5" presStyleCnt="0"/>
      <dgm:spPr/>
    </dgm:pt>
    <dgm:pt modelId="{0004AFF3-82C5-42F7-AB37-67FE00728D1E}" type="pres">
      <dgm:prSet presAssocID="{FAC2C857-1FBD-463C-81C9-6A3C1C1B6F14}" presName="hierChild3" presStyleCnt="0"/>
      <dgm:spPr/>
    </dgm:pt>
  </dgm:ptLst>
  <dgm:cxnLst>
    <dgm:cxn modelId="{0F4A380C-52D1-470C-B78D-201917D05C86}" srcId="{FAC2C857-1FBD-463C-81C9-6A3C1C1B6F14}" destId="{9076C04F-30A8-4803-941F-0706FA735F96}" srcOrd="3" destOrd="0" parTransId="{82D22340-456E-4F06-983D-B386418C5FE8}" sibTransId="{8EEE9353-51C4-4937-B68E-45AD48787369}"/>
    <dgm:cxn modelId="{258DC818-7B1B-4261-B492-29D029C6E7F2}" type="presOf" srcId="{A967E0AE-03C9-4B36-A84F-746FC725108A}" destId="{121229CC-85C0-41FD-BB22-F41EC02B9F61}" srcOrd="0" destOrd="0" presId="urn:microsoft.com/office/officeart/2005/8/layout/orgChart1"/>
    <dgm:cxn modelId="{82C48E31-5FD2-4600-A342-E8CF8378E5DB}" type="presOf" srcId="{2328BFEE-B426-466C-AB23-5BC34BA638D3}" destId="{0894E664-4CE7-421D-BABC-62BA606B592B}" srcOrd="0" destOrd="0" presId="urn:microsoft.com/office/officeart/2005/8/layout/orgChart1"/>
    <dgm:cxn modelId="{36E77635-9243-4315-9F99-57B328779296}" type="presOf" srcId="{9076C04F-30A8-4803-941F-0706FA735F96}" destId="{0E9CC5DB-EC90-49E4-B272-52FD479F2879}" srcOrd="1" destOrd="0" presId="urn:microsoft.com/office/officeart/2005/8/layout/orgChart1"/>
    <dgm:cxn modelId="{56496536-643F-4D75-BD45-5A176E61FC1F}" srcId="{FAC2C857-1FBD-463C-81C9-6A3C1C1B6F14}" destId="{A967E0AE-03C9-4B36-A84F-746FC725108A}" srcOrd="5" destOrd="0" parTransId="{110EDB14-87B2-4112-9C8B-E917B3134B0B}" sibTransId="{3BA7C172-94D0-4273-A2B7-D885381FF7E8}"/>
    <dgm:cxn modelId="{74AB5737-F287-4F7B-A80E-6D3F3E788925}" type="presOf" srcId="{5C989D9A-99BF-40DE-8760-0A9044B6FF4D}" destId="{E1E6A1D6-2F6F-4CB4-A6D2-B9D1807CA334}" srcOrd="1" destOrd="0" presId="urn:microsoft.com/office/officeart/2005/8/layout/orgChart1"/>
    <dgm:cxn modelId="{03D6FE42-6B72-4DE4-AAAE-229CCC0FFF22}" type="presOf" srcId="{E5805A69-672B-4241-9FCA-F8094A74A545}" destId="{5888542A-C483-4367-B2AD-21875108D618}" srcOrd="0" destOrd="0" presId="urn:microsoft.com/office/officeart/2005/8/layout/orgChart1"/>
    <dgm:cxn modelId="{F680F94B-A51F-42B3-9882-DCE2F1C0D6D0}" type="presOf" srcId="{110EDB14-87B2-4112-9C8B-E917B3134B0B}" destId="{98C750FA-4E97-486E-8A5B-809A86F6FBFE}" srcOrd="0" destOrd="0" presId="urn:microsoft.com/office/officeart/2005/8/layout/orgChart1"/>
    <dgm:cxn modelId="{53118A6C-0611-4823-A1C4-3AE22A15F9AC}" type="presOf" srcId="{8127F7D7-B9F6-4A7E-A460-F408CF89B853}" destId="{8A69FD44-54DC-471D-BBF5-124B69D8C80E}" srcOrd="0" destOrd="0" presId="urn:microsoft.com/office/officeart/2005/8/layout/orgChart1"/>
    <dgm:cxn modelId="{5CA8F950-6E93-43C9-8DB2-9E7549CF357F}" srcId="{FAC2C857-1FBD-463C-81C9-6A3C1C1B6F14}" destId="{47DAFC51-CADC-44C8-A48E-4D558EF5FC6D}" srcOrd="6" destOrd="0" parTransId="{8127F7D7-B9F6-4A7E-A460-F408CF89B853}" sibTransId="{F1C622CA-FF83-4D3F-95C1-A6D0DB6890A5}"/>
    <dgm:cxn modelId="{BF4B1E52-0F08-4A2E-9D1B-BB3A5CAEC1C2}" type="presOf" srcId="{A967E0AE-03C9-4B36-A84F-746FC725108A}" destId="{DAB3B009-681B-455C-B8EC-469B827C910D}" srcOrd="1" destOrd="0" presId="urn:microsoft.com/office/officeart/2005/8/layout/orgChart1"/>
    <dgm:cxn modelId="{D8FA4275-E8D4-4849-8B24-7F9ED377F165}" type="presOf" srcId="{47DAFC51-CADC-44C8-A48E-4D558EF5FC6D}" destId="{79656BB0-7E0D-4789-8ECB-E2A524C689A0}" srcOrd="0" destOrd="0" presId="urn:microsoft.com/office/officeart/2005/8/layout/orgChart1"/>
    <dgm:cxn modelId="{32123259-713F-4661-A076-F4F2A68D1562}" type="presOf" srcId="{ED2BA78F-AC6A-4969-8326-3234567DC5B4}" destId="{CB702E69-5553-4D94-A2CC-F997EE996FEB}" srcOrd="0" destOrd="0" presId="urn:microsoft.com/office/officeart/2005/8/layout/orgChart1"/>
    <dgm:cxn modelId="{93CFF279-6C23-4D4D-B9AF-BFB4FDC880E5}" type="presOf" srcId="{4C4DFF2F-8568-420A-A91E-4F64171F45BC}" destId="{5CE94F9D-6ABD-4396-9946-7F7F6FACCFDE}" srcOrd="1" destOrd="0" presId="urn:microsoft.com/office/officeart/2005/8/layout/orgChart1"/>
    <dgm:cxn modelId="{82668780-2030-4DC3-BC9A-40E5DC0100A6}" type="presOf" srcId="{99DEC612-0323-48D8-8EAF-C595024FC709}" destId="{DE7CA7B6-1B7E-43DE-90C1-443227A2BA86}" srcOrd="0" destOrd="0" presId="urn:microsoft.com/office/officeart/2005/8/layout/orgChart1"/>
    <dgm:cxn modelId="{F7E97A86-83DA-4268-8726-F2F95C8AE123}" type="presOf" srcId="{FAC2C857-1FBD-463C-81C9-6A3C1C1B6F14}" destId="{EF1B9742-A220-402B-97E7-195B0680795B}" srcOrd="1" destOrd="0" presId="urn:microsoft.com/office/officeart/2005/8/layout/orgChart1"/>
    <dgm:cxn modelId="{C21D058A-6AC4-4EC7-A7A8-C66EDAB4E858}" type="presOf" srcId="{03116427-EC92-4B11-9B56-CD513FF7EC88}" destId="{9EC9EAF9-B0A3-40CF-ABF5-D4EEF91EE7B4}" srcOrd="0" destOrd="0" presId="urn:microsoft.com/office/officeart/2005/8/layout/orgChart1"/>
    <dgm:cxn modelId="{A338CE91-0CCE-4D95-85B4-E852C1AA3F50}" type="presOf" srcId="{5C989D9A-99BF-40DE-8760-0A9044B6FF4D}" destId="{E20E77C9-ADF0-4C3C-AAA5-9BFFEE1599A2}" srcOrd="0" destOrd="0" presId="urn:microsoft.com/office/officeart/2005/8/layout/orgChart1"/>
    <dgm:cxn modelId="{1DCA2F9C-0CFF-45F0-9F35-EA79CC38ED33}" type="presOf" srcId="{9076C04F-30A8-4803-941F-0706FA735F96}" destId="{3C5770E1-07AE-4D9B-A14C-B250C77FD80B}" srcOrd="0" destOrd="0" presId="urn:microsoft.com/office/officeart/2005/8/layout/orgChart1"/>
    <dgm:cxn modelId="{52EC30A7-F380-4BBF-9C1D-35C9C14A1EAC}" type="presOf" srcId="{BF1AEAAC-4135-40DA-99D0-573B909A943F}" destId="{4667223C-A288-4669-9831-B0003C7EE2A4}" srcOrd="0" destOrd="0" presId="urn:microsoft.com/office/officeart/2005/8/layout/orgChart1"/>
    <dgm:cxn modelId="{CDF793A9-C754-4E74-B729-ED23877983CD}" type="presOf" srcId="{82D22340-456E-4F06-983D-B386418C5FE8}" destId="{19D7C271-DD9F-4C03-8B09-7E44BA1C9747}" srcOrd="0" destOrd="0" presId="urn:microsoft.com/office/officeart/2005/8/layout/orgChart1"/>
    <dgm:cxn modelId="{71E383B4-BC08-418B-9FBE-E3583C5B59BA}" srcId="{FAC2C857-1FBD-463C-81C9-6A3C1C1B6F14}" destId="{E5805A69-672B-4241-9FCA-F8094A74A545}" srcOrd="1" destOrd="0" parTransId="{ED2BA78F-AC6A-4969-8326-3234567DC5B4}" sibTransId="{E9CE0E5A-63FE-49F2-9577-5089BB09C4EE}"/>
    <dgm:cxn modelId="{47D5F7B6-8178-498B-A45B-5DAB03910033}" type="presOf" srcId="{643E4121-E8A3-4A48-9F79-34A518C54DE3}" destId="{5AC85147-BDEC-4A35-AE95-BEFA872BFCA9}" srcOrd="0" destOrd="0" presId="urn:microsoft.com/office/officeart/2005/8/layout/orgChart1"/>
    <dgm:cxn modelId="{47D363B7-5754-4AE2-B10A-5CD7A930F4D1}" type="presOf" srcId="{FAC2C857-1FBD-463C-81C9-6A3C1C1B6F14}" destId="{E0F31C58-CE29-4FE2-BF10-C3EF096D455C}" srcOrd="0" destOrd="0" presId="urn:microsoft.com/office/officeart/2005/8/layout/orgChart1"/>
    <dgm:cxn modelId="{405F6AC7-0CE1-4514-8422-BD1516962A9D}" type="presOf" srcId="{47DAFC51-CADC-44C8-A48E-4D558EF5FC6D}" destId="{4120A316-7603-41C6-A0D2-3224D573A917}" srcOrd="1" destOrd="0" presId="urn:microsoft.com/office/officeart/2005/8/layout/orgChart1"/>
    <dgm:cxn modelId="{A8C106CA-2C5E-46B8-A0B4-3C6432DDAD5D}" srcId="{BF1AEAAC-4135-40DA-99D0-573B909A943F}" destId="{FAC2C857-1FBD-463C-81C9-6A3C1C1B6F14}" srcOrd="0" destOrd="0" parTransId="{93145E85-D08C-4AC6-942C-FD0D93DA5606}" sibTransId="{6F8D2940-B4B5-437B-99FA-96591F3AEB06}"/>
    <dgm:cxn modelId="{E5E030D5-DF43-436D-8691-4D96E19E9864}" type="presOf" srcId="{4C4DFF2F-8568-420A-A91E-4F64171F45BC}" destId="{5C687C42-A91D-4D49-B6D9-206F6EE15781}" srcOrd="0" destOrd="0" presId="urn:microsoft.com/office/officeart/2005/8/layout/orgChart1"/>
    <dgm:cxn modelId="{C409E0D5-DE19-4844-BDDD-062E07E27614}" type="presOf" srcId="{03116427-EC92-4B11-9B56-CD513FF7EC88}" destId="{4F469D99-BE1C-4C22-B9B0-1386C7F1DF79}" srcOrd="1" destOrd="0" presId="urn:microsoft.com/office/officeart/2005/8/layout/orgChart1"/>
    <dgm:cxn modelId="{C5A0B7D7-225F-4E3A-9E2D-8FB631930EB9}" srcId="{FAC2C857-1FBD-463C-81C9-6A3C1C1B6F14}" destId="{03116427-EC92-4B11-9B56-CD513FF7EC88}" srcOrd="2" destOrd="0" parTransId="{643E4121-E8A3-4A48-9F79-34A518C54DE3}" sibTransId="{BD5CA715-64CF-4118-98C8-35B6FAEBA900}"/>
    <dgm:cxn modelId="{FA542CDE-FD22-4B73-ACAF-D1F0C7AAF3EA}" srcId="{FAC2C857-1FBD-463C-81C9-6A3C1C1B6F14}" destId="{4C4DFF2F-8568-420A-A91E-4F64171F45BC}" srcOrd="0" destOrd="0" parTransId="{2328BFEE-B426-466C-AB23-5BC34BA638D3}" sibTransId="{19B69984-4331-4BAA-92AB-CA852E0A4FDD}"/>
    <dgm:cxn modelId="{B09EA0E2-8B25-4EEC-A480-4ED198874A25}" type="presOf" srcId="{E5805A69-672B-4241-9FCA-F8094A74A545}" destId="{15521B68-0C57-4C47-8F0D-2DAE46A2D09E}" srcOrd="1" destOrd="0" presId="urn:microsoft.com/office/officeart/2005/8/layout/orgChart1"/>
    <dgm:cxn modelId="{558DFEEF-5F5A-4FAE-88C7-B8137637B0CE}" srcId="{FAC2C857-1FBD-463C-81C9-6A3C1C1B6F14}" destId="{5C989D9A-99BF-40DE-8760-0A9044B6FF4D}" srcOrd="4" destOrd="0" parTransId="{99DEC612-0323-48D8-8EAF-C595024FC709}" sibTransId="{A92981C8-36A4-444C-B687-305139725221}"/>
    <dgm:cxn modelId="{4B05027C-9593-4B2D-AC5A-D8213329698D}" type="presParOf" srcId="{4667223C-A288-4669-9831-B0003C7EE2A4}" destId="{AC4FEFF0-787A-423E-BDD7-207F01622F12}" srcOrd="0" destOrd="0" presId="urn:microsoft.com/office/officeart/2005/8/layout/orgChart1"/>
    <dgm:cxn modelId="{0CBA62A8-7D87-42E5-83B1-95E2458DA192}" type="presParOf" srcId="{AC4FEFF0-787A-423E-BDD7-207F01622F12}" destId="{53B9EF42-ABF9-4E52-A348-92B11C4CF4F2}" srcOrd="0" destOrd="0" presId="urn:microsoft.com/office/officeart/2005/8/layout/orgChart1"/>
    <dgm:cxn modelId="{E499D1FB-F889-48EA-A816-6B77BA959687}" type="presParOf" srcId="{53B9EF42-ABF9-4E52-A348-92B11C4CF4F2}" destId="{E0F31C58-CE29-4FE2-BF10-C3EF096D455C}" srcOrd="0" destOrd="0" presId="urn:microsoft.com/office/officeart/2005/8/layout/orgChart1"/>
    <dgm:cxn modelId="{9B859D45-1D35-4D2F-AA00-AA67B444D801}" type="presParOf" srcId="{53B9EF42-ABF9-4E52-A348-92B11C4CF4F2}" destId="{EF1B9742-A220-402B-97E7-195B0680795B}" srcOrd="1" destOrd="0" presId="urn:microsoft.com/office/officeart/2005/8/layout/orgChart1"/>
    <dgm:cxn modelId="{32094D5B-35FF-4AF5-80A8-895B3667BC3B}" type="presParOf" srcId="{AC4FEFF0-787A-423E-BDD7-207F01622F12}" destId="{79F4A3C2-3F62-45DA-BF47-89834879FCB5}" srcOrd="1" destOrd="0" presId="urn:microsoft.com/office/officeart/2005/8/layout/orgChart1"/>
    <dgm:cxn modelId="{74CF7CEE-6D5C-4AEA-9177-02BC6AE82A66}" type="presParOf" srcId="{79F4A3C2-3F62-45DA-BF47-89834879FCB5}" destId="{0894E664-4CE7-421D-BABC-62BA606B592B}" srcOrd="0" destOrd="0" presId="urn:microsoft.com/office/officeart/2005/8/layout/orgChart1"/>
    <dgm:cxn modelId="{F243356D-2AA2-43CC-9EE4-636F6B71D5F7}" type="presParOf" srcId="{79F4A3C2-3F62-45DA-BF47-89834879FCB5}" destId="{6CAFC097-D587-4B1B-AA34-E5D6FB8BFE35}" srcOrd="1" destOrd="0" presId="urn:microsoft.com/office/officeart/2005/8/layout/orgChart1"/>
    <dgm:cxn modelId="{CCB3110B-AF20-4E42-8E2D-21A9CEF9CAE5}" type="presParOf" srcId="{6CAFC097-D587-4B1B-AA34-E5D6FB8BFE35}" destId="{0EA1ECC2-DA15-4A9C-9524-9ECA36AC1012}" srcOrd="0" destOrd="0" presId="urn:microsoft.com/office/officeart/2005/8/layout/orgChart1"/>
    <dgm:cxn modelId="{A8CDC45A-6558-4858-9AA3-695F867AE4C4}" type="presParOf" srcId="{0EA1ECC2-DA15-4A9C-9524-9ECA36AC1012}" destId="{5C687C42-A91D-4D49-B6D9-206F6EE15781}" srcOrd="0" destOrd="0" presId="urn:microsoft.com/office/officeart/2005/8/layout/orgChart1"/>
    <dgm:cxn modelId="{9D716B48-1C77-4FA1-B336-47D9603DCC46}" type="presParOf" srcId="{0EA1ECC2-DA15-4A9C-9524-9ECA36AC1012}" destId="{5CE94F9D-6ABD-4396-9946-7F7F6FACCFDE}" srcOrd="1" destOrd="0" presId="urn:microsoft.com/office/officeart/2005/8/layout/orgChart1"/>
    <dgm:cxn modelId="{D3DAA06B-C725-4762-8BBC-9DBCD28DCB8B}" type="presParOf" srcId="{6CAFC097-D587-4B1B-AA34-E5D6FB8BFE35}" destId="{BF3F0C71-E968-4EE4-BC97-A8C4DDF44BC6}" srcOrd="1" destOrd="0" presId="urn:microsoft.com/office/officeart/2005/8/layout/orgChart1"/>
    <dgm:cxn modelId="{55A28ED7-8741-4D60-AABA-B047DBD7DFF9}" type="presParOf" srcId="{6CAFC097-D587-4B1B-AA34-E5D6FB8BFE35}" destId="{7CC5278A-1D32-42C6-BDF4-F69E7185AECA}" srcOrd="2" destOrd="0" presId="urn:microsoft.com/office/officeart/2005/8/layout/orgChart1"/>
    <dgm:cxn modelId="{E27B1366-7D81-4B2D-8C9A-A30BCD9B0B8A}" type="presParOf" srcId="{79F4A3C2-3F62-45DA-BF47-89834879FCB5}" destId="{CB702E69-5553-4D94-A2CC-F997EE996FEB}" srcOrd="2" destOrd="0" presId="urn:microsoft.com/office/officeart/2005/8/layout/orgChart1"/>
    <dgm:cxn modelId="{01BAE065-82C9-4F48-A804-DBB28734F424}" type="presParOf" srcId="{79F4A3C2-3F62-45DA-BF47-89834879FCB5}" destId="{F0CE7E80-298D-4CB4-882B-D9343F9EDE35}" srcOrd="3" destOrd="0" presId="urn:microsoft.com/office/officeart/2005/8/layout/orgChart1"/>
    <dgm:cxn modelId="{685F469E-F28F-436F-8AF7-AE859B4A8385}" type="presParOf" srcId="{F0CE7E80-298D-4CB4-882B-D9343F9EDE35}" destId="{B75CBE0A-5705-485F-BB5D-0AA98888705F}" srcOrd="0" destOrd="0" presId="urn:microsoft.com/office/officeart/2005/8/layout/orgChart1"/>
    <dgm:cxn modelId="{C3316C4C-3461-40F3-A427-65D036865C90}" type="presParOf" srcId="{B75CBE0A-5705-485F-BB5D-0AA98888705F}" destId="{5888542A-C483-4367-B2AD-21875108D618}" srcOrd="0" destOrd="0" presId="urn:microsoft.com/office/officeart/2005/8/layout/orgChart1"/>
    <dgm:cxn modelId="{25000E93-7808-4650-A30C-513C62FC66F1}" type="presParOf" srcId="{B75CBE0A-5705-485F-BB5D-0AA98888705F}" destId="{15521B68-0C57-4C47-8F0D-2DAE46A2D09E}" srcOrd="1" destOrd="0" presId="urn:microsoft.com/office/officeart/2005/8/layout/orgChart1"/>
    <dgm:cxn modelId="{AB740E83-CC82-4240-AD41-3421A19FFFEB}" type="presParOf" srcId="{F0CE7E80-298D-4CB4-882B-D9343F9EDE35}" destId="{61F8B4E5-025D-40A8-9044-40D654FD694F}" srcOrd="1" destOrd="0" presId="urn:microsoft.com/office/officeart/2005/8/layout/orgChart1"/>
    <dgm:cxn modelId="{A7CF4AF1-1911-4158-84D4-EFFFF5146743}" type="presParOf" srcId="{F0CE7E80-298D-4CB4-882B-D9343F9EDE35}" destId="{FB03CF0E-F98C-4C6B-A468-760126D9AF7C}" srcOrd="2" destOrd="0" presId="urn:microsoft.com/office/officeart/2005/8/layout/orgChart1"/>
    <dgm:cxn modelId="{34F3BE34-064B-41F2-B0AD-343EE79A46BF}" type="presParOf" srcId="{79F4A3C2-3F62-45DA-BF47-89834879FCB5}" destId="{5AC85147-BDEC-4A35-AE95-BEFA872BFCA9}" srcOrd="4" destOrd="0" presId="urn:microsoft.com/office/officeart/2005/8/layout/orgChart1"/>
    <dgm:cxn modelId="{694E5C94-1886-45E0-A26D-AE898E5DB67F}" type="presParOf" srcId="{79F4A3C2-3F62-45DA-BF47-89834879FCB5}" destId="{624E764C-945A-49C3-B767-1C8DC61DB29C}" srcOrd="5" destOrd="0" presId="urn:microsoft.com/office/officeart/2005/8/layout/orgChart1"/>
    <dgm:cxn modelId="{E1F980C2-8087-460F-B6E3-E05BC9AD18EA}" type="presParOf" srcId="{624E764C-945A-49C3-B767-1C8DC61DB29C}" destId="{68663607-90DB-42D8-96A0-18245412E63F}" srcOrd="0" destOrd="0" presId="urn:microsoft.com/office/officeart/2005/8/layout/orgChart1"/>
    <dgm:cxn modelId="{F4582599-5FDC-4616-B5C5-5B0FEDECA6A9}" type="presParOf" srcId="{68663607-90DB-42D8-96A0-18245412E63F}" destId="{9EC9EAF9-B0A3-40CF-ABF5-D4EEF91EE7B4}" srcOrd="0" destOrd="0" presId="urn:microsoft.com/office/officeart/2005/8/layout/orgChart1"/>
    <dgm:cxn modelId="{B0337E49-BEB8-4F15-AE1B-0EEAE986FF29}" type="presParOf" srcId="{68663607-90DB-42D8-96A0-18245412E63F}" destId="{4F469D99-BE1C-4C22-B9B0-1386C7F1DF79}" srcOrd="1" destOrd="0" presId="urn:microsoft.com/office/officeart/2005/8/layout/orgChart1"/>
    <dgm:cxn modelId="{C56889BD-D8B6-4700-9CA1-C06C3CF6640E}" type="presParOf" srcId="{624E764C-945A-49C3-B767-1C8DC61DB29C}" destId="{4871D0A5-E333-411A-927A-81D5732080E5}" srcOrd="1" destOrd="0" presId="urn:microsoft.com/office/officeart/2005/8/layout/orgChart1"/>
    <dgm:cxn modelId="{CC2EF51C-B1C7-4100-95C2-8DB04C82D360}" type="presParOf" srcId="{624E764C-945A-49C3-B767-1C8DC61DB29C}" destId="{17D19D8D-5DC8-42C6-AB31-A5D9A2258DE3}" srcOrd="2" destOrd="0" presId="urn:microsoft.com/office/officeart/2005/8/layout/orgChart1"/>
    <dgm:cxn modelId="{FF0654A3-42E7-4C9A-97D5-F27128423EDF}" type="presParOf" srcId="{79F4A3C2-3F62-45DA-BF47-89834879FCB5}" destId="{19D7C271-DD9F-4C03-8B09-7E44BA1C9747}" srcOrd="6" destOrd="0" presId="urn:microsoft.com/office/officeart/2005/8/layout/orgChart1"/>
    <dgm:cxn modelId="{9F9FA853-1547-4AA1-9BF4-EA2308A3CEC6}" type="presParOf" srcId="{79F4A3C2-3F62-45DA-BF47-89834879FCB5}" destId="{E9498F48-0F7A-4051-AC93-8CE3FF6B443D}" srcOrd="7" destOrd="0" presId="urn:microsoft.com/office/officeart/2005/8/layout/orgChart1"/>
    <dgm:cxn modelId="{0BA1D426-EDD6-46E4-94F0-48AD59B99036}" type="presParOf" srcId="{E9498F48-0F7A-4051-AC93-8CE3FF6B443D}" destId="{8B5C9E77-FAB7-4DB8-A087-0B3AD17DB8B2}" srcOrd="0" destOrd="0" presId="urn:microsoft.com/office/officeart/2005/8/layout/orgChart1"/>
    <dgm:cxn modelId="{FBE3098D-2ECA-47B1-92A9-58351EE9A753}" type="presParOf" srcId="{8B5C9E77-FAB7-4DB8-A087-0B3AD17DB8B2}" destId="{3C5770E1-07AE-4D9B-A14C-B250C77FD80B}" srcOrd="0" destOrd="0" presId="urn:microsoft.com/office/officeart/2005/8/layout/orgChart1"/>
    <dgm:cxn modelId="{CC240A00-C7D4-42C6-B0A7-28572D8508F2}" type="presParOf" srcId="{8B5C9E77-FAB7-4DB8-A087-0B3AD17DB8B2}" destId="{0E9CC5DB-EC90-49E4-B272-52FD479F2879}" srcOrd="1" destOrd="0" presId="urn:microsoft.com/office/officeart/2005/8/layout/orgChart1"/>
    <dgm:cxn modelId="{2B1045D3-C0C3-46FA-B32C-B445CBE37067}" type="presParOf" srcId="{E9498F48-0F7A-4051-AC93-8CE3FF6B443D}" destId="{07D6E755-DDD1-4D9D-AACD-E6EB3EAC717E}" srcOrd="1" destOrd="0" presId="urn:microsoft.com/office/officeart/2005/8/layout/orgChart1"/>
    <dgm:cxn modelId="{600AF185-EC80-459D-89BB-06EDE89D2C61}" type="presParOf" srcId="{E9498F48-0F7A-4051-AC93-8CE3FF6B443D}" destId="{CD28D6E9-147B-41F2-A355-F8E0524785A4}" srcOrd="2" destOrd="0" presId="urn:microsoft.com/office/officeart/2005/8/layout/orgChart1"/>
    <dgm:cxn modelId="{6E92D5FE-13E8-4811-B989-87037A85CCD3}" type="presParOf" srcId="{79F4A3C2-3F62-45DA-BF47-89834879FCB5}" destId="{DE7CA7B6-1B7E-43DE-90C1-443227A2BA86}" srcOrd="8" destOrd="0" presId="urn:microsoft.com/office/officeart/2005/8/layout/orgChart1"/>
    <dgm:cxn modelId="{6458FD49-C056-4D92-9784-E659706BA732}" type="presParOf" srcId="{79F4A3C2-3F62-45DA-BF47-89834879FCB5}" destId="{AC434BDA-6D80-4646-896D-B934A0E23D46}" srcOrd="9" destOrd="0" presId="urn:microsoft.com/office/officeart/2005/8/layout/orgChart1"/>
    <dgm:cxn modelId="{35D03E59-7E9B-4369-83BD-F6EAD8E59AD7}" type="presParOf" srcId="{AC434BDA-6D80-4646-896D-B934A0E23D46}" destId="{0750C503-3457-4162-8708-09B062A09229}" srcOrd="0" destOrd="0" presId="urn:microsoft.com/office/officeart/2005/8/layout/orgChart1"/>
    <dgm:cxn modelId="{9A89D6AB-94F4-46B4-920F-4FCA2EB8A079}" type="presParOf" srcId="{0750C503-3457-4162-8708-09B062A09229}" destId="{E20E77C9-ADF0-4C3C-AAA5-9BFFEE1599A2}" srcOrd="0" destOrd="0" presId="urn:microsoft.com/office/officeart/2005/8/layout/orgChart1"/>
    <dgm:cxn modelId="{8CB2CD6C-6F24-4296-A2BA-97C4AE8C8BEE}" type="presParOf" srcId="{0750C503-3457-4162-8708-09B062A09229}" destId="{E1E6A1D6-2F6F-4CB4-A6D2-B9D1807CA334}" srcOrd="1" destOrd="0" presId="urn:microsoft.com/office/officeart/2005/8/layout/orgChart1"/>
    <dgm:cxn modelId="{D90AAC2C-F4CA-499D-8A07-EE5317CC2502}" type="presParOf" srcId="{AC434BDA-6D80-4646-896D-B934A0E23D46}" destId="{3397CBE6-8BAB-4825-BFDC-BF0D67CA0196}" srcOrd="1" destOrd="0" presId="urn:microsoft.com/office/officeart/2005/8/layout/orgChart1"/>
    <dgm:cxn modelId="{0851D96E-C50D-4B96-8223-0C499CC5CC84}" type="presParOf" srcId="{AC434BDA-6D80-4646-896D-B934A0E23D46}" destId="{2DA821E3-380F-41A6-AB05-EF238811C873}" srcOrd="2" destOrd="0" presId="urn:microsoft.com/office/officeart/2005/8/layout/orgChart1"/>
    <dgm:cxn modelId="{55D38D0B-FC1A-4D4F-8CAF-88CACB5BBDA4}" type="presParOf" srcId="{79F4A3C2-3F62-45DA-BF47-89834879FCB5}" destId="{98C750FA-4E97-486E-8A5B-809A86F6FBFE}" srcOrd="10" destOrd="0" presId="urn:microsoft.com/office/officeart/2005/8/layout/orgChart1"/>
    <dgm:cxn modelId="{32FC14F4-66E3-406D-A181-5DFF98E2AEDA}" type="presParOf" srcId="{79F4A3C2-3F62-45DA-BF47-89834879FCB5}" destId="{72189F3A-5548-47D9-AA3A-041A34559015}" srcOrd="11" destOrd="0" presId="urn:microsoft.com/office/officeart/2005/8/layout/orgChart1"/>
    <dgm:cxn modelId="{7610ED5C-E4A1-4225-BE07-747CFFF21388}" type="presParOf" srcId="{72189F3A-5548-47D9-AA3A-041A34559015}" destId="{6C126611-D473-411C-8777-348080D14EB8}" srcOrd="0" destOrd="0" presId="urn:microsoft.com/office/officeart/2005/8/layout/orgChart1"/>
    <dgm:cxn modelId="{4168A8D9-6C56-44B7-87F7-FD62A590603C}" type="presParOf" srcId="{6C126611-D473-411C-8777-348080D14EB8}" destId="{121229CC-85C0-41FD-BB22-F41EC02B9F61}" srcOrd="0" destOrd="0" presId="urn:microsoft.com/office/officeart/2005/8/layout/orgChart1"/>
    <dgm:cxn modelId="{057B8DE2-2CA8-44C5-B280-26469AEB26E1}" type="presParOf" srcId="{6C126611-D473-411C-8777-348080D14EB8}" destId="{DAB3B009-681B-455C-B8EC-469B827C910D}" srcOrd="1" destOrd="0" presId="urn:microsoft.com/office/officeart/2005/8/layout/orgChart1"/>
    <dgm:cxn modelId="{E2D959EF-DD0C-401E-A153-8769EA9B1568}" type="presParOf" srcId="{72189F3A-5548-47D9-AA3A-041A34559015}" destId="{7DA13F54-3FB8-4114-9ED0-503977B520EF}" srcOrd="1" destOrd="0" presId="urn:microsoft.com/office/officeart/2005/8/layout/orgChart1"/>
    <dgm:cxn modelId="{B9A05FE7-2331-444D-B4D6-14822CBE0FC4}" type="presParOf" srcId="{72189F3A-5548-47D9-AA3A-041A34559015}" destId="{577969E8-179B-4BC2-B68A-E367F208845F}" srcOrd="2" destOrd="0" presId="urn:microsoft.com/office/officeart/2005/8/layout/orgChart1"/>
    <dgm:cxn modelId="{E218C0F6-53BE-447B-A845-6CF4702674D5}" type="presParOf" srcId="{79F4A3C2-3F62-45DA-BF47-89834879FCB5}" destId="{8A69FD44-54DC-471D-BBF5-124B69D8C80E}" srcOrd="12" destOrd="0" presId="urn:microsoft.com/office/officeart/2005/8/layout/orgChart1"/>
    <dgm:cxn modelId="{0022D2A9-C324-452B-9B90-2B0A3C1F6FF9}" type="presParOf" srcId="{79F4A3C2-3F62-45DA-BF47-89834879FCB5}" destId="{9D00AB86-50BB-4596-8365-FCED7B8743D0}" srcOrd="13" destOrd="0" presId="urn:microsoft.com/office/officeart/2005/8/layout/orgChart1"/>
    <dgm:cxn modelId="{94D4D412-F391-4E22-ACA5-BD56C7BAFDB0}" type="presParOf" srcId="{9D00AB86-50BB-4596-8365-FCED7B8743D0}" destId="{4EC6236F-46EE-4194-8A41-2CFCF2DEDC06}" srcOrd="0" destOrd="0" presId="urn:microsoft.com/office/officeart/2005/8/layout/orgChart1"/>
    <dgm:cxn modelId="{AC4551E5-1FEA-4169-9EB1-393C497179D6}" type="presParOf" srcId="{4EC6236F-46EE-4194-8A41-2CFCF2DEDC06}" destId="{79656BB0-7E0D-4789-8ECB-E2A524C689A0}" srcOrd="0" destOrd="0" presId="urn:microsoft.com/office/officeart/2005/8/layout/orgChart1"/>
    <dgm:cxn modelId="{2720F240-6E28-4AE9-BB68-43193518A1BF}" type="presParOf" srcId="{4EC6236F-46EE-4194-8A41-2CFCF2DEDC06}" destId="{4120A316-7603-41C6-A0D2-3224D573A917}" srcOrd="1" destOrd="0" presId="urn:microsoft.com/office/officeart/2005/8/layout/orgChart1"/>
    <dgm:cxn modelId="{B56AC619-C718-49B9-AE55-F3F3AA6C4626}" type="presParOf" srcId="{9D00AB86-50BB-4596-8365-FCED7B8743D0}" destId="{ABA87BC0-B5B2-423D-A533-4EFC08936209}" srcOrd="1" destOrd="0" presId="urn:microsoft.com/office/officeart/2005/8/layout/orgChart1"/>
    <dgm:cxn modelId="{B0645378-8CA9-45DB-AD32-0CDC74683FC5}" type="presParOf" srcId="{9D00AB86-50BB-4596-8365-FCED7B8743D0}" destId="{7A0A6CA9-A0F1-40CD-BB29-46A47A1F865A}" srcOrd="2" destOrd="0" presId="urn:microsoft.com/office/officeart/2005/8/layout/orgChart1"/>
    <dgm:cxn modelId="{95DFAA67-5EB7-43D3-954B-10A37CB2178D}" type="presParOf" srcId="{AC4FEFF0-787A-423E-BDD7-207F01622F12}" destId="{0004AFF3-82C5-42F7-AB37-67FE00728D1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E7911A-B7A4-441F-99E4-DD649DCA962F}" type="doc">
      <dgm:prSet loTypeId="urn:microsoft.com/office/officeart/2005/8/layout/hierarchy2" loCatId="hierarchy" qsTypeId="urn:microsoft.com/office/officeart/2005/8/quickstyle/simple1" qsCatId="simple" csTypeId="urn:microsoft.com/office/officeart/2005/8/colors/colorful4" csCatId="colorful" phldr="1"/>
      <dgm:spPr/>
      <dgm:t>
        <a:bodyPr/>
        <a:lstStyle/>
        <a:p>
          <a:endParaRPr lang="en-US"/>
        </a:p>
      </dgm:t>
    </dgm:pt>
    <dgm:pt modelId="{6802D2C7-E1E8-491F-AE3C-AA1D45780E28}">
      <dgm:prSet phldrT="[Text]"/>
      <dgm:spPr/>
      <dgm:t>
        <a:bodyPr/>
        <a:lstStyle/>
        <a:p>
          <a:r>
            <a:rPr lang="en-US" dirty="0"/>
            <a:t>Motor</a:t>
          </a:r>
        </a:p>
        <a:p>
          <a:r>
            <a:rPr lang="en-US" dirty="0"/>
            <a:t>Insurance</a:t>
          </a:r>
        </a:p>
      </dgm:t>
    </dgm:pt>
    <dgm:pt modelId="{15EEBB64-AE0F-4040-805D-19DB5E3E2705}" type="parTrans" cxnId="{0736704E-7509-4B1F-B382-DA6A4B62CB83}">
      <dgm:prSet/>
      <dgm:spPr/>
      <dgm:t>
        <a:bodyPr/>
        <a:lstStyle/>
        <a:p>
          <a:endParaRPr lang="en-US"/>
        </a:p>
      </dgm:t>
    </dgm:pt>
    <dgm:pt modelId="{8B5453D2-6314-43BE-8CFC-8A6B4CF963E5}" type="sibTrans" cxnId="{0736704E-7509-4B1F-B382-DA6A4B62CB83}">
      <dgm:prSet/>
      <dgm:spPr/>
      <dgm:t>
        <a:bodyPr/>
        <a:lstStyle/>
        <a:p>
          <a:endParaRPr lang="en-US"/>
        </a:p>
      </dgm:t>
    </dgm:pt>
    <dgm:pt modelId="{68611ED4-7D86-40B9-865D-31D3FB2CC123}">
      <dgm:prSet phldrT="[Text]"/>
      <dgm:spPr/>
      <dgm:t>
        <a:bodyPr/>
        <a:lstStyle/>
        <a:p>
          <a:r>
            <a:rPr lang="en-US" dirty="0"/>
            <a:t>Private Cars</a:t>
          </a:r>
        </a:p>
      </dgm:t>
    </dgm:pt>
    <dgm:pt modelId="{E5052EEA-FE06-4EF8-AA67-A7A88ACD50AB}" type="parTrans" cxnId="{9A3AEB4B-DB93-4F5C-A043-48EA6E64B2E4}">
      <dgm:prSet/>
      <dgm:spPr/>
      <dgm:t>
        <a:bodyPr/>
        <a:lstStyle/>
        <a:p>
          <a:endParaRPr lang="en-US"/>
        </a:p>
      </dgm:t>
    </dgm:pt>
    <dgm:pt modelId="{97574506-A36E-490B-B17A-D7D18CCD18FD}" type="sibTrans" cxnId="{9A3AEB4B-DB93-4F5C-A043-48EA6E64B2E4}">
      <dgm:prSet/>
      <dgm:spPr/>
      <dgm:t>
        <a:bodyPr/>
        <a:lstStyle/>
        <a:p>
          <a:endParaRPr lang="en-US"/>
        </a:p>
      </dgm:t>
    </dgm:pt>
    <dgm:pt modelId="{38040FFB-7D40-49C8-9496-58A5EBA2EDE1}">
      <dgm:prSet phldrT="[Text]"/>
      <dgm:spPr/>
      <dgm:t>
        <a:bodyPr/>
        <a:lstStyle/>
        <a:p>
          <a:r>
            <a:rPr lang="en-US" dirty="0"/>
            <a:t>Motor cycles and Motor scooters</a:t>
          </a:r>
        </a:p>
      </dgm:t>
    </dgm:pt>
    <dgm:pt modelId="{3849A835-4081-4028-BA72-75C96C7C966D}" type="parTrans" cxnId="{E1ED5B44-F3B3-4709-B1D4-ED91F4AF5480}">
      <dgm:prSet/>
      <dgm:spPr/>
      <dgm:t>
        <a:bodyPr/>
        <a:lstStyle/>
        <a:p>
          <a:endParaRPr lang="en-US"/>
        </a:p>
      </dgm:t>
    </dgm:pt>
    <dgm:pt modelId="{7A4FE402-7322-40A5-A9C3-E28607E35244}" type="sibTrans" cxnId="{E1ED5B44-F3B3-4709-B1D4-ED91F4AF5480}">
      <dgm:prSet/>
      <dgm:spPr/>
      <dgm:t>
        <a:bodyPr/>
        <a:lstStyle/>
        <a:p>
          <a:endParaRPr lang="en-US"/>
        </a:p>
      </dgm:t>
    </dgm:pt>
    <dgm:pt modelId="{692E739F-8D13-4F8C-B737-00DD11983DC8}">
      <dgm:prSet phldrT="[Text]"/>
      <dgm:spPr/>
      <dgm:t>
        <a:bodyPr/>
        <a:lstStyle/>
        <a:p>
          <a:r>
            <a:rPr lang="en-US" dirty="0"/>
            <a:t>Goods carrying vehicles</a:t>
          </a:r>
        </a:p>
      </dgm:t>
    </dgm:pt>
    <dgm:pt modelId="{CABF4CB4-DF29-4BAD-A57D-B7EF52A22C62}" type="parTrans" cxnId="{131E4733-F946-4D46-97E1-2949B679AA73}">
      <dgm:prSet/>
      <dgm:spPr/>
      <dgm:t>
        <a:bodyPr/>
        <a:lstStyle/>
        <a:p>
          <a:endParaRPr lang="en-US"/>
        </a:p>
      </dgm:t>
    </dgm:pt>
    <dgm:pt modelId="{3001EFC4-BAC3-40DF-BF5C-68A1B7F8481D}" type="sibTrans" cxnId="{131E4733-F946-4D46-97E1-2949B679AA73}">
      <dgm:prSet/>
      <dgm:spPr/>
      <dgm:t>
        <a:bodyPr/>
        <a:lstStyle/>
        <a:p>
          <a:endParaRPr lang="en-US"/>
        </a:p>
      </dgm:t>
    </dgm:pt>
    <dgm:pt modelId="{8B38C8AD-B119-4181-B8FC-B77F72397314}">
      <dgm:prSet phldrT="[Text]"/>
      <dgm:spPr/>
      <dgm:t>
        <a:bodyPr/>
        <a:lstStyle/>
        <a:p>
          <a:r>
            <a:rPr lang="en-US" dirty="0"/>
            <a:t>Commercial vehicles</a:t>
          </a:r>
        </a:p>
      </dgm:t>
    </dgm:pt>
    <dgm:pt modelId="{D8F93943-64F1-4CDD-B2EB-A3C6336D2F29}" type="parTrans" cxnId="{FDFCC0C5-7E37-4BBB-8A90-4ADF3A3EBBC4}">
      <dgm:prSet/>
      <dgm:spPr/>
      <dgm:t>
        <a:bodyPr/>
        <a:lstStyle/>
        <a:p>
          <a:endParaRPr lang="en-US"/>
        </a:p>
      </dgm:t>
    </dgm:pt>
    <dgm:pt modelId="{9E1070DB-8B2A-444D-9690-EF045E8C1EF8}" type="sibTrans" cxnId="{FDFCC0C5-7E37-4BBB-8A90-4ADF3A3EBBC4}">
      <dgm:prSet/>
      <dgm:spPr/>
      <dgm:t>
        <a:bodyPr/>
        <a:lstStyle/>
        <a:p>
          <a:endParaRPr lang="en-US"/>
        </a:p>
      </dgm:t>
    </dgm:pt>
    <dgm:pt modelId="{8DE62BC8-D69C-4A40-9BDC-1E9DA72B97F2}">
      <dgm:prSet phldrT="[Text]"/>
      <dgm:spPr/>
      <dgm:t>
        <a:bodyPr/>
        <a:lstStyle/>
        <a:p>
          <a:r>
            <a:rPr lang="en-US" dirty="0"/>
            <a:t>Passenger carrying vehicles</a:t>
          </a:r>
        </a:p>
      </dgm:t>
    </dgm:pt>
    <dgm:pt modelId="{00987E1C-CF9A-4753-B54B-7B80D6AA5D86}" type="parTrans" cxnId="{6C21C6DB-8FC5-4A50-B7A3-6AFD9F6E354C}">
      <dgm:prSet/>
      <dgm:spPr/>
      <dgm:t>
        <a:bodyPr/>
        <a:lstStyle/>
        <a:p>
          <a:endParaRPr lang="en-US"/>
        </a:p>
      </dgm:t>
    </dgm:pt>
    <dgm:pt modelId="{A4048F90-B869-4A64-8966-6CE3B2A7DA73}" type="sibTrans" cxnId="{6C21C6DB-8FC5-4A50-B7A3-6AFD9F6E354C}">
      <dgm:prSet/>
      <dgm:spPr/>
      <dgm:t>
        <a:bodyPr/>
        <a:lstStyle/>
        <a:p>
          <a:endParaRPr lang="en-US"/>
        </a:p>
      </dgm:t>
    </dgm:pt>
    <dgm:pt modelId="{D8F1D938-D42F-4BED-9931-322A6938C780}">
      <dgm:prSet phldrT="[Text]"/>
      <dgm:spPr/>
      <dgm:t>
        <a:bodyPr/>
        <a:lstStyle/>
        <a:p>
          <a:r>
            <a:rPr lang="en-US" dirty="0"/>
            <a:t>Miscellaneous vehicles</a:t>
          </a:r>
        </a:p>
      </dgm:t>
    </dgm:pt>
    <dgm:pt modelId="{E773137B-AC92-45B4-8E92-BE1289B05454}" type="parTrans" cxnId="{113B5DBB-E4B0-49D6-A768-84FAAB3944DE}">
      <dgm:prSet/>
      <dgm:spPr/>
      <dgm:t>
        <a:bodyPr/>
        <a:lstStyle/>
        <a:p>
          <a:endParaRPr lang="en-US"/>
        </a:p>
      </dgm:t>
    </dgm:pt>
    <dgm:pt modelId="{08731311-56BF-4BA2-BB52-0AC56439B9CF}" type="sibTrans" cxnId="{113B5DBB-E4B0-49D6-A768-84FAAB3944DE}">
      <dgm:prSet/>
      <dgm:spPr/>
      <dgm:t>
        <a:bodyPr/>
        <a:lstStyle/>
        <a:p>
          <a:endParaRPr lang="en-US"/>
        </a:p>
      </dgm:t>
    </dgm:pt>
    <dgm:pt modelId="{EE22C4F0-15ED-4C65-BF5F-CFB20AA3F320}" type="pres">
      <dgm:prSet presAssocID="{DDE7911A-B7A4-441F-99E4-DD649DCA962F}" presName="diagram" presStyleCnt="0">
        <dgm:presLayoutVars>
          <dgm:chPref val="1"/>
          <dgm:dir/>
          <dgm:animOne val="branch"/>
          <dgm:animLvl val="lvl"/>
          <dgm:resizeHandles val="exact"/>
        </dgm:presLayoutVars>
      </dgm:prSet>
      <dgm:spPr/>
    </dgm:pt>
    <dgm:pt modelId="{80EAE456-7403-47DF-8BBC-E356A97AE03A}" type="pres">
      <dgm:prSet presAssocID="{6802D2C7-E1E8-491F-AE3C-AA1D45780E28}" presName="root1" presStyleCnt="0"/>
      <dgm:spPr/>
    </dgm:pt>
    <dgm:pt modelId="{CC022541-D609-4C11-AA0E-717DC8212A90}" type="pres">
      <dgm:prSet presAssocID="{6802D2C7-E1E8-491F-AE3C-AA1D45780E28}" presName="LevelOneTextNode" presStyleLbl="node0" presStyleIdx="0" presStyleCnt="1">
        <dgm:presLayoutVars>
          <dgm:chPref val="3"/>
        </dgm:presLayoutVars>
      </dgm:prSet>
      <dgm:spPr/>
    </dgm:pt>
    <dgm:pt modelId="{13510985-9248-4497-AE3E-E439F70F7B3A}" type="pres">
      <dgm:prSet presAssocID="{6802D2C7-E1E8-491F-AE3C-AA1D45780E28}" presName="level2hierChild" presStyleCnt="0"/>
      <dgm:spPr/>
    </dgm:pt>
    <dgm:pt modelId="{FB449722-AE53-4420-8249-BC32D791DCAB}" type="pres">
      <dgm:prSet presAssocID="{E5052EEA-FE06-4EF8-AA67-A7A88ACD50AB}" presName="conn2-1" presStyleLbl="parChTrans1D2" presStyleIdx="0" presStyleCnt="3"/>
      <dgm:spPr/>
    </dgm:pt>
    <dgm:pt modelId="{7CE79F48-FF38-42EF-B853-E32D78E45561}" type="pres">
      <dgm:prSet presAssocID="{E5052EEA-FE06-4EF8-AA67-A7A88ACD50AB}" presName="connTx" presStyleLbl="parChTrans1D2" presStyleIdx="0" presStyleCnt="3"/>
      <dgm:spPr/>
    </dgm:pt>
    <dgm:pt modelId="{9F2F90B0-7630-4B9C-A7FC-E6E17F874025}" type="pres">
      <dgm:prSet presAssocID="{68611ED4-7D86-40B9-865D-31D3FB2CC123}" presName="root2" presStyleCnt="0"/>
      <dgm:spPr/>
    </dgm:pt>
    <dgm:pt modelId="{ED453CC4-16E7-4A86-B9D2-51B2EDF348A0}" type="pres">
      <dgm:prSet presAssocID="{68611ED4-7D86-40B9-865D-31D3FB2CC123}" presName="LevelTwoTextNode" presStyleLbl="node2" presStyleIdx="0" presStyleCnt="3">
        <dgm:presLayoutVars>
          <dgm:chPref val="3"/>
        </dgm:presLayoutVars>
      </dgm:prSet>
      <dgm:spPr/>
    </dgm:pt>
    <dgm:pt modelId="{74F9784A-DA53-49EE-A8A8-A0EF3D1EC397}" type="pres">
      <dgm:prSet presAssocID="{68611ED4-7D86-40B9-865D-31D3FB2CC123}" presName="level3hierChild" presStyleCnt="0"/>
      <dgm:spPr/>
    </dgm:pt>
    <dgm:pt modelId="{27E75105-C7AE-4C2C-B413-9EF09CCD7E4D}" type="pres">
      <dgm:prSet presAssocID="{3849A835-4081-4028-BA72-75C96C7C966D}" presName="conn2-1" presStyleLbl="parChTrans1D2" presStyleIdx="1" presStyleCnt="3"/>
      <dgm:spPr/>
    </dgm:pt>
    <dgm:pt modelId="{3B233FAA-F6FA-4F43-83E7-DE039BBCF1BD}" type="pres">
      <dgm:prSet presAssocID="{3849A835-4081-4028-BA72-75C96C7C966D}" presName="connTx" presStyleLbl="parChTrans1D2" presStyleIdx="1" presStyleCnt="3"/>
      <dgm:spPr/>
    </dgm:pt>
    <dgm:pt modelId="{12124BCB-5091-4379-93AF-53D4982D788F}" type="pres">
      <dgm:prSet presAssocID="{38040FFB-7D40-49C8-9496-58A5EBA2EDE1}" presName="root2" presStyleCnt="0"/>
      <dgm:spPr/>
    </dgm:pt>
    <dgm:pt modelId="{481257A6-58A7-444E-85A4-AD695AE06E08}" type="pres">
      <dgm:prSet presAssocID="{38040FFB-7D40-49C8-9496-58A5EBA2EDE1}" presName="LevelTwoTextNode" presStyleLbl="node2" presStyleIdx="1" presStyleCnt="3">
        <dgm:presLayoutVars>
          <dgm:chPref val="3"/>
        </dgm:presLayoutVars>
      </dgm:prSet>
      <dgm:spPr/>
    </dgm:pt>
    <dgm:pt modelId="{08358D3A-49E2-4629-A86C-170B69043AA5}" type="pres">
      <dgm:prSet presAssocID="{38040FFB-7D40-49C8-9496-58A5EBA2EDE1}" presName="level3hierChild" presStyleCnt="0"/>
      <dgm:spPr/>
    </dgm:pt>
    <dgm:pt modelId="{2A176AD6-1C67-4AF3-B072-1E42B9A26C8B}" type="pres">
      <dgm:prSet presAssocID="{D8F93943-64F1-4CDD-B2EB-A3C6336D2F29}" presName="conn2-1" presStyleLbl="parChTrans1D2" presStyleIdx="2" presStyleCnt="3"/>
      <dgm:spPr/>
    </dgm:pt>
    <dgm:pt modelId="{C80FF5E8-A0F4-4445-823B-645382EAF974}" type="pres">
      <dgm:prSet presAssocID="{D8F93943-64F1-4CDD-B2EB-A3C6336D2F29}" presName="connTx" presStyleLbl="parChTrans1D2" presStyleIdx="2" presStyleCnt="3"/>
      <dgm:spPr/>
    </dgm:pt>
    <dgm:pt modelId="{4E7F34E0-5238-4913-B364-E10E3673B5AD}" type="pres">
      <dgm:prSet presAssocID="{8B38C8AD-B119-4181-B8FC-B77F72397314}" presName="root2" presStyleCnt="0"/>
      <dgm:spPr/>
    </dgm:pt>
    <dgm:pt modelId="{10E13784-1D4D-4585-B3E7-59465B69F7CE}" type="pres">
      <dgm:prSet presAssocID="{8B38C8AD-B119-4181-B8FC-B77F72397314}" presName="LevelTwoTextNode" presStyleLbl="node2" presStyleIdx="2" presStyleCnt="3">
        <dgm:presLayoutVars>
          <dgm:chPref val="3"/>
        </dgm:presLayoutVars>
      </dgm:prSet>
      <dgm:spPr/>
    </dgm:pt>
    <dgm:pt modelId="{89504F3E-F89A-40CC-BD65-47C6EAA45F67}" type="pres">
      <dgm:prSet presAssocID="{8B38C8AD-B119-4181-B8FC-B77F72397314}" presName="level3hierChild" presStyleCnt="0"/>
      <dgm:spPr/>
    </dgm:pt>
    <dgm:pt modelId="{E0ED303E-0A6B-49D3-8A29-5806A97D0EA5}" type="pres">
      <dgm:prSet presAssocID="{CABF4CB4-DF29-4BAD-A57D-B7EF52A22C62}" presName="conn2-1" presStyleLbl="parChTrans1D3" presStyleIdx="0" presStyleCnt="3"/>
      <dgm:spPr/>
    </dgm:pt>
    <dgm:pt modelId="{212473B5-13B6-4D1D-A5E3-5E2942FF7728}" type="pres">
      <dgm:prSet presAssocID="{CABF4CB4-DF29-4BAD-A57D-B7EF52A22C62}" presName="connTx" presStyleLbl="parChTrans1D3" presStyleIdx="0" presStyleCnt="3"/>
      <dgm:spPr/>
    </dgm:pt>
    <dgm:pt modelId="{77FD94D4-BF8F-4960-98AC-6E0EDB24F8BE}" type="pres">
      <dgm:prSet presAssocID="{692E739F-8D13-4F8C-B737-00DD11983DC8}" presName="root2" presStyleCnt="0"/>
      <dgm:spPr/>
    </dgm:pt>
    <dgm:pt modelId="{8EA18169-40BD-4677-BB73-E7B0800072A9}" type="pres">
      <dgm:prSet presAssocID="{692E739F-8D13-4F8C-B737-00DD11983DC8}" presName="LevelTwoTextNode" presStyleLbl="node3" presStyleIdx="0" presStyleCnt="3">
        <dgm:presLayoutVars>
          <dgm:chPref val="3"/>
        </dgm:presLayoutVars>
      </dgm:prSet>
      <dgm:spPr/>
    </dgm:pt>
    <dgm:pt modelId="{B8B35447-8B57-4B3A-B9B1-8F4D48A310DB}" type="pres">
      <dgm:prSet presAssocID="{692E739F-8D13-4F8C-B737-00DD11983DC8}" presName="level3hierChild" presStyleCnt="0"/>
      <dgm:spPr/>
    </dgm:pt>
    <dgm:pt modelId="{1F9C2C31-0ABB-426D-BB28-B033251F7CF3}" type="pres">
      <dgm:prSet presAssocID="{00987E1C-CF9A-4753-B54B-7B80D6AA5D86}" presName="conn2-1" presStyleLbl="parChTrans1D3" presStyleIdx="1" presStyleCnt="3"/>
      <dgm:spPr/>
    </dgm:pt>
    <dgm:pt modelId="{9B3CD536-377F-4855-885E-CD525642D1C8}" type="pres">
      <dgm:prSet presAssocID="{00987E1C-CF9A-4753-B54B-7B80D6AA5D86}" presName="connTx" presStyleLbl="parChTrans1D3" presStyleIdx="1" presStyleCnt="3"/>
      <dgm:spPr/>
    </dgm:pt>
    <dgm:pt modelId="{6D027647-3AEF-45D3-A189-8DF527DCFED8}" type="pres">
      <dgm:prSet presAssocID="{8DE62BC8-D69C-4A40-9BDC-1E9DA72B97F2}" presName="root2" presStyleCnt="0"/>
      <dgm:spPr/>
    </dgm:pt>
    <dgm:pt modelId="{3114E40D-136A-4512-83C0-5E72040AEDBC}" type="pres">
      <dgm:prSet presAssocID="{8DE62BC8-D69C-4A40-9BDC-1E9DA72B97F2}" presName="LevelTwoTextNode" presStyleLbl="node3" presStyleIdx="1" presStyleCnt="3">
        <dgm:presLayoutVars>
          <dgm:chPref val="3"/>
        </dgm:presLayoutVars>
      </dgm:prSet>
      <dgm:spPr/>
    </dgm:pt>
    <dgm:pt modelId="{36494041-D962-414D-865B-DB76276CF1A8}" type="pres">
      <dgm:prSet presAssocID="{8DE62BC8-D69C-4A40-9BDC-1E9DA72B97F2}" presName="level3hierChild" presStyleCnt="0"/>
      <dgm:spPr/>
    </dgm:pt>
    <dgm:pt modelId="{59E8DF9A-DD0B-4C65-9D99-525ABFC27B41}" type="pres">
      <dgm:prSet presAssocID="{E773137B-AC92-45B4-8E92-BE1289B05454}" presName="conn2-1" presStyleLbl="parChTrans1D3" presStyleIdx="2" presStyleCnt="3"/>
      <dgm:spPr/>
    </dgm:pt>
    <dgm:pt modelId="{61DECD70-FBBC-4E60-A749-E3EC8BEC589F}" type="pres">
      <dgm:prSet presAssocID="{E773137B-AC92-45B4-8E92-BE1289B05454}" presName="connTx" presStyleLbl="parChTrans1D3" presStyleIdx="2" presStyleCnt="3"/>
      <dgm:spPr/>
    </dgm:pt>
    <dgm:pt modelId="{0C8261A7-D226-4C86-91E1-99B46A5D7933}" type="pres">
      <dgm:prSet presAssocID="{D8F1D938-D42F-4BED-9931-322A6938C780}" presName="root2" presStyleCnt="0"/>
      <dgm:spPr/>
    </dgm:pt>
    <dgm:pt modelId="{AD50DA1A-F712-435B-B410-BE07FDF30FFA}" type="pres">
      <dgm:prSet presAssocID="{D8F1D938-D42F-4BED-9931-322A6938C780}" presName="LevelTwoTextNode" presStyleLbl="node3" presStyleIdx="2" presStyleCnt="3">
        <dgm:presLayoutVars>
          <dgm:chPref val="3"/>
        </dgm:presLayoutVars>
      </dgm:prSet>
      <dgm:spPr/>
    </dgm:pt>
    <dgm:pt modelId="{E160A53E-56A9-4599-99FB-25855A6ABF7D}" type="pres">
      <dgm:prSet presAssocID="{D8F1D938-D42F-4BED-9931-322A6938C780}" presName="level3hierChild" presStyleCnt="0"/>
      <dgm:spPr/>
    </dgm:pt>
  </dgm:ptLst>
  <dgm:cxnLst>
    <dgm:cxn modelId="{83739608-1E5F-4773-8ABB-45063DB05006}" type="presOf" srcId="{00987E1C-CF9A-4753-B54B-7B80D6AA5D86}" destId="{1F9C2C31-0ABB-426D-BB28-B033251F7CF3}" srcOrd="0" destOrd="0" presId="urn:microsoft.com/office/officeart/2005/8/layout/hierarchy2"/>
    <dgm:cxn modelId="{710FC61D-DBEF-4D1E-AB0B-081D32C52BD5}" type="presOf" srcId="{3849A835-4081-4028-BA72-75C96C7C966D}" destId="{27E75105-C7AE-4C2C-B413-9EF09CCD7E4D}" srcOrd="0" destOrd="0" presId="urn:microsoft.com/office/officeart/2005/8/layout/hierarchy2"/>
    <dgm:cxn modelId="{FFC7C725-2095-4D55-B736-51E7879BF518}" type="presOf" srcId="{D8F1D938-D42F-4BED-9931-322A6938C780}" destId="{AD50DA1A-F712-435B-B410-BE07FDF30FFA}" srcOrd="0" destOrd="0" presId="urn:microsoft.com/office/officeart/2005/8/layout/hierarchy2"/>
    <dgm:cxn modelId="{572D1028-C4F8-4BB0-91D7-A328277C5E8D}" type="presOf" srcId="{00987E1C-CF9A-4753-B54B-7B80D6AA5D86}" destId="{9B3CD536-377F-4855-885E-CD525642D1C8}" srcOrd="1" destOrd="0" presId="urn:microsoft.com/office/officeart/2005/8/layout/hierarchy2"/>
    <dgm:cxn modelId="{131E4733-F946-4D46-97E1-2949B679AA73}" srcId="{8B38C8AD-B119-4181-B8FC-B77F72397314}" destId="{692E739F-8D13-4F8C-B737-00DD11983DC8}" srcOrd="0" destOrd="0" parTransId="{CABF4CB4-DF29-4BAD-A57D-B7EF52A22C62}" sibTransId="{3001EFC4-BAC3-40DF-BF5C-68A1B7F8481D}"/>
    <dgm:cxn modelId="{E1ED5B44-F3B3-4709-B1D4-ED91F4AF5480}" srcId="{6802D2C7-E1E8-491F-AE3C-AA1D45780E28}" destId="{38040FFB-7D40-49C8-9496-58A5EBA2EDE1}" srcOrd="1" destOrd="0" parTransId="{3849A835-4081-4028-BA72-75C96C7C966D}" sibTransId="{7A4FE402-7322-40A5-A9C3-E28607E35244}"/>
    <dgm:cxn modelId="{47645944-227F-42BB-ACCD-DED3D7F7A22E}" type="presOf" srcId="{CABF4CB4-DF29-4BAD-A57D-B7EF52A22C62}" destId="{E0ED303E-0A6B-49D3-8A29-5806A97D0EA5}" srcOrd="0" destOrd="0" presId="urn:microsoft.com/office/officeart/2005/8/layout/hierarchy2"/>
    <dgm:cxn modelId="{9A3AEB4B-DB93-4F5C-A043-48EA6E64B2E4}" srcId="{6802D2C7-E1E8-491F-AE3C-AA1D45780E28}" destId="{68611ED4-7D86-40B9-865D-31D3FB2CC123}" srcOrd="0" destOrd="0" parTransId="{E5052EEA-FE06-4EF8-AA67-A7A88ACD50AB}" sibTransId="{97574506-A36E-490B-B17A-D7D18CCD18FD}"/>
    <dgm:cxn modelId="{73697C6C-23F9-4E88-A3AD-722AE2D7EBBF}" type="presOf" srcId="{8B38C8AD-B119-4181-B8FC-B77F72397314}" destId="{10E13784-1D4D-4585-B3E7-59465B69F7CE}" srcOrd="0" destOrd="0" presId="urn:microsoft.com/office/officeart/2005/8/layout/hierarchy2"/>
    <dgm:cxn modelId="{3B4F054D-7B64-4E48-98CB-E4864B8B821F}" type="presOf" srcId="{E773137B-AC92-45B4-8E92-BE1289B05454}" destId="{59E8DF9A-DD0B-4C65-9D99-525ABFC27B41}" srcOrd="0" destOrd="0" presId="urn:microsoft.com/office/officeart/2005/8/layout/hierarchy2"/>
    <dgm:cxn modelId="{0736704E-7509-4B1F-B382-DA6A4B62CB83}" srcId="{DDE7911A-B7A4-441F-99E4-DD649DCA962F}" destId="{6802D2C7-E1E8-491F-AE3C-AA1D45780E28}" srcOrd="0" destOrd="0" parTransId="{15EEBB64-AE0F-4040-805D-19DB5E3E2705}" sibTransId="{8B5453D2-6314-43BE-8CFC-8A6B4CF963E5}"/>
    <dgm:cxn modelId="{C58CC978-4D74-472C-B9C9-C086C84749FC}" type="presOf" srcId="{692E739F-8D13-4F8C-B737-00DD11983DC8}" destId="{8EA18169-40BD-4677-BB73-E7B0800072A9}" srcOrd="0" destOrd="0" presId="urn:microsoft.com/office/officeart/2005/8/layout/hierarchy2"/>
    <dgm:cxn modelId="{CFF9BB79-7084-48DC-8032-EB7824B53A5F}" type="presOf" srcId="{D8F93943-64F1-4CDD-B2EB-A3C6336D2F29}" destId="{2A176AD6-1C67-4AF3-B072-1E42B9A26C8B}" srcOrd="0" destOrd="0" presId="urn:microsoft.com/office/officeart/2005/8/layout/hierarchy2"/>
    <dgm:cxn modelId="{02BEAD83-9A5C-4CC1-A7DD-FEBCB1CE502E}" type="presOf" srcId="{6802D2C7-E1E8-491F-AE3C-AA1D45780E28}" destId="{CC022541-D609-4C11-AA0E-717DC8212A90}" srcOrd="0" destOrd="0" presId="urn:microsoft.com/office/officeart/2005/8/layout/hierarchy2"/>
    <dgm:cxn modelId="{AD210B8F-CABD-42DB-BC85-642319BCAC01}" type="presOf" srcId="{38040FFB-7D40-49C8-9496-58A5EBA2EDE1}" destId="{481257A6-58A7-444E-85A4-AD695AE06E08}" srcOrd="0" destOrd="0" presId="urn:microsoft.com/office/officeart/2005/8/layout/hierarchy2"/>
    <dgm:cxn modelId="{E7FC218F-819A-4D72-B9B5-8B59135AA640}" type="presOf" srcId="{3849A835-4081-4028-BA72-75C96C7C966D}" destId="{3B233FAA-F6FA-4F43-83E7-DE039BBCF1BD}" srcOrd="1" destOrd="0" presId="urn:microsoft.com/office/officeart/2005/8/layout/hierarchy2"/>
    <dgm:cxn modelId="{31010194-6D96-42D6-AEBB-6B9886C5B545}" type="presOf" srcId="{D8F93943-64F1-4CDD-B2EB-A3C6336D2F29}" destId="{C80FF5E8-A0F4-4445-823B-645382EAF974}" srcOrd="1" destOrd="0" presId="urn:microsoft.com/office/officeart/2005/8/layout/hierarchy2"/>
    <dgm:cxn modelId="{16454697-5B1E-42CD-99A1-0BB78F31703C}" type="presOf" srcId="{DDE7911A-B7A4-441F-99E4-DD649DCA962F}" destId="{EE22C4F0-15ED-4C65-BF5F-CFB20AA3F320}" srcOrd="0" destOrd="0" presId="urn:microsoft.com/office/officeart/2005/8/layout/hierarchy2"/>
    <dgm:cxn modelId="{3EADD7AA-94C3-4FE3-ABBB-CD0A59F1011A}" type="presOf" srcId="{68611ED4-7D86-40B9-865D-31D3FB2CC123}" destId="{ED453CC4-16E7-4A86-B9D2-51B2EDF348A0}" srcOrd="0" destOrd="0" presId="urn:microsoft.com/office/officeart/2005/8/layout/hierarchy2"/>
    <dgm:cxn modelId="{113B5DBB-E4B0-49D6-A768-84FAAB3944DE}" srcId="{8B38C8AD-B119-4181-B8FC-B77F72397314}" destId="{D8F1D938-D42F-4BED-9931-322A6938C780}" srcOrd="2" destOrd="0" parTransId="{E773137B-AC92-45B4-8E92-BE1289B05454}" sibTransId="{08731311-56BF-4BA2-BB52-0AC56439B9CF}"/>
    <dgm:cxn modelId="{17F29EBC-42C1-4E5C-88EA-136C3EA65B3B}" type="presOf" srcId="{CABF4CB4-DF29-4BAD-A57D-B7EF52A22C62}" destId="{212473B5-13B6-4D1D-A5E3-5E2942FF7728}" srcOrd="1" destOrd="0" presId="urn:microsoft.com/office/officeart/2005/8/layout/hierarchy2"/>
    <dgm:cxn modelId="{FDFCC0C5-7E37-4BBB-8A90-4ADF3A3EBBC4}" srcId="{6802D2C7-E1E8-491F-AE3C-AA1D45780E28}" destId="{8B38C8AD-B119-4181-B8FC-B77F72397314}" srcOrd="2" destOrd="0" parTransId="{D8F93943-64F1-4CDD-B2EB-A3C6336D2F29}" sibTransId="{9E1070DB-8B2A-444D-9690-EF045E8C1EF8}"/>
    <dgm:cxn modelId="{0FFFCAD7-9754-4E7A-8E39-AAFE9B6B2A63}" type="presOf" srcId="{E773137B-AC92-45B4-8E92-BE1289B05454}" destId="{61DECD70-FBBC-4E60-A749-E3EC8BEC589F}" srcOrd="1" destOrd="0" presId="urn:microsoft.com/office/officeart/2005/8/layout/hierarchy2"/>
    <dgm:cxn modelId="{A1E08DD9-6D99-46F8-B387-B30C7955114E}" type="presOf" srcId="{E5052EEA-FE06-4EF8-AA67-A7A88ACD50AB}" destId="{7CE79F48-FF38-42EF-B853-E32D78E45561}" srcOrd="1" destOrd="0" presId="urn:microsoft.com/office/officeart/2005/8/layout/hierarchy2"/>
    <dgm:cxn modelId="{6C21C6DB-8FC5-4A50-B7A3-6AFD9F6E354C}" srcId="{8B38C8AD-B119-4181-B8FC-B77F72397314}" destId="{8DE62BC8-D69C-4A40-9BDC-1E9DA72B97F2}" srcOrd="1" destOrd="0" parTransId="{00987E1C-CF9A-4753-B54B-7B80D6AA5D86}" sibTransId="{A4048F90-B869-4A64-8966-6CE3B2A7DA73}"/>
    <dgm:cxn modelId="{CF3048DD-04D0-45CC-90D8-FB01FD116860}" type="presOf" srcId="{E5052EEA-FE06-4EF8-AA67-A7A88ACD50AB}" destId="{FB449722-AE53-4420-8249-BC32D791DCAB}" srcOrd="0" destOrd="0" presId="urn:microsoft.com/office/officeart/2005/8/layout/hierarchy2"/>
    <dgm:cxn modelId="{3FD856E3-A3F2-45D9-B99A-F2C0A768C771}" type="presOf" srcId="{8DE62BC8-D69C-4A40-9BDC-1E9DA72B97F2}" destId="{3114E40D-136A-4512-83C0-5E72040AEDBC}" srcOrd="0" destOrd="0" presId="urn:microsoft.com/office/officeart/2005/8/layout/hierarchy2"/>
    <dgm:cxn modelId="{1422FAA5-7202-4FB7-BB31-21E7BB8AD974}" type="presParOf" srcId="{EE22C4F0-15ED-4C65-BF5F-CFB20AA3F320}" destId="{80EAE456-7403-47DF-8BBC-E356A97AE03A}" srcOrd="0" destOrd="0" presId="urn:microsoft.com/office/officeart/2005/8/layout/hierarchy2"/>
    <dgm:cxn modelId="{9DE2C11D-7BBB-4F6E-813C-56C058BD3FD7}" type="presParOf" srcId="{80EAE456-7403-47DF-8BBC-E356A97AE03A}" destId="{CC022541-D609-4C11-AA0E-717DC8212A90}" srcOrd="0" destOrd="0" presId="urn:microsoft.com/office/officeart/2005/8/layout/hierarchy2"/>
    <dgm:cxn modelId="{5CF26DB6-6B28-4A3A-93F1-843CBE3C2188}" type="presParOf" srcId="{80EAE456-7403-47DF-8BBC-E356A97AE03A}" destId="{13510985-9248-4497-AE3E-E439F70F7B3A}" srcOrd="1" destOrd="0" presId="urn:microsoft.com/office/officeart/2005/8/layout/hierarchy2"/>
    <dgm:cxn modelId="{9279FE60-3121-422C-B529-6EDD082CF915}" type="presParOf" srcId="{13510985-9248-4497-AE3E-E439F70F7B3A}" destId="{FB449722-AE53-4420-8249-BC32D791DCAB}" srcOrd="0" destOrd="0" presId="urn:microsoft.com/office/officeart/2005/8/layout/hierarchy2"/>
    <dgm:cxn modelId="{2AAF2DD6-AE68-4C7F-99C0-E3F768AD214F}" type="presParOf" srcId="{FB449722-AE53-4420-8249-BC32D791DCAB}" destId="{7CE79F48-FF38-42EF-B853-E32D78E45561}" srcOrd="0" destOrd="0" presId="urn:microsoft.com/office/officeart/2005/8/layout/hierarchy2"/>
    <dgm:cxn modelId="{147BCE8B-FFDA-4D24-B82B-177A7988A78A}" type="presParOf" srcId="{13510985-9248-4497-AE3E-E439F70F7B3A}" destId="{9F2F90B0-7630-4B9C-A7FC-E6E17F874025}" srcOrd="1" destOrd="0" presId="urn:microsoft.com/office/officeart/2005/8/layout/hierarchy2"/>
    <dgm:cxn modelId="{8B8B5070-85C8-40C9-A55E-67CBF695ECE7}" type="presParOf" srcId="{9F2F90B0-7630-4B9C-A7FC-E6E17F874025}" destId="{ED453CC4-16E7-4A86-B9D2-51B2EDF348A0}" srcOrd="0" destOrd="0" presId="urn:microsoft.com/office/officeart/2005/8/layout/hierarchy2"/>
    <dgm:cxn modelId="{31612C8C-2877-4936-BD88-65B073220047}" type="presParOf" srcId="{9F2F90B0-7630-4B9C-A7FC-E6E17F874025}" destId="{74F9784A-DA53-49EE-A8A8-A0EF3D1EC397}" srcOrd="1" destOrd="0" presId="urn:microsoft.com/office/officeart/2005/8/layout/hierarchy2"/>
    <dgm:cxn modelId="{964228E5-977F-4D60-BF6D-880DCBE47EF3}" type="presParOf" srcId="{13510985-9248-4497-AE3E-E439F70F7B3A}" destId="{27E75105-C7AE-4C2C-B413-9EF09CCD7E4D}" srcOrd="2" destOrd="0" presId="urn:microsoft.com/office/officeart/2005/8/layout/hierarchy2"/>
    <dgm:cxn modelId="{EFF143D8-AC50-45BA-8573-CF1FBDF2661A}" type="presParOf" srcId="{27E75105-C7AE-4C2C-B413-9EF09CCD7E4D}" destId="{3B233FAA-F6FA-4F43-83E7-DE039BBCF1BD}" srcOrd="0" destOrd="0" presId="urn:microsoft.com/office/officeart/2005/8/layout/hierarchy2"/>
    <dgm:cxn modelId="{1568DC9C-DFED-4E8F-BCBF-178AF30318E3}" type="presParOf" srcId="{13510985-9248-4497-AE3E-E439F70F7B3A}" destId="{12124BCB-5091-4379-93AF-53D4982D788F}" srcOrd="3" destOrd="0" presId="urn:microsoft.com/office/officeart/2005/8/layout/hierarchy2"/>
    <dgm:cxn modelId="{B127ED2E-2B15-482A-B6F1-A9C190AC88CD}" type="presParOf" srcId="{12124BCB-5091-4379-93AF-53D4982D788F}" destId="{481257A6-58A7-444E-85A4-AD695AE06E08}" srcOrd="0" destOrd="0" presId="urn:microsoft.com/office/officeart/2005/8/layout/hierarchy2"/>
    <dgm:cxn modelId="{9CA3F3D5-2056-4AA7-B7C9-BB649FB4D721}" type="presParOf" srcId="{12124BCB-5091-4379-93AF-53D4982D788F}" destId="{08358D3A-49E2-4629-A86C-170B69043AA5}" srcOrd="1" destOrd="0" presId="urn:microsoft.com/office/officeart/2005/8/layout/hierarchy2"/>
    <dgm:cxn modelId="{F376EB51-9882-4F4A-88FD-38CB54846B10}" type="presParOf" srcId="{13510985-9248-4497-AE3E-E439F70F7B3A}" destId="{2A176AD6-1C67-4AF3-B072-1E42B9A26C8B}" srcOrd="4" destOrd="0" presId="urn:microsoft.com/office/officeart/2005/8/layout/hierarchy2"/>
    <dgm:cxn modelId="{20740C52-7AEB-4517-80DF-6DE09D42101F}" type="presParOf" srcId="{2A176AD6-1C67-4AF3-B072-1E42B9A26C8B}" destId="{C80FF5E8-A0F4-4445-823B-645382EAF974}" srcOrd="0" destOrd="0" presId="urn:microsoft.com/office/officeart/2005/8/layout/hierarchy2"/>
    <dgm:cxn modelId="{D4F77106-A48F-46C4-BE29-BED29AF21365}" type="presParOf" srcId="{13510985-9248-4497-AE3E-E439F70F7B3A}" destId="{4E7F34E0-5238-4913-B364-E10E3673B5AD}" srcOrd="5" destOrd="0" presId="urn:microsoft.com/office/officeart/2005/8/layout/hierarchy2"/>
    <dgm:cxn modelId="{DF74402D-7B33-4E72-B81D-C2CA2A769C69}" type="presParOf" srcId="{4E7F34E0-5238-4913-B364-E10E3673B5AD}" destId="{10E13784-1D4D-4585-B3E7-59465B69F7CE}" srcOrd="0" destOrd="0" presId="urn:microsoft.com/office/officeart/2005/8/layout/hierarchy2"/>
    <dgm:cxn modelId="{EB56E7BC-0F74-498D-BCFF-06919D7DF9E5}" type="presParOf" srcId="{4E7F34E0-5238-4913-B364-E10E3673B5AD}" destId="{89504F3E-F89A-40CC-BD65-47C6EAA45F67}" srcOrd="1" destOrd="0" presId="urn:microsoft.com/office/officeart/2005/8/layout/hierarchy2"/>
    <dgm:cxn modelId="{46990206-DA56-4E2D-BD30-4CF96AF37A26}" type="presParOf" srcId="{89504F3E-F89A-40CC-BD65-47C6EAA45F67}" destId="{E0ED303E-0A6B-49D3-8A29-5806A97D0EA5}" srcOrd="0" destOrd="0" presId="urn:microsoft.com/office/officeart/2005/8/layout/hierarchy2"/>
    <dgm:cxn modelId="{270923C5-126A-4A47-A735-95524B56C2A5}" type="presParOf" srcId="{E0ED303E-0A6B-49D3-8A29-5806A97D0EA5}" destId="{212473B5-13B6-4D1D-A5E3-5E2942FF7728}" srcOrd="0" destOrd="0" presId="urn:microsoft.com/office/officeart/2005/8/layout/hierarchy2"/>
    <dgm:cxn modelId="{80B1E34F-440D-44F8-B8FF-B05E89F18460}" type="presParOf" srcId="{89504F3E-F89A-40CC-BD65-47C6EAA45F67}" destId="{77FD94D4-BF8F-4960-98AC-6E0EDB24F8BE}" srcOrd="1" destOrd="0" presId="urn:microsoft.com/office/officeart/2005/8/layout/hierarchy2"/>
    <dgm:cxn modelId="{705195A6-E753-47D2-9870-2630434FE7B5}" type="presParOf" srcId="{77FD94D4-BF8F-4960-98AC-6E0EDB24F8BE}" destId="{8EA18169-40BD-4677-BB73-E7B0800072A9}" srcOrd="0" destOrd="0" presId="urn:microsoft.com/office/officeart/2005/8/layout/hierarchy2"/>
    <dgm:cxn modelId="{59B74F4F-0B18-4CB3-A639-CDA5BA971252}" type="presParOf" srcId="{77FD94D4-BF8F-4960-98AC-6E0EDB24F8BE}" destId="{B8B35447-8B57-4B3A-B9B1-8F4D48A310DB}" srcOrd="1" destOrd="0" presId="urn:microsoft.com/office/officeart/2005/8/layout/hierarchy2"/>
    <dgm:cxn modelId="{E151C61B-FA75-4824-A3D9-9CB22B1C7D3E}" type="presParOf" srcId="{89504F3E-F89A-40CC-BD65-47C6EAA45F67}" destId="{1F9C2C31-0ABB-426D-BB28-B033251F7CF3}" srcOrd="2" destOrd="0" presId="urn:microsoft.com/office/officeart/2005/8/layout/hierarchy2"/>
    <dgm:cxn modelId="{815BA8DA-C984-4F08-BD86-EBDEA4ACFE4E}" type="presParOf" srcId="{1F9C2C31-0ABB-426D-BB28-B033251F7CF3}" destId="{9B3CD536-377F-4855-885E-CD525642D1C8}" srcOrd="0" destOrd="0" presId="urn:microsoft.com/office/officeart/2005/8/layout/hierarchy2"/>
    <dgm:cxn modelId="{1CBEA058-E04E-445A-ABCB-5739DA07B470}" type="presParOf" srcId="{89504F3E-F89A-40CC-BD65-47C6EAA45F67}" destId="{6D027647-3AEF-45D3-A189-8DF527DCFED8}" srcOrd="3" destOrd="0" presId="urn:microsoft.com/office/officeart/2005/8/layout/hierarchy2"/>
    <dgm:cxn modelId="{40048AEC-833B-4855-A2A6-8E8A3DD5E5AB}" type="presParOf" srcId="{6D027647-3AEF-45D3-A189-8DF527DCFED8}" destId="{3114E40D-136A-4512-83C0-5E72040AEDBC}" srcOrd="0" destOrd="0" presId="urn:microsoft.com/office/officeart/2005/8/layout/hierarchy2"/>
    <dgm:cxn modelId="{7DC89C8C-38E8-4C14-9471-B23E5700D3C5}" type="presParOf" srcId="{6D027647-3AEF-45D3-A189-8DF527DCFED8}" destId="{36494041-D962-414D-865B-DB76276CF1A8}" srcOrd="1" destOrd="0" presId="urn:microsoft.com/office/officeart/2005/8/layout/hierarchy2"/>
    <dgm:cxn modelId="{F27D0C1E-5D99-4442-A078-C76E6802A3AD}" type="presParOf" srcId="{89504F3E-F89A-40CC-BD65-47C6EAA45F67}" destId="{59E8DF9A-DD0B-4C65-9D99-525ABFC27B41}" srcOrd="4" destOrd="0" presId="urn:microsoft.com/office/officeart/2005/8/layout/hierarchy2"/>
    <dgm:cxn modelId="{FA822B2B-50EE-4D28-B4EF-3DD485738289}" type="presParOf" srcId="{59E8DF9A-DD0B-4C65-9D99-525ABFC27B41}" destId="{61DECD70-FBBC-4E60-A749-E3EC8BEC589F}" srcOrd="0" destOrd="0" presId="urn:microsoft.com/office/officeart/2005/8/layout/hierarchy2"/>
    <dgm:cxn modelId="{4B3799EC-455E-4688-9F4D-B4DD58197FBC}" type="presParOf" srcId="{89504F3E-F89A-40CC-BD65-47C6EAA45F67}" destId="{0C8261A7-D226-4C86-91E1-99B46A5D7933}" srcOrd="5" destOrd="0" presId="urn:microsoft.com/office/officeart/2005/8/layout/hierarchy2"/>
    <dgm:cxn modelId="{48F1B936-BFDE-4D10-8031-03A11D8C9161}" type="presParOf" srcId="{0C8261A7-D226-4C86-91E1-99B46A5D7933}" destId="{AD50DA1A-F712-435B-B410-BE07FDF30FFA}" srcOrd="0" destOrd="0" presId="urn:microsoft.com/office/officeart/2005/8/layout/hierarchy2"/>
    <dgm:cxn modelId="{D5021EF7-A617-4884-9790-A6F6622F8602}" type="presParOf" srcId="{0C8261A7-D226-4C86-91E1-99B46A5D7933}" destId="{E160A53E-56A9-4599-99FB-25855A6ABF7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1EE3C20-A5B2-4FF5-99A1-9DA4BDA958EF}" type="doc">
      <dgm:prSet loTypeId="urn:microsoft.com/office/officeart/2011/layout/TabList" loCatId="list" qsTypeId="urn:microsoft.com/office/officeart/2005/8/quickstyle/simple1" qsCatId="simple" csTypeId="urn:microsoft.com/office/officeart/2005/8/colors/colorful5" csCatId="colorful" phldr="1"/>
      <dgm:spPr/>
      <dgm:t>
        <a:bodyPr/>
        <a:lstStyle/>
        <a:p>
          <a:endParaRPr lang="en-US"/>
        </a:p>
      </dgm:t>
    </dgm:pt>
    <dgm:pt modelId="{4B3FFCB9-86DE-4646-8F1C-D1211358561A}">
      <dgm:prSet phldrT="[Text]"/>
      <dgm:spPr/>
      <dgm:t>
        <a:bodyPr/>
        <a:lstStyle/>
        <a:p>
          <a:r>
            <a:rPr lang="en-US" dirty="0"/>
            <a:t>Fire Insurance</a:t>
          </a:r>
        </a:p>
      </dgm:t>
    </dgm:pt>
    <dgm:pt modelId="{DC35A604-80A4-41ED-B868-0777DEAB2AA7}" type="parTrans" cxnId="{B8AE05E0-4A0B-48DE-902F-9B0236F29F4D}">
      <dgm:prSet/>
      <dgm:spPr/>
      <dgm:t>
        <a:bodyPr/>
        <a:lstStyle/>
        <a:p>
          <a:endParaRPr lang="en-US"/>
        </a:p>
      </dgm:t>
    </dgm:pt>
    <dgm:pt modelId="{12DF808E-FA59-4D21-9323-6D28727ACCC5}" type="sibTrans" cxnId="{B8AE05E0-4A0B-48DE-902F-9B0236F29F4D}">
      <dgm:prSet/>
      <dgm:spPr/>
      <dgm:t>
        <a:bodyPr/>
        <a:lstStyle/>
        <a:p>
          <a:endParaRPr lang="en-US"/>
        </a:p>
      </dgm:t>
    </dgm:pt>
    <dgm:pt modelId="{58E49FFB-96FC-41EC-8A91-AFAC3CFBB81D}">
      <dgm:prSet phldrT="[Text]"/>
      <dgm:spPr/>
      <dgm:t>
        <a:bodyPr/>
        <a:lstStyle/>
        <a:p>
          <a:pPr algn="just"/>
          <a:r>
            <a:rPr lang="en-US" dirty="0"/>
            <a:t>Covers losses and damages caused by fire to property or goods.</a:t>
          </a:r>
        </a:p>
      </dgm:t>
    </dgm:pt>
    <dgm:pt modelId="{7279503B-15DE-4B54-8D49-5469865324A2}" type="parTrans" cxnId="{2C16B0EC-6708-4FBD-9572-222F181AF07E}">
      <dgm:prSet/>
      <dgm:spPr/>
      <dgm:t>
        <a:bodyPr/>
        <a:lstStyle/>
        <a:p>
          <a:endParaRPr lang="en-US"/>
        </a:p>
      </dgm:t>
    </dgm:pt>
    <dgm:pt modelId="{E1EDCCFC-EBC0-4DDF-B804-729F25462699}" type="sibTrans" cxnId="{2C16B0EC-6708-4FBD-9572-222F181AF07E}">
      <dgm:prSet/>
      <dgm:spPr/>
      <dgm:t>
        <a:bodyPr/>
        <a:lstStyle/>
        <a:p>
          <a:endParaRPr lang="en-US"/>
        </a:p>
      </dgm:t>
    </dgm:pt>
    <dgm:pt modelId="{DB370126-4ACA-4FCC-8DD4-588F2A61724F}">
      <dgm:prSet phldrT="[Text]"/>
      <dgm:spPr/>
      <dgm:t>
        <a:bodyPr/>
        <a:lstStyle/>
        <a:p>
          <a:r>
            <a:rPr lang="en-US"/>
            <a:t>Marine Insurance</a:t>
          </a:r>
          <a:endParaRPr lang="en-US" dirty="0"/>
        </a:p>
      </dgm:t>
    </dgm:pt>
    <dgm:pt modelId="{BF679931-168F-40AE-9B7F-D5D15249085A}" type="parTrans" cxnId="{030F86C2-C3A3-4A5E-ACCB-7DBD49C6BD45}">
      <dgm:prSet/>
      <dgm:spPr/>
      <dgm:t>
        <a:bodyPr/>
        <a:lstStyle/>
        <a:p>
          <a:endParaRPr lang="en-US"/>
        </a:p>
      </dgm:t>
    </dgm:pt>
    <dgm:pt modelId="{3CEAFD2B-966F-4607-B74D-4EB4832B457F}" type="sibTrans" cxnId="{030F86C2-C3A3-4A5E-ACCB-7DBD49C6BD45}">
      <dgm:prSet/>
      <dgm:spPr/>
      <dgm:t>
        <a:bodyPr/>
        <a:lstStyle/>
        <a:p>
          <a:endParaRPr lang="en-US"/>
        </a:p>
      </dgm:t>
    </dgm:pt>
    <dgm:pt modelId="{34B9B5FD-8308-4E7A-BD64-879ADD099F33}">
      <dgm:prSet phldrT="[Text]"/>
      <dgm:spPr/>
      <dgm:t>
        <a:bodyPr/>
        <a:lstStyle/>
        <a:p>
          <a:pPr algn="just"/>
          <a:r>
            <a:rPr lang="en-US" dirty="0"/>
            <a:t>Covers goods, ships, and other cargo against damage or loss during transit by sea or other waterways.</a:t>
          </a:r>
        </a:p>
      </dgm:t>
    </dgm:pt>
    <dgm:pt modelId="{203FD258-B2E7-4B2D-B7E4-EC6F4A0F5DBA}" type="parTrans" cxnId="{9D35B0C5-BA61-407C-A736-DDFE5F7D6038}">
      <dgm:prSet/>
      <dgm:spPr/>
      <dgm:t>
        <a:bodyPr/>
        <a:lstStyle/>
        <a:p>
          <a:endParaRPr lang="en-US"/>
        </a:p>
      </dgm:t>
    </dgm:pt>
    <dgm:pt modelId="{35AC9EED-11B3-4627-B3C7-F2D08E72871E}" type="sibTrans" cxnId="{9D35B0C5-BA61-407C-A736-DDFE5F7D6038}">
      <dgm:prSet/>
      <dgm:spPr/>
      <dgm:t>
        <a:bodyPr/>
        <a:lstStyle/>
        <a:p>
          <a:endParaRPr lang="en-US"/>
        </a:p>
      </dgm:t>
    </dgm:pt>
    <dgm:pt modelId="{A1440698-9614-4DEC-936C-A32D7BCEF46E}">
      <dgm:prSet phldrT="[Text]"/>
      <dgm:spPr/>
      <dgm:t>
        <a:bodyPr/>
        <a:lstStyle/>
        <a:p>
          <a:r>
            <a:rPr lang="en-US" dirty="0"/>
            <a:t>Business Insurance</a:t>
          </a:r>
        </a:p>
      </dgm:t>
    </dgm:pt>
    <dgm:pt modelId="{8193DD49-273C-4057-8950-77EBFD0C39C7}" type="parTrans" cxnId="{42152E00-A861-42F0-A476-73E7AB85D986}">
      <dgm:prSet/>
      <dgm:spPr/>
      <dgm:t>
        <a:bodyPr/>
        <a:lstStyle/>
        <a:p>
          <a:endParaRPr lang="en-US"/>
        </a:p>
      </dgm:t>
    </dgm:pt>
    <dgm:pt modelId="{053CE189-0135-4489-B514-2F341CC5AB18}" type="sibTrans" cxnId="{42152E00-A861-42F0-A476-73E7AB85D986}">
      <dgm:prSet/>
      <dgm:spPr/>
      <dgm:t>
        <a:bodyPr/>
        <a:lstStyle/>
        <a:p>
          <a:endParaRPr lang="en-US"/>
        </a:p>
      </dgm:t>
    </dgm:pt>
    <dgm:pt modelId="{C41E05BF-E543-4E61-9FAB-F31C8B7B916E}">
      <dgm:prSet phldrT="[Text]"/>
      <dgm:spPr/>
      <dgm:t>
        <a:bodyPr/>
        <a:lstStyle/>
        <a:p>
          <a:pPr algn="just"/>
          <a:r>
            <a:rPr lang="en-US" dirty="0"/>
            <a:t>Protects businesses against financial losses due to risks like theft, liability, or property damage.</a:t>
          </a:r>
        </a:p>
      </dgm:t>
    </dgm:pt>
    <dgm:pt modelId="{8FED6C75-7BCA-4F27-AFBB-4C6E15278CA4}" type="parTrans" cxnId="{7BF9291A-7DA4-41BF-BDD9-B1AFC8402E4C}">
      <dgm:prSet/>
      <dgm:spPr/>
      <dgm:t>
        <a:bodyPr/>
        <a:lstStyle/>
        <a:p>
          <a:endParaRPr lang="en-US"/>
        </a:p>
      </dgm:t>
    </dgm:pt>
    <dgm:pt modelId="{FE9478CB-87AA-43A3-AE7A-6E2327390258}" type="sibTrans" cxnId="{7BF9291A-7DA4-41BF-BDD9-B1AFC8402E4C}">
      <dgm:prSet/>
      <dgm:spPr/>
      <dgm:t>
        <a:bodyPr/>
        <a:lstStyle/>
        <a:p>
          <a:endParaRPr lang="en-US"/>
        </a:p>
      </dgm:t>
    </dgm:pt>
    <dgm:pt modelId="{E4099CB4-F6A4-4119-9EF9-BE61B57B30E2}">
      <dgm:prSet phldrT="[Text]"/>
      <dgm:spPr/>
      <dgm:t>
        <a:bodyPr/>
        <a:lstStyle/>
        <a:p>
          <a:r>
            <a:rPr lang="en-US" dirty="0"/>
            <a:t>Rural and Agricultural Insurance</a:t>
          </a:r>
        </a:p>
      </dgm:t>
    </dgm:pt>
    <dgm:pt modelId="{8CEAE9DE-8F6E-44AA-9FC2-EFFBC9215C42}" type="parTrans" cxnId="{2FB876E8-A5A4-4336-A3E0-FD8B55228EFD}">
      <dgm:prSet/>
      <dgm:spPr/>
      <dgm:t>
        <a:bodyPr/>
        <a:lstStyle/>
        <a:p>
          <a:endParaRPr lang="en-US"/>
        </a:p>
      </dgm:t>
    </dgm:pt>
    <dgm:pt modelId="{73D7C8D7-A153-4CAD-A760-730CE90E6C7E}" type="sibTrans" cxnId="{2FB876E8-A5A4-4336-A3E0-FD8B55228EFD}">
      <dgm:prSet/>
      <dgm:spPr/>
      <dgm:t>
        <a:bodyPr/>
        <a:lstStyle/>
        <a:p>
          <a:endParaRPr lang="en-US"/>
        </a:p>
      </dgm:t>
    </dgm:pt>
    <dgm:pt modelId="{051254F3-4998-4CCE-83E9-BA5C7FFA95E5}">
      <dgm:prSet phldrT="[Text]"/>
      <dgm:spPr/>
      <dgm:t>
        <a:bodyPr/>
        <a:lstStyle/>
        <a:p>
          <a:pPr algn="just"/>
          <a:r>
            <a:rPr lang="en-US" dirty="0"/>
            <a:t>Designed to cover the specific needs of farmers, including crop insurance and protection for livestock.</a:t>
          </a:r>
        </a:p>
      </dgm:t>
    </dgm:pt>
    <dgm:pt modelId="{3762DF38-7661-4341-8471-08CB5CFB25C8}" type="parTrans" cxnId="{96259C25-6D4A-4E39-839A-7AFA1CD6FDC6}">
      <dgm:prSet/>
      <dgm:spPr/>
      <dgm:t>
        <a:bodyPr/>
        <a:lstStyle/>
        <a:p>
          <a:endParaRPr lang="en-US"/>
        </a:p>
      </dgm:t>
    </dgm:pt>
    <dgm:pt modelId="{4DF2DF4F-295C-4C73-A503-FC13483508FB}" type="sibTrans" cxnId="{96259C25-6D4A-4E39-839A-7AFA1CD6FDC6}">
      <dgm:prSet/>
      <dgm:spPr/>
      <dgm:t>
        <a:bodyPr/>
        <a:lstStyle/>
        <a:p>
          <a:endParaRPr lang="en-US"/>
        </a:p>
      </dgm:t>
    </dgm:pt>
    <dgm:pt modelId="{A7CEA041-086E-4369-9577-7D5101846461}" type="pres">
      <dgm:prSet presAssocID="{31EE3C20-A5B2-4FF5-99A1-9DA4BDA958EF}" presName="Name0" presStyleCnt="0">
        <dgm:presLayoutVars>
          <dgm:chMax/>
          <dgm:chPref val="3"/>
          <dgm:dir/>
          <dgm:animOne val="branch"/>
          <dgm:animLvl val="lvl"/>
        </dgm:presLayoutVars>
      </dgm:prSet>
      <dgm:spPr/>
    </dgm:pt>
    <dgm:pt modelId="{BB7885EC-F8AE-404E-B96A-FB648B7A3803}" type="pres">
      <dgm:prSet presAssocID="{4B3FFCB9-86DE-4646-8F1C-D1211358561A}" presName="composite" presStyleCnt="0"/>
      <dgm:spPr/>
    </dgm:pt>
    <dgm:pt modelId="{C96C88AE-096B-45D6-8C17-27290CB5D515}" type="pres">
      <dgm:prSet presAssocID="{4B3FFCB9-86DE-4646-8F1C-D1211358561A}" presName="FirstChild" presStyleLbl="revTx" presStyleIdx="0" presStyleCnt="4">
        <dgm:presLayoutVars>
          <dgm:chMax val="0"/>
          <dgm:chPref val="0"/>
          <dgm:bulletEnabled val="1"/>
        </dgm:presLayoutVars>
      </dgm:prSet>
      <dgm:spPr/>
    </dgm:pt>
    <dgm:pt modelId="{2DB5A812-4A7A-45C3-857E-D334B9AD0D4E}" type="pres">
      <dgm:prSet presAssocID="{4B3FFCB9-86DE-4646-8F1C-D1211358561A}" presName="Parent" presStyleLbl="alignNode1" presStyleIdx="0" presStyleCnt="4">
        <dgm:presLayoutVars>
          <dgm:chMax val="3"/>
          <dgm:chPref val="3"/>
          <dgm:bulletEnabled val="1"/>
        </dgm:presLayoutVars>
      </dgm:prSet>
      <dgm:spPr/>
    </dgm:pt>
    <dgm:pt modelId="{C3CEE248-A7EF-46BA-9C55-AE45A54C77B6}" type="pres">
      <dgm:prSet presAssocID="{4B3FFCB9-86DE-4646-8F1C-D1211358561A}" presName="Accent" presStyleLbl="parChTrans1D1" presStyleIdx="0" presStyleCnt="4"/>
      <dgm:spPr/>
    </dgm:pt>
    <dgm:pt modelId="{44ACBA5D-2439-4F64-901E-5A29E29BFE70}" type="pres">
      <dgm:prSet presAssocID="{12DF808E-FA59-4D21-9323-6D28727ACCC5}" presName="sibTrans" presStyleCnt="0"/>
      <dgm:spPr/>
    </dgm:pt>
    <dgm:pt modelId="{D310CC2D-F408-4F6E-8C1C-86485B4011A1}" type="pres">
      <dgm:prSet presAssocID="{DB370126-4ACA-4FCC-8DD4-588F2A61724F}" presName="composite" presStyleCnt="0"/>
      <dgm:spPr/>
    </dgm:pt>
    <dgm:pt modelId="{53D2B52E-90B7-4BC2-91C1-78DFA4C928D0}" type="pres">
      <dgm:prSet presAssocID="{DB370126-4ACA-4FCC-8DD4-588F2A61724F}" presName="FirstChild" presStyleLbl="revTx" presStyleIdx="1" presStyleCnt="4">
        <dgm:presLayoutVars>
          <dgm:chMax val="0"/>
          <dgm:chPref val="0"/>
          <dgm:bulletEnabled val="1"/>
        </dgm:presLayoutVars>
      </dgm:prSet>
      <dgm:spPr/>
    </dgm:pt>
    <dgm:pt modelId="{5E48EA24-31B6-43F7-A8AE-B259209689B3}" type="pres">
      <dgm:prSet presAssocID="{DB370126-4ACA-4FCC-8DD4-588F2A61724F}" presName="Parent" presStyleLbl="alignNode1" presStyleIdx="1" presStyleCnt="4">
        <dgm:presLayoutVars>
          <dgm:chMax val="3"/>
          <dgm:chPref val="3"/>
          <dgm:bulletEnabled val="1"/>
        </dgm:presLayoutVars>
      </dgm:prSet>
      <dgm:spPr/>
    </dgm:pt>
    <dgm:pt modelId="{05EE7089-E21D-40B6-B77C-319CC8596EEB}" type="pres">
      <dgm:prSet presAssocID="{DB370126-4ACA-4FCC-8DD4-588F2A61724F}" presName="Accent" presStyleLbl="parChTrans1D1" presStyleIdx="1" presStyleCnt="4"/>
      <dgm:spPr/>
    </dgm:pt>
    <dgm:pt modelId="{1BFE2FC9-7B3C-488D-AD80-B05408F13B40}" type="pres">
      <dgm:prSet presAssocID="{3CEAFD2B-966F-4607-B74D-4EB4832B457F}" presName="sibTrans" presStyleCnt="0"/>
      <dgm:spPr/>
    </dgm:pt>
    <dgm:pt modelId="{95503629-9CA6-44D3-A383-4CD739096127}" type="pres">
      <dgm:prSet presAssocID="{A1440698-9614-4DEC-936C-A32D7BCEF46E}" presName="composite" presStyleCnt="0"/>
      <dgm:spPr/>
    </dgm:pt>
    <dgm:pt modelId="{1F4F210E-0FCD-4819-AD05-91A1C96506D1}" type="pres">
      <dgm:prSet presAssocID="{A1440698-9614-4DEC-936C-A32D7BCEF46E}" presName="FirstChild" presStyleLbl="revTx" presStyleIdx="2" presStyleCnt="4">
        <dgm:presLayoutVars>
          <dgm:chMax val="0"/>
          <dgm:chPref val="0"/>
          <dgm:bulletEnabled val="1"/>
        </dgm:presLayoutVars>
      </dgm:prSet>
      <dgm:spPr/>
    </dgm:pt>
    <dgm:pt modelId="{14ED7716-E54F-40D3-879A-5CE7029A0C23}" type="pres">
      <dgm:prSet presAssocID="{A1440698-9614-4DEC-936C-A32D7BCEF46E}" presName="Parent" presStyleLbl="alignNode1" presStyleIdx="2" presStyleCnt="4">
        <dgm:presLayoutVars>
          <dgm:chMax val="3"/>
          <dgm:chPref val="3"/>
          <dgm:bulletEnabled val="1"/>
        </dgm:presLayoutVars>
      </dgm:prSet>
      <dgm:spPr/>
    </dgm:pt>
    <dgm:pt modelId="{5BFA2277-3F27-43CE-96C3-2DC1D1DCA00D}" type="pres">
      <dgm:prSet presAssocID="{A1440698-9614-4DEC-936C-A32D7BCEF46E}" presName="Accent" presStyleLbl="parChTrans1D1" presStyleIdx="2" presStyleCnt="4"/>
      <dgm:spPr/>
    </dgm:pt>
    <dgm:pt modelId="{2A58C4C8-731C-40B5-A3E7-A80D11DB0922}" type="pres">
      <dgm:prSet presAssocID="{053CE189-0135-4489-B514-2F341CC5AB18}" presName="sibTrans" presStyleCnt="0"/>
      <dgm:spPr/>
    </dgm:pt>
    <dgm:pt modelId="{8A03212D-6B29-4BAC-94AC-3DFCC5F59391}" type="pres">
      <dgm:prSet presAssocID="{E4099CB4-F6A4-4119-9EF9-BE61B57B30E2}" presName="composite" presStyleCnt="0"/>
      <dgm:spPr/>
    </dgm:pt>
    <dgm:pt modelId="{93781CF5-8043-42A5-A21B-19CA6AA377D4}" type="pres">
      <dgm:prSet presAssocID="{E4099CB4-F6A4-4119-9EF9-BE61B57B30E2}" presName="FirstChild" presStyleLbl="revTx" presStyleIdx="3" presStyleCnt="4">
        <dgm:presLayoutVars>
          <dgm:chMax val="0"/>
          <dgm:chPref val="0"/>
          <dgm:bulletEnabled val="1"/>
        </dgm:presLayoutVars>
      </dgm:prSet>
      <dgm:spPr/>
    </dgm:pt>
    <dgm:pt modelId="{1CF5BB58-C108-4B24-8A7C-693BD6DD8781}" type="pres">
      <dgm:prSet presAssocID="{E4099CB4-F6A4-4119-9EF9-BE61B57B30E2}" presName="Parent" presStyleLbl="alignNode1" presStyleIdx="3" presStyleCnt="4">
        <dgm:presLayoutVars>
          <dgm:chMax val="3"/>
          <dgm:chPref val="3"/>
          <dgm:bulletEnabled val="1"/>
        </dgm:presLayoutVars>
      </dgm:prSet>
      <dgm:spPr/>
    </dgm:pt>
    <dgm:pt modelId="{6005F083-C30C-4847-8B19-BEAF8D96A959}" type="pres">
      <dgm:prSet presAssocID="{E4099CB4-F6A4-4119-9EF9-BE61B57B30E2}" presName="Accent" presStyleLbl="parChTrans1D1" presStyleIdx="3" presStyleCnt="4"/>
      <dgm:spPr/>
    </dgm:pt>
  </dgm:ptLst>
  <dgm:cxnLst>
    <dgm:cxn modelId="{42152E00-A861-42F0-A476-73E7AB85D986}" srcId="{31EE3C20-A5B2-4FF5-99A1-9DA4BDA958EF}" destId="{A1440698-9614-4DEC-936C-A32D7BCEF46E}" srcOrd="2" destOrd="0" parTransId="{8193DD49-273C-4057-8950-77EBFD0C39C7}" sibTransId="{053CE189-0135-4489-B514-2F341CC5AB18}"/>
    <dgm:cxn modelId="{7BF9291A-7DA4-41BF-BDD9-B1AFC8402E4C}" srcId="{A1440698-9614-4DEC-936C-A32D7BCEF46E}" destId="{C41E05BF-E543-4E61-9FAB-F31C8B7B916E}" srcOrd="0" destOrd="0" parTransId="{8FED6C75-7BCA-4F27-AFBB-4C6E15278CA4}" sibTransId="{FE9478CB-87AA-43A3-AE7A-6E2327390258}"/>
    <dgm:cxn modelId="{B749A31A-2766-4643-AB4C-F1CD940A5378}" type="presOf" srcId="{E4099CB4-F6A4-4119-9EF9-BE61B57B30E2}" destId="{1CF5BB58-C108-4B24-8A7C-693BD6DD8781}" srcOrd="0" destOrd="0" presId="urn:microsoft.com/office/officeart/2011/layout/TabList"/>
    <dgm:cxn modelId="{96259C25-6D4A-4E39-839A-7AFA1CD6FDC6}" srcId="{E4099CB4-F6A4-4119-9EF9-BE61B57B30E2}" destId="{051254F3-4998-4CCE-83E9-BA5C7FFA95E5}" srcOrd="0" destOrd="0" parTransId="{3762DF38-7661-4341-8471-08CB5CFB25C8}" sibTransId="{4DF2DF4F-295C-4C73-A503-FC13483508FB}"/>
    <dgm:cxn modelId="{7EF0622B-C50C-4E95-BB53-7679587EB276}" type="presOf" srcId="{C41E05BF-E543-4E61-9FAB-F31C8B7B916E}" destId="{1F4F210E-0FCD-4819-AD05-91A1C96506D1}" srcOrd="0" destOrd="0" presId="urn:microsoft.com/office/officeart/2011/layout/TabList"/>
    <dgm:cxn modelId="{7E895232-16CB-4F7B-B7FC-5E6547171638}" type="presOf" srcId="{4B3FFCB9-86DE-4646-8F1C-D1211358561A}" destId="{2DB5A812-4A7A-45C3-857E-D334B9AD0D4E}" srcOrd="0" destOrd="0" presId="urn:microsoft.com/office/officeart/2011/layout/TabList"/>
    <dgm:cxn modelId="{C6E83448-E520-496E-9BEE-8749E9D49C91}" type="presOf" srcId="{051254F3-4998-4CCE-83E9-BA5C7FFA95E5}" destId="{93781CF5-8043-42A5-A21B-19CA6AA377D4}" srcOrd="0" destOrd="0" presId="urn:microsoft.com/office/officeart/2011/layout/TabList"/>
    <dgm:cxn modelId="{5A078068-4CE3-46E9-95A0-A466F032B935}" type="presOf" srcId="{34B9B5FD-8308-4E7A-BD64-879ADD099F33}" destId="{53D2B52E-90B7-4BC2-91C1-78DFA4C928D0}" srcOrd="0" destOrd="0" presId="urn:microsoft.com/office/officeart/2011/layout/TabList"/>
    <dgm:cxn modelId="{AEDE4750-DD91-4662-B12B-9A0E3D618FC8}" type="presOf" srcId="{31EE3C20-A5B2-4FF5-99A1-9DA4BDA958EF}" destId="{A7CEA041-086E-4369-9577-7D5101846461}" srcOrd="0" destOrd="0" presId="urn:microsoft.com/office/officeart/2011/layout/TabList"/>
    <dgm:cxn modelId="{84D782BC-1B3C-406A-B15B-C3C7157C4FD6}" type="presOf" srcId="{DB370126-4ACA-4FCC-8DD4-588F2A61724F}" destId="{5E48EA24-31B6-43F7-A8AE-B259209689B3}" srcOrd="0" destOrd="0" presId="urn:microsoft.com/office/officeart/2011/layout/TabList"/>
    <dgm:cxn modelId="{030F86C2-C3A3-4A5E-ACCB-7DBD49C6BD45}" srcId="{31EE3C20-A5B2-4FF5-99A1-9DA4BDA958EF}" destId="{DB370126-4ACA-4FCC-8DD4-588F2A61724F}" srcOrd="1" destOrd="0" parTransId="{BF679931-168F-40AE-9B7F-D5D15249085A}" sibTransId="{3CEAFD2B-966F-4607-B74D-4EB4832B457F}"/>
    <dgm:cxn modelId="{395DC1C2-2ADE-4113-ABDE-ED2934C0FEDC}" type="presOf" srcId="{58E49FFB-96FC-41EC-8A91-AFAC3CFBB81D}" destId="{C96C88AE-096B-45D6-8C17-27290CB5D515}" srcOrd="0" destOrd="0" presId="urn:microsoft.com/office/officeart/2011/layout/TabList"/>
    <dgm:cxn modelId="{9D35B0C5-BA61-407C-A736-DDFE5F7D6038}" srcId="{DB370126-4ACA-4FCC-8DD4-588F2A61724F}" destId="{34B9B5FD-8308-4E7A-BD64-879ADD099F33}" srcOrd="0" destOrd="0" parTransId="{203FD258-B2E7-4B2D-B7E4-EC6F4A0F5DBA}" sibTransId="{35AC9EED-11B3-4627-B3C7-F2D08E72871E}"/>
    <dgm:cxn modelId="{B8AE05E0-4A0B-48DE-902F-9B0236F29F4D}" srcId="{31EE3C20-A5B2-4FF5-99A1-9DA4BDA958EF}" destId="{4B3FFCB9-86DE-4646-8F1C-D1211358561A}" srcOrd="0" destOrd="0" parTransId="{DC35A604-80A4-41ED-B868-0777DEAB2AA7}" sibTransId="{12DF808E-FA59-4D21-9323-6D28727ACCC5}"/>
    <dgm:cxn modelId="{2FB876E8-A5A4-4336-A3E0-FD8B55228EFD}" srcId="{31EE3C20-A5B2-4FF5-99A1-9DA4BDA958EF}" destId="{E4099CB4-F6A4-4119-9EF9-BE61B57B30E2}" srcOrd="3" destOrd="0" parTransId="{8CEAE9DE-8F6E-44AA-9FC2-EFFBC9215C42}" sibTransId="{73D7C8D7-A153-4CAD-A760-730CE90E6C7E}"/>
    <dgm:cxn modelId="{2C16B0EC-6708-4FBD-9572-222F181AF07E}" srcId="{4B3FFCB9-86DE-4646-8F1C-D1211358561A}" destId="{58E49FFB-96FC-41EC-8A91-AFAC3CFBB81D}" srcOrd="0" destOrd="0" parTransId="{7279503B-15DE-4B54-8D49-5469865324A2}" sibTransId="{E1EDCCFC-EBC0-4DDF-B804-729F25462699}"/>
    <dgm:cxn modelId="{A48D4FFE-AB51-4214-812B-5DEC3EB6FBC6}" type="presOf" srcId="{A1440698-9614-4DEC-936C-A32D7BCEF46E}" destId="{14ED7716-E54F-40D3-879A-5CE7029A0C23}" srcOrd="0" destOrd="0" presId="urn:microsoft.com/office/officeart/2011/layout/TabList"/>
    <dgm:cxn modelId="{4261EA79-673A-4DAA-8B48-E7A4771575C7}" type="presParOf" srcId="{A7CEA041-086E-4369-9577-7D5101846461}" destId="{BB7885EC-F8AE-404E-B96A-FB648B7A3803}" srcOrd="0" destOrd="0" presId="urn:microsoft.com/office/officeart/2011/layout/TabList"/>
    <dgm:cxn modelId="{62B8FB1F-8069-4419-89BA-905EF3C18890}" type="presParOf" srcId="{BB7885EC-F8AE-404E-B96A-FB648B7A3803}" destId="{C96C88AE-096B-45D6-8C17-27290CB5D515}" srcOrd="0" destOrd="0" presId="urn:microsoft.com/office/officeart/2011/layout/TabList"/>
    <dgm:cxn modelId="{D13C4067-A248-4376-92D4-ED75E532C10B}" type="presParOf" srcId="{BB7885EC-F8AE-404E-B96A-FB648B7A3803}" destId="{2DB5A812-4A7A-45C3-857E-D334B9AD0D4E}" srcOrd="1" destOrd="0" presId="urn:microsoft.com/office/officeart/2011/layout/TabList"/>
    <dgm:cxn modelId="{1DAFF198-F636-4415-B0FC-77650EC8E2E8}" type="presParOf" srcId="{BB7885EC-F8AE-404E-B96A-FB648B7A3803}" destId="{C3CEE248-A7EF-46BA-9C55-AE45A54C77B6}" srcOrd="2" destOrd="0" presId="urn:microsoft.com/office/officeart/2011/layout/TabList"/>
    <dgm:cxn modelId="{12F44D2D-9412-407A-83DF-6593F1FEC4D1}" type="presParOf" srcId="{A7CEA041-086E-4369-9577-7D5101846461}" destId="{44ACBA5D-2439-4F64-901E-5A29E29BFE70}" srcOrd="1" destOrd="0" presId="urn:microsoft.com/office/officeart/2011/layout/TabList"/>
    <dgm:cxn modelId="{5D29CA26-5B64-4987-93A1-F7D09C7F0C74}" type="presParOf" srcId="{A7CEA041-086E-4369-9577-7D5101846461}" destId="{D310CC2D-F408-4F6E-8C1C-86485B4011A1}" srcOrd="2" destOrd="0" presId="urn:microsoft.com/office/officeart/2011/layout/TabList"/>
    <dgm:cxn modelId="{5426D096-5FE4-4B83-BA2D-F51B8849EAEC}" type="presParOf" srcId="{D310CC2D-F408-4F6E-8C1C-86485B4011A1}" destId="{53D2B52E-90B7-4BC2-91C1-78DFA4C928D0}" srcOrd="0" destOrd="0" presId="urn:microsoft.com/office/officeart/2011/layout/TabList"/>
    <dgm:cxn modelId="{327F70C9-1F3C-4A68-89F7-9E4B7BA102BC}" type="presParOf" srcId="{D310CC2D-F408-4F6E-8C1C-86485B4011A1}" destId="{5E48EA24-31B6-43F7-A8AE-B259209689B3}" srcOrd="1" destOrd="0" presId="urn:microsoft.com/office/officeart/2011/layout/TabList"/>
    <dgm:cxn modelId="{261C0C0D-9BD1-4C47-B933-C7A2E9DA846F}" type="presParOf" srcId="{D310CC2D-F408-4F6E-8C1C-86485B4011A1}" destId="{05EE7089-E21D-40B6-B77C-319CC8596EEB}" srcOrd="2" destOrd="0" presId="urn:microsoft.com/office/officeart/2011/layout/TabList"/>
    <dgm:cxn modelId="{5A3824C6-C419-4138-BCCA-C2730B5B8C67}" type="presParOf" srcId="{A7CEA041-086E-4369-9577-7D5101846461}" destId="{1BFE2FC9-7B3C-488D-AD80-B05408F13B40}" srcOrd="3" destOrd="0" presId="urn:microsoft.com/office/officeart/2011/layout/TabList"/>
    <dgm:cxn modelId="{004D3FF7-1510-4C75-A0EB-00EE4214CEC1}" type="presParOf" srcId="{A7CEA041-086E-4369-9577-7D5101846461}" destId="{95503629-9CA6-44D3-A383-4CD739096127}" srcOrd="4" destOrd="0" presId="urn:microsoft.com/office/officeart/2011/layout/TabList"/>
    <dgm:cxn modelId="{01AAEA8E-6DA8-4363-B7CE-D8B74E0A1F77}" type="presParOf" srcId="{95503629-9CA6-44D3-A383-4CD739096127}" destId="{1F4F210E-0FCD-4819-AD05-91A1C96506D1}" srcOrd="0" destOrd="0" presId="urn:microsoft.com/office/officeart/2011/layout/TabList"/>
    <dgm:cxn modelId="{1C312DAE-74F5-4053-92A5-0F76D045ECCB}" type="presParOf" srcId="{95503629-9CA6-44D3-A383-4CD739096127}" destId="{14ED7716-E54F-40D3-879A-5CE7029A0C23}" srcOrd="1" destOrd="0" presId="urn:microsoft.com/office/officeart/2011/layout/TabList"/>
    <dgm:cxn modelId="{C49E0183-E081-436A-825A-EA03DC7B4D80}" type="presParOf" srcId="{95503629-9CA6-44D3-A383-4CD739096127}" destId="{5BFA2277-3F27-43CE-96C3-2DC1D1DCA00D}" srcOrd="2" destOrd="0" presId="urn:microsoft.com/office/officeart/2011/layout/TabList"/>
    <dgm:cxn modelId="{31B3121B-9352-4691-8F39-CF21892026D6}" type="presParOf" srcId="{A7CEA041-086E-4369-9577-7D5101846461}" destId="{2A58C4C8-731C-40B5-A3E7-A80D11DB0922}" srcOrd="5" destOrd="0" presId="urn:microsoft.com/office/officeart/2011/layout/TabList"/>
    <dgm:cxn modelId="{022882E0-1EA1-40C4-A800-C2EDCEAB918E}" type="presParOf" srcId="{A7CEA041-086E-4369-9577-7D5101846461}" destId="{8A03212D-6B29-4BAC-94AC-3DFCC5F59391}" srcOrd="6" destOrd="0" presId="urn:microsoft.com/office/officeart/2011/layout/TabList"/>
    <dgm:cxn modelId="{62313B33-564A-42A2-B838-6FF750D46A5A}" type="presParOf" srcId="{8A03212D-6B29-4BAC-94AC-3DFCC5F59391}" destId="{93781CF5-8043-42A5-A21B-19CA6AA377D4}" srcOrd="0" destOrd="0" presId="urn:microsoft.com/office/officeart/2011/layout/TabList"/>
    <dgm:cxn modelId="{274F5EA0-0A96-4A4B-AC12-EFB655EF7BBF}" type="presParOf" srcId="{8A03212D-6B29-4BAC-94AC-3DFCC5F59391}" destId="{1CF5BB58-C108-4B24-8A7C-693BD6DD8781}" srcOrd="1" destOrd="0" presId="urn:microsoft.com/office/officeart/2011/layout/TabList"/>
    <dgm:cxn modelId="{7669A884-B1C0-4B94-A77B-7D9D6CF9AB04}" type="presParOf" srcId="{8A03212D-6B29-4BAC-94AC-3DFCC5F59391}" destId="{6005F083-C30C-4847-8B19-BEAF8D96A959}"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5A7F8B-3E02-42FD-9464-E8B1DCC54196}" type="doc">
      <dgm:prSet loTypeId="urn:microsoft.com/office/officeart/2011/layout/TabList" loCatId="list" qsTypeId="urn:microsoft.com/office/officeart/2005/8/quickstyle/simple1" qsCatId="simple" csTypeId="urn:microsoft.com/office/officeart/2005/8/colors/colorful1" csCatId="colorful" phldr="1"/>
      <dgm:spPr/>
      <dgm:t>
        <a:bodyPr/>
        <a:lstStyle/>
        <a:p>
          <a:endParaRPr lang="en-US"/>
        </a:p>
      </dgm:t>
    </dgm:pt>
    <dgm:pt modelId="{07F4A7EE-C8F3-4915-8440-E4C703A3E947}">
      <dgm:prSet phldrT="[Text]" custT="1"/>
      <dgm:spPr/>
      <dgm:t>
        <a:bodyPr/>
        <a:lstStyle/>
        <a:p>
          <a:r>
            <a:rPr lang="en-US" sz="2600" b="1" dirty="0"/>
            <a:t>Risk Transfer</a:t>
          </a:r>
          <a:endParaRPr lang="en-US" sz="2600" dirty="0"/>
        </a:p>
      </dgm:t>
    </dgm:pt>
    <dgm:pt modelId="{D328AA86-6619-4429-9CC0-62A4BC42B541}" type="parTrans" cxnId="{E0D62CFD-2532-4870-B58D-0C76A7DF4352}">
      <dgm:prSet/>
      <dgm:spPr/>
      <dgm:t>
        <a:bodyPr/>
        <a:lstStyle/>
        <a:p>
          <a:endParaRPr lang="en-US"/>
        </a:p>
      </dgm:t>
    </dgm:pt>
    <dgm:pt modelId="{747DF34F-F020-4D78-B870-411857DE317A}" type="sibTrans" cxnId="{E0D62CFD-2532-4870-B58D-0C76A7DF4352}">
      <dgm:prSet/>
      <dgm:spPr/>
      <dgm:t>
        <a:bodyPr/>
        <a:lstStyle/>
        <a:p>
          <a:endParaRPr lang="en-US"/>
        </a:p>
      </dgm:t>
    </dgm:pt>
    <dgm:pt modelId="{8012D5C0-8F5B-4316-BF1F-3F57972CBD59}">
      <dgm:prSet custT="1"/>
      <dgm:spPr/>
      <dgm:t>
        <a:bodyPr/>
        <a:lstStyle/>
        <a:p>
          <a:pPr algn="just"/>
          <a:r>
            <a:rPr lang="en-US" sz="2600" dirty="0"/>
            <a:t>The primary reason for reinsurance is to share or </a:t>
          </a:r>
          <a:r>
            <a:rPr lang="en-US" sz="2600" b="1" dirty="0">
              <a:solidFill>
                <a:srgbClr val="C00000"/>
              </a:solidFill>
            </a:rPr>
            <a:t>transfer specific risks </a:t>
          </a:r>
          <a:r>
            <a:rPr lang="en-US" sz="2600" dirty="0"/>
            <a:t>with other companies. </a:t>
          </a:r>
        </a:p>
      </dgm:t>
    </dgm:pt>
    <dgm:pt modelId="{BCF8A758-DA76-47C5-B896-E81ED1DCE48D}" type="parTrans" cxnId="{5440214D-D574-4E62-AC63-BE2F570015E0}">
      <dgm:prSet/>
      <dgm:spPr/>
      <dgm:t>
        <a:bodyPr/>
        <a:lstStyle/>
        <a:p>
          <a:endParaRPr lang="en-US"/>
        </a:p>
      </dgm:t>
    </dgm:pt>
    <dgm:pt modelId="{D6C82A57-3D19-4EE9-ACAB-7DA08F4AC6FB}" type="sibTrans" cxnId="{5440214D-D574-4E62-AC63-BE2F570015E0}">
      <dgm:prSet/>
      <dgm:spPr/>
      <dgm:t>
        <a:bodyPr/>
        <a:lstStyle/>
        <a:p>
          <a:endParaRPr lang="en-US"/>
        </a:p>
      </dgm:t>
    </dgm:pt>
    <dgm:pt modelId="{FE882359-2B8D-41B6-BF8B-E2B811E2BA61}">
      <dgm:prSet custT="1"/>
      <dgm:spPr/>
      <dgm:t>
        <a:bodyPr/>
        <a:lstStyle/>
        <a:p>
          <a:r>
            <a:rPr lang="en-US" sz="2600" b="1" dirty="0"/>
            <a:t>Capacity Expansion</a:t>
          </a:r>
          <a:endParaRPr lang="en-US" sz="2600" dirty="0"/>
        </a:p>
      </dgm:t>
    </dgm:pt>
    <dgm:pt modelId="{BC613C49-60AA-40FE-9886-56E96510C727}" type="parTrans" cxnId="{39537D49-BBED-43AE-84E3-D3E37EE46FC9}">
      <dgm:prSet/>
      <dgm:spPr/>
      <dgm:t>
        <a:bodyPr/>
        <a:lstStyle/>
        <a:p>
          <a:endParaRPr lang="en-US"/>
        </a:p>
      </dgm:t>
    </dgm:pt>
    <dgm:pt modelId="{F57C7080-8DE2-465D-A2DF-3C680B0C9A26}" type="sibTrans" cxnId="{39537D49-BBED-43AE-84E3-D3E37EE46FC9}">
      <dgm:prSet/>
      <dgm:spPr/>
      <dgm:t>
        <a:bodyPr/>
        <a:lstStyle/>
        <a:p>
          <a:endParaRPr lang="en-US"/>
        </a:p>
      </dgm:t>
    </dgm:pt>
    <dgm:pt modelId="{C2F07A4F-F265-4B70-81F9-301DA556C8A3}">
      <dgm:prSet custT="1"/>
      <dgm:spPr/>
      <dgm:t>
        <a:bodyPr/>
        <a:lstStyle/>
        <a:p>
          <a:pPr algn="just"/>
          <a:r>
            <a:rPr lang="en-US" sz="2600" dirty="0"/>
            <a:t>Reinsurance allows insurers to </a:t>
          </a:r>
          <a:r>
            <a:rPr lang="en-US" sz="2600" b="1" dirty="0">
              <a:solidFill>
                <a:srgbClr val="C00000"/>
              </a:solidFill>
            </a:rPr>
            <a:t>underwrite larger policies </a:t>
          </a:r>
          <a:r>
            <a:rPr lang="en-US" sz="2600" dirty="0"/>
            <a:t>or take on more risks than they could otherwise handle. </a:t>
          </a:r>
          <a:endParaRPr lang="en-IN" sz="2600" dirty="0"/>
        </a:p>
      </dgm:t>
    </dgm:pt>
    <dgm:pt modelId="{9AC6D95D-E4A6-4DEA-B039-9CB3CB82BEF8}" type="parTrans" cxnId="{ECDE8841-CD18-4AF8-9AEF-8F27A1C25B25}">
      <dgm:prSet/>
      <dgm:spPr/>
      <dgm:t>
        <a:bodyPr/>
        <a:lstStyle/>
        <a:p>
          <a:endParaRPr lang="en-US"/>
        </a:p>
      </dgm:t>
    </dgm:pt>
    <dgm:pt modelId="{03406D0A-3430-4E2A-8079-C4E49DA8B1C7}" type="sibTrans" cxnId="{ECDE8841-CD18-4AF8-9AEF-8F27A1C25B25}">
      <dgm:prSet/>
      <dgm:spPr/>
      <dgm:t>
        <a:bodyPr/>
        <a:lstStyle/>
        <a:p>
          <a:endParaRPr lang="en-US"/>
        </a:p>
      </dgm:t>
    </dgm:pt>
    <dgm:pt modelId="{4BD79820-B381-4F99-8ED5-66536E3C1DEC}">
      <dgm:prSet custT="1"/>
      <dgm:spPr/>
      <dgm:t>
        <a:bodyPr/>
        <a:lstStyle/>
        <a:p>
          <a:r>
            <a:rPr lang="en-US" sz="2600" b="1" dirty="0"/>
            <a:t>Capital Management</a:t>
          </a:r>
          <a:endParaRPr lang="en-US" sz="2600" dirty="0"/>
        </a:p>
      </dgm:t>
    </dgm:pt>
    <dgm:pt modelId="{45D3AFCF-C202-4E35-9990-EF8A700F540D}" type="parTrans" cxnId="{959B0343-F489-4BB9-B55D-9DBF90FE82E3}">
      <dgm:prSet/>
      <dgm:spPr/>
      <dgm:t>
        <a:bodyPr/>
        <a:lstStyle/>
        <a:p>
          <a:endParaRPr lang="en-US"/>
        </a:p>
      </dgm:t>
    </dgm:pt>
    <dgm:pt modelId="{8293E8BA-9354-428F-9B51-2209E2E638C1}" type="sibTrans" cxnId="{959B0343-F489-4BB9-B55D-9DBF90FE82E3}">
      <dgm:prSet/>
      <dgm:spPr/>
      <dgm:t>
        <a:bodyPr/>
        <a:lstStyle/>
        <a:p>
          <a:endParaRPr lang="en-US"/>
        </a:p>
      </dgm:t>
    </dgm:pt>
    <dgm:pt modelId="{5F87C496-09CD-46E9-A4DB-D7BF7A412263}">
      <dgm:prSet custT="1"/>
      <dgm:spPr/>
      <dgm:t>
        <a:bodyPr/>
        <a:lstStyle/>
        <a:p>
          <a:pPr algn="just"/>
          <a:r>
            <a:rPr lang="en-US" sz="2600" dirty="0"/>
            <a:t>It helps companies manage their capital </a:t>
          </a:r>
          <a:r>
            <a:rPr lang="en-US" sz="2600" b="1" dirty="0">
              <a:solidFill>
                <a:srgbClr val="C00000"/>
              </a:solidFill>
            </a:rPr>
            <a:t>by reducing the amount of capital needed </a:t>
          </a:r>
          <a:r>
            <a:rPr lang="en-US" sz="2600" dirty="0"/>
            <a:t>to cover potential losses. </a:t>
          </a:r>
        </a:p>
      </dgm:t>
    </dgm:pt>
    <dgm:pt modelId="{B7D430C1-ABF7-4499-B08C-1DD37B830037}" type="parTrans" cxnId="{A63008AB-3887-4CAC-8282-313CFE9991CA}">
      <dgm:prSet/>
      <dgm:spPr/>
      <dgm:t>
        <a:bodyPr/>
        <a:lstStyle/>
        <a:p>
          <a:endParaRPr lang="en-US"/>
        </a:p>
      </dgm:t>
    </dgm:pt>
    <dgm:pt modelId="{AAE9DE60-48D7-47CA-92DC-664D96035286}" type="sibTrans" cxnId="{A63008AB-3887-4CAC-8282-313CFE9991CA}">
      <dgm:prSet/>
      <dgm:spPr/>
      <dgm:t>
        <a:bodyPr/>
        <a:lstStyle/>
        <a:p>
          <a:endParaRPr lang="en-US"/>
        </a:p>
      </dgm:t>
    </dgm:pt>
    <dgm:pt modelId="{CF87D17D-6E19-49F0-8C71-A124F524F7CB}">
      <dgm:prSet custT="1"/>
      <dgm:spPr/>
      <dgm:t>
        <a:bodyPr/>
        <a:lstStyle/>
        <a:p>
          <a:r>
            <a:rPr lang="en-US" sz="2600" b="1" dirty="0"/>
            <a:t>Stabilizing Underwriting Results</a:t>
          </a:r>
          <a:endParaRPr lang="en-US" sz="2600" dirty="0"/>
        </a:p>
      </dgm:t>
    </dgm:pt>
    <dgm:pt modelId="{058E7476-DFB2-4145-8E77-F9B67E2C9C57}" type="parTrans" cxnId="{1A19AF71-2102-4E4F-875A-8FB86A53E2F4}">
      <dgm:prSet/>
      <dgm:spPr/>
      <dgm:t>
        <a:bodyPr/>
        <a:lstStyle/>
        <a:p>
          <a:endParaRPr lang="en-US"/>
        </a:p>
      </dgm:t>
    </dgm:pt>
    <dgm:pt modelId="{5DA62ECE-2E70-4B55-9333-A08F8033D19D}" type="sibTrans" cxnId="{1A19AF71-2102-4E4F-875A-8FB86A53E2F4}">
      <dgm:prSet/>
      <dgm:spPr/>
      <dgm:t>
        <a:bodyPr/>
        <a:lstStyle/>
        <a:p>
          <a:endParaRPr lang="en-US"/>
        </a:p>
      </dgm:t>
    </dgm:pt>
    <dgm:pt modelId="{267C7B8E-29DD-48D4-8C91-422C7A9ACAE8}">
      <dgm:prSet custT="1"/>
      <dgm:spPr/>
      <dgm:t>
        <a:bodyPr/>
        <a:lstStyle/>
        <a:p>
          <a:pPr algn="just"/>
          <a:r>
            <a:rPr lang="en-US" sz="2600" dirty="0"/>
            <a:t>Reinsurance can smooth out fluctuations in an insurer's financial results by </a:t>
          </a:r>
          <a:r>
            <a:rPr lang="en-US" sz="2600" b="1" dirty="0">
              <a:solidFill>
                <a:srgbClr val="C00000"/>
              </a:solidFill>
            </a:rPr>
            <a:t>protecting against large claims. </a:t>
          </a:r>
        </a:p>
      </dgm:t>
    </dgm:pt>
    <dgm:pt modelId="{01E97D8C-0337-40E4-8D2E-A605F13F74C2}" type="parTrans" cxnId="{F7FB76DC-961C-4151-8AC6-1EE2BCE5B6A1}">
      <dgm:prSet/>
      <dgm:spPr/>
      <dgm:t>
        <a:bodyPr/>
        <a:lstStyle/>
        <a:p>
          <a:endParaRPr lang="en-US"/>
        </a:p>
      </dgm:t>
    </dgm:pt>
    <dgm:pt modelId="{E4D8D85C-300E-4775-9EB5-7F28F0974EF1}" type="sibTrans" cxnId="{F7FB76DC-961C-4151-8AC6-1EE2BCE5B6A1}">
      <dgm:prSet/>
      <dgm:spPr/>
      <dgm:t>
        <a:bodyPr/>
        <a:lstStyle/>
        <a:p>
          <a:endParaRPr lang="en-US"/>
        </a:p>
      </dgm:t>
    </dgm:pt>
    <dgm:pt modelId="{85E2117C-E28A-4BF1-89B1-4109A71CFBE9}">
      <dgm:prSet custT="1"/>
      <dgm:spPr/>
      <dgm:t>
        <a:bodyPr/>
        <a:lstStyle/>
        <a:p>
          <a:r>
            <a:rPr lang="en-US" sz="2600" b="1" dirty="0"/>
            <a:t>Catastrophe Protection</a:t>
          </a:r>
          <a:endParaRPr lang="en-US" sz="2600" dirty="0"/>
        </a:p>
      </dgm:t>
    </dgm:pt>
    <dgm:pt modelId="{FA835C56-0B60-4434-A584-006F0E587C3D}" type="parTrans" cxnId="{E0C1EF3C-2E48-4DF5-AF2E-6A232E61777F}">
      <dgm:prSet/>
      <dgm:spPr/>
      <dgm:t>
        <a:bodyPr/>
        <a:lstStyle/>
        <a:p>
          <a:endParaRPr lang="en-US"/>
        </a:p>
      </dgm:t>
    </dgm:pt>
    <dgm:pt modelId="{C75F9B7A-F509-4F4A-9448-3C14FEA36893}" type="sibTrans" cxnId="{E0C1EF3C-2E48-4DF5-AF2E-6A232E61777F}">
      <dgm:prSet/>
      <dgm:spPr/>
      <dgm:t>
        <a:bodyPr/>
        <a:lstStyle/>
        <a:p>
          <a:endParaRPr lang="en-US"/>
        </a:p>
      </dgm:t>
    </dgm:pt>
    <dgm:pt modelId="{197FA121-EA9B-4720-A7A8-32C97B9C724E}">
      <dgm:prSet custT="1"/>
      <dgm:spPr/>
      <dgm:t>
        <a:bodyPr/>
        <a:lstStyle/>
        <a:p>
          <a:pPr algn="just"/>
          <a:r>
            <a:rPr lang="en-US" sz="2600" dirty="0"/>
            <a:t>Reinsurance is crucial for protecting against the financial impact of </a:t>
          </a:r>
          <a:r>
            <a:rPr lang="en-US" sz="2600" b="1" dirty="0">
              <a:solidFill>
                <a:srgbClr val="C00000"/>
              </a:solidFill>
            </a:rPr>
            <a:t>major catastrophic events</a:t>
          </a:r>
          <a:r>
            <a:rPr lang="en-US" sz="2600" dirty="0"/>
            <a:t> such as such as Earthquakes, hurricanes, tornadoes, explosives, plane crashes etc.</a:t>
          </a:r>
        </a:p>
      </dgm:t>
    </dgm:pt>
    <dgm:pt modelId="{EFDF634F-7BFE-43ED-9824-9B129EFE3757}" type="parTrans" cxnId="{CFF1DF5F-F5C7-4DD1-9556-E50ADE302CC2}">
      <dgm:prSet/>
      <dgm:spPr/>
      <dgm:t>
        <a:bodyPr/>
        <a:lstStyle/>
        <a:p>
          <a:endParaRPr lang="en-US"/>
        </a:p>
      </dgm:t>
    </dgm:pt>
    <dgm:pt modelId="{DE1E82FD-A997-42CD-B26C-9B065144D829}" type="sibTrans" cxnId="{CFF1DF5F-F5C7-4DD1-9556-E50ADE302CC2}">
      <dgm:prSet/>
      <dgm:spPr/>
      <dgm:t>
        <a:bodyPr/>
        <a:lstStyle/>
        <a:p>
          <a:endParaRPr lang="en-US"/>
        </a:p>
      </dgm:t>
    </dgm:pt>
    <dgm:pt modelId="{7CA6DCC8-EF19-4568-9013-37F49FB42647}" type="pres">
      <dgm:prSet presAssocID="{CF5A7F8B-3E02-42FD-9464-E8B1DCC54196}" presName="Name0" presStyleCnt="0">
        <dgm:presLayoutVars>
          <dgm:chMax/>
          <dgm:chPref val="3"/>
          <dgm:dir/>
          <dgm:animOne val="branch"/>
          <dgm:animLvl val="lvl"/>
        </dgm:presLayoutVars>
      </dgm:prSet>
      <dgm:spPr/>
    </dgm:pt>
    <dgm:pt modelId="{57B4464C-0F1D-481E-9AA9-CF7E4BCDC234}" type="pres">
      <dgm:prSet presAssocID="{07F4A7EE-C8F3-4915-8440-E4C703A3E947}" presName="composite" presStyleCnt="0"/>
      <dgm:spPr/>
    </dgm:pt>
    <dgm:pt modelId="{B4FFFF3A-FE96-436E-9D27-B16B7E77D387}" type="pres">
      <dgm:prSet presAssocID="{07F4A7EE-C8F3-4915-8440-E4C703A3E947}" presName="FirstChild" presStyleLbl="revTx" presStyleIdx="0" presStyleCnt="5">
        <dgm:presLayoutVars>
          <dgm:chMax val="0"/>
          <dgm:chPref val="0"/>
          <dgm:bulletEnabled val="1"/>
        </dgm:presLayoutVars>
      </dgm:prSet>
      <dgm:spPr/>
    </dgm:pt>
    <dgm:pt modelId="{794A13F6-DC8D-430F-B34B-D4DD97BBE358}" type="pres">
      <dgm:prSet presAssocID="{07F4A7EE-C8F3-4915-8440-E4C703A3E947}" presName="Parent" presStyleLbl="alignNode1" presStyleIdx="0" presStyleCnt="5">
        <dgm:presLayoutVars>
          <dgm:chMax val="3"/>
          <dgm:chPref val="3"/>
          <dgm:bulletEnabled val="1"/>
        </dgm:presLayoutVars>
      </dgm:prSet>
      <dgm:spPr/>
    </dgm:pt>
    <dgm:pt modelId="{49C4ABD9-731F-4732-923E-833DDF11D657}" type="pres">
      <dgm:prSet presAssocID="{07F4A7EE-C8F3-4915-8440-E4C703A3E947}" presName="Accent" presStyleLbl="parChTrans1D1" presStyleIdx="0" presStyleCnt="5"/>
      <dgm:spPr/>
    </dgm:pt>
    <dgm:pt modelId="{CD2F0A7C-B7C5-463F-8A01-3C7924A4D283}" type="pres">
      <dgm:prSet presAssocID="{747DF34F-F020-4D78-B870-411857DE317A}" presName="sibTrans" presStyleCnt="0"/>
      <dgm:spPr/>
    </dgm:pt>
    <dgm:pt modelId="{7D06C7BD-E42E-4C80-88C2-A6B150BB7AAA}" type="pres">
      <dgm:prSet presAssocID="{FE882359-2B8D-41B6-BF8B-E2B811E2BA61}" presName="composite" presStyleCnt="0"/>
      <dgm:spPr/>
    </dgm:pt>
    <dgm:pt modelId="{4A07DE2F-1E8B-40A3-A5DC-08F66ED92761}" type="pres">
      <dgm:prSet presAssocID="{FE882359-2B8D-41B6-BF8B-E2B811E2BA61}" presName="FirstChild" presStyleLbl="revTx" presStyleIdx="1" presStyleCnt="5">
        <dgm:presLayoutVars>
          <dgm:chMax val="0"/>
          <dgm:chPref val="0"/>
          <dgm:bulletEnabled val="1"/>
        </dgm:presLayoutVars>
      </dgm:prSet>
      <dgm:spPr/>
    </dgm:pt>
    <dgm:pt modelId="{76820D21-7120-4099-A7C1-AE2DC04E20BA}" type="pres">
      <dgm:prSet presAssocID="{FE882359-2B8D-41B6-BF8B-E2B811E2BA61}" presName="Parent" presStyleLbl="alignNode1" presStyleIdx="1" presStyleCnt="5">
        <dgm:presLayoutVars>
          <dgm:chMax val="3"/>
          <dgm:chPref val="3"/>
          <dgm:bulletEnabled val="1"/>
        </dgm:presLayoutVars>
      </dgm:prSet>
      <dgm:spPr/>
    </dgm:pt>
    <dgm:pt modelId="{63BB25D4-FE38-4931-BA2D-65DDB404DD61}" type="pres">
      <dgm:prSet presAssocID="{FE882359-2B8D-41B6-BF8B-E2B811E2BA61}" presName="Accent" presStyleLbl="parChTrans1D1" presStyleIdx="1" presStyleCnt="5"/>
      <dgm:spPr/>
    </dgm:pt>
    <dgm:pt modelId="{2F42D8E2-CCB1-4A6B-B569-31D045F54D2A}" type="pres">
      <dgm:prSet presAssocID="{F57C7080-8DE2-465D-A2DF-3C680B0C9A26}" presName="sibTrans" presStyleCnt="0"/>
      <dgm:spPr/>
    </dgm:pt>
    <dgm:pt modelId="{F30BEA37-1D33-46A5-859B-ADFE1128CD1E}" type="pres">
      <dgm:prSet presAssocID="{4BD79820-B381-4F99-8ED5-66536E3C1DEC}" presName="composite" presStyleCnt="0"/>
      <dgm:spPr/>
    </dgm:pt>
    <dgm:pt modelId="{2B6746D3-1983-4227-A9A5-ADC64160A499}" type="pres">
      <dgm:prSet presAssocID="{4BD79820-B381-4F99-8ED5-66536E3C1DEC}" presName="FirstChild" presStyleLbl="revTx" presStyleIdx="2" presStyleCnt="5">
        <dgm:presLayoutVars>
          <dgm:chMax val="0"/>
          <dgm:chPref val="0"/>
          <dgm:bulletEnabled val="1"/>
        </dgm:presLayoutVars>
      </dgm:prSet>
      <dgm:spPr/>
    </dgm:pt>
    <dgm:pt modelId="{436EE0AB-79FB-44F3-97BC-7B3096A8430A}" type="pres">
      <dgm:prSet presAssocID="{4BD79820-B381-4F99-8ED5-66536E3C1DEC}" presName="Parent" presStyleLbl="alignNode1" presStyleIdx="2" presStyleCnt="5">
        <dgm:presLayoutVars>
          <dgm:chMax val="3"/>
          <dgm:chPref val="3"/>
          <dgm:bulletEnabled val="1"/>
        </dgm:presLayoutVars>
      </dgm:prSet>
      <dgm:spPr/>
    </dgm:pt>
    <dgm:pt modelId="{ECD90FEE-2F14-4188-A368-2FFAD8C43876}" type="pres">
      <dgm:prSet presAssocID="{4BD79820-B381-4F99-8ED5-66536E3C1DEC}" presName="Accent" presStyleLbl="parChTrans1D1" presStyleIdx="2" presStyleCnt="5"/>
      <dgm:spPr/>
    </dgm:pt>
    <dgm:pt modelId="{6AA97BD5-2628-4ECB-81A5-AE0B2FD1D774}" type="pres">
      <dgm:prSet presAssocID="{8293E8BA-9354-428F-9B51-2209E2E638C1}" presName="sibTrans" presStyleCnt="0"/>
      <dgm:spPr/>
    </dgm:pt>
    <dgm:pt modelId="{5AA91547-CC77-4537-A7D3-9907C09DC91C}" type="pres">
      <dgm:prSet presAssocID="{CF87D17D-6E19-49F0-8C71-A124F524F7CB}" presName="composite" presStyleCnt="0"/>
      <dgm:spPr/>
    </dgm:pt>
    <dgm:pt modelId="{04881946-780D-42EC-8016-AF16FE36914F}" type="pres">
      <dgm:prSet presAssocID="{CF87D17D-6E19-49F0-8C71-A124F524F7CB}" presName="FirstChild" presStyleLbl="revTx" presStyleIdx="3" presStyleCnt="5">
        <dgm:presLayoutVars>
          <dgm:chMax val="0"/>
          <dgm:chPref val="0"/>
          <dgm:bulletEnabled val="1"/>
        </dgm:presLayoutVars>
      </dgm:prSet>
      <dgm:spPr/>
    </dgm:pt>
    <dgm:pt modelId="{0D0A17A0-385B-4B36-828E-E182DDD34CE0}" type="pres">
      <dgm:prSet presAssocID="{CF87D17D-6E19-49F0-8C71-A124F524F7CB}" presName="Parent" presStyleLbl="alignNode1" presStyleIdx="3" presStyleCnt="5">
        <dgm:presLayoutVars>
          <dgm:chMax val="3"/>
          <dgm:chPref val="3"/>
          <dgm:bulletEnabled val="1"/>
        </dgm:presLayoutVars>
      </dgm:prSet>
      <dgm:spPr/>
    </dgm:pt>
    <dgm:pt modelId="{2ADA1359-EBB4-42EF-8574-D2C9B35417BD}" type="pres">
      <dgm:prSet presAssocID="{CF87D17D-6E19-49F0-8C71-A124F524F7CB}" presName="Accent" presStyleLbl="parChTrans1D1" presStyleIdx="3" presStyleCnt="5"/>
      <dgm:spPr/>
    </dgm:pt>
    <dgm:pt modelId="{C04A2704-8C92-4E56-AA99-903306CB6E54}" type="pres">
      <dgm:prSet presAssocID="{5DA62ECE-2E70-4B55-9333-A08F8033D19D}" presName="sibTrans" presStyleCnt="0"/>
      <dgm:spPr/>
    </dgm:pt>
    <dgm:pt modelId="{5EF19530-DE34-4F4D-8A19-5CBEBF0003F9}" type="pres">
      <dgm:prSet presAssocID="{85E2117C-E28A-4BF1-89B1-4109A71CFBE9}" presName="composite" presStyleCnt="0"/>
      <dgm:spPr/>
    </dgm:pt>
    <dgm:pt modelId="{5B3636ED-6AD2-41CB-98A2-45BDE8A831A3}" type="pres">
      <dgm:prSet presAssocID="{85E2117C-E28A-4BF1-89B1-4109A71CFBE9}" presName="FirstChild" presStyleLbl="revTx" presStyleIdx="4" presStyleCnt="5">
        <dgm:presLayoutVars>
          <dgm:chMax val="0"/>
          <dgm:chPref val="0"/>
          <dgm:bulletEnabled val="1"/>
        </dgm:presLayoutVars>
      </dgm:prSet>
      <dgm:spPr/>
    </dgm:pt>
    <dgm:pt modelId="{F958C341-8876-4E8C-834D-02528A1F1514}" type="pres">
      <dgm:prSet presAssocID="{85E2117C-E28A-4BF1-89B1-4109A71CFBE9}" presName="Parent" presStyleLbl="alignNode1" presStyleIdx="4" presStyleCnt="5">
        <dgm:presLayoutVars>
          <dgm:chMax val="3"/>
          <dgm:chPref val="3"/>
          <dgm:bulletEnabled val="1"/>
        </dgm:presLayoutVars>
      </dgm:prSet>
      <dgm:spPr/>
    </dgm:pt>
    <dgm:pt modelId="{D9F5CEA8-E8AE-4A26-B00E-0B717459DE67}" type="pres">
      <dgm:prSet presAssocID="{85E2117C-E28A-4BF1-89B1-4109A71CFBE9}" presName="Accent" presStyleLbl="parChTrans1D1" presStyleIdx="4" presStyleCnt="5"/>
      <dgm:spPr/>
    </dgm:pt>
  </dgm:ptLst>
  <dgm:cxnLst>
    <dgm:cxn modelId="{C6E68E2A-3FD1-47DE-B337-FAE5E9B163D7}" type="presOf" srcId="{C2F07A4F-F265-4B70-81F9-301DA556C8A3}" destId="{4A07DE2F-1E8B-40A3-A5DC-08F66ED92761}" srcOrd="0" destOrd="0" presId="urn:microsoft.com/office/officeart/2011/layout/TabList"/>
    <dgm:cxn modelId="{E0C1EF3C-2E48-4DF5-AF2E-6A232E61777F}" srcId="{CF5A7F8B-3E02-42FD-9464-E8B1DCC54196}" destId="{85E2117C-E28A-4BF1-89B1-4109A71CFBE9}" srcOrd="4" destOrd="0" parTransId="{FA835C56-0B60-4434-A584-006F0E587C3D}" sibTransId="{C75F9B7A-F509-4F4A-9448-3C14FEA36893}"/>
    <dgm:cxn modelId="{9B81BE3D-6423-4CF2-9DEB-AC0F16A08CBC}" type="presOf" srcId="{07F4A7EE-C8F3-4915-8440-E4C703A3E947}" destId="{794A13F6-DC8D-430F-B34B-D4DD97BBE358}" srcOrd="0" destOrd="0" presId="urn:microsoft.com/office/officeart/2011/layout/TabList"/>
    <dgm:cxn modelId="{CFF1DF5F-F5C7-4DD1-9556-E50ADE302CC2}" srcId="{85E2117C-E28A-4BF1-89B1-4109A71CFBE9}" destId="{197FA121-EA9B-4720-A7A8-32C97B9C724E}" srcOrd="0" destOrd="0" parTransId="{EFDF634F-7BFE-43ED-9824-9B129EFE3757}" sibTransId="{DE1E82FD-A997-42CD-B26C-9B065144D829}"/>
    <dgm:cxn modelId="{ECDE8841-CD18-4AF8-9AEF-8F27A1C25B25}" srcId="{FE882359-2B8D-41B6-BF8B-E2B811E2BA61}" destId="{C2F07A4F-F265-4B70-81F9-301DA556C8A3}" srcOrd="0" destOrd="0" parTransId="{9AC6D95D-E4A6-4DEA-B039-9CB3CB82BEF8}" sibTransId="{03406D0A-3430-4E2A-8079-C4E49DA8B1C7}"/>
    <dgm:cxn modelId="{F2A6DE42-44DA-48F4-8B20-310655577F90}" type="presOf" srcId="{CF87D17D-6E19-49F0-8C71-A124F524F7CB}" destId="{0D0A17A0-385B-4B36-828E-E182DDD34CE0}" srcOrd="0" destOrd="0" presId="urn:microsoft.com/office/officeart/2011/layout/TabList"/>
    <dgm:cxn modelId="{959B0343-F489-4BB9-B55D-9DBF90FE82E3}" srcId="{CF5A7F8B-3E02-42FD-9464-E8B1DCC54196}" destId="{4BD79820-B381-4F99-8ED5-66536E3C1DEC}" srcOrd="2" destOrd="0" parTransId="{45D3AFCF-C202-4E35-9990-EF8A700F540D}" sibTransId="{8293E8BA-9354-428F-9B51-2209E2E638C1}"/>
    <dgm:cxn modelId="{E9A9A246-4F9B-42CD-A899-6F276934B30F}" type="presOf" srcId="{8012D5C0-8F5B-4316-BF1F-3F57972CBD59}" destId="{B4FFFF3A-FE96-436E-9D27-B16B7E77D387}" srcOrd="0" destOrd="0" presId="urn:microsoft.com/office/officeart/2011/layout/TabList"/>
    <dgm:cxn modelId="{39537D49-BBED-43AE-84E3-D3E37EE46FC9}" srcId="{CF5A7F8B-3E02-42FD-9464-E8B1DCC54196}" destId="{FE882359-2B8D-41B6-BF8B-E2B811E2BA61}" srcOrd="1" destOrd="0" parTransId="{BC613C49-60AA-40FE-9886-56E96510C727}" sibTransId="{F57C7080-8DE2-465D-A2DF-3C680B0C9A26}"/>
    <dgm:cxn modelId="{C645484A-8D01-4470-93AA-BA9574512E63}" type="presOf" srcId="{CF5A7F8B-3E02-42FD-9464-E8B1DCC54196}" destId="{7CA6DCC8-EF19-4568-9013-37F49FB42647}" srcOrd="0" destOrd="0" presId="urn:microsoft.com/office/officeart/2011/layout/TabList"/>
    <dgm:cxn modelId="{7B8FEE6C-B4BC-4FBF-AD33-C9167448AB87}" type="presOf" srcId="{FE882359-2B8D-41B6-BF8B-E2B811E2BA61}" destId="{76820D21-7120-4099-A7C1-AE2DC04E20BA}" srcOrd="0" destOrd="0" presId="urn:microsoft.com/office/officeart/2011/layout/TabList"/>
    <dgm:cxn modelId="{5440214D-D574-4E62-AC63-BE2F570015E0}" srcId="{07F4A7EE-C8F3-4915-8440-E4C703A3E947}" destId="{8012D5C0-8F5B-4316-BF1F-3F57972CBD59}" srcOrd="0" destOrd="0" parTransId="{BCF8A758-DA76-47C5-B896-E81ED1DCE48D}" sibTransId="{D6C82A57-3D19-4EE9-ACAB-7DA08F4AC6FB}"/>
    <dgm:cxn modelId="{1A19AF71-2102-4E4F-875A-8FB86A53E2F4}" srcId="{CF5A7F8B-3E02-42FD-9464-E8B1DCC54196}" destId="{CF87D17D-6E19-49F0-8C71-A124F524F7CB}" srcOrd="3" destOrd="0" parTransId="{058E7476-DFB2-4145-8E77-F9B67E2C9C57}" sibTransId="{5DA62ECE-2E70-4B55-9333-A08F8033D19D}"/>
    <dgm:cxn modelId="{E5AB4175-E4BE-41D4-9B3D-200D8DD44956}" type="presOf" srcId="{267C7B8E-29DD-48D4-8C91-422C7A9ACAE8}" destId="{04881946-780D-42EC-8016-AF16FE36914F}" srcOrd="0" destOrd="0" presId="urn:microsoft.com/office/officeart/2011/layout/TabList"/>
    <dgm:cxn modelId="{C41300A6-4101-4C76-8366-0024C9AEC018}" type="presOf" srcId="{85E2117C-E28A-4BF1-89B1-4109A71CFBE9}" destId="{F958C341-8876-4E8C-834D-02528A1F1514}" srcOrd="0" destOrd="0" presId="urn:microsoft.com/office/officeart/2011/layout/TabList"/>
    <dgm:cxn modelId="{A63008AB-3887-4CAC-8282-313CFE9991CA}" srcId="{4BD79820-B381-4F99-8ED5-66536E3C1DEC}" destId="{5F87C496-09CD-46E9-A4DB-D7BF7A412263}" srcOrd="0" destOrd="0" parTransId="{B7D430C1-ABF7-4499-B08C-1DD37B830037}" sibTransId="{AAE9DE60-48D7-47CA-92DC-664D96035286}"/>
    <dgm:cxn modelId="{550E61C3-C0DC-470E-8788-08A9F99ADF17}" type="presOf" srcId="{197FA121-EA9B-4720-A7A8-32C97B9C724E}" destId="{5B3636ED-6AD2-41CB-98A2-45BDE8A831A3}" srcOrd="0" destOrd="0" presId="urn:microsoft.com/office/officeart/2011/layout/TabList"/>
    <dgm:cxn modelId="{DF97F3D4-50FD-4585-8690-946208150DA4}" type="presOf" srcId="{5F87C496-09CD-46E9-A4DB-D7BF7A412263}" destId="{2B6746D3-1983-4227-A9A5-ADC64160A499}" srcOrd="0" destOrd="0" presId="urn:microsoft.com/office/officeart/2011/layout/TabList"/>
    <dgm:cxn modelId="{033A0EDC-49B8-4727-AE3F-FECA92118047}" type="presOf" srcId="{4BD79820-B381-4F99-8ED5-66536E3C1DEC}" destId="{436EE0AB-79FB-44F3-97BC-7B3096A8430A}" srcOrd="0" destOrd="0" presId="urn:microsoft.com/office/officeart/2011/layout/TabList"/>
    <dgm:cxn modelId="{F7FB76DC-961C-4151-8AC6-1EE2BCE5B6A1}" srcId="{CF87D17D-6E19-49F0-8C71-A124F524F7CB}" destId="{267C7B8E-29DD-48D4-8C91-422C7A9ACAE8}" srcOrd="0" destOrd="0" parTransId="{01E97D8C-0337-40E4-8D2E-A605F13F74C2}" sibTransId="{E4D8D85C-300E-4775-9EB5-7F28F0974EF1}"/>
    <dgm:cxn modelId="{E0D62CFD-2532-4870-B58D-0C76A7DF4352}" srcId="{CF5A7F8B-3E02-42FD-9464-E8B1DCC54196}" destId="{07F4A7EE-C8F3-4915-8440-E4C703A3E947}" srcOrd="0" destOrd="0" parTransId="{D328AA86-6619-4429-9CC0-62A4BC42B541}" sibTransId="{747DF34F-F020-4D78-B870-411857DE317A}"/>
    <dgm:cxn modelId="{B5281D6A-6E61-4F4C-8881-4749209A7311}" type="presParOf" srcId="{7CA6DCC8-EF19-4568-9013-37F49FB42647}" destId="{57B4464C-0F1D-481E-9AA9-CF7E4BCDC234}" srcOrd="0" destOrd="0" presId="urn:microsoft.com/office/officeart/2011/layout/TabList"/>
    <dgm:cxn modelId="{AF94BDFF-367B-4F59-8D98-293D0B8FDC66}" type="presParOf" srcId="{57B4464C-0F1D-481E-9AA9-CF7E4BCDC234}" destId="{B4FFFF3A-FE96-436E-9D27-B16B7E77D387}" srcOrd="0" destOrd="0" presId="urn:microsoft.com/office/officeart/2011/layout/TabList"/>
    <dgm:cxn modelId="{295151C7-8FE1-4B53-9DB4-8D76807B346A}" type="presParOf" srcId="{57B4464C-0F1D-481E-9AA9-CF7E4BCDC234}" destId="{794A13F6-DC8D-430F-B34B-D4DD97BBE358}" srcOrd="1" destOrd="0" presId="urn:microsoft.com/office/officeart/2011/layout/TabList"/>
    <dgm:cxn modelId="{2A0E3225-150C-4F5A-A928-465D455F4C75}" type="presParOf" srcId="{57B4464C-0F1D-481E-9AA9-CF7E4BCDC234}" destId="{49C4ABD9-731F-4732-923E-833DDF11D657}" srcOrd="2" destOrd="0" presId="urn:microsoft.com/office/officeart/2011/layout/TabList"/>
    <dgm:cxn modelId="{451B7230-8FC4-4453-8E09-C446491963C2}" type="presParOf" srcId="{7CA6DCC8-EF19-4568-9013-37F49FB42647}" destId="{CD2F0A7C-B7C5-463F-8A01-3C7924A4D283}" srcOrd="1" destOrd="0" presId="urn:microsoft.com/office/officeart/2011/layout/TabList"/>
    <dgm:cxn modelId="{EB635180-DE1A-41EF-947F-6F5747A17BEC}" type="presParOf" srcId="{7CA6DCC8-EF19-4568-9013-37F49FB42647}" destId="{7D06C7BD-E42E-4C80-88C2-A6B150BB7AAA}" srcOrd="2" destOrd="0" presId="urn:microsoft.com/office/officeart/2011/layout/TabList"/>
    <dgm:cxn modelId="{A8FB718E-3DE0-42C7-96D9-4FA70744A42A}" type="presParOf" srcId="{7D06C7BD-E42E-4C80-88C2-A6B150BB7AAA}" destId="{4A07DE2F-1E8B-40A3-A5DC-08F66ED92761}" srcOrd="0" destOrd="0" presId="urn:microsoft.com/office/officeart/2011/layout/TabList"/>
    <dgm:cxn modelId="{C7B8547C-AD37-4C13-9E3D-F5700CF032FE}" type="presParOf" srcId="{7D06C7BD-E42E-4C80-88C2-A6B150BB7AAA}" destId="{76820D21-7120-4099-A7C1-AE2DC04E20BA}" srcOrd="1" destOrd="0" presId="urn:microsoft.com/office/officeart/2011/layout/TabList"/>
    <dgm:cxn modelId="{EFCD22B7-03BD-4F21-964E-EB8A3AEF8513}" type="presParOf" srcId="{7D06C7BD-E42E-4C80-88C2-A6B150BB7AAA}" destId="{63BB25D4-FE38-4931-BA2D-65DDB404DD61}" srcOrd="2" destOrd="0" presId="urn:microsoft.com/office/officeart/2011/layout/TabList"/>
    <dgm:cxn modelId="{31674A9A-148D-439B-833C-07F58D14217E}" type="presParOf" srcId="{7CA6DCC8-EF19-4568-9013-37F49FB42647}" destId="{2F42D8E2-CCB1-4A6B-B569-31D045F54D2A}" srcOrd="3" destOrd="0" presId="urn:microsoft.com/office/officeart/2011/layout/TabList"/>
    <dgm:cxn modelId="{45BA2A52-1D5D-4EF8-8554-ECE8EAA09AC1}" type="presParOf" srcId="{7CA6DCC8-EF19-4568-9013-37F49FB42647}" destId="{F30BEA37-1D33-46A5-859B-ADFE1128CD1E}" srcOrd="4" destOrd="0" presId="urn:microsoft.com/office/officeart/2011/layout/TabList"/>
    <dgm:cxn modelId="{EE79443C-A712-4BBB-9513-6F75505F9302}" type="presParOf" srcId="{F30BEA37-1D33-46A5-859B-ADFE1128CD1E}" destId="{2B6746D3-1983-4227-A9A5-ADC64160A499}" srcOrd="0" destOrd="0" presId="urn:microsoft.com/office/officeart/2011/layout/TabList"/>
    <dgm:cxn modelId="{6CDE3AE6-4760-4F61-BC25-E35A801F3A3E}" type="presParOf" srcId="{F30BEA37-1D33-46A5-859B-ADFE1128CD1E}" destId="{436EE0AB-79FB-44F3-97BC-7B3096A8430A}" srcOrd="1" destOrd="0" presId="urn:microsoft.com/office/officeart/2011/layout/TabList"/>
    <dgm:cxn modelId="{F443336D-281F-4C50-BB3E-3309C6355FD7}" type="presParOf" srcId="{F30BEA37-1D33-46A5-859B-ADFE1128CD1E}" destId="{ECD90FEE-2F14-4188-A368-2FFAD8C43876}" srcOrd="2" destOrd="0" presId="urn:microsoft.com/office/officeart/2011/layout/TabList"/>
    <dgm:cxn modelId="{A2F0DC50-6B8A-4D76-9234-043DA608CDAF}" type="presParOf" srcId="{7CA6DCC8-EF19-4568-9013-37F49FB42647}" destId="{6AA97BD5-2628-4ECB-81A5-AE0B2FD1D774}" srcOrd="5" destOrd="0" presId="urn:microsoft.com/office/officeart/2011/layout/TabList"/>
    <dgm:cxn modelId="{0AEB93BA-D201-454B-9D94-E3DFD93ADD39}" type="presParOf" srcId="{7CA6DCC8-EF19-4568-9013-37F49FB42647}" destId="{5AA91547-CC77-4537-A7D3-9907C09DC91C}" srcOrd="6" destOrd="0" presId="urn:microsoft.com/office/officeart/2011/layout/TabList"/>
    <dgm:cxn modelId="{D9189B53-440D-484E-B802-6A146942CBC1}" type="presParOf" srcId="{5AA91547-CC77-4537-A7D3-9907C09DC91C}" destId="{04881946-780D-42EC-8016-AF16FE36914F}" srcOrd="0" destOrd="0" presId="urn:microsoft.com/office/officeart/2011/layout/TabList"/>
    <dgm:cxn modelId="{FCEF360A-6E00-4DA5-B3A7-A6ACC78222E4}" type="presParOf" srcId="{5AA91547-CC77-4537-A7D3-9907C09DC91C}" destId="{0D0A17A0-385B-4B36-828E-E182DDD34CE0}" srcOrd="1" destOrd="0" presId="urn:microsoft.com/office/officeart/2011/layout/TabList"/>
    <dgm:cxn modelId="{10E78F22-6025-40F6-BC7D-7A9B516D27F2}" type="presParOf" srcId="{5AA91547-CC77-4537-A7D3-9907C09DC91C}" destId="{2ADA1359-EBB4-42EF-8574-D2C9B35417BD}" srcOrd="2" destOrd="0" presId="urn:microsoft.com/office/officeart/2011/layout/TabList"/>
    <dgm:cxn modelId="{E27AA0A1-1734-40D2-98D8-A623A08513F1}" type="presParOf" srcId="{7CA6DCC8-EF19-4568-9013-37F49FB42647}" destId="{C04A2704-8C92-4E56-AA99-903306CB6E54}" srcOrd="7" destOrd="0" presId="urn:microsoft.com/office/officeart/2011/layout/TabList"/>
    <dgm:cxn modelId="{A11085F6-9E70-4FEB-8302-04FEFFF8FAA1}" type="presParOf" srcId="{7CA6DCC8-EF19-4568-9013-37F49FB42647}" destId="{5EF19530-DE34-4F4D-8A19-5CBEBF0003F9}" srcOrd="8" destOrd="0" presId="urn:microsoft.com/office/officeart/2011/layout/TabList"/>
    <dgm:cxn modelId="{7EEE15B5-9EA5-482E-880D-80DF7CAD81F7}" type="presParOf" srcId="{5EF19530-DE34-4F4D-8A19-5CBEBF0003F9}" destId="{5B3636ED-6AD2-41CB-98A2-45BDE8A831A3}" srcOrd="0" destOrd="0" presId="urn:microsoft.com/office/officeart/2011/layout/TabList"/>
    <dgm:cxn modelId="{F39FA522-2DEC-48D0-862A-91A4004C43B4}" type="presParOf" srcId="{5EF19530-DE34-4F4D-8A19-5CBEBF0003F9}" destId="{F958C341-8876-4E8C-834D-02528A1F1514}" srcOrd="1" destOrd="0" presId="urn:microsoft.com/office/officeart/2011/layout/TabList"/>
    <dgm:cxn modelId="{C332623F-42E0-4F7C-9D4E-DB6A4ACBC524}" type="presParOf" srcId="{5EF19530-DE34-4F4D-8A19-5CBEBF0003F9}" destId="{D9F5CEA8-E8AE-4A26-B00E-0B717459DE67}"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F403C5A-FE31-48ED-9E0C-E916CFF1AF8B}" type="doc">
      <dgm:prSet loTypeId="urn:microsoft.com/office/officeart/2005/8/layout/vList4" loCatId="list" qsTypeId="urn:microsoft.com/office/officeart/2005/8/quickstyle/simple1" qsCatId="simple" csTypeId="urn:microsoft.com/office/officeart/2005/8/colors/colorful1" csCatId="colorful" phldr="1"/>
      <dgm:spPr/>
      <dgm:t>
        <a:bodyPr/>
        <a:lstStyle/>
        <a:p>
          <a:endParaRPr lang="en-US"/>
        </a:p>
      </dgm:t>
    </dgm:pt>
    <dgm:pt modelId="{982864DA-6651-46DB-9D31-91E5B9CDAC3B}">
      <dgm:prSet phldrT="[Text]"/>
      <dgm:spPr/>
      <dgm:t>
        <a:bodyPr/>
        <a:lstStyle/>
        <a:p>
          <a:r>
            <a:rPr lang="en-US" dirty="0"/>
            <a:t>For Policyholders</a:t>
          </a:r>
        </a:p>
      </dgm:t>
    </dgm:pt>
    <dgm:pt modelId="{39EE5334-7FDF-4CB6-83A4-E150B69B6E26}" type="parTrans" cxnId="{05169D3D-645F-4C08-BFD8-923518A320B4}">
      <dgm:prSet/>
      <dgm:spPr/>
      <dgm:t>
        <a:bodyPr/>
        <a:lstStyle/>
        <a:p>
          <a:endParaRPr lang="en-US"/>
        </a:p>
      </dgm:t>
    </dgm:pt>
    <dgm:pt modelId="{AD1D363F-5D16-4D6E-80E9-F89A21E25E1D}" type="sibTrans" cxnId="{05169D3D-645F-4C08-BFD8-923518A320B4}">
      <dgm:prSet/>
      <dgm:spPr/>
      <dgm:t>
        <a:bodyPr/>
        <a:lstStyle/>
        <a:p>
          <a:endParaRPr lang="en-US"/>
        </a:p>
      </dgm:t>
    </dgm:pt>
    <dgm:pt modelId="{D01F69E6-F3DD-43E3-9CAF-D97C7B3D78F6}">
      <dgm:prSet phldrT="[Text]"/>
      <dgm:spPr/>
      <dgm:t>
        <a:bodyPr/>
        <a:lstStyle/>
        <a:p>
          <a:r>
            <a:rPr lang="en-US"/>
            <a:t>Ensures claims can be </a:t>
          </a:r>
          <a:r>
            <a:rPr lang="en-US" b="1"/>
            <a:t>paid even after large-scale disasters</a:t>
          </a:r>
          <a:r>
            <a:rPr lang="en-US"/>
            <a:t>, increasing trust and confidence in the insurance system. </a:t>
          </a:r>
          <a:endParaRPr lang="en-US" dirty="0"/>
        </a:p>
      </dgm:t>
    </dgm:pt>
    <dgm:pt modelId="{A572F387-9D3A-4011-A5E8-FA08A287DDC9}" type="parTrans" cxnId="{C65795C8-A6DE-4C74-9090-A638D9462DD6}">
      <dgm:prSet/>
      <dgm:spPr/>
      <dgm:t>
        <a:bodyPr/>
        <a:lstStyle/>
        <a:p>
          <a:endParaRPr lang="en-US"/>
        </a:p>
      </dgm:t>
    </dgm:pt>
    <dgm:pt modelId="{A8590E4C-E390-40CB-B73C-CFA35392BA98}" type="sibTrans" cxnId="{C65795C8-A6DE-4C74-9090-A638D9462DD6}">
      <dgm:prSet/>
      <dgm:spPr/>
      <dgm:t>
        <a:bodyPr/>
        <a:lstStyle/>
        <a:p>
          <a:endParaRPr lang="en-US"/>
        </a:p>
      </dgm:t>
    </dgm:pt>
    <dgm:pt modelId="{93AAEA55-73B4-4E95-A634-1A10E2B90086}">
      <dgm:prSet phldrT="[Text]"/>
      <dgm:spPr/>
      <dgm:t>
        <a:bodyPr/>
        <a:lstStyle/>
        <a:p>
          <a:r>
            <a:rPr lang="en-US" dirty="0"/>
            <a:t>For Primary Insurers</a:t>
          </a:r>
        </a:p>
      </dgm:t>
    </dgm:pt>
    <dgm:pt modelId="{7A992CAD-539C-4A77-887D-8009463C7445}" type="parTrans" cxnId="{5CD18EE4-F115-47BF-8322-858FA0AB7DC0}">
      <dgm:prSet/>
      <dgm:spPr/>
      <dgm:t>
        <a:bodyPr/>
        <a:lstStyle/>
        <a:p>
          <a:endParaRPr lang="en-US"/>
        </a:p>
      </dgm:t>
    </dgm:pt>
    <dgm:pt modelId="{7FE6E1A1-F254-4D9B-A9BD-2F3062E1A335}" type="sibTrans" cxnId="{5CD18EE4-F115-47BF-8322-858FA0AB7DC0}">
      <dgm:prSet/>
      <dgm:spPr/>
      <dgm:t>
        <a:bodyPr/>
        <a:lstStyle/>
        <a:p>
          <a:endParaRPr lang="en-US"/>
        </a:p>
      </dgm:t>
    </dgm:pt>
    <dgm:pt modelId="{1DA8769B-D648-437E-8727-16B88AF63C8A}">
      <dgm:prSet phldrT="[Text]"/>
      <dgm:spPr/>
      <dgm:t>
        <a:bodyPr/>
        <a:lstStyle/>
        <a:p>
          <a:r>
            <a:rPr lang="en-US" dirty="0"/>
            <a:t>Enhances </a:t>
          </a:r>
          <a:r>
            <a:rPr lang="en-US" b="1" dirty="0"/>
            <a:t>financial stability, enables growth</a:t>
          </a:r>
          <a:r>
            <a:rPr lang="en-US" dirty="0"/>
            <a:t>, and allows for offering broader coverage options. </a:t>
          </a:r>
        </a:p>
      </dgm:t>
    </dgm:pt>
    <dgm:pt modelId="{7F9BCC21-D2B3-48C0-BDF9-61BF9A7B149E}" type="parTrans" cxnId="{AB954E7F-665D-4A9D-92A0-2F616BEBC689}">
      <dgm:prSet/>
      <dgm:spPr/>
      <dgm:t>
        <a:bodyPr/>
        <a:lstStyle/>
        <a:p>
          <a:endParaRPr lang="en-US"/>
        </a:p>
      </dgm:t>
    </dgm:pt>
    <dgm:pt modelId="{7FA289B7-6F43-4F10-8F04-B71812C0210F}" type="sibTrans" cxnId="{AB954E7F-665D-4A9D-92A0-2F616BEBC689}">
      <dgm:prSet/>
      <dgm:spPr/>
      <dgm:t>
        <a:bodyPr/>
        <a:lstStyle/>
        <a:p>
          <a:endParaRPr lang="en-US"/>
        </a:p>
      </dgm:t>
    </dgm:pt>
    <dgm:pt modelId="{4BD667BF-F0F4-40F7-8363-356CF4760AB2}">
      <dgm:prSet phldrT="[Text]"/>
      <dgm:spPr/>
      <dgm:t>
        <a:bodyPr/>
        <a:lstStyle/>
        <a:p>
          <a:r>
            <a:rPr lang="en-US" dirty="0"/>
            <a:t>For the Economy</a:t>
          </a:r>
        </a:p>
      </dgm:t>
    </dgm:pt>
    <dgm:pt modelId="{8E553FCF-78F5-40A1-A985-63724A2626F5}" type="parTrans" cxnId="{47099138-2496-47CD-82A1-852C2ECCC054}">
      <dgm:prSet/>
      <dgm:spPr/>
      <dgm:t>
        <a:bodyPr/>
        <a:lstStyle/>
        <a:p>
          <a:endParaRPr lang="en-US"/>
        </a:p>
      </dgm:t>
    </dgm:pt>
    <dgm:pt modelId="{965CEA95-3F6F-4303-92F7-B92A441B5BE9}" type="sibTrans" cxnId="{47099138-2496-47CD-82A1-852C2ECCC054}">
      <dgm:prSet/>
      <dgm:spPr/>
      <dgm:t>
        <a:bodyPr/>
        <a:lstStyle/>
        <a:p>
          <a:endParaRPr lang="en-US"/>
        </a:p>
      </dgm:t>
    </dgm:pt>
    <dgm:pt modelId="{DDDEBE82-FF57-47CB-BEC5-93B16C7CA365}">
      <dgm:prSet phldrT="[Text]"/>
      <dgm:spPr/>
      <dgm:t>
        <a:bodyPr/>
        <a:lstStyle/>
        <a:p>
          <a:r>
            <a:rPr lang="en-US"/>
            <a:t>Contributes to overall economic stability </a:t>
          </a:r>
          <a:r>
            <a:rPr lang="en-US" b="1"/>
            <a:t>by spreading risk and freeing up capital </a:t>
          </a:r>
          <a:r>
            <a:rPr lang="en-US"/>
            <a:t>for investment.</a:t>
          </a:r>
          <a:endParaRPr lang="en-US" dirty="0"/>
        </a:p>
      </dgm:t>
    </dgm:pt>
    <dgm:pt modelId="{B8CEC262-EF86-4331-A165-748A82E62F57}" type="parTrans" cxnId="{85A2D32F-5ED8-4757-A4B2-6434F1093DAC}">
      <dgm:prSet/>
      <dgm:spPr/>
      <dgm:t>
        <a:bodyPr/>
        <a:lstStyle/>
        <a:p>
          <a:endParaRPr lang="en-US"/>
        </a:p>
      </dgm:t>
    </dgm:pt>
    <dgm:pt modelId="{65920D75-38DC-4703-B310-C97423B5C6CD}" type="sibTrans" cxnId="{85A2D32F-5ED8-4757-A4B2-6434F1093DAC}">
      <dgm:prSet/>
      <dgm:spPr/>
      <dgm:t>
        <a:bodyPr/>
        <a:lstStyle/>
        <a:p>
          <a:endParaRPr lang="en-US"/>
        </a:p>
      </dgm:t>
    </dgm:pt>
    <dgm:pt modelId="{401513E8-46FF-43F7-A24B-F18343CBFCA3}" type="pres">
      <dgm:prSet presAssocID="{DF403C5A-FE31-48ED-9E0C-E916CFF1AF8B}" presName="linear" presStyleCnt="0">
        <dgm:presLayoutVars>
          <dgm:dir/>
          <dgm:resizeHandles val="exact"/>
        </dgm:presLayoutVars>
      </dgm:prSet>
      <dgm:spPr/>
    </dgm:pt>
    <dgm:pt modelId="{62AF2297-2C64-450C-80C0-D123E40E2797}" type="pres">
      <dgm:prSet presAssocID="{982864DA-6651-46DB-9D31-91E5B9CDAC3B}" presName="comp" presStyleCnt="0"/>
      <dgm:spPr/>
    </dgm:pt>
    <dgm:pt modelId="{24B4A04C-FA21-45BA-AFD6-BD58AE84F982}" type="pres">
      <dgm:prSet presAssocID="{982864DA-6651-46DB-9D31-91E5B9CDAC3B}" presName="box" presStyleLbl="node1" presStyleIdx="0" presStyleCnt="3"/>
      <dgm:spPr/>
    </dgm:pt>
    <dgm:pt modelId="{9C8E5511-DF06-4290-ACE9-BD9C318EB589}" type="pres">
      <dgm:prSet presAssocID="{982864DA-6651-46DB-9D31-91E5B9CDAC3B}" presName="img" presStyleLbl="fgImgPlac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30000" b="-30000"/>
          </a:stretch>
        </a:blipFill>
      </dgm:spPr>
    </dgm:pt>
    <dgm:pt modelId="{3F6A000A-C4C8-4247-BF05-A95DF854BB00}" type="pres">
      <dgm:prSet presAssocID="{982864DA-6651-46DB-9D31-91E5B9CDAC3B}" presName="text" presStyleLbl="node1" presStyleIdx="0" presStyleCnt="3">
        <dgm:presLayoutVars>
          <dgm:bulletEnabled val="1"/>
        </dgm:presLayoutVars>
      </dgm:prSet>
      <dgm:spPr/>
    </dgm:pt>
    <dgm:pt modelId="{7DF99695-986C-4D7A-AFD0-09E87A8CF972}" type="pres">
      <dgm:prSet presAssocID="{AD1D363F-5D16-4D6E-80E9-F89A21E25E1D}" presName="spacer" presStyleCnt="0"/>
      <dgm:spPr/>
    </dgm:pt>
    <dgm:pt modelId="{7387FA35-A510-49AF-87DD-317FE8CD0484}" type="pres">
      <dgm:prSet presAssocID="{93AAEA55-73B4-4E95-A634-1A10E2B90086}" presName="comp" presStyleCnt="0"/>
      <dgm:spPr/>
    </dgm:pt>
    <dgm:pt modelId="{0E5CC041-9ACF-4724-BC2E-6836921ACA98}" type="pres">
      <dgm:prSet presAssocID="{93AAEA55-73B4-4E95-A634-1A10E2B90086}" presName="box" presStyleLbl="node1" presStyleIdx="1" presStyleCnt="3"/>
      <dgm:spPr/>
    </dgm:pt>
    <dgm:pt modelId="{CE6B0365-81BD-42C1-AE8F-A62AE8DE8CC2}" type="pres">
      <dgm:prSet presAssocID="{93AAEA55-73B4-4E95-A634-1A10E2B90086}" presName="img"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33000" b="-33000"/>
          </a:stretch>
        </a:blipFill>
      </dgm:spPr>
    </dgm:pt>
    <dgm:pt modelId="{AA38EAD0-A903-4F8A-B029-651B8035C593}" type="pres">
      <dgm:prSet presAssocID="{93AAEA55-73B4-4E95-A634-1A10E2B90086}" presName="text" presStyleLbl="node1" presStyleIdx="1" presStyleCnt="3">
        <dgm:presLayoutVars>
          <dgm:bulletEnabled val="1"/>
        </dgm:presLayoutVars>
      </dgm:prSet>
      <dgm:spPr/>
    </dgm:pt>
    <dgm:pt modelId="{A93CD802-8B13-48BC-93F4-0EB5C1115031}" type="pres">
      <dgm:prSet presAssocID="{7FE6E1A1-F254-4D9B-A9BD-2F3062E1A335}" presName="spacer" presStyleCnt="0"/>
      <dgm:spPr/>
    </dgm:pt>
    <dgm:pt modelId="{2D837A2E-D81E-4DF1-9892-A0377B3E7F04}" type="pres">
      <dgm:prSet presAssocID="{4BD667BF-F0F4-40F7-8363-356CF4760AB2}" presName="comp" presStyleCnt="0"/>
      <dgm:spPr/>
    </dgm:pt>
    <dgm:pt modelId="{4561DD56-2137-470F-81E4-E0A9CF0E5D4E}" type="pres">
      <dgm:prSet presAssocID="{4BD667BF-F0F4-40F7-8363-356CF4760AB2}" presName="box" presStyleLbl="node1" presStyleIdx="2" presStyleCnt="3"/>
      <dgm:spPr/>
    </dgm:pt>
    <dgm:pt modelId="{EB80616D-5900-4D3F-8B53-303B128FF6A4}" type="pres">
      <dgm:prSet presAssocID="{4BD667BF-F0F4-40F7-8363-356CF4760AB2}" presName="img"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t="-7000" b="-7000"/>
          </a:stretch>
        </a:blipFill>
      </dgm:spPr>
    </dgm:pt>
    <dgm:pt modelId="{9FECB9CD-20B4-432E-BCD6-CEAA16770DB4}" type="pres">
      <dgm:prSet presAssocID="{4BD667BF-F0F4-40F7-8363-356CF4760AB2}" presName="text" presStyleLbl="node1" presStyleIdx="2" presStyleCnt="3">
        <dgm:presLayoutVars>
          <dgm:bulletEnabled val="1"/>
        </dgm:presLayoutVars>
      </dgm:prSet>
      <dgm:spPr/>
    </dgm:pt>
  </dgm:ptLst>
  <dgm:cxnLst>
    <dgm:cxn modelId="{82533404-D66D-4312-AD15-1CFC0D1518B2}" type="presOf" srcId="{93AAEA55-73B4-4E95-A634-1A10E2B90086}" destId="{0E5CC041-9ACF-4724-BC2E-6836921ACA98}" srcOrd="0" destOrd="0" presId="urn:microsoft.com/office/officeart/2005/8/layout/vList4"/>
    <dgm:cxn modelId="{14BF7A1B-55B6-4587-8983-1B75CF5E0323}" type="presOf" srcId="{93AAEA55-73B4-4E95-A634-1A10E2B90086}" destId="{AA38EAD0-A903-4F8A-B029-651B8035C593}" srcOrd="1" destOrd="0" presId="urn:microsoft.com/office/officeart/2005/8/layout/vList4"/>
    <dgm:cxn modelId="{9E15E721-2A7E-404C-9043-D77466C148D9}" type="presOf" srcId="{DDDEBE82-FF57-47CB-BEC5-93B16C7CA365}" destId="{4561DD56-2137-470F-81E4-E0A9CF0E5D4E}" srcOrd="0" destOrd="1" presId="urn:microsoft.com/office/officeart/2005/8/layout/vList4"/>
    <dgm:cxn modelId="{4906F622-40C5-402A-AFF4-33E0DC53DAC6}" type="presOf" srcId="{982864DA-6651-46DB-9D31-91E5B9CDAC3B}" destId="{3F6A000A-C4C8-4247-BF05-A95DF854BB00}" srcOrd="1" destOrd="0" presId="urn:microsoft.com/office/officeart/2005/8/layout/vList4"/>
    <dgm:cxn modelId="{8958FF26-998F-4044-9E52-1D48B1335FF5}" type="presOf" srcId="{1DA8769B-D648-437E-8727-16B88AF63C8A}" destId="{AA38EAD0-A903-4F8A-B029-651B8035C593}" srcOrd="1" destOrd="1" presId="urn:microsoft.com/office/officeart/2005/8/layout/vList4"/>
    <dgm:cxn modelId="{85A2D32F-5ED8-4757-A4B2-6434F1093DAC}" srcId="{4BD667BF-F0F4-40F7-8363-356CF4760AB2}" destId="{DDDEBE82-FF57-47CB-BEC5-93B16C7CA365}" srcOrd="0" destOrd="0" parTransId="{B8CEC262-EF86-4331-A165-748A82E62F57}" sibTransId="{65920D75-38DC-4703-B310-C97423B5C6CD}"/>
    <dgm:cxn modelId="{47099138-2496-47CD-82A1-852C2ECCC054}" srcId="{DF403C5A-FE31-48ED-9E0C-E916CFF1AF8B}" destId="{4BD667BF-F0F4-40F7-8363-356CF4760AB2}" srcOrd="2" destOrd="0" parTransId="{8E553FCF-78F5-40A1-A985-63724A2626F5}" sibTransId="{965CEA95-3F6F-4303-92F7-B92A441B5BE9}"/>
    <dgm:cxn modelId="{05169D3D-645F-4C08-BFD8-923518A320B4}" srcId="{DF403C5A-FE31-48ED-9E0C-E916CFF1AF8B}" destId="{982864DA-6651-46DB-9D31-91E5B9CDAC3B}" srcOrd="0" destOrd="0" parTransId="{39EE5334-7FDF-4CB6-83A4-E150B69B6E26}" sibTransId="{AD1D363F-5D16-4D6E-80E9-F89A21E25E1D}"/>
    <dgm:cxn modelId="{E171AA3D-BE73-4592-90BA-81CE1989722F}" type="presOf" srcId="{DF403C5A-FE31-48ED-9E0C-E916CFF1AF8B}" destId="{401513E8-46FF-43F7-A24B-F18343CBFCA3}" srcOrd="0" destOrd="0" presId="urn:microsoft.com/office/officeart/2005/8/layout/vList4"/>
    <dgm:cxn modelId="{DD2AB75F-C9BF-41B2-95F6-0D1A8D431073}" type="presOf" srcId="{4BD667BF-F0F4-40F7-8363-356CF4760AB2}" destId="{4561DD56-2137-470F-81E4-E0A9CF0E5D4E}" srcOrd="0" destOrd="0" presId="urn:microsoft.com/office/officeart/2005/8/layout/vList4"/>
    <dgm:cxn modelId="{A95A2448-BB45-4865-ACD1-05C3A8B8E5E3}" type="presOf" srcId="{4BD667BF-F0F4-40F7-8363-356CF4760AB2}" destId="{9FECB9CD-20B4-432E-BCD6-CEAA16770DB4}" srcOrd="1" destOrd="0" presId="urn:microsoft.com/office/officeart/2005/8/layout/vList4"/>
    <dgm:cxn modelId="{AA707A69-95D7-47F1-8B8B-14EC331C96BC}" type="presOf" srcId="{D01F69E6-F3DD-43E3-9CAF-D97C7B3D78F6}" destId="{24B4A04C-FA21-45BA-AFD6-BD58AE84F982}" srcOrd="0" destOrd="1" presId="urn:microsoft.com/office/officeart/2005/8/layout/vList4"/>
    <dgm:cxn modelId="{AB954E7F-665D-4A9D-92A0-2F616BEBC689}" srcId="{93AAEA55-73B4-4E95-A634-1A10E2B90086}" destId="{1DA8769B-D648-437E-8727-16B88AF63C8A}" srcOrd="0" destOrd="0" parTransId="{7F9BCC21-D2B3-48C0-BDF9-61BF9A7B149E}" sibTransId="{7FA289B7-6F43-4F10-8F04-B71812C0210F}"/>
    <dgm:cxn modelId="{20464CA8-A585-47B4-8FD6-92EC9EDBC4DF}" type="presOf" srcId="{DDDEBE82-FF57-47CB-BEC5-93B16C7CA365}" destId="{9FECB9CD-20B4-432E-BCD6-CEAA16770DB4}" srcOrd="1" destOrd="1" presId="urn:microsoft.com/office/officeart/2005/8/layout/vList4"/>
    <dgm:cxn modelId="{A16E31AC-E84C-4AFB-9D3A-3DCF59EEDE4E}" type="presOf" srcId="{1DA8769B-D648-437E-8727-16B88AF63C8A}" destId="{0E5CC041-9ACF-4724-BC2E-6836921ACA98}" srcOrd="0" destOrd="1" presId="urn:microsoft.com/office/officeart/2005/8/layout/vList4"/>
    <dgm:cxn modelId="{C65795C8-A6DE-4C74-9090-A638D9462DD6}" srcId="{982864DA-6651-46DB-9D31-91E5B9CDAC3B}" destId="{D01F69E6-F3DD-43E3-9CAF-D97C7B3D78F6}" srcOrd="0" destOrd="0" parTransId="{A572F387-9D3A-4011-A5E8-FA08A287DDC9}" sibTransId="{A8590E4C-E390-40CB-B73C-CFA35392BA98}"/>
    <dgm:cxn modelId="{7FDE27DA-482C-433A-B89C-1A0C5C2E4CFF}" type="presOf" srcId="{982864DA-6651-46DB-9D31-91E5B9CDAC3B}" destId="{24B4A04C-FA21-45BA-AFD6-BD58AE84F982}" srcOrd="0" destOrd="0" presId="urn:microsoft.com/office/officeart/2005/8/layout/vList4"/>
    <dgm:cxn modelId="{4A1F6AE1-D39E-4B25-80E3-4E86E4176DDA}" type="presOf" srcId="{D01F69E6-F3DD-43E3-9CAF-D97C7B3D78F6}" destId="{3F6A000A-C4C8-4247-BF05-A95DF854BB00}" srcOrd="1" destOrd="1" presId="urn:microsoft.com/office/officeart/2005/8/layout/vList4"/>
    <dgm:cxn modelId="{5CD18EE4-F115-47BF-8322-858FA0AB7DC0}" srcId="{DF403C5A-FE31-48ED-9E0C-E916CFF1AF8B}" destId="{93AAEA55-73B4-4E95-A634-1A10E2B90086}" srcOrd="1" destOrd="0" parTransId="{7A992CAD-539C-4A77-887D-8009463C7445}" sibTransId="{7FE6E1A1-F254-4D9B-A9BD-2F3062E1A335}"/>
    <dgm:cxn modelId="{E8A28DEC-16E6-4B61-9E9E-4D42402BD40B}" type="presParOf" srcId="{401513E8-46FF-43F7-A24B-F18343CBFCA3}" destId="{62AF2297-2C64-450C-80C0-D123E40E2797}" srcOrd="0" destOrd="0" presId="urn:microsoft.com/office/officeart/2005/8/layout/vList4"/>
    <dgm:cxn modelId="{7CB25BE4-F3C8-4BDF-AE2C-2FB9EADE2F16}" type="presParOf" srcId="{62AF2297-2C64-450C-80C0-D123E40E2797}" destId="{24B4A04C-FA21-45BA-AFD6-BD58AE84F982}" srcOrd="0" destOrd="0" presId="urn:microsoft.com/office/officeart/2005/8/layout/vList4"/>
    <dgm:cxn modelId="{071E7FB5-A962-422E-93BE-AB0EEAD4C41A}" type="presParOf" srcId="{62AF2297-2C64-450C-80C0-D123E40E2797}" destId="{9C8E5511-DF06-4290-ACE9-BD9C318EB589}" srcOrd="1" destOrd="0" presId="urn:microsoft.com/office/officeart/2005/8/layout/vList4"/>
    <dgm:cxn modelId="{09871303-5619-495E-8840-6C66D605A4D4}" type="presParOf" srcId="{62AF2297-2C64-450C-80C0-D123E40E2797}" destId="{3F6A000A-C4C8-4247-BF05-A95DF854BB00}" srcOrd="2" destOrd="0" presId="urn:microsoft.com/office/officeart/2005/8/layout/vList4"/>
    <dgm:cxn modelId="{F0097B54-1F35-489A-A07D-A02324BCFC60}" type="presParOf" srcId="{401513E8-46FF-43F7-A24B-F18343CBFCA3}" destId="{7DF99695-986C-4D7A-AFD0-09E87A8CF972}" srcOrd="1" destOrd="0" presId="urn:microsoft.com/office/officeart/2005/8/layout/vList4"/>
    <dgm:cxn modelId="{C225702B-82D9-4782-8005-61C32DECB16E}" type="presParOf" srcId="{401513E8-46FF-43F7-A24B-F18343CBFCA3}" destId="{7387FA35-A510-49AF-87DD-317FE8CD0484}" srcOrd="2" destOrd="0" presId="urn:microsoft.com/office/officeart/2005/8/layout/vList4"/>
    <dgm:cxn modelId="{DEE52FC1-625B-410B-AA96-4420BE4BA243}" type="presParOf" srcId="{7387FA35-A510-49AF-87DD-317FE8CD0484}" destId="{0E5CC041-9ACF-4724-BC2E-6836921ACA98}" srcOrd="0" destOrd="0" presId="urn:microsoft.com/office/officeart/2005/8/layout/vList4"/>
    <dgm:cxn modelId="{DDB4735F-3E90-4A14-9607-DF89BF5EE2BA}" type="presParOf" srcId="{7387FA35-A510-49AF-87DD-317FE8CD0484}" destId="{CE6B0365-81BD-42C1-AE8F-A62AE8DE8CC2}" srcOrd="1" destOrd="0" presId="urn:microsoft.com/office/officeart/2005/8/layout/vList4"/>
    <dgm:cxn modelId="{2E5D910F-535A-4F68-A019-77EDC9830E62}" type="presParOf" srcId="{7387FA35-A510-49AF-87DD-317FE8CD0484}" destId="{AA38EAD0-A903-4F8A-B029-651B8035C593}" srcOrd="2" destOrd="0" presId="urn:microsoft.com/office/officeart/2005/8/layout/vList4"/>
    <dgm:cxn modelId="{94100F72-AAEE-4E5E-864E-5CA3803F3D4E}" type="presParOf" srcId="{401513E8-46FF-43F7-A24B-F18343CBFCA3}" destId="{A93CD802-8B13-48BC-93F4-0EB5C1115031}" srcOrd="3" destOrd="0" presId="urn:microsoft.com/office/officeart/2005/8/layout/vList4"/>
    <dgm:cxn modelId="{F7CB3C98-4A59-428E-9054-9DA6546B8425}" type="presParOf" srcId="{401513E8-46FF-43F7-A24B-F18343CBFCA3}" destId="{2D837A2E-D81E-4DF1-9892-A0377B3E7F04}" srcOrd="4" destOrd="0" presId="urn:microsoft.com/office/officeart/2005/8/layout/vList4"/>
    <dgm:cxn modelId="{D149D243-434D-4171-B2FA-3FE551169E39}" type="presParOf" srcId="{2D837A2E-D81E-4DF1-9892-A0377B3E7F04}" destId="{4561DD56-2137-470F-81E4-E0A9CF0E5D4E}" srcOrd="0" destOrd="0" presId="urn:microsoft.com/office/officeart/2005/8/layout/vList4"/>
    <dgm:cxn modelId="{7E157DBA-E9C8-479C-811F-E00A63998A10}" type="presParOf" srcId="{2D837A2E-D81E-4DF1-9892-A0377B3E7F04}" destId="{EB80616D-5900-4D3F-8B53-303B128FF6A4}" srcOrd="1" destOrd="0" presId="urn:microsoft.com/office/officeart/2005/8/layout/vList4"/>
    <dgm:cxn modelId="{26693EB2-453E-4A5F-8B5B-7921A10F1B8B}" type="presParOf" srcId="{2D837A2E-D81E-4DF1-9892-A0377B3E7F04}" destId="{9FECB9CD-20B4-432E-BCD6-CEAA16770DB4}"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BFB9E8-462C-400B-B868-FD6E58D17B23}">
      <dsp:nvSpPr>
        <dsp:cNvPr id="0" name=""/>
        <dsp:cNvSpPr/>
      </dsp:nvSpPr>
      <dsp:spPr>
        <a:xfrm>
          <a:off x="-6126981" y="-937410"/>
          <a:ext cx="7293488" cy="7293488"/>
        </a:xfrm>
        <a:prstGeom prst="blockArc">
          <a:avLst>
            <a:gd name="adj1" fmla="val 18900000"/>
            <a:gd name="adj2" fmla="val 2700000"/>
            <a:gd name="adj3" fmla="val 296"/>
          </a:avLst>
        </a:pr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020116-68FA-4B75-8BD6-40DE4D95D50A}">
      <dsp:nvSpPr>
        <dsp:cNvPr id="0" name=""/>
        <dsp:cNvSpPr/>
      </dsp:nvSpPr>
      <dsp:spPr>
        <a:xfrm>
          <a:off x="509717" y="338558"/>
          <a:ext cx="10952109" cy="67755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83820" rIns="83820" bIns="83820" numCol="1" spcCol="1270" anchor="ctr" anchorCtr="0">
          <a:noAutofit/>
        </a:bodyPr>
        <a:lstStyle/>
        <a:p>
          <a:pPr marL="0" lvl="0" indent="0" algn="l" defTabSz="1466850">
            <a:lnSpc>
              <a:spcPct val="90000"/>
            </a:lnSpc>
            <a:spcBef>
              <a:spcPct val="0"/>
            </a:spcBef>
            <a:spcAft>
              <a:spcPct val="35000"/>
            </a:spcAft>
            <a:buNone/>
          </a:pPr>
          <a:r>
            <a:rPr lang="en-US" sz="3300" b="1" kern="1200" dirty="0"/>
            <a:t>Provides Safety and Security to Individuals and Businesses</a:t>
          </a:r>
          <a:endParaRPr lang="en-US" sz="3300" kern="1200" dirty="0"/>
        </a:p>
      </dsp:txBody>
      <dsp:txXfrm>
        <a:off x="509717" y="338558"/>
        <a:ext cx="10952109" cy="677550"/>
      </dsp:txXfrm>
    </dsp:sp>
    <dsp:sp modelId="{80C3CF91-4DAE-4CAA-892A-22AC26EBD0B1}">
      <dsp:nvSpPr>
        <dsp:cNvPr id="0" name=""/>
        <dsp:cNvSpPr/>
      </dsp:nvSpPr>
      <dsp:spPr>
        <a:xfrm>
          <a:off x="86248" y="253864"/>
          <a:ext cx="846937" cy="846937"/>
        </a:xfrm>
        <a:prstGeom prst="ellipse">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FC1697-08E9-4873-8335-C4ECA382D1CC}">
      <dsp:nvSpPr>
        <dsp:cNvPr id="0" name=""/>
        <dsp:cNvSpPr/>
      </dsp:nvSpPr>
      <dsp:spPr>
        <a:xfrm>
          <a:off x="995230" y="1354558"/>
          <a:ext cx="10466596" cy="677550"/>
        </a:xfrm>
        <a:prstGeom prst="rect">
          <a:avLst/>
        </a:prstGeom>
        <a:solidFill>
          <a:schemeClr val="accent5">
            <a:hueOff val="-511864"/>
            <a:satOff val="-10331"/>
            <a:lumOff val="-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83820" rIns="83820" bIns="83820" numCol="1" spcCol="1270" anchor="ctr" anchorCtr="0">
          <a:noAutofit/>
        </a:bodyPr>
        <a:lstStyle/>
        <a:p>
          <a:pPr marL="0" lvl="0" indent="0" algn="l" defTabSz="1466850">
            <a:lnSpc>
              <a:spcPct val="90000"/>
            </a:lnSpc>
            <a:spcBef>
              <a:spcPct val="0"/>
            </a:spcBef>
            <a:spcAft>
              <a:spcPct val="35000"/>
            </a:spcAft>
            <a:buNone/>
          </a:pPr>
          <a:r>
            <a:rPr lang="en-US" sz="3300" b="1" kern="1200"/>
            <a:t>Generates Long-term Financial Resources</a:t>
          </a:r>
          <a:endParaRPr lang="en-US" sz="3300" b="1" kern="1200" dirty="0"/>
        </a:p>
      </dsp:txBody>
      <dsp:txXfrm>
        <a:off x="995230" y="1354558"/>
        <a:ext cx="10466596" cy="677550"/>
      </dsp:txXfrm>
    </dsp:sp>
    <dsp:sp modelId="{F3D36274-2167-4EB8-AF94-DD9FEF25515F}">
      <dsp:nvSpPr>
        <dsp:cNvPr id="0" name=""/>
        <dsp:cNvSpPr/>
      </dsp:nvSpPr>
      <dsp:spPr>
        <a:xfrm>
          <a:off x="571761" y="1269864"/>
          <a:ext cx="846937" cy="846937"/>
        </a:xfrm>
        <a:prstGeom prst="ellipse">
          <a:avLst/>
        </a:prstGeom>
        <a:solidFill>
          <a:schemeClr val="lt1">
            <a:hueOff val="0"/>
            <a:satOff val="0"/>
            <a:lumOff val="0"/>
            <a:alphaOff val="0"/>
          </a:schemeClr>
        </a:solidFill>
        <a:ln w="12700" cap="flat" cmpd="sng" algn="ctr">
          <a:solidFill>
            <a:schemeClr val="accent5">
              <a:hueOff val="-511864"/>
              <a:satOff val="-10331"/>
              <a:lumOff val="-784"/>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817225-DFEE-4662-8F10-241301302562}">
      <dsp:nvSpPr>
        <dsp:cNvPr id="0" name=""/>
        <dsp:cNvSpPr/>
      </dsp:nvSpPr>
      <dsp:spPr>
        <a:xfrm>
          <a:off x="1144243" y="2370558"/>
          <a:ext cx="10317583" cy="677550"/>
        </a:xfrm>
        <a:prstGeom prst="rect">
          <a:avLst/>
        </a:prstGeom>
        <a:solidFill>
          <a:schemeClr val="accent5">
            <a:hueOff val="-1023728"/>
            <a:satOff val="-20662"/>
            <a:lumOff val="-15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83820" rIns="83820" bIns="83820" numCol="1" spcCol="1270" anchor="ctr" anchorCtr="0">
          <a:noAutofit/>
        </a:bodyPr>
        <a:lstStyle/>
        <a:p>
          <a:pPr marL="0" lvl="0" indent="0" algn="l" defTabSz="1466850">
            <a:lnSpc>
              <a:spcPct val="90000"/>
            </a:lnSpc>
            <a:spcBef>
              <a:spcPct val="0"/>
            </a:spcBef>
            <a:spcAft>
              <a:spcPct val="35000"/>
            </a:spcAft>
            <a:buNone/>
          </a:pPr>
          <a:r>
            <a:rPr lang="en-US" sz="3300" b="1" kern="1200"/>
            <a:t>Promotes Economic Growth</a:t>
          </a:r>
          <a:endParaRPr lang="en-US" sz="3300" b="1" kern="1200" dirty="0"/>
        </a:p>
      </dsp:txBody>
      <dsp:txXfrm>
        <a:off x="1144243" y="2370558"/>
        <a:ext cx="10317583" cy="677550"/>
      </dsp:txXfrm>
    </dsp:sp>
    <dsp:sp modelId="{0CC9E902-A03D-44E4-9F43-182A63F8C038}">
      <dsp:nvSpPr>
        <dsp:cNvPr id="0" name=""/>
        <dsp:cNvSpPr/>
      </dsp:nvSpPr>
      <dsp:spPr>
        <a:xfrm>
          <a:off x="720774" y="2285864"/>
          <a:ext cx="846937" cy="846937"/>
        </a:xfrm>
        <a:prstGeom prst="ellipse">
          <a:avLst/>
        </a:prstGeom>
        <a:solidFill>
          <a:schemeClr val="lt1">
            <a:hueOff val="0"/>
            <a:satOff val="0"/>
            <a:lumOff val="0"/>
            <a:alphaOff val="0"/>
          </a:schemeClr>
        </a:solidFill>
        <a:ln w="12700" cap="flat" cmpd="sng" algn="ctr">
          <a:solidFill>
            <a:schemeClr val="accent5">
              <a:hueOff val="-1023728"/>
              <a:satOff val="-20662"/>
              <a:lumOff val="-1568"/>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5CA38E-7BAF-4C34-8822-A4C8725A6867}">
      <dsp:nvSpPr>
        <dsp:cNvPr id="0" name=""/>
        <dsp:cNvSpPr/>
      </dsp:nvSpPr>
      <dsp:spPr>
        <a:xfrm>
          <a:off x="995230" y="3386558"/>
          <a:ext cx="10466596" cy="677550"/>
        </a:xfrm>
        <a:prstGeom prst="rect">
          <a:avLst/>
        </a:prstGeom>
        <a:solidFill>
          <a:schemeClr val="accent5">
            <a:hueOff val="-1535592"/>
            <a:satOff val="-30993"/>
            <a:lumOff val="-23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83820" rIns="83820" bIns="83820" numCol="1" spcCol="1270" anchor="ctr" anchorCtr="0">
          <a:noAutofit/>
        </a:bodyPr>
        <a:lstStyle/>
        <a:p>
          <a:pPr marL="0" lvl="0" indent="0" algn="l" defTabSz="1466850">
            <a:lnSpc>
              <a:spcPct val="90000"/>
            </a:lnSpc>
            <a:spcBef>
              <a:spcPct val="0"/>
            </a:spcBef>
            <a:spcAft>
              <a:spcPct val="35000"/>
            </a:spcAft>
            <a:buNone/>
          </a:pPr>
          <a:r>
            <a:rPr lang="en-US" sz="3300" b="1" kern="1200"/>
            <a:t>Provides Support to Families during Medical Emergencies</a:t>
          </a:r>
          <a:endParaRPr lang="en-US" sz="3300" b="1" kern="1200" dirty="0"/>
        </a:p>
      </dsp:txBody>
      <dsp:txXfrm>
        <a:off x="995230" y="3386558"/>
        <a:ext cx="10466596" cy="677550"/>
      </dsp:txXfrm>
    </dsp:sp>
    <dsp:sp modelId="{C5994692-AB49-42AD-91EE-E9D053FE7A6D}">
      <dsp:nvSpPr>
        <dsp:cNvPr id="0" name=""/>
        <dsp:cNvSpPr/>
      </dsp:nvSpPr>
      <dsp:spPr>
        <a:xfrm>
          <a:off x="571761" y="3301864"/>
          <a:ext cx="846937" cy="846937"/>
        </a:xfrm>
        <a:prstGeom prst="ellipse">
          <a:avLst/>
        </a:prstGeom>
        <a:solidFill>
          <a:schemeClr val="lt1">
            <a:hueOff val="0"/>
            <a:satOff val="0"/>
            <a:lumOff val="0"/>
            <a:alphaOff val="0"/>
          </a:schemeClr>
        </a:solidFill>
        <a:ln w="12700" cap="flat" cmpd="sng" algn="ctr">
          <a:solidFill>
            <a:schemeClr val="accent5">
              <a:hueOff val="-1535592"/>
              <a:satOff val="-30993"/>
              <a:lumOff val="-2352"/>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2E1EF0-82E2-4069-AE01-54743B7150F5}">
      <dsp:nvSpPr>
        <dsp:cNvPr id="0" name=""/>
        <dsp:cNvSpPr/>
      </dsp:nvSpPr>
      <dsp:spPr>
        <a:xfrm>
          <a:off x="509717" y="4402558"/>
          <a:ext cx="10952109" cy="677550"/>
        </a:xfrm>
        <a:prstGeom prst="rect">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7805" tIns="83820" rIns="83820" bIns="83820" numCol="1" spcCol="1270" anchor="ctr" anchorCtr="0">
          <a:noAutofit/>
        </a:bodyPr>
        <a:lstStyle/>
        <a:p>
          <a:pPr marL="0" lvl="0" indent="0" algn="l" defTabSz="1466850">
            <a:lnSpc>
              <a:spcPct val="90000"/>
            </a:lnSpc>
            <a:spcBef>
              <a:spcPct val="0"/>
            </a:spcBef>
            <a:spcAft>
              <a:spcPct val="35000"/>
            </a:spcAft>
            <a:buNone/>
          </a:pPr>
          <a:r>
            <a:rPr lang="en-US" sz="3300" b="1" kern="1200"/>
            <a:t>Spreads Risk</a:t>
          </a:r>
          <a:endParaRPr lang="en-US" sz="3300" b="1" kern="1200" dirty="0"/>
        </a:p>
      </dsp:txBody>
      <dsp:txXfrm>
        <a:off x="509717" y="4402558"/>
        <a:ext cx="10952109" cy="677550"/>
      </dsp:txXfrm>
    </dsp:sp>
    <dsp:sp modelId="{23C61BA5-B403-48B9-B1C4-273399E42E6C}">
      <dsp:nvSpPr>
        <dsp:cNvPr id="0" name=""/>
        <dsp:cNvSpPr/>
      </dsp:nvSpPr>
      <dsp:spPr>
        <a:xfrm>
          <a:off x="86248" y="4317864"/>
          <a:ext cx="846937" cy="846937"/>
        </a:xfrm>
        <a:prstGeom prst="ellipse">
          <a:avLst/>
        </a:prstGeom>
        <a:solidFill>
          <a:schemeClr val="lt1">
            <a:hueOff val="0"/>
            <a:satOff val="0"/>
            <a:lumOff val="0"/>
            <a:alphaOff val="0"/>
          </a:schemeClr>
        </a:solidFill>
        <a:ln w="12700" cap="flat" cmpd="sng" algn="ctr">
          <a:solidFill>
            <a:schemeClr val="accent5">
              <a:hueOff val="-2047456"/>
              <a:satOff val="-41324"/>
              <a:lumOff val="-3136"/>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B17016-14FD-490B-A8FB-6AEDB0897734}">
      <dsp:nvSpPr>
        <dsp:cNvPr id="0" name=""/>
        <dsp:cNvSpPr/>
      </dsp:nvSpPr>
      <dsp:spPr>
        <a:xfrm>
          <a:off x="1495510" y="2845601"/>
          <a:ext cx="438759" cy="2508152"/>
        </a:xfrm>
        <a:custGeom>
          <a:avLst/>
          <a:gdLst/>
          <a:ahLst/>
          <a:cxnLst/>
          <a:rect l="0" t="0" r="0" b="0"/>
          <a:pathLst>
            <a:path>
              <a:moveTo>
                <a:pt x="0" y="0"/>
              </a:moveTo>
              <a:lnTo>
                <a:pt x="219379" y="0"/>
              </a:lnTo>
              <a:lnTo>
                <a:pt x="219379" y="2508152"/>
              </a:lnTo>
              <a:lnTo>
                <a:pt x="438759" y="250815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651234" y="4036021"/>
        <a:ext cx="127312" cy="127312"/>
      </dsp:txXfrm>
    </dsp:sp>
    <dsp:sp modelId="{893B6892-6119-4EAF-98B8-A1074A032873}">
      <dsp:nvSpPr>
        <dsp:cNvPr id="0" name=""/>
        <dsp:cNvSpPr/>
      </dsp:nvSpPr>
      <dsp:spPr>
        <a:xfrm>
          <a:off x="1495510" y="2845601"/>
          <a:ext cx="438759" cy="1672101"/>
        </a:xfrm>
        <a:custGeom>
          <a:avLst/>
          <a:gdLst/>
          <a:ahLst/>
          <a:cxnLst/>
          <a:rect l="0" t="0" r="0" b="0"/>
          <a:pathLst>
            <a:path>
              <a:moveTo>
                <a:pt x="0" y="0"/>
              </a:moveTo>
              <a:lnTo>
                <a:pt x="219379" y="0"/>
              </a:lnTo>
              <a:lnTo>
                <a:pt x="219379" y="1672101"/>
              </a:lnTo>
              <a:lnTo>
                <a:pt x="438759" y="1672101"/>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671672" y="3638434"/>
        <a:ext cx="86435" cy="86435"/>
      </dsp:txXfrm>
    </dsp:sp>
    <dsp:sp modelId="{83F9C73D-8641-4ACD-AE0A-CB5CE828DB1D}">
      <dsp:nvSpPr>
        <dsp:cNvPr id="0" name=""/>
        <dsp:cNvSpPr/>
      </dsp:nvSpPr>
      <dsp:spPr>
        <a:xfrm>
          <a:off x="1495510" y="2845601"/>
          <a:ext cx="438759" cy="836050"/>
        </a:xfrm>
        <a:custGeom>
          <a:avLst/>
          <a:gdLst/>
          <a:ahLst/>
          <a:cxnLst/>
          <a:rect l="0" t="0" r="0" b="0"/>
          <a:pathLst>
            <a:path>
              <a:moveTo>
                <a:pt x="0" y="0"/>
              </a:moveTo>
              <a:lnTo>
                <a:pt x="219379" y="0"/>
              </a:lnTo>
              <a:lnTo>
                <a:pt x="219379" y="836050"/>
              </a:lnTo>
              <a:lnTo>
                <a:pt x="438759" y="83605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1285" y="3240022"/>
        <a:ext cx="47209" cy="47209"/>
      </dsp:txXfrm>
    </dsp:sp>
    <dsp:sp modelId="{F70B2577-1D35-42E5-AC14-5AB8C2C0462D}">
      <dsp:nvSpPr>
        <dsp:cNvPr id="0" name=""/>
        <dsp:cNvSpPr/>
      </dsp:nvSpPr>
      <dsp:spPr>
        <a:xfrm>
          <a:off x="1495510" y="2799881"/>
          <a:ext cx="438759" cy="91440"/>
        </a:xfrm>
        <a:custGeom>
          <a:avLst/>
          <a:gdLst/>
          <a:ahLst/>
          <a:cxnLst/>
          <a:rect l="0" t="0" r="0" b="0"/>
          <a:pathLst>
            <a:path>
              <a:moveTo>
                <a:pt x="0" y="45720"/>
              </a:moveTo>
              <a:lnTo>
                <a:pt x="438759" y="4572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03921" y="2834632"/>
        <a:ext cx="21937" cy="21937"/>
      </dsp:txXfrm>
    </dsp:sp>
    <dsp:sp modelId="{3694D593-EB77-4CB9-9B2E-E44E9A2ACC6D}">
      <dsp:nvSpPr>
        <dsp:cNvPr id="0" name=""/>
        <dsp:cNvSpPr/>
      </dsp:nvSpPr>
      <dsp:spPr>
        <a:xfrm>
          <a:off x="1495510" y="2009550"/>
          <a:ext cx="438759" cy="836050"/>
        </a:xfrm>
        <a:custGeom>
          <a:avLst/>
          <a:gdLst/>
          <a:ahLst/>
          <a:cxnLst/>
          <a:rect l="0" t="0" r="0" b="0"/>
          <a:pathLst>
            <a:path>
              <a:moveTo>
                <a:pt x="0" y="836050"/>
              </a:moveTo>
              <a:lnTo>
                <a:pt x="219379" y="836050"/>
              </a:lnTo>
              <a:lnTo>
                <a:pt x="219379" y="0"/>
              </a:lnTo>
              <a:lnTo>
                <a:pt x="438759" y="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1285" y="2403971"/>
        <a:ext cx="47209" cy="47209"/>
      </dsp:txXfrm>
    </dsp:sp>
    <dsp:sp modelId="{2C52AF65-7EA8-473B-B0EA-3C41ECF0D911}">
      <dsp:nvSpPr>
        <dsp:cNvPr id="0" name=""/>
        <dsp:cNvSpPr/>
      </dsp:nvSpPr>
      <dsp:spPr>
        <a:xfrm>
          <a:off x="1495510" y="1173499"/>
          <a:ext cx="438759" cy="1672101"/>
        </a:xfrm>
        <a:custGeom>
          <a:avLst/>
          <a:gdLst/>
          <a:ahLst/>
          <a:cxnLst/>
          <a:rect l="0" t="0" r="0" b="0"/>
          <a:pathLst>
            <a:path>
              <a:moveTo>
                <a:pt x="0" y="1672101"/>
              </a:moveTo>
              <a:lnTo>
                <a:pt x="219379" y="1672101"/>
              </a:lnTo>
              <a:lnTo>
                <a:pt x="219379" y="0"/>
              </a:lnTo>
              <a:lnTo>
                <a:pt x="438759" y="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671672" y="1966332"/>
        <a:ext cx="86435" cy="86435"/>
      </dsp:txXfrm>
    </dsp:sp>
    <dsp:sp modelId="{D762645A-AB79-4803-8BB0-100808D161A9}">
      <dsp:nvSpPr>
        <dsp:cNvPr id="0" name=""/>
        <dsp:cNvSpPr/>
      </dsp:nvSpPr>
      <dsp:spPr>
        <a:xfrm>
          <a:off x="1495510" y="337449"/>
          <a:ext cx="438759" cy="2508152"/>
        </a:xfrm>
        <a:custGeom>
          <a:avLst/>
          <a:gdLst/>
          <a:ahLst/>
          <a:cxnLst/>
          <a:rect l="0" t="0" r="0" b="0"/>
          <a:pathLst>
            <a:path>
              <a:moveTo>
                <a:pt x="0" y="2508152"/>
              </a:moveTo>
              <a:lnTo>
                <a:pt x="219379" y="2508152"/>
              </a:lnTo>
              <a:lnTo>
                <a:pt x="219379" y="0"/>
              </a:lnTo>
              <a:lnTo>
                <a:pt x="438759" y="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651234" y="1527869"/>
        <a:ext cx="127312" cy="127312"/>
      </dsp:txXfrm>
    </dsp:sp>
    <dsp:sp modelId="{4AC434EF-1906-4F66-A965-ACE8A057BE4D}">
      <dsp:nvSpPr>
        <dsp:cNvPr id="0" name=""/>
        <dsp:cNvSpPr/>
      </dsp:nvSpPr>
      <dsp:spPr>
        <a:xfrm rot="16200000">
          <a:off x="-599016" y="2511181"/>
          <a:ext cx="3520213" cy="66884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Life Insurance</a:t>
          </a:r>
        </a:p>
      </dsp:txBody>
      <dsp:txXfrm>
        <a:off x="-599016" y="2511181"/>
        <a:ext cx="3520213" cy="668840"/>
      </dsp:txXfrm>
    </dsp:sp>
    <dsp:sp modelId="{E4BF40DB-FFEA-419A-A25D-7D872AD14DC5}">
      <dsp:nvSpPr>
        <dsp:cNvPr id="0" name=""/>
        <dsp:cNvSpPr/>
      </dsp:nvSpPr>
      <dsp:spPr>
        <a:xfrm>
          <a:off x="1934270" y="3028"/>
          <a:ext cx="3077151" cy="66884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0" kern="1200" dirty="0"/>
            <a:t>Term Insurance</a:t>
          </a:r>
        </a:p>
      </dsp:txBody>
      <dsp:txXfrm>
        <a:off x="1934270" y="3028"/>
        <a:ext cx="3077151" cy="668840"/>
      </dsp:txXfrm>
    </dsp:sp>
    <dsp:sp modelId="{149AA204-22AF-45BF-A35F-B55F32A2D2BB}">
      <dsp:nvSpPr>
        <dsp:cNvPr id="0" name=""/>
        <dsp:cNvSpPr/>
      </dsp:nvSpPr>
      <dsp:spPr>
        <a:xfrm>
          <a:off x="1934270" y="839079"/>
          <a:ext cx="3077151" cy="66884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Whole Life Insurance</a:t>
          </a:r>
          <a:endParaRPr lang="en-US" sz="2800" b="0" kern="1200" dirty="0"/>
        </a:p>
      </dsp:txBody>
      <dsp:txXfrm>
        <a:off x="1934270" y="839079"/>
        <a:ext cx="3077151" cy="668840"/>
      </dsp:txXfrm>
    </dsp:sp>
    <dsp:sp modelId="{248D16B3-26E7-45F4-BB9D-7FD96AF3E486}">
      <dsp:nvSpPr>
        <dsp:cNvPr id="0" name=""/>
        <dsp:cNvSpPr/>
      </dsp:nvSpPr>
      <dsp:spPr>
        <a:xfrm>
          <a:off x="1934270" y="1675130"/>
          <a:ext cx="3077151" cy="66884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Endowment Policy</a:t>
          </a:r>
          <a:endParaRPr lang="en-US" sz="2800" b="0" kern="1200" dirty="0"/>
        </a:p>
      </dsp:txBody>
      <dsp:txXfrm>
        <a:off x="1934270" y="1675130"/>
        <a:ext cx="3077151" cy="668840"/>
      </dsp:txXfrm>
    </dsp:sp>
    <dsp:sp modelId="{2BBDD5A8-DDAF-44ED-93CB-086052BFEE37}">
      <dsp:nvSpPr>
        <dsp:cNvPr id="0" name=""/>
        <dsp:cNvSpPr/>
      </dsp:nvSpPr>
      <dsp:spPr>
        <a:xfrm>
          <a:off x="1934270" y="2511181"/>
          <a:ext cx="3077151" cy="66884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Unit-Linked Insurance Plans (ULIPs)</a:t>
          </a:r>
          <a:endParaRPr lang="en-US" sz="2800" b="0" kern="1200" dirty="0"/>
        </a:p>
      </dsp:txBody>
      <dsp:txXfrm>
        <a:off x="1934270" y="2511181"/>
        <a:ext cx="3077151" cy="668840"/>
      </dsp:txXfrm>
    </dsp:sp>
    <dsp:sp modelId="{8001DC4D-2C61-4578-BEBE-E853A3A7C941}">
      <dsp:nvSpPr>
        <dsp:cNvPr id="0" name=""/>
        <dsp:cNvSpPr/>
      </dsp:nvSpPr>
      <dsp:spPr>
        <a:xfrm>
          <a:off x="1934270" y="3347231"/>
          <a:ext cx="3077151" cy="66884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Money-Back Policy</a:t>
          </a:r>
          <a:endParaRPr lang="en-US" sz="2800" b="0" kern="1200" dirty="0"/>
        </a:p>
      </dsp:txBody>
      <dsp:txXfrm>
        <a:off x="1934270" y="3347231"/>
        <a:ext cx="3077151" cy="668840"/>
      </dsp:txXfrm>
    </dsp:sp>
    <dsp:sp modelId="{344F5AC7-8C6F-4D02-AD99-2A0E4E6ED4A2}">
      <dsp:nvSpPr>
        <dsp:cNvPr id="0" name=""/>
        <dsp:cNvSpPr/>
      </dsp:nvSpPr>
      <dsp:spPr>
        <a:xfrm>
          <a:off x="1934270" y="4183282"/>
          <a:ext cx="3077151" cy="66884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Children's Insurance</a:t>
          </a:r>
          <a:endParaRPr lang="en-US" sz="2800" kern="1200" dirty="0"/>
        </a:p>
      </dsp:txBody>
      <dsp:txXfrm>
        <a:off x="1934270" y="4183282"/>
        <a:ext cx="3077151" cy="668840"/>
      </dsp:txXfrm>
    </dsp:sp>
    <dsp:sp modelId="{C1570DCA-1678-492E-8024-80AB2D48A3A8}">
      <dsp:nvSpPr>
        <dsp:cNvPr id="0" name=""/>
        <dsp:cNvSpPr/>
      </dsp:nvSpPr>
      <dsp:spPr>
        <a:xfrm>
          <a:off x="1934270" y="5019333"/>
          <a:ext cx="3077151" cy="66884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Retirement Plans</a:t>
          </a:r>
          <a:endParaRPr lang="en-US" sz="2800" kern="1200" dirty="0"/>
        </a:p>
      </dsp:txBody>
      <dsp:txXfrm>
        <a:off x="1934270" y="5019333"/>
        <a:ext cx="3077151" cy="6688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CCC8CD-9772-4926-869E-A98E86131DAC}">
      <dsp:nvSpPr>
        <dsp:cNvPr id="0" name=""/>
        <dsp:cNvSpPr/>
      </dsp:nvSpPr>
      <dsp:spPr>
        <a:xfrm>
          <a:off x="935225" y="2920213"/>
          <a:ext cx="347640" cy="2649699"/>
        </a:xfrm>
        <a:custGeom>
          <a:avLst/>
          <a:gdLst/>
          <a:ahLst/>
          <a:cxnLst/>
          <a:rect l="0" t="0" r="0" b="0"/>
          <a:pathLst>
            <a:path>
              <a:moveTo>
                <a:pt x="0" y="0"/>
              </a:moveTo>
              <a:lnTo>
                <a:pt x="173820" y="0"/>
              </a:lnTo>
              <a:lnTo>
                <a:pt x="173820" y="2649699"/>
              </a:lnTo>
              <a:lnTo>
                <a:pt x="347640" y="264969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042235" y="4178253"/>
        <a:ext cx="133620" cy="133620"/>
      </dsp:txXfrm>
    </dsp:sp>
    <dsp:sp modelId="{C1F5F6C1-CCC8-407B-9B72-CF81BA4ACB8A}">
      <dsp:nvSpPr>
        <dsp:cNvPr id="0" name=""/>
        <dsp:cNvSpPr/>
      </dsp:nvSpPr>
      <dsp:spPr>
        <a:xfrm>
          <a:off x="935225" y="2920213"/>
          <a:ext cx="347640" cy="1987274"/>
        </a:xfrm>
        <a:custGeom>
          <a:avLst/>
          <a:gdLst/>
          <a:ahLst/>
          <a:cxnLst/>
          <a:rect l="0" t="0" r="0" b="0"/>
          <a:pathLst>
            <a:path>
              <a:moveTo>
                <a:pt x="0" y="0"/>
              </a:moveTo>
              <a:lnTo>
                <a:pt x="173820" y="0"/>
              </a:lnTo>
              <a:lnTo>
                <a:pt x="173820" y="1987274"/>
              </a:lnTo>
              <a:lnTo>
                <a:pt x="347640" y="198727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058609" y="3863415"/>
        <a:ext cx="100872" cy="100872"/>
      </dsp:txXfrm>
    </dsp:sp>
    <dsp:sp modelId="{E4F960E2-4958-4B03-846F-42D93FFF23BA}">
      <dsp:nvSpPr>
        <dsp:cNvPr id="0" name=""/>
        <dsp:cNvSpPr/>
      </dsp:nvSpPr>
      <dsp:spPr>
        <a:xfrm>
          <a:off x="935225" y="2920213"/>
          <a:ext cx="347640" cy="1324849"/>
        </a:xfrm>
        <a:custGeom>
          <a:avLst/>
          <a:gdLst/>
          <a:ahLst/>
          <a:cxnLst/>
          <a:rect l="0" t="0" r="0" b="0"/>
          <a:pathLst>
            <a:path>
              <a:moveTo>
                <a:pt x="0" y="0"/>
              </a:moveTo>
              <a:lnTo>
                <a:pt x="173820" y="0"/>
              </a:lnTo>
              <a:lnTo>
                <a:pt x="173820" y="1324849"/>
              </a:lnTo>
              <a:lnTo>
                <a:pt x="347640" y="1324849"/>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74803" y="3548396"/>
        <a:ext cx="68485" cy="68485"/>
      </dsp:txXfrm>
    </dsp:sp>
    <dsp:sp modelId="{3E46C6E2-2F04-4072-811B-179BA9341917}">
      <dsp:nvSpPr>
        <dsp:cNvPr id="0" name=""/>
        <dsp:cNvSpPr/>
      </dsp:nvSpPr>
      <dsp:spPr>
        <a:xfrm>
          <a:off x="935225" y="2920213"/>
          <a:ext cx="347640" cy="662424"/>
        </a:xfrm>
        <a:custGeom>
          <a:avLst/>
          <a:gdLst/>
          <a:ahLst/>
          <a:cxnLst/>
          <a:rect l="0" t="0" r="0" b="0"/>
          <a:pathLst>
            <a:path>
              <a:moveTo>
                <a:pt x="0" y="0"/>
              </a:moveTo>
              <a:lnTo>
                <a:pt x="173820" y="0"/>
              </a:lnTo>
              <a:lnTo>
                <a:pt x="173820" y="662424"/>
              </a:lnTo>
              <a:lnTo>
                <a:pt x="347640" y="66242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90343" y="3232723"/>
        <a:ext cx="37405" cy="37405"/>
      </dsp:txXfrm>
    </dsp:sp>
    <dsp:sp modelId="{47EBE12C-4C82-437D-867D-FAB4E5567CF7}">
      <dsp:nvSpPr>
        <dsp:cNvPr id="0" name=""/>
        <dsp:cNvSpPr/>
      </dsp:nvSpPr>
      <dsp:spPr>
        <a:xfrm>
          <a:off x="935225" y="2874493"/>
          <a:ext cx="347640" cy="91440"/>
        </a:xfrm>
        <a:custGeom>
          <a:avLst/>
          <a:gdLst/>
          <a:ahLst/>
          <a:cxnLst/>
          <a:rect l="0" t="0" r="0" b="0"/>
          <a:pathLst>
            <a:path>
              <a:moveTo>
                <a:pt x="0" y="45720"/>
              </a:moveTo>
              <a:lnTo>
                <a:pt x="347640" y="4572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00354" y="2911522"/>
        <a:ext cx="17382" cy="17382"/>
      </dsp:txXfrm>
    </dsp:sp>
    <dsp:sp modelId="{24A6DECC-16AF-4577-8A1F-25A54D138DC5}">
      <dsp:nvSpPr>
        <dsp:cNvPr id="0" name=""/>
        <dsp:cNvSpPr/>
      </dsp:nvSpPr>
      <dsp:spPr>
        <a:xfrm>
          <a:off x="935225" y="2257789"/>
          <a:ext cx="347640" cy="662424"/>
        </a:xfrm>
        <a:custGeom>
          <a:avLst/>
          <a:gdLst/>
          <a:ahLst/>
          <a:cxnLst/>
          <a:rect l="0" t="0" r="0" b="0"/>
          <a:pathLst>
            <a:path>
              <a:moveTo>
                <a:pt x="0" y="662424"/>
              </a:moveTo>
              <a:lnTo>
                <a:pt x="173820" y="662424"/>
              </a:lnTo>
              <a:lnTo>
                <a:pt x="173820" y="0"/>
              </a:lnTo>
              <a:lnTo>
                <a:pt x="347640"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90343" y="2570298"/>
        <a:ext cx="37405" cy="37405"/>
      </dsp:txXfrm>
    </dsp:sp>
    <dsp:sp modelId="{FFD0C7D2-C01B-4920-80E7-EB5D9B544217}">
      <dsp:nvSpPr>
        <dsp:cNvPr id="0" name=""/>
        <dsp:cNvSpPr/>
      </dsp:nvSpPr>
      <dsp:spPr>
        <a:xfrm>
          <a:off x="935225" y="1595364"/>
          <a:ext cx="347640" cy="1324849"/>
        </a:xfrm>
        <a:custGeom>
          <a:avLst/>
          <a:gdLst/>
          <a:ahLst/>
          <a:cxnLst/>
          <a:rect l="0" t="0" r="0" b="0"/>
          <a:pathLst>
            <a:path>
              <a:moveTo>
                <a:pt x="0" y="1324849"/>
              </a:moveTo>
              <a:lnTo>
                <a:pt x="173820" y="1324849"/>
              </a:lnTo>
              <a:lnTo>
                <a:pt x="173820" y="0"/>
              </a:lnTo>
              <a:lnTo>
                <a:pt x="347640"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74803" y="2223546"/>
        <a:ext cx="68485" cy="68485"/>
      </dsp:txXfrm>
    </dsp:sp>
    <dsp:sp modelId="{4E7B1E02-3B83-41F7-B887-8F5BEDF79406}">
      <dsp:nvSpPr>
        <dsp:cNvPr id="0" name=""/>
        <dsp:cNvSpPr/>
      </dsp:nvSpPr>
      <dsp:spPr>
        <a:xfrm>
          <a:off x="935225" y="932939"/>
          <a:ext cx="347640" cy="1987274"/>
        </a:xfrm>
        <a:custGeom>
          <a:avLst/>
          <a:gdLst/>
          <a:ahLst/>
          <a:cxnLst/>
          <a:rect l="0" t="0" r="0" b="0"/>
          <a:pathLst>
            <a:path>
              <a:moveTo>
                <a:pt x="0" y="1987274"/>
              </a:moveTo>
              <a:lnTo>
                <a:pt x="173820" y="1987274"/>
              </a:lnTo>
              <a:lnTo>
                <a:pt x="173820" y="0"/>
              </a:lnTo>
              <a:lnTo>
                <a:pt x="347640"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058609" y="1876140"/>
        <a:ext cx="100872" cy="100872"/>
      </dsp:txXfrm>
    </dsp:sp>
    <dsp:sp modelId="{B04C93EE-4F9C-49D2-A1F0-1CC29283632E}">
      <dsp:nvSpPr>
        <dsp:cNvPr id="0" name=""/>
        <dsp:cNvSpPr/>
      </dsp:nvSpPr>
      <dsp:spPr>
        <a:xfrm>
          <a:off x="935225" y="270514"/>
          <a:ext cx="347640" cy="2649699"/>
        </a:xfrm>
        <a:custGeom>
          <a:avLst/>
          <a:gdLst/>
          <a:ahLst/>
          <a:cxnLst/>
          <a:rect l="0" t="0" r="0" b="0"/>
          <a:pathLst>
            <a:path>
              <a:moveTo>
                <a:pt x="0" y="2649699"/>
              </a:moveTo>
              <a:lnTo>
                <a:pt x="173820" y="2649699"/>
              </a:lnTo>
              <a:lnTo>
                <a:pt x="173820" y="0"/>
              </a:lnTo>
              <a:lnTo>
                <a:pt x="347640"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042235" y="1528553"/>
        <a:ext cx="133620" cy="133620"/>
      </dsp:txXfrm>
    </dsp:sp>
    <dsp:sp modelId="{905843B0-1F3E-4EC9-BE11-102173184D71}">
      <dsp:nvSpPr>
        <dsp:cNvPr id="0" name=""/>
        <dsp:cNvSpPr/>
      </dsp:nvSpPr>
      <dsp:spPr>
        <a:xfrm rot="16200000">
          <a:off x="-1486181" y="2655244"/>
          <a:ext cx="4312874" cy="52993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Non-Life / General Insurance</a:t>
          </a:r>
        </a:p>
      </dsp:txBody>
      <dsp:txXfrm>
        <a:off x="-1486181" y="2655244"/>
        <a:ext cx="4312874" cy="529939"/>
      </dsp:txXfrm>
    </dsp:sp>
    <dsp:sp modelId="{842F60E2-5D4E-435A-BB5A-E2B47AD4EDAE}">
      <dsp:nvSpPr>
        <dsp:cNvPr id="0" name=""/>
        <dsp:cNvSpPr/>
      </dsp:nvSpPr>
      <dsp:spPr>
        <a:xfrm>
          <a:off x="1282866" y="5544"/>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Motor insurance</a:t>
          </a:r>
          <a:endParaRPr lang="en-US" sz="2800" kern="1200" dirty="0"/>
        </a:p>
      </dsp:txBody>
      <dsp:txXfrm>
        <a:off x="1282866" y="5544"/>
        <a:ext cx="5338995" cy="529939"/>
      </dsp:txXfrm>
    </dsp:sp>
    <dsp:sp modelId="{913E8391-6E94-49DE-B4BA-06308F050B72}">
      <dsp:nvSpPr>
        <dsp:cNvPr id="0" name=""/>
        <dsp:cNvSpPr/>
      </dsp:nvSpPr>
      <dsp:spPr>
        <a:xfrm>
          <a:off x="1282866" y="667969"/>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Health insurance</a:t>
          </a:r>
          <a:endParaRPr lang="en-US" sz="2800" kern="1200" dirty="0"/>
        </a:p>
      </dsp:txBody>
      <dsp:txXfrm>
        <a:off x="1282866" y="667969"/>
        <a:ext cx="5338995" cy="529939"/>
      </dsp:txXfrm>
    </dsp:sp>
    <dsp:sp modelId="{4FD90DD9-C8C2-4768-BF47-AF19605C71E9}">
      <dsp:nvSpPr>
        <dsp:cNvPr id="0" name=""/>
        <dsp:cNvSpPr/>
      </dsp:nvSpPr>
      <dsp:spPr>
        <a:xfrm>
          <a:off x="1282866" y="1330394"/>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Travel insurance</a:t>
          </a:r>
          <a:endParaRPr lang="en-US" sz="2800" kern="1200" dirty="0"/>
        </a:p>
      </dsp:txBody>
      <dsp:txXfrm>
        <a:off x="1282866" y="1330394"/>
        <a:ext cx="5338995" cy="529939"/>
      </dsp:txXfrm>
    </dsp:sp>
    <dsp:sp modelId="{0D4D3215-415F-463C-9D0B-7E559462068C}">
      <dsp:nvSpPr>
        <dsp:cNvPr id="0" name=""/>
        <dsp:cNvSpPr/>
      </dsp:nvSpPr>
      <dsp:spPr>
        <a:xfrm>
          <a:off x="1282866" y="1992819"/>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Personal Accident Insurance</a:t>
          </a:r>
          <a:endParaRPr lang="en-US" sz="2800" b="0" kern="1200" dirty="0"/>
        </a:p>
      </dsp:txBody>
      <dsp:txXfrm>
        <a:off x="1282866" y="1992819"/>
        <a:ext cx="5338995" cy="529939"/>
      </dsp:txXfrm>
    </dsp:sp>
    <dsp:sp modelId="{C31E10A1-ECC7-474D-B6E4-9AC39E71FA76}">
      <dsp:nvSpPr>
        <dsp:cNvPr id="0" name=""/>
        <dsp:cNvSpPr/>
      </dsp:nvSpPr>
      <dsp:spPr>
        <a:xfrm>
          <a:off x="1282866" y="2655244"/>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Fire insurance</a:t>
          </a:r>
          <a:endParaRPr lang="en-US" sz="2800" kern="1200" dirty="0"/>
        </a:p>
      </dsp:txBody>
      <dsp:txXfrm>
        <a:off x="1282866" y="2655244"/>
        <a:ext cx="5338995" cy="529939"/>
      </dsp:txXfrm>
    </dsp:sp>
    <dsp:sp modelId="{4048B6C1-863F-4986-9230-A54C06D7EC17}">
      <dsp:nvSpPr>
        <dsp:cNvPr id="0" name=""/>
        <dsp:cNvSpPr/>
      </dsp:nvSpPr>
      <dsp:spPr>
        <a:xfrm>
          <a:off x="1282866" y="3317668"/>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Home insurance</a:t>
          </a:r>
          <a:endParaRPr lang="en-US" sz="2800" kern="1200" dirty="0"/>
        </a:p>
      </dsp:txBody>
      <dsp:txXfrm>
        <a:off x="1282866" y="3317668"/>
        <a:ext cx="5338995" cy="529939"/>
      </dsp:txXfrm>
    </dsp:sp>
    <dsp:sp modelId="{4ECB98E3-24F5-4831-86A2-4BB9B0C2A6FE}">
      <dsp:nvSpPr>
        <dsp:cNvPr id="0" name=""/>
        <dsp:cNvSpPr/>
      </dsp:nvSpPr>
      <dsp:spPr>
        <a:xfrm>
          <a:off x="1282866" y="3980093"/>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Marine insurance</a:t>
          </a:r>
          <a:endParaRPr lang="en-US" sz="2800" kern="1200" dirty="0"/>
        </a:p>
      </dsp:txBody>
      <dsp:txXfrm>
        <a:off x="1282866" y="3980093"/>
        <a:ext cx="5338995" cy="529939"/>
      </dsp:txXfrm>
    </dsp:sp>
    <dsp:sp modelId="{FBA79142-102A-4FDD-B361-D4924C6D5505}">
      <dsp:nvSpPr>
        <dsp:cNvPr id="0" name=""/>
        <dsp:cNvSpPr/>
      </dsp:nvSpPr>
      <dsp:spPr>
        <a:xfrm>
          <a:off x="1282866" y="4642518"/>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Business insurance</a:t>
          </a:r>
          <a:endParaRPr lang="en-US" sz="2800" kern="1200" dirty="0"/>
        </a:p>
      </dsp:txBody>
      <dsp:txXfrm>
        <a:off x="1282866" y="4642518"/>
        <a:ext cx="5338995" cy="529939"/>
      </dsp:txXfrm>
    </dsp:sp>
    <dsp:sp modelId="{FB9A792E-565C-4D6B-8B8C-0CB6FD2B1EA2}">
      <dsp:nvSpPr>
        <dsp:cNvPr id="0" name=""/>
        <dsp:cNvSpPr/>
      </dsp:nvSpPr>
      <dsp:spPr>
        <a:xfrm>
          <a:off x="1282866" y="5304943"/>
          <a:ext cx="5338995" cy="52993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b="0" i="0" kern="1200" dirty="0"/>
            <a:t>Rural and Agricultural Insurance</a:t>
          </a:r>
          <a:endParaRPr lang="en-US" sz="2800" b="0" kern="1200" dirty="0"/>
        </a:p>
      </dsp:txBody>
      <dsp:txXfrm>
        <a:off x="1282866" y="5304943"/>
        <a:ext cx="5338995" cy="5299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69FD44-54DC-471D-BBF5-124B69D8C80E}">
      <dsp:nvSpPr>
        <dsp:cNvPr id="0" name=""/>
        <dsp:cNvSpPr/>
      </dsp:nvSpPr>
      <dsp:spPr>
        <a:xfrm>
          <a:off x="6007100" y="1327952"/>
          <a:ext cx="5277092" cy="305286"/>
        </a:xfrm>
        <a:custGeom>
          <a:avLst/>
          <a:gdLst/>
          <a:ahLst/>
          <a:cxnLst/>
          <a:rect l="0" t="0" r="0" b="0"/>
          <a:pathLst>
            <a:path>
              <a:moveTo>
                <a:pt x="0" y="0"/>
              </a:moveTo>
              <a:lnTo>
                <a:pt x="0" y="152643"/>
              </a:lnTo>
              <a:lnTo>
                <a:pt x="5277092" y="152643"/>
              </a:lnTo>
              <a:lnTo>
                <a:pt x="5277092" y="30528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C750FA-4E97-486E-8A5B-809A86F6FBFE}">
      <dsp:nvSpPr>
        <dsp:cNvPr id="0" name=""/>
        <dsp:cNvSpPr/>
      </dsp:nvSpPr>
      <dsp:spPr>
        <a:xfrm>
          <a:off x="6007100" y="1327952"/>
          <a:ext cx="3518061" cy="305286"/>
        </a:xfrm>
        <a:custGeom>
          <a:avLst/>
          <a:gdLst/>
          <a:ahLst/>
          <a:cxnLst/>
          <a:rect l="0" t="0" r="0" b="0"/>
          <a:pathLst>
            <a:path>
              <a:moveTo>
                <a:pt x="0" y="0"/>
              </a:moveTo>
              <a:lnTo>
                <a:pt x="0" y="152643"/>
              </a:lnTo>
              <a:lnTo>
                <a:pt x="3518061" y="152643"/>
              </a:lnTo>
              <a:lnTo>
                <a:pt x="3518061" y="30528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7CA7B6-1B7E-43DE-90C1-443227A2BA86}">
      <dsp:nvSpPr>
        <dsp:cNvPr id="0" name=""/>
        <dsp:cNvSpPr/>
      </dsp:nvSpPr>
      <dsp:spPr>
        <a:xfrm>
          <a:off x="6007100" y="1327952"/>
          <a:ext cx="1759030" cy="305286"/>
        </a:xfrm>
        <a:custGeom>
          <a:avLst/>
          <a:gdLst/>
          <a:ahLst/>
          <a:cxnLst/>
          <a:rect l="0" t="0" r="0" b="0"/>
          <a:pathLst>
            <a:path>
              <a:moveTo>
                <a:pt x="0" y="0"/>
              </a:moveTo>
              <a:lnTo>
                <a:pt x="0" y="152643"/>
              </a:lnTo>
              <a:lnTo>
                <a:pt x="1759030" y="152643"/>
              </a:lnTo>
              <a:lnTo>
                <a:pt x="1759030" y="30528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D7C271-DD9F-4C03-8B09-7E44BA1C9747}">
      <dsp:nvSpPr>
        <dsp:cNvPr id="0" name=""/>
        <dsp:cNvSpPr/>
      </dsp:nvSpPr>
      <dsp:spPr>
        <a:xfrm>
          <a:off x="5961379" y="1327952"/>
          <a:ext cx="91440" cy="305286"/>
        </a:xfrm>
        <a:custGeom>
          <a:avLst/>
          <a:gdLst/>
          <a:ahLst/>
          <a:cxnLst/>
          <a:rect l="0" t="0" r="0" b="0"/>
          <a:pathLst>
            <a:path>
              <a:moveTo>
                <a:pt x="45720" y="0"/>
              </a:moveTo>
              <a:lnTo>
                <a:pt x="45720" y="30528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C85147-BDEC-4A35-AE95-BEFA872BFCA9}">
      <dsp:nvSpPr>
        <dsp:cNvPr id="0" name=""/>
        <dsp:cNvSpPr/>
      </dsp:nvSpPr>
      <dsp:spPr>
        <a:xfrm>
          <a:off x="4248069" y="1327952"/>
          <a:ext cx="1759030" cy="305286"/>
        </a:xfrm>
        <a:custGeom>
          <a:avLst/>
          <a:gdLst/>
          <a:ahLst/>
          <a:cxnLst/>
          <a:rect l="0" t="0" r="0" b="0"/>
          <a:pathLst>
            <a:path>
              <a:moveTo>
                <a:pt x="1759030" y="0"/>
              </a:moveTo>
              <a:lnTo>
                <a:pt x="1759030" y="152643"/>
              </a:lnTo>
              <a:lnTo>
                <a:pt x="0" y="152643"/>
              </a:lnTo>
              <a:lnTo>
                <a:pt x="0" y="30528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702E69-5553-4D94-A2CC-F997EE996FEB}">
      <dsp:nvSpPr>
        <dsp:cNvPr id="0" name=""/>
        <dsp:cNvSpPr/>
      </dsp:nvSpPr>
      <dsp:spPr>
        <a:xfrm>
          <a:off x="2489038" y="1327952"/>
          <a:ext cx="3518061" cy="305286"/>
        </a:xfrm>
        <a:custGeom>
          <a:avLst/>
          <a:gdLst/>
          <a:ahLst/>
          <a:cxnLst/>
          <a:rect l="0" t="0" r="0" b="0"/>
          <a:pathLst>
            <a:path>
              <a:moveTo>
                <a:pt x="3518061" y="0"/>
              </a:moveTo>
              <a:lnTo>
                <a:pt x="3518061" y="152643"/>
              </a:lnTo>
              <a:lnTo>
                <a:pt x="0" y="152643"/>
              </a:lnTo>
              <a:lnTo>
                <a:pt x="0" y="30528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94E664-4CE7-421D-BABC-62BA606B592B}">
      <dsp:nvSpPr>
        <dsp:cNvPr id="0" name=""/>
        <dsp:cNvSpPr/>
      </dsp:nvSpPr>
      <dsp:spPr>
        <a:xfrm>
          <a:off x="730007" y="1327952"/>
          <a:ext cx="5277092" cy="305286"/>
        </a:xfrm>
        <a:custGeom>
          <a:avLst/>
          <a:gdLst/>
          <a:ahLst/>
          <a:cxnLst/>
          <a:rect l="0" t="0" r="0" b="0"/>
          <a:pathLst>
            <a:path>
              <a:moveTo>
                <a:pt x="5277092" y="0"/>
              </a:moveTo>
              <a:lnTo>
                <a:pt x="5277092" y="152643"/>
              </a:lnTo>
              <a:lnTo>
                <a:pt x="0" y="152643"/>
              </a:lnTo>
              <a:lnTo>
                <a:pt x="0" y="30528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F31C58-CE29-4FE2-BF10-C3EF096D455C}">
      <dsp:nvSpPr>
        <dsp:cNvPr id="0" name=""/>
        <dsp:cNvSpPr/>
      </dsp:nvSpPr>
      <dsp:spPr>
        <a:xfrm>
          <a:off x="5280227" y="601080"/>
          <a:ext cx="1453744" cy="72687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Life </a:t>
          </a:r>
        </a:p>
        <a:p>
          <a:pPr marL="0" lvl="0" indent="0" algn="ctr" defTabSz="889000">
            <a:lnSpc>
              <a:spcPct val="90000"/>
            </a:lnSpc>
            <a:spcBef>
              <a:spcPct val="0"/>
            </a:spcBef>
            <a:spcAft>
              <a:spcPct val="35000"/>
            </a:spcAft>
            <a:buNone/>
          </a:pPr>
          <a:r>
            <a:rPr lang="en-US" sz="2000" kern="1200" dirty="0"/>
            <a:t>Insurance</a:t>
          </a:r>
        </a:p>
      </dsp:txBody>
      <dsp:txXfrm>
        <a:off x="5280227" y="601080"/>
        <a:ext cx="1453744" cy="726872"/>
      </dsp:txXfrm>
    </dsp:sp>
    <dsp:sp modelId="{5C687C42-A91D-4D49-B6D9-206F6EE15781}">
      <dsp:nvSpPr>
        <dsp:cNvPr id="0" name=""/>
        <dsp:cNvSpPr/>
      </dsp:nvSpPr>
      <dsp:spPr>
        <a:xfrm>
          <a:off x="3134" y="1633239"/>
          <a:ext cx="1453744" cy="7268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0" kern="1200" dirty="0"/>
            <a:t>Term Insurance</a:t>
          </a:r>
        </a:p>
      </dsp:txBody>
      <dsp:txXfrm>
        <a:off x="3134" y="1633239"/>
        <a:ext cx="1453744" cy="726872"/>
      </dsp:txXfrm>
    </dsp:sp>
    <dsp:sp modelId="{5888542A-C483-4367-B2AD-21875108D618}">
      <dsp:nvSpPr>
        <dsp:cNvPr id="0" name=""/>
        <dsp:cNvSpPr/>
      </dsp:nvSpPr>
      <dsp:spPr>
        <a:xfrm>
          <a:off x="1762165" y="1633239"/>
          <a:ext cx="1453744" cy="7268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i="0" kern="1200" dirty="0"/>
            <a:t>Whole Life Insurance</a:t>
          </a:r>
          <a:endParaRPr lang="en-US" sz="2000" b="0" kern="1200" dirty="0"/>
        </a:p>
      </dsp:txBody>
      <dsp:txXfrm>
        <a:off x="1762165" y="1633239"/>
        <a:ext cx="1453744" cy="726872"/>
      </dsp:txXfrm>
    </dsp:sp>
    <dsp:sp modelId="{9EC9EAF9-B0A3-40CF-ABF5-D4EEF91EE7B4}">
      <dsp:nvSpPr>
        <dsp:cNvPr id="0" name=""/>
        <dsp:cNvSpPr/>
      </dsp:nvSpPr>
      <dsp:spPr>
        <a:xfrm>
          <a:off x="3521196" y="1633239"/>
          <a:ext cx="1453744" cy="7268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i="0" kern="1200" dirty="0"/>
            <a:t>Endowment Policy</a:t>
          </a:r>
          <a:endParaRPr lang="en-US" sz="2000" b="0" kern="1200" dirty="0"/>
        </a:p>
      </dsp:txBody>
      <dsp:txXfrm>
        <a:off x="3521196" y="1633239"/>
        <a:ext cx="1453744" cy="726872"/>
      </dsp:txXfrm>
    </dsp:sp>
    <dsp:sp modelId="{3C5770E1-07AE-4D9B-A14C-B250C77FD80B}">
      <dsp:nvSpPr>
        <dsp:cNvPr id="0" name=""/>
        <dsp:cNvSpPr/>
      </dsp:nvSpPr>
      <dsp:spPr>
        <a:xfrm>
          <a:off x="5280227" y="1633239"/>
          <a:ext cx="1453744" cy="7268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i="0" kern="1200" dirty="0"/>
            <a:t>Unit-Linked Insurance Plans (ULIPs)</a:t>
          </a:r>
          <a:endParaRPr lang="en-US" sz="2000" b="0" kern="1200" dirty="0"/>
        </a:p>
      </dsp:txBody>
      <dsp:txXfrm>
        <a:off x="5280227" y="1633239"/>
        <a:ext cx="1453744" cy="726872"/>
      </dsp:txXfrm>
    </dsp:sp>
    <dsp:sp modelId="{E20E77C9-ADF0-4C3C-AAA5-9BFFEE1599A2}">
      <dsp:nvSpPr>
        <dsp:cNvPr id="0" name=""/>
        <dsp:cNvSpPr/>
      </dsp:nvSpPr>
      <dsp:spPr>
        <a:xfrm>
          <a:off x="7039258" y="1633239"/>
          <a:ext cx="1453744" cy="7268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i="0" kern="1200" dirty="0"/>
            <a:t>Money-Back Policy</a:t>
          </a:r>
          <a:endParaRPr lang="en-US" sz="2000" b="0" kern="1200" dirty="0"/>
        </a:p>
      </dsp:txBody>
      <dsp:txXfrm>
        <a:off x="7039258" y="1633239"/>
        <a:ext cx="1453744" cy="726872"/>
      </dsp:txXfrm>
    </dsp:sp>
    <dsp:sp modelId="{121229CC-85C0-41FD-BB22-F41EC02B9F61}">
      <dsp:nvSpPr>
        <dsp:cNvPr id="0" name=""/>
        <dsp:cNvSpPr/>
      </dsp:nvSpPr>
      <dsp:spPr>
        <a:xfrm>
          <a:off x="8798289" y="1633239"/>
          <a:ext cx="1453744" cy="7268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i="0" kern="1200" dirty="0"/>
            <a:t>Children's Insurance</a:t>
          </a:r>
          <a:endParaRPr lang="en-US" sz="2000" kern="1200" dirty="0"/>
        </a:p>
      </dsp:txBody>
      <dsp:txXfrm>
        <a:off x="8798289" y="1633239"/>
        <a:ext cx="1453744" cy="726872"/>
      </dsp:txXfrm>
    </dsp:sp>
    <dsp:sp modelId="{79656BB0-7E0D-4789-8ECB-E2A524C689A0}">
      <dsp:nvSpPr>
        <dsp:cNvPr id="0" name=""/>
        <dsp:cNvSpPr/>
      </dsp:nvSpPr>
      <dsp:spPr>
        <a:xfrm>
          <a:off x="10557320" y="1633239"/>
          <a:ext cx="1453744" cy="72687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0" i="0" kern="1200" dirty="0"/>
            <a:t>Retirement Plans</a:t>
          </a:r>
          <a:endParaRPr lang="en-US" sz="2000" kern="1200" dirty="0"/>
        </a:p>
      </dsp:txBody>
      <dsp:txXfrm>
        <a:off x="10557320" y="1633239"/>
        <a:ext cx="1453744" cy="7268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022541-D609-4C11-AA0E-717DC8212A90}">
      <dsp:nvSpPr>
        <dsp:cNvPr id="0" name=""/>
        <dsp:cNvSpPr/>
      </dsp:nvSpPr>
      <dsp:spPr>
        <a:xfrm>
          <a:off x="183303" y="1224401"/>
          <a:ext cx="2127383" cy="106369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Motor</a:t>
          </a:r>
        </a:p>
        <a:p>
          <a:pPr marL="0" lvl="0" indent="0" algn="ctr" defTabSz="1022350">
            <a:lnSpc>
              <a:spcPct val="90000"/>
            </a:lnSpc>
            <a:spcBef>
              <a:spcPct val="0"/>
            </a:spcBef>
            <a:spcAft>
              <a:spcPct val="35000"/>
            </a:spcAft>
            <a:buNone/>
          </a:pPr>
          <a:r>
            <a:rPr lang="en-US" sz="2300" kern="1200" dirty="0"/>
            <a:t>Insurance</a:t>
          </a:r>
        </a:p>
      </dsp:txBody>
      <dsp:txXfrm>
        <a:off x="214457" y="1255555"/>
        <a:ext cx="2065075" cy="1001383"/>
      </dsp:txXfrm>
    </dsp:sp>
    <dsp:sp modelId="{FB449722-AE53-4420-8249-BC32D791DCAB}">
      <dsp:nvSpPr>
        <dsp:cNvPr id="0" name=""/>
        <dsp:cNvSpPr/>
      </dsp:nvSpPr>
      <dsp:spPr>
        <a:xfrm rot="18289469">
          <a:off x="1991104" y="1124410"/>
          <a:ext cx="1490117" cy="40429"/>
        </a:xfrm>
        <a:custGeom>
          <a:avLst/>
          <a:gdLst/>
          <a:ahLst/>
          <a:cxnLst/>
          <a:rect l="0" t="0" r="0" b="0"/>
          <a:pathLst>
            <a:path>
              <a:moveTo>
                <a:pt x="0" y="20214"/>
              </a:moveTo>
              <a:lnTo>
                <a:pt x="1490117" y="2021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8910" y="1107371"/>
        <a:ext cx="74505" cy="74505"/>
      </dsp:txXfrm>
    </dsp:sp>
    <dsp:sp modelId="{ED453CC4-16E7-4A86-B9D2-51B2EDF348A0}">
      <dsp:nvSpPr>
        <dsp:cNvPr id="0" name=""/>
        <dsp:cNvSpPr/>
      </dsp:nvSpPr>
      <dsp:spPr>
        <a:xfrm>
          <a:off x="3161640" y="1156"/>
          <a:ext cx="2127383" cy="1063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Private Cars</a:t>
          </a:r>
        </a:p>
      </dsp:txBody>
      <dsp:txXfrm>
        <a:off x="3192794" y="32310"/>
        <a:ext cx="2065075" cy="1001383"/>
      </dsp:txXfrm>
    </dsp:sp>
    <dsp:sp modelId="{27E75105-C7AE-4C2C-B413-9EF09CCD7E4D}">
      <dsp:nvSpPr>
        <dsp:cNvPr id="0" name=""/>
        <dsp:cNvSpPr/>
      </dsp:nvSpPr>
      <dsp:spPr>
        <a:xfrm>
          <a:off x="2310686" y="1736032"/>
          <a:ext cx="850953" cy="40429"/>
        </a:xfrm>
        <a:custGeom>
          <a:avLst/>
          <a:gdLst/>
          <a:ahLst/>
          <a:cxnLst/>
          <a:rect l="0" t="0" r="0" b="0"/>
          <a:pathLst>
            <a:path>
              <a:moveTo>
                <a:pt x="0" y="20214"/>
              </a:moveTo>
              <a:lnTo>
                <a:pt x="850953" y="2021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14889" y="1734973"/>
        <a:ext cx="42547" cy="42547"/>
      </dsp:txXfrm>
    </dsp:sp>
    <dsp:sp modelId="{481257A6-58A7-444E-85A4-AD695AE06E08}">
      <dsp:nvSpPr>
        <dsp:cNvPr id="0" name=""/>
        <dsp:cNvSpPr/>
      </dsp:nvSpPr>
      <dsp:spPr>
        <a:xfrm>
          <a:off x="3161640" y="1224401"/>
          <a:ext cx="2127383" cy="1063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Motor cycles and Motor scooters</a:t>
          </a:r>
        </a:p>
      </dsp:txBody>
      <dsp:txXfrm>
        <a:off x="3192794" y="1255555"/>
        <a:ext cx="2065075" cy="1001383"/>
      </dsp:txXfrm>
    </dsp:sp>
    <dsp:sp modelId="{2A176AD6-1C67-4AF3-B072-1E42B9A26C8B}">
      <dsp:nvSpPr>
        <dsp:cNvPr id="0" name=""/>
        <dsp:cNvSpPr/>
      </dsp:nvSpPr>
      <dsp:spPr>
        <a:xfrm rot="3310531">
          <a:off x="1991104" y="2347655"/>
          <a:ext cx="1490117" cy="40429"/>
        </a:xfrm>
        <a:custGeom>
          <a:avLst/>
          <a:gdLst/>
          <a:ahLst/>
          <a:cxnLst/>
          <a:rect l="0" t="0" r="0" b="0"/>
          <a:pathLst>
            <a:path>
              <a:moveTo>
                <a:pt x="0" y="20214"/>
              </a:moveTo>
              <a:lnTo>
                <a:pt x="1490117" y="2021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8910" y="2330617"/>
        <a:ext cx="74505" cy="74505"/>
      </dsp:txXfrm>
    </dsp:sp>
    <dsp:sp modelId="{10E13784-1D4D-4585-B3E7-59465B69F7CE}">
      <dsp:nvSpPr>
        <dsp:cNvPr id="0" name=""/>
        <dsp:cNvSpPr/>
      </dsp:nvSpPr>
      <dsp:spPr>
        <a:xfrm>
          <a:off x="3161640" y="2447647"/>
          <a:ext cx="2127383" cy="106369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Commercial vehicles</a:t>
          </a:r>
        </a:p>
      </dsp:txBody>
      <dsp:txXfrm>
        <a:off x="3192794" y="2478801"/>
        <a:ext cx="2065075" cy="1001383"/>
      </dsp:txXfrm>
    </dsp:sp>
    <dsp:sp modelId="{E0ED303E-0A6B-49D3-8A29-5806A97D0EA5}">
      <dsp:nvSpPr>
        <dsp:cNvPr id="0" name=""/>
        <dsp:cNvSpPr/>
      </dsp:nvSpPr>
      <dsp:spPr>
        <a:xfrm rot="18289469">
          <a:off x="4969441" y="2347655"/>
          <a:ext cx="1490117" cy="40429"/>
        </a:xfrm>
        <a:custGeom>
          <a:avLst/>
          <a:gdLst/>
          <a:ahLst/>
          <a:cxnLst/>
          <a:rect l="0" t="0" r="0" b="0"/>
          <a:pathLst>
            <a:path>
              <a:moveTo>
                <a:pt x="0" y="20214"/>
              </a:moveTo>
              <a:lnTo>
                <a:pt x="1490117"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77247" y="2330617"/>
        <a:ext cx="74505" cy="74505"/>
      </dsp:txXfrm>
    </dsp:sp>
    <dsp:sp modelId="{8EA18169-40BD-4677-BB73-E7B0800072A9}">
      <dsp:nvSpPr>
        <dsp:cNvPr id="0" name=""/>
        <dsp:cNvSpPr/>
      </dsp:nvSpPr>
      <dsp:spPr>
        <a:xfrm>
          <a:off x="6139977" y="1224401"/>
          <a:ext cx="2127383" cy="1063691"/>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Goods carrying vehicles</a:t>
          </a:r>
        </a:p>
      </dsp:txBody>
      <dsp:txXfrm>
        <a:off x="6171131" y="1255555"/>
        <a:ext cx="2065075" cy="1001383"/>
      </dsp:txXfrm>
    </dsp:sp>
    <dsp:sp modelId="{1F9C2C31-0ABB-426D-BB28-B033251F7CF3}">
      <dsp:nvSpPr>
        <dsp:cNvPr id="0" name=""/>
        <dsp:cNvSpPr/>
      </dsp:nvSpPr>
      <dsp:spPr>
        <a:xfrm>
          <a:off x="5289023" y="2959278"/>
          <a:ext cx="850953" cy="40429"/>
        </a:xfrm>
        <a:custGeom>
          <a:avLst/>
          <a:gdLst/>
          <a:ahLst/>
          <a:cxnLst/>
          <a:rect l="0" t="0" r="0" b="0"/>
          <a:pathLst>
            <a:path>
              <a:moveTo>
                <a:pt x="0" y="20214"/>
              </a:moveTo>
              <a:lnTo>
                <a:pt x="85095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3226" y="2958219"/>
        <a:ext cx="42547" cy="42547"/>
      </dsp:txXfrm>
    </dsp:sp>
    <dsp:sp modelId="{3114E40D-136A-4512-83C0-5E72040AEDBC}">
      <dsp:nvSpPr>
        <dsp:cNvPr id="0" name=""/>
        <dsp:cNvSpPr/>
      </dsp:nvSpPr>
      <dsp:spPr>
        <a:xfrm>
          <a:off x="6139977" y="2447647"/>
          <a:ext cx="2127383" cy="1063691"/>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Passenger carrying vehicles</a:t>
          </a:r>
        </a:p>
      </dsp:txBody>
      <dsp:txXfrm>
        <a:off x="6171131" y="2478801"/>
        <a:ext cx="2065075" cy="1001383"/>
      </dsp:txXfrm>
    </dsp:sp>
    <dsp:sp modelId="{59E8DF9A-DD0B-4C65-9D99-525ABFC27B41}">
      <dsp:nvSpPr>
        <dsp:cNvPr id="0" name=""/>
        <dsp:cNvSpPr/>
      </dsp:nvSpPr>
      <dsp:spPr>
        <a:xfrm rot="3310531">
          <a:off x="4969441" y="3570901"/>
          <a:ext cx="1490117" cy="40429"/>
        </a:xfrm>
        <a:custGeom>
          <a:avLst/>
          <a:gdLst/>
          <a:ahLst/>
          <a:cxnLst/>
          <a:rect l="0" t="0" r="0" b="0"/>
          <a:pathLst>
            <a:path>
              <a:moveTo>
                <a:pt x="0" y="20214"/>
              </a:moveTo>
              <a:lnTo>
                <a:pt x="1490117"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77247" y="3553863"/>
        <a:ext cx="74505" cy="74505"/>
      </dsp:txXfrm>
    </dsp:sp>
    <dsp:sp modelId="{AD50DA1A-F712-435B-B410-BE07FDF30FFA}">
      <dsp:nvSpPr>
        <dsp:cNvPr id="0" name=""/>
        <dsp:cNvSpPr/>
      </dsp:nvSpPr>
      <dsp:spPr>
        <a:xfrm>
          <a:off x="6139977" y="3670892"/>
          <a:ext cx="2127383" cy="1063691"/>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Miscellaneous vehicles</a:t>
          </a:r>
        </a:p>
      </dsp:txBody>
      <dsp:txXfrm>
        <a:off x="6171131" y="3702046"/>
        <a:ext cx="2065075" cy="10013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05F083-C30C-4847-8B19-BEAF8D96A959}">
      <dsp:nvSpPr>
        <dsp:cNvPr id="0" name=""/>
        <dsp:cNvSpPr/>
      </dsp:nvSpPr>
      <dsp:spPr>
        <a:xfrm>
          <a:off x="0" y="5053803"/>
          <a:ext cx="11928475" cy="0"/>
        </a:xfrm>
        <a:prstGeom prst="line">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FA2277-3F27-43CE-96C3-2DC1D1DCA00D}">
      <dsp:nvSpPr>
        <dsp:cNvPr id="0" name=""/>
        <dsp:cNvSpPr/>
      </dsp:nvSpPr>
      <dsp:spPr>
        <a:xfrm>
          <a:off x="0" y="3775402"/>
          <a:ext cx="11928475" cy="0"/>
        </a:xfrm>
        <a:prstGeom prst="line">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EE7089-E21D-40B6-B77C-319CC8596EEB}">
      <dsp:nvSpPr>
        <dsp:cNvPr id="0" name=""/>
        <dsp:cNvSpPr/>
      </dsp:nvSpPr>
      <dsp:spPr>
        <a:xfrm>
          <a:off x="0" y="2497001"/>
          <a:ext cx="11928475" cy="0"/>
        </a:xfrm>
        <a:prstGeom prst="line">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CEE248-A7EF-46BA-9C55-AE45A54C77B6}">
      <dsp:nvSpPr>
        <dsp:cNvPr id="0" name=""/>
        <dsp:cNvSpPr/>
      </dsp:nvSpPr>
      <dsp:spPr>
        <a:xfrm>
          <a:off x="0" y="1218600"/>
          <a:ext cx="11928475" cy="0"/>
        </a:xfrm>
        <a:prstGeom prst="line">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6C88AE-096B-45D6-8C17-27290CB5D515}">
      <dsp:nvSpPr>
        <dsp:cNvPr id="0" name=""/>
        <dsp:cNvSpPr/>
      </dsp:nvSpPr>
      <dsp:spPr>
        <a:xfrm>
          <a:off x="3101403" y="1075"/>
          <a:ext cx="8827071" cy="121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Covers losses and damages caused by fire to property or goods.</a:t>
          </a:r>
        </a:p>
      </dsp:txBody>
      <dsp:txXfrm>
        <a:off x="3101403" y="1075"/>
        <a:ext cx="8827071" cy="1217524"/>
      </dsp:txXfrm>
    </dsp:sp>
    <dsp:sp modelId="{2DB5A812-4A7A-45C3-857E-D334B9AD0D4E}">
      <dsp:nvSpPr>
        <dsp:cNvPr id="0" name=""/>
        <dsp:cNvSpPr/>
      </dsp:nvSpPr>
      <dsp:spPr>
        <a:xfrm>
          <a:off x="0" y="1075"/>
          <a:ext cx="3101403" cy="1217524"/>
        </a:xfrm>
        <a:prstGeom prst="round2SameRect">
          <a:avLst>
            <a:gd name="adj1" fmla="val 16670"/>
            <a:gd name="adj2" fmla="val 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Fire Insurance</a:t>
          </a:r>
        </a:p>
      </dsp:txBody>
      <dsp:txXfrm>
        <a:off x="59445" y="60520"/>
        <a:ext cx="2982513" cy="1158079"/>
      </dsp:txXfrm>
    </dsp:sp>
    <dsp:sp modelId="{53D2B52E-90B7-4BC2-91C1-78DFA4C928D0}">
      <dsp:nvSpPr>
        <dsp:cNvPr id="0" name=""/>
        <dsp:cNvSpPr/>
      </dsp:nvSpPr>
      <dsp:spPr>
        <a:xfrm>
          <a:off x="3101403" y="1279476"/>
          <a:ext cx="8827071" cy="121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Covers goods, ships, and other cargo against damage or loss during transit by sea or other waterways.</a:t>
          </a:r>
        </a:p>
      </dsp:txBody>
      <dsp:txXfrm>
        <a:off x="3101403" y="1279476"/>
        <a:ext cx="8827071" cy="1217524"/>
      </dsp:txXfrm>
    </dsp:sp>
    <dsp:sp modelId="{5E48EA24-31B6-43F7-A8AE-B259209689B3}">
      <dsp:nvSpPr>
        <dsp:cNvPr id="0" name=""/>
        <dsp:cNvSpPr/>
      </dsp:nvSpPr>
      <dsp:spPr>
        <a:xfrm>
          <a:off x="0" y="1279476"/>
          <a:ext cx="3101403" cy="1217524"/>
        </a:xfrm>
        <a:prstGeom prst="round2SameRect">
          <a:avLst>
            <a:gd name="adj1" fmla="val 16670"/>
            <a:gd name="adj2" fmla="val 0"/>
          </a:avLst>
        </a:prstGeom>
        <a:solidFill>
          <a:schemeClr val="accent5">
            <a:hueOff val="-682485"/>
            <a:satOff val="-13775"/>
            <a:lumOff val="-1045"/>
            <a:alphaOff val="0"/>
          </a:schemeClr>
        </a:solidFill>
        <a:ln w="12700" cap="flat" cmpd="sng" algn="ctr">
          <a:solidFill>
            <a:schemeClr val="accent5">
              <a:hueOff val="-682485"/>
              <a:satOff val="-13775"/>
              <a:lumOff val="-10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kern="1200"/>
            <a:t>Marine Insurance</a:t>
          </a:r>
          <a:endParaRPr lang="en-US" sz="2600" kern="1200" dirty="0"/>
        </a:p>
      </dsp:txBody>
      <dsp:txXfrm>
        <a:off x="59445" y="1338921"/>
        <a:ext cx="2982513" cy="1158079"/>
      </dsp:txXfrm>
    </dsp:sp>
    <dsp:sp modelId="{1F4F210E-0FCD-4819-AD05-91A1C96506D1}">
      <dsp:nvSpPr>
        <dsp:cNvPr id="0" name=""/>
        <dsp:cNvSpPr/>
      </dsp:nvSpPr>
      <dsp:spPr>
        <a:xfrm>
          <a:off x="3101403" y="2557877"/>
          <a:ext cx="8827071" cy="121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Protects businesses against financial losses due to risks like theft, liability, or property damage.</a:t>
          </a:r>
        </a:p>
      </dsp:txBody>
      <dsp:txXfrm>
        <a:off x="3101403" y="2557877"/>
        <a:ext cx="8827071" cy="1217524"/>
      </dsp:txXfrm>
    </dsp:sp>
    <dsp:sp modelId="{14ED7716-E54F-40D3-879A-5CE7029A0C23}">
      <dsp:nvSpPr>
        <dsp:cNvPr id="0" name=""/>
        <dsp:cNvSpPr/>
      </dsp:nvSpPr>
      <dsp:spPr>
        <a:xfrm>
          <a:off x="0" y="2557877"/>
          <a:ext cx="3101403" cy="1217524"/>
        </a:xfrm>
        <a:prstGeom prst="round2SameRect">
          <a:avLst>
            <a:gd name="adj1" fmla="val 16670"/>
            <a:gd name="adj2" fmla="val 0"/>
          </a:avLst>
        </a:prstGeom>
        <a:solidFill>
          <a:schemeClr val="accent5">
            <a:hueOff val="-1364971"/>
            <a:satOff val="-27549"/>
            <a:lumOff val="-2091"/>
            <a:alphaOff val="0"/>
          </a:schemeClr>
        </a:solidFill>
        <a:ln w="12700" cap="flat" cmpd="sng" algn="ctr">
          <a:solidFill>
            <a:schemeClr val="accent5">
              <a:hueOff val="-1364971"/>
              <a:satOff val="-27549"/>
              <a:lumOff val="-209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Business Insurance</a:t>
          </a:r>
        </a:p>
      </dsp:txBody>
      <dsp:txXfrm>
        <a:off x="59445" y="2617322"/>
        <a:ext cx="2982513" cy="1158079"/>
      </dsp:txXfrm>
    </dsp:sp>
    <dsp:sp modelId="{93781CF5-8043-42A5-A21B-19CA6AA377D4}">
      <dsp:nvSpPr>
        <dsp:cNvPr id="0" name=""/>
        <dsp:cNvSpPr/>
      </dsp:nvSpPr>
      <dsp:spPr>
        <a:xfrm>
          <a:off x="3101403" y="3836278"/>
          <a:ext cx="8827071" cy="121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Designed to cover the specific needs of farmers, including crop insurance and protection for livestock.</a:t>
          </a:r>
        </a:p>
      </dsp:txBody>
      <dsp:txXfrm>
        <a:off x="3101403" y="3836278"/>
        <a:ext cx="8827071" cy="1217524"/>
      </dsp:txXfrm>
    </dsp:sp>
    <dsp:sp modelId="{1CF5BB58-C108-4B24-8A7C-693BD6DD8781}">
      <dsp:nvSpPr>
        <dsp:cNvPr id="0" name=""/>
        <dsp:cNvSpPr/>
      </dsp:nvSpPr>
      <dsp:spPr>
        <a:xfrm>
          <a:off x="0" y="3836278"/>
          <a:ext cx="3101403" cy="1217524"/>
        </a:xfrm>
        <a:prstGeom prst="round2SameRect">
          <a:avLst>
            <a:gd name="adj1" fmla="val 16670"/>
            <a:gd name="adj2" fmla="val 0"/>
          </a:avLst>
        </a:prstGeom>
        <a:solidFill>
          <a:schemeClr val="accent5">
            <a:hueOff val="-2047456"/>
            <a:satOff val="-41324"/>
            <a:lumOff val="-3136"/>
            <a:alphaOff val="0"/>
          </a:schemeClr>
        </a:solidFill>
        <a:ln w="12700" cap="flat" cmpd="sng" algn="ctr">
          <a:solidFill>
            <a:schemeClr val="accent5">
              <a:hueOff val="-2047456"/>
              <a:satOff val="-41324"/>
              <a:lumOff val="-313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Rural and Agricultural Insurance</a:t>
          </a:r>
        </a:p>
      </dsp:txBody>
      <dsp:txXfrm>
        <a:off x="59445" y="3895723"/>
        <a:ext cx="2982513" cy="11580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5CEA8-E8AE-4A26-B00E-0B717459DE67}">
      <dsp:nvSpPr>
        <dsp:cNvPr id="0" name=""/>
        <dsp:cNvSpPr/>
      </dsp:nvSpPr>
      <dsp:spPr>
        <a:xfrm>
          <a:off x="0" y="5587255"/>
          <a:ext cx="1192847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DA1359-EBB4-42EF-8574-D2C9B35417BD}">
      <dsp:nvSpPr>
        <dsp:cNvPr id="0" name=""/>
        <dsp:cNvSpPr/>
      </dsp:nvSpPr>
      <dsp:spPr>
        <a:xfrm>
          <a:off x="0" y="4459851"/>
          <a:ext cx="1192847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D90FEE-2F14-4188-A368-2FFAD8C43876}">
      <dsp:nvSpPr>
        <dsp:cNvPr id="0" name=""/>
        <dsp:cNvSpPr/>
      </dsp:nvSpPr>
      <dsp:spPr>
        <a:xfrm>
          <a:off x="0" y="3332446"/>
          <a:ext cx="1192847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BB25D4-FE38-4931-BA2D-65DDB404DD61}">
      <dsp:nvSpPr>
        <dsp:cNvPr id="0" name=""/>
        <dsp:cNvSpPr/>
      </dsp:nvSpPr>
      <dsp:spPr>
        <a:xfrm>
          <a:off x="0" y="2205042"/>
          <a:ext cx="1192847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C4ABD9-731F-4732-923E-833DDF11D657}">
      <dsp:nvSpPr>
        <dsp:cNvPr id="0" name=""/>
        <dsp:cNvSpPr/>
      </dsp:nvSpPr>
      <dsp:spPr>
        <a:xfrm>
          <a:off x="0" y="1077637"/>
          <a:ext cx="1192847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FFFF3A-FE96-436E-9D27-B16B7E77D387}">
      <dsp:nvSpPr>
        <dsp:cNvPr id="0" name=""/>
        <dsp:cNvSpPr/>
      </dsp:nvSpPr>
      <dsp:spPr>
        <a:xfrm>
          <a:off x="3101403" y="3919"/>
          <a:ext cx="8827071" cy="1073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The primary reason for reinsurance is to share or </a:t>
          </a:r>
          <a:r>
            <a:rPr lang="en-US" sz="2600" b="1" kern="1200" dirty="0">
              <a:solidFill>
                <a:srgbClr val="C00000"/>
              </a:solidFill>
            </a:rPr>
            <a:t>transfer specific risks </a:t>
          </a:r>
          <a:r>
            <a:rPr lang="en-US" sz="2600" kern="1200" dirty="0"/>
            <a:t>with other companies. </a:t>
          </a:r>
        </a:p>
      </dsp:txBody>
      <dsp:txXfrm>
        <a:off x="3101403" y="3919"/>
        <a:ext cx="8827071" cy="1073718"/>
      </dsp:txXfrm>
    </dsp:sp>
    <dsp:sp modelId="{794A13F6-DC8D-430F-B34B-D4DD97BBE358}">
      <dsp:nvSpPr>
        <dsp:cNvPr id="0" name=""/>
        <dsp:cNvSpPr/>
      </dsp:nvSpPr>
      <dsp:spPr>
        <a:xfrm>
          <a:off x="0" y="3919"/>
          <a:ext cx="3101403" cy="1073718"/>
        </a:xfrm>
        <a:prstGeom prst="round2SameRect">
          <a:avLst>
            <a:gd name="adj1" fmla="val 16670"/>
            <a:gd name="adj2" fmla="val 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Risk Transfer</a:t>
          </a:r>
          <a:endParaRPr lang="en-US" sz="2600" kern="1200" dirty="0"/>
        </a:p>
      </dsp:txBody>
      <dsp:txXfrm>
        <a:off x="52424" y="56343"/>
        <a:ext cx="2996555" cy="1021294"/>
      </dsp:txXfrm>
    </dsp:sp>
    <dsp:sp modelId="{4A07DE2F-1E8B-40A3-A5DC-08F66ED92761}">
      <dsp:nvSpPr>
        <dsp:cNvPr id="0" name=""/>
        <dsp:cNvSpPr/>
      </dsp:nvSpPr>
      <dsp:spPr>
        <a:xfrm>
          <a:off x="3101403" y="1131323"/>
          <a:ext cx="8827071" cy="1073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Reinsurance allows insurers to </a:t>
          </a:r>
          <a:r>
            <a:rPr lang="en-US" sz="2600" b="1" kern="1200" dirty="0">
              <a:solidFill>
                <a:srgbClr val="C00000"/>
              </a:solidFill>
            </a:rPr>
            <a:t>underwrite larger policies </a:t>
          </a:r>
          <a:r>
            <a:rPr lang="en-US" sz="2600" kern="1200" dirty="0"/>
            <a:t>or take on more risks than they could otherwise handle. </a:t>
          </a:r>
          <a:endParaRPr lang="en-IN" sz="2600" kern="1200" dirty="0"/>
        </a:p>
      </dsp:txBody>
      <dsp:txXfrm>
        <a:off x="3101403" y="1131323"/>
        <a:ext cx="8827071" cy="1073718"/>
      </dsp:txXfrm>
    </dsp:sp>
    <dsp:sp modelId="{76820D21-7120-4099-A7C1-AE2DC04E20BA}">
      <dsp:nvSpPr>
        <dsp:cNvPr id="0" name=""/>
        <dsp:cNvSpPr/>
      </dsp:nvSpPr>
      <dsp:spPr>
        <a:xfrm>
          <a:off x="0" y="1131323"/>
          <a:ext cx="3101403" cy="1073718"/>
        </a:xfrm>
        <a:prstGeom prst="round2SameRect">
          <a:avLst>
            <a:gd name="adj1" fmla="val 16670"/>
            <a:gd name="adj2" fmla="val 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Capacity Expansion</a:t>
          </a:r>
          <a:endParaRPr lang="en-US" sz="2600" kern="1200" dirty="0"/>
        </a:p>
      </dsp:txBody>
      <dsp:txXfrm>
        <a:off x="52424" y="1183747"/>
        <a:ext cx="2996555" cy="1021294"/>
      </dsp:txXfrm>
    </dsp:sp>
    <dsp:sp modelId="{2B6746D3-1983-4227-A9A5-ADC64160A499}">
      <dsp:nvSpPr>
        <dsp:cNvPr id="0" name=""/>
        <dsp:cNvSpPr/>
      </dsp:nvSpPr>
      <dsp:spPr>
        <a:xfrm>
          <a:off x="3101403" y="2258728"/>
          <a:ext cx="8827071" cy="1073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It helps companies manage their capital </a:t>
          </a:r>
          <a:r>
            <a:rPr lang="en-US" sz="2600" b="1" kern="1200" dirty="0">
              <a:solidFill>
                <a:srgbClr val="C00000"/>
              </a:solidFill>
            </a:rPr>
            <a:t>by reducing the amount of capital needed </a:t>
          </a:r>
          <a:r>
            <a:rPr lang="en-US" sz="2600" kern="1200" dirty="0"/>
            <a:t>to cover potential losses. </a:t>
          </a:r>
        </a:p>
      </dsp:txBody>
      <dsp:txXfrm>
        <a:off x="3101403" y="2258728"/>
        <a:ext cx="8827071" cy="1073718"/>
      </dsp:txXfrm>
    </dsp:sp>
    <dsp:sp modelId="{436EE0AB-79FB-44F3-97BC-7B3096A8430A}">
      <dsp:nvSpPr>
        <dsp:cNvPr id="0" name=""/>
        <dsp:cNvSpPr/>
      </dsp:nvSpPr>
      <dsp:spPr>
        <a:xfrm>
          <a:off x="0" y="2258728"/>
          <a:ext cx="3101403" cy="1073718"/>
        </a:xfrm>
        <a:prstGeom prst="round2SameRect">
          <a:avLst>
            <a:gd name="adj1" fmla="val 16670"/>
            <a:gd name="adj2" fmla="val 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Capital Management</a:t>
          </a:r>
          <a:endParaRPr lang="en-US" sz="2600" kern="1200" dirty="0"/>
        </a:p>
      </dsp:txBody>
      <dsp:txXfrm>
        <a:off x="52424" y="2311152"/>
        <a:ext cx="2996555" cy="1021294"/>
      </dsp:txXfrm>
    </dsp:sp>
    <dsp:sp modelId="{04881946-780D-42EC-8016-AF16FE36914F}">
      <dsp:nvSpPr>
        <dsp:cNvPr id="0" name=""/>
        <dsp:cNvSpPr/>
      </dsp:nvSpPr>
      <dsp:spPr>
        <a:xfrm>
          <a:off x="3101403" y="3386132"/>
          <a:ext cx="8827071" cy="1073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Reinsurance can smooth out fluctuations in an insurer's financial results by </a:t>
          </a:r>
          <a:r>
            <a:rPr lang="en-US" sz="2600" b="1" kern="1200" dirty="0">
              <a:solidFill>
                <a:srgbClr val="C00000"/>
              </a:solidFill>
            </a:rPr>
            <a:t>protecting against large claims. </a:t>
          </a:r>
        </a:p>
      </dsp:txBody>
      <dsp:txXfrm>
        <a:off x="3101403" y="3386132"/>
        <a:ext cx="8827071" cy="1073718"/>
      </dsp:txXfrm>
    </dsp:sp>
    <dsp:sp modelId="{0D0A17A0-385B-4B36-828E-E182DDD34CE0}">
      <dsp:nvSpPr>
        <dsp:cNvPr id="0" name=""/>
        <dsp:cNvSpPr/>
      </dsp:nvSpPr>
      <dsp:spPr>
        <a:xfrm>
          <a:off x="0" y="3386132"/>
          <a:ext cx="3101403" cy="1073718"/>
        </a:xfrm>
        <a:prstGeom prst="round2SameRect">
          <a:avLst>
            <a:gd name="adj1" fmla="val 16670"/>
            <a:gd name="adj2" fmla="val 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Stabilizing Underwriting Results</a:t>
          </a:r>
          <a:endParaRPr lang="en-US" sz="2600" kern="1200" dirty="0"/>
        </a:p>
      </dsp:txBody>
      <dsp:txXfrm>
        <a:off x="52424" y="3438556"/>
        <a:ext cx="2996555" cy="1021294"/>
      </dsp:txXfrm>
    </dsp:sp>
    <dsp:sp modelId="{5B3636ED-6AD2-41CB-98A2-45BDE8A831A3}">
      <dsp:nvSpPr>
        <dsp:cNvPr id="0" name=""/>
        <dsp:cNvSpPr/>
      </dsp:nvSpPr>
      <dsp:spPr>
        <a:xfrm>
          <a:off x="3101403" y="4513537"/>
          <a:ext cx="8827071" cy="1073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b" anchorCtr="0">
          <a:noAutofit/>
        </a:bodyPr>
        <a:lstStyle/>
        <a:p>
          <a:pPr marL="0" lvl="0" indent="0" algn="just" defTabSz="1155700">
            <a:lnSpc>
              <a:spcPct val="90000"/>
            </a:lnSpc>
            <a:spcBef>
              <a:spcPct val="0"/>
            </a:spcBef>
            <a:spcAft>
              <a:spcPct val="35000"/>
            </a:spcAft>
            <a:buNone/>
          </a:pPr>
          <a:r>
            <a:rPr lang="en-US" sz="2600" kern="1200" dirty="0"/>
            <a:t>Reinsurance is crucial for protecting against the financial impact of </a:t>
          </a:r>
          <a:r>
            <a:rPr lang="en-US" sz="2600" b="1" kern="1200" dirty="0">
              <a:solidFill>
                <a:srgbClr val="C00000"/>
              </a:solidFill>
            </a:rPr>
            <a:t>major catastrophic events</a:t>
          </a:r>
          <a:r>
            <a:rPr lang="en-US" sz="2600" kern="1200" dirty="0"/>
            <a:t> such as such as Earthquakes, hurricanes, tornadoes, explosives, plane crashes etc.</a:t>
          </a:r>
        </a:p>
      </dsp:txBody>
      <dsp:txXfrm>
        <a:off x="3101403" y="4513537"/>
        <a:ext cx="8827071" cy="1073718"/>
      </dsp:txXfrm>
    </dsp:sp>
    <dsp:sp modelId="{F958C341-8876-4E8C-834D-02528A1F1514}">
      <dsp:nvSpPr>
        <dsp:cNvPr id="0" name=""/>
        <dsp:cNvSpPr/>
      </dsp:nvSpPr>
      <dsp:spPr>
        <a:xfrm>
          <a:off x="0" y="4513537"/>
          <a:ext cx="3101403" cy="1073718"/>
        </a:xfrm>
        <a:prstGeom prst="round2SameRect">
          <a:avLst>
            <a:gd name="adj1" fmla="val 16670"/>
            <a:gd name="adj2" fmla="val 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Catastrophe Protection</a:t>
          </a:r>
          <a:endParaRPr lang="en-US" sz="2600" kern="1200" dirty="0"/>
        </a:p>
      </dsp:txBody>
      <dsp:txXfrm>
        <a:off x="52424" y="4565961"/>
        <a:ext cx="2996555" cy="102129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B4A04C-FA21-45BA-AFD6-BD58AE84F982}">
      <dsp:nvSpPr>
        <dsp:cNvPr id="0" name=""/>
        <dsp:cNvSpPr/>
      </dsp:nvSpPr>
      <dsp:spPr>
        <a:xfrm>
          <a:off x="0" y="0"/>
          <a:ext cx="11928475" cy="174724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For Policyholders</a:t>
          </a:r>
        </a:p>
        <a:p>
          <a:pPr marL="285750" lvl="1" indent="-285750" algn="l" defTabSz="1244600">
            <a:lnSpc>
              <a:spcPct val="90000"/>
            </a:lnSpc>
            <a:spcBef>
              <a:spcPct val="0"/>
            </a:spcBef>
            <a:spcAft>
              <a:spcPct val="15000"/>
            </a:spcAft>
            <a:buChar char="•"/>
          </a:pPr>
          <a:r>
            <a:rPr lang="en-US" sz="2800" kern="1200"/>
            <a:t>Ensures claims can be </a:t>
          </a:r>
          <a:r>
            <a:rPr lang="en-US" sz="2800" b="1" kern="1200"/>
            <a:t>paid even after large-scale disasters</a:t>
          </a:r>
          <a:r>
            <a:rPr lang="en-US" sz="2800" kern="1200"/>
            <a:t>, increasing trust and confidence in the insurance system. </a:t>
          </a:r>
          <a:endParaRPr lang="en-US" sz="2800" kern="1200" dirty="0"/>
        </a:p>
      </dsp:txBody>
      <dsp:txXfrm>
        <a:off x="2560419" y="0"/>
        <a:ext cx="9368055" cy="1747242"/>
      </dsp:txXfrm>
    </dsp:sp>
    <dsp:sp modelId="{9C8E5511-DF06-4290-ACE9-BD9C318EB589}">
      <dsp:nvSpPr>
        <dsp:cNvPr id="0" name=""/>
        <dsp:cNvSpPr/>
      </dsp:nvSpPr>
      <dsp:spPr>
        <a:xfrm>
          <a:off x="174724" y="174724"/>
          <a:ext cx="2385695" cy="1397793"/>
        </a:xfrm>
        <a:prstGeom prst="roundRect">
          <a:avLst>
            <a:gd name="adj" fmla="val 1000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30000" b="-3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5CC041-9ACF-4724-BC2E-6836921ACA98}">
      <dsp:nvSpPr>
        <dsp:cNvPr id="0" name=""/>
        <dsp:cNvSpPr/>
      </dsp:nvSpPr>
      <dsp:spPr>
        <a:xfrm>
          <a:off x="0" y="1921966"/>
          <a:ext cx="11928475" cy="174724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For Primary Insurers</a:t>
          </a:r>
        </a:p>
        <a:p>
          <a:pPr marL="285750" lvl="1" indent="-285750" algn="l" defTabSz="1244600">
            <a:lnSpc>
              <a:spcPct val="90000"/>
            </a:lnSpc>
            <a:spcBef>
              <a:spcPct val="0"/>
            </a:spcBef>
            <a:spcAft>
              <a:spcPct val="15000"/>
            </a:spcAft>
            <a:buChar char="•"/>
          </a:pPr>
          <a:r>
            <a:rPr lang="en-US" sz="2800" kern="1200" dirty="0"/>
            <a:t>Enhances </a:t>
          </a:r>
          <a:r>
            <a:rPr lang="en-US" sz="2800" b="1" kern="1200" dirty="0"/>
            <a:t>financial stability, enables growth</a:t>
          </a:r>
          <a:r>
            <a:rPr lang="en-US" sz="2800" kern="1200" dirty="0"/>
            <a:t>, and allows for offering broader coverage options. </a:t>
          </a:r>
        </a:p>
      </dsp:txBody>
      <dsp:txXfrm>
        <a:off x="2560419" y="1921966"/>
        <a:ext cx="9368055" cy="1747242"/>
      </dsp:txXfrm>
    </dsp:sp>
    <dsp:sp modelId="{CE6B0365-81BD-42C1-AE8F-A62AE8DE8CC2}">
      <dsp:nvSpPr>
        <dsp:cNvPr id="0" name=""/>
        <dsp:cNvSpPr/>
      </dsp:nvSpPr>
      <dsp:spPr>
        <a:xfrm>
          <a:off x="174724" y="2096690"/>
          <a:ext cx="2385695" cy="1397793"/>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33000" b="-3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61DD56-2137-470F-81E4-E0A9CF0E5D4E}">
      <dsp:nvSpPr>
        <dsp:cNvPr id="0" name=""/>
        <dsp:cNvSpPr/>
      </dsp:nvSpPr>
      <dsp:spPr>
        <a:xfrm>
          <a:off x="0" y="3843932"/>
          <a:ext cx="11928475" cy="1747242"/>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For the Economy</a:t>
          </a:r>
        </a:p>
        <a:p>
          <a:pPr marL="285750" lvl="1" indent="-285750" algn="l" defTabSz="1244600">
            <a:lnSpc>
              <a:spcPct val="90000"/>
            </a:lnSpc>
            <a:spcBef>
              <a:spcPct val="0"/>
            </a:spcBef>
            <a:spcAft>
              <a:spcPct val="15000"/>
            </a:spcAft>
            <a:buChar char="•"/>
          </a:pPr>
          <a:r>
            <a:rPr lang="en-US" sz="2800" kern="1200"/>
            <a:t>Contributes to overall economic stability </a:t>
          </a:r>
          <a:r>
            <a:rPr lang="en-US" sz="2800" b="1" kern="1200"/>
            <a:t>by spreading risk and freeing up capital </a:t>
          </a:r>
          <a:r>
            <a:rPr lang="en-US" sz="2800" kern="1200"/>
            <a:t>for investment.</a:t>
          </a:r>
          <a:endParaRPr lang="en-US" sz="2800" kern="1200" dirty="0"/>
        </a:p>
      </dsp:txBody>
      <dsp:txXfrm>
        <a:off x="2560419" y="3843932"/>
        <a:ext cx="9368055" cy="1747242"/>
      </dsp:txXfrm>
    </dsp:sp>
    <dsp:sp modelId="{EB80616D-5900-4D3F-8B53-303B128FF6A4}">
      <dsp:nvSpPr>
        <dsp:cNvPr id="0" name=""/>
        <dsp:cNvSpPr/>
      </dsp:nvSpPr>
      <dsp:spPr>
        <a:xfrm>
          <a:off x="174724" y="4018657"/>
          <a:ext cx="2385695" cy="1397793"/>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7000" b="-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C79BDEF-6165-4E72-B1A6-6E8034CEC248}" type="slidenum">
              <a:rPr lang="en-US" smtClean="0"/>
              <a:t>23</a:t>
            </a:fld>
            <a:endParaRPr lang="en-US"/>
          </a:p>
        </p:txBody>
      </p:sp>
    </p:spTree>
    <p:extLst>
      <p:ext uri="{BB962C8B-B14F-4D97-AF65-F5344CB8AC3E}">
        <p14:creationId xmlns:p14="http://schemas.microsoft.com/office/powerpoint/2010/main" val="2962504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39</a:t>
            </a:fld>
            <a:endParaRPr lang="en-US"/>
          </a:p>
        </p:txBody>
      </p:sp>
    </p:spTree>
    <p:extLst>
      <p:ext uri="{BB962C8B-B14F-4D97-AF65-F5344CB8AC3E}">
        <p14:creationId xmlns:p14="http://schemas.microsoft.com/office/powerpoint/2010/main" val="54822076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7.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lstStyle/>
          <a:p>
            <a:pPr lvl="0"/>
            <a:endParaRPr lang="en-US"/>
          </a:p>
        </p:txBody>
      </p:sp>
      <p:sp>
        <p:nvSpPr>
          <p:cNvPr id="23"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lstStyle/>
          <a:p>
            <a:pPr lvl="0"/>
            <a:endParaRPr lang="en-US"/>
          </a:p>
        </p:txBody>
      </p:sp>
      <p:pic>
        <p:nvPicPr>
          <p:cNvPr id="32" name="Picture 31"/>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B0704020202020204" pitchFamily="2" charset="0"/>
                <a:ea typeface="Roboto Condensed Light" panose="020B0704020202020204" pitchFamily="2" charset="0"/>
                <a:cs typeface="+mn-cs"/>
              </a:defRPr>
            </a:lvl1pPr>
          </a:lstStyle>
          <a:p>
            <a:pPr lvl="0"/>
            <a:r>
              <a:rPr lang="en-US" dirty="0"/>
              <a:t>prashant.kachhela@darshan.ac.in</a:t>
            </a:r>
          </a:p>
        </p:txBody>
      </p:sp>
      <p:sp>
        <p:nvSpPr>
          <p:cNvPr id="29" name="Text Placeholder 2"/>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B0704020202020204" pitchFamily="2" charset="0"/>
                <a:ea typeface="Roboto Condensed Light" panose="020B0704020202020204" pitchFamily="2" charset="0"/>
                <a:cs typeface="+mn-cs"/>
              </a:defRPr>
            </a:lvl1pPr>
          </a:lstStyle>
          <a:p>
            <a:pPr lvl="0"/>
            <a:r>
              <a:rPr lang="en-US" dirty="0"/>
              <a:t>9106232023</a:t>
            </a:r>
          </a:p>
        </p:txBody>
      </p:sp>
      <p:sp>
        <p:nvSpPr>
          <p:cNvPr id="53" name="Text Placeholder 2"/>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Prof. Prashant Kachhela</a:t>
            </a:r>
          </a:p>
        </p:txBody>
      </p:sp>
      <p:pic>
        <p:nvPicPr>
          <p:cNvPr id="55" name="Picture 54"/>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pic>
        <p:nvPicPr>
          <p:cNvPr id="31" name="Picture 30"/>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p:cNvPicPr>
            <a:picLocks noChangeAspect="1"/>
          </p:cNvPicPr>
          <p:nvPr userDrawn="1"/>
        </p:nvPicPr>
        <p:blipFill rotWithShape="1">
          <a:blip r:embed="rId10"/>
          <a:srcRect l="48200" t="56813" r="42065" b="21843"/>
          <a:stretch>
            <a:fillRect/>
          </a:stretch>
        </p:blipFill>
        <p:spPr>
          <a:xfrm>
            <a:off x="12261755" y="20384"/>
            <a:ext cx="1485900" cy="1832587"/>
          </a:xfrm>
          <a:prstGeom prst="rect">
            <a:avLst/>
          </a:prstGeom>
        </p:spPr>
      </p:pic>
      <p:pic>
        <p:nvPicPr>
          <p:cNvPr id="35" name="Picture 2" descr="Best Courses after BBA: What to Do After BBA? [2021] - Leverage Edu"/>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userDrawn="1"/>
        </p:nvSpPr>
        <p:spPr>
          <a:xfrm>
            <a:off x="1837677" y="5513531"/>
            <a:ext cx="2885726"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Management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A4FEE4B-AF41-27EC-0E72-0AB8CA4E317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endParaRPr>
          </a:p>
        </p:txBody>
      </p:sp>
      <p:grpSp>
        <p:nvGrpSpPr>
          <p:cNvPr id="4" name="Group 3"/>
          <p:cNvGrpSpPr/>
          <p:nvPr userDrawn="1"/>
        </p:nvGrpSpPr>
        <p:grpSpPr>
          <a:xfrm>
            <a:off x="10721798" y="852808"/>
            <a:ext cx="1339023" cy="407045"/>
            <a:chOff x="10721798" y="852808"/>
            <a:chExt cx="1339023" cy="407045"/>
          </a:xfrm>
        </p:grpSpPr>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p:cNvPicPr preferRelativeResize="0"/>
          <p:nvPr userDrawn="1"/>
        </p:nvPicPr>
        <p:blipFill rotWithShape="1">
          <a:blip r:embed="rId3"/>
          <a:srcRect t="86739" r="1768" b="3535"/>
          <a:stretch>
            <a:fillRect/>
          </a:stretch>
        </p:blipFill>
        <p:spPr>
          <a:xfrm>
            <a:off x="0" y="0"/>
            <a:ext cx="12192000" cy="711201"/>
          </a:xfrm>
          <a:prstGeom prst="rect">
            <a:avLst/>
          </a:prstGeom>
          <a:noFill/>
          <a:ln>
            <a:noFill/>
          </a:ln>
          <a:effectLst/>
        </p:spPr>
      </p:pic>
      <p:cxnSp>
        <p:nvCxnSpPr>
          <p:cNvPr id="20" name="Straight Connector 19"/>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31179" y="862374"/>
            <a:ext cx="11929641" cy="5590565"/>
          </a:xfrm>
        </p:spPr>
        <p:txBody>
          <a:bodyPr>
            <a:noAutofit/>
          </a:bodyPr>
          <a:lstStyle>
            <a:lvl1pPr marL="265430" indent="-265430"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1"/>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B0704020202020204" pitchFamily="2" charset="0"/>
                <a:ea typeface="Roboto Condensed Light" panose="020B0704020202020204" pitchFamily="2" charset="0"/>
              </a:rPr>
              <a:t>Prof. Prashant Kachhela</a:t>
            </a:r>
          </a:p>
        </p:txBody>
      </p:sp>
      <p:sp>
        <p:nvSpPr>
          <p:cNvPr id="13" name="Slide Number Placeholder 3"/>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t>‹#›</a:t>
            </a:fld>
            <a:endParaRPr lang="en-US" b="0" dirty="0">
              <a:solidFill>
                <a:schemeClr val="tx1">
                  <a:lumMod val="90000"/>
                  <a:lumOff val="10000"/>
                </a:schemeClr>
              </a:solidFill>
              <a:latin typeface="+mn-lt"/>
            </a:endParaRPr>
          </a:p>
        </p:txBody>
      </p:sp>
      <p:sp>
        <p:nvSpPr>
          <p:cNvPr id="17"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Fundamentals of Insurance</a:t>
            </a:r>
          </a:p>
        </p:txBody>
      </p:sp>
      <p:sp>
        <p:nvSpPr>
          <p:cNvPr id="21" name="Title 1"/>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BFF5223-5CBF-C2D1-7AC0-B08FD5C1338C}"/>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endParaRPr>
          </a:p>
        </p:txBody>
      </p:sp>
      <p:grpSp>
        <p:nvGrpSpPr>
          <p:cNvPr id="16" name="Group 15"/>
          <p:cNvGrpSpPr/>
          <p:nvPr userDrawn="1"/>
        </p:nvGrpSpPr>
        <p:grpSpPr>
          <a:xfrm>
            <a:off x="10721797" y="6047527"/>
            <a:ext cx="1339023" cy="407045"/>
            <a:chOff x="10721798" y="852808"/>
            <a:chExt cx="1339023" cy="407045"/>
          </a:xfrm>
        </p:grpSpPr>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p:cNvPicPr preferRelativeResize="0"/>
          <p:nvPr userDrawn="1"/>
        </p:nvPicPr>
        <p:blipFill rotWithShape="1">
          <a:blip r:embed="rId3"/>
          <a:srcRect t="86739" r="1768" b="3535"/>
          <a:stretch>
            <a:fillRect/>
          </a:stretch>
        </p:blipFill>
        <p:spPr>
          <a:xfrm>
            <a:off x="0" y="0"/>
            <a:ext cx="12192000" cy="711201"/>
          </a:xfrm>
          <a:prstGeom prst="rect">
            <a:avLst/>
          </a:prstGeom>
          <a:noFill/>
          <a:ln>
            <a:noFill/>
          </a:ln>
          <a:effectLst/>
        </p:spPr>
      </p:pic>
      <p:sp>
        <p:nvSpPr>
          <p:cNvPr id="2" name="Title 1"/>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cxnSp>
        <p:nvCxnSpPr>
          <p:cNvPr id="20" name="Straight Connector 19"/>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p:cNvSpPr>
            <a:spLocks noGrp="1"/>
          </p:cNvSpPr>
          <p:nvPr>
            <p:ph idx="1"/>
          </p:nvPr>
        </p:nvSpPr>
        <p:spPr>
          <a:xfrm>
            <a:off x="131180" y="863444"/>
            <a:ext cx="11929641" cy="5590565"/>
          </a:xfrm>
        </p:spPr>
        <p:txBody>
          <a:bodyPr>
            <a:noAutofit/>
          </a:bodyPr>
          <a:lstStyle>
            <a:lvl1pPr marL="265430" indent="-265430"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B0704020202020204" pitchFamily="2" charset="0"/>
                <a:ea typeface="Roboto Condensed Light" panose="020B0704020202020204" pitchFamily="2" charset="0"/>
              </a:rPr>
              <a:t>Prof. Prashant Kachhela</a:t>
            </a:r>
          </a:p>
        </p:txBody>
      </p:sp>
      <p:sp>
        <p:nvSpPr>
          <p:cNvPr id="12" name="Slide Number Placeholder 3"/>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t>‹#›</a:t>
            </a:fld>
            <a:endParaRPr lang="en-US" b="0" dirty="0">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Fundamentals of Insurance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BFF5223-5CBF-C2D1-7AC0-B08FD5C1338C}"/>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endParaRPr>
          </a:p>
        </p:txBody>
      </p:sp>
      <p:pic>
        <p:nvPicPr>
          <p:cNvPr id="18" name="Shape 56"/>
          <p:cNvPicPr preferRelativeResize="0"/>
          <p:nvPr userDrawn="1"/>
        </p:nvPicPr>
        <p:blipFill rotWithShape="1">
          <a:blip r:embed="rId2"/>
          <a:srcRect t="86739" r="1768" b="3535"/>
          <a:stretch>
            <a:fillRect/>
          </a:stretch>
        </p:blipFill>
        <p:spPr>
          <a:xfrm>
            <a:off x="0" y="0"/>
            <a:ext cx="12192000" cy="711201"/>
          </a:xfrm>
          <a:prstGeom prst="rect">
            <a:avLst/>
          </a:prstGeom>
          <a:noFill/>
          <a:ln>
            <a:noFill/>
          </a:ln>
          <a:effectLst/>
        </p:spPr>
      </p:pic>
      <p:sp>
        <p:nvSpPr>
          <p:cNvPr id="2" name="Title 1"/>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cxnSp>
        <p:nvCxnSpPr>
          <p:cNvPr id="20" name="Straight Connector 19"/>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p:cNvSpPr>
            <a:spLocks noGrp="1"/>
          </p:cNvSpPr>
          <p:nvPr>
            <p:ph idx="1"/>
          </p:nvPr>
        </p:nvSpPr>
        <p:spPr>
          <a:xfrm>
            <a:off x="131180" y="863444"/>
            <a:ext cx="11929641" cy="5590565"/>
          </a:xfrm>
        </p:spPr>
        <p:txBody>
          <a:bodyPr>
            <a:noAutofit/>
          </a:bodyPr>
          <a:lstStyle>
            <a:lvl1pPr marL="265430" indent="-265430"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B0704020202020204" pitchFamily="2" charset="0"/>
                <a:ea typeface="Roboto Condensed Light" panose="020B0704020202020204" pitchFamily="2" charset="0"/>
              </a:rPr>
              <a:t>Prof. Prashant Kachhela</a:t>
            </a:r>
          </a:p>
        </p:txBody>
      </p:sp>
      <p:sp>
        <p:nvSpPr>
          <p:cNvPr id="12" name="Slide Number Placeholder 3"/>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t>‹#›</a:t>
            </a:fld>
            <a:endParaRPr lang="en-US" b="0" dirty="0">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Fundamentals of Insurance</a:t>
            </a:r>
          </a:p>
        </p:txBody>
      </p:sp>
    </p:spTree>
    <p:extLst>
      <p:ext uri="{BB962C8B-B14F-4D97-AF65-F5344CB8AC3E}">
        <p14:creationId xmlns:p14="http://schemas.microsoft.com/office/powerpoint/2010/main" val="1839075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99EEA18-5082-DD90-8A42-09B400E250B6}"/>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endParaRPr>
          </a:p>
        </p:txBody>
      </p:sp>
      <p:grpSp>
        <p:nvGrpSpPr>
          <p:cNvPr id="16" name="Group 15"/>
          <p:cNvGrpSpPr/>
          <p:nvPr userDrawn="1"/>
        </p:nvGrpSpPr>
        <p:grpSpPr>
          <a:xfrm>
            <a:off x="131179" y="6047527"/>
            <a:ext cx="1339023" cy="407045"/>
            <a:chOff x="10721798" y="852808"/>
            <a:chExt cx="1339023" cy="407045"/>
          </a:xfrm>
        </p:grpSpPr>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p:cNvPicPr preferRelativeResize="0"/>
          <p:nvPr userDrawn="1"/>
        </p:nvPicPr>
        <p:blipFill rotWithShape="1">
          <a:blip r:embed="rId3"/>
          <a:srcRect t="86739" r="1768" b="3535"/>
          <a:stretch>
            <a:fillRect/>
          </a:stretch>
        </p:blipFill>
        <p:spPr>
          <a:xfrm>
            <a:off x="0" y="0"/>
            <a:ext cx="12192000" cy="711201"/>
          </a:xfrm>
          <a:prstGeom prst="rect">
            <a:avLst/>
          </a:prstGeom>
          <a:noFill/>
          <a:ln>
            <a:noFill/>
          </a:ln>
          <a:effectLst/>
        </p:spPr>
      </p:pic>
      <p:sp>
        <p:nvSpPr>
          <p:cNvPr id="2" name="Title 1"/>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cxnSp>
        <p:nvCxnSpPr>
          <p:cNvPr id="20" name="Straight Connector 19"/>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p:cNvSpPr>
            <a:spLocks noGrp="1"/>
          </p:cNvSpPr>
          <p:nvPr>
            <p:ph idx="1"/>
          </p:nvPr>
        </p:nvSpPr>
        <p:spPr>
          <a:xfrm>
            <a:off x="131180" y="863444"/>
            <a:ext cx="11929641" cy="5590565"/>
          </a:xfrm>
        </p:spPr>
        <p:txBody>
          <a:bodyPr>
            <a:noAutofit/>
          </a:bodyPr>
          <a:lstStyle>
            <a:lvl1pPr marL="265430" indent="-265430"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B0704020202020204" pitchFamily="2" charset="0"/>
                <a:ea typeface="Roboto Condensed Light" panose="020B0704020202020204" pitchFamily="2" charset="0"/>
              </a:rPr>
              <a:t>Prof. Prashant Kachhela</a:t>
            </a:r>
          </a:p>
        </p:txBody>
      </p:sp>
      <p:sp>
        <p:nvSpPr>
          <p:cNvPr id="12" name="Slide Number Placeholder 3"/>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t>‹#›</a:t>
            </a:fld>
            <a:endParaRPr lang="en-US" b="0" dirty="0">
              <a:solidFill>
                <a:schemeClr val="tx1">
                  <a:lumMod val="90000"/>
                  <a:lumOff val="10000"/>
                </a:schemeClr>
              </a:solidFill>
              <a:latin typeface="+mn-lt"/>
            </a:endParaRPr>
          </a:p>
        </p:txBody>
      </p:sp>
      <p:sp>
        <p:nvSpPr>
          <p:cNvPr id="15"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Fundamentals of Insurance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3"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lstStyle/>
          <a:p>
            <a:pPr lvl="0"/>
            <a:endParaRPr lang="en-US"/>
          </a:p>
        </p:txBody>
      </p:sp>
      <p:pic>
        <p:nvPicPr>
          <p:cNvPr id="11" name="Picture 10"/>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9807099" y="606901"/>
            <a:ext cx="2991808" cy="1778000"/>
          </a:xfrm>
          <a:prstGeom prst="rect">
            <a:avLst/>
          </a:prstGeom>
        </p:spPr>
      </p:pic>
      <p:pic>
        <p:nvPicPr>
          <p:cNvPr id="12" name="Picture 11"/>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401568"/>
            <a:ext cx="543946" cy="772151"/>
          </a:xfrm>
          <a:prstGeom prst="rect">
            <a:avLst/>
          </a:prstGeom>
        </p:spPr>
      </p:pic>
      <p:sp>
        <p:nvSpPr>
          <p:cNvPr id="2" name="Title 1"/>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9000">
                      <a:schemeClr val="accent6">
                        <a:lumMod val="50000"/>
                      </a:schemeClr>
                    </a:gs>
                    <a:gs pos="100000">
                      <a:schemeClr val="accent6"/>
                    </a:gs>
                  </a:gsLst>
                  <a:lin ang="0" scaled="1"/>
                  <a:tileRect/>
                </a:gradFill>
                <a:effectLst/>
                <a:latin typeface="+mn-lt"/>
                <a:ea typeface="+mn-ea"/>
                <a:cs typeface="+mn-cs"/>
              </a:defRPr>
            </a:lvl1pPr>
          </a:lstStyle>
          <a:p>
            <a:r>
              <a:rPr lang="en-US" dirty="0"/>
              <a:t>Write here Section Title</a:t>
            </a:r>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p:cNvGrpSpPr/>
          <p:nvPr userDrawn="1"/>
        </p:nvGrpSpPr>
        <p:grpSpPr>
          <a:xfrm>
            <a:off x="9874840" y="6078930"/>
            <a:ext cx="2078404" cy="631807"/>
            <a:chOff x="10721798" y="852808"/>
            <a:chExt cx="1339023" cy="407045"/>
          </a:xfrm>
        </p:grpSpPr>
        <p:pic>
          <p:nvPicPr>
            <p:cNvPr id="15" name="Picture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2F098FA-B2F1-257A-3141-13624043E829}"/>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endParaRPr>
          </a:p>
        </p:txBody>
      </p:sp>
      <p:cxnSp>
        <p:nvCxnSpPr>
          <p:cNvPr id="22" name="Straight Connector 21"/>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userDrawn="1"/>
        </p:nvGrpSpPr>
        <p:grpSpPr>
          <a:xfrm>
            <a:off x="10304203" y="212531"/>
            <a:ext cx="1649043" cy="501287"/>
            <a:chOff x="10721798" y="852808"/>
            <a:chExt cx="1339023" cy="407045"/>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Date Placeholder 1"/>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B0704020202020204" pitchFamily="2" charset="0"/>
                <a:ea typeface="Roboto Condensed Light" panose="020B0704020202020204" pitchFamily="2" charset="0"/>
              </a:rPr>
              <a:t>Prof. Prashant Kachhela</a:t>
            </a:r>
          </a:p>
        </p:txBody>
      </p:sp>
      <p:sp>
        <p:nvSpPr>
          <p:cNvPr id="8" name="Slide Number Placeholder 3"/>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t>‹#›</a:t>
            </a:fld>
            <a:endParaRPr lang="en-US" b="0" dirty="0">
              <a:solidFill>
                <a:schemeClr val="tx1">
                  <a:lumMod val="90000"/>
                  <a:lumOff val="10000"/>
                </a:schemeClr>
              </a:solidFill>
              <a:latin typeface="+mn-lt"/>
            </a:endParaRPr>
          </a:p>
        </p:txBody>
      </p:sp>
      <p:sp>
        <p:nvSpPr>
          <p:cNvPr id="10"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Fundamentals of Insurance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554D0AC-4140-5ACE-AD5B-F39537847DB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endParaRPr>
          </a:p>
        </p:txBody>
      </p:sp>
      <p:cxnSp>
        <p:nvCxnSpPr>
          <p:cNvPr id="22" name="Straight Connector 21"/>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userDrawn="1"/>
        </p:nvGrpSpPr>
        <p:grpSpPr>
          <a:xfrm>
            <a:off x="10357991" y="5976558"/>
            <a:ext cx="1649043" cy="501287"/>
            <a:chOff x="10721798" y="852808"/>
            <a:chExt cx="1339023" cy="407045"/>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Date Placeholder 1"/>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B0704020202020204" pitchFamily="2" charset="0"/>
                <a:ea typeface="Roboto Condensed Light" panose="020B0704020202020204" pitchFamily="2" charset="0"/>
              </a:rPr>
              <a:t>Prof. Prashant Kachhela</a:t>
            </a:r>
          </a:p>
        </p:txBody>
      </p:sp>
      <p:sp>
        <p:nvSpPr>
          <p:cNvPr id="8" name="Slide Number Placeholder 3"/>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t>‹#›</a:t>
            </a:fld>
            <a:endParaRPr lang="en-US" b="0" dirty="0">
              <a:solidFill>
                <a:schemeClr val="tx1">
                  <a:lumMod val="90000"/>
                  <a:lumOff val="10000"/>
                </a:schemeClr>
              </a:solidFill>
              <a:latin typeface="+mn-lt"/>
            </a:endParaRPr>
          </a:p>
        </p:txBody>
      </p:sp>
      <p:sp>
        <p:nvSpPr>
          <p:cNvPr id="10"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Fundamentals of Insurance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E83E49C-A33E-8176-6206-CEB40B348CB4}"/>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endParaRPr>
          </a:p>
        </p:txBody>
      </p:sp>
      <p:cxnSp>
        <p:nvCxnSpPr>
          <p:cNvPr id="22" name="Straight Connector 21"/>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userDrawn="1"/>
        </p:nvGrpSpPr>
        <p:grpSpPr>
          <a:xfrm>
            <a:off x="165802" y="5976558"/>
            <a:ext cx="1649043" cy="501287"/>
            <a:chOff x="10721798" y="852808"/>
            <a:chExt cx="1339023" cy="407045"/>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Date Placeholder 1"/>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B0704020202020204" pitchFamily="2" charset="0"/>
                <a:ea typeface="Roboto Condensed Light" panose="020B0704020202020204" pitchFamily="2" charset="0"/>
              </a:rPr>
              <a:t>Prof. Prashant Kachhela</a:t>
            </a:r>
          </a:p>
        </p:txBody>
      </p:sp>
      <p:sp>
        <p:nvSpPr>
          <p:cNvPr id="8" name="Slide Number Placeholder 3"/>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t>‹#›</a:t>
            </a:fld>
            <a:endParaRPr lang="en-US" b="0" dirty="0">
              <a:solidFill>
                <a:schemeClr val="tx1">
                  <a:lumMod val="90000"/>
                  <a:lumOff val="10000"/>
                </a:schemeClr>
              </a:solidFill>
              <a:latin typeface="+mn-lt"/>
            </a:endParaRPr>
          </a:p>
        </p:txBody>
      </p:sp>
      <p:sp>
        <p:nvSpPr>
          <p:cNvPr id="10"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Fundamentals of Insurance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stretch>
            <a:fillRect/>
          </a:stretch>
        </p:blipFill>
        <p:spPr>
          <a:xfrm>
            <a:off x="0" y="0"/>
            <a:ext cx="12192000" cy="6836401"/>
          </a:xfrm>
          <a:prstGeom prst="rect">
            <a:avLst/>
          </a:prstGeom>
        </p:spPr>
      </p:pic>
      <p:sp>
        <p:nvSpPr>
          <p:cNvPr id="10" name="Rectangle 9"/>
          <p:cNvSpPr/>
          <p:nvPr userDrawn="1"/>
        </p:nvSpPr>
        <p:spPr>
          <a:xfrm>
            <a:off x="915139" y="312624"/>
            <a:ext cx="4211279" cy="923330"/>
          </a:xfrm>
          <a:prstGeom prst="rect">
            <a:avLst/>
          </a:prstGeom>
          <a:noFill/>
        </p:spPr>
        <p:txBody>
          <a:bodyPr wrap="square" lIns="91440" tIns="45720" rIns="91440" bIns="45720">
            <a:spAutoFit/>
          </a:bodyPr>
          <a:lstStyle/>
          <a:p>
            <a:pPr algn="ctr"/>
            <a:r>
              <a:rPr lang="en-US" sz="5400" b="1" cap="none" spc="0" dirty="0">
                <a:ln w="22225">
                  <a:solidFill>
                    <a:schemeClr val="tx1"/>
                  </a:solidFill>
                  <a:prstDash val="solid"/>
                </a:ln>
                <a:solidFill>
                  <a:schemeClr val="accent6">
                    <a:lumMod val="50000"/>
                  </a:schemeClr>
                </a:solidFill>
                <a:effectLst/>
              </a:rPr>
              <a:t>THANK YOU</a:t>
            </a:r>
          </a:p>
        </p:txBody>
      </p:sp>
      <p:sp>
        <p:nvSpPr>
          <p:cNvPr id="5" name="TextBox 4"/>
          <p:cNvSpPr txBox="1"/>
          <p:nvPr userDrawn="1"/>
        </p:nvSpPr>
        <p:spPr>
          <a:xfrm>
            <a:off x="0" y="1548578"/>
            <a:ext cx="6185262" cy="1938992"/>
          </a:xfrm>
          <a:prstGeom prst="rect">
            <a:avLst/>
          </a:prstGeom>
          <a:noFill/>
        </p:spPr>
        <p:txBody>
          <a:bodyPr wrap="square">
            <a:spAutoFit/>
          </a:bodyPr>
          <a:lstStyle/>
          <a:p>
            <a:pPr algn="ctr"/>
            <a:r>
              <a:rPr lang="en-IN" sz="2400" dirty="0"/>
              <a:t>Prof. Prashant Kachhela</a:t>
            </a:r>
          </a:p>
          <a:p>
            <a:pPr algn="ctr"/>
            <a:r>
              <a:rPr lang="en-IN" sz="2400" dirty="0"/>
              <a:t>Assistant Professor</a:t>
            </a:r>
          </a:p>
          <a:p>
            <a:pPr algn="ctr"/>
            <a:r>
              <a:rPr lang="en-IN" sz="2400" dirty="0"/>
              <a:t>Darshan Institute of Management</a:t>
            </a:r>
          </a:p>
          <a:p>
            <a:pPr algn="ctr"/>
            <a:r>
              <a:rPr lang="en-IN" sz="2400" dirty="0"/>
              <a:t>Darshan University, Rajkot</a:t>
            </a:r>
          </a:p>
          <a:p>
            <a:pPr algn="ctr"/>
            <a:r>
              <a:rPr lang="en-IN" sz="2400" dirty="0"/>
              <a:t>prashant.kachhela@darshan.ac.in</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6B48268-4D84-AF95-F5AA-7A7355140711}"/>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endParaRPr>
          </a:p>
        </p:txBody>
      </p:sp>
      <p:sp>
        <p:nvSpPr>
          <p:cNvPr id="3" name="Date Placeholder 1"/>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B0704020202020204" pitchFamily="2" charset="0"/>
                <a:ea typeface="Roboto Condensed Light" panose="020B0704020202020204" pitchFamily="2" charset="0"/>
              </a:rPr>
              <a:t>Prof. Prashant Kachhela</a:t>
            </a:r>
          </a:p>
        </p:txBody>
      </p:sp>
      <p:sp>
        <p:nvSpPr>
          <p:cNvPr id="4" name="Slide Number Placeholder 3"/>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t>‹#›</a:t>
            </a:fld>
            <a:endParaRPr lang="en-US" b="0" dirty="0">
              <a:solidFill>
                <a:schemeClr val="tx1">
                  <a:lumMod val="90000"/>
                  <a:lumOff val="10000"/>
                </a:schemeClr>
              </a:solidFill>
              <a:latin typeface="+mn-lt"/>
            </a:endParaRPr>
          </a:p>
        </p:txBody>
      </p:sp>
      <p:sp>
        <p:nvSpPr>
          <p:cNvPr id="7"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5731CCF3-4B9E-4626-B707-4ECD7D391A74}" type="datetimeFigureOut">
              <a:rPr lang="en-CA" smtClean="0"/>
              <a:t>2025-08-27</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72005DD-33D7-4C32-9869-4943B0D2FA3C}" type="slidenum">
              <a:rPr lang="en-CA" smtClean="0"/>
              <a:t>‹#›</a:t>
            </a:fld>
            <a:endParaRPr lang="en-C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F602047-FE71-48B1-BCC6-993003A13C6B}" type="datetimeFigureOut">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B63E3A-7A75-44CB-825E-F80C7DC2C0D2}"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B6E4831-481F-4AF1-9D8E-170CD6E1C3F5}" type="datetimeFigureOut">
              <a:rPr lang="en-IN" smtClean="0"/>
              <a:t>27-08-2025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11CE39-2868-44A2-A0C6-827D458F7A8B}"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219200"/>
            <a:ext cx="5588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19200"/>
            <a:ext cx="5588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B5C8C523-24D6-65C4-83AE-8CDA60CE4018}"/>
              </a:ext>
            </a:extLst>
          </p:cNvPr>
          <p:cNvSpPr>
            <a:spLocks noGrp="1" noChangeArrowheads="1"/>
          </p:cNvSpPr>
          <p:nvPr>
            <p:ph type="sldNum" sz="quarter" idx="10"/>
          </p:nvPr>
        </p:nvSpPr>
        <p:spPr>
          <a:ln/>
        </p:spPr>
        <p:txBody>
          <a:bodyPr/>
          <a:lstStyle>
            <a:lvl1pPr>
              <a:defRPr/>
            </a:lvl1pPr>
          </a:lstStyle>
          <a:p>
            <a:fld id="{9A3C9292-09A7-4479-ADF1-3FF23AAF9B27}" type="slidenum">
              <a:rPr lang="en-US" altLang="en-US"/>
              <a:pPr/>
              <a:t>‹#›</a:t>
            </a:fld>
            <a:endParaRPr lang="en-US" altLang="en-US"/>
          </a:p>
        </p:txBody>
      </p:sp>
    </p:spTree>
    <p:extLst>
      <p:ext uri="{BB962C8B-B14F-4D97-AF65-F5344CB8AC3E}">
        <p14:creationId xmlns:p14="http://schemas.microsoft.com/office/powerpoint/2010/main" val="1071652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prashant.kachhela@darshan.ac.in</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9106232023</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Prof. Prashant Kachhela</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a:extLst>
              <a:ext uri="{FF2B5EF4-FFF2-40B4-BE49-F238E27FC236}">
                <a16:creationId xmlns:a16="http://schemas.microsoft.com/office/drawing/2014/main" id="{356D7B7B-531F-408A-988D-AF8B227BBAEF}"/>
              </a:ext>
            </a:extLst>
          </p:cNvPr>
          <p:cNvPicPr>
            <a:picLocks noChangeAspect="1"/>
          </p:cNvPicPr>
          <p:nvPr userDrawn="1"/>
        </p:nvPicPr>
        <p:blipFill rotWithShape="1">
          <a:blip r:embed="rId10"/>
          <a:srcRect l="48200" t="56813" r="42065" b="21843"/>
          <a:stretch/>
        </p:blipFill>
        <p:spPr>
          <a:xfrm>
            <a:off x="12261755" y="20384"/>
            <a:ext cx="1485900" cy="1832587"/>
          </a:xfrm>
          <a:prstGeom prst="rect">
            <a:avLst/>
          </a:prstGeom>
        </p:spPr>
      </p:pic>
      <p:pic>
        <p:nvPicPr>
          <p:cNvPr id="35" name="Picture 2" descr="Best Courses after BBA: What to Do After BBA? [2021] - Leverage Edu">
            <a:extLst>
              <a:ext uri="{FF2B5EF4-FFF2-40B4-BE49-F238E27FC236}">
                <a16:creationId xmlns:a16="http://schemas.microsoft.com/office/drawing/2014/main" id="{C84296FC-27D3-4D0C-8F2A-19BD3B9C2C0A}"/>
              </a:ext>
            </a:extLst>
          </p:cNvPr>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352327-8573-44E4-BC8A-4B66E1AC2BFC}"/>
              </a:ext>
            </a:extLst>
          </p:cNvPr>
          <p:cNvSpPr txBox="1"/>
          <p:nvPr userDrawn="1"/>
        </p:nvSpPr>
        <p:spPr>
          <a:xfrm>
            <a:off x="1837677" y="5513531"/>
            <a:ext cx="2885726"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Management</a:t>
            </a:r>
          </a:p>
        </p:txBody>
      </p:sp>
    </p:spTree>
    <p:extLst>
      <p:ext uri="{BB962C8B-B14F-4D97-AF65-F5344CB8AC3E}">
        <p14:creationId xmlns:p14="http://schemas.microsoft.com/office/powerpoint/2010/main" val="59262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4"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irdai.gov.in/documents/37341/0/Duties+powers+and+funcitons+of+Irdai(English).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mailto:complaints@irda.gov.in" TargetMode="External"/><Relationship Id="rId2" Type="http://schemas.openxmlformats.org/officeDocument/2006/relationships/hyperlink" Target="http://www.igms.irda.gov.in/" TargetMode="Externa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31D5A6E-3A52-4735-80F8-F5EB3910AC72}"/>
              </a:ext>
            </a:extLst>
          </p:cNvPr>
          <p:cNvSpPr>
            <a:spLocks noGrp="1"/>
          </p:cNvSpPr>
          <p:nvPr>
            <p:ph type="body" sz="quarter" idx="11"/>
          </p:nvPr>
        </p:nvSpPr>
        <p:spPr/>
        <p:txBody>
          <a:bodyPr/>
          <a:lstStyle/>
          <a:p>
            <a:r>
              <a:rPr lang="en-IN" dirty="0"/>
              <a:t>prashant.kachhela@darshan.ac.in</a:t>
            </a:r>
          </a:p>
        </p:txBody>
      </p:sp>
      <p:sp>
        <p:nvSpPr>
          <p:cNvPr id="4" name="Text Placeholder 3">
            <a:extLst>
              <a:ext uri="{FF2B5EF4-FFF2-40B4-BE49-F238E27FC236}">
                <a16:creationId xmlns:a16="http://schemas.microsoft.com/office/drawing/2014/main" id="{11D3ED79-BB2A-436C-BB8C-E275C4F33F5E}"/>
              </a:ext>
            </a:extLst>
          </p:cNvPr>
          <p:cNvSpPr>
            <a:spLocks noGrp="1"/>
          </p:cNvSpPr>
          <p:nvPr>
            <p:ph type="body" sz="quarter" idx="12"/>
          </p:nvPr>
        </p:nvSpPr>
        <p:spPr/>
        <p:txBody>
          <a:bodyPr/>
          <a:lstStyle/>
          <a:p>
            <a:r>
              <a:rPr lang="en-US" dirty="0"/>
              <a:t>9</a:t>
            </a:r>
            <a:r>
              <a:rPr lang="en-IN" dirty="0"/>
              <a:t>106232023</a:t>
            </a:r>
          </a:p>
        </p:txBody>
      </p:sp>
      <p:sp>
        <p:nvSpPr>
          <p:cNvPr id="5" name="Text Placeholder 4">
            <a:extLst>
              <a:ext uri="{FF2B5EF4-FFF2-40B4-BE49-F238E27FC236}">
                <a16:creationId xmlns:a16="http://schemas.microsoft.com/office/drawing/2014/main" id="{E9841181-E5E1-4AF7-92E2-83B02E96507F}"/>
              </a:ext>
            </a:extLst>
          </p:cNvPr>
          <p:cNvSpPr>
            <a:spLocks noGrp="1"/>
          </p:cNvSpPr>
          <p:nvPr>
            <p:ph type="body" sz="quarter" idx="14"/>
          </p:nvPr>
        </p:nvSpPr>
        <p:spPr/>
        <p:txBody>
          <a:bodyPr/>
          <a:lstStyle/>
          <a:p>
            <a:r>
              <a:rPr lang="en-US" dirty="0"/>
              <a:t>P</a:t>
            </a:r>
            <a:r>
              <a:rPr lang="en-IN" dirty="0" err="1"/>
              <a:t>rof</a:t>
            </a:r>
            <a:r>
              <a:rPr lang="en-IN" dirty="0"/>
              <a:t>. Prashant Kachhela</a:t>
            </a:r>
          </a:p>
        </p:txBody>
      </p:sp>
      <p:sp>
        <p:nvSpPr>
          <p:cNvPr id="6" name="Text Placeholder 5">
            <a:extLst>
              <a:ext uri="{FF2B5EF4-FFF2-40B4-BE49-F238E27FC236}">
                <a16:creationId xmlns:a16="http://schemas.microsoft.com/office/drawing/2014/main" id="{989F4CFA-9ADD-465E-8D4C-03D5D17104A3}"/>
              </a:ext>
            </a:extLst>
          </p:cNvPr>
          <p:cNvSpPr>
            <a:spLocks noGrp="1"/>
          </p:cNvSpPr>
          <p:nvPr>
            <p:ph type="body" sz="quarter" idx="16"/>
          </p:nvPr>
        </p:nvSpPr>
        <p:spPr/>
        <p:txBody>
          <a:bodyPr vert="horz" lIns="91440" tIns="45720" rIns="91440" bIns="45720" rtlCol="0" anchor="ctr">
            <a:noAutofit/>
          </a:bodyPr>
          <a:lstStyle/>
          <a:p>
            <a:endParaRPr lang="en-US" dirty="0">
              <a:latin typeface="+mj-lt"/>
              <a:ea typeface="Roboto Condensed Light" panose="02000000000000000000" pitchFamily="2" charset="0"/>
            </a:endParaRPr>
          </a:p>
          <a:p>
            <a:r>
              <a:rPr lang="en-US" dirty="0"/>
              <a:t>Banking, Financial Services </a:t>
            </a:r>
          </a:p>
          <a:p>
            <a:r>
              <a:rPr lang="en-US" dirty="0"/>
              <a:t>and Insurance</a:t>
            </a:r>
            <a:r>
              <a:rPr lang="en-US" dirty="0">
                <a:latin typeface="+mj-lt"/>
                <a:ea typeface="Roboto Condensed Light" panose="02000000000000000000" pitchFamily="2" charset="0"/>
              </a:rPr>
              <a:t> (BFSI)</a:t>
            </a:r>
          </a:p>
          <a:p>
            <a:r>
              <a:rPr lang="en-US" dirty="0">
                <a:latin typeface="+mj-lt"/>
                <a:ea typeface="Roboto Condensed Light" panose="02000000000000000000" pitchFamily="2" charset="0"/>
              </a:rPr>
              <a:t>DU  # </a:t>
            </a:r>
            <a:r>
              <a:rPr lang="en-IN" dirty="0"/>
              <a:t>2301CS594</a:t>
            </a:r>
            <a:endParaRPr lang="en-US" dirty="0">
              <a:latin typeface="+mj-lt"/>
              <a:ea typeface="Roboto Condensed Light" panose="02000000000000000000" pitchFamily="2" charset="0"/>
            </a:endParaRPr>
          </a:p>
        </p:txBody>
      </p:sp>
      <p:sp>
        <p:nvSpPr>
          <p:cNvPr id="8" name="Picture Placeholder 7">
            <a:extLst>
              <a:ext uri="{FF2B5EF4-FFF2-40B4-BE49-F238E27FC236}">
                <a16:creationId xmlns:a16="http://schemas.microsoft.com/office/drawing/2014/main" id="{8833AD75-768F-F96B-FF27-2DF9658B3BE3}"/>
              </a:ext>
            </a:extLst>
          </p:cNvPr>
          <p:cNvSpPr>
            <a:spLocks noGrp="1"/>
          </p:cNvSpPr>
          <p:nvPr>
            <p:ph type="pic" sz="quarter" idx="10"/>
          </p:nvPr>
        </p:nvSpPr>
        <p:spPr/>
        <p:txBody>
          <a:bodyPr/>
          <a:lstStyle/>
          <a:p>
            <a:endParaRPr lang="en-IN"/>
          </a:p>
        </p:txBody>
      </p:sp>
      <p:pic>
        <p:nvPicPr>
          <p:cNvPr id="10" name="Picture 9" descr="C:\Users\praty\Desktop\IMG_0618-removebg-preview.pngIMG_0618-removebg-preview">
            <a:extLst>
              <a:ext uri="{FF2B5EF4-FFF2-40B4-BE49-F238E27FC236}">
                <a16:creationId xmlns:a16="http://schemas.microsoft.com/office/drawing/2014/main" id="{C0F69692-2436-995E-6D12-643454DC3037}"/>
              </a:ext>
            </a:extLst>
          </p:cNvPr>
          <p:cNvPicPr>
            <a:picLocks noChangeAspect="1" noChangeArrowheads="1"/>
          </p:cNvPicPr>
          <p:nvPr/>
        </p:nvPicPr>
        <p:blipFill>
          <a:blip r:embed="rId2"/>
          <a:srcRect/>
          <a:stretch>
            <a:fillRect/>
          </a:stretch>
        </p:blipFill>
        <p:spPr bwMode="auto">
          <a:xfrm>
            <a:off x="306705" y="5065395"/>
            <a:ext cx="1449705" cy="1494155"/>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7ADAD41C-B392-4AC7-9865-77D8C3539487}"/>
              </a:ext>
            </a:extLst>
          </p:cNvPr>
          <p:cNvSpPr>
            <a:spLocks noGrp="1"/>
          </p:cNvSpPr>
          <p:nvPr>
            <p:ph type="ctrTitle"/>
          </p:nvPr>
        </p:nvSpPr>
        <p:spPr>
          <a:xfrm>
            <a:off x="1336475" y="1064679"/>
            <a:ext cx="7004638" cy="2248861"/>
          </a:xfrm>
        </p:spPr>
        <p:txBody>
          <a:bodyPr/>
          <a:lstStyle/>
          <a:p>
            <a:pPr>
              <a:lnSpc>
                <a:spcPct val="100000"/>
              </a:lnSpc>
            </a:pPr>
            <a:r>
              <a:rPr kumimoji="0" lang="en-US" sz="4800" b="0"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Roboto Condensed Light" panose="02000000000000000000" pitchFamily="2" charset="0"/>
                <a:cs typeface="+mn-cs"/>
              </a:rPr>
              <a:t>Unit-2</a:t>
            </a:r>
            <a:br>
              <a:rPr kumimoji="0" lang="en-US" sz="48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Segoe UI Black" panose="020B0A02040204020203" pitchFamily="34" charset="0"/>
                <a:cs typeface="+mn-cs"/>
              </a:rPr>
            </a:br>
            <a:r>
              <a:rPr lang="en-IN" sz="4800" dirty="0"/>
              <a:t>Fundamentals of Insurance</a:t>
            </a:r>
          </a:p>
        </p:txBody>
      </p:sp>
      <p:sp>
        <p:nvSpPr>
          <p:cNvPr id="12" name="Title 1">
            <a:extLst>
              <a:ext uri="{FF2B5EF4-FFF2-40B4-BE49-F238E27FC236}">
                <a16:creationId xmlns:a16="http://schemas.microsoft.com/office/drawing/2014/main" id="{A129D9F0-8E76-AC79-9C7D-FB23493BEC9D}"/>
              </a:ext>
            </a:extLst>
          </p:cNvPr>
          <p:cNvSpPr txBox="1">
            <a:spLocks/>
          </p:cNvSpPr>
          <p:nvPr/>
        </p:nvSpPr>
        <p:spPr>
          <a:xfrm>
            <a:off x="1336474" y="3697283"/>
            <a:ext cx="7443731" cy="817874"/>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lnSpc>
                <a:spcPct val="100000"/>
              </a:lnSpc>
            </a:pPr>
            <a:r>
              <a:rPr lang="en-US" sz="2400" dirty="0">
                <a:latin typeface="+mn-lt"/>
              </a:rPr>
              <a:t>CO 2: Summarize the key components of the insurance industry, including types of insurance, regulation, and the role of intermediaries.</a:t>
            </a:r>
          </a:p>
        </p:txBody>
      </p:sp>
    </p:spTree>
    <p:extLst>
      <p:ext uri="{BB962C8B-B14F-4D97-AF65-F5344CB8AC3E}">
        <p14:creationId xmlns:p14="http://schemas.microsoft.com/office/powerpoint/2010/main" val="1184993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31706"/>
            <a:ext cx="10322213" cy="4893647"/>
          </a:xfrm>
          <a:prstGeom prst="rect">
            <a:avLst/>
          </a:prstGeom>
          <a:noFill/>
        </p:spPr>
        <p:txBody>
          <a:bodyPr wrap="square" rtlCol="0">
            <a:spAutoFit/>
          </a:bodyPr>
          <a:lstStyle/>
          <a:p>
            <a:r>
              <a:rPr lang="en-US" sz="2400" b="1" dirty="0"/>
              <a:t>Topics </a:t>
            </a:r>
          </a:p>
          <a:p>
            <a:pPr marL="742950" lvl="1" indent="-285750">
              <a:lnSpc>
                <a:spcPct val="150000"/>
              </a:lnSpc>
              <a:buFont typeface="Arial" panose="020B0604020202020204" pitchFamily="34" charset="0"/>
              <a:buChar char="•"/>
            </a:pPr>
            <a:r>
              <a:rPr lang="en-US" sz="2400" dirty="0"/>
              <a:t>Risk Management and Role of Insurance</a:t>
            </a:r>
          </a:p>
          <a:p>
            <a:pPr marL="742950" lvl="1" indent="-285750">
              <a:lnSpc>
                <a:spcPct val="150000"/>
              </a:lnSpc>
              <a:buFont typeface="Arial" panose="020B0604020202020204" pitchFamily="34" charset="0"/>
              <a:buChar char="•"/>
            </a:pPr>
            <a:r>
              <a:rPr lang="en-US" sz="2400" dirty="0"/>
              <a:t>Regulatory &amp; Development Authority (IRDA)</a:t>
            </a:r>
          </a:p>
          <a:p>
            <a:pPr marL="742950" lvl="1" indent="-285750">
              <a:lnSpc>
                <a:spcPct val="150000"/>
              </a:lnSpc>
              <a:buFont typeface="Arial" panose="020B0604020202020204" pitchFamily="34" charset="0"/>
              <a:buChar char="•"/>
            </a:pPr>
            <a:r>
              <a:rPr lang="en-US" sz="2400" dirty="0"/>
              <a:t>Classification of Insurance</a:t>
            </a:r>
          </a:p>
          <a:p>
            <a:pPr marL="742950" lvl="1" indent="-285750">
              <a:lnSpc>
                <a:spcPct val="150000"/>
              </a:lnSpc>
              <a:buFont typeface="Arial" panose="020B0604020202020204" pitchFamily="34" charset="0"/>
              <a:buChar char="•"/>
            </a:pPr>
            <a:r>
              <a:rPr lang="en-US" sz="2400" dirty="0"/>
              <a:t>Life Insurance</a:t>
            </a:r>
          </a:p>
          <a:p>
            <a:pPr marL="742950" lvl="1" indent="-285750">
              <a:lnSpc>
                <a:spcPct val="150000"/>
              </a:lnSpc>
              <a:buFont typeface="Arial" panose="020B0604020202020204" pitchFamily="34" charset="0"/>
              <a:buChar char="•"/>
            </a:pPr>
            <a:r>
              <a:rPr lang="en-US" sz="2400" dirty="0"/>
              <a:t>General Insurance</a:t>
            </a:r>
          </a:p>
          <a:p>
            <a:pPr marL="742950" lvl="1" indent="-285750">
              <a:lnSpc>
                <a:spcPct val="150000"/>
              </a:lnSpc>
              <a:buFont typeface="Arial" panose="020B0604020202020204" pitchFamily="34" charset="0"/>
              <a:buChar char="•"/>
            </a:pPr>
            <a:r>
              <a:rPr lang="en-US" sz="2400" dirty="0"/>
              <a:t>Health Insurance</a:t>
            </a:r>
          </a:p>
          <a:p>
            <a:pPr marL="742950" lvl="1" indent="-285750">
              <a:lnSpc>
                <a:spcPct val="150000"/>
              </a:lnSpc>
              <a:buFont typeface="Arial" panose="020B0604020202020204" pitchFamily="34" charset="0"/>
              <a:buChar char="•"/>
            </a:pPr>
            <a:r>
              <a:rPr lang="en-US" sz="2400" dirty="0"/>
              <a:t>Reinsurance</a:t>
            </a:r>
          </a:p>
          <a:p>
            <a:pPr marL="742950" lvl="1" indent="-285750">
              <a:lnSpc>
                <a:spcPct val="150000"/>
              </a:lnSpc>
              <a:buFont typeface="Arial" panose="020B0604020202020204" pitchFamily="34" charset="0"/>
              <a:buChar char="•"/>
            </a:pPr>
            <a:r>
              <a:rPr lang="en-US" sz="2400" dirty="0"/>
              <a:t>Micro Insurance</a:t>
            </a:r>
          </a:p>
        </p:txBody>
      </p:sp>
      <p:sp>
        <p:nvSpPr>
          <p:cNvPr id="10" name="Title 1">
            <a:extLst>
              <a:ext uri="{FF2B5EF4-FFF2-40B4-BE49-F238E27FC236}">
                <a16:creationId xmlns:a16="http://schemas.microsoft.com/office/drawing/2014/main" id="{1B5477B8-17FE-07BC-0563-1A46B19ED9A2}"/>
              </a:ext>
            </a:extLst>
          </p:cNvPr>
          <p:cNvSpPr txBox="1">
            <a:spLocks/>
          </p:cNvSpPr>
          <p:nvPr/>
        </p:nvSpPr>
        <p:spPr>
          <a:xfrm>
            <a:off x="1936956" y="5724261"/>
            <a:ext cx="7944464" cy="817874"/>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lnSpc>
                <a:spcPct val="100000"/>
              </a:lnSpc>
            </a:pPr>
            <a:r>
              <a:rPr lang="en-US" sz="2400" dirty="0"/>
              <a:t>CO 2: </a:t>
            </a:r>
            <a:r>
              <a:rPr lang="en-US" sz="2400" dirty="0">
                <a:solidFill>
                  <a:schemeClr val="tx1"/>
                </a:solidFill>
                <a:latin typeface="+mn-lt"/>
                <a:ea typeface="+mn-ea"/>
              </a:rPr>
              <a:t>Summarize the key components of the insurance industry, including types of insurance, regulation, and the role of intermediaries.</a:t>
            </a:r>
          </a:p>
        </p:txBody>
      </p:sp>
    </p:spTree>
    <p:extLst>
      <p:ext uri="{BB962C8B-B14F-4D97-AF65-F5344CB8AC3E}">
        <p14:creationId xmlns:p14="http://schemas.microsoft.com/office/powerpoint/2010/main" val="340364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Risk Management and Role of Insurance</a:t>
            </a:r>
          </a:p>
        </p:txBody>
      </p:sp>
    </p:spTree>
    <p:extLst>
      <p:ext uri="{BB962C8B-B14F-4D97-AF65-F5344CB8AC3E}">
        <p14:creationId xmlns:p14="http://schemas.microsoft.com/office/powerpoint/2010/main" val="146102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Risk Management</a:t>
            </a:r>
            <a:endParaRPr lang="en-IN" dirty="0"/>
          </a:p>
        </p:txBody>
      </p:sp>
      <p:sp>
        <p:nvSpPr>
          <p:cNvPr id="5" name="Content Placeholder 4"/>
          <p:cNvSpPr>
            <a:spLocks noGrp="1"/>
          </p:cNvSpPr>
          <p:nvPr>
            <p:ph idx="1"/>
          </p:nvPr>
        </p:nvSpPr>
        <p:spPr>
          <a:xfrm>
            <a:off x="131181" y="863444"/>
            <a:ext cx="7570518" cy="5590565"/>
          </a:xfrm>
        </p:spPr>
        <p:txBody>
          <a:bodyPr/>
          <a:lstStyle/>
          <a:p>
            <a:r>
              <a:rPr lang="en-US" dirty="0"/>
              <a:t>The idea of insurance took birth </a:t>
            </a:r>
            <a:r>
              <a:rPr lang="en-US" b="1" dirty="0">
                <a:solidFill>
                  <a:srgbClr val="C00000"/>
                </a:solidFill>
              </a:rPr>
              <a:t>thousands of years ago</a:t>
            </a:r>
            <a:r>
              <a:rPr lang="en-US" dirty="0"/>
              <a:t>. Insurance practices in earlier days used to be based on the concept of </a:t>
            </a:r>
            <a:r>
              <a:rPr lang="en-US" b="1" dirty="0">
                <a:solidFill>
                  <a:srgbClr val="C00000"/>
                </a:solidFill>
              </a:rPr>
              <a:t>‘pooling of risks’. </a:t>
            </a:r>
          </a:p>
          <a:p>
            <a:r>
              <a:rPr lang="en-US" dirty="0"/>
              <a:t>A </a:t>
            </a:r>
            <a:r>
              <a:rPr lang="en-US" b="1" dirty="0">
                <a:solidFill>
                  <a:srgbClr val="C00000"/>
                </a:solidFill>
              </a:rPr>
              <a:t>common fund were created </a:t>
            </a:r>
            <a:r>
              <a:rPr lang="en-US" dirty="0"/>
              <a:t>into which </a:t>
            </a:r>
            <a:r>
              <a:rPr lang="en-US" b="1" dirty="0">
                <a:solidFill>
                  <a:srgbClr val="C00000"/>
                </a:solidFill>
              </a:rPr>
              <a:t>small contributions from many people</a:t>
            </a:r>
            <a:r>
              <a:rPr lang="en-US" dirty="0"/>
              <a:t> was pooled and the amount so collected be used to compensate for the loss suffered by the unfortunate few out of those who contributed. </a:t>
            </a:r>
          </a:p>
          <a:p>
            <a:r>
              <a:rPr lang="en-US" dirty="0"/>
              <a:t>The contribution to be made by each person is determined on the assumption that while it may </a:t>
            </a:r>
            <a:r>
              <a:rPr lang="en-US" b="1" dirty="0">
                <a:solidFill>
                  <a:srgbClr val="C00000"/>
                </a:solidFill>
              </a:rPr>
              <a:t>not be possible to tell beforehand which person will suffer, it will be possible to tell, on the basis of past experiences</a:t>
            </a:r>
            <a:r>
              <a:rPr lang="en-US" dirty="0"/>
              <a:t>, how many persons on an average </a:t>
            </a:r>
            <a:r>
              <a:rPr lang="en-IN" dirty="0"/>
              <a:t>may suffer losses.</a:t>
            </a:r>
          </a:p>
        </p:txBody>
      </p:sp>
      <p:pic>
        <p:nvPicPr>
          <p:cNvPr id="2" name="Picture 1"/>
          <p:cNvPicPr>
            <a:picLocks noChangeAspect="1"/>
          </p:cNvPicPr>
          <p:nvPr/>
        </p:nvPicPr>
        <p:blipFill rotWithShape="1">
          <a:blip r:embed="rId2"/>
          <a:srcRect l="19380" t="27920" r="18546" b="8629"/>
          <a:stretch/>
        </p:blipFill>
        <p:spPr>
          <a:xfrm>
            <a:off x="7900161" y="2677212"/>
            <a:ext cx="4291839" cy="2467716"/>
          </a:xfrm>
          <a:prstGeom prst="rect">
            <a:avLst/>
          </a:prstGeom>
        </p:spPr>
      </p:pic>
    </p:spTree>
    <p:extLst>
      <p:ext uri="{BB962C8B-B14F-4D97-AF65-F5344CB8AC3E}">
        <p14:creationId xmlns:p14="http://schemas.microsoft.com/office/powerpoint/2010/main" val="126626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Risk Management</a:t>
            </a:r>
            <a:endParaRPr lang="en-IN" dirty="0"/>
          </a:p>
        </p:txBody>
      </p:sp>
      <p:sp>
        <p:nvSpPr>
          <p:cNvPr id="5" name="Content Placeholder 4"/>
          <p:cNvSpPr>
            <a:spLocks noGrp="1"/>
          </p:cNvSpPr>
          <p:nvPr>
            <p:ph idx="1"/>
          </p:nvPr>
        </p:nvSpPr>
        <p:spPr/>
        <p:txBody>
          <a:bodyPr/>
          <a:lstStyle/>
          <a:p>
            <a:r>
              <a:rPr lang="en-US" b="1" dirty="0">
                <a:solidFill>
                  <a:srgbClr val="C00000"/>
                </a:solidFill>
              </a:rPr>
              <a:t>For example</a:t>
            </a:r>
          </a:p>
          <a:p>
            <a:pPr lvl="1"/>
            <a:r>
              <a:rPr lang="en-US" dirty="0"/>
              <a:t>In a Village, there are 500 houses, each valued at </a:t>
            </a:r>
            <a:r>
              <a:rPr lang="en-US" dirty="0" err="1"/>
              <a:t>Rs</a:t>
            </a:r>
            <a:r>
              <a:rPr lang="en-US" dirty="0"/>
              <a:t>. 2,00,000. Every year, on an average 4 houses get burnt, resulting into a loss of </a:t>
            </a:r>
            <a:r>
              <a:rPr lang="en-US" dirty="0" err="1"/>
              <a:t>Rs</a:t>
            </a:r>
            <a:r>
              <a:rPr lang="en-US" dirty="0"/>
              <a:t>. 8,00,000. </a:t>
            </a:r>
          </a:p>
          <a:p>
            <a:pPr lvl="1"/>
            <a:r>
              <a:rPr lang="en-US" dirty="0"/>
              <a:t>If all the 500 house-owners come together and contribute </a:t>
            </a:r>
            <a:r>
              <a:rPr lang="en-US" dirty="0" err="1"/>
              <a:t>Rs</a:t>
            </a:r>
            <a:r>
              <a:rPr lang="en-US" dirty="0"/>
              <a:t>. 1,600 each, that will be sufficient to cover the risk of up to 4 houses getting damaged on fire. </a:t>
            </a:r>
          </a:p>
          <a:p>
            <a:pPr lvl="1"/>
            <a:r>
              <a:rPr lang="en-US" dirty="0"/>
              <a:t>Thus the risk of 4 house owners gets distributed to 500 house-owners. </a:t>
            </a:r>
          </a:p>
          <a:p>
            <a:r>
              <a:rPr lang="en-US" dirty="0"/>
              <a:t>In other words, </a:t>
            </a:r>
            <a:r>
              <a:rPr lang="en-US" b="1" dirty="0">
                <a:solidFill>
                  <a:srgbClr val="C00000"/>
                </a:solidFill>
              </a:rPr>
              <a:t>the risk of suffering an economic loss and its consequence could be transferred from one individual to many</a:t>
            </a:r>
            <a:r>
              <a:rPr lang="en-US" dirty="0"/>
              <a:t>, through the mechanism of pooling. Thus, insurance is often described as a Risk Transfer </a:t>
            </a:r>
            <a:r>
              <a:rPr lang="en-IN" dirty="0"/>
              <a:t>through Risk Pooling. </a:t>
            </a:r>
          </a:p>
          <a:p>
            <a:r>
              <a:rPr lang="en-US" dirty="0"/>
              <a:t>Insurance is a risk transfer mechanism that </a:t>
            </a:r>
            <a:r>
              <a:rPr lang="en-US" b="1" dirty="0">
                <a:solidFill>
                  <a:srgbClr val="C00000"/>
                </a:solidFill>
              </a:rPr>
              <a:t>addresses uncertainties in life and business, such as illness, death, asset destruction, and damage</a:t>
            </a:r>
            <a:r>
              <a:rPr lang="en-US" dirty="0">
                <a:solidFill>
                  <a:srgbClr val="C00000"/>
                </a:solidFill>
              </a:rPr>
              <a:t> </a:t>
            </a:r>
            <a:r>
              <a:rPr lang="en-US" dirty="0"/>
              <a:t>during transportation, allowing individuals or entities to manage these risks.</a:t>
            </a:r>
            <a:endParaRPr lang="en-IN" dirty="0"/>
          </a:p>
        </p:txBody>
      </p:sp>
    </p:spTree>
    <p:extLst>
      <p:ext uri="{BB962C8B-B14F-4D97-AF65-F5344CB8AC3E}">
        <p14:creationId xmlns:p14="http://schemas.microsoft.com/office/powerpoint/2010/main" val="416803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ym typeface="+mn-ea"/>
              </a:rPr>
              <a:t>Role of Insurance</a:t>
            </a:r>
            <a:endParaRPr lang="en-IN" dirty="0"/>
          </a:p>
        </p:txBody>
      </p:sp>
      <p:sp>
        <p:nvSpPr>
          <p:cNvPr id="5" name="Content Placeholder 4"/>
          <p:cNvSpPr>
            <a:spLocks noGrp="1"/>
          </p:cNvSpPr>
          <p:nvPr>
            <p:ph idx="1"/>
          </p:nvPr>
        </p:nvSpPr>
        <p:spPr/>
        <p:txBody>
          <a:bodyPr/>
          <a:lstStyle/>
          <a:p>
            <a:endParaRPr lang="en-US" b="1" dirty="0"/>
          </a:p>
          <a:p>
            <a:endParaRPr lang="en-US" b="1" dirty="0"/>
          </a:p>
          <a:p>
            <a:endParaRPr lang="en-US" b="1" dirty="0"/>
          </a:p>
          <a:p>
            <a:endParaRPr lang="en-US" b="1" dirty="0"/>
          </a:p>
          <a:p>
            <a:endParaRPr lang="en-US" b="1" dirty="0"/>
          </a:p>
        </p:txBody>
      </p:sp>
      <p:graphicFrame>
        <p:nvGraphicFramePr>
          <p:cNvPr id="2" name="Diagram 1"/>
          <p:cNvGraphicFramePr/>
          <p:nvPr/>
        </p:nvGraphicFramePr>
        <p:xfrm>
          <a:off x="-1" y="711201"/>
          <a:ext cx="11538409"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608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30BFB9E8-462C-400B-B868-FD6E58D17B23}"/>
                                            </p:graphicEl>
                                          </p:spTgt>
                                        </p:tgtEl>
                                        <p:attrNameLst>
                                          <p:attrName>style.visibility</p:attrName>
                                        </p:attrNameLst>
                                      </p:cBhvr>
                                      <p:to>
                                        <p:strVal val="visible"/>
                                      </p:to>
                                    </p:set>
                                    <p:animEffect transition="in" filter="fade">
                                      <p:cBhvr>
                                        <p:cTn id="7" dur="500"/>
                                        <p:tgtEl>
                                          <p:spTgt spid="2">
                                            <p:graphicEl>
                                              <a:dgm id="{30BFB9E8-462C-400B-B868-FD6E58D17B23}"/>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graphicEl>
                                              <a:dgm id="{80C3CF91-4DAE-4CAA-892A-22AC26EBD0B1}"/>
                                            </p:graphicEl>
                                          </p:spTgt>
                                        </p:tgtEl>
                                        <p:attrNameLst>
                                          <p:attrName>style.visibility</p:attrName>
                                        </p:attrNameLst>
                                      </p:cBhvr>
                                      <p:to>
                                        <p:strVal val="visible"/>
                                      </p:to>
                                    </p:set>
                                    <p:animEffect transition="in" filter="fade">
                                      <p:cBhvr>
                                        <p:cTn id="10" dur="500"/>
                                        <p:tgtEl>
                                          <p:spTgt spid="2">
                                            <p:graphicEl>
                                              <a:dgm id="{80C3CF91-4DAE-4CAA-892A-22AC26EBD0B1}"/>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graphicEl>
                                              <a:dgm id="{33020116-68FA-4B75-8BD6-40DE4D95D50A}"/>
                                            </p:graphicEl>
                                          </p:spTgt>
                                        </p:tgtEl>
                                        <p:attrNameLst>
                                          <p:attrName>style.visibility</p:attrName>
                                        </p:attrNameLst>
                                      </p:cBhvr>
                                      <p:to>
                                        <p:strVal val="visible"/>
                                      </p:to>
                                    </p:set>
                                    <p:animEffect transition="in" filter="fade">
                                      <p:cBhvr>
                                        <p:cTn id="13" dur="500"/>
                                        <p:tgtEl>
                                          <p:spTgt spid="2">
                                            <p:graphicEl>
                                              <a:dgm id="{33020116-68FA-4B75-8BD6-40DE4D95D50A}"/>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graphicEl>
                                              <a:dgm id="{F3D36274-2167-4EB8-AF94-DD9FEF25515F}"/>
                                            </p:graphicEl>
                                          </p:spTgt>
                                        </p:tgtEl>
                                        <p:attrNameLst>
                                          <p:attrName>style.visibility</p:attrName>
                                        </p:attrNameLst>
                                      </p:cBhvr>
                                      <p:to>
                                        <p:strVal val="visible"/>
                                      </p:to>
                                    </p:set>
                                    <p:animEffect transition="in" filter="fade">
                                      <p:cBhvr>
                                        <p:cTn id="18" dur="500"/>
                                        <p:tgtEl>
                                          <p:spTgt spid="2">
                                            <p:graphicEl>
                                              <a:dgm id="{F3D36274-2167-4EB8-AF94-DD9FEF25515F}"/>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graphicEl>
                                              <a:dgm id="{79FC1697-08E9-4873-8335-C4ECA382D1CC}"/>
                                            </p:graphicEl>
                                          </p:spTgt>
                                        </p:tgtEl>
                                        <p:attrNameLst>
                                          <p:attrName>style.visibility</p:attrName>
                                        </p:attrNameLst>
                                      </p:cBhvr>
                                      <p:to>
                                        <p:strVal val="visible"/>
                                      </p:to>
                                    </p:set>
                                    <p:animEffect transition="in" filter="fade">
                                      <p:cBhvr>
                                        <p:cTn id="21" dur="500"/>
                                        <p:tgtEl>
                                          <p:spTgt spid="2">
                                            <p:graphicEl>
                                              <a:dgm id="{79FC1697-08E9-4873-8335-C4ECA382D1CC}"/>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
                                            <p:graphicEl>
                                              <a:dgm id="{0CC9E902-A03D-44E4-9F43-182A63F8C038}"/>
                                            </p:graphicEl>
                                          </p:spTgt>
                                        </p:tgtEl>
                                        <p:attrNameLst>
                                          <p:attrName>style.visibility</p:attrName>
                                        </p:attrNameLst>
                                      </p:cBhvr>
                                      <p:to>
                                        <p:strVal val="visible"/>
                                      </p:to>
                                    </p:set>
                                    <p:animEffect transition="in" filter="fade">
                                      <p:cBhvr>
                                        <p:cTn id="26" dur="500"/>
                                        <p:tgtEl>
                                          <p:spTgt spid="2">
                                            <p:graphicEl>
                                              <a:dgm id="{0CC9E902-A03D-44E4-9F43-182A63F8C038}"/>
                                            </p:graphic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
                                            <p:graphicEl>
                                              <a:dgm id="{50817225-DFEE-4662-8F10-241301302562}"/>
                                            </p:graphicEl>
                                          </p:spTgt>
                                        </p:tgtEl>
                                        <p:attrNameLst>
                                          <p:attrName>style.visibility</p:attrName>
                                        </p:attrNameLst>
                                      </p:cBhvr>
                                      <p:to>
                                        <p:strVal val="visible"/>
                                      </p:to>
                                    </p:set>
                                    <p:animEffect transition="in" filter="fade">
                                      <p:cBhvr>
                                        <p:cTn id="29" dur="500"/>
                                        <p:tgtEl>
                                          <p:spTgt spid="2">
                                            <p:graphicEl>
                                              <a:dgm id="{50817225-DFEE-4662-8F10-241301302562}"/>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
                                            <p:graphicEl>
                                              <a:dgm id="{C5994692-AB49-42AD-91EE-E9D053FE7A6D}"/>
                                            </p:graphicEl>
                                          </p:spTgt>
                                        </p:tgtEl>
                                        <p:attrNameLst>
                                          <p:attrName>style.visibility</p:attrName>
                                        </p:attrNameLst>
                                      </p:cBhvr>
                                      <p:to>
                                        <p:strVal val="visible"/>
                                      </p:to>
                                    </p:set>
                                    <p:animEffect transition="in" filter="fade">
                                      <p:cBhvr>
                                        <p:cTn id="34" dur="500"/>
                                        <p:tgtEl>
                                          <p:spTgt spid="2">
                                            <p:graphicEl>
                                              <a:dgm id="{C5994692-AB49-42AD-91EE-E9D053FE7A6D}"/>
                                            </p:graphic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
                                            <p:graphicEl>
                                              <a:dgm id="{7A5CA38E-7BAF-4C34-8822-A4C8725A6867}"/>
                                            </p:graphicEl>
                                          </p:spTgt>
                                        </p:tgtEl>
                                        <p:attrNameLst>
                                          <p:attrName>style.visibility</p:attrName>
                                        </p:attrNameLst>
                                      </p:cBhvr>
                                      <p:to>
                                        <p:strVal val="visible"/>
                                      </p:to>
                                    </p:set>
                                    <p:animEffect transition="in" filter="fade">
                                      <p:cBhvr>
                                        <p:cTn id="37" dur="500"/>
                                        <p:tgtEl>
                                          <p:spTgt spid="2">
                                            <p:graphicEl>
                                              <a:dgm id="{7A5CA38E-7BAF-4C34-8822-A4C8725A6867}"/>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graphicEl>
                                              <a:dgm id="{23C61BA5-B403-48B9-B1C4-273399E42E6C}"/>
                                            </p:graphicEl>
                                          </p:spTgt>
                                        </p:tgtEl>
                                        <p:attrNameLst>
                                          <p:attrName>style.visibility</p:attrName>
                                        </p:attrNameLst>
                                      </p:cBhvr>
                                      <p:to>
                                        <p:strVal val="visible"/>
                                      </p:to>
                                    </p:set>
                                    <p:animEffect transition="in" filter="fade">
                                      <p:cBhvr>
                                        <p:cTn id="42" dur="500"/>
                                        <p:tgtEl>
                                          <p:spTgt spid="2">
                                            <p:graphicEl>
                                              <a:dgm id="{23C61BA5-B403-48B9-B1C4-273399E42E6C}"/>
                                            </p:graphic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
                                            <p:graphicEl>
                                              <a:dgm id="{2D2E1EF0-82E2-4069-AE01-54743B7150F5}"/>
                                            </p:graphicEl>
                                          </p:spTgt>
                                        </p:tgtEl>
                                        <p:attrNameLst>
                                          <p:attrName>style.visibility</p:attrName>
                                        </p:attrNameLst>
                                      </p:cBhvr>
                                      <p:to>
                                        <p:strVal val="visible"/>
                                      </p:to>
                                    </p:set>
                                    <p:animEffect transition="in" filter="fade">
                                      <p:cBhvr>
                                        <p:cTn id="45" dur="500"/>
                                        <p:tgtEl>
                                          <p:spTgt spid="2">
                                            <p:graphicEl>
                                              <a:dgm id="{2D2E1EF0-82E2-4069-AE01-54743B7150F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ym typeface="+mn-ea"/>
              </a:rPr>
              <a:t>Role of Insurance</a:t>
            </a:r>
            <a:endParaRPr lang="en-IN" dirty="0"/>
          </a:p>
        </p:txBody>
      </p:sp>
      <p:sp>
        <p:nvSpPr>
          <p:cNvPr id="5" name="Content Placeholder 4"/>
          <p:cNvSpPr>
            <a:spLocks noGrp="1"/>
          </p:cNvSpPr>
          <p:nvPr>
            <p:ph idx="1"/>
          </p:nvPr>
        </p:nvSpPr>
        <p:spPr/>
        <p:txBody>
          <a:bodyPr/>
          <a:lstStyle/>
          <a:p>
            <a:r>
              <a:rPr lang="en-US" b="1" dirty="0"/>
              <a:t>Provides Safety and Security to Individuals and Businesses</a:t>
            </a:r>
          </a:p>
          <a:p>
            <a:pPr lvl="1"/>
            <a:r>
              <a:rPr lang="en-US" dirty="0"/>
              <a:t>Insurance provides financial support and reduces </a:t>
            </a:r>
            <a:r>
              <a:rPr lang="en-US" b="1" dirty="0">
                <a:solidFill>
                  <a:srgbClr val="C00000"/>
                </a:solidFill>
              </a:rPr>
              <a:t>uncertainties that individuals and businesses face</a:t>
            </a:r>
            <a:r>
              <a:rPr lang="en-US" b="1" dirty="0">
                <a:solidFill>
                  <a:srgbClr val="D10233"/>
                </a:solidFill>
              </a:rPr>
              <a:t> </a:t>
            </a:r>
            <a:r>
              <a:rPr lang="en-US" dirty="0"/>
              <a:t>at every step of their lifecycles.</a:t>
            </a:r>
          </a:p>
          <a:p>
            <a:pPr lvl="1"/>
            <a:r>
              <a:rPr lang="en-US" dirty="0"/>
              <a:t>Insurance provides an </a:t>
            </a:r>
            <a:r>
              <a:rPr lang="en-US" b="1" dirty="0">
                <a:solidFill>
                  <a:srgbClr val="C00000"/>
                </a:solidFill>
              </a:rPr>
              <a:t>ideal risk mitigation mechanism </a:t>
            </a:r>
            <a:r>
              <a:rPr lang="en-US" dirty="0"/>
              <a:t>against events that can potentially cause financial distress to individuals and businesses. </a:t>
            </a:r>
          </a:p>
          <a:p>
            <a:pPr lvl="1"/>
            <a:r>
              <a:rPr lang="en-US" dirty="0"/>
              <a:t>For example</a:t>
            </a:r>
          </a:p>
          <a:p>
            <a:pPr lvl="2"/>
            <a:r>
              <a:rPr lang="en-US" b="1" dirty="0">
                <a:solidFill>
                  <a:srgbClr val="C00000"/>
                </a:solidFill>
              </a:rPr>
              <a:t>These days cost of any medical treatment is increased </a:t>
            </a:r>
            <a:r>
              <a:rPr lang="en-US" dirty="0"/>
              <a:t>as compared to earlier days due to better facilities. </a:t>
            </a:r>
          </a:p>
          <a:p>
            <a:pPr lvl="2"/>
            <a:r>
              <a:rPr lang="en-US" dirty="0"/>
              <a:t>Without medical insurance </a:t>
            </a:r>
            <a:r>
              <a:rPr lang="en-US" b="1" dirty="0">
                <a:solidFill>
                  <a:srgbClr val="C00000"/>
                </a:solidFill>
              </a:rPr>
              <a:t>a simple medical procedures cost enough to disturb a family’s well-calculated budget</a:t>
            </a:r>
            <a:r>
              <a:rPr lang="en-US" dirty="0"/>
              <a:t>, but a Health Insurance would ensure financial security for the family. </a:t>
            </a:r>
          </a:p>
          <a:p>
            <a:pPr lvl="1"/>
            <a:r>
              <a:rPr lang="en-US" dirty="0"/>
              <a:t>In case of </a:t>
            </a:r>
            <a:r>
              <a:rPr lang="en-US" b="1" dirty="0">
                <a:solidFill>
                  <a:srgbClr val="C00000"/>
                </a:solidFill>
              </a:rPr>
              <a:t>business insurance</a:t>
            </a:r>
            <a:r>
              <a:rPr lang="en-US" dirty="0"/>
              <a:t>, financial compensation is provided against financial loss due to fire, theft, mishaps related to marine activities, </a:t>
            </a:r>
            <a:r>
              <a:rPr lang="en-IN" dirty="0"/>
              <a:t>other accidents etc.</a:t>
            </a:r>
          </a:p>
        </p:txBody>
      </p:sp>
    </p:spTree>
    <p:extLst>
      <p:ext uri="{BB962C8B-B14F-4D97-AF65-F5344CB8AC3E}">
        <p14:creationId xmlns:p14="http://schemas.microsoft.com/office/powerpoint/2010/main" val="254337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ym typeface="+mn-ea"/>
              </a:rPr>
              <a:t>Role of Insurance</a:t>
            </a:r>
            <a:endParaRPr lang="en-IN" dirty="0"/>
          </a:p>
        </p:txBody>
      </p:sp>
      <p:sp>
        <p:nvSpPr>
          <p:cNvPr id="5" name="Content Placeholder 4"/>
          <p:cNvSpPr>
            <a:spLocks noGrp="1"/>
          </p:cNvSpPr>
          <p:nvPr>
            <p:ph idx="1"/>
          </p:nvPr>
        </p:nvSpPr>
        <p:spPr/>
        <p:txBody>
          <a:bodyPr/>
          <a:lstStyle/>
          <a:p>
            <a:r>
              <a:rPr lang="en-US" b="1" dirty="0"/>
              <a:t>Generates Long-term Financial Resources</a:t>
            </a:r>
          </a:p>
          <a:p>
            <a:pPr lvl="1"/>
            <a:r>
              <a:rPr lang="en-US" dirty="0"/>
              <a:t>The Insurance </a:t>
            </a:r>
            <a:r>
              <a:rPr lang="en-US" b="1" dirty="0">
                <a:solidFill>
                  <a:srgbClr val="C00000"/>
                </a:solidFill>
              </a:rPr>
              <a:t>sector generates funds by way of premiums from millions of policyholders. </a:t>
            </a:r>
            <a:r>
              <a:rPr lang="en-US" dirty="0"/>
              <a:t>Due to the long-term nature of these funds, </a:t>
            </a:r>
            <a:r>
              <a:rPr lang="en-US" b="1" dirty="0">
                <a:solidFill>
                  <a:srgbClr val="C00000"/>
                </a:solidFill>
              </a:rPr>
              <a:t>these are invested in building long-term infrastructure assets</a:t>
            </a:r>
            <a:r>
              <a:rPr lang="en-US" dirty="0"/>
              <a:t> (such as roads, ports, power plants, dams, etc.) that are significant to nation-building. </a:t>
            </a:r>
          </a:p>
          <a:p>
            <a:pPr lvl="1"/>
            <a:r>
              <a:rPr lang="en-US" b="1" dirty="0">
                <a:solidFill>
                  <a:srgbClr val="C00000"/>
                </a:solidFill>
              </a:rPr>
              <a:t>Employment</a:t>
            </a:r>
            <a:r>
              <a:rPr lang="en-US" dirty="0"/>
              <a:t> opportunities are increased by big investments leading to capital formation in the economy.</a:t>
            </a:r>
          </a:p>
          <a:p>
            <a:r>
              <a:rPr lang="en-US" b="1" dirty="0"/>
              <a:t>Promotes Economic Growth</a:t>
            </a:r>
          </a:p>
          <a:p>
            <a:pPr lvl="1"/>
            <a:r>
              <a:rPr lang="en-US" dirty="0"/>
              <a:t>Insurance convert the accumulated capital collected as premium into </a:t>
            </a:r>
            <a:r>
              <a:rPr lang="en-US" b="1" dirty="0">
                <a:solidFill>
                  <a:srgbClr val="C00000"/>
                </a:solidFill>
              </a:rPr>
              <a:t>productive investments. </a:t>
            </a:r>
          </a:p>
          <a:p>
            <a:pPr lvl="1"/>
            <a:r>
              <a:rPr lang="en-US" dirty="0"/>
              <a:t>Insurance also enables </a:t>
            </a:r>
            <a:r>
              <a:rPr lang="en-US" b="1" dirty="0">
                <a:solidFill>
                  <a:srgbClr val="C00000"/>
                </a:solidFill>
              </a:rPr>
              <a:t>mitigation of losses, financial stability and promotes trade and commerce activities</a:t>
            </a:r>
            <a:r>
              <a:rPr lang="en-US" dirty="0">
                <a:solidFill>
                  <a:srgbClr val="C00000"/>
                </a:solidFill>
              </a:rPr>
              <a:t> </a:t>
            </a:r>
            <a:r>
              <a:rPr lang="en-US" dirty="0"/>
              <a:t>those results into sustainable economic growth and development. Thus, insurance plays a crucial role in the sustainable growth of an economy of the </a:t>
            </a:r>
            <a:r>
              <a:rPr lang="en-IN" dirty="0"/>
              <a:t>Country.</a:t>
            </a:r>
          </a:p>
        </p:txBody>
      </p:sp>
    </p:spTree>
    <p:extLst>
      <p:ext uri="{BB962C8B-B14F-4D97-AF65-F5344CB8AC3E}">
        <p14:creationId xmlns:p14="http://schemas.microsoft.com/office/powerpoint/2010/main" val="288410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ym typeface="+mn-ea"/>
              </a:rPr>
              <a:t>Role of Insurance</a:t>
            </a:r>
            <a:endParaRPr lang="en-IN" dirty="0"/>
          </a:p>
        </p:txBody>
      </p:sp>
      <p:sp>
        <p:nvSpPr>
          <p:cNvPr id="5" name="Content Placeholder 4"/>
          <p:cNvSpPr>
            <a:spLocks noGrp="1"/>
          </p:cNvSpPr>
          <p:nvPr>
            <p:ph idx="1"/>
          </p:nvPr>
        </p:nvSpPr>
        <p:spPr/>
        <p:txBody>
          <a:bodyPr/>
          <a:lstStyle/>
          <a:p>
            <a:r>
              <a:rPr lang="en-US" b="1" dirty="0"/>
              <a:t>Provides Support to Families during Medical Emergencies</a:t>
            </a:r>
          </a:p>
          <a:p>
            <a:pPr lvl="1"/>
            <a:r>
              <a:rPr lang="en-US" dirty="0"/>
              <a:t>Family members' health is crucial, with </a:t>
            </a:r>
            <a:r>
              <a:rPr lang="en-US" b="1" dirty="0">
                <a:solidFill>
                  <a:srgbClr val="C00000"/>
                </a:solidFill>
              </a:rPr>
              <a:t>medication and hospitalization playing a significant role. </a:t>
            </a:r>
          </a:p>
          <a:p>
            <a:pPr lvl="1"/>
            <a:r>
              <a:rPr lang="en-US" dirty="0"/>
              <a:t>Medical insurance protects individuals financially against health risks, providing financial support in case of medical emergencies. </a:t>
            </a:r>
            <a:r>
              <a:rPr lang="en-US" b="1" dirty="0">
                <a:solidFill>
                  <a:srgbClr val="C00000"/>
                </a:solidFill>
              </a:rPr>
              <a:t>Unpreparedness can lead to increased costs and unexpected illnesses.</a:t>
            </a:r>
          </a:p>
          <a:p>
            <a:r>
              <a:rPr lang="en-US" b="1" dirty="0"/>
              <a:t>Spreads Risk</a:t>
            </a:r>
          </a:p>
          <a:p>
            <a:pPr lvl="1"/>
            <a:r>
              <a:rPr lang="en-US" dirty="0"/>
              <a:t>The </a:t>
            </a:r>
            <a:r>
              <a:rPr lang="en-US" b="1" dirty="0">
                <a:solidFill>
                  <a:srgbClr val="C00000"/>
                </a:solidFill>
              </a:rPr>
              <a:t>risk of loss is transferred from the insured to the insurer</a:t>
            </a:r>
            <a:r>
              <a:rPr lang="en-US" dirty="0"/>
              <a:t>. The basic principle of insurance is to spread risk among a large number of people. </a:t>
            </a:r>
          </a:p>
          <a:p>
            <a:pPr lvl="1"/>
            <a:r>
              <a:rPr lang="en-US" dirty="0"/>
              <a:t>A large population gets insurance policies and pay premium to the insurer. Whenever a loss occurs, it is </a:t>
            </a:r>
            <a:r>
              <a:rPr lang="en-US" b="1" dirty="0">
                <a:solidFill>
                  <a:srgbClr val="C00000"/>
                </a:solidFill>
              </a:rPr>
              <a:t>compensated out of corpus of funds </a:t>
            </a:r>
            <a:r>
              <a:rPr lang="en-US" dirty="0"/>
              <a:t>collected from the millions of policyholders.</a:t>
            </a:r>
            <a:endParaRPr lang="en-IN" dirty="0"/>
          </a:p>
        </p:txBody>
      </p:sp>
    </p:spTree>
    <p:extLst>
      <p:ext uri="{BB962C8B-B14F-4D97-AF65-F5344CB8AC3E}">
        <p14:creationId xmlns:p14="http://schemas.microsoft.com/office/powerpoint/2010/main" val="142121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Insurance Regulatory &amp; Development Authority (IRDA)</a:t>
            </a:r>
          </a:p>
        </p:txBody>
      </p:sp>
    </p:spTree>
    <p:extLst>
      <p:ext uri="{BB962C8B-B14F-4D97-AF65-F5344CB8AC3E}">
        <p14:creationId xmlns:p14="http://schemas.microsoft.com/office/powerpoint/2010/main" val="3830421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Duties, Powers and Functions of IRDAI</a:t>
            </a:r>
            <a:endParaRPr lang="en-IN" dirty="0"/>
          </a:p>
        </p:txBody>
      </p:sp>
      <p:sp>
        <p:nvSpPr>
          <p:cNvPr id="5" name="Content Placeholder 4"/>
          <p:cNvSpPr>
            <a:spLocks noGrp="1"/>
          </p:cNvSpPr>
          <p:nvPr>
            <p:ph idx="1"/>
          </p:nvPr>
        </p:nvSpPr>
        <p:spPr/>
        <p:txBody>
          <a:bodyPr/>
          <a:lstStyle/>
          <a:p>
            <a:r>
              <a:rPr lang="en-US" dirty="0"/>
              <a:t>Section 14 of IRDAI Act, 1999 lays down the duties, powers and functions of IRDAI.</a:t>
            </a:r>
          </a:p>
          <a:p>
            <a:r>
              <a:rPr lang="en-US" dirty="0"/>
              <a:t>The Authority shall have the duty to regulate, promote and ensure orderly growth of the insurance business and re-insurance business.</a:t>
            </a:r>
          </a:p>
          <a:p>
            <a:pPr marL="514350" indent="-514350">
              <a:buFont typeface="+mj-lt"/>
              <a:buAutoNum type="alphaLcPeriod"/>
            </a:pPr>
            <a:r>
              <a:rPr lang="en-US" dirty="0"/>
              <a:t>Issue to the applicant a </a:t>
            </a:r>
            <a:r>
              <a:rPr lang="en-US" b="1" dirty="0">
                <a:solidFill>
                  <a:srgbClr val="C00000"/>
                </a:solidFill>
              </a:rPr>
              <a:t>certificate of registration, renew, modify, withdraw, suspend or cancel </a:t>
            </a:r>
            <a:r>
              <a:rPr lang="en-US" dirty="0"/>
              <a:t>such registration.</a:t>
            </a:r>
          </a:p>
          <a:p>
            <a:pPr marL="514350" indent="-514350">
              <a:buFont typeface="+mj-lt"/>
              <a:buAutoNum type="alphaLcPeriod"/>
            </a:pPr>
            <a:r>
              <a:rPr lang="en-US" b="1" dirty="0">
                <a:solidFill>
                  <a:srgbClr val="C00000"/>
                </a:solidFill>
              </a:rPr>
              <a:t>Protection of the interests of the policy holders</a:t>
            </a:r>
            <a:r>
              <a:rPr lang="en-US" dirty="0"/>
              <a:t> in matters concerning assigning of policy, nomination by policy holders, insurable interest, settlement of insurance claim, surrender value of policy and other terms and conditions of contracts of insurance.</a:t>
            </a:r>
          </a:p>
          <a:p>
            <a:pPr marL="514350" indent="-514350">
              <a:buFont typeface="+mj-lt"/>
              <a:buAutoNum type="alphaLcPeriod"/>
            </a:pPr>
            <a:r>
              <a:rPr lang="en-US" dirty="0"/>
              <a:t>Specifying </a:t>
            </a:r>
            <a:r>
              <a:rPr lang="en-US" b="1" dirty="0">
                <a:solidFill>
                  <a:srgbClr val="C00000"/>
                </a:solidFill>
              </a:rPr>
              <a:t>requisite qualifications, code of conduct and practical training</a:t>
            </a:r>
            <a:r>
              <a:rPr lang="en-US" dirty="0"/>
              <a:t> for intermediary or insurance intermediaries and agents.</a:t>
            </a:r>
          </a:p>
          <a:p>
            <a:pPr marL="514350" indent="-514350">
              <a:buFont typeface="+mj-lt"/>
              <a:buAutoNum type="alphaLcPeriod"/>
            </a:pPr>
            <a:r>
              <a:rPr lang="en-US" dirty="0"/>
              <a:t>Specifying the </a:t>
            </a:r>
            <a:r>
              <a:rPr lang="en-US" b="1" dirty="0">
                <a:solidFill>
                  <a:srgbClr val="C00000"/>
                </a:solidFill>
              </a:rPr>
              <a:t>code of conduct for surveyors and loss assessors</a:t>
            </a:r>
            <a:r>
              <a:rPr lang="en-US" dirty="0"/>
              <a:t>.</a:t>
            </a:r>
            <a:endParaRPr lang="en-IN" dirty="0"/>
          </a:p>
        </p:txBody>
      </p:sp>
    </p:spTree>
    <p:extLst>
      <p:ext uri="{BB962C8B-B14F-4D97-AF65-F5344CB8AC3E}">
        <p14:creationId xmlns:p14="http://schemas.microsoft.com/office/powerpoint/2010/main" val="3764750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514350" indent="-514350">
              <a:buFont typeface="+mj-lt"/>
              <a:buAutoNum type="alphaLcPeriod" startAt="5"/>
            </a:pPr>
            <a:r>
              <a:rPr lang="en-US" dirty="0"/>
              <a:t>Promoting </a:t>
            </a:r>
            <a:r>
              <a:rPr lang="en-US" b="1" dirty="0">
                <a:solidFill>
                  <a:srgbClr val="C00000"/>
                </a:solidFill>
              </a:rPr>
              <a:t>efficiency in the conduct</a:t>
            </a:r>
            <a:r>
              <a:rPr lang="en-US" dirty="0"/>
              <a:t> of insurance business.</a:t>
            </a:r>
          </a:p>
          <a:p>
            <a:pPr marL="514350" indent="-514350">
              <a:buFont typeface="+mj-lt"/>
              <a:buAutoNum type="alphaLcPeriod" startAt="5"/>
            </a:pPr>
            <a:r>
              <a:rPr lang="en-US" b="1" dirty="0">
                <a:solidFill>
                  <a:srgbClr val="C00000"/>
                </a:solidFill>
              </a:rPr>
              <a:t>Promoting and regulating </a:t>
            </a:r>
            <a:r>
              <a:rPr lang="en-US" dirty="0"/>
              <a:t>professional </a:t>
            </a:r>
            <a:r>
              <a:rPr lang="en-US" dirty="0" err="1"/>
              <a:t>organisations</a:t>
            </a:r>
            <a:r>
              <a:rPr lang="en-US" dirty="0"/>
              <a:t> connected with the insurance and re-insurance business.</a:t>
            </a:r>
          </a:p>
          <a:p>
            <a:pPr marL="514350" indent="-514350">
              <a:buFont typeface="+mj-lt"/>
              <a:buAutoNum type="alphaLcPeriod" startAt="5"/>
            </a:pPr>
            <a:r>
              <a:rPr lang="en-US" b="1" dirty="0">
                <a:solidFill>
                  <a:srgbClr val="C00000"/>
                </a:solidFill>
              </a:rPr>
              <a:t>Levying fees and other charges for carrying out the purposes </a:t>
            </a:r>
            <a:r>
              <a:rPr lang="en-US" dirty="0"/>
              <a:t>of this Act.</a:t>
            </a:r>
          </a:p>
          <a:p>
            <a:pPr marL="514350" indent="-514350">
              <a:buFont typeface="+mj-lt"/>
              <a:buAutoNum type="alphaLcPeriod" startAt="5"/>
            </a:pPr>
            <a:r>
              <a:rPr lang="en-US" dirty="0"/>
              <a:t>Calling for information from, </a:t>
            </a:r>
            <a:r>
              <a:rPr lang="en-US" b="1" dirty="0">
                <a:solidFill>
                  <a:srgbClr val="C00000"/>
                </a:solidFill>
              </a:rPr>
              <a:t>undertaking inspection of, conducting enquiries and investigations</a:t>
            </a:r>
            <a:r>
              <a:rPr lang="en-US" dirty="0"/>
              <a:t> including audit of the insurers, intermediaries, insurance intermediaries and other </a:t>
            </a:r>
            <a:r>
              <a:rPr lang="en-US" dirty="0" err="1"/>
              <a:t>organisations</a:t>
            </a:r>
            <a:r>
              <a:rPr lang="en-US" dirty="0"/>
              <a:t> connected with the insurance business.</a:t>
            </a:r>
          </a:p>
          <a:p>
            <a:pPr marL="514350" indent="-514350">
              <a:buFont typeface="+mj-lt"/>
              <a:buAutoNum type="alphaLcPeriod" startAt="5"/>
            </a:pPr>
            <a:r>
              <a:rPr lang="en-US" b="1" dirty="0">
                <a:solidFill>
                  <a:srgbClr val="C00000"/>
                </a:solidFill>
              </a:rPr>
              <a:t>Control and regulation of the rates, advantages, terms and conditions</a:t>
            </a:r>
            <a:r>
              <a:rPr lang="en-US" dirty="0"/>
              <a:t> that may be offered by insurers in respect of general insurance business not so controlled and regulated by the Tariff Advisory Committee under section 64U of the Insurance Act, 1938 (4 of 1938).</a:t>
            </a:r>
          </a:p>
          <a:p>
            <a:pPr marL="514350" indent="-514350">
              <a:buFont typeface="+mj-lt"/>
              <a:buAutoNum type="alphaLcPeriod" startAt="5"/>
            </a:pPr>
            <a:r>
              <a:rPr lang="en-US" dirty="0"/>
              <a:t>Specifying </a:t>
            </a:r>
            <a:r>
              <a:rPr lang="en-US" b="1" dirty="0">
                <a:solidFill>
                  <a:srgbClr val="C00000"/>
                </a:solidFill>
              </a:rPr>
              <a:t>the form and manner in which books of account shall be maintained </a:t>
            </a:r>
            <a:r>
              <a:rPr lang="en-US" dirty="0"/>
              <a:t>and statement of accounts shall be rendered.</a:t>
            </a:r>
            <a:endParaRPr lang="en-IN" dirty="0"/>
          </a:p>
        </p:txBody>
      </p:sp>
      <p:sp>
        <p:nvSpPr>
          <p:cNvPr id="4" name="Title 3"/>
          <p:cNvSpPr>
            <a:spLocks noGrp="1"/>
          </p:cNvSpPr>
          <p:nvPr>
            <p:ph type="title"/>
          </p:nvPr>
        </p:nvSpPr>
        <p:spPr/>
        <p:txBody>
          <a:bodyPr>
            <a:normAutofit/>
          </a:bodyPr>
          <a:lstStyle/>
          <a:p>
            <a:r>
              <a:rPr lang="en-US" sz="3400" b="1" dirty="0"/>
              <a:t>Duties, Powers and Functions of IRDAI</a:t>
            </a:r>
            <a:endParaRPr lang="en-IN" sz="3400" b="1" dirty="0"/>
          </a:p>
        </p:txBody>
      </p:sp>
    </p:spTree>
    <p:extLst>
      <p:ext uri="{BB962C8B-B14F-4D97-AF65-F5344CB8AC3E}">
        <p14:creationId xmlns:p14="http://schemas.microsoft.com/office/powerpoint/2010/main" val="35642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514350" indent="-514350">
              <a:buFont typeface="+mj-lt"/>
              <a:buAutoNum type="alphaLcPeriod" startAt="11"/>
            </a:pPr>
            <a:r>
              <a:rPr lang="en-US" dirty="0"/>
              <a:t>Regulating</a:t>
            </a:r>
            <a:r>
              <a:rPr lang="en-US" b="1" dirty="0">
                <a:solidFill>
                  <a:srgbClr val="C00000"/>
                </a:solidFill>
              </a:rPr>
              <a:t> investment of funds</a:t>
            </a:r>
            <a:r>
              <a:rPr lang="en-US" dirty="0"/>
              <a:t> by insurance companies.</a:t>
            </a:r>
          </a:p>
          <a:p>
            <a:pPr marL="514350" indent="-514350">
              <a:buFont typeface="+mj-lt"/>
              <a:buAutoNum type="alphaLcPeriod" startAt="11"/>
            </a:pPr>
            <a:r>
              <a:rPr lang="en-US" dirty="0"/>
              <a:t>Regulating </a:t>
            </a:r>
            <a:r>
              <a:rPr lang="en-US" b="1" dirty="0">
                <a:solidFill>
                  <a:srgbClr val="C00000"/>
                </a:solidFill>
              </a:rPr>
              <a:t>maintenance of margin of solvency</a:t>
            </a:r>
            <a:r>
              <a:rPr lang="en-US" dirty="0"/>
              <a:t>.</a:t>
            </a:r>
          </a:p>
          <a:p>
            <a:pPr marL="514350" indent="-514350">
              <a:buFont typeface="+mj-lt"/>
              <a:buAutoNum type="alphaLcPeriod" startAt="11"/>
            </a:pPr>
            <a:r>
              <a:rPr lang="en-US" dirty="0"/>
              <a:t>Adjudication of </a:t>
            </a:r>
            <a:r>
              <a:rPr lang="en-US" b="1" dirty="0">
                <a:solidFill>
                  <a:srgbClr val="C00000"/>
                </a:solidFill>
              </a:rPr>
              <a:t>disputes</a:t>
            </a:r>
            <a:r>
              <a:rPr lang="en-US" dirty="0"/>
              <a:t> between insurers and intermediaries or insurance intermediaries.</a:t>
            </a:r>
          </a:p>
          <a:p>
            <a:pPr marL="514350" indent="-514350">
              <a:buFont typeface="+mj-lt"/>
              <a:buAutoNum type="alphaLcPeriod" startAt="11"/>
            </a:pPr>
            <a:r>
              <a:rPr lang="en-US" dirty="0"/>
              <a:t>Supervising </a:t>
            </a:r>
            <a:r>
              <a:rPr lang="en-US" b="1" dirty="0">
                <a:solidFill>
                  <a:srgbClr val="C00000"/>
                </a:solidFill>
              </a:rPr>
              <a:t>the functioning of the Tariff Advisory Committee.</a:t>
            </a:r>
          </a:p>
          <a:p>
            <a:pPr marL="514350" indent="-514350">
              <a:buFont typeface="+mj-lt"/>
              <a:buAutoNum type="alphaLcPeriod" startAt="11"/>
            </a:pPr>
            <a:r>
              <a:rPr lang="en-US" dirty="0"/>
              <a:t>Specifying the </a:t>
            </a:r>
            <a:r>
              <a:rPr lang="en-US" b="1" dirty="0">
                <a:solidFill>
                  <a:srgbClr val="C00000"/>
                </a:solidFill>
              </a:rPr>
              <a:t>percentage of premium income of the insurer </a:t>
            </a:r>
            <a:r>
              <a:rPr lang="en-US" dirty="0"/>
              <a:t>to finance schemes for promoting and regulating professional </a:t>
            </a:r>
            <a:r>
              <a:rPr lang="en-US" dirty="0" err="1"/>
              <a:t>organisations</a:t>
            </a:r>
            <a:r>
              <a:rPr lang="en-US" dirty="0"/>
              <a:t> referred to in clause. </a:t>
            </a:r>
          </a:p>
          <a:p>
            <a:pPr marL="514350" indent="-514350">
              <a:buFont typeface="+mj-lt"/>
              <a:buAutoNum type="alphaLcPeriod" startAt="11"/>
            </a:pPr>
            <a:r>
              <a:rPr lang="en-US" dirty="0"/>
              <a:t>Specifying the </a:t>
            </a:r>
            <a:r>
              <a:rPr lang="en-US" b="1" dirty="0">
                <a:solidFill>
                  <a:srgbClr val="C00000"/>
                </a:solidFill>
              </a:rPr>
              <a:t>percentage of life insurance business and general insurance business to be undertaken by the insurer in the rural or social sector.</a:t>
            </a:r>
          </a:p>
          <a:p>
            <a:pPr marL="514350" indent="-514350">
              <a:buFont typeface="+mj-lt"/>
              <a:buAutoNum type="alphaLcPeriod" startAt="11"/>
            </a:pPr>
            <a:r>
              <a:rPr lang="en-US" dirty="0"/>
              <a:t>Exercising such </a:t>
            </a:r>
            <a:r>
              <a:rPr lang="en-US" b="1" dirty="0">
                <a:solidFill>
                  <a:srgbClr val="C00000"/>
                </a:solidFill>
              </a:rPr>
              <a:t>other powers as may be prescribed</a:t>
            </a:r>
            <a:r>
              <a:rPr lang="en-US" dirty="0"/>
              <a:t>.</a:t>
            </a:r>
            <a:endParaRPr lang="en-IN" dirty="0"/>
          </a:p>
        </p:txBody>
      </p:sp>
      <p:sp>
        <p:nvSpPr>
          <p:cNvPr id="4" name="Title 3"/>
          <p:cNvSpPr>
            <a:spLocks noGrp="1"/>
          </p:cNvSpPr>
          <p:nvPr>
            <p:ph type="title"/>
          </p:nvPr>
        </p:nvSpPr>
        <p:spPr/>
        <p:txBody>
          <a:bodyPr/>
          <a:lstStyle/>
          <a:p>
            <a:r>
              <a:rPr lang="en-US" dirty="0"/>
              <a:t>Duties, Powers and Functions of IRDAI</a:t>
            </a:r>
            <a:endParaRPr lang="en-IN" dirty="0"/>
          </a:p>
        </p:txBody>
      </p:sp>
      <p:sp>
        <p:nvSpPr>
          <p:cNvPr id="2" name="TextBox 1"/>
          <p:cNvSpPr txBox="1"/>
          <p:nvPr/>
        </p:nvSpPr>
        <p:spPr>
          <a:xfrm>
            <a:off x="0" y="6209688"/>
            <a:ext cx="9863598" cy="646331"/>
          </a:xfrm>
          <a:prstGeom prst="rect">
            <a:avLst/>
          </a:prstGeom>
          <a:noFill/>
        </p:spPr>
        <p:txBody>
          <a:bodyPr wrap="none" rtlCol="0">
            <a:spAutoFit/>
          </a:bodyPr>
          <a:lstStyle/>
          <a:p>
            <a:r>
              <a:rPr lang="en-IN" dirty="0"/>
              <a:t>Link: </a:t>
            </a:r>
            <a:r>
              <a:rPr lang="en-IN" dirty="0">
                <a:hlinkClick r:id="rId2"/>
              </a:rPr>
              <a:t>https://irdai.gov.in/documents/37341/0/Duties+powers+and+funcitons+of+Irdai%28English%29.pdf</a:t>
            </a:r>
            <a:r>
              <a:rPr lang="en-IN" dirty="0"/>
              <a:t> </a:t>
            </a:r>
          </a:p>
          <a:p>
            <a:endParaRPr lang="en-IN" dirty="0"/>
          </a:p>
        </p:txBody>
      </p:sp>
    </p:spTree>
    <p:extLst>
      <p:ext uri="{BB962C8B-B14F-4D97-AF65-F5344CB8AC3E}">
        <p14:creationId xmlns:p14="http://schemas.microsoft.com/office/powerpoint/2010/main" val="175345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Classification of Insurance</a:t>
            </a:r>
          </a:p>
        </p:txBody>
      </p:sp>
    </p:spTree>
    <p:extLst>
      <p:ext uri="{BB962C8B-B14F-4D97-AF65-F5344CB8AC3E}">
        <p14:creationId xmlns:p14="http://schemas.microsoft.com/office/powerpoint/2010/main" val="128891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Types of Insurances</a:t>
            </a:r>
            <a:endParaRPr lang="en-IN" dirty="0"/>
          </a:p>
        </p:txBody>
      </p:sp>
      <p:sp>
        <p:nvSpPr>
          <p:cNvPr id="5" name="Content Placeholder 4"/>
          <p:cNvSpPr>
            <a:spLocks noGrp="1"/>
          </p:cNvSpPr>
          <p:nvPr>
            <p:ph idx="1"/>
          </p:nvPr>
        </p:nvSpPr>
        <p:spPr/>
        <p:txBody>
          <a:bodyPr/>
          <a:lstStyle/>
          <a:p>
            <a:r>
              <a:rPr lang="en-US" dirty="0"/>
              <a:t>Insurances can be categories as </a:t>
            </a:r>
            <a:r>
              <a:rPr lang="en-US" b="1" dirty="0">
                <a:solidFill>
                  <a:srgbClr val="C00000"/>
                </a:solidFill>
              </a:rPr>
              <a:t>life insurance and non-life insurance / general insurance.</a:t>
            </a:r>
          </a:p>
          <a:p>
            <a:r>
              <a:rPr lang="en-US" b="1" dirty="0"/>
              <a:t>Life Insurance</a:t>
            </a:r>
          </a:p>
          <a:p>
            <a:pPr lvl="1"/>
            <a:r>
              <a:rPr lang="en-US" dirty="0"/>
              <a:t>Just like the name suggests, life insurance is a </a:t>
            </a:r>
            <a:r>
              <a:rPr lang="en-US" b="1" dirty="0">
                <a:solidFill>
                  <a:srgbClr val="C00000"/>
                </a:solidFill>
              </a:rPr>
              <a:t>cover for your life</a:t>
            </a:r>
            <a:r>
              <a:rPr lang="en-US" dirty="0"/>
              <a:t>. Life insurance can </a:t>
            </a:r>
            <a:r>
              <a:rPr lang="en-US" b="1" dirty="0">
                <a:solidFill>
                  <a:srgbClr val="C00000"/>
                </a:solidFill>
              </a:rPr>
              <a:t>offer your family monetary relief</a:t>
            </a:r>
            <a:r>
              <a:rPr lang="en-US" dirty="0">
                <a:solidFill>
                  <a:srgbClr val="C00000"/>
                </a:solidFill>
              </a:rPr>
              <a:t> </a:t>
            </a:r>
            <a:r>
              <a:rPr lang="en-US" dirty="0"/>
              <a:t>in difficult times. </a:t>
            </a:r>
          </a:p>
          <a:p>
            <a:pPr lvl="1"/>
            <a:r>
              <a:rPr lang="en-US" dirty="0"/>
              <a:t>It provides </a:t>
            </a:r>
            <a:r>
              <a:rPr lang="en-US" b="1" dirty="0">
                <a:solidFill>
                  <a:srgbClr val="C00000"/>
                </a:solidFill>
              </a:rPr>
              <a:t>financial security to the nominee</a:t>
            </a:r>
            <a:r>
              <a:rPr lang="en-US" b="1" dirty="0">
                <a:solidFill>
                  <a:srgbClr val="D10233"/>
                </a:solidFill>
              </a:rPr>
              <a:t> </a:t>
            </a:r>
            <a:r>
              <a:rPr lang="en-US" dirty="0"/>
              <a:t>(spouse, children, etc.), in case of an unfortunate event. It also serves as an </a:t>
            </a:r>
            <a:r>
              <a:rPr lang="en-US" b="1" dirty="0">
                <a:solidFill>
                  <a:srgbClr val="C00000"/>
                </a:solidFill>
              </a:rPr>
              <a:t>investment tool in some cases</a:t>
            </a:r>
            <a:r>
              <a:rPr lang="en-US" dirty="0">
                <a:solidFill>
                  <a:srgbClr val="C00000"/>
                </a:solidFill>
              </a:rPr>
              <a:t>.</a:t>
            </a:r>
          </a:p>
          <a:p>
            <a:r>
              <a:rPr lang="en-US" b="1" dirty="0"/>
              <a:t>General Insurance</a:t>
            </a:r>
          </a:p>
          <a:p>
            <a:pPr lvl="1"/>
            <a:r>
              <a:rPr lang="en-US" dirty="0"/>
              <a:t>While life insurance covers the life of a person, general insurance provides </a:t>
            </a:r>
            <a:r>
              <a:rPr lang="en-US" b="1" dirty="0">
                <a:solidFill>
                  <a:srgbClr val="C00000"/>
                </a:solidFill>
              </a:rPr>
              <a:t>cover to other aspects and assets in a person’s life</a:t>
            </a:r>
            <a:r>
              <a:rPr lang="en-US" dirty="0"/>
              <a:t>, for example, health, car, home, etc. </a:t>
            </a:r>
          </a:p>
          <a:p>
            <a:pPr lvl="1"/>
            <a:r>
              <a:rPr lang="en-US" dirty="0"/>
              <a:t>This type of </a:t>
            </a:r>
            <a:r>
              <a:rPr lang="en-US" b="1" dirty="0">
                <a:solidFill>
                  <a:srgbClr val="C00000"/>
                </a:solidFill>
              </a:rPr>
              <a:t>cover insures assets against theft or damage due to fires, natural calamities, accidents, man-made disasters </a:t>
            </a:r>
            <a:r>
              <a:rPr lang="en-US" dirty="0"/>
              <a:t>like riots or terrorist attacks, etc. </a:t>
            </a:r>
            <a:endParaRPr lang="en-IN" dirty="0"/>
          </a:p>
        </p:txBody>
      </p:sp>
    </p:spTree>
    <p:extLst>
      <p:ext uri="{BB962C8B-B14F-4D97-AF65-F5344CB8AC3E}">
        <p14:creationId xmlns:p14="http://schemas.microsoft.com/office/powerpoint/2010/main" val="2212794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ym typeface="+mn-ea"/>
              </a:rPr>
              <a:t>Classification of Insurance</a:t>
            </a:r>
            <a:endParaRPr lang="en-IN" dirty="0"/>
          </a:p>
        </p:txBody>
      </p:sp>
      <p:graphicFrame>
        <p:nvGraphicFramePr>
          <p:cNvPr id="3" name="Content Placeholder 2"/>
          <p:cNvGraphicFramePr>
            <a:graphicFrameLocks noGrp="1"/>
          </p:cNvGraphicFramePr>
          <p:nvPr>
            <p:ph idx="1"/>
          </p:nvPr>
        </p:nvGraphicFramePr>
        <p:xfrm>
          <a:off x="0" y="860426"/>
          <a:ext cx="5838092" cy="5691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2"/>
          <p:cNvGraphicFramePr>
            <a:graphicFrameLocks/>
          </p:cNvGraphicFramePr>
          <p:nvPr/>
        </p:nvGraphicFramePr>
        <p:xfrm>
          <a:off x="5164852" y="711201"/>
          <a:ext cx="7027147" cy="584042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44588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graphicEl>
                                              <a:dgm id="{4AC434EF-1906-4F66-A965-ACE8A057BE4D}"/>
                                            </p:graphicEl>
                                          </p:spTgt>
                                        </p:tgtEl>
                                        <p:attrNameLst>
                                          <p:attrName>style.visibility</p:attrName>
                                        </p:attrNameLst>
                                      </p:cBhvr>
                                      <p:to>
                                        <p:strVal val="visible"/>
                                      </p:to>
                                    </p:set>
                                    <p:animEffect transition="in" filter="fade">
                                      <p:cBhvr>
                                        <p:cTn id="7" dur="500"/>
                                        <p:tgtEl>
                                          <p:spTgt spid="3">
                                            <p:graphicEl>
                                              <a:dgm id="{4AC434EF-1906-4F66-A965-ACE8A057BE4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graphicEl>
                                              <a:dgm id="{D762645A-AB79-4803-8BB0-100808D161A9}"/>
                                            </p:graphicEl>
                                          </p:spTgt>
                                        </p:tgtEl>
                                        <p:attrNameLst>
                                          <p:attrName>style.visibility</p:attrName>
                                        </p:attrNameLst>
                                      </p:cBhvr>
                                      <p:to>
                                        <p:strVal val="visible"/>
                                      </p:to>
                                    </p:set>
                                    <p:animEffect transition="in" filter="fade">
                                      <p:cBhvr>
                                        <p:cTn id="12" dur="500"/>
                                        <p:tgtEl>
                                          <p:spTgt spid="3">
                                            <p:graphicEl>
                                              <a:dgm id="{D762645A-AB79-4803-8BB0-100808D161A9}"/>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graphicEl>
                                              <a:dgm id="{E4BF40DB-FFEA-419A-A25D-7D872AD14DC5}"/>
                                            </p:graphicEl>
                                          </p:spTgt>
                                        </p:tgtEl>
                                        <p:attrNameLst>
                                          <p:attrName>style.visibility</p:attrName>
                                        </p:attrNameLst>
                                      </p:cBhvr>
                                      <p:to>
                                        <p:strVal val="visible"/>
                                      </p:to>
                                    </p:set>
                                    <p:animEffect transition="in" filter="fade">
                                      <p:cBhvr>
                                        <p:cTn id="15" dur="500"/>
                                        <p:tgtEl>
                                          <p:spTgt spid="3">
                                            <p:graphicEl>
                                              <a:dgm id="{E4BF40DB-FFEA-419A-A25D-7D872AD14DC5}"/>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graphicEl>
                                              <a:dgm id="{2C52AF65-7EA8-473B-B0EA-3C41ECF0D911}"/>
                                            </p:graphicEl>
                                          </p:spTgt>
                                        </p:tgtEl>
                                        <p:attrNameLst>
                                          <p:attrName>style.visibility</p:attrName>
                                        </p:attrNameLst>
                                      </p:cBhvr>
                                      <p:to>
                                        <p:strVal val="visible"/>
                                      </p:to>
                                    </p:set>
                                    <p:animEffect transition="in" filter="fade">
                                      <p:cBhvr>
                                        <p:cTn id="20" dur="500"/>
                                        <p:tgtEl>
                                          <p:spTgt spid="3">
                                            <p:graphicEl>
                                              <a:dgm id="{2C52AF65-7EA8-473B-B0EA-3C41ECF0D911}"/>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graphicEl>
                                              <a:dgm id="{149AA204-22AF-45BF-A35F-B55F32A2D2BB}"/>
                                            </p:graphicEl>
                                          </p:spTgt>
                                        </p:tgtEl>
                                        <p:attrNameLst>
                                          <p:attrName>style.visibility</p:attrName>
                                        </p:attrNameLst>
                                      </p:cBhvr>
                                      <p:to>
                                        <p:strVal val="visible"/>
                                      </p:to>
                                    </p:set>
                                    <p:animEffect transition="in" filter="fade">
                                      <p:cBhvr>
                                        <p:cTn id="23" dur="500"/>
                                        <p:tgtEl>
                                          <p:spTgt spid="3">
                                            <p:graphicEl>
                                              <a:dgm id="{149AA204-22AF-45BF-A35F-B55F32A2D2BB}"/>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graphicEl>
                                              <a:dgm id="{3694D593-EB77-4CB9-9B2E-E44E9A2ACC6D}"/>
                                            </p:graphicEl>
                                          </p:spTgt>
                                        </p:tgtEl>
                                        <p:attrNameLst>
                                          <p:attrName>style.visibility</p:attrName>
                                        </p:attrNameLst>
                                      </p:cBhvr>
                                      <p:to>
                                        <p:strVal val="visible"/>
                                      </p:to>
                                    </p:set>
                                    <p:animEffect transition="in" filter="fade">
                                      <p:cBhvr>
                                        <p:cTn id="28" dur="500"/>
                                        <p:tgtEl>
                                          <p:spTgt spid="3">
                                            <p:graphicEl>
                                              <a:dgm id="{3694D593-EB77-4CB9-9B2E-E44E9A2ACC6D}"/>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graphicEl>
                                              <a:dgm id="{248D16B3-26E7-45F4-BB9D-7FD96AF3E486}"/>
                                            </p:graphicEl>
                                          </p:spTgt>
                                        </p:tgtEl>
                                        <p:attrNameLst>
                                          <p:attrName>style.visibility</p:attrName>
                                        </p:attrNameLst>
                                      </p:cBhvr>
                                      <p:to>
                                        <p:strVal val="visible"/>
                                      </p:to>
                                    </p:set>
                                    <p:animEffect transition="in" filter="fade">
                                      <p:cBhvr>
                                        <p:cTn id="31" dur="500"/>
                                        <p:tgtEl>
                                          <p:spTgt spid="3">
                                            <p:graphicEl>
                                              <a:dgm id="{248D16B3-26E7-45F4-BB9D-7FD96AF3E486}"/>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graphicEl>
                                              <a:dgm id="{F70B2577-1D35-42E5-AC14-5AB8C2C0462D}"/>
                                            </p:graphicEl>
                                          </p:spTgt>
                                        </p:tgtEl>
                                        <p:attrNameLst>
                                          <p:attrName>style.visibility</p:attrName>
                                        </p:attrNameLst>
                                      </p:cBhvr>
                                      <p:to>
                                        <p:strVal val="visible"/>
                                      </p:to>
                                    </p:set>
                                    <p:animEffect transition="in" filter="fade">
                                      <p:cBhvr>
                                        <p:cTn id="36" dur="500"/>
                                        <p:tgtEl>
                                          <p:spTgt spid="3">
                                            <p:graphicEl>
                                              <a:dgm id="{F70B2577-1D35-42E5-AC14-5AB8C2C0462D}"/>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graphicEl>
                                              <a:dgm id="{2BBDD5A8-DDAF-44ED-93CB-086052BFEE37}"/>
                                            </p:graphicEl>
                                          </p:spTgt>
                                        </p:tgtEl>
                                        <p:attrNameLst>
                                          <p:attrName>style.visibility</p:attrName>
                                        </p:attrNameLst>
                                      </p:cBhvr>
                                      <p:to>
                                        <p:strVal val="visible"/>
                                      </p:to>
                                    </p:set>
                                    <p:animEffect transition="in" filter="fade">
                                      <p:cBhvr>
                                        <p:cTn id="39" dur="500"/>
                                        <p:tgtEl>
                                          <p:spTgt spid="3">
                                            <p:graphicEl>
                                              <a:dgm id="{2BBDD5A8-DDAF-44ED-93CB-086052BFEE37}"/>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graphicEl>
                                              <a:dgm id="{83F9C73D-8641-4ACD-AE0A-CB5CE828DB1D}"/>
                                            </p:graphicEl>
                                          </p:spTgt>
                                        </p:tgtEl>
                                        <p:attrNameLst>
                                          <p:attrName>style.visibility</p:attrName>
                                        </p:attrNameLst>
                                      </p:cBhvr>
                                      <p:to>
                                        <p:strVal val="visible"/>
                                      </p:to>
                                    </p:set>
                                    <p:animEffect transition="in" filter="fade">
                                      <p:cBhvr>
                                        <p:cTn id="44" dur="500"/>
                                        <p:tgtEl>
                                          <p:spTgt spid="3">
                                            <p:graphicEl>
                                              <a:dgm id="{83F9C73D-8641-4ACD-AE0A-CB5CE828DB1D}"/>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
                                            <p:graphicEl>
                                              <a:dgm id="{8001DC4D-2C61-4578-BEBE-E853A3A7C941}"/>
                                            </p:graphicEl>
                                          </p:spTgt>
                                        </p:tgtEl>
                                        <p:attrNameLst>
                                          <p:attrName>style.visibility</p:attrName>
                                        </p:attrNameLst>
                                      </p:cBhvr>
                                      <p:to>
                                        <p:strVal val="visible"/>
                                      </p:to>
                                    </p:set>
                                    <p:animEffect transition="in" filter="fade">
                                      <p:cBhvr>
                                        <p:cTn id="47" dur="500"/>
                                        <p:tgtEl>
                                          <p:spTgt spid="3">
                                            <p:graphicEl>
                                              <a:dgm id="{8001DC4D-2C61-4578-BEBE-E853A3A7C941}"/>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graphicEl>
                                              <a:dgm id="{893B6892-6119-4EAF-98B8-A1074A032873}"/>
                                            </p:graphicEl>
                                          </p:spTgt>
                                        </p:tgtEl>
                                        <p:attrNameLst>
                                          <p:attrName>style.visibility</p:attrName>
                                        </p:attrNameLst>
                                      </p:cBhvr>
                                      <p:to>
                                        <p:strVal val="visible"/>
                                      </p:to>
                                    </p:set>
                                    <p:animEffect transition="in" filter="fade">
                                      <p:cBhvr>
                                        <p:cTn id="52" dur="500"/>
                                        <p:tgtEl>
                                          <p:spTgt spid="3">
                                            <p:graphicEl>
                                              <a:dgm id="{893B6892-6119-4EAF-98B8-A1074A032873}"/>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
                                            <p:graphicEl>
                                              <a:dgm id="{344F5AC7-8C6F-4D02-AD99-2A0E4E6ED4A2}"/>
                                            </p:graphicEl>
                                          </p:spTgt>
                                        </p:tgtEl>
                                        <p:attrNameLst>
                                          <p:attrName>style.visibility</p:attrName>
                                        </p:attrNameLst>
                                      </p:cBhvr>
                                      <p:to>
                                        <p:strVal val="visible"/>
                                      </p:to>
                                    </p:set>
                                    <p:animEffect transition="in" filter="fade">
                                      <p:cBhvr>
                                        <p:cTn id="55" dur="500"/>
                                        <p:tgtEl>
                                          <p:spTgt spid="3">
                                            <p:graphicEl>
                                              <a:dgm id="{344F5AC7-8C6F-4D02-AD99-2A0E4E6ED4A2}"/>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graphicEl>
                                              <a:dgm id="{38B17016-14FD-490B-A8FB-6AEDB0897734}"/>
                                            </p:graphicEl>
                                          </p:spTgt>
                                        </p:tgtEl>
                                        <p:attrNameLst>
                                          <p:attrName>style.visibility</p:attrName>
                                        </p:attrNameLst>
                                      </p:cBhvr>
                                      <p:to>
                                        <p:strVal val="visible"/>
                                      </p:to>
                                    </p:set>
                                    <p:animEffect transition="in" filter="fade">
                                      <p:cBhvr>
                                        <p:cTn id="60" dur="500"/>
                                        <p:tgtEl>
                                          <p:spTgt spid="3">
                                            <p:graphicEl>
                                              <a:dgm id="{38B17016-14FD-490B-A8FB-6AEDB0897734}"/>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
                                            <p:graphicEl>
                                              <a:dgm id="{C1570DCA-1678-492E-8024-80AB2D48A3A8}"/>
                                            </p:graphicEl>
                                          </p:spTgt>
                                        </p:tgtEl>
                                        <p:attrNameLst>
                                          <p:attrName>style.visibility</p:attrName>
                                        </p:attrNameLst>
                                      </p:cBhvr>
                                      <p:to>
                                        <p:strVal val="visible"/>
                                      </p:to>
                                    </p:set>
                                    <p:animEffect transition="in" filter="fade">
                                      <p:cBhvr>
                                        <p:cTn id="63" dur="500"/>
                                        <p:tgtEl>
                                          <p:spTgt spid="3">
                                            <p:graphicEl>
                                              <a:dgm id="{C1570DCA-1678-492E-8024-80AB2D48A3A8}"/>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6">
                                            <p:graphicEl>
                                              <a:dgm id="{905843B0-1F3E-4EC9-BE11-102173184D71}"/>
                                            </p:graphicEl>
                                          </p:spTgt>
                                        </p:tgtEl>
                                        <p:attrNameLst>
                                          <p:attrName>style.visibility</p:attrName>
                                        </p:attrNameLst>
                                      </p:cBhvr>
                                      <p:to>
                                        <p:strVal val="visible"/>
                                      </p:to>
                                    </p:set>
                                    <p:animEffect transition="in" filter="fade">
                                      <p:cBhvr>
                                        <p:cTn id="68" dur="500"/>
                                        <p:tgtEl>
                                          <p:spTgt spid="6">
                                            <p:graphicEl>
                                              <a:dgm id="{905843B0-1F3E-4EC9-BE11-102173184D71}"/>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
                                            <p:graphicEl>
                                              <a:dgm id="{B04C93EE-4F9C-49D2-A1F0-1CC29283632E}"/>
                                            </p:graphicEl>
                                          </p:spTgt>
                                        </p:tgtEl>
                                        <p:attrNameLst>
                                          <p:attrName>style.visibility</p:attrName>
                                        </p:attrNameLst>
                                      </p:cBhvr>
                                      <p:to>
                                        <p:strVal val="visible"/>
                                      </p:to>
                                    </p:set>
                                    <p:animEffect transition="in" filter="fade">
                                      <p:cBhvr>
                                        <p:cTn id="73" dur="500"/>
                                        <p:tgtEl>
                                          <p:spTgt spid="6">
                                            <p:graphicEl>
                                              <a:dgm id="{B04C93EE-4F9C-49D2-A1F0-1CC29283632E}"/>
                                            </p:graphic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
                                            <p:graphicEl>
                                              <a:dgm id="{842F60E2-5D4E-435A-BB5A-E2B47AD4EDAE}"/>
                                            </p:graphicEl>
                                          </p:spTgt>
                                        </p:tgtEl>
                                        <p:attrNameLst>
                                          <p:attrName>style.visibility</p:attrName>
                                        </p:attrNameLst>
                                      </p:cBhvr>
                                      <p:to>
                                        <p:strVal val="visible"/>
                                      </p:to>
                                    </p:set>
                                    <p:animEffect transition="in" filter="fade">
                                      <p:cBhvr>
                                        <p:cTn id="76" dur="500"/>
                                        <p:tgtEl>
                                          <p:spTgt spid="6">
                                            <p:graphicEl>
                                              <a:dgm id="{842F60E2-5D4E-435A-BB5A-E2B47AD4EDAE}"/>
                                            </p:graphic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
                                            <p:graphicEl>
                                              <a:dgm id="{4E7B1E02-3B83-41F7-B887-8F5BEDF79406}"/>
                                            </p:graphicEl>
                                          </p:spTgt>
                                        </p:tgtEl>
                                        <p:attrNameLst>
                                          <p:attrName>style.visibility</p:attrName>
                                        </p:attrNameLst>
                                      </p:cBhvr>
                                      <p:to>
                                        <p:strVal val="visible"/>
                                      </p:to>
                                    </p:set>
                                    <p:animEffect transition="in" filter="fade">
                                      <p:cBhvr>
                                        <p:cTn id="81" dur="500"/>
                                        <p:tgtEl>
                                          <p:spTgt spid="6">
                                            <p:graphicEl>
                                              <a:dgm id="{4E7B1E02-3B83-41F7-B887-8F5BEDF79406}"/>
                                            </p:graphicEl>
                                          </p:spTgt>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
                                            <p:graphicEl>
                                              <a:dgm id="{913E8391-6E94-49DE-B4BA-06308F050B72}"/>
                                            </p:graphicEl>
                                          </p:spTgt>
                                        </p:tgtEl>
                                        <p:attrNameLst>
                                          <p:attrName>style.visibility</p:attrName>
                                        </p:attrNameLst>
                                      </p:cBhvr>
                                      <p:to>
                                        <p:strVal val="visible"/>
                                      </p:to>
                                    </p:set>
                                    <p:animEffect transition="in" filter="fade">
                                      <p:cBhvr>
                                        <p:cTn id="84" dur="500"/>
                                        <p:tgtEl>
                                          <p:spTgt spid="6">
                                            <p:graphicEl>
                                              <a:dgm id="{913E8391-6E94-49DE-B4BA-06308F050B72}"/>
                                            </p:graphic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6">
                                            <p:graphicEl>
                                              <a:dgm id="{FFD0C7D2-C01B-4920-80E7-EB5D9B544217}"/>
                                            </p:graphicEl>
                                          </p:spTgt>
                                        </p:tgtEl>
                                        <p:attrNameLst>
                                          <p:attrName>style.visibility</p:attrName>
                                        </p:attrNameLst>
                                      </p:cBhvr>
                                      <p:to>
                                        <p:strVal val="visible"/>
                                      </p:to>
                                    </p:set>
                                    <p:animEffect transition="in" filter="fade">
                                      <p:cBhvr>
                                        <p:cTn id="89" dur="500"/>
                                        <p:tgtEl>
                                          <p:spTgt spid="6">
                                            <p:graphicEl>
                                              <a:dgm id="{FFD0C7D2-C01B-4920-80E7-EB5D9B544217}"/>
                                            </p:graphicEl>
                                          </p:spTgt>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
                                            <p:graphicEl>
                                              <a:dgm id="{4FD90DD9-C8C2-4768-BF47-AF19605C71E9}"/>
                                            </p:graphicEl>
                                          </p:spTgt>
                                        </p:tgtEl>
                                        <p:attrNameLst>
                                          <p:attrName>style.visibility</p:attrName>
                                        </p:attrNameLst>
                                      </p:cBhvr>
                                      <p:to>
                                        <p:strVal val="visible"/>
                                      </p:to>
                                    </p:set>
                                    <p:animEffect transition="in" filter="fade">
                                      <p:cBhvr>
                                        <p:cTn id="92" dur="500"/>
                                        <p:tgtEl>
                                          <p:spTgt spid="6">
                                            <p:graphicEl>
                                              <a:dgm id="{4FD90DD9-C8C2-4768-BF47-AF19605C71E9}"/>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
                                            <p:graphicEl>
                                              <a:dgm id="{24A6DECC-16AF-4577-8A1F-25A54D138DC5}"/>
                                            </p:graphicEl>
                                          </p:spTgt>
                                        </p:tgtEl>
                                        <p:attrNameLst>
                                          <p:attrName>style.visibility</p:attrName>
                                        </p:attrNameLst>
                                      </p:cBhvr>
                                      <p:to>
                                        <p:strVal val="visible"/>
                                      </p:to>
                                    </p:set>
                                    <p:animEffect transition="in" filter="fade">
                                      <p:cBhvr>
                                        <p:cTn id="97" dur="500"/>
                                        <p:tgtEl>
                                          <p:spTgt spid="6">
                                            <p:graphicEl>
                                              <a:dgm id="{24A6DECC-16AF-4577-8A1F-25A54D138DC5}"/>
                                            </p:graphic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
                                            <p:graphicEl>
                                              <a:dgm id="{0D4D3215-415F-463C-9D0B-7E559462068C}"/>
                                            </p:graphicEl>
                                          </p:spTgt>
                                        </p:tgtEl>
                                        <p:attrNameLst>
                                          <p:attrName>style.visibility</p:attrName>
                                        </p:attrNameLst>
                                      </p:cBhvr>
                                      <p:to>
                                        <p:strVal val="visible"/>
                                      </p:to>
                                    </p:set>
                                    <p:animEffect transition="in" filter="fade">
                                      <p:cBhvr>
                                        <p:cTn id="100" dur="500"/>
                                        <p:tgtEl>
                                          <p:spTgt spid="6">
                                            <p:graphicEl>
                                              <a:dgm id="{0D4D3215-415F-463C-9D0B-7E559462068C}"/>
                                            </p:graphic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6">
                                            <p:graphicEl>
                                              <a:dgm id="{47EBE12C-4C82-437D-867D-FAB4E5567CF7}"/>
                                            </p:graphicEl>
                                          </p:spTgt>
                                        </p:tgtEl>
                                        <p:attrNameLst>
                                          <p:attrName>style.visibility</p:attrName>
                                        </p:attrNameLst>
                                      </p:cBhvr>
                                      <p:to>
                                        <p:strVal val="visible"/>
                                      </p:to>
                                    </p:set>
                                    <p:animEffect transition="in" filter="fade">
                                      <p:cBhvr>
                                        <p:cTn id="105" dur="500"/>
                                        <p:tgtEl>
                                          <p:spTgt spid="6">
                                            <p:graphicEl>
                                              <a:dgm id="{47EBE12C-4C82-437D-867D-FAB4E5567CF7}"/>
                                            </p:graphicEl>
                                          </p:spTgt>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6">
                                            <p:graphicEl>
                                              <a:dgm id="{C31E10A1-ECC7-474D-B6E4-9AC39E71FA76}"/>
                                            </p:graphicEl>
                                          </p:spTgt>
                                        </p:tgtEl>
                                        <p:attrNameLst>
                                          <p:attrName>style.visibility</p:attrName>
                                        </p:attrNameLst>
                                      </p:cBhvr>
                                      <p:to>
                                        <p:strVal val="visible"/>
                                      </p:to>
                                    </p:set>
                                    <p:animEffect transition="in" filter="fade">
                                      <p:cBhvr>
                                        <p:cTn id="108" dur="500"/>
                                        <p:tgtEl>
                                          <p:spTgt spid="6">
                                            <p:graphicEl>
                                              <a:dgm id="{C31E10A1-ECC7-474D-B6E4-9AC39E71FA76}"/>
                                            </p:graphicEl>
                                          </p:spTgt>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6">
                                            <p:graphicEl>
                                              <a:dgm id="{3E46C6E2-2F04-4072-811B-179BA9341917}"/>
                                            </p:graphicEl>
                                          </p:spTgt>
                                        </p:tgtEl>
                                        <p:attrNameLst>
                                          <p:attrName>style.visibility</p:attrName>
                                        </p:attrNameLst>
                                      </p:cBhvr>
                                      <p:to>
                                        <p:strVal val="visible"/>
                                      </p:to>
                                    </p:set>
                                    <p:animEffect transition="in" filter="fade">
                                      <p:cBhvr>
                                        <p:cTn id="113" dur="500"/>
                                        <p:tgtEl>
                                          <p:spTgt spid="6">
                                            <p:graphicEl>
                                              <a:dgm id="{3E46C6E2-2F04-4072-811B-179BA9341917}"/>
                                            </p:graphicEl>
                                          </p:spTgt>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
                                            <p:graphicEl>
                                              <a:dgm id="{4048B6C1-863F-4986-9230-A54C06D7EC17}"/>
                                            </p:graphicEl>
                                          </p:spTgt>
                                        </p:tgtEl>
                                        <p:attrNameLst>
                                          <p:attrName>style.visibility</p:attrName>
                                        </p:attrNameLst>
                                      </p:cBhvr>
                                      <p:to>
                                        <p:strVal val="visible"/>
                                      </p:to>
                                    </p:set>
                                    <p:animEffect transition="in" filter="fade">
                                      <p:cBhvr>
                                        <p:cTn id="116" dur="500"/>
                                        <p:tgtEl>
                                          <p:spTgt spid="6">
                                            <p:graphicEl>
                                              <a:dgm id="{4048B6C1-863F-4986-9230-A54C06D7EC17}"/>
                                            </p:graphicEl>
                                          </p:spTgt>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6">
                                            <p:graphicEl>
                                              <a:dgm id="{E4F960E2-4958-4B03-846F-42D93FFF23BA}"/>
                                            </p:graphicEl>
                                          </p:spTgt>
                                        </p:tgtEl>
                                        <p:attrNameLst>
                                          <p:attrName>style.visibility</p:attrName>
                                        </p:attrNameLst>
                                      </p:cBhvr>
                                      <p:to>
                                        <p:strVal val="visible"/>
                                      </p:to>
                                    </p:set>
                                    <p:animEffect transition="in" filter="fade">
                                      <p:cBhvr>
                                        <p:cTn id="121" dur="500"/>
                                        <p:tgtEl>
                                          <p:spTgt spid="6">
                                            <p:graphicEl>
                                              <a:dgm id="{E4F960E2-4958-4B03-846F-42D93FFF23BA}"/>
                                            </p:graphic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6">
                                            <p:graphicEl>
                                              <a:dgm id="{4ECB98E3-24F5-4831-86A2-4BB9B0C2A6FE}"/>
                                            </p:graphicEl>
                                          </p:spTgt>
                                        </p:tgtEl>
                                        <p:attrNameLst>
                                          <p:attrName>style.visibility</p:attrName>
                                        </p:attrNameLst>
                                      </p:cBhvr>
                                      <p:to>
                                        <p:strVal val="visible"/>
                                      </p:to>
                                    </p:set>
                                    <p:animEffect transition="in" filter="fade">
                                      <p:cBhvr>
                                        <p:cTn id="124" dur="500"/>
                                        <p:tgtEl>
                                          <p:spTgt spid="6">
                                            <p:graphicEl>
                                              <a:dgm id="{4ECB98E3-24F5-4831-86A2-4BB9B0C2A6FE}"/>
                                            </p:graphicEl>
                                          </p:spTgt>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6">
                                            <p:graphicEl>
                                              <a:dgm id="{C1F5F6C1-CCC8-407B-9B72-CF81BA4ACB8A}"/>
                                            </p:graphicEl>
                                          </p:spTgt>
                                        </p:tgtEl>
                                        <p:attrNameLst>
                                          <p:attrName>style.visibility</p:attrName>
                                        </p:attrNameLst>
                                      </p:cBhvr>
                                      <p:to>
                                        <p:strVal val="visible"/>
                                      </p:to>
                                    </p:set>
                                    <p:animEffect transition="in" filter="fade">
                                      <p:cBhvr>
                                        <p:cTn id="129" dur="500"/>
                                        <p:tgtEl>
                                          <p:spTgt spid="6">
                                            <p:graphicEl>
                                              <a:dgm id="{C1F5F6C1-CCC8-407B-9B72-CF81BA4ACB8A}"/>
                                            </p:graphicEl>
                                          </p:spTgt>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
                                            <p:graphicEl>
                                              <a:dgm id="{FBA79142-102A-4FDD-B361-D4924C6D5505}"/>
                                            </p:graphicEl>
                                          </p:spTgt>
                                        </p:tgtEl>
                                        <p:attrNameLst>
                                          <p:attrName>style.visibility</p:attrName>
                                        </p:attrNameLst>
                                      </p:cBhvr>
                                      <p:to>
                                        <p:strVal val="visible"/>
                                      </p:to>
                                    </p:set>
                                    <p:animEffect transition="in" filter="fade">
                                      <p:cBhvr>
                                        <p:cTn id="132" dur="500"/>
                                        <p:tgtEl>
                                          <p:spTgt spid="6">
                                            <p:graphicEl>
                                              <a:dgm id="{FBA79142-102A-4FDD-B361-D4924C6D5505}"/>
                                            </p:graphic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6">
                                            <p:graphicEl>
                                              <a:dgm id="{67CCC8CD-9772-4926-869E-A98E86131DAC}"/>
                                            </p:graphicEl>
                                          </p:spTgt>
                                        </p:tgtEl>
                                        <p:attrNameLst>
                                          <p:attrName>style.visibility</p:attrName>
                                        </p:attrNameLst>
                                      </p:cBhvr>
                                      <p:to>
                                        <p:strVal val="visible"/>
                                      </p:to>
                                    </p:set>
                                    <p:animEffect transition="in" filter="fade">
                                      <p:cBhvr>
                                        <p:cTn id="137" dur="500"/>
                                        <p:tgtEl>
                                          <p:spTgt spid="6">
                                            <p:graphicEl>
                                              <a:dgm id="{67CCC8CD-9772-4926-869E-A98E86131DAC}"/>
                                            </p:graphicEl>
                                          </p:spTgt>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6">
                                            <p:graphicEl>
                                              <a:dgm id="{FB9A792E-565C-4D6B-8B8C-0CB6FD2B1EA2}"/>
                                            </p:graphicEl>
                                          </p:spTgt>
                                        </p:tgtEl>
                                        <p:attrNameLst>
                                          <p:attrName>style.visibility</p:attrName>
                                        </p:attrNameLst>
                                      </p:cBhvr>
                                      <p:to>
                                        <p:strVal val="visible"/>
                                      </p:to>
                                    </p:set>
                                    <p:animEffect transition="in" filter="fade">
                                      <p:cBhvr>
                                        <p:cTn id="140" dur="500"/>
                                        <p:tgtEl>
                                          <p:spTgt spid="6">
                                            <p:graphicEl>
                                              <a:dgm id="{FB9A792E-565C-4D6B-8B8C-0CB6FD2B1EA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Graphic spid="6"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0247761-867A-3B35-7A50-EE515D27BEB8}"/>
              </a:ext>
            </a:extLst>
          </p:cNvPr>
          <p:cNvCxnSpPr/>
          <p:nvPr/>
        </p:nvCxnSpPr>
        <p:spPr>
          <a:xfrm flipH="1">
            <a:off x="6810103" y="8315"/>
            <a:ext cx="10555" cy="655794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4F5D60A-3E8F-B985-1DDA-B7953DFB7767}"/>
              </a:ext>
            </a:extLst>
          </p:cNvPr>
          <p:cNvCxnSpPr/>
          <p:nvPr/>
        </p:nvCxnSpPr>
        <p:spPr>
          <a:xfrm>
            <a:off x="2248836" y="800795"/>
            <a:ext cx="9594215" cy="5080"/>
          </a:xfrm>
          <a:prstGeom prst="line">
            <a:avLst/>
          </a:prstGeom>
          <a:ln w="38100"/>
        </p:spPr>
        <p:style>
          <a:lnRef idx="3">
            <a:schemeClr val="accent5"/>
          </a:lnRef>
          <a:fillRef idx="0">
            <a:schemeClr val="accent5"/>
          </a:fillRef>
          <a:effectRef idx="2">
            <a:schemeClr val="accent5"/>
          </a:effectRef>
          <a:fontRef idx="minor">
            <a:schemeClr val="tx1"/>
          </a:fontRef>
        </p:style>
      </p:cxnSp>
      <p:sp>
        <p:nvSpPr>
          <p:cNvPr id="7" name="Text Box 6">
            <a:extLst>
              <a:ext uri="{FF2B5EF4-FFF2-40B4-BE49-F238E27FC236}">
                <a16:creationId xmlns:a16="http://schemas.microsoft.com/office/drawing/2014/main" id="{50E25BC6-9FC5-514F-91F7-CA0E777D52DF}"/>
              </a:ext>
            </a:extLst>
          </p:cNvPr>
          <p:cNvSpPr txBox="1"/>
          <p:nvPr/>
        </p:nvSpPr>
        <p:spPr>
          <a:xfrm>
            <a:off x="2860150" y="50612"/>
            <a:ext cx="3113353" cy="707886"/>
          </a:xfrm>
          <a:prstGeom prst="rect">
            <a:avLst/>
          </a:prstGeom>
          <a:noFill/>
        </p:spPr>
        <p:txBody>
          <a:bodyPr wrap="none" rtlCol="0">
            <a:spAutoFit/>
          </a:bodyPr>
          <a:lstStyle/>
          <a:p>
            <a:r>
              <a:rPr lang="en-US" sz="4000" b="1" dirty="0">
                <a:solidFill>
                  <a:srgbClr val="0070C0"/>
                </a:solidFill>
              </a:rPr>
              <a:t>Life Insurance</a:t>
            </a:r>
          </a:p>
        </p:txBody>
      </p:sp>
      <p:sp>
        <p:nvSpPr>
          <p:cNvPr id="8" name="Text Box 7">
            <a:extLst>
              <a:ext uri="{FF2B5EF4-FFF2-40B4-BE49-F238E27FC236}">
                <a16:creationId xmlns:a16="http://schemas.microsoft.com/office/drawing/2014/main" id="{70F8D394-2EBD-65C3-8846-B5AA71011F03}"/>
              </a:ext>
            </a:extLst>
          </p:cNvPr>
          <p:cNvSpPr txBox="1"/>
          <p:nvPr/>
        </p:nvSpPr>
        <p:spPr>
          <a:xfrm>
            <a:off x="7158656" y="73852"/>
            <a:ext cx="3910045" cy="707886"/>
          </a:xfrm>
          <a:prstGeom prst="rect">
            <a:avLst/>
          </a:prstGeom>
          <a:noFill/>
        </p:spPr>
        <p:txBody>
          <a:bodyPr wrap="none" rtlCol="0">
            <a:spAutoFit/>
          </a:bodyPr>
          <a:lstStyle/>
          <a:p>
            <a:r>
              <a:rPr lang="en-US" sz="4000" b="1" dirty="0">
                <a:solidFill>
                  <a:srgbClr val="0070C0"/>
                </a:solidFill>
              </a:rPr>
              <a:t>General Insurance</a:t>
            </a:r>
          </a:p>
        </p:txBody>
      </p:sp>
      <p:sp>
        <p:nvSpPr>
          <p:cNvPr id="9" name="Text Box 8">
            <a:extLst>
              <a:ext uri="{FF2B5EF4-FFF2-40B4-BE49-F238E27FC236}">
                <a16:creationId xmlns:a16="http://schemas.microsoft.com/office/drawing/2014/main" id="{C3D4AF8B-A32D-8DC4-7752-659AE4EEDAD6}"/>
              </a:ext>
            </a:extLst>
          </p:cNvPr>
          <p:cNvSpPr txBox="1"/>
          <p:nvPr/>
        </p:nvSpPr>
        <p:spPr>
          <a:xfrm>
            <a:off x="278642" y="881124"/>
            <a:ext cx="1247457" cy="461665"/>
          </a:xfrm>
          <a:prstGeom prst="rect">
            <a:avLst/>
          </a:prstGeom>
          <a:noFill/>
        </p:spPr>
        <p:txBody>
          <a:bodyPr wrap="none" rtlCol="0">
            <a:spAutoFit/>
          </a:bodyPr>
          <a:lstStyle/>
          <a:p>
            <a:r>
              <a:rPr lang="en-US" sz="2400" b="1" dirty="0">
                <a:solidFill>
                  <a:schemeClr val="accent4">
                    <a:lumMod val="75000"/>
                  </a:schemeClr>
                </a:solidFill>
              </a:rPr>
              <a:t>Meaning</a:t>
            </a:r>
          </a:p>
        </p:txBody>
      </p:sp>
      <p:sp>
        <p:nvSpPr>
          <p:cNvPr id="10" name="Text Box 9">
            <a:extLst>
              <a:ext uri="{FF2B5EF4-FFF2-40B4-BE49-F238E27FC236}">
                <a16:creationId xmlns:a16="http://schemas.microsoft.com/office/drawing/2014/main" id="{7DC5ED56-A196-3655-2613-90C37981444D}"/>
              </a:ext>
            </a:extLst>
          </p:cNvPr>
          <p:cNvSpPr txBox="1"/>
          <p:nvPr/>
        </p:nvSpPr>
        <p:spPr>
          <a:xfrm>
            <a:off x="2201846" y="881124"/>
            <a:ext cx="4347210" cy="1200329"/>
          </a:xfrm>
          <a:prstGeom prst="rect">
            <a:avLst/>
          </a:prstGeom>
          <a:noFill/>
        </p:spPr>
        <p:txBody>
          <a:bodyPr wrap="square" rtlCol="0">
            <a:spAutoFit/>
          </a:bodyPr>
          <a:lstStyle/>
          <a:p>
            <a:pPr algn="just"/>
            <a:r>
              <a:rPr lang="en-US" sz="2400" dirty="0"/>
              <a:t>It is an insurance contract, which covers the life-risk of the person insured.</a:t>
            </a:r>
            <a:endParaRPr lang="en-US" sz="2400" dirty="0">
              <a:solidFill>
                <a:schemeClr val="tx1"/>
              </a:solidFill>
            </a:endParaRPr>
          </a:p>
        </p:txBody>
      </p:sp>
      <p:sp>
        <p:nvSpPr>
          <p:cNvPr id="11" name="Text Box 10">
            <a:extLst>
              <a:ext uri="{FF2B5EF4-FFF2-40B4-BE49-F238E27FC236}">
                <a16:creationId xmlns:a16="http://schemas.microsoft.com/office/drawing/2014/main" id="{E0E14545-07DF-E6C3-DF68-ACC331C3D083}"/>
              </a:ext>
            </a:extLst>
          </p:cNvPr>
          <p:cNvSpPr txBox="1"/>
          <p:nvPr/>
        </p:nvSpPr>
        <p:spPr>
          <a:xfrm>
            <a:off x="7030553" y="856008"/>
            <a:ext cx="4656350" cy="830997"/>
          </a:xfrm>
          <a:prstGeom prst="rect">
            <a:avLst/>
          </a:prstGeom>
          <a:noFill/>
        </p:spPr>
        <p:txBody>
          <a:bodyPr wrap="square" rtlCol="0">
            <a:spAutoFit/>
          </a:bodyPr>
          <a:lstStyle/>
          <a:p>
            <a:pPr algn="just"/>
            <a:r>
              <a:rPr lang="en-US" sz="2400" dirty="0"/>
              <a:t>It is an insurance that is not covered under Life insurance.</a:t>
            </a:r>
            <a:endParaRPr lang="en-US" sz="2400" dirty="0">
              <a:solidFill>
                <a:schemeClr val="tx1"/>
              </a:solidFill>
            </a:endParaRPr>
          </a:p>
        </p:txBody>
      </p:sp>
      <p:sp>
        <p:nvSpPr>
          <p:cNvPr id="12" name="Text Box 14">
            <a:extLst>
              <a:ext uri="{FF2B5EF4-FFF2-40B4-BE49-F238E27FC236}">
                <a16:creationId xmlns:a16="http://schemas.microsoft.com/office/drawing/2014/main" id="{A362CEAF-3EC8-79A6-EE39-062C33083CA5}"/>
              </a:ext>
            </a:extLst>
          </p:cNvPr>
          <p:cNvSpPr txBox="1"/>
          <p:nvPr/>
        </p:nvSpPr>
        <p:spPr>
          <a:xfrm>
            <a:off x="266471" y="2048763"/>
            <a:ext cx="1242648" cy="830997"/>
          </a:xfrm>
          <a:prstGeom prst="rect">
            <a:avLst/>
          </a:prstGeom>
          <a:noFill/>
        </p:spPr>
        <p:txBody>
          <a:bodyPr wrap="none" rtlCol="0">
            <a:spAutoFit/>
          </a:bodyPr>
          <a:lstStyle/>
          <a:p>
            <a:r>
              <a:rPr lang="en-US" sz="2400" b="1" dirty="0">
                <a:solidFill>
                  <a:schemeClr val="accent4">
                    <a:lumMod val="75000"/>
                  </a:schemeClr>
                </a:solidFill>
              </a:rPr>
              <a:t>Term of </a:t>
            </a:r>
          </a:p>
          <a:p>
            <a:r>
              <a:rPr lang="en-US" sz="2400" b="1" dirty="0">
                <a:solidFill>
                  <a:schemeClr val="accent4">
                    <a:lumMod val="75000"/>
                  </a:schemeClr>
                </a:solidFill>
              </a:rPr>
              <a:t>Contract</a:t>
            </a:r>
          </a:p>
        </p:txBody>
      </p:sp>
      <p:sp>
        <p:nvSpPr>
          <p:cNvPr id="13" name="Text Box 15">
            <a:extLst>
              <a:ext uri="{FF2B5EF4-FFF2-40B4-BE49-F238E27FC236}">
                <a16:creationId xmlns:a16="http://schemas.microsoft.com/office/drawing/2014/main" id="{CB6937CD-06BB-10D6-677C-9545EB6522B3}"/>
              </a:ext>
            </a:extLst>
          </p:cNvPr>
          <p:cNvSpPr txBox="1"/>
          <p:nvPr/>
        </p:nvSpPr>
        <p:spPr>
          <a:xfrm>
            <a:off x="2187353" y="2032827"/>
            <a:ext cx="4347210" cy="461665"/>
          </a:xfrm>
          <a:prstGeom prst="rect">
            <a:avLst/>
          </a:prstGeom>
          <a:noFill/>
        </p:spPr>
        <p:txBody>
          <a:bodyPr wrap="square" rtlCol="0">
            <a:spAutoFit/>
          </a:bodyPr>
          <a:lstStyle/>
          <a:p>
            <a:pPr algn="just"/>
            <a:r>
              <a:rPr lang="en-US" sz="2400" dirty="0"/>
              <a:t>It's a long term contract.</a:t>
            </a:r>
            <a:endParaRPr lang="en-US" sz="2400" dirty="0">
              <a:solidFill>
                <a:schemeClr val="tx1"/>
              </a:solidFill>
            </a:endParaRPr>
          </a:p>
        </p:txBody>
      </p:sp>
      <p:sp>
        <p:nvSpPr>
          <p:cNvPr id="14" name="Text Box 16">
            <a:extLst>
              <a:ext uri="{FF2B5EF4-FFF2-40B4-BE49-F238E27FC236}">
                <a16:creationId xmlns:a16="http://schemas.microsoft.com/office/drawing/2014/main" id="{BE9D081F-58D3-9978-05DA-61D024E8BF51}"/>
              </a:ext>
            </a:extLst>
          </p:cNvPr>
          <p:cNvSpPr txBox="1"/>
          <p:nvPr/>
        </p:nvSpPr>
        <p:spPr>
          <a:xfrm>
            <a:off x="7030553" y="2043947"/>
            <a:ext cx="4656350" cy="461665"/>
          </a:xfrm>
          <a:prstGeom prst="rect">
            <a:avLst/>
          </a:prstGeom>
          <a:noFill/>
        </p:spPr>
        <p:txBody>
          <a:bodyPr wrap="square" rtlCol="0">
            <a:spAutoFit/>
          </a:bodyPr>
          <a:lstStyle/>
          <a:p>
            <a:pPr algn="just"/>
            <a:r>
              <a:rPr lang="en-US" sz="2400" dirty="0"/>
              <a:t>It's a short term contract.</a:t>
            </a:r>
            <a:endParaRPr lang="en-US" sz="2400" dirty="0">
              <a:solidFill>
                <a:schemeClr val="tx1"/>
              </a:solidFill>
            </a:endParaRPr>
          </a:p>
        </p:txBody>
      </p:sp>
      <p:sp>
        <p:nvSpPr>
          <p:cNvPr id="15" name="Text Box 17">
            <a:extLst>
              <a:ext uri="{FF2B5EF4-FFF2-40B4-BE49-F238E27FC236}">
                <a16:creationId xmlns:a16="http://schemas.microsoft.com/office/drawing/2014/main" id="{401E4BEB-6EC7-93FB-D433-86B49B054216}"/>
              </a:ext>
            </a:extLst>
          </p:cNvPr>
          <p:cNvSpPr txBox="1"/>
          <p:nvPr/>
        </p:nvSpPr>
        <p:spPr>
          <a:xfrm>
            <a:off x="270806" y="2867925"/>
            <a:ext cx="1292341" cy="461665"/>
          </a:xfrm>
          <a:prstGeom prst="rect">
            <a:avLst/>
          </a:prstGeom>
          <a:noFill/>
        </p:spPr>
        <p:txBody>
          <a:bodyPr wrap="none" rtlCol="0">
            <a:spAutoFit/>
          </a:bodyPr>
          <a:lstStyle/>
          <a:p>
            <a:r>
              <a:rPr lang="en-US" sz="2400" b="1" dirty="0">
                <a:solidFill>
                  <a:schemeClr val="accent4">
                    <a:lumMod val="75000"/>
                  </a:schemeClr>
                </a:solidFill>
              </a:rPr>
              <a:t>Premium</a:t>
            </a:r>
          </a:p>
        </p:txBody>
      </p:sp>
      <p:sp>
        <p:nvSpPr>
          <p:cNvPr id="16" name="Text Box 18">
            <a:extLst>
              <a:ext uri="{FF2B5EF4-FFF2-40B4-BE49-F238E27FC236}">
                <a16:creationId xmlns:a16="http://schemas.microsoft.com/office/drawing/2014/main" id="{6360DA9C-9ACD-DB3F-B427-66C6BD176EB8}"/>
              </a:ext>
            </a:extLst>
          </p:cNvPr>
          <p:cNvSpPr txBox="1"/>
          <p:nvPr/>
        </p:nvSpPr>
        <p:spPr>
          <a:xfrm>
            <a:off x="2216563" y="2922358"/>
            <a:ext cx="4347210" cy="830997"/>
          </a:xfrm>
          <a:prstGeom prst="rect">
            <a:avLst/>
          </a:prstGeom>
          <a:noFill/>
        </p:spPr>
        <p:txBody>
          <a:bodyPr wrap="square" rtlCol="0">
            <a:spAutoFit/>
          </a:bodyPr>
          <a:lstStyle/>
          <a:p>
            <a:pPr algn="just"/>
            <a:r>
              <a:rPr lang="en-US" sz="2400" dirty="0"/>
              <a:t>Premium can be paid over the year.</a:t>
            </a:r>
            <a:endParaRPr lang="en-US" sz="2400" dirty="0">
              <a:solidFill>
                <a:schemeClr val="tx1"/>
              </a:solidFill>
            </a:endParaRPr>
          </a:p>
        </p:txBody>
      </p:sp>
      <p:sp>
        <p:nvSpPr>
          <p:cNvPr id="17" name="Text Box 19">
            <a:extLst>
              <a:ext uri="{FF2B5EF4-FFF2-40B4-BE49-F238E27FC236}">
                <a16:creationId xmlns:a16="http://schemas.microsoft.com/office/drawing/2014/main" id="{A955D527-69F9-983D-2101-CC64BB6CE9C1}"/>
              </a:ext>
            </a:extLst>
          </p:cNvPr>
          <p:cNvSpPr txBox="1"/>
          <p:nvPr/>
        </p:nvSpPr>
        <p:spPr>
          <a:xfrm>
            <a:off x="7053415" y="2957194"/>
            <a:ext cx="4581234" cy="461665"/>
          </a:xfrm>
          <a:prstGeom prst="rect">
            <a:avLst/>
          </a:prstGeom>
          <a:noFill/>
        </p:spPr>
        <p:txBody>
          <a:bodyPr wrap="square" rtlCol="0">
            <a:spAutoFit/>
          </a:bodyPr>
          <a:lstStyle/>
          <a:p>
            <a:pPr algn="just"/>
            <a:r>
              <a:rPr lang="en-US" sz="2400" dirty="0"/>
              <a:t>Premium has to be paid lump sum.</a:t>
            </a:r>
            <a:endParaRPr lang="en-US" sz="2400" dirty="0">
              <a:solidFill>
                <a:schemeClr val="tx1"/>
              </a:solidFill>
            </a:endParaRPr>
          </a:p>
        </p:txBody>
      </p:sp>
      <p:sp>
        <p:nvSpPr>
          <p:cNvPr id="18" name="Text Box 23">
            <a:extLst>
              <a:ext uri="{FF2B5EF4-FFF2-40B4-BE49-F238E27FC236}">
                <a16:creationId xmlns:a16="http://schemas.microsoft.com/office/drawing/2014/main" id="{68DE6939-8151-52D3-B9EB-6D7610AEAA51}"/>
              </a:ext>
            </a:extLst>
          </p:cNvPr>
          <p:cNvSpPr txBox="1"/>
          <p:nvPr/>
        </p:nvSpPr>
        <p:spPr>
          <a:xfrm>
            <a:off x="270806" y="3745673"/>
            <a:ext cx="718466" cy="461665"/>
          </a:xfrm>
          <a:prstGeom prst="rect">
            <a:avLst/>
          </a:prstGeom>
          <a:noFill/>
        </p:spPr>
        <p:txBody>
          <a:bodyPr wrap="none" rtlCol="0">
            <a:spAutoFit/>
          </a:bodyPr>
          <a:lstStyle/>
          <a:p>
            <a:r>
              <a:rPr lang="en-US" sz="2400" b="1" dirty="0">
                <a:solidFill>
                  <a:schemeClr val="accent4">
                    <a:lumMod val="75000"/>
                  </a:schemeClr>
                </a:solidFill>
              </a:rPr>
              <a:t>Risk</a:t>
            </a:r>
          </a:p>
        </p:txBody>
      </p:sp>
      <p:sp>
        <p:nvSpPr>
          <p:cNvPr id="19" name="Text Box 24">
            <a:extLst>
              <a:ext uri="{FF2B5EF4-FFF2-40B4-BE49-F238E27FC236}">
                <a16:creationId xmlns:a16="http://schemas.microsoft.com/office/drawing/2014/main" id="{84EDE95D-E7D9-1F86-1CA6-012BBCE27CF3}"/>
              </a:ext>
            </a:extLst>
          </p:cNvPr>
          <p:cNvSpPr txBox="1"/>
          <p:nvPr/>
        </p:nvSpPr>
        <p:spPr>
          <a:xfrm>
            <a:off x="2200090" y="3706513"/>
            <a:ext cx="4347210" cy="830997"/>
          </a:xfrm>
          <a:prstGeom prst="rect">
            <a:avLst/>
          </a:prstGeom>
          <a:noFill/>
        </p:spPr>
        <p:txBody>
          <a:bodyPr wrap="square" rtlCol="0">
            <a:spAutoFit/>
          </a:bodyPr>
          <a:lstStyle/>
          <a:p>
            <a:pPr algn="just"/>
            <a:r>
              <a:rPr lang="en-US" sz="2400" dirty="0"/>
              <a:t>The element of risk is the death of a person.</a:t>
            </a:r>
            <a:endParaRPr lang="en-US" sz="2400" dirty="0">
              <a:solidFill>
                <a:schemeClr val="tx1"/>
              </a:solidFill>
            </a:endParaRPr>
          </a:p>
        </p:txBody>
      </p:sp>
      <p:sp>
        <p:nvSpPr>
          <p:cNvPr id="20" name="Text Box 25">
            <a:extLst>
              <a:ext uri="{FF2B5EF4-FFF2-40B4-BE49-F238E27FC236}">
                <a16:creationId xmlns:a16="http://schemas.microsoft.com/office/drawing/2014/main" id="{77E7F7BD-F4EE-8B1C-E9E7-ADFB963BF4A6}"/>
              </a:ext>
            </a:extLst>
          </p:cNvPr>
          <p:cNvSpPr txBox="1"/>
          <p:nvPr/>
        </p:nvSpPr>
        <p:spPr>
          <a:xfrm>
            <a:off x="7059446" y="3723445"/>
            <a:ext cx="4494148" cy="830997"/>
          </a:xfrm>
          <a:prstGeom prst="rect">
            <a:avLst/>
          </a:prstGeom>
          <a:noFill/>
        </p:spPr>
        <p:txBody>
          <a:bodyPr wrap="square" rtlCol="0">
            <a:spAutoFit/>
          </a:bodyPr>
          <a:lstStyle/>
          <a:p>
            <a:pPr algn="just"/>
            <a:r>
              <a:rPr lang="en-US" sz="2400" dirty="0"/>
              <a:t>The element of risk is the damage/ loss to a property or an asset.</a:t>
            </a:r>
            <a:endParaRPr lang="en-US" sz="2400" dirty="0">
              <a:solidFill>
                <a:schemeClr val="tx1"/>
              </a:solidFill>
            </a:endParaRPr>
          </a:p>
        </p:txBody>
      </p:sp>
      <p:sp>
        <p:nvSpPr>
          <p:cNvPr id="21" name="Text Box 23">
            <a:extLst>
              <a:ext uri="{FF2B5EF4-FFF2-40B4-BE49-F238E27FC236}">
                <a16:creationId xmlns:a16="http://schemas.microsoft.com/office/drawing/2014/main" id="{68DE6939-8151-52D3-B9EB-6D7610AEAA51}"/>
              </a:ext>
            </a:extLst>
          </p:cNvPr>
          <p:cNvSpPr txBox="1"/>
          <p:nvPr/>
        </p:nvSpPr>
        <p:spPr>
          <a:xfrm>
            <a:off x="262438" y="4832537"/>
            <a:ext cx="1366080" cy="830997"/>
          </a:xfrm>
          <a:prstGeom prst="rect">
            <a:avLst/>
          </a:prstGeom>
          <a:noFill/>
        </p:spPr>
        <p:txBody>
          <a:bodyPr wrap="none" rtlCol="0">
            <a:spAutoFit/>
          </a:bodyPr>
          <a:lstStyle/>
          <a:p>
            <a:r>
              <a:rPr lang="en-US" sz="2400" b="1" dirty="0">
                <a:solidFill>
                  <a:schemeClr val="accent4">
                    <a:lumMod val="75000"/>
                  </a:schemeClr>
                </a:solidFill>
              </a:rPr>
              <a:t>Financial </a:t>
            </a:r>
          </a:p>
          <a:p>
            <a:r>
              <a:rPr lang="en-US" sz="2400" b="1" dirty="0">
                <a:solidFill>
                  <a:schemeClr val="accent4">
                    <a:lumMod val="75000"/>
                  </a:schemeClr>
                </a:solidFill>
              </a:rPr>
              <a:t>planning</a:t>
            </a:r>
          </a:p>
        </p:txBody>
      </p:sp>
      <p:sp>
        <p:nvSpPr>
          <p:cNvPr id="22" name="Text Box 24">
            <a:extLst>
              <a:ext uri="{FF2B5EF4-FFF2-40B4-BE49-F238E27FC236}">
                <a16:creationId xmlns:a16="http://schemas.microsoft.com/office/drawing/2014/main" id="{84EDE95D-E7D9-1F86-1CA6-012BBCE27CF3}"/>
              </a:ext>
            </a:extLst>
          </p:cNvPr>
          <p:cNvSpPr txBox="1"/>
          <p:nvPr/>
        </p:nvSpPr>
        <p:spPr>
          <a:xfrm>
            <a:off x="2201770" y="4793377"/>
            <a:ext cx="4347210" cy="1569660"/>
          </a:xfrm>
          <a:prstGeom prst="rect">
            <a:avLst/>
          </a:prstGeom>
          <a:noFill/>
        </p:spPr>
        <p:txBody>
          <a:bodyPr wrap="square" rtlCol="0">
            <a:spAutoFit/>
          </a:bodyPr>
          <a:lstStyle/>
          <a:p>
            <a:pPr algn="just"/>
            <a:r>
              <a:rPr lang="en-US" sz="2400" dirty="0"/>
              <a:t>You can count on life insurance policies as an avenue to plan for financial goals like children’s education, retirement fund, etc. </a:t>
            </a:r>
            <a:endParaRPr lang="en-US" sz="2400" dirty="0">
              <a:solidFill>
                <a:schemeClr val="tx1"/>
              </a:solidFill>
            </a:endParaRPr>
          </a:p>
        </p:txBody>
      </p:sp>
      <p:sp>
        <p:nvSpPr>
          <p:cNvPr id="23" name="Text Box 25">
            <a:extLst>
              <a:ext uri="{FF2B5EF4-FFF2-40B4-BE49-F238E27FC236}">
                <a16:creationId xmlns:a16="http://schemas.microsoft.com/office/drawing/2014/main" id="{77E7F7BD-F4EE-8B1C-E9E7-ADFB963BF4A6}"/>
              </a:ext>
            </a:extLst>
          </p:cNvPr>
          <p:cNvSpPr txBox="1"/>
          <p:nvPr/>
        </p:nvSpPr>
        <p:spPr>
          <a:xfrm>
            <a:off x="7061126" y="4810309"/>
            <a:ext cx="4494148" cy="1200329"/>
          </a:xfrm>
          <a:prstGeom prst="rect">
            <a:avLst/>
          </a:prstGeom>
          <a:noFill/>
        </p:spPr>
        <p:txBody>
          <a:bodyPr wrap="square" rtlCol="0">
            <a:spAutoFit/>
          </a:bodyPr>
          <a:lstStyle/>
          <a:p>
            <a:pPr algn="just"/>
            <a:r>
              <a:rPr lang="en-US" sz="2400" dirty="0"/>
              <a:t>General insurance is simply a protective measure and not one for investment.</a:t>
            </a:r>
            <a:endParaRPr lang="en-US" sz="2400" dirty="0">
              <a:solidFill>
                <a:schemeClr val="tx1"/>
              </a:solidFill>
            </a:endParaRPr>
          </a:p>
        </p:txBody>
      </p:sp>
    </p:spTree>
    <p:extLst>
      <p:ext uri="{BB962C8B-B14F-4D97-AF65-F5344CB8AC3E}">
        <p14:creationId xmlns:p14="http://schemas.microsoft.com/office/powerpoint/2010/main" val="107771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9" grpId="0"/>
      <p:bldP spid="9" grpId="1"/>
      <p:bldP spid="10" grpId="0"/>
      <p:bldP spid="10"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P spid="21" grpId="0"/>
      <p:bldP spid="21" grpId="1"/>
      <p:bldP spid="22" grpId="0"/>
      <p:bldP spid="22" grpId="1"/>
      <p:bldP spid="23" grpId="0"/>
      <p:bldP spid="2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0247761-867A-3B35-7A50-EE515D27BEB8}"/>
              </a:ext>
            </a:extLst>
          </p:cNvPr>
          <p:cNvCxnSpPr/>
          <p:nvPr/>
        </p:nvCxnSpPr>
        <p:spPr>
          <a:xfrm flipH="1">
            <a:off x="6802734" y="8315"/>
            <a:ext cx="17925" cy="499576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4F5D60A-3E8F-B985-1DDA-B7953DFB7767}"/>
              </a:ext>
            </a:extLst>
          </p:cNvPr>
          <p:cNvCxnSpPr/>
          <p:nvPr/>
        </p:nvCxnSpPr>
        <p:spPr>
          <a:xfrm>
            <a:off x="2248836" y="800795"/>
            <a:ext cx="9594215" cy="5080"/>
          </a:xfrm>
          <a:prstGeom prst="line">
            <a:avLst/>
          </a:prstGeom>
          <a:ln w="38100"/>
        </p:spPr>
        <p:style>
          <a:lnRef idx="3">
            <a:schemeClr val="accent5"/>
          </a:lnRef>
          <a:fillRef idx="0">
            <a:schemeClr val="accent5"/>
          </a:fillRef>
          <a:effectRef idx="2">
            <a:schemeClr val="accent5"/>
          </a:effectRef>
          <a:fontRef idx="minor">
            <a:schemeClr val="tx1"/>
          </a:fontRef>
        </p:style>
      </p:cxnSp>
      <p:sp>
        <p:nvSpPr>
          <p:cNvPr id="7" name="Text Box 6">
            <a:extLst>
              <a:ext uri="{FF2B5EF4-FFF2-40B4-BE49-F238E27FC236}">
                <a16:creationId xmlns:a16="http://schemas.microsoft.com/office/drawing/2014/main" id="{50E25BC6-9FC5-514F-91F7-CA0E777D52DF}"/>
              </a:ext>
            </a:extLst>
          </p:cNvPr>
          <p:cNvSpPr txBox="1"/>
          <p:nvPr/>
        </p:nvSpPr>
        <p:spPr>
          <a:xfrm>
            <a:off x="2860150" y="50612"/>
            <a:ext cx="3113353" cy="707886"/>
          </a:xfrm>
          <a:prstGeom prst="rect">
            <a:avLst/>
          </a:prstGeom>
          <a:noFill/>
        </p:spPr>
        <p:txBody>
          <a:bodyPr wrap="none" rtlCol="0">
            <a:spAutoFit/>
          </a:bodyPr>
          <a:lstStyle/>
          <a:p>
            <a:r>
              <a:rPr lang="en-US" sz="4000" b="1" dirty="0">
                <a:solidFill>
                  <a:srgbClr val="0070C0"/>
                </a:solidFill>
              </a:rPr>
              <a:t>Life Insurance</a:t>
            </a:r>
          </a:p>
        </p:txBody>
      </p:sp>
      <p:sp>
        <p:nvSpPr>
          <p:cNvPr id="8" name="Text Box 7">
            <a:extLst>
              <a:ext uri="{FF2B5EF4-FFF2-40B4-BE49-F238E27FC236}">
                <a16:creationId xmlns:a16="http://schemas.microsoft.com/office/drawing/2014/main" id="{70F8D394-2EBD-65C3-8846-B5AA71011F03}"/>
              </a:ext>
            </a:extLst>
          </p:cNvPr>
          <p:cNvSpPr txBox="1"/>
          <p:nvPr/>
        </p:nvSpPr>
        <p:spPr>
          <a:xfrm>
            <a:off x="7158656" y="73852"/>
            <a:ext cx="3910045" cy="707886"/>
          </a:xfrm>
          <a:prstGeom prst="rect">
            <a:avLst/>
          </a:prstGeom>
          <a:noFill/>
        </p:spPr>
        <p:txBody>
          <a:bodyPr wrap="none" rtlCol="0">
            <a:spAutoFit/>
          </a:bodyPr>
          <a:lstStyle/>
          <a:p>
            <a:r>
              <a:rPr lang="en-US" sz="4000" b="1" dirty="0">
                <a:solidFill>
                  <a:srgbClr val="0070C0"/>
                </a:solidFill>
              </a:rPr>
              <a:t>General Insurance</a:t>
            </a:r>
          </a:p>
        </p:txBody>
      </p:sp>
      <p:sp>
        <p:nvSpPr>
          <p:cNvPr id="18" name="Text Box 23">
            <a:extLst>
              <a:ext uri="{FF2B5EF4-FFF2-40B4-BE49-F238E27FC236}">
                <a16:creationId xmlns:a16="http://schemas.microsoft.com/office/drawing/2014/main" id="{68DE6939-8151-52D3-B9EB-6D7610AEAA51}"/>
              </a:ext>
            </a:extLst>
          </p:cNvPr>
          <p:cNvSpPr txBox="1"/>
          <p:nvPr/>
        </p:nvSpPr>
        <p:spPr>
          <a:xfrm>
            <a:off x="250710" y="1022663"/>
            <a:ext cx="1468672" cy="830997"/>
          </a:xfrm>
          <a:prstGeom prst="rect">
            <a:avLst/>
          </a:prstGeom>
          <a:noFill/>
        </p:spPr>
        <p:txBody>
          <a:bodyPr wrap="none" rtlCol="0">
            <a:spAutoFit/>
          </a:bodyPr>
          <a:lstStyle/>
          <a:p>
            <a:r>
              <a:rPr lang="en-US" sz="2400" b="1" dirty="0">
                <a:solidFill>
                  <a:schemeClr val="accent4">
                    <a:lumMod val="75000"/>
                  </a:schemeClr>
                </a:solidFill>
              </a:rPr>
              <a:t>Insurance </a:t>
            </a:r>
          </a:p>
          <a:p>
            <a:r>
              <a:rPr lang="en-US" sz="2400" b="1" dirty="0">
                <a:solidFill>
                  <a:schemeClr val="accent4">
                    <a:lumMod val="75000"/>
                  </a:schemeClr>
                </a:solidFill>
              </a:rPr>
              <a:t>claim</a:t>
            </a:r>
          </a:p>
        </p:txBody>
      </p:sp>
      <p:sp>
        <p:nvSpPr>
          <p:cNvPr id="19" name="Text Box 24">
            <a:extLst>
              <a:ext uri="{FF2B5EF4-FFF2-40B4-BE49-F238E27FC236}">
                <a16:creationId xmlns:a16="http://schemas.microsoft.com/office/drawing/2014/main" id="{84EDE95D-E7D9-1F86-1CA6-012BBCE27CF3}"/>
              </a:ext>
            </a:extLst>
          </p:cNvPr>
          <p:cNvSpPr txBox="1"/>
          <p:nvPr/>
        </p:nvSpPr>
        <p:spPr>
          <a:xfrm>
            <a:off x="2200090" y="983503"/>
            <a:ext cx="4347210" cy="2308324"/>
          </a:xfrm>
          <a:prstGeom prst="rect">
            <a:avLst/>
          </a:prstGeom>
          <a:noFill/>
        </p:spPr>
        <p:txBody>
          <a:bodyPr wrap="square" rtlCol="0">
            <a:spAutoFit/>
          </a:bodyPr>
          <a:lstStyle/>
          <a:p>
            <a:pPr algn="just"/>
            <a:r>
              <a:rPr lang="en-US" sz="2400" dirty="0"/>
              <a:t>With insurance, the assured sum is paid upon the insured individual’s death, or if the policyholder survives then on maturity (depending on the type of plan). </a:t>
            </a:r>
            <a:endParaRPr lang="en-US" sz="2400" dirty="0">
              <a:solidFill>
                <a:schemeClr val="tx1"/>
              </a:solidFill>
            </a:endParaRPr>
          </a:p>
        </p:txBody>
      </p:sp>
      <p:sp>
        <p:nvSpPr>
          <p:cNvPr id="20" name="Text Box 25">
            <a:extLst>
              <a:ext uri="{FF2B5EF4-FFF2-40B4-BE49-F238E27FC236}">
                <a16:creationId xmlns:a16="http://schemas.microsoft.com/office/drawing/2014/main" id="{77E7F7BD-F4EE-8B1C-E9E7-ADFB963BF4A6}"/>
              </a:ext>
            </a:extLst>
          </p:cNvPr>
          <p:cNvSpPr txBox="1"/>
          <p:nvPr/>
        </p:nvSpPr>
        <p:spPr>
          <a:xfrm>
            <a:off x="7059446" y="1000435"/>
            <a:ext cx="4494148" cy="1569660"/>
          </a:xfrm>
          <a:prstGeom prst="rect">
            <a:avLst/>
          </a:prstGeom>
          <a:noFill/>
        </p:spPr>
        <p:txBody>
          <a:bodyPr wrap="square" rtlCol="0">
            <a:spAutoFit/>
          </a:bodyPr>
          <a:lstStyle/>
          <a:p>
            <a:pPr algn="just"/>
            <a:r>
              <a:rPr lang="en-US" sz="2400" dirty="0"/>
              <a:t>With general insurance, you receive reimbursement/cashless coverage only in case of unfortunate events, according to policy terms.</a:t>
            </a:r>
            <a:endParaRPr lang="en-US" sz="2400" dirty="0">
              <a:solidFill>
                <a:schemeClr val="tx1"/>
              </a:solidFill>
            </a:endParaRPr>
          </a:p>
        </p:txBody>
      </p:sp>
      <p:sp>
        <p:nvSpPr>
          <p:cNvPr id="21" name="Text Box 23">
            <a:extLst>
              <a:ext uri="{FF2B5EF4-FFF2-40B4-BE49-F238E27FC236}">
                <a16:creationId xmlns:a16="http://schemas.microsoft.com/office/drawing/2014/main" id="{68DE6939-8151-52D3-B9EB-6D7610AEAA51}"/>
              </a:ext>
            </a:extLst>
          </p:cNvPr>
          <p:cNvSpPr txBox="1"/>
          <p:nvPr/>
        </p:nvSpPr>
        <p:spPr>
          <a:xfrm>
            <a:off x="262438" y="3586583"/>
            <a:ext cx="1217000" cy="461665"/>
          </a:xfrm>
          <a:prstGeom prst="rect">
            <a:avLst/>
          </a:prstGeom>
          <a:noFill/>
        </p:spPr>
        <p:txBody>
          <a:bodyPr wrap="none" rtlCol="0">
            <a:spAutoFit/>
          </a:bodyPr>
          <a:lstStyle/>
          <a:p>
            <a:r>
              <a:rPr lang="en-US" sz="2400" b="1" dirty="0">
                <a:solidFill>
                  <a:schemeClr val="accent4">
                    <a:lumMod val="75000"/>
                  </a:schemeClr>
                </a:solidFill>
              </a:rPr>
              <a:t>Benefits</a:t>
            </a:r>
          </a:p>
        </p:txBody>
      </p:sp>
      <p:sp>
        <p:nvSpPr>
          <p:cNvPr id="22" name="Text Box 24">
            <a:extLst>
              <a:ext uri="{FF2B5EF4-FFF2-40B4-BE49-F238E27FC236}">
                <a16:creationId xmlns:a16="http://schemas.microsoft.com/office/drawing/2014/main" id="{84EDE95D-E7D9-1F86-1CA6-012BBCE27CF3}"/>
              </a:ext>
            </a:extLst>
          </p:cNvPr>
          <p:cNvSpPr txBox="1"/>
          <p:nvPr/>
        </p:nvSpPr>
        <p:spPr>
          <a:xfrm>
            <a:off x="2201770" y="3547423"/>
            <a:ext cx="4347210" cy="1200329"/>
          </a:xfrm>
          <a:prstGeom prst="rect">
            <a:avLst/>
          </a:prstGeom>
          <a:noFill/>
        </p:spPr>
        <p:txBody>
          <a:bodyPr wrap="square" rtlCol="0">
            <a:spAutoFit/>
          </a:bodyPr>
          <a:lstStyle/>
          <a:p>
            <a:pPr algn="just"/>
            <a:r>
              <a:rPr lang="en-US" sz="2400" dirty="0"/>
              <a:t>Financial protection for loved ones and dependents in case of the insured's death.</a:t>
            </a:r>
            <a:endParaRPr lang="en-US" sz="2400" dirty="0">
              <a:solidFill>
                <a:schemeClr val="tx1"/>
              </a:solidFill>
            </a:endParaRPr>
          </a:p>
        </p:txBody>
      </p:sp>
      <p:sp>
        <p:nvSpPr>
          <p:cNvPr id="23" name="Text Box 25">
            <a:extLst>
              <a:ext uri="{FF2B5EF4-FFF2-40B4-BE49-F238E27FC236}">
                <a16:creationId xmlns:a16="http://schemas.microsoft.com/office/drawing/2014/main" id="{77E7F7BD-F4EE-8B1C-E9E7-ADFB963BF4A6}"/>
              </a:ext>
            </a:extLst>
          </p:cNvPr>
          <p:cNvSpPr txBox="1"/>
          <p:nvPr/>
        </p:nvSpPr>
        <p:spPr>
          <a:xfrm>
            <a:off x="7061126" y="3564355"/>
            <a:ext cx="4494148" cy="1200329"/>
          </a:xfrm>
          <a:prstGeom prst="rect">
            <a:avLst/>
          </a:prstGeom>
          <a:noFill/>
        </p:spPr>
        <p:txBody>
          <a:bodyPr wrap="square" rtlCol="0">
            <a:spAutoFit/>
          </a:bodyPr>
          <a:lstStyle/>
          <a:p>
            <a:pPr algn="just"/>
            <a:r>
              <a:rPr lang="en-US" sz="2400" dirty="0"/>
              <a:t>Safeguards assets against unexpected events, reducing financial risks.</a:t>
            </a:r>
            <a:endParaRPr lang="en-US" sz="2400" dirty="0">
              <a:solidFill>
                <a:schemeClr val="tx1"/>
              </a:solidFill>
            </a:endParaRPr>
          </a:p>
        </p:txBody>
      </p:sp>
    </p:spTree>
    <p:extLst>
      <p:ext uri="{BB962C8B-B14F-4D97-AF65-F5344CB8AC3E}">
        <p14:creationId xmlns:p14="http://schemas.microsoft.com/office/powerpoint/2010/main" val="370746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8" grpId="0"/>
      <p:bldP spid="18" grpId="1"/>
      <p:bldP spid="19" grpId="0"/>
      <p:bldP spid="19" grpId="1"/>
      <p:bldP spid="20" grpId="0"/>
      <p:bldP spid="20" grpId="1"/>
      <p:bldP spid="21" grpId="0"/>
      <p:bldP spid="21" grpId="1"/>
      <p:bldP spid="22" grpId="0"/>
      <p:bldP spid="22" grpId="1"/>
      <p:bldP spid="23" grpId="0"/>
      <p:bldP spid="23"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Life Insurance</a:t>
            </a:r>
          </a:p>
        </p:txBody>
      </p:sp>
    </p:spTree>
    <p:extLst>
      <p:ext uri="{BB962C8B-B14F-4D97-AF65-F5344CB8AC3E}">
        <p14:creationId xmlns:p14="http://schemas.microsoft.com/office/powerpoint/2010/main" val="2408587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About Life Insurance</a:t>
            </a:r>
            <a:endParaRPr lang="en-IN" dirty="0"/>
          </a:p>
        </p:txBody>
      </p:sp>
      <p:sp>
        <p:nvSpPr>
          <p:cNvPr id="5" name="Content Placeholder 4"/>
          <p:cNvSpPr>
            <a:spLocks noGrp="1"/>
          </p:cNvSpPr>
          <p:nvPr>
            <p:ph idx="1"/>
          </p:nvPr>
        </p:nvSpPr>
        <p:spPr/>
        <p:txBody>
          <a:bodyPr/>
          <a:lstStyle/>
          <a:p>
            <a:r>
              <a:rPr lang="en-US" dirty="0"/>
              <a:t>Life insurance supports </a:t>
            </a:r>
            <a:r>
              <a:rPr lang="en-US" b="1" dirty="0">
                <a:solidFill>
                  <a:srgbClr val="C00000"/>
                </a:solidFill>
              </a:rPr>
              <a:t>risk mitigation, promotes long-term savings, and contributes to the financial security of families and the economy.</a:t>
            </a:r>
          </a:p>
          <a:p>
            <a:r>
              <a:rPr lang="en-US" dirty="0"/>
              <a:t>Life insurance in India began in </a:t>
            </a:r>
            <a:r>
              <a:rPr lang="en-US" b="1" dirty="0">
                <a:solidFill>
                  <a:srgbClr val="C00000"/>
                </a:solidFill>
              </a:rPr>
              <a:t>1818</a:t>
            </a:r>
            <a:r>
              <a:rPr lang="en-US" dirty="0"/>
              <a:t> with the establishment of the </a:t>
            </a:r>
            <a:r>
              <a:rPr lang="en-US" b="1" dirty="0">
                <a:solidFill>
                  <a:srgbClr val="C00000"/>
                </a:solidFill>
              </a:rPr>
              <a:t>Oriental Life Insurance Company in Calcutta.</a:t>
            </a:r>
          </a:p>
          <a:p>
            <a:r>
              <a:rPr lang="en-US" dirty="0"/>
              <a:t>Insurance penetration is </a:t>
            </a:r>
            <a:r>
              <a:rPr lang="en-US" b="1" dirty="0">
                <a:solidFill>
                  <a:srgbClr val="C00000"/>
                </a:solidFill>
              </a:rPr>
              <a:t>steadily increasing, driven by government schemes, rising awareness, and regulatory reforms.</a:t>
            </a:r>
          </a:p>
          <a:p>
            <a:r>
              <a:rPr lang="en-US" dirty="0"/>
              <a:t>LIC remains the largest insurer in India, but several private companies, such as HDFC Life and ICICI Prudential, now compete in the market.</a:t>
            </a:r>
            <a:endParaRPr lang="en-IN" dirty="0"/>
          </a:p>
        </p:txBody>
      </p:sp>
    </p:spTree>
    <p:extLst>
      <p:ext uri="{BB962C8B-B14F-4D97-AF65-F5344CB8AC3E}">
        <p14:creationId xmlns:p14="http://schemas.microsoft.com/office/powerpoint/2010/main" val="340118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711200"/>
          </a:xfrm>
        </p:spPr>
        <p:txBody>
          <a:bodyPr/>
          <a:lstStyle/>
          <a:p>
            <a:r>
              <a:rPr lang="en-US" dirty="0">
                <a:sym typeface="+mn-ea"/>
              </a:rPr>
              <a:t>Types of Life Insurance</a:t>
            </a:r>
            <a:endParaRPr lang="en-IN" dirty="0"/>
          </a:p>
        </p:txBody>
      </p:sp>
      <p:sp>
        <p:nvSpPr>
          <p:cNvPr id="2" name="Content Placeholder 1"/>
          <p:cNvSpPr>
            <a:spLocks noGrp="1"/>
          </p:cNvSpPr>
          <p:nvPr>
            <p:ph idx="1"/>
          </p:nvPr>
        </p:nvSpPr>
        <p:spPr>
          <a:xfrm>
            <a:off x="131180" y="2582426"/>
            <a:ext cx="11929641" cy="3871583"/>
          </a:xfrm>
        </p:spPr>
        <p:txBody>
          <a:bodyPr/>
          <a:lstStyle/>
          <a:p>
            <a:pPr lvl="0"/>
            <a:r>
              <a:rPr lang="en-US" b="1" dirty="0"/>
              <a:t>Term Insurance</a:t>
            </a:r>
          </a:p>
          <a:p>
            <a:pPr lvl="1"/>
            <a:r>
              <a:rPr lang="en-US" dirty="0"/>
              <a:t>It provides a lump-sum payout to the nominee in case of the insured’s demise during the policy term.</a:t>
            </a:r>
          </a:p>
          <a:p>
            <a:pPr lvl="0"/>
            <a:r>
              <a:rPr lang="en-IN" b="1" dirty="0"/>
              <a:t>Whole Life Insurance</a:t>
            </a:r>
            <a:endParaRPr lang="en-US" b="1" dirty="0"/>
          </a:p>
          <a:p>
            <a:pPr lvl="1"/>
            <a:r>
              <a:rPr lang="en-US" dirty="0"/>
              <a:t>Whole life insurance is a permanent life insurance policy that provides coverage for the insured’s entire lifetime.</a:t>
            </a:r>
          </a:p>
          <a:p>
            <a:r>
              <a:rPr lang="en-US" b="1" dirty="0"/>
              <a:t>Endowment Policy</a:t>
            </a:r>
          </a:p>
          <a:p>
            <a:pPr lvl="1"/>
            <a:r>
              <a:rPr lang="en-US" dirty="0"/>
              <a:t>If the policyholder survives the policy term, they receive a lump-sum maturity benefit.</a:t>
            </a:r>
          </a:p>
          <a:p>
            <a:endParaRPr lang="en-US" dirty="0"/>
          </a:p>
        </p:txBody>
      </p:sp>
      <p:graphicFrame>
        <p:nvGraphicFramePr>
          <p:cNvPr id="5" name="Content Placeholder 2"/>
          <p:cNvGraphicFramePr>
            <a:graphicFrameLocks/>
          </p:cNvGraphicFramePr>
          <p:nvPr/>
        </p:nvGraphicFramePr>
        <p:xfrm>
          <a:off x="46621" y="166217"/>
          <a:ext cx="12014200" cy="2961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168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E0F31C58-CE29-4FE2-BF10-C3EF096D455C}"/>
                                            </p:graphicEl>
                                          </p:spTgt>
                                        </p:tgtEl>
                                        <p:attrNameLst>
                                          <p:attrName>style.visibility</p:attrName>
                                        </p:attrNameLst>
                                      </p:cBhvr>
                                      <p:to>
                                        <p:strVal val="visible"/>
                                      </p:to>
                                    </p:set>
                                    <p:animEffect transition="in" filter="fade">
                                      <p:cBhvr>
                                        <p:cTn id="7" dur="500"/>
                                        <p:tgtEl>
                                          <p:spTgt spid="5">
                                            <p:graphicEl>
                                              <a:dgm id="{E0F31C58-CE29-4FE2-BF10-C3EF096D455C}"/>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graphicEl>
                                              <a:dgm id="{0894E664-4CE7-421D-BABC-62BA606B592B}"/>
                                            </p:graphicEl>
                                          </p:spTgt>
                                        </p:tgtEl>
                                        <p:attrNameLst>
                                          <p:attrName>style.visibility</p:attrName>
                                        </p:attrNameLst>
                                      </p:cBhvr>
                                      <p:to>
                                        <p:strVal val="visible"/>
                                      </p:to>
                                    </p:set>
                                    <p:animEffect transition="in" filter="fade">
                                      <p:cBhvr>
                                        <p:cTn id="12" dur="500"/>
                                        <p:tgtEl>
                                          <p:spTgt spid="5">
                                            <p:graphicEl>
                                              <a:dgm id="{0894E664-4CE7-421D-BABC-62BA606B592B}"/>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graphicEl>
                                              <a:dgm id="{5C687C42-A91D-4D49-B6D9-206F6EE15781}"/>
                                            </p:graphicEl>
                                          </p:spTgt>
                                        </p:tgtEl>
                                        <p:attrNameLst>
                                          <p:attrName>style.visibility</p:attrName>
                                        </p:attrNameLst>
                                      </p:cBhvr>
                                      <p:to>
                                        <p:strVal val="visible"/>
                                      </p:to>
                                    </p:set>
                                    <p:animEffect transition="in" filter="fade">
                                      <p:cBhvr>
                                        <p:cTn id="15" dur="500"/>
                                        <p:tgtEl>
                                          <p:spTgt spid="5">
                                            <p:graphicEl>
                                              <a:dgm id="{5C687C42-A91D-4D49-B6D9-206F6EE15781}"/>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graphicEl>
                                              <a:dgm id="{CB702E69-5553-4D94-A2CC-F997EE996FEB}"/>
                                            </p:graphicEl>
                                          </p:spTgt>
                                        </p:tgtEl>
                                        <p:attrNameLst>
                                          <p:attrName>style.visibility</p:attrName>
                                        </p:attrNameLst>
                                      </p:cBhvr>
                                      <p:to>
                                        <p:strVal val="visible"/>
                                      </p:to>
                                    </p:set>
                                    <p:animEffect transition="in" filter="fade">
                                      <p:cBhvr>
                                        <p:cTn id="20" dur="500"/>
                                        <p:tgtEl>
                                          <p:spTgt spid="5">
                                            <p:graphicEl>
                                              <a:dgm id="{CB702E69-5553-4D94-A2CC-F997EE996FEB}"/>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graphicEl>
                                              <a:dgm id="{5888542A-C483-4367-B2AD-21875108D618}"/>
                                            </p:graphicEl>
                                          </p:spTgt>
                                        </p:tgtEl>
                                        <p:attrNameLst>
                                          <p:attrName>style.visibility</p:attrName>
                                        </p:attrNameLst>
                                      </p:cBhvr>
                                      <p:to>
                                        <p:strVal val="visible"/>
                                      </p:to>
                                    </p:set>
                                    <p:animEffect transition="in" filter="fade">
                                      <p:cBhvr>
                                        <p:cTn id="23" dur="500"/>
                                        <p:tgtEl>
                                          <p:spTgt spid="5">
                                            <p:graphicEl>
                                              <a:dgm id="{5888542A-C483-4367-B2AD-21875108D618}"/>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graphicEl>
                                              <a:dgm id="{5AC85147-BDEC-4A35-AE95-BEFA872BFCA9}"/>
                                            </p:graphicEl>
                                          </p:spTgt>
                                        </p:tgtEl>
                                        <p:attrNameLst>
                                          <p:attrName>style.visibility</p:attrName>
                                        </p:attrNameLst>
                                      </p:cBhvr>
                                      <p:to>
                                        <p:strVal val="visible"/>
                                      </p:to>
                                    </p:set>
                                    <p:animEffect transition="in" filter="fade">
                                      <p:cBhvr>
                                        <p:cTn id="28" dur="500"/>
                                        <p:tgtEl>
                                          <p:spTgt spid="5">
                                            <p:graphicEl>
                                              <a:dgm id="{5AC85147-BDEC-4A35-AE95-BEFA872BFCA9}"/>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
                                            <p:graphicEl>
                                              <a:dgm id="{9EC9EAF9-B0A3-40CF-ABF5-D4EEF91EE7B4}"/>
                                            </p:graphicEl>
                                          </p:spTgt>
                                        </p:tgtEl>
                                        <p:attrNameLst>
                                          <p:attrName>style.visibility</p:attrName>
                                        </p:attrNameLst>
                                      </p:cBhvr>
                                      <p:to>
                                        <p:strVal val="visible"/>
                                      </p:to>
                                    </p:set>
                                    <p:animEffect transition="in" filter="fade">
                                      <p:cBhvr>
                                        <p:cTn id="31" dur="500"/>
                                        <p:tgtEl>
                                          <p:spTgt spid="5">
                                            <p:graphicEl>
                                              <a:dgm id="{9EC9EAF9-B0A3-40CF-ABF5-D4EEF91EE7B4}"/>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graphicEl>
                                              <a:dgm id="{19D7C271-DD9F-4C03-8B09-7E44BA1C9747}"/>
                                            </p:graphicEl>
                                          </p:spTgt>
                                        </p:tgtEl>
                                        <p:attrNameLst>
                                          <p:attrName>style.visibility</p:attrName>
                                        </p:attrNameLst>
                                      </p:cBhvr>
                                      <p:to>
                                        <p:strVal val="visible"/>
                                      </p:to>
                                    </p:set>
                                    <p:animEffect transition="in" filter="fade">
                                      <p:cBhvr>
                                        <p:cTn id="36" dur="500"/>
                                        <p:tgtEl>
                                          <p:spTgt spid="5">
                                            <p:graphicEl>
                                              <a:dgm id="{19D7C271-DD9F-4C03-8B09-7E44BA1C9747}"/>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graphicEl>
                                              <a:dgm id="{3C5770E1-07AE-4D9B-A14C-B250C77FD80B}"/>
                                            </p:graphicEl>
                                          </p:spTgt>
                                        </p:tgtEl>
                                        <p:attrNameLst>
                                          <p:attrName>style.visibility</p:attrName>
                                        </p:attrNameLst>
                                      </p:cBhvr>
                                      <p:to>
                                        <p:strVal val="visible"/>
                                      </p:to>
                                    </p:set>
                                    <p:animEffect transition="in" filter="fade">
                                      <p:cBhvr>
                                        <p:cTn id="39" dur="500"/>
                                        <p:tgtEl>
                                          <p:spTgt spid="5">
                                            <p:graphicEl>
                                              <a:dgm id="{3C5770E1-07AE-4D9B-A14C-B250C77FD80B}"/>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
                                            <p:graphicEl>
                                              <a:dgm id="{DE7CA7B6-1B7E-43DE-90C1-443227A2BA86}"/>
                                            </p:graphicEl>
                                          </p:spTgt>
                                        </p:tgtEl>
                                        <p:attrNameLst>
                                          <p:attrName>style.visibility</p:attrName>
                                        </p:attrNameLst>
                                      </p:cBhvr>
                                      <p:to>
                                        <p:strVal val="visible"/>
                                      </p:to>
                                    </p:set>
                                    <p:animEffect transition="in" filter="fade">
                                      <p:cBhvr>
                                        <p:cTn id="44" dur="500"/>
                                        <p:tgtEl>
                                          <p:spTgt spid="5">
                                            <p:graphicEl>
                                              <a:dgm id="{DE7CA7B6-1B7E-43DE-90C1-443227A2BA86}"/>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
                                            <p:graphicEl>
                                              <a:dgm id="{E20E77C9-ADF0-4C3C-AAA5-9BFFEE1599A2}"/>
                                            </p:graphicEl>
                                          </p:spTgt>
                                        </p:tgtEl>
                                        <p:attrNameLst>
                                          <p:attrName>style.visibility</p:attrName>
                                        </p:attrNameLst>
                                      </p:cBhvr>
                                      <p:to>
                                        <p:strVal val="visible"/>
                                      </p:to>
                                    </p:set>
                                    <p:animEffect transition="in" filter="fade">
                                      <p:cBhvr>
                                        <p:cTn id="47" dur="500"/>
                                        <p:tgtEl>
                                          <p:spTgt spid="5">
                                            <p:graphicEl>
                                              <a:dgm id="{E20E77C9-ADF0-4C3C-AAA5-9BFFEE1599A2}"/>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graphicEl>
                                              <a:dgm id="{98C750FA-4E97-486E-8A5B-809A86F6FBFE}"/>
                                            </p:graphicEl>
                                          </p:spTgt>
                                        </p:tgtEl>
                                        <p:attrNameLst>
                                          <p:attrName>style.visibility</p:attrName>
                                        </p:attrNameLst>
                                      </p:cBhvr>
                                      <p:to>
                                        <p:strVal val="visible"/>
                                      </p:to>
                                    </p:set>
                                    <p:animEffect transition="in" filter="fade">
                                      <p:cBhvr>
                                        <p:cTn id="52" dur="500"/>
                                        <p:tgtEl>
                                          <p:spTgt spid="5">
                                            <p:graphicEl>
                                              <a:dgm id="{98C750FA-4E97-486E-8A5B-809A86F6FBFE}"/>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
                                            <p:graphicEl>
                                              <a:dgm id="{121229CC-85C0-41FD-BB22-F41EC02B9F61}"/>
                                            </p:graphicEl>
                                          </p:spTgt>
                                        </p:tgtEl>
                                        <p:attrNameLst>
                                          <p:attrName>style.visibility</p:attrName>
                                        </p:attrNameLst>
                                      </p:cBhvr>
                                      <p:to>
                                        <p:strVal val="visible"/>
                                      </p:to>
                                    </p:set>
                                    <p:animEffect transition="in" filter="fade">
                                      <p:cBhvr>
                                        <p:cTn id="55" dur="500"/>
                                        <p:tgtEl>
                                          <p:spTgt spid="5">
                                            <p:graphicEl>
                                              <a:dgm id="{121229CC-85C0-41FD-BB22-F41EC02B9F61}"/>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
                                            <p:graphicEl>
                                              <a:dgm id="{8A69FD44-54DC-471D-BBF5-124B69D8C80E}"/>
                                            </p:graphicEl>
                                          </p:spTgt>
                                        </p:tgtEl>
                                        <p:attrNameLst>
                                          <p:attrName>style.visibility</p:attrName>
                                        </p:attrNameLst>
                                      </p:cBhvr>
                                      <p:to>
                                        <p:strVal val="visible"/>
                                      </p:to>
                                    </p:set>
                                    <p:animEffect transition="in" filter="fade">
                                      <p:cBhvr>
                                        <p:cTn id="60" dur="500"/>
                                        <p:tgtEl>
                                          <p:spTgt spid="5">
                                            <p:graphicEl>
                                              <a:dgm id="{8A69FD44-54DC-471D-BBF5-124B69D8C80E}"/>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
                                            <p:graphicEl>
                                              <a:dgm id="{79656BB0-7E0D-4789-8ECB-E2A524C689A0}"/>
                                            </p:graphicEl>
                                          </p:spTgt>
                                        </p:tgtEl>
                                        <p:attrNameLst>
                                          <p:attrName>style.visibility</p:attrName>
                                        </p:attrNameLst>
                                      </p:cBhvr>
                                      <p:to>
                                        <p:strVal val="visible"/>
                                      </p:to>
                                    </p:set>
                                    <p:animEffect transition="in" filter="fade">
                                      <p:cBhvr>
                                        <p:cTn id="63" dur="500"/>
                                        <p:tgtEl>
                                          <p:spTgt spid="5">
                                            <p:graphicEl>
                                              <a:dgm id="{79656BB0-7E0D-4789-8ECB-E2A524C689A0}"/>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
                                            <p:txEl>
                                              <p:pRg st="0" end="0"/>
                                            </p:txEl>
                                          </p:spTgt>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
                                            <p:txEl>
                                              <p:pRg st="2" end="2"/>
                                            </p:txEl>
                                          </p:spTgt>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
                                            <p:txEl>
                                              <p:pRg st="4" end="4"/>
                                            </p:txEl>
                                          </p:spTgt>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Graphic spid="5" grpId="0">
        <p:bldSub>
          <a:bldDgm bld="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711200"/>
          </a:xfrm>
        </p:spPr>
        <p:txBody>
          <a:bodyPr/>
          <a:lstStyle/>
          <a:p>
            <a:r>
              <a:rPr lang="en-US" dirty="0">
                <a:sym typeface="+mn-ea"/>
              </a:rPr>
              <a:t>Types of Life Insurance</a:t>
            </a:r>
            <a:endParaRPr lang="en-IN" dirty="0"/>
          </a:p>
        </p:txBody>
      </p:sp>
      <p:sp>
        <p:nvSpPr>
          <p:cNvPr id="2" name="Content Placeholder 1"/>
          <p:cNvSpPr>
            <a:spLocks noGrp="1"/>
          </p:cNvSpPr>
          <p:nvPr>
            <p:ph idx="1"/>
          </p:nvPr>
        </p:nvSpPr>
        <p:spPr/>
        <p:txBody>
          <a:bodyPr/>
          <a:lstStyle/>
          <a:p>
            <a:pPr lvl="0"/>
            <a:r>
              <a:rPr lang="en-IN" b="1"/>
              <a:t>Unit-Linked Insurance Plans (ULIPs)</a:t>
            </a:r>
            <a:endParaRPr lang="en-US" b="1"/>
          </a:p>
          <a:p>
            <a:pPr lvl="1"/>
            <a:r>
              <a:rPr lang="en-US" dirty="0"/>
              <a:t>ULIPs are market-linked insurance products that offer life insurance coverage and investment in equity or debt funds, with returns based on chosen fund performance.</a:t>
            </a:r>
          </a:p>
          <a:p>
            <a:r>
              <a:rPr lang="en-US" b="1" dirty="0"/>
              <a:t>Money-back Policy</a:t>
            </a:r>
          </a:p>
          <a:p>
            <a:pPr lvl="1"/>
            <a:r>
              <a:rPr lang="en-US" dirty="0"/>
              <a:t>Money-back policies offer periodic payouts at specific intervals during the policy term, even if the policyholder survives. In addition to these payouts, a lump-sum maturity benefit is provided at the end of the policy term.</a:t>
            </a:r>
          </a:p>
          <a:p>
            <a:pPr lvl="0"/>
            <a:r>
              <a:rPr lang="en-IN" b="1" dirty="0"/>
              <a:t>Children's Insurance</a:t>
            </a:r>
          </a:p>
          <a:p>
            <a:pPr lvl="1"/>
            <a:r>
              <a:rPr lang="en-US" dirty="0"/>
              <a:t>A kid insurance plan is designed to help you protect your child's future by providing you with life insurance as well as a guaranteed lump sum payout at maturity. </a:t>
            </a:r>
          </a:p>
          <a:p>
            <a:r>
              <a:rPr lang="en-IN" b="1"/>
              <a:t>Retirement Plans</a:t>
            </a:r>
          </a:p>
          <a:p>
            <a:pPr lvl="1"/>
            <a:r>
              <a:rPr lang="en-US"/>
              <a:t>Retirement-focused life insurance plans, sometimes known as annuity plans, are designed to provide regular payouts after you retire.</a:t>
            </a:r>
            <a:endParaRPr lang="en-US" dirty="0"/>
          </a:p>
        </p:txBody>
      </p:sp>
    </p:spTree>
    <p:extLst>
      <p:ext uri="{BB962C8B-B14F-4D97-AF65-F5344CB8AC3E}">
        <p14:creationId xmlns:p14="http://schemas.microsoft.com/office/powerpoint/2010/main" val="4038649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Benefits of Life Insurance</a:t>
            </a:r>
          </a:p>
        </p:txBody>
      </p:sp>
      <p:sp>
        <p:nvSpPr>
          <p:cNvPr id="3" name="Content Placeholder 2"/>
          <p:cNvSpPr>
            <a:spLocks noGrp="1"/>
          </p:cNvSpPr>
          <p:nvPr>
            <p:ph idx="1"/>
          </p:nvPr>
        </p:nvSpPr>
        <p:spPr/>
        <p:txBody>
          <a:bodyPr/>
          <a:lstStyle/>
          <a:p>
            <a:r>
              <a:rPr lang="en-US" b="1" dirty="0"/>
              <a:t>Financial Protection</a:t>
            </a:r>
          </a:p>
          <a:p>
            <a:pPr lvl="1"/>
            <a:r>
              <a:rPr lang="en-US" dirty="0"/>
              <a:t>Provides a safety net for the family in case of the policyholder's untimely demise.</a:t>
            </a:r>
          </a:p>
          <a:p>
            <a:r>
              <a:rPr lang="en-US" b="1" dirty="0"/>
              <a:t>Wealth Creation</a:t>
            </a:r>
          </a:p>
          <a:p>
            <a:pPr lvl="1"/>
            <a:r>
              <a:rPr lang="en-US" dirty="0"/>
              <a:t>Combines savings and investment options, enabling long-term wealth accumulation.</a:t>
            </a:r>
          </a:p>
          <a:p>
            <a:r>
              <a:rPr lang="en-US" b="1" dirty="0"/>
              <a:t>Tax Benefits</a:t>
            </a:r>
          </a:p>
          <a:p>
            <a:pPr lvl="1"/>
            <a:r>
              <a:rPr lang="en-US" dirty="0"/>
              <a:t>Premiums paid and maturity benefits are eligible for tax deductions under Section 80C and 10(10D) of the Income Tax Act.</a:t>
            </a:r>
          </a:p>
          <a:p>
            <a:r>
              <a:rPr lang="en-US" b="1" dirty="0"/>
              <a:t>Retirement Planning</a:t>
            </a:r>
          </a:p>
          <a:p>
            <a:pPr lvl="1"/>
            <a:r>
              <a:rPr lang="en-US" dirty="0"/>
              <a:t>Ensures a steady income post-retirement through pension plans and annuities.</a:t>
            </a:r>
          </a:p>
          <a:p>
            <a:r>
              <a:rPr lang="en-US" b="1" dirty="0"/>
              <a:t>Loan Facility</a:t>
            </a:r>
          </a:p>
          <a:p>
            <a:pPr lvl="1"/>
            <a:r>
              <a:rPr lang="en-US" dirty="0"/>
              <a:t>Offers the option to avail of loans against the policy.</a:t>
            </a:r>
            <a:endParaRPr lang="en-IN" dirty="0"/>
          </a:p>
        </p:txBody>
      </p:sp>
    </p:spTree>
    <p:extLst>
      <p:ext uri="{BB962C8B-B14F-4D97-AF65-F5344CB8AC3E}">
        <p14:creationId xmlns:p14="http://schemas.microsoft.com/office/powerpoint/2010/main" val="266499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Benefits of Life Insurance</a:t>
            </a:r>
          </a:p>
        </p:txBody>
      </p:sp>
      <p:sp>
        <p:nvSpPr>
          <p:cNvPr id="3" name="Content Placeholder 2"/>
          <p:cNvSpPr>
            <a:spLocks noGrp="1"/>
          </p:cNvSpPr>
          <p:nvPr>
            <p:ph idx="1"/>
          </p:nvPr>
        </p:nvSpPr>
        <p:spPr/>
        <p:txBody>
          <a:bodyPr/>
          <a:lstStyle/>
          <a:p>
            <a:r>
              <a:rPr lang="en-US" b="1" dirty="0"/>
              <a:t>Encourages Savings Discipline</a:t>
            </a:r>
          </a:p>
          <a:p>
            <a:pPr lvl="1"/>
            <a:r>
              <a:rPr lang="en-US" dirty="0"/>
              <a:t>Regular premium payments cultivate a habit of systematic saving.</a:t>
            </a:r>
          </a:p>
          <a:p>
            <a:r>
              <a:rPr lang="en-US" b="1" dirty="0"/>
              <a:t>Coverage for Critical Illnesses</a:t>
            </a:r>
          </a:p>
          <a:p>
            <a:pPr lvl="1"/>
            <a:r>
              <a:rPr lang="en-US" dirty="0"/>
              <a:t>Some policies provide add-ons or riders for critical illness coverage.</a:t>
            </a:r>
          </a:p>
          <a:p>
            <a:r>
              <a:rPr lang="en-US" b="1" dirty="0"/>
              <a:t>Peace of Mind</a:t>
            </a:r>
          </a:p>
          <a:p>
            <a:pPr lvl="1"/>
            <a:r>
              <a:rPr lang="en-US" dirty="0"/>
              <a:t>Reduces financial worries by securing the future of loved ones.</a:t>
            </a:r>
            <a:endParaRPr lang="en-IN" dirty="0"/>
          </a:p>
        </p:txBody>
      </p:sp>
    </p:spTree>
    <p:extLst>
      <p:ext uri="{BB962C8B-B14F-4D97-AF65-F5344CB8AC3E}">
        <p14:creationId xmlns:p14="http://schemas.microsoft.com/office/powerpoint/2010/main" val="86043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Policy Premium</a:t>
            </a:r>
          </a:p>
        </p:txBody>
      </p:sp>
      <p:sp>
        <p:nvSpPr>
          <p:cNvPr id="3" name="Content Placeholder 2"/>
          <p:cNvSpPr>
            <a:spLocks noGrp="1"/>
          </p:cNvSpPr>
          <p:nvPr>
            <p:ph idx="1"/>
          </p:nvPr>
        </p:nvSpPr>
        <p:spPr/>
        <p:txBody>
          <a:bodyPr/>
          <a:lstStyle/>
          <a:p>
            <a:r>
              <a:rPr lang="en-US" dirty="0"/>
              <a:t>Premiums are </a:t>
            </a:r>
            <a:r>
              <a:rPr lang="en-US" b="1" dirty="0">
                <a:solidFill>
                  <a:srgbClr val="C00000"/>
                </a:solidFill>
              </a:rPr>
              <a:t>payable in advance at the end of every month, quarter, half-year and year</a:t>
            </a:r>
            <a:r>
              <a:rPr lang="en-US" dirty="0"/>
              <a:t>, depending on the mode of payment of premium. </a:t>
            </a:r>
          </a:p>
          <a:p>
            <a:r>
              <a:rPr lang="en-US" dirty="0"/>
              <a:t>Under </a:t>
            </a:r>
            <a:r>
              <a:rPr lang="en-US" b="1" dirty="0">
                <a:solidFill>
                  <a:srgbClr val="C00000"/>
                </a:solidFill>
              </a:rPr>
              <a:t>Single premium contracts, the amount is paid only once</a:t>
            </a:r>
            <a:r>
              <a:rPr lang="en-US" dirty="0"/>
              <a:t> at the time of commencement of Policy. </a:t>
            </a:r>
          </a:p>
          <a:p>
            <a:r>
              <a:rPr lang="en-US" dirty="0"/>
              <a:t>A Policy document </a:t>
            </a:r>
            <a:r>
              <a:rPr lang="en-US" b="1" dirty="0">
                <a:solidFill>
                  <a:srgbClr val="C00000"/>
                </a:solidFill>
              </a:rPr>
              <a:t>can be in physical form or electronic form</a:t>
            </a:r>
            <a:r>
              <a:rPr lang="en-US" dirty="0"/>
              <a:t>. Electronic policies are </a:t>
            </a:r>
            <a:r>
              <a:rPr lang="en-US" b="1" dirty="0">
                <a:solidFill>
                  <a:srgbClr val="C00000"/>
                </a:solidFill>
              </a:rPr>
              <a:t>issued through an Insurance Repository </a:t>
            </a:r>
            <a:r>
              <a:rPr lang="en-US" dirty="0"/>
              <a:t>who is like a Depository Participating for holding shares in electronic form. </a:t>
            </a:r>
          </a:p>
          <a:p>
            <a:r>
              <a:rPr lang="en-US" dirty="0"/>
              <a:t>In the case of Insurance Repository, </a:t>
            </a:r>
            <a:r>
              <a:rPr lang="en-US" b="1" dirty="0">
                <a:solidFill>
                  <a:srgbClr val="C00000"/>
                </a:solidFill>
              </a:rPr>
              <a:t>the Insurance policies are held in electronic form and the Customer can access the Policy document online.</a:t>
            </a:r>
            <a:endParaRPr lang="en-IN" b="1" dirty="0">
              <a:solidFill>
                <a:srgbClr val="C00000"/>
              </a:solidFill>
            </a:endParaRPr>
          </a:p>
        </p:txBody>
      </p:sp>
    </p:spTree>
    <p:extLst>
      <p:ext uri="{BB962C8B-B14F-4D97-AF65-F5344CB8AC3E}">
        <p14:creationId xmlns:p14="http://schemas.microsoft.com/office/powerpoint/2010/main" val="2017647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 Claim</a:t>
            </a:r>
            <a:endParaRPr lang="en-IN" dirty="0"/>
          </a:p>
        </p:txBody>
      </p:sp>
      <p:sp>
        <p:nvSpPr>
          <p:cNvPr id="3" name="Content Placeholder 2"/>
          <p:cNvSpPr>
            <a:spLocks noGrp="1"/>
          </p:cNvSpPr>
          <p:nvPr>
            <p:ph idx="1"/>
          </p:nvPr>
        </p:nvSpPr>
        <p:spPr/>
        <p:txBody>
          <a:bodyPr/>
          <a:lstStyle/>
          <a:p>
            <a:r>
              <a:rPr lang="en-US" dirty="0"/>
              <a:t>Nominee submits documents such as: </a:t>
            </a:r>
            <a:r>
              <a:rPr lang="en-US" b="1" dirty="0">
                <a:solidFill>
                  <a:srgbClr val="C00000"/>
                </a:solidFill>
              </a:rPr>
              <a:t>Intimation of death, Death certificate, Doctor’s certificate, etc. </a:t>
            </a:r>
            <a:r>
              <a:rPr lang="en-US" dirty="0"/>
              <a:t>Additional documents may be requested within 15 days of claim intimation.</a:t>
            </a:r>
          </a:p>
          <a:p>
            <a:r>
              <a:rPr lang="en-US" b="1" dirty="0">
                <a:solidFill>
                  <a:srgbClr val="C00000"/>
                </a:solidFill>
              </a:rPr>
              <a:t>Claims submitted within 2 years of policy commencement are "early claims”. </a:t>
            </a:r>
            <a:r>
              <a:rPr lang="en-US" dirty="0"/>
              <a:t>Investigations are conducted to </a:t>
            </a:r>
            <a:r>
              <a:rPr lang="en-US" b="1" dirty="0">
                <a:solidFill>
                  <a:srgbClr val="C00000"/>
                </a:solidFill>
              </a:rPr>
              <a:t>rule out fraud or non-disclosure of medical conditions.</a:t>
            </a:r>
          </a:p>
          <a:p>
            <a:r>
              <a:rPr lang="en-US" dirty="0"/>
              <a:t>Insurer completes investigation within 90 days. Claim decision made within 30 days of receiving the investigation report. Delays in claim settlement: </a:t>
            </a:r>
            <a:r>
              <a:rPr lang="en-US" b="1" dirty="0">
                <a:solidFill>
                  <a:srgbClr val="C00000"/>
                </a:solidFill>
              </a:rPr>
              <a:t>Interest @ 2% above the bank rate is payable.</a:t>
            </a:r>
          </a:p>
          <a:p>
            <a:r>
              <a:rPr lang="en-US" b="1" dirty="0">
                <a:solidFill>
                  <a:srgbClr val="C00000"/>
                </a:solidFill>
              </a:rPr>
              <a:t>Suicide Clause: No sum assured is paid in the specific period (normally 1 year). </a:t>
            </a:r>
            <a:r>
              <a:rPr lang="en-US" dirty="0"/>
              <a:t>80% of premiums paid (or surrender value for ULIPs) is refunded. </a:t>
            </a:r>
          </a:p>
          <a:p>
            <a:r>
              <a:rPr lang="en-IN" b="1" dirty="0">
                <a:solidFill>
                  <a:srgbClr val="C00000"/>
                </a:solidFill>
              </a:rPr>
              <a:t>Free-look cancellations </a:t>
            </a:r>
            <a:r>
              <a:rPr lang="en-IN" dirty="0"/>
              <a:t>is allowed. (Generally 30 days)</a:t>
            </a:r>
            <a:endParaRPr lang="en-US" dirty="0"/>
          </a:p>
          <a:p>
            <a:pPr lvl="1"/>
            <a:endParaRPr lang="en-US" dirty="0"/>
          </a:p>
        </p:txBody>
      </p:sp>
    </p:spTree>
    <p:extLst>
      <p:ext uri="{BB962C8B-B14F-4D97-AF65-F5344CB8AC3E}">
        <p14:creationId xmlns:p14="http://schemas.microsoft.com/office/powerpoint/2010/main" val="175586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Policy </a:t>
            </a:r>
            <a:r>
              <a:rPr lang="en-IN" dirty="0" err="1"/>
              <a:t>Lapsation</a:t>
            </a:r>
            <a:r>
              <a:rPr lang="en-IN" dirty="0"/>
              <a:t> and Revival</a:t>
            </a:r>
          </a:p>
        </p:txBody>
      </p:sp>
      <p:sp>
        <p:nvSpPr>
          <p:cNvPr id="3" name="Content Placeholder 2"/>
          <p:cNvSpPr>
            <a:spLocks noGrp="1"/>
          </p:cNvSpPr>
          <p:nvPr>
            <p:ph idx="1"/>
          </p:nvPr>
        </p:nvSpPr>
        <p:spPr/>
        <p:txBody>
          <a:bodyPr/>
          <a:lstStyle/>
          <a:p>
            <a:r>
              <a:rPr lang="en-US" b="1" dirty="0"/>
              <a:t>Policy </a:t>
            </a:r>
            <a:r>
              <a:rPr lang="en-US" b="1" dirty="0" err="1"/>
              <a:t>Lapsation</a:t>
            </a:r>
            <a:endParaRPr lang="en-US" dirty="0"/>
          </a:p>
          <a:p>
            <a:pPr lvl="1"/>
            <a:r>
              <a:rPr lang="en-US" dirty="0"/>
              <a:t>If the premium is </a:t>
            </a:r>
            <a:r>
              <a:rPr lang="en-US" b="1" dirty="0">
                <a:solidFill>
                  <a:srgbClr val="C00000"/>
                </a:solidFill>
              </a:rPr>
              <a:t>unpaid beyond the grace period</a:t>
            </a:r>
            <a:r>
              <a:rPr lang="en-US" dirty="0"/>
              <a:t>, the policy lapses.</a:t>
            </a:r>
          </a:p>
          <a:p>
            <a:pPr lvl="1"/>
            <a:r>
              <a:rPr lang="en-US" dirty="0"/>
              <a:t>Full benefits are </a:t>
            </a:r>
            <a:r>
              <a:rPr lang="en-US" b="1" dirty="0">
                <a:solidFill>
                  <a:srgbClr val="C00000"/>
                </a:solidFill>
              </a:rPr>
              <a:t>not payable after </a:t>
            </a:r>
            <a:r>
              <a:rPr lang="en-US" b="1" dirty="0" err="1">
                <a:solidFill>
                  <a:srgbClr val="C00000"/>
                </a:solidFill>
              </a:rPr>
              <a:t>lapsation</a:t>
            </a:r>
            <a:r>
              <a:rPr lang="en-US" b="1" dirty="0">
                <a:solidFill>
                  <a:srgbClr val="C00000"/>
                </a:solidFill>
              </a:rPr>
              <a:t>.</a:t>
            </a:r>
          </a:p>
          <a:p>
            <a:pPr lvl="1"/>
            <a:r>
              <a:rPr lang="en-US" dirty="0"/>
              <a:t>Policies lapsing within 3 years (without surrender value): Usually, </a:t>
            </a:r>
            <a:r>
              <a:rPr lang="en-US" b="1" dirty="0">
                <a:solidFill>
                  <a:srgbClr val="C00000"/>
                </a:solidFill>
              </a:rPr>
              <a:t>no benefits are payable.</a:t>
            </a:r>
          </a:p>
          <a:p>
            <a:pPr lvl="1"/>
            <a:r>
              <a:rPr lang="en-US" dirty="0"/>
              <a:t>Policies lapsing after acquiring surrender value:</a:t>
            </a:r>
          </a:p>
          <a:p>
            <a:pPr lvl="2"/>
            <a:r>
              <a:rPr lang="en-US" b="1" dirty="0"/>
              <a:t>Paid-Up Value</a:t>
            </a:r>
            <a:r>
              <a:rPr lang="en-US" dirty="0"/>
              <a:t>: </a:t>
            </a:r>
            <a:r>
              <a:rPr lang="en-US" b="1" dirty="0">
                <a:solidFill>
                  <a:srgbClr val="C00000"/>
                </a:solidFill>
              </a:rPr>
              <a:t>Pro-rata sum assured and vested bonuses </a:t>
            </a:r>
            <a:r>
              <a:rPr lang="en-US" dirty="0"/>
              <a:t>(for participating policies) are payable.</a:t>
            </a:r>
          </a:p>
          <a:p>
            <a:r>
              <a:rPr lang="en-US" b="1" dirty="0"/>
              <a:t>Policy Revival/Reinstatement</a:t>
            </a:r>
            <a:endParaRPr lang="en-US" dirty="0"/>
          </a:p>
          <a:p>
            <a:pPr lvl="1"/>
            <a:r>
              <a:rPr lang="en-US" dirty="0"/>
              <a:t>Policyholders </a:t>
            </a:r>
            <a:r>
              <a:rPr lang="en-US" b="1" dirty="0">
                <a:solidFill>
                  <a:srgbClr val="C00000"/>
                </a:solidFill>
              </a:rPr>
              <a:t>can revive a lapsed policy during the revival period</a:t>
            </a:r>
            <a:r>
              <a:rPr lang="en-US" dirty="0"/>
              <a:t>:</a:t>
            </a:r>
          </a:p>
          <a:p>
            <a:pPr lvl="2"/>
            <a:r>
              <a:rPr lang="en-US" b="1" dirty="0"/>
              <a:t>ULIP Policies</a:t>
            </a:r>
            <a:r>
              <a:rPr lang="en-US" dirty="0"/>
              <a:t>: 2-year revival period.</a:t>
            </a:r>
          </a:p>
          <a:p>
            <a:pPr lvl="2"/>
            <a:r>
              <a:rPr lang="en-US" b="1" dirty="0"/>
              <a:t>Other Policies</a:t>
            </a:r>
            <a:r>
              <a:rPr lang="en-US" dirty="0"/>
              <a:t>: 3-year revival period from the first unpaid premium date.</a:t>
            </a:r>
          </a:p>
          <a:p>
            <a:endParaRPr lang="en-US" dirty="0"/>
          </a:p>
        </p:txBody>
      </p:sp>
    </p:spTree>
    <p:extLst>
      <p:ext uri="{BB962C8B-B14F-4D97-AF65-F5344CB8AC3E}">
        <p14:creationId xmlns:p14="http://schemas.microsoft.com/office/powerpoint/2010/main" val="158206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Nomination and </a:t>
            </a:r>
            <a:r>
              <a:rPr lang="en-IN" dirty="0"/>
              <a:t>Surrender of A Policy</a:t>
            </a:r>
          </a:p>
        </p:txBody>
      </p:sp>
      <p:sp>
        <p:nvSpPr>
          <p:cNvPr id="3" name="Content Placeholder 2"/>
          <p:cNvSpPr>
            <a:spLocks noGrp="1"/>
          </p:cNvSpPr>
          <p:nvPr>
            <p:ph idx="1"/>
          </p:nvPr>
        </p:nvSpPr>
        <p:spPr/>
        <p:txBody>
          <a:bodyPr/>
          <a:lstStyle/>
          <a:p>
            <a:r>
              <a:rPr lang="en-US" dirty="0"/>
              <a:t>Nomination is made during the proposal for a life insurance policy. </a:t>
            </a:r>
            <a:r>
              <a:rPr lang="en-US" b="1" dirty="0">
                <a:solidFill>
                  <a:srgbClr val="C00000"/>
                </a:solidFill>
              </a:rPr>
              <a:t>Only a person taking a policy on their own life can nominate.</a:t>
            </a:r>
          </a:p>
          <a:p>
            <a:r>
              <a:rPr lang="en-US" dirty="0"/>
              <a:t>Nominations made at the proposal stage </a:t>
            </a:r>
            <a:r>
              <a:rPr lang="en-US" b="1" dirty="0">
                <a:solidFill>
                  <a:srgbClr val="C00000"/>
                </a:solidFill>
              </a:rPr>
              <a:t>can be changed later</a:t>
            </a:r>
            <a:r>
              <a:rPr lang="en-US" dirty="0"/>
              <a:t>. </a:t>
            </a:r>
            <a:r>
              <a:rPr lang="en-US" b="1" dirty="0">
                <a:solidFill>
                  <a:srgbClr val="C00000"/>
                </a:solidFill>
              </a:rPr>
              <a:t>Assignment cancels nomination</a:t>
            </a:r>
            <a:r>
              <a:rPr lang="en-US" dirty="0"/>
              <a:t>, except when the policy is assigned to secure a loan. In such cases, the nominee's interest is impacted only by the outstanding loan. Upon </a:t>
            </a:r>
            <a:r>
              <a:rPr lang="en-US" b="1" dirty="0">
                <a:solidFill>
                  <a:srgbClr val="C00000"/>
                </a:solidFill>
              </a:rPr>
              <a:t>reassignment, the nomination is automatically reinstated.</a:t>
            </a:r>
          </a:p>
          <a:p>
            <a:r>
              <a:rPr lang="en-US" dirty="0"/>
              <a:t>Policies under Section 6 </a:t>
            </a:r>
            <a:r>
              <a:rPr lang="en-US" b="1" dirty="0">
                <a:solidFill>
                  <a:srgbClr val="C00000"/>
                </a:solidFill>
              </a:rPr>
              <a:t>provide special protection for married women</a:t>
            </a:r>
            <a:r>
              <a:rPr lang="en-US" dirty="0"/>
              <a:t>. Nominees can only be the named wife or children. Creditors cannot claim such policies, offering financial protection to women.</a:t>
            </a:r>
          </a:p>
          <a:p>
            <a:r>
              <a:rPr lang="en-US" dirty="0"/>
              <a:t>A </a:t>
            </a:r>
            <a:r>
              <a:rPr lang="en-US" b="1" dirty="0">
                <a:solidFill>
                  <a:srgbClr val="C00000"/>
                </a:solidFill>
              </a:rPr>
              <a:t>minor can be a nominee</a:t>
            </a:r>
            <a:r>
              <a:rPr lang="en-US" dirty="0"/>
              <a:t>. An </a:t>
            </a:r>
            <a:r>
              <a:rPr lang="en-US" b="1" dirty="0">
                <a:solidFill>
                  <a:srgbClr val="C00000"/>
                </a:solidFill>
              </a:rPr>
              <a:t>Appointee must be named </a:t>
            </a:r>
            <a:r>
              <a:rPr lang="en-US" dirty="0"/>
              <a:t>in the proposal form to receive benefits if the life assured passes away during the nominee's minority.</a:t>
            </a:r>
          </a:p>
          <a:p>
            <a:r>
              <a:rPr lang="en-US" b="1" dirty="0">
                <a:solidFill>
                  <a:srgbClr val="C00000"/>
                </a:solidFill>
              </a:rPr>
              <a:t>No Surrender Value for Term, Health &amp; Immediate Annuity products</a:t>
            </a:r>
            <a:r>
              <a:rPr lang="en-US" dirty="0"/>
              <a:t>. However, some policy may offer surrender value.</a:t>
            </a:r>
          </a:p>
        </p:txBody>
      </p:sp>
    </p:spTree>
    <p:extLst>
      <p:ext uri="{BB962C8B-B14F-4D97-AF65-F5344CB8AC3E}">
        <p14:creationId xmlns:p14="http://schemas.microsoft.com/office/powerpoint/2010/main" val="369367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Brief about Public and Private Organizations in Life Insurance</a:t>
            </a:r>
            <a:endParaRPr lang="en-IN" dirty="0"/>
          </a:p>
        </p:txBody>
      </p:sp>
      <p:sp>
        <p:nvSpPr>
          <p:cNvPr id="3" name="Content Placeholder 2"/>
          <p:cNvSpPr>
            <a:spLocks noGrp="1"/>
          </p:cNvSpPr>
          <p:nvPr>
            <p:ph idx="1"/>
          </p:nvPr>
        </p:nvSpPr>
        <p:spPr>
          <a:xfrm>
            <a:off x="131180" y="863444"/>
            <a:ext cx="7784095" cy="5590565"/>
          </a:xfrm>
        </p:spPr>
        <p:txBody>
          <a:bodyPr/>
          <a:lstStyle/>
          <a:p>
            <a:r>
              <a:rPr lang="en-US" dirty="0"/>
              <a:t>The insurance industry in India has witnessed </a:t>
            </a:r>
            <a:r>
              <a:rPr lang="en-US" b="1" dirty="0">
                <a:solidFill>
                  <a:srgbClr val="C00000"/>
                </a:solidFill>
              </a:rPr>
              <a:t>an impressive growth rate over the last two decades driven by greater private sector participation</a:t>
            </a:r>
            <a:r>
              <a:rPr lang="en-US" b="1" dirty="0">
                <a:solidFill>
                  <a:srgbClr val="D10233"/>
                </a:solidFill>
              </a:rPr>
              <a:t> </a:t>
            </a:r>
            <a:r>
              <a:rPr lang="en-US" dirty="0"/>
              <a:t>and an improvement in distribution capabilities, along with substantial improvements in operational efficiencies.</a:t>
            </a:r>
          </a:p>
          <a:p>
            <a:r>
              <a:rPr lang="en-US" dirty="0"/>
              <a:t>In the first-year premium share of life insurance in India, </a:t>
            </a:r>
            <a:r>
              <a:rPr lang="en-US" b="1" dirty="0">
                <a:solidFill>
                  <a:srgbClr val="C00000"/>
                </a:solidFill>
              </a:rPr>
              <a:t>LIC dominates with 64.02%, while the private sector holds 35.98%.</a:t>
            </a:r>
          </a:p>
          <a:p>
            <a:r>
              <a:rPr lang="en-US" dirty="0"/>
              <a:t>Among the private players, </a:t>
            </a:r>
            <a:r>
              <a:rPr lang="en-US" b="1" dirty="0">
                <a:solidFill>
                  <a:srgbClr val="C00000"/>
                </a:solidFill>
              </a:rPr>
              <a:t>SBI Life, HDFC Life and ICICI Prudential Life</a:t>
            </a:r>
            <a:r>
              <a:rPr lang="en-US" b="1" dirty="0">
                <a:solidFill>
                  <a:srgbClr val="D10233"/>
                </a:solidFill>
              </a:rPr>
              <a:t> </a:t>
            </a:r>
            <a:r>
              <a:rPr lang="en-US" dirty="0"/>
              <a:t>led the industry in premium collection.</a:t>
            </a:r>
            <a:endParaRPr lang="en-IN" dirty="0"/>
          </a:p>
        </p:txBody>
      </p:sp>
      <p:pic>
        <p:nvPicPr>
          <p:cNvPr id="4" name="Picture 3"/>
          <p:cNvPicPr>
            <a:picLocks noChangeAspect="1"/>
          </p:cNvPicPr>
          <p:nvPr/>
        </p:nvPicPr>
        <p:blipFill rotWithShape="1">
          <a:blip r:embed="rId2"/>
          <a:srcRect l="23333" t="30001" r="40625" b="17036"/>
          <a:stretch/>
        </p:blipFill>
        <p:spPr>
          <a:xfrm>
            <a:off x="7915275" y="1314450"/>
            <a:ext cx="4254344" cy="3516596"/>
          </a:xfrm>
          <a:prstGeom prst="rect">
            <a:avLst/>
          </a:prstGeom>
        </p:spPr>
      </p:pic>
      <p:sp>
        <p:nvSpPr>
          <p:cNvPr id="5" name="Rectangle 4"/>
          <p:cNvSpPr/>
          <p:nvPr/>
        </p:nvSpPr>
        <p:spPr>
          <a:xfrm>
            <a:off x="7915276" y="4912719"/>
            <a:ext cx="4254344" cy="923330"/>
          </a:xfrm>
          <a:prstGeom prst="rect">
            <a:avLst/>
          </a:prstGeom>
        </p:spPr>
        <p:txBody>
          <a:bodyPr wrap="square">
            <a:spAutoFit/>
          </a:bodyPr>
          <a:lstStyle/>
          <a:p>
            <a:r>
              <a:rPr lang="en-IN" dirty="0"/>
              <a:t>Link: https://www.ibef.org/industry/insurance-sector-india</a:t>
            </a:r>
          </a:p>
        </p:txBody>
      </p:sp>
    </p:spTree>
    <p:extLst>
      <p:ext uri="{BB962C8B-B14F-4D97-AF65-F5344CB8AC3E}">
        <p14:creationId xmlns:p14="http://schemas.microsoft.com/office/powerpoint/2010/main" val="142056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Non-Life Insurance</a:t>
            </a:r>
          </a:p>
        </p:txBody>
      </p:sp>
    </p:spTree>
    <p:extLst>
      <p:ext uri="{BB962C8B-B14F-4D97-AF65-F5344CB8AC3E}">
        <p14:creationId xmlns:p14="http://schemas.microsoft.com/office/powerpoint/2010/main" val="868824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Non-life Insurance</a:t>
            </a:r>
          </a:p>
        </p:txBody>
      </p:sp>
      <p:sp>
        <p:nvSpPr>
          <p:cNvPr id="3" name="Content Placeholder 2"/>
          <p:cNvSpPr>
            <a:spLocks noGrp="1"/>
          </p:cNvSpPr>
          <p:nvPr>
            <p:ph idx="1"/>
          </p:nvPr>
        </p:nvSpPr>
        <p:spPr/>
        <p:txBody>
          <a:bodyPr/>
          <a:lstStyle/>
          <a:p>
            <a:r>
              <a:rPr lang="en-US" dirty="0"/>
              <a:t>Non-life insurance covers </a:t>
            </a:r>
            <a:r>
              <a:rPr lang="en-US" b="1" dirty="0">
                <a:solidFill>
                  <a:srgbClr val="C00000"/>
                </a:solidFill>
              </a:rPr>
              <a:t>property, businesses and individuals</a:t>
            </a:r>
            <a:r>
              <a:rPr lang="en-US" dirty="0"/>
              <a:t>. It also known as general insurance in India. </a:t>
            </a:r>
          </a:p>
          <a:p>
            <a:r>
              <a:rPr lang="en-US" dirty="0"/>
              <a:t>Unlike life insurance which covers lives for assured benefits, non-life insurance </a:t>
            </a:r>
            <a:r>
              <a:rPr lang="en-US" b="1" dirty="0">
                <a:solidFill>
                  <a:srgbClr val="C00000"/>
                </a:solidFill>
              </a:rPr>
              <a:t>provides coverage for damages on indemnity basis. </a:t>
            </a:r>
          </a:p>
          <a:p>
            <a:r>
              <a:rPr lang="en-US" dirty="0"/>
              <a:t>It protects insured </a:t>
            </a:r>
            <a:r>
              <a:rPr lang="en-US" b="1" dirty="0">
                <a:solidFill>
                  <a:srgbClr val="C00000"/>
                </a:solidFill>
              </a:rPr>
              <a:t>monetarily by providing money in the event of an accidental loss. </a:t>
            </a:r>
          </a:p>
          <a:p>
            <a:r>
              <a:rPr lang="en-US" dirty="0"/>
              <a:t>Examples of non-life insurance are </a:t>
            </a:r>
            <a:r>
              <a:rPr lang="en-US" b="1" dirty="0">
                <a:solidFill>
                  <a:srgbClr val="C00000"/>
                </a:solidFill>
              </a:rPr>
              <a:t>Fire, Marine, Motor, Health insurance, home, factory, shop, travel and liability insurance</a:t>
            </a:r>
            <a:r>
              <a:rPr lang="en-US" dirty="0"/>
              <a:t> etc.</a:t>
            </a:r>
          </a:p>
          <a:p>
            <a:r>
              <a:rPr lang="en-US" dirty="0"/>
              <a:t>In other words, you can say that </a:t>
            </a:r>
            <a:r>
              <a:rPr lang="en-US" b="1" dirty="0">
                <a:solidFill>
                  <a:srgbClr val="C00000"/>
                </a:solidFill>
              </a:rPr>
              <a:t>other than life insurance products </a:t>
            </a:r>
            <a:r>
              <a:rPr lang="en-US" dirty="0"/>
              <a:t>the types of insurance that provide cover are non-life insurance products.</a:t>
            </a:r>
          </a:p>
          <a:p>
            <a:r>
              <a:rPr lang="en-US" dirty="0"/>
              <a:t>Described below are the types of general insurance products in common practice.</a:t>
            </a:r>
          </a:p>
        </p:txBody>
      </p:sp>
    </p:spTree>
    <p:extLst>
      <p:ext uri="{BB962C8B-B14F-4D97-AF65-F5344CB8AC3E}">
        <p14:creationId xmlns:p14="http://schemas.microsoft.com/office/powerpoint/2010/main" val="113693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Motor Insurance</a:t>
            </a:r>
          </a:p>
        </p:txBody>
      </p:sp>
      <p:sp>
        <p:nvSpPr>
          <p:cNvPr id="3" name="Content Placeholder 2"/>
          <p:cNvSpPr>
            <a:spLocks noGrp="1"/>
          </p:cNvSpPr>
          <p:nvPr>
            <p:ph idx="1"/>
          </p:nvPr>
        </p:nvSpPr>
        <p:spPr/>
        <p:txBody>
          <a:bodyPr/>
          <a:lstStyle/>
          <a:p>
            <a:r>
              <a:rPr lang="en-US" dirty="0"/>
              <a:t>Motor insurance, as the name suggests, is insurance of motor vehicles and are broadly classified as follows</a:t>
            </a:r>
            <a:endParaRPr lang="en-IN" dirty="0"/>
          </a:p>
        </p:txBody>
      </p:sp>
      <p:graphicFrame>
        <p:nvGraphicFramePr>
          <p:cNvPr id="4" name="Diagram 3"/>
          <p:cNvGraphicFramePr/>
          <p:nvPr/>
        </p:nvGraphicFramePr>
        <p:xfrm>
          <a:off x="1889090" y="1718268"/>
          <a:ext cx="8450664" cy="47357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98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graphicEl>
                                              <a:dgm id="{CC022541-D609-4C11-AA0E-717DC8212A90}"/>
                                            </p:graphicEl>
                                          </p:spTgt>
                                        </p:tgtEl>
                                        <p:attrNameLst>
                                          <p:attrName>style.visibility</p:attrName>
                                        </p:attrNameLst>
                                      </p:cBhvr>
                                      <p:to>
                                        <p:strVal val="visible"/>
                                      </p:to>
                                    </p:set>
                                    <p:animEffect transition="in" filter="fade">
                                      <p:cBhvr>
                                        <p:cTn id="11" dur="500"/>
                                        <p:tgtEl>
                                          <p:spTgt spid="4">
                                            <p:graphicEl>
                                              <a:dgm id="{CC022541-D609-4C11-AA0E-717DC8212A90}"/>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graphicEl>
                                              <a:dgm id="{FB449722-AE53-4420-8249-BC32D791DCAB}"/>
                                            </p:graphicEl>
                                          </p:spTgt>
                                        </p:tgtEl>
                                        <p:attrNameLst>
                                          <p:attrName>style.visibility</p:attrName>
                                        </p:attrNameLst>
                                      </p:cBhvr>
                                      <p:to>
                                        <p:strVal val="visible"/>
                                      </p:to>
                                    </p:set>
                                    <p:animEffect transition="in" filter="fade">
                                      <p:cBhvr>
                                        <p:cTn id="16" dur="500"/>
                                        <p:tgtEl>
                                          <p:spTgt spid="4">
                                            <p:graphicEl>
                                              <a:dgm id="{FB449722-AE53-4420-8249-BC32D791DCAB}"/>
                                            </p:graphic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graphicEl>
                                              <a:dgm id="{ED453CC4-16E7-4A86-B9D2-51B2EDF348A0}"/>
                                            </p:graphicEl>
                                          </p:spTgt>
                                        </p:tgtEl>
                                        <p:attrNameLst>
                                          <p:attrName>style.visibility</p:attrName>
                                        </p:attrNameLst>
                                      </p:cBhvr>
                                      <p:to>
                                        <p:strVal val="visible"/>
                                      </p:to>
                                    </p:set>
                                    <p:animEffect transition="in" filter="fade">
                                      <p:cBhvr>
                                        <p:cTn id="19" dur="500"/>
                                        <p:tgtEl>
                                          <p:spTgt spid="4">
                                            <p:graphicEl>
                                              <a:dgm id="{ED453CC4-16E7-4A86-B9D2-51B2EDF348A0}"/>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graphicEl>
                                              <a:dgm id="{27E75105-C7AE-4C2C-B413-9EF09CCD7E4D}"/>
                                            </p:graphicEl>
                                          </p:spTgt>
                                        </p:tgtEl>
                                        <p:attrNameLst>
                                          <p:attrName>style.visibility</p:attrName>
                                        </p:attrNameLst>
                                      </p:cBhvr>
                                      <p:to>
                                        <p:strVal val="visible"/>
                                      </p:to>
                                    </p:set>
                                    <p:animEffect transition="in" filter="fade">
                                      <p:cBhvr>
                                        <p:cTn id="24" dur="500"/>
                                        <p:tgtEl>
                                          <p:spTgt spid="4">
                                            <p:graphicEl>
                                              <a:dgm id="{27E75105-C7AE-4C2C-B413-9EF09CCD7E4D}"/>
                                            </p:graphic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graphicEl>
                                              <a:dgm id="{481257A6-58A7-444E-85A4-AD695AE06E08}"/>
                                            </p:graphicEl>
                                          </p:spTgt>
                                        </p:tgtEl>
                                        <p:attrNameLst>
                                          <p:attrName>style.visibility</p:attrName>
                                        </p:attrNameLst>
                                      </p:cBhvr>
                                      <p:to>
                                        <p:strVal val="visible"/>
                                      </p:to>
                                    </p:set>
                                    <p:animEffect transition="in" filter="fade">
                                      <p:cBhvr>
                                        <p:cTn id="27" dur="500"/>
                                        <p:tgtEl>
                                          <p:spTgt spid="4">
                                            <p:graphicEl>
                                              <a:dgm id="{481257A6-58A7-444E-85A4-AD695AE06E08}"/>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graphicEl>
                                              <a:dgm id="{2A176AD6-1C67-4AF3-B072-1E42B9A26C8B}"/>
                                            </p:graphicEl>
                                          </p:spTgt>
                                        </p:tgtEl>
                                        <p:attrNameLst>
                                          <p:attrName>style.visibility</p:attrName>
                                        </p:attrNameLst>
                                      </p:cBhvr>
                                      <p:to>
                                        <p:strVal val="visible"/>
                                      </p:to>
                                    </p:set>
                                    <p:animEffect transition="in" filter="fade">
                                      <p:cBhvr>
                                        <p:cTn id="32" dur="500"/>
                                        <p:tgtEl>
                                          <p:spTgt spid="4">
                                            <p:graphicEl>
                                              <a:dgm id="{2A176AD6-1C67-4AF3-B072-1E42B9A26C8B}"/>
                                            </p:graphic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
                                            <p:graphicEl>
                                              <a:dgm id="{10E13784-1D4D-4585-B3E7-59465B69F7CE}"/>
                                            </p:graphicEl>
                                          </p:spTgt>
                                        </p:tgtEl>
                                        <p:attrNameLst>
                                          <p:attrName>style.visibility</p:attrName>
                                        </p:attrNameLst>
                                      </p:cBhvr>
                                      <p:to>
                                        <p:strVal val="visible"/>
                                      </p:to>
                                    </p:set>
                                    <p:animEffect transition="in" filter="fade">
                                      <p:cBhvr>
                                        <p:cTn id="35" dur="500"/>
                                        <p:tgtEl>
                                          <p:spTgt spid="4">
                                            <p:graphicEl>
                                              <a:dgm id="{10E13784-1D4D-4585-B3E7-59465B69F7CE}"/>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
                                            <p:graphicEl>
                                              <a:dgm id="{E0ED303E-0A6B-49D3-8A29-5806A97D0EA5}"/>
                                            </p:graphicEl>
                                          </p:spTgt>
                                        </p:tgtEl>
                                        <p:attrNameLst>
                                          <p:attrName>style.visibility</p:attrName>
                                        </p:attrNameLst>
                                      </p:cBhvr>
                                      <p:to>
                                        <p:strVal val="visible"/>
                                      </p:to>
                                    </p:set>
                                    <p:animEffect transition="in" filter="fade">
                                      <p:cBhvr>
                                        <p:cTn id="40" dur="500"/>
                                        <p:tgtEl>
                                          <p:spTgt spid="4">
                                            <p:graphicEl>
                                              <a:dgm id="{E0ED303E-0A6B-49D3-8A29-5806A97D0EA5}"/>
                                            </p:graphic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graphicEl>
                                              <a:dgm id="{8EA18169-40BD-4677-BB73-E7B0800072A9}"/>
                                            </p:graphicEl>
                                          </p:spTgt>
                                        </p:tgtEl>
                                        <p:attrNameLst>
                                          <p:attrName>style.visibility</p:attrName>
                                        </p:attrNameLst>
                                      </p:cBhvr>
                                      <p:to>
                                        <p:strVal val="visible"/>
                                      </p:to>
                                    </p:set>
                                    <p:animEffect transition="in" filter="fade">
                                      <p:cBhvr>
                                        <p:cTn id="43" dur="500"/>
                                        <p:tgtEl>
                                          <p:spTgt spid="4">
                                            <p:graphicEl>
                                              <a:dgm id="{8EA18169-40BD-4677-BB73-E7B0800072A9}"/>
                                            </p:graphic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
                                            <p:graphicEl>
                                              <a:dgm id="{1F9C2C31-0ABB-426D-BB28-B033251F7CF3}"/>
                                            </p:graphicEl>
                                          </p:spTgt>
                                        </p:tgtEl>
                                        <p:attrNameLst>
                                          <p:attrName>style.visibility</p:attrName>
                                        </p:attrNameLst>
                                      </p:cBhvr>
                                      <p:to>
                                        <p:strVal val="visible"/>
                                      </p:to>
                                    </p:set>
                                    <p:animEffect transition="in" filter="fade">
                                      <p:cBhvr>
                                        <p:cTn id="48" dur="500"/>
                                        <p:tgtEl>
                                          <p:spTgt spid="4">
                                            <p:graphicEl>
                                              <a:dgm id="{1F9C2C31-0ABB-426D-BB28-B033251F7CF3}"/>
                                            </p:graphic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
                                            <p:graphicEl>
                                              <a:dgm id="{3114E40D-136A-4512-83C0-5E72040AEDBC}"/>
                                            </p:graphicEl>
                                          </p:spTgt>
                                        </p:tgtEl>
                                        <p:attrNameLst>
                                          <p:attrName>style.visibility</p:attrName>
                                        </p:attrNameLst>
                                      </p:cBhvr>
                                      <p:to>
                                        <p:strVal val="visible"/>
                                      </p:to>
                                    </p:set>
                                    <p:animEffect transition="in" filter="fade">
                                      <p:cBhvr>
                                        <p:cTn id="51" dur="500"/>
                                        <p:tgtEl>
                                          <p:spTgt spid="4">
                                            <p:graphicEl>
                                              <a:dgm id="{3114E40D-136A-4512-83C0-5E72040AEDBC}"/>
                                            </p:graphic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
                                            <p:graphicEl>
                                              <a:dgm id="{59E8DF9A-DD0B-4C65-9D99-525ABFC27B41}"/>
                                            </p:graphicEl>
                                          </p:spTgt>
                                        </p:tgtEl>
                                        <p:attrNameLst>
                                          <p:attrName>style.visibility</p:attrName>
                                        </p:attrNameLst>
                                      </p:cBhvr>
                                      <p:to>
                                        <p:strVal val="visible"/>
                                      </p:to>
                                    </p:set>
                                    <p:animEffect transition="in" filter="fade">
                                      <p:cBhvr>
                                        <p:cTn id="56" dur="500"/>
                                        <p:tgtEl>
                                          <p:spTgt spid="4">
                                            <p:graphicEl>
                                              <a:dgm id="{59E8DF9A-DD0B-4C65-9D99-525ABFC27B41}"/>
                                            </p:graphic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
                                            <p:graphicEl>
                                              <a:dgm id="{AD50DA1A-F712-435B-B410-BE07FDF30FFA}"/>
                                            </p:graphicEl>
                                          </p:spTgt>
                                        </p:tgtEl>
                                        <p:attrNameLst>
                                          <p:attrName>style.visibility</p:attrName>
                                        </p:attrNameLst>
                                      </p:cBhvr>
                                      <p:to>
                                        <p:strVal val="visible"/>
                                      </p:to>
                                    </p:set>
                                    <p:animEffect transition="in" filter="fade">
                                      <p:cBhvr>
                                        <p:cTn id="59" dur="500"/>
                                        <p:tgtEl>
                                          <p:spTgt spid="4">
                                            <p:graphicEl>
                                              <a:dgm id="{AD50DA1A-F712-435B-B410-BE07FDF30FF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4" grpId="0">
        <p:bldSub>
          <a:bldDgm bld="one"/>
        </p:bldSub>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Insurance of Motor Vehicles</a:t>
            </a:r>
            <a:endParaRPr lang="en-IN" dirty="0"/>
          </a:p>
        </p:txBody>
      </p:sp>
      <p:sp>
        <p:nvSpPr>
          <p:cNvPr id="3" name="Content Placeholder 2"/>
          <p:cNvSpPr>
            <a:spLocks noGrp="1"/>
          </p:cNvSpPr>
          <p:nvPr>
            <p:ph idx="1"/>
          </p:nvPr>
        </p:nvSpPr>
        <p:spPr/>
        <p:txBody>
          <a:bodyPr/>
          <a:lstStyle/>
          <a:p>
            <a:r>
              <a:rPr lang="en-US" dirty="0"/>
              <a:t>Insurance of Motor Vehicles are covered under the </a:t>
            </a:r>
            <a:r>
              <a:rPr lang="en-US" b="1" dirty="0">
                <a:solidFill>
                  <a:srgbClr val="C00000"/>
                </a:solidFill>
              </a:rPr>
              <a:t>Motor Vehicles Act, 1939</a:t>
            </a:r>
            <a:r>
              <a:rPr lang="en-US" b="1" dirty="0">
                <a:solidFill>
                  <a:srgbClr val="D10233"/>
                </a:solidFill>
              </a:rPr>
              <a:t>. </a:t>
            </a:r>
          </a:p>
          <a:p>
            <a:r>
              <a:rPr lang="en-US" dirty="0"/>
              <a:t>Insurance of motor vehicles </a:t>
            </a:r>
            <a:r>
              <a:rPr lang="en-US" b="1" dirty="0">
                <a:solidFill>
                  <a:srgbClr val="C00000"/>
                </a:solidFill>
              </a:rPr>
              <a:t>against damage is not made compulsory</a:t>
            </a:r>
            <a:r>
              <a:rPr lang="en-US" dirty="0"/>
              <a:t>, but the insurance against </a:t>
            </a:r>
            <a:r>
              <a:rPr lang="en-US" b="1" dirty="0">
                <a:solidFill>
                  <a:srgbClr val="C00000"/>
                </a:solidFill>
              </a:rPr>
              <a:t>third party liability </a:t>
            </a:r>
            <a:r>
              <a:rPr lang="en-US" dirty="0"/>
              <a:t>arising out of the use of motor vehicles in public places </a:t>
            </a:r>
            <a:r>
              <a:rPr lang="en-US" b="1" dirty="0">
                <a:solidFill>
                  <a:srgbClr val="C00000"/>
                </a:solidFill>
              </a:rPr>
              <a:t>is made compulsory. </a:t>
            </a:r>
          </a:p>
          <a:p>
            <a:r>
              <a:rPr lang="en-US" dirty="0"/>
              <a:t>Insurance cover against damage is known as “</a:t>
            </a:r>
            <a:r>
              <a:rPr lang="en-US" b="1" dirty="0">
                <a:solidFill>
                  <a:srgbClr val="C00000"/>
                </a:solidFill>
              </a:rPr>
              <a:t>Own Damages</a:t>
            </a:r>
            <a:r>
              <a:rPr lang="en-US" dirty="0"/>
              <a:t>” and against injury or death to a third party is known as “</a:t>
            </a:r>
            <a:r>
              <a:rPr lang="en-US" b="1" dirty="0">
                <a:solidFill>
                  <a:srgbClr val="C00000"/>
                </a:solidFill>
              </a:rPr>
              <a:t>Third Party</a:t>
            </a:r>
            <a:r>
              <a:rPr lang="en-US" dirty="0"/>
              <a:t>” claim. </a:t>
            </a:r>
          </a:p>
          <a:p>
            <a:r>
              <a:rPr lang="en-US" dirty="0"/>
              <a:t>Recently, pursuant to a </a:t>
            </a:r>
            <a:r>
              <a:rPr lang="en-US" b="1" dirty="0">
                <a:solidFill>
                  <a:srgbClr val="C00000"/>
                </a:solidFill>
              </a:rPr>
              <a:t>Supreme Court </a:t>
            </a:r>
            <a:r>
              <a:rPr lang="en-US" dirty="0"/>
              <a:t>decision, all Insurers are mandated to issue Long term policy for Third Party risks- </a:t>
            </a:r>
            <a:r>
              <a:rPr lang="en-US" b="1" dirty="0">
                <a:solidFill>
                  <a:srgbClr val="C00000"/>
                </a:solidFill>
              </a:rPr>
              <a:t>Three years for new private cars and five years for </a:t>
            </a:r>
            <a:r>
              <a:rPr lang="en-IN" b="1" dirty="0">
                <a:solidFill>
                  <a:srgbClr val="C00000"/>
                </a:solidFill>
              </a:rPr>
              <a:t>new two wheelers.</a:t>
            </a:r>
          </a:p>
        </p:txBody>
      </p:sp>
    </p:spTree>
    <p:extLst>
      <p:ext uri="{BB962C8B-B14F-4D97-AF65-F5344CB8AC3E}">
        <p14:creationId xmlns:p14="http://schemas.microsoft.com/office/powerpoint/2010/main" val="3354774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Claim Procedure for Motor Insurance</a:t>
            </a:r>
            <a:endParaRPr lang="en-IN" dirty="0"/>
          </a:p>
        </p:txBody>
      </p:sp>
      <p:sp>
        <p:nvSpPr>
          <p:cNvPr id="3" name="Content Placeholder 2"/>
          <p:cNvSpPr>
            <a:spLocks noGrp="1"/>
          </p:cNvSpPr>
          <p:nvPr>
            <p:ph idx="1"/>
          </p:nvPr>
        </p:nvSpPr>
        <p:spPr/>
        <p:txBody>
          <a:bodyPr/>
          <a:lstStyle/>
          <a:p>
            <a:r>
              <a:rPr lang="en-US" b="1" dirty="0">
                <a:solidFill>
                  <a:srgbClr val="C00000"/>
                </a:solidFill>
              </a:rPr>
              <a:t>Vehicle Accident Claims</a:t>
            </a:r>
          </a:p>
          <a:p>
            <a:pPr lvl="1"/>
            <a:r>
              <a:rPr lang="en-US" b="1" dirty="0">
                <a:solidFill>
                  <a:srgbClr val="C00000"/>
                </a:solidFill>
              </a:rPr>
              <a:t>Survey and Inspection</a:t>
            </a:r>
            <a:r>
              <a:rPr lang="en-US" dirty="0"/>
              <a:t>: Insurer appoints a surveyor to inspect the damaged vehicle. Major damages may require spot surveys.</a:t>
            </a:r>
          </a:p>
          <a:p>
            <a:pPr lvl="1"/>
            <a:r>
              <a:rPr lang="en-US" b="1" dirty="0">
                <a:solidFill>
                  <a:srgbClr val="C00000"/>
                </a:solidFill>
              </a:rPr>
              <a:t>Repair and Documentation</a:t>
            </a:r>
            <a:r>
              <a:rPr lang="en-US" dirty="0">
                <a:solidFill>
                  <a:srgbClr val="C00000"/>
                </a:solidFill>
              </a:rPr>
              <a:t>: </a:t>
            </a:r>
            <a:r>
              <a:rPr lang="en-US" dirty="0"/>
              <a:t>Repairs can begin post-survey. Insured submits bills, cash memos, proof of release, and garage receipts for claim processing.</a:t>
            </a:r>
          </a:p>
          <a:p>
            <a:pPr lvl="1"/>
            <a:r>
              <a:rPr lang="en-US" b="1" dirty="0">
                <a:solidFill>
                  <a:srgbClr val="C00000"/>
                </a:solidFill>
              </a:rPr>
              <a:t>Settlement</a:t>
            </a:r>
            <a:r>
              <a:rPr lang="en-US" dirty="0">
                <a:solidFill>
                  <a:srgbClr val="C00000"/>
                </a:solidFill>
              </a:rPr>
              <a:t>: </a:t>
            </a:r>
            <a:r>
              <a:rPr lang="en-US" dirty="0"/>
              <a:t>Insurer reimburses repair costs after claim verification. Cashless facilities pay directly to the garage; others reimburse the insured.</a:t>
            </a:r>
          </a:p>
          <a:p>
            <a:pPr lvl="1"/>
            <a:r>
              <a:rPr lang="en-US" b="1" dirty="0">
                <a:solidFill>
                  <a:srgbClr val="C00000"/>
                </a:solidFill>
              </a:rPr>
              <a:t>Costs Borne by Insured</a:t>
            </a:r>
            <a:r>
              <a:rPr lang="en-US" dirty="0">
                <a:solidFill>
                  <a:srgbClr val="C00000"/>
                </a:solidFill>
              </a:rPr>
              <a:t>: </a:t>
            </a:r>
            <a:r>
              <a:rPr lang="en-US" dirty="0"/>
              <a:t>Includes depreciation, salvage value, voluntary deductions, and compulsory excesses.</a:t>
            </a:r>
          </a:p>
          <a:p>
            <a:r>
              <a:rPr lang="en-US" b="1" dirty="0">
                <a:solidFill>
                  <a:srgbClr val="C00000"/>
                </a:solidFill>
              </a:rPr>
              <a:t>Third-Party Insurance Claims</a:t>
            </a:r>
          </a:p>
          <a:p>
            <a:pPr lvl="1"/>
            <a:r>
              <a:rPr lang="en-US" b="1" dirty="0">
                <a:solidFill>
                  <a:srgbClr val="C00000"/>
                </a:solidFill>
              </a:rPr>
              <a:t>Notification and Documentation</a:t>
            </a:r>
            <a:r>
              <a:rPr lang="en-US" dirty="0">
                <a:solidFill>
                  <a:srgbClr val="C00000"/>
                </a:solidFill>
              </a:rPr>
              <a:t>: </a:t>
            </a:r>
            <a:r>
              <a:rPr lang="en-US" dirty="0"/>
              <a:t>Insured must notify the insurer, submit required documents (FIR, Registration Certificate, driving license), and avoid unauthorized settlements.</a:t>
            </a:r>
          </a:p>
          <a:p>
            <a:endParaRPr lang="en-IN" dirty="0"/>
          </a:p>
        </p:txBody>
      </p:sp>
    </p:spTree>
    <p:extLst>
      <p:ext uri="{BB962C8B-B14F-4D97-AF65-F5344CB8AC3E}">
        <p14:creationId xmlns:p14="http://schemas.microsoft.com/office/powerpoint/2010/main" val="394452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Claim Procedure for Motor Insurance</a:t>
            </a:r>
            <a:endParaRPr lang="en-IN" dirty="0"/>
          </a:p>
        </p:txBody>
      </p:sp>
      <p:sp>
        <p:nvSpPr>
          <p:cNvPr id="3" name="Content Placeholder 2"/>
          <p:cNvSpPr>
            <a:spLocks noGrp="1"/>
          </p:cNvSpPr>
          <p:nvPr>
            <p:ph idx="1"/>
          </p:nvPr>
        </p:nvSpPr>
        <p:spPr/>
        <p:txBody>
          <a:bodyPr/>
          <a:lstStyle/>
          <a:p>
            <a:pPr lvl="1"/>
            <a:r>
              <a:rPr lang="en-US" b="1" dirty="0">
                <a:solidFill>
                  <a:srgbClr val="C00000"/>
                </a:solidFill>
              </a:rPr>
              <a:t>Legal Process</a:t>
            </a:r>
            <a:r>
              <a:rPr lang="en-US" dirty="0">
                <a:solidFill>
                  <a:srgbClr val="C00000"/>
                </a:solidFill>
              </a:rPr>
              <a:t>: </a:t>
            </a:r>
            <a:r>
              <a:rPr lang="en-US" dirty="0"/>
              <a:t>Insurer appoints a lawyer for defense. Compensation is paid if mandated by the court.</a:t>
            </a:r>
          </a:p>
          <a:p>
            <a:r>
              <a:rPr lang="en-US" b="1" dirty="0">
                <a:solidFill>
                  <a:srgbClr val="C00000"/>
                </a:solidFill>
              </a:rPr>
              <a:t>Vehicle Theft Claims</a:t>
            </a:r>
          </a:p>
          <a:p>
            <a:pPr lvl="1"/>
            <a:r>
              <a:rPr lang="en-US" b="1" dirty="0">
                <a:solidFill>
                  <a:srgbClr val="C00000"/>
                </a:solidFill>
              </a:rPr>
              <a:t>Immediate Action</a:t>
            </a:r>
            <a:r>
              <a:rPr lang="en-US" dirty="0">
                <a:solidFill>
                  <a:srgbClr val="C00000"/>
                </a:solidFill>
              </a:rPr>
              <a:t>: </a:t>
            </a:r>
            <a:r>
              <a:rPr lang="en-US" dirty="0"/>
              <a:t>File an FIR, notify the insurer, and submit both the FIR and Final Police Report.</a:t>
            </a:r>
          </a:p>
          <a:p>
            <a:pPr lvl="1"/>
            <a:r>
              <a:rPr lang="en-US" b="1" dirty="0">
                <a:solidFill>
                  <a:srgbClr val="C00000"/>
                </a:solidFill>
              </a:rPr>
              <a:t>Claim Approval</a:t>
            </a:r>
            <a:r>
              <a:rPr lang="en-US" dirty="0">
                <a:solidFill>
                  <a:srgbClr val="C00000"/>
                </a:solidFill>
              </a:rPr>
              <a:t>: </a:t>
            </a:r>
            <a:r>
              <a:rPr lang="en-US" dirty="0"/>
              <a:t>Transfer the vehicle’s registration to the insurer and provide duplicate keys, etc.</a:t>
            </a:r>
          </a:p>
          <a:p>
            <a:r>
              <a:rPr lang="en-US" b="1" dirty="0">
                <a:solidFill>
                  <a:srgbClr val="C00000"/>
                </a:solidFill>
              </a:rPr>
              <a:t>Dispute Resolution</a:t>
            </a:r>
          </a:p>
          <a:p>
            <a:pPr lvl="1"/>
            <a:r>
              <a:rPr lang="en-US" b="1" dirty="0">
                <a:solidFill>
                  <a:srgbClr val="C00000"/>
                </a:solidFill>
              </a:rPr>
              <a:t>Arbitration</a:t>
            </a:r>
            <a:r>
              <a:rPr lang="en-US" dirty="0">
                <a:solidFill>
                  <a:srgbClr val="C00000"/>
                </a:solidFill>
              </a:rPr>
              <a:t>: </a:t>
            </a:r>
            <a:r>
              <a:rPr lang="en-US" dirty="0"/>
              <a:t>Disputes over claim amounts are settled through arbitration.</a:t>
            </a:r>
          </a:p>
          <a:p>
            <a:pPr lvl="1"/>
            <a:r>
              <a:rPr lang="en-US" b="1" dirty="0">
                <a:solidFill>
                  <a:srgbClr val="C00000"/>
                </a:solidFill>
              </a:rPr>
              <a:t>Legal Recourse</a:t>
            </a:r>
            <a:r>
              <a:rPr lang="en-US" dirty="0">
                <a:solidFill>
                  <a:srgbClr val="C00000"/>
                </a:solidFill>
              </a:rPr>
              <a:t>: </a:t>
            </a:r>
            <a:r>
              <a:rPr lang="en-US" dirty="0"/>
              <a:t>Motor Accident Claims Tribunal (MACT), Consumer Forum, or Civil Court handles unresolved disputes, especially third-party liabilities.</a:t>
            </a:r>
          </a:p>
          <a:p>
            <a:endParaRPr lang="en-IN" dirty="0"/>
          </a:p>
        </p:txBody>
      </p:sp>
    </p:spTree>
    <p:extLst>
      <p:ext uri="{BB962C8B-B14F-4D97-AF65-F5344CB8AC3E}">
        <p14:creationId xmlns:p14="http://schemas.microsoft.com/office/powerpoint/2010/main" val="349224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Travel Insurance</a:t>
            </a:r>
            <a:endParaRPr lang="en-IN" dirty="0"/>
          </a:p>
        </p:txBody>
      </p:sp>
      <p:sp>
        <p:nvSpPr>
          <p:cNvPr id="3" name="Content Placeholder 2"/>
          <p:cNvSpPr>
            <a:spLocks noGrp="1"/>
          </p:cNvSpPr>
          <p:nvPr>
            <p:ph idx="1"/>
          </p:nvPr>
        </p:nvSpPr>
        <p:spPr/>
        <p:txBody>
          <a:bodyPr/>
          <a:lstStyle/>
          <a:p>
            <a:r>
              <a:rPr lang="en-US" dirty="0"/>
              <a:t>Travel insurance offers financial </a:t>
            </a:r>
            <a:r>
              <a:rPr lang="en-US" b="1" dirty="0">
                <a:solidFill>
                  <a:srgbClr val="C00000"/>
                </a:solidFill>
              </a:rPr>
              <a:t>protection against unexpected events that can disrupt your journey. </a:t>
            </a:r>
          </a:p>
          <a:p>
            <a:r>
              <a:rPr lang="en-US" dirty="0"/>
              <a:t>Whether it’s the </a:t>
            </a:r>
            <a:r>
              <a:rPr lang="en-US" b="1" dirty="0">
                <a:solidFill>
                  <a:srgbClr val="C00000"/>
                </a:solidFill>
              </a:rPr>
              <a:t>loss of your passport, trip cancellation, medical emergencies or baggage delays</a:t>
            </a:r>
            <a:r>
              <a:rPr lang="en-US" dirty="0"/>
              <a:t>, having travel insurance ensures you're covered for these situations.</a:t>
            </a:r>
          </a:p>
          <a:p>
            <a:r>
              <a:rPr lang="en-US" b="1" dirty="0">
                <a:solidFill>
                  <a:srgbClr val="C00000"/>
                </a:solidFill>
              </a:rPr>
              <a:t>Why Buy Travel Insurance?</a:t>
            </a:r>
          </a:p>
          <a:p>
            <a:pPr lvl="1"/>
            <a:r>
              <a:rPr lang="en-US" b="1" dirty="0">
                <a:solidFill>
                  <a:srgbClr val="C00000"/>
                </a:solidFill>
              </a:rPr>
              <a:t>Visa Requirement</a:t>
            </a:r>
            <a:r>
              <a:rPr lang="en-US" dirty="0">
                <a:solidFill>
                  <a:srgbClr val="C00000"/>
                </a:solidFill>
              </a:rPr>
              <a:t>: </a:t>
            </a:r>
            <a:r>
              <a:rPr lang="en-US" dirty="0"/>
              <a:t>Mandatory for visas in some countries.</a:t>
            </a:r>
          </a:p>
          <a:p>
            <a:pPr lvl="1"/>
            <a:r>
              <a:rPr lang="en-US" b="1" dirty="0">
                <a:solidFill>
                  <a:srgbClr val="C00000"/>
                </a:solidFill>
              </a:rPr>
              <a:t>Financial Security</a:t>
            </a:r>
            <a:r>
              <a:rPr lang="en-US" dirty="0">
                <a:solidFill>
                  <a:srgbClr val="C00000"/>
                </a:solidFill>
              </a:rPr>
              <a:t>: </a:t>
            </a:r>
            <a:r>
              <a:rPr lang="en-US" dirty="0"/>
              <a:t>Covers unaffordable medical treatment costs abroad.</a:t>
            </a:r>
          </a:p>
          <a:p>
            <a:pPr lvl="1"/>
            <a:r>
              <a:rPr lang="en-US" b="1" dirty="0">
                <a:solidFill>
                  <a:srgbClr val="C00000"/>
                </a:solidFill>
              </a:rPr>
              <a:t>Comprehensive Coverage</a:t>
            </a:r>
            <a:r>
              <a:rPr lang="en-US" dirty="0">
                <a:solidFill>
                  <a:srgbClr val="C00000"/>
                </a:solidFill>
              </a:rPr>
              <a:t>: </a:t>
            </a:r>
            <a:r>
              <a:rPr lang="en-US" dirty="0"/>
              <a:t>Ideal for business, holiday, education, or research trips.</a:t>
            </a:r>
          </a:p>
          <a:p>
            <a:r>
              <a:rPr lang="en-US" b="1" dirty="0">
                <a:solidFill>
                  <a:srgbClr val="C00000"/>
                </a:solidFill>
              </a:rPr>
              <a:t>Minimum Period</a:t>
            </a:r>
            <a:r>
              <a:rPr lang="en-US" dirty="0">
                <a:solidFill>
                  <a:srgbClr val="C00000"/>
                </a:solidFill>
              </a:rPr>
              <a:t>: </a:t>
            </a:r>
            <a:r>
              <a:rPr lang="en-US" dirty="0"/>
              <a:t>Policies typically have a minimum trip duration, categorized by trip bands.</a:t>
            </a:r>
          </a:p>
          <a:p>
            <a:r>
              <a:rPr lang="en-US" b="1" dirty="0">
                <a:solidFill>
                  <a:srgbClr val="C00000"/>
                </a:solidFill>
              </a:rPr>
              <a:t>Pre-Policy Medical Check-Up</a:t>
            </a:r>
            <a:r>
              <a:rPr lang="en-US" dirty="0">
                <a:solidFill>
                  <a:srgbClr val="C00000"/>
                </a:solidFill>
              </a:rPr>
              <a:t>: </a:t>
            </a:r>
            <a:r>
              <a:rPr lang="en-US" dirty="0"/>
              <a:t>Insurers may require recent medical reports.</a:t>
            </a:r>
            <a:endParaRPr lang="en-IN" dirty="0"/>
          </a:p>
        </p:txBody>
      </p:sp>
    </p:spTree>
    <p:extLst>
      <p:ext uri="{BB962C8B-B14F-4D97-AF65-F5344CB8AC3E}">
        <p14:creationId xmlns:p14="http://schemas.microsoft.com/office/powerpoint/2010/main" val="427430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Home Insurance</a:t>
            </a:r>
            <a:endParaRPr lang="en-IN" dirty="0"/>
          </a:p>
        </p:txBody>
      </p:sp>
      <p:sp>
        <p:nvSpPr>
          <p:cNvPr id="3" name="Content Placeholder 2"/>
          <p:cNvSpPr>
            <a:spLocks noGrp="1"/>
          </p:cNvSpPr>
          <p:nvPr>
            <p:ph idx="1"/>
          </p:nvPr>
        </p:nvSpPr>
        <p:spPr/>
        <p:txBody>
          <a:bodyPr/>
          <a:lstStyle/>
          <a:p>
            <a:r>
              <a:rPr lang="en-US" dirty="0"/>
              <a:t>Home insurance or </a:t>
            </a:r>
            <a:r>
              <a:rPr lang="en-US" b="1" dirty="0">
                <a:solidFill>
                  <a:srgbClr val="C00000"/>
                </a:solidFill>
              </a:rPr>
              <a:t>property insurance </a:t>
            </a:r>
            <a:r>
              <a:rPr lang="en-US" dirty="0"/>
              <a:t>secures the structure along with its content against unwanted events like </a:t>
            </a:r>
            <a:r>
              <a:rPr lang="en-US" b="1" dirty="0">
                <a:solidFill>
                  <a:srgbClr val="C00000"/>
                </a:solidFill>
              </a:rPr>
              <a:t>fire, theft, natural calamities </a:t>
            </a:r>
            <a:r>
              <a:rPr lang="en-US" dirty="0"/>
              <a:t>(storm, cyclone, etc.) or </a:t>
            </a:r>
            <a:r>
              <a:rPr lang="en-US" b="1" dirty="0">
                <a:solidFill>
                  <a:srgbClr val="C00000"/>
                </a:solidFill>
              </a:rPr>
              <a:t>man-made activities </a:t>
            </a:r>
            <a:r>
              <a:rPr lang="en-US" dirty="0"/>
              <a:t>(riots and terrorism). </a:t>
            </a:r>
          </a:p>
          <a:p>
            <a:r>
              <a:rPr lang="en-US" dirty="0"/>
              <a:t>An unfortunate incident </a:t>
            </a:r>
            <a:r>
              <a:rPr lang="en-US" b="1" dirty="0">
                <a:solidFill>
                  <a:srgbClr val="C00000"/>
                </a:solidFill>
              </a:rPr>
              <a:t>can cause irreversible damage</a:t>
            </a:r>
            <a:r>
              <a:rPr lang="en-US" dirty="0">
                <a:solidFill>
                  <a:srgbClr val="C00000"/>
                </a:solidFill>
              </a:rPr>
              <a:t>, </a:t>
            </a:r>
            <a:r>
              <a:rPr lang="en-US" b="1" dirty="0">
                <a:solidFill>
                  <a:srgbClr val="C00000"/>
                </a:solidFill>
              </a:rPr>
              <a:t>leading to vulnerable financial losses</a:t>
            </a:r>
            <a:r>
              <a:rPr lang="en-US" dirty="0"/>
              <a:t>; hence, it is wise to buy property insurance.</a:t>
            </a:r>
          </a:p>
          <a:p>
            <a:r>
              <a:rPr lang="en-US" dirty="0"/>
              <a:t>The Insurance Regulatory and Development Authority of India (IRDAI) has made it mandatory for </a:t>
            </a:r>
            <a:r>
              <a:rPr lang="en-US" b="1" dirty="0">
                <a:solidFill>
                  <a:srgbClr val="C00000"/>
                </a:solidFill>
              </a:rPr>
              <a:t>every insurer to offer a standard home insurance policy known as Bharat </a:t>
            </a:r>
            <a:r>
              <a:rPr lang="en-US" b="1" dirty="0" err="1">
                <a:solidFill>
                  <a:srgbClr val="C00000"/>
                </a:solidFill>
              </a:rPr>
              <a:t>Griha</a:t>
            </a:r>
            <a:r>
              <a:rPr lang="en-US" b="1" dirty="0">
                <a:solidFill>
                  <a:srgbClr val="C00000"/>
                </a:solidFill>
              </a:rPr>
              <a:t> </a:t>
            </a:r>
            <a:r>
              <a:rPr lang="en-US" b="1" dirty="0" err="1">
                <a:solidFill>
                  <a:srgbClr val="C00000"/>
                </a:solidFill>
              </a:rPr>
              <a:t>Raksha</a:t>
            </a:r>
            <a:r>
              <a:rPr lang="en-US" dirty="0"/>
              <a:t> from April 1, 2021. </a:t>
            </a:r>
          </a:p>
          <a:p>
            <a:r>
              <a:rPr lang="en-US" dirty="0"/>
              <a:t>Bharat </a:t>
            </a:r>
            <a:r>
              <a:rPr lang="en-US" dirty="0" err="1"/>
              <a:t>Griha</a:t>
            </a:r>
            <a:r>
              <a:rPr lang="en-US" dirty="0"/>
              <a:t> </a:t>
            </a:r>
            <a:r>
              <a:rPr lang="en-US" dirty="0" err="1"/>
              <a:t>Raksha</a:t>
            </a:r>
            <a:r>
              <a:rPr lang="en-US" dirty="0"/>
              <a:t> provides coverage against </a:t>
            </a:r>
            <a:r>
              <a:rPr lang="en-US" b="1" dirty="0">
                <a:solidFill>
                  <a:srgbClr val="C00000"/>
                </a:solidFill>
              </a:rPr>
              <a:t>loss, damage, or destruction of the home building and its contents</a:t>
            </a:r>
            <a:r>
              <a:rPr lang="en-US" b="1" dirty="0">
                <a:solidFill>
                  <a:srgbClr val="D10233"/>
                </a:solidFill>
              </a:rPr>
              <a:t> </a:t>
            </a:r>
            <a:r>
              <a:rPr lang="en-US" dirty="0"/>
              <a:t>due to unforeseen circumstances.</a:t>
            </a:r>
            <a:endParaRPr lang="en-IN" dirty="0"/>
          </a:p>
        </p:txBody>
      </p:sp>
    </p:spTree>
    <p:extLst>
      <p:ext uri="{BB962C8B-B14F-4D97-AF65-F5344CB8AC3E}">
        <p14:creationId xmlns:p14="http://schemas.microsoft.com/office/powerpoint/2010/main" val="290420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Home Insurance</a:t>
            </a:r>
            <a:endParaRPr lang="en-IN" dirty="0"/>
          </a:p>
        </p:txBody>
      </p:sp>
      <p:sp>
        <p:nvSpPr>
          <p:cNvPr id="3" name="Content Placeholder 2"/>
          <p:cNvSpPr>
            <a:spLocks noGrp="1"/>
          </p:cNvSpPr>
          <p:nvPr>
            <p:ph idx="1"/>
          </p:nvPr>
        </p:nvSpPr>
        <p:spPr/>
        <p:txBody>
          <a:bodyPr/>
          <a:lstStyle/>
          <a:p>
            <a:r>
              <a:rPr lang="en-US" dirty="0"/>
              <a:t>Our </a:t>
            </a:r>
            <a:r>
              <a:rPr lang="en-US" b="1" dirty="0">
                <a:solidFill>
                  <a:srgbClr val="C00000"/>
                </a:solidFill>
              </a:rPr>
              <a:t>nation is prone to natural calamities and constant fire incidences</a:t>
            </a:r>
            <a:r>
              <a:rPr lang="en-US" dirty="0"/>
              <a:t>, which lead to irreversible damages. </a:t>
            </a:r>
          </a:p>
          <a:p>
            <a:r>
              <a:rPr lang="en-US" b="1" dirty="0">
                <a:solidFill>
                  <a:srgbClr val="C00000"/>
                </a:solidFill>
              </a:rPr>
              <a:t>For example</a:t>
            </a:r>
          </a:p>
          <a:p>
            <a:pPr lvl="1"/>
            <a:r>
              <a:rPr lang="en-US" dirty="0"/>
              <a:t>In 2021, cyclone </a:t>
            </a:r>
            <a:r>
              <a:rPr lang="en-US" dirty="0" err="1"/>
              <a:t>yaas</a:t>
            </a:r>
            <a:r>
              <a:rPr lang="en-US" dirty="0"/>
              <a:t> in Odisha and a major fire incident in </a:t>
            </a:r>
            <a:r>
              <a:rPr lang="en-US" dirty="0" err="1"/>
              <a:t>Kullu</a:t>
            </a:r>
            <a:r>
              <a:rPr lang="en-US" dirty="0"/>
              <a:t>, Himachal Pradesh in December 2021, gutted 15 houses and led to severe destruction of property. </a:t>
            </a:r>
          </a:p>
          <a:p>
            <a:r>
              <a:rPr lang="en-US" dirty="0"/>
              <a:t>Hence, to </a:t>
            </a:r>
            <a:r>
              <a:rPr lang="en-US" b="1" dirty="0">
                <a:solidFill>
                  <a:srgbClr val="C00000"/>
                </a:solidFill>
              </a:rPr>
              <a:t>avoid getting your years of income drained out in a fraction of seconds </a:t>
            </a:r>
            <a:r>
              <a:rPr lang="en-US" dirty="0"/>
              <a:t>from these kinds of incidences, it is advisable to buy home insurance.</a:t>
            </a:r>
            <a:endParaRPr lang="en-IN" dirty="0"/>
          </a:p>
        </p:txBody>
      </p:sp>
    </p:spTree>
    <p:extLst>
      <p:ext uri="{BB962C8B-B14F-4D97-AF65-F5344CB8AC3E}">
        <p14:creationId xmlns:p14="http://schemas.microsoft.com/office/powerpoint/2010/main" val="132872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Individual Personal Accident Insurance Policy</a:t>
            </a:r>
          </a:p>
        </p:txBody>
      </p:sp>
      <p:sp>
        <p:nvSpPr>
          <p:cNvPr id="3" name="Content Placeholder 2"/>
          <p:cNvSpPr>
            <a:spLocks noGrp="1"/>
          </p:cNvSpPr>
          <p:nvPr>
            <p:ph idx="1"/>
          </p:nvPr>
        </p:nvSpPr>
        <p:spPr/>
        <p:txBody>
          <a:bodyPr/>
          <a:lstStyle/>
          <a:p>
            <a:r>
              <a:rPr lang="en-US" dirty="0"/>
              <a:t>Covers </a:t>
            </a:r>
            <a:r>
              <a:rPr lang="en-US" b="1" dirty="0">
                <a:solidFill>
                  <a:srgbClr val="C00000"/>
                </a:solidFill>
              </a:rPr>
              <a:t>accidental bodily injury</a:t>
            </a:r>
            <a:r>
              <a:rPr lang="en-US" dirty="0">
                <a:solidFill>
                  <a:srgbClr val="C00000"/>
                </a:solidFill>
              </a:rPr>
              <a:t> </a:t>
            </a:r>
            <a:r>
              <a:rPr lang="en-US" dirty="0"/>
              <a:t>leading to death, permanent total/partial disability, or temporary total disability.</a:t>
            </a:r>
          </a:p>
          <a:p>
            <a:r>
              <a:rPr lang="en-US" b="1" dirty="0">
                <a:solidFill>
                  <a:srgbClr val="C00000"/>
                </a:solidFill>
              </a:rPr>
              <a:t>Benefits</a:t>
            </a:r>
          </a:p>
          <a:p>
            <a:pPr lvl="1"/>
            <a:r>
              <a:rPr lang="en-US" b="1" dirty="0">
                <a:solidFill>
                  <a:srgbClr val="C00000"/>
                </a:solidFill>
              </a:rPr>
              <a:t>Accidental Death</a:t>
            </a:r>
            <a:r>
              <a:rPr lang="en-US" dirty="0">
                <a:solidFill>
                  <a:srgbClr val="C00000"/>
                </a:solidFill>
              </a:rPr>
              <a:t>: </a:t>
            </a:r>
            <a:r>
              <a:rPr lang="en-US" dirty="0"/>
              <a:t>100% of the Capital Sum Insured (CSI).</a:t>
            </a:r>
          </a:p>
          <a:p>
            <a:pPr lvl="1"/>
            <a:r>
              <a:rPr lang="en-US" b="1" dirty="0">
                <a:solidFill>
                  <a:srgbClr val="C00000"/>
                </a:solidFill>
              </a:rPr>
              <a:t>Permanent Total Disability</a:t>
            </a:r>
            <a:r>
              <a:rPr lang="en-US" dirty="0">
                <a:solidFill>
                  <a:srgbClr val="C00000"/>
                </a:solidFill>
              </a:rPr>
              <a:t>: </a:t>
            </a:r>
            <a:r>
              <a:rPr lang="en-US" dirty="0"/>
              <a:t>Coverage includes loss of limbs, sight, or speech.</a:t>
            </a:r>
          </a:p>
          <a:p>
            <a:pPr lvl="1"/>
            <a:r>
              <a:rPr lang="en-US" b="1" dirty="0">
                <a:solidFill>
                  <a:srgbClr val="C00000"/>
                </a:solidFill>
              </a:rPr>
              <a:t>Permanent Partial Disability</a:t>
            </a:r>
            <a:r>
              <a:rPr lang="en-US" dirty="0">
                <a:solidFill>
                  <a:srgbClr val="C00000"/>
                </a:solidFill>
              </a:rPr>
              <a:t>: </a:t>
            </a:r>
            <a:r>
              <a:rPr lang="en-US" dirty="0"/>
              <a:t>Compensation based on the extent of injury </a:t>
            </a:r>
          </a:p>
          <a:p>
            <a:pPr lvl="1"/>
            <a:r>
              <a:rPr lang="en-US" b="1" dirty="0">
                <a:solidFill>
                  <a:srgbClr val="C00000"/>
                </a:solidFill>
              </a:rPr>
              <a:t>Temporary Total Disablement</a:t>
            </a:r>
            <a:r>
              <a:rPr lang="en-US" dirty="0">
                <a:solidFill>
                  <a:srgbClr val="C00000"/>
                </a:solidFill>
              </a:rPr>
              <a:t>: </a:t>
            </a:r>
            <a:r>
              <a:rPr lang="en-US" dirty="0"/>
              <a:t>Depends on insurance company.</a:t>
            </a:r>
          </a:p>
          <a:p>
            <a:pPr lvl="1"/>
            <a:r>
              <a:rPr lang="en-US" b="1" dirty="0">
                <a:solidFill>
                  <a:srgbClr val="C00000"/>
                </a:solidFill>
              </a:rPr>
              <a:t>Other benefits: </a:t>
            </a:r>
            <a:r>
              <a:rPr lang="en-US" dirty="0"/>
              <a:t>Education for dependent children, loss of employment etc. (Depends on insurance company)</a:t>
            </a:r>
          </a:p>
          <a:p>
            <a:r>
              <a:rPr lang="en-US" b="1" dirty="0">
                <a:solidFill>
                  <a:srgbClr val="C00000"/>
                </a:solidFill>
              </a:rPr>
              <a:t>Claim Procedure</a:t>
            </a:r>
          </a:p>
          <a:p>
            <a:pPr lvl="1"/>
            <a:r>
              <a:rPr lang="en-US" dirty="0"/>
              <a:t>Immediate notification to the insurer.</a:t>
            </a:r>
          </a:p>
          <a:p>
            <a:pPr lvl="1"/>
            <a:r>
              <a:rPr lang="en-US" dirty="0"/>
              <a:t>Submission of required documents like FIR, medical reports, and claim forms.</a:t>
            </a:r>
          </a:p>
          <a:p>
            <a:pPr lvl="1"/>
            <a:r>
              <a:rPr lang="en-US" dirty="0"/>
              <a:t>Post-mortem and disability certification where applicable.</a:t>
            </a:r>
          </a:p>
          <a:p>
            <a:endParaRPr lang="en-IN" dirty="0"/>
          </a:p>
        </p:txBody>
      </p:sp>
    </p:spTree>
    <p:extLst>
      <p:ext uri="{BB962C8B-B14F-4D97-AF65-F5344CB8AC3E}">
        <p14:creationId xmlns:p14="http://schemas.microsoft.com/office/powerpoint/2010/main" val="347158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Pradhan Mantri Suraksha Bima Yojana (PMSBY)</a:t>
            </a:r>
          </a:p>
        </p:txBody>
      </p:sp>
      <p:sp>
        <p:nvSpPr>
          <p:cNvPr id="3" name="Content Placeholder 2"/>
          <p:cNvSpPr>
            <a:spLocks noGrp="1"/>
          </p:cNvSpPr>
          <p:nvPr>
            <p:ph idx="1"/>
          </p:nvPr>
        </p:nvSpPr>
        <p:spPr/>
        <p:txBody>
          <a:bodyPr/>
          <a:lstStyle/>
          <a:p>
            <a:r>
              <a:rPr lang="en-US" b="1" dirty="0">
                <a:solidFill>
                  <a:srgbClr val="C00000"/>
                </a:solidFill>
              </a:rPr>
              <a:t>Objective: </a:t>
            </a:r>
            <a:r>
              <a:rPr lang="en-US" dirty="0"/>
              <a:t>Provides personal accident insurance to </a:t>
            </a:r>
            <a:r>
              <a:rPr lang="en-US" b="1" dirty="0">
                <a:solidFill>
                  <a:srgbClr val="C00000"/>
                </a:solidFill>
              </a:rPr>
              <a:t>weaker sections </a:t>
            </a:r>
            <a:r>
              <a:rPr lang="en-US" dirty="0"/>
              <a:t>through Public Sector and other approved General Insurance Companies.</a:t>
            </a:r>
          </a:p>
          <a:p>
            <a:r>
              <a:rPr lang="en-US" b="1" dirty="0">
                <a:solidFill>
                  <a:srgbClr val="C00000"/>
                </a:solidFill>
              </a:rPr>
              <a:t>Tenure: </a:t>
            </a:r>
            <a:r>
              <a:rPr lang="en-US" dirty="0"/>
              <a:t>One-year renewable scheme from </a:t>
            </a:r>
            <a:r>
              <a:rPr lang="en-US" b="1" dirty="0">
                <a:solidFill>
                  <a:srgbClr val="C00000"/>
                </a:solidFill>
              </a:rPr>
              <a:t>1st June to 31st May</a:t>
            </a:r>
            <a:r>
              <a:rPr lang="en-US" b="1" dirty="0">
                <a:solidFill>
                  <a:srgbClr val="D10233"/>
                </a:solidFill>
              </a:rPr>
              <a:t>.</a:t>
            </a:r>
          </a:p>
          <a:p>
            <a:r>
              <a:rPr lang="en-US" b="1" dirty="0">
                <a:solidFill>
                  <a:srgbClr val="C00000"/>
                </a:solidFill>
              </a:rPr>
              <a:t>Scope: </a:t>
            </a:r>
            <a:r>
              <a:rPr lang="en-US" dirty="0"/>
              <a:t>Covers accidental death and disability.</a:t>
            </a:r>
          </a:p>
          <a:p>
            <a:r>
              <a:rPr lang="en-US" b="1" dirty="0">
                <a:solidFill>
                  <a:srgbClr val="C00000"/>
                </a:solidFill>
              </a:rPr>
              <a:t>Savings bank account holders </a:t>
            </a:r>
            <a:r>
              <a:rPr lang="en-US" dirty="0"/>
              <a:t>aged 18-70 years, </a:t>
            </a:r>
            <a:r>
              <a:rPr lang="en-US" dirty="0" err="1"/>
              <a:t>Aadhar</a:t>
            </a:r>
            <a:r>
              <a:rPr lang="en-US" dirty="0"/>
              <a:t> is the primary KYC.</a:t>
            </a:r>
          </a:p>
          <a:p>
            <a:r>
              <a:rPr lang="en-US" dirty="0"/>
              <a:t>Enrollment through </a:t>
            </a:r>
            <a:r>
              <a:rPr lang="en-US" b="1" dirty="0">
                <a:solidFill>
                  <a:srgbClr val="C00000"/>
                </a:solidFill>
              </a:rPr>
              <a:t>one savings bank account only</a:t>
            </a:r>
            <a:r>
              <a:rPr lang="en-US" dirty="0"/>
              <a:t>. Enrollment </a:t>
            </a:r>
            <a:r>
              <a:rPr lang="en-US" b="1" dirty="0">
                <a:solidFill>
                  <a:srgbClr val="C00000"/>
                </a:solidFill>
              </a:rPr>
              <a:t>before 31st May each year</a:t>
            </a:r>
            <a:r>
              <a:rPr lang="en-US" dirty="0">
                <a:solidFill>
                  <a:srgbClr val="C00000"/>
                </a:solidFill>
              </a:rPr>
              <a:t> </a:t>
            </a:r>
            <a:r>
              <a:rPr lang="en-US" dirty="0"/>
              <a:t>with the option for rejoining in subsequent years.</a:t>
            </a:r>
          </a:p>
          <a:p>
            <a:r>
              <a:rPr lang="en-US" dirty="0"/>
              <a:t>Benefits</a:t>
            </a:r>
          </a:p>
          <a:p>
            <a:pPr lvl="1"/>
            <a:r>
              <a:rPr lang="en-US" b="1" dirty="0">
                <a:solidFill>
                  <a:srgbClr val="C00000"/>
                </a:solidFill>
              </a:rPr>
              <a:t>Death:</a:t>
            </a:r>
            <a:r>
              <a:rPr lang="en-US" dirty="0">
                <a:solidFill>
                  <a:srgbClr val="C00000"/>
                </a:solidFill>
              </a:rPr>
              <a:t> </a:t>
            </a:r>
            <a:r>
              <a:rPr lang="en-US" dirty="0"/>
              <a:t>₹2 Lakh</a:t>
            </a:r>
          </a:p>
          <a:p>
            <a:pPr lvl="1"/>
            <a:r>
              <a:rPr lang="en-US" b="1" dirty="0">
                <a:solidFill>
                  <a:srgbClr val="C00000"/>
                </a:solidFill>
              </a:rPr>
              <a:t>Total loss of both eyes, both hands/feet, or one eye and one hand/foot:</a:t>
            </a:r>
            <a:r>
              <a:rPr lang="en-US" dirty="0">
                <a:solidFill>
                  <a:srgbClr val="C00000"/>
                </a:solidFill>
              </a:rPr>
              <a:t> </a:t>
            </a:r>
            <a:r>
              <a:rPr lang="en-US" dirty="0"/>
              <a:t>₹2 Lakh</a:t>
            </a:r>
          </a:p>
          <a:p>
            <a:pPr lvl="1"/>
            <a:r>
              <a:rPr lang="en-US" b="1" dirty="0">
                <a:solidFill>
                  <a:srgbClr val="C00000"/>
                </a:solidFill>
              </a:rPr>
              <a:t>Total loss of one eye or one hand/foot: </a:t>
            </a:r>
            <a:r>
              <a:rPr lang="en-US" dirty="0"/>
              <a:t>₹1 Lakh</a:t>
            </a:r>
          </a:p>
          <a:p>
            <a:r>
              <a:rPr lang="en-US" dirty="0"/>
              <a:t>Premium: </a:t>
            </a:r>
            <a:r>
              <a:rPr lang="en-US" b="1" dirty="0">
                <a:solidFill>
                  <a:srgbClr val="C00000"/>
                </a:solidFill>
              </a:rPr>
              <a:t>₹20 per annum</a:t>
            </a:r>
            <a:r>
              <a:rPr lang="en-US" dirty="0"/>
              <a:t>, auto-debited from the account. </a:t>
            </a:r>
            <a:endParaRPr lang="en-IN" dirty="0"/>
          </a:p>
        </p:txBody>
      </p:sp>
    </p:spTree>
    <p:extLst>
      <p:ext uri="{BB962C8B-B14F-4D97-AF65-F5344CB8AC3E}">
        <p14:creationId xmlns:p14="http://schemas.microsoft.com/office/powerpoint/2010/main" val="274471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711200"/>
          </a:xfrm>
        </p:spPr>
        <p:txBody>
          <a:bodyPr/>
          <a:lstStyle/>
          <a:p>
            <a:r>
              <a:rPr lang="en-US" dirty="0">
                <a:sym typeface="+mn-ea"/>
              </a:rPr>
              <a:t>Miscellaneous Non-Life Insurances</a:t>
            </a:r>
            <a:endParaRPr lang="en-IN" dirty="0"/>
          </a:p>
        </p:txBody>
      </p:sp>
      <p:graphicFrame>
        <p:nvGraphicFramePr>
          <p:cNvPr id="5" name="Content Placeholder 4"/>
          <p:cNvGraphicFramePr>
            <a:graphicFrameLocks noGrp="1"/>
          </p:cNvGraphicFramePr>
          <p:nvPr>
            <p:ph idx="1"/>
          </p:nvPr>
        </p:nvGraphicFramePr>
        <p:xfrm>
          <a:off x="131763" y="863600"/>
          <a:ext cx="11928475" cy="50548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9454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C3CEE248-A7EF-46BA-9C55-AE45A54C77B6}"/>
                                            </p:graphicEl>
                                          </p:spTgt>
                                        </p:tgtEl>
                                        <p:attrNameLst>
                                          <p:attrName>style.visibility</p:attrName>
                                        </p:attrNameLst>
                                      </p:cBhvr>
                                      <p:to>
                                        <p:strVal val="visible"/>
                                      </p:to>
                                    </p:set>
                                    <p:animEffect transition="in" filter="fade">
                                      <p:cBhvr>
                                        <p:cTn id="7" dur="500"/>
                                        <p:tgtEl>
                                          <p:spTgt spid="5">
                                            <p:graphicEl>
                                              <a:dgm id="{C3CEE248-A7EF-46BA-9C55-AE45A54C77B6}"/>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graphicEl>
                                              <a:dgm id="{2DB5A812-4A7A-45C3-857E-D334B9AD0D4E}"/>
                                            </p:graphicEl>
                                          </p:spTgt>
                                        </p:tgtEl>
                                        <p:attrNameLst>
                                          <p:attrName>style.visibility</p:attrName>
                                        </p:attrNameLst>
                                      </p:cBhvr>
                                      <p:to>
                                        <p:strVal val="visible"/>
                                      </p:to>
                                    </p:set>
                                    <p:animEffect transition="in" filter="fade">
                                      <p:cBhvr>
                                        <p:cTn id="10" dur="500"/>
                                        <p:tgtEl>
                                          <p:spTgt spid="5">
                                            <p:graphicEl>
                                              <a:dgm id="{2DB5A812-4A7A-45C3-857E-D334B9AD0D4E}"/>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graphicEl>
                                              <a:dgm id="{C96C88AE-096B-45D6-8C17-27290CB5D515}"/>
                                            </p:graphicEl>
                                          </p:spTgt>
                                        </p:tgtEl>
                                        <p:attrNameLst>
                                          <p:attrName>style.visibility</p:attrName>
                                        </p:attrNameLst>
                                      </p:cBhvr>
                                      <p:to>
                                        <p:strVal val="visible"/>
                                      </p:to>
                                    </p:set>
                                    <p:animEffect transition="in" filter="fade">
                                      <p:cBhvr>
                                        <p:cTn id="15" dur="500"/>
                                        <p:tgtEl>
                                          <p:spTgt spid="5">
                                            <p:graphicEl>
                                              <a:dgm id="{C96C88AE-096B-45D6-8C17-27290CB5D515}"/>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graphicEl>
                                              <a:dgm id="{05EE7089-E21D-40B6-B77C-319CC8596EEB}"/>
                                            </p:graphicEl>
                                          </p:spTgt>
                                        </p:tgtEl>
                                        <p:attrNameLst>
                                          <p:attrName>style.visibility</p:attrName>
                                        </p:attrNameLst>
                                      </p:cBhvr>
                                      <p:to>
                                        <p:strVal val="visible"/>
                                      </p:to>
                                    </p:set>
                                    <p:animEffect transition="in" filter="fade">
                                      <p:cBhvr>
                                        <p:cTn id="20" dur="500"/>
                                        <p:tgtEl>
                                          <p:spTgt spid="5">
                                            <p:graphicEl>
                                              <a:dgm id="{05EE7089-E21D-40B6-B77C-319CC8596EEB}"/>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graphicEl>
                                              <a:dgm id="{5E48EA24-31B6-43F7-A8AE-B259209689B3}"/>
                                            </p:graphicEl>
                                          </p:spTgt>
                                        </p:tgtEl>
                                        <p:attrNameLst>
                                          <p:attrName>style.visibility</p:attrName>
                                        </p:attrNameLst>
                                      </p:cBhvr>
                                      <p:to>
                                        <p:strVal val="visible"/>
                                      </p:to>
                                    </p:set>
                                    <p:animEffect transition="in" filter="fade">
                                      <p:cBhvr>
                                        <p:cTn id="23" dur="500"/>
                                        <p:tgtEl>
                                          <p:spTgt spid="5">
                                            <p:graphicEl>
                                              <a:dgm id="{5E48EA24-31B6-43F7-A8AE-B259209689B3}"/>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graphicEl>
                                              <a:dgm id="{53D2B52E-90B7-4BC2-91C1-78DFA4C928D0}"/>
                                            </p:graphicEl>
                                          </p:spTgt>
                                        </p:tgtEl>
                                        <p:attrNameLst>
                                          <p:attrName>style.visibility</p:attrName>
                                        </p:attrNameLst>
                                      </p:cBhvr>
                                      <p:to>
                                        <p:strVal val="visible"/>
                                      </p:to>
                                    </p:set>
                                    <p:animEffect transition="in" filter="fade">
                                      <p:cBhvr>
                                        <p:cTn id="28" dur="500"/>
                                        <p:tgtEl>
                                          <p:spTgt spid="5">
                                            <p:graphicEl>
                                              <a:dgm id="{53D2B52E-90B7-4BC2-91C1-78DFA4C928D0}"/>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graphicEl>
                                              <a:dgm id="{5BFA2277-3F27-43CE-96C3-2DC1D1DCA00D}"/>
                                            </p:graphicEl>
                                          </p:spTgt>
                                        </p:tgtEl>
                                        <p:attrNameLst>
                                          <p:attrName>style.visibility</p:attrName>
                                        </p:attrNameLst>
                                      </p:cBhvr>
                                      <p:to>
                                        <p:strVal val="visible"/>
                                      </p:to>
                                    </p:set>
                                    <p:animEffect transition="in" filter="fade">
                                      <p:cBhvr>
                                        <p:cTn id="33" dur="500"/>
                                        <p:tgtEl>
                                          <p:spTgt spid="5">
                                            <p:graphicEl>
                                              <a:dgm id="{5BFA2277-3F27-43CE-96C3-2DC1D1DCA00D}"/>
                                            </p:graphic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
                                            <p:graphicEl>
                                              <a:dgm id="{14ED7716-E54F-40D3-879A-5CE7029A0C23}"/>
                                            </p:graphicEl>
                                          </p:spTgt>
                                        </p:tgtEl>
                                        <p:attrNameLst>
                                          <p:attrName>style.visibility</p:attrName>
                                        </p:attrNameLst>
                                      </p:cBhvr>
                                      <p:to>
                                        <p:strVal val="visible"/>
                                      </p:to>
                                    </p:set>
                                    <p:animEffect transition="in" filter="fade">
                                      <p:cBhvr>
                                        <p:cTn id="36" dur="500"/>
                                        <p:tgtEl>
                                          <p:spTgt spid="5">
                                            <p:graphicEl>
                                              <a:dgm id="{14ED7716-E54F-40D3-879A-5CE7029A0C23}"/>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
                                            <p:graphicEl>
                                              <a:dgm id="{1F4F210E-0FCD-4819-AD05-91A1C96506D1}"/>
                                            </p:graphicEl>
                                          </p:spTgt>
                                        </p:tgtEl>
                                        <p:attrNameLst>
                                          <p:attrName>style.visibility</p:attrName>
                                        </p:attrNameLst>
                                      </p:cBhvr>
                                      <p:to>
                                        <p:strVal val="visible"/>
                                      </p:to>
                                    </p:set>
                                    <p:animEffect transition="in" filter="fade">
                                      <p:cBhvr>
                                        <p:cTn id="41" dur="500"/>
                                        <p:tgtEl>
                                          <p:spTgt spid="5">
                                            <p:graphicEl>
                                              <a:dgm id="{1F4F210E-0FCD-4819-AD05-91A1C96506D1}"/>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
                                            <p:graphicEl>
                                              <a:dgm id="{6005F083-C30C-4847-8B19-BEAF8D96A959}"/>
                                            </p:graphicEl>
                                          </p:spTgt>
                                        </p:tgtEl>
                                        <p:attrNameLst>
                                          <p:attrName>style.visibility</p:attrName>
                                        </p:attrNameLst>
                                      </p:cBhvr>
                                      <p:to>
                                        <p:strVal val="visible"/>
                                      </p:to>
                                    </p:set>
                                    <p:animEffect transition="in" filter="fade">
                                      <p:cBhvr>
                                        <p:cTn id="46" dur="500"/>
                                        <p:tgtEl>
                                          <p:spTgt spid="5">
                                            <p:graphicEl>
                                              <a:dgm id="{6005F083-C30C-4847-8B19-BEAF8D96A959}"/>
                                            </p:graphic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
                                            <p:graphicEl>
                                              <a:dgm id="{1CF5BB58-C108-4B24-8A7C-693BD6DD8781}"/>
                                            </p:graphicEl>
                                          </p:spTgt>
                                        </p:tgtEl>
                                        <p:attrNameLst>
                                          <p:attrName>style.visibility</p:attrName>
                                        </p:attrNameLst>
                                      </p:cBhvr>
                                      <p:to>
                                        <p:strVal val="visible"/>
                                      </p:to>
                                    </p:set>
                                    <p:animEffect transition="in" filter="fade">
                                      <p:cBhvr>
                                        <p:cTn id="49" dur="500"/>
                                        <p:tgtEl>
                                          <p:spTgt spid="5">
                                            <p:graphicEl>
                                              <a:dgm id="{1CF5BB58-C108-4B24-8A7C-693BD6DD8781}"/>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
                                            <p:graphicEl>
                                              <a:dgm id="{93781CF5-8043-42A5-A21B-19CA6AA377D4}"/>
                                            </p:graphicEl>
                                          </p:spTgt>
                                        </p:tgtEl>
                                        <p:attrNameLst>
                                          <p:attrName>style.visibility</p:attrName>
                                        </p:attrNameLst>
                                      </p:cBhvr>
                                      <p:to>
                                        <p:strVal val="visible"/>
                                      </p:to>
                                    </p:set>
                                    <p:animEffect transition="in" filter="fade">
                                      <p:cBhvr>
                                        <p:cTn id="54" dur="500"/>
                                        <p:tgtEl>
                                          <p:spTgt spid="5">
                                            <p:graphicEl>
                                              <a:dgm id="{93781CF5-8043-42A5-A21B-19CA6AA377D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Policyholder Servicing Turnaround Times as Prescribed by IRDA</a:t>
            </a:r>
            <a:endParaRPr lang="en-IN" dirty="0"/>
          </a:p>
        </p:txBody>
      </p:sp>
      <p:graphicFrame>
        <p:nvGraphicFramePr>
          <p:cNvPr id="4" name="Content Placeholder 3"/>
          <p:cNvGraphicFramePr>
            <a:graphicFrameLocks noGrp="1"/>
          </p:cNvGraphicFramePr>
          <p:nvPr>
            <p:ph idx="1"/>
          </p:nvPr>
        </p:nvGraphicFramePr>
        <p:xfrm>
          <a:off x="131763" y="860425"/>
          <a:ext cx="11928476" cy="5577840"/>
        </p:xfrm>
        <a:graphic>
          <a:graphicData uri="http://schemas.openxmlformats.org/drawingml/2006/table">
            <a:tbl>
              <a:tblPr firstRow="1" bandRow="1">
                <a:tableStyleId>{93296810-A885-4BE3-A3E7-6D5BEEA58F35}</a:tableStyleId>
              </a:tblPr>
              <a:tblGrid>
                <a:gridCol w="9504606">
                  <a:extLst>
                    <a:ext uri="{9D8B030D-6E8A-4147-A177-3AD203B41FA5}">
                      <a16:colId xmlns:a16="http://schemas.microsoft.com/office/drawing/2014/main" val="510326023"/>
                    </a:ext>
                  </a:extLst>
                </a:gridCol>
                <a:gridCol w="2423870">
                  <a:extLst>
                    <a:ext uri="{9D8B030D-6E8A-4147-A177-3AD203B41FA5}">
                      <a16:colId xmlns:a16="http://schemas.microsoft.com/office/drawing/2014/main" val="2526290852"/>
                    </a:ext>
                  </a:extLst>
                </a:gridCol>
              </a:tblGrid>
              <a:tr h="370840">
                <a:tc>
                  <a:txBody>
                    <a:bodyPr/>
                    <a:lstStyle/>
                    <a:p>
                      <a:r>
                        <a:rPr lang="en-IN" sz="2100" dirty="0"/>
                        <a:t>Service</a:t>
                      </a:r>
                    </a:p>
                  </a:txBody>
                  <a:tcPr/>
                </a:tc>
                <a:tc>
                  <a:txBody>
                    <a:bodyPr/>
                    <a:lstStyle/>
                    <a:p>
                      <a:r>
                        <a:rPr lang="en-IN" sz="2100" dirty="0"/>
                        <a:t>Maximum Turn Around Time</a:t>
                      </a:r>
                    </a:p>
                  </a:txBody>
                  <a:tcPr/>
                </a:tc>
                <a:extLst>
                  <a:ext uri="{0D108BD9-81ED-4DB2-BD59-A6C34878D82A}">
                    <a16:rowId xmlns:a16="http://schemas.microsoft.com/office/drawing/2014/main" val="4229092563"/>
                  </a:ext>
                </a:extLst>
              </a:tr>
              <a:tr h="370840">
                <a:tc>
                  <a:txBody>
                    <a:bodyPr/>
                    <a:lstStyle/>
                    <a:p>
                      <a:r>
                        <a:rPr lang="en-IN" sz="2400" b="1" dirty="0"/>
                        <a:t>General</a:t>
                      </a:r>
                    </a:p>
                  </a:txBody>
                  <a:tcPr/>
                </a:tc>
                <a:tc>
                  <a:txBody>
                    <a:bodyPr/>
                    <a:lstStyle/>
                    <a:p>
                      <a:endParaRPr lang="en-IN" sz="2100" dirty="0"/>
                    </a:p>
                  </a:txBody>
                  <a:tcPr/>
                </a:tc>
                <a:extLst>
                  <a:ext uri="{0D108BD9-81ED-4DB2-BD59-A6C34878D82A}">
                    <a16:rowId xmlns:a16="http://schemas.microsoft.com/office/drawing/2014/main" val="416516852"/>
                  </a:ext>
                </a:extLst>
              </a:tr>
              <a:tr h="370840">
                <a:tc>
                  <a:txBody>
                    <a:bodyPr/>
                    <a:lstStyle/>
                    <a:p>
                      <a:r>
                        <a:rPr lang="en-US" sz="2100" dirty="0"/>
                        <a:t>Processing of Proposal and Communication of decisions including requirements/issue of Policy /Cancellations</a:t>
                      </a:r>
                      <a:endParaRPr lang="en-IN" sz="2100" dirty="0"/>
                    </a:p>
                  </a:txBody>
                  <a:tcPr/>
                </a:tc>
                <a:tc>
                  <a:txBody>
                    <a:bodyPr/>
                    <a:lstStyle/>
                    <a:p>
                      <a:r>
                        <a:rPr lang="en-US" sz="2100" dirty="0"/>
                        <a:t>15 Days</a:t>
                      </a:r>
                      <a:endParaRPr lang="en-IN" sz="2100" dirty="0"/>
                    </a:p>
                  </a:txBody>
                  <a:tcPr/>
                </a:tc>
                <a:extLst>
                  <a:ext uri="{0D108BD9-81ED-4DB2-BD59-A6C34878D82A}">
                    <a16:rowId xmlns:a16="http://schemas.microsoft.com/office/drawing/2014/main" val="3456915911"/>
                  </a:ext>
                </a:extLst>
              </a:tr>
              <a:tr h="370840">
                <a:tc>
                  <a:txBody>
                    <a:bodyPr/>
                    <a:lstStyle/>
                    <a:p>
                      <a:r>
                        <a:rPr lang="en-US" sz="2100" dirty="0"/>
                        <a:t>Obtaining copy of the proposal</a:t>
                      </a:r>
                      <a:endParaRPr lang="en-IN" sz="2100" dirty="0"/>
                    </a:p>
                  </a:txBody>
                  <a:tcPr/>
                </a:tc>
                <a:tc>
                  <a:txBody>
                    <a:bodyPr/>
                    <a:lstStyle/>
                    <a:p>
                      <a:r>
                        <a:rPr lang="en-US" sz="2100" dirty="0"/>
                        <a:t>30 Days</a:t>
                      </a:r>
                      <a:endParaRPr lang="en-IN" sz="2100" dirty="0"/>
                    </a:p>
                  </a:txBody>
                  <a:tcPr/>
                </a:tc>
                <a:extLst>
                  <a:ext uri="{0D108BD9-81ED-4DB2-BD59-A6C34878D82A}">
                    <a16:rowId xmlns:a16="http://schemas.microsoft.com/office/drawing/2014/main" val="780813106"/>
                  </a:ext>
                </a:extLst>
              </a:tr>
              <a:tr h="370840">
                <a:tc>
                  <a:txBody>
                    <a:bodyPr/>
                    <a:lstStyle/>
                    <a:p>
                      <a:r>
                        <a:rPr lang="en-US" sz="2100" dirty="0"/>
                        <a:t>Post Policy issue service requests concerning mistakes/refund of proposal deposit and also Non-Claim related service requests</a:t>
                      </a:r>
                      <a:endParaRPr lang="en-IN" sz="2100" dirty="0"/>
                    </a:p>
                  </a:txBody>
                  <a:tcPr/>
                </a:tc>
                <a:tc>
                  <a:txBody>
                    <a:bodyPr/>
                    <a:lstStyle/>
                    <a:p>
                      <a:r>
                        <a:rPr lang="en-US" sz="2100" dirty="0"/>
                        <a:t>10 Days</a:t>
                      </a:r>
                      <a:endParaRPr lang="en-IN" sz="2100" dirty="0"/>
                    </a:p>
                  </a:txBody>
                  <a:tcPr/>
                </a:tc>
                <a:extLst>
                  <a:ext uri="{0D108BD9-81ED-4DB2-BD59-A6C34878D82A}">
                    <a16:rowId xmlns:a16="http://schemas.microsoft.com/office/drawing/2014/main" val="4119829758"/>
                  </a:ext>
                </a:extLst>
              </a:tr>
              <a:tr h="370840">
                <a:tc>
                  <a:txBody>
                    <a:bodyPr/>
                    <a:lstStyle/>
                    <a:p>
                      <a:r>
                        <a:rPr lang="en-IN" sz="2400" b="1" dirty="0"/>
                        <a:t>Life Insurance</a:t>
                      </a:r>
                    </a:p>
                  </a:txBody>
                  <a:tcPr/>
                </a:tc>
                <a:tc>
                  <a:txBody>
                    <a:bodyPr/>
                    <a:lstStyle/>
                    <a:p>
                      <a:endParaRPr lang="en-IN" sz="2100" dirty="0"/>
                    </a:p>
                  </a:txBody>
                  <a:tcPr/>
                </a:tc>
                <a:extLst>
                  <a:ext uri="{0D108BD9-81ED-4DB2-BD59-A6C34878D82A}">
                    <a16:rowId xmlns:a16="http://schemas.microsoft.com/office/drawing/2014/main" val="945268130"/>
                  </a:ext>
                </a:extLst>
              </a:tr>
              <a:tr h="370840">
                <a:tc>
                  <a:txBody>
                    <a:bodyPr/>
                    <a:lstStyle/>
                    <a:p>
                      <a:r>
                        <a:rPr lang="en-IN" sz="2100" dirty="0"/>
                        <a:t>Surrender value/annuity/pension processing</a:t>
                      </a:r>
                    </a:p>
                  </a:txBody>
                  <a:tcPr/>
                </a:tc>
                <a:tc>
                  <a:txBody>
                    <a:bodyPr/>
                    <a:lstStyle/>
                    <a:p>
                      <a:r>
                        <a:rPr lang="en-US" sz="2100" dirty="0"/>
                        <a:t>10 Days</a:t>
                      </a:r>
                      <a:endParaRPr lang="en-IN" sz="2100" dirty="0"/>
                    </a:p>
                  </a:txBody>
                  <a:tcPr/>
                </a:tc>
                <a:extLst>
                  <a:ext uri="{0D108BD9-81ED-4DB2-BD59-A6C34878D82A}">
                    <a16:rowId xmlns:a16="http://schemas.microsoft.com/office/drawing/2014/main" val="733226648"/>
                  </a:ext>
                </a:extLst>
              </a:tr>
              <a:tr h="370840">
                <a:tc>
                  <a:txBody>
                    <a:bodyPr/>
                    <a:lstStyle/>
                    <a:p>
                      <a:r>
                        <a:rPr lang="en-US" sz="2100" dirty="0"/>
                        <a:t>Maturity claim/Survival benefit/penal</a:t>
                      </a:r>
                      <a:r>
                        <a:rPr lang="en-US" sz="2100" baseline="0" dirty="0"/>
                        <a:t> </a:t>
                      </a:r>
                      <a:r>
                        <a:rPr lang="en-US" sz="2100" dirty="0"/>
                        <a:t>interest not paid</a:t>
                      </a:r>
                      <a:endParaRPr lang="en-IN" sz="2100" dirty="0"/>
                    </a:p>
                  </a:txBody>
                  <a:tcPr/>
                </a:tc>
                <a:tc>
                  <a:txBody>
                    <a:bodyPr/>
                    <a:lstStyle/>
                    <a:p>
                      <a:r>
                        <a:rPr lang="en-US" sz="2100" dirty="0"/>
                        <a:t>15 Days</a:t>
                      </a:r>
                      <a:endParaRPr lang="en-IN" sz="2100" dirty="0"/>
                    </a:p>
                  </a:txBody>
                  <a:tcPr/>
                </a:tc>
                <a:extLst>
                  <a:ext uri="{0D108BD9-81ED-4DB2-BD59-A6C34878D82A}">
                    <a16:rowId xmlns:a16="http://schemas.microsoft.com/office/drawing/2014/main" val="728347073"/>
                  </a:ext>
                </a:extLst>
              </a:tr>
              <a:tr h="370840">
                <a:tc>
                  <a:txBody>
                    <a:bodyPr/>
                    <a:lstStyle/>
                    <a:p>
                      <a:r>
                        <a:rPr lang="en-US" sz="2100" dirty="0"/>
                        <a:t>Raising claim requirements after lodging the Claim</a:t>
                      </a:r>
                      <a:endParaRPr lang="en-IN" sz="2100" dirty="0"/>
                    </a:p>
                  </a:txBody>
                  <a:tcPr/>
                </a:tc>
                <a:tc>
                  <a:txBody>
                    <a:bodyPr/>
                    <a:lstStyle/>
                    <a:p>
                      <a:r>
                        <a:rPr lang="en-US" sz="2100" dirty="0"/>
                        <a:t>15 Days</a:t>
                      </a:r>
                      <a:endParaRPr lang="en-IN" sz="2100" dirty="0"/>
                    </a:p>
                  </a:txBody>
                  <a:tcPr/>
                </a:tc>
                <a:extLst>
                  <a:ext uri="{0D108BD9-81ED-4DB2-BD59-A6C34878D82A}">
                    <a16:rowId xmlns:a16="http://schemas.microsoft.com/office/drawing/2014/main" val="2006589831"/>
                  </a:ext>
                </a:extLst>
              </a:tr>
              <a:tr h="370840">
                <a:tc>
                  <a:txBody>
                    <a:bodyPr/>
                    <a:lstStyle/>
                    <a:p>
                      <a:r>
                        <a:rPr lang="en-US" sz="2100" dirty="0"/>
                        <a:t>Death claim settlement without Investigation requirement</a:t>
                      </a:r>
                      <a:endParaRPr lang="en-IN" sz="2100" dirty="0"/>
                    </a:p>
                  </a:txBody>
                  <a:tcPr/>
                </a:tc>
                <a:tc>
                  <a:txBody>
                    <a:bodyPr/>
                    <a:lstStyle/>
                    <a:p>
                      <a:r>
                        <a:rPr lang="en-US" sz="2100" dirty="0"/>
                        <a:t>30 Days</a:t>
                      </a:r>
                      <a:endParaRPr lang="en-IN" sz="2100" dirty="0"/>
                    </a:p>
                  </a:txBody>
                  <a:tcPr/>
                </a:tc>
                <a:extLst>
                  <a:ext uri="{0D108BD9-81ED-4DB2-BD59-A6C34878D82A}">
                    <a16:rowId xmlns:a16="http://schemas.microsoft.com/office/drawing/2014/main" val="2592378369"/>
                  </a:ext>
                </a:extLst>
              </a:tr>
              <a:tr h="370840">
                <a:tc>
                  <a:txBody>
                    <a:bodyPr/>
                    <a:lstStyle/>
                    <a:p>
                      <a:r>
                        <a:rPr lang="en-US" sz="2100" dirty="0"/>
                        <a:t>Death claim settlement/repudiation</a:t>
                      </a:r>
                      <a:r>
                        <a:rPr lang="en-US" sz="2100" baseline="0" dirty="0"/>
                        <a:t> </a:t>
                      </a:r>
                      <a:r>
                        <a:rPr lang="en-US" sz="2100" dirty="0"/>
                        <a:t>with Investigation requirement</a:t>
                      </a:r>
                      <a:endParaRPr lang="en-IN" sz="2100" dirty="0"/>
                    </a:p>
                  </a:txBody>
                  <a:tcPr/>
                </a:tc>
                <a:tc>
                  <a:txBody>
                    <a:bodyPr/>
                    <a:lstStyle/>
                    <a:p>
                      <a:r>
                        <a:rPr lang="en-US" sz="2100" dirty="0"/>
                        <a:t>6 Months</a:t>
                      </a:r>
                      <a:endParaRPr lang="en-IN" sz="2100" dirty="0"/>
                    </a:p>
                  </a:txBody>
                  <a:tcPr/>
                </a:tc>
                <a:extLst>
                  <a:ext uri="{0D108BD9-81ED-4DB2-BD59-A6C34878D82A}">
                    <a16:rowId xmlns:a16="http://schemas.microsoft.com/office/drawing/2014/main" val="2391998861"/>
                  </a:ext>
                </a:extLst>
              </a:tr>
            </a:tbl>
          </a:graphicData>
        </a:graphic>
      </p:graphicFrame>
    </p:spTree>
    <p:extLst>
      <p:ext uri="{BB962C8B-B14F-4D97-AF65-F5344CB8AC3E}">
        <p14:creationId xmlns:p14="http://schemas.microsoft.com/office/powerpoint/2010/main" val="848382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Policyholder Servicing Turnaround Times as Prescribed by IRDA</a:t>
            </a:r>
            <a:endParaRPr lang="en-IN" dirty="0"/>
          </a:p>
        </p:txBody>
      </p:sp>
      <p:graphicFrame>
        <p:nvGraphicFramePr>
          <p:cNvPr id="4" name="Content Placeholder 3"/>
          <p:cNvGraphicFramePr>
            <a:graphicFrameLocks noGrp="1"/>
          </p:cNvGraphicFramePr>
          <p:nvPr>
            <p:ph idx="1"/>
          </p:nvPr>
        </p:nvGraphicFramePr>
        <p:xfrm>
          <a:off x="131763" y="863600"/>
          <a:ext cx="11928476" cy="3703320"/>
        </p:xfrm>
        <a:graphic>
          <a:graphicData uri="http://schemas.openxmlformats.org/drawingml/2006/table">
            <a:tbl>
              <a:tblPr firstRow="1" bandRow="1">
                <a:tableStyleId>{93296810-A885-4BE3-A3E7-6D5BEEA58F35}</a:tableStyleId>
              </a:tblPr>
              <a:tblGrid>
                <a:gridCol w="9504606">
                  <a:extLst>
                    <a:ext uri="{9D8B030D-6E8A-4147-A177-3AD203B41FA5}">
                      <a16:colId xmlns:a16="http://schemas.microsoft.com/office/drawing/2014/main" val="510326023"/>
                    </a:ext>
                  </a:extLst>
                </a:gridCol>
                <a:gridCol w="2423870">
                  <a:extLst>
                    <a:ext uri="{9D8B030D-6E8A-4147-A177-3AD203B41FA5}">
                      <a16:colId xmlns:a16="http://schemas.microsoft.com/office/drawing/2014/main" val="2526290852"/>
                    </a:ext>
                  </a:extLst>
                </a:gridCol>
              </a:tblGrid>
              <a:tr h="370840">
                <a:tc>
                  <a:txBody>
                    <a:bodyPr/>
                    <a:lstStyle/>
                    <a:p>
                      <a:r>
                        <a:rPr lang="en-IN" sz="2100" dirty="0"/>
                        <a:t>Service</a:t>
                      </a:r>
                    </a:p>
                  </a:txBody>
                  <a:tcPr/>
                </a:tc>
                <a:tc>
                  <a:txBody>
                    <a:bodyPr/>
                    <a:lstStyle/>
                    <a:p>
                      <a:r>
                        <a:rPr lang="en-IN" sz="2100" dirty="0"/>
                        <a:t>Maximum Turn Around Time</a:t>
                      </a:r>
                    </a:p>
                  </a:txBody>
                  <a:tcPr/>
                </a:tc>
                <a:extLst>
                  <a:ext uri="{0D108BD9-81ED-4DB2-BD59-A6C34878D82A}">
                    <a16:rowId xmlns:a16="http://schemas.microsoft.com/office/drawing/2014/main" val="4229092563"/>
                  </a:ext>
                </a:extLst>
              </a:tr>
              <a:tr h="370840">
                <a:tc>
                  <a:txBody>
                    <a:bodyPr/>
                    <a:lstStyle/>
                    <a:p>
                      <a:r>
                        <a:rPr lang="en-IN" sz="2400" b="1" dirty="0"/>
                        <a:t>General Insurance</a:t>
                      </a:r>
                    </a:p>
                  </a:txBody>
                  <a:tcPr/>
                </a:tc>
                <a:tc>
                  <a:txBody>
                    <a:bodyPr/>
                    <a:lstStyle/>
                    <a:p>
                      <a:endParaRPr lang="en-IN" sz="2100" dirty="0"/>
                    </a:p>
                  </a:txBody>
                  <a:tcPr/>
                </a:tc>
                <a:extLst>
                  <a:ext uri="{0D108BD9-81ED-4DB2-BD59-A6C34878D82A}">
                    <a16:rowId xmlns:a16="http://schemas.microsoft.com/office/drawing/2014/main" val="416516852"/>
                  </a:ext>
                </a:extLst>
              </a:tr>
              <a:tr h="370840">
                <a:tc>
                  <a:txBody>
                    <a:bodyPr/>
                    <a:lstStyle/>
                    <a:p>
                      <a:r>
                        <a:rPr lang="en-US" sz="2100" dirty="0"/>
                        <a:t>Survey report submission</a:t>
                      </a:r>
                      <a:endParaRPr lang="en-IN" sz="2100" dirty="0"/>
                    </a:p>
                  </a:txBody>
                  <a:tcPr/>
                </a:tc>
                <a:tc>
                  <a:txBody>
                    <a:bodyPr/>
                    <a:lstStyle/>
                    <a:p>
                      <a:r>
                        <a:rPr lang="en-US" sz="2100" dirty="0"/>
                        <a:t>30 Days</a:t>
                      </a:r>
                      <a:endParaRPr lang="en-IN" sz="2100" dirty="0"/>
                    </a:p>
                  </a:txBody>
                  <a:tcPr/>
                </a:tc>
                <a:extLst>
                  <a:ext uri="{0D108BD9-81ED-4DB2-BD59-A6C34878D82A}">
                    <a16:rowId xmlns:a16="http://schemas.microsoft.com/office/drawing/2014/main" val="3456915911"/>
                  </a:ext>
                </a:extLst>
              </a:tr>
              <a:tr h="370840">
                <a:tc>
                  <a:txBody>
                    <a:bodyPr/>
                    <a:lstStyle/>
                    <a:p>
                      <a:r>
                        <a:rPr lang="en-US" sz="2100" dirty="0"/>
                        <a:t>Insurer seeking addendum report</a:t>
                      </a:r>
                      <a:endParaRPr lang="en-IN" sz="2100" dirty="0"/>
                    </a:p>
                  </a:txBody>
                  <a:tcPr/>
                </a:tc>
                <a:tc>
                  <a:txBody>
                    <a:bodyPr/>
                    <a:lstStyle/>
                    <a:p>
                      <a:r>
                        <a:rPr lang="en-US" sz="2100" dirty="0"/>
                        <a:t>15 Days</a:t>
                      </a:r>
                      <a:endParaRPr lang="en-IN" sz="2100" dirty="0"/>
                    </a:p>
                  </a:txBody>
                  <a:tcPr/>
                </a:tc>
                <a:extLst>
                  <a:ext uri="{0D108BD9-81ED-4DB2-BD59-A6C34878D82A}">
                    <a16:rowId xmlns:a16="http://schemas.microsoft.com/office/drawing/2014/main" val="780813106"/>
                  </a:ext>
                </a:extLst>
              </a:tr>
              <a:tr h="370840">
                <a:tc>
                  <a:txBody>
                    <a:bodyPr/>
                    <a:lstStyle/>
                    <a:p>
                      <a:r>
                        <a:rPr lang="en-US" sz="2100" dirty="0"/>
                        <a:t>Settlement/rejection of Claim after receiving first/addendum survey report</a:t>
                      </a:r>
                      <a:endParaRPr lang="en-IN" sz="2100" dirty="0"/>
                    </a:p>
                  </a:txBody>
                  <a:tcPr/>
                </a:tc>
                <a:tc>
                  <a:txBody>
                    <a:bodyPr/>
                    <a:lstStyle/>
                    <a:p>
                      <a:r>
                        <a:rPr lang="en-US" sz="2100" dirty="0"/>
                        <a:t>30 Days</a:t>
                      </a:r>
                      <a:endParaRPr lang="en-IN" sz="2100" dirty="0"/>
                    </a:p>
                  </a:txBody>
                  <a:tcPr/>
                </a:tc>
                <a:extLst>
                  <a:ext uri="{0D108BD9-81ED-4DB2-BD59-A6C34878D82A}">
                    <a16:rowId xmlns:a16="http://schemas.microsoft.com/office/drawing/2014/main" val="4119829758"/>
                  </a:ext>
                </a:extLst>
              </a:tr>
              <a:tr h="370840">
                <a:tc>
                  <a:txBody>
                    <a:bodyPr/>
                    <a:lstStyle/>
                    <a:p>
                      <a:r>
                        <a:rPr lang="en-IN" sz="2400" b="1" dirty="0"/>
                        <a:t>Grievances</a:t>
                      </a:r>
                    </a:p>
                  </a:txBody>
                  <a:tcPr/>
                </a:tc>
                <a:tc>
                  <a:txBody>
                    <a:bodyPr/>
                    <a:lstStyle/>
                    <a:p>
                      <a:endParaRPr lang="en-IN" sz="2100" dirty="0"/>
                    </a:p>
                  </a:txBody>
                  <a:tcPr/>
                </a:tc>
                <a:extLst>
                  <a:ext uri="{0D108BD9-81ED-4DB2-BD59-A6C34878D82A}">
                    <a16:rowId xmlns:a16="http://schemas.microsoft.com/office/drawing/2014/main" val="945268130"/>
                  </a:ext>
                </a:extLst>
              </a:tr>
              <a:tr h="370840">
                <a:tc>
                  <a:txBody>
                    <a:bodyPr/>
                    <a:lstStyle/>
                    <a:p>
                      <a:r>
                        <a:rPr lang="en-IN" sz="2100" dirty="0"/>
                        <a:t>Acknowledge a grievance</a:t>
                      </a:r>
                    </a:p>
                  </a:txBody>
                  <a:tcPr/>
                </a:tc>
                <a:tc>
                  <a:txBody>
                    <a:bodyPr/>
                    <a:lstStyle/>
                    <a:p>
                      <a:r>
                        <a:rPr lang="en-US" sz="2100" dirty="0"/>
                        <a:t>3 Days</a:t>
                      </a:r>
                      <a:endParaRPr lang="en-IN" sz="2100" dirty="0"/>
                    </a:p>
                  </a:txBody>
                  <a:tcPr/>
                </a:tc>
                <a:extLst>
                  <a:ext uri="{0D108BD9-81ED-4DB2-BD59-A6C34878D82A}">
                    <a16:rowId xmlns:a16="http://schemas.microsoft.com/office/drawing/2014/main" val="733226648"/>
                  </a:ext>
                </a:extLst>
              </a:tr>
              <a:tr h="370840">
                <a:tc>
                  <a:txBody>
                    <a:bodyPr/>
                    <a:lstStyle/>
                    <a:p>
                      <a:r>
                        <a:rPr lang="en-US" sz="2100" dirty="0"/>
                        <a:t>Resolve a grievance</a:t>
                      </a:r>
                      <a:endParaRPr lang="en-IN" sz="2100" dirty="0"/>
                    </a:p>
                  </a:txBody>
                  <a:tcPr/>
                </a:tc>
                <a:tc>
                  <a:txBody>
                    <a:bodyPr/>
                    <a:lstStyle/>
                    <a:p>
                      <a:r>
                        <a:rPr lang="en-US" sz="2100" dirty="0"/>
                        <a:t>15 Days</a:t>
                      </a:r>
                      <a:endParaRPr lang="en-IN" sz="2100" dirty="0"/>
                    </a:p>
                  </a:txBody>
                  <a:tcPr/>
                </a:tc>
                <a:extLst>
                  <a:ext uri="{0D108BD9-81ED-4DB2-BD59-A6C34878D82A}">
                    <a16:rowId xmlns:a16="http://schemas.microsoft.com/office/drawing/2014/main" val="728347073"/>
                  </a:ext>
                </a:extLst>
              </a:tr>
            </a:tbl>
          </a:graphicData>
        </a:graphic>
      </p:graphicFrame>
    </p:spTree>
    <p:extLst>
      <p:ext uri="{BB962C8B-B14F-4D97-AF65-F5344CB8AC3E}">
        <p14:creationId xmlns:p14="http://schemas.microsoft.com/office/powerpoint/2010/main" val="378741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Grievance </a:t>
            </a:r>
            <a:r>
              <a:rPr lang="en-US" dirty="0" err="1"/>
              <a:t>Redressal</a:t>
            </a:r>
            <a:r>
              <a:rPr lang="en-US" dirty="0"/>
              <a:t> by IRDA</a:t>
            </a:r>
            <a:endParaRPr lang="en-IN" dirty="0"/>
          </a:p>
        </p:txBody>
      </p:sp>
      <p:sp>
        <p:nvSpPr>
          <p:cNvPr id="3" name="Content Placeholder 2"/>
          <p:cNvSpPr>
            <a:spLocks noGrp="1"/>
          </p:cNvSpPr>
          <p:nvPr>
            <p:ph idx="1"/>
          </p:nvPr>
        </p:nvSpPr>
        <p:spPr/>
        <p:txBody>
          <a:bodyPr/>
          <a:lstStyle/>
          <a:p>
            <a:r>
              <a:rPr lang="en-US" dirty="0"/>
              <a:t>The Consumer Affairs Department of the Insurance Regulatory and Development Authority (IRDA) has introduced the </a:t>
            </a:r>
            <a:r>
              <a:rPr lang="en-US" b="1" dirty="0">
                <a:solidFill>
                  <a:srgbClr val="C00000"/>
                </a:solidFill>
              </a:rPr>
              <a:t>Integrated Grievance Management System (IGMS)</a:t>
            </a:r>
            <a:r>
              <a:rPr lang="en-US" b="1" dirty="0">
                <a:solidFill>
                  <a:srgbClr val="D10233"/>
                </a:solidFill>
              </a:rPr>
              <a:t> </a:t>
            </a:r>
            <a:r>
              <a:rPr lang="en-US" dirty="0"/>
              <a:t>which is an online system for registration and tracking of grievances. </a:t>
            </a:r>
          </a:p>
          <a:p>
            <a:r>
              <a:rPr lang="en-US" dirty="0"/>
              <a:t>You must register your grievance </a:t>
            </a:r>
            <a:r>
              <a:rPr lang="en-US" b="1" dirty="0">
                <a:solidFill>
                  <a:srgbClr val="C00000"/>
                </a:solidFill>
              </a:rPr>
              <a:t>first with the insurance company</a:t>
            </a:r>
            <a:r>
              <a:rPr lang="en-US" b="1" dirty="0">
                <a:solidFill>
                  <a:srgbClr val="D10233"/>
                </a:solidFill>
              </a:rPr>
              <a:t> </a:t>
            </a:r>
            <a:r>
              <a:rPr lang="en-US" dirty="0"/>
              <a:t>and in case you are not satisfied with its disposal by the company, you may </a:t>
            </a:r>
            <a:r>
              <a:rPr lang="en-US" b="1" dirty="0">
                <a:solidFill>
                  <a:srgbClr val="C00000"/>
                </a:solidFill>
              </a:rPr>
              <a:t>escalate it to IRDA</a:t>
            </a:r>
            <a:r>
              <a:rPr lang="en-US" b="1" dirty="0">
                <a:solidFill>
                  <a:srgbClr val="D10233"/>
                </a:solidFill>
              </a:rPr>
              <a:t> </a:t>
            </a:r>
            <a:r>
              <a:rPr lang="en-US" dirty="0"/>
              <a:t>through IGMS by accessing </a:t>
            </a:r>
            <a:r>
              <a:rPr lang="en-US" dirty="0">
                <a:hlinkClick r:id="rId2"/>
              </a:rPr>
              <a:t>www.igms.irda.gov.in</a:t>
            </a:r>
            <a:r>
              <a:rPr lang="en-US" dirty="0"/>
              <a:t>.</a:t>
            </a:r>
          </a:p>
          <a:p>
            <a:pPr lvl="1"/>
            <a:r>
              <a:rPr lang="en-US" dirty="0"/>
              <a:t>Email - </a:t>
            </a:r>
            <a:r>
              <a:rPr lang="en-US" dirty="0">
                <a:hlinkClick r:id="rId3"/>
              </a:rPr>
              <a:t>complaints@irda.gov.in</a:t>
            </a:r>
            <a:endParaRPr lang="en-US" dirty="0"/>
          </a:p>
          <a:p>
            <a:pPr lvl="1"/>
            <a:r>
              <a:rPr lang="en-IN" dirty="0"/>
              <a:t>Toll Free 155255</a:t>
            </a:r>
          </a:p>
          <a:p>
            <a:r>
              <a:rPr lang="en-US" dirty="0"/>
              <a:t>When a complaint is registered with IRDA, </a:t>
            </a:r>
            <a:r>
              <a:rPr lang="en-US" b="1" dirty="0">
                <a:solidFill>
                  <a:srgbClr val="C00000"/>
                </a:solidFill>
              </a:rPr>
              <a:t>it facilitates resolution by taking it up with the insurance company.</a:t>
            </a:r>
          </a:p>
          <a:p>
            <a:r>
              <a:rPr lang="en-US" dirty="0"/>
              <a:t>The company is given </a:t>
            </a:r>
            <a:r>
              <a:rPr lang="en-US" b="1" dirty="0">
                <a:solidFill>
                  <a:srgbClr val="C00000"/>
                </a:solidFill>
              </a:rPr>
              <a:t>15 days time to resolve the complaint</a:t>
            </a:r>
            <a:r>
              <a:rPr lang="en-US" dirty="0">
                <a:solidFill>
                  <a:srgbClr val="C00000"/>
                </a:solidFill>
              </a:rPr>
              <a:t>.</a:t>
            </a:r>
            <a:r>
              <a:rPr lang="en-US" dirty="0"/>
              <a:t> If required, IRDA carries out investigations and enquiries.</a:t>
            </a:r>
            <a:endParaRPr lang="en-IN" dirty="0"/>
          </a:p>
        </p:txBody>
      </p:sp>
    </p:spTree>
    <p:extLst>
      <p:ext uri="{BB962C8B-B14F-4D97-AF65-F5344CB8AC3E}">
        <p14:creationId xmlns:p14="http://schemas.microsoft.com/office/powerpoint/2010/main" val="184888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Health Insurance</a:t>
            </a:r>
          </a:p>
        </p:txBody>
      </p:sp>
    </p:spTree>
    <p:extLst>
      <p:ext uri="{BB962C8B-B14F-4D97-AF65-F5344CB8AC3E}">
        <p14:creationId xmlns:p14="http://schemas.microsoft.com/office/powerpoint/2010/main" val="2557224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Introduction to Health Insurance</a:t>
            </a:r>
            <a:endParaRPr lang="en-IN" dirty="0"/>
          </a:p>
        </p:txBody>
      </p:sp>
      <p:sp>
        <p:nvSpPr>
          <p:cNvPr id="6" name="Content Placeholder 5"/>
          <p:cNvSpPr>
            <a:spLocks noGrp="1"/>
          </p:cNvSpPr>
          <p:nvPr>
            <p:ph idx="1"/>
          </p:nvPr>
        </p:nvSpPr>
        <p:spPr/>
        <p:txBody>
          <a:bodyPr/>
          <a:lstStyle/>
          <a:p>
            <a:r>
              <a:rPr lang="en-US" b="1" dirty="0"/>
              <a:t>Right to Good Health</a:t>
            </a:r>
            <a:r>
              <a:rPr lang="en-US" dirty="0"/>
              <a:t>: Enshrined in the Indian Constitution as a </a:t>
            </a:r>
            <a:r>
              <a:rPr lang="en-US" b="1" dirty="0">
                <a:solidFill>
                  <a:srgbClr val="C00000"/>
                </a:solidFill>
              </a:rPr>
              <a:t>fundamental righ</a:t>
            </a:r>
            <a:r>
              <a:rPr lang="en-US" dirty="0"/>
              <a:t>t and supported by the Directive Principles of State Policy.</a:t>
            </a:r>
          </a:p>
          <a:p>
            <a:r>
              <a:rPr lang="en-US" b="1" dirty="0"/>
              <a:t>Significance of Health</a:t>
            </a:r>
            <a:endParaRPr lang="en-US" dirty="0"/>
          </a:p>
          <a:p>
            <a:pPr lvl="1"/>
            <a:r>
              <a:rPr lang="en-US" b="1" dirty="0">
                <a:solidFill>
                  <a:srgbClr val="C00000"/>
                </a:solidFill>
              </a:rPr>
              <a:t>Good health drives economic growth and enhances productivity</a:t>
            </a:r>
            <a:r>
              <a:rPr lang="en-US" dirty="0"/>
              <a:t>.</a:t>
            </a:r>
          </a:p>
          <a:p>
            <a:pPr lvl="1"/>
            <a:r>
              <a:rPr lang="en-US" dirty="0"/>
              <a:t>Healthy citizens </a:t>
            </a:r>
            <a:r>
              <a:rPr lang="en-US" b="1" dirty="0">
                <a:solidFill>
                  <a:srgbClr val="C00000"/>
                </a:solidFill>
              </a:rPr>
              <a:t>reduce healthcare costs</a:t>
            </a:r>
            <a:r>
              <a:rPr lang="en-US" dirty="0"/>
              <a:t>, allowing resources to be allocated for developmental purposes.</a:t>
            </a:r>
          </a:p>
          <a:p>
            <a:r>
              <a:rPr lang="en-IN" b="1" dirty="0"/>
              <a:t>Historical Context</a:t>
            </a:r>
            <a:endParaRPr lang="en-IN" dirty="0"/>
          </a:p>
          <a:p>
            <a:pPr lvl="1"/>
            <a:r>
              <a:rPr lang="en-US" dirty="0"/>
              <a:t>Health insurance in India began with the </a:t>
            </a:r>
            <a:r>
              <a:rPr lang="en-US" b="1" dirty="0">
                <a:solidFill>
                  <a:srgbClr val="C00000"/>
                </a:solidFill>
              </a:rPr>
              <a:t>Employee’s State Insurance Scheme (ESIS) in 1948 </a:t>
            </a:r>
            <a:r>
              <a:rPr lang="en-US" dirty="0"/>
              <a:t>for organized sector workers. </a:t>
            </a:r>
          </a:p>
          <a:p>
            <a:pPr lvl="1"/>
            <a:r>
              <a:rPr lang="en-US" b="1" dirty="0">
                <a:solidFill>
                  <a:srgbClr val="C00000"/>
                </a:solidFill>
              </a:rPr>
              <a:t>Early healthcare systems like those in Babylon </a:t>
            </a:r>
            <a:r>
              <a:rPr lang="en-US" dirty="0"/>
              <a:t>focused on laws for healthcare services and payment regulation.</a:t>
            </a:r>
          </a:p>
          <a:p>
            <a:endParaRPr lang="en-US" dirty="0"/>
          </a:p>
          <a:p>
            <a:endParaRPr lang="en-IN" dirty="0"/>
          </a:p>
        </p:txBody>
      </p:sp>
    </p:spTree>
    <p:extLst>
      <p:ext uri="{BB962C8B-B14F-4D97-AF65-F5344CB8AC3E}">
        <p14:creationId xmlns:p14="http://schemas.microsoft.com/office/powerpoint/2010/main" val="167394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Health system in India</a:t>
            </a:r>
          </a:p>
        </p:txBody>
      </p:sp>
      <p:sp>
        <p:nvSpPr>
          <p:cNvPr id="3" name="Content Placeholder 2"/>
          <p:cNvSpPr>
            <a:spLocks noGrp="1"/>
          </p:cNvSpPr>
          <p:nvPr>
            <p:ph idx="1"/>
          </p:nvPr>
        </p:nvSpPr>
        <p:spPr/>
        <p:txBody>
          <a:bodyPr/>
          <a:lstStyle/>
          <a:p>
            <a:r>
              <a:rPr lang="en-US" dirty="0"/>
              <a:t>One of the largest globally, catering to </a:t>
            </a:r>
            <a:r>
              <a:rPr lang="en-US" b="1" dirty="0">
                <a:solidFill>
                  <a:srgbClr val="C00000"/>
                </a:solidFill>
              </a:rPr>
              <a:t>nearly 1.3 billion potential beneficiaries</a:t>
            </a:r>
            <a:r>
              <a:rPr lang="en-US" dirty="0"/>
              <a:t>.</a:t>
            </a:r>
          </a:p>
          <a:p>
            <a:r>
              <a:rPr lang="en-US" dirty="0"/>
              <a:t>India's healthcare delivery includes </a:t>
            </a:r>
            <a:r>
              <a:rPr lang="en-US" b="1" dirty="0">
                <a:solidFill>
                  <a:srgbClr val="C00000"/>
                </a:solidFill>
              </a:rPr>
              <a:t>hospitals, medical devices, clinical trials, telemedicine, medical tourism, and health insurance.</a:t>
            </a:r>
          </a:p>
          <a:p>
            <a:r>
              <a:rPr lang="en-US" dirty="0"/>
              <a:t>Health insurance </a:t>
            </a:r>
            <a:r>
              <a:rPr lang="en-US" b="1" dirty="0">
                <a:solidFill>
                  <a:srgbClr val="C00000"/>
                </a:solidFill>
              </a:rPr>
              <a:t>penetration in India is growing but remains low</a:t>
            </a:r>
            <a:r>
              <a:rPr lang="en-US" dirty="0"/>
              <a:t> compared to developed countries.</a:t>
            </a:r>
          </a:p>
          <a:p>
            <a:r>
              <a:rPr lang="en-US" b="1" dirty="0">
                <a:solidFill>
                  <a:srgbClr val="C00000"/>
                </a:solidFill>
              </a:rPr>
              <a:t>Government Initiatives</a:t>
            </a:r>
            <a:endParaRPr lang="en-US" dirty="0">
              <a:solidFill>
                <a:srgbClr val="C00000"/>
              </a:solidFill>
            </a:endParaRPr>
          </a:p>
          <a:p>
            <a:pPr lvl="1"/>
            <a:r>
              <a:rPr lang="en-US" dirty="0"/>
              <a:t>Launch of </a:t>
            </a:r>
            <a:r>
              <a:rPr lang="en-US" b="1" dirty="0" err="1">
                <a:solidFill>
                  <a:srgbClr val="C00000"/>
                </a:solidFill>
              </a:rPr>
              <a:t>Ayushman</a:t>
            </a:r>
            <a:r>
              <a:rPr lang="en-US" b="1" dirty="0">
                <a:solidFill>
                  <a:srgbClr val="C00000"/>
                </a:solidFill>
              </a:rPr>
              <a:t> Bharat</a:t>
            </a:r>
            <a:r>
              <a:rPr lang="en-US" dirty="0"/>
              <a:t>: The world's largest government-funded healthcare scheme.</a:t>
            </a:r>
          </a:p>
          <a:p>
            <a:pPr lvl="1"/>
            <a:r>
              <a:rPr lang="en-US" dirty="0"/>
              <a:t>Introduction of affordable health insurance schemes like </a:t>
            </a:r>
            <a:r>
              <a:rPr lang="en-US" b="1" dirty="0" err="1">
                <a:solidFill>
                  <a:srgbClr val="C00000"/>
                </a:solidFill>
              </a:rPr>
              <a:t>Aam</a:t>
            </a:r>
            <a:r>
              <a:rPr lang="en-US" b="1" dirty="0">
                <a:solidFill>
                  <a:srgbClr val="C00000"/>
                </a:solidFill>
              </a:rPr>
              <a:t> </a:t>
            </a:r>
            <a:r>
              <a:rPr lang="en-US" b="1" dirty="0" err="1">
                <a:solidFill>
                  <a:srgbClr val="C00000"/>
                </a:solidFill>
              </a:rPr>
              <a:t>Aadmi</a:t>
            </a:r>
            <a:r>
              <a:rPr lang="en-US" b="1" dirty="0">
                <a:solidFill>
                  <a:srgbClr val="C00000"/>
                </a:solidFill>
              </a:rPr>
              <a:t> </a:t>
            </a:r>
            <a:r>
              <a:rPr lang="en-US" b="1" dirty="0" err="1">
                <a:solidFill>
                  <a:srgbClr val="C00000"/>
                </a:solidFill>
              </a:rPr>
              <a:t>Bima</a:t>
            </a:r>
            <a:r>
              <a:rPr lang="en-US" b="1" dirty="0">
                <a:solidFill>
                  <a:srgbClr val="C00000"/>
                </a:solidFill>
              </a:rPr>
              <a:t> </a:t>
            </a:r>
            <a:r>
              <a:rPr lang="en-US" b="1" dirty="0" err="1">
                <a:solidFill>
                  <a:srgbClr val="C00000"/>
                </a:solidFill>
              </a:rPr>
              <a:t>Yojana</a:t>
            </a:r>
            <a:r>
              <a:rPr lang="en-US" dirty="0">
                <a:solidFill>
                  <a:srgbClr val="C00000"/>
                </a:solidFill>
              </a:rPr>
              <a:t> </a:t>
            </a:r>
            <a:r>
              <a:rPr lang="en-US" dirty="0"/>
              <a:t>and </a:t>
            </a:r>
            <a:r>
              <a:rPr lang="en-US" b="1" dirty="0">
                <a:solidFill>
                  <a:srgbClr val="C00000"/>
                </a:solidFill>
              </a:rPr>
              <a:t>PMJAY</a:t>
            </a:r>
            <a:r>
              <a:rPr lang="en-US" dirty="0"/>
              <a:t> to cover vulnerable populations.</a:t>
            </a:r>
          </a:p>
          <a:p>
            <a:r>
              <a:rPr lang="en-US" dirty="0"/>
              <a:t>India’s healthcare industry is </a:t>
            </a:r>
            <a:r>
              <a:rPr lang="en-US" b="1" dirty="0">
                <a:solidFill>
                  <a:srgbClr val="C00000"/>
                </a:solidFill>
              </a:rPr>
              <a:t>projected to grow to $300 billion within a decade</a:t>
            </a:r>
            <a:r>
              <a:rPr lang="en-US" dirty="0"/>
              <a:t>.</a:t>
            </a:r>
          </a:p>
          <a:p>
            <a:r>
              <a:rPr lang="en-US" b="1" dirty="0">
                <a:solidFill>
                  <a:srgbClr val="C00000"/>
                </a:solidFill>
              </a:rPr>
              <a:t>Medical tourism and telemedicine </a:t>
            </a:r>
            <a:r>
              <a:rPr lang="en-US" dirty="0"/>
              <a:t>are emerging as key growth areas.</a:t>
            </a:r>
          </a:p>
          <a:p>
            <a:endParaRPr lang="en-IN" dirty="0"/>
          </a:p>
        </p:txBody>
      </p:sp>
    </p:spTree>
    <p:extLst>
      <p:ext uri="{BB962C8B-B14F-4D97-AF65-F5344CB8AC3E}">
        <p14:creationId xmlns:p14="http://schemas.microsoft.com/office/powerpoint/2010/main" val="530956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Health Insurance Products</a:t>
            </a:r>
          </a:p>
        </p:txBody>
      </p:sp>
      <p:sp>
        <p:nvSpPr>
          <p:cNvPr id="6" name="Content Placeholder 5"/>
          <p:cNvSpPr>
            <a:spLocks noGrp="1"/>
          </p:cNvSpPr>
          <p:nvPr>
            <p:ph idx="1"/>
          </p:nvPr>
        </p:nvSpPr>
        <p:spPr/>
        <p:txBody>
          <a:bodyPr/>
          <a:lstStyle/>
          <a:p>
            <a:r>
              <a:rPr lang="en-US" b="1" dirty="0">
                <a:solidFill>
                  <a:srgbClr val="C00000"/>
                </a:solidFill>
              </a:rPr>
              <a:t>Hospitalization Plans: </a:t>
            </a:r>
            <a:r>
              <a:rPr lang="en-US" dirty="0"/>
              <a:t>Cover inpatient and related medical costs.</a:t>
            </a:r>
          </a:p>
          <a:p>
            <a:r>
              <a:rPr lang="en-US" b="1" dirty="0">
                <a:solidFill>
                  <a:srgbClr val="C00000"/>
                </a:solidFill>
              </a:rPr>
              <a:t>Family Floater Insurance: </a:t>
            </a:r>
            <a:r>
              <a:rPr lang="en-US" dirty="0"/>
              <a:t>Single policy for all family members.</a:t>
            </a:r>
          </a:p>
          <a:p>
            <a:r>
              <a:rPr lang="en-US" b="1" dirty="0">
                <a:solidFill>
                  <a:srgbClr val="C00000"/>
                </a:solidFill>
              </a:rPr>
              <a:t>Pre-existing Disease Cover Plans: </a:t>
            </a:r>
            <a:r>
              <a:rPr lang="en-US" dirty="0"/>
              <a:t>Coverage after a waiting period (2-4 years).</a:t>
            </a:r>
          </a:p>
          <a:p>
            <a:r>
              <a:rPr lang="en-US" b="1" dirty="0">
                <a:solidFill>
                  <a:srgbClr val="C00000"/>
                </a:solidFill>
              </a:rPr>
              <a:t>Senior Citizen Health Insurance: </a:t>
            </a:r>
            <a:r>
              <a:rPr lang="en-US" dirty="0"/>
              <a:t>Specialized for individuals aged 65+.</a:t>
            </a:r>
          </a:p>
          <a:p>
            <a:r>
              <a:rPr lang="en-US" b="1" dirty="0">
                <a:solidFill>
                  <a:srgbClr val="C00000"/>
                </a:solidFill>
              </a:rPr>
              <a:t>Maternity Insurance: </a:t>
            </a:r>
            <a:r>
              <a:rPr lang="en-US" dirty="0"/>
              <a:t>Covers prenatal, delivery, and postnatal care.</a:t>
            </a:r>
          </a:p>
          <a:p>
            <a:r>
              <a:rPr lang="en-US" b="1" dirty="0">
                <a:solidFill>
                  <a:srgbClr val="C00000"/>
                </a:solidFill>
              </a:rPr>
              <a:t>Critical Illness Plans: </a:t>
            </a:r>
            <a:r>
              <a:rPr lang="en-US" dirty="0"/>
              <a:t>Lump-sum benefits for conditions like cancer and heart disease.</a:t>
            </a:r>
          </a:p>
          <a:p>
            <a:r>
              <a:rPr lang="en-US" b="1" dirty="0">
                <a:solidFill>
                  <a:srgbClr val="C00000"/>
                </a:solidFill>
              </a:rPr>
              <a:t>Hospital Daily Cash Benefit Plans: </a:t>
            </a:r>
            <a:r>
              <a:rPr lang="en-US" dirty="0"/>
              <a:t>Fixed daily payout during hospitalization.</a:t>
            </a:r>
          </a:p>
          <a:p>
            <a:r>
              <a:rPr lang="en-US" b="1" dirty="0">
                <a:solidFill>
                  <a:srgbClr val="C00000"/>
                </a:solidFill>
              </a:rPr>
              <a:t>Disease-Specific Plans: </a:t>
            </a:r>
            <a:r>
              <a:rPr lang="en-US" dirty="0"/>
              <a:t>Tailored for specific conditions like dengue.</a:t>
            </a:r>
            <a:endParaRPr lang="en-IN" dirty="0"/>
          </a:p>
        </p:txBody>
      </p:sp>
    </p:spTree>
    <p:extLst>
      <p:ext uri="{BB962C8B-B14F-4D97-AF65-F5344CB8AC3E}">
        <p14:creationId xmlns:p14="http://schemas.microsoft.com/office/powerpoint/2010/main" val="327300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Insurance Policy Forms and Clauses</a:t>
            </a:r>
            <a:endParaRPr lang="en-IN" dirty="0"/>
          </a:p>
        </p:txBody>
      </p:sp>
      <p:sp>
        <p:nvSpPr>
          <p:cNvPr id="3" name="Content Placeholder 2"/>
          <p:cNvSpPr>
            <a:spLocks noGrp="1"/>
          </p:cNvSpPr>
          <p:nvPr>
            <p:ph idx="1"/>
          </p:nvPr>
        </p:nvSpPr>
        <p:spPr/>
        <p:txBody>
          <a:bodyPr/>
          <a:lstStyle/>
          <a:p>
            <a:r>
              <a:rPr lang="en-US" b="1" dirty="0"/>
              <a:t>Components of Policy</a:t>
            </a:r>
            <a:endParaRPr lang="en-US" dirty="0"/>
          </a:p>
          <a:p>
            <a:pPr lvl="1"/>
            <a:r>
              <a:rPr lang="en-US" b="1" dirty="0"/>
              <a:t>Coverage</a:t>
            </a:r>
            <a:r>
              <a:rPr lang="en-US" dirty="0"/>
              <a:t>: Includes </a:t>
            </a:r>
            <a:r>
              <a:rPr lang="en-US" b="1" dirty="0">
                <a:solidFill>
                  <a:srgbClr val="C00000"/>
                </a:solidFill>
              </a:rPr>
              <a:t>inpatient care, pre/post-hospitalization, day-care procedures, domiciliary care, organ donor expenses, and ambulance services.</a:t>
            </a:r>
          </a:p>
          <a:p>
            <a:pPr lvl="1"/>
            <a:r>
              <a:rPr lang="en-US" b="1" dirty="0"/>
              <a:t>Exclusions</a:t>
            </a:r>
            <a:r>
              <a:rPr lang="en-US" dirty="0"/>
              <a:t>: </a:t>
            </a:r>
            <a:r>
              <a:rPr lang="en-US" b="1" dirty="0">
                <a:solidFill>
                  <a:srgbClr val="C00000"/>
                </a:solidFill>
              </a:rPr>
              <a:t>War, suicide, obesity treatments, non-allopathic treatments, and more</a:t>
            </a:r>
            <a:r>
              <a:rPr lang="en-US" dirty="0"/>
              <a:t>.</a:t>
            </a:r>
          </a:p>
          <a:p>
            <a:pPr lvl="1"/>
            <a:r>
              <a:rPr lang="en-US" b="1" dirty="0"/>
              <a:t>Waiting Period</a:t>
            </a:r>
            <a:endParaRPr lang="en-US" dirty="0"/>
          </a:p>
          <a:p>
            <a:pPr lvl="2"/>
            <a:r>
              <a:rPr lang="en-US" dirty="0"/>
              <a:t>30 days for all illnesses (first year).</a:t>
            </a:r>
          </a:p>
          <a:p>
            <a:pPr lvl="2"/>
            <a:r>
              <a:rPr lang="en-US" dirty="0"/>
              <a:t>2 years for specific illnesses.</a:t>
            </a:r>
          </a:p>
          <a:p>
            <a:pPr lvl="2"/>
            <a:r>
              <a:rPr lang="en-US" dirty="0"/>
              <a:t>3 years for pre-existing diseases.</a:t>
            </a:r>
          </a:p>
          <a:p>
            <a:pPr lvl="1"/>
            <a:r>
              <a:rPr lang="en-US" b="1" dirty="0"/>
              <a:t>Renewal Conditions</a:t>
            </a:r>
            <a:r>
              <a:rPr lang="en-US" dirty="0"/>
              <a:t>: Lifelong renewals with a </a:t>
            </a:r>
            <a:r>
              <a:rPr lang="en-US" b="1" dirty="0">
                <a:solidFill>
                  <a:srgbClr val="C00000"/>
                </a:solidFill>
              </a:rPr>
              <a:t>30-day grace period</a:t>
            </a:r>
            <a:r>
              <a:rPr lang="en-US" dirty="0"/>
              <a:t>.</a:t>
            </a:r>
          </a:p>
          <a:p>
            <a:r>
              <a:rPr lang="en-US" b="1" dirty="0"/>
              <a:t>Claim Process: </a:t>
            </a:r>
            <a:r>
              <a:rPr lang="en-US" b="1" dirty="0">
                <a:solidFill>
                  <a:srgbClr val="C00000"/>
                </a:solidFill>
              </a:rPr>
              <a:t>Notify insurer within 7 days for planned events or 24 hours in emergencies </a:t>
            </a:r>
            <a:r>
              <a:rPr lang="en-US" dirty="0"/>
              <a:t>and it may change from company to company</a:t>
            </a:r>
          </a:p>
          <a:p>
            <a:r>
              <a:rPr lang="en-US" b="1" dirty="0"/>
              <a:t>Cancellation: </a:t>
            </a:r>
            <a:r>
              <a:rPr lang="en-US" dirty="0"/>
              <a:t>Policies </a:t>
            </a:r>
            <a:r>
              <a:rPr lang="en-US" b="1" dirty="0">
                <a:solidFill>
                  <a:srgbClr val="C00000"/>
                </a:solidFill>
              </a:rPr>
              <a:t>can be canceled for fraud, misrepresentation, or non-disclosure of facts.</a:t>
            </a:r>
          </a:p>
          <a:p>
            <a:endParaRPr lang="en-IN" dirty="0"/>
          </a:p>
        </p:txBody>
      </p:sp>
    </p:spTree>
    <p:extLst>
      <p:ext uri="{BB962C8B-B14F-4D97-AF65-F5344CB8AC3E}">
        <p14:creationId xmlns:p14="http://schemas.microsoft.com/office/powerpoint/2010/main" val="1383378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Reinsurance</a:t>
            </a:r>
          </a:p>
        </p:txBody>
      </p:sp>
    </p:spTree>
    <p:extLst>
      <p:ext uri="{BB962C8B-B14F-4D97-AF65-F5344CB8AC3E}">
        <p14:creationId xmlns:p14="http://schemas.microsoft.com/office/powerpoint/2010/main" val="6940858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Insurance Policy Forms and Clauses</a:t>
            </a:r>
            <a:endParaRPr lang="en-IN" dirty="0"/>
          </a:p>
        </p:txBody>
      </p:sp>
      <p:sp>
        <p:nvSpPr>
          <p:cNvPr id="3" name="Content Placeholder 2"/>
          <p:cNvSpPr>
            <a:spLocks noGrp="1"/>
          </p:cNvSpPr>
          <p:nvPr>
            <p:ph idx="1"/>
          </p:nvPr>
        </p:nvSpPr>
        <p:spPr/>
        <p:txBody>
          <a:bodyPr/>
          <a:lstStyle/>
          <a:p>
            <a:r>
              <a:rPr lang="en-US" dirty="0"/>
              <a:t>Reinsurance is essentially "</a:t>
            </a:r>
            <a:r>
              <a:rPr lang="en-US" b="1" dirty="0">
                <a:solidFill>
                  <a:srgbClr val="C00000"/>
                </a:solidFill>
              </a:rPr>
              <a:t>insurance for insurance companies</a:t>
            </a:r>
            <a:r>
              <a:rPr lang="en-US" dirty="0"/>
              <a:t>". </a:t>
            </a:r>
          </a:p>
          <a:p>
            <a:r>
              <a:rPr lang="en-US" b="1" dirty="0"/>
              <a:t>Definition:</a:t>
            </a:r>
            <a:r>
              <a:rPr lang="en-US" dirty="0"/>
              <a:t> Reinsurance is a contractual agreement where one insurer </a:t>
            </a:r>
            <a:r>
              <a:rPr lang="en-US" b="1" dirty="0">
                <a:solidFill>
                  <a:srgbClr val="C00000"/>
                </a:solidFill>
              </a:rPr>
              <a:t>transfers a portion of its risks </a:t>
            </a:r>
            <a:r>
              <a:rPr lang="en-US" dirty="0"/>
              <a:t>to another insurer.</a:t>
            </a:r>
          </a:p>
          <a:p>
            <a:r>
              <a:rPr lang="en-US" dirty="0"/>
              <a:t>This allows the original insurer to </a:t>
            </a:r>
            <a:r>
              <a:rPr lang="en-US" b="1" dirty="0">
                <a:solidFill>
                  <a:srgbClr val="C00000"/>
                </a:solidFill>
              </a:rPr>
              <a:t>manage large or unexpected claims </a:t>
            </a:r>
            <a:r>
              <a:rPr lang="en-US" dirty="0"/>
              <a:t>and free up capital for other business ventures. </a:t>
            </a:r>
          </a:p>
          <a:p>
            <a:r>
              <a:rPr lang="en-US" dirty="0"/>
              <a:t> </a:t>
            </a:r>
            <a:r>
              <a:rPr lang="en-IN" b="1" dirty="0"/>
              <a:t>Key Players</a:t>
            </a:r>
          </a:p>
          <a:p>
            <a:pPr lvl="1"/>
            <a:r>
              <a:rPr lang="en-US" b="1" dirty="0">
                <a:solidFill>
                  <a:srgbClr val="C00000"/>
                </a:solidFill>
              </a:rPr>
              <a:t>Primary Insurer (Ceding Company/</a:t>
            </a:r>
            <a:r>
              <a:rPr lang="en-US" b="1" dirty="0" err="1">
                <a:solidFill>
                  <a:srgbClr val="C00000"/>
                </a:solidFill>
              </a:rPr>
              <a:t>Cedent</a:t>
            </a:r>
            <a:r>
              <a:rPr lang="en-US" b="1" dirty="0">
                <a:solidFill>
                  <a:srgbClr val="C00000"/>
                </a:solidFill>
              </a:rPr>
              <a:t>): </a:t>
            </a:r>
            <a:r>
              <a:rPr lang="en-US" dirty="0"/>
              <a:t>The original insurer that issues policies directly to policyholders and then transfers some of that risk. </a:t>
            </a:r>
          </a:p>
          <a:p>
            <a:pPr lvl="1"/>
            <a:r>
              <a:rPr lang="en-US" b="1" dirty="0">
                <a:solidFill>
                  <a:srgbClr val="C00000"/>
                </a:solidFill>
              </a:rPr>
              <a:t>Reinsurer: </a:t>
            </a:r>
            <a:r>
              <a:rPr lang="en-US" dirty="0"/>
              <a:t>The company that accepts the transferred risk from the primary insurer. </a:t>
            </a:r>
          </a:p>
          <a:p>
            <a:pPr lvl="1"/>
            <a:r>
              <a:rPr lang="en-US" b="1" dirty="0">
                <a:solidFill>
                  <a:srgbClr val="C00000"/>
                </a:solidFill>
              </a:rPr>
              <a:t>Policyholder: </a:t>
            </a:r>
            <a:r>
              <a:rPr lang="en-US" dirty="0"/>
              <a:t>You and me, the end customers. We only deal with the primary insurer. Reinsurance is a "behind-the-scenes" arrangement.</a:t>
            </a:r>
            <a:endParaRPr lang="en-IN" dirty="0"/>
          </a:p>
        </p:txBody>
      </p:sp>
    </p:spTree>
    <p:extLst>
      <p:ext uri="{BB962C8B-B14F-4D97-AF65-F5344CB8AC3E}">
        <p14:creationId xmlns:p14="http://schemas.microsoft.com/office/powerpoint/2010/main" val="305897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Why is Reinsurance Important?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43526407"/>
              </p:ext>
            </p:extLst>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859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49C4ABD9-731F-4732-923E-833DDF11D657}"/>
                                            </p:graphicEl>
                                          </p:spTgt>
                                        </p:tgtEl>
                                        <p:attrNameLst>
                                          <p:attrName>style.visibility</p:attrName>
                                        </p:attrNameLst>
                                      </p:cBhvr>
                                      <p:to>
                                        <p:strVal val="visible"/>
                                      </p:to>
                                    </p:set>
                                    <p:animEffect transition="in" filter="fade">
                                      <p:cBhvr>
                                        <p:cTn id="7" dur="500"/>
                                        <p:tgtEl>
                                          <p:spTgt spid="4">
                                            <p:graphicEl>
                                              <a:dgm id="{49C4ABD9-731F-4732-923E-833DDF11D657}"/>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graphicEl>
                                              <a:dgm id="{794A13F6-DC8D-430F-B34B-D4DD97BBE358}"/>
                                            </p:graphicEl>
                                          </p:spTgt>
                                        </p:tgtEl>
                                        <p:attrNameLst>
                                          <p:attrName>style.visibility</p:attrName>
                                        </p:attrNameLst>
                                      </p:cBhvr>
                                      <p:to>
                                        <p:strVal val="visible"/>
                                      </p:to>
                                    </p:set>
                                    <p:animEffect transition="in" filter="fade">
                                      <p:cBhvr>
                                        <p:cTn id="10" dur="500"/>
                                        <p:tgtEl>
                                          <p:spTgt spid="4">
                                            <p:graphicEl>
                                              <a:dgm id="{794A13F6-DC8D-430F-B34B-D4DD97BBE358}"/>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graphicEl>
                                              <a:dgm id="{B4FFFF3A-FE96-436E-9D27-B16B7E77D387}"/>
                                            </p:graphicEl>
                                          </p:spTgt>
                                        </p:tgtEl>
                                        <p:attrNameLst>
                                          <p:attrName>style.visibility</p:attrName>
                                        </p:attrNameLst>
                                      </p:cBhvr>
                                      <p:to>
                                        <p:strVal val="visible"/>
                                      </p:to>
                                    </p:set>
                                    <p:animEffect transition="in" filter="fade">
                                      <p:cBhvr>
                                        <p:cTn id="15" dur="500"/>
                                        <p:tgtEl>
                                          <p:spTgt spid="4">
                                            <p:graphicEl>
                                              <a:dgm id="{B4FFFF3A-FE96-436E-9D27-B16B7E77D387}"/>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63BB25D4-FE38-4931-BA2D-65DDB404DD61}"/>
                                            </p:graphicEl>
                                          </p:spTgt>
                                        </p:tgtEl>
                                        <p:attrNameLst>
                                          <p:attrName>style.visibility</p:attrName>
                                        </p:attrNameLst>
                                      </p:cBhvr>
                                      <p:to>
                                        <p:strVal val="visible"/>
                                      </p:to>
                                    </p:set>
                                    <p:animEffect transition="in" filter="fade">
                                      <p:cBhvr>
                                        <p:cTn id="20" dur="500"/>
                                        <p:tgtEl>
                                          <p:spTgt spid="4">
                                            <p:graphicEl>
                                              <a:dgm id="{63BB25D4-FE38-4931-BA2D-65DDB404DD61}"/>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76820D21-7120-4099-A7C1-AE2DC04E20BA}"/>
                                            </p:graphicEl>
                                          </p:spTgt>
                                        </p:tgtEl>
                                        <p:attrNameLst>
                                          <p:attrName>style.visibility</p:attrName>
                                        </p:attrNameLst>
                                      </p:cBhvr>
                                      <p:to>
                                        <p:strVal val="visible"/>
                                      </p:to>
                                    </p:set>
                                    <p:animEffect transition="in" filter="fade">
                                      <p:cBhvr>
                                        <p:cTn id="23" dur="500"/>
                                        <p:tgtEl>
                                          <p:spTgt spid="4">
                                            <p:graphicEl>
                                              <a:dgm id="{76820D21-7120-4099-A7C1-AE2DC04E20BA}"/>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4A07DE2F-1E8B-40A3-A5DC-08F66ED92761}"/>
                                            </p:graphicEl>
                                          </p:spTgt>
                                        </p:tgtEl>
                                        <p:attrNameLst>
                                          <p:attrName>style.visibility</p:attrName>
                                        </p:attrNameLst>
                                      </p:cBhvr>
                                      <p:to>
                                        <p:strVal val="visible"/>
                                      </p:to>
                                    </p:set>
                                    <p:animEffect transition="in" filter="fade">
                                      <p:cBhvr>
                                        <p:cTn id="28" dur="500"/>
                                        <p:tgtEl>
                                          <p:spTgt spid="4">
                                            <p:graphicEl>
                                              <a:dgm id="{4A07DE2F-1E8B-40A3-A5DC-08F66ED92761}"/>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graphicEl>
                                              <a:dgm id="{ECD90FEE-2F14-4188-A368-2FFAD8C43876}"/>
                                            </p:graphicEl>
                                          </p:spTgt>
                                        </p:tgtEl>
                                        <p:attrNameLst>
                                          <p:attrName>style.visibility</p:attrName>
                                        </p:attrNameLst>
                                      </p:cBhvr>
                                      <p:to>
                                        <p:strVal val="visible"/>
                                      </p:to>
                                    </p:set>
                                    <p:animEffect transition="in" filter="fade">
                                      <p:cBhvr>
                                        <p:cTn id="33" dur="500"/>
                                        <p:tgtEl>
                                          <p:spTgt spid="4">
                                            <p:graphicEl>
                                              <a:dgm id="{ECD90FEE-2F14-4188-A368-2FFAD8C43876}"/>
                                            </p:graphic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
                                            <p:graphicEl>
                                              <a:dgm id="{436EE0AB-79FB-44F3-97BC-7B3096A8430A}"/>
                                            </p:graphicEl>
                                          </p:spTgt>
                                        </p:tgtEl>
                                        <p:attrNameLst>
                                          <p:attrName>style.visibility</p:attrName>
                                        </p:attrNameLst>
                                      </p:cBhvr>
                                      <p:to>
                                        <p:strVal val="visible"/>
                                      </p:to>
                                    </p:set>
                                    <p:animEffect transition="in" filter="fade">
                                      <p:cBhvr>
                                        <p:cTn id="36" dur="500"/>
                                        <p:tgtEl>
                                          <p:spTgt spid="4">
                                            <p:graphicEl>
                                              <a:dgm id="{436EE0AB-79FB-44F3-97BC-7B3096A8430A}"/>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
                                            <p:graphicEl>
                                              <a:dgm id="{2B6746D3-1983-4227-A9A5-ADC64160A499}"/>
                                            </p:graphicEl>
                                          </p:spTgt>
                                        </p:tgtEl>
                                        <p:attrNameLst>
                                          <p:attrName>style.visibility</p:attrName>
                                        </p:attrNameLst>
                                      </p:cBhvr>
                                      <p:to>
                                        <p:strVal val="visible"/>
                                      </p:to>
                                    </p:set>
                                    <p:animEffect transition="in" filter="fade">
                                      <p:cBhvr>
                                        <p:cTn id="41" dur="500"/>
                                        <p:tgtEl>
                                          <p:spTgt spid="4">
                                            <p:graphicEl>
                                              <a:dgm id="{2B6746D3-1983-4227-A9A5-ADC64160A499}"/>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
                                            <p:graphicEl>
                                              <a:dgm id="{2ADA1359-EBB4-42EF-8574-D2C9B35417BD}"/>
                                            </p:graphicEl>
                                          </p:spTgt>
                                        </p:tgtEl>
                                        <p:attrNameLst>
                                          <p:attrName>style.visibility</p:attrName>
                                        </p:attrNameLst>
                                      </p:cBhvr>
                                      <p:to>
                                        <p:strVal val="visible"/>
                                      </p:to>
                                    </p:set>
                                    <p:animEffect transition="in" filter="fade">
                                      <p:cBhvr>
                                        <p:cTn id="46" dur="500"/>
                                        <p:tgtEl>
                                          <p:spTgt spid="4">
                                            <p:graphicEl>
                                              <a:dgm id="{2ADA1359-EBB4-42EF-8574-D2C9B35417BD}"/>
                                            </p:graphic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
                                            <p:graphicEl>
                                              <a:dgm id="{0D0A17A0-385B-4B36-828E-E182DDD34CE0}"/>
                                            </p:graphicEl>
                                          </p:spTgt>
                                        </p:tgtEl>
                                        <p:attrNameLst>
                                          <p:attrName>style.visibility</p:attrName>
                                        </p:attrNameLst>
                                      </p:cBhvr>
                                      <p:to>
                                        <p:strVal val="visible"/>
                                      </p:to>
                                    </p:set>
                                    <p:animEffect transition="in" filter="fade">
                                      <p:cBhvr>
                                        <p:cTn id="49" dur="500"/>
                                        <p:tgtEl>
                                          <p:spTgt spid="4">
                                            <p:graphicEl>
                                              <a:dgm id="{0D0A17A0-385B-4B36-828E-E182DDD34CE0}"/>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
                                            <p:graphicEl>
                                              <a:dgm id="{04881946-780D-42EC-8016-AF16FE36914F}"/>
                                            </p:graphicEl>
                                          </p:spTgt>
                                        </p:tgtEl>
                                        <p:attrNameLst>
                                          <p:attrName>style.visibility</p:attrName>
                                        </p:attrNameLst>
                                      </p:cBhvr>
                                      <p:to>
                                        <p:strVal val="visible"/>
                                      </p:to>
                                    </p:set>
                                    <p:animEffect transition="in" filter="fade">
                                      <p:cBhvr>
                                        <p:cTn id="54" dur="500"/>
                                        <p:tgtEl>
                                          <p:spTgt spid="4">
                                            <p:graphicEl>
                                              <a:dgm id="{04881946-780D-42EC-8016-AF16FE36914F}"/>
                                            </p:graphic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
                                            <p:graphicEl>
                                              <a:dgm id="{D9F5CEA8-E8AE-4A26-B00E-0B717459DE67}"/>
                                            </p:graphicEl>
                                          </p:spTgt>
                                        </p:tgtEl>
                                        <p:attrNameLst>
                                          <p:attrName>style.visibility</p:attrName>
                                        </p:attrNameLst>
                                      </p:cBhvr>
                                      <p:to>
                                        <p:strVal val="visible"/>
                                      </p:to>
                                    </p:set>
                                    <p:animEffect transition="in" filter="fade">
                                      <p:cBhvr>
                                        <p:cTn id="59" dur="500"/>
                                        <p:tgtEl>
                                          <p:spTgt spid="4">
                                            <p:graphicEl>
                                              <a:dgm id="{D9F5CEA8-E8AE-4A26-B00E-0B717459DE67}"/>
                                            </p:graphic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
                                            <p:graphicEl>
                                              <a:dgm id="{F958C341-8876-4E8C-834D-02528A1F1514}"/>
                                            </p:graphicEl>
                                          </p:spTgt>
                                        </p:tgtEl>
                                        <p:attrNameLst>
                                          <p:attrName>style.visibility</p:attrName>
                                        </p:attrNameLst>
                                      </p:cBhvr>
                                      <p:to>
                                        <p:strVal val="visible"/>
                                      </p:to>
                                    </p:set>
                                    <p:animEffect transition="in" filter="fade">
                                      <p:cBhvr>
                                        <p:cTn id="62" dur="500"/>
                                        <p:tgtEl>
                                          <p:spTgt spid="4">
                                            <p:graphicEl>
                                              <a:dgm id="{F958C341-8876-4E8C-834D-02528A1F1514}"/>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graphicEl>
                                              <a:dgm id="{5B3636ED-6AD2-41CB-98A2-45BDE8A831A3}"/>
                                            </p:graphicEl>
                                          </p:spTgt>
                                        </p:tgtEl>
                                        <p:attrNameLst>
                                          <p:attrName>style.visibility</p:attrName>
                                        </p:attrNameLst>
                                      </p:cBhvr>
                                      <p:to>
                                        <p:strVal val="visible"/>
                                      </p:to>
                                    </p:set>
                                    <p:animEffect transition="in" filter="fade">
                                      <p:cBhvr>
                                        <p:cTn id="67" dur="500"/>
                                        <p:tgtEl>
                                          <p:spTgt spid="4">
                                            <p:graphicEl>
                                              <a:dgm id="{5B3636ED-6AD2-41CB-98A2-45BDE8A831A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Reinsurance</a:t>
            </a:r>
          </a:p>
        </p:txBody>
      </p:sp>
      <p:sp>
        <p:nvSpPr>
          <p:cNvPr id="3" name="Content Placeholder 2"/>
          <p:cNvSpPr>
            <a:spLocks noGrp="1"/>
          </p:cNvSpPr>
          <p:nvPr>
            <p:ph idx="1"/>
          </p:nvPr>
        </p:nvSpPr>
        <p:spPr/>
        <p:txBody>
          <a:bodyPr/>
          <a:lstStyle/>
          <a:p>
            <a:pPr fontAlgn="ctr"/>
            <a:r>
              <a:rPr lang="en-US" dirty="0"/>
              <a:t>There are several ways primary insurers transfer risk to reinsurers. Here are the main categories</a:t>
            </a:r>
          </a:p>
          <a:p>
            <a:pPr fontAlgn="ctr"/>
            <a:r>
              <a:rPr lang="en-US" b="1" dirty="0"/>
              <a:t>Facultative Reinsurance</a:t>
            </a:r>
          </a:p>
          <a:p>
            <a:pPr lvl="1" fontAlgn="ctr"/>
            <a:r>
              <a:rPr lang="en-US" b="1" dirty="0">
                <a:solidFill>
                  <a:srgbClr val="C00000"/>
                </a:solidFill>
              </a:rPr>
              <a:t>"One-off" basis. </a:t>
            </a:r>
            <a:r>
              <a:rPr lang="en-US" dirty="0"/>
              <a:t>The primary insurer and reinsurer negotiate a separate agreement for </a:t>
            </a:r>
            <a:r>
              <a:rPr lang="en-US" b="1" dirty="0">
                <a:solidFill>
                  <a:srgbClr val="C00000"/>
                </a:solidFill>
              </a:rPr>
              <a:t>each individual risk </a:t>
            </a:r>
            <a:r>
              <a:rPr lang="en-US" dirty="0"/>
              <a:t>they want to reinsure. </a:t>
            </a:r>
          </a:p>
          <a:p>
            <a:pPr lvl="1" fontAlgn="ctr"/>
            <a:r>
              <a:rPr lang="en-US" dirty="0"/>
              <a:t>No Obligation: The primary insurer </a:t>
            </a:r>
            <a:r>
              <a:rPr lang="en-US" b="1" dirty="0">
                <a:solidFill>
                  <a:srgbClr val="C00000"/>
                </a:solidFill>
              </a:rPr>
              <a:t>isn't obliged to offer</a:t>
            </a:r>
            <a:r>
              <a:rPr lang="en-US" dirty="0"/>
              <a:t>, and the reinsurer </a:t>
            </a:r>
            <a:r>
              <a:rPr lang="en-US" b="1" dirty="0">
                <a:solidFill>
                  <a:srgbClr val="C00000"/>
                </a:solidFill>
              </a:rPr>
              <a:t>isn't obliged to accept.</a:t>
            </a:r>
          </a:p>
          <a:p>
            <a:pPr fontAlgn="ctr"/>
            <a:r>
              <a:rPr lang="en-US" b="1" dirty="0"/>
              <a:t>Treaty Reinsurance</a:t>
            </a:r>
          </a:p>
          <a:p>
            <a:pPr lvl="1" fontAlgn="ctr"/>
            <a:r>
              <a:rPr lang="en-US" b="1" dirty="0">
                <a:solidFill>
                  <a:srgbClr val="C00000"/>
                </a:solidFill>
              </a:rPr>
              <a:t>Automatic and Portfolio-based. </a:t>
            </a:r>
            <a:r>
              <a:rPr lang="en-US" dirty="0"/>
              <a:t>The primary insurer agrees in advance to reinsure </a:t>
            </a:r>
            <a:r>
              <a:rPr lang="en-US" b="1" dirty="0">
                <a:solidFill>
                  <a:srgbClr val="C00000"/>
                </a:solidFill>
              </a:rPr>
              <a:t>certain types or lines of business</a:t>
            </a:r>
            <a:r>
              <a:rPr lang="en-US" dirty="0"/>
              <a:t>, and the reinsurer agrees to </a:t>
            </a:r>
            <a:r>
              <a:rPr lang="en-US" b="1" dirty="0">
                <a:solidFill>
                  <a:srgbClr val="C00000"/>
                </a:solidFill>
              </a:rPr>
              <a:t>accept all risks </a:t>
            </a:r>
            <a:r>
              <a:rPr lang="en-US" dirty="0"/>
              <a:t>that fall within the terms of that agreement. </a:t>
            </a:r>
          </a:p>
          <a:p>
            <a:pPr lvl="1" fontAlgn="ctr"/>
            <a:r>
              <a:rPr lang="en-US" b="1" dirty="0">
                <a:solidFill>
                  <a:srgbClr val="C00000"/>
                </a:solidFill>
              </a:rPr>
              <a:t>No Individual Negotiation</a:t>
            </a:r>
            <a:r>
              <a:rPr lang="en-US" dirty="0"/>
              <a:t>: Once the treaty is set up, individual policies falling under it are automatically reinsured without separate negotiation.</a:t>
            </a:r>
          </a:p>
        </p:txBody>
      </p:sp>
    </p:spTree>
    <p:extLst>
      <p:ext uri="{BB962C8B-B14F-4D97-AF65-F5344CB8AC3E}">
        <p14:creationId xmlns:p14="http://schemas.microsoft.com/office/powerpoint/2010/main" val="248514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Reinsurance</a:t>
            </a:r>
          </a:p>
        </p:txBody>
      </p:sp>
      <p:sp>
        <p:nvSpPr>
          <p:cNvPr id="3" name="Content Placeholder 2"/>
          <p:cNvSpPr>
            <a:spLocks noGrp="1"/>
          </p:cNvSpPr>
          <p:nvPr>
            <p:ph idx="1"/>
          </p:nvPr>
        </p:nvSpPr>
        <p:spPr/>
        <p:txBody>
          <a:bodyPr/>
          <a:lstStyle/>
          <a:p>
            <a:pPr fontAlgn="ctr"/>
            <a:r>
              <a:rPr lang="en-US" dirty="0"/>
              <a:t>Under facultative and treaty, there can be subtypes as well.</a:t>
            </a:r>
          </a:p>
          <a:p>
            <a:pPr fontAlgn="ctr"/>
            <a:r>
              <a:rPr lang="en-US" b="1" dirty="0"/>
              <a:t>Pro-rata (Proportional) Treaties</a:t>
            </a:r>
          </a:p>
          <a:p>
            <a:pPr lvl="1" fontAlgn="ctr"/>
            <a:r>
              <a:rPr lang="en-US" dirty="0"/>
              <a:t>Amount of insurance, premiums, and losses are </a:t>
            </a:r>
            <a:r>
              <a:rPr lang="en-US" b="1" dirty="0">
                <a:solidFill>
                  <a:srgbClr val="C00000"/>
                </a:solidFill>
              </a:rPr>
              <a:t>shared in agreed proportions</a:t>
            </a:r>
            <a:r>
              <a:rPr lang="en-US" dirty="0"/>
              <a:t>.</a:t>
            </a:r>
          </a:p>
          <a:p>
            <a:pPr lvl="2" fontAlgn="ctr"/>
            <a:r>
              <a:rPr lang="en-US" dirty="0"/>
              <a:t>Quota Share: Retention stated as a fixed </a:t>
            </a:r>
            <a:r>
              <a:rPr lang="en-US" b="1" dirty="0">
                <a:solidFill>
                  <a:srgbClr val="C00000"/>
                </a:solidFill>
              </a:rPr>
              <a:t>percentage. </a:t>
            </a:r>
          </a:p>
          <a:p>
            <a:pPr lvl="2" fontAlgn="ctr"/>
            <a:r>
              <a:rPr lang="en-US" dirty="0"/>
              <a:t>Surplus Share: Retention stated as a </a:t>
            </a:r>
            <a:r>
              <a:rPr lang="en-US" b="1" dirty="0">
                <a:solidFill>
                  <a:srgbClr val="C00000"/>
                </a:solidFill>
              </a:rPr>
              <a:t>amount. </a:t>
            </a:r>
          </a:p>
          <a:p>
            <a:pPr fontAlgn="ctr"/>
            <a:r>
              <a:rPr lang="en-US" b="1" dirty="0"/>
              <a:t>Excess of Loss (Non-Proportional) Treaties</a:t>
            </a:r>
          </a:p>
          <a:p>
            <a:pPr lvl="1" fontAlgn="ctr"/>
            <a:r>
              <a:rPr lang="en-US" dirty="0"/>
              <a:t>The reinsurer only pays </a:t>
            </a:r>
            <a:r>
              <a:rPr lang="en-US" b="1" dirty="0">
                <a:solidFill>
                  <a:srgbClr val="C00000"/>
                </a:solidFill>
              </a:rPr>
              <a:t>if the primary insurer's loss exceeds </a:t>
            </a:r>
            <a:r>
              <a:rPr lang="en-US" dirty="0"/>
              <a:t>a pre-agreed retention limit. </a:t>
            </a:r>
          </a:p>
          <a:p>
            <a:pPr lvl="1" fontAlgn="ctr"/>
            <a:r>
              <a:rPr lang="en-US" dirty="0"/>
              <a:t>Premiums and losses are shared, but </a:t>
            </a:r>
            <a:r>
              <a:rPr lang="en-US" b="1" dirty="0">
                <a:solidFill>
                  <a:srgbClr val="C00000"/>
                </a:solidFill>
              </a:rPr>
              <a:t>not necessarily proportionally </a:t>
            </a:r>
            <a:r>
              <a:rPr lang="en-US" dirty="0"/>
              <a:t>to the sum insured. </a:t>
            </a:r>
          </a:p>
        </p:txBody>
      </p:sp>
    </p:spTree>
    <p:extLst>
      <p:ext uri="{BB962C8B-B14F-4D97-AF65-F5344CB8AC3E}">
        <p14:creationId xmlns:p14="http://schemas.microsoft.com/office/powerpoint/2010/main" val="347999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Overall Benefits of Reinsurance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18800001"/>
              </p:ext>
            </p:extLst>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870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9C8E5511-DF06-4290-ACE9-BD9C318EB589}"/>
                                            </p:graphicEl>
                                          </p:spTgt>
                                        </p:tgtEl>
                                        <p:attrNameLst>
                                          <p:attrName>style.visibility</p:attrName>
                                        </p:attrNameLst>
                                      </p:cBhvr>
                                      <p:to>
                                        <p:strVal val="visible"/>
                                      </p:to>
                                    </p:set>
                                    <p:animEffect transition="in" filter="fade">
                                      <p:cBhvr>
                                        <p:cTn id="7" dur="500"/>
                                        <p:tgtEl>
                                          <p:spTgt spid="4">
                                            <p:graphicEl>
                                              <a:dgm id="{9C8E5511-DF06-4290-ACE9-BD9C318EB589}"/>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graphicEl>
                                              <a:dgm id="{24B4A04C-FA21-45BA-AFD6-BD58AE84F982}"/>
                                            </p:graphicEl>
                                          </p:spTgt>
                                        </p:tgtEl>
                                        <p:attrNameLst>
                                          <p:attrName>style.visibility</p:attrName>
                                        </p:attrNameLst>
                                      </p:cBhvr>
                                      <p:to>
                                        <p:strVal val="visible"/>
                                      </p:to>
                                    </p:set>
                                    <p:animEffect transition="in" filter="fade">
                                      <p:cBhvr>
                                        <p:cTn id="10" dur="500"/>
                                        <p:tgtEl>
                                          <p:spTgt spid="4">
                                            <p:graphicEl>
                                              <a:dgm id="{24B4A04C-FA21-45BA-AFD6-BD58AE84F982}"/>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graphicEl>
                                              <a:dgm id="{CE6B0365-81BD-42C1-AE8F-A62AE8DE8CC2}"/>
                                            </p:graphicEl>
                                          </p:spTgt>
                                        </p:tgtEl>
                                        <p:attrNameLst>
                                          <p:attrName>style.visibility</p:attrName>
                                        </p:attrNameLst>
                                      </p:cBhvr>
                                      <p:to>
                                        <p:strVal val="visible"/>
                                      </p:to>
                                    </p:set>
                                    <p:animEffect transition="in" filter="fade">
                                      <p:cBhvr>
                                        <p:cTn id="15" dur="500"/>
                                        <p:tgtEl>
                                          <p:spTgt spid="4">
                                            <p:graphicEl>
                                              <a:dgm id="{CE6B0365-81BD-42C1-AE8F-A62AE8DE8CC2}"/>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graphicEl>
                                              <a:dgm id="{0E5CC041-9ACF-4724-BC2E-6836921ACA98}"/>
                                            </p:graphicEl>
                                          </p:spTgt>
                                        </p:tgtEl>
                                        <p:attrNameLst>
                                          <p:attrName>style.visibility</p:attrName>
                                        </p:attrNameLst>
                                      </p:cBhvr>
                                      <p:to>
                                        <p:strVal val="visible"/>
                                      </p:to>
                                    </p:set>
                                    <p:animEffect transition="in" filter="fade">
                                      <p:cBhvr>
                                        <p:cTn id="18" dur="500"/>
                                        <p:tgtEl>
                                          <p:spTgt spid="4">
                                            <p:graphicEl>
                                              <a:dgm id="{0E5CC041-9ACF-4724-BC2E-6836921ACA98}"/>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graphicEl>
                                              <a:dgm id="{EB80616D-5900-4D3F-8B53-303B128FF6A4}"/>
                                            </p:graphicEl>
                                          </p:spTgt>
                                        </p:tgtEl>
                                        <p:attrNameLst>
                                          <p:attrName>style.visibility</p:attrName>
                                        </p:attrNameLst>
                                      </p:cBhvr>
                                      <p:to>
                                        <p:strVal val="visible"/>
                                      </p:to>
                                    </p:set>
                                    <p:animEffect transition="in" filter="fade">
                                      <p:cBhvr>
                                        <p:cTn id="23" dur="500"/>
                                        <p:tgtEl>
                                          <p:spTgt spid="4">
                                            <p:graphicEl>
                                              <a:dgm id="{EB80616D-5900-4D3F-8B53-303B128FF6A4}"/>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graphicEl>
                                              <a:dgm id="{4561DD56-2137-470F-81E4-E0A9CF0E5D4E}"/>
                                            </p:graphicEl>
                                          </p:spTgt>
                                        </p:tgtEl>
                                        <p:attrNameLst>
                                          <p:attrName>style.visibility</p:attrName>
                                        </p:attrNameLst>
                                      </p:cBhvr>
                                      <p:to>
                                        <p:strVal val="visible"/>
                                      </p:to>
                                    </p:set>
                                    <p:animEffect transition="in" filter="fade">
                                      <p:cBhvr>
                                        <p:cTn id="26" dur="500"/>
                                        <p:tgtEl>
                                          <p:spTgt spid="4">
                                            <p:graphicEl>
                                              <a:dgm id="{4561DD56-2137-470F-81E4-E0A9CF0E5D4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Micro Insurance</a:t>
            </a:r>
          </a:p>
        </p:txBody>
      </p:sp>
    </p:spTree>
    <p:extLst>
      <p:ext uri="{BB962C8B-B14F-4D97-AF65-F5344CB8AC3E}">
        <p14:creationId xmlns:p14="http://schemas.microsoft.com/office/powerpoint/2010/main" val="1382367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Micro-insurance</a:t>
            </a:r>
            <a:endParaRPr lang="en-IN" dirty="0"/>
          </a:p>
        </p:txBody>
      </p:sp>
      <p:sp>
        <p:nvSpPr>
          <p:cNvPr id="5" name="Content Placeholder 4"/>
          <p:cNvSpPr>
            <a:spLocks noGrp="1"/>
          </p:cNvSpPr>
          <p:nvPr>
            <p:ph idx="1"/>
          </p:nvPr>
        </p:nvSpPr>
        <p:spPr/>
        <p:txBody>
          <a:bodyPr/>
          <a:lstStyle/>
          <a:p>
            <a:r>
              <a:rPr lang="en-US" dirty="0"/>
              <a:t>Micro-insurance typically refers to insurance </a:t>
            </a:r>
            <a:r>
              <a:rPr lang="en-US" b="1" dirty="0">
                <a:solidFill>
                  <a:srgbClr val="C00000"/>
                </a:solidFill>
              </a:rPr>
              <a:t>products designed for low-income individuals.</a:t>
            </a:r>
            <a:r>
              <a:rPr lang="en-US" dirty="0">
                <a:solidFill>
                  <a:srgbClr val="C00000"/>
                </a:solidFill>
              </a:rPr>
              <a:t> </a:t>
            </a:r>
            <a:r>
              <a:rPr lang="en-US" dirty="0"/>
              <a:t>The word 'micro' represents the </a:t>
            </a:r>
            <a:r>
              <a:rPr lang="en-US" b="1" dirty="0">
                <a:solidFill>
                  <a:srgbClr val="C00000"/>
                </a:solidFill>
              </a:rPr>
              <a:t>relatively small transaction size of lower premiums</a:t>
            </a:r>
            <a:r>
              <a:rPr lang="en-US" dirty="0"/>
              <a:t>, a concept </a:t>
            </a:r>
            <a:r>
              <a:rPr lang="en-US" b="1" dirty="0">
                <a:solidFill>
                  <a:srgbClr val="C00000"/>
                </a:solidFill>
              </a:rPr>
              <a:t>similar to microfinance </a:t>
            </a:r>
            <a:r>
              <a:rPr lang="en-US" dirty="0"/>
              <a:t>with small ticket loans. </a:t>
            </a:r>
          </a:p>
          <a:p>
            <a:r>
              <a:rPr lang="en-US" dirty="0"/>
              <a:t>Micro-insurance </a:t>
            </a:r>
            <a:r>
              <a:rPr lang="en-US" b="1" dirty="0">
                <a:solidFill>
                  <a:srgbClr val="C00000"/>
                </a:solidFill>
              </a:rPr>
              <a:t>differs from traditional insurance </a:t>
            </a:r>
            <a:r>
              <a:rPr lang="en-US" dirty="0"/>
              <a:t>in many ways. Such as the </a:t>
            </a:r>
            <a:r>
              <a:rPr lang="en-US" b="1" dirty="0">
                <a:solidFill>
                  <a:srgbClr val="C00000"/>
                </a:solidFill>
              </a:rPr>
              <a:t>size of premiums, coverage limits, product features, distribution, policy administration and target customers. </a:t>
            </a:r>
          </a:p>
          <a:p>
            <a:r>
              <a:rPr lang="en-US" dirty="0"/>
              <a:t>The objectives of micro-insurance also vary amongst different stakeholders. </a:t>
            </a:r>
          </a:p>
          <a:p>
            <a:pPr lvl="1"/>
            <a:r>
              <a:rPr lang="en-US" b="1" dirty="0">
                <a:solidFill>
                  <a:srgbClr val="C00000"/>
                </a:solidFill>
              </a:rPr>
              <a:t>For governments and policymakers</a:t>
            </a:r>
            <a:r>
              <a:rPr lang="en-US" dirty="0"/>
              <a:t>, micro-insurance is a way to ensure inclusive growing hand support the livelihoods of the vulnerable segment of the society. </a:t>
            </a:r>
          </a:p>
          <a:p>
            <a:pPr lvl="1"/>
            <a:r>
              <a:rPr lang="en-US" b="1" dirty="0">
                <a:solidFill>
                  <a:srgbClr val="C00000"/>
                </a:solidFill>
              </a:rPr>
              <a:t>For social and developmental organizations</a:t>
            </a:r>
            <a:r>
              <a:rPr lang="en-US" dirty="0"/>
              <a:t>, micro-insurance can be an effective tool to help alleviate poverty. </a:t>
            </a:r>
          </a:p>
          <a:p>
            <a:pPr lvl="1"/>
            <a:r>
              <a:rPr lang="en-US" b="1" dirty="0">
                <a:solidFill>
                  <a:srgbClr val="C00000"/>
                </a:solidFill>
              </a:rPr>
              <a:t>For insurers and other market participants</a:t>
            </a:r>
            <a:r>
              <a:rPr lang="en-US" dirty="0"/>
              <a:t>, it is an opportunity to tap into new market segments and support economic and insurance growth of emerging markets.</a:t>
            </a:r>
            <a:endParaRPr lang="en-IN" dirty="0"/>
          </a:p>
        </p:txBody>
      </p:sp>
    </p:spTree>
    <p:extLst>
      <p:ext uri="{BB962C8B-B14F-4D97-AF65-F5344CB8AC3E}">
        <p14:creationId xmlns:p14="http://schemas.microsoft.com/office/powerpoint/2010/main" val="96521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Endowment/ Savings/ Pension</a:t>
            </a:r>
          </a:p>
        </p:txBody>
      </p:sp>
      <p:sp>
        <p:nvSpPr>
          <p:cNvPr id="5" name="Content Placeholder 4"/>
          <p:cNvSpPr>
            <a:spLocks noGrp="1"/>
          </p:cNvSpPr>
          <p:nvPr>
            <p:ph idx="1"/>
          </p:nvPr>
        </p:nvSpPr>
        <p:spPr/>
        <p:txBody>
          <a:bodyPr/>
          <a:lstStyle/>
          <a:p>
            <a:r>
              <a:rPr lang="en-IN" b="1" dirty="0"/>
              <a:t>Features</a:t>
            </a:r>
          </a:p>
          <a:p>
            <a:pPr lvl="1"/>
            <a:r>
              <a:rPr lang="en-US" b="1" dirty="0">
                <a:solidFill>
                  <a:srgbClr val="C00000"/>
                </a:solidFill>
              </a:rPr>
              <a:t>Life protection, pension, accident and permanent disability benefits</a:t>
            </a:r>
            <a:r>
              <a:rPr lang="en-US" dirty="0"/>
              <a:t>, and automatic cover are available in non-medical insurance policies. </a:t>
            </a:r>
          </a:p>
          <a:p>
            <a:pPr lvl="1"/>
            <a:r>
              <a:rPr lang="en-US" dirty="0"/>
              <a:t>The sum is </a:t>
            </a:r>
            <a:r>
              <a:rPr lang="en-US" b="1" dirty="0">
                <a:solidFill>
                  <a:srgbClr val="C00000"/>
                </a:solidFill>
              </a:rPr>
              <a:t>capped between </a:t>
            </a:r>
            <a:r>
              <a:rPr lang="en-US" b="1" dirty="0" err="1">
                <a:solidFill>
                  <a:srgbClr val="C00000"/>
                </a:solidFill>
              </a:rPr>
              <a:t>Rs</a:t>
            </a:r>
            <a:r>
              <a:rPr lang="en-US" b="1" dirty="0">
                <a:solidFill>
                  <a:srgbClr val="C00000"/>
                </a:solidFill>
              </a:rPr>
              <a:t> 30,000 and </a:t>
            </a:r>
            <a:r>
              <a:rPr lang="en-US" b="1" dirty="0" err="1">
                <a:solidFill>
                  <a:srgbClr val="C00000"/>
                </a:solidFill>
              </a:rPr>
              <a:t>Rs</a:t>
            </a:r>
            <a:r>
              <a:rPr lang="en-US" b="1" dirty="0">
                <a:solidFill>
                  <a:srgbClr val="C00000"/>
                </a:solidFill>
              </a:rPr>
              <a:t> 50,000</a:t>
            </a:r>
            <a:r>
              <a:rPr lang="en-US" dirty="0"/>
              <a:t>.</a:t>
            </a:r>
          </a:p>
          <a:p>
            <a:r>
              <a:rPr lang="en-IN" b="1" dirty="0"/>
              <a:t>Exclusions : </a:t>
            </a:r>
            <a:r>
              <a:rPr lang="en-US" dirty="0"/>
              <a:t>Insurers </a:t>
            </a:r>
            <a:r>
              <a:rPr lang="en-US" b="1" dirty="0">
                <a:solidFill>
                  <a:srgbClr val="C00000"/>
                </a:solidFill>
              </a:rPr>
              <a:t>may exclude risk coverage for the first 45 days</a:t>
            </a:r>
            <a:r>
              <a:rPr lang="en-US" dirty="0"/>
              <a:t>, while </a:t>
            </a:r>
            <a:r>
              <a:rPr lang="en-US" b="1" dirty="0">
                <a:solidFill>
                  <a:srgbClr val="C00000"/>
                </a:solidFill>
              </a:rPr>
              <a:t>suicide coverage is provided</a:t>
            </a:r>
            <a:r>
              <a:rPr lang="en-US" dirty="0"/>
              <a:t> for third party interest/refund of premiums in the first year.</a:t>
            </a:r>
          </a:p>
          <a:p>
            <a:r>
              <a:rPr lang="en-US" b="1" dirty="0"/>
              <a:t>Other Aspects</a:t>
            </a:r>
          </a:p>
          <a:p>
            <a:pPr lvl="1"/>
            <a:r>
              <a:rPr lang="en-US" dirty="0"/>
              <a:t>Insurers are offering </a:t>
            </a:r>
            <a:r>
              <a:rPr lang="en-US" b="1" dirty="0">
                <a:solidFill>
                  <a:srgbClr val="C00000"/>
                </a:solidFill>
              </a:rPr>
              <a:t>Group Endowment policies for economically weaker sections</a:t>
            </a:r>
            <a:r>
              <a:rPr lang="en-US" dirty="0"/>
              <a:t>, with maturity age up to 60 years.</a:t>
            </a:r>
          </a:p>
          <a:p>
            <a:pPr lvl="1"/>
            <a:r>
              <a:rPr lang="en-US" b="1" dirty="0" err="1">
                <a:solidFill>
                  <a:srgbClr val="C00000"/>
                </a:solidFill>
              </a:rPr>
              <a:t>Freelook</a:t>
            </a:r>
            <a:r>
              <a:rPr lang="en-US" b="1" dirty="0">
                <a:solidFill>
                  <a:srgbClr val="C00000"/>
                </a:solidFill>
              </a:rPr>
              <a:t> cancellations are available within 30/15 days</a:t>
            </a:r>
            <a:r>
              <a:rPr lang="en-US" dirty="0"/>
              <a:t>, with a 30-day grace period and liberal surrender values after 1-2 years.</a:t>
            </a:r>
            <a:endParaRPr lang="en-IN" dirty="0"/>
          </a:p>
        </p:txBody>
      </p:sp>
    </p:spTree>
    <p:extLst>
      <p:ext uri="{BB962C8B-B14F-4D97-AF65-F5344CB8AC3E}">
        <p14:creationId xmlns:p14="http://schemas.microsoft.com/office/powerpoint/2010/main" val="293342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Term Insurance</a:t>
            </a:r>
          </a:p>
        </p:txBody>
      </p:sp>
      <p:sp>
        <p:nvSpPr>
          <p:cNvPr id="5" name="Content Placeholder 4"/>
          <p:cNvSpPr>
            <a:spLocks noGrp="1"/>
          </p:cNvSpPr>
          <p:nvPr>
            <p:ph idx="1"/>
          </p:nvPr>
        </p:nvSpPr>
        <p:spPr/>
        <p:txBody>
          <a:bodyPr/>
          <a:lstStyle/>
          <a:p>
            <a:r>
              <a:rPr lang="en-IN" b="1" dirty="0"/>
              <a:t>Features : </a:t>
            </a:r>
            <a:r>
              <a:rPr lang="en-US" dirty="0"/>
              <a:t>A majority offer </a:t>
            </a:r>
            <a:r>
              <a:rPr lang="en-US" b="1" dirty="0">
                <a:solidFill>
                  <a:srgbClr val="C00000"/>
                </a:solidFill>
              </a:rPr>
              <a:t>accident benefit and some offer permanent disability benefit</a:t>
            </a:r>
            <a:r>
              <a:rPr lang="en-US" dirty="0">
                <a:solidFill>
                  <a:srgbClr val="C00000"/>
                </a:solidFill>
              </a:rPr>
              <a:t> </a:t>
            </a:r>
            <a:r>
              <a:rPr lang="en-US" dirty="0"/>
              <a:t>too under term products.</a:t>
            </a:r>
          </a:p>
          <a:p>
            <a:r>
              <a:rPr lang="en-US" b="1" dirty="0"/>
              <a:t>Other Aspects</a:t>
            </a:r>
          </a:p>
          <a:p>
            <a:pPr lvl="1"/>
            <a:r>
              <a:rPr lang="en-US" dirty="0"/>
              <a:t>These policies allow a </a:t>
            </a:r>
            <a:r>
              <a:rPr lang="en-US" b="1" dirty="0">
                <a:solidFill>
                  <a:srgbClr val="C00000"/>
                </a:solidFill>
              </a:rPr>
              <a:t>maturity age of up to 60 years and cap premium payments up to 45/50/55 years. </a:t>
            </a:r>
          </a:p>
          <a:p>
            <a:pPr lvl="1"/>
            <a:r>
              <a:rPr lang="en-US" b="1" dirty="0" err="1">
                <a:solidFill>
                  <a:srgbClr val="C00000"/>
                </a:solidFill>
              </a:rPr>
              <a:t>Freelook</a:t>
            </a:r>
            <a:r>
              <a:rPr lang="en-US" b="1" dirty="0">
                <a:solidFill>
                  <a:srgbClr val="C00000"/>
                </a:solidFill>
              </a:rPr>
              <a:t> cancellations are available after 30/15 days</a:t>
            </a:r>
            <a:r>
              <a:rPr lang="en-US" dirty="0"/>
              <a:t>, with a 30-day grace period. </a:t>
            </a:r>
          </a:p>
          <a:p>
            <a:pPr lvl="1"/>
            <a:r>
              <a:rPr lang="en-US" dirty="0"/>
              <a:t>The sum assured is capped between </a:t>
            </a:r>
            <a:r>
              <a:rPr lang="en-US" b="1" dirty="0" err="1">
                <a:solidFill>
                  <a:srgbClr val="C00000"/>
                </a:solidFill>
              </a:rPr>
              <a:t>Rs</a:t>
            </a:r>
            <a:r>
              <a:rPr lang="en-US" b="1" dirty="0">
                <a:solidFill>
                  <a:srgbClr val="C00000"/>
                </a:solidFill>
              </a:rPr>
              <a:t> 5,000 and </a:t>
            </a:r>
            <a:r>
              <a:rPr lang="en-US" b="1" dirty="0" err="1">
                <a:solidFill>
                  <a:srgbClr val="C00000"/>
                </a:solidFill>
              </a:rPr>
              <a:t>Rs</a:t>
            </a:r>
            <a:r>
              <a:rPr lang="en-US" b="1" dirty="0">
                <a:solidFill>
                  <a:srgbClr val="C00000"/>
                </a:solidFill>
              </a:rPr>
              <a:t> 200,000 or 100 times the annual premium. </a:t>
            </a:r>
          </a:p>
          <a:p>
            <a:pPr lvl="1"/>
            <a:r>
              <a:rPr lang="en-US" dirty="0"/>
              <a:t>Most insurers offer </a:t>
            </a:r>
            <a:r>
              <a:rPr lang="en-US" b="1" dirty="0">
                <a:solidFill>
                  <a:srgbClr val="C00000"/>
                </a:solidFill>
              </a:rPr>
              <a:t>refunds in case of suicide during the first year</a:t>
            </a:r>
            <a:r>
              <a:rPr lang="en-US" dirty="0"/>
              <a:t>. Individual term policies are offered in three, five, or ten years, with different payment modes.</a:t>
            </a:r>
            <a:endParaRPr lang="en-IN" dirty="0"/>
          </a:p>
        </p:txBody>
      </p:sp>
    </p:spTree>
    <p:extLst>
      <p:ext uri="{BB962C8B-B14F-4D97-AF65-F5344CB8AC3E}">
        <p14:creationId xmlns:p14="http://schemas.microsoft.com/office/powerpoint/2010/main" val="427131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Health Insurance</a:t>
            </a:r>
          </a:p>
        </p:txBody>
      </p:sp>
      <p:sp>
        <p:nvSpPr>
          <p:cNvPr id="5" name="Content Placeholder 4"/>
          <p:cNvSpPr>
            <a:spLocks noGrp="1"/>
          </p:cNvSpPr>
          <p:nvPr>
            <p:ph idx="1"/>
          </p:nvPr>
        </p:nvSpPr>
        <p:spPr/>
        <p:txBody>
          <a:bodyPr/>
          <a:lstStyle/>
          <a:p>
            <a:r>
              <a:rPr lang="en-IN" b="1" dirty="0"/>
              <a:t>Features</a:t>
            </a:r>
          </a:p>
          <a:p>
            <a:pPr lvl="1"/>
            <a:r>
              <a:rPr lang="en-US" dirty="0"/>
              <a:t>Health insurance covers </a:t>
            </a:r>
            <a:r>
              <a:rPr lang="en-US" b="1" dirty="0">
                <a:solidFill>
                  <a:srgbClr val="C00000"/>
                </a:solidFill>
              </a:rPr>
              <a:t>hospitalization, loss, and other expenses</a:t>
            </a:r>
            <a:r>
              <a:rPr lang="en-US" dirty="0"/>
              <a:t>. </a:t>
            </a:r>
          </a:p>
          <a:p>
            <a:pPr lvl="1"/>
            <a:r>
              <a:rPr lang="en-IN" b="1" dirty="0">
                <a:solidFill>
                  <a:srgbClr val="C00000"/>
                </a:solidFill>
              </a:rPr>
              <a:t>Hospitalisation expenses</a:t>
            </a:r>
            <a:endParaRPr lang="en-US" b="1" dirty="0">
              <a:solidFill>
                <a:srgbClr val="C00000"/>
              </a:solidFill>
            </a:endParaRPr>
          </a:p>
          <a:p>
            <a:pPr lvl="1"/>
            <a:r>
              <a:rPr lang="en-US" b="1" dirty="0">
                <a:solidFill>
                  <a:srgbClr val="C00000"/>
                </a:solidFill>
              </a:rPr>
              <a:t>Consultant fees</a:t>
            </a:r>
            <a:endParaRPr lang="en-US" dirty="0"/>
          </a:p>
          <a:p>
            <a:pPr lvl="1"/>
            <a:r>
              <a:rPr lang="en-US" b="1" dirty="0">
                <a:solidFill>
                  <a:srgbClr val="C00000"/>
                </a:solidFill>
              </a:rPr>
              <a:t>Diagnostic fees</a:t>
            </a:r>
            <a:endParaRPr lang="en-US" dirty="0"/>
          </a:p>
          <a:p>
            <a:pPr lvl="1"/>
            <a:r>
              <a:rPr lang="en-US" b="1" dirty="0">
                <a:solidFill>
                  <a:srgbClr val="C00000"/>
                </a:solidFill>
              </a:rPr>
              <a:t>Transportation expenses</a:t>
            </a:r>
            <a:endParaRPr lang="en-US" dirty="0"/>
          </a:p>
          <a:p>
            <a:pPr lvl="1"/>
            <a:r>
              <a:rPr lang="en-US" b="1" dirty="0">
                <a:solidFill>
                  <a:srgbClr val="C00000"/>
                </a:solidFill>
              </a:rPr>
              <a:t>Overall limit </a:t>
            </a:r>
            <a:r>
              <a:rPr lang="en-US" dirty="0"/>
              <a:t>for </a:t>
            </a:r>
            <a:r>
              <a:rPr lang="en-US" dirty="0" err="1"/>
              <a:t>hospitalisation</a:t>
            </a:r>
            <a:r>
              <a:rPr lang="en-US" dirty="0"/>
              <a:t> may be defined as  around </a:t>
            </a:r>
            <a:r>
              <a:rPr lang="en-US" b="1" dirty="0">
                <a:solidFill>
                  <a:srgbClr val="C00000"/>
                </a:solidFill>
              </a:rPr>
              <a:t>Rs 15,000</a:t>
            </a:r>
            <a:r>
              <a:rPr lang="en-US" dirty="0">
                <a:solidFill>
                  <a:srgbClr val="C00000"/>
                </a:solidFill>
              </a:rPr>
              <a:t> </a:t>
            </a:r>
            <a:r>
              <a:rPr lang="en-US" dirty="0"/>
              <a:t>and </a:t>
            </a:r>
            <a:r>
              <a:rPr lang="en-US" b="1" dirty="0">
                <a:solidFill>
                  <a:srgbClr val="C00000"/>
                </a:solidFill>
              </a:rPr>
              <a:t>overall sum Insured for one year defined as around Rs 30,000.</a:t>
            </a:r>
          </a:p>
          <a:p>
            <a:r>
              <a:rPr lang="en-US" b="1" dirty="0"/>
              <a:t>Condition : </a:t>
            </a:r>
            <a:r>
              <a:rPr lang="en-US" b="1" dirty="0">
                <a:solidFill>
                  <a:srgbClr val="C00000"/>
                </a:solidFill>
              </a:rPr>
              <a:t>Entire family needs to be covered </a:t>
            </a:r>
            <a:r>
              <a:rPr lang="en-US" dirty="0"/>
              <a:t>under one Sum Assured, any number of times.</a:t>
            </a:r>
          </a:p>
          <a:p>
            <a:r>
              <a:rPr lang="en-US" b="1" dirty="0"/>
              <a:t>Exclusion : </a:t>
            </a:r>
            <a:r>
              <a:rPr lang="en-US" b="1" dirty="0">
                <a:solidFill>
                  <a:srgbClr val="C00000"/>
                </a:solidFill>
              </a:rPr>
              <a:t>Loss of life</a:t>
            </a:r>
            <a:r>
              <a:rPr lang="en-US" dirty="0">
                <a:solidFill>
                  <a:srgbClr val="C00000"/>
                </a:solidFill>
              </a:rPr>
              <a:t> </a:t>
            </a:r>
            <a:r>
              <a:rPr lang="en-US" dirty="0"/>
              <a:t>due to accident/diseases even in case of epidemics.</a:t>
            </a:r>
          </a:p>
          <a:p>
            <a:endParaRPr lang="en-US" dirty="0"/>
          </a:p>
          <a:p>
            <a:endParaRPr lang="en-US" dirty="0"/>
          </a:p>
          <a:p>
            <a:endParaRPr lang="en-IN" dirty="0"/>
          </a:p>
        </p:txBody>
      </p:sp>
    </p:spTree>
    <p:extLst>
      <p:ext uri="{BB962C8B-B14F-4D97-AF65-F5344CB8AC3E}">
        <p14:creationId xmlns:p14="http://schemas.microsoft.com/office/powerpoint/2010/main" val="4284444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6701</TotalTime>
  <Words>5530</Words>
  <Application>Microsoft Office PowerPoint</Application>
  <PresentationFormat>Widescreen</PresentationFormat>
  <Paragraphs>477</Paragraphs>
  <Slides>61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Roboto Condensed Light</vt:lpstr>
      <vt:lpstr>Wingdings</vt:lpstr>
      <vt:lpstr>Wingdings 3</vt:lpstr>
      <vt:lpstr>Roboto Condensed</vt:lpstr>
      <vt:lpstr>Calibri</vt:lpstr>
      <vt:lpstr>Wingdings 2</vt:lpstr>
      <vt:lpstr>Arial</vt:lpstr>
      <vt:lpstr>Office Theme</vt:lpstr>
      <vt:lpstr>Unit-2 Fundamentals of Insurance</vt:lpstr>
      <vt:lpstr>PowerPoint Presentation</vt:lpstr>
      <vt:lpstr>Risk Management and Role of Insurance</vt:lpstr>
      <vt:lpstr>Risk Management</vt:lpstr>
      <vt:lpstr>Risk Management</vt:lpstr>
      <vt:lpstr>Role of Insurance</vt:lpstr>
      <vt:lpstr>Role of Insurance</vt:lpstr>
      <vt:lpstr>Role of Insurance</vt:lpstr>
      <vt:lpstr>Role of Insurance</vt:lpstr>
      <vt:lpstr>Insurance Regulatory &amp; Development Authority (IRDA)</vt:lpstr>
      <vt:lpstr>Duties, Powers and Functions of IRDAI</vt:lpstr>
      <vt:lpstr>Duties, Powers and Functions of IRDAI</vt:lpstr>
      <vt:lpstr>Duties, Powers and Functions of IRDAI</vt:lpstr>
      <vt:lpstr>Classification of Insurance</vt:lpstr>
      <vt:lpstr>Types of Insurances</vt:lpstr>
      <vt:lpstr>Classification of Insurance</vt:lpstr>
      <vt:lpstr>PowerPoint Presentation</vt:lpstr>
      <vt:lpstr>PowerPoint Presentation</vt:lpstr>
      <vt:lpstr>Life Insurance</vt:lpstr>
      <vt:lpstr>About Life Insurance</vt:lpstr>
      <vt:lpstr>Types of Life Insurance</vt:lpstr>
      <vt:lpstr>Types of Life Insurance</vt:lpstr>
      <vt:lpstr>Benefits of Life Insurance</vt:lpstr>
      <vt:lpstr>Benefits of Life Insurance</vt:lpstr>
      <vt:lpstr>Policy Premium</vt:lpstr>
      <vt:lpstr>Policy Claim</vt:lpstr>
      <vt:lpstr>Policy Lapsation and Revival</vt:lpstr>
      <vt:lpstr>Nomination and Surrender of A Policy</vt:lpstr>
      <vt:lpstr>Brief about Public and Private Organizations in Life Insurance</vt:lpstr>
      <vt:lpstr>Non-Life Insurance</vt:lpstr>
      <vt:lpstr>Non-life Insurance</vt:lpstr>
      <vt:lpstr>Motor Insurance</vt:lpstr>
      <vt:lpstr>Insurance of Motor Vehicles</vt:lpstr>
      <vt:lpstr>Claim Procedure for Motor Insurance</vt:lpstr>
      <vt:lpstr>Claim Procedure for Motor Insurance</vt:lpstr>
      <vt:lpstr>Travel Insurance</vt:lpstr>
      <vt:lpstr>Home Insurance</vt:lpstr>
      <vt:lpstr>Home Insurance</vt:lpstr>
      <vt:lpstr>Individual Personal Accident Insurance Policy</vt:lpstr>
      <vt:lpstr>Pradhan Mantri Suraksha Bima Yojana (PMSBY)</vt:lpstr>
      <vt:lpstr>Miscellaneous Non-Life Insurances</vt:lpstr>
      <vt:lpstr>Policyholder Servicing Turnaround Times as Prescribed by IRDA</vt:lpstr>
      <vt:lpstr>Policyholder Servicing Turnaround Times as Prescribed by IRDA</vt:lpstr>
      <vt:lpstr>Grievance Redressal by IRDA</vt:lpstr>
      <vt:lpstr>Health Insurance</vt:lpstr>
      <vt:lpstr>Introduction to Health Insurance</vt:lpstr>
      <vt:lpstr>Health system in India</vt:lpstr>
      <vt:lpstr>Health Insurance Products</vt:lpstr>
      <vt:lpstr>Health Insurance Policy Forms and Clauses</vt:lpstr>
      <vt:lpstr>Reinsurance</vt:lpstr>
      <vt:lpstr>Health Insurance Policy Forms and Clauses</vt:lpstr>
      <vt:lpstr>Why is Reinsurance Important? </vt:lpstr>
      <vt:lpstr>Types of Reinsurance</vt:lpstr>
      <vt:lpstr>Types of Reinsurance</vt:lpstr>
      <vt:lpstr>Overall Benefits of Reinsurance</vt:lpstr>
      <vt:lpstr>Micro Insurance</vt:lpstr>
      <vt:lpstr>Micro-insurance</vt:lpstr>
      <vt:lpstr>Endowment/ Savings/ Pension</vt:lpstr>
      <vt:lpstr>Term Insurance</vt:lpstr>
      <vt:lpstr>Health Insurance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Parth Dadhaniya</cp:lastModifiedBy>
  <cp:revision>470</cp:revision>
  <dcterms:created xsi:type="dcterms:W3CDTF">2020-05-01T05:09:00Z</dcterms:created>
  <dcterms:modified xsi:type="dcterms:W3CDTF">2025-08-27T16:02:42Z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3B17172FB0DE4EE192BDAE1FA1EEFAFC</vt:lpwstr>
  </property>
  <property fmtid="{D5CDD505-2E9C-101B-9397-08002B2CF9AE}" pid="3" name="KSOProductBuildVer">
    <vt:lpwstr>1033-11.2.0.11156</vt:lpwstr>
  </property>
  <property fmtid="{D5CDD505-2E9C-101B-9397-08002B2CF9AE}" pid="4" name="MSIP_Label_defa4170-0d19-0005-0004-bc88714345d2_Enabled">
    <vt:lpwstr>true</vt:lpwstr>
  </property>
  <property fmtid="{D5CDD505-2E9C-101B-9397-08002B2CF9AE}" pid="5" name="MSIP_Label_defa4170-0d19-0005-0004-bc88714345d2_SetDate">
    <vt:lpwstr>2022-08-26T06:32:08Z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d7d1a538-837c-4f74-b39d-7404a206d18b</vt:lpwstr>
  </property>
  <property fmtid="{D5CDD505-2E9C-101B-9397-08002B2CF9AE}" pid="9" name="MSIP_Label_defa4170-0d19-0005-0004-bc88714345d2_ActionId">
    <vt:lpwstr>18228cb7-e927-46b3-82d3-8bef2d1f1ffe</vt:lpwstr>
  </property>
  <property fmtid="{D5CDD505-2E9C-101B-9397-08002B2CF9AE}" pid="10" name="MSIP_Label_defa4170-0d19-0005-0004-bc88714345d2_ContentBits">
    <vt:lpwstr>0</vt:lpwstr>
  </property>
</Properties>
</file>