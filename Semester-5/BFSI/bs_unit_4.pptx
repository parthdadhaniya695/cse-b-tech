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80"/>
  </p:notesMasterIdLst>
  <p:handoutMasterIdLst>
    <p:handoutMasterId r:id="rId81"/>
  </p:handoutMasterIdLst>
  <p:sldIdLst>
    <p:sldId id="367" r:id="rId2"/>
    <p:sldId id="267" r:id="rId3"/>
    <p:sldId id="767" r:id="rId4"/>
    <p:sldId id="260" r:id="rId5"/>
    <p:sldId id="768" r:id="rId6"/>
    <p:sldId id="261" r:id="rId7"/>
    <p:sldId id="262" r:id="rId8"/>
    <p:sldId id="263" r:id="rId9"/>
    <p:sldId id="770" r:id="rId10"/>
    <p:sldId id="769" r:id="rId11"/>
    <p:sldId id="270" r:id="rId12"/>
    <p:sldId id="778" r:id="rId13"/>
    <p:sldId id="449" r:id="rId14"/>
    <p:sldId id="771" r:id="rId15"/>
    <p:sldId id="774" r:id="rId16"/>
    <p:sldId id="472" r:id="rId17"/>
    <p:sldId id="772" r:id="rId18"/>
    <p:sldId id="773" r:id="rId19"/>
    <p:sldId id="1607" r:id="rId20"/>
    <p:sldId id="1599" r:id="rId21"/>
    <p:sldId id="776" r:id="rId22"/>
    <p:sldId id="777" r:id="rId23"/>
    <p:sldId id="1606" r:id="rId24"/>
    <p:sldId id="779" r:id="rId25"/>
    <p:sldId id="780" r:id="rId26"/>
    <p:sldId id="782" r:id="rId27"/>
    <p:sldId id="787" r:id="rId28"/>
    <p:sldId id="788" r:id="rId29"/>
    <p:sldId id="789" r:id="rId30"/>
    <p:sldId id="784" r:id="rId31"/>
    <p:sldId id="785" r:id="rId32"/>
    <p:sldId id="786" r:id="rId33"/>
    <p:sldId id="781" r:id="rId34"/>
    <p:sldId id="1600" r:id="rId35"/>
    <p:sldId id="794" r:id="rId36"/>
    <p:sldId id="799" r:id="rId37"/>
    <p:sldId id="795" r:id="rId38"/>
    <p:sldId id="796" r:id="rId39"/>
    <p:sldId id="800" r:id="rId40"/>
    <p:sldId id="797" r:id="rId41"/>
    <p:sldId id="798" r:id="rId42"/>
    <p:sldId id="801" r:id="rId43"/>
    <p:sldId id="791" r:id="rId44"/>
    <p:sldId id="802" r:id="rId45"/>
    <p:sldId id="803" r:id="rId46"/>
    <p:sldId id="804" r:id="rId47"/>
    <p:sldId id="1580" r:id="rId48"/>
    <p:sldId id="1603" r:id="rId49"/>
    <p:sldId id="756" r:id="rId50"/>
    <p:sldId id="1602" r:id="rId51"/>
    <p:sldId id="1601" r:id="rId52"/>
    <p:sldId id="378" r:id="rId53"/>
    <p:sldId id="294" r:id="rId54"/>
    <p:sldId id="1585" r:id="rId55"/>
    <p:sldId id="1588" r:id="rId56"/>
    <p:sldId id="380" r:id="rId57"/>
    <p:sldId id="1577" r:id="rId58"/>
    <p:sldId id="805" r:id="rId59"/>
    <p:sldId id="1576" r:id="rId60"/>
    <p:sldId id="1575" r:id="rId61"/>
    <p:sldId id="375" r:id="rId62"/>
    <p:sldId id="1596" r:id="rId63"/>
    <p:sldId id="783" r:id="rId64"/>
    <p:sldId id="443" r:id="rId65"/>
    <p:sldId id="1604" r:id="rId66"/>
    <p:sldId id="1605" r:id="rId67"/>
    <p:sldId id="1590" r:id="rId68"/>
    <p:sldId id="278" r:id="rId69"/>
    <p:sldId id="279" r:id="rId70"/>
    <p:sldId id="1592" r:id="rId71"/>
    <p:sldId id="1597" r:id="rId72"/>
    <p:sldId id="1598" r:id="rId73"/>
    <p:sldId id="426" r:id="rId74"/>
    <p:sldId id="806" r:id="rId75"/>
    <p:sldId id="807" r:id="rId76"/>
    <p:sldId id="1591" r:id="rId77"/>
    <p:sldId id="297" r:id="rId78"/>
    <p:sldId id="369" r:id="rId79"/>
  </p:sldIdLst>
  <p:sldSz cx="12192000" cy="6858000"/>
  <p:notesSz cx="6858000" cy="9144000"/>
  <p:embeddedFontLst>
    <p:embeddedFont>
      <p:font typeface="Cambria Math" panose="02040503050406030204" pitchFamily="18" charset="0"/>
      <p:regular r:id="rId82"/>
    </p:embeddedFont>
    <p:embeddedFont>
      <p:font typeface="Lato" panose="020F0502020204030203" pitchFamily="34" charset="0"/>
      <p:regular r:id="rId83"/>
      <p:bold r:id="rId84"/>
      <p:italic r:id="rId85"/>
      <p:boldItalic r:id="rId86"/>
    </p:embeddedFont>
    <p:embeddedFont>
      <p:font typeface="Leelawadee UI" panose="020B0502040204020203" pitchFamily="34" charset="-34"/>
      <p:regular r:id="rId87"/>
      <p:bold r:id="rId88"/>
    </p:embeddedFont>
    <p:embeddedFont>
      <p:font typeface="Roboto" panose="02000000000000000000" pitchFamily="2" charset="0"/>
      <p:regular r:id="rId89"/>
      <p:bold r:id="rId90"/>
      <p:italic r:id="rId91"/>
      <p:boldItalic r:id="rId92"/>
    </p:embeddedFont>
    <p:embeddedFont>
      <p:font typeface="Roboto Condensed" panose="02000000000000000000" pitchFamily="2" charset="0"/>
      <p:regular r:id="rId93"/>
      <p:bold r:id="rId94"/>
      <p:italic r:id="rId95"/>
      <p:boldItalic r:id="rId96"/>
    </p:embeddedFont>
    <p:embeddedFont>
      <p:font typeface="Roboto Condensed Light" panose="02000000000000000000" pitchFamily="2" charset="0"/>
      <p:regular r:id="rId97"/>
      <p:italic r:id="rId98"/>
    </p:embeddedFont>
    <p:embeddedFont>
      <p:font typeface="Segoe UI Light" panose="020B0502040204020203" pitchFamily="34" charset="0"/>
      <p:regular r:id="rId99"/>
      <p:italic r:id="rId100"/>
    </p:embeddedFont>
    <p:embeddedFont>
      <p:font typeface="Wingdings 2" panose="05020102010507070707" pitchFamily="18" charset="2"/>
      <p:regular r:id="rId101"/>
    </p:embeddedFont>
    <p:embeddedFont>
      <p:font typeface="Wingdings 3" panose="05040102010807070707" pitchFamily="18" charset="2"/>
      <p:regular r:id="rId10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iQF7UpBBnIfKd/xStbz/8w==" hashData="bNJfNYlxHPGZYLHwG01t7CT06+aR7p9YC7Ns8dHAM3/IZehqG+t/E3pzwoebQuDielWhyvggRQ+nhTnFo9eBcw=="/>
  <p:extLst>
    <p:ext uri="{521415D9-36F7-43E2-AB2F-B90AF26B5E84}">
      <p14:sectionLst xmlns:p14="http://schemas.microsoft.com/office/powerpoint/2010/main">
        <p14:section name="Default Section" id="{92A1D4E6-2CBA-4762-B3C9-129B9E1D6360}">
          <p14:sldIdLst>
            <p14:sldId id="367"/>
            <p14:sldId id="267"/>
            <p14:sldId id="767"/>
            <p14:sldId id="260"/>
            <p14:sldId id="768"/>
            <p14:sldId id="261"/>
            <p14:sldId id="262"/>
            <p14:sldId id="263"/>
            <p14:sldId id="770"/>
            <p14:sldId id="769"/>
            <p14:sldId id="270"/>
            <p14:sldId id="778"/>
            <p14:sldId id="449"/>
            <p14:sldId id="771"/>
            <p14:sldId id="774"/>
            <p14:sldId id="472"/>
            <p14:sldId id="772"/>
            <p14:sldId id="773"/>
            <p14:sldId id="1607"/>
            <p14:sldId id="1599"/>
            <p14:sldId id="776"/>
            <p14:sldId id="777"/>
            <p14:sldId id="1606"/>
            <p14:sldId id="779"/>
            <p14:sldId id="780"/>
            <p14:sldId id="782"/>
            <p14:sldId id="787"/>
            <p14:sldId id="788"/>
            <p14:sldId id="789"/>
            <p14:sldId id="784"/>
            <p14:sldId id="785"/>
            <p14:sldId id="786"/>
            <p14:sldId id="781"/>
            <p14:sldId id="1600"/>
            <p14:sldId id="794"/>
            <p14:sldId id="799"/>
            <p14:sldId id="795"/>
            <p14:sldId id="796"/>
            <p14:sldId id="800"/>
            <p14:sldId id="797"/>
            <p14:sldId id="798"/>
            <p14:sldId id="801"/>
            <p14:sldId id="791"/>
            <p14:sldId id="802"/>
            <p14:sldId id="803"/>
            <p14:sldId id="804"/>
            <p14:sldId id="1580"/>
            <p14:sldId id="1603"/>
            <p14:sldId id="756"/>
            <p14:sldId id="1602"/>
            <p14:sldId id="1601"/>
            <p14:sldId id="378"/>
            <p14:sldId id="294"/>
            <p14:sldId id="1585"/>
            <p14:sldId id="1588"/>
            <p14:sldId id="380"/>
            <p14:sldId id="1577"/>
            <p14:sldId id="805"/>
            <p14:sldId id="1576"/>
            <p14:sldId id="1575"/>
            <p14:sldId id="375"/>
            <p14:sldId id="1596"/>
            <p14:sldId id="783"/>
            <p14:sldId id="443"/>
            <p14:sldId id="1604"/>
            <p14:sldId id="1605"/>
            <p14:sldId id="1590"/>
            <p14:sldId id="278"/>
            <p14:sldId id="279"/>
            <p14:sldId id="1592"/>
            <p14:sldId id="1597"/>
            <p14:sldId id="1598"/>
            <p14:sldId id="426"/>
            <p14:sldId id="806"/>
            <p14:sldId id="807"/>
            <p14:sldId id="1591"/>
            <p14:sldId id="297"/>
            <p14:sldId id="3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07D8B"/>
    <a:srgbClr val="562C32"/>
    <a:srgbClr val="5E3037"/>
    <a:srgbClr val="7B3E47"/>
    <a:srgbClr val="D10233"/>
    <a:srgbClr val="673BB7"/>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21.fntdata"/><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font" Target="fonts/font4.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font" Target="fonts/font18.fntdata"/><Relationship Id="rId10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6.fntdata"/><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9.fntdata"/><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openxmlformats.org/officeDocument/2006/relationships/font" Target="fonts/font1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333396-9EC5-4B0B-933C-6B5666A73EA1}" type="doc">
      <dgm:prSet loTypeId="urn:microsoft.com/office/officeart/2005/8/layout/orgChart1" loCatId="hierarchy" qsTypeId="urn:microsoft.com/office/officeart/2005/8/quickstyle/simple1" qsCatId="simple" csTypeId="urn:microsoft.com/office/officeart/2005/8/colors/accent6_2" csCatId="accent6" phldr="1"/>
      <dgm:spPr/>
      <dgm:t>
        <a:bodyPr/>
        <a:lstStyle/>
        <a:p>
          <a:endParaRPr lang="en-IN"/>
        </a:p>
      </dgm:t>
    </dgm:pt>
    <dgm:pt modelId="{71715283-19AE-46C0-B0A8-33AEB4BD93E0}">
      <dgm:prSet/>
      <dgm:spPr/>
      <dgm:t>
        <a:bodyPr/>
        <a:lstStyle/>
        <a:p>
          <a:r>
            <a:rPr lang="en-US"/>
            <a:t>Intra-state (within) supply</a:t>
          </a:r>
          <a:endParaRPr lang="en-IN"/>
        </a:p>
      </dgm:t>
    </dgm:pt>
    <dgm:pt modelId="{517756A8-BC0B-475D-85CF-7C715FE597C5}" type="parTrans" cxnId="{0CA23219-0629-434D-A2F6-E7E11EEFE5FC}">
      <dgm:prSet/>
      <dgm:spPr/>
      <dgm:t>
        <a:bodyPr/>
        <a:lstStyle/>
        <a:p>
          <a:endParaRPr lang="en-IN"/>
        </a:p>
      </dgm:t>
    </dgm:pt>
    <dgm:pt modelId="{30F0D438-53B6-49CB-94D8-F6EB25C549BB}" type="sibTrans" cxnId="{0CA23219-0629-434D-A2F6-E7E11EEFE5FC}">
      <dgm:prSet/>
      <dgm:spPr/>
      <dgm:t>
        <a:bodyPr/>
        <a:lstStyle/>
        <a:p>
          <a:endParaRPr lang="en-IN"/>
        </a:p>
      </dgm:t>
    </dgm:pt>
    <dgm:pt modelId="{C16CA7CA-6E33-4B46-BD93-5389DABCB16C}">
      <dgm:prSet/>
      <dgm:spPr/>
      <dgm:t>
        <a:bodyPr/>
        <a:lstStyle/>
        <a:p>
          <a:r>
            <a:rPr lang="en-US"/>
            <a:t>CGST &amp; SGST</a:t>
          </a:r>
          <a:endParaRPr lang="en-IN"/>
        </a:p>
      </dgm:t>
    </dgm:pt>
    <dgm:pt modelId="{1B6BBEAD-40C0-4882-8970-D904429BD170}" type="parTrans" cxnId="{40CB657F-4EB8-40CE-9722-5D9DEC89EDA2}">
      <dgm:prSet/>
      <dgm:spPr/>
      <dgm:t>
        <a:bodyPr/>
        <a:lstStyle/>
        <a:p>
          <a:endParaRPr lang="en-IN"/>
        </a:p>
      </dgm:t>
    </dgm:pt>
    <dgm:pt modelId="{7F58327A-3AA3-4BF0-9EEB-6A3251C98922}" type="sibTrans" cxnId="{40CB657F-4EB8-40CE-9722-5D9DEC89EDA2}">
      <dgm:prSet/>
      <dgm:spPr/>
      <dgm:t>
        <a:bodyPr/>
        <a:lstStyle/>
        <a:p>
          <a:endParaRPr lang="en-IN"/>
        </a:p>
      </dgm:t>
    </dgm:pt>
    <dgm:pt modelId="{686B137C-FCCE-45CA-9B52-0FD7860F6FA2}">
      <dgm:prSet/>
      <dgm:spPr/>
      <dgm:t>
        <a:bodyPr/>
        <a:lstStyle/>
        <a:p>
          <a:r>
            <a:rPr lang="en-US"/>
            <a:t>CGST &amp; UTGST</a:t>
          </a:r>
          <a:endParaRPr lang="en-IN"/>
        </a:p>
      </dgm:t>
    </dgm:pt>
    <dgm:pt modelId="{5DF6BB5C-391A-423E-8F08-654530DA7B2E}" type="parTrans" cxnId="{464B998C-DECE-461F-B840-7D0C8B96E2C6}">
      <dgm:prSet/>
      <dgm:spPr/>
      <dgm:t>
        <a:bodyPr/>
        <a:lstStyle/>
        <a:p>
          <a:endParaRPr lang="en-IN"/>
        </a:p>
      </dgm:t>
    </dgm:pt>
    <dgm:pt modelId="{B06F805D-22C3-426C-A3E4-98ECC44167FB}" type="sibTrans" cxnId="{464B998C-DECE-461F-B840-7D0C8B96E2C6}">
      <dgm:prSet/>
      <dgm:spPr/>
      <dgm:t>
        <a:bodyPr/>
        <a:lstStyle/>
        <a:p>
          <a:endParaRPr lang="en-IN"/>
        </a:p>
      </dgm:t>
    </dgm:pt>
    <dgm:pt modelId="{61452D87-C9DF-44C7-B063-64D5979AB32A}">
      <dgm:prSet/>
      <dgm:spPr/>
      <dgm:t>
        <a:bodyPr/>
        <a:lstStyle/>
        <a:p>
          <a:r>
            <a:rPr lang="en-US" dirty="0"/>
            <a:t>Inter-state supply</a:t>
          </a:r>
        </a:p>
        <a:p>
          <a:r>
            <a:rPr lang="en-US" dirty="0"/>
            <a:t>(between states)</a:t>
          </a:r>
          <a:endParaRPr lang="en-IN" dirty="0"/>
        </a:p>
      </dgm:t>
    </dgm:pt>
    <dgm:pt modelId="{70080259-9342-439D-A803-318010A4C851}" type="parTrans" cxnId="{95BDBB50-430D-42BF-9077-35B24298BF2E}">
      <dgm:prSet/>
      <dgm:spPr/>
      <dgm:t>
        <a:bodyPr/>
        <a:lstStyle/>
        <a:p>
          <a:endParaRPr lang="en-IN"/>
        </a:p>
      </dgm:t>
    </dgm:pt>
    <dgm:pt modelId="{0E6201B2-62C9-4C9B-9F2E-2CA95F49A047}" type="sibTrans" cxnId="{95BDBB50-430D-42BF-9077-35B24298BF2E}">
      <dgm:prSet/>
      <dgm:spPr/>
      <dgm:t>
        <a:bodyPr/>
        <a:lstStyle/>
        <a:p>
          <a:endParaRPr lang="en-IN"/>
        </a:p>
      </dgm:t>
    </dgm:pt>
    <dgm:pt modelId="{B75754F6-C1BB-4C19-A47E-16DB798CF1D8}">
      <dgm:prSet/>
      <dgm:spPr/>
      <dgm:t>
        <a:bodyPr/>
        <a:lstStyle/>
        <a:p>
          <a:r>
            <a:rPr lang="en-US"/>
            <a:t>IGST</a:t>
          </a:r>
          <a:endParaRPr lang="en-IN"/>
        </a:p>
      </dgm:t>
    </dgm:pt>
    <dgm:pt modelId="{3766B023-1021-4041-B972-3B7F914C60CD}" type="parTrans" cxnId="{D899B9B4-64E9-463F-B4B9-2ADC5EC642B7}">
      <dgm:prSet/>
      <dgm:spPr/>
      <dgm:t>
        <a:bodyPr/>
        <a:lstStyle/>
        <a:p>
          <a:endParaRPr lang="en-IN"/>
        </a:p>
      </dgm:t>
    </dgm:pt>
    <dgm:pt modelId="{A6C30FCF-9F26-4CCE-AE9A-B89F18E9F772}" type="sibTrans" cxnId="{D899B9B4-64E9-463F-B4B9-2ADC5EC642B7}">
      <dgm:prSet/>
      <dgm:spPr/>
      <dgm:t>
        <a:bodyPr/>
        <a:lstStyle/>
        <a:p>
          <a:endParaRPr lang="en-IN"/>
        </a:p>
      </dgm:t>
    </dgm:pt>
    <dgm:pt modelId="{F9806D09-7D14-4C6B-A68A-DD56BEC8CE50}" type="pres">
      <dgm:prSet presAssocID="{24333396-9EC5-4B0B-933C-6B5666A73EA1}" presName="hierChild1" presStyleCnt="0">
        <dgm:presLayoutVars>
          <dgm:orgChart val="1"/>
          <dgm:chPref val="1"/>
          <dgm:dir/>
          <dgm:animOne val="branch"/>
          <dgm:animLvl val="lvl"/>
          <dgm:resizeHandles/>
        </dgm:presLayoutVars>
      </dgm:prSet>
      <dgm:spPr/>
    </dgm:pt>
    <dgm:pt modelId="{C2DA0284-153C-4C11-9EF7-3E5EF0CAD5D0}" type="pres">
      <dgm:prSet presAssocID="{71715283-19AE-46C0-B0A8-33AEB4BD93E0}" presName="hierRoot1" presStyleCnt="0">
        <dgm:presLayoutVars>
          <dgm:hierBranch val="init"/>
        </dgm:presLayoutVars>
      </dgm:prSet>
      <dgm:spPr/>
    </dgm:pt>
    <dgm:pt modelId="{8A72B565-9DC0-4EFE-B83D-319CBC97BD37}" type="pres">
      <dgm:prSet presAssocID="{71715283-19AE-46C0-B0A8-33AEB4BD93E0}" presName="rootComposite1" presStyleCnt="0"/>
      <dgm:spPr/>
    </dgm:pt>
    <dgm:pt modelId="{1D57AF90-EB13-4DED-AE8D-45392311F6C0}" type="pres">
      <dgm:prSet presAssocID="{71715283-19AE-46C0-B0A8-33AEB4BD93E0}" presName="rootText1" presStyleLbl="node0" presStyleIdx="0" presStyleCnt="2">
        <dgm:presLayoutVars>
          <dgm:chPref val="3"/>
        </dgm:presLayoutVars>
      </dgm:prSet>
      <dgm:spPr/>
    </dgm:pt>
    <dgm:pt modelId="{9ADECFCB-B6B0-4E37-A91B-B1297222F88C}" type="pres">
      <dgm:prSet presAssocID="{71715283-19AE-46C0-B0A8-33AEB4BD93E0}" presName="rootConnector1" presStyleLbl="node1" presStyleIdx="0" presStyleCnt="0"/>
      <dgm:spPr/>
    </dgm:pt>
    <dgm:pt modelId="{FF77E32A-DDEF-4A73-90E0-089EFA7366AE}" type="pres">
      <dgm:prSet presAssocID="{71715283-19AE-46C0-B0A8-33AEB4BD93E0}" presName="hierChild2" presStyleCnt="0"/>
      <dgm:spPr/>
    </dgm:pt>
    <dgm:pt modelId="{213E2AC9-3480-40EC-A40D-1499E8C0648F}" type="pres">
      <dgm:prSet presAssocID="{1B6BBEAD-40C0-4882-8970-D904429BD170}" presName="Name37" presStyleLbl="parChTrans1D2" presStyleIdx="0" presStyleCnt="3"/>
      <dgm:spPr/>
    </dgm:pt>
    <dgm:pt modelId="{CF7CAE28-DF2E-4B03-B82A-344D9C26B14D}" type="pres">
      <dgm:prSet presAssocID="{C16CA7CA-6E33-4B46-BD93-5389DABCB16C}" presName="hierRoot2" presStyleCnt="0">
        <dgm:presLayoutVars>
          <dgm:hierBranch val="init"/>
        </dgm:presLayoutVars>
      </dgm:prSet>
      <dgm:spPr/>
    </dgm:pt>
    <dgm:pt modelId="{1ED19231-5AB9-4D27-8942-40C16B64B444}" type="pres">
      <dgm:prSet presAssocID="{C16CA7CA-6E33-4B46-BD93-5389DABCB16C}" presName="rootComposite" presStyleCnt="0"/>
      <dgm:spPr/>
    </dgm:pt>
    <dgm:pt modelId="{5640236E-5D2E-4F1D-9E31-527338A5C018}" type="pres">
      <dgm:prSet presAssocID="{C16CA7CA-6E33-4B46-BD93-5389DABCB16C}" presName="rootText" presStyleLbl="node2" presStyleIdx="0" presStyleCnt="3">
        <dgm:presLayoutVars>
          <dgm:chPref val="3"/>
        </dgm:presLayoutVars>
      </dgm:prSet>
      <dgm:spPr/>
    </dgm:pt>
    <dgm:pt modelId="{CAEE8934-A2F2-41D6-BF38-DD598B055DCF}" type="pres">
      <dgm:prSet presAssocID="{C16CA7CA-6E33-4B46-BD93-5389DABCB16C}" presName="rootConnector" presStyleLbl="node2" presStyleIdx="0" presStyleCnt="3"/>
      <dgm:spPr/>
    </dgm:pt>
    <dgm:pt modelId="{08864615-10A3-430E-9D5A-193C596DBD00}" type="pres">
      <dgm:prSet presAssocID="{C16CA7CA-6E33-4B46-BD93-5389DABCB16C}" presName="hierChild4" presStyleCnt="0"/>
      <dgm:spPr/>
    </dgm:pt>
    <dgm:pt modelId="{DC4737D6-8291-412C-891F-31C3BAE671B0}" type="pres">
      <dgm:prSet presAssocID="{C16CA7CA-6E33-4B46-BD93-5389DABCB16C}" presName="hierChild5" presStyleCnt="0"/>
      <dgm:spPr/>
    </dgm:pt>
    <dgm:pt modelId="{42E16285-283C-44F3-817C-934C9DB0C31C}" type="pres">
      <dgm:prSet presAssocID="{5DF6BB5C-391A-423E-8F08-654530DA7B2E}" presName="Name37" presStyleLbl="parChTrans1D2" presStyleIdx="1" presStyleCnt="3"/>
      <dgm:spPr/>
    </dgm:pt>
    <dgm:pt modelId="{F1A038C3-F4A2-4E43-8F11-BDCC76E63615}" type="pres">
      <dgm:prSet presAssocID="{686B137C-FCCE-45CA-9B52-0FD7860F6FA2}" presName="hierRoot2" presStyleCnt="0">
        <dgm:presLayoutVars>
          <dgm:hierBranch val="init"/>
        </dgm:presLayoutVars>
      </dgm:prSet>
      <dgm:spPr/>
    </dgm:pt>
    <dgm:pt modelId="{FFC22841-1B80-4ECF-98BC-FEA55BB98BC2}" type="pres">
      <dgm:prSet presAssocID="{686B137C-FCCE-45CA-9B52-0FD7860F6FA2}" presName="rootComposite" presStyleCnt="0"/>
      <dgm:spPr/>
    </dgm:pt>
    <dgm:pt modelId="{4B92F9FB-2BC0-4C58-A5B7-99670C5043EC}" type="pres">
      <dgm:prSet presAssocID="{686B137C-FCCE-45CA-9B52-0FD7860F6FA2}" presName="rootText" presStyleLbl="node2" presStyleIdx="1" presStyleCnt="3">
        <dgm:presLayoutVars>
          <dgm:chPref val="3"/>
        </dgm:presLayoutVars>
      </dgm:prSet>
      <dgm:spPr/>
    </dgm:pt>
    <dgm:pt modelId="{1A1D228C-17D9-4AD9-943D-E8953A76D2A3}" type="pres">
      <dgm:prSet presAssocID="{686B137C-FCCE-45CA-9B52-0FD7860F6FA2}" presName="rootConnector" presStyleLbl="node2" presStyleIdx="1" presStyleCnt="3"/>
      <dgm:spPr/>
    </dgm:pt>
    <dgm:pt modelId="{A74CCC25-9DF1-41EE-9860-F914476E8ECF}" type="pres">
      <dgm:prSet presAssocID="{686B137C-FCCE-45CA-9B52-0FD7860F6FA2}" presName="hierChild4" presStyleCnt="0"/>
      <dgm:spPr/>
    </dgm:pt>
    <dgm:pt modelId="{8D81BB93-D3CF-4525-9EFA-D32E3FE3A37A}" type="pres">
      <dgm:prSet presAssocID="{686B137C-FCCE-45CA-9B52-0FD7860F6FA2}" presName="hierChild5" presStyleCnt="0"/>
      <dgm:spPr/>
    </dgm:pt>
    <dgm:pt modelId="{3FB67AB9-BBB0-4DCC-B2D2-2578D0CA53BC}" type="pres">
      <dgm:prSet presAssocID="{71715283-19AE-46C0-B0A8-33AEB4BD93E0}" presName="hierChild3" presStyleCnt="0"/>
      <dgm:spPr/>
    </dgm:pt>
    <dgm:pt modelId="{EB9C9C72-42BB-48D4-95D2-3215BDC8210A}" type="pres">
      <dgm:prSet presAssocID="{61452D87-C9DF-44C7-B063-64D5979AB32A}" presName="hierRoot1" presStyleCnt="0">
        <dgm:presLayoutVars>
          <dgm:hierBranch val="init"/>
        </dgm:presLayoutVars>
      </dgm:prSet>
      <dgm:spPr/>
    </dgm:pt>
    <dgm:pt modelId="{472D804C-CB4D-443F-A874-6B45EB9C196C}" type="pres">
      <dgm:prSet presAssocID="{61452D87-C9DF-44C7-B063-64D5979AB32A}" presName="rootComposite1" presStyleCnt="0"/>
      <dgm:spPr/>
    </dgm:pt>
    <dgm:pt modelId="{59021F5E-4182-4EF8-8AEA-4E65512EA6F1}" type="pres">
      <dgm:prSet presAssocID="{61452D87-C9DF-44C7-B063-64D5979AB32A}" presName="rootText1" presStyleLbl="node0" presStyleIdx="1" presStyleCnt="2">
        <dgm:presLayoutVars>
          <dgm:chPref val="3"/>
        </dgm:presLayoutVars>
      </dgm:prSet>
      <dgm:spPr/>
    </dgm:pt>
    <dgm:pt modelId="{793A3D77-2F55-4F17-AFE3-300803864176}" type="pres">
      <dgm:prSet presAssocID="{61452D87-C9DF-44C7-B063-64D5979AB32A}" presName="rootConnector1" presStyleLbl="node1" presStyleIdx="0" presStyleCnt="0"/>
      <dgm:spPr/>
    </dgm:pt>
    <dgm:pt modelId="{DF098AC4-935D-46BB-ABA1-A066C2D05468}" type="pres">
      <dgm:prSet presAssocID="{61452D87-C9DF-44C7-B063-64D5979AB32A}" presName="hierChild2" presStyleCnt="0"/>
      <dgm:spPr/>
    </dgm:pt>
    <dgm:pt modelId="{C04DF0B5-9860-405D-84B5-05696B45DE39}" type="pres">
      <dgm:prSet presAssocID="{3766B023-1021-4041-B972-3B7F914C60CD}" presName="Name37" presStyleLbl="parChTrans1D2" presStyleIdx="2" presStyleCnt="3"/>
      <dgm:spPr/>
    </dgm:pt>
    <dgm:pt modelId="{10373C3D-726D-4E84-A651-C82A6406F141}" type="pres">
      <dgm:prSet presAssocID="{B75754F6-C1BB-4C19-A47E-16DB798CF1D8}" presName="hierRoot2" presStyleCnt="0">
        <dgm:presLayoutVars>
          <dgm:hierBranch val="init"/>
        </dgm:presLayoutVars>
      </dgm:prSet>
      <dgm:spPr/>
    </dgm:pt>
    <dgm:pt modelId="{AF82C96E-D88A-4EF4-A8AF-CAEEF4C9524E}" type="pres">
      <dgm:prSet presAssocID="{B75754F6-C1BB-4C19-A47E-16DB798CF1D8}" presName="rootComposite" presStyleCnt="0"/>
      <dgm:spPr/>
    </dgm:pt>
    <dgm:pt modelId="{8567A04A-4F24-4163-A8D2-21657BDFD826}" type="pres">
      <dgm:prSet presAssocID="{B75754F6-C1BB-4C19-A47E-16DB798CF1D8}" presName="rootText" presStyleLbl="node2" presStyleIdx="2" presStyleCnt="3">
        <dgm:presLayoutVars>
          <dgm:chPref val="3"/>
        </dgm:presLayoutVars>
      </dgm:prSet>
      <dgm:spPr/>
    </dgm:pt>
    <dgm:pt modelId="{F5661500-BC66-49C8-B92C-F081B052FB01}" type="pres">
      <dgm:prSet presAssocID="{B75754F6-C1BB-4C19-A47E-16DB798CF1D8}" presName="rootConnector" presStyleLbl="node2" presStyleIdx="2" presStyleCnt="3"/>
      <dgm:spPr/>
    </dgm:pt>
    <dgm:pt modelId="{0B7CE1AA-6A4A-4AFE-A458-23C0E4691023}" type="pres">
      <dgm:prSet presAssocID="{B75754F6-C1BB-4C19-A47E-16DB798CF1D8}" presName="hierChild4" presStyleCnt="0"/>
      <dgm:spPr/>
    </dgm:pt>
    <dgm:pt modelId="{0D225789-8AC3-4453-84A0-D80C5836B776}" type="pres">
      <dgm:prSet presAssocID="{B75754F6-C1BB-4C19-A47E-16DB798CF1D8}" presName="hierChild5" presStyleCnt="0"/>
      <dgm:spPr/>
    </dgm:pt>
    <dgm:pt modelId="{BC458717-264B-4F69-A03E-A43B08A05A98}" type="pres">
      <dgm:prSet presAssocID="{61452D87-C9DF-44C7-B063-64D5979AB32A}" presName="hierChild3" presStyleCnt="0"/>
      <dgm:spPr/>
    </dgm:pt>
  </dgm:ptLst>
  <dgm:cxnLst>
    <dgm:cxn modelId="{02009210-A2D6-4436-AF4C-22CAEF4E1C8F}" type="presOf" srcId="{71715283-19AE-46C0-B0A8-33AEB4BD93E0}" destId="{9ADECFCB-B6B0-4E37-A91B-B1297222F88C}" srcOrd="1" destOrd="0" presId="urn:microsoft.com/office/officeart/2005/8/layout/orgChart1"/>
    <dgm:cxn modelId="{3BA1FD18-7F51-441F-B381-949F018A8CDE}" type="presOf" srcId="{5DF6BB5C-391A-423E-8F08-654530DA7B2E}" destId="{42E16285-283C-44F3-817C-934C9DB0C31C}" srcOrd="0" destOrd="0" presId="urn:microsoft.com/office/officeart/2005/8/layout/orgChart1"/>
    <dgm:cxn modelId="{0CA23219-0629-434D-A2F6-E7E11EEFE5FC}" srcId="{24333396-9EC5-4B0B-933C-6B5666A73EA1}" destId="{71715283-19AE-46C0-B0A8-33AEB4BD93E0}" srcOrd="0" destOrd="0" parTransId="{517756A8-BC0B-475D-85CF-7C715FE597C5}" sibTransId="{30F0D438-53B6-49CB-94D8-F6EB25C549BB}"/>
    <dgm:cxn modelId="{F964BF25-471C-4BC1-A7C8-CCEEA73FCAFB}" type="presOf" srcId="{3766B023-1021-4041-B972-3B7F914C60CD}" destId="{C04DF0B5-9860-405D-84B5-05696B45DE39}" srcOrd="0" destOrd="0" presId="urn:microsoft.com/office/officeart/2005/8/layout/orgChart1"/>
    <dgm:cxn modelId="{1A6ED229-1858-43B5-AA28-FD69AEE82F3C}" type="presOf" srcId="{C16CA7CA-6E33-4B46-BD93-5389DABCB16C}" destId="{CAEE8934-A2F2-41D6-BF38-DD598B055DCF}" srcOrd="1" destOrd="0" presId="urn:microsoft.com/office/officeart/2005/8/layout/orgChart1"/>
    <dgm:cxn modelId="{0A32CF3D-FA19-497A-B3D0-166BD4239A85}" type="presOf" srcId="{61452D87-C9DF-44C7-B063-64D5979AB32A}" destId="{59021F5E-4182-4EF8-8AEA-4E65512EA6F1}" srcOrd="0" destOrd="0" presId="urn:microsoft.com/office/officeart/2005/8/layout/orgChart1"/>
    <dgm:cxn modelId="{EF093644-449A-489B-B960-2EB1ED4A641E}" type="presOf" srcId="{686B137C-FCCE-45CA-9B52-0FD7860F6FA2}" destId="{1A1D228C-17D9-4AD9-943D-E8953A76D2A3}" srcOrd="1" destOrd="0" presId="urn:microsoft.com/office/officeart/2005/8/layout/orgChart1"/>
    <dgm:cxn modelId="{66C67764-2BA1-450A-B5DB-3657374B7970}" type="presOf" srcId="{61452D87-C9DF-44C7-B063-64D5979AB32A}" destId="{793A3D77-2F55-4F17-AFE3-300803864176}" srcOrd="1" destOrd="0" presId="urn:microsoft.com/office/officeart/2005/8/layout/orgChart1"/>
    <dgm:cxn modelId="{95BDBB50-430D-42BF-9077-35B24298BF2E}" srcId="{24333396-9EC5-4B0B-933C-6B5666A73EA1}" destId="{61452D87-C9DF-44C7-B063-64D5979AB32A}" srcOrd="1" destOrd="0" parTransId="{70080259-9342-439D-A803-318010A4C851}" sibTransId="{0E6201B2-62C9-4C9B-9F2E-2CA95F49A047}"/>
    <dgm:cxn modelId="{D991AB78-077E-4EE0-9786-8013A878274B}" type="presOf" srcId="{24333396-9EC5-4B0B-933C-6B5666A73EA1}" destId="{F9806D09-7D14-4C6B-A68A-DD56BEC8CE50}" srcOrd="0" destOrd="0" presId="urn:microsoft.com/office/officeart/2005/8/layout/orgChart1"/>
    <dgm:cxn modelId="{7F1BCC7A-62F3-4329-9D8B-69BDED700987}" type="presOf" srcId="{C16CA7CA-6E33-4B46-BD93-5389DABCB16C}" destId="{5640236E-5D2E-4F1D-9E31-527338A5C018}" srcOrd="0" destOrd="0" presId="urn:microsoft.com/office/officeart/2005/8/layout/orgChart1"/>
    <dgm:cxn modelId="{40CB657F-4EB8-40CE-9722-5D9DEC89EDA2}" srcId="{71715283-19AE-46C0-B0A8-33AEB4BD93E0}" destId="{C16CA7CA-6E33-4B46-BD93-5389DABCB16C}" srcOrd="0" destOrd="0" parTransId="{1B6BBEAD-40C0-4882-8970-D904429BD170}" sibTransId="{7F58327A-3AA3-4BF0-9EEB-6A3251C98922}"/>
    <dgm:cxn modelId="{464B998C-DECE-461F-B840-7D0C8B96E2C6}" srcId="{71715283-19AE-46C0-B0A8-33AEB4BD93E0}" destId="{686B137C-FCCE-45CA-9B52-0FD7860F6FA2}" srcOrd="1" destOrd="0" parTransId="{5DF6BB5C-391A-423E-8F08-654530DA7B2E}" sibTransId="{B06F805D-22C3-426C-A3E4-98ECC44167FB}"/>
    <dgm:cxn modelId="{4BF14D8D-F90B-4C9F-BEA7-01DFCFFF08EF}" type="presOf" srcId="{686B137C-FCCE-45CA-9B52-0FD7860F6FA2}" destId="{4B92F9FB-2BC0-4C58-A5B7-99670C5043EC}" srcOrd="0" destOrd="0" presId="urn:microsoft.com/office/officeart/2005/8/layout/orgChart1"/>
    <dgm:cxn modelId="{70C22190-E8D7-43AA-9B46-E2EF1ADCE250}" type="presOf" srcId="{B75754F6-C1BB-4C19-A47E-16DB798CF1D8}" destId="{F5661500-BC66-49C8-B92C-F081B052FB01}" srcOrd="1" destOrd="0" presId="urn:microsoft.com/office/officeart/2005/8/layout/orgChart1"/>
    <dgm:cxn modelId="{E31EAFA1-F45C-4A2C-8DAB-9F01A17C3951}" type="presOf" srcId="{71715283-19AE-46C0-B0A8-33AEB4BD93E0}" destId="{1D57AF90-EB13-4DED-AE8D-45392311F6C0}" srcOrd="0" destOrd="0" presId="urn:microsoft.com/office/officeart/2005/8/layout/orgChart1"/>
    <dgm:cxn modelId="{D33A2DB4-A922-4DDD-84EE-AED136F771F4}" type="presOf" srcId="{1B6BBEAD-40C0-4882-8970-D904429BD170}" destId="{213E2AC9-3480-40EC-A40D-1499E8C0648F}" srcOrd="0" destOrd="0" presId="urn:microsoft.com/office/officeart/2005/8/layout/orgChart1"/>
    <dgm:cxn modelId="{D899B9B4-64E9-463F-B4B9-2ADC5EC642B7}" srcId="{61452D87-C9DF-44C7-B063-64D5979AB32A}" destId="{B75754F6-C1BB-4C19-A47E-16DB798CF1D8}" srcOrd="0" destOrd="0" parTransId="{3766B023-1021-4041-B972-3B7F914C60CD}" sibTransId="{A6C30FCF-9F26-4CCE-AE9A-B89F18E9F772}"/>
    <dgm:cxn modelId="{2E4DE5BA-355F-452B-8F5F-5A75144B2BE3}" type="presOf" srcId="{B75754F6-C1BB-4C19-A47E-16DB798CF1D8}" destId="{8567A04A-4F24-4163-A8D2-21657BDFD826}" srcOrd="0" destOrd="0" presId="urn:microsoft.com/office/officeart/2005/8/layout/orgChart1"/>
    <dgm:cxn modelId="{89DA75D3-B11B-4D5A-8284-D4C0A045CDBB}" type="presParOf" srcId="{F9806D09-7D14-4C6B-A68A-DD56BEC8CE50}" destId="{C2DA0284-153C-4C11-9EF7-3E5EF0CAD5D0}" srcOrd="0" destOrd="0" presId="urn:microsoft.com/office/officeart/2005/8/layout/orgChart1"/>
    <dgm:cxn modelId="{108C4293-3EE2-41DB-9F6C-CD7E1FE14035}" type="presParOf" srcId="{C2DA0284-153C-4C11-9EF7-3E5EF0CAD5D0}" destId="{8A72B565-9DC0-4EFE-B83D-319CBC97BD37}" srcOrd="0" destOrd="0" presId="urn:microsoft.com/office/officeart/2005/8/layout/orgChart1"/>
    <dgm:cxn modelId="{49E977B7-EA0D-4476-901B-333EB483467A}" type="presParOf" srcId="{8A72B565-9DC0-4EFE-B83D-319CBC97BD37}" destId="{1D57AF90-EB13-4DED-AE8D-45392311F6C0}" srcOrd="0" destOrd="0" presId="urn:microsoft.com/office/officeart/2005/8/layout/orgChart1"/>
    <dgm:cxn modelId="{A90A02D9-538E-4EAB-B22B-B1AC0BD018EB}" type="presParOf" srcId="{8A72B565-9DC0-4EFE-B83D-319CBC97BD37}" destId="{9ADECFCB-B6B0-4E37-A91B-B1297222F88C}" srcOrd="1" destOrd="0" presId="urn:microsoft.com/office/officeart/2005/8/layout/orgChart1"/>
    <dgm:cxn modelId="{8F048FE5-02A2-44F4-A5EA-0A12106E8EB3}" type="presParOf" srcId="{C2DA0284-153C-4C11-9EF7-3E5EF0CAD5D0}" destId="{FF77E32A-DDEF-4A73-90E0-089EFA7366AE}" srcOrd="1" destOrd="0" presId="urn:microsoft.com/office/officeart/2005/8/layout/orgChart1"/>
    <dgm:cxn modelId="{9792DD5B-416F-4D87-B1D9-4D09E1B5B921}" type="presParOf" srcId="{FF77E32A-DDEF-4A73-90E0-089EFA7366AE}" destId="{213E2AC9-3480-40EC-A40D-1499E8C0648F}" srcOrd="0" destOrd="0" presId="urn:microsoft.com/office/officeart/2005/8/layout/orgChart1"/>
    <dgm:cxn modelId="{F43EB887-4D3A-4BDC-91F8-188C84E260AB}" type="presParOf" srcId="{FF77E32A-DDEF-4A73-90E0-089EFA7366AE}" destId="{CF7CAE28-DF2E-4B03-B82A-344D9C26B14D}" srcOrd="1" destOrd="0" presId="urn:microsoft.com/office/officeart/2005/8/layout/orgChart1"/>
    <dgm:cxn modelId="{A12159DB-FD07-4CF8-A408-F5AFAE374E0D}" type="presParOf" srcId="{CF7CAE28-DF2E-4B03-B82A-344D9C26B14D}" destId="{1ED19231-5AB9-4D27-8942-40C16B64B444}" srcOrd="0" destOrd="0" presId="urn:microsoft.com/office/officeart/2005/8/layout/orgChart1"/>
    <dgm:cxn modelId="{E7B2CADC-7F0F-4739-B465-5F5E5353428D}" type="presParOf" srcId="{1ED19231-5AB9-4D27-8942-40C16B64B444}" destId="{5640236E-5D2E-4F1D-9E31-527338A5C018}" srcOrd="0" destOrd="0" presId="urn:microsoft.com/office/officeart/2005/8/layout/orgChart1"/>
    <dgm:cxn modelId="{4E62F37A-FA28-464B-B823-2C75E904E460}" type="presParOf" srcId="{1ED19231-5AB9-4D27-8942-40C16B64B444}" destId="{CAEE8934-A2F2-41D6-BF38-DD598B055DCF}" srcOrd="1" destOrd="0" presId="urn:microsoft.com/office/officeart/2005/8/layout/orgChart1"/>
    <dgm:cxn modelId="{C3B9BCF9-1E7C-4478-91D7-52DB05F4A25A}" type="presParOf" srcId="{CF7CAE28-DF2E-4B03-B82A-344D9C26B14D}" destId="{08864615-10A3-430E-9D5A-193C596DBD00}" srcOrd="1" destOrd="0" presId="urn:microsoft.com/office/officeart/2005/8/layout/orgChart1"/>
    <dgm:cxn modelId="{F9D0873D-3FDC-4229-BE2D-EB1EE4268FC2}" type="presParOf" srcId="{CF7CAE28-DF2E-4B03-B82A-344D9C26B14D}" destId="{DC4737D6-8291-412C-891F-31C3BAE671B0}" srcOrd="2" destOrd="0" presId="urn:microsoft.com/office/officeart/2005/8/layout/orgChart1"/>
    <dgm:cxn modelId="{4B2FF244-58FA-487A-9A0D-CBBA94BD9CFA}" type="presParOf" srcId="{FF77E32A-DDEF-4A73-90E0-089EFA7366AE}" destId="{42E16285-283C-44F3-817C-934C9DB0C31C}" srcOrd="2" destOrd="0" presId="urn:microsoft.com/office/officeart/2005/8/layout/orgChart1"/>
    <dgm:cxn modelId="{497A53DB-028F-4FF3-A7C2-0EBDA3E918B1}" type="presParOf" srcId="{FF77E32A-DDEF-4A73-90E0-089EFA7366AE}" destId="{F1A038C3-F4A2-4E43-8F11-BDCC76E63615}" srcOrd="3" destOrd="0" presId="urn:microsoft.com/office/officeart/2005/8/layout/orgChart1"/>
    <dgm:cxn modelId="{09BF405F-FDA5-4026-BB14-B88CBF7FE3FE}" type="presParOf" srcId="{F1A038C3-F4A2-4E43-8F11-BDCC76E63615}" destId="{FFC22841-1B80-4ECF-98BC-FEA55BB98BC2}" srcOrd="0" destOrd="0" presId="urn:microsoft.com/office/officeart/2005/8/layout/orgChart1"/>
    <dgm:cxn modelId="{2C4D704F-0486-426B-8BA9-ADA09C4D8D33}" type="presParOf" srcId="{FFC22841-1B80-4ECF-98BC-FEA55BB98BC2}" destId="{4B92F9FB-2BC0-4C58-A5B7-99670C5043EC}" srcOrd="0" destOrd="0" presId="urn:microsoft.com/office/officeart/2005/8/layout/orgChart1"/>
    <dgm:cxn modelId="{E23031F7-95DF-4034-885B-52446DDC0CD8}" type="presParOf" srcId="{FFC22841-1B80-4ECF-98BC-FEA55BB98BC2}" destId="{1A1D228C-17D9-4AD9-943D-E8953A76D2A3}" srcOrd="1" destOrd="0" presId="urn:microsoft.com/office/officeart/2005/8/layout/orgChart1"/>
    <dgm:cxn modelId="{14F27A09-7E52-48BA-A45D-F828EF994561}" type="presParOf" srcId="{F1A038C3-F4A2-4E43-8F11-BDCC76E63615}" destId="{A74CCC25-9DF1-41EE-9860-F914476E8ECF}" srcOrd="1" destOrd="0" presId="urn:microsoft.com/office/officeart/2005/8/layout/orgChart1"/>
    <dgm:cxn modelId="{7C649EB8-14AC-46A5-ABC4-71915F930444}" type="presParOf" srcId="{F1A038C3-F4A2-4E43-8F11-BDCC76E63615}" destId="{8D81BB93-D3CF-4525-9EFA-D32E3FE3A37A}" srcOrd="2" destOrd="0" presId="urn:microsoft.com/office/officeart/2005/8/layout/orgChart1"/>
    <dgm:cxn modelId="{E6454551-2D4A-4F22-B40A-1BD87A20EDAE}" type="presParOf" srcId="{C2DA0284-153C-4C11-9EF7-3E5EF0CAD5D0}" destId="{3FB67AB9-BBB0-4DCC-B2D2-2578D0CA53BC}" srcOrd="2" destOrd="0" presId="urn:microsoft.com/office/officeart/2005/8/layout/orgChart1"/>
    <dgm:cxn modelId="{4D62A94D-22D2-477F-B262-FA770B4A52DD}" type="presParOf" srcId="{F9806D09-7D14-4C6B-A68A-DD56BEC8CE50}" destId="{EB9C9C72-42BB-48D4-95D2-3215BDC8210A}" srcOrd="1" destOrd="0" presId="urn:microsoft.com/office/officeart/2005/8/layout/orgChart1"/>
    <dgm:cxn modelId="{27C6D1DC-5BF3-4AA3-9C7E-654BB4209569}" type="presParOf" srcId="{EB9C9C72-42BB-48D4-95D2-3215BDC8210A}" destId="{472D804C-CB4D-443F-A874-6B45EB9C196C}" srcOrd="0" destOrd="0" presId="urn:microsoft.com/office/officeart/2005/8/layout/orgChart1"/>
    <dgm:cxn modelId="{0311EE99-829B-4CED-8E68-7D8E9621439C}" type="presParOf" srcId="{472D804C-CB4D-443F-A874-6B45EB9C196C}" destId="{59021F5E-4182-4EF8-8AEA-4E65512EA6F1}" srcOrd="0" destOrd="0" presId="urn:microsoft.com/office/officeart/2005/8/layout/orgChart1"/>
    <dgm:cxn modelId="{0DD2B17F-3129-4837-9106-360BA596219A}" type="presParOf" srcId="{472D804C-CB4D-443F-A874-6B45EB9C196C}" destId="{793A3D77-2F55-4F17-AFE3-300803864176}" srcOrd="1" destOrd="0" presId="urn:microsoft.com/office/officeart/2005/8/layout/orgChart1"/>
    <dgm:cxn modelId="{9D365625-692F-4D4C-A08F-3F0F065B4E83}" type="presParOf" srcId="{EB9C9C72-42BB-48D4-95D2-3215BDC8210A}" destId="{DF098AC4-935D-46BB-ABA1-A066C2D05468}" srcOrd="1" destOrd="0" presId="urn:microsoft.com/office/officeart/2005/8/layout/orgChart1"/>
    <dgm:cxn modelId="{C5A15A46-D3B2-400A-9EB8-55D8E8B383F7}" type="presParOf" srcId="{DF098AC4-935D-46BB-ABA1-A066C2D05468}" destId="{C04DF0B5-9860-405D-84B5-05696B45DE39}" srcOrd="0" destOrd="0" presId="urn:microsoft.com/office/officeart/2005/8/layout/orgChart1"/>
    <dgm:cxn modelId="{6F10D74B-E684-401C-8F2C-76E1716F3F51}" type="presParOf" srcId="{DF098AC4-935D-46BB-ABA1-A066C2D05468}" destId="{10373C3D-726D-4E84-A651-C82A6406F141}" srcOrd="1" destOrd="0" presId="urn:microsoft.com/office/officeart/2005/8/layout/orgChart1"/>
    <dgm:cxn modelId="{73286F17-7422-458A-986E-A0EFA8625B63}" type="presParOf" srcId="{10373C3D-726D-4E84-A651-C82A6406F141}" destId="{AF82C96E-D88A-4EF4-A8AF-CAEEF4C9524E}" srcOrd="0" destOrd="0" presId="urn:microsoft.com/office/officeart/2005/8/layout/orgChart1"/>
    <dgm:cxn modelId="{56DC9B6B-8FF3-444F-8A82-22EDA99DA692}" type="presParOf" srcId="{AF82C96E-D88A-4EF4-A8AF-CAEEF4C9524E}" destId="{8567A04A-4F24-4163-A8D2-21657BDFD826}" srcOrd="0" destOrd="0" presId="urn:microsoft.com/office/officeart/2005/8/layout/orgChart1"/>
    <dgm:cxn modelId="{B707F7DA-6C1C-4953-9F16-07F9D1A1F8DD}" type="presParOf" srcId="{AF82C96E-D88A-4EF4-A8AF-CAEEF4C9524E}" destId="{F5661500-BC66-49C8-B92C-F081B052FB01}" srcOrd="1" destOrd="0" presId="urn:microsoft.com/office/officeart/2005/8/layout/orgChart1"/>
    <dgm:cxn modelId="{48162495-CEDD-4AA6-B01E-A2DE094E766C}" type="presParOf" srcId="{10373C3D-726D-4E84-A651-C82A6406F141}" destId="{0B7CE1AA-6A4A-4AFE-A458-23C0E4691023}" srcOrd="1" destOrd="0" presId="urn:microsoft.com/office/officeart/2005/8/layout/orgChart1"/>
    <dgm:cxn modelId="{A913835B-F54F-4A22-8F52-A1DBE953D370}" type="presParOf" srcId="{10373C3D-726D-4E84-A651-C82A6406F141}" destId="{0D225789-8AC3-4453-84A0-D80C5836B776}" srcOrd="2" destOrd="0" presId="urn:microsoft.com/office/officeart/2005/8/layout/orgChart1"/>
    <dgm:cxn modelId="{334DE805-790E-499A-9AE5-F1F04B68BBCF}" type="presParOf" srcId="{EB9C9C72-42BB-48D4-95D2-3215BDC8210A}" destId="{BC458717-264B-4F69-A03E-A43B08A05A9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AC2781-F7B4-4E40-91DC-BFD41A9BFD70}"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IN"/>
        </a:p>
      </dgm:t>
    </dgm:pt>
    <dgm:pt modelId="{01DD893F-7316-4CAD-B61F-AA5661004DCE}">
      <dgm:prSet custT="1"/>
      <dgm:spPr/>
      <dgm:t>
        <a:bodyPr/>
        <a:lstStyle/>
        <a:p>
          <a:r>
            <a:rPr lang="en-US" sz="2800" dirty="0">
              <a:solidFill>
                <a:schemeClr val="tx1"/>
              </a:solidFill>
            </a:rPr>
            <a:t>Location of supplier and Place of supply are in</a:t>
          </a:r>
          <a:endParaRPr lang="en-IN" sz="2800" dirty="0">
            <a:solidFill>
              <a:schemeClr val="tx1"/>
            </a:solidFill>
          </a:endParaRPr>
        </a:p>
      </dgm:t>
    </dgm:pt>
    <dgm:pt modelId="{CCE7409D-A0F0-4110-873D-80994D685C0D}" type="parTrans" cxnId="{53CE8BAD-D136-4CA9-B3E0-082750568030}">
      <dgm:prSet/>
      <dgm:spPr/>
      <dgm:t>
        <a:bodyPr/>
        <a:lstStyle/>
        <a:p>
          <a:endParaRPr lang="en-IN" sz="2800">
            <a:solidFill>
              <a:schemeClr val="tx1"/>
            </a:solidFill>
          </a:endParaRPr>
        </a:p>
      </dgm:t>
    </dgm:pt>
    <dgm:pt modelId="{1E40E5F0-22B0-4250-B53B-7500A539AE97}" type="sibTrans" cxnId="{53CE8BAD-D136-4CA9-B3E0-082750568030}">
      <dgm:prSet/>
      <dgm:spPr/>
      <dgm:t>
        <a:bodyPr/>
        <a:lstStyle/>
        <a:p>
          <a:endParaRPr lang="en-IN" sz="2800">
            <a:solidFill>
              <a:schemeClr val="tx1"/>
            </a:solidFill>
          </a:endParaRPr>
        </a:p>
      </dgm:t>
    </dgm:pt>
    <dgm:pt modelId="{80F210C7-DFD6-475B-B896-ABE4D61C2C2D}">
      <dgm:prSet custT="1"/>
      <dgm:spPr>
        <a:solidFill>
          <a:schemeClr val="tx2">
            <a:lumMod val="60000"/>
            <a:lumOff val="40000"/>
          </a:schemeClr>
        </a:solidFill>
      </dgm:spPr>
      <dgm:t>
        <a:bodyPr/>
        <a:lstStyle/>
        <a:p>
          <a:r>
            <a:rPr lang="en-US" sz="2800" dirty="0">
              <a:solidFill>
                <a:schemeClr val="tx1"/>
              </a:solidFill>
            </a:rPr>
            <a:t>Same state</a:t>
          </a:r>
          <a:endParaRPr lang="en-IN" sz="2800" dirty="0">
            <a:solidFill>
              <a:schemeClr val="tx1"/>
            </a:solidFill>
          </a:endParaRPr>
        </a:p>
      </dgm:t>
    </dgm:pt>
    <dgm:pt modelId="{5766C0A9-4C43-4BD5-8DAA-F2F1B82034E5}" type="parTrans" cxnId="{1EACFC30-5D76-405D-B02C-7E729B4FC2D8}">
      <dgm:prSet/>
      <dgm:spPr/>
      <dgm:t>
        <a:bodyPr/>
        <a:lstStyle/>
        <a:p>
          <a:endParaRPr lang="en-IN" sz="2800">
            <a:solidFill>
              <a:schemeClr val="tx1"/>
            </a:solidFill>
          </a:endParaRPr>
        </a:p>
      </dgm:t>
    </dgm:pt>
    <dgm:pt modelId="{7A9C6073-26C2-4904-921F-39C99A608675}" type="sibTrans" cxnId="{1EACFC30-5D76-405D-B02C-7E729B4FC2D8}">
      <dgm:prSet/>
      <dgm:spPr/>
      <dgm:t>
        <a:bodyPr/>
        <a:lstStyle/>
        <a:p>
          <a:endParaRPr lang="en-IN" sz="2800">
            <a:solidFill>
              <a:schemeClr val="tx1"/>
            </a:solidFill>
          </a:endParaRPr>
        </a:p>
      </dgm:t>
    </dgm:pt>
    <dgm:pt modelId="{01F4BC12-9591-4502-A2C6-519F8988D125}">
      <dgm:prSet custT="1"/>
      <dgm:spPr>
        <a:solidFill>
          <a:schemeClr val="tx2">
            <a:lumMod val="60000"/>
            <a:lumOff val="40000"/>
          </a:schemeClr>
        </a:solidFill>
      </dgm:spPr>
      <dgm:t>
        <a:bodyPr/>
        <a:lstStyle/>
        <a:p>
          <a:r>
            <a:rPr lang="en-US" sz="2800">
              <a:solidFill>
                <a:schemeClr val="tx1"/>
              </a:solidFill>
            </a:rPr>
            <a:t>Same union territory </a:t>
          </a:r>
          <a:endParaRPr lang="en-IN" sz="2800">
            <a:solidFill>
              <a:schemeClr val="tx1"/>
            </a:solidFill>
          </a:endParaRPr>
        </a:p>
      </dgm:t>
    </dgm:pt>
    <dgm:pt modelId="{1B01CEEF-FC38-43F3-8028-BD0ACBF20FE6}" type="parTrans" cxnId="{B849EB15-FB9F-4D1B-B086-970576B3561B}">
      <dgm:prSet/>
      <dgm:spPr/>
      <dgm:t>
        <a:bodyPr/>
        <a:lstStyle/>
        <a:p>
          <a:endParaRPr lang="en-IN" sz="2800">
            <a:solidFill>
              <a:schemeClr val="tx1"/>
            </a:solidFill>
          </a:endParaRPr>
        </a:p>
      </dgm:t>
    </dgm:pt>
    <dgm:pt modelId="{6F7E1037-7F2B-4F78-8BFB-8A36498688D2}" type="sibTrans" cxnId="{B849EB15-FB9F-4D1B-B086-970576B3561B}">
      <dgm:prSet/>
      <dgm:spPr/>
      <dgm:t>
        <a:bodyPr/>
        <a:lstStyle/>
        <a:p>
          <a:endParaRPr lang="en-IN" sz="2800">
            <a:solidFill>
              <a:schemeClr val="tx1"/>
            </a:solidFill>
          </a:endParaRPr>
        </a:p>
      </dgm:t>
    </dgm:pt>
    <dgm:pt modelId="{7D22B4D8-0EAB-476A-92B1-414912E8969D}">
      <dgm:prSet custT="1"/>
      <dgm:spPr/>
      <dgm:t>
        <a:bodyPr/>
        <a:lstStyle/>
        <a:p>
          <a:r>
            <a:rPr lang="en-US" sz="2800" dirty="0">
              <a:solidFill>
                <a:schemeClr val="tx1"/>
              </a:solidFill>
            </a:rPr>
            <a:t>Location of supplier and Place of supply are in</a:t>
          </a:r>
          <a:endParaRPr lang="en-IN" sz="2800" dirty="0">
            <a:solidFill>
              <a:schemeClr val="tx1"/>
            </a:solidFill>
          </a:endParaRPr>
        </a:p>
      </dgm:t>
    </dgm:pt>
    <dgm:pt modelId="{4F55BE01-3E43-47D7-9DEA-A41C035F1970}" type="parTrans" cxnId="{94B64784-0FEA-40F8-A700-22D7E87A71F8}">
      <dgm:prSet/>
      <dgm:spPr/>
      <dgm:t>
        <a:bodyPr/>
        <a:lstStyle/>
        <a:p>
          <a:endParaRPr lang="en-IN" sz="2800">
            <a:solidFill>
              <a:schemeClr val="tx1"/>
            </a:solidFill>
          </a:endParaRPr>
        </a:p>
      </dgm:t>
    </dgm:pt>
    <dgm:pt modelId="{F48AA5AD-2326-45BF-AB0F-610CC5F4B193}" type="sibTrans" cxnId="{94B64784-0FEA-40F8-A700-22D7E87A71F8}">
      <dgm:prSet/>
      <dgm:spPr/>
      <dgm:t>
        <a:bodyPr/>
        <a:lstStyle/>
        <a:p>
          <a:endParaRPr lang="en-IN" sz="2800">
            <a:solidFill>
              <a:schemeClr val="tx1"/>
            </a:solidFill>
          </a:endParaRPr>
        </a:p>
      </dgm:t>
    </dgm:pt>
    <dgm:pt modelId="{0C0AF577-DF46-4D36-8C61-AC8ED0D07A46}">
      <dgm:prSet custT="1"/>
      <dgm:spPr>
        <a:solidFill>
          <a:schemeClr val="tx2">
            <a:lumMod val="60000"/>
            <a:lumOff val="40000"/>
          </a:schemeClr>
        </a:solidFill>
      </dgm:spPr>
      <dgm:t>
        <a:bodyPr/>
        <a:lstStyle/>
        <a:p>
          <a:r>
            <a:rPr lang="en-US" sz="2800" dirty="0">
              <a:solidFill>
                <a:schemeClr val="tx1"/>
              </a:solidFill>
            </a:rPr>
            <a:t>Two different states</a:t>
          </a:r>
          <a:endParaRPr lang="en-IN" sz="2800" dirty="0">
            <a:solidFill>
              <a:schemeClr val="tx1"/>
            </a:solidFill>
          </a:endParaRPr>
        </a:p>
      </dgm:t>
    </dgm:pt>
    <dgm:pt modelId="{E8276F3C-B929-49BB-9CC7-F38E61B3E2CE}" type="parTrans" cxnId="{C8B3E15C-365E-4469-93A3-A64B22240158}">
      <dgm:prSet/>
      <dgm:spPr/>
      <dgm:t>
        <a:bodyPr/>
        <a:lstStyle/>
        <a:p>
          <a:endParaRPr lang="en-IN" sz="2800">
            <a:solidFill>
              <a:schemeClr val="tx1"/>
            </a:solidFill>
          </a:endParaRPr>
        </a:p>
      </dgm:t>
    </dgm:pt>
    <dgm:pt modelId="{3872E010-553E-49F4-8F6D-CC33FAC8D135}" type="sibTrans" cxnId="{C8B3E15C-365E-4469-93A3-A64B22240158}">
      <dgm:prSet/>
      <dgm:spPr/>
      <dgm:t>
        <a:bodyPr/>
        <a:lstStyle/>
        <a:p>
          <a:endParaRPr lang="en-IN" sz="2800">
            <a:solidFill>
              <a:schemeClr val="tx1"/>
            </a:solidFill>
          </a:endParaRPr>
        </a:p>
      </dgm:t>
    </dgm:pt>
    <dgm:pt modelId="{5898F752-94F7-46E1-A25D-C2A966B4035B}">
      <dgm:prSet custT="1"/>
      <dgm:spPr>
        <a:solidFill>
          <a:schemeClr val="tx2">
            <a:lumMod val="60000"/>
            <a:lumOff val="40000"/>
          </a:schemeClr>
        </a:solidFill>
      </dgm:spPr>
      <dgm:t>
        <a:bodyPr/>
        <a:lstStyle/>
        <a:p>
          <a:r>
            <a:rPr lang="en-US" sz="2800" dirty="0">
              <a:solidFill>
                <a:schemeClr val="tx1"/>
              </a:solidFill>
            </a:rPr>
            <a:t>Two different union territories</a:t>
          </a:r>
          <a:endParaRPr lang="en-IN" sz="2800" dirty="0">
            <a:solidFill>
              <a:schemeClr val="tx1"/>
            </a:solidFill>
          </a:endParaRPr>
        </a:p>
      </dgm:t>
    </dgm:pt>
    <dgm:pt modelId="{584E5BD4-6730-4DBA-890B-3D5F6E427C6F}" type="parTrans" cxnId="{7862922C-6E62-4D93-BFF5-AB9DAE3F405C}">
      <dgm:prSet/>
      <dgm:spPr/>
      <dgm:t>
        <a:bodyPr/>
        <a:lstStyle/>
        <a:p>
          <a:endParaRPr lang="en-IN" sz="2800">
            <a:solidFill>
              <a:schemeClr val="tx1"/>
            </a:solidFill>
          </a:endParaRPr>
        </a:p>
      </dgm:t>
    </dgm:pt>
    <dgm:pt modelId="{67719214-5A05-4559-B879-DF411E844F89}" type="sibTrans" cxnId="{7862922C-6E62-4D93-BFF5-AB9DAE3F405C}">
      <dgm:prSet/>
      <dgm:spPr/>
      <dgm:t>
        <a:bodyPr/>
        <a:lstStyle/>
        <a:p>
          <a:endParaRPr lang="en-IN" sz="2800">
            <a:solidFill>
              <a:schemeClr val="tx1"/>
            </a:solidFill>
          </a:endParaRPr>
        </a:p>
      </dgm:t>
    </dgm:pt>
    <dgm:pt modelId="{CBED7B4A-75D1-4CBE-92EB-BE8BF07CC522}">
      <dgm:prSet custT="1"/>
      <dgm:spPr>
        <a:solidFill>
          <a:schemeClr val="tx2">
            <a:lumMod val="60000"/>
            <a:lumOff val="40000"/>
          </a:schemeClr>
        </a:solidFill>
      </dgm:spPr>
      <dgm:t>
        <a:bodyPr/>
        <a:lstStyle/>
        <a:p>
          <a:r>
            <a:rPr lang="en-US" sz="2800" dirty="0">
              <a:solidFill>
                <a:schemeClr val="tx1"/>
              </a:solidFill>
            </a:rPr>
            <a:t>A state and a union territory </a:t>
          </a:r>
          <a:endParaRPr lang="en-IN" sz="2800" dirty="0">
            <a:solidFill>
              <a:schemeClr val="tx1"/>
            </a:solidFill>
          </a:endParaRPr>
        </a:p>
      </dgm:t>
    </dgm:pt>
    <dgm:pt modelId="{C10C9B1E-1222-4B60-A679-2219FE083950}" type="parTrans" cxnId="{36C8F878-6C75-4182-9D99-C207CA7DF9FF}">
      <dgm:prSet/>
      <dgm:spPr/>
      <dgm:t>
        <a:bodyPr/>
        <a:lstStyle/>
        <a:p>
          <a:endParaRPr lang="en-IN" sz="2800">
            <a:solidFill>
              <a:schemeClr val="tx1"/>
            </a:solidFill>
          </a:endParaRPr>
        </a:p>
      </dgm:t>
    </dgm:pt>
    <dgm:pt modelId="{A845CCDC-D27F-4656-8D70-4BDB789872B2}" type="sibTrans" cxnId="{36C8F878-6C75-4182-9D99-C207CA7DF9FF}">
      <dgm:prSet/>
      <dgm:spPr/>
      <dgm:t>
        <a:bodyPr/>
        <a:lstStyle/>
        <a:p>
          <a:endParaRPr lang="en-IN" sz="2800">
            <a:solidFill>
              <a:schemeClr val="tx1"/>
            </a:solidFill>
          </a:endParaRPr>
        </a:p>
      </dgm:t>
    </dgm:pt>
    <dgm:pt modelId="{71445C2A-9F4F-437F-B06E-CACF9B968539}">
      <dgm:prSet custT="1"/>
      <dgm:spPr>
        <a:solidFill>
          <a:schemeClr val="accent2">
            <a:lumMod val="60000"/>
            <a:lumOff val="40000"/>
          </a:schemeClr>
        </a:solidFill>
      </dgm:spPr>
      <dgm:t>
        <a:bodyPr/>
        <a:lstStyle/>
        <a:p>
          <a:r>
            <a:rPr lang="en-IN" sz="2800" dirty="0">
              <a:solidFill>
                <a:schemeClr val="tx1"/>
              </a:solidFill>
            </a:rPr>
            <a:t>Inter-state supply</a:t>
          </a:r>
        </a:p>
      </dgm:t>
    </dgm:pt>
    <dgm:pt modelId="{9C1E410A-47C3-481F-A0EC-711A1B01C09B}" type="parTrans" cxnId="{ED2E56BE-00B2-4E82-B33F-B91CA4F622DA}">
      <dgm:prSet/>
      <dgm:spPr/>
      <dgm:t>
        <a:bodyPr/>
        <a:lstStyle/>
        <a:p>
          <a:endParaRPr lang="en-IN" sz="2800">
            <a:solidFill>
              <a:schemeClr val="tx1"/>
            </a:solidFill>
          </a:endParaRPr>
        </a:p>
      </dgm:t>
    </dgm:pt>
    <dgm:pt modelId="{2A567D95-640B-4476-847A-EB7D94CEFC44}" type="sibTrans" cxnId="{ED2E56BE-00B2-4E82-B33F-B91CA4F622DA}">
      <dgm:prSet/>
      <dgm:spPr/>
      <dgm:t>
        <a:bodyPr/>
        <a:lstStyle/>
        <a:p>
          <a:endParaRPr lang="en-IN" sz="2800">
            <a:solidFill>
              <a:schemeClr val="tx1"/>
            </a:solidFill>
          </a:endParaRPr>
        </a:p>
      </dgm:t>
    </dgm:pt>
    <dgm:pt modelId="{609A1334-3922-45CB-97E7-BB1E4731A93D}">
      <dgm:prSet custT="1"/>
      <dgm:spPr>
        <a:solidFill>
          <a:schemeClr val="accent2">
            <a:lumMod val="60000"/>
            <a:lumOff val="40000"/>
          </a:schemeClr>
        </a:solidFill>
      </dgm:spPr>
      <dgm:t>
        <a:bodyPr/>
        <a:lstStyle/>
        <a:p>
          <a:r>
            <a:rPr lang="en-US" sz="2800" dirty="0">
              <a:solidFill>
                <a:schemeClr val="tx1"/>
              </a:solidFill>
            </a:rPr>
            <a:t>Intra-state supply</a:t>
          </a:r>
          <a:endParaRPr lang="en-IN" sz="2800" dirty="0">
            <a:solidFill>
              <a:schemeClr val="tx1"/>
            </a:solidFill>
          </a:endParaRPr>
        </a:p>
      </dgm:t>
    </dgm:pt>
    <dgm:pt modelId="{31CF63BB-747E-4897-AC2F-7DFFAAE7875A}" type="sibTrans" cxnId="{51393311-5CF4-4043-A602-1D5B6AD43FE5}">
      <dgm:prSet/>
      <dgm:spPr/>
      <dgm:t>
        <a:bodyPr/>
        <a:lstStyle/>
        <a:p>
          <a:endParaRPr lang="en-IN" sz="2800">
            <a:solidFill>
              <a:schemeClr val="tx1"/>
            </a:solidFill>
          </a:endParaRPr>
        </a:p>
      </dgm:t>
    </dgm:pt>
    <dgm:pt modelId="{24783A21-51FC-483E-AC54-CBA77043ED23}" type="parTrans" cxnId="{51393311-5CF4-4043-A602-1D5B6AD43FE5}">
      <dgm:prSet/>
      <dgm:spPr/>
      <dgm:t>
        <a:bodyPr/>
        <a:lstStyle/>
        <a:p>
          <a:endParaRPr lang="en-IN" sz="2800">
            <a:solidFill>
              <a:schemeClr val="tx1"/>
            </a:solidFill>
          </a:endParaRPr>
        </a:p>
      </dgm:t>
    </dgm:pt>
    <dgm:pt modelId="{92CE278B-F89B-4521-9FA3-F2B147950119}">
      <dgm:prSet custT="1"/>
      <dgm:spPr>
        <a:solidFill>
          <a:schemeClr val="accent2">
            <a:lumMod val="60000"/>
            <a:lumOff val="40000"/>
          </a:schemeClr>
        </a:solidFill>
      </dgm:spPr>
      <dgm:t>
        <a:bodyPr/>
        <a:lstStyle/>
        <a:p>
          <a:r>
            <a:rPr lang="en-US" sz="2800">
              <a:solidFill>
                <a:schemeClr val="tx1"/>
              </a:solidFill>
            </a:rPr>
            <a:t>Intra-state supply</a:t>
          </a:r>
          <a:endParaRPr lang="en-IN" sz="2800" dirty="0">
            <a:solidFill>
              <a:schemeClr val="tx1"/>
            </a:solidFill>
          </a:endParaRPr>
        </a:p>
      </dgm:t>
    </dgm:pt>
    <dgm:pt modelId="{983F7B96-640E-4E57-96AC-FC0369A19AD8}" type="parTrans" cxnId="{C5FE4FE2-823C-43D4-B1E2-88878DF6046D}">
      <dgm:prSet/>
      <dgm:spPr/>
      <dgm:t>
        <a:bodyPr/>
        <a:lstStyle/>
        <a:p>
          <a:endParaRPr lang="en-IN"/>
        </a:p>
      </dgm:t>
    </dgm:pt>
    <dgm:pt modelId="{E7E2E26A-EBE9-408A-A680-A435F936346F}" type="sibTrans" cxnId="{C5FE4FE2-823C-43D4-B1E2-88878DF6046D}">
      <dgm:prSet/>
      <dgm:spPr/>
      <dgm:t>
        <a:bodyPr/>
        <a:lstStyle/>
        <a:p>
          <a:endParaRPr lang="en-IN"/>
        </a:p>
      </dgm:t>
    </dgm:pt>
    <dgm:pt modelId="{586EF143-630B-4535-B263-8A4108A2E616}">
      <dgm:prSet custT="1"/>
      <dgm:spPr>
        <a:solidFill>
          <a:schemeClr val="accent2">
            <a:lumMod val="60000"/>
            <a:lumOff val="40000"/>
          </a:schemeClr>
        </a:solidFill>
      </dgm:spPr>
      <dgm:t>
        <a:bodyPr/>
        <a:lstStyle/>
        <a:p>
          <a:r>
            <a:rPr lang="en-IN" sz="2800">
              <a:solidFill>
                <a:schemeClr val="tx1"/>
              </a:solidFill>
            </a:rPr>
            <a:t>Inter-state supply</a:t>
          </a:r>
          <a:endParaRPr lang="en-IN" sz="2800" dirty="0">
            <a:solidFill>
              <a:schemeClr val="tx1"/>
            </a:solidFill>
          </a:endParaRPr>
        </a:p>
      </dgm:t>
    </dgm:pt>
    <dgm:pt modelId="{34EFD06D-DD7F-4144-AA31-88984B58E5FC}" type="parTrans" cxnId="{8BEDA7A0-E2FF-473F-BD9A-F3EB87591B64}">
      <dgm:prSet/>
      <dgm:spPr/>
      <dgm:t>
        <a:bodyPr/>
        <a:lstStyle/>
        <a:p>
          <a:endParaRPr lang="en-IN"/>
        </a:p>
      </dgm:t>
    </dgm:pt>
    <dgm:pt modelId="{07C39B37-A958-4D1A-8666-017B5AF3D4FB}" type="sibTrans" cxnId="{8BEDA7A0-E2FF-473F-BD9A-F3EB87591B64}">
      <dgm:prSet/>
      <dgm:spPr/>
      <dgm:t>
        <a:bodyPr/>
        <a:lstStyle/>
        <a:p>
          <a:endParaRPr lang="en-IN"/>
        </a:p>
      </dgm:t>
    </dgm:pt>
    <dgm:pt modelId="{70F71656-F65A-4E62-9C7B-C6BC255DAE2F}">
      <dgm:prSet custT="1"/>
      <dgm:spPr>
        <a:solidFill>
          <a:schemeClr val="accent2">
            <a:lumMod val="60000"/>
            <a:lumOff val="40000"/>
          </a:schemeClr>
        </a:solidFill>
      </dgm:spPr>
      <dgm:t>
        <a:bodyPr/>
        <a:lstStyle/>
        <a:p>
          <a:r>
            <a:rPr lang="en-IN" sz="2800">
              <a:solidFill>
                <a:schemeClr val="tx1"/>
              </a:solidFill>
            </a:rPr>
            <a:t>Inter-state supply</a:t>
          </a:r>
          <a:endParaRPr lang="en-IN" sz="2800" dirty="0">
            <a:solidFill>
              <a:schemeClr val="tx1"/>
            </a:solidFill>
          </a:endParaRPr>
        </a:p>
      </dgm:t>
    </dgm:pt>
    <dgm:pt modelId="{D39E4DBA-25CF-46D2-93F2-02A28A658B9A}" type="parTrans" cxnId="{24C9ED54-C389-406E-B022-30FECB27C168}">
      <dgm:prSet/>
      <dgm:spPr/>
      <dgm:t>
        <a:bodyPr/>
        <a:lstStyle/>
        <a:p>
          <a:endParaRPr lang="en-IN"/>
        </a:p>
      </dgm:t>
    </dgm:pt>
    <dgm:pt modelId="{87D1A7F4-75B6-4EFA-8C3E-750B5C39BEDD}" type="sibTrans" cxnId="{24C9ED54-C389-406E-B022-30FECB27C168}">
      <dgm:prSet/>
      <dgm:spPr/>
      <dgm:t>
        <a:bodyPr/>
        <a:lstStyle/>
        <a:p>
          <a:endParaRPr lang="en-IN"/>
        </a:p>
      </dgm:t>
    </dgm:pt>
    <dgm:pt modelId="{A47B659C-B439-4638-84CE-794AF9031F39}" type="pres">
      <dgm:prSet presAssocID="{44AC2781-F7B4-4E40-91DC-BFD41A9BFD70}" presName="hierChild1" presStyleCnt="0">
        <dgm:presLayoutVars>
          <dgm:orgChart val="1"/>
          <dgm:chPref val="1"/>
          <dgm:dir/>
          <dgm:animOne val="branch"/>
          <dgm:animLvl val="lvl"/>
          <dgm:resizeHandles/>
        </dgm:presLayoutVars>
      </dgm:prSet>
      <dgm:spPr/>
    </dgm:pt>
    <dgm:pt modelId="{305B0F3D-8708-4F03-AD9F-F1A1BF3980FF}" type="pres">
      <dgm:prSet presAssocID="{01DD893F-7316-4CAD-B61F-AA5661004DCE}" presName="hierRoot1" presStyleCnt="0">
        <dgm:presLayoutVars>
          <dgm:hierBranch val="init"/>
        </dgm:presLayoutVars>
      </dgm:prSet>
      <dgm:spPr/>
    </dgm:pt>
    <dgm:pt modelId="{28F2B630-40BC-4A82-BC14-31DA2A97CC5A}" type="pres">
      <dgm:prSet presAssocID="{01DD893F-7316-4CAD-B61F-AA5661004DCE}" presName="rootComposite1" presStyleCnt="0"/>
      <dgm:spPr/>
    </dgm:pt>
    <dgm:pt modelId="{845C4C29-67CC-437A-BA2E-414E87013FDD}" type="pres">
      <dgm:prSet presAssocID="{01DD893F-7316-4CAD-B61F-AA5661004DCE}" presName="rootText1" presStyleLbl="node0" presStyleIdx="0" presStyleCnt="2" custScaleX="153305" custScaleY="143063">
        <dgm:presLayoutVars>
          <dgm:chPref val="3"/>
        </dgm:presLayoutVars>
      </dgm:prSet>
      <dgm:spPr/>
    </dgm:pt>
    <dgm:pt modelId="{31E918F3-12DF-466F-B737-FB540EA06D10}" type="pres">
      <dgm:prSet presAssocID="{01DD893F-7316-4CAD-B61F-AA5661004DCE}" presName="rootConnector1" presStyleLbl="node1" presStyleIdx="0" presStyleCnt="0"/>
      <dgm:spPr/>
    </dgm:pt>
    <dgm:pt modelId="{C3EDF9C3-CF6D-47E9-984D-7867E7AB3146}" type="pres">
      <dgm:prSet presAssocID="{01DD893F-7316-4CAD-B61F-AA5661004DCE}" presName="hierChild2" presStyleCnt="0"/>
      <dgm:spPr/>
    </dgm:pt>
    <dgm:pt modelId="{B2C3AEAA-1A65-4C03-B037-3E576A3FD045}" type="pres">
      <dgm:prSet presAssocID="{5766C0A9-4C43-4BD5-8DAA-F2F1B82034E5}" presName="Name37" presStyleLbl="parChTrans1D2" presStyleIdx="0" presStyleCnt="5"/>
      <dgm:spPr/>
    </dgm:pt>
    <dgm:pt modelId="{A968A501-1326-4022-9DD6-4A2AE791818A}" type="pres">
      <dgm:prSet presAssocID="{80F210C7-DFD6-475B-B896-ABE4D61C2C2D}" presName="hierRoot2" presStyleCnt="0">
        <dgm:presLayoutVars>
          <dgm:hierBranch val="init"/>
        </dgm:presLayoutVars>
      </dgm:prSet>
      <dgm:spPr/>
    </dgm:pt>
    <dgm:pt modelId="{0835FF5C-72C2-42EF-A58E-F064ACEF858A}" type="pres">
      <dgm:prSet presAssocID="{80F210C7-DFD6-475B-B896-ABE4D61C2C2D}" presName="rootComposite" presStyleCnt="0"/>
      <dgm:spPr/>
    </dgm:pt>
    <dgm:pt modelId="{0A75BC6A-5748-47D9-94B5-641A18537A3E}" type="pres">
      <dgm:prSet presAssocID="{80F210C7-DFD6-475B-B896-ABE4D61C2C2D}" presName="rootText" presStyleLbl="node2" presStyleIdx="0" presStyleCnt="5">
        <dgm:presLayoutVars>
          <dgm:chPref val="3"/>
        </dgm:presLayoutVars>
      </dgm:prSet>
      <dgm:spPr/>
    </dgm:pt>
    <dgm:pt modelId="{4A11AECE-0B17-4123-8E23-4A581A368299}" type="pres">
      <dgm:prSet presAssocID="{80F210C7-DFD6-475B-B896-ABE4D61C2C2D}" presName="rootConnector" presStyleLbl="node2" presStyleIdx="0" presStyleCnt="5"/>
      <dgm:spPr/>
    </dgm:pt>
    <dgm:pt modelId="{A889813E-0CF1-4585-89F4-FFCB3C927013}" type="pres">
      <dgm:prSet presAssocID="{80F210C7-DFD6-475B-B896-ABE4D61C2C2D}" presName="hierChild4" presStyleCnt="0"/>
      <dgm:spPr/>
    </dgm:pt>
    <dgm:pt modelId="{1B3B0349-6FE1-44A3-832C-5A051E537A96}" type="pres">
      <dgm:prSet presAssocID="{983F7B96-640E-4E57-96AC-FC0369A19AD8}" presName="Name37" presStyleLbl="parChTrans1D3" presStyleIdx="0" presStyleCnt="5"/>
      <dgm:spPr/>
    </dgm:pt>
    <dgm:pt modelId="{7E5013E9-152E-419D-AD73-EF4FEDD59090}" type="pres">
      <dgm:prSet presAssocID="{92CE278B-F89B-4521-9FA3-F2B147950119}" presName="hierRoot2" presStyleCnt="0">
        <dgm:presLayoutVars>
          <dgm:hierBranch val="init"/>
        </dgm:presLayoutVars>
      </dgm:prSet>
      <dgm:spPr/>
    </dgm:pt>
    <dgm:pt modelId="{F0C1E6EB-10EB-40F4-88A2-413014C0C072}" type="pres">
      <dgm:prSet presAssocID="{92CE278B-F89B-4521-9FA3-F2B147950119}" presName="rootComposite" presStyleCnt="0"/>
      <dgm:spPr/>
    </dgm:pt>
    <dgm:pt modelId="{2C34D279-7B38-4763-A033-39D39F11372A}" type="pres">
      <dgm:prSet presAssocID="{92CE278B-F89B-4521-9FA3-F2B147950119}" presName="rootText" presStyleLbl="node3" presStyleIdx="0" presStyleCnt="5">
        <dgm:presLayoutVars>
          <dgm:chPref val="3"/>
        </dgm:presLayoutVars>
      </dgm:prSet>
      <dgm:spPr/>
    </dgm:pt>
    <dgm:pt modelId="{FE7C58A9-5FEB-47A9-B351-6A3DDFDE7449}" type="pres">
      <dgm:prSet presAssocID="{92CE278B-F89B-4521-9FA3-F2B147950119}" presName="rootConnector" presStyleLbl="node3" presStyleIdx="0" presStyleCnt="5"/>
      <dgm:spPr/>
    </dgm:pt>
    <dgm:pt modelId="{7F1FE8B6-CD72-4AF5-AB21-5A932848C932}" type="pres">
      <dgm:prSet presAssocID="{92CE278B-F89B-4521-9FA3-F2B147950119}" presName="hierChild4" presStyleCnt="0"/>
      <dgm:spPr/>
    </dgm:pt>
    <dgm:pt modelId="{01EC9CA9-76F3-48FF-9651-DC3771BFE420}" type="pres">
      <dgm:prSet presAssocID="{92CE278B-F89B-4521-9FA3-F2B147950119}" presName="hierChild5" presStyleCnt="0"/>
      <dgm:spPr/>
    </dgm:pt>
    <dgm:pt modelId="{C71DF0C1-F99D-4D15-88A8-D31CDFD8FE23}" type="pres">
      <dgm:prSet presAssocID="{80F210C7-DFD6-475B-B896-ABE4D61C2C2D}" presName="hierChild5" presStyleCnt="0"/>
      <dgm:spPr/>
    </dgm:pt>
    <dgm:pt modelId="{BA7F00AB-7631-4E5D-A532-B8BF15CA89D0}" type="pres">
      <dgm:prSet presAssocID="{1B01CEEF-FC38-43F3-8028-BD0ACBF20FE6}" presName="Name37" presStyleLbl="parChTrans1D2" presStyleIdx="1" presStyleCnt="5"/>
      <dgm:spPr/>
    </dgm:pt>
    <dgm:pt modelId="{8A082F3E-569E-4787-BC87-A8AF335D6015}" type="pres">
      <dgm:prSet presAssocID="{01F4BC12-9591-4502-A2C6-519F8988D125}" presName="hierRoot2" presStyleCnt="0">
        <dgm:presLayoutVars>
          <dgm:hierBranch val="init"/>
        </dgm:presLayoutVars>
      </dgm:prSet>
      <dgm:spPr/>
    </dgm:pt>
    <dgm:pt modelId="{10CED503-0653-48F5-B188-D83A983C37D0}" type="pres">
      <dgm:prSet presAssocID="{01F4BC12-9591-4502-A2C6-519F8988D125}" presName="rootComposite" presStyleCnt="0"/>
      <dgm:spPr/>
    </dgm:pt>
    <dgm:pt modelId="{7FC7E9A9-D49A-4AA9-9C5B-D09A72DB2942}" type="pres">
      <dgm:prSet presAssocID="{01F4BC12-9591-4502-A2C6-519F8988D125}" presName="rootText" presStyleLbl="node2" presStyleIdx="1" presStyleCnt="5">
        <dgm:presLayoutVars>
          <dgm:chPref val="3"/>
        </dgm:presLayoutVars>
      </dgm:prSet>
      <dgm:spPr/>
    </dgm:pt>
    <dgm:pt modelId="{14D3825E-B325-4F96-B464-7BF350E03D84}" type="pres">
      <dgm:prSet presAssocID="{01F4BC12-9591-4502-A2C6-519F8988D125}" presName="rootConnector" presStyleLbl="node2" presStyleIdx="1" presStyleCnt="5"/>
      <dgm:spPr/>
    </dgm:pt>
    <dgm:pt modelId="{04E069E6-99E0-4E2F-930D-842FF9FAC5E8}" type="pres">
      <dgm:prSet presAssocID="{01F4BC12-9591-4502-A2C6-519F8988D125}" presName="hierChild4" presStyleCnt="0"/>
      <dgm:spPr/>
    </dgm:pt>
    <dgm:pt modelId="{825AA6F3-6631-4D9D-9224-4D9DD5EE12CD}" type="pres">
      <dgm:prSet presAssocID="{24783A21-51FC-483E-AC54-CBA77043ED23}" presName="Name37" presStyleLbl="parChTrans1D3" presStyleIdx="1" presStyleCnt="5"/>
      <dgm:spPr/>
    </dgm:pt>
    <dgm:pt modelId="{ACFD8686-F4CF-4BAF-B2B1-0819C40911AD}" type="pres">
      <dgm:prSet presAssocID="{609A1334-3922-45CB-97E7-BB1E4731A93D}" presName="hierRoot2" presStyleCnt="0">
        <dgm:presLayoutVars>
          <dgm:hierBranch val="r"/>
        </dgm:presLayoutVars>
      </dgm:prSet>
      <dgm:spPr/>
    </dgm:pt>
    <dgm:pt modelId="{09DA88EB-5DBD-48AE-8405-0C196CFFF9CF}" type="pres">
      <dgm:prSet presAssocID="{609A1334-3922-45CB-97E7-BB1E4731A93D}" presName="rootComposite" presStyleCnt="0"/>
      <dgm:spPr/>
    </dgm:pt>
    <dgm:pt modelId="{91E55866-39B5-4947-94E9-935CABB968DA}" type="pres">
      <dgm:prSet presAssocID="{609A1334-3922-45CB-97E7-BB1E4731A93D}" presName="rootText" presStyleLbl="node3" presStyleIdx="1" presStyleCnt="5">
        <dgm:presLayoutVars>
          <dgm:chPref val="3"/>
        </dgm:presLayoutVars>
      </dgm:prSet>
      <dgm:spPr/>
    </dgm:pt>
    <dgm:pt modelId="{A85ADF6C-5F34-4596-AA94-06CE1D06850C}" type="pres">
      <dgm:prSet presAssocID="{609A1334-3922-45CB-97E7-BB1E4731A93D}" presName="rootConnector" presStyleLbl="node3" presStyleIdx="1" presStyleCnt="5"/>
      <dgm:spPr/>
    </dgm:pt>
    <dgm:pt modelId="{DE7A0468-85F9-4102-A820-7D210C95A215}" type="pres">
      <dgm:prSet presAssocID="{609A1334-3922-45CB-97E7-BB1E4731A93D}" presName="hierChild4" presStyleCnt="0"/>
      <dgm:spPr/>
    </dgm:pt>
    <dgm:pt modelId="{A2BD709B-7D70-4C64-9279-245835E7EF01}" type="pres">
      <dgm:prSet presAssocID="{609A1334-3922-45CB-97E7-BB1E4731A93D}" presName="hierChild5" presStyleCnt="0"/>
      <dgm:spPr/>
    </dgm:pt>
    <dgm:pt modelId="{7650194A-DBA9-433D-9911-B7C830CF9813}" type="pres">
      <dgm:prSet presAssocID="{01F4BC12-9591-4502-A2C6-519F8988D125}" presName="hierChild5" presStyleCnt="0"/>
      <dgm:spPr/>
    </dgm:pt>
    <dgm:pt modelId="{3DD7F595-BA7C-4976-A449-A909F3EE6036}" type="pres">
      <dgm:prSet presAssocID="{01DD893F-7316-4CAD-B61F-AA5661004DCE}" presName="hierChild3" presStyleCnt="0"/>
      <dgm:spPr/>
    </dgm:pt>
    <dgm:pt modelId="{F38A92F8-AE02-44CC-B092-B7B5CCFD7AB0}" type="pres">
      <dgm:prSet presAssocID="{7D22B4D8-0EAB-476A-92B1-414912E8969D}" presName="hierRoot1" presStyleCnt="0">
        <dgm:presLayoutVars>
          <dgm:hierBranch val="init"/>
        </dgm:presLayoutVars>
      </dgm:prSet>
      <dgm:spPr/>
    </dgm:pt>
    <dgm:pt modelId="{2B01853A-DC0C-461C-973F-9A2B2C3DE654}" type="pres">
      <dgm:prSet presAssocID="{7D22B4D8-0EAB-476A-92B1-414912E8969D}" presName="rootComposite1" presStyleCnt="0"/>
      <dgm:spPr/>
    </dgm:pt>
    <dgm:pt modelId="{1B52D9C9-76B0-4089-876A-857B3073908F}" type="pres">
      <dgm:prSet presAssocID="{7D22B4D8-0EAB-476A-92B1-414912E8969D}" presName="rootText1" presStyleLbl="node0" presStyleIdx="1" presStyleCnt="2" custScaleX="163784" custScaleY="155260">
        <dgm:presLayoutVars>
          <dgm:chPref val="3"/>
        </dgm:presLayoutVars>
      </dgm:prSet>
      <dgm:spPr/>
    </dgm:pt>
    <dgm:pt modelId="{E47F6FE7-394A-4AA8-ADA8-7A0E3F25525D}" type="pres">
      <dgm:prSet presAssocID="{7D22B4D8-0EAB-476A-92B1-414912E8969D}" presName="rootConnector1" presStyleLbl="node1" presStyleIdx="0" presStyleCnt="0"/>
      <dgm:spPr/>
    </dgm:pt>
    <dgm:pt modelId="{95855532-507A-40BD-9AEE-EEB99CFF88FD}" type="pres">
      <dgm:prSet presAssocID="{7D22B4D8-0EAB-476A-92B1-414912E8969D}" presName="hierChild2" presStyleCnt="0"/>
      <dgm:spPr/>
    </dgm:pt>
    <dgm:pt modelId="{72E3DD1A-A702-4C52-9E84-A30D7B10654A}" type="pres">
      <dgm:prSet presAssocID="{E8276F3C-B929-49BB-9CC7-F38E61B3E2CE}" presName="Name37" presStyleLbl="parChTrans1D2" presStyleIdx="2" presStyleCnt="5"/>
      <dgm:spPr/>
    </dgm:pt>
    <dgm:pt modelId="{0E93176D-B28F-4FAF-B13D-237F9E024B40}" type="pres">
      <dgm:prSet presAssocID="{0C0AF577-DF46-4D36-8C61-AC8ED0D07A46}" presName="hierRoot2" presStyleCnt="0">
        <dgm:presLayoutVars>
          <dgm:hierBranch val="init"/>
        </dgm:presLayoutVars>
      </dgm:prSet>
      <dgm:spPr/>
    </dgm:pt>
    <dgm:pt modelId="{E38F6AC8-9BAF-4141-872B-37E391E21EDA}" type="pres">
      <dgm:prSet presAssocID="{0C0AF577-DF46-4D36-8C61-AC8ED0D07A46}" presName="rootComposite" presStyleCnt="0"/>
      <dgm:spPr/>
    </dgm:pt>
    <dgm:pt modelId="{1DFB4023-1262-4EC0-B073-5A59AC8D3531}" type="pres">
      <dgm:prSet presAssocID="{0C0AF577-DF46-4D36-8C61-AC8ED0D07A46}" presName="rootText" presStyleLbl="node2" presStyleIdx="2" presStyleCnt="5" custScaleY="106543">
        <dgm:presLayoutVars>
          <dgm:chPref val="3"/>
        </dgm:presLayoutVars>
      </dgm:prSet>
      <dgm:spPr/>
    </dgm:pt>
    <dgm:pt modelId="{E9393A24-798D-4BCE-A5B6-C0AB29977256}" type="pres">
      <dgm:prSet presAssocID="{0C0AF577-DF46-4D36-8C61-AC8ED0D07A46}" presName="rootConnector" presStyleLbl="node2" presStyleIdx="2" presStyleCnt="5"/>
      <dgm:spPr/>
    </dgm:pt>
    <dgm:pt modelId="{1F1DE4B7-7D98-4760-A5BF-9B6A97C34AE3}" type="pres">
      <dgm:prSet presAssocID="{0C0AF577-DF46-4D36-8C61-AC8ED0D07A46}" presName="hierChild4" presStyleCnt="0"/>
      <dgm:spPr/>
    </dgm:pt>
    <dgm:pt modelId="{FB319980-1C9B-4288-AAE2-D883BB805325}" type="pres">
      <dgm:prSet presAssocID="{34EFD06D-DD7F-4144-AA31-88984B58E5FC}" presName="Name37" presStyleLbl="parChTrans1D3" presStyleIdx="2" presStyleCnt="5"/>
      <dgm:spPr/>
    </dgm:pt>
    <dgm:pt modelId="{7070F05A-AC40-4A06-8B4A-F12DE1CAA563}" type="pres">
      <dgm:prSet presAssocID="{586EF143-630B-4535-B263-8A4108A2E616}" presName="hierRoot2" presStyleCnt="0">
        <dgm:presLayoutVars>
          <dgm:hierBranch val="init"/>
        </dgm:presLayoutVars>
      </dgm:prSet>
      <dgm:spPr/>
    </dgm:pt>
    <dgm:pt modelId="{BF4CC2D2-8F09-4581-982E-8837A369673C}" type="pres">
      <dgm:prSet presAssocID="{586EF143-630B-4535-B263-8A4108A2E616}" presName="rootComposite" presStyleCnt="0"/>
      <dgm:spPr/>
    </dgm:pt>
    <dgm:pt modelId="{44389E55-4331-4F47-BAEF-5A15F9F04950}" type="pres">
      <dgm:prSet presAssocID="{586EF143-630B-4535-B263-8A4108A2E616}" presName="rootText" presStyleLbl="node3" presStyleIdx="2" presStyleCnt="5">
        <dgm:presLayoutVars>
          <dgm:chPref val="3"/>
        </dgm:presLayoutVars>
      </dgm:prSet>
      <dgm:spPr/>
    </dgm:pt>
    <dgm:pt modelId="{C3E36FB7-2875-408D-A52D-0B0E3A7253CB}" type="pres">
      <dgm:prSet presAssocID="{586EF143-630B-4535-B263-8A4108A2E616}" presName="rootConnector" presStyleLbl="node3" presStyleIdx="2" presStyleCnt="5"/>
      <dgm:spPr/>
    </dgm:pt>
    <dgm:pt modelId="{2A705BB1-DA55-4FED-9E05-68ADD7C54DEC}" type="pres">
      <dgm:prSet presAssocID="{586EF143-630B-4535-B263-8A4108A2E616}" presName="hierChild4" presStyleCnt="0"/>
      <dgm:spPr/>
    </dgm:pt>
    <dgm:pt modelId="{1A741BFD-867D-4324-A571-E5298E7E1A22}" type="pres">
      <dgm:prSet presAssocID="{586EF143-630B-4535-B263-8A4108A2E616}" presName="hierChild5" presStyleCnt="0"/>
      <dgm:spPr/>
    </dgm:pt>
    <dgm:pt modelId="{31D120B9-57C5-4C16-9D5E-F0C458239C3F}" type="pres">
      <dgm:prSet presAssocID="{0C0AF577-DF46-4D36-8C61-AC8ED0D07A46}" presName="hierChild5" presStyleCnt="0"/>
      <dgm:spPr/>
    </dgm:pt>
    <dgm:pt modelId="{62E130A1-7A63-4F43-BC72-91F2FE810457}" type="pres">
      <dgm:prSet presAssocID="{584E5BD4-6730-4DBA-890B-3D5F6E427C6F}" presName="Name37" presStyleLbl="parChTrans1D2" presStyleIdx="3" presStyleCnt="5"/>
      <dgm:spPr/>
    </dgm:pt>
    <dgm:pt modelId="{18254253-1BD8-47EC-9535-0944C77E0A22}" type="pres">
      <dgm:prSet presAssocID="{5898F752-94F7-46E1-A25D-C2A966B4035B}" presName="hierRoot2" presStyleCnt="0">
        <dgm:presLayoutVars>
          <dgm:hierBranch val="init"/>
        </dgm:presLayoutVars>
      </dgm:prSet>
      <dgm:spPr/>
    </dgm:pt>
    <dgm:pt modelId="{050738D4-89C1-49CC-90A8-DD4806BAE8C9}" type="pres">
      <dgm:prSet presAssocID="{5898F752-94F7-46E1-A25D-C2A966B4035B}" presName="rootComposite" presStyleCnt="0"/>
      <dgm:spPr/>
    </dgm:pt>
    <dgm:pt modelId="{1A39A51B-87EE-4A7B-9B16-899FF9A38FC5}" type="pres">
      <dgm:prSet presAssocID="{5898F752-94F7-46E1-A25D-C2A966B4035B}" presName="rootText" presStyleLbl="node2" presStyleIdx="3" presStyleCnt="5" custScaleX="98737" custScaleY="131946">
        <dgm:presLayoutVars>
          <dgm:chPref val="3"/>
        </dgm:presLayoutVars>
      </dgm:prSet>
      <dgm:spPr/>
    </dgm:pt>
    <dgm:pt modelId="{C11FD041-CA7D-4E02-B3C6-D7DA7A8DA128}" type="pres">
      <dgm:prSet presAssocID="{5898F752-94F7-46E1-A25D-C2A966B4035B}" presName="rootConnector" presStyleLbl="node2" presStyleIdx="3" presStyleCnt="5"/>
      <dgm:spPr/>
    </dgm:pt>
    <dgm:pt modelId="{C8C1259E-4ECC-4B76-83A3-AE879517AB40}" type="pres">
      <dgm:prSet presAssocID="{5898F752-94F7-46E1-A25D-C2A966B4035B}" presName="hierChild4" presStyleCnt="0"/>
      <dgm:spPr/>
    </dgm:pt>
    <dgm:pt modelId="{EC1807F3-B1E9-488F-AC98-91A15186AE38}" type="pres">
      <dgm:prSet presAssocID="{D39E4DBA-25CF-46D2-93F2-02A28A658B9A}" presName="Name37" presStyleLbl="parChTrans1D3" presStyleIdx="3" presStyleCnt="5"/>
      <dgm:spPr/>
    </dgm:pt>
    <dgm:pt modelId="{D6175B2E-D64C-4809-BE92-5B1CFF3A15E7}" type="pres">
      <dgm:prSet presAssocID="{70F71656-F65A-4E62-9C7B-C6BC255DAE2F}" presName="hierRoot2" presStyleCnt="0">
        <dgm:presLayoutVars>
          <dgm:hierBranch val="init"/>
        </dgm:presLayoutVars>
      </dgm:prSet>
      <dgm:spPr/>
    </dgm:pt>
    <dgm:pt modelId="{1DA6DFCD-EF21-4371-B6D0-90D886194891}" type="pres">
      <dgm:prSet presAssocID="{70F71656-F65A-4E62-9C7B-C6BC255DAE2F}" presName="rootComposite" presStyleCnt="0"/>
      <dgm:spPr/>
    </dgm:pt>
    <dgm:pt modelId="{2873835A-D84B-464D-93FC-FF782677710B}" type="pres">
      <dgm:prSet presAssocID="{70F71656-F65A-4E62-9C7B-C6BC255DAE2F}" presName="rootText" presStyleLbl="node3" presStyleIdx="3" presStyleCnt="5">
        <dgm:presLayoutVars>
          <dgm:chPref val="3"/>
        </dgm:presLayoutVars>
      </dgm:prSet>
      <dgm:spPr/>
    </dgm:pt>
    <dgm:pt modelId="{47A97E26-4911-41A7-80EB-1ADA55C2F267}" type="pres">
      <dgm:prSet presAssocID="{70F71656-F65A-4E62-9C7B-C6BC255DAE2F}" presName="rootConnector" presStyleLbl="node3" presStyleIdx="3" presStyleCnt="5"/>
      <dgm:spPr/>
    </dgm:pt>
    <dgm:pt modelId="{B5A56331-F884-4780-9FDC-1F0B096FFC9C}" type="pres">
      <dgm:prSet presAssocID="{70F71656-F65A-4E62-9C7B-C6BC255DAE2F}" presName="hierChild4" presStyleCnt="0"/>
      <dgm:spPr/>
    </dgm:pt>
    <dgm:pt modelId="{726980E8-F8FE-4205-BED8-03DFD06A6F9C}" type="pres">
      <dgm:prSet presAssocID="{70F71656-F65A-4E62-9C7B-C6BC255DAE2F}" presName="hierChild5" presStyleCnt="0"/>
      <dgm:spPr/>
    </dgm:pt>
    <dgm:pt modelId="{3DB05BB9-31B0-4E00-8504-B2C33B8FB65D}" type="pres">
      <dgm:prSet presAssocID="{5898F752-94F7-46E1-A25D-C2A966B4035B}" presName="hierChild5" presStyleCnt="0"/>
      <dgm:spPr/>
    </dgm:pt>
    <dgm:pt modelId="{83FD7BFA-9DF5-4BCF-9320-EC7DDD2A70D8}" type="pres">
      <dgm:prSet presAssocID="{C10C9B1E-1222-4B60-A679-2219FE083950}" presName="Name37" presStyleLbl="parChTrans1D2" presStyleIdx="4" presStyleCnt="5"/>
      <dgm:spPr/>
    </dgm:pt>
    <dgm:pt modelId="{C20CEA86-670F-464A-8818-1B4FEA4CF753}" type="pres">
      <dgm:prSet presAssocID="{CBED7B4A-75D1-4CBE-92EB-BE8BF07CC522}" presName="hierRoot2" presStyleCnt="0">
        <dgm:presLayoutVars>
          <dgm:hierBranch val="init"/>
        </dgm:presLayoutVars>
      </dgm:prSet>
      <dgm:spPr/>
    </dgm:pt>
    <dgm:pt modelId="{ACDFEDE7-07B1-44BA-AF7C-9BD092EF0FE5}" type="pres">
      <dgm:prSet presAssocID="{CBED7B4A-75D1-4CBE-92EB-BE8BF07CC522}" presName="rootComposite" presStyleCnt="0"/>
      <dgm:spPr/>
    </dgm:pt>
    <dgm:pt modelId="{0192169D-21B8-4AA9-A88E-D49A2BA866C8}" type="pres">
      <dgm:prSet presAssocID="{CBED7B4A-75D1-4CBE-92EB-BE8BF07CC522}" presName="rootText" presStyleLbl="node2" presStyleIdx="4" presStyleCnt="5" custScaleX="90888" custScaleY="136966">
        <dgm:presLayoutVars>
          <dgm:chPref val="3"/>
        </dgm:presLayoutVars>
      </dgm:prSet>
      <dgm:spPr/>
    </dgm:pt>
    <dgm:pt modelId="{9081BB7E-4208-4F89-AABC-6A360B59CB32}" type="pres">
      <dgm:prSet presAssocID="{CBED7B4A-75D1-4CBE-92EB-BE8BF07CC522}" presName="rootConnector" presStyleLbl="node2" presStyleIdx="4" presStyleCnt="5"/>
      <dgm:spPr/>
    </dgm:pt>
    <dgm:pt modelId="{A79D3F8E-1881-43A8-9A25-7867813E078E}" type="pres">
      <dgm:prSet presAssocID="{CBED7B4A-75D1-4CBE-92EB-BE8BF07CC522}" presName="hierChild4" presStyleCnt="0"/>
      <dgm:spPr/>
    </dgm:pt>
    <dgm:pt modelId="{93A50B28-728F-4D2E-9324-22BA6951AED6}" type="pres">
      <dgm:prSet presAssocID="{9C1E410A-47C3-481F-A0EC-711A1B01C09B}" presName="Name37" presStyleLbl="parChTrans1D3" presStyleIdx="4" presStyleCnt="5"/>
      <dgm:spPr/>
    </dgm:pt>
    <dgm:pt modelId="{1C8EAA97-4483-4713-8C7C-A99BA1EC3416}" type="pres">
      <dgm:prSet presAssocID="{71445C2A-9F4F-437F-B06E-CACF9B968539}" presName="hierRoot2" presStyleCnt="0">
        <dgm:presLayoutVars>
          <dgm:hierBranch val="init"/>
        </dgm:presLayoutVars>
      </dgm:prSet>
      <dgm:spPr/>
    </dgm:pt>
    <dgm:pt modelId="{1B670E91-82E2-4790-A118-9C9607134B55}" type="pres">
      <dgm:prSet presAssocID="{71445C2A-9F4F-437F-B06E-CACF9B968539}" presName="rootComposite" presStyleCnt="0"/>
      <dgm:spPr/>
    </dgm:pt>
    <dgm:pt modelId="{8C3FDA68-678D-458C-B621-85BC0E97B805}" type="pres">
      <dgm:prSet presAssocID="{71445C2A-9F4F-437F-B06E-CACF9B968539}" presName="rootText" presStyleLbl="node3" presStyleIdx="4" presStyleCnt="5">
        <dgm:presLayoutVars>
          <dgm:chPref val="3"/>
        </dgm:presLayoutVars>
      </dgm:prSet>
      <dgm:spPr/>
    </dgm:pt>
    <dgm:pt modelId="{1D769D12-4639-425F-AFBB-E293667DE7BA}" type="pres">
      <dgm:prSet presAssocID="{71445C2A-9F4F-437F-B06E-CACF9B968539}" presName="rootConnector" presStyleLbl="node3" presStyleIdx="4" presStyleCnt="5"/>
      <dgm:spPr/>
    </dgm:pt>
    <dgm:pt modelId="{09CBDC96-4B87-4783-9C56-81CACA1B8354}" type="pres">
      <dgm:prSet presAssocID="{71445C2A-9F4F-437F-B06E-CACF9B968539}" presName="hierChild4" presStyleCnt="0"/>
      <dgm:spPr/>
    </dgm:pt>
    <dgm:pt modelId="{5C211086-C9BE-4FE6-9462-A59347E3A60D}" type="pres">
      <dgm:prSet presAssocID="{71445C2A-9F4F-437F-B06E-CACF9B968539}" presName="hierChild5" presStyleCnt="0"/>
      <dgm:spPr/>
    </dgm:pt>
    <dgm:pt modelId="{D34A754A-2C70-47B9-9A5C-00D62DA218E9}" type="pres">
      <dgm:prSet presAssocID="{CBED7B4A-75D1-4CBE-92EB-BE8BF07CC522}" presName="hierChild5" presStyleCnt="0"/>
      <dgm:spPr/>
    </dgm:pt>
    <dgm:pt modelId="{5900FF31-D643-4FF3-B707-FA2FF1CE7169}" type="pres">
      <dgm:prSet presAssocID="{7D22B4D8-0EAB-476A-92B1-414912E8969D}" presName="hierChild3" presStyleCnt="0"/>
      <dgm:spPr/>
    </dgm:pt>
  </dgm:ptLst>
  <dgm:cxnLst>
    <dgm:cxn modelId="{9A70A303-58B9-42E9-A260-B93012A37C46}" type="presOf" srcId="{80F210C7-DFD6-475B-B896-ABE4D61C2C2D}" destId="{4A11AECE-0B17-4123-8E23-4A581A368299}" srcOrd="1" destOrd="0" presId="urn:microsoft.com/office/officeart/2005/8/layout/orgChart1"/>
    <dgm:cxn modelId="{51393311-5CF4-4043-A602-1D5B6AD43FE5}" srcId="{01F4BC12-9591-4502-A2C6-519F8988D125}" destId="{609A1334-3922-45CB-97E7-BB1E4731A93D}" srcOrd="0" destOrd="0" parTransId="{24783A21-51FC-483E-AC54-CBA77043ED23}" sibTransId="{31CF63BB-747E-4897-AC2F-7DFFAAE7875A}"/>
    <dgm:cxn modelId="{FFA63714-4005-42EB-8DEF-E5B3C1967989}" type="presOf" srcId="{34EFD06D-DD7F-4144-AA31-88984B58E5FC}" destId="{FB319980-1C9B-4288-AAE2-D883BB805325}" srcOrd="0" destOrd="0" presId="urn:microsoft.com/office/officeart/2005/8/layout/orgChart1"/>
    <dgm:cxn modelId="{65AD6D15-621B-4E85-969B-48992D7CFD0B}" type="presOf" srcId="{983F7B96-640E-4E57-96AC-FC0369A19AD8}" destId="{1B3B0349-6FE1-44A3-832C-5A051E537A96}" srcOrd="0" destOrd="0" presId="urn:microsoft.com/office/officeart/2005/8/layout/orgChart1"/>
    <dgm:cxn modelId="{B849EB15-FB9F-4D1B-B086-970576B3561B}" srcId="{01DD893F-7316-4CAD-B61F-AA5661004DCE}" destId="{01F4BC12-9591-4502-A2C6-519F8988D125}" srcOrd="1" destOrd="0" parTransId="{1B01CEEF-FC38-43F3-8028-BD0ACBF20FE6}" sibTransId="{6F7E1037-7F2B-4F78-8BFB-8A36498688D2}"/>
    <dgm:cxn modelId="{13D77A19-09FC-497D-B4DE-CF4BCA53FDCC}" type="presOf" srcId="{1B01CEEF-FC38-43F3-8028-BD0ACBF20FE6}" destId="{BA7F00AB-7631-4E5D-A532-B8BF15CA89D0}" srcOrd="0" destOrd="0" presId="urn:microsoft.com/office/officeart/2005/8/layout/orgChart1"/>
    <dgm:cxn modelId="{9B27DD1C-18BE-45AC-9A0E-4658F2FA24CC}" type="presOf" srcId="{584E5BD4-6730-4DBA-890B-3D5F6E427C6F}" destId="{62E130A1-7A63-4F43-BC72-91F2FE810457}" srcOrd="0" destOrd="0" presId="urn:microsoft.com/office/officeart/2005/8/layout/orgChart1"/>
    <dgm:cxn modelId="{B8D51E24-1395-4B3C-B6E2-23644778A4F5}" type="presOf" srcId="{5898F752-94F7-46E1-A25D-C2A966B4035B}" destId="{1A39A51B-87EE-4A7B-9B16-899FF9A38FC5}" srcOrd="0" destOrd="0" presId="urn:microsoft.com/office/officeart/2005/8/layout/orgChart1"/>
    <dgm:cxn modelId="{1BAE1227-80F2-4C4F-A9B5-17146881C36B}" type="presOf" srcId="{92CE278B-F89B-4521-9FA3-F2B147950119}" destId="{FE7C58A9-5FEB-47A9-B351-6A3DDFDE7449}" srcOrd="1" destOrd="0" presId="urn:microsoft.com/office/officeart/2005/8/layout/orgChart1"/>
    <dgm:cxn modelId="{7862922C-6E62-4D93-BFF5-AB9DAE3F405C}" srcId="{7D22B4D8-0EAB-476A-92B1-414912E8969D}" destId="{5898F752-94F7-46E1-A25D-C2A966B4035B}" srcOrd="1" destOrd="0" parTransId="{584E5BD4-6730-4DBA-890B-3D5F6E427C6F}" sibTransId="{67719214-5A05-4559-B879-DF411E844F89}"/>
    <dgm:cxn modelId="{6180BA30-E2C5-4CFB-B4C9-3AE6DA4A4376}" type="presOf" srcId="{5898F752-94F7-46E1-A25D-C2A966B4035B}" destId="{C11FD041-CA7D-4E02-B3C6-D7DA7A8DA128}" srcOrd="1" destOrd="0" presId="urn:microsoft.com/office/officeart/2005/8/layout/orgChart1"/>
    <dgm:cxn modelId="{1EACFC30-5D76-405D-B02C-7E729B4FC2D8}" srcId="{01DD893F-7316-4CAD-B61F-AA5661004DCE}" destId="{80F210C7-DFD6-475B-B896-ABE4D61C2C2D}" srcOrd="0" destOrd="0" parTransId="{5766C0A9-4C43-4BD5-8DAA-F2F1B82034E5}" sibTransId="{7A9C6073-26C2-4904-921F-39C99A608675}"/>
    <dgm:cxn modelId="{6A93535B-87D6-4451-B224-81775B08FD52}" type="presOf" srcId="{01DD893F-7316-4CAD-B61F-AA5661004DCE}" destId="{31E918F3-12DF-466F-B737-FB540EA06D10}" srcOrd="1" destOrd="0" presId="urn:microsoft.com/office/officeart/2005/8/layout/orgChart1"/>
    <dgm:cxn modelId="{C8B3E15C-365E-4469-93A3-A64B22240158}" srcId="{7D22B4D8-0EAB-476A-92B1-414912E8969D}" destId="{0C0AF577-DF46-4D36-8C61-AC8ED0D07A46}" srcOrd="0" destOrd="0" parTransId="{E8276F3C-B929-49BB-9CC7-F38E61B3E2CE}" sibTransId="{3872E010-553E-49F4-8F6D-CC33FAC8D135}"/>
    <dgm:cxn modelId="{5BB34641-2D52-4CF6-B23E-A0ADE684CC75}" type="presOf" srcId="{24783A21-51FC-483E-AC54-CBA77043ED23}" destId="{825AA6F3-6631-4D9D-9224-4D9DD5EE12CD}" srcOrd="0" destOrd="0" presId="urn:microsoft.com/office/officeart/2005/8/layout/orgChart1"/>
    <dgm:cxn modelId="{C285B84E-16AB-4FEB-AAC4-778E813B96D9}" type="presOf" srcId="{71445C2A-9F4F-437F-B06E-CACF9B968539}" destId="{1D769D12-4639-425F-AFBB-E293667DE7BA}" srcOrd="1" destOrd="0" presId="urn:microsoft.com/office/officeart/2005/8/layout/orgChart1"/>
    <dgm:cxn modelId="{565C7053-4F29-4795-BCDB-879D837EBE16}" type="presOf" srcId="{9C1E410A-47C3-481F-A0EC-711A1B01C09B}" destId="{93A50B28-728F-4D2E-9324-22BA6951AED6}" srcOrd="0" destOrd="0" presId="urn:microsoft.com/office/officeart/2005/8/layout/orgChart1"/>
    <dgm:cxn modelId="{CED2EB73-A74B-4654-881E-2548DECC9773}" type="presOf" srcId="{01F4BC12-9591-4502-A2C6-519F8988D125}" destId="{7FC7E9A9-D49A-4AA9-9C5B-D09A72DB2942}" srcOrd="0" destOrd="0" presId="urn:microsoft.com/office/officeart/2005/8/layout/orgChart1"/>
    <dgm:cxn modelId="{24C9ED54-C389-406E-B022-30FECB27C168}" srcId="{5898F752-94F7-46E1-A25D-C2A966B4035B}" destId="{70F71656-F65A-4E62-9C7B-C6BC255DAE2F}" srcOrd="0" destOrd="0" parTransId="{D39E4DBA-25CF-46D2-93F2-02A28A658B9A}" sibTransId="{87D1A7F4-75B6-4EFA-8C3E-750B5C39BEDD}"/>
    <dgm:cxn modelId="{27F52A55-17D0-4FD1-B581-DD178F257A56}" type="presOf" srcId="{CBED7B4A-75D1-4CBE-92EB-BE8BF07CC522}" destId="{0192169D-21B8-4AA9-A88E-D49A2BA866C8}" srcOrd="0" destOrd="0" presId="urn:microsoft.com/office/officeart/2005/8/layout/orgChart1"/>
    <dgm:cxn modelId="{C24AFF55-680F-4302-9EF5-6550C8F3B581}" type="presOf" srcId="{609A1334-3922-45CB-97E7-BB1E4731A93D}" destId="{A85ADF6C-5F34-4596-AA94-06CE1D06850C}" srcOrd="1" destOrd="0" presId="urn:microsoft.com/office/officeart/2005/8/layout/orgChart1"/>
    <dgm:cxn modelId="{5B20E176-F7D9-432F-BA61-C2D62CCB3E4D}" type="presOf" srcId="{7D22B4D8-0EAB-476A-92B1-414912E8969D}" destId="{E47F6FE7-394A-4AA8-ADA8-7A0E3F25525D}" srcOrd="1" destOrd="0" presId="urn:microsoft.com/office/officeart/2005/8/layout/orgChart1"/>
    <dgm:cxn modelId="{5673E078-C35F-4B21-9E3B-39E8A3549F7E}" type="presOf" srcId="{7D22B4D8-0EAB-476A-92B1-414912E8969D}" destId="{1B52D9C9-76B0-4089-876A-857B3073908F}" srcOrd="0" destOrd="0" presId="urn:microsoft.com/office/officeart/2005/8/layout/orgChart1"/>
    <dgm:cxn modelId="{36C8F878-6C75-4182-9D99-C207CA7DF9FF}" srcId="{7D22B4D8-0EAB-476A-92B1-414912E8969D}" destId="{CBED7B4A-75D1-4CBE-92EB-BE8BF07CC522}" srcOrd="2" destOrd="0" parTransId="{C10C9B1E-1222-4B60-A679-2219FE083950}" sibTransId="{A845CCDC-D27F-4656-8D70-4BDB789872B2}"/>
    <dgm:cxn modelId="{70CCCA79-976D-4E23-89E9-C2AAED855418}" type="presOf" srcId="{70F71656-F65A-4E62-9C7B-C6BC255DAE2F}" destId="{2873835A-D84B-464D-93FC-FF782677710B}" srcOrd="0" destOrd="0" presId="urn:microsoft.com/office/officeart/2005/8/layout/orgChart1"/>
    <dgm:cxn modelId="{EAD9315A-58C0-4617-AD25-4F6127587227}" type="presOf" srcId="{80F210C7-DFD6-475B-B896-ABE4D61C2C2D}" destId="{0A75BC6A-5748-47D9-94B5-641A18537A3E}" srcOrd="0" destOrd="0" presId="urn:microsoft.com/office/officeart/2005/8/layout/orgChart1"/>
    <dgm:cxn modelId="{9AF4277E-DDB0-4878-B543-6276B72447F5}" type="presOf" srcId="{92CE278B-F89B-4521-9FA3-F2B147950119}" destId="{2C34D279-7B38-4763-A033-39D39F11372A}" srcOrd="0" destOrd="0" presId="urn:microsoft.com/office/officeart/2005/8/layout/orgChart1"/>
    <dgm:cxn modelId="{94B64784-0FEA-40F8-A700-22D7E87A71F8}" srcId="{44AC2781-F7B4-4E40-91DC-BFD41A9BFD70}" destId="{7D22B4D8-0EAB-476A-92B1-414912E8969D}" srcOrd="1" destOrd="0" parTransId="{4F55BE01-3E43-47D7-9DEA-A41C035F1970}" sibTransId="{F48AA5AD-2326-45BF-AB0F-610CC5F4B193}"/>
    <dgm:cxn modelId="{CFD1078A-20B5-4BE3-9807-4DB4BEACC781}" type="presOf" srcId="{01DD893F-7316-4CAD-B61F-AA5661004DCE}" destId="{845C4C29-67CC-437A-BA2E-414E87013FDD}" srcOrd="0" destOrd="0" presId="urn:microsoft.com/office/officeart/2005/8/layout/orgChart1"/>
    <dgm:cxn modelId="{B9898090-FCCC-49A2-9AB2-767788D7F288}" type="presOf" srcId="{C10C9B1E-1222-4B60-A679-2219FE083950}" destId="{83FD7BFA-9DF5-4BCF-9320-EC7DDD2A70D8}" srcOrd="0" destOrd="0" presId="urn:microsoft.com/office/officeart/2005/8/layout/orgChart1"/>
    <dgm:cxn modelId="{95817A92-6D32-4B3E-8AE4-C43C1678B4A8}" type="presOf" srcId="{609A1334-3922-45CB-97E7-BB1E4731A93D}" destId="{91E55866-39B5-4947-94E9-935CABB968DA}" srcOrd="0" destOrd="0" presId="urn:microsoft.com/office/officeart/2005/8/layout/orgChart1"/>
    <dgm:cxn modelId="{64EE3D9E-0FCB-4B6D-8B67-0404C29B197E}" type="presOf" srcId="{CBED7B4A-75D1-4CBE-92EB-BE8BF07CC522}" destId="{9081BB7E-4208-4F89-AABC-6A360B59CB32}" srcOrd="1" destOrd="0" presId="urn:microsoft.com/office/officeart/2005/8/layout/orgChart1"/>
    <dgm:cxn modelId="{D6E66B9F-9A37-45FD-85C5-21E43A354E90}" type="presOf" srcId="{E8276F3C-B929-49BB-9CC7-F38E61B3E2CE}" destId="{72E3DD1A-A702-4C52-9E84-A30D7B10654A}" srcOrd="0" destOrd="0" presId="urn:microsoft.com/office/officeart/2005/8/layout/orgChart1"/>
    <dgm:cxn modelId="{4FF0CB9F-DD31-4B21-A4A0-CC09E40D7D76}" type="presOf" srcId="{44AC2781-F7B4-4E40-91DC-BFD41A9BFD70}" destId="{A47B659C-B439-4638-84CE-794AF9031F39}" srcOrd="0" destOrd="0" presId="urn:microsoft.com/office/officeart/2005/8/layout/orgChart1"/>
    <dgm:cxn modelId="{8BEDA7A0-E2FF-473F-BD9A-F3EB87591B64}" srcId="{0C0AF577-DF46-4D36-8C61-AC8ED0D07A46}" destId="{586EF143-630B-4535-B263-8A4108A2E616}" srcOrd="0" destOrd="0" parTransId="{34EFD06D-DD7F-4144-AA31-88984B58E5FC}" sibTransId="{07C39B37-A958-4D1A-8666-017B5AF3D4FB}"/>
    <dgm:cxn modelId="{D3F4ABA4-F694-45AE-9D40-B275A7F173EE}" type="presOf" srcId="{71445C2A-9F4F-437F-B06E-CACF9B968539}" destId="{8C3FDA68-678D-458C-B621-85BC0E97B805}" srcOrd="0" destOrd="0" presId="urn:microsoft.com/office/officeart/2005/8/layout/orgChart1"/>
    <dgm:cxn modelId="{1B8572A7-FDEF-4A78-B342-FFBFEF1ED118}" type="presOf" srcId="{70F71656-F65A-4E62-9C7B-C6BC255DAE2F}" destId="{47A97E26-4911-41A7-80EB-1ADA55C2F267}" srcOrd="1" destOrd="0" presId="urn:microsoft.com/office/officeart/2005/8/layout/orgChart1"/>
    <dgm:cxn modelId="{53CE8BAD-D136-4CA9-B3E0-082750568030}" srcId="{44AC2781-F7B4-4E40-91DC-BFD41A9BFD70}" destId="{01DD893F-7316-4CAD-B61F-AA5661004DCE}" srcOrd="0" destOrd="0" parTransId="{CCE7409D-A0F0-4110-873D-80994D685C0D}" sibTransId="{1E40E5F0-22B0-4250-B53B-7500A539AE97}"/>
    <dgm:cxn modelId="{4CDCADAE-06C2-45DB-A66A-58F54470C444}" type="presOf" srcId="{D39E4DBA-25CF-46D2-93F2-02A28A658B9A}" destId="{EC1807F3-B1E9-488F-AC98-91A15186AE38}" srcOrd="0" destOrd="0" presId="urn:microsoft.com/office/officeart/2005/8/layout/orgChart1"/>
    <dgm:cxn modelId="{ED2E56BE-00B2-4E82-B33F-B91CA4F622DA}" srcId="{CBED7B4A-75D1-4CBE-92EB-BE8BF07CC522}" destId="{71445C2A-9F4F-437F-B06E-CACF9B968539}" srcOrd="0" destOrd="0" parTransId="{9C1E410A-47C3-481F-A0EC-711A1B01C09B}" sibTransId="{2A567D95-640B-4476-847A-EB7D94CEFC44}"/>
    <dgm:cxn modelId="{5F801DC8-4A54-490E-8157-3F8BC5E82C13}" type="presOf" srcId="{0C0AF577-DF46-4D36-8C61-AC8ED0D07A46}" destId="{E9393A24-798D-4BCE-A5B6-C0AB29977256}" srcOrd="1" destOrd="0" presId="urn:microsoft.com/office/officeart/2005/8/layout/orgChart1"/>
    <dgm:cxn modelId="{699B9BD6-4076-4EE3-AA89-1F3642D30107}" type="presOf" srcId="{586EF143-630B-4535-B263-8A4108A2E616}" destId="{C3E36FB7-2875-408D-A52D-0B0E3A7253CB}" srcOrd="1" destOrd="0" presId="urn:microsoft.com/office/officeart/2005/8/layout/orgChart1"/>
    <dgm:cxn modelId="{2A4278D7-1217-408A-8061-B0D4AD45FFA7}" type="presOf" srcId="{0C0AF577-DF46-4D36-8C61-AC8ED0D07A46}" destId="{1DFB4023-1262-4EC0-B073-5A59AC8D3531}" srcOrd="0" destOrd="0" presId="urn:microsoft.com/office/officeart/2005/8/layout/orgChart1"/>
    <dgm:cxn modelId="{C5FE4FE2-823C-43D4-B1E2-88878DF6046D}" srcId="{80F210C7-DFD6-475B-B896-ABE4D61C2C2D}" destId="{92CE278B-F89B-4521-9FA3-F2B147950119}" srcOrd="0" destOrd="0" parTransId="{983F7B96-640E-4E57-96AC-FC0369A19AD8}" sibTransId="{E7E2E26A-EBE9-408A-A680-A435F936346F}"/>
    <dgm:cxn modelId="{F50621EE-2E30-433F-AE7E-F555E457C142}" type="presOf" srcId="{01F4BC12-9591-4502-A2C6-519F8988D125}" destId="{14D3825E-B325-4F96-B464-7BF350E03D84}" srcOrd="1" destOrd="0" presId="urn:microsoft.com/office/officeart/2005/8/layout/orgChart1"/>
    <dgm:cxn modelId="{95A51AF5-D21F-4733-9A72-367DCB0879AF}" type="presOf" srcId="{5766C0A9-4C43-4BD5-8DAA-F2F1B82034E5}" destId="{B2C3AEAA-1A65-4C03-B037-3E576A3FD045}" srcOrd="0" destOrd="0" presId="urn:microsoft.com/office/officeart/2005/8/layout/orgChart1"/>
    <dgm:cxn modelId="{18AF98FD-CC6C-4909-AFEF-9DB49341DE64}" type="presOf" srcId="{586EF143-630B-4535-B263-8A4108A2E616}" destId="{44389E55-4331-4F47-BAEF-5A15F9F04950}" srcOrd="0" destOrd="0" presId="urn:microsoft.com/office/officeart/2005/8/layout/orgChart1"/>
    <dgm:cxn modelId="{B93114DC-C449-4B77-9DD5-E3F1297EA94F}" type="presParOf" srcId="{A47B659C-B439-4638-84CE-794AF9031F39}" destId="{305B0F3D-8708-4F03-AD9F-F1A1BF3980FF}" srcOrd="0" destOrd="0" presId="urn:microsoft.com/office/officeart/2005/8/layout/orgChart1"/>
    <dgm:cxn modelId="{C2789513-3895-4450-9329-DB755FECF184}" type="presParOf" srcId="{305B0F3D-8708-4F03-AD9F-F1A1BF3980FF}" destId="{28F2B630-40BC-4A82-BC14-31DA2A97CC5A}" srcOrd="0" destOrd="0" presId="urn:microsoft.com/office/officeart/2005/8/layout/orgChart1"/>
    <dgm:cxn modelId="{A9CF7722-7C48-40A6-8169-BD9CB8DA9494}" type="presParOf" srcId="{28F2B630-40BC-4A82-BC14-31DA2A97CC5A}" destId="{845C4C29-67CC-437A-BA2E-414E87013FDD}" srcOrd="0" destOrd="0" presId="urn:microsoft.com/office/officeart/2005/8/layout/orgChart1"/>
    <dgm:cxn modelId="{696AEE84-8EBB-40B4-90B0-D0CDCEE9A905}" type="presParOf" srcId="{28F2B630-40BC-4A82-BC14-31DA2A97CC5A}" destId="{31E918F3-12DF-466F-B737-FB540EA06D10}" srcOrd="1" destOrd="0" presId="urn:microsoft.com/office/officeart/2005/8/layout/orgChart1"/>
    <dgm:cxn modelId="{DB372C75-D965-43A3-AE94-F2280D3CB540}" type="presParOf" srcId="{305B0F3D-8708-4F03-AD9F-F1A1BF3980FF}" destId="{C3EDF9C3-CF6D-47E9-984D-7867E7AB3146}" srcOrd="1" destOrd="0" presId="urn:microsoft.com/office/officeart/2005/8/layout/orgChart1"/>
    <dgm:cxn modelId="{E717ADD8-CD11-46B5-8FDB-428DD41E507F}" type="presParOf" srcId="{C3EDF9C3-CF6D-47E9-984D-7867E7AB3146}" destId="{B2C3AEAA-1A65-4C03-B037-3E576A3FD045}" srcOrd="0" destOrd="0" presId="urn:microsoft.com/office/officeart/2005/8/layout/orgChart1"/>
    <dgm:cxn modelId="{1911A346-75AE-40A4-A083-9DF017296BAC}" type="presParOf" srcId="{C3EDF9C3-CF6D-47E9-984D-7867E7AB3146}" destId="{A968A501-1326-4022-9DD6-4A2AE791818A}" srcOrd="1" destOrd="0" presId="urn:microsoft.com/office/officeart/2005/8/layout/orgChart1"/>
    <dgm:cxn modelId="{277D0FE1-3CDE-4932-94FC-CD4619EC1043}" type="presParOf" srcId="{A968A501-1326-4022-9DD6-4A2AE791818A}" destId="{0835FF5C-72C2-42EF-A58E-F064ACEF858A}" srcOrd="0" destOrd="0" presId="urn:microsoft.com/office/officeart/2005/8/layout/orgChart1"/>
    <dgm:cxn modelId="{7032BA69-8C38-469C-8743-9893772159E1}" type="presParOf" srcId="{0835FF5C-72C2-42EF-A58E-F064ACEF858A}" destId="{0A75BC6A-5748-47D9-94B5-641A18537A3E}" srcOrd="0" destOrd="0" presId="urn:microsoft.com/office/officeart/2005/8/layout/orgChart1"/>
    <dgm:cxn modelId="{7C3BC0BF-A575-4764-B5AC-2657C2050C50}" type="presParOf" srcId="{0835FF5C-72C2-42EF-A58E-F064ACEF858A}" destId="{4A11AECE-0B17-4123-8E23-4A581A368299}" srcOrd="1" destOrd="0" presId="urn:microsoft.com/office/officeart/2005/8/layout/orgChart1"/>
    <dgm:cxn modelId="{AF93CC1F-1E08-47CA-9AF5-3079BF3C0B8C}" type="presParOf" srcId="{A968A501-1326-4022-9DD6-4A2AE791818A}" destId="{A889813E-0CF1-4585-89F4-FFCB3C927013}" srcOrd="1" destOrd="0" presId="urn:microsoft.com/office/officeart/2005/8/layout/orgChart1"/>
    <dgm:cxn modelId="{E6E83FA7-A063-46C5-B847-F01739002413}" type="presParOf" srcId="{A889813E-0CF1-4585-89F4-FFCB3C927013}" destId="{1B3B0349-6FE1-44A3-832C-5A051E537A96}" srcOrd="0" destOrd="0" presId="urn:microsoft.com/office/officeart/2005/8/layout/orgChart1"/>
    <dgm:cxn modelId="{B130AAF1-1EB6-4913-AFAF-A23BB5C0DCDB}" type="presParOf" srcId="{A889813E-0CF1-4585-89F4-FFCB3C927013}" destId="{7E5013E9-152E-419D-AD73-EF4FEDD59090}" srcOrd="1" destOrd="0" presId="urn:microsoft.com/office/officeart/2005/8/layout/orgChart1"/>
    <dgm:cxn modelId="{D0294BCC-321C-4DCF-81AF-71C1251DFA6E}" type="presParOf" srcId="{7E5013E9-152E-419D-AD73-EF4FEDD59090}" destId="{F0C1E6EB-10EB-40F4-88A2-413014C0C072}" srcOrd="0" destOrd="0" presId="urn:microsoft.com/office/officeart/2005/8/layout/orgChart1"/>
    <dgm:cxn modelId="{094A4C9A-FAC7-431D-9773-E0AF91967819}" type="presParOf" srcId="{F0C1E6EB-10EB-40F4-88A2-413014C0C072}" destId="{2C34D279-7B38-4763-A033-39D39F11372A}" srcOrd="0" destOrd="0" presId="urn:microsoft.com/office/officeart/2005/8/layout/orgChart1"/>
    <dgm:cxn modelId="{5990DE15-4FF5-4A8C-8B3B-621C62B26B7E}" type="presParOf" srcId="{F0C1E6EB-10EB-40F4-88A2-413014C0C072}" destId="{FE7C58A9-5FEB-47A9-B351-6A3DDFDE7449}" srcOrd="1" destOrd="0" presId="urn:microsoft.com/office/officeart/2005/8/layout/orgChart1"/>
    <dgm:cxn modelId="{E8EBF40A-202E-462F-A5E2-886420C4ACCE}" type="presParOf" srcId="{7E5013E9-152E-419D-AD73-EF4FEDD59090}" destId="{7F1FE8B6-CD72-4AF5-AB21-5A932848C932}" srcOrd="1" destOrd="0" presId="urn:microsoft.com/office/officeart/2005/8/layout/orgChart1"/>
    <dgm:cxn modelId="{83524B6F-7352-4296-808C-0559297A3A7B}" type="presParOf" srcId="{7E5013E9-152E-419D-AD73-EF4FEDD59090}" destId="{01EC9CA9-76F3-48FF-9651-DC3771BFE420}" srcOrd="2" destOrd="0" presId="urn:microsoft.com/office/officeart/2005/8/layout/orgChart1"/>
    <dgm:cxn modelId="{0BA8FD04-041E-43BD-A573-F59B41163C6B}" type="presParOf" srcId="{A968A501-1326-4022-9DD6-4A2AE791818A}" destId="{C71DF0C1-F99D-4D15-88A8-D31CDFD8FE23}" srcOrd="2" destOrd="0" presId="urn:microsoft.com/office/officeart/2005/8/layout/orgChart1"/>
    <dgm:cxn modelId="{6A962CF0-EF2E-4E3B-8BB6-4F5994F9230B}" type="presParOf" srcId="{C3EDF9C3-CF6D-47E9-984D-7867E7AB3146}" destId="{BA7F00AB-7631-4E5D-A532-B8BF15CA89D0}" srcOrd="2" destOrd="0" presId="urn:microsoft.com/office/officeart/2005/8/layout/orgChart1"/>
    <dgm:cxn modelId="{327D128A-AD79-441E-81CC-99BE60D4A9CF}" type="presParOf" srcId="{C3EDF9C3-CF6D-47E9-984D-7867E7AB3146}" destId="{8A082F3E-569E-4787-BC87-A8AF335D6015}" srcOrd="3" destOrd="0" presId="urn:microsoft.com/office/officeart/2005/8/layout/orgChart1"/>
    <dgm:cxn modelId="{A3920C86-6E65-4072-B0E7-930FB82D2BF9}" type="presParOf" srcId="{8A082F3E-569E-4787-BC87-A8AF335D6015}" destId="{10CED503-0653-48F5-B188-D83A983C37D0}" srcOrd="0" destOrd="0" presId="urn:microsoft.com/office/officeart/2005/8/layout/orgChart1"/>
    <dgm:cxn modelId="{ACDD0611-D886-4804-95A4-F6C051F6CE11}" type="presParOf" srcId="{10CED503-0653-48F5-B188-D83A983C37D0}" destId="{7FC7E9A9-D49A-4AA9-9C5B-D09A72DB2942}" srcOrd="0" destOrd="0" presId="urn:microsoft.com/office/officeart/2005/8/layout/orgChart1"/>
    <dgm:cxn modelId="{0E16045B-73F4-473F-87B2-45DB3A997A45}" type="presParOf" srcId="{10CED503-0653-48F5-B188-D83A983C37D0}" destId="{14D3825E-B325-4F96-B464-7BF350E03D84}" srcOrd="1" destOrd="0" presId="urn:microsoft.com/office/officeart/2005/8/layout/orgChart1"/>
    <dgm:cxn modelId="{604B0454-CFEB-47A8-8137-FF993C202DE9}" type="presParOf" srcId="{8A082F3E-569E-4787-BC87-A8AF335D6015}" destId="{04E069E6-99E0-4E2F-930D-842FF9FAC5E8}" srcOrd="1" destOrd="0" presId="urn:microsoft.com/office/officeart/2005/8/layout/orgChart1"/>
    <dgm:cxn modelId="{282B2C2E-3E09-418F-9A3B-3453764D1FFA}" type="presParOf" srcId="{04E069E6-99E0-4E2F-930D-842FF9FAC5E8}" destId="{825AA6F3-6631-4D9D-9224-4D9DD5EE12CD}" srcOrd="0" destOrd="0" presId="urn:microsoft.com/office/officeart/2005/8/layout/orgChart1"/>
    <dgm:cxn modelId="{9138D915-AB70-48A6-85E8-DA8481813598}" type="presParOf" srcId="{04E069E6-99E0-4E2F-930D-842FF9FAC5E8}" destId="{ACFD8686-F4CF-4BAF-B2B1-0819C40911AD}" srcOrd="1" destOrd="0" presId="urn:microsoft.com/office/officeart/2005/8/layout/orgChart1"/>
    <dgm:cxn modelId="{3FEC56C4-23CC-4210-966B-01BB6A875F61}" type="presParOf" srcId="{ACFD8686-F4CF-4BAF-B2B1-0819C40911AD}" destId="{09DA88EB-5DBD-48AE-8405-0C196CFFF9CF}" srcOrd="0" destOrd="0" presId="urn:microsoft.com/office/officeart/2005/8/layout/orgChart1"/>
    <dgm:cxn modelId="{18CDE651-7640-457F-B35E-93881D890C2D}" type="presParOf" srcId="{09DA88EB-5DBD-48AE-8405-0C196CFFF9CF}" destId="{91E55866-39B5-4947-94E9-935CABB968DA}" srcOrd="0" destOrd="0" presId="urn:microsoft.com/office/officeart/2005/8/layout/orgChart1"/>
    <dgm:cxn modelId="{FCC94D5E-ABA3-42D5-874E-A3898AE4761A}" type="presParOf" srcId="{09DA88EB-5DBD-48AE-8405-0C196CFFF9CF}" destId="{A85ADF6C-5F34-4596-AA94-06CE1D06850C}" srcOrd="1" destOrd="0" presId="urn:microsoft.com/office/officeart/2005/8/layout/orgChart1"/>
    <dgm:cxn modelId="{BBE46967-8EDE-45A6-8B61-348943F1539E}" type="presParOf" srcId="{ACFD8686-F4CF-4BAF-B2B1-0819C40911AD}" destId="{DE7A0468-85F9-4102-A820-7D210C95A215}" srcOrd="1" destOrd="0" presId="urn:microsoft.com/office/officeart/2005/8/layout/orgChart1"/>
    <dgm:cxn modelId="{526D5134-FA48-4051-B0FC-DA2CC155F99C}" type="presParOf" srcId="{ACFD8686-F4CF-4BAF-B2B1-0819C40911AD}" destId="{A2BD709B-7D70-4C64-9279-245835E7EF01}" srcOrd="2" destOrd="0" presId="urn:microsoft.com/office/officeart/2005/8/layout/orgChart1"/>
    <dgm:cxn modelId="{B762E74F-577D-476C-8789-B9D14DA32ACC}" type="presParOf" srcId="{8A082F3E-569E-4787-BC87-A8AF335D6015}" destId="{7650194A-DBA9-433D-9911-B7C830CF9813}" srcOrd="2" destOrd="0" presId="urn:microsoft.com/office/officeart/2005/8/layout/orgChart1"/>
    <dgm:cxn modelId="{402AE256-C4FD-4153-BA0C-50AA2FA2863A}" type="presParOf" srcId="{305B0F3D-8708-4F03-AD9F-F1A1BF3980FF}" destId="{3DD7F595-BA7C-4976-A449-A909F3EE6036}" srcOrd="2" destOrd="0" presId="urn:microsoft.com/office/officeart/2005/8/layout/orgChart1"/>
    <dgm:cxn modelId="{2574ED33-4B81-4567-918C-FDFBB46684EC}" type="presParOf" srcId="{A47B659C-B439-4638-84CE-794AF9031F39}" destId="{F38A92F8-AE02-44CC-B092-B7B5CCFD7AB0}" srcOrd="1" destOrd="0" presId="urn:microsoft.com/office/officeart/2005/8/layout/orgChart1"/>
    <dgm:cxn modelId="{32B60698-F364-4A52-80AC-4F6268FDA632}" type="presParOf" srcId="{F38A92F8-AE02-44CC-B092-B7B5CCFD7AB0}" destId="{2B01853A-DC0C-461C-973F-9A2B2C3DE654}" srcOrd="0" destOrd="0" presId="urn:microsoft.com/office/officeart/2005/8/layout/orgChart1"/>
    <dgm:cxn modelId="{59DCE706-7FED-4BAB-A65A-05CF22281246}" type="presParOf" srcId="{2B01853A-DC0C-461C-973F-9A2B2C3DE654}" destId="{1B52D9C9-76B0-4089-876A-857B3073908F}" srcOrd="0" destOrd="0" presId="urn:microsoft.com/office/officeart/2005/8/layout/orgChart1"/>
    <dgm:cxn modelId="{DA534F1E-69E8-4E09-A5F0-4C9CC0FA6315}" type="presParOf" srcId="{2B01853A-DC0C-461C-973F-9A2B2C3DE654}" destId="{E47F6FE7-394A-4AA8-ADA8-7A0E3F25525D}" srcOrd="1" destOrd="0" presId="urn:microsoft.com/office/officeart/2005/8/layout/orgChart1"/>
    <dgm:cxn modelId="{BC9422DD-0C9A-4225-AA57-4D2E886AB1D1}" type="presParOf" srcId="{F38A92F8-AE02-44CC-B092-B7B5CCFD7AB0}" destId="{95855532-507A-40BD-9AEE-EEB99CFF88FD}" srcOrd="1" destOrd="0" presId="urn:microsoft.com/office/officeart/2005/8/layout/orgChart1"/>
    <dgm:cxn modelId="{356566F4-F1E9-4A04-929D-03CA18280228}" type="presParOf" srcId="{95855532-507A-40BD-9AEE-EEB99CFF88FD}" destId="{72E3DD1A-A702-4C52-9E84-A30D7B10654A}" srcOrd="0" destOrd="0" presId="urn:microsoft.com/office/officeart/2005/8/layout/orgChart1"/>
    <dgm:cxn modelId="{18C99D61-EC2B-49B4-BC00-71F69FAE630A}" type="presParOf" srcId="{95855532-507A-40BD-9AEE-EEB99CFF88FD}" destId="{0E93176D-B28F-4FAF-B13D-237F9E024B40}" srcOrd="1" destOrd="0" presId="urn:microsoft.com/office/officeart/2005/8/layout/orgChart1"/>
    <dgm:cxn modelId="{64E5C91F-664F-470C-8292-727649BBAC9C}" type="presParOf" srcId="{0E93176D-B28F-4FAF-B13D-237F9E024B40}" destId="{E38F6AC8-9BAF-4141-872B-37E391E21EDA}" srcOrd="0" destOrd="0" presId="urn:microsoft.com/office/officeart/2005/8/layout/orgChart1"/>
    <dgm:cxn modelId="{95DA77D3-1A9F-44D0-91C8-4A7A70C6EDA9}" type="presParOf" srcId="{E38F6AC8-9BAF-4141-872B-37E391E21EDA}" destId="{1DFB4023-1262-4EC0-B073-5A59AC8D3531}" srcOrd="0" destOrd="0" presId="urn:microsoft.com/office/officeart/2005/8/layout/orgChart1"/>
    <dgm:cxn modelId="{79176071-19AA-44AB-A2DE-3D31EDEFEF4E}" type="presParOf" srcId="{E38F6AC8-9BAF-4141-872B-37E391E21EDA}" destId="{E9393A24-798D-4BCE-A5B6-C0AB29977256}" srcOrd="1" destOrd="0" presId="urn:microsoft.com/office/officeart/2005/8/layout/orgChart1"/>
    <dgm:cxn modelId="{98310576-4701-48DB-910F-A08F112AA106}" type="presParOf" srcId="{0E93176D-B28F-4FAF-B13D-237F9E024B40}" destId="{1F1DE4B7-7D98-4760-A5BF-9B6A97C34AE3}" srcOrd="1" destOrd="0" presId="urn:microsoft.com/office/officeart/2005/8/layout/orgChart1"/>
    <dgm:cxn modelId="{3A55C96E-30E3-430F-AC6F-EAF7C36032A6}" type="presParOf" srcId="{1F1DE4B7-7D98-4760-A5BF-9B6A97C34AE3}" destId="{FB319980-1C9B-4288-AAE2-D883BB805325}" srcOrd="0" destOrd="0" presId="urn:microsoft.com/office/officeart/2005/8/layout/orgChart1"/>
    <dgm:cxn modelId="{1EB72B4E-C7F1-40D6-B3DB-0C3A8046947A}" type="presParOf" srcId="{1F1DE4B7-7D98-4760-A5BF-9B6A97C34AE3}" destId="{7070F05A-AC40-4A06-8B4A-F12DE1CAA563}" srcOrd="1" destOrd="0" presId="urn:microsoft.com/office/officeart/2005/8/layout/orgChart1"/>
    <dgm:cxn modelId="{B0366918-23BC-44A2-B6DC-9E86A175712A}" type="presParOf" srcId="{7070F05A-AC40-4A06-8B4A-F12DE1CAA563}" destId="{BF4CC2D2-8F09-4581-982E-8837A369673C}" srcOrd="0" destOrd="0" presId="urn:microsoft.com/office/officeart/2005/8/layout/orgChart1"/>
    <dgm:cxn modelId="{D33017D8-5E58-42C5-816B-271100792E27}" type="presParOf" srcId="{BF4CC2D2-8F09-4581-982E-8837A369673C}" destId="{44389E55-4331-4F47-BAEF-5A15F9F04950}" srcOrd="0" destOrd="0" presId="urn:microsoft.com/office/officeart/2005/8/layout/orgChart1"/>
    <dgm:cxn modelId="{41570E1D-34A5-41F0-8D71-4A769C1CB056}" type="presParOf" srcId="{BF4CC2D2-8F09-4581-982E-8837A369673C}" destId="{C3E36FB7-2875-408D-A52D-0B0E3A7253CB}" srcOrd="1" destOrd="0" presId="urn:microsoft.com/office/officeart/2005/8/layout/orgChart1"/>
    <dgm:cxn modelId="{95715224-2555-469B-BF3E-4D222599B53F}" type="presParOf" srcId="{7070F05A-AC40-4A06-8B4A-F12DE1CAA563}" destId="{2A705BB1-DA55-4FED-9E05-68ADD7C54DEC}" srcOrd="1" destOrd="0" presId="urn:microsoft.com/office/officeart/2005/8/layout/orgChart1"/>
    <dgm:cxn modelId="{F5B3D5FF-6EF9-4560-B099-9D3418CB19BE}" type="presParOf" srcId="{7070F05A-AC40-4A06-8B4A-F12DE1CAA563}" destId="{1A741BFD-867D-4324-A571-E5298E7E1A22}" srcOrd="2" destOrd="0" presId="urn:microsoft.com/office/officeart/2005/8/layout/orgChart1"/>
    <dgm:cxn modelId="{5D282D2F-E5CA-4199-BCEC-4DDB3F4DA02D}" type="presParOf" srcId="{0E93176D-B28F-4FAF-B13D-237F9E024B40}" destId="{31D120B9-57C5-4C16-9D5E-F0C458239C3F}" srcOrd="2" destOrd="0" presId="urn:microsoft.com/office/officeart/2005/8/layout/orgChart1"/>
    <dgm:cxn modelId="{70E35976-E50F-499F-B7F0-42F845BAA69F}" type="presParOf" srcId="{95855532-507A-40BD-9AEE-EEB99CFF88FD}" destId="{62E130A1-7A63-4F43-BC72-91F2FE810457}" srcOrd="2" destOrd="0" presId="urn:microsoft.com/office/officeart/2005/8/layout/orgChart1"/>
    <dgm:cxn modelId="{9945D369-0268-4E03-A64A-9E95FAD0A1CE}" type="presParOf" srcId="{95855532-507A-40BD-9AEE-EEB99CFF88FD}" destId="{18254253-1BD8-47EC-9535-0944C77E0A22}" srcOrd="3" destOrd="0" presId="urn:microsoft.com/office/officeart/2005/8/layout/orgChart1"/>
    <dgm:cxn modelId="{6D112D61-1876-4591-9422-3B2C6FF3C8C5}" type="presParOf" srcId="{18254253-1BD8-47EC-9535-0944C77E0A22}" destId="{050738D4-89C1-49CC-90A8-DD4806BAE8C9}" srcOrd="0" destOrd="0" presId="urn:microsoft.com/office/officeart/2005/8/layout/orgChart1"/>
    <dgm:cxn modelId="{ED4D7ADC-3526-4649-BA4C-FBAB06187B78}" type="presParOf" srcId="{050738D4-89C1-49CC-90A8-DD4806BAE8C9}" destId="{1A39A51B-87EE-4A7B-9B16-899FF9A38FC5}" srcOrd="0" destOrd="0" presId="urn:microsoft.com/office/officeart/2005/8/layout/orgChart1"/>
    <dgm:cxn modelId="{C938987A-8925-49FC-8832-A8672084563B}" type="presParOf" srcId="{050738D4-89C1-49CC-90A8-DD4806BAE8C9}" destId="{C11FD041-CA7D-4E02-B3C6-D7DA7A8DA128}" srcOrd="1" destOrd="0" presId="urn:microsoft.com/office/officeart/2005/8/layout/orgChart1"/>
    <dgm:cxn modelId="{A02E850C-832E-45B7-BF01-7CE871DE7DE7}" type="presParOf" srcId="{18254253-1BD8-47EC-9535-0944C77E0A22}" destId="{C8C1259E-4ECC-4B76-83A3-AE879517AB40}" srcOrd="1" destOrd="0" presId="urn:microsoft.com/office/officeart/2005/8/layout/orgChart1"/>
    <dgm:cxn modelId="{FC1B6459-44A7-47B6-B219-9156CF28CBB0}" type="presParOf" srcId="{C8C1259E-4ECC-4B76-83A3-AE879517AB40}" destId="{EC1807F3-B1E9-488F-AC98-91A15186AE38}" srcOrd="0" destOrd="0" presId="urn:microsoft.com/office/officeart/2005/8/layout/orgChart1"/>
    <dgm:cxn modelId="{43BD0485-2477-4BDB-937B-B0AB7D7B79AD}" type="presParOf" srcId="{C8C1259E-4ECC-4B76-83A3-AE879517AB40}" destId="{D6175B2E-D64C-4809-BE92-5B1CFF3A15E7}" srcOrd="1" destOrd="0" presId="urn:microsoft.com/office/officeart/2005/8/layout/orgChart1"/>
    <dgm:cxn modelId="{8B6233EB-F9FC-4D18-B772-C7CF5086ACFB}" type="presParOf" srcId="{D6175B2E-D64C-4809-BE92-5B1CFF3A15E7}" destId="{1DA6DFCD-EF21-4371-B6D0-90D886194891}" srcOrd="0" destOrd="0" presId="urn:microsoft.com/office/officeart/2005/8/layout/orgChart1"/>
    <dgm:cxn modelId="{33E37492-3F89-436A-ABB3-FF6B0EA2085F}" type="presParOf" srcId="{1DA6DFCD-EF21-4371-B6D0-90D886194891}" destId="{2873835A-D84B-464D-93FC-FF782677710B}" srcOrd="0" destOrd="0" presId="urn:microsoft.com/office/officeart/2005/8/layout/orgChart1"/>
    <dgm:cxn modelId="{1352C87B-22DF-4639-B116-4598ADC6486C}" type="presParOf" srcId="{1DA6DFCD-EF21-4371-B6D0-90D886194891}" destId="{47A97E26-4911-41A7-80EB-1ADA55C2F267}" srcOrd="1" destOrd="0" presId="urn:microsoft.com/office/officeart/2005/8/layout/orgChart1"/>
    <dgm:cxn modelId="{DEBF0FB3-B939-4122-9B0F-C56E15DEF6D8}" type="presParOf" srcId="{D6175B2E-D64C-4809-BE92-5B1CFF3A15E7}" destId="{B5A56331-F884-4780-9FDC-1F0B096FFC9C}" srcOrd="1" destOrd="0" presId="urn:microsoft.com/office/officeart/2005/8/layout/orgChart1"/>
    <dgm:cxn modelId="{64561C75-B68A-4CAF-A6D2-6B456CD30799}" type="presParOf" srcId="{D6175B2E-D64C-4809-BE92-5B1CFF3A15E7}" destId="{726980E8-F8FE-4205-BED8-03DFD06A6F9C}" srcOrd="2" destOrd="0" presId="urn:microsoft.com/office/officeart/2005/8/layout/orgChart1"/>
    <dgm:cxn modelId="{09965F90-3A79-426B-BB8E-349E1E827F77}" type="presParOf" srcId="{18254253-1BD8-47EC-9535-0944C77E0A22}" destId="{3DB05BB9-31B0-4E00-8504-B2C33B8FB65D}" srcOrd="2" destOrd="0" presId="urn:microsoft.com/office/officeart/2005/8/layout/orgChart1"/>
    <dgm:cxn modelId="{0BE16AA6-4DC0-4F0B-AA51-374DD57B8ADF}" type="presParOf" srcId="{95855532-507A-40BD-9AEE-EEB99CFF88FD}" destId="{83FD7BFA-9DF5-4BCF-9320-EC7DDD2A70D8}" srcOrd="4" destOrd="0" presId="urn:microsoft.com/office/officeart/2005/8/layout/orgChart1"/>
    <dgm:cxn modelId="{F088DB58-6E9D-4DDC-A576-97A4ECDBA643}" type="presParOf" srcId="{95855532-507A-40BD-9AEE-EEB99CFF88FD}" destId="{C20CEA86-670F-464A-8818-1B4FEA4CF753}" srcOrd="5" destOrd="0" presId="urn:microsoft.com/office/officeart/2005/8/layout/orgChart1"/>
    <dgm:cxn modelId="{F5541EBE-9EB2-4D09-8AEC-EB838C9A7423}" type="presParOf" srcId="{C20CEA86-670F-464A-8818-1B4FEA4CF753}" destId="{ACDFEDE7-07B1-44BA-AF7C-9BD092EF0FE5}" srcOrd="0" destOrd="0" presId="urn:microsoft.com/office/officeart/2005/8/layout/orgChart1"/>
    <dgm:cxn modelId="{E322FB07-6390-4678-AEC6-47642900727B}" type="presParOf" srcId="{ACDFEDE7-07B1-44BA-AF7C-9BD092EF0FE5}" destId="{0192169D-21B8-4AA9-A88E-D49A2BA866C8}" srcOrd="0" destOrd="0" presId="urn:microsoft.com/office/officeart/2005/8/layout/orgChart1"/>
    <dgm:cxn modelId="{CFE02706-FA87-432A-8F87-66E13EE76805}" type="presParOf" srcId="{ACDFEDE7-07B1-44BA-AF7C-9BD092EF0FE5}" destId="{9081BB7E-4208-4F89-AABC-6A360B59CB32}" srcOrd="1" destOrd="0" presId="urn:microsoft.com/office/officeart/2005/8/layout/orgChart1"/>
    <dgm:cxn modelId="{702968A8-A06A-4CAA-8787-BEF106D1E9E8}" type="presParOf" srcId="{C20CEA86-670F-464A-8818-1B4FEA4CF753}" destId="{A79D3F8E-1881-43A8-9A25-7867813E078E}" srcOrd="1" destOrd="0" presId="urn:microsoft.com/office/officeart/2005/8/layout/orgChart1"/>
    <dgm:cxn modelId="{CC6DFB8E-7DC4-4D95-B25F-9AE63B8E30F4}" type="presParOf" srcId="{A79D3F8E-1881-43A8-9A25-7867813E078E}" destId="{93A50B28-728F-4D2E-9324-22BA6951AED6}" srcOrd="0" destOrd="0" presId="urn:microsoft.com/office/officeart/2005/8/layout/orgChart1"/>
    <dgm:cxn modelId="{C3BA5C1E-B184-4DCF-AAD5-1456D8945257}" type="presParOf" srcId="{A79D3F8E-1881-43A8-9A25-7867813E078E}" destId="{1C8EAA97-4483-4713-8C7C-A99BA1EC3416}" srcOrd="1" destOrd="0" presId="urn:microsoft.com/office/officeart/2005/8/layout/orgChart1"/>
    <dgm:cxn modelId="{AABD1054-6464-4B7E-AEB8-9F3D289C5E12}" type="presParOf" srcId="{1C8EAA97-4483-4713-8C7C-A99BA1EC3416}" destId="{1B670E91-82E2-4790-A118-9C9607134B55}" srcOrd="0" destOrd="0" presId="urn:microsoft.com/office/officeart/2005/8/layout/orgChart1"/>
    <dgm:cxn modelId="{167B0135-2DC6-4C24-853A-5785579572EE}" type="presParOf" srcId="{1B670E91-82E2-4790-A118-9C9607134B55}" destId="{8C3FDA68-678D-458C-B621-85BC0E97B805}" srcOrd="0" destOrd="0" presId="urn:microsoft.com/office/officeart/2005/8/layout/orgChart1"/>
    <dgm:cxn modelId="{731BB0A7-6442-4701-8259-C7F8002D1B68}" type="presParOf" srcId="{1B670E91-82E2-4790-A118-9C9607134B55}" destId="{1D769D12-4639-425F-AFBB-E293667DE7BA}" srcOrd="1" destOrd="0" presId="urn:microsoft.com/office/officeart/2005/8/layout/orgChart1"/>
    <dgm:cxn modelId="{3B0D091A-3879-4375-A0C3-4133E11F7D85}" type="presParOf" srcId="{1C8EAA97-4483-4713-8C7C-A99BA1EC3416}" destId="{09CBDC96-4B87-4783-9C56-81CACA1B8354}" srcOrd="1" destOrd="0" presId="urn:microsoft.com/office/officeart/2005/8/layout/orgChart1"/>
    <dgm:cxn modelId="{F3A5BF4C-9016-4C6B-A6FA-E7A6939978CC}" type="presParOf" srcId="{1C8EAA97-4483-4713-8C7C-A99BA1EC3416}" destId="{5C211086-C9BE-4FE6-9462-A59347E3A60D}" srcOrd="2" destOrd="0" presId="urn:microsoft.com/office/officeart/2005/8/layout/orgChart1"/>
    <dgm:cxn modelId="{97AA3813-FAF2-4318-94CC-E0D2BEFEAEF7}" type="presParOf" srcId="{C20CEA86-670F-464A-8818-1B4FEA4CF753}" destId="{D34A754A-2C70-47B9-9A5C-00D62DA218E9}" srcOrd="2" destOrd="0" presId="urn:microsoft.com/office/officeart/2005/8/layout/orgChart1"/>
    <dgm:cxn modelId="{39059220-9BD0-4DD0-93B8-2915A847D010}" type="presParOf" srcId="{F38A92F8-AE02-44CC-B092-B7B5CCFD7AB0}" destId="{5900FF31-D643-4FF3-B707-FA2FF1CE716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ED684C-AA00-40A8-9109-1F6212CFC59A}"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E12FEE2A-753E-4DB5-A634-9636025FDE7C}">
      <dgm:prSet custT="1"/>
      <dgm:spPr/>
      <dgm:t>
        <a:bodyPr/>
        <a:lstStyle/>
        <a:p>
          <a:r>
            <a:rPr lang="en-US" sz="4400" dirty="0"/>
            <a:t>Every supplier is required to obtain registration if his aggregate turnover exceeds the limit as specified in the GST law.</a:t>
          </a:r>
        </a:p>
      </dgm:t>
    </dgm:pt>
    <dgm:pt modelId="{9E4043D9-9769-4529-846B-11BF8C4B6764}" type="parTrans" cxnId="{9C50098F-0D94-422A-9BE9-A3B59AF6EE9B}">
      <dgm:prSet/>
      <dgm:spPr/>
      <dgm:t>
        <a:bodyPr/>
        <a:lstStyle/>
        <a:p>
          <a:endParaRPr lang="en-US"/>
        </a:p>
      </dgm:t>
    </dgm:pt>
    <dgm:pt modelId="{DB8B0ED5-8FAB-4163-AA0D-41E33159D64C}" type="sibTrans" cxnId="{9C50098F-0D94-422A-9BE9-A3B59AF6EE9B}">
      <dgm:prSet/>
      <dgm:spPr/>
      <dgm:t>
        <a:bodyPr/>
        <a:lstStyle/>
        <a:p>
          <a:endParaRPr lang="en-US"/>
        </a:p>
      </dgm:t>
    </dgm:pt>
    <dgm:pt modelId="{225A986D-F7A0-4B6A-B2DA-683B1B542E57}">
      <dgm:prSet custT="1"/>
      <dgm:spPr/>
      <dgm:t>
        <a:bodyPr/>
        <a:lstStyle/>
        <a:p>
          <a:r>
            <a:rPr lang="en-US" sz="3600" dirty="0"/>
            <a:t>Currently, the limit is </a:t>
          </a:r>
          <a:r>
            <a:rPr lang="en-US" sz="3600" b="1" dirty="0"/>
            <a:t>₹ 40 lakhs</a:t>
          </a:r>
          <a:r>
            <a:rPr lang="en-US" sz="3600" dirty="0"/>
            <a:t> for people engaged only in supply of goods. (except for a few specified states)</a:t>
          </a:r>
        </a:p>
      </dgm:t>
    </dgm:pt>
    <dgm:pt modelId="{177A04E5-F737-4953-964D-E659C7523F13}" type="parTrans" cxnId="{AE44E2F1-13ED-4C51-911F-F850B8BBCD5B}">
      <dgm:prSet/>
      <dgm:spPr/>
      <dgm:t>
        <a:bodyPr/>
        <a:lstStyle/>
        <a:p>
          <a:endParaRPr lang="en-US"/>
        </a:p>
      </dgm:t>
    </dgm:pt>
    <dgm:pt modelId="{729250CA-BD51-4F8A-8A39-888FA40B14EA}" type="sibTrans" cxnId="{AE44E2F1-13ED-4C51-911F-F850B8BBCD5B}">
      <dgm:prSet/>
      <dgm:spPr/>
      <dgm:t>
        <a:bodyPr/>
        <a:lstStyle/>
        <a:p>
          <a:endParaRPr lang="en-US"/>
        </a:p>
      </dgm:t>
    </dgm:pt>
    <dgm:pt modelId="{A0F17BE6-0BE9-4198-AB25-FFD41D7FED2C}">
      <dgm:prSet custT="1"/>
      <dgm:spPr/>
      <dgm:t>
        <a:bodyPr/>
        <a:lstStyle/>
        <a:p>
          <a:r>
            <a:rPr lang="en-US" sz="3600" dirty="0"/>
            <a:t>And </a:t>
          </a:r>
          <a:r>
            <a:rPr lang="en-US" sz="3600" b="1" dirty="0"/>
            <a:t>₹ 20 lakhs</a:t>
          </a:r>
          <a:r>
            <a:rPr lang="en-US" sz="3600" dirty="0"/>
            <a:t> for people engaged in the supply of services or both goods and services.</a:t>
          </a:r>
        </a:p>
      </dgm:t>
    </dgm:pt>
    <dgm:pt modelId="{492AA020-D5A1-45FD-A1A8-423712100395}" type="parTrans" cxnId="{AE30438A-5311-43F9-B340-801EAA78388D}">
      <dgm:prSet/>
      <dgm:spPr/>
      <dgm:t>
        <a:bodyPr/>
        <a:lstStyle/>
        <a:p>
          <a:endParaRPr lang="en-US"/>
        </a:p>
      </dgm:t>
    </dgm:pt>
    <dgm:pt modelId="{95CEF8FC-25BC-4537-B086-766D83F40DA9}" type="sibTrans" cxnId="{AE30438A-5311-43F9-B340-801EAA78388D}">
      <dgm:prSet/>
      <dgm:spPr/>
      <dgm:t>
        <a:bodyPr/>
        <a:lstStyle/>
        <a:p>
          <a:endParaRPr lang="en-US"/>
        </a:p>
      </dgm:t>
    </dgm:pt>
    <dgm:pt modelId="{78317C1A-2B5D-4061-A1BD-9D23FA7883EB}" type="pres">
      <dgm:prSet presAssocID="{B5ED684C-AA00-40A8-9109-1F6212CFC59A}" presName="linear" presStyleCnt="0">
        <dgm:presLayoutVars>
          <dgm:animLvl val="lvl"/>
          <dgm:resizeHandles val="exact"/>
        </dgm:presLayoutVars>
      </dgm:prSet>
      <dgm:spPr/>
    </dgm:pt>
    <dgm:pt modelId="{1127BF59-2C42-4CBF-B0A9-5C4B044230EE}" type="pres">
      <dgm:prSet presAssocID="{E12FEE2A-753E-4DB5-A634-9636025FDE7C}" presName="parentText" presStyleLbl="node1" presStyleIdx="0" presStyleCnt="1">
        <dgm:presLayoutVars>
          <dgm:chMax val="0"/>
          <dgm:bulletEnabled val="1"/>
        </dgm:presLayoutVars>
      </dgm:prSet>
      <dgm:spPr/>
    </dgm:pt>
    <dgm:pt modelId="{78A1A3EF-A41A-4C15-AB73-F3AAFECE6964}" type="pres">
      <dgm:prSet presAssocID="{E12FEE2A-753E-4DB5-A634-9636025FDE7C}" presName="childText" presStyleLbl="revTx" presStyleIdx="0" presStyleCnt="1">
        <dgm:presLayoutVars>
          <dgm:bulletEnabled val="1"/>
        </dgm:presLayoutVars>
      </dgm:prSet>
      <dgm:spPr/>
    </dgm:pt>
  </dgm:ptLst>
  <dgm:cxnLst>
    <dgm:cxn modelId="{05E91D1B-FCC7-4EE2-A2EB-4877AB4F7E6A}" type="presOf" srcId="{E12FEE2A-753E-4DB5-A634-9636025FDE7C}" destId="{1127BF59-2C42-4CBF-B0A9-5C4B044230EE}" srcOrd="0" destOrd="0" presId="urn:microsoft.com/office/officeart/2005/8/layout/vList2"/>
    <dgm:cxn modelId="{1FF82876-AF62-4302-B8D1-9B972B21264D}" type="presOf" srcId="{B5ED684C-AA00-40A8-9109-1F6212CFC59A}" destId="{78317C1A-2B5D-4061-A1BD-9D23FA7883EB}" srcOrd="0" destOrd="0" presId="urn:microsoft.com/office/officeart/2005/8/layout/vList2"/>
    <dgm:cxn modelId="{AE30438A-5311-43F9-B340-801EAA78388D}" srcId="{E12FEE2A-753E-4DB5-A634-9636025FDE7C}" destId="{A0F17BE6-0BE9-4198-AB25-FFD41D7FED2C}" srcOrd="1" destOrd="0" parTransId="{492AA020-D5A1-45FD-A1A8-423712100395}" sibTransId="{95CEF8FC-25BC-4537-B086-766D83F40DA9}"/>
    <dgm:cxn modelId="{9C50098F-0D94-422A-9BE9-A3B59AF6EE9B}" srcId="{B5ED684C-AA00-40A8-9109-1F6212CFC59A}" destId="{E12FEE2A-753E-4DB5-A634-9636025FDE7C}" srcOrd="0" destOrd="0" parTransId="{9E4043D9-9769-4529-846B-11BF8C4B6764}" sibTransId="{DB8B0ED5-8FAB-4163-AA0D-41E33159D64C}"/>
    <dgm:cxn modelId="{21E4D6A7-308E-48F2-B898-E402162239C2}" type="presOf" srcId="{A0F17BE6-0BE9-4198-AB25-FFD41D7FED2C}" destId="{78A1A3EF-A41A-4C15-AB73-F3AAFECE6964}" srcOrd="0" destOrd="1" presId="urn:microsoft.com/office/officeart/2005/8/layout/vList2"/>
    <dgm:cxn modelId="{A1A514E9-3E8F-42AD-B9C1-5C6E081A7D28}" type="presOf" srcId="{225A986D-F7A0-4B6A-B2DA-683B1B542E57}" destId="{78A1A3EF-A41A-4C15-AB73-F3AAFECE6964}" srcOrd="0" destOrd="0" presId="urn:microsoft.com/office/officeart/2005/8/layout/vList2"/>
    <dgm:cxn modelId="{AE44E2F1-13ED-4C51-911F-F850B8BBCD5B}" srcId="{E12FEE2A-753E-4DB5-A634-9636025FDE7C}" destId="{225A986D-F7A0-4B6A-B2DA-683B1B542E57}" srcOrd="0" destOrd="0" parTransId="{177A04E5-F737-4953-964D-E659C7523F13}" sibTransId="{729250CA-BD51-4F8A-8A39-888FA40B14EA}"/>
    <dgm:cxn modelId="{B66A126A-7523-4E47-91B6-7D671AF4E32B}" type="presParOf" srcId="{78317C1A-2B5D-4061-A1BD-9D23FA7883EB}" destId="{1127BF59-2C42-4CBF-B0A9-5C4B044230EE}" srcOrd="0" destOrd="0" presId="urn:microsoft.com/office/officeart/2005/8/layout/vList2"/>
    <dgm:cxn modelId="{CBF6835A-A3C6-423D-89C8-3943C71BCB05}" type="presParOf" srcId="{78317C1A-2B5D-4061-A1BD-9D23FA7883EB}" destId="{78A1A3EF-A41A-4C15-AB73-F3AAFECE696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8BF0E1-5EEC-4ACC-A62A-EA699852DE41}" type="doc">
      <dgm:prSet loTypeId="urn:microsoft.com/office/officeart/2005/8/layout/venn1" loCatId="relationship" qsTypeId="urn:microsoft.com/office/officeart/2005/8/quickstyle/simple1" qsCatId="simple" csTypeId="urn:microsoft.com/office/officeart/2005/8/colors/colorful2" csCatId="colorful"/>
      <dgm:spPr/>
      <dgm:t>
        <a:bodyPr/>
        <a:lstStyle/>
        <a:p>
          <a:endParaRPr lang="en-US"/>
        </a:p>
      </dgm:t>
    </dgm:pt>
    <dgm:pt modelId="{A793DEF2-2317-4CED-A770-D42B87EF58D5}">
      <dgm:prSet/>
      <dgm:spPr/>
      <dgm:t>
        <a:bodyPr/>
        <a:lstStyle/>
        <a:p>
          <a:r>
            <a:rPr lang="en-US"/>
            <a:t>Includes </a:t>
          </a:r>
        </a:p>
      </dgm:t>
    </dgm:pt>
    <dgm:pt modelId="{37E3D60E-D23F-4CB1-AE09-83A895F0D825}" type="parTrans" cxnId="{AEED9809-8A42-4FE7-943A-C132DA10DC46}">
      <dgm:prSet/>
      <dgm:spPr/>
      <dgm:t>
        <a:bodyPr/>
        <a:lstStyle/>
        <a:p>
          <a:endParaRPr lang="en-US"/>
        </a:p>
      </dgm:t>
    </dgm:pt>
    <dgm:pt modelId="{EF502D49-067C-41C2-956D-963E59E1D5BF}" type="sibTrans" cxnId="{AEED9809-8A42-4FE7-943A-C132DA10DC46}">
      <dgm:prSet/>
      <dgm:spPr/>
      <dgm:t>
        <a:bodyPr/>
        <a:lstStyle/>
        <a:p>
          <a:endParaRPr lang="en-US"/>
        </a:p>
      </dgm:t>
    </dgm:pt>
    <dgm:pt modelId="{277BE903-EF43-4CC9-A082-263F395A2B25}">
      <dgm:prSet/>
      <dgm:spPr/>
      <dgm:t>
        <a:bodyPr/>
        <a:lstStyle/>
        <a:p>
          <a:r>
            <a:rPr lang="en-US"/>
            <a:t>Sale</a:t>
          </a:r>
        </a:p>
      </dgm:t>
    </dgm:pt>
    <dgm:pt modelId="{5503BE99-E429-4903-BE19-DD9E163A62B5}" type="parTrans" cxnId="{5AE03853-CB2B-4EAB-A2F2-2E87CEC2A63E}">
      <dgm:prSet/>
      <dgm:spPr/>
      <dgm:t>
        <a:bodyPr/>
        <a:lstStyle/>
        <a:p>
          <a:endParaRPr lang="en-US"/>
        </a:p>
      </dgm:t>
    </dgm:pt>
    <dgm:pt modelId="{541B3674-5983-4C85-BE25-4851DD7D5813}" type="sibTrans" cxnId="{5AE03853-CB2B-4EAB-A2F2-2E87CEC2A63E}">
      <dgm:prSet/>
      <dgm:spPr/>
      <dgm:t>
        <a:bodyPr/>
        <a:lstStyle/>
        <a:p>
          <a:endParaRPr lang="en-US"/>
        </a:p>
      </dgm:t>
    </dgm:pt>
    <dgm:pt modelId="{04D96DF1-D46F-4E59-956B-AC649DA4B7B3}">
      <dgm:prSet/>
      <dgm:spPr/>
      <dgm:t>
        <a:bodyPr/>
        <a:lstStyle/>
        <a:p>
          <a:r>
            <a:rPr lang="en-US"/>
            <a:t>Transfer</a:t>
          </a:r>
        </a:p>
      </dgm:t>
    </dgm:pt>
    <dgm:pt modelId="{62738286-4116-4082-B69C-789C705E45CD}" type="parTrans" cxnId="{24191CAD-1D56-4B2C-B18D-B069CF0B8379}">
      <dgm:prSet/>
      <dgm:spPr/>
      <dgm:t>
        <a:bodyPr/>
        <a:lstStyle/>
        <a:p>
          <a:endParaRPr lang="en-US"/>
        </a:p>
      </dgm:t>
    </dgm:pt>
    <dgm:pt modelId="{C51102A4-AE85-42AA-8194-AB0887809948}" type="sibTrans" cxnId="{24191CAD-1D56-4B2C-B18D-B069CF0B8379}">
      <dgm:prSet/>
      <dgm:spPr/>
      <dgm:t>
        <a:bodyPr/>
        <a:lstStyle/>
        <a:p>
          <a:endParaRPr lang="en-US"/>
        </a:p>
      </dgm:t>
    </dgm:pt>
    <dgm:pt modelId="{A98C00D5-6C28-4065-9F6F-EA214EF7CF9C}">
      <dgm:prSet/>
      <dgm:spPr/>
      <dgm:t>
        <a:bodyPr/>
        <a:lstStyle/>
        <a:p>
          <a:r>
            <a:rPr lang="en-US"/>
            <a:t>Barter</a:t>
          </a:r>
        </a:p>
      </dgm:t>
    </dgm:pt>
    <dgm:pt modelId="{8E9A9B74-FC59-46A1-BBF2-528EED9610C0}" type="parTrans" cxnId="{CE7BA05D-0A45-4C20-B376-9D738E442CA0}">
      <dgm:prSet/>
      <dgm:spPr/>
      <dgm:t>
        <a:bodyPr/>
        <a:lstStyle/>
        <a:p>
          <a:endParaRPr lang="en-US"/>
        </a:p>
      </dgm:t>
    </dgm:pt>
    <dgm:pt modelId="{BA5289CB-BFBE-4218-B588-61EAA2F8A180}" type="sibTrans" cxnId="{CE7BA05D-0A45-4C20-B376-9D738E442CA0}">
      <dgm:prSet/>
      <dgm:spPr/>
      <dgm:t>
        <a:bodyPr/>
        <a:lstStyle/>
        <a:p>
          <a:endParaRPr lang="en-US"/>
        </a:p>
      </dgm:t>
    </dgm:pt>
    <dgm:pt modelId="{3B8D59BC-6E4C-414A-97D4-056144262BC2}">
      <dgm:prSet/>
      <dgm:spPr/>
      <dgm:t>
        <a:bodyPr/>
        <a:lstStyle/>
        <a:p>
          <a:r>
            <a:rPr lang="en-US"/>
            <a:t>Exchange</a:t>
          </a:r>
        </a:p>
      </dgm:t>
    </dgm:pt>
    <dgm:pt modelId="{2253D910-7B44-45AA-97D0-BA6E890C5A3A}" type="parTrans" cxnId="{1D1AC5EA-B697-4AF3-A23F-F74158829FF5}">
      <dgm:prSet/>
      <dgm:spPr/>
      <dgm:t>
        <a:bodyPr/>
        <a:lstStyle/>
        <a:p>
          <a:endParaRPr lang="en-US"/>
        </a:p>
      </dgm:t>
    </dgm:pt>
    <dgm:pt modelId="{777E7753-88C6-4DB8-A8AC-5B77BA6E158A}" type="sibTrans" cxnId="{1D1AC5EA-B697-4AF3-A23F-F74158829FF5}">
      <dgm:prSet/>
      <dgm:spPr/>
      <dgm:t>
        <a:bodyPr/>
        <a:lstStyle/>
        <a:p>
          <a:endParaRPr lang="en-US"/>
        </a:p>
      </dgm:t>
    </dgm:pt>
    <dgm:pt modelId="{F6E35593-A653-47BE-A80E-7BFB18E353E0}">
      <dgm:prSet/>
      <dgm:spPr/>
      <dgm:t>
        <a:bodyPr/>
        <a:lstStyle/>
        <a:p>
          <a:r>
            <a:rPr lang="en-US"/>
            <a:t>License</a:t>
          </a:r>
        </a:p>
      </dgm:t>
    </dgm:pt>
    <dgm:pt modelId="{20603762-4528-4A60-9FDA-1E7CEE311C16}" type="parTrans" cxnId="{063FD0F6-EE09-4348-ADC4-2DB5087983AD}">
      <dgm:prSet/>
      <dgm:spPr/>
      <dgm:t>
        <a:bodyPr/>
        <a:lstStyle/>
        <a:p>
          <a:endParaRPr lang="en-US"/>
        </a:p>
      </dgm:t>
    </dgm:pt>
    <dgm:pt modelId="{4100B778-239A-4548-97BA-71CCA4192E79}" type="sibTrans" cxnId="{063FD0F6-EE09-4348-ADC4-2DB5087983AD}">
      <dgm:prSet/>
      <dgm:spPr/>
      <dgm:t>
        <a:bodyPr/>
        <a:lstStyle/>
        <a:p>
          <a:endParaRPr lang="en-US"/>
        </a:p>
      </dgm:t>
    </dgm:pt>
    <dgm:pt modelId="{F215459A-FFC6-45C9-AF01-A539A9CBDB92}">
      <dgm:prSet/>
      <dgm:spPr/>
      <dgm:t>
        <a:bodyPr/>
        <a:lstStyle/>
        <a:p>
          <a:r>
            <a:rPr lang="en-US"/>
            <a:t>Rental</a:t>
          </a:r>
        </a:p>
      </dgm:t>
    </dgm:pt>
    <dgm:pt modelId="{66DABEF8-4EC3-46EB-B9E3-0646042C58DC}" type="parTrans" cxnId="{4ECA68B0-1FA1-490D-8C79-FC7F87DCA9BC}">
      <dgm:prSet/>
      <dgm:spPr/>
      <dgm:t>
        <a:bodyPr/>
        <a:lstStyle/>
        <a:p>
          <a:endParaRPr lang="en-US"/>
        </a:p>
      </dgm:t>
    </dgm:pt>
    <dgm:pt modelId="{4937715F-BC6B-48A6-A3E7-A2398614C982}" type="sibTrans" cxnId="{4ECA68B0-1FA1-490D-8C79-FC7F87DCA9BC}">
      <dgm:prSet/>
      <dgm:spPr/>
      <dgm:t>
        <a:bodyPr/>
        <a:lstStyle/>
        <a:p>
          <a:endParaRPr lang="en-US"/>
        </a:p>
      </dgm:t>
    </dgm:pt>
    <dgm:pt modelId="{1D606EF3-2750-4111-8D94-2C877B343EE7}">
      <dgm:prSet/>
      <dgm:spPr/>
      <dgm:t>
        <a:bodyPr/>
        <a:lstStyle/>
        <a:p>
          <a:r>
            <a:rPr lang="en-US"/>
            <a:t>Lease</a:t>
          </a:r>
        </a:p>
      </dgm:t>
    </dgm:pt>
    <dgm:pt modelId="{8D603F75-A364-4224-8132-E0A12860C707}" type="parTrans" cxnId="{4685E2E5-37BC-4563-A707-CBF19B437757}">
      <dgm:prSet/>
      <dgm:spPr/>
      <dgm:t>
        <a:bodyPr/>
        <a:lstStyle/>
        <a:p>
          <a:endParaRPr lang="en-US"/>
        </a:p>
      </dgm:t>
    </dgm:pt>
    <dgm:pt modelId="{3AB00A79-9518-4A24-9F6F-B98C76889B6F}" type="sibTrans" cxnId="{4685E2E5-37BC-4563-A707-CBF19B437757}">
      <dgm:prSet/>
      <dgm:spPr/>
      <dgm:t>
        <a:bodyPr/>
        <a:lstStyle/>
        <a:p>
          <a:endParaRPr lang="en-US"/>
        </a:p>
      </dgm:t>
    </dgm:pt>
    <dgm:pt modelId="{25DD2D42-2532-44FD-BFC9-456702AB7CC3}">
      <dgm:prSet/>
      <dgm:spPr/>
      <dgm:t>
        <a:bodyPr/>
        <a:lstStyle/>
        <a:p>
          <a:r>
            <a:rPr lang="en-US"/>
            <a:t>disposal</a:t>
          </a:r>
        </a:p>
      </dgm:t>
    </dgm:pt>
    <dgm:pt modelId="{A1CE1696-12D1-416F-B40E-65B90A8348F2}" type="parTrans" cxnId="{B24C7565-F073-4347-8598-39B8C7BE9652}">
      <dgm:prSet/>
      <dgm:spPr/>
      <dgm:t>
        <a:bodyPr/>
        <a:lstStyle/>
        <a:p>
          <a:endParaRPr lang="en-US"/>
        </a:p>
      </dgm:t>
    </dgm:pt>
    <dgm:pt modelId="{0514B844-F5E2-4C83-A0EE-78BDC9485DD6}" type="sibTrans" cxnId="{B24C7565-F073-4347-8598-39B8C7BE9652}">
      <dgm:prSet/>
      <dgm:spPr/>
      <dgm:t>
        <a:bodyPr/>
        <a:lstStyle/>
        <a:p>
          <a:endParaRPr lang="en-US"/>
        </a:p>
      </dgm:t>
    </dgm:pt>
    <dgm:pt modelId="{FA10C4BE-4963-4759-81FE-E205B11D0A94}">
      <dgm:prSet/>
      <dgm:spPr/>
      <dgm:t>
        <a:bodyPr/>
        <a:lstStyle/>
        <a:p>
          <a:r>
            <a:rPr lang="en-US" b="1"/>
            <a:t>Made or agreed to be made</a:t>
          </a:r>
          <a:r>
            <a:rPr lang="en-US"/>
            <a:t> for a </a:t>
          </a:r>
          <a:r>
            <a:rPr lang="en-US" b="1"/>
            <a:t>consideration</a:t>
          </a:r>
          <a:r>
            <a:rPr lang="en-US"/>
            <a:t> by a person in the </a:t>
          </a:r>
          <a:r>
            <a:rPr lang="en-US" b="1"/>
            <a:t>course or furtherance of business.</a:t>
          </a:r>
          <a:endParaRPr lang="en-US"/>
        </a:p>
      </dgm:t>
    </dgm:pt>
    <dgm:pt modelId="{0541EFCC-5D6A-442F-8EEE-0260C2FE7D89}" type="parTrans" cxnId="{B8B1A951-B0B3-42CF-A29B-74322A48DFC1}">
      <dgm:prSet/>
      <dgm:spPr/>
      <dgm:t>
        <a:bodyPr/>
        <a:lstStyle/>
        <a:p>
          <a:endParaRPr lang="en-US"/>
        </a:p>
      </dgm:t>
    </dgm:pt>
    <dgm:pt modelId="{EA17886B-B091-4693-968B-7F22EB193476}" type="sibTrans" cxnId="{B8B1A951-B0B3-42CF-A29B-74322A48DFC1}">
      <dgm:prSet/>
      <dgm:spPr/>
      <dgm:t>
        <a:bodyPr/>
        <a:lstStyle/>
        <a:p>
          <a:endParaRPr lang="en-US"/>
        </a:p>
      </dgm:t>
    </dgm:pt>
    <dgm:pt modelId="{751A9B9F-9389-4438-9D5A-084D02BD82C3}" type="pres">
      <dgm:prSet presAssocID="{448BF0E1-5EEC-4ACC-A62A-EA699852DE41}" presName="compositeShape" presStyleCnt="0">
        <dgm:presLayoutVars>
          <dgm:chMax val="7"/>
          <dgm:dir/>
          <dgm:resizeHandles val="exact"/>
        </dgm:presLayoutVars>
      </dgm:prSet>
      <dgm:spPr/>
    </dgm:pt>
    <dgm:pt modelId="{2AA23200-863B-42FD-9FF0-4825B60A1ED6}" type="pres">
      <dgm:prSet presAssocID="{A793DEF2-2317-4CED-A770-D42B87EF58D5}" presName="circ1" presStyleLbl="vennNode1" presStyleIdx="0" presStyleCnt="2"/>
      <dgm:spPr/>
    </dgm:pt>
    <dgm:pt modelId="{10E72B11-2101-4D44-8547-9CD8986F7539}" type="pres">
      <dgm:prSet presAssocID="{A793DEF2-2317-4CED-A770-D42B87EF58D5}" presName="circ1Tx" presStyleLbl="revTx" presStyleIdx="0" presStyleCnt="0">
        <dgm:presLayoutVars>
          <dgm:chMax val="0"/>
          <dgm:chPref val="0"/>
          <dgm:bulletEnabled val="1"/>
        </dgm:presLayoutVars>
      </dgm:prSet>
      <dgm:spPr/>
    </dgm:pt>
    <dgm:pt modelId="{029EE35B-E74D-492C-9936-C144580AB365}" type="pres">
      <dgm:prSet presAssocID="{FA10C4BE-4963-4759-81FE-E205B11D0A94}" presName="circ2" presStyleLbl="vennNode1" presStyleIdx="1" presStyleCnt="2"/>
      <dgm:spPr/>
    </dgm:pt>
    <dgm:pt modelId="{21D43D3F-6BD7-4BB3-A3C2-961BE5950FDF}" type="pres">
      <dgm:prSet presAssocID="{FA10C4BE-4963-4759-81FE-E205B11D0A94}" presName="circ2Tx" presStyleLbl="revTx" presStyleIdx="0" presStyleCnt="0">
        <dgm:presLayoutVars>
          <dgm:chMax val="0"/>
          <dgm:chPref val="0"/>
          <dgm:bulletEnabled val="1"/>
        </dgm:presLayoutVars>
      </dgm:prSet>
      <dgm:spPr/>
    </dgm:pt>
  </dgm:ptLst>
  <dgm:cxnLst>
    <dgm:cxn modelId="{AEED9809-8A42-4FE7-943A-C132DA10DC46}" srcId="{448BF0E1-5EEC-4ACC-A62A-EA699852DE41}" destId="{A793DEF2-2317-4CED-A770-D42B87EF58D5}" srcOrd="0" destOrd="0" parTransId="{37E3D60E-D23F-4CB1-AE09-83A895F0D825}" sibTransId="{EF502D49-067C-41C2-956D-963E59E1D5BF}"/>
    <dgm:cxn modelId="{1D8FA40F-3D1C-4363-9FD6-71170E56837C}" type="presOf" srcId="{A793DEF2-2317-4CED-A770-D42B87EF58D5}" destId="{2AA23200-863B-42FD-9FF0-4825B60A1ED6}" srcOrd="0" destOrd="0" presId="urn:microsoft.com/office/officeart/2005/8/layout/venn1"/>
    <dgm:cxn modelId="{3CC94F14-E7AD-49AA-85BD-3AEF88A7CE95}" type="presOf" srcId="{FA10C4BE-4963-4759-81FE-E205B11D0A94}" destId="{21D43D3F-6BD7-4BB3-A3C2-961BE5950FDF}" srcOrd="1" destOrd="0" presId="urn:microsoft.com/office/officeart/2005/8/layout/venn1"/>
    <dgm:cxn modelId="{3D5BA118-BB68-4573-A821-D27606AAB44E}" type="presOf" srcId="{A793DEF2-2317-4CED-A770-D42B87EF58D5}" destId="{10E72B11-2101-4D44-8547-9CD8986F7539}" srcOrd="1" destOrd="0" presId="urn:microsoft.com/office/officeart/2005/8/layout/venn1"/>
    <dgm:cxn modelId="{5FF59C21-26C4-442E-B581-5C75D8A7305B}" type="presOf" srcId="{04D96DF1-D46F-4E59-956B-AC649DA4B7B3}" destId="{10E72B11-2101-4D44-8547-9CD8986F7539}" srcOrd="1" destOrd="2" presId="urn:microsoft.com/office/officeart/2005/8/layout/venn1"/>
    <dgm:cxn modelId="{1A81DB31-3301-43A7-9E1B-2AA4A61127EF}" type="presOf" srcId="{FA10C4BE-4963-4759-81FE-E205B11D0A94}" destId="{029EE35B-E74D-492C-9936-C144580AB365}" srcOrd="0" destOrd="0" presId="urn:microsoft.com/office/officeart/2005/8/layout/venn1"/>
    <dgm:cxn modelId="{A63FE933-27D2-4A85-81CC-E048D115F8B7}" type="presOf" srcId="{25DD2D42-2532-44FD-BFC9-456702AB7CC3}" destId="{2AA23200-863B-42FD-9FF0-4825B60A1ED6}" srcOrd="0" destOrd="8" presId="urn:microsoft.com/office/officeart/2005/8/layout/venn1"/>
    <dgm:cxn modelId="{CE7BA05D-0A45-4C20-B376-9D738E442CA0}" srcId="{A793DEF2-2317-4CED-A770-D42B87EF58D5}" destId="{A98C00D5-6C28-4065-9F6F-EA214EF7CF9C}" srcOrd="2" destOrd="0" parTransId="{8E9A9B74-FC59-46A1-BBF2-528EED9610C0}" sibTransId="{BA5289CB-BFBE-4218-B588-61EAA2F8A180}"/>
    <dgm:cxn modelId="{B24C7565-F073-4347-8598-39B8C7BE9652}" srcId="{A793DEF2-2317-4CED-A770-D42B87EF58D5}" destId="{25DD2D42-2532-44FD-BFC9-456702AB7CC3}" srcOrd="7" destOrd="0" parTransId="{A1CE1696-12D1-416F-B40E-65B90A8348F2}" sibTransId="{0514B844-F5E2-4C83-A0EE-78BDC9485DD6}"/>
    <dgm:cxn modelId="{3AA16F4D-8D00-4030-AC85-041936AC5BE3}" type="presOf" srcId="{448BF0E1-5EEC-4ACC-A62A-EA699852DE41}" destId="{751A9B9F-9389-4438-9D5A-084D02BD82C3}" srcOrd="0" destOrd="0" presId="urn:microsoft.com/office/officeart/2005/8/layout/venn1"/>
    <dgm:cxn modelId="{B8B1A951-B0B3-42CF-A29B-74322A48DFC1}" srcId="{448BF0E1-5EEC-4ACC-A62A-EA699852DE41}" destId="{FA10C4BE-4963-4759-81FE-E205B11D0A94}" srcOrd="1" destOrd="0" parTransId="{0541EFCC-5D6A-442F-8EEE-0260C2FE7D89}" sibTransId="{EA17886B-B091-4693-968B-7F22EB193476}"/>
    <dgm:cxn modelId="{7B075972-383F-4AE6-9B77-C79507021E95}" type="presOf" srcId="{277BE903-EF43-4CC9-A082-263F395A2B25}" destId="{2AA23200-863B-42FD-9FF0-4825B60A1ED6}" srcOrd="0" destOrd="1" presId="urn:microsoft.com/office/officeart/2005/8/layout/venn1"/>
    <dgm:cxn modelId="{5AE03853-CB2B-4EAB-A2F2-2E87CEC2A63E}" srcId="{A793DEF2-2317-4CED-A770-D42B87EF58D5}" destId="{277BE903-EF43-4CC9-A082-263F395A2B25}" srcOrd="0" destOrd="0" parTransId="{5503BE99-E429-4903-BE19-DD9E163A62B5}" sibTransId="{541B3674-5983-4C85-BE25-4851DD7D5813}"/>
    <dgm:cxn modelId="{736B8073-1FD4-4EA3-9A1F-6C055F2986D0}" type="presOf" srcId="{1D606EF3-2750-4111-8D94-2C877B343EE7}" destId="{2AA23200-863B-42FD-9FF0-4825B60A1ED6}" srcOrd="0" destOrd="7" presId="urn:microsoft.com/office/officeart/2005/8/layout/venn1"/>
    <dgm:cxn modelId="{25CBA454-2FF5-458B-9A1A-A612C656B8BC}" type="presOf" srcId="{277BE903-EF43-4CC9-A082-263F395A2B25}" destId="{10E72B11-2101-4D44-8547-9CD8986F7539}" srcOrd="1" destOrd="1" presId="urn:microsoft.com/office/officeart/2005/8/layout/venn1"/>
    <dgm:cxn modelId="{DFDAE677-E4B4-41B7-BD5B-A14A119E0D39}" type="presOf" srcId="{F215459A-FFC6-45C9-AF01-A539A9CBDB92}" destId="{10E72B11-2101-4D44-8547-9CD8986F7539}" srcOrd="1" destOrd="6" presId="urn:microsoft.com/office/officeart/2005/8/layout/venn1"/>
    <dgm:cxn modelId="{05A2AB7E-7769-44D0-9C6A-169D72B2411B}" type="presOf" srcId="{F6E35593-A653-47BE-A80E-7BFB18E353E0}" destId="{2AA23200-863B-42FD-9FF0-4825B60A1ED6}" srcOrd="0" destOrd="5" presId="urn:microsoft.com/office/officeart/2005/8/layout/venn1"/>
    <dgm:cxn modelId="{1DC3E388-30B8-48AD-A4D9-A3C64E49F32F}" type="presOf" srcId="{25DD2D42-2532-44FD-BFC9-456702AB7CC3}" destId="{10E72B11-2101-4D44-8547-9CD8986F7539}" srcOrd="1" destOrd="8" presId="urn:microsoft.com/office/officeart/2005/8/layout/venn1"/>
    <dgm:cxn modelId="{BD46DAA1-3F66-4B72-B1FD-AD93B203B900}" type="presOf" srcId="{3B8D59BC-6E4C-414A-97D4-056144262BC2}" destId="{2AA23200-863B-42FD-9FF0-4825B60A1ED6}" srcOrd="0" destOrd="4" presId="urn:microsoft.com/office/officeart/2005/8/layout/venn1"/>
    <dgm:cxn modelId="{F1AF75A4-C618-4CBD-8AF1-028EE53BB3CF}" type="presOf" srcId="{1D606EF3-2750-4111-8D94-2C877B343EE7}" destId="{10E72B11-2101-4D44-8547-9CD8986F7539}" srcOrd="1" destOrd="7" presId="urn:microsoft.com/office/officeart/2005/8/layout/venn1"/>
    <dgm:cxn modelId="{24191CAD-1D56-4B2C-B18D-B069CF0B8379}" srcId="{A793DEF2-2317-4CED-A770-D42B87EF58D5}" destId="{04D96DF1-D46F-4E59-956B-AC649DA4B7B3}" srcOrd="1" destOrd="0" parTransId="{62738286-4116-4082-B69C-789C705E45CD}" sibTransId="{C51102A4-AE85-42AA-8194-AB0887809948}"/>
    <dgm:cxn modelId="{4ECA68B0-1FA1-490D-8C79-FC7F87DCA9BC}" srcId="{A793DEF2-2317-4CED-A770-D42B87EF58D5}" destId="{F215459A-FFC6-45C9-AF01-A539A9CBDB92}" srcOrd="5" destOrd="0" parTransId="{66DABEF8-4EC3-46EB-B9E3-0646042C58DC}" sibTransId="{4937715F-BC6B-48A6-A3E7-A2398614C982}"/>
    <dgm:cxn modelId="{1CDA56B1-68B3-4673-8FA9-8CD733B7CD06}" type="presOf" srcId="{F6E35593-A653-47BE-A80E-7BFB18E353E0}" destId="{10E72B11-2101-4D44-8547-9CD8986F7539}" srcOrd="1" destOrd="5" presId="urn:microsoft.com/office/officeart/2005/8/layout/venn1"/>
    <dgm:cxn modelId="{30E865C7-59E3-4019-B60F-133421151C3B}" type="presOf" srcId="{04D96DF1-D46F-4E59-956B-AC649DA4B7B3}" destId="{2AA23200-863B-42FD-9FF0-4825B60A1ED6}" srcOrd="0" destOrd="2" presId="urn:microsoft.com/office/officeart/2005/8/layout/venn1"/>
    <dgm:cxn modelId="{BDC398C8-6CD6-4125-B745-C6C49E6C6EEE}" type="presOf" srcId="{3B8D59BC-6E4C-414A-97D4-056144262BC2}" destId="{10E72B11-2101-4D44-8547-9CD8986F7539}" srcOrd="1" destOrd="4" presId="urn:microsoft.com/office/officeart/2005/8/layout/venn1"/>
    <dgm:cxn modelId="{973B7FD4-E24A-4119-9249-B799E3F5A041}" type="presOf" srcId="{F215459A-FFC6-45C9-AF01-A539A9CBDB92}" destId="{2AA23200-863B-42FD-9FF0-4825B60A1ED6}" srcOrd="0" destOrd="6" presId="urn:microsoft.com/office/officeart/2005/8/layout/venn1"/>
    <dgm:cxn modelId="{4685E2E5-37BC-4563-A707-CBF19B437757}" srcId="{A793DEF2-2317-4CED-A770-D42B87EF58D5}" destId="{1D606EF3-2750-4111-8D94-2C877B343EE7}" srcOrd="6" destOrd="0" parTransId="{8D603F75-A364-4224-8132-E0A12860C707}" sibTransId="{3AB00A79-9518-4A24-9F6F-B98C76889B6F}"/>
    <dgm:cxn modelId="{1D1AC5EA-B697-4AF3-A23F-F74158829FF5}" srcId="{A793DEF2-2317-4CED-A770-D42B87EF58D5}" destId="{3B8D59BC-6E4C-414A-97D4-056144262BC2}" srcOrd="3" destOrd="0" parTransId="{2253D910-7B44-45AA-97D0-BA6E890C5A3A}" sibTransId="{777E7753-88C6-4DB8-A8AC-5B77BA6E158A}"/>
    <dgm:cxn modelId="{EE4FDFED-783B-44E1-B4B8-F206FAE8ABA1}" type="presOf" srcId="{A98C00D5-6C28-4065-9F6F-EA214EF7CF9C}" destId="{10E72B11-2101-4D44-8547-9CD8986F7539}" srcOrd="1" destOrd="3" presId="urn:microsoft.com/office/officeart/2005/8/layout/venn1"/>
    <dgm:cxn modelId="{644003F0-E8A9-4CDB-9910-0985BF2C624F}" type="presOf" srcId="{A98C00D5-6C28-4065-9F6F-EA214EF7CF9C}" destId="{2AA23200-863B-42FD-9FF0-4825B60A1ED6}" srcOrd="0" destOrd="3" presId="urn:microsoft.com/office/officeart/2005/8/layout/venn1"/>
    <dgm:cxn modelId="{063FD0F6-EE09-4348-ADC4-2DB5087983AD}" srcId="{A793DEF2-2317-4CED-A770-D42B87EF58D5}" destId="{F6E35593-A653-47BE-A80E-7BFB18E353E0}" srcOrd="4" destOrd="0" parTransId="{20603762-4528-4A60-9FDA-1E7CEE311C16}" sibTransId="{4100B778-239A-4548-97BA-71CCA4192E79}"/>
    <dgm:cxn modelId="{F74451BE-AC73-40CA-8AB9-CA3DC5177A10}" type="presParOf" srcId="{751A9B9F-9389-4438-9D5A-084D02BD82C3}" destId="{2AA23200-863B-42FD-9FF0-4825B60A1ED6}" srcOrd="0" destOrd="0" presId="urn:microsoft.com/office/officeart/2005/8/layout/venn1"/>
    <dgm:cxn modelId="{6253EE42-9A7A-4EF3-9262-E675F57E8FA7}" type="presParOf" srcId="{751A9B9F-9389-4438-9D5A-084D02BD82C3}" destId="{10E72B11-2101-4D44-8547-9CD8986F7539}" srcOrd="1" destOrd="0" presId="urn:microsoft.com/office/officeart/2005/8/layout/venn1"/>
    <dgm:cxn modelId="{9D12F4AC-002F-4821-8E13-FBE077753F09}" type="presParOf" srcId="{751A9B9F-9389-4438-9D5A-084D02BD82C3}" destId="{029EE35B-E74D-492C-9936-C144580AB365}" srcOrd="2" destOrd="0" presId="urn:microsoft.com/office/officeart/2005/8/layout/venn1"/>
    <dgm:cxn modelId="{020D4DC6-000C-4980-909D-8D6E40B9E987}" type="presParOf" srcId="{751A9B9F-9389-4438-9D5A-084D02BD82C3}" destId="{21D43D3F-6BD7-4BB3-A3C2-961BE5950FD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32F7B9-7F52-41F3-B5E0-94832724A268}"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US"/>
        </a:p>
      </dgm:t>
    </dgm:pt>
    <dgm:pt modelId="{031E90E5-75AA-4C71-8F32-6F2B23FC0488}">
      <dgm:prSet/>
      <dgm:spPr/>
      <dgm:t>
        <a:bodyPr/>
        <a:lstStyle/>
        <a:p>
          <a:r>
            <a:rPr lang="en-US"/>
            <a:t>Taxable Supply – GST applicable</a:t>
          </a:r>
        </a:p>
      </dgm:t>
    </dgm:pt>
    <dgm:pt modelId="{3DBB3762-00A8-47A1-B810-048E97C58A40}" type="parTrans" cxnId="{61BF4319-2357-4372-BF25-2CDEA303F8EA}">
      <dgm:prSet/>
      <dgm:spPr/>
      <dgm:t>
        <a:bodyPr/>
        <a:lstStyle/>
        <a:p>
          <a:endParaRPr lang="en-US"/>
        </a:p>
      </dgm:t>
    </dgm:pt>
    <dgm:pt modelId="{75048AE4-2552-445E-9F62-68E827BC5292}" type="sibTrans" cxnId="{61BF4319-2357-4372-BF25-2CDEA303F8EA}">
      <dgm:prSet/>
      <dgm:spPr/>
      <dgm:t>
        <a:bodyPr/>
        <a:lstStyle/>
        <a:p>
          <a:endParaRPr lang="en-US"/>
        </a:p>
      </dgm:t>
    </dgm:pt>
    <dgm:pt modelId="{84AB8787-3EAC-4866-8D39-FAC69DEB94B3}">
      <dgm:prSet/>
      <dgm:spPr/>
      <dgm:t>
        <a:bodyPr/>
        <a:lstStyle/>
        <a:p>
          <a:r>
            <a:rPr lang="en-US"/>
            <a:t>Exempt Supply – No GST</a:t>
          </a:r>
        </a:p>
      </dgm:t>
    </dgm:pt>
    <dgm:pt modelId="{F895E21E-7343-4320-AAD3-1C4BF3AA4377}" type="parTrans" cxnId="{4B7A2AB5-C0A2-4D17-BE37-D8D3C56BCCC3}">
      <dgm:prSet/>
      <dgm:spPr/>
      <dgm:t>
        <a:bodyPr/>
        <a:lstStyle/>
        <a:p>
          <a:endParaRPr lang="en-US"/>
        </a:p>
      </dgm:t>
    </dgm:pt>
    <dgm:pt modelId="{E613E432-53AB-4675-8F19-D2622012E80C}" type="sibTrans" cxnId="{4B7A2AB5-C0A2-4D17-BE37-D8D3C56BCCC3}">
      <dgm:prSet/>
      <dgm:spPr/>
      <dgm:t>
        <a:bodyPr/>
        <a:lstStyle/>
        <a:p>
          <a:endParaRPr lang="en-US"/>
        </a:p>
      </dgm:t>
    </dgm:pt>
    <dgm:pt modelId="{DDF55748-7876-4ABF-8CD4-79A98A22C7DE}">
      <dgm:prSet/>
      <dgm:spPr/>
      <dgm:t>
        <a:bodyPr/>
        <a:lstStyle/>
        <a:p>
          <a:r>
            <a:rPr lang="en-US"/>
            <a:t>Zero-rated Supply – Exports/SEZ</a:t>
          </a:r>
        </a:p>
      </dgm:t>
    </dgm:pt>
    <dgm:pt modelId="{002AAF0E-3FB6-4BCC-A3E6-1CCA6733481A}" type="parTrans" cxnId="{058BDDDD-9835-4032-AE2A-B630365E74D6}">
      <dgm:prSet/>
      <dgm:spPr/>
      <dgm:t>
        <a:bodyPr/>
        <a:lstStyle/>
        <a:p>
          <a:endParaRPr lang="en-US"/>
        </a:p>
      </dgm:t>
    </dgm:pt>
    <dgm:pt modelId="{19A3903E-D9DD-4BA6-825E-6FBEA2F73F93}" type="sibTrans" cxnId="{058BDDDD-9835-4032-AE2A-B630365E74D6}">
      <dgm:prSet/>
      <dgm:spPr/>
      <dgm:t>
        <a:bodyPr/>
        <a:lstStyle/>
        <a:p>
          <a:endParaRPr lang="en-US"/>
        </a:p>
      </dgm:t>
    </dgm:pt>
    <dgm:pt modelId="{EBE19435-9DDE-4B18-B29B-A507A4576FAE}">
      <dgm:prSet/>
      <dgm:spPr/>
      <dgm:t>
        <a:bodyPr/>
        <a:lstStyle/>
        <a:p>
          <a:r>
            <a:rPr lang="en-US"/>
            <a:t>Composite Supply – Naturally bundled (e.g., AC with installation)</a:t>
          </a:r>
        </a:p>
      </dgm:t>
    </dgm:pt>
    <dgm:pt modelId="{D591D639-3BB3-4D07-A79D-5E95C118FB4E}" type="parTrans" cxnId="{6E9F1B07-DFBC-4B0A-B01E-09DDA736D1AD}">
      <dgm:prSet/>
      <dgm:spPr/>
      <dgm:t>
        <a:bodyPr/>
        <a:lstStyle/>
        <a:p>
          <a:endParaRPr lang="en-US"/>
        </a:p>
      </dgm:t>
    </dgm:pt>
    <dgm:pt modelId="{0A431FE7-6DC6-4F4B-91EA-092A8D8E72D7}" type="sibTrans" cxnId="{6E9F1B07-DFBC-4B0A-B01E-09DDA736D1AD}">
      <dgm:prSet/>
      <dgm:spPr/>
      <dgm:t>
        <a:bodyPr/>
        <a:lstStyle/>
        <a:p>
          <a:endParaRPr lang="en-US"/>
        </a:p>
      </dgm:t>
    </dgm:pt>
    <dgm:pt modelId="{0E99E2C3-C666-48D0-A120-5E34980C3888}">
      <dgm:prSet/>
      <dgm:spPr/>
      <dgm:t>
        <a:bodyPr/>
        <a:lstStyle/>
        <a:p>
          <a:r>
            <a:rPr lang="en-US"/>
            <a:t>Mixed Supply – Sold together for single price (e.g., gift hamper)</a:t>
          </a:r>
        </a:p>
      </dgm:t>
    </dgm:pt>
    <dgm:pt modelId="{4B5D45A4-BC58-4389-856A-3296F5D4E235}" type="parTrans" cxnId="{207FD101-6037-4F15-891E-73534B9BDDA8}">
      <dgm:prSet/>
      <dgm:spPr/>
      <dgm:t>
        <a:bodyPr/>
        <a:lstStyle/>
        <a:p>
          <a:endParaRPr lang="en-US"/>
        </a:p>
      </dgm:t>
    </dgm:pt>
    <dgm:pt modelId="{E0260D2D-DAE1-449E-B166-11CAE642296E}" type="sibTrans" cxnId="{207FD101-6037-4F15-891E-73534B9BDDA8}">
      <dgm:prSet/>
      <dgm:spPr/>
      <dgm:t>
        <a:bodyPr/>
        <a:lstStyle/>
        <a:p>
          <a:endParaRPr lang="en-US"/>
        </a:p>
      </dgm:t>
    </dgm:pt>
    <dgm:pt modelId="{CE5E63CD-4098-45C6-878E-9382B7DAFE42}" type="pres">
      <dgm:prSet presAssocID="{3932F7B9-7F52-41F3-B5E0-94832724A268}" presName="linear" presStyleCnt="0">
        <dgm:presLayoutVars>
          <dgm:animLvl val="lvl"/>
          <dgm:resizeHandles val="exact"/>
        </dgm:presLayoutVars>
      </dgm:prSet>
      <dgm:spPr/>
    </dgm:pt>
    <dgm:pt modelId="{320F5D04-4932-4A55-B3DD-D6656BEBB401}" type="pres">
      <dgm:prSet presAssocID="{031E90E5-75AA-4C71-8F32-6F2B23FC0488}" presName="parentText" presStyleLbl="node1" presStyleIdx="0" presStyleCnt="5">
        <dgm:presLayoutVars>
          <dgm:chMax val="0"/>
          <dgm:bulletEnabled val="1"/>
        </dgm:presLayoutVars>
      </dgm:prSet>
      <dgm:spPr/>
    </dgm:pt>
    <dgm:pt modelId="{8219E121-2B89-4C3A-A91A-A01475B62AAD}" type="pres">
      <dgm:prSet presAssocID="{75048AE4-2552-445E-9F62-68E827BC5292}" presName="spacer" presStyleCnt="0"/>
      <dgm:spPr/>
    </dgm:pt>
    <dgm:pt modelId="{7E5243E2-92C2-49AD-84B7-FCC67F6F2034}" type="pres">
      <dgm:prSet presAssocID="{84AB8787-3EAC-4866-8D39-FAC69DEB94B3}" presName="parentText" presStyleLbl="node1" presStyleIdx="1" presStyleCnt="5">
        <dgm:presLayoutVars>
          <dgm:chMax val="0"/>
          <dgm:bulletEnabled val="1"/>
        </dgm:presLayoutVars>
      </dgm:prSet>
      <dgm:spPr/>
    </dgm:pt>
    <dgm:pt modelId="{4F4CE667-B174-4A8F-A39B-4398E65A4059}" type="pres">
      <dgm:prSet presAssocID="{E613E432-53AB-4675-8F19-D2622012E80C}" presName="spacer" presStyleCnt="0"/>
      <dgm:spPr/>
    </dgm:pt>
    <dgm:pt modelId="{436E1BFB-7506-40F5-B5AA-3EDBCDC5FC91}" type="pres">
      <dgm:prSet presAssocID="{DDF55748-7876-4ABF-8CD4-79A98A22C7DE}" presName="parentText" presStyleLbl="node1" presStyleIdx="2" presStyleCnt="5">
        <dgm:presLayoutVars>
          <dgm:chMax val="0"/>
          <dgm:bulletEnabled val="1"/>
        </dgm:presLayoutVars>
      </dgm:prSet>
      <dgm:spPr/>
    </dgm:pt>
    <dgm:pt modelId="{A9591E65-64B2-41E4-99DC-76DA2EDECAAC}" type="pres">
      <dgm:prSet presAssocID="{19A3903E-D9DD-4BA6-825E-6FBEA2F73F93}" presName="spacer" presStyleCnt="0"/>
      <dgm:spPr/>
    </dgm:pt>
    <dgm:pt modelId="{833FB7ED-4978-47F8-A335-A4A20B02C89C}" type="pres">
      <dgm:prSet presAssocID="{EBE19435-9DDE-4B18-B29B-A507A4576FAE}" presName="parentText" presStyleLbl="node1" presStyleIdx="3" presStyleCnt="5">
        <dgm:presLayoutVars>
          <dgm:chMax val="0"/>
          <dgm:bulletEnabled val="1"/>
        </dgm:presLayoutVars>
      </dgm:prSet>
      <dgm:spPr/>
    </dgm:pt>
    <dgm:pt modelId="{8A3C246D-E302-4DC7-A97E-F71C5DF9E786}" type="pres">
      <dgm:prSet presAssocID="{0A431FE7-6DC6-4F4B-91EA-092A8D8E72D7}" presName="spacer" presStyleCnt="0"/>
      <dgm:spPr/>
    </dgm:pt>
    <dgm:pt modelId="{CB8ABE5F-6619-4088-AD1E-074AE36E0032}" type="pres">
      <dgm:prSet presAssocID="{0E99E2C3-C666-48D0-A120-5E34980C3888}" presName="parentText" presStyleLbl="node1" presStyleIdx="4" presStyleCnt="5">
        <dgm:presLayoutVars>
          <dgm:chMax val="0"/>
          <dgm:bulletEnabled val="1"/>
        </dgm:presLayoutVars>
      </dgm:prSet>
      <dgm:spPr/>
    </dgm:pt>
  </dgm:ptLst>
  <dgm:cxnLst>
    <dgm:cxn modelId="{207FD101-6037-4F15-891E-73534B9BDDA8}" srcId="{3932F7B9-7F52-41F3-B5E0-94832724A268}" destId="{0E99E2C3-C666-48D0-A120-5E34980C3888}" srcOrd="4" destOrd="0" parTransId="{4B5D45A4-BC58-4389-856A-3296F5D4E235}" sibTransId="{E0260D2D-DAE1-449E-B166-11CAE642296E}"/>
    <dgm:cxn modelId="{6E9F1B07-DFBC-4B0A-B01E-09DDA736D1AD}" srcId="{3932F7B9-7F52-41F3-B5E0-94832724A268}" destId="{EBE19435-9DDE-4B18-B29B-A507A4576FAE}" srcOrd="3" destOrd="0" parTransId="{D591D639-3BB3-4D07-A79D-5E95C118FB4E}" sibTransId="{0A431FE7-6DC6-4F4B-91EA-092A8D8E72D7}"/>
    <dgm:cxn modelId="{61BF4319-2357-4372-BF25-2CDEA303F8EA}" srcId="{3932F7B9-7F52-41F3-B5E0-94832724A268}" destId="{031E90E5-75AA-4C71-8F32-6F2B23FC0488}" srcOrd="0" destOrd="0" parTransId="{3DBB3762-00A8-47A1-B810-048E97C58A40}" sibTransId="{75048AE4-2552-445E-9F62-68E827BC5292}"/>
    <dgm:cxn modelId="{507E7744-FBFE-4E8D-B95E-1522A659163A}" type="presOf" srcId="{DDF55748-7876-4ABF-8CD4-79A98A22C7DE}" destId="{436E1BFB-7506-40F5-B5AA-3EDBCDC5FC91}" srcOrd="0" destOrd="0" presId="urn:microsoft.com/office/officeart/2005/8/layout/vList2"/>
    <dgm:cxn modelId="{54161457-03C7-4831-9558-EDA16DFC1B95}" type="presOf" srcId="{031E90E5-75AA-4C71-8F32-6F2B23FC0488}" destId="{320F5D04-4932-4A55-B3DD-D6656BEBB401}" srcOrd="0" destOrd="0" presId="urn:microsoft.com/office/officeart/2005/8/layout/vList2"/>
    <dgm:cxn modelId="{4B7A2AB5-C0A2-4D17-BE37-D8D3C56BCCC3}" srcId="{3932F7B9-7F52-41F3-B5E0-94832724A268}" destId="{84AB8787-3EAC-4866-8D39-FAC69DEB94B3}" srcOrd="1" destOrd="0" parTransId="{F895E21E-7343-4320-AAD3-1C4BF3AA4377}" sibTransId="{E613E432-53AB-4675-8F19-D2622012E80C}"/>
    <dgm:cxn modelId="{83009CCC-4D25-4A24-8300-FEDF4958484F}" type="presOf" srcId="{84AB8787-3EAC-4866-8D39-FAC69DEB94B3}" destId="{7E5243E2-92C2-49AD-84B7-FCC67F6F2034}" srcOrd="0" destOrd="0" presId="urn:microsoft.com/office/officeart/2005/8/layout/vList2"/>
    <dgm:cxn modelId="{17F2EBCF-7CAD-4BA8-AD49-9CD95F509E02}" type="presOf" srcId="{EBE19435-9DDE-4B18-B29B-A507A4576FAE}" destId="{833FB7ED-4978-47F8-A335-A4A20B02C89C}" srcOrd="0" destOrd="0" presId="urn:microsoft.com/office/officeart/2005/8/layout/vList2"/>
    <dgm:cxn modelId="{27BD41D8-4E58-413A-A505-5F4BC4D9EA1C}" type="presOf" srcId="{3932F7B9-7F52-41F3-B5E0-94832724A268}" destId="{CE5E63CD-4098-45C6-878E-9382B7DAFE42}" srcOrd="0" destOrd="0" presId="urn:microsoft.com/office/officeart/2005/8/layout/vList2"/>
    <dgm:cxn modelId="{058BDDDD-9835-4032-AE2A-B630365E74D6}" srcId="{3932F7B9-7F52-41F3-B5E0-94832724A268}" destId="{DDF55748-7876-4ABF-8CD4-79A98A22C7DE}" srcOrd="2" destOrd="0" parTransId="{002AAF0E-3FB6-4BCC-A3E6-1CCA6733481A}" sibTransId="{19A3903E-D9DD-4BA6-825E-6FBEA2F73F93}"/>
    <dgm:cxn modelId="{298FFFE8-AA06-4A0E-A217-D920473E7EC1}" type="presOf" srcId="{0E99E2C3-C666-48D0-A120-5E34980C3888}" destId="{CB8ABE5F-6619-4088-AD1E-074AE36E0032}" srcOrd="0" destOrd="0" presId="urn:microsoft.com/office/officeart/2005/8/layout/vList2"/>
    <dgm:cxn modelId="{CBF5278E-FC11-4CC1-938F-765AD59DF803}" type="presParOf" srcId="{CE5E63CD-4098-45C6-878E-9382B7DAFE42}" destId="{320F5D04-4932-4A55-B3DD-D6656BEBB401}" srcOrd="0" destOrd="0" presId="urn:microsoft.com/office/officeart/2005/8/layout/vList2"/>
    <dgm:cxn modelId="{88A1BAA5-9C27-4CEC-A598-C97F85D43B91}" type="presParOf" srcId="{CE5E63CD-4098-45C6-878E-9382B7DAFE42}" destId="{8219E121-2B89-4C3A-A91A-A01475B62AAD}" srcOrd="1" destOrd="0" presId="urn:microsoft.com/office/officeart/2005/8/layout/vList2"/>
    <dgm:cxn modelId="{05FBF175-A153-493F-8B43-9232325706E0}" type="presParOf" srcId="{CE5E63CD-4098-45C6-878E-9382B7DAFE42}" destId="{7E5243E2-92C2-49AD-84B7-FCC67F6F2034}" srcOrd="2" destOrd="0" presId="urn:microsoft.com/office/officeart/2005/8/layout/vList2"/>
    <dgm:cxn modelId="{96F92C3C-8EE6-47DF-97BC-06EA585A65A9}" type="presParOf" srcId="{CE5E63CD-4098-45C6-878E-9382B7DAFE42}" destId="{4F4CE667-B174-4A8F-A39B-4398E65A4059}" srcOrd="3" destOrd="0" presId="urn:microsoft.com/office/officeart/2005/8/layout/vList2"/>
    <dgm:cxn modelId="{FA9D624C-FE7F-4182-A025-C79BD5BCA846}" type="presParOf" srcId="{CE5E63CD-4098-45C6-878E-9382B7DAFE42}" destId="{436E1BFB-7506-40F5-B5AA-3EDBCDC5FC91}" srcOrd="4" destOrd="0" presId="urn:microsoft.com/office/officeart/2005/8/layout/vList2"/>
    <dgm:cxn modelId="{06BB4690-E60E-4B3F-9128-5F13C66368BE}" type="presParOf" srcId="{CE5E63CD-4098-45C6-878E-9382B7DAFE42}" destId="{A9591E65-64B2-41E4-99DC-76DA2EDECAAC}" srcOrd="5" destOrd="0" presId="urn:microsoft.com/office/officeart/2005/8/layout/vList2"/>
    <dgm:cxn modelId="{41CC3870-ACBB-44C7-9B5B-6069CC0EA12B}" type="presParOf" srcId="{CE5E63CD-4098-45C6-878E-9382B7DAFE42}" destId="{833FB7ED-4978-47F8-A335-A4A20B02C89C}" srcOrd="6" destOrd="0" presId="urn:microsoft.com/office/officeart/2005/8/layout/vList2"/>
    <dgm:cxn modelId="{CC7F1DE5-478B-4140-9753-2484DFA75A81}" type="presParOf" srcId="{CE5E63CD-4098-45C6-878E-9382B7DAFE42}" destId="{8A3C246D-E302-4DC7-A97E-F71C5DF9E786}" srcOrd="7" destOrd="0" presId="urn:microsoft.com/office/officeart/2005/8/layout/vList2"/>
    <dgm:cxn modelId="{4BD47A87-45E7-439F-94FC-D8EC67A3C541}" type="presParOf" srcId="{CE5E63CD-4098-45C6-878E-9382B7DAFE42}" destId="{CB8ABE5F-6619-4088-AD1E-074AE36E003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C8B0BC-A913-4DD3-9CC7-508F794C3E78}"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US"/>
        </a:p>
      </dgm:t>
    </dgm:pt>
    <dgm:pt modelId="{DC7DEC7F-769B-4CB9-B6C7-FAD4DE53FB02}">
      <dgm:prSet/>
      <dgm:spPr/>
      <dgm:t>
        <a:bodyPr/>
        <a:lstStyle/>
        <a:p>
          <a:r>
            <a:rPr lang="en-US"/>
            <a:t>Sale of car – Yes (Sale for consideration)</a:t>
          </a:r>
        </a:p>
      </dgm:t>
    </dgm:pt>
    <dgm:pt modelId="{2EA618AE-DE4B-40CA-AD4B-2C0F36BB2A12}" type="parTrans" cxnId="{4394B0C7-4E9C-4BC4-9A0B-28F2296C932F}">
      <dgm:prSet/>
      <dgm:spPr/>
      <dgm:t>
        <a:bodyPr/>
        <a:lstStyle/>
        <a:p>
          <a:endParaRPr lang="en-US"/>
        </a:p>
      </dgm:t>
    </dgm:pt>
    <dgm:pt modelId="{B7334ED2-3BA6-4A9B-AAE6-0E986720E03B}" type="sibTrans" cxnId="{4394B0C7-4E9C-4BC4-9A0B-28F2296C932F}">
      <dgm:prSet/>
      <dgm:spPr/>
      <dgm:t>
        <a:bodyPr/>
        <a:lstStyle/>
        <a:p>
          <a:endParaRPr lang="en-US"/>
        </a:p>
      </dgm:t>
    </dgm:pt>
    <dgm:pt modelId="{CBA0E841-FFA0-4FC5-B185-2D0E7FF9B6F2}">
      <dgm:prSet/>
      <dgm:spPr/>
      <dgm:t>
        <a:bodyPr/>
        <a:lstStyle/>
        <a:p>
          <a:r>
            <a:rPr lang="en-US"/>
            <a:t>Free samples to dealer – Yes (Deemed supply)</a:t>
          </a:r>
        </a:p>
      </dgm:t>
    </dgm:pt>
    <dgm:pt modelId="{9257B74F-7006-4E0C-95AB-3EF662728E71}" type="parTrans" cxnId="{78160E40-98B5-4BA7-8B95-D20425978C86}">
      <dgm:prSet/>
      <dgm:spPr/>
      <dgm:t>
        <a:bodyPr/>
        <a:lstStyle/>
        <a:p>
          <a:endParaRPr lang="en-US"/>
        </a:p>
      </dgm:t>
    </dgm:pt>
    <dgm:pt modelId="{AC0EE65A-2402-44B5-AD8D-49BD5BD6429E}" type="sibTrans" cxnId="{78160E40-98B5-4BA7-8B95-D20425978C86}">
      <dgm:prSet/>
      <dgm:spPr/>
      <dgm:t>
        <a:bodyPr/>
        <a:lstStyle/>
        <a:p>
          <a:endParaRPr lang="en-US"/>
        </a:p>
      </dgm:t>
    </dgm:pt>
    <dgm:pt modelId="{A4C1D0C2-0F96-47EB-98DE-CCD1F921054A}">
      <dgm:prSet/>
      <dgm:spPr/>
      <dgm:t>
        <a:bodyPr/>
        <a:lstStyle/>
        <a:p>
          <a:r>
            <a:rPr lang="en-US"/>
            <a:t>Donation to NGO – No (Not in business course)</a:t>
          </a:r>
        </a:p>
      </dgm:t>
    </dgm:pt>
    <dgm:pt modelId="{86912F31-707D-48C8-B4D5-4EC72AE467EE}" type="parTrans" cxnId="{B79C84E3-6C7C-43A8-9554-AB1272A06088}">
      <dgm:prSet/>
      <dgm:spPr/>
      <dgm:t>
        <a:bodyPr/>
        <a:lstStyle/>
        <a:p>
          <a:endParaRPr lang="en-US"/>
        </a:p>
      </dgm:t>
    </dgm:pt>
    <dgm:pt modelId="{BF1D7129-1089-4600-A076-8E3062E9784B}" type="sibTrans" cxnId="{B79C84E3-6C7C-43A8-9554-AB1272A06088}">
      <dgm:prSet/>
      <dgm:spPr/>
      <dgm:t>
        <a:bodyPr/>
        <a:lstStyle/>
        <a:p>
          <a:endParaRPr lang="en-US"/>
        </a:p>
      </dgm:t>
    </dgm:pt>
    <dgm:pt modelId="{0C6F6382-FA73-4322-A517-9E19C368CFF0}">
      <dgm:prSet/>
      <dgm:spPr/>
      <dgm:t>
        <a:bodyPr/>
        <a:lstStyle/>
        <a:p>
          <a:r>
            <a:rPr lang="en-US"/>
            <a:t>Branch transfer (interstate) – Yes (Distinct persons)</a:t>
          </a:r>
        </a:p>
      </dgm:t>
    </dgm:pt>
    <dgm:pt modelId="{BB082B2B-75F5-4BCA-AA36-66B847B9F945}" type="parTrans" cxnId="{905E9D93-CAB2-416E-A2FD-3173559BF37C}">
      <dgm:prSet/>
      <dgm:spPr/>
      <dgm:t>
        <a:bodyPr/>
        <a:lstStyle/>
        <a:p>
          <a:endParaRPr lang="en-US"/>
        </a:p>
      </dgm:t>
    </dgm:pt>
    <dgm:pt modelId="{5FC150C6-0201-425D-B26F-230C7D1B5322}" type="sibTrans" cxnId="{905E9D93-CAB2-416E-A2FD-3173559BF37C}">
      <dgm:prSet/>
      <dgm:spPr/>
      <dgm:t>
        <a:bodyPr/>
        <a:lstStyle/>
        <a:p>
          <a:endParaRPr lang="en-US"/>
        </a:p>
      </dgm:t>
    </dgm:pt>
    <dgm:pt modelId="{9A624406-365C-4D05-8014-5DFD40D05805}" type="pres">
      <dgm:prSet presAssocID="{98C8B0BC-A913-4DD3-9CC7-508F794C3E78}" presName="linear" presStyleCnt="0">
        <dgm:presLayoutVars>
          <dgm:animLvl val="lvl"/>
          <dgm:resizeHandles val="exact"/>
        </dgm:presLayoutVars>
      </dgm:prSet>
      <dgm:spPr/>
    </dgm:pt>
    <dgm:pt modelId="{312665D8-AD04-412F-9C04-D231999CCBEE}" type="pres">
      <dgm:prSet presAssocID="{DC7DEC7F-769B-4CB9-B6C7-FAD4DE53FB02}" presName="parentText" presStyleLbl="node1" presStyleIdx="0" presStyleCnt="4">
        <dgm:presLayoutVars>
          <dgm:chMax val="0"/>
          <dgm:bulletEnabled val="1"/>
        </dgm:presLayoutVars>
      </dgm:prSet>
      <dgm:spPr/>
    </dgm:pt>
    <dgm:pt modelId="{387BD907-50E6-4618-AD3E-486FCFBD5BA9}" type="pres">
      <dgm:prSet presAssocID="{B7334ED2-3BA6-4A9B-AAE6-0E986720E03B}" presName="spacer" presStyleCnt="0"/>
      <dgm:spPr/>
    </dgm:pt>
    <dgm:pt modelId="{7DFA928F-84AF-4FC9-BF8C-BB3957EA4E49}" type="pres">
      <dgm:prSet presAssocID="{CBA0E841-FFA0-4FC5-B185-2D0E7FF9B6F2}" presName="parentText" presStyleLbl="node1" presStyleIdx="1" presStyleCnt="4">
        <dgm:presLayoutVars>
          <dgm:chMax val="0"/>
          <dgm:bulletEnabled val="1"/>
        </dgm:presLayoutVars>
      </dgm:prSet>
      <dgm:spPr/>
    </dgm:pt>
    <dgm:pt modelId="{32E473F0-7078-4692-95EA-3EAC29FA71F9}" type="pres">
      <dgm:prSet presAssocID="{AC0EE65A-2402-44B5-AD8D-49BD5BD6429E}" presName="spacer" presStyleCnt="0"/>
      <dgm:spPr/>
    </dgm:pt>
    <dgm:pt modelId="{803E67AB-AFE4-4871-89F3-AC653674802C}" type="pres">
      <dgm:prSet presAssocID="{A4C1D0C2-0F96-47EB-98DE-CCD1F921054A}" presName="parentText" presStyleLbl="node1" presStyleIdx="2" presStyleCnt="4">
        <dgm:presLayoutVars>
          <dgm:chMax val="0"/>
          <dgm:bulletEnabled val="1"/>
        </dgm:presLayoutVars>
      </dgm:prSet>
      <dgm:spPr/>
    </dgm:pt>
    <dgm:pt modelId="{3108E072-417A-487E-978C-07A21F49040A}" type="pres">
      <dgm:prSet presAssocID="{BF1D7129-1089-4600-A076-8E3062E9784B}" presName="spacer" presStyleCnt="0"/>
      <dgm:spPr/>
    </dgm:pt>
    <dgm:pt modelId="{57636396-E78D-4E6C-B61D-427B589B872F}" type="pres">
      <dgm:prSet presAssocID="{0C6F6382-FA73-4322-A517-9E19C368CFF0}" presName="parentText" presStyleLbl="node1" presStyleIdx="3" presStyleCnt="4">
        <dgm:presLayoutVars>
          <dgm:chMax val="0"/>
          <dgm:bulletEnabled val="1"/>
        </dgm:presLayoutVars>
      </dgm:prSet>
      <dgm:spPr/>
    </dgm:pt>
  </dgm:ptLst>
  <dgm:cxnLst>
    <dgm:cxn modelId="{28D3343D-DC5B-48F1-9BD8-F63B40C5856E}" type="presOf" srcId="{A4C1D0C2-0F96-47EB-98DE-CCD1F921054A}" destId="{803E67AB-AFE4-4871-89F3-AC653674802C}" srcOrd="0" destOrd="0" presId="urn:microsoft.com/office/officeart/2005/8/layout/vList2"/>
    <dgm:cxn modelId="{78160E40-98B5-4BA7-8B95-D20425978C86}" srcId="{98C8B0BC-A913-4DD3-9CC7-508F794C3E78}" destId="{CBA0E841-FFA0-4FC5-B185-2D0E7FF9B6F2}" srcOrd="1" destOrd="0" parTransId="{9257B74F-7006-4E0C-95AB-3EF662728E71}" sibTransId="{AC0EE65A-2402-44B5-AD8D-49BD5BD6429E}"/>
    <dgm:cxn modelId="{5C287D6A-2F9A-4C91-ACD8-811D2B6A11D6}" type="presOf" srcId="{98C8B0BC-A913-4DD3-9CC7-508F794C3E78}" destId="{9A624406-365C-4D05-8014-5DFD40D05805}" srcOrd="0" destOrd="0" presId="urn:microsoft.com/office/officeart/2005/8/layout/vList2"/>
    <dgm:cxn modelId="{285CB36E-462B-44C5-8A52-CE2AAA249897}" type="presOf" srcId="{0C6F6382-FA73-4322-A517-9E19C368CFF0}" destId="{57636396-E78D-4E6C-B61D-427B589B872F}" srcOrd="0" destOrd="0" presId="urn:microsoft.com/office/officeart/2005/8/layout/vList2"/>
    <dgm:cxn modelId="{905E9D93-CAB2-416E-A2FD-3173559BF37C}" srcId="{98C8B0BC-A913-4DD3-9CC7-508F794C3E78}" destId="{0C6F6382-FA73-4322-A517-9E19C368CFF0}" srcOrd="3" destOrd="0" parTransId="{BB082B2B-75F5-4BCA-AA36-66B847B9F945}" sibTransId="{5FC150C6-0201-425D-B26F-230C7D1B5322}"/>
    <dgm:cxn modelId="{D291E8BF-5023-41C5-B9D3-9A77F216538C}" type="presOf" srcId="{DC7DEC7F-769B-4CB9-B6C7-FAD4DE53FB02}" destId="{312665D8-AD04-412F-9C04-D231999CCBEE}" srcOrd="0" destOrd="0" presId="urn:microsoft.com/office/officeart/2005/8/layout/vList2"/>
    <dgm:cxn modelId="{4394B0C7-4E9C-4BC4-9A0B-28F2296C932F}" srcId="{98C8B0BC-A913-4DD3-9CC7-508F794C3E78}" destId="{DC7DEC7F-769B-4CB9-B6C7-FAD4DE53FB02}" srcOrd="0" destOrd="0" parTransId="{2EA618AE-DE4B-40CA-AD4B-2C0F36BB2A12}" sibTransId="{B7334ED2-3BA6-4A9B-AAE6-0E986720E03B}"/>
    <dgm:cxn modelId="{B79C84E3-6C7C-43A8-9554-AB1272A06088}" srcId="{98C8B0BC-A913-4DD3-9CC7-508F794C3E78}" destId="{A4C1D0C2-0F96-47EB-98DE-CCD1F921054A}" srcOrd="2" destOrd="0" parTransId="{86912F31-707D-48C8-B4D5-4EC72AE467EE}" sibTransId="{BF1D7129-1089-4600-A076-8E3062E9784B}"/>
    <dgm:cxn modelId="{7FED96E4-E7D3-43AE-90F0-9EC02BAE9E58}" type="presOf" srcId="{CBA0E841-FFA0-4FC5-B185-2D0E7FF9B6F2}" destId="{7DFA928F-84AF-4FC9-BF8C-BB3957EA4E49}" srcOrd="0" destOrd="0" presId="urn:microsoft.com/office/officeart/2005/8/layout/vList2"/>
    <dgm:cxn modelId="{740BD30B-4EF4-41CC-B701-0E003C53CE59}" type="presParOf" srcId="{9A624406-365C-4D05-8014-5DFD40D05805}" destId="{312665D8-AD04-412F-9C04-D231999CCBEE}" srcOrd="0" destOrd="0" presId="urn:microsoft.com/office/officeart/2005/8/layout/vList2"/>
    <dgm:cxn modelId="{94DDD442-FB03-4B9A-8713-ECCFF69E7825}" type="presParOf" srcId="{9A624406-365C-4D05-8014-5DFD40D05805}" destId="{387BD907-50E6-4618-AD3E-486FCFBD5BA9}" srcOrd="1" destOrd="0" presId="urn:microsoft.com/office/officeart/2005/8/layout/vList2"/>
    <dgm:cxn modelId="{6EDA2FCE-1E8D-4866-BD35-EA1C4268743F}" type="presParOf" srcId="{9A624406-365C-4D05-8014-5DFD40D05805}" destId="{7DFA928F-84AF-4FC9-BF8C-BB3957EA4E49}" srcOrd="2" destOrd="0" presId="urn:microsoft.com/office/officeart/2005/8/layout/vList2"/>
    <dgm:cxn modelId="{6418AE9C-9E26-48BC-AA82-6DF5E44C15C8}" type="presParOf" srcId="{9A624406-365C-4D05-8014-5DFD40D05805}" destId="{32E473F0-7078-4692-95EA-3EAC29FA71F9}" srcOrd="3" destOrd="0" presId="urn:microsoft.com/office/officeart/2005/8/layout/vList2"/>
    <dgm:cxn modelId="{95689063-D617-40CF-B53C-0A9586F1B337}" type="presParOf" srcId="{9A624406-365C-4D05-8014-5DFD40D05805}" destId="{803E67AB-AFE4-4871-89F3-AC653674802C}" srcOrd="4" destOrd="0" presId="urn:microsoft.com/office/officeart/2005/8/layout/vList2"/>
    <dgm:cxn modelId="{CDFC4615-FC03-4DBC-8A38-8174D430BAFE}" type="presParOf" srcId="{9A624406-365C-4D05-8014-5DFD40D05805}" destId="{3108E072-417A-487E-978C-07A21F49040A}" srcOrd="5" destOrd="0" presId="urn:microsoft.com/office/officeart/2005/8/layout/vList2"/>
    <dgm:cxn modelId="{B8557E27-D872-4D0F-B8A3-6878A8E4557E}" type="presParOf" srcId="{9A624406-365C-4D05-8014-5DFD40D05805}" destId="{57636396-E78D-4E6C-B61D-427B589B872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6B6A4E0-4EFD-4615-B855-10A14F3C91A3}" type="doc">
      <dgm:prSet loTypeId="urn:microsoft.com/office/officeart/2005/8/layout/hierarchy1" loCatId="hierarchy" qsTypeId="urn:microsoft.com/office/officeart/2005/8/quickstyle/simple1" qsCatId="simple" csTypeId="urn:microsoft.com/office/officeart/2005/8/colors/accent4_2" csCatId="accent4" phldr="1"/>
      <dgm:spPr/>
      <dgm:t>
        <a:bodyPr/>
        <a:lstStyle/>
        <a:p>
          <a:endParaRPr lang="en-IN"/>
        </a:p>
      </dgm:t>
    </dgm:pt>
    <dgm:pt modelId="{5A4DE9D4-8D87-40A8-8DC3-62BD133681F9}">
      <dgm:prSet custT="1"/>
      <dgm:spPr/>
      <dgm:t>
        <a:bodyPr/>
        <a:lstStyle/>
        <a:p>
          <a:r>
            <a:rPr lang="en-US" sz="2600" dirty="0"/>
            <a:t>Comprises of two or more taxable supplies (one of which is principal supply), which are naturally bundled in the ordinary course of business</a:t>
          </a:r>
          <a:endParaRPr lang="en-IN" sz="2600" dirty="0"/>
        </a:p>
      </dgm:t>
    </dgm:pt>
    <dgm:pt modelId="{6826B8AA-FA62-43DA-927F-25DAEABA989C}" type="parTrans" cxnId="{5022D13E-C01F-4364-B6D4-8C437D080073}">
      <dgm:prSet/>
      <dgm:spPr/>
      <dgm:t>
        <a:bodyPr/>
        <a:lstStyle/>
        <a:p>
          <a:endParaRPr lang="en-IN" sz="2600"/>
        </a:p>
      </dgm:t>
    </dgm:pt>
    <dgm:pt modelId="{123120A7-B792-4513-8296-C923E45FE115}" type="sibTrans" cxnId="{5022D13E-C01F-4364-B6D4-8C437D080073}">
      <dgm:prSet/>
      <dgm:spPr/>
      <dgm:t>
        <a:bodyPr/>
        <a:lstStyle/>
        <a:p>
          <a:endParaRPr lang="en-IN" sz="2600"/>
        </a:p>
      </dgm:t>
    </dgm:pt>
    <dgm:pt modelId="{10F3ACDB-D86A-42CB-A203-2AD5DD413836}">
      <dgm:prSet custT="1"/>
      <dgm:spPr/>
      <dgm:t>
        <a:bodyPr/>
        <a:lstStyle/>
        <a:p>
          <a:r>
            <a:rPr lang="en-US" sz="2600" dirty="0"/>
            <a:t>It shall be treated as a supply of the such principal good/ service</a:t>
          </a:r>
          <a:endParaRPr lang="en-IN" sz="2600" dirty="0"/>
        </a:p>
      </dgm:t>
    </dgm:pt>
    <dgm:pt modelId="{DB723D29-0992-4F02-AA2F-835EFA8937E3}" type="parTrans" cxnId="{9E63EC67-4EBE-4274-8FBA-9DFA5DFF75FC}">
      <dgm:prSet/>
      <dgm:spPr/>
      <dgm:t>
        <a:bodyPr/>
        <a:lstStyle/>
        <a:p>
          <a:endParaRPr lang="en-IN" sz="2600"/>
        </a:p>
      </dgm:t>
    </dgm:pt>
    <dgm:pt modelId="{6B15A8AC-2834-4204-9BC4-772230BF2DC6}" type="sibTrans" cxnId="{9E63EC67-4EBE-4274-8FBA-9DFA5DFF75FC}">
      <dgm:prSet/>
      <dgm:spPr/>
      <dgm:t>
        <a:bodyPr/>
        <a:lstStyle/>
        <a:p>
          <a:endParaRPr lang="en-IN" sz="2600"/>
        </a:p>
      </dgm:t>
    </dgm:pt>
    <dgm:pt modelId="{9FFBFE1E-60B7-4018-9E51-DEA8BE880242}">
      <dgm:prSet custT="1"/>
      <dgm:spPr/>
      <dgm:t>
        <a:bodyPr/>
        <a:lstStyle/>
        <a:p>
          <a:r>
            <a:rPr lang="en-US" sz="2600" dirty="0"/>
            <a:t>E.g.: mobile phone sold with battery (principal is mobile)</a:t>
          </a:r>
          <a:endParaRPr lang="en-IN" sz="2600" dirty="0"/>
        </a:p>
      </dgm:t>
    </dgm:pt>
    <dgm:pt modelId="{397040E3-7821-4C4F-9312-7719D60EC1BE}" type="parTrans" cxnId="{2DF3083A-FEDB-4956-B319-C82F7A22C0E7}">
      <dgm:prSet/>
      <dgm:spPr/>
      <dgm:t>
        <a:bodyPr/>
        <a:lstStyle/>
        <a:p>
          <a:endParaRPr lang="en-IN" sz="2600"/>
        </a:p>
      </dgm:t>
    </dgm:pt>
    <dgm:pt modelId="{992B36FD-7264-46F8-AD4C-0765C14BA053}" type="sibTrans" cxnId="{2DF3083A-FEDB-4956-B319-C82F7A22C0E7}">
      <dgm:prSet/>
      <dgm:spPr/>
      <dgm:t>
        <a:bodyPr/>
        <a:lstStyle/>
        <a:p>
          <a:endParaRPr lang="en-IN" sz="2600"/>
        </a:p>
      </dgm:t>
    </dgm:pt>
    <dgm:pt modelId="{FCB5D2BE-3019-4D37-9B69-437A438889E5}">
      <dgm:prSet custT="1"/>
      <dgm:spPr/>
      <dgm:t>
        <a:bodyPr/>
        <a:lstStyle/>
        <a:p>
          <a:r>
            <a:rPr lang="en-US" sz="2600" dirty="0"/>
            <a:t>E.g.: banquet hall booked in hotel along with lunch facility (principal in banquet)</a:t>
          </a:r>
          <a:endParaRPr lang="en-IN" sz="2600" dirty="0"/>
        </a:p>
      </dgm:t>
    </dgm:pt>
    <dgm:pt modelId="{880D6090-2436-42C3-AF25-E7E077CD9987}" type="parTrans" cxnId="{9D400A88-49E8-4C41-AA8E-33A553BD19A5}">
      <dgm:prSet/>
      <dgm:spPr/>
      <dgm:t>
        <a:bodyPr/>
        <a:lstStyle/>
        <a:p>
          <a:endParaRPr lang="en-IN" sz="2600"/>
        </a:p>
      </dgm:t>
    </dgm:pt>
    <dgm:pt modelId="{2FEC423A-EA48-4C8A-8FE5-681982DCD0D7}" type="sibTrans" cxnId="{9D400A88-49E8-4C41-AA8E-33A553BD19A5}">
      <dgm:prSet/>
      <dgm:spPr/>
      <dgm:t>
        <a:bodyPr/>
        <a:lstStyle/>
        <a:p>
          <a:endParaRPr lang="en-IN" sz="2600"/>
        </a:p>
      </dgm:t>
    </dgm:pt>
    <dgm:pt modelId="{BF61BBA0-4017-4C4C-9AE4-2B13E63A0360}" type="pres">
      <dgm:prSet presAssocID="{06B6A4E0-4EFD-4615-B855-10A14F3C91A3}" presName="hierChild1" presStyleCnt="0">
        <dgm:presLayoutVars>
          <dgm:chPref val="1"/>
          <dgm:dir/>
          <dgm:animOne val="branch"/>
          <dgm:animLvl val="lvl"/>
          <dgm:resizeHandles/>
        </dgm:presLayoutVars>
      </dgm:prSet>
      <dgm:spPr/>
    </dgm:pt>
    <dgm:pt modelId="{7509B2EF-BF4D-48B4-99F2-EA3D5F00BE13}" type="pres">
      <dgm:prSet presAssocID="{5A4DE9D4-8D87-40A8-8DC3-62BD133681F9}" presName="hierRoot1" presStyleCnt="0"/>
      <dgm:spPr/>
    </dgm:pt>
    <dgm:pt modelId="{EF492B13-C675-4B0B-A055-D709BAE9ADD4}" type="pres">
      <dgm:prSet presAssocID="{5A4DE9D4-8D87-40A8-8DC3-62BD133681F9}" presName="composite" presStyleCnt="0"/>
      <dgm:spPr/>
    </dgm:pt>
    <dgm:pt modelId="{612EF49B-C35A-4AB1-860F-395A28FEB4C6}" type="pres">
      <dgm:prSet presAssocID="{5A4DE9D4-8D87-40A8-8DC3-62BD133681F9}" presName="background" presStyleLbl="node0" presStyleIdx="0" presStyleCnt="1"/>
      <dgm:spPr/>
    </dgm:pt>
    <dgm:pt modelId="{4F942A76-0836-4E06-A71A-ABAD763F7D3B}" type="pres">
      <dgm:prSet presAssocID="{5A4DE9D4-8D87-40A8-8DC3-62BD133681F9}" presName="text" presStyleLbl="fgAcc0" presStyleIdx="0" presStyleCnt="1" custScaleX="334167">
        <dgm:presLayoutVars>
          <dgm:chPref val="3"/>
        </dgm:presLayoutVars>
      </dgm:prSet>
      <dgm:spPr/>
    </dgm:pt>
    <dgm:pt modelId="{B9316B04-B857-4787-853F-244633E0C2B6}" type="pres">
      <dgm:prSet presAssocID="{5A4DE9D4-8D87-40A8-8DC3-62BD133681F9}" presName="hierChild2" presStyleCnt="0"/>
      <dgm:spPr/>
    </dgm:pt>
    <dgm:pt modelId="{E54AAE73-69E0-42A0-BE77-95C4F792587E}" type="pres">
      <dgm:prSet presAssocID="{DB723D29-0992-4F02-AA2F-835EFA8937E3}" presName="Name10" presStyleLbl="parChTrans1D2" presStyleIdx="0" presStyleCnt="1"/>
      <dgm:spPr/>
    </dgm:pt>
    <dgm:pt modelId="{6FDD0644-57AF-468D-85E6-A4C71B799748}" type="pres">
      <dgm:prSet presAssocID="{10F3ACDB-D86A-42CB-A203-2AD5DD413836}" presName="hierRoot2" presStyleCnt="0"/>
      <dgm:spPr/>
    </dgm:pt>
    <dgm:pt modelId="{22A5A7D5-B3E1-4F3B-A20C-33D393694E95}" type="pres">
      <dgm:prSet presAssocID="{10F3ACDB-D86A-42CB-A203-2AD5DD413836}" presName="composite2" presStyleCnt="0"/>
      <dgm:spPr/>
    </dgm:pt>
    <dgm:pt modelId="{809B8793-1E8D-4B14-93B8-6A544F027BA4}" type="pres">
      <dgm:prSet presAssocID="{10F3ACDB-D86A-42CB-A203-2AD5DD413836}" presName="background2" presStyleLbl="node2" presStyleIdx="0" presStyleCnt="1"/>
      <dgm:spPr/>
    </dgm:pt>
    <dgm:pt modelId="{0B88E228-55B5-489C-81BF-8C58B1DFF5D3}" type="pres">
      <dgm:prSet presAssocID="{10F3ACDB-D86A-42CB-A203-2AD5DD413836}" presName="text2" presStyleLbl="fgAcc2" presStyleIdx="0" presStyleCnt="1" custScaleX="211183">
        <dgm:presLayoutVars>
          <dgm:chPref val="3"/>
        </dgm:presLayoutVars>
      </dgm:prSet>
      <dgm:spPr/>
    </dgm:pt>
    <dgm:pt modelId="{9FF055C8-1404-4B7A-998F-BCD30BC7ACDD}" type="pres">
      <dgm:prSet presAssocID="{10F3ACDB-D86A-42CB-A203-2AD5DD413836}" presName="hierChild3" presStyleCnt="0"/>
      <dgm:spPr/>
    </dgm:pt>
    <dgm:pt modelId="{80F1258D-3548-4D86-BB57-6F49C9F776D7}" type="pres">
      <dgm:prSet presAssocID="{397040E3-7821-4C4F-9312-7719D60EC1BE}" presName="Name17" presStyleLbl="parChTrans1D3" presStyleIdx="0" presStyleCnt="2"/>
      <dgm:spPr/>
    </dgm:pt>
    <dgm:pt modelId="{549C3F75-3F4C-4242-9CCD-8EFC958EB745}" type="pres">
      <dgm:prSet presAssocID="{9FFBFE1E-60B7-4018-9E51-DEA8BE880242}" presName="hierRoot3" presStyleCnt="0"/>
      <dgm:spPr/>
    </dgm:pt>
    <dgm:pt modelId="{9D4BBD05-4FF7-4827-9E2C-2A32AA3B62E7}" type="pres">
      <dgm:prSet presAssocID="{9FFBFE1E-60B7-4018-9E51-DEA8BE880242}" presName="composite3" presStyleCnt="0"/>
      <dgm:spPr/>
    </dgm:pt>
    <dgm:pt modelId="{CCCE3F49-818E-4C7A-9755-FD70FA0F8C79}" type="pres">
      <dgm:prSet presAssocID="{9FFBFE1E-60B7-4018-9E51-DEA8BE880242}" presName="background3" presStyleLbl="node3" presStyleIdx="0" presStyleCnt="2"/>
      <dgm:spPr/>
    </dgm:pt>
    <dgm:pt modelId="{96E45565-80D7-4CD3-81BC-BE293DF2D1DE}" type="pres">
      <dgm:prSet presAssocID="{9FFBFE1E-60B7-4018-9E51-DEA8BE880242}" presName="text3" presStyleLbl="fgAcc3" presStyleIdx="0" presStyleCnt="2" custScaleX="191472">
        <dgm:presLayoutVars>
          <dgm:chPref val="3"/>
        </dgm:presLayoutVars>
      </dgm:prSet>
      <dgm:spPr/>
    </dgm:pt>
    <dgm:pt modelId="{952D742D-FDE9-442B-87D6-44573EEDB0EC}" type="pres">
      <dgm:prSet presAssocID="{9FFBFE1E-60B7-4018-9E51-DEA8BE880242}" presName="hierChild4" presStyleCnt="0"/>
      <dgm:spPr/>
    </dgm:pt>
    <dgm:pt modelId="{6DFF5D53-8D93-4945-902B-7D98E968618A}" type="pres">
      <dgm:prSet presAssocID="{880D6090-2436-42C3-AF25-E7E077CD9987}" presName="Name17" presStyleLbl="parChTrans1D3" presStyleIdx="1" presStyleCnt="2"/>
      <dgm:spPr/>
    </dgm:pt>
    <dgm:pt modelId="{87F75B88-61ED-419A-9596-65BE170EB675}" type="pres">
      <dgm:prSet presAssocID="{FCB5D2BE-3019-4D37-9B69-437A438889E5}" presName="hierRoot3" presStyleCnt="0"/>
      <dgm:spPr/>
    </dgm:pt>
    <dgm:pt modelId="{579767BA-096C-4EA0-8636-83C53927C724}" type="pres">
      <dgm:prSet presAssocID="{FCB5D2BE-3019-4D37-9B69-437A438889E5}" presName="composite3" presStyleCnt="0"/>
      <dgm:spPr/>
    </dgm:pt>
    <dgm:pt modelId="{5BA97C98-041E-426A-A28A-946AF61FD3A6}" type="pres">
      <dgm:prSet presAssocID="{FCB5D2BE-3019-4D37-9B69-437A438889E5}" presName="background3" presStyleLbl="node3" presStyleIdx="1" presStyleCnt="2"/>
      <dgm:spPr/>
    </dgm:pt>
    <dgm:pt modelId="{343D67FB-02DD-4C87-A9A7-05B8541DD21E}" type="pres">
      <dgm:prSet presAssocID="{FCB5D2BE-3019-4D37-9B69-437A438889E5}" presName="text3" presStyleLbl="fgAcc3" presStyleIdx="1" presStyleCnt="2" custScaleX="191523">
        <dgm:presLayoutVars>
          <dgm:chPref val="3"/>
        </dgm:presLayoutVars>
      </dgm:prSet>
      <dgm:spPr/>
    </dgm:pt>
    <dgm:pt modelId="{AB992906-39C6-4A86-8E35-41F6CFF6CD6E}" type="pres">
      <dgm:prSet presAssocID="{FCB5D2BE-3019-4D37-9B69-437A438889E5}" presName="hierChild4" presStyleCnt="0"/>
      <dgm:spPr/>
    </dgm:pt>
  </dgm:ptLst>
  <dgm:cxnLst>
    <dgm:cxn modelId="{A2B8BB0A-B7AA-49D8-B86E-904152A3F026}" type="presOf" srcId="{9FFBFE1E-60B7-4018-9E51-DEA8BE880242}" destId="{96E45565-80D7-4CD3-81BC-BE293DF2D1DE}" srcOrd="0" destOrd="0" presId="urn:microsoft.com/office/officeart/2005/8/layout/hierarchy1"/>
    <dgm:cxn modelId="{72FE2919-BABF-44EF-B10F-E1AC608B4228}" type="presOf" srcId="{FCB5D2BE-3019-4D37-9B69-437A438889E5}" destId="{343D67FB-02DD-4C87-A9A7-05B8541DD21E}" srcOrd="0" destOrd="0" presId="urn:microsoft.com/office/officeart/2005/8/layout/hierarchy1"/>
    <dgm:cxn modelId="{6A0C6F1E-13D4-4488-BE2B-8298FFD03CAF}" type="presOf" srcId="{880D6090-2436-42C3-AF25-E7E077CD9987}" destId="{6DFF5D53-8D93-4945-902B-7D98E968618A}" srcOrd="0" destOrd="0" presId="urn:microsoft.com/office/officeart/2005/8/layout/hierarchy1"/>
    <dgm:cxn modelId="{677C0C39-C0D4-459D-BAB9-5AA89120E4E0}" type="presOf" srcId="{10F3ACDB-D86A-42CB-A203-2AD5DD413836}" destId="{0B88E228-55B5-489C-81BF-8C58B1DFF5D3}" srcOrd="0" destOrd="0" presId="urn:microsoft.com/office/officeart/2005/8/layout/hierarchy1"/>
    <dgm:cxn modelId="{2DF3083A-FEDB-4956-B319-C82F7A22C0E7}" srcId="{10F3ACDB-D86A-42CB-A203-2AD5DD413836}" destId="{9FFBFE1E-60B7-4018-9E51-DEA8BE880242}" srcOrd="0" destOrd="0" parTransId="{397040E3-7821-4C4F-9312-7719D60EC1BE}" sibTransId="{992B36FD-7264-46F8-AD4C-0765C14BA053}"/>
    <dgm:cxn modelId="{5022D13E-C01F-4364-B6D4-8C437D080073}" srcId="{06B6A4E0-4EFD-4615-B855-10A14F3C91A3}" destId="{5A4DE9D4-8D87-40A8-8DC3-62BD133681F9}" srcOrd="0" destOrd="0" parTransId="{6826B8AA-FA62-43DA-927F-25DAEABA989C}" sibTransId="{123120A7-B792-4513-8296-C923E45FE115}"/>
    <dgm:cxn modelId="{71CEFF62-C555-4134-9118-30681C687F49}" type="presOf" srcId="{5A4DE9D4-8D87-40A8-8DC3-62BD133681F9}" destId="{4F942A76-0836-4E06-A71A-ABAD763F7D3B}" srcOrd="0" destOrd="0" presId="urn:microsoft.com/office/officeart/2005/8/layout/hierarchy1"/>
    <dgm:cxn modelId="{9E63EC67-4EBE-4274-8FBA-9DFA5DFF75FC}" srcId="{5A4DE9D4-8D87-40A8-8DC3-62BD133681F9}" destId="{10F3ACDB-D86A-42CB-A203-2AD5DD413836}" srcOrd="0" destOrd="0" parTransId="{DB723D29-0992-4F02-AA2F-835EFA8937E3}" sibTransId="{6B15A8AC-2834-4204-9BC4-772230BF2DC6}"/>
    <dgm:cxn modelId="{9D400A88-49E8-4C41-AA8E-33A553BD19A5}" srcId="{10F3ACDB-D86A-42CB-A203-2AD5DD413836}" destId="{FCB5D2BE-3019-4D37-9B69-437A438889E5}" srcOrd="1" destOrd="0" parTransId="{880D6090-2436-42C3-AF25-E7E077CD9987}" sibTransId="{2FEC423A-EA48-4C8A-8FE5-681982DCD0D7}"/>
    <dgm:cxn modelId="{C1AA1D9F-1DBD-4340-AF02-7C95E38AEA3E}" type="presOf" srcId="{397040E3-7821-4C4F-9312-7719D60EC1BE}" destId="{80F1258D-3548-4D86-BB57-6F49C9F776D7}" srcOrd="0" destOrd="0" presId="urn:microsoft.com/office/officeart/2005/8/layout/hierarchy1"/>
    <dgm:cxn modelId="{89833E9F-B9F5-45BA-A23F-C1A1FC56DD17}" type="presOf" srcId="{06B6A4E0-4EFD-4615-B855-10A14F3C91A3}" destId="{BF61BBA0-4017-4C4C-9AE4-2B13E63A0360}" srcOrd="0" destOrd="0" presId="urn:microsoft.com/office/officeart/2005/8/layout/hierarchy1"/>
    <dgm:cxn modelId="{912EC5CD-714B-455C-8BF0-E4D1DA3FBFD8}" type="presOf" srcId="{DB723D29-0992-4F02-AA2F-835EFA8937E3}" destId="{E54AAE73-69E0-42A0-BE77-95C4F792587E}" srcOrd="0" destOrd="0" presId="urn:microsoft.com/office/officeart/2005/8/layout/hierarchy1"/>
    <dgm:cxn modelId="{393218CC-215B-4F62-8529-E929EA2AAC0C}" type="presParOf" srcId="{BF61BBA0-4017-4C4C-9AE4-2B13E63A0360}" destId="{7509B2EF-BF4D-48B4-99F2-EA3D5F00BE13}" srcOrd="0" destOrd="0" presId="urn:microsoft.com/office/officeart/2005/8/layout/hierarchy1"/>
    <dgm:cxn modelId="{B57FDE7E-20FA-4749-9D16-9A1034E0F98D}" type="presParOf" srcId="{7509B2EF-BF4D-48B4-99F2-EA3D5F00BE13}" destId="{EF492B13-C675-4B0B-A055-D709BAE9ADD4}" srcOrd="0" destOrd="0" presId="urn:microsoft.com/office/officeart/2005/8/layout/hierarchy1"/>
    <dgm:cxn modelId="{0BF2B8DB-6DC6-4293-8B4D-169EB5CB7F15}" type="presParOf" srcId="{EF492B13-C675-4B0B-A055-D709BAE9ADD4}" destId="{612EF49B-C35A-4AB1-860F-395A28FEB4C6}" srcOrd="0" destOrd="0" presId="urn:microsoft.com/office/officeart/2005/8/layout/hierarchy1"/>
    <dgm:cxn modelId="{682E169B-7E44-4715-99A5-18C070816B27}" type="presParOf" srcId="{EF492B13-C675-4B0B-A055-D709BAE9ADD4}" destId="{4F942A76-0836-4E06-A71A-ABAD763F7D3B}" srcOrd="1" destOrd="0" presId="urn:microsoft.com/office/officeart/2005/8/layout/hierarchy1"/>
    <dgm:cxn modelId="{AEB1DDAB-4FB0-4A8C-A4B5-941A4A379F37}" type="presParOf" srcId="{7509B2EF-BF4D-48B4-99F2-EA3D5F00BE13}" destId="{B9316B04-B857-4787-853F-244633E0C2B6}" srcOrd="1" destOrd="0" presId="urn:microsoft.com/office/officeart/2005/8/layout/hierarchy1"/>
    <dgm:cxn modelId="{C0D6767F-76E6-490B-9014-8C971E25BF67}" type="presParOf" srcId="{B9316B04-B857-4787-853F-244633E0C2B6}" destId="{E54AAE73-69E0-42A0-BE77-95C4F792587E}" srcOrd="0" destOrd="0" presId="urn:microsoft.com/office/officeart/2005/8/layout/hierarchy1"/>
    <dgm:cxn modelId="{8EC367F0-AFBA-47E8-82A7-6B768349E545}" type="presParOf" srcId="{B9316B04-B857-4787-853F-244633E0C2B6}" destId="{6FDD0644-57AF-468D-85E6-A4C71B799748}" srcOrd="1" destOrd="0" presId="urn:microsoft.com/office/officeart/2005/8/layout/hierarchy1"/>
    <dgm:cxn modelId="{2F8D90B8-14D4-4C1B-956B-036251286B18}" type="presParOf" srcId="{6FDD0644-57AF-468D-85E6-A4C71B799748}" destId="{22A5A7D5-B3E1-4F3B-A20C-33D393694E95}" srcOrd="0" destOrd="0" presId="urn:microsoft.com/office/officeart/2005/8/layout/hierarchy1"/>
    <dgm:cxn modelId="{7927B93C-9142-49A2-BA44-72F52862B1E2}" type="presParOf" srcId="{22A5A7D5-B3E1-4F3B-A20C-33D393694E95}" destId="{809B8793-1E8D-4B14-93B8-6A544F027BA4}" srcOrd="0" destOrd="0" presId="urn:microsoft.com/office/officeart/2005/8/layout/hierarchy1"/>
    <dgm:cxn modelId="{419A1F67-D8B4-4687-8291-F13A5FB30E7B}" type="presParOf" srcId="{22A5A7D5-B3E1-4F3B-A20C-33D393694E95}" destId="{0B88E228-55B5-489C-81BF-8C58B1DFF5D3}" srcOrd="1" destOrd="0" presId="urn:microsoft.com/office/officeart/2005/8/layout/hierarchy1"/>
    <dgm:cxn modelId="{515E6A77-FDB2-48AD-9457-EC12D525CBC0}" type="presParOf" srcId="{6FDD0644-57AF-468D-85E6-A4C71B799748}" destId="{9FF055C8-1404-4B7A-998F-BCD30BC7ACDD}" srcOrd="1" destOrd="0" presId="urn:microsoft.com/office/officeart/2005/8/layout/hierarchy1"/>
    <dgm:cxn modelId="{D41397E9-6676-4371-89F0-AF0B2FEE3B82}" type="presParOf" srcId="{9FF055C8-1404-4B7A-998F-BCD30BC7ACDD}" destId="{80F1258D-3548-4D86-BB57-6F49C9F776D7}" srcOrd="0" destOrd="0" presId="urn:microsoft.com/office/officeart/2005/8/layout/hierarchy1"/>
    <dgm:cxn modelId="{442BAA4A-0F94-4319-8356-92CE18B31318}" type="presParOf" srcId="{9FF055C8-1404-4B7A-998F-BCD30BC7ACDD}" destId="{549C3F75-3F4C-4242-9CCD-8EFC958EB745}" srcOrd="1" destOrd="0" presId="urn:microsoft.com/office/officeart/2005/8/layout/hierarchy1"/>
    <dgm:cxn modelId="{AAB51C20-BA3B-424B-AF7A-2AADD9CCC213}" type="presParOf" srcId="{549C3F75-3F4C-4242-9CCD-8EFC958EB745}" destId="{9D4BBD05-4FF7-4827-9E2C-2A32AA3B62E7}" srcOrd="0" destOrd="0" presId="urn:microsoft.com/office/officeart/2005/8/layout/hierarchy1"/>
    <dgm:cxn modelId="{FE8E67D0-6AB9-4194-8E16-256DB94B134A}" type="presParOf" srcId="{9D4BBD05-4FF7-4827-9E2C-2A32AA3B62E7}" destId="{CCCE3F49-818E-4C7A-9755-FD70FA0F8C79}" srcOrd="0" destOrd="0" presId="urn:microsoft.com/office/officeart/2005/8/layout/hierarchy1"/>
    <dgm:cxn modelId="{F9EBB403-7F73-407B-9187-45F5BDEEC11A}" type="presParOf" srcId="{9D4BBD05-4FF7-4827-9E2C-2A32AA3B62E7}" destId="{96E45565-80D7-4CD3-81BC-BE293DF2D1DE}" srcOrd="1" destOrd="0" presId="urn:microsoft.com/office/officeart/2005/8/layout/hierarchy1"/>
    <dgm:cxn modelId="{AE505492-69D7-498B-8707-3C1E6D3F694D}" type="presParOf" srcId="{549C3F75-3F4C-4242-9CCD-8EFC958EB745}" destId="{952D742D-FDE9-442B-87D6-44573EEDB0EC}" srcOrd="1" destOrd="0" presId="urn:microsoft.com/office/officeart/2005/8/layout/hierarchy1"/>
    <dgm:cxn modelId="{E50ED93F-DD4F-44A9-95E1-4BC10E219554}" type="presParOf" srcId="{9FF055C8-1404-4B7A-998F-BCD30BC7ACDD}" destId="{6DFF5D53-8D93-4945-902B-7D98E968618A}" srcOrd="2" destOrd="0" presId="urn:microsoft.com/office/officeart/2005/8/layout/hierarchy1"/>
    <dgm:cxn modelId="{F2C9B6B2-B933-4112-9E00-C63F591DC0CD}" type="presParOf" srcId="{9FF055C8-1404-4B7A-998F-BCD30BC7ACDD}" destId="{87F75B88-61ED-419A-9596-65BE170EB675}" srcOrd="3" destOrd="0" presId="urn:microsoft.com/office/officeart/2005/8/layout/hierarchy1"/>
    <dgm:cxn modelId="{667789F6-8D5E-4E81-AB44-323F9FB2AC18}" type="presParOf" srcId="{87F75B88-61ED-419A-9596-65BE170EB675}" destId="{579767BA-096C-4EA0-8636-83C53927C724}" srcOrd="0" destOrd="0" presId="urn:microsoft.com/office/officeart/2005/8/layout/hierarchy1"/>
    <dgm:cxn modelId="{E807EC9E-83BB-4F4C-B07E-F1C495AB1952}" type="presParOf" srcId="{579767BA-096C-4EA0-8636-83C53927C724}" destId="{5BA97C98-041E-426A-A28A-946AF61FD3A6}" srcOrd="0" destOrd="0" presId="urn:microsoft.com/office/officeart/2005/8/layout/hierarchy1"/>
    <dgm:cxn modelId="{2B9BEFC0-03FC-4CCA-A010-621599F0C2DB}" type="presParOf" srcId="{579767BA-096C-4EA0-8636-83C53927C724}" destId="{343D67FB-02DD-4C87-A9A7-05B8541DD21E}" srcOrd="1" destOrd="0" presId="urn:microsoft.com/office/officeart/2005/8/layout/hierarchy1"/>
    <dgm:cxn modelId="{08FE1385-AB66-472D-9427-01B082BDB72E}" type="presParOf" srcId="{87F75B88-61ED-419A-9596-65BE170EB675}" destId="{AB992906-39C6-4A86-8E35-41F6CFF6CD6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0170967-5BE8-4462-8CA4-0FBBC86714FE}" type="doc">
      <dgm:prSet loTypeId="urn:microsoft.com/office/officeart/2005/8/layout/hierarchy3" loCatId="list" qsTypeId="urn:microsoft.com/office/officeart/2005/8/quickstyle/simple1" qsCatId="simple" csTypeId="urn:microsoft.com/office/officeart/2005/8/colors/accent2_2" csCatId="accent2" phldr="1"/>
      <dgm:spPr/>
      <dgm:t>
        <a:bodyPr/>
        <a:lstStyle/>
        <a:p>
          <a:endParaRPr lang="en-IN"/>
        </a:p>
      </dgm:t>
    </dgm:pt>
    <dgm:pt modelId="{32CAD354-5629-45A7-A1A4-D9CBFD448D8F}">
      <dgm:prSet custT="1"/>
      <dgm:spPr/>
      <dgm:t>
        <a:bodyPr/>
        <a:lstStyle/>
        <a:p>
          <a:r>
            <a:rPr lang="en-US" sz="2600" dirty="0">
              <a:solidFill>
                <a:schemeClr val="tx1"/>
              </a:solidFill>
            </a:rPr>
            <a:t>Comprises of two or more individual supplies</a:t>
          </a:r>
          <a:endParaRPr lang="en-IN" sz="2600" dirty="0">
            <a:solidFill>
              <a:schemeClr val="tx1"/>
            </a:solidFill>
          </a:endParaRPr>
        </a:p>
      </dgm:t>
    </dgm:pt>
    <dgm:pt modelId="{14FF00AE-82BD-42CD-8076-CA1FD11635CD}" type="parTrans" cxnId="{874A0565-5861-4036-80C5-8D1DDE071469}">
      <dgm:prSet/>
      <dgm:spPr/>
      <dgm:t>
        <a:bodyPr/>
        <a:lstStyle/>
        <a:p>
          <a:endParaRPr lang="en-IN" sz="2600"/>
        </a:p>
      </dgm:t>
    </dgm:pt>
    <dgm:pt modelId="{D2AF56BA-CD90-4865-A50C-03114BFE660C}" type="sibTrans" cxnId="{874A0565-5861-4036-80C5-8D1DDE071469}">
      <dgm:prSet/>
      <dgm:spPr/>
      <dgm:t>
        <a:bodyPr/>
        <a:lstStyle/>
        <a:p>
          <a:endParaRPr lang="en-IN" sz="2600"/>
        </a:p>
      </dgm:t>
    </dgm:pt>
    <dgm:pt modelId="{320C1E52-0EAB-42B0-A130-E1E7C7A5E0CA}">
      <dgm:prSet custT="1"/>
      <dgm:spPr/>
      <dgm:t>
        <a:bodyPr/>
        <a:lstStyle/>
        <a:p>
          <a:r>
            <a:rPr lang="en-US" sz="2600" dirty="0"/>
            <a:t>of goods or services, or combination thereof</a:t>
          </a:r>
          <a:endParaRPr lang="en-IN" sz="2600" dirty="0"/>
        </a:p>
      </dgm:t>
    </dgm:pt>
    <dgm:pt modelId="{F9FC9106-1768-49C7-8E6D-1C22CF1D05C7}" type="parTrans" cxnId="{BB372875-C095-42CC-89CC-97DAB3C69276}">
      <dgm:prSet/>
      <dgm:spPr/>
      <dgm:t>
        <a:bodyPr/>
        <a:lstStyle/>
        <a:p>
          <a:endParaRPr lang="en-IN" sz="2600"/>
        </a:p>
      </dgm:t>
    </dgm:pt>
    <dgm:pt modelId="{DCCC971A-2626-4CD2-9DF9-AA6B3CCF24D2}" type="sibTrans" cxnId="{BB372875-C095-42CC-89CC-97DAB3C69276}">
      <dgm:prSet/>
      <dgm:spPr/>
      <dgm:t>
        <a:bodyPr/>
        <a:lstStyle/>
        <a:p>
          <a:endParaRPr lang="en-IN" sz="2600"/>
        </a:p>
      </dgm:t>
    </dgm:pt>
    <dgm:pt modelId="{2AEB0C61-19F8-402F-A973-DE75B574E01C}">
      <dgm:prSet custT="1"/>
      <dgm:spPr/>
      <dgm:t>
        <a:bodyPr/>
        <a:lstStyle/>
        <a:p>
          <a:r>
            <a:rPr lang="en-US" sz="2600" dirty="0"/>
            <a:t>made in conjunction with each other by a taxable person</a:t>
          </a:r>
          <a:endParaRPr lang="en-IN" sz="2600" dirty="0"/>
        </a:p>
      </dgm:t>
    </dgm:pt>
    <dgm:pt modelId="{BC808C88-5BF9-4C3A-BBA5-8DF2E796A6BD}" type="parTrans" cxnId="{5AE32672-E05E-4BED-B558-AF5370EC9D7A}">
      <dgm:prSet/>
      <dgm:spPr/>
      <dgm:t>
        <a:bodyPr/>
        <a:lstStyle/>
        <a:p>
          <a:endParaRPr lang="en-IN" sz="2600"/>
        </a:p>
      </dgm:t>
    </dgm:pt>
    <dgm:pt modelId="{18A6907D-45C3-4056-A323-1E4EE3130DCC}" type="sibTrans" cxnId="{5AE32672-E05E-4BED-B558-AF5370EC9D7A}">
      <dgm:prSet/>
      <dgm:spPr/>
      <dgm:t>
        <a:bodyPr/>
        <a:lstStyle/>
        <a:p>
          <a:endParaRPr lang="en-IN" sz="2600"/>
        </a:p>
      </dgm:t>
    </dgm:pt>
    <dgm:pt modelId="{6C1EF08B-E860-4BCE-9066-4E1430157CFE}">
      <dgm:prSet custT="1"/>
      <dgm:spPr/>
      <dgm:t>
        <a:bodyPr/>
        <a:lstStyle/>
        <a:p>
          <a:r>
            <a:rPr lang="en-US" sz="2600" dirty="0"/>
            <a:t>for a single price</a:t>
          </a:r>
          <a:endParaRPr lang="en-IN" sz="2600" dirty="0"/>
        </a:p>
      </dgm:t>
    </dgm:pt>
    <dgm:pt modelId="{362B90C2-06F5-47ED-80C4-CDD63922641F}" type="parTrans" cxnId="{EC464515-1C83-4C67-BAC0-BF1B32D9E28F}">
      <dgm:prSet/>
      <dgm:spPr/>
      <dgm:t>
        <a:bodyPr/>
        <a:lstStyle/>
        <a:p>
          <a:endParaRPr lang="en-IN" sz="2600"/>
        </a:p>
      </dgm:t>
    </dgm:pt>
    <dgm:pt modelId="{0BC0B58E-C1E5-4B5E-85CE-CDD8CB5772FB}" type="sibTrans" cxnId="{EC464515-1C83-4C67-BAC0-BF1B32D9E28F}">
      <dgm:prSet/>
      <dgm:spPr/>
      <dgm:t>
        <a:bodyPr/>
        <a:lstStyle/>
        <a:p>
          <a:endParaRPr lang="en-IN" sz="2600"/>
        </a:p>
      </dgm:t>
    </dgm:pt>
    <dgm:pt modelId="{A8E3C87B-5E57-4366-A54F-F903430AB0B4}">
      <dgm:prSet custT="1"/>
      <dgm:spPr/>
      <dgm:t>
        <a:bodyPr/>
        <a:lstStyle/>
        <a:p>
          <a:r>
            <a:rPr lang="en-US" sz="2600" dirty="0"/>
            <a:t>The individual supplies are independent of each other and </a:t>
          </a:r>
          <a:r>
            <a:rPr lang="en-US" sz="2600" b="1" dirty="0">
              <a:solidFill>
                <a:srgbClr val="C00000"/>
              </a:solidFill>
            </a:rPr>
            <a:t>not naturally bundled</a:t>
          </a:r>
          <a:endParaRPr lang="en-IN" sz="2600" dirty="0">
            <a:solidFill>
              <a:srgbClr val="C00000"/>
            </a:solidFill>
          </a:endParaRPr>
        </a:p>
      </dgm:t>
    </dgm:pt>
    <dgm:pt modelId="{7D43B565-9532-49D5-B8A1-9664C19F4719}" type="parTrans" cxnId="{B81C40FD-DF6A-4293-B25B-590849D72CA6}">
      <dgm:prSet/>
      <dgm:spPr/>
      <dgm:t>
        <a:bodyPr/>
        <a:lstStyle/>
        <a:p>
          <a:endParaRPr lang="en-IN" sz="2600"/>
        </a:p>
      </dgm:t>
    </dgm:pt>
    <dgm:pt modelId="{56600FFB-23D0-4961-84DD-772A3D5C26A2}" type="sibTrans" cxnId="{B81C40FD-DF6A-4293-B25B-590849D72CA6}">
      <dgm:prSet/>
      <dgm:spPr/>
      <dgm:t>
        <a:bodyPr/>
        <a:lstStyle/>
        <a:p>
          <a:endParaRPr lang="en-IN" sz="2600"/>
        </a:p>
      </dgm:t>
    </dgm:pt>
    <dgm:pt modelId="{9AF71FB2-F020-49D4-B207-3F5209835150}">
      <dgm:prSet custT="1"/>
      <dgm:spPr/>
      <dgm:t>
        <a:bodyPr/>
        <a:lstStyle/>
        <a:p>
          <a:r>
            <a:rPr lang="en-US" sz="2600" dirty="0">
              <a:solidFill>
                <a:schemeClr val="tx1"/>
              </a:solidFill>
            </a:rPr>
            <a:t>E.g.: a gift pack comprising of chocolates, candies, cookies, etc.</a:t>
          </a:r>
          <a:endParaRPr lang="en-IN" sz="2600" dirty="0">
            <a:solidFill>
              <a:schemeClr val="tx1"/>
            </a:solidFill>
          </a:endParaRPr>
        </a:p>
      </dgm:t>
    </dgm:pt>
    <dgm:pt modelId="{4A7559C9-4587-4E0A-872D-8D52B1A2894C}" type="parTrans" cxnId="{02722539-29D7-4D2C-9F24-0F721217C459}">
      <dgm:prSet/>
      <dgm:spPr/>
      <dgm:t>
        <a:bodyPr/>
        <a:lstStyle/>
        <a:p>
          <a:endParaRPr lang="en-IN"/>
        </a:p>
      </dgm:t>
    </dgm:pt>
    <dgm:pt modelId="{8E61D289-C67A-4CA0-904D-542B77468941}" type="sibTrans" cxnId="{02722539-29D7-4D2C-9F24-0F721217C459}">
      <dgm:prSet/>
      <dgm:spPr/>
      <dgm:t>
        <a:bodyPr/>
        <a:lstStyle/>
        <a:p>
          <a:endParaRPr lang="en-IN"/>
        </a:p>
      </dgm:t>
    </dgm:pt>
    <dgm:pt modelId="{6AC4A822-1ACD-4DA6-AB2B-3146A88BB6EE}" type="pres">
      <dgm:prSet presAssocID="{30170967-5BE8-4462-8CA4-0FBBC86714FE}" presName="diagram" presStyleCnt="0">
        <dgm:presLayoutVars>
          <dgm:chPref val="1"/>
          <dgm:dir/>
          <dgm:animOne val="branch"/>
          <dgm:animLvl val="lvl"/>
          <dgm:resizeHandles/>
        </dgm:presLayoutVars>
      </dgm:prSet>
      <dgm:spPr/>
    </dgm:pt>
    <dgm:pt modelId="{68E32E62-687B-49EB-AE00-0F28A8E99A6B}" type="pres">
      <dgm:prSet presAssocID="{32CAD354-5629-45A7-A1A4-D9CBFD448D8F}" presName="root" presStyleCnt="0"/>
      <dgm:spPr/>
    </dgm:pt>
    <dgm:pt modelId="{0B2260A6-B643-43D8-A8F8-C92EA9939DB3}" type="pres">
      <dgm:prSet presAssocID="{32CAD354-5629-45A7-A1A4-D9CBFD448D8F}" presName="rootComposite" presStyleCnt="0"/>
      <dgm:spPr/>
    </dgm:pt>
    <dgm:pt modelId="{20C25976-9BAD-4EA9-8646-F49662F4C6A3}" type="pres">
      <dgm:prSet presAssocID="{32CAD354-5629-45A7-A1A4-D9CBFD448D8F}" presName="rootText" presStyleLbl="node1" presStyleIdx="0" presStyleCnt="1" custScaleX="346098"/>
      <dgm:spPr/>
    </dgm:pt>
    <dgm:pt modelId="{C55524CF-99B0-49B2-8443-6FCB29CAC336}" type="pres">
      <dgm:prSet presAssocID="{32CAD354-5629-45A7-A1A4-D9CBFD448D8F}" presName="rootConnector" presStyleLbl="node1" presStyleIdx="0" presStyleCnt="1"/>
      <dgm:spPr/>
    </dgm:pt>
    <dgm:pt modelId="{DD0F112B-1014-4E92-8016-9E05B7060C6B}" type="pres">
      <dgm:prSet presAssocID="{32CAD354-5629-45A7-A1A4-D9CBFD448D8F}" presName="childShape" presStyleCnt="0"/>
      <dgm:spPr/>
    </dgm:pt>
    <dgm:pt modelId="{98C6CD64-CDC0-43B8-BFEF-840DCA4D4D97}" type="pres">
      <dgm:prSet presAssocID="{F9FC9106-1768-49C7-8E6D-1C22CF1D05C7}" presName="Name13" presStyleLbl="parChTrans1D2" presStyleIdx="0" presStyleCnt="5"/>
      <dgm:spPr/>
    </dgm:pt>
    <dgm:pt modelId="{92B554BF-6EC1-4302-9944-B707D6CA722C}" type="pres">
      <dgm:prSet presAssocID="{320C1E52-0EAB-42B0-A130-E1E7C7A5E0CA}" presName="childText" presStyleLbl="bgAcc1" presStyleIdx="0" presStyleCnt="5" custScaleX="571358">
        <dgm:presLayoutVars>
          <dgm:bulletEnabled val="1"/>
        </dgm:presLayoutVars>
      </dgm:prSet>
      <dgm:spPr/>
    </dgm:pt>
    <dgm:pt modelId="{09F28961-135C-4A58-A853-8AE7148F4DC7}" type="pres">
      <dgm:prSet presAssocID="{BC808C88-5BF9-4C3A-BBA5-8DF2E796A6BD}" presName="Name13" presStyleLbl="parChTrans1D2" presStyleIdx="1" presStyleCnt="5"/>
      <dgm:spPr/>
    </dgm:pt>
    <dgm:pt modelId="{A3E40A4F-6FD0-4445-A292-023E9BAE6094}" type="pres">
      <dgm:prSet presAssocID="{2AEB0C61-19F8-402F-A973-DE75B574E01C}" presName="childText" presStyleLbl="bgAcc1" presStyleIdx="1" presStyleCnt="5" custScaleX="571358">
        <dgm:presLayoutVars>
          <dgm:bulletEnabled val="1"/>
        </dgm:presLayoutVars>
      </dgm:prSet>
      <dgm:spPr/>
    </dgm:pt>
    <dgm:pt modelId="{6C9D0650-D3CB-4C37-A04B-AAAEF1780A5B}" type="pres">
      <dgm:prSet presAssocID="{362B90C2-06F5-47ED-80C4-CDD63922641F}" presName="Name13" presStyleLbl="parChTrans1D2" presStyleIdx="2" presStyleCnt="5"/>
      <dgm:spPr/>
    </dgm:pt>
    <dgm:pt modelId="{E76B1A58-2340-4C8C-827B-00A12093F74C}" type="pres">
      <dgm:prSet presAssocID="{6C1EF08B-E860-4BCE-9066-4E1430157CFE}" presName="childText" presStyleLbl="bgAcc1" presStyleIdx="2" presStyleCnt="5" custScaleX="571358">
        <dgm:presLayoutVars>
          <dgm:bulletEnabled val="1"/>
        </dgm:presLayoutVars>
      </dgm:prSet>
      <dgm:spPr/>
    </dgm:pt>
    <dgm:pt modelId="{5BBA4CA3-8339-4590-B991-EDAB9F644277}" type="pres">
      <dgm:prSet presAssocID="{7D43B565-9532-49D5-B8A1-9664C19F4719}" presName="Name13" presStyleLbl="parChTrans1D2" presStyleIdx="3" presStyleCnt="5"/>
      <dgm:spPr/>
    </dgm:pt>
    <dgm:pt modelId="{BE9E5513-E893-4603-84AA-CBF12CBC7948}" type="pres">
      <dgm:prSet presAssocID="{A8E3C87B-5E57-4366-A54F-F903430AB0B4}" presName="childText" presStyleLbl="bgAcc1" presStyleIdx="3" presStyleCnt="5" custScaleX="571358">
        <dgm:presLayoutVars>
          <dgm:bulletEnabled val="1"/>
        </dgm:presLayoutVars>
      </dgm:prSet>
      <dgm:spPr/>
    </dgm:pt>
    <dgm:pt modelId="{066D2E31-6A31-4ACB-8205-1A9E3774B073}" type="pres">
      <dgm:prSet presAssocID="{4A7559C9-4587-4E0A-872D-8D52B1A2894C}" presName="Name13" presStyleLbl="parChTrans1D2" presStyleIdx="4" presStyleCnt="5"/>
      <dgm:spPr/>
    </dgm:pt>
    <dgm:pt modelId="{6065F844-EB1A-4656-8D3F-55BB89EF3DED}" type="pres">
      <dgm:prSet presAssocID="{9AF71FB2-F020-49D4-B207-3F5209835150}" presName="childText" presStyleLbl="bgAcc1" presStyleIdx="4" presStyleCnt="5" custScaleX="571292">
        <dgm:presLayoutVars>
          <dgm:bulletEnabled val="1"/>
        </dgm:presLayoutVars>
      </dgm:prSet>
      <dgm:spPr/>
    </dgm:pt>
  </dgm:ptLst>
  <dgm:cxnLst>
    <dgm:cxn modelId="{9F1BA811-DC08-46AB-BD67-C971A7F1A494}" type="presOf" srcId="{9AF71FB2-F020-49D4-B207-3F5209835150}" destId="{6065F844-EB1A-4656-8D3F-55BB89EF3DED}" srcOrd="0" destOrd="0" presId="urn:microsoft.com/office/officeart/2005/8/layout/hierarchy3"/>
    <dgm:cxn modelId="{E9BA3C15-4455-46B0-B6DC-2D963F0DEDC1}" type="presOf" srcId="{32CAD354-5629-45A7-A1A4-D9CBFD448D8F}" destId="{20C25976-9BAD-4EA9-8646-F49662F4C6A3}" srcOrd="0" destOrd="0" presId="urn:microsoft.com/office/officeart/2005/8/layout/hierarchy3"/>
    <dgm:cxn modelId="{EC464515-1C83-4C67-BAC0-BF1B32D9E28F}" srcId="{32CAD354-5629-45A7-A1A4-D9CBFD448D8F}" destId="{6C1EF08B-E860-4BCE-9066-4E1430157CFE}" srcOrd="2" destOrd="0" parTransId="{362B90C2-06F5-47ED-80C4-CDD63922641F}" sibTransId="{0BC0B58E-C1E5-4B5E-85CE-CDD8CB5772FB}"/>
    <dgm:cxn modelId="{9CC48A33-EE3E-4C01-8EE7-648940905537}" type="presOf" srcId="{4A7559C9-4587-4E0A-872D-8D52B1A2894C}" destId="{066D2E31-6A31-4ACB-8205-1A9E3774B073}" srcOrd="0" destOrd="0" presId="urn:microsoft.com/office/officeart/2005/8/layout/hierarchy3"/>
    <dgm:cxn modelId="{02722539-29D7-4D2C-9F24-0F721217C459}" srcId="{32CAD354-5629-45A7-A1A4-D9CBFD448D8F}" destId="{9AF71FB2-F020-49D4-B207-3F5209835150}" srcOrd="4" destOrd="0" parTransId="{4A7559C9-4587-4E0A-872D-8D52B1A2894C}" sibTransId="{8E61D289-C67A-4CA0-904D-542B77468941}"/>
    <dgm:cxn modelId="{397A955B-2C3A-4CA0-94A7-C74B74E36E57}" type="presOf" srcId="{6C1EF08B-E860-4BCE-9066-4E1430157CFE}" destId="{E76B1A58-2340-4C8C-827B-00A12093F74C}" srcOrd="0" destOrd="0" presId="urn:microsoft.com/office/officeart/2005/8/layout/hierarchy3"/>
    <dgm:cxn modelId="{42A43461-1E62-4139-88D4-F692D7B3D612}" type="presOf" srcId="{2AEB0C61-19F8-402F-A973-DE75B574E01C}" destId="{A3E40A4F-6FD0-4445-A292-023E9BAE6094}" srcOrd="0" destOrd="0" presId="urn:microsoft.com/office/officeart/2005/8/layout/hierarchy3"/>
    <dgm:cxn modelId="{874A0565-5861-4036-80C5-8D1DDE071469}" srcId="{30170967-5BE8-4462-8CA4-0FBBC86714FE}" destId="{32CAD354-5629-45A7-A1A4-D9CBFD448D8F}" srcOrd="0" destOrd="0" parTransId="{14FF00AE-82BD-42CD-8076-CA1FD11635CD}" sibTransId="{D2AF56BA-CD90-4865-A50C-03114BFE660C}"/>
    <dgm:cxn modelId="{A94B1A49-4DB4-4185-BD17-59A9DC241D90}" type="presOf" srcId="{32CAD354-5629-45A7-A1A4-D9CBFD448D8F}" destId="{C55524CF-99B0-49B2-8443-6FCB29CAC336}" srcOrd="1" destOrd="0" presId="urn:microsoft.com/office/officeart/2005/8/layout/hierarchy3"/>
    <dgm:cxn modelId="{4214676B-C60A-4E53-93F4-B25CB3BCD06C}" type="presOf" srcId="{320C1E52-0EAB-42B0-A130-E1E7C7A5E0CA}" destId="{92B554BF-6EC1-4302-9944-B707D6CA722C}" srcOrd="0" destOrd="0" presId="urn:microsoft.com/office/officeart/2005/8/layout/hierarchy3"/>
    <dgm:cxn modelId="{5AE32672-E05E-4BED-B558-AF5370EC9D7A}" srcId="{32CAD354-5629-45A7-A1A4-D9CBFD448D8F}" destId="{2AEB0C61-19F8-402F-A973-DE75B574E01C}" srcOrd="1" destOrd="0" parTransId="{BC808C88-5BF9-4C3A-BBA5-8DF2E796A6BD}" sibTransId="{18A6907D-45C3-4056-A323-1E4EE3130DCC}"/>
    <dgm:cxn modelId="{A474C772-F5CC-449B-A97A-9F80FDEA6809}" type="presOf" srcId="{362B90C2-06F5-47ED-80C4-CDD63922641F}" destId="{6C9D0650-D3CB-4C37-A04B-AAAEF1780A5B}" srcOrd="0" destOrd="0" presId="urn:microsoft.com/office/officeart/2005/8/layout/hierarchy3"/>
    <dgm:cxn modelId="{BB372875-C095-42CC-89CC-97DAB3C69276}" srcId="{32CAD354-5629-45A7-A1A4-D9CBFD448D8F}" destId="{320C1E52-0EAB-42B0-A130-E1E7C7A5E0CA}" srcOrd="0" destOrd="0" parTransId="{F9FC9106-1768-49C7-8E6D-1C22CF1D05C7}" sibTransId="{DCCC971A-2626-4CD2-9DF9-AA6B3CCF24D2}"/>
    <dgm:cxn modelId="{2A9ADA7A-BC2A-45C0-863C-BD12D2AAA3E8}" type="presOf" srcId="{F9FC9106-1768-49C7-8E6D-1C22CF1D05C7}" destId="{98C6CD64-CDC0-43B8-BFEF-840DCA4D4D97}" srcOrd="0" destOrd="0" presId="urn:microsoft.com/office/officeart/2005/8/layout/hierarchy3"/>
    <dgm:cxn modelId="{348E527E-3D26-4D15-B4AD-11E9430E69EF}" type="presOf" srcId="{A8E3C87B-5E57-4366-A54F-F903430AB0B4}" destId="{BE9E5513-E893-4603-84AA-CBF12CBC7948}" srcOrd="0" destOrd="0" presId="urn:microsoft.com/office/officeart/2005/8/layout/hierarchy3"/>
    <dgm:cxn modelId="{B8AE9CA7-522D-41B4-B830-02D546CDD47F}" type="presOf" srcId="{BC808C88-5BF9-4C3A-BBA5-8DF2E796A6BD}" destId="{09F28961-135C-4A58-A853-8AE7148F4DC7}" srcOrd="0" destOrd="0" presId="urn:microsoft.com/office/officeart/2005/8/layout/hierarchy3"/>
    <dgm:cxn modelId="{722455AA-043D-44F7-B178-F5BCFB7BBFC2}" type="presOf" srcId="{7D43B565-9532-49D5-B8A1-9664C19F4719}" destId="{5BBA4CA3-8339-4590-B991-EDAB9F644277}" srcOrd="0" destOrd="0" presId="urn:microsoft.com/office/officeart/2005/8/layout/hierarchy3"/>
    <dgm:cxn modelId="{FE49C1CD-C2F3-4C75-8480-798EBA39F3AE}" type="presOf" srcId="{30170967-5BE8-4462-8CA4-0FBBC86714FE}" destId="{6AC4A822-1ACD-4DA6-AB2B-3146A88BB6EE}" srcOrd="0" destOrd="0" presId="urn:microsoft.com/office/officeart/2005/8/layout/hierarchy3"/>
    <dgm:cxn modelId="{B81C40FD-DF6A-4293-B25B-590849D72CA6}" srcId="{32CAD354-5629-45A7-A1A4-D9CBFD448D8F}" destId="{A8E3C87B-5E57-4366-A54F-F903430AB0B4}" srcOrd="3" destOrd="0" parTransId="{7D43B565-9532-49D5-B8A1-9664C19F4719}" sibTransId="{56600FFB-23D0-4961-84DD-772A3D5C26A2}"/>
    <dgm:cxn modelId="{2E42A567-F6DB-423E-A379-42530B947965}" type="presParOf" srcId="{6AC4A822-1ACD-4DA6-AB2B-3146A88BB6EE}" destId="{68E32E62-687B-49EB-AE00-0F28A8E99A6B}" srcOrd="0" destOrd="0" presId="urn:microsoft.com/office/officeart/2005/8/layout/hierarchy3"/>
    <dgm:cxn modelId="{755C6DFE-6A98-4E8F-9292-79B22102ED51}" type="presParOf" srcId="{68E32E62-687B-49EB-AE00-0F28A8E99A6B}" destId="{0B2260A6-B643-43D8-A8F8-C92EA9939DB3}" srcOrd="0" destOrd="0" presId="urn:microsoft.com/office/officeart/2005/8/layout/hierarchy3"/>
    <dgm:cxn modelId="{376743D6-2B6D-4FB4-B65C-78CE72F5A33D}" type="presParOf" srcId="{0B2260A6-B643-43D8-A8F8-C92EA9939DB3}" destId="{20C25976-9BAD-4EA9-8646-F49662F4C6A3}" srcOrd="0" destOrd="0" presId="urn:microsoft.com/office/officeart/2005/8/layout/hierarchy3"/>
    <dgm:cxn modelId="{425FEF81-72A9-48F8-8A75-CC15C4900862}" type="presParOf" srcId="{0B2260A6-B643-43D8-A8F8-C92EA9939DB3}" destId="{C55524CF-99B0-49B2-8443-6FCB29CAC336}" srcOrd="1" destOrd="0" presId="urn:microsoft.com/office/officeart/2005/8/layout/hierarchy3"/>
    <dgm:cxn modelId="{6694C076-B858-4B3E-A1D9-E8D4335D8405}" type="presParOf" srcId="{68E32E62-687B-49EB-AE00-0F28A8E99A6B}" destId="{DD0F112B-1014-4E92-8016-9E05B7060C6B}" srcOrd="1" destOrd="0" presId="urn:microsoft.com/office/officeart/2005/8/layout/hierarchy3"/>
    <dgm:cxn modelId="{58D2D9E3-0907-40E1-AD32-B85E177FB64B}" type="presParOf" srcId="{DD0F112B-1014-4E92-8016-9E05B7060C6B}" destId="{98C6CD64-CDC0-43B8-BFEF-840DCA4D4D97}" srcOrd="0" destOrd="0" presId="urn:microsoft.com/office/officeart/2005/8/layout/hierarchy3"/>
    <dgm:cxn modelId="{8680743E-8611-4767-9F77-9D92248AE5C6}" type="presParOf" srcId="{DD0F112B-1014-4E92-8016-9E05B7060C6B}" destId="{92B554BF-6EC1-4302-9944-B707D6CA722C}" srcOrd="1" destOrd="0" presId="urn:microsoft.com/office/officeart/2005/8/layout/hierarchy3"/>
    <dgm:cxn modelId="{2D28A679-CC35-4E60-A8E8-2382B2421A48}" type="presParOf" srcId="{DD0F112B-1014-4E92-8016-9E05B7060C6B}" destId="{09F28961-135C-4A58-A853-8AE7148F4DC7}" srcOrd="2" destOrd="0" presId="urn:microsoft.com/office/officeart/2005/8/layout/hierarchy3"/>
    <dgm:cxn modelId="{0DBA07FD-7782-4817-997B-6AAF8E3D35D4}" type="presParOf" srcId="{DD0F112B-1014-4E92-8016-9E05B7060C6B}" destId="{A3E40A4F-6FD0-4445-A292-023E9BAE6094}" srcOrd="3" destOrd="0" presId="urn:microsoft.com/office/officeart/2005/8/layout/hierarchy3"/>
    <dgm:cxn modelId="{37CE1A34-1708-440E-AEC0-3F18F4D8FB7A}" type="presParOf" srcId="{DD0F112B-1014-4E92-8016-9E05B7060C6B}" destId="{6C9D0650-D3CB-4C37-A04B-AAAEF1780A5B}" srcOrd="4" destOrd="0" presId="urn:microsoft.com/office/officeart/2005/8/layout/hierarchy3"/>
    <dgm:cxn modelId="{AA1346F2-184E-4742-B216-71A21FD3720A}" type="presParOf" srcId="{DD0F112B-1014-4E92-8016-9E05B7060C6B}" destId="{E76B1A58-2340-4C8C-827B-00A12093F74C}" srcOrd="5" destOrd="0" presId="urn:microsoft.com/office/officeart/2005/8/layout/hierarchy3"/>
    <dgm:cxn modelId="{62FBFC03-1597-4748-B648-8A0A915AD60B}" type="presParOf" srcId="{DD0F112B-1014-4E92-8016-9E05B7060C6B}" destId="{5BBA4CA3-8339-4590-B991-EDAB9F644277}" srcOrd="6" destOrd="0" presId="urn:microsoft.com/office/officeart/2005/8/layout/hierarchy3"/>
    <dgm:cxn modelId="{EE247F04-4C37-4605-B5D1-38B9ADFA4A2D}" type="presParOf" srcId="{DD0F112B-1014-4E92-8016-9E05B7060C6B}" destId="{BE9E5513-E893-4603-84AA-CBF12CBC7948}" srcOrd="7" destOrd="0" presId="urn:microsoft.com/office/officeart/2005/8/layout/hierarchy3"/>
    <dgm:cxn modelId="{3F09961A-8245-4B84-8ED5-14293241F11A}" type="presParOf" srcId="{DD0F112B-1014-4E92-8016-9E05B7060C6B}" destId="{066D2E31-6A31-4ACB-8205-1A9E3774B073}" srcOrd="8" destOrd="0" presId="urn:microsoft.com/office/officeart/2005/8/layout/hierarchy3"/>
    <dgm:cxn modelId="{4307AAE2-497C-4A46-A502-4006547153F7}" type="presParOf" srcId="{DD0F112B-1014-4E92-8016-9E05B7060C6B}" destId="{6065F844-EB1A-4656-8D3F-55BB89EF3DED}" srcOrd="9"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28F06AF-099F-4858-8AB2-202F0104550E}" type="doc">
      <dgm:prSet loTypeId="urn:microsoft.com/office/officeart/2005/8/layout/hierarchy3" loCatId="hierarchy" qsTypeId="urn:microsoft.com/office/officeart/2005/8/quickstyle/simple1" qsCatId="simple" csTypeId="urn:microsoft.com/office/officeart/2005/8/colors/colorful2" csCatId="colorful" phldr="1"/>
      <dgm:spPr/>
      <dgm:t>
        <a:bodyPr/>
        <a:lstStyle/>
        <a:p>
          <a:endParaRPr lang="en-IN"/>
        </a:p>
      </dgm:t>
    </dgm:pt>
    <dgm:pt modelId="{32195378-AD66-4F6B-B3FF-4759F40A6CC9}">
      <dgm:prSet custT="1"/>
      <dgm:spPr/>
      <dgm:t>
        <a:bodyPr/>
        <a:lstStyle/>
        <a:p>
          <a:r>
            <a:rPr lang="en-US" sz="2600" b="1" dirty="0">
              <a:solidFill>
                <a:schemeClr val="tx1"/>
              </a:solidFill>
            </a:rPr>
            <a:t>CGST</a:t>
          </a:r>
        </a:p>
        <a:p>
          <a:r>
            <a:rPr lang="en-US" sz="2600" dirty="0">
              <a:solidFill>
                <a:schemeClr val="tx1"/>
              </a:solidFill>
            </a:rPr>
            <a:t>{SGST/ UTGST at equivalent rate is also leviable}</a:t>
          </a:r>
          <a:endParaRPr lang="en-IN" sz="2600" dirty="0">
            <a:solidFill>
              <a:schemeClr val="tx1"/>
            </a:solidFill>
          </a:endParaRPr>
        </a:p>
      </dgm:t>
    </dgm:pt>
    <dgm:pt modelId="{A516A837-0540-411C-A1AA-DFC2866E5BFD}" type="parTrans" cxnId="{335F0343-1897-4324-9B6D-42E39377BD29}">
      <dgm:prSet/>
      <dgm:spPr/>
      <dgm:t>
        <a:bodyPr/>
        <a:lstStyle/>
        <a:p>
          <a:endParaRPr lang="en-IN" sz="2400">
            <a:solidFill>
              <a:schemeClr val="tx1"/>
            </a:solidFill>
          </a:endParaRPr>
        </a:p>
      </dgm:t>
    </dgm:pt>
    <dgm:pt modelId="{0409D4E2-D6FA-4416-81BE-7A57BC705677}" type="sibTrans" cxnId="{335F0343-1897-4324-9B6D-42E39377BD29}">
      <dgm:prSet/>
      <dgm:spPr/>
      <dgm:t>
        <a:bodyPr/>
        <a:lstStyle/>
        <a:p>
          <a:endParaRPr lang="en-IN" sz="2400">
            <a:solidFill>
              <a:schemeClr val="tx1"/>
            </a:solidFill>
          </a:endParaRPr>
        </a:p>
      </dgm:t>
    </dgm:pt>
    <dgm:pt modelId="{20775F24-34D4-4A52-BA10-4EF79455B641}">
      <dgm:prSet custT="1"/>
      <dgm:spPr/>
      <dgm:t>
        <a:bodyPr/>
        <a:lstStyle/>
        <a:p>
          <a:r>
            <a:rPr lang="en-US" sz="2400" dirty="0">
              <a:solidFill>
                <a:schemeClr val="tx1"/>
              </a:solidFill>
            </a:rPr>
            <a:t>0.125%</a:t>
          </a:r>
          <a:endParaRPr lang="en-IN" sz="2400" dirty="0">
            <a:solidFill>
              <a:schemeClr val="tx1"/>
            </a:solidFill>
          </a:endParaRPr>
        </a:p>
      </dgm:t>
    </dgm:pt>
    <dgm:pt modelId="{2E2FDC1A-947C-4AA9-8EE0-07B5E4503687}" type="parTrans" cxnId="{94E75FA0-9BA4-4581-9FCC-DF1BB591A3AF}">
      <dgm:prSet/>
      <dgm:spPr/>
      <dgm:t>
        <a:bodyPr/>
        <a:lstStyle/>
        <a:p>
          <a:endParaRPr lang="en-IN" sz="2400">
            <a:solidFill>
              <a:schemeClr val="tx1"/>
            </a:solidFill>
          </a:endParaRPr>
        </a:p>
      </dgm:t>
    </dgm:pt>
    <dgm:pt modelId="{66ED6288-51CE-4876-B36D-A81DE64C609C}" type="sibTrans" cxnId="{94E75FA0-9BA4-4581-9FCC-DF1BB591A3AF}">
      <dgm:prSet/>
      <dgm:spPr/>
      <dgm:t>
        <a:bodyPr/>
        <a:lstStyle/>
        <a:p>
          <a:endParaRPr lang="en-IN" sz="2400">
            <a:solidFill>
              <a:schemeClr val="tx1"/>
            </a:solidFill>
          </a:endParaRPr>
        </a:p>
      </dgm:t>
    </dgm:pt>
    <dgm:pt modelId="{D158D922-51E4-4A5F-AEB6-FAD74B0CA847}">
      <dgm:prSet custT="1"/>
      <dgm:spPr/>
      <dgm:t>
        <a:bodyPr/>
        <a:lstStyle/>
        <a:p>
          <a:r>
            <a:rPr lang="en-US" sz="2400" dirty="0">
              <a:solidFill>
                <a:schemeClr val="tx1"/>
              </a:solidFill>
            </a:rPr>
            <a:t>1.5%</a:t>
          </a:r>
          <a:endParaRPr lang="en-IN" sz="2400" dirty="0">
            <a:solidFill>
              <a:schemeClr val="tx1"/>
            </a:solidFill>
          </a:endParaRPr>
        </a:p>
      </dgm:t>
    </dgm:pt>
    <dgm:pt modelId="{794725C6-64C6-433F-B488-C9C68E2649A3}" type="parTrans" cxnId="{CAEA8D08-0681-42A3-AAE5-DC6EBD6F931C}">
      <dgm:prSet/>
      <dgm:spPr/>
      <dgm:t>
        <a:bodyPr/>
        <a:lstStyle/>
        <a:p>
          <a:endParaRPr lang="en-IN" sz="2400">
            <a:solidFill>
              <a:schemeClr val="tx1"/>
            </a:solidFill>
          </a:endParaRPr>
        </a:p>
      </dgm:t>
    </dgm:pt>
    <dgm:pt modelId="{A6C29CC1-AB5A-4EA8-97F9-D0DCA907BEE3}" type="sibTrans" cxnId="{CAEA8D08-0681-42A3-AAE5-DC6EBD6F931C}">
      <dgm:prSet/>
      <dgm:spPr/>
      <dgm:t>
        <a:bodyPr/>
        <a:lstStyle/>
        <a:p>
          <a:endParaRPr lang="en-IN" sz="2400">
            <a:solidFill>
              <a:schemeClr val="tx1"/>
            </a:solidFill>
          </a:endParaRPr>
        </a:p>
      </dgm:t>
    </dgm:pt>
    <dgm:pt modelId="{7222F800-9EC9-43D3-82B2-7F8FE9C3CCBC}">
      <dgm:prSet custT="1"/>
      <dgm:spPr/>
      <dgm:t>
        <a:bodyPr/>
        <a:lstStyle/>
        <a:p>
          <a:r>
            <a:rPr lang="en-US" sz="2400">
              <a:solidFill>
                <a:schemeClr val="tx1"/>
              </a:solidFill>
            </a:rPr>
            <a:t>2.5%</a:t>
          </a:r>
          <a:endParaRPr lang="en-IN" sz="2400">
            <a:solidFill>
              <a:schemeClr val="tx1"/>
            </a:solidFill>
          </a:endParaRPr>
        </a:p>
      </dgm:t>
    </dgm:pt>
    <dgm:pt modelId="{BD30C5BB-1D06-4E3E-85BC-E8955F71674C}" type="parTrans" cxnId="{FC7DBA8C-A41F-4C0A-83A3-2DA98EED10B6}">
      <dgm:prSet/>
      <dgm:spPr/>
      <dgm:t>
        <a:bodyPr/>
        <a:lstStyle/>
        <a:p>
          <a:endParaRPr lang="en-IN" sz="2400">
            <a:solidFill>
              <a:schemeClr val="tx1"/>
            </a:solidFill>
          </a:endParaRPr>
        </a:p>
      </dgm:t>
    </dgm:pt>
    <dgm:pt modelId="{2532CD83-ACAE-4C84-AAC9-20525A40B660}" type="sibTrans" cxnId="{FC7DBA8C-A41F-4C0A-83A3-2DA98EED10B6}">
      <dgm:prSet/>
      <dgm:spPr/>
      <dgm:t>
        <a:bodyPr/>
        <a:lstStyle/>
        <a:p>
          <a:endParaRPr lang="en-IN" sz="2400">
            <a:solidFill>
              <a:schemeClr val="tx1"/>
            </a:solidFill>
          </a:endParaRPr>
        </a:p>
      </dgm:t>
    </dgm:pt>
    <dgm:pt modelId="{251BE7AA-7443-43E2-A5BB-FA7BBD04E6AB}">
      <dgm:prSet custT="1"/>
      <dgm:spPr/>
      <dgm:t>
        <a:bodyPr/>
        <a:lstStyle/>
        <a:p>
          <a:r>
            <a:rPr lang="en-US" sz="2400">
              <a:solidFill>
                <a:schemeClr val="tx1"/>
              </a:solidFill>
            </a:rPr>
            <a:t>6%</a:t>
          </a:r>
          <a:endParaRPr lang="en-IN" sz="2400">
            <a:solidFill>
              <a:schemeClr val="tx1"/>
            </a:solidFill>
          </a:endParaRPr>
        </a:p>
      </dgm:t>
    </dgm:pt>
    <dgm:pt modelId="{3DFF829B-E900-4A8F-BE94-908A499007F3}" type="parTrans" cxnId="{0575CD4B-64B7-45C2-B462-6ED7E4190F2B}">
      <dgm:prSet/>
      <dgm:spPr/>
      <dgm:t>
        <a:bodyPr/>
        <a:lstStyle/>
        <a:p>
          <a:endParaRPr lang="en-IN" sz="2400">
            <a:solidFill>
              <a:schemeClr val="tx1"/>
            </a:solidFill>
          </a:endParaRPr>
        </a:p>
      </dgm:t>
    </dgm:pt>
    <dgm:pt modelId="{76B93E1A-17DA-4914-BE27-85513191C479}" type="sibTrans" cxnId="{0575CD4B-64B7-45C2-B462-6ED7E4190F2B}">
      <dgm:prSet/>
      <dgm:spPr/>
      <dgm:t>
        <a:bodyPr/>
        <a:lstStyle/>
        <a:p>
          <a:endParaRPr lang="en-IN" sz="2400">
            <a:solidFill>
              <a:schemeClr val="tx1"/>
            </a:solidFill>
          </a:endParaRPr>
        </a:p>
      </dgm:t>
    </dgm:pt>
    <dgm:pt modelId="{F53EE4D9-5802-4A1A-9D77-BB462CB2C057}">
      <dgm:prSet custT="1"/>
      <dgm:spPr/>
      <dgm:t>
        <a:bodyPr/>
        <a:lstStyle/>
        <a:p>
          <a:r>
            <a:rPr lang="en-US" sz="2400">
              <a:solidFill>
                <a:schemeClr val="tx1"/>
              </a:solidFill>
            </a:rPr>
            <a:t>9%</a:t>
          </a:r>
          <a:endParaRPr lang="en-IN" sz="2400">
            <a:solidFill>
              <a:schemeClr val="tx1"/>
            </a:solidFill>
          </a:endParaRPr>
        </a:p>
      </dgm:t>
    </dgm:pt>
    <dgm:pt modelId="{57A92028-B2B4-4E11-ACB1-622308E13EB7}" type="parTrans" cxnId="{D11B2B6B-CC34-449E-B661-E616702A516B}">
      <dgm:prSet/>
      <dgm:spPr/>
      <dgm:t>
        <a:bodyPr/>
        <a:lstStyle/>
        <a:p>
          <a:endParaRPr lang="en-IN" sz="2400">
            <a:solidFill>
              <a:schemeClr val="tx1"/>
            </a:solidFill>
          </a:endParaRPr>
        </a:p>
      </dgm:t>
    </dgm:pt>
    <dgm:pt modelId="{E28C2D6F-A3AE-47B1-9FB5-11CCE84802D4}" type="sibTrans" cxnId="{D11B2B6B-CC34-449E-B661-E616702A516B}">
      <dgm:prSet/>
      <dgm:spPr/>
      <dgm:t>
        <a:bodyPr/>
        <a:lstStyle/>
        <a:p>
          <a:endParaRPr lang="en-IN" sz="2400">
            <a:solidFill>
              <a:schemeClr val="tx1"/>
            </a:solidFill>
          </a:endParaRPr>
        </a:p>
      </dgm:t>
    </dgm:pt>
    <dgm:pt modelId="{0CE7C935-A706-442A-B6CD-9598DB3377F9}">
      <dgm:prSet custT="1"/>
      <dgm:spPr/>
      <dgm:t>
        <a:bodyPr/>
        <a:lstStyle/>
        <a:p>
          <a:r>
            <a:rPr lang="en-US" sz="2400">
              <a:solidFill>
                <a:schemeClr val="tx1"/>
              </a:solidFill>
            </a:rPr>
            <a:t>14%</a:t>
          </a:r>
          <a:endParaRPr lang="en-IN" sz="2400">
            <a:solidFill>
              <a:schemeClr val="tx1"/>
            </a:solidFill>
          </a:endParaRPr>
        </a:p>
      </dgm:t>
    </dgm:pt>
    <dgm:pt modelId="{E5A300A1-E097-4B20-B29C-64CC1B675C3D}" type="parTrans" cxnId="{1DB9D0E7-FB47-407B-A0F0-8A983133CC4C}">
      <dgm:prSet/>
      <dgm:spPr/>
      <dgm:t>
        <a:bodyPr/>
        <a:lstStyle/>
        <a:p>
          <a:endParaRPr lang="en-IN" sz="2400">
            <a:solidFill>
              <a:schemeClr val="tx1"/>
            </a:solidFill>
          </a:endParaRPr>
        </a:p>
      </dgm:t>
    </dgm:pt>
    <dgm:pt modelId="{7D4C75AC-2AC6-40D4-B131-59B32995B503}" type="sibTrans" cxnId="{1DB9D0E7-FB47-407B-A0F0-8A983133CC4C}">
      <dgm:prSet/>
      <dgm:spPr/>
      <dgm:t>
        <a:bodyPr/>
        <a:lstStyle/>
        <a:p>
          <a:endParaRPr lang="en-IN" sz="2400">
            <a:solidFill>
              <a:schemeClr val="tx1"/>
            </a:solidFill>
          </a:endParaRPr>
        </a:p>
      </dgm:t>
    </dgm:pt>
    <dgm:pt modelId="{EAFB806B-6E4B-43BF-8EE2-7E614D95475D}">
      <dgm:prSet custT="1"/>
      <dgm:spPr>
        <a:solidFill>
          <a:schemeClr val="accent2">
            <a:lumMod val="60000"/>
            <a:lumOff val="40000"/>
          </a:schemeClr>
        </a:solidFill>
      </dgm:spPr>
      <dgm:t>
        <a:bodyPr/>
        <a:lstStyle/>
        <a:p>
          <a:r>
            <a:rPr lang="en-US" sz="2600" b="1" dirty="0">
              <a:solidFill>
                <a:schemeClr val="tx1"/>
              </a:solidFill>
            </a:rPr>
            <a:t>IGST</a:t>
          </a:r>
          <a:endParaRPr lang="en-IN" sz="2600" b="1" dirty="0">
            <a:solidFill>
              <a:schemeClr val="tx1"/>
            </a:solidFill>
          </a:endParaRPr>
        </a:p>
      </dgm:t>
    </dgm:pt>
    <dgm:pt modelId="{E254EE89-8322-4BE2-92F4-D85842A8CDCC}" type="parTrans" cxnId="{D071B1A9-92FF-4E13-AFA4-AFF9F3C1848C}">
      <dgm:prSet/>
      <dgm:spPr/>
      <dgm:t>
        <a:bodyPr/>
        <a:lstStyle/>
        <a:p>
          <a:endParaRPr lang="en-IN" sz="2400">
            <a:solidFill>
              <a:schemeClr val="tx1"/>
            </a:solidFill>
          </a:endParaRPr>
        </a:p>
      </dgm:t>
    </dgm:pt>
    <dgm:pt modelId="{DF1F0E14-8BC3-42B9-BD35-95CA95078CB8}" type="sibTrans" cxnId="{D071B1A9-92FF-4E13-AFA4-AFF9F3C1848C}">
      <dgm:prSet/>
      <dgm:spPr/>
      <dgm:t>
        <a:bodyPr/>
        <a:lstStyle/>
        <a:p>
          <a:endParaRPr lang="en-IN" sz="2400">
            <a:solidFill>
              <a:schemeClr val="tx1"/>
            </a:solidFill>
          </a:endParaRPr>
        </a:p>
      </dgm:t>
    </dgm:pt>
    <dgm:pt modelId="{C09A9632-4E93-4A34-8482-3825FD9447DE}">
      <dgm:prSet custT="1"/>
      <dgm:spPr/>
      <dgm:t>
        <a:bodyPr/>
        <a:lstStyle/>
        <a:p>
          <a:r>
            <a:rPr lang="en-US" sz="2400">
              <a:solidFill>
                <a:schemeClr val="tx1"/>
              </a:solidFill>
            </a:rPr>
            <a:t>0.25%</a:t>
          </a:r>
          <a:endParaRPr lang="en-IN" sz="2400">
            <a:solidFill>
              <a:schemeClr val="tx1"/>
            </a:solidFill>
          </a:endParaRPr>
        </a:p>
      </dgm:t>
    </dgm:pt>
    <dgm:pt modelId="{60934BBF-B2AF-4CA2-B601-6866DB41264C}" type="parTrans" cxnId="{1AA773FD-07B9-4EC3-BB47-31C31DB4FAEA}">
      <dgm:prSet/>
      <dgm:spPr/>
      <dgm:t>
        <a:bodyPr/>
        <a:lstStyle/>
        <a:p>
          <a:endParaRPr lang="en-IN" sz="2400">
            <a:solidFill>
              <a:schemeClr val="tx1"/>
            </a:solidFill>
          </a:endParaRPr>
        </a:p>
      </dgm:t>
    </dgm:pt>
    <dgm:pt modelId="{4392BC54-75BF-4293-8E2A-D0938DB2A7FC}" type="sibTrans" cxnId="{1AA773FD-07B9-4EC3-BB47-31C31DB4FAEA}">
      <dgm:prSet/>
      <dgm:spPr/>
      <dgm:t>
        <a:bodyPr/>
        <a:lstStyle/>
        <a:p>
          <a:endParaRPr lang="en-IN" sz="2400">
            <a:solidFill>
              <a:schemeClr val="tx1"/>
            </a:solidFill>
          </a:endParaRPr>
        </a:p>
      </dgm:t>
    </dgm:pt>
    <dgm:pt modelId="{0AA0BCF9-6182-4923-866E-326929602AE9}">
      <dgm:prSet custT="1"/>
      <dgm:spPr/>
      <dgm:t>
        <a:bodyPr/>
        <a:lstStyle/>
        <a:p>
          <a:r>
            <a:rPr lang="en-US" sz="2400">
              <a:solidFill>
                <a:schemeClr val="tx1"/>
              </a:solidFill>
            </a:rPr>
            <a:t>3%</a:t>
          </a:r>
          <a:endParaRPr lang="en-IN" sz="2400">
            <a:solidFill>
              <a:schemeClr val="tx1"/>
            </a:solidFill>
          </a:endParaRPr>
        </a:p>
      </dgm:t>
    </dgm:pt>
    <dgm:pt modelId="{55742184-5D92-4C15-B486-B36E9197960E}" type="parTrans" cxnId="{406334B4-3403-42BC-9B24-83A2320ECC55}">
      <dgm:prSet/>
      <dgm:spPr/>
      <dgm:t>
        <a:bodyPr/>
        <a:lstStyle/>
        <a:p>
          <a:endParaRPr lang="en-IN" sz="2400">
            <a:solidFill>
              <a:schemeClr val="tx1"/>
            </a:solidFill>
          </a:endParaRPr>
        </a:p>
      </dgm:t>
    </dgm:pt>
    <dgm:pt modelId="{0B2AB804-24AA-4D1E-8D52-B590AEAB3A12}" type="sibTrans" cxnId="{406334B4-3403-42BC-9B24-83A2320ECC55}">
      <dgm:prSet/>
      <dgm:spPr/>
      <dgm:t>
        <a:bodyPr/>
        <a:lstStyle/>
        <a:p>
          <a:endParaRPr lang="en-IN" sz="2400">
            <a:solidFill>
              <a:schemeClr val="tx1"/>
            </a:solidFill>
          </a:endParaRPr>
        </a:p>
      </dgm:t>
    </dgm:pt>
    <dgm:pt modelId="{3C19662A-0D14-4A5F-8BD5-19E184778940}">
      <dgm:prSet custT="1"/>
      <dgm:spPr/>
      <dgm:t>
        <a:bodyPr/>
        <a:lstStyle/>
        <a:p>
          <a:r>
            <a:rPr lang="en-US" sz="2400">
              <a:solidFill>
                <a:schemeClr val="tx1"/>
              </a:solidFill>
            </a:rPr>
            <a:t>5%</a:t>
          </a:r>
          <a:endParaRPr lang="en-IN" sz="2400">
            <a:solidFill>
              <a:schemeClr val="tx1"/>
            </a:solidFill>
          </a:endParaRPr>
        </a:p>
      </dgm:t>
    </dgm:pt>
    <dgm:pt modelId="{BF79027A-FDC8-4F61-AAD2-1D826DE9D755}" type="parTrans" cxnId="{938F7B88-7BBE-4564-9F6E-92B60167D643}">
      <dgm:prSet/>
      <dgm:spPr/>
      <dgm:t>
        <a:bodyPr/>
        <a:lstStyle/>
        <a:p>
          <a:endParaRPr lang="en-IN" sz="2400">
            <a:solidFill>
              <a:schemeClr val="tx1"/>
            </a:solidFill>
          </a:endParaRPr>
        </a:p>
      </dgm:t>
    </dgm:pt>
    <dgm:pt modelId="{2C02E3B0-79B4-41CC-BA2A-AE57ED704044}" type="sibTrans" cxnId="{938F7B88-7BBE-4564-9F6E-92B60167D643}">
      <dgm:prSet/>
      <dgm:spPr/>
      <dgm:t>
        <a:bodyPr/>
        <a:lstStyle/>
        <a:p>
          <a:endParaRPr lang="en-IN" sz="2400">
            <a:solidFill>
              <a:schemeClr val="tx1"/>
            </a:solidFill>
          </a:endParaRPr>
        </a:p>
      </dgm:t>
    </dgm:pt>
    <dgm:pt modelId="{D078350C-1309-45A1-A47D-DC1693B22233}">
      <dgm:prSet custT="1"/>
      <dgm:spPr/>
      <dgm:t>
        <a:bodyPr/>
        <a:lstStyle/>
        <a:p>
          <a:r>
            <a:rPr lang="en-US" sz="2400">
              <a:solidFill>
                <a:schemeClr val="tx1"/>
              </a:solidFill>
            </a:rPr>
            <a:t>12%</a:t>
          </a:r>
          <a:endParaRPr lang="en-IN" sz="2400">
            <a:solidFill>
              <a:schemeClr val="tx1"/>
            </a:solidFill>
          </a:endParaRPr>
        </a:p>
      </dgm:t>
    </dgm:pt>
    <dgm:pt modelId="{4B461AE1-21C9-4B88-BD59-5CF3649D350B}" type="parTrans" cxnId="{40228F19-8614-4227-B3D0-0B9D119609B2}">
      <dgm:prSet/>
      <dgm:spPr/>
      <dgm:t>
        <a:bodyPr/>
        <a:lstStyle/>
        <a:p>
          <a:endParaRPr lang="en-IN" sz="2400">
            <a:solidFill>
              <a:schemeClr val="tx1"/>
            </a:solidFill>
          </a:endParaRPr>
        </a:p>
      </dgm:t>
    </dgm:pt>
    <dgm:pt modelId="{7154A01A-ED10-462E-8EE0-1CF4A351A490}" type="sibTrans" cxnId="{40228F19-8614-4227-B3D0-0B9D119609B2}">
      <dgm:prSet/>
      <dgm:spPr/>
      <dgm:t>
        <a:bodyPr/>
        <a:lstStyle/>
        <a:p>
          <a:endParaRPr lang="en-IN" sz="2400">
            <a:solidFill>
              <a:schemeClr val="tx1"/>
            </a:solidFill>
          </a:endParaRPr>
        </a:p>
      </dgm:t>
    </dgm:pt>
    <dgm:pt modelId="{D2D43A2D-A651-4A05-B4AC-8C0069B4E43E}">
      <dgm:prSet custT="1"/>
      <dgm:spPr/>
      <dgm:t>
        <a:bodyPr/>
        <a:lstStyle/>
        <a:p>
          <a:r>
            <a:rPr lang="en-US" sz="2400">
              <a:solidFill>
                <a:schemeClr val="tx1"/>
              </a:solidFill>
            </a:rPr>
            <a:t>18%</a:t>
          </a:r>
          <a:endParaRPr lang="en-IN" sz="2400">
            <a:solidFill>
              <a:schemeClr val="tx1"/>
            </a:solidFill>
          </a:endParaRPr>
        </a:p>
      </dgm:t>
    </dgm:pt>
    <dgm:pt modelId="{8A4B1926-1499-4A43-B491-039775463F00}" type="parTrans" cxnId="{7C0BD8AC-A283-4B0B-9829-1C97C30E6CB8}">
      <dgm:prSet/>
      <dgm:spPr/>
      <dgm:t>
        <a:bodyPr/>
        <a:lstStyle/>
        <a:p>
          <a:endParaRPr lang="en-IN" sz="2400">
            <a:solidFill>
              <a:schemeClr val="tx1"/>
            </a:solidFill>
          </a:endParaRPr>
        </a:p>
      </dgm:t>
    </dgm:pt>
    <dgm:pt modelId="{AD9CC6C3-AFFD-455E-B304-A9DB63B4179C}" type="sibTrans" cxnId="{7C0BD8AC-A283-4B0B-9829-1C97C30E6CB8}">
      <dgm:prSet/>
      <dgm:spPr/>
      <dgm:t>
        <a:bodyPr/>
        <a:lstStyle/>
        <a:p>
          <a:endParaRPr lang="en-IN" sz="2400">
            <a:solidFill>
              <a:schemeClr val="tx1"/>
            </a:solidFill>
          </a:endParaRPr>
        </a:p>
      </dgm:t>
    </dgm:pt>
    <dgm:pt modelId="{2C1B4622-E002-4DBD-AF94-9C14C4AF50CF}">
      <dgm:prSet custT="1"/>
      <dgm:spPr/>
      <dgm:t>
        <a:bodyPr/>
        <a:lstStyle/>
        <a:p>
          <a:r>
            <a:rPr lang="en-US" sz="2400">
              <a:solidFill>
                <a:schemeClr val="tx1"/>
              </a:solidFill>
            </a:rPr>
            <a:t>28%</a:t>
          </a:r>
          <a:endParaRPr lang="en-IN" sz="2400">
            <a:solidFill>
              <a:schemeClr val="tx1"/>
            </a:solidFill>
          </a:endParaRPr>
        </a:p>
      </dgm:t>
    </dgm:pt>
    <dgm:pt modelId="{E5405FBB-D00A-4A83-B613-9843A8B7FD94}" type="parTrans" cxnId="{DCCB53BC-53B8-4C46-BC04-CE28A7DDA4BE}">
      <dgm:prSet/>
      <dgm:spPr/>
      <dgm:t>
        <a:bodyPr/>
        <a:lstStyle/>
        <a:p>
          <a:endParaRPr lang="en-IN" sz="2400">
            <a:solidFill>
              <a:schemeClr val="tx1"/>
            </a:solidFill>
          </a:endParaRPr>
        </a:p>
      </dgm:t>
    </dgm:pt>
    <dgm:pt modelId="{5B1322EC-E03F-459D-921C-E32BB28703E3}" type="sibTrans" cxnId="{DCCB53BC-53B8-4C46-BC04-CE28A7DDA4BE}">
      <dgm:prSet/>
      <dgm:spPr/>
      <dgm:t>
        <a:bodyPr/>
        <a:lstStyle/>
        <a:p>
          <a:endParaRPr lang="en-IN" sz="2400">
            <a:solidFill>
              <a:schemeClr val="tx1"/>
            </a:solidFill>
          </a:endParaRPr>
        </a:p>
      </dgm:t>
    </dgm:pt>
    <dgm:pt modelId="{9ADB1705-F81B-4099-B9FC-76AA8F0F5B96}" type="pres">
      <dgm:prSet presAssocID="{728F06AF-099F-4858-8AB2-202F0104550E}" presName="diagram" presStyleCnt="0">
        <dgm:presLayoutVars>
          <dgm:chPref val="1"/>
          <dgm:dir/>
          <dgm:animOne val="branch"/>
          <dgm:animLvl val="lvl"/>
          <dgm:resizeHandles/>
        </dgm:presLayoutVars>
      </dgm:prSet>
      <dgm:spPr/>
    </dgm:pt>
    <dgm:pt modelId="{BBC1D88B-A091-47FC-A310-B688DB5A60E8}" type="pres">
      <dgm:prSet presAssocID="{32195378-AD66-4F6B-B3FF-4759F40A6CC9}" presName="root" presStyleCnt="0"/>
      <dgm:spPr/>
    </dgm:pt>
    <dgm:pt modelId="{B469916E-49E4-4F71-BA95-C1339FE9D938}" type="pres">
      <dgm:prSet presAssocID="{32195378-AD66-4F6B-B3FF-4759F40A6CC9}" presName="rootComposite" presStyleCnt="0"/>
      <dgm:spPr/>
    </dgm:pt>
    <dgm:pt modelId="{49F6AD7B-7A88-4E72-963B-2463D4FCC26D}" type="pres">
      <dgm:prSet presAssocID="{32195378-AD66-4F6B-B3FF-4759F40A6CC9}" presName="rootText" presStyleLbl="node1" presStyleIdx="0" presStyleCnt="2" custScaleX="385532" custScaleY="266973"/>
      <dgm:spPr/>
    </dgm:pt>
    <dgm:pt modelId="{2F507196-1CDC-4D0C-921C-F34AF6F175CF}" type="pres">
      <dgm:prSet presAssocID="{32195378-AD66-4F6B-B3FF-4759F40A6CC9}" presName="rootConnector" presStyleLbl="node1" presStyleIdx="0" presStyleCnt="2"/>
      <dgm:spPr/>
    </dgm:pt>
    <dgm:pt modelId="{7B925B6B-4AF1-4EE8-9896-772CB12840D7}" type="pres">
      <dgm:prSet presAssocID="{32195378-AD66-4F6B-B3FF-4759F40A6CC9}" presName="childShape" presStyleCnt="0"/>
      <dgm:spPr/>
    </dgm:pt>
    <dgm:pt modelId="{5D382B21-3C6A-41E7-8D26-A9E08CAE16ED}" type="pres">
      <dgm:prSet presAssocID="{2E2FDC1A-947C-4AA9-8EE0-07B5E4503687}" presName="Name13" presStyleLbl="parChTrans1D2" presStyleIdx="0" presStyleCnt="12"/>
      <dgm:spPr/>
    </dgm:pt>
    <dgm:pt modelId="{1C9345C4-6C6D-4F04-9E81-C824DA2E4496}" type="pres">
      <dgm:prSet presAssocID="{20775F24-34D4-4A52-BA10-4EF79455B641}" presName="childText" presStyleLbl="bgAcc1" presStyleIdx="0" presStyleCnt="12" custScaleX="119911">
        <dgm:presLayoutVars>
          <dgm:bulletEnabled val="1"/>
        </dgm:presLayoutVars>
      </dgm:prSet>
      <dgm:spPr/>
    </dgm:pt>
    <dgm:pt modelId="{65DD4893-9805-414F-ABCF-D1B944AE86E3}" type="pres">
      <dgm:prSet presAssocID="{794725C6-64C6-433F-B488-C9C68E2649A3}" presName="Name13" presStyleLbl="parChTrans1D2" presStyleIdx="1" presStyleCnt="12"/>
      <dgm:spPr/>
    </dgm:pt>
    <dgm:pt modelId="{E36A3D97-4623-4CC5-B164-0ADD222A4B67}" type="pres">
      <dgm:prSet presAssocID="{D158D922-51E4-4A5F-AEB6-FAD74B0CA847}" presName="childText" presStyleLbl="bgAcc1" presStyleIdx="1" presStyleCnt="12">
        <dgm:presLayoutVars>
          <dgm:bulletEnabled val="1"/>
        </dgm:presLayoutVars>
      </dgm:prSet>
      <dgm:spPr/>
    </dgm:pt>
    <dgm:pt modelId="{3C09B622-9EDA-4B47-A6D0-A1FD5BA6135A}" type="pres">
      <dgm:prSet presAssocID="{BD30C5BB-1D06-4E3E-85BC-E8955F71674C}" presName="Name13" presStyleLbl="parChTrans1D2" presStyleIdx="2" presStyleCnt="12"/>
      <dgm:spPr/>
    </dgm:pt>
    <dgm:pt modelId="{4E4EC5B2-936F-4DA0-BEC2-76BDE386D400}" type="pres">
      <dgm:prSet presAssocID="{7222F800-9EC9-43D3-82B2-7F8FE9C3CCBC}" presName="childText" presStyleLbl="bgAcc1" presStyleIdx="2" presStyleCnt="12">
        <dgm:presLayoutVars>
          <dgm:bulletEnabled val="1"/>
        </dgm:presLayoutVars>
      </dgm:prSet>
      <dgm:spPr/>
    </dgm:pt>
    <dgm:pt modelId="{D0936368-CD03-4EC3-9A92-65370D0595B0}" type="pres">
      <dgm:prSet presAssocID="{3DFF829B-E900-4A8F-BE94-908A499007F3}" presName="Name13" presStyleLbl="parChTrans1D2" presStyleIdx="3" presStyleCnt="12"/>
      <dgm:spPr/>
    </dgm:pt>
    <dgm:pt modelId="{6586BF32-DDB5-4BAF-8C33-58810CCAA4FD}" type="pres">
      <dgm:prSet presAssocID="{251BE7AA-7443-43E2-A5BB-FA7BBD04E6AB}" presName="childText" presStyleLbl="bgAcc1" presStyleIdx="3" presStyleCnt="12">
        <dgm:presLayoutVars>
          <dgm:bulletEnabled val="1"/>
        </dgm:presLayoutVars>
      </dgm:prSet>
      <dgm:spPr/>
    </dgm:pt>
    <dgm:pt modelId="{E61451C4-35C4-472E-8A28-9048C8D70E37}" type="pres">
      <dgm:prSet presAssocID="{57A92028-B2B4-4E11-ACB1-622308E13EB7}" presName="Name13" presStyleLbl="parChTrans1D2" presStyleIdx="4" presStyleCnt="12"/>
      <dgm:spPr/>
    </dgm:pt>
    <dgm:pt modelId="{DE92B688-900C-4E5C-A11A-FECA0E66E17A}" type="pres">
      <dgm:prSet presAssocID="{F53EE4D9-5802-4A1A-9D77-BB462CB2C057}" presName="childText" presStyleLbl="bgAcc1" presStyleIdx="4" presStyleCnt="12">
        <dgm:presLayoutVars>
          <dgm:bulletEnabled val="1"/>
        </dgm:presLayoutVars>
      </dgm:prSet>
      <dgm:spPr/>
    </dgm:pt>
    <dgm:pt modelId="{AE36FD69-AD16-4A05-8726-152C02B32793}" type="pres">
      <dgm:prSet presAssocID="{E5A300A1-E097-4B20-B29C-64CC1B675C3D}" presName="Name13" presStyleLbl="parChTrans1D2" presStyleIdx="5" presStyleCnt="12"/>
      <dgm:spPr/>
    </dgm:pt>
    <dgm:pt modelId="{200D33FC-95B1-4DFA-B146-7C720D41DBDA}" type="pres">
      <dgm:prSet presAssocID="{0CE7C935-A706-442A-B6CD-9598DB3377F9}" presName="childText" presStyleLbl="bgAcc1" presStyleIdx="5" presStyleCnt="12">
        <dgm:presLayoutVars>
          <dgm:bulletEnabled val="1"/>
        </dgm:presLayoutVars>
      </dgm:prSet>
      <dgm:spPr/>
    </dgm:pt>
    <dgm:pt modelId="{B44B6770-6765-477F-A6FB-EB4CA72157BE}" type="pres">
      <dgm:prSet presAssocID="{EAFB806B-6E4B-43BF-8EE2-7E614D95475D}" presName="root" presStyleCnt="0"/>
      <dgm:spPr/>
    </dgm:pt>
    <dgm:pt modelId="{CBD1CC2E-E909-421E-8C2F-A07244C6AC8B}" type="pres">
      <dgm:prSet presAssocID="{EAFB806B-6E4B-43BF-8EE2-7E614D95475D}" presName="rootComposite" presStyleCnt="0"/>
      <dgm:spPr/>
    </dgm:pt>
    <dgm:pt modelId="{8400AF33-1028-42A0-9303-757481EDB08A}" type="pres">
      <dgm:prSet presAssocID="{EAFB806B-6E4B-43BF-8EE2-7E614D95475D}" presName="rootText" presStyleLbl="node1" presStyleIdx="1" presStyleCnt="2" custScaleX="268502"/>
      <dgm:spPr/>
    </dgm:pt>
    <dgm:pt modelId="{60ADFBBF-3135-4087-8497-A68649D2D6DF}" type="pres">
      <dgm:prSet presAssocID="{EAFB806B-6E4B-43BF-8EE2-7E614D95475D}" presName="rootConnector" presStyleLbl="node1" presStyleIdx="1" presStyleCnt="2"/>
      <dgm:spPr/>
    </dgm:pt>
    <dgm:pt modelId="{97294C4D-7071-43B7-9C7C-8583011D884A}" type="pres">
      <dgm:prSet presAssocID="{EAFB806B-6E4B-43BF-8EE2-7E614D95475D}" presName="childShape" presStyleCnt="0"/>
      <dgm:spPr/>
    </dgm:pt>
    <dgm:pt modelId="{149CF26F-3E43-4B3C-B024-6F3531662D71}" type="pres">
      <dgm:prSet presAssocID="{60934BBF-B2AF-4CA2-B601-6866DB41264C}" presName="Name13" presStyleLbl="parChTrans1D2" presStyleIdx="6" presStyleCnt="12"/>
      <dgm:spPr/>
    </dgm:pt>
    <dgm:pt modelId="{74571199-9456-4C1F-81D1-484ADBB941C9}" type="pres">
      <dgm:prSet presAssocID="{C09A9632-4E93-4A34-8482-3825FD9447DE}" presName="childText" presStyleLbl="bgAcc1" presStyleIdx="6" presStyleCnt="12">
        <dgm:presLayoutVars>
          <dgm:bulletEnabled val="1"/>
        </dgm:presLayoutVars>
      </dgm:prSet>
      <dgm:spPr/>
    </dgm:pt>
    <dgm:pt modelId="{BF0479C1-4D39-4D56-B110-5A13FA98D7B5}" type="pres">
      <dgm:prSet presAssocID="{55742184-5D92-4C15-B486-B36E9197960E}" presName="Name13" presStyleLbl="parChTrans1D2" presStyleIdx="7" presStyleCnt="12"/>
      <dgm:spPr/>
    </dgm:pt>
    <dgm:pt modelId="{2C0ED171-4FDA-4817-9D51-40D9AE9B2DD1}" type="pres">
      <dgm:prSet presAssocID="{0AA0BCF9-6182-4923-866E-326929602AE9}" presName="childText" presStyleLbl="bgAcc1" presStyleIdx="7" presStyleCnt="12">
        <dgm:presLayoutVars>
          <dgm:bulletEnabled val="1"/>
        </dgm:presLayoutVars>
      </dgm:prSet>
      <dgm:spPr/>
    </dgm:pt>
    <dgm:pt modelId="{92226CF5-6F82-46CE-9B7F-A95CCCEF9F6D}" type="pres">
      <dgm:prSet presAssocID="{BF79027A-FDC8-4F61-AAD2-1D826DE9D755}" presName="Name13" presStyleLbl="parChTrans1D2" presStyleIdx="8" presStyleCnt="12"/>
      <dgm:spPr/>
    </dgm:pt>
    <dgm:pt modelId="{9A9C0809-407D-469B-BB35-2A07BE3F9C87}" type="pres">
      <dgm:prSet presAssocID="{3C19662A-0D14-4A5F-8BD5-19E184778940}" presName="childText" presStyleLbl="bgAcc1" presStyleIdx="8" presStyleCnt="12">
        <dgm:presLayoutVars>
          <dgm:bulletEnabled val="1"/>
        </dgm:presLayoutVars>
      </dgm:prSet>
      <dgm:spPr/>
    </dgm:pt>
    <dgm:pt modelId="{CCBD1422-0CBC-41A7-82CC-5F23B4D5C014}" type="pres">
      <dgm:prSet presAssocID="{4B461AE1-21C9-4B88-BD59-5CF3649D350B}" presName="Name13" presStyleLbl="parChTrans1D2" presStyleIdx="9" presStyleCnt="12"/>
      <dgm:spPr/>
    </dgm:pt>
    <dgm:pt modelId="{68ABAC89-7FB8-4ED6-9761-49277141DFC8}" type="pres">
      <dgm:prSet presAssocID="{D078350C-1309-45A1-A47D-DC1693B22233}" presName="childText" presStyleLbl="bgAcc1" presStyleIdx="9" presStyleCnt="12">
        <dgm:presLayoutVars>
          <dgm:bulletEnabled val="1"/>
        </dgm:presLayoutVars>
      </dgm:prSet>
      <dgm:spPr/>
    </dgm:pt>
    <dgm:pt modelId="{110EE10E-7713-4162-AC1B-303C13143118}" type="pres">
      <dgm:prSet presAssocID="{8A4B1926-1499-4A43-B491-039775463F00}" presName="Name13" presStyleLbl="parChTrans1D2" presStyleIdx="10" presStyleCnt="12"/>
      <dgm:spPr/>
    </dgm:pt>
    <dgm:pt modelId="{AD899F19-2D77-4CFA-83BA-37390F20C335}" type="pres">
      <dgm:prSet presAssocID="{D2D43A2D-A651-4A05-B4AC-8C0069B4E43E}" presName="childText" presStyleLbl="bgAcc1" presStyleIdx="10" presStyleCnt="12">
        <dgm:presLayoutVars>
          <dgm:bulletEnabled val="1"/>
        </dgm:presLayoutVars>
      </dgm:prSet>
      <dgm:spPr/>
    </dgm:pt>
    <dgm:pt modelId="{B64178F0-3B5D-41FE-A510-1ADD1201C1C1}" type="pres">
      <dgm:prSet presAssocID="{E5405FBB-D00A-4A83-B613-9843A8B7FD94}" presName="Name13" presStyleLbl="parChTrans1D2" presStyleIdx="11" presStyleCnt="12"/>
      <dgm:spPr/>
    </dgm:pt>
    <dgm:pt modelId="{6BEE2905-B215-4C1F-970F-0209B8D07263}" type="pres">
      <dgm:prSet presAssocID="{2C1B4622-E002-4DBD-AF94-9C14C4AF50CF}" presName="childText" presStyleLbl="bgAcc1" presStyleIdx="11" presStyleCnt="12">
        <dgm:presLayoutVars>
          <dgm:bulletEnabled val="1"/>
        </dgm:presLayoutVars>
      </dgm:prSet>
      <dgm:spPr/>
    </dgm:pt>
  </dgm:ptLst>
  <dgm:cxnLst>
    <dgm:cxn modelId="{CAEA8D08-0681-42A3-AAE5-DC6EBD6F931C}" srcId="{32195378-AD66-4F6B-B3FF-4759F40A6CC9}" destId="{D158D922-51E4-4A5F-AEB6-FAD74B0CA847}" srcOrd="1" destOrd="0" parTransId="{794725C6-64C6-433F-B488-C9C68E2649A3}" sibTransId="{A6C29CC1-AB5A-4EA8-97F9-D0DCA907BEE3}"/>
    <dgm:cxn modelId="{3357E10B-6AFB-47EE-9754-85D6747211D0}" type="presOf" srcId="{D2D43A2D-A651-4A05-B4AC-8C0069B4E43E}" destId="{AD899F19-2D77-4CFA-83BA-37390F20C335}" srcOrd="0" destOrd="0" presId="urn:microsoft.com/office/officeart/2005/8/layout/hierarchy3"/>
    <dgm:cxn modelId="{76A32411-7A3A-48A0-95AA-9217A4EF04D6}" type="presOf" srcId="{57A92028-B2B4-4E11-ACB1-622308E13EB7}" destId="{E61451C4-35C4-472E-8A28-9048C8D70E37}" srcOrd="0" destOrd="0" presId="urn:microsoft.com/office/officeart/2005/8/layout/hierarchy3"/>
    <dgm:cxn modelId="{C337F212-0347-43D9-AE42-6A26C09F6528}" type="presOf" srcId="{D078350C-1309-45A1-A47D-DC1693B22233}" destId="{68ABAC89-7FB8-4ED6-9761-49277141DFC8}" srcOrd="0" destOrd="0" presId="urn:microsoft.com/office/officeart/2005/8/layout/hierarchy3"/>
    <dgm:cxn modelId="{40228F19-8614-4227-B3D0-0B9D119609B2}" srcId="{EAFB806B-6E4B-43BF-8EE2-7E614D95475D}" destId="{D078350C-1309-45A1-A47D-DC1693B22233}" srcOrd="3" destOrd="0" parTransId="{4B461AE1-21C9-4B88-BD59-5CF3649D350B}" sibTransId="{7154A01A-ED10-462E-8EE0-1CF4A351A490}"/>
    <dgm:cxn modelId="{1A1F281C-C55D-406E-B9A8-FC7F44EDEEBB}" type="presOf" srcId="{55742184-5D92-4C15-B486-B36E9197960E}" destId="{BF0479C1-4D39-4D56-B110-5A13FA98D7B5}" srcOrd="0" destOrd="0" presId="urn:microsoft.com/office/officeart/2005/8/layout/hierarchy3"/>
    <dgm:cxn modelId="{5FB1FE1D-FAB0-48C8-88EB-C0C4C144831E}" type="presOf" srcId="{2E2FDC1A-947C-4AA9-8EE0-07B5E4503687}" destId="{5D382B21-3C6A-41E7-8D26-A9E08CAE16ED}" srcOrd="0" destOrd="0" presId="urn:microsoft.com/office/officeart/2005/8/layout/hierarchy3"/>
    <dgm:cxn modelId="{05A30A29-47F9-4FBF-BE92-17E6A4D30EE8}" type="presOf" srcId="{2C1B4622-E002-4DBD-AF94-9C14C4AF50CF}" destId="{6BEE2905-B215-4C1F-970F-0209B8D07263}" srcOrd="0" destOrd="0" presId="urn:microsoft.com/office/officeart/2005/8/layout/hierarchy3"/>
    <dgm:cxn modelId="{12B6782A-40A9-4C7D-B5C0-FCB01066ACB0}" type="presOf" srcId="{8A4B1926-1499-4A43-B491-039775463F00}" destId="{110EE10E-7713-4162-AC1B-303C13143118}" srcOrd="0" destOrd="0" presId="urn:microsoft.com/office/officeart/2005/8/layout/hierarchy3"/>
    <dgm:cxn modelId="{065BAF2A-3D17-49A2-A7B2-D1014B7A6541}" type="presOf" srcId="{251BE7AA-7443-43E2-A5BB-FA7BBD04E6AB}" destId="{6586BF32-DDB5-4BAF-8C33-58810CCAA4FD}" srcOrd="0" destOrd="0" presId="urn:microsoft.com/office/officeart/2005/8/layout/hierarchy3"/>
    <dgm:cxn modelId="{CDDE9E2D-4FC5-43CB-BD20-D9C9A8BBEBF9}" type="presOf" srcId="{E5405FBB-D00A-4A83-B613-9843A8B7FD94}" destId="{B64178F0-3B5D-41FE-A510-1ADD1201C1C1}" srcOrd="0" destOrd="0" presId="urn:microsoft.com/office/officeart/2005/8/layout/hierarchy3"/>
    <dgm:cxn modelId="{5933552E-35F9-41B8-B6E0-B9EB51931A11}" type="presOf" srcId="{0CE7C935-A706-442A-B6CD-9598DB3377F9}" destId="{200D33FC-95B1-4DFA-B146-7C720D41DBDA}" srcOrd="0" destOrd="0" presId="urn:microsoft.com/office/officeart/2005/8/layout/hierarchy3"/>
    <dgm:cxn modelId="{2C341F3F-057B-41CE-A551-74B61EEA4AA2}" type="presOf" srcId="{C09A9632-4E93-4A34-8482-3825FD9447DE}" destId="{74571199-9456-4C1F-81D1-484ADBB941C9}" srcOrd="0" destOrd="0" presId="urn:microsoft.com/office/officeart/2005/8/layout/hierarchy3"/>
    <dgm:cxn modelId="{8F3BFA5D-E4E4-429F-8AAB-35689D3DA19D}" type="presOf" srcId="{E5A300A1-E097-4B20-B29C-64CC1B675C3D}" destId="{AE36FD69-AD16-4A05-8726-152C02B32793}" srcOrd="0" destOrd="0" presId="urn:microsoft.com/office/officeart/2005/8/layout/hierarchy3"/>
    <dgm:cxn modelId="{335F0343-1897-4324-9B6D-42E39377BD29}" srcId="{728F06AF-099F-4858-8AB2-202F0104550E}" destId="{32195378-AD66-4F6B-B3FF-4759F40A6CC9}" srcOrd="0" destOrd="0" parTransId="{A516A837-0540-411C-A1AA-DFC2866E5BFD}" sibTransId="{0409D4E2-D6FA-4416-81BE-7A57BC705677}"/>
    <dgm:cxn modelId="{B518BF65-6ABF-4A17-B515-DD972405206C}" type="presOf" srcId="{BF79027A-FDC8-4F61-AAD2-1D826DE9D755}" destId="{92226CF5-6F82-46CE-9B7F-A95CCCEF9F6D}" srcOrd="0" destOrd="0" presId="urn:microsoft.com/office/officeart/2005/8/layout/hierarchy3"/>
    <dgm:cxn modelId="{D11B2B6B-CC34-449E-B661-E616702A516B}" srcId="{32195378-AD66-4F6B-B3FF-4759F40A6CC9}" destId="{F53EE4D9-5802-4A1A-9D77-BB462CB2C057}" srcOrd="4" destOrd="0" parTransId="{57A92028-B2B4-4E11-ACB1-622308E13EB7}" sibTransId="{E28C2D6F-A3AE-47B1-9FB5-11CCE84802D4}"/>
    <dgm:cxn modelId="{0575CD4B-64B7-45C2-B462-6ED7E4190F2B}" srcId="{32195378-AD66-4F6B-B3FF-4759F40A6CC9}" destId="{251BE7AA-7443-43E2-A5BB-FA7BBD04E6AB}" srcOrd="3" destOrd="0" parTransId="{3DFF829B-E900-4A8F-BE94-908A499007F3}" sibTransId="{76B93E1A-17DA-4914-BE27-85513191C479}"/>
    <dgm:cxn modelId="{8348176F-588A-4158-8FBE-F0EDF680D8A2}" type="presOf" srcId="{20775F24-34D4-4A52-BA10-4EF79455B641}" destId="{1C9345C4-6C6D-4F04-9E81-C824DA2E4496}" srcOrd="0" destOrd="0" presId="urn:microsoft.com/office/officeart/2005/8/layout/hierarchy3"/>
    <dgm:cxn modelId="{6FE6724F-5D8C-441C-8BA8-3E5F3FFEA9D9}" type="presOf" srcId="{32195378-AD66-4F6B-B3FF-4759F40A6CC9}" destId="{2F507196-1CDC-4D0C-921C-F34AF6F175CF}" srcOrd="1" destOrd="0" presId="urn:microsoft.com/office/officeart/2005/8/layout/hierarchy3"/>
    <dgm:cxn modelId="{6E31745A-3056-41F8-BAD2-82282EFD5564}" type="presOf" srcId="{0AA0BCF9-6182-4923-866E-326929602AE9}" destId="{2C0ED171-4FDA-4817-9D51-40D9AE9B2DD1}" srcOrd="0" destOrd="0" presId="urn:microsoft.com/office/officeart/2005/8/layout/hierarchy3"/>
    <dgm:cxn modelId="{ACD51C80-3878-4F3C-90CD-C600D49014EA}" type="presOf" srcId="{D158D922-51E4-4A5F-AEB6-FAD74B0CA847}" destId="{E36A3D97-4623-4CC5-B164-0ADD222A4B67}" srcOrd="0" destOrd="0" presId="urn:microsoft.com/office/officeart/2005/8/layout/hierarchy3"/>
    <dgm:cxn modelId="{45906880-2E2B-4518-A905-22DBA0A56743}" type="presOf" srcId="{728F06AF-099F-4858-8AB2-202F0104550E}" destId="{9ADB1705-F81B-4099-B9FC-76AA8F0F5B96}" srcOrd="0" destOrd="0" presId="urn:microsoft.com/office/officeart/2005/8/layout/hierarchy3"/>
    <dgm:cxn modelId="{938F7B88-7BBE-4564-9F6E-92B60167D643}" srcId="{EAFB806B-6E4B-43BF-8EE2-7E614D95475D}" destId="{3C19662A-0D14-4A5F-8BD5-19E184778940}" srcOrd="2" destOrd="0" parTransId="{BF79027A-FDC8-4F61-AAD2-1D826DE9D755}" sibTransId="{2C02E3B0-79B4-41CC-BA2A-AE57ED704044}"/>
    <dgm:cxn modelId="{886E298C-F204-4839-98A6-D44FA4C0F7C0}" type="presOf" srcId="{BD30C5BB-1D06-4E3E-85BC-E8955F71674C}" destId="{3C09B622-9EDA-4B47-A6D0-A1FD5BA6135A}" srcOrd="0" destOrd="0" presId="urn:microsoft.com/office/officeart/2005/8/layout/hierarchy3"/>
    <dgm:cxn modelId="{0398908C-BFDF-4876-94E6-4859B3C4A19E}" type="presOf" srcId="{7222F800-9EC9-43D3-82B2-7F8FE9C3CCBC}" destId="{4E4EC5B2-936F-4DA0-BEC2-76BDE386D400}" srcOrd="0" destOrd="0" presId="urn:microsoft.com/office/officeart/2005/8/layout/hierarchy3"/>
    <dgm:cxn modelId="{FC7DBA8C-A41F-4C0A-83A3-2DA98EED10B6}" srcId="{32195378-AD66-4F6B-B3FF-4759F40A6CC9}" destId="{7222F800-9EC9-43D3-82B2-7F8FE9C3CCBC}" srcOrd="2" destOrd="0" parTransId="{BD30C5BB-1D06-4E3E-85BC-E8955F71674C}" sibTransId="{2532CD83-ACAE-4C84-AAC9-20525A40B660}"/>
    <dgm:cxn modelId="{C88AE195-59C3-42CC-9D40-9497426D3903}" type="presOf" srcId="{F53EE4D9-5802-4A1A-9D77-BB462CB2C057}" destId="{DE92B688-900C-4E5C-A11A-FECA0E66E17A}" srcOrd="0" destOrd="0" presId="urn:microsoft.com/office/officeart/2005/8/layout/hierarchy3"/>
    <dgm:cxn modelId="{3583549D-E4BF-4EBC-A7A7-A8D103925F2B}" type="presOf" srcId="{794725C6-64C6-433F-B488-C9C68E2649A3}" destId="{65DD4893-9805-414F-ABCF-D1B944AE86E3}" srcOrd="0" destOrd="0" presId="urn:microsoft.com/office/officeart/2005/8/layout/hierarchy3"/>
    <dgm:cxn modelId="{94E75FA0-9BA4-4581-9FCC-DF1BB591A3AF}" srcId="{32195378-AD66-4F6B-B3FF-4759F40A6CC9}" destId="{20775F24-34D4-4A52-BA10-4EF79455B641}" srcOrd="0" destOrd="0" parTransId="{2E2FDC1A-947C-4AA9-8EE0-07B5E4503687}" sibTransId="{66ED6288-51CE-4876-B36D-A81DE64C609C}"/>
    <dgm:cxn modelId="{D071B1A9-92FF-4E13-AFA4-AFF9F3C1848C}" srcId="{728F06AF-099F-4858-8AB2-202F0104550E}" destId="{EAFB806B-6E4B-43BF-8EE2-7E614D95475D}" srcOrd="1" destOrd="0" parTransId="{E254EE89-8322-4BE2-92F4-D85842A8CDCC}" sibTransId="{DF1F0E14-8BC3-42B9-BD35-95CA95078CB8}"/>
    <dgm:cxn modelId="{7C0BD8AC-A283-4B0B-9829-1C97C30E6CB8}" srcId="{EAFB806B-6E4B-43BF-8EE2-7E614D95475D}" destId="{D2D43A2D-A651-4A05-B4AC-8C0069B4E43E}" srcOrd="4" destOrd="0" parTransId="{8A4B1926-1499-4A43-B491-039775463F00}" sibTransId="{AD9CC6C3-AFFD-455E-B304-A9DB63B4179C}"/>
    <dgm:cxn modelId="{6DC712B1-A92E-49D2-85F9-29C53286F597}" type="presOf" srcId="{4B461AE1-21C9-4B88-BD59-5CF3649D350B}" destId="{CCBD1422-0CBC-41A7-82CC-5F23B4D5C014}" srcOrd="0" destOrd="0" presId="urn:microsoft.com/office/officeart/2005/8/layout/hierarchy3"/>
    <dgm:cxn modelId="{E74EBFB2-4E08-4AD9-804E-D25A39816478}" type="presOf" srcId="{EAFB806B-6E4B-43BF-8EE2-7E614D95475D}" destId="{60ADFBBF-3135-4087-8497-A68649D2D6DF}" srcOrd="1" destOrd="0" presId="urn:microsoft.com/office/officeart/2005/8/layout/hierarchy3"/>
    <dgm:cxn modelId="{406334B4-3403-42BC-9B24-83A2320ECC55}" srcId="{EAFB806B-6E4B-43BF-8EE2-7E614D95475D}" destId="{0AA0BCF9-6182-4923-866E-326929602AE9}" srcOrd="1" destOrd="0" parTransId="{55742184-5D92-4C15-B486-B36E9197960E}" sibTransId="{0B2AB804-24AA-4D1E-8D52-B590AEAB3A12}"/>
    <dgm:cxn modelId="{DCCB53BC-53B8-4C46-BC04-CE28A7DDA4BE}" srcId="{EAFB806B-6E4B-43BF-8EE2-7E614D95475D}" destId="{2C1B4622-E002-4DBD-AF94-9C14C4AF50CF}" srcOrd="5" destOrd="0" parTransId="{E5405FBB-D00A-4A83-B613-9843A8B7FD94}" sibTransId="{5B1322EC-E03F-459D-921C-E32BB28703E3}"/>
    <dgm:cxn modelId="{D10617D3-297B-43CE-AC6D-6A3206AEFD9B}" type="presOf" srcId="{EAFB806B-6E4B-43BF-8EE2-7E614D95475D}" destId="{8400AF33-1028-42A0-9303-757481EDB08A}" srcOrd="0" destOrd="0" presId="urn:microsoft.com/office/officeart/2005/8/layout/hierarchy3"/>
    <dgm:cxn modelId="{ADDF4AD4-81A3-4DDD-B5FF-89AB6C01F844}" type="presOf" srcId="{3C19662A-0D14-4A5F-8BD5-19E184778940}" destId="{9A9C0809-407D-469B-BB35-2A07BE3F9C87}" srcOrd="0" destOrd="0" presId="urn:microsoft.com/office/officeart/2005/8/layout/hierarchy3"/>
    <dgm:cxn modelId="{1DB9D0E7-FB47-407B-A0F0-8A983133CC4C}" srcId="{32195378-AD66-4F6B-B3FF-4759F40A6CC9}" destId="{0CE7C935-A706-442A-B6CD-9598DB3377F9}" srcOrd="5" destOrd="0" parTransId="{E5A300A1-E097-4B20-B29C-64CC1B675C3D}" sibTransId="{7D4C75AC-2AC6-40D4-B131-59B32995B503}"/>
    <dgm:cxn modelId="{FF7987F5-945D-493A-8814-23B4851F18A8}" type="presOf" srcId="{3DFF829B-E900-4A8F-BE94-908A499007F3}" destId="{D0936368-CD03-4EC3-9A92-65370D0595B0}" srcOrd="0" destOrd="0" presId="urn:microsoft.com/office/officeart/2005/8/layout/hierarchy3"/>
    <dgm:cxn modelId="{77A585F9-0BA7-4C95-8042-E57DE54A7F45}" type="presOf" srcId="{32195378-AD66-4F6B-B3FF-4759F40A6CC9}" destId="{49F6AD7B-7A88-4E72-963B-2463D4FCC26D}" srcOrd="0" destOrd="0" presId="urn:microsoft.com/office/officeart/2005/8/layout/hierarchy3"/>
    <dgm:cxn modelId="{1AA773FD-07B9-4EC3-BB47-31C31DB4FAEA}" srcId="{EAFB806B-6E4B-43BF-8EE2-7E614D95475D}" destId="{C09A9632-4E93-4A34-8482-3825FD9447DE}" srcOrd="0" destOrd="0" parTransId="{60934BBF-B2AF-4CA2-B601-6866DB41264C}" sibTransId="{4392BC54-75BF-4293-8E2A-D0938DB2A7FC}"/>
    <dgm:cxn modelId="{28F8C0FE-F3AF-446F-BD66-975F12CCCB5F}" type="presOf" srcId="{60934BBF-B2AF-4CA2-B601-6866DB41264C}" destId="{149CF26F-3E43-4B3C-B024-6F3531662D71}" srcOrd="0" destOrd="0" presId="urn:microsoft.com/office/officeart/2005/8/layout/hierarchy3"/>
    <dgm:cxn modelId="{FDDC5FE9-7997-4B9E-9F56-58122BD2CF65}" type="presParOf" srcId="{9ADB1705-F81B-4099-B9FC-76AA8F0F5B96}" destId="{BBC1D88B-A091-47FC-A310-B688DB5A60E8}" srcOrd="0" destOrd="0" presId="urn:microsoft.com/office/officeart/2005/8/layout/hierarchy3"/>
    <dgm:cxn modelId="{D8A51572-5D1A-49F1-92CC-C560437CFB24}" type="presParOf" srcId="{BBC1D88B-A091-47FC-A310-B688DB5A60E8}" destId="{B469916E-49E4-4F71-BA95-C1339FE9D938}" srcOrd="0" destOrd="0" presId="urn:microsoft.com/office/officeart/2005/8/layout/hierarchy3"/>
    <dgm:cxn modelId="{C9F2F036-DC40-4A97-B693-04AB1BB7E93F}" type="presParOf" srcId="{B469916E-49E4-4F71-BA95-C1339FE9D938}" destId="{49F6AD7B-7A88-4E72-963B-2463D4FCC26D}" srcOrd="0" destOrd="0" presId="urn:microsoft.com/office/officeart/2005/8/layout/hierarchy3"/>
    <dgm:cxn modelId="{D06E725C-DD01-40DC-9FB6-0D5AA87AADF8}" type="presParOf" srcId="{B469916E-49E4-4F71-BA95-C1339FE9D938}" destId="{2F507196-1CDC-4D0C-921C-F34AF6F175CF}" srcOrd="1" destOrd="0" presId="urn:microsoft.com/office/officeart/2005/8/layout/hierarchy3"/>
    <dgm:cxn modelId="{BD045035-59F1-4667-865E-DA70C9CA1B8F}" type="presParOf" srcId="{BBC1D88B-A091-47FC-A310-B688DB5A60E8}" destId="{7B925B6B-4AF1-4EE8-9896-772CB12840D7}" srcOrd="1" destOrd="0" presId="urn:microsoft.com/office/officeart/2005/8/layout/hierarchy3"/>
    <dgm:cxn modelId="{AD1BE462-13CA-4A17-97A5-6948B2A82A5E}" type="presParOf" srcId="{7B925B6B-4AF1-4EE8-9896-772CB12840D7}" destId="{5D382B21-3C6A-41E7-8D26-A9E08CAE16ED}" srcOrd="0" destOrd="0" presId="urn:microsoft.com/office/officeart/2005/8/layout/hierarchy3"/>
    <dgm:cxn modelId="{A25A04F6-F846-4FE3-B396-D76BA4209D62}" type="presParOf" srcId="{7B925B6B-4AF1-4EE8-9896-772CB12840D7}" destId="{1C9345C4-6C6D-4F04-9E81-C824DA2E4496}" srcOrd="1" destOrd="0" presId="urn:microsoft.com/office/officeart/2005/8/layout/hierarchy3"/>
    <dgm:cxn modelId="{8FB6BFF6-23C5-4EAA-B9D1-D1E5A3985349}" type="presParOf" srcId="{7B925B6B-4AF1-4EE8-9896-772CB12840D7}" destId="{65DD4893-9805-414F-ABCF-D1B944AE86E3}" srcOrd="2" destOrd="0" presId="urn:microsoft.com/office/officeart/2005/8/layout/hierarchy3"/>
    <dgm:cxn modelId="{B1CAA872-1705-441B-BE47-298471586D51}" type="presParOf" srcId="{7B925B6B-4AF1-4EE8-9896-772CB12840D7}" destId="{E36A3D97-4623-4CC5-B164-0ADD222A4B67}" srcOrd="3" destOrd="0" presId="urn:microsoft.com/office/officeart/2005/8/layout/hierarchy3"/>
    <dgm:cxn modelId="{6DE09372-C0D4-4C44-85CF-337B715F1C07}" type="presParOf" srcId="{7B925B6B-4AF1-4EE8-9896-772CB12840D7}" destId="{3C09B622-9EDA-4B47-A6D0-A1FD5BA6135A}" srcOrd="4" destOrd="0" presId="urn:microsoft.com/office/officeart/2005/8/layout/hierarchy3"/>
    <dgm:cxn modelId="{0D0EF47B-B41B-48A0-B9D0-F205D4B40940}" type="presParOf" srcId="{7B925B6B-4AF1-4EE8-9896-772CB12840D7}" destId="{4E4EC5B2-936F-4DA0-BEC2-76BDE386D400}" srcOrd="5" destOrd="0" presId="urn:microsoft.com/office/officeart/2005/8/layout/hierarchy3"/>
    <dgm:cxn modelId="{B3644FBE-F972-446D-8E4A-A8D9859A49FF}" type="presParOf" srcId="{7B925B6B-4AF1-4EE8-9896-772CB12840D7}" destId="{D0936368-CD03-4EC3-9A92-65370D0595B0}" srcOrd="6" destOrd="0" presId="urn:microsoft.com/office/officeart/2005/8/layout/hierarchy3"/>
    <dgm:cxn modelId="{A84BF168-6683-4D59-BEBD-F6730334AC71}" type="presParOf" srcId="{7B925B6B-4AF1-4EE8-9896-772CB12840D7}" destId="{6586BF32-DDB5-4BAF-8C33-58810CCAA4FD}" srcOrd="7" destOrd="0" presId="urn:microsoft.com/office/officeart/2005/8/layout/hierarchy3"/>
    <dgm:cxn modelId="{E3CEF902-EA8C-4F09-A23D-1339F35B8A5D}" type="presParOf" srcId="{7B925B6B-4AF1-4EE8-9896-772CB12840D7}" destId="{E61451C4-35C4-472E-8A28-9048C8D70E37}" srcOrd="8" destOrd="0" presId="urn:microsoft.com/office/officeart/2005/8/layout/hierarchy3"/>
    <dgm:cxn modelId="{DC750643-9450-41ED-8096-C109511175B4}" type="presParOf" srcId="{7B925B6B-4AF1-4EE8-9896-772CB12840D7}" destId="{DE92B688-900C-4E5C-A11A-FECA0E66E17A}" srcOrd="9" destOrd="0" presId="urn:microsoft.com/office/officeart/2005/8/layout/hierarchy3"/>
    <dgm:cxn modelId="{77995EA4-523E-4FAA-8F75-3B35DE40A0EF}" type="presParOf" srcId="{7B925B6B-4AF1-4EE8-9896-772CB12840D7}" destId="{AE36FD69-AD16-4A05-8726-152C02B32793}" srcOrd="10" destOrd="0" presId="urn:microsoft.com/office/officeart/2005/8/layout/hierarchy3"/>
    <dgm:cxn modelId="{DDBDE830-D931-41A3-B14D-A39A98929F98}" type="presParOf" srcId="{7B925B6B-4AF1-4EE8-9896-772CB12840D7}" destId="{200D33FC-95B1-4DFA-B146-7C720D41DBDA}" srcOrd="11" destOrd="0" presId="urn:microsoft.com/office/officeart/2005/8/layout/hierarchy3"/>
    <dgm:cxn modelId="{E08EDD44-2F71-4E83-A977-E8C44CD5142E}" type="presParOf" srcId="{9ADB1705-F81B-4099-B9FC-76AA8F0F5B96}" destId="{B44B6770-6765-477F-A6FB-EB4CA72157BE}" srcOrd="1" destOrd="0" presId="urn:microsoft.com/office/officeart/2005/8/layout/hierarchy3"/>
    <dgm:cxn modelId="{1CD85844-45C1-4793-B9FE-D15F68179174}" type="presParOf" srcId="{B44B6770-6765-477F-A6FB-EB4CA72157BE}" destId="{CBD1CC2E-E909-421E-8C2F-A07244C6AC8B}" srcOrd="0" destOrd="0" presId="urn:microsoft.com/office/officeart/2005/8/layout/hierarchy3"/>
    <dgm:cxn modelId="{7B17FE93-4049-4715-BA08-B907F067E72E}" type="presParOf" srcId="{CBD1CC2E-E909-421E-8C2F-A07244C6AC8B}" destId="{8400AF33-1028-42A0-9303-757481EDB08A}" srcOrd="0" destOrd="0" presId="urn:microsoft.com/office/officeart/2005/8/layout/hierarchy3"/>
    <dgm:cxn modelId="{4BFBEA26-845F-4884-B132-5568EF672D1A}" type="presParOf" srcId="{CBD1CC2E-E909-421E-8C2F-A07244C6AC8B}" destId="{60ADFBBF-3135-4087-8497-A68649D2D6DF}" srcOrd="1" destOrd="0" presId="urn:microsoft.com/office/officeart/2005/8/layout/hierarchy3"/>
    <dgm:cxn modelId="{1DAC3F76-CAC0-414F-989E-4B4759F5EBA1}" type="presParOf" srcId="{B44B6770-6765-477F-A6FB-EB4CA72157BE}" destId="{97294C4D-7071-43B7-9C7C-8583011D884A}" srcOrd="1" destOrd="0" presId="urn:microsoft.com/office/officeart/2005/8/layout/hierarchy3"/>
    <dgm:cxn modelId="{78A5121A-D624-4094-ABCD-3843AE33D8C7}" type="presParOf" srcId="{97294C4D-7071-43B7-9C7C-8583011D884A}" destId="{149CF26F-3E43-4B3C-B024-6F3531662D71}" srcOrd="0" destOrd="0" presId="urn:microsoft.com/office/officeart/2005/8/layout/hierarchy3"/>
    <dgm:cxn modelId="{290761A0-C55F-44FA-8574-122E7C844039}" type="presParOf" srcId="{97294C4D-7071-43B7-9C7C-8583011D884A}" destId="{74571199-9456-4C1F-81D1-484ADBB941C9}" srcOrd="1" destOrd="0" presId="urn:microsoft.com/office/officeart/2005/8/layout/hierarchy3"/>
    <dgm:cxn modelId="{CA2B2A7E-FD41-434D-8495-3BBAFC122E2C}" type="presParOf" srcId="{97294C4D-7071-43B7-9C7C-8583011D884A}" destId="{BF0479C1-4D39-4D56-B110-5A13FA98D7B5}" srcOrd="2" destOrd="0" presId="urn:microsoft.com/office/officeart/2005/8/layout/hierarchy3"/>
    <dgm:cxn modelId="{CE759AB7-D043-42B6-9FC3-5153153E9830}" type="presParOf" srcId="{97294C4D-7071-43B7-9C7C-8583011D884A}" destId="{2C0ED171-4FDA-4817-9D51-40D9AE9B2DD1}" srcOrd="3" destOrd="0" presId="urn:microsoft.com/office/officeart/2005/8/layout/hierarchy3"/>
    <dgm:cxn modelId="{88AE0936-DFA0-4072-BC22-D87FE464AB0B}" type="presParOf" srcId="{97294C4D-7071-43B7-9C7C-8583011D884A}" destId="{92226CF5-6F82-46CE-9B7F-A95CCCEF9F6D}" srcOrd="4" destOrd="0" presId="urn:microsoft.com/office/officeart/2005/8/layout/hierarchy3"/>
    <dgm:cxn modelId="{9FE52680-1769-412B-8FDF-B830FB0B51BC}" type="presParOf" srcId="{97294C4D-7071-43B7-9C7C-8583011D884A}" destId="{9A9C0809-407D-469B-BB35-2A07BE3F9C87}" srcOrd="5" destOrd="0" presId="urn:microsoft.com/office/officeart/2005/8/layout/hierarchy3"/>
    <dgm:cxn modelId="{78C0B7EA-7852-4036-A4EE-1A6FEFADACAA}" type="presParOf" srcId="{97294C4D-7071-43B7-9C7C-8583011D884A}" destId="{CCBD1422-0CBC-41A7-82CC-5F23B4D5C014}" srcOrd="6" destOrd="0" presId="urn:microsoft.com/office/officeart/2005/8/layout/hierarchy3"/>
    <dgm:cxn modelId="{05B589A4-99C4-4400-BBB7-A96F7923289C}" type="presParOf" srcId="{97294C4D-7071-43B7-9C7C-8583011D884A}" destId="{68ABAC89-7FB8-4ED6-9761-49277141DFC8}" srcOrd="7" destOrd="0" presId="urn:microsoft.com/office/officeart/2005/8/layout/hierarchy3"/>
    <dgm:cxn modelId="{18CD08A0-F275-42FE-A282-CCB03D3E1DAB}" type="presParOf" srcId="{97294C4D-7071-43B7-9C7C-8583011D884A}" destId="{110EE10E-7713-4162-AC1B-303C13143118}" srcOrd="8" destOrd="0" presId="urn:microsoft.com/office/officeart/2005/8/layout/hierarchy3"/>
    <dgm:cxn modelId="{23C1489C-5486-49B3-9F04-98D6A5000FD1}" type="presParOf" srcId="{97294C4D-7071-43B7-9C7C-8583011D884A}" destId="{AD899F19-2D77-4CFA-83BA-37390F20C335}" srcOrd="9" destOrd="0" presId="urn:microsoft.com/office/officeart/2005/8/layout/hierarchy3"/>
    <dgm:cxn modelId="{D7BFC7CA-1D7B-4DCE-9FA4-096E5CF87817}" type="presParOf" srcId="{97294C4D-7071-43B7-9C7C-8583011D884A}" destId="{B64178F0-3B5D-41FE-A510-1ADD1201C1C1}" srcOrd="10" destOrd="0" presId="urn:microsoft.com/office/officeart/2005/8/layout/hierarchy3"/>
    <dgm:cxn modelId="{E57F9CCA-11B7-4845-9EDA-A290C7C1C886}" type="presParOf" srcId="{97294C4D-7071-43B7-9C7C-8583011D884A}" destId="{6BEE2905-B215-4C1F-970F-0209B8D07263}" srcOrd="1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28F06AF-099F-4858-8AB2-202F0104550E}"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en-IN"/>
        </a:p>
      </dgm:t>
    </dgm:pt>
    <dgm:pt modelId="{32195378-AD66-4F6B-B3FF-4759F40A6CC9}">
      <dgm:prSet custT="1"/>
      <dgm:spPr>
        <a:solidFill>
          <a:srgbClr val="92D050"/>
        </a:solidFill>
      </dgm:spPr>
      <dgm:t>
        <a:bodyPr/>
        <a:lstStyle/>
        <a:p>
          <a:r>
            <a:rPr lang="en-US" sz="2600" b="1" dirty="0">
              <a:solidFill>
                <a:schemeClr val="tx1"/>
              </a:solidFill>
            </a:rPr>
            <a:t>CGST</a:t>
          </a:r>
        </a:p>
        <a:p>
          <a:r>
            <a:rPr lang="en-US" sz="2600" dirty="0">
              <a:solidFill>
                <a:schemeClr val="tx1"/>
              </a:solidFill>
            </a:rPr>
            <a:t>{SGST/ UTGST at equivalent rate is also leviable}</a:t>
          </a:r>
          <a:endParaRPr lang="en-IN" sz="2600" dirty="0">
            <a:solidFill>
              <a:schemeClr val="tx1"/>
            </a:solidFill>
          </a:endParaRPr>
        </a:p>
      </dgm:t>
    </dgm:pt>
    <dgm:pt modelId="{A516A837-0540-411C-A1AA-DFC2866E5BFD}" type="parTrans" cxnId="{335F0343-1897-4324-9B6D-42E39377BD29}">
      <dgm:prSet/>
      <dgm:spPr/>
      <dgm:t>
        <a:bodyPr/>
        <a:lstStyle/>
        <a:p>
          <a:endParaRPr lang="en-IN" sz="2400">
            <a:solidFill>
              <a:schemeClr val="tx1"/>
            </a:solidFill>
          </a:endParaRPr>
        </a:p>
      </dgm:t>
    </dgm:pt>
    <dgm:pt modelId="{0409D4E2-D6FA-4416-81BE-7A57BC705677}" type="sibTrans" cxnId="{335F0343-1897-4324-9B6D-42E39377BD29}">
      <dgm:prSet/>
      <dgm:spPr/>
      <dgm:t>
        <a:bodyPr/>
        <a:lstStyle/>
        <a:p>
          <a:endParaRPr lang="en-IN" sz="2400">
            <a:solidFill>
              <a:schemeClr val="tx1"/>
            </a:solidFill>
          </a:endParaRPr>
        </a:p>
      </dgm:t>
    </dgm:pt>
    <dgm:pt modelId="{20775F24-34D4-4A52-BA10-4EF79455B641}">
      <dgm:prSet custT="1"/>
      <dgm:spPr/>
      <dgm:t>
        <a:bodyPr/>
        <a:lstStyle/>
        <a:p>
          <a:r>
            <a:rPr lang="en-US" sz="2400">
              <a:solidFill>
                <a:schemeClr val="tx1"/>
              </a:solidFill>
            </a:rPr>
            <a:t>0.75%</a:t>
          </a:r>
          <a:endParaRPr lang="en-IN" sz="2400" dirty="0">
            <a:solidFill>
              <a:schemeClr val="tx1"/>
            </a:solidFill>
          </a:endParaRPr>
        </a:p>
      </dgm:t>
    </dgm:pt>
    <dgm:pt modelId="{2E2FDC1A-947C-4AA9-8EE0-07B5E4503687}" type="parTrans" cxnId="{94E75FA0-9BA4-4581-9FCC-DF1BB591A3AF}">
      <dgm:prSet/>
      <dgm:spPr/>
      <dgm:t>
        <a:bodyPr/>
        <a:lstStyle/>
        <a:p>
          <a:endParaRPr lang="en-IN" sz="2400">
            <a:solidFill>
              <a:schemeClr val="tx1"/>
            </a:solidFill>
          </a:endParaRPr>
        </a:p>
      </dgm:t>
    </dgm:pt>
    <dgm:pt modelId="{66ED6288-51CE-4876-B36D-A81DE64C609C}" type="sibTrans" cxnId="{94E75FA0-9BA4-4581-9FCC-DF1BB591A3AF}">
      <dgm:prSet/>
      <dgm:spPr/>
      <dgm:t>
        <a:bodyPr/>
        <a:lstStyle/>
        <a:p>
          <a:endParaRPr lang="en-IN" sz="2400">
            <a:solidFill>
              <a:schemeClr val="tx1"/>
            </a:solidFill>
          </a:endParaRPr>
        </a:p>
      </dgm:t>
    </dgm:pt>
    <dgm:pt modelId="{D158D922-51E4-4A5F-AEB6-FAD74B0CA847}">
      <dgm:prSet custT="1"/>
      <dgm:spPr/>
      <dgm:t>
        <a:bodyPr/>
        <a:lstStyle/>
        <a:p>
          <a:r>
            <a:rPr lang="en-US" sz="2400">
              <a:solidFill>
                <a:schemeClr val="tx1"/>
              </a:solidFill>
            </a:rPr>
            <a:t>2.5%</a:t>
          </a:r>
          <a:endParaRPr lang="en-IN" sz="2400" dirty="0">
            <a:solidFill>
              <a:schemeClr val="tx1"/>
            </a:solidFill>
          </a:endParaRPr>
        </a:p>
      </dgm:t>
    </dgm:pt>
    <dgm:pt modelId="{794725C6-64C6-433F-B488-C9C68E2649A3}" type="parTrans" cxnId="{CAEA8D08-0681-42A3-AAE5-DC6EBD6F931C}">
      <dgm:prSet/>
      <dgm:spPr/>
      <dgm:t>
        <a:bodyPr/>
        <a:lstStyle/>
        <a:p>
          <a:endParaRPr lang="en-IN" sz="2400">
            <a:solidFill>
              <a:schemeClr val="tx1"/>
            </a:solidFill>
          </a:endParaRPr>
        </a:p>
      </dgm:t>
    </dgm:pt>
    <dgm:pt modelId="{A6C29CC1-AB5A-4EA8-97F9-D0DCA907BEE3}" type="sibTrans" cxnId="{CAEA8D08-0681-42A3-AAE5-DC6EBD6F931C}">
      <dgm:prSet/>
      <dgm:spPr/>
      <dgm:t>
        <a:bodyPr/>
        <a:lstStyle/>
        <a:p>
          <a:endParaRPr lang="en-IN" sz="2400">
            <a:solidFill>
              <a:schemeClr val="tx1"/>
            </a:solidFill>
          </a:endParaRPr>
        </a:p>
      </dgm:t>
    </dgm:pt>
    <dgm:pt modelId="{7222F800-9EC9-43D3-82B2-7F8FE9C3CCBC}">
      <dgm:prSet custT="1"/>
      <dgm:spPr/>
      <dgm:t>
        <a:bodyPr/>
        <a:lstStyle/>
        <a:p>
          <a:r>
            <a:rPr lang="en-US" sz="2400" dirty="0">
              <a:solidFill>
                <a:schemeClr val="tx1"/>
              </a:solidFill>
            </a:rPr>
            <a:t>3.75%</a:t>
          </a:r>
          <a:endParaRPr lang="en-IN" sz="2400" dirty="0">
            <a:solidFill>
              <a:schemeClr val="tx1"/>
            </a:solidFill>
          </a:endParaRPr>
        </a:p>
      </dgm:t>
    </dgm:pt>
    <dgm:pt modelId="{BD30C5BB-1D06-4E3E-85BC-E8955F71674C}" type="parTrans" cxnId="{FC7DBA8C-A41F-4C0A-83A3-2DA98EED10B6}">
      <dgm:prSet/>
      <dgm:spPr/>
      <dgm:t>
        <a:bodyPr/>
        <a:lstStyle/>
        <a:p>
          <a:endParaRPr lang="en-IN" sz="2400">
            <a:solidFill>
              <a:schemeClr val="tx1"/>
            </a:solidFill>
          </a:endParaRPr>
        </a:p>
      </dgm:t>
    </dgm:pt>
    <dgm:pt modelId="{2532CD83-ACAE-4C84-AAC9-20525A40B660}" type="sibTrans" cxnId="{FC7DBA8C-A41F-4C0A-83A3-2DA98EED10B6}">
      <dgm:prSet/>
      <dgm:spPr/>
      <dgm:t>
        <a:bodyPr/>
        <a:lstStyle/>
        <a:p>
          <a:endParaRPr lang="en-IN" sz="2400">
            <a:solidFill>
              <a:schemeClr val="tx1"/>
            </a:solidFill>
          </a:endParaRPr>
        </a:p>
      </dgm:t>
    </dgm:pt>
    <dgm:pt modelId="{251BE7AA-7443-43E2-A5BB-FA7BBD04E6AB}">
      <dgm:prSet custT="1"/>
      <dgm:spPr/>
      <dgm:t>
        <a:bodyPr/>
        <a:lstStyle/>
        <a:p>
          <a:r>
            <a:rPr lang="en-US" sz="2400">
              <a:solidFill>
                <a:schemeClr val="tx1"/>
              </a:solidFill>
            </a:rPr>
            <a:t>6%</a:t>
          </a:r>
          <a:endParaRPr lang="en-IN" sz="2400">
            <a:solidFill>
              <a:schemeClr val="tx1"/>
            </a:solidFill>
          </a:endParaRPr>
        </a:p>
      </dgm:t>
    </dgm:pt>
    <dgm:pt modelId="{3DFF829B-E900-4A8F-BE94-908A499007F3}" type="parTrans" cxnId="{0575CD4B-64B7-45C2-B462-6ED7E4190F2B}">
      <dgm:prSet/>
      <dgm:spPr/>
      <dgm:t>
        <a:bodyPr/>
        <a:lstStyle/>
        <a:p>
          <a:endParaRPr lang="en-IN" sz="2400">
            <a:solidFill>
              <a:schemeClr val="tx1"/>
            </a:solidFill>
          </a:endParaRPr>
        </a:p>
      </dgm:t>
    </dgm:pt>
    <dgm:pt modelId="{76B93E1A-17DA-4914-BE27-85513191C479}" type="sibTrans" cxnId="{0575CD4B-64B7-45C2-B462-6ED7E4190F2B}">
      <dgm:prSet/>
      <dgm:spPr/>
      <dgm:t>
        <a:bodyPr/>
        <a:lstStyle/>
        <a:p>
          <a:endParaRPr lang="en-IN" sz="2400">
            <a:solidFill>
              <a:schemeClr val="tx1"/>
            </a:solidFill>
          </a:endParaRPr>
        </a:p>
      </dgm:t>
    </dgm:pt>
    <dgm:pt modelId="{F53EE4D9-5802-4A1A-9D77-BB462CB2C057}">
      <dgm:prSet custT="1"/>
      <dgm:spPr/>
      <dgm:t>
        <a:bodyPr/>
        <a:lstStyle/>
        <a:p>
          <a:r>
            <a:rPr lang="en-US" sz="2400">
              <a:solidFill>
                <a:schemeClr val="tx1"/>
              </a:solidFill>
            </a:rPr>
            <a:t>9%</a:t>
          </a:r>
          <a:endParaRPr lang="en-IN" sz="2400">
            <a:solidFill>
              <a:schemeClr val="tx1"/>
            </a:solidFill>
          </a:endParaRPr>
        </a:p>
      </dgm:t>
    </dgm:pt>
    <dgm:pt modelId="{57A92028-B2B4-4E11-ACB1-622308E13EB7}" type="parTrans" cxnId="{D11B2B6B-CC34-449E-B661-E616702A516B}">
      <dgm:prSet/>
      <dgm:spPr/>
      <dgm:t>
        <a:bodyPr/>
        <a:lstStyle/>
        <a:p>
          <a:endParaRPr lang="en-IN" sz="2400">
            <a:solidFill>
              <a:schemeClr val="tx1"/>
            </a:solidFill>
          </a:endParaRPr>
        </a:p>
      </dgm:t>
    </dgm:pt>
    <dgm:pt modelId="{E28C2D6F-A3AE-47B1-9FB5-11CCE84802D4}" type="sibTrans" cxnId="{D11B2B6B-CC34-449E-B661-E616702A516B}">
      <dgm:prSet/>
      <dgm:spPr/>
      <dgm:t>
        <a:bodyPr/>
        <a:lstStyle/>
        <a:p>
          <a:endParaRPr lang="en-IN" sz="2400">
            <a:solidFill>
              <a:schemeClr val="tx1"/>
            </a:solidFill>
          </a:endParaRPr>
        </a:p>
      </dgm:t>
    </dgm:pt>
    <dgm:pt modelId="{0CE7C935-A706-442A-B6CD-9598DB3377F9}">
      <dgm:prSet custT="1"/>
      <dgm:spPr/>
      <dgm:t>
        <a:bodyPr/>
        <a:lstStyle/>
        <a:p>
          <a:r>
            <a:rPr lang="en-US" sz="2400">
              <a:solidFill>
                <a:schemeClr val="tx1"/>
              </a:solidFill>
            </a:rPr>
            <a:t>14%</a:t>
          </a:r>
          <a:endParaRPr lang="en-IN" sz="2400">
            <a:solidFill>
              <a:schemeClr val="tx1"/>
            </a:solidFill>
          </a:endParaRPr>
        </a:p>
      </dgm:t>
    </dgm:pt>
    <dgm:pt modelId="{E5A300A1-E097-4B20-B29C-64CC1B675C3D}" type="parTrans" cxnId="{1DB9D0E7-FB47-407B-A0F0-8A983133CC4C}">
      <dgm:prSet/>
      <dgm:spPr/>
      <dgm:t>
        <a:bodyPr/>
        <a:lstStyle/>
        <a:p>
          <a:endParaRPr lang="en-IN" sz="2400">
            <a:solidFill>
              <a:schemeClr val="tx1"/>
            </a:solidFill>
          </a:endParaRPr>
        </a:p>
      </dgm:t>
    </dgm:pt>
    <dgm:pt modelId="{7D4C75AC-2AC6-40D4-B131-59B32995B503}" type="sibTrans" cxnId="{1DB9D0E7-FB47-407B-A0F0-8A983133CC4C}">
      <dgm:prSet/>
      <dgm:spPr/>
      <dgm:t>
        <a:bodyPr/>
        <a:lstStyle/>
        <a:p>
          <a:endParaRPr lang="en-IN" sz="2400">
            <a:solidFill>
              <a:schemeClr val="tx1"/>
            </a:solidFill>
          </a:endParaRPr>
        </a:p>
      </dgm:t>
    </dgm:pt>
    <dgm:pt modelId="{EAFB806B-6E4B-43BF-8EE2-7E614D95475D}">
      <dgm:prSet custT="1"/>
      <dgm:spPr/>
      <dgm:t>
        <a:bodyPr/>
        <a:lstStyle/>
        <a:p>
          <a:r>
            <a:rPr lang="en-US" sz="2600" b="1" dirty="0">
              <a:solidFill>
                <a:schemeClr val="tx1"/>
              </a:solidFill>
            </a:rPr>
            <a:t>IGST</a:t>
          </a:r>
          <a:endParaRPr lang="en-IN" sz="2600" b="1" dirty="0">
            <a:solidFill>
              <a:schemeClr val="tx1"/>
            </a:solidFill>
          </a:endParaRPr>
        </a:p>
      </dgm:t>
    </dgm:pt>
    <dgm:pt modelId="{E254EE89-8322-4BE2-92F4-D85842A8CDCC}" type="parTrans" cxnId="{D071B1A9-92FF-4E13-AFA4-AFF9F3C1848C}">
      <dgm:prSet/>
      <dgm:spPr/>
      <dgm:t>
        <a:bodyPr/>
        <a:lstStyle/>
        <a:p>
          <a:endParaRPr lang="en-IN" sz="2400">
            <a:solidFill>
              <a:schemeClr val="tx1"/>
            </a:solidFill>
          </a:endParaRPr>
        </a:p>
      </dgm:t>
    </dgm:pt>
    <dgm:pt modelId="{DF1F0E14-8BC3-42B9-BD35-95CA95078CB8}" type="sibTrans" cxnId="{D071B1A9-92FF-4E13-AFA4-AFF9F3C1848C}">
      <dgm:prSet/>
      <dgm:spPr/>
      <dgm:t>
        <a:bodyPr/>
        <a:lstStyle/>
        <a:p>
          <a:endParaRPr lang="en-IN" sz="2400">
            <a:solidFill>
              <a:schemeClr val="tx1"/>
            </a:solidFill>
          </a:endParaRPr>
        </a:p>
      </dgm:t>
    </dgm:pt>
    <dgm:pt modelId="{C09A9632-4E93-4A34-8482-3825FD9447DE}">
      <dgm:prSet custT="1"/>
      <dgm:spPr/>
      <dgm:t>
        <a:bodyPr/>
        <a:lstStyle/>
        <a:p>
          <a:r>
            <a:rPr lang="en-US" sz="2400">
              <a:solidFill>
                <a:schemeClr val="tx1"/>
              </a:solidFill>
            </a:rPr>
            <a:t>1.5%</a:t>
          </a:r>
          <a:endParaRPr lang="en-IN" sz="2400" dirty="0">
            <a:solidFill>
              <a:schemeClr val="tx1"/>
            </a:solidFill>
          </a:endParaRPr>
        </a:p>
      </dgm:t>
    </dgm:pt>
    <dgm:pt modelId="{60934BBF-B2AF-4CA2-B601-6866DB41264C}" type="parTrans" cxnId="{1AA773FD-07B9-4EC3-BB47-31C31DB4FAEA}">
      <dgm:prSet/>
      <dgm:spPr/>
      <dgm:t>
        <a:bodyPr/>
        <a:lstStyle/>
        <a:p>
          <a:endParaRPr lang="en-IN" sz="2400">
            <a:solidFill>
              <a:schemeClr val="tx1"/>
            </a:solidFill>
          </a:endParaRPr>
        </a:p>
      </dgm:t>
    </dgm:pt>
    <dgm:pt modelId="{4392BC54-75BF-4293-8E2A-D0938DB2A7FC}" type="sibTrans" cxnId="{1AA773FD-07B9-4EC3-BB47-31C31DB4FAEA}">
      <dgm:prSet/>
      <dgm:spPr/>
      <dgm:t>
        <a:bodyPr/>
        <a:lstStyle/>
        <a:p>
          <a:endParaRPr lang="en-IN" sz="2400">
            <a:solidFill>
              <a:schemeClr val="tx1"/>
            </a:solidFill>
          </a:endParaRPr>
        </a:p>
      </dgm:t>
    </dgm:pt>
    <dgm:pt modelId="{0AA0BCF9-6182-4923-866E-326929602AE9}">
      <dgm:prSet custT="1"/>
      <dgm:spPr/>
      <dgm:t>
        <a:bodyPr/>
        <a:lstStyle/>
        <a:p>
          <a:r>
            <a:rPr lang="en-US" sz="2400">
              <a:solidFill>
                <a:schemeClr val="tx1"/>
              </a:solidFill>
            </a:rPr>
            <a:t>5%</a:t>
          </a:r>
          <a:endParaRPr lang="en-IN" sz="2400" dirty="0">
            <a:solidFill>
              <a:schemeClr val="tx1"/>
            </a:solidFill>
          </a:endParaRPr>
        </a:p>
      </dgm:t>
    </dgm:pt>
    <dgm:pt modelId="{55742184-5D92-4C15-B486-B36E9197960E}" type="parTrans" cxnId="{406334B4-3403-42BC-9B24-83A2320ECC55}">
      <dgm:prSet/>
      <dgm:spPr/>
      <dgm:t>
        <a:bodyPr/>
        <a:lstStyle/>
        <a:p>
          <a:endParaRPr lang="en-IN" sz="2400">
            <a:solidFill>
              <a:schemeClr val="tx1"/>
            </a:solidFill>
          </a:endParaRPr>
        </a:p>
      </dgm:t>
    </dgm:pt>
    <dgm:pt modelId="{0B2AB804-24AA-4D1E-8D52-B590AEAB3A12}" type="sibTrans" cxnId="{406334B4-3403-42BC-9B24-83A2320ECC55}">
      <dgm:prSet/>
      <dgm:spPr/>
      <dgm:t>
        <a:bodyPr/>
        <a:lstStyle/>
        <a:p>
          <a:endParaRPr lang="en-IN" sz="2400">
            <a:solidFill>
              <a:schemeClr val="tx1"/>
            </a:solidFill>
          </a:endParaRPr>
        </a:p>
      </dgm:t>
    </dgm:pt>
    <dgm:pt modelId="{3C19662A-0D14-4A5F-8BD5-19E184778940}">
      <dgm:prSet custT="1"/>
      <dgm:spPr/>
      <dgm:t>
        <a:bodyPr/>
        <a:lstStyle/>
        <a:p>
          <a:r>
            <a:rPr lang="en-US" sz="2400" dirty="0">
              <a:solidFill>
                <a:schemeClr val="tx1"/>
              </a:solidFill>
            </a:rPr>
            <a:t>7.5%</a:t>
          </a:r>
          <a:endParaRPr lang="en-IN" sz="2400" dirty="0">
            <a:solidFill>
              <a:schemeClr val="tx1"/>
            </a:solidFill>
          </a:endParaRPr>
        </a:p>
      </dgm:t>
    </dgm:pt>
    <dgm:pt modelId="{BF79027A-FDC8-4F61-AAD2-1D826DE9D755}" type="parTrans" cxnId="{938F7B88-7BBE-4564-9F6E-92B60167D643}">
      <dgm:prSet/>
      <dgm:spPr/>
      <dgm:t>
        <a:bodyPr/>
        <a:lstStyle/>
        <a:p>
          <a:endParaRPr lang="en-IN" sz="2400">
            <a:solidFill>
              <a:schemeClr val="tx1"/>
            </a:solidFill>
          </a:endParaRPr>
        </a:p>
      </dgm:t>
    </dgm:pt>
    <dgm:pt modelId="{2C02E3B0-79B4-41CC-BA2A-AE57ED704044}" type="sibTrans" cxnId="{938F7B88-7BBE-4564-9F6E-92B60167D643}">
      <dgm:prSet/>
      <dgm:spPr/>
      <dgm:t>
        <a:bodyPr/>
        <a:lstStyle/>
        <a:p>
          <a:endParaRPr lang="en-IN" sz="2400">
            <a:solidFill>
              <a:schemeClr val="tx1"/>
            </a:solidFill>
          </a:endParaRPr>
        </a:p>
      </dgm:t>
    </dgm:pt>
    <dgm:pt modelId="{D078350C-1309-45A1-A47D-DC1693B22233}">
      <dgm:prSet custT="1"/>
      <dgm:spPr/>
      <dgm:t>
        <a:bodyPr/>
        <a:lstStyle/>
        <a:p>
          <a:r>
            <a:rPr lang="en-US" sz="2400">
              <a:solidFill>
                <a:schemeClr val="tx1"/>
              </a:solidFill>
            </a:rPr>
            <a:t>12%</a:t>
          </a:r>
          <a:endParaRPr lang="en-IN" sz="2400">
            <a:solidFill>
              <a:schemeClr val="tx1"/>
            </a:solidFill>
          </a:endParaRPr>
        </a:p>
      </dgm:t>
    </dgm:pt>
    <dgm:pt modelId="{4B461AE1-21C9-4B88-BD59-5CF3649D350B}" type="parTrans" cxnId="{40228F19-8614-4227-B3D0-0B9D119609B2}">
      <dgm:prSet/>
      <dgm:spPr/>
      <dgm:t>
        <a:bodyPr/>
        <a:lstStyle/>
        <a:p>
          <a:endParaRPr lang="en-IN" sz="2400">
            <a:solidFill>
              <a:schemeClr val="tx1"/>
            </a:solidFill>
          </a:endParaRPr>
        </a:p>
      </dgm:t>
    </dgm:pt>
    <dgm:pt modelId="{7154A01A-ED10-462E-8EE0-1CF4A351A490}" type="sibTrans" cxnId="{40228F19-8614-4227-B3D0-0B9D119609B2}">
      <dgm:prSet/>
      <dgm:spPr/>
      <dgm:t>
        <a:bodyPr/>
        <a:lstStyle/>
        <a:p>
          <a:endParaRPr lang="en-IN" sz="2400">
            <a:solidFill>
              <a:schemeClr val="tx1"/>
            </a:solidFill>
          </a:endParaRPr>
        </a:p>
      </dgm:t>
    </dgm:pt>
    <dgm:pt modelId="{D2D43A2D-A651-4A05-B4AC-8C0069B4E43E}">
      <dgm:prSet custT="1"/>
      <dgm:spPr/>
      <dgm:t>
        <a:bodyPr/>
        <a:lstStyle/>
        <a:p>
          <a:r>
            <a:rPr lang="en-US" sz="2400" dirty="0">
              <a:solidFill>
                <a:schemeClr val="tx1"/>
              </a:solidFill>
            </a:rPr>
            <a:t>18%</a:t>
          </a:r>
          <a:endParaRPr lang="en-IN" sz="2400" dirty="0">
            <a:solidFill>
              <a:schemeClr val="tx1"/>
            </a:solidFill>
          </a:endParaRPr>
        </a:p>
      </dgm:t>
    </dgm:pt>
    <dgm:pt modelId="{8A4B1926-1499-4A43-B491-039775463F00}" type="parTrans" cxnId="{7C0BD8AC-A283-4B0B-9829-1C97C30E6CB8}">
      <dgm:prSet/>
      <dgm:spPr/>
      <dgm:t>
        <a:bodyPr/>
        <a:lstStyle/>
        <a:p>
          <a:endParaRPr lang="en-IN" sz="2400">
            <a:solidFill>
              <a:schemeClr val="tx1"/>
            </a:solidFill>
          </a:endParaRPr>
        </a:p>
      </dgm:t>
    </dgm:pt>
    <dgm:pt modelId="{AD9CC6C3-AFFD-455E-B304-A9DB63B4179C}" type="sibTrans" cxnId="{7C0BD8AC-A283-4B0B-9829-1C97C30E6CB8}">
      <dgm:prSet/>
      <dgm:spPr/>
      <dgm:t>
        <a:bodyPr/>
        <a:lstStyle/>
        <a:p>
          <a:endParaRPr lang="en-IN" sz="2400">
            <a:solidFill>
              <a:schemeClr val="tx1"/>
            </a:solidFill>
          </a:endParaRPr>
        </a:p>
      </dgm:t>
    </dgm:pt>
    <dgm:pt modelId="{2C1B4622-E002-4DBD-AF94-9C14C4AF50CF}">
      <dgm:prSet custT="1"/>
      <dgm:spPr/>
      <dgm:t>
        <a:bodyPr/>
        <a:lstStyle/>
        <a:p>
          <a:r>
            <a:rPr lang="en-US" sz="2400">
              <a:solidFill>
                <a:schemeClr val="tx1"/>
              </a:solidFill>
            </a:rPr>
            <a:t>28%</a:t>
          </a:r>
          <a:endParaRPr lang="en-IN" sz="2400">
            <a:solidFill>
              <a:schemeClr val="tx1"/>
            </a:solidFill>
          </a:endParaRPr>
        </a:p>
      </dgm:t>
    </dgm:pt>
    <dgm:pt modelId="{E5405FBB-D00A-4A83-B613-9843A8B7FD94}" type="parTrans" cxnId="{DCCB53BC-53B8-4C46-BC04-CE28A7DDA4BE}">
      <dgm:prSet/>
      <dgm:spPr/>
      <dgm:t>
        <a:bodyPr/>
        <a:lstStyle/>
        <a:p>
          <a:endParaRPr lang="en-IN" sz="2400">
            <a:solidFill>
              <a:schemeClr val="tx1"/>
            </a:solidFill>
          </a:endParaRPr>
        </a:p>
      </dgm:t>
    </dgm:pt>
    <dgm:pt modelId="{5B1322EC-E03F-459D-921C-E32BB28703E3}" type="sibTrans" cxnId="{DCCB53BC-53B8-4C46-BC04-CE28A7DDA4BE}">
      <dgm:prSet/>
      <dgm:spPr/>
      <dgm:t>
        <a:bodyPr/>
        <a:lstStyle/>
        <a:p>
          <a:endParaRPr lang="en-IN" sz="2400">
            <a:solidFill>
              <a:schemeClr val="tx1"/>
            </a:solidFill>
          </a:endParaRPr>
        </a:p>
      </dgm:t>
    </dgm:pt>
    <dgm:pt modelId="{9ADB1705-F81B-4099-B9FC-76AA8F0F5B96}" type="pres">
      <dgm:prSet presAssocID="{728F06AF-099F-4858-8AB2-202F0104550E}" presName="diagram" presStyleCnt="0">
        <dgm:presLayoutVars>
          <dgm:chPref val="1"/>
          <dgm:dir/>
          <dgm:animOne val="branch"/>
          <dgm:animLvl val="lvl"/>
          <dgm:resizeHandles/>
        </dgm:presLayoutVars>
      </dgm:prSet>
      <dgm:spPr/>
    </dgm:pt>
    <dgm:pt modelId="{BBC1D88B-A091-47FC-A310-B688DB5A60E8}" type="pres">
      <dgm:prSet presAssocID="{32195378-AD66-4F6B-B3FF-4759F40A6CC9}" presName="root" presStyleCnt="0"/>
      <dgm:spPr/>
    </dgm:pt>
    <dgm:pt modelId="{B469916E-49E4-4F71-BA95-C1339FE9D938}" type="pres">
      <dgm:prSet presAssocID="{32195378-AD66-4F6B-B3FF-4759F40A6CC9}" presName="rootComposite" presStyleCnt="0"/>
      <dgm:spPr/>
    </dgm:pt>
    <dgm:pt modelId="{49F6AD7B-7A88-4E72-963B-2463D4FCC26D}" type="pres">
      <dgm:prSet presAssocID="{32195378-AD66-4F6B-B3FF-4759F40A6CC9}" presName="rootText" presStyleLbl="node1" presStyleIdx="0" presStyleCnt="2" custScaleX="385532" custScaleY="266973"/>
      <dgm:spPr/>
    </dgm:pt>
    <dgm:pt modelId="{2F507196-1CDC-4D0C-921C-F34AF6F175CF}" type="pres">
      <dgm:prSet presAssocID="{32195378-AD66-4F6B-B3FF-4759F40A6CC9}" presName="rootConnector" presStyleLbl="node1" presStyleIdx="0" presStyleCnt="2"/>
      <dgm:spPr/>
    </dgm:pt>
    <dgm:pt modelId="{7B925B6B-4AF1-4EE8-9896-772CB12840D7}" type="pres">
      <dgm:prSet presAssocID="{32195378-AD66-4F6B-B3FF-4759F40A6CC9}" presName="childShape" presStyleCnt="0"/>
      <dgm:spPr/>
    </dgm:pt>
    <dgm:pt modelId="{5D382B21-3C6A-41E7-8D26-A9E08CAE16ED}" type="pres">
      <dgm:prSet presAssocID="{2E2FDC1A-947C-4AA9-8EE0-07B5E4503687}" presName="Name13" presStyleLbl="parChTrans1D2" presStyleIdx="0" presStyleCnt="12"/>
      <dgm:spPr/>
    </dgm:pt>
    <dgm:pt modelId="{1C9345C4-6C6D-4F04-9E81-C824DA2E4496}" type="pres">
      <dgm:prSet presAssocID="{20775F24-34D4-4A52-BA10-4EF79455B641}" presName="childText" presStyleLbl="bgAcc1" presStyleIdx="0" presStyleCnt="12" custScaleX="119911">
        <dgm:presLayoutVars>
          <dgm:bulletEnabled val="1"/>
        </dgm:presLayoutVars>
      </dgm:prSet>
      <dgm:spPr/>
    </dgm:pt>
    <dgm:pt modelId="{65DD4893-9805-414F-ABCF-D1B944AE86E3}" type="pres">
      <dgm:prSet presAssocID="{794725C6-64C6-433F-B488-C9C68E2649A3}" presName="Name13" presStyleLbl="parChTrans1D2" presStyleIdx="1" presStyleCnt="12"/>
      <dgm:spPr/>
    </dgm:pt>
    <dgm:pt modelId="{E36A3D97-4623-4CC5-B164-0ADD222A4B67}" type="pres">
      <dgm:prSet presAssocID="{D158D922-51E4-4A5F-AEB6-FAD74B0CA847}" presName="childText" presStyleLbl="bgAcc1" presStyleIdx="1" presStyleCnt="12">
        <dgm:presLayoutVars>
          <dgm:bulletEnabled val="1"/>
        </dgm:presLayoutVars>
      </dgm:prSet>
      <dgm:spPr/>
    </dgm:pt>
    <dgm:pt modelId="{3C09B622-9EDA-4B47-A6D0-A1FD5BA6135A}" type="pres">
      <dgm:prSet presAssocID="{BD30C5BB-1D06-4E3E-85BC-E8955F71674C}" presName="Name13" presStyleLbl="parChTrans1D2" presStyleIdx="2" presStyleCnt="12"/>
      <dgm:spPr/>
    </dgm:pt>
    <dgm:pt modelId="{4E4EC5B2-936F-4DA0-BEC2-76BDE386D400}" type="pres">
      <dgm:prSet presAssocID="{7222F800-9EC9-43D3-82B2-7F8FE9C3CCBC}" presName="childText" presStyleLbl="bgAcc1" presStyleIdx="2" presStyleCnt="12" custScaleX="115562">
        <dgm:presLayoutVars>
          <dgm:bulletEnabled val="1"/>
        </dgm:presLayoutVars>
      </dgm:prSet>
      <dgm:spPr/>
    </dgm:pt>
    <dgm:pt modelId="{D0936368-CD03-4EC3-9A92-65370D0595B0}" type="pres">
      <dgm:prSet presAssocID="{3DFF829B-E900-4A8F-BE94-908A499007F3}" presName="Name13" presStyleLbl="parChTrans1D2" presStyleIdx="3" presStyleCnt="12"/>
      <dgm:spPr/>
    </dgm:pt>
    <dgm:pt modelId="{6586BF32-DDB5-4BAF-8C33-58810CCAA4FD}" type="pres">
      <dgm:prSet presAssocID="{251BE7AA-7443-43E2-A5BB-FA7BBD04E6AB}" presName="childText" presStyleLbl="bgAcc1" presStyleIdx="3" presStyleCnt="12">
        <dgm:presLayoutVars>
          <dgm:bulletEnabled val="1"/>
        </dgm:presLayoutVars>
      </dgm:prSet>
      <dgm:spPr/>
    </dgm:pt>
    <dgm:pt modelId="{E61451C4-35C4-472E-8A28-9048C8D70E37}" type="pres">
      <dgm:prSet presAssocID="{57A92028-B2B4-4E11-ACB1-622308E13EB7}" presName="Name13" presStyleLbl="parChTrans1D2" presStyleIdx="4" presStyleCnt="12"/>
      <dgm:spPr/>
    </dgm:pt>
    <dgm:pt modelId="{DE92B688-900C-4E5C-A11A-FECA0E66E17A}" type="pres">
      <dgm:prSet presAssocID="{F53EE4D9-5802-4A1A-9D77-BB462CB2C057}" presName="childText" presStyleLbl="bgAcc1" presStyleIdx="4" presStyleCnt="12">
        <dgm:presLayoutVars>
          <dgm:bulletEnabled val="1"/>
        </dgm:presLayoutVars>
      </dgm:prSet>
      <dgm:spPr/>
    </dgm:pt>
    <dgm:pt modelId="{AE36FD69-AD16-4A05-8726-152C02B32793}" type="pres">
      <dgm:prSet presAssocID="{E5A300A1-E097-4B20-B29C-64CC1B675C3D}" presName="Name13" presStyleLbl="parChTrans1D2" presStyleIdx="5" presStyleCnt="12"/>
      <dgm:spPr/>
    </dgm:pt>
    <dgm:pt modelId="{200D33FC-95B1-4DFA-B146-7C720D41DBDA}" type="pres">
      <dgm:prSet presAssocID="{0CE7C935-A706-442A-B6CD-9598DB3377F9}" presName="childText" presStyleLbl="bgAcc1" presStyleIdx="5" presStyleCnt="12">
        <dgm:presLayoutVars>
          <dgm:bulletEnabled val="1"/>
        </dgm:presLayoutVars>
      </dgm:prSet>
      <dgm:spPr/>
    </dgm:pt>
    <dgm:pt modelId="{B44B6770-6765-477F-A6FB-EB4CA72157BE}" type="pres">
      <dgm:prSet presAssocID="{EAFB806B-6E4B-43BF-8EE2-7E614D95475D}" presName="root" presStyleCnt="0"/>
      <dgm:spPr/>
    </dgm:pt>
    <dgm:pt modelId="{CBD1CC2E-E909-421E-8C2F-A07244C6AC8B}" type="pres">
      <dgm:prSet presAssocID="{EAFB806B-6E4B-43BF-8EE2-7E614D95475D}" presName="rootComposite" presStyleCnt="0"/>
      <dgm:spPr/>
    </dgm:pt>
    <dgm:pt modelId="{8400AF33-1028-42A0-9303-757481EDB08A}" type="pres">
      <dgm:prSet presAssocID="{EAFB806B-6E4B-43BF-8EE2-7E614D95475D}" presName="rootText" presStyleLbl="node1" presStyleIdx="1" presStyleCnt="2" custScaleX="268502"/>
      <dgm:spPr/>
    </dgm:pt>
    <dgm:pt modelId="{60ADFBBF-3135-4087-8497-A68649D2D6DF}" type="pres">
      <dgm:prSet presAssocID="{EAFB806B-6E4B-43BF-8EE2-7E614D95475D}" presName="rootConnector" presStyleLbl="node1" presStyleIdx="1" presStyleCnt="2"/>
      <dgm:spPr/>
    </dgm:pt>
    <dgm:pt modelId="{97294C4D-7071-43B7-9C7C-8583011D884A}" type="pres">
      <dgm:prSet presAssocID="{EAFB806B-6E4B-43BF-8EE2-7E614D95475D}" presName="childShape" presStyleCnt="0"/>
      <dgm:spPr/>
    </dgm:pt>
    <dgm:pt modelId="{149CF26F-3E43-4B3C-B024-6F3531662D71}" type="pres">
      <dgm:prSet presAssocID="{60934BBF-B2AF-4CA2-B601-6866DB41264C}" presName="Name13" presStyleLbl="parChTrans1D2" presStyleIdx="6" presStyleCnt="12"/>
      <dgm:spPr/>
    </dgm:pt>
    <dgm:pt modelId="{74571199-9456-4C1F-81D1-484ADBB941C9}" type="pres">
      <dgm:prSet presAssocID="{C09A9632-4E93-4A34-8482-3825FD9447DE}" presName="childText" presStyleLbl="bgAcc1" presStyleIdx="6" presStyleCnt="12">
        <dgm:presLayoutVars>
          <dgm:bulletEnabled val="1"/>
        </dgm:presLayoutVars>
      </dgm:prSet>
      <dgm:spPr/>
    </dgm:pt>
    <dgm:pt modelId="{BF0479C1-4D39-4D56-B110-5A13FA98D7B5}" type="pres">
      <dgm:prSet presAssocID="{55742184-5D92-4C15-B486-B36E9197960E}" presName="Name13" presStyleLbl="parChTrans1D2" presStyleIdx="7" presStyleCnt="12"/>
      <dgm:spPr/>
    </dgm:pt>
    <dgm:pt modelId="{2C0ED171-4FDA-4817-9D51-40D9AE9B2DD1}" type="pres">
      <dgm:prSet presAssocID="{0AA0BCF9-6182-4923-866E-326929602AE9}" presName="childText" presStyleLbl="bgAcc1" presStyleIdx="7" presStyleCnt="12">
        <dgm:presLayoutVars>
          <dgm:bulletEnabled val="1"/>
        </dgm:presLayoutVars>
      </dgm:prSet>
      <dgm:spPr/>
    </dgm:pt>
    <dgm:pt modelId="{92226CF5-6F82-46CE-9B7F-A95CCCEF9F6D}" type="pres">
      <dgm:prSet presAssocID="{BF79027A-FDC8-4F61-AAD2-1D826DE9D755}" presName="Name13" presStyleLbl="parChTrans1D2" presStyleIdx="8" presStyleCnt="12"/>
      <dgm:spPr/>
    </dgm:pt>
    <dgm:pt modelId="{9A9C0809-407D-469B-BB35-2A07BE3F9C87}" type="pres">
      <dgm:prSet presAssocID="{3C19662A-0D14-4A5F-8BD5-19E184778940}" presName="childText" presStyleLbl="bgAcc1" presStyleIdx="8" presStyleCnt="12">
        <dgm:presLayoutVars>
          <dgm:bulletEnabled val="1"/>
        </dgm:presLayoutVars>
      </dgm:prSet>
      <dgm:spPr/>
    </dgm:pt>
    <dgm:pt modelId="{CCBD1422-0CBC-41A7-82CC-5F23B4D5C014}" type="pres">
      <dgm:prSet presAssocID="{4B461AE1-21C9-4B88-BD59-5CF3649D350B}" presName="Name13" presStyleLbl="parChTrans1D2" presStyleIdx="9" presStyleCnt="12"/>
      <dgm:spPr/>
    </dgm:pt>
    <dgm:pt modelId="{68ABAC89-7FB8-4ED6-9761-49277141DFC8}" type="pres">
      <dgm:prSet presAssocID="{D078350C-1309-45A1-A47D-DC1693B22233}" presName="childText" presStyleLbl="bgAcc1" presStyleIdx="9" presStyleCnt="12">
        <dgm:presLayoutVars>
          <dgm:bulletEnabled val="1"/>
        </dgm:presLayoutVars>
      </dgm:prSet>
      <dgm:spPr/>
    </dgm:pt>
    <dgm:pt modelId="{110EE10E-7713-4162-AC1B-303C13143118}" type="pres">
      <dgm:prSet presAssocID="{8A4B1926-1499-4A43-B491-039775463F00}" presName="Name13" presStyleLbl="parChTrans1D2" presStyleIdx="10" presStyleCnt="12"/>
      <dgm:spPr/>
    </dgm:pt>
    <dgm:pt modelId="{AD899F19-2D77-4CFA-83BA-37390F20C335}" type="pres">
      <dgm:prSet presAssocID="{D2D43A2D-A651-4A05-B4AC-8C0069B4E43E}" presName="childText" presStyleLbl="bgAcc1" presStyleIdx="10" presStyleCnt="12">
        <dgm:presLayoutVars>
          <dgm:bulletEnabled val="1"/>
        </dgm:presLayoutVars>
      </dgm:prSet>
      <dgm:spPr/>
    </dgm:pt>
    <dgm:pt modelId="{B64178F0-3B5D-41FE-A510-1ADD1201C1C1}" type="pres">
      <dgm:prSet presAssocID="{E5405FBB-D00A-4A83-B613-9843A8B7FD94}" presName="Name13" presStyleLbl="parChTrans1D2" presStyleIdx="11" presStyleCnt="12"/>
      <dgm:spPr/>
    </dgm:pt>
    <dgm:pt modelId="{6BEE2905-B215-4C1F-970F-0209B8D07263}" type="pres">
      <dgm:prSet presAssocID="{2C1B4622-E002-4DBD-AF94-9C14C4AF50CF}" presName="childText" presStyleLbl="bgAcc1" presStyleIdx="11" presStyleCnt="12">
        <dgm:presLayoutVars>
          <dgm:bulletEnabled val="1"/>
        </dgm:presLayoutVars>
      </dgm:prSet>
      <dgm:spPr/>
    </dgm:pt>
  </dgm:ptLst>
  <dgm:cxnLst>
    <dgm:cxn modelId="{CAEA8D08-0681-42A3-AAE5-DC6EBD6F931C}" srcId="{32195378-AD66-4F6B-B3FF-4759F40A6CC9}" destId="{D158D922-51E4-4A5F-AEB6-FAD74B0CA847}" srcOrd="1" destOrd="0" parTransId="{794725C6-64C6-433F-B488-C9C68E2649A3}" sibTransId="{A6C29CC1-AB5A-4EA8-97F9-D0DCA907BEE3}"/>
    <dgm:cxn modelId="{3357E10B-6AFB-47EE-9754-85D6747211D0}" type="presOf" srcId="{D2D43A2D-A651-4A05-B4AC-8C0069B4E43E}" destId="{AD899F19-2D77-4CFA-83BA-37390F20C335}" srcOrd="0" destOrd="0" presId="urn:microsoft.com/office/officeart/2005/8/layout/hierarchy3"/>
    <dgm:cxn modelId="{76A32411-7A3A-48A0-95AA-9217A4EF04D6}" type="presOf" srcId="{57A92028-B2B4-4E11-ACB1-622308E13EB7}" destId="{E61451C4-35C4-472E-8A28-9048C8D70E37}" srcOrd="0" destOrd="0" presId="urn:microsoft.com/office/officeart/2005/8/layout/hierarchy3"/>
    <dgm:cxn modelId="{C337F212-0347-43D9-AE42-6A26C09F6528}" type="presOf" srcId="{D078350C-1309-45A1-A47D-DC1693B22233}" destId="{68ABAC89-7FB8-4ED6-9761-49277141DFC8}" srcOrd="0" destOrd="0" presId="urn:microsoft.com/office/officeart/2005/8/layout/hierarchy3"/>
    <dgm:cxn modelId="{40228F19-8614-4227-B3D0-0B9D119609B2}" srcId="{EAFB806B-6E4B-43BF-8EE2-7E614D95475D}" destId="{D078350C-1309-45A1-A47D-DC1693B22233}" srcOrd="3" destOrd="0" parTransId="{4B461AE1-21C9-4B88-BD59-5CF3649D350B}" sibTransId="{7154A01A-ED10-462E-8EE0-1CF4A351A490}"/>
    <dgm:cxn modelId="{1A1F281C-C55D-406E-B9A8-FC7F44EDEEBB}" type="presOf" srcId="{55742184-5D92-4C15-B486-B36E9197960E}" destId="{BF0479C1-4D39-4D56-B110-5A13FA98D7B5}" srcOrd="0" destOrd="0" presId="urn:microsoft.com/office/officeart/2005/8/layout/hierarchy3"/>
    <dgm:cxn modelId="{5FB1FE1D-FAB0-48C8-88EB-C0C4C144831E}" type="presOf" srcId="{2E2FDC1A-947C-4AA9-8EE0-07B5E4503687}" destId="{5D382B21-3C6A-41E7-8D26-A9E08CAE16ED}" srcOrd="0" destOrd="0" presId="urn:microsoft.com/office/officeart/2005/8/layout/hierarchy3"/>
    <dgm:cxn modelId="{05A30A29-47F9-4FBF-BE92-17E6A4D30EE8}" type="presOf" srcId="{2C1B4622-E002-4DBD-AF94-9C14C4AF50CF}" destId="{6BEE2905-B215-4C1F-970F-0209B8D07263}" srcOrd="0" destOrd="0" presId="urn:microsoft.com/office/officeart/2005/8/layout/hierarchy3"/>
    <dgm:cxn modelId="{12B6782A-40A9-4C7D-B5C0-FCB01066ACB0}" type="presOf" srcId="{8A4B1926-1499-4A43-B491-039775463F00}" destId="{110EE10E-7713-4162-AC1B-303C13143118}" srcOrd="0" destOrd="0" presId="urn:microsoft.com/office/officeart/2005/8/layout/hierarchy3"/>
    <dgm:cxn modelId="{065BAF2A-3D17-49A2-A7B2-D1014B7A6541}" type="presOf" srcId="{251BE7AA-7443-43E2-A5BB-FA7BBD04E6AB}" destId="{6586BF32-DDB5-4BAF-8C33-58810CCAA4FD}" srcOrd="0" destOrd="0" presId="urn:microsoft.com/office/officeart/2005/8/layout/hierarchy3"/>
    <dgm:cxn modelId="{CDDE9E2D-4FC5-43CB-BD20-D9C9A8BBEBF9}" type="presOf" srcId="{E5405FBB-D00A-4A83-B613-9843A8B7FD94}" destId="{B64178F0-3B5D-41FE-A510-1ADD1201C1C1}" srcOrd="0" destOrd="0" presId="urn:microsoft.com/office/officeart/2005/8/layout/hierarchy3"/>
    <dgm:cxn modelId="{5933552E-35F9-41B8-B6E0-B9EB51931A11}" type="presOf" srcId="{0CE7C935-A706-442A-B6CD-9598DB3377F9}" destId="{200D33FC-95B1-4DFA-B146-7C720D41DBDA}" srcOrd="0" destOrd="0" presId="urn:microsoft.com/office/officeart/2005/8/layout/hierarchy3"/>
    <dgm:cxn modelId="{2C341F3F-057B-41CE-A551-74B61EEA4AA2}" type="presOf" srcId="{C09A9632-4E93-4A34-8482-3825FD9447DE}" destId="{74571199-9456-4C1F-81D1-484ADBB941C9}" srcOrd="0" destOrd="0" presId="urn:microsoft.com/office/officeart/2005/8/layout/hierarchy3"/>
    <dgm:cxn modelId="{8F3BFA5D-E4E4-429F-8AAB-35689D3DA19D}" type="presOf" srcId="{E5A300A1-E097-4B20-B29C-64CC1B675C3D}" destId="{AE36FD69-AD16-4A05-8726-152C02B32793}" srcOrd="0" destOrd="0" presId="urn:microsoft.com/office/officeart/2005/8/layout/hierarchy3"/>
    <dgm:cxn modelId="{335F0343-1897-4324-9B6D-42E39377BD29}" srcId="{728F06AF-099F-4858-8AB2-202F0104550E}" destId="{32195378-AD66-4F6B-B3FF-4759F40A6CC9}" srcOrd="0" destOrd="0" parTransId="{A516A837-0540-411C-A1AA-DFC2866E5BFD}" sibTransId="{0409D4E2-D6FA-4416-81BE-7A57BC705677}"/>
    <dgm:cxn modelId="{B518BF65-6ABF-4A17-B515-DD972405206C}" type="presOf" srcId="{BF79027A-FDC8-4F61-AAD2-1D826DE9D755}" destId="{92226CF5-6F82-46CE-9B7F-A95CCCEF9F6D}" srcOrd="0" destOrd="0" presId="urn:microsoft.com/office/officeart/2005/8/layout/hierarchy3"/>
    <dgm:cxn modelId="{D11B2B6B-CC34-449E-B661-E616702A516B}" srcId="{32195378-AD66-4F6B-B3FF-4759F40A6CC9}" destId="{F53EE4D9-5802-4A1A-9D77-BB462CB2C057}" srcOrd="4" destOrd="0" parTransId="{57A92028-B2B4-4E11-ACB1-622308E13EB7}" sibTransId="{E28C2D6F-A3AE-47B1-9FB5-11CCE84802D4}"/>
    <dgm:cxn modelId="{0575CD4B-64B7-45C2-B462-6ED7E4190F2B}" srcId="{32195378-AD66-4F6B-B3FF-4759F40A6CC9}" destId="{251BE7AA-7443-43E2-A5BB-FA7BBD04E6AB}" srcOrd="3" destOrd="0" parTransId="{3DFF829B-E900-4A8F-BE94-908A499007F3}" sibTransId="{76B93E1A-17DA-4914-BE27-85513191C479}"/>
    <dgm:cxn modelId="{8348176F-588A-4158-8FBE-F0EDF680D8A2}" type="presOf" srcId="{20775F24-34D4-4A52-BA10-4EF79455B641}" destId="{1C9345C4-6C6D-4F04-9E81-C824DA2E4496}" srcOrd="0" destOrd="0" presId="urn:microsoft.com/office/officeart/2005/8/layout/hierarchy3"/>
    <dgm:cxn modelId="{6FE6724F-5D8C-441C-8BA8-3E5F3FFEA9D9}" type="presOf" srcId="{32195378-AD66-4F6B-B3FF-4759F40A6CC9}" destId="{2F507196-1CDC-4D0C-921C-F34AF6F175CF}" srcOrd="1" destOrd="0" presId="urn:microsoft.com/office/officeart/2005/8/layout/hierarchy3"/>
    <dgm:cxn modelId="{6E31745A-3056-41F8-BAD2-82282EFD5564}" type="presOf" srcId="{0AA0BCF9-6182-4923-866E-326929602AE9}" destId="{2C0ED171-4FDA-4817-9D51-40D9AE9B2DD1}" srcOrd="0" destOrd="0" presId="urn:microsoft.com/office/officeart/2005/8/layout/hierarchy3"/>
    <dgm:cxn modelId="{ACD51C80-3878-4F3C-90CD-C600D49014EA}" type="presOf" srcId="{D158D922-51E4-4A5F-AEB6-FAD74B0CA847}" destId="{E36A3D97-4623-4CC5-B164-0ADD222A4B67}" srcOrd="0" destOrd="0" presId="urn:microsoft.com/office/officeart/2005/8/layout/hierarchy3"/>
    <dgm:cxn modelId="{45906880-2E2B-4518-A905-22DBA0A56743}" type="presOf" srcId="{728F06AF-099F-4858-8AB2-202F0104550E}" destId="{9ADB1705-F81B-4099-B9FC-76AA8F0F5B96}" srcOrd="0" destOrd="0" presId="urn:microsoft.com/office/officeart/2005/8/layout/hierarchy3"/>
    <dgm:cxn modelId="{938F7B88-7BBE-4564-9F6E-92B60167D643}" srcId="{EAFB806B-6E4B-43BF-8EE2-7E614D95475D}" destId="{3C19662A-0D14-4A5F-8BD5-19E184778940}" srcOrd="2" destOrd="0" parTransId="{BF79027A-FDC8-4F61-AAD2-1D826DE9D755}" sibTransId="{2C02E3B0-79B4-41CC-BA2A-AE57ED704044}"/>
    <dgm:cxn modelId="{886E298C-F204-4839-98A6-D44FA4C0F7C0}" type="presOf" srcId="{BD30C5BB-1D06-4E3E-85BC-E8955F71674C}" destId="{3C09B622-9EDA-4B47-A6D0-A1FD5BA6135A}" srcOrd="0" destOrd="0" presId="urn:microsoft.com/office/officeart/2005/8/layout/hierarchy3"/>
    <dgm:cxn modelId="{0398908C-BFDF-4876-94E6-4859B3C4A19E}" type="presOf" srcId="{7222F800-9EC9-43D3-82B2-7F8FE9C3CCBC}" destId="{4E4EC5B2-936F-4DA0-BEC2-76BDE386D400}" srcOrd="0" destOrd="0" presId="urn:microsoft.com/office/officeart/2005/8/layout/hierarchy3"/>
    <dgm:cxn modelId="{FC7DBA8C-A41F-4C0A-83A3-2DA98EED10B6}" srcId="{32195378-AD66-4F6B-B3FF-4759F40A6CC9}" destId="{7222F800-9EC9-43D3-82B2-7F8FE9C3CCBC}" srcOrd="2" destOrd="0" parTransId="{BD30C5BB-1D06-4E3E-85BC-E8955F71674C}" sibTransId="{2532CD83-ACAE-4C84-AAC9-20525A40B660}"/>
    <dgm:cxn modelId="{C88AE195-59C3-42CC-9D40-9497426D3903}" type="presOf" srcId="{F53EE4D9-5802-4A1A-9D77-BB462CB2C057}" destId="{DE92B688-900C-4E5C-A11A-FECA0E66E17A}" srcOrd="0" destOrd="0" presId="urn:microsoft.com/office/officeart/2005/8/layout/hierarchy3"/>
    <dgm:cxn modelId="{3583549D-E4BF-4EBC-A7A7-A8D103925F2B}" type="presOf" srcId="{794725C6-64C6-433F-B488-C9C68E2649A3}" destId="{65DD4893-9805-414F-ABCF-D1B944AE86E3}" srcOrd="0" destOrd="0" presId="urn:microsoft.com/office/officeart/2005/8/layout/hierarchy3"/>
    <dgm:cxn modelId="{94E75FA0-9BA4-4581-9FCC-DF1BB591A3AF}" srcId="{32195378-AD66-4F6B-B3FF-4759F40A6CC9}" destId="{20775F24-34D4-4A52-BA10-4EF79455B641}" srcOrd="0" destOrd="0" parTransId="{2E2FDC1A-947C-4AA9-8EE0-07B5E4503687}" sibTransId="{66ED6288-51CE-4876-B36D-A81DE64C609C}"/>
    <dgm:cxn modelId="{D071B1A9-92FF-4E13-AFA4-AFF9F3C1848C}" srcId="{728F06AF-099F-4858-8AB2-202F0104550E}" destId="{EAFB806B-6E4B-43BF-8EE2-7E614D95475D}" srcOrd="1" destOrd="0" parTransId="{E254EE89-8322-4BE2-92F4-D85842A8CDCC}" sibTransId="{DF1F0E14-8BC3-42B9-BD35-95CA95078CB8}"/>
    <dgm:cxn modelId="{7C0BD8AC-A283-4B0B-9829-1C97C30E6CB8}" srcId="{EAFB806B-6E4B-43BF-8EE2-7E614D95475D}" destId="{D2D43A2D-A651-4A05-B4AC-8C0069B4E43E}" srcOrd="4" destOrd="0" parTransId="{8A4B1926-1499-4A43-B491-039775463F00}" sibTransId="{AD9CC6C3-AFFD-455E-B304-A9DB63B4179C}"/>
    <dgm:cxn modelId="{6DC712B1-A92E-49D2-85F9-29C53286F597}" type="presOf" srcId="{4B461AE1-21C9-4B88-BD59-5CF3649D350B}" destId="{CCBD1422-0CBC-41A7-82CC-5F23B4D5C014}" srcOrd="0" destOrd="0" presId="urn:microsoft.com/office/officeart/2005/8/layout/hierarchy3"/>
    <dgm:cxn modelId="{E74EBFB2-4E08-4AD9-804E-D25A39816478}" type="presOf" srcId="{EAFB806B-6E4B-43BF-8EE2-7E614D95475D}" destId="{60ADFBBF-3135-4087-8497-A68649D2D6DF}" srcOrd="1" destOrd="0" presId="urn:microsoft.com/office/officeart/2005/8/layout/hierarchy3"/>
    <dgm:cxn modelId="{406334B4-3403-42BC-9B24-83A2320ECC55}" srcId="{EAFB806B-6E4B-43BF-8EE2-7E614D95475D}" destId="{0AA0BCF9-6182-4923-866E-326929602AE9}" srcOrd="1" destOrd="0" parTransId="{55742184-5D92-4C15-B486-B36E9197960E}" sibTransId="{0B2AB804-24AA-4D1E-8D52-B590AEAB3A12}"/>
    <dgm:cxn modelId="{DCCB53BC-53B8-4C46-BC04-CE28A7DDA4BE}" srcId="{EAFB806B-6E4B-43BF-8EE2-7E614D95475D}" destId="{2C1B4622-E002-4DBD-AF94-9C14C4AF50CF}" srcOrd="5" destOrd="0" parTransId="{E5405FBB-D00A-4A83-B613-9843A8B7FD94}" sibTransId="{5B1322EC-E03F-459D-921C-E32BB28703E3}"/>
    <dgm:cxn modelId="{D10617D3-297B-43CE-AC6D-6A3206AEFD9B}" type="presOf" srcId="{EAFB806B-6E4B-43BF-8EE2-7E614D95475D}" destId="{8400AF33-1028-42A0-9303-757481EDB08A}" srcOrd="0" destOrd="0" presId="urn:microsoft.com/office/officeart/2005/8/layout/hierarchy3"/>
    <dgm:cxn modelId="{ADDF4AD4-81A3-4DDD-B5FF-89AB6C01F844}" type="presOf" srcId="{3C19662A-0D14-4A5F-8BD5-19E184778940}" destId="{9A9C0809-407D-469B-BB35-2A07BE3F9C87}" srcOrd="0" destOrd="0" presId="urn:microsoft.com/office/officeart/2005/8/layout/hierarchy3"/>
    <dgm:cxn modelId="{1DB9D0E7-FB47-407B-A0F0-8A983133CC4C}" srcId="{32195378-AD66-4F6B-B3FF-4759F40A6CC9}" destId="{0CE7C935-A706-442A-B6CD-9598DB3377F9}" srcOrd="5" destOrd="0" parTransId="{E5A300A1-E097-4B20-B29C-64CC1B675C3D}" sibTransId="{7D4C75AC-2AC6-40D4-B131-59B32995B503}"/>
    <dgm:cxn modelId="{FF7987F5-945D-493A-8814-23B4851F18A8}" type="presOf" srcId="{3DFF829B-E900-4A8F-BE94-908A499007F3}" destId="{D0936368-CD03-4EC3-9A92-65370D0595B0}" srcOrd="0" destOrd="0" presId="urn:microsoft.com/office/officeart/2005/8/layout/hierarchy3"/>
    <dgm:cxn modelId="{77A585F9-0BA7-4C95-8042-E57DE54A7F45}" type="presOf" srcId="{32195378-AD66-4F6B-B3FF-4759F40A6CC9}" destId="{49F6AD7B-7A88-4E72-963B-2463D4FCC26D}" srcOrd="0" destOrd="0" presId="urn:microsoft.com/office/officeart/2005/8/layout/hierarchy3"/>
    <dgm:cxn modelId="{1AA773FD-07B9-4EC3-BB47-31C31DB4FAEA}" srcId="{EAFB806B-6E4B-43BF-8EE2-7E614D95475D}" destId="{C09A9632-4E93-4A34-8482-3825FD9447DE}" srcOrd="0" destOrd="0" parTransId="{60934BBF-B2AF-4CA2-B601-6866DB41264C}" sibTransId="{4392BC54-75BF-4293-8E2A-D0938DB2A7FC}"/>
    <dgm:cxn modelId="{28F8C0FE-F3AF-446F-BD66-975F12CCCB5F}" type="presOf" srcId="{60934BBF-B2AF-4CA2-B601-6866DB41264C}" destId="{149CF26F-3E43-4B3C-B024-6F3531662D71}" srcOrd="0" destOrd="0" presId="urn:microsoft.com/office/officeart/2005/8/layout/hierarchy3"/>
    <dgm:cxn modelId="{FDDC5FE9-7997-4B9E-9F56-58122BD2CF65}" type="presParOf" srcId="{9ADB1705-F81B-4099-B9FC-76AA8F0F5B96}" destId="{BBC1D88B-A091-47FC-A310-B688DB5A60E8}" srcOrd="0" destOrd="0" presId="urn:microsoft.com/office/officeart/2005/8/layout/hierarchy3"/>
    <dgm:cxn modelId="{D8A51572-5D1A-49F1-92CC-C560437CFB24}" type="presParOf" srcId="{BBC1D88B-A091-47FC-A310-B688DB5A60E8}" destId="{B469916E-49E4-4F71-BA95-C1339FE9D938}" srcOrd="0" destOrd="0" presId="urn:microsoft.com/office/officeart/2005/8/layout/hierarchy3"/>
    <dgm:cxn modelId="{C9F2F036-DC40-4A97-B693-04AB1BB7E93F}" type="presParOf" srcId="{B469916E-49E4-4F71-BA95-C1339FE9D938}" destId="{49F6AD7B-7A88-4E72-963B-2463D4FCC26D}" srcOrd="0" destOrd="0" presId="urn:microsoft.com/office/officeart/2005/8/layout/hierarchy3"/>
    <dgm:cxn modelId="{D06E725C-DD01-40DC-9FB6-0D5AA87AADF8}" type="presParOf" srcId="{B469916E-49E4-4F71-BA95-C1339FE9D938}" destId="{2F507196-1CDC-4D0C-921C-F34AF6F175CF}" srcOrd="1" destOrd="0" presId="urn:microsoft.com/office/officeart/2005/8/layout/hierarchy3"/>
    <dgm:cxn modelId="{BD045035-59F1-4667-865E-DA70C9CA1B8F}" type="presParOf" srcId="{BBC1D88B-A091-47FC-A310-B688DB5A60E8}" destId="{7B925B6B-4AF1-4EE8-9896-772CB12840D7}" srcOrd="1" destOrd="0" presId="urn:microsoft.com/office/officeart/2005/8/layout/hierarchy3"/>
    <dgm:cxn modelId="{AD1BE462-13CA-4A17-97A5-6948B2A82A5E}" type="presParOf" srcId="{7B925B6B-4AF1-4EE8-9896-772CB12840D7}" destId="{5D382B21-3C6A-41E7-8D26-A9E08CAE16ED}" srcOrd="0" destOrd="0" presId="urn:microsoft.com/office/officeart/2005/8/layout/hierarchy3"/>
    <dgm:cxn modelId="{A25A04F6-F846-4FE3-B396-D76BA4209D62}" type="presParOf" srcId="{7B925B6B-4AF1-4EE8-9896-772CB12840D7}" destId="{1C9345C4-6C6D-4F04-9E81-C824DA2E4496}" srcOrd="1" destOrd="0" presId="urn:microsoft.com/office/officeart/2005/8/layout/hierarchy3"/>
    <dgm:cxn modelId="{8FB6BFF6-23C5-4EAA-B9D1-D1E5A3985349}" type="presParOf" srcId="{7B925B6B-4AF1-4EE8-9896-772CB12840D7}" destId="{65DD4893-9805-414F-ABCF-D1B944AE86E3}" srcOrd="2" destOrd="0" presId="urn:microsoft.com/office/officeart/2005/8/layout/hierarchy3"/>
    <dgm:cxn modelId="{B1CAA872-1705-441B-BE47-298471586D51}" type="presParOf" srcId="{7B925B6B-4AF1-4EE8-9896-772CB12840D7}" destId="{E36A3D97-4623-4CC5-B164-0ADD222A4B67}" srcOrd="3" destOrd="0" presId="urn:microsoft.com/office/officeart/2005/8/layout/hierarchy3"/>
    <dgm:cxn modelId="{6DE09372-C0D4-4C44-85CF-337B715F1C07}" type="presParOf" srcId="{7B925B6B-4AF1-4EE8-9896-772CB12840D7}" destId="{3C09B622-9EDA-4B47-A6D0-A1FD5BA6135A}" srcOrd="4" destOrd="0" presId="urn:microsoft.com/office/officeart/2005/8/layout/hierarchy3"/>
    <dgm:cxn modelId="{0D0EF47B-B41B-48A0-B9D0-F205D4B40940}" type="presParOf" srcId="{7B925B6B-4AF1-4EE8-9896-772CB12840D7}" destId="{4E4EC5B2-936F-4DA0-BEC2-76BDE386D400}" srcOrd="5" destOrd="0" presId="urn:microsoft.com/office/officeart/2005/8/layout/hierarchy3"/>
    <dgm:cxn modelId="{B3644FBE-F972-446D-8E4A-A8D9859A49FF}" type="presParOf" srcId="{7B925B6B-4AF1-4EE8-9896-772CB12840D7}" destId="{D0936368-CD03-4EC3-9A92-65370D0595B0}" srcOrd="6" destOrd="0" presId="urn:microsoft.com/office/officeart/2005/8/layout/hierarchy3"/>
    <dgm:cxn modelId="{A84BF168-6683-4D59-BEBD-F6730334AC71}" type="presParOf" srcId="{7B925B6B-4AF1-4EE8-9896-772CB12840D7}" destId="{6586BF32-DDB5-4BAF-8C33-58810CCAA4FD}" srcOrd="7" destOrd="0" presId="urn:microsoft.com/office/officeart/2005/8/layout/hierarchy3"/>
    <dgm:cxn modelId="{E3CEF902-EA8C-4F09-A23D-1339F35B8A5D}" type="presParOf" srcId="{7B925B6B-4AF1-4EE8-9896-772CB12840D7}" destId="{E61451C4-35C4-472E-8A28-9048C8D70E37}" srcOrd="8" destOrd="0" presId="urn:microsoft.com/office/officeart/2005/8/layout/hierarchy3"/>
    <dgm:cxn modelId="{DC750643-9450-41ED-8096-C109511175B4}" type="presParOf" srcId="{7B925B6B-4AF1-4EE8-9896-772CB12840D7}" destId="{DE92B688-900C-4E5C-A11A-FECA0E66E17A}" srcOrd="9" destOrd="0" presId="urn:microsoft.com/office/officeart/2005/8/layout/hierarchy3"/>
    <dgm:cxn modelId="{77995EA4-523E-4FAA-8F75-3B35DE40A0EF}" type="presParOf" srcId="{7B925B6B-4AF1-4EE8-9896-772CB12840D7}" destId="{AE36FD69-AD16-4A05-8726-152C02B32793}" srcOrd="10" destOrd="0" presId="urn:microsoft.com/office/officeart/2005/8/layout/hierarchy3"/>
    <dgm:cxn modelId="{DDBDE830-D931-41A3-B14D-A39A98929F98}" type="presParOf" srcId="{7B925B6B-4AF1-4EE8-9896-772CB12840D7}" destId="{200D33FC-95B1-4DFA-B146-7C720D41DBDA}" srcOrd="11" destOrd="0" presId="urn:microsoft.com/office/officeart/2005/8/layout/hierarchy3"/>
    <dgm:cxn modelId="{E08EDD44-2F71-4E83-A977-E8C44CD5142E}" type="presParOf" srcId="{9ADB1705-F81B-4099-B9FC-76AA8F0F5B96}" destId="{B44B6770-6765-477F-A6FB-EB4CA72157BE}" srcOrd="1" destOrd="0" presId="urn:microsoft.com/office/officeart/2005/8/layout/hierarchy3"/>
    <dgm:cxn modelId="{1CD85844-45C1-4793-B9FE-D15F68179174}" type="presParOf" srcId="{B44B6770-6765-477F-A6FB-EB4CA72157BE}" destId="{CBD1CC2E-E909-421E-8C2F-A07244C6AC8B}" srcOrd="0" destOrd="0" presId="urn:microsoft.com/office/officeart/2005/8/layout/hierarchy3"/>
    <dgm:cxn modelId="{7B17FE93-4049-4715-BA08-B907F067E72E}" type="presParOf" srcId="{CBD1CC2E-E909-421E-8C2F-A07244C6AC8B}" destId="{8400AF33-1028-42A0-9303-757481EDB08A}" srcOrd="0" destOrd="0" presId="urn:microsoft.com/office/officeart/2005/8/layout/hierarchy3"/>
    <dgm:cxn modelId="{4BFBEA26-845F-4884-B132-5568EF672D1A}" type="presParOf" srcId="{CBD1CC2E-E909-421E-8C2F-A07244C6AC8B}" destId="{60ADFBBF-3135-4087-8497-A68649D2D6DF}" srcOrd="1" destOrd="0" presId="urn:microsoft.com/office/officeart/2005/8/layout/hierarchy3"/>
    <dgm:cxn modelId="{1DAC3F76-CAC0-414F-989E-4B4759F5EBA1}" type="presParOf" srcId="{B44B6770-6765-477F-A6FB-EB4CA72157BE}" destId="{97294C4D-7071-43B7-9C7C-8583011D884A}" srcOrd="1" destOrd="0" presId="urn:microsoft.com/office/officeart/2005/8/layout/hierarchy3"/>
    <dgm:cxn modelId="{78A5121A-D624-4094-ABCD-3843AE33D8C7}" type="presParOf" srcId="{97294C4D-7071-43B7-9C7C-8583011D884A}" destId="{149CF26F-3E43-4B3C-B024-6F3531662D71}" srcOrd="0" destOrd="0" presId="urn:microsoft.com/office/officeart/2005/8/layout/hierarchy3"/>
    <dgm:cxn modelId="{290761A0-C55F-44FA-8574-122E7C844039}" type="presParOf" srcId="{97294C4D-7071-43B7-9C7C-8583011D884A}" destId="{74571199-9456-4C1F-81D1-484ADBB941C9}" srcOrd="1" destOrd="0" presId="urn:microsoft.com/office/officeart/2005/8/layout/hierarchy3"/>
    <dgm:cxn modelId="{CA2B2A7E-FD41-434D-8495-3BBAFC122E2C}" type="presParOf" srcId="{97294C4D-7071-43B7-9C7C-8583011D884A}" destId="{BF0479C1-4D39-4D56-B110-5A13FA98D7B5}" srcOrd="2" destOrd="0" presId="urn:microsoft.com/office/officeart/2005/8/layout/hierarchy3"/>
    <dgm:cxn modelId="{CE759AB7-D043-42B6-9FC3-5153153E9830}" type="presParOf" srcId="{97294C4D-7071-43B7-9C7C-8583011D884A}" destId="{2C0ED171-4FDA-4817-9D51-40D9AE9B2DD1}" srcOrd="3" destOrd="0" presId="urn:microsoft.com/office/officeart/2005/8/layout/hierarchy3"/>
    <dgm:cxn modelId="{88AE0936-DFA0-4072-BC22-D87FE464AB0B}" type="presParOf" srcId="{97294C4D-7071-43B7-9C7C-8583011D884A}" destId="{92226CF5-6F82-46CE-9B7F-A95CCCEF9F6D}" srcOrd="4" destOrd="0" presId="urn:microsoft.com/office/officeart/2005/8/layout/hierarchy3"/>
    <dgm:cxn modelId="{9FE52680-1769-412B-8FDF-B830FB0B51BC}" type="presParOf" srcId="{97294C4D-7071-43B7-9C7C-8583011D884A}" destId="{9A9C0809-407D-469B-BB35-2A07BE3F9C87}" srcOrd="5" destOrd="0" presId="urn:microsoft.com/office/officeart/2005/8/layout/hierarchy3"/>
    <dgm:cxn modelId="{78C0B7EA-7852-4036-A4EE-1A6FEFADACAA}" type="presParOf" srcId="{97294C4D-7071-43B7-9C7C-8583011D884A}" destId="{CCBD1422-0CBC-41A7-82CC-5F23B4D5C014}" srcOrd="6" destOrd="0" presId="urn:microsoft.com/office/officeart/2005/8/layout/hierarchy3"/>
    <dgm:cxn modelId="{05B589A4-99C4-4400-BBB7-A96F7923289C}" type="presParOf" srcId="{97294C4D-7071-43B7-9C7C-8583011D884A}" destId="{68ABAC89-7FB8-4ED6-9761-49277141DFC8}" srcOrd="7" destOrd="0" presId="urn:microsoft.com/office/officeart/2005/8/layout/hierarchy3"/>
    <dgm:cxn modelId="{18CD08A0-F275-42FE-A282-CCB03D3E1DAB}" type="presParOf" srcId="{97294C4D-7071-43B7-9C7C-8583011D884A}" destId="{110EE10E-7713-4162-AC1B-303C13143118}" srcOrd="8" destOrd="0" presId="urn:microsoft.com/office/officeart/2005/8/layout/hierarchy3"/>
    <dgm:cxn modelId="{23C1489C-5486-49B3-9F04-98D6A5000FD1}" type="presParOf" srcId="{97294C4D-7071-43B7-9C7C-8583011D884A}" destId="{AD899F19-2D77-4CFA-83BA-37390F20C335}" srcOrd="9" destOrd="0" presId="urn:microsoft.com/office/officeart/2005/8/layout/hierarchy3"/>
    <dgm:cxn modelId="{D7BFC7CA-1D7B-4DCE-9FA4-096E5CF87817}" type="presParOf" srcId="{97294C4D-7071-43B7-9C7C-8583011D884A}" destId="{B64178F0-3B5D-41FE-A510-1ADD1201C1C1}" srcOrd="10" destOrd="0" presId="urn:microsoft.com/office/officeart/2005/8/layout/hierarchy3"/>
    <dgm:cxn modelId="{E57F9CCA-11B7-4845-9EDA-A290C7C1C886}" type="presParOf" srcId="{97294C4D-7071-43B7-9C7C-8583011D884A}" destId="{6BEE2905-B215-4C1F-970F-0209B8D07263}" srcOrd="1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88E549E-7C53-4188-BAA9-C75AD6FB4D14}" type="doc">
      <dgm:prSet loTypeId="urn:microsoft.com/office/officeart/2005/8/layout/arrow6" loCatId="relationship" qsTypeId="urn:microsoft.com/office/officeart/2005/8/quickstyle/simple1" qsCatId="simple" csTypeId="urn:microsoft.com/office/officeart/2005/8/colors/accent0_3" csCatId="mainScheme"/>
      <dgm:spPr/>
      <dgm:t>
        <a:bodyPr/>
        <a:lstStyle/>
        <a:p>
          <a:endParaRPr lang="en-US"/>
        </a:p>
      </dgm:t>
    </dgm:pt>
    <dgm:pt modelId="{0C29D45B-0141-4FC3-AA95-21D77E180344}">
      <dgm:prSet custT="1"/>
      <dgm:spPr/>
      <dgm:t>
        <a:bodyPr/>
        <a:lstStyle/>
        <a:p>
          <a:r>
            <a:rPr lang="en-US" sz="2800" dirty="0"/>
            <a:t>Composition levy</a:t>
          </a:r>
        </a:p>
      </dgm:t>
    </dgm:pt>
    <dgm:pt modelId="{F56671F3-EB72-45FB-9C82-8F00E0A21C3C}" type="parTrans" cxnId="{ACA5BD6C-7440-4732-8C7F-97863B98A6E0}">
      <dgm:prSet/>
      <dgm:spPr/>
      <dgm:t>
        <a:bodyPr/>
        <a:lstStyle/>
        <a:p>
          <a:endParaRPr lang="en-US" sz="2800"/>
        </a:p>
      </dgm:t>
    </dgm:pt>
    <dgm:pt modelId="{29EBE46B-F122-4BE6-80A4-A05864F08265}" type="sibTrans" cxnId="{ACA5BD6C-7440-4732-8C7F-97863B98A6E0}">
      <dgm:prSet/>
      <dgm:spPr/>
      <dgm:t>
        <a:bodyPr/>
        <a:lstStyle/>
        <a:p>
          <a:endParaRPr lang="en-US" sz="2800"/>
        </a:p>
      </dgm:t>
    </dgm:pt>
    <dgm:pt modelId="{D0B9BE7E-4FE9-495D-9BF8-86288DB631F7}">
      <dgm:prSet custT="1"/>
      <dgm:spPr/>
      <dgm:t>
        <a:bodyPr/>
        <a:lstStyle/>
        <a:p>
          <a:r>
            <a:rPr lang="en-US" sz="2800"/>
            <a:t>An option for specified categories of small taxpayers to pay GST at a very low rate on the basis of turnover.</a:t>
          </a:r>
        </a:p>
      </dgm:t>
    </dgm:pt>
    <dgm:pt modelId="{1B92A07E-EB95-42BC-B74F-DE809326591D}" type="parTrans" cxnId="{AF8652ED-2C06-470D-B1D6-BAB4B4B40D60}">
      <dgm:prSet/>
      <dgm:spPr/>
      <dgm:t>
        <a:bodyPr/>
        <a:lstStyle/>
        <a:p>
          <a:endParaRPr lang="en-US" sz="2800"/>
        </a:p>
      </dgm:t>
    </dgm:pt>
    <dgm:pt modelId="{1771795A-90C4-4C29-8634-A403736BC20B}" type="sibTrans" cxnId="{AF8652ED-2C06-470D-B1D6-BAB4B4B40D60}">
      <dgm:prSet/>
      <dgm:spPr/>
      <dgm:t>
        <a:bodyPr/>
        <a:lstStyle/>
        <a:p>
          <a:endParaRPr lang="en-US" sz="2800"/>
        </a:p>
      </dgm:t>
    </dgm:pt>
    <dgm:pt modelId="{D5482BC8-824A-41CD-A60D-2F1FA497E0A3}">
      <dgm:prSet/>
      <dgm:spPr/>
      <dgm:t>
        <a:bodyPr/>
        <a:lstStyle/>
        <a:p>
          <a:endParaRPr lang="en-US" sz="2800"/>
        </a:p>
      </dgm:t>
    </dgm:pt>
    <dgm:pt modelId="{4ADBB8B3-B672-4923-A075-2934A617B29D}" type="parTrans" cxnId="{FEFBD927-4CF4-4039-A422-C96B2AA1E1FC}">
      <dgm:prSet/>
      <dgm:spPr/>
      <dgm:t>
        <a:bodyPr/>
        <a:lstStyle/>
        <a:p>
          <a:endParaRPr lang="en-US" sz="2800"/>
        </a:p>
      </dgm:t>
    </dgm:pt>
    <dgm:pt modelId="{02AD0971-79F8-437B-9DF9-6E9925279690}" type="sibTrans" cxnId="{FEFBD927-4CF4-4039-A422-C96B2AA1E1FC}">
      <dgm:prSet/>
      <dgm:spPr/>
      <dgm:t>
        <a:bodyPr/>
        <a:lstStyle/>
        <a:p>
          <a:endParaRPr lang="en-US" sz="2800"/>
        </a:p>
      </dgm:t>
    </dgm:pt>
    <dgm:pt modelId="{D6633E3F-CCDD-40BE-8A6D-8310589F9CE3}" type="pres">
      <dgm:prSet presAssocID="{188E549E-7C53-4188-BAA9-C75AD6FB4D14}" presName="compositeShape" presStyleCnt="0">
        <dgm:presLayoutVars>
          <dgm:chMax val="2"/>
          <dgm:dir/>
          <dgm:resizeHandles val="exact"/>
        </dgm:presLayoutVars>
      </dgm:prSet>
      <dgm:spPr/>
    </dgm:pt>
    <dgm:pt modelId="{A84AC666-68F7-4405-919D-A621E9083654}" type="pres">
      <dgm:prSet presAssocID="{188E549E-7C53-4188-BAA9-C75AD6FB4D14}" presName="ribbon" presStyleLbl="node1" presStyleIdx="0" presStyleCnt="1"/>
      <dgm:spPr/>
    </dgm:pt>
    <dgm:pt modelId="{34B63B91-4581-478B-A55D-C198E025692A}" type="pres">
      <dgm:prSet presAssocID="{188E549E-7C53-4188-BAA9-C75AD6FB4D14}" presName="leftArrowText" presStyleLbl="node1" presStyleIdx="0" presStyleCnt="1">
        <dgm:presLayoutVars>
          <dgm:chMax val="0"/>
          <dgm:bulletEnabled val="1"/>
        </dgm:presLayoutVars>
      </dgm:prSet>
      <dgm:spPr/>
    </dgm:pt>
    <dgm:pt modelId="{048EF303-60E1-4D27-A079-0509CBA9840E}" type="pres">
      <dgm:prSet presAssocID="{188E549E-7C53-4188-BAA9-C75AD6FB4D14}" presName="rightArrowText" presStyleLbl="node1" presStyleIdx="0" presStyleCnt="1">
        <dgm:presLayoutVars>
          <dgm:chMax val="0"/>
          <dgm:bulletEnabled val="1"/>
        </dgm:presLayoutVars>
      </dgm:prSet>
      <dgm:spPr/>
    </dgm:pt>
  </dgm:ptLst>
  <dgm:cxnLst>
    <dgm:cxn modelId="{FEFBD927-4CF4-4039-A422-C96B2AA1E1FC}" srcId="{188E549E-7C53-4188-BAA9-C75AD6FB4D14}" destId="{D5482BC8-824A-41CD-A60D-2F1FA497E0A3}" srcOrd="2" destOrd="0" parTransId="{4ADBB8B3-B672-4923-A075-2934A617B29D}" sibTransId="{02AD0971-79F8-437B-9DF9-6E9925279690}"/>
    <dgm:cxn modelId="{ACA5BD6C-7440-4732-8C7F-97863B98A6E0}" srcId="{188E549E-7C53-4188-BAA9-C75AD6FB4D14}" destId="{0C29D45B-0141-4FC3-AA95-21D77E180344}" srcOrd="0" destOrd="0" parTransId="{F56671F3-EB72-45FB-9C82-8F00E0A21C3C}" sibTransId="{29EBE46B-F122-4BE6-80A4-A05864F08265}"/>
    <dgm:cxn modelId="{C55A9EBA-E814-4042-81CD-E764B5CEF18D}" type="presOf" srcId="{0C29D45B-0141-4FC3-AA95-21D77E180344}" destId="{34B63B91-4581-478B-A55D-C198E025692A}" srcOrd="0" destOrd="0" presId="urn:microsoft.com/office/officeart/2005/8/layout/arrow6"/>
    <dgm:cxn modelId="{B35B3ADA-205A-4CC0-B707-DE1554702AD4}" type="presOf" srcId="{D0B9BE7E-4FE9-495D-9BF8-86288DB631F7}" destId="{048EF303-60E1-4D27-A079-0509CBA9840E}" srcOrd="0" destOrd="0" presId="urn:microsoft.com/office/officeart/2005/8/layout/arrow6"/>
    <dgm:cxn modelId="{140663E9-2ADA-4300-9F5A-89DE0CF8DB2E}" type="presOf" srcId="{188E549E-7C53-4188-BAA9-C75AD6FB4D14}" destId="{D6633E3F-CCDD-40BE-8A6D-8310589F9CE3}" srcOrd="0" destOrd="0" presId="urn:microsoft.com/office/officeart/2005/8/layout/arrow6"/>
    <dgm:cxn modelId="{AF8652ED-2C06-470D-B1D6-BAB4B4B40D60}" srcId="{188E549E-7C53-4188-BAA9-C75AD6FB4D14}" destId="{D0B9BE7E-4FE9-495D-9BF8-86288DB631F7}" srcOrd="1" destOrd="0" parTransId="{1B92A07E-EB95-42BC-B74F-DE809326591D}" sibTransId="{1771795A-90C4-4C29-8634-A403736BC20B}"/>
    <dgm:cxn modelId="{FB11AC48-2AE0-4B7B-92DC-03B1A07E8480}" type="presParOf" srcId="{D6633E3F-CCDD-40BE-8A6D-8310589F9CE3}" destId="{A84AC666-68F7-4405-919D-A621E9083654}" srcOrd="0" destOrd="0" presId="urn:microsoft.com/office/officeart/2005/8/layout/arrow6"/>
    <dgm:cxn modelId="{F9AA1E6D-AD58-44F7-9172-AE3F52D85D24}" type="presParOf" srcId="{D6633E3F-CCDD-40BE-8A6D-8310589F9CE3}" destId="{34B63B91-4581-478B-A55D-C198E025692A}" srcOrd="1" destOrd="0" presId="urn:microsoft.com/office/officeart/2005/8/layout/arrow6"/>
    <dgm:cxn modelId="{D7A5E7A5-55AA-4E38-9416-DEA51139DAF3}" type="presParOf" srcId="{D6633E3F-CCDD-40BE-8A6D-8310589F9CE3}" destId="{048EF303-60E1-4D27-A079-0509CBA9840E}"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8784A7F-62D3-4307-B2DC-3CFE3D608B42}"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281074E2-DDB1-472D-97B1-D12E73C96CFD}">
      <dgm:prSet custT="1"/>
      <dgm:spPr/>
      <dgm:t>
        <a:bodyPr/>
        <a:lstStyle/>
        <a:p>
          <a:r>
            <a:rPr lang="en-US" sz="4400" b="1"/>
            <a:t>Advantages</a:t>
          </a:r>
          <a:endParaRPr lang="en-US" sz="4400"/>
        </a:p>
      </dgm:t>
    </dgm:pt>
    <dgm:pt modelId="{7F1517AA-D9DB-4A1F-8F64-EA6DB896B050}" type="parTrans" cxnId="{FE7A274D-DA94-402F-9125-0D6073A97882}">
      <dgm:prSet/>
      <dgm:spPr/>
      <dgm:t>
        <a:bodyPr/>
        <a:lstStyle/>
        <a:p>
          <a:endParaRPr lang="en-US" sz="4400"/>
        </a:p>
      </dgm:t>
    </dgm:pt>
    <dgm:pt modelId="{1EC8FC34-AFA2-4A92-9DD9-97DCE56DBA0E}" type="sibTrans" cxnId="{FE7A274D-DA94-402F-9125-0D6073A97882}">
      <dgm:prSet/>
      <dgm:spPr/>
      <dgm:t>
        <a:bodyPr/>
        <a:lstStyle/>
        <a:p>
          <a:endParaRPr lang="en-US" sz="4400"/>
        </a:p>
      </dgm:t>
    </dgm:pt>
    <dgm:pt modelId="{FF15F557-680B-4FEC-A1DF-86981BC6A3A6}">
      <dgm:prSet custT="1"/>
      <dgm:spPr/>
      <dgm:t>
        <a:bodyPr/>
        <a:lstStyle/>
        <a:p>
          <a:r>
            <a:rPr lang="en-US" sz="4400"/>
            <a:t>Low rates of tax </a:t>
          </a:r>
        </a:p>
      </dgm:t>
    </dgm:pt>
    <dgm:pt modelId="{2A30AD61-366A-49EC-BE7F-9E48146DE660}" type="parTrans" cxnId="{25E50FB8-6027-4F9A-9B9A-0BD137440641}">
      <dgm:prSet/>
      <dgm:spPr/>
      <dgm:t>
        <a:bodyPr/>
        <a:lstStyle/>
        <a:p>
          <a:endParaRPr lang="en-US" sz="4400"/>
        </a:p>
      </dgm:t>
    </dgm:pt>
    <dgm:pt modelId="{A8EB63AE-B8CA-4185-8A76-6B04A0B8DC05}" type="sibTrans" cxnId="{25E50FB8-6027-4F9A-9B9A-0BD137440641}">
      <dgm:prSet/>
      <dgm:spPr/>
      <dgm:t>
        <a:bodyPr/>
        <a:lstStyle/>
        <a:p>
          <a:endParaRPr lang="en-US" sz="4400"/>
        </a:p>
      </dgm:t>
    </dgm:pt>
    <dgm:pt modelId="{141255FD-FCB4-49B7-92FD-EF6F468E9FB4}">
      <dgm:prSet custT="1"/>
      <dgm:spPr/>
      <dgm:t>
        <a:bodyPr/>
        <a:lstStyle/>
        <a:p>
          <a:r>
            <a:rPr lang="en-US" sz="4400"/>
            <a:t>Hassel free simple procedures for such taxpayers</a:t>
          </a:r>
        </a:p>
      </dgm:t>
    </dgm:pt>
    <dgm:pt modelId="{7902EBD7-7A38-4511-A127-97D5A29CC45C}" type="parTrans" cxnId="{B39DC045-4C30-4A12-8207-A0511E51B59D}">
      <dgm:prSet/>
      <dgm:spPr/>
      <dgm:t>
        <a:bodyPr/>
        <a:lstStyle/>
        <a:p>
          <a:endParaRPr lang="en-US" sz="4400"/>
        </a:p>
      </dgm:t>
    </dgm:pt>
    <dgm:pt modelId="{6434EDDD-D144-47F2-9353-E5A28D8E2887}" type="sibTrans" cxnId="{B39DC045-4C30-4A12-8207-A0511E51B59D}">
      <dgm:prSet/>
      <dgm:spPr/>
      <dgm:t>
        <a:bodyPr/>
        <a:lstStyle/>
        <a:p>
          <a:endParaRPr lang="en-US" sz="4400"/>
        </a:p>
      </dgm:t>
    </dgm:pt>
    <dgm:pt modelId="{6784AF04-701F-4176-8E51-40C79B94F2DC}">
      <dgm:prSet custT="1"/>
      <dgm:spPr/>
      <dgm:t>
        <a:bodyPr/>
        <a:lstStyle/>
        <a:p>
          <a:r>
            <a:rPr lang="en-US" sz="4400"/>
            <a:t>Simple calculation of tax based on turnover </a:t>
          </a:r>
        </a:p>
      </dgm:t>
    </dgm:pt>
    <dgm:pt modelId="{84CB8D54-D719-4BE3-B791-EDFFA84305A0}" type="parTrans" cxnId="{A4B3CA5B-4C2B-4D01-856F-8527E05B1DEE}">
      <dgm:prSet/>
      <dgm:spPr/>
      <dgm:t>
        <a:bodyPr/>
        <a:lstStyle/>
        <a:p>
          <a:endParaRPr lang="en-US" sz="4400"/>
        </a:p>
      </dgm:t>
    </dgm:pt>
    <dgm:pt modelId="{154D5EAA-1F95-40CC-A1B5-9C86CDE7D6B5}" type="sibTrans" cxnId="{A4B3CA5B-4C2B-4D01-856F-8527E05B1DEE}">
      <dgm:prSet/>
      <dgm:spPr/>
      <dgm:t>
        <a:bodyPr/>
        <a:lstStyle/>
        <a:p>
          <a:endParaRPr lang="en-US" sz="4400"/>
        </a:p>
      </dgm:t>
    </dgm:pt>
    <dgm:pt modelId="{6606A04B-A475-46B8-84D7-B4F55E273147}">
      <dgm:prSet custT="1"/>
      <dgm:spPr/>
      <dgm:t>
        <a:bodyPr/>
        <a:lstStyle/>
        <a:p>
          <a:r>
            <a:rPr lang="en-US" sz="4400"/>
            <a:t>A very simple annual return</a:t>
          </a:r>
        </a:p>
      </dgm:t>
    </dgm:pt>
    <dgm:pt modelId="{707A8AC8-ACC4-4ED6-B062-73A00ED0B3AC}" type="parTrans" cxnId="{943E0F17-F12B-4ECD-BB44-007CB0E454C1}">
      <dgm:prSet/>
      <dgm:spPr/>
      <dgm:t>
        <a:bodyPr/>
        <a:lstStyle/>
        <a:p>
          <a:endParaRPr lang="en-US" sz="4400"/>
        </a:p>
      </dgm:t>
    </dgm:pt>
    <dgm:pt modelId="{4070B9B8-9EBA-4AB7-82CD-2FEDEC95F7E4}" type="sibTrans" cxnId="{943E0F17-F12B-4ECD-BB44-007CB0E454C1}">
      <dgm:prSet/>
      <dgm:spPr/>
      <dgm:t>
        <a:bodyPr/>
        <a:lstStyle/>
        <a:p>
          <a:endParaRPr lang="en-US" sz="4400"/>
        </a:p>
      </dgm:t>
    </dgm:pt>
    <dgm:pt modelId="{BEED874C-05B7-4CAB-8292-86FB5EB592F1}" type="pres">
      <dgm:prSet presAssocID="{48784A7F-62D3-4307-B2DC-3CFE3D608B42}" presName="linear" presStyleCnt="0">
        <dgm:presLayoutVars>
          <dgm:animLvl val="lvl"/>
          <dgm:resizeHandles val="exact"/>
        </dgm:presLayoutVars>
      </dgm:prSet>
      <dgm:spPr/>
    </dgm:pt>
    <dgm:pt modelId="{2B34A2C7-BC96-4255-A38A-5EA36E794A7E}" type="pres">
      <dgm:prSet presAssocID="{281074E2-DDB1-472D-97B1-D12E73C96CFD}" presName="parentText" presStyleLbl="node1" presStyleIdx="0" presStyleCnt="1">
        <dgm:presLayoutVars>
          <dgm:chMax val="0"/>
          <dgm:bulletEnabled val="1"/>
        </dgm:presLayoutVars>
      </dgm:prSet>
      <dgm:spPr/>
    </dgm:pt>
    <dgm:pt modelId="{E5741DD4-7AC3-4FDE-A42F-5451242BC886}" type="pres">
      <dgm:prSet presAssocID="{281074E2-DDB1-472D-97B1-D12E73C96CFD}" presName="childText" presStyleLbl="revTx" presStyleIdx="0" presStyleCnt="1">
        <dgm:presLayoutVars>
          <dgm:bulletEnabled val="1"/>
        </dgm:presLayoutVars>
      </dgm:prSet>
      <dgm:spPr/>
    </dgm:pt>
  </dgm:ptLst>
  <dgm:cxnLst>
    <dgm:cxn modelId="{6631EE06-81AD-4C23-A2EE-D916827D200E}" type="presOf" srcId="{141255FD-FCB4-49B7-92FD-EF6F468E9FB4}" destId="{E5741DD4-7AC3-4FDE-A42F-5451242BC886}" srcOrd="0" destOrd="1" presId="urn:microsoft.com/office/officeart/2005/8/layout/vList2"/>
    <dgm:cxn modelId="{943E0F17-F12B-4ECD-BB44-007CB0E454C1}" srcId="{281074E2-DDB1-472D-97B1-D12E73C96CFD}" destId="{6606A04B-A475-46B8-84D7-B4F55E273147}" srcOrd="3" destOrd="0" parTransId="{707A8AC8-ACC4-4ED6-B062-73A00ED0B3AC}" sibTransId="{4070B9B8-9EBA-4AB7-82CD-2FEDEC95F7E4}"/>
    <dgm:cxn modelId="{3043D22C-B3BF-4671-9C49-81B2D70DA4E8}" type="presOf" srcId="{6784AF04-701F-4176-8E51-40C79B94F2DC}" destId="{E5741DD4-7AC3-4FDE-A42F-5451242BC886}" srcOrd="0" destOrd="2" presId="urn:microsoft.com/office/officeart/2005/8/layout/vList2"/>
    <dgm:cxn modelId="{A4B3CA5B-4C2B-4D01-856F-8527E05B1DEE}" srcId="{281074E2-DDB1-472D-97B1-D12E73C96CFD}" destId="{6784AF04-701F-4176-8E51-40C79B94F2DC}" srcOrd="2" destOrd="0" parTransId="{84CB8D54-D719-4BE3-B791-EDFFA84305A0}" sibTransId="{154D5EAA-1F95-40CC-A1B5-9C86CDE7D6B5}"/>
    <dgm:cxn modelId="{B39DC045-4C30-4A12-8207-A0511E51B59D}" srcId="{281074E2-DDB1-472D-97B1-D12E73C96CFD}" destId="{141255FD-FCB4-49B7-92FD-EF6F468E9FB4}" srcOrd="1" destOrd="0" parTransId="{7902EBD7-7A38-4511-A127-97D5A29CC45C}" sibTransId="{6434EDDD-D144-47F2-9353-E5A28D8E2887}"/>
    <dgm:cxn modelId="{AAA9ED46-6567-46A4-A392-F28D786C40D6}" type="presOf" srcId="{281074E2-DDB1-472D-97B1-D12E73C96CFD}" destId="{2B34A2C7-BC96-4255-A38A-5EA36E794A7E}" srcOrd="0" destOrd="0" presId="urn:microsoft.com/office/officeart/2005/8/layout/vList2"/>
    <dgm:cxn modelId="{FE7A274D-DA94-402F-9125-0D6073A97882}" srcId="{48784A7F-62D3-4307-B2DC-3CFE3D608B42}" destId="{281074E2-DDB1-472D-97B1-D12E73C96CFD}" srcOrd="0" destOrd="0" parTransId="{7F1517AA-D9DB-4A1F-8F64-EA6DB896B050}" sibTransId="{1EC8FC34-AFA2-4A92-9DD9-97DCE56DBA0E}"/>
    <dgm:cxn modelId="{FC01434D-E8D4-480E-BFDC-E7DD5473F12E}" type="presOf" srcId="{6606A04B-A475-46B8-84D7-B4F55E273147}" destId="{E5741DD4-7AC3-4FDE-A42F-5451242BC886}" srcOrd="0" destOrd="3" presId="urn:microsoft.com/office/officeart/2005/8/layout/vList2"/>
    <dgm:cxn modelId="{0E54F37C-BBFD-45BF-AA5F-4FE84FB74251}" type="presOf" srcId="{48784A7F-62D3-4307-B2DC-3CFE3D608B42}" destId="{BEED874C-05B7-4CAB-8292-86FB5EB592F1}" srcOrd="0" destOrd="0" presId="urn:microsoft.com/office/officeart/2005/8/layout/vList2"/>
    <dgm:cxn modelId="{25E50FB8-6027-4F9A-9B9A-0BD137440641}" srcId="{281074E2-DDB1-472D-97B1-D12E73C96CFD}" destId="{FF15F557-680B-4FEC-A1DF-86981BC6A3A6}" srcOrd="0" destOrd="0" parTransId="{2A30AD61-366A-49EC-BE7F-9E48146DE660}" sibTransId="{A8EB63AE-B8CA-4185-8A76-6B04A0B8DC05}"/>
    <dgm:cxn modelId="{553F97ED-0B65-4294-AE13-6C83170D337E}" type="presOf" srcId="{FF15F557-680B-4FEC-A1DF-86981BC6A3A6}" destId="{E5741DD4-7AC3-4FDE-A42F-5451242BC886}" srcOrd="0" destOrd="0" presId="urn:microsoft.com/office/officeart/2005/8/layout/vList2"/>
    <dgm:cxn modelId="{E56AD100-C767-492B-AC8A-57632E35A90B}" type="presParOf" srcId="{BEED874C-05B7-4CAB-8292-86FB5EB592F1}" destId="{2B34A2C7-BC96-4255-A38A-5EA36E794A7E}" srcOrd="0" destOrd="0" presId="urn:microsoft.com/office/officeart/2005/8/layout/vList2"/>
    <dgm:cxn modelId="{C9766501-E2AF-4D22-9A7D-74901A0D499B}" type="presParOf" srcId="{BEED874C-05B7-4CAB-8292-86FB5EB592F1}" destId="{E5741DD4-7AC3-4FDE-A42F-5451242BC88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ECB3A2A-6C84-4F05-A4F2-693972BE1A8C}" type="doc">
      <dgm:prSet loTypeId="urn:microsoft.com/office/officeart/2005/8/layout/vList2" loCatId="list" qsTypeId="urn:microsoft.com/office/officeart/2005/8/quickstyle/simple1" qsCatId="simple" csTypeId="urn:microsoft.com/office/officeart/2005/8/colors/accent2_4" csCatId="accent2"/>
      <dgm:spPr/>
      <dgm:t>
        <a:bodyPr/>
        <a:lstStyle/>
        <a:p>
          <a:endParaRPr lang="en-US"/>
        </a:p>
      </dgm:t>
    </dgm:pt>
    <dgm:pt modelId="{7D9711A8-50B3-4738-86B1-17A0CEDDB6D2}">
      <dgm:prSet/>
      <dgm:spPr/>
      <dgm:t>
        <a:bodyPr/>
        <a:lstStyle/>
        <a:p>
          <a:r>
            <a:rPr lang="en-US" dirty="0"/>
            <a:t>For Special Category States except Assam, Himachal Pradesh and J&amp;K</a:t>
          </a:r>
        </a:p>
      </dgm:t>
    </dgm:pt>
    <dgm:pt modelId="{7CCBD283-B82D-47E7-8567-01800176CB20}" type="parTrans" cxnId="{783473C7-292E-4A75-8A3A-F049242E90D5}">
      <dgm:prSet/>
      <dgm:spPr/>
      <dgm:t>
        <a:bodyPr/>
        <a:lstStyle/>
        <a:p>
          <a:endParaRPr lang="en-US"/>
        </a:p>
      </dgm:t>
    </dgm:pt>
    <dgm:pt modelId="{C887E7D7-532D-4477-AFFE-FDA62FF1B9DD}" type="sibTrans" cxnId="{783473C7-292E-4A75-8A3A-F049242E90D5}">
      <dgm:prSet/>
      <dgm:spPr/>
      <dgm:t>
        <a:bodyPr/>
        <a:lstStyle/>
        <a:p>
          <a:endParaRPr lang="en-US"/>
        </a:p>
      </dgm:t>
    </dgm:pt>
    <dgm:pt modelId="{291B2CA8-85F1-40DF-B930-C29F5BA7BBDF}">
      <dgm:prSet/>
      <dgm:spPr/>
      <dgm:t>
        <a:bodyPr/>
        <a:lstStyle/>
        <a:p>
          <a:r>
            <a:rPr lang="en-US" dirty="0"/>
            <a:t>Rs. 75 lakh</a:t>
          </a:r>
        </a:p>
      </dgm:t>
    </dgm:pt>
    <dgm:pt modelId="{172C128E-DA76-4CD9-80E2-77E826223734}" type="parTrans" cxnId="{182451F3-1A13-44AA-8FB6-50A518B1B586}">
      <dgm:prSet/>
      <dgm:spPr/>
      <dgm:t>
        <a:bodyPr/>
        <a:lstStyle/>
        <a:p>
          <a:endParaRPr lang="en-US"/>
        </a:p>
      </dgm:t>
    </dgm:pt>
    <dgm:pt modelId="{96DA3B7B-4F56-4872-90AD-BE822C26DD48}" type="sibTrans" cxnId="{182451F3-1A13-44AA-8FB6-50A518B1B586}">
      <dgm:prSet/>
      <dgm:spPr/>
      <dgm:t>
        <a:bodyPr/>
        <a:lstStyle/>
        <a:p>
          <a:endParaRPr lang="en-US"/>
        </a:p>
      </dgm:t>
    </dgm:pt>
    <dgm:pt modelId="{EC67472E-5A7D-4947-AD0B-9E0E66786BCF}">
      <dgm:prSet/>
      <dgm:spPr/>
      <dgm:t>
        <a:bodyPr/>
        <a:lstStyle/>
        <a:p>
          <a:r>
            <a:rPr lang="en-US"/>
            <a:t>For remaining States</a:t>
          </a:r>
        </a:p>
      </dgm:t>
    </dgm:pt>
    <dgm:pt modelId="{D810D2D9-F0F1-4BC3-ADBD-D718EA03C288}" type="parTrans" cxnId="{255FEAE0-20A8-4F13-8BA3-0FD5600C8375}">
      <dgm:prSet/>
      <dgm:spPr/>
      <dgm:t>
        <a:bodyPr/>
        <a:lstStyle/>
        <a:p>
          <a:endParaRPr lang="en-US"/>
        </a:p>
      </dgm:t>
    </dgm:pt>
    <dgm:pt modelId="{38D1668A-8788-4B00-9F15-52BC7938F9F0}" type="sibTrans" cxnId="{255FEAE0-20A8-4F13-8BA3-0FD5600C8375}">
      <dgm:prSet/>
      <dgm:spPr/>
      <dgm:t>
        <a:bodyPr/>
        <a:lstStyle/>
        <a:p>
          <a:endParaRPr lang="en-US"/>
        </a:p>
      </dgm:t>
    </dgm:pt>
    <dgm:pt modelId="{9F0E3C23-068A-4164-8374-9CFDA0BF9EE6}">
      <dgm:prSet/>
      <dgm:spPr/>
      <dgm:t>
        <a:bodyPr/>
        <a:lstStyle/>
        <a:p>
          <a:r>
            <a:rPr lang="en-US"/>
            <a:t>Rs.1.5 crore</a:t>
          </a:r>
        </a:p>
      </dgm:t>
    </dgm:pt>
    <dgm:pt modelId="{06988D20-82A5-4FA4-B744-4CEECEC8E978}" type="parTrans" cxnId="{C4C0D48E-1EB8-4069-A452-F4BA8B087E41}">
      <dgm:prSet/>
      <dgm:spPr/>
      <dgm:t>
        <a:bodyPr/>
        <a:lstStyle/>
        <a:p>
          <a:endParaRPr lang="en-US"/>
        </a:p>
      </dgm:t>
    </dgm:pt>
    <dgm:pt modelId="{B921EE21-B041-4636-BB7D-CF990A62DD7F}" type="sibTrans" cxnId="{C4C0D48E-1EB8-4069-A452-F4BA8B087E41}">
      <dgm:prSet/>
      <dgm:spPr/>
      <dgm:t>
        <a:bodyPr/>
        <a:lstStyle/>
        <a:p>
          <a:endParaRPr lang="en-US"/>
        </a:p>
      </dgm:t>
    </dgm:pt>
    <dgm:pt modelId="{97A175D8-A22B-474C-A924-438055B38192}">
      <dgm:prSet/>
      <dgm:spPr/>
      <dgm:t>
        <a:bodyPr/>
        <a:lstStyle/>
        <a:p>
          <a:r>
            <a:rPr lang="en-US"/>
            <a:t>Turnover year for composition levy under section 10(2A)</a:t>
          </a:r>
        </a:p>
      </dgm:t>
    </dgm:pt>
    <dgm:pt modelId="{58113192-FFB7-437F-B81B-8CCA9EBE7CD7}" type="parTrans" cxnId="{FEF7F534-42E1-4D56-BB81-DD73CDF364C9}">
      <dgm:prSet/>
      <dgm:spPr/>
      <dgm:t>
        <a:bodyPr/>
        <a:lstStyle/>
        <a:p>
          <a:endParaRPr lang="en-US"/>
        </a:p>
      </dgm:t>
    </dgm:pt>
    <dgm:pt modelId="{26941540-A501-4DAA-8839-C6F857B1FEB9}" type="sibTrans" cxnId="{FEF7F534-42E1-4D56-BB81-DD73CDF364C9}">
      <dgm:prSet/>
      <dgm:spPr/>
      <dgm:t>
        <a:bodyPr/>
        <a:lstStyle/>
        <a:p>
          <a:endParaRPr lang="en-US"/>
        </a:p>
      </dgm:t>
    </dgm:pt>
    <dgm:pt modelId="{97EE74E2-9F51-42D6-9838-FD5057DB3338}">
      <dgm:prSet/>
      <dgm:spPr/>
      <dgm:t>
        <a:bodyPr/>
        <a:lstStyle/>
        <a:p>
          <a:r>
            <a:rPr lang="en-US"/>
            <a:t>Rs. 50 lakh in preceding financial Turnover year</a:t>
          </a:r>
        </a:p>
      </dgm:t>
    </dgm:pt>
    <dgm:pt modelId="{42FF2130-7960-418E-86A1-FE6A2D8B1225}" type="parTrans" cxnId="{C6261844-96B1-43C2-9577-965895AE4272}">
      <dgm:prSet/>
      <dgm:spPr/>
      <dgm:t>
        <a:bodyPr/>
        <a:lstStyle/>
        <a:p>
          <a:endParaRPr lang="en-US"/>
        </a:p>
      </dgm:t>
    </dgm:pt>
    <dgm:pt modelId="{4C049670-0AD1-4191-8F19-1438D7958B99}" type="sibTrans" cxnId="{C6261844-96B1-43C2-9577-965895AE4272}">
      <dgm:prSet/>
      <dgm:spPr/>
      <dgm:t>
        <a:bodyPr/>
        <a:lstStyle/>
        <a:p>
          <a:endParaRPr lang="en-US"/>
        </a:p>
      </dgm:t>
    </dgm:pt>
    <dgm:pt modelId="{35FD280E-0FB0-45BD-9FB5-E763DD62B2E1}" type="pres">
      <dgm:prSet presAssocID="{CECB3A2A-6C84-4F05-A4F2-693972BE1A8C}" presName="linear" presStyleCnt="0">
        <dgm:presLayoutVars>
          <dgm:animLvl val="lvl"/>
          <dgm:resizeHandles val="exact"/>
        </dgm:presLayoutVars>
      </dgm:prSet>
      <dgm:spPr/>
    </dgm:pt>
    <dgm:pt modelId="{8677DD17-1CB1-4609-84AC-1510B12C9EF9}" type="pres">
      <dgm:prSet presAssocID="{7D9711A8-50B3-4738-86B1-17A0CEDDB6D2}" presName="parentText" presStyleLbl="node1" presStyleIdx="0" presStyleCnt="3">
        <dgm:presLayoutVars>
          <dgm:chMax val="0"/>
          <dgm:bulletEnabled val="1"/>
        </dgm:presLayoutVars>
      </dgm:prSet>
      <dgm:spPr/>
    </dgm:pt>
    <dgm:pt modelId="{DDA67D4B-01F1-4166-AB59-CA1D4A06BE18}" type="pres">
      <dgm:prSet presAssocID="{7D9711A8-50B3-4738-86B1-17A0CEDDB6D2}" presName="childText" presStyleLbl="revTx" presStyleIdx="0" presStyleCnt="3">
        <dgm:presLayoutVars>
          <dgm:bulletEnabled val="1"/>
        </dgm:presLayoutVars>
      </dgm:prSet>
      <dgm:spPr/>
    </dgm:pt>
    <dgm:pt modelId="{DDF80236-63BE-44FA-BCED-BF04603E1496}" type="pres">
      <dgm:prSet presAssocID="{EC67472E-5A7D-4947-AD0B-9E0E66786BCF}" presName="parentText" presStyleLbl="node1" presStyleIdx="1" presStyleCnt="3">
        <dgm:presLayoutVars>
          <dgm:chMax val="0"/>
          <dgm:bulletEnabled val="1"/>
        </dgm:presLayoutVars>
      </dgm:prSet>
      <dgm:spPr/>
    </dgm:pt>
    <dgm:pt modelId="{91281BD6-177D-4978-96C9-3F7A263E4EDD}" type="pres">
      <dgm:prSet presAssocID="{EC67472E-5A7D-4947-AD0B-9E0E66786BCF}" presName="childText" presStyleLbl="revTx" presStyleIdx="1" presStyleCnt="3">
        <dgm:presLayoutVars>
          <dgm:bulletEnabled val="1"/>
        </dgm:presLayoutVars>
      </dgm:prSet>
      <dgm:spPr/>
    </dgm:pt>
    <dgm:pt modelId="{AE540F08-AA18-40AA-AA1F-B097BF4CE92D}" type="pres">
      <dgm:prSet presAssocID="{97A175D8-A22B-474C-A924-438055B38192}" presName="parentText" presStyleLbl="node1" presStyleIdx="2" presStyleCnt="3">
        <dgm:presLayoutVars>
          <dgm:chMax val="0"/>
          <dgm:bulletEnabled val="1"/>
        </dgm:presLayoutVars>
      </dgm:prSet>
      <dgm:spPr/>
    </dgm:pt>
    <dgm:pt modelId="{88436519-D8D5-416A-9809-DA07F4867790}" type="pres">
      <dgm:prSet presAssocID="{97A175D8-A22B-474C-A924-438055B38192}" presName="childText" presStyleLbl="revTx" presStyleIdx="2" presStyleCnt="3">
        <dgm:presLayoutVars>
          <dgm:bulletEnabled val="1"/>
        </dgm:presLayoutVars>
      </dgm:prSet>
      <dgm:spPr/>
    </dgm:pt>
  </dgm:ptLst>
  <dgm:cxnLst>
    <dgm:cxn modelId="{F28BBF0C-1AD7-41CD-AF5E-B898DB6E7A59}" type="presOf" srcId="{9F0E3C23-068A-4164-8374-9CFDA0BF9EE6}" destId="{91281BD6-177D-4978-96C9-3F7A263E4EDD}" srcOrd="0" destOrd="0" presId="urn:microsoft.com/office/officeart/2005/8/layout/vList2"/>
    <dgm:cxn modelId="{FEF7F534-42E1-4D56-BB81-DD73CDF364C9}" srcId="{CECB3A2A-6C84-4F05-A4F2-693972BE1A8C}" destId="{97A175D8-A22B-474C-A924-438055B38192}" srcOrd="2" destOrd="0" parTransId="{58113192-FFB7-437F-B81B-8CCA9EBE7CD7}" sibTransId="{26941540-A501-4DAA-8839-C6F857B1FEB9}"/>
    <dgm:cxn modelId="{C2A14F3F-51A9-4329-8A0D-632E9CB0545E}" type="presOf" srcId="{CECB3A2A-6C84-4F05-A4F2-693972BE1A8C}" destId="{35FD280E-0FB0-45BD-9FB5-E763DD62B2E1}" srcOrd="0" destOrd="0" presId="urn:microsoft.com/office/officeart/2005/8/layout/vList2"/>
    <dgm:cxn modelId="{C6261844-96B1-43C2-9577-965895AE4272}" srcId="{97A175D8-A22B-474C-A924-438055B38192}" destId="{97EE74E2-9F51-42D6-9838-FD5057DB3338}" srcOrd="0" destOrd="0" parTransId="{42FF2130-7960-418E-86A1-FE6A2D8B1225}" sibTransId="{4C049670-0AD1-4191-8F19-1438D7958B99}"/>
    <dgm:cxn modelId="{C4C0D48E-1EB8-4069-A452-F4BA8B087E41}" srcId="{EC67472E-5A7D-4947-AD0B-9E0E66786BCF}" destId="{9F0E3C23-068A-4164-8374-9CFDA0BF9EE6}" srcOrd="0" destOrd="0" parTransId="{06988D20-82A5-4FA4-B744-4CEECEC8E978}" sibTransId="{B921EE21-B041-4636-BB7D-CF990A62DD7F}"/>
    <dgm:cxn modelId="{C8DE9A90-F2D2-4A65-889B-2367968BC26A}" type="presOf" srcId="{7D9711A8-50B3-4738-86B1-17A0CEDDB6D2}" destId="{8677DD17-1CB1-4609-84AC-1510B12C9EF9}" srcOrd="0" destOrd="0" presId="urn:microsoft.com/office/officeart/2005/8/layout/vList2"/>
    <dgm:cxn modelId="{44F859AF-ED80-40E6-94D9-B3CD7C6A7ED9}" type="presOf" srcId="{97A175D8-A22B-474C-A924-438055B38192}" destId="{AE540F08-AA18-40AA-AA1F-B097BF4CE92D}" srcOrd="0" destOrd="0" presId="urn:microsoft.com/office/officeart/2005/8/layout/vList2"/>
    <dgm:cxn modelId="{783473C7-292E-4A75-8A3A-F049242E90D5}" srcId="{CECB3A2A-6C84-4F05-A4F2-693972BE1A8C}" destId="{7D9711A8-50B3-4738-86B1-17A0CEDDB6D2}" srcOrd="0" destOrd="0" parTransId="{7CCBD283-B82D-47E7-8567-01800176CB20}" sibTransId="{C887E7D7-532D-4477-AFFE-FDA62FF1B9DD}"/>
    <dgm:cxn modelId="{255FEAE0-20A8-4F13-8BA3-0FD5600C8375}" srcId="{CECB3A2A-6C84-4F05-A4F2-693972BE1A8C}" destId="{EC67472E-5A7D-4947-AD0B-9E0E66786BCF}" srcOrd="1" destOrd="0" parTransId="{D810D2D9-F0F1-4BC3-ADBD-D718EA03C288}" sibTransId="{38D1668A-8788-4B00-9F15-52BC7938F9F0}"/>
    <dgm:cxn modelId="{9BD026EB-0265-48A6-8915-3E5996C94225}" type="presOf" srcId="{291B2CA8-85F1-40DF-B930-C29F5BA7BBDF}" destId="{DDA67D4B-01F1-4166-AB59-CA1D4A06BE18}" srcOrd="0" destOrd="0" presId="urn:microsoft.com/office/officeart/2005/8/layout/vList2"/>
    <dgm:cxn modelId="{B0AB3DEE-0CFE-477F-8986-21DDE00619AE}" type="presOf" srcId="{97EE74E2-9F51-42D6-9838-FD5057DB3338}" destId="{88436519-D8D5-416A-9809-DA07F4867790}" srcOrd="0" destOrd="0" presId="urn:microsoft.com/office/officeart/2005/8/layout/vList2"/>
    <dgm:cxn modelId="{182451F3-1A13-44AA-8FB6-50A518B1B586}" srcId="{7D9711A8-50B3-4738-86B1-17A0CEDDB6D2}" destId="{291B2CA8-85F1-40DF-B930-C29F5BA7BBDF}" srcOrd="0" destOrd="0" parTransId="{172C128E-DA76-4CD9-80E2-77E826223734}" sibTransId="{96DA3B7B-4F56-4872-90AD-BE822C26DD48}"/>
    <dgm:cxn modelId="{C0B0C6F8-016F-4C0E-BBE9-90EA4579D5B2}" type="presOf" srcId="{EC67472E-5A7D-4947-AD0B-9E0E66786BCF}" destId="{DDF80236-63BE-44FA-BCED-BF04603E1496}" srcOrd="0" destOrd="0" presId="urn:microsoft.com/office/officeart/2005/8/layout/vList2"/>
    <dgm:cxn modelId="{5A64EE3F-82E5-4253-BA48-7F153886A017}" type="presParOf" srcId="{35FD280E-0FB0-45BD-9FB5-E763DD62B2E1}" destId="{8677DD17-1CB1-4609-84AC-1510B12C9EF9}" srcOrd="0" destOrd="0" presId="urn:microsoft.com/office/officeart/2005/8/layout/vList2"/>
    <dgm:cxn modelId="{B3906CD2-F7D3-4BBE-BBCB-D2AFDBC149C4}" type="presParOf" srcId="{35FD280E-0FB0-45BD-9FB5-E763DD62B2E1}" destId="{DDA67D4B-01F1-4166-AB59-CA1D4A06BE18}" srcOrd="1" destOrd="0" presId="urn:microsoft.com/office/officeart/2005/8/layout/vList2"/>
    <dgm:cxn modelId="{38C24277-5578-44E9-B1C9-B78911D49C7B}" type="presParOf" srcId="{35FD280E-0FB0-45BD-9FB5-E763DD62B2E1}" destId="{DDF80236-63BE-44FA-BCED-BF04603E1496}" srcOrd="2" destOrd="0" presId="urn:microsoft.com/office/officeart/2005/8/layout/vList2"/>
    <dgm:cxn modelId="{001E3886-74CC-4FF1-BC97-DCAAC01EAECD}" type="presParOf" srcId="{35FD280E-0FB0-45BD-9FB5-E763DD62B2E1}" destId="{91281BD6-177D-4978-96C9-3F7A263E4EDD}" srcOrd="3" destOrd="0" presId="urn:microsoft.com/office/officeart/2005/8/layout/vList2"/>
    <dgm:cxn modelId="{876E5A1E-DE54-4E91-8F1E-78E147519819}" type="presParOf" srcId="{35FD280E-0FB0-45BD-9FB5-E763DD62B2E1}" destId="{AE540F08-AA18-40AA-AA1F-B097BF4CE92D}" srcOrd="4" destOrd="0" presId="urn:microsoft.com/office/officeart/2005/8/layout/vList2"/>
    <dgm:cxn modelId="{A442D0B9-E821-49DB-8BE7-5E7F20BCF5B4}" type="presParOf" srcId="{35FD280E-0FB0-45BD-9FB5-E763DD62B2E1}" destId="{88436519-D8D5-416A-9809-DA07F486779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4519D3D-A488-4187-A212-DD1D7D9AE1E0}" type="doc">
      <dgm:prSet loTypeId="urn:microsoft.com/office/officeart/2005/8/layout/process4" loCatId="process" qsTypeId="urn:microsoft.com/office/officeart/2005/8/quickstyle/simple1" qsCatId="simple" csTypeId="urn:microsoft.com/office/officeart/2005/8/colors/accent0_3" csCatId="mainScheme"/>
      <dgm:spPr/>
      <dgm:t>
        <a:bodyPr/>
        <a:lstStyle/>
        <a:p>
          <a:endParaRPr lang="en-US"/>
        </a:p>
      </dgm:t>
    </dgm:pt>
    <dgm:pt modelId="{0EC343AB-E315-4263-84E1-BE479F077A4E}">
      <dgm:prSet/>
      <dgm:spPr/>
      <dgm:t>
        <a:bodyPr/>
        <a:lstStyle/>
        <a:p>
          <a:r>
            <a:rPr lang="en-US"/>
            <a:t>Person opting for composition: </a:t>
          </a:r>
        </a:p>
      </dgm:t>
    </dgm:pt>
    <dgm:pt modelId="{0DA90836-D7FB-4800-9599-43F74E9126C1}" type="parTrans" cxnId="{2944EA4D-B880-43B4-B0E0-0BE28DF82351}">
      <dgm:prSet/>
      <dgm:spPr/>
      <dgm:t>
        <a:bodyPr/>
        <a:lstStyle/>
        <a:p>
          <a:endParaRPr lang="en-US"/>
        </a:p>
      </dgm:t>
    </dgm:pt>
    <dgm:pt modelId="{21C1617C-224B-47A3-B65A-9FED060635FB}" type="sibTrans" cxnId="{2944EA4D-B880-43B4-B0E0-0BE28DF82351}">
      <dgm:prSet/>
      <dgm:spPr/>
      <dgm:t>
        <a:bodyPr/>
        <a:lstStyle/>
        <a:p>
          <a:endParaRPr lang="en-US"/>
        </a:p>
      </dgm:t>
    </dgm:pt>
    <dgm:pt modelId="{08067BF3-2EF1-419D-89BE-C8339D16B288}">
      <dgm:prSet/>
      <dgm:spPr/>
      <dgm:t>
        <a:bodyPr/>
        <a:lstStyle/>
        <a:p>
          <a:r>
            <a:rPr lang="en-US"/>
            <a:t>is neither a casual taxable person nor a non-resident taxable person </a:t>
          </a:r>
        </a:p>
      </dgm:t>
    </dgm:pt>
    <dgm:pt modelId="{143CDD36-382D-4C58-AD44-9C68F6C433B4}" type="parTrans" cxnId="{0AEB772F-308C-4EC7-BA42-3DE03F4ADECF}">
      <dgm:prSet/>
      <dgm:spPr/>
      <dgm:t>
        <a:bodyPr/>
        <a:lstStyle/>
        <a:p>
          <a:endParaRPr lang="en-US"/>
        </a:p>
      </dgm:t>
    </dgm:pt>
    <dgm:pt modelId="{908F33A0-EF2D-48C7-8F65-5057AF21AE51}" type="sibTrans" cxnId="{0AEB772F-308C-4EC7-BA42-3DE03F4ADECF}">
      <dgm:prSet/>
      <dgm:spPr/>
      <dgm:t>
        <a:bodyPr/>
        <a:lstStyle/>
        <a:p>
          <a:endParaRPr lang="en-US"/>
        </a:p>
      </dgm:t>
    </dgm:pt>
    <dgm:pt modelId="{B7F74D9F-F9F0-44F2-B5B2-50FA8E50635D}">
      <dgm:prSet/>
      <dgm:spPr/>
      <dgm:t>
        <a:bodyPr/>
        <a:lstStyle/>
        <a:p>
          <a:r>
            <a:rPr lang="en-US"/>
            <a:t>shall pay tax under section 9(3)/9(4) on inward supply </a:t>
          </a:r>
        </a:p>
      </dgm:t>
    </dgm:pt>
    <dgm:pt modelId="{1D607618-0647-466E-AA0B-687B38FBA79E}" type="parTrans" cxnId="{6CDBA6C0-8C4E-49E0-B93E-237197712409}">
      <dgm:prSet/>
      <dgm:spPr/>
      <dgm:t>
        <a:bodyPr/>
        <a:lstStyle/>
        <a:p>
          <a:endParaRPr lang="en-US"/>
        </a:p>
      </dgm:t>
    </dgm:pt>
    <dgm:pt modelId="{4F4F7284-E27A-4DB0-ADFE-6C62D88D67C1}" type="sibTrans" cxnId="{6CDBA6C0-8C4E-49E0-B93E-237197712409}">
      <dgm:prSet/>
      <dgm:spPr/>
      <dgm:t>
        <a:bodyPr/>
        <a:lstStyle/>
        <a:p>
          <a:endParaRPr lang="en-US"/>
        </a:p>
      </dgm:t>
    </dgm:pt>
    <dgm:pt modelId="{8CC0E14D-13F7-455B-8E20-D7E384EE6380}">
      <dgm:prSet/>
      <dgm:spPr/>
      <dgm:t>
        <a:bodyPr/>
        <a:lstStyle/>
        <a:p>
          <a:r>
            <a:rPr lang="en-US"/>
            <a:t>is not engaged in the manufacture of notified goods or notified services</a:t>
          </a:r>
        </a:p>
      </dgm:t>
    </dgm:pt>
    <dgm:pt modelId="{33425B09-749E-4DE5-A9F5-4DB133CBD514}" type="parTrans" cxnId="{2D02CF24-FA22-495F-A123-C1AF38FD08CC}">
      <dgm:prSet/>
      <dgm:spPr/>
      <dgm:t>
        <a:bodyPr/>
        <a:lstStyle/>
        <a:p>
          <a:endParaRPr lang="en-US"/>
        </a:p>
      </dgm:t>
    </dgm:pt>
    <dgm:pt modelId="{AECAF929-3317-4EDC-80D2-7B0CC3B9FE9C}" type="sibTrans" cxnId="{2D02CF24-FA22-495F-A123-C1AF38FD08CC}">
      <dgm:prSet/>
      <dgm:spPr/>
      <dgm:t>
        <a:bodyPr/>
        <a:lstStyle/>
        <a:p>
          <a:endParaRPr lang="en-US"/>
        </a:p>
      </dgm:t>
    </dgm:pt>
    <dgm:pt modelId="{086A48BF-5B9F-4FA9-AB45-78E331F2522C}">
      <dgm:prSet/>
      <dgm:spPr/>
      <dgm:t>
        <a:bodyPr/>
        <a:lstStyle/>
        <a:p>
          <a:r>
            <a:rPr lang="en-US"/>
            <a:t>shall mention the words “composition taxable person, not eligible to collect tax on supplies” at the top of the bill of supply issued by him </a:t>
          </a:r>
        </a:p>
      </dgm:t>
    </dgm:pt>
    <dgm:pt modelId="{7432477A-2715-46E5-8EF2-B28FB8A411AC}" type="parTrans" cxnId="{895BF4F6-156D-4569-887F-BDD45ED1BD32}">
      <dgm:prSet/>
      <dgm:spPr/>
      <dgm:t>
        <a:bodyPr/>
        <a:lstStyle/>
        <a:p>
          <a:endParaRPr lang="en-US"/>
        </a:p>
      </dgm:t>
    </dgm:pt>
    <dgm:pt modelId="{7D274DDE-2DFC-4170-A65A-5F33D909D578}" type="sibTrans" cxnId="{895BF4F6-156D-4569-887F-BDD45ED1BD32}">
      <dgm:prSet/>
      <dgm:spPr/>
      <dgm:t>
        <a:bodyPr/>
        <a:lstStyle/>
        <a:p>
          <a:endParaRPr lang="en-US"/>
        </a:p>
      </dgm:t>
    </dgm:pt>
    <dgm:pt modelId="{1DDF31E5-42C1-428E-9848-50B7616AD111}">
      <dgm:prSet/>
      <dgm:spPr/>
      <dgm:t>
        <a:bodyPr/>
        <a:lstStyle/>
        <a:p>
          <a:r>
            <a:rPr lang="en-US"/>
            <a:t>shall mention the words “composition taxable person” at a prominent place at his place of business</a:t>
          </a:r>
        </a:p>
      </dgm:t>
    </dgm:pt>
    <dgm:pt modelId="{08818409-57AD-48CE-8D77-7DBB84CF5116}" type="parTrans" cxnId="{AAAC5D32-A2B1-429D-9D80-D503BB81F91B}">
      <dgm:prSet/>
      <dgm:spPr/>
      <dgm:t>
        <a:bodyPr/>
        <a:lstStyle/>
        <a:p>
          <a:endParaRPr lang="en-US"/>
        </a:p>
      </dgm:t>
    </dgm:pt>
    <dgm:pt modelId="{5507ECD4-77A5-45E3-BC8F-4C083D4A0CE2}" type="sibTrans" cxnId="{AAAC5D32-A2B1-429D-9D80-D503BB81F91B}">
      <dgm:prSet/>
      <dgm:spPr/>
      <dgm:t>
        <a:bodyPr/>
        <a:lstStyle/>
        <a:p>
          <a:endParaRPr lang="en-US"/>
        </a:p>
      </dgm:t>
    </dgm:pt>
    <dgm:pt modelId="{60DF1231-DBA8-4D48-9E86-F9762CF0057B}" type="pres">
      <dgm:prSet presAssocID="{84519D3D-A488-4187-A212-DD1D7D9AE1E0}" presName="Name0" presStyleCnt="0">
        <dgm:presLayoutVars>
          <dgm:dir/>
          <dgm:animLvl val="lvl"/>
          <dgm:resizeHandles val="exact"/>
        </dgm:presLayoutVars>
      </dgm:prSet>
      <dgm:spPr/>
    </dgm:pt>
    <dgm:pt modelId="{5AC42A34-772B-492B-9D50-546700363064}" type="pres">
      <dgm:prSet presAssocID="{0EC343AB-E315-4263-84E1-BE479F077A4E}" presName="boxAndChildren" presStyleCnt="0"/>
      <dgm:spPr/>
    </dgm:pt>
    <dgm:pt modelId="{FB4C4986-7E14-41B2-A8E3-CE3F880DACEE}" type="pres">
      <dgm:prSet presAssocID="{0EC343AB-E315-4263-84E1-BE479F077A4E}" presName="parentTextBox" presStyleLbl="node1" presStyleIdx="0" presStyleCnt="1"/>
      <dgm:spPr/>
    </dgm:pt>
    <dgm:pt modelId="{B8CFE6D2-BBC2-4359-9B37-0D1B3E29A1D9}" type="pres">
      <dgm:prSet presAssocID="{0EC343AB-E315-4263-84E1-BE479F077A4E}" presName="entireBox" presStyleLbl="node1" presStyleIdx="0" presStyleCnt="1"/>
      <dgm:spPr/>
    </dgm:pt>
    <dgm:pt modelId="{64E693F3-9344-479C-965B-F0A7493B4A70}" type="pres">
      <dgm:prSet presAssocID="{0EC343AB-E315-4263-84E1-BE479F077A4E}" presName="descendantBox" presStyleCnt="0"/>
      <dgm:spPr/>
    </dgm:pt>
    <dgm:pt modelId="{61FF9862-7576-416A-8438-EF028527CA84}" type="pres">
      <dgm:prSet presAssocID="{08067BF3-2EF1-419D-89BE-C8339D16B288}" presName="childTextBox" presStyleLbl="fgAccFollowNode1" presStyleIdx="0" presStyleCnt="5">
        <dgm:presLayoutVars>
          <dgm:bulletEnabled val="1"/>
        </dgm:presLayoutVars>
      </dgm:prSet>
      <dgm:spPr/>
    </dgm:pt>
    <dgm:pt modelId="{6F3F7A45-BF47-4528-95B3-FF819F264D1B}" type="pres">
      <dgm:prSet presAssocID="{B7F74D9F-F9F0-44F2-B5B2-50FA8E50635D}" presName="childTextBox" presStyleLbl="fgAccFollowNode1" presStyleIdx="1" presStyleCnt="5">
        <dgm:presLayoutVars>
          <dgm:bulletEnabled val="1"/>
        </dgm:presLayoutVars>
      </dgm:prSet>
      <dgm:spPr/>
    </dgm:pt>
    <dgm:pt modelId="{4D099550-A362-4875-A834-BCB191F25CF2}" type="pres">
      <dgm:prSet presAssocID="{8CC0E14D-13F7-455B-8E20-D7E384EE6380}" presName="childTextBox" presStyleLbl="fgAccFollowNode1" presStyleIdx="2" presStyleCnt="5">
        <dgm:presLayoutVars>
          <dgm:bulletEnabled val="1"/>
        </dgm:presLayoutVars>
      </dgm:prSet>
      <dgm:spPr/>
    </dgm:pt>
    <dgm:pt modelId="{8B160390-CBAE-4523-BCCE-7D0EF3B33DD1}" type="pres">
      <dgm:prSet presAssocID="{086A48BF-5B9F-4FA9-AB45-78E331F2522C}" presName="childTextBox" presStyleLbl="fgAccFollowNode1" presStyleIdx="3" presStyleCnt="5">
        <dgm:presLayoutVars>
          <dgm:bulletEnabled val="1"/>
        </dgm:presLayoutVars>
      </dgm:prSet>
      <dgm:spPr/>
    </dgm:pt>
    <dgm:pt modelId="{940D1792-6630-43CE-9402-6898BB40D3C1}" type="pres">
      <dgm:prSet presAssocID="{1DDF31E5-42C1-428E-9848-50B7616AD111}" presName="childTextBox" presStyleLbl="fgAccFollowNode1" presStyleIdx="4" presStyleCnt="5">
        <dgm:presLayoutVars>
          <dgm:bulletEnabled val="1"/>
        </dgm:presLayoutVars>
      </dgm:prSet>
      <dgm:spPr/>
    </dgm:pt>
  </dgm:ptLst>
  <dgm:cxnLst>
    <dgm:cxn modelId="{D4CD5000-3758-4CB8-B7B3-951FD0952C4F}" type="presOf" srcId="{84519D3D-A488-4187-A212-DD1D7D9AE1E0}" destId="{60DF1231-DBA8-4D48-9E86-F9762CF0057B}" srcOrd="0" destOrd="0" presId="urn:microsoft.com/office/officeart/2005/8/layout/process4"/>
    <dgm:cxn modelId="{349D1E1F-3DC9-4538-83F9-F11FA3411509}" type="presOf" srcId="{0EC343AB-E315-4263-84E1-BE479F077A4E}" destId="{FB4C4986-7E14-41B2-A8E3-CE3F880DACEE}" srcOrd="0" destOrd="0" presId="urn:microsoft.com/office/officeart/2005/8/layout/process4"/>
    <dgm:cxn modelId="{2D02CF24-FA22-495F-A123-C1AF38FD08CC}" srcId="{0EC343AB-E315-4263-84E1-BE479F077A4E}" destId="{8CC0E14D-13F7-455B-8E20-D7E384EE6380}" srcOrd="2" destOrd="0" parTransId="{33425B09-749E-4DE5-A9F5-4DB133CBD514}" sibTransId="{AECAF929-3317-4EDC-80D2-7B0CC3B9FE9C}"/>
    <dgm:cxn modelId="{0AEB772F-308C-4EC7-BA42-3DE03F4ADECF}" srcId="{0EC343AB-E315-4263-84E1-BE479F077A4E}" destId="{08067BF3-2EF1-419D-89BE-C8339D16B288}" srcOrd="0" destOrd="0" parTransId="{143CDD36-382D-4C58-AD44-9C68F6C433B4}" sibTransId="{908F33A0-EF2D-48C7-8F65-5057AF21AE51}"/>
    <dgm:cxn modelId="{AAAC5D32-A2B1-429D-9D80-D503BB81F91B}" srcId="{0EC343AB-E315-4263-84E1-BE479F077A4E}" destId="{1DDF31E5-42C1-428E-9848-50B7616AD111}" srcOrd="4" destOrd="0" parTransId="{08818409-57AD-48CE-8D77-7DBB84CF5116}" sibTransId="{5507ECD4-77A5-45E3-BC8F-4C083D4A0CE2}"/>
    <dgm:cxn modelId="{47720944-71BD-49C2-9CCA-3275A5E906D3}" type="presOf" srcId="{086A48BF-5B9F-4FA9-AB45-78E331F2522C}" destId="{8B160390-CBAE-4523-BCCE-7D0EF3B33DD1}" srcOrd="0" destOrd="0" presId="urn:microsoft.com/office/officeart/2005/8/layout/process4"/>
    <dgm:cxn modelId="{9EEB9C66-995A-43CF-9B22-75BC7FB09596}" type="presOf" srcId="{B7F74D9F-F9F0-44F2-B5B2-50FA8E50635D}" destId="{6F3F7A45-BF47-4528-95B3-FF819F264D1B}" srcOrd="0" destOrd="0" presId="urn:microsoft.com/office/officeart/2005/8/layout/process4"/>
    <dgm:cxn modelId="{5A32346B-AF92-4B48-BC2F-147C5C632672}" type="presOf" srcId="{1DDF31E5-42C1-428E-9848-50B7616AD111}" destId="{940D1792-6630-43CE-9402-6898BB40D3C1}" srcOrd="0" destOrd="0" presId="urn:microsoft.com/office/officeart/2005/8/layout/process4"/>
    <dgm:cxn modelId="{2944EA4D-B880-43B4-B0E0-0BE28DF82351}" srcId="{84519D3D-A488-4187-A212-DD1D7D9AE1E0}" destId="{0EC343AB-E315-4263-84E1-BE479F077A4E}" srcOrd="0" destOrd="0" parTransId="{0DA90836-D7FB-4800-9599-43F74E9126C1}" sibTransId="{21C1617C-224B-47A3-B65A-9FED060635FB}"/>
    <dgm:cxn modelId="{50D9BE80-EA1D-4198-B588-0F5C20B69E61}" type="presOf" srcId="{08067BF3-2EF1-419D-89BE-C8339D16B288}" destId="{61FF9862-7576-416A-8438-EF028527CA84}" srcOrd="0" destOrd="0" presId="urn:microsoft.com/office/officeart/2005/8/layout/process4"/>
    <dgm:cxn modelId="{35C49490-32AD-47FE-BEF1-54D6DB335269}" type="presOf" srcId="{8CC0E14D-13F7-455B-8E20-D7E384EE6380}" destId="{4D099550-A362-4875-A834-BCB191F25CF2}" srcOrd="0" destOrd="0" presId="urn:microsoft.com/office/officeart/2005/8/layout/process4"/>
    <dgm:cxn modelId="{6CDBA6C0-8C4E-49E0-B93E-237197712409}" srcId="{0EC343AB-E315-4263-84E1-BE479F077A4E}" destId="{B7F74D9F-F9F0-44F2-B5B2-50FA8E50635D}" srcOrd="1" destOrd="0" parTransId="{1D607618-0647-466E-AA0B-687B38FBA79E}" sibTransId="{4F4F7284-E27A-4DB0-ADFE-6C62D88D67C1}"/>
    <dgm:cxn modelId="{007352F2-6306-475B-ADA6-FE042E09590E}" type="presOf" srcId="{0EC343AB-E315-4263-84E1-BE479F077A4E}" destId="{B8CFE6D2-BBC2-4359-9B37-0D1B3E29A1D9}" srcOrd="1" destOrd="0" presId="urn:microsoft.com/office/officeart/2005/8/layout/process4"/>
    <dgm:cxn modelId="{895BF4F6-156D-4569-887F-BDD45ED1BD32}" srcId="{0EC343AB-E315-4263-84E1-BE479F077A4E}" destId="{086A48BF-5B9F-4FA9-AB45-78E331F2522C}" srcOrd="3" destOrd="0" parTransId="{7432477A-2715-46E5-8EF2-B28FB8A411AC}" sibTransId="{7D274DDE-2DFC-4170-A65A-5F33D909D578}"/>
    <dgm:cxn modelId="{2BD51F13-352D-4A4F-8394-435DC0D6462A}" type="presParOf" srcId="{60DF1231-DBA8-4D48-9E86-F9762CF0057B}" destId="{5AC42A34-772B-492B-9D50-546700363064}" srcOrd="0" destOrd="0" presId="urn:microsoft.com/office/officeart/2005/8/layout/process4"/>
    <dgm:cxn modelId="{E889E57C-286F-4CB7-AA49-23D2BF5111D0}" type="presParOf" srcId="{5AC42A34-772B-492B-9D50-546700363064}" destId="{FB4C4986-7E14-41B2-A8E3-CE3F880DACEE}" srcOrd="0" destOrd="0" presId="urn:microsoft.com/office/officeart/2005/8/layout/process4"/>
    <dgm:cxn modelId="{87EF17A8-C049-4317-8D67-7627FCC6E5DF}" type="presParOf" srcId="{5AC42A34-772B-492B-9D50-546700363064}" destId="{B8CFE6D2-BBC2-4359-9B37-0D1B3E29A1D9}" srcOrd="1" destOrd="0" presId="urn:microsoft.com/office/officeart/2005/8/layout/process4"/>
    <dgm:cxn modelId="{13175BFA-8E18-48C4-98D8-5D2CE27A8D69}" type="presParOf" srcId="{5AC42A34-772B-492B-9D50-546700363064}" destId="{64E693F3-9344-479C-965B-F0A7493B4A70}" srcOrd="2" destOrd="0" presId="urn:microsoft.com/office/officeart/2005/8/layout/process4"/>
    <dgm:cxn modelId="{18006093-7EE7-4B1C-9238-83B81B40EFED}" type="presParOf" srcId="{64E693F3-9344-479C-965B-F0A7493B4A70}" destId="{61FF9862-7576-416A-8438-EF028527CA84}" srcOrd="0" destOrd="0" presId="urn:microsoft.com/office/officeart/2005/8/layout/process4"/>
    <dgm:cxn modelId="{5BC1B110-299C-4A05-9F72-5DDF464BCA6E}" type="presParOf" srcId="{64E693F3-9344-479C-965B-F0A7493B4A70}" destId="{6F3F7A45-BF47-4528-95B3-FF819F264D1B}" srcOrd="1" destOrd="0" presId="urn:microsoft.com/office/officeart/2005/8/layout/process4"/>
    <dgm:cxn modelId="{382AB4C6-25F4-4C9D-AFEE-AD2169A9A060}" type="presParOf" srcId="{64E693F3-9344-479C-965B-F0A7493B4A70}" destId="{4D099550-A362-4875-A834-BCB191F25CF2}" srcOrd="2" destOrd="0" presId="urn:microsoft.com/office/officeart/2005/8/layout/process4"/>
    <dgm:cxn modelId="{3B04AA46-4111-4D99-B92E-9E3319C601D5}" type="presParOf" srcId="{64E693F3-9344-479C-965B-F0A7493B4A70}" destId="{8B160390-CBAE-4523-BCCE-7D0EF3B33DD1}" srcOrd="3" destOrd="0" presId="urn:microsoft.com/office/officeart/2005/8/layout/process4"/>
    <dgm:cxn modelId="{3E6A15E8-1BDA-4B25-8B8A-3C50E4B83B98}" type="presParOf" srcId="{64E693F3-9344-479C-965B-F0A7493B4A70}" destId="{940D1792-6630-43CE-9402-6898BB40D3C1}" srcOrd="4"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5C2911A-F678-4557-BAE0-F7163A5C31E3}" type="doc">
      <dgm:prSet loTypeId="urn:microsoft.com/office/officeart/2005/8/layout/vList5" loCatId="list" qsTypeId="urn:microsoft.com/office/officeart/2005/8/quickstyle/simple1" qsCatId="simple" csTypeId="urn:microsoft.com/office/officeart/2005/8/colors/accent0_3" csCatId="mainScheme"/>
      <dgm:spPr/>
      <dgm:t>
        <a:bodyPr/>
        <a:lstStyle/>
        <a:p>
          <a:endParaRPr lang="en-US"/>
        </a:p>
      </dgm:t>
    </dgm:pt>
    <dgm:pt modelId="{EE2A7334-8295-4D4D-B644-135183CE952A}">
      <dgm:prSet/>
      <dgm:spPr/>
      <dgm:t>
        <a:bodyPr/>
        <a:lstStyle/>
        <a:p>
          <a:r>
            <a:rPr lang="en-US"/>
            <a:t>Other points</a:t>
          </a:r>
        </a:p>
      </dgm:t>
    </dgm:pt>
    <dgm:pt modelId="{D584E5D1-DABE-44AD-BA9B-91984F707791}" type="parTrans" cxnId="{7538EF97-0270-4DBA-B1D6-E4BC1C39EA01}">
      <dgm:prSet/>
      <dgm:spPr/>
      <dgm:t>
        <a:bodyPr/>
        <a:lstStyle/>
        <a:p>
          <a:endParaRPr lang="en-US"/>
        </a:p>
      </dgm:t>
    </dgm:pt>
    <dgm:pt modelId="{1D889A93-3B38-424B-A750-EFC01ACF9FCE}" type="sibTrans" cxnId="{7538EF97-0270-4DBA-B1D6-E4BC1C39EA01}">
      <dgm:prSet/>
      <dgm:spPr/>
      <dgm:t>
        <a:bodyPr/>
        <a:lstStyle/>
        <a:p>
          <a:endParaRPr lang="en-US"/>
        </a:p>
      </dgm:t>
    </dgm:pt>
    <dgm:pt modelId="{64CEA32B-6593-49EE-983F-7490CBE4D374}">
      <dgm:prSet/>
      <dgm:spPr/>
      <dgm:t>
        <a:bodyPr/>
        <a:lstStyle/>
        <a:p>
          <a:r>
            <a:rPr lang="en-US" dirty="0"/>
            <a:t>Bill of supply shall be issued instead of tax invoice. </a:t>
          </a:r>
        </a:p>
      </dgm:t>
    </dgm:pt>
    <dgm:pt modelId="{2C9AAC62-0747-4F37-99D3-32F293CF0380}" type="parTrans" cxnId="{C2C9E868-AE00-4711-8E11-4D51B6B38A3C}">
      <dgm:prSet/>
      <dgm:spPr/>
      <dgm:t>
        <a:bodyPr/>
        <a:lstStyle/>
        <a:p>
          <a:endParaRPr lang="en-US"/>
        </a:p>
      </dgm:t>
    </dgm:pt>
    <dgm:pt modelId="{90CA9223-DB7A-433E-B848-3DD250273EBA}" type="sibTrans" cxnId="{C2C9E868-AE00-4711-8E11-4D51B6B38A3C}">
      <dgm:prSet/>
      <dgm:spPr/>
      <dgm:t>
        <a:bodyPr/>
        <a:lstStyle/>
        <a:p>
          <a:endParaRPr lang="en-US"/>
        </a:p>
      </dgm:t>
    </dgm:pt>
    <dgm:pt modelId="{899DCC8D-A83D-44EC-8CEB-E72F5CD503E6}">
      <dgm:prSet/>
      <dgm:spPr/>
      <dgm:t>
        <a:bodyPr/>
        <a:lstStyle/>
        <a:p>
          <a:r>
            <a:rPr lang="en-US"/>
            <a:t>Tax shall not be collected from recipient of supply </a:t>
          </a:r>
        </a:p>
      </dgm:t>
    </dgm:pt>
    <dgm:pt modelId="{D1FD0B0E-3374-493B-AC4D-BC33DFBDB81D}" type="parTrans" cxnId="{8B835A16-29DF-46BB-8691-E68CE0AD74CB}">
      <dgm:prSet/>
      <dgm:spPr/>
      <dgm:t>
        <a:bodyPr/>
        <a:lstStyle/>
        <a:p>
          <a:endParaRPr lang="en-US"/>
        </a:p>
      </dgm:t>
    </dgm:pt>
    <dgm:pt modelId="{D05C0619-582A-4F44-A65C-2EF95FA773FA}" type="sibTrans" cxnId="{8B835A16-29DF-46BB-8691-E68CE0AD74CB}">
      <dgm:prSet/>
      <dgm:spPr/>
      <dgm:t>
        <a:bodyPr/>
        <a:lstStyle/>
        <a:p>
          <a:endParaRPr lang="en-US"/>
        </a:p>
      </dgm:t>
    </dgm:pt>
    <dgm:pt modelId="{22145B29-7C99-40F6-9C29-EC23DC6F628B}">
      <dgm:prSet/>
      <dgm:spPr/>
      <dgm:t>
        <a:bodyPr/>
        <a:lstStyle/>
        <a:p>
          <a:r>
            <a:rPr lang="en-US"/>
            <a:t>Input tax credit shall not be availed </a:t>
          </a:r>
        </a:p>
      </dgm:t>
    </dgm:pt>
    <dgm:pt modelId="{96132AE0-B034-4AA7-815A-6BA2D497A7E4}" type="parTrans" cxnId="{E5391135-CE91-4EBB-B925-13BA6D010BB8}">
      <dgm:prSet/>
      <dgm:spPr/>
      <dgm:t>
        <a:bodyPr/>
        <a:lstStyle/>
        <a:p>
          <a:endParaRPr lang="en-US"/>
        </a:p>
      </dgm:t>
    </dgm:pt>
    <dgm:pt modelId="{CF0547F5-53B7-4E58-9495-D7837892E93A}" type="sibTrans" cxnId="{E5391135-CE91-4EBB-B925-13BA6D010BB8}">
      <dgm:prSet/>
      <dgm:spPr/>
      <dgm:t>
        <a:bodyPr/>
        <a:lstStyle/>
        <a:p>
          <a:endParaRPr lang="en-US"/>
        </a:p>
      </dgm:t>
    </dgm:pt>
    <dgm:pt modelId="{35B470EB-C4E0-4DFF-9A9A-F73BB23E1E16}">
      <dgm:prSet/>
      <dgm:spPr/>
      <dgm:t>
        <a:bodyPr/>
        <a:lstStyle/>
        <a:p>
          <a:r>
            <a:rPr lang="en-US"/>
            <a:t>Composition Scheme if availed shall include all registered persons having same PAN </a:t>
          </a:r>
        </a:p>
      </dgm:t>
    </dgm:pt>
    <dgm:pt modelId="{D58047EE-2580-46EF-8D79-7B300D8F87F8}" type="parTrans" cxnId="{6B60E2DC-68AF-415C-809E-84E329C55F25}">
      <dgm:prSet/>
      <dgm:spPr/>
      <dgm:t>
        <a:bodyPr/>
        <a:lstStyle/>
        <a:p>
          <a:endParaRPr lang="en-US"/>
        </a:p>
      </dgm:t>
    </dgm:pt>
    <dgm:pt modelId="{576C37D6-BB5A-477D-ADA7-A135A2C02650}" type="sibTrans" cxnId="{6B60E2DC-68AF-415C-809E-84E329C55F25}">
      <dgm:prSet/>
      <dgm:spPr/>
      <dgm:t>
        <a:bodyPr/>
        <a:lstStyle/>
        <a:p>
          <a:endParaRPr lang="en-US"/>
        </a:p>
      </dgm:t>
    </dgm:pt>
    <dgm:pt modelId="{330A97C7-5A0A-4A2D-AC28-26E48811F171}">
      <dgm:prSet/>
      <dgm:spPr/>
      <dgm:t>
        <a:bodyPr/>
        <a:lstStyle/>
        <a:p>
          <a:r>
            <a:rPr lang="en-US"/>
            <a:t>Penalty shall be imposed in case of irregular availment of the composition scheme</a:t>
          </a:r>
        </a:p>
      </dgm:t>
    </dgm:pt>
    <dgm:pt modelId="{BC724076-3DEA-4444-92E3-74ABD0E47F24}" type="parTrans" cxnId="{7D4374D4-B6DD-4011-A37D-9437C95F7FCD}">
      <dgm:prSet/>
      <dgm:spPr/>
      <dgm:t>
        <a:bodyPr/>
        <a:lstStyle/>
        <a:p>
          <a:endParaRPr lang="en-US"/>
        </a:p>
      </dgm:t>
    </dgm:pt>
    <dgm:pt modelId="{4BBF2A88-950B-4BB6-A418-1268177C414D}" type="sibTrans" cxnId="{7D4374D4-B6DD-4011-A37D-9437C95F7FCD}">
      <dgm:prSet/>
      <dgm:spPr/>
      <dgm:t>
        <a:bodyPr/>
        <a:lstStyle/>
        <a:p>
          <a:endParaRPr lang="en-US"/>
        </a:p>
      </dgm:t>
    </dgm:pt>
    <dgm:pt modelId="{2C198A5B-0B8A-422C-B0AC-8C632BAC44AA}" type="pres">
      <dgm:prSet presAssocID="{C5C2911A-F678-4557-BAE0-F7163A5C31E3}" presName="Name0" presStyleCnt="0">
        <dgm:presLayoutVars>
          <dgm:dir/>
          <dgm:animLvl val="lvl"/>
          <dgm:resizeHandles val="exact"/>
        </dgm:presLayoutVars>
      </dgm:prSet>
      <dgm:spPr/>
    </dgm:pt>
    <dgm:pt modelId="{2B4F7B81-E9C9-4790-9194-FC4BAE69D742}" type="pres">
      <dgm:prSet presAssocID="{EE2A7334-8295-4D4D-B644-135183CE952A}" presName="linNode" presStyleCnt="0"/>
      <dgm:spPr/>
    </dgm:pt>
    <dgm:pt modelId="{537CD32C-1FA0-4FE9-8612-9848BF5E82D2}" type="pres">
      <dgm:prSet presAssocID="{EE2A7334-8295-4D4D-B644-135183CE952A}" presName="parentText" presStyleLbl="node1" presStyleIdx="0" presStyleCnt="1">
        <dgm:presLayoutVars>
          <dgm:chMax val="1"/>
          <dgm:bulletEnabled val="1"/>
        </dgm:presLayoutVars>
      </dgm:prSet>
      <dgm:spPr/>
    </dgm:pt>
    <dgm:pt modelId="{97753359-E8D0-4403-87FD-7D28E4F38E74}" type="pres">
      <dgm:prSet presAssocID="{EE2A7334-8295-4D4D-B644-135183CE952A}" presName="descendantText" presStyleLbl="alignAccFollowNode1" presStyleIdx="0" presStyleCnt="1">
        <dgm:presLayoutVars>
          <dgm:bulletEnabled val="1"/>
        </dgm:presLayoutVars>
      </dgm:prSet>
      <dgm:spPr/>
    </dgm:pt>
  </dgm:ptLst>
  <dgm:cxnLst>
    <dgm:cxn modelId="{8B835A16-29DF-46BB-8691-E68CE0AD74CB}" srcId="{EE2A7334-8295-4D4D-B644-135183CE952A}" destId="{899DCC8D-A83D-44EC-8CEB-E72F5CD503E6}" srcOrd="1" destOrd="0" parTransId="{D1FD0B0E-3374-493B-AC4D-BC33DFBDB81D}" sibTransId="{D05C0619-582A-4F44-A65C-2EF95FA773FA}"/>
    <dgm:cxn modelId="{2A49D61A-3947-4078-B5E3-434A8DBBB2AF}" type="presOf" srcId="{899DCC8D-A83D-44EC-8CEB-E72F5CD503E6}" destId="{97753359-E8D0-4403-87FD-7D28E4F38E74}" srcOrd="0" destOrd="1" presId="urn:microsoft.com/office/officeart/2005/8/layout/vList5"/>
    <dgm:cxn modelId="{E5391135-CE91-4EBB-B925-13BA6D010BB8}" srcId="{EE2A7334-8295-4D4D-B644-135183CE952A}" destId="{22145B29-7C99-40F6-9C29-EC23DC6F628B}" srcOrd="2" destOrd="0" parTransId="{96132AE0-B034-4AA7-815A-6BA2D497A7E4}" sibTransId="{CF0547F5-53B7-4E58-9495-D7837892E93A}"/>
    <dgm:cxn modelId="{3CA5C55C-2C7D-4E3D-B116-84E11BCE22A5}" type="presOf" srcId="{EE2A7334-8295-4D4D-B644-135183CE952A}" destId="{537CD32C-1FA0-4FE9-8612-9848BF5E82D2}" srcOrd="0" destOrd="0" presId="urn:microsoft.com/office/officeart/2005/8/layout/vList5"/>
    <dgm:cxn modelId="{C2C9E868-AE00-4711-8E11-4D51B6B38A3C}" srcId="{EE2A7334-8295-4D4D-B644-135183CE952A}" destId="{64CEA32B-6593-49EE-983F-7490CBE4D374}" srcOrd="0" destOrd="0" parTransId="{2C9AAC62-0747-4F37-99D3-32F293CF0380}" sibTransId="{90CA9223-DB7A-433E-B848-3DD250273EBA}"/>
    <dgm:cxn modelId="{B6763D71-A8B7-4B9E-A941-36D77C7A3FC1}" type="presOf" srcId="{C5C2911A-F678-4557-BAE0-F7163A5C31E3}" destId="{2C198A5B-0B8A-422C-B0AC-8C632BAC44AA}" srcOrd="0" destOrd="0" presId="urn:microsoft.com/office/officeart/2005/8/layout/vList5"/>
    <dgm:cxn modelId="{80A8935A-8BA8-4A6B-846C-2ACAD03E3952}" type="presOf" srcId="{64CEA32B-6593-49EE-983F-7490CBE4D374}" destId="{97753359-E8D0-4403-87FD-7D28E4F38E74}" srcOrd="0" destOrd="0" presId="urn:microsoft.com/office/officeart/2005/8/layout/vList5"/>
    <dgm:cxn modelId="{7538EF97-0270-4DBA-B1D6-E4BC1C39EA01}" srcId="{C5C2911A-F678-4557-BAE0-F7163A5C31E3}" destId="{EE2A7334-8295-4D4D-B644-135183CE952A}" srcOrd="0" destOrd="0" parTransId="{D584E5D1-DABE-44AD-BA9B-91984F707791}" sibTransId="{1D889A93-3B38-424B-A750-EFC01ACF9FCE}"/>
    <dgm:cxn modelId="{7F878DB2-DC18-4299-B742-07C3AC202EAB}" type="presOf" srcId="{22145B29-7C99-40F6-9C29-EC23DC6F628B}" destId="{97753359-E8D0-4403-87FD-7D28E4F38E74}" srcOrd="0" destOrd="2" presId="urn:microsoft.com/office/officeart/2005/8/layout/vList5"/>
    <dgm:cxn modelId="{AEA89DC8-A92A-4E9A-B673-AD43EBE74A7F}" type="presOf" srcId="{35B470EB-C4E0-4DFF-9A9A-F73BB23E1E16}" destId="{97753359-E8D0-4403-87FD-7D28E4F38E74}" srcOrd="0" destOrd="3" presId="urn:microsoft.com/office/officeart/2005/8/layout/vList5"/>
    <dgm:cxn modelId="{7D4374D4-B6DD-4011-A37D-9437C95F7FCD}" srcId="{EE2A7334-8295-4D4D-B644-135183CE952A}" destId="{330A97C7-5A0A-4A2D-AC28-26E48811F171}" srcOrd="4" destOrd="0" parTransId="{BC724076-3DEA-4444-92E3-74ABD0E47F24}" sibTransId="{4BBF2A88-950B-4BB6-A418-1268177C414D}"/>
    <dgm:cxn modelId="{6B60E2DC-68AF-415C-809E-84E329C55F25}" srcId="{EE2A7334-8295-4D4D-B644-135183CE952A}" destId="{35B470EB-C4E0-4DFF-9A9A-F73BB23E1E16}" srcOrd="3" destOrd="0" parTransId="{D58047EE-2580-46EF-8D79-7B300D8F87F8}" sibTransId="{576C37D6-BB5A-477D-ADA7-A135A2C02650}"/>
    <dgm:cxn modelId="{9D1E45E3-F6A9-47D9-904A-8D7597BD3083}" type="presOf" srcId="{330A97C7-5A0A-4A2D-AC28-26E48811F171}" destId="{97753359-E8D0-4403-87FD-7D28E4F38E74}" srcOrd="0" destOrd="4" presId="urn:microsoft.com/office/officeart/2005/8/layout/vList5"/>
    <dgm:cxn modelId="{654C6BEC-DE9C-43E3-B429-28D5AEC3AAB2}" type="presParOf" srcId="{2C198A5B-0B8A-422C-B0AC-8C632BAC44AA}" destId="{2B4F7B81-E9C9-4790-9194-FC4BAE69D742}" srcOrd="0" destOrd="0" presId="urn:microsoft.com/office/officeart/2005/8/layout/vList5"/>
    <dgm:cxn modelId="{4A363AB6-DA8D-442E-8554-FD340B32AA6B}" type="presParOf" srcId="{2B4F7B81-E9C9-4790-9194-FC4BAE69D742}" destId="{537CD32C-1FA0-4FE9-8612-9848BF5E82D2}" srcOrd="0" destOrd="0" presId="urn:microsoft.com/office/officeart/2005/8/layout/vList5"/>
    <dgm:cxn modelId="{D31BBFF5-1E66-40FC-A39F-A5C554B53CDE}" type="presParOf" srcId="{2B4F7B81-E9C9-4790-9194-FC4BAE69D742}" destId="{97753359-E8D0-4403-87FD-7D28E4F38E7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EEF65A7-2A36-475C-9226-B81D7C101410}" type="doc">
      <dgm:prSet loTypeId="urn:microsoft.com/office/officeart/2005/8/layout/chevron2" loCatId="process" qsTypeId="urn:microsoft.com/office/officeart/2005/8/quickstyle/simple1" qsCatId="simple" csTypeId="urn:microsoft.com/office/officeart/2005/8/colors/accent0_3" csCatId="mainScheme"/>
      <dgm:spPr/>
      <dgm:t>
        <a:bodyPr/>
        <a:lstStyle/>
        <a:p>
          <a:endParaRPr lang="en-US"/>
        </a:p>
      </dgm:t>
    </dgm:pt>
    <dgm:pt modelId="{DFD82624-5733-4906-8F59-08C9560FC38A}">
      <dgm:prSet/>
      <dgm:spPr/>
      <dgm:t>
        <a:bodyPr/>
        <a:lstStyle/>
        <a:p>
          <a:r>
            <a:rPr lang="en-US"/>
            <a:t>Eligibility and Conditions For Taking ITC</a:t>
          </a:r>
        </a:p>
      </dgm:t>
    </dgm:pt>
    <dgm:pt modelId="{C9617CFD-A70C-43F0-BC78-75D4A6F58414}" type="parTrans" cxnId="{E86516BA-8A87-4D5B-84F2-92EC78F4CE38}">
      <dgm:prSet/>
      <dgm:spPr/>
      <dgm:t>
        <a:bodyPr/>
        <a:lstStyle/>
        <a:p>
          <a:endParaRPr lang="en-US"/>
        </a:p>
      </dgm:t>
    </dgm:pt>
    <dgm:pt modelId="{ED3EE9FE-697D-4FD9-8FBD-09090EE3EC0C}" type="sibTrans" cxnId="{E86516BA-8A87-4D5B-84F2-92EC78F4CE38}">
      <dgm:prSet/>
      <dgm:spPr/>
      <dgm:t>
        <a:bodyPr/>
        <a:lstStyle/>
        <a:p>
          <a:endParaRPr lang="en-US"/>
        </a:p>
      </dgm:t>
    </dgm:pt>
    <dgm:pt modelId="{0CC383E4-EAC9-4757-9761-34459FAB6CE4}">
      <dgm:prSet/>
      <dgm:spPr/>
      <dgm:t>
        <a:bodyPr/>
        <a:lstStyle/>
        <a:p>
          <a:r>
            <a:rPr lang="en-US"/>
            <a:t>Every person registered under GST shall be entitled to input tax credit.</a:t>
          </a:r>
        </a:p>
      </dgm:t>
    </dgm:pt>
    <dgm:pt modelId="{69696FE2-24B3-4416-8186-0C293A28D56B}" type="parTrans" cxnId="{4AB6FC8F-9CDB-491C-A1EF-9B8F803746DC}">
      <dgm:prSet/>
      <dgm:spPr/>
      <dgm:t>
        <a:bodyPr/>
        <a:lstStyle/>
        <a:p>
          <a:endParaRPr lang="en-US"/>
        </a:p>
      </dgm:t>
    </dgm:pt>
    <dgm:pt modelId="{C19F3460-BCB5-4134-8F2F-3BADED6F6FBA}" type="sibTrans" cxnId="{4AB6FC8F-9CDB-491C-A1EF-9B8F803746DC}">
      <dgm:prSet/>
      <dgm:spPr/>
      <dgm:t>
        <a:bodyPr/>
        <a:lstStyle/>
        <a:p>
          <a:endParaRPr lang="en-US"/>
        </a:p>
      </dgm:t>
    </dgm:pt>
    <dgm:pt modelId="{92177763-D50A-4D5A-9C43-8A3DCC0E1C72}">
      <dgm:prSet/>
      <dgm:spPr/>
      <dgm:t>
        <a:bodyPr/>
        <a:lstStyle/>
        <a:p>
          <a:r>
            <a:rPr lang="en-IN"/>
            <a:t>Person should be in possession of a tax invoice or debit note issued by a supplier</a:t>
          </a:r>
          <a:endParaRPr lang="en-US"/>
        </a:p>
      </dgm:t>
    </dgm:pt>
    <dgm:pt modelId="{B2FC45B4-2BE9-4FD5-B869-B996C69BD2D4}" type="parTrans" cxnId="{C29A882B-734B-4656-960F-AD83BFEDEE07}">
      <dgm:prSet/>
      <dgm:spPr/>
      <dgm:t>
        <a:bodyPr/>
        <a:lstStyle/>
        <a:p>
          <a:endParaRPr lang="en-US"/>
        </a:p>
      </dgm:t>
    </dgm:pt>
    <dgm:pt modelId="{B1513943-8595-479C-8FB3-34DC287AC09B}" type="sibTrans" cxnId="{C29A882B-734B-4656-960F-AD83BFEDEE07}">
      <dgm:prSet/>
      <dgm:spPr/>
      <dgm:t>
        <a:bodyPr/>
        <a:lstStyle/>
        <a:p>
          <a:endParaRPr lang="en-US"/>
        </a:p>
      </dgm:t>
    </dgm:pt>
    <dgm:pt modelId="{554AA403-E6E3-49D9-86F6-1515A4F81120}">
      <dgm:prSet/>
      <dgm:spPr/>
      <dgm:t>
        <a:bodyPr/>
        <a:lstStyle/>
        <a:p>
          <a:r>
            <a:rPr lang="en-IN"/>
            <a:t>Person has received goods or services or both</a:t>
          </a:r>
          <a:endParaRPr lang="en-US"/>
        </a:p>
      </dgm:t>
    </dgm:pt>
    <dgm:pt modelId="{37BA6295-51F2-4DA7-9495-881188FCCB60}" type="parTrans" cxnId="{553F6487-8044-48E4-8F62-815C161DD1E9}">
      <dgm:prSet/>
      <dgm:spPr/>
      <dgm:t>
        <a:bodyPr/>
        <a:lstStyle/>
        <a:p>
          <a:endParaRPr lang="en-US"/>
        </a:p>
      </dgm:t>
    </dgm:pt>
    <dgm:pt modelId="{10DC1800-22FE-4B4D-A9EC-E6E3D088F212}" type="sibTrans" cxnId="{553F6487-8044-48E4-8F62-815C161DD1E9}">
      <dgm:prSet/>
      <dgm:spPr/>
      <dgm:t>
        <a:bodyPr/>
        <a:lstStyle/>
        <a:p>
          <a:endParaRPr lang="en-US"/>
        </a:p>
      </dgm:t>
    </dgm:pt>
    <dgm:pt modelId="{0E31BB04-E68F-424D-BF9D-5DF628F20D88}">
      <dgm:prSet/>
      <dgm:spPr/>
      <dgm:t>
        <a:bodyPr/>
        <a:lstStyle/>
        <a:p>
          <a:r>
            <a:rPr lang="en-IN"/>
            <a:t>Goods or services are used for business purposes</a:t>
          </a:r>
          <a:endParaRPr lang="en-US"/>
        </a:p>
      </dgm:t>
    </dgm:pt>
    <dgm:pt modelId="{A5DFAEBD-0739-4688-B99B-44B00543F940}" type="parTrans" cxnId="{7EE3E3CC-EB51-45E3-9B04-9692397982D6}">
      <dgm:prSet/>
      <dgm:spPr/>
      <dgm:t>
        <a:bodyPr/>
        <a:lstStyle/>
        <a:p>
          <a:endParaRPr lang="en-US"/>
        </a:p>
      </dgm:t>
    </dgm:pt>
    <dgm:pt modelId="{FE0A8C6A-EFCA-4778-A35F-455E46FE624F}" type="sibTrans" cxnId="{7EE3E3CC-EB51-45E3-9B04-9692397982D6}">
      <dgm:prSet/>
      <dgm:spPr/>
      <dgm:t>
        <a:bodyPr/>
        <a:lstStyle/>
        <a:p>
          <a:endParaRPr lang="en-US"/>
        </a:p>
      </dgm:t>
    </dgm:pt>
    <dgm:pt modelId="{CB40B46E-B124-4298-92BA-DB593C8DF428}">
      <dgm:prSet/>
      <dgm:spPr/>
      <dgm:t>
        <a:bodyPr/>
        <a:lstStyle/>
        <a:p>
          <a:r>
            <a:rPr lang="en-IN"/>
            <a:t>Person has furnished GST return as per requirements</a:t>
          </a:r>
          <a:endParaRPr lang="en-US"/>
        </a:p>
      </dgm:t>
    </dgm:pt>
    <dgm:pt modelId="{0F85C5E9-9B05-416A-B756-C61BAC854E78}" type="parTrans" cxnId="{7EB6DC9D-52CC-4024-AA80-904640B83FE5}">
      <dgm:prSet/>
      <dgm:spPr/>
      <dgm:t>
        <a:bodyPr/>
        <a:lstStyle/>
        <a:p>
          <a:endParaRPr lang="en-US"/>
        </a:p>
      </dgm:t>
    </dgm:pt>
    <dgm:pt modelId="{42F4535B-895F-4A35-AE38-B12303B54BA3}" type="sibTrans" cxnId="{7EB6DC9D-52CC-4024-AA80-904640B83FE5}">
      <dgm:prSet/>
      <dgm:spPr/>
      <dgm:t>
        <a:bodyPr/>
        <a:lstStyle/>
        <a:p>
          <a:endParaRPr lang="en-US"/>
        </a:p>
      </dgm:t>
    </dgm:pt>
    <dgm:pt modelId="{83F7A421-601B-4FED-9EDC-36E37045FD10}">
      <dgm:prSet/>
      <dgm:spPr/>
      <dgm:t>
        <a:bodyPr/>
        <a:lstStyle/>
        <a:p>
          <a:r>
            <a:rPr lang="en-IN"/>
            <a:t>Tax leviable on supply is actually paid to the government</a:t>
          </a:r>
          <a:endParaRPr lang="en-US"/>
        </a:p>
      </dgm:t>
    </dgm:pt>
    <dgm:pt modelId="{94BCE912-7EE9-49FD-98B2-57DCD4FBDE39}" type="parTrans" cxnId="{FEE0AF70-DAEF-4233-8735-95428FFD9649}">
      <dgm:prSet/>
      <dgm:spPr/>
      <dgm:t>
        <a:bodyPr/>
        <a:lstStyle/>
        <a:p>
          <a:endParaRPr lang="en-US"/>
        </a:p>
      </dgm:t>
    </dgm:pt>
    <dgm:pt modelId="{E96C4524-1190-494C-AB7C-E11D7ED935E2}" type="sibTrans" cxnId="{FEE0AF70-DAEF-4233-8735-95428FFD9649}">
      <dgm:prSet/>
      <dgm:spPr/>
      <dgm:t>
        <a:bodyPr/>
        <a:lstStyle/>
        <a:p>
          <a:endParaRPr lang="en-US"/>
        </a:p>
      </dgm:t>
    </dgm:pt>
    <dgm:pt modelId="{A77151A8-EC62-4B5A-8B5F-0501F555E4FB}" type="pres">
      <dgm:prSet presAssocID="{0EEF65A7-2A36-475C-9226-B81D7C101410}" presName="linearFlow" presStyleCnt="0">
        <dgm:presLayoutVars>
          <dgm:dir/>
          <dgm:animLvl val="lvl"/>
          <dgm:resizeHandles val="exact"/>
        </dgm:presLayoutVars>
      </dgm:prSet>
      <dgm:spPr/>
    </dgm:pt>
    <dgm:pt modelId="{A03026AE-0EEA-4028-9D15-8362B01011E5}" type="pres">
      <dgm:prSet presAssocID="{DFD82624-5733-4906-8F59-08C9560FC38A}" presName="composite" presStyleCnt="0"/>
      <dgm:spPr/>
    </dgm:pt>
    <dgm:pt modelId="{C2D563E3-78FC-41ED-8E41-46F8BD2C3295}" type="pres">
      <dgm:prSet presAssocID="{DFD82624-5733-4906-8F59-08C9560FC38A}" presName="parentText" presStyleLbl="alignNode1" presStyleIdx="0" presStyleCnt="1">
        <dgm:presLayoutVars>
          <dgm:chMax val="1"/>
          <dgm:bulletEnabled val="1"/>
        </dgm:presLayoutVars>
      </dgm:prSet>
      <dgm:spPr/>
    </dgm:pt>
    <dgm:pt modelId="{A2185F8B-7E8E-4083-9BEE-4ADEED78BA60}" type="pres">
      <dgm:prSet presAssocID="{DFD82624-5733-4906-8F59-08C9560FC38A}" presName="descendantText" presStyleLbl="alignAcc1" presStyleIdx="0" presStyleCnt="1">
        <dgm:presLayoutVars>
          <dgm:bulletEnabled val="1"/>
        </dgm:presLayoutVars>
      </dgm:prSet>
      <dgm:spPr/>
    </dgm:pt>
  </dgm:ptLst>
  <dgm:cxnLst>
    <dgm:cxn modelId="{7FAE8B06-D238-4A47-BDB1-9CBEBA796AEE}" type="presOf" srcId="{92177763-D50A-4D5A-9C43-8A3DCC0E1C72}" destId="{A2185F8B-7E8E-4083-9BEE-4ADEED78BA60}" srcOrd="0" destOrd="1" presId="urn:microsoft.com/office/officeart/2005/8/layout/chevron2"/>
    <dgm:cxn modelId="{6341761B-821B-4A7F-9547-5992128642D0}" type="presOf" srcId="{0CC383E4-EAC9-4757-9761-34459FAB6CE4}" destId="{A2185F8B-7E8E-4083-9BEE-4ADEED78BA60}" srcOrd="0" destOrd="0" presId="urn:microsoft.com/office/officeart/2005/8/layout/chevron2"/>
    <dgm:cxn modelId="{C29A882B-734B-4656-960F-AD83BFEDEE07}" srcId="{DFD82624-5733-4906-8F59-08C9560FC38A}" destId="{92177763-D50A-4D5A-9C43-8A3DCC0E1C72}" srcOrd="1" destOrd="0" parTransId="{B2FC45B4-2BE9-4FD5-B869-B996C69BD2D4}" sibTransId="{B1513943-8595-479C-8FB3-34DC287AC09B}"/>
    <dgm:cxn modelId="{07ED5648-A3BC-4BF0-AA98-A13676CCBB43}" type="presOf" srcId="{0EEF65A7-2A36-475C-9226-B81D7C101410}" destId="{A77151A8-EC62-4B5A-8B5F-0501F555E4FB}" srcOrd="0" destOrd="0" presId="urn:microsoft.com/office/officeart/2005/8/layout/chevron2"/>
    <dgm:cxn modelId="{FEE0AF70-DAEF-4233-8735-95428FFD9649}" srcId="{DFD82624-5733-4906-8F59-08C9560FC38A}" destId="{83F7A421-601B-4FED-9EDC-36E37045FD10}" srcOrd="5" destOrd="0" parTransId="{94BCE912-7EE9-49FD-98B2-57DCD4FBDE39}" sibTransId="{E96C4524-1190-494C-AB7C-E11D7ED935E2}"/>
    <dgm:cxn modelId="{553F6487-8044-48E4-8F62-815C161DD1E9}" srcId="{DFD82624-5733-4906-8F59-08C9560FC38A}" destId="{554AA403-E6E3-49D9-86F6-1515A4F81120}" srcOrd="2" destOrd="0" parTransId="{37BA6295-51F2-4DA7-9495-881188FCCB60}" sibTransId="{10DC1800-22FE-4B4D-A9EC-E6E3D088F212}"/>
    <dgm:cxn modelId="{4AB6FC8F-9CDB-491C-A1EF-9B8F803746DC}" srcId="{DFD82624-5733-4906-8F59-08C9560FC38A}" destId="{0CC383E4-EAC9-4757-9761-34459FAB6CE4}" srcOrd="0" destOrd="0" parTransId="{69696FE2-24B3-4416-8186-0C293A28D56B}" sibTransId="{C19F3460-BCB5-4134-8F2F-3BADED6F6FBA}"/>
    <dgm:cxn modelId="{3F2DCE98-31EB-41E7-AB77-34F4FAE8179A}" type="presOf" srcId="{0E31BB04-E68F-424D-BF9D-5DF628F20D88}" destId="{A2185F8B-7E8E-4083-9BEE-4ADEED78BA60}" srcOrd="0" destOrd="3" presId="urn:microsoft.com/office/officeart/2005/8/layout/chevron2"/>
    <dgm:cxn modelId="{7EB6DC9D-52CC-4024-AA80-904640B83FE5}" srcId="{DFD82624-5733-4906-8F59-08C9560FC38A}" destId="{CB40B46E-B124-4298-92BA-DB593C8DF428}" srcOrd="4" destOrd="0" parTransId="{0F85C5E9-9B05-416A-B756-C61BAC854E78}" sibTransId="{42F4535B-895F-4A35-AE38-B12303B54BA3}"/>
    <dgm:cxn modelId="{E86516BA-8A87-4D5B-84F2-92EC78F4CE38}" srcId="{0EEF65A7-2A36-475C-9226-B81D7C101410}" destId="{DFD82624-5733-4906-8F59-08C9560FC38A}" srcOrd="0" destOrd="0" parTransId="{C9617CFD-A70C-43F0-BC78-75D4A6F58414}" sibTransId="{ED3EE9FE-697D-4FD9-8FBD-09090EE3EC0C}"/>
    <dgm:cxn modelId="{7EE3E3CC-EB51-45E3-9B04-9692397982D6}" srcId="{DFD82624-5733-4906-8F59-08C9560FC38A}" destId="{0E31BB04-E68F-424D-BF9D-5DF628F20D88}" srcOrd="3" destOrd="0" parTransId="{A5DFAEBD-0739-4688-B99B-44B00543F940}" sibTransId="{FE0A8C6A-EFCA-4778-A35F-455E46FE624F}"/>
    <dgm:cxn modelId="{EAFEA2DA-2923-4B84-A77E-E9CFCE2EC430}" type="presOf" srcId="{DFD82624-5733-4906-8F59-08C9560FC38A}" destId="{C2D563E3-78FC-41ED-8E41-46F8BD2C3295}" srcOrd="0" destOrd="0" presId="urn:microsoft.com/office/officeart/2005/8/layout/chevron2"/>
    <dgm:cxn modelId="{1EC5C6E1-9165-4BA2-B1AA-D9738F62477A}" type="presOf" srcId="{83F7A421-601B-4FED-9EDC-36E37045FD10}" destId="{A2185F8B-7E8E-4083-9BEE-4ADEED78BA60}" srcOrd="0" destOrd="5" presId="urn:microsoft.com/office/officeart/2005/8/layout/chevron2"/>
    <dgm:cxn modelId="{586CD1E6-4876-4B79-B41B-D1DD4C851F94}" type="presOf" srcId="{554AA403-E6E3-49D9-86F6-1515A4F81120}" destId="{A2185F8B-7E8E-4083-9BEE-4ADEED78BA60}" srcOrd="0" destOrd="2" presId="urn:microsoft.com/office/officeart/2005/8/layout/chevron2"/>
    <dgm:cxn modelId="{87AE3AFE-018F-4CB9-93C2-EBDEB3D6B5FC}" type="presOf" srcId="{CB40B46E-B124-4298-92BA-DB593C8DF428}" destId="{A2185F8B-7E8E-4083-9BEE-4ADEED78BA60}" srcOrd="0" destOrd="4" presId="urn:microsoft.com/office/officeart/2005/8/layout/chevron2"/>
    <dgm:cxn modelId="{2CB4701B-9B59-4036-AE3E-44102B0DF691}" type="presParOf" srcId="{A77151A8-EC62-4B5A-8B5F-0501F555E4FB}" destId="{A03026AE-0EEA-4028-9D15-8362B01011E5}" srcOrd="0" destOrd="0" presId="urn:microsoft.com/office/officeart/2005/8/layout/chevron2"/>
    <dgm:cxn modelId="{A398A2E3-AC52-4353-B404-3FD9EAC47C7B}" type="presParOf" srcId="{A03026AE-0EEA-4028-9D15-8362B01011E5}" destId="{C2D563E3-78FC-41ED-8E41-46F8BD2C3295}" srcOrd="0" destOrd="0" presId="urn:microsoft.com/office/officeart/2005/8/layout/chevron2"/>
    <dgm:cxn modelId="{E05E6648-EB03-4485-899F-4533EAF44B16}" type="presParOf" srcId="{A03026AE-0EEA-4028-9D15-8362B01011E5}" destId="{A2185F8B-7E8E-4083-9BEE-4ADEED78BA6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127086B-B617-4877-99F7-3B6363B179DF}"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n-IN"/>
        </a:p>
      </dgm:t>
    </dgm:pt>
    <dgm:pt modelId="{3118D0CF-FDCF-41B2-BF53-BF02D021AF9A}">
      <dgm:prSet custT="1"/>
      <dgm:spPr>
        <a:solidFill>
          <a:schemeClr val="accent4">
            <a:lumMod val="40000"/>
            <a:lumOff val="60000"/>
          </a:schemeClr>
        </a:solidFill>
      </dgm:spPr>
      <dgm:t>
        <a:bodyPr/>
        <a:lstStyle/>
        <a:p>
          <a:r>
            <a:rPr lang="en-US" sz="2800" dirty="0">
              <a:solidFill>
                <a:schemeClr val="tx1"/>
              </a:solidFill>
            </a:rPr>
            <a:t>In case of taxable supply of </a:t>
          </a:r>
          <a:r>
            <a:rPr lang="en-US" sz="2800" b="0" dirty="0">
              <a:solidFill>
                <a:schemeClr val="tx1"/>
              </a:solidFill>
            </a:rPr>
            <a:t>goods</a:t>
          </a:r>
          <a:r>
            <a:rPr lang="en-US" sz="2800" dirty="0">
              <a:solidFill>
                <a:schemeClr val="tx1"/>
              </a:solidFill>
            </a:rPr>
            <a:t>, invoice shall be prepared in </a:t>
          </a:r>
          <a:r>
            <a:rPr lang="en-US" sz="2800" b="1" dirty="0">
              <a:solidFill>
                <a:srgbClr val="C00000"/>
              </a:solidFill>
            </a:rPr>
            <a:t>triplicate</a:t>
          </a:r>
          <a:endParaRPr lang="en-IN" sz="2800" dirty="0">
            <a:solidFill>
              <a:srgbClr val="C00000"/>
            </a:solidFill>
          </a:endParaRPr>
        </a:p>
      </dgm:t>
    </dgm:pt>
    <dgm:pt modelId="{F2B8D9C4-7117-4291-B78B-EAEC9FC24E0E}" type="parTrans" cxnId="{3478F9C4-BDC1-4F24-A239-46BA2BC70FF1}">
      <dgm:prSet/>
      <dgm:spPr/>
      <dgm:t>
        <a:bodyPr/>
        <a:lstStyle/>
        <a:p>
          <a:endParaRPr lang="en-IN" sz="2800">
            <a:solidFill>
              <a:schemeClr val="tx1"/>
            </a:solidFill>
          </a:endParaRPr>
        </a:p>
      </dgm:t>
    </dgm:pt>
    <dgm:pt modelId="{DB8FDC00-201C-4A0E-BD4C-FF8CB7F74B22}" type="sibTrans" cxnId="{3478F9C4-BDC1-4F24-A239-46BA2BC70FF1}">
      <dgm:prSet/>
      <dgm:spPr/>
      <dgm:t>
        <a:bodyPr/>
        <a:lstStyle/>
        <a:p>
          <a:endParaRPr lang="en-IN" sz="2800">
            <a:solidFill>
              <a:schemeClr val="tx1"/>
            </a:solidFill>
          </a:endParaRPr>
        </a:p>
      </dgm:t>
    </dgm:pt>
    <dgm:pt modelId="{F93D241C-E609-4B6D-9D5C-96A580E971C7}">
      <dgm:prSet custT="1"/>
      <dgm:spPr/>
      <dgm:t>
        <a:bodyPr/>
        <a:lstStyle/>
        <a:p>
          <a:r>
            <a:rPr lang="en-US" sz="2800" dirty="0">
              <a:solidFill>
                <a:schemeClr val="tx1"/>
              </a:solidFill>
            </a:rPr>
            <a:t>Original copy</a:t>
          </a:r>
          <a:endParaRPr lang="en-IN" sz="2800" dirty="0">
            <a:solidFill>
              <a:schemeClr val="tx1"/>
            </a:solidFill>
          </a:endParaRPr>
        </a:p>
      </dgm:t>
    </dgm:pt>
    <dgm:pt modelId="{D6023A5D-144C-42F8-ABA3-ACDEE43CCC4F}" type="parTrans" cxnId="{4A167E38-80FF-426A-93AA-2B382C56680A}">
      <dgm:prSet/>
      <dgm:spPr/>
      <dgm:t>
        <a:bodyPr/>
        <a:lstStyle/>
        <a:p>
          <a:endParaRPr lang="en-IN" sz="2800">
            <a:solidFill>
              <a:schemeClr val="tx1"/>
            </a:solidFill>
          </a:endParaRPr>
        </a:p>
      </dgm:t>
    </dgm:pt>
    <dgm:pt modelId="{F7B55EA7-2BB4-44F9-996A-B09A22FC2642}" type="sibTrans" cxnId="{4A167E38-80FF-426A-93AA-2B382C56680A}">
      <dgm:prSet/>
      <dgm:spPr/>
      <dgm:t>
        <a:bodyPr/>
        <a:lstStyle/>
        <a:p>
          <a:endParaRPr lang="en-IN" sz="2800">
            <a:solidFill>
              <a:schemeClr val="tx1"/>
            </a:solidFill>
          </a:endParaRPr>
        </a:p>
      </dgm:t>
    </dgm:pt>
    <dgm:pt modelId="{BF86336A-285A-4023-B822-4EE2152BAA4A}">
      <dgm:prSet custT="1"/>
      <dgm:spPr/>
      <dgm:t>
        <a:bodyPr/>
        <a:lstStyle/>
        <a:p>
          <a:r>
            <a:rPr lang="en-US" sz="2800">
              <a:solidFill>
                <a:schemeClr val="bg2"/>
              </a:solidFill>
            </a:rPr>
            <a:t>Recipient</a:t>
          </a:r>
          <a:endParaRPr lang="en-IN" sz="2800">
            <a:solidFill>
              <a:schemeClr val="bg2"/>
            </a:solidFill>
          </a:endParaRPr>
        </a:p>
      </dgm:t>
    </dgm:pt>
    <dgm:pt modelId="{7C9D76A6-1AAB-4158-A30B-90E8DBEF62AB}" type="parTrans" cxnId="{06BDA988-D200-4D84-AA50-2E7C9B606A4B}">
      <dgm:prSet/>
      <dgm:spPr/>
      <dgm:t>
        <a:bodyPr/>
        <a:lstStyle/>
        <a:p>
          <a:endParaRPr lang="en-IN" sz="2800">
            <a:solidFill>
              <a:schemeClr val="tx1"/>
            </a:solidFill>
          </a:endParaRPr>
        </a:p>
      </dgm:t>
    </dgm:pt>
    <dgm:pt modelId="{0FC38391-2A7B-44B5-8D63-517254315D3D}" type="sibTrans" cxnId="{06BDA988-D200-4D84-AA50-2E7C9B606A4B}">
      <dgm:prSet/>
      <dgm:spPr/>
      <dgm:t>
        <a:bodyPr/>
        <a:lstStyle/>
        <a:p>
          <a:endParaRPr lang="en-IN" sz="2800">
            <a:solidFill>
              <a:schemeClr val="tx1"/>
            </a:solidFill>
          </a:endParaRPr>
        </a:p>
      </dgm:t>
    </dgm:pt>
    <dgm:pt modelId="{550EA8CF-BD7E-44E6-87B0-162341906B0A}">
      <dgm:prSet custT="1"/>
      <dgm:spPr/>
      <dgm:t>
        <a:bodyPr/>
        <a:lstStyle/>
        <a:p>
          <a:r>
            <a:rPr lang="en-US" sz="2800" dirty="0">
              <a:solidFill>
                <a:schemeClr val="tx1"/>
              </a:solidFill>
            </a:rPr>
            <a:t>Duplicate copy</a:t>
          </a:r>
          <a:endParaRPr lang="en-IN" sz="2800" dirty="0">
            <a:solidFill>
              <a:schemeClr val="tx1"/>
            </a:solidFill>
          </a:endParaRPr>
        </a:p>
      </dgm:t>
    </dgm:pt>
    <dgm:pt modelId="{F7E95F14-34BF-4E6C-BBAB-30F158438EA1}" type="parTrans" cxnId="{F766D874-398F-4BFA-A4B8-D4EA56ED0A68}">
      <dgm:prSet/>
      <dgm:spPr/>
      <dgm:t>
        <a:bodyPr/>
        <a:lstStyle/>
        <a:p>
          <a:endParaRPr lang="en-IN" sz="2800">
            <a:solidFill>
              <a:schemeClr val="tx1"/>
            </a:solidFill>
          </a:endParaRPr>
        </a:p>
      </dgm:t>
    </dgm:pt>
    <dgm:pt modelId="{1769ABEF-AB04-48CD-A0F4-909DF455782C}" type="sibTrans" cxnId="{F766D874-398F-4BFA-A4B8-D4EA56ED0A68}">
      <dgm:prSet/>
      <dgm:spPr/>
      <dgm:t>
        <a:bodyPr/>
        <a:lstStyle/>
        <a:p>
          <a:endParaRPr lang="en-IN" sz="2800">
            <a:solidFill>
              <a:schemeClr val="tx1"/>
            </a:solidFill>
          </a:endParaRPr>
        </a:p>
      </dgm:t>
    </dgm:pt>
    <dgm:pt modelId="{D25A0FEC-A2FE-469C-92ED-33C6E6198BE2}">
      <dgm:prSet custT="1"/>
      <dgm:spPr/>
      <dgm:t>
        <a:bodyPr/>
        <a:lstStyle/>
        <a:p>
          <a:r>
            <a:rPr lang="en-US" sz="2800">
              <a:solidFill>
                <a:schemeClr val="bg2"/>
              </a:solidFill>
            </a:rPr>
            <a:t>Transporter</a:t>
          </a:r>
          <a:endParaRPr lang="en-IN" sz="2800">
            <a:solidFill>
              <a:schemeClr val="bg2"/>
            </a:solidFill>
          </a:endParaRPr>
        </a:p>
      </dgm:t>
    </dgm:pt>
    <dgm:pt modelId="{EB0A43F8-BBF7-4DD4-A282-41D4A76F754A}" type="parTrans" cxnId="{B9B84D38-DFCF-4EDE-AC98-E3E2E62BA8A6}">
      <dgm:prSet/>
      <dgm:spPr/>
      <dgm:t>
        <a:bodyPr/>
        <a:lstStyle/>
        <a:p>
          <a:endParaRPr lang="en-IN" sz="2800">
            <a:solidFill>
              <a:schemeClr val="tx1"/>
            </a:solidFill>
          </a:endParaRPr>
        </a:p>
      </dgm:t>
    </dgm:pt>
    <dgm:pt modelId="{7ED8C226-A76E-454C-B6A2-DCFDBFE036CE}" type="sibTrans" cxnId="{B9B84D38-DFCF-4EDE-AC98-E3E2E62BA8A6}">
      <dgm:prSet/>
      <dgm:spPr/>
      <dgm:t>
        <a:bodyPr/>
        <a:lstStyle/>
        <a:p>
          <a:endParaRPr lang="en-IN" sz="2800">
            <a:solidFill>
              <a:schemeClr val="tx1"/>
            </a:solidFill>
          </a:endParaRPr>
        </a:p>
      </dgm:t>
    </dgm:pt>
    <dgm:pt modelId="{55E08966-C314-4210-BDF3-F8F08EFE24A1}">
      <dgm:prSet custT="1"/>
      <dgm:spPr/>
      <dgm:t>
        <a:bodyPr/>
        <a:lstStyle/>
        <a:p>
          <a:r>
            <a:rPr lang="en-US" sz="2800">
              <a:solidFill>
                <a:schemeClr val="tx1"/>
              </a:solidFill>
            </a:rPr>
            <a:t>Triplicate copy </a:t>
          </a:r>
          <a:endParaRPr lang="en-IN" sz="2800">
            <a:solidFill>
              <a:schemeClr val="tx1"/>
            </a:solidFill>
          </a:endParaRPr>
        </a:p>
      </dgm:t>
    </dgm:pt>
    <dgm:pt modelId="{3332CAE6-4B61-4C79-BA62-F3B745EF2C8F}" type="parTrans" cxnId="{016C4751-FF47-421E-A149-79925B8790C1}">
      <dgm:prSet/>
      <dgm:spPr/>
      <dgm:t>
        <a:bodyPr/>
        <a:lstStyle/>
        <a:p>
          <a:endParaRPr lang="en-IN" sz="2800">
            <a:solidFill>
              <a:schemeClr val="tx1"/>
            </a:solidFill>
          </a:endParaRPr>
        </a:p>
      </dgm:t>
    </dgm:pt>
    <dgm:pt modelId="{2B51D1B4-42EF-4994-A728-F0C93163EC54}" type="sibTrans" cxnId="{016C4751-FF47-421E-A149-79925B8790C1}">
      <dgm:prSet/>
      <dgm:spPr/>
      <dgm:t>
        <a:bodyPr/>
        <a:lstStyle/>
        <a:p>
          <a:endParaRPr lang="en-IN" sz="2800">
            <a:solidFill>
              <a:schemeClr val="tx1"/>
            </a:solidFill>
          </a:endParaRPr>
        </a:p>
      </dgm:t>
    </dgm:pt>
    <dgm:pt modelId="{DAC92A6D-F079-4107-AF7A-8DAED885DA12}">
      <dgm:prSet custT="1"/>
      <dgm:spPr/>
      <dgm:t>
        <a:bodyPr/>
        <a:lstStyle/>
        <a:p>
          <a:r>
            <a:rPr lang="en-US" sz="2800" dirty="0">
              <a:solidFill>
                <a:schemeClr val="bg2"/>
              </a:solidFill>
            </a:rPr>
            <a:t>Supplier </a:t>
          </a:r>
          <a:endParaRPr lang="en-IN" sz="2800" dirty="0">
            <a:solidFill>
              <a:schemeClr val="bg2"/>
            </a:solidFill>
          </a:endParaRPr>
        </a:p>
      </dgm:t>
    </dgm:pt>
    <dgm:pt modelId="{3901D904-F646-4F71-BE5C-A6B7990F5CD8}" type="parTrans" cxnId="{989071CC-F581-4F19-9ADC-55E1928F3ED8}">
      <dgm:prSet/>
      <dgm:spPr/>
      <dgm:t>
        <a:bodyPr/>
        <a:lstStyle/>
        <a:p>
          <a:endParaRPr lang="en-IN" sz="2800">
            <a:solidFill>
              <a:schemeClr val="tx1"/>
            </a:solidFill>
          </a:endParaRPr>
        </a:p>
      </dgm:t>
    </dgm:pt>
    <dgm:pt modelId="{7BABE2AD-A2A8-4F08-9584-F7792AB2EC3D}" type="sibTrans" cxnId="{989071CC-F581-4F19-9ADC-55E1928F3ED8}">
      <dgm:prSet/>
      <dgm:spPr/>
      <dgm:t>
        <a:bodyPr/>
        <a:lstStyle/>
        <a:p>
          <a:endParaRPr lang="en-IN" sz="2800">
            <a:solidFill>
              <a:schemeClr val="tx1"/>
            </a:solidFill>
          </a:endParaRPr>
        </a:p>
      </dgm:t>
    </dgm:pt>
    <dgm:pt modelId="{05AE8B59-DB18-416A-969F-CB005001EA78}" type="pres">
      <dgm:prSet presAssocID="{0127086B-B617-4877-99F7-3B6363B179DF}" presName="hierChild1" presStyleCnt="0">
        <dgm:presLayoutVars>
          <dgm:orgChart val="1"/>
          <dgm:chPref val="1"/>
          <dgm:dir/>
          <dgm:animOne val="branch"/>
          <dgm:animLvl val="lvl"/>
          <dgm:resizeHandles/>
        </dgm:presLayoutVars>
      </dgm:prSet>
      <dgm:spPr/>
    </dgm:pt>
    <dgm:pt modelId="{8817B89B-3345-463B-86DD-D39291C1A60B}" type="pres">
      <dgm:prSet presAssocID="{3118D0CF-FDCF-41B2-BF53-BF02D021AF9A}" presName="hierRoot1" presStyleCnt="0">
        <dgm:presLayoutVars>
          <dgm:hierBranch val="init"/>
        </dgm:presLayoutVars>
      </dgm:prSet>
      <dgm:spPr/>
    </dgm:pt>
    <dgm:pt modelId="{EB0348D6-16AD-4FEE-9062-D7AA3195978F}" type="pres">
      <dgm:prSet presAssocID="{3118D0CF-FDCF-41B2-BF53-BF02D021AF9A}" presName="rootComposite1" presStyleCnt="0"/>
      <dgm:spPr/>
    </dgm:pt>
    <dgm:pt modelId="{366C73EA-562F-4853-8F19-8ACDA3C57F41}" type="pres">
      <dgm:prSet presAssocID="{3118D0CF-FDCF-41B2-BF53-BF02D021AF9A}" presName="rootText1" presStyleLbl="node0" presStyleIdx="0" presStyleCnt="1" custScaleX="207622">
        <dgm:presLayoutVars>
          <dgm:chPref val="3"/>
        </dgm:presLayoutVars>
      </dgm:prSet>
      <dgm:spPr/>
    </dgm:pt>
    <dgm:pt modelId="{4E65BCDA-4D78-4084-9B79-04C955443092}" type="pres">
      <dgm:prSet presAssocID="{3118D0CF-FDCF-41B2-BF53-BF02D021AF9A}" presName="rootConnector1" presStyleLbl="node1" presStyleIdx="0" presStyleCnt="0"/>
      <dgm:spPr/>
    </dgm:pt>
    <dgm:pt modelId="{42845FC5-E2C1-445A-A8CF-B2F39F4C3B78}" type="pres">
      <dgm:prSet presAssocID="{3118D0CF-FDCF-41B2-BF53-BF02D021AF9A}" presName="hierChild2" presStyleCnt="0"/>
      <dgm:spPr/>
    </dgm:pt>
    <dgm:pt modelId="{A804A767-C9A4-4C71-99A3-696C30DFEEC6}" type="pres">
      <dgm:prSet presAssocID="{D6023A5D-144C-42F8-ABA3-ACDEE43CCC4F}" presName="Name37" presStyleLbl="parChTrans1D2" presStyleIdx="0" presStyleCnt="3"/>
      <dgm:spPr/>
    </dgm:pt>
    <dgm:pt modelId="{370C52B6-CA7D-45EA-A9AB-4C1F6CA0C062}" type="pres">
      <dgm:prSet presAssocID="{F93D241C-E609-4B6D-9D5C-96A580E971C7}" presName="hierRoot2" presStyleCnt="0">
        <dgm:presLayoutVars>
          <dgm:hierBranch val="init"/>
        </dgm:presLayoutVars>
      </dgm:prSet>
      <dgm:spPr/>
    </dgm:pt>
    <dgm:pt modelId="{5EDC500C-66F6-48B3-A980-A07812C5AA59}" type="pres">
      <dgm:prSet presAssocID="{F93D241C-E609-4B6D-9D5C-96A580E971C7}" presName="rootComposite" presStyleCnt="0"/>
      <dgm:spPr/>
    </dgm:pt>
    <dgm:pt modelId="{161C1972-B6DA-4EE0-A4FD-3AE6EB1BF936}" type="pres">
      <dgm:prSet presAssocID="{F93D241C-E609-4B6D-9D5C-96A580E971C7}" presName="rootText" presStyleLbl="node2" presStyleIdx="0" presStyleCnt="3">
        <dgm:presLayoutVars>
          <dgm:chPref val="3"/>
        </dgm:presLayoutVars>
      </dgm:prSet>
      <dgm:spPr/>
    </dgm:pt>
    <dgm:pt modelId="{FDD93759-2C6B-4F57-AE62-1B14C85CE4AB}" type="pres">
      <dgm:prSet presAssocID="{F93D241C-E609-4B6D-9D5C-96A580E971C7}" presName="rootConnector" presStyleLbl="node2" presStyleIdx="0" presStyleCnt="3"/>
      <dgm:spPr/>
    </dgm:pt>
    <dgm:pt modelId="{987F7235-C562-4F51-BA09-190D9C1D0F73}" type="pres">
      <dgm:prSet presAssocID="{F93D241C-E609-4B6D-9D5C-96A580E971C7}" presName="hierChild4" presStyleCnt="0"/>
      <dgm:spPr/>
    </dgm:pt>
    <dgm:pt modelId="{DBAE49BF-44E8-4494-8ACB-D8805E9AD6BD}" type="pres">
      <dgm:prSet presAssocID="{7C9D76A6-1AAB-4158-A30B-90E8DBEF62AB}" presName="Name37" presStyleLbl="parChTrans1D3" presStyleIdx="0" presStyleCnt="3"/>
      <dgm:spPr/>
    </dgm:pt>
    <dgm:pt modelId="{5824740F-AD12-4486-9AD8-CB8A25B9E504}" type="pres">
      <dgm:prSet presAssocID="{BF86336A-285A-4023-B822-4EE2152BAA4A}" presName="hierRoot2" presStyleCnt="0">
        <dgm:presLayoutVars>
          <dgm:hierBranch val="init"/>
        </dgm:presLayoutVars>
      </dgm:prSet>
      <dgm:spPr/>
    </dgm:pt>
    <dgm:pt modelId="{5C81BCA9-B4DE-43FF-9D61-FF13A7D15007}" type="pres">
      <dgm:prSet presAssocID="{BF86336A-285A-4023-B822-4EE2152BAA4A}" presName="rootComposite" presStyleCnt="0"/>
      <dgm:spPr/>
    </dgm:pt>
    <dgm:pt modelId="{0C0AF6E9-0819-4E33-ABD7-3456A2C57C1F}" type="pres">
      <dgm:prSet presAssocID="{BF86336A-285A-4023-B822-4EE2152BAA4A}" presName="rootText" presStyleLbl="node3" presStyleIdx="0" presStyleCnt="3">
        <dgm:presLayoutVars>
          <dgm:chPref val="3"/>
        </dgm:presLayoutVars>
      </dgm:prSet>
      <dgm:spPr/>
    </dgm:pt>
    <dgm:pt modelId="{2AA108AB-7AEB-43A0-AE38-8AC6FB5F05D4}" type="pres">
      <dgm:prSet presAssocID="{BF86336A-285A-4023-B822-4EE2152BAA4A}" presName="rootConnector" presStyleLbl="node3" presStyleIdx="0" presStyleCnt="3"/>
      <dgm:spPr/>
    </dgm:pt>
    <dgm:pt modelId="{40D20AD6-1DE6-4BDC-9EEE-3F14F439E874}" type="pres">
      <dgm:prSet presAssocID="{BF86336A-285A-4023-B822-4EE2152BAA4A}" presName="hierChild4" presStyleCnt="0"/>
      <dgm:spPr/>
    </dgm:pt>
    <dgm:pt modelId="{D02344B2-A759-4687-BD55-90F855C954F0}" type="pres">
      <dgm:prSet presAssocID="{BF86336A-285A-4023-B822-4EE2152BAA4A}" presName="hierChild5" presStyleCnt="0"/>
      <dgm:spPr/>
    </dgm:pt>
    <dgm:pt modelId="{F5153C1D-F7AC-4E29-9B1C-84D77EA2D2F9}" type="pres">
      <dgm:prSet presAssocID="{F93D241C-E609-4B6D-9D5C-96A580E971C7}" presName="hierChild5" presStyleCnt="0"/>
      <dgm:spPr/>
    </dgm:pt>
    <dgm:pt modelId="{B19976B9-D562-40EB-A378-AA23296381C4}" type="pres">
      <dgm:prSet presAssocID="{F7E95F14-34BF-4E6C-BBAB-30F158438EA1}" presName="Name37" presStyleLbl="parChTrans1D2" presStyleIdx="1" presStyleCnt="3"/>
      <dgm:spPr/>
    </dgm:pt>
    <dgm:pt modelId="{CAD22C54-D5C7-4A49-904B-D34311A4D90B}" type="pres">
      <dgm:prSet presAssocID="{550EA8CF-BD7E-44E6-87B0-162341906B0A}" presName="hierRoot2" presStyleCnt="0">
        <dgm:presLayoutVars>
          <dgm:hierBranch val="init"/>
        </dgm:presLayoutVars>
      </dgm:prSet>
      <dgm:spPr/>
    </dgm:pt>
    <dgm:pt modelId="{414ECF1F-929A-41C4-9BF6-6756409CD4CC}" type="pres">
      <dgm:prSet presAssocID="{550EA8CF-BD7E-44E6-87B0-162341906B0A}" presName="rootComposite" presStyleCnt="0"/>
      <dgm:spPr/>
    </dgm:pt>
    <dgm:pt modelId="{1EE28F92-8638-43DB-9652-251DA40F31A1}" type="pres">
      <dgm:prSet presAssocID="{550EA8CF-BD7E-44E6-87B0-162341906B0A}" presName="rootText" presStyleLbl="node2" presStyleIdx="1" presStyleCnt="3">
        <dgm:presLayoutVars>
          <dgm:chPref val="3"/>
        </dgm:presLayoutVars>
      </dgm:prSet>
      <dgm:spPr/>
    </dgm:pt>
    <dgm:pt modelId="{0DA7A1F2-9837-43AA-9C04-58B36290C4FD}" type="pres">
      <dgm:prSet presAssocID="{550EA8CF-BD7E-44E6-87B0-162341906B0A}" presName="rootConnector" presStyleLbl="node2" presStyleIdx="1" presStyleCnt="3"/>
      <dgm:spPr/>
    </dgm:pt>
    <dgm:pt modelId="{35BC5D7C-A137-4B19-8A83-7072FD27FFE1}" type="pres">
      <dgm:prSet presAssocID="{550EA8CF-BD7E-44E6-87B0-162341906B0A}" presName="hierChild4" presStyleCnt="0"/>
      <dgm:spPr/>
    </dgm:pt>
    <dgm:pt modelId="{FC537BC4-8A93-4137-95D5-3F9EF220790F}" type="pres">
      <dgm:prSet presAssocID="{EB0A43F8-BBF7-4DD4-A282-41D4A76F754A}" presName="Name37" presStyleLbl="parChTrans1D3" presStyleIdx="1" presStyleCnt="3"/>
      <dgm:spPr/>
    </dgm:pt>
    <dgm:pt modelId="{7A3ECFF4-104F-4DD7-B130-012643C6793D}" type="pres">
      <dgm:prSet presAssocID="{D25A0FEC-A2FE-469C-92ED-33C6E6198BE2}" presName="hierRoot2" presStyleCnt="0">
        <dgm:presLayoutVars>
          <dgm:hierBranch val="init"/>
        </dgm:presLayoutVars>
      </dgm:prSet>
      <dgm:spPr/>
    </dgm:pt>
    <dgm:pt modelId="{8673B30C-BAC9-4D63-970F-9B8DC14180A3}" type="pres">
      <dgm:prSet presAssocID="{D25A0FEC-A2FE-469C-92ED-33C6E6198BE2}" presName="rootComposite" presStyleCnt="0"/>
      <dgm:spPr/>
    </dgm:pt>
    <dgm:pt modelId="{90E7619E-189C-4792-9A29-89BE5FADA703}" type="pres">
      <dgm:prSet presAssocID="{D25A0FEC-A2FE-469C-92ED-33C6E6198BE2}" presName="rootText" presStyleLbl="node3" presStyleIdx="1" presStyleCnt="3">
        <dgm:presLayoutVars>
          <dgm:chPref val="3"/>
        </dgm:presLayoutVars>
      </dgm:prSet>
      <dgm:spPr/>
    </dgm:pt>
    <dgm:pt modelId="{C0EBCBC2-9ADB-49A7-BDCE-E23C57A64E7F}" type="pres">
      <dgm:prSet presAssocID="{D25A0FEC-A2FE-469C-92ED-33C6E6198BE2}" presName="rootConnector" presStyleLbl="node3" presStyleIdx="1" presStyleCnt="3"/>
      <dgm:spPr/>
    </dgm:pt>
    <dgm:pt modelId="{A3D6AEA0-8232-45C2-80C8-9DDC67F8C5AF}" type="pres">
      <dgm:prSet presAssocID="{D25A0FEC-A2FE-469C-92ED-33C6E6198BE2}" presName="hierChild4" presStyleCnt="0"/>
      <dgm:spPr/>
    </dgm:pt>
    <dgm:pt modelId="{83FBC52C-1EAD-4655-9CDB-4FBBDC9FCD55}" type="pres">
      <dgm:prSet presAssocID="{D25A0FEC-A2FE-469C-92ED-33C6E6198BE2}" presName="hierChild5" presStyleCnt="0"/>
      <dgm:spPr/>
    </dgm:pt>
    <dgm:pt modelId="{4CFC9A86-69CF-4297-9A1F-48C9A73D9267}" type="pres">
      <dgm:prSet presAssocID="{550EA8CF-BD7E-44E6-87B0-162341906B0A}" presName="hierChild5" presStyleCnt="0"/>
      <dgm:spPr/>
    </dgm:pt>
    <dgm:pt modelId="{9FF1F056-3BA9-4D92-A215-2F61B6C3FC44}" type="pres">
      <dgm:prSet presAssocID="{3332CAE6-4B61-4C79-BA62-F3B745EF2C8F}" presName="Name37" presStyleLbl="parChTrans1D2" presStyleIdx="2" presStyleCnt="3"/>
      <dgm:spPr/>
    </dgm:pt>
    <dgm:pt modelId="{009E523B-94D5-4DCF-AEC0-6E6C597C5E4F}" type="pres">
      <dgm:prSet presAssocID="{55E08966-C314-4210-BDF3-F8F08EFE24A1}" presName="hierRoot2" presStyleCnt="0">
        <dgm:presLayoutVars>
          <dgm:hierBranch val="init"/>
        </dgm:presLayoutVars>
      </dgm:prSet>
      <dgm:spPr/>
    </dgm:pt>
    <dgm:pt modelId="{24762DE3-F2E9-4AC7-8D4E-5875004E7952}" type="pres">
      <dgm:prSet presAssocID="{55E08966-C314-4210-BDF3-F8F08EFE24A1}" presName="rootComposite" presStyleCnt="0"/>
      <dgm:spPr/>
    </dgm:pt>
    <dgm:pt modelId="{39CE26A4-797E-4733-A110-FC0E9D784E19}" type="pres">
      <dgm:prSet presAssocID="{55E08966-C314-4210-BDF3-F8F08EFE24A1}" presName="rootText" presStyleLbl="node2" presStyleIdx="2" presStyleCnt="3">
        <dgm:presLayoutVars>
          <dgm:chPref val="3"/>
        </dgm:presLayoutVars>
      </dgm:prSet>
      <dgm:spPr/>
    </dgm:pt>
    <dgm:pt modelId="{3AF487D2-87E9-4B5A-9B40-6486C6820836}" type="pres">
      <dgm:prSet presAssocID="{55E08966-C314-4210-BDF3-F8F08EFE24A1}" presName="rootConnector" presStyleLbl="node2" presStyleIdx="2" presStyleCnt="3"/>
      <dgm:spPr/>
    </dgm:pt>
    <dgm:pt modelId="{A1F64454-337E-4D02-B219-8A4B183D049F}" type="pres">
      <dgm:prSet presAssocID="{55E08966-C314-4210-BDF3-F8F08EFE24A1}" presName="hierChild4" presStyleCnt="0"/>
      <dgm:spPr/>
    </dgm:pt>
    <dgm:pt modelId="{A93875C0-1F44-45AC-9E65-460974A8E35D}" type="pres">
      <dgm:prSet presAssocID="{3901D904-F646-4F71-BE5C-A6B7990F5CD8}" presName="Name37" presStyleLbl="parChTrans1D3" presStyleIdx="2" presStyleCnt="3"/>
      <dgm:spPr/>
    </dgm:pt>
    <dgm:pt modelId="{7BFD068D-576F-4F01-91A3-E257BFCE507A}" type="pres">
      <dgm:prSet presAssocID="{DAC92A6D-F079-4107-AF7A-8DAED885DA12}" presName="hierRoot2" presStyleCnt="0">
        <dgm:presLayoutVars>
          <dgm:hierBranch val="init"/>
        </dgm:presLayoutVars>
      </dgm:prSet>
      <dgm:spPr/>
    </dgm:pt>
    <dgm:pt modelId="{E58A2091-5FA2-438B-B687-E3A5806BBFF0}" type="pres">
      <dgm:prSet presAssocID="{DAC92A6D-F079-4107-AF7A-8DAED885DA12}" presName="rootComposite" presStyleCnt="0"/>
      <dgm:spPr/>
    </dgm:pt>
    <dgm:pt modelId="{4411B210-34C4-43F7-AC6A-337207AC0365}" type="pres">
      <dgm:prSet presAssocID="{DAC92A6D-F079-4107-AF7A-8DAED885DA12}" presName="rootText" presStyleLbl="node3" presStyleIdx="2" presStyleCnt="3">
        <dgm:presLayoutVars>
          <dgm:chPref val="3"/>
        </dgm:presLayoutVars>
      </dgm:prSet>
      <dgm:spPr/>
    </dgm:pt>
    <dgm:pt modelId="{CB9F6FBA-265D-4EBE-AE2E-7DA84B83C596}" type="pres">
      <dgm:prSet presAssocID="{DAC92A6D-F079-4107-AF7A-8DAED885DA12}" presName="rootConnector" presStyleLbl="node3" presStyleIdx="2" presStyleCnt="3"/>
      <dgm:spPr/>
    </dgm:pt>
    <dgm:pt modelId="{A45DE529-0DA2-44C7-B9EE-51DA2468679E}" type="pres">
      <dgm:prSet presAssocID="{DAC92A6D-F079-4107-AF7A-8DAED885DA12}" presName="hierChild4" presStyleCnt="0"/>
      <dgm:spPr/>
    </dgm:pt>
    <dgm:pt modelId="{C7007B51-3A6D-4DE4-9365-1FA0258766D1}" type="pres">
      <dgm:prSet presAssocID="{DAC92A6D-F079-4107-AF7A-8DAED885DA12}" presName="hierChild5" presStyleCnt="0"/>
      <dgm:spPr/>
    </dgm:pt>
    <dgm:pt modelId="{F996985C-8CB1-482E-9DC0-B65AEEA29125}" type="pres">
      <dgm:prSet presAssocID="{55E08966-C314-4210-BDF3-F8F08EFE24A1}" presName="hierChild5" presStyleCnt="0"/>
      <dgm:spPr/>
    </dgm:pt>
    <dgm:pt modelId="{775E6332-6CCC-4CDA-8EA2-CB78B0EF1593}" type="pres">
      <dgm:prSet presAssocID="{3118D0CF-FDCF-41B2-BF53-BF02D021AF9A}" presName="hierChild3" presStyleCnt="0"/>
      <dgm:spPr/>
    </dgm:pt>
  </dgm:ptLst>
  <dgm:cxnLst>
    <dgm:cxn modelId="{29EEBF03-153E-4B6F-B72A-473E218B05EF}" type="presOf" srcId="{3332CAE6-4B61-4C79-BA62-F3B745EF2C8F}" destId="{9FF1F056-3BA9-4D92-A215-2F61B6C3FC44}" srcOrd="0" destOrd="0" presId="urn:microsoft.com/office/officeart/2005/8/layout/orgChart1"/>
    <dgm:cxn modelId="{97F26C07-AE77-4D9C-8DD0-7F71AB28340A}" type="presOf" srcId="{BF86336A-285A-4023-B822-4EE2152BAA4A}" destId="{2AA108AB-7AEB-43A0-AE38-8AC6FB5F05D4}" srcOrd="1" destOrd="0" presId="urn:microsoft.com/office/officeart/2005/8/layout/orgChart1"/>
    <dgm:cxn modelId="{5930990F-27CB-468A-A6BF-956568466A3F}" type="presOf" srcId="{D25A0FEC-A2FE-469C-92ED-33C6E6198BE2}" destId="{C0EBCBC2-9ADB-49A7-BDCE-E23C57A64E7F}" srcOrd="1" destOrd="0" presId="urn:microsoft.com/office/officeart/2005/8/layout/orgChart1"/>
    <dgm:cxn modelId="{DA683012-6CFC-4027-8C11-3E411707D183}" type="presOf" srcId="{3118D0CF-FDCF-41B2-BF53-BF02D021AF9A}" destId="{4E65BCDA-4D78-4084-9B79-04C955443092}" srcOrd="1" destOrd="0" presId="urn:microsoft.com/office/officeart/2005/8/layout/orgChart1"/>
    <dgm:cxn modelId="{0EBB8312-0B45-4C44-94D2-11F572FFC98F}" type="presOf" srcId="{D25A0FEC-A2FE-469C-92ED-33C6E6198BE2}" destId="{90E7619E-189C-4792-9A29-89BE5FADA703}" srcOrd="0" destOrd="0" presId="urn:microsoft.com/office/officeart/2005/8/layout/orgChart1"/>
    <dgm:cxn modelId="{6A11DC16-49C7-4EFE-8BAC-EDE134F8C59A}" type="presOf" srcId="{550EA8CF-BD7E-44E6-87B0-162341906B0A}" destId="{0DA7A1F2-9837-43AA-9C04-58B36290C4FD}" srcOrd="1" destOrd="0" presId="urn:microsoft.com/office/officeart/2005/8/layout/orgChart1"/>
    <dgm:cxn modelId="{EA1B7E22-E667-4DC0-A7D8-9BAE47F0FCD0}" type="presOf" srcId="{BF86336A-285A-4023-B822-4EE2152BAA4A}" destId="{0C0AF6E9-0819-4E33-ABD7-3456A2C57C1F}" srcOrd="0" destOrd="0" presId="urn:microsoft.com/office/officeart/2005/8/layout/orgChart1"/>
    <dgm:cxn modelId="{9F41732B-5407-42EB-9181-60C5A7A2F64D}" type="presOf" srcId="{3118D0CF-FDCF-41B2-BF53-BF02D021AF9A}" destId="{366C73EA-562F-4853-8F19-8ACDA3C57F41}" srcOrd="0" destOrd="0" presId="urn:microsoft.com/office/officeart/2005/8/layout/orgChart1"/>
    <dgm:cxn modelId="{D2F90432-3876-4A24-A9FD-7D6CA888A41F}" type="presOf" srcId="{D6023A5D-144C-42F8-ABA3-ACDEE43CCC4F}" destId="{A804A767-C9A4-4C71-99A3-696C30DFEEC6}" srcOrd="0" destOrd="0" presId="urn:microsoft.com/office/officeart/2005/8/layout/orgChart1"/>
    <dgm:cxn modelId="{B9B84D38-DFCF-4EDE-AC98-E3E2E62BA8A6}" srcId="{550EA8CF-BD7E-44E6-87B0-162341906B0A}" destId="{D25A0FEC-A2FE-469C-92ED-33C6E6198BE2}" srcOrd="0" destOrd="0" parTransId="{EB0A43F8-BBF7-4DD4-A282-41D4A76F754A}" sibTransId="{7ED8C226-A76E-454C-B6A2-DCFDBFE036CE}"/>
    <dgm:cxn modelId="{4A167E38-80FF-426A-93AA-2B382C56680A}" srcId="{3118D0CF-FDCF-41B2-BF53-BF02D021AF9A}" destId="{F93D241C-E609-4B6D-9D5C-96A580E971C7}" srcOrd="0" destOrd="0" parTransId="{D6023A5D-144C-42F8-ABA3-ACDEE43CCC4F}" sibTransId="{F7B55EA7-2BB4-44F9-996A-B09A22FC2642}"/>
    <dgm:cxn modelId="{F3821061-E4D8-4FA3-A81A-3D67D696D42E}" type="presOf" srcId="{DAC92A6D-F079-4107-AF7A-8DAED885DA12}" destId="{CB9F6FBA-265D-4EBE-AE2E-7DA84B83C596}" srcOrd="1" destOrd="0" presId="urn:microsoft.com/office/officeart/2005/8/layout/orgChart1"/>
    <dgm:cxn modelId="{D77CCE44-91C1-47D8-96ED-3703A7BBBB9B}" type="presOf" srcId="{55E08966-C314-4210-BDF3-F8F08EFE24A1}" destId="{39CE26A4-797E-4733-A110-FC0E9D784E19}" srcOrd="0" destOrd="0" presId="urn:microsoft.com/office/officeart/2005/8/layout/orgChart1"/>
    <dgm:cxn modelId="{7D2F7C4E-CB3C-44F2-B176-CDF8F5DC5DEA}" type="presOf" srcId="{7C9D76A6-1AAB-4158-A30B-90E8DBEF62AB}" destId="{DBAE49BF-44E8-4494-8ACB-D8805E9AD6BD}" srcOrd="0" destOrd="0" presId="urn:microsoft.com/office/officeart/2005/8/layout/orgChart1"/>
    <dgm:cxn modelId="{016C4751-FF47-421E-A149-79925B8790C1}" srcId="{3118D0CF-FDCF-41B2-BF53-BF02D021AF9A}" destId="{55E08966-C314-4210-BDF3-F8F08EFE24A1}" srcOrd="2" destOrd="0" parTransId="{3332CAE6-4B61-4C79-BA62-F3B745EF2C8F}" sibTransId="{2B51D1B4-42EF-4994-A728-F0C93163EC54}"/>
    <dgm:cxn modelId="{528B0453-BED3-40B4-8246-B6DA3FE6871A}" type="presOf" srcId="{EB0A43F8-BBF7-4DD4-A282-41D4A76F754A}" destId="{FC537BC4-8A93-4137-95D5-3F9EF220790F}" srcOrd="0" destOrd="0" presId="urn:microsoft.com/office/officeart/2005/8/layout/orgChart1"/>
    <dgm:cxn modelId="{33A98753-B266-44BE-BE0A-DB57EF41C716}" type="presOf" srcId="{3901D904-F646-4F71-BE5C-A6B7990F5CD8}" destId="{A93875C0-1F44-45AC-9E65-460974A8E35D}" srcOrd="0" destOrd="0" presId="urn:microsoft.com/office/officeart/2005/8/layout/orgChart1"/>
    <dgm:cxn modelId="{F766D874-398F-4BFA-A4B8-D4EA56ED0A68}" srcId="{3118D0CF-FDCF-41B2-BF53-BF02D021AF9A}" destId="{550EA8CF-BD7E-44E6-87B0-162341906B0A}" srcOrd="1" destOrd="0" parTransId="{F7E95F14-34BF-4E6C-BBAB-30F158438EA1}" sibTransId="{1769ABEF-AB04-48CD-A0F4-909DF455782C}"/>
    <dgm:cxn modelId="{B6E8827C-DB30-4A45-890B-BAB278837DDA}" type="presOf" srcId="{F93D241C-E609-4B6D-9D5C-96A580E971C7}" destId="{FDD93759-2C6B-4F57-AE62-1B14C85CE4AB}" srcOrd="1" destOrd="0" presId="urn:microsoft.com/office/officeart/2005/8/layout/orgChart1"/>
    <dgm:cxn modelId="{06BDA988-D200-4D84-AA50-2E7C9B606A4B}" srcId="{F93D241C-E609-4B6D-9D5C-96A580E971C7}" destId="{BF86336A-285A-4023-B822-4EE2152BAA4A}" srcOrd="0" destOrd="0" parTransId="{7C9D76A6-1AAB-4158-A30B-90E8DBEF62AB}" sibTransId="{0FC38391-2A7B-44B5-8D63-517254315D3D}"/>
    <dgm:cxn modelId="{0873389F-C859-4244-B6F3-93E4209C71C4}" type="presOf" srcId="{DAC92A6D-F079-4107-AF7A-8DAED885DA12}" destId="{4411B210-34C4-43F7-AC6A-337207AC0365}" srcOrd="0" destOrd="0" presId="urn:microsoft.com/office/officeart/2005/8/layout/orgChart1"/>
    <dgm:cxn modelId="{C5C59CB0-8874-4AC0-831A-F9A76C94CF73}" type="presOf" srcId="{55E08966-C314-4210-BDF3-F8F08EFE24A1}" destId="{3AF487D2-87E9-4B5A-9B40-6486C6820836}" srcOrd="1" destOrd="0" presId="urn:microsoft.com/office/officeart/2005/8/layout/orgChart1"/>
    <dgm:cxn modelId="{B2A415B7-6596-4A59-958E-38D36D6966B1}" type="presOf" srcId="{F7E95F14-34BF-4E6C-BBAB-30F158438EA1}" destId="{B19976B9-D562-40EB-A378-AA23296381C4}" srcOrd="0" destOrd="0" presId="urn:microsoft.com/office/officeart/2005/8/layout/orgChart1"/>
    <dgm:cxn modelId="{ECDB0BBB-C63F-4EA4-A542-41037F053865}" type="presOf" srcId="{0127086B-B617-4877-99F7-3B6363B179DF}" destId="{05AE8B59-DB18-416A-969F-CB005001EA78}" srcOrd="0" destOrd="0" presId="urn:microsoft.com/office/officeart/2005/8/layout/orgChart1"/>
    <dgm:cxn modelId="{3478F9C4-BDC1-4F24-A239-46BA2BC70FF1}" srcId="{0127086B-B617-4877-99F7-3B6363B179DF}" destId="{3118D0CF-FDCF-41B2-BF53-BF02D021AF9A}" srcOrd="0" destOrd="0" parTransId="{F2B8D9C4-7117-4291-B78B-EAEC9FC24E0E}" sibTransId="{DB8FDC00-201C-4A0E-BD4C-FF8CB7F74B22}"/>
    <dgm:cxn modelId="{989071CC-F581-4F19-9ADC-55E1928F3ED8}" srcId="{55E08966-C314-4210-BDF3-F8F08EFE24A1}" destId="{DAC92A6D-F079-4107-AF7A-8DAED885DA12}" srcOrd="0" destOrd="0" parTransId="{3901D904-F646-4F71-BE5C-A6B7990F5CD8}" sibTransId="{7BABE2AD-A2A8-4F08-9584-F7792AB2EC3D}"/>
    <dgm:cxn modelId="{C74E88D9-DAD7-447E-A687-39CF47C74E18}" type="presOf" srcId="{550EA8CF-BD7E-44E6-87B0-162341906B0A}" destId="{1EE28F92-8638-43DB-9652-251DA40F31A1}" srcOrd="0" destOrd="0" presId="urn:microsoft.com/office/officeart/2005/8/layout/orgChart1"/>
    <dgm:cxn modelId="{BD73B8E6-BC8B-41D6-831B-5F98CC13756C}" type="presOf" srcId="{F93D241C-E609-4B6D-9D5C-96A580E971C7}" destId="{161C1972-B6DA-4EE0-A4FD-3AE6EB1BF936}" srcOrd="0" destOrd="0" presId="urn:microsoft.com/office/officeart/2005/8/layout/orgChart1"/>
    <dgm:cxn modelId="{B8F49656-4972-432F-872C-8C16E5234B5B}" type="presParOf" srcId="{05AE8B59-DB18-416A-969F-CB005001EA78}" destId="{8817B89B-3345-463B-86DD-D39291C1A60B}" srcOrd="0" destOrd="0" presId="urn:microsoft.com/office/officeart/2005/8/layout/orgChart1"/>
    <dgm:cxn modelId="{0DCE0303-F4FF-4A05-A708-E6FF8CF3C33A}" type="presParOf" srcId="{8817B89B-3345-463B-86DD-D39291C1A60B}" destId="{EB0348D6-16AD-4FEE-9062-D7AA3195978F}" srcOrd="0" destOrd="0" presId="urn:microsoft.com/office/officeart/2005/8/layout/orgChart1"/>
    <dgm:cxn modelId="{64C95846-8549-49F6-A324-5B1C95BAEEC3}" type="presParOf" srcId="{EB0348D6-16AD-4FEE-9062-D7AA3195978F}" destId="{366C73EA-562F-4853-8F19-8ACDA3C57F41}" srcOrd="0" destOrd="0" presId="urn:microsoft.com/office/officeart/2005/8/layout/orgChart1"/>
    <dgm:cxn modelId="{A11D0D1F-5C07-4211-9E23-09E893B92FC5}" type="presParOf" srcId="{EB0348D6-16AD-4FEE-9062-D7AA3195978F}" destId="{4E65BCDA-4D78-4084-9B79-04C955443092}" srcOrd="1" destOrd="0" presId="urn:microsoft.com/office/officeart/2005/8/layout/orgChart1"/>
    <dgm:cxn modelId="{7C177C18-5DC0-40EA-9653-4DFBD5133FCF}" type="presParOf" srcId="{8817B89B-3345-463B-86DD-D39291C1A60B}" destId="{42845FC5-E2C1-445A-A8CF-B2F39F4C3B78}" srcOrd="1" destOrd="0" presId="urn:microsoft.com/office/officeart/2005/8/layout/orgChart1"/>
    <dgm:cxn modelId="{F2CD6409-CDE9-490E-B7F1-CBA3D8CFCB04}" type="presParOf" srcId="{42845FC5-E2C1-445A-A8CF-B2F39F4C3B78}" destId="{A804A767-C9A4-4C71-99A3-696C30DFEEC6}" srcOrd="0" destOrd="0" presId="urn:microsoft.com/office/officeart/2005/8/layout/orgChart1"/>
    <dgm:cxn modelId="{FA6F4F53-5BF2-4B9B-96E7-05237C1A076F}" type="presParOf" srcId="{42845FC5-E2C1-445A-A8CF-B2F39F4C3B78}" destId="{370C52B6-CA7D-45EA-A9AB-4C1F6CA0C062}" srcOrd="1" destOrd="0" presId="urn:microsoft.com/office/officeart/2005/8/layout/orgChart1"/>
    <dgm:cxn modelId="{5C9A1AA2-45F5-44B0-8676-D8F95BCF4AC9}" type="presParOf" srcId="{370C52B6-CA7D-45EA-A9AB-4C1F6CA0C062}" destId="{5EDC500C-66F6-48B3-A980-A07812C5AA59}" srcOrd="0" destOrd="0" presId="urn:microsoft.com/office/officeart/2005/8/layout/orgChart1"/>
    <dgm:cxn modelId="{21505B6A-F799-46E0-A6DF-EE3FE1EC2068}" type="presParOf" srcId="{5EDC500C-66F6-48B3-A980-A07812C5AA59}" destId="{161C1972-B6DA-4EE0-A4FD-3AE6EB1BF936}" srcOrd="0" destOrd="0" presId="urn:microsoft.com/office/officeart/2005/8/layout/orgChart1"/>
    <dgm:cxn modelId="{497E93DD-2B1F-4724-84D4-27078796FDD1}" type="presParOf" srcId="{5EDC500C-66F6-48B3-A980-A07812C5AA59}" destId="{FDD93759-2C6B-4F57-AE62-1B14C85CE4AB}" srcOrd="1" destOrd="0" presId="urn:microsoft.com/office/officeart/2005/8/layout/orgChart1"/>
    <dgm:cxn modelId="{CD396CF5-283A-4E14-808E-0D5007A68D6B}" type="presParOf" srcId="{370C52B6-CA7D-45EA-A9AB-4C1F6CA0C062}" destId="{987F7235-C562-4F51-BA09-190D9C1D0F73}" srcOrd="1" destOrd="0" presId="urn:microsoft.com/office/officeart/2005/8/layout/orgChart1"/>
    <dgm:cxn modelId="{A2B1CABE-2DE3-46B8-A7A1-C5F66B5E5C59}" type="presParOf" srcId="{987F7235-C562-4F51-BA09-190D9C1D0F73}" destId="{DBAE49BF-44E8-4494-8ACB-D8805E9AD6BD}" srcOrd="0" destOrd="0" presId="urn:microsoft.com/office/officeart/2005/8/layout/orgChart1"/>
    <dgm:cxn modelId="{F1577626-35BC-4EDF-B454-32B82252CBF0}" type="presParOf" srcId="{987F7235-C562-4F51-BA09-190D9C1D0F73}" destId="{5824740F-AD12-4486-9AD8-CB8A25B9E504}" srcOrd="1" destOrd="0" presId="urn:microsoft.com/office/officeart/2005/8/layout/orgChart1"/>
    <dgm:cxn modelId="{68B3E380-34A9-4D0A-8110-BE0546ECDEF7}" type="presParOf" srcId="{5824740F-AD12-4486-9AD8-CB8A25B9E504}" destId="{5C81BCA9-B4DE-43FF-9D61-FF13A7D15007}" srcOrd="0" destOrd="0" presId="urn:microsoft.com/office/officeart/2005/8/layout/orgChart1"/>
    <dgm:cxn modelId="{89A36F5D-8943-4B74-830B-2740DBA481FC}" type="presParOf" srcId="{5C81BCA9-B4DE-43FF-9D61-FF13A7D15007}" destId="{0C0AF6E9-0819-4E33-ABD7-3456A2C57C1F}" srcOrd="0" destOrd="0" presId="urn:microsoft.com/office/officeart/2005/8/layout/orgChart1"/>
    <dgm:cxn modelId="{60C0571D-6198-4A6C-B5F1-555734392576}" type="presParOf" srcId="{5C81BCA9-B4DE-43FF-9D61-FF13A7D15007}" destId="{2AA108AB-7AEB-43A0-AE38-8AC6FB5F05D4}" srcOrd="1" destOrd="0" presId="urn:microsoft.com/office/officeart/2005/8/layout/orgChart1"/>
    <dgm:cxn modelId="{77E1AE61-1301-4DB3-A13A-B2B8B0FCDF98}" type="presParOf" srcId="{5824740F-AD12-4486-9AD8-CB8A25B9E504}" destId="{40D20AD6-1DE6-4BDC-9EEE-3F14F439E874}" srcOrd="1" destOrd="0" presId="urn:microsoft.com/office/officeart/2005/8/layout/orgChart1"/>
    <dgm:cxn modelId="{5DE34F65-61D5-49DB-A7D3-4375C1C34507}" type="presParOf" srcId="{5824740F-AD12-4486-9AD8-CB8A25B9E504}" destId="{D02344B2-A759-4687-BD55-90F855C954F0}" srcOrd="2" destOrd="0" presId="urn:microsoft.com/office/officeart/2005/8/layout/orgChart1"/>
    <dgm:cxn modelId="{6862F4B3-1971-434E-BC66-CEDA63B32650}" type="presParOf" srcId="{370C52B6-CA7D-45EA-A9AB-4C1F6CA0C062}" destId="{F5153C1D-F7AC-4E29-9B1C-84D77EA2D2F9}" srcOrd="2" destOrd="0" presId="urn:microsoft.com/office/officeart/2005/8/layout/orgChart1"/>
    <dgm:cxn modelId="{4B90A9CC-5587-4DC1-95A9-3C4F28CCEBD7}" type="presParOf" srcId="{42845FC5-E2C1-445A-A8CF-B2F39F4C3B78}" destId="{B19976B9-D562-40EB-A378-AA23296381C4}" srcOrd="2" destOrd="0" presId="urn:microsoft.com/office/officeart/2005/8/layout/orgChart1"/>
    <dgm:cxn modelId="{AE716090-9097-4360-BD9F-839C31DF7E3A}" type="presParOf" srcId="{42845FC5-E2C1-445A-A8CF-B2F39F4C3B78}" destId="{CAD22C54-D5C7-4A49-904B-D34311A4D90B}" srcOrd="3" destOrd="0" presId="urn:microsoft.com/office/officeart/2005/8/layout/orgChart1"/>
    <dgm:cxn modelId="{6F101521-CAFB-4604-8842-17F76A3030F1}" type="presParOf" srcId="{CAD22C54-D5C7-4A49-904B-D34311A4D90B}" destId="{414ECF1F-929A-41C4-9BF6-6756409CD4CC}" srcOrd="0" destOrd="0" presId="urn:microsoft.com/office/officeart/2005/8/layout/orgChart1"/>
    <dgm:cxn modelId="{6CDC288F-A6D9-4E85-B03D-22431A05E3D2}" type="presParOf" srcId="{414ECF1F-929A-41C4-9BF6-6756409CD4CC}" destId="{1EE28F92-8638-43DB-9652-251DA40F31A1}" srcOrd="0" destOrd="0" presId="urn:microsoft.com/office/officeart/2005/8/layout/orgChart1"/>
    <dgm:cxn modelId="{8B024DA9-A88F-4119-8C50-E6EF1429246A}" type="presParOf" srcId="{414ECF1F-929A-41C4-9BF6-6756409CD4CC}" destId="{0DA7A1F2-9837-43AA-9C04-58B36290C4FD}" srcOrd="1" destOrd="0" presId="urn:microsoft.com/office/officeart/2005/8/layout/orgChart1"/>
    <dgm:cxn modelId="{A8DC8A20-7056-4664-8699-E10AE84BE6B9}" type="presParOf" srcId="{CAD22C54-D5C7-4A49-904B-D34311A4D90B}" destId="{35BC5D7C-A137-4B19-8A83-7072FD27FFE1}" srcOrd="1" destOrd="0" presId="urn:microsoft.com/office/officeart/2005/8/layout/orgChart1"/>
    <dgm:cxn modelId="{66F24470-30BC-4BB0-A3E5-556B1F7F48FA}" type="presParOf" srcId="{35BC5D7C-A137-4B19-8A83-7072FD27FFE1}" destId="{FC537BC4-8A93-4137-95D5-3F9EF220790F}" srcOrd="0" destOrd="0" presId="urn:microsoft.com/office/officeart/2005/8/layout/orgChart1"/>
    <dgm:cxn modelId="{B8C36AAC-4B18-4F72-BB3D-B12497383B65}" type="presParOf" srcId="{35BC5D7C-A137-4B19-8A83-7072FD27FFE1}" destId="{7A3ECFF4-104F-4DD7-B130-012643C6793D}" srcOrd="1" destOrd="0" presId="urn:microsoft.com/office/officeart/2005/8/layout/orgChart1"/>
    <dgm:cxn modelId="{1334292F-B79D-47C1-A82C-8C84AC385385}" type="presParOf" srcId="{7A3ECFF4-104F-4DD7-B130-012643C6793D}" destId="{8673B30C-BAC9-4D63-970F-9B8DC14180A3}" srcOrd="0" destOrd="0" presId="urn:microsoft.com/office/officeart/2005/8/layout/orgChart1"/>
    <dgm:cxn modelId="{0F7EF0FB-EFF6-4BC8-A78E-B9686B890464}" type="presParOf" srcId="{8673B30C-BAC9-4D63-970F-9B8DC14180A3}" destId="{90E7619E-189C-4792-9A29-89BE5FADA703}" srcOrd="0" destOrd="0" presId="urn:microsoft.com/office/officeart/2005/8/layout/orgChart1"/>
    <dgm:cxn modelId="{52E69F9A-60E1-418B-9C6D-1ECCCA008B5F}" type="presParOf" srcId="{8673B30C-BAC9-4D63-970F-9B8DC14180A3}" destId="{C0EBCBC2-9ADB-49A7-BDCE-E23C57A64E7F}" srcOrd="1" destOrd="0" presId="urn:microsoft.com/office/officeart/2005/8/layout/orgChart1"/>
    <dgm:cxn modelId="{78FA45D4-D171-433D-A55B-A900E2356C57}" type="presParOf" srcId="{7A3ECFF4-104F-4DD7-B130-012643C6793D}" destId="{A3D6AEA0-8232-45C2-80C8-9DDC67F8C5AF}" srcOrd="1" destOrd="0" presId="urn:microsoft.com/office/officeart/2005/8/layout/orgChart1"/>
    <dgm:cxn modelId="{AD86D466-F616-43AE-B2CF-AA6F08BCD957}" type="presParOf" srcId="{7A3ECFF4-104F-4DD7-B130-012643C6793D}" destId="{83FBC52C-1EAD-4655-9CDB-4FBBDC9FCD55}" srcOrd="2" destOrd="0" presId="urn:microsoft.com/office/officeart/2005/8/layout/orgChart1"/>
    <dgm:cxn modelId="{F0ED32A0-7D0F-40FF-968F-AF32B0511FE0}" type="presParOf" srcId="{CAD22C54-D5C7-4A49-904B-D34311A4D90B}" destId="{4CFC9A86-69CF-4297-9A1F-48C9A73D9267}" srcOrd="2" destOrd="0" presId="urn:microsoft.com/office/officeart/2005/8/layout/orgChart1"/>
    <dgm:cxn modelId="{DD4F9468-9C27-42AB-BEC0-97E96FA87261}" type="presParOf" srcId="{42845FC5-E2C1-445A-A8CF-B2F39F4C3B78}" destId="{9FF1F056-3BA9-4D92-A215-2F61B6C3FC44}" srcOrd="4" destOrd="0" presId="urn:microsoft.com/office/officeart/2005/8/layout/orgChart1"/>
    <dgm:cxn modelId="{BBFCF208-908E-42D0-80BA-D97D8ED93AA3}" type="presParOf" srcId="{42845FC5-E2C1-445A-A8CF-B2F39F4C3B78}" destId="{009E523B-94D5-4DCF-AEC0-6E6C597C5E4F}" srcOrd="5" destOrd="0" presId="urn:microsoft.com/office/officeart/2005/8/layout/orgChart1"/>
    <dgm:cxn modelId="{D70154E2-7BB5-4DA4-9224-D1A42FDAD344}" type="presParOf" srcId="{009E523B-94D5-4DCF-AEC0-6E6C597C5E4F}" destId="{24762DE3-F2E9-4AC7-8D4E-5875004E7952}" srcOrd="0" destOrd="0" presId="urn:microsoft.com/office/officeart/2005/8/layout/orgChart1"/>
    <dgm:cxn modelId="{A7298B59-23D9-418E-904C-795BE38527F0}" type="presParOf" srcId="{24762DE3-F2E9-4AC7-8D4E-5875004E7952}" destId="{39CE26A4-797E-4733-A110-FC0E9D784E19}" srcOrd="0" destOrd="0" presId="urn:microsoft.com/office/officeart/2005/8/layout/orgChart1"/>
    <dgm:cxn modelId="{3F7F7FE5-F08D-4859-B87B-4ACA640A17AE}" type="presParOf" srcId="{24762DE3-F2E9-4AC7-8D4E-5875004E7952}" destId="{3AF487D2-87E9-4B5A-9B40-6486C6820836}" srcOrd="1" destOrd="0" presId="urn:microsoft.com/office/officeart/2005/8/layout/orgChart1"/>
    <dgm:cxn modelId="{A591CB58-6F80-4608-96DC-0B12EA89D685}" type="presParOf" srcId="{009E523B-94D5-4DCF-AEC0-6E6C597C5E4F}" destId="{A1F64454-337E-4D02-B219-8A4B183D049F}" srcOrd="1" destOrd="0" presId="urn:microsoft.com/office/officeart/2005/8/layout/orgChart1"/>
    <dgm:cxn modelId="{4A80988E-9F4F-4928-9E2D-671971D9E133}" type="presParOf" srcId="{A1F64454-337E-4D02-B219-8A4B183D049F}" destId="{A93875C0-1F44-45AC-9E65-460974A8E35D}" srcOrd="0" destOrd="0" presId="urn:microsoft.com/office/officeart/2005/8/layout/orgChart1"/>
    <dgm:cxn modelId="{2321A0EA-51A4-478F-94BF-0CA660D55FD8}" type="presParOf" srcId="{A1F64454-337E-4D02-B219-8A4B183D049F}" destId="{7BFD068D-576F-4F01-91A3-E257BFCE507A}" srcOrd="1" destOrd="0" presId="urn:microsoft.com/office/officeart/2005/8/layout/orgChart1"/>
    <dgm:cxn modelId="{BBC8F2F8-F367-47FF-963F-591821E26B9A}" type="presParOf" srcId="{7BFD068D-576F-4F01-91A3-E257BFCE507A}" destId="{E58A2091-5FA2-438B-B687-E3A5806BBFF0}" srcOrd="0" destOrd="0" presId="urn:microsoft.com/office/officeart/2005/8/layout/orgChart1"/>
    <dgm:cxn modelId="{8295513E-F3A3-4E5E-AFF2-AB0A4B74DE14}" type="presParOf" srcId="{E58A2091-5FA2-438B-B687-E3A5806BBFF0}" destId="{4411B210-34C4-43F7-AC6A-337207AC0365}" srcOrd="0" destOrd="0" presId="urn:microsoft.com/office/officeart/2005/8/layout/orgChart1"/>
    <dgm:cxn modelId="{146E8315-D2B4-471F-8224-9E49895F64DE}" type="presParOf" srcId="{E58A2091-5FA2-438B-B687-E3A5806BBFF0}" destId="{CB9F6FBA-265D-4EBE-AE2E-7DA84B83C596}" srcOrd="1" destOrd="0" presId="urn:microsoft.com/office/officeart/2005/8/layout/orgChart1"/>
    <dgm:cxn modelId="{2706FCF0-FDD2-4F46-9A21-385689E02A8B}" type="presParOf" srcId="{7BFD068D-576F-4F01-91A3-E257BFCE507A}" destId="{A45DE529-0DA2-44C7-B9EE-51DA2468679E}" srcOrd="1" destOrd="0" presId="urn:microsoft.com/office/officeart/2005/8/layout/orgChart1"/>
    <dgm:cxn modelId="{11065259-0B04-4101-8C26-FC7B8545B85B}" type="presParOf" srcId="{7BFD068D-576F-4F01-91A3-E257BFCE507A}" destId="{C7007B51-3A6D-4DE4-9365-1FA0258766D1}" srcOrd="2" destOrd="0" presId="urn:microsoft.com/office/officeart/2005/8/layout/orgChart1"/>
    <dgm:cxn modelId="{C95537AB-89E4-485C-B555-20A827BC58DE}" type="presParOf" srcId="{009E523B-94D5-4DCF-AEC0-6E6C597C5E4F}" destId="{F996985C-8CB1-482E-9DC0-B65AEEA29125}" srcOrd="2" destOrd="0" presId="urn:microsoft.com/office/officeart/2005/8/layout/orgChart1"/>
    <dgm:cxn modelId="{D78E084C-4375-42D5-81CD-07C0B9EC0EB5}" type="presParOf" srcId="{8817B89B-3345-463B-86DD-D39291C1A60B}" destId="{775E6332-6CCC-4CDA-8EA2-CB78B0EF159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DF0B5-9860-405D-84B5-05696B45DE39}">
      <dsp:nvSpPr>
        <dsp:cNvPr id="0" name=""/>
        <dsp:cNvSpPr/>
      </dsp:nvSpPr>
      <dsp:spPr>
        <a:xfrm>
          <a:off x="10139254" y="2429070"/>
          <a:ext cx="91440" cy="732423"/>
        </a:xfrm>
        <a:custGeom>
          <a:avLst/>
          <a:gdLst/>
          <a:ahLst/>
          <a:cxnLst/>
          <a:rect l="0" t="0" r="0" b="0"/>
          <a:pathLst>
            <a:path>
              <a:moveTo>
                <a:pt x="45720" y="0"/>
              </a:moveTo>
              <a:lnTo>
                <a:pt x="45720" y="732423"/>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E16285-283C-44F3-817C-934C9DB0C31C}">
      <dsp:nvSpPr>
        <dsp:cNvPr id="0" name=""/>
        <dsp:cNvSpPr/>
      </dsp:nvSpPr>
      <dsp:spPr>
        <a:xfrm>
          <a:off x="3854743" y="2429070"/>
          <a:ext cx="2110077" cy="732423"/>
        </a:xfrm>
        <a:custGeom>
          <a:avLst/>
          <a:gdLst/>
          <a:ahLst/>
          <a:cxnLst/>
          <a:rect l="0" t="0" r="0" b="0"/>
          <a:pathLst>
            <a:path>
              <a:moveTo>
                <a:pt x="0" y="0"/>
              </a:moveTo>
              <a:lnTo>
                <a:pt x="0" y="366211"/>
              </a:lnTo>
              <a:lnTo>
                <a:pt x="2110077" y="366211"/>
              </a:lnTo>
              <a:lnTo>
                <a:pt x="2110077" y="732423"/>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3E2AC9-3480-40EC-A40D-1499E8C0648F}">
      <dsp:nvSpPr>
        <dsp:cNvPr id="0" name=""/>
        <dsp:cNvSpPr/>
      </dsp:nvSpPr>
      <dsp:spPr>
        <a:xfrm>
          <a:off x="1744666" y="2429070"/>
          <a:ext cx="2110077" cy="732423"/>
        </a:xfrm>
        <a:custGeom>
          <a:avLst/>
          <a:gdLst/>
          <a:ahLst/>
          <a:cxnLst/>
          <a:rect l="0" t="0" r="0" b="0"/>
          <a:pathLst>
            <a:path>
              <a:moveTo>
                <a:pt x="2110077" y="0"/>
              </a:moveTo>
              <a:lnTo>
                <a:pt x="2110077" y="366211"/>
              </a:lnTo>
              <a:lnTo>
                <a:pt x="0" y="366211"/>
              </a:lnTo>
              <a:lnTo>
                <a:pt x="0" y="732423"/>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57AF90-EB13-4DED-AE8D-45392311F6C0}">
      <dsp:nvSpPr>
        <dsp:cNvPr id="0" name=""/>
        <dsp:cNvSpPr/>
      </dsp:nvSpPr>
      <dsp:spPr>
        <a:xfrm>
          <a:off x="2110878" y="685205"/>
          <a:ext cx="3487730" cy="174386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a:t>Intra-state (within) supply</a:t>
          </a:r>
          <a:endParaRPr lang="en-IN" sz="3900" kern="1200"/>
        </a:p>
      </dsp:txBody>
      <dsp:txXfrm>
        <a:off x="2110878" y="685205"/>
        <a:ext cx="3487730" cy="1743865"/>
      </dsp:txXfrm>
    </dsp:sp>
    <dsp:sp modelId="{5640236E-5D2E-4F1D-9E31-527338A5C018}">
      <dsp:nvSpPr>
        <dsp:cNvPr id="0" name=""/>
        <dsp:cNvSpPr/>
      </dsp:nvSpPr>
      <dsp:spPr>
        <a:xfrm>
          <a:off x="800" y="3161494"/>
          <a:ext cx="3487730" cy="174386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a:t>CGST &amp; SGST</a:t>
          </a:r>
          <a:endParaRPr lang="en-IN" sz="3900" kern="1200"/>
        </a:p>
      </dsp:txBody>
      <dsp:txXfrm>
        <a:off x="800" y="3161494"/>
        <a:ext cx="3487730" cy="1743865"/>
      </dsp:txXfrm>
    </dsp:sp>
    <dsp:sp modelId="{4B92F9FB-2BC0-4C58-A5B7-99670C5043EC}">
      <dsp:nvSpPr>
        <dsp:cNvPr id="0" name=""/>
        <dsp:cNvSpPr/>
      </dsp:nvSpPr>
      <dsp:spPr>
        <a:xfrm>
          <a:off x="4220955" y="3161494"/>
          <a:ext cx="3487730" cy="174386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a:t>CGST &amp; UTGST</a:t>
          </a:r>
          <a:endParaRPr lang="en-IN" sz="3900" kern="1200"/>
        </a:p>
      </dsp:txBody>
      <dsp:txXfrm>
        <a:off x="4220955" y="3161494"/>
        <a:ext cx="3487730" cy="1743865"/>
      </dsp:txXfrm>
    </dsp:sp>
    <dsp:sp modelId="{59021F5E-4182-4EF8-8AEA-4E65512EA6F1}">
      <dsp:nvSpPr>
        <dsp:cNvPr id="0" name=""/>
        <dsp:cNvSpPr/>
      </dsp:nvSpPr>
      <dsp:spPr>
        <a:xfrm>
          <a:off x="8441109" y="685205"/>
          <a:ext cx="3487730" cy="174386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Inter-state supply</a:t>
          </a:r>
        </a:p>
        <a:p>
          <a:pPr marL="0" lvl="0" indent="0" algn="ctr" defTabSz="1733550">
            <a:lnSpc>
              <a:spcPct val="90000"/>
            </a:lnSpc>
            <a:spcBef>
              <a:spcPct val="0"/>
            </a:spcBef>
            <a:spcAft>
              <a:spcPct val="35000"/>
            </a:spcAft>
            <a:buNone/>
          </a:pPr>
          <a:r>
            <a:rPr lang="en-US" sz="3900" kern="1200" dirty="0"/>
            <a:t>(between states)</a:t>
          </a:r>
          <a:endParaRPr lang="en-IN" sz="3900" kern="1200" dirty="0"/>
        </a:p>
      </dsp:txBody>
      <dsp:txXfrm>
        <a:off x="8441109" y="685205"/>
        <a:ext cx="3487730" cy="1743865"/>
      </dsp:txXfrm>
    </dsp:sp>
    <dsp:sp modelId="{8567A04A-4F24-4163-A8D2-21657BDFD826}">
      <dsp:nvSpPr>
        <dsp:cNvPr id="0" name=""/>
        <dsp:cNvSpPr/>
      </dsp:nvSpPr>
      <dsp:spPr>
        <a:xfrm>
          <a:off x="8441109" y="3161494"/>
          <a:ext cx="3487730" cy="174386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a:t>IGST</a:t>
          </a:r>
          <a:endParaRPr lang="en-IN" sz="3900" kern="1200"/>
        </a:p>
      </dsp:txBody>
      <dsp:txXfrm>
        <a:off x="8441109" y="3161494"/>
        <a:ext cx="3487730" cy="17438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A50B28-728F-4D2E-9324-22BA6951AED6}">
      <dsp:nvSpPr>
        <dsp:cNvPr id="0" name=""/>
        <dsp:cNvSpPr/>
      </dsp:nvSpPr>
      <dsp:spPr>
        <a:xfrm>
          <a:off x="9703257" y="3736547"/>
          <a:ext cx="267028" cy="900984"/>
        </a:xfrm>
        <a:custGeom>
          <a:avLst/>
          <a:gdLst/>
          <a:ahLst/>
          <a:cxnLst/>
          <a:rect l="0" t="0" r="0" b="0"/>
          <a:pathLst>
            <a:path>
              <a:moveTo>
                <a:pt x="0" y="0"/>
              </a:moveTo>
              <a:lnTo>
                <a:pt x="0" y="900984"/>
              </a:lnTo>
              <a:lnTo>
                <a:pt x="267028" y="90098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FD7BFA-9DF5-4BCF-9320-EC7DDD2A70D8}">
      <dsp:nvSpPr>
        <dsp:cNvPr id="0" name=""/>
        <dsp:cNvSpPr/>
      </dsp:nvSpPr>
      <dsp:spPr>
        <a:xfrm>
          <a:off x="8023042" y="1983876"/>
          <a:ext cx="2392291" cy="411319"/>
        </a:xfrm>
        <a:custGeom>
          <a:avLst/>
          <a:gdLst/>
          <a:ahLst/>
          <a:cxnLst/>
          <a:rect l="0" t="0" r="0" b="0"/>
          <a:pathLst>
            <a:path>
              <a:moveTo>
                <a:pt x="0" y="0"/>
              </a:moveTo>
              <a:lnTo>
                <a:pt x="0" y="205659"/>
              </a:lnTo>
              <a:lnTo>
                <a:pt x="2392291" y="205659"/>
              </a:lnTo>
              <a:lnTo>
                <a:pt x="2392291" y="4113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1807F3-B1E9-488F-AC98-91A15186AE38}">
      <dsp:nvSpPr>
        <dsp:cNvPr id="0" name=""/>
        <dsp:cNvSpPr/>
      </dsp:nvSpPr>
      <dsp:spPr>
        <a:xfrm>
          <a:off x="7310215" y="3687384"/>
          <a:ext cx="290088" cy="900984"/>
        </a:xfrm>
        <a:custGeom>
          <a:avLst/>
          <a:gdLst/>
          <a:ahLst/>
          <a:cxnLst/>
          <a:rect l="0" t="0" r="0" b="0"/>
          <a:pathLst>
            <a:path>
              <a:moveTo>
                <a:pt x="0" y="0"/>
              </a:moveTo>
              <a:lnTo>
                <a:pt x="0" y="900984"/>
              </a:lnTo>
              <a:lnTo>
                <a:pt x="290088" y="90098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E130A1-7A63-4F43-BC72-91F2FE810457}">
      <dsp:nvSpPr>
        <dsp:cNvPr id="0" name=""/>
        <dsp:cNvSpPr/>
      </dsp:nvSpPr>
      <dsp:spPr>
        <a:xfrm>
          <a:off x="7977322" y="1983876"/>
          <a:ext cx="91440" cy="411319"/>
        </a:xfrm>
        <a:custGeom>
          <a:avLst/>
          <a:gdLst/>
          <a:ahLst/>
          <a:cxnLst/>
          <a:rect l="0" t="0" r="0" b="0"/>
          <a:pathLst>
            <a:path>
              <a:moveTo>
                <a:pt x="45720" y="0"/>
              </a:moveTo>
              <a:lnTo>
                <a:pt x="45720" y="205659"/>
              </a:lnTo>
              <a:lnTo>
                <a:pt x="106463" y="205659"/>
              </a:lnTo>
              <a:lnTo>
                <a:pt x="106463" y="4113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319980-1C9B-4288-AAE2-D883BB805325}">
      <dsp:nvSpPr>
        <dsp:cNvPr id="0" name=""/>
        <dsp:cNvSpPr/>
      </dsp:nvSpPr>
      <dsp:spPr>
        <a:xfrm>
          <a:off x="4936522" y="3438605"/>
          <a:ext cx="293799" cy="900984"/>
        </a:xfrm>
        <a:custGeom>
          <a:avLst/>
          <a:gdLst/>
          <a:ahLst/>
          <a:cxnLst/>
          <a:rect l="0" t="0" r="0" b="0"/>
          <a:pathLst>
            <a:path>
              <a:moveTo>
                <a:pt x="0" y="0"/>
              </a:moveTo>
              <a:lnTo>
                <a:pt x="0" y="900984"/>
              </a:lnTo>
              <a:lnTo>
                <a:pt x="293799" y="90098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E3DD1A-A702-4C52-9E84-A30D7B10654A}">
      <dsp:nvSpPr>
        <dsp:cNvPr id="0" name=""/>
        <dsp:cNvSpPr/>
      </dsp:nvSpPr>
      <dsp:spPr>
        <a:xfrm>
          <a:off x="5719987" y="1983876"/>
          <a:ext cx="2303054" cy="411319"/>
        </a:xfrm>
        <a:custGeom>
          <a:avLst/>
          <a:gdLst/>
          <a:ahLst/>
          <a:cxnLst/>
          <a:rect l="0" t="0" r="0" b="0"/>
          <a:pathLst>
            <a:path>
              <a:moveTo>
                <a:pt x="2303054" y="0"/>
              </a:moveTo>
              <a:lnTo>
                <a:pt x="2303054" y="205659"/>
              </a:lnTo>
              <a:lnTo>
                <a:pt x="0" y="205659"/>
              </a:lnTo>
              <a:lnTo>
                <a:pt x="0" y="4113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5AA6F3-6631-4D9D-9224-4D9DD5EE12CD}">
      <dsp:nvSpPr>
        <dsp:cNvPr id="0" name=""/>
        <dsp:cNvSpPr/>
      </dsp:nvSpPr>
      <dsp:spPr>
        <a:xfrm>
          <a:off x="2566540" y="3255078"/>
          <a:ext cx="293799" cy="900984"/>
        </a:xfrm>
        <a:custGeom>
          <a:avLst/>
          <a:gdLst/>
          <a:ahLst/>
          <a:cxnLst/>
          <a:rect l="0" t="0" r="0" b="0"/>
          <a:pathLst>
            <a:path>
              <a:moveTo>
                <a:pt x="0" y="0"/>
              </a:moveTo>
              <a:lnTo>
                <a:pt x="0" y="900984"/>
              </a:lnTo>
              <a:lnTo>
                <a:pt x="293799" y="90098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7F00AB-7631-4E5D-A532-B8BF15CA89D0}">
      <dsp:nvSpPr>
        <dsp:cNvPr id="0" name=""/>
        <dsp:cNvSpPr/>
      </dsp:nvSpPr>
      <dsp:spPr>
        <a:xfrm>
          <a:off x="2165014" y="1864427"/>
          <a:ext cx="1184991" cy="411319"/>
        </a:xfrm>
        <a:custGeom>
          <a:avLst/>
          <a:gdLst/>
          <a:ahLst/>
          <a:cxnLst/>
          <a:rect l="0" t="0" r="0" b="0"/>
          <a:pathLst>
            <a:path>
              <a:moveTo>
                <a:pt x="0" y="0"/>
              </a:moveTo>
              <a:lnTo>
                <a:pt x="0" y="205659"/>
              </a:lnTo>
              <a:lnTo>
                <a:pt x="1184991" y="205659"/>
              </a:lnTo>
              <a:lnTo>
                <a:pt x="1184991" y="4113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3B0349-6FE1-44A3-832C-5A051E537A96}">
      <dsp:nvSpPr>
        <dsp:cNvPr id="0" name=""/>
        <dsp:cNvSpPr/>
      </dsp:nvSpPr>
      <dsp:spPr>
        <a:xfrm>
          <a:off x="196558" y="3255078"/>
          <a:ext cx="293799" cy="900984"/>
        </a:xfrm>
        <a:custGeom>
          <a:avLst/>
          <a:gdLst/>
          <a:ahLst/>
          <a:cxnLst/>
          <a:rect l="0" t="0" r="0" b="0"/>
          <a:pathLst>
            <a:path>
              <a:moveTo>
                <a:pt x="0" y="0"/>
              </a:moveTo>
              <a:lnTo>
                <a:pt x="0" y="900984"/>
              </a:lnTo>
              <a:lnTo>
                <a:pt x="293799" y="90098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C3AEAA-1A65-4C03-B037-3E576A3FD045}">
      <dsp:nvSpPr>
        <dsp:cNvPr id="0" name=""/>
        <dsp:cNvSpPr/>
      </dsp:nvSpPr>
      <dsp:spPr>
        <a:xfrm>
          <a:off x="980023" y="1864427"/>
          <a:ext cx="1184991" cy="411319"/>
        </a:xfrm>
        <a:custGeom>
          <a:avLst/>
          <a:gdLst/>
          <a:ahLst/>
          <a:cxnLst/>
          <a:rect l="0" t="0" r="0" b="0"/>
          <a:pathLst>
            <a:path>
              <a:moveTo>
                <a:pt x="1184991" y="0"/>
              </a:moveTo>
              <a:lnTo>
                <a:pt x="1184991" y="205659"/>
              </a:lnTo>
              <a:lnTo>
                <a:pt x="0" y="205659"/>
              </a:lnTo>
              <a:lnTo>
                <a:pt x="0" y="4113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5C4C29-67CC-437A-BA2E-414E87013FDD}">
      <dsp:nvSpPr>
        <dsp:cNvPr id="0" name=""/>
        <dsp:cNvSpPr/>
      </dsp:nvSpPr>
      <dsp:spPr>
        <a:xfrm>
          <a:off x="663650" y="463366"/>
          <a:ext cx="3002728" cy="14010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Location of supplier and Place of supply are in</a:t>
          </a:r>
          <a:endParaRPr lang="en-IN" sz="2800" kern="1200" dirty="0">
            <a:solidFill>
              <a:schemeClr val="tx1"/>
            </a:solidFill>
          </a:endParaRPr>
        </a:p>
      </dsp:txBody>
      <dsp:txXfrm>
        <a:off x="663650" y="463366"/>
        <a:ext cx="3002728" cy="1401061"/>
      </dsp:txXfrm>
    </dsp:sp>
    <dsp:sp modelId="{0A75BC6A-5748-47D9-94B5-641A18537A3E}">
      <dsp:nvSpPr>
        <dsp:cNvPr id="0" name=""/>
        <dsp:cNvSpPr/>
      </dsp:nvSpPr>
      <dsp:spPr>
        <a:xfrm>
          <a:off x="691" y="2275747"/>
          <a:ext cx="1958662" cy="979331"/>
        </a:xfrm>
        <a:prstGeom prst="rect">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Same state</a:t>
          </a:r>
          <a:endParaRPr lang="en-IN" sz="2800" kern="1200" dirty="0">
            <a:solidFill>
              <a:schemeClr val="tx1"/>
            </a:solidFill>
          </a:endParaRPr>
        </a:p>
      </dsp:txBody>
      <dsp:txXfrm>
        <a:off x="691" y="2275747"/>
        <a:ext cx="1958662" cy="979331"/>
      </dsp:txXfrm>
    </dsp:sp>
    <dsp:sp modelId="{2C34D279-7B38-4763-A033-39D39F11372A}">
      <dsp:nvSpPr>
        <dsp:cNvPr id="0" name=""/>
        <dsp:cNvSpPr/>
      </dsp:nvSpPr>
      <dsp:spPr>
        <a:xfrm>
          <a:off x="490357" y="3666397"/>
          <a:ext cx="1958662" cy="979331"/>
        </a:xfrm>
        <a:prstGeom prst="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Intra-state supply</a:t>
          </a:r>
          <a:endParaRPr lang="en-IN" sz="2800" kern="1200" dirty="0">
            <a:solidFill>
              <a:schemeClr val="tx1"/>
            </a:solidFill>
          </a:endParaRPr>
        </a:p>
      </dsp:txBody>
      <dsp:txXfrm>
        <a:off x="490357" y="3666397"/>
        <a:ext cx="1958662" cy="979331"/>
      </dsp:txXfrm>
    </dsp:sp>
    <dsp:sp modelId="{7FC7E9A9-D49A-4AA9-9C5B-D09A72DB2942}">
      <dsp:nvSpPr>
        <dsp:cNvPr id="0" name=""/>
        <dsp:cNvSpPr/>
      </dsp:nvSpPr>
      <dsp:spPr>
        <a:xfrm>
          <a:off x="2370673" y="2275747"/>
          <a:ext cx="1958662" cy="979331"/>
        </a:xfrm>
        <a:prstGeom prst="rect">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Same union territory </a:t>
          </a:r>
          <a:endParaRPr lang="en-IN" sz="2800" kern="1200">
            <a:solidFill>
              <a:schemeClr val="tx1"/>
            </a:solidFill>
          </a:endParaRPr>
        </a:p>
      </dsp:txBody>
      <dsp:txXfrm>
        <a:off x="2370673" y="2275747"/>
        <a:ext cx="1958662" cy="979331"/>
      </dsp:txXfrm>
    </dsp:sp>
    <dsp:sp modelId="{91E55866-39B5-4947-94E9-935CABB968DA}">
      <dsp:nvSpPr>
        <dsp:cNvPr id="0" name=""/>
        <dsp:cNvSpPr/>
      </dsp:nvSpPr>
      <dsp:spPr>
        <a:xfrm>
          <a:off x="2860339" y="3666397"/>
          <a:ext cx="1958662" cy="979331"/>
        </a:xfrm>
        <a:prstGeom prst="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Intra-state supply</a:t>
          </a:r>
          <a:endParaRPr lang="en-IN" sz="2800" kern="1200" dirty="0">
            <a:solidFill>
              <a:schemeClr val="tx1"/>
            </a:solidFill>
          </a:endParaRPr>
        </a:p>
      </dsp:txBody>
      <dsp:txXfrm>
        <a:off x="2860339" y="3666397"/>
        <a:ext cx="1958662" cy="979331"/>
      </dsp:txXfrm>
    </dsp:sp>
    <dsp:sp modelId="{1B52D9C9-76B0-4089-876A-857B3073908F}">
      <dsp:nvSpPr>
        <dsp:cNvPr id="0" name=""/>
        <dsp:cNvSpPr/>
      </dsp:nvSpPr>
      <dsp:spPr>
        <a:xfrm>
          <a:off x="6419054" y="463366"/>
          <a:ext cx="3207976" cy="15205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Location of supplier and Place of supply are in</a:t>
          </a:r>
          <a:endParaRPr lang="en-IN" sz="2800" kern="1200" dirty="0">
            <a:solidFill>
              <a:schemeClr val="tx1"/>
            </a:solidFill>
          </a:endParaRPr>
        </a:p>
      </dsp:txBody>
      <dsp:txXfrm>
        <a:off x="6419054" y="463366"/>
        <a:ext cx="3207976" cy="1520510"/>
      </dsp:txXfrm>
    </dsp:sp>
    <dsp:sp modelId="{1DFB4023-1262-4EC0-B073-5A59AC8D3531}">
      <dsp:nvSpPr>
        <dsp:cNvPr id="0" name=""/>
        <dsp:cNvSpPr/>
      </dsp:nvSpPr>
      <dsp:spPr>
        <a:xfrm>
          <a:off x="4740656" y="2395196"/>
          <a:ext cx="1958662" cy="1043409"/>
        </a:xfrm>
        <a:prstGeom prst="rect">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Two different states</a:t>
          </a:r>
          <a:endParaRPr lang="en-IN" sz="2800" kern="1200" dirty="0">
            <a:solidFill>
              <a:schemeClr val="tx1"/>
            </a:solidFill>
          </a:endParaRPr>
        </a:p>
      </dsp:txBody>
      <dsp:txXfrm>
        <a:off x="4740656" y="2395196"/>
        <a:ext cx="1958662" cy="1043409"/>
      </dsp:txXfrm>
    </dsp:sp>
    <dsp:sp modelId="{44389E55-4331-4F47-BAEF-5A15F9F04950}">
      <dsp:nvSpPr>
        <dsp:cNvPr id="0" name=""/>
        <dsp:cNvSpPr/>
      </dsp:nvSpPr>
      <dsp:spPr>
        <a:xfrm>
          <a:off x="5230321" y="3849924"/>
          <a:ext cx="1958662" cy="979331"/>
        </a:xfrm>
        <a:prstGeom prst="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a:solidFill>
                <a:schemeClr val="tx1"/>
              </a:solidFill>
            </a:rPr>
            <a:t>Inter-state supply</a:t>
          </a:r>
          <a:endParaRPr lang="en-IN" sz="2800" kern="1200" dirty="0">
            <a:solidFill>
              <a:schemeClr val="tx1"/>
            </a:solidFill>
          </a:endParaRPr>
        </a:p>
      </dsp:txBody>
      <dsp:txXfrm>
        <a:off x="5230321" y="3849924"/>
        <a:ext cx="1958662" cy="979331"/>
      </dsp:txXfrm>
    </dsp:sp>
    <dsp:sp modelId="{1A39A51B-87EE-4A7B-9B16-899FF9A38FC5}">
      <dsp:nvSpPr>
        <dsp:cNvPr id="0" name=""/>
        <dsp:cNvSpPr/>
      </dsp:nvSpPr>
      <dsp:spPr>
        <a:xfrm>
          <a:off x="7116822" y="2395196"/>
          <a:ext cx="1933925" cy="1292188"/>
        </a:xfrm>
        <a:prstGeom prst="rect">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Two different union territories</a:t>
          </a:r>
          <a:endParaRPr lang="en-IN" sz="2800" kern="1200" dirty="0">
            <a:solidFill>
              <a:schemeClr val="tx1"/>
            </a:solidFill>
          </a:endParaRPr>
        </a:p>
      </dsp:txBody>
      <dsp:txXfrm>
        <a:off x="7116822" y="2395196"/>
        <a:ext cx="1933925" cy="1292188"/>
      </dsp:txXfrm>
    </dsp:sp>
    <dsp:sp modelId="{2873835A-D84B-464D-93FC-FF782677710B}">
      <dsp:nvSpPr>
        <dsp:cNvPr id="0" name=""/>
        <dsp:cNvSpPr/>
      </dsp:nvSpPr>
      <dsp:spPr>
        <a:xfrm>
          <a:off x="7600304" y="4098704"/>
          <a:ext cx="1958662" cy="979331"/>
        </a:xfrm>
        <a:prstGeom prst="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a:solidFill>
                <a:schemeClr val="tx1"/>
              </a:solidFill>
            </a:rPr>
            <a:t>Inter-state supply</a:t>
          </a:r>
          <a:endParaRPr lang="en-IN" sz="2800" kern="1200" dirty="0">
            <a:solidFill>
              <a:schemeClr val="tx1"/>
            </a:solidFill>
          </a:endParaRPr>
        </a:p>
      </dsp:txBody>
      <dsp:txXfrm>
        <a:off x="7600304" y="4098704"/>
        <a:ext cx="1958662" cy="979331"/>
      </dsp:txXfrm>
    </dsp:sp>
    <dsp:sp modelId="{0192169D-21B8-4AA9-A88E-D49A2BA866C8}">
      <dsp:nvSpPr>
        <dsp:cNvPr id="0" name=""/>
        <dsp:cNvSpPr/>
      </dsp:nvSpPr>
      <dsp:spPr>
        <a:xfrm>
          <a:off x="9525238" y="2395196"/>
          <a:ext cx="1780189" cy="1341351"/>
        </a:xfrm>
        <a:prstGeom prst="rect">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A state and a union territory </a:t>
          </a:r>
          <a:endParaRPr lang="en-IN" sz="2800" kern="1200" dirty="0">
            <a:solidFill>
              <a:schemeClr val="tx1"/>
            </a:solidFill>
          </a:endParaRPr>
        </a:p>
      </dsp:txBody>
      <dsp:txXfrm>
        <a:off x="9525238" y="2395196"/>
        <a:ext cx="1780189" cy="1341351"/>
      </dsp:txXfrm>
    </dsp:sp>
    <dsp:sp modelId="{8C3FDA68-678D-458C-B621-85BC0E97B805}">
      <dsp:nvSpPr>
        <dsp:cNvPr id="0" name=""/>
        <dsp:cNvSpPr/>
      </dsp:nvSpPr>
      <dsp:spPr>
        <a:xfrm>
          <a:off x="9970286" y="4147866"/>
          <a:ext cx="1958662" cy="979331"/>
        </a:xfrm>
        <a:prstGeom prst="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dirty="0">
              <a:solidFill>
                <a:schemeClr val="tx1"/>
              </a:solidFill>
            </a:rPr>
            <a:t>Inter-state supply</a:t>
          </a:r>
        </a:p>
      </dsp:txBody>
      <dsp:txXfrm>
        <a:off x="9970286" y="4147866"/>
        <a:ext cx="1958662" cy="9793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27BF59-2C42-4CBF-B0A9-5C4B044230EE}">
      <dsp:nvSpPr>
        <dsp:cNvPr id="0" name=""/>
        <dsp:cNvSpPr/>
      </dsp:nvSpPr>
      <dsp:spPr>
        <a:xfrm>
          <a:off x="0" y="487762"/>
          <a:ext cx="11928475" cy="239557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Every supplier is required to obtain registration if his aggregate turnover exceeds the limit as specified in the GST law.</a:t>
          </a:r>
        </a:p>
      </dsp:txBody>
      <dsp:txXfrm>
        <a:off x="116942" y="604704"/>
        <a:ext cx="11694591" cy="2161691"/>
      </dsp:txXfrm>
    </dsp:sp>
    <dsp:sp modelId="{78A1A3EF-A41A-4C15-AB73-F3AAFECE6964}">
      <dsp:nvSpPr>
        <dsp:cNvPr id="0" name=""/>
        <dsp:cNvSpPr/>
      </dsp:nvSpPr>
      <dsp:spPr>
        <a:xfrm>
          <a:off x="0" y="2883337"/>
          <a:ext cx="11928475" cy="2220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729" tIns="45720" rIns="256032" bIns="45720" numCol="1" spcCol="1270" anchor="t" anchorCtr="0">
          <a:noAutofit/>
        </a:bodyPr>
        <a:lstStyle/>
        <a:p>
          <a:pPr marL="285750" lvl="1" indent="-285750" algn="l" defTabSz="1600200">
            <a:lnSpc>
              <a:spcPct val="90000"/>
            </a:lnSpc>
            <a:spcBef>
              <a:spcPct val="0"/>
            </a:spcBef>
            <a:spcAft>
              <a:spcPct val="20000"/>
            </a:spcAft>
            <a:buChar char="•"/>
          </a:pPr>
          <a:r>
            <a:rPr lang="en-US" sz="3600" kern="1200" dirty="0"/>
            <a:t>Currently, the limit is </a:t>
          </a:r>
          <a:r>
            <a:rPr lang="en-US" sz="3600" b="1" kern="1200" dirty="0"/>
            <a:t>₹ 40 lakhs</a:t>
          </a:r>
          <a:r>
            <a:rPr lang="en-US" sz="3600" kern="1200" dirty="0"/>
            <a:t> for people engaged only in supply of goods. (except for a few specified states)</a:t>
          </a:r>
        </a:p>
        <a:p>
          <a:pPr marL="285750" lvl="1" indent="-285750" algn="l" defTabSz="1600200">
            <a:lnSpc>
              <a:spcPct val="90000"/>
            </a:lnSpc>
            <a:spcBef>
              <a:spcPct val="0"/>
            </a:spcBef>
            <a:spcAft>
              <a:spcPct val="20000"/>
            </a:spcAft>
            <a:buChar char="•"/>
          </a:pPr>
          <a:r>
            <a:rPr lang="en-US" sz="3600" kern="1200" dirty="0"/>
            <a:t>And </a:t>
          </a:r>
          <a:r>
            <a:rPr lang="en-US" sz="3600" b="1" kern="1200" dirty="0"/>
            <a:t>₹ 20 lakhs</a:t>
          </a:r>
          <a:r>
            <a:rPr lang="en-US" sz="3600" kern="1200" dirty="0"/>
            <a:t> for people engaged in the supply of services or both goods and services.</a:t>
          </a:r>
        </a:p>
      </dsp:txBody>
      <dsp:txXfrm>
        <a:off x="0" y="2883337"/>
        <a:ext cx="11928475" cy="22200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23200-863B-42FD-9FF0-4825B60A1ED6}">
      <dsp:nvSpPr>
        <dsp:cNvPr id="0" name=""/>
        <dsp:cNvSpPr/>
      </dsp:nvSpPr>
      <dsp:spPr>
        <a:xfrm>
          <a:off x="1181085" y="15206"/>
          <a:ext cx="5560152" cy="5560152"/>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1600200">
            <a:lnSpc>
              <a:spcPct val="90000"/>
            </a:lnSpc>
            <a:spcBef>
              <a:spcPct val="0"/>
            </a:spcBef>
            <a:spcAft>
              <a:spcPct val="35000"/>
            </a:spcAft>
            <a:buNone/>
          </a:pPr>
          <a:r>
            <a:rPr lang="en-US" sz="3600" kern="1200"/>
            <a:t>Includes </a:t>
          </a:r>
        </a:p>
        <a:p>
          <a:pPr marL="285750" lvl="1" indent="-285750" algn="l" defTabSz="1244600">
            <a:lnSpc>
              <a:spcPct val="90000"/>
            </a:lnSpc>
            <a:spcBef>
              <a:spcPct val="0"/>
            </a:spcBef>
            <a:spcAft>
              <a:spcPct val="15000"/>
            </a:spcAft>
            <a:buChar char="•"/>
          </a:pPr>
          <a:r>
            <a:rPr lang="en-US" sz="2800" kern="1200"/>
            <a:t>Sale</a:t>
          </a:r>
        </a:p>
        <a:p>
          <a:pPr marL="285750" lvl="1" indent="-285750" algn="l" defTabSz="1244600">
            <a:lnSpc>
              <a:spcPct val="90000"/>
            </a:lnSpc>
            <a:spcBef>
              <a:spcPct val="0"/>
            </a:spcBef>
            <a:spcAft>
              <a:spcPct val="15000"/>
            </a:spcAft>
            <a:buChar char="•"/>
          </a:pPr>
          <a:r>
            <a:rPr lang="en-US" sz="2800" kern="1200"/>
            <a:t>Transfer</a:t>
          </a:r>
        </a:p>
        <a:p>
          <a:pPr marL="285750" lvl="1" indent="-285750" algn="l" defTabSz="1244600">
            <a:lnSpc>
              <a:spcPct val="90000"/>
            </a:lnSpc>
            <a:spcBef>
              <a:spcPct val="0"/>
            </a:spcBef>
            <a:spcAft>
              <a:spcPct val="15000"/>
            </a:spcAft>
            <a:buChar char="•"/>
          </a:pPr>
          <a:r>
            <a:rPr lang="en-US" sz="2800" kern="1200"/>
            <a:t>Barter</a:t>
          </a:r>
        </a:p>
        <a:p>
          <a:pPr marL="285750" lvl="1" indent="-285750" algn="l" defTabSz="1244600">
            <a:lnSpc>
              <a:spcPct val="90000"/>
            </a:lnSpc>
            <a:spcBef>
              <a:spcPct val="0"/>
            </a:spcBef>
            <a:spcAft>
              <a:spcPct val="15000"/>
            </a:spcAft>
            <a:buChar char="•"/>
          </a:pPr>
          <a:r>
            <a:rPr lang="en-US" sz="2800" kern="1200"/>
            <a:t>Exchange</a:t>
          </a:r>
        </a:p>
        <a:p>
          <a:pPr marL="285750" lvl="1" indent="-285750" algn="l" defTabSz="1244600">
            <a:lnSpc>
              <a:spcPct val="90000"/>
            </a:lnSpc>
            <a:spcBef>
              <a:spcPct val="0"/>
            </a:spcBef>
            <a:spcAft>
              <a:spcPct val="15000"/>
            </a:spcAft>
            <a:buChar char="•"/>
          </a:pPr>
          <a:r>
            <a:rPr lang="en-US" sz="2800" kern="1200"/>
            <a:t>License</a:t>
          </a:r>
        </a:p>
        <a:p>
          <a:pPr marL="285750" lvl="1" indent="-285750" algn="l" defTabSz="1244600">
            <a:lnSpc>
              <a:spcPct val="90000"/>
            </a:lnSpc>
            <a:spcBef>
              <a:spcPct val="0"/>
            </a:spcBef>
            <a:spcAft>
              <a:spcPct val="15000"/>
            </a:spcAft>
            <a:buChar char="•"/>
          </a:pPr>
          <a:r>
            <a:rPr lang="en-US" sz="2800" kern="1200"/>
            <a:t>Rental</a:t>
          </a:r>
        </a:p>
        <a:p>
          <a:pPr marL="285750" lvl="1" indent="-285750" algn="l" defTabSz="1244600">
            <a:lnSpc>
              <a:spcPct val="90000"/>
            </a:lnSpc>
            <a:spcBef>
              <a:spcPct val="0"/>
            </a:spcBef>
            <a:spcAft>
              <a:spcPct val="15000"/>
            </a:spcAft>
            <a:buChar char="•"/>
          </a:pPr>
          <a:r>
            <a:rPr lang="en-US" sz="2800" kern="1200"/>
            <a:t>Lease</a:t>
          </a:r>
        </a:p>
        <a:p>
          <a:pPr marL="285750" lvl="1" indent="-285750" algn="l" defTabSz="1244600">
            <a:lnSpc>
              <a:spcPct val="90000"/>
            </a:lnSpc>
            <a:spcBef>
              <a:spcPct val="0"/>
            </a:spcBef>
            <a:spcAft>
              <a:spcPct val="15000"/>
            </a:spcAft>
            <a:buChar char="•"/>
          </a:pPr>
          <a:r>
            <a:rPr lang="en-US" sz="2800" kern="1200"/>
            <a:t>disposal</a:t>
          </a:r>
        </a:p>
      </dsp:txBody>
      <dsp:txXfrm>
        <a:off x="1957503" y="670867"/>
        <a:ext cx="3205853" cy="4248829"/>
      </dsp:txXfrm>
    </dsp:sp>
    <dsp:sp modelId="{029EE35B-E74D-492C-9936-C144580AB365}">
      <dsp:nvSpPr>
        <dsp:cNvPr id="0" name=""/>
        <dsp:cNvSpPr/>
      </dsp:nvSpPr>
      <dsp:spPr>
        <a:xfrm>
          <a:off x="5188402" y="15206"/>
          <a:ext cx="5560152" cy="5560152"/>
        </a:xfrm>
        <a:prstGeom prst="ellipse">
          <a:avLst/>
        </a:prstGeom>
        <a:solidFill>
          <a:schemeClr val="accent2">
            <a:alpha val="50000"/>
            <a:hueOff val="-6041733"/>
            <a:satOff val="-50000"/>
            <a:lumOff val="1000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en-US" sz="3600" b="1" kern="1200"/>
            <a:t>Made or agreed to be made</a:t>
          </a:r>
          <a:r>
            <a:rPr lang="en-US" sz="3600" kern="1200"/>
            <a:t> for a </a:t>
          </a:r>
          <a:r>
            <a:rPr lang="en-US" sz="3600" b="1" kern="1200"/>
            <a:t>consideration</a:t>
          </a:r>
          <a:r>
            <a:rPr lang="en-US" sz="3600" kern="1200"/>
            <a:t> by a person in the </a:t>
          </a:r>
          <a:r>
            <a:rPr lang="en-US" sz="3600" b="1" kern="1200"/>
            <a:t>course or furtherance of business.</a:t>
          </a:r>
          <a:endParaRPr lang="en-US" sz="3600" kern="1200"/>
        </a:p>
      </dsp:txBody>
      <dsp:txXfrm>
        <a:off x="6766283" y="670867"/>
        <a:ext cx="3205853" cy="42488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0F5D04-4932-4A55-B3DD-D6656BEBB401}">
      <dsp:nvSpPr>
        <dsp:cNvPr id="0" name=""/>
        <dsp:cNvSpPr/>
      </dsp:nvSpPr>
      <dsp:spPr>
        <a:xfrm>
          <a:off x="0" y="138271"/>
          <a:ext cx="10515600" cy="743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Taxable Supply – GST applicable</a:t>
          </a:r>
        </a:p>
      </dsp:txBody>
      <dsp:txXfrm>
        <a:off x="36296" y="174567"/>
        <a:ext cx="10443008" cy="670943"/>
      </dsp:txXfrm>
    </dsp:sp>
    <dsp:sp modelId="{7E5243E2-92C2-49AD-84B7-FCC67F6F2034}">
      <dsp:nvSpPr>
        <dsp:cNvPr id="0" name=""/>
        <dsp:cNvSpPr/>
      </dsp:nvSpPr>
      <dsp:spPr>
        <a:xfrm>
          <a:off x="0" y="971086"/>
          <a:ext cx="10515600" cy="743535"/>
        </a:xfrm>
        <a:prstGeom prst="roundRect">
          <a:avLst/>
        </a:prstGeom>
        <a:solidFill>
          <a:schemeClr val="accent3">
            <a:hueOff val="1163251"/>
            <a:satOff val="4575"/>
            <a:lumOff val="-38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Exempt Supply – No GST</a:t>
          </a:r>
        </a:p>
      </dsp:txBody>
      <dsp:txXfrm>
        <a:off x="36296" y="1007382"/>
        <a:ext cx="10443008" cy="670943"/>
      </dsp:txXfrm>
    </dsp:sp>
    <dsp:sp modelId="{436E1BFB-7506-40F5-B5AA-3EDBCDC5FC91}">
      <dsp:nvSpPr>
        <dsp:cNvPr id="0" name=""/>
        <dsp:cNvSpPr/>
      </dsp:nvSpPr>
      <dsp:spPr>
        <a:xfrm>
          <a:off x="0" y="1803901"/>
          <a:ext cx="10515600" cy="743535"/>
        </a:xfrm>
        <a:prstGeom prst="roundRect">
          <a:avLst/>
        </a:prstGeom>
        <a:solidFill>
          <a:schemeClr val="accent3">
            <a:hueOff val="2326503"/>
            <a:satOff val="9150"/>
            <a:lumOff val="-7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Zero-rated Supply – Exports/SEZ</a:t>
          </a:r>
        </a:p>
      </dsp:txBody>
      <dsp:txXfrm>
        <a:off x="36296" y="1840197"/>
        <a:ext cx="10443008" cy="670943"/>
      </dsp:txXfrm>
    </dsp:sp>
    <dsp:sp modelId="{833FB7ED-4978-47F8-A335-A4A20B02C89C}">
      <dsp:nvSpPr>
        <dsp:cNvPr id="0" name=""/>
        <dsp:cNvSpPr/>
      </dsp:nvSpPr>
      <dsp:spPr>
        <a:xfrm>
          <a:off x="0" y="2636716"/>
          <a:ext cx="10515600" cy="743535"/>
        </a:xfrm>
        <a:prstGeom prst="roundRect">
          <a:avLst/>
        </a:prstGeom>
        <a:solidFill>
          <a:schemeClr val="accent3">
            <a:hueOff val="3489754"/>
            <a:satOff val="13726"/>
            <a:lumOff val="-116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Composite Supply – Naturally bundled (e.g., AC with installation)</a:t>
          </a:r>
        </a:p>
      </dsp:txBody>
      <dsp:txXfrm>
        <a:off x="36296" y="2673012"/>
        <a:ext cx="10443008" cy="670943"/>
      </dsp:txXfrm>
    </dsp:sp>
    <dsp:sp modelId="{CB8ABE5F-6619-4088-AD1E-074AE36E0032}">
      <dsp:nvSpPr>
        <dsp:cNvPr id="0" name=""/>
        <dsp:cNvSpPr/>
      </dsp:nvSpPr>
      <dsp:spPr>
        <a:xfrm>
          <a:off x="0" y="3469531"/>
          <a:ext cx="10515600" cy="743535"/>
        </a:xfrm>
        <a:prstGeom prst="roundRect">
          <a:avLst/>
        </a:prstGeom>
        <a:solidFill>
          <a:schemeClr val="accent3">
            <a:hueOff val="4653005"/>
            <a:satOff val="18301"/>
            <a:lumOff val="-1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Mixed Supply – Sold together for single price (e.g., gift hamper)</a:t>
          </a:r>
        </a:p>
      </dsp:txBody>
      <dsp:txXfrm>
        <a:off x="36296" y="3505827"/>
        <a:ext cx="10443008" cy="6709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665D8-AD04-412F-9C04-D231999CCBEE}">
      <dsp:nvSpPr>
        <dsp:cNvPr id="0" name=""/>
        <dsp:cNvSpPr/>
      </dsp:nvSpPr>
      <dsp:spPr>
        <a:xfrm>
          <a:off x="0" y="188649"/>
          <a:ext cx="10515600" cy="91143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Sale of car – Yes (Sale for consideration)</a:t>
          </a:r>
        </a:p>
      </dsp:txBody>
      <dsp:txXfrm>
        <a:off x="44492" y="233141"/>
        <a:ext cx="10426616" cy="822446"/>
      </dsp:txXfrm>
    </dsp:sp>
    <dsp:sp modelId="{7DFA928F-84AF-4FC9-BF8C-BB3957EA4E49}">
      <dsp:nvSpPr>
        <dsp:cNvPr id="0" name=""/>
        <dsp:cNvSpPr/>
      </dsp:nvSpPr>
      <dsp:spPr>
        <a:xfrm>
          <a:off x="0" y="1209519"/>
          <a:ext cx="10515600" cy="911430"/>
        </a:xfrm>
        <a:prstGeom prst="roundRect">
          <a:avLst/>
        </a:prstGeom>
        <a:solidFill>
          <a:schemeClr val="accent3">
            <a:hueOff val="1551002"/>
            <a:satOff val="6100"/>
            <a:lumOff val="-5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Free samples to dealer – Yes (Deemed supply)</a:t>
          </a:r>
        </a:p>
      </dsp:txBody>
      <dsp:txXfrm>
        <a:off x="44492" y="1254011"/>
        <a:ext cx="10426616" cy="822446"/>
      </dsp:txXfrm>
    </dsp:sp>
    <dsp:sp modelId="{803E67AB-AFE4-4871-89F3-AC653674802C}">
      <dsp:nvSpPr>
        <dsp:cNvPr id="0" name=""/>
        <dsp:cNvSpPr/>
      </dsp:nvSpPr>
      <dsp:spPr>
        <a:xfrm>
          <a:off x="0" y="2230389"/>
          <a:ext cx="10515600" cy="911430"/>
        </a:xfrm>
        <a:prstGeom prst="roundRect">
          <a:avLst/>
        </a:prstGeom>
        <a:solidFill>
          <a:schemeClr val="accent3">
            <a:hueOff val="3102003"/>
            <a:satOff val="12201"/>
            <a:lumOff val="-103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Donation to NGO – No (Not in business course)</a:t>
          </a:r>
        </a:p>
      </dsp:txBody>
      <dsp:txXfrm>
        <a:off x="44492" y="2274881"/>
        <a:ext cx="10426616" cy="822446"/>
      </dsp:txXfrm>
    </dsp:sp>
    <dsp:sp modelId="{57636396-E78D-4E6C-B61D-427B589B872F}">
      <dsp:nvSpPr>
        <dsp:cNvPr id="0" name=""/>
        <dsp:cNvSpPr/>
      </dsp:nvSpPr>
      <dsp:spPr>
        <a:xfrm>
          <a:off x="0" y="3251259"/>
          <a:ext cx="10515600" cy="911430"/>
        </a:xfrm>
        <a:prstGeom prst="roundRect">
          <a:avLst/>
        </a:prstGeom>
        <a:solidFill>
          <a:schemeClr val="accent3">
            <a:hueOff val="4653005"/>
            <a:satOff val="18301"/>
            <a:lumOff val="-1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Branch transfer (interstate) – Yes (Distinct persons)</a:t>
          </a:r>
        </a:p>
      </dsp:txBody>
      <dsp:txXfrm>
        <a:off x="44492" y="3295751"/>
        <a:ext cx="10426616" cy="8224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FF5D53-8D93-4945-902B-7D98E968618A}">
      <dsp:nvSpPr>
        <dsp:cNvPr id="0" name=""/>
        <dsp:cNvSpPr/>
      </dsp:nvSpPr>
      <dsp:spPr>
        <a:xfrm>
          <a:off x="5845116" y="3365672"/>
          <a:ext cx="2302207" cy="626651"/>
        </a:xfrm>
        <a:custGeom>
          <a:avLst/>
          <a:gdLst/>
          <a:ahLst/>
          <a:cxnLst/>
          <a:rect l="0" t="0" r="0" b="0"/>
          <a:pathLst>
            <a:path>
              <a:moveTo>
                <a:pt x="0" y="0"/>
              </a:moveTo>
              <a:lnTo>
                <a:pt x="0" y="427044"/>
              </a:lnTo>
              <a:lnTo>
                <a:pt x="2302207" y="427044"/>
              </a:lnTo>
              <a:lnTo>
                <a:pt x="2302207" y="626651"/>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F1258D-3548-4D86-BB57-6F49C9F776D7}">
      <dsp:nvSpPr>
        <dsp:cNvPr id="0" name=""/>
        <dsp:cNvSpPr/>
      </dsp:nvSpPr>
      <dsp:spPr>
        <a:xfrm>
          <a:off x="3542359" y="3365672"/>
          <a:ext cx="2302757" cy="626651"/>
        </a:xfrm>
        <a:custGeom>
          <a:avLst/>
          <a:gdLst/>
          <a:ahLst/>
          <a:cxnLst/>
          <a:rect l="0" t="0" r="0" b="0"/>
          <a:pathLst>
            <a:path>
              <a:moveTo>
                <a:pt x="2302757" y="0"/>
              </a:moveTo>
              <a:lnTo>
                <a:pt x="2302757" y="427044"/>
              </a:lnTo>
              <a:lnTo>
                <a:pt x="0" y="427044"/>
              </a:lnTo>
              <a:lnTo>
                <a:pt x="0" y="626651"/>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4AAE73-69E0-42A0-BE77-95C4F792587E}">
      <dsp:nvSpPr>
        <dsp:cNvPr id="0" name=""/>
        <dsp:cNvSpPr/>
      </dsp:nvSpPr>
      <dsp:spPr>
        <a:xfrm>
          <a:off x="5799396" y="1370802"/>
          <a:ext cx="91440" cy="626651"/>
        </a:xfrm>
        <a:custGeom>
          <a:avLst/>
          <a:gdLst/>
          <a:ahLst/>
          <a:cxnLst/>
          <a:rect l="0" t="0" r="0" b="0"/>
          <a:pathLst>
            <a:path>
              <a:moveTo>
                <a:pt x="45720" y="0"/>
              </a:moveTo>
              <a:lnTo>
                <a:pt x="45720" y="626651"/>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2EF49B-C35A-4AB1-860F-395A28FEB4C6}">
      <dsp:nvSpPr>
        <dsp:cNvPr id="0" name=""/>
        <dsp:cNvSpPr/>
      </dsp:nvSpPr>
      <dsp:spPr>
        <a:xfrm>
          <a:off x="2245010" y="2584"/>
          <a:ext cx="7200212" cy="136821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942A76-0836-4E06-A71A-ABAD763F7D3B}">
      <dsp:nvSpPr>
        <dsp:cNvPr id="0" name=""/>
        <dsp:cNvSpPr/>
      </dsp:nvSpPr>
      <dsp:spPr>
        <a:xfrm>
          <a:off x="2484418" y="230022"/>
          <a:ext cx="7200212" cy="136821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Comprises of two or more taxable supplies (one of which is principal supply), which are naturally bundled in the ordinary course of business</a:t>
          </a:r>
          <a:endParaRPr lang="en-IN" sz="2600" kern="1200" dirty="0"/>
        </a:p>
      </dsp:txBody>
      <dsp:txXfrm>
        <a:off x="2524492" y="270096"/>
        <a:ext cx="7120064" cy="1288070"/>
      </dsp:txXfrm>
    </dsp:sp>
    <dsp:sp modelId="{809B8793-1E8D-4B14-93B8-6A544F027BA4}">
      <dsp:nvSpPr>
        <dsp:cNvPr id="0" name=""/>
        <dsp:cNvSpPr/>
      </dsp:nvSpPr>
      <dsp:spPr>
        <a:xfrm>
          <a:off x="3569962" y="1997454"/>
          <a:ext cx="4550307" cy="136821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88E228-55B5-489C-81BF-8C58B1DFF5D3}">
      <dsp:nvSpPr>
        <dsp:cNvPr id="0" name=""/>
        <dsp:cNvSpPr/>
      </dsp:nvSpPr>
      <dsp:spPr>
        <a:xfrm>
          <a:off x="3809371" y="2224892"/>
          <a:ext cx="4550307" cy="136821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It shall be treated as a supply of the such principal good/ service</a:t>
          </a:r>
          <a:endParaRPr lang="en-IN" sz="2600" kern="1200" dirty="0"/>
        </a:p>
      </dsp:txBody>
      <dsp:txXfrm>
        <a:off x="3849445" y="2264966"/>
        <a:ext cx="4470159" cy="1288070"/>
      </dsp:txXfrm>
    </dsp:sp>
    <dsp:sp modelId="{CCCE3F49-818E-4C7A-9755-FD70FA0F8C79}">
      <dsp:nvSpPr>
        <dsp:cNvPr id="0" name=""/>
        <dsp:cNvSpPr/>
      </dsp:nvSpPr>
      <dsp:spPr>
        <a:xfrm>
          <a:off x="1479559" y="3992324"/>
          <a:ext cx="4125599" cy="136821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E45565-80D7-4CD3-81BC-BE293DF2D1DE}">
      <dsp:nvSpPr>
        <dsp:cNvPr id="0" name=""/>
        <dsp:cNvSpPr/>
      </dsp:nvSpPr>
      <dsp:spPr>
        <a:xfrm>
          <a:off x="1718967" y="4219762"/>
          <a:ext cx="4125599" cy="136821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E.g.: mobile phone sold with battery (principal is mobile)</a:t>
          </a:r>
          <a:endParaRPr lang="en-IN" sz="2600" kern="1200" dirty="0"/>
        </a:p>
      </dsp:txBody>
      <dsp:txXfrm>
        <a:off x="1759041" y="4259836"/>
        <a:ext cx="4045451" cy="1288070"/>
      </dsp:txXfrm>
    </dsp:sp>
    <dsp:sp modelId="{5BA97C98-041E-426A-A28A-946AF61FD3A6}">
      <dsp:nvSpPr>
        <dsp:cNvPr id="0" name=""/>
        <dsp:cNvSpPr/>
      </dsp:nvSpPr>
      <dsp:spPr>
        <a:xfrm>
          <a:off x="6083975" y="3992324"/>
          <a:ext cx="4126698" cy="136821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D67FB-02DD-4C87-A9A7-05B8541DD21E}">
      <dsp:nvSpPr>
        <dsp:cNvPr id="0" name=""/>
        <dsp:cNvSpPr/>
      </dsp:nvSpPr>
      <dsp:spPr>
        <a:xfrm>
          <a:off x="6323383" y="4219762"/>
          <a:ext cx="4126698" cy="136821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E.g.: banquet hall booked in hotel along with lunch facility (principal in banquet)</a:t>
          </a:r>
          <a:endParaRPr lang="en-IN" sz="2600" kern="1200" dirty="0"/>
        </a:p>
      </dsp:txBody>
      <dsp:txXfrm>
        <a:off x="6363457" y="4259836"/>
        <a:ext cx="4046550" cy="12880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C25976-9BAD-4EA9-8646-F49662F4C6A3}">
      <dsp:nvSpPr>
        <dsp:cNvPr id="0" name=""/>
        <dsp:cNvSpPr/>
      </dsp:nvSpPr>
      <dsp:spPr>
        <a:xfrm>
          <a:off x="1910375" y="2731"/>
          <a:ext cx="5332393" cy="7703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Comprises of two or more individual supplies</a:t>
          </a:r>
          <a:endParaRPr lang="en-IN" sz="2600" kern="1200" dirty="0">
            <a:solidFill>
              <a:schemeClr val="tx1"/>
            </a:solidFill>
          </a:endParaRPr>
        </a:p>
      </dsp:txBody>
      <dsp:txXfrm>
        <a:off x="1932938" y="25294"/>
        <a:ext cx="5287267" cy="725232"/>
      </dsp:txXfrm>
    </dsp:sp>
    <dsp:sp modelId="{98C6CD64-CDC0-43B8-BFEF-840DCA4D4D97}">
      <dsp:nvSpPr>
        <dsp:cNvPr id="0" name=""/>
        <dsp:cNvSpPr/>
      </dsp:nvSpPr>
      <dsp:spPr>
        <a:xfrm>
          <a:off x="2443614" y="773090"/>
          <a:ext cx="533239" cy="577769"/>
        </a:xfrm>
        <a:custGeom>
          <a:avLst/>
          <a:gdLst/>
          <a:ahLst/>
          <a:cxnLst/>
          <a:rect l="0" t="0" r="0" b="0"/>
          <a:pathLst>
            <a:path>
              <a:moveTo>
                <a:pt x="0" y="0"/>
              </a:moveTo>
              <a:lnTo>
                <a:pt x="0" y="577769"/>
              </a:lnTo>
              <a:lnTo>
                <a:pt x="533239" y="577769"/>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B554BF-6EC1-4302-9944-B707D6CA722C}">
      <dsp:nvSpPr>
        <dsp:cNvPr id="0" name=""/>
        <dsp:cNvSpPr/>
      </dsp:nvSpPr>
      <dsp:spPr>
        <a:xfrm>
          <a:off x="2976854" y="965680"/>
          <a:ext cx="7042411" cy="770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of goods or services, or combination thereof</a:t>
          </a:r>
          <a:endParaRPr lang="en-IN" sz="2600" kern="1200" dirty="0"/>
        </a:p>
      </dsp:txBody>
      <dsp:txXfrm>
        <a:off x="2999417" y="988243"/>
        <a:ext cx="6997285" cy="725232"/>
      </dsp:txXfrm>
    </dsp:sp>
    <dsp:sp modelId="{09F28961-135C-4A58-A853-8AE7148F4DC7}">
      <dsp:nvSpPr>
        <dsp:cNvPr id="0" name=""/>
        <dsp:cNvSpPr/>
      </dsp:nvSpPr>
      <dsp:spPr>
        <a:xfrm>
          <a:off x="2443614" y="773090"/>
          <a:ext cx="533239" cy="1540717"/>
        </a:xfrm>
        <a:custGeom>
          <a:avLst/>
          <a:gdLst/>
          <a:ahLst/>
          <a:cxnLst/>
          <a:rect l="0" t="0" r="0" b="0"/>
          <a:pathLst>
            <a:path>
              <a:moveTo>
                <a:pt x="0" y="0"/>
              </a:moveTo>
              <a:lnTo>
                <a:pt x="0" y="1540717"/>
              </a:lnTo>
              <a:lnTo>
                <a:pt x="533239" y="1540717"/>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E40A4F-6FD0-4445-A292-023E9BAE6094}">
      <dsp:nvSpPr>
        <dsp:cNvPr id="0" name=""/>
        <dsp:cNvSpPr/>
      </dsp:nvSpPr>
      <dsp:spPr>
        <a:xfrm>
          <a:off x="2976854" y="1928628"/>
          <a:ext cx="7042411" cy="770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made in conjunction with each other by a taxable person</a:t>
          </a:r>
          <a:endParaRPr lang="en-IN" sz="2600" kern="1200" dirty="0"/>
        </a:p>
      </dsp:txBody>
      <dsp:txXfrm>
        <a:off x="2999417" y="1951191"/>
        <a:ext cx="6997285" cy="725232"/>
      </dsp:txXfrm>
    </dsp:sp>
    <dsp:sp modelId="{6C9D0650-D3CB-4C37-A04B-AAAEF1780A5B}">
      <dsp:nvSpPr>
        <dsp:cNvPr id="0" name=""/>
        <dsp:cNvSpPr/>
      </dsp:nvSpPr>
      <dsp:spPr>
        <a:xfrm>
          <a:off x="2443614" y="773090"/>
          <a:ext cx="533239" cy="2503666"/>
        </a:xfrm>
        <a:custGeom>
          <a:avLst/>
          <a:gdLst/>
          <a:ahLst/>
          <a:cxnLst/>
          <a:rect l="0" t="0" r="0" b="0"/>
          <a:pathLst>
            <a:path>
              <a:moveTo>
                <a:pt x="0" y="0"/>
              </a:moveTo>
              <a:lnTo>
                <a:pt x="0" y="2503666"/>
              </a:lnTo>
              <a:lnTo>
                <a:pt x="533239" y="2503666"/>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6B1A58-2340-4C8C-827B-00A12093F74C}">
      <dsp:nvSpPr>
        <dsp:cNvPr id="0" name=""/>
        <dsp:cNvSpPr/>
      </dsp:nvSpPr>
      <dsp:spPr>
        <a:xfrm>
          <a:off x="2976854" y="2891577"/>
          <a:ext cx="7042411" cy="770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for a single price</a:t>
          </a:r>
          <a:endParaRPr lang="en-IN" sz="2600" kern="1200" dirty="0"/>
        </a:p>
      </dsp:txBody>
      <dsp:txXfrm>
        <a:off x="2999417" y="2914140"/>
        <a:ext cx="6997285" cy="725232"/>
      </dsp:txXfrm>
    </dsp:sp>
    <dsp:sp modelId="{5BBA4CA3-8339-4590-B991-EDAB9F644277}">
      <dsp:nvSpPr>
        <dsp:cNvPr id="0" name=""/>
        <dsp:cNvSpPr/>
      </dsp:nvSpPr>
      <dsp:spPr>
        <a:xfrm>
          <a:off x="2443614" y="773090"/>
          <a:ext cx="533239" cy="3466615"/>
        </a:xfrm>
        <a:custGeom>
          <a:avLst/>
          <a:gdLst/>
          <a:ahLst/>
          <a:cxnLst/>
          <a:rect l="0" t="0" r="0" b="0"/>
          <a:pathLst>
            <a:path>
              <a:moveTo>
                <a:pt x="0" y="0"/>
              </a:moveTo>
              <a:lnTo>
                <a:pt x="0" y="3466615"/>
              </a:lnTo>
              <a:lnTo>
                <a:pt x="533239" y="3466615"/>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9E5513-E893-4603-84AA-CBF12CBC7948}">
      <dsp:nvSpPr>
        <dsp:cNvPr id="0" name=""/>
        <dsp:cNvSpPr/>
      </dsp:nvSpPr>
      <dsp:spPr>
        <a:xfrm>
          <a:off x="2976854" y="3854525"/>
          <a:ext cx="7042411" cy="770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The individual supplies are independent of each other and </a:t>
          </a:r>
          <a:r>
            <a:rPr lang="en-US" sz="2600" b="1" kern="1200" dirty="0">
              <a:solidFill>
                <a:srgbClr val="C00000"/>
              </a:solidFill>
            </a:rPr>
            <a:t>not naturally bundled</a:t>
          </a:r>
          <a:endParaRPr lang="en-IN" sz="2600" kern="1200" dirty="0">
            <a:solidFill>
              <a:srgbClr val="C00000"/>
            </a:solidFill>
          </a:endParaRPr>
        </a:p>
      </dsp:txBody>
      <dsp:txXfrm>
        <a:off x="2999417" y="3877088"/>
        <a:ext cx="6997285" cy="725232"/>
      </dsp:txXfrm>
    </dsp:sp>
    <dsp:sp modelId="{066D2E31-6A31-4ACB-8205-1A9E3774B073}">
      <dsp:nvSpPr>
        <dsp:cNvPr id="0" name=""/>
        <dsp:cNvSpPr/>
      </dsp:nvSpPr>
      <dsp:spPr>
        <a:xfrm>
          <a:off x="2443614" y="773090"/>
          <a:ext cx="533239" cy="4429563"/>
        </a:xfrm>
        <a:custGeom>
          <a:avLst/>
          <a:gdLst/>
          <a:ahLst/>
          <a:cxnLst/>
          <a:rect l="0" t="0" r="0" b="0"/>
          <a:pathLst>
            <a:path>
              <a:moveTo>
                <a:pt x="0" y="0"/>
              </a:moveTo>
              <a:lnTo>
                <a:pt x="0" y="4429563"/>
              </a:lnTo>
              <a:lnTo>
                <a:pt x="533239" y="4429563"/>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65F844-EB1A-4656-8D3F-55BB89EF3DED}">
      <dsp:nvSpPr>
        <dsp:cNvPr id="0" name=""/>
        <dsp:cNvSpPr/>
      </dsp:nvSpPr>
      <dsp:spPr>
        <a:xfrm>
          <a:off x="2976854" y="4817474"/>
          <a:ext cx="7041598" cy="77035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E.g.: a gift pack comprising of chocolates, candies, cookies, etc.</a:t>
          </a:r>
          <a:endParaRPr lang="en-IN" sz="2600" kern="1200" dirty="0">
            <a:solidFill>
              <a:schemeClr val="tx1"/>
            </a:solidFill>
          </a:endParaRPr>
        </a:p>
      </dsp:txBody>
      <dsp:txXfrm>
        <a:off x="2999417" y="4840037"/>
        <a:ext cx="6996472" cy="7252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F6AD7B-7A88-4E72-963B-2463D4FCC26D}">
      <dsp:nvSpPr>
        <dsp:cNvPr id="0" name=""/>
        <dsp:cNvSpPr/>
      </dsp:nvSpPr>
      <dsp:spPr>
        <a:xfrm>
          <a:off x="2236868" y="3650"/>
          <a:ext cx="4233204" cy="146570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rPr>
            <a:t>CGST</a:t>
          </a:r>
        </a:p>
        <a:p>
          <a:pPr marL="0" lvl="0" indent="0" algn="ctr" defTabSz="1155700">
            <a:lnSpc>
              <a:spcPct val="90000"/>
            </a:lnSpc>
            <a:spcBef>
              <a:spcPct val="0"/>
            </a:spcBef>
            <a:spcAft>
              <a:spcPct val="35000"/>
            </a:spcAft>
            <a:buNone/>
          </a:pPr>
          <a:r>
            <a:rPr lang="en-US" sz="2600" kern="1200" dirty="0">
              <a:solidFill>
                <a:schemeClr val="tx1"/>
              </a:solidFill>
            </a:rPr>
            <a:t>{SGST/ UTGST at equivalent rate is also leviable}</a:t>
          </a:r>
          <a:endParaRPr lang="en-IN" sz="2600" kern="1200" dirty="0">
            <a:solidFill>
              <a:schemeClr val="tx1"/>
            </a:solidFill>
          </a:endParaRPr>
        </a:p>
      </dsp:txBody>
      <dsp:txXfrm>
        <a:off x="2279797" y="46579"/>
        <a:ext cx="4147346" cy="1379845"/>
      </dsp:txXfrm>
    </dsp:sp>
    <dsp:sp modelId="{5D382B21-3C6A-41E7-8D26-A9E08CAE16ED}">
      <dsp:nvSpPr>
        <dsp:cNvPr id="0" name=""/>
        <dsp:cNvSpPr/>
      </dsp:nvSpPr>
      <dsp:spPr>
        <a:xfrm>
          <a:off x="2660188" y="1469353"/>
          <a:ext cx="423320" cy="411756"/>
        </a:xfrm>
        <a:custGeom>
          <a:avLst/>
          <a:gdLst/>
          <a:ahLst/>
          <a:cxnLst/>
          <a:rect l="0" t="0" r="0" b="0"/>
          <a:pathLst>
            <a:path>
              <a:moveTo>
                <a:pt x="0" y="0"/>
              </a:moveTo>
              <a:lnTo>
                <a:pt x="0" y="411756"/>
              </a:lnTo>
              <a:lnTo>
                <a:pt x="423320" y="41175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9345C4-6C6D-4F04-9E81-C824DA2E4496}">
      <dsp:nvSpPr>
        <dsp:cNvPr id="0" name=""/>
        <dsp:cNvSpPr/>
      </dsp:nvSpPr>
      <dsp:spPr>
        <a:xfrm>
          <a:off x="3083509" y="1606605"/>
          <a:ext cx="10533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0.125%</a:t>
          </a:r>
          <a:endParaRPr lang="en-IN" sz="2400" kern="1200" dirty="0">
            <a:solidFill>
              <a:schemeClr val="tx1"/>
            </a:solidFill>
          </a:endParaRPr>
        </a:p>
      </dsp:txBody>
      <dsp:txXfrm>
        <a:off x="3099589" y="1622685"/>
        <a:ext cx="1021153" cy="516848"/>
      </dsp:txXfrm>
    </dsp:sp>
    <dsp:sp modelId="{65DD4893-9805-414F-ABCF-D1B944AE86E3}">
      <dsp:nvSpPr>
        <dsp:cNvPr id="0" name=""/>
        <dsp:cNvSpPr/>
      </dsp:nvSpPr>
      <dsp:spPr>
        <a:xfrm>
          <a:off x="2660188" y="1469353"/>
          <a:ext cx="423320" cy="1098016"/>
        </a:xfrm>
        <a:custGeom>
          <a:avLst/>
          <a:gdLst/>
          <a:ahLst/>
          <a:cxnLst/>
          <a:rect l="0" t="0" r="0" b="0"/>
          <a:pathLst>
            <a:path>
              <a:moveTo>
                <a:pt x="0" y="0"/>
              </a:moveTo>
              <a:lnTo>
                <a:pt x="0" y="1098016"/>
              </a:lnTo>
              <a:lnTo>
                <a:pt x="423320" y="109801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6A3D97-4623-4CC5-B164-0ADD222A4B67}">
      <dsp:nvSpPr>
        <dsp:cNvPr id="0" name=""/>
        <dsp:cNvSpPr/>
      </dsp:nvSpPr>
      <dsp:spPr>
        <a:xfrm>
          <a:off x="3083509" y="2292865"/>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549248"/>
              <a:satOff val="-4545"/>
              <a:lumOff val="9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1.5%</a:t>
          </a:r>
          <a:endParaRPr lang="en-IN" sz="2400" kern="1200" dirty="0">
            <a:solidFill>
              <a:schemeClr val="tx1"/>
            </a:solidFill>
          </a:endParaRPr>
        </a:p>
      </dsp:txBody>
      <dsp:txXfrm>
        <a:off x="3099589" y="2308945"/>
        <a:ext cx="846253" cy="516848"/>
      </dsp:txXfrm>
    </dsp:sp>
    <dsp:sp modelId="{3C09B622-9EDA-4B47-A6D0-A1FD5BA6135A}">
      <dsp:nvSpPr>
        <dsp:cNvPr id="0" name=""/>
        <dsp:cNvSpPr/>
      </dsp:nvSpPr>
      <dsp:spPr>
        <a:xfrm>
          <a:off x="2660188" y="1469353"/>
          <a:ext cx="423320" cy="1784276"/>
        </a:xfrm>
        <a:custGeom>
          <a:avLst/>
          <a:gdLst/>
          <a:ahLst/>
          <a:cxnLst/>
          <a:rect l="0" t="0" r="0" b="0"/>
          <a:pathLst>
            <a:path>
              <a:moveTo>
                <a:pt x="0" y="0"/>
              </a:moveTo>
              <a:lnTo>
                <a:pt x="0" y="1784276"/>
              </a:lnTo>
              <a:lnTo>
                <a:pt x="423320" y="178427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4EC5B2-936F-4DA0-BEC2-76BDE386D400}">
      <dsp:nvSpPr>
        <dsp:cNvPr id="0" name=""/>
        <dsp:cNvSpPr/>
      </dsp:nvSpPr>
      <dsp:spPr>
        <a:xfrm>
          <a:off x="3083509" y="297912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1098497"/>
              <a:satOff val="-9091"/>
              <a:lumOff val="18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2.5%</a:t>
          </a:r>
          <a:endParaRPr lang="en-IN" sz="2400" kern="1200">
            <a:solidFill>
              <a:schemeClr val="tx1"/>
            </a:solidFill>
          </a:endParaRPr>
        </a:p>
      </dsp:txBody>
      <dsp:txXfrm>
        <a:off x="3099589" y="2995206"/>
        <a:ext cx="846253" cy="516848"/>
      </dsp:txXfrm>
    </dsp:sp>
    <dsp:sp modelId="{D0936368-CD03-4EC3-9A92-65370D0595B0}">
      <dsp:nvSpPr>
        <dsp:cNvPr id="0" name=""/>
        <dsp:cNvSpPr/>
      </dsp:nvSpPr>
      <dsp:spPr>
        <a:xfrm>
          <a:off x="2660188" y="1469353"/>
          <a:ext cx="423320" cy="2470536"/>
        </a:xfrm>
        <a:custGeom>
          <a:avLst/>
          <a:gdLst/>
          <a:ahLst/>
          <a:cxnLst/>
          <a:rect l="0" t="0" r="0" b="0"/>
          <a:pathLst>
            <a:path>
              <a:moveTo>
                <a:pt x="0" y="0"/>
              </a:moveTo>
              <a:lnTo>
                <a:pt x="0" y="2470536"/>
              </a:lnTo>
              <a:lnTo>
                <a:pt x="423320" y="247053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86BF32-DDB5-4BAF-8C33-58810CCAA4FD}">
      <dsp:nvSpPr>
        <dsp:cNvPr id="0" name=""/>
        <dsp:cNvSpPr/>
      </dsp:nvSpPr>
      <dsp:spPr>
        <a:xfrm>
          <a:off x="3083509" y="366538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1647745"/>
              <a:satOff val="-13636"/>
              <a:lumOff val="27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6%</a:t>
          </a:r>
          <a:endParaRPr lang="en-IN" sz="2400" kern="1200">
            <a:solidFill>
              <a:schemeClr val="tx1"/>
            </a:solidFill>
          </a:endParaRPr>
        </a:p>
      </dsp:txBody>
      <dsp:txXfrm>
        <a:off x="3099589" y="3681466"/>
        <a:ext cx="846253" cy="516848"/>
      </dsp:txXfrm>
    </dsp:sp>
    <dsp:sp modelId="{E61451C4-35C4-472E-8A28-9048C8D70E37}">
      <dsp:nvSpPr>
        <dsp:cNvPr id="0" name=""/>
        <dsp:cNvSpPr/>
      </dsp:nvSpPr>
      <dsp:spPr>
        <a:xfrm>
          <a:off x="2660188" y="1469353"/>
          <a:ext cx="423320" cy="3156796"/>
        </a:xfrm>
        <a:custGeom>
          <a:avLst/>
          <a:gdLst/>
          <a:ahLst/>
          <a:cxnLst/>
          <a:rect l="0" t="0" r="0" b="0"/>
          <a:pathLst>
            <a:path>
              <a:moveTo>
                <a:pt x="0" y="0"/>
              </a:moveTo>
              <a:lnTo>
                <a:pt x="0" y="3156796"/>
              </a:lnTo>
              <a:lnTo>
                <a:pt x="423320" y="315679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92B688-900C-4E5C-A11A-FECA0E66E17A}">
      <dsp:nvSpPr>
        <dsp:cNvPr id="0" name=""/>
        <dsp:cNvSpPr/>
      </dsp:nvSpPr>
      <dsp:spPr>
        <a:xfrm>
          <a:off x="3083509" y="435164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2196994"/>
              <a:satOff val="-18182"/>
              <a:lumOff val="363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9%</a:t>
          </a:r>
          <a:endParaRPr lang="en-IN" sz="2400" kern="1200">
            <a:solidFill>
              <a:schemeClr val="tx1"/>
            </a:solidFill>
          </a:endParaRPr>
        </a:p>
      </dsp:txBody>
      <dsp:txXfrm>
        <a:off x="3099589" y="4367726"/>
        <a:ext cx="846253" cy="516848"/>
      </dsp:txXfrm>
    </dsp:sp>
    <dsp:sp modelId="{AE36FD69-AD16-4A05-8726-152C02B32793}">
      <dsp:nvSpPr>
        <dsp:cNvPr id="0" name=""/>
        <dsp:cNvSpPr/>
      </dsp:nvSpPr>
      <dsp:spPr>
        <a:xfrm>
          <a:off x="2660188" y="1469353"/>
          <a:ext cx="423320" cy="3843056"/>
        </a:xfrm>
        <a:custGeom>
          <a:avLst/>
          <a:gdLst/>
          <a:ahLst/>
          <a:cxnLst/>
          <a:rect l="0" t="0" r="0" b="0"/>
          <a:pathLst>
            <a:path>
              <a:moveTo>
                <a:pt x="0" y="0"/>
              </a:moveTo>
              <a:lnTo>
                <a:pt x="0" y="3843056"/>
              </a:lnTo>
              <a:lnTo>
                <a:pt x="423320" y="384305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0D33FC-95B1-4DFA-B146-7C720D41DBDA}">
      <dsp:nvSpPr>
        <dsp:cNvPr id="0" name=""/>
        <dsp:cNvSpPr/>
      </dsp:nvSpPr>
      <dsp:spPr>
        <a:xfrm>
          <a:off x="3083509" y="503790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2746242"/>
              <a:satOff val="-22727"/>
              <a:lumOff val="45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14%</a:t>
          </a:r>
          <a:endParaRPr lang="en-IN" sz="2400" kern="1200">
            <a:solidFill>
              <a:schemeClr val="tx1"/>
            </a:solidFill>
          </a:endParaRPr>
        </a:p>
      </dsp:txBody>
      <dsp:txXfrm>
        <a:off x="3099589" y="5053986"/>
        <a:ext cx="846253" cy="516848"/>
      </dsp:txXfrm>
    </dsp:sp>
    <dsp:sp modelId="{8400AF33-1028-42A0-9303-757481EDB08A}">
      <dsp:nvSpPr>
        <dsp:cNvPr id="0" name=""/>
        <dsp:cNvSpPr/>
      </dsp:nvSpPr>
      <dsp:spPr>
        <a:xfrm>
          <a:off x="6744576" y="3650"/>
          <a:ext cx="2948195" cy="549008"/>
        </a:xfrm>
        <a:prstGeom prst="roundRect">
          <a:avLst>
            <a:gd name="adj" fmla="val 1000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rPr>
            <a:t>IGST</a:t>
          </a:r>
          <a:endParaRPr lang="en-IN" sz="2600" b="1" kern="1200" dirty="0">
            <a:solidFill>
              <a:schemeClr val="tx1"/>
            </a:solidFill>
          </a:endParaRPr>
        </a:p>
      </dsp:txBody>
      <dsp:txXfrm>
        <a:off x="6760656" y="19730"/>
        <a:ext cx="2916035" cy="516848"/>
      </dsp:txXfrm>
    </dsp:sp>
    <dsp:sp modelId="{149CF26F-3E43-4B3C-B024-6F3531662D71}">
      <dsp:nvSpPr>
        <dsp:cNvPr id="0" name=""/>
        <dsp:cNvSpPr/>
      </dsp:nvSpPr>
      <dsp:spPr>
        <a:xfrm>
          <a:off x="7039396" y="552658"/>
          <a:ext cx="294819" cy="411756"/>
        </a:xfrm>
        <a:custGeom>
          <a:avLst/>
          <a:gdLst/>
          <a:ahLst/>
          <a:cxnLst/>
          <a:rect l="0" t="0" r="0" b="0"/>
          <a:pathLst>
            <a:path>
              <a:moveTo>
                <a:pt x="0" y="0"/>
              </a:moveTo>
              <a:lnTo>
                <a:pt x="0" y="411756"/>
              </a:lnTo>
              <a:lnTo>
                <a:pt x="294819" y="41175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571199-9456-4C1F-81D1-484ADBB941C9}">
      <dsp:nvSpPr>
        <dsp:cNvPr id="0" name=""/>
        <dsp:cNvSpPr/>
      </dsp:nvSpPr>
      <dsp:spPr>
        <a:xfrm>
          <a:off x="7334215" y="68991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3295491"/>
              <a:satOff val="-27273"/>
              <a:lumOff val="54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0.25%</a:t>
          </a:r>
          <a:endParaRPr lang="en-IN" sz="2400" kern="1200">
            <a:solidFill>
              <a:schemeClr val="tx1"/>
            </a:solidFill>
          </a:endParaRPr>
        </a:p>
      </dsp:txBody>
      <dsp:txXfrm>
        <a:off x="7350295" y="705990"/>
        <a:ext cx="846253" cy="516848"/>
      </dsp:txXfrm>
    </dsp:sp>
    <dsp:sp modelId="{BF0479C1-4D39-4D56-B110-5A13FA98D7B5}">
      <dsp:nvSpPr>
        <dsp:cNvPr id="0" name=""/>
        <dsp:cNvSpPr/>
      </dsp:nvSpPr>
      <dsp:spPr>
        <a:xfrm>
          <a:off x="7039396" y="552658"/>
          <a:ext cx="294819" cy="1098016"/>
        </a:xfrm>
        <a:custGeom>
          <a:avLst/>
          <a:gdLst/>
          <a:ahLst/>
          <a:cxnLst/>
          <a:rect l="0" t="0" r="0" b="0"/>
          <a:pathLst>
            <a:path>
              <a:moveTo>
                <a:pt x="0" y="0"/>
              </a:moveTo>
              <a:lnTo>
                <a:pt x="0" y="1098016"/>
              </a:lnTo>
              <a:lnTo>
                <a:pt x="294819" y="109801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0ED171-4FDA-4817-9D51-40D9AE9B2DD1}">
      <dsp:nvSpPr>
        <dsp:cNvPr id="0" name=""/>
        <dsp:cNvSpPr/>
      </dsp:nvSpPr>
      <dsp:spPr>
        <a:xfrm>
          <a:off x="7334215" y="137617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3844739"/>
              <a:satOff val="-31818"/>
              <a:lumOff val="63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3%</a:t>
          </a:r>
          <a:endParaRPr lang="en-IN" sz="2400" kern="1200">
            <a:solidFill>
              <a:schemeClr val="tx1"/>
            </a:solidFill>
          </a:endParaRPr>
        </a:p>
      </dsp:txBody>
      <dsp:txXfrm>
        <a:off x="7350295" y="1392250"/>
        <a:ext cx="846253" cy="516848"/>
      </dsp:txXfrm>
    </dsp:sp>
    <dsp:sp modelId="{92226CF5-6F82-46CE-9B7F-A95CCCEF9F6D}">
      <dsp:nvSpPr>
        <dsp:cNvPr id="0" name=""/>
        <dsp:cNvSpPr/>
      </dsp:nvSpPr>
      <dsp:spPr>
        <a:xfrm>
          <a:off x="7039396" y="552658"/>
          <a:ext cx="294819" cy="1784276"/>
        </a:xfrm>
        <a:custGeom>
          <a:avLst/>
          <a:gdLst/>
          <a:ahLst/>
          <a:cxnLst/>
          <a:rect l="0" t="0" r="0" b="0"/>
          <a:pathLst>
            <a:path>
              <a:moveTo>
                <a:pt x="0" y="0"/>
              </a:moveTo>
              <a:lnTo>
                <a:pt x="0" y="1784276"/>
              </a:lnTo>
              <a:lnTo>
                <a:pt x="294819" y="178427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9C0809-407D-469B-BB35-2A07BE3F9C87}">
      <dsp:nvSpPr>
        <dsp:cNvPr id="0" name=""/>
        <dsp:cNvSpPr/>
      </dsp:nvSpPr>
      <dsp:spPr>
        <a:xfrm>
          <a:off x="7334215" y="206243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4393988"/>
              <a:satOff val="-36364"/>
              <a:lumOff val="72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5%</a:t>
          </a:r>
          <a:endParaRPr lang="en-IN" sz="2400" kern="1200">
            <a:solidFill>
              <a:schemeClr val="tx1"/>
            </a:solidFill>
          </a:endParaRPr>
        </a:p>
      </dsp:txBody>
      <dsp:txXfrm>
        <a:off x="7350295" y="2078510"/>
        <a:ext cx="846253" cy="516848"/>
      </dsp:txXfrm>
    </dsp:sp>
    <dsp:sp modelId="{CCBD1422-0CBC-41A7-82CC-5F23B4D5C014}">
      <dsp:nvSpPr>
        <dsp:cNvPr id="0" name=""/>
        <dsp:cNvSpPr/>
      </dsp:nvSpPr>
      <dsp:spPr>
        <a:xfrm>
          <a:off x="7039396" y="552658"/>
          <a:ext cx="294819" cy="2470536"/>
        </a:xfrm>
        <a:custGeom>
          <a:avLst/>
          <a:gdLst/>
          <a:ahLst/>
          <a:cxnLst/>
          <a:rect l="0" t="0" r="0" b="0"/>
          <a:pathLst>
            <a:path>
              <a:moveTo>
                <a:pt x="0" y="0"/>
              </a:moveTo>
              <a:lnTo>
                <a:pt x="0" y="2470536"/>
              </a:lnTo>
              <a:lnTo>
                <a:pt x="294819" y="247053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ABAC89-7FB8-4ED6-9761-49277141DFC8}">
      <dsp:nvSpPr>
        <dsp:cNvPr id="0" name=""/>
        <dsp:cNvSpPr/>
      </dsp:nvSpPr>
      <dsp:spPr>
        <a:xfrm>
          <a:off x="7334215" y="274869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4943236"/>
              <a:satOff val="-40909"/>
              <a:lumOff val="81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12%</a:t>
          </a:r>
          <a:endParaRPr lang="en-IN" sz="2400" kern="1200">
            <a:solidFill>
              <a:schemeClr val="tx1"/>
            </a:solidFill>
          </a:endParaRPr>
        </a:p>
      </dsp:txBody>
      <dsp:txXfrm>
        <a:off x="7350295" y="2764770"/>
        <a:ext cx="846253" cy="516848"/>
      </dsp:txXfrm>
    </dsp:sp>
    <dsp:sp modelId="{110EE10E-7713-4162-AC1B-303C13143118}">
      <dsp:nvSpPr>
        <dsp:cNvPr id="0" name=""/>
        <dsp:cNvSpPr/>
      </dsp:nvSpPr>
      <dsp:spPr>
        <a:xfrm>
          <a:off x="7039396" y="552658"/>
          <a:ext cx="294819" cy="3156796"/>
        </a:xfrm>
        <a:custGeom>
          <a:avLst/>
          <a:gdLst/>
          <a:ahLst/>
          <a:cxnLst/>
          <a:rect l="0" t="0" r="0" b="0"/>
          <a:pathLst>
            <a:path>
              <a:moveTo>
                <a:pt x="0" y="0"/>
              </a:moveTo>
              <a:lnTo>
                <a:pt x="0" y="3156796"/>
              </a:lnTo>
              <a:lnTo>
                <a:pt x="294819" y="315679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899F19-2D77-4CFA-83BA-37390F20C335}">
      <dsp:nvSpPr>
        <dsp:cNvPr id="0" name=""/>
        <dsp:cNvSpPr/>
      </dsp:nvSpPr>
      <dsp:spPr>
        <a:xfrm>
          <a:off x="7334215" y="3434951"/>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5492485"/>
              <a:satOff val="-45455"/>
              <a:lumOff val="90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18%</a:t>
          </a:r>
          <a:endParaRPr lang="en-IN" sz="2400" kern="1200">
            <a:solidFill>
              <a:schemeClr val="tx1"/>
            </a:solidFill>
          </a:endParaRPr>
        </a:p>
      </dsp:txBody>
      <dsp:txXfrm>
        <a:off x="7350295" y="3451031"/>
        <a:ext cx="846253" cy="516848"/>
      </dsp:txXfrm>
    </dsp:sp>
    <dsp:sp modelId="{B64178F0-3B5D-41FE-A510-1ADD1201C1C1}">
      <dsp:nvSpPr>
        <dsp:cNvPr id="0" name=""/>
        <dsp:cNvSpPr/>
      </dsp:nvSpPr>
      <dsp:spPr>
        <a:xfrm>
          <a:off x="7039396" y="552658"/>
          <a:ext cx="294819" cy="3843056"/>
        </a:xfrm>
        <a:custGeom>
          <a:avLst/>
          <a:gdLst/>
          <a:ahLst/>
          <a:cxnLst/>
          <a:rect l="0" t="0" r="0" b="0"/>
          <a:pathLst>
            <a:path>
              <a:moveTo>
                <a:pt x="0" y="0"/>
              </a:moveTo>
              <a:lnTo>
                <a:pt x="0" y="3843056"/>
              </a:lnTo>
              <a:lnTo>
                <a:pt x="294819" y="384305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EE2905-B215-4C1F-970F-0209B8D07263}">
      <dsp:nvSpPr>
        <dsp:cNvPr id="0" name=""/>
        <dsp:cNvSpPr/>
      </dsp:nvSpPr>
      <dsp:spPr>
        <a:xfrm>
          <a:off x="7334215" y="4121211"/>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6041733"/>
              <a:satOff val="-50000"/>
              <a:lumOff val="100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28%</a:t>
          </a:r>
          <a:endParaRPr lang="en-IN" sz="2400" kern="1200">
            <a:solidFill>
              <a:schemeClr val="tx1"/>
            </a:solidFill>
          </a:endParaRPr>
        </a:p>
      </dsp:txBody>
      <dsp:txXfrm>
        <a:off x="7350295" y="4137291"/>
        <a:ext cx="846253" cy="5168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F6AD7B-7A88-4E72-963B-2463D4FCC26D}">
      <dsp:nvSpPr>
        <dsp:cNvPr id="0" name=""/>
        <dsp:cNvSpPr/>
      </dsp:nvSpPr>
      <dsp:spPr>
        <a:xfrm>
          <a:off x="2236868" y="3650"/>
          <a:ext cx="4233204" cy="1465703"/>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rPr>
            <a:t>CGST</a:t>
          </a:r>
        </a:p>
        <a:p>
          <a:pPr marL="0" lvl="0" indent="0" algn="ctr" defTabSz="1155700">
            <a:lnSpc>
              <a:spcPct val="90000"/>
            </a:lnSpc>
            <a:spcBef>
              <a:spcPct val="0"/>
            </a:spcBef>
            <a:spcAft>
              <a:spcPct val="35000"/>
            </a:spcAft>
            <a:buNone/>
          </a:pPr>
          <a:r>
            <a:rPr lang="en-US" sz="2600" kern="1200" dirty="0">
              <a:solidFill>
                <a:schemeClr val="tx1"/>
              </a:solidFill>
            </a:rPr>
            <a:t>{SGST/ UTGST at equivalent rate is also leviable}</a:t>
          </a:r>
          <a:endParaRPr lang="en-IN" sz="2600" kern="1200" dirty="0">
            <a:solidFill>
              <a:schemeClr val="tx1"/>
            </a:solidFill>
          </a:endParaRPr>
        </a:p>
      </dsp:txBody>
      <dsp:txXfrm>
        <a:off x="2279797" y="46579"/>
        <a:ext cx="4147346" cy="1379845"/>
      </dsp:txXfrm>
    </dsp:sp>
    <dsp:sp modelId="{5D382B21-3C6A-41E7-8D26-A9E08CAE16ED}">
      <dsp:nvSpPr>
        <dsp:cNvPr id="0" name=""/>
        <dsp:cNvSpPr/>
      </dsp:nvSpPr>
      <dsp:spPr>
        <a:xfrm>
          <a:off x="2660188" y="1469353"/>
          <a:ext cx="423320" cy="411756"/>
        </a:xfrm>
        <a:custGeom>
          <a:avLst/>
          <a:gdLst/>
          <a:ahLst/>
          <a:cxnLst/>
          <a:rect l="0" t="0" r="0" b="0"/>
          <a:pathLst>
            <a:path>
              <a:moveTo>
                <a:pt x="0" y="0"/>
              </a:moveTo>
              <a:lnTo>
                <a:pt x="0" y="411756"/>
              </a:lnTo>
              <a:lnTo>
                <a:pt x="423320" y="4117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9345C4-6C6D-4F04-9E81-C824DA2E4496}">
      <dsp:nvSpPr>
        <dsp:cNvPr id="0" name=""/>
        <dsp:cNvSpPr/>
      </dsp:nvSpPr>
      <dsp:spPr>
        <a:xfrm>
          <a:off x="3083509" y="1606605"/>
          <a:ext cx="10533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0.75%</a:t>
          </a:r>
          <a:endParaRPr lang="en-IN" sz="2400" kern="1200" dirty="0">
            <a:solidFill>
              <a:schemeClr val="tx1"/>
            </a:solidFill>
          </a:endParaRPr>
        </a:p>
      </dsp:txBody>
      <dsp:txXfrm>
        <a:off x="3099589" y="1622685"/>
        <a:ext cx="1021153" cy="516848"/>
      </dsp:txXfrm>
    </dsp:sp>
    <dsp:sp modelId="{65DD4893-9805-414F-ABCF-D1B944AE86E3}">
      <dsp:nvSpPr>
        <dsp:cNvPr id="0" name=""/>
        <dsp:cNvSpPr/>
      </dsp:nvSpPr>
      <dsp:spPr>
        <a:xfrm>
          <a:off x="2660188" y="1469353"/>
          <a:ext cx="423320" cy="1098016"/>
        </a:xfrm>
        <a:custGeom>
          <a:avLst/>
          <a:gdLst/>
          <a:ahLst/>
          <a:cxnLst/>
          <a:rect l="0" t="0" r="0" b="0"/>
          <a:pathLst>
            <a:path>
              <a:moveTo>
                <a:pt x="0" y="0"/>
              </a:moveTo>
              <a:lnTo>
                <a:pt x="0" y="1098016"/>
              </a:lnTo>
              <a:lnTo>
                <a:pt x="423320" y="109801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6A3D97-4623-4CC5-B164-0ADD222A4B67}">
      <dsp:nvSpPr>
        <dsp:cNvPr id="0" name=""/>
        <dsp:cNvSpPr/>
      </dsp:nvSpPr>
      <dsp:spPr>
        <a:xfrm>
          <a:off x="3083509" y="2292865"/>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92797"/>
              <a:satOff val="1838"/>
              <a:lumOff val="14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2.5%</a:t>
          </a:r>
          <a:endParaRPr lang="en-IN" sz="2400" kern="1200" dirty="0">
            <a:solidFill>
              <a:schemeClr val="tx1"/>
            </a:solidFill>
          </a:endParaRPr>
        </a:p>
      </dsp:txBody>
      <dsp:txXfrm>
        <a:off x="3099589" y="2308945"/>
        <a:ext cx="846253" cy="516848"/>
      </dsp:txXfrm>
    </dsp:sp>
    <dsp:sp modelId="{3C09B622-9EDA-4B47-A6D0-A1FD5BA6135A}">
      <dsp:nvSpPr>
        <dsp:cNvPr id="0" name=""/>
        <dsp:cNvSpPr/>
      </dsp:nvSpPr>
      <dsp:spPr>
        <a:xfrm>
          <a:off x="2660188" y="1469353"/>
          <a:ext cx="423320" cy="1784276"/>
        </a:xfrm>
        <a:custGeom>
          <a:avLst/>
          <a:gdLst/>
          <a:ahLst/>
          <a:cxnLst/>
          <a:rect l="0" t="0" r="0" b="0"/>
          <a:pathLst>
            <a:path>
              <a:moveTo>
                <a:pt x="0" y="0"/>
              </a:moveTo>
              <a:lnTo>
                <a:pt x="0" y="1784276"/>
              </a:lnTo>
              <a:lnTo>
                <a:pt x="423320" y="17842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4EC5B2-936F-4DA0-BEC2-76BDE386D400}">
      <dsp:nvSpPr>
        <dsp:cNvPr id="0" name=""/>
        <dsp:cNvSpPr/>
      </dsp:nvSpPr>
      <dsp:spPr>
        <a:xfrm>
          <a:off x="3083509" y="2979126"/>
          <a:ext cx="1015111"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1385594"/>
              <a:satOff val="3677"/>
              <a:lumOff val="29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3.75%</a:t>
          </a:r>
          <a:endParaRPr lang="en-IN" sz="2400" kern="1200" dirty="0">
            <a:solidFill>
              <a:schemeClr val="tx1"/>
            </a:solidFill>
          </a:endParaRPr>
        </a:p>
      </dsp:txBody>
      <dsp:txXfrm>
        <a:off x="3099589" y="2995206"/>
        <a:ext cx="982951" cy="516848"/>
      </dsp:txXfrm>
    </dsp:sp>
    <dsp:sp modelId="{D0936368-CD03-4EC3-9A92-65370D0595B0}">
      <dsp:nvSpPr>
        <dsp:cNvPr id="0" name=""/>
        <dsp:cNvSpPr/>
      </dsp:nvSpPr>
      <dsp:spPr>
        <a:xfrm>
          <a:off x="2660188" y="1469353"/>
          <a:ext cx="423320" cy="2470536"/>
        </a:xfrm>
        <a:custGeom>
          <a:avLst/>
          <a:gdLst/>
          <a:ahLst/>
          <a:cxnLst/>
          <a:rect l="0" t="0" r="0" b="0"/>
          <a:pathLst>
            <a:path>
              <a:moveTo>
                <a:pt x="0" y="0"/>
              </a:moveTo>
              <a:lnTo>
                <a:pt x="0" y="2470536"/>
              </a:lnTo>
              <a:lnTo>
                <a:pt x="423320" y="247053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86BF32-DDB5-4BAF-8C33-58810CCAA4FD}">
      <dsp:nvSpPr>
        <dsp:cNvPr id="0" name=""/>
        <dsp:cNvSpPr/>
      </dsp:nvSpPr>
      <dsp:spPr>
        <a:xfrm>
          <a:off x="3083509" y="366538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2078391"/>
              <a:satOff val="5515"/>
              <a:lumOff val="44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6%</a:t>
          </a:r>
          <a:endParaRPr lang="en-IN" sz="2400" kern="1200">
            <a:solidFill>
              <a:schemeClr val="tx1"/>
            </a:solidFill>
          </a:endParaRPr>
        </a:p>
      </dsp:txBody>
      <dsp:txXfrm>
        <a:off x="3099589" y="3681466"/>
        <a:ext cx="846253" cy="516848"/>
      </dsp:txXfrm>
    </dsp:sp>
    <dsp:sp modelId="{E61451C4-35C4-472E-8A28-9048C8D70E37}">
      <dsp:nvSpPr>
        <dsp:cNvPr id="0" name=""/>
        <dsp:cNvSpPr/>
      </dsp:nvSpPr>
      <dsp:spPr>
        <a:xfrm>
          <a:off x="2660188" y="1469353"/>
          <a:ext cx="423320" cy="3156796"/>
        </a:xfrm>
        <a:custGeom>
          <a:avLst/>
          <a:gdLst/>
          <a:ahLst/>
          <a:cxnLst/>
          <a:rect l="0" t="0" r="0" b="0"/>
          <a:pathLst>
            <a:path>
              <a:moveTo>
                <a:pt x="0" y="0"/>
              </a:moveTo>
              <a:lnTo>
                <a:pt x="0" y="3156796"/>
              </a:lnTo>
              <a:lnTo>
                <a:pt x="423320" y="31567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92B688-900C-4E5C-A11A-FECA0E66E17A}">
      <dsp:nvSpPr>
        <dsp:cNvPr id="0" name=""/>
        <dsp:cNvSpPr/>
      </dsp:nvSpPr>
      <dsp:spPr>
        <a:xfrm>
          <a:off x="3083509" y="435164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2771188"/>
              <a:satOff val="7354"/>
              <a:lumOff val="59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9%</a:t>
          </a:r>
          <a:endParaRPr lang="en-IN" sz="2400" kern="1200">
            <a:solidFill>
              <a:schemeClr val="tx1"/>
            </a:solidFill>
          </a:endParaRPr>
        </a:p>
      </dsp:txBody>
      <dsp:txXfrm>
        <a:off x="3099589" y="4367726"/>
        <a:ext cx="846253" cy="516848"/>
      </dsp:txXfrm>
    </dsp:sp>
    <dsp:sp modelId="{AE36FD69-AD16-4A05-8726-152C02B32793}">
      <dsp:nvSpPr>
        <dsp:cNvPr id="0" name=""/>
        <dsp:cNvSpPr/>
      </dsp:nvSpPr>
      <dsp:spPr>
        <a:xfrm>
          <a:off x="2660188" y="1469353"/>
          <a:ext cx="423320" cy="3843056"/>
        </a:xfrm>
        <a:custGeom>
          <a:avLst/>
          <a:gdLst/>
          <a:ahLst/>
          <a:cxnLst/>
          <a:rect l="0" t="0" r="0" b="0"/>
          <a:pathLst>
            <a:path>
              <a:moveTo>
                <a:pt x="0" y="0"/>
              </a:moveTo>
              <a:lnTo>
                <a:pt x="0" y="3843056"/>
              </a:lnTo>
              <a:lnTo>
                <a:pt x="423320" y="38430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0D33FC-95B1-4DFA-B146-7C720D41DBDA}">
      <dsp:nvSpPr>
        <dsp:cNvPr id="0" name=""/>
        <dsp:cNvSpPr/>
      </dsp:nvSpPr>
      <dsp:spPr>
        <a:xfrm>
          <a:off x="3083509" y="5037906"/>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3463984"/>
              <a:satOff val="9192"/>
              <a:lumOff val="739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14%</a:t>
          </a:r>
          <a:endParaRPr lang="en-IN" sz="2400" kern="1200">
            <a:solidFill>
              <a:schemeClr val="tx1"/>
            </a:solidFill>
          </a:endParaRPr>
        </a:p>
      </dsp:txBody>
      <dsp:txXfrm>
        <a:off x="3099589" y="5053986"/>
        <a:ext cx="846253" cy="516848"/>
      </dsp:txXfrm>
    </dsp:sp>
    <dsp:sp modelId="{8400AF33-1028-42A0-9303-757481EDB08A}">
      <dsp:nvSpPr>
        <dsp:cNvPr id="0" name=""/>
        <dsp:cNvSpPr/>
      </dsp:nvSpPr>
      <dsp:spPr>
        <a:xfrm>
          <a:off x="6744576" y="3650"/>
          <a:ext cx="2948195" cy="549008"/>
        </a:xfrm>
        <a:prstGeom prst="roundRect">
          <a:avLst>
            <a:gd name="adj" fmla="val 10000"/>
          </a:avLst>
        </a:prstGeom>
        <a:solidFill>
          <a:schemeClr val="accent4">
            <a:hueOff val="-7620765"/>
            <a:satOff val="20223"/>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1"/>
              </a:solidFill>
            </a:rPr>
            <a:t>IGST</a:t>
          </a:r>
          <a:endParaRPr lang="en-IN" sz="2600" b="1" kern="1200" dirty="0">
            <a:solidFill>
              <a:schemeClr val="tx1"/>
            </a:solidFill>
          </a:endParaRPr>
        </a:p>
      </dsp:txBody>
      <dsp:txXfrm>
        <a:off x="6760656" y="19730"/>
        <a:ext cx="2916035" cy="516848"/>
      </dsp:txXfrm>
    </dsp:sp>
    <dsp:sp modelId="{149CF26F-3E43-4B3C-B024-6F3531662D71}">
      <dsp:nvSpPr>
        <dsp:cNvPr id="0" name=""/>
        <dsp:cNvSpPr/>
      </dsp:nvSpPr>
      <dsp:spPr>
        <a:xfrm>
          <a:off x="7039396" y="552658"/>
          <a:ext cx="294819" cy="411756"/>
        </a:xfrm>
        <a:custGeom>
          <a:avLst/>
          <a:gdLst/>
          <a:ahLst/>
          <a:cxnLst/>
          <a:rect l="0" t="0" r="0" b="0"/>
          <a:pathLst>
            <a:path>
              <a:moveTo>
                <a:pt x="0" y="0"/>
              </a:moveTo>
              <a:lnTo>
                <a:pt x="0" y="411756"/>
              </a:lnTo>
              <a:lnTo>
                <a:pt x="294819" y="4117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571199-9456-4C1F-81D1-484ADBB941C9}">
      <dsp:nvSpPr>
        <dsp:cNvPr id="0" name=""/>
        <dsp:cNvSpPr/>
      </dsp:nvSpPr>
      <dsp:spPr>
        <a:xfrm>
          <a:off x="7334215" y="68991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156781"/>
              <a:satOff val="11031"/>
              <a:lumOff val="887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1.5%</a:t>
          </a:r>
          <a:endParaRPr lang="en-IN" sz="2400" kern="1200" dirty="0">
            <a:solidFill>
              <a:schemeClr val="tx1"/>
            </a:solidFill>
          </a:endParaRPr>
        </a:p>
      </dsp:txBody>
      <dsp:txXfrm>
        <a:off x="7350295" y="705990"/>
        <a:ext cx="846253" cy="516848"/>
      </dsp:txXfrm>
    </dsp:sp>
    <dsp:sp modelId="{BF0479C1-4D39-4D56-B110-5A13FA98D7B5}">
      <dsp:nvSpPr>
        <dsp:cNvPr id="0" name=""/>
        <dsp:cNvSpPr/>
      </dsp:nvSpPr>
      <dsp:spPr>
        <a:xfrm>
          <a:off x="7039396" y="552658"/>
          <a:ext cx="294819" cy="1098016"/>
        </a:xfrm>
        <a:custGeom>
          <a:avLst/>
          <a:gdLst/>
          <a:ahLst/>
          <a:cxnLst/>
          <a:rect l="0" t="0" r="0" b="0"/>
          <a:pathLst>
            <a:path>
              <a:moveTo>
                <a:pt x="0" y="0"/>
              </a:moveTo>
              <a:lnTo>
                <a:pt x="0" y="1098016"/>
              </a:lnTo>
              <a:lnTo>
                <a:pt x="294819" y="109801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0ED171-4FDA-4817-9D51-40D9AE9B2DD1}">
      <dsp:nvSpPr>
        <dsp:cNvPr id="0" name=""/>
        <dsp:cNvSpPr/>
      </dsp:nvSpPr>
      <dsp:spPr>
        <a:xfrm>
          <a:off x="7334215" y="137617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849578"/>
              <a:satOff val="12869"/>
              <a:lumOff val="103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5%</a:t>
          </a:r>
          <a:endParaRPr lang="en-IN" sz="2400" kern="1200" dirty="0">
            <a:solidFill>
              <a:schemeClr val="tx1"/>
            </a:solidFill>
          </a:endParaRPr>
        </a:p>
      </dsp:txBody>
      <dsp:txXfrm>
        <a:off x="7350295" y="1392250"/>
        <a:ext cx="846253" cy="516848"/>
      </dsp:txXfrm>
    </dsp:sp>
    <dsp:sp modelId="{92226CF5-6F82-46CE-9B7F-A95CCCEF9F6D}">
      <dsp:nvSpPr>
        <dsp:cNvPr id="0" name=""/>
        <dsp:cNvSpPr/>
      </dsp:nvSpPr>
      <dsp:spPr>
        <a:xfrm>
          <a:off x="7039396" y="552658"/>
          <a:ext cx="294819" cy="1784276"/>
        </a:xfrm>
        <a:custGeom>
          <a:avLst/>
          <a:gdLst/>
          <a:ahLst/>
          <a:cxnLst/>
          <a:rect l="0" t="0" r="0" b="0"/>
          <a:pathLst>
            <a:path>
              <a:moveTo>
                <a:pt x="0" y="0"/>
              </a:moveTo>
              <a:lnTo>
                <a:pt x="0" y="1784276"/>
              </a:lnTo>
              <a:lnTo>
                <a:pt x="294819" y="178427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9C0809-407D-469B-BB35-2A07BE3F9C87}">
      <dsp:nvSpPr>
        <dsp:cNvPr id="0" name=""/>
        <dsp:cNvSpPr/>
      </dsp:nvSpPr>
      <dsp:spPr>
        <a:xfrm>
          <a:off x="7334215" y="206243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5542375"/>
              <a:satOff val="14708"/>
              <a:lumOff val="1183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7.5%</a:t>
          </a:r>
          <a:endParaRPr lang="en-IN" sz="2400" kern="1200" dirty="0">
            <a:solidFill>
              <a:schemeClr val="tx1"/>
            </a:solidFill>
          </a:endParaRPr>
        </a:p>
      </dsp:txBody>
      <dsp:txXfrm>
        <a:off x="7350295" y="2078510"/>
        <a:ext cx="846253" cy="516848"/>
      </dsp:txXfrm>
    </dsp:sp>
    <dsp:sp modelId="{CCBD1422-0CBC-41A7-82CC-5F23B4D5C014}">
      <dsp:nvSpPr>
        <dsp:cNvPr id="0" name=""/>
        <dsp:cNvSpPr/>
      </dsp:nvSpPr>
      <dsp:spPr>
        <a:xfrm>
          <a:off x="7039396" y="552658"/>
          <a:ext cx="294819" cy="2470536"/>
        </a:xfrm>
        <a:custGeom>
          <a:avLst/>
          <a:gdLst/>
          <a:ahLst/>
          <a:cxnLst/>
          <a:rect l="0" t="0" r="0" b="0"/>
          <a:pathLst>
            <a:path>
              <a:moveTo>
                <a:pt x="0" y="0"/>
              </a:moveTo>
              <a:lnTo>
                <a:pt x="0" y="2470536"/>
              </a:lnTo>
              <a:lnTo>
                <a:pt x="294819" y="247053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ABAC89-7FB8-4ED6-9761-49277141DFC8}">
      <dsp:nvSpPr>
        <dsp:cNvPr id="0" name=""/>
        <dsp:cNvSpPr/>
      </dsp:nvSpPr>
      <dsp:spPr>
        <a:xfrm>
          <a:off x="7334215" y="2748690"/>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235172"/>
              <a:satOff val="16546"/>
              <a:lumOff val="1331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12%</a:t>
          </a:r>
          <a:endParaRPr lang="en-IN" sz="2400" kern="1200">
            <a:solidFill>
              <a:schemeClr val="tx1"/>
            </a:solidFill>
          </a:endParaRPr>
        </a:p>
      </dsp:txBody>
      <dsp:txXfrm>
        <a:off x="7350295" y="2764770"/>
        <a:ext cx="846253" cy="516848"/>
      </dsp:txXfrm>
    </dsp:sp>
    <dsp:sp modelId="{110EE10E-7713-4162-AC1B-303C13143118}">
      <dsp:nvSpPr>
        <dsp:cNvPr id="0" name=""/>
        <dsp:cNvSpPr/>
      </dsp:nvSpPr>
      <dsp:spPr>
        <a:xfrm>
          <a:off x="7039396" y="552658"/>
          <a:ext cx="294819" cy="3156796"/>
        </a:xfrm>
        <a:custGeom>
          <a:avLst/>
          <a:gdLst/>
          <a:ahLst/>
          <a:cxnLst/>
          <a:rect l="0" t="0" r="0" b="0"/>
          <a:pathLst>
            <a:path>
              <a:moveTo>
                <a:pt x="0" y="0"/>
              </a:moveTo>
              <a:lnTo>
                <a:pt x="0" y="3156796"/>
              </a:lnTo>
              <a:lnTo>
                <a:pt x="294819" y="315679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899F19-2D77-4CFA-83BA-37390F20C335}">
      <dsp:nvSpPr>
        <dsp:cNvPr id="0" name=""/>
        <dsp:cNvSpPr/>
      </dsp:nvSpPr>
      <dsp:spPr>
        <a:xfrm>
          <a:off x="7334215" y="3434951"/>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927969"/>
              <a:satOff val="18385"/>
              <a:lumOff val="147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18%</a:t>
          </a:r>
          <a:endParaRPr lang="en-IN" sz="2400" kern="1200" dirty="0">
            <a:solidFill>
              <a:schemeClr val="tx1"/>
            </a:solidFill>
          </a:endParaRPr>
        </a:p>
      </dsp:txBody>
      <dsp:txXfrm>
        <a:off x="7350295" y="3451031"/>
        <a:ext cx="846253" cy="516848"/>
      </dsp:txXfrm>
    </dsp:sp>
    <dsp:sp modelId="{B64178F0-3B5D-41FE-A510-1ADD1201C1C1}">
      <dsp:nvSpPr>
        <dsp:cNvPr id="0" name=""/>
        <dsp:cNvSpPr/>
      </dsp:nvSpPr>
      <dsp:spPr>
        <a:xfrm>
          <a:off x="7039396" y="552658"/>
          <a:ext cx="294819" cy="3843056"/>
        </a:xfrm>
        <a:custGeom>
          <a:avLst/>
          <a:gdLst/>
          <a:ahLst/>
          <a:cxnLst/>
          <a:rect l="0" t="0" r="0" b="0"/>
          <a:pathLst>
            <a:path>
              <a:moveTo>
                <a:pt x="0" y="0"/>
              </a:moveTo>
              <a:lnTo>
                <a:pt x="0" y="3843056"/>
              </a:lnTo>
              <a:lnTo>
                <a:pt x="294819" y="38430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EE2905-B215-4C1F-970F-0209B8D07263}">
      <dsp:nvSpPr>
        <dsp:cNvPr id="0" name=""/>
        <dsp:cNvSpPr/>
      </dsp:nvSpPr>
      <dsp:spPr>
        <a:xfrm>
          <a:off x="7334215" y="4121211"/>
          <a:ext cx="878413" cy="549008"/>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7620765"/>
              <a:satOff val="20223"/>
              <a:lumOff val="162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28%</a:t>
          </a:r>
          <a:endParaRPr lang="en-IN" sz="2400" kern="1200">
            <a:solidFill>
              <a:schemeClr val="tx1"/>
            </a:solidFill>
          </a:endParaRPr>
        </a:p>
      </dsp:txBody>
      <dsp:txXfrm>
        <a:off x="7350295" y="4137291"/>
        <a:ext cx="846253" cy="5168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AC666-68F7-4405-919D-A621E9083654}">
      <dsp:nvSpPr>
        <dsp:cNvPr id="0" name=""/>
        <dsp:cNvSpPr/>
      </dsp:nvSpPr>
      <dsp:spPr>
        <a:xfrm>
          <a:off x="59922" y="0"/>
          <a:ext cx="10764177" cy="4305671"/>
        </a:xfrm>
        <a:prstGeom prst="leftRightRibb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63B91-4581-478B-A55D-C198E025692A}">
      <dsp:nvSpPr>
        <dsp:cNvPr id="0" name=""/>
        <dsp:cNvSpPr/>
      </dsp:nvSpPr>
      <dsp:spPr>
        <a:xfrm>
          <a:off x="1351624" y="753492"/>
          <a:ext cx="3552178" cy="210977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9568" rIns="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Composition levy</a:t>
          </a:r>
        </a:p>
      </dsp:txBody>
      <dsp:txXfrm>
        <a:off x="1351624" y="753492"/>
        <a:ext cx="3552178" cy="2109778"/>
      </dsp:txXfrm>
    </dsp:sp>
    <dsp:sp modelId="{048EF303-60E1-4D27-A079-0509CBA9840E}">
      <dsp:nvSpPr>
        <dsp:cNvPr id="0" name=""/>
        <dsp:cNvSpPr/>
      </dsp:nvSpPr>
      <dsp:spPr>
        <a:xfrm>
          <a:off x="5442011" y="1442399"/>
          <a:ext cx="4198029" cy="210977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9568" rIns="0" bIns="106680" numCol="1" spcCol="1270" anchor="ctr" anchorCtr="0">
          <a:noAutofit/>
        </a:bodyPr>
        <a:lstStyle/>
        <a:p>
          <a:pPr marL="0" lvl="0" indent="0" algn="ctr" defTabSz="1244600">
            <a:lnSpc>
              <a:spcPct val="90000"/>
            </a:lnSpc>
            <a:spcBef>
              <a:spcPct val="0"/>
            </a:spcBef>
            <a:spcAft>
              <a:spcPct val="35000"/>
            </a:spcAft>
            <a:buNone/>
          </a:pPr>
          <a:r>
            <a:rPr lang="en-US" sz="2800" kern="1200"/>
            <a:t>An option for specified categories of small taxpayers to pay GST at a very low rate on the basis of turnover.</a:t>
          </a:r>
        </a:p>
      </dsp:txBody>
      <dsp:txXfrm>
        <a:off x="5442011" y="1442399"/>
        <a:ext cx="4198029" cy="21097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4A2C7-BC96-4255-A38A-5EA36E794A7E}">
      <dsp:nvSpPr>
        <dsp:cNvPr id="0" name=""/>
        <dsp:cNvSpPr/>
      </dsp:nvSpPr>
      <dsp:spPr>
        <a:xfrm>
          <a:off x="0" y="454925"/>
          <a:ext cx="11930063" cy="12168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kern="1200"/>
            <a:t>Advantages</a:t>
          </a:r>
          <a:endParaRPr lang="en-US" sz="4400" kern="1200"/>
        </a:p>
      </dsp:txBody>
      <dsp:txXfrm>
        <a:off x="59399" y="514324"/>
        <a:ext cx="11811265" cy="1098002"/>
      </dsp:txXfrm>
    </dsp:sp>
    <dsp:sp modelId="{E5741DD4-7AC3-4FDE-A42F-5451242BC886}">
      <dsp:nvSpPr>
        <dsp:cNvPr id="0" name=""/>
        <dsp:cNvSpPr/>
      </dsp:nvSpPr>
      <dsp:spPr>
        <a:xfrm>
          <a:off x="0" y="1671725"/>
          <a:ext cx="11930063" cy="296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780" tIns="55880" rIns="312928" bIns="55880" numCol="1" spcCol="1270" anchor="t" anchorCtr="0">
          <a:noAutofit/>
        </a:bodyPr>
        <a:lstStyle/>
        <a:p>
          <a:pPr marL="285750" lvl="1" indent="-285750" algn="l" defTabSz="1955800">
            <a:lnSpc>
              <a:spcPct val="90000"/>
            </a:lnSpc>
            <a:spcBef>
              <a:spcPct val="0"/>
            </a:spcBef>
            <a:spcAft>
              <a:spcPct val="20000"/>
            </a:spcAft>
            <a:buChar char="•"/>
          </a:pPr>
          <a:r>
            <a:rPr lang="en-US" sz="4400" kern="1200"/>
            <a:t>Low rates of tax </a:t>
          </a:r>
        </a:p>
        <a:p>
          <a:pPr marL="285750" lvl="1" indent="-285750" algn="l" defTabSz="1955800">
            <a:lnSpc>
              <a:spcPct val="90000"/>
            </a:lnSpc>
            <a:spcBef>
              <a:spcPct val="0"/>
            </a:spcBef>
            <a:spcAft>
              <a:spcPct val="20000"/>
            </a:spcAft>
            <a:buChar char="•"/>
          </a:pPr>
          <a:r>
            <a:rPr lang="en-US" sz="4400" kern="1200"/>
            <a:t>Hassel free simple procedures for such taxpayers</a:t>
          </a:r>
        </a:p>
        <a:p>
          <a:pPr marL="285750" lvl="1" indent="-285750" algn="l" defTabSz="1955800">
            <a:lnSpc>
              <a:spcPct val="90000"/>
            </a:lnSpc>
            <a:spcBef>
              <a:spcPct val="0"/>
            </a:spcBef>
            <a:spcAft>
              <a:spcPct val="20000"/>
            </a:spcAft>
            <a:buChar char="•"/>
          </a:pPr>
          <a:r>
            <a:rPr lang="en-US" sz="4400" kern="1200"/>
            <a:t>Simple calculation of tax based on turnover </a:t>
          </a:r>
        </a:p>
        <a:p>
          <a:pPr marL="285750" lvl="1" indent="-285750" algn="l" defTabSz="1955800">
            <a:lnSpc>
              <a:spcPct val="90000"/>
            </a:lnSpc>
            <a:spcBef>
              <a:spcPct val="0"/>
            </a:spcBef>
            <a:spcAft>
              <a:spcPct val="20000"/>
            </a:spcAft>
            <a:buChar char="•"/>
          </a:pPr>
          <a:r>
            <a:rPr lang="en-US" sz="4400" kern="1200"/>
            <a:t>A very simple annual return</a:t>
          </a:r>
        </a:p>
      </dsp:txBody>
      <dsp:txXfrm>
        <a:off x="0" y="1671725"/>
        <a:ext cx="11930063" cy="29600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7DD17-1CB1-4609-84AC-1510B12C9EF9}">
      <dsp:nvSpPr>
        <dsp:cNvPr id="0" name=""/>
        <dsp:cNvSpPr/>
      </dsp:nvSpPr>
      <dsp:spPr>
        <a:xfrm>
          <a:off x="0" y="643243"/>
          <a:ext cx="11102974" cy="719549"/>
        </a:xfrm>
        <a:prstGeom prst="roundRect">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For Special Category States except Assam, Himachal Pradesh and J&amp;K</a:t>
          </a:r>
        </a:p>
      </dsp:txBody>
      <dsp:txXfrm>
        <a:off x="35125" y="678368"/>
        <a:ext cx="11032724" cy="649299"/>
      </dsp:txXfrm>
    </dsp:sp>
    <dsp:sp modelId="{DDA67D4B-01F1-4166-AB59-CA1D4A06BE18}">
      <dsp:nvSpPr>
        <dsp:cNvPr id="0" name=""/>
        <dsp:cNvSpPr/>
      </dsp:nvSpPr>
      <dsp:spPr>
        <a:xfrm>
          <a:off x="0" y="1362793"/>
          <a:ext cx="11102974"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519"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dirty="0"/>
            <a:t>Rs. 75 lakh</a:t>
          </a:r>
        </a:p>
      </dsp:txBody>
      <dsp:txXfrm>
        <a:off x="0" y="1362793"/>
        <a:ext cx="11102974" cy="496800"/>
      </dsp:txXfrm>
    </dsp:sp>
    <dsp:sp modelId="{DDF80236-63BE-44FA-BCED-BF04603E1496}">
      <dsp:nvSpPr>
        <dsp:cNvPr id="0" name=""/>
        <dsp:cNvSpPr/>
      </dsp:nvSpPr>
      <dsp:spPr>
        <a:xfrm>
          <a:off x="0" y="1859593"/>
          <a:ext cx="11102974" cy="719549"/>
        </a:xfrm>
        <a:prstGeom prst="roundRect">
          <a:avLst/>
        </a:prstGeom>
        <a:solidFill>
          <a:schemeClr val="accent2">
            <a:shade val="50000"/>
            <a:hueOff val="239141"/>
            <a:satOff val="-31649"/>
            <a:lumOff val="362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For remaining States</a:t>
          </a:r>
        </a:p>
      </dsp:txBody>
      <dsp:txXfrm>
        <a:off x="35125" y="1894718"/>
        <a:ext cx="11032724" cy="649299"/>
      </dsp:txXfrm>
    </dsp:sp>
    <dsp:sp modelId="{91281BD6-177D-4978-96C9-3F7A263E4EDD}">
      <dsp:nvSpPr>
        <dsp:cNvPr id="0" name=""/>
        <dsp:cNvSpPr/>
      </dsp:nvSpPr>
      <dsp:spPr>
        <a:xfrm>
          <a:off x="0" y="2579143"/>
          <a:ext cx="11102974"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519"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Rs.1.5 crore</a:t>
          </a:r>
        </a:p>
      </dsp:txBody>
      <dsp:txXfrm>
        <a:off x="0" y="2579143"/>
        <a:ext cx="11102974" cy="496800"/>
      </dsp:txXfrm>
    </dsp:sp>
    <dsp:sp modelId="{AE540F08-AA18-40AA-AA1F-B097BF4CE92D}">
      <dsp:nvSpPr>
        <dsp:cNvPr id="0" name=""/>
        <dsp:cNvSpPr/>
      </dsp:nvSpPr>
      <dsp:spPr>
        <a:xfrm>
          <a:off x="0" y="3075943"/>
          <a:ext cx="11102974" cy="719549"/>
        </a:xfrm>
        <a:prstGeom prst="roundRect">
          <a:avLst/>
        </a:prstGeom>
        <a:solidFill>
          <a:schemeClr val="accent2">
            <a:shade val="50000"/>
            <a:hueOff val="239141"/>
            <a:satOff val="-31649"/>
            <a:lumOff val="362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Turnover year for composition levy under section 10(2A)</a:t>
          </a:r>
        </a:p>
      </dsp:txBody>
      <dsp:txXfrm>
        <a:off x="35125" y="3111068"/>
        <a:ext cx="11032724" cy="649299"/>
      </dsp:txXfrm>
    </dsp:sp>
    <dsp:sp modelId="{88436519-D8D5-416A-9809-DA07F4867790}">
      <dsp:nvSpPr>
        <dsp:cNvPr id="0" name=""/>
        <dsp:cNvSpPr/>
      </dsp:nvSpPr>
      <dsp:spPr>
        <a:xfrm>
          <a:off x="0" y="3795493"/>
          <a:ext cx="11102974"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519"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a:t>Rs. 50 lakh in preceding financial Turnover year</a:t>
          </a:r>
        </a:p>
      </dsp:txBody>
      <dsp:txXfrm>
        <a:off x="0" y="3795493"/>
        <a:ext cx="11102974" cy="4968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CFE6D2-BBC2-4359-9B37-0D1B3E29A1D9}">
      <dsp:nvSpPr>
        <dsp:cNvPr id="0" name=""/>
        <dsp:cNvSpPr/>
      </dsp:nvSpPr>
      <dsp:spPr>
        <a:xfrm>
          <a:off x="0" y="0"/>
          <a:ext cx="10772774" cy="4146550"/>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8056" tIns="448056" rIns="448056" bIns="448056" numCol="1" spcCol="1270" anchor="ctr" anchorCtr="0">
          <a:noAutofit/>
        </a:bodyPr>
        <a:lstStyle/>
        <a:p>
          <a:pPr marL="0" lvl="0" indent="0" algn="ctr" defTabSz="2800350">
            <a:lnSpc>
              <a:spcPct val="90000"/>
            </a:lnSpc>
            <a:spcBef>
              <a:spcPct val="0"/>
            </a:spcBef>
            <a:spcAft>
              <a:spcPct val="35000"/>
            </a:spcAft>
            <a:buNone/>
          </a:pPr>
          <a:r>
            <a:rPr lang="en-US" sz="6300" kern="1200"/>
            <a:t>Person opting for composition: </a:t>
          </a:r>
        </a:p>
      </dsp:txBody>
      <dsp:txXfrm>
        <a:off x="0" y="0"/>
        <a:ext cx="10772774" cy="2239137"/>
      </dsp:txXfrm>
    </dsp:sp>
    <dsp:sp modelId="{61FF9862-7576-416A-8438-EF028527CA84}">
      <dsp:nvSpPr>
        <dsp:cNvPr id="0" name=""/>
        <dsp:cNvSpPr/>
      </dsp:nvSpPr>
      <dsp:spPr>
        <a:xfrm>
          <a:off x="1315" y="2156205"/>
          <a:ext cx="2154028" cy="190741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is neither a casual taxable person nor a non-resident taxable person </a:t>
          </a:r>
        </a:p>
      </dsp:txBody>
      <dsp:txXfrm>
        <a:off x="1315" y="2156205"/>
        <a:ext cx="2154028" cy="1907413"/>
      </dsp:txXfrm>
    </dsp:sp>
    <dsp:sp modelId="{6F3F7A45-BF47-4528-95B3-FF819F264D1B}">
      <dsp:nvSpPr>
        <dsp:cNvPr id="0" name=""/>
        <dsp:cNvSpPr/>
      </dsp:nvSpPr>
      <dsp:spPr>
        <a:xfrm>
          <a:off x="2155344" y="2156205"/>
          <a:ext cx="2154028" cy="190741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shall pay tax under section 9(3)/9(4) on inward supply </a:t>
          </a:r>
        </a:p>
      </dsp:txBody>
      <dsp:txXfrm>
        <a:off x="2155344" y="2156205"/>
        <a:ext cx="2154028" cy="1907413"/>
      </dsp:txXfrm>
    </dsp:sp>
    <dsp:sp modelId="{4D099550-A362-4875-A834-BCB191F25CF2}">
      <dsp:nvSpPr>
        <dsp:cNvPr id="0" name=""/>
        <dsp:cNvSpPr/>
      </dsp:nvSpPr>
      <dsp:spPr>
        <a:xfrm>
          <a:off x="4309373" y="2156205"/>
          <a:ext cx="2154028" cy="190741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is not engaged in the manufacture of notified goods or notified services</a:t>
          </a:r>
        </a:p>
      </dsp:txBody>
      <dsp:txXfrm>
        <a:off x="4309373" y="2156205"/>
        <a:ext cx="2154028" cy="1907413"/>
      </dsp:txXfrm>
    </dsp:sp>
    <dsp:sp modelId="{8B160390-CBAE-4523-BCCE-7D0EF3B33DD1}">
      <dsp:nvSpPr>
        <dsp:cNvPr id="0" name=""/>
        <dsp:cNvSpPr/>
      </dsp:nvSpPr>
      <dsp:spPr>
        <a:xfrm>
          <a:off x="6463401" y="2156205"/>
          <a:ext cx="2154028" cy="190741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shall mention the words “composition taxable person, not eligible to collect tax on supplies” at the top of the bill of supply issued by him </a:t>
          </a:r>
        </a:p>
      </dsp:txBody>
      <dsp:txXfrm>
        <a:off x="6463401" y="2156205"/>
        <a:ext cx="2154028" cy="1907413"/>
      </dsp:txXfrm>
    </dsp:sp>
    <dsp:sp modelId="{940D1792-6630-43CE-9402-6898BB40D3C1}">
      <dsp:nvSpPr>
        <dsp:cNvPr id="0" name=""/>
        <dsp:cNvSpPr/>
      </dsp:nvSpPr>
      <dsp:spPr>
        <a:xfrm>
          <a:off x="8617430" y="2156205"/>
          <a:ext cx="2154028" cy="190741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shall mention the words “composition taxable person” at a prominent place at his place of business</a:t>
          </a:r>
        </a:p>
      </dsp:txBody>
      <dsp:txXfrm>
        <a:off x="8617430" y="2156205"/>
        <a:ext cx="2154028" cy="190741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53359-E8D0-4403-87FD-7D28E4F38E74}">
      <dsp:nvSpPr>
        <dsp:cNvPr id="0" name=""/>
        <dsp:cNvSpPr/>
      </dsp:nvSpPr>
      <dsp:spPr>
        <a:xfrm rot="5400000">
          <a:off x="5123243" y="-858233"/>
          <a:ext cx="3984299" cy="6696840"/>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t>Bill of supply shall be issued instead of tax invoice. </a:t>
          </a:r>
        </a:p>
        <a:p>
          <a:pPr marL="228600" lvl="1" indent="-228600" algn="l" defTabSz="1155700">
            <a:lnSpc>
              <a:spcPct val="90000"/>
            </a:lnSpc>
            <a:spcBef>
              <a:spcPct val="0"/>
            </a:spcBef>
            <a:spcAft>
              <a:spcPct val="15000"/>
            </a:spcAft>
            <a:buChar char="•"/>
          </a:pPr>
          <a:r>
            <a:rPr lang="en-US" sz="2600" kern="1200"/>
            <a:t>Tax shall not be collected from recipient of supply </a:t>
          </a:r>
        </a:p>
        <a:p>
          <a:pPr marL="228600" lvl="1" indent="-228600" algn="l" defTabSz="1155700">
            <a:lnSpc>
              <a:spcPct val="90000"/>
            </a:lnSpc>
            <a:spcBef>
              <a:spcPct val="0"/>
            </a:spcBef>
            <a:spcAft>
              <a:spcPct val="15000"/>
            </a:spcAft>
            <a:buChar char="•"/>
          </a:pPr>
          <a:r>
            <a:rPr lang="en-US" sz="2600" kern="1200"/>
            <a:t>Input tax credit shall not be availed </a:t>
          </a:r>
        </a:p>
        <a:p>
          <a:pPr marL="228600" lvl="1" indent="-228600" algn="l" defTabSz="1155700">
            <a:lnSpc>
              <a:spcPct val="90000"/>
            </a:lnSpc>
            <a:spcBef>
              <a:spcPct val="0"/>
            </a:spcBef>
            <a:spcAft>
              <a:spcPct val="15000"/>
            </a:spcAft>
            <a:buChar char="•"/>
          </a:pPr>
          <a:r>
            <a:rPr lang="en-US" sz="2600" kern="1200"/>
            <a:t>Composition Scheme if availed shall include all registered persons having same PAN </a:t>
          </a:r>
        </a:p>
        <a:p>
          <a:pPr marL="228600" lvl="1" indent="-228600" algn="l" defTabSz="1155700">
            <a:lnSpc>
              <a:spcPct val="90000"/>
            </a:lnSpc>
            <a:spcBef>
              <a:spcPct val="0"/>
            </a:spcBef>
            <a:spcAft>
              <a:spcPct val="15000"/>
            </a:spcAft>
            <a:buChar char="•"/>
          </a:pPr>
          <a:r>
            <a:rPr lang="en-US" sz="2600" kern="1200"/>
            <a:t>Penalty shall be imposed in case of irregular availment of the composition scheme</a:t>
          </a:r>
        </a:p>
      </dsp:txBody>
      <dsp:txXfrm rot="-5400000">
        <a:off x="3766973" y="692534"/>
        <a:ext cx="6502343" cy="3595305"/>
      </dsp:txXfrm>
    </dsp:sp>
    <dsp:sp modelId="{537CD32C-1FA0-4FE9-8612-9848BF5E82D2}">
      <dsp:nvSpPr>
        <dsp:cNvPr id="0" name=""/>
        <dsp:cNvSpPr/>
      </dsp:nvSpPr>
      <dsp:spPr>
        <a:xfrm>
          <a:off x="0" y="0"/>
          <a:ext cx="3766972" cy="4980374"/>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a:t>Other points</a:t>
          </a:r>
        </a:p>
      </dsp:txBody>
      <dsp:txXfrm>
        <a:off x="183888" y="183888"/>
        <a:ext cx="3399196" cy="46125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563E3-78FC-41ED-8E41-46F8BD2C3295}">
      <dsp:nvSpPr>
        <dsp:cNvPr id="0" name=""/>
        <dsp:cNvSpPr/>
      </dsp:nvSpPr>
      <dsp:spPr>
        <a:xfrm rot="5400000">
          <a:off x="-934924" y="934924"/>
          <a:ext cx="6232833" cy="4362983"/>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Eligibility and Conditions For Taking ITC</a:t>
          </a:r>
        </a:p>
      </dsp:txBody>
      <dsp:txXfrm rot="-5400000">
        <a:off x="2" y="2181491"/>
        <a:ext cx="4362983" cy="1869850"/>
      </dsp:txXfrm>
    </dsp:sp>
    <dsp:sp modelId="{A2185F8B-7E8E-4083-9BEE-4ADEED78BA60}">
      <dsp:nvSpPr>
        <dsp:cNvPr id="0" name=""/>
        <dsp:cNvSpPr/>
      </dsp:nvSpPr>
      <dsp:spPr>
        <a:xfrm rot="5400000">
          <a:off x="6120058" y="-1757075"/>
          <a:ext cx="4051341" cy="7565491"/>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l" defTabSz="1155700">
            <a:lnSpc>
              <a:spcPct val="90000"/>
            </a:lnSpc>
            <a:spcBef>
              <a:spcPct val="0"/>
            </a:spcBef>
            <a:spcAft>
              <a:spcPct val="15000"/>
            </a:spcAft>
            <a:buChar char="•"/>
          </a:pPr>
          <a:r>
            <a:rPr lang="en-US" sz="2600" kern="1200"/>
            <a:t>Every person registered under GST shall be entitled to input tax credit.</a:t>
          </a:r>
        </a:p>
        <a:p>
          <a:pPr marL="228600" lvl="1" indent="-228600" algn="l" defTabSz="1155700">
            <a:lnSpc>
              <a:spcPct val="90000"/>
            </a:lnSpc>
            <a:spcBef>
              <a:spcPct val="0"/>
            </a:spcBef>
            <a:spcAft>
              <a:spcPct val="15000"/>
            </a:spcAft>
            <a:buChar char="•"/>
          </a:pPr>
          <a:r>
            <a:rPr lang="en-IN" sz="2600" kern="1200"/>
            <a:t>Person should be in possession of a tax invoice or debit note issued by a supplier</a:t>
          </a:r>
          <a:endParaRPr lang="en-US" sz="2600" kern="1200"/>
        </a:p>
        <a:p>
          <a:pPr marL="228600" lvl="1" indent="-228600" algn="l" defTabSz="1155700">
            <a:lnSpc>
              <a:spcPct val="90000"/>
            </a:lnSpc>
            <a:spcBef>
              <a:spcPct val="0"/>
            </a:spcBef>
            <a:spcAft>
              <a:spcPct val="15000"/>
            </a:spcAft>
            <a:buChar char="•"/>
          </a:pPr>
          <a:r>
            <a:rPr lang="en-IN" sz="2600" kern="1200"/>
            <a:t>Person has received goods or services or both</a:t>
          </a:r>
          <a:endParaRPr lang="en-US" sz="2600" kern="1200"/>
        </a:p>
        <a:p>
          <a:pPr marL="228600" lvl="1" indent="-228600" algn="l" defTabSz="1155700">
            <a:lnSpc>
              <a:spcPct val="90000"/>
            </a:lnSpc>
            <a:spcBef>
              <a:spcPct val="0"/>
            </a:spcBef>
            <a:spcAft>
              <a:spcPct val="15000"/>
            </a:spcAft>
            <a:buChar char="•"/>
          </a:pPr>
          <a:r>
            <a:rPr lang="en-IN" sz="2600" kern="1200"/>
            <a:t>Goods or services are used for business purposes</a:t>
          </a:r>
          <a:endParaRPr lang="en-US" sz="2600" kern="1200"/>
        </a:p>
        <a:p>
          <a:pPr marL="228600" lvl="1" indent="-228600" algn="l" defTabSz="1155700">
            <a:lnSpc>
              <a:spcPct val="90000"/>
            </a:lnSpc>
            <a:spcBef>
              <a:spcPct val="0"/>
            </a:spcBef>
            <a:spcAft>
              <a:spcPct val="15000"/>
            </a:spcAft>
            <a:buChar char="•"/>
          </a:pPr>
          <a:r>
            <a:rPr lang="en-IN" sz="2600" kern="1200"/>
            <a:t>Person has furnished GST return as per requirements</a:t>
          </a:r>
          <a:endParaRPr lang="en-US" sz="2600" kern="1200"/>
        </a:p>
        <a:p>
          <a:pPr marL="228600" lvl="1" indent="-228600" algn="l" defTabSz="1155700">
            <a:lnSpc>
              <a:spcPct val="90000"/>
            </a:lnSpc>
            <a:spcBef>
              <a:spcPct val="0"/>
            </a:spcBef>
            <a:spcAft>
              <a:spcPct val="15000"/>
            </a:spcAft>
            <a:buChar char="•"/>
          </a:pPr>
          <a:r>
            <a:rPr lang="en-IN" sz="2600" kern="1200"/>
            <a:t>Tax leviable on supply is actually paid to the government</a:t>
          </a:r>
          <a:endParaRPr lang="en-US" sz="2600" kern="1200"/>
        </a:p>
      </dsp:txBody>
      <dsp:txXfrm rot="-5400000">
        <a:off x="4362983" y="197770"/>
        <a:ext cx="7367721" cy="365580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875C0-1F44-45AC-9E65-460974A8E35D}">
      <dsp:nvSpPr>
        <dsp:cNvPr id="0" name=""/>
        <dsp:cNvSpPr/>
      </dsp:nvSpPr>
      <dsp:spPr>
        <a:xfrm>
          <a:off x="7679866" y="3218395"/>
          <a:ext cx="398593" cy="1222352"/>
        </a:xfrm>
        <a:custGeom>
          <a:avLst/>
          <a:gdLst/>
          <a:ahLst/>
          <a:cxnLst/>
          <a:rect l="0" t="0" r="0" b="0"/>
          <a:pathLst>
            <a:path>
              <a:moveTo>
                <a:pt x="0" y="0"/>
              </a:moveTo>
              <a:lnTo>
                <a:pt x="0" y="1222352"/>
              </a:lnTo>
              <a:lnTo>
                <a:pt x="398593" y="122235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F1F056-3BA9-4D92-A215-2F61B6C3FC44}">
      <dsp:nvSpPr>
        <dsp:cNvPr id="0" name=""/>
        <dsp:cNvSpPr/>
      </dsp:nvSpPr>
      <dsp:spPr>
        <a:xfrm>
          <a:off x="5527463" y="1331721"/>
          <a:ext cx="3215318" cy="558030"/>
        </a:xfrm>
        <a:custGeom>
          <a:avLst/>
          <a:gdLst/>
          <a:ahLst/>
          <a:cxnLst/>
          <a:rect l="0" t="0" r="0" b="0"/>
          <a:pathLst>
            <a:path>
              <a:moveTo>
                <a:pt x="0" y="0"/>
              </a:moveTo>
              <a:lnTo>
                <a:pt x="0" y="279015"/>
              </a:lnTo>
              <a:lnTo>
                <a:pt x="3215318" y="279015"/>
              </a:lnTo>
              <a:lnTo>
                <a:pt x="3215318" y="55803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537BC4-8A93-4137-95D5-3F9EF220790F}">
      <dsp:nvSpPr>
        <dsp:cNvPr id="0" name=""/>
        <dsp:cNvSpPr/>
      </dsp:nvSpPr>
      <dsp:spPr>
        <a:xfrm>
          <a:off x="4464547" y="3218395"/>
          <a:ext cx="398593" cy="1222352"/>
        </a:xfrm>
        <a:custGeom>
          <a:avLst/>
          <a:gdLst/>
          <a:ahLst/>
          <a:cxnLst/>
          <a:rect l="0" t="0" r="0" b="0"/>
          <a:pathLst>
            <a:path>
              <a:moveTo>
                <a:pt x="0" y="0"/>
              </a:moveTo>
              <a:lnTo>
                <a:pt x="0" y="1222352"/>
              </a:lnTo>
              <a:lnTo>
                <a:pt x="398593" y="122235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9976B9-D562-40EB-A378-AA23296381C4}">
      <dsp:nvSpPr>
        <dsp:cNvPr id="0" name=""/>
        <dsp:cNvSpPr/>
      </dsp:nvSpPr>
      <dsp:spPr>
        <a:xfrm>
          <a:off x="5481743" y="1331721"/>
          <a:ext cx="91440" cy="558030"/>
        </a:xfrm>
        <a:custGeom>
          <a:avLst/>
          <a:gdLst/>
          <a:ahLst/>
          <a:cxnLst/>
          <a:rect l="0" t="0" r="0" b="0"/>
          <a:pathLst>
            <a:path>
              <a:moveTo>
                <a:pt x="45720" y="0"/>
              </a:moveTo>
              <a:lnTo>
                <a:pt x="45720" y="55803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AE49BF-44E8-4494-8ACB-D8805E9AD6BD}">
      <dsp:nvSpPr>
        <dsp:cNvPr id="0" name=""/>
        <dsp:cNvSpPr/>
      </dsp:nvSpPr>
      <dsp:spPr>
        <a:xfrm>
          <a:off x="1249229" y="3218395"/>
          <a:ext cx="398593" cy="1222352"/>
        </a:xfrm>
        <a:custGeom>
          <a:avLst/>
          <a:gdLst/>
          <a:ahLst/>
          <a:cxnLst/>
          <a:rect l="0" t="0" r="0" b="0"/>
          <a:pathLst>
            <a:path>
              <a:moveTo>
                <a:pt x="0" y="0"/>
              </a:moveTo>
              <a:lnTo>
                <a:pt x="0" y="1222352"/>
              </a:lnTo>
              <a:lnTo>
                <a:pt x="398593" y="122235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04A767-C9A4-4C71-99A3-696C30DFEEC6}">
      <dsp:nvSpPr>
        <dsp:cNvPr id="0" name=""/>
        <dsp:cNvSpPr/>
      </dsp:nvSpPr>
      <dsp:spPr>
        <a:xfrm>
          <a:off x="2312144" y="1331721"/>
          <a:ext cx="3215318" cy="558030"/>
        </a:xfrm>
        <a:custGeom>
          <a:avLst/>
          <a:gdLst/>
          <a:ahLst/>
          <a:cxnLst/>
          <a:rect l="0" t="0" r="0" b="0"/>
          <a:pathLst>
            <a:path>
              <a:moveTo>
                <a:pt x="3215318" y="0"/>
              </a:moveTo>
              <a:lnTo>
                <a:pt x="3215318" y="279015"/>
              </a:lnTo>
              <a:lnTo>
                <a:pt x="0" y="279015"/>
              </a:lnTo>
              <a:lnTo>
                <a:pt x="0" y="55803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6C73EA-562F-4853-8F19-8ACDA3C57F41}">
      <dsp:nvSpPr>
        <dsp:cNvPr id="0" name=""/>
        <dsp:cNvSpPr/>
      </dsp:nvSpPr>
      <dsp:spPr>
        <a:xfrm>
          <a:off x="2768905" y="3077"/>
          <a:ext cx="5517114" cy="1328643"/>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In case of taxable supply of </a:t>
          </a:r>
          <a:r>
            <a:rPr lang="en-US" sz="2800" b="0" kern="1200" dirty="0">
              <a:solidFill>
                <a:schemeClr val="tx1"/>
              </a:solidFill>
            </a:rPr>
            <a:t>goods</a:t>
          </a:r>
          <a:r>
            <a:rPr lang="en-US" sz="2800" kern="1200" dirty="0">
              <a:solidFill>
                <a:schemeClr val="tx1"/>
              </a:solidFill>
            </a:rPr>
            <a:t>, invoice shall be prepared in </a:t>
          </a:r>
          <a:r>
            <a:rPr lang="en-US" sz="2800" b="1" kern="1200" dirty="0">
              <a:solidFill>
                <a:srgbClr val="C00000"/>
              </a:solidFill>
            </a:rPr>
            <a:t>triplicate</a:t>
          </a:r>
          <a:endParaRPr lang="en-IN" sz="2800" kern="1200" dirty="0">
            <a:solidFill>
              <a:srgbClr val="C00000"/>
            </a:solidFill>
          </a:endParaRPr>
        </a:p>
      </dsp:txBody>
      <dsp:txXfrm>
        <a:off x="2768905" y="3077"/>
        <a:ext cx="5517114" cy="1328643"/>
      </dsp:txXfrm>
    </dsp:sp>
    <dsp:sp modelId="{161C1972-B6DA-4EE0-A4FD-3AE6EB1BF936}">
      <dsp:nvSpPr>
        <dsp:cNvPr id="0" name=""/>
        <dsp:cNvSpPr/>
      </dsp:nvSpPr>
      <dsp:spPr>
        <a:xfrm>
          <a:off x="983500" y="1889752"/>
          <a:ext cx="2657287" cy="132864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Original copy</a:t>
          </a:r>
          <a:endParaRPr lang="en-IN" sz="2800" kern="1200" dirty="0">
            <a:solidFill>
              <a:schemeClr val="tx1"/>
            </a:solidFill>
          </a:endParaRPr>
        </a:p>
      </dsp:txBody>
      <dsp:txXfrm>
        <a:off x="983500" y="1889752"/>
        <a:ext cx="2657287" cy="1328643"/>
      </dsp:txXfrm>
    </dsp:sp>
    <dsp:sp modelId="{0C0AF6E9-0819-4E33-ABD7-3456A2C57C1F}">
      <dsp:nvSpPr>
        <dsp:cNvPr id="0" name=""/>
        <dsp:cNvSpPr/>
      </dsp:nvSpPr>
      <dsp:spPr>
        <a:xfrm>
          <a:off x="1647822" y="3776426"/>
          <a:ext cx="2657287" cy="132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bg2"/>
              </a:solidFill>
            </a:rPr>
            <a:t>Recipient</a:t>
          </a:r>
          <a:endParaRPr lang="en-IN" sz="2800" kern="1200">
            <a:solidFill>
              <a:schemeClr val="bg2"/>
            </a:solidFill>
          </a:endParaRPr>
        </a:p>
      </dsp:txBody>
      <dsp:txXfrm>
        <a:off x="1647822" y="3776426"/>
        <a:ext cx="2657287" cy="1328643"/>
      </dsp:txXfrm>
    </dsp:sp>
    <dsp:sp modelId="{1EE28F92-8638-43DB-9652-251DA40F31A1}">
      <dsp:nvSpPr>
        <dsp:cNvPr id="0" name=""/>
        <dsp:cNvSpPr/>
      </dsp:nvSpPr>
      <dsp:spPr>
        <a:xfrm>
          <a:off x="4198819" y="1889752"/>
          <a:ext cx="2657287" cy="132864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Duplicate copy</a:t>
          </a:r>
          <a:endParaRPr lang="en-IN" sz="2800" kern="1200" dirty="0">
            <a:solidFill>
              <a:schemeClr val="tx1"/>
            </a:solidFill>
          </a:endParaRPr>
        </a:p>
      </dsp:txBody>
      <dsp:txXfrm>
        <a:off x="4198819" y="1889752"/>
        <a:ext cx="2657287" cy="1328643"/>
      </dsp:txXfrm>
    </dsp:sp>
    <dsp:sp modelId="{90E7619E-189C-4792-9A29-89BE5FADA703}">
      <dsp:nvSpPr>
        <dsp:cNvPr id="0" name=""/>
        <dsp:cNvSpPr/>
      </dsp:nvSpPr>
      <dsp:spPr>
        <a:xfrm>
          <a:off x="4863141" y="3776426"/>
          <a:ext cx="2657287" cy="132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bg2"/>
              </a:solidFill>
            </a:rPr>
            <a:t>Transporter</a:t>
          </a:r>
          <a:endParaRPr lang="en-IN" sz="2800" kern="1200">
            <a:solidFill>
              <a:schemeClr val="bg2"/>
            </a:solidFill>
          </a:endParaRPr>
        </a:p>
      </dsp:txBody>
      <dsp:txXfrm>
        <a:off x="4863141" y="3776426"/>
        <a:ext cx="2657287" cy="1328643"/>
      </dsp:txXfrm>
    </dsp:sp>
    <dsp:sp modelId="{39CE26A4-797E-4733-A110-FC0E9D784E19}">
      <dsp:nvSpPr>
        <dsp:cNvPr id="0" name=""/>
        <dsp:cNvSpPr/>
      </dsp:nvSpPr>
      <dsp:spPr>
        <a:xfrm>
          <a:off x="7414137" y="1889752"/>
          <a:ext cx="2657287" cy="132864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rPr>
            <a:t>Triplicate copy </a:t>
          </a:r>
          <a:endParaRPr lang="en-IN" sz="2800" kern="1200">
            <a:solidFill>
              <a:schemeClr val="tx1"/>
            </a:solidFill>
          </a:endParaRPr>
        </a:p>
      </dsp:txBody>
      <dsp:txXfrm>
        <a:off x="7414137" y="1889752"/>
        <a:ext cx="2657287" cy="1328643"/>
      </dsp:txXfrm>
    </dsp:sp>
    <dsp:sp modelId="{4411B210-34C4-43F7-AC6A-337207AC0365}">
      <dsp:nvSpPr>
        <dsp:cNvPr id="0" name=""/>
        <dsp:cNvSpPr/>
      </dsp:nvSpPr>
      <dsp:spPr>
        <a:xfrm>
          <a:off x="8078459" y="3776426"/>
          <a:ext cx="2657287" cy="132864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bg2"/>
              </a:solidFill>
            </a:rPr>
            <a:t>Supplier </a:t>
          </a:r>
          <a:endParaRPr lang="en-IN" sz="2800" kern="1200" dirty="0">
            <a:solidFill>
              <a:schemeClr val="bg2"/>
            </a:solidFill>
          </a:endParaRPr>
        </a:p>
      </dsp:txBody>
      <dsp:txXfrm>
        <a:off x="8078459" y="3776426"/>
        <a:ext cx="2657287" cy="132864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9350D0-B016-45D5-83C4-78A3BA2CF5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C3EFF26-2928-4841-B18F-1C046BFE55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FD504B-C88B-4878-9600-55C8B8D265A9}" type="datetimeFigureOut">
              <a:rPr lang="en-IN" smtClean="0"/>
              <a:t>23-09-2025</a:t>
            </a:fld>
            <a:endParaRPr lang="en-IN"/>
          </a:p>
        </p:txBody>
      </p:sp>
      <p:sp>
        <p:nvSpPr>
          <p:cNvPr id="4" name="Footer Placeholder 3">
            <a:extLst>
              <a:ext uri="{FF2B5EF4-FFF2-40B4-BE49-F238E27FC236}">
                <a16:creationId xmlns:a16="http://schemas.microsoft.com/office/drawing/2014/main" id="{7DC80E36-79AA-4D96-9BD5-81A5B5FC50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9B26FC-3F82-43C6-9D44-020D21E808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4B0862-A0ED-47C5-A4F5-EB6A1BC5CE73}" type="slidenum">
              <a:rPr lang="en-IN" smtClean="0"/>
              <a:t>‹#›</a:t>
            </a:fld>
            <a:endParaRPr lang="en-IN"/>
          </a:p>
        </p:txBody>
      </p:sp>
    </p:spTree>
    <p:extLst>
      <p:ext uri="{BB962C8B-B14F-4D97-AF65-F5344CB8AC3E}">
        <p14:creationId xmlns:p14="http://schemas.microsoft.com/office/powerpoint/2010/main" val="1302985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23/09/2025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Supply of </a:t>
            </a:r>
            <a:r>
              <a:rPr lang="en-US" dirty="0" err="1"/>
              <a:t>iphone</a:t>
            </a:r>
            <a:endParaRPr lang="en-IN" dirty="0"/>
          </a:p>
        </p:txBody>
      </p:sp>
      <p:sp>
        <p:nvSpPr>
          <p:cNvPr id="4" name="Slide Number Placeholder 3"/>
          <p:cNvSpPr>
            <a:spLocks noGrp="1"/>
          </p:cNvSpPr>
          <p:nvPr>
            <p:ph type="sldNum" sz="quarter" idx="5"/>
          </p:nvPr>
        </p:nvSpPr>
        <p:spPr/>
        <p:txBody>
          <a:bodyPr/>
          <a:lstStyle/>
          <a:p>
            <a:fld id="{F6E020A9-7B86-43A8-B532-1CA06A066090}" type="slidenum">
              <a:rPr lang="en-IN" smtClean="0"/>
              <a:t>53</a:t>
            </a:fld>
            <a:endParaRPr lang="en-IN"/>
          </a:p>
        </p:txBody>
      </p:sp>
    </p:spTree>
    <p:extLst>
      <p:ext uri="{BB962C8B-B14F-4D97-AF65-F5344CB8AC3E}">
        <p14:creationId xmlns:p14="http://schemas.microsoft.com/office/powerpoint/2010/main" val="3919363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 of die / </a:t>
            </a:r>
            <a:r>
              <a:rPr lang="en-US" dirty="0" err="1"/>
              <a:t>mould</a:t>
            </a:r>
            <a:endParaRPr lang="en-IN" dirty="0"/>
          </a:p>
        </p:txBody>
      </p:sp>
      <p:sp>
        <p:nvSpPr>
          <p:cNvPr id="4" name="Slide Number Placeholder 3"/>
          <p:cNvSpPr>
            <a:spLocks noGrp="1"/>
          </p:cNvSpPr>
          <p:nvPr>
            <p:ph type="sldNum" sz="quarter" idx="5"/>
          </p:nvPr>
        </p:nvSpPr>
        <p:spPr/>
        <p:txBody>
          <a:bodyPr/>
          <a:lstStyle/>
          <a:p>
            <a:fld id="{F6E020A9-7B86-43A8-B532-1CA06A066090}" type="slidenum">
              <a:rPr lang="en-IN" smtClean="0"/>
              <a:t>55</a:t>
            </a:fld>
            <a:endParaRPr lang="en-IN"/>
          </a:p>
        </p:txBody>
      </p:sp>
    </p:spTree>
    <p:extLst>
      <p:ext uri="{BB962C8B-B14F-4D97-AF65-F5344CB8AC3E}">
        <p14:creationId xmlns:p14="http://schemas.microsoft.com/office/powerpoint/2010/main" val="3909323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E020A9-7B86-43A8-B532-1CA06A066090}" type="slidenum">
              <a:rPr lang="en-IN" smtClean="0"/>
              <a:t>58</a:t>
            </a:fld>
            <a:endParaRPr lang="en-IN"/>
          </a:p>
        </p:txBody>
      </p:sp>
    </p:spTree>
    <p:extLst>
      <p:ext uri="{BB962C8B-B14F-4D97-AF65-F5344CB8AC3E}">
        <p14:creationId xmlns:p14="http://schemas.microsoft.com/office/powerpoint/2010/main" val="38736602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3.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
        <p:nvSpPr>
          <p:cNvPr id="33" name="TextBox 32">
            <a:extLst>
              <a:ext uri="{FF2B5EF4-FFF2-40B4-BE49-F238E27FC236}">
                <a16:creationId xmlns:a16="http://schemas.microsoft.com/office/drawing/2014/main" id="{652A26CE-C2B2-4553-9CC0-8620278D8D2A}"/>
              </a:ext>
            </a:extLst>
          </p:cNvPr>
          <p:cNvSpPr txBox="1"/>
          <p:nvPr userDrawn="1"/>
        </p:nvSpPr>
        <p:spPr>
          <a:xfrm>
            <a:off x="1837677" y="5226051"/>
            <a:ext cx="4015516" cy="341632"/>
          </a:xfrm>
          <a:prstGeom prst="rect">
            <a:avLst/>
          </a:prstGeom>
          <a:noFill/>
        </p:spPr>
        <p:txBody>
          <a:bodyPr wrap="square" rtlCol="0">
            <a:spAutoFit/>
          </a:body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lang="en-US" sz="1800" b="1" kern="1200" noProof="0" dirty="0">
                <a:gradFill flip="none" rotWithShape="1">
                  <a:gsLst>
                    <a:gs pos="10000">
                      <a:schemeClr val="accent6">
                        <a:lumMod val="50000"/>
                      </a:schemeClr>
                    </a:gs>
                    <a:gs pos="100000">
                      <a:schemeClr val="accent6"/>
                    </a:gs>
                  </a:gsLst>
                  <a:lin ang="0" scaled="1"/>
                  <a:tileRect/>
                </a:gradFill>
                <a:effectLst/>
                <a:latin typeface="+mn-lt"/>
                <a:ea typeface="+mn-ea"/>
                <a:cs typeface="+mn-cs"/>
              </a:rPr>
              <a:t>CA Dhaval Simejiya</a:t>
            </a:r>
            <a:endParaRPr lang="en-IN" dirty="0"/>
          </a:p>
        </p:txBody>
      </p:sp>
      <p:sp>
        <p:nvSpPr>
          <p:cNvPr id="37" name="TextBox 36">
            <a:extLst>
              <a:ext uri="{FF2B5EF4-FFF2-40B4-BE49-F238E27FC236}">
                <a16:creationId xmlns:a16="http://schemas.microsoft.com/office/drawing/2014/main" id="{288CCE58-B84B-444D-BB86-129C416D88C6}"/>
              </a:ext>
            </a:extLst>
          </p:cNvPr>
          <p:cNvSpPr txBox="1"/>
          <p:nvPr userDrawn="1"/>
        </p:nvSpPr>
        <p:spPr>
          <a:xfrm>
            <a:off x="2179541" y="6162863"/>
            <a:ext cx="3735997" cy="313932"/>
          </a:xfrm>
          <a:prstGeom prst="rect">
            <a:avLst/>
          </a:prstGeom>
          <a:noFill/>
        </p:spPr>
        <p:txBody>
          <a:bodyPr wrap="square" rtlCol="0">
            <a:spAutoFit/>
          </a:body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lang="en-US" sz="1600" b="0" kern="1200" baseline="0" dirty="0">
                <a:solidFill>
                  <a:schemeClr val="tx1"/>
                </a:solidFill>
                <a:latin typeface="Roboto Condensed Light" panose="02000000000000000000" pitchFamily="2" charset="0"/>
                <a:ea typeface="Roboto Condensed Light" panose="02000000000000000000" pitchFamily="2" charset="0"/>
                <a:cs typeface="+mn-cs"/>
              </a:rPr>
              <a:t>dhaval.simejiya@darshan.ac.in</a:t>
            </a:r>
          </a:p>
        </p:txBody>
      </p:sp>
      <p:sp>
        <p:nvSpPr>
          <p:cNvPr id="38" name="TextBox 37">
            <a:extLst>
              <a:ext uri="{FF2B5EF4-FFF2-40B4-BE49-F238E27FC236}">
                <a16:creationId xmlns:a16="http://schemas.microsoft.com/office/drawing/2014/main" id="{87AD059A-D055-4F59-892F-D82879B4778B}"/>
              </a:ext>
            </a:extLst>
          </p:cNvPr>
          <p:cNvSpPr txBox="1"/>
          <p:nvPr userDrawn="1"/>
        </p:nvSpPr>
        <p:spPr>
          <a:xfrm>
            <a:off x="2179541" y="6418570"/>
            <a:ext cx="3735997" cy="338554"/>
          </a:xfrm>
          <a:prstGeom prst="rect">
            <a:avLst/>
          </a:prstGeom>
          <a:noFill/>
        </p:spPr>
        <p:txBody>
          <a:bodyPr wrap="square" rtlCol="0">
            <a:spAutoFit/>
          </a:bodyPr>
          <a:lstStyle/>
          <a:p>
            <a:r>
              <a:rPr lang="en-US" sz="1600" b="0" kern="1200" baseline="0" dirty="0">
                <a:solidFill>
                  <a:schemeClr val="tx1"/>
                </a:solidFill>
                <a:latin typeface="Roboto Condensed Light" panose="02000000000000000000" pitchFamily="2" charset="0"/>
                <a:ea typeface="Roboto Condensed Light" panose="02000000000000000000" pitchFamily="2" charset="0"/>
                <a:cs typeface="+mn-cs"/>
              </a:rPr>
              <a:t>9904325008</a:t>
            </a:r>
            <a:endParaRPr lang="en-IN" sz="1600" b="0" kern="1200" baseline="0" dirty="0">
              <a:solidFill>
                <a:schemeClr val="tx1"/>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782420"/>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
            <a:extLst>
              <a:ext uri="{FF2B5EF4-FFF2-40B4-BE49-F238E27FC236}">
                <a16:creationId xmlns:a16="http://schemas.microsoft.com/office/drawing/2014/main" id="{AEEDD05E-BB00-4E1D-893D-80FB13A36C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8" name="Rectangle: Rounded Corners 9">
            <a:extLst>
              <a:ext uri="{FF2B5EF4-FFF2-40B4-BE49-F238E27FC236}">
                <a16:creationId xmlns:a16="http://schemas.microsoft.com/office/drawing/2014/main" id="{B8DB9787-621D-4DB4-0F1F-5907D4BAB794}"/>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Slide Number Placeholder 3">
            <a:extLst>
              <a:ext uri="{FF2B5EF4-FFF2-40B4-BE49-F238E27FC236}">
                <a16:creationId xmlns:a16="http://schemas.microsoft.com/office/drawing/2014/main" id="{70CC3ECD-25F4-746F-DFF0-294B4C876B28}"/>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3E83EBEE-E776-E33D-C471-A4AA76780BD4}"/>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2" name="Date Placeholder 1">
            <a:extLst>
              <a:ext uri="{FF2B5EF4-FFF2-40B4-BE49-F238E27FC236}">
                <a16:creationId xmlns:a16="http://schemas.microsoft.com/office/drawing/2014/main" id="{D3FCD20A-944F-FED1-3872-EEC371A0B2E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F17D6F20-9DD5-4D3A-B4C8-A6F015FED53A}"/>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2" name="Rectangle: Rounded Corners 9">
            <a:extLst>
              <a:ext uri="{FF2B5EF4-FFF2-40B4-BE49-F238E27FC236}">
                <a16:creationId xmlns:a16="http://schemas.microsoft.com/office/drawing/2014/main" id="{7A089CE9-D95D-51C3-B432-15DE40E3D8C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8047E7BC-54F1-2D75-4D25-38B52BFFB51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6"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5" name="Date Placeholder 1">
            <a:extLst>
              <a:ext uri="{FF2B5EF4-FFF2-40B4-BE49-F238E27FC236}">
                <a16:creationId xmlns:a16="http://schemas.microsoft.com/office/drawing/2014/main" id="{A4410053-AF55-B843-DD6F-8CEC7C8FCB5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687C7B7-5AC0-4DE5-8CD4-EF33EEB726F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Rounded Corners 9">
            <a:extLst>
              <a:ext uri="{FF2B5EF4-FFF2-40B4-BE49-F238E27FC236}">
                <a16:creationId xmlns:a16="http://schemas.microsoft.com/office/drawing/2014/main" id="{DD717DAE-2FDC-A75C-A56A-8BE120411947}"/>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7BAF53DE-05B1-E3D1-EFA0-5476BA5BBDCF}"/>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6" name="Footer Placeholder 2">
            <a:extLst>
              <a:ext uri="{FF2B5EF4-FFF2-40B4-BE49-F238E27FC236}">
                <a16:creationId xmlns:a16="http://schemas.microsoft.com/office/drawing/2014/main" id="{D12A163F-4307-0C8F-90B2-B596319B3C5B}"/>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7" name="Date Placeholder 1">
            <a:extLst>
              <a:ext uri="{FF2B5EF4-FFF2-40B4-BE49-F238E27FC236}">
                <a16:creationId xmlns:a16="http://schemas.microsoft.com/office/drawing/2014/main" id="{5260DD91-07BD-3960-41AE-6F42191D8456}"/>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a:extLst>
              <a:ext uri="{FF2B5EF4-FFF2-40B4-BE49-F238E27FC236}">
                <a16:creationId xmlns:a16="http://schemas.microsoft.com/office/drawing/2014/main" id="{3027D2AD-0E13-43EE-BAA8-1606FF4E22D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0172331D-9941-4AAA-9E63-80BDD4CEBDAB}"/>
              </a:ext>
            </a:extLst>
          </p:cNvPr>
          <p:cNvGrpSpPr/>
          <p:nvPr userDrawn="1"/>
        </p:nvGrpSpPr>
        <p:grpSpPr>
          <a:xfrm>
            <a:off x="9874840" y="6078930"/>
            <a:ext cx="2078404" cy="631807"/>
            <a:chOff x="10721798" y="852808"/>
            <a:chExt cx="1339023" cy="407045"/>
          </a:xfrm>
        </p:grpSpPr>
        <p:pic>
          <p:nvPicPr>
            <p:cNvPr id="15" name="Picture 14">
              <a:extLst>
                <a:ext uri="{FF2B5EF4-FFF2-40B4-BE49-F238E27FC236}">
                  <a16:creationId xmlns:a16="http://schemas.microsoft.com/office/drawing/2014/main" id="{9B62E625-0FE4-4129-B936-172760D4BFC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E733AEFD-AF8F-46BF-9E8E-F6573B757CF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FBA940FD-6B66-A230-BCB2-26ADED35E98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D61EF347-0853-080A-A852-B8E644D73412}"/>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64E056E0-127B-FA79-0626-481CBB238DA9}"/>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354C4991-27CE-79C6-C046-8A2D1965F481}"/>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EBED3B24-BCC3-51CA-6DD4-44270E188EB3}"/>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35BBC6DE-1F71-2D86-B8B2-66BD37D566F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9CB853B6-9A88-0107-3437-7F38313D0337}"/>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CDB9B9D2-1822-8E2B-8D0B-49935A69D79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770560A-7C36-4269-A8F2-0431E180EAD2}"/>
              </a:ext>
            </a:extLst>
          </p:cNvPr>
          <p:cNvGrpSpPr/>
          <p:nvPr userDrawn="1"/>
        </p:nvGrpSpPr>
        <p:grpSpPr>
          <a:xfrm>
            <a:off x="165802" y="5976558"/>
            <a:ext cx="1649043" cy="501287"/>
            <a:chOff x="10721798" y="852808"/>
            <a:chExt cx="1339023" cy="407045"/>
          </a:xfrm>
        </p:grpSpPr>
        <p:pic>
          <p:nvPicPr>
            <p:cNvPr id="15" name="Picture 14">
              <a:extLst>
                <a:ext uri="{FF2B5EF4-FFF2-40B4-BE49-F238E27FC236}">
                  <a16:creationId xmlns:a16="http://schemas.microsoft.com/office/drawing/2014/main" id="{BC0FB63F-CA11-4FFF-AE2F-90A20EC24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37E217C-09B9-4F19-8BB8-BB4441141B5F}"/>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3B2F58B1-2683-3AFF-5877-A84066A1F083}"/>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3EE96491-0FE3-F548-86D2-D6FF53080F06}"/>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D9B75249-29D9-9D97-8D81-655E2E4B3E4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059E11D4-DF59-CDE3-BBE8-8A9EAA4A283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5" name="Rectangle: Rounded Corners 9">
            <a:extLst>
              <a:ext uri="{FF2B5EF4-FFF2-40B4-BE49-F238E27FC236}">
                <a16:creationId xmlns:a16="http://schemas.microsoft.com/office/drawing/2014/main" id="{FCD5BC29-3FCB-E2F3-232F-E41A662D1AE9}"/>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1">
            <a:extLst>
              <a:ext uri="{FF2B5EF4-FFF2-40B4-BE49-F238E27FC236}">
                <a16:creationId xmlns:a16="http://schemas.microsoft.com/office/drawing/2014/main" id="{AB56944E-099B-34F2-04D6-357D725066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
        <p:nvSpPr>
          <p:cNvPr id="7" name="Slide Number Placeholder 3">
            <a:extLst>
              <a:ext uri="{FF2B5EF4-FFF2-40B4-BE49-F238E27FC236}">
                <a16:creationId xmlns:a16="http://schemas.microsoft.com/office/drawing/2014/main" id="{50ED9CF1-B280-46F3-AE33-5709DA17F14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3" name="Footer Placeholder 2">
            <a:extLst>
              <a:ext uri="{FF2B5EF4-FFF2-40B4-BE49-F238E27FC236}">
                <a16:creationId xmlns:a16="http://schemas.microsoft.com/office/drawing/2014/main" id="{5BE5D728-6FA6-9378-B59E-BED7578223F8}"/>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20944A5-8A5C-4E4A-B8EF-52E45D382D17}"/>
              </a:ext>
            </a:extLst>
          </p:cNvPr>
          <p:cNvPicPr>
            <a:picLocks noChangeAspect="1"/>
          </p:cNvPicPr>
          <p:nvPr userDrawn="1"/>
        </p:nvPicPr>
        <p:blipFill>
          <a:blip r:embed="rId2"/>
          <a:stretch>
            <a:fillRect/>
          </a:stretch>
        </p:blipFill>
        <p:spPr>
          <a:xfrm>
            <a:off x="0" y="0"/>
            <a:ext cx="12192000" cy="6836401"/>
          </a:xfrm>
          <a:prstGeom prst="rect">
            <a:avLst/>
          </a:prstGeom>
        </p:spPr>
      </p:pic>
      <p:sp>
        <p:nvSpPr>
          <p:cNvPr id="2" name="Rectangle 1">
            <a:extLst>
              <a:ext uri="{FF2B5EF4-FFF2-40B4-BE49-F238E27FC236}">
                <a16:creationId xmlns:a16="http://schemas.microsoft.com/office/drawing/2014/main" id="{1B2068EE-5C0B-7CBC-85EA-BEEDA30837F7}"/>
              </a:ext>
            </a:extLst>
          </p:cNvPr>
          <p:cNvSpPr/>
          <p:nvPr userDrawn="1"/>
        </p:nvSpPr>
        <p:spPr>
          <a:xfrm>
            <a:off x="836182"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3" name="TextBox 2">
            <a:extLst>
              <a:ext uri="{FF2B5EF4-FFF2-40B4-BE49-F238E27FC236}">
                <a16:creationId xmlns:a16="http://schemas.microsoft.com/office/drawing/2014/main" id="{5CF4CAA3-2310-5D4D-10EC-0106C5F187DE}"/>
              </a:ext>
            </a:extLst>
          </p:cNvPr>
          <p:cNvSpPr txBox="1"/>
          <p:nvPr userDrawn="1"/>
        </p:nvSpPr>
        <p:spPr>
          <a:xfrm>
            <a:off x="-150810" y="1235954"/>
            <a:ext cx="6185262" cy="1938992"/>
          </a:xfrm>
          <a:prstGeom prst="rect">
            <a:avLst/>
          </a:prstGeom>
          <a:noFill/>
        </p:spPr>
        <p:txBody>
          <a:bodyPr wrap="square">
            <a:spAutoFit/>
          </a:bodyPr>
          <a:lstStyle/>
          <a:p>
            <a:pPr algn="ctr"/>
            <a:r>
              <a:rPr lang="en-IN" sz="2400" dirty="0"/>
              <a:t>CA Dhaval Simejiya</a:t>
            </a:r>
          </a:p>
          <a:p>
            <a:pPr algn="ctr"/>
            <a:r>
              <a:rPr lang="en-IN" sz="2400" dirty="0"/>
              <a:t>Assistant Professor</a:t>
            </a:r>
          </a:p>
          <a:p>
            <a:pPr algn="ctr"/>
            <a:r>
              <a:rPr lang="en-IN" sz="2400" dirty="0"/>
              <a:t>Darshan Institute of Management</a:t>
            </a:r>
          </a:p>
          <a:p>
            <a:pPr algn="ctr"/>
            <a:r>
              <a:rPr lang="en-IN" sz="2400" dirty="0"/>
              <a:t>Darshan University, Rajkot</a:t>
            </a:r>
          </a:p>
          <a:p>
            <a:pPr algn="ctr"/>
            <a:r>
              <a:rPr lang="en-IN" sz="2400" dirty="0"/>
              <a:t>dhaval.simejiya@darshan.ac.in</a:t>
            </a:r>
          </a:p>
        </p:txBody>
      </p:sp>
    </p:spTree>
    <p:extLst>
      <p:ext uri="{BB962C8B-B14F-4D97-AF65-F5344CB8AC3E}">
        <p14:creationId xmlns:p14="http://schemas.microsoft.com/office/powerpoint/2010/main" val="85206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Tree>
    <p:extLst>
      <p:ext uri="{BB962C8B-B14F-4D97-AF65-F5344CB8AC3E}">
        <p14:creationId xmlns:p14="http://schemas.microsoft.com/office/powerpoint/2010/main" val="88982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D156BF-28F4-4CE6-8846-1CBEB51900DD}" type="datetimeFigureOut">
              <a:rPr lang="en-US" smtClean="0"/>
              <a:t>23/09/2025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96D2D1-5AE9-49BD-AFB4-5C80C2F86D42}" type="slidenum">
              <a:rPr lang="en-US" smtClean="0"/>
              <a:t>‹#›</a:t>
            </a:fld>
            <a:endParaRPr lang="en-US"/>
          </a:p>
        </p:txBody>
      </p:sp>
    </p:spTree>
    <p:extLst>
      <p:ext uri="{BB962C8B-B14F-4D97-AF65-F5344CB8AC3E}">
        <p14:creationId xmlns:p14="http://schemas.microsoft.com/office/powerpoint/2010/main" val="514597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 Without Logo">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E6D66E0-0F47-4A48-9FD6-38904600BD9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3">
            <a:extLst>
              <a:ext uri="{FF2B5EF4-FFF2-40B4-BE49-F238E27FC236}">
                <a16:creationId xmlns:a16="http://schemas.microsoft.com/office/drawing/2014/main" id="{EAB4CBB3-4495-459D-A96F-3E249E168E1A}"/>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Title 1">
            <a:extLst>
              <a:ext uri="{FF2B5EF4-FFF2-40B4-BE49-F238E27FC236}">
                <a16:creationId xmlns:a16="http://schemas.microsoft.com/office/drawing/2014/main" id="{F17D6F20-9DD5-4D3A-B4C8-A6F015FED53A}"/>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17" name="Content Placeholder 2">
            <a:extLst>
              <a:ext uri="{FF2B5EF4-FFF2-40B4-BE49-F238E27FC236}">
                <a16:creationId xmlns:a16="http://schemas.microsoft.com/office/drawing/2014/main" id="{5C3B0896-5686-4012-A126-C2A893005847}"/>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E50D3430-F3CA-D071-143C-FB949ADB0C96}"/>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CA Dhaval Simejiya</a:t>
            </a:r>
          </a:p>
        </p:txBody>
      </p:sp>
      <p:sp>
        <p:nvSpPr>
          <p:cNvPr id="3" name="Footer Placeholder 2">
            <a:extLst>
              <a:ext uri="{FF2B5EF4-FFF2-40B4-BE49-F238E27FC236}">
                <a16:creationId xmlns:a16="http://schemas.microsoft.com/office/drawing/2014/main" id="{45B3FA40-93C2-67DF-65F4-097E4753E527}"/>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Tree>
    <p:extLst>
      <p:ext uri="{BB962C8B-B14F-4D97-AF65-F5344CB8AC3E}">
        <p14:creationId xmlns:p14="http://schemas.microsoft.com/office/powerpoint/2010/main" val="173259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dirty="0"/>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9"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92" r:id="rId11"/>
    <p:sldLayoutId id="2147483693" r:id="rId12"/>
    <p:sldLayoutId id="214748369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hyperlink" Target="http://www.gst.gov.in/"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7.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3.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hyperlink" Target="https://cleartax.in/s/quarterly-return-monthly-payment-qrmp-scheme-gst" TargetMode="Externa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201452"/>
            <a:ext cx="7410804" cy="2578780"/>
          </a:xfrm>
        </p:spPr>
        <p:txBody>
          <a:bodyPr/>
          <a:lstStyle/>
          <a:p>
            <a:r>
              <a:rPr lang="en-US" sz="4800" b="0" dirty="0">
                <a:latin typeface="+mn-lt"/>
                <a:ea typeface="Roboto Condensed Light" panose="02000000000000000000" pitchFamily="2" charset="0"/>
              </a:rPr>
              <a:t>Unit-4</a:t>
            </a:r>
            <a:r>
              <a:rPr lang="en-US" dirty="0">
                <a:latin typeface="+mn-lt"/>
              </a:rPr>
              <a:t> </a:t>
            </a:r>
            <a:br>
              <a:rPr lang="en-US" dirty="0">
                <a:latin typeface="+mn-lt"/>
              </a:rPr>
            </a:br>
            <a:r>
              <a:rPr lang="en-US" sz="4800" dirty="0">
                <a:latin typeface="+mn-lt"/>
              </a:rPr>
              <a:t>Ind</a:t>
            </a:r>
            <a:r>
              <a:rPr lang="en-US" sz="4800" dirty="0"/>
              <a:t>irect Tax</a:t>
            </a:r>
            <a:endParaRPr lang="en-US" sz="4800" dirty="0">
              <a:latin typeface="+mn-lt"/>
            </a:endParaRP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latin typeface="+mn-lt"/>
              </a:rPr>
              <a:t>dhaval.simejiya@darshan.ac.in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latin typeface="+mn-lt"/>
              </a:rPr>
              <a:t>99043 25008</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CA Dhaval Simejiya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a:xfrm>
            <a:off x="2581756" y="107701"/>
            <a:ext cx="4646358" cy="734653"/>
          </a:xfrm>
        </p:spPr>
        <p:txBody>
          <a:bodyPr/>
          <a:lstStyle/>
          <a:p>
            <a:r>
              <a:rPr lang="en-US" dirty="0">
                <a:ea typeface="Roboto Condensed Light" panose="02000000000000000000" pitchFamily="2" charset="0"/>
              </a:rPr>
              <a:t>Banking, Financial Services and Insurance </a:t>
            </a:r>
          </a:p>
          <a:p>
            <a:r>
              <a:rPr lang="fr-FR" dirty="0">
                <a:ea typeface="Roboto Condensed Light" panose="02000000000000000000" pitchFamily="2" charset="0"/>
              </a:rPr>
              <a:t>(BFSI) </a:t>
            </a:r>
          </a:p>
          <a:p>
            <a:r>
              <a:rPr lang="fr-FR" dirty="0">
                <a:ea typeface="Roboto Condensed Light" panose="02000000000000000000" pitchFamily="2" charset="0"/>
              </a:rPr>
              <a:t>DU#</a:t>
            </a:r>
            <a:r>
              <a:rPr lang="en-US" sz="1800" i="0" u="none" strike="noStrike" baseline="0" dirty="0"/>
              <a:t>2301CS594</a:t>
            </a:r>
            <a:endParaRPr lang="fr-FR" dirty="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9" name="Picture Placeholder 4">
            <a:extLst>
              <a:ext uri="{FF2B5EF4-FFF2-40B4-BE49-F238E27FC236}">
                <a16:creationId xmlns:a16="http://schemas.microsoft.com/office/drawing/2014/main" id="{C78459A4-E69D-7835-DA85-256FC5CE01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4013" y="5211763"/>
            <a:ext cx="1352550" cy="1352550"/>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
        <p:nvSpPr>
          <p:cNvPr id="5" name="Title 1">
            <a:extLst>
              <a:ext uri="{FF2B5EF4-FFF2-40B4-BE49-F238E27FC236}">
                <a16:creationId xmlns:a16="http://schemas.microsoft.com/office/drawing/2014/main" id="{9329D676-718B-7E66-6A9E-E8E56C90A816}"/>
              </a:ext>
            </a:extLst>
          </p:cNvPr>
          <p:cNvSpPr txBox="1">
            <a:spLocks/>
          </p:cNvSpPr>
          <p:nvPr/>
        </p:nvSpPr>
        <p:spPr>
          <a:xfrm>
            <a:off x="559489" y="3238402"/>
            <a:ext cx="8171249" cy="1154352"/>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200" dirty="0">
                <a:latin typeface="+mn-lt"/>
              </a:rPr>
              <a:t>CO 4: </a:t>
            </a:r>
            <a:r>
              <a:rPr lang="en-US" sz="2200" dirty="0"/>
              <a:t>acquire knowledge of GST concepts, including registration, supply, charge, input tax credit, place and time of supply, tax invoices, e-way bills, and return filing.</a:t>
            </a:r>
            <a:endParaRPr lang="en-US" sz="2200" dirty="0">
              <a:latin typeface="+mn-lt"/>
            </a:endParaRPr>
          </a:p>
        </p:txBody>
      </p:sp>
    </p:spTree>
    <p:extLst>
      <p:ext uri="{BB962C8B-B14F-4D97-AF65-F5344CB8AC3E}">
        <p14:creationId xmlns:p14="http://schemas.microsoft.com/office/powerpoint/2010/main" val="4285833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10322213" cy="5355312"/>
          </a:xfrm>
          <a:prstGeom prst="rect">
            <a:avLst/>
          </a:prstGeom>
          <a:noFill/>
        </p:spPr>
        <p:txBody>
          <a:bodyPr wrap="square" rtlCol="0">
            <a:spAutoFit/>
          </a:bodyPr>
          <a:lstStyle/>
          <a:p>
            <a:r>
              <a:rPr lang="en-US" sz="2200" b="1" dirty="0"/>
              <a:t>Topics </a:t>
            </a:r>
          </a:p>
          <a:p>
            <a:pPr marL="742950" lvl="1" indent="-285750">
              <a:lnSpc>
                <a:spcPct val="150000"/>
              </a:lnSpc>
              <a:buFont typeface="Arial" panose="020B0604020202020204" pitchFamily="34" charset="0"/>
              <a:buChar char="•"/>
            </a:pPr>
            <a:r>
              <a:rPr lang="en-US" sz="2400" dirty="0"/>
              <a:t>Concept of GST </a:t>
            </a:r>
          </a:p>
          <a:p>
            <a:pPr marL="742950" lvl="1" indent="-285750">
              <a:lnSpc>
                <a:spcPct val="150000"/>
              </a:lnSpc>
              <a:buFont typeface="Arial" panose="020B0604020202020204" pitchFamily="34" charset="0"/>
              <a:buChar char="•"/>
            </a:pPr>
            <a:r>
              <a:rPr lang="en-US" sz="2400" dirty="0"/>
              <a:t>Registration</a:t>
            </a:r>
          </a:p>
          <a:p>
            <a:pPr marL="742950" lvl="1" indent="-285750">
              <a:lnSpc>
                <a:spcPct val="150000"/>
              </a:lnSpc>
              <a:buFont typeface="Arial" panose="020B0604020202020204" pitchFamily="34" charset="0"/>
              <a:buChar char="•"/>
            </a:pPr>
            <a:r>
              <a:rPr lang="en-US" sz="2400" dirty="0"/>
              <a:t>Basics of Supply under GST</a:t>
            </a:r>
          </a:p>
          <a:p>
            <a:pPr marL="742950" lvl="1" indent="-285750">
              <a:lnSpc>
                <a:spcPct val="150000"/>
              </a:lnSpc>
              <a:buFont typeface="Arial" panose="020B0604020202020204" pitchFamily="34" charset="0"/>
              <a:buChar char="•"/>
            </a:pPr>
            <a:r>
              <a:rPr lang="en-US" sz="2400" dirty="0"/>
              <a:t>Basics of Charge of GST </a:t>
            </a:r>
          </a:p>
          <a:p>
            <a:pPr marL="742950" lvl="1" indent="-285750">
              <a:lnSpc>
                <a:spcPct val="150000"/>
              </a:lnSpc>
              <a:buFont typeface="Arial" panose="020B0604020202020204" pitchFamily="34" charset="0"/>
              <a:buChar char="•"/>
            </a:pPr>
            <a:r>
              <a:rPr lang="en-US" sz="2400" dirty="0"/>
              <a:t>Input Tax Credit</a:t>
            </a:r>
          </a:p>
          <a:p>
            <a:pPr marL="742950" lvl="1" indent="-285750">
              <a:lnSpc>
                <a:spcPct val="150000"/>
              </a:lnSpc>
              <a:buFont typeface="Arial" panose="020B0604020202020204" pitchFamily="34" charset="0"/>
              <a:buChar char="•"/>
            </a:pPr>
            <a:r>
              <a:rPr lang="en-US" sz="2400" dirty="0"/>
              <a:t>Basics of Place of Supply</a:t>
            </a:r>
          </a:p>
          <a:p>
            <a:pPr marL="742950" lvl="1" indent="-285750">
              <a:lnSpc>
                <a:spcPct val="150000"/>
              </a:lnSpc>
              <a:buFont typeface="Arial" panose="020B0604020202020204" pitchFamily="34" charset="0"/>
              <a:buChar char="•"/>
            </a:pPr>
            <a:r>
              <a:rPr lang="en-US" sz="2400" dirty="0"/>
              <a:t>Basics of Time of Supply </a:t>
            </a:r>
          </a:p>
          <a:p>
            <a:pPr marL="742950" lvl="1" indent="-285750">
              <a:lnSpc>
                <a:spcPct val="150000"/>
              </a:lnSpc>
              <a:buFont typeface="Arial" panose="020B0604020202020204" pitchFamily="34" charset="0"/>
              <a:buChar char="•"/>
            </a:pPr>
            <a:r>
              <a:rPr lang="en-US" sz="2400" dirty="0"/>
              <a:t>Tax invoice &amp; E-way Bill</a:t>
            </a:r>
          </a:p>
          <a:p>
            <a:pPr marL="742950" lvl="1" indent="-285750">
              <a:lnSpc>
                <a:spcPct val="150000"/>
              </a:lnSpc>
              <a:buFont typeface="Arial" panose="020B0604020202020204" pitchFamily="34" charset="0"/>
              <a:buChar char="•"/>
            </a:pPr>
            <a:r>
              <a:rPr lang="en-US" sz="2400" dirty="0"/>
              <a:t>Furnishing of Returns</a:t>
            </a:r>
          </a:p>
        </p:txBody>
      </p:sp>
    </p:spTree>
    <p:extLst>
      <p:ext uri="{BB962C8B-B14F-4D97-AF65-F5344CB8AC3E}">
        <p14:creationId xmlns:p14="http://schemas.microsoft.com/office/powerpoint/2010/main" val="18075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cs typeface="Times New Roman" panose="02020603050405020304" pitchFamily="18" charset="0"/>
              </a:rPr>
              <a:t>Indirect tax is a tax on goods and services, where the burden of the tax can be shifted from the person on whom it is initially levied to another person, ultimately being borne by the consumer. </a:t>
            </a:r>
          </a:p>
          <a:p>
            <a:pPr algn="just"/>
            <a:r>
              <a:rPr lang="en-US" sz="2400" dirty="0">
                <a:cs typeface="Times New Roman" panose="02020603050405020304" pitchFamily="18" charset="0"/>
              </a:rPr>
              <a:t>Essentially, it's a tax that's not directly levied on income or profits but is instead included in the price of goods or services. </a:t>
            </a:r>
          </a:p>
        </p:txBody>
      </p:sp>
      <p:sp>
        <p:nvSpPr>
          <p:cNvPr id="2" name="Title 1"/>
          <p:cNvSpPr>
            <a:spLocks noGrp="1"/>
          </p:cNvSpPr>
          <p:nvPr>
            <p:ph type="title"/>
          </p:nvPr>
        </p:nvSpPr>
        <p:spPr/>
        <p:txBody>
          <a:bodyPr/>
          <a:lstStyle/>
          <a:p>
            <a:r>
              <a:rPr lang="en-US" b="1" dirty="0">
                <a:cs typeface="Times New Roman" panose="02020603050405020304" pitchFamily="18" charset="0"/>
              </a:rPr>
              <a:t>Indirect Tax</a:t>
            </a:r>
          </a:p>
        </p:txBody>
      </p:sp>
      <p:grpSp>
        <p:nvGrpSpPr>
          <p:cNvPr id="40" name="Group 39">
            <a:extLst>
              <a:ext uri="{FF2B5EF4-FFF2-40B4-BE49-F238E27FC236}">
                <a16:creationId xmlns:a16="http://schemas.microsoft.com/office/drawing/2014/main" id="{9624342D-C9FD-52EB-1799-108625706D5E}"/>
              </a:ext>
            </a:extLst>
          </p:cNvPr>
          <p:cNvGrpSpPr/>
          <p:nvPr/>
        </p:nvGrpSpPr>
        <p:grpSpPr>
          <a:xfrm>
            <a:off x="1162335" y="2710579"/>
            <a:ext cx="9867330" cy="2676252"/>
            <a:chOff x="1486470" y="3358649"/>
            <a:chExt cx="9867330" cy="2676252"/>
          </a:xfrm>
        </p:grpSpPr>
        <p:grpSp>
          <p:nvGrpSpPr>
            <p:cNvPr id="4" name="Group 3"/>
            <p:cNvGrpSpPr/>
            <p:nvPr/>
          </p:nvGrpSpPr>
          <p:grpSpPr>
            <a:xfrm>
              <a:off x="6925218" y="4661716"/>
              <a:ext cx="1121375" cy="778475"/>
              <a:chOff x="5050824" y="2391032"/>
              <a:chExt cx="1121375" cy="778475"/>
            </a:xfrm>
          </p:grpSpPr>
          <p:sp>
            <p:nvSpPr>
              <p:cNvPr id="36" name="Rounded Rectangle 1"/>
              <p:cNvSpPr/>
              <p:nvPr/>
            </p:nvSpPr>
            <p:spPr>
              <a:xfrm>
                <a:off x="5393724" y="2391032"/>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2"/>
              <p:cNvSpPr/>
              <p:nvPr/>
            </p:nvSpPr>
            <p:spPr>
              <a:xfrm>
                <a:off x="5050824" y="2391032"/>
                <a:ext cx="259491" cy="240956"/>
              </a:xfrm>
              <a:custGeom>
                <a:avLst/>
                <a:gdLst/>
                <a:ahLst/>
                <a:cxnLst/>
                <a:rect l="0" t="0" r="0" b="0"/>
                <a:pathLst>
                  <a:path w="259491" h="240956">
                    <a:moveTo>
                      <a:pt x="0" y="1021"/>
                    </a:moveTo>
                    <a:lnTo>
                      <a:pt x="259491" y="0"/>
                    </a:lnTo>
                    <a:cubicBezTo>
                      <a:pt x="259491" y="0"/>
                      <a:pt x="217330" y="44582"/>
                      <a:pt x="181242" y="112032"/>
                    </a:cubicBezTo>
                    <a:cubicBezTo>
                      <a:pt x="145153" y="179483"/>
                      <a:pt x="130572" y="240956"/>
                      <a:pt x="130572" y="240956"/>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8" name="Rounded Rectangle 3"/>
              <p:cNvSpPr/>
              <p:nvPr/>
            </p:nvSpPr>
            <p:spPr>
              <a:xfrm>
                <a:off x="5393724" y="2391032"/>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9" name="Rounded Rectangle 4"/>
              <p:cNvSpPr/>
              <p:nvPr/>
            </p:nvSpPr>
            <p:spPr>
              <a:xfrm>
                <a:off x="5050824" y="2391032"/>
                <a:ext cx="259491" cy="240956"/>
              </a:xfrm>
              <a:custGeom>
                <a:avLst/>
                <a:gdLst/>
                <a:ahLst/>
                <a:cxnLst/>
                <a:rect l="0" t="0" r="0" b="0"/>
                <a:pathLst>
                  <a:path w="259491" h="240956">
                    <a:moveTo>
                      <a:pt x="0" y="1021"/>
                    </a:moveTo>
                    <a:lnTo>
                      <a:pt x="259491" y="0"/>
                    </a:lnTo>
                    <a:cubicBezTo>
                      <a:pt x="259491" y="0"/>
                      <a:pt x="217330" y="44582"/>
                      <a:pt x="181242" y="112032"/>
                    </a:cubicBezTo>
                    <a:cubicBezTo>
                      <a:pt x="145153" y="179483"/>
                      <a:pt x="130572" y="240956"/>
                      <a:pt x="130572" y="240956"/>
                    </a:cubicBezTo>
                    <a:close/>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6925218" y="3549608"/>
              <a:ext cx="1121375" cy="778475"/>
              <a:chOff x="5050824" y="1278924"/>
              <a:chExt cx="1121375" cy="778475"/>
            </a:xfrm>
          </p:grpSpPr>
          <p:sp>
            <p:nvSpPr>
              <p:cNvPr id="32" name="Rounded Rectangle 6"/>
              <p:cNvSpPr/>
              <p:nvPr/>
            </p:nvSpPr>
            <p:spPr>
              <a:xfrm>
                <a:off x="5393724" y="127892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7"/>
              <p:cNvSpPr/>
              <p:nvPr/>
            </p:nvSpPr>
            <p:spPr>
              <a:xfrm>
                <a:off x="5050824" y="1816443"/>
                <a:ext cx="259491" cy="240956"/>
              </a:xfrm>
              <a:custGeom>
                <a:avLst/>
                <a:gdLst/>
                <a:ahLst/>
                <a:cxnLst/>
                <a:rect l="0" t="0" r="0" b="0"/>
                <a:pathLst>
                  <a:path w="259491" h="240956">
                    <a:moveTo>
                      <a:pt x="130572" y="0"/>
                    </a:moveTo>
                    <a:cubicBezTo>
                      <a:pt x="130572" y="0"/>
                      <a:pt x="145153" y="61473"/>
                      <a:pt x="181242" y="128923"/>
                    </a:cubicBezTo>
                    <a:cubicBezTo>
                      <a:pt x="217330" y="196374"/>
                      <a:pt x="259491" y="240956"/>
                      <a:pt x="259491" y="240956"/>
                    </a:cubicBezTo>
                    <a:lnTo>
                      <a:pt x="0" y="239935"/>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4" name="Rounded Rectangle 8"/>
              <p:cNvSpPr/>
              <p:nvPr/>
            </p:nvSpPr>
            <p:spPr>
              <a:xfrm>
                <a:off x="5393724" y="127892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9"/>
              <p:cNvSpPr/>
              <p:nvPr/>
            </p:nvSpPr>
            <p:spPr>
              <a:xfrm>
                <a:off x="5050824" y="1816443"/>
                <a:ext cx="259491" cy="240956"/>
              </a:xfrm>
              <a:custGeom>
                <a:avLst/>
                <a:gdLst/>
                <a:ahLst/>
                <a:cxnLst/>
                <a:rect l="0" t="0" r="0" b="0"/>
                <a:pathLst>
                  <a:path w="259491" h="240956">
                    <a:moveTo>
                      <a:pt x="130572" y="0"/>
                    </a:moveTo>
                    <a:cubicBezTo>
                      <a:pt x="130572" y="0"/>
                      <a:pt x="145153" y="61473"/>
                      <a:pt x="181242" y="128923"/>
                    </a:cubicBezTo>
                    <a:cubicBezTo>
                      <a:pt x="217330" y="196374"/>
                      <a:pt x="259491" y="240956"/>
                      <a:pt x="259491" y="240956"/>
                    </a:cubicBezTo>
                    <a:lnTo>
                      <a:pt x="0" y="239935"/>
                    </a:lnTo>
                    <a:close/>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3931794" y="3549608"/>
              <a:ext cx="1121374" cy="778475"/>
              <a:chOff x="2057400" y="1278924"/>
              <a:chExt cx="1121374" cy="778475"/>
            </a:xfrm>
          </p:grpSpPr>
          <p:sp>
            <p:nvSpPr>
              <p:cNvPr id="28" name="Rounded Rectangle 11"/>
              <p:cNvSpPr/>
              <p:nvPr/>
            </p:nvSpPr>
            <p:spPr>
              <a:xfrm>
                <a:off x="2057400" y="127892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12"/>
              <p:cNvSpPr/>
              <p:nvPr/>
            </p:nvSpPr>
            <p:spPr>
              <a:xfrm>
                <a:off x="2919283" y="1816443"/>
                <a:ext cx="259491" cy="240956"/>
              </a:xfrm>
              <a:custGeom>
                <a:avLst/>
                <a:gdLst/>
                <a:ahLst/>
                <a:cxnLst/>
                <a:rect l="0" t="0" r="0" b="0"/>
                <a:pathLst>
                  <a:path w="259491" h="240956">
                    <a:moveTo>
                      <a:pt x="259491" y="239935"/>
                    </a:moveTo>
                    <a:lnTo>
                      <a:pt x="0" y="240956"/>
                    </a:lnTo>
                    <a:cubicBezTo>
                      <a:pt x="0" y="240956"/>
                      <a:pt x="42161" y="196374"/>
                      <a:pt x="78249" y="128923"/>
                    </a:cubicBezTo>
                    <a:cubicBezTo>
                      <a:pt x="114338" y="61473"/>
                      <a:pt x="128919" y="0"/>
                      <a:pt x="128919" y="0"/>
                    </a:cubicBezTo>
                    <a:close/>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Rounded Rectangle 13"/>
              <p:cNvSpPr/>
              <p:nvPr/>
            </p:nvSpPr>
            <p:spPr>
              <a:xfrm>
                <a:off x="2057400" y="127892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14"/>
              <p:cNvSpPr/>
              <p:nvPr/>
            </p:nvSpPr>
            <p:spPr>
              <a:xfrm>
                <a:off x="2919283" y="1816443"/>
                <a:ext cx="259491" cy="240956"/>
              </a:xfrm>
              <a:custGeom>
                <a:avLst/>
                <a:gdLst/>
                <a:ahLst/>
                <a:cxnLst/>
                <a:rect l="0" t="0" r="0" b="0"/>
                <a:pathLst>
                  <a:path w="259491" h="240956">
                    <a:moveTo>
                      <a:pt x="259491" y="239935"/>
                    </a:moveTo>
                    <a:lnTo>
                      <a:pt x="0" y="240956"/>
                    </a:lnTo>
                    <a:cubicBezTo>
                      <a:pt x="0" y="240956"/>
                      <a:pt x="42161" y="196374"/>
                      <a:pt x="78249" y="128923"/>
                    </a:cubicBezTo>
                    <a:cubicBezTo>
                      <a:pt x="114338" y="61473"/>
                      <a:pt x="128919" y="0"/>
                      <a:pt x="128919" y="0"/>
                    </a:cubicBezTo>
                    <a:close/>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3931794" y="4661716"/>
              <a:ext cx="1121374" cy="778475"/>
              <a:chOff x="2057400" y="2391032"/>
              <a:chExt cx="1121374" cy="778475"/>
            </a:xfrm>
          </p:grpSpPr>
          <p:sp>
            <p:nvSpPr>
              <p:cNvPr id="24" name="Rounded Rectangle 16"/>
              <p:cNvSpPr/>
              <p:nvPr/>
            </p:nvSpPr>
            <p:spPr>
              <a:xfrm>
                <a:off x="2057400" y="2391032"/>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17"/>
              <p:cNvSpPr/>
              <p:nvPr/>
            </p:nvSpPr>
            <p:spPr>
              <a:xfrm>
                <a:off x="2919283" y="2391032"/>
                <a:ext cx="259491" cy="240956"/>
              </a:xfrm>
              <a:custGeom>
                <a:avLst/>
                <a:gdLst/>
                <a:ahLst/>
                <a:cxnLst/>
                <a:rect l="0" t="0" r="0" b="0"/>
                <a:pathLst>
                  <a:path w="259491" h="240956">
                    <a:moveTo>
                      <a:pt x="128919" y="240956"/>
                    </a:moveTo>
                    <a:cubicBezTo>
                      <a:pt x="128919" y="240956"/>
                      <a:pt x="114338" y="179483"/>
                      <a:pt x="78249" y="112032"/>
                    </a:cubicBezTo>
                    <a:cubicBezTo>
                      <a:pt x="42161" y="44582"/>
                      <a:pt x="0" y="0"/>
                      <a:pt x="0" y="0"/>
                    </a:cubicBezTo>
                    <a:lnTo>
                      <a:pt x="259491" y="1021"/>
                    </a:ln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6" name="Rounded Rectangle 18"/>
              <p:cNvSpPr/>
              <p:nvPr/>
            </p:nvSpPr>
            <p:spPr>
              <a:xfrm>
                <a:off x="2057400" y="2391032"/>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19"/>
              <p:cNvSpPr/>
              <p:nvPr/>
            </p:nvSpPr>
            <p:spPr>
              <a:xfrm>
                <a:off x="2919283" y="2391032"/>
                <a:ext cx="259491" cy="240956"/>
              </a:xfrm>
              <a:custGeom>
                <a:avLst/>
                <a:gdLst/>
                <a:ahLst/>
                <a:cxnLst/>
                <a:rect l="0" t="0" r="0" b="0"/>
                <a:pathLst>
                  <a:path w="259491" h="240956">
                    <a:moveTo>
                      <a:pt x="128919" y="240956"/>
                    </a:moveTo>
                    <a:cubicBezTo>
                      <a:pt x="128919" y="240956"/>
                      <a:pt x="114338" y="179483"/>
                      <a:pt x="78249" y="112032"/>
                    </a:cubicBezTo>
                    <a:cubicBezTo>
                      <a:pt x="42161" y="44582"/>
                      <a:pt x="0" y="0"/>
                      <a:pt x="0" y="0"/>
                    </a:cubicBezTo>
                    <a:lnTo>
                      <a:pt x="259491" y="1021"/>
                    </a:lnTo>
                    <a:close/>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5210718" y="3707156"/>
              <a:ext cx="1556951" cy="1556951"/>
              <a:chOff x="3336324" y="1436472"/>
              <a:chExt cx="1556951" cy="1556951"/>
            </a:xfrm>
          </p:grpSpPr>
          <p:sp>
            <p:nvSpPr>
              <p:cNvPr id="22" name="Rounded Rectangle 21"/>
              <p:cNvSpPr/>
              <p:nvPr/>
            </p:nvSpPr>
            <p:spPr>
              <a:xfrm>
                <a:off x="3336324" y="1436472"/>
                <a:ext cx="1556951" cy="1556951"/>
              </a:xfrm>
              <a:custGeom>
                <a:avLst/>
                <a:gdLst/>
                <a:ahLst/>
                <a:cxnLst/>
                <a:rect l="0" t="0" r="0" b="0"/>
                <a:pathLst>
                  <a:path w="1556951" h="1556951">
                    <a:moveTo>
                      <a:pt x="0" y="778475"/>
                    </a:moveTo>
                    <a:cubicBezTo>
                      <a:pt x="0" y="348535"/>
                      <a:pt x="348535" y="0"/>
                      <a:pt x="778475" y="0"/>
                    </a:cubicBezTo>
                    <a:cubicBezTo>
                      <a:pt x="1208415" y="0"/>
                      <a:pt x="1556951" y="348535"/>
                      <a:pt x="1556951" y="778475"/>
                    </a:cubicBezTo>
                    <a:cubicBezTo>
                      <a:pt x="1556951" y="1208415"/>
                      <a:pt x="1208415" y="1556951"/>
                      <a:pt x="778475" y="1556951"/>
                    </a:cubicBezTo>
                    <a:cubicBezTo>
                      <a:pt x="348535" y="1556951"/>
                      <a:pt x="0" y="1208415"/>
                      <a:pt x="0" y="778475"/>
                    </a:cubicBezTo>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3" name="Rounded Rectangle 22"/>
              <p:cNvSpPr/>
              <p:nvPr/>
            </p:nvSpPr>
            <p:spPr>
              <a:xfrm>
                <a:off x="3336324" y="1436472"/>
                <a:ext cx="1556951" cy="1556951"/>
              </a:xfrm>
              <a:custGeom>
                <a:avLst/>
                <a:gdLst/>
                <a:ahLst/>
                <a:cxnLst/>
                <a:rect l="0" t="0" r="0" b="0"/>
                <a:pathLst>
                  <a:path w="1556951" h="1556951">
                    <a:moveTo>
                      <a:pt x="0" y="778475"/>
                    </a:moveTo>
                    <a:cubicBezTo>
                      <a:pt x="0" y="348535"/>
                      <a:pt x="348535" y="0"/>
                      <a:pt x="778475" y="0"/>
                    </a:cubicBezTo>
                    <a:cubicBezTo>
                      <a:pt x="1208415" y="0"/>
                      <a:pt x="1556951" y="348535"/>
                      <a:pt x="1556951" y="778475"/>
                    </a:cubicBezTo>
                    <a:cubicBezTo>
                      <a:pt x="1556951" y="1208415"/>
                      <a:pt x="1208415" y="1556951"/>
                      <a:pt x="778475" y="1556951"/>
                    </a:cubicBezTo>
                    <a:cubicBezTo>
                      <a:pt x="348535" y="1556951"/>
                      <a:pt x="0" y="1208415"/>
                      <a:pt x="0" y="778475"/>
                    </a:cubicBezTo>
                  </a:path>
                </a:pathLst>
              </a:custGeom>
              <a:noFill/>
              <a:ln w="139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9" name="TextBox 25"/>
            <p:cNvSpPr txBox="1"/>
            <p:nvPr/>
          </p:nvSpPr>
          <p:spPr>
            <a:xfrm>
              <a:off x="8680838" y="3358649"/>
              <a:ext cx="1923604"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000" b="1" dirty="0">
                  <a:solidFill>
                    <a:srgbClr val="E0CB15"/>
                  </a:solidFill>
                  <a:latin typeface="Roboto"/>
                </a:rPr>
                <a:t>Burden Shifting</a:t>
              </a:r>
            </a:p>
          </p:txBody>
        </p:sp>
        <p:sp>
          <p:nvSpPr>
            <p:cNvPr id="10" name="TextBox 26"/>
            <p:cNvSpPr txBox="1"/>
            <p:nvPr/>
          </p:nvSpPr>
          <p:spPr>
            <a:xfrm>
              <a:off x="1755383" y="3512538"/>
              <a:ext cx="1933414"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000" b="1" dirty="0">
                  <a:solidFill>
                    <a:srgbClr val="92BD39"/>
                  </a:solidFill>
                  <a:latin typeface="Roboto"/>
                </a:rPr>
                <a:t>Tax on Services</a:t>
              </a:r>
            </a:p>
          </p:txBody>
        </p:sp>
        <p:sp>
          <p:nvSpPr>
            <p:cNvPr id="11" name="TextBox 27"/>
            <p:cNvSpPr txBox="1"/>
            <p:nvPr/>
          </p:nvSpPr>
          <p:spPr>
            <a:xfrm>
              <a:off x="8454366" y="3646917"/>
              <a:ext cx="2150076"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process of</a:t>
              </a:r>
              <a:r>
                <a:rPr lang="en-US" b="0" dirty="0">
                  <a:solidFill>
                    <a:srgbClr val="484848"/>
                  </a:solidFill>
                  <a:latin typeface="Roboto"/>
                </a:rPr>
                <a:t> </a:t>
              </a:r>
              <a:r>
                <a:rPr b="0" dirty="0">
                  <a:solidFill>
                    <a:srgbClr val="484848"/>
                  </a:solidFill>
                  <a:latin typeface="Roboto"/>
                </a:rPr>
                <a:t>transferring tax</a:t>
              </a:r>
              <a:r>
                <a:rPr lang="en-US" b="0" dirty="0">
                  <a:solidFill>
                    <a:srgbClr val="484848"/>
                  </a:solidFill>
                  <a:latin typeface="Roboto"/>
                </a:rPr>
                <a:t> </a:t>
              </a:r>
              <a:r>
                <a:rPr b="0" dirty="0">
                  <a:solidFill>
                    <a:srgbClr val="484848"/>
                  </a:solidFill>
                  <a:latin typeface="Roboto"/>
                </a:rPr>
                <a:t>responsibility</a:t>
              </a:r>
            </a:p>
          </p:txBody>
        </p:sp>
        <p:sp>
          <p:nvSpPr>
            <p:cNvPr id="12" name="TextBox 28"/>
            <p:cNvSpPr txBox="1"/>
            <p:nvPr/>
          </p:nvSpPr>
          <p:spPr>
            <a:xfrm>
              <a:off x="4256158" y="3813734"/>
              <a:ext cx="139013" cy="324364"/>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latin typeface="Roboto"/>
                </a:rPr>
                <a:t>2</a:t>
              </a:r>
            </a:p>
          </p:txBody>
        </p:sp>
        <p:sp>
          <p:nvSpPr>
            <p:cNvPr id="13" name="TextBox 29"/>
            <p:cNvSpPr txBox="1"/>
            <p:nvPr/>
          </p:nvSpPr>
          <p:spPr>
            <a:xfrm>
              <a:off x="1486470" y="3841536"/>
              <a:ext cx="2214654"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Taxes applied to the
provision of services</a:t>
              </a:r>
            </a:p>
          </p:txBody>
        </p:sp>
        <p:sp>
          <p:nvSpPr>
            <p:cNvPr id="14" name="TextBox 30"/>
            <p:cNvSpPr txBox="1"/>
            <p:nvPr/>
          </p:nvSpPr>
          <p:spPr>
            <a:xfrm>
              <a:off x="7592483" y="3813734"/>
              <a:ext cx="139013" cy="324364"/>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latin typeface="Roboto"/>
                </a:rPr>
                <a:t>3</a:t>
              </a:r>
            </a:p>
          </p:txBody>
        </p:sp>
        <p:sp>
          <p:nvSpPr>
            <p:cNvPr id="15" name="TextBox 31"/>
            <p:cNvSpPr txBox="1"/>
            <p:nvPr/>
          </p:nvSpPr>
          <p:spPr>
            <a:xfrm>
              <a:off x="5508114" y="4402224"/>
              <a:ext cx="1098206" cy="27246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400" b="1">
                  <a:solidFill>
                    <a:srgbClr val="FFFFFF"/>
                  </a:solidFill>
                  <a:latin typeface="Roboto"/>
                </a:rPr>
                <a:t>Indirect Tax</a:t>
              </a:r>
            </a:p>
          </p:txBody>
        </p:sp>
        <p:sp>
          <p:nvSpPr>
            <p:cNvPr id="16" name="TextBox 32"/>
            <p:cNvSpPr txBox="1"/>
            <p:nvPr/>
          </p:nvSpPr>
          <p:spPr>
            <a:xfrm>
              <a:off x="2008280" y="4847067"/>
              <a:ext cx="1691360"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000" b="1">
                  <a:solidFill>
                    <a:srgbClr val="3CC583"/>
                  </a:solidFill>
                  <a:latin typeface="Roboto"/>
                </a:rPr>
                <a:t>Tax on Goods</a:t>
              </a:r>
            </a:p>
          </p:txBody>
        </p:sp>
        <p:sp>
          <p:nvSpPr>
            <p:cNvPr id="17" name="TextBox 33"/>
            <p:cNvSpPr txBox="1"/>
            <p:nvPr/>
          </p:nvSpPr>
          <p:spPr>
            <a:xfrm>
              <a:off x="4256158" y="4925842"/>
              <a:ext cx="139013" cy="324364"/>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latin typeface="Roboto"/>
                </a:rPr>
                <a:t>1</a:t>
              </a:r>
            </a:p>
          </p:txBody>
        </p:sp>
        <p:sp>
          <p:nvSpPr>
            <p:cNvPr id="18" name="TextBox 34"/>
            <p:cNvSpPr txBox="1"/>
            <p:nvPr/>
          </p:nvSpPr>
          <p:spPr>
            <a:xfrm>
              <a:off x="7592483" y="4925842"/>
              <a:ext cx="139013" cy="324364"/>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latin typeface="Roboto"/>
                </a:rPr>
                <a:t>4</a:t>
              </a:r>
            </a:p>
          </p:txBody>
        </p:sp>
        <p:sp>
          <p:nvSpPr>
            <p:cNvPr id="19" name="TextBox 35"/>
            <p:cNvSpPr txBox="1"/>
            <p:nvPr/>
          </p:nvSpPr>
          <p:spPr>
            <a:xfrm>
              <a:off x="8454366" y="4847067"/>
              <a:ext cx="2899434"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000" b="1" dirty="0">
                  <a:solidFill>
                    <a:srgbClr val="E55753"/>
                  </a:solidFill>
                  <a:latin typeface="Roboto"/>
                </a:rPr>
                <a:t>Consumer</a:t>
              </a:r>
              <a:r>
                <a:rPr lang="en-US" sz="2000" b="1" dirty="0">
                  <a:solidFill>
                    <a:srgbClr val="E55753"/>
                  </a:solidFill>
                  <a:latin typeface="Roboto"/>
                </a:rPr>
                <a:t> </a:t>
              </a:r>
              <a:r>
                <a:rPr sz="2000" b="1" dirty="0">
                  <a:solidFill>
                    <a:srgbClr val="E55753"/>
                  </a:solidFill>
                  <a:latin typeface="Roboto"/>
                </a:rPr>
                <a:t>Bearing Tax</a:t>
              </a:r>
            </a:p>
          </p:txBody>
        </p:sp>
        <p:sp>
          <p:nvSpPr>
            <p:cNvPr id="20" name="TextBox 36"/>
            <p:cNvSpPr txBox="1"/>
            <p:nvPr/>
          </p:nvSpPr>
          <p:spPr>
            <a:xfrm>
              <a:off x="1486470" y="5203869"/>
              <a:ext cx="2270259"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Taxes applied to the</a:t>
              </a:r>
              <a:r>
                <a:rPr lang="en-US" b="0" dirty="0">
                  <a:solidFill>
                    <a:srgbClr val="484848"/>
                  </a:solidFill>
                  <a:latin typeface="Roboto"/>
                </a:rPr>
                <a:t> </a:t>
              </a:r>
              <a:r>
                <a:rPr b="0" dirty="0">
                  <a:solidFill>
                    <a:srgbClr val="484848"/>
                  </a:solidFill>
                  <a:latin typeface="Roboto"/>
                </a:rPr>
                <a:t>sale of physical</a:t>
              </a:r>
              <a:r>
                <a:rPr lang="en-US" b="0" dirty="0">
                  <a:solidFill>
                    <a:srgbClr val="484848"/>
                  </a:solidFill>
                  <a:latin typeface="Roboto"/>
                </a:rPr>
                <a:t> </a:t>
              </a:r>
              <a:r>
                <a:rPr b="0" dirty="0">
                  <a:solidFill>
                    <a:srgbClr val="484848"/>
                  </a:solidFill>
                  <a:latin typeface="Roboto"/>
                </a:rPr>
                <a:t>items</a:t>
              </a:r>
            </a:p>
          </p:txBody>
        </p:sp>
        <p:sp>
          <p:nvSpPr>
            <p:cNvPr id="21" name="TextBox 37"/>
            <p:cNvSpPr txBox="1"/>
            <p:nvPr/>
          </p:nvSpPr>
          <p:spPr>
            <a:xfrm>
              <a:off x="8618898" y="5203904"/>
              <a:ext cx="2521289"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ultimate</a:t>
              </a:r>
              <a:r>
                <a:rPr lang="en-US" b="0" dirty="0">
                  <a:solidFill>
                    <a:srgbClr val="484848"/>
                  </a:solidFill>
                  <a:latin typeface="Roboto"/>
                </a:rPr>
                <a:t> </a:t>
              </a:r>
              <a:r>
                <a:rPr b="0" dirty="0">
                  <a:solidFill>
                    <a:srgbClr val="484848"/>
                  </a:solidFill>
                  <a:latin typeface="Roboto"/>
                </a:rPr>
                <a:t>responsibility of</a:t>
              </a:r>
              <a:r>
                <a:rPr lang="en-US" b="0" dirty="0">
                  <a:solidFill>
                    <a:srgbClr val="484848"/>
                  </a:solidFill>
                  <a:latin typeface="Roboto"/>
                </a:rPr>
                <a:t> </a:t>
              </a:r>
              <a:r>
                <a:rPr b="0" dirty="0">
                  <a:solidFill>
                    <a:srgbClr val="484848"/>
                  </a:solidFill>
                  <a:latin typeface="Roboto"/>
                </a:rPr>
                <a:t>consumers to pay</a:t>
              </a:r>
              <a:r>
                <a:rPr lang="en-US" b="0" dirty="0">
                  <a:solidFill>
                    <a:srgbClr val="484848"/>
                  </a:solidFill>
                  <a:latin typeface="Roboto"/>
                </a:rPr>
                <a:t> </a:t>
              </a:r>
              <a:r>
                <a:rPr b="0" dirty="0">
                  <a:solidFill>
                    <a:srgbClr val="484848"/>
                  </a:solidFill>
                  <a:latin typeface="Roboto"/>
                </a:rPr>
                <a:t>taxes</a:t>
              </a:r>
            </a:p>
          </p:txBody>
        </p:sp>
      </p:grpSp>
    </p:spTree>
    <p:extLst>
      <p:ext uri="{BB962C8B-B14F-4D97-AF65-F5344CB8AC3E}">
        <p14:creationId xmlns:p14="http://schemas.microsoft.com/office/powerpoint/2010/main" val="713281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2400" dirty="0">
                <a:cs typeface="Times New Roman" panose="02020603050405020304" pitchFamily="18" charset="0"/>
              </a:rPr>
              <a:t>GST (Goods and Services Tax) is a comprehensive, multi-stage, destination-based indirect tax levied on the supply of goods and services. </a:t>
            </a:r>
          </a:p>
          <a:p>
            <a:pPr algn="just"/>
            <a:r>
              <a:rPr lang="en-US" sz="2400" dirty="0">
                <a:cs typeface="Times New Roman" panose="02020603050405020304" pitchFamily="18" charset="0"/>
              </a:rPr>
              <a:t>It was introduced in India on </a:t>
            </a:r>
            <a:r>
              <a:rPr lang="en-US" sz="2400" b="1" dirty="0">
                <a:cs typeface="Times New Roman" panose="02020603050405020304" pitchFamily="18" charset="0"/>
              </a:rPr>
              <a:t>1st July 2017</a:t>
            </a:r>
            <a:r>
              <a:rPr lang="en-US" sz="2400" dirty="0">
                <a:cs typeface="Times New Roman" panose="02020603050405020304" pitchFamily="18" charset="0"/>
              </a:rPr>
              <a:t> to replace a complex structure of indirect taxes like VAT, Service Tax, Excise Duty, etc.</a:t>
            </a:r>
          </a:p>
          <a:p>
            <a:pPr marL="0" indent="0">
              <a:buNone/>
            </a:pPr>
            <a:endParaRPr lang="en-US" sz="3200" dirty="0"/>
          </a:p>
        </p:txBody>
      </p:sp>
      <p:sp>
        <p:nvSpPr>
          <p:cNvPr id="2" name="Title 1"/>
          <p:cNvSpPr>
            <a:spLocks noGrp="1"/>
          </p:cNvSpPr>
          <p:nvPr>
            <p:ph type="title"/>
          </p:nvPr>
        </p:nvSpPr>
        <p:spPr/>
        <p:txBody>
          <a:bodyPr/>
          <a:lstStyle/>
          <a:p>
            <a:r>
              <a:rPr lang="en-US" b="1" dirty="0">
                <a:cs typeface="Times New Roman" panose="02020603050405020304" pitchFamily="18" charset="0"/>
              </a:rPr>
              <a:t>GST</a:t>
            </a:r>
          </a:p>
        </p:txBody>
      </p:sp>
      <p:grpSp>
        <p:nvGrpSpPr>
          <p:cNvPr id="16" name="Group 15">
            <a:extLst>
              <a:ext uri="{FF2B5EF4-FFF2-40B4-BE49-F238E27FC236}">
                <a16:creationId xmlns:a16="http://schemas.microsoft.com/office/drawing/2014/main" id="{2A968F3C-F18D-1C65-CDA6-1DE457CEDE04}"/>
              </a:ext>
            </a:extLst>
          </p:cNvPr>
          <p:cNvGrpSpPr/>
          <p:nvPr/>
        </p:nvGrpSpPr>
        <p:grpSpPr>
          <a:xfrm>
            <a:off x="2638376" y="2887005"/>
            <a:ext cx="6857160" cy="2423077"/>
            <a:chOff x="2576224" y="3446299"/>
            <a:chExt cx="6857160" cy="2423077"/>
          </a:xfrm>
        </p:grpSpPr>
        <p:grpSp>
          <p:nvGrpSpPr>
            <p:cNvPr id="4" name="Group 3"/>
            <p:cNvGrpSpPr/>
            <p:nvPr/>
          </p:nvGrpSpPr>
          <p:grpSpPr>
            <a:xfrm>
              <a:off x="7314799" y="3446299"/>
              <a:ext cx="1294123" cy="1304842"/>
              <a:chOff x="4057649" y="1371600"/>
              <a:chExt cx="1028700" cy="1028700"/>
            </a:xfrm>
          </p:grpSpPr>
          <p:sp>
            <p:nvSpPr>
              <p:cNvPr id="14" name="Rounded Rectangle 1"/>
              <p:cNvSpPr/>
              <p:nvPr/>
            </p:nvSpPr>
            <p:spPr>
              <a:xfrm>
                <a:off x="40576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2"/>
              <p:cNvSpPr/>
              <p:nvPr/>
            </p:nvSpPr>
            <p:spPr>
              <a:xfrm>
                <a:off x="40576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3273244" y="3446299"/>
              <a:ext cx="1296677" cy="1304842"/>
              <a:chOff x="971549" y="1371600"/>
              <a:chExt cx="1028700" cy="1028700"/>
            </a:xfrm>
          </p:grpSpPr>
          <p:sp>
            <p:nvSpPr>
              <p:cNvPr id="12" name="Rounded Rectangle 4"/>
              <p:cNvSpPr/>
              <p:nvPr/>
            </p:nvSpPr>
            <p:spPr>
              <a:xfrm>
                <a:off x="9715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5"/>
              <p:cNvSpPr/>
              <p:nvPr/>
            </p:nvSpPr>
            <p:spPr>
              <a:xfrm>
                <a:off x="9715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6" name="TextBox 8"/>
            <p:cNvSpPr txBox="1"/>
            <p:nvPr/>
          </p:nvSpPr>
          <p:spPr>
            <a:xfrm>
              <a:off x="2865114" y="4884491"/>
              <a:ext cx="2032608"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dirty="0">
                  <a:solidFill>
                    <a:srgbClr val="E55753"/>
                  </a:solidFill>
                  <a:latin typeface="Roboto Condensed" panose="02000000000000000000" pitchFamily="2" charset="0"/>
                  <a:ea typeface="Roboto Condensed" panose="02000000000000000000" pitchFamily="2" charset="0"/>
                  <a:cs typeface="Roboto Condensed" panose="02000000000000000000" pitchFamily="2" charset="0"/>
                </a:rPr>
                <a:t>Pre-GST System</a:t>
              </a:r>
            </a:p>
          </p:txBody>
        </p:sp>
        <p:sp>
          <p:nvSpPr>
            <p:cNvPr id="7" name="TextBox 9"/>
            <p:cNvSpPr txBox="1"/>
            <p:nvPr/>
          </p:nvSpPr>
          <p:spPr>
            <a:xfrm>
              <a:off x="7048495" y="4884491"/>
              <a:ext cx="2303516"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dirty="0">
                  <a:solidFill>
                    <a:srgbClr val="3CC583"/>
                  </a:solidFill>
                  <a:latin typeface="Roboto Condensed" panose="02000000000000000000" pitchFamily="2" charset="0"/>
                  <a:ea typeface="Roboto Condensed" panose="02000000000000000000" pitchFamily="2" charset="0"/>
                  <a:cs typeface="Roboto Condensed" panose="02000000000000000000" pitchFamily="2" charset="0"/>
                </a:rPr>
                <a:t>Post-GST</a:t>
              </a:r>
              <a:r>
                <a:rPr sz="2400" b="1" dirty="0">
                  <a:solidFill>
                    <a:srgbClr val="3CC583"/>
                  </a:solidFill>
                  <a:latin typeface="Roboto"/>
                </a:rPr>
                <a:t> System</a:t>
              </a:r>
            </a:p>
          </p:txBody>
        </p:sp>
        <p:sp>
          <p:nvSpPr>
            <p:cNvPr id="8" name="TextBox 10"/>
            <p:cNvSpPr txBox="1"/>
            <p:nvPr/>
          </p:nvSpPr>
          <p:spPr>
            <a:xfrm>
              <a:off x="2576224" y="5253823"/>
              <a:ext cx="2550378"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0" dirty="0">
                  <a:cs typeface="Times New Roman" panose="02020603050405020304" pitchFamily="18" charset="0"/>
                </a:rPr>
                <a:t>Multiple taxes leading to
cascading effect</a:t>
              </a:r>
            </a:p>
          </p:txBody>
        </p:sp>
        <p:sp>
          <p:nvSpPr>
            <p:cNvPr id="9" name="TextBox 11"/>
            <p:cNvSpPr txBox="1"/>
            <p:nvPr/>
          </p:nvSpPr>
          <p:spPr>
            <a:xfrm>
              <a:off x="6919875" y="5253823"/>
              <a:ext cx="2513509"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0" dirty="0">
                  <a:cs typeface="Times New Roman" panose="02020603050405020304" pitchFamily="18" charset="0"/>
                </a:rPr>
                <a:t>Unified tax system
simplifying tax structure</a:t>
              </a:r>
            </a:p>
          </p:txBody>
        </p:sp>
        <p:sp>
          <p:nvSpPr>
            <p:cNvPr id="10" name="Rounded Rectangle 12"/>
            <p:cNvSpPr/>
            <p:nvPr/>
          </p:nvSpPr>
          <p:spPr>
            <a:xfrm>
              <a:off x="3545591" y="3677239"/>
              <a:ext cx="751981" cy="842962"/>
            </a:xfrm>
            <a:custGeom>
              <a:avLst/>
              <a:gdLst/>
              <a:ahLst/>
              <a:cxnLst/>
              <a:rect l="0" t="0" r="0" b="0"/>
              <a:pathLst>
                <a:path w="628650" h="657225">
                  <a:moveTo>
                    <a:pt x="85610" y="485775"/>
                  </a:moveTo>
                  <a:lnTo>
                    <a:pt x="85610" y="385762"/>
                  </a:lnTo>
                  <a:cubicBezTo>
                    <a:pt x="85610" y="377871"/>
                    <a:pt x="92007" y="371475"/>
                    <a:pt x="99898" y="371475"/>
                  </a:cubicBezTo>
                  <a:lnTo>
                    <a:pt x="528523" y="371475"/>
                  </a:lnTo>
                  <a:cubicBezTo>
                    <a:pt x="536413" y="371475"/>
                    <a:pt x="542810" y="377871"/>
                    <a:pt x="542810" y="385762"/>
                  </a:cubicBezTo>
                  <a:lnTo>
                    <a:pt x="542810" y="485775"/>
                  </a:lnTo>
                  <a:moveTo>
                    <a:pt x="314325" y="485775"/>
                  </a:moveTo>
                  <a:lnTo>
                    <a:pt x="314325" y="285750"/>
                  </a:lnTo>
                  <a:moveTo>
                    <a:pt x="171450" y="142875"/>
                  </a:moveTo>
                  <a:cubicBezTo>
                    <a:pt x="171450" y="63967"/>
                    <a:pt x="235417" y="0"/>
                    <a:pt x="314325" y="0"/>
                  </a:cubicBezTo>
                  <a:cubicBezTo>
                    <a:pt x="393232" y="0"/>
                    <a:pt x="457200" y="63967"/>
                    <a:pt x="457200" y="142875"/>
                  </a:cubicBezTo>
                  <a:cubicBezTo>
                    <a:pt x="457200" y="221782"/>
                    <a:pt x="393232" y="285750"/>
                    <a:pt x="314325" y="285750"/>
                  </a:cubicBezTo>
                  <a:cubicBezTo>
                    <a:pt x="235417" y="285750"/>
                    <a:pt x="171450" y="221782"/>
                    <a:pt x="171450" y="142875"/>
                  </a:cubicBezTo>
                  <a:moveTo>
                    <a:pt x="314325" y="200025"/>
                  </a:moveTo>
                  <a:lnTo>
                    <a:pt x="314325" y="228600"/>
                  </a:lnTo>
                  <a:moveTo>
                    <a:pt x="314325" y="85725"/>
                  </a:moveTo>
                  <a:lnTo>
                    <a:pt x="314325" y="57150"/>
                  </a:lnTo>
                  <a:moveTo>
                    <a:pt x="257060" y="200025"/>
                  </a:moveTo>
                  <a:lnTo>
                    <a:pt x="342785" y="200025"/>
                  </a:lnTo>
                  <a:cubicBezTo>
                    <a:pt x="358567" y="200025"/>
                    <a:pt x="371360" y="187231"/>
                    <a:pt x="371360" y="171450"/>
                  </a:cubicBezTo>
                  <a:cubicBezTo>
                    <a:pt x="371360" y="155668"/>
                    <a:pt x="358567" y="142875"/>
                    <a:pt x="342785" y="142875"/>
                  </a:cubicBezTo>
                  <a:lnTo>
                    <a:pt x="285635" y="142875"/>
                  </a:lnTo>
                  <a:cubicBezTo>
                    <a:pt x="269854" y="142875"/>
                    <a:pt x="257060" y="130081"/>
                    <a:pt x="257060" y="114300"/>
                  </a:cubicBezTo>
                  <a:cubicBezTo>
                    <a:pt x="257060" y="98518"/>
                    <a:pt x="269854" y="85725"/>
                    <a:pt x="285635" y="85725"/>
                  </a:cubicBezTo>
                  <a:lnTo>
                    <a:pt x="371360" y="85725"/>
                  </a:lnTo>
                  <a:moveTo>
                    <a:pt x="0" y="571500"/>
                  </a:moveTo>
                  <a:cubicBezTo>
                    <a:pt x="0" y="524155"/>
                    <a:pt x="38380" y="485775"/>
                    <a:pt x="85725" y="485775"/>
                  </a:cubicBezTo>
                  <a:cubicBezTo>
                    <a:pt x="133069" y="485775"/>
                    <a:pt x="171450" y="524155"/>
                    <a:pt x="171450" y="571500"/>
                  </a:cubicBezTo>
                  <a:cubicBezTo>
                    <a:pt x="171450" y="618844"/>
                    <a:pt x="133069" y="657225"/>
                    <a:pt x="85725" y="657225"/>
                  </a:cubicBezTo>
                  <a:cubicBezTo>
                    <a:pt x="38380" y="657225"/>
                    <a:pt x="0" y="618844"/>
                    <a:pt x="0" y="571500"/>
                  </a:cubicBezTo>
                  <a:moveTo>
                    <a:pt x="228600" y="485775"/>
                  </a:moveTo>
                  <a:lnTo>
                    <a:pt x="400050" y="485775"/>
                  </a:lnTo>
                  <a:lnTo>
                    <a:pt x="400050" y="657225"/>
                  </a:lnTo>
                  <a:lnTo>
                    <a:pt x="228600" y="657225"/>
                  </a:lnTo>
                  <a:close/>
                  <a:moveTo>
                    <a:pt x="628650" y="657225"/>
                  </a:moveTo>
                  <a:lnTo>
                    <a:pt x="457200" y="657225"/>
                  </a:lnTo>
                  <a:lnTo>
                    <a:pt x="542925" y="485775"/>
                  </a:lnTo>
                  <a:close/>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4"/>
            <p:cNvSpPr/>
            <p:nvPr/>
          </p:nvSpPr>
          <p:spPr>
            <a:xfrm>
              <a:off x="7566257" y="3661067"/>
              <a:ext cx="796442" cy="875305"/>
            </a:xfrm>
            <a:custGeom>
              <a:avLst/>
              <a:gdLst/>
              <a:ahLst/>
              <a:cxnLst/>
              <a:rect l="0" t="0" r="0" b="0"/>
              <a:pathLst>
                <a:path w="664368" h="658653">
                  <a:moveTo>
                    <a:pt x="407193" y="530066"/>
                  </a:moveTo>
                  <a:cubicBezTo>
                    <a:pt x="407193" y="561498"/>
                    <a:pt x="381476" y="587216"/>
                    <a:pt x="350043" y="587216"/>
                  </a:cubicBezTo>
                  <a:lnTo>
                    <a:pt x="78581" y="587216"/>
                  </a:lnTo>
                  <a:cubicBezTo>
                    <a:pt x="47148" y="587216"/>
                    <a:pt x="21431" y="561498"/>
                    <a:pt x="21431" y="530066"/>
                  </a:cubicBezTo>
                  <a:lnTo>
                    <a:pt x="21431" y="192881"/>
                  </a:lnTo>
                  <a:cubicBezTo>
                    <a:pt x="21431" y="161448"/>
                    <a:pt x="47148" y="135731"/>
                    <a:pt x="78581" y="135731"/>
                  </a:cubicBezTo>
                  <a:lnTo>
                    <a:pt x="350043" y="135731"/>
                  </a:lnTo>
                  <a:cubicBezTo>
                    <a:pt x="381476" y="135731"/>
                    <a:pt x="407193" y="161448"/>
                    <a:pt x="407193" y="192881"/>
                  </a:cubicBezTo>
                  <a:close/>
                  <a:moveTo>
                    <a:pt x="407193" y="307181"/>
                  </a:moveTo>
                  <a:lnTo>
                    <a:pt x="21431" y="307181"/>
                  </a:lnTo>
                  <a:moveTo>
                    <a:pt x="307181" y="221456"/>
                  </a:moveTo>
                  <a:lnTo>
                    <a:pt x="121443" y="221456"/>
                  </a:lnTo>
                  <a:moveTo>
                    <a:pt x="592931" y="487203"/>
                  </a:moveTo>
                  <a:lnTo>
                    <a:pt x="592931" y="530066"/>
                  </a:lnTo>
                  <a:cubicBezTo>
                    <a:pt x="592931" y="601503"/>
                    <a:pt x="535781" y="658653"/>
                    <a:pt x="464343" y="658653"/>
                  </a:cubicBezTo>
                  <a:cubicBezTo>
                    <a:pt x="412908" y="658653"/>
                    <a:pt x="370046" y="630078"/>
                    <a:pt x="350043" y="587216"/>
                  </a:cubicBezTo>
                  <a:moveTo>
                    <a:pt x="338613" y="135729"/>
                  </a:moveTo>
                  <a:cubicBezTo>
                    <a:pt x="350043" y="75722"/>
                    <a:pt x="401478" y="27144"/>
                    <a:pt x="464343" y="27144"/>
                  </a:cubicBezTo>
                  <a:cubicBezTo>
                    <a:pt x="535781" y="27144"/>
                    <a:pt x="592931" y="84294"/>
                    <a:pt x="592931" y="155732"/>
                  </a:cubicBezTo>
                  <a:lnTo>
                    <a:pt x="592931" y="271462"/>
                  </a:lnTo>
                  <a:moveTo>
                    <a:pt x="0" y="0"/>
                  </a:moveTo>
                  <a:moveTo>
                    <a:pt x="521493" y="201455"/>
                  </a:moveTo>
                  <a:lnTo>
                    <a:pt x="592931" y="272892"/>
                  </a:lnTo>
                  <a:lnTo>
                    <a:pt x="664368" y="201455"/>
                  </a:lnTo>
                  <a:moveTo>
                    <a:pt x="214312" y="414146"/>
                  </a:moveTo>
                  <a:cubicBezTo>
                    <a:pt x="227976" y="414146"/>
                    <a:pt x="239053" y="403070"/>
                    <a:pt x="239053" y="389405"/>
                  </a:cubicBezTo>
                  <a:cubicBezTo>
                    <a:pt x="239053" y="375744"/>
                    <a:pt x="227976" y="364665"/>
                    <a:pt x="214312" y="364665"/>
                  </a:cubicBezTo>
                  <a:cubicBezTo>
                    <a:pt x="200648" y="364665"/>
                    <a:pt x="189571" y="375744"/>
                    <a:pt x="189571" y="389405"/>
                  </a:cubicBezTo>
                  <a:cubicBezTo>
                    <a:pt x="189571" y="403070"/>
                    <a:pt x="200648" y="414146"/>
                    <a:pt x="214312" y="414146"/>
                  </a:cubicBezTo>
                  <a:close/>
                  <a:moveTo>
                    <a:pt x="108043" y="414146"/>
                  </a:moveTo>
                  <a:cubicBezTo>
                    <a:pt x="121707" y="414146"/>
                    <a:pt x="132784" y="403070"/>
                    <a:pt x="132784" y="389405"/>
                  </a:cubicBezTo>
                  <a:cubicBezTo>
                    <a:pt x="132784" y="375744"/>
                    <a:pt x="121707" y="364665"/>
                    <a:pt x="108043" y="364665"/>
                  </a:cubicBezTo>
                  <a:cubicBezTo>
                    <a:pt x="94379" y="364665"/>
                    <a:pt x="83302" y="375744"/>
                    <a:pt x="83302" y="389405"/>
                  </a:cubicBezTo>
                  <a:cubicBezTo>
                    <a:pt x="83302" y="403070"/>
                    <a:pt x="94379" y="414146"/>
                    <a:pt x="108043" y="414146"/>
                  </a:cubicBezTo>
                  <a:close/>
                  <a:moveTo>
                    <a:pt x="320580" y="414146"/>
                  </a:moveTo>
                  <a:cubicBezTo>
                    <a:pt x="334244" y="414146"/>
                    <a:pt x="345323" y="403070"/>
                    <a:pt x="345323" y="389405"/>
                  </a:cubicBezTo>
                  <a:cubicBezTo>
                    <a:pt x="345323" y="375744"/>
                    <a:pt x="334244" y="364665"/>
                    <a:pt x="320580" y="364665"/>
                  </a:cubicBezTo>
                  <a:cubicBezTo>
                    <a:pt x="306918" y="364665"/>
                    <a:pt x="295839" y="375744"/>
                    <a:pt x="295839" y="389405"/>
                  </a:cubicBezTo>
                  <a:cubicBezTo>
                    <a:pt x="295839" y="403070"/>
                    <a:pt x="306918" y="414146"/>
                    <a:pt x="320580" y="414146"/>
                  </a:cubicBezTo>
                  <a:close/>
                  <a:moveTo>
                    <a:pt x="214312" y="521122"/>
                  </a:moveTo>
                  <a:cubicBezTo>
                    <a:pt x="227976" y="521122"/>
                    <a:pt x="239053" y="510046"/>
                    <a:pt x="239053" y="496382"/>
                  </a:cubicBezTo>
                  <a:cubicBezTo>
                    <a:pt x="239053" y="482717"/>
                    <a:pt x="227976" y="471641"/>
                    <a:pt x="214312" y="471641"/>
                  </a:cubicBezTo>
                  <a:cubicBezTo>
                    <a:pt x="200648" y="471641"/>
                    <a:pt x="189571" y="482717"/>
                    <a:pt x="189571" y="496382"/>
                  </a:cubicBezTo>
                  <a:cubicBezTo>
                    <a:pt x="189571" y="510046"/>
                    <a:pt x="200648" y="521122"/>
                    <a:pt x="214312" y="521122"/>
                  </a:cubicBezTo>
                  <a:close/>
                  <a:moveTo>
                    <a:pt x="108043" y="521122"/>
                  </a:moveTo>
                  <a:cubicBezTo>
                    <a:pt x="121707" y="521122"/>
                    <a:pt x="132784" y="510046"/>
                    <a:pt x="132784" y="496382"/>
                  </a:cubicBezTo>
                  <a:cubicBezTo>
                    <a:pt x="132784" y="482717"/>
                    <a:pt x="121707" y="471641"/>
                    <a:pt x="108043" y="471641"/>
                  </a:cubicBezTo>
                  <a:cubicBezTo>
                    <a:pt x="94379" y="471641"/>
                    <a:pt x="83302" y="482717"/>
                    <a:pt x="83302" y="496382"/>
                  </a:cubicBezTo>
                  <a:cubicBezTo>
                    <a:pt x="83302" y="510046"/>
                    <a:pt x="94379" y="521122"/>
                    <a:pt x="108043" y="521122"/>
                  </a:cubicBezTo>
                  <a:close/>
                  <a:moveTo>
                    <a:pt x="320580" y="521122"/>
                  </a:moveTo>
                  <a:cubicBezTo>
                    <a:pt x="334244" y="521122"/>
                    <a:pt x="345323" y="510046"/>
                    <a:pt x="345323" y="496382"/>
                  </a:cubicBezTo>
                  <a:cubicBezTo>
                    <a:pt x="345323" y="482717"/>
                    <a:pt x="334244" y="471641"/>
                    <a:pt x="320580" y="471641"/>
                  </a:cubicBezTo>
                  <a:cubicBezTo>
                    <a:pt x="306918" y="471641"/>
                    <a:pt x="295839" y="482717"/>
                    <a:pt x="295839" y="496382"/>
                  </a:cubicBezTo>
                  <a:cubicBezTo>
                    <a:pt x="295839" y="510046"/>
                    <a:pt x="306918" y="521122"/>
                    <a:pt x="320580" y="521122"/>
                  </a:cubicBezTo>
                  <a:close/>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Tree>
    <p:extLst>
      <p:ext uri="{BB962C8B-B14F-4D97-AF65-F5344CB8AC3E}">
        <p14:creationId xmlns:p14="http://schemas.microsoft.com/office/powerpoint/2010/main" val="3299792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3744" y="145857"/>
            <a:ext cx="10515600" cy="1325563"/>
          </a:xfrm>
        </p:spPr>
        <p:txBody>
          <a:bodyPr/>
          <a:lstStyle/>
          <a:p>
            <a:pPr algn="ctr"/>
            <a:r>
              <a:rPr lang="en-US" b="1" dirty="0">
                <a:latin typeface="+mn-lt"/>
                <a:cs typeface="Times New Roman" panose="02020603050405020304" pitchFamily="18" charset="0"/>
              </a:rPr>
              <a:t>Goods and Services Tax</a:t>
            </a:r>
          </a:p>
        </p:txBody>
      </p:sp>
      <p:grpSp>
        <p:nvGrpSpPr>
          <p:cNvPr id="4" name="Group 3"/>
          <p:cNvGrpSpPr/>
          <p:nvPr/>
        </p:nvGrpSpPr>
        <p:grpSpPr>
          <a:xfrm>
            <a:off x="1338837" y="1770762"/>
            <a:ext cx="3944708" cy="3687580"/>
            <a:chOff x="359763" y="1480278"/>
            <a:chExt cx="3597639" cy="3417757"/>
          </a:xfrm>
        </p:grpSpPr>
        <p:sp>
          <p:nvSpPr>
            <p:cNvPr id="35" name="Rounded Rectangle 1"/>
            <p:cNvSpPr/>
            <p:nvPr/>
          </p:nvSpPr>
          <p:spPr>
            <a:xfrm>
              <a:off x="359763" y="1480278"/>
              <a:ext cx="3597639" cy="3417757"/>
            </a:xfrm>
            <a:custGeom>
              <a:avLst/>
              <a:gdLst/>
              <a:ahLst/>
              <a:cxnLst/>
              <a:rect l="0" t="0" r="0" b="0"/>
              <a:pathLst>
                <a:path w="3597639" h="3417757">
                  <a:moveTo>
                    <a:pt x="0" y="3237875"/>
                  </a:moveTo>
                  <a:lnTo>
                    <a:pt x="109019" y="3237875"/>
                  </a:lnTo>
                  <a:lnTo>
                    <a:pt x="3488620" y="3237875"/>
                  </a:lnTo>
                  <a:lnTo>
                    <a:pt x="3597639" y="3237875"/>
                  </a:lnTo>
                  <a:lnTo>
                    <a:pt x="3597639" y="3417757"/>
                  </a:lnTo>
                  <a:lnTo>
                    <a:pt x="0" y="3417757"/>
                  </a:lnTo>
                  <a:close/>
                  <a:moveTo>
                    <a:pt x="218038" y="3057993"/>
                  </a:moveTo>
                  <a:lnTo>
                    <a:pt x="3379600" y="3057993"/>
                  </a:lnTo>
                  <a:lnTo>
                    <a:pt x="3379600" y="3147934"/>
                  </a:lnTo>
                  <a:lnTo>
                    <a:pt x="218038" y="3147934"/>
                  </a:lnTo>
                  <a:close/>
                  <a:moveTo>
                    <a:pt x="1798819" y="0"/>
                  </a:moveTo>
                  <a:lnTo>
                    <a:pt x="3597639" y="539645"/>
                  </a:lnTo>
                  <a:lnTo>
                    <a:pt x="3597639" y="629586"/>
                  </a:lnTo>
                  <a:lnTo>
                    <a:pt x="3488620" y="629586"/>
                  </a:lnTo>
                  <a:lnTo>
                    <a:pt x="109019" y="629586"/>
                  </a:lnTo>
                  <a:lnTo>
                    <a:pt x="0" y="629586"/>
                  </a:lnTo>
                  <a:lnTo>
                    <a:pt x="0" y="539645"/>
                  </a:lnTo>
                  <a:close/>
                  <a:moveTo>
                    <a:pt x="218038" y="719527"/>
                  </a:moveTo>
                  <a:lnTo>
                    <a:pt x="3379600" y="719527"/>
                  </a:lnTo>
                  <a:lnTo>
                    <a:pt x="3379600" y="809468"/>
                  </a:lnTo>
                  <a:lnTo>
                    <a:pt x="218038" y="809468"/>
                  </a:lnTo>
                  <a:close/>
                  <a:moveTo>
                    <a:pt x="3488620" y="629586"/>
                  </a:moveTo>
                  <a:lnTo>
                    <a:pt x="3488620" y="719527"/>
                  </a:lnTo>
                  <a:lnTo>
                    <a:pt x="3379600" y="719527"/>
                  </a:lnTo>
                  <a:lnTo>
                    <a:pt x="218038" y="719527"/>
                  </a:lnTo>
                  <a:lnTo>
                    <a:pt x="109019" y="719527"/>
                  </a:lnTo>
                  <a:lnTo>
                    <a:pt x="109019" y="629586"/>
                  </a:lnTo>
                  <a:close/>
                  <a:moveTo>
                    <a:pt x="3488620" y="3147934"/>
                  </a:moveTo>
                  <a:lnTo>
                    <a:pt x="3488620" y="3237875"/>
                  </a:lnTo>
                  <a:lnTo>
                    <a:pt x="109019" y="3237875"/>
                  </a:lnTo>
                  <a:lnTo>
                    <a:pt x="109019" y="3147934"/>
                  </a:lnTo>
                  <a:lnTo>
                    <a:pt x="218038" y="3147934"/>
                  </a:lnTo>
                  <a:lnTo>
                    <a:pt x="3379600" y="3147934"/>
                  </a:lnTo>
                  <a:close/>
                </a:path>
              </a:pathLst>
            </a:custGeom>
            <a:solidFill>
              <a:srgbClr val="96969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6" name="Rounded Rectangle 2"/>
            <p:cNvSpPr/>
            <p:nvPr/>
          </p:nvSpPr>
          <p:spPr>
            <a:xfrm>
              <a:off x="359763" y="1480278"/>
              <a:ext cx="3597639" cy="3417757"/>
            </a:xfrm>
            <a:custGeom>
              <a:avLst/>
              <a:gdLst/>
              <a:ahLst/>
              <a:cxnLst/>
              <a:rect l="0" t="0" r="0" b="0"/>
              <a:pathLst>
                <a:path w="3597639" h="3417757">
                  <a:moveTo>
                    <a:pt x="0" y="3237875"/>
                  </a:moveTo>
                  <a:lnTo>
                    <a:pt x="109019" y="3237875"/>
                  </a:lnTo>
                  <a:lnTo>
                    <a:pt x="3488620" y="3237875"/>
                  </a:lnTo>
                  <a:lnTo>
                    <a:pt x="3597639" y="3237875"/>
                  </a:lnTo>
                  <a:lnTo>
                    <a:pt x="3597639" y="3417757"/>
                  </a:lnTo>
                  <a:lnTo>
                    <a:pt x="0" y="3417757"/>
                  </a:lnTo>
                  <a:close/>
                  <a:moveTo>
                    <a:pt x="218038" y="3057993"/>
                  </a:moveTo>
                  <a:lnTo>
                    <a:pt x="3379600" y="3057993"/>
                  </a:lnTo>
                  <a:lnTo>
                    <a:pt x="3379600" y="3147934"/>
                  </a:lnTo>
                  <a:lnTo>
                    <a:pt x="218038" y="3147934"/>
                  </a:lnTo>
                  <a:close/>
                  <a:moveTo>
                    <a:pt x="1798819" y="0"/>
                  </a:moveTo>
                  <a:lnTo>
                    <a:pt x="3597639" y="539645"/>
                  </a:lnTo>
                  <a:lnTo>
                    <a:pt x="3597639" y="629586"/>
                  </a:lnTo>
                  <a:lnTo>
                    <a:pt x="3488620" y="629586"/>
                  </a:lnTo>
                  <a:lnTo>
                    <a:pt x="109019" y="629586"/>
                  </a:lnTo>
                  <a:lnTo>
                    <a:pt x="0" y="629586"/>
                  </a:lnTo>
                  <a:lnTo>
                    <a:pt x="0" y="539645"/>
                  </a:lnTo>
                  <a:close/>
                  <a:moveTo>
                    <a:pt x="218038" y="719527"/>
                  </a:moveTo>
                  <a:lnTo>
                    <a:pt x="3379600" y="719527"/>
                  </a:lnTo>
                  <a:lnTo>
                    <a:pt x="3379600" y="809468"/>
                  </a:lnTo>
                  <a:lnTo>
                    <a:pt x="218038" y="809468"/>
                  </a:lnTo>
                  <a:close/>
                  <a:moveTo>
                    <a:pt x="3488620" y="629586"/>
                  </a:moveTo>
                  <a:lnTo>
                    <a:pt x="3488620" y="719527"/>
                  </a:lnTo>
                  <a:lnTo>
                    <a:pt x="3379600" y="719527"/>
                  </a:lnTo>
                  <a:lnTo>
                    <a:pt x="218038" y="719527"/>
                  </a:lnTo>
                  <a:lnTo>
                    <a:pt x="109019" y="719527"/>
                  </a:lnTo>
                  <a:lnTo>
                    <a:pt x="109019" y="629586"/>
                  </a:lnTo>
                  <a:close/>
                  <a:moveTo>
                    <a:pt x="3488620" y="3147934"/>
                  </a:moveTo>
                  <a:lnTo>
                    <a:pt x="3488620" y="3237875"/>
                  </a:lnTo>
                  <a:lnTo>
                    <a:pt x="109019" y="3237875"/>
                  </a:lnTo>
                  <a:lnTo>
                    <a:pt x="109019" y="3147934"/>
                  </a:lnTo>
                  <a:lnTo>
                    <a:pt x="218038" y="3147934"/>
                  </a:lnTo>
                  <a:lnTo>
                    <a:pt x="3379600" y="3147934"/>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398288" y="2638606"/>
            <a:ext cx="591705" cy="2426039"/>
            <a:chOff x="3155429" y="2289747"/>
            <a:chExt cx="539645" cy="2248524"/>
          </a:xfrm>
        </p:grpSpPr>
        <p:sp>
          <p:nvSpPr>
            <p:cNvPr id="33" name="Rounded Rectangle 4"/>
            <p:cNvSpPr/>
            <p:nvPr/>
          </p:nvSpPr>
          <p:spPr>
            <a:xfrm>
              <a:off x="3155429"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4" name="Rounded Rectangle 5"/>
            <p:cNvSpPr/>
            <p:nvPr/>
          </p:nvSpPr>
          <p:spPr>
            <a:xfrm>
              <a:off x="3155429"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3713268" y="2638603"/>
            <a:ext cx="591705" cy="2426039"/>
            <a:chOff x="2525842" y="2289747"/>
            <a:chExt cx="539645" cy="2248524"/>
          </a:xfrm>
        </p:grpSpPr>
        <p:sp>
          <p:nvSpPr>
            <p:cNvPr id="31" name="Rounded Rectangle 7"/>
            <p:cNvSpPr/>
            <p:nvPr/>
          </p:nvSpPr>
          <p:spPr>
            <a:xfrm>
              <a:off x="2525842"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2" name="Rounded Rectangle 8"/>
            <p:cNvSpPr/>
            <p:nvPr/>
          </p:nvSpPr>
          <p:spPr>
            <a:xfrm>
              <a:off x="2525842"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3015338" y="2638604"/>
            <a:ext cx="591705" cy="2426039"/>
            <a:chOff x="1896255" y="2289747"/>
            <a:chExt cx="539645" cy="2248524"/>
          </a:xfrm>
        </p:grpSpPr>
        <p:sp>
          <p:nvSpPr>
            <p:cNvPr id="29" name="Rounded Rectangle 10"/>
            <p:cNvSpPr/>
            <p:nvPr/>
          </p:nvSpPr>
          <p:spPr>
            <a:xfrm>
              <a:off x="1896255"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Rounded Rectangle 11"/>
            <p:cNvSpPr/>
            <p:nvPr/>
          </p:nvSpPr>
          <p:spPr>
            <a:xfrm>
              <a:off x="1896255" y="2289747"/>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2299367" y="2638603"/>
            <a:ext cx="591705" cy="2426039"/>
            <a:chOff x="1266668" y="2297242"/>
            <a:chExt cx="539645" cy="2248524"/>
          </a:xfrm>
        </p:grpSpPr>
        <p:sp>
          <p:nvSpPr>
            <p:cNvPr id="27" name="Rounded Rectangle 13"/>
            <p:cNvSpPr/>
            <p:nvPr/>
          </p:nvSpPr>
          <p:spPr>
            <a:xfrm>
              <a:off x="1266668" y="2297242"/>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8" name="Rounded Rectangle 14"/>
            <p:cNvSpPr/>
            <p:nvPr/>
          </p:nvSpPr>
          <p:spPr>
            <a:xfrm>
              <a:off x="1266668" y="2297242"/>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1603260" y="2648286"/>
            <a:ext cx="591705" cy="2426039"/>
            <a:chOff x="637081" y="2297242"/>
            <a:chExt cx="539645" cy="2248524"/>
          </a:xfrm>
        </p:grpSpPr>
        <p:sp>
          <p:nvSpPr>
            <p:cNvPr id="25" name="Rounded Rectangle 16"/>
            <p:cNvSpPr/>
            <p:nvPr/>
          </p:nvSpPr>
          <p:spPr>
            <a:xfrm>
              <a:off x="637081" y="2297242"/>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6" name="Rounded Rectangle 17"/>
            <p:cNvSpPr/>
            <p:nvPr/>
          </p:nvSpPr>
          <p:spPr>
            <a:xfrm>
              <a:off x="637081" y="2297242"/>
              <a:ext cx="539645" cy="2248524"/>
            </a:xfrm>
            <a:custGeom>
              <a:avLst/>
              <a:gdLst/>
              <a:ahLst/>
              <a:cxnLst/>
              <a:rect l="0" t="0" r="0" b="0"/>
              <a:pathLst>
                <a:path w="539645" h="2248524">
                  <a:moveTo>
                    <a:pt x="89940" y="179881"/>
                  </a:moveTo>
                  <a:lnTo>
                    <a:pt x="449704" y="179881"/>
                  </a:lnTo>
                  <a:lnTo>
                    <a:pt x="449704" y="2068642"/>
                  </a:lnTo>
                  <a:lnTo>
                    <a:pt x="89940" y="2068642"/>
                  </a:lnTo>
                  <a:close/>
                  <a:moveTo>
                    <a:pt x="0" y="89940"/>
                  </a:moveTo>
                  <a:lnTo>
                    <a:pt x="0" y="0"/>
                  </a:lnTo>
                  <a:lnTo>
                    <a:pt x="539645" y="0"/>
                  </a:lnTo>
                  <a:lnTo>
                    <a:pt x="539645" y="89940"/>
                  </a:lnTo>
                  <a:lnTo>
                    <a:pt x="494675" y="89940"/>
                  </a:lnTo>
                  <a:lnTo>
                    <a:pt x="44970" y="89940"/>
                  </a:lnTo>
                  <a:close/>
                  <a:moveTo>
                    <a:pt x="539645" y="2158583"/>
                  </a:moveTo>
                  <a:lnTo>
                    <a:pt x="539645" y="2248524"/>
                  </a:lnTo>
                  <a:lnTo>
                    <a:pt x="0" y="2248524"/>
                  </a:lnTo>
                  <a:lnTo>
                    <a:pt x="0" y="2158583"/>
                  </a:lnTo>
                  <a:lnTo>
                    <a:pt x="44970" y="2158583"/>
                  </a:lnTo>
                  <a:lnTo>
                    <a:pt x="494675" y="2158583"/>
                  </a:lnTo>
                  <a:close/>
                  <a:moveTo>
                    <a:pt x="44970" y="2158583"/>
                  </a:moveTo>
                  <a:lnTo>
                    <a:pt x="44970" y="2068642"/>
                  </a:lnTo>
                  <a:lnTo>
                    <a:pt x="89940" y="2068642"/>
                  </a:lnTo>
                  <a:lnTo>
                    <a:pt x="449704" y="2068642"/>
                  </a:lnTo>
                  <a:lnTo>
                    <a:pt x="494675" y="2068642"/>
                  </a:lnTo>
                  <a:lnTo>
                    <a:pt x="494675" y="2158583"/>
                  </a:lnTo>
                  <a:close/>
                  <a:moveTo>
                    <a:pt x="494675" y="179881"/>
                  </a:moveTo>
                  <a:lnTo>
                    <a:pt x="449704" y="179881"/>
                  </a:lnTo>
                  <a:lnTo>
                    <a:pt x="89940" y="179881"/>
                  </a:lnTo>
                  <a:lnTo>
                    <a:pt x="44970" y="179881"/>
                  </a:lnTo>
                  <a:lnTo>
                    <a:pt x="44970" y="89940"/>
                  </a:lnTo>
                  <a:lnTo>
                    <a:pt x="494675" y="89940"/>
                  </a:lnTo>
                  <a:close/>
                </a:path>
              </a:pathLst>
            </a:custGeom>
            <a:noFill/>
            <a:ln w="11242">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0" name="Rounded Rectangle 19"/>
          <p:cNvSpPr/>
          <p:nvPr/>
        </p:nvSpPr>
        <p:spPr>
          <a:xfrm>
            <a:off x="5775413" y="1476180"/>
            <a:ext cx="428170" cy="432154"/>
          </a:xfrm>
          <a:custGeom>
            <a:avLst/>
            <a:gdLst/>
            <a:ahLst/>
            <a:cxnLst/>
            <a:rect l="0" t="0" r="0" b="0"/>
            <a:pathLst>
              <a:path w="299803" h="359763">
                <a:moveTo>
                  <a:pt x="251085" y="262327"/>
                </a:moveTo>
                <a:cubicBezTo>
                  <a:pt x="251085" y="268537"/>
                  <a:pt x="246051" y="273570"/>
                  <a:pt x="239842" y="273570"/>
                </a:cubicBezTo>
                <a:lnTo>
                  <a:pt x="67455" y="273570"/>
                </a:lnTo>
                <a:cubicBezTo>
                  <a:pt x="61246" y="273570"/>
                  <a:pt x="56213" y="268537"/>
                  <a:pt x="56213" y="262327"/>
                </a:cubicBezTo>
                <a:cubicBezTo>
                  <a:pt x="56213" y="256118"/>
                  <a:pt x="61246" y="251085"/>
                  <a:pt x="67455" y="251085"/>
                </a:cubicBezTo>
                <a:lnTo>
                  <a:pt x="239842" y="251085"/>
                </a:lnTo>
                <a:cubicBezTo>
                  <a:pt x="246051" y="251085"/>
                  <a:pt x="251085" y="256118"/>
                  <a:pt x="251085" y="262327"/>
                </a:cubicBezTo>
                <a:close/>
                <a:moveTo>
                  <a:pt x="63708" y="138659"/>
                </a:moveTo>
                <a:cubicBezTo>
                  <a:pt x="57499" y="138659"/>
                  <a:pt x="52465" y="133625"/>
                  <a:pt x="52465" y="127416"/>
                </a:cubicBezTo>
                <a:cubicBezTo>
                  <a:pt x="52465" y="121207"/>
                  <a:pt x="57499" y="116173"/>
                  <a:pt x="63708" y="116173"/>
                </a:cubicBezTo>
                <a:lnTo>
                  <a:pt x="101183" y="116173"/>
                </a:lnTo>
                <a:cubicBezTo>
                  <a:pt x="107392" y="116173"/>
                  <a:pt x="112426" y="121207"/>
                  <a:pt x="112426" y="127416"/>
                </a:cubicBezTo>
                <a:cubicBezTo>
                  <a:pt x="112426" y="133625"/>
                  <a:pt x="107392" y="138659"/>
                  <a:pt x="101183" y="138659"/>
                </a:cubicBezTo>
                <a:lnTo>
                  <a:pt x="93688" y="138659"/>
                </a:lnTo>
                <a:lnTo>
                  <a:pt x="93688" y="209862"/>
                </a:lnTo>
                <a:cubicBezTo>
                  <a:pt x="93688" y="216071"/>
                  <a:pt x="88655" y="221104"/>
                  <a:pt x="82445" y="221104"/>
                </a:cubicBezTo>
                <a:cubicBezTo>
                  <a:pt x="76236" y="221104"/>
                  <a:pt x="71203" y="216071"/>
                  <a:pt x="71203" y="209862"/>
                </a:cubicBezTo>
                <a:lnTo>
                  <a:pt x="71203" y="138659"/>
                </a:lnTo>
                <a:close/>
                <a:moveTo>
                  <a:pt x="116173" y="209862"/>
                </a:moveTo>
                <a:lnTo>
                  <a:pt x="116173" y="146154"/>
                </a:lnTo>
                <a:cubicBezTo>
                  <a:pt x="116173" y="129596"/>
                  <a:pt x="129596" y="116173"/>
                  <a:pt x="146154" y="116173"/>
                </a:cubicBezTo>
                <a:cubicBezTo>
                  <a:pt x="162711" y="116173"/>
                  <a:pt x="176134" y="129596"/>
                  <a:pt x="176134" y="146154"/>
                </a:cubicBezTo>
                <a:lnTo>
                  <a:pt x="176134" y="209862"/>
                </a:lnTo>
                <a:cubicBezTo>
                  <a:pt x="176134" y="216071"/>
                  <a:pt x="171100" y="221104"/>
                  <a:pt x="164891" y="221104"/>
                </a:cubicBezTo>
                <a:cubicBezTo>
                  <a:pt x="158682" y="221104"/>
                  <a:pt x="153649" y="216071"/>
                  <a:pt x="153649" y="209862"/>
                </a:cubicBezTo>
                <a:lnTo>
                  <a:pt x="153649" y="194872"/>
                </a:lnTo>
                <a:lnTo>
                  <a:pt x="138659" y="194872"/>
                </a:lnTo>
                <a:lnTo>
                  <a:pt x="138659" y="209862"/>
                </a:lnTo>
                <a:cubicBezTo>
                  <a:pt x="138578" y="216037"/>
                  <a:pt x="133591" y="221024"/>
                  <a:pt x="127416" y="221104"/>
                </a:cubicBezTo>
                <a:cubicBezTo>
                  <a:pt x="121241" y="221024"/>
                  <a:pt x="116254" y="216037"/>
                  <a:pt x="116173" y="209862"/>
                </a:cubicBezTo>
                <a:close/>
                <a:moveTo>
                  <a:pt x="138659" y="146154"/>
                </a:moveTo>
                <a:lnTo>
                  <a:pt x="138659" y="172386"/>
                </a:lnTo>
                <a:lnTo>
                  <a:pt x="153649" y="172386"/>
                </a:lnTo>
                <a:lnTo>
                  <a:pt x="153649" y="146154"/>
                </a:lnTo>
                <a:cubicBezTo>
                  <a:pt x="153649" y="142014"/>
                  <a:pt x="150293" y="138659"/>
                  <a:pt x="146154" y="138659"/>
                </a:cubicBezTo>
                <a:cubicBezTo>
                  <a:pt x="142014" y="138659"/>
                  <a:pt x="138659" y="142014"/>
                  <a:pt x="138659" y="146154"/>
                </a:cubicBezTo>
                <a:close/>
                <a:moveTo>
                  <a:pt x="198469" y="220355"/>
                </a:moveTo>
                <a:cubicBezTo>
                  <a:pt x="195328" y="219583"/>
                  <a:pt x="192671" y="217494"/>
                  <a:pt x="191179" y="214624"/>
                </a:cubicBezTo>
                <a:cubicBezTo>
                  <a:pt x="189686" y="211754"/>
                  <a:pt x="189502" y="208380"/>
                  <a:pt x="190674" y="205365"/>
                </a:cubicBezTo>
                <a:lnTo>
                  <a:pt x="204315" y="168039"/>
                </a:lnTo>
                <a:lnTo>
                  <a:pt x="190674" y="130714"/>
                </a:lnTo>
                <a:cubicBezTo>
                  <a:pt x="189515" y="127836"/>
                  <a:pt x="189579" y="124610"/>
                  <a:pt x="190852" y="121781"/>
                </a:cubicBezTo>
                <a:cubicBezTo>
                  <a:pt x="192125" y="118952"/>
                  <a:pt x="194497" y="116764"/>
                  <a:pt x="197420" y="115724"/>
                </a:cubicBezTo>
                <a:cubicBezTo>
                  <a:pt x="200294" y="114519"/>
                  <a:pt x="203539" y="114561"/>
                  <a:pt x="206381" y="115839"/>
                </a:cubicBezTo>
                <a:cubicBezTo>
                  <a:pt x="209222" y="117118"/>
                  <a:pt x="211406" y="119519"/>
                  <a:pt x="212410" y="122469"/>
                </a:cubicBezTo>
                <a:lnTo>
                  <a:pt x="216907" y="134611"/>
                </a:lnTo>
                <a:lnTo>
                  <a:pt x="221254" y="122469"/>
                </a:lnTo>
                <a:cubicBezTo>
                  <a:pt x="222295" y="119546"/>
                  <a:pt x="224483" y="117175"/>
                  <a:pt x="227312" y="115901"/>
                </a:cubicBezTo>
                <a:cubicBezTo>
                  <a:pt x="230141" y="114628"/>
                  <a:pt x="233367" y="114564"/>
                  <a:pt x="236244" y="115723"/>
                </a:cubicBezTo>
                <a:cubicBezTo>
                  <a:pt x="239167" y="116759"/>
                  <a:pt x="241533" y="118955"/>
                  <a:pt x="242782" y="121793"/>
                </a:cubicBezTo>
                <a:cubicBezTo>
                  <a:pt x="244031" y="124631"/>
                  <a:pt x="244052" y="127859"/>
                  <a:pt x="242840" y="130714"/>
                </a:cubicBezTo>
                <a:lnTo>
                  <a:pt x="229349" y="168039"/>
                </a:lnTo>
                <a:lnTo>
                  <a:pt x="242840" y="205365"/>
                </a:lnTo>
                <a:cubicBezTo>
                  <a:pt x="244099" y="208214"/>
                  <a:pt x="244101" y="211462"/>
                  <a:pt x="242846" y="214313"/>
                </a:cubicBezTo>
                <a:cubicBezTo>
                  <a:pt x="241592" y="217165"/>
                  <a:pt x="239196" y="219357"/>
                  <a:pt x="236244" y="220355"/>
                </a:cubicBezTo>
                <a:cubicBezTo>
                  <a:pt x="235013" y="220878"/>
                  <a:pt x="233685" y="221133"/>
                  <a:pt x="232347" y="221104"/>
                </a:cubicBezTo>
                <a:cubicBezTo>
                  <a:pt x="227632" y="221060"/>
                  <a:pt x="223418" y="218152"/>
                  <a:pt x="221704" y="213759"/>
                </a:cubicBezTo>
                <a:lnTo>
                  <a:pt x="217357" y="201617"/>
                </a:lnTo>
                <a:lnTo>
                  <a:pt x="212860" y="213759"/>
                </a:lnTo>
                <a:cubicBezTo>
                  <a:pt x="211272" y="218184"/>
                  <a:pt x="207067" y="221127"/>
                  <a:pt x="202367" y="221104"/>
                </a:cubicBezTo>
                <a:cubicBezTo>
                  <a:pt x="201028" y="221148"/>
                  <a:pt x="199696" y="220892"/>
                  <a:pt x="198469" y="220355"/>
                </a:cubicBezTo>
                <a:close/>
                <a:moveTo>
                  <a:pt x="299803" y="96086"/>
                </a:moveTo>
                <a:lnTo>
                  <a:pt x="299803" y="329783"/>
                </a:lnTo>
                <a:cubicBezTo>
                  <a:pt x="299803" y="346341"/>
                  <a:pt x="286380" y="359763"/>
                  <a:pt x="269822" y="359763"/>
                </a:cubicBezTo>
                <a:lnTo>
                  <a:pt x="29980" y="359763"/>
                </a:lnTo>
                <a:cubicBezTo>
                  <a:pt x="13422" y="359763"/>
                  <a:pt x="0" y="346341"/>
                  <a:pt x="0" y="329783"/>
                </a:cubicBezTo>
                <a:lnTo>
                  <a:pt x="0" y="29980"/>
                </a:lnTo>
                <a:cubicBezTo>
                  <a:pt x="0" y="13422"/>
                  <a:pt x="13422" y="0"/>
                  <a:pt x="29980" y="0"/>
                </a:cubicBezTo>
                <a:lnTo>
                  <a:pt x="203716" y="0"/>
                </a:lnTo>
                <a:cubicBezTo>
                  <a:pt x="207648" y="16"/>
                  <a:pt x="211417" y="1577"/>
                  <a:pt x="214209" y="4347"/>
                </a:cubicBezTo>
                <a:lnTo>
                  <a:pt x="295456" y="85593"/>
                </a:lnTo>
                <a:cubicBezTo>
                  <a:pt x="298225" y="88385"/>
                  <a:pt x="299786" y="92154"/>
                  <a:pt x="299803" y="96086"/>
                </a:cubicBezTo>
                <a:close/>
                <a:moveTo>
                  <a:pt x="269822" y="104931"/>
                </a:moveTo>
                <a:cubicBezTo>
                  <a:pt x="269860" y="103187"/>
                  <a:pt x="269275" y="101486"/>
                  <a:pt x="268174" y="100134"/>
                </a:cubicBezTo>
                <a:lnTo>
                  <a:pt x="200268" y="32228"/>
                </a:lnTo>
                <a:cubicBezTo>
                  <a:pt x="198858" y="30764"/>
                  <a:pt x="196904" y="29950"/>
                  <a:pt x="194872" y="29980"/>
                </a:cubicBezTo>
                <a:lnTo>
                  <a:pt x="37475" y="29980"/>
                </a:lnTo>
                <a:cubicBezTo>
                  <a:pt x="33336" y="29980"/>
                  <a:pt x="29980" y="33336"/>
                  <a:pt x="29980" y="37475"/>
                </a:cubicBezTo>
                <a:lnTo>
                  <a:pt x="29980" y="322288"/>
                </a:lnTo>
                <a:cubicBezTo>
                  <a:pt x="29980" y="326427"/>
                  <a:pt x="33336" y="329783"/>
                  <a:pt x="37475" y="329783"/>
                </a:cubicBezTo>
                <a:lnTo>
                  <a:pt x="262327" y="329783"/>
                </a:lnTo>
                <a:cubicBezTo>
                  <a:pt x="266467" y="329783"/>
                  <a:pt x="269822" y="326427"/>
                  <a:pt x="269822" y="322288"/>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20"/>
          <p:cNvSpPr/>
          <p:nvPr/>
        </p:nvSpPr>
        <p:spPr>
          <a:xfrm>
            <a:off x="5735004" y="2549296"/>
            <a:ext cx="509071" cy="441683"/>
          </a:xfrm>
          <a:custGeom>
            <a:avLst/>
            <a:gdLst/>
            <a:ahLst/>
            <a:cxnLst/>
            <a:rect l="0" t="0" r="0" b="0"/>
            <a:pathLst>
              <a:path w="359763" h="343174">
                <a:moveTo>
                  <a:pt x="92339" y="295205"/>
                </a:moveTo>
                <a:cubicBezTo>
                  <a:pt x="64607" y="253383"/>
                  <a:pt x="0" y="148452"/>
                  <a:pt x="0" y="103481"/>
                </a:cubicBezTo>
                <a:cubicBezTo>
                  <a:pt x="576" y="46084"/>
                  <a:pt x="47533" y="0"/>
                  <a:pt x="104931" y="499"/>
                </a:cubicBezTo>
                <a:cubicBezTo>
                  <a:pt x="162329" y="0"/>
                  <a:pt x="209285" y="46084"/>
                  <a:pt x="209862" y="103481"/>
                </a:cubicBezTo>
                <a:cubicBezTo>
                  <a:pt x="209862" y="148751"/>
                  <a:pt x="145254" y="252633"/>
                  <a:pt x="117522" y="295205"/>
                </a:cubicBezTo>
                <a:cubicBezTo>
                  <a:pt x="114770" y="299495"/>
                  <a:pt x="110027" y="302092"/>
                  <a:pt x="104931" y="302101"/>
                </a:cubicBezTo>
                <a:cubicBezTo>
                  <a:pt x="99834" y="302092"/>
                  <a:pt x="95091" y="299495"/>
                  <a:pt x="92339" y="295205"/>
                </a:cubicBezTo>
                <a:close/>
                <a:moveTo>
                  <a:pt x="96161" y="198614"/>
                </a:moveTo>
                <a:cubicBezTo>
                  <a:pt x="102903" y="198614"/>
                  <a:pt x="108560" y="193530"/>
                  <a:pt x="109278" y="186826"/>
                </a:cubicBezTo>
                <a:lnTo>
                  <a:pt x="109278" y="186527"/>
                </a:lnTo>
                <a:cubicBezTo>
                  <a:pt x="109328" y="184645"/>
                  <a:pt x="110716" y="183068"/>
                  <a:pt x="112576" y="182779"/>
                </a:cubicBezTo>
                <a:cubicBezTo>
                  <a:pt x="127459" y="180940"/>
                  <a:pt x="139640" y="170061"/>
                  <a:pt x="143144" y="155479"/>
                </a:cubicBezTo>
                <a:cubicBezTo>
                  <a:pt x="146647" y="140898"/>
                  <a:pt x="140738" y="125673"/>
                  <a:pt x="128315" y="117272"/>
                </a:cubicBezTo>
                <a:lnTo>
                  <a:pt x="95787" y="95836"/>
                </a:lnTo>
                <a:cubicBezTo>
                  <a:pt x="92146" y="93523"/>
                  <a:pt x="90496" y="89064"/>
                  <a:pt x="91755" y="84939"/>
                </a:cubicBezTo>
                <a:cubicBezTo>
                  <a:pt x="93013" y="80813"/>
                  <a:pt x="96871" y="78034"/>
                  <a:pt x="101183" y="78148"/>
                </a:cubicBezTo>
                <a:lnTo>
                  <a:pt x="131163" y="78148"/>
                </a:lnTo>
                <a:cubicBezTo>
                  <a:pt x="137867" y="77430"/>
                  <a:pt x="142951" y="71773"/>
                  <a:pt x="142951" y="65031"/>
                </a:cubicBezTo>
                <a:cubicBezTo>
                  <a:pt x="142951" y="58290"/>
                  <a:pt x="137867" y="52633"/>
                  <a:pt x="131163" y="51915"/>
                </a:cubicBezTo>
                <a:cubicBezTo>
                  <a:pt x="129957" y="52130"/>
                  <a:pt x="128722" y="51742"/>
                  <a:pt x="127856" y="50876"/>
                </a:cubicBezTo>
                <a:cubicBezTo>
                  <a:pt x="126989" y="50009"/>
                  <a:pt x="126601" y="48774"/>
                  <a:pt x="126816" y="47568"/>
                </a:cubicBezTo>
                <a:cubicBezTo>
                  <a:pt x="127354" y="42547"/>
                  <a:pt x="124978" y="37660"/>
                  <a:pt x="120697" y="34981"/>
                </a:cubicBezTo>
                <a:cubicBezTo>
                  <a:pt x="116417" y="32303"/>
                  <a:pt x="110983" y="32303"/>
                  <a:pt x="106702" y="34981"/>
                </a:cubicBezTo>
                <a:cubicBezTo>
                  <a:pt x="102422" y="37660"/>
                  <a:pt x="100046" y="42547"/>
                  <a:pt x="100584" y="47568"/>
                </a:cubicBezTo>
                <a:lnTo>
                  <a:pt x="100584" y="49517"/>
                </a:lnTo>
                <a:cubicBezTo>
                  <a:pt x="100593" y="50732"/>
                  <a:pt x="99691" y="51763"/>
                  <a:pt x="98485" y="51915"/>
                </a:cubicBezTo>
                <a:cubicBezTo>
                  <a:pt x="83228" y="53186"/>
                  <a:pt x="70447" y="63973"/>
                  <a:pt x="66631" y="78799"/>
                </a:cubicBezTo>
                <a:cubicBezTo>
                  <a:pt x="62814" y="93625"/>
                  <a:pt x="68799" y="109243"/>
                  <a:pt x="81546" y="117722"/>
                </a:cubicBezTo>
                <a:lnTo>
                  <a:pt x="114075" y="139158"/>
                </a:lnTo>
                <a:cubicBezTo>
                  <a:pt x="117716" y="141471"/>
                  <a:pt x="119366" y="145929"/>
                  <a:pt x="118107" y="150055"/>
                </a:cubicBezTo>
                <a:cubicBezTo>
                  <a:pt x="116848" y="154181"/>
                  <a:pt x="112990" y="156960"/>
                  <a:pt x="108678" y="156846"/>
                </a:cubicBezTo>
                <a:lnTo>
                  <a:pt x="78698" y="156846"/>
                </a:lnTo>
                <a:cubicBezTo>
                  <a:pt x="71994" y="157564"/>
                  <a:pt x="66911" y="163221"/>
                  <a:pt x="66911" y="169962"/>
                </a:cubicBezTo>
                <a:cubicBezTo>
                  <a:pt x="66911" y="176704"/>
                  <a:pt x="71994" y="182361"/>
                  <a:pt x="78698" y="183079"/>
                </a:cubicBezTo>
                <a:cubicBezTo>
                  <a:pt x="81696" y="183079"/>
                  <a:pt x="83045" y="184728"/>
                  <a:pt x="83045" y="186826"/>
                </a:cubicBezTo>
                <a:cubicBezTo>
                  <a:pt x="83763" y="193530"/>
                  <a:pt x="89420" y="198614"/>
                  <a:pt x="96162" y="198614"/>
                </a:cubicBezTo>
                <a:close/>
                <a:moveTo>
                  <a:pt x="149901" y="343174"/>
                </a:moveTo>
                <a:cubicBezTo>
                  <a:pt x="141622" y="343174"/>
                  <a:pt x="134911" y="336462"/>
                  <a:pt x="134911" y="328184"/>
                </a:cubicBezTo>
                <a:cubicBezTo>
                  <a:pt x="134911" y="319905"/>
                  <a:pt x="141622" y="313193"/>
                  <a:pt x="149901" y="313193"/>
                </a:cubicBezTo>
                <a:lnTo>
                  <a:pt x="179881" y="313193"/>
                </a:lnTo>
                <a:cubicBezTo>
                  <a:pt x="188160" y="313193"/>
                  <a:pt x="194872" y="319905"/>
                  <a:pt x="194872" y="328184"/>
                </a:cubicBezTo>
                <a:cubicBezTo>
                  <a:pt x="194872" y="336462"/>
                  <a:pt x="188160" y="343174"/>
                  <a:pt x="179881" y="343174"/>
                </a:cubicBezTo>
                <a:close/>
                <a:moveTo>
                  <a:pt x="239842" y="298203"/>
                </a:moveTo>
                <a:cubicBezTo>
                  <a:pt x="239842" y="289924"/>
                  <a:pt x="246553" y="283213"/>
                  <a:pt x="254832" y="283213"/>
                </a:cubicBezTo>
                <a:cubicBezTo>
                  <a:pt x="263111" y="283213"/>
                  <a:pt x="269822" y="289924"/>
                  <a:pt x="269822" y="298203"/>
                </a:cubicBezTo>
                <a:lnTo>
                  <a:pt x="269822" y="313193"/>
                </a:lnTo>
                <a:cubicBezTo>
                  <a:pt x="269822" y="329751"/>
                  <a:pt x="256400" y="343174"/>
                  <a:pt x="239842" y="343174"/>
                </a:cubicBezTo>
                <a:lnTo>
                  <a:pt x="224852" y="343174"/>
                </a:lnTo>
                <a:cubicBezTo>
                  <a:pt x="216573" y="343174"/>
                  <a:pt x="209862" y="336462"/>
                  <a:pt x="209862" y="328184"/>
                </a:cubicBezTo>
                <a:cubicBezTo>
                  <a:pt x="209862" y="319905"/>
                  <a:pt x="216573" y="313193"/>
                  <a:pt x="224852" y="313193"/>
                </a:cubicBezTo>
                <a:lnTo>
                  <a:pt x="236095" y="313193"/>
                </a:lnTo>
                <a:cubicBezTo>
                  <a:pt x="238164" y="313193"/>
                  <a:pt x="239842" y="311516"/>
                  <a:pt x="239842" y="309446"/>
                </a:cubicBezTo>
                <a:close/>
                <a:moveTo>
                  <a:pt x="239842" y="234945"/>
                </a:moveTo>
                <a:cubicBezTo>
                  <a:pt x="239842" y="226666"/>
                  <a:pt x="246553" y="219955"/>
                  <a:pt x="254832" y="219955"/>
                </a:cubicBezTo>
                <a:cubicBezTo>
                  <a:pt x="263111" y="219955"/>
                  <a:pt x="269822" y="226666"/>
                  <a:pt x="269822" y="234945"/>
                </a:cubicBezTo>
                <a:lnTo>
                  <a:pt x="269822" y="253683"/>
                </a:lnTo>
                <a:cubicBezTo>
                  <a:pt x="269822" y="261961"/>
                  <a:pt x="263111" y="268673"/>
                  <a:pt x="254832" y="268673"/>
                </a:cubicBezTo>
                <a:cubicBezTo>
                  <a:pt x="246553" y="268673"/>
                  <a:pt x="239842" y="261961"/>
                  <a:pt x="239842" y="253683"/>
                </a:cubicBezTo>
                <a:close/>
                <a:moveTo>
                  <a:pt x="239842" y="193272"/>
                </a:moveTo>
                <a:lnTo>
                  <a:pt x="239842" y="178282"/>
                </a:lnTo>
                <a:cubicBezTo>
                  <a:pt x="239842" y="161724"/>
                  <a:pt x="253265" y="148302"/>
                  <a:pt x="269822" y="148302"/>
                </a:cubicBezTo>
                <a:lnTo>
                  <a:pt x="284813" y="148302"/>
                </a:lnTo>
                <a:cubicBezTo>
                  <a:pt x="293091" y="148302"/>
                  <a:pt x="299803" y="155013"/>
                  <a:pt x="299803" y="163292"/>
                </a:cubicBezTo>
                <a:cubicBezTo>
                  <a:pt x="299803" y="171571"/>
                  <a:pt x="293091" y="178282"/>
                  <a:pt x="284813" y="178282"/>
                </a:cubicBezTo>
                <a:lnTo>
                  <a:pt x="273570" y="178282"/>
                </a:lnTo>
                <a:cubicBezTo>
                  <a:pt x="271500" y="178282"/>
                  <a:pt x="269822" y="179960"/>
                  <a:pt x="269822" y="182030"/>
                </a:cubicBezTo>
                <a:lnTo>
                  <a:pt x="269822" y="193272"/>
                </a:lnTo>
                <a:cubicBezTo>
                  <a:pt x="269822" y="201551"/>
                  <a:pt x="263111" y="208262"/>
                  <a:pt x="254832" y="208262"/>
                </a:cubicBezTo>
                <a:cubicBezTo>
                  <a:pt x="246553" y="208262"/>
                  <a:pt x="239842" y="201551"/>
                  <a:pt x="239842" y="193272"/>
                </a:cubicBezTo>
                <a:close/>
                <a:moveTo>
                  <a:pt x="359763" y="163292"/>
                </a:moveTo>
                <a:cubicBezTo>
                  <a:pt x="359763" y="171571"/>
                  <a:pt x="353052" y="178282"/>
                  <a:pt x="344773" y="178282"/>
                </a:cubicBezTo>
                <a:lnTo>
                  <a:pt x="329783" y="178282"/>
                </a:lnTo>
                <a:cubicBezTo>
                  <a:pt x="321504" y="178282"/>
                  <a:pt x="314793" y="171571"/>
                  <a:pt x="314793" y="163292"/>
                </a:cubicBezTo>
                <a:cubicBezTo>
                  <a:pt x="314793" y="155013"/>
                  <a:pt x="321504" y="148302"/>
                  <a:pt x="329783" y="148302"/>
                </a:cubicBezTo>
                <a:lnTo>
                  <a:pt x="344773" y="148302"/>
                </a:lnTo>
                <a:cubicBezTo>
                  <a:pt x="353052" y="148302"/>
                  <a:pt x="359763" y="155013"/>
                  <a:pt x="359763" y="163292"/>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21"/>
          <p:cNvSpPr/>
          <p:nvPr/>
        </p:nvSpPr>
        <p:spPr>
          <a:xfrm>
            <a:off x="5736334" y="3652734"/>
            <a:ext cx="389012" cy="417141"/>
          </a:xfrm>
          <a:custGeom>
            <a:avLst/>
            <a:gdLst/>
            <a:ahLst/>
            <a:cxnLst/>
            <a:rect l="0" t="0" r="0" b="0"/>
            <a:pathLst>
              <a:path w="278683" h="359763">
                <a:moveTo>
                  <a:pt x="79512" y="154398"/>
                </a:moveTo>
                <a:cubicBezTo>
                  <a:pt x="71321" y="146960"/>
                  <a:pt x="60594" y="142937"/>
                  <a:pt x="49531" y="143156"/>
                </a:cubicBezTo>
                <a:cubicBezTo>
                  <a:pt x="35612" y="143071"/>
                  <a:pt x="22438" y="149436"/>
                  <a:pt x="13855" y="160394"/>
                </a:cubicBezTo>
                <a:cubicBezTo>
                  <a:pt x="11877" y="163123"/>
                  <a:pt x="8369" y="164272"/>
                  <a:pt x="5160" y="163242"/>
                </a:cubicBezTo>
                <a:cubicBezTo>
                  <a:pt x="2008" y="162061"/>
                  <a:pt x="0" y="158957"/>
                  <a:pt x="214" y="155597"/>
                </a:cubicBezTo>
                <a:cubicBezTo>
                  <a:pt x="6236" y="100132"/>
                  <a:pt x="42563" y="52601"/>
                  <a:pt x="94502" y="32228"/>
                </a:cubicBezTo>
                <a:cubicBezTo>
                  <a:pt x="66320" y="74950"/>
                  <a:pt x="75764" y="136860"/>
                  <a:pt x="79512" y="154398"/>
                </a:cubicBezTo>
                <a:close/>
                <a:moveTo>
                  <a:pt x="272885" y="163242"/>
                </a:moveTo>
                <a:cubicBezTo>
                  <a:pt x="269642" y="164293"/>
                  <a:pt x="266096" y="163070"/>
                  <a:pt x="264190" y="160244"/>
                </a:cubicBezTo>
                <a:cubicBezTo>
                  <a:pt x="256012" y="149297"/>
                  <a:pt x="243076" y="142940"/>
                  <a:pt x="229413" y="143156"/>
                </a:cubicBezTo>
                <a:cubicBezTo>
                  <a:pt x="218339" y="143181"/>
                  <a:pt x="207664" y="147291"/>
                  <a:pt x="199433" y="154698"/>
                </a:cubicBezTo>
                <a:cubicBezTo>
                  <a:pt x="203180" y="137309"/>
                  <a:pt x="212924" y="74950"/>
                  <a:pt x="184443" y="32378"/>
                </a:cubicBezTo>
                <a:cubicBezTo>
                  <a:pt x="236220" y="52815"/>
                  <a:pt x="272410" y="100259"/>
                  <a:pt x="278431" y="155597"/>
                </a:cubicBezTo>
                <a:cubicBezTo>
                  <a:pt x="278683" y="159154"/>
                  <a:pt x="276344" y="162378"/>
                  <a:pt x="272885" y="163242"/>
                </a:cubicBezTo>
                <a:close/>
                <a:moveTo>
                  <a:pt x="176648" y="154998"/>
                </a:moveTo>
                <a:cubicBezTo>
                  <a:pt x="170184" y="149829"/>
                  <a:pt x="162577" y="146283"/>
                  <a:pt x="154462" y="144655"/>
                </a:cubicBezTo>
                <a:lnTo>
                  <a:pt x="154462" y="189625"/>
                </a:lnTo>
                <a:lnTo>
                  <a:pt x="124482" y="189625"/>
                </a:lnTo>
                <a:lnTo>
                  <a:pt x="124482" y="144655"/>
                </a:lnTo>
                <a:cubicBezTo>
                  <a:pt x="116493" y="146339"/>
                  <a:pt x="109034" y="149940"/>
                  <a:pt x="102746" y="155148"/>
                </a:cubicBezTo>
                <a:cubicBezTo>
                  <a:pt x="94502" y="111976"/>
                  <a:pt x="94502" y="59061"/>
                  <a:pt x="124482" y="32228"/>
                </a:cubicBezTo>
                <a:lnTo>
                  <a:pt x="124482" y="14990"/>
                </a:lnTo>
                <a:cubicBezTo>
                  <a:pt x="124482" y="6711"/>
                  <a:pt x="131193" y="0"/>
                  <a:pt x="139472" y="0"/>
                </a:cubicBezTo>
                <a:cubicBezTo>
                  <a:pt x="147751" y="0"/>
                  <a:pt x="154462" y="6711"/>
                  <a:pt x="154462" y="14990"/>
                </a:cubicBezTo>
                <a:lnTo>
                  <a:pt x="154462" y="31929"/>
                </a:lnTo>
                <a:cubicBezTo>
                  <a:pt x="185342" y="58611"/>
                  <a:pt x="184443" y="111676"/>
                  <a:pt x="176648" y="154998"/>
                </a:cubicBezTo>
                <a:close/>
                <a:moveTo>
                  <a:pt x="230762" y="228300"/>
                </a:moveTo>
                <a:lnTo>
                  <a:pt x="230762" y="344773"/>
                </a:lnTo>
                <a:cubicBezTo>
                  <a:pt x="230762" y="353052"/>
                  <a:pt x="224051" y="359763"/>
                  <a:pt x="215772" y="359763"/>
                </a:cubicBezTo>
                <a:lnTo>
                  <a:pt x="64521" y="359763"/>
                </a:lnTo>
                <a:cubicBezTo>
                  <a:pt x="56243" y="359763"/>
                  <a:pt x="49531" y="353052"/>
                  <a:pt x="49531" y="344773"/>
                </a:cubicBezTo>
                <a:lnTo>
                  <a:pt x="49531" y="228300"/>
                </a:lnTo>
                <a:cubicBezTo>
                  <a:pt x="49531" y="220021"/>
                  <a:pt x="56243" y="213310"/>
                  <a:pt x="64521" y="213310"/>
                </a:cubicBezTo>
                <a:lnTo>
                  <a:pt x="215772" y="213310"/>
                </a:lnTo>
                <a:cubicBezTo>
                  <a:pt x="224051" y="213310"/>
                  <a:pt x="230762" y="220021"/>
                  <a:pt x="230762" y="228300"/>
                </a:cubicBezTo>
                <a:close/>
                <a:moveTo>
                  <a:pt x="174849" y="227850"/>
                </a:moveTo>
                <a:lnTo>
                  <a:pt x="105894" y="227850"/>
                </a:lnTo>
                <a:lnTo>
                  <a:pt x="105894" y="277917"/>
                </a:lnTo>
                <a:cubicBezTo>
                  <a:pt x="105801" y="281151"/>
                  <a:pt x="107607" y="284142"/>
                  <a:pt x="110514" y="285563"/>
                </a:cubicBezTo>
                <a:cubicBezTo>
                  <a:pt x="113421" y="286984"/>
                  <a:pt x="116891" y="286573"/>
                  <a:pt x="119385" y="284513"/>
                </a:cubicBezTo>
                <a:lnTo>
                  <a:pt x="134376" y="272371"/>
                </a:lnTo>
                <a:cubicBezTo>
                  <a:pt x="137384" y="270072"/>
                  <a:pt x="141560" y="270072"/>
                  <a:pt x="144569" y="272371"/>
                </a:cubicBezTo>
                <a:lnTo>
                  <a:pt x="160908" y="284813"/>
                </a:lnTo>
                <a:cubicBezTo>
                  <a:pt x="163406" y="286777"/>
                  <a:pt x="166811" y="287132"/>
                  <a:pt x="169659" y="285723"/>
                </a:cubicBezTo>
                <a:cubicBezTo>
                  <a:pt x="172508" y="284315"/>
                  <a:pt x="174294" y="281395"/>
                  <a:pt x="174249" y="278217"/>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2"/>
          <p:cNvSpPr/>
          <p:nvPr/>
        </p:nvSpPr>
        <p:spPr>
          <a:xfrm>
            <a:off x="5742407" y="4707967"/>
            <a:ext cx="418179" cy="424146"/>
          </a:xfrm>
          <a:custGeom>
            <a:avLst/>
            <a:gdLst/>
            <a:ahLst/>
            <a:cxnLst/>
            <a:rect l="0" t="0" r="0" b="0"/>
            <a:pathLst>
              <a:path w="337278" h="359824">
                <a:moveTo>
                  <a:pt x="26232" y="263437"/>
                </a:moveTo>
                <a:lnTo>
                  <a:pt x="26232" y="225812"/>
                </a:lnTo>
                <a:cubicBezTo>
                  <a:pt x="26232" y="213394"/>
                  <a:pt x="36299" y="203327"/>
                  <a:pt x="48718" y="203327"/>
                </a:cubicBezTo>
                <a:lnTo>
                  <a:pt x="88591" y="203327"/>
                </a:lnTo>
                <a:cubicBezTo>
                  <a:pt x="101010" y="203327"/>
                  <a:pt x="111077" y="213394"/>
                  <a:pt x="111077" y="225812"/>
                </a:cubicBezTo>
                <a:lnTo>
                  <a:pt x="111077" y="262388"/>
                </a:lnTo>
                <a:lnTo>
                  <a:pt x="37475" y="262388"/>
                </a:lnTo>
                <a:cubicBezTo>
                  <a:pt x="33701" y="262351"/>
                  <a:pt x="29934" y="262703"/>
                  <a:pt x="26232" y="263437"/>
                </a:cubicBezTo>
                <a:close/>
                <a:moveTo>
                  <a:pt x="127116" y="262388"/>
                </a:moveTo>
                <a:lnTo>
                  <a:pt x="127116" y="225812"/>
                </a:lnTo>
                <a:cubicBezTo>
                  <a:pt x="127116" y="213394"/>
                  <a:pt x="137183" y="203327"/>
                  <a:pt x="149601" y="203327"/>
                </a:cubicBezTo>
                <a:lnTo>
                  <a:pt x="189475" y="203327"/>
                </a:lnTo>
                <a:cubicBezTo>
                  <a:pt x="201893" y="203327"/>
                  <a:pt x="211960" y="213394"/>
                  <a:pt x="211960" y="225812"/>
                </a:cubicBezTo>
                <a:lnTo>
                  <a:pt x="211960" y="262388"/>
                </a:lnTo>
                <a:close/>
                <a:moveTo>
                  <a:pt x="228150" y="262388"/>
                </a:moveTo>
                <a:lnTo>
                  <a:pt x="228150" y="225812"/>
                </a:lnTo>
                <a:cubicBezTo>
                  <a:pt x="228150" y="213394"/>
                  <a:pt x="238217" y="203327"/>
                  <a:pt x="250635" y="203327"/>
                </a:cubicBezTo>
                <a:lnTo>
                  <a:pt x="290509" y="203327"/>
                </a:lnTo>
                <a:cubicBezTo>
                  <a:pt x="302927" y="203327"/>
                  <a:pt x="312994" y="213394"/>
                  <a:pt x="312994" y="225812"/>
                </a:cubicBezTo>
                <a:lnTo>
                  <a:pt x="312994" y="263887"/>
                </a:lnTo>
                <a:cubicBezTo>
                  <a:pt x="308673" y="262862"/>
                  <a:pt x="304244" y="262359"/>
                  <a:pt x="299803" y="262388"/>
                </a:cubicBezTo>
                <a:close/>
                <a:moveTo>
                  <a:pt x="337278" y="322349"/>
                </a:moveTo>
                <a:cubicBezTo>
                  <a:pt x="337278" y="343046"/>
                  <a:pt x="320500" y="359824"/>
                  <a:pt x="299803" y="359824"/>
                </a:cubicBezTo>
                <a:lnTo>
                  <a:pt x="37475" y="359824"/>
                </a:lnTo>
                <a:cubicBezTo>
                  <a:pt x="16778" y="359824"/>
                  <a:pt x="0" y="343046"/>
                  <a:pt x="0" y="322349"/>
                </a:cubicBezTo>
                <a:cubicBezTo>
                  <a:pt x="0" y="301652"/>
                  <a:pt x="16778" y="284873"/>
                  <a:pt x="37475" y="284873"/>
                </a:cubicBezTo>
                <a:lnTo>
                  <a:pt x="299803" y="284873"/>
                </a:lnTo>
                <a:cubicBezTo>
                  <a:pt x="320500" y="284873"/>
                  <a:pt x="337278" y="301652"/>
                  <a:pt x="337278" y="322349"/>
                </a:cubicBezTo>
                <a:close/>
                <a:moveTo>
                  <a:pt x="71203" y="322349"/>
                </a:moveTo>
                <a:cubicBezTo>
                  <a:pt x="71203" y="314070"/>
                  <a:pt x="64491" y="307358"/>
                  <a:pt x="56213" y="307358"/>
                </a:cubicBezTo>
                <a:cubicBezTo>
                  <a:pt x="47934" y="307358"/>
                  <a:pt x="41222" y="314070"/>
                  <a:pt x="41222" y="322349"/>
                </a:cubicBezTo>
                <a:cubicBezTo>
                  <a:pt x="41222" y="330627"/>
                  <a:pt x="47934" y="337339"/>
                  <a:pt x="56213" y="337339"/>
                </a:cubicBezTo>
                <a:cubicBezTo>
                  <a:pt x="64491" y="337339"/>
                  <a:pt x="71203" y="330627"/>
                  <a:pt x="71203" y="322349"/>
                </a:cubicBezTo>
                <a:close/>
                <a:moveTo>
                  <a:pt x="146154" y="322349"/>
                </a:moveTo>
                <a:cubicBezTo>
                  <a:pt x="146154" y="314070"/>
                  <a:pt x="139442" y="307358"/>
                  <a:pt x="131163" y="307358"/>
                </a:cubicBezTo>
                <a:cubicBezTo>
                  <a:pt x="122885" y="307358"/>
                  <a:pt x="116173" y="314070"/>
                  <a:pt x="116173" y="322349"/>
                </a:cubicBezTo>
                <a:cubicBezTo>
                  <a:pt x="116173" y="330627"/>
                  <a:pt x="122885" y="337339"/>
                  <a:pt x="131163" y="337339"/>
                </a:cubicBezTo>
                <a:cubicBezTo>
                  <a:pt x="139442" y="337339"/>
                  <a:pt x="146154" y="330627"/>
                  <a:pt x="146154" y="322349"/>
                </a:cubicBezTo>
                <a:close/>
                <a:moveTo>
                  <a:pt x="206714" y="337339"/>
                </a:moveTo>
                <a:cubicBezTo>
                  <a:pt x="214758" y="337017"/>
                  <a:pt x="221111" y="330399"/>
                  <a:pt x="221104" y="322349"/>
                </a:cubicBezTo>
                <a:cubicBezTo>
                  <a:pt x="221104" y="314070"/>
                  <a:pt x="214393" y="307358"/>
                  <a:pt x="206114" y="307358"/>
                </a:cubicBezTo>
                <a:cubicBezTo>
                  <a:pt x="197835" y="307358"/>
                  <a:pt x="191124" y="314070"/>
                  <a:pt x="191124" y="322349"/>
                </a:cubicBezTo>
                <a:cubicBezTo>
                  <a:pt x="191124" y="330627"/>
                  <a:pt x="197835" y="337339"/>
                  <a:pt x="206114" y="337339"/>
                </a:cubicBezTo>
                <a:close/>
                <a:moveTo>
                  <a:pt x="281665" y="337339"/>
                </a:moveTo>
                <a:cubicBezTo>
                  <a:pt x="289708" y="337017"/>
                  <a:pt x="296062" y="330399"/>
                  <a:pt x="296055" y="322349"/>
                </a:cubicBezTo>
                <a:cubicBezTo>
                  <a:pt x="296055" y="314070"/>
                  <a:pt x="289344" y="307358"/>
                  <a:pt x="281065" y="307358"/>
                </a:cubicBezTo>
                <a:cubicBezTo>
                  <a:pt x="272786" y="307358"/>
                  <a:pt x="266075" y="314070"/>
                  <a:pt x="266075" y="322349"/>
                </a:cubicBezTo>
                <a:cubicBezTo>
                  <a:pt x="266075" y="330627"/>
                  <a:pt x="272786" y="337339"/>
                  <a:pt x="281065" y="337339"/>
                </a:cubicBezTo>
                <a:close/>
                <a:moveTo>
                  <a:pt x="260828" y="92250"/>
                </a:moveTo>
                <a:cubicBezTo>
                  <a:pt x="260889" y="129625"/>
                  <a:pt x="238413" y="163350"/>
                  <a:pt x="203895" y="177681"/>
                </a:cubicBezTo>
                <a:cubicBezTo>
                  <a:pt x="169377" y="192012"/>
                  <a:pt x="129623" y="184121"/>
                  <a:pt x="103195" y="157693"/>
                </a:cubicBezTo>
                <a:cubicBezTo>
                  <a:pt x="76767" y="131265"/>
                  <a:pt x="68876" y="91512"/>
                  <a:pt x="83207" y="56993"/>
                </a:cubicBezTo>
                <a:cubicBezTo>
                  <a:pt x="97538" y="22475"/>
                  <a:pt x="131264" y="0"/>
                  <a:pt x="168639" y="60"/>
                </a:cubicBezTo>
                <a:cubicBezTo>
                  <a:pt x="219520" y="143"/>
                  <a:pt x="260746" y="41369"/>
                  <a:pt x="260828" y="92250"/>
                </a:cubicBezTo>
                <a:close/>
                <a:moveTo>
                  <a:pt x="168639" y="162104"/>
                </a:moveTo>
                <a:cubicBezTo>
                  <a:pt x="207160" y="162021"/>
                  <a:pt x="238343" y="130770"/>
                  <a:pt x="238343" y="92250"/>
                </a:cubicBezTo>
                <a:cubicBezTo>
                  <a:pt x="238343" y="53651"/>
                  <a:pt x="207038" y="22368"/>
                  <a:pt x="168439" y="22396"/>
                </a:cubicBezTo>
                <a:cubicBezTo>
                  <a:pt x="129840" y="22423"/>
                  <a:pt x="98580" y="53751"/>
                  <a:pt x="98635" y="92350"/>
                </a:cubicBezTo>
                <a:cubicBezTo>
                  <a:pt x="98690" y="130949"/>
                  <a:pt x="130040" y="162187"/>
                  <a:pt x="168639" y="162104"/>
                </a:cubicBezTo>
                <a:close/>
                <a:moveTo>
                  <a:pt x="215708" y="92250"/>
                </a:moveTo>
                <a:cubicBezTo>
                  <a:pt x="215708" y="98459"/>
                  <a:pt x="210674" y="103492"/>
                  <a:pt x="204465" y="103492"/>
                </a:cubicBezTo>
                <a:lnTo>
                  <a:pt x="168639" y="103492"/>
                </a:lnTo>
                <a:cubicBezTo>
                  <a:pt x="162430" y="103492"/>
                  <a:pt x="157396" y="98459"/>
                  <a:pt x="157396" y="92250"/>
                </a:cubicBezTo>
                <a:lnTo>
                  <a:pt x="157396" y="56573"/>
                </a:lnTo>
                <a:cubicBezTo>
                  <a:pt x="157396" y="50364"/>
                  <a:pt x="162430" y="45330"/>
                  <a:pt x="168639" y="45330"/>
                </a:cubicBezTo>
                <a:cubicBezTo>
                  <a:pt x="174848" y="45330"/>
                  <a:pt x="179881" y="50364"/>
                  <a:pt x="179881" y="56573"/>
                </a:cubicBezTo>
                <a:lnTo>
                  <a:pt x="179881" y="81007"/>
                </a:lnTo>
                <a:lnTo>
                  <a:pt x="204465" y="81007"/>
                </a:lnTo>
                <a:cubicBezTo>
                  <a:pt x="210674" y="81007"/>
                  <a:pt x="215708" y="86040"/>
                  <a:pt x="215708" y="9225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TextBox 25"/>
          <p:cNvSpPr txBox="1"/>
          <p:nvPr/>
        </p:nvSpPr>
        <p:spPr>
          <a:xfrm>
            <a:off x="6501276" y="1597306"/>
            <a:ext cx="1226298"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1EABDA"/>
                </a:solidFill>
              </a:rPr>
              <a:t>Indirect Tax</a:t>
            </a:r>
          </a:p>
        </p:txBody>
      </p:sp>
      <p:sp>
        <p:nvSpPr>
          <p:cNvPr id="17" name="TextBox 27"/>
          <p:cNvSpPr txBox="1"/>
          <p:nvPr/>
        </p:nvSpPr>
        <p:spPr>
          <a:xfrm>
            <a:off x="5731544" y="1948127"/>
            <a:ext cx="4815878"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0" dirty="0">
                <a:solidFill>
                  <a:srgbClr val="484848"/>
                </a:solidFill>
                <a:cs typeface="Times New Roman" panose="02020603050405020304" pitchFamily="18" charset="0"/>
              </a:rPr>
              <a:t>GST is an indirect tax, meaning it is</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collected from intermediaries rather</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than directly from consumers.</a:t>
            </a:r>
          </a:p>
        </p:txBody>
      </p:sp>
      <p:sp>
        <p:nvSpPr>
          <p:cNvPr id="18" name="TextBox 28"/>
          <p:cNvSpPr txBox="1"/>
          <p:nvPr/>
        </p:nvSpPr>
        <p:spPr>
          <a:xfrm>
            <a:off x="6497209" y="2692462"/>
            <a:ext cx="1896352"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3CC583"/>
                </a:solidFill>
              </a:rPr>
              <a:t>Destination-Based</a:t>
            </a:r>
          </a:p>
        </p:txBody>
      </p:sp>
      <p:sp>
        <p:nvSpPr>
          <p:cNvPr id="19" name="TextBox 29"/>
          <p:cNvSpPr txBox="1"/>
          <p:nvPr/>
        </p:nvSpPr>
        <p:spPr>
          <a:xfrm>
            <a:off x="5731544" y="3059995"/>
            <a:ext cx="5145004"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0" dirty="0">
                <a:solidFill>
                  <a:srgbClr val="484848"/>
                </a:solidFill>
                <a:cs typeface="Times New Roman" panose="02020603050405020304" pitchFamily="18" charset="0"/>
              </a:rPr>
              <a:t>The tax is collected at the point of</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consumption, not origin, ensuring</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revenue accrues where goods are</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used.</a:t>
            </a:r>
          </a:p>
        </p:txBody>
      </p:sp>
      <p:sp>
        <p:nvSpPr>
          <p:cNvPr id="20" name="TextBox 30"/>
          <p:cNvSpPr txBox="1"/>
          <p:nvPr/>
        </p:nvSpPr>
        <p:spPr>
          <a:xfrm>
            <a:off x="6497209" y="3804145"/>
            <a:ext cx="159659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92BD39"/>
                </a:solidFill>
              </a:rPr>
              <a:t>Comprehensive</a:t>
            </a:r>
          </a:p>
        </p:txBody>
      </p:sp>
      <p:sp>
        <p:nvSpPr>
          <p:cNvPr id="21" name="TextBox 31"/>
          <p:cNvSpPr txBox="1"/>
          <p:nvPr/>
        </p:nvSpPr>
        <p:spPr>
          <a:xfrm>
            <a:off x="5731544" y="4111922"/>
            <a:ext cx="4845350"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0" dirty="0">
                <a:solidFill>
                  <a:srgbClr val="484848"/>
                </a:solidFill>
                <a:cs typeface="Times New Roman" panose="02020603050405020304" pitchFamily="18" charset="0"/>
              </a:rPr>
              <a:t>GST covers a wide range of goods and</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services, simplifying the tax system.</a:t>
            </a:r>
          </a:p>
        </p:txBody>
      </p:sp>
      <p:sp>
        <p:nvSpPr>
          <p:cNvPr id="22" name="TextBox 32"/>
          <p:cNvSpPr txBox="1"/>
          <p:nvPr/>
        </p:nvSpPr>
        <p:spPr>
          <a:xfrm>
            <a:off x="6497209" y="4824336"/>
            <a:ext cx="1210267"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0CB15"/>
                </a:solidFill>
              </a:rPr>
              <a:t>Multi-Stage</a:t>
            </a:r>
          </a:p>
        </p:txBody>
      </p:sp>
      <p:sp>
        <p:nvSpPr>
          <p:cNvPr id="23" name="TextBox 33"/>
          <p:cNvSpPr txBox="1"/>
          <p:nvPr/>
        </p:nvSpPr>
        <p:spPr>
          <a:xfrm>
            <a:off x="5731544" y="5191328"/>
            <a:ext cx="5039046"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0" dirty="0">
                <a:solidFill>
                  <a:srgbClr val="484848"/>
                </a:solidFill>
                <a:cs typeface="Times New Roman" panose="02020603050405020304" pitchFamily="18" charset="0"/>
              </a:rPr>
              <a:t>GST is applied at each stage of</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production and distribution, with credit</a:t>
            </a:r>
            <a:r>
              <a:rPr lang="en-US" b="0" dirty="0">
                <a:solidFill>
                  <a:srgbClr val="484848"/>
                </a:solidFill>
                <a:cs typeface="Times New Roman" panose="02020603050405020304" pitchFamily="18" charset="0"/>
              </a:rPr>
              <a:t> </a:t>
            </a:r>
            <a:r>
              <a:rPr b="0" dirty="0">
                <a:solidFill>
                  <a:srgbClr val="484848"/>
                </a:solidFill>
                <a:cs typeface="Times New Roman" panose="02020603050405020304" pitchFamily="18" charset="0"/>
              </a:rPr>
              <a:t>for taxes paid earlier.</a:t>
            </a:r>
          </a:p>
        </p:txBody>
      </p:sp>
    </p:spTree>
    <p:extLst>
      <p:ext uri="{BB962C8B-B14F-4D97-AF65-F5344CB8AC3E}">
        <p14:creationId xmlns:p14="http://schemas.microsoft.com/office/powerpoint/2010/main" val="944690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cs typeface="Times New Roman" panose="02020603050405020304" pitchFamily="18" charset="0"/>
              </a:rPr>
              <a:t>Need of GST</a:t>
            </a:r>
          </a:p>
        </p:txBody>
      </p:sp>
      <p:grpSp>
        <p:nvGrpSpPr>
          <p:cNvPr id="34" name="Group 33">
            <a:extLst>
              <a:ext uri="{FF2B5EF4-FFF2-40B4-BE49-F238E27FC236}">
                <a16:creationId xmlns:a16="http://schemas.microsoft.com/office/drawing/2014/main" id="{CF378D49-48B4-7F3C-E9DD-DD113B816A53}"/>
              </a:ext>
            </a:extLst>
          </p:cNvPr>
          <p:cNvGrpSpPr/>
          <p:nvPr/>
        </p:nvGrpSpPr>
        <p:grpSpPr>
          <a:xfrm>
            <a:off x="1345518" y="1382714"/>
            <a:ext cx="9500963" cy="4259046"/>
            <a:chOff x="1226800" y="2091713"/>
            <a:chExt cx="9099786" cy="3996178"/>
          </a:xfrm>
        </p:grpSpPr>
        <p:grpSp>
          <p:nvGrpSpPr>
            <p:cNvPr id="4" name="Group 3"/>
            <p:cNvGrpSpPr/>
            <p:nvPr/>
          </p:nvGrpSpPr>
          <p:grpSpPr>
            <a:xfrm>
              <a:off x="4584074" y="2577331"/>
              <a:ext cx="1133313" cy="1206664"/>
              <a:chOff x="1779722" y="1916244"/>
              <a:chExt cx="1133313" cy="1206664"/>
            </a:xfrm>
          </p:grpSpPr>
          <p:sp>
            <p:nvSpPr>
              <p:cNvPr id="32" name="Rounded Rectangle 1"/>
              <p:cNvSpPr/>
              <p:nvPr/>
            </p:nvSpPr>
            <p:spPr>
              <a:xfrm>
                <a:off x="1779722" y="1916244"/>
                <a:ext cx="1133313" cy="1206664"/>
              </a:xfrm>
              <a:custGeom>
                <a:avLst/>
                <a:gdLst/>
                <a:ahLst/>
                <a:cxnLst/>
                <a:rect l="0" t="0" r="0" b="0"/>
                <a:pathLst>
                  <a:path w="1133313" h="1206664">
                    <a:moveTo>
                      <a:pt x="486043" y="189108"/>
                    </a:moveTo>
                    <a:cubicBezTo>
                      <a:pt x="682006" y="64331"/>
                      <a:pt x="899845" y="0"/>
                      <a:pt x="1133313" y="1993"/>
                    </a:cubicBezTo>
                    <a:lnTo>
                      <a:pt x="1133313" y="316803"/>
                    </a:lnTo>
                    <a:cubicBezTo>
                      <a:pt x="947887" y="315218"/>
                      <a:pt x="775684" y="368967"/>
                      <a:pt x="623958" y="474939"/>
                    </a:cubicBezTo>
                    <a:cubicBezTo>
                      <a:pt x="472232" y="580912"/>
                      <a:pt x="355765" y="730088"/>
                      <a:pt x="293822" y="904447"/>
                    </a:cubicBezTo>
                    <a:lnTo>
                      <a:pt x="0" y="799510"/>
                    </a:lnTo>
                    <a:cubicBezTo>
                      <a:pt x="77244" y="582084"/>
                      <a:pt x="214650" y="392564"/>
                      <a:pt x="396600" y="251950"/>
                    </a:cubicBezTo>
                    <a:lnTo>
                      <a:pt x="377055" y="132114"/>
                    </a:lnTo>
                    <a:close/>
                    <a:moveTo>
                      <a:pt x="952822" y="1135307"/>
                    </a:moveTo>
                    <a:cubicBezTo>
                      <a:pt x="969612" y="1093332"/>
                      <a:pt x="989548" y="1067368"/>
                      <a:pt x="1024179" y="1042963"/>
                    </a:cubicBezTo>
                    <a:cubicBezTo>
                      <a:pt x="1058810" y="1018556"/>
                      <a:pt x="1090946" y="1005219"/>
                      <a:pt x="1133313" y="1005186"/>
                    </a:cubicBezTo>
                    <a:lnTo>
                      <a:pt x="1133313" y="1206664"/>
                    </a:ln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2"/>
              <p:cNvSpPr/>
              <p:nvPr/>
            </p:nvSpPr>
            <p:spPr>
              <a:xfrm>
                <a:off x="1779722" y="1916244"/>
                <a:ext cx="1133313" cy="1206664"/>
              </a:xfrm>
              <a:custGeom>
                <a:avLst/>
                <a:gdLst/>
                <a:ahLst/>
                <a:cxnLst/>
                <a:rect l="0" t="0" r="0" b="0"/>
                <a:pathLst>
                  <a:path w="1133313" h="1206664">
                    <a:moveTo>
                      <a:pt x="486043" y="189108"/>
                    </a:moveTo>
                    <a:cubicBezTo>
                      <a:pt x="682006" y="64331"/>
                      <a:pt x="899845" y="0"/>
                      <a:pt x="1133313" y="1993"/>
                    </a:cubicBezTo>
                    <a:lnTo>
                      <a:pt x="1133313" y="316803"/>
                    </a:lnTo>
                    <a:cubicBezTo>
                      <a:pt x="947887" y="315218"/>
                      <a:pt x="775684" y="368967"/>
                      <a:pt x="623958" y="474939"/>
                    </a:cubicBezTo>
                    <a:cubicBezTo>
                      <a:pt x="472232" y="580912"/>
                      <a:pt x="355765" y="730088"/>
                      <a:pt x="293822" y="904447"/>
                    </a:cubicBezTo>
                    <a:lnTo>
                      <a:pt x="0" y="799510"/>
                    </a:lnTo>
                    <a:cubicBezTo>
                      <a:pt x="77244" y="582084"/>
                      <a:pt x="214650" y="392564"/>
                      <a:pt x="396600" y="251950"/>
                    </a:cubicBezTo>
                    <a:lnTo>
                      <a:pt x="377055" y="132114"/>
                    </a:lnTo>
                    <a:close/>
                    <a:moveTo>
                      <a:pt x="952822" y="1135307"/>
                    </a:moveTo>
                    <a:cubicBezTo>
                      <a:pt x="969612" y="1093332"/>
                      <a:pt x="989548" y="1067368"/>
                      <a:pt x="1024179" y="1042963"/>
                    </a:cubicBezTo>
                    <a:cubicBezTo>
                      <a:pt x="1058810" y="1018556"/>
                      <a:pt x="1090946" y="1005219"/>
                      <a:pt x="1133313" y="1005186"/>
                    </a:cubicBezTo>
                    <a:lnTo>
                      <a:pt x="1133313" y="1206664"/>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458150" y="3376842"/>
              <a:ext cx="1259237" cy="1372568"/>
              <a:chOff x="1653798" y="2715755"/>
              <a:chExt cx="1259237" cy="1372568"/>
            </a:xfrm>
          </p:grpSpPr>
          <p:sp>
            <p:nvSpPr>
              <p:cNvPr id="30" name="Rounded Rectangle 4"/>
              <p:cNvSpPr/>
              <p:nvPr/>
            </p:nvSpPr>
            <p:spPr>
              <a:xfrm>
                <a:off x="1653798" y="2715755"/>
                <a:ext cx="1259237" cy="1372568"/>
              </a:xfrm>
              <a:custGeom>
                <a:avLst/>
                <a:gdLst/>
                <a:ahLst/>
                <a:cxnLst/>
                <a:rect l="0" t="0" r="0" b="0"/>
                <a:pathLst>
                  <a:path w="1259237" h="1372568">
                    <a:moveTo>
                      <a:pt x="0" y="768073"/>
                    </a:moveTo>
                    <a:lnTo>
                      <a:pt x="90086" y="682125"/>
                    </a:lnTo>
                    <a:cubicBezTo>
                      <a:pt x="35539" y="454002"/>
                      <a:pt x="46317" y="221761"/>
                      <a:pt x="125923" y="0"/>
                    </a:cubicBezTo>
                    <a:lnTo>
                      <a:pt x="419745" y="104936"/>
                    </a:lnTo>
                    <a:cubicBezTo>
                      <a:pt x="354676" y="286198"/>
                      <a:pt x="354186" y="477538"/>
                      <a:pt x="410335" y="661758"/>
                    </a:cubicBezTo>
                    <a:cubicBezTo>
                      <a:pt x="466484" y="845979"/>
                      <a:pt x="575248" y="1002369"/>
                      <a:pt x="730357" y="1116523"/>
                    </a:cubicBezTo>
                    <a:lnTo>
                      <a:pt x="545669" y="1372568"/>
                    </a:lnTo>
                    <a:cubicBezTo>
                      <a:pt x="345820" y="1225488"/>
                      <a:pt x="199921" y="1022721"/>
                      <a:pt x="120634" y="788210"/>
                    </a:cubicBezTo>
                    <a:close/>
                    <a:moveTo>
                      <a:pt x="1133313" y="554064"/>
                    </a:moveTo>
                    <a:cubicBezTo>
                      <a:pt x="1100622" y="527113"/>
                      <a:pt x="1084735" y="498312"/>
                      <a:pt x="1073507" y="457460"/>
                    </a:cubicBezTo>
                    <a:cubicBezTo>
                      <a:pt x="1062279" y="416607"/>
                      <a:pt x="1064419" y="375669"/>
                      <a:pt x="1078745" y="335796"/>
                    </a:cubicBezTo>
                    <a:lnTo>
                      <a:pt x="1259237" y="407153"/>
                    </a:ln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5"/>
              <p:cNvSpPr/>
              <p:nvPr/>
            </p:nvSpPr>
            <p:spPr>
              <a:xfrm>
                <a:off x="1653798" y="2715755"/>
                <a:ext cx="1259237" cy="1372568"/>
              </a:xfrm>
              <a:custGeom>
                <a:avLst/>
                <a:gdLst/>
                <a:ahLst/>
                <a:cxnLst/>
                <a:rect l="0" t="0" r="0" b="0"/>
                <a:pathLst>
                  <a:path w="1259237" h="1372568">
                    <a:moveTo>
                      <a:pt x="0" y="768073"/>
                    </a:moveTo>
                    <a:lnTo>
                      <a:pt x="90086" y="682125"/>
                    </a:lnTo>
                    <a:cubicBezTo>
                      <a:pt x="35539" y="454002"/>
                      <a:pt x="46317" y="221761"/>
                      <a:pt x="125923" y="0"/>
                    </a:cubicBezTo>
                    <a:lnTo>
                      <a:pt x="419745" y="104936"/>
                    </a:lnTo>
                    <a:cubicBezTo>
                      <a:pt x="354676" y="286198"/>
                      <a:pt x="354186" y="477538"/>
                      <a:pt x="410335" y="661758"/>
                    </a:cubicBezTo>
                    <a:cubicBezTo>
                      <a:pt x="466484" y="845979"/>
                      <a:pt x="575248" y="1002369"/>
                      <a:pt x="730357" y="1116523"/>
                    </a:cubicBezTo>
                    <a:lnTo>
                      <a:pt x="545669" y="1372568"/>
                    </a:lnTo>
                    <a:cubicBezTo>
                      <a:pt x="345820" y="1225488"/>
                      <a:pt x="199921" y="1022721"/>
                      <a:pt x="120634" y="788210"/>
                    </a:cubicBezTo>
                    <a:close/>
                    <a:moveTo>
                      <a:pt x="1133313" y="554064"/>
                    </a:moveTo>
                    <a:cubicBezTo>
                      <a:pt x="1100622" y="527113"/>
                      <a:pt x="1084735" y="498312"/>
                      <a:pt x="1073507" y="457460"/>
                    </a:cubicBezTo>
                    <a:cubicBezTo>
                      <a:pt x="1062279" y="416607"/>
                      <a:pt x="1064419" y="375669"/>
                      <a:pt x="1078745" y="335796"/>
                    </a:cubicBezTo>
                    <a:lnTo>
                      <a:pt x="1259237" y="407153"/>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5003819" y="3783995"/>
              <a:ext cx="1435530" cy="1309442"/>
              <a:chOff x="2199467" y="3122908"/>
              <a:chExt cx="1435530" cy="1309442"/>
            </a:xfrm>
          </p:grpSpPr>
          <p:sp>
            <p:nvSpPr>
              <p:cNvPr id="28" name="Rounded Rectangle 7"/>
              <p:cNvSpPr/>
              <p:nvPr/>
            </p:nvSpPr>
            <p:spPr>
              <a:xfrm>
                <a:off x="2199467" y="3122908"/>
                <a:ext cx="1435530" cy="1309442"/>
              </a:xfrm>
              <a:custGeom>
                <a:avLst/>
                <a:gdLst/>
                <a:ahLst/>
                <a:cxnLst/>
                <a:rect l="0" t="0" r="0" b="0"/>
                <a:pathLst>
                  <a:path w="1435530" h="1309442">
                    <a:moveTo>
                      <a:pt x="715830" y="1309442"/>
                    </a:moveTo>
                    <a:lnTo>
                      <a:pt x="660096" y="1199833"/>
                    </a:lnTo>
                    <a:cubicBezTo>
                      <a:pt x="420014" y="1188308"/>
                      <a:pt x="193141" y="1109966"/>
                      <a:pt x="0" y="965415"/>
                    </a:cubicBezTo>
                    <a:lnTo>
                      <a:pt x="184688" y="709370"/>
                    </a:lnTo>
                    <a:cubicBezTo>
                      <a:pt x="339117" y="824948"/>
                      <a:pt x="525404" y="887458"/>
                      <a:pt x="718294" y="887382"/>
                    </a:cubicBezTo>
                    <a:cubicBezTo>
                      <a:pt x="911185" y="887307"/>
                      <a:pt x="1092306" y="829267"/>
                      <a:pt x="1246644" y="713567"/>
                    </a:cubicBezTo>
                    <a:lnTo>
                      <a:pt x="1435530" y="965415"/>
                    </a:lnTo>
                    <a:cubicBezTo>
                      <a:pt x="1240582" y="1111557"/>
                      <a:pt x="1012201" y="1189723"/>
                      <a:pt x="769574" y="1200115"/>
                    </a:cubicBezTo>
                    <a:close/>
                    <a:moveTo>
                      <a:pt x="843688" y="155305"/>
                    </a:moveTo>
                    <a:cubicBezTo>
                      <a:pt x="806839" y="185539"/>
                      <a:pt x="765168" y="201538"/>
                      <a:pt x="717504" y="201477"/>
                    </a:cubicBezTo>
                    <a:cubicBezTo>
                      <a:pt x="669839" y="201417"/>
                      <a:pt x="624416" y="177237"/>
                      <a:pt x="587644" y="146911"/>
                    </a:cubicBezTo>
                    <a:lnTo>
                      <a:pt x="713567" y="0"/>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8"/>
              <p:cNvSpPr/>
              <p:nvPr/>
            </p:nvSpPr>
            <p:spPr>
              <a:xfrm>
                <a:off x="2199467" y="3122908"/>
                <a:ext cx="1435530" cy="1309442"/>
              </a:xfrm>
              <a:custGeom>
                <a:avLst/>
                <a:gdLst/>
                <a:ahLst/>
                <a:cxnLst/>
                <a:rect l="0" t="0" r="0" b="0"/>
                <a:pathLst>
                  <a:path w="1435530" h="1309442">
                    <a:moveTo>
                      <a:pt x="715830" y="1309442"/>
                    </a:moveTo>
                    <a:lnTo>
                      <a:pt x="660096" y="1199833"/>
                    </a:lnTo>
                    <a:cubicBezTo>
                      <a:pt x="420014" y="1188308"/>
                      <a:pt x="193141" y="1109966"/>
                      <a:pt x="0" y="965415"/>
                    </a:cubicBezTo>
                    <a:lnTo>
                      <a:pt x="184688" y="709370"/>
                    </a:lnTo>
                    <a:cubicBezTo>
                      <a:pt x="339117" y="824948"/>
                      <a:pt x="525404" y="887458"/>
                      <a:pt x="718294" y="887382"/>
                    </a:cubicBezTo>
                    <a:cubicBezTo>
                      <a:pt x="911185" y="887307"/>
                      <a:pt x="1092306" y="829267"/>
                      <a:pt x="1246644" y="713567"/>
                    </a:cubicBezTo>
                    <a:lnTo>
                      <a:pt x="1435530" y="965415"/>
                    </a:lnTo>
                    <a:cubicBezTo>
                      <a:pt x="1240582" y="1111557"/>
                      <a:pt x="1012201" y="1189723"/>
                      <a:pt x="769574" y="1200115"/>
                    </a:cubicBezTo>
                    <a:close/>
                    <a:moveTo>
                      <a:pt x="843688" y="155305"/>
                    </a:moveTo>
                    <a:cubicBezTo>
                      <a:pt x="806839" y="185539"/>
                      <a:pt x="765168" y="201538"/>
                      <a:pt x="717504" y="201477"/>
                    </a:cubicBezTo>
                    <a:cubicBezTo>
                      <a:pt x="669839" y="201417"/>
                      <a:pt x="624416" y="177237"/>
                      <a:pt x="587644" y="146911"/>
                    </a:cubicBezTo>
                    <a:lnTo>
                      <a:pt x="713567" y="0"/>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5717387" y="3381039"/>
              <a:ext cx="1269456" cy="1368371"/>
              <a:chOff x="2913035" y="2719952"/>
              <a:chExt cx="1269456" cy="1368371"/>
            </a:xfrm>
          </p:grpSpPr>
          <p:sp>
            <p:nvSpPr>
              <p:cNvPr id="26" name="Rounded Rectangle 10"/>
              <p:cNvSpPr/>
              <p:nvPr/>
            </p:nvSpPr>
            <p:spPr>
              <a:xfrm>
                <a:off x="2913035" y="2719952"/>
                <a:ext cx="1269456" cy="1368371"/>
              </a:xfrm>
              <a:custGeom>
                <a:avLst/>
                <a:gdLst/>
                <a:ahLst/>
                <a:cxnLst/>
                <a:rect l="0" t="0" r="0" b="0"/>
                <a:pathLst>
                  <a:path w="1269456" h="1368371">
                    <a:moveTo>
                      <a:pt x="1269456" y="763876"/>
                    </a:moveTo>
                    <a:lnTo>
                      <a:pt x="1147029" y="784312"/>
                    </a:lnTo>
                    <a:cubicBezTo>
                      <a:pt x="1068010" y="1018035"/>
                      <a:pt x="920991" y="1221661"/>
                      <a:pt x="721962" y="1368371"/>
                    </a:cubicBezTo>
                    <a:lnTo>
                      <a:pt x="533077" y="1116523"/>
                    </a:lnTo>
                    <a:cubicBezTo>
                      <a:pt x="686989" y="1003070"/>
                      <a:pt x="801168" y="842935"/>
                      <a:pt x="857348" y="660166"/>
                    </a:cubicBezTo>
                    <a:cubicBezTo>
                      <a:pt x="913527" y="477397"/>
                      <a:pt x="911500" y="285252"/>
                      <a:pt x="847886" y="104936"/>
                    </a:cubicBezTo>
                    <a:lnTo>
                      <a:pt x="1141708" y="0"/>
                    </a:lnTo>
                    <a:cubicBezTo>
                      <a:pt x="1218961" y="218974"/>
                      <a:pt x="1231337" y="451727"/>
                      <a:pt x="1177956" y="676579"/>
                    </a:cubicBezTo>
                    <a:close/>
                    <a:moveTo>
                      <a:pt x="197769" y="339994"/>
                    </a:moveTo>
                    <a:cubicBezTo>
                      <a:pt x="212070" y="379874"/>
                      <a:pt x="209021" y="414803"/>
                      <a:pt x="197769" y="455649"/>
                    </a:cubicBezTo>
                    <a:cubicBezTo>
                      <a:pt x="186517" y="496496"/>
                      <a:pt x="162925" y="532870"/>
                      <a:pt x="130219" y="559802"/>
                    </a:cubicBezTo>
                    <a:lnTo>
                      <a:pt x="0" y="402955"/>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11"/>
              <p:cNvSpPr/>
              <p:nvPr/>
            </p:nvSpPr>
            <p:spPr>
              <a:xfrm>
                <a:off x="2913035" y="2719952"/>
                <a:ext cx="1269456" cy="1368371"/>
              </a:xfrm>
              <a:custGeom>
                <a:avLst/>
                <a:gdLst/>
                <a:ahLst/>
                <a:cxnLst/>
                <a:rect l="0" t="0" r="0" b="0"/>
                <a:pathLst>
                  <a:path w="1269456" h="1368371">
                    <a:moveTo>
                      <a:pt x="1269456" y="763876"/>
                    </a:moveTo>
                    <a:lnTo>
                      <a:pt x="1147029" y="784312"/>
                    </a:lnTo>
                    <a:cubicBezTo>
                      <a:pt x="1068010" y="1018035"/>
                      <a:pt x="920991" y="1221661"/>
                      <a:pt x="721962" y="1368371"/>
                    </a:cubicBezTo>
                    <a:lnTo>
                      <a:pt x="533077" y="1116523"/>
                    </a:lnTo>
                    <a:cubicBezTo>
                      <a:pt x="686989" y="1003070"/>
                      <a:pt x="801168" y="842935"/>
                      <a:pt x="857348" y="660166"/>
                    </a:cubicBezTo>
                    <a:cubicBezTo>
                      <a:pt x="913527" y="477397"/>
                      <a:pt x="911500" y="285252"/>
                      <a:pt x="847886" y="104936"/>
                    </a:cubicBezTo>
                    <a:lnTo>
                      <a:pt x="1141708" y="0"/>
                    </a:lnTo>
                    <a:cubicBezTo>
                      <a:pt x="1218961" y="218974"/>
                      <a:pt x="1231337" y="451727"/>
                      <a:pt x="1177956" y="676579"/>
                    </a:cubicBezTo>
                    <a:close/>
                    <a:moveTo>
                      <a:pt x="197769" y="339994"/>
                    </a:moveTo>
                    <a:cubicBezTo>
                      <a:pt x="212070" y="379874"/>
                      <a:pt x="209021" y="414803"/>
                      <a:pt x="197769" y="455649"/>
                    </a:cubicBezTo>
                    <a:cubicBezTo>
                      <a:pt x="186517" y="496496"/>
                      <a:pt x="162925" y="532870"/>
                      <a:pt x="130219" y="559802"/>
                    </a:cubicBezTo>
                    <a:lnTo>
                      <a:pt x="0" y="402955"/>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5717387" y="2579201"/>
              <a:ext cx="1141708" cy="1204793"/>
              <a:chOff x="2913035" y="1918114"/>
              <a:chExt cx="1141708" cy="1204793"/>
            </a:xfrm>
          </p:grpSpPr>
          <p:sp>
            <p:nvSpPr>
              <p:cNvPr id="24" name="Rounded Rectangle 13"/>
              <p:cNvSpPr/>
              <p:nvPr/>
            </p:nvSpPr>
            <p:spPr>
              <a:xfrm>
                <a:off x="2913035" y="1918114"/>
                <a:ext cx="1141708" cy="1204793"/>
              </a:xfrm>
              <a:custGeom>
                <a:avLst/>
                <a:gdLst/>
                <a:ahLst/>
                <a:cxnLst/>
                <a:rect l="0" t="0" r="0" b="0"/>
                <a:pathLst>
                  <a:path w="1141708" h="1204793">
                    <a:moveTo>
                      <a:pt x="741804" y="252335"/>
                    </a:moveTo>
                    <a:cubicBezTo>
                      <a:pt x="925694" y="394683"/>
                      <a:pt x="1064356" y="581760"/>
                      <a:pt x="1141708" y="801837"/>
                    </a:cubicBezTo>
                    <a:lnTo>
                      <a:pt x="847886" y="906774"/>
                    </a:lnTo>
                    <a:cubicBezTo>
                      <a:pt x="786439" y="731951"/>
                      <a:pt x="669869" y="585454"/>
                      <a:pt x="518637" y="478368"/>
                    </a:cubicBezTo>
                    <a:cubicBezTo>
                      <a:pt x="367405" y="371282"/>
                      <a:pt x="185306" y="314833"/>
                      <a:pt x="0" y="314932"/>
                    </a:cubicBezTo>
                    <a:lnTo>
                      <a:pt x="0" y="123"/>
                    </a:lnTo>
                    <a:cubicBezTo>
                      <a:pt x="230484" y="0"/>
                      <a:pt x="456936" y="65020"/>
                      <a:pt x="650704" y="188297"/>
                    </a:cubicBezTo>
                    <a:lnTo>
                      <a:pt x="761717" y="130244"/>
                    </a:lnTo>
                    <a:close/>
                    <a:moveTo>
                      <a:pt x="0" y="1003315"/>
                    </a:moveTo>
                    <a:cubicBezTo>
                      <a:pt x="43232" y="1003315"/>
                      <a:pt x="85409" y="1016667"/>
                      <a:pt x="120766" y="1041543"/>
                    </a:cubicBezTo>
                    <a:cubicBezTo>
                      <a:pt x="156124" y="1066421"/>
                      <a:pt x="182678" y="1101140"/>
                      <a:pt x="197280" y="1141831"/>
                    </a:cubicBezTo>
                    <a:lnTo>
                      <a:pt x="0" y="1204793"/>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14"/>
              <p:cNvSpPr/>
              <p:nvPr/>
            </p:nvSpPr>
            <p:spPr>
              <a:xfrm>
                <a:off x="2913035" y="1918114"/>
                <a:ext cx="1141708" cy="1204793"/>
              </a:xfrm>
              <a:custGeom>
                <a:avLst/>
                <a:gdLst/>
                <a:ahLst/>
                <a:cxnLst/>
                <a:rect l="0" t="0" r="0" b="0"/>
                <a:pathLst>
                  <a:path w="1141708" h="1204793">
                    <a:moveTo>
                      <a:pt x="741804" y="252335"/>
                    </a:moveTo>
                    <a:cubicBezTo>
                      <a:pt x="925694" y="394683"/>
                      <a:pt x="1064356" y="581760"/>
                      <a:pt x="1141708" y="801837"/>
                    </a:cubicBezTo>
                    <a:lnTo>
                      <a:pt x="847886" y="906774"/>
                    </a:lnTo>
                    <a:cubicBezTo>
                      <a:pt x="786439" y="731951"/>
                      <a:pt x="669869" y="585454"/>
                      <a:pt x="518637" y="478368"/>
                    </a:cubicBezTo>
                    <a:cubicBezTo>
                      <a:pt x="367405" y="371282"/>
                      <a:pt x="185306" y="314833"/>
                      <a:pt x="0" y="314932"/>
                    </a:cubicBezTo>
                    <a:lnTo>
                      <a:pt x="0" y="123"/>
                    </a:lnTo>
                    <a:cubicBezTo>
                      <a:pt x="230484" y="0"/>
                      <a:pt x="456936" y="65020"/>
                      <a:pt x="650704" y="188297"/>
                    </a:cubicBezTo>
                    <a:lnTo>
                      <a:pt x="761717" y="130244"/>
                    </a:lnTo>
                    <a:close/>
                    <a:moveTo>
                      <a:pt x="0" y="1003315"/>
                    </a:moveTo>
                    <a:cubicBezTo>
                      <a:pt x="43232" y="1003315"/>
                      <a:pt x="85409" y="1016667"/>
                      <a:pt x="120766" y="1041543"/>
                    </a:cubicBezTo>
                    <a:cubicBezTo>
                      <a:pt x="156124" y="1066421"/>
                      <a:pt x="182678" y="1101140"/>
                      <a:pt x="197280" y="1141831"/>
                    </a:cubicBezTo>
                    <a:lnTo>
                      <a:pt x="0" y="1204793"/>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9" name="Rounded Rectangle 16"/>
            <p:cNvSpPr/>
            <p:nvPr/>
          </p:nvSpPr>
          <p:spPr>
            <a:xfrm>
              <a:off x="5272470" y="3133389"/>
              <a:ext cx="302203" cy="302216"/>
            </a:xfrm>
            <a:custGeom>
              <a:avLst/>
              <a:gdLst/>
              <a:ahLst/>
              <a:cxnLst/>
              <a:rect l="0" t="0" r="0" b="0"/>
              <a:pathLst>
                <a:path w="302203" h="302216">
                  <a:moveTo>
                    <a:pt x="103873" y="0"/>
                  </a:moveTo>
                  <a:cubicBezTo>
                    <a:pt x="110827" y="0"/>
                    <a:pt x="116465" y="5637"/>
                    <a:pt x="116465" y="12592"/>
                  </a:cubicBezTo>
                  <a:lnTo>
                    <a:pt x="116465" y="124639"/>
                  </a:lnTo>
                  <a:cubicBezTo>
                    <a:pt x="116465" y="131593"/>
                    <a:pt x="110827" y="137231"/>
                    <a:pt x="103873" y="137231"/>
                  </a:cubicBezTo>
                  <a:cubicBezTo>
                    <a:pt x="96918" y="137231"/>
                    <a:pt x="91281" y="131593"/>
                    <a:pt x="91281" y="124639"/>
                  </a:cubicBezTo>
                  <a:lnTo>
                    <a:pt x="91281" y="12592"/>
                  </a:lnTo>
                  <a:cubicBezTo>
                    <a:pt x="91281" y="5637"/>
                    <a:pt x="96918" y="0"/>
                    <a:pt x="103873" y="0"/>
                  </a:cubicBezTo>
                  <a:close/>
                  <a:moveTo>
                    <a:pt x="53503" y="178673"/>
                  </a:moveTo>
                  <a:cubicBezTo>
                    <a:pt x="53503" y="185627"/>
                    <a:pt x="47866" y="191265"/>
                    <a:pt x="40911" y="191265"/>
                  </a:cubicBezTo>
                  <a:cubicBezTo>
                    <a:pt x="33956" y="191265"/>
                    <a:pt x="28319" y="185627"/>
                    <a:pt x="28319" y="178673"/>
                  </a:cubicBezTo>
                  <a:lnTo>
                    <a:pt x="28319" y="75390"/>
                  </a:lnTo>
                  <a:cubicBezTo>
                    <a:pt x="28319" y="68435"/>
                    <a:pt x="33956" y="62798"/>
                    <a:pt x="40911" y="62798"/>
                  </a:cubicBezTo>
                  <a:cubicBezTo>
                    <a:pt x="47866" y="62798"/>
                    <a:pt x="53503" y="68435"/>
                    <a:pt x="53503" y="75390"/>
                  </a:cubicBezTo>
                  <a:close/>
                  <a:moveTo>
                    <a:pt x="286311" y="148564"/>
                  </a:moveTo>
                  <a:lnTo>
                    <a:pt x="264955" y="128631"/>
                  </a:lnTo>
                  <a:lnTo>
                    <a:pt x="242389" y="147620"/>
                  </a:lnTo>
                  <a:lnTo>
                    <a:pt x="242389" y="289624"/>
                  </a:lnTo>
                  <a:cubicBezTo>
                    <a:pt x="242389" y="296579"/>
                    <a:pt x="236751" y="302216"/>
                    <a:pt x="229797" y="302216"/>
                  </a:cubicBezTo>
                  <a:cubicBezTo>
                    <a:pt x="222842" y="302216"/>
                    <a:pt x="217204" y="296579"/>
                    <a:pt x="217204" y="289624"/>
                  </a:cubicBezTo>
                  <a:lnTo>
                    <a:pt x="217204" y="168813"/>
                  </a:lnTo>
                  <a:lnTo>
                    <a:pt x="179427" y="200609"/>
                  </a:lnTo>
                  <a:lnTo>
                    <a:pt x="179427" y="252691"/>
                  </a:lnTo>
                  <a:cubicBezTo>
                    <a:pt x="179427" y="259645"/>
                    <a:pt x="173789" y="265283"/>
                    <a:pt x="166835" y="265283"/>
                  </a:cubicBezTo>
                  <a:cubicBezTo>
                    <a:pt x="159880" y="265283"/>
                    <a:pt x="154242" y="259645"/>
                    <a:pt x="154242" y="252691"/>
                  </a:cubicBezTo>
                  <a:lnTo>
                    <a:pt x="154242" y="201918"/>
                  </a:lnTo>
                  <a:lnTo>
                    <a:pt x="128592" y="171684"/>
                  </a:lnTo>
                  <a:lnTo>
                    <a:pt x="116465" y="181279"/>
                  </a:lnTo>
                  <a:lnTo>
                    <a:pt x="116465" y="237907"/>
                  </a:lnTo>
                  <a:cubicBezTo>
                    <a:pt x="116465" y="244862"/>
                    <a:pt x="110827" y="250500"/>
                    <a:pt x="103873" y="250500"/>
                  </a:cubicBezTo>
                  <a:cubicBezTo>
                    <a:pt x="96918" y="250500"/>
                    <a:pt x="91281" y="244862"/>
                    <a:pt x="91281" y="237907"/>
                  </a:cubicBezTo>
                  <a:lnTo>
                    <a:pt x="91281" y="201226"/>
                  </a:lnTo>
                  <a:lnTo>
                    <a:pt x="53503" y="231133"/>
                  </a:lnTo>
                  <a:lnTo>
                    <a:pt x="53503" y="284700"/>
                  </a:lnTo>
                  <a:cubicBezTo>
                    <a:pt x="53503" y="291655"/>
                    <a:pt x="47866" y="297293"/>
                    <a:pt x="40911" y="297293"/>
                  </a:cubicBezTo>
                  <a:cubicBezTo>
                    <a:pt x="33956" y="297293"/>
                    <a:pt x="28319" y="291655"/>
                    <a:pt x="28319" y="284700"/>
                  </a:cubicBezTo>
                  <a:lnTo>
                    <a:pt x="28319" y="251066"/>
                  </a:lnTo>
                  <a:lnTo>
                    <a:pt x="21771" y="256254"/>
                  </a:lnTo>
                  <a:cubicBezTo>
                    <a:pt x="16311" y="260418"/>
                    <a:pt x="8522" y="259440"/>
                    <a:pt x="4261" y="254056"/>
                  </a:cubicBezTo>
                  <a:cubicBezTo>
                    <a:pt x="0" y="248672"/>
                    <a:pt x="837" y="240867"/>
                    <a:pt x="6143" y="236509"/>
                  </a:cubicBezTo>
                  <a:lnTo>
                    <a:pt x="94517" y="166546"/>
                  </a:lnTo>
                  <a:cubicBezTo>
                    <a:pt x="95465" y="165486"/>
                    <a:pt x="96585" y="164592"/>
                    <a:pt x="97829" y="163902"/>
                  </a:cubicBezTo>
                  <a:lnTo>
                    <a:pt x="122510" y="144384"/>
                  </a:lnTo>
                  <a:cubicBezTo>
                    <a:pt x="127831" y="140172"/>
                    <a:pt x="135533" y="140935"/>
                    <a:pt x="139925" y="146109"/>
                  </a:cubicBezTo>
                  <a:lnTo>
                    <a:pt x="167061" y="178093"/>
                  </a:lnTo>
                  <a:lnTo>
                    <a:pt x="246406" y="111329"/>
                  </a:lnTo>
                  <a:lnTo>
                    <a:pt x="229658" y="95676"/>
                  </a:lnTo>
                  <a:cubicBezTo>
                    <a:pt x="226826" y="93030"/>
                    <a:pt x="225898" y="88922"/>
                    <a:pt x="227318" y="85316"/>
                  </a:cubicBezTo>
                  <a:cubicBezTo>
                    <a:pt x="228738" y="81710"/>
                    <a:pt x="232217" y="79337"/>
                    <a:pt x="236093" y="79331"/>
                  </a:cubicBezTo>
                  <a:lnTo>
                    <a:pt x="292758" y="79331"/>
                  </a:lnTo>
                  <a:cubicBezTo>
                    <a:pt x="297974" y="79331"/>
                    <a:pt x="302203" y="83560"/>
                    <a:pt x="302203" y="88776"/>
                  </a:cubicBezTo>
                  <a:lnTo>
                    <a:pt x="302203" y="141664"/>
                  </a:lnTo>
                  <a:cubicBezTo>
                    <a:pt x="302203" y="145425"/>
                    <a:pt x="299970" y="148828"/>
                    <a:pt x="296520" y="150326"/>
                  </a:cubicBezTo>
                  <a:cubicBezTo>
                    <a:pt x="293070" y="151824"/>
                    <a:pt x="289060" y="151132"/>
                    <a:pt x="286311" y="148564"/>
                  </a:cubicBezTo>
                  <a:close/>
                  <a:moveTo>
                    <a:pt x="179427" y="50747"/>
                  </a:moveTo>
                  <a:lnTo>
                    <a:pt x="179427" y="129562"/>
                  </a:lnTo>
                  <a:cubicBezTo>
                    <a:pt x="179427" y="136517"/>
                    <a:pt x="173789" y="142155"/>
                    <a:pt x="166835" y="142155"/>
                  </a:cubicBezTo>
                  <a:cubicBezTo>
                    <a:pt x="159880" y="142155"/>
                    <a:pt x="154242" y="136517"/>
                    <a:pt x="154242" y="129562"/>
                  </a:cubicBezTo>
                  <a:lnTo>
                    <a:pt x="154242" y="50759"/>
                  </a:lnTo>
                  <a:cubicBezTo>
                    <a:pt x="154242" y="43805"/>
                    <a:pt x="159880" y="38167"/>
                    <a:pt x="166835" y="38167"/>
                  </a:cubicBezTo>
                  <a:cubicBezTo>
                    <a:pt x="173789" y="38167"/>
                    <a:pt x="179427" y="43805"/>
                    <a:pt x="179427" y="50759"/>
                  </a:cubicBezTo>
                  <a:close/>
                  <a:moveTo>
                    <a:pt x="229797" y="0"/>
                  </a:moveTo>
                  <a:cubicBezTo>
                    <a:pt x="236751" y="0"/>
                    <a:pt x="242389" y="5637"/>
                    <a:pt x="242389" y="12592"/>
                  </a:cubicBezTo>
                  <a:lnTo>
                    <a:pt x="242389" y="50759"/>
                  </a:lnTo>
                  <a:cubicBezTo>
                    <a:pt x="242389" y="57714"/>
                    <a:pt x="236751" y="63352"/>
                    <a:pt x="229797" y="63352"/>
                  </a:cubicBezTo>
                  <a:cubicBezTo>
                    <a:pt x="222842" y="63352"/>
                    <a:pt x="217204" y="57714"/>
                    <a:pt x="217204" y="50759"/>
                  </a:cubicBezTo>
                  <a:lnTo>
                    <a:pt x="217204" y="12592"/>
                  </a:lnTo>
                  <a:cubicBezTo>
                    <a:pt x="217204" y="5637"/>
                    <a:pt x="222842" y="0"/>
                    <a:pt x="229797" y="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Rounded Rectangle 17"/>
            <p:cNvSpPr/>
            <p:nvPr/>
          </p:nvSpPr>
          <p:spPr>
            <a:xfrm>
              <a:off x="5883187" y="3123600"/>
              <a:ext cx="289624" cy="303611"/>
            </a:xfrm>
            <a:custGeom>
              <a:avLst/>
              <a:gdLst/>
              <a:ahLst/>
              <a:cxnLst/>
              <a:rect l="0" t="0" r="0" b="0"/>
              <a:pathLst>
                <a:path w="289624" h="303611">
                  <a:moveTo>
                    <a:pt x="140279" y="116110"/>
                  </a:moveTo>
                  <a:cubicBezTo>
                    <a:pt x="127765" y="126150"/>
                    <a:pt x="109704" y="125173"/>
                    <a:pt x="98346" y="113844"/>
                  </a:cubicBezTo>
                  <a:lnTo>
                    <a:pt x="18133" y="33630"/>
                  </a:lnTo>
                  <a:cubicBezTo>
                    <a:pt x="11198" y="26188"/>
                    <a:pt x="11402" y="14590"/>
                    <a:pt x="18595" y="7397"/>
                  </a:cubicBezTo>
                  <a:cubicBezTo>
                    <a:pt x="25788" y="204"/>
                    <a:pt x="37386" y="0"/>
                    <a:pt x="44828" y="6934"/>
                  </a:cubicBezTo>
                  <a:lnTo>
                    <a:pt x="116983" y="79592"/>
                  </a:lnTo>
                  <a:cubicBezTo>
                    <a:pt x="119401" y="81699"/>
                    <a:pt x="123002" y="81699"/>
                    <a:pt x="125420" y="79592"/>
                  </a:cubicBezTo>
                  <a:lnTo>
                    <a:pt x="161686" y="50504"/>
                  </a:lnTo>
                  <a:cubicBezTo>
                    <a:pt x="174534" y="40399"/>
                    <a:pt x="192956" y="41707"/>
                    <a:pt x="204248" y="53526"/>
                  </a:cubicBezTo>
                  <a:lnTo>
                    <a:pt x="248069" y="100496"/>
                  </a:lnTo>
                  <a:cubicBezTo>
                    <a:pt x="248655" y="101128"/>
                    <a:pt x="249474" y="101492"/>
                    <a:pt x="250336" y="101503"/>
                  </a:cubicBezTo>
                  <a:cubicBezTo>
                    <a:pt x="251190" y="101595"/>
                    <a:pt x="252035" y="101266"/>
                    <a:pt x="252602" y="100622"/>
                  </a:cubicBezTo>
                  <a:lnTo>
                    <a:pt x="270736" y="82866"/>
                  </a:lnTo>
                  <a:cubicBezTo>
                    <a:pt x="273462" y="80423"/>
                    <a:pt x="277355" y="79776"/>
                    <a:pt x="280725" y="81205"/>
                  </a:cubicBezTo>
                  <a:cubicBezTo>
                    <a:pt x="284096" y="82634"/>
                    <a:pt x="286337" y="85882"/>
                    <a:pt x="286476" y="89540"/>
                  </a:cubicBezTo>
                  <a:lnTo>
                    <a:pt x="286476" y="158798"/>
                  </a:lnTo>
                  <a:cubicBezTo>
                    <a:pt x="286408" y="163986"/>
                    <a:pt x="282219" y="168175"/>
                    <a:pt x="277032" y="168243"/>
                  </a:cubicBezTo>
                  <a:lnTo>
                    <a:pt x="207774" y="168243"/>
                  </a:lnTo>
                  <a:cubicBezTo>
                    <a:pt x="204115" y="168103"/>
                    <a:pt x="200867" y="165862"/>
                    <a:pt x="199438" y="162492"/>
                  </a:cubicBezTo>
                  <a:cubicBezTo>
                    <a:pt x="198009" y="159121"/>
                    <a:pt x="198656" y="155229"/>
                    <a:pt x="201100" y="152502"/>
                  </a:cubicBezTo>
                  <a:lnTo>
                    <a:pt x="221499" y="131725"/>
                  </a:lnTo>
                  <a:cubicBezTo>
                    <a:pt x="222699" y="130501"/>
                    <a:pt x="222699" y="128542"/>
                    <a:pt x="221499" y="127317"/>
                  </a:cubicBezTo>
                  <a:lnTo>
                    <a:pt x="184730" y="87400"/>
                  </a:lnTo>
                  <a:cubicBezTo>
                    <a:pt x="182340" y="85097"/>
                    <a:pt x="178557" y="85097"/>
                    <a:pt x="176167" y="87400"/>
                  </a:cubicBezTo>
                  <a:close/>
                  <a:moveTo>
                    <a:pt x="119627" y="303611"/>
                  </a:moveTo>
                  <a:lnTo>
                    <a:pt x="31480" y="303611"/>
                  </a:lnTo>
                  <a:cubicBezTo>
                    <a:pt x="21049" y="303611"/>
                    <a:pt x="12592" y="295154"/>
                    <a:pt x="12592" y="284722"/>
                  </a:cubicBezTo>
                  <a:cubicBezTo>
                    <a:pt x="12592" y="274290"/>
                    <a:pt x="21049" y="265834"/>
                    <a:pt x="31480" y="265834"/>
                  </a:cubicBezTo>
                  <a:lnTo>
                    <a:pt x="119627" y="265834"/>
                  </a:lnTo>
                  <a:cubicBezTo>
                    <a:pt x="130059" y="265834"/>
                    <a:pt x="138516" y="274290"/>
                    <a:pt x="138516" y="284722"/>
                  </a:cubicBezTo>
                  <a:cubicBezTo>
                    <a:pt x="138516" y="295154"/>
                    <a:pt x="130059" y="303611"/>
                    <a:pt x="119627" y="303611"/>
                  </a:cubicBezTo>
                  <a:close/>
                  <a:moveTo>
                    <a:pt x="258143" y="303611"/>
                  </a:moveTo>
                  <a:lnTo>
                    <a:pt x="169997" y="303611"/>
                  </a:lnTo>
                  <a:cubicBezTo>
                    <a:pt x="159565" y="303611"/>
                    <a:pt x="151108" y="295154"/>
                    <a:pt x="151108" y="284722"/>
                  </a:cubicBezTo>
                  <a:cubicBezTo>
                    <a:pt x="151108" y="274290"/>
                    <a:pt x="159565" y="265834"/>
                    <a:pt x="169997" y="265834"/>
                  </a:cubicBezTo>
                  <a:lnTo>
                    <a:pt x="258143" y="265834"/>
                  </a:lnTo>
                  <a:cubicBezTo>
                    <a:pt x="268575" y="265834"/>
                    <a:pt x="277032" y="274290"/>
                    <a:pt x="277032" y="284722"/>
                  </a:cubicBezTo>
                  <a:cubicBezTo>
                    <a:pt x="277032" y="295154"/>
                    <a:pt x="268575" y="303611"/>
                    <a:pt x="258143" y="303611"/>
                  </a:cubicBezTo>
                  <a:close/>
                  <a:moveTo>
                    <a:pt x="270736" y="246945"/>
                  </a:moveTo>
                  <a:lnTo>
                    <a:pt x="182589" y="246945"/>
                  </a:lnTo>
                  <a:cubicBezTo>
                    <a:pt x="172157" y="246945"/>
                    <a:pt x="163700" y="238488"/>
                    <a:pt x="163700" y="228056"/>
                  </a:cubicBezTo>
                  <a:cubicBezTo>
                    <a:pt x="163700" y="217625"/>
                    <a:pt x="172157" y="209168"/>
                    <a:pt x="182589" y="209168"/>
                  </a:cubicBezTo>
                  <a:lnTo>
                    <a:pt x="270736" y="209168"/>
                  </a:lnTo>
                  <a:cubicBezTo>
                    <a:pt x="281167" y="209168"/>
                    <a:pt x="289624" y="217625"/>
                    <a:pt x="289624" y="228056"/>
                  </a:cubicBezTo>
                  <a:cubicBezTo>
                    <a:pt x="289624" y="238488"/>
                    <a:pt x="281167" y="246945"/>
                    <a:pt x="270736" y="246945"/>
                  </a:cubicBezTo>
                  <a:close/>
                  <a:moveTo>
                    <a:pt x="18888" y="246945"/>
                  </a:moveTo>
                  <a:cubicBezTo>
                    <a:pt x="8456" y="246945"/>
                    <a:pt x="0" y="238488"/>
                    <a:pt x="0" y="228056"/>
                  </a:cubicBezTo>
                  <a:cubicBezTo>
                    <a:pt x="0" y="217625"/>
                    <a:pt x="8456" y="209168"/>
                    <a:pt x="18888" y="209168"/>
                  </a:cubicBezTo>
                  <a:lnTo>
                    <a:pt x="107035" y="209168"/>
                  </a:lnTo>
                  <a:cubicBezTo>
                    <a:pt x="117467" y="209168"/>
                    <a:pt x="125923" y="217625"/>
                    <a:pt x="125923" y="228056"/>
                  </a:cubicBezTo>
                  <a:cubicBezTo>
                    <a:pt x="125923" y="238488"/>
                    <a:pt x="117467" y="246945"/>
                    <a:pt x="107035" y="246945"/>
                  </a:cubicBezTo>
                  <a:close/>
                  <a:moveTo>
                    <a:pt x="138516" y="171391"/>
                  </a:moveTo>
                  <a:cubicBezTo>
                    <a:pt x="138516" y="181823"/>
                    <a:pt x="130059" y="190279"/>
                    <a:pt x="119627" y="190279"/>
                  </a:cubicBezTo>
                  <a:lnTo>
                    <a:pt x="31480" y="190279"/>
                  </a:lnTo>
                  <a:cubicBezTo>
                    <a:pt x="21049" y="190279"/>
                    <a:pt x="12592" y="181823"/>
                    <a:pt x="12592" y="171391"/>
                  </a:cubicBezTo>
                  <a:cubicBezTo>
                    <a:pt x="12592" y="160959"/>
                    <a:pt x="21049" y="152502"/>
                    <a:pt x="31480" y="152502"/>
                  </a:cubicBezTo>
                  <a:lnTo>
                    <a:pt x="119627" y="152502"/>
                  </a:lnTo>
                  <a:cubicBezTo>
                    <a:pt x="130059" y="152502"/>
                    <a:pt x="138516" y="160959"/>
                    <a:pt x="138516" y="171391"/>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8"/>
            <p:cNvSpPr/>
            <p:nvPr/>
          </p:nvSpPr>
          <p:spPr>
            <a:xfrm>
              <a:off x="5080423" y="3737343"/>
              <a:ext cx="283328" cy="302697"/>
            </a:xfrm>
            <a:custGeom>
              <a:avLst/>
              <a:gdLst/>
              <a:ahLst/>
              <a:cxnLst/>
              <a:rect l="0" t="0" r="0" b="0"/>
              <a:pathLst>
                <a:path w="283328" h="302697">
                  <a:moveTo>
                    <a:pt x="173648" y="220846"/>
                  </a:moveTo>
                  <a:cubicBezTo>
                    <a:pt x="173517" y="219801"/>
                    <a:pt x="173517" y="218743"/>
                    <a:pt x="173648" y="217698"/>
                  </a:cubicBezTo>
                  <a:lnTo>
                    <a:pt x="173648" y="178410"/>
                  </a:lnTo>
                  <a:cubicBezTo>
                    <a:pt x="173648" y="171455"/>
                    <a:pt x="179286" y="165817"/>
                    <a:pt x="186241" y="165817"/>
                  </a:cubicBezTo>
                  <a:lnTo>
                    <a:pt x="233084" y="165817"/>
                  </a:lnTo>
                  <a:cubicBezTo>
                    <a:pt x="240039" y="165817"/>
                    <a:pt x="245677" y="171455"/>
                    <a:pt x="245677" y="178410"/>
                  </a:cubicBezTo>
                  <a:lnTo>
                    <a:pt x="245677" y="217698"/>
                  </a:lnTo>
                  <a:cubicBezTo>
                    <a:pt x="245868" y="218739"/>
                    <a:pt x="245868" y="219805"/>
                    <a:pt x="245677" y="220846"/>
                  </a:cubicBezTo>
                  <a:close/>
                  <a:moveTo>
                    <a:pt x="42939" y="220846"/>
                  </a:moveTo>
                  <a:cubicBezTo>
                    <a:pt x="42808" y="219801"/>
                    <a:pt x="42808" y="218743"/>
                    <a:pt x="42939" y="217698"/>
                  </a:cubicBezTo>
                  <a:lnTo>
                    <a:pt x="42939" y="178410"/>
                  </a:lnTo>
                  <a:cubicBezTo>
                    <a:pt x="42939" y="171455"/>
                    <a:pt x="48577" y="165817"/>
                    <a:pt x="55532" y="165817"/>
                  </a:cubicBezTo>
                  <a:lnTo>
                    <a:pt x="102375" y="165817"/>
                  </a:lnTo>
                  <a:cubicBezTo>
                    <a:pt x="109330" y="165817"/>
                    <a:pt x="114968" y="171455"/>
                    <a:pt x="114968" y="178410"/>
                  </a:cubicBezTo>
                  <a:lnTo>
                    <a:pt x="114968" y="217698"/>
                  </a:lnTo>
                  <a:cubicBezTo>
                    <a:pt x="115100" y="218743"/>
                    <a:pt x="115100" y="219801"/>
                    <a:pt x="114968" y="220846"/>
                  </a:cubicBezTo>
                  <a:close/>
                  <a:moveTo>
                    <a:pt x="283328" y="271216"/>
                  </a:moveTo>
                  <a:cubicBezTo>
                    <a:pt x="283328" y="288602"/>
                    <a:pt x="269233" y="302697"/>
                    <a:pt x="251847" y="302697"/>
                  </a:cubicBezTo>
                  <a:lnTo>
                    <a:pt x="31480" y="302697"/>
                  </a:lnTo>
                  <a:cubicBezTo>
                    <a:pt x="14094" y="302697"/>
                    <a:pt x="0" y="288602"/>
                    <a:pt x="0" y="271216"/>
                  </a:cubicBezTo>
                  <a:cubicBezTo>
                    <a:pt x="0" y="253829"/>
                    <a:pt x="14094" y="239735"/>
                    <a:pt x="31480" y="239735"/>
                  </a:cubicBezTo>
                  <a:lnTo>
                    <a:pt x="251847" y="239735"/>
                  </a:lnTo>
                  <a:cubicBezTo>
                    <a:pt x="269233" y="239735"/>
                    <a:pt x="283328" y="253829"/>
                    <a:pt x="283328" y="271216"/>
                  </a:cubicBezTo>
                  <a:close/>
                  <a:moveTo>
                    <a:pt x="59813" y="271216"/>
                  </a:moveTo>
                  <a:cubicBezTo>
                    <a:pt x="59813" y="264261"/>
                    <a:pt x="54175" y="258623"/>
                    <a:pt x="47221" y="258623"/>
                  </a:cubicBezTo>
                  <a:cubicBezTo>
                    <a:pt x="40266" y="258623"/>
                    <a:pt x="34629" y="264261"/>
                    <a:pt x="34629" y="271216"/>
                  </a:cubicBezTo>
                  <a:cubicBezTo>
                    <a:pt x="34629" y="278170"/>
                    <a:pt x="40266" y="283808"/>
                    <a:pt x="47221" y="283808"/>
                  </a:cubicBezTo>
                  <a:cubicBezTo>
                    <a:pt x="54175" y="283808"/>
                    <a:pt x="59813" y="278170"/>
                    <a:pt x="59813" y="271216"/>
                  </a:cubicBezTo>
                  <a:close/>
                  <a:moveTo>
                    <a:pt x="122775" y="271216"/>
                  </a:moveTo>
                  <a:cubicBezTo>
                    <a:pt x="122775" y="264261"/>
                    <a:pt x="117137" y="258623"/>
                    <a:pt x="110183" y="258623"/>
                  </a:cubicBezTo>
                  <a:cubicBezTo>
                    <a:pt x="103228" y="258623"/>
                    <a:pt x="97590" y="264261"/>
                    <a:pt x="97590" y="271216"/>
                  </a:cubicBezTo>
                  <a:cubicBezTo>
                    <a:pt x="97590" y="278170"/>
                    <a:pt x="103228" y="283808"/>
                    <a:pt x="110183" y="283808"/>
                  </a:cubicBezTo>
                  <a:cubicBezTo>
                    <a:pt x="117137" y="283808"/>
                    <a:pt x="122775" y="278170"/>
                    <a:pt x="122775" y="271216"/>
                  </a:cubicBezTo>
                  <a:close/>
                  <a:moveTo>
                    <a:pt x="173648" y="283808"/>
                  </a:moveTo>
                  <a:cubicBezTo>
                    <a:pt x="180405" y="283538"/>
                    <a:pt x="185742" y="277978"/>
                    <a:pt x="185737" y="271216"/>
                  </a:cubicBezTo>
                  <a:cubicBezTo>
                    <a:pt x="185737" y="264261"/>
                    <a:pt x="180099" y="258623"/>
                    <a:pt x="173145" y="258623"/>
                  </a:cubicBezTo>
                  <a:cubicBezTo>
                    <a:pt x="166190" y="258623"/>
                    <a:pt x="160552" y="264261"/>
                    <a:pt x="160552" y="271216"/>
                  </a:cubicBezTo>
                  <a:cubicBezTo>
                    <a:pt x="160552" y="278170"/>
                    <a:pt x="166190" y="283808"/>
                    <a:pt x="173145" y="283808"/>
                  </a:cubicBezTo>
                  <a:close/>
                  <a:moveTo>
                    <a:pt x="236610" y="283808"/>
                  </a:moveTo>
                  <a:cubicBezTo>
                    <a:pt x="243367" y="283538"/>
                    <a:pt x="248704" y="277978"/>
                    <a:pt x="248699" y="271216"/>
                  </a:cubicBezTo>
                  <a:cubicBezTo>
                    <a:pt x="248699" y="264261"/>
                    <a:pt x="243061" y="258623"/>
                    <a:pt x="236106" y="258623"/>
                  </a:cubicBezTo>
                  <a:cubicBezTo>
                    <a:pt x="229152" y="258623"/>
                    <a:pt x="223514" y="264261"/>
                    <a:pt x="223514" y="271216"/>
                  </a:cubicBezTo>
                  <a:cubicBezTo>
                    <a:pt x="223514" y="278170"/>
                    <a:pt x="229152" y="283808"/>
                    <a:pt x="236106" y="283808"/>
                  </a:cubicBezTo>
                  <a:close/>
                  <a:moveTo>
                    <a:pt x="265950" y="68478"/>
                  </a:moveTo>
                  <a:lnTo>
                    <a:pt x="207900" y="126151"/>
                  </a:lnTo>
                  <a:cubicBezTo>
                    <a:pt x="206789" y="127231"/>
                    <a:pt x="205292" y="127820"/>
                    <a:pt x="203744" y="127788"/>
                  </a:cubicBezTo>
                  <a:cubicBezTo>
                    <a:pt x="202993" y="127909"/>
                    <a:pt x="202228" y="127909"/>
                    <a:pt x="201477" y="127788"/>
                  </a:cubicBezTo>
                  <a:cubicBezTo>
                    <a:pt x="199311" y="126868"/>
                    <a:pt x="197918" y="124727"/>
                    <a:pt x="197952" y="122374"/>
                  </a:cubicBezTo>
                  <a:lnTo>
                    <a:pt x="197952" y="92404"/>
                  </a:lnTo>
                  <a:lnTo>
                    <a:pt x="37903" y="92404"/>
                  </a:lnTo>
                  <a:cubicBezTo>
                    <a:pt x="34703" y="92404"/>
                    <a:pt x="32110" y="89811"/>
                    <a:pt x="32110" y="86611"/>
                  </a:cubicBezTo>
                  <a:lnTo>
                    <a:pt x="32110" y="44049"/>
                  </a:lnTo>
                  <a:cubicBezTo>
                    <a:pt x="32075" y="42503"/>
                    <a:pt x="32674" y="41009"/>
                    <a:pt x="33768" y="39915"/>
                  </a:cubicBezTo>
                  <a:cubicBezTo>
                    <a:pt x="34862" y="38821"/>
                    <a:pt x="36356" y="38222"/>
                    <a:pt x="37903" y="38257"/>
                  </a:cubicBezTo>
                  <a:lnTo>
                    <a:pt x="197952" y="38257"/>
                  </a:lnTo>
                  <a:lnTo>
                    <a:pt x="197952" y="6272"/>
                  </a:lnTo>
                  <a:cubicBezTo>
                    <a:pt x="197968" y="3964"/>
                    <a:pt x="199353" y="1886"/>
                    <a:pt x="201477" y="983"/>
                  </a:cubicBezTo>
                  <a:cubicBezTo>
                    <a:pt x="203669" y="0"/>
                    <a:pt x="206242" y="504"/>
                    <a:pt x="207900" y="2243"/>
                  </a:cubicBezTo>
                  <a:lnTo>
                    <a:pt x="265950" y="60167"/>
                  </a:lnTo>
                  <a:cubicBezTo>
                    <a:pt x="268223" y="62472"/>
                    <a:pt x="268223" y="66174"/>
                    <a:pt x="265950" y="68478"/>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19"/>
            <p:cNvSpPr/>
            <p:nvPr/>
          </p:nvSpPr>
          <p:spPr>
            <a:xfrm>
              <a:off x="6082271" y="3732503"/>
              <a:ext cx="295389" cy="296497"/>
            </a:xfrm>
            <a:custGeom>
              <a:avLst/>
              <a:gdLst/>
              <a:ahLst/>
              <a:cxnLst/>
              <a:rect l="0" t="0" r="0" b="0"/>
              <a:pathLst>
                <a:path w="295389" h="296497">
                  <a:moveTo>
                    <a:pt x="211718" y="119621"/>
                  </a:moveTo>
                  <a:cubicBezTo>
                    <a:pt x="211647" y="126398"/>
                    <a:pt x="214311" y="132918"/>
                    <a:pt x="219108" y="137707"/>
                  </a:cubicBezTo>
                  <a:cubicBezTo>
                    <a:pt x="221518" y="140164"/>
                    <a:pt x="224442" y="142056"/>
                    <a:pt x="227670" y="143248"/>
                  </a:cubicBezTo>
                  <a:cubicBezTo>
                    <a:pt x="229651" y="144025"/>
                    <a:pt x="231105" y="145748"/>
                    <a:pt x="231536" y="147831"/>
                  </a:cubicBezTo>
                  <a:cubicBezTo>
                    <a:pt x="231968" y="149914"/>
                    <a:pt x="231319" y="152074"/>
                    <a:pt x="229811" y="153574"/>
                  </a:cubicBezTo>
                  <a:lnTo>
                    <a:pt x="210167" y="173218"/>
                  </a:lnTo>
                  <a:cubicBezTo>
                    <a:pt x="205303" y="177855"/>
                    <a:pt x="197654" y="177855"/>
                    <a:pt x="192790" y="173218"/>
                  </a:cubicBezTo>
                  <a:lnTo>
                    <a:pt x="122020" y="101693"/>
                  </a:lnTo>
                  <a:cubicBezTo>
                    <a:pt x="119637" y="99329"/>
                    <a:pt x="118296" y="96110"/>
                    <a:pt x="118296" y="92752"/>
                  </a:cubicBezTo>
                  <a:cubicBezTo>
                    <a:pt x="118296" y="89395"/>
                    <a:pt x="119637" y="86176"/>
                    <a:pt x="122020" y="83812"/>
                  </a:cubicBezTo>
                  <a:lnTo>
                    <a:pt x="139776" y="65679"/>
                  </a:lnTo>
                  <a:cubicBezTo>
                    <a:pt x="141101" y="64358"/>
                    <a:pt x="142953" y="63710"/>
                    <a:pt x="144813" y="63916"/>
                  </a:cubicBezTo>
                  <a:cubicBezTo>
                    <a:pt x="146704" y="64089"/>
                    <a:pt x="148416" y="65107"/>
                    <a:pt x="149472" y="66686"/>
                  </a:cubicBezTo>
                  <a:cubicBezTo>
                    <a:pt x="150381" y="68095"/>
                    <a:pt x="151436" y="69403"/>
                    <a:pt x="152620" y="70590"/>
                  </a:cubicBezTo>
                  <a:cubicBezTo>
                    <a:pt x="162461" y="80427"/>
                    <a:pt x="178413" y="80425"/>
                    <a:pt x="188252" y="70586"/>
                  </a:cubicBezTo>
                  <a:cubicBezTo>
                    <a:pt x="198091" y="60747"/>
                    <a:pt x="198093" y="44795"/>
                    <a:pt x="188256" y="34953"/>
                  </a:cubicBezTo>
                  <a:cubicBezTo>
                    <a:pt x="187070" y="33769"/>
                    <a:pt x="185761" y="32714"/>
                    <a:pt x="184353" y="31805"/>
                  </a:cubicBezTo>
                  <a:cubicBezTo>
                    <a:pt x="182774" y="30750"/>
                    <a:pt x="181756" y="29038"/>
                    <a:pt x="181582" y="27146"/>
                  </a:cubicBezTo>
                  <a:cubicBezTo>
                    <a:pt x="181376" y="25287"/>
                    <a:pt x="182024" y="23434"/>
                    <a:pt x="183345" y="22109"/>
                  </a:cubicBezTo>
                  <a:lnTo>
                    <a:pt x="201604" y="3724"/>
                  </a:lnTo>
                  <a:cubicBezTo>
                    <a:pt x="203969" y="1340"/>
                    <a:pt x="207187" y="0"/>
                    <a:pt x="210545" y="0"/>
                  </a:cubicBezTo>
                  <a:cubicBezTo>
                    <a:pt x="213902" y="0"/>
                    <a:pt x="217121" y="1340"/>
                    <a:pt x="219485" y="3724"/>
                  </a:cubicBezTo>
                  <a:lnTo>
                    <a:pt x="236233" y="20472"/>
                  </a:lnTo>
                  <a:cubicBezTo>
                    <a:pt x="236939" y="21145"/>
                    <a:pt x="237909" y="21468"/>
                    <a:pt x="238878" y="21354"/>
                  </a:cubicBezTo>
                  <a:cubicBezTo>
                    <a:pt x="239883" y="21118"/>
                    <a:pt x="240747" y="20481"/>
                    <a:pt x="241270" y="19591"/>
                  </a:cubicBezTo>
                  <a:cubicBezTo>
                    <a:pt x="242437" y="16982"/>
                    <a:pt x="244106" y="14629"/>
                    <a:pt x="246181" y="12665"/>
                  </a:cubicBezTo>
                  <a:cubicBezTo>
                    <a:pt x="253234" y="5478"/>
                    <a:pt x="263890" y="3182"/>
                    <a:pt x="273276" y="6828"/>
                  </a:cubicBezTo>
                  <a:cubicBezTo>
                    <a:pt x="282663" y="10475"/>
                    <a:pt x="288975" y="19362"/>
                    <a:pt x="289327" y="29425"/>
                  </a:cubicBezTo>
                  <a:cubicBezTo>
                    <a:pt x="289678" y="39489"/>
                    <a:pt x="284001" y="48794"/>
                    <a:pt x="274892" y="53086"/>
                  </a:cubicBezTo>
                  <a:cubicBezTo>
                    <a:pt x="273941" y="53539"/>
                    <a:pt x="273279" y="54437"/>
                    <a:pt x="273129" y="55479"/>
                  </a:cubicBezTo>
                  <a:cubicBezTo>
                    <a:pt x="272904" y="56494"/>
                    <a:pt x="273241" y="57551"/>
                    <a:pt x="274010" y="58249"/>
                  </a:cubicBezTo>
                  <a:lnTo>
                    <a:pt x="290506" y="74997"/>
                  </a:lnTo>
                  <a:cubicBezTo>
                    <a:pt x="295389" y="79909"/>
                    <a:pt x="295389" y="87841"/>
                    <a:pt x="290506" y="92752"/>
                  </a:cubicBezTo>
                  <a:lnTo>
                    <a:pt x="270862" y="112397"/>
                  </a:lnTo>
                  <a:cubicBezTo>
                    <a:pt x="269374" y="113874"/>
                    <a:pt x="267259" y="114532"/>
                    <a:pt x="265196" y="114159"/>
                  </a:cubicBezTo>
                  <a:cubicBezTo>
                    <a:pt x="263106" y="113682"/>
                    <a:pt x="261373" y="112230"/>
                    <a:pt x="260537" y="110256"/>
                  </a:cubicBezTo>
                  <a:cubicBezTo>
                    <a:pt x="259382" y="107039"/>
                    <a:pt x="257533" y="104116"/>
                    <a:pt x="255122" y="101693"/>
                  </a:cubicBezTo>
                  <a:cubicBezTo>
                    <a:pt x="250398" y="96964"/>
                    <a:pt x="243988" y="94307"/>
                    <a:pt x="237304" y="94307"/>
                  </a:cubicBezTo>
                  <a:cubicBezTo>
                    <a:pt x="230619" y="94307"/>
                    <a:pt x="224209" y="96964"/>
                    <a:pt x="219485" y="101693"/>
                  </a:cubicBezTo>
                  <a:cubicBezTo>
                    <a:pt x="214589" y="106380"/>
                    <a:pt x="211790" y="112843"/>
                    <a:pt x="211718" y="119621"/>
                  </a:cubicBezTo>
                  <a:close/>
                  <a:moveTo>
                    <a:pt x="171634" y="245876"/>
                  </a:moveTo>
                  <a:cubicBezTo>
                    <a:pt x="182340" y="245611"/>
                    <a:pt x="192026" y="239460"/>
                    <a:pt x="196819" y="229883"/>
                  </a:cubicBezTo>
                  <a:cubicBezTo>
                    <a:pt x="197683" y="228176"/>
                    <a:pt x="199171" y="226868"/>
                    <a:pt x="200975" y="226232"/>
                  </a:cubicBezTo>
                  <a:lnTo>
                    <a:pt x="216589" y="221069"/>
                  </a:lnTo>
                  <a:lnTo>
                    <a:pt x="232456" y="256327"/>
                  </a:lnTo>
                  <a:cubicBezTo>
                    <a:pt x="213819" y="266275"/>
                    <a:pt x="199589" y="274334"/>
                    <a:pt x="186997" y="280505"/>
                  </a:cubicBezTo>
                  <a:close/>
                  <a:moveTo>
                    <a:pt x="0" y="217417"/>
                  </a:moveTo>
                  <a:lnTo>
                    <a:pt x="0" y="183417"/>
                  </a:lnTo>
                  <a:cubicBezTo>
                    <a:pt x="0" y="182032"/>
                    <a:pt x="756" y="181403"/>
                    <a:pt x="2015" y="180773"/>
                  </a:cubicBezTo>
                  <a:lnTo>
                    <a:pt x="61955" y="180773"/>
                  </a:lnTo>
                  <a:cubicBezTo>
                    <a:pt x="64695" y="180790"/>
                    <a:pt x="67430" y="181000"/>
                    <a:pt x="70140" y="181403"/>
                  </a:cubicBezTo>
                  <a:cubicBezTo>
                    <a:pt x="69697" y="187552"/>
                    <a:pt x="67513" y="193448"/>
                    <a:pt x="63844" y="198402"/>
                  </a:cubicBezTo>
                  <a:cubicBezTo>
                    <a:pt x="53896" y="211624"/>
                    <a:pt x="31859" y="218047"/>
                    <a:pt x="0" y="217417"/>
                  </a:cubicBezTo>
                  <a:close/>
                  <a:moveTo>
                    <a:pt x="285721" y="216661"/>
                  </a:moveTo>
                  <a:cubicBezTo>
                    <a:pt x="287714" y="218234"/>
                    <a:pt x="288765" y="220715"/>
                    <a:pt x="288510" y="223240"/>
                  </a:cubicBezTo>
                  <a:cubicBezTo>
                    <a:pt x="288255" y="225765"/>
                    <a:pt x="286729" y="227986"/>
                    <a:pt x="284462" y="229128"/>
                  </a:cubicBezTo>
                  <a:cubicBezTo>
                    <a:pt x="269603" y="236935"/>
                    <a:pt x="256759" y="243357"/>
                    <a:pt x="245174" y="249527"/>
                  </a:cubicBezTo>
                  <a:lnTo>
                    <a:pt x="230315" y="216410"/>
                  </a:lnTo>
                  <a:lnTo>
                    <a:pt x="250714" y="209736"/>
                  </a:lnTo>
                  <a:cubicBezTo>
                    <a:pt x="262784" y="205641"/>
                    <a:pt x="276120" y="208280"/>
                    <a:pt x="285721" y="216661"/>
                  </a:cubicBezTo>
                  <a:close/>
                  <a:moveTo>
                    <a:pt x="174153" y="287179"/>
                  </a:moveTo>
                  <a:cubicBezTo>
                    <a:pt x="162467" y="293208"/>
                    <a:pt x="149525" y="296400"/>
                    <a:pt x="136376" y="296497"/>
                  </a:cubicBezTo>
                  <a:cubicBezTo>
                    <a:pt x="113080" y="296119"/>
                    <a:pt x="3023" y="253809"/>
                    <a:pt x="1889" y="253179"/>
                  </a:cubicBezTo>
                  <a:cubicBezTo>
                    <a:pt x="720" y="252504"/>
                    <a:pt x="0" y="251256"/>
                    <a:pt x="0" y="249905"/>
                  </a:cubicBezTo>
                  <a:lnTo>
                    <a:pt x="0" y="232276"/>
                  </a:lnTo>
                  <a:lnTo>
                    <a:pt x="5289" y="232276"/>
                  </a:lnTo>
                  <a:cubicBezTo>
                    <a:pt x="39414" y="232276"/>
                    <a:pt x="62710" y="223587"/>
                    <a:pt x="75303" y="207091"/>
                  </a:cubicBezTo>
                  <a:cubicBezTo>
                    <a:pt x="80271" y="200385"/>
                    <a:pt x="83358" y="192472"/>
                    <a:pt x="84243" y="184173"/>
                  </a:cubicBezTo>
                  <a:cubicBezTo>
                    <a:pt x="96801" y="187932"/>
                    <a:pt x="108605" y="193856"/>
                    <a:pt x="119124" y="201676"/>
                  </a:cubicBezTo>
                  <a:cubicBezTo>
                    <a:pt x="119730" y="202166"/>
                    <a:pt x="120486" y="202433"/>
                    <a:pt x="121265" y="202432"/>
                  </a:cubicBezTo>
                  <a:lnTo>
                    <a:pt x="170879" y="202432"/>
                  </a:lnTo>
                  <a:cubicBezTo>
                    <a:pt x="178389" y="203132"/>
                    <a:pt x="184131" y="209434"/>
                    <a:pt x="184131" y="216976"/>
                  </a:cubicBezTo>
                  <a:cubicBezTo>
                    <a:pt x="184131" y="224519"/>
                    <a:pt x="178389" y="230821"/>
                    <a:pt x="170879" y="231520"/>
                  </a:cubicBezTo>
                  <a:lnTo>
                    <a:pt x="112828" y="231520"/>
                  </a:lnTo>
                  <a:cubicBezTo>
                    <a:pt x="110013" y="231148"/>
                    <a:pt x="107238" y="232441"/>
                    <a:pt x="105712" y="234836"/>
                  </a:cubicBezTo>
                  <a:cubicBezTo>
                    <a:pt x="104186" y="237230"/>
                    <a:pt x="104186" y="240292"/>
                    <a:pt x="105712" y="242686"/>
                  </a:cubicBezTo>
                  <a:cubicBezTo>
                    <a:pt x="107238" y="245081"/>
                    <a:pt x="110013" y="246374"/>
                    <a:pt x="112828" y="246002"/>
                  </a:cubicBezTo>
                  <a:lnTo>
                    <a:pt x="155642" y="246002"/>
                  </a:ln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0"/>
            <p:cNvSpPr/>
            <p:nvPr/>
          </p:nvSpPr>
          <p:spPr>
            <a:xfrm>
              <a:off x="5574674" y="4241518"/>
              <a:ext cx="302216" cy="302216"/>
            </a:xfrm>
            <a:custGeom>
              <a:avLst/>
              <a:gdLst/>
              <a:ahLst/>
              <a:cxnLst/>
              <a:rect l="0" t="0" r="0" b="0"/>
              <a:pathLst>
                <a:path w="302216" h="302216">
                  <a:moveTo>
                    <a:pt x="104165" y="99936"/>
                  </a:moveTo>
                  <a:cubicBezTo>
                    <a:pt x="104378" y="102513"/>
                    <a:pt x="103553" y="105069"/>
                    <a:pt x="101872" y="107035"/>
                  </a:cubicBezTo>
                  <a:lnTo>
                    <a:pt x="76687" y="138516"/>
                  </a:lnTo>
                  <a:cubicBezTo>
                    <a:pt x="74868" y="140338"/>
                    <a:pt x="72399" y="141362"/>
                    <a:pt x="69824" y="141362"/>
                  </a:cubicBezTo>
                  <a:cubicBezTo>
                    <a:pt x="67249" y="141362"/>
                    <a:pt x="64780" y="140338"/>
                    <a:pt x="62961" y="138516"/>
                  </a:cubicBezTo>
                  <a:lnTo>
                    <a:pt x="43695" y="120005"/>
                  </a:lnTo>
                  <a:cubicBezTo>
                    <a:pt x="41168" y="117650"/>
                    <a:pt x="40128" y="114105"/>
                    <a:pt x="40983" y="110758"/>
                  </a:cubicBezTo>
                  <a:cubicBezTo>
                    <a:pt x="41837" y="107412"/>
                    <a:pt x="44450" y="104799"/>
                    <a:pt x="47796" y="103945"/>
                  </a:cubicBezTo>
                  <a:cubicBezTo>
                    <a:pt x="51143" y="103090"/>
                    <a:pt x="54689" y="104130"/>
                    <a:pt x="57043" y="106657"/>
                  </a:cubicBezTo>
                  <a:lnTo>
                    <a:pt x="68502" y="118116"/>
                  </a:lnTo>
                  <a:lnTo>
                    <a:pt x="87390" y="94820"/>
                  </a:lnTo>
                  <a:cubicBezTo>
                    <a:pt x="90714" y="90817"/>
                    <a:pt x="96604" y="90150"/>
                    <a:pt x="100738" y="93309"/>
                  </a:cubicBezTo>
                  <a:cubicBezTo>
                    <a:pt x="102719" y="94972"/>
                    <a:pt x="103953" y="97358"/>
                    <a:pt x="104165" y="99936"/>
                  </a:cubicBezTo>
                  <a:close/>
                  <a:moveTo>
                    <a:pt x="0" y="0"/>
                  </a:moveTo>
                  <a:moveTo>
                    <a:pt x="100738" y="162190"/>
                  </a:moveTo>
                  <a:cubicBezTo>
                    <a:pt x="104945" y="165563"/>
                    <a:pt x="105622" y="171707"/>
                    <a:pt x="102250" y="175915"/>
                  </a:cubicBezTo>
                  <a:lnTo>
                    <a:pt x="77065" y="207396"/>
                  </a:lnTo>
                  <a:cubicBezTo>
                    <a:pt x="75339" y="209439"/>
                    <a:pt x="72847" y="210678"/>
                    <a:pt x="70176" y="210821"/>
                  </a:cubicBezTo>
                  <a:cubicBezTo>
                    <a:pt x="67506" y="210964"/>
                    <a:pt x="64895" y="209998"/>
                    <a:pt x="62961" y="208151"/>
                  </a:cubicBezTo>
                  <a:lnTo>
                    <a:pt x="43695" y="188885"/>
                  </a:lnTo>
                  <a:cubicBezTo>
                    <a:pt x="40407" y="186753"/>
                    <a:pt x="38777" y="182813"/>
                    <a:pt x="39598" y="178981"/>
                  </a:cubicBezTo>
                  <a:cubicBezTo>
                    <a:pt x="40420" y="175150"/>
                    <a:pt x="43522" y="172223"/>
                    <a:pt x="47394" y="171627"/>
                  </a:cubicBezTo>
                  <a:cubicBezTo>
                    <a:pt x="51267" y="171030"/>
                    <a:pt x="55106" y="172886"/>
                    <a:pt x="57043" y="176293"/>
                  </a:cubicBezTo>
                  <a:lnTo>
                    <a:pt x="68502" y="187374"/>
                  </a:lnTo>
                  <a:lnTo>
                    <a:pt x="87013" y="163700"/>
                  </a:lnTo>
                  <a:cubicBezTo>
                    <a:pt x="90386" y="159494"/>
                    <a:pt x="96531" y="158817"/>
                    <a:pt x="100738" y="162190"/>
                  </a:cubicBezTo>
                  <a:close/>
                  <a:moveTo>
                    <a:pt x="264439" y="107035"/>
                  </a:moveTo>
                  <a:lnTo>
                    <a:pt x="264439" y="226662"/>
                  </a:lnTo>
                  <a:cubicBezTo>
                    <a:pt x="264439" y="237094"/>
                    <a:pt x="255983" y="245551"/>
                    <a:pt x="245551" y="245551"/>
                  </a:cubicBezTo>
                  <a:lnTo>
                    <a:pt x="226662" y="245551"/>
                  </a:lnTo>
                  <a:cubicBezTo>
                    <a:pt x="216230" y="245551"/>
                    <a:pt x="207774" y="237094"/>
                    <a:pt x="207774" y="226662"/>
                  </a:cubicBezTo>
                  <a:lnTo>
                    <a:pt x="207774" y="107035"/>
                  </a:lnTo>
                  <a:cubicBezTo>
                    <a:pt x="207774" y="103557"/>
                    <a:pt x="210593" y="100738"/>
                    <a:pt x="214070" y="100738"/>
                  </a:cubicBezTo>
                  <a:lnTo>
                    <a:pt x="258143" y="100738"/>
                  </a:lnTo>
                  <a:cubicBezTo>
                    <a:pt x="261620" y="100738"/>
                    <a:pt x="264439" y="103557"/>
                    <a:pt x="264439" y="107035"/>
                  </a:cubicBezTo>
                  <a:close/>
                  <a:moveTo>
                    <a:pt x="302216" y="138516"/>
                  </a:moveTo>
                  <a:cubicBezTo>
                    <a:pt x="302216" y="145470"/>
                    <a:pt x="296579" y="151108"/>
                    <a:pt x="289624" y="151108"/>
                  </a:cubicBezTo>
                  <a:cubicBezTo>
                    <a:pt x="282669" y="151108"/>
                    <a:pt x="277032" y="145470"/>
                    <a:pt x="277032" y="138516"/>
                  </a:cubicBezTo>
                  <a:lnTo>
                    <a:pt x="277032" y="37777"/>
                  </a:lnTo>
                  <a:cubicBezTo>
                    <a:pt x="277032" y="30822"/>
                    <a:pt x="271394" y="25184"/>
                    <a:pt x="264439" y="25184"/>
                  </a:cubicBezTo>
                  <a:lnTo>
                    <a:pt x="264439" y="81850"/>
                  </a:lnTo>
                  <a:cubicBezTo>
                    <a:pt x="264439" y="85327"/>
                    <a:pt x="261620" y="88146"/>
                    <a:pt x="258143" y="88146"/>
                  </a:cubicBezTo>
                  <a:lnTo>
                    <a:pt x="214070" y="88146"/>
                  </a:lnTo>
                  <a:cubicBezTo>
                    <a:pt x="210593" y="88146"/>
                    <a:pt x="207774" y="85327"/>
                    <a:pt x="207774" y="81850"/>
                  </a:cubicBezTo>
                  <a:lnTo>
                    <a:pt x="207774" y="6296"/>
                  </a:lnTo>
                  <a:cubicBezTo>
                    <a:pt x="207774" y="2818"/>
                    <a:pt x="210593" y="0"/>
                    <a:pt x="214070" y="0"/>
                  </a:cubicBezTo>
                  <a:lnTo>
                    <a:pt x="264439" y="0"/>
                  </a:lnTo>
                  <a:cubicBezTo>
                    <a:pt x="285303" y="0"/>
                    <a:pt x="302216" y="16913"/>
                    <a:pt x="302216" y="37777"/>
                  </a:cubicBezTo>
                  <a:close/>
                  <a:moveTo>
                    <a:pt x="176293" y="50369"/>
                  </a:moveTo>
                  <a:lnTo>
                    <a:pt x="25184" y="50369"/>
                  </a:lnTo>
                  <a:lnTo>
                    <a:pt x="25184" y="251847"/>
                  </a:lnTo>
                  <a:lnTo>
                    <a:pt x="176293" y="251847"/>
                  </a:lnTo>
                  <a:cubicBezTo>
                    <a:pt x="183247" y="251847"/>
                    <a:pt x="188885" y="257485"/>
                    <a:pt x="188885" y="264439"/>
                  </a:cubicBezTo>
                  <a:cubicBezTo>
                    <a:pt x="188885" y="271394"/>
                    <a:pt x="183247" y="277032"/>
                    <a:pt x="176293" y="277032"/>
                  </a:cubicBezTo>
                  <a:lnTo>
                    <a:pt x="12592" y="277032"/>
                  </a:lnTo>
                  <a:cubicBezTo>
                    <a:pt x="5637" y="277032"/>
                    <a:pt x="0" y="271394"/>
                    <a:pt x="0" y="264439"/>
                  </a:cubicBezTo>
                  <a:lnTo>
                    <a:pt x="0" y="37777"/>
                  </a:lnTo>
                  <a:cubicBezTo>
                    <a:pt x="0" y="30822"/>
                    <a:pt x="5637" y="25184"/>
                    <a:pt x="12592" y="25184"/>
                  </a:cubicBezTo>
                  <a:lnTo>
                    <a:pt x="176293" y="25184"/>
                  </a:lnTo>
                  <a:cubicBezTo>
                    <a:pt x="183247" y="25184"/>
                    <a:pt x="188885" y="30822"/>
                    <a:pt x="188885" y="37777"/>
                  </a:cubicBezTo>
                  <a:cubicBezTo>
                    <a:pt x="188885" y="44731"/>
                    <a:pt x="183247" y="50369"/>
                    <a:pt x="176293" y="50369"/>
                  </a:cubicBezTo>
                  <a:close/>
                  <a:moveTo>
                    <a:pt x="166848" y="125923"/>
                  </a:moveTo>
                  <a:cubicBezTo>
                    <a:pt x="166848" y="131139"/>
                    <a:pt x="162620" y="135368"/>
                    <a:pt x="157404" y="135368"/>
                  </a:cubicBezTo>
                  <a:lnTo>
                    <a:pt x="125923" y="135368"/>
                  </a:lnTo>
                  <a:cubicBezTo>
                    <a:pt x="120707" y="135368"/>
                    <a:pt x="116479" y="131139"/>
                    <a:pt x="116479" y="125923"/>
                  </a:cubicBezTo>
                  <a:cubicBezTo>
                    <a:pt x="116479" y="120707"/>
                    <a:pt x="120707" y="116479"/>
                    <a:pt x="125923" y="116479"/>
                  </a:cubicBezTo>
                  <a:lnTo>
                    <a:pt x="157404" y="116479"/>
                  </a:lnTo>
                  <a:cubicBezTo>
                    <a:pt x="162620" y="116479"/>
                    <a:pt x="166848" y="120707"/>
                    <a:pt x="166848" y="125923"/>
                  </a:cubicBezTo>
                  <a:close/>
                  <a:moveTo>
                    <a:pt x="166848" y="195181"/>
                  </a:moveTo>
                  <a:cubicBezTo>
                    <a:pt x="166848" y="200397"/>
                    <a:pt x="162620" y="204626"/>
                    <a:pt x="157404" y="204626"/>
                  </a:cubicBezTo>
                  <a:lnTo>
                    <a:pt x="125923" y="204626"/>
                  </a:lnTo>
                  <a:cubicBezTo>
                    <a:pt x="120707" y="204626"/>
                    <a:pt x="116479" y="200397"/>
                    <a:pt x="116479" y="195181"/>
                  </a:cubicBezTo>
                  <a:cubicBezTo>
                    <a:pt x="116479" y="189965"/>
                    <a:pt x="120707" y="185737"/>
                    <a:pt x="125923" y="185737"/>
                  </a:cubicBezTo>
                  <a:lnTo>
                    <a:pt x="157404" y="185737"/>
                  </a:lnTo>
                  <a:cubicBezTo>
                    <a:pt x="162620" y="185737"/>
                    <a:pt x="166848" y="189965"/>
                    <a:pt x="166848" y="195181"/>
                  </a:cubicBezTo>
                  <a:close/>
                  <a:moveTo>
                    <a:pt x="248699" y="270736"/>
                  </a:moveTo>
                  <a:lnTo>
                    <a:pt x="248699" y="289624"/>
                  </a:lnTo>
                  <a:cubicBezTo>
                    <a:pt x="248699" y="296579"/>
                    <a:pt x="243061" y="302216"/>
                    <a:pt x="236106" y="302216"/>
                  </a:cubicBezTo>
                  <a:cubicBezTo>
                    <a:pt x="229152" y="302216"/>
                    <a:pt x="223514" y="296579"/>
                    <a:pt x="223514" y="289624"/>
                  </a:cubicBezTo>
                  <a:lnTo>
                    <a:pt x="223514" y="270736"/>
                  </a:lnTo>
                  <a:cubicBezTo>
                    <a:pt x="223514" y="263781"/>
                    <a:pt x="229152" y="258143"/>
                    <a:pt x="236106" y="258143"/>
                  </a:cubicBezTo>
                  <a:cubicBezTo>
                    <a:pt x="243061" y="258143"/>
                    <a:pt x="248699" y="263781"/>
                    <a:pt x="248699" y="270736"/>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TextBox 22"/>
            <p:cNvSpPr txBox="1"/>
            <p:nvPr/>
          </p:nvSpPr>
          <p:spPr>
            <a:xfrm>
              <a:off x="6474150" y="2117154"/>
              <a:ext cx="2520715" cy="28878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0CB15"/>
                  </a:solidFill>
                </a:rPr>
                <a:t>Eliminate</a:t>
              </a:r>
              <a:r>
                <a:rPr lang="en-US" sz="2000" b="1" dirty="0">
                  <a:solidFill>
                    <a:srgbClr val="E0CB15"/>
                  </a:solidFill>
                </a:rPr>
                <a:t> </a:t>
              </a:r>
              <a:r>
                <a:rPr sz="2000" b="1" dirty="0">
                  <a:solidFill>
                    <a:srgbClr val="E0CB15"/>
                  </a:solidFill>
                </a:rPr>
                <a:t>Cascading</a:t>
              </a:r>
            </a:p>
          </p:txBody>
        </p:sp>
        <p:sp>
          <p:nvSpPr>
            <p:cNvPr id="15" name="TextBox 23"/>
            <p:cNvSpPr txBox="1"/>
            <p:nvPr/>
          </p:nvSpPr>
          <p:spPr>
            <a:xfrm>
              <a:off x="2923059" y="2091713"/>
              <a:ext cx="1802461" cy="288781"/>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3CC583"/>
                  </a:solidFill>
                </a:rPr>
                <a:t>Increase Tax Base</a:t>
              </a:r>
            </a:p>
          </p:txBody>
        </p:sp>
        <p:sp>
          <p:nvSpPr>
            <p:cNvPr id="16" name="TextBox 24"/>
            <p:cNvSpPr txBox="1"/>
            <p:nvPr/>
          </p:nvSpPr>
          <p:spPr>
            <a:xfrm>
              <a:off x="1442293" y="2472437"/>
              <a:ext cx="3283227" cy="51980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b="0" dirty="0">
                  <a:solidFill>
                    <a:srgbClr val="484848"/>
                  </a:solidFill>
                </a:rPr>
                <a:t>Expands the number of</a:t>
              </a:r>
              <a:r>
                <a:rPr lang="en-US" b="0" dirty="0">
                  <a:solidFill>
                    <a:srgbClr val="484848"/>
                  </a:solidFill>
                </a:rPr>
                <a:t> </a:t>
              </a:r>
              <a:r>
                <a:rPr b="0" dirty="0">
                  <a:solidFill>
                    <a:srgbClr val="484848"/>
                  </a:solidFill>
                </a:rPr>
                <a:t>taxpayers and reduces</a:t>
              </a:r>
              <a:r>
                <a:rPr lang="en-US" dirty="0">
                  <a:solidFill>
                    <a:srgbClr val="484848"/>
                  </a:solidFill>
                </a:rPr>
                <a:t> </a:t>
              </a:r>
              <a:r>
                <a:rPr b="0" dirty="0">
                  <a:solidFill>
                    <a:srgbClr val="484848"/>
                  </a:solidFill>
                </a:rPr>
                <a:t>evasion.</a:t>
              </a:r>
            </a:p>
          </p:txBody>
        </p:sp>
        <p:sp>
          <p:nvSpPr>
            <p:cNvPr id="17" name="TextBox 25"/>
            <p:cNvSpPr txBox="1"/>
            <p:nvPr/>
          </p:nvSpPr>
          <p:spPr>
            <a:xfrm>
              <a:off x="6749962" y="2474595"/>
              <a:ext cx="2131019" cy="519805"/>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484848"/>
                  </a:solidFill>
                </a:rPr>
                <a:t>Prevents taxes on taxes,
reducing burden.</a:t>
              </a:r>
            </a:p>
          </p:txBody>
        </p:sp>
        <p:sp>
          <p:nvSpPr>
            <p:cNvPr id="18" name="TextBox 26"/>
            <p:cNvSpPr txBox="1"/>
            <p:nvPr/>
          </p:nvSpPr>
          <p:spPr>
            <a:xfrm>
              <a:off x="2048284" y="3732263"/>
              <a:ext cx="2287615" cy="28878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4E88E7"/>
                  </a:solidFill>
                </a:rPr>
                <a:t>Improve</a:t>
              </a:r>
              <a:r>
                <a:rPr lang="en-US" sz="2000" b="1" dirty="0">
                  <a:solidFill>
                    <a:srgbClr val="4E88E7"/>
                  </a:solidFill>
                </a:rPr>
                <a:t> </a:t>
              </a:r>
              <a:r>
                <a:rPr sz="2000" b="1" dirty="0">
                  <a:solidFill>
                    <a:srgbClr val="4E88E7"/>
                  </a:solidFill>
                </a:rPr>
                <a:t>Efficiency</a:t>
              </a:r>
            </a:p>
          </p:txBody>
        </p:sp>
        <p:sp>
          <p:nvSpPr>
            <p:cNvPr id="19" name="TextBox 27"/>
            <p:cNvSpPr txBox="1"/>
            <p:nvPr/>
          </p:nvSpPr>
          <p:spPr>
            <a:xfrm>
              <a:off x="7338736" y="3734802"/>
              <a:ext cx="1713413" cy="288781"/>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DE8431"/>
                  </a:solidFill>
                </a:rPr>
                <a:t>Unify Tax System</a:t>
              </a:r>
            </a:p>
          </p:txBody>
        </p:sp>
        <p:sp>
          <p:nvSpPr>
            <p:cNvPr id="20" name="TextBox 28"/>
            <p:cNvSpPr txBox="1"/>
            <p:nvPr/>
          </p:nvSpPr>
          <p:spPr>
            <a:xfrm>
              <a:off x="1226800" y="4108562"/>
              <a:ext cx="3109099" cy="51980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b="0" dirty="0">
                  <a:solidFill>
                    <a:srgbClr val="484848"/>
                  </a:solidFill>
                </a:rPr>
                <a:t>Streamlines logistics</a:t>
              </a:r>
              <a:r>
                <a:rPr lang="en-US" b="0" dirty="0">
                  <a:solidFill>
                    <a:srgbClr val="484848"/>
                  </a:solidFill>
                </a:rPr>
                <a:t> </a:t>
              </a:r>
              <a:r>
                <a:rPr b="0" dirty="0">
                  <a:solidFill>
                    <a:srgbClr val="484848"/>
                  </a:solidFill>
                </a:rPr>
                <a:t>and supply chains for</a:t>
              </a:r>
              <a:r>
                <a:rPr lang="en-US" b="0" dirty="0">
                  <a:solidFill>
                    <a:srgbClr val="484848"/>
                  </a:solidFill>
                </a:rPr>
                <a:t> </a:t>
              </a:r>
              <a:r>
                <a:rPr b="0" dirty="0">
                  <a:solidFill>
                    <a:srgbClr val="484848"/>
                  </a:solidFill>
                </a:rPr>
                <a:t>better flow.</a:t>
              </a:r>
            </a:p>
          </p:txBody>
        </p:sp>
        <p:sp>
          <p:nvSpPr>
            <p:cNvPr id="21" name="TextBox 29"/>
            <p:cNvSpPr txBox="1"/>
            <p:nvPr/>
          </p:nvSpPr>
          <p:spPr>
            <a:xfrm>
              <a:off x="7129556" y="4108562"/>
              <a:ext cx="3197030" cy="51980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b="0" dirty="0">
                  <a:solidFill>
                    <a:srgbClr val="484848"/>
                  </a:solidFill>
                </a:rPr>
                <a:t>Creates a single,</a:t>
              </a:r>
              <a:r>
                <a:rPr lang="en-US" b="0" dirty="0">
                  <a:solidFill>
                    <a:srgbClr val="484848"/>
                  </a:solidFill>
                </a:rPr>
                <a:t> </a:t>
              </a:r>
              <a:r>
                <a:rPr b="0" dirty="0">
                  <a:solidFill>
                    <a:srgbClr val="484848"/>
                  </a:solidFill>
                </a:rPr>
                <a:t>streamlined indirect tax</a:t>
              </a:r>
              <a:r>
                <a:rPr lang="en-US" b="0" dirty="0">
                  <a:solidFill>
                    <a:srgbClr val="484848"/>
                  </a:solidFill>
                </a:rPr>
                <a:t> </a:t>
              </a:r>
              <a:r>
                <a:rPr b="0" dirty="0">
                  <a:solidFill>
                    <a:srgbClr val="484848"/>
                  </a:solidFill>
                </a:rPr>
                <a:t>structure.</a:t>
              </a:r>
            </a:p>
          </p:txBody>
        </p:sp>
        <p:sp>
          <p:nvSpPr>
            <p:cNvPr id="22" name="TextBox 30"/>
            <p:cNvSpPr txBox="1"/>
            <p:nvPr/>
          </p:nvSpPr>
          <p:spPr>
            <a:xfrm>
              <a:off x="4472349" y="5188616"/>
              <a:ext cx="2506865" cy="28878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55753"/>
                  </a:solidFill>
                </a:rPr>
                <a:t>Simplify</a:t>
              </a:r>
              <a:r>
                <a:rPr lang="en-US" sz="2000" b="1" dirty="0">
                  <a:solidFill>
                    <a:srgbClr val="E55753"/>
                  </a:solidFill>
                </a:rPr>
                <a:t> </a:t>
              </a:r>
              <a:r>
                <a:rPr sz="2000" b="1" dirty="0">
                  <a:solidFill>
                    <a:srgbClr val="E55753"/>
                  </a:solidFill>
                </a:rPr>
                <a:t>Compliance</a:t>
              </a:r>
            </a:p>
          </p:txBody>
        </p:sp>
        <p:sp>
          <p:nvSpPr>
            <p:cNvPr id="23" name="TextBox 31"/>
            <p:cNvSpPr txBox="1"/>
            <p:nvPr/>
          </p:nvSpPr>
          <p:spPr>
            <a:xfrm>
              <a:off x="4131115" y="5568086"/>
              <a:ext cx="3172543" cy="51980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Makes it easier for</a:t>
              </a:r>
              <a:r>
                <a:rPr lang="en-US" b="0" dirty="0">
                  <a:solidFill>
                    <a:srgbClr val="484848"/>
                  </a:solidFill>
                </a:rPr>
                <a:t> </a:t>
              </a:r>
              <a:r>
                <a:rPr b="0" dirty="0">
                  <a:solidFill>
                    <a:srgbClr val="484848"/>
                  </a:solidFill>
                </a:rPr>
                <a:t>businesses to follow tax</a:t>
              </a:r>
              <a:r>
                <a:rPr lang="en-US" b="0" dirty="0">
                  <a:solidFill>
                    <a:srgbClr val="484848"/>
                  </a:solidFill>
                </a:rPr>
                <a:t> </a:t>
              </a:r>
              <a:r>
                <a:rPr b="0" dirty="0">
                  <a:solidFill>
                    <a:srgbClr val="484848"/>
                  </a:solidFill>
                </a:rPr>
                <a:t>rules.</a:t>
              </a:r>
            </a:p>
          </p:txBody>
        </p:sp>
      </p:grpSp>
    </p:spTree>
    <p:extLst>
      <p:ext uri="{BB962C8B-B14F-4D97-AF65-F5344CB8AC3E}">
        <p14:creationId xmlns:p14="http://schemas.microsoft.com/office/powerpoint/2010/main" val="3852996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Times New Roman" panose="02020603050405020304" pitchFamily="18" charset="0"/>
              </a:rPr>
              <a:t>Key Features of GST</a:t>
            </a:r>
          </a:p>
        </p:txBody>
      </p:sp>
      <p:grpSp>
        <p:nvGrpSpPr>
          <p:cNvPr id="4" name="Group 3"/>
          <p:cNvGrpSpPr/>
          <p:nvPr/>
        </p:nvGrpSpPr>
        <p:grpSpPr>
          <a:xfrm>
            <a:off x="1820505" y="1051495"/>
            <a:ext cx="2015790" cy="2548644"/>
            <a:chOff x="419548" y="1153757"/>
            <a:chExt cx="1468418" cy="2091341"/>
          </a:xfrm>
        </p:grpSpPr>
        <p:sp>
          <p:nvSpPr>
            <p:cNvPr id="44" name="Rounded Rectangle 1"/>
            <p:cNvSpPr/>
            <p:nvPr/>
          </p:nvSpPr>
          <p:spPr>
            <a:xfrm>
              <a:off x="419548" y="1153757"/>
              <a:ext cx="1468418" cy="2091341"/>
            </a:xfrm>
            <a:custGeom>
              <a:avLst/>
              <a:gdLst/>
              <a:ahLst/>
              <a:cxnLst/>
              <a:rect l="0" t="0" r="0" b="0"/>
              <a:pathLst>
                <a:path w="1468418" h="2091341">
                  <a:moveTo>
                    <a:pt x="1468418" y="104887"/>
                  </a:moveTo>
                  <a:lnTo>
                    <a:pt x="0" y="104887"/>
                  </a:lnTo>
                  <a:cubicBezTo>
                    <a:pt x="0" y="46959"/>
                    <a:pt x="46959" y="0"/>
                    <a:pt x="104887" y="0"/>
                  </a:cubicBezTo>
                  <a:lnTo>
                    <a:pt x="1363531" y="0"/>
                  </a:lnTo>
                  <a:cubicBezTo>
                    <a:pt x="1421455" y="0"/>
                    <a:pt x="1468418" y="46959"/>
                    <a:pt x="1468418" y="104887"/>
                  </a:cubicBezTo>
                  <a:close/>
                  <a:moveTo>
                    <a:pt x="0" y="1678192"/>
                  </a:moveTo>
                  <a:lnTo>
                    <a:pt x="0" y="104887"/>
                  </a:lnTo>
                  <a:lnTo>
                    <a:pt x="1468418" y="104887"/>
                  </a:lnTo>
                  <a:lnTo>
                    <a:pt x="1468418" y="1678192"/>
                  </a:lnTo>
                  <a:close/>
                  <a:moveTo>
                    <a:pt x="0" y="1678192"/>
                  </a:moveTo>
                  <a:lnTo>
                    <a:pt x="1468418" y="1678192"/>
                  </a:lnTo>
                  <a:lnTo>
                    <a:pt x="1468418" y="1713918"/>
                  </a:lnTo>
                  <a:cubicBezTo>
                    <a:pt x="1468418" y="1755875"/>
                    <a:pt x="1443412" y="1793795"/>
                    <a:pt x="1404848" y="1810324"/>
                  </a:cubicBezTo>
                  <a:lnTo>
                    <a:pt x="775526" y="2080033"/>
                  </a:lnTo>
                  <a:cubicBezTo>
                    <a:pt x="749142" y="2091341"/>
                    <a:pt x="719276" y="2091341"/>
                    <a:pt x="692892" y="2080033"/>
                  </a:cubicBezTo>
                  <a:lnTo>
                    <a:pt x="63570" y="1810324"/>
                  </a:lnTo>
                  <a:cubicBezTo>
                    <a:pt x="25005" y="1793795"/>
                    <a:pt x="0" y="1755875"/>
                    <a:pt x="0" y="1713918"/>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5" name="Rounded Rectangle 2"/>
            <p:cNvSpPr/>
            <p:nvPr/>
          </p:nvSpPr>
          <p:spPr>
            <a:xfrm>
              <a:off x="419548" y="1153757"/>
              <a:ext cx="1468418" cy="2091341"/>
            </a:xfrm>
            <a:custGeom>
              <a:avLst/>
              <a:gdLst/>
              <a:ahLst/>
              <a:cxnLst/>
              <a:rect l="0" t="0" r="0" b="0"/>
              <a:pathLst>
                <a:path w="1468418" h="2091341">
                  <a:moveTo>
                    <a:pt x="0" y="104887"/>
                  </a:moveTo>
                  <a:cubicBezTo>
                    <a:pt x="0" y="46959"/>
                    <a:pt x="46959" y="0"/>
                    <a:pt x="104887" y="0"/>
                  </a:cubicBezTo>
                  <a:lnTo>
                    <a:pt x="1363531" y="0"/>
                  </a:lnTo>
                  <a:cubicBezTo>
                    <a:pt x="1421459" y="0"/>
                    <a:pt x="1468418" y="46959"/>
                    <a:pt x="1468418" y="104887"/>
                  </a:cubicBezTo>
                  <a:moveTo>
                    <a:pt x="1468418" y="1678190"/>
                  </a:moveTo>
                  <a:lnTo>
                    <a:pt x="1468418" y="104887"/>
                  </a:lnTo>
                  <a:moveTo>
                    <a:pt x="0" y="104887"/>
                  </a:moveTo>
                  <a:lnTo>
                    <a:pt x="0" y="1678190"/>
                  </a:lnTo>
                  <a:moveTo>
                    <a:pt x="1468418" y="1678192"/>
                  </a:moveTo>
                  <a:lnTo>
                    <a:pt x="1468418" y="1713917"/>
                  </a:lnTo>
                  <a:cubicBezTo>
                    <a:pt x="1468418" y="1755875"/>
                    <a:pt x="1443413" y="1793795"/>
                    <a:pt x="1404848" y="1810324"/>
                  </a:cubicBezTo>
                  <a:lnTo>
                    <a:pt x="775526" y="2080033"/>
                  </a:lnTo>
                  <a:cubicBezTo>
                    <a:pt x="749142" y="2091341"/>
                    <a:pt x="719276" y="2091341"/>
                    <a:pt x="692892" y="2080033"/>
                  </a:cubicBezTo>
                  <a:lnTo>
                    <a:pt x="63570" y="1810324"/>
                  </a:lnTo>
                  <a:cubicBezTo>
                    <a:pt x="25005" y="1793795"/>
                    <a:pt x="0" y="1755875"/>
                    <a:pt x="0" y="1713917"/>
                  </a:cubicBezTo>
                  <a:lnTo>
                    <a:pt x="0" y="1678192"/>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018050" y="1050879"/>
            <a:ext cx="2015790" cy="2548644"/>
            <a:chOff x="2097741" y="1153757"/>
            <a:chExt cx="1468418" cy="2091341"/>
          </a:xfrm>
        </p:grpSpPr>
        <p:sp>
          <p:nvSpPr>
            <p:cNvPr id="42" name="Rounded Rectangle 4"/>
            <p:cNvSpPr/>
            <p:nvPr/>
          </p:nvSpPr>
          <p:spPr>
            <a:xfrm>
              <a:off x="2097741" y="1153757"/>
              <a:ext cx="1468418" cy="2091341"/>
            </a:xfrm>
            <a:custGeom>
              <a:avLst/>
              <a:gdLst/>
              <a:ahLst/>
              <a:cxnLst/>
              <a:rect l="0" t="0" r="0" b="0"/>
              <a:pathLst>
                <a:path w="1468418" h="2091341">
                  <a:moveTo>
                    <a:pt x="1468418" y="104887"/>
                  </a:moveTo>
                  <a:lnTo>
                    <a:pt x="0" y="104887"/>
                  </a:lnTo>
                  <a:cubicBezTo>
                    <a:pt x="0" y="46959"/>
                    <a:pt x="46959" y="0"/>
                    <a:pt x="104887" y="0"/>
                  </a:cubicBezTo>
                  <a:lnTo>
                    <a:pt x="1363531" y="0"/>
                  </a:lnTo>
                  <a:cubicBezTo>
                    <a:pt x="1421455" y="0"/>
                    <a:pt x="1468418" y="46959"/>
                    <a:pt x="1468418" y="104887"/>
                  </a:cubicBezTo>
                  <a:close/>
                  <a:moveTo>
                    <a:pt x="0" y="1678192"/>
                  </a:moveTo>
                  <a:lnTo>
                    <a:pt x="0" y="104887"/>
                  </a:lnTo>
                  <a:lnTo>
                    <a:pt x="1468418" y="104887"/>
                  </a:lnTo>
                  <a:lnTo>
                    <a:pt x="1468418" y="1678192"/>
                  </a:lnTo>
                  <a:close/>
                  <a:moveTo>
                    <a:pt x="0" y="1678192"/>
                  </a:moveTo>
                  <a:lnTo>
                    <a:pt x="1468418" y="1678192"/>
                  </a:lnTo>
                  <a:lnTo>
                    <a:pt x="1468418" y="1713918"/>
                  </a:lnTo>
                  <a:cubicBezTo>
                    <a:pt x="1468418" y="1755875"/>
                    <a:pt x="1443412" y="1793795"/>
                    <a:pt x="1404848" y="1810324"/>
                  </a:cubicBezTo>
                  <a:lnTo>
                    <a:pt x="775526" y="2080033"/>
                  </a:lnTo>
                  <a:cubicBezTo>
                    <a:pt x="749142" y="2091341"/>
                    <a:pt x="719276" y="2091341"/>
                    <a:pt x="692892" y="2080033"/>
                  </a:cubicBezTo>
                  <a:lnTo>
                    <a:pt x="63570" y="1810324"/>
                  </a:lnTo>
                  <a:cubicBezTo>
                    <a:pt x="25005" y="1793795"/>
                    <a:pt x="0" y="1755875"/>
                    <a:pt x="0" y="171391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3" name="Rounded Rectangle 5"/>
            <p:cNvSpPr/>
            <p:nvPr/>
          </p:nvSpPr>
          <p:spPr>
            <a:xfrm>
              <a:off x="2097741" y="1153757"/>
              <a:ext cx="1468418" cy="2091341"/>
            </a:xfrm>
            <a:custGeom>
              <a:avLst/>
              <a:gdLst/>
              <a:ahLst/>
              <a:cxnLst/>
              <a:rect l="0" t="0" r="0" b="0"/>
              <a:pathLst>
                <a:path w="1468418" h="2091341">
                  <a:moveTo>
                    <a:pt x="0" y="104887"/>
                  </a:moveTo>
                  <a:cubicBezTo>
                    <a:pt x="0" y="46959"/>
                    <a:pt x="46959" y="0"/>
                    <a:pt x="104887" y="0"/>
                  </a:cubicBezTo>
                  <a:lnTo>
                    <a:pt x="1363531" y="0"/>
                  </a:lnTo>
                  <a:cubicBezTo>
                    <a:pt x="1421459" y="0"/>
                    <a:pt x="1468418" y="46959"/>
                    <a:pt x="1468418" y="104887"/>
                  </a:cubicBezTo>
                  <a:moveTo>
                    <a:pt x="1468418" y="1678190"/>
                  </a:moveTo>
                  <a:lnTo>
                    <a:pt x="1468418" y="104887"/>
                  </a:lnTo>
                  <a:moveTo>
                    <a:pt x="0" y="104887"/>
                  </a:moveTo>
                  <a:lnTo>
                    <a:pt x="0" y="1678190"/>
                  </a:lnTo>
                  <a:moveTo>
                    <a:pt x="1468418" y="1678192"/>
                  </a:moveTo>
                  <a:lnTo>
                    <a:pt x="1468418" y="1713917"/>
                  </a:lnTo>
                  <a:cubicBezTo>
                    <a:pt x="1468418" y="1755875"/>
                    <a:pt x="1443413" y="1793795"/>
                    <a:pt x="1404848" y="1810324"/>
                  </a:cubicBezTo>
                  <a:lnTo>
                    <a:pt x="775526" y="2080033"/>
                  </a:lnTo>
                  <a:cubicBezTo>
                    <a:pt x="749142" y="2091341"/>
                    <a:pt x="719276" y="2091341"/>
                    <a:pt x="692892" y="2080033"/>
                  </a:cubicBezTo>
                  <a:lnTo>
                    <a:pt x="63570" y="1810324"/>
                  </a:lnTo>
                  <a:cubicBezTo>
                    <a:pt x="25005" y="1793795"/>
                    <a:pt x="0" y="1755875"/>
                    <a:pt x="0" y="1713917"/>
                  </a:cubicBezTo>
                  <a:lnTo>
                    <a:pt x="0" y="1678192"/>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6211283" y="1048365"/>
            <a:ext cx="2015790" cy="2548644"/>
            <a:chOff x="3775934" y="1153757"/>
            <a:chExt cx="1468418" cy="2091341"/>
          </a:xfrm>
        </p:grpSpPr>
        <p:sp>
          <p:nvSpPr>
            <p:cNvPr id="40" name="Rounded Rectangle 7"/>
            <p:cNvSpPr/>
            <p:nvPr/>
          </p:nvSpPr>
          <p:spPr>
            <a:xfrm>
              <a:off x="3775934" y="1153757"/>
              <a:ext cx="1468418" cy="2091341"/>
            </a:xfrm>
            <a:custGeom>
              <a:avLst/>
              <a:gdLst/>
              <a:ahLst/>
              <a:cxnLst/>
              <a:rect l="0" t="0" r="0" b="0"/>
              <a:pathLst>
                <a:path w="1468418" h="2091341">
                  <a:moveTo>
                    <a:pt x="1468418" y="104887"/>
                  </a:moveTo>
                  <a:lnTo>
                    <a:pt x="0" y="104887"/>
                  </a:lnTo>
                  <a:cubicBezTo>
                    <a:pt x="0" y="46959"/>
                    <a:pt x="46959" y="0"/>
                    <a:pt x="104887" y="0"/>
                  </a:cubicBezTo>
                  <a:lnTo>
                    <a:pt x="1363531" y="0"/>
                  </a:lnTo>
                  <a:cubicBezTo>
                    <a:pt x="1421455" y="0"/>
                    <a:pt x="1468418" y="46959"/>
                    <a:pt x="1468418" y="104887"/>
                  </a:cubicBezTo>
                  <a:close/>
                  <a:moveTo>
                    <a:pt x="0" y="1678192"/>
                  </a:moveTo>
                  <a:lnTo>
                    <a:pt x="0" y="104887"/>
                  </a:lnTo>
                  <a:lnTo>
                    <a:pt x="1468418" y="104887"/>
                  </a:lnTo>
                  <a:lnTo>
                    <a:pt x="1468418" y="1678192"/>
                  </a:lnTo>
                  <a:close/>
                  <a:moveTo>
                    <a:pt x="0" y="1678192"/>
                  </a:moveTo>
                  <a:lnTo>
                    <a:pt x="1468418" y="1678192"/>
                  </a:lnTo>
                  <a:lnTo>
                    <a:pt x="1468418" y="1713918"/>
                  </a:lnTo>
                  <a:cubicBezTo>
                    <a:pt x="1468418" y="1755875"/>
                    <a:pt x="1443412" y="1793795"/>
                    <a:pt x="1404848" y="1810324"/>
                  </a:cubicBezTo>
                  <a:lnTo>
                    <a:pt x="775526" y="2080033"/>
                  </a:lnTo>
                  <a:cubicBezTo>
                    <a:pt x="749142" y="2091341"/>
                    <a:pt x="719276" y="2091341"/>
                    <a:pt x="692892" y="2080033"/>
                  </a:cubicBezTo>
                  <a:lnTo>
                    <a:pt x="63570" y="1810324"/>
                  </a:lnTo>
                  <a:cubicBezTo>
                    <a:pt x="25005" y="1793795"/>
                    <a:pt x="0" y="1755875"/>
                    <a:pt x="0" y="171391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1" name="Rounded Rectangle 8"/>
            <p:cNvSpPr/>
            <p:nvPr/>
          </p:nvSpPr>
          <p:spPr>
            <a:xfrm>
              <a:off x="3775934" y="1153757"/>
              <a:ext cx="1468418" cy="2091341"/>
            </a:xfrm>
            <a:custGeom>
              <a:avLst/>
              <a:gdLst/>
              <a:ahLst/>
              <a:cxnLst/>
              <a:rect l="0" t="0" r="0" b="0"/>
              <a:pathLst>
                <a:path w="1468418" h="2091341">
                  <a:moveTo>
                    <a:pt x="0" y="104887"/>
                  </a:moveTo>
                  <a:cubicBezTo>
                    <a:pt x="0" y="46959"/>
                    <a:pt x="46959" y="0"/>
                    <a:pt x="104887" y="0"/>
                  </a:cubicBezTo>
                  <a:lnTo>
                    <a:pt x="1363531" y="0"/>
                  </a:lnTo>
                  <a:cubicBezTo>
                    <a:pt x="1421459" y="0"/>
                    <a:pt x="1468418" y="46959"/>
                    <a:pt x="1468418" y="104887"/>
                  </a:cubicBezTo>
                  <a:moveTo>
                    <a:pt x="1468418" y="1678190"/>
                  </a:moveTo>
                  <a:lnTo>
                    <a:pt x="1468418" y="104887"/>
                  </a:lnTo>
                  <a:moveTo>
                    <a:pt x="0" y="104887"/>
                  </a:moveTo>
                  <a:lnTo>
                    <a:pt x="0" y="1678190"/>
                  </a:lnTo>
                  <a:moveTo>
                    <a:pt x="1468418" y="1678192"/>
                  </a:moveTo>
                  <a:lnTo>
                    <a:pt x="1468418" y="1713917"/>
                  </a:lnTo>
                  <a:cubicBezTo>
                    <a:pt x="1468418" y="1755875"/>
                    <a:pt x="1443413" y="1793795"/>
                    <a:pt x="1404848" y="1810324"/>
                  </a:cubicBezTo>
                  <a:lnTo>
                    <a:pt x="775526" y="2080033"/>
                  </a:lnTo>
                  <a:cubicBezTo>
                    <a:pt x="749142" y="2091341"/>
                    <a:pt x="719276" y="2091341"/>
                    <a:pt x="692892" y="2080033"/>
                  </a:cubicBezTo>
                  <a:lnTo>
                    <a:pt x="63570" y="1810324"/>
                  </a:lnTo>
                  <a:cubicBezTo>
                    <a:pt x="25005" y="1793795"/>
                    <a:pt x="0" y="1755875"/>
                    <a:pt x="0" y="1713917"/>
                  </a:cubicBezTo>
                  <a:lnTo>
                    <a:pt x="0" y="1678192"/>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8408828" y="1050879"/>
            <a:ext cx="2015790" cy="2548644"/>
            <a:chOff x="5454127" y="1153757"/>
            <a:chExt cx="1468418" cy="2091341"/>
          </a:xfrm>
        </p:grpSpPr>
        <p:sp>
          <p:nvSpPr>
            <p:cNvPr id="38" name="Rounded Rectangle 10"/>
            <p:cNvSpPr/>
            <p:nvPr/>
          </p:nvSpPr>
          <p:spPr>
            <a:xfrm>
              <a:off x="5454127" y="1153757"/>
              <a:ext cx="1468418" cy="2091341"/>
            </a:xfrm>
            <a:custGeom>
              <a:avLst/>
              <a:gdLst/>
              <a:ahLst/>
              <a:cxnLst/>
              <a:rect l="0" t="0" r="0" b="0"/>
              <a:pathLst>
                <a:path w="1468418" h="2091341">
                  <a:moveTo>
                    <a:pt x="1468418" y="104887"/>
                  </a:moveTo>
                  <a:lnTo>
                    <a:pt x="0" y="104887"/>
                  </a:lnTo>
                  <a:cubicBezTo>
                    <a:pt x="0" y="46959"/>
                    <a:pt x="46959" y="0"/>
                    <a:pt x="104887" y="0"/>
                  </a:cubicBezTo>
                  <a:lnTo>
                    <a:pt x="1363531" y="0"/>
                  </a:lnTo>
                  <a:cubicBezTo>
                    <a:pt x="1421455" y="0"/>
                    <a:pt x="1468418" y="46959"/>
                    <a:pt x="1468418" y="104887"/>
                  </a:cubicBezTo>
                  <a:close/>
                  <a:moveTo>
                    <a:pt x="0" y="1678192"/>
                  </a:moveTo>
                  <a:lnTo>
                    <a:pt x="0" y="104887"/>
                  </a:lnTo>
                  <a:lnTo>
                    <a:pt x="1468418" y="104887"/>
                  </a:lnTo>
                  <a:lnTo>
                    <a:pt x="1468418" y="1678192"/>
                  </a:lnTo>
                  <a:close/>
                  <a:moveTo>
                    <a:pt x="0" y="1678192"/>
                  </a:moveTo>
                  <a:lnTo>
                    <a:pt x="1468418" y="1678192"/>
                  </a:lnTo>
                  <a:lnTo>
                    <a:pt x="1468418" y="1713918"/>
                  </a:lnTo>
                  <a:cubicBezTo>
                    <a:pt x="1468418" y="1755875"/>
                    <a:pt x="1443412" y="1793795"/>
                    <a:pt x="1404848" y="1810324"/>
                  </a:cubicBezTo>
                  <a:lnTo>
                    <a:pt x="775526" y="2080033"/>
                  </a:lnTo>
                  <a:cubicBezTo>
                    <a:pt x="749142" y="2091341"/>
                    <a:pt x="719276" y="2091341"/>
                    <a:pt x="692892" y="2080033"/>
                  </a:cubicBezTo>
                  <a:lnTo>
                    <a:pt x="63570" y="1810324"/>
                  </a:lnTo>
                  <a:cubicBezTo>
                    <a:pt x="25005" y="1793795"/>
                    <a:pt x="0" y="1755875"/>
                    <a:pt x="0" y="1713918"/>
                  </a:cubicBez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9" name="Rounded Rectangle 11"/>
            <p:cNvSpPr/>
            <p:nvPr/>
          </p:nvSpPr>
          <p:spPr>
            <a:xfrm>
              <a:off x="5454127" y="1153757"/>
              <a:ext cx="1468418" cy="2091341"/>
            </a:xfrm>
            <a:custGeom>
              <a:avLst/>
              <a:gdLst/>
              <a:ahLst/>
              <a:cxnLst/>
              <a:rect l="0" t="0" r="0" b="0"/>
              <a:pathLst>
                <a:path w="1468418" h="2091341">
                  <a:moveTo>
                    <a:pt x="0" y="104887"/>
                  </a:moveTo>
                  <a:cubicBezTo>
                    <a:pt x="0" y="46959"/>
                    <a:pt x="46959" y="0"/>
                    <a:pt x="104887" y="0"/>
                  </a:cubicBezTo>
                  <a:lnTo>
                    <a:pt x="1363531" y="0"/>
                  </a:lnTo>
                  <a:cubicBezTo>
                    <a:pt x="1421459" y="0"/>
                    <a:pt x="1468418" y="46959"/>
                    <a:pt x="1468418" y="104887"/>
                  </a:cubicBezTo>
                  <a:moveTo>
                    <a:pt x="1468418" y="1678190"/>
                  </a:moveTo>
                  <a:lnTo>
                    <a:pt x="1468418" y="104887"/>
                  </a:lnTo>
                  <a:moveTo>
                    <a:pt x="0" y="104887"/>
                  </a:moveTo>
                  <a:lnTo>
                    <a:pt x="0" y="1678190"/>
                  </a:lnTo>
                  <a:moveTo>
                    <a:pt x="1468418" y="1678192"/>
                  </a:moveTo>
                  <a:lnTo>
                    <a:pt x="1468418" y="1713917"/>
                  </a:lnTo>
                  <a:cubicBezTo>
                    <a:pt x="1468418" y="1755875"/>
                    <a:pt x="1443413" y="1793795"/>
                    <a:pt x="1404848" y="1810324"/>
                  </a:cubicBezTo>
                  <a:lnTo>
                    <a:pt x="775526" y="2080033"/>
                  </a:lnTo>
                  <a:cubicBezTo>
                    <a:pt x="749142" y="2091341"/>
                    <a:pt x="719276" y="2091341"/>
                    <a:pt x="692892" y="2080033"/>
                  </a:cubicBezTo>
                  <a:lnTo>
                    <a:pt x="63570" y="1810324"/>
                  </a:lnTo>
                  <a:cubicBezTo>
                    <a:pt x="25005" y="1793795"/>
                    <a:pt x="0" y="1755875"/>
                    <a:pt x="0" y="1713917"/>
                  </a:cubicBezTo>
                  <a:lnTo>
                    <a:pt x="0" y="1678192"/>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2913229" y="3307184"/>
            <a:ext cx="2015790" cy="2677058"/>
            <a:chOff x="1258644" y="3117563"/>
            <a:chExt cx="1468418" cy="2196714"/>
          </a:xfrm>
        </p:grpSpPr>
        <p:sp>
          <p:nvSpPr>
            <p:cNvPr id="36" name="Rounded Rectangle 13"/>
            <p:cNvSpPr/>
            <p:nvPr/>
          </p:nvSpPr>
          <p:spPr>
            <a:xfrm>
              <a:off x="1258644" y="3117563"/>
              <a:ext cx="1468418" cy="2196714"/>
            </a:xfrm>
            <a:custGeom>
              <a:avLst/>
              <a:gdLst/>
              <a:ahLst/>
              <a:cxnLst/>
              <a:rect l="0" t="0" r="0" b="0"/>
              <a:pathLst>
                <a:path w="1468418" h="2196714">
                  <a:moveTo>
                    <a:pt x="0" y="2091827"/>
                  </a:moveTo>
                  <a:lnTo>
                    <a:pt x="1468418" y="2091827"/>
                  </a:lnTo>
                  <a:cubicBezTo>
                    <a:pt x="1468418" y="2149755"/>
                    <a:pt x="1421455" y="2196714"/>
                    <a:pt x="1363531" y="2196714"/>
                  </a:cubicBezTo>
                  <a:lnTo>
                    <a:pt x="104887" y="2196714"/>
                  </a:lnTo>
                  <a:cubicBezTo>
                    <a:pt x="46959" y="2196714"/>
                    <a:pt x="0" y="2149754"/>
                    <a:pt x="0" y="2091827"/>
                  </a:cubicBezTo>
                  <a:close/>
                  <a:moveTo>
                    <a:pt x="0" y="2091827"/>
                  </a:moveTo>
                  <a:lnTo>
                    <a:pt x="0" y="413634"/>
                  </a:lnTo>
                  <a:lnTo>
                    <a:pt x="1468418" y="413634"/>
                  </a:lnTo>
                  <a:lnTo>
                    <a:pt x="1468418" y="2091827"/>
                  </a:lnTo>
                  <a:close/>
                  <a:moveTo>
                    <a:pt x="1468418" y="413148"/>
                  </a:moveTo>
                  <a:lnTo>
                    <a:pt x="0" y="413148"/>
                  </a:lnTo>
                  <a:lnTo>
                    <a:pt x="0" y="377422"/>
                  </a:lnTo>
                  <a:cubicBezTo>
                    <a:pt x="0" y="335465"/>
                    <a:pt x="25005" y="297544"/>
                    <a:pt x="63570" y="281016"/>
                  </a:cubicBezTo>
                  <a:lnTo>
                    <a:pt x="692892" y="11307"/>
                  </a:lnTo>
                  <a:cubicBezTo>
                    <a:pt x="719276" y="0"/>
                    <a:pt x="749142" y="0"/>
                    <a:pt x="775526" y="11307"/>
                  </a:cubicBezTo>
                  <a:lnTo>
                    <a:pt x="1404848" y="281016"/>
                  </a:lnTo>
                  <a:cubicBezTo>
                    <a:pt x="1443412" y="297544"/>
                    <a:pt x="1468418" y="335465"/>
                    <a:pt x="1468418" y="377422"/>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14"/>
            <p:cNvSpPr/>
            <p:nvPr/>
          </p:nvSpPr>
          <p:spPr>
            <a:xfrm>
              <a:off x="1258644" y="3117563"/>
              <a:ext cx="1468418" cy="2196714"/>
            </a:xfrm>
            <a:custGeom>
              <a:avLst/>
              <a:gdLst/>
              <a:ahLst/>
              <a:cxnLst/>
              <a:rect l="0" t="0" r="0" b="0"/>
              <a:pathLst>
                <a:path w="1468418" h="2196714">
                  <a:moveTo>
                    <a:pt x="1468418" y="2091827"/>
                  </a:moveTo>
                  <a:cubicBezTo>
                    <a:pt x="1468418" y="2149754"/>
                    <a:pt x="1421459" y="2196714"/>
                    <a:pt x="1363531" y="2196714"/>
                  </a:cubicBezTo>
                  <a:lnTo>
                    <a:pt x="104887" y="2196714"/>
                  </a:lnTo>
                  <a:cubicBezTo>
                    <a:pt x="46959" y="2196714"/>
                    <a:pt x="0" y="2149754"/>
                    <a:pt x="0" y="2091827"/>
                  </a:cubicBezTo>
                  <a:moveTo>
                    <a:pt x="1468418" y="2091824"/>
                  </a:moveTo>
                  <a:lnTo>
                    <a:pt x="1468418" y="413634"/>
                  </a:lnTo>
                  <a:moveTo>
                    <a:pt x="0" y="2091824"/>
                  </a:moveTo>
                  <a:lnTo>
                    <a:pt x="0" y="413634"/>
                  </a:lnTo>
                  <a:moveTo>
                    <a:pt x="0" y="413148"/>
                  </a:moveTo>
                  <a:lnTo>
                    <a:pt x="0" y="377422"/>
                  </a:lnTo>
                  <a:cubicBezTo>
                    <a:pt x="0" y="335465"/>
                    <a:pt x="25005" y="297544"/>
                    <a:pt x="63570" y="281016"/>
                  </a:cubicBezTo>
                  <a:lnTo>
                    <a:pt x="692892" y="11307"/>
                  </a:lnTo>
                  <a:cubicBezTo>
                    <a:pt x="719276" y="0"/>
                    <a:pt x="749142" y="0"/>
                    <a:pt x="775526" y="11307"/>
                  </a:cubicBezTo>
                  <a:lnTo>
                    <a:pt x="1404848" y="281016"/>
                  </a:lnTo>
                  <a:cubicBezTo>
                    <a:pt x="1443413" y="297544"/>
                    <a:pt x="1468418" y="335465"/>
                    <a:pt x="1468418" y="377422"/>
                  </a:cubicBezTo>
                  <a:lnTo>
                    <a:pt x="1468418" y="413148"/>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5107973" y="3307184"/>
            <a:ext cx="2015790" cy="2677058"/>
            <a:chOff x="2936837" y="3117563"/>
            <a:chExt cx="1468418" cy="2196714"/>
          </a:xfrm>
        </p:grpSpPr>
        <p:sp>
          <p:nvSpPr>
            <p:cNvPr id="34" name="Rounded Rectangle 16"/>
            <p:cNvSpPr/>
            <p:nvPr/>
          </p:nvSpPr>
          <p:spPr>
            <a:xfrm>
              <a:off x="2936837" y="3117563"/>
              <a:ext cx="1468418" cy="2196714"/>
            </a:xfrm>
            <a:custGeom>
              <a:avLst/>
              <a:gdLst/>
              <a:ahLst/>
              <a:cxnLst/>
              <a:rect l="0" t="0" r="0" b="0"/>
              <a:pathLst>
                <a:path w="1468418" h="2196714">
                  <a:moveTo>
                    <a:pt x="0" y="2091827"/>
                  </a:moveTo>
                  <a:lnTo>
                    <a:pt x="1468418" y="2091827"/>
                  </a:lnTo>
                  <a:cubicBezTo>
                    <a:pt x="1468418" y="2149755"/>
                    <a:pt x="1421455" y="2196714"/>
                    <a:pt x="1363531" y="2196714"/>
                  </a:cubicBezTo>
                  <a:lnTo>
                    <a:pt x="104887" y="2196714"/>
                  </a:lnTo>
                  <a:cubicBezTo>
                    <a:pt x="46959" y="2196714"/>
                    <a:pt x="0" y="2149754"/>
                    <a:pt x="0" y="2091827"/>
                  </a:cubicBezTo>
                  <a:close/>
                  <a:moveTo>
                    <a:pt x="0" y="2091827"/>
                  </a:moveTo>
                  <a:lnTo>
                    <a:pt x="0" y="413634"/>
                  </a:lnTo>
                  <a:lnTo>
                    <a:pt x="1468418" y="413634"/>
                  </a:lnTo>
                  <a:lnTo>
                    <a:pt x="1468418" y="2091827"/>
                  </a:lnTo>
                  <a:close/>
                  <a:moveTo>
                    <a:pt x="1468418" y="413148"/>
                  </a:moveTo>
                  <a:lnTo>
                    <a:pt x="0" y="413148"/>
                  </a:lnTo>
                  <a:lnTo>
                    <a:pt x="0" y="377422"/>
                  </a:lnTo>
                  <a:cubicBezTo>
                    <a:pt x="0" y="335465"/>
                    <a:pt x="25005" y="297544"/>
                    <a:pt x="63570" y="281016"/>
                  </a:cubicBezTo>
                  <a:lnTo>
                    <a:pt x="692892" y="11307"/>
                  </a:lnTo>
                  <a:cubicBezTo>
                    <a:pt x="719276" y="0"/>
                    <a:pt x="749142" y="0"/>
                    <a:pt x="775526" y="11307"/>
                  </a:cubicBezTo>
                  <a:lnTo>
                    <a:pt x="1404848" y="281016"/>
                  </a:lnTo>
                  <a:cubicBezTo>
                    <a:pt x="1443412" y="297544"/>
                    <a:pt x="1468418" y="335465"/>
                    <a:pt x="1468418" y="377422"/>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17"/>
            <p:cNvSpPr/>
            <p:nvPr/>
          </p:nvSpPr>
          <p:spPr>
            <a:xfrm>
              <a:off x="2936837" y="3117563"/>
              <a:ext cx="1468418" cy="2196714"/>
            </a:xfrm>
            <a:custGeom>
              <a:avLst/>
              <a:gdLst/>
              <a:ahLst/>
              <a:cxnLst/>
              <a:rect l="0" t="0" r="0" b="0"/>
              <a:pathLst>
                <a:path w="1468418" h="2196714">
                  <a:moveTo>
                    <a:pt x="1468418" y="2091827"/>
                  </a:moveTo>
                  <a:cubicBezTo>
                    <a:pt x="1468418" y="2149754"/>
                    <a:pt x="1421459" y="2196714"/>
                    <a:pt x="1363531" y="2196714"/>
                  </a:cubicBezTo>
                  <a:lnTo>
                    <a:pt x="104887" y="2196714"/>
                  </a:lnTo>
                  <a:cubicBezTo>
                    <a:pt x="46959" y="2196714"/>
                    <a:pt x="0" y="2149754"/>
                    <a:pt x="0" y="2091827"/>
                  </a:cubicBezTo>
                  <a:moveTo>
                    <a:pt x="1468418" y="2091824"/>
                  </a:moveTo>
                  <a:lnTo>
                    <a:pt x="1468418" y="413634"/>
                  </a:lnTo>
                  <a:moveTo>
                    <a:pt x="0" y="2091824"/>
                  </a:moveTo>
                  <a:lnTo>
                    <a:pt x="0" y="413634"/>
                  </a:lnTo>
                  <a:moveTo>
                    <a:pt x="0" y="413148"/>
                  </a:moveTo>
                  <a:lnTo>
                    <a:pt x="0" y="377422"/>
                  </a:lnTo>
                  <a:cubicBezTo>
                    <a:pt x="0" y="335465"/>
                    <a:pt x="25005" y="297544"/>
                    <a:pt x="63570" y="281016"/>
                  </a:cubicBezTo>
                  <a:lnTo>
                    <a:pt x="692892" y="11307"/>
                  </a:lnTo>
                  <a:cubicBezTo>
                    <a:pt x="719276" y="0"/>
                    <a:pt x="749142" y="0"/>
                    <a:pt x="775526" y="11307"/>
                  </a:cubicBezTo>
                  <a:lnTo>
                    <a:pt x="1404848" y="281016"/>
                  </a:lnTo>
                  <a:cubicBezTo>
                    <a:pt x="1443413" y="297544"/>
                    <a:pt x="1468418" y="335465"/>
                    <a:pt x="1468418" y="377422"/>
                  </a:cubicBezTo>
                  <a:lnTo>
                    <a:pt x="1468418" y="413148"/>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7304007" y="3307184"/>
            <a:ext cx="2015790" cy="2677058"/>
            <a:chOff x="4615030" y="3117563"/>
            <a:chExt cx="1468418" cy="2196714"/>
          </a:xfrm>
        </p:grpSpPr>
        <p:sp>
          <p:nvSpPr>
            <p:cNvPr id="32" name="Rounded Rectangle 19"/>
            <p:cNvSpPr/>
            <p:nvPr/>
          </p:nvSpPr>
          <p:spPr>
            <a:xfrm>
              <a:off x="4615030" y="3117563"/>
              <a:ext cx="1468418" cy="2196714"/>
            </a:xfrm>
            <a:custGeom>
              <a:avLst/>
              <a:gdLst/>
              <a:ahLst/>
              <a:cxnLst/>
              <a:rect l="0" t="0" r="0" b="0"/>
              <a:pathLst>
                <a:path w="1468418" h="2196714">
                  <a:moveTo>
                    <a:pt x="0" y="2091827"/>
                  </a:moveTo>
                  <a:lnTo>
                    <a:pt x="1468418" y="2091827"/>
                  </a:lnTo>
                  <a:cubicBezTo>
                    <a:pt x="1468418" y="2149755"/>
                    <a:pt x="1421455" y="2196714"/>
                    <a:pt x="1363531" y="2196714"/>
                  </a:cubicBezTo>
                  <a:lnTo>
                    <a:pt x="104887" y="2196714"/>
                  </a:lnTo>
                  <a:cubicBezTo>
                    <a:pt x="46959" y="2196714"/>
                    <a:pt x="0" y="2149754"/>
                    <a:pt x="0" y="2091827"/>
                  </a:cubicBezTo>
                  <a:close/>
                  <a:moveTo>
                    <a:pt x="0" y="2091827"/>
                  </a:moveTo>
                  <a:lnTo>
                    <a:pt x="0" y="413634"/>
                  </a:lnTo>
                  <a:lnTo>
                    <a:pt x="1468418" y="413634"/>
                  </a:lnTo>
                  <a:lnTo>
                    <a:pt x="1468418" y="2091827"/>
                  </a:lnTo>
                  <a:close/>
                  <a:moveTo>
                    <a:pt x="1468418" y="413148"/>
                  </a:moveTo>
                  <a:lnTo>
                    <a:pt x="0" y="413148"/>
                  </a:lnTo>
                  <a:lnTo>
                    <a:pt x="0" y="377422"/>
                  </a:lnTo>
                  <a:cubicBezTo>
                    <a:pt x="0" y="335465"/>
                    <a:pt x="25005" y="297544"/>
                    <a:pt x="63570" y="281016"/>
                  </a:cubicBezTo>
                  <a:lnTo>
                    <a:pt x="692892" y="11307"/>
                  </a:lnTo>
                  <a:cubicBezTo>
                    <a:pt x="719276" y="0"/>
                    <a:pt x="749142" y="0"/>
                    <a:pt x="775526" y="11307"/>
                  </a:cubicBezTo>
                  <a:lnTo>
                    <a:pt x="1404848" y="281016"/>
                  </a:lnTo>
                  <a:cubicBezTo>
                    <a:pt x="1443412" y="297544"/>
                    <a:pt x="1468418" y="335465"/>
                    <a:pt x="1468418" y="377422"/>
                  </a:cubicBezTo>
                  <a:close/>
                </a:path>
              </a:pathLst>
            </a:custGeom>
            <a:solidFill>
              <a:srgbClr val="7F64E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20"/>
            <p:cNvSpPr/>
            <p:nvPr/>
          </p:nvSpPr>
          <p:spPr>
            <a:xfrm>
              <a:off x="4615030" y="3117563"/>
              <a:ext cx="1468418" cy="2196714"/>
            </a:xfrm>
            <a:custGeom>
              <a:avLst/>
              <a:gdLst/>
              <a:ahLst/>
              <a:cxnLst/>
              <a:rect l="0" t="0" r="0" b="0"/>
              <a:pathLst>
                <a:path w="1468418" h="2196714">
                  <a:moveTo>
                    <a:pt x="1468418" y="2091827"/>
                  </a:moveTo>
                  <a:cubicBezTo>
                    <a:pt x="1468418" y="2149754"/>
                    <a:pt x="1421459" y="2196714"/>
                    <a:pt x="1363531" y="2196714"/>
                  </a:cubicBezTo>
                  <a:lnTo>
                    <a:pt x="104887" y="2196714"/>
                  </a:lnTo>
                  <a:cubicBezTo>
                    <a:pt x="46959" y="2196714"/>
                    <a:pt x="0" y="2149754"/>
                    <a:pt x="0" y="2091827"/>
                  </a:cubicBezTo>
                  <a:moveTo>
                    <a:pt x="1468418" y="2091824"/>
                  </a:moveTo>
                  <a:lnTo>
                    <a:pt x="1468418" y="413634"/>
                  </a:lnTo>
                  <a:moveTo>
                    <a:pt x="0" y="2091824"/>
                  </a:moveTo>
                  <a:lnTo>
                    <a:pt x="0" y="413634"/>
                  </a:lnTo>
                  <a:moveTo>
                    <a:pt x="0" y="413148"/>
                  </a:moveTo>
                  <a:lnTo>
                    <a:pt x="0" y="377422"/>
                  </a:lnTo>
                  <a:cubicBezTo>
                    <a:pt x="0" y="335465"/>
                    <a:pt x="25005" y="297544"/>
                    <a:pt x="63570" y="281016"/>
                  </a:cubicBezTo>
                  <a:lnTo>
                    <a:pt x="692892" y="11307"/>
                  </a:lnTo>
                  <a:cubicBezTo>
                    <a:pt x="719276" y="0"/>
                    <a:pt x="749142" y="0"/>
                    <a:pt x="775526" y="11307"/>
                  </a:cubicBezTo>
                  <a:lnTo>
                    <a:pt x="1404848" y="281016"/>
                  </a:lnTo>
                  <a:cubicBezTo>
                    <a:pt x="1443413" y="297544"/>
                    <a:pt x="1468418" y="335465"/>
                    <a:pt x="1468418" y="377422"/>
                  </a:cubicBezTo>
                  <a:lnTo>
                    <a:pt x="1468418" y="413148"/>
                  </a:lnTo>
                </a:path>
              </a:pathLst>
            </a:custGeom>
            <a:noFill/>
            <a:ln w="13110">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1" name="Rounded Rectangle 22"/>
          <p:cNvSpPr/>
          <p:nvPr/>
        </p:nvSpPr>
        <p:spPr>
          <a:xfrm>
            <a:off x="4772101" y="2880418"/>
            <a:ext cx="511143" cy="524548"/>
          </a:xfrm>
          <a:custGeom>
            <a:avLst/>
            <a:gdLst/>
            <a:ahLst/>
            <a:cxnLst/>
            <a:rect l="0" t="0" r="0" b="0"/>
            <a:pathLst>
              <a:path w="511143" h="524548">
                <a:moveTo>
                  <a:pt x="119309" y="239168"/>
                </a:moveTo>
                <a:cubicBezTo>
                  <a:pt x="177392" y="239168"/>
                  <a:pt x="224512" y="286190"/>
                  <a:pt x="224633" y="344274"/>
                </a:cubicBezTo>
                <a:cubicBezTo>
                  <a:pt x="224633" y="402293"/>
                  <a:pt x="177619" y="449339"/>
                  <a:pt x="119600" y="449379"/>
                </a:cubicBezTo>
                <a:cubicBezTo>
                  <a:pt x="61580" y="449419"/>
                  <a:pt x="14502" y="402439"/>
                  <a:pt x="14422" y="344419"/>
                </a:cubicBezTo>
                <a:cubicBezTo>
                  <a:pt x="14341" y="286399"/>
                  <a:pt x="61289" y="239289"/>
                  <a:pt x="119309" y="239168"/>
                </a:cubicBezTo>
                <a:close/>
                <a:moveTo>
                  <a:pt x="129360" y="401087"/>
                </a:moveTo>
                <a:cubicBezTo>
                  <a:pt x="144111" y="400448"/>
                  <a:pt x="156402" y="389570"/>
                  <a:pt x="158829" y="375006"/>
                </a:cubicBezTo>
                <a:cubicBezTo>
                  <a:pt x="161256" y="360442"/>
                  <a:pt x="153158" y="346167"/>
                  <a:pt x="139412" y="340777"/>
                </a:cubicBezTo>
                <a:lnTo>
                  <a:pt x="106853" y="327885"/>
                </a:lnTo>
                <a:cubicBezTo>
                  <a:pt x="101889" y="325819"/>
                  <a:pt x="99052" y="320556"/>
                  <a:pt x="100056" y="315273"/>
                </a:cubicBezTo>
                <a:cubicBezTo>
                  <a:pt x="101059" y="309990"/>
                  <a:pt x="105629" y="306135"/>
                  <a:pt x="111005" y="306033"/>
                </a:cubicBezTo>
                <a:lnTo>
                  <a:pt x="142908" y="306033"/>
                </a:lnTo>
                <a:cubicBezTo>
                  <a:pt x="146812" y="306614"/>
                  <a:pt x="150694" y="304856"/>
                  <a:pt x="152833" y="301539"/>
                </a:cubicBezTo>
                <a:cubicBezTo>
                  <a:pt x="154973" y="298222"/>
                  <a:pt x="154973" y="293960"/>
                  <a:pt x="152833" y="290643"/>
                </a:cubicBezTo>
                <a:cubicBezTo>
                  <a:pt x="150694" y="287326"/>
                  <a:pt x="146812" y="285568"/>
                  <a:pt x="142908" y="286149"/>
                </a:cubicBezTo>
                <a:lnTo>
                  <a:pt x="129142" y="286149"/>
                </a:lnTo>
                <a:lnTo>
                  <a:pt x="129142" y="284182"/>
                </a:lnTo>
                <a:cubicBezTo>
                  <a:pt x="129722" y="280278"/>
                  <a:pt x="127964" y="276396"/>
                  <a:pt x="124647" y="274257"/>
                </a:cubicBezTo>
                <a:cubicBezTo>
                  <a:pt x="121330" y="272117"/>
                  <a:pt x="117068" y="272117"/>
                  <a:pt x="113752" y="274257"/>
                </a:cubicBezTo>
                <a:cubicBezTo>
                  <a:pt x="110435" y="276396"/>
                  <a:pt x="108677" y="280278"/>
                  <a:pt x="109257" y="284182"/>
                </a:cubicBezTo>
                <a:lnTo>
                  <a:pt x="109257" y="286804"/>
                </a:lnTo>
                <a:cubicBezTo>
                  <a:pt x="94393" y="287161"/>
                  <a:pt x="81839" y="297941"/>
                  <a:pt x="79240" y="312581"/>
                </a:cubicBezTo>
                <a:cubicBezTo>
                  <a:pt x="76641" y="327220"/>
                  <a:pt x="84717" y="341663"/>
                  <a:pt x="98550" y="347114"/>
                </a:cubicBezTo>
                <a:lnTo>
                  <a:pt x="131108" y="360225"/>
                </a:lnTo>
                <a:cubicBezTo>
                  <a:pt x="136185" y="361576"/>
                  <a:pt x="139580" y="366349"/>
                  <a:pt x="139194" y="371588"/>
                </a:cubicBezTo>
                <a:cubicBezTo>
                  <a:pt x="138629" y="377433"/>
                  <a:pt x="133703" y="381885"/>
                  <a:pt x="127831" y="381858"/>
                </a:cubicBezTo>
                <a:lnTo>
                  <a:pt x="95709" y="381858"/>
                </a:lnTo>
                <a:cubicBezTo>
                  <a:pt x="93025" y="381798"/>
                  <a:pt x="90433" y="382837"/>
                  <a:pt x="88535" y="384736"/>
                </a:cubicBezTo>
                <a:cubicBezTo>
                  <a:pt x="86637" y="386634"/>
                  <a:pt x="85597" y="389226"/>
                  <a:pt x="85657" y="391910"/>
                </a:cubicBezTo>
                <a:cubicBezTo>
                  <a:pt x="85657" y="397461"/>
                  <a:pt x="90158" y="401961"/>
                  <a:pt x="95709" y="401961"/>
                </a:cubicBezTo>
                <a:lnTo>
                  <a:pt x="109476" y="401961"/>
                </a:lnTo>
                <a:lnTo>
                  <a:pt x="109476" y="403709"/>
                </a:lnTo>
                <a:cubicBezTo>
                  <a:pt x="108895" y="407613"/>
                  <a:pt x="110653" y="411496"/>
                  <a:pt x="113970" y="413635"/>
                </a:cubicBezTo>
                <a:cubicBezTo>
                  <a:pt x="117287" y="415774"/>
                  <a:pt x="121549" y="415774"/>
                  <a:pt x="124866" y="413635"/>
                </a:cubicBezTo>
                <a:cubicBezTo>
                  <a:pt x="128183" y="411496"/>
                  <a:pt x="129941" y="407613"/>
                  <a:pt x="129360" y="403709"/>
                </a:cubicBezTo>
                <a:lnTo>
                  <a:pt x="129360" y="401743"/>
                </a:lnTo>
                <a:close/>
                <a:moveTo>
                  <a:pt x="448173" y="191750"/>
                </a:moveTo>
                <a:lnTo>
                  <a:pt x="418455" y="109370"/>
                </a:lnTo>
                <a:cubicBezTo>
                  <a:pt x="417775" y="107039"/>
                  <a:pt x="415639" y="105437"/>
                  <a:pt x="413211" y="105437"/>
                </a:cubicBezTo>
                <a:cubicBezTo>
                  <a:pt x="410783" y="105437"/>
                  <a:pt x="408646" y="107039"/>
                  <a:pt x="407966" y="109370"/>
                </a:cubicBezTo>
                <a:lnTo>
                  <a:pt x="376500" y="196776"/>
                </a:lnTo>
                <a:cubicBezTo>
                  <a:pt x="373447" y="204978"/>
                  <a:pt x="365795" y="210567"/>
                  <a:pt x="357053" y="210980"/>
                </a:cubicBezTo>
                <a:cubicBezTo>
                  <a:pt x="354519" y="210977"/>
                  <a:pt x="352005" y="210533"/>
                  <a:pt x="349623" y="209669"/>
                </a:cubicBezTo>
                <a:cubicBezTo>
                  <a:pt x="343977" y="207920"/>
                  <a:pt x="339280" y="203959"/>
                  <a:pt x="336603" y="198689"/>
                </a:cubicBezTo>
                <a:cubicBezTo>
                  <a:pt x="333927" y="193419"/>
                  <a:pt x="333500" y="187289"/>
                  <a:pt x="335420" y="181699"/>
                </a:cubicBezTo>
                <a:lnTo>
                  <a:pt x="376063" y="70038"/>
                </a:lnTo>
                <a:cubicBezTo>
                  <a:pt x="376725" y="68154"/>
                  <a:pt x="376306" y="66059"/>
                  <a:pt x="374971" y="64575"/>
                </a:cubicBezTo>
                <a:cubicBezTo>
                  <a:pt x="373697" y="63043"/>
                  <a:pt x="371665" y="62366"/>
                  <a:pt x="369726" y="62827"/>
                </a:cubicBezTo>
                <a:lnTo>
                  <a:pt x="312476" y="75938"/>
                </a:lnTo>
                <a:cubicBezTo>
                  <a:pt x="310671" y="76389"/>
                  <a:pt x="309202" y="77695"/>
                  <a:pt x="308542" y="79434"/>
                </a:cubicBezTo>
                <a:cubicBezTo>
                  <a:pt x="305097" y="89619"/>
                  <a:pt x="298017" y="98177"/>
                  <a:pt x="288657" y="103470"/>
                </a:cubicBezTo>
                <a:cubicBezTo>
                  <a:pt x="288759" y="104195"/>
                  <a:pt x="288759" y="104931"/>
                  <a:pt x="288657" y="105656"/>
                </a:cubicBezTo>
                <a:lnTo>
                  <a:pt x="288657" y="475382"/>
                </a:lnTo>
                <a:cubicBezTo>
                  <a:pt x="288657" y="478400"/>
                  <a:pt x="291103" y="480845"/>
                  <a:pt x="294120" y="480845"/>
                </a:cubicBezTo>
                <a:lnTo>
                  <a:pt x="327772" y="480845"/>
                </a:lnTo>
                <a:cubicBezTo>
                  <a:pt x="339840" y="480845"/>
                  <a:pt x="349623" y="490629"/>
                  <a:pt x="349623" y="502697"/>
                </a:cubicBezTo>
                <a:cubicBezTo>
                  <a:pt x="349623" y="514765"/>
                  <a:pt x="339840" y="524548"/>
                  <a:pt x="327772" y="524548"/>
                </a:cubicBezTo>
                <a:lnTo>
                  <a:pt x="205840" y="524548"/>
                </a:lnTo>
                <a:cubicBezTo>
                  <a:pt x="193772" y="524548"/>
                  <a:pt x="183989" y="514765"/>
                  <a:pt x="183989" y="502697"/>
                </a:cubicBezTo>
                <a:cubicBezTo>
                  <a:pt x="183989" y="490629"/>
                  <a:pt x="193772" y="480845"/>
                  <a:pt x="205840" y="480845"/>
                </a:cubicBezTo>
                <a:lnTo>
                  <a:pt x="240366" y="480845"/>
                </a:lnTo>
                <a:cubicBezTo>
                  <a:pt x="241924" y="481034"/>
                  <a:pt x="243489" y="480543"/>
                  <a:pt x="244660" y="479497"/>
                </a:cubicBezTo>
                <a:cubicBezTo>
                  <a:pt x="245831" y="478451"/>
                  <a:pt x="246495" y="476952"/>
                  <a:pt x="246484" y="475382"/>
                </a:cubicBezTo>
                <a:lnTo>
                  <a:pt x="246484" y="105656"/>
                </a:lnTo>
                <a:cubicBezTo>
                  <a:pt x="246484" y="104781"/>
                  <a:pt x="246484" y="103470"/>
                  <a:pt x="246484" y="103470"/>
                </a:cubicBezTo>
                <a:cubicBezTo>
                  <a:pt x="242960" y="101438"/>
                  <a:pt x="239726" y="98939"/>
                  <a:pt x="236870" y="96041"/>
                </a:cubicBezTo>
                <a:cubicBezTo>
                  <a:pt x="235615" y="94626"/>
                  <a:pt x="233673" y="94035"/>
                  <a:pt x="231844" y="94511"/>
                </a:cubicBezTo>
                <a:lnTo>
                  <a:pt x="156893" y="111555"/>
                </a:lnTo>
                <a:cubicBezTo>
                  <a:pt x="155317" y="111829"/>
                  <a:pt x="153952" y="112807"/>
                  <a:pt x="153186" y="114211"/>
                </a:cubicBezTo>
                <a:cubicBezTo>
                  <a:pt x="152419" y="115616"/>
                  <a:pt x="152336" y="117293"/>
                  <a:pt x="152960" y="118766"/>
                </a:cubicBezTo>
                <a:lnTo>
                  <a:pt x="178089" y="190221"/>
                </a:lnTo>
                <a:cubicBezTo>
                  <a:pt x="182310" y="201564"/>
                  <a:pt x="176537" y="214181"/>
                  <a:pt x="165195" y="218405"/>
                </a:cubicBezTo>
                <a:cubicBezTo>
                  <a:pt x="153853" y="222628"/>
                  <a:pt x="141234" y="216858"/>
                  <a:pt x="137008" y="205517"/>
                </a:cubicBezTo>
                <a:lnTo>
                  <a:pt x="125646" y="174925"/>
                </a:lnTo>
                <a:cubicBezTo>
                  <a:pt x="124914" y="172756"/>
                  <a:pt x="122908" y="171273"/>
                  <a:pt x="120620" y="171210"/>
                </a:cubicBezTo>
                <a:cubicBezTo>
                  <a:pt x="118272" y="171246"/>
                  <a:pt x="116188" y="172722"/>
                  <a:pt x="115375" y="174925"/>
                </a:cubicBezTo>
                <a:lnTo>
                  <a:pt x="104231" y="207046"/>
                </a:lnTo>
                <a:cubicBezTo>
                  <a:pt x="101031" y="215612"/>
                  <a:pt x="92835" y="221280"/>
                  <a:pt x="83691" y="221250"/>
                </a:cubicBezTo>
                <a:cubicBezTo>
                  <a:pt x="81086" y="221242"/>
                  <a:pt x="78501" y="220799"/>
                  <a:pt x="76043" y="219939"/>
                </a:cubicBezTo>
                <a:cubicBezTo>
                  <a:pt x="70584" y="217925"/>
                  <a:pt x="66153" y="213817"/>
                  <a:pt x="63733" y="208526"/>
                </a:cubicBezTo>
                <a:cubicBezTo>
                  <a:pt x="61313" y="203235"/>
                  <a:pt x="61103" y="197197"/>
                  <a:pt x="63150" y="191750"/>
                </a:cubicBezTo>
                <a:lnTo>
                  <a:pt x="85002" y="129692"/>
                </a:lnTo>
                <a:cubicBezTo>
                  <a:pt x="85314" y="129151"/>
                  <a:pt x="85314" y="128485"/>
                  <a:pt x="85002" y="127944"/>
                </a:cubicBezTo>
                <a:cubicBezTo>
                  <a:pt x="84513" y="127738"/>
                  <a:pt x="83961" y="127738"/>
                  <a:pt x="83472" y="127944"/>
                </a:cubicBezTo>
                <a:cubicBezTo>
                  <a:pt x="71404" y="129272"/>
                  <a:pt x="60545" y="120564"/>
                  <a:pt x="59217" y="108496"/>
                </a:cubicBezTo>
                <a:cubicBezTo>
                  <a:pt x="57890" y="96428"/>
                  <a:pt x="66597" y="85569"/>
                  <a:pt x="78665" y="84241"/>
                </a:cubicBezTo>
                <a:lnTo>
                  <a:pt x="225288" y="50153"/>
                </a:lnTo>
                <a:cubicBezTo>
                  <a:pt x="226599" y="50153"/>
                  <a:pt x="226599" y="50153"/>
                  <a:pt x="226599" y="50153"/>
                </a:cubicBezTo>
                <a:cubicBezTo>
                  <a:pt x="232001" y="37058"/>
                  <a:pt x="243415" y="27393"/>
                  <a:pt x="257222" y="24224"/>
                </a:cubicBezTo>
                <a:cubicBezTo>
                  <a:pt x="271028" y="21054"/>
                  <a:pt x="285515" y="24773"/>
                  <a:pt x="296087" y="34201"/>
                </a:cubicBezTo>
                <a:cubicBezTo>
                  <a:pt x="296628" y="34514"/>
                  <a:pt x="297294" y="34514"/>
                  <a:pt x="297835" y="34201"/>
                </a:cubicBezTo>
                <a:lnTo>
                  <a:pt x="445333" y="769"/>
                </a:lnTo>
                <a:cubicBezTo>
                  <a:pt x="448491" y="0"/>
                  <a:pt x="451789" y="0"/>
                  <a:pt x="454947" y="769"/>
                </a:cubicBezTo>
                <a:lnTo>
                  <a:pt x="456258" y="769"/>
                </a:lnTo>
                <a:cubicBezTo>
                  <a:pt x="459099" y="118"/>
                  <a:pt x="462082" y="629"/>
                  <a:pt x="464544" y="2188"/>
                </a:cubicBezTo>
                <a:cubicBezTo>
                  <a:pt x="467006" y="3747"/>
                  <a:pt x="468743" y="6226"/>
                  <a:pt x="469369" y="9072"/>
                </a:cubicBezTo>
                <a:cubicBezTo>
                  <a:pt x="469586" y="10301"/>
                  <a:pt x="469586" y="11558"/>
                  <a:pt x="469369" y="12787"/>
                </a:cubicBezTo>
                <a:cubicBezTo>
                  <a:pt x="470315" y="14281"/>
                  <a:pt x="471051" y="15899"/>
                  <a:pt x="471554" y="17594"/>
                </a:cubicBezTo>
                <a:cubicBezTo>
                  <a:pt x="472862" y="23245"/>
                  <a:pt x="471870" y="29184"/>
                  <a:pt x="468796" y="34102"/>
                </a:cubicBezTo>
                <a:cubicBezTo>
                  <a:pt x="465721" y="39021"/>
                  <a:pt x="460818" y="42515"/>
                  <a:pt x="455166" y="43816"/>
                </a:cubicBezTo>
                <a:lnTo>
                  <a:pt x="447736" y="44909"/>
                </a:lnTo>
                <a:cubicBezTo>
                  <a:pt x="446218" y="45172"/>
                  <a:pt x="444918" y="46147"/>
                  <a:pt x="444240" y="47531"/>
                </a:cubicBezTo>
                <a:cubicBezTo>
                  <a:pt x="443595" y="48992"/>
                  <a:pt x="443595" y="50658"/>
                  <a:pt x="444240" y="52120"/>
                </a:cubicBezTo>
                <a:lnTo>
                  <a:pt x="489254" y="176454"/>
                </a:lnTo>
                <a:cubicBezTo>
                  <a:pt x="493352" y="187798"/>
                  <a:pt x="487484" y="200317"/>
                  <a:pt x="476143" y="204424"/>
                </a:cubicBezTo>
                <a:cubicBezTo>
                  <a:pt x="464922" y="208567"/>
                  <a:pt x="452457" y="202918"/>
                  <a:pt x="448173" y="191750"/>
                </a:cubicBezTo>
                <a:close/>
                <a:moveTo>
                  <a:pt x="283195" y="64793"/>
                </a:moveTo>
                <a:cubicBezTo>
                  <a:pt x="283195" y="55742"/>
                  <a:pt x="275857" y="48405"/>
                  <a:pt x="266806" y="48405"/>
                </a:cubicBezTo>
                <a:cubicBezTo>
                  <a:pt x="257755" y="48405"/>
                  <a:pt x="250417" y="55742"/>
                  <a:pt x="250417" y="64793"/>
                </a:cubicBezTo>
                <a:cubicBezTo>
                  <a:pt x="250417" y="73844"/>
                  <a:pt x="257755" y="81182"/>
                  <a:pt x="266806" y="81182"/>
                </a:cubicBezTo>
                <a:cubicBezTo>
                  <a:pt x="275857" y="81182"/>
                  <a:pt x="283195" y="73844"/>
                  <a:pt x="283195" y="64793"/>
                </a:cubicBezTo>
                <a:close/>
                <a:moveTo>
                  <a:pt x="0" y="113"/>
                </a:moveTo>
                <a:moveTo>
                  <a:pt x="509357" y="300571"/>
                </a:moveTo>
                <a:cubicBezTo>
                  <a:pt x="507607" y="305326"/>
                  <a:pt x="503062" y="308473"/>
                  <a:pt x="497995" y="308437"/>
                </a:cubicBezTo>
                <a:cubicBezTo>
                  <a:pt x="491201" y="308556"/>
                  <a:pt x="485757" y="314098"/>
                  <a:pt x="485758" y="320892"/>
                </a:cubicBezTo>
                <a:lnTo>
                  <a:pt x="485758" y="382077"/>
                </a:lnTo>
                <a:cubicBezTo>
                  <a:pt x="485639" y="388870"/>
                  <a:pt x="480097" y="394314"/>
                  <a:pt x="473302" y="394313"/>
                </a:cubicBezTo>
                <a:lnTo>
                  <a:pt x="439433" y="394313"/>
                </a:lnTo>
                <a:cubicBezTo>
                  <a:pt x="436416" y="394313"/>
                  <a:pt x="433970" y="391868"/>
                  <a:pt x="433970" y="388851"/>
                </a:cubicBezTo>
                <a:lnTo>
                  <a:pt x="433970" y="366999"/>
                </a:lnTo>
                <a:cubicBezTo>
                  <a:pt x="433970" y="354931"/>
                  <a:pt x="424187" y="345148"/>
                  <a:pt x="412118" y="345148"/>
                </a:cubicBezTo>
                <a:cubicBezTo>
                  <a:pt x="400050" y="345148"/>
                  <a:pt x="390267" y="354931"/>
                  <a:pt x="390267" y="366999"/>
                </a:cubicBezTo>
                <a:lnTo>
                  <a:pt x="390267" y="388851"/>
                </a:lnTo>
                <a:cubicBezTo>
                  <a:pt x="390267" y="391868"/>
                  <a:pt x="387821" y="394313"/>
                  <a:pt x="384804" y="394313"/>
                </a:cubicBezTo>
                <a:lnTo>
                  <a:pt x="350716" y="394313"/>
                </a:lnTo>
                <a:cubicBezTo>
                  <a:pt x="343957" y="394313"/>
                  <a:pt x="338479" y="388835"/>
                  <a:pt x="338479" y="382077"/>
                </a:cubicBezTo>
                <a:lnTo>
                  <a:pt x="338479" y="320893"/>
                </a:lnTo>
                <a:cubicBezTo>
                  <a:pt x="338480" y="314098"/>
                  <a:pt x="333035" y="308556"/>
                  <a:pt x="326242" y="308437"/>
                </a:cubicBezTo>
                <a:cubicBezTo>
                  <a:pt x="321134" y="308438"/>
                  <a:pt x="316543" y="305320"/>
                  <a:pt x="314661" y="300571"/>
                </a:cubicBezTo>
                <a:cubicBezTo>
                  <a:pt x="312925" y="295723"/>
                  <a:pt x="314410" y="290307"/>
                  <a:pt x="318376" y="287023"/>
                </a:cubicBezTo>
                <a:lnTo>
                  <a:pt x="404033" y="213383"/>
                </a:lnTo>
                <a:cubicBezTo>
                  <a:pt x="408620" y="209441"/>
                  <a:pt x="415398" y="209441"/>
                  <a:pt x="419985" y="213383"/>
                </a:cubicBezTo>
                <a:lnTo>
                  <a:pt x="505861" y="287023"/>
                </a:lnTo>
                <a:cubicBezTo>
                  <a:pt x="509748" y="290361"/>
                  <a:pt x="511143" y="295768"/>
                  <a:pt x="509357" y="300571"/>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23"/>
          <p:cNvSpPr/>
          <p:nvPr/>
        </p:nvSpPr>
        <p:spPr>
          <a:xfrm>
            <a:off x="6954198" y="2902118"/>
            <a:ext cx="527325" cy="527303"/>
          </a:xfrm>
          <a:custGeom>
            <a:avLst/>
            <a:gdLst/>
            <a:ahLst/>
            <a:cxnLst/>
            <a:rect l="0" t="0" r="0" b="0"/>
            <a:pathLst>
              <a:path w="527325" h="527303">
                <a:moveTo>
                  <a:pt x="152960" y="369535"/>
                </a:moveTo>
                <a:cubicBezTo>
                  <a:pt x="189021" y="369598"/>
                  <a:pt x="220475" y="394042"/>
                  <a:pt x="229440" y="428971"/>
                </a:cubicBezTo>
                <a:lnTo>
                  <a:pt x="76480" y="428971"/>
                </a:lnTo>
                <a:cubicBezTo>
                  <a:pt x="85445" y="394042"/>
                  <a:pt x="116899" y="369598"/>
                  <a:pt x="152960" y="369535"/>
                </a:cubicBezTo>
                <a:close/>
                <a:moveTo>
                  <a:pt x="114720" y="314251"/>
                </a:moveTo>
                <a:cubicBezTo>
                  <a:pt x="114720" y="293131"/>
                  <a:pt x="131840" y="276011"/>
                  <a:pt x="152960" y="276011"/>
                </a:cubicBezTo>
                <a:cubicBezTo>
                  <a:pt x="174079" y="276011"/>
                  <a:pt x="191200" y="293131"/>
                  <a:pt x="191200" y="314251"/>
                </a:cubicBezTo>
                <a:cubicBezTo>
                  <a:pt x="191200" y="335370"/>
                  <a:pt x="174079" y="352491"/>
                  <a:pt x="152960" y="352491"/>
                </a:cubicBezTo>
                <a:cubicBezTo>
                  <a:pt x="131840" y="352491"/>
                  <a:pt x="114720" y="335370"/>
                  <a:pt x="114720" y="314251"/>
                </a:cubicBezTo>
                <a:moveTo>
                  <a:pt x="517224" y="151020"/>
                </a:moveTo>
                <a:lnTo>
                  <a:pt x="480732" y="180301"/>
                </a:lnTo>
                <a:cubicBezTo>
                  <a:pt x="464945" y="192970"/>
                  <a:pt x="445251" y="199766"/>
                  <a:pt x="425011" y="199531"/>
                </a:cubicBezTo>
                <a:lnTo>
                  <a:pt x="409496" y="199531"/>
                </a:lnTo>
                <a:cubicBezTo>
                  <a:pt x="397924" y="199579"/>
                  <a:pt x="386844" y="204216"/>
                  <a:pt x="378685" y="212423"/>
                </a:cubicBezTo>
                <a:lnTo>
                  <a:pt x="319249" y="271859"/>
                </a:lnTo>
                <a:cubicBezTo>
                  <a:pt x="315240" y="275687"/>
                  <a:pt x="310761" y="278991"/>
                  <a:pt x="305920" y="281692"/>
                </a:cubicBezTo>
                <a:lnTo>
                  <a:pt x="305920" y="483600"/>
                </a:lnTo>
                <a:cubicBezTo>
                  <a:pt x="305920" y="507736"/>
                  <a:pt x="286354" y="527303"/>
                  <a:pt x="262217" y="527303"/>
                </a:cubicBezTo>
                <a:lnTo>
                  <a:pt x="43702" y="527303"/>
                </a:lnTo>
                <a:cubicBezTo>
                  <a:pt x="19566" y="527303"/>
                  <a:pt x="0" y="507736"/>
                  <a:pt x="0" y="483600"/>
                </a:cubicBezTo>
                <a:lnTo>
                  <a:pt x="0" y="177679"/>
                </a:lnTo>
                <a:cubicBezTo>
                  <a:pt x="0" y="153543"/>
                  <a:pt x="19566" y="133976"/>
                  <a:pt x="43702" y="133976"/>
                </a:cubicBezTo>
                <a:lnTo>
                  <a:pt x="105761" y="133976"/>
                </a:lnTo>
                <a:lnTo>
                  <a:pt x="167382" y="72137"/>
                </a:lnTo>
                <a:cubicBezTo>
                  <a:pt x="183573" y="55962"/>
                  <a:pt x="205462" y="46782"/>
                  <a:pt x="228347" y="46570"/>
                </a:cubicBezTo>
                <a:lnTo>
                  <a:pt x="315753" y="46570"/>
                </a:lnTo>
                <a:lnTo>
                  <a:pt x="375845" y="6582"/>
                </a:lnTo>
                <a:cubicBezTo>
                  <a:pt x="385872" y="0"/>
                  <a:pt x="399331" y="2730"/>
                  <a:pt x="406000" y="12701"/>
                </a:cubicBezTo>
                <a:cubicBezTo>
                  <a:pt x="412583" y="22728"/>
                  <a:pt x="409852" y="36187"/>
                  <a:pt x="399881" y="42856"/>
                </a:cubicBezTo>
                <a:lnTo>
                  <a:pt x="334327" y="86559"/>
                </a:lnTo>
                <a:cubicBezTo>
                  <a:pt x="330772" y="88948"/>
                  <a:pt x="326592" y="90240"/>
                  <a:pt x="322309" y="90273"/>
                </a:cubicBezTo>
                <a:lnTo>
                  <a:pt x="229221" y="90273"/>
                </a:lnTo>
                <a:cubicBezTo>
                  <a:pt x="217649" y="90322"/>
                  <a:pt x="206569" y="94959"/>
                  <a:pt x="198411" y="103166"/>
                </a:cubicBezTo>
                <a:lnTo>
                  <a:pt x="167382" y="133976"/>
                </a:lnTo>
                <a:lnTo>
                  <a:pt x="262217" y="133976"/>
                </a:lnTo>
                <a:cubicBezTo>
                  <a:pt x="267790" y="134021"/>
                  <a:pt x="273294" y="135211"/>
                  <a:pt x="278387" y="137473"/>
                </a:cubicBezTo>
                <a:lnTo>
                  <a:pt x="288439" y="127421"/>
                </a:lnTo>
                <a:cubicBezTo>
                  <a:pt x="297159" y="120545"/>
                  <a:pt x="309650" y="121303"/>
                  <a:pt x="317475" y="129184"/>
                </a:cubicBezTo>
                <a:cubicBezTo>
                  <a:pt x="325299" y="137064"/>
                  <a:pt x="325969" y="149560"/>
                  <a:pt x="319031" y="158231"/>
                </a:cubicBezTo>
                <a:lnTo>
                  <a:pt x="262217" y="215045"/>
                </a:lnTo>
                <a:cubicBezTo>
                  <a:pt x="255100" y="222226"/>
                  <a:pt x="255150" y="233817"/>
                  <a:pt x="262330" y="240936"/>
                </a:cubicBezTo>
                <a:cubicBezTo>
                  <a:pt x="269509" y="248055"/>
                  <a:pt x="281100" y="248007"/>
                  <a:pt x="288220" y="240830"/>
                </a:cubicBezTo>
                <a:lnTo>
                  <a:pt x="347656" y="181394"/>
                </a:lnTo>
                <a:cubicBezTo>
                  <a:pt x="364062" y="165006"/>
                  <a:pt x="386308" y="155809"/>
                  <a:pt x="409496" y="155828"/>
                </a:cubicBezTo>
                <a:lnTo>
                  <a:pt x="425011" y="155828"/>
                </a:lnTo>
                <a:cubicBezTo>
                  <a:pt x="434943" y="155820"/>
                  <a:pt x="444577" y="152429"/>
                  <a:pt x="452325" y="146213"/>
                </a:cubicBezTo>
                <a:lnTo>
                  <a:pt x="489035" y="116932"/>
                </a:lnTo>
                <a:cubicBezTo>
                  <a:pt x="498461" y="109495"/>
                  <a:pt x="512122" y="111056"/>
                  <a:pt x="519627" y="120428"/>
                </a:cubicBezTo>
                <a:cubicBezTo>
                  <a:pt x="527325" y="129568"/>
                  <a:pt x="526255" y="143196"/>
                  <a:pt x="517224" y="151020"/>
                </a:cubicBezTo>
                <a:close/>
                <a:moveTo>
                  <a:pt x="262217" y="483600"/>
                </a:moveTo>
                <a:lnTo>
                  <a:pt x="262217" y="288466"/>
                </a:lnTo>
                <a:cubicBezTo>
                  <a:pt x="240080" y="283678"/>
                  <a:pt x="222332" y="267172"/>
                  <a:pt x="215953" y="245440"/>
                </a:cubicBezTo>
                <a:cubicBezTo>
                  <a:pt x="209575" y="223707"/>
                  <a:pt x="215587" y="200227"/>
                  <a:pt x="231625" y="184235"/>
                </a:cubicBezTo>
                <a:lnTo>
                  <a:pt x="237962" y="177679"/>
                </a:lnTo>
                <a:lnTo>
                  <a:pt x="43702" y="177679"/>
                </a:lnTo>
                <a:lnTo>
                  <a:pt x="43702" y="483600"/>
                </a:ln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4"/>
          <p:cNvSpPr/>
          <p:nvPr/>
        </p:nvSpPr>
        <p:spPr>
          <a:xfrm>
            <a:off x="5861898" y="3498125"/>
            <a:ext cx="503183" cy="524470"/>
          </a:xfrm>
          <a:custGeom>
            <a:avLst/>
            <a:gdLst/>
            <a:ahLst/>
            <a:cxnLst/>
            <a:rect l="0" t="0" r="0" b="0"/>
            <a:pathLst>
              <a:path w="503183" h="524470">
                <a:moveTo>
                  <a:pt x="502894" y="349623"/>
                </a:moveTo>
                <a:cubicBezTo>
                  <a:pt x="503183" y="354217"/>
                  <a:pt x="500561" y="358498"/>
                  <a:pt x="496339" y="360330"/>
                </a:cubicBezTo>
                <a:cubicBezTo>
                  <a:pt x="494972" y="360640"/>
                  <a:pt x="493554" y="360640"/>
                  <a:pt x="492187" y="360330"/>
                </a:cubicBezTo>
                <a:cubicBezTo>
                  <a:pt x="489290" y="360366"/>
                  <a:pt x="486512" y="359175"/>
                  <a:pt x="484539" y="357053"/>
                </a:cubicBezTo>
                <a:lnTo>
                  <a:pt x="452418" y="325149"/>
                </a:lnTo>
                <a:cubicBezTo>
                  <a:pt x="450322" y="323206"/>
                  <a:pt x="447083" y="323206"/>
                  <a:pt x="444988" y="325149"/>
                </a:cubicBezTo>
                <a:lnTo>
                  <a:pt x="334638" y="426977"/>
                </a:lnTo>
                <a:cubicBezTo>
                  <a:pt x="317509" y="442538"/>
                  <a:pt x="291649" y="443462"/>
                  <a:pt x="273454" y="429162"/>
                </a:cubicBezTo>
                <a:lnTo>
                  <a:pt x="209648" y="378467"/>
                </a:lnTo>
                <a:cubicBezTo>
                  <a:pt x="207657" y="376686"/>
                  <a:pt x="204646" y="376686"/>
                  <a:pt x="202655" y="378467"/>
                </a:cubicBezTo>
                <a:lnTo>
                  <a:pt x="46417" y="517442"/>
                </a:lnTo>
                <a:cubicBezTo>
                  <a:pt x="41467" y="521973"/>
                  <a:pt x="34991" y="524470"/>
                  <a:pt x="28280" y="524435"/>
                </a:cubicBezTo>
                <a:cubicBezTo>
                  <a:pt x="17184" y="523956"/>
                  <a:pt x="7483" y="516805"/>
                  <a:pt x="3741" y="506348"/>
                </a:cubicBezTo>
                <a:cubicBezTo>
                  <a:pt x="0" y="495890"/>
                  <a:pt x="2963" y="484208"/>
                  <a:pt x="11236" y="476799"/>
                </a:cubicBezTo>
                <a:lnTo>
                  <a:pt x="169659" y="334108"/>
                </a:lnTo>
                <a:lnTo>
                  <a:pt x="174467" y="329957"/>
                </a:lnTo>
                <a:cubicBezTo>
                  <a:pt x="185023" y="320448"/>
                  <a:pt x="199373" y="316336"/>
                  <a:pt x="213362" y="318812"/>
                </a:cubicBezTo>
                <a:cubicBezTo>
                  <a:pt x="221353" y="320082"/>
                  <a:pt x="228879" y="323394"/>
                  <a:pt x="235214" y="328427"/>
                </a:cubicBezTo>
                <a:lnTo>
                  <a:pt x="298583" y="379123"/>
                </a:lnTo>
                <a:cubicBezTo>
                  <a:pt x="300574" y="380903"/>
                  <a:pt x="303585" y="380903"/>
                  <a:pt x="305576" y="379123"/>
                </a:cubicBezTo>
                <a:lnTo>
                  <a:pt x="405655" y="286909"/>
                </a:lnTo>
                <a:cubicBezTo>
                  <a:pt x="406752" y="285893"/>
                  <a:pt x="407384" y="284471"/>
                  <a:pt x="407403" y="282976"/>
                </a:cubicBezTo>
                <a:cubicBezTo>
                  <a:pt x="407563" y="281494"/>
                  <a:pt x="406992" y="280028"/>
                  <a:pt x="405874" y="279043"/>
                </a:cubicBezTo>
                <a:lnTo>
                  <a:pt x="375063" y="248014"/>
                </a:lnTo>
                <a:cubicBezTo>
                  <a:pt x="371798" y="245012"/>
                  <a:pt x="370829" y="240254"/>
                  <a:pt x="372660" y="236214"/>
                </a:cubicBezTo>
                <a:cubicBezTo>
                  <a:pt x="374336" y="232134"/>
                  <a:pt x="378301" y="229462"/>
                  <a:pt x="382711" y="229440"/>
                </a:cubicBezTo>
                <a:lnTo>
                  <a:pt x="491969" y="229440"/>
                </a:lnTo>
                <a:cubicBezTo>
                  <a:pt x="498003" y="229440"/>
                  <a:pt x="502894" y="234332"/>
                  <a:pt x="502894" y="240366"/>
                </a:cubicBezTo>
                <a:close/>
                <a:moveTo>
                  <a:pt x="153271" y="0"/>
                </a:moveTo>
                <a:cubicBezTo>
                  <a:pt x="237748" y="0"/>
                  <a:pt x="306231" y="68482"/>
                  <a:pt x="306231" y="152960"/>
                </a:cubicBezTo>
                <a:cubicBezTo>
                  <a:pt x="306231" y="237437"/>
                  <a:pt x="237748" y="305920"/>
                  <a:pt x="153271" y="305920"/>
                </a:cubicBezTo>
                <a:cubicBezTo>
                  <a:pt x="68793" y="305920"/>
                  <a:pt x="311" y="237437"/>
                  <a:pt x="311" y="152960"/>
                </a:cubicBezTo>
                <a:cubicBezTo>
                  <a:pt x="311" y="68482"/>
                  <a:pt x="68793" y="0"/>
                  <a:pt x="153271" y="0"/>
                </a:cubicBezTo>
                <a:close/>
                <a:moveTo>
                  <a:pt x="159826" y="169348"/>
                </a:moveTo>
                <a:lnTo>
                  <a:pt x="164197" y="169348"/>
                </a:lnTo>
                <a:cubicBezTo>
                  <a:pt x="197384" y="169348"/>
                  <a:pt x="224288" y="142445"/>
                  <a:pt x="224288" y="109257"/>
                </a:cubicBezTo>
                <a:cubicBezTo>
                  <a:pt x="224288" y="76069"/>
                  <a:pt x="197384" y="49165"/>
                  <a:pt x="164197" y="49165"/>
                </a:cubicBezTo>
                <a:lnTo>
                  <a:pt x="120494" y="49165"/>
                </a:lnTo>
                <a:cubicBezTo>
                  <a:pt x="116109" y="49107"/>
                  <a:pt x="111885" y="50808"/>
                  <a:pt x="108764" y="53887"/>
                </a:cubicBezTo>
                <a:cubicBezTo>
                  <a:pt x="105643" y="56967"/>
                  <a:pt x="103886" y="61169"/>
                  <a:pt x="103887" y="65554"/>
                </a:cubicBezTo>
                <a:lnTo>
                  <a:pt x="103887" y="240366"/>
                </a:lnTo>
                <a:cubicBezTo>
                  <a:pt x="103887" y="249417"/>
                  <a:pt x="111224" y="256754"/>
                  <a:pt x="120275" y="256754"/>
                </a:cubicBezTo>
                <a:cubicBezTo>
                  <a:pt x="129326" y="256754"/>
                  <a:pt x="136664" y="249417"/>
                  <a:pt x="136664" y="240366"/>
                </a:cubicBezTo>
                <a:lnTo>
                  <a:pt x="136664" y="192511"/>
                </a:lnTo>
                <a:lnTo>
                  <a:pt x="195663" y="251947"/>
                </a:lnTo>
                <a:cubicBezTo>
                  <a:pt x="202120" y="257964"/>
                  <a:pt x="212183" y="257786"/>
                  <a:pt x="218424" y="251545"/>
                </a:cubicBezTo>
                <a:cubicBezTo>
                  <a:pt x="224665" y="245304"/>
                  <a:pt x="224842" y="235242"/>
                  <a:pt x="218825" y="228784"/>
                </a:cubicBezTo>
                <a:close/>
                <a:moveTo>
                  <a:pt x="164197" y="136571"/>
                </a:moveTo>
                <a:lnTo>
                  <a:pt x="136664" y="136571"/>
                </a:lnTo>
                <a:lnTo>
                  <a:pt x="136664" y="81943"/>
                </a:lnTo>
                <a:lnTo>
                  <a:pt x="164197" y="81943"/>
                </a:lnTo>
                <a:cubicBezTo>
                  <a:pt x="179197" y="82063"/>
                  <a:pt x="191293" y="94257"/>
                  <a:pt x="191292" y="109257"/>
                </a:cubicBezTo>
                <a:cubicBezTo>
                  <a:pt x="191293" y="124257"/>
                  <a:pt x="179197" y="136451"/>
                  <a:pt x="164197" y="136571"/>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Rounded Rectangle 25"/>
          <p:cNvSpPr/>
          <p:nvPr/>
        </p:nvSpPr>
        <p:spPr>
          <a:xfrm>
            <a:off x="9151341" y="2925345"/>
            <a:ext cx="526563" cy="526850"/>
          </a:xfrm>
          <a:custGeom>
            <a:avLst/>
            <a:gdLst/>
            <a:ahLst/>
            <a:cxnLst/>
            <a:rect l="0" t="0" r="0" b="0"/>
            <a:pathLst>
              <a:path w="526563" h="526850">
                <a:moveTo>
                  <a:pt x="229155" y="417581"/>
                </a:moveTo>
                <a:cubicBezTo>
                  <a:pt x="227440" y="419214"/>
                  <a:pt x="226918" y="421739"/>
                  <a:pt x="227844" y="423918"/>
                </a:cubicBezTo>
                <a:lnTo>
                  <a:pt x="254721" y="485321"/>
                </a:lnTo>
                <a:cubicBezTo>
                  <a:pt x="259523" y="496280"/>
                  <a:pt x="256697" y="509085"/>
                  <a:pt x="247729" y="517005"/>
                </a:cubicBezTo>
                <a:cubicBezTo>
                  <a:pt x="238735" y="525344"/>
                  <a:pt x="225357" y="526850"/>
                  <a:pt x="214733" y="520720"/>
                </a:cubicBezTo>
                <a:lnTo>
                  <a:pt x="146775" y="482480"/>
                </a:lnTo>
                <a:cubicBezTo>
                  <a:pt x="145199" y="481383"/>
                  <a:pt x="143107" y="481383"/>
                  <a:pt x="141531" y="482480"/>
                </a:cubicBezTo>
                <a:lnTo>
                  <a:pt x="73354" y="520720"/>
                </a:lnTo>
                <a:cubicBezTo>
                  <a:pt x="62704" y="526339"/>
                  <a:pt x="49699" y="524865"/>
                  <a:pt x="40577" y="517005"/>
                </a:cubicBezTo>
                <a:cubicBezTo>
                  <a:pt x="31609" y="509085"/>
                  <a:pt x="28783" y="496280"/>
                  <a:pt x="33585" y="485320"/>
                </a:cubicBezTo>
                <a:lnTo>
                  <a:pt x="60462" y="423918"/>
                </a:lnTo>
                <a:cubicBezTo>
                  <a:pt x="61335" y="421694"/>
                  <a:pt x="60724" y="419162"/>
                  <a:pt x="58932" y="417581"/>
                </a:cubicBezTo>
                <a:lnTo>
                  <a:pt x="11077" y="374971"/>
                </a:lnTo>
                <a:cubicBezTo>
                  <a:pt x="2761" y="367133"/>
                  <a:pt x="0" y="355051"/>
                  <a:pt x="4085" y="344379"/>
                </a:cubicBezTo>
                <a:cubicBezTo>
                  <a:pt x="8340" y="334078"/>
                  <a:pt x="18510" y="327471"/>
                  <a:pt x="29651" y="327771"/>
                </a:cubicBezTo>
                <a:lnTo>
                  <a:pt x="84498" y="327771"/>
                </a:lnTo>
                <a:cubicBezTo>
                  <a:pt x="86678" y="327779"/>
                  <a:pt x="88653" y="326491"/>
                  <a:pt x="89524" y="324494"/>
                </a:cubicBezTo>
                <a:lnTo>
                  <a:pt x="118587" y="256317"/>
                </a:lnTo>
                <a:cubicBezTo>
                  <a:pt x="123394" y="246582"/>
                  <a:pt x="133295" y="240404"/>
                  <a:pt x="144153" y="240366"/>
                </a:cubicBezTo>
                <a:cubicBezTo>
                  <a:pt x="154962" y="240383"/>
                  <a:pt x="164809" y="246580"/>
                  <a:pt x="169501" y="256317"/>
                </a:cubicBezTo>
                <a:lnTo>
                  <a:pt x="198782" y="324494"/>
                </a:lnTo>
                <a:cubicBezTo>
                  <a:pt x="199683" y="326566"/>
                  <a:pt x="201768" y="327869"/>
                  <a:pt x="204026" y="327771"/>
                </a:cubicBezTo>
                <a:lnTo>
                  <a:pt x="258655" y="327771"/>
                </a:lnTo>
                <a:cubicBezTo>
                  <a:pt x="269778" y="327533"/>
                  <a:pt x="279917" y="334119"/>
                  <a:pt x="284221" y="344379"/>
                </a:cubicBezTo>
                <a:cubicBezTo>
                  <a:pt x="288280" y="354835"/>
                  <a:pt x="285700" y="366706"/>
                  <a:pt x="277665" y="374534"/>
                </a:cubicBezTo>
                <a:close/>
                <a:moveTo>
                  <a:pt x="406371" y="234903"/>
                </a:moveTo>
                <a:cubicBezTo>
                  <a:pt x="415422" y="234903"/>
                  <a:pt x="422759" y="242240"/>
                  <a:pt x="422759" y="251291"/>
                </a:cubicBezTo>
                <a:lnTo>
                  <a:pt x="422759" y="327771"/>
                </a:lnTo>
                <a:cubicBezTo>
                  <a:pt x="422759" y="336823"/>
                  <a:pt x="415422" y="344160"/>
                  <a:pt x="406371" y="344160"/>
                </a:cubicBezTo>
                <a:cubicBezTo>
                  <a:pt x="397319" y="344160"/>
                  <a:pt x="389982" y="336823"/>
                  <a:pt x="389982" y="327771"/>
                </a:cubicBezTo>
                <a:lnTo>
                  <a:pt x="389982" y="251291"/>
                </a:lnTo>
                <a:cubicBezTo>
                  <a:pt x="389982" y="242240"/>
                  <a:pt x="397319" y="234903"/>
                  <a:pt x="406371" y="234903"/>
                </a:cubicBezTo>
                <a:close/>
                <a:moveTo>
                  <a:pt x="286188" y="202126"/>
                </a:moveTo>
                <a:cubicBezTo>
                  <a:pt x="277136" y="202126"/>
                  <a:pt x="269799" y="194788"/>
                  <a:pt x="269799" y="185737"/>
                </a:cubicBezTo>
                <a:lnTo>
                  <a:pt x="269799" y="109257"/>
                </a:lnTo>
                <a:cubicBezTo>
                  <a:pt x="269799" y="100206"/>
                  <a:pt x="277136" y="92868"/>
                  <a:pt x="286188" y="92868"/>
                </a:cubicBezTo>
                <a:cubicBezTo>
                  <a:pt x="295239" y="92868"/>
                  <a:pt x="302576" y="100206"/>
                  <a:pt x="302576" y="109257"/>
                </a:cubicBezTo>
                <a:lnTo>
                  <a:pt x="302576" y="185737"/>
                </a:lnTo>
                <a:cubicBezTo>
                  <a:pt x="302576" y="194788"/>
                  <a:pt x="295239" y="202126"/>
                  <a:pt x="286188" y="202126"/>
                </a:cubicBezTo>
                <a:close/>
                <a:moveTo>
                  <a:pt x="417296" y="202126"/>
                </a:moveTo>
                <a:lnTo>
                  <a:pt x="384519" y="202126"/>
                </a:lnTo>
                <a:cubicBezTo>
                  <a:pt x="369434" y="202126"/>
                  <a:pt x="357205" y="189896"/>
                  <a:pt x="357205" y="174811"/>
                </a:cubicBezTo>
                <a:lnTo>
                  <a:pt x="357205" y="120183"/>
                </a:lnTo>
                <a:cubicBezTo>
                  <a:pt x="357205" y="105097"/>
                  <a:pt x="369434" y="92868"/>
                  <a:pt x="384519" y="92868"/>
                </a:cubicBezTo>
                <a:lnTo>
                  <a:pt x="417296" y="92868"/>
                </a:lnTo>
                <a:cubicBezTo>
                  <a:pt x="432382" y="92868"/>
                  <a:pt x="444611" y="105097"/>
                  <a:pt x="444611" y="120183"/>
                </a:cubicBezTo>
                <a:lnTo>
                  <a:pt x="444611" y="174811"/>
                </a:lnTo>
                <a:cubicBezTo>
                  <a:pt x="444611" y="189896"/>
                  <a:pt x="432382" y="202126"/>
                  <a:pt x="417296" y="202126"/>
                </a:cubicBezTo>
                <a:close/>
                <a:moveTo>
                  <a:pt x="411833" y="131108"/>
                </a:moveTo>
                <a:cubicBezTo>
                  <a:pt x="411833" y="128091"/>
                  <a:pt x="409388" y="125645"/>
                  <a:pt x="406371" y="125645"/>
                </a:cubicBezTo>
                <a:lnTo>
                  <a:pt x="395445" y="125645"/>
                </a:lnTo>
                <a:cubicBezTo>
                  <a:pt x="392428" y="125645"/>
                  <a:pt x="389982" y="128091"/>
                  <a:pt x="389982" y="131108"/>
                </a:cubicBezTo>
                <a:lnTo>
                  <a:pt x="389982" y="163885"/>
                </a:lnTo>
                <a:cubicBezTo>
                  <a:pt x="389982" y="166903"/>
                  <a:pt x="392428" y="169348"/>
                  <a:pt x="395445" y="169348"/>
                </a:cubicBezTo>
                <a:lnTo>
                  <a:pt x="406371" y="169348"/>
                </a:lnTo>
                <a:cubicBezTo>
                  <a:pt x="409388" y="169348"/>
                  <a:pt x="411833" y="166903"/>
                  <a:pt x="411833" y="163885"/>
                </a:cubicBezTo>
                <a:close/>
                <a:moveTo>
                  <a:pt x="526554" y="96583"/>
                </a:moveTo>
                <a:lnTo>
                  <a:pt x="526554" y="404252"/>
                </a:lnTo>
                <a:cubicBezTo>
                  <a:pt x="526554" y="428388"/>
                  <a:pt x="506987" y="447955"/>
                  <a:pt x="482851" y="447955"/>
                </a:cubicBezTo>
                <a:lnTo>
                  <a:pt x="290339" y="447955"/>
                </a:lnTo>
                <a:cubicBezTo>
                  <a:pt x="288119" y="448162"/>
                  <a:pt x="285982" y="447051"/>
                  <a:pt x="284876" y="445114"/>
                </a:cubicBezTo>
                <a:lnTo>
                  <a:pt x="280288" y="434625"/>
                </a:lnTo>
                <a:cubicBezTo>
                  <a:pt x="279658" y="432729"/>
                  <a:pt x="280267" y="430641"/>
                  <a:pt x="281817" y="429381"/>
                </a:cubicBezTo>
                <a:lnTo>
                  <a:pt x="308039" y="405563"/>
                </a:lnTo>
                <a:cubicBezTo>
                  <a:pt x="309014" y="404729"/>
                  <a:pt x="310252" y="404265"/>
                  <a:pt x="311535" y="404252"/>
                </a:cubicBezTo>
                <a:lnTo>
                  <a:pt x="471925" y="404252"/>
                </a:lnTo>
                <a:cubicBezTo>
                  <a:pt x="477959" y="404252"/>
                  <a:pt x="482851" y="399360"/>
                  <a:pt x="482851" y="393326"/>
                </a:cubicBezTo>
                <a:lnTo>
                  <a:pt x="482851" y="100953"/>
                </a:lnTo>
                <a:cubicBezTo>
                  <a:pt x="482886" y="98056"/>
                  <a:pt x="481696" y="95278"/>
                  <a:pt x="479573" y="93305"/>
                </a:cubicBezTo>
                <a:lnTo>
                  <a:pt x="433248" y="46980"/>
                </a:lnTo>
                <a:cubicBezTo>
                  <a:pt x="431275" y="44858"/>
                  <a:pt x="428497" y="43667"/>
                  <a:pt x="425600" y="43702"/>
                </a:cubicBezTo>
                <a:lnTo>
                  <a:pt x="187856" y="43702"/>
                </a:lnTo>
                <a:cubicBezTo>
                  <a:pt x="181822" y="43702"/>
                  <a:pt x="176930" y="48594"/>
                  <a:pt x="176930" y="54628"/>
                </a:cubicBezTo>
                <a:lnTo>
                  <a:pt x="176930" y="196663"/>
                </a:lnTo>
                <a:cubicBezTo>
                  <a:pt x="176740" y="198265"/>
                  <a:pt x="175851" y="199701"/>
                  <a:pt x="174503" y="200586"/>
                </a:cubicBezTo>
                <a:cubicBezTo>
                  <a:pt x="173154" y="201471"/>
                  <a:pt x="171483" y="201715"/>
                  <a:pt x="169938" y="201252"/>
                </a:cubicBezTo>
                <a:cubicBezTo>
                  <a:pt x="159535" y="198777"/>
                  <a:pt x="148931" y="197242"/>
                  <a:pt x="138253" y="196663"/>
                </a:cubicBezTo>
                <a:cubicBezTo>
                  <a:pt x="135713" y="196491"/>
                  <a:pt x="133629" y="194588"/>
                  <a:pt x="133227" y="192074"/>
                </a:cubicBezTo>
                <a:lnTo>
                  <a:pt x="133227" y="43702"/>
                </a:lnTo>
                <a:cubicBezTo>
                  <a:pt x="133227" y="19566"/>
                  <a:pt x="152794" y="0"/>
                  <a:pt x="176930" y="0"/>
                </a:cubicBezTo>
                <a:lnTo>
                  <a:pt x="430189" y="0"/>
                </a:lnTo>
                <a:cubicBezTo>
                  <a:pt x="441761" y="48"/>
                  <a:pt x="452841" y="4685"/>
                  <a:pt x="460999" y="12892"/>
                </a:cubicBezTo>
                <a:lnTo>
                  <a:pt x="513661" y="65554"/>
                </a:lnTo>
                <a:cubicBezTo>
                  <a:pt x="521922" y="73766"/>
                  <a:pt x="526563" y="84935"/>
                  <a:pt x="526554" y="96583"/>
                </a:cubicBezTo>
                <a:close/>
                <a:moveTo>
                  <a:pt x="275262" y="234903"/>
                </a:moveTo>
                <a:lnTo>
                  <a:pt x="308039" y="234903"/>
                </a:lnTo>
                <a:cubicBezTo>
                  <a:pt x="315321" y="234845"/>
                  <a:pt x="322325" y="237696"/>
                  <a:pt x="327495" y="242825"/>
                </a:cubicBezTo>
                <a:cubicBezTo>
                  <a:pt x="332664" y="247954"/>
                  <a:pt x="335572" y="254935"/>
                  <a:pt x="335572" y="262217"/>
                </a:cubicBezTo>
                <a:lnTo>
                  <a:pt x="335572" y="316846"/>
                </a:lnTo>
                <a:cubicBezTo>
                  <a:pt x="335604" y="322761"/>
                  <a:pt x="333684" y="328521"/>
                  <a:pt x="330109" y="333234"/>
                </a:cubicBezTo>
                <a:cubicBezTo>
                  <a:pt x="329235" y="334327"/>
                  <a:pt x="326613" y="333890"/>
                  <a:pt x="325302" y="331486"/>
                </a:cubicBezTo>
                <a:cubicBezTo>
                  <a:pt x="319716" y="320377"/>
                  <a:pt x="312741" y="310024"/>
                  <a:pt x="304543" y="300676"/>
                </a:cubicBezTo>
                <a:cubicBezTo>
                  <a:pt x="303446" y="299659"/>
                  <a:pt x="302815" y="298237"/>
                  <a:pt x="302795" y="296742"/>
                </a:cubicBezTo>
                <a:lnTo>
                  <a:pt x="302795" y="273143"/>
                </a:lnTo>
                <a:cubicBezTo>
                  <a:pt x="302795" y="270126"/>
                  <a:pt x="300349" y="267680"/>
                  <a:pt x="297332" y="267680"/>
                </a:cubicBezTo>
                <a:lnTo>
                  <a:pt x="286406" y="267680"/>
                </a:lnTo>
                <a:cubicBezTo>
                  <a:pt x="283389" y="267680"/>
                  <a:pt x="280943" y="270126"/>
                  <a:pt x="280943" y="273143"/>
                </a:cubicBezTo>
                <a:lnTo>
                  <a:pt x="280943" y="280791"/>
                </a:lnTo>
                <a:cubicBezTo>
                  <a:pt x="281033" y="282385"/>
                  <a:pt x="280391" y="283933"/>
                  <a:pt x="279200" y="284996"/>
                </a:cubicBezTo>
                <a:cubicBezTo>
                  <a:pt x="278009" y="286059"/>
                  <a:pt x="276399" y="286522"/>
                  <a:pt x="274825" y="286254"/>
                </a:cubicBezTo>
                <a:cubicBezTo>
                  <a:pt x="268051" y="285380"/>
                  <a:pt x="258655" y="284287"/>
                  <a:pt x="252973" y="284287"/>
                </a:cubicBezTo>
                <a:cubicBezTo>
                  <a:pt x="251582" y="284230"/>
                  <a:pt x="250270" y="283622"/>
                  <a:pt x="249328" y="282598"/>
                </a:cubicBezTo>
                <a:cubicBezTo>
                  <a:pt x="248385" y="281573"/>
                  <a:pt x="247888" y="280215"/>
                  <a:pt x="247948" y="278824"/>
                </a:cubicBezTo>
                <a:lnTo>
                  <a:pt x="247948" y="262217"/>
                </a:lnTo>
                <a:cubicBezTo>
                  <a:pt x="247948" y="247132"/>
                  <a:pt x="260177" y="234903"/>
                  <a:pt x="275262" y="234903"/>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26"/>
          <p:cNvSpPr/>
          <p:nvPr/>
        </p:nvSpPr>
        <p:spPr>
          <a:xfrm>
            <a:off x="3657966" y="3498125"/>
            <a:ext cx="525026" cy="524863"/>
          </a:xfrm>
          <a:custGeom>
            <a:avLst/>
            <a:gdLst/>
            <a:ahLst/>
            <a:cxnLst/>
            <a:rect l="0" t="0" r="0" b="0"/>
            <a:pathLst>
              <a:path w="525026" h="524863">
                <a:moveTo>
                  <a:pt x="295" y="428"/>
                </a:moveTo>
                <a:moveTo>
                  <a:pt x="491079" y="428"/>
                </a:moveTo>
                <a:cubicBezTo>
                  <a:pt x="500127" y="0"/>
                  <a:pt x="508936" y="3412"/>
                  <a:pt x="515334" y="9824"/>
                </a:cubicBezTo>
                <a:cubicBezTo>
                  <a:pt x="521634" y="16295"/>
                  <a:pt x="525026" y="25053"/>
                  <a:pt x="524730" y="34079"/>
                </a:cubicBezTo>
                <a:lnTo>
                  <a:pt x="517301" y="234894"/>
                </a:lnTo>
                <a:cubicBezTo>
                  <a:pt x="517270" y="243849"/>
                  <a:pt x="511778" y="251879"/>
                  <a:pt x="503443" y="255155"/>
                </a:cubicBezTo>
                <a:cubicBezTo>
                  <a:pt x="495109" y="258432"/>
                  <a:pt x="485619" y="256290"/>
                  <a:pt x="479498" y="249753"/>
                </a:cubicBezTo>
                <a:lnTo>
                  <a:pt x="428584" y="198839"/>
                </a:lnTo>
                <a:cubicBezTo>
                  <a:pt x="427540" y="197782"/>
                  <a:pt x="426135" y="197157"/>
                  <a:pt x="424651" y="197091"/>
                </a:cubicBezTo>
                <a:cubicBezTo>
                  <a:pt x="423188" y="197053"/>
                  <a:pt x="421771" y="197604"/>
                  <a:pt x="420717" y="198620"/>
                </a:cubicBezTo>
                <a:lnTo>
                  <a:pt x="198488" y="420850"/>
                </a:lnTo>
                <a:cubicBezTo>
                  <a:pt x="197420" y="421880"/>
                  <a:pt x="196816" y="423299"/>
                  <a:pt x="196816" y="424783"/>
                </a:cubicBezTo>
                <a:cubicBezTo>
                  <a:pt x="196816" y="426267"/>
                  <a:pt x="197420" y="427687"/>
                  <a:pt x="198488" y="428716"/>
                </a:cubicBezTo>
                <a:lnTo>
                  <a:pt x="249402" y="479630"/>
                </a:lnTo>
                <a:cubicBezTo>
                  <a:pt x="255939" y="485751"/>
                  <a:pt x="258081" y="495241"/>
                  <a:pt x="254805" y="503576"/>
                </a:cubicBezTo>
                <a:cubicBezTo>
                  <a:pt x="251528" y="511910"/>
                  <a:pt x="243498" y="517403"/>
                  <a:pt x="234543" y="517433"/>
                </a:cubicBezTo>
                <a:lnTo>
                  <a:pt x="33946" y="524863"/>
                </a:lnTo>
                <a:lnTo>
                  <a:pt x="32854" y="524863"/>
                </a:lnTo>
                <a:cubicBezTo>
                  <a:pt x="24209" y="524843"/>
                  <a:pt x="15907" y="521476"/>
                  <a:pt x="9691" y="515467"/>
                </a:cubicBezTo>
                <a:cubicBezTo>
                  <a:pt x="3392" y="508995"/>
                  <a:pt x="0" y="500238"/>
                  <a:pt x="295" y="491211"/>
                </a:cubicBezTo>
                <a:lnTo>
                  <a:pt x="7725" y="290615"/>
                </a:lnTo>
                <a:cubicBezTo>
                  <a:pt x="7755" y="281660"/>
                  <a:pt x="13248" y="273629"/>
                  <a:pt x="21582" y="270353"/>
                </a:cubicBezTo>
                <a:cubicBezTo>
                  <a:pt x="29917" y="267077"/>
                  <a:pt x="39407" y="269219"/>
                  <a:pt x="45528" y="275756"/>
                </a:cubicBezTo>
                <a:lnTo>
                  <a:pt x="96442" y="326670"/>
                </a:lnTo>
                <a:cubicBezTo>
                  <a:pt x="97471" y="327738"/>
                  <a:pt x="98891" y="328342"/>
                  <a:pt x="100375" y="328342"/>
                </a:cubicBezTo>
                <a:cubicBezTo>
                  <a:pt x="101859" y="328342"/>
                  <a:pt x="103279" y="327738"/>
                  <a:pt x="104308" y="326670"/>
                </a:cubicBezTo>
                <a:lnTo>
                  <a:pt x="326538" y="104441"/>
                </a:lnTo>
                <a:cubicBezTo>
                  <a:pt x="327634" y="103424"/>
                  <a:pt x="328266" y="102002"/>
                  <a:pt x="328286" y="100507"/>
                </a:cubicBezTo>
                <a:cubicBezTo>
                  <a:pt x="328219" y="99023"/>
                  <a:pt x="327595" y="97618"/>
                  <a:pt x="326538" y="96574"/>
                </a:cubicBezTo>
                <a:lnTo>
                  <a:pt x="275624" y="45660"/>
                </a:lnTo>
                <a:cubicBezTo>
                  <a:pt x="269086" y="39539"/>
                  <a:pt x="266945" y="30049"/>
                  <a:pt x="270221" y="21715"/>
                </a:cubicBezTo>
                <a:cubicBezTo>
                  <a:pt x="273497" y="13380"/>
                  <a:pt x="281527" y="7888"/>
                  <a:pt x="290483" y="7857"/>
                </a:cubicBezTo>
                <a:lnTo>
                  <a:pt x="491079" y="428"/>
                </a:ln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6" name="Rounded Rectangle 27"/>
          <p:cNvSpPr/>
          <p:nvPr/>
        </p:nvSpPr>
        <p:spPr>
          <a:xfrm>
            <a:off x="8055660" y="3498715"/>
            <a:ext cx="523782" cy="519426"/>
          </a:xfrm>
          <a:custGeom>
            <a:avLst/>
            <a:gdLst/>
            <a:ahLst/>
            <a:cxnLst/>
            <a:rect l="0" t="0" r="0" b="0"/>
            <a:pathLst>
              <a:path w="523782" h="519426">
                <a:moveTo>
                  <a:pt x="416928" y="421531"/>
                </a:moveTo>
                <a:cubicBezTo>
                  <a:pt x="425980" y="421531"/>
                  <a:pt x="433317" y="428869"/>
                  <a:pt x="433317" y="437920"/>
                </a:cubicBezTo>
                <a:cubicBezTo>
                  <a:pt x="433317" y="446971"/>
                  <a:pt x="425980" y="454308"/>
                  <a:pt x="416928" y="454308"/>
                </a:cubicBezTo>
                <a:lnTo>
                  <a:pt x="410810" y="454308"/>
                </a:lnTo>
                <a:lnTo>
                  <a:pt x="410810" y="503037"/>
                </a:lnTo>
                <a:cubicBezTo>
                  <a:pt x="410810" y="512088"/>
                  <a:pt x="403472" y="519426"/>
                  <a:pt x="394421" y="519426"/>
                </a:cubicBezTo>
                <a:cubicBezTo>
                  <a:pt x="385370" y="519426"/>
                  <a:pt x="378033" y="512088"/>
                  <a:pt x="378033" y="503037"/>
                </a:cubicBezTo>
                <a:lnTo>
                  <a:pt x="378033" y="454308"/>
                </a:lnTo>
                <a:lnTo>
                  <a:pt x="155148" y="454308"/>
                </a:lnTo>
                <a:lnTo>
                  <a:pt x="155148" y="503037"/>
                </a:lnTo>
                <a:cubicBezTo>
                  <a:pt x="155148" y="512088"/>
                  <a:pt x="147810" y="519426"/>
                  <a:pt x="138759" y="519426"/>
                </a:cubicBezTo>
                <a:cubicBezTo>
                  <a:pt x="129708" y="519426"/>
                  <a:pt x="122371" y="512088"/>
                  <a:pt x="122371" y="503037"/>
                </a:cubicBezTo>
                <a:lnTo>
                  <a:pt x="122371" y="454308"/>
                </a:lnTo>
                <a:lnTo>
                  <a:pt x="117345" y="454308"/>
                </a:lnTo>
                <a:cubicBezTo>
                  <a:pt x="108294" y="454308"/>
                  <a:pt x="100956" y="446971"/>
                  <a:pt x="100956" y="437920"/>
                </a:cubicBezTo>
                <a:cubicBezTo>
                  <a:pt x="100956" y="428869"/>
                  <a:pt x="108294" y="421531"/>
                  <a:pt x="117345" y="421531"/>
                </a:cubicBezTo>
                <a:lnTo>
                  <a:pt x="226602" y="421531"/>
                </a:lnTo>
                <a:cubicBezTo>
                  <a:pt x="230701" y="414702"/>
                  <a:pt x="233861" y="407352"/>
                  <a:pt x="235998" y="399680"/>
                </a:cubicBezTo>
                <a:lnTo>
                  <a:pt x="185084" y="399680"/>
                </a:lnTo>
                <a:cubicBezTo>
                  <a:pt x="163844" y="399680"/>
                  <a:pt x="146626" y="382461"/>
                  <a:pt x="146626" y="361221"/>
                </a:cubicBezTo>
                <a:lnTo>
                  <a:pt x="146626" y="273815"/>
                </a:lnTo>
                <a:cubicBezTo>
                  <a:pt x="146626" y="252575"/>
                  <a:pt x="163844" y="235357"/>
                  <a:pt x="185084" y="235357"/>
                </a:cubicBezTo>
                <a:lnTo>
                  <a:pt x="339356" y="235357"/>
                </a:lnTo>
                <a:cubicBezTo>
                  <a:pt x="360510" y="235477"/>
                  <a:pt x="377596" y="252660"/>
                  <a:pt x="377596" y="273815"/>
                </a:cubicBezTo>
                <a:lnTo>
                  <a:pt x="377596" y="361221"/>
                </a:lnTo>
                <a:cubicBezTo>
                  <a:pt x="377596" y="382376"/>
                  <a:pt x="360510" y="399559"/>
                  <a:pt x="339356" y="399680"/>
                </a:cubicBezTo>
                <a:lnTo>
                  <a:pt x="288442" y="399680"/>
                </a:lnTo>
                <a:cubicBezTo>
                  <a:pt x="290579" y="407352"/>
                  <a:pt x="293739" y="414702"/>
                  <a:pt x="297838" y="421531"/>
                </a:cubicBezTo>
                <a:lnTo>
                  <a:pt x="416928" y="421531"/>
                </a:lnTo>
                <a:close/>
                <a:moveTo>
                  <a:pt x="179403" y="361440"/>
                </a:moveTo>
                <a:cubicBezTo>
                  <a:pt x="179403" y="364577"/>
                  <a:pt x="181947" y="367121"/>
                  <a:pt x="185084" y="367121"/>
                </a:cubicBezTo>
                <a:lnTo>
                  <a:pt x="339356" y="367121"/>
                </a:lnTo>
                <a:cubicBezTo>
                  <a:pt x="342408" y="367004"/>
                  <a:pt x="344821" y="364494"/>
                  <a:pt x="344819" y="361440"/>
                </a:cubicBezTo>
                <a:lnTo>
                  <a:pt x="344819" y="274034"/>
                </a:lnTo>
                <a:cubicBezTo>
                  <a:pt x="344878" y="272547"/>
                  <a:pt x="344329" y="271101"/>
                  <a:pt x="343298" y="270029"/>
                </a:cubicBezTo>
                <a:cubicBezTo>
                  <a:pt x="342267" y="268957"/>
                  <a:pt x="340843" y="268351"/>
                  <a:pt x="339356" y="268352"/>
                </a:cubicBezTo>
                <a:lnTo>
                  <a:pt x="185084" y="268352"/>
                </a:lnTo>
                <a:cubicBezTo>
                  <a:pt x="181946" y="268352"/>
                  <a:pt x="179403" y="270896"/>
                  <a:pt x="179403" y="274034"/>
                </a:cubicBezTo>
                <a:lnTo>
                  <a:pt x="179403" y="361440"/>
                </a:lnTo>
                <a:close/>
                <a:moveTo>
                  <a:pt x="507393" y="169584"/>
                </a:moveTo>
                <a:cubicBezTo>
                  <a:pt x="516445" y="169584"/>
                  <a:pt x="523782" y="176921"/>
                  <a:pt x="523782" y="185972"/>
                </a:cubicBezTo>
                <a:cubicBezTo>
                  <a:pt x="523782" y="195023"/>
                  <a:pt x="516445" y="202361"/>
                  <a:pt x="507393" y="202361"/>
                </a:cubicBezTo>
                <a:lnTo>
                  <a:pt x="498871" y="202361"/>
                </a:lnTo>
                <a:lnTo>
                  <a:pt x="498871" y="284304"/>
                </a:lnTo>
                <a:cubicBezTo>
                  <a:pt x="498871" y="293355"/>
                  <a:pt x="491534" y="300693"/>
                  <a:pt x="482483" y="300693"/>
                </a:cubicBezTo>
                <a:cubicBezTo>
                  <a:pt x="473432" y="300693"/>
                  <a:pt x="466094" y="293355"/>
                  <a:pt x="466094" y="284304"/>
                </a:cubicBezTo>
                <a:lnTo>
                  <a:pt x="466094" y="202361"/>
                </a:lnTo>
                <a:lnTo>
                  <a:pt x="56379" y="202361"/>
                </a:lnTo>
                <a:lnTo>
                  <a:pt x="56379" y="284304"/>
                </a:lnTo>
                <a:cubicBezTo>
                  <a:pt x="56379" y="293355"/>
                  <a:pt x="49042" y="300693"/>
                  <a:pt x="39990" y="300693"/>
                </a:cubicBezTo>
                <a:cubicBezTo>
                  <a:pt x="30939" y="300693"/>
                  <a:pt x="23602" y="293355"/>
                  <a:pt x="23602" y="284304"/>
                </a:cubicBezTo>
                <a:lnTo>
                  <a:pt x="23602" y="202361"/>
                </a:lnTo>
                <a:lnTo>
                  <a:pt x="19887" y="202361"/>
                </a:lnTo>
                <a:cubicBezTo>
                  <a:pt x="10836" y="202361"/>
                  <a:pt x="3498" y="195023"/>
                  <a:pt x="3498" y="185972"/>
                </a:cubicBezTo>
                <a:cubicBezTo>
                  <a:pt x="3498" y="176921"/>
                  <a:pt x="10836" y="169584"/>
                  <a:pt x="19887" y="169584"/>
                </a:cubicBezTo>
                <a:lnTo>
                  <a:pt x="77356" y="169584"/>
                </a:lnTo>
                <a:cubicBezTo>
                  <a:pt x="80302" y="164124"/>
                  <a:pt x="82577" y="158327"/>
                  <a:pt x="84130" y="152321"/>
                </a:cubicBezTo>
                <a:lnTo>
                  <a:pt x="39116" y="152321"/>
                </a:lnTo>
                <a:cubicBezTo>
                  <a:pt x="28803" y="152497"/>
                  <a:pt x="18852" y="148523"/>
                  <a:pt x="11497" y="141291"/>
                </a:cubicBezTo>
                <a:cubicBezTo>
                  <a:pt x="4142" y="134060"/>
                  <a:pt x="1" y="124177"/>
                  <a:pt x="2" y="113862"/>
                </a:cubicBezTo>
                <a:lnTo>
                  <a:pt x="2" y="38475"/>
                </a:lnTo>
                <a:cubicBezTo>
                  <a:pt x="0" y="28180"/>
                  <a:pt x="4148" y="18318"/>
                  <a:pt x="11510" y="11121"/>
                </a:cubicBezTo>
                <a:cubicBezTo>
                  <a:pt x="18871" y="3924"/>
                  <a:pt x="28824" y="0"/>
                  <a:pt x="39116" y="235"/>
                </a:cubicBezTo>
                <a:lnTo>
                  <a:pt x="174814" y="235"/>
                </a:lnTo>
                <a:cubicBezTo>
                  <a:pt x="195763" y="474"/>
                  <a:pt x="212618" y="17525"/>
                  <a:pt x="212617" y="38475"/>
                </a:cubicBezTo>
                <a:lnTo>
                  <a:pt x="212617" y="113862"/>
                </a:lnTo>
                <a:cubicBezTo>
                  <a:pt x="212620" y="134849"/>
                  <a:pt x="195798" y="151963"/>
                  <a:pt x="174814" y="152321"/>
                </a:cubicBezTo>
                <a:lnTo>
                  <a:pt x="128926" y="152321"/>
                </a:lnTo>
                <a:cubicBezTo>
                  <a:pt x="130646" y="158304"/>
                  <a:pt x="132990" y="164090"/>
                  <a:pt x="135918" y="169584"/>
                </a:cubicBezTo>
                <a:lnTo>
                  <a:pt x="377596" y="169584"/>
                </a:lnTo>
                <a:cubicBezTo>
                  <a:pt x="380450" y="164082"/>
                  <a:pt x="382721" y="158296"/>
                  <a:pt x="384370" y="152321"/>
                </a:cubicBezTo>
                <a:lnTo>
                  <a:pt x="339356" y="152321"/>
                </a:lnTo>
                <a:cubicBezTo>
                  <a:pt x="318115" y="152321"/>
                  <a:pt x="300897" y="135103"/>
                  <a:pt x="300897" y="113862"/>
                </a:cubicBezTo>
                <a:lnTo>
                  <a:pt x="300897" y="38475"/>
                </a:lnTo>
                <a:cubicBezTo>
                  <a:pt x="300897" y="28295"/>
                  <a:pt x="304956" y="18535"/>
                  <a:pt x="312174" y="11358"/>
                </a:cubicBezTo>
                <a:cubicBezTo>
                  <a:pt x="319393" y="4180"/>
                  <a:pt x="329176" y="177"/>
                  <a:pt x="339355" y="235"/>
                </a:cubicBezTo>
                <a:lnTo>
                  <a:pt x="474179" y="235"/>
                </a:lnTo>
                <a:cubicBezTo>
                  <a:pt x="484359" y="177"/>
                  <a:pt x="494141" y="4180"/>
                  <a:pt x="501360" y="11358"/>
                </a:cubicBezTo>
                <a:cubicBezTo>
                  <a:pt x="508579" y="18535"/>
                  <a:pt x="512638" y="28295"/>
                  <a:pt x="512638" y="38475"/>
                </a:cubicBezTo>
                <a:lnTo>
                  <a:pt x="512638" y="113862"/>
                </a:lnTo>
                <a:cubicBezTo>
                  <a:pt x="512638" y="135103"/>
                  <a:pt x="495419" y="152321"/>
                  <a:pt x="474179" y="152321"/>
                </a:cubicBezTo>
                <a:lnTo>
                  <a:pt x="430258" y="152321"/>
                </a:lnTo>
                <a:cubicBezTo>
                  <a:pt x="431906" y="158296"/>
                  <a:pt x="434177" y="164082"/>
                  <a:pt x="437032" y="169584"/>
                </a:cubicBezTo>
                <a:lnTo>
                  <a:pt x="507393" y="169584"/>
                </a:lnTo>
                <a:close/>
                <a:moveTo>
                  <a:pt x="174814" y="119544"/>
                </a:moveTo>
                <a:cubicBezTo>
                  <a:pt x="177952" y="119544"/>
                  <a:pt x="180495" y="117000"/>
                  <a:pt x="180495" y="113862"/>
                </a:cubicBezTo>
                <a:lnTo>
                  <a:pt x="180495" y="38475"/>
                </a:lnTo>
                <a:cubicBezTo>
                  <a:pt x="180378" y="35423"/>
                  <a:pt x="177868" y="33010"/>
                  <a:pt x="174814" y="33012"/>
                </a:cubicBezTo>
                <a:lnTo>
                  <a:pt x="39116" y="33012"/>
                </a:lnTo>
                <a:cubicBezTo>
                  <a:pt x="36062" y="33010"/>
                  <a:pt x="33553" y="35423"/>
                  <a:pt x="33435" y="38475"/>
                </a:cubicBezTo>
                <a:lnTo>
                  <a:pt x="33435" y="113862"/>
                </a:lnTo>
                <a:cubicBezTo>
                  <a:pt x="33435" y="117000"/>
                  <a:pt x="35979" y="119544"/>
                  <a:pt x="39116" y="119544"/>
                </a:cubicBezTo>
                <a:close/>
                <a:moveTo>
                  <a:pt x="474179" y="119544"/>
                </a:moveTo>
                <a:cubicBezTo>
                  <a:pt x="477317" y="119544"/>
                  <a:pt x="479861" y="117000"/>
                  <a:pt x="479861" y="113862"/>
                </a:cubicBezTo>
                <a:lnTo>
                  <a:pt x="479861" y="38475"/>
                </a:lnTo>
                <a:cubicBezTo>
                  <a:pt x="479862" y="36987"/>
                  <a:pt x="479256" y="35564"/>
                  <a:pt x="478184" y="34533"/>
                </a:cubicBezTo>
                <a:cubicBezTo>
                  <a:pt x="477112" y="33502"/>
                  <a:pt x="475665" y="32952"/>
                  <a:pt x="474179" y="33012"/>
                </a:cubicBezTo>
                <a:lnTo>
                  <a:pt x="339356" y="33012"/>
                </a:lnTo>
                <a:cubicBezTo>
                  <a:pt x="337869" y="32952"/>
                  <a:pt x="336423" y="33502"/>
                  <a:pt x="335351" y="34533"/>
                </a:cubicBezTo>
                <a:cubicBezTo>
                  <a:pt x="334278" y="35564"/>
                  <a:pt x="333673" y="36987"/>
                  <a:pt x="333674" y="38475"/>
                </a:cubicBezTo>
                <a:lnTo>
                  <a:pt x="333674" y="113862"/>
                </a:lnTo>
                <a:cubicBezTo>
                  <a:pt x="333674" y="117000"/>
                  <a:pt x="336218" y="119544"/>
                  <a:pt x="339356" y="119544"/>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7" name="Rounded Rectangle 28"/>
          <p:cNvSpPr/>
          <p:nvPr/>
        </p:nvSpPr>
        <p:spPr>
          <a:xfrm>
            <a:off x="2620810" y="2929016"/>
            <a:ext cx="415177" cy="480732"/>
          </a:xfrm>
          <a:custGeom>
            <a:avLst/>
            <a:gdLst/>
            <a:ahLst/>
            <a:cxnLst/>
            <a:rect l="0" t="0" r="0" b="0"/>
            <a:pathLst>
              <a:path w="415177" h="480732">
                <a:moveTo>
                  <a:pt x="200815" y="379997"/>
                </a:moveTo>
                <a:cubicBezTo>
                  <a:pt x="194259" y="374752"/>
                  <a:pt x="43702" y="252603"/>
                  <a:pt x="43702" y="163886"/>
                </a:cubicBezTo>
                <a:cubicBezTo>
                  <a:pt x="43702" y="73374"/>
                  <a:pt x="117077" y="0"/>
                  <a:pt x="207588" y="0"/>
                </a:cubicBezTo>
                <a:cubicBezTo>
                  <a:pt x="298100" y="0"/>
                  <a:pt x="371475" y="73374"/>
                  <a:pt x="371475" y="163886"/>
                </a:cubicBezTo>
                <a:cubicBezTo>
                  <a:pt x="371475" y="252602"/>
                  <a:pt x="220918" y="374752"/>
                  <a:pt x="214362" y="379997"/>
                </a:cubicBezTo>
                <a:cubicBezTo>
                  <a:pt x="212432" y="381524"/>
                  <a:pt x="210050" y="382369"/>
                  <a:pt x="207588" y="382400"/>
                </a:cubicBezTo>
                <a:cubicBezTo>
                  <a:pt x="205127" y="382369"/>
                  <a:pt x="202745" y="381524"/>
                  <a:pt x="200815" y="379997"/>
                </a:cubicBezTo>
                <a:close/>
                <a:moveTo>
                  <a:pt x="152960" y="152960"/>
                </a:moveTo>
                <a:cubicBezTo>
                  <a:pt x="152960" y="183130"/>
                  <a:pt x="177418" y="207588"/>
                  <a:pt x="207588" y="207588"/>
                </a:cubicBezTo>
                <a:cubicBezTo>
                  <a:pt x="237759" y="207588"/>
                  <a:pt x="262217" y="183130"/>
                  <a:pt x="262217" y="152960"/>
                </a:cubicBezTo>
                <a:cubicBezTo>
                  <a:pt x="262217" y="122789"/>
                  <a:pt x="237759" y="98331"/>
                  <a:pt x="207588" y="98331"/>
                </a:cubicBezTo>
                <a:cubicBezTo>
                  <a:pt x="177418" y="98331"/>
                  <a:pt x="152960" y="122789"/>
                  <a:pt x="152960" y="152960"/>
                </a:cubicBezTo>
                <a:close/>
                <a:moveTo>
                  <a:pt x="32777" y="415177"/>
                </a:moveTo>
                <a:lnTo>
                  <a:pt x="382400" y="415177"/>
                </a:lnTo>
                <a:cubicBezTo>
                  <a:pt x="400503" y="415177"/>
                  <a:pt x="415177" y="429852"/>
                  <a:pt x="415177" y="447955"/>
                </a:cubicBezTo>
                <a:cubicBezTo>
                  <a:pt x="415177" y="466057"/>
                  <a:pt x="400503" y="480732"/>
                  <a:pt x="382400" y="480732"/>
                </a:cubicBezTo>
                <a:lnTo>
                  <a:pt x="32777" y="480732"/>
                </a:lnTo>
                <a:cubicBezTo>
                  <a:pt x="14674" y="480732"/>
                  <a:pt x="0" y="466057"/>
                  <a:pt x="0" y="447955"/>
                </a:cubicBezTo>
                <a:cubicBezTo>
                  <a:pt x="0" y="429852"/>
                  <a:pt x="14674" y="415177"/>
                  <a:pt x="32777" y="415177"/>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8" name="TextBox 29"/>
          <p:cNvSpPr txBox="1"/>
          <p:nvPr/>
        </p:nvSpPr>
        <p:spPr>
          <a:xfrm>
            <a:off x="6618853" y="1171565"/>
            <a:ext cx="1200649"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PAN-based
registration</a:t>
            </a:r>
          </a:p>
        </p:txBody>
      </p:sp>
      <p:sp>
        <p:nvSpPr>
          <p:cNvPr id="19" name="TextBox 30"/>
          <p:cNvSpPr txBox="1"/>
          <p:nvPr/>
        </p:nvSpPr>
        <p:spPr>
          <a:xfrm>
            <a:off x="9089710" y="1320242"/>
            <a:ext cx="654025"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GSTIN</a:t>
            </a:r>
          </a:p>
        </p:txBody>
      </p:sp>
      <p:sp>
        <p:nvSpPr>
          <p:cNvPr id="20" name="TextBox 31"/>
          <p:cNvSpPr txBox="1"/>
          <p:nvPr/>
        </p:nvSpPr>
        <p:spPr>
          <a:xfrm>
            <a:off x="1981789" y="1907628"/>
            <a:ext cx="1752082"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Tax levied where
goods/services are
consumed.</a:t>
            </a:r>
          </a:p>
        </p:txBody>
      </p:sp>
      <p:sp>
        <p:nvSpPr>
          <p:cNvPr id="21" name="TextBox 32"/>
          <p:cNvSpPr txBox="1"/>
          <p:nvPr/>
        </p:nvSpPr>
        <p:spPr>
          <a:xfrm>
            <a:off x="4173333" y="1907188"/>
            <a:ext cx="1718419"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Tax applied only to
the increase in
value.</a:t>
            </a:r>
          </a:p>
        </p:txBody>
      </p:sp>
      <p:sp>
        <p:nvSpPr>
          <p:cNvPr id="22" name="TextBox 33"/>
          <p:cNvSpPr txBox="1"/>
          <p:nvPr/>
        </p:nvSpPr>
        <p:spPr>
          <a:xfrm>
            <a:off x="6363459" y="1903533"/>
            <a:ext cx="1708801"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Registration based
on Permanent
Account Number.</a:t>
            </a:r>
          </a:p>
        </p:txBody>
      </p:sp>
      <p:sp>
        <p:nvSpPr>
          <p:cNvPr id="23" name="TextBox 34"/>
          <p:cNvSpPr txBox="1"/>
          <p:nvPr/>
        </p:nvSpPr>
        <p:spPr>
          <a:xfrm>
            <a:off x="8595487" y="1933322"/>
            <a:ext cx="1638269"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GST Identification
Number for
businesses.</a:t>
            </a:r>
          </a:p>
        </p:txBody>
      </p:sp>
      <p:sp>
        <p:nvSpPr>
          <p:cNvPr id="24" name="TextBox 35"/>
          <p:cNvSpPr txBox="1"/>
          <p:nvPr/>
        </p:nvSpPr>
        <p:spPr>
          <a:xfrm>
            <a:off x="5107973" y="4744702"/>
            <a:ext cx="2015080"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Mechanism to claim</a:t>
            </a:r>
            <a:r>
              <a:rPr lang="en-US" b="0" dirty="0">
                <a:solidFill>
                  <a:srgbClr val="FFFFFF"/>
                </a:solidFill>
              </a:rPr>
              <a:t> </a:t>
            </a:r>
            <a:r>
              <a:rPr b="0" dirty="0">
                <a:solidFill>
                  <a:srgbClr val="FFFFFF"/>
                </a:solidFill>
              </a:rPr>
              <a:t>credit for taxes paid
on inputs.</a:t>
            </a:r>
          </a:p>
        </p:txBody>
      </p:sp>
      <p:sp>
        <p:nvSpPr>
          <p:cNvPr id="25" name="TextBox 36"/>
          <p:cNvSpPr txBox="1"/>
          <p:nvPr/>
        </p:nvSpPr>
        <p:spPr>
          <a:xfrm>
            <a:off x="4287761" y="1174355"/>
            <a:ext cx="1476366"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Value addition
tax</a:t>
            </a:r>
          </a:p>
        </p:txBody>
      </p:sp>
      <p:sp>
        <p:nvSpPr>
          <p:cNvPr id="26" name="TextBox 37"/>
          <p:cNvSpPr txBox="1"/>
          <p:nvPr/>
        </p:nvSpPr>
        <p:spPr>
          <a:xfrm>
            <a:off x="2196014" y="1174356"/>
            <a:ext cx="1264770"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Destination-
based tax</a:t>
            </a:r>
          </a:p>
        </p:txBody>
      </p:sp>
      <p:sp>
        <p:nvSpPr>
          <p:cNvPr id="27" name="TextBox 39"/>
          <p:cNvSpPr txBox="1"/>
          <p:nvPr/>
        </p:nvSpPr>
        <p:spPr>
          <a:xfrm>
            <a:off x="3347249" y="4262735"/>
            <a:ext cx="1147750"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Dual model</a:t>
            </a:r>
          </a:p>
        </p:txBody>
      </p:sp>
      <p:sp>
        <p:nvSpPr>
          <p:cNvPr id="28" name="TextBox 40"/>
          <p:cNvSpPr txBox="1"/>
          <p:nvPr/>
        </p:nvSpPr>
        <p:spPr>
          <a:xfrm>
            <a:off x="5109264" y="4268145"/>
            <a:ext cx="2013788"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Input Tax</a:t>
            </a:r>
            <a:r>
              <a:rPr lang="en-US" sz="2000" b="1" dirty="0">
                <a:solidFill>
                  <a:srgbClr val="FFFFFF"/>
                </a:solidFill>
              </a:rPr>
              <a:t> </a:t>
            </a:r>
            <a:r>
              <a:rPr sz="2000" b="1" dirty="0">
                <a:solidFill>
                  <a:srgbClr val="FFFFFF"/>
                </a:solidFill>
              </a:rPr>
              <a:t>Credit</a:t>
            </a:r>
          </a:p>
        </p:txBody>
      </p:sp>
      <p:sp>
        <p:nvSpPr>
          <p:cNvPr id="29" name="TextBox 41"/>
          <p:cNvSpPr txBox="1"/>
          <p:nvPr/>
        </p:nvSpPr>
        <p:spPr>
          <a:xfrm>
            <a:off x="8019353" y="4262735"/>
            <a:ext cx="585097"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GSTN</a:t>
            </a:r>
          </a:p>
        </p:txBody>
      </p:sp>
      <p:sp>
        <p:nvSpPr>
          <p:cNvPr id="30" name="TextBox 42"/>
          <p:cNvSpPr txBox="1"/>
          <p:nvPr/>
        </p:nvSpPr>
        <p:spPr>
          <a:xfrm>
            <a:off x="2930001" y="4599247"/>
            <a:ext cx="1982246" cy="1107996"/>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CGST +</a:t>
            </a:r>
            <a:r>
              <a:rPr lang="en-US" b="0" dirty="0">
                <a:solidFill>
                  <a:srgbClr val="FFFFFF"/>
                </a:solidFill>
              </a:rPr>
              <a:t> </a:t>
            </a:r>
            <a:r>
              <a:rPr b="0" dirty="0">
                <a:solidFill>
                  <a:srgbClr val="FFFFFF"/>
                </a:solidFill>
              </a:rPr>
              <a:t>SGST/UTGST for</a:t>
            </a:r>
            <a:r>
              <a:rPr lang="en-US" b="0" dirty="0">
                <a:solidFill>
                  <a:srgbClr val="FFFFFF"/>
                </a:solidFill>
              </a:rPr>
              <a:t> </a:t>
            </a:r>
            <a:r>
              <a:rPr b="0" dirty="0">
                <a:solidFill>
                  <a:srgbClr val="FFFFFF"/>
                </a:solidFill>
              </a:rPr>
              <a:t>intra-state; IGST</a:t>
            </a:r>
            <a:r>
              <a:rPr lang="en-US" b="0" dirty="0">
                <a:solidFill>
                  <a:srgbClr val="FFFFFF"/>
                </a:solidFill>
              </a:rPr>
              <a:t> </a:t>
            </a:r>
            <a:r>
              <a:rPr b="0" dirty="0">
                <a:solidFill>
                  <a:srgbClr val="FFFFFF"/>
                </a:solidFill>
              </a:rPr>
              <a:t>for</a:t>
            </a:r>
            <a:r>
              <a:rPr lang="en-US" dirty="0">
                <a:solidFill>
                  <a:srgbClr val="FFFFFF"/>
                </a:solidFill>
              </a:rPr>
              <a:t> </a:t>
            </a:r>
            <a:r>
              <a:rPr b="0" dirty="0">
                <a:solidFill>
                  <a:srgbClr val="FFFFFF"/>
                </a:solidFill>
              </a:rPr>
              <a:t>inter-state
transactions.</a:t>
            </a:r>
          </a:p>
        </p:txBody>
      </p:sp>
      <p:sp>
        <p:nvSpPr>
          <p:cNvPr id="31" name="TextBox 43"/>
          <p:cNvSpPr txBox="1"/>
          <p:nvPr/>
        </p:nvSpPr>
        <p:spPr>
          <a:xfrm>
            <a:off x="7560092" y="4679726"/>
            <a:ext cx="1503617" cy="110799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GST Network for
electronic
compliance and
administration.</a:t>
            </a:r>
          </a:p>
        </p:txBody>
      </p:sp>
    </p:spTree>
    <p:extLst>
      <p:ext uri="{BB962C8B-B14F-4D97-AF65-F5344CB8AC3E}">
        <p14:creationId xmlns:p14="http://schemas.microsoft.com/office/powerpoint/2010/main" val="2130765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Times New Roman" panose="02020603050405020304" pitchFamily="18" charset="0"/>
              </a:rPr>
              <a:t>Types of GST</a:t>
            </a:r>
          </a:p>
        </p:txBody>
      </p:sp>
      <p:grpSp>
        <p:nvGrpSpPr>
          <p:cNvPr id="40" name="Group 39">
            <a:extLst>
              <a:ext uri="{FF2B5EF4-FFF2-40B4-BE49-F238E27FC236}">
                <a16:creationId xmlns:a16="http://schemas.microsoft.com/office/drawing/2014/main" id="{2C13EE39-1E6B-52E9-DAEE-4A8C39201F72}"/>
              </a:ext>
            </a:extLst>
          </p:cNvPr>
          <p:cNvGrpSpPr/>
          <p:nvPr/>
        </p:nvGrpSpPr>
        <p:grpSpPr>
          <a:xfrm>
            <a:off x="1997476" y="905522"/>
            <a:ext cx="7345598" cy="5214267"/>
            <a:chOff x="2620162" y="1559778"/>
            <a:chExt cx="6735461" cy="4560011"/>
          </a:xfrm>
        </p:grpSpPr>
        <p:grpSp>
          <p:nvGrpSpPr>
            <p:cNvPr id="4" name="Group 3"/>
            <p:cNvGrpSpPr/>
            <p:nvPr/>
          </p:nvGrpSpPr>
          <p:grpSpPr>
            <a:xfrm>
              <a:off x="2705482" y="1559778"/>
              <a:ext cx="2991832" cy="2599481"/>
              <a:chOff x="507813" y="897861"/>
              <a:chExt cx="2171489" cy="2599481"/>
            </a:xfrm>
          </p:grpSpPr>
          <p:sp>
            <p:nvSpPr>
              <p:cNvPr id="38" name="Rounded Rectangle 1"/>
              <p:cNvSpPr/>
              <p:nvPr/>
            </p:nvSpPr>
            <p:spPr>
              <a:xfrm>
                <a:off x="507813" y="899483"/>
                <a:ext cx="2171489" cy="2597791"/>
              </a:xfrm>
              <a:custGeom>
                <a:avLst/>
                <a:gdLst/>
                <a:ahLst/>
                <a:cxnLst/>
                <a:rect l="0" t="0" r="0" b="0"/>
                <a:pathLst>
                  <a:path w="2171489" h="2597791">
                    <a:moveTo>
                      <a:pt x="1801627" y="2597791"/>
                    </a:moveTo>
                    <a:lnTo>
                      <a:pt x="317933" y="2597790"/>
                    </a:lnTo>
                    <a:cubicBezTo>
                      <a:pt x="142343" y="2597790"/>
                      <a:pt x="0" y="2455583"/>
                      <a:pt x="0" y="2279994"/>
                    </a:cubicBezTo>
                    <a:lnTo>
                      <a:pt x="0" y="2279857"/>
                    </a:lnTo>
                    <a:lnTo>
                      <a:pt x="2119561" y="2279857"/>
                    </a:lnTo>
                    <a:cubicBezTo>
                      <a:pt x="2119561" y="2455446"/>
                      <a:pt x="1977215" y="2597791"/>
                      <a:pt x="1801627" y="2597791"/>
                    </a:cubicBezTo>
                    <a:close/>
                    <a:moveTo>
                      <a:pt x="2160185" y="161983"/>
                    </a:moveTo>
                    <a:lnTo>
                      <a:pt x="2119560" y="161983"/>
                    </a:lnTo>
                    <a:lnTo>
                      <a:pt x="2119560" y="1326055"/>
                    </a:lnTo>
                    <a:lnTo>
                      <a:pt x="0" y="1326055"/>
                    </a:lnTo>
                    <a:cubicBezTo>
                      <a:pt x="0" y="1150467"/>
                      <a:pt x="142343" y="1010956"/>
                      <a:pt x="317933" y="1010956"/>
                    </a:cubicBezTo>
                    <a:lnTo>
                      <a:pt x="1430703" y="1010956"/>
                    </a:lnTo>
                    <a:cubicBezTo>
                      <a:pt x="1793413" y="1010956"/>
                      <a:pt x="2013582" y="744862"/>
                      <a:pt x="2013582" y="397430"/>
                    </a:cubicBezTo>
                    <a:lnTo>
                      <a:pt x="2013582" y="161982"/>
                    </a:lnTo>
                    <a:lnTo>
                      <a:pt x="1972251" y="161982"/>
                    </a:lnTo>
                    <a:cubicBezTo>
                      <a:pt x="1965362" y="161982"/>
                      <a:pt x="1961035" y="154476"/>
                      <a:pt x="1964479" y="148470"/>
                    </a:cubicBezTo>
                    <a:lnTo>
                      <a:pt x="2059179" y="5289"/>
                    </a:lnTo>
                    <a:cubicBezTo>
                      <a:pt x="2062676" y="0"/>
                      <a:pt x="2070448" y="12"/>
                      <a:pt x="2073928" y="5313"/>
                    </a:cubicBezTo>
                    <a:lnTo>
                      <a:pt x="2167957" y="148470"/>
                    </a:lnTo>
                    <a:cubicBezTo>
                      <a:pt x="2171489" y="154477"/>
                      <a:pt x="2167162" y="161983"/>
                      <a:pt x="2160185" y="161983"/>
                    </a:cubicBezTo>
                    <a:close/>
                    <a:moveTo>
                      <a:pt x="2119560" y="1326055"/>
                    </a:moveTo>
                    <a:lnTo>
                      <a:pt x="2119560" y="2279857"/>
                    </a:lnTo>
                    <a:lnTo>
                      <a:pt x="0" y="2279857"/>
                    </a:lnTo>
                    <a:lnTo>
                      <a:pt x="0" y="1326055"/>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9" name="Rounded Rectangle 2"/>
              <p:cNvSpPr/>
              <p:nvPr/>
            </p:nvSpPr>
            <p:spPr>
              <a:xfrm>
                <a:off x="507813" y="897861"/>
                <a:ext cx="2171489" cy="2599481"/>
              </a:xfrm>
              <a:custGeom>
                <a:avLst/>
                <a:gdLst/>
                <a:ahLst/>
                <a:cxnLst/>
                <a:rect l="0" t="0" r="0" b="0"/>
                <a:pathLst>
                  <a:path w="2171489" h="2599481">
                    <a:moveTo>
                      <a:pt x="0" y="1327676"/>
                    </a:moveTo>
                    <a:cubicBezTo>
                      <a:pt x="0" y="1152086"/>
                      <a:pt x="142343" y="1010955"/>
                      <a:pt x="317933" y="1010955"/>
                    </a:cubicBezTo>
                    <a:lnTo>
                      <a:pt x="1430703" y="1010955"/>
                    </a:lnTo>
                    <a:cubicBezTo>
                      <a:pt x="1793412" y="1010955"/>
                      <a:pt x="2013582" y="744862"/>
                      <a:pt x="2013582" y="397430"/>
                    </a:cubicBezTo>
                    <a:lnTo>
                      <a:pt x="2013582" y="161982"/>
                    </a:lnTo>
                    <a:lnTo>
                      <a:pt x="1972250" y="161982"/>
                    </a:lnTo>
                    <a:cubicBezTo>
                      <a:pt x="1965362" y="161982"/>
                      <a:pt x="1961034" y="154476"/>
                      <a:pt x="1964479" y="148470"/>
                    </a:cubicBezTo>
                    <a:lnTo>
                      <a:pt x="2059180" y="5289"/>
                    </a:lnTo>
                    <a:cubicBezTo>
                      <a:pt x="2062678" y="0"/>
                      <a:pt x="2070445" y="12"/>
                      <a:pt x="2073927" y="5313"/>
                    </a:cubicBezTo>
                    <a:lnTo>
                      <a:pt x="2167956" y="148470"/>
                    </a:lnTo>
                    <a:cubicBezTo>
                      <a:pt x="2171489" y="154477"/>
                      <a:pt x="2167161" y="161983"/>
                      <a:pt x="2160185" y="161983"/>
                    </a:cubicBezTo>
                    <a:lnTo>
                      <a:pt x="2119560" y="161983"/>
                    </a:lnTo>
                    <a:lnTo>
                      <a:pt x="2119560" y="1327676"/>
                    </a:lnTo>
                    <a:moveTo>
                      <a:pt x="2119561" y="2281478"/>
                    </a:moveTo>
                    <a:cubicBezTo>
                      <a:pt x="2119561" y="2457068"/>
                      <a:pt x="1977216" y="2599481"/>
                      <a:pt x="1801627" y="2599481"/>
                    </a:cubicBezTo>
                    <a:lnTo>
                      <a:pt x="317933" y="2599480"/>
                    </a:lnTo>
                    <a:cubicBezTo>
                      <a:pt x="142343" y="2599480"/>
                      <a:pt x="0" y="2457205"/>
                      <a:pt x="0" y="2281616"/>
                    </a:cubicBezTo>
                    <a:lnTo>
                      <a:pt x="0" y="2281478"/>
                    </a:lnTo>
                    <a:moveTo>
                      <a:pt x="2119561" y="2281478"/>
                    </a:moveTo>
                    <a:lnTo>
                      <a:pt x="2119561" y="1327676"/>
                    </a:lnTo>
                    <a:moveTo>
                      <a:pt x="0" y="1327676"/>
                    </a:moveTo>
                    <a:lnTo>
                      <a:pt x="0" y="2281478"/>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2620165" y="3841258"/>
              <a:ext cx="3285320" cy="797533"/>
              <a:chOff x="503397" y="3179344"/>
              <a:chExt cx="2384505" cy="797533"/>
            </a:xfrm>
          </p:grpSpPr>
          <p:sp>
            <p:nvSpPr>
              <p:cNvPr id="36" name="Rounded Rectangle 4"/>
              <p:cNvSpPr/>
              <p:nvPr/>
            </p:nvSpPr>
            <p:spPr>
              <a:xfrm>
                <a:off x="503397" y="3179344"/>
                <a:ext cx="2384505" cy="797533"/>
              </a:xfrm>
              <a:custGeom>
                <a:avLst/>
                <a:gdLst/>
                <a:ahLst/>
                <a:cxnLst/>
                <a:rect l="0" t="0" r="0" b="0"/>
                <a:pathLst>
                  <a:path w="2384505" h="797533">
                    <a:moveTo>
                      <a:pt x="1801626" y="479735"/>
                    </a:moveTo>
                    <a:cubicBezTo>
                      <a:pt x="2066571" y="479735"/>
                      <a:pt x="2278527" y="317934"/>
                      <a:pt x="2278527" y="0"/>
                    </a:cubicBezTo>
                    <a:lnTo>
                      <a:pt x="2384505" y="0"/>
                    </a:lnTo>
                    <a:lnTo>
                      <a:pt x="2384505" y="797533"/>
                    </a:lnTo>
                    <a:lnTo>
                      <a:pt x="0" y="797533"/>
                    </a:lnTo>
                    <a:cubicBezTo>
                      <a:pt x="0" y="621943"/>
                      <a:pt x="142343" y="479735"/>
                      <a:pt x="317933" y="47973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5"/>
              <p:cNvSpPr/>
              <p:nvPr/>
            </p:nvSpPr>
            <p:spPr>
              <a:xfrm>
                <a:off x="503397" y="3179344"/>
                <a:ext cx="2384505" cy="797533"/>
              </a:xfrm>
              <a:custGeom>
                <a:avLst/>
                <a:gdLst/>
                <a:ahLst/>
                <a:cxnLst/>
                <a:rect l="0" t="0" r="0" b="0"/>
                <a:pathLst>
                  <a:path w="2384505" h="797533">
                    <a:moveTo>
                      <a:pt x="2278527" y="0"/>
                    </a:moveTo>
                    <a:cubicBezTo>
                      <a:pt x="2278527" y="317934"/>
                      <a:pt x="2066571" y="479735"/>
                      <a:pt x="1801626" y="479735"/>
                    </a:cubicBezTo>
                    <a:lnTo>
                      <a:pt x="317933" y="479735"/>
                    </a:lnTo>
                    <a:cubicBezTo>
                      <a:pt x="142343" y="479735"/>
                      <a:pt x="0" y="621943"/>
                      <a:pt x="0" y="797533"/>
                    </a:cubicBezTo>
                    <a:moveTo>
                      <a:pt x="2384505" y="797533"/>
                    </a:moveTo>
                    <a:lnTo>
                      <a:pt x="2384505" y="0"/>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5698908" y="1561333"/>
              <a:ext cx="289959" cy="2279857"/>
              <a:chOff x="2729374" y="899483"/>
              <a:chExt cx="210454" cy="2279857"/>
            </a:xfrm>
          </p:grpSpPr>
          <p:sp>
            <p:nvSpPr>
              <p:cNvPr id="34" name="Rounded Rectangle 7"/>
              <p:cNvSpPr/>
              <p:nvPr/>
            </p:nvSpPr>
            <p:spPr>
              <a:xfrm>
                <a:off x="2729374" y="899483"/>
                <a:ext cx="210454" cy="2279857"/>
              </a:xfrm>
              <a:custGeom>
                <a:avLst/>
                <a:gdLst/>
                <a:ahLst/>
                <a:cxnLst/>
                <a:rect l="0" t="0" r="0" b="0"/>
                <a:pathLst>
                  <a:path w="210454" h="2279857">
                    <a:moveTo>
                      <a:pt x="158524" y="2279857"/>
                    </a:moveTo>
                    <a:lnTo>
                      <a:pt x="52546" y="2279857"/>
                    </a:lnTo>
                    <a:lnTo>
                      <a:pt x="52546" y="1326055"/>
                    </a:lnTo>
                    <a:lnTo>
                      <a:pt x="158524" y="1326055"/>
                    </a:lnTo>
                    <a:close/>
                    <a:moveTo>
                      <a:pt x="199150" y="161983"/>
                    </a:moveTo>
                    <a:lnTo>
                      <a:pt x="158525" y="161983"/>
                    </a:lnTo>
                    <a:lnTo>
                      <a:pt x="158525" y="1326055"/>
                    </a:lnTo>
                    <a:lnTo>
                      <a:pt x="52547" y="1326055"/>
                    </a:lnTo>
                    <a:lnTo>
                      <a:pt x="52547" y="161982"/>
                    </a:lnTo>
                    <a:lnTo>
                      <a:pt x="11216" y="161982"/>
                    </a:lnTo>
                    <a:cubicBezTo>
                      <a:pt x="4327" y="161982"/>
                      <a:pt x="0" y="154476"/>
                      <a:pt x="3444" y="148470"/>
                    </a:cubicBezTo>
                    <a:lnTo>
                      <a:pt x="98144" y="5289"/>
                    </a:lnTo>
                    <a:cubicBezTo>
                      <a:pt x="101643" y="0"/>
                      <a:pt x="109410" y="12"/>
                      <a:pt x="112892" y="5313"/>
                    </a:cubicBezTo>
                    <a:lnTo>
                      <a:pt x="206922" y="148470"/>
                    </a:lnTo>
                    <a:cubicBezTo>
                      <a:pt x="210454" y="154477"/>
                      <a:pt x="206127" y="161983"/>
                      <a:pt x="199150" y="161983"/>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8"/>
              <p:cNvSpPr/>
              <p:nvPr/>
            </p:nvSpPr>
            <p:spPr>
              <a:xfrm>
                <a:off x="2729374" y="899483"/>
                <a:ext cx="210454" cy="2279857"/>
              </a:xfrm>
              <a:custGeom>
                <a:avLst/>
                <a:gdLst/>
                <a:ahLst/>
                <a:cxnLst/>
                <a:rect l="0" t="0" r="0" b="0"/>
                <a:pathLst>
                  <a:path w="210454" h="2279857">
                    <a:moveTo>
                      <a:pt x="52550" y="1326055"/>
                    </a:moveTo>
                    <a:lnTo>
                      <a:pt x="52550" y="2279857"/>
                    </a:lnTo>
                    <a:moveTo>
                      <a:pt x="158528" y="2279857"/>
                    </a:moveTo>
                    <a:lnTo>
                      <a:pt x="158528" y="1326055"/>
                    </a:lnTo>
                    <a:moveTo>
                      <a:pt x="52547" y="1326055"/>
                    </a:moveTo>
                    <a:lnTo>
                      <a:pt x="52547" y="161982"/>
                    </a:lnTo>
                    <a:lnTo>
                      <a:pt x="11216" y="161982"/>
                    </a:lnTo>
                    <a:cubicBezTo>
                      <a:pt x="4327" y="161982"/>
                      <a:pt x="0" y="154476"/>
                      <a:pt x="3444" y="148470"/>
                    </a:cubicBezTo>
                    <a:lnTo>
                      <a:pt x="98144" y="5289"/>
                    </a:lnTo>
                    <a:cubicBezTo>
                      <a:pt x="101643" y="0"/>
                      <a:pt x="109410" y="12"/>
                      <a:pt x="112892" y="5313"/>
                    </a:cubicBezTo>
                    <a:lnTo>
                      <a:pt x="206922" y="148470"/>
                    </a:lnTo>
                    <a:cubicBezTo>
                      <a:pt x="210454" y="154477"/>
                      <a:pt x="206127" y="161983"/>
                      <a:pt x="199150" y="161983"/>
                    </a:cubicBezTo>
                    <a:lnTo>
                      <a:pt x="158525" y="161983"/>
                    </a:lnTo>
                    <a:lnTo>
                      <a:pt x="158525" y="1326055"/>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6258185" y="1559778"/>
              <a:ext cx="2991832" cy="2599413"/>
              <a:chOff x="3264301" y="897861"/>
              <a:chExt cx="2171489" cy="2599413"/>
            </a:xfrm>
          </p:grpSpPr>
          <p:sp>
            <p:nvSpPr>
              <p:cNvPr id="32" name="Rounded Rectangle 10"/>
              <p:cNvSpPr/>
              <p:nvPr/>
            </p:nvSpPr>
            <p:spPr>
              <a:xfrm>
                <a:off x="3264301" y="899483"/>
                <a:ext cx="2171489" cy="2597791"/>
              </a:xfrm>
              <a:custGeom>
                <a:avLst/>
                <a:gdLst/>
                <a:ahLst/>
                <a:cxnLst/>
                <a:rect l="0" t="0" r="0" b="0"/>
                <a:pathLst>
                  <a:path w="2171489" h="2597791">
                    <a:moveTo>
                      <a:pt x="51929" y="2279857"/>
                    </a:moveTo>
                    <a:lnTo>
                      <a:pt x="2171489" y="2279857"/>
                    </a:lnTo>
                    <a:lnTo>
                      <a:pt x="2171489" y="2279995"/>
                    </a:lnTo>
                    <a:cubicBezTo>
                      <a:pt x="2171489" y="2455584"/>
                      <a:pt x="2029143" y="2597790"/>
                      <a:pt x="1853555" y="2597790"/>
                    </a:cubicBezTo>
                    <a:lnTo>
                      <a:pt x="369863" y="2597791"/>
                    </a:lnTo>
                    <a:cubicBezTo>
                      <a:pt x="194272" y="2597791"/>
                      <a:pt x="51929" y="2455447"/>
                      <a:pt x="51929" y="2279857"/>
                    </a:cubicBezTo>
                    <a:close/>
                    <a:moveTo>
                      <a:pt x="3532" y="148470"/>
                    </a:moveTo>
                    <a:lnTo>
                      <a:pt x="97562" y="5313"/>
                    </a:lnTo>
                    <a:cubicBezTo>
                      <a:pt x="101043" y="12"/>
                      <a:pt x="108811" y="0"/>
                      <a:pt x="112310" y="5289"/>
                    </a:cubicBezTo>
                    <a:lnTo>
                      <a:pt x="207010" y="148470"/>
                    </a:lnTo>
                    <a:cubicBezTo>
                      <a:pt x="210454" y="154476"/>
                      <a:pt x="206127" y="161982"/>
                      <a:pt x="199238" y="161982"/>
                    </a:cubicBezTo>
                    <a:lnTo>
                      <a:pt x="157907" y="161982"/>
                    </a:lnTo>
                    <a:lnTo>
                      <a:pt x="157907" y="397430"/>
                    </a:lnTo>
                    <a:cubicBezTo>
                      <a:pt x="157907" y="744862"/>
                      <a:pt x="378076" y="1010956"/>
                      <a:pt x="740786" y="1010956"/>
                    </a:cubicBezTo>
                    <a:lnTo>
                      <a:pt x="1853560" y="1010956"/>
                    </a:lnTo>
                    <a:cubicBezTo>
                      <a:pt x="2029148" y="1010956"/>
                      <a:pt x="2171485" y="1150467"/>
                      <a:pt x="2171485" y="1326055"/>
                    </a:cubicBezTo>
                    <a:lnTo>
                      <a:pt x="51929" y="1326055"/>
                    </a:lnTo>
                    <a:lnTo>
                      <a:pt x="51929" y="161983"/>
                    </a:lnTo>
                    <a:lnTo>
                      <a:pt x="11304" y="161983"/>
                    </a:lnTo>
                    <a:cubicBezTo>
                      <a:pt x="4327" y="161983"/>
                      <a:pt x="0" y="154477"/>
                      <a:pt x="3532" y="148470"/>
                    </a:cubicBezTo>
                    <a:close/>
                    <a:moveTo>
                      <a:pt x="2171488" y="1326055"/>
                    </a:moveTo>
                    <a:lnTo>
                      <a:pt x="2171488" y="2279857"/>
                    </a:lnTo>
                    <a:lnTo>
                      <a:pt x="51928" y="2279857"/>
                    </a:lnTo>
                    <a:lnTo>
                      <a:pt x="51928" y="1326055"/>
                    </a:ln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11"/>
              <p:cNvSpPr/>
              <p:nvPr/>
            </p:nvSpPr>
            <p:spPr>
              <a:xfrm>
                <a:off x="3264301" y="897861"/>
                <a:ext cx="2171489" cy="2599412"/>
              </a:xfrm>
              <a:custGeom>
                <a:avLst/>
                <a:gdLst/>
                <a:ahLst/>
                <a:cxnLst/>
                <a:rect l="0" t="0" r="0" b="0"/>
                <a:pathLst>
                  <a:path w="2171489" h="2599412">
                    <a:moveTo>
                      <a:pt x="51929" y="1327676"/>
                    </a:moveTo>
                    <a:lnTo>
                      <a:pt x="51929" y="161983"/>
                    </a:lnTo>
                    <a:lnTo>
                      <a:pt x="11304" y="161983"/>
                    </a:lnTo>
                    <a:cubicBezTo>
                      <a:pt x="4327" y="161983"/>
                      <a:pt x="0" y="154477"/>
                      <a:pt x="3532" y="148470"/>
                    </a:cubicBezTo>
                    <a:lnTo>
                      <a:pt x="97562" y="5313"/>
                    </a:lnTo>
                    <a:cubicBezTo>
                      <a:pt x="101043" y="12"/>
                      <a:pt x="108811" y="0"/>
                      <a:pt x="112310" y="5289"/>
                    </a:cubicBezTo>
                    <a:lnTo>
                      <a:pt x="207010" y="148470"/>
                    </a:lnTo>
                    <a:cubicBezTo>
                      <a:pt x="210454" y="154476"/>
                      <a:pt x="206127" y="161982"/>
                      <a:pt x="199238" y="161982"/>
                    </a:cubicBezTo>
                    <a:lnTo>
                      <a:pt x="157907" y="161982"/>
                    </a:lnTo>
                    <a:lnTo>
                      <a:pt x="157907" y="397430"/>
                    </a:lnTo>
                    <a:cubicBezTo>
                      <a:pt x="157907" y="744862"/>
                      <a:pt x="378076" y="1010955"/>
                      <a:pt x="740786" y="1010955"/>
                    </a:cubicBezTo>
                    <a:lnTo>
                      <a:pt x="1853557" y="1010955"/>
                    </a:lnTo>
                    <a:cubicBezTo>
                      <a:pt x="2029145" y="1010955"/>
                      <a:pt x="2171489" y="1152086"/>
                      <a:pt x="2171489" y="1327676"/>
                    </a:cubicBezTo>
                    <a:moveTo>
                      <a:pt x="2171489" y="2281478"/>
                    </a:moveTo>
                    <a:lnTo>
                      <a:pt x="2171489" y="2281616"/>
                    </a:lnTo>
                    <a:cubicBezTo>
                      <a:pt x="2171489" y="2457205"/>
                      <a:pt x="2029146" y="2599411"/>
                      <a:pt x="1853557" y="2599411"/>
                    </a:cubicBezTo>
                    <a:lnTo>
                      <a:pt x="369863" y="2599412"/>
                    </a:lnTo>
                    <a:cubicBezTo>
                      <a:pt x="194272" y="2599412"/>
                      <a:pt x="51929" y="2457068"/>
                      <a:pt x="51929" y="2281478"/>
                    </a:cubicBezTo>
                    <a:moveTo>
                      <a:pt x="51928" y="1327676"/>
                    </a:moveTo>
                    <a:lnTo>
                      <a:pt x="51928" y="2281478"/>
                    </a:lnTo>
                    <a:moveTo>
                      <a:pt x="2171488" y="1327676"/>
                    </a:moveTo>
                    <a:lnTo>
                      <a:pt x="2171488" y="2281478"/>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6070303" y="3841259"/>
              <a:ext cx="3285320" cy="797533"/>
              <a:chOff x="3046869" y="3179344"/>
              <a:chExt cx="2384505" cy="797533"/>
            </a:xfrm>
          </p:grpSpPr>
          <p:sp>
            <p:nvSpPr>
              <p:cNvPr id="30" name="Rounded Rectangle 13"/>
              <p:cNvSpPr/>
              <p:nvPr/>
            </p:nvSpPr>
            <p:spPr>
              <a:xfrm>
                <a:off x="3046869" y="3179344"/>
                <a:ext cx="2384505" cy="797533"/>
              </a:xfrm>
              <a:custGeom>
                <a:avLst/>
                <a:gdLst/>
                <a:ahLst/>
                <a:cxnLst/>
                <a:rect l="0" t="0" r="0" b="0"/>
                <a:pathLst>
                  <a:path w="2384505" h="797533">
                    <a:moveTo>
                      <a:pt x="2066571" y="479735"/>
                    </a:moveTo>
                    <a:cubicBezTo>
                      <a:pt x="2242159" y="479735"/>
                      <a:pt x="2384505" y="621943"/>
                      <a:pt x="2384505" y="797533"/>
                    </a:cubicBezTo>
                    <a:lnTo>
                      <a:pt x="0" y="797533"/>
                    </a:lnTo>
                    <a:lnTo>
                      <a:pt x="0" y="0"/>
                    </a:lnTo>
                    <a:lnTo>
                      <a:pt x="105978" y="0"/>
                    </a:lnTo>
                    <a:cubicBezTo>
                      <a:pt x="105978" y="317934"/>
                      <a:pt x="317934" y="479735"/>
                      <a:pt x="582879" y="479735"/>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14"/>
              <p:cNvSpPr/>
              <p:nvPr/>
            </p:nvSpPr>
            <p:spPr>
              <a:xfrm>
                <a:off x="3046869" y="3179344"/>
                <a:ext cx="2384505" cy="797533"/>
              </a:xfrm>
              <a:custGeom>
                <a:avLst/>
                <a:gdLst/>
                <a:ahLst/>
                <a:cxnLst/>
                <a:rect l="0" t="0" r="0" b="0"/>
                <a:pathLst>
                  <a:path w="2384505" h="797533">
                    <a:moveTo>
                      <a:pt x="2384505" y="797533"/>
                    </a:moveTo>
                    <a:cubicBezTo>
                      <a:pt x="2384505" y="621943"/>
                      <a:pt x="2242162" y="479735"/>
                      <a:pt x="2066572" y="479735"/>
                    </a:cubicBezTo>
                    <a:lnTo>
                      <a:pt x="582879" y="479735"/>
                    </a:lnTo>
                    <a:cubicBezTo>
                      <a:pt x="317934" y="479735"/>
                      <a:pt x="105978" y="317934"/>
                      <a:pt x="105978" y="0"/>
                    </a:cubicBezTo>
                    <a:moveTo>
                      <a:pt x="0" y="797533"/>
                    </a:moveTo>
                    <a:lnTo>
                      <a:pt x="0" y="0"/>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5988867" y="1561333"/>
              <a:ext cx="305997" cy="2279857"/>
              <a:chOff x="2994984" y="899483"/>
              <a:chExt cx="210454" cy="2279857"/>
            </a:xfrm>
          </p:grpSpPr>
          <p:sp>
            <p:nvSpPr>
              <p:cNvPr id="28" name="Rounded Rectangle 16"/>
              <p:cNvSpPr/>
              <p:nvPr/>
            </p:nvSpPr>
            <p:spPr>
              <a:xfrm>
                <a:off x="2994984" y="899483"/>
                <a:ext cx="210454" cy="2279857"/>
              </a:xfrm>
              <a:custGeom>
                <a:avLst/>
                <a:gdLst/>
                <a:ahLst/>
                <a:cxnLst/>
                <a:rect l="0" t="0" r="0" b="0"/>
                <a:pathLst>
                  <a:path w="210454" h="2279857">
                    <a:moveTo>
                      <a:pt x="51930" y="1326055"/>
                    </a:moveTo>
                    <a:lnTo>
                      <a:pt x="157908" y="1326055"/>
                    </a:lnTo>
                    <a:lnTo>
                      <a:pt x="157908" y="2279857"/>
                    </a:lnTo>
                    <a:lnTo>
                      <a:pt x="51930" y="2279857"/>
                    </a:lnTo>
                    <a:close/>
                    <a:moveTo>
                      <a:pt x="3532" y="148470"/>
                    </a:moveTo>
                    <a:lnTo>
                      <a:pt x="97562" y="5313"/>
                    </a:lnTo>
                    <a:cubicBezTo>
                      <a:pt x="101043" y="12"/>
                      <a:pt x="108811" y="0"/>
                      <a:pt x="112310" y="5289"/>
                    </a:cubicBezTo>
                    <a:lnTo>
                      <a:pt x="207010" y="148470"/>
                    </a:lnTo>
                    <a:cubicBezTo>
                      <a:pt x="210454" y="154476"/>
                      <a:pt x="206127" y="161982"/>
                      <a:pt x="199238" y="161982"/>
                    </a:cubicBezTo>
                    <a:lnTo>
                      <a:pt x="157907" y="161982"/>
                    </a:lnTo>
                    <a:lnTo>
                      <a:pt x="157907" y="1326055"/>
                    </a:lnTo>
                    <a:lnTo>
                      <a:pt x="51929" y="1326055"/>
                    </a:lnTo>
                    <a:lnTo>
                      <a:pt x="51929" y="161983"/>
                    </a:lnTo>
                    <a:lnTo>
                      <a:pt x="11304" y="161983"/>
                    </a:lnTo>
                    <a:cubicBezTo>
                      <a:pt x="4327" y="161983"/>
                      <a:pt x="0" y="154477"/>
                      <a:pt x="3532" y="14847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17"/>
              <p:cNvSpPr/>
              <p:nvPr/>
            </p:nvSpPr>
            <p:spPr>
              <a:xfrm>
                <a:off x="2994984" y="899483"/>
                <a:ext cx="210454" cy="2279857"/>
              </a:xfrm>
              <a:custGeom>
                <a:avLst/>
                <a:gdLst/>
                <a:ahLst/>
                <a:cxnLst/>
                <a:rect l="0" t="0" r="0" b="0"/>
                <a:pathLst>
                  <a:path w="210454" h="2279857">
                    <a:moveTo>
                      <a:pt x="157904" y="1326055"/>
                    </a:moveTo>
                    <a:lnTo>
                      <a:pt x="157904" y="2279857"/>
                    </a:lnTo>
                    <a:moveTo>
                      <a:pt x="51926" y="2279857"/>
                    </a:moveTo>
                    <a:lnTo>
                      <a:pt x="51926" y="1326055"/>
                    </a:lnTo>
                    <a:moveTo>
                      <a:pt x="51929" y="1326055"/>
                    </a:moveTo>
                    <a:lnTo>
                      <a:pt x="51929" y="161983"/>
                    </a:lnTo>
                    <a:lnTo>
                      <a:pt x="11304" y="161983"/>
                    </a:lnTo>
                    <a:cubicBezTo>
                      <a:pt x="4327" y="161983"/>
                      <a:pt x="0" y="154477"/>
                      <a:pt x="3532" y="148470"/>
                    </a:cubicBezTo>
                    <a:lnTo>
                      <a:pt x="97562" y="5313"/>
                    </a:lnTo>
                    <a:cubicBezTo>
                      <a:pt x="101043" y="12"/>
                      <a:pt x="108811" y="0"/>
                      <a:pt x="112310" y="5289"/>
                    </a:cubicBezTo>
                    <a:lnTo>
                      <a:pt x="207010" y="148470"/>
                    </a:lnTo>
                    <a:cubicBezTo>
                      <a:pt x="210454" y="154476"/>
                      <a:pt x="206127" y="161982"/>
                      <a:pt x="199238" y="161982"/>
                    </a:cubicBezTo>
                    <a:lnTo>
                      <a:pt x="157907" y="161982"/>
                    </a:lnTo>
                    <a:lnTo>
                      <a:pt x="157907" y="1326055"/>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2620162" y="4636028"/>
              <a:ext cx="3285323" cy="1483760"/>
              <a:chOff x="503397" y="3974179"/>
              <a:chExt cx="2384506" cy="1483760"/>
            </a:xfrm>
          </p:grpSpPr>
          <p:sp>
            <p:nvSpPr>
              <p:cNvPr id="26" name="Rounded Rectangle 19"/>
              <p:cNvSpPr/>
              <p:nvPr/>
            </p:nvSpPr>
            <p:spPr>
              <a:xfrm>
                <a:off x="503397" y="3974179"/>
                <a:ext cx="2384505" cy="1483760"/>
              </a:xfrm>
              <a:custGeom>
                <a:avLst/>
                <a:gdLst/>
                <a:ahLst/>
                <a:cxnLst/>
                <a:rect l="0" t="0" r="0" b="0"/>
                <a:pathLst>
                  <a:path w="2384505" h="1483760">
                    <a:moveTo>
                      <a:pt x="2384505" y="0"/>
                    </a:moveTo>
                    <a:lnTo>
                      <a:pt x="2384505" y="1165568"/>
                    </a:lnTo>
                    <a:lnTo>
                      <a:pt x="0" y="1165568"/>
                    </a:lnTo>
                    <a:lnTo>
                      <a:pt x="0" y="0"/>
                    </a:lnTo>
                    <a:close/>
                    <a:moveTo>
                      <a:pt x="2066571" y="1483760"/>
                    </a:moveTo>
                    <a:lnTo>
                      <a:pt x="317933" y="1483760"/>
                    </a:lnTo>
                    <a:cubicBezTo>
                      <a:pt x="142343" y="1483760"/>
                      <a:pt x="0" y="1341553"/>
                      <a:pt x="0" y="1165964"/>
                    </a:cubicBezTo>
                    <a:lnTo>
                      <a:pt x="0" y="1165826"/>
                    </a:lnTo>
                    <a:lnTo>
                      <a:pt x="2384505" y="1165826"/>
                    </a:lnTo>
                    <a:cubicBezTo>
                      <a:pt x="2384505" y="1341416"/>
                      <a:pt x="2242159" y="1483760"/>
                      <a:pt x="2066571" y="1483760"/>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20"/>
              <p:cNvSpPr/>
              <p:nvPr/>
            </p:nvSpPr>
            <p:spPr>
              <a:xfrm>
                <a:off x="503397" y="3974179"/>
                <a:ext cx="2384506" cy="1483760"/>
              </a:xfrm>
              <a:custGeom>
                <a:avLst/>
                <a:gdLst/>
                <a:ahLst/>
                <a:cxnLst/>
                <a:rect l="0" t="0" r="0" b="0"/>
                <a:pathLst>
                  <a:path w="2384506" h="1483760">
                    <a:moveTo>
                      <a:pt x="2384505" y="0"/>
                    </a:moveTo>
                    <a:lnTo>
                      <a:pt x="2384505" y="1165568"/>
                    </a:lnTo>
                    <a:moveTo>
                      <a:pt x="0" y="0"/>
                    </a:moveTo>
                    <a:lnTo>
                      <a:pt x="0" y="1165758"/>
                    </a:lnTo>
                    <a:moveTo>
                      <a:pt x="2384506" y="1165826"/>
                    </a:moveTo>
                    <a:cubicBezTo>
                      <a:pt x="2384506" y="1341416"/>
                      <a:pt x="2242161" y="1483760"/>
                      <a:pt x="2066572" y="1483760"/>
                    </a:cubicBezTo>
                    <a:lnTo>
                      <a:pt x="317933" y="1483760"/>
                    </a:lnTo>
                    <a:cubicBezTo>
                      <a:pt x="142343" y="1483760"/>
                      <a:pt x="0" y="1341553"/>
                      <a:pt x="0" y="1165964"/>
                    </a:cubicBezTo>
                    <a:lnTo>
                      <a:pt x="0" y="1165826"/>
                    </a:ln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6065947" y="4636028"/>
              <a:ext cx="3285323" cy="1483761"/>
              <a:chOff x="3046869" y="3974179"/>
              <a:chExt cx="2384506" cy="1483761"/>
            </a:xfrm>
          </p:grpSpPr>
          <p:sp>
            <p:nvSpPr>
              <p:cNvPr id="24" name="Rounded Rectangle 22"/>
              <p:cNvSpPr/>
              <p:nvPr/>
            </p:nvSpPr>
            <p:spPr>
              <a:xfrm>
                <a:off x="3046869" y="3974179"/>
                <a:ext cx="2384505" cy="1483692"/>
              </a:xfrm>
              <a:custGeom>
                <a:avLst/>
                <a:gdLst/>
                <a:ahLst/>
                <a:cxnLst/>
                <a:rect l="0" t="0" r="0" b="0"/>
                <a:pathLst>
                  <a:path w="2384505" h="1483692">
                    <a:moveTo>
                      <a:pt x="2384505" y="0"/>
                    </a:moveTo>
                    <a:lnTo>
                      <a:pt x="2384505" y="1165758"/>
                    </a:lnTo>
                    <a:lnTo>
                      <a:pt x="0" y="1165758"/>
                    </a:lnTo>
                    <a:lnTo>
                      <a:pt x="0" y="0"/>
                    </a:lnTo>
                    <a:close/>
                    <a:moveTo>
                      <a:pt x="0" y="1165758"/>
                    </a:moveTo>
                    <a:lnTo>
                      <a:pt x="2384505" y="1165758"/>
                    </a:lnTo>
                    <a:lnTo>
                      <a:pt x="2384505" y="1165895"/>
                    </a:lnTo>
                    <a:cubicBezTo>
                      <a:pt x="2384505" y="1341484"/>
                      <a:pt x="2242159" y="1483691"/>
                      <a:pt x="2066571" y="1483691"/>
                    </a:cubicBezTo>
                    <a:lnTo>
                      <a:pt x="317934" y="1483692"/>
                    </a:lnTo>
                    <a:cubicBezTo>
                      <a:pt x="142343" y="1483692"/>
                      <a:pt x="0" y="1341347"/>
                      <a:pt x="0" y="116575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23"/>
              <p:cNvSpPr/>
              <p:nvPr/>
            </p:nvSpPr>
            <p:spPr>
              <a:xfrm>
                <a:off x="3046869" y="3974179"/>
                <a:ext cx="2384506" cy="1483761"/>
              </a:xfrm>
              <a:custGeom>
                <a:avLst/>
                <a:gdLst/>
                <a:ahLst/>
                <a:cxnLst/>
                <a:rect l="0" t="0" r="0" b="0"/>
                <a:pathLst>
                  <a:path w="2384506" h="1483761">
                    <a:moveTo>
                      <a:pt x="0" y="1165758"/>
                    </a:moveTo>
                    <a:lnTo>
                      <a:pt x="0" y="0"/>
                    </a:lnTo>
                    <a:moveTo>
                      <a:pt x="2384505" y="1165758"/>
                    </a:moveTo>
                    <a:lnTo>
                      <a:pt x="2384505" y="0"/>
                    </a:lnTo>
                    <a:moveTo>
                      <a:pt x="2384506" y="1165758"/>
                    </a:moveTo>
                    <a:lnTo>
                      <a:pt x="2384506" y="1165895"/>
                    </a:lnTo>
                    <a:cubicBezTo>
                      <a:pt x="2384505" y="1341484"/>
                      <a:pt x="2242161" y="1483760"/>
                      <a:pt x="2066572" y="1483760"/>
                    </a:cubicBezTo>
                    <a:lnTo>
                      <a:pt x="317933" y="1483761"/>
                    </a:lnTo>
                    <a:cubicBezTo>
                      <a:pt x="142343" y="1483761"/>
                      <a:pt x="0" y="1341347"/>
                      <a:pt x="0" y="1165758"/>
                    </a:cubicBezTo>
                  </a:path>
                </a:pathLst>
              </a:custGeom>
              <a:noFill/>
              <a:ln w="1324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2" name="Rounded Rectangle 25"/>
            <p:cNvSpPr/>
            <p:nvPr/>
          </p:nvSpPr>
          <p:spPr>
            <a:xfrm>
              <a:off x="3880891" y="2693446"/>
              <a:ext cx="426070" cy="421467"/>
            </a:xfrm>
            <a:custGeom>
              <a:avLst/>
              <a:gdLst/>
              <a:ahLst/>
              <a:cxnLst/>
              <a:rect l="0" t="0" r="0" b="0"/>
              <a:pathLst>
                <a:path w="426070" h="421467">
                  <a:moveTo>
                    <a:pt x="303097" y="290162"/>
                  </a:moveTo>
                  <a:cubicBezTo>
                    <a:pt x="304685" y="293007"/>
                    <a:pt x="304578" y="296496"/>
                    <a:pt x="302818" y="299239"/>
                  </a:cubicBezTo>
                  <a:cubicBezTo>
                    <a:pt x="289836" y="319172"/>
                    <a:pt x="270843" y="334452"/>
                    <a:pt x="248593" y="342866"/>
                  </a:cubicBezTo>
                  <a:lnTo>
                    <a:pt x="248593" y="421467"/>
                  </a:lnTo>
                  <a:lnTo>
                    <a:pt x="167343" y="421467"/>
                  </a:lnTo>
                  <a:lnTo>
                    <a:pt x="167343" y="342866"/>
                  </a:lnTo>
                  <a:cubicBezTo>
                    <a:pt x="145002" y="334774"/>
                    <a:pt x="126030" y="319409"/>
                    <a:pt x="113471" y="299239"/>
                  </a:cubicBezTo>
                  <a:cubicBezTo>
                    <a:pt x="111710" y="296496"/>
                    <a:pt x="111603" y="293007"/>
                    <a:pt x="113192" y="290162"/>
                  </a:cubicBezTo>
                  <a:cubicBezTo>
                    <a:pt x="114781" y="287317"/>
                    <a:pt x="117808" y="285578"/>
                    <a:pt x="121066" y="285638"/>
                  </a:cubicBezTo>
                  <a:lnTo>
                    <a:pt x="295223" y="285638"/>
                  </a:lnTo>
                  <a:cubicBezTo>
                    <a:pt x="298481" y="285578"/>
                    <a:pt x="301508" y="287317"/>
                    <a:pt x="303097" y="290162"/>
                  </a:cubicBezTo>
                  <a:close/>
                  <a:moveTo>
                    <a:pt x="340617" y="44892"/>
                  </a:moveTo>
                  <a:lnTo>
                    <a:pt x="358280" y="112541"/>
                  </a:lnTo>
                  <a:lnTo>
                    <a:pt x="371527" y="165530"/>
                  </a:lnTo>
                  <a:cubicBezTo>
                    <a:pt x="371614" y="166234"/>
                    <a:pt x="371614" y="166946"/>
                    <a:pt x="371527" y="167649"/>
                  </a:cubicBezTo>
                  <a:lnTo>
                    <a:pt x="371527" y="167826"/>
                  </a:lnTo>
                  <a:cubicBezTo>
                    <a:pt x="371334" y="169619"/>
                    <a:pt x="370663" y="171327"/>
                    <a:pt x="369584" y="172772"/>
                  </a:cubicBezTo>
                  <a:cubicBezTo>
                    <a:pt x="367751" y="175102"/>
                    <a:pt x="364954" y="176468"/>
                    <a:pt x="361989" y="176481"/>
                  </a:cubicBezTo>
                  <a:lnTo>
                    <a:pt x="308117" y="176481"/>
                  </a:lnTo>
                  <a:close/>
                  <a:moveTo>
                    <a:pt x="46175" y="165530"/>
                  </a:moveTo>
                  <a:lnTo>
                    <a:pt x="62071" y="102120"/>
                  </a:lnTo>
                  <a:lnTo>
                    <a:pt x="86976" y="6033"/>
                  </a:lnTo>
                  <a:cubicBezTo>
                    <a:pt x="87280" y="5047"/>
                    <a:pt x="87695" y="4099"/>
                    <a:pt x="88213" y="3207"/>
                  </a:cubicBezTo>
                  <a:cubicBezTo>
                    <a:pt x="88843" y="2367"/>
                    <a:pt x="89621" y="1649"/>
                    <a:pt x="90509" y="1087"/>
                  </a:cubicBezTo>
                  <a:cubicBezTo>
                    <a:pt x="91611" y="369"/>
                    <a:pt x="92903" y="0"/>
                    <a:pt x="94218" y="27"/>
                  </a:cubicBezTo>
                  <a:lnTo>
                    <a:pt x="314299" y="27"/>
                  </a:lnTo>
                  <a:cubicBezTo>
                    <a:pt x="316532" y="109"/>
                    <a:pt x="318662" y="986"/>
                    <a:pt x="320305" y="2500"/>
                  </a:cubicBezTo>
                  <a:cubicBezTo>
                    <a:pt x="322105" y="4796"/>
                    <a:pt x="322756" y="7789"/>
                    <a:pt x="322071" y="10625"/>
                  </a:cubicBezTo>
                  <a:lnTo>
                    <a:pt x="282329" y="169592"/>
                  </a:lnTo>
                  <a:cubicBezTo>
                    <a:pt x="281727" y="172063"/>
                    <a:pt x="280129" y="174173"/>
                    <a:pt x="277913" y="175421"/>
                  </a:cubicBezTo>
                  <a:cubicBezTo>
                    <a:pt x="276492" y="176339"/>
                    <a:pt x="274837" y="176830"/>
                    <a:pt x="273144" y="176834"/>
                  </a:cubicBezTo>
                  <a:lnTo>
                    <a:pt x="54300" y="176834"/>
                  </a:lnTo>
                  <a:lnTo>
                    <a:pt x="52180" y="176834"/>
                  </a:lnTo>
                  <a:cubicBezTo>
                    <a:pt x="50525" y="176144"/>
                    <a:pt x="49067" y="175051"/>
                    <a:pt x="47941" y="173655"/>
                  </a:cubicBezTo>
                  <a:cubicBezTo>
                    <a:pt x="47037" y="172527"/>
                    <a:pt x="46430" y="171191"/>
                    <a:pt x="46175" y="169769"/>
                  </a:cubicBezTo>
                  <a:cubicBezTo>
                    <a:pt x="45823" y="168378"/>
                    <a:pt x="45823" y="166921"/>
                    <a:pt x="46175" y="165530"/>
                  </a:cubicBezTo>
                  <a:close/>
                  <a:moveTo>
                    <a:pt x="133253" y="97174"/>
                  </a:moveTo>
                  <a:lnTo>
                    <a:pt x="155332" y="119253"/>
                  </a:lnTo>
                  <a:cubicBezTo>
                    <a:pt x="156121" y="119944"/>
                    <a:pt x="156946" y="120593"/>
                    <a:pt x="157805" y="121196"/>
                  </a:cubicBezTo>
                  <a:cubicBezTo>
                    <a:pt x="162027" y="124411"/>
                    <a:pt x="167160" y="126204"/>
                    <a:pt x="172465" y="126318"/>
                  </a:cubicBezTo>
                  <a:cubicBezTo>
                    <a:pt x="180106" y="126304"/>
                    <a:pt x="187299" y="122708"/>
                    <a:pt x="191894" y="116603"/>
                  </a:cubicBezTo>
                  <a:lnTo>
                    <a:pt x="235169" y="59728"/>
                  </a:lnTo>
                  <a:cubicBezTo>
                    <a:pt x="239559" y="53875"/>
                    <a:pt x="238372" y="45572"/>
                    <a:pt x="232519" y="41182"/>
                  </a:cubicBezTo>
                  <a:cubicBezTo>
                    <a:pt x="226666" y="36793"/>
                    <a:pt x="218363" y="37979"/>
                    <a:pt x="213973" y="43832"/>
                  </a:cubicBezTo>
                  <a:lnTo>
                    <a:pt x="172995" y="98764"/>
                  </a:lnTo>
                  <a:lnTo>
                    <a:pt x="151976" y="78451"/>
                  </a:lnTo>
                  <a:cubicBezTo>
                    <a:pt x="146804" y="73286"/>
                    <a:pt x="138425" y="73286"/>
                    <a:pt x="133253" y="78451"/>
                  </a:cubicBezTo>
                  <a:cubicBezTo>
                    <a:pt x="128088" y="83623"/>
                    <a:pt x="128088" y="92002"/>
                    <a:pt x="133253" y="97174"/>
                  </a:cubicBezTo>
                  <a:close/>
                  <a:moveTo>
                    <a:pt x="393429" y="205272"/>
                  </a:moveTo>
                  <a:cubicBezTo>
                    <a:pt x="403927" y="203552"/>
                    <a:pt x="414451" y="208192"/>
                    <a:pt x="420261" y="217104"/>
                  </a:cubicBezTo>
                  <a:cubicBezTo>
                    <a:pt x="426070" y="226015"/>
                    <a:pt x="426070" y="237517"/>
                    <a:pt x="420261" y="246428"/>
                  </a:cubicBezTo>
                  <a:cubicBezTo>
                    <a:pt x="414451" y="255340"/>
                    <a:pt x="403928" y="259981"/>
                    <a:pt x="393429" y="258261"/>
                  </a:cubicBezTo>
                  <a:lnTo>
                    <a:pt x="22506" y="258261"/>
                  </a:lnTo>
                  <a:cubicBezTo>
                    <a:pt x="9527" y="256134"/>
                    <a:pt x="0" y="244918"/>
                    <a:pt x="0" y="231766"/>
                  </a:cubicBezTo>
                  <a:cubicBezTo>
                    <a:pt x="0" y="218614"/>
                    <a:pt x="9527" y="207398"/>
                    <a:pt x="22506" y="205272"/>
                  </a:cubicBezTo>
                  <a:lnTo>
                    <a:pt x="393429" y="205272"/>
                  </a:ln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6"/>
            <p:cNvSpPr/>
            <p:nvPr/>
          </p:nvSpPr>
          <p:spPr>
            <a:xfrm>
              <a:off x="7431948" y="2693209"/>
              <a:ext cx="421262" cy="419496"/>
            </a:xfrm>
            <a:custGeom>
              <a:avLst/>
              <a:gdLst/>
              <a:ahLst/>
              <a:cxnLst/>
              <a:rect l="0" t="0" r="0" b="0"/>
              <a:pathLst>
                <a:path w="421262" h="419496">
                  <a:moveTo>
                    <a:pt x="158967" y="52989"/>
                  </a:moveTo>
                  <a:cubicBezTo>
                    <a:pt x="158967" y="70652"/>
                    <a:pt x="151901" y="90081"/>
                    <a:pt x="143070" y="105978"/>
                  </a:cubicBezTo>
                  <a:lnTo>
                    <a:pt x="150135" y="105978"/>
                  </a:lnTo>
                  <a:cubicBezTo>
                    <a:pt x="164265" y="105978"/>
                    <a:pt x="176630" y="118342"/>
                    <a:pt x="176630" y="132472"/>
                  </a:cubicBezTo>
                  <a:cubicBezTo>
                    <a:pt x="176630" y="146602"/>
                    <a:pt x="164265" y="158967"/>
                    <a:pt x="150135" y="158967"/>
                  </a:cubicBezTo>
                  <a:lnTo>
                    <a:pt x="26494" y="158967"/>
                  </a:lnTo>
                  <a:cubicBezTo>
                    <a:pt x="12364" y="158967"/>
                    <a:pt x="0" y="146602"/>
                    <a:pt x="0" y="132472"/>
                  </a:cubicBezTo>
                  <a:cubicBezTo>
                    <a:pt x="0" y="118342"/>
                    <a:pt x="12364" y="105978"/>
                    <a:pt x="26494" y="105978"/>
                  </a:cubicBezTo>
                  <a:lnTo>
                    <a:pt x="33559" y="105978"/>
                  </a:lnTo>
                  <a:cubicBezTo>
                    <a:pt x="22961" y="90081"/>
                    <a:pt x="17663" y="70652"/>
                    <a:pt x="17663" y="52989"/>
                  </a:cubicBezTo>
                  <a:cubicBezTo>
                    <a:pt x="17663" y="35326"/>
                    <a:pt x="24728" y="17663"/>
                    <a:pt x="35326" y="5298"/>
                  </a:cubicBezTo>
                  <a:cubicBezTo>
                    <a:pt x="38858" y="1766"/>
                    <a:pt x="44157" y="0"/>
                    <a:pt x="47690" y="0"/>
                  </a:cubicBezTo>
                  <a:lnTo>
                    <a:pt x="128939" y="0"/>
                  </a:lnTo>
                  <a:cubicBezTo>
                    <a:pt x="134238" y="0"/>
                    <a:pt x="137771" y="1766"/>
                    <a:pt x="141304" y="5298"/>
                  </a:cubicBezTo>
                  <a:cubicBezTo>
                    <a:pt x="151901" y="17663"/>
                    <a:pt x="158967" y="33559"/>
                    <a:pt x="158967" y="52989"/>
                  </a:cubicBezTo>
                  <a:close/>
                  <a:moveTo>
                    <a:pt x="106861" y="185461"/>
                  </a:moveTo>
                  <a:lnTo>
                    <a:pt x="153668" y="185461"/>
                  </a:lnTo>
                  <a:lnTo>
                    <a:pt x="155381" y="185443"/>
                  </a:lnTo>
                  <a:cubicBezTo>
                    <a:pt x="155073" y="193215"/>
                    <a:pt x="151170" y="200401"/>
                    <a:pt x="144818" y="204890"/>
                  </a:cubicBezTo>
                  <a:cubicBezTo>
                    <a:pt x="150117" y="210189"/>
                    <a:pt x="155416" y="219021"/>
                    <a:pt x="155416" y="226086"/>
                  </a:cubicBezTo>
                  <a:cubicBezTo>
                    <a:pt x="155416" y="241983"/>
                    <a:pt x="141286" y="256113"/>
                    <a:pt x="125389" y="256113"/>
                  </a:cubicBezTo>
                  <a:lnTo>
                    <a:pt x="121857" y="256113"/>
                  </a:lnTo>
                  <a:cubicBezTo>
                    <a:pt x="121857" y="256996"/>
                    <a:pt x="122298" y="258321"/>
                    <a:pt x="122740" y="259646"/>
                  </a:cubicBezTo>
                  <a:cubicBezTo>
                    <a:pt x="123199" y="260970"/>
                    <a:pt x="123623" y="262295"/>
                    <a:pt x="123623" y="263178"/>
                  </a:cubicBezTo>
                  <a:cubicBezTo>
                    <a:pt x="123623" y="279075"/>
                    <a:pt x="109492" y="293205"/>
                    <a:pt x="93596" y="293205"/>
                  </a:cubicBezTo>
                  <a:cubicBezTo>
                    <a:pt x="77699" y="293205"/>
                    <a:pt x="63569" y="279075"/>
                    <a:pt x="63569" y="263178"/>
                  </a:cubicBezTo>
                  <a:cubicBezTo>
                    <a:pt x="63569" y="259646"/>
                    <a:pt x="63569" y="257879"/>
                    <a:pt x="65335" y="256113"/>
                  </a:cubicBezTo>
                  <a:lnTo>
                    <a:pt x="61802" y="256113"/>
                  </a:lnTo>
                  <a:cubicBezTo>
                    <a:pt x="45906" y="256113"/>
                    <a:pt x="31775" y="241983"/>
                    <a:pt x="31775" y="226086"/>
                  </a:cubicBezTo>
                  <a:cubicBezTo>
                    <a:pt x="31775" y="217254"/>
                    <a:pt x="35308" y="210189"/>
                    <a:pt x="42373" y="204890"/>
                  </a:cubicBezTo>
                  <a:cubicBezTo>
                    <a:pt x="37516" y="200033"/>
                    <a:pt x="32658" y="192173"/>
                    <a:pt x="31881" y="185461"/>
                  </a:cubicBezTo>
                  <a:lnTo>
                    <a:pt x="80348" y="185461"/>
                  </a:lnTo>
                  <a:lnTo>
                    <a:pt x="80348" y="213722"/>
                  </a:lnTo>
                  <a:cubicBezTo>
                    <a:pt x="80348" y="221038"/>
                    <a:pt x="86279" y="226969"/>
                    <a:pt x="93596" y="226969"/>
                  </a:cubicBezTo>
                  <a:cubicBezTo>
                    <a:pt x="100912" y="226969"/>
                    <a:pt x="106843" y="221038"/>
                    <a:pt x="106843" y="213722"/>
                  </a:cubicBezTo>
                  <a:lnTo>
                    <a:pt x="106843" y="185461"/>
                  </a:lnTo>
                  <a:close/>
                  <a:moveTo>
                    <a:pt x="250567" y="174086"/>
                  </a:moveTo>
                  <a:cubicBezTo>
                    <a:pt x="250746" y="174199"/>
                    <a:pt x="250923" y="174317"/>
                    <a:pt x="251097" y="174439"/>
                  </a:cubicBezTo>
                  <a:cubicBezTo>
                    <a:pt x="279411" y="193321"/>
                    <a:pt x="315973" y="198231"/>
                    <a:pt x="349603" y="188623"/>
                  </a:cubicBezTo>
                  <a:lnTo>
                    <a:pt x="349886" y="188552"/>
                  </a:lnTo>
                  <a:lnTo>
                    <a:pt x="383092" y="179809"/>
                  </a:lnTo>
                  <a:cubicBezTo>
                    <a:pt x="400066" y="174457"/>
                    <a:pt x="421262" y="184772"/>
                    <a:pt x="421262" y="206657"/>
                  </a:cubicBezTo>
                  <a:lnTo>
                    <a:pt x="421262" y="360325"/>
                  </a:lnTo>
                  <a:cubicBezTo>
                    <a:pt x="421069" y="373729"/>
                    <a:pt x="412064" y="385403"/>
                    <a:pt x="399148" y="388992"/>
                  </a:cubicBezTo>
                  <a:lnTo>
                    <a:pt x="356898" y="401321"/>
                  </a:lnTo>
                  <a:cubicBezTo>
                    <a:pt x="315796" y="413066"/>
                    <a:pt x="273246" y="405083"/>
                    <a:pt x="237108" y="384152"/>
                  </a:cubicBezTo>
                  <a:lnTo>
                    <a:pt x="236666" y="383887"/>
                  </a:lnTo>
                  <a:cubicBezTo>
                    <a:pt x="206409" y="364776"/>
                    <a:pt x="168151" y="360042"/>
                    <a:pt x="134892" y="371134"/>
                  </a:cubicBezTo>
                  <a:lnTo>
                    <a:pt x="134592" y="371223"/>
                  </a:lnTo>
                  <a:lnTo>
                    <a:pt x="98029" y="382474"/>
                  </a:lnTo>
                  <a:lnTo>
                    <a:pt x="98029" y="406249"/>
                  </a:lnTo>
                  <a:cubicBezTo>
                    <a:pt x="98029" y="413565"/>
                    <a:pt x="92098" y="419496"/>
                    <a:pt x="84782" y="419496"/>
                  </a:cubicBezTo>
                  <a:cubicBezTo>
                    <a:pt x="77466" y="419496"/>
                    <a:pt x="71535" y="413565"/>
                    <a:pt x="71535" y="406249"/>
                  </a:cubicBezTo>
                  <a:lnTo>
                    <a:pt x="71535" y="358788"/>
                  </a:lnTo>
                  <a:lnTo>
                    <a:pt x="71535" y="358700"/>
                  </a:lnTo>
                  <a:lnTo>
                    <a:pt x="71535" y="315249"/>
                  </a:lnTo>
                  <a:cubicBezTo>
                    <a:pt x="78247" y="318110"/>
                    <a:pt x="85700" y="319700"/>
                    <a:pt x="93613" y="319700"/>
                  </a:cubicBezTo>
                  <a:cubicBezTo>
                    <a:pt x="120108" y="319700"/>
                    <a:pt x="141304" y="302037"/>
                    <a:pt x="148369" y="277309"/>
                  </a:cubicBezTo>
                  <a:cubicBezTo>
                    <a:pt x="167798" y="268477"/>
                    <a:pt x="181928" y="249048"/>
                    <a:pt x="181928" y="226086"/>
                  </a:cubicBezTo>
                  <a:cubicBezTo>
                    <a:pt x="181928" y="219021"/>
                    <a:pt x="180162" y="210189"/>
                    <a:pt x="176630" y="204890"/>
                  </a:cubicBezTo>
                  <a:cubicBezTo>
                    <a:pt x="180939" y="196584"/>
                    <a:pt x="182674" y="187181"/>
                    <a:pt x="181610" y="177884"/>
                  </a:cubicBezTo>
                  <a:cubicBezTo>
                    <a:pt x="190910" y="172297"/>
                    <a:pt x="198191" y="163896"/>
                    <a:pt x="202400" y="153897"/>
                  </a:cubicBezTo>
                  <a:cubicBezTo>
                    <a:pt x="220699" y="157200"/>
                    <a:pt x="237496" y="166261"/>
                    <a:pt x="250567" y="174086"/>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Rounded Rectangle 27"/>
            <p:cNvSpPr/>
            <p:nvPr/>
          </p:nvSpPr>
          <p:spPr>
            <a:xfrm>
              <a:off x="4016219" y="4582881"/>
              <a:ext cx="423912" cy="423912"/>
            </a:xfrm>
            <a:custGeom>
              <a:avLst/>
              <a:gdLst/>
              <a:ahLst/>
              <a:cxnLst/>
              <a:rect l="0" t="0" r="0" b="0"/>
              <a:pathLst>
                <a:path w="423912" h="423912">
                  <a:moveTo>
                    <a:pt x="423912" y="211956"/>
                  </a:moveTo>
                  <a:cubicBezTo>
                    <a:pt x="423912" y="329016"/>
                    <a:pt x="329016" y="423912"/>
                    <a:pt x="211956" y="423912"/>
                  </a:cubicBezTo>
                  <a:cubicBezTo>
                    <a:pt x="94895" y="423912"/>
                    <a:pt x="0" y="329016"/>
                    <a:pt x="0" y="211956"/>
                  </a:cubicBezTo>
                  <a:cubicBezTo>
                    <a:pt x="0" y="94895"/>
                    <a:pt x="94895" y="0"/>
                    <a:pt x="211956" y="0"/>
                  </a:cubicBezTo>
                  <a:cubicBezTo>
                    <a:pt x="329016" y="0"/>
                    <a:pt x="423912" y="94895"/>
                    <a:pt x="423912" y="211956"/>
                  </a:cubicBezTo>
                  <a:close/>
                  <a:moveTo>
                    <a:pt x="249224" y="215841"/>
                  </a:moveTo>
                  <a:cubicBezTo>
                    <a:pt x="247996" y="213396"/>
                    <a:pt x="247996" y="210515"/>
                    <a:pt x="249224" y="208070"/>
                  </a:cubicBezTo>
                  <a:lnTo>
                    <a:pt x="270773" y="164972"/>
                  </a:lnTo>
                  <a:cubicBezTo>
                    <a:pt x="272456" y="161576"/>
                    <a:pt x="271784" y="157486"/>
                    <a:pt x="269105" y="154806"/>
                  </a:cubicBezTo>
                  <a:cubicBezTo>
                    <a:pt x="266425" y="152127"/>
                    <a:pt x="262335" y="151455"/>
                    <a:pt x="258939" y="153138"/>
                  </a:cubicBezTo>
                  <a:lnTo>
                    <a:pt x="215841" y="174687"/>
                  </a:lnTo>
                  <a:cubicBezTo>
                    <a:pt x="213396" y="175915"/>
                    <a:pt x="210515" y="175915"/>
                    <a:pt x="208070" y="174687"/>
                  </a:cubicBezTo>
                  <a:lnTo>
                    <a:pt x="164972" y="153138"/>
                  </a:lnTo>
                  <a:cubicBezTo>
                    <a:pt x="161576" y="151455"/>
                    <a:pt x="157486" y="152127"/>
                    <a:pt x="154806" y="154806"/>
                  </a:cubicBezTo>
                  <a:cubicBezTo>
                    <a:pt x="152127" y="157486"/>
                    <a:pt x="151455" y="161576"/>
                    <a:pt x="153138" y="164972"/>
                  </a:cubicBezTo>
                  <a:lnTo>
                    <a:pt x="174687" y="208070"/>
                  </a:lnTo>
                  <a:cubicBezTo>
                    <a:pt x="175915" y="210515"/>
                    <a:pt x="175915" y="213396"/>
                    <a:pt x="174687" y="215841"/>
                  </a:cubicBezTo>
                  <a:lnTo>
                    <a:pt x="153138" y="258939"/>
                  </a:lnTo>
                  <a:cubicBezTo>
                    <a:pt x="151455" y="262335"/>
                    <a:pt x="152127" y="266425"/>
                    <a:pt x="154806" y="269105"/>
                  </a:cubicBezTo>
                  <a:cubicBezTo>
                    <a:pt x="157486" y="271784"/>
                    <a:pt x="161576" y="272456"/>
                    <a:pt x="164972" y="270773"/>
                  </a:cubicBezTo>
                  <a:lnTo>
                    <a:pt x="208070" y="249224"/>
                  </a:lnTo>
                  <a:cubicBezTo>
                    <a:pt x="210515" y="247996"/>
                    <a:pt x="213396" y="247996"/>
                    <a:pt x="215841" y="249224"/>
                  </a:cubicBezTo>
                  <a:lnTo>
                    <a:pt x="258939" y="270773"/>
                  </a:lnTo>
                  <a:cubicBezTo>
                    <a:pt x="262335" y="272456"/>
                    <a:pt x="266425" y="271784"/>
                    <a:pt x="269105" y="269105"/>
                  </a:cubicBezTo>
                  <a:cubicBezTo>
                    <a:pt x="271784" y="266425"/>
                    <a:pt x="272456" y="262335"/>
                    <a:pt x="270773" y="258939"/>
                  </a:cubicBezTo>
                  <a:close/>
                  <a:moveTo>
                    <a:pt x="203301" y="24551"/>
                  </a:moveTo>
                  <a:lnTo>
                    <a:pt x="182458" y="118871"/>
                  </a:lnTo>
                  <a:cubicBezTo>
                    <a:pt x="181480" y="122790"/>
                    <a:pt x="183401" y="126855"/>
                    <a:pt x="187051" y="128586"/>
                  </a:cubicBezTo>
                  <a:lnTo>
                    <a:pt x="208070" y="139184"/>
                  </a:lnTo>
                  <a:cubicBezTo>
                    <a:pt x="210515" y="140412"/>
                    <a:pt x="213396" y="140412"/>
                    <a:pt x="215841" y="139184"/>
                  </a:cubicBezTo>
                  <a:lnTo>
                    <a:pt x="236860" y="128586"/>
                  </a:lnTo>
                  <a:cubicBezTo>
                    <a:pt x="240510" y="126855"/>
                    <a:pt x="242431" y="122790"/>
                    <a:pt x="241453" y="118871"/>
                  </a:cubicBezTo>
                  <a:lnTo>
                    <a:pt x="220610" y="24551"/>
                  </a:lnTo>
                  <a:cubicBezTo>
                    <a:pt x="219699" y="20509"/>
                    <a:pt x="216099" y="17644"/>
                    <a:pt x="211956" y="17663"/>
                  </a:cubicBezTo>
                  <a:cubicBezTo>
                    <a:pt x="207812" y="17644"/>
                    <a:pt x="204212" y="20509"/>
                    <a:pt x="203301" y="24551"/>
                  </a:cubicBezTo>
                  <a:close/>
                  <a:moveTo>
                    <a:pt x="118872" y="241099"/>
                  </a:moveTo>
                  <a:cubicBezTo>
                    <a:pt x="122776" y="241941"/>
                    <a:pt x="126759" y="240058"/>
                    <a:pt x="128586" y="236507"/>
                  </a:cubicBezTo>
                  <a:lnTo>
                    <a:pt x="139184" y="215488"/>
                  </a:lnTo>
                  <a:cubicBezTo>
                    <a:pt x="140412" y="213043"/>
                    <a:pt x="140412" y="210161"/>
                    <a:pt x="139184" y="207716"/>
                  </a:cubicBezTo>
                  <a:lnTo>
                    <a:pt x="128586" y="186697"/>
                  </a:lnTo>
                  <a:cubicBezTo>
                    <a:pt x="126759" y="183146"/>
                    <a:pt x="122776" y="181263"/>
                    <a:pt x="118872" y="182105"/>
                  </a:cubicBezTo>
                  <a:lnTo>
                    <a:pt x="24551" y="202947"/>
                  </a:lnTo>
                  <a:cubicBezTo>
                    <a:pt x="19674" y="202947"/>
                    <a:pt x="15720" y="206901"/>
                    <a:pt x="15720" y="211779"/>
                  </a:cubicBezTo>
                  <a:cubicBezTo>
                    <a:pt x="15720" y="216656"/>
                    <a:pt x="19674" y="220610"/>
                    <a:pt x="24551" y="220610"/>
                  </a:cubicBezTo>
                  <a:close/>
                  <a:moveTo>
                    <a:pt x="220610" y="399360"/>
                  </a:moveTo>
                  <a:lnTo>
                    <a:pt x="241453" y="305040"/>
                  </a:lnTo>
                  <a:cubicBezTo>
                    <a:pt x="242431" y="301121"/>
                    <a:pt x="240510" y="297056"/>
                    <a:pt x="236860" y="295325"/>
                  </a:cubicBezTo>
                  <a:lnTo>
                    <a:pt x="215841" y="284727"/>
                  </a:lnTo>
                  <a:cubicBezTo>
                    <a:pt x="213396" y="283499"/>
                    <a:pt x="210515" y="283499"/>
                    <a:pt x="208070" y="284727"/>
                  </a:cubicBezTo>
                  <a:lnTo>
                    <a:pt x="187051" y="295325"/>
                  </a:lnTo>
                  <a:cubicBezTo>
                    <a:pt x="183401" y="297056"/>
                    <a:pt x="181480" y="301121"/>
                    <a:pt x="182458" y="305040"/>
                  </a:cubicBezTo>
                  <a:lnTo>
                    <a:pt x="203301" y="399360"/>
                  </a:lnTo>
                  <a:cubicBezTo>
                    <a:pt x="204212" y="403402"/>
                    <a:pt x="207812" y="406267"/>
                    <a:pt x="211956" y="406249"/>
                  </a:cubicBezTo>
                  <a:cubicBezTo>
                    <a:pt x="216099" y="406267"/>
                    <a:pt x="219699" y="403402"/>
                    <a:pt x="220610" y="399360"/>
                  </a:cubicBezTo>
                  <a:close/>
                  <a:moveTo>
                    <a:pt x="305040" y="182812"/>
                  </a:moveTo>
                  <a:cubicBezTo>
                    <a:pt x="301135" y="181970"/>
                    <a:pt x="297152" y="183853"/>
                    <a:pt x="295325" y="187404"/>
                  </a:cubicBezTo>
                  <a:lnTo>
                    <a:pt x="284727" y="208423"/>
                  </a:lnTo>
                  <a:cubicBezTo>
                    <a:pt x="283499" y="210868"/>
                    <a:pt x="283499" y="213750"/>
                    <a:pt x="284727" y="216195"/>
                  </a:cubicBezTo>
                  <a:lnTo>
                    <a:pt x="295325" y="237214"/>
                  </a:lnTo>
                  <a:cubicBezTo>
                    <a:pt x="297152" y="240765"/>
                    <a:pt x="301135" y="242648"/>
                    <a:pt x="305040" y="241806"/>
                  </a:cubicBezTo>
                  <a:lnTo>
                    <a:pt x="399360" y="220964"/>
                  </a:lnTo>
                  <a:cubicBezTo>
                    <a:pt x="404237" y="220964"/>
                    <a:pt x="408191" y="217010"/>
                    <a:pt x="408191" y="212132"/>
                  </a:cubicBezTo>
                  <a:cubicBezTo>
                    <a:pt x="408191" y="207255"/>
                    <a:pt x="404237" y="203301"/>
                    <a:pt x="399360" y="203301"/>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28"/>
            <p:cNvSpPr/>
            <p:nvPr/>
          </p:nvSpPr>
          <p:spPr>
            <a:xfrm>
              <a:off x="7481406" y="4549842"/>
              <a:ext cx="424088" cy="430004"/>
            </a:xfrm>
            <a:custGeom>
              <a:avLst/>
              <a:gdLst/>
              <a:ahLst/>
              <a:cxnLst/>
              <a:rect l="0" t="0" r="0" b="0"/>
              <a:pathLst>
                <a:path w="424088" h="430004">
                  <a:moveTo>
                    <a:pt x="167798" y="291155"/>
                  </a:moveTo>
                  <a:cubicBezTo>
                    <a:pt x="167694" y="298572"/>
                    <a:pt x="162967" y="305134"/>
                    <a:pt x="155964" y="307581"/>
                  </a:cubicBezTo>
                  <a:cubicBezTo>
                    <a:pt x="154791" y="307928"/>
                    <a:pt x="153825" y="308766"/>
                    <a:pt x="153314" y="309878"/>
                  </a:cubicBezTo>
                  <a:cubicBezTo>
                    <a:pt x="152776" y="310993"/>
                    <a:pt x="152776" y="312294"/>
                    <a:pt x="153314" y="313410"/>
                  </a:cubicBezTo>
                  <a:lnTo>
                    <a:pt x="154374" y="316060"/>
                  </a:lnTo>
                  <a:cubicBezTo>
                    <a:pt x="157761" y="324684"/>
                    <a:pt x="153909" y="334459"/>
                    <a:pt x="145548" y="338454"/>
                  </a:cubicBezTo>
                  <a:cubicBezTo>
                    <a:pt x="137188" y="342448"/>
                    <a:pt x="127162" y="339303"/>
                    <a:pt x="122581" y="331250"/>
                  </a:cubicBezTo>
                  <a:cubicBezTo>
                    <a:pt x="119578" y="325068"/>
                    <a:pt x="116929" y="318356"/>
                    <a:pt x="114456" y="311644"/>
                  </a:cubicBezTo>
                  <a:cubicBezTo>
                    <a:pt x="113806" y="309960"/>
                    <a:pt x="112198" y="308841"/>
                    <a:pt x="110393" y="308818"/>
                  </a:cubicBezTo>
                  <a:lnTo>
                    <a:pt x="73124" y="308818"/>
                  </a:lnTo>
                  <a:cubicBezTo>
                    <a:pt x="71404" y="308780"/>
                    <a:pt x="69819" y="309745"/>
                    <a:pt x="69062" y="311291"/>
                  </a:cubicBezTo>
                  <a:cubicBezTo>
                    <a:pt x="68276" y="312721"/>
                    <a:pt x="68276" y="314453"/>
                    <a:pt x="69062" y="315883"/>
                  </a:cubicBezTo>
                  <a:cubicBezTo>
                    <a:pt x="87260" y="340668"/>
                    <a:pt x="111614" y="360272"/>
                    <a:pt x="139714" y="372758"/>
                  </a:cubicBezTo>
                  <a:cubicBezTo>
                    <a:pt x="147531" y="376078"/>
                    <a:pt x="151879" y="384492"/>
                    <a:pt x="150064" y="392790"/>
                  </a:cubicBezTo>
                  <a:cubicBezTo>
                    <a:pt x="148249" y="401087"/>
                    <a:pt x="140785" y="406918"/>
                    <a:pt x="132295" y="406671"/>
                  </a:cubicBezTo>
                  <a:cubicBezTo>
                    <a:pt x="111453" y="406671"/>
                    <a:pt x="0" y="340788"/>
                    <a:pt x="0" y="212378"/>
                  </a:cubicBezTo>
                  <a:cubicBezTo>
                    <a:pt x="0" y="80435"/>
                    <a:pt x="114809" y="5367"/>
                    <a:pt x="210896" y="422"/>
                  </a:cubicBezTo>
                  <a:cubicBezTo>
                    <a:pt x="298470" y="0"/>
                    <a:pt x="377287" y="53480"/>
                    <a:pt x="409251" y="135014"/>
                  </a:cubicBezTo>
                  <a:cubicBezTo>
                    <a:pt x="412082" y="140328"/>
                    <a:pt x="411814" y="146758"/>
                    <a:pt x="408551" y="151819"/>
                  </a:cubicBezTo>
                  <a:cubicBezTo>
                    <a:pt x="405287" y="156879"/>
                    <a:pt x="399540" y="159775"/>
                    <a:pt x="393531" y="159389"/>
                  </a:cubicBezTo>
                  <a:lnTo>
                    <a:pt x="141304" y="159389"/>
                  </a:lnTo>
                  <a:cubicBezTo>
                    <a:pt x="139195" y="159413"/>
                    <a:pt x="137374" y="160870"/>
                    <a:pt x="136888" y="162921"/>
                  </a:cubicBezTo>
                  <a:cubicBezTo>
                    <a:pt x="133960" y="179244"/>
                    <a:pt x="132483" y="195794"/>
                    <a:pt x="132472" y="212378"/>
                  </a:cubicBezTo>
                  <a:cubicBezTo>
                    <a:pt x="132443" y="231982"/>
                    <a:pt x="134575" y="251529"/>
                    <a:pt x="138831" y="270666"/>
                  </a:cubicBezTo>
                  <a:cubicBezTo>
                    <a:pt x="139317" y="272717"/>
                    <a:pt x="141138" y="274174"/>
                    <a:pt x="143246" y="274198"/>
                  </a:cubicBezTo>
                  <a:lnTo>
                    <a:pt x="150135" y="274198"/>
                  </a:lnTo>
                  <a:cubicBezTo>
                    <a:pt x="159621" y="274191"/>
                    <a:pt x="167419" y="281677"/>
                    <a:pt x="167798" y="291155"/>
                  </a:cubicBezTo>
                  <a:close/>
                  <a:moveTo>
                    <a:pt x="209306" y="40517"/>
                  </a:moveTo>
                  <a:cubicBezTo>
                    <a:pt x="182912" y="60400"/>
                    <a:pt x="162502" y="87166"/>
                    <a:pt x="150312" y="117881"/>
                  </a:cubicBezTo>
                  <a:cubicBezTo>
                    <a:pt x="149700" y="119227"/>
                    <a:pt x="149700" y="120773"/>
                    <a:pt x="150312" y="122120"/>
                  </a:cubicBezTo>
                  <a:cubicBezTo>
                    <a:pt x="151164" y="123326"/>
                    <a:pt x="152544" y="124049"/>
                    <a:pt x="154021" y="124063"/>
                  </a:cubicBezTo>
                  <a:lnTo>
                    <a:pt x="270067" y="124063"/>
                  </a:lnTo>
                  <a:cubicBezTo>
                    <a:pt x="271551" y="124080"/>
                    <a:pt x="272945" y="123350"/>
                    <a:pt x="273776" y="122120"/>
                  </a:cubicBezTo>
                  <a:cubicBezTo>
                    <a:pt x="274572" y="120819"/>
                    <a:pt x="274572" y="119182"/>
                    <a:pt x="273776" y="117881"/>
                  </a:cubicBezTo>
                  <a:cubicBezTo>
                    <a:pt x="261553" y="87087"/>
                    <a:pt x="241005" y="60300"/>
                    <a:pt x="214428" y="40517"/>
                  </a:cubicBezTo>
                  <a:cubicBezTo>
                    <a:pt x="212879" y="39476"/>
                    <a:pt x="210855" y="39476"/>
                    <a:pt x="209306" y="40517"/>
                  </a:cubicBezTo>
                  <a:close/>
                  <a:moveTo>
                    <a:pt x="286493" y="52174"/>
                  </a:moveTo>
                  <a:cubicBezTo>
                    <a:pt x="284700" y="51411"/>
                    <a:pt x="282619" y="51913"/>
                    <a:pt x="281371" y="53411"/>
                  </a:cubicBezTo>
                  <a:cubicBezTo>
                    <a:pt x="280034" y="54991"/>
                    <a:pt x="280034" y="57306"/>
                    <a:pt x="281371" y="58886"/>
                  </a:cubicBezTo>
                  <a:cubicBezTo>
                    <a:pt x="294860" y="77920"/>
                    <a:pt x="305400" y="98881"/>
                    <a:pt x="312635" y="121060"/>
                  </a:cubicBezTo>
                  <a:cubicBezTo>
                    <a:pt x="313291" y="122841"/>
                    <a:pt x="314976" y="124034"/>
                    <a:pt x="316874" y="124063"/>
                  </a:cubicBezTo>
                  <a:lnTo>
                    <a:pt x="356969" y="124063"/>
                  </a:lnTo>
                  <a:cubicBezTo>
                    <a:pt x="358587" y="124067"/>
                    <a:pt x="360078" y="123186"/>
                    <a:pt x="360855" y="121767"/>
                  </a:cubicBezTo>
                  <a:cubicBezTo>
                    <a:pt x="361640" y="120337"/>
                    <a:pt x="361640" y="118604"/>
                    <a:pt x="360855" y="117174"/>
                  </a:cubicBezTo>
                  <a:cubicBezTo>
                    <a:pt x="342753" y="88877"/>
                    <a:pt x="316957" y="66329"/>
                    <a:pt x="286493" y="52174"/>
                  </a:cubicBezTo>
                  <a:close/>
                  <a:moveTo>
                    <a:pt x="63233" y="117174"/>
                  </a:moveTo>
                  <a:cubicBezTo>
                    <a:pt x="62447" y="118604"/>
                    <a:pt x="62447" y="120337"/>
                    <a:pt x="63233" y="121767"/>
                  </a:cubicBezTo>
                  <a:cubicBezTo>
                    <a:pt x="64010" y="123186"/>
                    <a:pt x="65501" y="124067"/>
                    <a:pt x="67119" y="124063"/>
                  </a:cubicBezTo>
                  <a:lnTo>
                    <a:pt x="107037" y="124063"/>
                  </a:lnTo>
                  <a:cubicBezTo>
                    <a:pt x="108935" y="124034"/>
                    <a:pt x="110620" y="122841"/>
                    <a:pt x="111276" y="121060"/>
                  </a:cubicBezTo>
                  <a:cubicBezTo>
                    <a:pt x="118195" y="99145"/>
                    <a:pt x="128313" y="78373"/>
                    <a:pt x="141304" y="59416"/>
                  </a:cubicBezTo>
                  <a:cubicBezTo>
                    <a:pt x="141892" y="57945"/>
                    <a:pt x="141647" y="56271"/>
                    <a:pt x="140662" y="55029"/>
                  </a:cubicBezTo>
                  <a:cubicBezTo>
                    <a:pt x="139676" y="53788"/>
                    <a:pt x="138101" y="53170"/>
                    <a:pt x="136535" y="53411"/>
                  </a:cubicBezTo>
                  <a:cubicBezTo>
                    <a:pt x="106621" y="67395"/>
                    <a:pt x="81226" y="89486"/>
                    <a:pt x="63233" y="117174"/>
                  </a:cubicBezTo>
                  <a:close/>
                  <a:moveTo>
                    <a:pt x="98736" y="274198"/>
                  </a:moveTo>
                  <a:cubicBezTo>
                    <a:pt x="100076" y="274151"/>
                    <a:pt x="101344" y="273580"/>
                    <a:pt x="102268" y="272609"/>
                  </a:cubicBezTo>
                  <a:cubicBezTo>
                    <a:pt x="102715" y="271413"/>
                    <a:pt x="102715" y="270095"/>
                    <a:pt x="102268" y="268899"/>
                  </a:cubicBezTo>
                  <a:cubicBezTo>
                    <a:pt x="96022" y="234425"/>
                    <a:pt x="95485" y="199159"/>
                    <a:pt x="100679" y="164511"/>
                  </a:cubicBezTo>
                  <a:cubicBezTo>
                    <a:pt x="100911" y="163232"/>
                    <a:pt x="100517" y="161919"/>
                    <a:pt x="99619" y="160978"/>
                  </a:cubicBezTo>
                  <a:cubicBezTo>
                    <a:pt x="98842" y="159914"/>
                    <a:pt x="97579" y="159315"/>
                    <a:pt x="96263" y="159389"/>
                  </a:cubicBezTo>
                  <a:lnTo>
                    <a:pt x="46806" y="159389"/>
                  </a:lnTo>
                  <a:cubicBezTo>
                    <a:pt x="44844" y="159389"/>
                    <a:pt x="43117" y="160684"/>
                    <a:pt x="42567" y="162568"/>
                  </a:cubicBezTo>
                  <a:cubicBezTo>
                    <a:pt x="31868" y="198182"/>
                    <a:pt x="33046" y="236310"/>
                    <a:pt x="45923" y="271196"/>
                  </a:cubicBezTo>
                  <a:cubicBezTo>
                    <a:pt x="46580" y="272976"/>
                    <a:pt x="48265" y="274170"/>
                    <a:pt x="50162" y="274198"/>
                  </a:cubicBezTo>
                  <a:close/>
                  <a:moveTo>
                    <a:pt x="413137" y="351562"/>
                  </a:moveTo>
                  <a:cubicBezTo>
                    <a:pt x="400958" y="387331"/>
                    <a:pt x="370905" y="414086"/>
                    <a:pt x="333968" y="422045"/>
                  </a:cubicBezTo>
                  <a:cubicBezTo>
                    <a:pt x="297031" y="430004"/>
                    <a:pt x="258626" y="418000"/>
                    <a:pt x="232798" y="390421"/>
                  </a:cubicBezTo>
                  <a:cubicBezTo>
                    <a:pt x="231976" y="389535"/>
                    <a:pt x="230827" y="389024"/>
                    <a:pt x="229619" y="389008"/>
                  </a:cubicBezTo>
                  <a:cubicBezTo>
                    <a:pt x="228759" y="388929"/>
                    <a:pt x="227897" y="389114"/>
                    <a:pt x="227146" y="389538"/>
                  </a:cubicBezTo>
                  <a:lnTo>
                    <a:pt x="209483" y="407201"/>
                  </a:lnTo>
                  <a:cubicBezTo>
                    <a:pt x="206960" y="409675"/>
                    <a:pt x="203205" y="410406"/>
                    <a:pt x="199937" y="409061"/>
                  </a:cubicBezTo>
                  <a:cubicBezTo>
                    <a:pt x="196670" y="407715"/>
                    <a:pt x="194519" y="404552"/>
                    <a:pt x="194469" y="401019"/>
                  </a:cubicBezTo>
                  <a:lnTo>
                    <a:pt x="194469" y="322242"/>
                  </a:lnTo>
                  <a:cubicBezTo>
                    <a:pt x="194469" y="317364"/>
                    <a:pt x="198423" y="313410"/>
                    <a:pt x="203301" y="313410"/>
                  </a:cubicBezTo>
                  <a:lnTo>
                    <a:pt x="281724" y="313410"/>
                  </a:lnTo>
                  <a:cubicBezTo>
                    <a:pt x="285354" y="313356"/>
                    <a:pt x="288647" y="315528"/>
                    <a:pt x="290026" y="318886"/>
                  </a:cubicBezTo>
                  <a:cubicBezTo>
                    <a:pt x="291300" y="322171"/>
                    <a:pt x="290541" y="325898"/>
                    <a:pt x="288083" y="328424"/>
                  </a:cubicBezTo>
                  <a:lnTo>
                    <a:pt x="257703" y="358981"/>
                  </a:lnTo>
                  <a:cubicBezTo>
                    <a:pt x="256905" y="359776"/>
                    <a:pt x="256456" y="360857"/>
                    <a:pt x="256456" y="361983"/>
                  </a:cubicBezTo>
                  <a:cubicBezTo>
                    <a:pt x="256456" y="363110"/>
                    <a:pt x="256905" y="364191"/>
                    <a:pt x="257703" y="364986"/>
                  </a:cubicBezTo>
                  <a:cubicBezTo>
                    <a:pt x="274847" y="384111"/>
                    <a:pt x="300856" y="392695"/>
                    <a:pt x="326017" y="387532"/>
                  </a:cubicBezTo>
                  <a:cubicBezTo>
                    <a:pt x="351177" y="382369"/>
                    <a:pt x="371704" y="364236"/>
                    <a:pt x="379931" y="339905"/>
                  </a:cubicBezTo>
                  <a:cubicBezTo>
                    <a:pt x="381807" y="333718"/>
                    <a:pt x="386914" y="329050"/>
                    <a:pt x="393245" y="327737"/>
                  </a:cubicBezTo>
                  <a:cubicBezTo>
                    <a:pt x="399575" y="326423"/>
                    <a:pt x="406117" y="328673"/>
                    <a:pt x="410300" y="333603"/>
                  </a:cubicBezTo>
                  <a:cubicBezTo>
                    <a:pt x="414484" y="338532"/>
                    <a:pt x="415640" y="345353"/>
                    <a:pt x="413314" y="351385"/>
                  </a:cubicBezTo>
                  <a:close/>
                  <a:moveTo>
                    <a:pt x="418613" y="208315"/>
                  </a:moveTo>
                  <a:cubicBezTo>
                    <a:pt x="421880" y="209707"/>
                    <a:pt x="424024" y="212889"/>
                    <a:pt x="424088" y="216440"/>
                  </a:cubicBezTo>
                  <a:lnTo>
                    <a:pt x="424088" y="295217"/>
                  </a:lnTo>
                  <a:cubicBezTo>
                    <a:pt x="424088" y="300095"/>
                    <a:pt x="420134" y="304049"/>
                    <a:pt x="415257" y="304049"/>
                  </a:cubicBezTo>
                  <a:lnTo>
                    <a:pt x="336480" y="304049"/>
                  </a:lnTo>
                  <a:cubicBezTo>
                    <a:pt x="332900" y="304080"/>
                    <a:pt x="329670" y="301903"/>
                    <a:pt x="328355" y="298573"/>
                  </a:cubicBezTo>
                  <a:cubicBezTo>
                    <a:pt x="326875" y="295308"/>
                    <a:pt x="327658" y="291462"/>
                    <a:pt x="330298" y="289035"/>
                  </a:cubicBezTo>
                  <a:lnTo>
                    <a:pt x="360501" y="260068"/>
                  </a:lnTo>
                  <a:cubicBezTo>
                    <a:pt x="362184" y="258351"/>
                    <a:pt x="362184" y="255603"/>
                    <a:pt x="360501" y="253886"/>
                  </a:cubicBezTo>
                  <a:cubicBezTo>
                    <a:pt x="343252" y="235051"/>
                    <a:pt x="317340" y="226724"/>
                    <a:pt x="292348" y="231983"/>
                  </a:cubicBezTo>
                  <a:cubicBezTo>
                    <a:pt x="267356" y="237243"/>
                    <a:pt x="246998" y="255308"/>
                    <a:pt x="238803" y="279497"/>
                  </a:cubicBezTo>
                  <a:cubicBezTo>
                    <a:pt x="235632" y="288763"/>
                    <a:pt x="225550" y="293705"/>
                    <a:pt x="216284" y="290535"/>
                  </a:cubicBezTo>
                  <a:cubicBezTo>
                    <a:pt x="207017" y="287364"/>
                    <a:pt x="202074" y="277283"/>
                    <a:pt x="205243" y="268016"/>
                  </a:cubicBezTo>
                  <a:cubicBezTo>
                    <a:pt x="217411" y="232311"/>
                    <a:pt x="247365" y="205569"/>
                    <a:pt x="284216" y="197512"/>
                  </a:cubicBezTo>
                  <a:cubicBezTo>
                    <a:pt x="321068" y="189456"/>
                    <a:pt x="359449" y="201258"/>
                    <a:pt x="385406" y="228628"/>
                  </a:cubicBezTo>
                  <a:cubicBezTo>
                    <a:pt x="386228" y="229514"/>
                    <a:pt x="387377" y="230025"/>
                    <a:pt x="388585" y="230041"/>
                  </a:cubicBezTo>
                  <a:cubicBezTo>
                    <a:pt x="389671" y="229633"/>
                    <a:pt x="390598" y="228890"/>
                    <a:pt x="391235" y="227921"/>
                  </a:cubicBezTo>
                  <a:lnTo>
                    <a:pt x="408898" y="210258"/>
                  </a:lnTo>
                  <a:cubicBezTo>
                    <a:pt x="411457" y="207728"/>
                    <a:pt x="415277" y="206964"/>
                    <a:pt x="418613" y="208315"/>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6" name="TextBox 30"/>
            <p:cNvSpPr txBox="1"/>
            <p:nvPr/>
          </p:nvSpPr>
          <p:spPr>
            <a:xfrm>
              <a:off x="3778911" y="3238554"/>
              <a:ext cx="713337"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CGST</a:t>
              </a:r>
            </a:p>
          </p:txBody>
        </p:sp>
        <p:sp>
          <p:nvSpPr>
            <p:cNvPr id="17" name="TextBox 31"/>
            <p:cNvSpPr txBox="1"/>
            <p:nvPr/>
          </p:nvSpPr>
          <p:spPr>
            <a:xfrm>
              <a:off x="7340144" y="3238554"/>
              <a:ext cx="698909"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SGST</a:t>
              </a:r>
            </a:p>
          </p:txBody>
        </p:sp>
        <p:sp>
          <p:nvSpPr>
            <p:cNvPr id="18" name="TextBox 32"/>
            <p:cNvSpPr txBox="1"/>
            <p:nvPr/>
          </p:nvSpPr>
          <p:spPr>
            <a:xfrm>
              <a:off x="3036559" y="3552076"/>
              <a:ext cx="2329805"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Central Government's
share of GST revenue.</a:t>
              </a:r>
            </a:p>
          </p:txBody>
        </p:sp>
        <p:sp>
          <p:nvSpPr>
            <p:cNvPr id="19" name="TextBox 33"/>
            <p:cNvSpPr txBox="1"/>
            <p:nvPr/>
          </p:nvSpPr>
          <p:spPr>
            <a:xfrm>
              <a:off x="6417349" y="3552076"/>
              <a:ext cx="2672206"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latin typeface="Roboto"/>
                </a:rPr>
                <a:t>State Government's share
of GST revenue.</a:t>
              </a:r>
            </a:p>
          </p:txBody>
        </p:sp>
        <p:sp>
          <p:nvSpPr>
            <p:cNvPr id="20" name="TextBox 34"/>
            <p:cNvSpPr txBox="1"/>
            <p:nvPr/>
          </p:nvSpPr>
          <p:spPr>
            <a:xfrm>
              <a:off x="3853721" y="5130434"/>
              <a:ext cx="87043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a:solidFill>
                    <a:srgbClr val="FFFFFF"/>
                  </a:solidFill>
                  <a:latin typeface="Roboto"/>
                </a:rPr>
                <a:t>UTGST</a:t>
              </a:r>
            </a:p>
          </p:txBody>
        </p:sp>
        <p:sp>
          <p:nvSpPr>
            <p:cNvPr id="21" name="TextBox 35"/>
            <p:cNvSpPr txBox="1"/>
            <p:nvPr/>
          </p:nvSpPr>
          <p:spPr>
            <a:xfrm>
              <a:off x="7431936" y="5097817"/>
              <a:ext cx="59792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a:solidFill>
                    <a:srgbClr val="FFFFFF"/>
                  </a:solidFill>
                  <a:latin typeface="Roboto"/>
                </a:rPr>
                <a:t>IGST</a:t>
              </a:r>
            </a:p>
          </p:txBody>
        </p:sp>
        <p:sp>
          <p:nvSpPr>
            <p:cNvPr id="22" name="TextBox 36"/>
            <p:cNvSpPr txBox="1"/>
            <p:nvPr/>
          </p:nvSpPr>
          <p:spPr>
            <a:xfrm>
              <a:off x="3016387" y="5443952"/>
              <a:ext cx="2680927"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Union Territories' share of </a:t>
              </a:r>
              <a:endParaRPr lang="en-US" b="0" dirty="0">
                <a:solidFill>
                  <a:srgbClr val="FFFFFF"/>
                </a:solidFill>
                <a:latin typeface="Roboto"/>
              </a:endParaRPr>
            </a:p>
            <a:p>
              <a:pPr algn="ctr"/>
              <a:r>
                <a:rPr b="0" dirty="0">
                  <a:solidFill>
                    <a:srgbClr val="FFFFFF"/>
                  </a:solidFill>
                  <a:latin typeface="Roboto"/>
                </a:rPr>
                <a:t>GST</a:t>
              </a:r>
              <a:r>
                <a:rPr lang="en-US" dirty="0">
                  <a:solidFill>
                    <a:srgbClr val="FFFFFF"/>
                  </a:solidFill>
                  <a:latin typeface="Roboto"/>
                </a:rPr>
                <a:t> </a:t>
              </a:r>
              <a:r>
                <a:rPr b="0" dirty="0">
                  <a:solidFill>
                    <a:srgbClr val="FFFFFF"/>
                  </a:solidFill>
                  <a:latin typeface="Roboto"/>
                </a:rPr>
                <a:t>revenue.</a:t>
              </a:r>
            </a:p>
          </p:txBody>
        </p:sp>
        <p:sp>
          <p:nvSpPr>
            <p:cNvPr id="23" name="TextBox 37"/>
            <p:cNvSpPr txBox="1"/>
            <p:nvPr/>
          </p:nvSpPr>
          <p:spPr>
            <a:xfrm>
              <a:off x="6304457" y="5437830"/>
              <a:ext cx="3014673" cy="48448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0" dirty="0">
                  <a:solidFill>
                    <a:srgbClr val="FFFFFF"/>
                  </a:solidFill>
                  <a:latin typeface="Roboto"/>
                </a:rPr>
                <a:t>Centre's collection </a:t>
              </a:r>
              <a:r>
                <a:rPr lang="en-US" dirty="0">
                  <a:solidFill>
                    <a:srgbClr val="FFFFFF"/>
                  </a:solidFill>
                  <a:latin typeface="Roboto"/>
                </a:rPr>
                <a:t>in</a:t>
              </a:r>
              <a:r>
                <a:rPr b="0" dirty="0">
                  <a:solidFill>
                    <a:srgbClr val="FFFFFF"/>
                  </a:solidFill>
                  <a:latin typeface="Roboto"/>
                </a:rPr>
                <a:t> inter-state </a:t>
              </a:r>
              <a:endParaRPr lang="en-US" dirty="0">
                <a:solidFill>
                  <a:srgbClr val="FFFFFF"/>
                </a:solidFill>
                <a:latin typeface="Roboto"/>
              </a:endParaRPr>
            </a:p>
            <a:p>
              <a:pPr algn="just"/>
              <a:r>
                <a:rPr b="0" dirty="0">
                  <a:solidFill>
                    <a:srgbClr val="FFFFFF"/>
                  </a:solidFill>
                  <a:latin typeface="Roboto"/>
                </a:rPr>
                <a:t>and international</a:t>
              </a:r>
              <a:r>
                <a:rPr lang="en-US" b="0" dirty="0">
                  <a:solidFill>
                    <a:srgbClr val="FFFFFF"/>
                  </a:solidFill>
                  <a:latin typeface="Roboto"/>
                </a:rPr>
                <a:t> </a:t>
              </a:r>
              <a:r>
                <a:rPr b="0" dirty="0">
                  <a:solidFill>
                    <a:srgbClr val="FFFFFF"/>
                  </a:solidFill>
                  <a:latin typeface="Roboto"/>
                </a:rPr>
                <a:t>transactions.</a:t>
              </a:r>
            </a:p>
          </p:txBody>
        </p:sp>
      </p:grpSp>
    </p:spTree>
    <p:extLst>
      <p:ext uri="{BB962C8B-B14F-4D97-AF65-F5344CB8AC3E}">
        <p14:creationId xmlns:p14="http://schemas.microsoft.com/office/powerpoint/2010/main" val="515538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49AF2-D509-2E28-0233-440800547667}"/>
              </a:ext>
            </a:extLst>
          </p:cNvPr>
          <p:cNvSpPr>
            <a:spLocks noGrp="1"/>
          </p:cNvSpPr>
          <p:nvPr>
            <p:ph type="title"/>
          </p:nvPr>
        </p:nvSpPr>
        <p:spPr/>
        <p:txBody>
          <a:bodyPr/>
          <a:lstStyle/>
          <a:p>
            <a:r>
              <a:rPr lang="en-US" dirty="0"/>
              <a:t>Types of GST</a:t>
            </a:r>
            <a:endParaRPr lang="en-IN" dirty="0"/>
          </a:p>
        </p:txBody>
      </p:sp>
      <p:graphicFrame>
        <p:nvGraphicFramePr>
          <p:cNvPr id="4" name="Content Placeholder 3">
            <a:extLst>
              <a:ext uri="{FF2B5EF4-FFF2-40B4-BE49-F238E27FC236}">
                <a16:creationId xmlns:a16="http://schemas.microsoft.com/office/drawing/2014/main" id="{9476BAF3-0C2D-60DE-7060-21B341EF3B7D}"/>
              </a:ext>
            </a:extLst>
          </p:cNvPr>
          <p:cNvGraphicFramePr>
            <a:graphicFrameLocks noGrp="1"/>
          </p:cNvGraphicFramePr>
          <p:nvPr>
            <p:ph idx="1"/>
          </p:nvPr>
        </p:nvGraphicFramePr>
        <p:xfrm>
          <a:off x="131763" y="863600"/>
          <a:ext cx="11928474" cy="3870960"/>
        </p:xfrm>
        <a:graphic>
          <a:graphicData uri="http://schemas.openxmlformats.org/drawingml/2006/table">
            <a:tbl>
              <a:tblPr firstRow="1" bandRow="1" bandCol="1">
                <a:tableStyleId>{17292A2E-F333-43FB-9621-5CBBE7FDCDCB}</a:tableStyleId>
              </a:tblPr>
              <a:tblGrid>
                <a:gridCol w="3283241">
                  <a:extLst>
                    <a:ext uri="{9D8B030D-6E8A-4147-A177-3AD203B41FA5}">
                      <a16:colId xmlns:a16="http://schemas.microsoft.com/office/drawing/2014/main" val="1765301961"/>
                    </a:ext>
                  </a:extLst>
                </a:gridCol>
                <a:gridCol w="4669075">
                  <a:extLst>
                    <a:ext uri="{9D8B030D-6E8A-4147-A177-3AD203B41FA5}">
                      <a16:colId xmlns:a16="http://schemas.microsoft.com/office/drawing/2014/main" val="1359336207"/>
                    </a:ext>
                  </a:extLst>
                </a:gridCol>
                <a:gridCol w="3976158">
                  <a:extLst>
                    <a:ext uri="{9D8B030D-6E8A-4147-A177-3AD203B41FA5}">
                      <a16:colId xmlns:a16="http://schemas.microsoft.com/office/drawing/2014/main" val="1849754714"/>
                    </a:ext>
                  </a:extLst>
                </a:gridCol>
              </a:tblGrid>
              <a:tr h="370840">
                <a:tc>
                  <a:txBody>
                    <a:bodyPr/>
                    <a:lstStyle/>
                    <a:p>
                      <a:pPr algn="ctr"/>
                      <a:r>
                        <a:rPr lang="en-US" sz="2800" dirty="0">
                          <a:solidFill>
                            <a:schemeClr val="tx1"/>
                          </a:solidFill>
                        </a:rPr>
                        <a:t>Types of GST</a:t>
                      </a:r>
                      <a:endParaRPr lang="en-IN" sz="2800" dirty="0">
                        <a:solidFill>
                          <a:schemeClr val="tx1"/>
                        </a:solidFill>
                      </a:endParaRPr>
                    </a:p>
                  </a:txBody>
                  <a:tcPr>
                    <a:solidFill>
                      <a:schemeClr val="accent4">
                        <a:lumMod val="40000"/>
                        <a:lumOff val="60000"/>
                      </a:schemeClr>
                    </a:solidFill>
                  </a:tcPr>
                </a:tc>
                <a:tc>
                  <a:txBody>
                    <a:bodyPr/>
                    <a:lstStyle/>
                    <a:p>
                      <a:pPr algn="ctr"/>
                      <a:r>
                        <a:rPr lang="en-US" sz="2800" dirty="0">
                          <a:solidFill>
                            <a:schemeClr val="tx1"/>
                          </a:solidFill>
                        </a:rPr>
                        <a:t>Levied and Collected by</a:t>
                      </a:r>
                      <a:endParaRPr lang="en-IN" sz="2800" dirty="0">
                        <a:solidFill>
                          <a:schemeClr val="tx1"/>
                        </a:solidFill>
                      </a:endParaRPr>
                    </a:p>
                  </a:txBody>
                  <a:tcPr>
                    <a:solidFill>
                      <a:schemeClr val="accent4">
                        <a:lumMod val="40000"/>
                        <a:lumOff val="60000"/>
                      </a:schemeClr>
                    </a:solidFill>
                  </a:tcPr>
                </a:tc>
                <a:tc>
                  <a:txBody>
                    <a:bodyPr/>
                    <a:lstStyle/>
                    <a:p>
                      <a:pPr algn="ctr"/>
                      <a:r>
                        <a:rPr lang="en-US" sz="2800" dirty="0">
                          <a:solidFill>
                            <a:schemeClr val="tx1"/>
                          </a:solidFill>
                        </a:rPr>
                        <a:t>Type of Supply</a:t>
                      </a:r>
                      <a:endParaRPr lang="en-IN" sz="2800" dirty="0">
                        <a:solidFill>
                          <a:schemeClr val="tx1"/>
                        </a:solidFill>
                      </a:endParaRPr>
                    </a:p>
                  </a:txBody>
                  <a:tcPr>
                    <a:solidFill>
                      <a:schemeClr val="accent4">
                        <a:lumMod val="40000"/>
                        <a:lumOff val="60000"/>
                      </a:schemeClr>
                    </a:solidFill>
                  </a:tcPr>
                </a:tc>
                <a:extLst>
                  <a:ext uri="{0D108BD9-81ED-4DB2-BD59-A6C34878D82A}">
                    <a16:rowId xmlns:a16="http://schemas.microsoft.com/office/drawing/2014/main" val="1916014905"/>
                  </a:ext>
                </a:extLst>
              </a:tr>
              <a:tr h="370840">
                <a:tc>
                  <a:txBody>
                    <a:bodyPr/>
                    <a:lstStyle/>
                    <a:p>
                      <a:r>
                        <a:rPr lang="en-US" sz="2800" dirty="0">
                          <a:solidFill>
                            <a:schemeClr val="tx1"/>
                          </a:solidFill>
                        </a:rPr>
                        <a:t>CGST</a:t>
                      </a:r>
                      <a:endParaRPr lang="en-IN" sz="2800" dirty="0">
                        <a:solidFill>
                          <a:schemeClr val="tx1"/>
                        </a:solidFill>
                      </a:endParaRPr>
                    </a:p>
                  </a:txBody>
                  <a:tcPr/>
                </a:tc>
                <a:tc>
                  <a:txBody>
                    <a:bodyPr/>
                    <a:lstStyle/>
                    <a:p>
                      <a:r>
                        <a:rPr lang="en-US" sz="2800" dirty="0">
                          <a:solidFill>
                            <a:schemeClr val="tx1"/>
                          </a:solidFill>
                        </a:rPr>
                        <a:t>Central Government</a:t>
                      </a:r>
                      <a:endParaRPr lang="en-IN" sz="2800" dirty="0">
                        <a:solidFill>
                          <a:schemeClr val="tx1"/>
                        </a:solidFill>
                      </a:endParaRPr>
                    </a:p>
                  </a:txBody>
                  <a:tcPr/>
                </a:tc>
                <a:tc rowSpan="3">
                  <a:txBody>
                    <a:bodyPr/>
                    <a:lstStyle/>
                    <a:p>
                      <a:pPr algn="ctr"/>
                      <a:r>
                        <a:rPr lang="en-US" sz="2800" dirty="0">
                          <a:solidFill>
                            <a:schemeClr val="tx1"/>
                          </a:solidFill>
                        </a:rPr>
                        <a:t>Intra-state Supply</a:t>
                      </a:r>
                      <a:endParaRPr lang="en-IN" sz="2800" dirty="0">
                        <a:solidFill>
                          <a:schemeClr val="tx1"/>
                        </a:solidFill>
                      </a:endParaRPr>
                    </a:p>
                  </a:txBody>
                  <a:tcPr anchor="ctr"/>
                </a:tc>
                <a:extLst>
                  <a:ext uri="{0D108BD9-81ED-4DB2-BD59-A6C34878D82A}">
                    <a16:rowId xmlns:a16="http://schemas.microsoft.com/office/drawing/2014/main" val="1399913632"/>
                  </a:ext>
                </a:extLst>
              </a:tr>
              <a:tr h="370840">
                <a:tc>
                  <a:txBody>
                    <a:bodyPr/>
                    <a:lstStyle/>
                    <a:p>
                      <a:r>
                        <a:rPr lang="en-US" sz="2800" dirty="0">
                          <a:solidFill>
                            <a:schemeClr val="tx1"/>
                          </a:solidFill>
                        </a:rPr>
                        <a:t>SGST</a:t>
                      </a:r>
                      <a:endParaRPr lang="en-IN" sz="2800" dirty="0">
                        <a:solidFill>
                          <a:schemeClr val="tx1"/>
                        </a:solidFill>
                      </a:endParaRPr>
                    </a:p>
                  </a:txBody>
                  <a:tcPr/>
                </a:tc>
                <a:tc>
                  <a:txBody>
                    <a:bodyPr/>
                    <a:lstStyle/>
                    <a:p>
                      <a:r>
                        <a:rPr lang="en-US" sz="2800" dirty="0">
                          <a:solidFill>
                            <a:schemeClr val="tx1"/>
                          </a:solidFill>
                        </a:rPr>
                        <a:t>State Government &amp; </a:t>
                      </a:r>
                      <a:r>
                        <a:rPr lang="en-US" sz="2800" dirty="0"/>
                        <a:t>Union Territories with state legislatures</a:t>
                      </a:r>
                      <a:endParaRPr lang="en-IN" sz="2800" dirty="0">
                        <a:solidFill>
                          <a:schemeClr val="tx1"/>
                        </a:solidFill>
                      </a:endParaRPr>
                    </a:p>
                  </a:txBody>
                  <a:tcPr/>
                </a:tc>
                <a:tc vMerge="1">
                  <a:txBody>
                    <a:bodyPr/>
                    <a:lstStyle/>
                    <a:p>
                      <a:endParaRPr lang="en-IN" sz="2400" dirty="0">
                        <a:solidFill>
                          <a:schemeClr val="tx1"/>
                        </a:solidFill>
                      </a:endParaRPr>
                    </a:p>
                  </a:txBody>
                  <a:tcPr/>
                </a:tc>
                <a:extLst>
                  <a:ext uri="{0D108BD9-81ED-4DB2-BD59-A6C34878D82A}">
                    <a16:rowId xmlns:a16="http://schemas.microsoft.com/office/drawing/2014/main" val="3191752007"/>
                  </a:ext>
                </a:extLst>
              </a:tr>
              <a:tr h="370840">
                <a:tc>
                  <a:txBody>
                    <a:bodyPr/>
                    <a:lstStyle/>
                    <a:p>
                      <a:r>
                        <a:rPr lang="en-US" sz="2800" dirty="0">
                          <a:solidFill>
                            <a:schemeClr val="tx1"/>
                          </a:solidFill>
                        </a:rPr>
                        <a:t>UTGST</a:t>
                      </a:r>
                      <a:endParaRPr lang="en-IN" sz="28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Union Territories without state legislatures</a:t>
                      </a:r>
                    </a:p>
                  </a:txBody>
                  <a:tcPr/>
                </a:tc>
                <a:tc vMerge="1">
                  <a:txBody>
                    <a:bodyPr/>
                    <a:lstStyle/>
                    <a:p>
                      <a:endParaRPr lang="en-IN" sz="2400" dirty="0">
                        <a:solidFill>
                          <a:schemeClr val="tx1"/>
                        </a:solidFill>
                      </a:endParaRPr>
                    </a:p>
                  </a:txBody>
                  <a:tcPr/>
                </a:tc>
                <a:extLst>
                  <a:ext uri="{0D108BD9-81ED-4DB2-BD59-A6C34878D82A}">
                    <a16:rowId xmlns:a16="http://schemas.microsoft.com/office/drawing/2014/main" val="3710189435"/>
                  </a:ext>
                </a:extLst>
              </a:tr>
              <a:tr h="370840">
                <a:tc>
                  <a:txBody>
                    <a:bodyPr/>
                    <a:lstStyle/>
                    <a:p>
                      <a:r>
                        <a:rPr lang="en-US" sz="2800" dirty="0">
                          <a:solidFill>
                            <a:schemeClr val="tx1"/>
                          </a:solidFill>
                        </a:rPr>
                        <a:t>IGST</a:t>
                      </a:r>
                      <a:endParaRPr lang="en-IN" sz="2800" dirty="0">
                        <a:solidFill>
                          <a:schemeClr val="tx1"/>
                        </a:solidFill>
                      </a:endParaRPr>
                    </a:p>
                  </a:txBody>
                  <a:tcPr/>
                </a:tc>
                <a:tc>
                  <a:txBody>
                    <a:bodyPr/>
                    <a:lstStyle/>
                    <a:p>
                      <a:r>
                        <a:rPr lang="en-US" sz="2800" dirty="0">
                          <a:solidFill>
                            <a:schemeClr val="tx1"/>
                          </a:solidFill>
                        </a:rPr>
                        <a:t>Central Government</a:t>
                      </a:r>
                      <a:endParaRPr lang="en-IN" sz="2800" dirty="0">
                        <a:solidFill>
                          <a:schemeClr val="tx1"/>
                        </a:solidFill>
                      </a:endParaRPr>
                    </a:p>
                  </a:txBody>
                  <a:tcPr/>
                </a:tc>
                <a:tc>
                  <a:txBody>
                    <a:bodyPr/>
                    <a:lstStyle/>
                    <a:p>
                      <a:pPr algn="ctr"/>
                      <a:r>
                        <a:rPr lang="en-US" sz="2800" dirty="0">
                          <a:solidFill>
                            <a:schemeClr val="tx1"/>
                          </a:solidFill>
                        </a:rPr>
                        <a:t>Inter-state Supply</a:t>
                      </a:r>
                      <a:endParaRPr lang="en-IN" sz="2800" dirty="0">
                        <a:solidFill>
                          <a:schemeClr val="tx1"/>
                        </a:solidFill>
                      </a:endParaRPr>
                    </a:p>
                  </a:txBody>
                  <a:tcPr anchor="ctr"/>
                </a:tc>
                <a:extLst>
                  <a:ext uri="{0D108BD9-81ED-4DB2-BD59-A6C34878D82A}">
                    <a16:rowId xmlns:a16="http://schemas.microsoft.com/office/drawing/2014/main" val="3609681390"/>
                  </a:ext>
                </a:extLst>
              </a:tr>
            </a:tbl>
          </a:graphicData>
        </a:graphic>
      </p:graphicFrame>
    </p:spTree>
    <p:extLst>
      <p:ext uri="{BB962C8B-B14F-4D97-AF65-F5344CB8AC3E}">
        <p14:creationId xmlns:p14="http://schemas.microsoft.com/office/powerpoint/2010/main" val="173936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33896" y="347054"/>
            <a:ext cx="10515600" cy="1325563"/>
          </a:xfrm>
        </p:spPr>
        <p:txBody>
          <a:bodyPr/>
          <a:lstStyle/>
          <a:p>
            <a:r>
              <a:rPr lang="en-US" b="1" dirty="0">
                <a:latin typeface="Times New Roman" panose="02020603050405020304" pitchFamily="18" charset="0"/>
                <a:cs typeface="Times New Roman" panose="02020603050405020304" pitchFamily="18" charset="0"/>
              </a:rPr>
              <a:t>How GST works ?</a:t>
            </a:r>
          </a:p>
        </p:txBody>
      </p:sp>
      <p:grpSp>
        <p:nvGrpSpPr>
          <p:cNvPr id="4" name="Group 3"/>
          <p:cNvGrpSpPr/>
          <p:nvPr/>
        </p:nvGrpSpPr>
        <p:grpSpPr>
          <a:xfrm>
            <a:off x="1091720" y="1931619"/>
            <a:ext cx="2427802" cy="377648"/>
            <a:chOff x="283236" y="944122"/>
            <a:chExt cx="1935450" cy="377648"/>
          </a:xfrm>
        </p:grpSpPr>
        <p:sp>
          <p:nvSpPr>
            <p:cNvPr id="148" name="Rounded Rectangle 1"/>
            <p:cNvSpPr/>
            <p:nvPr/>
          </p:nvSpPr>
          <p:spPr>
            <a:xfrm>
              <a:off x="283236" y="944122"/>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9" name="Rounded Rectangle 2"/>
            <p:cNvSpPr/>
            <p:nvPr/>
          </p:nvSpPr>
          <p:spPr>
            <a:xfrm>
              <a:off x="283236" y="944122"/>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1088758" y="2403966"/>
            <a:ext cx="2427802" cy="660885"/>
            <a:chOff x="283236" y="1416183"/>
            <a:chExt cx="1935450" cy="660885"/>
          </a:xfrm>
        </p:grpSpPr>
        <p:sp>
          <p:nvSpPr>
            <p:cNvPr id="146" name="Rounded Rectangle 4"/>
            <p:cNvSpPr/>
            <p:nvPr/>
          </p:nvSpPr>
          <p:spPr>
            <a:xfrm>
              <a:off x="283236" y="1416183"/>
              <a:ext cx="1935450" cy="660885"/>
            </a:xfrm>
            <a:custGeom>
              <a:avLst/>
              <a:gdLst/>
              <a:ahLst/>
              <a:cxnLst/>
              <a:rect l="0" t="0" r="0" b="0"/>
              <a:pathLst>
                <a:path w="1935450" h="660885">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566473"/>
                  </a:moveTo>
                  <a:lnTo>
                    <a:pt x="0" y="566473"/>
                  </a:lnTo>
                  <a:lnTo>
                    <a:pt x="0" y="94412"/>
                  </a:lnTo>
                  <a:lnTo>
                    <a:pt x="1935450" y="94412"/>
                  </a:lnTo>
                  <a:close/>
                  <a:moveTo>
                    <a:pt x="0" y="566473"/>
                  </a:moveTo>
                  <a:lnTo>
                    <a:pt x="94412" y="566473"/>
                  </a:lnTo>
                  <a:lnTo>
                    <a:pt x="94412" y="660885"/>
                  </a:lnTo>
                  <a:lnTo>
                    <a:pt x="47206" y="660885"/>
                  </a:lnTo>
                  <a:cubicBezTo>
                    <a:pt x="21134" y="660885"/>
                    <a:pt x="0" y="639750"/>
                    <a:pt x="0" y="613679"/>
                  </a:cubicBezTo>
                  <a:close/>
                  <a:moveTo>
                    <a:pt x="94412" y="660885"/>
                  </a:moveTo>
                  <a:lnTo>
                    <a:pt x="94412" y="566473"/>
                  </a:lnTo>
                  <a:lnTo>
                    <a:pt x="1841038" y="566473"/>
                  </a:lnTo>
                  <a:lnTo>
                    <a:pt x="1841038" y="660885"/>
                  </a:lnTo>
                  <a:close/>
                  <a:moveTo>
                    <a:pt x="1841038" y="660885"/>
                  </a:moveTo>
                  <a:lnTo>
                    <a:pt x="1841038" y="566473"/>
                  </a:lnTo>
                  <a:lnTo>
                    <a:pt x="1935450" y="566473"/>
                  </a:lnTo>
                  <a:lnTo>
                    <a:pt x="1935450" y="613679"/>
                  </a:lnTo>
                  <a:cubicBezTo>
                    <a:pt x="1935450" y="639750"/>
                    <a:pt x="1914315" y="660885"/>
                    <a:pt x="1888244" y="660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7" name="Rounded Rectangle 5"/>
            <p:cNvSpPr/>
            <p:nvPr/>
          </p:nvSpPr>
          <p:spPr>
            <a:xfrm>
              <a:off x="283236" y="1416183"/>
              <a:ext cx="1935450" cy="660885"/>
            </a:xfrm>
            <a:custGeom>
              <a:avLst/>
              <a:gdLst/>
              <a:ahLst/>
              <a:cxnLst/>
              <a:rect l="0" t="0" r="0" b="0"/>
              <a:pathLst>
                <a:path w="1935450" h="660885">
                  <a:moveTo>
                    <a:pt x="0" y="94412"/>
                  </a:moveTo>
                  <a:lnTo>
                    <a:pt x="0" y="47206"/>
                  </a:lnTo>
                  <a:cubicBezTo>
                    <a:pt x="0" y="21134"/>
                    <a:pt x="21134" y="0"/>
                    <a:pt x="47206" y="0"/>
                  </a:cubicBezTo>
                  <a:lnTo>
                    <a:pt x="94412" y="0"/>
                  </a:lnTo>
                  <a:moveTo>
                    <a:pt x="1935450" y="94412"/>
                  </a:moveTo>
                  <a:lnTo>
                    <a:pt x="1935450" y="566473"/>
                  </a:lnTo>
                  <a:moveTo>
                    <a:pt x="0" y="566473"/>
                  </a:moveTo>
                  <a:lnTo>
                    <a:pt x="0" y="94412"/>
                  </a:lnTo>
                  <a:moveTo>
                    <a:pt x="94412" y="0"/>
                  </a:moveTo>
                  <a:lnTo>
                    <a:pt x="1841038" y="0"/>
                  </a:lnTo>
                  <a:moveTo>
                    <a:pt x="94412" y="660885"/>
                  </a:moveTo>
                  <a:lnTo>
                    <a:pt x="47206" y="660885"/>
                  </a:lnTo>
                  <a:cubicBezTo>
                    <a:pt x="21134" y="660885"/>
                    <a:pt x="0" y="639750"/>
                    <a:pt x="0" y="613679"/>
                  </a:cubicBezTo>
                  <a:lnTo>
                    <a:pt x="0" y="566473"/>
                  </a:lnTo>
                  <a:moveTo>
                    <a:pt x="1841038" y="0"/>
                  </a:moveTo>
                  <a:lnTo>
                    <a:pt x="1888244" y="0"/>
                  </a:lnTo>
                  <a:cubicBezTo>
                    <a:pt x="1914315" y="0"/>
                    <a:pt x="1935450" y="21134"/>
                    <a:pt x="1935450" y="47206"/>
                  </a:cubicBezTo>
                  <a:lnTo>
                    <a:pt x="1935450" y="94412"/>
                  </a:lnTo>
                  <a:moveTo>
                    <a:pt x="1841038" y="660885"/>
                  </a:moveTo>
                  <a:lnTo>
                    <a:pt x="94412" y="660885"/>
                  </a:lnTo>
                  <a:moveTo>
                    <a:pt x="1935450" y="566473"/>
                  </a:moveTo>
                  <a:lnTo>
                    <a:pt x="1935450" y="613679"/>
                  </a:lnTo>
                  <a:cubicBezTo>
                    <a:pt x="1935450" y="639750"/>
                    <a:pt x="1914315" y="660885"/>
                    <a:pt x="1888244" y="660885"/>
                  </a:cubicBezTo>
                  <a:lnTo>
                    <a:pt x="1841038" y="660885"/>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1088758" y="3159264"/>
            <a:ext cx="2427802" cy="377648"/>
            <a:chOff x="283236" y="2171481"/>
            <a:chExt cx="1935450" cy="377648"/>
          </a:xfrm>
        </p:grpSpPr>
        <p:sp>
          <p:nvSpPr>
            <p:cNvPr id="144" name="Rounded Rectangle 7"/>
            <p:cNvSpPr/>
            <p:nvPr/>
          </p:nvSpPr>
          <p:spPr>
            <a:xfrm>
              <a:off x="283236" y="2171481"/>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5" name="Rounded Rectangle 8"/>
            <p:cNvSpPr/>
            <p:nvPr/>
          </p:nvSpPr>
          <p:spPr>
            <a:xfrm>
              <a:off x="283236" y="2171481"/>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1088758" y="3631325"/>
            <a:ext cx="2427802" cy="377648"/>
            <a:chOff x="283236" y="2643542"/>
            <a:chExt cx="1935450" cy="377648"/>
          </a:xfrm>
        </p:grpSpPr>
        <p:sp>
          <p:nvSpPr>
            <p:cNvPr id="142" name="Rounded Rectangle 10"/>
            <p:cNvSpPr/>
            <p:nvPr/>
          </p:nvSpPr>
          <p:spPr>
            <a:xfrm>
              <a:off x="283236" y="2643542"/>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3" name="Rounded Rectangle 11"/>
            <p:cNvSpPr/>
            <p:nvPr/>
          </p:nvSpPr>
          <p:spPr>
            <a:xfrm>
              <a:off x="283236" y="2643542"/>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1088758" y="4103386"/>
            <a:ext cx="2427802" cy="377648"/>
            <a:chOff x="283236" y="3115603"/>
            <a:chExt cx="1935450" cy="377648"/>
          </a:xfrm>
        </p:grpSpPr>
        <p:sp>
          <p:nvSpPr>
            <p:cNvPr id="140" name="Rounded Rectangle 13"/>
            <p:cNvSpPr/>
            <p:nvPr/>
          </p:nvSpPr>
          <p:spPr>
            <a:xfrm>
              <a:off x="283236" y="3115603"/>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1" name="Rounded Rectangle 14"/>
            <p:cNvSpPr/>
            <p:nvPr/>
          </p:nvSpPr>
          <p:spPr>
            <a:xfrm>
              <a:off x="283236" y="3115603"/>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1088758" y="4575448"/>
            <a:ext cx="2427802" cy="377648"/>
            <a:chOff x="283236" y="3587665"/>
            <a:chExt cx="1935450" cy="377648"/>
          </a:xfrm>
        </p:grpSpPr>
        <p:sp>
          <p:nvSpPr>
            <p:cNvPr id="138" name="Rounded Rectangle 16"/>
            <p:cNvSpPr/>
            <p:nvPr/>
          </p:nvSpPr>
          <p:spPr>
            <a:xfrm>
              <a:off x="283236" y="3587665"/>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9" name="Rounded Rectangle 17"/>
            <p:cNvSpPr/>
            <p:nvPr/>
          </p:nvSpPr>
          <p:spPr>
            <a:xfrm>
              <a:off x="283236" y="3587665"/>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1088758" y="5047509"/>
            <a:ext cx="2427802" cy="377648"/>
            <a:chOff x="283236" y="4059726"/>
            <a:chExt cx="1935450" cy="377648"/>
          </a:xfrm>
        </p:grpSpPr>
        <p:sp>
          <p:nvSpPr>
            <p:cNvPr id="136" name="Rounded Rectangle 19"/>
            <p:cNvSpPr/>
            <p:nvPr/>
          </p:nvSpPr>
          <p:spPr>
            <a:xfrm>
              <a:off x="283236" y="4059726"/>
              <a:ext cx="1935450" cy="377648"/>
            </a:xfrm>
            <a:custGeom>
              <a:avLst/>
              <a:gdLst/>
              <a:ahLst/>
              <a:cxnLst/>
              <a:rect l="0" t="0" r="0" b="0"/>
              <a:pathLst>
                <a:path w="1935450" h="377648">
                  <a:moveTo>
                    <a:pt x="0" y="47206"/>
                  </a:moveTo>
                  <a:cubicBezTo>
                    <a:pt x="0" y="21134"/>
                    <a:pt x="21134" y="0"/>
                    <a:pt x="47206" y="0"/>
                  </a:cubicBezTo>
                  <a:lnTo>
                    <a:pt x="94412" y="0"/>
                  </a:lnTo>
                  <a:lnTo>
                    <a:pt x="94412" y="94412"/>
                  </a:lnTo>
                  <a:lnTo>
                    <a:pt x="0" y="94412"/>
                  </a:lnTo>
                  <a:close/>
                  <a:moveTo>
                    <a:pt x="1841038" y="0"/>
                  </a:moveTo>
                  <a:lnTo>
                    <a:pt x="1841038" y="94412"/>
                  </a:lnTo>
                  <a:lnTo>
                    <a:pt x="94412" y="94412"/>
                  </a:lnTo>
                  <a:lnTo>
                    <a:pt x="94412" y="0"/>
                  </a:lnTo>
                  <a:close/>
                  <a:moveTo>
                    <a:pt x="1935450" y="94412"/>
                  </a:moveTo>
                  <a:lnTo>
                    <a:pt x="1841038" y="94412"/>
                  </a:lnTo>
                  <a:lnTo>
                    <a:pt x="1841038" y="0"/>
                  </a:lnTo>
                  <a:lnTo>
                    <a:pt x="1888244" y="0"/>
                  </a:lnTo>
                  <a:cubicBezTo>
                    <a:pt x="1914315" y="0"/>
                    <a:pt x="1935450" y="21134"/>
                    <a:pt x="1935450" y="47206"/>
                  </a:cubicBezTo>
                  <a:close/>
                  <a:moveTo>
                    <a:pt x="1935450" y="283236"/>
                  </a:moveTo>
                  <a:lnTo>
                    <a:pt x="0" y="283236"/>
                  </a:lnTo>
                  <a:lnTo>
                    <a:pt x="0" y="94412"/>
                  </a:lnTo>
                  <a:lnTo>
                    <a:pt x="1935450"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841038" y="283236"/>
                  </a:lnTo>
                  <a:lnTo>
                    <a:pt x="1841038" y="377648"/>
                  </a:lnTo>
                  <a:close/>
                  <a:moveTo>
                    <a:pt x="1841038" y="377648"/>
                  </a:moveTo>
                  <a:lnTo>
                    <a:pt x="1841038" y="283236"/>
                  </a:lnTo>
                  <a:lnTo>
                    <a:pt x="1935450" y="283236"/>
                  </a:lnTo>
                  <a:lnTo>
                    <a:pt x="1935450" y="330442"/>
                  </a:lnTo>
                  <a:cubicBezTo>
                    <a:pt x="1935450" y="356513"/>
                    <a:pt x="1914315" y="377648"/>
                    <a:pt x="1888244" y="37764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7" name="Rounded Rectangle 20"/>
            <p:cNvSpPr/>
            <p:nvPr/>
          </p:nvSpPr>
          <p:spPr>
            <a:xfrm>
              <a:off x="283236" y="4059726"/>
              <a:ext cx="1935450" cy="377648"/>
            </a:xfrm>
            <a:custGeom>
              <a:avLst/>
              <a:gdLst/>
              <a:ahLst/>
              <a:cxnLst/>
              <a:rect l="0" t="0" r="0" b="0"/>
              <a:pathLst>
                <a:path w="1935450" h="377648">
                  <a:moveTo>
                    <a:pt x="0" y="94412"/>
                  </a:moveTo>
                  <a:lnTo>
                    <a:pt x="0" y="47206"/>
                  </a:lnTo>
                  <a:cubicBezTo>
                    <a:pt x="0" y="21134"/>
                    <a:pt x="21134" y="0"/>
                    <a:pt x="47206" y="0"/>
                  </a:cubicBezTo>
                  <a:lnTo>
                    <a:pt x="94412" y="0"/>
                  </a:lnTo>
                  <a:moveTo>
                    <a:pt x="1935450" y="283236"/>
                  </a:moveTo>
                  <a:lnTo>
                    <a:pt x="1935450" y="94412"/>
                  </a:lnTo>
                  <a:moveTo>
                    <a:pt x="0" y="283236"/>
                  </a:moveTo>
                  <a:lnTo>
                    <a:pt x="0" y="94412"/>
                  </a:lnTo>
                  <a:moveTo>
                    <a:pt x="94412" y="0"/>
                  </a:moveTo>
                  <a:lnTo>
                    <a:pt x="1841038" y="0"/>
                  </a:lnTo>
                  <a:moveTo>
                    <a:pt x="94412" y="377648"/>
                  </a:moveTo>
                  <a:lnTo>
                    <a:pt x="47206" y="377648"/>
                  </a:lnTo>
                  <a:cubicBezTo>
                    <a:pt x="21134" y="377648"/>
                    <a:pt x="0" y="356513"/>
                    <a:pt x="0" y="330442"/>
                  </a:cubicBezTo>
                  <a:lnTo>
                    <a:pt x="0" y="283236"/>
                  </a:lnTo>
                  <a:moveTo>
                    <a:pt x="1841038" y="0"/>
                  </a:moveTo>
                  <a:lnTo>
                    <a:pt x="1888244" y="0"/>
                  </a:lnTo>
                  <a:cubicBezTo>
                    <a:pt x="1914315" y="0"/>
                    <a:pt x="1935450" y="21134"/>
                    <a:pt x="1935450" y="47206"/>
                  </a:cubicBezTo>
                  <a:lnTo>
                    <a:pt x="1935450" y="94412"/>
                  </a:lnTo>
                  <a:moveTo>
                    <a:pt x="1841038" y="377648"/>
                  </a:moveTo>
                  <a:lnTo>
                    <a:pt x="94412" y="377648"/>
                  </a:lnTo>
                  <a:moveTo>
                    <a:pt x="1935450" y="283236"/>
                  </a:moveTo>
                  <a:lnTo>
                    <a:pt x="1935450" y="330442"/>
                  </a:lnTo>
                  <a:cubicBezTo>
                    <a:pt x="1935450" y="356513"/>
                    <a:pt x="1914315" y="377648"/>
                    <a:pt x="1888244" y="377648"/>
                  </a:cubicBezTo>
                  <a:lnTo>
                    <a:pt x="1841038"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3589381" y="1946552"/>
            <a:ext cx="1780549" cy="377648"/>
            <a:chOff x="2313099" y="944122"/>
            <a:chExt cx="1321771" cy="377648"/>
          </a:xfrm>
        </p:grpSpPr>
        <p:sp>
          <p:nvSpPr>
            <p:cNvPr id="134" name="Rounded Rectangle 22"/>
            <p:cNvSpPr/>
            <p:nvPr/>
          </p:nvSpPr>
          <p:spPr>
            <a:xfrm>
              <a:off x="2313099" y="94412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5" name="Rounded Rectangle 23"/>
            <p:cNvSpPr/>
            <p:nvPr/>
          </p:nvSpPr>
          <p:spPr>
            <a:xfrm>
              <a:off x="2313099" y="94412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3586046" y="2403966"/>
            <a:ext cx="1783885" cy="660885"/>
            <a:chOff x="2313099" y="1416183"/>
            <a:chExt cx="1321771" cy="660885"/>
          </a:xfrm>
        </p:grpSpPr>
        <p:sp>
          <p:nvSpPr>
            <p:cNvPr id="132" name="Rounded Rectangle 25"/>
            <p:cNvSpPr/>
            <p:nvPr/>
          </p:nvSpPr>
          <p:spPr>
            <a:xfrm>
              <a:off x="2313099" y="1416183"/>
              <a:ext cx="1321771" cy="660885"/>
            </a:xfrm>
            <a:custGeom>
              <a:avLst/>
              <a:gdLst/>
              <a:ahLst/>
              <a:cxnLst/>
              <a:rect l="0" t="0" r="0" b="0"/>
              <a:pathLst>
                <a:path w="1321771" h="660885">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566473"/>
                  </a:moveTo>
                  <a:lnTo>
                    <a:pt x="0" y="566473"/>
                  </a:lnTo>
                  <a:lnTo>
                    <a:pt x="0" y="94412"/>
                  </a:lnTo>
                  <a:lnTo>
                    <a:pt x="1321771" y="94412"/>
                  </a:lnTo>
                  <a:close/>
                  <a:moveTo>
                    <a:pt x="0" y="566473"/>
                  </a:moveTo>
                  <a:lnTo>
                    <a:pt x="94412" y="566473"/>
                  </a:lnTo>
                  <a:lnTo>
                    <a:pt x="94412" y="660885"/>
                  </a:lnTo>
                  <a:lnTo>
                    <a:pt x="47206" y="660885"/>
                  </a:lnTo>
                  <a:cubicBezTo>
                    <a:pt x="21134" y="660885"/>
                    <a:pt x="0" y="639750"/>
                    <a:pt x="0" y="613679"/>
                  </a:cubicBezTo>
                  <a:close/>
                  <a:moveTo>
                    <a:pt x="94412" y="660885"/>
                  </a:moveTo>
                  <a:lnTo>
                    <a:pt x="94412" y="566473"/>
                  </a:lnTo>
                  <a:lnTo>
                    <a:pt x="1227359" y="566473"/>
                  </a:lnTo>
                  <a:lnTo>
                    <a:pt x="1227359" y="660885"/>
                  </a:lnTo>
                  <a:close/>
                  <a:moveTo>
                    <a:pt x="1227359" y="660885"/>
                  </a:moveTo>
                  <a:lnTo>
                    <a:pt x="1227359" y="566473"/>
                  </a:lnTo>
                  <a:lnTo>
                    <a:pt x="1321771" y="566473"/>
                  </a:lnTo>
                  <a:lnTo>
                    <a:pt x="1321771" y="613679"/>
                  </a:lnTo>
                  <a:cubicBezTo>
                    <a:pt x="1321771" y="639750"/>
                    <a:pt x="1300636" y="660885"/>
                    <a:pt x="1274565" y="660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3" name="Rounded Rectangle 26"/>
            <p:cNvSpPr/>
            <p:nvPr/>
          </p:nvSpPr>
          <p:spPr>
            <a:xfrm>
              <a:off x="2313099" y="1416183"/>
              <a:ext cx="1321771" cy="660885"/>
            </a:xfrm>
            <a:custGeom>
              <a:avLst/>
              <a:gdLst/>
              <a:ahLst/>
              <a:cxnLst/>
              <a:rect l="0" t="0" r="0" b="0"/>
              <a:pathLst>
                <a:path w="1321771" h="660885">
                  <a:moveTo>
                    <a:pt x="0" y="94412"/>
                  </a:moveTo>
                  <a:lnTo>
                    <a:pt x="0" y="47206"/>
                  </a:lnTo>
                  <a:cubicBezTo>
                    <a:pt x="0" y="21134"/>
                    <a:pt x="21134" y="0"/>
                    <a:pt x="47206" y="0"/>
                  </a:cubicBezTo>
                  <a:lnTo>
                    <a:pt x="94412" y="0"/>
                  </a:lnTo>
                  <a:moveTo>
                    <a:pt x="1321771" y="94412"/>
                  </a:moveTo>
                  <a:lnTo>
                    <a:pt x="1321771" y="566473"/>
                  </a:lnTo>
                  <a:moveTo>
                    <a:pt x="0" y="566473"/>
                  </a:moveTo>
                  <a:lnTo>
                    <a:pt x="0" y="94412"/>
                  </a:lnTo>
                  <a:moveTo>
                    <a:pt x="94412" y="0"/>
                  </a:moveTo>
                  <a:lnTo>
                    <a:pt x="1227359" y="0"/>
                  </a:lnTo>
                  <a:moveTo>
                    <a:pt x="94412" y="660885"/>
                  </a:moveTo>
                  <a:lnTo>
                    <a:pt x="47206" y="660885"/>
                  </a:lnTo>
                  <a:cubicBezTo>
                    <a:pt x="21134" y="660885"/>
                    <a:pt x="0" y="639750"/>
                    <a:pt x="0" y="613679"/>
                  </a:cubicBezTo>
                  <a:lnTo>
                    <a:pt x="0" y="566473"/>
                  </a:lnTo>
                  <a:moveTo>
                    <a:pt x="1227359" y="0"/>
                  </a:moveTo>
                  <a:lnTo>
                    <a:pt x="1274565" y="0"/>
                  </a:lnTo>
                  <a:cubicBezTo>
                    <a:pt x="1300636" y="0"/>
                    <a:pt x="1321771" y="21134"/>
                    <a:pt x="1321771" y="47206"/>
                  </a:cubicBezTo>
                  <a:lnTo>
                    <a:pt x="1321771" y="94412"/>
                  </a:lnTo>
                  <a:moveTo>
                    <a:pt x="1227359" y="660885"/>
                  </a:moveTo>
                  <a:lnTo>
                    <a:pt x="94412" y="660885"/>
                  </a:lnTo>
                  <a:moveTo>
                    <a:pt x="1321771" y="566473"/>
                  </a:moveTo>
                  <a:lnTo>
                    <a:pt x="1321771" y="613679"/>
                  </a:lnTo>
                  <a:cubicBezTo>
                    <a:pt x="1321771" y="639750"/>
                    <a:pt x="1300636" y="660885"/>
                    <a:pt x="1274565" y="660885"/>
                  </a:cubicBezTo>
                  <a:lnTo>
                    <a:pt x="1227359" y="660885"/>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3586046" y="3159264"/>
            <a:ext cx="1783885" cy="377648"/>
            <a:chOff x="2313099" y="2171481"/>
            <a:chExt cx="1321771" cy="377648"/>
          </a:xfrm>
        </p:grpSpPr>
        <p:sp>
          <p:nvSpPr>
            <p:cNvPr id="130" name="Rounded Rectangle 28"/>
            <p:cNvSpPr/>
            <p:nvPr/>
          </p:nvSpPr>
          <p:spPr>
            <a:xfrm>
              <a:off x="2313099" y="2171481"/>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1" name="Rounded Rectangle 29"/>
            <p:cNvSpPr/>
            <p:nvPr/>
          </p:nvSpPr>
          <p:spPr>
            <a:xfrm>
              <a:off x="2313099" y="2171481"/>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4" name="Group 13"/>
          <p:cNvGrpSpPr/>
          <p:nvPr/>
        </p:nvGrpSpPr>
        <p:grpSpPr>
          <a:xfrm>
            <a:off x="3586046" y="3631325"/>
            <a:ext cx="1783885" cy="377648"/>
            <a:chOff x="2313099" y="2643542"/>
            <a:chExt cx="1321771" cy="377648"/>
          </a:xfrm>
        </p:grpSpPr>
        <p:sp>
          <p:nvSpPr>
            <p:cNvPr id="128" name="Rounded Rectangle 31"/>
            <p:cNvSpPr/>
            <p:nvPr/>
          </p:nvSpPr>
          <p:spPr>
            <a:xfrm>
              <a:off x="2313099" y="264354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9" name="Rounded Rectangle 32"/>
            <p:cNvSpPr/>
            <p:nvPr/>
          </p:nvSpPr>
          <p:spPr>
            <a:xfrm>
              <a:off x="2313099" y="264354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3586046" y="4103386"/>
            <a:ext cx="1783885" cy="377648"/>
            <a:chOff x="2313099" y="3115603"/>
            <a:chExt cx="1321771" cy="377648"/>
          </a:xfrm>
        </p:grpSpPr>
        <p:sp>
          <p:nvSpPr>
            <p:cNvPr id="126" name="Rounded Rectangle 34"/>
            <p:cNvSpPr/>
            <p:nvPr/>
          </p:nvSpPr>
          <p:spPr>
            <a:xfrm>
              <a:off x="2313099" y="3115603"/>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7" name="Rounded Rectangle 35"/>
            <p:cNvSpPr/>
            <p:nvPr/>
          </p:nvSpPr>
          <p:spPr>
            <a:xfrm>
              <a:off x="2313099" y="3115603"/>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6" name="Group 15"/>
          <p:cNvGrpSpPr/>
          <p:nvPr/>
        </p:nvGrpSpPr>
        <p:grpSpPr>
          <a:xfrm>
            <a:off x="3586046" y="4575448"/>
            <a:ext cx="1783885" cy="377648"/>
            <a:chOff x="2313099" y="3587665"/>
            <a:chExt cx="1321771" cy="377648"/>
          </a:xfrm>
        </p:grpSpPr>
        <p:sp>
          <p:nvSpPr>
            <p:cNvPr id="124" name="Rounded Rectangle 37"/>
            <p:cNvSpPr/>
            <p:nvPr/>
          </p:nvSpPr>
          <p:spPr>
            <a:xfrm>
              <a:off x="2313099" y="3587665"/>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5" name="Rounded Rectangle 38"/>
            <p:cNvSpPr/>
            <p:nvPr/>
          </p:nvSpPr>
          <p:spPr>
            <a:xfrm>
              <a:off x="2313099" y="3587665"/>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7" name="Group 16"/>
          <p:cNvGrpSpPr/>
          <p:nvPr/>
        </p:nvGrpSpPr>
        <p:grpSpPr>
          <a:xfrm>
            <a:off x="3586046" y="5047509"/>
            <a:ext cx="1783885" cy="377648"/>
            <a:chOff x="2313099" y="4059726"/>
            <a:chExt cx="1321771" cy="377648"/>
          </a:xfrm>
        </p:grpSpPr>
        <p:sp>
          <p:nvSpPr>
            <p:cNvPr id="122" name="Rounded Rectangle 40"/>
            <p:cNvSpPr/>
            <p:nvPr/>
          </p:nvSpPr>
          <p:spPr>
            <a:xfrm>
              <a:off x="2313099" y="4059726"/>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3" name="Rounded Rectangle 41"/>
            <p:cNvSpPr/>
            <p:nvPr/>
          </p:nvSpPr>
          <p:spPr>
            <a:xfrm>
              <a:off x="2313099" y="4059726"/>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8" name="Group 17"/>
          <p:cNvGrpSpPr/>
          <p:nvPr/>
        </p:nvGrpSpPr>
        <p:grpSpPr>
          <a:xfrm>
            <a:off x="5450278" y="1929841"/>
            <a:ext cx="1878174" cy="377648"/>
            <a:chOff x="3729283" y="944122"/>
            <a:chExt cx="1321771" cy="377648"/>
          </a:xfrm>
        </p:grpSpPr>
        <p:sp>
          <p:nvSpPr>
            <p:cNvPr id="120" name="Rounded Rectangle 43"/>
            <p:cNvSpPr/>
            <p:nvPr/>
          </p:nvSpPr>
          <p:spPr>
            <a:xfrm>
              <a:off x="3729283" y="94412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1" name="Rounded Rectangle 44"/>
            <p:cNvSpPr/>
            <p:nvPr/>
          </p:nvSpPr>
          <p:spPr>
            <a:xfrm>
              <a:off x="3729283" y="94412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9" name="Group 18"/>
          <p:cNvGrpSpPr/>
          <p:nvPr/>
        </p:nvGrpSpPr>
        <p:grpSpPr>
          <a:xfrm>
            <a:off x="5450278" y="2401902"/>
            <a:ext cx="1878174" cy="660885"/>
            <a:chOff x="3729283" y="1416183"/>
            <a:chExt cx="1321771" cy="660885"/>
          </a:xfrm>
        </p:grpSpPr>
        <p:sp>
          <p:nvSpPr>
            <p:cNvPr id="118" name="Rounded Rectangle 46"/>
            <p:cNvSpPr/>
            <p:nvPr/>
          </p:nvSpPr>
          <p:spPr>
            <a:xfrm>
              <a:off x="3729283" y="1416183"/>
              <a:ext cx="1321771" cy="660885"/>
            </a:xfrm>
            <a:custGeom>
              <a:avLst/>
              <a:gdLst/>
              <a:ahLst/>
              <a:cxnLst/>
              <a:rect l="0" t="0" r="0" b="0"/>
              <a:pathLst>
                <a:path w="1321771" h="660885">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566473"/>
                  </a:moveTo>
                  <a:lnTo>
                    <a:pt x="0" y="566473"/>
                  </a:lnTo>
                  <a:lnTo>
                    <a:pt x="0" y="94412"/>
                  </a:lnTo>
                  <a:lnTo>
                    <a:pt x="1321771" y="94412"/>
                  </a:lnTo>
                  <a:close/>
                  <a:moveTo>
                    <a:pt x="0" y="566473"/>
                  </a:moveTo>
                  <a:lnTo>
                    <a:pt x="94412" y="566473"/>
                  </a:lnTo>
                  <a:lnTo>
                    <a:pt x="94412" y="660885"/>
                  </a:lnTo>
                  <a:lnTo>
                    <a:pt x="47206" y="660885"/>
                  </a:lnTo>
                  <a:cubicBezTo>
                    <a:pt x="21134" y="660885"/>
                    <a:pt x="0" y="639750"/>
                    <a:pt x="0" y="613679"/>
                  </a:cubicBezTo>
                  <a:close/>
                  <a:moveTo>
                    <a:pt x="94412" y="660885"/>
                  </a:moveTo>
                  <a:lnTo>
                    <a:pt x="94412" y="566473"/>
                  </a:lnTo>
                  <a:lnTo>
                    <a:pt x="1227359" y="566473"/>
                  </a:lnTo>
                  <a:lnTo>
                    <a:pt x="1227359" y="660885"/>
                  </a:lnTo>
                  <a:close/>
                  <a:moveTo>
                    <a:pt x="1227359" y="660885"/>
                  </a:moveTo>
                  <a:lnTo>
                    <a:pt x="1227359" y="566473"/>
                  </a:lnTo>
                  <a:lnTo>
                    <a:pt x="1321771" y="566473"/>
                  </a:lnTo>
                  <a:lnTo>
                    <a:pt x="1321771" y="613679"/>
                  </a:lnTo>
                  <a:cubicBezTo>
                    <a:pt x="1321771" y="639750"/>
                    <a:pt x="1300636" y="660885"/>
                    <a:pt x="1274565" y="660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9" name="Rounded Rectangle 47"/>
            <p:cNvSpPr/>
            <p:nvPr/>
          </p:nvSpPr>
          <p:spPr>
            <a:xfrm>
              <a:off x="3729283" y="1416183"/>
              <a:ext cx="1321771" cy="660885"/>
            </a:xfrm>
            <a:custGeom>
              <a:avLst/>
              <a:gdLst/>
              <a:ahLst/>
              <a:cxnLst/>
              <a:rect l="0" t="0" r="0" b="0"/>
              <a:pathLst>
                <a:path w="1321771" h="660885">
                  <a:moveTo>
                    <a:pt x="0" y="94412"/>
                  </a:moveTo>
                  <a:lnTo>
                    <a:pt x="0" y="47206"/>
                  </a:lnTo>
                  <a:cubicBezTo>
                    <a:pt x="0" y="21134"/>
                    <a:pt x="21134" y="0"/>
                    <a:pt x="47206" y="0"/>
                  </a:cubicBezTo>
                  <a:lnTo>
                    <a:pt x="94412" y="0"/>
                  </a:lnTo>
                  <a:moveTo>
                    <a:pt x="1321771" y="94412"/>
                  </a:moveTo>
                  <a:lnTo>
                    <a:pt x="1321771" y="566473"/>
                  </a:lnTo>
                  <a:moveTo>
                    <a:pt x="0" y="566473"/>
                  </a:moveTo>
                  <a:lnTo>
                    <a:pt x="0" y="94412"/>
                  </a:lnTo>
                  <a:moveTo>
                    <a:pt x="94412" y="0"/>
                  </a:moveTo>
                  <a:lnTo>
                    <a:pt x="1227359" y="0"/>
                  </a:lnTo>
                  <a:moveTo>
                    <a:pt x="94412" y="660885"/>
                  </a:moveTo>
                  <a:lnTo>
                    <a:pt x="47206" y="660885"/>
                  </a:lnTo>
                  <a:cubicBezTo>
                    <a:pt x="21134" y="660885"/>
                    <a:pt x="0" y="639750"/>
                    <a:pt x="0" y="613679"/>
                  </a:cubicBezTo>
                  <a:lnTo>
                    <a:pt x="0" y="566473"/>
                  </a:lnTo>
                  <a:moveTo>
                    <a:pt x="1227359" y="0"/>
                  </a:moveTo>
                  <a:lnTo>
                    <a:pt x="1274565" y="0"/>
                  </a:lnTo>
                  <a:cubicBezTo>
                    <a:pt x="1300636" y="0"/>
                    <a:pt x="1321771" y="21134"/>
                    <a:pt x="1321771" y="47206"/>
                  </a:cubicBezTo>
                  <a:lnTo>
                    <a:pt x="1321771" y="94412"/>
                  </a:lnTo>
                  <a:moveTo>
                    <a:pt x="1227359" y="660885"/>
                  </a:moveTo>
                  <a:lnTo>
                    <a:pt x="94412" y="660885"/>
                  </a:lnTo>
                  <a:moveTo>
                    <a:pt x="1321771" y="566473"/>
                  </a:moveTo>
                  <a:lnTo>
                    <a:pt x="1321771" y="613679"/>
                  </a:lnTo>
                  <a:cubicBezTo>
                    <a:pt x="1321771" y="639750"/>
                    <a:pt x="1300636" y="660885"/>
                    <a:pt x="1274565" y="660885"/>
                  </a:cubicBezTo>
                  <a:lnTo>
                    <a:pt x="1227359" y="660885"/>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0" name="Group 19"/>
          <p:cNvGrpSpPr/>
          <p:nvPr/>
        </p:nvGrpSpPr>
        <p:grpSpPr>
          <a:xfrm>
            <a:off x="5450278" y="3157200"/>
            <a:ext cx="1878174" cy="377648"/>
            <a:chOff x="3729283" y="2171481"/>
            <a:chExt cx="1321771" cy="377648"/>
          </a:xfrm>
        </p:grpSpPr>
        <p:sp>
          <p:nvSpPr>
            <p:cNvPr id="116" name="Rounded Rectangle 49"/>
            <p:cNvSpPr/>
            <p:nvPr/>
          </p:nvSpPr>
          <p:spPr>
            <a:xfrm>
              <a:off x="3729283" y="2171481"/>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7" name="Rounded Rectangle 50"/>
            <p:cNvSpPr/>
            <p:nvPr/>
          </p:nvSpPr>
          <p:spPr>
            <a:xfrm>
              <a:off x="3729283" y="2171481"/>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1" name="Group 20"/>
          <p:cNvGrpSpPr/>
          <p:nvPr/>
        </p:nvGrpSpPr>
        <p:grpSpPr>
          <a:xfrm>
            <a:off x="5450278" y="3629261"/>
            <a:ext cx="1878174" cy="377648"/>
            <a:chOff x="3729283" y="2643542"/>
            <a:chExt cx="1321771" cy="377648"/>
          </a:xfrm>
        </p:grpSpPr>
        <p:sp>
          <p:nvSpPr>
            <p:cNvPr id="114" name="Rounded Rectangle 52"/>
            <p:cNvSpPr/>
            <p:nvPr/>
          </p:nvSpPr>
          <p:spPr>
            <a:xfrm>
              <a:off x="3729283" y="264354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5" name="Rounded Rectangle 53"/>
            <p:cNvSpPr/>
            <p:nvPr/>
          </p:nvSpPr>
          <p:spPr>
            <a:xfrm>
              <a:off x="3729283" y="264354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2" name="Group 21"/>
          <p:cNvGrpSpPr/>
          <p:nvPr/>
        </p:nvGrpSpPr>
        <p:grpSpPr>
          <a:xfrm>
            <a:off x="5450278" y="4101322"/>
            <a:ext cx="1878174" cy="377648"/>
            <a:chOff x="3729283" y="3115603"/>
            <a:chExt cx="1321771" cy="377648"/>
          </a:xfrm>
        </p:grpSpPr>
        <p:sp>
          <p:nvSpPr>
            <p:cNvPr id="112" name="Rounded Rectangle 55"/>
            <p:cNvSpPr/>
            <p:nvPr/>
          </p:nvSpPr>
          <p:spPr>
            <a:xfrm>
              <a:off x="3729283" y="3115603"/>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3" name="Rounded Rectangle 56"/>
            <p:cNvSpPr/>
            <p:nvPr/>
          </p:nvSpPr>
          <p:spPr>
            <a:xfrm>
              <a:off x="3729283" y="3115603"/>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3" name="Group 22"/>
          <p:cNvGrpSpPr/>
          <p:nvPr/>
        </p:nvGrpSpPr>
        <p:grpSpPr>
          <a:xfrm>
            <a:off x="5450278" y="4573384"/>
            <a:ext cx="1878174" cy="377648"/>
            <a:chOff x="3729283" y="3587665"/>
            <a:chExt cx="1321771" cy="377648"/>
          </a:xfrm>
        </p:grpSpPr>
        <p:sp>
          <p:nvSpPr>
            <p:cNvPr id="110" name="Rounded Rectangle 58"/>
            <p:cNvSpPr/>
            <p:nvPr/>
          </p:nvSpPr>
          <p:spPr>
            <a:xfrm>
              <a:off x="3729283" y="3587665"/>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1" name="Rounded Rectangle 59"/>
            <p:cNvSpPr/>
            <p:nvPr/>
          </p:nvSpPr>
          <p:spPr>
            <a:xfrm>
              <a:off x="3729283" y="3587665"/>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4" name="Group 23"/>
          <p:cNvGrpSpPr/>
          <p:nvPr/>
        </p:nvGrpSpPr>
        <p:grpSpPr>
          <a:xfrm>
            <a:off x="5450278" y="5045445"/>
            <a:ext cx="1878174" cy="377648"/>
            <a:chOff x="3729283" y="4059726"/>
            <a:chExt cx="1321771" cy="377648"/>
          </a:xfrm>
        </p:grpSpPr>
        <p:sp>
          <p:nvSpPr>
            <p:cNvPr id="108" name="Rounded Rectangle 61"/>
            <p:cNvSpPr/>
            <p:nvPr/>
          </p:nvSpPr>
          <p:spPr>
            <a:xfrm>
              <a:off x="3729283" y="4059726"/>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9" name="Rounded Rectangle 62"/>
            <p:cNvSpPr/>
            <p:nvPr/>
          </p:nvSpPr>
          <p:spPr>
            <a:xfrm>
              <a:off x="3729283" y="4059726"/>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5" name="Group 24"/>
          <p:cNvGrpSpPr/>
          <p:nvPr/>
        </p:nvGrpSpPr>
        <p:grpSpPr>
          <a:xfrm>
            <a:off x="7412047" y="1929841"/>
            <a:ext cx="1784822" cy="377648"/>
            <a:chOff x="5145466" y="944122"/>
            <a:chExt cx="1321771" cy="377648"/>
          </a:xfrm>
        </p:grpSpPr>
        <p:sp>
          <p:nvSpPr>
            <p:cNvPr id="106" name="Rounded Rectangle 64"/>
            <p:cNvSpPr/>
            <p:nvPr/>
          </p:nvSpPr>
          <p:spPr>
            <a:xfrm>
              <a:off x="5145466" y="94412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7" name="Rounded Rectangle 65"/>
            <p:cNvSpPr/>
            <p:nvPr/>
          </p:nvSpPr>
          <p:spPr>
            <a:xfrm>
              <a:off x="5145466" y="94412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6" name="Group 25"/>
          <p:cNvGrpSpPr/>
          <p:nvPr/>
        </p:nvGrpSpPr>
        <p:grpSpPr>
          <a:xfrm>
            <a:off x="7412047" y="2401902"/>
            <a:ext cx="1784822" cy="660885"/>
            <a:chOff x="5145466" y="1416183"/>
            <a:chExt cx="1321771" cy="660885"/>
          </a:xfrm>
        </p:grpSpPr>
        <p:sp>
          <p:nvSpPr>
            <p:cNvPr id="104" name="Rounded Rectangle 67"/>
            <p:cNvSpPr/>
            <p:nvPr/>
          </p:nvSpPr>
          <p:spPr>
            <a:xfrm>
              <a:off x="5145466" y="1416183"/>
              <a:ext cx="1321771" cy="660885"/>
            </a:xfrm>
            <a:custGeom>
              <a:avLst/>
              <a:gdLst/>
              <a:ahLst/>
              <a:cxnLst/>
              <a:rect l="0" t="0" r="0" b="0"/>
              <a:pathLst>
                <a:path w="1321771" h="660885">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566473"/>
                  </a:moveTo>
                  <a:lnTo>
                    <a:pt x="0" y="566473"/>
                  </a:lnTo>
                  <a:lnTo>
                    <a:pt x="0" y="94412"/>
                  </a:lnTo>
                  <a:lnTo>
                    <a:pt x="1321771" y="94412"/>
                  </a:lnTo>
                  <a:close/>
                  <a:moveTo>
                    <a:pt x="0" y="566473"/>
                  </a:moveTo>
                  <a:lnTo>
                    <a:pt x="94412" y="566473"/>
                  </a:lnTo>
                  <a:lnTo>
                    <a:pt x="94412" y="660885"/>
                  </a:lnTo>
                  <a:lnTo>
                    <a:pt x="47206" y="660885"/>
                  </a:lnTo>
                  <a:cubicBezTo>
                    <a:pt x="21134" y="660885"/>
                    <a:pt x="0" y="639750"/>
                    <a:pt x="0" y="613679"/>
                  </a:cubicBezTo>
                  <a:close/>
                  <a:moveTo>
                    <a:pt x="94412" y="660885"/>
                  </a:moveTo>
                  <a:lnTo>
                    <a:pt x="94412" y="566473"/>
                  </a:lnTo>
                  <a:lnTo>
                    <a:pt x="1227359" y="566473"/>
                  </a:lnTo>
                  <a:lnTo>
                    <a:pt x="1227359" y="660885"/>
                  </a:lnTo>
                  <a:close/>
                  <a:moveTo>
                    <a:pt x="1227359" y="660885"/>
                  </a:moveTo>
                  <a:lnTo>
                    <a:pt x="1227359" y="566473"/>
                  </a:lnTo>
                  <a:lnTo>
                    <a:pt x="1321771" y="566473"/>
                  </a:lnTo>
                  <a:lnTo>
                    <a:pt x="1321771" y="613679"/>
                  </a:lnTo>
                  <a:cubicBezTo>
                    <a:pt x="1321771" y="639750"/>
                    <a:pt x="1300636" y="660885"/>
                    <a:pt x="1274565" y="660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5" name="Rounded Rectangle 68"/>
            <p:cNvSpPr/>
            <p:nvPr/>
          </p:nvSpPr>
          <p:spPr>
            <a:xfrm>
              <a:off x="5145466" y="1416183"/>
              <a:ext cx="1321771" cy="660885"/>
            </a:xfrm>
            <a:custGeom>
              <a:avLst/>
              <a:gdLst/>
              <a:ahLst/>
              <a:cxnLst/>
              <a:rect l="0" t="0" r="0" b="0"/>
              <a:pathLst>
                <a:path w="1321771" h="660885">
                  <a:moveTo>
                    <a:pt x="0" y="94412"/>
                  </a:moveTo>
                  <a:lnTo>
                    <a:pt x="0" y="47206"/>
                  </a:lnTo>
                  <a:cubicBezTo>
                    <a:pt x="0" y="21134"/>
                    <a:pt x="21134" y="0"/>
                    <a:pt x="47206" y="0"/>
                  </a:cubicBezTo>
                  <a:lnTo>
                    <a:pt x="94412" y="0"/>
                  </a:lnTo>
                  <a:moveTo>
                    <a:pt x="1321771" y="94412"/>
                  </a:moveTo>
                  <a:lnTo>
                    <a:pt x="1321771" y="566473"/>
                  </a:lnTo>
                  <a:moveTo>
                    <a:pt x="0" y="566473"/>
                  </a:moveTo>
                  <a:lnTo>
                    <a:pt x="0" y="94412"/>
                  </a:lnTo>
                  <a:moveTo>
                    <a:pt x="94412" y="0"/>
                  </a:moveTo>
                  <a:lnTo>
                    <a:pt x="1227359" y="0"/>
                  </a:lnTo>
                  <a:moveTo>
                    <a:pt x="94412" y="660885"/>
                  </a:moveTo>
                  <a:lnTo>
                    <a:pt x="47206" y="660885"/>
                  </a:lnTo>
                  <a:cubicBezTo>
                    <a:pt x="21134" y="660885"/>
                    <a:pt x="0" y="639750"/>
                    <a:pt x="0" y="613679"/>
                  </a:cubicBezTo>
                  <a:lnTo>
                    <a:pt x="0" y="566473"/>
                  </a:lnTo>
                  <a:moveTo>
                    <a:pt x="1227359" y="0"/>
                  </a:moveTo>
                  <a:lnTo>
                    <a:pt x="1274565" y="0"/>
                  </a:lnTo>
                  <a:cubicBezTo>
                    <a:pt x="1300636" y="0"/>
                    <a:pt x="1321771" y="21134"/>
                    <a:pt x="1321771" y="47206"/>
                  </a:cubicBezTo>
                  <a:lnTo>
                    <a:pt x="1321771" y="94412"/>
                  </a:lnTo>
                  <a:moveTo>
                    <a:pt x="1227359" y="660885"/>
                  </a:moveTo>
                  <a:lnTo>
                    <a:pt x="94412" y="660885"/>
                  </a:lnTo>
                  <a:moveTo>
                    <a:pt x="1321771" y="566473"/>
                  </a:moveTo>
                  <a:lnTo>
                    <a:pt x="1321771" y="613679"/>
                  </a:lnTo>
                  <a:cubicBezTo>
                    <a:pt x="1321771" y="639750"/>
                    <a:pt x="1300636" y="660885"/>
                    <a:pt x="1274565" y="660885"/>
                  </a:cubicBezTo>
                  <a:lnTo>
                    <a:pt x="1227359" y="660885"/>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7" name="Group 26"/>
          <p:cNvGrpSpPr/>
          <p:nvPr/>
        </p:nvGrpSpPr>
        <p:grpSpPr>
          <a:xfrm>
            <a:off x="7412047" y="3157200"/>
            <a:ext cx="1784822" cy="377648"/>
            <a:chOff x="5145466" y="2171481"/>
            <a:chExt cx="1321771" cy="377648"/>
          </a:xfrm>
        </p:grpSpPr>
        <p:sp>
          <p:nvSpPr>
            <p:cNvPr id="102" name="Rounded Rectangle 70"/>
            <p:cNvSpPr/>
            <p:nvPr/>
          </p:nvSpPr>
          <p:spPr>
            <a:xfrm>
              <a:off x="5145466" y="2171481"/>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3" name="Rounded Rectangle 71"/>
            <p:cNvSpPr/>
            <p:nvPr/>
          </p:nvSpPr>
          <p:spPr>
            <a:xfrm>
              <a:off x="5145466" y="2171481"/>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8" name="Group 27"/>
          <p:cNvGrpSpPr/>
          <p:nvPr/>
        </p:nvGrpSpPr>
        <p:grpSpPr>
          <a:xfrm>
            <a:off x="7412047" y="3629261"/>
            <a:ext cx="1784822" cy="377648"/>
            <a:chOff x="5145466" y="2643542"/>
            <a:chExt cx="1321771" cy="377648"/>
          </a:xfrm>
        </p:grpSpPr>
        <p:sp>
          <p:nvSpPr>
            <p:cNvPr id="100" name="Rounded Rectangle 73"/>
            <p:cNvSpPr/>
            <p:nvPr/>
          </p:nvSpPr>
          <p:spPr>
            <a:xfrm>
              <a:off x="5145466" y="264354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1" name="Rounded Rectangle 74"/>
            <p:cNvSpPr/>
            <p:nvPr/>
          </p:nvSpPr>
          <p:spPr>
            <a:xfrm>
              <a:off x="5145466" y="264354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9" name="Group 28"/>
          <p:cNvGrpSpPr/>
          <p:nvPr/>
        </p:nvGrpSpPr>
        <p:grpSpPr>
          <a:xfrm>
            <a:off x="7412047" y="4101322"/>
            <a:ext cx="1784822" cy="377648"/>
            <a:chOff x="5145466" y="3115603"/>
            <a:chExt cx="1321771" cy="377648"/>
          </a:xfrm>
        </p:grpSpPr>
        <p:sp>
          <p:nvSpPr>
            <p:cNvPr id="98" name="Rounded Rectangle 76"/>
            <p:cNvSpPr/>
            <p:nvPr/>
          </p:nvSpPr>
          <p:spPr>
            <a:xfrm>
              <a:off x="5145466" y="3115603"/>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9" name="Rounded Rectangle 77"/>
            <p:cNvSpPr/>
            <p:nvPr/>
          </p:nvSpPr>
          <p:spPr>
            <a:xfrm>
              <a:off x="5145466" y="3115603"/>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0" name="Group 29"/>
          <p:cNvGrpSpPr/>
          <p:nvPr/>
        </p:nvGrpSpPr>
        <p:grpSpPr>
          <a:xfrm>
            <a:off x="7412047" y="4573384"/>
            <a:ext cx="1784822" cy="377648"/>
            <a:chOff x="5145466" y="3587665"/>
            <a:chExt cx="1321771" cy="377648"/>
          </a:xfrm>
        </p:grpSpPr>
        <p:sp>
          <p:nvSpPr>
            <p:cNvPr id="96" name="Rounded Rectangle 79"/>
            <p:cNvSpPr/>
            <p:nvPr/>
          </p:nvSpPr>
          <p:spPr>
            <a:xfrm>
              <a:off x="5145466" y="3587665"/>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7" name="Rounded Rectangle 80"/>
            <p:cNvSpPr/>
            <p:nvPr/>
          </p:nvSpPr>
          <p:spPr>
            <a:xfrm>
              <a:off x="5145466" y="3587665"/>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1" name="Group 30"/>
          <p:cNvGrpSpPr/>
          <p:nvPr/>
        </p:nvGrpSpPr>
        <p:grpSpPr>
          <a:xfrm>
            <a:off x="7412047" y="5045445"/>
            <a:ext cx="1784822" cy="377648"/>
            <a:chOff x="5145466" y="4059726"/>
            <a:chExt cx="1321771" cy="377648"/>
          </a:xfrm>
        </p:grpSpPr>
        <p:sp>
          <p:nvSpPr>
            <p:cNvPr id="94" name="Rounded Rectangle 82"/>
            <p:cNvSpPr/>
            <p:nvPr/>
          </p:nvSpPr>
          <p:spPr>
            <a:xfrm>
              <a:off x="5145466" y="4059726"/>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5" name="Rounded Rectangle 83"/>
            <p:cNvSpPr/>
            <p:nvPr/>
          </p:nvSpPr>
          <p:spPr>
            <a:xfrm>
              <a:off x="5145466" y="4059726"/>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2" name="Group 31"/>
          <p:cNvGrpSpPr/>
          <p:nvPr/>
        </p:nvGrpSpPr>
        <p:grpSpPr>
          <a:xfrm>
            <a:off x="9318701" y="1929841"/>
            <a:ext cx="1688362" cy="377648"/>
            <a:chOff x="6561650" y="944122"/>
            <a:chExt cx="1321771" cy="377648"/>
          </a:xfrm>
        </p:grpSpPr>
        <p:sp>
          <p:nvSpPr>
            <p:cNvPr id="92" name="Rounded Rectangle 85"/>
            <p:cNvSpPr/>
            <p:nvPr/>
          </p:nvSpPr>
          <p:spPr>
            <a:xfrm>
              <a:off x="6561650" y="94412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3" name="Rounded Rectangle 86"/>
            <p:cNvSpPr/>
            <p:nvPr/>
          </p:nvSpPr>
          <p:spPr>
            <a:xfrm>
              <a:off x="6561650" y="94412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3" name="Group 32"/>
          <p:cNvGrpSpPr/>
          <p:nvPr/>
        </p:nvGrpSpPr>
        <p:grpSpPr>
          <a:xfrm>
            <a:off x="9318701" y="2401902"/>
            <a:ext cx="1666702" cy="660885"/>
            <a:chOff x="6561650" y="1416183"/>
            <a:chExt cx="1321771" cy="660885"/>
          </a:xfrm>
        </p:grpSpPr>
        <p:sp>
          <p:nvSpPr>
            <p:cNvPr id="90" name="Rounded Rectangle 88"/>
            <p:cNvSpPr/>
            <p:nvPr/>
          </p:nvSpPr>
          <p:spPr>
            <a:xfrm>
              <a:off x="6561650" y="1416183"/>
              <a:ext cx="1321771" cy="660885"/>
            </a:xfrm>
            <a:custGeom>
              <a:avLst/>
              <a:gdLst/>
              <a:ahLst/>
              <a:cxnLst/>
              <a:rect l="0" t="0" r="0" b="0"/>
              <a:pathLst>
                <a:path w="1321771" h="660885">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566473"/>
                  </a:moveTo>
                  <a:lnTo>
                    <a:pt x="0" y="566473"/>
                  </a:lnTo>
                  <a:lnTo>
                    <a:pt x="0" y="94412"/>
                  </a:lnTo>
                  <a:lnTo>
                    <a:pt x="1321771" y="94412"/>
                  </a:lnTo>
                  <a:close/>
                  <a:moveTo>
                    <a:pt x="0" y="566473"/>
                  </a:moveTo>
                  <a:lnTo>
                    <a:pt x="94412" y="566473"/>
                  </a:lnTo>
                  <a:lnTo>
                    <a:pt x="94412" y="660885"/>
                  </a:lnTo>
                  <a:lnTo>
                    <a:pt x="47206" y="660885"/>
                  </a:lnTo>
                  <a:cubicBezTo>
                    <a:pt x="21134" y="660885"/>
                    <a:pt x="0" y="639750"/>
                    <a:pt x="0" y="613679"/>
                  </a:cubicBezTo>
                  <a:close/>
                  <a:moveTo>
                    <a:pt x="94412" y="660885"/>
                  </a:moveTo>
                  <a:lnTo>
                    <a:pt x="94412" y="566473"/>
                  </a:lnTo>
                  <a:lnTo>
                    <a:pt x="1227359" y="566473"/>
                  </a:lnTo>
                  <a:lnTo>
                    <a:pt x="1227359" y="660885"/>
                  </a:lnTo>
                  <a:close/>
                  <a:moveTo>
                    <a:pt x="1227359" y="660885"/>
                  </a:moveTo>
                  <a:lnTo>
                    <a:pt x="1227359" y="566473"/>
                  </a:lnTo>
                  <a:lnTo>
                    <a:pt x="1321771" y="566473"/>
                  </a:lnTo>
                  <a:lnTo>
                    <a:pt x="1321771" y="613679"/>
                  </a:lnTo>
                  <a:cubicBezTo>
                    <a:pt x="1321771" y="639750"/>
                    <a:pt x="1300636" y="660885"/>
                    <a:pt x="1274565" y="660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1" name="Rounded Rectangle 89"/>
            <p:cNvSpPr/>
            <p:nvPr/>
          </p:nvSpPr>
          <p:spPr>
            <a:xfrm>
              <a:off x="6561650" y="1416183"/>
              <a:ext cx="1321771" cy="660885"/>
            </a:xfrm>
            <a:custGeom>
              <a:avLst/>
              <a:gdLst/>
              <a:ahLst/>
              <a:cxnLst/>
              <a:rect l="0" t="0" r="0" b="0"/>
              <a:pathLst>
                <a:path w="1321771" h="660885">
                  <a:moveTo>
                    <a:pt x="0" y="94412"/>
                  </a:moveTo>
                  <a:lnTo>
                    <a:pt x="0" y="47206"/>
                  </a:lnTo>
                  <a:cubicBezTo>
                    <a:pt x="0" y="21134"/>
                    <a:pt x="21134" y="0"/>
                    <a:pt x="47206" y="0"/>
                  </a:cubicBezTo>
                  <a:lnTo>
                    <a:pt x="94412" y="0"/>
                  </a:lnTo>
                  <a:moveTo>
                    <a:pt x="1321771" y="94412"/>
                  </a:moveTo>
                  <a:lnTo>
                    <a:pt x="1321771" y="566473"/>
                  </a:lnTo>
                  <a:moveTo>
                    <a:pt x="0" y="566473"/>
                  </a:moveTo>
                  <a:lnTo>
                    <a:pt x="0" y="94412"/>
                  </a:lnTo>
                  <a:moveTo>
                    <a:pt x="94412" y="0"/>
                  </a:moveTo>
                  <a:lnTo>
                    <a:pt x="1227359" y="0"/>
                  </a:lnTo>
                  <a:moveTo>
                    <a:pt x="94412" y="660885"/>
                  </a:moveTo>
                  <a:lnTo>
                    <a:pt x="47206" y="660885"/>
                  </a:lnTo>
                  <a:cubicBezTo>
                    <a:pt x="21134" y="660885"/>
                    <a:pt x="0" y="639750"/>
                    <a:pt x="0" y="613679"/>
                  </a:cubicBezTo>
                  <a:lnTo>
                    <a:pt x="0" y="566473"/>
                  </a:lnTo>
                  <a:moveTo>
                    <a:pt x="1227359" y="0"/>
                  </a:moveTo>
                  <a:lnTo>
                    <a:pt x="1274565" y="0"/>
                  </a:lnTo>
                  <a:cubicBezTo>
                    <a:pt x="1300636" y="0"/>
                    <a:pt x="1321771" y="21134"/>
                    <a:pt x="1321771" y="47206"/>
                  </a:cubicBezTo>
                  <a:lnTo>
                    <a:pt x="1321771" y="94412"/>
                  </a:lnTo>
                  <a:moveTo>
                    <a:pt x="1227359" y="660885"/>
                  </a:moveTo>
                  <a:lnTo>
                    <a:pt x="94412" y="660885"/>
                  </a:lnTo>
                  <a:moveTo>
                    <a:pt x="1321771" y="566473"/>
                  </a:moveTo>
                  <a:lnTo>
                    <a:pt x="1321771" y="613679"/>
                  </a:lnTo>
                  <a:cubicBezTo>
                    <a:pt x="1321771" y="639750"/>
                    <a:pt x="1300636" y="660885"/>
                    <a:pt x="1274565" y="660885"/>
                  </a:cubicBezTo>
                  <a:lnTo>
                    <a:pt x="1227359" y="660885"/>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4" name="Group 33"/>
          <p:cNvGrpSpPr/>
          <p:nvPr/>
        </p:nvGrpSpPr>
        <p:grpSpPr>
          <a:xfrm>
            <a:off x="9318701" y="3157200"/>
            <a:ext cx="1666702" cy="377648"/>
            <a:chOff x="6561650" y="2171481"/>
            <a:chExt cx="1321771" cy="377648"/>
          </a:xfrm>
        </p:grpSpPr>
        <p:sp>
          <p:nvSpPr>
            <p:cNvPr id="88" name="Rounded Rectangle 91"/>
            <p:cNvSpPr/>
            <p:nvPr/>
          </p:nvSpPr>
          <p:spPr>
            <a:xfrm>
              <a:off x="6561650" y="2171481"/>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9" name="Rounded Rectangle 92"/>
            <p:cNvSpPr/>
            <p:nvPr/>
          </p:nvSpPr>
          <p:spPr>
            <a:xfrm>
              <a:off x="6561650" y="2171481"/>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5" name="Group 34"/>
          <p:cNvGrpSpPr/>
          <p:nvPr/>
        </p:nvGrpSpPr>
        <p:grpSpPr>
          <a:xfrm>
            <a:off x="9318701" y="3629261"/>
            <a:ext cx="1666702" cy="377648"/>
            <a:chOff x="6561650" y="2643542"/>
            <a:chExt cx="1321771" cy="377648"/>
          </a:xfrm>
        </p:grpSpPr>
        <p:sp>
          <p:nvSpPr>
            <p:cNvPr id="86" name="Rounded Rectangle 94"/>
            <p:cNvSpPr/>
            <p:nvPr/>
          </p:nvSpPr>
          <p:spPr>
            <a:xfrm>
              <a:off x="6561650" y="2643542"/>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7" name="Rounded Rectangle 95"/>
            <p:cNvSpPr/>
            <p:nvPr/>
          </p:nvSpPr>
          <p:spPr>
            <a:xfrm>
              <a:off x="6561650" y="2643542"/>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6" name="Group 35"/>
          <p:cNvGrpSpPr/>
          <p:nvPr/>
        </p:nvGrpSpPr>
        <p:grpSpPr>
          <a:xfrm>
            <a:off x="9318701" y="4101322"/>
            <a:ext cx="1666702" cy="377648"/>
            <a:chOff x="6561650" y="3115603"/>
            <a:chExt cx="1321771" cy="377648"/>
          </a:xfrm>
        </p:grpSpPr>
        <p:sp>
          <p:nvSpPr>
            <p:cNvPr id="84" name="Rounded Rectangle 97"/>
            <p:cNvSpPr/>
            <p:nvPr/>
          </p:nvSpPr>
          <p:spPr>
            <a:xfrm>
              <a:off x="6561650" y="3115603"/>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5" name="Rounded Rectangle 98"/>
            <p:cNvSpPr/>
            <p:nvPr/>
          </p:nvSpPr>
          <p:spPr>
            <a:xfrm>
              <a:off x="6561650" y="3115603"/>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7" name="Group 36"/>
          <p:cNvGrpSpPr/>
          <p:nvPr/>
        </p:nvGrpSpPr>
        <p:grpSpPr>
          <a:xfrm>
            <a:off x="9318701" y="4573384"/>
            <a:ext cx="1666702" cy="377648"/>
            <a:chOff x="6561650" y="3587665"/>
            <a:chExt cx="1321771" cy="377648"/>
          </a:xfrm>
        </p:grpSpPr>
        <p:sp>
          <p:nvSpPr>
            <p:cNvPr id="82" name="Rounded Rectangle 100"/>
            <p:cNvSpPr/>
            <p:nvPr/>
          </p:nvSpPr>
          <p:spPr>
            <a:xfrm>
              <a:off x="6561650" y="3587665"/>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3" name="Rounded Rectangle 101"/>
            <p:cNvSpPr/>
            <p:nvPr/>
          </p:nvSpPr>
          <p:spPr>
            <a:xfrm>
              <a:off x="6561650" y="3587665"/>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38" name="Group 37"/>
          <p:cNvGrpSpPr/>
          <p:nvPr/>
        </p:nvGrpSpPr>
        <p:grpSpPr>
          <a:xfrm>
            <a:off x="9318701" y="5045445"/>
            <a:ext cx="1666702" cy="377648"/>
            <a:chOff x="6561650" y="4059726"/>
            <a:chExt cx="1321771" cy="377648"/>
          </a:xfrm>
        </p:grpSpPr>
        <p:sp>
          <p:nvSpPr>
            <p:cNvPr id="80" name="Rounded Rectangle 103"/>
            <p:cNvSpPr/>
            <p:nvPr/>
          </p:nvSpPr>
          <p:spPr>
            <a:xfrm>
              <a:off x="6561650" y="4059726"/>
              <a:ext cx="1321771" cy="377648"/>
            </a:xfrm>
            <a:custGeom>
              <a:avLst/>
              <a:gdLst/>
              <a:ahLst/>
              <a:cxnLst/>
              <a:rect l="0" t="0" r="0" b="0"/>
              <a:pathLst>
                <a:path w="1321771" h="377648">
                  <a:moveTo>
                    <a:pt x="0" y="47206"/>
                  </a:moveTo>
                  <a:cubicBezTo>
                    <a:pt x="0" y="21134"/>
                    <a:pt x="21134" y="0"/>
                    <a:pt x="47206" y="0"/>
                  </a:cubicBezTo>
                  <a:lnTo>
                    <a:pt x="94412" y="0"/>
                  </a:lnTo>
                  <a:lnTo>
                    <a:pt x="94412" y="94412"/>
                  </a:lnTo>
                  <a:lnTo>
                    <a:pt x="0" y="94412"/>
                  </a:lnTo>
                  <a:close/>
                  <a:moveTo>
                    <a:pt x="1227359" y="0"/>
                  </a:moveTo>
                  <a:lnTo>
                    <a:pt x="1227359" y="94412"/>
                  </a:lnTo>
                  <a:lnTo>
                    <a:pt x="94412" y="94412"/>
                  </a:lnTo>
                  <a:lnTo>
                    <a:pt x="94412" y="0"/>
                  </a:lnTo>
                  <a:close/>
                  <a:moveTo>
                    <a:pt x="1321771" y="94412"/>
                  </a:moveTo>
                  <a:lnTo>
                    <a:pt x="1227359" y="94412"/>
                  </a:lnTo>
                  <a:lnTo>
                    <a:pt x="1227359" y="0"/>
                  </a:lnTo>
                  <a:lnTo>
                    <a:pt x="1274565" y="0"/>
                  </a:lnTo>
                  <a:cubicBezTo>
                    <a:pt x="1300636" y="0"/>
                    <a:pt x="1321771" y="21134"/>
                    <a:pt x="1321771" y="47206"/>
                  </a:cubicBezTo>
                  <a:close/>
                  <a:moveTo>
                    <a:pt x="1321771" y="283236"/>
                  </a:moveTo>
                  <a:lnTo>
                    <a:pt x="0" y="283236"/>
                  </a:lnTo>
                  <a:lnTo>
                    <a:pt x="0" y="94412"/>
                  </a:lnTo>
                  <a:lnTo>
                    <a:pt x="1321771" y="94412"/>
                  </a:lnTo>
                  <a:close/>
                  <a:moveTo>
                    <a:pt x="0" y="283236"/>
                  </a:moveTo>
                  <a:lnTo>
                    <a:pt x="94412" y="283236"/>
                  </a:lnTo>
                  <a:lnTo>
                    <a:pt x="94412" y="377648"/>
                  </a:lnTo>
                  <a:lnTo>
                    <a:pt x="47206" y="377648"/>
                  </a:lnTo>
                  <a:cubicBezTo>
                    <a:pt x="21134" y="377648"/>
                    <a:pt x="0" y="356513"/>
                    <a:pt x="0" y="330442"/>
                  </a:cubicBezTo>
                  <a:close/>
                  <a:moveTo>
                    <a:pt x="94412" y="377648"/>
                  </a:moveTo>
                  <a:lnTo>
                    <a:pt x="94412" y="283236"/>
                  </a:lnTo>
                  <a:lnTo>
                    <a:pt x="1227359" y="283236"/>
                  </a:lnTo>
                  <a:lnTo>
                    <a:pt x="1227359" y="377648"/>
                  </a:lnTo>
                  <a:close/>
                  <a:moveTo>
                    <a:pt x="1227359" y="377648"/>
                  </a:moveTo>
                  <a:lnTo>
                    <a:pt x="1227359" y="283236"/>
                  </a:lnTo>
                  <a:lnTo>
                    <a:pt x="1321771" y="283236"/>
                  </a:lnTo>
                  <a:lnTo>
                    <a:pt x="1321771" y="330442"/>
                  </a:lnTo>
                  <a:cubicBezTo>
                    <a:pt x="1321771" y="356513"/>
                    <a:pt x="1300636" y="377648"/>
                    <a:pt x="1274565" y="377648"/>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1" name="Rounded Rectangle 104"/>
            <p:cNvSpPr/>
            <p:nvPr/>
          </p:nvSpPr>
          <p:spPr>
            <a:xfrm>
              <a:off x="6561650" y="4059726"/>
              <a:ext cx="1321771" cy="377648"/>
            </a:xfrm>
            <a:custGeom>
              <a:avLst/>
              <a:gdLst/>
              <a:ahLst/>
              <a:cxnLst/>
              <a:rect l="0" t="0" r="0" b="0"/>
              <a:pathLst>
                <a:path w="1321771" h="377648">
                  <a:moveTo>
                    <a:pt x="0" y="94412"/>
                  </a:moveTo>
                  <a:lnTo>
                    <a:pt x="0" y="47206"/>
                  </a:lnTo>
                  <a:cubicBezTo>
                    <a:pt x="0" y="21134"/>
                    <a:pt x="21134" y="0"/>
                    <a:pt x="47206" y="0"/>
                  </a:cubicBezTo>
                  <a:lnTo>
                    <a:pt x="94412" y="0"/>
                  </a:lnTo>
                  <a:moveTo>
                    <a:pt x="1321771" y="94412"/>
                  </a:moveTo>
                  <a:lnTo>
                    <a:pt x="1321771" y="283236"/>
                  </a:lnTo>
                  <a:moveTo>
                    <a:pt x="0" y="283236"/>
                  </a:moveTo>
                  <a:lnTo>
                    <a:pt x="0" y="94412"/>
                  </a:lnTo>
                  <a:moveTo>
                    <a:pt x="94412" y="0"/>
                  </a:moveTo>
                  <a:lnTo>
                    <a:pt x="1227359" y="0"/>
                  </a:lnTo>
                  <a:moveTo>
                    <a:pt x="94412" y="377648"/>
                  </a:moveTo>
                  <a:lnTo>
                    <a:pt x="47206" y="377648"/>
                  </a:lnTo>
                  <a:cubicBezTo>
                    <a:pt x="21134" y="377648"/>
                    <a:pt x="0" y="356513"/>
                    <a:pt x="0" y="330442"/>
                  </a:cubicBezTo>
                  <a:lnTo>
                    <a:pt x="0" y="283236"/>
                  </a:lnTo>
                  <a:moveTo>
                    <a:pt x="1227359" y="0"/>
                  </a:moveTo>
                  <a:lnTo>
                    <a:pt x="1274565" y="0"/>
                  </a:lnTo>
                  <a:cubicBezTo>
                    <a:pt x="1300636" y="0"/>
                    <a:pt x="1321771" y="21134"/>
                    <a:pt x="1321771" y="47206"/>
                  </a:cubicBezTo>
                  <a:lnTo>
                    <a:pt x="1321771" y="94412"/>
                  </a:lnTo>
                  <a:moveTo>
                    <a:pt x="1227359" y="377648"/>
                  </a:moveTo>
                  <a:lnTo>
                    <a:pt x="94412" y="377648"/>
                  </a:lnTo>
                  <a:moveTo>
                    <a:pt x="1321771" y="283236"/>
                  </a:moveTo>
                  <a:lnTo>
                    <a:pt x="1321771" y="330442"/>
                  </a:lnTo>
                  <a:cubicBezTo>
                    <a:pt x="1321771" y="356513"/>
                    <a:pt x="1300636" y="377648"/>
                    <a:pt x="1274565" y="377648"/>
                  </a:cubicBezTo>
                  <a:lnTo>
                    <a:pt x="1227359" y="377648"/>
                  </a:lnTo>
                </a:path>
              </a:pathLst>
            </a:custGeom>
            <a:noFill/>
            <a:ln w="1180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39" name="Rounded Rectangle 106"/>
          <p:cNvSpPr/>
          <p:nvPr/>
        </p:nvSpPr>
        <p:spPr>
          <a:xfrm>
            <a:off x="1206774" y="3206470"/>
            <a:ext cx="236030" cy="283236"/>
          </a:xfrm>
          <a:custGeom>
            <a:avLst/>
            <a:gdLst/>
            <a:ahLst/>
            <a:cxnLst/>
            <a:rect l="0" t="0" r="0" b="0"/>
            <a:pathLst>
              <a:path w="236030" h="283236">
                <a:moveTo>
                  <a:pt x="197675" y="206526"/>
                </a:moveTo>
                <a:cubicBezTo>
                  <a:pt x="197675" y="211415"/>
                  <a:pt x="193712" y="215377"/>
                  <a:pt x="188824" y="215377"/>
                </a:cubicBezTo>
                <a:lnTo>
                  <a:pt x="53106" y="215377"/>
                </a:lnTo>
                <a:cubicBezTo>
                  <a:pt x="48218" y="215377"/>
                  <a:pt x="44255" y="211415"/>
                  <a:pt x="44255" y="206526"/>
                </a:cubicBezTo>
                <a:cubicBezTo>
                  <a:pt x="44255" y="201638"/>
                  <a:pt x="48218" y="197675"/>
                  <a:pt x="53106" y="197675"/>
                </a:cubicBezTo>
                <a:lnTo>
                  <a:pt x="188824" y="197675"/>
                </a:lnTo>
                <a:cubicBezTo>
                  <a:pt x="193712" y="197675"/>
                  <a:pt x="197675" y="201638"/>
                  <a:pt x="197675" y="206526"/>
                </a:cubicBezTo>
                <a:close/>
                <a:moveTo>
                  <a:pt x="50156" y="109164"/>
                </a:moveTo>
                <a:cubicBezTo>
                  <a:pt x="45268" y="109164"/>
                  <a:pt x="41305" y="105201"/>
                  <a:pt x="41305" y="100313"/>
                </a:cubicBezTo>
                <a:cubicBezTo>
                  <a:pt x="41305" y="95424"/>
                  <a:pt x="45268" y="91461"/>
                  <a:pt x="50156" y="91461"/>
                </a:cubicBezTo>
                <a:lnTo>
                  <a:pt x="79660" y="91461"/>
                </a:lnTo>
                <a:cubicBezTo>
                  <a:pt x="84548" y="91461"/>
                  <a:pt x="88511" y="95424"/>
                  <a:pt x="88511" y="100313"/>
                </a:cubicBezTo>
                <a:cubicBezTo>
                  <a:pt x="88511" y="105201"/>
                  <a:pt x="84548" y="109164"/>
                  <a:pt x="79660" y="109164"/>
                </a:cubicBezTo>
                <a:lnTo>
                  <a:pt x="73759" y="109164"/>
                </a:lnTo>
                <a:lnTo>
                  <a:pt x="73759" y="165221"/>
                </a:lnTo>
                <a:cubicBezTo>
                  <a:pt x="73759" y="170109"/>
                  <a:pt x="69796" y="174072"/>
                  <a:pt x="64908" y="174072"/>
                </a:cubicBezTo>
                <a:cubicBezTo>
                  <a:pt x="60020" y="174072"/>
                  <a:pt x="56057" y="170109"/>
                  <a:pt x="56057" y="165221"/>
                </a:cubicBezTo>
                <a:lnTo>
                  <a:pt x="56057" y="109164"/>
                </a:lnTo>
                <a:close/>
                <a:moveTo>
                  <a:pt x="91461" y="165221"/>
                </a:moveTo>
                <a:lnTo>
                  <a:pt x="91461" y="115064"/>
                </a:lnTo>
                <a:cubicBezTo>
                  <a:pt x="91461" y="102029"/>
                  <a:pt x="102029" y="91461"/>
                  <a:pt x="115064" y="91461"/>
                </a:cubicBezTo>
                <a:cubicBezTo>
                  <a:pt x="128100" y="91461"/>
                  <a:pt x="138667" y="102029"/>
                  <a:pt x="138667" y="115064"/>
                </a:cubicBezTo>
                <a:lnTo>
                  <a:pt x="138667" y="165221"/>
                </a:lnTo>
                <a:cubicBezTo>
                  <a:pt x="138667" y="170109"/>
                  <a:pt x="134705" y="174072"/>
                  <a:pt x="129816" y="174072"/>
                </a:cubicBezTo>
                <a:cubicBezTo>
                  <a:pt x="124928" y="174072"/>
                  <a:pt x="120965" y="170109"/>
                  <a:pt x="120965" y="165221"/>
                </a:cubicBezTo>
                <a:lnTo>
                  <a:pt x="120965" y="153419"/>
                </a:lnTo>
                <a:lnTo>
                  <a:pt x="109164" y="153419"/>
                </a:lnTo>
                <a:lnTo>
                  <a:pt x="109164" y="165221"/>
                </a:lnTo>
                <a:cubicBezTo>
                  <a:pt x="109100" y="170083"/>
                  <a:pt x="105174" y="174008"/>
                  <a:pt x="100313" y="174072"/>
                </a:cubicBezTo>
                <a:cubicBezTo>
                  <a:pt x="95451" y="174008"/>
                  <a:pt x="91525" y="170083"/>
                  <a:pt x="91461" y="165221"/>
                </a:cubicBezTo>
                <a:close/>
                <a:moveTo>
                  <a:pt x="109164" y="115064"/>
                </a:moveTo>
                <a:lnTo>
                  <a:pt x="109164" y="135717"/>
                </a:lnTo>
                <a:lnTo>
                  <a:pt x="120965" y="135717"/>
                </a:lnTo>
                <a:lnTo>
                  <a:pt x="120965" y="115064"/>
                </a:lnTo>
                <a:cubicBezTo>
                  <a:pt x="120965" y="111806"/>
                  <a:pt x="118323" y="109164"/>
                  <a:pt x="115064" y="109164"/>
                </a:cubicBezTo>
                <a:cubicBezTo>
                  <a:pt x="111806" y="109164"/>
                  <a:pt x="109164" y="111806"/>
                  <a:pt x="109164" y="115064"/>
                </a:cubicBezTo>
                <a:close/>
                <a:moveTo>
                  <a:pt x="156252" y="173482"/>
                </a:moveTo>
                <a:cubicBezTo>
                  <a:pt x="153779" y="172874"/>
                  <a:pt x="151687" y="171230"/>
                  <a:pt x="150512" y="168970"/>
                </a:cubicBezTo>
                <a:cubicBezTo>
                  <a:pt x="149337" y="166711"/>
                  <a:pt x="149192" y="164054"/>
                  <a:pt x="150115" y="161680"/>
                </a:cubicBezTo>
                <a:lnTo>
                  <a:pt x="160854" y="132295"/>
                </a:lnTo>
                <a:lnTo>
                  <a:pt x="150115" y="102909"/>
                </a:lnTo>
                <a:cubicBezTo>
                  <a:pt x="149202" y="100643"/>
                  <a:pt x="149253" y="98103"/>
                  <a:pt x="150255" y="95876"/>
                </a:cubicBezTo>
                <a:cubicBezTo>
                  <a:pt x="151257" y="93649"/>
                  <a:pt x="153125" y="91927"/>
                  <a:pt x="155426" y="91107"/>
                </a:cubicBezTo>
                <a:cubicBezTo>
                  <a:pt x="157688" y="90159"/>
                  <a:pt x="160243" y="90192"/>
                  <a:pt x="162480" y="91198"/>
                </a:cubicBezTo>
                <a:cubicBezTo>
                  <a:pt x="164718" y="92205"/>
                  <a:pt x="166437" y="94095"/>
                  <a:pt x="167227" y="96418"/>
                </a:cubicBezTo>
                <a:lnTo>
                  <a:pt x="170768" y="105977"/>
                </a:lnTo>
                <a:lnTo>
                  <a:pt x="174190" y="96418"/>
                </a:lnTo>
                <a:cubicBezTo>
                  <a:pt x="175009" y="94117"/>
                  <a:pt x="176732" y="92250"/>
                  <a:pt x="178959" y="91247"/>
                </a:cubicBezTo>
                <a:cubicBezTo>
                  <a:pt x="181186" y="90245"/>
                  <a:pt x="183726" y="90194"/>
                  <a:pt x="185992" y="91107"/>
                </a:cubicBezTo>
                <a:cubicBezTo>
                  <a:pt x="188293" y="91922"/>
                  <a:pt x="190155" y="93651"/>
                  <a:pt x="191138" y="95886"/>
                </a:cubicBezTo>
                <a:cubicBezTo>
                  <a:pt x="192121" y="98120"/>
                  <a:pt x="192138" y="100662"/>
                  <a:pt x="191184" y="102909"/>
                </a:cubicBezTo>
                <a:lnTo>
                  <a:pt x="180563" y="132295"/>
                </a:lnTo>
                <a:lnTo>
                  <a:pt x="191184" y="161680"/>
                </a:lnTo>
                <a:cubicBezTo>
                  <a:pt x="192175" y="163924"/>
                  <a:pt x="192177" y="166481"/>
                  <a:pt x="191189" y="168726"/>
                </a:cubicBezTo>
                <a:cubicBezTo>
                  <a:pt x="190201" y="170971"/>
                  <a:pt x="188315" y="172697"/>
                  <a:pt x="185992" y="173482"/>
                </a:cubicBezTo>
                <a:cubicBezTo>
                  <a:pt x="185022" y="173894"/>
                  <a:pt x="183976" y="174095"/>
                  <a:pt x="182923" y="174072"/>
                </a:cubicBezTo>
                <a:cubicBezTo>
                  <a:pt x="179211" y="174037"/>
                  <a:pt x="175894" y="171747"/>
                  <a:pt x="174544" y="168289"/>
                </a:cubicBezTo>
                <a:lnTo>
                  <a:pt x="171122" y="158730"/>
                </a:lnTo>
                <a:lnTo>
                  <a:pt x="167581" y="168289"/>
                </a:lnTo>
                <a:cubicBezTo>
                  <a:pt x="166331" y="171773"/>
                  <a:pt x="163021" y="174090"/>
                  <a:pt x="159320" y="174072"/>
                </a:cubicBezTo>
                <a:cubicBezTo>
                  <a:pt x="158266" y="174106"/>
                  <a:pt x="157218" y="173905"/>
                  <a:pt x="156252" y="173482"/>
                </a:cubicBezTo>
                <a:close/>
                <a:moveTo>
                  <a:pt x="236030" y="75647"/>
                </a:moveTo>
                <a:lnTo>
                  <a:pt x="236030" y="259633"/>
                </a:lnTo>
                <a:cubicBezTo>
                  <a:pt x="236030" y="272669"/>
                  <a:pt x="225463" y="283236"/>
                  <a:pt x="212427" y="283236"/>
                </a:cubicBezTo>
                <a:lnTo>
                  <a:pt x="23603" y="283236"/>
                </a:lnTo>
                <a:cubicBezTo>
                  <a:pt x="10567" y="283236"/>
                  <a:pt x="0" y="272669"/>
                  <a:pt x="0" y="259633"/>
                </a:cubicBezTo>
                <a:lnTo>
                  <a:pt x="0" y="23603"/>
                </a:lnTo>
                <a:cubicBezTo>
                  <a:pt x="0" y="10567"/>
                  <a:pt x="10567" y="0"/>
                  <a:pt x="23603" y="0"/>
                </a:cubicBezTo>
                <a:lnTo>
                  <a:pt x="160382" y="0"/>
                </a:lnTo>
                <a:cubicBezTo>
                  <a:pt x="163478" y="13"/>
                  <a:pt x="166445" y="1242"/>
                  <a:pt x="168643" y="3422"/>
                </a:cubicBezTo>
                <a:lnTo>
                  <a:pt x="232608" y="67386"/>
                </a:lnTo>
                <a:cubicBezTo>
                  <a:pt x="234788" y="69584"/>
                  <a:pt x="236017" y="72551"/>
                  <a:pt x="236030" y="75647"/>
                </a:cubicBezTo>
                <a:close/>
                <a:moveTo>
                  <a:pt x="212427" y="82610"/>
                </a:moveTo>
                <a:cubicBezTo>
                  <a:pt x="212456" y="81237"/>
                  <a:pt x="211996" y="79898"/>
                  <a:pt x="211129" y="78834"/>
                </a:cubicBezTo>
                <a:lnTo>
                  <a:pt x="157668" y="25373"/>
                </a:lnTo>
                <a:cubicBezTo>
                  <a:pt x="156558" y="24220"/>
                  <a:pt x="155020" y="23579"/>
                  <a:pt x="153419" y="23603"/>
                </a:cubicBezTo>
                <a:lnTo>
                  <a:pt x="29503" y="23603"/>
                </a:lnTo>
                <a:cubicBezTo>
                  <a:pt x="26244" y="23603"/>
                  <a:pt x="23603" y="26244"/>
                  <a:pt x="23603" y="29503"/>
                </a:cubicBezTo>
                <a:lnTo>
                  <a:pt x="23603" y="253732"/>
                </a:lnTo>
                <a:cubicBezTo>
                  <a:pt x="23603" y="256991"/>
                  <a:pt x="26244" y="259633"/>
                  <a:pt x="29503" y="259633"/>
                </a:cubicBezTo>
                <a:lnTo>
                  <a:pt x="206526" y="259633"/>
                </a:lnTo>
                <a:cubicBezTo>
                  <a:pt x="209785" y="259633"/>
                  <a:pt x="212427" y="256991"/>
                  <a:pt x="212427" y="253732"/>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0" name="Rounded Rectangle 107"/>
          <p:cNvSpPr/>
          <p:nvPr/>
        </p:nvSpPr>
        <p:spPr>
          <a:xfrm>
            <a:off x="1183170" y="4675761"/>
            <a:ext cx="283236" cy="177022"/>
          </a:xfrm>
          <a:custGeom>
            <a:avLst/>
            <a:gdLst/>
            <a:ahLst/>
            <a:cxnLst/>
            <a:rect l="0" t="0" r="0" b="0"/>
            <a:pathLst>
              <a:path w="283236" h="177022">
                <a:moveTo>
                  <a:pt x="175606" y="88511"/>
                </a:moveTo>
                <a:cubicBezTo>
                  <a:pt x="176083" y="99784"/>
                  <a:pt x="169352" y="110118"/>
                  <a:pt x="158848" y="114238"/>
                </a:cubicBezTo>
                <a:cubicBezTo>
                  <a:pt x="157929" y="114536"/>
                  <a:pt x="156923" y="114383"/>
                  <a:pt x="156133" y="113826"/>
                </a:cubicBezTo>
                <a:cubicBezTo>
                  <a:pt x="155344" y="113269"/>
                  <a:pt x="154863" y="112372"/>
                  <a:pt x="154836" y="111406"/>
                </a:cubicBezTo>
                <a:lnTo>
                  <a:pt x="154836" y="65616"/>
                </a:lnTo>
                <a:cubicBezTo>
                  <a:pt x="154863" y="64650"/>
                  <a:pt x="155344" y="63753"/>
                  <a:pt x="156133" y="63196"/>
                </a:cubicBezTo>
                <a:cubicBezTo>
                  <a:pt x="156923" y="62639"/>
                  <a:pt x="157929" y="62486"/>
                  <a:pt x="158848" y="62784"/>
                </a:cubicBezTo>
                <a:cubicBezTo>
                  <a:pt x="169352" y="66904"/>
                  <a:pt x="176083" y="77238"/>
                  <a:pt x="175606" y="88511"/>
                </a:cubicBezTo>
                <a:close/>
                <a:moveTo>
                  <a:pt x="234614" y="88511"/>
                </a:moveTo>
                <a:cubicBezTo>
                  <a:pt x="235091" y="99784"/>
                  <a:pt x="228360" y="110118"/>
                  <a:pt x="217856" y="114238"/>
                </a:cubicBezTo>
                <a:cubicBezTo>
                  <a:pt x="216936" y="114536"/>
                  <a:pt x="215930" y="114383"/>
                  <a:pt x="215141" y="113826"/>
                </a:cubicBezTo>
                <a:cubicBezTo>
                  <a:pt x="214351" y="113269"/>
                  <a:pt x="213871" y="112372"/>
                  <a:pt x="213843" y="111406"/>
                </a:cubicBezTo>
                <a:lnTo>
                  <a:pt x="213843" y="65616"/>
                </a:lnTo>
                <a:cubicBezTo>
                  <a:pt x="213871" y="64650"/>
                  <a:pt x="214351" y="63753"/>
                  <a:pt x="215141" y="63196"/>
                </a:cubicBezTo>
                <a:cubicBezTo>
                  <a:pt x="215930" y="62639"/>
                  <a:pt x="216936" y="62486"/>
                  <a:pt x="217856" y="62784"/>
                </a:cubicBezTo>
                <a:cubicBezTo>
                  <a:pt x="228360" y="66904"/>
                  <a:pt x="235091" y="77238"/>
                  <a:pt x="234614" y="88511"/>
                </a:cubicBezTo>
                <a:close/>
                <a:moveTo>
                  <a:pt x="283236" y="17702"/>
                </a:moveTo>
                <a:lnTo>
                  <a:pt x="283236" y="159320"/>
                </a:lnTo>
                <a:cubicBezTo>
                  <a:pt x="283236" y="169097"/>
                  <a:pt x="275311" y="177022"/>
                  <a:pt x="265534" y="177022"/>
                </a:cubicBezTo>
                <a:lnTo>
                  <a:pt x="17702" y="177022"/>
                </a:lnTo>
                <a:cubicBezTo>
                  <a:pt x="7925" y="177022"/>
                  <a:pt x="0" y="169097"/>
                  <a:pt x="0" y="159320"/>
                </a:cubicBezTo>
                <a:lnTo>
                  <a:pt x="0" y="17702"/>
                </a:lnTo>
                <a:cubicBezTo>
                  <a:pt x="0" y="7925"/>
                  <a:pt x="7925" y="0"/>
                  <a:pt x="17702" y="0"/>
                </a:cubicBezTo>
                <a:lnTo>
                  <a:pt x="265534" y="0"/>
                </a:lnTo>
                <a:cubicBezTo>
                  <a:pt x="275311" y="0"/>
                  <a:pt x="283236" y="7925"/>
                  <a:pt x="283236" y="17702"/>
                </a:cubicBezTo>
                <a:close/>
                <a:moveTo>
                  <a:pt x="60423" y="113530"/>
                </a:moveTo>
                <a:lnTo>
                  <a:pt x="60423" y="63374"/>
                </a:lnTo>
                <a:cubicBezTo>
                  <a:pt x="60484" y="61770"/>
                  <a:pt x="61770" y="60484"/>
                  <a:pt x="63374" y="60423"/>
                </a:cubicBezTo>
                <a:lnTo>
                  <a:pt x="64908" y="60423"/>
                </a:lnTo>
                <a:cubicBezTo>
                  <a:pt x="68949" y="60423"/>
                  <a:pt x="72225" y="57147"/>
                  <a:pt x="72225" y="53106"/>
                </a:cubicBezTo>
                <a:cubicBezTo>
                  <a:pt x="72225" y="49065"/>
                  <a:pt x="68949" y="45789"/>
                  <a:pt x="64908" y="45789"/>
                </a:cubicBezTo>
                <a:lnTo>
                  <a:pt x="41305" y="45789"/>
                </a:lnTo>
                <a:cubicBezTo>
                  <a:pt x="37264" y="45789"/>
                  <a:pt x="33988" y="49065"/>
                  <a:pt x="33988" y="53106"/>
                </a:cubicBezTo>
                <a:cubicBezTo>
                  <a:pt x="33988" y="57147"/>
                  <a:pt x="37264" y="60423"/>
                  <a:pt x="41305" y="60423"/>
                </a:cubicBezTo>
                <a:lnTo>
                  <a:pt x="42721" y="60423"/>
                </a:lnTo>
                <a:cubicBezTo>
                  <a:pt x="44416" y="60423"/>
                  <a:pt x="45789" y="61797"/>
                  <a:pt x="45789" y="63492"/>
                </a:cubicBezTo>
                <a:lnTo>
                  <a:pt x="45789" y="113648"/>
                </a:lnTo>
                <a:cubicBezTo>
                  <a:pt x="45729" y="115252"/>
                  <a:pt x="44443" y="116538"/>
                  <a:pt x="42839" y="116599"/>
                </a:cubicBezTo>
                <a:lnTo>
                  <a:pt x="41305" y="116599"/>
                </a:lnTo>
                <a:cubicBezTo>
                  <a:pt x="37264" y="116599"/>
                  <a:pt x="33988" y="119874"/>
                  <a:pt x="33988" y="123916"/>
                </a:cubicBezTo>
                <a:cubicBezTo>
                  <a:pt x="33988" y="127957"/>
                  <a:pt x="37264" y="131233"/>
                  <a:pt x="41305" y="131233"/>
                </a:cubicBezTo>
                <a:lnTo>
                  <a:pt x="64908" y="131233"/>
                </a:lnTo>
                <a:cubicBezTo>
                  <a:pt x="68949" y="131233"/>
                  <a:pt x="72225" y="127957"/>
                  <a:pt x="72225" y="123916"/>
                </a:cubicBezTo>
                <a:cubicBezTo>
                  <a:pt x="72225" y="119874"/>
                  <a:pt x="68949" y="116599"/>
                  <a:pt x="64908" y="116599"/>
                </a:cubicBezTo>
                <a:lnTo>
                  <a:pt x="63492" y="116599"/>
                </a:lnTo>
                <a:cubicBezTo>
                  <a:pt x="61797" y="116599"/>
                  <a:pt x="60423" y="115225"/>
                  <a:pt x="60423" y="113530"/>
                </a:cubicBezTo>
                <a:close/>
                <a:moveTo>
                  <a:pt x="131233" y="53106"/>
                </a:moveTo>
                <a:cubicBezTo>
                  <a:pt x="131233" y="49065"/>
                  <a:pt x="127957" y="45789"/>
                  <a:pt x="123916" y="45789"/>
                </a:cubicBezTo>
                <a:cubicBezTo>
                  <a:pt x="119874" y="45789"/>
                  <a:pt x="116599" y="49065"/>
                  <a:pt x="116599" y="53106"/>
                </a:cubicBezTo>
                <a:lnTo>
                  <a:pt x="116599" y="86387"/>
                </a:lnTo>
                <a:cubicBezTo>
                  <a:pt x="116602" y="87072"/>
                  <a:pt x="116152" y="87676"/>
                  <a:pt x="115494" y="87868"/>
                </a:cubicBezTo>
                <a:cubicBezTo>
                  <a:pt x="114836" y="88060"/>
                  <a:pt x="114131" y="87792"/>
                  <a:pt x="113766" y="87213"/>
                </a:cubicBezTo>
                <a:cubicBezTo>
                  <a:pt x="113176" y="85207"/>
                  <a:pt x="95120" y="49802"/>
                  <a:pt x="95120" y="49802"/>
                </a:cubicBezTo>
                <a:cubicBezTo>
                  <a:pt x="93582" y="46766"/>
                  <a:pt x="90179" y="45162"/>
                  <a:pt x="86859" y="45907"/>
                </a:cubicBezTo>
                <a:cubicBezTo>
                  <a:pt x="83516" y="46682"/>
                  <a:pt x="81161" y="49675"/>
                  <a:pt x="81194" y="53106"/>
                </a:cubicBezTo>
                <a:lnTo>
                  <a:pt x="81194" y="123916"/>
                </a:lnTo>
                <a:cubicBezTo>
                  <a:pt x="81194" y="127957"/>
                  <a:pt x="84470" y="131233"/>
                  <a:pt x="88511" y="131233"/>
                </a:cubicBezTo>
                <a:cubicBezTo>
                  <a:pt x="92552" y="131233"/>
                  <a:pt x="95828" y="127957"/>
                  <a:pt x="95828" y="123916"/>
                </a:cubicBezTo>
                <a:lnTo>
                  <a:pt x="95828" y="90281"/>
                </a:lnTo>
                <a:cubicBezTo>
                  <a:pt x="95828" y="89434"/>
                  <a:pt x="96515" y="88747"/>
                  <a:pt x="97362" y="88747"/>
                </a:cubicBezTo>
                <a:cubicBezTo>
                  <a:pt x="98209" y="88747"/>
                  <a:pt x="98896" y="89434"/>
                  <a:pt x="98896" y="90281"/>
                </a:cubicBezTo>
                <a:lnTo>
                  <a:pt x="117307" y="127102"/>
                </a:lnTo>
                <a:cubicBezTo>
                  <a:pt x="118606" y="129551"/>
                  <a:pt x="121143" y="131091"/>
                  <a:pt x="123916" y="131114"/>
                </a:cubicBezTo>
                <a:lnTo>
                  <a:pt x="125568" y="131114"/>
                </a:lnTo>
                <a:cubicBezTo>
                  <a:pt x="128910" y="130340"/>
                  <a:pt x="131266" y="127347"/>
                  <a:pt x="131233" y="123916"/>
                </a:cubicBezTo>
                <a:close/>
                <a:moveTo>
                  <a:pt x="147519" y="131233"/>
                </a:moveTo>
                <a:cubicBezTo>
                  <a:pt x="171116" y="131236"/>
                  <a:pt x="190247" y="112108"/>
                  <a:pt x="190247" y="88511"/>
                </a:cubicBezTo>
                <a:cubicBezTo>
                  <a:pt x="190247" y="64914"/>
                  <a:pt x="171116" y="45786"/>
                  <a:pt x="147519" y="45789"/>
                </a:cubicBezTo>
                <a:cubicBezTo>
                  <a:pt x="143478" y="45789"/>
                  <a:pt x="140202" y="49065"/>
                  <a:pt x="140202" y="53106"/>
                </a:cubicBezTo>
                <a:lnTo>
                  <a:pt x="140202" y="123916"/>
                </a:lnTo>
                <a:cubicBezTo>
                  <a:pt x="140202" y="127957"/>
                  <a:pt x="143478" y="131233"/>
                  <a:pt x="147519" y="131233"/>
                </a:cubicBezTo>
                <a:close/>
                <a:moveTo>
                  <a:pt x="249254" y="88511"/>
                </a:moveTo>
                <a:cubicBezTo>
                  <a:pt x="249254" y="64914"/>
                  <a:pt x="230123" y="45786"/>
                  <a:pt x="206526" y="45789"/>
                </a:cubicBezTo>
                <a:cubicBezTo>
                  <a:pt x="202485" y="45789"/>
                  <a:pt x="199209" y="49065"/>
                  <a:pt x="199209" y="53106"/>
                </a:cubicBezTo>
                <a:lnTo>
                  <a:pt x="199209" y="123916"/>
                </a:lnTo>
                <a:cubicBezTo>
                  <a:pt x="199209" y="127957"/>
                  <a:pt x="202485" y="131233"/>
                  <a:pt x="206526" y="131233"/>
                </a:cubicBezTo>
                <a:cubicBezTo>
                  <a:pt x="230123" y="131236"/>
                  <a:pt x="249254" y="112108"/>
                  <a:pt x="249254" y="88511"/>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1" name="Rounded Rectangle 108"/>
          <p:cNvSpPr/>
          <p:nvPr/>
        </p:nvSpPr>
        <p:spPr>
          <a:xfrm>
            <a:off x="1182145" y="5094715"/>
            <a:ext cx="284262" cy="283250"/>
          </a:xfrm>
          <a:custGeom>
            <a:avLst/>
            <a:gdLst/>
            <a:ahLst/>
            <a:cxnLst/>
            <a:rect l="0" t="0" r="0" b="0"/>
            <a:pathLst>
              <a:path w="284262" h="283250">
                <a:moveTo>
                  <a:pt x="272460" y="277335"/>
                </a:moveTo>
                <a:cubicBezTo>
                  <a:pt x="272460" y="280594"/>
                  <a:pt x="269818" y="283236"/>
                  <a:pt x="266559" y="283236"/>
                </a:cubicBezTo>
                <a:lnTo>
                  <a:pt x="207552" y="283236"/>
                </a:lnTo>
                <a:cubicBezTo>
                  <a:pt x="205169" y="283250"/>
                  <a:pt x="203013" y="281830"/>
                  <a:pt x="202083" y="279637"/>
                </a:cubicBezTo>
                <a:cubicBezTo>
                  <a:pt x="201154" y="277443"/>
                  <a:pt x="201635" y="274906"/>
                  <a:pt x="203303" y="273205"/>
                </a:cubicBezTo>
                <a:lnTo>
                  <a:pt x="220061" y="256447"/>
                </a:lnTo>
                <a:cubicBezTo>
                  <a:pt x="220622" y="255886"/>
                  <a:pt x="220922" y="255115"/>
                  <a:pt x="220887" y="254322"/>
                </a:cubicBezTo>
                <a:cubicBezTo>
                  <a:pt x="220877" y="253515"/>
                  <a:pt x="220535" y="252747"/>
                  <a:pt x="219943" y="252198"/>
                </a:cubicBezTo>
                <a:lnTo>
                  <a:pt x="166246" y="202396"/>
                </a:lnTo>
                <a:cubicBezTo>
                  <a:pt x="165114" y="201466"/>
                  <a:pt x="163484" y="201466"/>
                  <a:pt x="162352" y="202396"/>
                </a:cubicBezTo>
                <a:lnTo>
                  <a:pt x="128245" y="229775"/>
                </a:lnTo>
                <a:cubicBezTo>
                  <a:pt x="118490" y="237398"/>
                  <a:pt x="104679" y="236951"/>
                  <a:pt x="95437" y="228713"/>
                </a:cubicBezTo>
                <a:lnTo>
                  <a:pt x="92959" y="226471"/>
                </a:lnTo>
                <a:lnTo>
                  <a:pt x="6100" y="149643"/>
                </a:lnTo>
                <a:cubicBezTo>
                  <a:pt x="1561" y="145567"/>
                  <a:pt x="0" y="139119"/>
                  <a:pt x="2170" y="133418"/>
                </a:cubicBezTo>
                <a:cubicBezTo>
                  <a:pt x="4340" y="127718"/>
                  <a:pt x="9795" y="123941"/>
                  <a:pt x="15895" y="123916"/>
                </a:cubicBezTo>
                <a:cubicBezTo>
                  <a:pt x="19525" y="123861"/>
                  <a:pt x="23036" y="125214"/>
                  <a:pt x="25690" y="127692"/>
                </a:cubicBezTo>
                <a:lnTo>
                  <a:pt x="110189" y="202750"/>
                </a:lnTo>
                <a:cubicBezTo>
                  <a:pt x="111264" y="203711"/>
                  <a:pt x="112890" y="203711"/>
                  <a:pt x="113966" y="202750"/>
                </a:cubicBezTo>
                <a:lnTo>
                  <a:pt x="148190" y="175370"/>
                </a:lnTo>
                <a:cubicBezTo>
                  <a:pt x="158055" y="167630"/>
                  <a:pt x="172063" y="168128"/>
                  <a:pt x="181352" y="176550"/>
                </a:cubicBezTo>
                <a:lnTo>
                  <a:pt x="240360" y="231546"/>
                </a:lnTo>
                <a:cubicBezTo>
                  <a:pt x="241492" y="232595"/>
                  <a:pt x="243241" y="232595"/>
                  <a:pt x="244372" y="231546"/>
                </a:cubicBezTo>
                <a:lnTo>
                  <a:pt x="261603" y="214315"/>
                </a:lnTo>
                <a:cubicBezTo>
                  <a:pt x="262728" y="213186"/>
                  <a:pt x="264256" y="212549"/>
                  <a:pt x="265851" y="212545"/>
                </a:cubicBezTo>
                <a:cubicBezTo>
                  <a:pt x="266589" y="212378"/>
                  <a:pt x="267355" y="212378"/>
                  <a:pt x="268094" y="212545"/>
                </a:cubicBezTo>
                <a:cubicBezTo>
                  <a:pt x="270297" y="213450"/>
                  <a:pt x="271740" y="215592"/>
                  <a:pt x="271752" y="217974"/>
                </a:cubicBezTo>
                <a:close/>
                <a:moveTo>
                  <a:pt x="284262" y="82610"/>
                </a:moveTo>
                <a:cubicBezTo>
                  <a:pt x="284262" y="128235"/>
                  <a:pt x="247275" y="165221"/>
                  <a:pt x="201651" y="165221"/>
                </a:cubicBezTo>
                <a:cubicBezTo>
                  <a:pt x="156026" y="165221"/>
                  <a:pt x="119040" y="128235"/>
                  <a:pt x="119040" y="82610"/>
                </a:cubicBezTo>
                <a:cubicBezTo>
                  <a:pt x="119040" y="36986"/>
                  <a:pt x="156026" y="0"/>
                  <a:pt x="201651" y="0"/>
                </a:cubicBezTo>
                <a:cubicBezTo>
                  <a:pt x="247276" y="0"/>
                  <a:pt x="284262" y="36986"/>
                  <a:pt x="284262" y="82610"/>
                </a:cubicBezTo>
                <a:close/>
                <a:moveTo>
                  <a:pt x="225254" y="63610"/>
                </a:moveTo>
                <a:cubicBezTo>
                  <a:pt x="224266" y="58799"/>
                  <a:pt x="222427" y="54203"/>
                  <a:pt x="219825" y="50038"/>
                </a:cubicBezTo>
                <a:lnTo>
                  <a:pt x="237055" y="50038"/>
                </a:lnTo>
                <a:cubicBezTo>
                  <a:pt x="241944" y="50038"/>
                  <a:pt x="245907" y="46075"/>
                  <a:pt x="245907" y="41187"/>
                </a:cubicBezTo>
                <a:cubicBezTo>
                  <a:pt x="245907" y="36298"/>
                  <a:pt x="241944" y="32336"/>
                  <a:pt x="237055" y="32336"/>
                </a:cubicBezTo>
                <a:lnTo>
                  <a:pt x="167662" y="32336"/>
                </a:lnTo>
                <a:cubicBezTo>
                  <a:pt x="162774" y="32336"/>
                  <a:pt x="158811" y="36298"/>
                  <a:pt x="158811" y="41187"/>
                </a:cubicBezTo>
                <a:cubicBezTo>
                  <a:pt x="158811" y="46075"/>
                  <a:pt x="162774" y="50038"/>
                  <a:pt x="167662" y="50038"/>
                </a:cubicBezTo>
                <a:lnTo>
                  <a:pt x="186427" y="50038"/>
                </a:lnTo>
                <a:cubicBezTo>
                  <a:pt x="195432" y="50032"/>
                  <a:pt x="203586" y="55360"/>
                  <a:pt x="207198" y="63610"/>
                </a:cubicBezTo>
                <a:lnTo>
                  <a:pt x="186427" y="63610"/>
                </a:lnTo>
                <a:cubicBezTo>
                  <a:pt x="181539" y="63610"/>
                  <a:pt x="177576" y="67573"/>
                  <a:pt x="177576" y="72461"/>
                </a:cubicBezTo>
                <a:cubicBezTo>
                  <a:pt x="177576" y="77349"/>
                  <a:pt x="181539" y="81312"/>
                  <a:pt x="186427" y="81312"/>
                </a:cubicBezTo>
                <a:lnTo>
                  <a:pt x="207198" y="81312"/>
                </a:lnTo>
                <a:cubicBezTo>
                  <a:pt x="203597" y="89587"/>
                  <a:pt x="195451" y="94956"/>
                  <a:pt x="186427" y="95002"/>
                </a:cubicBezTo>
                <a:lnTo>
                  <a:pt x="167662" y="95002"/>
                </a:lnTo>
                <a:cubicBezTo>
                  <a:pt x="164085" y="95005"/>
                  <a:pt x="160861" y="97161"/>
                  <a:pt x="159492" y="100467"/>
                </a:cubicBezTo>
                <a:cubicBezTo>
                  <a:pt x="158124" y="103772"/>
                  <a:pt x="158880" y="107577"/>
                  <a:pt x="161408" y="110108"/>
                </a:cubicBezTo>
                <a:lnTo>
                  <a:pt x="198583" y="147755"/>
                </a:lnTo>
                <a:cubicBezTo>
                  <a:pt x="200255" y="149394"/>
                  <a:pt x="202496" y="150324"/>
                  <a:pt x="204837" y="150351"/>
                </a:cubicBezTo>
                <a:cubicBezTo>
                  <a:pt x="207174" y="150300"/>
                  <a:pt x="209406" y="149373"/>
                  <a:pt x="211092" y="147755"/>
                </a:cubicBezTo>
                <a:cubicBezTo>
                  <a:pt x="214544" y="144299"/>
                  <a:pt x="214544" y="138701"/>
                  <a:pt x="211092" y="135245"/>
                </a:cubicBezTo>
                <a:lnTo>
                  <a:pt x="188433" y="112586"/>
                </a:lnTo>
                <a:cubicBezTo>
                  <a:pt x="206295" y="111507"/>
                  <a:pt x="221298" y="98763"/>
                  <a:pt x="225254" y="81312"/>
                </a:cubicBezTo>
                <a:lnTo>
                  <a:pt x="237055" y="81312"/>
                </a:lnTo>
                <a:cubicBezTo>
                  <a:pt x="241944" y="81312"/>
                  <a:pt x="245907" y="77349"/>
                  <a:pt x="245907" y="72461"/>
                </a:cubicBezTo>
                <a:cubicBezTo>
                  <a:pt x="245907" y="67572"/>
                  <a:pt x="241944" y="63610"/>
                  <a:pt x="237055" y="63610"/>
                </a:cubicBezTo>
                <a:lnTo>
                  <a:pt x="225254" y="63610"/>
                </a:ln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2" name="Rounded Rectangle 109"/>
          <p:cNvSpPr/>
          <p:nvPr/>
        </p:nvSpPr>
        <p:spPr>
          <a:xfrm>
            <a:off x="1183170" y="4172122"/>
            <a:ext cx="283240" cy="239567"/>
          </a:xfrm>
          <a:custGeom>
            <a:avLst/>
            <a:gdLst/>
            <a:ahLst/>
            <a:cxnLst/>
            <a:rect l="0" t="0" r="0" b="0"/>
            <a:pathLst>
              <a:path w="283240" h="239567">
                <a:moveTo>
                  <a:pt x="283236" y="92048"/>
                </a:moveTo>
                <a:cubicBezTo>
                  <a:pt x="283236" y="95307"/>
                  <a:pt x="280594" y="97949"/>
                  <a:pt x="277335" y="97949"/>
                </a:cubicBezTo>
                <a:lnTo>
                  <a:pt x="200626" y="97949"/>
                </a:lnTo>
                <a:cubicBezTo>
                  <a:pt x="197367" y="97949"/>
                  <a:pt x="194725" y="95307"/>
                  <a:pt x="194725" y="92048"/>
                </a:cubicBezTo>
                <a:lnTo>
                  <a:pt x="194725" y="64928"/>
                </a:lnTo>
                <a:cubicBezTo>
                  <a:pt x="194725" y="62733"/>
                  <a:pt x="195999" y="60786"/>
                  <a:pt x="197734" y="59440"/>
                </a:cubicBezTo>
                <a:cubicBezTo>
                  <a:pt x="197825" y="59370"/>
                  <a:pt x="197916" y="59300"/>
                  <a:pt x="198006" y="59228"/>
                </a:cubicBezTo>
                <a:lnTo>
                  <a:pt x="198041" y="59192"/>
                </a:lnTo>
                <a:lnTo>
                  <a:pt x="268850" y="2545"/>
                </a:lnTo>
                <a:cubicBezTo>
                  <a:pt x="271507" y="416"/>
                  <a:pt x="275151" y="0"/>
                  <a:pt x="278220" y="1475"/>
                </a:cubicBezTo>
                <a:cubicBezTo>
                  <a:pt x="281289" y="2950"/>
                  <a:pt x="283240" y="6055"/>
                  <a:pt x="283236" y="9461"/>
                </a:cubicBezTo>
                <a:close/>
                <a:moveTo>
                  <a:pt x="112114" y="97949"/>
                </a:moveTo>
                <a:cubicBezTo>
                  <a:pt x="108855" y="97949"/>
                  <a:pt x="106213" y="95307"/>
                  <a:pt x="106213" y="92048"/>
                </a:cubicBezTo>
                <a:lnTo>
                  <a:pt x="106213" y="40298"/>
                </a:lnTo>
                <a:cubicBezTo>
                  <a:pt x="106213" y="36817"/>
                  <a:pt x="109223" y="34055"/>
                  <a:pt x="112621" y="34905"/>
                </a:cubicBezTo>
                <a:cubicBezTo>
                  <a:pt x="115723" y="35674"/>
                  <a:pt x="118731" y="36782"/>
                  <a:pt x="121591" y="38209"/>
                </a:cubicBezTo>
                <a:lnTo>
                  <a:pt x="169576" y="62202"/>
                </a:lnTo>
                <a:lnTo>
                  <a:pt x="169788" y="62320"/>
                </a:lnTo>
                <a:cubicBezTo>
                  <a:pt x="170484" y="62687"/>
                  <a:pt x="171206" y="63002"/>
                  <a:pt x="171948" y="63264"/>
                </a:cubicBezTo>
                <a:cubicBezTo>
                  <a:pt x="174745" y="64267"/>
                  <a:pt x="177022" y="66675"/>
                  <a:pt x="177022" y="69660"/>
                </a:cubicBezTo>
                <a:lnTo>
                  <a:pt x="177022" y="92048"/>
                </a:lnTo>
                <a:cubicBezTo>
                  <a:pt x="177022" y="95307"/>
                  <a:pt x="174381" y="97949"/>
                  <a:pt x="171122" y="97949"/>
                </a:cubicBezTo>
                <a:close/>
                <a:moveTo>
                  <a:pt x="171122" y="115651"/>
                </a:moveTo>
                <a:cubicBezTo>
                  <a:pt x="174381" y="115651"/>
                  <a:pt x="177022" y="118293"/>
                  <a:pt x="177022" y="121552"/>
                </a:cubicBezTo>
                <a:lnTo>
                  <a:pt x="177022" y="154006"/>
                </a:lnTo>
                <a:cubicBezTo>
                  <a:pt x="177022" y="157265"/>
                  <a:pt x="174381" y="159907"/>
                  <a:pt x="171122" y="159907"/>
                </a:cubicBezTo>
                <a:lnTo>
                  <a:pt x="112114" y="159907"/>
                </a:lnTo>
                <a:cubicBezTo>
                  <a:pt x="108855" y="159907"/>
                  <a:pt x="106213" y="157265"/>
                  <a:pt x="106213" y="154006"/>
                </a:cubicBezTo>
                <a:lnTo>
                  <a:pt x="106213" y="121552"/>
                </a:lnTo>
                <a:cubicBezTo>
                  <a:pt x="106213" y="118293"/>
                  <a:pt x="108855" y="115651"/>
                  <a:pt x="112114" y="115651"/>
                </a:cubicBezTo>
                <a:close/>
                <a:moveTo>
                  <a:pt x="200626" y="159907"/>
                </a:moveTo>
                <a:cubicBezTo>
                  <a:pt x="197367" y="159907"/>
                  <a:pt x="194725" y="157265"/>
                  <a:pt x="194725" y="154006"/>
                </a:cubicBezTo>
                <a:lnTo>
                  <a:pt x="194725" y="121552"/>
                </a:lnTo>
                <a:cubicBezTo>
                  <a:pt x="194725" y="118293"/>
                  <a:pt x="197367" y="115651"/>
                  <a:pt x="200626" y="115651"/>
                </a:cubicBezTo>
                <a:lnTo>
                  <a:pt x="277335" y="115651"/>
                </a:lnTo>
                <a:cubicBezTo>
                  <a:pt x="280594" y="115651"/>
                  <a:pt x="283236" y="118293"/>
                  <a:pt x="283236" y="121552"/>
                </a:cubicBezTo>
                <a:lnTo>
                  <a:pt x="283236" y="154006"/>
                </a:lnTo>
                <a:cubicBezTo>
                  <a:pt x="283236" y="157265"/>
                  <a:pt x="280594" y="159907"/>
                  <a:pt x="277335" y="159907"/>
                </a:cubicBezTo>
                <a:close/>
                <a:moveTo>
                  <a:pt x="177022" y="233666"/>
                </a:moveTo>
                <a:cubicBezTo>
                  <a:pt x="177022" y="236925"/>
                  <a:pt x="174381" y="239567"/>
                  <a:pt x="171122" y="239567"/>
                </a:cubicBezTo>
                <a:lnTo>
                  <a:pt x="112114" y="239567"/>
                </a:lnTo>
                <a:cubicBezTo>
                  <a:pt x="108855" y="239567"/>
                  <a:pt x="106213" y="236925"/>
                  <a:pt x="106213" y="233666"/>
                </a:cubicBezTo>
                <a:lnTo>
                  <a:pt x="106213" y="183510"/>
                </a:lnTo>
                <a:cubicBezTo>
                  <a:pt x="106213" y="180251"/>
                  <a:pt x="108855" y="177609"/>
                  <a:pt x="112114" y="177609"/>
                </a:cubicBezTo>
                <a:lnTo>
                  <a:pt x="171122" y="177609"/>
                </a:lnTo>
                <a:cubicBezTo>
                  <a:pt x="174381" y="177609"/>
                  <a:pt x="177022" y="180251"/>
                  <a:pt x="177022" y="183510"/>
                </a:cubicBezTo>
                <a:close/>
                <a:moveTo>
                  <a:pt x="200626" y="239567"/>
                </a:moveTo>
                <a:cubicBezTo>
                  <a:pt x="197367" y="239567"/>
                  <a:pt x="194725" y="236925"/>
                  <a:pt x="194725" y="233666"/>
                </a:cubicBezTo>
                <a:lnTo>
                  <a:pt x="194725" y="183510"/>
                </a:lnTo>
                <a:cubicBezTo>
                  <a:pt x="194725" y="180251"/>
                  <a:pt x="197367" y="177609"/>
                  <a:pt x="200626" y="177609"/>
                </a:cubicBezTo>
                <a:lnTo>
                  <a:pt x="277335" y="177609"/>
                </a:lnTo>
                <a:cubicBezTo>
                  <a:pt x="280594" y="177609"/>
                  <a:pt x="283236" y="180251"/>
                  <a:pt x="283236" y="183510"/>
                </a:cubicBezTo>
                <a:lnTo>
                  <a:pt x="283236" y="230716"/>
                </a:lnTo>
                <a:cubicBezTo>
                  <a:pt x="283236" y="235604"/>
                  <a:pt x="279273" y="239567"/>
                  <a:pt x="274385" y="239567"/>
                </a:cubicBezTo>
                <a:close/>
                <a:moveTo>
                  <a:pt x="74160" y="43237"/>
                </a:moveTo>
                <a:cubicBezTo>
                  <a:pt x="76344" y="41490"/>
                  <a:pt x="78668" y="39968"/>
                  <a:pt x="81111" y="38693"/>
                </a:cubicBezTo>
                <a:cubicBezTo>
                  <a:pt x="84628" y="36840"/>
                  <a:pt x="88511" y="39673"/>
                  <a:pt x="88511" y="43650"/>
                </a:cubicBezTo>
                <a:lnTo>
                  <a:pt x="88511" y="92048"/>
                </a:lnTo>
                <a:cubicBezTo>
                  <a:pt x="88511" y="95307"/>
                  <a:pt x="85869" y="97949"/>
                  <a:pt x="82610" y="97949"/>
                </a:cubicBezTo>
                <a:lnTo>
                  <a:pt x="22576" y="97949"/>
                </a:lnTo>
                <a:cubicBezTo>
                  <a:pt x="20071" y="97949"/>
                  <a:pt x="17839" y="96368"/>
                  <a:pt x="17008" y="94006"/>
                </a:cubicBezTo>
                <a:cubicBezTo>
                  <a:pt x="16177" y="91643"/>
                  <a:pt x="16928" y="89013"/>
                  <a:pt x="18882" y="87445"/>
                </a:cubicBezTo>
                <a:lnTo>
                  <a:pt x="74149" y="43237"/>
                </a:lnTo>
                <a:close/>
                <a:moveTo>
                  <a:pt x="0" y="121552"/>
                </a:moveTo>
                <a:cubicBezTo>
                  <a:pt x="0" y="118293"/>
                  <a:pt x="2641" y="115651"/>
                  <a:pt x="5900" y="115651"/>
                </a:cubicBezTo>
                <a:lnTo>
                  <a:pt x="82610" y="115651"/>
                </a:lnTo>
                <a:cubicBezTo>
                  <a:pt x="85869" y="115651"/>
                  <a:pt x="88511" y="118293"/>
                  <a:pt x="88511" y="121552"/>
                </a:cubicBezTo>
                <a:lnTo>
                  <a:pt x="88511" y="154006"/>
                </a:lnTo>
                <a:cubicBezTo>
                  <a:pt x="88511" y="157265"/>
                  <a:pt x="85869" y="159907"/>
                  <a:pt x="82610" y="159907"/>
                </a:cubicBezTo>
                <a:lnTo>
                  <a:pt x="5900" y="159907"/>
                </a:lnTo>
                <a:cubicBezTo>
                  <a:pt x="2641" y="159907"/>
                  <a:pt x="0" y="157265"/>
                  <a:pt x="0" y="154006"/>
                </a:cubicBezTo>
                <a:close/>
                <a:moveTo>
                  <a:pt x="0" y="183510"/>
                </a:moveTo>
                <a:cubicBezTo>
                  <a:pt x="0" y="180251"/>
                  <a:pt x="2641" y="177609"/>
                  <a:pt x="5900" y="177609"/>
                </a:cubicBezTo>
                <a:lnTo>
                  <a:pt x="82610" y="177609"/>
                </a:lnTo>
                <a:cubicBezTo>
                  <a:pt x="85869" y="177609"/>
                  <a:pt x="88511" y="180251"/>
                  <a:pt x="88511" y="183510"/>
                </a:cubicBezTo>
                <a:lnTo>
                  <a:pt x="88511" y="233666"/>
                </a:lnTo>
                <a:cubicBezTo>
                  <a:pt x="88511" y="236925"/>
                  <a:pt x="85869" y="239567"/>
                  <a:pt x="82610" y="239567"/>
                </a:cubicBezTo>
                <a:lnTo>
                  <a:pt x="8851" y="239567"/>
                </a:lnTo>
                <a:cubicBezTo>
                  <a:pt x="3962" y="239567"/>
                  <a:pt x="0" y="235604"/>
                  <a:pt x="0" y="230716"/>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3" name="Rounded Rectangle 110"/>
          <p:cNvSpPr/>
          <p:nvPr/>
        </p:nvSpPr>
        <p:spPr>
          <a:xfrm>
            <a:off x="1183210" y="3678528"/>
            <a:ext cx="283196" cy="283241"/>
          </a:xfrm>
          <a:custGeom>
            <a:avLst/>
            <a:gdLst/>
            <a:ahLst/>
            <a:cxnLst/>
            <a:rect l="0" t="0" r="0" b="0"/>
            <a:pathLst>
              <a:path w="283196" h="283241">
                <a:moveTo>
                  <a:pt x="283196" y="206531"/>
                </a:moveTo>
                <a:cubicBezTo>
                  <a:pt x="283196" y="248897"/>
                  <a:pt x="248852" y="283241"/>
                  <a:pt x="206486" y="283241"/>
                </a:cubicBezTo>
                <a:cubicBezTo>
                  <a:pt x="164120" y="283241"/>
                  <a:pt x="129776" y="248897"/>
                  <a:pt x="129776" y="206531"/>
                </a:cubicBezTo>
                <a:cubicBezTo>
                  <a:pt x="129776" y="164165"/>
                  <a:pt x="164120" y="129821"/>
                  <a:pt x="206486" y="129821"/>
                </a:cubicBezTo>
                <a:cubicBezTo>
                  <a:pt x="248825" y="129886"/>
                  <a:pt x="283131" y="164192"/>
                  <a:pt x="283196" y="206531"/>
                </a:cubicBezTo>
                <a:close/>
                <a:moveTo>
                  <a:pt x="195038" y="250787"/>
                </a:moveTo>
                <a:cubicBezTo>
                  <a:pt x="196668" y="250787"/>
                  <a:pt x="197989" y="252108"/>
                  <a:pt x="197989" y="253737"/>
                </a:cubicBezTo>
                <a:lnTo>
                  <a:pt x="197989" y="255980"/>
                </a:lnTo>
                <a:cubicBezTo>
                  <a:pt x="197989" y="260868"/>
                  <a:pt x="201952" y="264831"/>
                  <a:pt x="206840" y="264831"/>
                </a:cubicBezTo>
                <a:cubicBezTo>
                  <a:pt x="211728" y="264831"/>
                  <a:pt x="215691" y="260868"/>
                  <a:pt x="215691" y="255980"/>
                </a:cubicBezTo>
                <a:lnTo>
                  <a:pt x="215691" y="252321"/>
                </a:lnTo>
                <a:cubicBezTo>
                  <a:pt x="215672" y="250924"/>
                  <a:pt x="216674" y="249722"/>
                  <a:pt x="218051" y="249489"/>
                </a:cubicBezTo>
                <a:cubicBezTo>
                  <a:pt x="229321" y="247180"/>
                  <a:pt x="237499" y="237387"/>
                  <a:pt x="237760" y="225886"/>
                </a:cubicBezTo>
                <a:cubicBezTo>
                  <a:pt x="237865" y="215783"/>
                  <a:pt x="231710" y="206669"/>
                  <a:pt x="222300" y="202991"/>
                </a:cubicBezTo>
                <a:lnTo>
                  <a:pt x="197989" y="193195"/>
                </a:lnTo>
                <a:cubicBezTo>
                  <a:pt x="194851" y="191978"/>
                  <a:pt x="193033" y="188690"/>
                  <a:pt x="193671" y="185385"/>
                </a:cubicBezTo>
                <a:cubicBezTo>
                  <a:pt x="194309" y="182080"/>
                  <a:pt x="197219" y="179704"/>
                  <a:pt x="200585" y="179742"/>
                </a:cubicBezTo>
                <a:lnTo>
                  <a:pt x="224188" y="179742"/>
                </a:lnTo>
                <a:cubicBezTo>
                  <a:pt x="229077" y="179742"/>
                  <a:pt x="233039" y="175779"/>
                  <a:pt x="233039" y="170891"/>
                </a:cubicBezTo>
                <a:cubicBezTo>
                  <a:pt x="233039" y="166002"/>
                  <a:pt x="229077" y="162039"/>
                  <a:pt x="224188" y="162039"/>
                </a:cubicBezTo>
                <a:lnTo>
                  <a:pt x="217933" y="162039"/>
                </a:lnTo>
                <a:cubicBezTo>
                  <a:pt x="216304" y="162039"/>
                  <a:pt x="214983" y="160719"/>
                  <a:pt x="214983" y="159089"/>
                </a:cubicBezTo>
                <a:lnTo>
                  <a:pt x="214983" y="156139"/>
                </a:lnTo>
                <a:cubicBezTo>
                  <a:pt x="214983" y="151250"/>
                  <a:pt x="211020" y="147288"/>
                  <a:pt x="206132" y="147288"/>
                </a:cubicBezTo>
                <a:cubicBezTo>
                  <a:pt x="201244" y="147288"/>
                  <a:pt x="197281" y="151250"/>
                  <a:pt x="197281" y="156139"/>
                </a:cubicBezTo>
                <a:lnTo>
                  <a:pt x="197281" y="159797"/>
                </a:lnTo>
                <a:cubicBezTo>
                  <a:pt x="197300" y="161194"/>
                  <a:pt x="196298" y="162397"/>
                  <a:pt x="194920" y="162630"/>
                </a:cubicBezTo>
                <a:cubicBezTo>
                  <a:pt x="184132" y="164717"/>
                  <a:pt x="176025" y="173690"/>
                  <a:pt x="175040" y="184635"/>
                </a:cubicBezTo>
                <a:cubicBezTo>
                  <a:pt x="174055" y="195579"/>
                  <a:pt x="180429" y="205855"/>
                  <a:pt x="190672" y="209836"/>
                </a:cubicBezTo>
                <a:lnTo>
                  <a:pt x="214983" y="219631"/>
                </a:lnTo>
                <a:cubicBezTo>
                  <a:pt x="217653" y="220668"/>
                  <a:pt x="219396" y="223258"/>
                  <a:pt x="219350" y="226122"/>
                </a:cubicBezTo>
                <a:cubicBezTo>
                  <a:pt x="219350" y="229967"/>
                  <a:pt x="216232" y="233085"/>
                  <a:pt x="212387" y="233085"/>
                </a:cubicBezTo>
                <a:lnTo>
                  <a:pt x="188784" y="233085"/>
                </a:lnTo>
                <a:cubicBezTo>
                  <a:pt x="183895" y="233085"/>
                  <a:pt x="179932" y="237047"/>
                  <a:pt x="179932" y="241936"/>
                </a:cubicBezTo>
                <a:cubicBezTo>
                  <a:pt x="179932" y="246824"/>
                  <a:pt x="183895" y="250787"/>
                  <a:pt x="188784" y="250787"/>
                </a:cubicBezTo>
                <a:close/>
                <a:moveTo>
                  <a:pt x="6922" y="173015"/>
                </a:moveTo>
                <a:cubicBezTo>
                  <a:pt x="2490" y="168588"/>
                  <a:pt x="0" y="162580"/>
                  <a:pt x="0" y="156316"/>
                </a:cubicBezTo>
                <a:cubicBezTo>
                  <a:pt x="0" y="150051"/>
                  <a:pt x="2490" y="144044"/>
                  <a:pt x="6922" y="139617"/>
                </a:cubicBezTo>
                <a:lnTo>
                  <a:pt x="134615" y="11806"/>
                </a:lnTo>
                <a:cubicBezTo>
                  <a:pt x="142419" y="4586"/>
                  <a:pt x="152550" y="400"/>
                  <a:pt x="163174" y="4"/>
                </a:cubicBezTo>
                <a:lnTo>
                  <a:pt x="213449" y="4"/>
                </a:lnTo>
                <a:cubicBezTo>
                  <a:pt x="219682" y="0"/>
                  <a:pt x="225664" y="2460"/>
                  <a:pt x="230089" y="6849"/>
                </a:cubicBezTo>
                <a:cubicBezTo>
                  <a:pt x="234594" y="11265"/>
                  <a:pt x="237144" y="17300"/>
                  <a:pt x="237170" y="23608"/>
                </a:cubicBezTo>
                <a:lnTo>
                  <a:pt x="237170" y="70342"/>
                </a:lnTo>
                <a:cubicBezTo>
                  <a:pt x="236526" y="80875"/>
                  <a:pt x="232371" y="90888"/>
                  <a:pt x="225368" y="98783"/>
                </a:cubicBezTo>
                <a:lnTo>
                  <a:pt x="214275" y="110585"/>
                </a:lnTo>
                <a:cubicBezTo>
                  <a:pt x="213179" y="111746"/>
                  <a:pt x="211619" y="112353"/>
                  <a:pt x="210026" y="112237"/>
                </a:cubicBezTo>
                <a:cubicBezTo>
                  <a:pt x="183804" y="111553"/>
                  <a:pt x="158479" y="121809"/>
                  <a:pt x="140123" y="140546"/>
                </a:cubicBezTo>
                <a:cubicBezTo>
                  <a:pt x="121766" y="159283"/>
                  <a:pt x="112032" y="184813"/>
                  <a:pt x="113254" y="211016"/>
                </a:cubicBezTo>
                <a:cubicBezTo>
                  <a:pt x="113340" y="212581"/>
                  <a:pt x="112786" y="214115"/>
                  <a:pt x="111720" y="215264"/>
                </a:cubicBezTo>
                <a:lnTo>
                  <a:pt x="97322" y="229898"/>
                </a:lnTo>
                <a:cubicBezTo>
                  <a:pt x="92998" y="234466"/>
                  <a:pt x="86971" y="237030"/>
                  <a:pt x="80682" y="236979"/>
                </a:cubicBezTo>
                <a:cubicBezTo>
                  <a:pt x="74408" y="237015"/>
                  <a:pt x="68378" y="234552"/>
                  <a:pt x="63923" y="230134"/>
                </a:cubicBezTo>
                <a:close/>
                <a:moveTo>
                  <a:pt x="172143" y="88516"/>
                </a:moveTo>
                <a:cubicBezTo>
                  <a:pt x="185179" y="88516"/>
                  <a:pt x="195746" y="77949"/>
                  <a:pt x="195746" y="64913"/>
                </a:cubicBezTo>
                <a:cubicBezTo>
                  <a:pt x="195746" y="51877"/>
                  <a:pt x="185179" y="41310"/>
                  <a:pt x="172143" y="41310"/>
                </a:cubicBezTo>
                <a:cubicBezTo>
                  <a:pt x="159108" y="41310"/>
                  <a:pt x="148540" y="51877"/>
                  <a:pt x="148540" y="64913"/>
                </a:cubicBezTo>
                <a:cubicBezTo>
                  <a:pt x="148540" y="77949"/>
                  <a:pt x="159108" y="88516"/>
                  <a:pt x="172143" y="88516"/>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4" name="Rounded Rectangle 111"/>
          <p:cNvSpPr/>
          <p:nvPr/>
        </p:nvSpPr>
        <p:spPr>
          <a:xfrm>
            <a:off x="1183170" y="2592791"/>
            <a:ext cx="283236" cy="283236"/>
          </a:xfrm>
          <a:custGeom>
            <a:avLst/>
            <a:gdLst/>
            <a:ahLst/>
            <a:cxnLst/>
            <a:rect l="0" t="0" r="0" b="0"/>
            <a:pathLst>
              <a:path w="283236" h="283236">
                <a:moveTo>
                  <a:pt x="283236" y="141618"/>
                </a:moveTo>
                <a:cubicBezTo>
                  <a:pt x="283236" y="219831"/>
                  <a:pt x="219831" y="283236"/>
                  <a:pt x="141618" y="283236"/>
                </a:cubicBezTo>
                <a:cubicBezTo>
                  <a:pt x="63404" y="283236"/>
                  <a:pt x="0" y="219831"/>
                  <a:pt x="0" y="141618"/>
                </a:cubicBezTo>
                <a:cubicBezTo>
                  <a:pt x="0" y="63404"/>
                  <a:pt x="63404" y="0"/>
                  <a:pt x="141618" y="0"/>
                </a:cubicBezTo>
                <a:cubicBezTo>
                  <a:pt x="219832" y="0"/>
                  <a:pt x="283236" y="63404"/>
                  <a:pt x="283236" y="141618"/>
                </a:cubicBezTo>
                <a:close/>
                <a:moveTo>
                  <a:pt x="197675" y="171122"/>
                </a:moveTo>
                <a:cubicBezTo>
                  <a:pt x="197656" y="159705"/>
                  <a:pt x="192551" y="148890"/>
                  <a:pt x="183749" y="141618"/>
                </a:cubicBezTo>
                <a:cubicBezTo>
                  <a:pt x="196169" y="131302"/>
                  <a:pt x="200798" y="114313"/>
                  <a:pt x="195329" y="99122"/>
                </a:cubicBezTo>
                <a:cubicBezTo>
                  <a:pt x="189861" y="83932"/>
                  <a:pt x="175465" y="73792"/>
                  <a:pt x="159320" y="73759"/>
                </a:cubicBezTo>
                <a:lnTo>
                  <a:pt x="106213" y="73759"/>
                </a:lnTo>
                <a:cubicBezTo>
                  <a:pt x="101352" y="73823"/>
                  <a:pt x="97426" y="77748"/>
                  <a:pt x="97362" y="82610"/>
                </a:cubicBezTo>
                <a:lnTo>
                  <a:pt x="97362" y="132767"/>
                </a:lnTo>
                <a:lnTo>
                  <a:pt x="70809" y="132767"/>
                </a:lnTo>
                <a:cubicBezTo>
                  <a:pt x="65920" y="132767"/>
                  <a:pt x="61958" y="136730"/>
                  <a:pt x="61958" y="141618"/>
                </a:cubicBezTo>
                <a:cubicBezTo>
                  <a:pt x="61958" y="146506"/>
                  <a:pt x="65920" y="150469"/>
                  <a:pt x="70809" y="150469"/>
                </a:cubicBezTo>
                <a:lnTo>
                  <a:pt x="159320" y="150469"/>
                </a:lnTo>
                <a:cubicBezTo>
                  <a:pt x="170726" y="150469"/>
                  <a:pt x="179973" y="159716"/>
                  <a:pt x="179973" y="171122"/>
                </a:cubicBezTo>
                <a:cubicBezTo>
                  <a:pt x="179973" y="182528"/>
                  <a:pt x="170726" y="191774"/>
                  <a:pt x="159320" y="191774"/>
                </a:cubicBezTo>
                <a:lnTo>
                  <a:pt x="115064" y="191774"/>
                </a:lnTo>
                <a:lnTo>
                  <a:pt x="115064" y="182923"/>
                </a:lnTo>
                <a:cubicBezTo>
                  <a:pt x="115064" y="178035"/>
                  <a:pt x="111102" y="174072"/>
                  <a:pt x="106213" y="174072"/>
                </a:cubicBezTo>
                <a:cubicBezTo>
                  <a:pt x="101325" y="174072"/>
                  <a:pt x="97362" y="178035"/>
                  <a:pt x="97362" y="182923"/>
                </a:cubicBezTo>
                <a:lnTo>
                  <a:pt x="97362" y="200626"/>
                </a:lnTo>
                <a:cubicBezTo>
                  <a:pt x="97426" y="205487"/>
                  <a:pt x="101352" y="209413"/>
                  <a:pt x="106213" y="209477"/>
                </a:cubicBezTo>
                <a:lnTo>
                  <a:pt x="159320" y="209477"/>
                </a:lnTo>
                <a:cubicBezTo>
                  <a:pt x="180476" y="209412"/>
                  <a:pt x="197610" y="192278"/>
                  <a:pt x="197675" y="171122"/>
                </a:cubicBezTo>
                <a:close/>
                <a:moveTo>
                  <a:pt x="159320" y="91461"/>
                </a:moveTo>
                <a:cubicBezTo>
                  <a:pt x="170726" y="91461"/>
                  <a:pt x="179973" y="100708"/>
                  <a:pt x="179973" y="112114"/>
                </a:cubicBezTo>
                <a:cubicBezTo>
                  <a:pt x="179973" y="123520"/>
                  <a:pt x="170726" y="132767"/>
                  <a:pt x="159320" y="132767"/>
                </a:cubicBezTo>
                <a:lnTo>
                  <a:pt x="115064" y="132767"/>
                </a:lnTo>
                <a:lnTo>
                  <a:pt x="115064" y="91461"/>
                </a:lnTo>
                <a:lnTo>
                  <a:pt x="159320" y="91461"/>
                </a:ln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5" name="TextBox 112"/>
          <p:cNvSpPr txBox="1"/>
          <p:nvPr/>
        </p:nvSpPr>
        <p:spPr>
          <a:xfrm>
            <a:off x="8073623" y="3679585"/>
            <a:ext cx="461665"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250</a:t>
            </a:r>
          </a:p>
        </p:txBody>
      </p:sp>
      <p:sp>
        <p:nvSpPr>
          <p:cNvPr id="46" name="TextBox 113"/>
          <p:cNvSpPr txBox="1"/>
          <p:nvPr/>
        </p:nvSpPr>
        <p:spPr>
          <a:xfrm>
            <a:off x="6188900" y="3668989"/>
            <a:ext cx="461665"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200</a:t>
            </a:r>
          </a:p>
        </p:txBody>
      </p:sp>
      <p:sp>
        <p:nvSpPr>
          <p:cNvPr id="47" name="TextBox 114"/>
          <p:cNvSpPr txBox="1"/>
          <p:nvPr/>
        </p:nvSpPr>
        <p:spPr>
          <a:xfrm>
            <a:off x="9964108" y="3679584"/>
            <a:ext cx="39754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N/A</a:t>
            </a:r>
          </a:p>
        </p:txBody>
      </p:sp>
      <p:sp>
        <p:nvSpPr>
          <p:cNvPr id="48" name="TextBox 115"/>
          <p:cNvSpPr txBox="1"/>
          <p:nvPr/>
        </p:nvSpPr>
        <p:spPr>
          <a:xfrm>
            <a:off x="4258775" y="3681648"/>
            <a:ext cx="461665"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150</a:t>
            </a:r>
          </a:p>
        </p:txBody>
      </p:sp>
      <p:sp>
        <p:nvSpPr>
          <p:cNvPr id="49" name="TextBox 116"/>
          <p:cNvSpPr txBox="1"/>
          <p:nvPr/>
        </p:nvSpPr>
        <p:spPr>
          <a:xfrm>
            <a:off x="1529349" y="3684770"/>
            <a:ext cx="107080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latin typeface="Times New Roman" panose="02020603050405020304" pitchFamily="18" charset="0"/>
                <a:cs typeface="Times New Roman" panose="02020603050405020304" pitchFamily="18" charset="0"/>
              </a:rPr>
              <a:t>Sales Price</a:t>
            </a:r>
          </a:p>
        </p:txBody>
      </p:sp>
      <p:sp>
        <p:nvSpPr>
          <p:cNvPr id="50" name="TextBox 117"/>
          <p:cNvSpPr txBox="1"/>
          <p:nvPr/>
        </p:nvSpPr>
        <p:spPr>
          <a:xfrm>
            <a:off x="1529349" y="4153405"/>
            <a:ext cx="1135247"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latin typeface="Times New Roman" panose="02020603050405020304" pitchFamily="18" charset="0"/>
                <a:cs typeface="Times New Roman" panose="02020603050405020304" pitchFamily="18" charset="0"/>
              </a:rPr>
              <a:t>Output Tax</a:t>
            </a:r>
          </a:p>
        </p:txBody>
      </p:sp>
      <p:sp>
        <p:nvSpPr>
          <p:cNvPr id="51" name="TextBox 118"/>
          <p:cNvSpPr txBox="1"/>
          <p:nvPr/>
        </p:nvSpPr>
        <p:spPr>
          <a:xfrm>
            <a:off x="9953279" y="3206470"/>
            <a:ext cx="39754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N/A</a:t>
            </a:r>
          </a:p>
        </p:txBody>
      </p:sp>
      <p:sp>
        <p:nvSpPr>
          <p:cNvPr id="52" name="TextBox 119"/>
          <p:cNvSpPr txBox="1"/>
          <p:nvPr/>
        </p:nvSpPr>
        <p:spPr>
          <a:xfrm>
            <a:off x="4306530" y="4153404"/>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a:t>
            </a:r>
          </a:p>
        </p:txBody>
      </p:sp>
      <p:sp>
        <p:nvSpPr>
          <p:cNvPr id="53" name="TextBox 120"/>
          <p:cNvSpPr txBox="1"/>
          <p:nvPr/>
        </p:nvSpPr>
        <p:spPr>
          <a:xfrm>
            <a:off x="8131332" y="3192603"/>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a:t>
            </a:r>
          </a:p>
        </p:txBody>
      </p:sp>
      <p:sp>
        <p:nvSpPr>
          <p:cNvPr id="54" name="TextBox 121"/>
          <p:cNvSpPr txBox="1"/>
          <p:nvPr/>
        </p:nvSpPr>
        <p:spPr>
          <a:xfrm>
            <a:off x="6223034" y="4153404"/>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a:t>
            </a:r>
          </a:p>
        </p:txBody>
      </p:sp>
      <p:sp>
        <p:nvSpPr>
          <p:cNvPr id="55" name="TextBox 122"/>
          <p:cNvSpPr txBox="1"/>
          <p:nvPr/>
        </p:nvSpPr>
        <p:spPr>
          <a:xfrm>
            <a:off x="6218572" y="3196928"/>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a:t>
            </a:r>
          </a:p>
        </p:txBody>
      </p:sp>
      <p:sp>
        <p:nvSpPr>
          <p:cNvPr id="56" name="TextBox 123"/>
          <p:cNvSpPr txBox="1"/>
          <p:nvPr/>
        </p:nvSpPr>
        <p:spPr>
          <a:xfrm>
            <a:off x="8131330" y="4151646"/>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25</a:t>
            </a:r>
          </a:p>
        </p:txBody>
      </p:sp>
      <p:sp>
        <p:nvSpPr>
          <p:cNvPr id="57" name="TextBox 124"/>
          <p:cNvSpPr txBox="1"/>
          <p:nvPr/>
        </p:nvSpPr>
        <p:spPr>
          <a:xfrm>
            <a:off x="4321124" y="3206470"/>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10</a:t>
            </a:r>
          </a:p>
        </p:txBody>
      </p:sp>
      <p:sp>
        <p:nvSpPr>
          <p:cNvPr id="58" name="TextBox 125"/>
          <p:cNvSpPr txBox="1"/>
          <p:nvPr/>
        </p:nvSpPr>
        <p:spPr>
          <a:xfrm>
            <a:off x="9979588" y="4151645"/>
            <a:ext cx="39754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N/A</a:t>
            </a:r>
          </a:p>
        </p:txBody>
      </p:sp>
      <p:sp>
        <p:nvSpPr>
          <p:cNvPr id="59" name="TextBox 126"/>
          <p:cNvSpPr txBox="1"/>
          <p:nvPr/>
        </p:nvSpPr>
        <p:spPr>
          <a:xfrm>
            <a:off x="1529349" y="3206470"/>
            <a:ext cx="968535"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latin typeface="Times New Roman" panose="02020603050405020304" pitchFamily="18" charset="0"/>
                <a:cs typeface="Times New Roman" panose="02020603050405020304" pitchFamily="18" charset="0"/>
              </a:rPr>
              <a:t>Input Tax</a:t>
            </a:r>
          </a:p>
        </p:txBody>
      </p:sp>
      <p:sp>
        <p:nvSpPr>
          <p:cNvPr id="60" name="TextBox 127"/>
          <p:cNvSpPr txBox="1"/>
          <p:nvPr/>
        </p:nvSpPr>
        <p:spPr>
          <a:xfrm>
            <a:off x="9404912" y="2455345"/>
            <a:ext cx="1546898"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Product: </a:t>
            </a:r>
            <a:endParaRPr lang="en-US" b="0" dirty="0">
              <a:solidFill>
                <a:srgbClr val="FFFFFF"/>
              </a:solidFill>
              <a:latin typeface="Times New Roman" panose="02020603050405020304" pitchFamily="18" charset="0"/>
              <a:cs typeface="Times New Roman" panose="02020603050405020304" pitchFamily="18" charset="0"/>
            </a:endParaRPr>
          </a:p>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250 +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25</a:t>
            </a:r>
            <a:r>
              <a:rPr lang="en-US" b="0"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GST</a:t>
            </a:r>
          </a:p>
        </p:txBody>
      </p:sp>
      <p:sp>
        <p:nvSpPr>
          <p:cNvPr id="61" name="TextBox 128"/>
          <p:cNvSpPr txBox="1"/>
          <p:nvPr/>
        </p:nvSpPr>
        <p:spPr>
          <a:xfrm>
            <a:off x="1528871" y="4615793"/>
            <a:ext cx="166327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latin typeface="Times New Roman" panose="02020603050405020304" pitchFamily="18" charset="0"/>
                <a:cs typeface="Times New Roman" panose="02020603050405020304" pitchFamily="18" charset="0"/>
              </a:rPr>
              <a:t>Input Tax Credit</a:t>
            </a:r>
          </a:p>
        </p:txBody>
      </p:sp>
      <p:sp>
        <p:nvSpPr>
          <p:cNvPr id="62" name="TextBox 129"/>
          <p:cNvSpPr txBox="1"/>
          <p:nvPr/>
        </p:nvSpPr>
        <p:spPr>
          <a:xfrm>
            <a:off x="7464484" y="2463656"/>
            <a:ext cx="1679947"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F</a:t>
            </a:r>
            <a:r>
              <a:rPr b="0" dirty="0">
                <a:solidFill>
                  <a:srgbClr val="FFFFFF"/>
                </a:solidFill>
                <a:latin typeface="Times New Roman" panose="02020603050405020304" pitchFamily="18" charset="0"/>
                <a:cs typeface="Times New Roman" panose="02020603050405020304" pitchFamily="18" charset="0"/>
              </a:rPr>
              <a:t>rom</a:t>
            </a:r>
            <a:r>
              <a:rPr lang="en-US"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wholesaler: </a:t>
            </a:r>
            <a:endParaRPr lang="en-US" b="0" dirty="0">
              <a:solidFill>
                <a:srgbClr val="FFFFFF"/>
              </a:solidFill>
              <a:latin typeface="Times New Roman" panose="02020603050405020304" pitchFamily="18" charset="0"/>
              <a:cs typeface="Times New Roman" panose="02020603050405020304" pitchFamily="18" charset="0"/>
            </a:endParaRPr>
          </a:p>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200 +</a:t>
            </a:r>
            <a:r>
              <a:rPr lang="en-US" b="0"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20 GST</a:t>
            </a:r>
          </a:p>
        </p:txBody>
      </p:sp>
      <p:sp>
        <p:nvSpPr>
          <p:cNvPr id="63" name="TextBox 130"/>
          <p:cNvSpPr txBox="1"/>
          <p:nvPr/>
        </p:nvSpPr>
        <p:spPr>
          <a:xfrm>
            <a:off x="4302826" y="4625685"/>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10</a:t>
            </a:r>
          </a:p>
        </p:txBody>
      </p:sp>
      <p:sp>
        <p:nvSpPr>
          <p:cNvPr id="64" name="TextBox 131"/>
          <p:cNvSpPr txBox="1"/>
          <p:nvPr/>
        </p:nvSpPr>
        <p:spPr>
          <a:xfrm>
            <a:off x="3698820" y="2457409"/>
            <a:ext cx="1546898"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Raw materials: </a:t>
            </a:r>
            <a:endParaRPr lang="en-US" b="0" dirty="0">
              <a:solidFill>
                <a:srgbClr val="FFFFFF"/>
              </a:solidFill>
              <a:latin typeface="Times New Roman" panose="02020603050405020304" pitchFamily="18" charset="0"/>
              <a:cs typeface="Times New Roman" panose="02020603050405020304" pitchFamily="18" charset="0"/>
            </a:endParaRPr>
          </a:p>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100</a:t>
            </a:r>
            <a:r>
              <a:rPr lang="en-US" b="0"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10 GST</a:t>
            </a:r>
          </a:p>
        </p:txBody>
      </p:sp>
      <p:sp>
        <p:nvSpPr>
          <p:cNvPr id="65" name="TextBox 132"/>
          <p:cNvSpPr txBox="1"/>
          <p:nvPr/>
        </p:nvSpPr>
        <p:spPr>
          <a:xfrm>
            <a:off x="6223033" y="4628994"/>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a:t>
            </a:r>
          </a:p>
        </p:txBody>
      </p:sp>
      <p:sp>
        <p:nvSpPr>
          <p:cNvPr id="66" name="TextBox 133"/>
          <p:cNvSpPr txBox="1"/>
          <p:nvPr/>
        </p:nvSpPr>
        <p:spPr>
          <a:xfrm>
            <a:off x="1620009" y="2599028"/>
            <a:ext cx="47448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FFFFFF"/>
                </a:solidFill>
                <a:latin typeface="Times New Roman" panose="02020603050405020304" pitchFamily="18" charset="0"/>
                <a:cs typeface="Times New Roman" panose="02020603050405020304" pitchFamily="18" charset="0"/>
              </a:rPr>
              <a:t>Buys</a:t>
            </a:r>
          </a:p>
        </p:txBody>
      </p:sp>
      <p:sp>
        <p:nvSpPr>
          <p:cNvPr id="67" name="TextBox 134"/>
          <p:cNvSpPr txBox="1"/>
          <p:nvPr/>
        </p:nvSpPr>
        <p:spPr>
          <a:xfrm>
            <a:off x="8132726" y="4611075"/>
            <a:ext cx="34624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a:t>
            </a:r>
          </a:p>
        </p:txBody>
      </p:sp>
      <p:sp>
        <p:nvSpPr>
          <p:cNvPr id="68" name="TextBox 135"/>
          <p:cNvSpPr txBox="1"/>
          <p:nvPr/>
        </p:nvSpPr>
        <p:spPr>
          <a:xfrm>
            <a:off x="5464344" y="2455345"/>
            <a:ext cx="1910779"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F</a:t>
            </a:r>
            <a:r>
              <a:rPr b="0" dirty="0">
                <a:solidFill>
                  <a:srgbClr val="FFFFFF"/>
                </a:solidFill>
                <a:latin typeface="Times New Roman" panose="02020603050405020304" pitchFamily="18" charset="0"/>
                <a:cs typeface="Times New Roman" panose="02020603050405020304" pitchFamily="18" charset="0"/>
              </a:rPr>
              <a:t>rom</a:t>
            </a:r>
            <a:r>
              <a:rPr lang="en-US"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manufacturer: </a:t>
            </a:r>
            <a:endParaRPr lang="en-US" b="0" dirty="0">
              <a:solidFill>
                <a:srgbClr val="FFFFFF"/>
              </a:solidFill>
              <a:latin typeface="Times New Roman" panose="02020603050405020304" pitchFamily="18" charset="0"/>
              <a:cs typeface="Times New Roman" panose="02020603050405020304" pitchFamily="18" charset="0"/>
            </a:endParaRPr>
          </a:p>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150</a:t>
            </a:r>
            <a:r>
              <a:rPr lang="en-US" b="0" dirty="0">
                <a:solidFill>
                  <a:srgbClr val="FFFFFF"/>
                </a:solidFill>
                <a:latin typeface="Times New Roman" panose="02020603050405020304" pitchFamily="18" charset="0"/>
                <a:cs typeface="Times New Roman" panose="02020603050405020304" pitchFamily="18" charset="0"/>
              </a:rPr>
              <a:t> </a:t>
            </a:r>
            <a:r>
              <a:rPr b="0" dirty="0">
                <a:solidFill>
                  <a:srgbClr val="FFFFFF"/>
                </a:solidFill>
                <a:latin typeface="Times New Roman" panose="02020603050405020304" pitchFamily="18" charset="0"/>
                <a:cs typeface="Times New Roman" panose="02020603050405020304" pitchFamily="18" charset="0"/>
              </a:rPr>
              <a:t>+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 GST</a:t>
            </a:r>
          </a:p>
        </p:txBody>
      </p:sp>
      <p:sp>
        <p:nvSpPr>
          <p:cNvPr id="69" name="TextBox 136"/>
          <p:cNvSpPr txBox="1"/>
          <p:nvPr/>
        </p:nvSpPr>
        <p:spPr>
          <a:xfrm>
            <a:off x="9953279" y="5094714"/>
            <a:ext cx="39754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N/A</a:t>
            </a:r>
          </a:p>
        </p:txBody>
      </p:sp>
      <p:sp>
        <p:nvSpPr>
          <p:cNvPr id="70" name="TextBox 137"/>
          <p:cNvSpPr txBox="1"/>
          <p:nvPr/>
        </p:nvSpPr>
        <p:spPr>
          <a:xfrm>
            <a:off x="9528092" y="1973300"/>
            <a:ext cx="1269579"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Consumer</a:t>
            </a:r>
          </a:p>
        </p:txBody>
      </p:sp>
      <p:sp>
        <p:nvSpPr>
          <p:cNvPr id="71" name="TextBox 138"/>
          <p:cNvSpPr txBox="1"/>
          <p:nvPr/>
        </p:nvSpPr>
        <p:spPr>
          <a:xfrm>
            <a:off x="7834778" y="1971690"/>
            <a:ext cx="939360"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Retailer</a:t>
            </a:r>
          </a:p>
        </p:txBody>
      </p:sp>
      <p:sp>
        <p:nvSpPr>
          <p:cNvPr id="72" name="TextBox 139"/>
          <p:cNvSpPr txBox="1"/>
          <p:nvPr/>
        </p:nvSpPr>
        <p:spPr>
          <a:xfrm>
            <a:off x="1528871" y="5100966"/>
            <a:ext cx="1981312"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latin typeface="Times New Roman" panose="02020603050405020304" pitchFamily="18" charset="0"/>
                <a:cs typeface="Times New Roman" panose="02020603050405020304" pitchFamily="18" charset="0"/>
              </a:rPr>
              <a:t>Remittance to Govt</a:t>
            </a:r>
            <a:r>
              <a:rPr lang="en-US" b="1" dirty="0">
                <a:solidFill>
                  <a:srgbClr val="FFFFFF"/>
                </a:solidFill>
                <a:latin typeface="Times New Roman" panose="02020603050405020304" pitchFamily="18" charset="0"/>
                <a:cs typeface="Times New Roman" panose="02020603050405020304" pitchFamily="18" charset="0"/>
              </a:rPr>
              <a:t>.</a:t>
            </a:r>
            <a:endParaRPr b="1" dirty="0">
              <a:solidFill>
                <a:srgbClr val="FFFFFF"/>
              </a:solidFill>
              <a:latin typeface="Times New Roman" panose="02020603050405020304" pitchFamily="18" charset="0"/>
              <a:cs typeface="Times New Roman" panose="02020603050405020304" pitchFamily="18" charset="0"/>
            </a:endParaRPr>
          </a:p>
        </p:txBody>
      </p:sp>
      <p:sp>
        <p:nvSpPr>
          <p:cNvPr id="73" name="TextBox 140"/>
          <p:cNvSpPr txBox="1"/>
          <p:nvPr/>
        </p:nvSpPr>
        <p:spPr>
          <a:xfrm>
            <a:off x="5708016" y="1963219"/>
            <a:ext cx="1367362"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Wholesaler</a:t>
            </a:r>
          </a:p>
        </p:txBody>
      </p:sp>
      <p:sp>
        <p:nvSpPr>
          <p:cNvPr id="74" name="TextBox 141"/>
          <p:cNvSpPr txBox="1"/>
          <p:nvPr/>
        </p:nvSpPr>
        <p:spPr>
          <a:xfrm>
            <a:off x="3825964" y="5097833"/>
            <a:ext cx="132728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5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15 -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10)</a:t>
            </a:r>
          </a:p>
        </p:txBody>
      </p:sp>
      <p:sp>
        <p:nvSpPr>
          <p:cNvPr id="75" name="TextBox 142"/>
          <p:cNvSpPr txBox="1"/>
          <p:nvPr/>
        </p:nvSpPr>
        <p:spPr>
          <a:xfrm>
            <a:off x="3682328" y="1946552"/>
            <a:ext cx="1623842"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Manufacturer</a:t>
            </a:r>
          </a:p>
        </p:txBody>
      </p:sp>
      <p:sp>
        <p:nvSpPr>
          <p:cNvPr id="76" name="TextBox 143"/>
          <p:cNvSpPr txBox="1"/>
          <p:nvPr/>
        </p:nvSpPr>
        <p:spPr>
          <a:xfrm>
            <a:off x="5759682" y="5094715"/>
            <a:ext cx="132728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5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20 -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15)</a:t>
            </a:r>
          </a:p>
        </p:txBody>
      </p:sp>
      <p:sp>
        <p:nvSpPr>
          <p:cNvPr id="77" name="TextBox 144"/>
          <p:cNvSpPr txBox="1"/>
          <p:nvPr/>
        </p:nvSpPr>
        <p:spPr>
          <a:xfrm>
            <a:off x="1874657" y="1961977"/>
            <a:ext cx="856004"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FFFFFF"/>
                </a:solidFill>
                <a:latin typeface="Roboto"/>
              </a:rPr>
              <a:t>Aspect</a:t>
            </a:r>
          </a:p>
        </p:txBody>
      </p:sp>
      <p:sp>
        <p:nvSpPr>
          <p:cNvPr id="78" name="TextBox 145"/>
          <p:cNvSpPr txBox="1"/>
          <p:nvPr/>
        </p:nvSpPr>
        <p:spPr>
          <a:xfrm>
            <a:off x="7640811" y="5094714"/>
            <a:ext cx="132728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5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25 - </a:t>
            </a:r>
            <a:r>
              <a:rPr lang="en-US" b="0" dirty="0">
                <a:solidFill>
                  <a:srgbClr val="FFFFFF"/>
                </a:solidFill>
                <a:latin typeface="Times New Roman" panose="02020603050405020304" pitchFamily="18" charset="0"/>
                <a:cs typeface="Times New Roman" panose="02020603050405020304" pitchFamily="18" charset="0"/>
              </a:rPr>
              <a:t>₹</a:t>
            </a:r>
            <a:r>
              <a:rPr b="0" dirty="0">
                <a:solidFill>
                  <a:srgbClr val="FFFFFF"/>
                </a:solidFill>
                <a:latin typeface="Times New Roman" panose="02020603050405020304" pitchFamily="18" charset="0"/>
                <a:cs typeface="Times New Roman" panose="02020603050405020304" pitchFamily="18" charset="0"/>
              </a:rPr>
              <a:t>20)</a:t>
            </a:r>
          </a:p>
        </p:txBody>
      </p:sp>
      <p:sp>
        <p:nvSpPr>
          <p:cNvPr id="79" name="TextBox 147"/>
          <p:cNvSpPr txBox="1"/>
          <p:nvPr/>
        </p:nvSpPr>
        <p:spPr>
          <a:xfrm>
            <a:off x="9953279" y="4623708"/>
            <a:ext cx="39754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Times New Roman" panose="02020603050405020304" pitchFamily="18" charset="0"/>
                <a:cs typeface="Times New Roman" panose="02020603050405020304" pitchFamily="18" charset="0"/>
              </a:rPr>
              <a:t>N/A</a:t>
            </a:r>
          </a:p>
        </p:txBody>
      </p:sp>
    </p:spTree>
    <p:extLst>
      <p:ext uri="{BB962C8B-B14F-4D97-AF65-F5344CB8AC3E}">
        <p14:creationId xmlns:p14="http://schemas.microsoft.com/office/powerpoint/2010/main" val="1360368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01704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3A3F08-EB76-3653-F9A8-A567D6E1069C}"/>
              </a:ext>
            </a:extLst>
          </p:cNvPr>
          <p:cNvSpPr>
            <a:spLocks noGrp="1"/>
          </p:cNvSpPr>
          <p:nvPr>
            <p:ph type="title"/>
          </p:nvPr>
        </p:nvSpPr>
        <p:spPr/>
        <p:txBody>
          <a:bodyPr/>
          <a:lstStyle/>
          <a:p>
            <a:r>
              <a:rPr lang="en-IN" dirty="0"/>
              <a:t>Exercise</a:t>
            </a:r>
            <a:endParaRPr lang="en-US" dirty="0"/>
          </a:p>
        </p:txBody>
      </p:sp>
      <p:graphicFrame>
        <p:nvGraphicFramePr>
          <p:cNvPr id="4" name="Table 3">
            <a:extLst>
              <a:ext uri="{FF2B5EF4-FFF2-40B4-BE49-F238E27FC236}">
                <a16:creationId xmlns:a16="http://schemas.microsoft.com/office/drawing/2014/main" id="{A3842AE0-C522-7135-C329-68443AB52C6A}"/>
              </a:ext>
            </a:extLst>
          </p:cNvPr>
          <p:cNvGraphicFramePr>
            <a:graphicFrameLocks noGrp="1"/>
          </p:cNvGraphicFramePr>
          <p:nvPr>
            <p:extLst>
              <p:ext uri="{D42A27DB-BD31-4B8C-83A1-F6EECF244321}">
                <p14:modId xmlns:p14="http://schemas.microsoft.com/office/powerpoint/2010/main" val="548947697"/>
              </p:ext>
            </p:extLst>
          </p:nvPr>
        </p:nvGraphicFramePr>
        <p:xfrm>
          <a:off x="665825" y="1278384"/>
          <a:ext cx="10628496" cy="3920505"/>
        </p:xfrm>
        <a:graphic>
          <a:graphicData uri="http://schemas.openxmlformats.org/drawingml/2006/table">
            <a:tbl>
              <a:tblPr firstRow="1" bandRow="1">
                <a:tableStyleId>{21E4AEA4-8DFA-4A89-87EB-49C32662AFE0}</a:tableStyleId>
              </a:tblPr>
              <a:tblGrid>
                <a:gridCol w="1819923">
                  <a:extLst>
                    <a:ext uri="{9D8B030D-6E8A-4147-A177-3AD203B41FA5}">
                      <a16:colId xmlns:a16="http://schemas.microsoft.com/office/drawing/2014/main" val="20000"/>
                    </a:ext>
                  </a:extLst>
                </a:gridCol>
                <a:gridCol w="1722909">
                  <a:extLst>
                    <a:ext uri="{9D8B030D-6E8A-4147-A177-3AD203B41FA5}">
                      <a16:colId xmlns:a16="http://schemas.microsoft.com/office/drawing/2014/main" val="20001"/>
                    </a:ext>
                  </a:extLst>
                </a:gridCol>
                <a:gridCol w="1771416">
                  <a:extLst>
                    <a:ext uri="{9D8B030D-6E8A-4147-A177-3AD203B41FA5}">
                      <a16:colId xmlns:a16="http://schemas.microsoft.com/office/drawing/2014/main" val="20002"/>
                    </a:ext>
                  </a:extLst>
                </a:gridCol>
                <a:gridCol w="1771416">
                  <a:extLst>
                    <a:ext uri="{9D8B030D-6E8A-4147-A177-3AD203B41FA5}">
                      <a16:colId xmlns:a16="http://schemas.microsoft.com/office/drawing/2014/main" val="20003"/>
                    </a:ext>
                  </a:extLst>
                </a:gridCol>
                <a:gridCol w="1771416">
                  <a:extLst>
                    <a:ext uri="{9D8B030D-6E8A-4147-A177-3AD203B41FA5}">
                      <a16:colId xmlns:a16="http://schemas.microsoft.com/office/drawing/2014/main" val="20004"/>
                    </a:ext>
                  </a:extLst>
                </a:gridCol>
                <a:gridCol w="1771416">
                  <a:extLst>
                    <a:ext uri="{9D8B030D-6E8A-4147-A177-3AD203B41FA5}">
                      <a16:colId xmlns:a16="http://schemas.microsoft.com/office/drawing/2014/main" val="20005"/>
                    </a:ext>
                  </a:extLst>
                </a:gridCol>
              </a:tblGrid>
              <a:tr h="1398106">
                <a:tc>
                  <a:txBody>
                    <a:bodyPr/>
                    <a:lstStyle/>
                    <a:p>
                      <a:pPr>
                        <a:defRPr b="1"/>
                      </a:pPr>
                      <a:r>
                        <a:rPr sz="2400" dirty="0"/>
                        <a:t>Stage</a:t>
                      </a:r>
                    </a:p>
                  </a:txBody>
                  <a:tcPr/>
                </a:tc>
                <a:tc>
                  <a:txBody>
                    <a:bodyPr/>
                    <a:lstStyle/>
                    <a:p>
                      <a:pPr>
                        <a:defRPr b="1"/>
                      </a:pPr>
                      <a:r>
                        <a:rPr sz="2400"/>
                        <a:t>Purchase Price (₹)</a:t>
                      </a:r>
                    </a:p>
                  </a:txBody>
                  <a:tcPr/>
                </a:tc>
                <a:tc>
                  <a:txBody>
                    <a:bodyPr/>
                    <a:lstStyle/>
                    <a:p>
                      <a:pPr>
                        <a:defRPr b="1"/>
                      </a:pPr>
                      <a:r>
                        <a:rPr sz="2400"/>
                        <a:t>GST Paid (Input)</a:t>
                      </a:r>
                    </a:p>
                  </a:txBody>
                  <a:tcPr/>
                </a:tc>
                <a:tc>
                  <a:txBody>
                    <a:bodyPr/>
                    <a:lstStyle/>
                    <a:p>
                      <a:pPr>
                        <a:defRPr b="1"/>
                      </a:pPr>
                      <a:r>
                        <a:rPr sz="2400"/>
                        <a:t>Selling Price (₹)</a:t>
                      </a:r>
                    </a:p>
                  </a:txBody>
                  <a:tcPr/>
                </a:tc>
                <a:tc>
                  <a:txBody>
                    <a:bodyPr/>
                    <a:lstStyle/>
                    <a:p>
                      <a:pPr>
                        <a:defRPr b="1"/>
                      </a:pPr>
                      <a:r>
                        <a:rPr sz="2400"/>
                        <a:t>GST Collected (Output)</a:t>
                      </a:r>
                    </a:p>
                  </a:txBody>
                  <a:tcPr/>
                </a:tc>
                <a:tc>
                  <a:txBody>
                    <a:bodyPr/>
                    <a:lstStyle/>
                    <a:p>
                      <a:pPr>
                        <a:defRPr b="1"/>
                      </a:pPr>
                      <a:r>
                        <a:rPr sz="2400"/>
                        <a:t>Net Tax Payable (Output - Input)</a:t>
                      </a:r>
                    </a:p>
                  </a:txBody>
                  <a:tcPr/>
                </a:tc>
                <a:extLst>
                  <a:ext uri="{0D108BD9-81ED-4DB2-BD59-A6C34878D82A}">
                    <a16:rowId xmlns:a16="http://schemas.microsoft.com/office/drawing/2014/main" val="10000"/>
                  </a:ext>
                </a:extLst>
              </a:tr>
              <a:tr h="752826">
                <a:tc>
                  <a:txBody>
                    <a:bodyPr/>
                    <a:lstStyle/>
                    <a:p>
                      <a:r>
                        <a:rPr sz="2400"/>
                        <a:t>Manufacturer</a:t>
                      </a:r>
                    </a:p>
                  </a:txBody>
                  <a:tcPr/>
                </a:tc>
                <a:tc>
                  <a:txBody>
                    <a:bodyPr/>
                    <a:lstStyle/>
                    <a:p>
                      <a:r>
                        <a:rPr sz="2400"/>
                        <a:t>—</a:t>
                      </a:r>
                    </a:p>
                  </a:txBody>
                  <a:tcPr/>
                </a:tc>
                <a:tc>
                  <a:txBody>
                    <a:bodyPr/>
                    <a:lstStyle/>
                    <a:p>
                      <a:r>
                        <a:rPr sz="2400"/>
                        <a:t>—</a:t>
                      </a:r>
                    </a:p>
                  </a:txBody>
                  <a:tcPr/>
                </a:tc>
                <a:tc>
                  <a:txBody>
                    <a:bodyPr/>
                    <a:lstStyle/>
                    <a:p>
                      <a:r>
                        <a:rPr sz="2400"/>
                        <a:t>1,000</a:t>
                      </a:r>
                    </a:p>
                  </a:txBody>
                  <a:tcPr/>
                </a:tc>
                <a:tc>
                  <a:txBody>
                    <a:bodyPr/>
                    <a:lstStyle/>
                    <a:p>
                      <a:r>
                        <a:rPr lang="en-IN" sz="2400" dirty="0"/>
                        <a:t>____ </a:t>
                      </a:r>
                      <a:r>
                        <a:rPr sz="2400" dirty="0"/>
                        <a:t>(18%)</a:t>
                      </a:r>
                    </a:p>
                  </a:txBody>
                  <a:tcPr/>
                </a:tc>
                <a:tc>
                  <a:txBody>
                    <a:bodyPr/>
                    <a:lstStyle/>
                    <a:p>
                      <a:r>
                        <a:rPr lang="en-IN" sz="2400" dirty="0"/>
                        <a:t>____</a:t>
                      </a:r>
                      <a:endParaRPr sz="2400" dirty="0"/>
                    </a:p>
                  </a:txBody>
                  <a:tcPr/>
                </a:tc>
                <a:extLst>
                  <a:ext uri="{0D108BD9-81ED-4DB2-BD59-A6C34878D82A}">
                    <a16:rowId xmlns:a16="http://schemas.microsoft.com/office/drawing/2014/main" val="10001"/>
                  </a:ext>
                </a:extLst>
              </a:tr>
              <a:tr h="537733">
                <a:tc>
                  <a:txBody>
                    <a:bodyPr/>
                    <a:lstStyle/>
                    <a:p>
                      <a:r>
                        <a:rPr sz="2400" dirty="0"/>
                        <a:t>Wholesaler</a:t>
                      </a:r>
                    </a:p>
                  </a:txBody>
                  <a:tcPr/>
                </a:tc>
                <a:tc>
                  <a:txBody>
                    <a:bodyPr/>
                    <a:lstStyle/>
                    <a:p>
                      <a:r>
                        <a:rPr sz="2400" dirty="0"/>
                        <a:t>1,000</a:t>
                      </a:r>
                    </a:p>
                  </a:txBody>
                  <a:tcPr/>
                </a:tc>
                <a:tc>
                  <a:txBody>
                    <a:bodyPr/>
                    <a:lstStyle/>
                    <a:p>
                      <a:r>
                        <a:rPr lang="en-IN" sz="2400" dirty="0"/>
                        <a:t>____ (18%)</a:t>
                      </a:r>
                      <a:endParaRPr sz="2400" dirty="0"/>
                    </a:p>
                  </a:txBody>
                  <a:tcPr/>
                </a:tc>
                <a:tc>
                  <a:txBody>
                    <a:bodyPr/>
                    <a:lstStyle/>
                    <a:p>
                      <a:r>
                        <a:rPr sz="2400" dirty="0"/>
                        <a:t>1,500</a:t>
                      </a:r>
                    </a:p>
                  </a:txBody>
                  <a:tcPr/>
                </a:tc>
                <a:tc>
                  <a:txBody>
                    <a:bodyPr/>
                    <a:lstStyle/>
                    <a:p>
                      <a:r>
                        <a:rPr lang="en-IN" sz="2400" dirty="0"/>
                        <a:t>____</a:t>
                      </a:r>
                      <a:r>
                        <a:rPr sz="2400" dirty="0"/>
                        <a:t> (18%)</a:t>
                      </a:r>
                    </a:p>
                  </a:txBody>
                  <a:tcPr/>
                </a:tc>
                <a:tc>
                  <a:txBody>
                    <a:bodyPr/>
                    <a:lstStyle/>
                    <a:p>
                      <a:r>
                        <a:rPr lang="en-IN" sz="2400" dirty="0"/>
                        <a:t>____</a:t>
                      </a:r>
                      <a:endParaRPr sz="2400" dirty="0"/>
                    </a:p>
                  </a:txBody>
                  <a:tcPr/>
                </a:tc>
                <a:extLst>
                  <a:ext uri="{0D108BD9-81ED-4DB2-BD59-A6C34878D82A}">
                    <a16:rowId xmlns:a16="http://schemas.microsoft.com/office/drawing/2014/main" val="10002"/>
                  </a:ext>
                </a:extLst>
              </a:tr>
              <a:tr h="537733">
                <a:tc>
                  <a:txBody>
                    <a:bodyPr/>
                    <a:lstStyle/>
                    <a:p>
                      <a:r>
                        <a:rPr sz="2400" dirty="0"/>
                        <a:t>Retailer</a:t>
                      </a:r>
                    </a:p>
                  </a:txBody>
                  <a:tcPr/>
                </a:tc>
                <a:tc>
                  <a:txBody>
                    <a:bodyPr/>
                    <a:lstStyle/>
                    <a:p>
                      <a:r>
                        <a:rPr sz="2400" dirty="0"/>
                        <a:t>1,500</a:t>
                      </a:r>
                    </a:p>
                  </a:txBody>
                  <a:tcPr/>
                </a:tc>
                <a:tc>
                  <a:txBody>
                    <a:bodyPr/>
                    <a:lstStyle/>
                    <a:p>
                      <a:r>
                        <a:rPr lang="en-IN" sz="2400" dirty="0"/>
                        <a:t>____ (18%)</a:t>
                      </a:r>
                      <a:endParaRPr sz="2400" dirty="0"/>
                    </a:p>
                  </a:txBody>
                  <a:tcPr/>
                </a:tc>
                <a:tc>
                  <a:txBody>
                    <a:bodyPr/>
                    <a:lstStyle/>
                    <a:p>
                      <a:r>
                        <a:rPr sz="2400" dirty="0"/>
                        <a:t>2,000</a:t>
                      </a:r>
                    </a:p>
                  </a:txBody>
                  <a:tcPr/>
                </a:tc>
                <a:tc>
                  <a:txBody>
                    <a:bodyPr/>
                    <a:lstStyle/>
                    <a:p>
                      <a:r>
                        <a:rPr lang="en-IN" sz="2400" dirty="0"/>
                        <a:t>____</a:t>
                      </a:r>
                      <a:r>
                        <a:rPr sz="2400" dirty="0"/>
                        <a:t> (18%)</a:t>
                      </a:r>
                    </a:p>
                  </a:txBody>
                  <a:tcPr/>
                </a:tc>
                <a:tc>
                  <a:txBody>
                    <a:bodyPr/>
                    <a:lstStyle/>
                    <a:p>
                      <a:r>
                        <a:rPr lang="en-IN" sz="2400" dirty="0"/>
                        <a:t>____</a:t>
                      </a:r>
                      <a:endParaRPr sz="2400" dirty="0"/>
                    </a:p>
                  </a:txBody>
                  <a:tcPr/>
                </a:tc>
                <a:extLst>
                  <a:ext uri="{0D108BD9-81ED-4DB2-BD59-A6C34878D82A}">
                    <a16:rowId xmlns:a16="http://schemas.microsoft.com/office/drawing/2014/main" val="10003"/>
                  </a:ext>
                </a:extLst>
              </a:tr>
              <a:tr h="537733">
                <a:tc>
                  <a:txBody>
                    <a:bodyPr/>
                    <a:lstStyle/>
                    <a:p>
                      <a:r>
                        <a:rPr sz="2400" dirty="0"/>
                        <a:t>Consumer</a:t>
                      </a:r>
                    </a:p>
                  </a:txBody>
                  <a:tcPr/>
                </a:tc>
                <a:tc>
                  <a:txBody>
                    <a:bodyPr/>
                    <a:lstStyle/>
                    <a:p>
                      <a:r>
                        <a:rPr sz="2400"/>
                        <a:t>2,000</a:t>
                      </a:r>
                    </a:p>
                  </a:txBody>
                  <a:tcPr/>
                </a:tc>
                <a:tc>
                  <a:txBody>
                    <a:bodyPr/>
                    <a:lstStyle/>
                    <a:p>
                      <a:r>
                        <a:rPr sz="2400"/>
                        <a:t>—</a:t>
                      </a:r>
                    </a:p>
                  </a:txBody>
                  <a:tcPr/>
                </a:tc>
                <a:tc>
                  <a:txBody>
                    <a:bodyPr/>
                    <a:lstStyle/>
                    <a:p>
                      <a:r>
                        <a:rPr sz="2400"/>
                        <a:t>—</a:t>
                      </a:r>
                    </a:p>
                  </a:txBody>
                  <a:tcPr/>
                </a:tc>
                <a:tc>
                  <a:txBody>
                    <a:bodyPr/>
                    <a:lstStyle/>
                    <a:p>
                      <a:r>
                        <a:rPr sz="2400"/>
                        <a:t>—</a:t>
                      </a:r>
                    </a:p>
                  </a:txBody>
                  <a:tcPr/>
                </a:tc>
                <a:tc>
                  <a:txBody>
                    <a:bodyPr/>
                    <a:lstStyle/>
                    <a:p>
                      <a:r>
                        <a:rPr sz="2400" dirty="0"/>
                        <a: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5953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B21B-80E9-41D5-9014-B2AEF6F81764}"/>
              </a:ext>
            </a:extLst>
          </p:cNvPr>
          <p:cNvSpPr>
            <a:spLocks noGrp="1"/>
          </p:cNvSpPr>
          <p:nvPr>
            <p:ph type="title"/>
          </p:nvPr>
        </p:nvSpPr>
        <p:spPr/>
        <p:txBody>
          <a:bodyPr/>
          <a:lstStyle/>
          <a:p>
            <a:r>
              <a:rPr lang="en-US" dirty="0"/>
              <a:t>Tax Applicability </a:t>
            </a:r>
            <a:endParaRPr lang="en-IN" dirty="0"/>
          </a:p>
        </p:txBody>
      </p:sp>
      <p:graphicFrame>
        <p:nvGraphicFramePr>
          <p:cNvPr id="4" name="Content Placeholder 3">
            <a:extLst>
              <a:ext uri="{FF2B5EF4-FFF2-40B4-BE49-F238E27FC236}">
                <a16:creationId xmlns:a16="http://schemas.microsoft.com/office/drawing/2014/main" id="{77B96C4D-1237-D58F-CE12-C71F7BB4A80A}"/>
              </a:ext>
            </a:extLst>
          </p:cNvPr>
          <p:cNvGraphicFramePr>
            <a:graphicFrameLocks noGrp="1"/>
          </p:cNvGraphicFramePr>
          <p:nvPr>
            <p:ph idx="1"/>
          </p:nvPr>
        </p:nvGraphicFramePr>
        <p:xfrm>
          <a:off x="131179" y="863443"/>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498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graphicEl>
                                              <a:dgm id="{1D57AF90-EB13-4DED-AE8D-45392311F6C0}"/>
                                            </p:graphicEl>
                                          </p:spTgt>
                                        </p:tgtEl>
                                        <p:attrNameLst>
                                          <p:attrName>style.visibility</p:attrName>
                                        </p:attrNameLst>
                                      </p:cBhvr>
                                      <p:to>
                                        <p:strVal val="visible"/>
                                      </p:to>
                                    </p:set>
                                    <p:animEffect transition="in" filter="wipe(up)">
                                      <p:cBhvr>
                                        <p:cTn id="7" dur="750"/>
                                        <p:tgtEl>
                                          <p:spTgt spid="4">
                                            <p:graphicEl>
                                              <a:dgm id="{1D57AF90-EB13-4DED-AE8D-45392311F6C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graphicEl>
                                              <a:dgm id="{213E2AC9-3480-40EC-A40D-1499E8C0648F}"/>
                                            </p:graphicEl>
                                          </p:spTgt>
                                        </p:tgtEl>
                                        <p:attrNameLst>
                                          <p:attrName>style.visibility</p:attrName>
                                        </p:attrNameLst>
                                      </p:cBhvr>
                                      <p:to>
                                        <p:strVal val="visible"/>
                                      </p:to>
                                    </p:set>
                                    <p:animEffect transition="in" filter="wipe(up)">
                                      <p:cBhvr>
                                        <p:cTn id="12" dur="750"/>
                                        <p:tgtEl>
                                          <p:spTgt spid="4">
                                            <p:graphicEl>
                                              <a:dgm id="{213E2AC9-3480-40EC-A40D-1499E8C0648F}"/>
                                            </p:graphic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
                                            <p:graphicEl>
                                              <a:dgm id="{5640236E-5D2E-4F1D-9E31-527338A5C018}"/>
                                            </p:graphicEl>
                                          </p:spTgt>
                                        </p:tgtEl>
                                        <p:attrNameLst>
                                          <p:attrName>style.visibility</p:attrName>
                                        </p:attrNameLst>
                                      </p:cBhvr>
                                      <p:to>
                                        <p:strVal val="visible"/>
                                      </p:to>
                                    </p:set>
                                    <p:animEffect transition="in" filter="wipe(up)">
                                      <p:cBhvr>
                                        <p:cTn id="15" dur="750"/>
                                        <p:tgtEl>
                                          <p:spTgt spid="4">
                                            <p:graphicEl>
                                              <a:dgm id="{5640236E-5D2E-4F1D-9E31-527338A5C018}"/>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
                                            <p:graphicEl>
                                              <a:dgm id="{42E16285-283C-44F3-817C-934C9DB0C31C}"/>
                                            </p:graphicEl>
                                          </p:spTgt>
                                        </p:tgtEl>
                                        <p:attrNameLst>
                                          <p:attrName>style.visibility</p:attrName>
                                        </p:attrNameLst>
                                      </p:cBhvr>
                                      <p:to>
                                        <p:strVal val="visible"/>
                                      </p:to>
                                    </p:set>
                                    <p:animEffect transition="in" filter="wipe(up)">
                                      <p:cBhvr>
                                        <p:cTn id="20" dur="750"/>
                                        <p:tgtEl>
                                          <p:spTgt spid="4">
                                            <p:graphicEl>
                                              <a:dgm id="{42E16285-283C-44F3-817C-934C9DB0C31C}"/>
                                            </p:graphic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
                                            <p:graphicEl>
                                              <a:dgm id="{4B92F9FB-2BC0-4C58-A5B7-99670C5043EC}"/>
                                            </p:graphicEl>
                                          </p:spTgt>
                                        </p:tgtEl>
                                        <p:attrNameLst>
                                          <p:attrName>style.visibility</p:attrName>
                                        </p:attrNameLst>
                                      </p:cBhvr>
                                      <p:to>
                                        <p:strVal val="visible"/>
                                      </p:to>
                                    </p:set>
                                    <p:animEffect transition="in" filter="wipe(up)">
                                      <p:cBhvr>
                                        <p:cTn id="23" dur="750"/>
                                        <p:tgtEl>
                                          <p:spTgt spid="4">
                                            <p:graphicEl>
                                              <a:dgm id="{4B92F9FB-2BC0-4C58-A5B7-99670C5043EC}"/>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graphicEl>
                                              <a:dgm id="{59021F5E-4182-4EF8-8AEA-4E65512EA6F1}"/>
                                            </p:graphicEl>
                                          </p:spTgt>
                                        </p:tgtEl>
                                        <p:attrNameLst>
                                          <p:attrName>style.visibility</p:attrName>
                                        </p:attrNameLst>
                                      </p:cBhvr>
                                      <p:to>
                                        <p:strVal val="visible"/>
                                      </p:to>
                                    </p:set>
                                    <p:animEffect transition="in" filter="wipe(up)">
                                      <p:cBhvr>
                                        <p:cTn id="28" dur="750"/>
                                        <p:tgtEl>
                                          <p:spTgt spid="4">
                                            <p:graphicEl>
                                              <a:dgm id="{59021F5E-4182-4EF8-8AEA-4E65512EA6F1}"/>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graphicEl>
                                              <a:dgm id="{C04DF0B5-9860-405D-84B5-05696B45DE39}"/>
                                            </p:graphicEl>
                                          </p:spTgt>
                                        </p:tgtEl>
                                        <p:attrNameLst>
                                          <p:attrName>style.visibility</p:attrName>
                                        </p:attrNameLst>
                                      </p:cBhvr>
                                      <p:to>
                                        <p:strVal val="visible"/>
                                      </p:to>
                                    </p:set>
                                    <p:animEffect transition="in" filter="wipe(up)">
                                      <p:cBhvr>
                                        <p:cTn id="33" dur="750"/>
                                        <p:tgtEl>
                                          <p:spTgt spid="4">
                                            <p:graphicEl>
                                              <a:dgm id="{C04DF0B5-9860-405D-84B5-05696B45DE39}"/>
                                            </p:graphic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
                                            <p:graphicEl>
                                              <a:dgm id="{8567A04A-4F24-4163-A8D2-21657BDFD826}"/>
                                            </p:graphicEl>
                                          </p:spTgt>
                                        </p:tgtEl>
                                        <p:attrNameLst>
                                          <p:attrName>style.visibility</p:attrName>
                                        </p:attrNameLst>
                                      </p:cBhvr>
                                      <p:to>
                                        <p:strVal val="visible"/>
                                      </p:to>
                                    </p:set>
                                    <p:animEffect transition="in" filter="wipe(up)">
                                      <p:cBhvr>
                                        <p:cTn id="36" dur="750"/>
                                        <p:tgtEl>
                                          <p:spTgt spid="4">
                                            <p:graphicEl>
                                              <a:dgm id="{8567A04A-4F24-4163-A8D2-21657BDFD82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56FE-ACDD-479A-3FFC-10B0E7E42AF2}"/>
              </a:ext>
            </a:extLst>
          </p:cNvPr>
          <p:cNvSpPr>
            <a:spLocks noGrp="1"/>
          </p:cNvSpPr>
          <p:nvPr>
            <p:ph type="title"/>
          </p:nvPr>
        </p:nvSpPr>
        <p:spPr/>
        <p:txBody>
          <a:bodyPr/>
          <a:lstStyle/>
          <a:p>
            <a:r>
              <a:rPr lang="en-US" dirty="0"/>
              <a:t>Inter-state vs Intra-state Supply</a:t>
            </a:r>
            <a:endParaRPr lang="en-IN" dirty="0"/>
          </a:p>
        </p:txBody>
      </p:sp>
      <p:graphicFrame>
        <p:nvGraphicFramePr>
          <p:cNvPr id="4" name="Content Placeholder 3">
            <a:extLst>
              <a:ext uri="{FF2B5EF4-FFF2-40B4-BE49-F238E27FC236}">
                <a16:creationId xmlns:a16="http://schemas.microsoft.com/office/drawing/2014/main" id="{4C87853E-BC27-D3C6-72B0-CB18DB78CA91}"/>
              </a:ext>
            </a:extLst>
          </p:cNvPr>
          <p:cNvGraphicFramePr>
            <a:graphicFrameLocks noGrp="1"/>
          </p:cNvGraphicFramePr>
          <p:nvPr>
            <p:ph idx="1"/>
          </p:nvPr>
        </p:nvGraphicFramePr>
        <p:xfrm>
          <a:off x="131180" y="751478"/>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61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graphicEl>
                                              <a:dgm id="{845C4C29-67CC-437A-BA2E-414E87013FDD}"/>
                                            </p:graphicEl>
                                          </p:spTgt>
                                        </p:tgtEl>
                                        <p:attrNameLst>
                                          <p:attrName>style.visibility</p:attrName>
                                        </p:attrNameLst>
                                      </p:cBhvr>
                                      <p:to>
                                        <p:strVal val="visible"/>
                                      </p:to>
                                    </p:set>
                                    <p:animEffect transition="in" filter="wipe(up)">
                                      <p:cBhvr>
                                        <p:cTn id="7" dur="750"/>
                                        <p:tgtEl>
                                          <p:spTgt spid="4">
                                            <p:graphicEl>
                                              <a:dgm id="{845C4C29-67CC-437A-BA2E-414E87013FD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graphicEl>
                                              <a:dgm id="{B2C3AEAA-1A65-4C03-B037-3E576A3FD045}"/>
                                            </p:graphicEl>
                                          </p:spTgt>
                                        </p:tgtEl>
                                        <p:attrNameLst>
                                          <p:attrName>style.visibility</p:attrName>
                                        </p:attrNameLst>
                                      </p:cBhvr>
                                      <p:to>
                                        <p:strVal val="visible"/>
                                      </p:to>
                                    </p:set>
                                    <p:animEffect transition="in" filter="wipe(up)">
                                      <p:cBhvr>
                                        <p:cTn id="12" dur="750"/>
                                        <p:tgtEl>
                                          <p:spTgt spid="4">
                                            <p:graphicEl>
                                              <a:dgm id="{B2C3AEAA-1A65-4C03-B037-3E576A3FD045}"/>
                                            </p:graphic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
                                            <p:graphicEl>
                                              <a:dgm id="{0A75BC6A-5748-47D9-94B5-641A18537A3E}"/>
                                            </p:graphicEl>
                                          </p:spTgt>
                                        </p:tgtEl>
                                        <p:attrNameLst>
                                          <p:attrName>style.visibility</p:attrName>
                                        </p:attrNameLst>
                                      </p:cBhvr>
                                      <p:to>
                                        <p:strVal val="visible"/>
                                      </p:to>
                                    </p:set>
                                    <p:animEffect transition="in" filter="wipe(up)">
                                      <p:cBhvr>
                                        <p:cTn id="15" dur="750"/>
                                        <p:tgtEl>
                                          <p:spTgt spid="4">
                                            <p:graphicEl>
                                              <a:dgm id="{0A75BC6A-5748-47D9-94B5-641A18537A3E}"/>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
                                            <p:graphicEl>
                                              <a:dgm id="{1B3B0349-6FE1-44A3-832C-5A051E537A96}"/>
                                            </p:graphicEl>
                                          </p:spTgt>
                                        </p:tgtEl>
                                        <p:attrNameLst>
                                          <p:attrName>style.visibility</p:attrName>
                                        </p:attrNameLst>
                                      </p:cBhvr>
                                      <p:to>
                                        <p:strVal val="visible"/>
                                      </p:to>
                                    </p:set>
                                    <p:animEffect transition="in" filter="wipe(up)">
                                      <p:cBhvr>
                                        <p:cTn id="20" dur="750"/>
                                        <p:tgtEl>
                                          <p:spTgt spid="4">
                                            <p:graphicEl>
                                              <a:dgm id="{1B3B0349-6FE1-44A3-832C-5A051E537A96}"/>
                                            </p:graphic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
                                            <p:graphicEl>
                                              <a:dgm id="{2C34D279-7B38-4763-A033-39D39F11372A}"/>
                                            </p:graphicEl>
                                          </p:spTgt>
                                        </p:tgtEl>
                                        <p:attrNameLst>
                                          <p:attrName>style.visibility</p:attrName>
                                        </p:attrNameLst>
                                      </p:cBhvr>
                                      <p:to>
                                        <p:strVal val="visible"/>
                                      </p:to>
                                    </p:set>
                                    <p:animEffect transition="in" filter="wipe(up)">
                                      <p:cBhvr>
                                        <p:cTn id="23" dur="750"/>
                                        <p:tgtEl>
                                          <p:spTgt spid="4">
                                            <p:graphicEl>
                                              <a:dgm id="{2C34D279-7B38-4763-A033-39D39F11372A}"/>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graphicEl>
                                              <a:dgm id="{BA7F00AB-7631-4E5D-A532-B8BF15CA89D0}"/>
                                            </p:graphicEl>
                                          </p:spTgt>
                                        </p:tgtEl>
                                        <p:attrNameLst>
                                          <p:attrName>style.visibility</p:attrName>
                                        </p:attrNameLst>
                                      </p:cBhvr>
                                      <p:to>
                                        <p:strVal val="visible"/>
                                      </p:to>
                                    </p:set>
                                    <p:animEffect transition="in" filter="wipe(up)">
                                      <p:cBhvr>
                                        <p:cTn id="28" dur="750"/>
                                        <p:tgtEl>
                                          <p:spTgt spid="4">
                                            <p:graphicEl>
                                              <a:dgm id="{BA7F00AB-7631-4E5D-A532-B8BF15CA89D0}"/>
                                            </p:graphic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4">
                                            <p:graphicEl>
                                              <a:dgm id="{7FC7E9A9-D49A-4AA9-9C5B-D09A72DB2942}"/>
                                            </p:graphicEl>
                                          </p:spTgt>
                                        </p:tgtEl>
                                        <p:attrNameLst>
                                          <p:attrName>style.visibility</p:attrName>
                                        </p:attrNameLst>
                                      </p:cBhvr>
                                      <p:to>
                                        <p:strVal val="visible"/>
                                      </p:to>
                                    </p:set>
                                    <p:animEffect transition="in" filter="wipe(up)">
                                      <p:cBhvr>
                                        <p:cTn id="31" dur="750"/>
                                        <p:tgtEl>
                                          <p:spTgt spid="4">
                                            <p:graphicEl>
                                              <a:dgm id="{7FC7E9A9-D49A-4AA9-9C5B-D09A72DB2942}"/>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
                                            <p:graphicEl>
                                              <a:dgm id="{825AA6F3-6631-4D9D-9224-4D9DD5EE12CD}"/>
                                            </p:graphicEl>
                                          </p:spTgt>
                                        </p:tgtEl>
                                        <p:attrNameLst>
                                          <p:attrName>style.visibility</p:attrName>
                                        </p:attrNameLst>
                                      </p:cBhvr>
                                      <p:to>
                                        <p:strVal val="visible"/>
                                      </p:to>
                                    </p:set>
                                    <p:animEffect transition="in" filter="wipe(up)">
                                      <p:cBhvr>
                                        <p:cTn id="36" dur="750"/>
                                        <p:tgtEl>
                                          <p:spTgt spid="4">
                                            <p:graphicEl>
                                              <a:dgm id="{825AA6F3-6631-4D9D-9224-4D9DD5EE12CD}"/>
                                            </p:graphic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
                                            <p:graphicEl>
                                              <a:dgm id="{91E55866-39B5-4947-94E9-935CABB968DA}"/>
                                            </p:graphicEl>
                                          </p:spTgt>
                                        </p:tgtEl>
                                        <p:attrNameLst>
                                          <p:attrName>style.visibility</p:attrName>
                                        </p:attrNameLst>
                                      </p:cBhvr>
                                      <p:to>
                                        <p:strVal val="visible"/>
                                      </p:to>
                                    </p:set>
                                    <p:animEffect transition="in" filter="wipe(up)">
                                      <p:cBhvr>
                                        <p:cTn id="39" dur="750"/>
                                        <p:tgtEl>
                                          <p:spTgt spid="4">
                                            <p:graphicEl>
                                              <a:dgm id="{91E55866-39B5-4947-94E9-935CABB968DA}"/>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
                                            <p:graphicEl>
                                              <a:dgm id="{1B52D9C9-76B0-4089-876A-857B3073908F}"/>
                                            </p:graphicEl>
                                          </p:spTgt>
                                        </p:tgtEl>
                                        <p:attrNameLst>
                                          <p:attrName>style.visibility</p:attrName>
                                        </p:attrNameLst>
                                      </p:cBhvr>
                                      <p:to>
                                        <p:strVal val="visible"/>
                                      </p:to>
                                    </p:set>
                                    <p:animEffect transition="in" filter="wipe(up)">
                                      <p:cBhvr>
                                        <p:cTn id="44" dur="750"/>
                                        <p:tgtEl>
                                          <p:spTgt spid="4">
                                            <p:graphicEl>
                                              <a:dgm id="{1B52D9C9-76B0-4089-876A-857B3073908F}"/>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
                                            <p:graphicEl>
                                              <a:dgm id="{72E3DD1A-A702-4C52-9E84-A30D7B10654A}"/>
                                            </p:graphicEl>
                                          </p:spTgt>
                                        </p:tgtEl>
                                        <p:attrNameLst>
                                          <p:attrName>style.visibility</p:attrName>
                                        </p:attrNameLst>
                                      </p:cBhvr>
                                      <p:to>
                                        <p:strVal val="visible"/>
                                      </p:to>
                                    </p:set>
                                    <p:animEffect transition="in" filter="wipe(up)">
                                      <p:cBhvr>
                                        <p:cTn id="49" dur="750"/>
                                        <p:tgtEl>
                                          <p:spTgt spid="4">
                                            <p:graphicEl>
                                              <a:dgm id="{72E3DD1A-A702-4C52-9E84-A30D7B10654A}"/>
                                            </p:graphicEl>
                                          </p:spTgt>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4">
                                            <p:graphicEl>
                                              <a:dgm id="{1DFB4023-1262-4EC0-B073-5A59AC8D3531}"/>
                                            </p:graphicEl>
                                          </p:spTgt>
                                        </p:tgtEl>
                                        <p:attrNameLst>
                                          <p:attrName>style.visibility</p:attrName>
                                        </p:attrNameLst>
                                      </p:cBhvr>
                                      <p:to>
                                        <p:strVal val="visible"/>
                                      </p:to>
                                    </p:set>
                                    <p:animEffect transition="in" filter="wipe(up)">
                                      <p:cBhvr>
                                        <p:cTn id="52" dur="750"/>
                                        <p:tgtEl>
                                          <p:spTgt spid="4">
                                            <p:graphicEl>
                                              <a:dgm id="{1DFB4023-1262-4EC0-B073-5A59AC8D3531}"/>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graphicEl>
                                              <a:dgm id="{FB319980-1C9B-4288-AAE2-D883BB805325}"/>
                                            </p:graphicEl>
                                          </p:spTgt>
                                        </p:tgtEl>
                                        <p:attrNameLst>
                                          <p:attrName>style.visibility</p:attrName>
                                        </p:attrNameLst>
                                      </p:cBhvr>
                                      <p:to>
                                        <p:strVal val="visible"/>
                                      </p:to>
                                    </p:set>
                                    <p:animEffect transition="in" filter="wipe(up)">
                                      <p:cBhvr>
                                        <p:cTn id="57" dur="750"/>
                                        <p:tgtEl>
                                          <p:spTgt spid="4">
                                            <p:graphicEl>
                                              <a:dgm id="{FB319980-1C9B-4288-AAE2-D883BB805325}"/>
                                            </p:graphicEl>
                                          </p:spTgt>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4">
                                            <p:graphicEl>
                                              <a:dgm id="{44389E55-4331-4F47-BAEF-5A15F9F04950}"/>
                                            </p:graphicEl>
                                          </p:spTgt>
                                        </p:tgtEl>
                                        <p:attrNameLst>
                                          <p:attrName>style.visibility</p:attrName>
                                        </p:attrNameLst>
                                      </p:cBhvr>
                                      <p:to>
                                        <p:strVal val="visible"/>
                                      </p:to>
                                    </p:set>
                                    <p:animEffect transition="in" filter="wipe(up)">
                                      <p:cBhvr>
                                        <p:cTn id="60" dur="750"/>
                                        <p:tgtEl>
                                          <p:spTgt spid="4">
                                            <p:graphicEl>
                                              <a:dgm id="{44389E55-4331-4F47-BAEF-5A15F9F04950}"/>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4">
                                            <p:graphicEl>
                                              <a:dgm id="{62E130A1-7A63-4F43-BC72-91F2FE810457}"/>
                                            </p:graphicEl>
                                          </p:spTgt>
                                        </p:tgtEl>
                                        <p:attrNameLst>
                                          <p:attrName>style.visibility</p:attrName>
                                        </p:attrNameLst>
                                      </p:cBhvr>
                                      <p:to>
                                        <p:strVal val="visible"/>
                                      </p:to>
                                    </p:set>
                                    <p:animEffect transition="in" filter="wipe(up)">
                                      <p:cBhvr>
                                        <p:cTn id="65" dur="750"/>
                                        <p:tgtEl>
                                          <p:spTgt spid="4">
                                            <p:graphicEl>
                                              <a:dgm id="{62E130A1-7A63-4F43-BC72-91F2FE810457}"/>
                                            </p:graphicEl>
                                          </p:spTgt>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4">
                                            <p:graphicEl>
                                              <a:dgm id="{1A39A51B-87EE-4A7B-9B16-899FF9A38FC5}"/>
                                            </p:graphicEl>
                                          </p:spTgt>
                                        </p:tgtEl>
                                        <p:attrNameLst>
                                          <p:attrName>style.visibility</p:attrName>
                                        </p:attrNameLst>
                                      </p:cBhvr>
                                      <p:to>
                                        <p:strVal val="visible"/>
                                      </p:to>
                                    </p:set>
                                    <p:animEffect transition="in" filter="wipe(up)">
                                      <p:cBhvr>
                                        <p:cTn id="68" dur="750"/>
                                        <p:tgtEl>
                                          <p:spTgt spid="4">
                                            <p:graphicEl>
                                              <a:dgm id="{1A39A51B-87EE-4A7B-9B16-899FF9A38FC5}"/>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4">
                                            <p:graphicEl>
                                              <a:dgm id="{EC1807F3-B1E9-488F-AC98-91A15186AE38}"/>
                                            </p:graphicEl>
                                          </p:spTgt>
                                        </p:tgtEl>
                                        <p:attrNameLst>
                                          <p:attrName>style.visibility</p:attrName>
                                        </p:attrNameLst>
                                      </p:cBhvr>
                                      <p:to>
                                        <p:strVal val="visible"/>
                                      </p:to>
                                    </p:set>
                                    <p:animEffect transition="in" filter="wipe(up)">
                                      <p:cBhvr>
                                        <p:cTn id="73" dur="750"/>
                                        <p:tgtEl>
                                          <p:spTgt spid="4">
                                            <p:graphicEl>
                                              <a:dgm id="{EC1807F3-B1E9-488F-AC98-91A15186AE38}"/>
                                            </p:graphicEl>
                                          </p:spTgt>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4">
                                            <p:graphicEl>
                                              <a:dgm id="{2873835A-D84B-464D-93FC-FF782677710B}"/>
                                            </p:graphicEl>
                                          </p:spTgt>
                                        </p:tgtEl>
                                        <p:attrNameLst>
                                          <p:attrName>style.visibility</p:attrName>
                                        </p:attrNameLst>
                                      </p:cBhvr>
                                      <p:to>
                                        <p:strVal val="visible"/>
                                      </p:to>
                                    </p:set>
                                    <p:animEffect transition="in" filter="wipe(up)">
                                      <p:cBhvr>
                                        <p:cTn id="76" dur="750"/>
                                        <p:tgtEl>
                                          <p:spTgt spid="4">
                                            <p:graphicEl>
                                              <a:dgm id="{2873835A-D84B-464D-93FC-FF782677710B}"/>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4">
                                            <p:graphicEl>
                                              <a:dgm id="{83FD7BFA-9DF5-4BCF-9320-EC7DDD2A70D8}"/>
                                            </p:graphicEl>
                                          </p:spTgt>
                                        </p:tgtEl>
                                        <p:attrNameLst>
                                          <p:attrName>style.visibility</p:attrName>
                                        </p:attrNameLst>
                                      </p:cBhvr>
                                      <p:to>
                                        <p:strVal val="visible"/>
                                      </p:to>
                                    </p:set>
                                    <p:animEffect transition="in" filter="wipe(up)">
                                      <p:cBhvr>
                                        <p:cTn id="81" dur="750"/>
                                        <p:tgtEl>
                                          <p:spTgt spid="4">
                                            <p:graphicEl>
                                              <a:dgm id="{83FD7BFA-9DF5-4BCF-9320-EC7DDD2A70D8}"/>
                                            </p:graphicEl>
                                          </p:spTgt>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4">
                                            <p:graphicEl>
                                              <a:dgm id="{0192169D-21B8-4AA9-A88E-D49A2BA866C8}"/>
                                            </p:graphicEl>
                                          </p:spTgt>
                                        </p:tgtEl>
                                        <p:attrNameLst>
                                          <p:attrName>style.visibility</p:attrName>
                                        </p:attrNameLst>
                                      </p:cBhvr>
                                      <p:to>
                                        <p:strVal val="visible"/>
                                      </p:to>
                                    </p:set>
                                    <p:animEffect transition="in" filter="wipe(up)">
                                      <p:cBhvr>
                                        <p:cTn id="84" dur="750"/>
                                        <p:tgtEl>
                                          <p:spTgt spid="4">
                                            <p:graphicEl>
                                              <a:dgm id="{0192169D-21B8-4AA9-A88E-D49A2BA866C8}"/>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4">
                                            <p:graphicEl>
                                              <a:dgm id="{93A50B28-728F-4D2E-9324-22BA6951AED6}"/>
                                            </p:graphicEl>
                                          </p:spTgt>
                                        </p:tgtEl>
                                        <p:attrNameLst>
                                          <p:attrName>style.visibility</p:attrName>
                                        </p:attrNameLst>
                                      </p:cBhvr>
                                      <p:to>
                                        <p:strVal val="visible"/>
                                      </p:to>
                                    </p:set>
                                    <p:animEffect transition="in" filter="wipe(up)">
                                      <p:cBhvr>
                                        <p:cTn id="89" dur="750"/>
                                        <p:tgtEl>
                                          <p:spTgt spid="4">
                                            <p:graphicEl>
                                              <a:dgm id="{93A50B28-728F-4D2E-9324-22BA6951AED6}"/>
                                            </p:graphicEl>
                                          </p:spTgt>
                                        </p:tgtEl>
                                      </p:cBhvr>
                                    </p:animEffect>
                                  </p:childTnLst>
                                </p:cTn>
                              </p:par>
                              <p:par>
                                <p:cTn id="90" presetID="22" presetClass="entr" presetSubtype="1" fill="hold" grpId="0" nodeType="withEffect">
                                  <p:stCondLst>
                                    <p:cond delay="0"/>
                                  </p:stCondLst>
                                  <p:childTnLst>
                                    <p:set>
                                      <p:cBhvr>
                                        <p:cTn id="91" dur="1" fill="hold">
                                          <p:stCondLst>
                                            <p:cond delay="0"/>
                                          </p:stCondLst>
                                        </p:cTn>
                                        <p:tgtEl>
                                          <p:spTgt spid="4">
                                            <p:graphicEl>
                                              <a:dgm id="{8C3FDA68-678D-458C-B621-85BC0E97B805}"/>
                                            </p:graphicEl>
                                          </p:spTgt>
                                        </p:tgtEl>
                                        <p:attrNameLst>
                                          <p:attrName>style.visibility</p:attrName>
                                        </p:attrNameLst>
                                      </p:cBhvr>
                                      <p:to>
                                        <p:strVal val="visible"/>
                                      </p:to>
                                    </p:set>
                                    <p:animEffect transition="in" filter="wipe(up)">
                                      <p:cBhvr>
                                        <p:cTn id="92" dur="750"/>
                                        <p:tgtEl>
                                          <p:spTgt spid="4">
                                            <p:graphicEl>
                                              <a:dgm id="{8C3FDA68-678D-458C-B621-85BC0E97B80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cs typeface="Times New Roman" panose="02020603050405020304" pitchFamily="18" charset="0"/>
              </a:rPr>
              <a:t>For Example</a:t>
            </a:r>
          </a:p>
        </p:txBody>
      </p:sp>
      <p:grpSp>
        <p:nvGrpSpPr>
          <p:cNvPr id="4" name="Group 3"/>
          <p:cNvGrpSpPr/>
          <p:nvPr/>
        </p:nvGrpSpPr>
        <p:grpSpPr>
          <a:xfrm>
            <a:off x="1577446" y="2898059"/>
            <a:ext cx="9024731" cy="2011680"/>
            <a:chOff x="518160" y="2651759"/>
            <a:chExt cx="4937760" cy="2011680"/>
          </a:xfrm>
        </p:grpSpPr>
        <p:sp>
          <p:nvSpPr>
            <p:cNvPr id="5" name="Rounded Rectangle 1"/>
            <p:cNvSpPr/>
            <p:nvPr/>
          </p:nvSpPr>
          <p:spPr>
            <a:xfrm>
              <a:off x="518160" y="2651759"/>
              <a:ext cx="4937760" cy="2011680"/>
            </a:xfrm>
            <a:custGeom>
              <a:avLst/>
              <a:gdLst/>
              <a:ahLst/>
              <a:cxnLst/>
              <a:rect l="0" t="0" r="0" b="0"/>
              <a:pathLst>
                <a:path w="4937760" h="2011680">
                  <a:moveTo>
                    <a:pt x="4937760" y="1234440"/>
                  </a:moveTo>
                  <a:cubicBezTo>
                    <a:pt x="4937760" y="1277645"/>
                    <a:pt x="4917414" y="1318260"/>
                    <a:pt x="4882896" y="1344168"/>
                  </a:cubicBezTo>
                  <a:lnTo>
                    <a:pt x="4334256" y="1755648"/>
                  </a:lnTo>
                  <a:cubicBezTo>
                    <a:pt x="4309567" y="1774164"/>
                    <a:pt x="4280687" y="1783080"/>
                    <a:pt x="4252036" y="1783080"/>
                  </a:cubicBezTo>
                  <a:cubicBezTo>
                    <a:pt x="4210354" y="1783080"/>
                    <a:pt x="4169206" y="1764182"/>
                    <a:pt x="4142232" y="1728216"/>
                  </a:cubicBezTo>
                  <a:cubicBezTo>
                    <a:pt x="4096816" y="1667637"/>
                    <a:pt x="4109085" y="1581607"/>
                    <a:pt x="4169664" y="1536192"/>
                  </a:cubicBezTo>
                  <a:lnTo>
                    <a:pt x="4389120" y="1371600"/>
                  </a:lnTo>
                  <a:lnTo>
                    <a:pt x="3749040" y="1371600"/>
                  </a:lnTo>
                  <a:cubicBezTo>
                    <a:pt x="3496970" y="1371600"/>
                    <a:pt x="3291840" y="1166469"/>
                    <a:pt x="3291840" y="914400"/>
                  </a:cubicBezTo>
                  <a:lnTo>
                    <a:pt x="3291840" y="457200"/>
                  </a:lnTo>
                  <a:cubicBezTo>
                    <a:pt x="3291840" y="356387"/>
                    <a:pt x="3209772" y="274320"/>
                    <a:pt x="3108960" y="274320"/>
                  </a:cubicBezTo>
                  <a:cubicBezTo>
                    <a:pt x="3008147" y="274320"/>
                    <a:pt x="2926080" y="356387"/>
                    <a:pt x="2926080" y="457200"/>
                  </a:cubicBezTo>
                  <a:lnTo>
                    <a:pt x="2926080" y="1554480"/>
                  </a:lnTo>
                  <a:cubicBezTo>
                    <a:pt x="2926080" y="1806549"/>
                    <a:pt x="2720949" y="2011680"/>
                    <a:pt x="2468880" y="2011680"/>
                  </a:cubicBezTo>
                  <a:cubicBezTo>
                    <a:pt x="2216810" y="2011680"/>
                    <a:pt x="2011680" y="1806549"/>
                    <a:pt x="2011680" y="1554480"/>
                  </a:cubicBezTo>
                  <a:lnTo>
                    <a:pt x="2011680" y="640080"/>
                  </a:lnTo>
                  <a:cubicBezTo>
                    <a:pt x="2011680" y="539267"/>
                    <a:pt x="1929612" y="457200"/>
                    <a:pt x="1828800" y="457200"/>
                  </a:cubicBezTo>
                  <a:cubicBezTo>
                    <a:pt x="1727987" y="457200"/>
                    <a:pt x="1645920" y="539267"/>
                    <a:pt x="1645920" y="640080"/>
                  </a:cubicBezTo>
                  <a:lnTo>
                    <a:pt x="1645920" y="1005840"/>
                  </a:lnTo>
                  <a:cubicBezTo>
                    <a:pt x="1645920" y="1257909"/>
                    <a:pt x="1440789" y="1463040"/>
                    <a:pt x="1188720" y="1463040"/>
                  </a:cubicBezTo>
                  <a:lnTo>
                    <a:pt x="0" y="1463040"/>
                  </a:lnTo>
                  <a:lnTo>
                    <a:pt x="0" y="1188720"/>
                  </a:lnTo>
                  <a:lnTo>
                    <a:pt x="1188720" y="1188720"/>
                  </a:lnTo>
                  <a:cubicBezTo>
                    <a:pt x="1289532" y="1188720"/>
                    <a:pt x="1371600" y="1106652"/>
                    <a:pt x="1371600" y="1005840"/>
                  </a:cubicBezTo>
                  <a:lnTo>
                    <a:pt x="1371600" y="640080"/>
                  </a:lnTo>
                  <a:cubicBezTo>
                    <a:pt x="1371600" y="388010"/>
                    <a:pt x="1576730" y="182880"/>
                    <a:pt x="1828800" y="182880"/>
                  </a:cubicBezTo>
                  <a:cubicBezTo>
                    <a:pt x="2080869" y="182880"/>
                    <a:pt x="2286000" y="388010"/>
                    <a:pt x="2286000" y="640080"/>
                  </a:cubicBezTo>
                  <a:lnTo>
                    <a:pt x="2286000" y="1554480"/>
                  </a:lnTo>
                  <a:cubicBezTo>
                    <a:pt x="2286000" y="1655292"/>
                    <a:pt x="2368067" y="1737360"/>
                    <a:pt x="2468880" y="1737360"/>
                  </a:cubicBezTo>
                  <a:cubicBezTo>
                    <a:pt x="2569692" y="1737360"/>
                    <a:pt x="2651760" y="1655292"/>
                    <a:pt x="2651760" y="1554480"/>
                  </a:cubicBezTo>
                  <a:lnTo>
                    <a:pt x="2651760" y="457200"/>
                  </a:lnTo>
                  <a:cubicBezTo>
                    <a:pt x="2651760" y="205130"/>
                    <a:pt x="2856890" y="0"/>
                    <a:pt x="3108960" y="0"/>
                  </a:cubicBezTo>
                  <a:cubicBezTo>
                    <a:pt x="3361029" y="0"/>
                    <a:pt x="3566160" y="205130"/>
                    <a:pt x="3566160" y="457200"/>
                  </a:cubicBezTo>
                  <a:lnTo>
                    <a:pt x="3566160" y="914400"/>
                  </a:lnTo>
                  <a:cubicBezTo>
                    <a:pt x="3566160" y="1015212"/>
                    <a:pt x="3648227" y="1097280"/>
                    <a:pt x="3749040" y="1097280"/>
                  </a:cubicBezTo>
                  <a:lnTo>
                    <a:pt x="4389120" y="1097280"/>
                  </a:lnTo>
                  <a:lnTo>
                    <a:pt x="4169664" y="932687"/>
                  </a:lnTo>
                  <a:cubicBezTo>
                    <a:pt x="4109085" y="887272"/>
                    <a:pt x="4096816" y="801242"/>
                    <a:pt x="4142232" y="740664"/>
                  </a:cubicBezTo>
                  <a:cubicBezTo>
                    <a:pt x="4187723" y="680085"/>
                    <a:pt x="4273677" y="667816"/>
                    <a:pt x="4334256" y="713231"/>
                  </a:cubicBezTo>
                  <a:lnTo>
                    <a:pt x="4882896" y="1124711"/>
                  </a:lnTo>
                  <a:cubicBezTo>
                    <a:pt x="4917414" y="1150619"/>
                    <a:pt x="4937760" y="1191234"/>
                    <a:pt x="4937760" y="1234439"/>
                  </a:cubicBezTo>
                  <a:close/>
                </a:path>
              </a:pathLst>
            </a:custGeom>
            <a:solidFill>
              <a:srgbClr val="666666"/>
            </a:solidFill>
            <a:ln>
              <a:noFill/>
            </a:ln>
          </p:spPr>
          <p:txBody>
            <a:bodyPr rtlCol="0" anchor="ctr"/>
            <a:lstStyle/>
            <a:p>
              <a:pPr algn="ctr"/>
              <a:endParaRPr/>
            </a:p>
          </p:txBody>
        </p:sp>
        <p:sp>
          <p:nvSpPr>
            <p:cNvPr id="6" name="Rounded Rectangle 2"/>
            <p:cNvSpPr/>
            <p:nvPr/>
          </p:nvSpPr>
          <p:spPr>
            <a:xfrm>
              <a:off x="518160" y="2651759"/>
              <a:ext cx="4937760" cy="2011680"/>
            </a:xfrm>
            <a:custGeom>
              <a:avLst/>
              <a:gdLst/>
              <a:ahLst/>
              <a:cxnLst/>
              <a:rect l="0" t="0" r="0" b="0"/>
              <a:pathLst>
                <a:path w="4937760" h="2011680">
                  <a:moveTo>
                    <a:pt x="4937760" y="1234440"/>
                  </a:moveTo>
                  <a:cubicBezTo>
                    <a:pt x="4937760" y="1277645"/>
                    <a:pt x="4917414" y="1318260"/>
                    <a:pt x="4882896" y="1344168"/>
                  </a:cubicBezTo>
                  <a:lnTo>
                    <a:pt x="4334256" y="1755648"/>
                  </a:lnTo>
                  <a:cubicBezTo>
                    <a:pt x="4309567" y="1774164"/>
                    <a:pt x="4280687" y="1783080"/>
                    <a:pt x="4252036" y="1783080"/>
                  </a:cubicBezTo>
                  <a:cubicBezTo>
                    <a:pt x="4210354" y="1783080"/>
                    <a:pt x="4169206" y="1764182"/>
                    <a:pt x="4142232" y="1728216"/>
                  </a:cubicBezTo>
                  <a:cubicBezTo>
                    <a:pt x="4096816" y="1667637"/>
                    <a:pt x="4109085" y="1581607"/>
                    <a:pt x="4169664" y="1536192"/>
                  </a:cubicBezTo>
                  <a:lnTo>
                    <a:pt x="4389120" y="1371600"/>
                  </a:lnTo>
                  <a:lnTo>
                    <a:pt x="3749040" y="1371600"/>
                  </a:lnTo>
                  <a:cubicBezTo>
                    <a:pt x="3496970" y="1371600"/>
                    <a:pt x="3291840" y="1166469"/>
                    <a:pt x="3291840" y="914400"/>
                  </a:cubicBezTo>
                  <a:lnTo>
                    <a:pt x="3291840" y="457200"/>
                  </a:lnTo>
                  <a:cubicBezTo>
                    <a:pt x="3291840" y="356387"/>
                    <a:pt x="3209772" y="274320"/>
                    <a:pt x="3108960" y="274320"/>
                  </a:cubicBezTo>
                  <a:cubicBezTo>
                    <a:pt x="3008147" y="274320"/>
                    <a:pt x="2926080" y="356387"/>
                    <a:pt x="2926080" y="457200"/>
                  </a:cubicBezTo>
                  <a:lnTo>
                    <a:pt x="2926080" y="1554480"/>
                  </a:lnTo>
                  <a:cubicBezTo>
                    <a:pt x="2926080" y="1806549"/>
                    <a:pt x="2720949" y="2011680"/>
                    <a:pt x="2468880" y="2011680"/>
                  </a:cubicBezTo>
                  <a:cubicBezTo>
                    <a:pt x="2216810" y="2011680"/>
                    <a:pt x="2011680" y="1806549"/>
                    <a:pt x="2011680" y="1554480"/>
                  </a:cubicBezTo>
                  <a:lnTo>
                    <a:pt x="2011680" y="640080"/>
                  </a:lnTo>
                  <a:cubicBezTo>
                    <a:pt x="2011680" y="539267"/>
                    <a:pt x="1929612" y="457200"/>
                    <a:pt x="1828800" y="457200"/>
                  </a:cubicBezTo>
                  <a:cubicBezTo>
                    <a:pt x="1727987" y="457200"/>
                    <a:pt x="1645920" y="539267"/>
                    <a:pt x="1645920" y="640080"/>
                  </a:cubicBezTo>
                  <a:lnTo>
                    <a:pt x="1645920" y="1005840"/>
                  </a:lnTo>
                  <a:cubicBezTo>
                    <a:pt x="1645920" y="1257909"/>
                    <a:pt x="1440789" y="1463040"/>
                    <a:pt x="1188720" y="1463040"/>
                  </a:cubicBezTo>
                  <a:lnTo>
                    <a:pt x="0" y="1463040"/>
                  </a:lnTo>
                  <a:lnTo>
                    <a:pt x="0" y="1188720"/>
                  </a:lnTo>
                  <a:lnTo>
                    <a:pt x="1188720" y="1188720"/>
                  </a:lnTo>
                  <a:cubicBezTo>
                    <a:pt x="1289532" y="1188720"/>
                    <a:pt x="1371600" y="1106652"/>
                    <a:pt x="1371600" y="1005840"/>
                  </a:cubicBezTo>
                  <a:lnTo>
                    <a:pt x="1371600" y="640080"/>
                  </a:lnTo>
                  <a:cubicBezTo>
                    <a:pt x="1371600" y="388010"/>
                    <a:pt x="1576730" y="182880"/>
                    <a:pt x="1828800" y="182880"/>
                  </a:cubicBezTo>
                  <a:cubicBezTo>
                    <a:pt x="2080869" y="182880"/>
                    <a:pt x="2286000" y="388010"/>
                    <a:pt x="2286000" y="640080"/>
                  </a:cubicBezTo>
                  <a:lnTo>
                    <a:pt x="2286000" y="1554480"/>
                  </a:lnTo>
                  <a:cubicBezTo>
                    <a:pt x="2286000" y="1655292"/>
                    <a:pt x="2368067" y="1737360"/>
                    <a:pt x="2468880" y="1737360"/>
                  </a:cubicBezTo>
                  <a:cubicBezTo>
                    <a:pt x="2569692" y="1737360"/>
                    <a:pt x="2651760" y="1655292"/>
                    <a:pt x="2651760" y="1554480"/>
                  </a:cubicBezTo>
                  <a:lnTo>
                    <a:pt x="2651760" y="457200"/>
                  </a:lnTo>
                  <a:cubicBezTo>
                    <a:pt x="2651760" y="205130"/>
                    <a:pt x="2856890" y="0"/>
                    <a:pt x="3108960" y="0"/>
                  </a:cubicBezTo>
                  <a:cubicBezTo>
                    <a:pt x="3361029" y="0"/>
                    <a:pt x="3566160" y="205130"/>
                    <a:pt x="3566160" y="457200"/>
                  </a:cubicBezTo>
                  <a:lnTo>
                    <a:pt x="3566160" y="914400"/>
                  </a:lnTo>
                  <a:cubicBezTo>
                    <a:pt x="3566160" y="1015212"/>
                    <a:pt x="3648227" y="1097280"/>
                    <a:pt x="3749040" y="1097280"/>
                  </a:cubicBezTo>
                  <a:lnTo>
                    <a:pt x="4389120" y="1097280"/>
                  </a:lnTo>
                  <a:lnTo>
                    <a:pt x="4169664" y="932687"/>
                  </a:lnTo>
                  <a:cubicBezTo>
                    <a:pt x="4109085" y="887272"/>
                    <a:pt x="4096816" y="801242"/>
                    <a:pt x="4142232" y="740664"/>
                  </a:cubicBezTo>
                  <a:cubicBezTo>
                    <a:pt x="4187723" y="680085"/>
                    <a:pt x="4273677" y="667816"/>
                    <a:pt x="4334256" y="713231"/>
                  </a:cubicBezTo>
                  <a:lnTo>
                    <a:pt x="4882896" y="1124711"/>
                  </a:lnTo>
                  <a:cubicBezTo>
                    <a:pt x="4917414" y="1150619"/>
                    <a:pt x="4937760" y="1191234"/>
                    <a:pt x="4937760" y="1234439"/>
                  </a:cubicBezTo>
                  <a:close/>
                </a:path>
              </a:pathLst>
            </a:custGeom>
            <a:noFill/>
            <a:ln w="11430">
              <a:solidFill>
                <a:srgbClr val="FFFFFF"/>
              </a:solidFill>
            </a:ln>
          </p:spPr>
          <p:txBody>
            <a:bodyPr rtlCol="0" anchor="ctr"/>
            <a:lstStyle/>
            <a:p>
              <a:pPr algn="ctr"/>
              <a:endParaRPr/>
            </a:p>
          </p:txBody>
        </p:sp>
      </p:grpSp>
      <p:sp>
        <p:nvSpPr>
          <p:cNvPr id="7" name="Rounded Rectangle 4"/>
          <p:cNvSpPr/>
          <p:nvPr/>
        </p:nvSpPr>
        <p:spPr>
          <a:xfrm>
            <a:off x="1571949" y="3035219"/>
            <a:ext cx="8021983" cy="1737360"/>
          </a:xfrm>
          <a:custGeom>
            <a:avLst/>
            <a:gdLst/>
            <a:ahLst/>
            <a:cxnLst/>
            <a:rect l="0" t="0" r="0" b="0"/>
            <a:pathLst>
              <a:path w="4389120" h="1737360">
                <a:moveTo>
                  <a:pt x="0" y="1188720"/>
                </a:moveTo>
                <a:lnTo>
                  <a:pt x="1188720" y="1188720"/>
                </a:lnTo>
                <a:cubicBezTo>
                  <a:pt x="1365473" y="1188720"/>
                  <a:pt x="1508760" y="1045433"/>
                  <a:pt x="1508760" y="868680"/>
                </a:cubicBezTo>
                <a:lnTo>
                  <a:pt x="1508760" y="502920"/>
                </a:lnTo>
                <a:cubicBezTo>
                  <a:pt x="1508760" y="326166"/>
                  <a:pt x="1652046" y="182880"/>
                  <a:pt x="1828800" y="182880"/>
                </a:cubicBezTo>
                <a:cubicBezTo>
                  <a:pt x="2005553" y="182880"/>
                  <a:pt x="2148840" y="326166"/>
                  <a:pt x="2148840" y="502920"/>
                </a:cubicBezTo>
                <a:lnTo>
                  <a:pt x="2148840" y="1417320"/>
                </a:lnTo>
                <a:cubicBezTo>
                  <a:pt x="2148840" y="1594073"/>
                  <a:pt x="2292126" y="1737360"/>
                  <a:pt x="2468880" y="1737360"/>
                </a:cubicBezTo>
                <a:cubicBezTo>
                  <a:pt x="2645633" y="1737360"/>
                  <a:pt x="2788920" y="1594073"/>
                  <a:pt x="2788920" y="1417320"/>
                </a:cubicBezTo>
                <a:lnTo>
                  <a:pt x="2788920" y="320040"/>
                </a:lnTo>
                <a:cubicBezTo>
                  <a:pt x="2788920" y="143286"/>
                  <a:pt x="2932206" y="0"/>
                  <a:pt x="3108960" y="0"/>
                </a:cubicBezTo>
                <a:cubicBezTo>
                  <a:pt x="3285713" y="0"/>
                  <a:pt x="3429000" y="143286"/>
                  <a:pt x="3429000" y="320040"/>
                </a:cubicBezTo>
                <a:lnTo>
                  <a:pt x="3429000" y="777240"/>
                </a:lnTo>
                <a:cubicBezTo>
                  <a:pt x="3429000" y="953993"/>
                  <a:pt x="3572286" y="1097280"/>
                  <a:pt x="3749040" y="1097280"/>
                </a:cubicBezTo>
                <a:lnTo>
                  <a:pt x="4389120" y="1097280"/>
                </a:lnTo>
              </a:path>
            </a:pathLst>
          </a:custGeom>
          <a:noFill/>
          <a:ln w="11430">
            <a:solidFill>
              <a:srgbClr val="484848"/>
            </a:solidFill>
            <a:prstDash val="dash"/>
          </a:ln>
        </p:spPr>
        <p:txBody>
          <a:bodyPr rtlCol="0" anchor="ctr"/>
          <a:lstStyle/>
          <a:p>
            <a:pPr algn="ctr"/>
            <a:endParaRPr/>
          </a:p>
        </p:txBody>
      </p:sp>
      <p:grpSp>
        <p:nvGrpSpPr>
          <p:cNvPr id="8" name="Group 7"/>
          <p:cNvGrpSpPr/>
          <p:nvPr/>
        </p:nvGrpSpPr>
        <p:grpSpPr>
          <a:xfrm>
            <a:off x="6985944" y="2343667"/>
            <a:ext cx="466477" cy="564641"/>
            <a:chOff x="3505199" y="2293620"/>
            <a:chExt cx="258470" cy="341299"/>
          </a:xfrm>
        </p:grpSpPr>
        <p:sp>
          <p:nvSpPr>
            <p:cNvPr id="9" name="Rounded Rectangle 5"/>
            <p:cNvSpPr/>
            <p:nvPr/>
          </p:nvSpPr>
          <p:spPr>
            <a:xfrm>
              <a:off x="3505199" y="2293620"/>
              <a:ext cx="258470" cy="341299"/>
            </a:xfrm>
            <a:custGeom>
              <a:avLst/>
              <a:gdLst/>
              <a:ahLst/>
              <a:cxnLst/>
              <a:rect l="0" t="0" r="0" b="0"/>
              <a:pathLst>
                <a:path w="258470" h="341299">
                  <a:moveTo>
                    <a:pt x="171907" y="129158"/>
                  </a:moveTo>
                  <a:cubicBezTo>
                    <a:pt x="171907" y="152781"/>
                    <a:pt x="152704" y="171907"/>
                    <a:pt x="129159" y="171907"/>
                  </a:cubicBezTo>
                  <a:cubicBezTo>
                    <a:pt x="105613" y="171907"/>
                    <a:pt x="86487" y="152781"/>
                    <a:pt x="86487" y="129158"/>
                  </a:cubicBezTo>
                  <a:cubicBezTo>
                    <a:pt x="86487" y="105536"/>
                    <a:pt x="105613" y="86410"/>
                    <a:pt x="129159" y="86410"/>
                  </a:cubicBezTo>
                  <a:cubicBezTo>
                    <a:pt x="152781" y="86410"/>
                    <a:pt x="171907" y="105536"/>
                    <a:pt x="171907" y="129158"/>
                  </a:cubicBezTo>
                  <a:close/>
                  <a:moveTo>
                    <a:pt x="258470" y="129082"/>
                  </a:moveTo>
                  <a:cubicBezTo>
                    <a:pt x="258470" y="182270"/>
                    <a:pt x="226314" y="227914"/>
                    <a:pt x="180441" y="247726"/>
                  </a:cubicBezTo>
                  <a:lnTo>
                    <a:pt x="129235" y="341299"/>
                  </a:lnTo>
                  <a:lnTo>
                    <a:pt x="78028" y="247802"/>
                  </a:lnTo>
                  <a:cubicBezTo>
                    <a:pt x="32156" y="227990"/>
                    <a:pt x="0" y="182346"/>
                    <a:pt x="0" y="129158"/>
                  </a:cubicBezTo>
                  <a:cubicBezTo>
                    <a:pt x="0" y="57835"/>
                    <a:pt x="57759" y="0"/>
                    <a:pt x="129158" y="0"/>
                  </a:cubicBezTo>
                  <a:cubicBezTo>
                    <a:pt x="200558" y="0"/>
                    <a:pt x="258394" y="57835"/>
                    <a:pt x="258394" y="129158"/>
                  </a:cubicBezTo>
                  <a:close/>
                  <a:moveTo>
                    <a:pt x="209473" y="129158"/>
                  </a:moveTo>
                  <a:cubicBezTo>
                    <a:pt x="209473" y="84810"/>
                    <a:pt x="173431" y="48920"/>
                    <a:pt x="129159" y="48920"/>
                  </a:cubicBezTo>
                  <a:cubicBezTo>
                    <a:pt x="84886" y="48920"/>
                    <a:pt x="48920" y="84810"/>
                    <a:pt x="48920" y="129158"/>
                  </a:cubicBezTo>
                  <a:cubicBezTo>
                    <a:pt x="48920" y="173507"/>
                    <a:pt x="84886" y="209473"/>
                    <a:pt x="129159" y="209473"/>
                  </a:cubicBezTo>
                  <a:cubicBezTo>
                    <a:pt x="173507" y="209473"/>
                    <a:pt x="209473" y="173507"/>
                    <a:pt x="209473" y="129158"/>
                  </a:cubicBezTo>
                  <a:close/>
                </a:path>
              </a:pathLst>
            </a:custGeom>
            <a:solidFill>
              <a:srgbClr val="3CC583"/>
            </a:solidFill>
            <a:ln>
              <a:noFill/>
            </a:ln>
          </p:spPr>
          <p:txBody>
            <a:bodyPr rtlCol="0" anchor="ctr"/>
            <a:lstStyle/>
            <a:p>
              <a:pPr algn="ctr"/>
              <a:endParaRPr/>
            </a:p>
          </p:txBody>
        </p:sp>
        <p:sp>
          <p:nvSpPr>
            <p:cNvPr id="10" name="Rounded Rectangle 6"/>
            <p:cNvSpPr/>
            <p:nvPr/>
          </p:nvSpPr>
          <p:spPr>
            <a:xfrm>
              <a:off x="3505199" y="2293620"/>
              <a:ext cx="258470" cy="341299"/>
            </a:xfrm>
            <a:custGeom>
              <a:avLst/>
              <a:gdLst/>
              <a:ahLst/>
              <a:cxnLst/>
              <a:rect l="0" t="0" r="0" b="0"/>
              <a:pathLst>
                <a:path w="258470" h="341299">
                  <a:moveTo>
                    <a:pt x="171907" y="129158"/>
                  </a:moveTo>
                  <a:cubicBezTo>
                    <a:pt x="171907" y="152781"/>
                    <a:pt x="152704" y="171907"/>
                    <a:pt x="129159" y="171907"/>
                  </a:cubicBezTo>
                  <a:cubicBezTo>
                    <a:pt x="105613" y="171907"/>
                    <a:pt x="86487" y="152781"/>
                    <a:pt x="86487" y="129158"/>
                  </a:cubicBezTo>
                  <a:cubicBezTo>
                    <a:pt x="86487" y="105536"/>
                    <a:pt x="105613" y="86410"/>
                    <a:pt x="129159" y="86410"/>
                  </a:cubicBezTo>
                  <a:cubicBezTo>
                    <a:pt x="152781" y="86410"/>
                    <a:pt x="171907" y="105536"/>
                    <a:pt x="171907" y="129158"/>
                  </a:cubicBezTo>
                  <a:close/>
                  <a:moveTo>
                    <a:pt x="258470" y="129082"/>
                  </a:moveTo>
                  <a:cubicBezTo>
                    <a:pt x="258470" y="182270"/>
                    <a:pt x="226314" y="227914"/>
                    <a:pt x="180441" y="247726"/>
                  </a:cubicBezTo>
                  <a:lnTo>
                    <a:pt x="129235" y="341299"/>
                  </a:lnTo>
                  <a:lnTo>
                    <a:pt x="78028" y="247802"/>
                  </a:lnTo>
                  <a:cubicBezTo>
                    <a:pt x="32156" y="227990"/>
                    <a:pt x="0" y="182346"/>
                    <a:pt x="0" y="129158"/>
                  </a:cubicBezTo>
                  <a:cubicBezTo>
                    <a:pt x="0" y="57835"/>
                    <a:pt x="57759" y="0"/>
                    <a:pt x="129158" y="0"/>
                  </a:cubicBezTo>
                  <a:cubicBezTo>
                    <a:pt x="200558" y="0"/>
                    <a:pt x="258394" y="57835"/>
                    <a:pt x="258394" y="129158"/>
                  </a:cubicBezTo>
                  <a:close/>
                  <a:moveTo>
                    <a:pt x="209473" y="129158"/>
                  </a:moveTo>
                  <a:cubicBezTo>
                    <a:pt x="209473" y="84810"/>
                    <a:pt x="173431" y="48920"/>
                    <a:pt x="129159" y="48920"/>
                  </a:cubicBezTo>
                  <a:cubicBezTo>
                    <a:pt x="84886" y="48920"/>
                    <a:pt x="48920" y="84810"/>
                    <a:pt x="48920" y="129158"/>
                  </a:cubicBezTo>
                  <a:cubicBezTo>
                    <a:pt x="48920" y="173507"/>
                    <a:pt x="84886" y="209473"/>
                    <a:pt x="129159" y="209473"/>
                  </a:cubicBezTo>
                  <a:cubicBezTo>
                    <a:pt x="173507" y="209473"/>
                    <a:pt x="209473" y="173507"/>
                    <a:pt x="209473" y="129158"/>
                  </a:cubicBezTo>
                  <a:close/>
                </a:path>
              </a:pathLst>
            </a:custGeom>
            <a:noFill/>
            <a:ln w="11430">
              <a:solidFill>
                <a:srgbClr val="FFFFFF"/>
              </a:solidFill>
            </a:ln>
          </p:spPr>
          <p:txBody>
            <a:bodyPr rtlCol="0" anchor="ctr"/>
            <a:lstStyle/>
            <a:p>
              <a:pPr algn="ctr"/>
              <a:endParaRPr/>
            </a:p>
          </p:txBody>
        </p:sp>
      </p:grpSp>
      <p:grpSp>
        <p:nvGrpSpPr>
          <p:cNvPr id="11" name="Group 10"/>
          <p:cNvGrpSpPr/>
          <p:nvPr/>
        </p:nvGrpSpPr>
        <p:grpSpPr>
          <a:xfrm>
            <a:off x="5856574" y="4097639"/>
            <a:ext cx="466477" cy="564641"/>
            <a:chOff x="2865120" y="4030980"/>
            <a:chExt cx="258470" cy="341299"/>
          </a:xfrm>
        </p:grpSpPr>
        <p:sp>
          <p:nvSpPr>
            <p:cNvPr id="12" name="Rounded Rectangle 8"/>
            <p:cNvSpPr/>
            <p:nvPr/>
          </p:nvSpPr>
          <p:spPr>
            <a:xfrm>
              <a:off x="2865120" y="4030980"/>
              <a:ext cx="258470" cy="341299"/>
            </a:xfrm>
            <a:custGeom>
              <a:avLst/>
              <a:gdLst/>
              <a:ahLst/>
              <a:cxnLst/>
              <a:rect l="0" t="0" r="0" b="0"/>
              <a:pathLst>
                <a:path w="258470" h="341299">
                  <a:moveTo>
                    <a:pt x="171907" y="129159"/>
                  </a:moveTo>
                  <a:cubicBezTo>
                    <a:pt x="171907" y="152781"/>
                    <a:pt x="152704" y="171907"/>
                    <a:pt x="129159" y="171907"/>
                  </a:cubicBezTo>
                  <a:cubicBezTo>
                    <a:pt x="105613" y="171907"/>
                    <a:pt x="86487" y="152781"/>
                    <a:pt x="86487" y="129159"/>
                  </a:cubicBezTo>
                  <a:cubicBezTo>
                    <a:pt x="86487" y="105537"/>
                    <a:pt x="105613" y="86410"/>
                    <a:pt x="129159" y="86410"/>
                  </a:cubicBezTo>
                  <a:cubicBezTo>
                    <a:pt x="152781" y="86410"/>
                    <a:pt x="171907" y="105537"/>
                    <a:pt x="171907" y="129159"/>
                  </a:cubicBezTo>
                  <a:close/>
                  <a:moveTo>
                    <a:pt x="258470" y="129082"/>
                  </a:moveTo>
                  <a:cubicBezTo>
                    <a:pt x="258470" y="182270"/>
                    <a:pt x="226314" y="227914"/>
                    <a:pt x="180441" y="247726"/>
                  </a:cubicBezTo>
                  <a:lnTo>
                    <a:pt x="129235" y="341299"/>
                  </a:lnTo>
                  <a:lnTo>
                    <a:pt x="78028" y="247802"/>
                  </a:lnTo>
                  <a:cubicBezTo>
                    <a:pt x="32156" y="227990"/>
                    <a:pt x="0" y="182346"/>
                    <a:pt x="0" y="129159"/>
                  </a:cubicBezTo>
                  <a:cubicBezTo>
                    <a:pt x="0" y="57835"/>
                    <a:pt x="57759" y="0"/>
                    <a:pt x="129158" y="0"/>
                  </a:cubicBezTo>
                  <a:cubicBezTo>
                    <a:pt x="200558" y="0"/>
                    <a:pt x="258394" y="57835"/>
                    <a:pt x="258394" y="129159"/>
                  </a:cubicBezTo>
                  <a:close/>
                  <a:moveTo>
                    <a:pt x="209473" y="129159"/>
                  </a:moveTo>
                  <a:cubicBezTo>
                    <a:pt x="209473" y="84810"/>
                    <a:pt x="173431" y="48920"/>
                    <a:pt x="129159" y="48920"/>
                  </a:cubicBezTo>
                  <a:cubicBezTo>
                    <a:pt x="84886" y="48920"/>
                    <a:pt x="48920" y="84810"/>
                    <a:pt x="48920" y="129159"/>
                  </a:cubicBezTo>
                  <a:cubicBezTo>
                    <a:pt x="48920" y="173507"/>
                    <a:pt x="84886" y="209473"/>
                    <a:pt x="129159" y="209473"/>
                  </a:cubicBezTo>
                  <a:cubicBezTo>
                    <a:pt x="173507" y="209473"/>
                    <a:pt x="209473" y="173507"/>
                    <a:pt x="209473" y="129159"/>
                  </a:cubicBezTo>
                  <a:close/>
                </a:path>
              </a:pathLst>
            </a:custGeom>
            <a:solidFill>
              <a:srgbClr val="1EABDA"/>
            </a:solidFill>
            <a:ln>
              <a:noFill/>
            </a:ln>
          </p:spPr>
          <p:txBody>
            <a:bodyPr rtlCol="0" anchor="ctr"/>
            <a:lstStyle/>
            <a:p>
              <a:pPr algn="ctr"/>
              <a:endParaRPr/>
            </a:p>
          </p:txBody>
        </p:sp>
        <p:sp>
          <p:nvSpPr>
            <p:cNvPr id="13" name="Rounded Rectangle 9"/>
            <p:cNvSpPr/>
            <p:nvPr/>
          </p:nvSpPr>
          <p:spPr>
            <a:xfrm>
              <a:off x="2865120" y="4030980"/>
              <a:ext cx="258470" cy="341299"/>
            </a:xfrm>
            <a:custGeom>
              <a:avLst/>
              <a:gdLst/>
              <a:ahLst/>
              <a:cxnLst/>
              <a:rect l="0" t="0" r="0" b="0"/>
              <a:pathLst>
                <a:path w="258470" h="341299">
                  <a:moveTo>
                    <a:pt x="171907" y="129159"/>
                  </a:moveTo>
                  <a:cubicBezTo>
                    <a:pt x="171907" y="152781"/>
                    <a:pt x="152704" y="171907"/>
                    <a:pt x="129159" y="171907"/>
                  </a:cubicBezTo>
                  <a:cubicBezTo>
                    <a:pt x="105613" y="171907"/>
                    <a:pt x="86487" y="152781"/>
                    <a:pt x="86487" y="129159"/>
                  </a:cubicBezTo>
                  <a:cubicBezTo>
                    <a:pt x="86487" y="105537"/>
                    <a:pt x="105613" y="86410"/>
                    <a:pt x="129159" y="86410"/>
                  </a:cubicBezTo>
                  <a:cubicBezTo>
                    <a:pt x="152781" y="86410"/>
                    <a:pt x="171907" y="105537"/>
                    <a:pt x="171907" y="129159"/>
                  </a:cubicBezTo>
                  <a:close/>
                  <a:moveTo>
                    <a:pt x="258470" y="129082"/>
                  </a:moveTo>
                  <a:cubicBezTo>
                    <a:pt x="258470" y="182270"/>
                    <a:pt x="226314" y="227914"/>
                    <a:pt x="180441" y="247726"/>
                  </a:cubicBezTo>
                  <a:lnTo>
                    <a:pt x="129235" y="341299"/>
                  </a:lnTo>
                  <a:lnTo>
                    <a:pt x="78028" y="247802"/>
                  </a:lnTo>
                  <a:cubicBezTo>
                    <a:pt x="32156" y="227990"/>
                    <a:pt x="0" y="182346"/>
                    <a:pt x="0" y="129159"/>
                  </a:cubicBezTo>
                  <a:cubicBezTo>
                    <a:pt x="0" y="57835"/>
                    <a:pt x="57759" y="0"/>
                    <a:pt x="129158" y="0"/>
                  </a:cubicBezTo>
                  <a:cubicBezTo>
                    <a:pt x="200558" y="0"/>
                    <a:pt x="258394" y="57835"/>
                    <a:pt x="258394" y="129159"/>
                  </a:cubicBezTo>
                  <a:close/>
                  <a:moveTo>
                    <a:pt x="209473" y="129159"/>
                  </a:moveTo>
                  <a:cubicBezTo>
                    <a:pt x="209473" y="84810"/>
                    <a:pt x="173431" y="48920"/>
                    <a:pt x="129159" y="48920"/>
                  </a:cubicBezTo>
                  <a:cubicBezTo>
                    <a:pt x="84886" y="48920"/>
                    <a:pt x="48920" y="84810"/>
                    <a:pt x="48920" y="129159"/>
                  </a:cubicBezTo>
                  <a:cubicBezTo>
                    <a:pt x="48920" y="173507"/>
                    <a:pt x="84886" y="209473"/>
                    <a:pt x="129159" y="209473"/>
                  </a:cubicBezTo>
                  <a:cubicBezTo>
                    <a:pt x="173507" y="209473"/>
                    <a:pt x="209473" y="173507"/>
                    <a:pt x="209473" y="129159"/>
                  </a:cubicBezTo>
                  <a:close/>
                </a:path>
              </a:pathLst>
            </a:custGeom>
            <a:noFill/>
            <a:ln w="11430">
              <a:solidFill>
                <a:srgbClr val="FFFFFF"/>
              </a:solidFill>
            </a:ln>
          </p:spPr>
          <p:txBody>
            <a:bodyPr rtlCol="0" anchor="ctr"/>
            <a:lstStyle/>
            <a:p>
              <a:pPr algn="ctr"/>
              <a:endParaRPr/>
            </a:p>
          </p:txBody>
        </p:sp>
      </p:grpSp>
      <p:grpSp>
        <p:nvGrpSpPr>
          <p:cNvPr id="14" name="Group 13"/>
          <p:cNvGrpSpPr/>
          <p:nvPr/>
        </p:nvGrpSpPr>
        <p:grpSpPr>
          <a:xfrm>
            <a:off x="4658764" y="2543538"/>
            <a:ext cx="466477" cy="564641"/>
            <a:chOff x="2225039" y="2476500"/>
            <a:chExt cx="258470" cy="341299"/>
          </a:xfrm>
        </p:grpSpPr>
        <p:sp>
          <p:nvSpPr>
            <p:cNvPr id="15" name="Rounded Rectangle 11"/>
            <p:cNvSpPr/>
            <p:nvPr/>
          </p:nvSpPr>
          <p:spPr>
            <a:xfrm>
              <a:off x="2225039" y="2476500"/>
              <a:ext cx="258470" cy="341299"/>
            </a:xfrm>
            <a:custGeom>
              <a:avLst/>
              <a:gdLst/>
              <a:ahLst/>
              <a:cxnLst/>
              <a:rect l="0" t="0" r="0" b="0"/>
              <a:pathLst>
                <a:path w="258470" h="341299">
                  <a:moveTo>
                    <a:pt x="171907" y="129158"/>
                  </a:moveTo>
                  <a:cubicBezTo>
                    <a:pt x="171907" y="152781"/>
                    <a:pt x="152704" y="171907"/>
                    <a:pt x="129159" y="171907"/>
                  </a:cubicBezTo>
                  <a:cubicBezTo>
                    <a:pt x="105613" y="171907"/>
                    <a:pt x="86487" y="152781"/>
                    <a:pt x="86487" y="129158"/>
                  </a:cubicBezTo>
                  <a:cubicBezTo>
                    <a:pt x="86487" y="105536"/>
                    <a:pt x="105613" y="86410"/>
                    <a:pt x="129159" y="86410"/>
                  </a:cubicBezTo>
                  <a:cubicBezTo>
                    <a:pt x="152781" y="86410"/>
                    <a:pt x="171907" y="105536"/>
                    <a:pt x="171907" y="129158"/>
                  </a:cubicBezTo>
                  <a:close/>
                  <a:moveTo>
                    <a:pt x="258470" y="129082"/>
                  </a:moveTo>
                  <a:cubicBezTo>
                    <a:pt x="258470" y="182270"/>
                    <a:pt x="226314" y="227914"/>
                    <a:pt x="180441" y="247726"/>
                  </a:cubicBezTo>
                  <a:lnTo>
                    <a:pt x="129235" y="341299"/>
                  </a:lnTo>
                  <a:lnTo>
                    <a:pt x="78028" y="247802"/>
                  </a:lnTo>
                  <a:cubicBezTo>
                    <a:pt x="32156" y="227990"/>
                    <a:pt x="0" y="182346"/>
                    <a:pt x="0" y="129158"/>
                  </a:cubicBezTo>
                  <a:cubicBezTo>
                    <a:pt x="0" y="57835"/>
                    <a:pt x="57759" y="0"/>
                    <a:pt x="129158" y="0"/>
                  </a:cubicBezTo>
                  <a:cubicBezTo>
                    <a:pt x="200558" y="0"/>
                    <a:pt x="258394" y="57835"/>
                    <a:pt x="258394" y="129158"/>
                  </a:cubicBezTo>
                  <a:close/>
                  <a:moveTo>
                    <a:pt x="209473" y="129158"/>
                  </a:moveTo>
                  <a:cubicBezTo>
                    <a:pt x="209473" y="84810"/>
                    <a:pt x="173431" y="48920"/>
                    <a:pt x="129159" y="48920"/>
                  </a:cubicBezTo>
                  <a:cubicBezTo>
                    <a:pt x="84886" y="48920"/>
                    <a:pt x="48920" y="84810"/>
                    <a:pt x="48920" y="129158"/>
                  </a:cubicBezTo>
                  <a:cubicBezTo>
                    <a:pt x="48920" y="173507"/>
                    <a:pt x="84886" y="209473"/>
                    <a:pt x="129159" y="209473"/>
                  </a:cubicBezTo>
                  <a:cubicBezTo>
                    <a:pt x="173507" y="209473"/>
                    <a:pt x="209473" y="173507"/>
                    <a:pt x="209473" y="129158"/>
                  </a:cubicBezTo>
                  <a:close/>
                </a:path>
              </a:pathLst>
            </a:custGeom>
            <a:solidFill>
              <a:srgbClr val="4E88E7"/>
            </a:solidFill>
            <a:ln>
              <a:noFill/>
            </a:ln>
          </p:spPr>
          <p:txBody>
            <a:bodyPr rtlCol="0" anchor="ctr"/>
            <a:lstStyle/>
            <a:p>
              <a:pPr algn="ctr"/>
              <a:endParaRPr/>
            </a:p>
          </p:txBody>
        </p:sp>
        <p:sp>
          <p:nvSpPr>
            <p:cNvPr id="16" name="Rounded Rectangle 12"/>
            <p:cNvSpPr/>
            <p:nvPr/>
          </p:nvSpPr>
          <p:spPr>
            <a:xfrm>
              <a:off x="2225039" y="2476500"/>
              <a:ext cx="258470" cy="341299"/>
            </a:xfrm>
            <a:custGeom>
              <a:avLst/>
              <a:gdLst/>
              <a:ahLst/>
              <a:cxnLst/>
              <a:rect l="0" t="0" r="0" b="0"/>
              <a:pathLst>
                <a:path w="258470" h="341299">
                  <a:moveTo>
                    <a:pt x="171907" y="129158"/>
                  </a:moveTo>
                  <a:cubicBezTo>
                    <a:pt x="171907" y="152781"/>
                    <a:pt x="152704" y="171907"/>
                    <a:pt x="129159" y="171907"/>
                  </a:cubicBezTo>
                  <a:cubicBezTo>
                    <a:pt x="105613" y="171907"/>
                    <a:pt x="86487" y="152781"/>
                    <a:pt x="86487" y="129158"/>
                  </a:cubicBezTo>
                  <a:cubicBezTo>
                    <a:pt x="86487" y="105536"/>
                    <a:pt x="105613" y="86410"/>
                    <a:pt x="129159" y="86410"/>
                  </a:cubicBezTo>
                  <a:cubicBezTo>
                    <a:pt x="152781" y="86410"/>
                    <a:pt x="171907" y="105536"/>
                    <a:pt x="171907" y="129158"/>
                  </a:cubicBezTo>
                  <a:close/>
                  <a:moveTo>
                    <a:pt x="258470" y="129082"/>
                  </a:moveTo>
                  <a:cubicBezTo>
                    <a:pt x="258470" y="182270"/>
                    <a:pt x="226314" y="227914"/>
                    <a:pt x="180441" y="247726"/>
                  </a:cubicBezTo>
                  <a:lnTo>
                    <a:pt x="129235" y="341299"/>
                  </a:lnTo>
                  <a:lnTo>
                    <a:pt x="78028" y="247802"/>
                  </a:lnTo>
                  <a:cubicBezTo>
                    <a:pt x="32156" y="227990"/>
                    <a:pt x="0" y="182346"/>
                    <a:pt x="0" y="129158"/>
                  </a:cubicBezTo>
                  <a:cubicBezTo>
                    <a:pt x="0" y="57835"/>
                    <a:pt x="57759" y="0"/>
                    <a:pt x="129158" y="0"/>
                  </a:cubicBezTo>
                  <a:cubicBezTo>
                    <a:pt x="200558" y="0"/>
                    <a:pt x="258394" y="57835"/>
                    <a:pt x="258394" y="129158"/>
                  </a:cubicBezTo>
                  <a:close/>
                  <a:moveTo>
                    <a:pt x="209473" y="129158"/>
                  </a:moveTo>
                  <a:cubicBezTo>
                    <a:pt x="209473" y="84810"/>
                    <a:pt x="173431" y="48920"/>
                    <a:pt x="129159" y="48920"/>
                  </a:cubicBezTo>
                  <a:cubicBezTo>
                    <a:pt x="84886" y="48920"/>
                    <a:pt x="48920" y="84810"/>
                    <a:pt x="48920" y="129158"/>
                  </a:cubicBezTo>
                  <a:cubicBezTo>
                    <a:pt x="48920" y="173507"/>
                    <a:pt x="84886" y="209473"/>
                    <a:pt x="129159" y="209473"/>
                  </a:cubicBezTo>
                  <a:cubicBezTo>
                    <a:pt x="173507" y="209473"/>
                    <a:pt x="209473" y="173507"/>
                    <a:pt x="209473" y="129158"/>
                  </a:cubicBezTo>
                  <a:close/>
                </a:path>
              </a:pathLst>
            </a:custGeom>
            <a:noFill/>
            <a:ln w="11430">
              <a:solidFill>
                <a:srgbClr val="FFFFFF"/>
              </a:solidFill>
            </a:ln>
          </p:spPr>
          <p:txBody>
            <a:bodyPr rtlCol="0" anchor="ctr"/>
            <a:lstStyle/>
            <a:p>
              <a:pPr algn="ctr"/>
              <a:endParaRPr/>
            </a:p>
          </p:txBody>
        </p:sp>
      </p:grpSp>
      <p:sp>
        <p:nvSpPr>
          <p:cNvPr id="17" name="TextBox 16"/>
          <p:cNvSpPr txBox="1"/>
          <p:nvPr/>
        </p:nvSpPr>
        <p:spPr>
          <a:xfrm>
            <a:off x="8014076" y="1984978"/>
            <a:ext cx="1824217" cy="923330"/>
          </a:xfrm>
          <a:prstGeom prst="rect">
            <a:avLst/>
          </a:prstGeom>
          <a:noFill/>
          <a:ln>
            <a:noFill/>
          </a:ln>
        </p:spPr>
        <p:txBody>
          <a:bodyPr wrap="none" lIns="0" tIns="0" rIns="0" bIns="0" anchor="t">
            <a:spAutoFit/>
          </a:bodyPr>
          <a:lstStyle/>
          <a:p>
            <a:pPr algn="ctr"/>
            <a:r>
              <a:rPr sz="2000" b="1" dirty="0">
                <a:solidFill>
                  <a:srgbClr val="3CC583"/>
                </a:solidFill>
                <a:latin typeface="Roboto"/>
              </a:rPr>
              <a:t>Sales goods to
a retailer in
Maharashtra</a:t>
            </a:r>
          </a:p>
        </p:txBody>
      </p:sp>
      <p:sp>
        <p:nvSpPr>
          <p:cNvPr id="18" name="TextBox 17"/>
          <p:cNvSpPr txBox="1"/>
          <p:nvPr/>
        </p:nvSpPr>
        <p:spPr>
          <a:xfrm>
            <a:off x="2061267" y="2184849"/>
            <a:ext cx="1910781" cy="923330"/>
          </a:xfrm>
          <a:prstGeom prst="rect">
            <a:avLst/>
          </a:prstGeom>
          <a:noFill/>
          <a:ln>
            <a:noFill/>
          </a:ln>
        </p:spPr>
        <p:txBody>
          <a:bodyPr wrap="none" lIns="0" tIns="0" rIns="0" bIns="0" anchor="t">
            <a:spAutoFit/>
          </a:bodyPr>
          <a:lstStyle/>
          <a:p>
            <a:pPr algn="ctr"/>
            <a:r>
              <a:rPr sz="2000" b="1" dirty="0">
                <a:solidFill>
                  <a:srgbClr val="4E88E7"/>
                </a:solidFill>
                <a:latin typeface="Roboto"/>
              </a:rPr>
              <a:t>Manufacturer
Produce Goods
in Gujarat</a:t>
            </a:r>
          </a:p>
        </p:txBody>
      </p:sp>
      <p:sp>
        <p:nvSpPr>
          <p:cNvPr id="19" name="TextBox 18"/>
          <p:cNvSpPr txBox="1"/>
          <p:nvPr/>
        </p:nvSpPr>
        <p:spPr>
          <a:xfrm>
            <a:off x="5207357" y="5001691"/>
            <a:ext cx="1764907" cy="307777"/>
          </a:xfrm>
          <a:prstGeom prst="rect">
            <a:avLst/>
          </a:prstGeom>
          <a:noFill/>
          <a:ln>
            <a:noFill/>
          </a:ln>
        </p:spPr>
        <p:txBody>
          <a:bodyPr wrap="none" lIns="0" tIns="0" rIns="0" bIns="0" anchor="t">
            <a:spAutoFit/>
          </a:bodyPr>
          <a:lstStyle/>
          <a:p>
            <a:pPr algn="ctr"/>
            <a:r>
              <a:rPr sz="2000" b="1" dirty="0">
                <a:solidFill>
                  <a:srgbClr val="1EABDA"/>
                </a:solidFill>
                <a:latin typeface="Roboto"/>
              </a:rPr>
              <a:t>IGST is Levied</a:t>
            </a:r>
          </a:p>
        </p:txBody>
      </p:sp>
      <p:sp>
        <p:nvSpPr>
          <p:cNvPr id="20" name="TextBox 19"/>
          <p:cNvSpPr txBox="1"/>
          <p:nvPr/>
        </p:nvSpPr>
        <p:spPr>
          <a:xfrm>
            <a:off x="5038240" y="5321964"/>
            <a:ext cx="2103140" cy="830997"/>
          </a:xfrm>
          <a:prstGeom prst="rect">
            <a:avLst/>
          </a:prstGeom>
          <a:noFill/>
          <a:ln>
            <a:noFill/>
          </a:ln>
        </p:spPr>
        <p:txBody>
          <a:bodyPr wrap="none" lIns="0" tIns="0" rIns="0" bIns="0" anchor="t">
            <a:spAutoFit/>
          </a:bodyPr>
          <a:lstStyle/>
          <a:p>
            <a:pPr algn="ctr"/>
            <a:r>
              <a:rPr b="0" dirty="0">
                <a:solidFill>
                  <a:srgbClr val="484848"/>
                </a:solidFill>
                <a:latin typeface="Roboto"/>
              </a:rPr>
              <a:t>The transaction is
subject to the levy of
IGST.</a:t>
            </a:r>
          </a:p>
        </p:txBody>
      </p:sp>
      <p:pic>
        <p:nvPicPr>
          <p:cNvPr id="1036" name="Picture 12" descr="Gujarat state blank outline map 44011396 Vector Art at Vecteez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953" t="20144" r="5475" b="11172"/>
          <a:stretch/>
        </p:blipFill>
        <p:spPr bwMode="auto">
          <a:xfrm>
            <a:off x="1571949" y="3241222"/>
            <a:ext cx="2400099" cy="204488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aharashtra Map Vector Art, Icons, and Graphics for Free Downloa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9" t="11994" r="3984" b="11507"/>
          <a:stretch/>
        </p:blipFill>
        <p:spPr bwMode="auto">
          <a:xfrm>
            <a:off x="8399756" y="3351690"/>
            <a:ext cx="2305878" cy="1802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261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 Taxes Abolished After Introduction of GST</a:t>
            </a:r>
          </a:p>
        </p:txBody>
      </p:sp>
      <p:sp>
        <p:nvSpPr>
          <p:cNvPr id="3" name="Content Placeholder 2"/>
          <p:cNvSpPr>
            <a:spLocks noGrp="1"/>
          </p:cNvSpPr>
          <p:nvPr>
            <p:ph idx="1"/>
          </p:nvPr>
        </p:nvSpPr>
        <p:spPr>
          <a:xfrm>
            <a:off x="131180" y="732810"/>
            <a:ext cx="11929641" cy="5590565"/>
          </a:xfrm>
        </p:spPr>
        <p:txBody>
          <a:bodyPr/>
          <a:lstStyle/>
          <a:p>
            <a:r>
              <a:rPr lang="en-US" dirty="0"/>
              <a:t>Central Excise Duty &amp; Additional Excise Duty</a:t>
            </a:r>
          </a:p>
          <a:p>
            <a:r>
              <a:rPr lang="en-US" dirty="0"/>
              <a:t>Service Tax</a:t>
            </a:r>
          </a:p>
          <a:p>
            <a:r>
              <a:rPr lang="en-US" dirty="0"/>
              <a:t>Excise Duty under Medicinal &amp; Toilet Preparation Act, 1955</a:t>
            </a:r>
          </a:p>
          <a:p>
            <a:r>
              <a:rPr lang="en-US" dirty="0"/>
              <a:t>CVD (Countervailing Duty) &amp; Special CVD</a:t>
            </a:r>
          </a:p>
          <a:p>
            <a:r>
              <a:rPr lang="en-US" dirty="0"/>
              <a:t>Central Sales Tax</a:t>
            </a:r>
          </a:p>
          <a:p>
            <a:r>
              <a:rPr lang="en-US" dirty="0"/>
              <a:t>Central surcharges and cesses in so far as they relate to supply of goods and services</a:t>
            </a:r>
          </a:p>
          <a:p>
            <a:endParaRPr lang="en-IN" dirty="0"/>
          </a:p>
        </p:txBody>
      </p:sp>
    </p:spTree>
    <p:extLst>
      <p:ext uri="{BB962C8B-B14F-4D97-AF65-F5344CB8AC3E}">
        <p14:creationId xmlns:p14="http://schemas.microsoft.com/office/powerpoint/2010/main" val="252667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8FB10-C166-855D-95C0-DDE8E4EC24B1}"/>
              </a:ext>
            </a:extLst>
          </p:cNvPr>
          <p:cNvSpPr>
            <a:spLocks noGrp="1"/>
          </p:cNvSpPr>
          <p:nvPr>
            <p:ph type="title"/>
          </p:nvPr>
        </p:nvSpPr>
        <p:spPr/>
        <p:txBody>
          <a:bodyPr/>
          <a:lstStyle/>
          <a:p>
            <a:r>
              <a:rPr lang="en-IN" dirty="0"/>
              <a:t>State Taxes Abolished After Introduction of GST</a:t>
            </a:r>
          </a:p>
        </p:txBody>
      </p:sp>
      <p:sp>
        <p:nvSpPr>
          <p:cNvPr id="3" name="Content Placeholder 2">
            <a:extLst>
              <a:ext uri="{FF2B5EF4-FFF2-40B4-BE49-F238E27FC236}">
                <a16:creationId xmlns:a16="http://schemas.microsoft.com/office/drawing/2014/main" id="{F3CB8292-8C79-ACFC-04A1-83A553E25B21}"/>
              </a:ext>
            </a:extLst>
          </p:cNvPr>
          <p:cNvSpPr>
            <a:spLocks noGrp="1"/>
          </p:cNvSpPr>
          <p:nvPr>
            <p:ph idx="1"/>
          </p:nvPr>
        </p:nvSpPr>
        <p:spPr/>
        <p:txBody>
          <a:bodyPr/>
          <a:lstStyle/>
          <a:p>
            <a:r>
              <a:rPr lang="en-US" dirty="0"/>
              <a:t>Entertainment Tax (except those levied by local bodies)</a:t>
            </a:r>
          </a:p>
          <a:p>
            <a:r>
              <a:rPr lang="en-US" dirty="0"/>
              <a:t>Tax on lottery, betting and gambling</a:t>
            </a:r>
          </a:p>
          <a:p>
            <a:r>
              <a:rPr lang="en-US" dirty="0"/>
              <a:t>Entry tax (all forms) and Purchase tax</a:t>
            </a:r>
          </a:p>
          <a:p>
            <a:r>
              <a:rPr lang="en-US" dirty="0"/>
              <a:t>VAT/ Sales tax</a:t>
            </a:r>
          </a:p>
          <a:p>
            <a:r>
              <a:rPr lang="en-US" dirty="0"/>
              <a:t>Luxury tax</a:t>
            </a:r>
          </a:p>
          <a:p>
            <a:r>
              <a:rPr lang="en-US" dirty="0"/>
              <a:t>Tax on advertisements</a:t>
            </a:r>
          </a:p>
          <a:p>
            <a:r>
              <a:rPr lang="en-US" dirty="0"/>
              <a:t>State surcharges and cesses in so far as they relate to supply of goods and services</a:t>
            </a:r>
          </a:p>
          <a:p>
            <a:endParaRPr lang="en-IN" dirty="0"/>
          </a:p>
        </p:txBody>
      </p:sp>
    </p:spTree>
    <p:extLst>
      <p:ext uri="{BB962C8B-B14F-4D97-AF65-F5344CB8AC3E}">
        <p14:creationId xmlns:p14="http://schemas.microsoft.com/office/powerpoint/2010/main" val="1718449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3DF5E-FAA9-65D3-98B1-E79FB1E5110A}"/>
              </a:ext>
            </a:extLst>
          </p:cNvPr>
          <p:cNvSpPr>
            <a:spLocks noGrp="1"/>
          </p:cNvSpPr>
          <p:nvPr>
            <p:ph type="title"/>
          </p:nvPr>
        </p:nvSpPr>
        <p:spPr/>
        <p:txBody>
          <a:bodyPr/>
          <a:lstStyle/>
          <a:p>
            <a:r>
              <a:rPr lang="en-US" dirty="0"/>
              <a:t>Items Not Covered under GST</a:t>
            </a:r>
            <a:endParaRPr lang="en-IN" dirty="0"/>
          </a:p>
        </p:txBody>
      </p:sp>
      <p:sp>
        <p:nvSpPr>
          <p:cNvPr id="3" name="Content Placeholder 2">
            <a:extLst>
              <a:ext uri="{FF2B5EF4-FFF2-40B4-BE49-F238E27FC236}">
                <a16:creationId xmlns:a16="http://schemas.microsoft.com/office/drawing/2014/main" id="{204C6A11-034D-C346-21B5-BCDC4BACF52A}"/>
              </a:ext>
            </a:extLst>
          </p:cNvPr>
          <p:cNvSpPr>
            <a:spLocks noGrp="1"/>
          </p:cNvSpPr>
          <p:nvPr>
            <p:ph idx="1"/>
          </p:nvPr>
        </p:nvSpPr>
        <p:spPr/>
        <p:txBody>
          <a:bodyPr/>
          <a:lstStyle/>
          <a:p>
            <a:r>
              <a:rPr lang="en-US" dirty="0"/>
              <a:t>The following are not covered under the GST regime-</a:t>
            </a:r>
          </a:p>
          <a:p>
            <a:pPr lvl="1"/>
            <a:r>
              <a:rPr lang="en-US" b="1" dirty="0">
                <a:solidFill>
                  <a:srgbClr val="C00000"/>
                </a:solidFill>
              </a:rPr>
              <a:t>Alcohol</a:t>
            </a:r>
            <a:r>
              <a:rPr lang="en-US" dirty="0"/>
              <a:t> for human consumption</a:t>
            </a:r>
          </a:p>
          <a:p>
            <a:pPr lvl="2"/>
            <a:r>
              <a:rPr lang="en-US" dirty="0"/>
              <a:t>Power to levy tax remains with the State</a:t>
            </a:r>
          </a:p>
          <a:p>
            <a:pPr lvl="1"/>
            <a:r>
              <a:rPr lang="en-IN" dirty="0"/>
              <a:t>Five </a:t>
            </a:r>
            <a:r>
              <a:rPr lang="en-IN" b="1" dirty="0">
                <a:solidFill>
                  <a:srgbClr val="C00000"/>
                </a:solidFill>
              </a:rPr>
              <a:t>petroleum products</a:t>
            </a:r>
            <a:r>
              <a:rPr lang="en-IN" dirty="0"/>
              <a:t>, viz. crude oil, diesel, petrol, natural gas and ATF (</a:t>
            </a:r>
            <a:r>
              <a:rPr lang="en-IN" i="1" dirty="0"/>
              <a:t>aviation turbine fuel</a:t>
            </a:r>
            <a:r>
              <a:rPr lang="en-IN" dirty="0"/>
              <a:t>)</a:t>
            </a:r>
          </a:p>
          <a:p>
            <a:pPr lvl="2"/>
            <a:r>
              <a:rPr lang="en-IN" dirty="0"/>
              <a:t>GST council to decide date from which GST will be applicable – currently excise duty is levied</a:t>
            </a:r>
          </a:p>
          <a:p>
            <a:pPr lvl="1"/>
            <a:r>
              <a:rPr lang="en-IN" b="1" dirty="0">
                <a:solidFill>
                  <a:srgbClr val="C00000"/>
                </a:solidFill>
              </a:rPr>
              <a:t>Entertainment tax </a:t>
            </a:r>
            <a:r>
              <a:rPr lang="en-IN" dirty="0"/>
              <a:t>levied by local bodies</a:t>
            </a:r>
          </a:p>
          <a:p>
            <a:pPr lvl="2"/>
            <a:r>
              <a:rPr lang="en-US" dirty="0"/>
              <a:t>Power to levy tax remains with the local bodies</a:t>
            </a:r>
          </a:p>
          <a:p>
            <a:pPr lvl="1"/>
            <a:r>
              <a:rPr lang="en-US" b="1" dirty="0">
                <a:solidFill>
                  <a:srgbClr val="C00000"/>
                </a:solidFill>
              </a:rPr>
              <a:t>Tobacco</a:t>
            </a:r>
          </a:p>
          <a:p>
            <a:pPr lvl="2"/>
            <a:r>
              <a:rPr lang="en-US" dirty="0"/>
              <a:t>Currently excise duty is levied – under consideration of GST </a:t>
            </a:r>
          </a:p>
          <a:p>
            <a:pPr lvl="2"/>
            <a:endParaRPr lang="en-IN" dirty="0"/>
          </a:p>
        </p:txBody>
      </p:sp>
    </p:spTree>
    <p:extLst>
      <p:ext uri="{BB962C8B-B14F-4D97-AF65-F5344CB8AC3E}">
        <p14:creationId xmlns:p14="http://schemas.microsoft.com/office/powerpoint/2010/main" val="569548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0C36-5A1C-DB5C-E005-27AFA76A4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8B11E-85E7-6CDC-E52D-09613F39B2F0}"/>
              </a:ext>
            </a:extLst>
          </p:cNvPr>
          <p:cNvSpPr>
            <a:spLocks noGrp="1"/>
          </p:cNvSpPr>
          <p:nvPr>
            <p:ph type="title"/>
          </p:nvPr>
        </p:nvSpPr>
        <p:spPr/>
        <p:txBody>
          <a:bodyPr/>
          <a:lstStyle/>
          <a:p>
            <a:r>
              <a:rPr lang="en-IN" dirty="0"/>
              <a:t>Registration</a:t>
            </a:r>
            <a:endParaRPr lang="en-US" dirty="0"/>
          </a:p>
        </p:txBody>
      </p:sp>
    </p:spTree>
    <p:extLst>
      <p:ext uri="{BB962C8B-B14F-4D97-AF65-F5344CB8AC3E}">
        <p14:creationId xmlns:p14="http://schemas.microsoft.com/office/powerpoint/2010/main" val="39965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F1CD6-EF93-4D92-F897-914DC3553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72B6C-63EF-9A25-D185-251DBF6FC5D7}"/>
              </a:ext>
            </a:extLst>
          </p:cNvPr>
          <p:cNvSpPr>
            <a:spLocks noGrp="1"/>
          </p:cNvSpPr>
          <p:nvPr>
            <p:ph type="title"/>
          </p:nvPr>
        </p:nvSpPr>
        <p:spPr/>
        <p:txBody>
          <a:bodyPr/>
          <a:lstStyle/>
          <a:p>
            <a:r>
              <a:rPr lang="en-US" dirty="0"/>
              <a:t>Registration </a:t>
            </a:r>
            <a:endParaRPr lang="en-IN" dirty="0"/>
          </a:p>
        </p:txBody>
      </p:sp>
      <p:sp>
        <p:nvSpPr>
          <p:cNvPr id="3" name="Content Placeholder 2">
            <a:extLst>
              <a:ext uri="{FF2B5EF4-FFF2-40B4-BE49-F238E27FC236}">
                <a16:creationId xmlns:a16="http://schemas.microsoft.com/office/drawing/2014/main" id="{FBA19387-ADCD-A90A-912E-FC8F28720EF0}"/>
              </a:ext>
            </a:extLst>
          </p:cNvPr>
          <p:cNvSpPr>
            <a:spLocks noGrp="1"/>
          </p:cNvSpPr>
          <p:nvPr>
            <p:ph idx="1"/>
          </p:nvPr>
        </p:nvSpPr>
        <p:spPr/>
        <p:txBody>
          <a:bodyPr/>
          <a:lstStyle/>
          <a:p>
            <a:r>
              <a:rPr lang="en-US" dirty="0"/>
              <a:t>Registration is the first step towards becoming GST compliant.</a:t>
            </a:r>
          </a:p>
          <a:p>
            <a:r>
              <a:rPr lang="en-US" dirty="0"/>
              <a:t>Registration is the legal identity of the person/ entity.</a:t>
            </a:r>
          </a:p>
          <a:p>
            <a:r>
              <a:rPr lang="en-US" dirty="0"/>
              <a:t>Under GST, registration needs to be obtained </a:t>
            </a:r>
            <a:r>
              <a:rPr lang="en-US" b="1" dirty="0">
                <a:solidFill>
                  <a:srgbClr val="C00000"/>
                </a:solidFill>
              </a:rPr>
              <a:t>state-wise</a:t>
            </a:r>
            <a:r>
              <a:rPr lang="en-US" dirty="0"/>
              <a:t>.</a:t>
            </a:r>
          </a:p>
          <a:p>
            <a:pPr lvl="1"/>
            <a:r>
              <a:rPr lang="en-US" dirty="0"/>
              <a:t>A supplier needs to obtain registration in every state/ union territory where he makes a taxable supply.</a:t>
            </a:r>
          </a:p>
          <a:p>
            <a:r>
              <a:rPr lang="en-US" dirty="0"/>
              <a:t>Registration is based on PAN.</a:t>
            </a:r>
          </a:p>
        </p:txBody>
      </p:sp>
    </p:spTree>
    <p:extLst>
      <p:ext uri="{BB962C8B-B14F-4D97-AF65-F5344CB8AC3E}">
        <p14:creationId xmlns:p14="http://schemas.microsoft.com/office/powerpoint/2010/main" val="199968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FF5FAF9-0F00-FAB3-CA36-57737A38B4BF}"/>
              </a:ext>
            </a:extLst>
          </p:cNvPr>
          <p:cNvGraphicFramePr>
            <a:graphicFrameLocks noGrp="1"/>
          </p:cNvGraphicFramePr>
          <p:nvPr>
            <p:ph idx="4294967295"/>
            <p:extLst>
              <p:ext uri="{D42A27DB-BD31-4B8C-83A1-F6EECF244321}">
                <p14:modId xmlns:p14="http://schemas.microsoft.com/office/powerpoint/2010/main" val="3782488988"/>
              </p:ext>
            </p:extLst>
          </p:nvPr>
        </p:nvGraphicFramePr>
        <p:xfrm>
          <a:off x="131762" y="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722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AC765-2DE0-9FB8-6AB9-C0CBD78B5EEE}"/>
              </a:ext>
            </a:extLst>
          </p:cNvPr>
          <p:cNvSpPr>
            <a:spLocks noGrp="1"/>
          </p:cNvSpPr>
          <p:nvPr>
            <p:ph type="title"/>
          </p:nvPr>
        </p:nvSpPr>
        <p:spPr/>
        <p:txBody>
          <a:bodyPr/>
          <a:lstStyle/>
          <a:p>
            <a:r>
              <a:rPr lang="en-US" dirty="0"/>
              <a:t>Procedure for Registration </a:t>
            </a:r>
            <a:endParaRPr lang="en-IN" dirty="0"/>
          </a:p>
        </p:txBody>
      </p:sp>
      <p:sp>
        <p:nvSpPr>
          <p:cNvPr id="3" name="Content Placeholder 2">
            <a:extLst>
              <a:ext uri="{FF2B5EF4-FFF2-40B4-BE49-F238E27FC236}">
                <a16:creationId xmlns:a16="http://schemas.microsoft.com/office/drawing/2014/main" id="{47581237-D4FC-4733-0E22-F8022FC2067A}"/>
              </a:ext>
            </a:extLst>
          </p:cNvPr>
          <p:cNvSpPr>
            <a:spLocks noGrp="1"/>
          </p:cNvSpPr>
          <p:nvPr>
            <p:ph idx="1"/>
          </p:nvPr>
        </p:nvSpPr>
        <p:spPr/>
        <p:txBody>
          <a:bodyPr/>
          <a:lstStyle/>
          <a:p>
            <a:r>
              <a:rPr lang="en-US" dirty="0"/>
              <a:t>A person liable for registration should apply within </a:t>
            </a:r>
            <a:r>
              <a:rPr lang="en-US" b="1" dirty="0">
                <a:solidFill>
                  <a:srgbClr val="C00000"/>
                </a:solidFill>
              </a:rPr>
              <a:t>30 days, </a:t>
            </a:r>
            <a:r>
              <a:rPr lang="en-US" dirty="0"/>
              <a:t>from the date on which he becomes liable.</a:t>
            </a:r>
          </a:p>
          <a:p>
            <a:r>
              <a:rPr lang="en-US" dirty="0"/>
              <a:t>The person shall be granted </a:t>
            </a:r>
            <a:r>
              <a:rPr lang="en-US" b="1" dirty="0">
                <a:solidFill>
                  <a:srgbClr val="C00000"/>
                </a:solidFill>
              </a:rPr>
              <a:t>single registration </a:t>
            </a:r>
            <a:r>
              <a:rPr lang="en-US" dirty="0"/>
              <a:t>in one state/ union territory.</a:t>
            </a:r>
          </a:p>
          <a:p>
            <a:r>
              <a:rPr lang="en-US" dirty="0"/>
              <a:t>A person may also seek voluntary </a:t>
            </a:r>
            <a:r>
              <a:rPr lang="en-US" dirty="0" err="1"/>
              <a:t>resgitration</a:t>
            </a:r>
            <a:r>
              <a:rPr lang="en-US" dirty="0"/>
              <a:t>.</a:t>
            </a:r>
          </a:p>
          <a:p>
            <a:r>
              <a:rPr lang="en-US" dirty="0"/>
              <a:t>To get registered under GST, a person should have a </a:t>
            </a:r>
            <a:r>
              <a:rPr lang="en-US" b="1" dirty="0">
                <a:solidFill>
                  <a:srgbClr val="C00000"/>
                </a:solidFill>
              </a:rPr>
              <a:t>PAN</a:t>
            </a:r>
            <a:r>
              <a:rPr lang="en-US" dirty="0"/>
              <a:t> (Permanent Account Number).</a:t>
            </a:r>
          </a:p>
          <a:p>
            <a:pPr lvl="1"/>
            <a:r>
              <a:rPr lang="en-US" dirty="0"/>
              <a:t>A non-resident taxable person may be granted registration based on other documents.</a:t>
            </a:r>
          </a:p>
          <a:p>
            <a:r>
              <a:rPr lang="en-US" dirty="0"/>
              <a:t>The application needs to be submitted electronically at the </a:t>
            </a:r>
            <a:r>
              <a:rPr lang="en-US" b="1" dirty="0">
                <a:solidFill>
                  <a:srgbClr val="C00000"/>
                </a:solidFill>
              </a:rPr>
              <a:t>GST Common Portal – </a:t>
            </a:r>
            <a:r>
              <a:rPr lang="en-US" b="1" dirty="0">
                <a:solidFill>
                  <a:srgbClr val="C00000"/>
                </a:solidFill>
                <a:hlinkClick r:id="rId2"/>
              </a:rPr>
              <a:t>www.gst.gov.in</a:t>
            </a:r>
            <a:endParaRPr lang="en-US" b="1" dirty="0">
              <a:solidFill>
                <a:srgbClr val="C00000"/>
              </a:solidFill>
            </a:endParaRPr>
          </a:p>
          <a:p>
            <a:r>
              <a:rPr lang="en-US" dirty="0"/>
              <a:t>Application should be submitted in </a:t>
            </a:r>
            <a:r>
              <a:rPr lang="en-US" b="1" dirty="0">
                <a:solidFill>
                  <a:srgbClr val="C00000"/>
                </a:solidFill>
              </a:rPr>
              <a:t>Form GST REG 01</a:t>
            </a:r>
            <a:r>
              <a:rPr lang="en-US" dirty="0"/>
              <a:t>.</a:t>
            </a:r>
          </a:p>
          <a:p>
            <a:endParaRPr lang="en-US" dirty="0">
              <a:solidFill>
                <a:srgbClr val="C00000"/>
              </a:solidFill>
            </a:endParaRPr>
          </a:p>
        </p:txBody>
      </p:sp>
    </p:spTree>
    <p:extLst>
      <p:ext uri="{BB962C8B-B14F-4D97-AF65-F5344CB8AC3E}">
        <p14:creationId xmlns:p14="http://schemas.microsoft.com/office/powerpoint/2010/main" val="3993238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F7AA2-1F58-582F-3064-0D41E66E2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02C93-E62E-2938-A07E-4F8C06967AAC}"/>
              </a:ext>
            </a:extLst>
          </p:cNvPr>
          <p:cNvSpPr>
            <a:spLocks noGrp="1"/>
          </p:cNvSpPr>
          <p:nvPr>
            <p:ph type="title"/>
          </p:nvPr>
        </p:nvSpPr>
        <p:spPr/>
        <p:txBody>
          <a:bodyPr/>
          <a:lstStyle/>
          <a:p>
            <a:r>
              <a:rPr lang="en-IN" dirty="0"/>
              <a:t>Supply under GST</a:t>
            </a:r>
            <a:endParaRPr lang="en-US" dirty="0"/>
          </a:p>
        </p:txBody>
      </p:sp>
    </p:spTree>
    <p:extLst>
      <p:ext uri="{BB962C8B-B14F-4D97-AF65-F5344CB8AC3E}">
        <p14:creationId xmlns:p14="http://schemas.microsoft.com/office/powerpoint/2010/main" val="476107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2742327-F9FF-1A22-5745-1AB2A1DE6428}"/>
              </a:ext>
            </a:extLst>
          </p:cNvPr>
          <p:cNvGraphicFramePr>
            <a:graphicFrameLocks noGrp="1"/>
          </p:cNvGraphicFramePr>
          <p:nvPr>
            <p:ph idx="1"/>
            <p:extLst>
              <p:ext uri="{D42A27DB-BD31-4B8C-83A1-F6EECF244321}">
                <p14:modId xmlns:p14="http://schemas.microsoft.com/office/powerpoint/2010/main" val="747558425"/>
              </p:ext>
            </p:extLst>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t>What is Supply?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8301" y="89917"/>
            <a:ext cx="10515600" cy="1325563"/>
          </a:xfrm>
        </p:spPr>
        <p:txBody>
          <a:bodyPr/>
          <a:lstStyle/>
          <a:p>
            <a:r>
              <a:rPr b="1" dirty="0"/>
              <a:t>Types of Supply</a:t>
            </a:r>
          </a:p>
        </p:txBody>
      </p:sp>
      <p:graphicFrame>
        <p:nvGraphicFramePr>
          <p:cNvPr id="4" name="Content Placeholder 3">
            <a:extLst>
              <a:ext uri="{FF2B5EF4-FFF2-40B4-BE49-F238E27FC236}">
                <a16:creationId xmlns:a16="http://schemas.microsoft.com/office/drawing/2014/main" id="{B602F08F-3386-229E-A3B8-05173CF7BC04}"/>
              </a:ext>
            </a:extLst>
          </p:cNvPr>
          <p:cNvGraphicFramePr>
            <a:graphicFrameLocks noGrp="1"/>
          </p:cNvGraphicFramePr>
          <p:nvPr>
            <p:ph idx="4294967295"/>
            <p:extLst>
              <p:ext uri="{D42A27DB-BD31-4B8C-83A1-F6EECF244321}">
                <p14:modId xmlns:p14="http://schemas.microsoft.com/office/powerpoint/2010/main" val="2733328570"/>
              </p:ext>
            </p:extLst>
          </p:nvPr>
        </p:nvGraphicFramePr>
        <p:xfrm>
          <a:off x="758301" y="1550417"/>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143183"/>
            <a:ext cx="10515600" cy="1325563"/>
          </a:xfrm>
        </p:spPr>
        <p:txBody>
          <a:bodyPr/>
          <a:lstStyle/>
          <a:p>
            <a:r>
              <a:rPr b="1" dirty="0"/>
              <a:t>Examples of Supply</a:t>
            </a:r>
          </a:p>
        </p:txBody>
      </p:sp>
      <p:graphicFrame>
        <p:nvGraphicFramePr>
          <p:cNvPr id="4" name="Content Placeholder 3">
            <a:extLst>
              <a:ext uri="{FF2B5EF4-FFF2-40B4-BE49-F238E27FC236}">
                <a16:creationId xmlns:a16="http://schemas.microsoft.com/office/drawing/2014/main" id="{1807D57F-13FE-0147-2CFE-BAFB41FC839D}"/>
              </a:ext>
            </a:extLst>
          </p:cNvPr>
          <p:cNvGraphicFramePr>
            <a:graphicFrameLocks noGrp="1"/>
          </p:cNvGraphicFramePr>
          <p:nvPr>
            <p:ph idx="4294967295"/>
            <p:extLst>
              <p:ext uri="{D42A27DB-BD31-4B8C-83A1-F6EECF244321}">
                <p14:modId xmlns:p14="http://schemas.microsoft.com/office/powerpoint/2010/main" val="3310492857"/>
              </p:ext>
            </p:extLst>
          </p:nvPr>
        </p:nvGraphicFramePr>
        <p:xfrm>
          <a:off x="838200" y="1603683"/>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AC765-2DE0-9FB8-6AB9-C0CBD78B5EEE}"/>
              </a:ext>
            </a:extLst>
          </p:cNvPr>
          <p:cNvSpPr>
            <a:spLocks noGrp="1"/>
          </p:cNvSpPr>
          <p:nvPr>
            <p:ph type="title"/>
          </p:nvPr>
        </p:nvSpPr>
        <p:spPr/>
        <p:txBody>
          <a:bodyPr/>
          <a:lstStyle/>
          <a:p>
            <a:r>
              <a:rPr lang="en-US" dirty="0"/>
              <a:t>Non-Supplies under GST</a:t>
            </a:r>
            <a:endParaRPr lang="en-IN" dirty="0"/>
          </a:p>
        </p:txBody>
      </p:sp>
      <p:sp>
        <p:nvSpPr>
          <p:cNvPr id="3" name="Content Placeholder 2">
            <a:extLst>
              <a:ext uri="{FF2B5EF4-FFF2-40B4-BE49-F238E27FC236}">
                <a16:creationId xmlns:a16="http://schemas.microsoft.com/office/drawing/2014/main" id="{47581237-D4FC-4733-0E22-F8022FC2067A}"/>
              </a:ext>
            </a:extLst>
          </p:cNvPr>
          <p:cNvSpPr>
            <a:spLocks noGrp="1"/>
          </p:cNvSpPr>
          <p:nvPr>
            <p:ph idx="1"/>
          </p:nvPr>
        </p:nvSpPr>
        <p:spPr/>
        <p:txBody>
          <a:bodyPr/>
          <a:lstStyle/>
          <a:p>
            <a:r>
              <a:rPr lang="en-US" dirty="0"/>
              <a:t>Non-supplies are the </a:t>
            </a:r>
            <a:r>
              <a:rPr lang="en-US" b="1" dirty="0">
                <a:solidFill>
                  <a:srgbClr val="C00000"/>
                </a:solidFill>
              </a:rPr>
              <a:t>negative list </a:t>
            </a:r>
            <a:r>
              <a:rPr lang="en-US" dirty="0"/>
              <a:t>in GST, specified in </a:t>
            </a:r>
            <a:r>
              <a:rPr lang="en-US" b="1" dirty="0">
                <a:solidFill>
                  <a:srgbClr val="C00000"/>
                </a:solidFill>
              </a:rPr>
              <a:t>Schedule III</a:t>
            </a:r>
          </a:p>
          <a:p>
            <a:pPr lvl="1"/>
            <a:r>
              <a:rPr lang="en-US" dirty="0"/>
              <a:t>It is the list of activities or transactions which are </a:t>
            </a:r>
            <a:r>
              <a:rPr lang="en-US" b="1" dirty="0">
                <a:solidFill>
                  <a:srgbClr val="C00000"/>
                </a:solidFill>
              </a:rPr>
              <a:t>not</a:t>
            </a:r>
            <a:r>
              <a:rPr lang="en-US" dirty="0"/>
              <a:t> treated as supply of goods/ services. Such activities/ transactions are discussed below.</a:t>
            </a:r>
          </a:p>
          <a:p>
            <a:pPr marL="457200" lvl="1" indent="0">
              <a:buNone/>
            </a:pPr>
            <a:endParaRPr lang="en-US" dirty="0"/>
          </a:p>
          <a:p>
            <a:r>
              <a:rPr lang="en-US" dirty="0"/>
              <a:t>Services by an employee to an employer in the course of or in relation to his employment</a:t>
            </a:r>
          </a:p>
          <a:p>
            <a:r>
              <a:rPr lang="en-US" dirty="0"/>
              <a:t>Services by any court or tribunal</a:t>
            </a:r>
          </a:p>
          <a:p>
            <a:r>
              <a:rPr lang="en-US" dirty="0"/>
              <a:t>Functions performed by</a:t>
            </a:r>
          </a:p>
          <a:p>
            <a:pPr lvl="1"/>
            <a:r>
              <a:rPr lang="en-US" dirty="0"/>
              <a:t>Members of Parliament</a:t>
            </a:r>
          </a:p>
          <a:p>
            <a:pPr lvl="1"/>
            <a:r>
              <a:rPr lang="en-US" dirty="0"/>
              <a:t>State Legislatures</a:t>
            </a:r>
          </a:p>
          <a:p>
            <a:pPr lvl="1"/>
            <a:r>
              <a:rPr lang="en-US" dirty="0"/>
              <a:t>Panchayats</a:t>
            </a:r>
          </a:p>
          <a:p>
            <a:pPr lvl="1"/>
            <a:r>
              <a:rPr lang="en-US" dirty="0"/>
              <a:t>Municipalities and other local authorities</a:t>
            </a:r>
          </a:p>
        </p:txBody>
      </p:sp>
    </p:spTree>
    <p:extLst>
      <p:ext uri="{BB962C8B-B14F-4D97-AF65-F5344CB8AC3E}">
        <p14:creationId xmlns:p14="http://schemas.microsoft.com/office/powerpoint/2010/main" val="291441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25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50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75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100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6D6E-1BBD-B4C6-368A-29AD2AD61EC4}"/>
              </a:ext>
            </a:extLst>
          </p:cNvPr>
          <p:cNvSpPr>
            <a:spLocks noGrp="1"/>
          </p:cNvSpPr>
          <p:nvPr>
            <p:ph type="title"/>
          </p:nvPr>
        </p:nvSpPr>
        <p:spPr/>
        <p:txBody>
          <a:bodyPr/>
          <a:lstStyle/>
          <a:p>
            <a:r>
              <a:rPr lang="en-US" dirty="0"/>
              <a:t>Non-Supplies under GST </a:t>
            </a:r>
            <a:r>
              <a:rPr lang="en-US" sz="2800" dirty="0"/>
              <a:t>(Contd.)</a:t>
            </a:r>
            <a:endParaRPr lang="en-IN" dirty="0"/>
          </a:p>
        </p:txBody>
      </p:sp>
      <p:sp>
        <p:nvSpPr>
          <p:cNvPr id="3" name="Content Placeholder 2">
            <a:extLst>
              <a:ext uri="{FF2B5EF4-FFF2-40B4-BE49-F238E27FC236}">
                <a16:creationId xmlns:a16="http://schemas.microsoft.com/office/drawing/2014/main" id="{046E1B3F-7994-387B-AD6A-469FAFF51FD4}"/>
              </a:ext>
            </a:extLst>
          </p:cNvPr>
          <p:cNvSpPr>
            <a:spLocks noGrp="1"/>
          </p:cNvSpPr>
          <p:nvPr>
            <p:ph idx="1"/>
          </p:nvPr>
        </p:nvSpPr>
        <p:spPr/>
        <p:txBody>
          <a:bodyPr/>
          <a:lstStyle/>
          <a:p>
            <a:r>
              <a:rPr lang="en-IN" dirty="0"/>
              <a:t>Duties performed by</a:t>
            </a:r>
          </a:p>
          <a:p>
            <a:pPr lvl="1"/>
            <a:r>
              <a:rPr lang="en-IN" dirty="0"/>
              <a:t>President of India</a:t>
            </a:r>
          </a:p>
          <a:p>
            <a:pPr lvl="1"/>
            <a:r>
              <a:rPr lang="en-IN" dirty="0"/>
              <a:t>Vice President</a:t>
            </a:r>
          </a:p>
          <a:p>
            <a:pPr lvl="1"/>
            <a:r>
              <a:rPr lang="en-IN" dirty="0"/>
              <a:t>Prime Minister</a:t>
            </a:r>
          </a:p>
          <a:p>
            <a:pPr lvl="1"/>
            <a:r>
              <a:rPr lang="en-IN" dirty="0"/>
              <a:t>Governors</a:t>
            </a:r>
          </a:p>
          <a:p>
            <a:pPr lvl="1"/>
            <a:r>
              <a:rPr lang="en-IN" dirty="0"/>
              <a:t>Chief Justice of India</a:t>
            </a:r>
          </a:p>
          <a:p>
            <a:pPr lvl="1"/>
            <a:r>
              <a:rPr lang="en-IN" dirty="0"/>
              <a:t>Speaker of the Lok Sabha</a:t>
            </a:r>
          </a:p>
          <a:p>
            <a:pPr lvl="1"/>
            <a:r>
              <a:rPr lang="en-IN" dirty="0"/>
              <a:t>Chief Election Commissioner</a:t>
            </a:r>
          </a:p>
          <a:p>
            <a:pPr lvl="1"/>
            <a:r>
              <a:rPr lang="en-IN" dirty="0"/>
              <a:t>Comptroller and Auditor General of India</a:t>
            </a:r>
          </a:p>
          <a:p>
            <a:pPr lvl="1"/>
            <a:r>
              <a:rPr lang="en-IN" dirty="0"/>
              <a:t>Chairman of Union Public Service Commission</a:t>
            </a:r>
          </a:p>
          <a:p>
            <a:pPr lvl="1"/>
            <a:r>
              <a:rPr lang="en-IN" dirty="0"/>
              <a:t>Attorney General of India</a:t>
            </a:r>
          </a:p>
          <a:p>
            <a:r>
              <a:rPr lang="en-IN" dirty="0"/>
              <a:t>Services of funeral, burial, crematorium or mortuary including transportation of the deceased</a:t>
            </a:r>
          </a:p>
          <a:p>
            <a:endParaRPr lang="en-IN" dirty="0"/>
          </a:p>
        </p:txBody>
      </p:sp>
    </p:spTree>
    <p:extLst>
      <p:ext uri="{BB962C8B-B14F-4D97-AF65-F5344CB8AC3E}">
        <p14:creationId xmlns:p14="http://schemas.microsoft.com/office/powerpoint/2010/main" val="329491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25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50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75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100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125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150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175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200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225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250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302CF-FA14-240B-B403-8381422F0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7A6E2-28A0-1A79-A32A-AA0A4BCB09DD}"/>
              </a:ext>
            </a:extLst>
          </p:cNvPr>
          <p:cNvSpPr>
            <a:spLocks noGrp="1"/>
          </p:cNvSpPr>
          <p:nvPr>
            <p:ph type="title"/>
          </p:nvPr>
        </p:nvSpPr>
        <p:spPr/>
        <p:txBody>
          <a:bodyPr/>
          <a:lstStyle/>
          <a:p>
            <a:r>
              <a:rPr lang="en-US" dirty="0"/>
              <a:t>Non-Supplies under GST </a:t>
            </a:r>
            <a:r>
              <a:rPr lang="en-US" sz="2800" dirty="0"/>
              <a:t>(Contd.)</a:t>
            </a:r>
            <a:endParaRPr lang="en-IN" dirty="0"/>
          </a:p>
        </p:txBody>
      </p:sp>
      <p:sp>
        <p:nvSpPr>
          <p:cNvPr id="3" name="Content Placeholder 2">
            <a:extLst>
              <a:ext uri="{FF2B5EF4-FFF2-40B4-BE49-F238E27FC236}">
                <a16:creationId xmlns:a16="http://schemas.microsoft.com/office/drawing/2014/main" id="{5346BB6D-CA18-234E-D2C2-BC577319E2E5}"/>
              </a:ext>
            </a:extLst>
          </p:cNvPr>
          <p:cNvSpPr>
            <a:spLocks noGrp="1"/>
          </p:cNvSpPr>
          <p:nvPr>
            <p:ph idx="1"/>
          </p:nvPr>
        </p:nvSpPr>
        <p:spPr/>
        <p:txBody>
          <a:bodyPr/>
          <a:lstStyle/>
          <a:p>
            <a:r>
              <a:rPr lang="en-US" dirty="0"/>
              <a:t>Sale of land</a:t>
            </a:r>
          </a:p>
          <a:p>
            <a:r>
              <a:rPr lang="en-US" dirty="0"/>
              <a:t>Actionable claims, other than betting, casino, gambling, horse racing, lottery or online money gaming</a:t>
            </a:r>
          </a:p>
          <a:p>
            <a:r>
              <a:rPr lang="en-US" dirty="0"/>
              <a:t>Services by way of grant of alcoholic liquor licence</a:t>
            </a:r>
          </a:p>
          <a:p>
            <a:r>
              <a:rPr lang="en-IN" dirty="0"/>
              <a:t>Activities in relation to panchayat/ municipality functions</a:t>
            </a:r>
          </a:p>
          <a:p>
            <a:r>
              <a:rPr lang="en-IN" dirty="0"/>
              <a:t>Inter-state movement of various modes of conveyance, viz. trains, buses, trucks, tankers, trailers, vessels, containers and aircrafts. </a:t>
            </a:r>
          </a:p>
          <a:p>
            <a:endParaRPr lang="en-IN" dirty="0"/>
          </a:p>
        </p:txBody>
      </p:sp>
    </p:spTree>
    <p:extLst>
      <p:ext uri="{BB962C8B-B14F-4D97-AF65-F5344CB8AC3E}">
        <p14:creationId xmlns:p14="http://schemas.microsoft.com/office/powerpoint/2010/main" val="59277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34ED-2155-0B2B-D255-13D1379840D1}"/>
              </a:ext>
            </a:extLst>
          </p:cNvPr>
          <p:cNvSpPr>
            <a:spLocks noGrp="1"/>
          </p:cNvSpPr>
          <p:nvPr>
            <p:ph type="title"/>
          </p:nvPr>
        </p:nvSpPr>
        <p:spPr/>
        <p:txBody>
          <a:bodyPr/>
          <a:lstStyle/>
          <a:p>
            <a:r>
              <a:rPr lang="en-US" dirty="0"/>
              <a:t>Composite Supplies</a:t>
            </a:r>
            <a:endParaRPr lang="en-IN" dirty="0"/>
          </a:p>
        </p:txBody>
      </p:sp>
      <p:graphicFrame>
        <p:nvGraphicFramePr>
          <p:cNvPr id="5" name="Content Placeholder 4">
            <a:extLst>
              <a:ext uri="{FF2B5EF4-FFF2-40B4-BE49-F238E27FC236}">
                <a16:creationId xmlns:a16="http://schemas.microsoft.com/office/drawing/2014/main" id="{9E95F4E8-41A2-3BE5-AEC8-B60EBE943A1E}"/>
              </a:ext>
            </a:extLst>
          </p:cNvPr>
          <p:cNvGraphicFramePr>
            <a:graphicFrameLocks noGrp="1"/>
          </p:cNvGraphicFramePr>
          <p:nvPr>
            <p:ph idx="1"/>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951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612EF49B-C35A-4AB1-860F-395A28FEB4C6}"/>
                                            </p:graphicEl>
                                          </p:spTgt>
                                        </p:tgtEl>
                                        <p:attrNameLst>
                                          <p:attrName>style.visibility</p:attrName>
                                        </p:attrNameLst>
                                      </p:cBhvr>
                                      <p:to>
                                        <p:strVal val="visible"/>
                                      </p:to>
                                    </p:set>
                                    <p:animEffect transition="in" filter="fade">
                                      <p:cBhvr>
                                        <p:cTn id="7" dur="500"/>
                                        <p:tgtEl>
                                          <p:spTgt spid="5">
                                            <p:graphicEl>
                                              <a:dgm id="{612EF49B-C35A-4AB1-860F-395A28FEB4C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graphicEl>
                                              <a:dgm id="{4F942A76-0836-4E06-A71A-ABAD763F7D3B}"/>
                                            </p:graphicEl>
                                          </p:spTgt>
                                        </p:tgtEl>
                                        <p:attrNameLst>
                                          <p:attrName>style.visibility</p:attrName>
                                        </p:attrNameLst>
                                      </p:cBhvr>
                                      <p:to>
                                        <p:strVal val="visible"/>
                                      </p:to>
                                    </p:set>
                                    <p:animEffect transition="in" filter="fade">
                                      <p:cBhvr>
                                        <p:cTn id="10" dur="500"/>
                                        <p:tgtEl>
                                          <p:spTgt spid="5">
                                            <p:graphicEl>
                                              <a:dgm id="{4F942A76-0836-4E06-A71A-ABAD763F7D3B}"/>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graphicEl>
                                              <a:dgm id="{E54AAE73-69E0-42A0-BE77-95C4F792587E}"/>
                                            </p:graphicEl>
                                          </p:spTgt>
                                        </p:tgtEl>
                                        <p:attrNameLst>
                                          <p:attrName>style.visibility</p:attrName>
                                        </p:attrNameLst>
                                      </p:cBhvr>
                                      <p:to>
                                        <p:strVal val="visible"/>
                                      </p:to>
                                    </p:set>
                                    <p:animEffect transition="in" filter="fade">
                                      <p:cBhvr>
                                        <p:cTn id="15" dur="500"/>
                                        <p:tgtEl>
                                          <p:spTgt spid="5">
                                            <p:graphicEl>
                                              <a:dgm id="{E54AAE73-69E0-42A0-BE77-95C4F792587E}"/>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graphicEl>
                                              <a:dgm id="{809B8793-1E8D-4B14-93B8-6A544F027BA4}"/>
                                            </p:graphicEl>
                                          </p:spTgt>
                                        </p:tgtEl>
                                        <p:attrNameLst>
                                          <p:attrName>style.visibility</p:attrName>
                                        </p:attrNameLst>
                                      </p:cBhvr>
                                      <p:to>
                                        <p:strVal val="visible"/>
                                      </p:to>
                                    </p:set>
                                    <p:animEffect transition="in" filter="fade">
                                      <p:cBhvr>
                                        <p:cTn id="18" dur="500"/>
                                        <p:tgtEl>
                                          <p:spTgt spid="5">
                                            <p:graphicEl>
                                              <a:dgm id="{809B8793-1E8D-4B14-93B8-6A544F027BA4}"/>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graphicEl>
                                              <a:dgm id="{0B88E228-55B5-489C-81BF-8C58B1DFF5D3}"/>
                                            </p:graphicEl>
                                          </p:spTgt>
                                        </p:tgtEl>
                                        <p:attrNameLst>
                                          <p:attrName>style.visibility</p:attrName>
                                        </p:attrNameLst>
                                      </p:cBhvr>
                                      <p:to>
                                        <p:strVal val="visible"/>
                                      </p:to>
                                    </p:set>
                                    <p:animEffect transition="in" filter="fade">
                                      <p:cBhvr>
                                        <p:cTn id="21" dur="500"/>
                                        <p:tgtEl>
                                          <p:spTgt spid="5">
                                            <p:graphicEl>
                                              <a:dgm id="{0B88E228-55B5-489C-81BF-8C58B1DFF5D3}"/>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graphicEl>
                                              <a:dgm id="{80F1258D-3548-4D86-BB57-6F49C9F776D7}"/>
                                            </p:graphicEl>
                                          </p:spTgt>
                                        </p:tgtEl>
                                        <p:attrNameLst>
                                          <p:attrName>style.visibility</p:attrName>
                                        </p:attrNameLst>
                                      </p:cBhvr>
                                      <p:to>
                                        <p:strVal val="visible"/>
                                      </p:to>
                                    </p:set>
                                    <p:animEffect transition="in" filter="fade">
                                      <p:cBhvr>
                                        <p:cTn id="26" dur="500"/>
                                        <p:tgtEl>
                                          <p:spTgt spid="5">
                                            <p:graphicEl>
                                              <a:dgm id="{80F1258D-3548-4D86-BB57-6F49C9F776D7}"/>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graphicEl>
                                              <a:dgm id="{CCCE3F49-818E-4C7A-9755-FD70FA0F8C79}"/>
                                            </p:graphicEl>
                                          </p:spTgt>
                                        </p:tgtEl>
                                        <p:attrNameLst>
                                          <p:attrName>style.visibility</p:attrName>
                                        </p:attrNameLst>
                                      </p:cBhvr>
                                      <p:to>
                                        <p:strVal val="visible"/>
                                      </p:to>
                                    </p:set>
                                    <p:animEffect transition="in" filter="fade">
                                      <p:cBhvr>
                                        <p:cTn id="29" dur="500"/>
                                        <p:tgtEl>
                                          <p:spTgt spid="5">
                                            <p:graphicEl>
                                              <a:dgm id="{CCCE3F49-818E-4C7A-9755-FD70FA0F8C79}"/>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graphicEl>
                                              <a:dgm id="{96E45565-80D7-4CD3-81BC-BE293DF2D1DE}"/>
                                            </p:graphicEl>
                                          </p:spTgt>
                                        </p:tgtEl>
                                        <p:attrNameLst>
                                          <p:attrName>style.visibility</p:attrName>
                                        </p:attrNameLst>
                                      </p:cBhvr>
                                      <p:to>
                                        <p:strVal val="visible"/>
                                      </p:to>
                                    </p:set>
                                    <p:animEffect transition="in" filter="fade">
                                      <p:cBhvr>
                                        <p:cTn id="32" dur="500"/>
                                        <p:tgtEl>
                                          <p:spTgt spid="5">
                                            <p:graphicEl>
                                              <a:dgm id="{96E45565-80D7-4CD3-81BC-BE293DF2D1D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graphicEl>
                                              <a:dgm id="{6DFF5D53-8D93-4945-902B-7D98E968618A}"/>
                                            </p:graphicEl>
                                          </p:spTgt>
                                        </p:tgtEl>
                                        <p:attrNameLst>
                                          <p:attrName>style.visibility</p:attrName>
                                        </p:attrNameLst>
                                      </p:cBhvr>
                                      <p:to>
                                        <p:strVal val="visible"/>
                                      </p:to>
                                    </p:set>
                                    <p:animEffect transition="in" filter="fade">
                                      <p:cBhvr>
                                        <p:cTn id="37" dur="500"/>
                                        <p:tgtEl>
                                          <p:spTgt spid="5">
                                            <p:graphicEl>
                                              <a:dgm id="{6DFF5D53-8D93-4945-902B-7D98E968618A}"/>
                                            </p:graphic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graphicEl>
                                              <a:dgm id="{5BA97C98-041E-426A-A28A-946AF61FD3A6}"/>
                                            </p:graphicEl>
                                          </p:spTgt>
                                        </p:tgtEl>
                                        <p:attrNameLst>
                                          <p:attrName>style.visibility</p:attrName>
                                        </p:attrNameLst>
                                      </p:cBhvr>
                                      <p:to>
                                        <p:strVal val="visible"/>
                                      </p:to>
                                    </p:set>
                                    <p:animEffect transition="in" filter="fade">
                                      <p:cBhvr>
                                        <p:cTn id="40" dur="500"/>
                                        <p:tgtEl>
                                          <p:spTgt spid="5">
                                            <p:graphicEl>
                                              <a:dgm id="{5BA97C98-041E-426A-A28A-946AF61FD3A6}"/>
                                            </p:graphic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graphicEl>
                                              <a:dgm id="{343D67FB-02DD-4C87-A9A7-05B8541DD21E}"/>
                                            </p:graphicEl>
                                          </p:spTgt>
                                        </p:tgtEl>
                                        <p:attrNameLst>
                                          <p:attrName>style.visibility</p:attrName>
                                        </p:attrNameLst>
                                      </p:cBhvr>
                                      <p:to>
                                        <p:strVal val="visible"/>
                                      </p:to>
                                    </p:set>
                                    <p:animEffect transition="in" filter="fade">
                                      <p:cBhvr>
                                        <p:cTn id="43" dur="500"/>
                                        <p:tgtEl>
                                          <p:spTgt spid="5">
                                            <p:graphicEl>
                                              <a:dgm id="{343D67FB-02DD-4C87-A9A7-05B8541DD21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5A1AA-5BF9-F34C-3C91-BC717A6B12EB}"/>
              </a:ext>
            </a:extLst>
          </p:cNvPr>
          <p:cNvSpPr>
            <a:spLocks noGrp="1"/>
          </p:cNvSpPr>
          <p:nvPr>
            <p:ph type="title"/>
          </p:nvPr>
        </p:nvSpPr>
        <p:spPr/>
        <p:txBody>
          <a:bodyPr/>
          <a:lstStyle/>
          <a:p>
            <a:r>
              <a:rPr lang="en-US" dirty="0"/>
              <a:t>Mixed Supplies</a:t>
            </a:r>
            <a:endParaRPr lang="en-IN" dirty="0"/>
          </a:p>
        </p:txBody>
      </p:sp>
      <p:graphicFrame>
        <p:nvGraphicFramePr>
          <p:cNvPr id="4" name="Content Placeholder 3">
            <a:extLst>
              <a:ext uri="{FF2B5EF4-FFF2-40B4-BE49-F238E27FC236}">
                <a16:creationId xmlns:a16="http://schemas.microsoft.com/office/drawing/2014/main" id="{D9AFEE09-0AF9-6F12-6F55-D0F04D7F035F}"/>
              </a:ext>
            </a:extLst>
          </p:cNvPr>
          <p:cNvGraphicFramePr>
            <a:graphicFrameLocks noGrp="1"/>
          </p:cNvGraphicFramePr>
          <p:nvPr>
            <p:ph idx="1"/>
          </p:nvPr>
        </p:nvGraphicFramePr>
        <p:xfrm>
          <a:off x="-260708"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648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20C25976-9BAD-4EA9-8646-F49662F4C6A3}"/>
                                            </p:graphicEl>
                                          </p:spTgt>
                                        </p:tgtEl>
                                        <p:attrNameLst>
                                          <p:attrName>style.visibility</p:attrName>
                                        </p:attrNameLst>
                                      </p:cBhvr>
                                      <p:to>
                                        <p:strVal val="visible"/>
                                      </p:to>
                                    </p:set>
                                    <p:animEffect transition="in" filter="wipe(left)">
                                      <p:cBhvr>
                                        <p:cTn id="7" dur="1000"/>
                                        <p:tgtEl>
                                          <p:spTgt spid="4">
                                            <p:graphicEl>
                                              <a:dgm id="{20C25976-9BAD-4EA9-8646-F49662F4C6A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98C6CD64-CDC0-43B8-BFEF-840DCA4D4D97}"/>
                                            </p:graphicEl>
                                          </p:spTgt>
                                        </p:tgtEl>
                                        <p:attrNameLst>
                                          <p:attrName>style.visibility</p:attrName>
                                        </p:attrNameLst>
                                      </p:cBhvr>
                                      <p:to>
                                        <p:strVal val="visible"/>
                                      </p:to>
                                    </p:set>
                                    <p:animEffect transition="in" filter="wipe(left)">
                                      <p:cBhvr>
                                        <p:cTn id="12" dur="1000"/>
                                        <p:tgtEl>
                                          <p:spTgt spid="4">
                                            <p:graphicEl>
                                              <a:dgm id="{98C6CD64-CDC0-43B8-BFEF-840DCA4D4D97}"/>
                                            </p:graphic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graphicEl>
                                              <a:dgm id="{92B554BF-6EC1-4302-9944-B707D6CA722C}"/>
                                            </p:graphicEl>
                                          </p:spTgt>
                                        </p:tgtEl>
                                        <p:attrNameLst>
                                          <p:attrName>style.visibility</p:attrName>
                                        </p:attrNameLst>
                                      </p:cBhvr>
                                      <p:to>
                                        <p:strVal val="visible"/>
                                      </p:to>
                                    </p:set>
                                    <p:animEffect transition="in" filter="wipe(left)">
                                      <p:cBhvr>
                                        <p:cTn id="15" dur="1000"/>
                                        <p:tgtEl>
                                          <p:spTgt spid="4">
                                            <p:graphicEl>
                                              <a:dgm id="{92B554BF-6EC1-4302-9944-B707D6CA722C}"/>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graphicEl>
                                              <a:dgm id="{09F28961-135C-4A58-A853-8AE7148F4DC7}"/>
                                            </p:graphicEl>
                                          </p:spTgt>
                                        </p:tgtEl>
                                        <p:attrNameLst>
                                          <p:attrName>style.visibility</p:attrName>
                                        </p:attrNameLst>
                                      </p:cBhvr>
                                      <p:to>
                                        <p:strVal val="visible"/>
                                      </p:to>
                                    </p:set>
                                    <p:animEffect transition="in" filter="wipe(left)">
                                      <p:cBhvr>
                                        <p:cTn id="20" dur="1000"/>
                                        <p:tgtEl>
                                          <p:spTgt spid="4">
                                            <p:graphicEl>
                                              <a:dgm id="{09F28961-135C-4A58-A853-8AE7148F4DC7}"/>
                                            </p:graphic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
                                            <p:graphicEl>
                                              <a:dgm id="{A3E40A4F-6FD0-4445-A292-023E9BAE6094}"/>
                                            </p:graphicEl>
                                          </p:spTgt>
                                        </p:tgtEl>
                                        <p:attrNameLst>
                                          <p:attrName>style.visibility</p:attrName>
                                        </p:attrNameLst>
                                      </p:cBhvr>
                                      <p:to>
                                        <p:strVal val="visible"/>
                                      </p:to>
                                    </p:set>
                                    <p:animEffect transition="in" filter="wipe(left)">
                                      <p:cBhvr>
                                        <p:cTn id="23" dur="1000"/>
                                        <p:tgtEl>
                                          <p:spTgt spid="4">
                                            <p:graphicEl>
                                              <a:dgm id="{A3E40A4F-6FD0-4445-A292-023E9BAE6094}"/>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
                                            <p:graphicEl>
                                              <a:dgm id="{6C9D0650-D3CB-4C37-A04B-AAAEF1780A5B}"/>
                                            </p:graphicEl>
                                          </p:spTgt>
                                        </p:tgtEl>
                                        <p:attrNameLst>
                                          <p:attrName>style.visibility</p:attrName>
                                        </p:attrNameLst>
                                      </p:cBhvr>
                                      <p:to>
                                        <p:strVal val="visible"/>
                                      </p:to>
                                    </p:set>
                                    <p:animEffect transition="in" filter="wipe(left)">
                                      <p:cBhvr>
                                        <p:cTn id="28" dur="750"/>
                                        <p:tgtEl>
                                          <p:spTgt spid="4">
                                            <p:graphicEl>
                                              <a:dgm id="{6C9D0650-D3CB-4C37-A04B-AAAEF1780A5B}"/>
                                            </p:graphic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graphicEl>
                                              <a:dgm id="{E76B1A58-2340-4C8C-827B-00A12093F74C}"/>
                                            </p:graphicEl>
                                          </p:spTgt>
                                        </p:tgtEl>
                                        <p:attrNameLst>
                                          <p:attrName>style.visibility</p:attrName>
                                        </p:attrNameLst>
                                      </p:cBhvr>
                                      <p:to>
                                        <p:strVal val="visible"/>
                                      </p:to>
                                    </p:set>
                                    <p:animEffect transition="in" filter="wipe(left)">
                                      <p:cBhvr>
                                        <p:cTn id="31" dur="1000"/>
                                        <p:tgtEl>
                                          <p:spTgt spid="4">
                                            <p:graphicEl>
                                              <a:dgm id="{E76B1A58-2340-4C8C-827B-00A12093F74C}"/>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graphicEl>
                                              <a:dgm id="{5BBA4CA3-8339-4590-B991-EDAB9F644277}"/>
                                            </p:graphicEl>
                                          </p:spTgt>
                                        </p:tgtEl>
                                        <p:attrNameLst>
                                          <p:attrName>style.visibility</p:attrName>
                                        </p:attrNameLst>
                                      </p:cBhvr>
                                      <p:to>
                                        <p:strVal val="visible"/>
                                      </p:to>
                                    </p:set>
                                    <p:animEffect transition="in" filter="wipe(left)">
                                      <p:cBhvr>
                                        <p:cTn id="36" dur="1000"/>
                                        <p:tgtEl>
                                          <p:spTgt spid="4">
                                            <p:graphicEl>
                                              <a:dgm id="{5BBA4CA3-8339-4590-B991-EDAB9F644277}"/>
                                            </p:graphic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graphicEl>
                                              <a:dgm id="{BE9E5513-E893-4603-84AA-CBF12CBC7948}"/>
                                            </p:graphicEl>
                                          </p:spTgt>
                                        </p:tgtEl>
                                        <p:attrNameLst>
                                          <p:attrName>style.visibility</p:attrName>
                                        </p:attrNameLst>
                                      </p:cBhvr>
                                      <p:to>
                                        <p:strVal val="visible"/>
                                      </p:to>
                                    </p:set>
                                    <p:animEffect transition="in" filter="wipe(left)">
                                      <p:cBhvr>
                                        <p:cTn id="39" dur="1000"/>
                                        <p:tgtEl>
                                          <p:spTgt spid="4">
                                            <p:graphicEl>
                                              <a:dgm id="{BE9E5513-E893-4603-84AA-CBF12CBC7948}"/>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
                                            <p:graphicEl>
                                              <a:dgm id="{066D2E31-6A31-4ACB-8205-1A9E3774B073}"/>
                                            </p:graphicEl>
                                          </p:spTgt>
                                        </p:tgtEl>
                                        <p:attrNameLst>
                                          <p:attrName>style.visibility</p:attrName>
                                        </p:attrNameLst>
                                      </p:cBhvr>
                                      <p:to>
                                        <p:strVal val="visible"/>
                                      </p:to>
                                    </p:set>
                                    <p:animEffect transition="in" filter="wipe(left)">
                                      <p:cBhvr>
                                        <p:cTn id="44" dur="1000"/>
                                        <p:tgtEl>
                                          <p:spTgt spid="4">
                                            <p:graphicEl>
                                              <a:dgm id="{066D2E31-6A31-4ACB-8205-1A9E3774B073}"/>
                                            </p:graphic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
                                            <p:graphicEl>
                                              <a:dgm id="{6065F844-EB1A-4656-8D3F-55BB89EF3DED}"/>
                                            </p:graphicEl>
                                          </p:spTgt>
                                        </p:tgtEl>
                                        <p:attrNameLst>
                                          <p:attrName>style.visibility</p:attrName>
                                        </p:attrNameLst>
                                      </p:cBhvr>
                                      <p:to>
                                        <p:strVal val="visible"/>
                                      </p:to>
                                    </p:set>
                                    <p:animEffect transition="in" filter="wipe(left)">
                                      <p:cBhvr>
                                        <p:cTn id="47" dur="1000"/>
                                        <p:tgtEl>
                                          <p:spTgt spid="4">
                                            <p:graphicEl>
                                              <a:dgm id="{6065F844-EB1A-4656-8D3F-55BB89EF3DE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A0AD4-F6BD-E415-2390-3696DC556C0C}"/>
              </a:ext>
            </a:extLst>
          </p:cNvPr>
          <p:cNvSpPr>
            <a:spLocks noGrp="1"/>
          </p:cNvSpPr>
          <p:nvPr>
            <p:ph type="title"/>
          </p:nvPr>
        </p:nvSpPr>
        <p:spPr/>
        <p:txBody>
          <a:bodyPr/>
          <a:lstStyle/>
          <a:p>
            <a:r>
              <a:rPr lang="en-US" dirty="0"/>
              <a:t>GST Rates Prescribed for Various Goods</a:t>
            </a:r>
            <a:endParaRPr lang="en-IN" dirty="0"/>
          </a:p>
        </p:txBody>
      </p:sp>
      <p:graphicFrame>
        <p:nvGraphicFramePr>
          <p:cNvPr id="4" name="Content Placeholder 3">
            <a:extLst>
              <a:ext uri="{FF2B5EF4-FFF2-40B4-BE49-F238E27FC236}">
                <a16:creationId xmlns:a16="http://schemas.microsoft.com/office/drawing/2014/main" id="{A8F6DD03-B1F1-5DE1-3AE2-897D2319E9BE}"/>
              </a:ext>
            </a:extLst>
          </p:cNvPr>
          <p:cNvGraphicFramePr>
            <a:graphicFrameLocks noGrp="1"/>
          </p:cNvGraphicFramePr>
          <p:nvPr>
            <p:ph idx="1"/>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300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graphicEl>
                                              <a:dgm id="{49F6AD7B-7A88-4E72-963B-2463D4FCC26D}"/>
                                            </p:graphicEl>
                                          </p:spTgt>
                                        </p:tgtEl>
                                        <p:attrNameLst>
                                          <p:attrName>style.visibility</p:attrName>
                                        </p:attrNameLst>
                                      </p:cBhvr>
                                      <p:to>
                                        <p:strVal val="visible"/>
                                      </p:to>
                                    </p:set>
                                    <p:animEffect transition="in" filter="wipe(up)">
                                      <p:cBhvr>
                                        <p:cTn id="7" dur="500"/>
                                        <p:tgtEl>
                                          <p:spTgt spid="4">
                                            <p:graphicEl>
                                              <a:dgm id="{49F6AD7B-7A88-4E72-963B-2463D4FCC26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graphicEl>
                                              <a:dgm id="{5D382B21-3C6A-41E7-8D26-A9E08CAE16ED}"/>
                                            </p:graphicEl>
                                          </p:spTgt>
                                        </p:tgtEl>
                                        <p:attrNameLst>
                                          <p:attrName>style.visibility</p:attrName>
                                        </p:attrNameLst>
                                      </p:cBhvr>
                                      <p:to>
                                        <p:strVal val="visible"/>
                                      </p:to>
                                    </p:set>
                                    <p:animEffect transition="in" filter="wipe(up)">
                                      <p:cBhvr>
                                        <p:cTn id="12" dur="500"/>
                                        <p:tgtEl>
                                          <p:spTgt spid="4">
                                            <p:graphicEl>
                                              <a:dgm id="{5D382B21-3C6A-41E7-8D26-A9E08CAE16ED}"/>
                                            </p:graphic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
                                            <p:graphicEl>
                                              <a:dgm id="{1C9345C4-6C6D-4F04-9E81-C824DA2E4496}"/>
                                            </p:graphicEl>
                                          </p:spTgt>
                                        </p:tgtEl>
                                        <p:attrNameLst>
                                          <p:attrName>style.visibility</p:attrName>
                                        </p:attrNameLst>
                                      </p:cBhvr>
                                      <p:to>
                                        <p:strVal val="visible"/>
                                      </p:to>
                                    </p:set>
                                    <p:animEffect transition="in" filter="wipe(up)">
                                      <p:cBhvr>
                                        <p:cTn id="15" dur="500"/>
                                        <p:tgtEl>
                                          <p:spTgt spid="4">
                                            <p:graphicEl>
                                              <a:dgm id="{1C9345C4-6C6D-4F04-9E81-C824DA2E4496}"/>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
                                            <p:graphicEl>
                                              <a:dgm id="{65DD4893-9805-414F-ABCF-D1B944AE86E3}"/>
                                            </p:graphicEl>
                                          </p:spTgt>
                                        </p:tgtEl>
                                        <p:attrNameLst>
                                          <p:attrName>style.visibility</p:attrName>
                                        </p:attrNameLst>
                                      </p:cBhvr>
                                      <p:to>
                                        <p:strVal val="visible"/>
                                      </p:to>
                                    </p:set>
                                    <p:animEffect transition="in" filter="wipe(up)">
                                      <p:cBhvr>
                                        <p:cTn id="20" dur="500"/>
                                        <p:tgtEl>
                                          <p:spTgt spid="4">
                                            <p:graphicEl>
                                              <a:dgm id="{65DD4893-9805-414F-ABCF-D1B944AE86E3}"/>
                                            </p:graphic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
                                            <p:graphicEl>
                                              <a:dgm id="{E36A3D97-4623-4CC5-B164-0ADD222A4B67}"/>
                                            </p:graphicEl>
                                          </p:spTgt>
                                        </p:tgtEl>
                                        <p:attrNameLst>
                                          <p:attrName>style.visibility</p:attrName>
                                        </p:attrNameLst>
                                      </p:cBhvr>
                                      <p:to>
                                        <p:strVal val="visible"/>
                                      </p:to>
                                    </p:set>
                                    <p:animEffect transition="in" filter="wipe(up)">
                                      <p:cBhvr>
                                        <p:cTn id="23" dur="500"/>
                                        <p:tgtEl>
                                          <p:spTgt spid="4">
                                            <p:graphicEl>
                                              <a:dgm id="{E36A3D97-4623-4CC5-B164-0ADD222A4B67}"/>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graphicEl>
                                              <a:dgm id="{3C09B622-9EDA-4B47-A6D0-A1FD5BA6135A}"/>
                                            </p:graphicEl>
                                          </p:spTgt>
                                        </p:tgtEl>
                                        <p:attrNameLst>
                                          <p:attrName>style.visibility</p:attrName>
                                        </p:attrNameLst>
                                      </p:cBhvr>
                                      <p:to>
                                        <p:strVal val="visible"/>
                                      </p:to>
                                    </p:set>
                                    <p:animEffect transition="in" filter="wipe(up)">
                                      <p:cBhvr>
                                        <p:cTn id="28" dur="500"/>
                                        <p:tgtEl>
                                          <p:spTgt spid="4">
                                            <p:graphicEl>
                                              <a:dgm id="{3C09B622-9EDA-4B47-A6D0-A1FD5BA6135A}"/>
                                            </p:graphic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4">
                                            <p:graphicEl>
                                              <a:dgm id="{4E4EC5B2-936F-4DA0-BEC2-76BDE386D400}"/>
                                            </p:graphicEl>
                                          </p:spTgt>
                                        </p:tgtEl>
                                        <p:attrNameLst>
                                          <p:attrName>style.visibility</p:attrName>
                                        </p:attrNameLst>
                                      </p:cBhvr>
                                      <p:to>
                                        <p:strVal val="visible"/>
                                      </p:to>
                                    </p:set>
                                    <p:animEffect transition="in" filter="wipe(up)">
                                      <p:cBhvr>
                                        <p:cTn id="31" dur="500"/>
                                        <p:tgtEl>
                                          <p:spTgt spid="4">
                                            <p:graphicEl>
                                              <a:dgm id="{4E4EC5B2-936F-4DA0-BEC2-76BDE386D400}"/>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
                                            <p:graphicEl>
                                              <a:dgm id="{D0936368-CD03-4EC3-9A92-65370D0595B0}"/>
                                            </p:graphicEl>
                                          </p:spTgt>
                                        </p:tgtEl>
                                        <p:attrNameLst>
                                          <p:attrName>style.visibility</p:attrName>
                                        </p:attrNameLst>
                                      </p:cBhvr>
                                      <p:to>
                                        <p:strVal val="visible"/>
                                      </p:to>
                                    </p:set>
                                    <p:animEffect transition="in" filter="wipe(up)">
                                      <p:cBhvr>
                                        <p:cTn id="36" dur="500"/>
                                        <p:tgtEl>
                                          <p:spTgt spid="4">
                                            <p:graphicEl>
                                              <a:dgm id="{D0936368-CD03-4EC3-9A92-65370D0595B0}"/>
                                            </p:graphic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
                                            <p:graphicEl>
                                              <a:dgm id="{6586BF32-DDB5-4BAF-8C33-58810CCAA4FD}"/>
                                            </p:graphicEl>
                                          </p:spTgt>
                                        </p:tgtEl>
                                        <p:attrNameLst>
                                          <p:attrName>style.visibility</p:attrName>
                                        </p:attrNameLst>
                                      </p:cBhvr>
                                      <p:to>
                                        <p:strVal val="visible"/>
                                      </p:to>
                                    </p:set>
                                    <p:animEffect transition="in" filter="wipe(up)">
                                      <p:cBhvr>
                                        <p:cTn id="39" dur="500"/>
                                        <p:tgtEl>
                                          <p:spTgt spid="4">
                                            <p:graphicEl>
                                              <a:dgm id="{6586BF32-DDB5-4BAF-8C33-58810CCAA4FD}"/>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
                                            <p:graphicEl>
                                              <a:dgm id="{E61451C4-35C4-472E-8A28-9048C8D70E37}"/>
                                            </p:graphicEl>
                                          </p:spTgt>
                                        </p:tgtEl>
                                        <p:attrNameLst>
                                          <p:attrName>style.visibility</p:attrName>
                                        </p:attrNameLst>
                                      </p:cBhvr>
                                      <p:to>
                                        <p:strVal val="visible"/>
                                      </p:to>
                                    </p:set>
                                    <p:animEffect transition="in" filter="wipe(up)">
                                      <p:cBhvr>
                                        <p:cTn id="44" dur="500"/>
                                        <p:tgtEl>
                                          <p:spTgt spid="4">
                                            <p:graphicEl>
                                              <a:dgm id="{E61451C4-35C4-472E-8A28-9048C8D70E37}"/>
                                            </p:graphic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4">
                                            <p:graphicEl>
                                              <a:dgm id="{DE92B688-900C-4E5C-A11A-FECA0E66E17A}"/>
                                            </p:graphicEl>
                                          </p:spTgt>
                                        </p:tgtEl>
                                        <p:attrNameLst>
                                          <p:attrName>style.visibility</p:attrName>
                                        </p:attrNameLst>
                                      </p:cBhvr>
                                      <p:to>
                                        <p:strVal val="visible"/>
                                      </p:to>
                                    </p:set>
                                    <p:animEffect transition="in" filter="wipe(up)">
                                      <p:cBhvr>
                                        <p:cTn id="47" dur="500"/>
                                        <p:tgtEl>
                                          <p:spTgt spid="4">
                                            <p:graphicEl>
                                              <a:dgm id="{DE92B688-900C-4E5C-A11A-FECA0E66E17A}"/>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graphicEl>
                                              <a:dgm id="{AE36FD69-AD16-4A05-8726-152C02B32793}"/>
                                            </p:graphicEl>
                                          </p:spTgt>
                                        </p:tgtEl>
                                        <p:attrNameLst>
                                          <p:attrName>style.visibility</p:attrName>
                                        </p:attrNameLst>
                                      </p:cBhvr>
                                      <p:to>
                                        <p:strVal val="visible"/>
                                      </p:to>
                                    </p:set>
                                    <p:animEffect transition="in" filter="wipe(up)">
                                      <p:cBhvr>
                                        <p:cTn id="52" dur="500"/>
                                        <p:tgtEl>
                                          <p:spTgt spid="4">
                                            <p:graphicEl>
                                              <a:dgm id="{AE36FD69-AD16-4A05-8726-152C02B32793}"/>
                                            </p:graphicEl>
                                          </p:spTgt>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4">
                                            <p:graphicEl>
                                              <a:dgm id="{200D33FC-95B1-4DFA-B146-7C720D41DBDA}"/>
                                            </p:graphicEl>
                                          </p:spTgt>
                                        </p:tgtEl>
                                        <p:attrNameLst>
                                          <p:attrName>style.visibility</p:attrName>
                                        </p:attrNameLst>
                                      </p:cBhvr>
                                      <p:to>
                                        <p:strVal val="visible"/>
                                      </p:to>
                                    </p:set>
                                    <p:animEffect transition="in" filter="wipe(up)">
                                      <p:cBhvr>
                                        <p:cTn id="55" dur="500"/>
                                        <p:tgtEl>
                                          <p:spTgt spid="4">
                                            <p:graphicEl>
                                              <a:dgm id="{200D33FC-95B1-4DFA-B146-7C720D41DBDA}"/>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4">
                                            <p:graphicEl>
                                              <a:dgm id="{8400AF33-1028-42A0-9303-757481EDB08A}"/>
                                            </p:graphicEl>
                                          </p:spTgt>
                                        </p:tgtEl>
                                        <p:attrNameLst>
                                          <p:attrName>style.visibility</p:attrName>
                                        </p:attrNameLst>
                                      </p:cBhvr>
                                      <p:to>
                                        <p:strVal val="visible"/>
                                      </p:to>
                                    </p:set>
                                    <p:animEffect transition="in" filter="wipe(up)">
                                      <p:cBhvr>
                                        <p:cTn id="60" dur="500"/>
                                        <p:tgtEl>
                                          <p:spTgt spid="4">
                                            <p:graphicEl>
                                              <a:dgm id="{8400AF33-1028-42A0-9303-757481EDB08A}"/>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4">
                                            <p:graphicEl>
                                              <a:dgm id="{149CF26F-3E43-4B3C-B024-6F3531662D71}"/>
                                            </p:graphicEl>
                                          </p:spTgt>
                                        </p:tgtEl>
                                        <p:attrNameLst>
                                          <p:attrName>style.visibility</p:attrName>
                                        </p:attrNameLst>
                                      </p:cBhvr>
                                      <p:to>
                                        <p:strVal val="visible"/>
                                      </p:to>
                                    </p:set>
                                    <p:animEffect transition="in" filter="wipe(up)">
                                      <p:cBhvr>
                                        <p:cTn id="65" dur="500"/>
                                        <p:tgtEl>
                                          <p:spTgt spid="4">
                                            <p:graphicEl>
                                              <a:dgm id="{149CF26F-3E43-4B3C-B024-6F3531662D71}"/>
                                            </p:graphicEl>
                                          </p:spTgt>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4">
                                            <p:graphicEl>
                                              <a:dgm id="{74571199-9456-4C1F-81D1-484ADBB941C9}"/>
                                            </p:graphicEl>
                                          </p:spTgt>
                                        </p:tgtEl>
                                        <p:attrNameLst>
                                          <p:attrName>style.visibility</p:attrName>
                                        </p:attrNameLst>
                                      </p:cBhvr>
                                      <p:to>
                                        <p:strVal val="visible"/>
                                      </p:to>
                                    </p:set>
                                    <p:animEffect transition="in" filter="wipe(up)">
                                      <p:cBhvr>
                                        <p:cTn id="68" dur="500"/>
                                        <p:tgtEl>
                                          <p:spTgt spid="4">
                                            <p:graphicEl>
                                              <a:dgm id="{74571199-9456-4C1F-81D1-484ADBB941C9}"/>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4">
                                            <p:graphicEl>
                                              <a:dgm id="{BF0479C1-4D39-4D56-B110-5A13FA98D7B5}"/>
                                            </p:graphicEl>
                                          </p:spTgt>
                                        </p:tgtEl>
                                        <p:attrNameLst>
                                          <p:attrName>style.visibility</p:attrName>
                                        </p:attrNameLst>
                                      </p:cBhvr>
                                      <p:to>
                                        <p:strVal val="visible"/>
                                      </p:to>
                                    </p:set>
                                    <p:animEffect transition="in" filter="wipe(up)">
                                      <p:cBhvr>
                                        <p:cTn id="73" dur="500"/>
                                        <p:tgtEl>
                                          <p:spTgt spid="4">
                                            <p:graphicEl>
                                              <a:dgm id="{BF0479C1-4D39-4D56-B110-5A13FA98D7B5}"/>
                                            </p:graphicEl>
                                          </p:spTgt>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4">
                                            <p:graphicEl>
                                              <a:dgm id="{2C0ED171-4FDA-4817-9D51-40D9AE9B2DD1}"/>
                                            </p:graphicEl>
                                          </p:spTgt>
                                        </p:tgtEl>
                                        <p:attrNameLst>
                                          <p:attrName>style.visibility</p:attrName>
                                        </p:attrNameLst>
                                      </p:cBhvr>
                                      <p:to>
                                        <p:strVal val="visible"/>
                                      </p:to>
                                    </p:set>
                                    <p:animEffect transition="in" filter="wipe(up)">
                                      <p:cBhvr>
                                        <p:cTn id="76" dur="500"/>
                                        <p:tgtEl>
                                          <p:spTgt spid="4">
                                            <p:graphicEl>
                                              <a:dgm id="{2C0ED171-4FDA-4817-9D51-40D9AE9B2DD1}"/>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4">
                                            <p:graphicEl>
                                              <a:dgm id="{92226CF5-6F82-46CE-9B7F-A95CCCEF9F6D}"/>
                                            </p:graphicEl>
                                          </p:spTgt>
                                        </p:tgtEl>
                                        <p:attrNameLst>
                                          <p:attrName>style.visibility</p:attrName>
                                        </p:attrNameLst>
                                      </p:cBhvr>
                                      <p:to>
                                        <p:strVal val="visible"/>
                                      </p:to>
                                    </p:set>
                                    <p:animEffect transition="in" filter="wipe(up)">
                                      <p:cBhvr>
                                        <p:cTn id="81" dur="500"/>
                                        <p:tgtEl>
                                          <p:spTgt spid="4">
                                            <p:graphicEl>
                                              <a:dgm id="{92226CF5-6F82-46CE-9B7F-A95CCCEF9F6D}"/>
                                            </p:graphicEl>
                                          </p:spTgt>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4">
                                            <p:graphicEl>
                                              <a:dgm id="{9A9C0809-407D-469B-BB35-2A07BE3F9C87}"/>
                                            </p:graphicEl>
                                          </p:spTgt>
                                        </p:tgtEl>
                                        <p:attrNameLst>
                                          <p:attrName>style.visibility</p:attrName>
                                        </p:attrNameLst>
                                      </p:cBhvr>
                                      <p:to>
                                        <p:strVal val="visible"/>
                                      </p:to>
                                    </p:set>
                                    <p:animEffect transition="in" filter="wipe(up)">
                                      <p:cBhvr>
                                        <p:cTn id="84" dur="500"/>
                                        <p:tgtEl>
                                          <p:spTgt spid="4">
                                            <p:graphicEl>
                                              <a:dgm id="{9A9C0809-407D-469B-BB35-2A07BE3F9C87}"/>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4">
                                            <p:graphicEl>
                                              <a:dgm id="{CCBD1422-0CBC-41A7-82CC-5F23B4D5C014}"/>
                                            </p:graphicEl>
                                          </p:spTgt>
                                        </p:tgtEl>
                                        <p:attrNameLst>
                                          <p:attrName>style.visibility</p:attrName>
                                        </p:attrNameLst>
                                      </p:cBhvr>
                                      <p:to>
                                        <p:strVal val="visible"/>
                                      </p:to>
                                    </p:set>
                                    <p:animEffect transition="in" filter="wipe(up)">
                                      <p:cBhvr>
                                        <p:cTn id="89" dur="500"/>
                                        <p:tgtEl>
                                          <p:spTgt spid="4">
                                            <p:graphicEl>
                                              <a:dgm id="{CCBD1422-0CBC-41A7-82CC-5F23B4D5C014}"/>
                                            </p:graphicEl>
                                          </p:spTgt>
                                        </p:tgtEl>
                                      </p:cBhvr>
                                    </p:animEffect>
                                  </p:childTnLst>
                                </p:cTn>
                              </p:par>
                              <p:par>
                                <p:cTn id="90" presetID="22" presetClass="entr" presetSubtype="1" fill="hold" grpId="0" nodeType="withEffect">
                                  <p:stCondLst>
                                    <p:cond delay="0"/>
                                  </p:stCondLst>
                                  <p:childTnLst>
                                    <p:set>
                                      <p:cBhvr>
                                        <p:cTn id="91" dur="1" fill="hold">
                                          <p:stCondLst>
                                            <p:cond delay="0"/>
                                          </p:stCondLst>
                                        </p:cTn>
                                        <p:tgtEl>
                                          <p:spTgt spid="4">
                                            <p:graphicEl>
                                              <a:dgm id="{68ABAC89-7FB8-4ED6-9761-49277141DFC8}"/>
                                            </p:graphicEl>
                                          </p:spTgt>
                                        </p:tgtEl>
                                        <p:attrNameLst>
                                          <p:attrName>style.visibility</p:attrName>
                                        </p:attrNameLst>
                                      </p:cBhvr>
                                      <p:to>
                                        <p:strVal val="visible"/>
                                      </p:to>
                                    </p:set>
                                    <p:animEffect transition="in" filter="wipe(up)">
                                      <p:cBhvr>
                                        <p:cTn id="92" dur="500"/>
                                        <p:tgtEl>
                                          <p:spTgt spid="4">
                                            <p:graphicEl>
                                              <a:dgm id="{68ABAC89-7FB8-4ED6-9761-49277141DFC8}"/>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4">
                                            <p:graphicEl>
                                              <a:dgm id="{110EE10E-7713-4162-AC1B-303C13143118}"/>
                                            </p:graphicEl>
                                          </p:spTgt>
                                        </p:tgtEl>
                                        <p:attrNameLst>
                                          <p:attrName>style.visibility</p:attrName>
                                        </p:attrNameLst>
                                      </p:cBhvr>
                                      <p:to>
                                        <p:strVal val="visible"/>
                                      </p:to>
                                    </p:set>
                                    <p:animEffect transition="in" filter="wipe(up)">
                                      <p:cBhvr>
                                        <p:cTn id="97" dur="500"/>
                                        <p:tgtEl>
                                          <p:spTgt spid="4">
                                            <p:graphicEl>
                                              <a:dgm id="{110EE10E-7713-4162-AC1B-303C13143118}"/>
                                            </p:graphicEl>
                                          </p:spTgt>
                                        </p:tgtEl>
                                      </p:cBhvr>
                                    </p:animEffect>
                                  </p:childTnLst>
                                </p:cTn>
                              </p:par>
                              <p:par>
                                <p:cTn id="98" presetID="22" presetClass="entr" presetSubtype="1" fill="hold" grpId="0" nodeType="withEffect">
                                  <p:stCondLst>
                                    <p:cond delay="0"/>
                                  </p:stCondLst>
                                  <p:childTnLst>
                                    <p:set>
                                      <p:cBhvr>
                                        <p:cTn id="99" dur="1" fill="hold">
                                          <p:stCondLst>
                                            <p:cond delay="0"/>
                                          </p:stCondLst>
                                        </p:cTn>
                                        <p:tgtEl>
                                          <p:spTgt spid="4">
                                            <p:graphicEl>
                                              <a:dgm id="{AD899F19-2D77-4CFA-83BA-37390F20C335}"/>
                                            </p:graphicEl>
                                          </p:spTgt>
                                        </p:tgtEl>
                                        <p:attrNameLst>
                                          <p:attrName>style.visibility</p:attrName>
                                        </p:attrNameLst>
                                      </p:cBhvr>
                                      <p:to>
                                        <p:strVal val="visible"/>
                                      </p:to>
                                    </p:set>
                                    <p:animEffect transition="in" filter="wipe(up)">
                                      <p:cBhvr>
                                        <p:cTn id="100" dur="500"/>
                                        <p:tgtEl>
                                          <p:spTgt spid="4">
                                            <p:graphicEl>
                                              <a:dgm id="{AD899F19-2D77-4CFA-83BA-37390F20C335}"/>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4">
                                            <p:graphicEl>
                                              <a:dgm id="{B64178F0-3B5D-41FE-A510-1ADD1201C1C1}"/>
                                            </p:graphicEl>
                                          </p:spTgt>
                                        </p:tgtEl>
                                        <p:attrNameLst>
                                          <p:attrName>style.visibility</p:attrName>
                                        </p:attrNameLst>
                                      </p:cBhvr>
                                      <p:to>
                                        <p:strVal val="visible"/>
                                      </p:to>
                                    </p:set>
                                    <p:animEffect transition="in" filter="wipe(up)">
                                      <p:cBhvr>
                                        <p:cTn id="105" dur="500"/>
                                        <p:tgtEl>
                                          <p:spTgt spid="4">
                                            <p:graphicEl>
                                              <a:dgm id="{B64178F0-3B5D-41FE-A510-1ADD1201C1C1}"/>
                                            </p:graphicEl>
                                          </p:spTgt>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4">
                                            <p:graphicEl>
                                              <a:dgm id="{6BEE2905-B215-4C1F-970F-0209B8D07263}"/>
                                            </p:graphicEl>
                                          </p:spTgt>
                                        </p:tgtEl>
                                        <p:attrNameLst>
                                          <p:attrName>style.visibility</p:attrName>
                                        </p:attrNameLst>
                                      </p:cBhvr>
                                      <p:to>
                                        <p:strVal val="visible"/>
                                      </p:to>
                                    </p:set>
                                    <p:animEffect transition="in" filter="wipe(up)">
                                      <p:cBhvr>
                                        <p:cTn id="108" dur="500"/>
                                        <p:tgtEl>
                                          <p:spTgt spid="4">
                                            <p:graphicEl>
                                              <a:dgm id="{6BEE2905-B215-4C1F-970F-0209B8D072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B0FAD-ACE8-0617-90B9-DBCD5F63C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2BDD5-F6D0-FDFE-A7E1-016B2B263D1E}"/>
              </a:ext>
            </a:extLst>
          </p:cNvPr>
          <p:cNvSpPr>
            <a:spLocks noGrp="1"/>
          </p:cNvSpPr>
          <p:nvPr>
            <p:ph type="title"/>
          </p:nvPr>
        </p:nvSpPr>
        <p:spPr/>
        <p:txBody>
          <a:bodyPr/>
          <a:lstStyle/>
          <a:p>
            <a:r>
              <a:rPr lang="en-US" dirty="0"/>
              <a:t>GST Rates Prescribed for Various Services</a:t>
            </a:r>
            <a:endParaRPr lang="en-IN" dirty="0"/>
          </a:p>
        </p:txBody>
      </p:sp>
      <p:graphicFrame>
        <p:nvGraphicFramePr>
          <p:cNvPr id="4" name="Content Placeholder 3">
            <a:extLst>
              <a:ext uri="{FF2B5EF4-FFF2-40B4-BE49-F238E27FC236}">
                <a16:creationId xmlns:a16="http://schemas.microsoft.com/office/drawing/2014/main" id="{B40C5324-B8F9-05C3-885F-DAA210B6C7F2}"/>
              </a:ext>
            </a:extLst>
          </p:cNvPr>
          <p:cNvGraphicFramePr>
            <a:graphicFrameLocks noGrp="1"/>
          </p:cNvGraphicFramePr>
          <p:nvPr>
            <p:ph idx="1"/>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32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49F6AD7B-7A88-4E72-963B-2463D4FCC26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5D382B21-3C6A-41E7-8D26-A9E08CAE16ED}"/>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1C9345C4-6C6D-4F04-9E81-C824DA2E4496}"/>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65DD4893-9805-414F-ABCF-D1B944AE86E3}"/>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E36A3D97-4623-4CC5-B164-0ADD222A4B6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3C09B622-9EDA-4B47-A6D0-A1FD5BA6135A}"/>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4E4EC5B2-936F-4DA0-BEC2-76BDE386D400}"/>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D0936368-CD03-4EC3-9A92-65370D0595B0}"/>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6586BF32-DDB5-4BAF-8C33-58810CCAA4FD}"/>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E61451C4-35C4-472E-8A28-9048C8D70E37}"/>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DE92B688-900C-4E5C-A11A-FECA0E66E17A}"/>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graphicEl>
                                              <a:dgm id="{AE36FD69-AD16-4A05-8726-152C02B32793}"/>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200D33FC-95B1-4DFA-B146-7C720D41DBDA}"/>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8400AF33-1028-42A0-9303-757481EDB08A}"/>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graphicEl>
                                              <a:dgm id="{149CF26F-3E43-4B3C-B024-6F3531662D71}"/>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graphicEl>
                                              <a:dgm id="{74571199-9456-4C1F-81D1-484ADBB941C9}"/>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graphicEl>
                                              <a:dgm id="{BF0479C1-4D39-4D56-B110-5A13FA98D7B5}"/>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graphicEl>
                                              <a:dgm id="{2C0ED171-4FDA-4817-9D51-40D9AE9B2DD1}"/>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graphicEl>
                                              <a:dgm id="{92226CF5-6F82-46CE-9B7F-A95CCCEF9F6D}"/>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graphicEl>
                                              <a:dgm id="{9A9C0809-407D-469B-BB35-2A07BE3F9C87}"/>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graphicEl>
                                              <a:dgm id="{CCBD1422-0CBC-41A7-82CC-5F23B4D5C014}"/>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graphicEl>
                                              <a:dgm id="{68ABAC89-7FB8-4ED6-9761-49277141DFC8}"/>
                                            </p:graphic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graphicEl>
                                              <a:dgm id="{110EE10E-7713-4162-AC1B-303C13143118}"/>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graphicEl>
                                              <a:dgm id="{AD899F19-2D77-4CFA-83BA-37390F20C335}"/>
                                            </p:graphic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
                                            <p:graphicEl>
                                              <a:dgm id="{B64178F0-3B5D-41FE-A510-1ADD1201C1C1}"/>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
                                            <p:graphicEl>
                                              <a:dgm id="{6BEE2905-B215-4C1F-970F-0209B8D07263}"/>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D2979-842A-03E5-6329-76AE1D82B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907DF-B771-9E00-199D-8F2B9AD58C2A}"/>
              </a:ext>
            </a:extLst>
          </p:cNvPr>
          <p:cNvSpPr>
            <a:spLocks noGrp="1"/>
          </p:cNvSpPr>
          <p:nvPr>
            <p:ph type="title"/>
          </p:nvPr>
        </p:nvSpPr>
        <p:spPr/>
        <p:txBody>
          <a:bodyPr/>
          <a:lstStyle/>
          <a:p>
            <a:r>
              <a:rPr lang="en-IN" dirty="0"/>
              <a:t>Charge of GST</a:t>
            </a:r>
            <a:endParaRPr lang="en-US" dirty="0"/>
          </a:p>
        </p:txBody>
      </p:sp>
    </p:spTree>
    <p:extLst>
      <p:ext uri="{BB962C8B-B14F-4D97-AF65-F5344CB8AC3E}">
        <p14:creationId xmlns:p14="http://schemas.microsoft.com/office/powerpoint/2010/main" val="2854665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0528-FD29-5475-08D6-B62ECA089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1BE68-DAF1-1437-D8E3-5FA8C41FDC45}"/>
              </a:ext>
            </a:extLst>
          </p:cNvPr>
          <p:cNvSpPr>
            <a:spLocks noGrp="1"/>
          </p:cNvSpPr>
          <p:nvPr>
            <p:ph type="title"/>
          </p:nvPr>
        </p:nvSpPr>
        <p:spPr/>
        <p:txBody>
          <a:bodyPr/>
          <a:lstStyle/>
          <a:p>
            <a:r>
              <a:rPr lang="en-US" dirty="0"/>
              <a:t>Levy and collection of CGST/IGST</a:t>
            </a:r>
            <a:endParaRPr lang="en-IN" dirty="0"/>
          </a:p>
        </p:txBody>
      </p:sp>
      <p:graphicFrame>
        <p:nvGraphicFramePr>
          <p:cNvPr id="6" name="Content Placeholder 5">
            <a:extLst>
              <a:ext uri="{FF2B5EF4-FFF2-40B4-BE49-F238E27FC236}">
                <a16:creationId xmlns:a16="http://schemas.microsoft.com/office/drawing/2014/main" id="{DB4B24A9-D2F1-DB35-4B00-C8C46703992D}"/>
              </a:ext>
            </a:extLst>
          </p:cNvPr>
          <p:cNvGraphicFramePr>
            <a:graphicFrameLocks noGrp="1"/>
          </p:cNvGraphicFramePr>
          <p:nvPr>
            <p:ph idx="1"/>
            <p:extLst>
              <p:ext uri="{D42A27DB-BD31-4B8C-83A1-F6EECF244321}">
                <p14:modId xmlns:p14="http://schemas.microsoft.com/office/powerpoint/2010/main" val="3445753006"/>
              </p:ext>
            </p:extLst>
          </p:nvPr>
        </p:nvGraphicFramePr>
        <p:xfrm>
          <a:off x="131763" y="863600"/>
          <a:ext cx="11928474" cy="3444240"/>
        </p:xfrm>
        <a:graphic>
          <a:graphicData uri="http://schemas.openxmlformats.org/drawingml/2006/table">
            <a:tbl>
              <a:tblPr firstRow="1" bandRow="1">
                <a:tableStyleId>{93296810-A885-4BE3-A3E7-6D5BEEA58F35}</a:tableStyleId>
              </a:tblPr>
              <a:tblGrid>
                <a:gridCol w="3976158">
                  <a:extLst>
                    <a:ext uri="{9D8B030D-6E8A-4147-A177-3AD203B41FA5}">
                      <a16:colId xmlns:a16="http://schemas.microsoft.com/office/drawing/2014/main" val="503970463"/>
                    </a:ext>
                  </a:extLst>
                </a:gridCol>
                <a:gridCol w="3976158">
                  <a:extLst>
                    <a:ext uri="{9D8B030D-6E8A-4147-A177-3AD203B41FA5}">
                      <a16:colId xmlns:a16="http://schemas.microsoft.com/office/drawing/2014/main" val="2783562619"/>
                    </a:ext>
                  </a:extLst>
                </a:gridCol>
                <a:gridCol w="3976158">
                  <a:extLst>
                    <a:ext uri="{9D8B030D-6E8A-4147-A177-3AD203B41FA5}">
                      <a16:colId xmlns:a16="http://schemas.microsoft.com/office/drawing/2014/main" val="219045137"/>
                    </a:ext>
                  </a:extLst>
                </a:gridCol>
              </a:tblGrid>
              <a:tr h="370840">
                <a:tc>
                  <a:txBody>
                    <a:bodyPr/>
                    <a:lstStyle/>
                    <a:p>
                      <a:pPr algn="ctr"/>
                      <a:r>
                        <a:rPr lang="en-US" sz="2800" dirty="0"/>
                        <a:t>Particulars</a:t>
                      </a:r>
                    </a:p>
                  </a:txBody>
                  <a:tcPr/>
                </a:tc>
                <a:tc>
                  <a:txBody>
                    <a:bodyPr/>
                    <a:lstStyle/>
                    <a:p>
                      <a:pPr algn="ctr"/>
                      <a:r>
                        <a:rPr lang="en-US" sz="2800" dirty="0"/>
                        <a:t>CGST</a:t>
                      </a:r>
                    </a:p>
                  </a:txBody>
                  <a:tcPr/>
                </a:tc>
                <a:tc>
                  <a:txBody>
                    <a:bodyPr/>
                    <a:lstStyle/>
                    <a:p>
                      <a:pPr algn="ctr"/>
                      <a:r>
                        <a:rPr lang="en-IN" sz="2800" dirty="0"/>
                        <a:t>IGST</a:t>
                      </a:r>
                      <a:endParaRPr lang="en-US" sz="2800" dirty="0"/>
                    </a:p>
                  </a:txBody>
                  <a:tcPr/>
                </a:tc>
                <a:extLst>
                  <a:ext uri="{0D108BD9-81ED-4DB2-BD59-A6C34878D82A}">
                    <a16:rowId xmlns:a16="http://schemas.microsoft.com/office/drawing/2014/main" val="890403199"/>
                  </a:ext>
                </a:extLst>
              </a:tr>
              <a:tr h="370840">
                <a:tc>
                  <a:txBody>
                    <a:bodyPr/>
                    <a:lstStyle/>
                    <a:p>
                      <a:r>
                        <a:rPr lang="en-US" sz="2800" dirty="0"/>
                        <a:t>Levied on</a:t>
                      </a:r>
                    </a:p>
                  </a:txBody>
                  <a:tcPr/>
                </a:tc>
                <a:tc>
                  <a:txBody>
                    <a:bodyPr/>
                    <a:lstStyle/>
                    <a:p>
                      <a:r>
                        <a:rPr lang="en-US" sz="2800" dirty="0"/>
                        <a:t>Intra-State supplies of goods/services/both</a:t>
                      </a:r>
                    </a:p>
                  </a:txBody>
                  <a:tcPr/>
                </a:tc>
                <a:tc>
                  <a:txBody>
                    <a:bodyPr/>
                    <a:lstStyle/>
                    <a:p>
                      <a:r>
                        <a:rPr lang="en-US" sz="2800" dirty="0"/>
                        <a:t>Inter-State supplies of goods/services/both</a:t>
                      </a:r>
                    </a:p>
                  </a:txBody>
                  <a:tcPr/>
                </a:tc>
                <a:extLst>
                  <a:ext uri="{0D108BD9-81ED-4DB2-BD59-A6C34878D82A}">
                    <a16:rowId xmlns:a16="http://schemas.microsoft.com/office/drawing/2014/main" val="3359924669"/>
                  </a:ext>
                </a:extLst>
              </a:tr>
              <a:tr h="370840">
                <a:tc>
                  <a:txBody>
                    <a:bodyPr/>
                    <a:lstStyle/>
                    <a:p>
                      <a:r>
                        <a:rPr lang="en-US" sz="2800" dirty="0"/>
                        <a:t>Collected and paid by</a:t>
                      </a:r>
                    </a:p>
                  </a:txBody>
                  <a:tcPr/>
                </a:tc>
                <a:tc gridSpan="2">
                  <a:txBody>
                    <a:bodyPr/>
                    <a:lstStyle/>
                    <a:p>
                      <a:r>
                        <a:rPr lang="en-US" sz="2800" dirty="0"/>
                        <a:t>Taxable person</a:t>
                      </a:r>
                    </a:p>
                  </a:txBody>
                  <a:tcPr/>
                </a:tc>
                <a:tc hMerge="1">
                  <a:txBody>
                    <a:bodyPr/>
                    <a:lstStyle/>
                    <a:p>
                      <a:endParaRPr lang="en-US" dirty="0"/>
                    </a:p>
                  </a:txBody>
                  <a:tcPr/>
                </a:tc>
                <a:extLst>
                  <a:ext uri="{0D108BD9-81ED-4DB2-BD59-A6C34878D82A}">
                    <a16:rowId xmlns:a16="http://schemas.microsoft.com/office/drawing/2014/main" val="614381532"/>
                  </a:ext>
                </a:extLst>
              </a:tr>
              <a:tr h="370840">
                <a:tc>
                  <a:txBody>
                    <a:bodyPr/>
                    <a:lstStyle/>
                    <a:p>
                      <a:r>
                        <a:rPr lang="en-US" sz="2800" dirty="0"/>
                        <a:t>Supply outside purview of GST</a:t>
                      </a:r>
                    </a:p>
                  </a:txBody>
                  <a:tcPr/>
                </a:tc>
                <a:tc gridSpan="2">
                  <a:txBody>
                    <a:bodyPr/>
                    <a:lstStyle/>
                    <a:p>
                      <a:r>
                        <a:rPr lang="en-US" sz="2800" dirty="0"/>
                        <a:t>Alcoholic liquor for human consumption</a:t>
                      </a:r>
                    </a:p>
                  </a:txBody>
                  <a:tcPr/>
                </a:tc>
                <a:tc hMerge="1">
                  <a:txBody>
                    <a:bodyPr/>
                    <a:lstStyle/>
                    <a:p>
                      <a:endParaRPr lang="en-US" dirty="0"/>
                    </a:p>
                  </a:txBody>
                  <a:tcPr/>
                </a:tc>
                <a:extLst>
                  <a:ext uri="{0D108BD9-81ED-4DB2-BD59-A6C34878D82A}">
                    <a16:rowId xmlns:a16="http://schemas.microsoft.com/office/drawing/2014/main" val="1479167446"/>
                  </a:ext>
                </a:extLst>
              </a:tr>
              <a:tr h="370840">
                <a:tc>
                  <a:txBody>
                    <a:bodyPr/>
                    <a:lstStyle/>
                    <a:p>
                      <a:r>
                        <a:rPr lang="en-US" sz="2800"/>
                        <a:t>Value for levy</a:t>
                      </a:r>
                      <a:endParaRPr lang="en-US" sz="2800" dirty="0"/>
                    </a:p>
                  </a:txBody>
                  <a:tcPr/>
                </a:tc>
                <a:tc gridSpan="2">
                  <a:txBody>
                    <a:bodyPr/>
                    <a:lstStyle/>
                    <a:p>
                      <a:r>
                        <a:rPr lang="en-US" sz="2800" dirty="0"/>
                        <a:t>Transaction value under section 15 of the CGST Act</a:t>
                      </a:r>
                    </a:p>
                  </a:txBody>
                  <a:tcPr/>
                </a:tc>
                <a:tc hMerge="1">
                  <a:txBody>
                    <a:bodyPr/>
                    <a:lstStyle/>
                    <a:p>
                      <a:endParaRPr lang="en-US" dirty="0"/>
                    </a:p>
                  </a:txBody>
                  <a:tcPr/>
                </a:tc>
                <a:extLst>
                  <a:ext uri="{0D108BD9-81ED-4DB2-BD59-A6C34878D82A}">
                    <a16:rowId xmlns:a16="http://schemas.microsoft.com/office/drawing/2014/main" val="3924194330"/>
                  </a:ext>
                </a:extLst>
              </a:tr>
            </a:tbl>
          </a:graphicData>
        </a:graphic>
      </p:graphicFrame>
    </p:spTree>
    <p:extLst>
      <p:ext uri="{BB962C8B-B14F-4D97-AF65-F5344CB8AC3E}">
        <p14:creationId xmlns:p14="http://schemas.microsoft.com/office/powerpoint/2010/main" val="144548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BE30E-FCCD-3983-03BA-21E21784E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C1DB7-973D-8471-6192-A9D4C6ACE242}"/>
              </a:ext>
            </a:extLst>
          </p:cNvPr>
          <p:cNvSpPr>
            <a:spLocks noGrp="1"/>
          </p:cNvSpPr>
          <p:nvPr>
            <p:ph type="title"/>
          </p:nvPr>
        </p:nvSpPr>
        <p:spPr/>
        <p:txBody>
          <a:bodyPr/>
          <a:lstStyle/>
          <a:p>
            <a:r>
              <a:rPr lang="en-US" dirty="0"/>
              <a:t>Levy and collection of CGST/IGST</a:t>
            </a:r>
            <a:endParaRPr lang="en-IN" dirty="0"/>
          </a:p>
        </p:txBody>
      </p:sp>
      <p:graphicFrame>
        <p:nvGraphicFramePr>
          <p:cNvPr id="6" name="Content Placeholder 5">
            <a:extLst>
              <a:ext uri="{FF2B5EF4-FFF2-40B4-BE49-F238E27FC236}">
                <a16:creationId xmlns:a16="http://schemas.microsoft.com/office/drawing/2014/main" id="{6CA9142F-BBAC-9E74-1E6F-03DE0AA720EE}"/>
              </a:ext>
            </a:extLst>
          </p:cNvPr>
          <p:cNvGraphicFramePr>
            <a:graphicFrameLocks noGrp="1"/>
          </p:cNvGraphicFramePr>
          <p:nvPr>
            <p:ph idx="1"/>
            <p:extLst>
              <p:ext uri="{D42A27DB-BD31-4B8C-83A1-F6EECF244321}">
                <p14:modId xmlns:p14="http://schemas.microsoft.com/office/powerpoint/2010/main" val="3230338678"/>
              </p:ext>
            </p:extLst>
          </p:nvPr>
        </p:nvGraphicFramePr>
        <p:xfrm>
          <a:off x="131763" y="863600"/>
          <a:ext cx="11928474" cy="4541520"/>
        </p:xfrm>
        <a:graphic>
          <a:graphicData uri="http://schemas.openxmlformats.org/drawingml/2006/table">
            <a:tbl>
              <a:tblPr firstRow="1" bandRow="1">
                <a:tableStyleId>{93296810-A885-4BE3-A3E7-6D5BEEA58F35}</a:tableStyleId>
              </a:tblPr>
              <a:tblGrid>
                <a:gridCol w="3543592">
                  <a:extLst>
                    <a:ext uri="{9D8B030D-6E8A-4147-A177-3AD203B41FA5}">
                      <a16:colId xmlns:a16="http://schemas.microsoft.com/office/drawing/2014/main" val="503970463"/>
                    </a:ext>
                  </a:extLst>
                </a:gridCol>
                <a:gridCol w="4408724">
                  <a:extLst>
                    <a:ext uri="{9D8B030D-6E8A-4147-A177-3AD203B41FA5}">
                      <a16:colId xmlns:a16="http://schemas.microsoft.com/office/drawing/2014/main" val="2783562619"/>
                    </a:ext>
                  </a:extLst>
                </a:gridCol>
                <a:gridCol w="3976158">
                  <a:extLst>
                    <a:ext uri="{9D8B030D-6E8A-4147-A177-3AD203B41FA5}">
                      <a16:colId xmlns:a16="http://schemas.microsoft.com/office/drawing/2014/main" val="219045137"/>
                    </a:ext>
                  </a:extLst>
                </a:gridCol>
              </a:tblGrid>
              <a:tr h="370840">
                <a:tc>
                  <a:txBody>
                    <a:bodyPr/>
                    <a:lstStyle/>
                    <a:p>
                      <a:pPr algn="ctr"/>
                      <a:r>
                        <a:rPr lang="en-US" sz="2800" dirty="0"/>
                        <a:t>Particulars</a:t>
                      </a:r>
                    </a:p>
                  </a:txBody>
                  <a:tcPr/>
                </a:tc>
                <a:tc>
                  <a:txBody>
                    <a:bodyPr/>
                    <a:lstStyle/>
                    <a:p>
                      <a:pPr algn="ctr"/>
                      <a:r>
                        <a:rPr lang="en-US" sz="2800" dirty="0"/>
                        <a:t>CGST</a:t>
                      </a:r>
                    </a:p>
                  </a:txBody>
                  <a:tcPr/>
                </a:tc>
                <a:tc>
                  <a:txBody>
                    <a:bodyPr/>
                    <a:lstStyle/>
                    <a:p>
                      <a:pPr algn="ctr"/>
                      <a:r>
                        <a:rPr lang="en-IN" sz="2800" dirty="0"/>
                        <a:t>IGST</a:t>
                      </a:r>
                      <a:endParaRPr lang="en-US" sz="2800" dirty="0"/>
                    </a:p>
                  </a:txBody>
                  <a:tcPr/>
                </a:tc>
                <a:extLst>
                  <a:ext uri="{0D108BD9-81ED-4DB2-BD59-A6C34878D82A}">
                    <a16:rowId xmlns:a16="http://schemas.microsoft.com/office/drawing/2014/main" val="890403199"/>
                  </a:ext>
                </a:extLst>
              </a:tr>
              <a:tr h="370840">
                <a:tc>
                  <a:txBody>
                    <a:bodyPr/>
                    <a:lstStyle/>
                    <a:p>
                      <a:r>
                        <a:rPr lang="en-US" sz="2800" dirty="0"/>
                        <a:t>Rates</a:t>
                      </a:r>
                    </a:p>
                  </a:txBody>
                  <a:tcPr/>
                </a:tc>
                <a:tc>
                  <a:txBody>
                    <a:bodyPr/>
                    <a:lstStyle/>
                    <a:p>
                      <a:pPr marL="285750" indent="-285750">
                        <a:buFont typeface="Arial" panose="020B0604020202020204" pitchFamily="34" charset="0"/>
                        <a:buChar char="•"/>
                      </a:pPr>
                      <a:r>
                        <a:rPr lang="en-US" sz="2800" dirty="0"/>
                        <a:t>Rates as notified by Government. </a:t>
                      </a:r>
                    </a:p>
                    <a:p>
                      <a:pPr marL="285750" indent="-285750">
                        <a:buFont typeface="Arial" panose="020B0604020202020204" pitchFamily="34" charset="0"/>
                        <a:buChar char="•"/>
                      </a:pPr>
                      <a:r>
                        <a:rPr lang="en-US" sz="2800" dirty="0"/>
                        <a:t>Maximum rate of CGST can be 20%.</a:t>
                      </a:r>
                    </a:p>
                  </a:txBody>
                  <a:tcPr/>
                </a:tc>
                <a:tc>
                  <a:txBody>
                    <a:bodyPr/>
                    <a:lstStyle/>
                    <a:p>
                      <a:pPr marL="285750" indent="-285750">
                        <a:buFont typeface="Arial" panose="020B0604020202020204" pitchFamily="34" charset="0"/>
                        <a:buChar char="•"/>
                      </a:pPr>
                      <a:r>
                        <a:rPr lang="en-US" sz="2800" dirty="0"/>
                        <a:t>IGST rate= CGST rate + SGST/ UTGST rate </a:t>
                      </a:r>
                    </a:p>
                    <a:p>
                      <a:pPr marL="285750" indent="-285750">
                        <a:buFont typeface="Arial" panose="020B0604020202020204" pitchFamily="34" charset="0"/>
                        <a:buChar char="•"/>
                      </a:pPr>
                      <a:r>
                        <a:rPr lang="en-US" sz="2800" dirty="0"/>
                        <a:t>Maximum rate of IGST can be 40%</a:t>
                      </a:r>
                    </a:p>
                  </a:txBody>
                  <a:tcPr/>
                </a:tc>
                <a:extLst>
                  <a:ext uri="{0D108BD9-81ED-4DB2-BD59-A6C34878D82A}">
                    <a16:rowId xmlns:a16="http://schemas.microsoft.com/office/drawing/2014/main" val="4177529128"/>
                  </a:ext>
                </a:extLst>
              </a:tr>
              <a:tr h="370840">
                <a:tc>
                  <a:txBody>
                    <a:bodyPr/>
                    <a:lstStyle/>
                    <a:p>
                      <a:r>
                        <a:rPr lang="en-US" sz="2800" dirty="0"/>
                        <a:t>Supplies on which tax would be levied w.e.f. a notified date</a:t>
                      </a:r>
                    </a:p>
                  </a:txBody>
                  <a:tcPr/>
                </a:tc>
                <a:tc gridSpan="2">
                  <a:txBody>
                    <a:bodyPr/>
                    <a:lstStyle/>
                    <a:p>
                      <a:pPr marL="285750" indent="-285750">
                        <a:buFont typeface="Arial" panose="020B0604020202020204" pitchFamily="34" charset="0"/>
                        <a:buChar char="•"/>
                      </a:pPr>
                      <a:r>
                        <a:rPr lang="en-US" sz="2800" dirty="0"/>
                        <a:t>Petroleum crude </a:t>
                      </a:r>
                    </a:p>
                    <a:p>
                      <a:pPr marL="285750" indent="-285750">
                        <a:buFont typeface="Arial" panose="020B0604020202020204" pitchFamily="34" charset="0"/>
                        <a:buChar char="•"/>
                      </a:pPr>
                      <a:r>
                        <a:rPr lang="en-US" sz="2800" dirty="0"/>
                        <a:t>High speed diesel </a:t>
                      </a:r>
                    </a:p>
                    <a:p>
                      <a:pPr marL="285750" indent="-285750">
                        <a:buFont typeface="Arial" panose="020B0604020202020204" pitchFamily="34" charset="0"/>
                        <a:buChar char="•"/>
                      </a:pPr>
                      <a:r>
                        <a:rPr lang="en-US" sz="2800" dirty="0"/>
                        <a:t>Motor spirit (commonly known as petrol)</a:t>
                      </a:r>
                    </a:p>
                    <a:p>
                      <a:pPr marL="285750" indent="-285750">
                        <a:buFont typeface="Arial" panose="020B0604020202020204" pitchFamily="34" charset="0"/>
                        <a:buChar char="•"/>
                      </a:pPr>
                      <a:r>
                        <a:rPr lang="en-US" sz="2800" dirty="0"/>
                        <a:t>Natural gas and </a:t>
                      </a:r>
                    </a:p>
                    <a:p>
                      <a:pPr marL="285750" indent="-285750">
                        <a:buFont typeface="Arial" panose="020B0604020202020204" pitchFamily="34" charset="0"/>
                        <a:buChar char="•"/>
                      </a:pPr>
                      <a:r>
                        <a:rPr lang="en-US" sz="2800" dirty="0"/>
                        <a:t>Aviation turbine fuel</a:t>
                      </a:r>
                    </a:p>
                  </a:txBody>
                  <a:tcPr/>
                </a:tc>
                <a:tc hMerge="1">
                  <a:txBody>
                    <a:bodyPr/>
                    <a:lstStyle/>
                    <a:p>
                      <a:endParaRPr lang="en-US" dirty="0"/>
                    </a:p>
                  </a:txBody>
                  <a:tcPr/>
                </a:tc>
                <a:extLst>
                  <a:ext uri="{0D108BD9-81ED-4DB2-BD59-A6C34878D82A}">
                    <a16:rowId xmlns:a16="http://schemas.microsoft.com/office/drawing/2014/main" val="1803826223"/>
                  </a:ext>
                </a:extLst>
              </a:tr>
            </a:tbl>
          </a:graphicData>
        </a:graphic>
      </p:graphicFrame>
    </p:spTree>
    <p:extLst>
      <p:ext uri="{BB962C8B-B14F-4D97-AF65-F5344CB8AC3E}">
        <p14:creationId xmlns:p14="http://schemas.microsoft.com/office/powerpoint/2010/main" val="43313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C4B1-8506-726E-3AE1-E87A93AD6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B954CA-0AF6-26EA-B430-8333FA3FBDF2}"/>
              </a:ext>
            </a:extLst>
          </p:cNvPr>
          <p:cNvSpPr>
            <a:spLocks noGrp="1"/>
          </p:cNvSpPr>
          <p:nvPr>
            <p:ph type="title"/>
          </p:nvPr>
        </p:nvSpPr>
        <p:spPr/>
        <p:txBody>
          <a:bodyPr/>
          <a:lstStyle/>
          <a:p>
            <a:r>
              <a:rPr lang="en-US" dirty="0"/>
              <a:t>Levy and collection of CGST/IGST</a:t>
            </a:r>
            <a:endParaRPr lang="en-IN" dirty="0"/>
          </a:p>
        </p:txBody>
      </p:sp>
      <p:graphicFrame>
        <p:nvGraphicFramePr>
          <p:cNvPr id="6" name="Content Placeholder 5">
            <a:extLst>
              <a:ext uri="{FF2B5EF4-FFF2-40B4-BE49-F238E27FC236}">
                <a16:creationId xmlns:a16="http://schemas.microsoft.com/office/drawing/2014/main" id="{9CF21D97-67A5-D3FA-B300-EDD37BBB2534}"/>
              </a:ext>
            </a:extLst>
          </p:cNvPr>
          <p:cNvGraphicFramePr>
            <a:graphicFrameLocks noGrp="1"/>
          </p:cNvGraphicFramePr>
          <p:nvPr>
            <p:ph idx="1"/>
            <p:extLst>
              <p:ext uri="{D42A27DB-BD31-4B8C-83A1-F6EECF244321}">
                <p14:modId xmlns:p14="http://schemas.microsoft.com/office/powerpoint/2010/main" val="1135924531"/>
              </p:ext>
            </p:extLst>
          </p:nvPr>
        </p:nvGraphicFramePr>
        <p:xfrm>
          <a:off x="131763" y="863599"/>
          <a:ext cx="11928474" cy="4541520"/>
        </p:xfrm>
        <a:graphic>
          <a:graphicData uri="http://schemas.openxmlformats.org/drawingml/2006/table">
            <a:tbl>
              <a:tblPr firstRow="1" bandRow="1">
                <a:tableStyleId>{93296810-A885-4BE3-A3E7-6D5BEEA58F35}</a:tableStyleId>
              </a:tblPr>
              <a:tblGrid>
                <a:gridCol w="3659002">
                  <a:extLst>
                    <a:ext uri="{9D8B030D-6E8A-4147-A177-3AD203B41FA5}">
                      <a16:colId xmlns:a16="http://schemas.microsoft.com/office/drawing/2014/main" val="503970463"/>
                    </a:ext>
                  </a:extLst>
                </a:gridCol>
                <a:gridCol w="4293314">
                  <a:extLst>
                    <a:ext uri="{9D8B030D-6E8A-4147-A177-3AD203B41FA5}">
                      <a16:colId xmlns:a16="http://schemas.microsoft.com/office/drawing/2014/main" val="2783562619"/>
                    </a:ext>
                  </a:extLst>
                </a:gridCol>
                <a:gridCol w="3976158">
                  <a:extLst>
                    <a:ext uri="{9D8B030D-6E8A-4147-A177-3AD203B41FA5}">
                      <a16:colId xmlns:a16="http://schemas.microsoft.com/office/drawing/2014/main" val="219045137"/>
                    </a:ext>
                  </a:extLst>
                </a:gridCol>
              </a:tblGrid>
              <a:tr h="457574">
                <a:tc>
                  <a:txBody>
                    <a:bodyPr/>
                    <a:lstStyle/>
                    <a:p>
                      <a:pPr algn="ctr"/>
                      <a:r>
                        <a:rPr lang="en-US" sz="2800" dirty="0"/>
                        <a:t>Particulars</a:t>
                      </a:r>
                    </a:p>
                  </a:txBody>
                  <a:tcPr/>
                </a:tc>
                <a:tc>
                  <a:txBody>
                    <a:bodyPr/>
                    <a:lstStyle/>
                    <a:p>
                      <a:pPr algn="ctr"/>
                      <a:r>
                        <a:rPr lang="en-US" sz="2800" dirty="0"/>
                        <a:t>CGST</a:t>
                      </a:r>
                    </a:p>
                  </a:txBody>
                  <a:tcPr/>
                </a:tc>
                <a:tc>
                  <a:txBody>
                    <a:bodyPr/>
                    <a:lstStyle/>
                    <a:p>
                      <a:pPr algn="ctr"/>
                      <a:r>
                        <a:rPr lang="en-IN" sz="2800" dirty="0"/>
                        <a:t>IGST</a:t>
                      </a:r>
                      <a:endParaRPr lang="en-US" sz="2800" dirty="0"/>
                    </a:p>
                  </a:txBody>
                  <a:tcPr/>
                </a:tc>
                <a:extLst>
                  <a:ext uri="{0D108BD9-81ED-4DB2-BD59-A6C34878D82A}">
                    <a16:rowId xmlns:a16="http://schemas.microsoft.com/office/drawing/2014/main" val="890403199"/>
                  </a:ext>
                </a:extLst>
              </a:tr>
              <a:tr h="1128264">
                <a:tc>
                  <a:txBody>
                    <a:bodyPr/>
                    <a:lstStyle/>
                    <a:p>
                      <a:r>
                        <a:rPr lang="en-US" sz="2800" dirty="0"/>
                        <a:t>Tax payable under reverse charge</a:t>
                      </a:r>
                    </a:p>
                  </a:txBody>
                  <a:tcPr/>
                </a:tc>
                <a:tc gridSpan="2">
                  <a:txBody>
                    <a:bodyPr/>
                    <a:lstStyle/>
                    <a:p>
                      <a:pPr marL="285750" indent="-285750">
                        <a:buFont typeface="Arial" panose="020B0604020202020204" pitchFamily="34" charset="0"/>
                        <a:buChar char="•"/>
                      </a:pPr>
                      <a:r>
                        <a:rPr lang="en-US" sz="2800" dirty="0"/>
                        <a:t>Supply of goods or services or both, notified by the Government.</a:t>
                      </a:r>
                    </a:p>
                    <a:p>
                      <a:pPr marL="285750" indent="-285750">
                        <a:buFont typeface="Arial" panose="020B0604020202020204" pitchFamily="34" charset="0"/>
                        <a:buChar char="•"/>
                      </a:pPr>
                      <a:r>
                        <a:rPr lang="en-US" sz="2800" dirty="0"/>
                        <a:t>Supply of specified categories of goods or services or both by an unregistered supplier to specified class of registered persons.</a:t>
                      </a:r>
                    </a:p>
                  </a:txBody>
                  <a:tcPr/>
                </a:tc>
                <a:tc hMerge="1">
                  <a:txBody>
                    <a:bodyPr/>
                    <a:lstStyle/>
                    <a:p>
                      <a:endParaRPr dirty="0"/>
                    </a:p>
                  </a:txBody>
                  <a:tcPr/>
                </a:tc>
                <a:extLst>
                  <a:ext uri="{0D108BD9-81ED-4DB2-BD59-A6C34878D82A}">
                    <a16:rowId xmlns:a16="http://schemas.microsoft.com/office/drawing/2014/main" val="4177529128"/>
                  </a:ext>
                </a:extLst>
              </a:tr>
              <a:tr h="1128264">
                <a:tc>
                  <a:txBody>
                    <a:bodyPr/>
                    <a:lstStyle/>
                    <a:p>
                      <a:r>
                        <a:rPr lang="en-US" sz="2800" dirty="0"/>
                        <a:t>Tax payable by the electronic commerce operator</a:t>
                      </a:r>
                    </a:p>
                  </a:txBody>
                  <a:tcPr/>
                </a:tc>
                <a:tc gridSpan="2">
                  <a:txBody>
                    <a:bodyPr/>
                    <a:lstStyle/>
                    <a:p>
                      <a:pPr marL="285750" indent="-285750">
                        <a:buFont typeface="Arial" panose="020B0604020202020204" pitchFamily="34" charset="0"/>
                        <a:buChar char="•"/>
                      </a:pPr>
                      <a:r>
                        <a:rPr lang="en-US" sz="2800" dirty="0"/>
                        <a:t>The Government may notify specific categories of services the tax on supplies of which shall be paid by electronic commerce operator (ECO) as if such services are supplied through it.</a:t>
                      </a:r>
                    </a:p>
                  </a:txBody>
                  <a:tcPr/>
                </a:tc>
                <a:tc hMerge="1">
                  <a:txBody>
                    <a:bodyPr/>
                    <a:lstStyle/>
                    <a:p>
                      <a:endParaRPr lang="en-US" dirty="0"/>
                    </a:p>
                  </a:txBody>
                  <a:tcPr/>
                </a:tc>
                <a:extLst>
                  <a:ext uri="{0D108BD9-81ED-4DB2-BD59-A6C34878D82A}">
                    <a16:rowId xmlns:a16="http://schemas.microsoft.com/office/drawing/2014/main" val="1803826223"/>
                  </a:ext>
                </a:extLst>
              </a:tr>
            </a:tbl>
          </a:graphicData>
        </a:graphic>
      </p:graphicFrame>
    </p:spTree>
    <p:extLst>
      <p:ext uri="{BB962C8B-B14F-4D97-AF65-F5344CB8AC3E}">
        <p14:creationId xmlns:p14="http://schemas.microsoft.com/office/powerpoint/2010/main" val="75181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AADCB-5654-E219-A4D2-4B3FF4897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8BE4B-3E02-1B98-77F0-2009F17145BE}"/>
              </a:ext>
            </a:extLst>
          </p:cNvPr>
          <p:cNvSpPr>
            <a:spLocks noGrp="1"/>
          </p:cNvSpPr>
          <p:nvPr>
            <p:ph type="title"/>
          </p:nvPr>
        </p:nvSpPr>
        <p:spPr/>
        <p:txBody>
          <a:bodyPr/>
          <a:lstStyle/>
          <a:p>
            <a:r>
              <a:rPr lang="en-US" dirty="0"/>
              <a:t>Services on which tax is payable under reverse charge</a:t>
            </a:r>
            <a:endParaRPr lang="en-IN" dirty="0"/>
          </a:p>
        </p:txBody>
      </p:sp>
      <p:graphicFrame>
        <p:nvGraphicFramePr>
          <p:cNvPr id="5" name="Content Placeholder 4">
            <a:extLst>
              <a:ext uri="{FF2B5EF4-FFF2-40B4-BE49-F238E27FC236}">
                <a16:creationId xmlns:a16="http://schemas.microsoft.com/office/drawing/2014/main" id="{0C9B8FD0-EE54-8CDD-1FC1-EF031B7E81B2}"/>
              </a:ext>
            </a:extLst>
          </p:cNvPr>
          <p:cNvGraphicFramePr>
            <a:graphicFrameLocks noGrp="1"/>
          </p:cNvGraphicFramePr>
          <p:nvPr>
            <p:ph idx="1"/>
            <p:extLst>
              <p:ext uri="{D42A27DB-BD31-4B8C-83A1-F6EECF244321}">
                <p14:modId xmlns:p14="http://schemas.microsoft.com/office/powerpoint/2010/main" val="2592794846"/>
              </p:ext>
            </p:extLst>
          </p:nvPr>
        </p:nvGraphicFramePr>
        <p:xfrm>
          <a:off x="131763" y="863600"/>
          <a:ext cx="11928474" cy="4907280"/>
        </p:xfrm>
        <a:graphic>
          <a:graphicData uri="http://schemas.openxmlformats.org/drawingml/2006/table">
            <a:tbl>
              <a:tblPr firstRow="1" bandRow="1">
                <a:tableStyleId>{F5AB1C69-6EDB-4FF4-983F-18BD219EF322}</a:tableStyleId>
              </a:tblPr>
              <a:tblGrid>
                <a:gridCol w="1572750">
                  <a:extLst>
                    <a:ext uri="{9D8B030D-6E8A-4147-A177-3AD203B41FA5}">
                      <a16:colId xmlns:a16="http://schemas.microsoft.com/office/drawing/2014/main" val="3211049691"/>
                    </a:ext>
                  </a:extLst>
                </a:gridCol>
                <a:gridCol w="10355724">
                  <a:extLst>
                    <a:ext uri="{9D8B030D-6E8A-4147-A177-3AD203B41FA5}">
                      <a16:colId xmlns:a16="http://schemas.microsoft.com/office/drawing/2014/main" val="331687344"/>
                    </a:ext>
                  </a:extLst>
                </a:gridCol>
              </a:tblGrid>
              <a:tr h="370840">
                <a:tc>
                  <a:txBody>
                    <a:bodyPr/>
                    <a:lstStyle/>
                    <a:p>
                      <a:pPr algn="ctr"/>
                      <a:r>
                        <a:rPr lang="en-IN" sz="2600" dirty="0"/>
                        <a:t>Sr No.</a:t>
                      </a:r>
                      <a:endParaRPr lang="en-US" sz="2600" dirty="0"/>
                    </a:p>
                  </a:txBody>
                  <a:tcPr/>
                </a:tc>
                <a:tc>
                  <a:txBody>
                    <a:bodyPr/>
                    <a:lstStyle/>
                    <a:p>
                      <a:pPr algn="ctr"/>
                      <a:r>
                        <a:rPr lang="en-US" sz="2600" dirty="0"/>
                        <a:t>Category of supply of Services</a:t>
                      </a:r>
                    </a:p>
                  </a:txBody>
                  <a:tcPr/>
                </a:tc>
                <a:extLst>
                  <a:ext uri="{0D108BD9-81ED-4DB2-BD59-A6C34878D82A}">
                    <a16:rowId xmlns:a16="http://schemas.microsoft.com/office/drawing/2014/main" val="2401122375"/>
                  </a:ext>
                </a:extLst>
              </a:tr>
              <a:tr h="370840">
                <a:tc>
                  <a:txBody>
                    <a:bodyPr/>
                    <a:lstStyle/>
                    <a:p>
                      <a:r>
                        <a:rPr lang="en-IN" sz="2600" dirty="0"/>
                        <a:t>1</a:t>
                      </a:r>
                      <a:endParaRPr lang="en-US" sz="2600" dirty="0"/>
                    </a:p>
                  </a:txBody>
                  <a:tcPr/>
                </a:tc>
                <a:tc>
                  <a:txBody>
                    <a:bodyPr/>
                    <a:lstStyle/>
                    <a:p>
                      <a:r>
                        <a:rPr lang="en-US" sz="2600" dirty="0"/>
                        <a:t>Supply of services of </a:t>
                      </a:r>
                      <a:r>
                        <a:rPr lang="en-US" sz="2600" b="1" dirty="0"/>
                        <a:t>transportation of goods </a:t>
                      </a:r>
                      <a:r>
                        <a:rPr lang="en-US" sz="2600" dirty="0"/>
                        <a:t>by road by GTA (except where GTA exercises the option to pay tax under forward charge)</a:t>
                      </a:r>
                    </a:p>
                  </a:txBody>
                  <a:tcPr/>
                </a:tc>
                <a:extLst>
                  <a:ext uri="{0D108BD9-81ED-4DB2-BD59-A6C34878D82A}">
                    <a16:rowId xmlns:a16="http://schemas.microsoft.com/office/drawing/2014/main" val="37317991"/>
                  </a:ext>
                </a:extLst>
              </a:tr>
              <a:tr h="370840">
                <a:tc>
                  <a:txBody>
                    <a:bodyPr/>
                    <a:lstStyle/>
                    <a:p>
                      <a:r>
                        <a:rPr lang="en-IN" sz="2600" dirty="0"/>
                        <a:t>2</a:t>
                      </a:r>
                    </a:p>
                  </a:txBody>
                  <a:tcPr/>
                </a:tc>
                <a:tc>
                  <a:txBody>
                    <a:bodyPr/>
                    <a:lstStyle/>
                    <a:p>
                      <a:r>
                        <a:rPr lang="en-US" sz="2600" dirty="0"/>
                        <a:t>Legal services</a:t>
                      </a:r>
                    </a:p>
                  </a:txBody>
                  <a:tcPr/>
                </a:tc>
                <a:extLst>
                  <a:ext uri="{0D108BD9-81ED-4DB2-BD59-A6C34878D82A}">
                    <a16:rowId xmlns:a16="http://schemas.microsoft.com/office/drawing/2014/main" val="2784661823"/>
                  </a:ext>
                </a:extLst>
              </a:tr>
              <a:tr h="370840">
                <a:tc>
                  <a:txBody>
                    <a:bodyPr/>
                    <a:lstStyle/>
                    <a:p>
                      <a:r>
                        <a:rPr lang="en-IN" sz="2600" dirty="0"/>
                        <a:t>3</a:t>
                      </a:r>
                      <a:endParaRPr lang="en-US" sz="2600" dirty="0"/>
                    </a:p>
                  </a:txBody>
                  <a:tcPr/>
                </a:tc>
                <a:tc>
                  <a:txBody>
                    <a:bodyPr/>
                    <a:lstStyle/>
                    <a:p>
                      <a:r>
                        <a:rPr lang="en-US" sz="2600" dirty="0"/>
                        <a:t>Services by an arbitral tribunal </a:t>
                      </a:r>
                    </a:p>
                  </a:txBody>
                  <a:tcPr/>
                </a:tc>
                <a:extLst>
                  <a:ext uri="{0D108BD9-81ED-4DB2-BD59-A6C34878D82A}">
                    <a16:rowId xmlns:a16="http://schemas.microsoft.com/office/drawing/2014/main" val="381803953"/>
                  </a:ext>
                </a:extLst>
              </a:tr>
              <a:tr h="370840">
                <a:tc>
                  <a:txBody>
                    <a:bodyPr/>
                    <a:lstStyle/>
                    <a:p>
                      <a:r>
                        <a:rPr lang="en-IN" sz="2600" dirty="0"/>
                        <a:t>4</a:t>
                      </a:r>
                      <a:endParaRPr lang="en-US" sz="2600" dirty="0"/>
                    </a:p>
                  </a:txBody>
                  <a:tcPr/>
                </a:tc>
                <a:tc>
                  <a:txBody>
                    <a:bodyPr/>
                    <a:lstStyle/>
                    <a:p>
                      <a:r>
                        <a:rPr lang="en-US" sz="2600" dirty="0"/>
                        <a:t>Sponsorship services</a:t>
                      </a:r>
                    </a:p>
                  </a:txBody>
                  <a:tcPr/>
                </a:tc>
                <a:extLst>
                  <a:ext uri="{0D108BD9-81ED-4DB2-BD59-A6C34878D82A}">
                    <a16:rowId xmlns:a16="http://schemas.microsoft.com/office/drawing/2014/main" val="2938996642"/>
                  </a:ext>
                </a:extLst>
              </a:tr>
              <a:tr h="370840">
                <a:tc>
                  <a:txBody>
                    <a:bodyPr/>
                    <a:lstStyle/>
                    <a:p>
                      <a:r>
                        <a:rPr lang="en-IN" sz="2600" dirty="0"/>
                        <a:t>5</a:t>
                      </a:r>
                      <a:endParaRPr lang="en-US" sz="2600" dirty="0"/>
                    </a:p>
                  </a:txBody>
                  <a:tcPr/>
                </a:tc>
                <a:tc>
                  <a:txBody>
                    <a:bodyPr/>
                    <a:lstStyle/>
                    <a:p>
                      <a:r>
                        <a:rPr lang="en-US" sz="2600" dirty="0"/>
                        <a:t>Services by CG/SG/UT/LA excluding,</a:t>
                      </a:r>
                    </a:p>
                    <a:p>
                      <a:pPr marL="285750" indent="-285750">
                        <a:buFont typeface="Arial" panose="020B0604020202020204" pitchFamily="34" charset="0"/>
                        <a:buChar char="•"/>
                      </a:pPr>
                      <a:r>
                        <a:rPr lang="en-US" sz="2600" dirty="0"/>
                        <a:t>Renting of immovable property service, and</a:t>
                      </a:r>
                    </a:p>
                    <a:p>
                      <a:pPr marL="285750" indent="-285750">
                        <a:buFont typeface="Arial" panose="020B0604020202020204" pitchFamily="34" charset="0"/>
                        <a:buChar char="•"/>
                      </a:pPr>
                      <a:r>
                        <a:rPr lang="en-US" sz="2600" dirty="0"/>
                        <a:t>(</a:t>
                      </a:r>
                      <a:r>
                        <a:rPr lang="en-US" sz="2600" dirty="0" err="1"/>
                        <a:t>i</a:t>
                      </a:r>
                      <a:r>
                        <a:rPr lang="en-US" sz="2600" dirty="0"/>
                        <a:t>) Services by Department of Posts/ Ministry of Railways </a:t>
                      </a:r>
                    </a:p>
                    <a:p>
                      <a:pPr marL="285750" indent="-285750">
                        <a:buFont typeface="Arial" panose="020B0604020202020204" pitchFamily="34" charset="0"/>
                        <a:buChar char="•"/>
                      </a:pPr>
                      <a:r>
                        <a:rPr lang="en-US" sz="2600" dirty="0"/>
                        <a:t>(ii) Services in relation to aircraft/vessel; </a:t>
                      </a:r>
                    </a:p>
                    <a:p>
                      <a:pPr marL="285750" indent="-285750">
                        <a:buFont typeface="Arial" panose="020B0604020202020204" pitchFamily="34" charset="0"/>
                        <a:buChar char="•"/>
                      </a:pPr>
                      <a:r>
                        <a:rPr lang="en-US" sz="2600" dirty="0"/>
                        <a:t>(iii) Transport of goods/passengers</a:t>
                      </a:r>
                    </a:p>
                  </a:txBody>
                  <a:tcPr/>
                </a:tc>
                <a:extLst>
                  <a:ext uri="{0D108BD9-81ED-4DB2-BD59-A6C34878D82A}">
                    <a16:rowId xmlns:a16="http://schemas.microsoft.com/office/drawing/2014/main" val="3921266809"/>
                  </a:ext>
                </a:extLst>
              </a:tr>
            </a:tbl>
          </a:graphicData>
        </a:graphic>
      </p:graphicFrame>
    </p:spTree>
    <p:extLst>
      <p:ext uri="{BB962C8B-B14F-4D97-AF65-F5344CB8AC3E}">
        <p14:creationId xmlns:p14="http://schemas.microsoft.com/office/powerpoint/2010/main" val="134787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3AF53-C7BB-4730-BC85-1D9E5A146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EF1A6-9DB3-FBF8-A040-4CC47EBF46CD}"/>
              </a:ext>
            </a:extLst>
          </p:cNvPr>
          <p:cNvSpPr>
            <a:spLocks noGrp="1"/>
          </p:cNvSpPr>
          <p:nvPr>
            <p:ph type="title"/>
          </p:nvPr>
        </p:nvSpPr>
        <p:spPr/>
        <p:txBody>
          <a:bodyPr/>
          <a:lstStyle/>
          <a:p>
            <a:r>
              <a:rPr lang="en-US" dirty="0"/>
              <a:t>Services on which tax is payable under reverse charge</a:t>
            </a:r>
            <a:endParaRPr lang="en-IN" dirty="0"/>
          </a:p>
        </p:txBody>
      </p:sp>
      <p:graphicFrame>
        <p:nvGraphicFramePr>
          <p:cNvPr id="5" name="Content Placeholder 4">
            <a:extLst>
              <a:ext uri="{FF2B5EF4-FFF2-40B4-BE49-F238E27FC236}">
                <a16:creationId xmlns:a16="http://schemas.microsoft.com/office/drawing/2014/main" id="{13B0A1A2-9FB7-70DE-6500-9EFBC0B8BEB1}"/>
              </a:ext>
            </a:extLst>
          </p:cNvPr>
          <p:cNvGraphicFramePr>
            <a:graphicFrameLocks noGrp="1"/>
          </p:cNvGraphicFramePr>
          <p:nvPr>
            <p:ph idx="1"/>
            <p:extLst>
              <p:ext uri="{D42A27DB-BD31-4B8C-83A1-F6EECF244321}">
                <p14:modId xmlns:p14="http://schemas.microsoft.com/office/powerpoint/2010/main" val="1526385923"/>
              </p:ext>
            </p:extLst>
          </p:nvPr>
        </p:nvGraphicFramePr>
        <p:xfrm>
          <a:off x="131763" y="863600"/>
          <a:ext cx="11928474" cy="4693920"/>
        </p:xfrm>
        <a:graphic>
          <a:graphicData uri="http://schemas.openxmlformats.org/drawingml/2006/table">
            <a:tbl>
              <a:tblPr firstRow="1" bandRow="1">
                <a:tableStyleId>{F5AB1C69-6EDB-4FF4-983F-18BD219EF322}</a:tableStyleId>
              </a:tblPr>
              <a:tblGrid>
                <a:gridCol w="1572750">
                  <a:extLst>
                    <a:ext uri="{9D8B030D-6E8A-4147-A177-3AD203B41FA5}">
                      <a16:colId xmlns:a16="http://schemas.microsoft.com/office/drawing/2014/main" val="3211049691"/>
                    </a:ext>
                  </a:extLst>
                </a:gridCol>
                <a:gridCol w="10355724">
                  <a:extLst>
                    <a:ext uri="{9D8B030D-6E8A-4147-A177-3AD203B41FA5}">
                      <a16:colId xmlns:a16="http://schemas.microsoft.com/office/drawing/2014/main" val="331687344"/>
                    </a:ext>
                  </a:extLst>
                </a:gridCol>
              </a:tblGrid>
              <a:tr h="370840">
                <a:tc>
                  <a:txBody>
                    <a:bodyPr/>
                    <a:lstStyle/>
                    <a:p>
                      <a:pPr algn="ctr"/>
                      <a:r>
                        <a:rPr lang="en-IN" sz="2600" dirty="0"/>
                        <a:t>Sr No.</a:t>
                      </a:r>
                      <a:endParaRPr lang="en-US" sz="2600" dirty="0"/>
                    </a:p>
                  </a:txBody>
                  <a:tcPr/>
                </a:tc>
                <a:tc>
                  <a:txBody>
                    <a:bodyPr/>
                    <a:lstStyle/>
                    <a:p>
                      <a:pPr algn="ctr"/>
                      <a:r>
                        <a:rPr lang="en-US" sz="2600" dirty="0"/>
                        <a:t>Category of supply of Services</a:t>
                      </a:r>
                    </a:p>
                  </a:txBody>
                  <a:tcPr/>
                </a:tc>
                <a:extLst>
                  <a:ext uri="{0D108BD9-81ED-4DB2-BD59-A6C34878D82A}">
                    <a16:rowId xmlns:a16="http://schemas.microsoft.com/office/drawing/2014/main" val="2401122375"/>
                  </a:ext>
                </a:extLst>
              </a:tr>
              <a:tr h="370840">
                <a:tc>
                  <a:txBody>
                    <a:bodyPr/>
                    <a:lstStyle/>
                    <a:p>
                      <a:r>
                        <a:rPr lang="en-IN" sz="2600" dirty="0"/>
                        <a:t>5 (A)</a:t>
                      </a:r>
                      <a:endParaRPr lang="en-US" sz="2600" dirty="0"/>
                    </a:p>
                  </a:txBody>
                  <a:tcPr/>
                </a:tc>
                <a:tc>
                  <a:txBody>
                    <a:bodyPr/>
                    <a:lstStyle/>
                    <a:p>
                      <a:pPr marL="0" indent="0">
                        <a:buFont typeface="Arial" panose="020B0604020202020204" pitchFamily="34" charset="0"/>
                        <a:buNone/>
                      </a:pPr>
                      <a:r>
                        <a:rPr lang="en-US" sz="2600" dirty="0"/>
                        <a:t>Renting of immovable property service</a:t>
                      </a:r>
                    </a:p>
                  </a:txBody>
                  <a:tcPr/>
                </a:tc>
                <a:extLst>
                  <a:ext uri="{0D108BD9-81ED-4DB2-BD59-A6C34878D82A}">
                    <a16:rowId xmlns:a16="http://schemas.microsoft.com/office/drawing/2014/main" val="6563421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5 (AA)</a:t>
                      </a:r>
                      <a:endParaRPr lang="en-US" sz="2600" dirty="0"/>
                    </a:p>
                  </a:txBody>
                  <a:tcPr/>
                </a:tc>
                <a:tc>
                  <a:txBody>
                    <a:bodyPr/>
                    <a:lstStyle/>
                    <a:p>
                      <a:pPr marL="0" indent="0">
                        <a:buFont typeface="Arial" panose="020B0604020202020204" pitchFamily="34" charset="0"/>
                        <a:buNone/>
                      </a:pPr>
                      <a:r>
                        <a:rPr lang="en-US" sz="2600" dirty="0"/>
                        <a:t>Renting of residential dwelling service</a:t>
                      </a:r>
                    </a:p>
                  </a:txBody>
                  <a:tcPr/>
                </a:tc>
                <a:extLst>
                  <a:ext uri="{0D108BD9-81ED-4DB2-BD59-A6C34878D82A}">
                    <a16:rowId xmlns:a16="http://schemas.microsoft.com/office/drawing/2014/main" val="8567171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5 (AB)</a:t>
                      </a:r>
                      <a:endParaRPr lang="en-US" sz="2600" dirty="0"/>
                    </a:p>
                  </a:txBody>
                  <a:tcPr/>
                </a:tc>
                <a:tc>
                  <a:txBody>
                    <a:bodyPr/>
                    <a:lstStyle/>
                    <a:p>
                      <a:pPr marL="0" indent="0">
                        <a:buFont typeface="Arial" panose="020B0604020202020204" pitchFamily="34" charset="0"/>
                        <a:buNone/>
                      </a:pPr>
                      <a:r>
                        <a:rPr lang="en-US" sz="2600" dirty="0"/>
                        <a:t>Renting of any immovable property other than residential dwelling</a:t>
                      </a:r>
                    </a:p>
                  </a:txBody>
                  <a:tcPr/>
                </a:tc>
                <a:extLst>
                  <a:ext uri="{0D108BD9-81ED-4DB2-BD59-A6C34878D82A}">
                    <a16:rowId xmlns:a16="http://schemas.microsoft.com/office/drawing/2014/main" val="42800953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6</a:t>
                      </a:r>
                      <a:endParaRPr lang="en-US" sz="2600" dirty="0"/>
                    </a:p>
                  </a:txBody>
                  <a:tcPr/>
                </a:tc>
                <a:tc>
                  <a:txBody>
                    <a:bodyPr/>
                    <a:lstStyle/>
                    <a:p>
                      <a:pPr marL="0" indent="0">
                        <a:buFont typeface="Arial" panose="020B0604020202020204" pitchFamily="34" charset="0"/>
                        <a:buNone/>
                      </a:pPr>
                      <a:r>
                        <a:rPr lang="en-US" sz="2600" dirty="0"/>
                        <a:t>Services by a director of a company/ body corporate </a:t>
                      </a:r>
                    </a:p>
                  </a:txBody>
                  <a:tcPr/>
                </a:tc>
                <a:extLst>
                  <a:ext uri="{0D108BD9-81ED-4DB2-BD59-A6C34878D82A}">
                    <a16:rowId xmlns:a16="http://schemas.microsoft.com/office/drawing/2014/main" val="12374367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7</a:t>
                      </a:r>
                      <a:endParaRPr lang="en-US" sz="2600" dirty="0"/>
                    </a:p>
                  </a:txBody>
                  <a:tcPr/>
                </a:tc>
                <a:tc>
                  <a:txBody>
                    <a:bodyPr/>
                    <a:lstStyle/>
                    <a:p>
                      <a:pPr marL="0" indent="0">
                        <a:buFont typeface="Arial" panose="020B0604020202020204" pitchFamily="34" charset="0"/>
                        <a:buNone/>
                      </a:pPr>
                      <a:r>
                        <a:rPr lang="en-US" sz="2600" dirty="0"/>
                        <a:t>Services supplied by an insurance agent</a:t>
                      </a:r>
                    </a:p>
                  </a:txBody>
                  <a:tcPr/>
                </a:tc>
                <a:extLst>
                  <a:ext uri="{0D108BD9-81ED-4DB2-BD59-A6C34878D82A}">
                    <a16:rowId xmlns:a16="http://schemas.microsoft.com/office/drawing/2014/main" val="2831986050"/>
                  </a:ext>
                </a:extLst>
              </a:tr>
              <a:tr h="370840">
                <a:tc>
                  <a:txBody>
                    <a:bodyPr/>
                    <a:lstStyle/>
                    <a:p>
                      <a:r>
                        <a:rPr lang="en-IN" sz="2600" dirty="0"/>
                        <a:t>8</a:t>
                      </a:r>
                    </a:p>
                  </a:txBody>
                  <a:tcPr/>
                </a:tc>
                <a:tc>
                  <a:txBody>
                    <a:bodyPr/>
                    <a:lstStyle/>
                    <a:p>
                      <a:r>
                        <a:rPr lang="en-US" sz="2600" dirty="0"/>
                        <a:t>Services supplied by a recovery agent </a:t>
                      </a:r>
                    </a:p>
                  </a:txBody>
                  <a:tcPr/>
                </a:tc>
                <a:extLst>
                  <a:ext uri="{0D108BD9-81ED-4DB2-BD59-A6C34878D82A}">
                    <a16:rowId xmlns:a16="http://schemas.microsoft.com/office/drawing/2014/main" val="636254482"/>
                  </a:ext>
                </a:extLst>
              </a:tr>
              <a:tr h="370840">
                <a:tc>
                  <a:txBody>
                    <a:bodyPr/>
                    <a:lstStyle/>
                    <a:p>
                      <a:r>
                        <a:rPr lang="en-IN" sz="2600" dirty="0"/>
                        <a:t>9</a:t>
                      </a:r>
                      <a:endParaRPr lang="en-US" sz="2600" dirty="0"/>
                    </a:p>
                  </a:txBody>
                  <a:tcPr/>
                </a:tc>
                <a:tc>
                  <a:txBody>
                    <a:bodyPr/>
                    <a:lstStyle/>
                    <a:p>
                      <a:r>
                        <a:rPr lang="en-US" sz="2600" dirty="0"/>
                        <a:t>Services of transfer or permitting the use or enjoyment of a copyright covered under section 13(1)(a) of the Copyright Act, 1957 relating to original dramatic, musical or artistic works</a:t>
                      </a:r>
                    </a:p>
                  </a:txBody>
                  <a:tcPr/>
                </a:tc>
                <a:extLst>
                  <a:ext uri="{0D108BD9-81ED-4DB2-BD59-A6C34878D82A}">
                    <a16:rowId xmlns:a16="http://schemas.microsoft.com/office/drawing/2014/main" val="1910174784"/>
                  </a:ext>
                </a:extLst>
              </a:tr>
            </a:tbl>
          </a:graphicData>
        </a:graphic>
      </p:graphicFrame>
    </p:spTree>
    <p:extLst>
      <p:ext uri="{BB962C8B-B14F-4D97-AF65-F5344CB8AC3E}">
        <p14:creationId xmlns:p14="http://schemas.microsoft.com/office/powerpoint/2010/main" val="9186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D939C-BF77-CB80-B769-6C3C01A39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7EC45-6E99-4797-C912-D25A602B16F7}"/>
              </a:ext>
            </a:extLst>
          </p:cNvPr>
          <p:cNvSpPr>
            <a:spLocks noGrp="1"/>
          </p:cNvSpPr>
          <p:nvPr>
            <p:ph type="title"/>
          </p:nvPr>
        </p:nvSpPr>
        <p:spPr/>
        <p:txBody>
          <a:bodyPr/>
          <a:lstStyle/>
          <a:p>
            <a:r>
              <a:rPr lang="en-US" dirty="0"/>
              <a:t>Services on which tax is payable under reverse charge</a:t>
            </a:r>
            <a:endParaRPr lang="en-IN" dirty="0"/>
          </a:p>
        </p:txBody>
      </p:sp>
      <p:graphicFrame>
        <p:nvGraphicFramePr>
          <p:cNvPr id="5" name="Content Placeholder 4">
            <a:extLst>
              <a:ext uri="{FF2B5EF4-FFF2-40B4-BE49-F238E27FC236}">
                <a16:creationId xmlns:a16="http://schemas.microsoft.com/office/drawing/2014/main" id="{2CF94220-8762-D41C-E2D4-B29384AD1BE8}"/>
              </a:ext>
            </a:extLst>
          </p:cNvPr>
          <p:cNvGraphicFramePr>
            <a:graphicFrameLocks noGrp="1"/>
          </p:cNvGraphicFramePr>
          <p:nvPr>
            <p:ph idx="1"/>
            <p:extLst>
              <p:ext uri="{D42A27DB-BD31-4B8C-83A1-F6EECF244321}">
                <p14:modId xmlns:p14="http://schemas.microsoft.com/office/powerpoint/2010/main" val="1877930766"/>
              </p:ext>
            </p:extLst>
          </p:nvPr>
        </p:nvGraphicFramePr>
        <p:xfrm>
          <a:off x="131763" y="838200"/>
          <a:ext cx="11928474" cy="5181600"/>
        </p:xfrm>
        <a:graphic>
          <a:graphicData uri="http://schemas.openxmlformats.org/drawingml/2006/table">
            <a:tbl>
              <a:tblPr firstRow="1" bandRow="1">
                <a:tableStyleId>{F5AB1C69-6EDB-4FF4-983F-18BD219EF322}</a:tableStyleId>
              </a:tblPr>
              <a:tblGrid>
                <a:gridCol w="1572750">
                  <a:extLst>
                    <a:ext uri="{9D8B030D-6E8A-4147-A177-3AD203B41FA5}">
                      <a16:colId xmlns:a16="http://schemas.microsoft.com/office/drawing/2014/main" val="3211049691"/>
                    </a:ext>
                  </a:extLst>
                </a:gridCol>
                <a:gridCol w="10355724">
                  <a:extLst>
                    <a:ext uri="{9D8B030D-6E8A-4147-A177-3AD203B41FA5}">
                      <a16:colId xmlns:a16="http://schemas.microsoft.com/office/drawing/2014/main" val="331687344"/>
                    </a:ext>
                  </a:extLst>
                </a:gridCol>
              </a:tblGrid>
              <a:tr h="370840">
                <a:tc>
                  <a:txBody>
                    <a:bodyPr/>
                    <a:lstStyle/>
                    <a:p>
                      <a:pPr algn="ctr"/>
                      <a:r>
                        <a:rPr lang="en-IN" sz="2600" dirty="0"/>
                        <a:t>Sr No.</a:t>
                      </a:r>
                      <a:endParaRPr lang="en-US" sz="2600" dirty="0"/>
                    </a:p>
                  </a:txBody>
                  <a:tcPr/>
                </a:tc>
                <a:tc>
                  <a:txBody>
                    <a:bodyPr/>
                    <a:lstStyle/>
                    <a:p>
                      <a:pPr algn="ctr"/>
                      <a:r>
                        <a:rPr lang="en-US" sz="2600" dirty="0"/>
                        <a:t>Category of supply of Services</a:t>
                      </a:r>
                    </a:p>
                  </a:txBody>
                  <a:tcPr/>
                </a:tc>
                <a:extLst>
                  <a:ext uri="{0D108BD9-81ED-4DB2-BD59-A6C34878D82A}">
                    <a16:rowId xmlns:a16="http://schemas.microsoft.com/office/drawing/2014/main" val="2401122375"/>
                  </a:ext>
                </a:extLst>
              </a:tr>
              <a:tr h="370840">
                <a:tc>
                  <a:txBody>
                    <a:bodyPr/>
                    <a:lstStyle/>
                    <a:p>
                      <a:r>
                        <a:rPr lang="en-IN" sz="2600" dirty="0"/>
                        <a:t>9A.</a:t>
                      </a:r>
                      <a:endParaRPr lang="en-US" sz="2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600" dirty="0"/>
                        <a:t>Services of </a:t>
                      </a:r>
                      <a:r>
                        <a:rPr lang="en-US" sz="2600" kern="1200" dirty="0">
                          <a:solidFill>
                            <a:schemeClr val="dk1"/>
                          </a:solidFill>
                          <a:latin typeface="+mn-lt"/>
                          <a:ea typeface="+mn-ea"/>
                          <a:cs typeface="+mn-cs"/>
                        </a:rPr>
                        <a:t>copyright relating to original literary works</a:t>
                      </a:r>
                    </a:p>
                  </a:txBody>
                  <a:tcPr/>
                </a:tc>
                <a:extLst>
                  <a:ext uri="{0D108BD9-81ED-4DB2-BD59-A6C34878D82A}">
                    <a16:rowId xmlns:a16="http://schemas.microsoft.com/office/drawing/2014/main" val="2938996642"/>
                  </a:ext>
                </a:extLst>
              </a:tr>
              <a:tr h="370840">
                <a:tc>
                  <a:txBody>
                    <a:bodyPr/>
                    <a:lstStyle/>
                    <a:p>
                      <a:r>
                        <a:rPr lang="en-IN" sz="2600" dirty="0"/>
                        <a:t>10</a:t>
                      </a:r>
                      <a:endParaRPr lang="en-US" sz="2600" dirty="0"/>
                    </a:p>
                  </a:txBody>
                  <a:tcPr/>
                </a:tc>
                <a:tc>
                  <a:txBody>
                    <a:bodyPr/>
                    <a:lstStyle/>
                    <a:p>
                      <a:r>
                        <a:rPr lang="en-US" sz="2600" dirty="0"/>
                        <a:t>Supply of services by the members of Overseeing Committee </a:t>
                      </a:r>
                    </a:p>
                  </a:txBody>
                  <a:tcPr/>
                </a:tc>
                <a:extLst>
                  <a:ext uri="{0D108BD9-81ED-4DB2-BD59-A6C34878D82A}">
                    <a16:rowId xmlns:a16="http://schemas.microsoft.com/office/drawing/2014/main" val="3921266809"/>
                  </a:ext>
                </a:extLst>
              </a:tr>
              <a:tr h="370840">
                <a:tc>
                  <a:txBody>
                    <a:bodyPr/>
                    <a:lstStyle/>
                    <a:p>
                      <a:r>
                        <a:rPr lang="en-IN" sz="2600" dirty="0"/>
                        <a:t>11</a:t>
                      </a:r>
                      <a:endParaRPr lang="en-US" sz="2600" dirty="0"/>
                    </a:p>
                  </a:txBody>
                  <a:tcPr/>
                </a:tc>
                <a:tc>
                  <a:txBody>
                    <a:bodyPr/>
                    <a:lstStyle/>
                    <a:p>
                      <a:pPr marL="0" indent="0">
                        <a:buFont typeface="Arial" panose="020B0604020202020204" pitchFamily="34" charset="0"/>
                        <a:buNone/>
                      </a:pPr>
                      <a:r>
                        <a:rPr lang="en-US" sz="2600" dirty="0"/>
                        <a:t>Services supplied by individual Direct Selling Agents (DSAs) </a:t>
                      </a:r>
                    </a:p>
                  </a:txBody>
                  <a:tcPr/>
                </a:tc>
                <a:extLst>
                  <a:ext uri="{0D108BD9-81ED-4DB2-BD59-A6C34878D82A}">
                    <a16:rowId xmlns:a16="http://schemas.microsoft.com/office/drawing/2014/main" val="6563421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12</a:t>
                      </a:r>
                      <a:endParaRPr lang="en-US" sz="2600" dirty="0"/>
                    </a:p>
                  </a:txBody>
                  <a:tcPr/>
                </a:tc>
                <a:tc>
                  <a:txBody>
                    <a:bodyPr/>
                    <a:lstStyle/>
                    <a:p>
                      <a:pPr marL="0" indent="0">
                        <a:buFont typeface="Arial" panose="020B0604020202020204" pitchFamily="34" charset="0"/>
                        <a:buNone/>
                      </a:pPr>
                      <a:r>
                        <a:rPr lang="en-US" sz="2600" dirty="0"/>
                        <a:t>Services by business facilitator</a:t>
                      </a:r>
                    </a:p>
                  </a:txBody>
                  <a:tcPr/>
                </a:tc>
                <a:extLst>
                  <a:ext uri="{0D108BD9-81ED-4DB2-BD59-A6C34878D82A}">
                    <a16:rowId xmlns:a16="http://schemas.microsoft.com/office/drawing/2014/main" val="8567171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13</a:t>
                      </a:r>
                      <a:endParaRPr lang="en-US" sz="2600" dirty="0"/>
                    </a:p>
                  </a:txBody>
                  <a:tcPr/>
                </a:tc>
                <a:tc>
                  <a:txBody>
                    <a:bodyPr/>
                    <a:lstStyle/>
                    <a:p>
                      <a:pPr marL="0" indent="0">
                        <a:buFont typeface="Arial" panose="020B0604020202020204" pitchFamily="34" charset="0"/>
                        <a:buNone/>
                      </a:pPr>
                      <a:r>
                        <a:rPr lang="en-US" sz="2600" dirty="0"/>
                        <a:t>Services provided by an agent of business correspondent </a:t>
                      </a:r>
                    </a:p>
                  </a:txBody>
                  <a:tcPr/>
                </a:tc>
                <a:extLst>
                  <a:ext uri="{0D108BD9-81ED-4DB2-BD59-A6C34878D82A}">
                    <a16:rowId xmlns:a16="http://schemas.microsoft.com/office/drawing/2014/main" val="42800953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14</a:t>
                      </a:r>
                      <a:endParaRPr lang="en-US" sz="2600" dirty="0"/>
                    </a:p>
                  </a:txBody>
                  <a:tcPr/>
                </a:tc>
                <a:tc>
                  <a:txBody>
                    <a:bodyPr/>
                    <a:lstStyle/>
                    <a:p>
                      <a:pPr marL="0" indent="0">
                        <a:buFont typeface="Arial" panose="020B0604020202020204" pitchFamily="34" charset="0"/>
                        <a:buNone/>
                      </a:pPr>
                      <a:r>
                        <a:rPr lang="en-US" sz="2600" dirty="0"/>
                        <a:t>Security services</a:t>
                      </a:r>
                    </a:p>
                  </a:txBody>
                  <a:tcPr/>
                </a:tc>
                <a:extLst>
                  <a:ext uri="{0D108BD9-81ED-4DB2-BD59-A6C34878D82A}">
                    <a16:rowId xmlns:a16="http://schemas.microsoft.com/office/drawing/2014/main" val="12374367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15</a:t>
                      </a:r>
                      <a:endParaRPr lang="en-US" sz="2600" dirty="0"/>
                    </a:p>
                  </a:txBody>
                  <a:tcPr/>
                </a:tc>
                <a:tc>
                  <a:txBody>
                    <a:bodyPr/>
                    <a:lstStyle/>
                    <a:p>
                      <a:pPr marL="285750" indent="-285750">
                        <a:buFont typeface="Arial" panose="020B0604020202020204" pitchFamily="34" charset="0"/>
                        <a:buChar char="•"/>
                      </a:pPr>
                      <a:r>
                        <a:rPr lang="en-US" sz="2600" dirty="0"/>
                        <a:t>Renting of motor vehicle service </a:t>
                      </a:r>
                    </a:p>
                    <a:p>
                      <a:pPr marL="285750" indent="-285750">
                        <a:buFont typeface="Arial" panose="020B0604020202020204" pitchFamily="34" charset="0"/>
                        <a:buChar char="•"/>
                      </a:pPr>
                      <a:r>
                        <a:rPr lang="en-US" sz="2600" dirty="0"/>
                        <a:t>Vehicle designed to carry passengers </a:t>
                      </a:r>
                    </a:p>
                    <a:p>
                      <a:pPr marL="285750" indent="-285750">
                        <a:buFont typeface="Arial" panose="020B0604020202020204" pitchFamily="34" charset="0"/>
                        <a:buChar char="•"/>
                      </a:pPr>
                      <a:r>
                        <a:rPr lang="en-US" sz="2600" dirty="0"/>
                        <a:t>Cost of fuel is included in consideration charged from recipient</a:t>
                      </a:r>
                    </a:p>
                  </a:txBody>
                  <a:tcPr/>
                </a:tc>
                <a:extLst>
                  <a:ext uri="{0D108BD9-81ED-4DB2-BD59-A6C34878D82A}">
                    <a16:rowId xmlns:a16="http://schemas.microsoft.com/office/drawing/2014/main" val="28319860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dirty="0"/>
                        <a:t>16</a:t>
                      </a:r>
                      <a:endParaRPr lang="en-US" sz="2600" dirty="0"/>
                    </a:p>
                  </a:txBody>
                  <a:tcPr/>
                </a:tc>
                <a:tc>
                  <a:txBody>
                    <a:bodyPr/>
                    <a:lstStyle/>
                    <a:p>
                      <a:pPr marL="0" indent="0">
                        <a:buFont typeface="Arial" panose="020B0604020202020204" pitchFamily="34" charset="0"/>
                        <a:buNone/>
                      </a:pPr>
                      <a:r>
                        <a:rPr lang="en-US" sz="2600" dirty="0"/>
                        <a:t>Services of lending of securities under Securities Lending Scheme, 1997</a:t>
                      </a:r>
                    </a:p>
                  </a:txBody>
                  <a:tcPr/>
                </a:tc>
                <a:extLst>
                  <a:ext uri="{0D108BD9-81ED-4DB2-BD59-A6C34878D82A}">
                    <a16:rowId xmlns:a16="http://schemas.microsoft.com/office/drawing/2014/main" val="213926844"/>
                  </a:ext>
                </a:extLst>
              </a:tr>
            </a:tbl>
          </a:graphicData>
        </a:graphic>
      </p:graphicFrame>
    </p:spTree>
    <p:extLst>
      <p:ext uri="{BB962C8B-B14F-4D97-AF65-F5344CB8AC3E}">
        <p14:creationId xmlns:p14="http://schemas.microsoft.com/office/powerpoint/2010/main" val="111210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097F9-8626-B446-14AD-AF40B94F2B59}"/>
            </a:ext>
          </a:extLst>
        </p:cNvPr>
        <p:cNvGrpSpPr/>
        <p:nvPr/>
      </p:nvGrpSpPr>
      <p:grpSpPr>
        <a:xfrm>
          <a:off x="0" y="0"/>
          <a:ext cx="0" cy="0"/>
          <a:chOff x="0" y="0"/>
          <a:chExt cx="0" cy="0"/>
        </a:xfrm>
      </p:grpSpPr>
      <p:graphicFrame>
        <p:nvGraphicFramePr>
          <p:cNvPr id="14" name="Diagram 13">
            <a:extLst>
              <a:ext uri="{FF2B5EF4-FFF2-40B4-BE49-F238E27FC236}">
                <a16:creationId xmlns:a16="http://schemas.microsoft.com/office/drawing/2014/main" id="{4A763B87-0E57-21DE-AAF9-223B70A4BF7B}"/>
              </a:ext>
            </a:extLst>
          </p:cNvPr>
          <p:cNvGraphicFramePr/>
          <p:nvPr>
            <p:extLst>
              <p:ext uri="{D42A27DB-BD31-4B8C-83A1-F6EECF244321}">
                <p14:modId xmlns:p14="http://schemas.microsoft.com/office/powerpoint/2010/main" val="3901889676"/>
              </p:ext>
            </p:extLst>
          </p:nvPr>
        </p:nvGraphicFramePr>
        <p:xfrm>
          <a:off x="653988" y="956568"/>
          <a:ext cx="10884023" cy="43056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968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557F3-CBC4-8817-E79A-444CA5258915}"/>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ECCA8CB-1CE7-EA76-5379-84DB3E9A1CE6}"/>
              </a:ext>
            </a:extLst>
          </p:cNvPr>
          <p:cNvGraphicFramePr>
            <a:graphicFrameLocks noGrp="1"/>
          </p:cNvGraphicFramePr>
          <p:nvPr>
            <p:ph idx="4294967295"/>
            <p:extLst>
              <p:ext uri="{D42A27DB-BD31-4B8C-83A1-F6EECF244321}">
                <p14:modId xmlns:p14="http://schemas.microsoft.com/office/powerpoint/2010/main" val="4216087178"/>
              </p:ext>
            </p:extLst>
          </p:nvPr>
        </p:nvGraphicFramePr>
        <p:xfrm>
          <a:off x="130968" y="0"/>
          <a:ext cx="11930063" cy="5086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7029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AB06B-9F82-0529-5CAF-84AA5137B7DB}"/>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07C110B-065C-4C32-164F-37B62EAF7D8B}"/>
              </a:ext>
            </a:extLst>
          </p:cNvPr>
          <p:cNvGraphicFramePr>
            <a:graphicFrameLocks noGrp="1"/>
          </p:cNvGraphicFramePr>
          <p:nvPr>
            <p:ph idx="4294967295"/>
            <p:extLst>
              <p:ext uri="{D42A27DB-BD31-4B8C-83A1-F6EECF244321}">
                <p14:modId xmlns:p14="http://schemas.microsoft.com/office/powerpoint/2010/main" val="3415644385"/>
              </p:ext>
            </p:extLst>
          </p:nvPr>
        </p:nvGraphicFramePr>
        <p:xfrm>
          <a:off x="544511" y="481184"/>
          <a:ext cx="11102975" cy="49355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363B000-279F-DEC7-2E28-E6D5A5378070}"/>
              </a:ext>
            </a:extLst>
          </p:cNvPr>
          <p:cNvSpPr txBox="1"/>
          <p:nvPr/>
        </p:nvSpPr>
        <p:spPr>
          <a:xfrm>
            <a:off x="2742088" y="245900"/>
            <a:ext cx="6707819" cy="646331"/>
          </a:xfrm>
          <a:prstGeom prst="rect">
            <a:avLst/>
          </a:prstGeom>
          <a:noFill/>
        </p:spPr>
        <p:txBody>
          <a:bodyPr wrap="square">
            <a:spAutoFit/>
          </a:bodyPr>
          <a:lstStyle/>
          <a:p>
            <a:r>
              <a:rPr lang="en-US" sz="3600" b="1" u="sng" dirty="0"/>
              <a:t>Turnover limit for composition levy</a:t>
            </a:r>
          </a:p>
        </p:txBody>
      </p:sp>
    </p:spTree>
    <p:extLst>
      <p:ext uri="{BB962C8B-B14F-4D97-AF65-F5344CB8AC3E}">
        <p14:creationId xmlns:p14="http://schemas.microsoft.com/office/powerpoint/2010/main" val="2473254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00430E-8A50-878D-6D70-5B7D38427FEB}"/>
              </a:ext>
            </a:extLst>
          </p:cNvPr>
          <p:cNvSpPr>
            <a:spLocks noGrp="1"/>
          </p:cNvSpPr>
          <p:nvPr>
            <p:ph type="title" idx="4294967295"/>
          </p:nvPr>
        </p:nvSpPr>
        <p:spPr>
          <a:xfrm>
            <a:off x="838200" y="162724"/>
            <a:ext cx="10515600" cy="922338"/>
          </a:xfrm>
        </p:spPr>
        <p:txBody>
          <a:bodyPr/>
          <a:lstStyle/>
          <a:p>
            <a:pPr algn="ctr"/>
            <a:r>
              <a:rPr lang="en-US" u="sng" dirty="0"/>
              <a:t>Rates of tax</a:t>
            </a:r>
          </a:p>
        </p:txBody>
      </p:sp>
      <p:graphicFrame>
        <p:nvGraphicFramePr>
          <p:cNvPr id="7" name="Content Placeholder 6">
            <a:extLst>
              <a:ext uri="{FF2B5EF4-FFF2-40B4-BE49-F238E27FC236}">
                <a16:creationId xmlns:a16="http://schemas.microsoft.com/office/drawing/2014/main" id="{04AC7207-FB02-FC3D-5FCF-466B881F7859}"/>
              </a:ext>
            </a:extLst>
          </p:cNvPr>
          <p:cNvGraphicFramePr>
            <a:graphicFrameLocks noGrp="1"/>
          </p:cNvGraphicFramePr>
          <p:nvPr>
            <p:ph idx="4294967295"/>
            <p:extLst>
              <p:ext uri="{D42A27DB-BD31-4B8C-83A1-F6EECF244321}">
                <p14:modId xmlns:p14="http://schemas.microsoft.com/office/powerpoint/2010/main" val="807169544"/>
              </p:ext>
            </p:extLst>
          </p:nvPr>
        </p:nvGraphicFramePr>
        <p:xfrm>
          <a:off x="838200" y="1085062"/>
          <a:ext cx="10515600" cy="4687875"/>
        </p:xfrm>
        <a:graphic>
          <a:graphicData uri="http://schemas.openxmlformats.org/drawingml/2006/table">
            <a:tbl>
              <a:tblPr firstRow="1" bandRow="1">
                <a:tableStyleId>{00A15C55-8517-42AA-B614-E9B94910E393}</a:tableStyleId>
              </a:tblPr>
              <a:tblGrid>
                <a:gridCol w="3505200">
                  <a:extLst>
                    <a:ext uri="{9D8B030D-6E8A-4147-A177-3AD203B41FA5}">
                      <a16:colId xmlns:a16="http://schemas.microsoft.com/office/drawing/2014/main" val="3957130004"/>
                    </a:ext>
                  </a:extLst>
                </a:gridCol>
                <a:gridCol w="3505200">
                  <a:extLst>
                    <a:ext uri="{9D8B030D-6E8A-4147-A177-3AD203B41FA5}">
                      <a16:colId xmlns:a16="http://schemas.microsoft.com/office/drawing/2014/main" val="4291777041"/>
                    </a:ext>
                  </a:extLst>
                </a:gridCol>
                <a:gridCol w="3505200">
                  <a:extLst>
                    <a:ext uri="{9D8B030D-6E8A-4147-A177-3AD203B41FA5}">
                      <a16:colId xmlns:a16="http://schemas.microsoft.com/office/drawing/2014/main" val="3861422595"/>
                    </a:ext>
                  </a:extLst>
                </a:gridCol>
              </a:tblGrid>
              <a:tr h="546264">
                <a:tc>
                  <a:txBody>
                    <a:bodyPr/>
                    <a:lstStyle/>
                    <a:p>
                      <a:pPr algn="ctr"/>
                      <a:r>
                        <a:rPr lang="en-US" sz="2200" dirty="0"/>
                        <a:t>Composition scheme</a:t>
                      </a:r>
                    </a:p>
                  </a:txBody>
                  <a:tcPr>
                    <a:solidFill>
                      <a:schemeClr val="tx2"/>
                    </a:solidFill>
                  </a:tcPr>
                </a:tc>
                <a:tc>
                  <a:txBody>
                    <a:bodyPr/>
                    <a:lstStyle/>
                    <a:p>
                      <a:pPr algn="ctr"/>
                      <a:r>
                        <a:rPr lang="en-US" sz="2200" dirty="0"/>
                        <a:t>Category of registered persons</a:t>
                      </a:r>
                    </a:p>
                  </a:txBody>
                  <a:tcPr>
                    <a:solidFill>
                      <a:schemeClr val="tx2"/>
                    </a:solidFill>
                  </a:tcPr>
                </a:tc>
                <a:tc>
                  <a:txBody>
                    <a:bodyPr/>
                    <a:lstStyle/>
                    <a:p>
                      <a:pPr algn="ctr"/>
                      <a:r>
                        <a:rPr lang="en-US" sz="2200" dirty="0"/>
                        <a:t>Rate</a:t>
                      </a:r>
                    </a:p>
                  </a:txBody>
                  <a:tcPr>
                    <a:solidFill>
                      <a:schemeClr val="tx2"/>
                    </a:solidFill>
                  </a:tcPr>
                </a:tc>
                <a:extLst>
                  <a:ext uri="{0D108BD9-81ED-4DB2-BD59-A6C34878D82A}">
                    <a16:rowId xmlns:a16="http://schemas.microsoft.com/office/drawing/2014/main" val="4074172102"/>
                  </a:ext>
                </a:extLst>
              </a:tr>
              <a:tr h="942865">
                <a:tc rowSpan="3">
                  <a:txBody>
                    <a:bodyPr/>
                    <a:lstStyle/>
                    <a:p>
                      <a:pPr algn="ctr"/>
                      <a:r>
                        <a:rPr lang="en-US" sz="2200" dirty="0"/>
                        <a:t>For goods</a:t>
                      </a:r>
                    </a:p>
                  </a:txBody>
                  <a:tcPr anchor="ctr"/>
                </a:tc>
                <a:tc>
                  <a:txBody>
                    <a:bodyPr/>
                    <a:lstStyle/>
                    <a:p>
                      <a:pPr algn="ctr"/>
                      <a:r>
                        <a:rPr lang="en-US" sz="2200" dirty="0"/>
                        <a:t>Manufacturer</a:t>
                      </a:r>
                    </a:p>
                  </a:txBody>
                  <a:tcPr anchor="ctr"/>
                </a:tc>
                <a:tc>
                  <a:txBody>
                    <a:bodyPr/>
                    <a:lstStyle/>
                    <a:p>
                      <a:pPr algn="ctr"/>
                      <a:r>
                        <a:rPr lang="en-US" sz="2200" dirty="0"/>
                        <a:t>1% (½% CGST + ½% SGST/UTGST) of turnover</a:t>
                      </a:r>
                    </a:p>
                  </a:txBody>
                  <a:tcPr anchor="ctr"/>
                </a:tc>
                <a:extLst>
                  <a:ext uri="{0D108BD9-81ED-4DB2-BD59-A6C34878D82A}">
                    <a16:rowId xmlns:a16="http://schemas.microsoft.com/office/drawing/2014/main" val="1425703851"/>
                  </a:ext>
                </a:extLst>
              </a:tr>
              <a:tr h="942865">
                <a:tc vMerge="1">
                  <a:txBody>
                    <a:bodyPr/>
                    <a:lstStyle/>
                    <a:p>
                      <a:endParaRPr lang="en-US" dirty="0"/>
                    </a:p>
                  </a:txBody>
                  <a:tcPr/>
                </a:tc>
                <a:tc>
                  <a:txBody>
                    <a:bodyPr/>
                    <a:lstStyle/>
                    <a:p>
                      <a:pPr algn="ctr"/>
                      <a:r>
                        <a:rPr lang="en-US" sz="2200" dirty="0"/>
                        <a:t>Restaurant service providers</a:t>
                      </a:r>
                    </a:p>
                  </a:txBody>
                  <a:tcPr anchor="ctr"/>
                </a:tc>
                <a:tc>
                  <a:txBody>
                    <a:bodyPr/>
                    <a:lstStyle/>
                    <a:p>
                      <a:pPr algn="ctr"/>
                      <a:r>
                        <a:rPr lang="en-US" sz="2200" dirty="0"/>
                        <a:t>5% (2½% CGST + 2½% SGST/UTGST) of turnover</a:t>
                      </a:r>
                    </a:p>
                  </a:txBody>
                  <a:tcPr anchor="ctr"/>
                </a:tc>
                <a:extLst>
                  <a:ext uri="{0D108BD9-81ED-4DB2-BD59-A6C34878D82A}">
                    <a16:rowId xmlns:a16="http://schemas.microsoft.com/office/drawing/2014/main" val="1863375372"/>
                  </a:ext>
                </a:extLst>
              </a:tr>
              <a:tr h="942865">
                <a:tc vMerge="1">
                  <a:txBody>
                    <a:bodyPr/>
                    <a:lstStyle/>
                    <a:p>
                      <a:endParaRPr lang="en-US" dirty="0"/>
                    </a:p>
                  </a:txBody>
                  <a:tcPr/>
                </a:tc>
                <a:tc>
                  <a:txBody>
                    <a:bodyPr/>
                    <a:lstStyle/>
                    <a:p>
                      <a:pPr algn="ctr"/>
                      <a:r>
                        <a:rPr lang="en-US" sz="2200" dirty="0"/>
                        <a:t>Others</a:t>
                      </a:r>
                    </a:p>
                  </a:txBody>
                  <a:tcPr anchor="ctr"/>
                </a:tc>
                <a:tc>
                  <a:txBody>
                    <a:bodyPr/>
                    <a:lstStyle/>
                    <a:p>
                      <a:pPr algn="ctr"/>
                      <a:r>
                        <a:rPr lang="en-US" sz="2200" dirty="0"/>
                        <a:t>1% (½% CGST + ½% SGST/UTGST) of turnover of taxable supplies</a:t>
                      </a:r>
                    </a:p>
                  </a:txBody>
                  <a:tcPr anchor="ctr"/>
                </a:tc>
                <a:extLst>
                  <a:ext uri="{0D108BD9-81ED-4DB2-BD59-A6C34878D82A}">
                    <a16:rowId xmlns:a16="http://schemas.microsoft.com/office/drawing/2014/main" val="319462267"/>
                  </a:ext>
                </a:extLst>
              </a:tr>
              <a:tr h="942865">
                <a:tc>
                  <a:txBody>
                    <a:bodyPr/>
                    <a:lstStyle/>
                    <a:p>
                      <a:pPr algn="ctr"/>
                      <a:r>
                        <a:rPr lang="en-US" sz="2200" dirty="0"/>
                        <a:t>For services</a:t>
                      </a:r>
                    </a:p>
                  </a:txBody>
                  <a:tcPr anchor="ctr"/>
                </a:tc>
                <a:tc>
                  <a:txBody>
                    <a:bodyPr/>
                    <a:lstStyle/>
                    <a:p>
                      <a:pPr algn="ctr"/>
                      <a:r>
                        <a:rPr lang="en-US" sz="2200" dirty="0"/>
                        <a:t>All service providers except restaurant service providers</a:t>
                      </a:r>
                    </a:p>
                  </a:txBody>
                  <a:tcPr anchor="ctr"/>
                </a:tc>
                <a:tc>
                  <a:txBody>
                    <a:bodyPr/>
                    <a:lstStyle/>
                    <a:p>
                      <a:pPr algn="ctr"/>
                      <a:r>
                        <a:rPr lang="en-US" sz="2200" dirty="0"/>
                        <a:t>6% (3% CGST + 3% SGST/UTGST) of turnover</a:t>
                      </a:r>
                    </a:p>
                  </a:txBody>
                  <a:tcPr anchor="ctr"/>
                </a:tc>
                <a:extLst>
                  <a:ext uri="{0D108BD9-81ED-4DB2-BD59-A6C34878D82A}">
                    <a16:rowId xmlns:a16="http://schemas.microsoft.com/office/drawing/2014/main" val="1870713405"/>
                  </a:ext>
                </a:extLst>
              </a:tr>
            </a:tbl>
          </a:graphicData>
        </a:graphic>
      </p:graphicFrame>
    </p:spTree>
    <p:extLst>
      <p:ext uri="{BB962C8B-B14F-4D97-AF65-F5344CB8AC3E}">
        <p14:creationId xmlns:p14="http://schemas.microsoft.com/office/powerpoint/2010/main" val="2017374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785CC5-85A6-844D-AC25-AFFD796B020D}"/>
              </a:ext>
            </a:extLst>
          </p:cNvPr>
          <p:cNvSpPr>
            <a:spLocks noGrp="1"/>
          </p:cNvSpPr>
          <p:nvPr>
            <p:ph type="sldNum" sz="quarter" idx="4294967295"/>
          </p:nvPr>
        </p:nvSpPr>
        <p:spPr>
          <a:xfrm>
            <a:off x="9448800" y="6356350"/>
            <a:ext cx="2743200" cy="365125"/>
          </a:xfrm>
        </p:spPr>
        <p:txBody>
          <a:bodyPr/>
          <a:lstStyle/>
          <a:p>
            <a:fld id="{6996D2D1-5AE9-49BD-AFB4-5C80C2F86D42}" type="slidenum">
              <a:rPr lang="en-US" smtClean="0"/>
              <a:t>45</a:t>
            </a:fld>
            <a:endParaRPr lang="en-US"/>
          </a:p>
        </p:txBody>
      </p:sp>
      <p:graphicFrame>
        <p:nvGraphicFramePr>
          <p:cNvPr id="7" name="Content Placeholder 6">
            <a:extLst>
              <a:ext uri="{FF2B5EF4-FFF2-40B4-BE49-F238E27FC236}">
                <a16:creationId xmlns:a16="http://schemas.microsoft.com/office/drawing/2014/main" id="{8A0B6F92-9EEA-77CD-9461-24770B47A844}"/>
              </a:ext>
            </a:extLst>
          </p:cNvPr>
          <p:cNvGraphicFramePr>
            <a:graphicFrameLocks noGrp="1"/>
          </p:cNvGraphicFramePr>
          <p:nvPr>
            <p:ph idx="4294967295"/>
            <p:extLst>
              <p:ext uri="{D42A27DB-BD31-4B8C-83A1-F6EECF244321}">
                <p14:modId xmlns:p14="http://schemas.microsoft.com/office/powerpoint/2010/main" val="854973893"/>
              </p:ext>
            </p:extLst>
          </p:nvPr>
        </p:nvGraphicFramePr>
        <p:xfrm>
          <a:off x="709612" y="976235"/>
          <a:ext cx="10772775" cy="4146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1440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F0ECF75D-2178-31D5-403D-5FC1FE23B482}"/>
              </a:ext>
            </a:extLst>
          </p:cNvPr>
          <p:cNvGraphicFramePr/>
          <p:nvPr>
            <p:extLst>
              <p:ext uri="{D42A27DB-BD31-4B8C-83A1-F6EECF244321}">
                <p14:modId xmlns:p14="http://schemas.microsoft.com/office/powerpoint/2010/main" val="1135308929"/>
              </p:ext>
            </p:extLst>
          </p:nvPr>
        </p:nvGraphicFramePr>
        <p:xfrm>
          <a:off x="864093" y="568170"/>
          <a:ext cx="10463813" cy="4980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6646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2CC26-DD3D-86E3-57AC-857B2AEE0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9E968-46A8-6F53-2E6B-37C68577FD02}"/>
              </a:ext>
            </a:extLst>
          </p:cNvPr>
          <p:cNvSpPr>
            <a:spLocks noGrp="1"/>
          </p:cNvSpPr>
          <p:nvPr>
            <p:ph type="title"/>
          </p:nvPr>
        </p:nvSpPr>
        <p:spPr/>
        <p:txBody>
          <a:bodyPr/>
          <a:lstStyle/>
          <a:p>
            <a:r>
              <a:rPr lang="en-IN" dirty="0"/>
              <a:t>Input Tax Credit</a:t>
            </a:r>
            <a:endParaRPr lang="en-US" dirty="0"/>
          </a:p>
        </p:txBody>
      </p:sp>
    </p:spTree>
    <p:extLst>
      <p:ext uri="{BB962C8B-B14F-4D97-AF65-F5344CB8AC3E}">
        <p14:creationId xmlns:p14="http://schemas.microsoft.com/office/powerpoint/2010/main" val="3440341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C91AC-110D-0614-EF87-EFFB0FF5ABC1}"/>
              </a:ext>
            </a:extLst>
          </p:cNvPr>
          <p:cNvSpPr>
            <a:spLocks noGrp="1"/>
          </p:cNvSpPr>
          <p:nvPr>
            <p:ph type="title"/>
          </p:nvPr>
        </p:nvSpPr>
        <p:spPr/>
        <p:txBody>
          <a:bodyPr/>
          <a:lstStyle/>
          <a:p>
            <a:r>
              <a:rPr lang="en-US" dirty="0"/>
              <a:t>ITC - Basics</a:t>
            </a:r>
            <a:endParaRPr lang="en-IN" dirty="0"/>
          </a:p>
        </p:txBody>
      </p:sp>
      <p:sp>
        <p:nvSpPr>
          <p:cNvPr id="3" name="Content Placeholder 2">
            <a:extLst>
              <a:ext uri="{FF2B5EF4-FFF2-40B4-BE49-F238E27FC236}">
                <a16:creationId xmlns:a16="http://schemas.microsoft.com/office/drawing/2014/main" id="{EDEC7F20-EA67-5805-83EA-E5B84726127C}"/>
              </a:ext>
            </a:extLst>
          </p:cNvPr>
          <p:cNvSpPr>
            <a:spLocks noGrp="1"/>
          </p:cNvSpPr>
          <p:nvPr>
            <p:ph idx="1"/>
          </p:nvPr>
        </p:nvSpPr>
        <p:spPr/>
        <p:txBody>
          <a:bodyPr/>
          <a:lstStyle/>
          <a:p>
            <a:r>
              <a:rPr lang="en-US" dirty="0"/>
              <a:t>ITC is available </a:t>
            </a:r>
            <a:r>
              <a:rPr lang="en-US" b="1" dirty="0">
                <a:solidFill>
                  <a:srgbClr val="C00000"/>
                </a:solidFill>
              </a:rPr>
              <a:t>on all inputs </a:t>
            </a:r>
            <a:r>
              <a:rPr lang="en-US" dirty="0"/>
              <a:t>– goods, services and capital goods – used by </a:t>
            </a:r>
            <a:r>
              <a:rPr lang="en-US" b="1" dirty="0">
                <a:solidFill>
                  <a:srgbClr val="C00000"/>
                </a:solidFill>
              </a:rPr>
              <a:t>business of a taxable person</a:t>
            </a:r>
            <a:r>
              <a:rPr lang="en-US" dirty="0"/>
              <a:t>.</a:t>
            </a:r>
          </a:p>
          <a:p>
            <a:pPr lvl="1"/>
            <a:r>
              <a:rPr lang="en-US" dirty="0"/>
              <a:t>The exception is </a:t>
            </a:r>
            <a:r>
              <a:rPr lang="en-US" b="1" dirty="0">
                <a:solidFill>
                  <a:srgbClr val="C00000"/>
                </a:solidFill>
              </a:rPr>
              <a:t>blocked credits </a:t>
            </a:r>
            <a:r>
              <a:rPr lang="en-US" dirty="0"/>
              <a:t>– where ITC is not available</a:t>
            </a:r>
          </a:p>
          <a:p>
            <a:r>
              <a:rPr lang="en-US" dirty="0"/>
              <a:t>ITC is used for payment of tax on taxable output supply.</a:t>
            </a:r>
          </a:p>
          <a:p>
            <a:r>
              <a:rPr lang="en-US" dirty="0"/>
              <a:t>GST law </a:t>
            </a:r>
            <a:r>
              <a:rPr lang="en-US" b="1" dirty="0">
                <a:solidFill>
                  <a:srgbClr val="C00000"/>
                </a:solidFill>
              </a:rPr>
              <a:t>does not require one-to-one co-relation </a:t>
            </a:r>
            <a:r>
              <a:rPr lang="en-US" dirty="0"/>
              <a:t>between inputs and final products/ services. </a:t>
            </a:r>
          </a:p>
          <a:p>
            <a:pPr lvl="1"/>
            <a:r>
              <a:rPr lang="en-US" dirty="0"/>
              <a:t>Any eligible ITC can be used for payment of tax on any taxable output supply.</a:t>
            </a:r>
          </a:p>
          <a:p>
            <a:r>
              <a:rPr lang="en-US" dirty="0"/>
              <a:t>ITC can be claimed on a self-assessment basis.</a:t>
            </a:r>
          </a:p>
          <a:p>
            <a:pPr lvl="1"/>
            <a:r>
              <a:rPr lang="en-IN" dirty="0"/>
              <a:t>Such amount shall be credited to his electronic credit ledger.</a:t>
            </a:r>
            <a:endParaRPr lang="en-US" dirty="0"/>
          </a:p>
          <a:p>
            <a:endParaRPr lang="en-US" dirty="0"/>
          </a:p>
          <a:p>
            <a:endParaRPr lang="en-IN" dirty="0"/>
          </a:p>
        </p:txBody>
      </p:sp>
    </p:spTree>
    <p:extLst>
      <p:ext uri="{BB962C8B-B14F-4D97-AF65-F5344CB8AC3E}">
        <p14:creationId xmlns:p14="http://schemas.microsoft.com/office/powerpoint/2010/main" val="49374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351EDC5-DB08-EDC7-CDB6-523438610EA3}"/>
              </a:ext>
            </a:extLst>
          </p:cNvPr>
          <p:cNvGraphicFramePr>
            <a:graphicFrameLocks noGrp="1"/>
          </p:cNvGraphicFramePr>
          <p:nvPr>
            <p:ph idx="4294967295"/>
            <p:extLst>
              <p:ext uri="{D42A27DB-BD31-4B8C-83A1-F6EECF244321}">
                <p14:modId xmlns:p14="http://schemas.microsoft.com/office/powerpoint/2010/main" val="4017585227"/>
              </p:ext>
            </p:extLst>
          </p:nvPr>
        </p:nvGraphicFramePr>
        <p:xfrm>
          <a:off x="0" y="221942"/>
          <a:ext cx="11928475" cy="62328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7691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A11017-D408-3467-5F31-7B74E3BD2716}"/>
              </a:ext>
            </a:extLst>
          </p:cNvPr>
          <p:cNvSpPr>
            <a:spLocks noGrp="1"/>
          </p:cNvSpPr>
          <p:nvPr>
            <p:ph type="title"/>
          </p:nvPr>
        </p:nvSpPr>
        <p:spPr/>
        <p:txBody>
          <a:bodyPr/>
          <a:lstStyle/>
          <a:p>
            <a:r>
              <a:rPr lang="en-US" dirty="0"/>
              <a:t>Order of Utilisation</a:t>
            </a:r>
          </a:p>
        </p:txBody>
      </p:sp>
      <p:graphicFrame>
        <p:nvGraphicFramePr>
          <p:cNvPr id="4" name="Table 3">
            <a:extLst>
              <a:ext uri="{FF2B5EF4-FFF2-40B4-BE49-F238E27FC236}">
                <a16:creationId xmlns:a16="http://schemas.microsoft.com/office/drawing/2014/main" id="{4488DB8B-EADE-DAEC-10C3-767972652ABD}"/>
              </a:ext>
            </a:extLst>
          </p:cNvPr>
          <p:cNvGraphicFramePr>
            <a:graphicFrameLocks noGrp="1"/>
          </p:cNvGraphicFramePr>
          <p:nvPr>
            <p:extLst>
              <p:ext uri="{D42A27DB-BD31-4B8C-83A1-F6EECF244321}">
                <p14:modId xmlns:p14="http://schemas.microsoft.com/office/powerpoint/2010/main" val="1965693379"/>
              </p:ext>
            </p:extLst>
          </p:nvPr>
        </p:nvGraphicFramePr>
        <p:xfrm>
          <a:off x="314417" y="952703"/>
          <a:ext cx="10898079" cy="1889760"/>
        </p:xfrm>
        <a:graphic>
          <a:graphicData uri="http://schemas.openxmlformats.org/drawingml/2006/table">
            <a:tbl>
              <a:tblPr/>
              <a:tblGrid>
                <a:gridCol w="3632693">
                  <a:extLst>
                    <a:ext uri="{9D8B030D-6E8A-4147-A177-3AD203B41FA5}">
                      <a16:colId xmlns:a16="http://schemas.microsoft.com/office/drawing/2014/main" val="2113542002"/>
                    </a:ext>
                  </a:extLst>
                </a:gridCol>
                <a:gridCol w="3632693">
                  <a:extLst>
                    <a:ext uri="{9D8B030D-6E8A-4147-A177-3AD203B41FA5}">
                      <a16:colId xmlns:a16="http://schemas.microsoft.com/office/drawing/2014/main" val="2128669112"/>
                    </a:ext>
                  </a:extLst>
                </a:gridCol>
                <a:gridCol w="3632693">
                  <a:extLst>
                    <a:ext uri="{9D8B030D-6E8A-4147-A177-3AD203B41FA5}">
                      <a16:colId xmlns:a16="http://schemas.microsoft.com/office/drawing/2014/main" val="2998926792"/>
                    </a:ext>
                  </a:extLst>
                </a:gridCol>
              </a:tblGrid>
              <a:tr h="0">
                <a:tc>
                  <a:txBody>
                    <a:bodyPr/>
                    <a:lstStyle/>
                    <a:p>
                      <a:pPr algn="ctr">
                        <a:buNone/>
                      </a:pPr>
                      <a:r>
                        <a:rPr lang="en-US" sz="2800" b="1" dirty="0"/>
                        <a:t>ITC Type</a:t>
                      </a:r>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800" b="1"/>
                        <a:t>First Use</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800" b="1" dirty="0"/>
                        <a:t>Then Use (in any order)</a:t>
                      </a:r>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989510"/>
                  </a:ext>
                </a:extLst>
              </a:tr>
              <a:tr h="0">
                <a:tc>
                  <a:txBody>
                    <a:bodyPr/>
                    <a:lstStyle/>
                    <a:p>
                      <a:pPr>
                        <a:buNone/>
                      </a:pPr>
                      <a:r>
                        <a:rPr lang="en-US" sz="2400" b="1" dirty="0"/>
                        <a:t>IGST Credit</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IGST 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CGST or SGST/UTGST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584079"/>
                  </a:ext>
                </a:extLst>
              </a:tr>
              <a:tr h="0">
                <a:tc>
                  <a:txBody>
                    <a:bodyPr/>
                    <a:lstStyle/>
                    <a:p>
                      <a:pPr>
                        <a:buNone/>
                      </a:pPr>
                      <a:r>
                        <a:rPr lang="en-US" sz="2400" b="1" dirty="0"/>
                        <a:t>CGST Credit</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CGST 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IGST 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6934603"/>
                  </a:ext>
                </a:extLst>
              </a:tr>
              <a:tr h="0">
                <a:tc>
                  <a:txBody>
                    <a:bodyPr/>
                    <a:lstStyle/>
                    <a:p>
                      <a:pPr>
                        <a:buNone/>
                      </a:pPr>
                      <a:r>
                        <a:rPr lang="en-US" sz="2400" b="1" dirty="0"/>
                        <a:t>SGST/UTGST Credit</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SGST/UTGST 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IGST 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3006319"/>
                  </a:ext>
                </a:extLst>
              </a:tr>
            </a:tbl>
          </a:graphicData>
        </a:graphic>
      </p:graphicFrame>
      <p:sp>
        <p:nvSpPr>
          <p:cNvPr id="6" name="TextBox 5">
            <a:extLst>
              <a:ext uri="{FF2B5EF4-FFF2-40B4-BE49-F238E27FC236}">
                <a16:creationId xmlns:a16="http://schemas.microsoft.com/office/drawing/2014/main" id="{E43B78C8-D567-1028-FC9C-BEF18A860C3B}"/>
              </a:ext>
            </a:extLst>
          </p:cNvPr>
          <p:cNvSpPr txBox="1"/>
          <p:nvPr/>
        </p:nvSpPr>
        <p:spPr>
          <a:xfrm>
            <a:off x="225640" y="3083965"/>
            <a:ext cx="10898079" cy="369332"/>
          </a:xfrm>
          <a:prstGeom prst="rect">
            <a:avLst/>
          </a:prstGeom>
          <a:noFill/>
        </p:spPr>
        <p:txBody>
          <a:bodyPr wrap="square">
            <a:spAutoFit/>
          </a:bodyPr>
          <a:lstStyle/>
          <a:p>
            <a:r>
              <a:rPr lang="en-US" dirty="0"/>
              <a:t>❌ Cross-</a:t>
            </a:r>
            <a:r>
              <a:rPr lang="en-US" dirty="0" err="1"/>
              <a:t>utilisation</a:t>
            </a:r>
            <a:r>
              <a:rPr lang="en-US" dirty="0"/>
              <a:t> between CGST and SGST/UTGST is not allowed.</a:t>
            </a:r>
          </a:p>
        </p:txBody>
      </p:sp>
    </p:spTree>
    <p:extLst>
      <p:ext uri="{BB962C8B-B14F-4D97-AF65-F5344CB8AC3E}">
        <p14:creationId xmlns:p14="http://schemas.microsoft.com/office/powerpoint/2010/main" val="4232958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D6C27-CEFD-766D-E6DC-C09E72CDD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86AD8-C964-9A9E-72C9-51A540886D7C}"/>
              </a:ext>
            </a:extLst>
          </p:cNvPr>
          <p:cNvSpPr>
            <a:spLocks noGrp="1"/>
          </p:cNvSpPr>
          <p:nvPr>
            <p:ph type="title"/>
          </p:nvPr>
        </p:nvSpPr>
        <p:spPr/>
        <p:txBody>
          <a:bodyPr/>
          <a:lstStyle/>
          <a:p>
            <a:r>
              <a:rPr lang="en-IN" dirty="0"/>
              <a:t>Place of Supply</a:t>
            </a:r>
            <a:endParaRPr lang="en-US" dirty="0"/>
          </a:p>
        </p:txBody>
      </p:sp>
    </p:spTree>
    <p:extLst>
      <p:ext uri="{BB962C8B-B14F-4D97-AF65-F5344CB8AC3E}">
        <p14:creationId xmlns:p14="http://schemas.microsoft.com/office/powerpoint/2010/main" val="5695798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just">
              <a:buNone/>
            </a:pPr>
            <a:r>
              <a:rPr lang="en-GB" dirty="0"/>
              <a:t>The place of supply of goods, other than supply of goods imported into, or exported from India, shall be as under,—</a:t>
            </a:r>
          </a:p>
          <a:p>
            <a:pPr algn="just"/>
            <a:r>
              <a:rPr lang="en-GB" dirty="0"/>
              <a:t>where the supply </a:t>
            </a:r>
            <a:r>
              <a:rPr lang="en-GB" b="1" dirty="0">
                <a:solidFill>
                  <a:srgbClr val="FF0000"/>
                </a:solidFill>
              </a:rPr>
              <a:t>involves movement of goods</a:t>
            </a:r>
            <a:r>
              <a:rPr lang="en-GB" dirty="0"/>
              <a:t>, whether by the supplier or the recipient or by any other person, the place of supply of such goods shall be the </a:t>
            </a:r>
            <a:r>
              <a:rPr lang="en-GB" dirty="0">
                <a:solidFill>
                  <a:srgbClr val="FF0000"/>
                </a:solidFill>
              </a:rPr>
              <a:t>location of the goods</a:t>
            </a:r>
            <a:r>
              <a:rPr lang="en-GB" dirty="0"/>
              <a:t> at the time at which the movement of goods terminates for </a:t>
            </a:r>
            <a:r>
              <a:rPr lang="en-GB" dirty="0">
                <a:solidFill>
                  <a:srgbClr val="FF0000"/>
                </a:solidFill>
              </a:rPr>
              <a:t>delivery to the recipient</a:t>
            </a:r>
            <a:r>
              <a:rPr lang="en-GB" dirty="0"/>
              <a:t>;</a:t>
            </a:r>
          </a:p>
        </p:txBody>
      </p:sp>
      <p:sp>
        <p:nvSpPr>
          <p:cNvPr id="8" name="Title 7">
            <a:extLst>
              <a:ext uri="{FF2B5EF4-FFF2-40B4-BE49-F238E27FC236}">
                <a16:creationId xmlns:a16="http://schemas.microsoft.com/office/drawing/2014/main" id="{5DF29D51-A8BC-A066-F7E8-3CD37E78C220}"/>
              </a:ext>
            </a:extLst>
          </p:cNvPr>
          <p:cNvSpPr>
            <a:spLocks noGrp="1"/>
          </p:cNvSpPr>
          <p:nvPr>
            <p:ph type="title"/>
          </p:nvPr>
        </p:nvSpPr>
        <p:spPr/>
        <p:txBody>
          <a:bodyPr/>
          <a:lstStyle/>
          <a:p>
            <a:r>
              <a:rPr lang="en-IN" dirty="0"/>
              <a:t>Movement of Goods</a:t>
            </a:r>
            <a:endParaRPr lang="en-US" dirty="0"/>
          </a:p>
        </p:txBody>
      </p:sp>
    </p:spTree>
    <p:extLst>
      <p:ext uri="{BB962C8B-B14F-4D97-AF65-F5344CB8AC3E}">
        <p14:creationId xmlns:p14="http://schemas.microsoft.com/office/powerpoint/2010/main" val="4081799889"/>
      </p:ext>
    </p:extLst>
  </p:cSld>
  <p:clrMapOvr>
    <a:masterClrMapping/>
  </p:clrMapOvr>
  <mc:AlternateContent xmlns:mc="http://schemas.openxmlformats.org/markup-compatibility/2006" xmlns:p14="http://schemas.microsoft.com/office/powerpoint/2010/main">
    <mc:Choice Requires="p14">
      <p:transition p14:dur="10">
        <p:push dir="u"/>
      </p:transition>
    </mc:Choice>
    <mc:Fallback xmlns="">
      <p:transition>
        <p:push dir="u"/>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40681" y="279729"/>
            <a:ext cx="8910638" cy="701675"/>
          </a:xfrm>
        </p:spPr>
        <p:txBody>
          <a:bodyPr>
            <a:normAutofit/>
          </a:bodyPr>
          <a:lstStyle/>
          <a:p>
            <a:r>
              <a:rPr lang="en-US" sz="3200" b="1" dirty="0">
                <a:latin typeface="+mn-lt"/>
              </a:rPr>
              <a:t>Illustration: Involves Movement of Goods</a:t>
            </a:r>
          </a:p>
        </p:txBody>
      </p:sp>
      <p:graphicFrame>
        <p:nvGraphicFramePr>
          <p:cNvPr id="5" name="Table 4"/>
          <p:cNvGraphicFramePr>
            <a:graphicFrameLocks noGrp="1"/>
          </p:cNvGraphicFramePr>
          <p:nvPr>
            <p:extLst>
              <p:ext uri="{D42A27DB-BD31-4B8C-83A1-F6EECF244321}">
                <p14:modId xmlns:p14="http://schemas.microsoft.com/office/powerpoint/2010/main" val="1338033827"/>
              </p:ext>
            </p:extLst>
          </p:nvPr>
        </p:nvGraphicFramePr>
        <p:xfrm>
          <a:off x="7913456" y="1972472"/>
          <a:ext cx="3269163" cy="2682240"/>
        </p:xfrm>
        <a:graphic>
          <a:graphicData uri="http://schemas.openxmlformats.org/drawingml/2006/table">
            <a:tbl>
              <a:tblPr firstRow="1" bandRow="1">
                <a:tableStyleId>{00A15C55-8517-42AA-B614-E9B94910E393}</a:tableStyleId>
              </a:tblPr>
              <a:tblGrid>
                <a:gridCol w="1463416">
                  <a:extLst>
                    <a:ext uri="{9D8B030D-6E8A-4147-A177-3AD203B41FA5}">
                      <a16:colId xmlns:a16="http://schemas.microsoft.com/office/drawing/2014/main" val="20000"/>
                    </a:ext>
                  </a:extLst>
                </a:gridCol>
                <a:gridCol w="1805747">
                  <a:extLst>
                    <a:ext uri="{9D8B030D-6E8A-4147-A177-3AD203B41FA5}">
                      <a16:colId xmlns:a16="http://schemas.microsoft.com/office/drawing/2014/main" val="20001"/>
                    </a:ext>
                  </a:extLst>
                </a:gridCol>
              </a:tblGrid>
              <a:tr h="230526">
                <a:tc>
                  <a:txBody>
                    <a:bodyPr/>
                    <a:lstStyle/>
                    <a:p>
                      <a:pPr algn="ctr"/>
                      <a:r>
                        <a:rPr lang="en-US" sz="2000" dirty="0">
                          <a:latin typeface="+mn-lt"/>
                          <a:cs typeface="Segoe UI Light" panose="020B0502040204020203" pitchFamily="34" charset="0"/>
                        </a:rPr>
                        <a:t>Supply to</a:t>
                      </a:r>
                      <a:endParaRPr lang="en-US" sz="2000" b="0" dirty="0">
                        <a:solidFill>
                          <a:schemeClr val="tx1"/>
                        </a:solidFill>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cs typeface="Segoe UI Light" panose="020B0502040204020203" pitchFamily="34" charset="0"/>
                        </a:rPr>
                        <a:t>GST</a:t>
                      </a:r>
                      <a:r>
                        <a:rPr lang="en-US" sz="2000" baseline="0" dirty="0">
                          <a:latin typeface="+mn-lt"/>
                          <a:cs typeface="Segoe UI Light" panose="020B0502040204020203" pitchFamily="34" charset="0"/>
                        </a:rPr>
                        <a:t> Liability </a:t>
                      </a:r>
                      <a:endParaRPr lang="en-US" sz="2000" b="0" dirty="0">
                        <a:solidFill>
                          <a:schemeClr val="tx1"/>
                        </a:solidFill>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algn="ctr"/>
                      <a:r>
                        <a:rPr lang="en-US" sz="1800" b="1" dirty="0">
                          <a:latin typeface="+mn-lt"/>
                          <a:cs typeface="Segoe UI Light" panose="020B0502040204020203" pitchFamily="34" charset="0"/>
                        </a:rPr>
                        <a:t>Customer</a:t>
                      </a:r>
                      <a:r>
                        <a:rPr lang="en-US" sz="1800" b="1" baseline="0" dirty="0">
                          <a:latin typeface="+mn-lt"/>
                          <a:cs typeface="Segoe UI Light" panose="020B0502040204020203" pitchFamily="34" charset="0"/>
                        </a:rPr>
                        <a:t> A</a:t>
                      </a:r>
                      <a:endParaRPr lang="en-US"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a:t>
                      </a:r>
                      <a:r>
                        <a:rPr lang="en-IN" sz="1800" baseline="0" dirty="0">
                          <a:latin typeface="+mn-lt"/>
                          <a:cs typeface="Segoe UI Light" panose="020B0502040204020203" pitchFamily="34" charset="0"/>
                        </a:rPr>
                        <a:t>+</a:t>
                      </a:r>
                      <a:r>
                        <a:rPr lang="en-IN" sz="1800" dirty="0">
                          <a:latin typeface="+mn-lt"/>
                          <a:cs typeface="Segoe UI Light" panose="020B0502040204020203" pitchFamily="34" charset="0"/>
                        </a:rPr>
                        <a:t>SGST</a:t>
                      </a:r>
                      <a:endParaRPr lang="en-IN"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r>
                        <a:rPr lang="en-US" sz="1800" b="1" dirty="0">
                          <a:latin typeface="+mn-lt"/>
                          <a:cs typeface="Segoe UI Light" panose="020B0502040204020203" pitchFamily="34" charset="0"/>
                        </a:rPr>
                        <a:t>Customer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IGST Payable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ctr"/>
                      <a:r>
                        <a:rPr lang="en-US" sz="1800" b="1" dirty="0">
                          <a:latin typeface="+mn-lt"/>
                          <a:cs typeface="Segoe UI Light" panose="020B0502040204020203" pitchFamily="34" charset="0"/>
                        </a:rPr>
                        <a:t>ABC Pune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No</a:t>
                      </a:r>
                      <a:r>
                        <a:rPr lang="en-IN" sz="1800" baseline="0" dirty="0">
                          <a:latin typeface="+mn-lt"/>
                          <a:cs typeface="Segoe UI Light" panose="020B0502040204020203" pitchFamily="34" charset="0"/>
                        </a:rPr>
                        <a:t> Tax Payable</a:t>
                      </a:r>
                      <a:endParaRPr lang="en-IN" sz="1800"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gn="ctr"/>
                      <a:r>
                        <a:rPr lang="en-US" sz="1800" b="1" dirty="0">
                          <a:latin typeface="+mn-lt"/>
                          <a:cs typeface="Segoe UI Light" panose="020B0502040204020203" pitchFamily="34" charset="0"/>
                        </a:rPr>
                        <a:t>ABC</a:t>
                      </a:r>
                      <a:r>
                        <a:rPr lang="en-US" sz="1800" b="1" baseline="0" dirty="0">
                          <a:latin typeface="+mn-lt"/>
                          <a:cs typeface="Segoe UI Light" panose="020B0502040204020203" pitchFamily="34" charset="0"/>
                        </a:rPr>
                        <a:t> Surat</a:t>
                      </a:r>
                      <a:endParaRPr lang="en-US"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IGST Payable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832126"/>
                  </a:ext>
                </a:extLst>
              </a:tr>
              <a:tr h="457200">
                <a:tc>
                  <a:txBody>
                    <a:bodyPr/>
                    <a:lstStyle/>
                    <a:p>
                      <a:pPr algn="ctr"/>
                      <a:r>
                        <a:rPr lang="en-US" sz="1800" b="1" dirty="0">
                          <a:latin typeface="+mn-lt"/>
                          <a:cs typeface="Segoe UI Light" panose="020B0502040204020203" pitchFamily="34" charset="0"/>
                        </a:rPr>
                        <a:t>ABC Depot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CGST+SGST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3" name="Group 5"/>
          <p:cNvGrpSpPr/>
          <p:nvPr/>
        </p:nvGrpSpPr>
        <p:grpSpPr>
          <a:xfrm>
            <a:off x="1640681" y="1201423"/>
            <a:ext cx="5544685" cy="4639020"/>
            <a:chOff x="0" y="1363265"/>
            <a:chExt cx="5544685" cy="4639020"/>
          </a:xfrm>
        </p:grpSpPr>
        <p:cxnSp>
          <p:nvCxnSpPr>
            <p:cNvPr id="7" name="Straight Connector 6"/>
            <p:cNvCxnSpPr/>
            <p:nvPr/>
          </p:nvCxnSpPr>
          <p:spPr>
            <a:xfrm>
              <a:off x="3325226" y="1363265"/>
              <a:ext cx="9659" cy="3894535"/>
            </a:xfrm>
            <a:prstGeom prst="line">
              <a:avLst/>
            </a:prstGeom>
            <a:ln cap="rnd" cmpd="sng">
              <a:solidFill>
                <a:schemeClr val="tx1"/>
              </a:solidFill>
              <a:prstDash val="dashDot"/>
              <a:bevel/>
              <a:headEnd type="diamond"/>
              <a:tailEnd type="diamond" w="med" len="med"/>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646930" y="1366338"/>
              <a:ext cx="1697355" cy="308479"/>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wrap="square" lIns="61651" tIns="30828" rIns="61651" bIns="30828" rtlCol="0">
              <a:spAutoFit/>
            </a:bodyPr>
            <a:lstStyle/>
            <a:p>
              <a:pPr algn="ctr" defTabSz="616512"/>
              <a:r>
                <a:rPr lang="en-US" sz="1600" b="1" dirty="0">
                  <a:solidFill>
                    <a:prstClr val="black"/>
                  </a:solidFill>
                  <a:ea typeface="Cambria Math" panose="02040503050406030204" pitchFamily="18" charset="0"/>
                  <a:cs typeface="Segoe UI Light" panose="020B0502040204020203" pitchFamily="34" charset="0"/>
                </a:rPr>
                <a:t>Maharashtra </a:t>
              </a:r>
            </a:p>
          </p:txBody>
        </p:sp>
        <p:sp>
          <p:nvSpPr>
            <p:cNvPr id="9" name="TextBox 8"/>
            <p:cNvSpPr txBox="1"/>
            <p:nvPr/>
          </p:nvSpPr>
          <p:spPr>
            <a:xfrm>
              <a:off x="3704593" y="1366338"/>
              <a:ext cx="1840092" cy="308479"/>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wrap="square" lIns="61651" tIns="30828" rIns="61651" bIns="30828" rtlCol="0">
              <a:spAutoFit/>
            </a:bodyPr>
            <a:lstStyle/>
            <a:p>
              <a:pPr algn="ctr" defTabSz="616512"/>
              <a:r>
                <a:rPr lang="en-US" sz="1600" b="1" dirty="0">
                  <a:solidFill>
                    <a:prstClr val="black"/>
                  </a:solidFill>
                  <a:ea typeface="Cambria Math" panose="02040503050406030204" pitchFamily="18" charset="0"/>
                  <a:cs typeface="Segoe UI Light" panose="020B0502040204020203" pitchFamily="34" charset="0"/>
                </a:rPr>
                <a:t>Gujarat</a:t>
              </a:r>
            </a:p>
          </p:txBody>
        </p:sp>
        <p:pic>
          <p:nvPicPr>
            <p:cNvPr id="10" name="Picture 13"/>
            <p:cNvPicPr>
              <a:picLocks noChangeAspect="1" noChangeArrowheads="1"/>
            </p:cNvPicPr>
            <p:nvPr/>
          </p:nvPicPr>
          <p:blipFill rotWithShape="1">
            <a:blip r:embed="rId3" cstate="print">
              <a:duotone>
                <a:schemeClr val="accent4">
                  <a:shade val="45000"/>
                  <a:satMod val="135000"/>
                </a:schemeClr>
                <a:prstClr val="white"/>
              </a:duotone>
              <a:extLst>
                <a:ext uri="{BEBA8EAE-BF5A-486C-A8C5-ECC9F3942E4B}">
                  <a14:imgProps xmlns:a14="http://schemas.microsoft.com/office/drawing/2010/main">
                    <a14:imgLayer>
                      <a14:imgEffect>
                        <a14:backgroundRemoval t="1617" b="48518" l="51615" r="98692"/>
                      </a14:imgEffect>
                    </a14:imgLayer>
                  </a14:imgProps>
                </a:ext>
                <a:ext uri="{28A0092B-C50C-407E-A947-70E740481C1C}">
                  <a14:useLocalDpi xmlns:a14="http://schemas.microsoft.com/office/drawing/2010/main" val="0"/>
                </a:ext>
              </a:extLst>
            </a:blip>
            <a:srcRect l="51365" b="45780"/>
            <a:stretch/>
          </p:blipFill>
          <p:spPr bwMode="auto">
            <a:xfrm>
              <a:off x="28235" y="2876883"/>
              <a:ext cx="1173050" cy="838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Elbow Connector 10"/>
            <p:cNvCxnSpPr>
              <a:stCxn id="10" idx="3"/>
              <a:endCxn id="23" idx="1"/>
            </p:cNvCxnSpPr>
            <p:nvPr/>
          </p:nvCxnSpPr>
          <p:spPr>
            <a:xfrm flipV="1">
              <a:off x="1201285" y="2287613"/>
              <a:ext cx="793439" cy="1008370"/>
            </a:xfrm>
            <a:prstGeom prst="bentConnector3">
              <a:avLst>
                <a:gd name="adj1" fmla="val 52811"/>
              </a:avLst>
            </a:prstGeom>
            <a:ln>
              <a:tailEnd type="arrow"/>
            </a:ln>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1172709" y="3280842"/>
              <a:ext cx="702259" cy="661205"/>
            </a:xfrm>
            <a:prstGeom prst="bentConnector3">
              <a:avLst>
                <a:gd name="adj1" fmla="val 62207"/>
              </a:avLst>
            </a:prstGeom>
            <a:ln>
              <a:tailEnd type="arrow"/>
            </a:ln>
          </p:spPr>
          <p:style>
            <a:lnRef idx="2">
              <a:schemeClr val="dk1"/>
            </a:lnRef>
            <a:fillRef idx="0">
              <a:schemeClr val="dk1"/>
            </a:fillRef>
            <a:effectRef idx="1">
              <a:schemeClr val="dk1"/>
            </a:effectRef>
            <a:fontRef idx="minor">
              <a:schemeClr val="tx1"/>
            </a:fontRef>
          </p:style>
        </p:cxnSp>
        <p:sp>
          <p:nvSpPr>
            <p:cNvPr id="13" name="Rectangle 12"/>
            <p:cNvSpPr/>
            <p:nvPr/>
          </p:nvSpPr>
          <p:spPr>
            <a:xfrm>
              <a:off x="0" y="3638882"/>
              <a:ext cx="1353685" cy="523220"/>
            </a:xfrm>
            <a:prstGeom prst="rect">
              <a:avLst/>
            </a:prstGeom>
          </p:spPr>
          <p:txBody>
            <a:bodyPr wrap="square">
              <a:spAutoFit/>
            </a:bodyPr>
            <a:lstStyle/>
            <a:p>
              <a:pPr algn="ctr" defTabSz="914400">
                <a:defRPr/>
              </a:pPr>
              <a:r>
                <a:rPr lang="en-US" sz="1400" b="1" dirty="0">
                  <a:cs typeface="Segoe UI Light" panose="020B0502040204020203" pitchFamily="34" charset="0"/>
                </a:rPr>
                <a:t>ABC Ahmednagar</a:t>
              </a:r>
              <a:endParaRPr lang="en-US" sz="1400" dirty="0">
                <a:cs typeface="Segoe UI Light" panose="020B0502040204020203" pitchFamily="34" charset="0"/>
              </a:endParaRPr>
            </a:p>
          </p:txBody>
        </p:sp>
        <p:sp>
          <p:nvSpPr>
            <p:cNvPr id="14" name="Rectangle 13"/>
            <p:cNvSpPr/>
            <p:nvPr/>
          </p:nvSpPr>
          <p:spPr>
            <a:xfrm>
              <a:off x="1600200" y="4340423"/>
              <a:ext cx="1818322" cy="307777"/>
            </a:xfrm>
            <a:prstGeom prst="rect">
              <a:avLst/>
            </a:prstGeom>
          </p:spPr>
          <p:txBody>
            <a:bodyPr wrap="square">
              <a:spAutoFit/>
            </a:bodyPr>
            <a:lstStyle/>
            <a:p>
              <a:pPr algn="ctr" defTabSz="914400">
                <a:defRPr/>
              </a:pPr>
              <a:r>
                <a:rPr lang="en-US" sz="1400" b="1">
                  <a:cs typeface="Segoe UI Light" panose="020B0502040204020203" pitchFamily="34" charset="0"/>
                </a:rPr>
                <a:t>ABC Pune</a:t>
              </a:r>
              <a:endParaRPr lang="en-US" sz="1400" dirty="0">
                <a:cs typeface="Segoe UI Light" panose="020B0502040204020203" pitchFamily="34" charset="0"/>
              </a:endParaRPr>
            </a:p>
          </p:txBody>
        </p:sp>
        <p:sp>
          <p:nvSpPr>
            <p:cNvPr id="15" name="Rectangle 14"/>
            <p:cNvSpPr/>
            <p:nvPr/>
          </p:nvSpPr>
          <p:spPr>
            <a:xfrm>
              <a:off x="1644957" y="2645305"/>
              <a:ext cx="1712926" cy="307777"/>
            </a:xfrm>
            <a:prstGeom prst="rect">
              <a:avLst/>
            </a:prstGeom>
          </p:spPr>
          <p:txBody>
            <a:bodyPr wrap="square">
              <a:spAutoFit/>
            </a:bodyPr>
            <a:lstStyle/>
            <a:p>
              <a:pPr algn="ctr" defTabSz="914400">
                <a:defRPr/>
              </a:pPr>
              <a:r>
                <a:rPr lang="en-US" sz="1400" b="1" dirty="0">
                  <a:cs typeface="Segoe UI Light" panose="020B0502040204020203" pitchFamily="34" charset="0"/>
                </a:rPr>
                <a:t>Customer A</a:t>
              </a:r>
              <a:endParaRPr lang="en-US" sz="1400" dirty="0">
                <a:cs typeface="Segoe UI Light" panose="020B0502040204020203" pitchFamily="34" charset="0"/>
              </a:endParaRPr>
            </a:p>
          </p:txBody>
        </p:sp>
        <p:cxnSp>
          <p:nvCxnSpPr>
            <p:cNvPr id="16" name="Elbow Connector 15"/>
            <p:cNvCxnSpPr/>
            <p:nvPr/>
          </p:nvCxnSpPr>
          <p:spPr>
            <a:xfrm flipV="1">
              <a:off x="3185936" y="2236402"/>
              <a:ext cx="838200" cy="1053262"/>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flipV="1">
              <a:off x="1201285" y="3289664"/>
              <a:ext cx="2403751" cy="6319"/>
            </a:xfrm>
            <a:prstGeom prst="line">
              <a:avLst/>
            </a:prstGeom>
          </p:spPr>
          <p:style>
            <a:lnRef idx="2">
              <a:schemeClr val="dk1"/>
            </a:lnRef>
            <a:fillRef idx="0">
              <a:schemeClr val="dk1"/>
            </a:fillRef>
            <a:effectRef idx="1">
              <a:schemeClr val="dk1"/>
            </a:effectRef>
            <a:fontRef idx="minor">
              <a:schemeClr val="tx1"/>
            </a:fontRef>
          </p:style>
        </p:cxnSp>
        <p:cxnSp>
          <p:nvCxnSpPr>
            <p:cNvPr id="18" name="Elbow Connector 17"/>
            <p:cNvCxnSpPr/>
            <p:nvPr/>
          </p:nvCxnSpPr>
          <p:spPr>
            <a:xfrm>
              <a:off x="3181136" y="3282554"/>
              <a:ext cx="773218" cy="1137390"/>
            </a:xfrm>
            <a:prstGeom prst="bentConnector3">
              <a:avLst>
                <a:gd name="adj1" fmla="val 54224"/>
              </a:avLst>
            </a:prstGeom>
            <a:ln>
              <a:tailEnd type="arrow"/>
            </a:ln>
          </p:spPr>
          <p:style>
            <a:lnRef idx="2">
              <a:schemeClr val="dk1"/>
            </a:lnRef>
            <a:fillRef idx="0">
              <a:schemeClr val="dk1"/>
            </a:fillRef>
            <a:effectRef idx="1">
              <a:schemeClr val="dk1"/>
            </a:effectRef>
            <a:fontRef idx="minor">
              <a:schemeClr val="tx1"/>
            </a:fontRef>
          </p:style>
        </p:cxnSp>
        <p:sp>
          <p:nvSpPr>
            <p:cNvPr id="19" name="Rectangle 18"/>
            <p:cNvSpPr/>
            <p:nvPr/>
          </p:nvSpPr>
          <p:spPr>
            <a:xfrm>
              <a:off x="3567745" y="2621608"/>
              <a:ext cx="1818322" cy="307777"/>
            </a:xfrm>
            <a:prstGeom prst="rect">
              <a:avLst/>
            </a:prstGeom>
          </p:spPr>
          <p:txBody>
            <a:bodyPr wrap="square">
              <a:spAutoFit/>
            </a:bodyPr>
            <a:lstStyle/>
            <a:p>
              <a:pPr algn="ctr" defTabSz="914400">
                <a:defRPr/>
              </a:pPr>
              <a:r>
                <a:rPr lang="en-US" sz="1400" b="1" dirty="0">
                  <a:cs typeface="Segoe UI Light" panose="020B0502040204020203" pitchFamily="34" charset="0"/>
                </a:rPr>
                <a:t>Customer B</a:t>
              </a:r>
              <a:endParaRPr lang="en-US" sz="1400" dirty="0">
                <a:cs typeface="Segoe UI Light" panose="020B0502040204020203" pitchFamily="34" charset="0"/>
              </a:endParaRPr>
            </a:p>
          </p:txBody>
        </p:sp>
        <p:pic>
          <p:nvPicPr>
            <p:cNvPr id="20" name="Picture 3"/>
            <p:cNvPicPr>
              <a:picLocks noChangeAspect="1" noChangeArrowheads="1"/>
            </p:cNvPicPr>
            <p:nvPr/>
          </p:nvPicPr>
          <p:blipFill>
            <a:blip r:embed="rId4" cstate="print">
              <a:duotone>
                <a:schemeClr val="accent4">
                  <a:shade val="45000"/>
                  <a:satMod val="135000"/>
                </a:schemeClr>
                <a:prstClr val="white"/>
              </a:duotone>
              <a:extLst>
                <a:ext uri="{BEBA8EAE-BF5A-486C-A8C5-ECC9F3942E4B}">
                  <a14:imgProps xmlns:a14="http://schemas.microsoft.com/office/drawing/2010/main">
                    <a14:imgLayer>
                      <a14:imgEffect>
                        <a14:backgroundRemoval t="0" b="99201" l="0" r="100000">
                          <a14:foregroundMark x1="65335" y1="9425" x2="65335" y2="9425"/>
                        </a14:backgroundRemoval>
                      </a14:imgEffect>
                    </a14:imgLayer>
                  </a14:imgProps>
                </a:ext>
                <a:ext uri="{28A0092B-C50C-407E-A947-70E740481C1C}">
                  <a14:useLocalDpi xmlns:a14="http://schemas.microsoft.com/office/drawing/2010/main" val="0"/>
                </a:ext>
              </a:extLst>
            </a:blip>
            <a:srcRect/>
            <a:stretch>
              <a:fillRect/>
            </a:stretch>
          </p:blipFill>
          <p:spPr bwMode="auto">
            <a:xfrm>
              <a:off x="4221593" y="3759341"/>
              <a:ext cx="1007992" cy="1007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20"/>
            <p:cNvSpPr/>
            <p:nvPr/>
          </p:nvSpPr>
          <p:spPr>
            <a:xfrm>
              <a:off x="3715885" y="4776047"/>
              <a:ext cx="1818322" cy="307777"/>
            </a:xfrm>
            <a:prstGeom prst="rect">
              <a:avLst/>
            </a:prstGeom>
          </p:spPr>
          <p:txBody>
            <a:bodyPr wrap="square">
              <a:spAutoFit/>
            </a:bodyPr>
            <a:lstStyle/>
            <a:p>
              <a:pPr algn="ctr" defTabSz="914400">
                <a:defRPr/>
              </a:pPr>
              <a:r>
                <a:rPr lang="en-US" sz="1400" b="1" dirty="0">
                  <a:cs typeface="Segoe UI Light" panose="020B0502040204020203" pitchFamily="34" charset="0"/>
                </a:rPr>
                <a:t>ABC Surat</a:t>
              </a:r>
              <a:endParaRPr lang="en-US" sz="1400" dirty="0">
                <a:cs typeface="Segoe UI Light" panose="020B0502040204020203" pitchFamily="34" charset="0"/>
              </a:endParaRPr>
            </a:p>
          </p:txBody>
        </p:sp>
        <p:pic>
          <p:nvPicPr>
            <p:cNvPr id="22" name="Picture 2"/>
            <p:cNvPicPr>
              <a:picLocks noChangeAspect="1" noChangeArrowheads="1"/>
            </p:cNvPicPr>
            <p:nvPr/>
          </p:nvPicPr>
          <p:blipFill>
            <a:blip r:embed="rId5">
              <a:biLevel thresh="75000"/>
              <a:extLst>
                <a:ext uri="{BEBA8EAE-BF5A-486C-A8C5-ECC9F3942E4B}">
                  <a14:imgProps xmlns:a14="http://schemas.microsoft.com/office/drawing/2010/main">
                    <a14:imgLayer>
                      <a14:imgEffect>
                        <a14:backgroundRemoval t="0" b="99556" l="0" r="98667">
                          <a14:foregroundMark x1="17778" y1="46222" x2="17778" y2="46222"/>
                          <a14:foregroundMark x1="35111" y1="39111" x2="35111" y2="39111"/>
                          <a14:foregroundMark x1="55111" y1="35111" x2="55111" y2="35111"/>
                          <a14:foregroundMark x1="76000" y1="30222" x2="76000" y2="30222"/>
                          <a14:foregroundMark x1="85778" y1="20444" x2="85778" y2="20444"/>
                        </a14:backgroundRemoval>
                      </a14:imgEffect>
                    </a14:imgLayer>
                  </a14:imgProps>
                </a:ext>
                <a:ext uri="{28A0092B-C50C-407E-A947-70E740481C1C}">
                  <a14:useLocalDpi xmlns:a14="http://schemas.microsoft.com/office/drawing/2010/main" val="0"/>
                </a:ext>
              </a:extLst>
            </a:blip>
            <a:srcRect/>
            <a:stretch>
              <a:fillRect/>
            </a:stretch>
          </p:blipFill>
          <p:spPr bwMode="auto">
            <a:xfrm>
              <a:off x="2070232" y="3467096"/>
              <a:ext cx="982397" cy="849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4"/>
            <p:cNvPicPr>
              <a:picLocks noChangeAspect="1" noChangeArrowheads="1"/>
            </p:cNvPicPr>
            <p:nvPr/>
          </p:nvPicPr>
          <p:blipFill rotWithShape="1">
            <a:blip r:embed="rId6">
              <a:duotone>
                <a:schemeClr val="accent4">
                  <a:shade val="45000"/>
                  <a:satMod val="135000"/>
                </a:schemeClr>
                <a:prstClr val="white"/>
              </a:duotone>
              <a:extLst>
                <a:ext uri="{BEBA8EAE-BF5A-486C-A8C5-ECC9F3942E4B}">
                  <a14:imgProps xmlns:a14="http://schemas.microsoft.com/office/drawing/2010/main">
                    <a14:imgLayer>
                      <a14:imgEffect>
                        <a14:backgroundRemoval t="0" b="28298" l="2889" r="28889">
                          <a14:foregroundMark x1="15778" y1="11277" x2="15778" y2="11277"/>
                          <a14:foregroundMark x1="16444" y1="17234" x2="16444" y2="17234"/>
                          <a14:foregroundMark x1="16444" y1="24681" x2="16444" y2="24681"/>
                          <a14:foregroundMark x1="24222" y1="22340" x2="24222" y2="22340"/>
                          <a14:foregroundMark x1="7778" y1="20851" x2="7778" y2="20851"/>
                        </a14:backgroundRemoval>
                      </a14:imgEffect>
                    </a14:imgLayer>
                  </a14:imgProps>
                </a:ext>
                <a:ext uri="{28A0092B-C50C-407E-A947-70E740481C1C}">
                  <a14:useLocalDpi xmlns:a14="http://schemas.microsoft.com/office/drawing/2010/main" val="0"/>
                </a:ext>
              </a:extLst>
            </a:blip>
            <a:srcRect r="67498" b="70303"/>
            <a:stretch/>
          </p:blipFill>
          <p:spPr bwMode="auto">
            <a:xfrm>
              <a:off x="1994724" y="1809033"/>
              <a:ext cx="1003922" cy="957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4"/>
            <p:cNvPicPr>
              <a:picLocks noChangeAspect="1" noChangeArrowheads="1"/>
            </p:cNvPicPr>
            <p:nvPr/>
          </p:nvPicPr>
          <p:blipFill rotWithShape="1">
            <a:blip r:embed="rId6">
              <a:duotone>
                <a:schemeClr val="accent4">
                  <a:shade val="45000"/>
                  <a:satMod val="135000"/>
                </a:schemeClr>
                <a:prstClr val="white"/>
              </a:duotone>
              <a:extLst>
                <a:ext uri="{BEBA8EAE-BF5A-486C-A8C5-ECC9F3942E4B}">
                  <a14:imgProps xmlns:a14="http://schemas.microsoft.com/office/drawing/2010/main">
                    <a14:imgLayer>
                      <a14:imgEffect>
                        <a14:backgroundRemoval t="0" b="28298" l="2889" r="28889">
                          <a14:foregroundMark x1="15778" y1="11277" x2="15778" y2="11277"/>
                          <a14:foregroundMark x1="16444" y1="17234" x2="16444" y2="17234"/>
                          <a14:foregroundMark x1="16444" y1="24681" x2="16444" y2="24681"/>
                          <a14:foregroundMark x1="24222" y1="22340" x2="24222" y2="22340"/>
                          <a14:foregroundMark x1="7778" y1="20851" x2="7778" y2="20851"/>
                        </a14:backgroundRemoval>
                      </a14:imgEffect>
                    </a14:imgLayer>
                  </a14:imgProps>
                </a:ext>
                <a:ext uri="{28A0092B-C50C-407E-A947-70E740481C1C}">
                  <a14:useLocalDpi xmlns:a14="http://schemas.microsoft.com/office/drawing/2010/main" val="0"/>
                </a:ext>
              </a:extLst>
            </a:blip>
            <a:srcRect r="67498" b="70303"/>
            <a:stretch/>
          </p:blipFill>
          <p:spPr bwMode="auto">
            <a:xfrm>
              <a:off x="4076748" y="1655735"/>
              <a:ext cx="1003922" cy="957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Elbow Connector 24"/>
            <p:cNvCxnSpPr/>
            <p:nvPr/>
          </p:nvCxnSpPr>
          <p:spPr>
            <a:xfrm>
              <a:off x="1249680" y="3276600"/>
              <a:ext cx="731520" cy="219456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pic>
          <p:nvPicPr>
            <p:cNvPr id="26" name="Picture 4"/>
            <p:cNvPicPr>
              <a:picLocks noChangeAspect="1" noChangeArrowheads="1"/>
            </p:cNvPicPr>
            <p:nvPr/>
          </p:nvPicPr>
          <p:blipFill>
            <a:blip r:embed="rId7">
              <a:duotone>
                <a:schemeClr val="accent4">
                  <a:shade val="45000"/>
                  <a:satMod val="135000"/>
                </a:schemeClr>
                <a:prstClr val="white"/>
              </a:duotone>
              <a:extLst>
                <a:ext uri="{BEBA8EAE-BF5A-486C-A8C5-ECC9F3942E4B}">
                  <a14:imgProps xmlns:a14="http://schemas.microsoft.com/office/drawing/2010/main">
                    <a14:imgLayer>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919654" y="4802298"/>
              <a:ext cx="1131782" cy="1131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ectangle 26"/>
            <p:cNvSpPr/>
            <p:nvPr/>
          </p:nvSpPr>
          <p:spPr>
            <a:xfrm>
              <a:off x="1576384" y="5694508"/>
              <a:ext cx="1818322" cy="307777"/>
            </a:xfrm>
            <a:prstGeom prst="rect">
              <a:avLst/>
            </a:prstGeom>
          </p:spPr>
          <p:txBody>
            <a:bodyPr wrap="square">
              <a:spAutoFit/>
            </a:bodyPr>
            <a:lstStyle/>
            <a:p>
              <a:pPr algn="ctr" defTabSz="914400">
                <a:defRPr/>
              </a:pPr>
              <a:r>
                <a:rPr lang="en-US" sz="1400" b="1" dirty="0"/>
                <a:t>Separate Registration</a:t>
              </a:r>
              <a:endParaRPr lang="en-US" sz="1400" dirty="0"/>
            </a:p>
          </p:txBody>
        </p:sp>
        <p:sp>
          <p:nvSpPr>
            <p:cNvPr id="28" name="Rectangle 27"/>
            <p:cNvSpPr/>
            <p:nvPr/>
          </p:nvSpPr>
          <p:spPr>
            <a:xfrm rot="5400000">
              <a:off x="2589962" y="5224886"/>
              <a:ext cx="883084" cy="307777"/>
            </a:xfrm>
            <a:prstGeom prst="rect">
              <a:avLst/>
            </a:prstGeom>
          </p:spPr>
          <p:txBody>
            <a:bodyPr wrap="square">
              <a:spAutoFit/>
            </a:bodyPr>
            <a:lstStyle/>
            <a:p>
              <a:pPr algn="ctr" defTabSz="914400">
                <a:defRPr/>
              </a:pPr>
              <a:r>
                <a:rPr lang="en-US" sz="1400" b="1" dirty="0"/>
                <a:t>Depots</a:t>
              </a:r>
              <a:endParaRPr lang="en-US" sz="1400" dirty="0"/>
            </a:p>
          </p:txBody>
        </p:sp>
      </p:grpSp>
    </p:spTree>
    <p:extLst>
      <p:ext uri="{BB962C8B-B14F-4D97-AF65-F5344CB8AC3E}">
        <p14:creationId xmlns:p14="http://schemas.microsoft.com/office/powerpoint/2010/main" val="11703652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GB" dirty="0"/>
              <a:t>The place of supply of goods, other than supply of goods imported into, or exported from India, shall be as under,—</a:t>
            </a:r>
          </a:p>
          <a:p>
            <a:pPr marL="0" indent="0">
              <a:buNone/>
            </a:pPr>
            <a:r>
              <a:rPr lang="en-GB" dirty="0"/>
              <a:t>where the supply </a:t>
            </a:r>
            <a:r>
              <a:rPr lang="en-GB" dirty="0">
                <a:solidFill>
                  <a:srgbClr val="FF0000"/>
                </a:solidFill>
              </a:rPr>
              <a:t>does not involve movement of goods</a:t>
            </a:r>
            <a:r>
              <a:rPr lang="en-GB" dirty="0"/>
              <a:t>, whether by the supplier or the recipient, the place of supply shall be the </a:t>
            </a:r>
            <a:r>
              <a:rPr lang="en-GB" dirty="0">
                <a:solidFill>
                  <a:srgbClr val="FF0000"/>
                </a:solidFill>
              </a:rPr>
              <a:t>location</a:t>
            </a:r>
            <a:r>
              <a:rPr lang="en-GB" dirty="0"/>
              <a:t> of such </a:t>
            </a:r>
            <a:r>
              <a:rPr lang="en-GB" dirty="0">
                <a:solidFill>
                  <a:srgbClr val="FF0000"/>
                </a:solidFill>
              </a:rPr>
              <a:t>goods </a:t>
            </a:r>
            <a:r>
              <a:rPr lang="en-GB" dirty="0"/>
              <a:t>at the time of the </a:t>
            </a:r>
            <a:r>
              <a:rPr lang="en-GB" dirty="0">
                <a:solidFill>
                  <a:srgbClr val="FF0000"/>
                </a:solidFill>
              </a:rPr>
              <a:t>delivery to the recipient</a:t>
            </a:r>
          </a:p>
        </p:txBody>
      </p:sp>
      <p:sp>
        <p:nvSpPr>
          <p:cNvPr id="7" name="Title 6">
            <a:extLst>
              <a:ext uri="{FF2B5EF4-FFF2-40B4-BE49-F238E27FC236}">
                <a16:creationId xmlns:a16="http://schemas.microsoft.com/office/drawing/2014/main" id="{247D2F1E-2912-EEB0-E076-571C559E6A10}"/>
              </a:ext>
            </a:extLst>
          </p:cNvPr>
          <p:cNvSpPr>
            <a:spLocks noGrp="1"/>
          </p:cNvSpPr>
          <p:nvPr>
            <p:ph type="title"/>
          </p:nvPr>
        </p:nvSpPr>
        <p:spPr/>
        <p:txBody>
          <a:bodyPr/>
          <a:lstStyle/>
          <a:p>
            <a:r>
              <a:rPr lang="en-IN" dirty="0"/>
              <a:t>No Movement of Goods</a:t>
            </a:r>
            <a:endParaRPr lang="en-US" dirty="0"/>
          </a:p>
        </p:txBody>
      </p:sp>
    </p:spTree>
    <p:extLst>
      <p:ext uri="{BB962C8B-B14F-4D97-AF65-F5344CB8AC3E}">
        <p14:creationId xmlns:p14="http://schemas.microsoft.com/office/powerpoint/2010/main" val="129366778"/>
      </p:ext>
    </p:extLst>
  </p:cSld>
  <p:clrMapOvr>
    <a:masterClrMapping/>
  </p:clrMapOvr>
  <mc:AlternateContent xmlns:mc="http://schemas.openxmlformats.org/markup-compatibility/2006" xmlns:p14="http://schemas.microsoft.com/office/powerpoint/2010/main">
    <mc:Choice Requires="p14">
      <p:transition p14:dur="10">
        <p:push dir="u"/>
      </p:transition>
    </mc:Choice>
    <mc:Fallback xmlns="">
      <p:transition>
        <p:push dir="u"/>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40681" y="311025"/>
            <a:ext cx="8910638" cy="701675"/>
          </a:xfrm>
        </p:spPr>
        <p:txBody>
          <a:bodyPr>
            <a:normAutofit/>
          </a:bodyPr>
          <a:lstStyle/>
          <a:p>
            <a:r>
              <a:rPr lang="en-US" sz="3200" b="1" dirty="0">
                <a:latin typeface="+mn-lt"/>
              </a:rPr>
              <a:t>Illustration: No Movement of Goods</a:t>
            </a:r>
          </a:p>
        </p:txBody>
      </p:sp>
      <p:graphicFrame>
        <p:nvGraphicFramePr>
          <p:cNvPr id="5" name="Table 4"/>
          <p:cNvGraphicFramePr>
            <a:graphicFrameLocks noGrp="1"/>
          </p:cNvGraphicFramePr>
          <p:nvPr>
            <p:extLst>
              <p:ext uri="{D42A27DB-BD31-4B8C-83A1-F6EECF244321}">
                <p14:modId xmlns:p14="http://schemas.microsoft.com/office/powerpoint/2010/main" val="31221603"/>
              </p:ext>
            </p:extLst>
          </p:nvPr>
        </p:nvGraphicFramePr>
        <p:xfrm>
          <a:off x="7637851" y="1993727"/>
          <a:ext cx="3269163" cy="2682240"/>
        </p:xfrm>
        <a:graphic>
          <a:graphicData uri="http://schemas.openxmlformats.org/drawingml/2006/table">
            <a:tbl>
              <a:tblPr firstRow="1" bandRow="1">
                <a:tableStyleId>{00A15C55-8517-42AA-B614-E9B94910E393}</a:tableStyleId>
              </a:tblPr>
              <a:tblGrid>
                <a:gridCol w="1463416">
                  <a:extLst>
                    <a:ext uri="{9D8B030D-6E8A-4147-A177-3AD203B41FA5}">
                      <a16:colId xmlns:a16="http://schemas.microsoft.com/office/drawing/2014/main" val="20000"/>
                    </a:ext>
                  </a:extLst>
                </a:gridCol>
                <a:gridCol w="1805747">
                  <a:extLst>
                    <a:ext uri="{9D8B030D-6E8A-4147-A177-3AD203B41FA5}">
                      <a16:colId xmlns:a16="http://schemas.microsoft.com/office/drawing/2014/main" val="20001"/>
                    </a:ext>
                  </a:extLst>
                </a:gridCol>
              </a:tblGrid>
              <a:tr h="230526">
                <a:tc>
                  <a:txBody>
                    <a:bodyPr/>
                    <a:lstStyle/>
                    <a:p>
                      <a:pPr algn="ctr"/>
                      <a:r>
                        <a:rPr lang="en-US" sz="2000" dirty="0">
                          <a:latin typeface="+mn-lt"/>
                          <a:cs typeface="Segoe UI Light" panose="020B0502040204020203" pitchFamily="34" charset="0"/>
                        </a:rPr>
                        <a:t>Supply to</a:t>
                      </a:r>
                      <a:endParaRPr lang="en-US" sz="2000" b="0" dirty="0">
                        <a:solidFill>
                          <a:schemeClr val="tx1"/>
                        </a:solidFill>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cs typeface="Segoe UI Light" panose="020B0502040204020203" pitchFamily="34" charset="0"/>
                        </a:rPr>
                        <a:t>GST</a:t>
                      </a:r>
                      <a:r>
                        <a:rPr lang="en-US" sz="2000" baseline="0" dirty="0">
                          <a:latin typeface="+mn-lt"/>
                          <a:cs typeface="Segoe UI Light" panose="020B0502040204020203" pitchFamily="34" charset="0"/>
                        </a:rPr>
                        <a:t> Liability </a:t>
                      </a:r>
                      <a:endParaRPr lang="en-US" sz="2000" b="0" dirty="0">
                        <a:solidFill>
                          <a:schemeClr val="tx1"/>
                        </a:solidFill>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algn="ctr"/>
                      <a:r>
                        <a:rPr lang="en-US" sz="1800" b="1" dirty="0">
                          <a:latin typeface="+mn-lt"/>
                          <a:cs typeface="Segoe UI Light" panose="020B0502040204020203" pitchFamily="34" charset="0"/>
                        </a:rPr>
                        <a:t>Customer</a:t>
                      </a:r>
                      <a:r>
                        <a:rPr lang="en-US" sz="1800" b="1" baseline="0" dirty="0">
                          <a:latin typeface="+mn-lt"/>
                          <a:cs typeface="Segoe UI Light" panose="020B0502040204020203" pitchFamily="34" charset="0"/>
                        </a:rPr>
                        <a:t> A</a:t>
                      </a:r>
                      <a:endParaRPr lang="en-US"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a:t>
                      </a:r>
                      <a:r>
                        <a:rPr lang="en-IN" sz="1800" baseline="0" dirty="0">
                          <a:latin typeface="+mn-lt"/>
                          <a:cs typeface="Segoe UI Light" panose="020B0502040204020203" pitchFamily="34" charset="0"/>
                        </a:rPr>
                        <a:t>+ </a:t>
                      </a:r>
                      <a:r>
                        <a:rPr lang="en-IN" sz="1800" dirty="0">
                          <a:latin typeface="+mn-lt"/>
                          <a:cs typeface="Segoe UI Light" panose="020B0502040204020203" pitchFamily="34" charset="0"/>
                        </a:rPr>
                        <a:t>SGST</a:t>
                      </a:r>
                      <a:endParaRPr lang="en-IN"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r>
                        <a:rPr lang="en-US" sz="1800" b="1" dirty="0">
                          <a:latin typeface="+mn-lt"/>
                          <a:cs typeface="Segoe UI Light" panose="020B0502040204020203" pitchFamily="34" charset="0"/>
                        </a:rPr>
                        <a:t>Customer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 + SGST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ctr"/>
                      <a:r>
                        <a:rPr lang="en-US" sz="1800" b="1" dirty="0">
                          <a:latin typeface="+mn-lt"/>
                          <a:cs typeface="Segoe UI Light" panose="020B0502040204020203" pitchFamily="34" charset="0"/>
                        </a:rPr>
                        <a:t>ABC Pune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No</a:t>
                      </a:r>
                      <a:r>
                        <a:rPr lang="en-IN" sz="1800" baseline="0" dirty="0">
                          <a:latin typeface="+mn-lt"/>
                          <a:cs typeface="Segoe UI Light" panose="020B0502040204020203" pitchFamily="34" charset="0"/>
                        </a:rPr>
                        <a:t> Tax Payable</a:t>
                      </a:r>
                      <a:endParaRPr lang="en-IN" sz="1800"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gn="ctr"/>
                      <a:r>
                        <a:rPr lang="en-US" sz="1800" b="1" dirty="0">
                          <a:latin typeface="+mn-lt"/>
                          <a:cs typeface="Segoe UI Light" panose="020B0502040204020203" pitchFamily="34" charset="0"/>
                        </a:rPr>
                        <a:t>ABC</a:t>
                      </a:r>
                      <a:r>
                        <a:rPr lang="en-US" sz="1800" b="1" baseline="0" dirty="0">
                          <a:latin typeface="+mn-lt"/>
                          <a:cs typeface="Segoe UI Light" panose="020B0502040204020203" pitchFamily="34" charset="0"/>
                        </a:rPr>
                        <a:t> Surat</a:t>
                      </a:r>
                      <a:endParaRPr lang="en-US" sz="1800" b="1" dirty="0">
                        <a:latin typeface="+mn-lt"/>
                        <a:cs typeface="Segoe UI 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 + SGST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832126"/>
                  </a:ext>
                </a:extLst>
              </a:tr>
              <a:tr h="457200">
                <a:tc>
                  <a:txBody>
                    <a:bodyPr/>
                    <a:lstStyle/>
                    <a:p>
                      <a:pPr algn="ctr"/>
                      <a:r>
                        <a:rPr lang="en-US" sz="1800" b="1" dirty="0">
                          <a:latin typeface="+mn-lt"/>
                          <a:cs typeface="Segoe UI Light" panose="020B0502040204020203" pitchFamily="34" charset="0"/>
                        </a:rPr>
                        <a:t>ABC Depot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IN" sz="1800" dirty="0">
                          <a:latin typeface="+mn-lt"/>
                          <a:cs typeface="Segoe UI Light" panose="020B0502040204020203" pitchFamily="34" charset="0"/>
                        </a:rPr>
                        <a:t>CGST+SGST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3" name="Group 5"/>
          <p:cNvGrpSpPr/>
          <p:nvPr/>
        </p:nvGrpSpPr>
        <p:grpSpPr>
          <a:xfrm>
            <a:off x="1120240" y="1236934"/>
            <a:ext cx="5544685" cy="4639020"/>
            <a:chOff x="0" y="1363265"/>
            <a:chExt cx="5544685" cy="4639020"/>
          </a:xfrm>
        </p:grpSpPr>
        <p:cxnSp>
          <p:nvCxnSpPr>
            <p:cNvPr id="7" name="Straight Connector 6"/>
            <p:cNvCxnSpPr/>
            <p:nvPr/>
          </p:nvCxnSpPr>
          <p:spPr>
            <a:xfrm>
              <a:off x="3325226" y="1363265"/>
              <a:ext cx="9659" cy="3894535"/>
            </a:xfrm>
            <a:prstGeom prst="line">
              <a:avLst/>
            </a:prstGeom>
            <a:ln cap="rnd" cmpd="sng">
              <a:solidFill>
                <a:schemeClr val="tx1"/>
              </a:solidFill>
              <a:prstDash val="dashDot"/>
              <a:bevel/>
              <a:headEnd type="diamond"/>
              <a:tailEnd type="diamond" w="med" len="med"/>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646930" y="1366338"/>
              <a:ext cx="1697355" cy="308479"/>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wrap="square" lIns="61651" tIns="30828" rIns="61651" bIns="30828" rtlCol="0">
              <a:spAutoFit/>
            </a:bodyPr>
            <a:lstStyle/>
            <a:p>
              <a:pPr algn="ctr" defTabSz="616512"/>
              <a:r>
                <a:rPr lang="en-US" sz="1600" b="1" dirty="0">
                  <a:solidFill>
                    <a:prstClr val="black"/>
                  </a:solidFill>
                  <a:ea typeface="Cambria Math" panose="02040503050406030204" pitchFamily="18" charset="0"/>
                  <a:cs typeface="Segoe UI Light" panose="020B0502040204020203" pitchFamily="34" charset="0"/>
                </a:rPr>
                <a:t>Maharashtra </a:t>
              </a:r>
            </a:p>
          </p:txBody>
        </p:sp>
        <p:sp>
          <p:nvSpPr>
            <p:cNvPr id="9" name="TextBox 8"/>
            <p:cNvSpPr txBox="1"/>
            <p:nvPr/>
          </p:nvSpPr>
          <p:spPr>
            <a:xfrm>
              <a:off x="3704593" y="1366338"/>
              <a:ext cx="1840092" cy="308479"/>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wrap="square" lIns="61651" tIns="30828" rIns="61651" bIns="30828" rtlCol="0">
              <a:spAutoFit/>
            </a:bodyPr>
            <a:lstStyle/>
            <a:p>
              <a:pPr algn="ctr" defTabSz="616512"/>
              <a:r>
                <a:rPr lang="en-US" sz="1600" b="1" dirty="0">
                  <a:solidFill>
                    <a:prstClr val="black"/>
                  </a:solidFill>
                  <a:ea typeface="Cambria Math" panose="02040503050406030204" pitchFamily="18" charset="0"/>
                  <a:cs typeface="Segoe UI Light" panose="020B0502040204020203" pitchFamily="34" charset="0"/>
                </a:rPr>
                <a:t>Gujarat</a:t>
              </a:r>
            </a:p>
          </p:txBody>
        </p:sp>
        <p:pic>
          <p:nvPicPr>
            <p:cNvPr id="10" name="Picture 13"/>
            <p:cNvPicPr>
              <a:picLocks noChangeAspect="1" noChangeArrowheads="1"/>
            </p:cNvPicPr>
            <p:nvPr/>
          </p:nvPicPr>
          <p:blipFill rotWithShape="1">
            <a:blip r:embed="rId3" cstate="print">
              <a:duotone>
                <a:schemeClr val="accent4">
                  <a:shade val="45000"/>
                  <a:satMod val="135000"/>
                </a:schemeClr>
                <a:prstClr val="white"/>
              </a:duotone>
              <a:extLst>
                <a:ext uri="{BEBA8EAE-BF5A-486C-A8C5-ECC9F3942E4B}">
                  <a14:imgProps xmlns:a14="http://schemas.microsoft.com/office/drawing/2010/main">
                    <a14:imgLayer>
                      <a14:imgEffect>
                        <a14:backgroundRemoval t="1617" b="48518" l="51615" r="98692"/>
                      </a14:imgEffect>
                    </a14:imgLayer>
                  </a14:imgProps>
                </a:ext>
                <a:ext uri="{28A0092B-C50C-407E-A947-70E740481C1C}">
                  <a14:useLocalDpi xmlns:a14="http://schemas.microsoft.com/office/drawing/2010/main" val="0"/>
                </a:ext>
              </a:extLst>
            </a:blip>
            <a:srcRect l="51365" b="45780"/>
            <a:stretch/>
          </p:blipFill>
          <p:spPr bwMode="auto">
            <a:xfrm>
              <a:off x="28235" y="2876883"/>
              <a:ext cx="1173050" cy="838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Elbow Connector 10"/>
            <p:cNvCxnSpPr>
              <a:stCxn id="10" idx="3"/>
              <a:endCxn id="23" idx="1"/>
            </p:cNvCxnSpPr>
            <p:nvPr/>
          </p:nvCxnSpPr>
          <p:spPr>
            <a:xfrm flipV="1">
              <a:off x="1201285" y="2287613"/>
              <a:ext cx="793439" cy="1008370"/>
            </a:xfrm>
            <a:prstGeom prst="bentConnector3">
              <a:avLst>
                <a:gd name="adj1" fmla="val 52811"/>
              </a:avLst>
            </a:prstGeom>
            <a:ln>
              <a:tailEnd type="arrow"/>
            </a:ln>
          </p:spPr>
          <p:style>
            <a:lnRef idx="2">
              <a:schemeClr val="dk1"/>
            </a:lnRef>
            <a:fillRef idx="0">
              <a:schemeClr val="dk1"/>
            </a:fillRef>
            <a:effectRef idx="1">
              <a:schemeClr val="dk1"/>
            </a:effectRef>
            <a:fontRef idx="minor">
              <a:schemeClr val="tx1"/>
            </a:fontRef>
          </p:style>
        </p:cxnSp>
        <p:cxnSp>
          <p:nvCxnSpPr>
            <p:cNvPr id="12" name="Elbow Connector 11"/>
            <p:cNvCxnSpPr/>
            <p:nvPr/>
          </p:nvCxnSpPr>
          <p:spPr>
            <a:xfrm>
              <a:off x="1172709" y="3280842"/>
              <a:ext cx="702259" cy="661205"/>
            </a:xfrm>
            <a:prstGeom prst="bentConnector3">
              <a:avLst>
                <a:gd name="adj1" fmla="val 62207"/>
              </a:avLst>
            </a:prstGeom>
            <a:ln>
              <a:tailEnd type="arrow"/>
            </a:ln>
          </p:spPr>
          <p:style>
            <a:lnRef idx="2">
              <a:schemeClr val="dk1"/>
            </a:lnRef>
            <a:fillRef idx="0">
              <a:schemeClr val="dk1"/>
            </a:fillRef>
            <a:effectRef idx="1">
              <a:schemeClr val="dk1"/>
            </a:effectRef>
            <a:fontRef idx="minor">
              <a:schemeClr val="tx1"/>
            </a:fontRef>
          </p:style>
        </p:cxnSp>
        <p:sp>
          <p:nvSpPr>
            <p:cNvPr id="13" name="Rectangle 12"/>
            <p:cNvSpPr/>
            <p:nvPr/>
          </p:nvSpPr>
          <p:spPr>
            <a:xfrm>
              <a:off x="0" y="3638882"/>
              <a:ext cx="1353685" cy="523220"/>
            </a:xfrm>
            <a:prstGeom prst="rect">
              <a:avLst/>
            </a:prstGeom>
          </p:spPr>
          <p:txBody>
            <a:bodyPr wrap="square">
              <a:spAutoFit/>
            </a:bodyPr>
            <a:lstStyle/>
            <a:p>
              <a:pPr algn="ctr" defTabSz="914400">
                <a:defRPr/>
              </a:pPr>
              <a:r>
                <a:rPr lang="en-US" sz="1400" b="1" dirty="0">
                  <a:cs typeface="Segoe UI Light" panose="020B0502040204020203" pitchFamily="34" charset="0"/>
                </a:rPr>
                <a:t>ABC Ahmednagar</a:t>
              </a:r>
              <a:endParaRPr lang="en-US" sz="1400" dirty="0">
                <a:cs typeface="Segoe UI Light" panose="020B0502040204020203" pitchFamily="34" charset="0"/>
              </a:endParaRPr>
            </a:p>
          </p:txBody>
        </p:sp>
        <p:sp>
          <p:nvSpPr>
            <p:cNvPr id="14" name="Rectangle 13"/>
            <p:cNvSpPr/>
            <p:nvPr/>
          </p:nvSpPr>
          <p:spPr>
            <a:xfrm>
              <a:off x="1600200" y="4340423"/>
              <a:ext cx="1818322" cy="307777"/>
            </a:xfrm>
            <a:prstGeom prst="rect">
              <a:avLst/>
            </a:prstGeom>
          </p:spPr>
          <p:txBody>
            <a:bodyPr wrap="square">
              <a:spAutoFit/>
            </a:bodyPr>
            <a:lstStyle/>
            <a:p>
              <a:pPr algn="ctr" defTabSz="914400">
                <a:defRPr/>
              </a:pPr>
              <a:r>
                <a:rPr lang="en-US" sz="1400" b="1">
                  <a:cs typeface="Segoe UI Light" panose="020B0502040204020203" pitchFamily="34" charset="0"/>
                </a:rPr>
                <a:t>ABC Pune</a:t>
              </a:r>
              <a:endParaRPr lang="en-US" sz="1400" dirty="0">
                <a:cs typeface="Segoe UI Light" panose="020B0502040204020203" pitchFamily="34" charset="0"/>
              </a:endParaRPr>
            </a:p>
          </p:txBody>
        </p:sp>
        <p:sp>
          <p:nvSpPr>
            <p:cNvPr id="15" name="Rectangle 14"/>
            <p:cNvSpPr/>
            <p:nvPr/>
          </p:nvSpPr>
          <p:spPr>
            <a:xfrm>
              <a:off x="1644957" y="2645305"/>
              <a:ext cx="1712926" cy="307777"/>
            </a:xfrm>
            <a:prstGeom prst="rect">
              <a:avLst/>
            </a:prstGeom>
          </p:spPr>
          <p:txBody>
            <a:bodyPr wrap="square">
              <a:spAutoFit/>
            </a:bodyPr>
            <a:lstStyle/>
            <a:p>
              <a:pPr algn="ctr" defTabSz="914400">
                <a:defRPr/>
              </a:pPr>
              <a:r>
                <a:rPr lang="en-US" sz="1400" b="1" dirty="0">
                  <a:cs typeface="Segoe UI Light" panose="020B0502040204020203" pitchFamily="34" charset="0"/>
                </a:rPr>
                <a:t>Customer A</a:t>
              </a:r>
              <a:endParaRPr lang="en-US" sz="1400" dirty="0">
                <a:cs typeface="Segoe UI Light" panose="020B0502040204020203" pitchFamily="34" charset="0"/>
              </a:endParaRPr>
            </a:p>
          </p:txBody>
        </p:sp>
        <p:cxnSp>
          <p:nvCxnSpPr>
            <p:cNvPr id="16" name="Elbow Connector 15"/>
            <p:cNvCxnSpPr/>
            <p:nvPr/>
          </p:nvCxnSpPr>
          <p:spPr>
            <a:xfrm flipV="1">
              <a:off x="3185936" y="2236402"/>
              <a:ext cx="838200" cy="1053262"/>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flipV="1">
              <a:off x="1201285" y="3289664"/>
              <a:ext cx="2403751" cy="6319"/>
            </a:xfrm>
            <a:prstGeom prst="line">
              <a:avLst/>
            </a:prstGeom>
          </p:spPr>
          <p:style>
            <a:lnRef idx="2">
              <a:schemeClr val="dk1"/>
            </a:lnRef>
            <a:fillRef idx="0">
              <a:schemeClr val="dk1"/>
            </a:fillRef>
            <a:effectRef idx="1">
              <a:schemeClr val="dk1"/>
            </a:effectRef>
            <a:fontRef idx="minor">
              <a:schemeClr val="tx1"/>
            </a:fontRef>
          </p:style>
        </p:cxnSp>
        <p:cxnSp>
          <p:nvCxnSpPr>
            <p:cNvPr id="18" name="Elbow Connector 17"/>
            <p:cNvCxnSpPr/>
            <p:nvPr/>
          </p:nvCxnSpPr>
          <p:spPr>
            <a:xfrm>
              <a:off x="3181136" y="3282554"/>
              <a:ext cx="773218" cy="1137390"/>
            </a:xfrm>
            <a:prstGeom prst="bentConnector3">
              <a:avLst>
                <a:gd name="adj1" fmla="val 54224"/>
              </a:avLst>
            </a:prstGeom>
            <a:ln>
              <a:tailEnd type="arrow"/>
            </a:ln>
          </p:spPr>
          <p:style>
            <a:lnRef idx="2">
              <a:schemeClr val="dk1"/>
            </a:lnRef>
            <a:fillRef idx="0">
              <a:schemeClr val="dk1"/>
            </a:fillRef>
            <a:effectRef idx="1">
              <a:schemeClr val="dk1"/>
            </a:effectRef>
            <a:fontRef idx="minor">
              <a:schemeClr val="tx1"/>
            </a:fontRef>
          </p:style>
        </p:cxnSp>
        <p:sp>
          <p:nvSpPr>
            <p:cNvPr id="19" name="Rectangle 18"/>
            <p:cNvSpPr/>
            <p:nvPr/>
          </p:nvSpPr>
          <p:spPr>
            <a:xfrm>
              <a:off x="3567745" y="2621608"/>
              <a:ext cx="1818322" cy="307777"/>
            </a:xfrm>
            <a:prstGeom prst="rect">
              <a:avLst/>
            </a:prstGeom>
          </p:spPr>
          <p:txBody>
            <a:bodyPr wrap="square">
              <a:spAutoFit/>
            </a:bodyPr>
            <a:lstStyle/>
            <a:p>
              <a:pPr algn="ctr" defTabSz="914400">
                <a:defRPr/>
              </a:pPr>
              <a:r>
                <a:rPr lang="en-US" sz="1400" b="1" dirty="0">
                  <a:cs typeface="Segoe UI Light" panose="020B0502040204020203" pitchFamily="34" charset="0"/>
                </a:rPr>
                <a:t>Customer B</a:t>
              </a:r>
              <a:endParaRPr lang="en-US" sz="1400" dirty="0">
                <a:cs typeface="Segoe UI Light" panose="020B0502040204020203" pitchFamily="34" charset="0"/>
              </a:endParaRPr>
            </a:p>
          </p:txBody>
        </p:sp>
        <p:pic>
          <p:nvPicPr>
            <p:cNvPr id="20" name="Picture 3"/>
            <p:cNvPicPr>
              <a:picLocks noChangeAspect="1" noChangeArrowheads="1"/>
            </p:cNvPicPr>
            <p:nvPr/>
          </p:nvPicPr>
          <p:blipFill>
            <a:blip r:embed="rId4" cstate="print">
              <a:duotone>
                <a:schemeClr val="accent4">
                  <a:shade val="45000"/>
                  <a:satMod val="135000"/>
                </a:schemeClr>
                <a:prstClr val="white"/>
              </a:duotone>
              <a:extLst>
                <a:ext uri="{BEBA8EAE-BF5A-486C-A8C5-ECC9F3942E4B}">
                  <a14:imgProps xmlns:a14="http://schemas.microsoft.com/office/drawing/2010/main">
                    <a14:imgLayer>
                      <a14:imgEffect>
                        <a14:backgroundRemoval t="0" b="99201" l="0" r="100000">
                          <a14:foregroundMark x1="65335" y1="9425" x2="65335" y2="9425"/>
                        </a14:backgroundRemoval>
                      </a14:imgEffect>
                    </a14:imgLayer>
                  </a14:imgProps>
                </a:ext>
                <a:ext uri="{28A0092B-C50C-407E-A947-70E740481C1C}">
                  <a14:useLocalDpi xmlns:a14="http://schemas.microsoft.com/office/drawing/2010/main" val="0"/>
                </a:ext>
              </a:extLst>
            </a:blip>
            <a:srcRect/>
            <a:stretch>
              <a:fillRect/>
            </a:stretch>
          </p:blipFill>
          <p:spPr bwMode="auto">
            <a:xfrm>
              <a:off x="4221593" y="3759341"/>
              <a:ext cx="1007992" cy="1007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20"/>
            <p:cNvSpPr/>
            <p:nvPr/>
          </p:nvSpPr>
          <p:spPr>
            <a:xfrm>
              <a:off x="3715885" y="4776047"/>
              <a:ext cx="1818322" cy="307777"/>
            </a:xfrm>
            <a:prstGeom prst="rect">
              <a:avLst/>
            </a:prstGeom>
          </p:spPr>
          <p:txBody>
            <a:bodyPr wrap="square">
              <a:spAutoFit/>
            </a:bodyPr>
            <a:lstStyle/>
            <a:p>
              <a:pPr algn="ctr" defTabSz="914400">
                <a:defRPr/>
              </a:pPr>
              <a:r>
                <a:rPr lang="en-US" sz="1400" b="1" dirty="0">
                  <a:cs typeface="Segoe UI Light" panose="020B0502040204020203" pitchFamily="34" charset="0"/>
                </a:rPr>
                <a:t>ABC Surat</a:t>
              </a:r>
              <a:endParaRPr lang="en-US" sz="1400" dirty="0">
                <a:cs typeface="Segoe UI Light" panose="020B0502040204020203" pitchFamily="34" charset="0"/>
              </a:endParaRPr>
            </a:p>
          </p:txBody>
        </p:sp>
        <p:pic>
          <p:nvPicPr>
            <p:cNvPr id="22" name="Picture 2"/>
            <p:cNvPicPr>
              <a:picLocks noChangeAspect="1" noChangeArrowheads="1"/>
            </p:cNvPicPr>
            <p:nvPr/>
          </p:nvPicPr>
          <p:blipFill>
            <a:blip r:embed="rId5">
              <a:biLevel thresh="75000"/>
              <a:extLst>
                <a:ext uri="{BEBA8EAE-BF5A-486C-A8C5-ECC9F3942E4B}">
                  <a14:imgProps xmlns:a14="http://schemas.microsoft.com/office/drawing/2010/main">
                    <a14:imgLayer>
                      <a14:imgEffect>
                        <a14:backgroundRemoval t="0" b="99556" l="0" r="98667">
                          <a14:foregroundMark x1="17778" y1="46222" x2="17778" y2="46222"/>
                          <a14:foregroundMark x1="35111" y1="39111" x2="35111" y2="39111"/>
                          <a14:foregroundMark x1="55111" y1="35111" x2="55111" y2="35111"/>
                          <a14:foregroundMark x1="76000" y1="30222" x2="76000" y2="30222"/>
                          <a14:foregroundMark x1="85778" y1="20444" x2="85778" y2="20444"/>
                        </a14:backgroundRemoval>
                      </a14:imgEffect>
                    </a14:imgLayer>
                  </a14:imgProps>
                </a:ext>
                <a:ext uri="{28A0092B-C50C-407E-A947-70E740481C1C}">
                  <a14:useLocalDpi xmlns:a14="http://schemas.microsoft.com/office/drawing/2010/main" val="0"/>
                </a:ext>
              </a:extLst>
            </a:blip>
            <a:srcRect/>
            <a:stretch>
              <a:fillRect/>
            </a:stretch>
          </p:blipFill>
          <p:spPr bwMode="auto">
            <a:xfrm>
              <a:off x="2070232" y="3467096"/>
              <a:ext cx="982397" cy="849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4"/>
            <p:cNvPicPr>
              <a:picLocks noChangeAspect="1" noChangeArrowheads="1"/>
            </p:cNvPicPr>
            <p:nvPr/>
          </p:nvPicPr>
          <p:blipFill rotWithShape="1">
            <a:blip r:embed="rId6">
              <a:duotone>
                <a:schemeClr val="accent4">
                  <a:shade val="45000"/>
                  <a:satMod val="135000"/>
                </a:schemeClr>
                <a:prstClr val="white"/>
              </a:duotone>
              <a:extLst>
                <a:ext uri="{BEBA8EAE-BF5A-486C-A8C5-ECC9F3942E4B}">
                  <a14:imgProps xmlns:a14="http://schemas.microsoft.com/office/drawing/2010/main">
                    <a14:imgLayer>
                      <a14:imgEffect>
                        <a14:backgroundRemoval t="0" b="28298" l="2889" r="28889">
                          <a14:foregroundMark x1="15778" y1="11277" x2="15778" y2="11277"/>
                          <a14:foregroundMark x1="16444" y1="17234" x2="16444" y2="17234"/>
                          <a14:foregroundMark x1="16444" y1="24681" x2="16444" y2="24681"/>
                          <a14:foregroundMark x1="24222" y1="22340" x2="24222" y2="22340"/>
                          <a14:foregroundMark x1="7778" y1="20851" x2="7778" y2="20851"/>
                        </a14:backgroundRemoval>
                      </a14:imgEffect>
                    </a14:imgLayer>
                  </a14:imgProps>
                </a:ext>
                <a:ext uri="{28A0092B-C50C-407E-A947-70E740481C1C}">
                  <a14:useLocalDpi xmlns:a14="http://schemas.microsoft.com/office/drawing/2010/main" val="0"/>
                </a:ext>
              </a:extLst>
            </a:blip>
            <a:srcRect r="67498" b="70303"/>
            <a:stretch/>
          </p:blipFill>
          <p:spPr bwMode="auto">
            <a:xfrm>
              <a:off x="1994724" y="1809033"/>
              <a:ext cx="1003922" cy="957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4"/>
            <p:cNvPicPr>
              <a:picLocks noChangeAspect="1" noChangeArrowheads="1"/>
            </p:cNvPicPr>
            <p:nvPr/>
          </p:nvPicPr>
          <p:blipFill rotWithShape="1">
            <a:blip r:embed="rId6">
              <a:duotone>
                <a:schemeClr val="accent4">
                  <a:shade val="45000"/>
                  <a:satMod val="135000"/>
                </a:schemeClr>
                <a:prstClr val="white"/>
              </a:duotone>
              <a:extLst>
                <a:ext uri="{BEBA8EAE-BF5A-486C-A8C5-ECC9F3942E4B}">
                  <a14:imgProps xmlns:a14="http://schemas.microsoft.com/office/drawing/2010/main">
                    <a14:imgLayer>
                      <a14:imgEffect>
                        <a14:backgroundRemoval t="0" b="28298" l="2889" r="28889">
                          <a14:foregroundMark x1="15778" y1="11277" x2="15778" y2="11277"/>
                          <a14:foregroundMark x1="16444" y1="17234" x2="16444" y2="17234"/>
                          <a14:foregroundMark x1="16444" y1="24681" x2="16444" y2="24681"/>
                          <a14:foregroundMark x1="24222" y1="22340" x2="24222" y2="22340"/>
                          <a14:foregroundMark x1="7778" y1="20851" x2="7778" y2="20851"/>
                        </a14:backgroundRemoval>
                      </a14:imgEffect>
                    </a14:imgLayer>
                  </a14:imgProps>
                </a:ext>
                <a:ext uri="{28A0092B-C50C-407E-A947-70E740481C1C}">
                  <a14:useLocalDpi xmlns:a14="http://schemas.microsoft.com/office/drawing/2010/main" val="0"/>
                </a:ext>
              </a:extLst>
            </a:blip>
            <a:srcRect r="67498" b="70303"/>
            <a:stretch/>
          </p:blipFill>
          <p:spPr bwMode="auto">
            <a:xfrm>
              <a:off x="4076748" y="1655735"/>
              <a:ext cx="1003922" cy="957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Elbow Connector 24"/>
            <p:cNvCxnSpPr/>
            <p:nvPr/>
          </p:nvCxnSpPr>
          <p:spPr>
            <a:xfrm>
              <a:off x="1249680" y="3276600"/>
              <a:ext cx="731520" cy="219456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pic>
          <p:nvPicPr>
            <p:cNvPr id="26" name="Picture 4"/>
            <p:cNvPicPr>
              <a:picLocks noChangeAspect="1" noChangeArrowheads="1"/>
            </p:cNvPicPr>
            <p:nvPr/>
          </p:nvPicPr>
          <p:blipFill>
            <a:blip r:embed="rId7">
              <a:duotone>
                <a:schemeClr val="accent4">
                  <a:shade val="45000"/>
                  <a:satMod val="135000"/>
                </a:schemeClr>
                <a:prstClr val="white"/>
              </a:duotone>
              <a:extLst>
                <a:ext uri="{BEBA8EAE-BF5A-486C-A8C5-ECC9F3942E4B}">
                  <a14:imgProps xmlns:a14="http://schemas.microsoft.com/office/drawing/2010/main">
                    <a14:imgLayer>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919654" y="4802298"/>
              <a:ext cx="1131782" cy="1131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Rectangle 26"/>
            <p:cNvSpPr/>
            <p:nvPr/>
          </p:nvSpPr>
          <p:spPr>
            <a:xfrm>
              <a:off x="1576384" y="5694508"/>
              <a:ext cx="1818322" cy="307777"/>
            </a:xfrm>
            <a:prstGeom prst="rect">
              <a:avLst/>
            </a:prstGeom>
          </p:spPr>
          <p:txBody>
            <a:bodyPr wrap="square">
              <a:spAutoFit/>
            </a:bodyPr>
            <a:lstStyle/>
            <a:p>
              <a:pPr algn="ctr" defTabSz="914400">
                <a:defRPr/>
              </a:pPr>
              <a:r>
                <a:rPr lang="en-US" sz="1400" b="1" dirty="0"/>
                <a:t>Separate Registration</a:t>
              </a:r>
              <a:endParaRPr lang="en-US" sz="1400" dirty="0"/>
            </a:p>
          </p:txBody>
        </p:sp>
        <p:sp>
          <p:nvSpPr>
            <p:cNvPr id="28" name="Rectangle 27"/>
            <p:cNvSpPr/>
            <p:nvPr/>
          </p:nvSpPr>
          <p:spPr>
            <a:xfrm rot="5400000">
              <a:off x="2589962" y="5224886"/>
              <a:ext cx="883084" cy="307777"/>
            </a:xfrm>
            <a:prstGeom prst="rect">
              <a:avLst/>
            </a:prstGeom>
          </p:spPr>
          <p:txBody>
            <a:bodyPr wrap="square">
              <a:spAutoFit/>
            </a:bodyPr>
            <a:lstStyle/>
            <a:p>
              <a:pPr algn="ctr" defTabSz="914400">
                <a:defRPr/>
              </a:pPr>
              <a:r>
                <a:rPr lang="en-US" sz="1400" b="1" dirty="0"/>
                <a:t>Depots</a:t>
              </a:r>
              <a:endParaRPr lang="en-US" sz="1400" dirty="0"/>
            </a:p>
          </p:txBody>
        </p:sp>
      </p:grpSp>
    </p:spTree>
    <p:extLst>
      <p:ext uri="{BB962C8B-B14F-4D97-AF65-F5344CB8AC3E}">
        <p14:creationId xmlns:p14="http://schemas.microsoft.com/office/powerpoint/2010/main" val="6770612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GB" dirty="0"/>
              <a:t>The place of supply of goods, other than supply of goods imported into, or exported from India, shall be as under,—</a:t>
            </a:r>
          </a:p>
          <a:p>
            <a:r>
              <a:rPr lang="en-GB" dirty="0"/>
              <a:t>Where the supply of goods is made to a person </a:t>
            </a:r>
            <a:r>
              <a:rPr lang="en-GB" dirty="0">
                <a:solidFill>
                  <a:srgbClr val="FF0000"/>
                </a:solidFill>
              </a:rPr>
              <a:t>other than a registered person</a:t>
            </a:r>
            <a:r>
              <a:rPr lang="en-GB" dirty="0"/>
              <a:t>, the place of supply shall, notwithstanding anything contrary contained in clause (a) or clause (c), be the location as per the address of the said person recorded in the invoice issued in respect of the said supply and the location of the supplier where the address of the said person is not 	recorded in the invoice.</a:t>
            </a:r>
          </a:p>
        </p:txBody>
      </p:sp>
      <p:sp>
        <p:nvSpPr>
          <p:cNvPr id="2" name="Title 1"/>
          <p:cNvSpPr>
            <a:spLocks noGrp="1"/>
          </p:cNvSpPr>
          <p:nvPr>
            <p:ph type="title"/>
          </p:nvPr>
        </p:nvSpPr>
        <p:spPr/>
        <p:txBody>
          <a:bodyPr/>
          <a:lstStyle/>
          <a:p>
            <a:r>
              <a:rPr lang="en-IN" dirty="0"/>
              <a:t>Other Scenarios</a:t>
            </a:r>
          </a:p>
        </p:txBody>
      </p:sp>
    </p:spTree>
    <p:extLst>
      <p:ext uri="{BB962C8B-B14F-4D97-AF65-F5344CB8AC3E}">
        <p14:creationId xmlns:p14="http://schemas.microsoft.com/office/powerpoint/2010/main" val="4140292338"/>
      </p:ext>
    </p:extLst>
  </p:cSld>
  <p:clrMapOvr>
    <a:masterClrMapping/>
  </p:clrMapOvr>
  <mc:AlternateContent xmlns:mc="http://schemas.openxmlformats.org/markup-compatibility/2006" xmlns:p14="http://schemas.microsoft.com/office/powerpoint/2010/main">
    <mc:Choice Requires="p14">
      <p:transition p14:dur="10">
        <p:push dir="u"/>
      </p:transition>
    </mc:Choice>
    <mc:Fallback xmlns="">
      <p:transition>
        <p:push dir="u"/>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5A6C-FE62-229F-FF9F-F812952A0438}"/>
              </a:ext>
            </a:extLst>
          </p:cNvPr>
          <p:cNvSpPr>
            <a:spLocks noGrp="1"/>
          </p:cNvSpPr>
          <p:nvPr>
            <p:ph type="title"/>
          </p:nvPr>
        </p:nvSpPr>
        <p:spPr/>
        <p:txBody>
          <a:bodyPr/>
          <a:lstStyle/>
          <a:p>
            <a:r>
              <a:rPr lang="en-IN" dirty="0"/>
              <a:t>Time of Supply</a:t>
            </a:r>
            <a:endParaRPr lang="en-US" dirty="0"/>
          </a:p>
        </p:txBody>
      </p:sp>
    </p:spTree>
    <p:extLst>
      <p:ext uri="{BB962C8B-B14F-4D97-AF65-F5344CB8AC3E}">
        <p14:creationId xmlns:p14="http://schemas.microsoft.com/office/powerpoint/2010/main" val="24783475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34E8938-F69A-8DC0-49CC-8FC53EF410FC}"/>
              </a:ext>
            </a:extLst>
          </p:cNvPr>
          <p:cNvSpPr>
            <a:spLocks noGrp="1"/>
          </p:cNvSpPr>
          <p:nvPr>
            <p:ph idx="1"/>
          </p:nvPr>
        </p:nvSpPr>
        <p:spPr/>
        <p:txBody>
          <a:bodyPr>
            <a:noAutofit/>
          </a:bodyPr>
          <a:lstStyle/>
          <a:p>
            <a:pPr marL="0" indent="0">
              <a:buNone/>
            </a:pPr>
            <a:r>
              <a:rPr lang="en-US" sz="2800" dirty="0"/>
              <a:t>The time of supply of goods shall be the </a:t>
            </a:r>
            <a:r>
              <a:rPr lang="en-US" sz="2800" b="1" dirty="0">
                <a:solidFill>
                  <a:srgbClr val="FF0000"/>
                </a:solidFill>
              </a:rPr>
              <a:t>earlier</a:t>
            </a:r>
            <a:r>
              <a:rPr lang="en-US" sz="2800" dirty="0"/>
              <a:t> of the following dates, namely:—</a:t>
            </a:r>
          </a:p>
          <a:p>
            <a:r>
              <a:rPr lang="en-US" sz="2800" dirty="0"/>
              <a:t>(a) the date of issue of invoice by the supplier or the last date on which he is required, under </a:t>
            </a:r>
            <a:r>
              <a:rPr lang="en-US" sz="2800" b="1" dirty="0">
                <a:solidFill>
                  <a:srgbClr val="FF0000"/>
                </a:solidFill>
              </a:rPr>
              <a:t>section 31</a:t>
            </a:r>
            <a:r>
              <a:rPr lang="en-US" sz="2800" dirty="0"/>
              <a:t>, to issue the invoice with respect to the supply; or</a:t>
            </a:r>
          </a:p>
          <a:p>
            <a:r>
              <a:rPr lang="en-US" sz="2800" dirty="0"/>
              <a:t>(b)the date on which the </a:t>
            </a:r>
            <a:r>
              <a:rPr lang="en-US" sz="2800" b="1" dirty="0"/>
              <a:t>supplier receives the payment</a:t>
            </a:r>
            <a:r>
              <a:rPr lang="en-US" sz="2800" dirty="0"/>
              <a:t> with respect to the supply:</a:t>
            </a:r>
          </a:p>
          <a:p>
            <a:pPr marL="0" indent="0">
              <a:buNone/>
            </a:pPr>
            <a:r>
              <a:rPr lang="en-US" sz="2800" dirty="0"/>
              <a:t>(Clause (b) exempted via Notification No. 66/2017 –Central Tax)</a:t>
            </a:r>
          </a:p>
        </p:txBody>
      </p:sp>
      <p:sp>
        <p:nvSpPr>
          <p:cNvPr id="2" name="Title 1"/>
          <p:cNvSpPr>
            <a:spLocks noGrp="1"/>
          </p:cNvSpPr>
          <p:nvPr>
            <p:ph type="title"/>
          </p:nvPr>
        </p:nvSpPr>
        <p:spPr/>
        <p:txBody>
          <a:bodyPr>
            <a:noAutofit/>
          </a:bodyPr>
          <a:lstStyle/>
          <a:p>
            <a:r>
              <a:rPr lang="en-IN" b="1" dirty="0"/>
              <a:t>For Goods</a:t>
            </a:r>
            <a:endParaRPr lang="en-IN" dirty="0"/>
          </a:p>
        </p:txBody>
      </p:sp>
    </p:spTree>
    <p:extLst>
      <p:ext uri="{BB962C8B-B14F-4D97-AF65-F5344CB8AC3E}">
        <p14:creationId xmlns:p14="http://schemas.microsoft.com/office/powerpoint/2010/main" val="925398701"/>
      </p:ext>
    </p:extLst>
  </p:cSld>
  <p:clrMapOvr>
    <a:masterClrMapping/>
  </p:clrMapOvr>
  <mc:AlternateContent xmlns:mc="http://schemas.openxmlformats.org/markup-compatibility/2006" xmlns:p14="http://schemas.microsoft.com/office/powerpoint/2010/main">
    <mc:Choice Requires="p14">
      <p:transition p14:dur="10">
        <p:push dir="u"/>
      </p:transition>
    </mc:Choice>
    <mc:Fallback xmlns="">
      <p:transition>
        <p:push dir="u"/>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err="1"/>
              <a:t>Mr.Sohan</a:t>
            </a:r>
            <a:r>
              <a:rPr lang="en-US" dirty="0"/>
              <a:t> is a distributor of iPhone 17 in Maharashtra. </a:t>
            </a:r>
            <a:r>
              <a:rPr lang="en-US" dirty="0" err="1"/>
              <a:t>Mr.Mohan</a:t>
            </a:r>
            <a:r>
              <a:rPr lang="en-US" dirty="0"/>
              <a:t> is a retailer in Pune. </a:t>
            </a:r>
          </a:p>
          <a:p>
            <a:r>
              <a:rPr lang="en-US" dirty="0" err="1"/>
              <a:t>Mr.Sohan</a:t>
            </a:r>
            <a:r>
              <a:rPr lang="en-US" dirty="0"/>
              <a:t> wishes to know the following:</a:t>
            </a:r>
          </a:p>
          <a:p>
            <a:pPr lvl="1"/>
            <a:r>
              <a:rPr lang="en-US" sz="2400" dirty="0"/>
              <a:t>When to raise invoice for sale of 17 iPhones to Captain America? Date of movement of goods 2nd March 2025</a:t>
            </a:r>
          </a:p>
          <a:p>
            <a:pPr lvl="1"/>
            <a:r>
              <a:rPr lang="en-US" sz="2400" dirty="0"/>
              <a:t>Can </a:t>
            </a:r>
            <a:r>
              <a:rPr lang="en-US" sz="2400" dirty="0" err="1"/>
              <a:t>Mr.Sohan</a:t>
            </a:r>
            <a:r>
              <a:rPr lang="en-US" sz="2400" dirty="0"/>
              <a:t> raise invoice on </a:t>
            </a:r>
            <a:r>
              <a:rPr lang="en-US" sz="2400" dirty="0" err="1"/>
              <a:t>Mr.Mohan</a:t>
            </a:r>
            <a:r>
              <a:rPr lang="en-US" sz="2400" dirty="0"/>
              <a:t> before the delivery of iPhone on 1st March 2025?</a:t>
            </a:r>
          </a:p>
        </p:txBody>
      </p:sp>
      <p:sp>
        <p:nvSpPr>
          <p:cNvPr id="2" name="Title 1"/>
          <p:cNvSpPr>
            <a:spLocks noGrp="1"/>
          </p:cNvSpPr>
          <p:nvPr>
            <p:ph type="title"/>
          </p:nvPr>
        </p:nvSpPr>
        <p:spPr/>
        <p:txBody>
          <a:bodyPr>
            <a:normAutofit/>
          </a:bodyPr>
          <a:lstStyle/>
          <a:p>
            <a:r>
              <a:rPr lang="en-US" sz="3200" b="1" dirty="0"/>
              <a:t>Illustration</a:t>
            </a:r>
          </a:p>
        </p:txBody>
      </p:sp>
      <p:sp>
        <p:nvSpPr>
          <p:cNvPr id="5" name="TextBox 4">
            <a:extLst>
              <a:ext uri="{FF2B5EF4-FFF2-40B4-BE49-F238E27FC236}">
                <a16:creationId xmlns:a16="http://schemas.microsoft.com/office/drawing/2014/main" id="{13C02683-19DE-C147-4080-3E081D3957C2}"/>
              </a:ext>
            </a:extLst>
          </p:cNvPr>
          <p:cNvSpPr txBox="1"/>
          <p:nvPr/>
        </p:nvSpPr>
        <p:spPr>
          <a:xfrm>
            <a:off x="441298" y="3658726"/>
            <a:ext cx="6231378" cy="1569660"/>
          </a:xfrm>
          <a:prstGeom prst="rect">
            <a:avLst/>
          </a:prstGeom>
          <a:noFill/>
        </p:spPr>
        <p:txBody>
          <a:bodyPr wrap="square" rtlCol="0">
            <a:spAutoFit/>
          </a:bodyPr>
          <a:lstStyle/>
          <a:p>
            <a:r>
              <a:rPr lang="en-US" sz="3200" b="1" dirty="0"/>
              <a:t>Answer:</a:t>
            </a:r>
          </a:p>
          <a:p>
            <a:pPr marL="457200" indent="-457200">
              <a:buAutoNum type="arabicPeriod"/>
            </a:pPr>
            <a:r>
              <a:rPr lang="en-US" sz="3200" dirty="0"/>
              <a:t>On or before 2</a:t>
            </a:r>
            <a:r>
              <a:rPr lang="en-US" sz="3200" baseline="30000" dirty="0"/>
              <a:t>nd</a:t>
            </a:r>
            <a:r>
              <a:rPr lang="en-US" sz="3200" dirty="0"/>
              <a:t> March 2025</a:t>
            </a:r>
          </a:p>
          <a:p>
            <a:pPr marL="457200" indent="-457200">
              <a:buAutoNum type="arabicPeriod"/>
            </a:pPr>
            <a:r>
              <a:rPr lang="en-US" sz="3200" dirty="0"/>
              <a:t>Yes, can raise on 1</a:t>
            </a:r>
            <a:r>
              <a:rPr lang="en-US" sz="3200" baseline="30000" dirty="0"/>
              <a:t>st</a:t>
            </a:r>
            <a:r>
              <a:rPr lang="en-US" sz="3200" dirty="0"/>
              <a:t> March 2025</a:t>
            </a:r>
            <a:endParaRPr lang="en-IN" sz="3200" dirty="0"/>
          </a:p>
        </p:txBody>
      </p:sp>
    </p:spTree>
    <p:extLst>
      <p:ext uri="{BB962C8B-B14F-4D97-AF65-F5344CB8AC3E}">
        <p14:creationId xmlns:p14="http://schemas.microsoft.com/office/powerpoint/2010/main" val="7070364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animBg="1"/>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t>Mr. Jaimin is a owner of Electronics shop namely Jay Electronics in Mumbai.</a:t>
            </a:r>
          </a:p>
          <a:p>
            <a:r>
              <a:rPr lang="en-US" dirty="0"/>
              <a:t>Mr. Ishwar purchased gift voucher on 1</a:t>
            </a:r>
            <a:r>
              <a:rPr lang="en-US" baseline="30000" dirty="0"/>
              <a:t>st</a:t>
            </a:r>
            <a:r>
              <a:rPr lang="en-US" dirty="0"/>
              <a:t> March 2025 from Jay Electronics amounting to Rs. 1,00,000/- which can be </a:t>
            </a:r>
            <a:r>
              <a:rPr lang="en-US" dirty="0" err="1"/>
              <a:t>encashed</a:t>
            </a:r>
            <a:r>
              <a:rPr lang="en-US" dirty="0"/>
              <a:t> against purchase of any item from Jay Electronics.</a:t>
            </a:r>
          </a:p>
          <a:p>
            <a:r>
              <a:rPr lang="en-US" dirty="0"/>
              <a:t>Mrs. Ishwar purchased Mobile phone on 14</a:t>
            </a:r>
            <a:r>
              <a:rPr lang="en-US" baseline="30000" dirty="0"/>
              <a:t>th</a:t>
            </a:r>
            <a:r>
              <a:rPr lang="en-US" dirty="0"/>
              <a:t> April 2025.</a:t>
            </a:r>
          </a:p>
          <a:p>
            <a:r>
              <a:rPr lang="en-US" dirty="0"/>
              <a:t>What is the time of supply?</a:t>
            </a:r>
          </a:p>
        </p:txBody>
      </p:sp>
      <p:sp>
        <p:nvSpPr>
          <p:cNvPr id="2" name="Title 1"/>
          <p:cNvSpPr>
            <a:spLocks noGrp="1"/>
          </p:cNvSpPr>
          <p:nvPr>
            <p:ph type="title"/>
          </p:nvPr>
        </p:nvSpPr>
        <p:spPr/>
        <p:txBody>
          <a:bodyPr>
            <a:normAutofit/>
          </a:bodyPr>
          <a:lstStyle/>
          <a:p>
            <a:r>
              <a:rPr lang="en-US" sz="3200" dirty="0"/>
              <a:t>For Services</a:t>
            </a:r>
            <a:endParaRPr lang="en-US" sz="3200" b="1" dirty="0">
              <a:latin typeface="Lato" panose="020F0502020204030203" pitchFamily="34" charset="0"/>
            </a:endParaRPr>
          </a:p>
        </p:txBody>
      </p:sp>
      <p:sp>
        <p:nvSpPr>
          <p:cNvPr id="5" name="TextBox 4">
            <a:extLst>
              <a:ext uri="{FF2B5EF4-FFF2-40B4-BE49-F238E27FC236}">
                <a16:creationId xmlns:a16="http://schemas.microsoft.com/office/drawing/2014/main" id="{13C02683-19DE-C147-4080-3E081D3957C2}"/>
              </a:ext>
            </a:extLst>
          </p:cNvPr>
          <p:cNvSpPr txBox="1"/>
          <p:nvPr/>
        </p:nvSpPr>
        <p:spPr>
          <a:xfrm>
            <a:off x="223618" y="4246427"/>
            <a:ext cx="11548172" cy="1569660"/>
          </a:xfrm>
          <a:prstGeom prst="rect">
            <a:avLst/>
          </a:prstGeom>
          <a:noFill/>
        </p:spPr>
        <p:txBody>
          <a:bodyPr wrap="square" rtlCol="0">
            <a:spAutoFit/>
          </a:bodyPr>
          <a:lstStyle/>
          <a:p>
            <a:r>
              <a:rPr lang="en-US" sz="3200" b="1" dirty="0"/>
              <a:t>Answer:</a:t>
            </a:r>
          </a:p>
          <a:p>
            <a:r>
              <a:rPr lang="en-US" sz="3200" dirty="0"/>
              <a:t>Purchase item not known at the time of sale of voucher, Time of supply shall be 14</a:t>
            </a:r>
            <a:r>
              <a:rPr lang="en-US" sz="3200" baseline="30000" dirty="0"/>
              <a:t>th</a:t>
            </a:r>
            <a:r>
              <a:rPr lang="en-US" sz="3200" dirty="0"/>
              <a:t> April 2025</a:t>
            </a:r>
            <a:endParaRPr lang="en-IN" sz="3200" dirty="0"/>
          </a:p>
        </p:txBody>
      </p:sp>
    </p:spTree>
    <p:extLst>
      <p:ext uri="{BB962C8B-B14F-4D97-AF65-F5344CB8AC3E}">
        <p14:creationId xmlns:p14="http://schemas.microsoft.com/office/powerpoint/2010/main" val="33517592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animBg="1"/>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lIns="144000">
            <a:normAutofit/>
          </a:bodyPr>
          <a:lstStyle/>
          <a:p>
            <a:pPr marL="0" indent="0">
              <a:buNone/>
            </a:pPr>
            <a:r>
              <a:rPr lang="en-GB" dirty="0"/>
              <a:t>The time of supply of services shall be the earliest of the following dates, namely:—</a:t>
            </a:r>
          </a:p>
          <a:p>
            <a:r>
              <a:rPr lang="en-GB" dirty="0"/>
              <a:t>the </a:t>
            </a:r>
            <a:r>
              <a:rPr lang="en-GB" b="1" dirty="0"/>
              <a:t>date of issue of invoice</a:t>
            </a:r>
            <a:r>
              <a:rPr lang="en-GB" dirty="0"/>
              <a:t> by the supplier, if the invoice is issued within the period prescribed under section 31 or the date of receipt of payment, whichever is earlier; or</a:t>
            </a:r>
          </a:p>
          <a:p>
            <a:r>
              <a:rPr lang="en-GB" dirty="0"/>
              <a:t>the date of </a:t>
            </a:r>
            <a:r>
              <a:rPr lang="en-GB" b="1" dirty="0"/>
              <a:t>provision of service</a:t>
            </a:r>
            <a:r>
              <a:rPr lang="en-GB" dirty="0"/>
              <a:t>, if the </a:t>
            </a:r>
            <a:r>
              <a:rPr lang="en-GB" b="1" dirty="0"/>
              <a:t>invoice is not issued within the period </a:t>
            </a:r>
            <a:r>
              <a:rPr lang="en-GB" dirty="0"/>
              <a:t>prescribed under section 31 or the date of receipt of payment, whichever is earlier; or</a:t>
            </a:r>
          </a:p>
          <a:p>
            <a:r>
              <a:rPr lang="en-GB" dirty="0"/>
              <a:t>the date on which the recipient shows the </a:t>
            </a:r>
            <a:r>
              <a:rPr lang="en-GB" b="1" dirty="0"/>
              <a:t>receipt of services</a:t>
            </a:r>
            <a:r>
              <a:rPr lang="en-GB" dirty="0"/>
              <a:t> in his books of account, in a case where the provisions of clause (a) or clause (b) do not apply:</a:t>
            </a:r>
          </a:p>
        </p:txBody>
      </p:sp>
      <p:sp>
        <p:nvSpPr>
          <p:cNvPr id="5" name="Title 4"/>
          <p:cNvSpPr>
            <a:spLocks noGrp="1"/>
          </p:cNvSpPr>
          <p:nvPr>
            <p:ph type="title"/>
          </p:nvPr>
        </p:nvSpPr>
        <p:spPr>
          <a:xfrm>
            <a:off x="0" y="0"/>
            <a:ext cx="12192000" cy="711200"/>
          </a:xfrm>
        </p:spPr>
        <p:txBody>
          <a:bodyPr>
            <a:normAutofit/>
          </a:bodyPr>
          <a:lstStyle/>
          <a:p>
            <a:r>
              <a:rPr lang="en-IN" b="1" dirty="0"/>
              <a:t>For Services</a:t>
            </a:r>
            <a:endParaRPr lang="en-IN" dirty="0"/>
          </a:p>
        </p:txBody>
      </p:sp>
    </p:spTree>
    <p:extLst>
      <p:ext uri="{BB962C8B-B14F-4D97-AF65-F5344CB8AC3E}">
        <p14:creationId xmlns:p14="http://schemas.microsoft.com/office/powerpoint/2010/main" val="749578158"/>
      </p:ext>
    </p:extLst>
  </p:cSld>
  <p:clrMapOvr>
    <a:masterClrMapping/>
  </p:clrMapOvr>
  <mc:AlternateContent xmlns:mc="http://schemas.openxmlformats.org/markup-compatibility/2006" xmlns:p14="http://schemas.microsoft.com/office/powerpoint/2010/main">
    <mc:Choice Requires="p14">
      <p:transition p14:dur="10">
        <p:push dir="u"/>
      </p:transition>
    </mc:Choice>
    <mc:Fallback xmlns="">
      <p:transition>
        <p:push dir="u"/>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A556-1199-EFA4-ABB4-1E672FDCFF1F}"/>
              </a:ext>
            </a:extLst>
          </p:cNvPr>
          <p:cNvSpPr>
            <a:spLocks noGrp="1"/>
          </p:cNvSpPr>
          <p:nvPr>
            <p:ph type="title"/>
          </p:nvPr>
        </p:nvSpPr>
        <p:spPr/>
        <p:txBody>
          <a:bodyPr/>
          <a:lstStyle/>
          <a:p>
            <a:r>
              <a:rPr lang="en-IN" dirty="0"/>
              <a:t>Tax Invoice &amp; Returns</a:t>
            </a:r>
            <a:endParaRPr lang="en-US" dirty="0"/>
          </a:p>
        </p:txBody>
      </p:sp>
    </p:spTree>
    <p:extLst>
      <p:ext uri="{BB962C8B-B14F-4D97-AF65-F5344CB8AC3E}">
        <p14:creationId xmlns:p14="http://schemas.microsoft.com/office/powerpoint/2010/main" val="21780616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DDDD-14BD-07E8-D1D3-410D078303E9}"/>
              </a:ext>
            </a:extLst>
          </p:cNvPr>
          <p:cNvSpPr>
            <a:spLocks noGrp="1"/>
          </p:cNvSpPr>
          <p:nvPr>
            <p:ph type="title"/>
          </p:nvPr>
        </p:nvSpPr>
        <p:spPr/>
        <p:txBody>
          <a:bodyPr/>
          <a:lstStyle/>
          <a:p>
            <a:r>
              <a:rPr lang="en-IN" dirty="0"/>
              <a:t>Contents of Tax Invoice</a:t>
            </a:r>
          </a:p>
        </p:txBody>
      </p:sp>
      <p:sp>
        <p:nvSpPr>
          <p:cNvPr id="3" name="Content Placeholder 2">
            <a:extLst>
              <a:ext uri="{FF2B5EF4-FFF2-40B4-BE49-F238E27FC236}">
                <a16:creationId xmlns:a16="http://schemas.microsoft.com/office/drawing/2014/main" id="{4ACEA5E5-1F5E-719F-D36A-27D5AD2294D9}"/>
              </a:ext>
            </a:extLst>
          </p:cNvPr>
          <p:cNvSpPr>
            <a:spLocks noGrp="1"/>
          </p:cNvSpPr>
          <p:nvPr>
            <p:ph idx="1"/>
          </p:nvPr>
        </p:nvSpPr>
        <p:spPr/>
        <p:txBody>
          <a:bodyPr/>
          <a:lstStyle/>
          <a:p>
            <a:r>
              <a:rPr lang="en-US" dirty="0"/>
              <a:t>There is no specific format of tax invoice prescribed under GST law</a:t>
            </a:r>
            <a:r>
              <a:rPr lang="en-IN" dirty="0"/>
              <a:t>.</a:t>
            </a:r>
          </a:p>
          <a:p>
            <a:r>
              <a:rPr lang="en-IN" dirty="0"/>
              <a:t>However, a tax invoice should contain the following –</a:t>
            </a:r>
          </a:p>
          <a:p>
            <a:pPr lvl="1"/>
            <a:r>
              <a:rPr lang="en-IN" dirty="0"/>
              <a:t>Name, address and GSTIN of supplier</a:t>
            </a:r>
          </a:p>
          <a:p>
            <a:pPr lvl="1"/>
            <a:r>
              <a:rPr lang="en-IN" dirty="0"/>
              <a:t>A consecutive serial number (maximum 16 characters); unique for a financial year</a:t>
            </a:r>
          </a:p>
          <a:p>
            <a:pPr lvl="1"/>
            <a:r>
              <a:rPr lang="en-IN" dirty="0"/>
              <a:t>Date of its issue</a:t>
            </a:r>
          </a:p>
          <a:p>
            <a:pPr lvl="1"/>
            <a:r>
              <a:rPr lang="en-IN" dirty="0"/>
              <a:t>Name, address and GSTIN (</a:t>
            </a:r>
            <a:r>
              <a:rPr lang="en-IN" i="1" dirty="0"/>
              <a:t>if available</a:t>
            </a:r>
            <a:r>
              <a:rPr lang="en-IN" dirty="0"/>
              <a:t>) of the recipient</a:t>
            </a:r>
          </a:p>
          <a:p>
            <a:pPr lvl="1"/>
            <a:r>
              <a:rPr lang="en-IN" dirty="0"/>
              <a:t>HSN code for goods or services</a:t>
            </a:r>
          </a:p>
          <a:p>
            <a:pPr lvl="1"/>
            <a:r>
              <a:rPr lang="en-IN" dirty="0"/>
              <a:t>Description of goods or services</a:t>
            </a:r>
          </a:p>
          <a:p>
            <a:pPr lvl="1"/>
            <a:r>
              <a:rPr lang="en-IN" dirty="0"/>
              <a:t>Quantity, in case of goods</a:t>
            </a:r>
          </a:p>
          <a:p>
            <a:pPr lvl="1"/>
            <a:r>
              <a:rPr lang="en-IN" dirty="0"/>
              <a:t>Total value of supply of goods or services or both</a:t>
            </a:r>
          </a:p>
          <a:p>
            <a:pPr lvl="1"/>
            <a:r>
              <a:rPr lang="en-IN" dirty="0"/>
              <a:t>Taxable value of supply of goods or services or both (after considering discount, etc.)</a:t>
            </a:r>
          </a:p>
          <a:p>
            <a:pPr lvl="1"/>
            <a:r>
              <a:rPr lang="en-IN" dirty="0"/>
              <a:t>Rate of tax (CGST, SGST, UTGST, IGST as applicable)</a:t>
            </a:r>
          </a:p>
          <a:p>
            <a:endParaRPr lang="en-IN" dirty="0"/>
          </a:p>
        </p:txBody>
      </p:sp>
    </p:spTree>
    <p:extLst>
      <p:ext uri="{BB962C8B-B14F-4D97-AF65-F5344CB8AC3E}">
        <p14:creationId xmlns:p14="http://schemas.microsoft.com/office/powerpoint/2010/main" val="3762390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0608-5169-4F54-A02F-4D67FE82003B}"/>
              </a:ext>
            </a:extLst>
          </p:cNvPr>
          <p:cNvSpPr>
            <a:spLocks noGrp="1"/>
          </p:cNvSpPr>
          <p:nvPr>
            <p:ph type="title"/>
          </p:nvPr>
        </p:nvSpPr>
        <p:spPr/>
        <p:txBody>
          <a:bodyPr/>
          <a:lstStyle/>
          <a:p>
            <a:r>
              <a:rPr lang="en-IN" dirty="0"/>
              <a:t>Contents of Tax Invoice </a:t>
            </a:r>
            <a:r>
              <a:rPr lang="en-IN" sz="2400" dirty="0"/>
              <a:t>(Contd.)</a:t>
            </a:r>
            <a:endParaRPr lang="en-IN" dirty="0"/>
          </a:p>
        </p:txBody>
      </p:sp>
      <p:sp>
        <p:nvSpPr>
          <p:cNvPr id="3" name="Content Placeholder 2">
            <a:extLst>
              <a:ext uri="{FF2B5EF4-FFF2-40B4-BE49-F238E27FC236}">
                <a16:creationId xmlns:a16="http://schemas.microsoft.com/office/drawing/2014/main" id="{9D3157CF-1A6C-4E1F-937A-BA00D3922802}"/>
              </a:ext>
            </a:extLst>
          </p:cNvPr>
          <p:cNvSpPr>
            <a:spLocks noGrp="1"/>
          </p:cNvSpPr>
          <p:nvPr>
            <p:ph idx="1"/>
          </p:nvPr>
        </p:nvSpPr>
        <p:spPr/>
        <p:txBody>
          <a:bodyPr/>
          <a:lstStyle/>
          <a:p>
            <a:r>
              <a:rPr lang="en-IN" dirty="0"/>
              <a:t>Amount of tax charged </a:t>
            </a:r>
          </a:p>
          <a:p>
            <a:r>
              <a:rPr lang="en-US" dirty="0">
                <a:solidFill>
                  <a:srgbClr val="202124"/>
                </a:solidFill>
                <a:latin typeface="+mj-lt"/>
              </a:rPr>
              <a:t>Place of supply, along with name of state</a:t>
            </a:r>
          </a:p>
          <a:p>
            <a:r>
              <a:rPr lang="en-US" i="0" dirty="0">
                <a:solidFill>
                  <a:srgbClr val="202124"/>
                </a:solidFill>
                <a:effectLst/>
                <a:latin typeface="+mj-lt"/>
              </a:rPr>
              <a:t>Address of delivery (when the same is different from the place of supply)</a:t>
            </a:r>
          </a:p>
          <a:p>
            <a:r>
              <a:rPr lang="en-US" dirty="0">
                <a:solidFill>
                  <a:srgbClr val="202124"/>
                </a:solidFill>
                <a:latin typeface="+mj-lt"/>
              </a:rPr>
              <a:t>Signature or digital signature of the supplier or his authorized representative</a:t>
            </a:r>
          </a:p>
          <a:p>
            <a:r>
              <a:rPr lang="en-US" i="0" dirty="0">
                <a:solidFill>
                  <a:srgbClr val="202124"/>
                </a:solidFill>
                <a:effectLst/>
                <a:latin typeface="+mj-lt"/>
              </a:rPr>
              <a:t>Quick Response (QR) Code, having embedded Invoice Reference Number (IRN) in it, in case e-invoice has been issued</a:t>
            </a:r>
          </a:p>
          <a:p>
            <a:pPr lvl="1"/>
            <a:r>
              <a:rPr lang="en-US" dirty="0">
                <a:solidFill>
                  <a:srgbClr val="202124"/>
                </a:solidFill>
                <a:latin typeface="+mj-lt"/>
              </a:rPr>
              <a:t>E-invoice is an invoice prepared by uploading specified particulars of invoice on Invoice Registration Portal (IRP)</a:t>
            </a:r>
          </a:p>
          <a:p>
            <a:pPr lvl="1"/>
            <a:r>
              <a:rPr lang="en-US" i="0" dirty="0">
                <a:solidFill>
                  <a:srgbClr val="202124"/>
                </a:solidFill>
                <a:effectLst/>
                <a:latin typeface="+mj-lt"/>
              </a:rPr>
              <a:t>It is applicable for B2B (Business to Business) transactions </a:t>
            </a:r>
          </a:p>
          <a:p>
            <a:endParaRPr lang="en-US" i="0" dirty="0">
              <a:effectLst/>
              <a:latin typeface="+mj-lt"/>
            </a:endParaRPr>
          </a:p>
        </p:txBody>
      </p:sp>
    </p:spTree>
    <p:extLst>
      <p:ext uri="{BB962C8B-B14F-4D97-AF65-F5344CB8AC3E}">
        <p14:creationId xmlns:p14="http://schemas.microsoft.com/office/powerpoint/2010/main" val="3465630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A6164-254C-5A35-2063-B9ACD9A54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700BD-C5B0-2B66-089D-8035ED7CD5A2}"/>
              </a:ext>
            </a:extLst>
          </p:cNvPr>
          <p:cNvSpPr>
            <a:spLocks noGrp="1"/>
          </p:cNvSpPr>
          <p:nvPr>
            <p:ph type="title"/>
          </p:nvPr>
        </p:nvSpPr>
        <p:spPr/>
        <p:txBody>
          <a:bodyPr/>
          <a:lstStyle/>
          <a:p>
            <a:r>
              <a:rPr lang="en-US" dirty="0"/>
              <a:t>Manner for Issuing Invoice for Goods</a:t>
            </a:r>
            <a:endParaRPr lang="en-IN" dirty="0"/>
          </a:p>
        </p:txBody>
      </p:sp>
      <p:graphicFrame>
        <p:nvGraphicFramePr>
          <p:cNvPr id="4" name="Content Placeholder 3">
            <a:extLst>
              <a:ext uri="{FF2B5EF4-FFF2-40B4-BE49-F238E27FC236}">
                <a16:creationId xmlns:a16="http://schemas.microsoft.com/office/drawing/2014/main" id="{F58A6585-8618-90CA-25FE-4740D4935689}"/>
              </a:ext>
            </a:extLst>
          </p:cNvPr>
          <p:cNvGraphicFramePr>
            <a:graphicFrameLocks noGrp="1"/>
          </p:cNvGraphicFramePr>
          <p:nvPr>
            <p:ph idx="1"/>
          </p:nvPr>
        </p:nvGraphicFramePr>
        <p:xfrm>
          <a:off x="233267" y="826123"/>
          <a:ext cx="11719248" cy="5108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2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366C73EA-562F-4853-8F19-8ACDA3C57F41}"/>
                                            </p:graphicEl>
                                          </p:spTgt>
                                        </p:tgtEl>
                                        <p:attrNameLst>
                                          <p:attrName>style.visibility</p:attrName>
                                        </p:attrNameLst>
                                      </p:cBhvr>
                                      <p:to>
                                        <p:strVal val="visible"/>
                                      </p:to>
                                    </p:set>
                                    <p:animEffect transition="in" filter="fade">
                                      <p:cBhvr>
                                        <p:cTn id="7" dur="500"/>
                                        <p:tgtEl>
                                          <p:spTgt spid="4">
                                            <p:graphicEl>
                                              <a:dgm id="{366C73EA-562F-4853-8F19-8ACDA3C57F4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A804A767-C9A4-4C71-99A3-696C30DFEEC6}"/>
                                            </p:graphicEl>
                                          </p:spTgt>
                                        </p:tgtEl>
                                        <p:attrNameLst>
                                          <p:attrName>style.visibility</p:attrName>
                                        </p:attrNameLst>
                                      </p:cBhvr>
                                      <p:to>
                                        <p:strVal val="visible"/>
                                      </p:to>
                                    </p:set>
                                    <p:animEffect transition="in" filter="fade">
                                      <p:cBhvr>
                                        <p:cTn id="12" dur="500"/>
                                        <p:tgtEl>
                                          <p:spTgt spid="4">
                                            <p:graphicEl>
                                              <a:dgm id="{A804A767-C9A4-4C71-99A3-696C30DFEEC6}"/>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161C1972-B6DA-4EE0-A4FD-3AE6EB1BF936}"/>
                                            </p:graphicEl>
                                          </p:spTgt>
                                        </p:tgtEl>
                                        <p:attrNameLst>
                                          <p:attrName>style.visibility</p:attrName>
                                        </p:attrNameLst>
                                      </p:cBhvr>
                                      <p:to>
                                        <p:strVal val="visible"/>
                                      </p:to>
                                    </p:set>
                                    <p:animEffect transition="in" filter="fade">
                                      <p:cBhvr>
                                        <p:cTn id="15" dur="500"/>
                                        <p:tgtEl>
                                          <p:spTgt spid="4">
                                            <p:graphicEl>
                                              <a:dgm id="{161C1972-B6DA-4EE0-A4FD-3AE6EB1BF936}"/>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DBAE49BF-44E8-4494-8ACB-D8805E9AD6BD}"/>
                                            </p:graphicEl>
                                          </p:spTgt>
                                        </p:tgtEl>
                                        <p:attrNameLst>
                                          <p:attrName>style.visibility</p:attrName>
                                        </p:attrNameLst>
                                      </p:cBhvr>
                                      <p:to>
                                        <p:strVal val="visible"/>
                                      </p:to>
                                    </p:set>
                                    <p:animEffect transition="in" filter="fade">
                                      <p:cBhvr>
                                        <p:cTn id="20" dur="500"/>
                                        <p:tgtEl>
                                          <p:spTgt spid="4">
                                            <p:graphicEl>
                                              <a:dgm id="{DBAE49BF-44E8-4494-8ACB-D8805E9AD6BD}"/>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0C0AF6E9-0819-4E33-ABD7-3456A2C57C1F}"/>
                                            </p:graphicEl>
                                          </p:spTgt>
                                        </p:tgtEl>
                                        <p:attrNameLst>
                                          <p:attrName>style.visibility</p:attrName>
                                        </p:attrNameLst>
                                      </p:cBhvr>
                                      <p:to>
                                        <p:strVal val="visible"/>
                                      </p:to>
                                    </p:set>
                                    <p:animEffect transition="in" filter="fade">
                                      <p:cBhvr>
                                        <p:cTn id="23" dur="500"/>
                                        <p:tgtEl>
                                          <p:spTgt spid="4">
                                            <p:graphicEl>
                                              <a:dgm id="{0C0AF6E9-0819-4E33-ABD7-3456A2C57C1F}"/>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B19976B9-D562-40EB-A378-AA23296381C4}"/>
                                            </p:graphicEl>
                                          </p:spTgt>
                                        </p:tgtEl>
                                        <p:attrNameLst>
                                          <p:attrName>style.visibility</p:attrName>
                                        </p:attrNameLst>
                                      </p:cBhvr>
                                      <p:to>
                                        <p:strVal val="visible"/>
                                      </p:to>
                                    </p:set>
                                    <p:animEffect transition="in" filter="fade">
                                      <p:cBhvr>
                                        <p:cTn id="28" dur="500"/>
                                        <p:tgtEl>
                                          <p:spTgt spid="4">
                                            <p:graphicEl>
                                              <a:dgm id="{B19976B9-D562-40EB-A378-AA23296381C4}"/>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1EE28F92-8638-43DB-9652-251DA40F31A1}"/>
                                            </p:graphicEl>
                                          </p:spTgt>
                                        </p:tgtEl>
                                        <p:attrNameLst>
                                          <p:attrName>style.visibility</p:attrName>
                                        </p:attrNameLst>
                                      </p:cBhvr>
                                      <p:to>
                                        <p:strVal val="visible"/>
                                      </p:to>
                                    </p:set>
                                    <p:animEffect transition="in" filter="fade">
                                      <p:cBhvr>
                                        <p:cTn id="31" dur="500"/>
                                        <p:tgtEl>
                                          <p:spTgt spid="4">
                                            <p:graphicEl>
                                              <a:dgm id="{1EE28F92-8638-43DB-9652-251DA40F31A1}"/>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FC537BC4-8A93-4137-95D5-3F9EF220790F}"/>
                                            </p:graphicEl>
                                          </p:spTgt>
                                        </p:tgtEl>
                                        <p:attrNameLst>
                                          <p:attrName>style.visibility</p:attrName>
                                        </p:attrNameLst>
                                      </p:cBhvr>
                                      <p:to>
                                        <p:strVal val="visible"/>
                                      </p:to>
                                    </p:set>
                                    <p:animEffect transition="in" filter="fade">
                                      <p:cBhvr>
                                        <p:cTn id="36" dur="500"/>
                                        <p:tgtEl>
                                          <p:spTgt spid="4">
                                            <p:graphicEl>
                                              <a:dgm id="{FC537BC4-8A93-4137-95D5-3F9EF220790F}"/>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90E7619E-189C-4792-9A29-89BE5FADA703}"/>
                                            </p:graphicEl>
                                          </p:spTgt>
                                        </p:tgtEl>
                                        <p:attrNameLst>
                                          <p:attrName>style.visibility</p:attrName>
                                        </p:attrNameLst>
                                      </p:cBhvr>
                                      <p:to>
                                        <p:strVal val="visible"/>
                                      </p:to>
                                    </p:set>
                                    <p:animEffect transition="in" filter="fade">
                                      <p:cBhvr>
                                        <p:cTn id="39" dur="500"/>
                                        <p:tgtEl>
                                          <p:spTgt spid="4">
                                            <p:graphicEl>
                                              <a:dgm id="{90E7619E-189C-4792-9A29-89BE5FADA703}"/>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9FF1F056-3BA9-4D92-A215-2F61B6C3FC44}"/>
                                            </p:graphicEl>
                                          </p:spTgt>
                                        </p:tgtEl>
                                        <p:attrNameLst>
                                          <p:attrName>style.visibility</p:attrName>
                                        </p:attrNameLst>
                                      </p:cBhvr>
                                      <p:to>
                                        <p:strVal val="visible"/>
                                      </p:to>
                                    </p:set>
                                    <p:animEffect transition="in" filter="fade">
                                      <p:cBhvr>
                                        <p:cTn id="44" dur="500"/>
                                        <p:tgtEl>
                                          <p:spTgt spid="4">
                                            <p:graphicEl>
                                              <a:dgm id="{9FF1F056-3BA9-4D92-A215-2F61B6C3FC44}"/>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39CE26A4-797E-4733-A110-FC0E9D784E19}"/>
                                            </p:graphicEl>
                                          </p:spTgt>
                                        </p:tgtEl>
                                        <p:attrNameLst>
                                          <p:attrName>style.visibility</p:attrName>
                                        </p:attrNameLst>
                                      </p:cBhvr>
                                      <p:to>
                                        <p:strVal val="visible"/>
                                      </p:to>
                                    </p:set>
                                    <p:animEffect transition="in" filter="fade">
                                      <p:cBhvr>
                                        <p:cTn id="47" dur="500"/>
                                        <p:tgtEl>
                                          <p:spTgt spid="4">
                                            <p:graphicEl>
                                              <a:dgm id="{39CE26A4-797E-4733-A110-FC0E9D784E19}"/>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A93875C0-1F44-45AC-9E65-460974A8E35D}"/>
                                            </p:graphicEl>
                                          </p:spTgt>
                                        </p:tgtEl>
                                        <p:attrNameLst>
                                          <p:attrName>style.visibility</p:attrName>
                                        </p:attrNameLst>
                                      </p:cBhvr>
                                      <p:to>
                                        <p:strVal val="visible"/>
                                      </p:to>
                                    </p:set>
                                    <p:animEffect transition="in" filter="fade">
                                      <p:cBhvr>
                                        <p:cTn id="52" dur="500"/>
                                        <p:tgtEl>
                                          <p:spTgt spid="4">
                                            <p:graphicEl>
                                              <a:dgm id="{A93875C0-1F44-45AC-9E65-460974A8E35D}"/>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4411B210-34C4-43F7-AC6A-337207AC0365}"/>
                                            </p:graphicEl>
                                          </p:spTgt>
                                        </p:tgtEl>
                                        <p:attrNameLst>
                                          <p:attrName>style.visibility</p:attrName>
                                        </p:attrNameLst>
                                      </p:cBhvr>
                                      <p:to>
                                        <p:strVal val="visible"/>
                                      </p:to>
                                    </p:set>
                                    <p:animEffect transition="in" filter="fade">
                                      <p:cBhvr>
                                        <p:cTn id="55" dur="500"/>
                                        <p:tgtEl>
                                          <p:spTgt spid="4">
                                            <p:graphicEl>
                                              <a:dgm id="{4411B210-34C4-43F7-AC6A-337207AC036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12774-6C2E-0152-09A6-D288B210E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9D50B-D9B0-06E8-7E0D-045334A54691}"/>
              </a:ext>
            </a:extLst>
          </p:cNvPr>
          <p:cNvSpPr>
            <a:spLocks noGrp="1"/>
          </p:cNvSpPr>
          <p:nvPr>
            <p:ph type="title"/>
          </p:nvPr>
        </p:nvSpPr>
        <p:spPr/>
        <p:txBody>
          <a:bodyPr/>
          <a:lstStyle/>
          <a:p>
            <a:r>
              <a:rPr lang="en-US" dirty="0"/>
              <a:t>Bill of Supply</a:t>
            </a:r>
            <a:endParaRPr lang="en-IN" dirty="0"/>
          </a:p>
        </p:txBody>
      </p:sp>
      <p:sp>
        <p:nvSpPr>
          <p:cNvPr id="3" name="Content Placeholder 2">
            <a:extLst>
              <a:ext uri="{FF2B5EF4-FFF2-40B4-BE49-F238E27FC236}">
                <a16:creationId xmlns:a16="http://schemas.microsoft.com/office/drawing/2014/main" id="{92356309-556F-0643-E89E-53F51B569A98}"/>
              </a:ext>
            </a:extLst>
          </p:cNvPr>
          <p:cNvSpPr>
            <a:spLocks noGrp="1"/>
          </p:cNvSpPr>
          <p:nvPr>
            <p:ph idx="1"/>
          </p:nvPr>
        </p:nvSpPr>
        <p:spPr/>
        <p:txBody>
          <a:bodyPr/>
          <a:lstStyle/>
          <a:p>
            <a:r>
              <a:rPr lang="en-US" dirty="0"/>
              <a:t>A registered person – </a:t>
            </a:r>
          </a:p>
          <a:p>
            <a:pPr lvl="1"/>
            <a:r>
              <a:rPr lang="en-US" dirty="0"/>
              <a:t>Supplying exempted goods or services or both OR</a:t>
            </a:r>
          </a:p>
          <a:p>
            <a:pPr lvl="1"/>
            <a:r>
              <a:rPr lang="en-US" dirty="0"/>
              <a:t>Paying tax under composition scheme</a:t>
            </a:r>
          </a:p>
          <a:p>
            <a:r>
              <a:rPr lang="en-US" dirty="0"/>
              <a:t>Shall issue a bill of supply instead of a tax invoice.</a:t>
            </a:r>
          </a:p>
          <a:p>
            <a:r>
              <a:rPr lang="en-US" dirty="0"/>
              <a:t>This is because no tax is collected from the recipient in such cases.</a:t>
            </a:r>
          </a:p>
          <a:p>
            <a:r>
              <a:rPr lang="en-US" dirty="0"/>
              <a:t>Bill of supply does not contain the rate of tax and amount of tax.</a:t>
            </a:r>
          </a:p>
          <a:p>
            <a:endParaRPr lang="en-US" dirty="0"/>
          </a:p>
          <a:p>
            <a:endParaRPr lang="en-IN" dirty="0"/>
          </a:p>
        </p:txBody>
      </p:sp>
    </p:spTree>
    <p:extLst>
      <p:ext uri="{BB962C8B-B14F-4D97-AF65-F5344CB8AC3E}">
        <p14:creationId xmlns:p14="http://schemas.microsoft.com/office/powerpoint/2010/main" val="1795745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74ED39-A6F6-A85A-5EAC-639D5227BFF3}"/>
              </a:ext>
            </a:extLst>
          </p:cNvPr>
          <p:cNvSpPr txBox="1">
            <a:spLocks/>
          </p:cNvSpPr>
          <p:nvPr/>
        </p:nvSpPr>
        <p:spPr>
          <a:xfrm>
            <a:off x="1163101" y="1416750"/>
            <a:ext cx="10776857" cy="35922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p:txBody>
      </p:sp>
      <p:sp>
        <p:nvSpPr>
          <p:cNvPr id="3" name="Content Placeholder 2">
            <a:extLst>
              <a:ext uri="{FF2B5EF4-FFF2-40B4-BE49-F238E27FC236}">
                <a16:creationId xmlns:a16="http://schemas.microsoft.com/office/drawing/2014/main" id="{04955720-1D90-7B19-A34D-4EA30705929C}"/>
              </a:ext>
            </a:extLst>
          </p:cNvPr>
          <p:cNvSpPr>
            <a:spLocks noGrp="1"/>
          </p:cNvSpPr>
          <p:nvPr>
            <p:ph idx="1"/>
          </p:nvPr>
        </p:nvSpPr>
        <p:spPr>
          <a:xfrm>
            <a:off x="10317" y="861134"/>
            <a:ext cx="11929641" cy="4261225"/>
          </a:xfrm>
        </p:spPr>
        <p:txBody>
          <a:bodyPr/>
          <a:lstStyle/>
          <a:p>
            <a:pPr eaLnBrk="0">
              <a:lnSpc>
                <a:spcPct val="100000"/>
              </a:lnSpc>
            </a:pPr>
            <a:r>
              <a:rPr lang="en-US" dirty="0"/>
              <a:t>Mode for transfer of information to tax administration</a:t>
            </a:r>
          </a:p>
          <a:p>
            <a:pPr eaLnBrk="0">
              <a:lnSpc>
                <a:spcPct val="100000"/>
              </a:lnSpc>
            </a:pPr>
            <a:r>
              <a:rPr lang="en-US" dirty="0"/>
              <a:t>To declare tax liability for a given period</a:t>
            </a:r>
          </a:p>
          <a:p>
            <a:pPr eaLnBrk="0">
              <a:lnSpc>
                <a:spcPct val="100000"/>
              </a:lnSpc>
            </a:pPr>
            <a:r>
              <a:rPr lang="en-US" dirty="0"/>
              <a:t>Furnish details about the taxes paid in accordance with that return</a:t>
            </a:r>
          </a:p>
          <a:p>
            <a:pPr eaLnBrk="0">
              <a:lnSpc>
                <a:spcPct val="100000"/>
              </a:lnSpc>
            </a:pPr>
            <a:r>
              <a:rPr lang="en-US" dirty="0"/>
              <a:t>Compliance verification program of tax administration</a:t>
            </a:r>
          </a:p>
          <a:p>
            <a:pPr eaLnBrk="0">
              <a:lnSpc>
                <a:spcPct val="100000"/>
              </a:lnSpc>
            </a:pPr>
            <a:r>
              <a:rPr lang="en-US" dirty="0"/>
              <a:t>Providing  necessary inputs for taking policy decision</a:t>
            </a:r>
          </a:p>
          <a:p>
            <a:pPr eaLnBrk="0">
              <a:lnSpc>
                <a:spcPct val="100000"/>
              </a:lnSpc>
            </a:pPr>
            <a:r>
              <a:rPr lang="en-US" dirty="0"/>
              <a:t>Management of audit and anti-evasion programs of tax administration</a:t>
            </a:r>
          </a:p>
          <a:p>
            <a:pPr marL="0" indent="0">
              <a:lnSpc>
                <a:spcPct val="100000"/>
              </a:lnSpc>
              <a:buNone/>
            </a:pPr>
            <a:endParaRPr lang="en-US" sz="1800" dirty="0"/>
          </a:p>
          <a:p>
            <a:pPr>
              <a:lnSpc>
                <a:spcPct val="100000"/>
              </a:lnSpc>
            </a:pPr>
            <a:endParaRPr lang="en-US" dirty="0"/>
          </a:p>
        </p:txBody>
      </p:sp>
      <p:sp>
        <p:nvSpPr>
          <p:cNvPr id="2" name="Title 1">
            <a:extLst>
              <a:ext uri="{FF2B5EF4-FFF2-40B4-BE49-F238E27FC236}">
                <a16:creationId xmlns:a16="http://schemas.microsoft.com/office/drawing/2014/main" id="{40C51B74-B771-F2C7-3711-A7EC600E5E4E}"/>
              </a:ext>
            </a:extLst>
          </p:cNvPr>
          <p:cNvSpPr>
            <a:spLocks noGrp="1"/>
          </p:cNvSpPr>
          <p:nvPr>
            <p:ph type="title"/>
          </p:nvPr>
        </p:nvSpPr>
        <p:spPr/>
        <p:txBody>
          <a:bodyPr>
            <a:normAutofit/>
          </a:bodyPr>
          <a:lstStyle/>
          <a:p>
            <a:r>
              <a:rPr lang="en-US" sz="3600" dirty="0">
                <a:solidFill>
                  <a:schemeClr val="tx1"/>
                </a:solidFill>
                <a:cs typeface="Times New Roman" panose="02020603050405020304" pitchFamily="18" charset="0"/>
              </a:rPr>
              <a:t>Why File Returns ?</a:t>
            </a:r>
            <a:endParaRPr lang="en-US" dirty="0">
              <a:solidFill>
                <a:schemeClr val="tx1"/>
              </a:solidFill>
            </a:endParaRPr>
          </a:p>
        </p:txBody>
      </p:sp>
    </p:spTree>
    <p:extLst>
      <p:ext uri="{BB962C8B-B14F-4D97-AF65-F5344CB8AC3E}">
        <p14:creationId xmlns:p14="http://schemas.microsoft.com/office/powerpoint/2010/main" val="2127432524"/>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5DE09DE-434B-4235-9F45-82302911FFB0}"/>
              </a:ext>
            </a:extLst>
          </p:cNvPr>
          <p:cNvSpPr>
            <a:spLocks noGrp="1"/>
          </p:cNvSpPr>
          <p:nvPr>
            <p:ph idx="1"/>
          </p:nvPr>
        </p:nvSpPr>
        <p:spPr>
          <a:xfrm>
            <a:off x="131180" y="861134"/>
            <a:ext cx="11929641" cy="5690585"/>
          </a:xfrm>
        </p:spPr>
        <p:txBody>
          <a:bodyPr/>
          <a:lstStyle/>
          <a:p>
            <a:r>
              <a:rPr lang="en-US" sz="2400" dirty="0"/>
              <a:t>Basic details – GSTIN, Name, period, Turnover in last Financial Year</a:t>
            </a:r>
          </a:p>
          <a:p>
            <a:r>
              <a:rPr lang="en-US" sz="2400" dirty="0"/>
              <a:t>Invoice level details </a:t>
            </a:r>
          </a:p>
          <a:p>
            <a:r>
              <a:rPr lang="en-US" sz="2400" dirty="0"/>
              <a:t>B2B supplies, interstate and intrastate, interstate B2C supplies more than Rs. 2.5 lakh</a:t>
            </a:r>
          </a:p>
          <a:p>
            <a:pPr lvl="1">
              <a:lnSpc>
                <a:spcPct val="120000"/>
              </a:lnSpc>
            </a:pPr>
            <a:r>
              <a:rPr lang="en-US" sz="2200" dirty="0"/>
              <a:t>GSTIN of recipient</a:t>
            </a:r>
          </a:p>
          <a:p>
            <a:pPr lvl="1">
              <a:lnSpc>
                <a:spcPct val="120000"/>
              </a:lnSpc>
            </a:pPr>
            <a:r>
              <a:rPr lang="en-US" sz="2200" dirty="0"/>
              <a:t> Invoice details – Number, date, Value, HSN/SAC, Taxable value</a:t>
            </a:r>
          </a:p>
          <a:p>
            <a:pPr lvl="1">
              <a:lnSpc>
                <a:spcPct val="120000"/>
              </a:lnSpc>
            </a:pPr>
            <a:r>
              <a:rPr lang="en-US" sz="2200" dirty="0"/>
              <a:t>Tax – IGST, CGST, SGST – Rate and Tax amount</a:t>
            </a:r>
          </a:p>
          <a:p>
            <a:pPr lvl="1">
              <a:lnSpc>
                <a:spcPct val="120000"/>
              </a:lnSpc>
            </a:pPr>
            <a:r>
              <a:rPr lang="en-US" sz="2200" dirty="0"/>
              <a:t>Place of Supply (relevant for interstate supplies)</a:t>
            </a:r>
          </a:p>
          <a:p>
            <a:pPr>
              <a:lnSpc>
                <a:spcPct val="120000"/>
              </a:lnSpc>
            </a:pPr>
            <a:r>
              <a:rPr lang="en-US" sz="2400" dirty="0"/>
              <a:t>Details of supplies to customers</a:t>
            </a:r>
          </a:p>
          <a:p>
            <a:pPr lvl="1"/>
            <a:r>
              <a:rPr lang="en-US" sz="2200" dirty="0"/>
              <a:t>HSN/SAC</a:t>
            </a:r>
          </a:p>
          <a:p>
            <a:pPr lvl="1"/>
            <a:r>
              <a:rPr lang="en-US" sz="2200" dirty="0"/>
              <a:t>Place of Supply</a:t>
            </a:r>
          </a:p>
          <a:p>
            <a:pPr lvl="1"/>
            <a:r>
              <a:rPr lang="en-US" sz="2200" dirty="0"/>
              <a:t>Aggregate value</a:t>
            </a:r>
          </a:p>
          <a:p>
            <a:pPr lvl="1"/>
            <a:r>
              <a:rPr lang="en-US" sz="2200" dirty="0"/>
              <a:t>Tax – IGST, CGST, SGST – Rate and tax amount</a:t>
            </a:r>
          </a:p>
          <a:p>
            <a:pPr>
              <a:lnSpc>
                <a:spcPct val="120000"/>
              </a:lnSpc>
            </a:pPr>
            <a:endParaRPr lang="en-US"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4E4C9DEA-F167-37DE-59B1-6A95AB2BF147}"/>
              </a:ext>
            </a:extLst>
          </p:cNvPr>
          <p:cNvSpPr>
            <a:spLocks noGrp="1"/>
          </p:cNvSpPr>
          <p:nvPr>
            <p:ph type="title"/>
          </p:nvPr>
        </p:nvSpPr>
        <p:spPr/>
        <p:txBody>
          <a:bodyPr>
            <a:normAutofit/>
          </a:bodyPr>
          <a:lstStyle/>
          <a:p>
            <a:r>
              <a:rPr lang="en-US" dirty="0"/>
              <a:t>GSTR-1 Statement of Outward Supplies</a:t>
            </a:r>
          </a:p>
        </p:txBody>
      </p:sp>
    </p:spTree>
    <p:extLst>
      <p:ext uri="{BB962C8B-B14F-4D97-AF65-F5344CB8AC3E}">
        <p14:creationId xmlns:p14="http://schemas.microsoft.com/office/powerpoint/2010/main" val="1055207605"/>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6A70300-1625-A308-7008-C25985ED7E9C}"/>
              </a:ext>
            </a:extLst>
          </p:cNvPr>
          <p:cNvSpPr txBox="1">
            <a:spLocks/>
          </p:cNvSpPr>
          <p:nvPr/>
        </p:nvSpPr>
        <p:spPr>
          <a:xfrm>
            <a:off x="1097283" y="2831682"/>
            <a:ext cx="11850914"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147A6888-70B8-7191-4FFA-2C3BF127FA4E}"/>
              </a:ext>
            </a:extLst>
          </p:cNvPr>
          <p:cNvSpPr>
            <a:spLocks noGrp="1"/>
          </p:cNvSpPr>
          <p:nvPr>
            <p:ph idx="1"/>
          </p:nvPr>
        </p:nvSpPr>
        <p:spPr>
          <a:xfrm>
            <a:off x="131180" y="863444"/>
            <a:ext cx="11929641" cy="4960307"/>
          </a:xfrm>
        </p:spPr>
        <p:txBody>
          <a:bodyPr/>
          <a:lstStyle/>
          <a:p>
            <a:pPr>
              <a:lnSpc>
                <a:spcPct val="100000"/>
              </a:lnSpc>
            </a:pPr>
            <a:r>
              <a:rPr lang="en-US" sz="2400" b="1" dirty="0">
                <a:cs typeface="Times New Roman" panose="02020603050405020304" pitchFamily="18" charset="0"/>
              </a:rPr>
              <a:t>Credit and Debit Notes – linkage to original invoice</a:t>
            </a:r>
          </a:p>
          <a:p>
            <a:pPr lvl="1">
              <a:lnSpc>
                <a:spcPct val="100000"/>
              </a:lnSpc>
            </a:pPr>
            <a:r>
              <a:rPr lang="en-US" sz="2400" dirty="0">
                <a:cs typeface="Times New Roman" panose="02020603050405020304" pitchFamily="18" charset="0"/>
              </a:rPr>
              <a:t>Document number</a:t>
            </a:r>
          </a:p>
          <a:p>
            <a:pPr lvl="1">
              <a:lnSpc>
                <a:spcPct val="100000"/>
              </a:lnSpc>
            </a:pPr>
            <a:r>
              <a:rPr lang="en-US" sz="2400" dirty="0">
                <a:cs typeface="Times New Roman" panose="02020603050405020304" pitchFamily="18" charset="0"/>
              </a:rPr>
              <a:t>Original Invoice Number</a:t>
            </a:r>
          </a:p>
          <a:p>
            <a:pPr lvl="1">
              <a:lnSpc>
                <a:spcPct val="100000"/>
              </a:lnSpc>
            </a:pPr>
            <a:r>
              <a:rPr lang="en-US" sz="2400" dirty="0">
                <a:cs typeface="Times New Roman" panose="02020603050405020304" pitchFamily="18" charset="0"/>
              </a:rPr>
              <a:t>Deferential amount and deferential tax</a:t>
            </a:r>
          </a:p>
          <a:p>
            <a:pPr>
              <a:lnSpc>
                <a:spcPct val="100000"/>
              </a:lnSpc>
            </a:pPr>
            <a:r>
              <a:rPr lang="en-US" sz="2400" b="1" dirty="0">
                <a:cs typeface="Times New Roman" panose="02020603050405020304" pitchFamily="18" charset="0"/>
              </a:rPr>
              <a:t>Reverse Charge</a:t>
            </a:r>
          </a:p>
          <a:p>
            <a:pPr>
              <a:lnSpc>
                <a:spcPct val="100000"/>
              </a:lnSpc>
            </a:pPr>
            <a:r>
              <a:rPr lang="en-US" sz="2400" b="1" dirty="0">
                <a:cs typeface="Times New Roman" panose="02020603050405020304" pitchFamily="18" charset="0"/>
              </a:rPr>
              <a:t>Details of exports – with and without payment of tax</a:t>
            </a:r>
          </a:p>
          <a:p>
            <a:pPr lvl="1">
              <a:lnSpc>
                <a:spcPct val="100000"/>
              </a:lnSpc>
            </a:pPr>
            <a:r>
              <a:rPr lang="en-US" sz="2400" dirty="0">
                <a:cs typeface="Times New Roman" panose="02020603050405020304" pitchFamily="18" charset="0"/>
              </a:rPr>
              <a:t>Invoice details, Shipping Bill/Bill of Export, tax details</a:t>
            </a:r>
          </a:p>
          <a:p>
            <a:pPr>
              <a:lnSpc>
                <a:spcPct val="100000"/>
              </a:lnSpc>
            </a:pPr>
            <a:r>
              <a:rPr lang="en-US" sz="2400" b="1" dirty="0">
                <a:cs typeface="Times New Roman" panose="02020603050405020304" pitchFamily="18" charset="0"/>
              </a:rPr>
              <a:t>Details of exempt, Nil rated and Non-GST supplies</a:t>
            </a:r>
          </a:p>
          <a:p>
            <a:pPr lvl="1">
              <a:lnSpc>
                <a:spcPct val="100000"/>
              </a:lnSpc>
            </a:pPr>
            <a:r>
              <a:rPr lang="en-US" sz="2400" dirty="0">
                <a:cs typeface="Times New Roman" panose="02020603050405020304" pitchFamily="18" charset="0"/>
              </a:rPr>
              <a:t>Interstate and Intrastate B2B and B2C supplies</a:t>
            </a:r>
          </a:p>
          <a:p>
            <a:pPr>
              <a:lnSpc>
                <a:spcPct val="100000"/>
              </a:lnSpc>
            </a:pPr>
            <a:r>
              <a:rPr lang="en-US" sz="2400" b="1" dirty="0">
                <a:cs typeface="Times New Roman" panose="02020603050405020304" pitchFamily="18" charset="0"/>
              </a:rPr>
              <a:t>Tax paid on advances and adjustment of advances</a:t>
            </a:r>
          </a:p>
          <a:p>
            <a:pPr>
              <a:lnSpc>
                <a:spcPct val="100000"/>
              </a:lnSpc>
            </a:pPr>
            <a:r>
              <a:rPr lang="en-US" sz="2400" b="1" dirty="0">
                <a:cs typeface="Times New Roman" panose="02020603050405020304" pitchFamily="18" charset="0"/>
              </a:rPr>
              <a:t>Amendment of any of the above details filed in previous months</a:t>
            </a:r>
          </a:p>
        </p:txBody>
      </p:sp>
      <p:sp>
        <p:nvSpPr>
          <p:cNvPr id="7" name="Title 6">
            <a:extLst>
              <a:ext uri="{FF2B5EF4-FFF2-40B4-BE49-F238E27FC236}">
                <a16:creationId xmlns:a16="http://schemas.microsoft.com/office/drawing/2014/main" id="{BBADD730-7299-FAF4-046C-EDC0D3F123AB}"/>
              </a:ext>
            </a:extLst>
          </p:cNvPr>
          <p:cNvSpPr>
            <a:spLocks noGrp="1"/>
          </p:cNvSpPr>
          <p:nvPr>
            <p:ph type="title"/>
          </p:nvPr>
        </p:nvSpPr>
        <p:spPr/>
        <p:txBody>
          <a:bodyPr>
            <a:normAutofit/>
          </a:bodyPr>
          <a:lstStyle/>
          <a:p>
            <a:r>
              <a:rPr lang="en-US" dirty="0"/>
              <a:t>Statement of Outward Supplies</a:t>
            </a:r>
          </a:p>
        </p:txBody>
      </p:sp>
    </p:spTree>
    <p:extLst>
      <p:ext uri="{BB962C8B-B14F-4D97-AF65-F5344CB8AC3E}">
        <p14:creationId xmlns:p14="http://schemas.microsoft.com/office/powerpoint/2010/main" val="1918936575"/>
      </p:ext>
    </p:ext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FE15DF9-0A73-7633-C6D2-35EC85A65DA5}"/>
              </a:ext>
            </a:extLst>
          </p:cNvPr>
          <p:cNvSpPr>
            <a:spLocks noGrp="1"/>
          </p:cNvSpPr>
          <p:nvPr>
            <p:ph idx="1"/>
          </p:nvPr>
        </p:nvSpPr>
        <p:spPr>
          <a:xfrm>
            <a:off x="131180" y="863445"/>
            <a:ext cx="11929641" cy="5111228"/>
          </a:xfrm>
        </p:spPr>
        <p:txBody>
          <a:bodyPr/>
          <a:lstStyle/>
          <a:p>
            <a:r>
              <a:rPr lang="en-US" b="1" spc="20" dirty="0">
                <a:cs typeface="Times New Roman" panose="02020603050405020304" pitchFamily="18" charset="0"/>
              </a:rPr>
              <a:t>GSTR </a:t>
            </a:r>
            <a:r>
              <a:rPr lang="en-US" b="1" spc="15" dirty="0">
                <a:cs typeface="Times New Roman" panose="02020603050405020304" pitchFamily="18" charset="0"/>
              </a:rPr>
              <a:t>1 </a:t>
            </a:r>
            <a:r>
              <a:rPr lang="en-US" b="1" spc="5" dirty="0">
                <a:cs typeface="Times New Roman" panose="02020603050405020304" pitchFamily="18" charset="0"/>
              </a:rPr>
              <a:t>: </a:t>
            </a:r>
          </a:p>
          <a:p>
            <a:pPr lvl="1"/>
            <a:r>
              <a:rPr lang="en-US" spc="15" dirty="0">
                <a:cs typeface="Times New Roman" panose="02020603050405020304" pitchFamily="18" charset="0"/>
              </a:rPr>
              <a:t>11</a:t>
            </a:r>
            <a:r>
              <a:rPr lang="en-US" spc="22" baseline="24305" dirty="0">
                <a:cs typeface="Times New Roman" panose="02020603050405020304" pitchFamily="18" charset="0"/>
              </a:rPr>
              <a:t>th</a:t>
            </a:r>
            <a:r>
              <a:rPr lang="en-US" spc="30" baseline="24305" dirty="0">
                <a:cs typeface="Times New Roman" panose="02020603050405020304" pitchFamily="18" charset="0"/>
              </a:rPr>
              <a:t> </a:t>
            </a:r>
            <a:r>
              <a:rPr lang="en-US" spc="15" dirty="0">
                <a:cs typeface="Times New Roman" panose="02020603050405020304" pitchFamily="18" charset="0"/>
              </a:rPr>
              <a:t>day </a:t>
            </a:r>
            <a:r>
              <a:rPr lang="en-US" spc="5" dirty="0">
                <a:cs typeface="Times New Roman" panose="02020603050405020304" pitchFamily="18" charset="0"/>
              </a:rPr>
              <a:t>of </a:t>
            </a:r>
            <a:r>
              <a:rPr lang="en-US" spc="10" dirty="0">
                <a:cs typeface="Times New Roman" panose="02020603050405020304" pitchFamily="18" charset="0"/>
              </a:rPr>
              <a:t>next </a:t>
            </a:r>
            <a:r>
              <a:rPr lang="en-US" spc="15" dirty="0">
                <a:cs typeface="Times New Roman" panose="02020603050405020304" pitchFamily="18" charset="0"/>
              </a:rPr>
              <a:t>month </a:t>
            </a:r>
            <a:r>
              <a:rPr lang="en-US" spc="10" dirty="0">
                <a:cs typeface="Times New Roman" panose="02020603050405020304" pitchFamily="18" charset="0"/>
              </a:rPr>
              <a:t>for </a:t>
            </a:r>
            <a:r>
              <a:rPr lang="en-US" spc="15" dirty="0">
                <a:cs typeface="Times New Roman" panose="02020603050405020304" pitchFamily="18" charset="0"/>
              </a:rPr>
              <a:t>monthly </a:t>
            </a:r>
            <a:r>
              <a:rPr lang="en-US" spc="10" dirty="0">
                <a:cs typeface="Times New Roman" panose="02020603050405020304" pitchFamily="18" charset="0"/>
              </a:rPr>
              <a:t>return filers </a:t>
            </a:r>
            <a:r>
              <a:rPr lang="en-US" spc="15" dirty="0">
                <a:cs typeface="Times New Roman" panose="02020603050405020304" pitchFamily="18" charset="0"/>
              </a:rPr>
              <a:t> 13</a:t>
            </a:r>
            <a:r>
              <a:rPr lang="en-US" spc="22" baseline="24305" dirty="0">
                <a:cs typeface="Times New Roman" panose="02020603050405020304" pitchFamily="18" charset="0"/>
              </a:rPr>
              <a:t>th</a:t>
            </a:r>
            <a:r>
              <a:rPr lang="en-US" spc="165" baseline="24305" dirty="0">
                <a:cs typeface="Times New Roman" panose="02020603050405020304" pitchFamily="18" charset="0"/>
              </a:rPr>
              <a:t> </a:t>
            </a:r>
            <a:r>
              <a:rPr lang="en-US" spc="15" dirty="0">
                <a:cs typeface="Times New Roman" panose="02020603050405020304" pitchFamily="18" charset="0"/>
              </a:rPr>
              <a:t>day</a:t>
            </a:r>
            <a:r>
              <a:rPr lang="en-US" dirty="0">
                <a:cs typeface="Times New Roman" panose="02020603050405020304" pitchFamily="18" charset="0"/>
              </a:rPr>
              <a:t> </a:t>
            </a:r>
            <a:r>
              <a:rPr lang="en-US" spc="5" dirty="0">
                <a:cs typeface="Times New Roman" panose="02020603050405020304" pitchFamily="18" charset="0"/>
              </a:rPr>
              <a:t>of</a:t>
            </a:r>
            <a:r>
              <a:rPr lang="en-US" spc="25" dirty="0">
                <a:cs typeface="Times New Roman" panose="02020603050405020304" pitchFamily="18" charset="0"/>
              </a:rPr>
              <a:t> </a:t>
            </a:r>
            <a:r>
              <a:rPr lang="en-US" spc="10" dirty="0">
                <a:cs typeface="Times New Roman" panose="02020603050405020304" pitchFamily="18" charset="0"/>
              </a:rPr>
              <a:t>next</a:t>
            </a:r>
            <a:r>
              <a:rPr lang="en-US" spc="15" dirty="0">
                <a:cs typeface="Times New Roman" panose="02020603050405020304" pitchFamily="18" charset="0"/>
              </a:rPr>
              <a:t> month</a:t>
            </a:r>
            <a:r>
              <a:rPr lang="en-US" spc="20" dirty="0">
                <a:cs typeface="Times New Roman" panose="02020603050405020304" pitchFamily="18" charset="0"/>
              </a:rPr>
              <a:t> </a:t>
            </a:r>
            <a:r>
              <a:rPr lang="en-US" spc="10" dirty="0">
                <a:cs typeface="Times New Roman" panose="02020603050405020304" pitchFamily="18" charset="0"/>
              </a:rPr>
              <a:t>for</a:t>
            </a:r>
            <a:r>
              <a:rPr lang="en-US" spc="30" dirty="0">
                <a:cs typeface="Times New Roman" panose="02020603050405020304" pitchFamily="18" charset="0"/>
              </a:rPr>
              <a:t> </a:t>
            </a:r>
            <a:r>
              <a:rPr lang="en-US" spc="15" dirty="0">
                <a:cs typeface="Times New Roman" panose="02020603050405020304" pitchFamily="18" charset="0"/>
              </a:rPr>
              <a:t>quarterly</a:t>
            </a:r>
            <a:r>
              <a:rPr lang="en-US" spc="20" dirty="0">
                <a:cs typeface="Times New Roman" panose="02020603050405020304" pitchFamily="18" charset="0"/>
              </a:rPr>
              <a:t> </a:t>
            </a:r>
            <a:r>
              <a:rPr lang="en-US" spc="10" dirty="0">
                <a:cs typeface="Times New Roman" panose="02020603050405020304" pitchFamily="18" charset="0"/>
              </a:rPr>
              <a:t>return</a:t>
            </a:r>
            <a:r>
              <a:rPr lang="en-US" spc="15" dirty="0">
                <a:cs typeface="Times New Roman" panose="02020603050405020304" pitchFamily="18" charset="0"/>
              </a:rPr>
              <a:t> </a:t>
            </a:r>
            <a:r>
              <a:rPr lang="en-US" spc="10" dirty="0">
                <a:cs typeface="Times New Roman" panose="02020603050405020304" pitchFamily="18" charset="0"/>
              </a:rPr>
              <a:t>filers</a:t>
            </a:r>
            <a:endParaRPr lang="en-US" dirty="0">
              <a:cs typeface="Times New Roman" panose="02020603050405020304" pitchFamily="18" charset="0"/>
            </a:endParaRPr>
          </a:p>
          <a:p>
            <a:r>
              <a:rPr lang="en-US" b="1" spc="20" dirty="0">
                <a:cs typeface="Times New Roman" panose="02020603050405020304" pitchFamily="18" charset="0"/>
              </a:rPr>
              <a:t>GSTR</a:t>
            </a:r>
            <a:r>
              <a:rPr lang="en-US" b="1" spc="-25" dirty="0">
                <a:cs typeface="Times New Roman" panose="02020603050405020304" pitchFamily="18" charset="0"/>
              </a:rPr>
              <a:t> </a:t>
            </a:r>
            <a:r>
              <a:rPr lang="en-US" b="1" spc="25" dirty="0">
                <a:cs typeface="Times New Roman" panose="02020603050405020304" pitchFamily="18" charset="0"/>
              </a:rPr>
              <a:t>3B</a:t>
            </a:r>
            <a:r>
              <a:rPr lang="en-US" b="1" spc="-30" dirty="0">
                <a:cs typeface="Times New Roman" panose="02020603050405020304" pitchFamily="18" charset="0"/>
              </a:rPr>
              <a:t> </a:t>
            </a:r>
            <a:r>
              <a:rPr lang="en-US" b="1" spc="5" dirty="0">
                <a:cs typeface="Times New Roman" panose="02020603050405020304" pitchFamily="18" charset="0"/>
              </a:rPr>
              <a:t>:</a:t>
            </a:r>
            <a:endParaRPr lang="en-US" b="1" dirty="0">
              <a:cs typeface="Times New Roman" panose="02020603050405020304" pitchFamily="18" charset="0"/>
            </a:endParaRPr>
          </a:p>
          <a:p>
            <a:pPr lvl="1">
              <a:lnSpc>
                <a:spcPct val="150000"/>
              </a:lnSpc>
              <a:spcBef>
                <a:spcPts val="50"/>
              </a:spcBef>
              <a:tabLst>
                <a:tab pos="329565" algn="l"/>
                <a:tab pos="330200" algn="l"/>
              </a:tabLst>
            </a:pPr>
            <a:r>
              <a:rPr lang="en-US" spc="15" dirty="0">
                <a:cs typeface="Times New Roman" panose="02020603050405020304" pitchFamily="18" charset="0"/>
              </a:rPr>
              <a:t>20</a:t>
            </a:r>
            <a:r>
              <a:rPr lang="en-US" spc="22" baseline="24305" dirty="0">
                <a:cs typeface="Times New Roman" panose="02020603050405020304" pitchFamily="18" charset="0"/>
              </a:rPr>
              <a:t>th</a:t>
            </a:r>
            <a:r>
              <a:rPr lang="en-US" spc="195" baseline="24305" dirty="0">
                <a:cs typeface="Times New Roman" panose="02020603050405020304" pitchFamily="18" charset="0"/>
              </a:rPr>
              <a:t> </a:t>
            </a:r>
            <a:r>
              <a:rPr lang="en-US" spc="10" dirty="0">
                <a:cs typeface="Times New Roman" panose="02020603050405020304" pitchFamily="18" charset="0"/>
              </a:rPr>
              <a:t>Day</a:t>
            </a:r>
            <a:r>
              <a:rPr lang="en-US" spc="15" dirty="0">
                <a:cs typeface="Times New Roman" panose="02020603050405020304" pitchFamily="18" charset="0"/>
              </a:rPr>
              <a:t> </a:t>
            </a:r>
            <a:r>
              <a:rPr lang="en-US" spc="-5" dirty="0">
                <a:cs typeface="Times New Roman" panose="02020603050405020304" pitchFamily="18" charset="0"/>
              </a:rPr>
              <a:t>of</a:t>
            </a:r>
            <a:r>
              <a:rPr lang="en-US" spc="40" dirty="0">
                <a:cs typeface="Times New Roman" panose="02020603050405020304" pitchFamily="18" charset="0"/>
              </a:rPr>
              <a:t> </a:t>
            </a:r>
            <a:r>
              <a:rPr lang="en-US" spc="10" dirty="0">
                <a:cs typeface="Times New Roman" panose="02020603050405020304" pitchFamily="18" charset="0"/>
              </a:rPr>
              <a:t>next</a:t>
            </a:r>
            <a:r>
              <a:rPr lang="en-US" spc="20" dirty="0">
                <a:cs typeface="Times New Roman" panose="02020603050405020304" pitchFamily="18" charset="0"/>
              </a:rPr>
              <a:t> </a:t>
            </a:r>
            <a:r>
              <a:rPr lang="en-US" spc="15" dirty="0">
                <a:cs typeface="Times New Roman" panose="02020603050405020304" pitchFamily="18" charset="0"/>
              </a:rPr>
              <a:t>month</a:t>
            </a:r>
            <a:r>
              <a:rPr lang="en-US" spc="25" dirty="0">
                <a:cs typeface="Times New Roman" panose="02020603050405020304" pitchFamily="18" charset="0"/>
              </a:rPr>
              <a:t> </a:t>
            </a:r>
            <a:r>
              <a:rPr lang="en-US" spc="5" dirty="0">
                <a:cs typeface="Times New Roman" panose="02020603050405020304" pitchFamily="18" charset="0"/>
              </a:rPr>
              <a:t>(for</a:t>
            </a:r>
            <a:r>
              <a:rPr lang="en-US" spc="25" dirty="0">
                <a:cs typeface="Times New Roman" panose="02020603050405020304" pitchFamily="18" charset="0"/>
              </a:rPr>
              <a:t> </a:t>
            </a:r>
            <a:r>
              <a:rPr lang="en-US" spc="15" dirty="0">
                <a:cs typeface="Times New Roman" panose="02020603050405020304" pitchFamily="18" charset="0"/>
              </a:rPr>
              <a:t>monthly </a:t>
            </a:r>
            <a:r>
              <a:rPr lang="en-US" spc="10" dirty="0">
                <a:cs typeface="Times New Roman" panose="02020603050405020304" pitchFamily="18" charset="0"/>
              </a:rPr>
              <a:t>return</a:t>
            </a:r>
            <a:r>
              <a:rPr lang="en-US" spc="25" dirty="0">
                <a:cs typeface="Times New Roman" panose="02020603050405020304" pitchFamily="18" charset="0"/>
              </a:rPr>
              <a:t> </a:t>
            </a:r>
            <a:r>
              <a:rPr lang="en-US" spc="10" dirty="0">
                <a:cs typeface="Times New Roman" panose="02020603050405020304" pitchFamily="18" charset="0"/>
              </a:rPr>
              <a:t>filers)</a:t>
            </a:r>
            <a:endParaRPr lang="en-US" dirty="0">
              <a:cs typeface="Times New Roman" panose="02020603050405020304" pitchFamily="18" charset="0"/>
            </a:endParaRPr>
          </a:p>
          <a:p>
            <a:pPr lvl="1">
              <a:spcBef>
                <a:spcPts val="45"/>
              </a:spcBef>
              <a:tabLst>
                <a:tab pos="286385" algn="l"/>
                <a:tab pos="287020" algn="l"/>
              </a:tabLst>
            </a:pPr>
            <a:r>
              <a:rPr lang="en-US" spc="15" dirty="0">
                <a:cs typeface="Times New Roman" panose="02020603050405020304" pitchFamily="18" charset="0"/>
              </a:rPr>
              <a:t>Opting</a:t>
            </a:r>
            <a:r>
              <a:rPr lang="en-US" dirty="0">
                <a:cs typeface="Times New Roman" panose="02020603050405020304" pitchFamily="18" charset="0"/>
              </a:rPr>
              <a:t> </a:t>
            </a:r>
            <a:r>
              <a:rPr lang="en-US" spc="10" dirty="0">
                <a:cs typeface="Times New Roman" panose="02020603050405020304" pitchFamily="18" charset="0"/>
              </a:rPr>
              <a:t>for</a:t>
            </a:r>
            <a:r>
              <a:rPr lang="en-US" spc="25" dirty="0">
                <a:cs typeface="Times New Roman" panose="02020603050405020304" pitchFamily="18" charset="0"/>
              </a:rPr>
              <a:t> </a:t>
            </a:r>
            <a:r>
              <a:rPr lang="en-US" spc="15" dirty="0">
                <a:cs typeface="Times New Roman" panose="02020603050405020304" pitchFamily="18" charset="0"/>
              </a:rPr>
              <a:t>the</a:t>
            </a:r>
            <a:r>
              <a:rPr lang="en-US" spc="5" dirty="0">
                <a:cs typeface="Times New Roman" panose="02020603050405020304" pitchFamily="18" charset="0"/>
              </a:rPr>
              <a:t> </a:t>
            </a:r>
            <a:r>
              <a:rPr lang="en-US" spc="20" dirty="0">
                <a:cs typeface="Times New Roman" panose="02020603050405020304" pitchFamily="18" charset="0"/>
              </a:rPr>
              <a:t>QRMP</a:t>
            </a:r>
            <a:r>
              <a:rPr lang="en-US" spc="10" dirty="0">
                <a:cs typeface="Times New Roman" panose="02020603050405020304" pitchFamily="18" charset="0"/>
              </a:rPr>
              <a:t> </a:t>
            </a:r>
            <a:r>
              <a:rPr lang="en-US" spc="15" dirty="0">
                <a:cs typeface="Times New Roman" panose="02020603050405020304" pitchFamily="18" charset="0"/>
              </a:rPr>
              <a:t>scheme</a:t>
            </a:r>
            <a:endParaRPr lang="en-US" dirty="0">
              <a:cs typeface="Times New Roman" panose="02020603050405020304" pitchFamily="18" charset="0"/>
            </a:endParaRPr>
          </a:p>
          <a:p>
            <a:pPr lvl="1">
              <a:spcBef>
                <a:spcPts val="45"/>
              </a:spcBef>
              <a:tabLst>
                <a:tab pos="286385" algn="l"/>
                <a:tab pos="287020" algn="l"/>
              </a:tabLst>
            </a:pPr>
            <a:r>
              <a:rPr lang="en-US" spc="10" dirty="0">
                <a:cs typeface="Times New Roman" panose="02020603050405020304" pitchFamily="18" charset="0"/>
              </a:rPr>
              <a:t>For </a:t>
            </a:r>
            <a:r>
              <a:rPr lang="en-US" spc="20" dirty="0">
                <a:cs typeface="Times New Roman" panose="02020603050405020304" pitchFamily="18" charset="0"/>
              </a:rPr>
              <a:t>category</a:t>
            </a:r>
            <a:r>
              <a:rPr lang="en-US" dirty="0">
                <a:cs typeface="Times New Roman" panose="02020603050405020304" pitchFamily="18" charset="0"/>
              </a:rPr>
              <a:t> </a:t>
            </a:r>
            <a:r>
              <a:rPr lang="en-US" spc="20" dirty="0">
                <a:cs typeface="Times New Roman" panose="02020603050405020304" pitchFamily="18" charset="0"/>
              </a:rPr>
              <a:t>X</a:t>
            </a:r>
            <a:r>
              <a:rPr lang="en-US" spc="15" dirty="0">
                <a:cs typeface="Times New Roman" panose="02020603050405020304" pitchFamily="18" charset="0"/>
              </a:rPr>
              <a:t> </a:t>
            </a:r>
            <a:r>
              <a:rPr lang="en-US" spc="10" dirty="0">
                <a:cs typeface="Times New Roman" panose="02020603050405020304" pitchFamily="18" charset="0"/>
              </a:rPr>
              <a:t>states/UT:</a:t>
            </a:r>
            <a:r>
              <a:rPr lang="en-US" spc="15" dirty="0">
                <a:cs typeface="Times New Roman" panose="02020603050405020304" pitchFamily="18" charset="0"/>
              </a:rPr>
              <a:t> </a:t>
            </a:r>
            <a:r>
              <a:rPr lang="en-US" spc="20" dirty="0">
                <a:cs typeface="Times New Roman" panose="02020603050405020304" pitchFamily="18" charset="0"/>
              </a:rPr>
              <a:t>22nd</a:t>
            </a:r>
            <a:r>
              <a:rPr lang="en-US" spc="5" dirty="0">
                <a:cs typeface="Times New Roman" panose="02020603050405020304" pitchFamily="18" charset="0"/>
              </a:rPr>
              <a:t> </a:t>
            </a:r>
            <a:r>
              <a:rPr lang="en-US" spc="15" dirty="0">
                <a:cs typeface="Times New Roman" panose="02020603050405020304" pitchFamily="18" charset="0"/>
              </a:rPr>
              <a:t>Jul</a:t>
            </a:r>
            <a:r>
              <a:rPr lang="en-US" spc="-10" dirty="0">
                <a:cs typeface="Times New Roman" panose="02020603050405020304" pitchFamily="18" charset="0"/>
              </a:rPr>
              <a:t> </a:t>
            </a:r>
            <a:r>
              <a:rPr lang="en-US" spc="20" dirty="0">
                <a:cs typeface="Times New Roman" panose="02020603050405020304" pitchFamily="18" charset="0"/>
              </a:rPr>
              <a:t>2025</a:t>
            </a:r>
            <a:endParaRPr lang="en-US" dirty="0">
              <a:cs typeface="Times New Roman" panose="02020603050405020304" pitchFamily="18" charset="0"/>
            </a:endParaRPr>
          </a:p>
          <a:p>
            <a:pPr marR="473075" lvl="1">
              <a:lnSpc>
                <a:spcPct val="103299"/>
              </a:lnSpc>
              <a:spcBef>
                <a:spcPts val="85"/>
              </a:spcBef>
              <a:tabLst>
                <a:tab pos="286385" algn="l"/>
                <a:tab pos="287020" algn="l"/>
              </a:tabLst>
            </a:pPr>
            <a:r>
              <a:rPr lang="en-US" spc="10" dirty="0">
                <a:cs typeface="Times New Roman" panose="02020603050405020304" pitchFamily="18" charset="0"/>
              </a:rPr>
              <a:t>For </a:t>
            </a:r>
            <a:r>
              <a:rPr lang="en-US" spc="20" dirty="0">
                <a:cs typeface="Times New Roman" panose="02020603050405020304" pitchFamily="18" charset="0"/>
              </a:rPr>
              <a:t>category</a:t>
            </a:r>
            <a:r>
              <a:rPr lang="en-US" spc="5" dirty="0">
                <a:cs typeface="Times New Roman" panose="02020603050405020304" pitchFamily="18" charset="0"/>
              </a:rPr>
              <a:t> </a:t>
            </a:r>
            <a:r>
              <a:rPr lang="en-US" spc="15" dirty="0">
                <a:cs typeface="Times New Roman" panose="02020603050405020304" pitchFamily="18" charset="0"/>
              </a:rPr>
              <a:t>Y</a:t>
            </a:r>
            <a:r>
              <a:rPr lang="en-US" spc="5" dirty="0">
                <a:cs typeface="Times New Roman" panose="02020603050405020304" pitchFamily="18" charset="0"/>
              </a:rPr>
              <a:t> </a:t>
            </a:r>
            <a:r>
              <a:rPr lang="en-US" spc="10" dirty="0">
                <a:cs typeface="Times New Roman" panose="02020603050405020304" pitchFamily="18" charset="0"/>
              </a:rPr>
              <a:t>states/UT: </a:t>
            </a:r>
            <a:r>
              <a:rPr lang="en-US" spc="20" dirty="0">
                <a:cs typeface="Times New Roman" panose="02020603050405020304" pitchFamily="18" charset="0"/>
              </a:rPr>
              <a:t>24th</a:t>
            </a:r>
            <a:r>
              <a:rPr lang="en-US" spc="-10" dirty="0">
                <a:cs typeface="Times New Roman" panose="02020603050405020304" pitchFamily="18" charset="0"/>
              </a:rPr>
              <a:t> </a:t>
            </a:r>
            <a:r>
              <a:rPr lang="en-US" spc="10" dirty="0">
                <a:cs typeface="Times New Roman" panose="02020603050405020304" pitchFamily="18" charset="0"/>
              </a:rPr>
              <a:t>Jul</a:t>
            </a:r>
            <a:r>
              <a:rPr lang="en-US" spc="20" dirty="0">
                <a:cs typeface="Times New Roman" panose="02020603050405020304" pitchFamily="18" charset="0"/>
              </a:rPr>
              <a:t> 2025</a:t>
            </a:r>
          </a:p>
          <a:p>
            <a:endParaRPr lang="en-US" dirty="0"/>
          </a:p>
        </p:txBody>
      </p:sp>
      <p:sp>
        <p:nvSpPr>
          <p:cNvPr id="6" name="Title 5">
            <a:extLst>
              <a:ext uri="{FF2B5EF4-FFF2-40B4-BE49-F238E27FC236}">
                <a16:creationId xmlns:a16="http://schemas.microsoft.com/office/drawing/2014/main" id="{24E00442-55BF-B11B-6DFE-06A76348E3C8}"/>
              </a:ext>
            </a:extLst>
          </p:cNvPr>
          <p:cNvSpPr>
            <a:spLocks noGrp="1"/>
          </p:cNvSpPr>
          <p:nvPr>
            <p:ph type="title"/>
          </p:nvPr>
        </p:nvSpPr>
        <p:spPr/>
        <p:txBody>
          <a:bodyPr>
            <a:normAutofit/>
          </a:bodyPr>
          <a:lstStyle/>
          <a:p>
            <a:r>
              <a:rPr lang="en-US" sz="3600" spc="5" dirty="0">
                <a:solidFill>
                  <a:schemeClr val="tx1"/>
                </a:solidFill>
                <a:latin typeface="+mn-lt"/>
                <a:cs typeface="Times New Roman" panose="02020603050405020304" pitchFamily="18" charset="0"/>
              </a:rPr>
              <a:t>Due</a:t>
            </a:r>
            <a:r>
              <a:rPr lang="en-US" sz="3600" spc="-15" dirty="0">
                <a:solidFill>
                  <a:schemeClr val="tx1"/>
                </a:solidFill>
                <a:latin typeface="+mn-lt"/>
                <a:cs typeface="Times New Roman" panose="02020603050405020304" pitchFamily="18" charset="0"/>
              </a:rPr>
              <a:t> </a:t>
            </a:r>
            <a:r>
              <a:rPr lang="en-US" sz="3600" spc="-5" dirty="0">
                <a:solidFill>
                  <a:schemeClr val="tx1"/>
                </a:solidFill>
                <a:latin typeface="+mn-lt"/>
                <a:cs typeface="Times New Roman" panose="02020603050405020304" pitchFamily="18" charset="0"/>
              </a:rPr>
              <a:t>Dates</a:t>
            </a:r>
            <a:r>
              <a:rPr lang="en-US" sz="3600" spc="-25" dirty="0">
                <a:solidFill>
                  <a:schemeClr val="tx1"/>
                </a:solidFill>
                <a:latin typeface="+mn-lt"/>
                <a:cs typeface="Times New Roman" panose="02020603050405020304" pitchFamily="18" charset="0"/>
              </a:rPr>
              <a:t> </a:t>
            </a:r>
            <a:r>
              <a:rPr lang="en-US" sz="3600" spc="-15" dirty="0">
                <a:solidFill>
                  <a:schemeClr val="tx1"/>
                </a:solidFill>
                <a:latin typeface="+mn-lt"/>
                <a:cs typeface="Times New Roman" panose="02020603050405020304" pitchFamily="18" charset="0"/>
              </a:rPr>
              <a:t>for </a:t>
            </a:r>
            <a:r>
              <a:rPr lang="en-US" sz="3600" dirty="0">
                <a:solidFill>
                  <a:schemeClr val="tx1"/>
                </a:solidFill>
                <a:latin typeface="+mn-lt"/>
                <a:cs typeface="Times New Roman" panose="02020603050405020304" pitchFamily="18" charset="0"/>
              </a:rPr>
              <a:t>filing</a:t>
            </a:r>
            <a:r>
              <a:rPr lang="en-US" sz="3600" spc="-25" dirty="0">
                <a:solidFill>
                  <a:schemeClr val="tx1"/>
                </a:solidFill>
                <a:latin typeface="+mn-lt"/>
                <a:cs typeface="Times New Roman" panose="02020603050405020304" pitchFamily="18" charset="0"/>
              </a:rPr>
              <a:t> </a:t>
            </a:r>
            <a:r>
              <a:rPr lang="en-US" sz="3600" spc="5" dirty="0">
                <a:solidFill>
                  <a:schemeClr val="tx1"/>
                </a:solidFill>
                <a:latin typeface="+mn-lt"/>
                <a:cs typeface="Times New Roman" panose="02020603050405020304" pitchFamily="18" charset="0"/>
              </a:rPr>
              <a:t>GST</a:t>
            </a:r>
            <a:r>
              <a:rPr lang="en-US" sz="3600" spc="-10" dirty="0">
                <a:solidFill>
                  <a:schemeClr val="tx1"/>
                </a:solidFill>
                <a:latin typeface="+mn-lt"/>
                <a:cs typeface="Times New Roman" panose="02020603050405020304" pitchFamily="18" charset="0"/>
              </a:rPr>
              <a:t> </a:t>
            </a:r>
            <a:r>
              <a:rPr lang="en-US" sz="3600" spc="-5" dirty="0">
                <a:solidFill>
                  <a:schemeClr val="tx1"/>
                </a:solidFill>
                <a:latin typeface="+mn-lt"/>
                <a:cs typeface="Times New Roman" panose="02020603050405020304" pitchFamily="18" charset="0"/>
              </a:rPr>
              <a:t>Returns</a:t>
            </a:r>
            <a:endParaRPr lang="en-US" dirty="0">
              <a:solidFill>
                <a:schemeClr val="tx1"/>
              </a:solidFill>
              <a:latin typeface="+mn-lt"/>
            </a:endParaRPr>
          </a:p>
        </p:txBody>
      </p:sp>
    </p:spTree>
    <p:extLst>
      <p:ext uri="{BB962C8B-B14F-4D97-AF65-F5344CB8AC3E}">
        <p14:creationId xmlns:p14="http://schemas.microsoft.com/office/powerpoint/2010/main" val="2260622498"/>
      </p:ext>
    </p:extLst>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A020-6436-7DB9-B8A2-0EBCD5D97938}"/>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79B1E10-40E2-7C01-0EFD-A509455F3EE4}"/>
              </a:ext>
            </a:extLst>
          </p:cNvPr>
          <p:cNvSpPr>
            <a:spLocks noGrp="1"/>
          </p:cNvSpPr>
          <p:nvPr>
            <p:ph idx="1"/>
          </p:nvPr>
        </p:nvSpPr>
        <p:spPr>
          <a:xfrm>
            <a:off x="131180" y="863445"/>
            <a:ext cx="11929641" cy="5111228"/>
          </a:xfrm>
        </p:spPr>
        <p:txBody>
          <a:bodyPr/>
          <a:lstStyle/>
          <a:p>
            <a:pPr>
              <a:lnSpc>
                <a:spcPct val="100000"/>
              </a:lnSpc>
            </a:pPr>
            <a:r>
              <a:rPr lang="en-US" dirty="0">
                <a:cs typeface="Times New Roman" panose="02020603050405020304" pitchFamily="18" charset="0"/>
              </a:rPr>
              <a:t>GSTR-3B is a self-declared summary GST return filed every month (quarterly for the </a:t>
            </a:r>
            <a:r>
              <a:rPr lang="en-US" dirty="0">
                <a:cs typeface="Times New Roman" panose="02020603050405020304" pitchFamily="18" charset="0"/>
                <a:hlinkClick r:id="rId2">
                  <a:extLst>
                    <a:ext uri="{A12FA001-AC4F-418D-AE19-62706E023703}">
                      <ahyp:hlinkClr xmlns:ahyp="http://schemas.microsoft.com/office/drawing/2018/hyperlinkcolor" val="tx"/>
                    </a:ext>
                  </a:extLst>
                </a:hlinkClick>
              </a:rPr>
              <a:t>QRMP scheme</a:t>
            </a:r>
            <a:r>
              <a:rPr lang="en-US" dirty="0">
                <a:cs typeface="Times New Roman" panose="02020603050405020304" pitchFamily="18" charset="0"/>
              </a:rPr>
              <a:t>). </a:t>
            </a:r>
          </a:p>
          <a:p>
            <a:pPr>
              <a:lnSpc>
                <a:spcPct val="100000"/>
              </a:lnSpc>
            </a:pPr>
            <a:r>
              <a:rPr lang="en-US" dirty="0">
                <a:cs typeface="Times New Roman" panose="02020603050405020304" pitchFamily="18" charset="0"/>
              </a:rPr>
              <a:t>Taxpayers need to report the summary figures of Outward Supplies, ITC claimed, Liability under RCM and net tax payable in GSTR-3B.</a:t>
            </a:r>
          </a:p>
          <a:p>
            <a:pPr>
              <a:lnSpc>
                <a:spcPct val="100000"/>
              </a:lnSpc>
            </a:pPr>
            <a:r>
              <a:rPr lang="en-US" dirty="0">
                <a:cs typeface="Times New Roman" panose="02020603050405020304" pitchFamily="18" charset="0"/>
              </a:rPr>
              <a:t>A separate GSTR-3B must be filed for every GSTIN</a:t>
            </a:r>
          </a:p>
          <a:p>
            <a:pPr>
              <a:lnSpc>
                <a:spcPct val="100000"/>
              </a:lnSpc>
            </a:pPr>
            <a:r>
              <a:rPr lang="en-US" dirty="0">
                <a:cs typeface="Times New Roman" panose="02020603050405020304" pitchFamily="18" charset="0"/>
              </a:rPr>
              <a:t>The GST liability must be paid on or before the date of filing GSTR-3B, earlier of its due date</a:t>
            </a:r>
          </a:p>
          <a:p>
            <a:pPr>
              <a:lnSpc>
                <a:spcPct val="100000"/>
              </a:lnSpc>
            </a:pPr>
            <a:r>
              <a:rPr lang="en-US" b="1" dirty="0">
                <a:cs typeface="Times New Roman" panose="02020603050405020304" pitchFamily="18" charset="0"/>
              </a:rPr>
              <a:t>The GSTR-3B once filed cannot be revised, adjustment with the future return is permissible to rectify the error / mistake</a:t>
            </a:r>
            <a:endParaRPr lang="en-US" dirty="0">
              <a:cs typeface="Times New Roman" panose="02020603050405020304" pitchFamily="18" charset="0"/>
            </a:endParaRPr>
          </a:p>
          <a:p>
            <a:pPr>
              <a:lnSpc>
                <a:spcPct val="100000"/>
              </a:lnSpc>
            </a:pPr>
            <a:r>
              <a:rPr lang="en-US" dirty="0">
                <a:cs typeface="Times New Roman" panose="02020603050405020304" pitchFamily="18" charset="0"/>
              </a:rPr>
              <a:t>Even in case of a Zero liability, GSTR-3B must be compulsorily filed as Nil Return</a:t>
            </a:r>
          </a:p>
          <a:p>
            <a:pPr>
              <a:lnSpc>
                <a:spcPct val="100000"/>
              </a:lnSpc>
            </a:pPr>
            <a:endParaRPr lang="en-US" b="1" spc="5" dirty="0">
              <a:cs typeface="Times New Roman" panose="02020603050405020304" pitchFamily="18" charset="0"/>
            </a:endParaRPr>
          </a:p>
        </p:txBody>
      </p:sp>
      <p:sp>
        <p:nvSpPr>
          <p:cNvPr id="6" name="Title 5">
            <a:extLst>
              <a:ext uri="{FF2B5EF4-FFF2-40B4-BE49-F238E27FC236}">
                <a16:creationId xmlns:a16="http://schemas.microsoft.com/office/drawing/2014/main" id="{119D3844-E550-06EC-A83C-F5D571F6B374}"/>
              </a:ext>
            </a:extLst>
          </p:cNvPr>
          <p:cNvSpPr>
            <a:spLocks noGrp="1"/>
          </p:cNvSpPr>
          <p:nvPr>
            <p:ph type="title"/>
          </p:nvPr>
        </p:nvSpPr>
        <p:spPr/>
        <p:txBody>
          <a:bodyPr>
            <a:normAutofit/>
          </a:bodyPr>
          <a:lstStyle/>
          <a:p>
            <a:r>
              <a:rPr lang="en-US" sz="3600" spc="-5" dirty="0">
                <a:solidFill>
                  <a:schemeClr val="tx1"/>
                </a:solidFill>
                <a:latin typeface="+mn-lt"/>
                <a:cs typeface="Times New Roman" panose="02020603050405020304" pitchFamily="18" charset="0"/>
              </a:rPr>
              <a:t>GSTR-3B S</a:t>
            </a:r>
            <a:r>
              <a:rPr lang="en-IN" sz="3600" spc="-5" dirty="0" err="1">
                <a:solidFill>
                  <a:schemeClr val="tx1"/>
                </a:solidFill>
                <a:latin typeface="+mn-lt"/>
                <a:cs typeface="Times New Roman" panose="02020603050405020304" pitchFamily="18" charset="0"/>
              </a:rPr>
              <a:t>implified</a:t>
            </a:r>
            <a:r>
              <a:rPr lang="en-IN" sz="3600" spc="-5" dirty="0">
                <a:solidFill>
                  <a:schemeClr val="tx1"/>
                </a:solidFill>
                <a:latin typeface="+mn-lt"/>
                <a:cs typeface="Times New Roman" panose="02020603050405020304" pitchFamily="18" charset="0"/>
              </a:rPr>
              <a:t> Summary Return</a:t>
            </a:r>
            <a:endParaRPr lang="en-US" sz="3600" spc="-5" dirty="0">
              <a:solidFill>
                <a:schemeClr val="tx1"/>
              </a:solidFill>
              <a:latin typeface="+mn-lt"/>
              <a:cs typeface="Times New Roman" panose="02020603050405020304" pitchFamily="18" charset="0"/>
            </a:endParaRPr>
          </a:p>
        </p:txBody>
      </p:sp>
    </p:spTree>
    <p:extLst>
      <p:ext uri="{BB962C8B-B14F-4D97-AF65-F5344CB8AC3E}">
        <p14:creationId xmlns:p14="http://schemas.microsoft.com/office/powerpoint/2010/main" val="2725013058"/>
      </p:ext>
    </p:ext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8D332-8D96-6836-DF7B-FCFA7246AC38}"/>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32DC65D-24B9-9F1D-3FD2-46F8F14CB764}"/>
              </a:ext>
            </a:extLst>
          </p:cNvPr>
          <p:cNvSpPr>
            <a:spLocks noGrp="1"/>
          </p:cNvSpPr>
          <p:nvPr>
            <p:ph idx="1"/>
          </p:nvPr>
        </p:nvSpPr>
        <p:spPr>
          <a:xfrm>
            <a:off x="131180" y="863445"/>
            <a:ext cx="11929641" cy="5111228"/>
          </a:xfrm>
        </p:spPr>
        <p:txBody>
          <a:bodyPr/>
          <a:lstStyle/>
          <a:p>
            <a:pPr>
              <a:lnSpc>
                <a:spcPct val="100000"/>
              </a:lnSpc>
            </a:pPr>
            <a:r>
              <a:rPr lang="en-US" dirty="0">
                <a:cs typeface="Times New Roman" panose="02020603050405020304" pitchFamily="18" charset="0"/>
              </a:rPr>
              <a:t>Reconciliation of GSTR-2B (ITC statement for the month) with GSTR-3B is must to:</a:t>
            </a:r>
          </a:p>
          <a:p>
            <a:pPr lvl="1">
              <a:lnSpc>
                <a:spcPct val="100000"/>
              </a:lnSpc>
            </a:pPr>
            <a:r>
              <a:rPr lang="en-US" sz="2800" dirty="0">
                <a:cs typeface="Times New Roman" panose="02020603050405020304" pitchFamily="18" charset="0"/>
              </a:rPr>
              <a:t>Avoid notices and interest liability due to excess Input Tax Credit claims in GSTR-3B</a:t>
            </a:r>
          </a:p>
          <a:p>
            <a:pPr lvl="1">
              <a:lnSpc>
                <a:spcPct val="100000"/>
              </a:lnSpc>
            </a:pPr>
            <a:r>
              <a:rPr lang="en-US" sz="2800" dirty="0">
                <a:cs typeface="Times New Roman" panose="02020603050405020304" pitchFamily="18" charset="0"/>
              </a:rPr>
              <a:t>Be informed if any genuine Input Tax Credit is missed out and also accounting is pending</a:t>
            </a:r>
          </a:p>
          <a:p>
            <a:pPr lvl="1">
              <a:lnSpc>
                <a:spcPct val="100000"/>
              </a:lnSpc>
            </a:pPr>
            <a:r>
              <a:rPr lang="en-US" sz="2800" dirty="0">
                <a:cs typeface="Times New Roman" panose="02020603050405020304" pitchFamily="18" charset="0"/>
              </a:rPr>
              <a:t>Nudge the supplier to upload the invoice details in the GSTR-1, if not uploaded</a:t>
            </a:r>
          </a:p>
          <a:p>
            <a:pPr lvl="1">
              <a:lnSpc>
                <a:spcPct val="100000"/>
              </a:lnSpc>
            </a:pPr>
            <a:r>
              <a:rPr lang="en-US" sz="2800" dirty="0">
                <a:cs typeface="Times New Roman" panose="02020603050405020304" pitchFamily="18" charset="0"/>
              </a:rPr>
              <a:t>Stay GST compliant and improve the GST compliance rating</a:t>
            </a:r>
          </a:p>
          <a:p>
            <a:pPr>
              <a:lnSpc>
                <a:spcPct val="100000"/>
              </a:lnSpc>
            </a:pPr>
            <a:endParaRPr lang="en-US" b="1" spc="5" dirty="0">
              <a:cs typeface="Times New Roman" panose="02020603050405020304" pitchFamily="18" charset="0"/>
            </a:endParaRPr>
          </a:p>
        </p:txBody>
      </p:sp>
      <p:sp>
        <p:nvSpPr>
          <p:cNvPr id="6" name="Title 5">
            <a:extLst>
              <a:ext uri="{FF2B5EF4-FFF2-40B4-BE49-F238E27FC236}">
                <a16:creationId xmlns:a16="http://schemas.microsoft.com/office/drawing/2014/main" id="{1F2437C7-CAAC-0929-F929-68A2C429AF12}"/>
              </a:ext>
            </a:extLst>
          </p:cNvPr>
          <p:cNvSpPr>
            <a:spLocks noGrp="1"/>
          </p:cNvSpPr>
          <p:nvPr>
            <p:ph type="title"/>
          </p:nvPr>
        </p:nvSpPr>
        <p:spPr/>
        <p:txBody>
          <a:bodyPr>
            <a:normAutofit/>
          </a:bodyPr>
          <a:lstStyle/>
          <a:p>
            <a:r>
              <a:rPr lang="en-US" sz="3600" spc="-5" dirty="0">
                <a:solidFill>
                  <a:schemeClr val="tx1"/>
                </a:solidFill>
                <a:latin typeface="+mn-lt"/>
                <a:cs typeface="Times New Roman" panose="02020603050405020304" pitchFamily="18" charset="0"/>
              </a:rPr>
              <a:t>GSTR-3B vs GSTR-2B: Comparison</a:t>
            </a:r>
          </a:p>
        </p:txBody>
      </p:sp>
    </p:spTree>
    <p:extLst>
      <p:ext uri="{BB962C8B-B14F-4D97-AF65-F5344CB8AC3E}">
        <p14:creationId xmlns:p14="http://schemas.microsoft.com/office/powerpoint/2010/main" val="3390584381"/>
      </p:ext>
    </p:ext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05D2A2-A38A-4D72-80AE-49BF1F98831D}"/>
              </a:ext>
            </a:extLst>
          </p:cNvPr>
          <p:cNvSpPr>
            <a:spLocks noGrp="1"/>
          </p:cNvSpPr>
          <p:nvPr>
            <p:ph type="title"/>
          </p:nvPr>
        </p:nvSpPr>
        <p:spPr/>
        <p:txBody>
          <a:bodyPr>
            <a:normAutofit/>
          </a:bodyPr>
          <a:lstStyle/>
          <a:p>
            <a:r>
              <a:rPr lang="en-US" dirty="0"/>
              <a:t>Types of Returns with Due Dates</a:t>
            </a:r>
            <a:endParaRPr lang="en-IN" dirty="0"/>
          </a:p>
        </p:txBody>
      </p:sp>
      <p:graphicFrame>
        <p:nvGraphicFramePr>
          <p:cNvPr id="6" name="Content Placeholder 3">
            <a:extLst>
              <a:ext uri="{FF2B5EF4-FFF2-40B4-BE49-F238E27FC236}">
                <a16:creationId xmlns:a16="http://schemas.microsoft.com/office/drawing/2014/main" id="{8C0E51F7-7599-1ADA-25C0-231AA0FD4C0F}"/>
              </a:ext>
            </a:extLst>
          </p:cNvPr>
          <p:cNvGraphicFramePr>
            <a:graphicFrameLocks noGrp="1"/>
          </p:cNvGraphicFramePr>
          <p:nvPr>
            <p:ph idx="1"/>
          </p:nvPr>
        </p:nvGraphicFramePr>
        <p:xfrm>
          <a:off x="130634" y="799324"/>
          <a:ext cx="11930061" cy="5623560"/>
        </p:xfrm>
        <a:graphic>
          <a:graphicData uri="http://schemas.openxmlformats.org/drawingml/2006/table">
            <a:tbl>
              <a:tblPr firstRow="1" bandRow="1">
                <a:tableStyleId>{72833802-FEF1-4C79-8D5D-14CF1EAF98D9}</a:tableStyleId>
              </a:tblPr>
              <a:tblGrid>
                <a:gridCol w="1165348">
                  <a:extLst>
                    <a:ext uri="{9D8B030D-6E8A-4147-A177-3AD203B41FA5}">
                      <a16:colId xmlns:a16="http://schemas.microsoft.com/office/drawing/2014/main" val="3858551712"/>
                    </a:ext>
                  </a:extLst>
                </a:gridCol>
                <a:gridCol w="2258308">
                  <a:extLst>
                    <a:ext uri="{9D8B030D-6E8A-4147-A177-3AD203B41FA5}">
                      <a16:colId xmlns:a16="http://schemas.microsoft.com/office/drawing/2014/main" val="2212655275"/>
                    </a:ext>
                  </a:extLst>
                </a:gridCol>
                <a:gridCol w="2342657">
                  <a:extLst>
                    <a:ext uri="{9D8B030D-6E8A-4147-A177-3AD203B41FA5}">
                      <a16:colId xmlns:a16="http://schemas.microsoft.com/office/drawing/2014/main" val="1570995067"/>
                    </a:ext>
                  </a:extLst>
                </a:gridCol>
                <a:gridCol w="6163748">
                  <a:extLst>
                    <a:ext uri="{9D8B030D-6E8A-4147-A177-3AD203B41FA5}">
                      <a16:colId xmlns:a16="http://schemas.microsoft.com/office/drawing/2014/main" val="3079640832"/>
                    </a:ext>
                  </a:extLst>
                </a:gridCol>
              </a:tblGrid>
              <a:tr h="370840">
                <a:tc>
                  <a:txBody>
                    <a:bodyPr/>
                    <a:lstStyle/>
                    <a:p>
                      <a:pPr algn="ctr"/>
                      <a:r>
                        <a:rPr lang="en-US" sz="2300" dirty="0"/>
                        <a:t>Return</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dirty="0"/>
                        <a:t>Description</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dirty="0"/>
                        <a:t>Who needs to file?</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dirty="0"/>
                        <a:t>Due date</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249162"/>
                  </a:ext>
                </a:extLst>
              </a:tr>
              <a:tr h="228600">
                <a:tc rowSpan="2">
                  <a:txBody>
                    <a:bodyPr/>
                    <a:lstStyle/>
                    <a:p>
                      <a:r>
                        <a:rPr lang="en-US" sz="2300" dirty="0"/>
                        <a:t>GSTR-1</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b="1" dirty="0"/>
                        <a:t>Monthly </a:t>
                      </a:r>
                      <a:r>
                        <a:rPr lang="en-US" sz="2300" b="0" dirty="0"/>
                        <a:t>statement of outward supplies of goods or services</a:t>
                      </a:r>
                      <a:endParaRPr lang="en-IN" sz="23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t>Registered person with annual aggregate turnover </a:t>
                      </a:r>
                      <a:r>
                        <a:rPr lang="en-US" sz="2300" b="1" dirty="0"/>
                        <a:t>greater than ₹ 5 crores</a:t>
                      </a:r>
                      <a:endParaRPr lang="en-IN" sz="23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b="1" dirty="0"/>
                        <a:t>11</a:t>
                      </a:r>
                      <a:r>
                        <a:rPr lang="en-US" sz="2300" b="1" baseline="30000" dirty="0"/>
                        <a:t>th</a:t>
                      </a:r>
                      <a:r>
                        <a:rPr lang="en-US" sz="2300" dirty="0"/>
                        <a:t> of next month</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6999431"/>
                  </a:ext>
                </a:extLst>
              </a:tr>
              <a:tr h="228600">
                <a:tc vMerge="1">
                  <a:txBody>
                    <a:bodyPr/>
                    <a:lstStyle/>
                    <a:p>
                      <a:endParaRPr lang="en-IN"/>
                    </a:p>
                  </a:txBody>
                  <a:tcPr/>
                </a:tc>
                <a:tc>
                  <a:txBody>
                    <a:bodyPr/>
                    <a:lstStyle/>
                    <a:p>
                      <a:r>
                        <a:rPr lang="en-US" sz="2300" b="1" dirty="0"/>
                        <a:t>Quarterly </a:t>
                      </a:r>
                      <a:r>
                        <a:rPr lang="en-US" sz="2300" b="0" dirty="0"/>
                        <a:t>statement of outward supplies of goods or services</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300" dirty="0"/>
                        <a:t>Registered person with annual aggregate turnover </a:t>
                      </a:r>
                      <a:r>
                        <a:rPr lang="en-US" sz="2300" b="1" dirty="0"/>
                        <a:t>up to ₹ 5 crores</a:t>
                      </a:r>
                      <a:endParaRPr lang="en-IN" sz="23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b="1" dirty="0"/>
                        <a:t>13</a:t>
                      </a:r>
                      <a:r>
                        <a:rPr lang="en-US" sz="2300" b="1" baseline="30000" dirty="0"/>
                        <a:t>th</a:t>
                      </a:r>
                      <a:r>
                        <a:rPr lang="en-US" sz="2300" dirty="0"/>
                        <a:t> day of the month succeeding the quarter</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9681677"/>
                  </a:ext>
                </a:extLst>
              </a:tr>
              <a:tr h="370840">
                <a:tc>
                  <a:txBody>
                    <a:bodyPr/>
                    <a:lstStyle/>
                    <a:p>
                      <a:r>
                        <a:rPr lang="en-US" sz="2300" dirty="0"/>
                        <a:t>GSTR-3B</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b="1" dirty="0"/>
                        <a:t>Monthly </a:t>
                      </a:r>
                      <a:r>
                        <a:rPr lang="en-US" sz="2300" b="0" dirty="0"/>
                        <a:t>return for a normal taxpayer</a:t>
                      </a:r>
                      <a:endParaRPr lang="en-IN" sz="23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t>Registered person</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t>Annual turnover &gt; </a:t>
                      </a:r>
                      <a:r>
                        <a:rPr lang="en-US" sz="2300" b="1" dirty="0"/>
                        <a:t>₹ 5 crores – 20</a:t>
                      </a:r>
                      <a:r>
                        <a:rPr lang="en-US" sz="2300" b="1" baseline="30000" dirty="0"/>
                        <a:t>th</a:t>
                      </a:r>
                      <a:r>
                        <a:rPr lang="en-US" sz="2300" b="1" dirty="0"/>
                        <a:t> </a:t>
                      </a:r>
                      <a:r>
                        <a:rPr lang="en-US" sz="2300" b="0" dirty="0"/>
                        <a:t>of next month</a:t>
                      </a:r>
                      <a:endParaRPr lang="en-US" sz="2300" b="1" dirty="0"/>
                    </a:p>
                    <a:p>
                      <a:r>
                        <a:rPr lang="en-US" sz="2300" dirty="0"/>
                        <a:t>Annual turnover &lt; </a:t>
                      </a:r>
                      <a:r>
                        <a:rPr lang="en-US" sz="2300" b="1" dirty="0"/>
                        <a:t>₹ 5 crores – 22</a:t>
                      </a:r>
                      <a:r>
                        <a:rPr lang="en-US" sz="2300" b="1" baseline="30000" dirty="0"/>
                        <a:t>nd</a:t>
                      </a:r>
                      <a:r>
                        <a:rPr lang="en-US" sz="2300" b="1" dirty="0"/>
                        <a:t> or 24</a:t>
                      </a:r>
                      <a:r>
                        <a:rPr lang="en-US" sz="2300" b="1" baseline="30000" dirty="0"/>
                        <a:t>th</a:t>
                      </a:r>
                      <a:r>
                        <a:rPr lang="en-US" sz="2300" b="1" dirty="0"/>
                        <a:t> </a:t>
                      </a:r>
                      <a:r>
                        <a:rPr lang="en-US" sz="2300" b="0" dirty="0"/>
                        <a:t>of the month succeeding the quarter, depending on the state/ UT</a:t>
                      </a:r>
                      <a:endParaRPr lang="en-IN" sz="2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151606"/>
                  </a:ext>
                </a:extLst>
              </a:tr>
            </a:tbl>
          </a:graphicData>
        </a:graphic>
      </p:graphicFrame>
    </p:spTree>
    <p:extLst>
      <p:ext uri="{BB962C8B-B14F-4D97-AF65-F5344CB8AC3E}">
        <p14:creationId xmlns:p14="http://schemas.microsoft.com/office/powerpoint/2010/main" val="1800386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A69F-E6CD-DC72-164D-95B74ED4EC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75983B-780C-D269-450C-3EBA42340BD7}"/>
              </a:ext>
            </a:extLst>
          </p:cNvPr>
          <p:cNvSpPr>
            <a:spLocks noGrp="1"/>
          </p:cNvSpPr>
          <p:nvPr>
            <p:ph type="title"/>
          </p:nvPr>
        </p:nvSpPr>
        <p:spPr/>
        <p:txBody>
          <a:bodyPr>
            <a:normAutofit/>
          </a:bodyPr>
          <a:lstStyle/>
          <a:p>
            <a:r>
              <a:rPr lang="en-US" dirty="0"/>
              <a:t>Types of Returns with Due Dates </a:t>
            </a:r>
            <a:r>
              <a:rPr lang="en-US" sz="2400" dirty="0"/>
              <a:t>(Contd.)</a:t>
            </a:r>
            <a:endParaRPr lang="en-IN" dirty="0"/>
          </a:p>
        </p:txBody>
      </p:sp>
      <p:graphicFrame>
        <p:nvGraphicFramePr>
          <p:cNvPr id="5" name="Content Placeholder 3">
            <a:extLst>
              <a:ext uri="{FF2B5EF4-FFF2-40B4-BE49-F238E27FC236}">
                <a16:creationId xmlns:a16="http://schemas.microsoft.com/office/drawing/2014/main" id="{78A65A4E-C39F-6FB3-DFF6-EE5FF393AC85}"/>
              </a:ext>
            </a:extLst>
          </p:cNvPr>
          <p:cNvGraphicFramePr>
            <a:graphicFrameLocks noGrp="1"/>
          </p:cNvGraphicFramePr>
          <p:nvPr>
            <p:ph idx="1"/>
          </p:nvPr>
        </p:nvGraphicFramePr>
        <p:xfrm>
          <a:off x="131763" y="863600"/>
          <a:ext cx="11928474" cy="4648200"/>
        </p:xfrm>
        <a:graphic>
          <a:graphicData uri="http://schemas.openxmlformats.org/drawingml/2006/table">
            <a:tbl>
              <a:tblPr firstRow="1" bandRow="1">
                <a:tableStyleId>{72833802-FEF1-4C79-8D5D-14CF1EAF98D9}</a:tableStyleId>
              </a:tblPr>
              <a:tblGrid>
                <a:gridCol w="1771682">
                  <a:extLst>
                    <a:ext uri="{9D8B030D-6E8A-4147-A177-3AD203B41FA5}">
                      <a16:colId xmlns:a16="http://schemas.microsoft.com/office/drawing/2014/main" val="3858551712"/>
                    </a:ext>
                  </a:extLst>
                </a:gridCol>
                <a:gridCol w="2472612">
                  <a:extLst>
                    <a:ext uri="{9D8B030D-6E8A-4147-A177-3AD203B41FA5}">
                      <a16:colId xmlns:a16="http://schemas.microsoft.com/office/drawing/2014/main" val="2212655275"/>
                    </a:ext>
                  </a:extLst>
                </a:gridCol>
                <a:gridCol w="3060441">
                  <a:extLst>
                    <a:ext uri="{9D8B030D-6E8A-4147-A177-3AD203B41FA5}">
                      <a16:colId xmlns:a16="http://schemas.microsoft.com/office/drawing/2014/main" val="1570995067"/>
                    </a:ext>
                  </a:extLst>
                </a:gridCol>
                <a:gridCol w="4623739">
                  <a:extLst>
                    <a:ext uri="{9D8B030D-6E8A-4147-A177-3AD203B41FA5}">
                      <a16:colId xmlns:a16="http://schemas.microsoft.com/office/drawing/2014/main" val="3079640832"/>
                    </a:ext>
                  </a:extLst>
                </a:gridCol>
              </a:tblGrid>
              <a:tr h="370840">
                <a:tc>
                  <a:txBody>
                    <a:bodyPr/>
                    <a:lstStyle/>
                    <a:p>
                      <a:pPr algn="ctr"/>
                      <a:r>
                        <a:rPr lang="en-US" sz="2500" dirty="0"/>
                        <a:t>Return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Description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Who needs to file?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Due date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249162"/>
                  </a:ext>
                </a:extLst>
              </a:tr>
              <a:tr h="370840">
                <a:tc>
                  <a:txBody>
                    <a:bodyPr/>
                    <a:lstStyle/>
                    <a:p>
                      <a:r>
                        <a:rPr lang="en-US" sz="2500" dirty="0"/>
                        <a:t>GSTR-4</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Annual</a:t>
                      </a:r>
                      <a:r>
                        <a:rPr lang="en-US" sz="2500" b="0" dirty="0"/>
                        <a:t> return</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Registered person paying tax under composition scheme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30</a:t>
                      </a:r>
                      <a:r>
                        <a:rPr lang="en-US" sz="2500" b="1" baseline="30000" dirty="0"/>
                        <a:t>th</a:t>
                      </a:r>
                      <a:r>
                        <a:rPr lang="en-US" sz="2500" b="1" dirty="0"/>
                        <a:t> June </a:t>
                      </a:r>
                      <a:r>
                        <a:rPr lang="en-US" sz="2500" b="0" dirty="0"/>
                        <a:t>of the next financial year</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4421152"/>
                  </a:ext>
                </a:extLst>
              </a:tr>
              <a:tr h="370840">
                <a:tc>
                  <a:txBody>
                    <a:bodyPr/>
                    <a:lstStyle/>
                    <a:p>
                      <a:r>
                        <a:rPr lang="en-US" sz="2500" dirty="0"/>
                        <a:t>GST CMP-08</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Quarterly </a:t>
                      </a:r>
                      <a:r>
                        <a:rPr lang="en-US" sz="2500" b="0" dirty="0"/>
                        <a:t>statement for payment of tax</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Registered person paying tax under composition scheme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18</a:t>
                      </a:r>
                      <a:r>
                        <a:rPr lang="en-US" sz="2500" b="1" baseline="30000" dirty="0"/>
                        <a:t>th</a:t>
                      </a:r>
                      <a:r>
                        <a:rPr lang="en-US" sz="2500" b="1" dirty="0"/>
                        <a:t> </a:t>
                      </a:r>
                      <a:r>
                        <a:rPr lang="en-US" sz="2500" b="0" dirty="0"/>
                        <a:t>of </a:t>
                      </a:r>
                      <a:r>
                        <a:rPr lang="en-US" sz="2500" dirty="0"/>
                        <a:t>the month succeeding the quarter</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021973"/>
                  </a:ext>
                </a:extLst>
              </a:tr>
              <a:tr h="370840">
                <a:tc>
                  <a:txBody>
                    <a:bodyPr/>
                    <a:lstStyle/>
                    <a:p>
                      <a:r>
                        <a:rPr lang="en-US" sz="2500" dirty="0"/>
                        <a:t>GSTR-5</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Monthly </a:t>
                      </a:r>
                      <a:r>
                        <a:rPr lang="en-US" sz="2500" b="0" dirty="0"/>
                        <a:t>return </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0" dirty="0"/>
                        <a:t>Non-resident taxpayer</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13</a:t>
                      </a:r>
                      <a:r>
                        <a:rPr lang="en-US" sz="2500" b="1" baseline="30000" dirty="0"/>
                        <a:t>th</a:t>
                      </a:r>
                      <a:r>
                        <a:rPr lang="en-US" sz="2500" b="1" dirty="0"/>
                        <a:t> </a:t>
                      </a:r>
                      <a:r>
                        <a:rPr lang="en-US" sz="2500" b="0" dirty="0"/>
                        <a:t>of the next month</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3932590"/>
                  </a:ext>
                </a:extLst>
              </a:tr>
              <a:tr h="370840">
                <a:tc>
                  <a:txBody>
                    <a:bodyPr/>
                    <a:lstStyle/>
                    <a:p>
                      <a:r>
                        <a:rPr lang="en-US" sz="2500" dirty="0"/>
                        <a:t>GSTR-5A</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Monthly </a:t>
                      </a:r>
                      <a:r>
                        <a:rPr lang="en-US" sz="2500" b="0" dirty="0"/>
                        <a:t>return </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Registered person providing OIDAR services</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20</a:t>
                      </a:r>
                      <a:r>
                        <a:rPr lang="en-US" sz="2500" b="1" baseline="30000" dirty="0"/>
                        <a:t>th</a:t>
                      </a:r>
                      <a:r>
                        <a:rPr lang="en-US" sz="2500" b="1" dirty="0"/>
                        <a:t> </a:t>
                      </a:r>
                      <a:r>
                        <a:rPr lang="en-US" sz="2500" b="0" dirty="0"/>
                        <a:t>of the next month</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117253"/>
                  </a:ext>
                </a:extLst>
              </a:tr>
            </a:tbl>
          </a:graphicData>
        </a:graphic>
      </p:graphicFrame>
    </p:spTree>
    <p:extLst>
      <p:ext uri="{BB962C8B-B14F-4D97-AF65-F5344CB8AC3E}">
        <p14:creationId xmlns:p14="http://schemas.microsoft.com/office/powerpoint/2010/main" val="2684270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242A-AC8B-5B0F-43FF-EDFFDAC847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AFCCC4-D071-5E0F-2F36-4FBD255447B6}"/>
              </a:ext>
            </a:extLst>
          </p:cNvPr>
          <p:cNvSpPr>
            <a:spLocks noGrp="1"/>
          </p:cNvSpPr>
          <p:nvPr>
            <p:ph type="title"/>
          </p:nvPr>
        </p:nvSpPr>
        <p:spPr/>
        <p:txBody>
          <a:bodyPr>
            <a:normAutofit/>
          </a:bodyPr>
          <a:lstStyle/>
          <a:p>
            <a:r>
              <a:rPr lang="en-US" dirty="0"/>
              <a:t>Types of Returns with Due Dates </a:t>
            </a:r>
            <a:r>
              <a:rPr lang="en-US" sz="2400" dirty="0"/>
              <a:t>(Contd.)</a:t>
            </a:r>
            <a:endParaRPr lang="en-IN" dirty="0"/>
          </a:p>
        </p:txBody>
      </p:sp>
      <p:graphicFrame>
        <p:nvGraphicFramePr>
          <p:cNvPr id="5" name="Content Placeholder 3">
            <a:extLst>
              <a:ext uri="{FF2B5EF4-FFF2-40B4-BE49-F238E27FC236}">
                <a16:creationId xmlns:a16="http://schemas.microsoft.com/office/drawing/2014/main" id="{B0E55D00-3A0E-3C14-8B0B-FD5F754FFD72}"/>
              </a:ext>
            </a:extLst>
          </p:cNvPr>
          <p:cNvGraphicFramePr>
            <a:graphicFrameLocks noGrp="1"/>
          </p:cNvGraphicFramePr>
          <p:nvPr>
            <p:ph idx="1"/>
          </p:nvPr>
        </p:nvGraphicFramePr>
        <p:xfrm>
          <a:off x="131763" y="863600"/>
          <a:ext cx="11928474" cy="4556760"/>
        </p:xfrm>
        <a:graphic>
          <a:graphicData uri="http://schemas.openxmlformats.org/drawingml/2006/table">
            <a:tbl>
              <a:tblPr firstRow="1" bandRow="1">
                <a:tableStyleId>{72833802-FEF1-4C79-8D5D-14CF1EAF98D9}</a:tableStyleId>
              </a:tblPr>
              <a:tblGrid>
                <a:gridCol w="1771682">
                  <a:extLst>
                    <a:ext uri="{9D8B030D-6E8A-4147-A177-3AD203B41FA5}">
                      <a16:colId xmlns:a16="http://schemas.microsoft.com/office/drawing/2014/main" val="3858551712"/>
                    </a:ext>
                  </a:extLst>
                </a:gridCol>
                <a:gridCol w="2341984">
                  <a:extLst>
                    <a:ext uri="{9D8B030D-6E8A-4147-A177-3AD203B41FA5}">
                      <a16:colId xmlns:a16="http://schemas.microsoft.com/office/drawing/2014/main" val="2212655275"/>
                    </a:ext>
                  </a:extLst>
                </a:gridCol>
                <a:gridCol w="3191069">
                  <a:extLst>
                    <a:ext uri="{9D8B030D-6E8A-4147-A177-3AD203B41FA5}">
                      <a16:colId xmlns:a16="http://schemas.microsoft.com/office/drawing/2014/main" val="1570995067"/>
                    </a:ext>
                  </a:extLst>
                </a:gridCol>
                <a:gridCol w="4623739">
                  <a:extLst>
                    <a:ext uri="{9D8B030D-6E8A-4147-A177-3AD203B41FA5}">
                      <a16:colId xmlns:a16="http://schemas.microsoft.com/office/drawing/2014/main" val="3079640832"/>
                    </a:ext>
                  </a:extLst>
                </a:gridCol>
              </a:tblGrid>
              <a:tr h="370840">
                <a:tc>
                  <a:txBody>
                    <a:bodyPr/>
                    <a:lstStyle/>
                    <a:p>
                      <a:pPr algn="ctr"/>
                      <a:r>
                        <a:rPr lang="en-US" sz="2500" dirty="0"/>
                        <a:t>Return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Description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Who needs to file?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a:t>Due date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249162"/>
                  </a:ext>
                </a:extLst>
              </a:tr>
              <a:tr h="370840">
                <a:tc>
                  <a:txBody>
                    <a:bodyPr/>
                    <a:lstStyle/>
                    <a:p>
                      <a:r>
                        <a:rPr lang="en-US" sz="2500" dirty="0"/>
                        <a:t>GSTR-9</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Annual</a:t>
                      </a:r>
                      <a:r>
                        <a:rPr lang="en-US" sz="2500" b="0" dirty="0"/>
                        <a:t> return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Registered persons </a:t>
                      </a:r>
                      <a:r>
                        <a:rPr lang="en-US" sz="2500" i="1" dirty="0"/>
                        <a:t>other than </a:t>
                      </a:r>
                      <a:r>
                        <a:rPr lang="en-US" sz="2500" i="0" dirty="0"/>
                        <a:t>casual taxable person and non-resident taxable person</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31</a:t>
                      </a:r>
                      <a:r>
                        <a:rPr lang="en-US" sz="2500" b="1" baseline="30000" dirty="0"/>
                        <a:t>st</a:t>
                      </a:r>
                      <a:r>
                        <a:rPr lang="en-US" sz="2500" b="1" dirty="0"/>
                        <a:t> December </a:t>
                      </a:r>
                      <a:r>
                        <a:rPr lang="en-US" sz="2500" b="0" dirty="0"/>
                        <a:t>of the next financial year</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081206"/>
                  </a:ext>
                </a:extLst>
              </a:tr>
              <a:tr h="370840">
                <a:tc>
                  <a:txBody>
                    <a:bodyPr/>
                    <a:lstStyle/>
                    <a:p>
                      <a:r>
                        <a:rPr lang="en-US" sz="2500" dirty="0"/>
                        <a:t>GSTR-9A</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Annual </a:t>
                      </a:r>
                      <a:r>
                        <a:rPr lang="en-US" sz="2500" b="0" dirty="0"/>
                        <a:t>statement</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Registered person paying tax under composition scheme</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31</a:t>
                      </a:r>
                      <a:r>
                        <a:rPr lang="en-US" sz="2500" b="1" baseline="30000" dirty="0"/>
                        <a:t>st</a:t>
                      </a:r>
                      <a:r>
                        <a:rPr lang="en-US" sz="2500" b="1" dirty="0"/>
                        <a:t> December </a:t>
                      </a:r>
                      <a:r>
                        <a:rPr lang="en-US" sz="2500" b="0" dirty="0"/>
                        <a:t>of the next financial year</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432131"/>
                  </a:ext>
                </a:extLst>
              </a:tr>
              <a:tr h="370840">
                <a:tc>
                  <a:txBody>
                    <a:bodyPr/>
                    <a:lstStyle/>
                    <a:p>
                      <a:r>
                        <a:rPr lang="en-US" sz="2500" dirty="0"/>
                        <a:t>GSTR-10</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b="1" dirty="0"/>
                        <a:t>Final return</a:t>
                      </a:r>
                      <a:endParaRPr lang="en-IN" sz="25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Taxable person whose registration is cancelled or surrendered</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500" dirty="0"/>
                        <a:t>Within </a:t>
                      </a:r>
                      <a:r>
                        <a:rPr lang="en-US" sz="2500" b="1" dirty="0"/>
                        <a:t>3 months </a:t>
                      </a:r>
                      <a:r>
                        <a:rPr lang="en-US" sz="2500" b="0" dirty="0"/>
                        <a:t>of the date of cancellation </a:t>
                      </a:r>
                      <a:endParaRPr lang="en-IN"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755204"/>
                  </a:ext>
                </a:extLst>
              </a:tr>
            </a:tbl>
          </a:graphicData>
        </a:graphic>
      </p:graphicFrame>
    </p:spTree>
    <p:extLst>
      <p:ext uri="{BB962C8B-B14F-4D97-AF65-F5344CB8AC3E}">
        <p14:creationId xmlns:p14="http://schemas.microsoft.com/office/powerpoint/2010/main" val="133520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4465" y="885825"/>
            <a:ext cx="9170126" cy="2543175"/>
          </a:xfrm>
          <a:prstGeom prst="rect">
            <a:avLst/>
          </a:prstGeom>
        </p:spPr>
      </p:pic>
      <p:pic>
        <p:nvPicPr>
          <p:cNvPr id="7" name="object 3"/>
          <p:cNvPicPr/>
          <p:nvPr/>
        </p:nvPicPr>
        <p:blipFill>
          <a:blip r:embed="rId3" cstate="print">
            <a:duotone>
              <a:prstClr val="black"/>
              <a:schemeClr val="tx2">
                <a:lumMod val="60000"/>
                <a:lumOff val="40000"/>
                <a:tint val="45000"/>
                <a:satMod val="400000"/>
              </a:schemeClr>
            </a:duotone>
          </a:blip>
          <a:stretch>
            <a:fillRect/>
          </a:stretch>
        </p:blipFill>
        <p:spPr>
          <a:xfrm>
            <a:off x="1009164" y="3644406"/>
            <a:ext cx="2162555" cy="792479"/>
          </a:xfrm>
          <a:prstGeom prst="rect">
            <a:avLst/>
          </a:prstGeom>
        </p:spPr>
      </p:pic>
      <p:sp>
        <p:nvSpPr>
          <p:cNvPr id="8" name="object 4"/>
          <p:cNvSpPr txBox="1"/>
          <p:nvPr/>
        </p:nvSpPr>
        <p:spPr>
          <a:xfrm>
            <a:off x="1726479" y="3916000"/>
            <a:ext cx="729615" cy="240450"/>
          </a:xfrm>
          <a:prstGeom prst="rect">
            <a:avLst/>
          </a:prstGeom>
        </p:spPr>
        <p:txBody>
          <a:bodyPr vert="horz" wrap="square" lIns="0" tIns="17145" rIns="0" bIns="0" rtlCol="0">
            <a:spAutoFit/>
          </a:bodyPr>
          <a:lstStyle/>
          <a:p>
            <a:pPr marL="12700">
              <a:lnSpc>
                <a:spcPct val="100000"/>
              </a:lnSpc>
              <a:spcBef>
                <a:spcPts val="135"/>
              </a:spcBef>
            </a:pPr>
            <a:r>
              <a:rPr sz="1450" spc="15" dirty="0">
                <a:solidFill>
                  <a:srgbClr val="FFFFFF"/>
                </a:solidFill>
                <a:cs typeface="Leelawadee UI"/>
              </a:rPr>
              <a:t>GSTR</a:t>
            </a:r>
            <a:r>
              <a:rPr sz="1450" spc="-70" dirty="0">
                <a:solidFill>
                  <a:srgbClr val="FFFFFF"/>
                </a:solidFill>
                <a:cs typeface="Leelawadee UI"/>
              </a:rPr>
              <a:t> </a:t>
            </a:r>
            <a:r>
              <a:rPr sz="1450" spc="25" dirty="0">
                <a:solidFill>
                  <a:srgbClr val="FFFFFF"/>
                </a:solidFill>
                <a:cs typeface="Leelawadee UI"/>
              </a:rPr>
              <a:t>3B</a:t>
            </a:r>
            <a:endParaRPr sz="1450" dirty="0">
              <a:cs typeface="Leelawadee UI"/>
            </a:endParaRPr>
          </a:p>
        </p:txBody>
      </p:sp>
      <p:pic>
        <p:nvPicPr>
          <p:cNvPr id="9" name="object 5"/>
          <p:cNvPicPr/>
          <p:nvPr/>
        </p:nvPicPr>
        <p:blipFill>
          <a:blip r:embed="rId4" cstate="print"/>
          <a:stretch>
            <a:fillRect/>
          </a:stretch>
        </p:blipFill>
        <p:spPr>
          <a:xfrm>
            <a:off x="1009164" y="4560062"/>
            <a:ext cx="2157983" cy="1823452"/>
          </a:xfrm>
          <a:prstGeom prst="rect">
            <a:avLst/>
          </a:prstGeom>
        </p:spPr>
      </p:pic>
      <p:sp>
        <p:nvSpPr>
          <p:cNvPr id="10" name="object 6"/>
          <p:cNvSpPr txBox="1"/>
          <p:nvPr/>
        </p:nvSpPr>
        <p:spPr>
          <a:xfrm>
            <a:off x="1059501" y="4555030"/>
            <a:ext cx="1468755" cy="1324080"/>
          </a:xfrm>
          <a:prstGeom prst="rect">
            <a:avLst/>
          </a:prstGeom>
        </p:spPr>
        <p:txBody>
          <a:bodyPr vert="horz" wrap="square" lIns="0" tIns="53975" rIns="0" bIns="0" rtlCol="0">
            <a:spAutoFit/>
          </a:bodyPr>
          <a:lstStyle/>
          <a:p>
            <a:pPr marL="179705" indent="-142240">
              <a:lnSpc>
                <a:spcPct val="100000"/>
              </a:lnSpc>
              <a:spcBef>
                <a:spcPts val="425"/>
              </a:spcBef>
              <a:buChar char="•"/>
              <a:tabLst>
                <a:tab pos="180340" algn="l"/>
              </a:tabLst>
            </a:pPr>
            <a:r>
              <a:rPr sz="1450" spc="15" dirty="0">
                <a:cs typeface="Leelawadee UI"/>
              </a:rPr>
              <a:t>Monthly</a:t>
            </a:r>
            <a:r>
              <a:rPr sz="1450" spc="-45" dirty="0">
                <a:cs typeface="Leelawadee UI"/>
              </a:rPr>
              <a:t> </a:t>
            </a:r>
            <a:r>
              <a:rPr sz="1450" spc="10" dirty="0">
                <a:cs typeface="Leelawadee UI"/>
              </a:rPr>
              <a:t>return</a:t>
            </a:r>
            <a:endParaRPr sz="1450" dirty="0">
              <a:cs typeface="Leelawadee UI"/>
            </a:endParaRPr>
          </a:p>
          <a:p>
            <a:pPr marL="179705" indent="-142240">
              <a:lnSpc>
                <a:spcPct val="100000"/>
              </a:lnSpc>
              <a:spcBef>
                <a:spcPts val="335"/>
              </a:spcBef>
              <a:buChar char="•"/>
              <a:tabLst>
                <a:tab pos="180340" algn="l"/>
              </a:tabLst>
            </a:pPr>
            <a:r>
              <a:rPr sz="1450" spc="5" dirty="0">
                <a:cs typeface="Leelawadee UI"/>
              </a:rPr>
              <a:t>20</a:t>
            </a:r>
            <a:r>
              <a:rPr sz="1500" spc="7" baseline="25000" dirty="0">
                <a:cs typeface="Leelawadee UI"/>
              </a:rPr>
              <a:t>th</a:t>
            </a:r>
            <a:r>
              <a:rPr sz="1500" spc="142" baseline="25000" dirty="0">
                <a:cs typeface="Leelawadee UI"/>
              </a:rPr>
              <a:t> </a:t>
            </a:r>
            <a:r>
              <a:rPr sz="1450" spc="15" dirty="0">
                <a:cs typeface="Leelawadee UI"/>
              </a:rPr>
              <a:t>and</a:t>
            </a:r>
            <a:r>
              <a:rPr sz="1450" dirty="0">
                <a:cs typeface="Leelawadee UI"/>
              </a:rPr>
              <a:t> </a:t>
            </a:r>
            <a:r>
              <a:rPr sz="1450" spc="5" dirty="0">
                <a:cs typeface="Leelawadee UI"/>
              </a:rPr>
              <a:t>22</a:t>
            </a:r>
            <a:r>
              <a:rPr sz="1500" spc="7" baseline="25000" dirty="0">
                <a:cs typeface="Leelawadee UI"/>
              </a:rPr>
              <a:t>nd</a:t>
            </a:r>
            <a:endParaRPr sz="1500" baseline="25000" dirty="0">
              <a:cs typeface="Leelawadee UI"/>
            </a:endParaRPr>
          </a:p>
          <a:p>
            <a:pPr marL="179705" indent="-142240">
              <a:lnSpc>
                <a:spcPct val="100000"/>
              </a:lnSpc>
              <a:spcBef>
                <a:spcPts val="340"/>
              </a:spcBef>
              <a:buChar char="•"/>
              <a:tabLst>
                <a:tab pos="180340" algn="l"/>
              </a:tabLst>
            </a:pPr>
            <a:r>
              <a:rPr sz="1450" spc="10" dirty="0">
                <a:cs typeface="Leelawadee UI"/>
              </a:rPr>
              <a:t>Payment</a:t>
            </a:r>
            <a:r>
              <a:rPr sz="1450" spc="-35" dirty="0">
                <a:cs typeface="Leelawadee UI"/>
              </a:rPr>
              <a:t> </a:t>
            </a:r>
            <a:r>
              <a:rPr sz="1450" spc="10" dirty="0">
                <a:cs typeface="Leelawadee UI"/>
              </a:rPr>
              <a:t>of</a:t>
            </a:r>
            <a:r>
              <a:rPr sz="1450" spc="-25" dirty="0">
                <a:cs typeface="Leelawadee UI"/>
              </a:rPr>
              <a:t> </a:t>
            </a:r>
            <a:r>
              <a:rPr sz="1450" spc="10" dirty="0">
                <a:cs typeface="Leelawadee UI"/>
              </a:rPr>
              <a:t>tax</a:t>
            </a:r>
            <a:endParaRPr sz="1450" dirty="0">
              <a:cs typeface="Leelawadee UI"/>
            </a:endParaRPr>
          </a:p>
          <a:p>
            <a:pPr marL="179705" indent="-142240">
              <a:lnSpc>
                <a:spcPct val="100000"/>
              </a:lnSpc>
              <a:spcBef>
                <a:spcPts val="335"/>
              </a:spcBef>
              <a:buChar char="•"/>
              <a:tabLst>
                <a:tab pos="180340" algn="l"/>
              </a:tabLst>
            </a:pPr>
            <a:r>
              <a:rPr sz="1450" spc="10" dirty="0">
                <a:cs typeface="Leelawadee UI"/>
              </a:rPr>
              <a:t>Late</a:t>
            </a:r>
            <a:r>
              <a:rPr sz="1450" spc="-40" dirty="0">
                <a:cs typeface="Leelawadee UI"/>
              </a:rPr>
              <a:t> </a:t>
            </a:r>
            <a:r>
              <a:rPr sz="1450" spc="15" dirty="0">
                <a:cs typeface="Leelawadee UI"/>
              </a:rPr>
              <a:t>fee</a:t>
            </a:r>
            <a:endParaRPr sz="1450" dirty="0">
              <a:cs typeface="Leelawadee UI"/>
            </a:endParaRPr>
          </a:p>
          <a:p>
            <a:pPr marL="179705" indent="-142240">
              <a:lnSpc>
                <a:spcPct val="100000"/>
              </a:lnSpc>
              <a:spcBef>
                <a:spcPts val="325"/>
              </a:spcBef>
              <a:buChar char="•"/>
              <a:tabLst>
                <a:tab pos="180340" algn="l"/>
              </a:tabLst>
            </a:pPr>
            <a:r>
              <a:rPr sz="1450" spc="10" dirty="0">
                <a:cs typeface="Leelawadee UI"/>
              </a:rPr>
              <a:t>Interest</a:t>
            </a:r>
            <a:endParaRPr sz="1450" dirty="0">
              <a:cs typeface="Leelawadee UI"/>
            </a:endParaRPr>
          </a:p>
        </p:txBody>
      </p:sp>
      <p:pic>
        <p:nvPicPr>
          <p:cNvPr id="11" name="object 7"/>
          <p:cNvPicPr/>
          <p:nvPr/>
        </p:nvPicPr>
        <p:blipFill>
          <a:blip r:embed="rId5" cstate="print">
            <a:duotone>
              <a:prstClr val="black"/>
              <a:schemeClr val="tx2">
                <a:lumMod val="60000"/>
                <a:lumOff val="40000"/>
                <a:tint val="45000"/>
                <a:satMod val="400000"/>
              </a:schemeClr>
            </a:duotone>
          </a:blip>
          <a:stretch>
            <a:fillRect/>
          </a:stretch>
        </p:blipFill>
        <p:spPr>
          <a:xfrm>
            <a:off x="3453660" y="3644406"/>
            <a:ext cx="2161032" cy="792479"/>
          </a:xfrm>
          <a:prstGeom prst="rect">
            <a:avLst/>
          </a:prstGeom>
        </p:spPr>
      </p:pic>
      <p:sp>
        <p:nvSpPr>
          <p:cNvPr id="12" name="object 8"/>
          <p:cNvSpPr txBox="1"/>
          <p:nvPr/>
        </p:nvSpPr>
        <p:spPr>
          <a:xfrm>
            <a:off x="4224326" y="3916000"/>
            <a:ext cx="619125" cy="240450"/>
          </a:xfrm>
          <a:prstGeom prst="rect">
            <a:avLst/>
          </a:prstGeom>
        </p:spPr>
        <p:txBody>
          <a:bodyPr vert="horz" wrap="square" lIns="0" tIns="17145" rIns="0" bIns="0" rtlCol="0">
            <a:spAutoFit/>
          </a:bodyPr>
          <a:lstStyle/>
          <a:p>
            <a:pPr marL="12700">
              <a:lnSpc>
                <a:spcPct val="100000"/>
              </a:lnSpc>
              <a:spcBef>
                <a:spcPts val="135"/>
              </a:spcBef>
            </a:pPr>
            <a:r>
              <a:rPr sz="1450" spc="15" dirty="0">
                <a:solidFill>
                  <a:srgbClr val="FFFFFF"/>
                </a:solidFill>
                <a:cs typeface="Leelawadee UI"/>
              </a:rPr>
              <a:t>GSTR</a:t>
            </a:r>
            <a:r>
              <a:rPr sz="1450" spc="-75" dirty="0">
                <a:solidFill>
                  <a:srgbClr val="FFFFFF"/>
                </a:solidFill>
                <a:cs typeface="Leelawadee UI"/>
              </a:rPr>
              <a:t> </a:t>
            </a:r>
            <a:r>
              <a:rPr sz="1450" spc="20" dirty="0">
                <a:solidFill>
                  <a:srgbClr val="FFFFFF"/>
                </a:solidFill>
                <a:cs typeface="Leelawadee UI"/>
              </a:rPr>
              <a:t>1</a:t>
            </a:r>
            <a:endParaRPr sz="1450">
              <a:cs typeface="Leelawadee UI"/>
            </a:endParaRPr>
          </a:p>
        </p:txBody>
      </p:sp>
      <p:pic>
        <p:nvPicPr>
          <p:cNvPr id="13" name="object 9"/>
          <p:cNvPicPr/>
          <p:nvPr/>
        </p:nvPicPr>
        <p:blipFill>
          <a:blip r:embed="rId6" cstate="print"/>
          <a:stretch>
            <a:fillRect/>
          </a:stretch>
        </p:blipFill>
        <p:spPr>
          <a:xfrm>
            <a:off x="3453660" y="4551334"/>
            <a:ext cx="2161032" cy="1831765"/>
          </a:xfrm>
          <a:prstGeom prst="rect">
            <a:avLst/>
          </a:prstGeom>
        </p:spPr>
      </p:pic>
      <p:sp>
        <p:nvSpPr>
          <p:cNvPr id="14" name="object 10"/>
          <p:cNvSpPr txBox="1"/>
          <p:nvPr/>
        </p:nvSpPr>
        <p:spPr>
          <a:xfrm>
            <a:off x="3529322" y="4536263"/>
            <a:ext cx="1361440" cy="240450"/>
          </a:xfrm>
          <a:prstGeom prst="rect">
            <a:avLst/>
          </a:prstGeom>
        </p:spPr>
        <p:txBody>
          <a:bodyPr vert="horz" wrap="square" lIns="0" tIns="17145" rIns="0" bIns="0" rtlCol="0">
            <a:spAutoFit/>
          </a:bodyPr>
          <a:lstStyle/>
          <a:p>
            <a:pPr marL="154305" indent="-142240">
              <a:lnSpc>
                <a:spcPct val="100000"/>
              </a:lnSpc>
              <a:spcBef>
                <a:spcPts val="135"/>
              </a:spcBef>
              <a:buChar char="•"/>
              <a:tabLst>
                <a:tab pos="154940" algn="l"/>
              </a:tabLst>
            </a:pPr>
            <a:r>
              <a:rPr sz="1450" spc="15" dirty="0">
                <a:cs typeface="Leelawadee UI"/>
              </a:rPr>
              <a:t>Monthly</a:t>
            </a:r>
            <a:r>
              <a:rPr sz="1450" spc="-70" dirty="0">
                <a:cs typeface="Leelawadee UI"/>
              </a:rPr>
              <a:t> </a:t>
            </a:r>
            <a:r>
              <a:rPr sz="1450" spc="15" dirty="0">
                <a:cs typeface="Leelawadee UI"/>
              </a:rPr>
              <a:t>Filing</a:t>
            </a:r>
            <a:endParaRPr sz="1450">
              <a:cs typeface="Leelawadee UI"/>
            </a:endParaRPr>
          </a:p>
        </p:txBody>
      </p:sp>
      <p:sp>
        <p:nvSpPr>
          <p:cNvPr id="15" name="object 11"/>
          <p:cNvSpPr txBox="1"/>
          <p:nvPr/>
        </p:nvSpPr>
        <p:spPr>
          <a:xfrm>
            <a:off x="3529322" y="5084101"/>
            <a:ext cx="1612900" cy="685316"/>
          </a:xfrm>
          <a:prstGeom prst="rect">
            <a:avLst/>
          </a:prstGeom>
        </p:spPr>
        <p:txBody>
          <a:bodyPr vert="horz" wrap="square" lIns="0" tIns="12700" rIns="0" bIns="0" rtlCol="0">
            <a:spAutoFit/>
          </a:bodyPr>
          <a:lstStyle/>
          <a:p>
            <a:pPr marL="154305" marR="5080" indent="-142240" algn="just">
              <a:lnSpc>
                <a:spcPct val="102099"/>
              </a:lnSpc>
              <a:spcBef>
                <a:spcPts val="100"/>
              </a:spcBef>
              <a:buChar char="•"/>
              <a:tabLst>
                <a:tab pos="154940" algn="l"/>
              </a:tabLst>
            </a:pPr>
            <a:r>
              <a:rPr sz="1450" spc="15" dirty="0">
                <a:cs typeface="Leelawadee UI"/>
              </a:rPr>
              <a:t>Quarterly </a:t>
            </a:r>
            <a:r>
              <a:rPr sz="1450" spc="10" dirty="0">
                <a:cs typeface="Leelawadee UI"/>
              </a:rPr>
              <a:t>filing </a:t>
            </a:r>
            <a:r>
              <a:rPr sz="1450" spc="5" dirty="0">
                <a:cs typeface="Leelawadee UI"/>
              </a:rPr>
              <a:t>if </a:t>
            </a:r>
            <a:r>
              <a:rPr sz="1450" spc="-385" dirty="0">
                <a:cs typeface="Leelawadee UI"/>
              </a:rPr>
              <a:t> </a:t>
            </a:r>
            <a:r>
              <a:rPr sz="1450" spc="15" dirty="0">
                <a:cs typeface="Leelawadee UI"/>
              </a:rPr>
              <a:t>turnover</a:t>
            </a:r>
            <a:r>
              <a:rPr sz="1450" spc="-50" dirty="0">
                <a:cs typeface="Leelawadee UI"/>
              </a:rPr>
              <a:t> </a:t>
            </a:r>
            <a:r>
              <a:rPr sz="1450" spc="10" dirty="0">
                <a:cs typeface="Leelawadee UI"/>
              </a:rPr>
              <a:t>upto</a:t>
            </a:r>
            <a:r>
              <a:rPr sz="1450" spc="-30" dirty="0">
                <a:cs typeface="Leelawadee UI"/>
              </a:rPr>
              <a:t> </a:t>
            </a:r>
            <a:r>
              <a:rPr sz="1450" spc="15" dirty="0">
                <a:cs typeface="Leelawadee UI"/>
              </a:rPr>
              <a:t>1.5 </a:t>
            </a:r>
            <a:r>
              <a:rPr sz="1450" spc="-385" dirty="0">
                <a:cs typeface="Leelawadee UI"/>
              </a:rPr>
              <a:t> </a:t>
            </a:r>
            <a:r>
              <a:rPr sz="1450" spc="5" dirty="0">
                <a:cs typeface="Leelawadee UI"/>
              </a:rPr>
              <a:t>crore</a:t>
            </a:r>
            <a:endParaRPr sz="1450">
              <a:cs typeface="Leelawadee UI"/>
            </a:endParaRPr>
          </a:p>
        </p:txBody>
      </p:sp>
      <p:sp>
        <p:nvSpPr>
          <p:cNvPr id="16" name="object 12"/>
          <p:cNvSpPr txBox="1"/>
          <p:nvPr/>
        </p:nvSpPr>
        <p:spPr>
          <a:xfrm>
            <a:off x="3529322" y="6041984"/>
            <a:ext cx="988060" cy="240450"/>
          </a:xfrm>
          <a:prstGeom prst="rect">
            <a:avLst/>
          </a:prstGeom>
        </p:spPr>
        <p:txBody>
          <a:bodyPr vert="horz" wrap="square" lIns="0" tIns="17145" rIns="0" bIns="0" rtlCol="0">
            <a:spAutoFit/>
          </a:bodyPr>
          <a:lstStyle/>
          <a:p>
            <a:pPr marL="154305" indent="-142240">
              <a:lnSpc>
                <a:spcPct val="100000"/>
              </a:lnSpc>
              <a:spcBef>
                <a:spcPts val="135"/>
              </a:spcBef>
              <a:buChar char="•"/>
              <a:tabLst>
                <a:tab pos="154940" algn="l"/>
              </a:tabLst>
            </a:pPr>
            <a:r>
              <a:rPr sz="1450" spc="15" dirty="0">
                <a:cs typeface="Leelawadee UI"/>
              </a:rPr>
              <a:t>IFF</a:t>
            </a:r>
            <a:r>
              <a:rPr sz="1450" spc="-65" dirty="0">
                <a:cs typeface="Leelawadee UI"/>
              </a:rPr>
              <a:t> </a:t>
            </a:r>
            <a:r>
              <a:rPr sz="1450" spc="10" dirty="0">
                <a:cs typeface="Leelawadee UI"/>
              </a:rPr>
              <a:t>facility</a:t>
            </a:r>
            <a:endParaRPr sz="1450">
              <a:cs typeface="Leelawadee UI"/>
            </a:endParaRPr>
          </a:p>
        </p:txBody>
      </p:sp>
      <p:pic>
        <p:nvPicPr>
          <p:cNvPr id="17" name="object 13"/>
          <p:cNvPicPr/>
          <p:nvPr/>
        </p:nvPicPr>
        <p:blipFill>
          <a:blip r:embed="rId7" cstate="print">
            <a:duotone>
              <a:prstClr val="black"/>
              <a:schemeClr val="tx2">
                <a:lumMod val="60000"/>
                <a:lumOff val="40000"/>
                <a:tint val="45000"/>
                <a:satMod val="400000"/>
              </a:schemeClr>
            </a:duotone>
          </a:blip>
          <a:stretch>
            <a:fillRect/>
          </a:stretch>
        </p:blipFill>
        <p:spPr>
          <a:xfrm>
            <a:off x="5898156" y="3644406"/>
            <a:ext cx="2161031" cy="792479"/>
          </a:xfrm>
          <a:prstGeom prst="rect">
            <a:avLst/>
          </a:prstGeom>
        </p:spPr>
      </p:pic>
      <p:sp>
        <p:nvSpPr>
          <p:cNvPr id="18" name="object 14"/>
          <p:cNvSpPr txBox="1"/>
          <p:nvPr/>
        </p:nvSpPr>
        <p:spPr>
          <a:xfrm>
            <a:off x="6609425" y="3915443"/>
            <a:ext cx="740894" cy="240450"/>
          </a:xfrm>
          <a:prstGeom prst="rect">
            <a:avLst/>
          </a:prstGeom>
        </p:spPr>
        <p:txBody>
          <a:bodyPr vert="horz" wrap="square" lIns="0" tIns="17145" rIns="0" bIns="0" rtlCol="0">
            <a:spAutoFit/>
          </a:bodyPr>
          <a:lstStyle/>
          <a:p>
            <a:pPr marL="12700">
              <a:lnSpc>
                <a:spcPct val="100000"/>
              </a:lnSpc>
              <a:spcBef>
                <a:spcPts val="135"/>
              </a:spcBef>
            </a:pPr>
            <a:r>
              <a:rPr sz="1450" spc="15" dirty="0">
                <a:solidFill>
                  <a:srgbClr val="FFFFFF"/>
                </a:solidFill>
                <a:cs typeface="Leelawadee UI"/>
              </a:rPr>
              <a:t>GSTR</a:t>
            </a:r>
            <a:r>
              <a:rPr lang="en-US" sz="1450" spc="-70" dirty="0">
                <a:solidFill>
                  <a:srgbClr val="FFFFFF"/>
                </a:solidFill>
                <a:cs typeface="Leelawadee UI"/>
              </a:rPr>
              <a:t>-9</a:t>
            </a:r>
            <a:r>
              <a:rPr sz="1450" spc="25" dirty="0">
                <a:solidFill>
                  <a:srgbClr val="FFFFFF"/>
                </a:solidFill>
                <a:cs typeface="Leelawadee UI"/>
              </a:rPr>
              <a:t>C</a:t>
            </a:r>
            <a:endParaRPr sz="1450" dirty="0">
              <a:cs typeface="Leelawadee UI"/>
            </a:endParaRPr>
          </a:p>
        </p:txBody>
      </p:sp>
      <p:pic>
        <p:nvPicPr>
          <p:cNvPr id="19" name="object 15"/>
          <p:cNvPicPr/>
          <p:nvPr/>
        </p:nvPicPr>
        <p:blipFill>
          <a:blip r:embed="rId8" cstate="print"/>
          <a:stretch>
            <a:fillRect/>
          </a:stretch>
        </p:blipFill>
        <p:spPr>
          <a:xfrm>
            <a:off x="5898156" y="4551334"/>
            <a:ext cx="2161031" cy="1831765"/>
          </a:xfrm>
          <a:prstGeom prst="rect">
            <a:avLst/>
          </a:prstGeom>
        </p:spPr>
      </p:pic>
      <p:sp>
        <p:nvSpPr>
          <p:cNvPr id="20" name="object 16"/>
          <p:cNvSpPr txBox="1"/>
          <p:nvPr/>
        </p:nvSpPr>
        <p:spPr>
          <a:xfrm>
            <a:off x="5973835" y="4602968"/>
            <a:ext cx="1973580" cy="1712648"/>
          </a:xfrm>
          <a:prstGeom prst="rect">
            <a:avLst/>
          </a:prstGeom>
        </p:spPr>
        <p:txBody>
          <a:bodyPr vert="horz" wrap="square" lIns="0" tIns="12700" rIns="0" bIns="0" rtlCol="0">
            <a:spAutoFit/>
          </a:bodyPr>
          <a:lstStyle/>
          <a:p>
            <a:pPr marL="154305" marR="5080" indent="-142240">
              <a:lnSpc>
                <a:spcPct val="102099"/>
              </a:lnSpc>
              <a:spcBef>
                <a:spcPts val="100"/>
              </a:spcBef>
              <a:buChar char="•"/>
              <a:tabLst>
                <a:tab pos="154940" algn="l"/>
              </a:tabLst>
            </a:pPr>
            <a:r>
              <a:rPr sz="1450" spc="10" dirty="0">
                <a:cs typeface="Leelawadee UI"/>
              </a:rPr>
              <a:t>Applicable </a:t>
            </a:r>
            <a:r>
              <a:rPr sz="1450" spc="5" dirty="0">
                <a:cs typeface="Leelawadee UI"/>
              </a:rPr>
              <a:t>if </a:t>
            </a:r>
            <a:r>
              <a:rPr sz="1450" spc="-5" dirty="0">
                <a:cs typeface="Leelawadee UI"/>
              </a:rPr>
              <a:t>Turnover </a:t>
            </a:r>
            <a:r>
              <a:rPr sz="1450" spc="-385" dirty="0">
                <a:cs typeface="Leelawadee UI"/>
              </a:rPr>
              <a:t> </a:t>
            </a:r>
            <a:r>
              <a:rPr sz="1450" spc="15" dirty="0">
                <a:cs typeface="Leelawadee UI"/>
              </a:rPr>
              <a:t>above</a:t>
            </a:r>
            <a:r>
              <a:rPr sz="1450" spc="-10" dirty="0">
                <a:cs typeface="Leelawadee UI"/>
              </a:rPr>
              <a:t> </a:t>
            </a:r>
            <a:r>
              <a:rPr sz="1450" spc="20" dirty="0">
                <a:cs typeface="Leelawadee UI"/>
              </a:rPr>
              <a:t>5</a:t>
            </a:r>
            <a:r>
              <a:rPr sz="1450" spc="15" dirty="0">
                <a:cs typeface="Leelawadee UI"/>
              </a:rPr>
              <a:t> </a:t>
            </a:r>
            <a:r>
              <a:rPr sz="1450" spc="5" dirty="0">
                <a:cs typeface="Leelawadee UI"/>
              </a:rPr>
              <a:t>crore</a:t>
            </a:r>
            <a:endParaRPr sz="1450">
              <a:cs typeface="Leelawadee UI"/>
            </a:endParaRPr>
          </a:p>
          <a:p>
            <a:pPr marL="154305" marR="97155" indent="-142240">
              <a:lnSpc>
                <a:spcPct val="102099"/>
              </a:lnSpc>
              <a:spcBef>
                <a:spcPts val="300"/>
              </a:spcBef>
              <a:buChar char="•"/>
              <a:tabLst>
                <a:tab pos="154940" algn="l"/>
              </a:tabLst>
            </a:pPr>
            <a:r>
              <a:rPr sz="1450" spc="-5" dirty="0">
                <a:cs typeface="Leelawadee UI"/>
              </a:rPr>
              <a:t>Turnover </a:t>
            </a:r>
            <a:r>
              <a:rPr sz="1450" dirty="0">
                <a:cs typeface="Leelawadee UI"/>
              </a:rPr>
              <a:t> </a:t>
            </a:r>
            <a:r>
              <a:rPr sz="1450" spc="10" dirty="0">
                <a:cs typeface="Leelawadee UI"/>
              </a:rPr>
              <a:t>Reconciliation</a:t>
            </a:r>
            <a:r>
              <a:rPr sz="1450" spc="-35" dirty="0">
                <a:cs typeface="Leelawadee UI"/>
              </a:rPr>
              <a:t> </a:t>
            </a:r>
            <a:r>
              <a:rPr sz="1450" spc="10" dirty="0">
                <a:cs typeface="Leelawadee UI"/>
              </a:rPr>
              <a:t>as</a:t>
            </a:r>
            <a:r>
              <a:rPr sz="1450" spc="-25" dirty="0">
                <a:cs typeface="Leelawadee UI"/>
              </a:rPr>
              <a:t> </a:t>
            </a:r>
            <a:r>
              <a:rPr sz="1450" spc="20" dirty="0">
                <a:cs typeface="Leelawadee UI"/>
              </a:rPr>
              <a:t>per </a:t>
            </a:r>
            <a:r>
              <a:rPr sz="1450" spc="-380" dirty="0">
                <a:cs typeface="Leelawadee UI"/>
              </a:rPr>
              <a:t> </a:t>
            </a:r>
            <a:r>
              <a:rPr sz="1450" spc="15" dirty="0">
                <a:cs typeface="Leelawadee UI"/>
              </a:rPr>
              <a:t>Audited</a:t>
            </a:r>
            <a:r>
              <a:rPr sz="1450" spc="-20" dirty="0">
                <a:cs typeface="Leelawadee UI"/>
              </a:rPr>
              <a:t> </a:t>
            </a:r>
            <a:r>
              <a:rPr sz="1450" spc="15" dirty="0">
                <a:cs typeface="Leelawadee UI"/>
              </a:rPr>
              <a:t>and</a:t>
            </a:r>
            <a:r>
              <a:rPr sz="1450" spc="10" dirty="0">
                <a:cs typeface="Leelawadee UI"/>
              </a:rPr>
              <a:t> </a:t>
            </a:r>
            <a:r>
              <a:rPr sz="1450" spc="15" dirty="0">
                <a:cs typeface="Leelawadee UI"/>
              </a:rPr>
              <a:t>GST</a:t>
            </a:r>
            <a:endParaRPr sz="1450">
              <a:cs typeface="Leelawadee UI"/>
            </a:endParaRPr>
          </a:p>
          <a:p>
            <a:pPr marL="154305" indent="-142240">
              <a:lnSpc>
                <a:spcPct val="100000"/>
              </a:lnSpc>
              <a:spcBef>
                <a:spcPts val="335"/>
              </a:spcBef>
              <a:buChar char="•"/>
              <a:tabLst>
                <a:tab pos="154940" algn="l"/>
              </a:tabLst>
            </a:pPr>
            <a:r>
              <a:rPr sz="1450" spc="15" dirty="0">
                <a:cs typeface="Leelawadee UI"/>
              </a:rPr>
              <a:t>Additional</a:t>
            </a:r>
            <a:r>
              <a:rPr sz="1450" spc="-45" dirty="0">
                <a:cs typeface="Leelawadee UI"/>
              </a:rPr>
              <a:t> </a:t>
            </a:r>
            <a:r>
              <a:rPr sz="1450" spc="10" dirty="0">
                <a:cs typeface="Leelawadee UI"/>
              </a:rPr>
              <a:t>Liability</a:t>
            </a:r>
            <a:endParaRPr sz="1450">
              <a:cs typeface="Leelawadee UI"/>
            </a:endParaRPr>
          </a:p>
          <a:p>
            <a:pPr marL="154305" indent="-142240">
              <a:lnSpc>
                <a:spcPct val="100000"/>
              </a:lnSpc>
              <a:spcBef>
                <a:spcPts val="335"/>
              </a:spcBef>
              <a:buChar char="•"/>
              <a:tabLst>
                <a:tab pos="154940" algn="l"/>
              </a:tabLst>
            </a:pPr>
            <a:r>
              <a:rPr sz="1450" spc="20" dirty="0">
                <a:cs typeface="Leelawadee UI"/>
              </a:rPr>
              <a:t>GST</a:t>
            </a:r>
            <a:r>
              <a:rPr sz="1450" spc="-50" dirty="0">
                <a:cs typeface="Leelawadee UI"/>
              </a:rPr>
              <a:t> </a:t>
            </a:r>
            <a:r>
              <a:rPr sz="1450" spc="15" dirty="0">
                <a:cs typeface="Leelawadee UI"/>
              </a:rPr>
              <a:t>Ratewise</a:t>
            </a:r>
            <a:endParaRPr sz="1450">
              <a:cs typeface="Leelawadee UI"/>
            </a:endParaRPr>
          </a:p>
        </p:txBody>
      </p:sp>
      <p:pic>
        <p:nvPicPr>
          <p:cNvPr id="21" name="object 17"/>
          <p:cNvPicPr/>
          <p:nvPr/>
        </p:nvPicPr>
        <p:blipFill>
          <a:blip r:embed="rId9" cstate="print">
            <a:duotone>
              <a:prstClr val="black"/>
              <a:schemeClr val="tx2">
                <a:lumMod val="60000"/>
                <a:lumOff val="40000"/>
                <a:tint val="45000"/>
                <a:satMod val="400000"/>
              </a:schemeClr>
            </a:duotone>
          </a:blip>
          <a:stretch>
            <a:fillRect/>
          </a:stretch>
        </p:blipFill>
        <p:spPr>
          <a:xfrm>
            <a:off x="8345699" y="3644406"/>
            <a:ext cx="2161032" cy="792479"/>
          </a:xfrm>
          <a:prstGeom prst="rect">
            <a:avLst/>
          </a:prstGeom>
        </p:spPr>
      </p:pic>
      <p:sp>
        <p:nvSpPr>
          <p:cNvPr id="22" name="object 18"/>
          <p:cNvSpPr txBox="1"/>
          <p:nvPr/>
        </p:nvSpPr>
        <p:spPr>
          <a:xfrm>
            <a:off x="9041494" y="3915443"/>
            <a:ext cx="794893" cy="240450"/>
          </a:xfrm>
          <a:prstGeom prst="rect">
            <a:avLst/>
          </a:prstGeom>
        </p:spPr>
        <p:txBody>
          <a:bodyPr vert="horz" wrap="square" lIns="0" tIns="17145" rIns="0" bIns="0" rtlCol="0">
            <a:spAutoFit/>
          </a:bodyPr>
          <a:lstStyle/>
          <a:p>
            <a:pPr marL="12700">
              <a:lnSpc>
                <a:spcPct val="100000"/>
              </a:lnSpc>
              <a:spcBef>
                <a:spcPts val="135"/>
              </a:spcBef>
            </a:pPr>
            <a:r>
              <a:rPr sz="1450" spc="15" dirty="0">
                <a:solidFill>
                  <a:srgbClr val="FFFFFF"/>
                </a:solidFill>
                <a:cs typeface="Leelawadee UI"/>
              </a:rPr>
              <a:t>GSTR</a:t>
            </a:r>
            <a:r>
              <a:rPr lang="en-US" sz="1450" spc="-70" dirty="0">
                <a:solidFill>
                  <a:srgbClr val="FFFFFF"/>
                </a:solidFill>
                <a:cs typeface="Leelawadee UI"/>
              </a:rPr>
              <a:t>-</a:t>
            </a:r>
            <a:r>
              <a:rPr sz="1450" spc="25" dirty="0">
                <a:solidFill>
                  <a:srgbClr val="FFFFFF"/>
                </a:solidFill>
                <a:cs typeface="Leelawadee UI"/>
              </a:rPr>
              <a:t>9</a:t>
            </a:r>
            <a:endParaRPr sz="1450" dirty="0">
              <a:cs typeface="Leelawadee UI"/>
            </a:endParaRPr>
          </a:p>
        </p:txBody>
      </p:sp>
      <p:pic>
        <p:nvPicPr>
          <p:cNvPr id="23" name="object 19"/>
          <p:cNvPicPr/>
          <p:nvPr/>
        </p:nvPicPr>
        <p:blipFill>
          <a:blip r:embed="rId10" cstate="print"/>
          <a:stretch>
            <a:fillRect/>
          </a:stretch>
        </p:blipFill>
        <p:spPr>
          <a:xfrm>
            <a:off x="8345699" y="4551334"/>
            <a:ext cx="2156459" cy="1831765"/>
          </a:xfrm>
          <a:prstGeom prst="rect">
            <a:avLst/>
          </a:prstGeom>
        </p:spPr>
      </p:pic>
      <p:sp>
        <p:nvSpPr>
          <p:cNvPr id="24" name="object 20"/>
          <p:cNvSpPr txBox="1"/>
          <p:nvPr/>
        </p:nvSpPr>
        <p:spPr>
          <a:xfrm>
            <a:off x="8419916" y="4599561"/>
            <a:ext cx="1960880" cy="1634294"/>
          </a:xfrm>
          <a:prstGeom prst="rect">
            <a:avLst/>
          </a:prstGeom>
        </p:spPr>
        <p:txBody>
          <a:bodyPr vert="horz" wrap="square" lIns="0" tIns="12700" rIns="0" bIns="0" rtlCol="0">
            <a:spAutoFit/>
          </a:bodyPr>
          <a:lstStyle/>
          <a:p>
            <a:pPr marL="154305" marR="5080" indent="-142240">
              <a:lnSpc>
                <a:spcPct val="102200"/>
              </a:lnSpc>
              <a:spcBef>
                <a:spcPts val="100"/>
              </a:spcBef>
              <a:buChar char="•"/>
              <a:tabLst>
                <a:tab pos="154940" algn="l"/>
              </a:tabLst>
            </a:pPr>
            <a:r>
              <a:rPr sz="1450" spc="15" dirty="0">
                <a:cs typeface="Leelawadee UI"/>
              </a:rPr>
              <a:t>Exemption</a:t>
            </a:r>
            <a:r>
              <a:rPr sz="1450" spc="-30" dirty="0">
                <a:cs typeface="Leelawadee UI"/>
              </a:rPr>
              <a:t> </a:t>
            </a:r>
            <a:r>
              <a:rPr sz="1450" spc="10" dirty="0">
                <a:cs typeface="Leelawadee UI"/>
              </a:rPr>
              <a:t>from</a:t>
            </a:r>
            <a:r>
              <a:rPr sz="1450" spc="-20" dirty="0">
                <a:cs typeface="Leelawadee UI"/>
              </a:rPr>
              <a:t> </a:t>
            </a:r>
            <a:r>
              <a:rPr sz="1450" spc="10" dirty="0">
                <a:cs typeface="Leelawadee UI"/>
              </a:rPr>
              <a:t>filing </a:t>
            </a:r>
            <a:r>
              <a:rPr sz="1450" spc="-380" dirty="0">
                <a:cs typeface="Leelawadee UI"/>
              </a:rPr>
              <a:t> </a:t>
            </a:r>
            <a:r>
              <a:rPr sz="1450" spc="15" dirty="0">
                <a:cs typeface="Leelawadee UI"/>
              </a:rPr>
              <a:t>annual </a:t>
            </a:r>
            <a:r>
              <a:rPr sz="1450" spc="5" dirty="0">
                <a:cs typeface="Leelawadee UI"/>
              </a:rPr>
              <a:t>return </a:t>
            </a:r>
            <a:r>
              <a:rPr sz="1450" spc="10" dirty="0">
                <a:cs typeface="Leelawadee UI"/>
              </a:rPr>
              <a:t>in </a:t>
            </a:r>
            <a:r>
              <a:rPr sz="1450" spc="15" dirty="0">
                <a:cs typeface="Leelawadee UI"/>
              </a:rPr>
              <a:t> </a:t>
            </a:r>
            <a:r>
              <a:rPr sz="1450" spc="20" dirty="0">
                <a:cs typeface="Leelawadee UI"/>
              </a:rPr>
              <a:t>FORM </a:t>
            </a:r>
            <a:r>
              <a:rPr sz="1450" spc="15" dirty="0">
                <a:cs typeface="Leelawadee UI"/>
              </a:rPr>
              <a:t>GSTR-9/9A for </a:t>
            </a:r>
            <a:r>
              <a:rPr sz="1450" spc="-385" dirty="0">
                <a:cs typeface="Leelawadee UI"/>
              </a:rPr>
              <a:t> </a:t>
            </a:r>
            <a:r>
              <a:rPr sz="1450" spc="20" dirty="0">
                <a:cs typeface="Leelawadee UI"/>
              </a:rPr>
              <a:t>FY2021-22 for </a:t>
            </a:r>
            <a:r>
              <a:rPr sz="1450" spc="-25" dirty="0">
                <a:cs typeface="Leelawadee UI"/>
              </a:rPr>
              <a:t>AATO </a:t>
            </a:r>
            <a:r>
              <a:rPr sz="1450" spc="-20" dirty="0">
                <a:cs typeface="Leelawadee UI"/>
              </a:rPr>
              <a:t> </a:t>
            </a:r>
            <a:r>
              <a:rPr sz="1450" spc="15" dirty="0">
                <a:cs typeface="Leelawadee UI"/>
              </a:rPr>
              <a:t>up</a:t>
            </a:r>
            <a:r>
              <a:rPr sz="1450" spc="10" dirty="0">
                <a:cs typeface="Leelawadee UI"/>
              </a:rPr>
              <a:t> to</a:t>
            </a:r>
            <a:r>
              <a:rPr sz="1450" spc="-10" dirty="0">
                <a:cs typeface="Leelawadee UI"/>
              </a:rPr>
              <a:t> </a:t>
            </a:r>
            <a:r>
              <a:rPr sz="1450" spc="10" dirty="0">
                <a:cs typeface="Leelawadee UI"/>
              </a:rPr>
              <a:t>Rs.2</a:t>
            </a:r>
            <a:r>
              <a:rPr sz="1450" dirty="0">
                <a:cs typeface="Leelawadee UI"/>
              </a:rPr>
              <a:t> </a:t>
            </a:r>
            <a:r>
              <a:rPr sz="1450" spc="5" dirty="0">
                <a:cs typeface="Leelawadee UI"/>
              </a:rPr>
              <a:t>crores.</a:t>
            </a:r>
            <a:endParaRPr sz="1450" dirty="0">
              <a:cs typeface="Leelawadee UI"/>
            </a:endParaRPr>
          </a:p>
          <a:p>
            <a:pPr marL="154305" marR="131445" indent="-142240">
              <a:lnSpc>
                <a:spcPct val="102099"/>
              </a:lnSpc>
              <a:spcBef>
                <a:spcPts val="295"/>
              </a:spcBef>
              <a:buFont typeface="Leelawadee UI"/>
              <a:buChar char="•"/>
              <a:tabLst>
                <a:tab pos="154940" algn="l"/>
              </a:tabLst>
            </a:pPr>
            <a:r>
              <a:rPr sz="1450" spc="25" dirty="0">
                <a:cs typeface="Leelawadee UI"/>
              </a:rPr>
              <a:t>HSN</a:t>
            </a:r>
            <a:r>
              <a:rPr sz="1450" spc="-40" dirty="0">
                <a:cs typeface="Leelawadee UI"/>
              </a:rPr>
              <a:t> </a:t>
            </a:r>
            <a:r>
              <a:rPr sz="1450" spc="15" dirty="0">
                <a:cs typeface="Leelawadee UI"/>
              </a:rPr>
              <a:t>wise</a:t>
            </a:r>
            <a:r>
              <a:rPr sz="1450" spc="-35" dirty="0">
                <a:cs typeface="Leelawadee UI"/>
              </a:rPr>
              <a:t> </a:t>
            </a:r>
            <a:r>
              <a:rPr sz="1450" spc="15" dirty="0">
                <a:cs typeface="Leelawadee UI"/>
              </a:rPr>
              <a:t>Quantity </a:t>
            </a:r>
            <a:r>
              <a:rPr sz="1450" spc="-385" dirty="0">
                <a:cs typeface="Leelawadee UI"/>
              </a:rPr>
              <a:t> </a:t>
            </a:r>
            <a:r>
              <a:rPr sz="1450" spc="15" dirty="0">
                <a:cs typeface="Leelawadee UI"/>
              </a:rPr>
              <a:t>data</a:t>
            </a:r>
            <a:endParaRPr sz="1450" dirty="0">
              <a:cs typeface="Leelawadee UI"/>
            </a:endParaRPr>
          </a:p>
        </p:txBody>
      </p:sp>
      <p:sp>
        <p:nvSpPr>
          <p:cNvPr id="2" name="Title 1">
            <a:extLst>
              <a:ext uri="{FF2B5EF4-FFF2-40B4-BE49-F238E27FC236}">
                <a16:creationId xmlns:a16="http://schemas.microsoft.com/office/drawing/2014/main" id="{A175F83F-58B6-50E4-1904-7FDB2E41D98C}"/>
              </a:ext>
            </a:extLst>
          </p:cNvPr>
          <p:cNvSpPr>
            <a:spLocks noGrp="1"/>
          </p:cNvSpPr>
          <p:nvPr>
            <p:ph type="title"/>
          </p:nvPr>
        </p:nvSpPr>
        <p:spPr/>
        <p:txBody>
          <a:bodyPr>
            <a:normAutofit/>
          </a:bodyPr>
          <a:lstStyle/>
          <a:p>
            <a:r>
              <a:rPr lang="en-US" sz="3600" dirty="0">
                <a:solidFill>
                  <a:schemeClr val="tx1"/>
                </a:solidFill>
                <a:latin typeface="+mn-lt"/>
                <a:cs typeface="Times New Roman" panose="02020603050405020304" pitchFamily="18" charset="0"/>
              </a:rPr>
              <a:t>Returns &amp; Due Date in GST</a:t>
            </a:r>
            <a:endParaRPr lang="en-US" dirty="0">
              <a:solidFill>
                <a:schemeClr val="tx1"/>
              </a:solidFill>
              <a:latin typeface="+mn-lt"/>
            </a:endParaRPr>
          </a:p>
        </p:txBody>
      </p:sp>
    </p:spTree>
    <p:extLst>
      <p:ext uri="{BB962C8B-B14F-4D97-AF65-F5344CB8AC3E}">
        <p14:creationId xmlns:p14="http://schemas.microsoft.com/office/powerpoint/2010/main" val="787943173"/>
      </p:ext>
    </p:ext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0" y="349003"/>
            <a:ext cx="12096560" cy="503984"/>
          </a:xfrm>
          <a:prstGeom prst="rect">
            <a:avLst/>
          </a:prstGeom>
        </p:spPr>
        <p:txBody>
          <a:bodyPr vert="horz" wrap="square" lIns="0" tIns="11430"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gn="ctr">
              <a:lnSpc>
                <a:spcPct val="100000"/>
              </a:lnSpc>
              <a:spcBef>
                <a:spcPts val="114"/>
              </a:spcBef>
            </a:pPr>
            <a:r>
              <a:rPr lang="en-US" sz="3200" b="1" u="sng" spc="5" dirty="0">
                <a:solidFill>
                  <a:srgbClr val="002060"/>
                </a:solidFill>
                <a:latin typeface="Times New Roman" panose="02020603050405020304" pitchFamily="18" charset="0"/>
                <a:cs typeface="Times New Roman" panose="02020603050405020304" pitchFamily="18" charset="0"/>
              </a:rPr>
              <a:t>How</a:t>
            </a:r>
            <a:r>
              <a:rPr lang="en-US" sz="3200" b="1" u="sng" spc="-40" dirty="0">
                <a:solidFill>
                  <a:srgbClr val="002060"/>
                </a:solidFill>
                <a:latin typeface="Times New Roman" panose="02020603050405020304" pitchFamily="18" charset="0"/>
                <a:cs typeface="Times New Roman" panose="02020603050405020304" pitchFamily="18" charset="0"/>
              </a:rPr>
              <a:t> </a:t>
            </a:r>
            <a:r>
              <a:rPr lang="en-US" sz="3200" b="1" u="sng" spc="-5" dirty="0">
                <a:solidFill>
                  <a:srgbClr val="002060"/>
                </a:solidFill>
                <a:latin typeface="Times New Roman" panose="02020603050405020304" pitchFamily="18" charset="0"/>
                <a:cs typeface="Times New Roman" panose="02020603050405020304" pitchFamily="18" charset="0"/>
              </a:rPr>
              <a:t>to</a:t>
            </a:r>
            <a:r>
              <a:rPr lang="en-US" sz="3200" b="1" u="sng" spc="-20" dirty="0">
                <a:solidFill>
                  <a:srgbClr val="002060"/>
                </a:solidFill>
                <a:latin typeface="Times New Roman" panose="02020603050405020304" pitchFamily="18" charset="0"/>
                <a:cs typeface="Times New Roman" panose="02020603050405020304" pitchFamily="18" charset="0"/>
              </a:rPr>
              <a:t> </a:t>
            </a:r>
            <a:r>
              <a:rPr lang="en-US" sz="3200" b="1" u="sng" dirty="0">
                <a:solidFill>
                  <a:srgbClr val="002060"/>
                </a:solidFill>
                <a:latin typeface="Times New Roman" panose="02020603050405020304" pitchFamily="18" charset="0"/>
                <a:cs typeface="Times New Roman" panose="02020603050405020304" pitchFamily="18" charset="0"/>
              </a:rPr>
              <a:t>Submit</a:t>
            </a:r>
            <a:r>
              <a:rPr lang="en-US" sz="3200" b="1" u="sng" spc="5" dirty="0">
                <a:solidFill>
                  <a:srgbClr val="002060"/>
                </a:solidFill>
                <a:latin typeface="Times New Roman" panose="02020603050405020304" pitchFamily="18" charset="0"/>
                <a:cs typeface="Times New Roman" panose="02020603050405020304" pitchFamily="18" charset="0"/>
              </a:rPr>
              <a:t> </a:t>
            </a:r>
            <a:r>
              <a:rPr lang="en-US" sz="3200" b="1" u="sng" spc="-5" dirty="0">
                <a:solidFill>
                  <a:srgbClr val="002060"/>
                </a:solidFill>
                <a:latin typeface="Times New Roman" panose="02020603050405020304" pitchFamily="18" charset="0"/>
                <a:cs typeface="Times New Roman" panose="02020603050405020304" pitchFamily="18" charset="0"/>
              </a:rPr>
              <a:t>Return</a:t>
            </a:r>
            <a:r>
              <a:rPr lang="en-US" sz="3200" b="1" u="sng" spc="-15" dirty="0">
                <a:solidFill>
                  <a:srgbClr val="002060"/>
                </a:solidFill>
                <a:latin typeface="Times New Roman" panose="02020603050405020304" pitchFamily="18" charset="0"/>
                <a:cs typeface="Times New Roman" panose="02020603050405020304" pitchFamily="18" charset="0"/>
              </a:rPr>
              <a:t> </a:t>
            </a:r>
            <a:r>
              <a:rPr lang="en-US" sz="3200" b="1" u="sng" dirty="0">
                <a:solidFill>
                  <a:srgbClr val="002060"/>
                </a:solidFill>
                <a:latin typeface="Times New Roman" panose="02020603050405020304" pitchFamily="18" charset="0"/>
                <a:cs typeface="Times New Roman" panose="02020603050405020304" pitchFamily="18" charset="0"/>
              </a:rPr>
              <a:t>Online</a:t>
            </a:r>
          </a:p>
        </p:txBody>
      </p:sp>
      <p:grpSp>
        <p:nvGrpSpPr>
          <p:cNvPr id="7" name="object 3"/>
          <p:cNvGrpSpPr/>
          <p:nvPr/>
        </p:nvGrpSpPr>
        <p:grpSpPr>
          <a:xfrm>
            <a:off x="2336184" y="1255072"/>
            <a:ext cx="1632585" cy="984885"/>
            <a:chOff x="683513" y="1663445"/>
            <a:chExt cx="1632585" cy="984885"/>
          </a:xfrm>
        </p:grpSpPr>
        <p:sp>
          <p:nvSpPr>
            <p:cNvPr id="8" name="object 4"/>
            <p:cNvSpPr/>
            <p:nvPr/>
          </p:nvSpPr>
          <p:spPr>
            <a:xfrm>
              <a:off x="688847" y="1668779"/>
              <a:ext cx="1621790" cy="974090"/>
            </a:xfrm>
            <a:custGeom>
              <a:avLst/>
              <a:gdLst/>
              <a:ahLst/>
              <a:cxnLst/>
              <a:rect l="l" t="t" r="r" b="b"/>
              <a:pathLst>
                <a:path w="1621789" h="974089">
                  <a:moveTo>
                    <a:pt x="1524000" y="973836"/>
                  </a:moveTo>
                  <a:lnTo>
                    <a:pt x="96012" y="973836"/>
                  </a:lnTo>
                  <a:lnTo>
                    <a:pt x="58507" y="966096"/>
                  </a:lnTo>
                  <a:lnTo>
                    <a:pt x="28003" y="945070"/>
                  </a:lnTo>
                  <a:lnTo>
                    <a:pt x="7500" y="914042"/>
                  </a:lnTo>
                  <a:lnTo>
                    <a:pt x="0" y="876300"/>
                  </a:lnTo>
                  <a:lnTo>
                    <a:pt x="0" y="97536"/>
                  </a:ln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9" name="object 5"/>
            <p:cNvSpPr/>
            <p:nvPr/>
          </p:nvSpPr>
          <p:spPr>
            <a:xfrm>
              <a:off x="688847" y="1668779"/>
              <a:ext cx="1621790" cy="974090"/>
            </a:xfrm>
            <a:custGeom>
              <a:avLst/>
              <a:gdLst/>
              <a:ahLst/>
              <a:cxnLst/>
              <a:rect l="l" t="t" r="r" b="b"/>
              <a:pathLst>
                <a:path w="1621789" h="974089">
                  <a:moveTo>
                    <a:pt x="0" y="97536"/>
                  </a:move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6012" y="973836"/>
                  </a:lnTo>
                  <a:lnTo>
                    <a:pt x="58507" y="966096"/>
                  </a:lnTo>
                  <a:lnTo>
                    <a:pt x="28003" y="945070"/>
                  </a:lnTo>
                  <a:lnTo>
                    <a:pt x="7500"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10" name="object 6"/>
          <p:cNvSpPr txBox="1"/>
          <p:nvPr/>
        </p:nvSpPr>
        <p:spPr>
          <a:xfrm>
            <a:off x="2417196" y="1619546"/>
            <a:ext cx="1471295" cy="228909"/>
          </a:xfrm>
          <a:prstGeom prst="rect">
            <a:avLst/>
          </a:prstGeom>
        </p:spPr>
        <p:txBody>
          <a:bodyPr vert="horz" wrap="square" lIns="0" tIns="13335" rIns="0" bIns="0" rtlCol="0">
            <a:spAutoFit/>
          </a:bodyPr>
          <a:lstStyle/>
          <a:p>
            <a:pPr marL="12700">
              <a:lnSpc>
                <a:spcPct val="100000"/>
              </a:lnSpc>
              <a:spcBef>
                <a:spcPts val="105"/>
              </a:spcBef>
            </a:pPr>
            <a:r>
              <a:rPr sz="1400" dirty="0">
                <a:latin typeface="Leelawadee UI"/>
                <a:cs typeface="Leelawadee UI"/>
              </a:rPr>
              <a:t>Login</a:t>
            </a:r>
            <a:r>
              <a:rPr sz="1400" spc="-30" dirty="0">
                <a:latin typeface="Leelawadee UI"/>
                <a:cs typeface="Leelawadee UI"/>
              </a:rPr>
              <a:t> </a:t>
            </a:r>
            <a:r>
              <a:rPr sz="1400" spc="-10" dirty="0">
                <a:latin typeface="Leelawadee UI"/>
                <a:cs typeface="Leelawadee UI"/>
              </a:rPr>
              <a:t>to</a:t>
            </a:r>
            <a:r>
              <a:rPr sz="1400" spc="-40" dirty="0">
                <a:latin typeface="Leelawadee UI"/>
                <a:cs typeface="Leelawadee UI"/>
              </a:rPr>
              <a:t> </a:t>
            </a:r>
            <a:r>
              <a:rPr sz="1400" spc="-10" dirty="0">
                <a:latin typeface="Leelawadee UI"/>
                <a:cs typeface="Leelawadee UI"/>
              </a:rPr>
              <a:t>gst.gov.in</a:t>
            </a:r>
            <a:endParaRPr sz="1400" dirty="0">
              <a:latin typeface="Leelawadee UI"/>
              <a:cs typeface="Leelawadee UI"/>
            </a:endParaRPr>
          </a:p>
        </p:txBody>
      </p:sp>
      <p:sp>
        <p:nvSpPr>
          <p:cNvPr id="11" name="object 7"/>
          <p:cNvSpPr/>
          <p:nvPr/>
        </p:nvSpPr>
        <p:spPr>
          <a:xfrm>
            <a:off x="4104787" y="1545394"/>
            <a:ext cx="344805" cy="402590"/>
          </a:xfrm>
          <a:custGeom>
            <a:avLst/>
            <a:gdLst/>
            <a:ahLst/>
            <a:cxnLst/>
            <a:rect l="l" t="t" r="r" b="b"/>
            <a:pathLst>
              <a:path w="344805" h="402589">
                <a:moveTo>
                  <a:pt x="172211" y="402336"/>
                </a:moveTo>
                <a:lnTo>
                  <a:pt x="172211" y="323087"/>
                </a:lnTo>
                <a:lnTo>
                  <a:pt x="0" y="323087"/>
                </a:lnTo>
                <a:lnTo>
                  <a:pt x="0" y="80772"/>
                </a:lnTo>
                <a:lnTo>
                  <a:pt x="172211" y="80772"/>
                </a:lnTo>
                <a:lnTo>
                  <a:pt x="172211" y="0"/>
                </a:lnTo>
                <a:lnTo>
                  <a:pt x="344424" y="201168"/>
                </a:lnTo>
                <a:lnTo>
                  <a:pt x="172211" y="402336"/>
                </a:lnTo>
                <a:close/>
              </a:path>
            </a:pathLst>
          </a:custGeom>
          <a:solidFill>
            <a:schemeClr val="accent3"/>
          </a:solidFill>
        </p:spPr>
        <p:txBody>
          <a:bodyPr wrap="square" lIns="0" tIns="0" rIns="0" bIns="0" rtlCol="0"/>
          <a:lstStyle/>
          <a:p>
            <a:endParaRPr>
              <a:ln>
                <a:solidFill>
                  <a:schemeClr val="accent3"/>
                </a:solidFill>
              </a:ln>
              <a:solidFill>
                <a:schemeClr val="accent2"/>
              </a:solidFill>
            </a:endParaRPr>
          </a:p>
        </p:txBody>
      </p:sp>
      <p:grpSp>
        <p:nvGrpSpPr>
          <p:cNvPr id="12" name="object 8"/>
          <p:cNvGrpSpPr/>
          <p:nvPr/>
        </p:nvGrpSpPr>
        <p:grpSpPr>
          <a:xfrm>
            <a:off x="4605421" y="1255072"/>
            <a:ext cx="1632585" cy="984885"/>
            <a:chOff x="2952750" y="1663445"/>
            <a:chExt cx="1632585" cy="984885"/>
          </a:xfrm>
        </p:grpSpPr>
        <p:sp>
          <p:nvSpPr>
            <p:cNvPr id="13" name="object 9"/>
            <p:cNvSpPr/>
            <p:nvPr/>
          </p:nvSpPr>
          <p:spPr>
            <a:xfrm>
              <a:off x="2958083" y="1668779"/>
              <a:ext cx="1621790" cy="974090"/>
            </a:xfrm>
            <a:custGeom>
              <a:avLst/>
              <a:gdLst/>
              <a:ahLst/>
              <a:cxnLst/>
              <a:rect l="l" t="t" r="r" b="b"/>
              <a:pathLst>
                <a:path w="1621789" h="974089">
                  <a:moveTo>
                    <a:pt x="1524000" y="973836"/>
                  </a:moveTo>
                  <a:lnTo>
                    <a:pt x="97536" y="973836"/>
                  </a:lnTo>
                  <a:lnTo>
                    <a:pt x="59793" y="966096"/>
                  </a:lnTo>
                  <a:lnTo>
                    <a:pt x="28765" y="945070"/>
                  </a:lnTo>
                  <a:lnTo>
                    <a:pt x="7739" y="914042"/>
                  </a:lnTo>
                  <a:lnTo>
                    <a:pt x="0" y="876300"/>
                  </a:lnTo>
                  <a:lnTo>
                    <a:pt x="0" y="97536"/>
                  </a:ln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close/>
                </a:path>
              </a:pathLst>
            </a:custGeom>
            <a:solidFill>
              <a:srgbClr val="D8D8D8"/>
            </a:solidFill>
          </p:spPr>
          <p:txBody>
            <a:bodyPr wrap="square" lIns="0" tIns="0" rIns="0" bIns="0" rtlCol="0"/>
            <a:lstStyle/>
            <a:p>
              <a:endParaRPr/>
            </a:p>
          </p:txBody>
        </p:sp>
        <p:sp>
          <p:nvSpPr>
            <p:cNvPr id="14" name="object 10"/>
            <p:cNvSpPr/>
            <p:nvPr/>
          </p:nvSpPr>
          <p:spPr>
            <a:xfrm>
              <a:off x="2958083" y="1668779"/>
              <a:ext cx="1621790" cy="974090"/>
            </a:xfrm>
            <a:custGeom>
              <a:avLst/>
              <a:gdLst/>
              <a:ahLst/>
              <a:cxnLst/>
              <a:rect l="l" t="t" r="r" b="b"/>
              <a:pathLst>
                <a:path w="1621789" h="974089">
                  <a:moveTo>
                    <a:pt x="0" y="97536"/>
                  </a:move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lnTo>
                    <a:pt x="97536" y="973836"/>
                  </a:lnTo>
                  <a:lnTo>
                    <a:pt x="59793" y="966096"/>
                  </a:lnTo>
                  <a:lnTo>
                    <a:pt x="28765" y="945070"/>
                  </a:lnTo>
                  <a:lnTo>
                    <a:pt x="7739"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15" name="object 11"/>
          <p:cNvSpPr txBox="1"/>
          <p:nvPr/>
        </p:nvSpPr>
        <p:spPr>
          <a:xfrm>
            <a:off x="4689495" y="1619546"/>
            <a:ext cx="1464310" cy="228909"/>
          </a:xfrm>
          <a:prstGeom prst="rect">
            <a:avLst/>
          </a:prstGeom>
        </p:spPr>
        <p:txBody>
          <a:bodyPr vert="horz" wrap="square" lIns="0" tIns="13335" rIns="0" bIns="0" rtlCol="0">
            <a:spAutoFit/>
          </a:bodyPr>
          <a:lstStyle/>
          <a:p>
            <a:pPr marL="12700">
              <a:lnSpc>
                <a:spcPct val="100000"/>
              </a:lnSpc>
              <a:spcBef>
                <a:spcPts val="105"/>
              </a:spcBef>
            </a:pPr>
            <a:r>
              <a:rPr sz="1400" spc="-5" dirty="0">
                <a:latin typeface="Leelawadee UI"/>
                <a:cs typeface="Leelawadee UI"/>
              </a:rPr>
              <a:t>Select</a:t>
            </a:r>
            <a:r>
              <a:rPr sz="1400" spc="-20" dirty="0">
                <a:latin typeface="Leelawadee UI"/>
                <a:cs typeface="Leelawadee UI"/>
              </a:rPr>
              <a:t> </a:t>
            </a:r>
            <a:r>
              <a:rPr sz="1400" spc="5" dirty="0">
                <a:latin typeface="Leelawadee UI"/>
                <a:cs typeface="Leelawadee UI"/>
              </a:rPr>
              <a:t>services</a:t>
            </a:r>
            <a:r>
              <a:rPr sz="1400" spc="-45" dirty="0">
                <a:latin typeface="Leelawadee UI"/>
                <a:cs typeface="Leelawadee UI"/>
              </a:rPr>
              <a:t> </a:t>
            </a:r>
            <a:r>
              <a:rPr sz="1400" spc="5" dirty="0">
                <a:latin typeface="Leelawadee UI"/>
                <a:cs typeface="Leelawadee UI"/>
              </a:rPr>
              <a:t>tab</a:t>
            </a:r>
            <a:endParaRPr sz="1400">
              <a:latin typeface="Leelawadee UI"/>
              <a:cs typeface="Leelawadee UI"/>
            </a:endParaRPr>
          </a:p>
        </p:txBody>
      </p:sp>
      <p:sp>
        <p:nvSpPr>
          <p:cNvPr id="16" name="object 12"/>
          <p:cNvSpPr/>
          <p:nvPr/>
        </p:nvSpPr>
        <p:spPr>
          <a:xfrm>
            <a:off x="6375547" y="1545394"/>
            <a:ext cx="342900" cy="402590"/>
          </a:xfrm>
          <a:custGeom>
            <a:avLst/>
            <a:gdLst/>
            <a:ahLst/>
            <a:cxnLst/>
            <a:rect l="l" t="t" r="r" b="b"/>
            <a:pathLst>
              <a:path w="342900" h="402589">
                <a:moveTo>
                  <a:pt x="172211" y="402336"/>
                </a:moveTo>
                <a:lnTo>
                  <a:pt x="172211" y="323087"/>
                </a:lnTo>
                <a:lnTo>
                  <a:pt x="0" y="323087"/>
                </a:lnTo>
                <a:lnTo>
                  <a:pt x="0" y="80772"/>
                </a:lnTo>
                <a:lnTo>
                  <a:pt x="172211" y="80772"/>
                </a:lnTo>
                <a:lnTo>
                  <a:pt x="172211" y="0"/>
                </a:lnTo>
                <a:lnTo>
                  <a:pt x="342900" y="201168"/>
                </a:lnTo>
                <a:lnTo>
                  <a:pt x="172211" y="402336"/>
                </a:lnTo>
                <a:close/>
              </a:path>
            </a:pathLst>
          </a:custGeom>
          <a:solidFill>
            <a:schemeClr val="accent3"/>
          </a:solidFill>
        </p:spPr>
        <p:txBody>
          <a:bodyPr wrap="square" lIns="0" tIns="0" rIns="0" bIns="0" rtlCol="0"/>
          <a:lstStyle/>
          <a:p>
            <a:endParaRPr/>
          </a:p>
        </p:txBody>
      </p:sp>
      <p:grpSp>
        <p:nvGrpSpPr>
          <p:cNvPr id="17" name="object 13"/>
          <p:cNvGrpSpPr/>
          <p:nvPr/>
        </p:nvGrpSpPr>
        <p:grpSpPr>
          <a:xfrm>
            <a:off x="6876181" y="1255072"/>
            <a:ext cx="1632585" cy="984885"/>
            <a:chOff x="5223510" y="1663445"/>
            <a:chExt cx="1632585" cy="984885"/>
          </a:xfrm>
        </p:grpSpPr>
        <p:sp>
          <p:nvSpPr>
            <p:cNvPr id="18" name="object 14"/>
            <p:cNvSpPr/>
            <p:nvPr/>
          </p:nvSpPr>
          <p:spPr>
            <a:xfrm>
              <a:off x="5228844" y="1668779"/>
              <a:ext cx="1621790" cy="974090"/>
            </a:xfrm>
            <a:custGeom>
              <a:avLst/>
              <a:gdLst/>
              <a:ahLst/>
              <a:cxnLst/>
              <a:rect l="l" t="t" r="r" b="b"/>
              <a:pathLst>
                <a:path w="1621790" h="974089">
                  <a:moveTo>
                    <a:pt x="1524000" y="973836"/>
                  </a:moveTo>
                  <a:lnTo>
                    <a:pt x="97536" y="973836"/>
                  </a:lnTo>
                  <a:lnTo>
                    <a:pt x="59150" y="966096"/>
                  </a:lnTo>
                  <a:lnTo>
                    <a:pt x="28194" y="945070"/>
                  </a:lnTo>
                  <a:lnTo>
                    <a:pt x="7524" y="914042"/>
                  </a:lnTo>
                  <a:lnTo>
                    <a:pt x="0" y="876300"/>
                  </a:lnTo>
                  <a:lnTo>
                    <a:pt x="0" y="97536"/>
                  </a:ln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19" name="object 15"/>
            <p:cNvSpPr/>
            <p:nvPr/>
          </p:nvSpPr>
          <p:spPr>
            <a:xfrm>
              <a:off x="5228844" y="1668779"/>
              <a:ext cx="1621790" cy="974090"/>
            </a:xfrm>
            <a:custGeom>
              <a:avLst/>
              <a:gdLst/>
              <a:ahLst/>
              <a:cxnLst/>
              <a:rect l="l" t="t" r="r" b="b"/>
              <a:pathLst>
                <a:path w="1621790" h="974089">
                  <a:moveTo>
                    <a:pt x="0" y="97536"/>
                  </a:move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7536" y="973836"/>
                  </a:lnTo>
                  <a:lnTo>
                    <a:pt x="59150" y="966096"/>
                  </a:lnTo>
                  <a:lnTo>
                    <a:pt x="28194" y="945070"/>
                  </a:lnTo>
                  <a:lnTo>
                    <a:pt x="7524"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20" name="object 16"/>
          <p:cNvSpPr txBox="1"/>
          <p:nvPr/>
        </p:nvSpPr>
        <p:spPr>
          <a:xfrm>
            <a:off x="7044070" y="1512892"/>
            <a:ext cx="1294765" cy="443326"/>
          </a:xfrm>
          <a:prstGeom prst="rect">
            <a:avLst/>
          </a:prstGeom>
        </p:spPr>
        <p:txBody>
          <a:bodyPr vert="horz" wrap="square" lIns="0" tIns="20955" rIns="0" bIns="0" rtlCol="0">
            <a:spAutoFit/>
          </a:bodyPr>
          <a:lstStyle/>
          <a:p>
            <a:pPr marL="82550" marR="5080" indent="-70485">
              <a:lnSpc>
                <a:spcPts val="1670"/>
              </a:lnSpc>
              <a:spcBef>
                <a:spcPts val="165"/>
              </a:spcBef>
            </a:pPr>
            <a:r>
              <a:rPr sz="1400" spc="-5" dirty="0">
                <a:latin typeface="Leelawadee UI"/>
                <a:cs typeface="Leelawadee UI"/>
              </a:rPr>
              <a:t>Go</a:t>
            </a:r>
            <a:r>
              <a:rPr sz="1400" spc="-10" dirty="0">
                <a:latin typeface="Leelawadee UI"/>
                <a:cs typeface="Leelawadee UI"/>
              </a:rPr>
              <a:t> to</a:t>
            </a:r>
            <a:r>
              <a:rPr sz="1400" spc="-20" dirty="0">
                <a:latin typeface="Leelawadee UI"/>
                <a:cs typeface="Leelawadee UI"/>
              </a:rPr>
              <a:t> </a:t>
            </a:r>
            <a:r>
              <a:rPr sz="1400" spc="-5" dirty="0">
                <a:latin typeface="Leelawadee UI"/>
                <a:cs typeface="Leelawadee UI"/>
              </a:rPr>
              <a:t>return</a:t>
            </a:r>
            <a:r>
              <a:rPr sz="1400" spc="-35" dirty="0">
                <a:latin typeface="Leelawadee UI"/>
                <a:cs typeface="Leelawadee UI"/>
              </a:rPr>
              <a:t> </a:t>
            </a:r>
            <a:r>
              <a:rPr sz="1400" dirty="0">
                <a:latin typeface="Leelawadee UI"/>
                <a:cs typeface="Leelawadee UI"/>
              </a:rPr>
              <a:t>tab </a:t>
            </a:r>
            <a:r>
              <a:rPr sz="1400" spc="-370" dirty="0">
                <a:latin typeface="Leelawadee UI"/>
                <a:cs typeface="Leelawadee UI"/>
              </a:rPr>
              <a:t> </a:t>
            </a:r>
            <a:r>
              <a:rPr sz="1400" dirty="0">
                <a:latin typeface="Leelawadee UI"/>
                <a:cs typeface="Leelawadee UI"/>
              </a:rPr>
              <a:t>under</a:t>
            </a:r>
            <a:r>
              <a:rPr sz="1400" spc="-35" dirty="0">
                <a:latin typeface="Leelawadee UI"/>
                <a:cs typeface="Leelawadee UI"/>
              </a:rPr>
              <a:t> </a:t>
            </a:r>
            <a:r>
              <a:rPr sz="1400" spc="5" dirty="0">
                <a:latin typeface="Leelawadee UI"/>
                <a:cs typeface="Leelawadee UI"/>
              </a:rPr>
              <a:t>services</a:t>
            </a:r>
            <a:endParaRPr sz="1400">
              <a:latin typeface="Leelawadee UI"/>
              <a:cs typeface="Leelawadee UI"/>
            </a:endParaRPr>
          </a:p>
        </p:txBody>
      </p:sp>
      <p:sp>
        <p:nvSpPr>
          <p:cNvPr id="21" name="object 17"/>
          <p:cNvSpPr/>
          <p:nvPr/>
        </p:nvSpPr>
        <p:spPr>
          <a:xfrm>
            <a:off x="8644782" y="1545394"/>
            <a:ext cx="344805" cy="402590"/>
          </a:xfrm>
          <a:custGeom>
            <a:avLst/>
            <a:gdLst/>
            <a:ahLst/>
            <a:cxnLst/>
            <a:rect l="l" t="t" r="r" b="b"/>
            <a:pathLst>
              <a:path w="344804" h="402589">
                <a:moveTo>
                  <a:pt x="172211" y="402336"/>
                </a:moveTo>
                <a:lnTo>
                  <a:pt x="172211" y="323087"/>
                </a:lnTo>
                <a:lnTo>
                  <a:pt x="0" y="323087"/>
                </a:lnTo>
                <a:lnTo>
                  <a:pt x="0" y="80772"/>
                </a:lnTo>
                <a:lnTo>
                  <a:pt x="172211" y="80772"/>
                </a:lnTo>
                <a:lnTo>
                  <a:pt x="172211" y="0"/>
                </a:lnTo>
                <a:lnTo>
                  <a:pt x="344423" y="201168"/>
                </a:lnTo>
                <a:lnTo>
                  <a:pt x="172211" y="402336"/>
                </a:lnTo>
                <a:close/>
              </a:path>
            </a:pathLst>
          </a:custGeom>
          <a:solidFill>
            <a:schemeClr val="accent3"/>
          </a:solidFill>
        </p:spPr>
        <p:txBody>
          <a:bodyPr wrap="square" lIns="0" tIns="0" rIns="0" bIns="0" rtlCol="0"/>
          <a:lstStyle/>
          <a:p>
            <a:endParaRPr/>
          </a:p>
        </p:txBody>
      </p:sp>
      <p:grpSp>
        <p:nvGrpSpPr>
          <p:cNvPr id="22" name="object 18"/>
          <p:cNvGrpSpPr/>
          <p:nvPr/>
        </p:nvGrpSpPr>
        <p:grpSpPr>
          <a:xfrm>
            <a:off x="9145416" y="1255072"/>
            <a:ext cx="1632585" cy="984885"/>
            <a:chOff x="7492745" y="1663445"/>
            <a:chExt cx="1632585" cy="984885"/>
          </a:xfrm>
        </p:grpSpPr>
        <p:sp>
          <p:nvSpPr>
            <p:cNvPr id="23" name="object 19"/>
            <p:cNvSpPr/>
            <p:nvPr/>
          </p:nvSpPr>
          <p:spPr>
            <a:xfrm>
              <a:off x="7498079" y="1668779"/>
              <a:ext cx="1621790" cy="974090"/>
            </a:xfrm>
            <a:custGeom>
              <a:avLst/>
              <a:gdLst/>
              <a:ahLst/>
              <a:cxnLst/>
              <a:rect l="l" t="t" r="r" b="b"/>
              <a:pathLst>
                <a:path w="1621790" h="974089">
                  <a:moveTo>
                    <a:pt x="1525524" y="973836"/>
                  </a:moveTo>
                  <a:lnTo>
                    <a:pt x="97536" y="973836"/>
                  </a:lnTo>
                  <a:lnTo>
                    <a:pt x="59793" y="966096"/>
                  </a:lnTo>
                  <a:lnTo>
                    <a:pt x="28765" y="945070"/>
                  </a:lnTo>
                  <a:lnTo>
                    <a:pt x="7739" y="914042"/>
                  </a:lnTo>
                  <a:lnTo>
                    <a:pt x="0" y="876300"/>
                  </a:lnTo>
                  <a:lnTo>
                    <a:pt x="0" y="97536"/>
                  </a:lnTo>
                  <a:lnTo>
                    <a:pt x="7739" y="59793"/>
                  </a:lnTo>
                  <a:lnTo>
                    <a:pt x="28765" y="28765"/>
                  </a:lnTo>
                  <a:lnTo>
                    <a:pt x="59793" y="7739"/>
                  </a:lnTo>
                  <a:lnTo>
                    <a:pt x="97536" y="0"/>
                  </a:lnTo>
                  <a:lnTo>
                    <a:pt x="1525524" y="0"/>
                  </a:lnTo>
                  <a:lnTo>
                    <a:pt x="1563028" y="7739"/>
                  </a:lnTo>
                  <a:lnTo>
                    <a:pt x="1593532" y="28765"/>
                  </a:lnTo>
                  <a:lnTo>
                    <a:pt x="1614035" y="59793"/>
                  </a:lnTo>
                  <a:lnTo>
                    <a:pt x="1621536" y="97536"/>
                  </a:lnTo>
                  <a:lnTo>
                    <a:pt x="1621536" y="876300"/>
                  </a:lnTo>
                  <a:lnTo>
                    <a:pt x="1614035" y="914042"/>
                  </a:lnTo>
                  <a:lnTo>
                    <a:pt x="1593532" y="945070"/>
                  </a:lnTo>
                  <a:lnTo>
                    <a:pt x="1563028" y="966096"/>
                  </a:lnTo>
                  <a:lnTo>
                    <a:pt x="1525524" y="973836"/>
                  </a:lnTo>
                  <a:close/>
                </a:path>
              </a:pathLst>
            </a:custGeom>
            <a:solidFill>
              <a:srgbClr val="D8D8D8"/>
            </a:solidFill>
          </p:spPr>
          <p:txBody>
            <a:bodyPr wrap="square" lIns="0" tIns="0" rIns="0" bIns="0" rtlCol="0"/>
            <a:lstStyle/>
            <a:p>
              <a:endParaRPr/>
            </a:p>
          </p:txBody>
        </p:sp>
        <p:sp>
          <p:nvSpPr>
            <p:cNvPr id="24" name="object 20"/>
            <p:cNvSpPr/>
            <p:nvPr/>
          </p:nvSpPr>
          <p:spPr>
            <a:xfrm>
              <a:off x="7498079" y="1668779"/>
              <a:ext cx="1621790" cy="974090"/>
            </a:xfrm>
            <a:custGeom>
              <a:avLst/>
              <a:gdLst/>
              <a:ahLst/>
              <a:cxnLst/>
              <a:rect l="l" t="t" r="r" b="b"/>
              <a:pathLst>
                <a:path w="1621790" h="974089">
                  <a:moveTo>
                    <a:pt x="0" y="97536"/>
                  </a:moveTo>
                  <a:lnTo>
                    <a:pt x="7739" y="59793"/>
                  </a:lnTo>
                  <a:lnTo>
                    <a:pt x="28765" y="28765"/>
                  </a:lnTo>
                  <a:lnTo>
                    <a:pt x="59793" y="7739"/>
                  </a:lnTo>
                  <a:lnTo>
                    <a:pt x="97536" y="0"/>
                  </a:lnTo>
                  <a:lnTo>
                    <a:pt x="1525524" y="0"/>
                  </a:lnTo>
                  <a:lnTo>
                    <a:pt x="1563028" y="7739"/>
                  </a:lnTo>
                  <a:lnTo>
                    <a:pt x="1593532" y="28765"/>
                  </a:lnTo>
                  <a:lnTo>
                    <a:pt x="1614035" y="59793"/>
                  </a:lnTo>
                  <a:lnTo>
                    <a:pt x="1621536" y="97536"/>
                  </a:lnTo>
                  <a:lnTo>
                    <a:pt x="1621536" y="876300"/>
                  </a:lnTo>
                  <a:lnTo>
                    <a:pt x="1614035" y="914042"/>
                  </a:lnTo>
                  <a:lnTo>
                    <a:pt x="1593532" y="945070"/>
                  </a:lnTo>
                  <a:lnTo>
                    <a:pt x="1563028" y="966096"/>
                  </a:lnTo>
                  <a:lnTo>
                    <a:pt x="1525524" y="973836"/>
                  </a:lnTo>
                  <a:lnTo>
                    <a:pt x="97536" y="973836"/>
                  </a:lnTo>
                  <a:lnTo>
                    <a:pt x="59793" y="966096"/>
                  </a:lnTo>
                  <a:lnTo>
                    <a:pt x="28765" y="945070"/>
                  </a:lnTo>
                  <a:lnTo>
                    <a:pt x="7739"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25" name="object 21"/>
          <p:cNvSpPr txBox="1"/>
          <p:nvPr/>
        </p:nvSpPr>
        <p:spPr>
          <a:xfrm>
            <a:off x="9444332" y="1512892"/>
            <a:ext cx="1037590" cy="443326"/>
          </a:xfrm>
          <a:prstGeom prst="rect">
            <a:avLst/>
          </a:prstGeom>
        </p:spPr>
        <p:txBody>
          <a:bodyPr vert="horz" wrap="square" lIns="0" tIns="20955" rIns="0" bIns="0" rtlCol="0">
            <a:spAutoFit/>
          </a:bodyPr>
          <a:lstStyle/>
          <a:p>
            <a:pPr marL="90170" marR="5080" indent="-78105">
              <a:lnSpc>
                <a:spcPts val="1670"/>
              </a:lnSpc>
              <a:spcBef>
                <a:spcPts val="165"/>
              </a:spcBef>
            </a:pPr>
            <a:r>
              <a:rPr sz="1400" spc="-5" dirty="0">
                <a:latin typeface="Leelawadee UI"/>
                <a:cs typeface="Leelawadee UI"/>
              </a:rPr>
              <a:t>Click</a:t>
            </a:r>
            <a:r>
              <a:rPr sz="1400" spc="-75" dirty="0">
                <a:latin typeface="Leelawadee UI"/>
                <a:cs typeface="Leelawadee UI"/>
              </a:rPr>
              <a:t> </a:t>
            </a:r>
            <a:r>
              <a:rPr sz="1400" spc="-5" dirty="0">
                <a:latin typeface="Leelawadee UI"/>
                <a:cs typeface="Leelawadee UI"/>
              </a:rPr>
              <a:t>Returns </a:t>
            </a:r>
            <a:r>
              <a:rPr sz="1400" spc="-365" dirty="0">
                <a:latin typeface="Leelawadee UI"/>
                <a:cs typeface="Leelawadee UI"/>
              </a:rPr>
              <a:t> </a:t>
            </a:r>
            <a:r>
              <a:rPr sz="1400" spc="-5" dirty="0">
                <a:latin typeface="Leelawadee UI"/>
                <a:cs typeface="Leelawadee UI"/>
              </a:rPr>
              <a:t>Dashboard</a:t>
            </a:r>
            <a:endParaRPr sz="1400">
              <a:latin typeface="Leelawadee UI"/>
              <a:cs typeface="Leelawadee UI"/>
            </a:endParaRPr>
          </a:p>
        </p:txBody>
      </p:sp>
      <p:sp>
        <p:nvSpPr>
          <p:cNvPr id="26" name="object 22"/>
          <p:cNvSpPr/>
          <p:nvPr/>
        </p:nvSpPr>
        <p:spPr>
          <a:xfrm>
            <a:off x="9760351" y="2375975"/>
            <a:ext cx="402590" cy="344805"/>
          </a:xfrm>
          <a:custGeom>
            <a:avLst/>
            <a:gdLst/>
            <a:ahLst/>
            <a:cxnLst/>
            <a:rect l="l" t="t" r="r" b="b"/>
            <a:pathLst>
              <a:path w="402590" h="344805">
                <a:moveTo>
                  <a:pt x="201167" y="344424"/>
                </a:moveTo>
                <a:lnTo>
                  <a:pt x="0" y="172211"/>
                </a:lnTo>
                <a:lnTo>
                  <a:pt x="80771" y="172211"/>
                </a:lnTo>
                <a:lnTo>
                  <a:pt x="80771" y="0"/>
                </a:lnTo>
                <a:lnTo>
                  <a:pt x="323087" y="0"/>
                </a:lnTo>
                <a:lnTo>
                  <a:pt x="323087" y="172211"/>
                </a:lnTo>
                <a:lnTo>
                  <a:pt x="402335" y="172211"/>
                </a:lnTo>
                <a:lnTo>
                  <a:pt x="201167" y="344424"/>
                </a:lnTo>
                <a:close/>
              </a:path>
            </a:pathLst>
          </a:custGeom>
          <a:solidFill>
            <a:schemeClr val="accent3"/>
          </a:solidFill>
        </p:spPr>
        <p:txBody>
          <a:bodyPr wrap="square" lIns="0" tIns="0" rIns="0" bIns="0" rtlCol="0"/>
          <a:lstStyle/>
          <a:p>
            <a:endParaRPr/>
          </a:p>
        </p:txBody>
      </p:sp>
      <p:grpSp>
        <p:nvGrpSpPr>
          <p:cNvPr id="27" name="object 23"/>
          <p:cNvGrpSpPr/>
          <p:nvPr/>
        </p:nvGrpSpPr>
        <p:grpSpPr>
          <a:xfrm>
            <a:off x="9145416" y="2876609"/>
            <a:ext cx="1632585" cy="984885"/>
            <a:chOff x="7492745" y="3284982"/>
            <a:chExt cx="1632585" cy="984885"/>
          </a:xfrm>
        </p:grpSpPr>
        <p:sp>
          <p:nvSpPr>
            <p:cNvPr id="28" name="object 24"/>
            <p:cNvSpPr/>
            <p:nvPr/>
          </p:nvSpPr>
          <p:spPr>
            <a:xfrm>
              <a:off x="7498079" y="3290316"/>
              <a:ext cx="1621790" cy="974090"/>
            </a:xfrm>
            <a:custGeom>
              <a:avLst/>
              <a:gdLst/>
              <a:ahLst/>
              <a:cxnLst/>
              <a:rect l="l" t="t" r="r" b="b"/>
              <a:pathLst>
                <a:path w="1621790" h="974089">
                  <a:moveTo>
                    <a:pt x="1525524" y="973836"/>
                  </a:moveTo>
                  <a:lnTo>
                    <a:pt x="97536" y="973836"/>
                  </a:lnTo>
                  <a:lnTo>
                    <a:pt x="59793" y="966096"/>
                  </a:lnTo>
                  <a:lnTo>
                    <a:pt x="28765" y="945070"/>
                  </a:lnTo>
                  <a:lnTo>
                    <a:pt x="7739" y="914042"/>
                  </a:lnTo>
                  <a:lnTo>
                    <a:pt x="0" y="876300"/>
                  </a:lnTo>
                  <a:lnTo>
                    <a:pt x="0" y="97536"/>
                  </a:lnTo>
                  <a:lnTo>
                    <a:pt x="7739" y="59793"/>
                  </a:lnTo>
                  <a:lnTo>
                    <a:pt x="28765" y="28765"/>
                  </a:lnTo>
                  <a:lnTo>
                    <a:pt x="59793" y="7739"/>
                  </a:lnTo>
                  <a:lnTo>
                    <a:pt x="97536" y="0"/>
                  </a:lnTo>
                  <a:lnTo>
                    <a:pt x="1525524" y="0"/>
                  </a:lnTo>
                  <a:lnTo>
                    <a:pt x="1563028" y="7739"/>
                  </a:lnTo>
                  <a:lnTo>
                    <a:pt x="1593532" y="28765"/>
                  </a:lnTo>
                  <a:lnTo>
                    <a:pt x="1614035" y="59793"/>
                  </a:lnTo>
                  <a:lnTo>
                    <a:pt x="1621536" y="97536"/>
                  </a:lnTo>
                  <a:lnTo>
                    <a:pt x="1621536" y="876300"/>
                  </a:lnTo>
                  <a:lnTo>
                    <a:pt x="1614035" y="914042"/>
                  </a:lnTo>
                  <a:lnTo>
                    <a:pt x="1593532" y="945070"/>
                  </a:lnTo>
                  <a:lnTo>
                    <a:pt x="1563028" y="966096"/>
                  </a:lnTo>
                  <a:lnTo>
                    <a:pt x="1525524" y="973836"/>
                  </a:lnTo>
                  <a:close/>
                </a:path>
              </a:pathLst>
            </a:custGeom>
            <a:solidFill>
              <a:srgbClr val="D8D8D8"/>
            </a:solidFill>
          </p:spPr>
          <p:txBody>
            <a:bodyPr wrap="square" lIns="0" tIns="0" rIns="0" bIns="0" rtlCol="0"/>
            <a:lstStyle/>
            <a:p>
              <a:endParaRPr/>
            </a:p>
          </p:txBody>
        </p:sp>
        <p:sp>
          <p:nvSpPr>
            <p:cNvPr id="29" name="object 25"/>
            <p:cNvSpPr/>
            <p:nvPr/>
          </p:nvSpPr>
          <p:spPr>
            <a:xfrm>
              <a:off x="7498079" y="3290316"/>
              <a:ext cx="1621790" cy="974090"/>
            </a:xfrm>
            <a:custGeom>
              <a:avLst/>
              <a:gdLst/>
              <a:ahLst/>
              <a:cxnLst/>
              <a:rect l="l" t="t" r="r" b="b"/>
              <a:pathLst>
                <a:path w="1621790" h="974089">
                  <a:moveTo>
                    <a:pt x="0" y="97536"/>
                  </a:moveTo>
                  <a:lnTo>
                    <a:pt x="7739" y="59793"/>
                  </a:lnTo>
                  <a:lnTo>
                    <a:pt x="28765" y="28765"/>
                  </a:lnTo>
                  <a:lnTo>
                    <a:pt x="59793" y="7739"/>
                  </a:lnTo>
                  <a:lnTo>
                    <a:pt x="97536" y="0"/>
                  </a:lnTo>
                  <a:lnTo>
                    <a:pt x="1525524" y="0"/>
                  </a:lnTo>
                  <a:lnTo>
                    <a:pt x="1563028" y="7739"/>
                  </a:lnTo>
                  <a:lnTo>
                    <a:pt x="1593532" y="28765"/>
                  </a:lnTo>
                  <a:lnTo>
                    <a:pt x="1614035" y="59793"/>
                  </a:lnTo>
                  <a:lnTo>
                    <a:pt x="1621536" y="97536"/>
                  </a:lnTo>
                  <a:lnTo>
                    <a:pt x="1621536" y="876300"/>
                  </a:lnTo>
                  <a:lnTo>
                    <a:pt x="1614035" y="914042"/>
                  </a:lnTo>
                  <a:lnTo>
                    <a:pt x="1593532" y="945070"/>
                  </a:lnTo>
                  <a:lnTo>
                    <a:pt x="1563028" y="966096"/>
                  </a:lnTo>
                  <a:lnTo>
                    <a:pt x="1525524" y="973836"/>
                  </a:lnTo>
                  <a:lnTo>
                    <a:pt x="97536" y="973836"/>
                  </a:lnTo>
                  <a:lnTo>
                    <a:pt x="59793" y="966096"/>
                  </a:lnTo>
                  <a:lnTo>
                    <a:pt x="28765" y="945070"/>
                  </a:lnTo>
                  <a:lnTo>
                    <a:pt x="7739"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30" name="object 26"/>
          <p:cNvSpPr txBox="1"/>
          <p:nvPr/>
        </p:nvSpPr>
        <p:spPr>
          <a:xfrm>
            <a:off x="9261497" y="3027730"/>
            <a:ext cx="1402080" cy="660437"/>
          </a:xfrm>
          <a:prstGeom prst="rect">
            <a:avLst/>
          </a:prstGeom>
        </p:spPr>
        <p:txBody>
          <a:bodyPr vert="horz" wrap="square" lIns="0" tIns="13970" rIns="0" bIns="0" rtlCol="0">
            <a:spAutoFit/>
          </a:bodyPr>
          <a:lstStyle/>
          <a:p>
            <a:pPr marL="12065" marR="5080" indent="-1270" algn="ctr">
              <a:lnSpc>
                <a:spcPct val="99600"/>
              </a:lnSpc>
              <a:spcBef>
                <a:spcPts val="110"/>
              </a:spcBef>
            </a:pPr>
            <a:r>
              <a:rPr sz="1400" spc="-5" dirty="0">
                <a:latin typeface="Leelawadee UI"/>
                <a:cs typeface="Leelawadee UI"/>
              </a:rPr>
              <a:t>Select</a:t>
            </a:r>
            <a:r>
              <a:rPr sz="1400" dirty="0">
                <a:latin typeface="Leelawadee UI"/>
                <a:cs typeface="Leelawadee UI"/>
              </a:rPr>
              <a:t> </a:t>
            </a:r>
            <a:r>
              <a:rPr sz="1400" spc="-10" dirty="0">
                <a:latin typeface="Leelawadee UI"/>
                <a:cs typeface="Leelawadee UI"/>
              </a:rPr>
              <a:t>relevant </a:t>
            </a:r>
            <a:r>
              <a:rPr sz="1400" spc="-5" dirty="0">
                <a:latin typeface="Leelawadee UI"/>
                <a:cs typeface="Leelawadee UI"/>
              </a:rPr>
              <a:t> </a:t>
            </a:r>
            <a:r>
              <a:rPr sz="1400" dirty="0">
                <a:latin typeface="Leelawadee UI"/>
                <a:cs typeface="Leelawadee UI"/>
              </a:rPr>
              <a:t>financial</a:t>
            </a:r>
            <a:r>
              <a:rPr sz="1400" spc="-50" dirty="0">
                <a:latin typeface="Leelawadee UI"/>
                <a:cs typeface="Leelawadee UI"/>
              </a:rPr>
              <a:t> </a:t>
            </a:r>
            <a:r>
              <a:rPr sz="1400" dirty="0">
                <a:latin typeface="Leelawadee UI"/>
                <a:cs typeface="Leelawadee UI"/>
              </a:rPr>
              <a:t>year</a:t>
            </a:r>
            <a:r>
              <a:rPr sz="1400" spc="-60" dirty="0">
                <a:latin typeface="Leelawadee UI"/>
                <a:cs typeface="Leelawadee UI"/>
              </a:rPr>
              <a:t> </a:t>
            </a:r>
            <a:r>
              <a:rPr sz="1400" dirty="0">
                <a:latin typeface="Leelawadee UI"/>
                <a:cs typeface="Leelawadee UI"/>
              </a:rPr>
              <a:t>and </a:t>
            </a:r>
            <a:r>
              <a:rPr sz="1400" spc="-365" dirty="0">
                <a:latin typeface="Leelawadee UI"/>
                <a:cs typeface="Leelawadee UI"/>
              </a:rPr>
              <a:t> </a:t>
            </a:r>
            <a:r>
              <a:rPr sz="1400" spc="-5" dirty="0">
                <a:latin typeface="Leelawadee UI"/>
                <a:cs typeface="Leelawadee UI"/>
              </a:rPr>
              <a:t>return</a:t>
            </a:r>
            <a:r>
              <a:rPr sz="1400" spc="-25" dirty="0">
                <a:latin typeface="Leelawadee UI"/>
                <a:cs typeface="Leelawadee UI"/>
              </a:rPr>
              <a:t> </a:t>
            </a:r>
            <a:r>
              <a:rPr sz="1400" dirty="0">
                <a:latin typeface="Leelawadee UI"/>
                <a:cs typeface="Leelawadee UI"/>
              </a:rPr>
              <a:t>period</a:t>
            </a:r>
            <a:endParaRPr sz="1400">
              <a:latin typeface="Leelawadee UI"/>
              <a:cs typeface="Leelawadee UI"/>
            </a:endParaRPr>
          </a:p>
        </p:txBody>
      </p:sp>
      <p:sp>
        <p:nvSpPr>
          <p:cNvPr id="31" name="object 27"/>
          <p:cNvSpPr/>
          <p:nvPr/>
        </p:nvSpPr>
        <p:spPr>
          <a:xfrm>
            <a:off x="8664594" y="3166930"/>
            <a:ext cx="344805" cy="402590"/>
          </a:xfrm>
          <a:custGeom>
            <a:avLst/>
            <a:gdLst/>
            <a:ahLst/>
            <a:cxnLst/>
            <a:rect l="l" t="t" r="r" b="b"/>
            <a:pathLst>
              <a:path w="344804" h="402589">
                <a:moveTo>
                  <a:pt x="172212" y="402336"/>
                </a:moveTo>
                <a:lnTo>
                  <a:pt x="0" y="201168"/>
                </a:lnTo>
                <a:lnTo>
                  <a:pt x="172212" y="0"/>
                </a:lnTo>
                <a:lnTo>
                  <a:pt x="172212" y="80772"/>
                </a:lnTo>
                <a:lnTo>
                  <a:pt x="344424" y="80772"/>
                </a:lnTo>
                <a:lnTo>
                  <a:pt x="344424" y="323088"/>
                </a:lnTo>
                <a:lnTo>
                  <a:pt x="172212" y="323088"/>
                </a:lnTo>
                <a:lnTo>
                  <a:pt x="172212" y="402336"/>
                </a:lnTo>
                <a:close/>
              </a:path>
            </a:pathLst>
          </a:custGeom>
          <a:solidFill>
            <a:schemeClr val="accent3"/>
          </a:solidFill>
        </p:spPr>
        <p:txBody>
          <a:bodyPr wrap="square" lIns="0" tIns="0" rIns="0" bIns="0" rtlCol="0"/>
          <a:lstStyle/>
          <a:p>
            <a:endParaRPr/>
          </a:p>
        </p:txBody>
      </p:sp>
      <p:grpSp>
        <p:nvGrpSpPr>
          <p:cNvPr id="32" name="object 28"/>
          <p:cNvGrpSpPr/>
          <p:nvPr/>
        </p:nvGrpSpPr>
        <p:grpSpPr>
          <a:xfrm>
            <a:off x="6876181" y="2876609"/>
            <a:ext cx="1632585" cy="984885"/>
            <a:chOff x="5223510" y="3284982"/>
            <a:chExt cx="1632585" cy="984885"/>
          </a:xfrm>
        </p:grpSpPr>
        <p:sp>
          <p:nvSpPr>
            <p:cNvPr id="33" name="object 29"/>
            <p:cNvSpPr/>
            <p:nvPr/>
          </p:nvSpPr>
          <p:spPr>
            <a:xfrm>
              <a:off x="5228844" y="3290316"/>
              <a:ext cx="1621790" cy="974090"/>
            </a:xfrm>
            <a:custGeom>
              <a:avLst/>
              <a:gdLst/>
              <a:ahLst/>
              <a:cxnLst/>
              <a:rect l="l" t="t" r="r" b="b"/>
              <a:pathLst>
                <a:path w="1621790" h="974089">
                  <a:moveTo>
                    <a:pt x="1524000" y="973836"/>
                  </a:moveTo>
                  <a:lnTo>
                    <a:pt x="97536" y="973836"/>
                  </a:lnTo>
                  <a:lnTo>
                    <a:pt x="59150" y="966096"/>
                  </a:lnTo>
                  <a:lnTo>
                    <a:pt x="28194" y="945070"/>
                  </a:lnTo>
                  <a:lnTo>
                    <a:pt x="7524" y="914042"/>
                  </a:lnTo>
                  <a:lnTo>
                    <a:pt x="0" y="876300"/>
                  </a:lnTo>
                  <a:lnTo>
                    <a:pt x="0" y="97536"/>
                  </a:ln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34" name="object 30"/>
            <p:cNvSpPr/>
            <p:nvPr/>
          </p:nvSpPr>
          <p:spPr>
            <a:xfrm>
              <a:off x="5228844" y="3290316"/>
              <a:ext cx="1621790" cy="974090"/>
            </a:xfrm>
            <a:custGeom>
              <a:avLst/>
              <a:gdLst/>
              <a:ahLst/>
              <a:cxnLst/>
              <a:rect l="l" t="t" r="r" b="b"/>
              <a:pathLst>
                <a:path w="1621790" h="974089">
                  <a:moveTo>
                    <a:pt x="0" y="97536"/>
                  </a:move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7536" y="973836"/>
                  </a:lnTo>
                  <a:lnTo>
                    <a:pt x="59150" y="966096"/>
                  </a:lnTo>
                  <a:lnTo>
                    <a:pt x="28194" y="945070"/>
                  </a:lnTo>
                  <a:lnTo>
                    <a:pt x="7524"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35" name="object 31"/>
          <p:cNvSpPr txBox="1"/>
          <p:nvPr/>
        </p:nvSpPr>
        <p:spPr>
          <a:xfrm>
            <a:off x="7018212" y="3134384"/>
            <a:ext cx="1346200" cy="443326"/>
          </a:xfrm>
          <a:prstGeom prst="rect">
            <a:avLst/>
          </a:prstGeom>
        </p:spPr>
        <p:txBody>
          <a:bodyPr vert="horz" wrap="square" lIns="0" tIns="20955" rIns="0" bIns="0" rtlCol="0">
            <a:spAutoFit/>
          </a:bodyPr>
          <a:lstStyle/>
          <a:p>
            <a:pPr marL="78105" marR="5080" indent="-66040">
              <a:lnSpc>
                <a:spcPts val="1670"/>
              </a:lnSpc>
              <a:spcBef>
                <a:spcPts val="165"/>
              </a:spcBef>
            </a:pPr>
            <a:r>
              <a:rPr sz="1400" spc="-5" dirty="0">
                <a:latin typeface="Leelawadee UI"/>
                <a:cs typeface="Leelawadee UI"/>
              </a:rPr>
              <a:t>Click</a:t>
            </a:r>
            <a:r>
              <a:rPr sz="1400" spc="-40" dirty="0">
                <a:latin typeface="Leelawadee UI"/>
                <a:cs typeface="Leelawadee UI"/>
              </a:rPr>
              <a:t> </a:t>
            </a:r>
            <a:r>
              <a:rPr sz="1400" dirty="0">
                <a:latin typeface="Leelawadee UI"/>
                <a:cs typeface="Leelawadee UI"/>
              </a:rPr>
              <a:t>on</a:t>
            </a:r>
            <a:r>
              <a:rPr sz="1400" spc="-30" dirty="0">
                <a:latin typeface="Leelawadee UI"/>
                <a:cs typeface="Leelawadee UI"/>
              </a:rPr>
              <a:t> </a:t>
            </a:r>
            <a:r>
              <a:rPr sz="1400" dirty="0">
                <a:latin typeface="Leelawadee UI"/>
                <a:cs typeface="Leelawadee UI"/>
              </a:rPr>
              <a:t>monthly </a:t>
            </a:r>
            <a:r>
              <a:rPr sz="1400" spc="-370" dirty="0">
                <a:latin typeface="Leelawadee UI"/>
                <a:cs typeface="Leelawadee UI"/>
              </a:rPr>
              <a:t> </a:t>
            </a:r>
            <a:r>
              <a:rPr sz="1400" spc="-5" dirty="0">
                <a:latin typeface="Leelawadee UI"/>
                <a:cs typeface="Leelawadee UI"/>
              </a:rPr>
              <a:t>return</a:t>
            </a:r>
            <a:r>
              <a:rPr sz="1400" spc="-35" dirty="0">
                <a:latin typeface="Leelawadee UI"/>
                <a:cs typeface="Leelawadee UI"/>
              </a:rPr>
              <a:t> </a:t>
            </a:r>
            <a:r>
              <a:rPr sz="1400" spc="-5" dirty="0">
                <a:latin typeface="Leelawadee UI"/>
                <a:cs typeface="Leelawadee UI"/>
              </a:rPr>
              <a:t>GSTR </a:t>
            </a:r>
            <a:r>
              <a:rPr sz="1400" spc="-10" dirty="0">
                <a:latin typeface="Leelawadee UI"/>
                <a:cs typeface="Leelawadee UI"/>
              </a:rPr>
              <a:t>3b</a:t>
            </a:r>
            <a:endParaRPr sz="1400">
              <a:latin typeface="Leelawadee UI"/>
              <a:cs typeface="Leelawadee UI"/>
            </a:endParaRPr>
          </a:p>
        </p:txBody>
      </p:sp>
      <p:sp>
        <p:nvSpPr>
          <p:cNvPr id="36" name="object 32"/>
          <p:cNvSpPr/>
          <p:nvPr/>
        </p:nvSpPr>
        <p:spPr>
          <a:xfrm>
            <a:off x="6395359" y="3166930"/>
            <a:ext cx="342900" cy="402590"/>
          </a:xfrm>
          <a:custGeom>
            <a:avLst/>
            <a:gdLst/>
            <a:ahLst/>
            <a:cxnLst/>
            <a:rect l="l" t="t" r="r" b="b"/>
            <a:pathLst>
              <a:path w="342900" h="402589">
                <a:moveTo>
                  <a:pt x="170688" y="402336"/>
                </a:moveTo>
                <a:lnTo>
                  <a:pt x="0" y="201168"/>
                </a:lnTo>
                <a:lnTo>
                  <a:pt x="170688" y="0"/>
                </a:lnTo>
                <a:lnTo>
                  <a:pt x="170688" y="80772"/>
                </a:lnTo>
                <a:lnTo>
                  <a:pt x="342899" y="80772"/>
                </a:lnTo>
                <a:lnTo>
                  <a:pt x="342899" y="323088"/>
                </a:lnTo>
                <a:lnTo>
                  <a:pt x="170688" y="323088"/>
                </a:lnTo>
                <a:lnTo>
                  <a:pt x="170688" y="402336"/>
                </a:lnTo>
                <a:close/>
              </a:path>
            </a:pathLst>
          </a:custGeom>
          <a:solidFill>
            <a:schemeClr val="accent3"/>
          </a:solidFill>
        </p:spPr>
        <p:txBody>
          <a:bodyPr wrap="square" lIns="0" tIns="0" rIns="0" bIns="0" rtlCol="0"/>
          <a:lstStyle/>
          <a:p>
            <a:endParaRPr/>
          </a:p>
        </p:txBody>
      </p:sp>
      <p:grpSp>
        <p:nvGrpSpPr>
          <p:cNvPr id="37" name="object 33"/>
          <p:cNvGrpSpPr/>
          <p:nvPr/>
        </p:nvGrpSpPr>
        <p:grpSpPr>
          <a:xfrm>
            <a:off x="4605421" y="2876609"/>
            <a:ext cx="1632585" cy="984885"/>
            <a:chOff x="2952750" y="3284982"/>
            <a:chExt cx="1632585" cy="984885"/>
          </a:xfrm>
        </p:grpSpPr>
        <p:sp>
          <p:nvSpPr>
            <p:cNvPr id="38" name="object 34"/>
            <p:cNvSpPr/>
            <p:nvPr/>
          </p:nvSpPr>
          <p:spPr>
            <a:xfrm>
              <a:off x="2958083" y="3290316"/>
              <a:ext cx="1621790" cy="974090"/>
            </a:xfrm>
            <a:custGeom>
              <a:avLst/>
              <a:gdLst/>
              <a:ahLst/>
              <a:cxnLst/>
              <a:rect l="l" t="t" r="r" b="b"/>
              <a:pathLst>
                <a:path w="1621789" h="974089">
                  <a:moveTo>
                    <a:pt x="1524000" y="973836"/>
                  </a:moveTo>
                  <a:lnTo>
                    <a:pt x="97536" y="973836"/>
                  </a:lnTo>
                  <a:lnTo>
                    <a:pt x="59793" y="966096"/>
                  </a:lnTo>
                  <a:lnTo>
                    <a:pt x="28765" y="945070"/>
                  </a:lnTo>
                  <a:lnTo>
                    <a:pt x="7739" y="914042"/>
                  </a:lnTo>
                  <a:lnTo>
                    <a:pt x="0" y="876300"/>
                  </a:lnTo>
                  <a:lnTo>
                    <a:pt x="0" y="97536"/>
                  </a:ln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close/>
                </a:path>
              </a:pathLst>
            </a:custGeom>
            <a:solidFill>
              <a:srgbClr val="D8D8D8"/>
            </a:solidFill>
          </p:spPr>
          <p:txBody>
            <a:bodyPr wrap="square" lIns="0" tIns="0" rIns="0" bIns="0" rtlCol="0"/>
            <a:lstStyle/>
            <a:p>
              <a:endParaRPr/>
            </a:p>
          </p:txBody>
        </p:sp>
        <p:sp>
          <p:nvSpPr>
            <p:cNvPr id="39" name="object 35"/>
            <p:cNvSpPr/>
            <p:nvPr/>
          </p:nvSpPr>
          <p:spPr>
            <a:xfrm>
              <a:off x="2958083" y="3290316"/>
              <a:ext cx="1621790" cy="974090"/>
            </a:xfrm>
            <a:custGeom>
              <a:avLst/>
              <a:gdLst/>
              <a:ahLst/>
              <a:cxnLst/>
              <a:rect l="l" t="t" r="r" b="b"/>
              <a:pathLst>
                <a:path w="1621789" h="974089">
                  <a:moveTo>
                    <a:pt x="0" y="97536"/>
                  </a:move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lnTo>
                    <a:pt x="97536" y="973836"/>
                  </a:lnTo>
                  <a:lnTo>
                    <a:pt x="59793" y="966096"/>
                  </a:lnTo>
                  <a:lnTo>
                    <a:pt x="28765" y="945070"/>
                  </a:lnTo>
                  <a:lnTo>
                    <a:pt x="7739"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40" name="object 36"/>
          <p:cNvSpPr txBox="1"/>
          <p:nvPr/>
        </p:nvSpPr>
        <p:spPr>
          <a:xfrm>
            <a:off x="4898276" y="3134384"/>
            <a:ext cx="1045844" cy="443326"/>
          </a:xfrm>
          <a:prstGeom prst="rect">
            <a:avLst/>
          </a:prstGeom>
        </p:spPr>
        <p:txBody>
          <a:bodyPr vert="horz" wrap="square" lIns="0" tIns="20955" rIns="0" bIns="0" rtlCol="0">
            <a:spAutoFit/>
          </a:bodyPr>
          <a:lstStyle/>
          <a:p>
            <a:pPr marL="280670" marR="5080" indent="-268605">
              <a:lnSpc>
                <a:spcPts val="1670"/>
              </a:lnSpc>
              <a:spcBef>
                <a:spcPts val="165"/>
              </a:spcBef>
            </a:pPr>
            <a:r>
              <a:rPr sz="1400" spc="-5" dirty="0">
                <a:latin typeface="Leelawadee UI"/>
                <a:cs typeface="Leelawadee UI"/>
              </a:rPr>
              <a:t>Click</a:t>
            </a:r>
            <a:r>
              <a:rPr sz="1400" spc="-65" dirty="0">
                <a:latin typeface="Leelawadee UI"/>
                <a:cs typeface="Leelawadee UI"/>
              </a:rPr>
              <a:t> </a:t>
            </a:r>
            <a:r>
              <a:rPr sz="1400" spc="-10" dirty="0">
                <a:latin typeface="Leelawadee UI"/>
                <a:cs typeface="Leelawadee UI"/>
              </a:rPr>
              <a:t>prepare </a:t>
            </a:r>
            <a:r>
              <a:rPr sz="1400" spc="-365" dirty="0">
                <a:latin typeface="Leelawadee UI"/>
                <a:cs typeface="Leelawadee UI"/>
              </a:rPr>
              <a:t> </a:t>
            </a:r>
            <a:r>
              <a:rPr sz="1400" dirty="0">
                <a:latin typeface="Leelawadee UI"/>
                <a:cs typeface="Leelawadee UI"/>
              </a:rPr>
              <a:t>online</a:t>
            </a:r>
            <a:endParaRPr sz="1400">
              <a:latin typeface="Leelawadee UI"/>
              <a:cs typeface="Leelawadee UI"/>
            </a:endParaRPr>
          </a:p>
        </p:txBody>
      </p:sp>
      <p:sp>
        <p:nvSpPr>
          <p:cNvPr id="41" name="object 37"/>
          <p:cNvSpPr/>
          <p:nvPr/>
        </p:nvSpPr>
        <p:spPr>
          <a:xfrm>
            <a:off x="4124598" y="3166930"/>
            <a:ext cx="344805" cy="402590"/>
          </a:xfrm>
          <a:custGeom>
            <a:avLst/>
            <a:gdLst/>
            <a:ahLst/>
            <a:cxnLst/>
            <a:rect l="l" t="t" r="r" b="b"/>
            <a:pathLst>
              <a:path w="344805" h="402589">
                <a:moveTo>
                  <a:pt x="172212" y="402336"/>
                </a:moveTo>
                <a:lnTo>
                  <a:pt x="0" y="201168"/>
                </a:lnTo>
                <a:lnTo>
                  <a:pt x="172212" y="0"/>
                </a:lnTo>
                <a:lnTo>
                  <a:pt x="172212" y="80772"/>
                </a:lnTo>
                <a:lnTo>
                  <a:pt x="344424" y="80772"/>
                </a:lnTo>
                <a:lnTo>
                  <a:pt x="344424" y="323088"/>
                </a:lnTo>
                <a:lnTo>
                  <a:pt x="172212" y="323088"/>
                </a:lnTo>
                <a:lnTo>
                  <a:pt x="172212" y="402336"/>
                </a:lnTo>
                <a:close/>
              </a:path>
            </a:pathLst>
          </a:custGeom>
          <a:solidFill>
            <a:schemeClr val="accent3"/>
          </a:solidFill>
        </p:spPr>
        <p:txBody>
          <a:bodyPr wrap="square" lIns="0" tIns="0" rIns="0" bIns="0" rtlCol="0"/>
          <a:lstStyle/>
          <a:p>
            <a:endParaRPr/>
          </a:p>
        </p:txBody>
      </p:sp>
      <p:grpSp>
        <p:nvGrpSpPr>
          <p:cNvPr id="42" name="object 38"/>
          <p:cNvGrpSpPr/>
          <p:nvPr/>
        </p:nvGrpSpPr>
        <p:grpSpPr>
          <a:xfrm>
            <a:off x="2336184" y="2876609"/>
            <a:ext cx="1632585" cy="984885"/>
            <a:chOff x="683513" y="3284982"/>
            <a:chExt cx="1632585" cy="984885"/>
          </a:xfrm>
        </p:grpSpPr>
        <p:sp>
          <p:nvSpPr>
            <p:cNvPr id="43" name="object 39"/>
            <p:cNvSpPr/>
            <p:nvPr/>
          </p:nvSpPr>
          <p:spPr>
            <a:xfrm>
              <a:off x="688847" y="3290316"/>
              <a:ext cx="1621790" cy="974090"/>
            </a:xfrm>
            <a:custGeom>
              <a:avLst/>
              <a:gdLst/>
              <a:ahLst/>
              <a:cxnLst/>
              <a:rect l="l" t="t" r="r" b="b"/>
              <a:pathLst>
                <a:path w="1621789" h="974089">
                  <a:moveTo>
                    <a:pt x="1524000" y="973836"/>
                  </a:moveTo>
                  <a:lnTo>
                    <a:pt x="96012" y="973836"/>
                  </a:lnTo>
                  <a:lnTo>
                    <a:pt x="58507" y="966096"/>
                  </a:lnTo>
                  <a:lnTo>
                    <a:pt x="28003" y="945070"/>
                  </a:lnTo>
                  <a:lnTo>
                    <a:pt x="7500" y="914042"/>
                  </a:lnTo>
                  <a:lnTo>
                    <a:pt x="0" y="876300"/>
                  </a:lnTo>
                  <a:lnTo>
                    <a:pt x="0" y="97536"/>
                  </a:ln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44" name="object 40"/>
            <p:cNvSpPr/>
            <p:nvPr/>
          </p:nvSpPr>
          <p:spPr>
            <a:xfrm>
              <a:off x="688847" y="3290316"/>
              <a:ext cx="1621790" cy="974090"/>
            </a:xfrm>
            <a:custGeom>
              <a:avLst/>
              <a:gdLst/>
              <a:ahLst/>
              <a:cxnLst/>
              <a:rect l="l" t="t" r="r" b="b"/>
              <a:pathLst>
                <a:path w="1621789" h="974089">
                  <a:moveTo>
                    <a:pt x="0" y="97536"/>
                  </a:move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6012" y="973836"/>
                  </a:lnTo>
                  <a:lnTo>
                    <a:pt x="58507" y="966096"/>
                  </a:lnTo>
                  <a:lnTo>
                    <a:pt x="28003" y="945070"/>
                  </a:lnTo>
                  <a:lnTo>
                    <a:pt x="7500"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45" name="object 41"/>
          <p:cNvSpPr txBox="1"/>
          <p:nvPr/>
        </p:nvSpPr>
        <p:spPr>
          <a:xfrm>
            <a:off x="2677781" y="3027730"/>
            <a:ext cx="948690" cy="660437"/>
          </a:xfrm>
          <a:prstGeom prst="rect">
            <a:avLst/>
          </a:prstGeom>
        </p:spPr>
        <p:txBody>
          <a:bodyPr vert="horz" wrap="square" lIns="0" tIns="13970" rIns="0" bIns="0" rtlCol="0">
            <a:spAutoFit/>
          </a:bodyPr>
          <a:lstStyle/>
          <a:p>
            <a:pPr marL="12700" marR="5080" indent="635" algn="ctr">
              <a:lnSpc>
                <a:spcPct val="99600"/>
              </a:lnSpc>
              <a:spcBef>
                <a:spcPts val="110"/>
              </a:spcBef>
            </a:pPr>
            <a:r>
              <a:rPr sz="1400" spc="-5" dirty="0">
                <a:latin typeface="Leelawadee UI"/>
                <a:cs typeface="Leelawadee UI"/>
              </a:rPr>
              <a:t>Fill up </a:t>
            </a:r>
            <a:r>
              <a:rPr sz="1400" dirty="0">
                <a:latin typeface="Leelawadee UI"/>
                <a:cs typeface="Leelawadee UI"/>
              </a:rPr>
              <a:t>the </a:t>
            </a:r>
            <a:r>
              <a:rPr sz="1400" spc="5" dirty="0">
                <a:latin typeface="Leelawadee UI"/>
                <a:cs typeface="Leelawadee UI"/>
              </a:rPr>
              <a:t> </a:t>
            </a:r>
            <a:r>
              <a:rPr sz="1400" spc="-10" dirty="0">
                <a:latin typeface="Leelawadee UI"/>
                <a:cs typeface="Leelawadee UI"/>
              </a:rPr>
              <a:t>required </a:t>
            </a:r>
            <a:r>
              <a:rPr sz="1400" spc="-5" dirty="0">
                <a:latin typeface="Leelawadee UI"/>
                <a:cs typeface="Leelawadee UI"/>
              </a:rPr>
              <a:t> i</a:t>
            </a:r>
            <a:r>
              <a:rPr sz="1400" spc="-10" dirty="0">
                <a:latin typeface="Leelawadee UI"/>
                <a:cs typeface="Leelawadee UI"/>
              </a:rPr>
              <a:t>n</a:t>
            </a:r>
            <a:r>
              <a:rPr sz="1400" spc="5" dirty="0">
                <a:latin typeface="Leelawadee UI"/>
                <a:cs typeface="Leelawadee UI"/>
              </a:rPr>
              <a:t>fo</a:t>
            </a:r>
            <a:r>
              <a:rPr sz="1400" dirty="0">
                <a:latin typeface="Leelawadee UI"/>
                <a:cs typeface="Leelawadee UI"/>
              </a:rPr>
              <a:t>r</a:t>
            </a:r>
            <a:r>
              <a:rPr sz="1400" spc="-5" dirty="0">
                <a:latin typeface="Leelawadee UI"/>
                <a:cs typeface="Leelawadee UI"/>
              </a:rPr>
              <a:t>m</a:t>
            </a:r>
            <a:r>
              <a:rPr sz="1400" spc="15" dirty="0">
                <a:latin typeface="Leelawadee UI"/>
                <a:cs typeface="Leelawadee UI"/>
              </a:rPr>
              <a:t>a</a:t>
            </a:r>
            <a:r>
              <a:rPr sz="1400" dirty="0">
                <a:latin typeface="Leelawadee UI"/>
                <a:cs typeface="Leelawadee UI"/>
              </a:rPr>
              <a:t>t</a:t>
            </a:r>
            <a:r>
              <a:rPr sz="1400" spc="-5" dirty="0">
                <a:latin typeface="Leelawadee UI"/>
                <a:cs typeface="Leelawadee UI"/>
              </a:rPr>
              <a:t>i</a:t>
            </a:r>
            <a:r>
              <a:rPr sz="1400" spc="5" dirty="0">
                <a:latin typeface="Leelawadee UI"/>
                <a:cs typeface="Leelawadee UI"/>
              </a:rPr>
              <a:t>o</a:t>
            </a:r>
            <a:r>
              <a:rPr sz="1400" dirty="0">
                <a:latin typeface="Leelawadee UI"/>
                <a:cs typeface="Leelawadee UI"/>
              </a:rPr>
              <a:t>n</a:t>
            </a:r>
            <a:endParaRPr sz="1400">
              <a:latin typeface="Leelawadee UI"/>
              <a:cs typeface="Leelawadee UI"/>
            </a:endParaRPr>
          </a:p>
        </p:txBody>
      </p:sp>
      <p:sp>
        <p:nvSpPr>
          <p:cNvPr id="46" name="object 42"/>
          <p:cNvSpPr/>
          <p:nvPr/>
        </p:nvSpPr>
        <p:spPr>
          <a:xfrm>
            <a:off x="2951119" y="3997511"/>
            <a:ext cx="401320" cy="344805"/>
          </a:xfrm>
          <a:custGeom>
            <a:avLst/>
            <a:gdLst/>
            <a:ahLst/>
            <a:cxnLst/>
            <a:rect l="l" t="t" r="r" b="b"/>
            <a:pathLst>
              <a:path w="401319" h="344804">
                <a:moveTo>
                  <a:pt x="201167" y="344424"/>
                </a:moveTo>
                <a:lnTo>
                  <a:pt x="0" y="172212"/>
                </a:lnTo>
                <a:lnTo>
                  <a:pt x="79247" y="172212"/>
                </a:lnTo>
                <a:lnTo>
                  <a:pt x="79247" y="0"/>
                </a:lnTo>
                <a:lnTo>
                  <a:pt x="321563" y="0"/>
                </a:lnTo>
                <a:lnTo>
                  <a:pt x="321563" y="172212"/>
                </a:lnTo>
                <a:lnTo>
                  <a:pt x="400811" y="172212"/>
                </a:lnTo>
                <a:lnTo>
                  <a:pt x="201167" y="344424"/>
                </a:lnTo>
                <a:close/>
              </a:path>
            </a:pathLst>
          </a:custGeom>
          <a:solidFill>
            <a:schemeClr val="accent3"/>
          </a:solidFill>
        </p:spPr>
        <p:txBody>
          <a:bodyPr wrap="square" lIns="0" tIns="0" rIns="0" bIns="0" rtlCol="0"/>
          <a:lstStyle/>
          <a:p>
            <a:endParaRPr/>
          </a:p>
        </p:txBody>
      </p:sp>
      <p:grpSp>
        <p:nvGrpSpPr>
          <p:cNvPr id="47" name="object 43"/>
          <p:cNvGrpSpPr/>
          <p:nvPr/>
        </p:nvGrpSpPr>
        <p:grpSpPr>
          <a:xfrm>
            <a:off x="2336184" y="4498144"/>
            <a:ext cx="1632585" cy="984885"/>
            <a:chOff x="683513" y="4906517"/>
            <a:chExt cx="1632585" cy="984885"/>
          </a:xfrm>
        </p:grpSpPr>
        <p:sp>
          <p:nvSpPr>
            <p:cNvPr id="48" name="object 44"/>
            <p:cNvSpPr/>
            <p:nvPr/>
          </p:nvSpPr>
          <p:spPr>
            <a:xfrm>
              <a:off x="688847" y="4911851"/>
              <a:ext cx="1621790" cy="974090"/>
            </a:xfrm>
            <a:custGeom>
              <a:avLst/>
              <a:gdLst/>
              <a:ahLst/>
              <a:cxnLst/>
              <a:rect l="l" t="t" r="r" b="b"/>
              <a:pathLst>
                <a:path w="1621789" h="974089">
                  <a:moveTo>
                    <a:pt x="1524000" y="973836"/>
                  </a:moveTo>
                  <a:lnTo>
                    <a:pt x="96012" y="973836"/>
                  </a:lnTo>
                  <a:lnTo>
                    <a:pt x="58507" y="966096"/>
                  </a:lnTo>
                  <a:lnTo>
                    <a:pt x="28003" y="945070"/>
                  </a:lnTo>
                  <a:lnTo>
                    <a:pt x="7500" y="914042"/>
                  </a:lnTo>
                  <a:lnTo>
                    <a:pt x="0" y="876300"/>
                  </a:lnTo>
                  <a:lnTo>
                    <a:pt x="0" y="97536"/>
                  </a:ln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49" name="object 45"/>
            <p:cNvSpPr/>
            <p:nvPr/>
          </p:nvSpPr>
          <p:spPr>
            <a:xfrm>
              <a:off x="688847" y="4911851"/>
              <a:ext cx="1621790" cy="974090"/>
            </a:xfrm>
            <a:custGeom>
              <a:avLst/>
              <a:gdLst/>
              <a:ahLst/>
              <a:cxnLst/>
              <a:rect l="l" t="t" r="r" b="b"/>
              <a:pathLst>
                <a:path w="1621789" h="974089">
                  <a:moveTo>
                    <a:pt x="0" y="97536"/>
                  </a:moveTo>
                  <a:lnTo>
                    <a:pt x="7500" y="59793"/>
                  </a:lnTo>
                  <a:lnTo>
                    <a:pt x="28003" y="28765"/>
                  </a:lnTo>
                  <a:lnTo>
                    <a:pt x="58507" y="7739"/>
                  </a:lnTo>
                  <a:lnTo>
                    <a:pt x="96012"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6012" y="973836"/>
                  </a:lnTo>
                  <a:lnTo>
                    <a:pt x="58507" y="966096"/>
                  </a:lnTo>
                  <a:lnTo>
                    <a:pt x="28003" y="945070"/>
                  </a:lnTo>
                  <a:lnTo>
                    <a:pt x="7500"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50" name="object 46"/>
          <p:cNvSpPr txBox="1"/>
          <p:nvPr/>
        </p:nvSpPr>
        <p:spPr>
          <a:xfrm>
            <a:off x="2601599" y="4862616"/>
            <a:ext cx="1099820" cy="228909"/>
          </a:xfrm>
          <a:prstGeom prst="rect">
            <a:avLst/>
          </a:prstGeom>
        </p:spPr>
        <p:txBody>
          <a:bodyPr vert="horz" wrap="square" lIns="0" tIns="13335" rIns="0" bIns="0" rtlCol="0">
            <a:spAutoFit/>
          </a:bodyPr>
          <a:lstStyle/>
          <a:p>
            <a:pPr marL="12700">
              <a:lnSpc>
                <a:spcPct val="100000"/>
              </a:lnSpc>
              <a:spcBef>
                <a:spcPts val="105"/>
              </a:spcBef>
            </a:pPr>
            <a:r>
              <a:rPr sz="1400" spc="-5" dirty="0">
                <a:latin typeface="Leelawadee UI"/>
                <a:cs typeface="Leelawadee UI"/>
              </a:rPr>
              <a:t>Save</a:t>
            </a:r>
            <a:r>
              <a:rPr sz="1400" spc="-35" dirty="0">
                <a:latin typeface="Leelawadee UI"/>
                <a:cs typeface="Leelawadee UI"/>
              </a:rPr>
              <a:t> </a:t>
            </a:r>
            <a:r>
              <a:rPr sz="1400" spc="-5" dirty="0">
                <a:latin typeface="Leelawadee UI"/>
                <a:cs typeface="Leelawadee UI"/>
              </a:rPr>
              <a:t>GSTR</a:t>
            </a:r>
            <a:r>
              <a:rPr sz="1400" spc="-40" dirty="0">
                <a:latin typeface="Leelawadee UI"/>
                <a:cs typeface="Leelawadee UI"/>
              </a:rPr>
              <a:t> </a:t>
            </a:r>
            <a:r>
              <a:rPr sz="1400" dirty="0">
                <a:latin typeface="Leelawadee UI"/>
                <a:cs typeface="Leelawadee UI"/>
              </a:rPr>
              <a:t>3B</a:t>
            </a:r>
            <a:endParaRPr sz="1400">
              <a:latin typeface="Leelawadee UI"/>
              <a:cs typeface="Leelawadee UI"/>
            </a:endParaRPr>
          </a:p>
        </p:txBody>
      </p:sp>
      <p:sp>
        <p:nvSpPr>
          <p:cNvPr id="51" name="object 47"/>
          <p:cNvSpPr/>
          <p:nvPr/>
        </p:nvSpPr>
        <p:spPr>
          <a:xfrm>
            <a:off x="4104787" y="4788466"/>
            <a:ext cx="344805" cy="402590"/>
          </a:xfrm>
          <a:custGeom>
            <a:avLst/>
            <a:gdLst/>
            <a:ahLst/>
            <a:cxnLst/>
            <a:rect l="l" t="t" r="r" b="b"/>
            <a:pathLst>
              <a:path w="344805" h="402589">
                <a:moveTo>
                  <a:pt x="172211" y="402336"/>
                </a:moveTo>
                <a:lnTo>
                  <a:pt x="172211" y="323088"/>
                </a:lnTo>
                <a:lnTo>
                  <a:pt x="0" y="323088"/>
                </a:lnTo>
                <a:lnTo>
                  <a:pt x="0" y="80772"/>
                </a:lnTo>
                <a:lnTo>
                  <a:pt x="172211" y="80772"/>
                </a:lnTo>
                <a:lnTo>
                  <a:pt x="172211" y="0"/>
                </a:lnTo>
                <a:lnTo>
                  <a:pt x="344424" y="201167"/>
                </a:lnTo>
                <a:lnTo>
                  <a:pt x="172211" y="402336"/>
                </a:lnTo>
                <a:close/>
              </a:path>
            </a:pathLst>
          </a:custGeom>
          <a:solidFill>
            <a:schemeClr val="accent3"/>
          </a:solidFill>
        </p:spPr>
        <p:txBody>
          <a:bodyPr wrap="square" lIns="0" tIns="0" rIns="0" bIns="0" rtlCol="0"/>
          <a:lstStyle/>
          <a:p>
            <a:endParaRPr/>
          </a:p>
        </p:txBody>
      </p:sp>
      <p:grpSp>
        <p:nvGrpSpPr>
          <p:cNvPr id="52" name="object 48"/>
          <p:cNvGrpSpPr/>
          <p:nvPr/>
        </p:nvGrpSpPr>
        <p:grpSpPr>
          <a:xfrm>
            <a:off x="4605421" y="4498144"/>
            <a:ext cx="1632585" cy="984885"/>
            <a:chOff x="2952750" y="4906517"/>
            <a:chExt cx="1632585" cy="984885"/>
          </a:xfrm>
        </p:grpSpPr>
        <p:sp>
          <p:nvSpPr>
            <p:cNvPr id="53" name="object 49"/>
            <p:cNvSpPr/>
            <p:nvPr/>
          </p:nvSpPr>
          <p:spPr>
            <a:xfrm>
              <a:off x="2958083" y="4911851"/>
              <a:ext cx="1621790" cy="974090"/>
            </a:xfrm>
            <a:custGeom>
              <a:avLst/>
              <a:gdLst/>
              <a:ahLst/>
              <a:cxnLst/>
              <a:rect l="l" t="t" r="r" b="b"/>
              <a:pathLst>
                <a:path w="1621789" h="974089">
                  <a:moveTo>
                    <a:pt x="1524000" y="973836"/>
                  </a:moveTo>
                  <a:lnTo>
                    <a:pt x="97536" y="973836"/>
                  </a:lnTo>
                  <a:lnTo>
                    <a:pt x="59793" y="966096"/>
                  </a:lnTo>
                  <a:lnTo>
                    <a:pt x="28765" y="945070"/>
                  </a:lnTo>
                  <a:lnTo>
                    <a:pt x="7739" y="914042"/>
                  </a:lnTo>
                  <a:lnTo>
                    <a:pt x="0" y="876300"/>
                  </a:lnTo>
                  <a:lnTo>
                    <a:pt x="0" y="97536"/>
                  </a:ln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close/>
                </a:path>
              </a:pathLst>
            </a:custGeom>
            <a:solidFill>
              <a:srgbClr val="D8D8D8"/>
            </a:solidFill>
          </p:spPr>
          <p:txBody>
            <a:bodyPr wrap="square" lIns="0" tIns="0" rIns="0" bIns="0" rtlCol="0"/>
            <a:lstStyle/>
            <a:p>
              <a:endParaRPr/>
            </a:p>
          </p:txBody>
        </p:sp>
        <p:sp>
          <p:nvSpPr>
            <p:cNvPr id="54" name="object 50"/>
            <p:cNvSpPr/>
            <p:nvPr/>
          </p:nvSpPr>
          <p:spPr>
            <a:xfrm>
              <a:off x="2958083" y="4911851"/>
              <a:ext cx="1621790" cy="974090"/>
            </a:xfrm>
            <a:custGeom>
              <a:avLst/>
              <a:gdLst/>
              <a:ahLst/>
              <a:cxnLst/>
              <a:rect l="l" t="t" r="r" b="b"/>
              <a:pathLst>
                <a:path w="1621789" h="974089">
                  <a:moveTo>
                    <a:pt x="0" y="97536"/>
                  </a:moveTo>
                  <a:lnTo>
                    <a:pt x="7739" y="59793"/>
                  </a:lnTo>
                  <a:lnTo>
                    <a:pt x="28765" y="28765"/>
                  </a:lnTo>
                  <a:lnTo>
                    <a:pt x="59793" y="7739"/>
                  </a:lnTo>
                  <a:lnTo>
                    <a:pt x="97536" y="0"/>
                  </a:lnTo>
                  <a:lnTo>
                    <a:pt x="1524000" y="0"/>
                  </a:lnTo>
                  <a:lnTo>
                    <a:pt x="1562385" y="7739"/>
                  </a:lnTo>
                  <a:lnTo>
                    <a:pt x="1593342" y="28765"/>
                  </a:lnTo>
                  <a:lnTo>
                    <a:pt x="1614011" y="59793"/>
                  </a:lnTo>
                  <a:lnTo>
                    <a:pt x="1621536" y="97536"/>
                  </a:lnTo>
                  <a:lnTo>
                    <a:pt x="1621536" y="876300"/>
                  </a:lnTo>
                  <a:lnTo>
                    <a:pt x="1614011" y="914042"/>
                  </a:lnTo>
                  <a:lnTo>
                    <a:pt x="1593342" y="945070"/>
                  </a:lnTo>
                  <a:lnTo>
                    <a:pt x="1562385" y="966096"/>
                  </a:lnTo>
                  <a:lnTo>
                    <a:pt x="1524000" y="973836"/>
                  </a:lnTo>
                  <a:lnTo>
                    <a:pt x="97536" y="973836"/>
                  </a:lnTo>
                  <a:lnTo>
                    <a:pt x="59793" y="966096"/>
                  </a:lnTo>
                  <a:lnTo>
                    <a:pt x="28765" y="945070"/>
                  </a:lnTo>
                  <a:lnTo>
                    <a:pt x="7739"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55" name="object 51"/>
          <p:cNvSpPr txBox="1"/>
          <p:nvPr/>
        </p:nvSpPr>
        <p:spPr>
          <a:xfrm>
            <a:off x="4831236" y="4862616"/>
            <a:ext cx="1181735" cy="228909"/>
          </a:xfrm>
          <a:prstGeom prst="rect">
            <a:avLst/>
          </a:prstGeom>
        </p:spPr>
        <p:txBody>
          <a:bodyPr vert="horz" wrap="square" lIns="0" tIns="13335" rIns="0" bIns="0" rtlCol="0">
            <a:spAutoFit/>
          </a:bodyPr>
          <a:lstStyle/>
          <a:p>
            <a:pPr marL="12700">
              <a:lnSpc>
                <a:spcPct val="100000"/>
              </a:lnSpc>
              <a:spcBef>
                <a:spcPts val="105"/>
              </a:spcBef>
            </a:pPr>
            <a:r>
              <a:rPr sz="1400" spc="-10" dirty="0">
                <a:latin typeface="Leelawadee UI"/>
                <a:cs typeface="Leelawadee UI"/>
              </a:rPr>
              <a:t>Verify</a:t>
            </a:r>
            <a:r>
              <a:rPr sz="1400" spc="-60" dirty="0">
                <a:latin typeface="Leelawadee UI"/>
                <a:cs typeface="Leelawadee UI"/>
              </a:rPr>
              <a:t> </a:t>
            </a:r>
            <a:r>
              <a:rPr sz="1400" spc="-5" dirty="0">
                <a:latin typeface="Leelawadee UI"/>
                <a:cs typeface="Leelawadee UI"/>
              </a:rPr>
              <a:t>GSTR</a:t>
            </a:r>
            <a:r>
              <a:rPr sz="1400" spc="-20" dirty="0">
                <a:latin typeface="Leelawadee UI"/>
                <a:cs typeface="Leelawadee UI"/>
              </a:rPr>
              <a:t> </a:t>
            </a:r>
            <a:r>
              <a:rPr sz="1400" dirty="0">
                <a:latin typeface="Leelawadee UI"/>
                <a:cs typeface="Leelawadee UI"/>
              </a:rPr>
              <a:t>3B</a:t>
            </a:r>
            <a:endParaRPr sz="1400">
              <a:latin typeface="Leelawadee UI"/>
              <a:cs typeface="Leelawadee UI"/>
            </a:endParaRPr>
          </a:p>
        </p:txBody>
      </p:sp>
      <p:sp>
        <p:nvSpPr>
          <p:cNvPr id="56" name="object 52"/>
          <p:cNvSpPr/>
          <p:nvPr/>
        </p:nvSpPr>
        <p:spPr>
          <a:xfrm>
            <a:off x="6375547" y="4788466"/>
            <a:ext cx="342900" cy="402590"/>
          </a:xfrm>
          <a:custGeom>
            <a:avLst/>
            <a:gdLst/>
            <a:ahLst/>
            <a:cxnLst/>
            <a:rect l="l" t="t" r="r" b="b"/>
            <a:pathLst>
              <a:path w="342900" h="402589">
                <a:moveTo>
                  <a:pt x="172211" y="402336"/>
                </a:moveTo>
                <a:lnTo>
                  <a:pt x="172211" y="323088"/>
                </a:lnTo>
                <a:lnTo>
                  <a:pt x="0" y="323088"/>
                </a:lnTo>
                <a:lnTo>
                  <a:pt x="0" y="80772"/>
                </a:lnTo>
                <a:lnTo>
                  <a:pt x="172211" y="80772"/>
                </a:lnTo>
                <a:lnTo>
                  <a:pt x="172211" y="0"/>
                </a:lnTo>
                <a:lnTo>
                  <a:pt x="342900" y="201167"/>
                </a:lnTo>
                <a:lnTo>
                  <a:pt x="172211" y="402336"/>
                </a:lnTo>
                <a:close/>
              </a:path>
            </a:pathLst>
          </a:custGeom>
          <a:solidFill>
            <a:schemeClr val="accent3"/>
          </a:solidFill>
        </p:spPr>
        <p:txBody>
          <a:bodyPr wrap="square" lIns="0" tIns="0" rIns="0" bIns="0" rtlCol="0"/>
          <a:lstStyle/>
          <a:p>
            <a:endParaRPr/>
          </a:p>
        </p:txBody>
      </p:sp>
      <p:grpSp>
        <p:nvGrpSpPr>
          <p:cNvPr id="57" name="object 53"/>
          <p:cNvGrpSpPr/>
          <p:nvPr/>
        </p:nvGrpSpPr>
        <p:grpSpPr>
          <a:xfrm>
            <a:off x="6876181" y="4498144"/>
            <a:ext cx="1632585" cy="984885"/>
            <a:chOff x="5223510" y="4906517"/>
            <a:chExt cx="1632585" cy="984885"/>
          </a:xfrm>
        </p:grpSpPr>
        <p:sp>
          <p:nvSpPr>
            <p:cNvPr id="58" name="object 54"/>
            <p:cNvSpPr/>
            <p:nvPr/>
          </p:nvSpPr>
          <p:spPr>
            <a:xfrm>
              <a:off x="5228844" y="4911851"/>
              <a:ext cx="1621790" cy="974090"/>
            </a:xfrm>
            <a:custGeom>
              <a:avLst/>
              <a:gdLst/>
              <a:ahLst/>
              <a:cxnLst/>
              <a:rect l="l" t="t" r="r" b="b"/>
              <a:pathLst>
                <a:path w="1621790" h="974089">
                  <a:moveTo>
                    <a:pt x="1524000" y="973836"/>
                  </a:moveTo>
                  <a:lnTo>
                    <a:pt x="97536" y="973836"/>
                  </a:lnTo>
                  <a:lnTo>
                    <a:pt x="59150" y="966096"/>
                  </a:lnTo>
                  <a:lnTo>
                    <a:pt x="28194" y="945070"/>
                  </a:lnTo>
                  <a:lnTo>
                    <a:pt x="7524" y="914042"/>
                  </a:lnTo>
                  <a:lnTo>
                    <a:pt x="0" y="876300"/>
                  </a:lnTo>
                  <a:lnTo>
                    <a:pt x="0" y="97536"/>
                  </a:ln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close/>
                </a:path>
              </a:pathLst>
            </a:custGeom>
            <a:solidFill>
              <a:srgbClr val="D8D8D8"/>
            </a:solidFill>
          </p:spPr>
          <p:txBody>
            <a:bodyPr wrap="square" lIns="0" tIns="0" rIns="0" bIns="0" rtlCol="0"/>
            <a:lstStyle/>
            <a:p>
              <a:endParaRPr/>
            </a:p>
          </p:txBody>
        </p:sp>
        <p:sp>
          <p:nvSpPr>
            <p:cNvPr id="59" name="object 55"/>
            <p:cNvSpPr/>
            <p:nvPr/>
          </p:nvSpPr>
          <p:spPr>
            <a:xfrm>
              <a:off x="5228844" y="4911851"/>
              <a:ext cx="1621790" cy="974090"/>
            </a:xfrm>
            <a:custGeom>
              <a:avLst/>
              <a:gdLst/>
              <a:ahLst/>
              <a:cxnLst/>
              <a:rect l="l" t="t" r="r" b="b"/>
              <a:pathLst>
                <a:path w="1621790" h="974089">
                  <a:moveTo>
                    <a:pt x="0" y="97536"/>
                  </a:moveTo>
                  <a:lnTo>
                    <a:pt x="7524" y="59793"/>
                  </a:lnTo>
                  <a:lnTo>
                    <a:pt x="28194" y="28765"/>
                  </a:lnTo>
                  <a:lnTo>
                    <a:pt x="59150" y="7739"/>
                  </a:lnTo>
                  <a:lnTo>
                    <a:pt x="97536" y="0"/>
                  </a:lnTo>
                  <a:lnTo>
                    <a:pt x="1524000" y="0"/>
                  </a:lnTo>
                  <a:lnTo>
                    <a:pt x="1561742" y="7739"/>
                  </a:lnTo>
                  <a:lnTo>
                    <a:pt x="1592770" y="28765"/>
                  </a:lnTo>
                  <a:lnTo>
                    <a:pt x="1613796" y="59793"/>
                  </a:lnTo>
                  <a:lnTo>
                    <a:pt x="1621536" y="97536"/>
                  </a:lnTo>
                  <a:lnTo>
                    <a:pt x="1621536" y="876300"/>
                  </a:lnTo>
                  <a:lnTo>
                    <a:pt x="1613796" y="914042"/>
                  </a:lnTo>
                  <a:lnTo>
                    <a:pt x="1592770" y="945070"/>
                  </a:lnTo>
                  <a:lnTo>
                    <a:pt x="1561742" y="966096"/>
                  </a:lnTo>
                  <a:lnTo>
                    <a:pt x="1524000" y="973836"/>
                  </a:lnTo>
                  <a:lnTo>
                    <a:pt x="97536" y="973836"/>
                  </a:lnTo>
                  <a:lnTo>
                    <a:pt x="59150" y="966096"/>
                  </a:lnTo>
                  <a:lnTo>
                    <a:pt x="28194" y="945070"/>
                  </a:lnTo>
                  <a:lnTo>
                    <a:pt x="7524" y="914042"/>
                  </a:lnTo>
                  <a:lnTo>
                    <a:pt x="0" y="876300"/>
                  </a:lnTo>
                  <a:lnTo>
                    <a:pt x="0" y="97536"/>
                  </a:lnTo>
                  <a:close/>
                </a:path>
              </a:pathLst>
            </a:custGeom>
            <a:ln w="10668">
              <a:solidFill>
                <a:srgbClr val="D8D8D8"/>
              </a:solidFill>
            </a:ln>
          </p:spPr>
          <p:txBody>
            <a:bodyPr wrap="square" lIns="0" tIns="0" rIns="0" bIns="0" rtlCol="0"/>
            <a:lstStyle/>
            <a:p>
              <a:endParaRPr/>
            </a:p>
          </p:txBody>
        </p:sp>
      </p:grpSp>
      <p:sp>
        <p:nvSpPr>
          <p:cNvPr id="60" name="object 56"/>
          <p:cNvSpPr txBox="1"/>
          <p:nvPr/>
        </p:nvSpPr>
        <p:spPr>
          <a:xfrm>
            <a:off x="6952652" y="4649307"/>
            <a:ext cx="1478280" cy="660437"/>
          </a:xfrm>
          <a:prstGeom prst="rect">
            <a:avLst/>
          </a:prstGeom>
        </p:spPr>
        <p:txBody>
          <a:bodyPr vert="horz" wrap="square" lIns="0" tIns="13970" rIns="0" bIns="0" rtlCol="0">
            <a:spAutoFit/>
          </a:bodyPr>
          <a:lstStyle/>
          <a:p>
            <a:pPr marL="12700" marR="5080" indent="635" algn="ctr">
              <a:lnSpc>
                <a:spcPct val="99600"/>
              </a:lnSpc>
              <a:spcBef>
                <a:spcPts val="110"/>
              </a:spcBef>
            </a:pPr>
            <a:r>
              <a:rPr sz="1400" spc="-5" dirty="0">
                <a:latin typeface="Leelawadee UI"/>
                <a:cs typeface="Leelawadee UI"/>
              </a:rPr>
              <a:t>Complete the </a:t>
            </a:r>
            <a:r>
              <a:rPr sz="1400" dirty="0">
                <a:latin typeface="Leelawadee UI"/>
                <a:cs typeface="Leelawadee UI"/>
              </a:rPr>
              <a:t> </a:t>
            </a:r>
            <a:r>
              <a:rPr sz="1400" spc="-5" dirty="0">
                <a:latin typeface="Leelawadee UI"/>
                <a:cs typeface="Leelawadee UI"/>
              </a:rPr>
              <a:t>process with </a:t>
            </a:r>
            <a:r>
              <a:rPr sz="1400" spc="-10" dirty="0">
                <a:latin typeface="Leelawadee UI"/>
                <a:cs typeface="Leelawadee UI"/>
              </a:rPr>
              <a:t>DVC </a:t>
            </a:r>
            <a:r>
              <a:rPr sz="1400" spc="-5" dirty="0">
                <a:latin typeface="Leelawadee UI"/>
                <a:cs typeface="Leelawadee UI"/>
              </a:rPr>
              <a:t> </a:t>
            </a:r>
            <a:r>
              <a:rPr sz="1400" dirty="0">
                <a:latin typeface="Leelawadee UI"/>
                <a:cs typeface="Leelawadee UI"/>
              </a:rPr>
              <a:t>or</a:t>
            </a:r>
            <a:r>
              <a:rPr sz="1400" spc="-30" dirty="0">
                <a:latin typeface="Leelawadee UI"/>
                <a:cs typeface="Leelawadee UI"/>
              </a:rPr>
              <a:t> </a:t>
            </a:r>
            <a:r>
              <a:rPr sz="1400" spc="-10" dirty="0">
                <a:latin typeface="Leelawadee UI"/>
                <a:cs typeface="Leelawadee UI"/>
              </a:rPr>
              <a:t>EVC</a:t>
            </a:r>
            <a:r>
              <a:rPr sz="1400" spc="-30" dirty="0">
                <a:latin typeface="Leelawadee UI"/>
                <a:cs typeface="Leelawadee UI"/>
              </a:rPr>
              <a:t> </a:t>
            </a:r>
            <a:r>
              <a:rPr sz="1400" spc="-10" dirty="0">
                <a:latin typeface="Leelawadee UI"/>
                <a:cs typeface="Leelawadee UI"/>
              </a:rPr>
              <a:t>Verification</a:t>
            </a:r>
            <a:endParaRPr sz="1400">
              <a:latin typeface="Leelawadee UI"/>
              <a:cs typeface="Leelawadee UI"/>
            </a:endParaRPr>
          </a:p>
        </p:txBody>
      </p:sp>
    </p:spTree>
    <p:extLst>
      <p:ext uri="{BB962C8B-B14F-4D97-AF65-F5344CB8AC3E}">
        <p14:creationId xmlns:p14="http://schemas.microsoft.com/office/powerpoint/2010/main" val="742975382"/>
      </p:ext>
    </p:extLst>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762694"/>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8628</TotalTime>
  <Words>4934</Words>
  <Application>Microsoft Office PowerPoint</Application>
  <PresentationFormat>Widescreen</PresentationFormat>
  <Paragraphs>764</Paragraphs>
  <Slides>78</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78</vt:i4>
      </vt:variant>
    </vt:vector>
  </HeadingPairs>
  <TitlesOfParts>
    <vt:vector size="92" baseType="lpstr">
      <vt:lpstr>Calibri</vt:lpstr>
      <vt:lpstr>Segoe UI Light</vt:lpstr>
      <vt:lpstr>Roboto</vt:lpstr>
      <vt:lpstr>Leelawadee UI</vt:lpstr>
      <vt:lpstr>Roboto Condensed Light</vt:lpstr>
      <vt:lpstr>Wingdings 2</vt:lpstr>
      <vt:lpstr>Wingdings 3</vt:lpstr>
      <vt:lpstr>Cambria Math</vt:lpstr>
      <vt:lpstr>Arial</vt:lpstr>
      <vt:lpstr>Wingdings</vt:lpstr>
      <vt:lpstr>Roboto Condensed</vt:lpstr>
      <vt:lpstr>Lato</vt:lpstr>
      <vt:lpstr>Times New Roman</vt:lpstr>
      <vt:lpstr>Office Theme</vt:lpstr>
      <vt:lpstr>Unit-4  Indirect Tax</vt:lpstr>
      <vt:lpstr>PowerPoint Presentation</vt:lpstr>
      <vt:lpstr>Indirect Tax</vt:lpstr>
      <vt:lpstr>GST</vt:lpstr>
      <vt:lpstr>Goods and Services Tax</vt:lpstr>
      <vt:lpstr>Need of GST</vt:lpstr>
      <vt:lpstr>Key Features of GST</vt:lpstr>
      <vt:lpstr>Types of GST</vt:lpstr>
      <vt:lpstr>Types of GST</vt:lpstr>
      <vt:lpstr>How GST works ?</vt:lpstr>
      <vt:lpstr>PowerPoint Presentation</vt:lpstr>
      <vt:lpstr>Exercise</vt:lpstr>
      <vt:lpstr>Tax Applicability </vt:lpstr>
      <vt:lpstr>Inter-state vs Intra-state Supply</vt:lpstr>
      <vt:lpstr>For Example</vt:lpstr>
      <vt:lpstr>Central Taxes Abolished After Introduction of GST</vt:lpstr>
      <vt:lpstr>State Taxes Abolished After Introduction of GST</vt:lpstr>
      <vt:lpstr>Items Not Covered under GST</vt:lpstr>
      <vt:lpstr>Registration</vt:lpstr>
      <vt:lpstr>Registration </vt:lpstr>
      <vt:lpstr>PowerPoint Presentation</vt:lpstr>
      <vt:lpstr>Procedure for Registration </vt:lpstr>
      <vt:lpstr>Supply under GST</vt:lpstr>
      <vt:lpstr>What is Supply?</vt:lpstr>
      <vt:lpstr>Types of Supply</vt:lpstr>
      <vt:lpstr>Examples of Supply</vt:lpstr>
      <vt:lpstr>Non-Supplies under GST</vt:lpstr>
      <vt:lpstr>Non-Supplies under GST (Contd.)</vt:lpstr>
      <vt:lpstr>Non-Supplies under GST (Contd.)</vt:lpstr>
      <vt:lpstr>Composite Supplies</vt:lpstr>
      <vt:lpstr>Mixed Supplies</vt:lpstr>
      <vt:lpstr>GST Rates Prescribed for Various Goods</vt:lpstr>
      <vt:lpstr>GST Rates Prescribed for Various Services</vt:lpstr>
      <vt:lpstr>Charge of GST</vt:lpstr>
      <vt:lpstr>Levy and collection of CGST/IGST</vt:lpstr>
      <vt:lpstr>Levy and collection of CGST/IGST</vt:lpstr>
      <vt:lpstr>Levy and collection of CGST/IGST</vt:lpstr>
      <vt:lpstr>Services on which tax is payable under reverse charge</vt:lpstr>
      <vt:lpstr>Services on which tax is payable under reverse charge</vt:lpstr>
      <vt:lpstr>Services on which tax is payable under reverse charge</vt:lpstr>
      <vt:lpstr>PowerPoint Presentation</vt:lpstr>
      <vt:lpstr>PowerPoint Presentation</vt:lpstr>
      <vt:lpstr>PowerPoint Presentation</vt:lpstr>
      <vt:lpstr>Rates of tax</vt:lpstr>
      <vt:lpstr>PowerPoint Presentation</vt:lpstr>
      <vt:lpstr>PowerPoint Presentation</vt:lpstr>
      <vt:lpstr>Input Tax Credit</vt:lpstr>
      <vt:lpstr>ITC - Basics</vt:lpstr>
      <vt:lpstr>PowerPoint Presentation</vt:lpstr>
      <vt:lpstr>Order of Utilisation</vt:lpstr>
      <vt:lpstr>Place of Supply</vt:lpstr>
      <vt:lpstr>Movement of Goods</vt:lpstr>
      <vt:lpstr>Illustration: Involves Movement of Goods</vt:lpstr>
      <vt:lpstr>No Movement of Goods</vt:lpstr>
      <vt:lpstr>Illustration: No Movement of Goods</vt:lpstr>
      <vt:lpstr>Other Scenarios</vt:lpstr>
      <vt:lpstr>Time of Supply</vt:lpstr>
      <vt:lpstr>For Goods</vt:lpstr>
      <vt:lpstr>Illustration</vt:lpstr>
      <vt:lpstr>For Services</vt:lpstr>
      <vt:lpstr>For Services</vt:lpstr>
      <vt:lpstr>Tax Invoice &amp; Returns</vt:lpstr>
      <vt:lpstr>Contents of Tax Invoice</vt:lpstr>
      <vt:lpstr>Contents of Tax Invoice (Contd.)</vt:lpstr>
      <vt:lpstr>Manner for Issuing Invoice for Goods</vt:lpstr>
      <vt:lpstr>Bill of Supply</vt:lpstr>
      <vt:lpstr>Why File Returns ?</vt:lpstr>
      <vt:lpstr>GSTR-1 Statement of Outward Supplies</vt:lpstr>
      <vt:lpstr>Statement of Outward Supplies</vt:lpstr>
      <vt:lpstr>Due Dates for filing GST Returns</vt:lpstr>
      <vt:lpstr>GSTR-3B Simplified Summary Return</vt:lpstr>
      <vt:lpstr>GSTR-3B vs GSTR-2B: Comparison</vt:lpstr>
      <vt:lpstr>Types of Returns with Due Dates</vt:lpstr>
      <vt:lpstr>Types of Returns with Due Dates (Contd.)</vt:lpstr>
      <vt:lpstr>Types of Returns with Due Dates (Contd.)</vt:lpstr>
      <vt:lpstr>Returns &amp; Due Date in GST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Neha Doshi</cp:lastModifiedBy>
  <cp:revision>629</cp:revision>
  <dcterms:created xsi:type="dcterms:W3CDTF">2020-05-01T05:09:15Z</dcterms:created>
  <dcterms:modified xsi:type="dcterms:W3CDTF">2025-09-23T04:57:12Z</dcterms:modified>
</cp:coreProperties>
</file>